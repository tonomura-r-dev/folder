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4" r:id="rId1"/>
    <p:sldMasterId id="2147483687" r:id="rId2"/>
  </p:sldMasterIdLst>
  <p:notesMasterIdLst>
    <p:notesMasterId r:id="rId58"/>
  </p:notesMasterIdLst>
  <p:handoutMasterIdLst>
    <p:handoutMasterId r:id="rId59"/>
  </p:handoutMasterIdLst>
  <p:sldIdLst>
    <p:sldId id="2363" r:id="rId3"/>
    <p:sldId id="2726" r:id="rId4"/>
    <p:sldId id="2721" r:id="rId5"/>
    <p:sldId id="2723" r:id="rId6"/>
    <p:sldId id="2724" r:id="rId7"/>
    <p:sldId id="2364" r:id="rId8"/>
    <p:sldId id="2365" r:id="rId9"/>
    <p:sldId id="2725" r:id="rId10"/>
    <p:sldId id="3152" r:id="rId11"/>
    <p:sldId id="3153" r:id="rId12"/>
    <p:sldId id="3154" r:id="rId13"/>
    <p:sldId id="3155" r:id="rId14"/>
    <p:sldId id="3156" r:id="rId15"/>
    <p:sldId id="3157" r:id="rId16"/>
    <p:sldId id="3158" r:id="rId17"/>
    <p:sldId id="3159" r:id="rId18"/>
    <p:sldId id="2727" r:id="rId19"/>
    <p:sldId id="3131" r:id="rId20"/>
    <p:sldId id="3132" r:id="rId21"/>
    <p:sldId id="3150" r:id="rId22"/>
    <p:sldId id="2732" r:id="rId23"/>
    <p:sldId id="2733" r:id="rId24"/>
    <p:sldId id="3174" r:id="rId25"/>
    <p:sldId id="3175" r:id="rId26"/>
    <p:sldId id="3176" r:id="rId27"/>
    <p:sldId id="2728" r:id="rId28"/>
    <p:sldId id="3160" r:id="rId29"/>
    <p:sldId id="3161" r:id="rId30"/>
    <p:sldId id="3162" r:id="rId31"/>
    <p:sldId id="3163" r:id="rId32"/>
    <p:sldId id="3164" r:id="rId33"/>
    <p:sldId id="3165" r:id="rId34"/>
    <p:sldId id="3166" r:id="rId35"/>
    <p:sldId id="2729" r:id="rId36"/>
    <p:sldId id="3168" r:id="rId37"/>
    <p:sldId id="3169" r:id="rId38"/>
    <p:sldId id="3170" r:id="rId39"/>
    <p:sldId id="2730" r:id="rId40"/>
    <p:sldId id="2563" r:id="rId41"/>
    <p:sldId id="2959" r:id="rId42"/>
    <p:sldId id="2970" r:id="rId43"/>
    <p:sldId id="2968" r:id="rId44"/>
    <p:sldId id="2969" r:id="rId45"/>
    <p:sldId id="3151" r:id="rId46"/>
    <p:sldId id="2575" r:id="rId47"/>
    <p:sldId id="2910" r:id="rId48"/>
    <p:sldId id="3171" r:id="rId49"/>
    <p:sldId id="3172" r:id="rId50"/>
    <p:sldId id="3173" r:id="rId51"/>
    <p:sldId id="3136" r:id="rId52"/>
    <p:sldId id="3137" r:id="rId53"/>
    <p:sldId id="3138" r:id="rId54"/>
    <p:sldId id="3139" r:id="rId55"/>
    <p:sldId id="3140" r:id="rId56"/>
    <p:sldId id="1169" r:id="rId57"/>
  </p:sldIdLst>
  <p:sldSz cx="9906000" cy="6858000" type="A4"/>
  <p:notesSz cx="6807200" cy="9939338"/>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3158" userDrawn="1">
          <p15:clr>
            <a:srgbClr val="A4A3A4"/>
          </p15:clr>
        </p15:guide>
        <p15:guide id="2" pos="308"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4FA0A"/>
    <a:srgbClr val="173559"/>
    <a:srgbClr val="FDFDFD"/>
    <a:srgbClr val="2080FF"/>
    <a:srgbClr val="1D8DFF"/>
    <a:srgbClr val="515457"/>
    <a:srgbClr val="F6A454"/>
    <a:srgbClr val="EAEEF4"/>
    <a:srgbClr val="2D6CB9"/>
    <a:srgbClr val="D1D9E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中間スタイル 2 - アクセント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B301B821-A1FF-4177-AEE7-76D212191A09}" styleName="中間スタイル 1 - アクセント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69012ECD-51FC-41F1-AA8D-1B2483CD663E}" styleName="淡色スタイル 2 - アクセント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8157" autoAdjust="0"/>
    <p:restoredTop sz="94424" autoAdjust="0"/>
  </p:normalViewPr>
  <p:slideViewPr>
    <p:cSldViewPr snapToGrid="0">
      <p:cViewPr varScale="1">
        <p:scale>
          <a:sx n="110" d="100"/>
          <a:sy n="110" d="100"/>
        </p:scale>
        <p:origin x="1236" y="102"/>
      </p:cViewPr>
      <p:guideLst>
        <p:guide orient="horz" pos="3158"/>
        <p:guide pos="308"/>
      </p:guideLst>
    </p:cSldViewPr>
  </p:slideViewPr>
  <p:notesTextViewPr>
    <p:cViewPr>
      <p:scale>
        <a:sx n="1" d="1"/>
        <a:sy n="1" d="1"/>
      </p:scale>
      <p:origin x="0" y="0"/>
    </p:cViewPr>
  </p:notesTextViewPr>
  <p:sorterViewPr>
    <p:cViewPr>
      <p:scale>
        <a:sx n="100" d="100"/>
        <a:sy n="100" d="100"/>
      </p:scale>
      <p:origin x="0" y="-3072"/>
    </p:cViewPr>
  </p:sorterViewPr>
  <p:notesViewPr>
    <p:cSldViewPr snapToGrid="0">
      <p:cViewPr varScale="1">
        <p:scale>
          <a:sx n="79" d="100"/>
          <a:sy n="79" d="100"/>
        </p:scale>
        <p:origin x="4014" y="102"/>
      </p:cViewPr>
      <p:guideLst/>
    </p:cSldViewPr>
  </p:notesViewPr>
  <p:gridSpacing cx="1080001" cy="1080001"/>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slide" Target="slides/slide40.xml"/><Relationship Id="rId47" Type="http://schemas.openxmlformats.org/officeDocument/2006/relationships/slide" Target="slides/slide45.xml"/><Relationship Id="rId50" Type="http://schemas.openxmlformats.org/officeDocument/2006/relationships/slide" Target="slides/slide48.xml"/><Relationship Id="rId55" Type="http://schemas.openxmlformats.org/officeDocument/2006/relationships/slide" Target="slides/slide53.xml"/><Relationship Id="rId63" Type="http://schemas.openxmlformats.org/officeDocument/2006/relationships/tableStyles" Target="tableStyles.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openxmlformats.org/officeDocument/2006/relationships/slide" Target="slides/slide51.xml"/><Relationship Id="rId58" Type="http://schemas.openxmlformats.org/officeDocument/2006/relationships/notesMaster" Target="notesMasters/notesMaster1.xml"/><Relationship Id="rId5" Type="http://schemas.openxmlformats.org/officeDocument/2006/relationships/slide" Target="slides/slide3.xml"/><Relationship Id="rId61" Type="http://schemas.openxmlformats.org/officeDocument/2006/relationships/viewProps" Target="viewProps.xml"/><Relationship Id="rId19" Type="http://schemas.openxmlformats.org/officeDocument/2006/relationships/slide" Target="slides/slide1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slide" Target="slides/slide54.xml"/><Relationship Id="rId8" Type="http://schemas.openxmlformats.org/officeDocument/2006/relationships/slide" Target="slides/slide6.xml"/><Relationship Id="rId51" Type="http://schemas.openxmlformats.org/officeDocument/2006/relationships/slide" Target="slides/slide49.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handoutMaster" Target="handoutMasters/handoutMaster1.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62"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slide" Target="slides/slide55.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presProps" Target="presProps.xml"/><Relationship Id="rId4" Type="http://schemas.openxmlformats.org/officeDocument/2006/relationships/slide" Target="slides/slide2.xml"/><Relationship Id="rId9" Type="http://schemas.openxmlformats.org/officeDocument/2006/relationships/slide" Target="slides/slide7.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フッター プレースホルダー 3"/>
          <p:cNvSpPr>
            <a:spLocks noGrp="1"/>
          </p:cNvSpPr>
          <p:nvPr>
            <p:ph type="ftr" sz="quarter" idx="2"/>
          </p:nvPr>
        </p:nvSpPr>
        <p:spPr>
          <a:xfrm>
            <a:off x="0" y="9441662"/>
            <a:ext cx="2949420" cy="497676"/>
          </a:xfrm>
          <a:prstGeom prst="rect">
            <a:avLst/>
          </a:prstGeom>
        </p:spPr>
        <p:txBody>
          <a:bodyPr vert="horz" lIns="90561" tIns="45280" rIns="90561" bIns="45280" rtlCol="0" anchor="b"/>
          <a:lstStyle>
            <a:lvl1pPr algn="l">
              <a:defRPr sz="1200"/>
            </a:lvl1pPr>
          </a:lstStyle>
          <a:p>
            <a:endParaRPr kumimoji="1" lang="ja-JP" altLang="en-US"/>
          </a:p>
        </p:txBody>
      </p:sp>
      <p:sp>
        <p:nvSpPr>
          <p:cNvPr id="5" name="スライド番号プレースホルダー 4"/>
          <p:cNvSpPr>
            <a:spLocks noGrp="1"/>
          </p:cNvSpPr>
          <p:nvPr>
            <p:ph type="sldNum" sz="quarter" idx="3"/>
          </p:nvPr>
        </p:nvSpPr>
        <p:spPr>
          <a:xfrm>
            <a:off x="3856210" y="9441662"/>
            <a:ext cx="2949420" cy="497676"/>
          </a:xfrm>
          <a:prstGeom prst="rect">
            <a:avLst/>
          </a:prstGeom>
        </p:spPr>
        <p:txBody>
          <a:bodyPr vert="horz" lIns="90561" tIns="45280" rIns="90561" bIns="45280" rtlCol="0" anchor="b"/>
          <a:lstStyle>
            <a:lvl1pPr algn="r">
              <a:defRPr sz="1200"/>
            </a:lvl1pPr>
          </a:lstStyle>
          <a:p>
            <a:fld id="{7B45B759-5475-4693-BFD4-53BF6401E48A}" type="slidenum">
              <a:rPr kumimoji="1" lang="ja-JP" altLang="en-US" smtClean="0"/>
              <a:t>‹#›</a:t>
            </a:fld>
            <a:endParaRPr kumimoji="1" lang="ja-JP" altLang="en-US"/>
          </a:p>
        </p:txBody>
      </p:sp>
    </p:spTree>
    <p:extLst>
      <p:ext uri="{BB962C8B-B14F-4D97-AF65-F5344CB8AC3E}">
        <p14:creationId xmlns:p14="http://schemas.microsoft.com/office/powerpoint/2010/main" val="325953079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1" y="2"/>
            <a:ext cx="2950528" cy="497524"/>
          </a:xfrm>
          <a:prstGeom prst="rect">
            <a:avLst/>
          </a:prstGeom>
        </p:spPr>
        <p:txBody>
          <a:bodyPr vert="horz" lIns="91529" tIns="45765" rIns="91529" bIns="45765" rtlCol="0"/>
          <a:lstStyle>
            <a:lvl1pPr algn="l">
              <a:defRPr sz="1200"/>
            </a:lvl1pPr>
          </a:lstStyle>
          <a:p>
            <a:endParaRPr kumimoji="1" lang="ja-JP" altLang="en-US"/>
          </a:p>
        </p:txBody>
      </p:sp>
      <p:sp>
        <p:nvSpPr>
          <p:cNvPr id="3" name="日付プレースホルダー 2"/>
          <p:cNvSpPr>
            <a:spLocks noGrp="1"/>
          </p:cNvSpPr>
          <p:nvPr>
            <p:ph type="dt" idx="1"/>
          </p:nvPr>
        </p:nvSpPr>
        <p:spPr>
          <a:xfrm>
            <a:off x="3855082" y="2"/>
            <a:ext cx="2950528" cy="497524"/>
          </a:xfrm>
          <a:prstGeom prst="rect">
            <a:avLst/>
          </a:prstGeom>
        </p:spPr>
        <p:txBody>
          <a:bodyPr vert="horz" lIns="91529" tIns="45765" rIns="91529" bIns="45765" rtlCol="0"/>
          <a:lstStyle>
            <a:lvl1pPr algn="r">
              <a:defRPr sz="1200"/>
            </a:lvl1pPr>
          </a:lstStyle>
          <a:p>
            <a:fld id="{6AF8158D-F6B1-45E0-9831-E70689DC8490}" type="datetimeFigureOut">
              <a:rPr kumimoji="1" lang="ja-JP" altLang="en-US" smtClean="0"/>
              <a:t>2026/10/30</a:t>
            </a:fld>
            <a:endParaRPr kumimoji="1" lang="ja-JP" altLang="en-US"/>
          </a:p>
        </p:txBody>
      </p:sp>
      <p:sp>
        <p:nvSpPr>
          <p:cNvPr id="4" name="スライド イメージ プレースホルダー 3"/>
          <p:cNvSpPr>
            <a:spLocks noGrp="1" noRot="1" noChangeAspect="1"/>
          </p:cNvSpPr>
          <p:nvPr>
            <p:ph type="sldImg" idx="2"/>
          </p:nvPr>
        </p:nvSpPr>
        <p:spPr>
          <a:xfrm>
            <a:off x="981075" y="1243013"/>
            <a:ext cx="4845050" cy="3354387"/>
          </a:xfrm>
          <a:prstGeom prst="rect">
            <a:avLst/>
          </a:prstGeom>
          <a:noFill/>
          <a:ln w="12700">
            <a:solidFill>
              <a:prstClr val="black"/>
            </a:solidFill>
          </a:ln>
        </p:spPr>
        <p:txBody>
          <a:bodyPr vert="horz" lIns="91529" tIns="45765" rIns="91529" bIns="45765" rtlCol="0" anchor="ctr"/>
          <a:lstStyle/>
          <a:p>
            <a:endParaRPr lang="ja-JP" altLang="en-US"/>
          </a:p>
        </p:txBody>
      </p:sp>
      <p:sp>
        <p:nvSpPr>
          <p:cNvPr id="5" name="ノート プレースホルダー 4"/>
          <p:cNvSpPr>
            <a:spLocks noGrp="1"/>
          </p:cNvSpPr>
          <p:nvPr>
            <p:ph type="body" sz="quarter" idx="3"/>
          </p:nvPr>
        </p:nvSpPr>
        <p:spPr>
          <a:xfrm>
            <a:off x="680402" y="4782901"/>
            <a:ext cx="5446396" cy="3913426"/>
          </a:xfrm>
          <a:prstGeom prst="rect">
            <a:avLst/>
          </a:prstGeom>
        </p:spPr>
        <p:txBody>
          <a:bodyPr vert="horz" lIns="91529" tIns="45765" rIns="91529" bIns="45765"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1" y="9441817"/>
            <a:ext cx="2950528" cy="497524"/>
          </a:xfrm>
          <a:prstGeom prst="rect">
            <a:avLst/>
          </a:prstGeom>
        </p:spPr>
        <p:txBody>
          <a:bodyPr vert="horz" lIns="91529" tIns="45765" rIns="91529" bIns="45765"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55082" y="9441817"/>
            <a:ext cx="2950528" cy="497524"/>
          </a:xfrm>
          <a:prstGeom prst="rect">
            <a:avLst/>
          </a:prstGeom>
        </p:spPr>
        <p:txBody>
          <a:bodyPr vert="horz" lIns="91529" tIns="45765" rIns="91529" bIns="45765" rtlCol="0" anchor="b"/>
          <a:lstStyle>
            <a:lvl1pPr algn="r">
              <a:defRPr sz="1200"/>
            </a:lvl1pPr>
          </a:lstStyle>
          <a:p>
            <a:fld id="{022E43C0-6795-4B13-B37C-259C826D4B6A}" type="slidenum">
              <a:rPr kumimoji="1" lang="ja-JP" altLang="en-US" smtClean="0"/>
              <a:t>‹#›</a:t>
            </a:fld>
            <a:endParaRPr kumimoji="1" lang="ja-JP" altLang="en-US"/>
          </a:p>
        </p:txBody>
      </p:sp>
    </p:spTree>
    <p:extLst>
      <p:ext uri="{BB962C8B-B14F-4D97-AF65-F5344CB8AC3E}">
        <p14:creationId xmlns:p14="http://schemas.microsoft.com/office/powerpoint/2010/main" val="640918907"/>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a:p>
        </p:txBody>
      </p:sp>
      <p:sp>
        <p:nvSpPr>
          <p:cNvPr id="4" name="フッター プレースホルダー 3"/>
          <p:cNvSpPr>
            <a:spLocks noGrp="1"/>
          </p:cNvSpPr>
          <p:nvPr>
            <p:ph type="ftr" sz="quarter" idx="10"/>
          </p:nvPr>
        </p:nvSpPr>
        <p:spPr/>
        <p:txBody>
          <a:bodyPr/>
          <a:lstStyle/>
          <a:p>
            <a:pPr defTabSz="956886">
              <a:defRPr/>
            </a:pPr>
            <a:endParaRPr lang="ja-JP" altLang="en-US">
              <a:solidFill>
                <a:prstClr val="black"/>
              </a:solidFill>
              <a:latin typeface="Calibri"/>
              <a:ea typeface="ＭＳ Ｐゴシック" panose="020B0600070205080204" pitchFamily="50" charset="-128"/>
            </a:endParaRPr>
          </a:p>
        </p:txBody>
      </p:sp>
      <p:sp>
        <p:nvSpPr>
          <p:cNvPr id="5" name="スライド番号プレースホルダー 4"/>
          <p:cNvSpPr>
            <a:spLocks noGrp="1"/>
          </p:cNvSpPr>
          <p:nvPr>
            <p:ph type="sldNum" sz="quarter" idx="11"/>
          </p:nvPr>
        </p:nvSpPr>
        <p:spPr/>
        <p:txBody>
          <a:bodyPr/>
          <a:lstStyle/>
          <a:p>
            <a:pPr defTabSz="956886">
              <a:defRPr/>
            </a:pPr>
            <a:fld id="{929202D6-C1F5-472A-A72F-285F233F82C2}" type="slidenum">
              <a:rPr lang="ja-JP" altLang="en-US">
                <a:solidFill>
                  <a:prstClr val="black"/>
                </a:solidFill>
                <a:latin typeface="Calibri"/>
                <a:ea typeface="ＭＳ Ｐゴシック" panose="020B0600070205080204" pitchFamily="50" charset="-128"/>
              </a:rPr>
              <a:pPr defTabSz="956886">
                <a:defRPr/>
              </a:pPr>
              <a:t>55</a:t>
            </a:fld>
            <a:endParaRPr lang="ja-JP" altLang="en-US">
              <a:solidFill>
                <a:prstClr val="black"/>
              </a:solidFill>
              <a:latin typeface="Calibri"/>
              <a:ea typeface="ＭＳ Ｐゴシック" panose="020B0600070205080204" pitchFamily="50" charset="-128"/>
            </a:endParaRPr>
          </a:p>
        </p:txBody>
      </p:sp>
    </p:spTree>
    <p:extLst>
      <p:ext uri="{BB962C8B-B14F-4D97-AF65-F5344CB8AC3E}">
        <p14:creationId xmlns:p14="http://schemas.microsoft.com/office/powerpoint/2010/main" val="37920873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2_タイトルとコンテンツ">
    <p:spTree>
      <p:nvGrpSpPr>
        <p:cNvPr id="1" name=""/>
        <p:cNvGrpSpPr/>
        <p:nvPr/>
      </p:nvGrpSpPr>
      <p:grpSpPr>
        <a:xfrm>
          <a:off x="0" y="0"/>
          <a:ext cx="0" cy="0"/>
          <a:chOff x="0" y="0"/>
          <a:chExt cx="0" cy="0"/>
        </a:xfrm>
      </p:grpSpPr>
      <p:sp>
        <p:nvSpPr>
          <p:cNvPr id="2" name="正方形/長方形 1"/>
          <p:cNvSpPr/>
          <p:nvPr userDrawn="1"/>
        </p:nvSpPr>
        <p:spPr>
          <a:xfrm>
            <a:off x="9398000" y="6591300"/>
            <a:ext cx="419100" cy="266700"/>
          </a:xfrm>
          <a:prstGeom prst="rect">
            <a:avLst/>
          </a:prstGeom>
          <a:solidFill>
            <a:srgbClr val="191F5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2758107768"/>
      </p:ext>
    </p:extLst>
  </p:cSld>
  <p:clrMapOvr>
    <a:masterClrMapping/>
  </p:clrMapOvr>
  <p:hf hdr="0" dt="0"/>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4_タイトルとコンテンツ">
    <p:spTree>
      <p:nvGrpSpPr>
        <p:cNvPr id="1" name=""/>
        <p:cNvGrpSpPr/>
        <p:nvPr/>
      </p:nvGrpSpPr>
      <p:grpSpPr>
        <a:xfrm>
          <a:off x="0" y="0"/>
          <a:ext cx="0" cy="0"/>
          <a:chOff x="0" y="0"/>
          <a:chExt cx="0" cy="0"/>
        </a:xfrm>
      </p:grpSpPr>
      <p:cxnSp>
        <p:nvCxnSpPr>
          <p:cNvPr id="5" name="直線コネクタ 4"/>
          <p:cNvCxnSpPr/>
          <p:nvPr/>
        </p:nvCxnSpPr>
        <p:spPr>
          <a:xfrm>
            <a:off x="0" y="548680"/>
            <a:ext cx="9906000" cy="0"/>
          </a:xfrm>
          <a:prstGeom prst="line">
            <a:avLst/>
          </a:prstGeom>
          <a:ln>
            <a:solidFill>
              <a:srgbClr val="191F54"/>
            </a:solidFill>
          </a:ln>
          <a:effectLst/>
        </p:spPr>
        <p:style>
          <a:lnRef idx="2">
            <a:schemeClr val="accent1"/>
          </a:lnRef>
          <a:fillRef idx="0">
            <a:schemeClr val="accent1"/>
          </a:fillRef>
          <a:effectRef idx="1">
            <a:schemeClr val="accent1"/>
          </a:effectRef>
          <a:fontRef idx="minor">
            <a:schemeClr val="tx1"/>
          </a:fontRef>
        </p:style>
      </p:cxnSp>
      <p:sp>
        <p:nvSpPr>
          <p:cNvPr id="7" name="正方形/長方形 6"/>
          <p:cNvSpPr/>
          <p:nvPr/>
        </p:nvSpPr>
        <p:spPr>
          <a:xfrm>
            <a:off x="0" y="0"/>
            <a:ext cx="451204" cy="548680"/>
          </a:xfrm>
          <a:prstGeom prst="rect">
            <a:avLst/>
          </a:prstGeom>
          <a:solidFill>
            <a:srgbClr val="191F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ja-JP" altLang="en-US" sz="1800">
              <a:solidFill>
                <a:prstClr val="white"/>
              </a:solidFill>
            </a:endParaRPr>
          </a:p>
        </p:txBody>
      </p:sp>
    </p:spTree>
    <p:extLst>
      <p:ext uri="{BB962C8B-B14F-4D97-AF65-F5344CB8AC3E}">
        <p14:creationId xmlns:p14="http://schemas.microsoft.com/office/powerpoint/2010/main" val="1958189266"/>
      </p:ext>
    </p:extLst>
  </p:cSld>
  <p:clrMapOvr>
    <a:masterClrMapping/>
  </p:clrMapOvr>
  <p:hf hdr="0" dt="0"/>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1_タイトル スライド">
    <p:spTree>
      <p:nvGrpSpPr>
        <p:cNvPr id="1" name=""/>
        <p:cNvGrpSpPr/>
        <p:nvPr/>
      </p:nvGrpSpPr>
      <p:grpSpPr>
        <a:xfrm>
          <a:off x="0" y="0"/>
          <a:ext cx="0" cy="0"/>
          <a:chOff x="0" y="0"/>
          <a:chExt cx="0" cy="0"/>
        </a:xfrm>
      </p:grpSpPr>
    </p:spTree>
    <p:extLst>
      <p:ext uri="{BB962C8B-B14F-4D97-AF65-F5344CB8AC3E}">
        <p14:creationId xmlns:p14="http://schemas.microsoft.com/office/powerpoint/2010/main" val="3785212341"/>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image" Target="../media/image2.png"/><Relationship Id="rId5" Type="http://schemas.openxmlformats.org/officeDocument/2006/relationships/image" Target="../media/image1.png"/><Relationship Id="rId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2" name="図 1"/>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8151357" y="72255"/>
            <a:ext cx="1598627" cy="424153"/>
          </a:xfrm>
          <a:prstGeom prst="rect">
            <a:avLst/>
          </a:prstGeom>
        </p:spPr>
      </p:pic>
      <p:pic>
        <p:nvPicPr>
          <p:cNvPr id="5" name="図 4"/>
          <p:cNvPicPr>
            <a:picLocks noChangeAspect="1"/>
          </p:cNvPicPr>
          <p:nvPr/>
        </p:nvPicPr>
        <p:blipFill>
          <a:blip r:embed="rId6"/>
          <a:stretch>
            <a:fillRect/>
          </a:stretch>
        </p:blipFill>
        <p:spPr>
          <a:xfrm>
            <a:off x="8151355" y="32333"/>
            <a:ext cx="1653069" cy="635796"/>
          </a:xfrm>
          <a:prstGeom prst="rect">
            <a:avLst/>
          </a:prstGeom>
        </p:spPr>
      </p:pic>
      <p:sp>
        <p:nvSpPr>
          <p:cNvPr id="6" name="正方形/長方形 5"/>
          <p:cNvSpPr/>
          <p:nvPr/>
        </p:nvSpPr>
        <p:spPr>
          <a:xfrm>
            <a:off x="0" y="6552728"/>
            <a:ext cx="9906000" cy="332656"/>
          </a:xfrm>
          <a:prstGeom prst="rect">
            <a:avLst/>
          </a:prstGeom>
          <a:solidFill>
            <a:srgbClr val="191F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ja-JP" altLang="en-US" sz="1800">
              <a:solidFill>
                <a:prstClr val="white"/>
              </a:solidFill>
            </a:endParaRPr>
          </a:p>
        </p:txBody>
      </p:sp>
      <p:sp>
        <p:nvSpPr>
          <p:cNvPr id="8" name="スライド番号プレースホルダ 1"/>
          <p:cNvSpPr txBox="1">
            <a:spLocks/>
          </p:cNvSpPr>
          <p:nvPr/>
        </p:nvSpPr>
        <p:spPr>
          <a:xfrm>
            <a:off x="7594600" y="6552729"/>
            <a:ext cx="2311400" cy="365125"/>
          </a:xfrm>
          <a:prstGeom prst="rect">
            <a:avLst/>
          </a:prstGeom>
        </p:spPr>
        <p:txBody>
          <a:bodyPr/>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r"/>
            <a:fld id="{9FC100E3-15F5-4145-A942-47DB1D8B776D}" type="slidenum">
              <a:rPr lang="ja-JP" altLang="en-US" sz="1400" b="1" smtClean="0">
                <a:solidFill>
                  <a:schemeClr val="bg1"/>
                </a:solidFill>
                <a:latin typeface="メイリオ" panose="020B0604030504040204" pitchFamily="50" charset="-128"/>
                <a:ea typeface="メイリオ" panose="020B0604030504040204" pitchFamily="50" charset="-128"/>
                <a:cs typeface="メイリオ" panose="020B0604030504040204" pitchFamily="50" charset="-128"/>
              </a:rPr>
              <a:pPr algn="r"/>
              <a:t>‹#›</a:t>
            </a:fld>
            <a:endParaRPr lang="ja-JP" altLang="en-US" sz="1400" b="1" dirty="0">
              <a:solidFill>
                <a:schemeClr val="bg1"/>
              </a:solidFill>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9" name="テキスト ボックス 8"/>
          <p:cNvSpPr txBox="1">
            <a:spLocks noChangeArrowheads="1"/>
          </p:cNvSpPr>
          <p:nvPr userDrawn="1"/>
        </p:nvSpPr>
        <p:spPr bwMode="auto">
          <a:xfrm>
            <a:off x="116569" y="6597932"/>
            <a:ext cx="3666301"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kumimoji="1" sz="2400">
                <a:solidFill>
                  <a:schemeClr val="tx1"/>
                </a:solidFill>
                <a:latin typeface="Arial" charset="0"/>
                <a:ea typeface="ＭＳ Ｐゴシック" charset="0"/>
                <a:cs typeface="ＭＳ Ｐゴシック" charset="0"/>
              </a:defRPr>
            </a:lvl1pPr>
            <a:lvl2pPr marL="742950" indent="-285750">
              <a:defRPr kumimoji="1" sz="2400">
                <a:solidFill>
                  <a:schemeClr val="tx1"/>
                </a:solidFill>
                <a:latin typeface="Arial" charset="0"/>
                <a:ea typeface="ＭＳ Ｐゴシック" charset="0"/>
              </a:defRPr>
            </a:lvl2pPr>
            <a:lvl3pPr marL="1143000" indent="-228600">
              <a:defRPr kumimoji="1" sz="2400">
                <a:solidFill>
                  <a:schemeClr val="tx1"/>
                </a:solidFill>
                <a:latin typeface="Arial" charset="0"/>
                <a:ea typeface="ＭＳ Ｐゴシック" charset="0"/>
              </a:defRPr>
            </a:lvl3pPr>
            <a:lvl4pPr marL="1600200" indent="-228600">
              <a:defRPr kumimoji="1" sz="2400">
                <a:solidFill>
                  <a:schemeClr val="tx1"/>
                </a:solidFill>
                <a:latin typeface="Arial" charset="0"/>
                <a:ea typeface="ＭＳ Ｐゴシック" charset="0"/>
              </a:defRPr>
            </a:lvl4pPr>
            <a:lvl5pPr marL="2057400" indent="-228600">
              <a:defRPr kumimoji="1" sz="2400">
                <a:solidFill>
                  <a:schemeClr val="tx1"/>
                </a:solidFill>
                <a:latin typeface="Arial" charset="0"/>
                <a:ea typeface="ＭＳ Ｐゴシック" charset="0"/>
              </a:defRPr>
            </a:lvl5pPr>
            <a:lvl6pPr marL="2514600" indent="-228600" fontAlgn="base">
              <a:spcBef>
                <a:spcPct val="0"/>
              </a:spcBef>
              <a:spcAft>
                <a:spcPct val="0"/>
              </a:spcAft>
              <a:defRPr kumimoji="1" sz="2400">
                <a:solidFill>
                  <a:schemeClr val="tx1"/>
                </a:solidFill>
                <a:latin typeface="Arial" charset="0"/>
                <a:ea typeface="ＭＳ Ｐゴシック" charset="0"/>
              </a:defRPr>
            </a:lvl6pPr>
            <a:lvl7pPr marL="2971800" indent="-228600" fontAlgn="base">
              <a:spcBef>
                <a:spcPct val="0"/>
              </a:spcBef>
              <a:spcAft>
                <a:spcPct val="0"/>
              </a:spcAft>
              <a:defRPr kumimoji="1" sz="2400">
                <a:solidFill>
                  <a:schemeClr val="tx1"/>
                </a:solidFill>
                <a:latin typeface="Arial" charset="0"/>
                <a:ea typeface="ＭＳ Ｐゴシック" charset="0"/>
              </a:defRPr>
            </a:lvl7pPr>
            <a:lvl8pPr marL="3429000" indent="-228600" fontAlgn="base">
              <a:spcBef>
                <a:spcPct val="0"/>
              </a:spcBef>
              <a:spcAft>
                <a:spcPct val="0"/>
              </a:spcAft>
              <a:defRPr kumimoji="1" sz="2400">
                <a:solidFill>
                  <a:schemeClr val="tx1"/>
                </a:solidFill>
                <a:latin typeface="Arial" charset="0"/>
                <a:ea typeface="ＭＳ Ｐゴシック" charset="0"/>
              </a:defRPr>
            </a:lvl8pPr>
            <a:lvl9pPr marL="3886200" indent="-228600" fontAlgn="base">
              <a:spcBef>
                <a:spcPct val="0"/>
              </a:spcBef>
              <a:spcAft>
                <a:spcPct val="0"/>
              </a:spcAft>
              <a:defRPr kumimoji="1" sz="2400">
                <a:solidFill>
                  <a:schemeClr val="tx1"/>
                </a:solidFill>
                <a:latin typeface="Arial" charset="0"/>
                <a:ea typeface="ＭＳ Ｐゴシック" charset="0"/>
              </a:defRPr>
            </a:lvl9pPr>
          </a:lstStyle>
          <a:p>
            <a:pPr>
              <a:defRPr/>
            </a:pPr>
            <a:r>
              <a:rPr lang="en-US" altLang="ja-JP" sz="800" b="1" dirty="0">
                <a:solidFill>
                  <a:schemeClr val="bg1"/>
                </a:solidFill>
                <a:latin typeface="メイリオ"/>
                <a:ea typeface="メイリオ"/>
                <a:cs typeface="メイリオ"/>
              </a:rPr>
              <a:t>Copyright(c) DYM Co., Ltd</a:t>
            </a:r>
            <a:r>
              <a:rPr lang="ja-JP" altLang="en-US" sz="800" b="1" dirty="0" err="1">
                <a:solidFill>
                  <a:schemeClr val="bg1"/>
                </a:solidFill>
                <a:latin typeface="メイリオ"/>
                <a:ea typeface="メイリオ"/>
                <a:cs typeface="メイリオ"/>
              </a:rPr>
              <a:t>．</a:t>
            </a:r>
            <a:r>
              <a:rPr lang="en-US" altLang="ja-JP" sz="800" b="1" dirty="0">
                <a:solidFill>
                  <a:schemeClr val="bg1"/>
                </a:solidFill>
                <a:latin typeface="メイリオ"/>
                <a:ea typeface="メイリオ"/>
                <a:cs typeface="メイリオ"/>
              </a:rPr>
              <a:t> All Rights Reserved.</a:t>
            </a:r>
          </a:p>
        </p:txBody>
      </p:sp>
    </p:spTree>
    <p:extLst>
      <p:ext uri="{BB962C8B-B14F-4D97-AF65-F5344CB8AC3E}">
        <p14:creationId xmlns:p14="http://schemas.microsoft.com/office/powerpoint/2010/main" val="345870335"/>
      </p:ext>
    </p:extLst>
  </p:cSld>
  <p:clrMap bg1="lt1" tx1="dk1" bg2="lt2" tx2="dk2" accent1="accent1" accent2="accent2" accent3="accent3" accent4="accent4" accent5="accent5" accent6="accent6" hlink="hlink" folHlink="folHlink"/>
  <p:sldLayoutIdLst>
    <p:sldLayoutId id="2147483676" r:id="rId1"/>
    <p:sldLayoutId id="2147483683" r:id="rId2"/>
    <p:sldLayoutId id="2147483689" r:id="rId3"/>
  </p:sldLayoutIdLst>
  <p:hf hdr="0" dt="0"/>
  <p:txStyles>
    <p:titleStyle>
      <a:lvl1pPr algn="ctr" rtl="0" eaLnBrk="1" fontAlgn="base" hangingPunct="1">
        <a:spcBef>
          <a:spcPct val="0"/>
        </a:spcBef>
        <a:spcAft>
          <a:spcPct val="0"/>
        </a:spcAft>
        <a:defRPr kumimoji="1" sz="4400" kern="1200">
          <a:solidFill>
            <a:schemeClr val="tx1"/>
          </a:solidFill>
          <a:latin typeface="+mj-lt"/>
          <a:ea typeface="+mj-ea"/>
          <a:cs typeface="+mj-cs"/>
        </a:defRPr>
      </a:lvl1pPr>
      <a:lvl2pPr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2pPr>
      <a:lvl3pPr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3pPr>
      <a:lvl4pPr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4pPr>
      <a:lvl5pPr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5pPr>
      <a:lvl6pPr marL="457200"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6pPr>
      <a:lvl7pPr marL="914400"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7pPr>
      <a:lvl8pPr marL="1371600"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8pPr>
      <a:lvl9pPr marL="1828800" algn="ctr" rtl="0" eaLnBrk="1" fontAlgn="base" hangingPunct="1">
        <a:spcBef>
          <a:spcPct val="0"/>
        </a:spcBef>
        <a:spcAft>
          <a:spcPct val="0"/>
        </a:spcAft>
        <a:defRPr kumimoji="1" sz="4400">
          <a:solidFill>
            <a:schemeClr val="tx1"/>
          </a:solidFill>
          <a:latin typeface="Calibri" pitchFamily="34" charset="0"/>
          <a:ea typeface="ＭＳ Ｐゴシック" pitchFamily="50" charset="-128"/>
        </a:defRPr>
      </a:lvl9pPr>
    </p:titleStyle>
    <p:bodyStyle>
      <a:lvl1pPr marL="342900" indent="-342900" algn="l" rtl="0" eaLnBrk="1" fontAlgn="base" hangingPunct="1">
        <a:spcBef>
          <a:spcPct val="20000"/>
        </a:spcBef>
        <a:spcAft>
          <a:spcPct val="0"/>
        </a:spcAft>
        <a:buFont typeface="Arial" charset="0"/>
        <a:buChar char="•"/>
        <a:defRPr kumimoji="1" sz="3200" kern="1200">
          <a:solidFill>
            <a:schemeClr val="tx1"/>
          </a:solidFill>
          <a:latin typeface="+mn-lt"/>
          <a:ea typeface="+mn-ea"/>
          <a:cs typeface="+mn-cs"/>
        </a:defRPr>
      </a:lvl1pPr>
      <a:lvl2pPr marL="742950" indent="-285750" algn="l" rtl="0" eaLnBrk="1" fontAlgn="base" hangingPunct="1">
        <a:spcBef>
          <a:spcPct val="20000"/>
        </a:spcBef>
        <a:spcAft>
          <a:spcPct val="0"/>
        </a:spcAft>
        <a:buFont typeface="Arial" charset="0"/>
        <a:buChar char="–"/>
        <a:defRPr kumimoji="1" sz="2800" kern="1200">
          <a:solidFill>
            <a:schemeClr val="tx1"/>
          </a:solidFill>
          <a:latin typeface="+mn-lt"/>
          <a:ea typeface="+mn-ea"/>
          <a:cs typeface="+mn-cs"/>
        </a:defRPr>
      </a:lvl2pPr>
      <a:lvl3pPr marL="1143000" indent="-228600" algn="l" rtl="0" eaLnBrk="1" fontAlgn="base" hangingPunct="1">
        <a:spcBef>
          <a:spcPct val="20000"/>
        </a:spcBef>
        <a:spcAft>
          <a:spcPct val="0"/>
        </a:spcAft>
        <a:buFont typeface="Arial" charset="0"/>
        <a:buChar char="•"/>
        <a:defRPr kumimoji="1" sz="2400" kern="1200">
          <a:solidFill>
            <a:schemeClr val="tx1"/>
          </a:solidFill>
          <a:latin typeface="+mn-lt"/>
          <a:ea typeface="+mn-ea"/>
          <a:cs typeface="+mn-cs"/>
        </a:defRPr>
      </a:lvl3pPr>
      <a:lvl4pPr marL="1600200" indent="-228600" algn="l" rtl="0" eaLnBrk="1" fontAlgn="base" hangingPunct="1">
        <a:spcBef>
          <a:spcPct val="20000"/>
        </a:spcBef>
        <a:spcAft>
          <a:spcPct val="0"/>
        </a:spcAft>
        <a:buFont typeface="Arial" charset="0"/>
        <a:buChar char="–"/>
        <a:defRPr kumimoji="1" sz="2000" kern="1200">
          <a:solidFill>
            <a:schemeClr val="tx1"/>
          </a:solidFill>
          <a:latin typeface="+mn-lt"/>
          <a:ea typeface="+mn-ea"/>
          <a:cs typeface="+mn-cs"/>
        </a:defRPr>
      </a:lvl4pPr>
      <a:lvl5pPr marL="2057400" indent="-228600" algn="l" rtl="0" eaLnBrk="1" fontAlgn="base" hangingPunct="1">
        <a:spcBef>
          <a:spcPct val="20000"/>
        </a:spcBef>
        <a:spcAft>
          <a:spcPct val="0"/>
        </a:spcAft>
        <a:buFont typeface="Arial" charset="0"/>
        <a:buChar char="»"/>
        <a:defRPr kumimoji="1"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5" name="正方形/長方形 4"/>
          <p:cNvSpPr/>
          <p:nvPr/>
        </p:nvSpPr>
        <p:spPr>
          <a:xfrm>
            <a:off x="0" y="6552728"/>
            <a:ext cx="9906000" cy="332656"/>
          </a:xfrm>
          <a:prstGeom prst="rect">
            <a:avLst/>
          </a:prstGeom>
          <a:solidFill>
            <a:srgbClr val="191F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ja-JP" altLang="en-US">
              <a:solidFill>
                <a:prstClr val="white"/>
              </a:solidFill>
            </a:endParaRPr>
          </a:p>
        </p:txBody>
      </p:sp>
      <p:sp>
        <p:nvSpPr>
          <p:cNvPr id="10" name="テキスト ボックス 9"/>
          <p:cNvSpPr txBox="1">
            <a:spLocks noChangeArrowheads="1"/>
          </p:cNvSpPr>
          <p:nvPr/>
        </p:nvSpPr>
        <p:spPr bwMode="auto">
          <a:xfrm>
            <a:off x="116569" y="6597932"/>
            <a:ext cx="3666301"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kumimoji="1" sz="2400">
                <a:solidFill>
                  <a:schemeClr val="tx1"/>
                </a:solidFill>
                <a:latin typeface="Arial" charset="0"/>
                <a:ea typeface="ＭＳ Ｐゴシック" charset="0"/>
                <a:cs typeface="ＭＳ Ｐゴシック" charset="0"/>
              </a:defRPr>
            </a:lvl1pPr>
            <a:lvl2pPr marL="742950" indent="-285750">
              <a:defRPr kumimoji="1" sz="2400">
                <a:solidFill>
                  <a:schemeClr val="tx1"/>
                </a:solidFill>
                <a:latin typeface="Arial" charset="0"/>
                <a:ea typeface="ＭＳ Ｐゴシック" charset="0"/>
              </a:defRPr>
            </a:lvl2pPr>
            <a:lvl3pPr marL="1143000" indent="-228600">
              <a:defRPr kumimoji="1" sz="2400">
                <a:solidFill>
                  <a:schemeClr val="tx1"/>
                </a:solidFill>
                <a:latin typeface="Arial" charset="0"/>
                <a:ea typeface="ＭＳ Ｐゴシック" charset="0"/>
              </a:defRPr>
            </a:lvl3pPr>
            <a:lvl4pPr marL="1600200" indent="-228600">
              <a:defRPr kumimoji="1" sz="2400">
                <a:solidFill>
                  <a:schemeClr val="tx1"/>
                </a:solidFill>
                <a:latin typeface="Arial" charset="0"/>
                <a:ea typeface="ＭＳ Ｐゴシック" charset="0"/>
              </a:defRPr>
            </a:lvl4pPr>
            <a:lvl5pPr marL="2057400" indent="-228600">
              <a:defRPr kumimoji="1" sz="2400">
                <a:solidFill>
                  <a:schemeClr val="tx1"/>
                </a:solidFill>
                <a:latin typeface="Arial" charset="0"/>
                <a:ea typeface="ＭＳ Ｐゴシック" charset="0"/>
              </a:defRPr>
            </a:lvl5pPr>
            <a:lvl6pPr marL="2514600" indent="-228600" fontAlgn="base">
              <a:spcBef>
                <a:spcPct val="0"/>
              </a:spcBef>
              <a:spcAft>
                <a:spcPct val="0"/>
              </a:spcAft>
              <a:defRPr kumimoji="1" sz="2400">
                <a:solidFill>
                  <a:schemeClr val="tx1"/>
                </a:solidFill>
                <a:latin typeface="Arial" charset="0"/>
                <a:ea typeface="ＭＳ Ｐゴシック" charset="0"/>
              </a:defRPr>
            </a:lvl6pPr>
            <a:lvl7pPr marL="2971800" indent="-228600" fontAlgn="base">
              <a:spcBef>
                <a:spcPct val="0"/>
              </a:spcBef>
              <a:spcAft>
                <a:spcPct val="0"/>
              </a:spcAft>
              <a:defRPr kumimoji="1" sz="2400">
                <a:solidFill>
                  <a:schemeClr val="tx1"/>
                </a:solidFill>
                <a:latin typeface="Arial" charset="0"/>
                <a:ea typeface="ＭＳ Ｐゴシック" charset="0"/>
              </a:defRPr>
            </a:lvl7pPr>
            <a:lvl8pPr marL="3429000" indent="-228600" fontAlgn="base">
              <a:spcBef>
                <a:spcPct val="0"/>
              </a:spcBef>
              <a:spcAft>
                <a:spcPct val="0"/>
              </a:spcAft>
              <a:defRPr kumimoji="1" sz="2400">
                <a:solidFill>
                  <a:schemeClr val="tx1"/>
                </a:solidFill>
                <a:latin typeface="Arial" charset="0"/>
                <a:ea typeface="ＭＳ Ｐゴシック" charset="0"/>
              </a:defRPr>
            </a:lvl8pPr>
            <a:lvl9pPr marL="3886200" indent="-228600" fontAlgn="base">
              <a:spcBef>
                <a:spcPct val="0"/>
              </a:spcBef>
              <a:spcAft>
                <a:spcPct val="0"/>
              </a:spcAft>
              <a:defRPr kumimoji="1" sz="2400">
                <a:solidFill>
                  <a:schemeClr val="tx1"/>
                </a:solidFill>
                <a:latin typeface="Arial" charset="0"/>
                <a:ea typeface="ＭＳ Ｐゴシック" charset="0"/>
              </a:defRPr>
            </a:lvl9pPr>
          </a:lstStyle>
          <a:p>
            <a:pPr>
              <a:defRPr/>
            </a:pPr>
            <a:r>
              <a:rPr lang="en-US" altLang="ja-JP" sz="800" b="1" dirty="0">
                <a:solidFill>
                  <a:prstClr val="white"/>
                </a:solidFill>
                <a:latin typeface="メイリオ"/>
                <a:ea typeface="メイリオ"/>
                <a:cs typeface="メイリオ"/>
              </a:rPr>
              <a:t>Copyright(c) DYM Co., </a:t>
            </a:r>
            <a:r>
              <a:rPr lang="en-US" altLang="ja-JP" sz="800" b="1" dirty="0" err="1">
                <a:solidFill>
                  <a:prstClr val="white"/>
                </a:solidFill>
                <a:latin typeface="メイリオ"/>
                <a:ea typeface="メイリオ"/>
                <a:cs typeface="メイリオ"/>
              </a:rPr>
              <a:t>Ltd.All</a:t>
            </a:r>
            <a:r>
              <a:rPr lang="en-US" altLang="ja-JP" sz="800" b="1" dirty="0">
                <a:solidFill>
                  <a:prstClr val="white"/>
                </a:solidFill>
                <a:latin typeface="メイリオ"/>
                <a:ea typeface="メイリオ"/>
                <a:cs typeface="メイリオ"/>
              </a:rPr>
              <a:t> Rights Reserved.</a:t>
            </a:r>
          </a:p>
        </p:txBody>
      </p:sp>
      <p:sp>
        <p:nvSpPr>
          <p:cNvPr id="8" name="正方形/長方形 7"/>
          <p:cNvSpPr/>
          <p:nvPr/>
        </p:nvSpPr>
        <p:spPr>
          <a:xfrm>
            <a:off x="0" y="0"/>
            <a:ext cx="416496" cy="548680"/>
          </a:xfrm>
          <a:prstGeom prst="rect">
            <a:avLst/>
          </a:prstGeom>
          <a:solidFill>
            <a:srgbClr val="191F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ja-JP" altLang="en-US">
              <a:solidFill>
                <a:prstClr val="white"/>
              </a:solidFill>
            </a:endParaRPr>
          </a:p>
        </p:txBody>
      </p:sp>
      <p:cxnSp>
        <p:nvCxnSpPr>
          <p:cNvPr id="4" name="直線コネクタ 3"/>
          <p:cNvCxnSpPr/>
          <p:nvPr/>
        </p:nvCxnSpPr>
        <p:spPr>
          <a:xfrm>
            <a:off x="0" y="548680"/>
            <a:ext cx="9906000" cy="0"/>
          </a:xfrm>
          <a:prstGeom prst="line">
            <a:avLst/>
          </a:prstGeom>
          <a:ln>
            <a:solidFill>
              <a:srgbClr val="00324B"/>
            </a:solidFill>
          </a:ln>
          <a:effectLst/>
        </p:spPr>
        <p:style>
          <a:lnRef idx="2">
            <a:schemeClr val="accent1"/>
          </a:lnRef>
          <a:fillRef idx="0">
            <a:schemeClr val="accent1"/>
          </a:fillRef>
          <a:effectRef idx="1">
            <a:schemeClr val="accent1"/>
          </a:effectRef>
          <a:fontRef idx="minor">
            <a:schemeClr val="tx1"/>
          </a:fontRef>
        </p:style>
      </p:cxnSp>
      <p:pic>
        <p:nvPicPr>
          <p:cNvPr id="9" name="図 1"/>
          <p:cNvPicPr>
            <a:picLocks/>
          </p:cNvPicPr>
          <p:nvPr userDrawn="1"/>
        </p:nvPicPr>
        <p:blipFill rotWithShape="1">
          <a:blip r:embed="rId2" cstate="hqprint">
            <a:extLst>
              <a:ext uri="{28A0092B-C50C-407E-A947-70E740481C1C}">
                <a14:useLocalDpi xmlns:a14="http://schemas.microsoft.com/office/drawing/2010/main" val="0"/>
              </a:ext>
            </a:extLst>
          </a:blip>
          <a:srcRect l="-1647" r="-11171"/>
          <a:stretch/>
        </p:blipFill>
        <p:spPr bwMode="auto">
          <a:xfrm>
            <a:off x="8619408" y="161057"/>
            <a:ext cx="1192729" cy="26331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スライド番号プレースホルダ 1"/>
          <p:cNvSpPr txBox="1">
            <a:spLocks/>
          </p:cNvSpPr>
          <p:nvPr userDrawn="1"/>
        </p:nvSpPr>
        <p:spPr>
          <a:xfrm>
            <a:off x="7545288" y="6571255"/>
            <a:ext cx="2133600" cy="216000"/>
          </a:xfrm>
          <a:prstGeom prst="rect">
            <a:avLst/>
          </a:prstGeom>
        </p:spPr>
        <p:txBody>
          <a:bodyPr tIns="25200"/>
          <a:ls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a:lstStyle>
          <a:p>
            <a:pPr algn="r"/>
            <a:fld id="{9FC100E3-15F5-4145-A942-47DB1D8B776D}" type="slidenum">
              <a:rPr lang="ja-JP" altLang="en-US" sz="1400" i="1" smtClean="0">
                <a:solidFill>
                  <a:prstClr val="white"/>
                </a:solidFill>
                <a:latin typeface="Century Gothic" panose="020B0502020202020204" pitchFamily="34" charset="0"/>
              </a:rPr>
              <a:pPr algn="r"/>
              <a:t>‹#›</a:t>
            </a:fld>
            <a:endParaRPr lang="ja-JP" altLang="en-US" sz="1400" i="1" dirty="0">
              <a:solidFill>
                <a:prstClr val="white"/>
              </a:solidFill>
              <a:latin typeface="Century Gothic" panose="020B0502020202020204" pitchFamily="34" charset="0"/>
            </a:endParaRPr>
          </a:p>
        </p:txBody>
      </p:sp>
    </p:spTree>
    <p:extLst>
      <p:ext uri="{BB962C8B-B14F-4D97-AF65-F5344CB8AC3E}">
        <p14:creationId xmlns:p14="http://schemas.microsoft.com/office/powerpoint/2010/main" val="611138245"/>
      </p:ext>
    </p:extLst>
  </p:cSld>
  <p:clrMap bg1="lt1" tx1="dk1" bg2="lt2" tx2="dk2" accent1="accent1" accent2="accent2" accent3="accent3" accent4="accent4" accent5="accent5" accent6="accent6" hlink="hlink" folHlink="folHlink"/>
  <p:hf hdr="0" dt="0"/>
  <p:txStyles>
    <p:titleStyle>
      <a:lvl1pPr algn="ctr" defTabSz="457200" rtl="0" eaLnBrk="1" fontAlgn="base" hangingPunct="1">
        <a:spcBef>
          <a:spcPct val="0"/>
        </a:spcBef>
        <a:spcAft>
          <a:spcPct val="0"/>
        </a:spcAft>
        <a:defRPr kumimoji="1" sz="4400" kern="1200">
          <a:solidFill>
            <a:schemeClr val="tx1"/>
          </a:solidFill>
          <a:latin typeface="+mj-lt"/>
          <a:ea typeface="+mj-ea"/>
          <a:cs typeface="ＭＳ Ｐゴシック" charset="0"/>
        </a:defRPr>
      </a:lvl1pPr>
      <a:lvl2pPr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2pPr>
      <a:lvl3pPr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3pPr>
      <a:lvl4pPr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4pPr>
      <a:lvl5pPr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5pPr>
      <a:lvl6pPr marL="457200"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6pPr>
      <a:lvl7pPr marL="914400"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7pPr>
      <a:lvl8pPr marL="1371600"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8pPr>
      <a:lvl9pPr marL="1828800" algn="ctr" defTabSz="457200" rtl="0" eaLnBrk="1" fontAlgn="base" hangingPunct="1">
        <a:spcBef>
          <a:spcPct val="0"/>
        </a:spcBef>
        <a:spcAft>
          <a:spcPct val="0"/>
        </a:spcAft>
        <a:defRPr kumimoji="1" sz="4400">
          <a:solidFill>
            <a:schemeClr val="tx1"/>
          </a:solidFill>
          <a:latin typeface="Calibri" charset="0"/>
          <a:ea typeface="ＭＳ Ｐゴシック" charset="0"/>
          <a:cs typeface="ＭＳ Ｐゴシック" charset="0"/>
        </a:defRPr>
      </a:lvl9pPr>
    </p:titleStyle>
    <p:bodyStyle>
      <a:lvl1pPr marL="342900" indent="-342900" algn="l" defTabSz="457200" rtl="0" eaLnBrk="1" fontAlgn="base" hangingPunct="1">
        <a:spcBef>
          <a:spcPct val="20000"/>
        </a:spcBef>
        <a:spcAft>
          <a:spcPct val="0"/>
        </a:spcAft>
        <a:buFont typeface="Arial" charset="0"/>
        <a:buChar char="•"/>
        <a:defRPr kumimoji="1" sz="3200" kern="1200">
          <a:solidFill>
            <a:schemeClr val="tx1"/>
          </a:solidFill>
          <a:latin typeface="+mn-lt"/>
          <a:ea typeface="+mn-ea"/>
          <a:cs typeface="ＭＳ Ｐゴシック" charset="0"/>
        </a:defRPr>
      </a:lvl1pPr>
      <a:lvl2pPr marL="742950" indent="-285750" algn="l" defTabSz="457200" rtl="0" eaLnBrk="1" fontAlgn="base" hangingPunct="1">
        <a:spcBef>
          <a:spcPct val="20000"/>
        </a:spcBef>
        <a:spcAft>
          <a:spcPct val="0"/>
        </a:spcAft>
        <a:buFont typeface="Arial" charset="0"/>
        <a:buChar char="–"/>
        <a:defRPr kumimoji="1" sz="2800" kern="1200">
          <a:solidFill>
            <a:schemeClr val="tx1"/>
          </a:solidFill>
          <a:latin typeface="+mn-lt"/>
          <a:ea typeface="+mn-ea"/>
          <a:cs typeface="+mn-cs"/>
        </a:defRPr>
      </a:lvl2pPr>
      <a:lvl3pPr marL="1143000" indent="-228600" algn="l" defTabSz="457200" rtl="0" eaLnBrk="1" fontAlgn="base" hangingPunct="1">
        <a:spcBef>
          <a:spcPct val="20000"/>
        </a:spcBef>
        <a:spcAft>
          <a:spcPct val="0"/>
        </a:spcAft>
        <a:buFont typeface="Arial" charset="0"/>
        <a:buChar char="•"/>
        <a:defRPr kumimoji="1" sz="2400" kern="1200">
          <a:solidFill>
            <a:schemeClr val="tx1"/>
          </a:solidFill>
          <a:latin typeface="+mn-lt"/>
          <a:ea typeface="+mn-ea"/>
          <a:cs typeface="+mn-cs"/>
        </a:defRPr>
      </a:lvl3pPr>
      <a:lvl4pPr marL="1600200" indent="-228600" algn="l" defTabSz="457200" rtl="0" eaLnBrk="1" fontAlgn="base" hangingPunct="1">
        <a:spcBef>
          <a:spcPct val="20000"/>
        </a:spcBef>
        <a:spcAft>
          <a:spcPct val="0"/>
        </a:spcAft>
        <a:buFont typeface="Arial" charset="0"/>
        <a:buChar char="–"/>
        <a:defRPr kumimoji="1" sz="2000" kern="1200">
          <a:solidFill>
            <a:schemeClr val="tx1"/>
          </a:solidFill>
          <a:latin typeface="+mn-lt"/>
          <a:ea typeface="+mn-ea"/>
          <a:cs typeface="+mn-cs"/>
        </a:defRPr>
      </a:lvl4pPr>
      <a:lvl5pPr marL="2057400" indent="-228600" algn="l" defTabSz="457200" rtl="0" eaLnBrk="1" fontAlgn="base" hangingPunct="1">
        <a:spcBef>
          <a:spcPct val="20000"/>
        </a:spcBef>
        <a:spcAft>
          <a:spcPct val="0"/>
        </a:spcAft>
        <a:buFont typeface="Arial" charset="0"/>
        <a:buChar char="»"/>
        <a:defRPr kumimoji="1"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kumimoji="1"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kumimoji="1"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kumimoji="1"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kumimoji="1" sz="2000" kern="1200">
          <a:solidFill>
            <a:schemeClr val="tx1"/>
          </a:solidFill>
          <a:latin typeface="+mn-lt"/>
          <a:ea typeface="+mn-ea"/>
          <a:cs typeface="+mn-cs"/>
        </a:defRPr>
      </a:lvl9pPr>
    </p:bodyStyle>
    <p:otherStyle>
      <a:defPPr>
        <a:defRPr lang="ja-JP"/>
      </a:defPPr>
      <a:lvl1pPr marL="0" algn="l" defTabSz="457200" rtl="0" eaLnBrk="1" latinLnBrk="0" hangingPunct="1">
        <a:defRPr kumimoji="1" sz="1800" kern="1200">
          <a:solidFill>
            <a:schemeClr val="tx1"/>
          </a:solidFill>
          <a:latin typeface="+mn-lt"/>
          <a:ea typeface="+mn-ea"/>
          <a:cs typeface="+mn-cs"/>
        </a:defRPr>
      </a:lvl1pPr>
      <a:lvl2pPr marL="457200" algn="l" defTabSz="457200" rtl="0" eaLnBrk="1" latinLnBrk="0" hangingPunct="1">
        <a:defRPr kumimoji="1" sz="1800" kern="1200">
          <a:solidFill>
            <a:schemeClr val="tx1"/>
          </a:solidFill>
          <a:latin typeface="+mn-lt"/>
          <a:ea typeface="+mn-ea"/>
          <a:cs typeface="+mn-cs"/>
        </a:defRPr>
      </a:lvl2pPr>
      <a:lvl3pPr marL="914400" algn="l" defTabSz="457200" rtl="0" eaLnBrk="1" latinLnBrk="0" hangingPunct="1">
        <a:defRPr kumimoji="1" sz="1800" kern="1200">
          <a:solidFill>
            <a:schemeClr val="tx1"/>
          </a:solidFill>
          <a:latin typeface="+mn-lt"/>
          <a:ea typeface="+mn-ea"/>
          <a:cs typeface="+mn-cs"/>
        </a:defRPr>
      </a:lvl3pPr>
      <a:lvl4pPr marL="1371600" algn="l" defTabSz="457200" rtl="0" eaLnBrk="1" latinLnBrk="0" hangingPunct="1">
        <a:defRPr kumimoji="1" sz="1800" kern="1200">
          <a:solidFill>
            <a:schemeClr val="tx1"/>
          </a:solidFill>
          <a:latin typeface="+mn-lt"/>
          <a:ea typeface="+mn-ea"/>
          <a:cs typeface="+mn-cs"/>
        </a:defRPr>
      </a:lvl4pPr>
      <a:lvl5pPr marL="1828800" algn="l" defTabSz="457200" rtl="0" eaLnBrk="1" latinLnBrk="0" hangingPunct="1">
        <a:defRPr kumimoji="1" sz="1800" kern="1200">
          <a:solidFill>
            <a:schemeClr val="tx1"/>
          </a:solidFill>
          <a:latin typeface="+mn-lt"/>
          <a:ea typeface="+mn-ea"/>
          <a:cs typeface="+mn-cs"/>
        </a:defRPr>
      </a:lvl5pPr>
      <a:lvl6pPr marL="2286000" algn="l" defTabSz="457200" rtl="0" eaLnBrk="1" latinLnBrk="0" hangingPunct="1">
        <a:defRPr kumimoji="1" sz="1800" kern="1200">
          <a:solidFill>
            <a:schemeClr val="tx1"/>
          </a:solidFill>
          <a:latin typeface="+mn-lt"/>
          <a:ea typeface="+mn-ea"/>
          <a:cs typeface="+mn-cs"/>
        </a:defRPr>
      </a:lvl6pPr>
      <a:lvl7pPr marL="2743200" algn="l" defTabSz="457200" rtl="0" eaLnBrk="1" latinLnBrk="0" hangingPunct="1">
        <a:defRPr kumimoji="1" sz="1800" kern="1200">
          <a:solidFill>
            <a:schemeClr val="tx1"/>
          </a:solidFill>
          <a:latin typeface="+mn-lt"/>
          <a:ea typeface="+mn-ea"/>
          <a:cs typeface="+mn-cs"/>
        </a:defRPr>
      </a:lvl7pPr>
      <a:lvl8pPr marL="3200400" algn="l" defTabSz="457200" rtl="0" eaLnBrk="1" latinLnBrk="0" hangingPunct="1">
        <a:defRPr kumimoji="1" sz="1800" kern="1200">
          <a:solidFill>
            <a:schemeClr val="tx1"/>
          </a:solidFill>
          <a:latin typeface="+mn-lt"/>
          <a:ea typeface="+mn-ea"/>
          <a:cs typeface="+mn-cs"/>
        </a:defRPr>
      </a:lvl8pPr>
      <a:lvl9pPr marL="3657600" algn="l" defTabSz="4572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6.png"/><Relationship Id="rId1" Type="http://schemas.openxmlformats.org/officeDocument/2006/relationships/slideLayout" Target="../slideLayouts/slideLayout2.xml"/><Relationship Id="rId5" Type="http://schemas.openxmlformats.org/officeDocument/2006/relationships/image" Target="../media/image9.png"/><Relationship Id="rId4" Type="http://schemas.openxmlformats.org/officeDocument/2006/relationships/image" Target="../media/image8.png"/></Relationships>
</file>

<file path=ppt/slides/_rels/slide4.xml.rels><?xml version="1.0" encoding="UTF-8" standalone="yes"?>
<Relationships xmlns="http://schemas.openxmlformats.org/package/2006/relationships"><Relationship Id="rId8" Type="http://schemas.openxmlformats.org/officeDocument/2006/relationships/image" Target="../media/image16.jpeg"/><Relationship Id="rId3" Type="http://schemas.openxmlformats.org/officeDocument/2006/relationships/image" Target="../media/image11.png"/><Relationship Id="rId7" Type="http://schemas.openxmlformats.org/officeDocument/2006/relationships/image" Target="../media/image15.png"/><Relationship Id="rId2" Type="http://schemas.openxmlformats.org/officeDocument/2006/relationships/image" Target="../media/image10.png"/><Relationship Id="rId1" Type="http://schemas.openxmlformats.org/officeDocument/2006/relationships/slideLayout" Target="../slideLayouts/slideLayout2.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xml"/><Relationship Id="rId5" Type="http://schemas.openxmlformats.org/officeDocument/2006/relationships/image" Target="../media/image20.png"/><Relationship Id="rId4" Type="http://schemas.openxmlformats.org/officeDocument/2006/relationships/image" Target="../media/image19.png"/></Relationships>
</file>

<file path=ppt/slides/_rels/slide8.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2.xml"/><Relationship Id="rId5" Type="http://schemas.openxmlformats.org/officeDocument/2006/relationships/image" Target="../media/image18.png"/><Relationship Id="rId4" Type="http://schemas.openxmlformats.org/officeDocument/2006/relationships/image" Target="../media/image17.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22.jpg"/><Relationship Id="rId2" Type="http://schemas.openxmlformats.org/officeDocument/2006/relationships/image" Target="../media/image21.jpg"/><Relationship Id="rId1" Type="http://schemas.openxmlformats.org/officeDocument/2006/relationships/slideLayout" Target="../slideLayouts/slideLayout2.xml"/><Relationship Id="rId4" Type="http://schemas.openxmlformats.org/officeDocument/2006/relationships/image" Target="../media/image23.jpg"/></Relationships>
</file>

<file path=ppt/slides/_rels/slide11.xml.rels><?xml version="1.0" encoding="UTF-8" standalone="yes"?>
<Relationships xmlns="http://schemas.openxmlformats.org/package/2006/relationships"><Relationship Id="rId3" Type="http://schemas.openxmlformats.org/officeDocument/2006/relationships/image" Target="../media/image25.jpg"/><Relationship Id="rId2" Type="http://schemas.openxmlformats.org/officeDocument/2006/relationships/image" Target="../media/image24.jpg"/><Relationship Id="rId1" Type="http://schemas.openxmlformats.org/officeDocument/2006/relationships/slideLayout" Target="../slideLayouts/slideLayout2.xml"/><Relationship Id="rId4" Type="http://schemas.openxmlformats.org/officeDocument/2006/relationships/image" Target="../media/image26.jpg"/></Relationships>
</file>

<file path=ppt/slides/_rels/slide12.xml.rels><?xml version="1.0" encoding="UTF-8" standalone="yes"?>
<Relationships xmlns="http://schemas.openxmlformats.org/package/2006/relationships"><Relationship Id="rId3" Type="http://schemas.openxmlformats.org/officeDocument/2006/relationships/image" Target="../media/image28.jpg"/><Relationship Id="rId2" Type="http://schemas.openxmlformats.org/officeDocument/2006/relationships/image" Target="../media/image27.jp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30.jpg"/><Relationship Id="rId2" Type="http://schemas.openxmlformats.org/officeDocument/2006/relationships/image" Target="../media/image29.jp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32.jpg"/><Relationship Id="rId2" Type="http://schemas.openxmlformats.org/officeDocument/2006/relationships/image" Target="../media/image31.jpg"/><Relationship Id="rId1" Type="http://schemas.openxmlformats.org/officeDocument/2006/relationships/slideLayout" Target="../slideLayouts/slideLayout2.xml"/><Relationship Id="rId5" Type="http://schemas.openxmlformats.org/officeDocument/2006/relationships/image" Target="../media/image34.jpg"/><Relationship Id="rId4" Type="http://schemas.openxmlformats.org/officeDocument/2006/relationships/image" Target="../media/image33.jp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36.jpeg"/><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37.png"/><Relationship Id="rId1" Type="http://schemas.openxmlformats.org/officeDocument/2006/relationships/slideLayout" Target="../slideLayouts/slideLayout2.xml"/><Relationship Id="rId4" Type="http://schemas.openxmlformats.org/officeDocument/2006/relationships/image" Target="../media/image39.jp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image" Target="../media/image48.png"/><Relationship Id="rId1" Type="http://schemas.openxmlformats.org/officeDocument/2006/relationships/slideLayout" Target="../slideLayouts/slideLayout2.xml"/><Relationship Id="rId5" Type="http://schemas.openxmlformats.org/officeDocument/2006/relationships/image" Target="../media/image51.jpeg"/><Relationship Id="rId4" Type="http://schemas.openxmlformats.org/officeDocument/2006/relationships/image" Target="../media/image50.png"/></Relationships>
</file>

<file path=ppt/slides/_rels/slide40.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image" Target="../media/image52.png"/><Relationship Id="rId1" Type="http://schemas.openxmlformats.org/officeDocument/2006/relationships/slideLayout" Target="../slideLayouts/slideLayout2.xml"/><Relationship Id="rId5" Type="http://schemas.openxmlformats.org/officeDocument/2006/relationships/image" Target="../media/image55.png"/><Relationship Id="rId4" Type="http://schemas.openxmlformats.org/officeDocument/2006/relationships/image" Target="../media/image54.png"/></Relationships>
</file>

<file path=ppt/slides/_rels/slide41.xml.rels><?xml version="1.0" encoding="UTF-8" standalone="yes"?>
<Relationships xmlns="http://schemas.openxmlformats.org/package/2006/relationships"><Relationship Id="rId2" Type="http://schemas.openxmlformats.org/officeDocument/2006/relationships/image" Target="../media/image56.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image" Target="../media/image57.png"/><Relationship Id="rId1" Type="http://schemas.openxmlformats.org/officeDocument/2006/relationships/slideLayout" Target="../slideLayouts/slideLayout2.xml"/><Relationship Id="rId6" Type="http://schemas.openxmlformats.org/officeDocument/2006/relationships/image" Target="../media/image61.png"/><Relationship Id="rId5" Type="http://schemas.openxmlformats.org/officeDocument/2006/relationships/image" Target="../media/image60.png"/><Relationship Id="rId4" Type="http://schemas.openxmlformats.org/officeDocument/2006/relationships/image" Target="../media/image59.png"/></Relationships>
</file>

<file path=ppt/slides/_rels/slide43.xml.rels><?xml version="1.0" encoding="UTF-8" standalone="yes"?>
<Relationships xmlns="http://schemas.openxmlformats.org/package/2006/relationships"><Relationship Id="rId2" Type="http://schemas.openxmlformats.org/officeDocument/2006/relationships/image" Target="../media/image62.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8" Type="http://schemas.openxmlformats.org/officeDocument/2006/relationships/image" Target="../media/image69.jpg"/><Relationship Id="rId3" Type="http://schemas.openxmlformats.org/officeDocument/2006/relationships/image" Target="../media/image64.jpg"/><Relationship Id="rId7" Type="http://schemas.openxmlformats.org/officeDocument/2006/relationships/image" Target="../media/image68.jpeg"/><Relationship Id="rId2" Type="http://schemas.openxmlformats.org/officeDocument/2006/relationships/image" Target="../media/image63.jpg"/><Relationship Id="rId1" Type="http://schemas.openxmlformats.org/officeDocument/2006/relationships/slideLayout" Target="../slideLayouts/slideLayout2.xml"/><Relationship Id="rId6" Type="http://schemas.openxmlformats.org/officeDocument/2006/relationships/image" Target="../media/image67.png"/><Relationship Id="rId11" Type="http://schemas.openxmlformats.org/officeDocument/2006/relationships/hyperlink" Target="https://youtube.com/shorts/0qI4QgrOppQ" TargetMode="External"/><Relationship Id="rId5" Type="http://schemas.openxmlformats.org/officeDocument/2006/relationships/image" Target="../media/image66.png"/><Relationship Id="rId10" Type="http://schemas.openxmlformats.org/officeDocument/2006/relationships/image" Target="../media/image71.png"/><Relationship Id="rId4" Type="http://schemas.openxmlformats.org/officeDocument/2006/relationships/image" Target="../media/image65.png"/><Relationship Id="rId9" Type="http://schemas.openxmlformats.org/officeDocument/2006/relationships/image" Target="../media/image70.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73.png"/><Relationship Id="rId2" Type="http://schemas.openxmlformats.org/officeDocument/2006/relationships/image" Target="../media/image72.png"/><Relationship Id="rId1" Type="http://schemas.openxmlformats.org/officeDocument/2006/relationships/slideLayout" Target="../slideLayouts/slideLayout2.xml"/><Relationship Id="rId4" Type="http://schemas.openxmlformats.org/officeDocument/2006/relationships/image" Target="../media/image74.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8" Type="http://schemas.openxmlformats.org/officeDocument/2006/relationships/image" Target="../media/image79.jpeg"/><Relationship Id="rId3" Type="http://schemas.openxmlformats.org/officeDocument/2006/relationships/image" Target="../media/image3.emf"/><Relationship Id="rId7" Type="http://schemas.openxmlformats.org/officeDocument/2006/relationships/image" Target="../media/image78.jpeg"/><Relationship Id="rId2" Type="http://schemas.openxmlformats.org/officeDocument/2006/relationships/notesSlide" Target="../notesSlides/notesSlide1.xml"/><Relationship Id="rId1" Type="http://schemas.openxmlformats.org/officeDocument/2006/relationships/slideLayout" Target="../slideLayouts/slideLayout3.xml"/><Relationship Id="rId6" Type="http://schemas.openxmlformats.org/officeDocument/2006/relationships/image" Target="../media/image77.jpeg"/><Relationship Id="rId5" Type="http://schemas.openxmlformats.org/officeDocument/2006/relationships/image" Target="../media/image76.jpeg"/><Relationship Id="rId4" Type="http://schemas.openxmlformats.org/officeDocument/2006/relationships/image" Target="../media/image75.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正方形/長方形 1">
            <a:extLst>
              <a:ext uri="{FF2B5EF4-FFF2-40B4-BE49-F238E27FC236}">
                <a16:creationId xmlns:a16="http://schemas.microsoft.com/office/drawing/2014/main" id="{69A0322D-BA5F-9122-1E12-FB7AC2AF15A5}"/>
              </a:ext>
            </a:extLst>
          </p:cNvPr>
          <p:cNvSpPr/>
          <p:nvPr/>
        </p:nvSpPr>
        <p:spPr>
          <a:xfrm>
            <a:off x="1665887" y="2533105"/>
            <a:ext cx="6574236" cy="584775"/>
          </a:xfrm>
          <a:prstGeom prst="rect">
            <a:avLst/>
          </a:prstGeom>
        </p:spPr>
        <p:txBody>
          <a:bodyPr wrap="none">
            <a:spAutoFit/>
          </a:bodyPr>
          <a:lstStyle/>
          <a:p>
            <a:pPr algn="ctr"/>
            <a:r>
              <a:rPr lang="en-US" altLang="ja-I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LINE</a:t>
            </a:r>
            <a:r>
              <a:rPr lang="ja-JP" altLang="en-U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公式アカウント運用のご提案</a:t>
            </a:r>
            <a:endParaRPr lang="en-US" altLang="ja-IS" sz="32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endParaRPr>
          </a:p>
        </p:txBody>
      </p:sp>
      <p:sp>
        <p:nvSpPr>
          <p:cNvPr id="6" name="正方形/長方形 5">
            <a:extLst>
              <a:ext uri="{FF2B5EF4-FFF2-40B4-BE49-F238E27FC236}">
                <a16:creationId xmlns:a16="http://schemas.microsoft.com/office/drawing/2014/main" id="{3CC59398-53B4-E01E-A60C-6C13628FCBFB}"/>
              </a:ext>
            </a:extLst>
          </p:cNvPr>
          <p:cNvSpPr/>
          <p:nvPr/>
        </p:nvSpPr>
        <p:spPr>
          <a:xfrm>
            <a:off x="1335024" y="2224725"/>
            <a:ext cx="7232904" cy="338554"/>
          </a:xfrm>
          <a:prstGeom prst="rect">
            <a:avLst/>
          </a:prstGeom>
        </p:spPr>
        <p:txBody>
          <a:bodyPr wrap="square">
            <a:spAutoFit/>
          </a:bodyPr>
          <a:lstStyle/>
          <a:p>
            <a:pPr algn="ctr"/>
            <a:r>
              <a:rPr lang="ja-JP" altLang="en-US" sz="1600" dirty="0">
                <a:solidFill>
                  <a:schemeClr val="tx1">
                    <a:lumMod val="50000"/>
                    <a:lumOff val="50000"/>
                  </a:schemeClr>
                </a:solidFill>
                <a:latin typeface="Meiryo" panose="020B0604030504040204" pitchFamily="34" charset="-128"/>
                <a:ea typeface="Meiryo" panose="020B0604030504040204" pitchFamily="34" charset="-128"/>
              </a:rPr>
              <a:t>追客・ファン化を再構築する、LINE公式アカウントの設計見直し</a:t>
            </a:r>
          </a:p>
        </p:txBody>
      </p:sp>
      <p:cxnSp>
        <p:nvCxnSpPr>
          <p:cNvPr id="5" name="直線コネクタ 4">
            <a:extLst>
              <a:ext uri="{FF2B5EF4-FFF2-40B4-BE49-F238E27FC236}">
                <a16:creationId xmlns:a16="http://schemas.microsoft.com/office/drawing/2014/main" id="{B532C1C8-7FE6-8830-B27C-27941421F5F9}"/>
              </a:ext>
            </a:extLst>
          </p:cNvPr>
          <p:cNvCxnSpPr>
            <a:cxnSpLocks/>
          </p:cNvCxnSpPr>
          <p:nvPr/>
        </p:nvCxnSpPr>
        <p:spPr>
          <a:xfrm>
            <a:off x="1337175" y="3199966"/>
            <a:ext cx="7231660" cy="0"/>
          </a:xfrm>
          <a:prstGeom prst="line">
            <a:avLst/>
          </a:prstGeom>
          <a:ln w="190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pic>
        <p:nvPicPr>
          <p:cNvPr id="9" name="図 8" descr="背景パターン&#10;&#10;AI 生成コンテンツは誤りを含む可能性があります。">
            <a:extLst>
              <a:ext uri="{FF2B5EF4-FFF2-40B4-BE49-F238E27FC236}">
                <a16:creationId xmlns:a16="http://schemas.microsoft.com/office/drawing/2014/main" id="{FFE022E1-8FF6-B4B4-B955-17E7CFA96460}"/>
              </a:ext>
            </a:extLst>
          </p:cNvPr>
          <p:cNvPicPr>
            <a:picLocks noChangeAspect="1"/>
          </p:cNvPicPr>
          <p:nvPr/>
        </p:nvPicPr>
        <p:blipFill>
          <a:blip r:embed="rId2"/>
          <a:stretch>
            <a:fillRect/>
          </a:stretch>
        </p:blipFill>
        <p:spPr>
          <a:xfrm>
            <a:off x="-1" y="0"/>
            <a:ext cx="8159931" cy="766354"/>
          </a:xfrm>
          <a:prstGeom prst="rect">
            <a:avLst/>
          </a:prstGeom>
        </p:spPr>
      </p:pic>
      <p:pic>
        <p:nvPicPr>
          <p:cNvPr id="10" name="図 9" descr="背景パターン&#10;&#10;AI 生成コンテンツは誤りを含む可能性があります。">
            <a:extLst>
              <a:ext uri="{FF2B5EF4-FFF2-40B4-BE49-F238E27FC236}">
                <a16:creationId xmlns:a16="http://schemas.microsoft.com/office/drawing/2014/main" id="{0F2999B3-5873-C495-70F5-12487911C618}"/>
              </a:ext>
            </a:extLst>
          </p:cNvPr>
          <p:cNvPicPr>
            <a:picLocks noChangeAspect="1"/>
          </p:cNvPicPr>
          <p:nvPr/>
        </p:nvPicPr>
        <p:blipFill>
          <a:blip r:embed="rId2"/>
          <a:stretch>
            <a:fillRect/>
          </a:stretch>
        </p:blipFill>
        <p:spPr>
          <a:xfrm>
            <a:off x="7863840" y="494114"/>
            <a:ext cx="2042161" cy="272239"/>
          </a:xfrm>
          <a:prstGeom prst="rect">
            <a:avLst/>
          </a:prstGeom>
        </p:spPr>
      </p:pic>
      <p:sp>
        <p:nvSpPr>
          <p:cNvPr id="7" name="テキスト ボックス 6">
            <a:extLst>
              <a:ext uri="{FF2B5EF4-FFF2-40B4-BE49-F238E27FC236}">
                <a16:creationId xmlns:a16="http://schemas.microsoft.com/office/drawing/2014/main" id="{7170AE42-913D-895E-A1DE-6A899FE53370}"/>
              </a:ext>
            </a:extLst>
          </p:cNvPr>
          <p:cNvSpPr txBox="1"/>
          <p:nvPr/>
        </p:nvSpPr>
        <p:spPr>
          <a:xfrm>
            <a:off x="291974" y="263665"/>
            <a:ext cx="4965824" cy="338554"/>
          </a:xfrm>
          <a:prstGeom prst="rect">
            <a:avLst/>
          </a:prstGeom>
          <a:noFill/>
        </p:spPr>
        <p:txBody>
          <a:bodyPr wrap="square">
            <a:spAutoFit/>
          </a:bodyPr>
          <a:lstStyle/>
          <a:p>
            <a:r>
              <a:rPr lang="en-US" altLang="ja-JP" sz="1600" b="1" dirty="0">
                <a:solidFill>
                  <a:schemeClr val="tx1">
                    <a:lumMod val="50000"/>
                    <a:lumOff val="50000"/>
                  </a:schemeClr>
                </a:solidFill>
                <a:latin typeface="Meiryo" panose="020B0604030504040204" pitchFamily="34" charset="-128"/>
                <a:ea typeface="Meiryo" panose="020B0604030504040204" pitchFamily="34" charset="-128"/>
              </a:rPr>
              <a:t>株式会社ワクトリ 御中</a:t>
            </a:r>
          </a:p>
        </p:txBody>
      </p:sp>
    </p:spTree>
    <p:extLst>
      <p:ext uri="{BB962C8B-B14F-4D97-AF65-F5344CB8AC3E}">
        <p14:creationId xmlns:p14="http://schemas.microsoft.com/office/powerpoint/2010/main" val="394459803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8E14BD-61D8-2EDF-00C5-CC99878DCBE4}"/>
            </a:ext>
          </a:extLst>
        </p:cNvPr>
        <p:cNvGrpSpPr/>
        <p:nvPr/>
      </p:nvGrpSpPr>
      <p:grpSpPr>
        <a:xfrm>
          <a:off x="0" y="0"/>
          <a:ext cx="0" cy="0"/>
          <a:chOff x="0" y="0"/>
          <a:chExt cx="0" cy="0"/>
        </a:xfrm>
      </p:grpSpPr>
      <p:sp>
        <p:nvSpPr>
          <p:cNvPr id="22" name="Google Shape;752;p28">
            <a:extLst>
              <a:ext uri="{FF2B5EF4-FFF2-40B4-BE49-F238E27FC236}">
                <a16:creationId xmlns:a16="http://schemas.microsoft.com/office/drawing/2014/main" id="{D26128CF-BCED-5375-A761-44A2026897C7}"/>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弊社紹介</a:t>
            </a:r>
          </a:p>
        </p:txBody>
      </p:sp>
      <p:pic>
        <p:nvPicPr>
          <p:cNvPr id="2" name="図 1">
            <a:extLst>
              <a:ext uri="{FF2B5EF4-FFF2-40B4-BE49-F238E27FC236}">
                <a16:creationId xmlns:a16="http://schemas.microsoft.com/office/drawing/2014/main" id="{EE2AAF13-DB10-C453-237D-21D704CF1C48}"/>
              </a:ext>
            </a:extLst>
          </p:cNvPr>
          <p:cNvPicPr>
            <a:picLocks noChangeAspect="1"/>
          </p:cNvPicPr>
          <p:nvPr/>
        </p:nvPicPr>
        <p:blipFill>
          <a:blip r:embed="rId2"/>
          <a:stretch>
            <a:fillRect/>
          </a:stretch>
        </p:blipFill>
        <p:spPr>
          <a:xfrm>
            <a:off x="97593" y="604446"/>
            <a:ext cx="9710814" cy="5910368"/>
          </a:xfrm>
          <a:prstGeom prst="rect">
            <a:avLst/>
          </a:prstGeom>
        </p:spPr>
      </p:pic>
    </p:spTree>
    <p:extLst>
      <p:ext uri="{BB962C8B-B14F-4D97-AF65-F5344CB8AC3E}">
        <p14:creationId xmlns:p14="http://schemas.microsoft.com/office/powerpoint/2010/main" val="240437132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89E1EF-F184-F7BC-2DF2-9E9641908D82}"/>
            </a:ext>
          </a:extLst>
        </p:cNvPr>
        <p:cNvGrpSpPr/>
        <p:nvPr/>
      </p:nvGrpSpPr>
      <p:grpSpPr>
        <a:xfrm>
          <a:off x="0" y="0"/>
          <a:ext cx="0" cy="0"/>
          <a:chOff x="0" y="0"/>
          <a:chExt cx="0" cy="0"/>
        </a:xfrm>
      </p:grpSpPr>
      <p:pic>
        <p:nvPicPr>
          <p:cNvPr id="58" name="図 57" descr="文字と写真のスクリーンショット&#10;&#10;AI 生成コンテンツは誤りを含む可能性があります。">
            <a:extLst>
              <a:ext uri="{FF2B5EF4-FFF2-40B4-BE49-F238E27FC236}">
                <a16:creationId xmlns:a16="http://schemas.microsoft.com/office/drawing/2014/main" id="{BC098C34-07FA-B015-C970-B8433D9E8BE3}"/>
              </a:ext>
            </a:extLst>
          </p:cNvPr>
          <p:cNvPicPr>
            <a:picLocks noChangeAspect="1"/>
          </p:cNvPicPr>
          <p:nvPr/>
        </p:nvPicPr>
        <p:blipFill>
          <a:blip r:embed="rId2" cstate="print">
            <a:extLst>
              <a:ext uri="{28A0092B-C50C-407E-A947-70E740481C1C}">
                <a14:useLocalDpi xmlns:a14="http://schemas.microsoft.com/office/drawing/2010/main" val="0"/>
              </a:ext>
            </a:extLst>
          </a:blip>
          <a:srcRect l="33846" t="3967" r="34188" b="52442"/>
          <a:stretch>
            <a:fillRect/>
          </a:stretch>
        </p:blipFill>
        <p:spPr>
          <a:xfrm>
            <a:off x="489022" y="5068469"/>
            <a:ext cx="2046003" cy="1464812"/>
          </a:xfrm>
          <a:prstGeom prst="rect">
            <a:avLst/>
          </a:prstGeom>
        </p:spPr>
      </p:pic>
      <p:sp>
        <p:nvSpPr>
          <p:cNvPr id="33" name="正方形/長方形 32">
            <a:extLst>
              <a:ext uri="{FF2B5EF4-FFF2-40B4-BE49-F238E27FC236}">
                <a16:creationId xmlns:a16="http://schemas.microsoft.com/office/drawing/2014/main" id="{1E52F929-5FD7-9413-24A8-2725B04E4908}"/>
              </a:ext>
            </a:extLst>
          </p:cNvPr>
          <p:cNvSpPr/>
          <p:nvPr/>
        </p:nvSpPr>
        <p:spPr>
          <a:xfrm>
            <a:off x="388723" y="1082314"/>
            <a:ext cx="9129600" cy="1005648"/>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1200" dirty="0">
                <a:solidFill>
                  <a:srgbClr val="000000">
                    <a:lumMod val="95000"/>
                    <a:lumOff val="5000"/>
                  </a:srgbClr>
                </a:solidFill>
                <a:latin typeface="メイリオ" panose="020B0604030504040204" pitchFamily="50" charset="-128"/>
                <a:ea typeface="メイリオ" panose="020B0604030504040204" pitchFamily="50" charset="-128"/>
              </a:rPr>
              <a:t>2025</a:t>
            </a:r>
            <a:r>
              <a:rPr lang="ja-JP" altLang="en-US" sz="1200" dirty="0">
                <a:solidFill>
                  <a:srgbClr val="000000">
                    <a:lumMod val="95000"/>
                    <a:lumOff val="5000"/>
                  </a:srgbClr>
                </a:solidFill>
                <a:latin typeface="メイリオ" panose="020B0604030504040204" pitchFamily="50" charset="-128"/>
                <a:ea typeface="メイリオ" panose="020B0604030504040204" pitchFamily="50" charset="-128"/>
              </a:rPr>
              <a:t>年</a:t>
            </a:r>
            <a:r>
              <a:rPr lang="en-US" altLang="ja-JP" sz="1200" dirty="0">
                <a:solidFill>
                  <a:srgbClr val="000000">
                    <a:lumMod val="95000"/>
                    <a:lumOff val="5000"/>
                  </a:srgbClr>
                </a:solidFill>
                <a:latin typeface="メイリオ" panose="020B0604030504040204" pitchFamily="50" charset="-128"/>
                <a:ea typeface="メイリオ" panose="020B0604030504040204" pitchFamily="50" charset="-128"/>
              </a:rPr>
              <a:t>11</a:t>
            </a:r>
            <a:r>
              <a:rPr lang="ja-JP" altLang="en-US" sz="1200" dirty="0">
                <a:solidFill>
                  <a:srgbClr val="000000">
                    <a:lumMod val="95000"/>
                    <a:lumOff val="5000"/>
                  </a:srgbClr>
                </a:solidFill>
                <a:latin typeface="メイリオ" panose="020B0604030504040204" pitchFamily="50" charset="-128"/>
                <a:ea typeface="メイリオ" panose="020B0604030504040204" pitchFamily="50" charset="-128"/>
              </a:rPr>
              <a:t>月、株式会社</a:t>
            </a:r>
            <a:r>
              <a:rPr lang="en-US" altLang="ja-JP" sz="1200" dirty="0">
                <a:solidFill>
                  <a:srgbClr val="000000">
                    <a:lumMod val="95000"/>
                    <a:lumOff val="5000"/>
                  </a:srgbClr>
                </a:solidFill>
                <a:latin typeface="メイリオ" panose="020B0604030504040204" pitchFamily="50" charset="-128"/>
                <a:ea typeface="メイリオ" panose="020B0604030504040204" pitchFamily="50" charset="-128"/>
              </a:rPr>
              <a:t>LINE</a:t>
            </a:r>
            <a:r>
              <a:rPr lang="ja-JP" altLang="en-US" sz="1200" dirty="0">
                <a:solidFill>
                  <a:srgbClr val="000000">
                    <a:lumMod val="95000"/>
                    <a:lumOff val="5000"/>
                  </a:srgbClr>
                </a:solidFill>
                <a:latin typeface="メイリオ" panose="020B0604030504040204" pitchFamily="50" charset="-128"/>
                <a:ea typeface="メイリオ" panose="020B0604030504040204" pitchFamily="50" charset="-128"/>
              </a:rPr>
              <a:t>ヤフー社が主催する </a:t>
            </a:r>
            <a:r>
              <a:rPr lang="en-US" altLang="ja-JP" sz="1200" dirty="0">
                <a:solidFill>
                  <a:srgbClr val="000000">
                    <a:lumMod val="95000"/>
                    <a:lumOff val="5000"/>
                  </a:srgbClr>
                </a:solidFill>
                <a:latin typeface="メイリオ" panose="020B0604030504040204" pitchFamily="50" charset="-128"/>
                <a:ea typeface="メイリオ" panose="020B0604030504040204" pitchFamily="50" charset="-128"/>
              </a:rPr>
              <a:t>”LINE</a:t>
            </a:r>
            <a:r>
              <a:rPr lang="ja-JP" altLang="en-US" sz="1200" dirty="0">
                <a:solidFill>
                  <a:srgbClr val="000000">
                    <a:lumMod val="95000"/>
                    <a:lumOff val="5000"/>
                  </a:srgbClr>
                </a:solidFill>
                <a:latin typeface="メイリオ" panose="020B0604030504040204" pitchFamily="50" charset="-128"/>
                <a:ea typeface="メイリオ" panose="020B0604030504040204" pitchFamily="50" charset="-128"/>
              </a:rPr>
              <a:t>ヤフー </a:t>
            </a:r>
            <a:r>
              <a:rPr lang="en-US" altLang="ja-JP" sz="1200" dirty="0">
                <a:solidFill>
                  <a:srgbClr val="000000">
                    <a:lumMod val="95000"/>
                    <a:lumOff val="5000"/>
                  </a:srgbClr>
                </a:solidFill>
                <a:latin typeface="メイリオ" panose="020B0604030504040204" pitchFamily="50" charset="-128"/>
                <a:ea typeface="メイリオ" panose="020B0604030504040204" pitchFamily="50" charset="-128"/>
              </a:rPr>
              <a:t>Partner Award 2025” </a:t>
            </a:r>
            <a:r>
              <a:rPr lang="ja-JP" altLang="en-US" sz="1200" dirty="0">
                <a:solidFill>
                  <a:srgbClr val="000000">
                    <a:lumMod val="95000"/>
                    <a:lumOff val="5000"/>
                  </a:srgbClr>
                </a:solidFill>
                <a:latin typeface="メイリオ" panose="020B0604030504040204" pitchFamily="50" charset="-128"/>
                <a:ea typeface="メイリオ" panose="020B0604030504040204" pitchFamily="50" charset="-128"/>
              </a:rPr>
              <a:t>に株式会社</a:t>
            </a:r>
            <a:r>
              <a:rPr lang="en-US" altLang="ja-JP" sz="1200" dirty="0">
                <a:solidFill>
                  <a:srgbClr val="000000">
                    <a:lumMod val="95000"/>
                    <a:lumOff val="5000"/>
                  </a:srgbClr>
                </a:solidFill>
                <a:latin typeface="メイリオ" panose="020B0604030504040204" pitchFamily="50" charset="-128"/>
                <a:ea typeface="メイリオ" panose="020B0604030504040204" pitchFamily="50" charset="-128"/>
              </a:rPr>
              <a:t>DYM</a:t>
            </a:r>
            <a:r>
              <a:rPr lang="ja-JP" altLang="en-US" sz="1200" dirty="0">
                <a:solidFill>
                  <a:srgbClr val="000000">
                    <a:lumMod val="95000"/>
                    <a:lumOff val="5000"/>
                  </a:srgbClr>
                </a:solidFill>
                <a:latin typeface="メイリオ" panose="020B0604030504040204" pitchFamily="50" charset="-128"/>
                <a:ea typeface="メイリオ" panose="020B0604030504040204" pitchFamily="50" charset="-128"/>
              </a:rPr>
              <a:t>が参加。</a:t>
            </a:r>
            <a:br>
              <a:rPr lang="en-US" altLang="ja-JP" sz="1200" dirty="0">
                <a:solidFill>
                  <a:srgbClr val="000000">
                    <a:lumMod val="95000"/>
                    <a:lumOff val="5000"/>
                  </a:srgbClr>
                </a:solidFill>
                <a:latin typeface="メイリオ" panose="020B0604030504040204" pitchFamily="50" charset="-128"/>
                <a:ea typeface="メイリオ" panose="020B0604030504040204" pitchFamily="50" charset="-128"/>
              </a:rPr>
            </a:br>
            <a:r>
              <a:rPr lang="ja-JP" altLang="en-US" sz="1200" dirty="0">
                <a:solidFill>
                  <a:srgbClr val="000000">
                    <a:lumMod val="95000"/>
                    <a:lumOff val="5000"/>
                  </a:srgbClr>
                </a:solidFill>
                <a:latin typeface="メイリオ" panose="020B0604030504040204" pitchFamily="50" charset="-128"/>
                <a:ea typeface="メイリオ" panose="020B0604030504040204" pitchFamily="50" charset="-128"/>
              </a:rPr>
              <a:t>弊社は</a:t>
            </a:r>
            <a:r>
              <a:rPr lang="en-US" altLang="ja-JP" sz="1200" dirty="0">
                <a:solidFill>
                  <a:srgbClr val="000000">
                    <a:lumMod val="95000"/>
                    <a:lumOff val="5000"/>
                  </a:srgbClr>
                </a:solidFill>
                <a:latin typeface="メイリオ" panose="020B0604030504040204" pitchFamily="50" charset="-128"/>
                <a:ea typeface="メイリオ" panose="020B0604030504040204" pitchFamily="50" charset="-128"/>
              </a:rPr>
              <a:t>LINE</a:t>
            </a:r>
            <a:r>
              <a:rPr lang="ja-JP" altLang="en-US" sz="1200" dirty="0">
                <a:solidFill>
                  <a:srgbClr val="000000">
                    <a:lumMod val="95000"/>
                    <a:lumOff val="5000"/>
                  </a:srgbClr>
                </a:solidFill>
                <a:latin typeface="メイリオ" panose="020B0604030504040204" pitchFamily="50" charset="-128"/>
                <a:ea typeface="メイリオ" panose="020B0604030504040204" pitchFamily="50" charset="-128"/>
              </a:rPr>
              <a:t>公式アカウントによるビジネス拡大に最も貢献したとして、</a:t>
            </a:r>
            <a:r>
              <a:rPr lang="ja-JP" altLang="en-US" sz="1200" b="1" dirty="0">
                <a:solidFill>
                  <a:srgbClr val="C00000"/>
                </a:solidFill>
                <a:latin typeface="メイリオ" panose="020B0604030504040204" pitchFamily="50" charset="-128"/>
                <a:ea typeface="メイリオ" panose="020B0604030504040204" pitchFamily="50" charset="-128"/>
              </a:rPr>
              <a:t>「</a:t>
            </a:r>
            <a:r>
              <a:rPr lang="en-US" altLang="ja-JP" sz="1200" b="1" dirty="0">
                <a:solidFill>
                  <a:srgbClr val="C00000"/>
                </a:solidFill>
                <a:latin typeface="メイリオ" panose="020B0604030504040204" pitchFamily="50" charset="-128"/>
                <a:ea typeface="メイリオ" panose="020B0604030504040204" pitchFamily="50" charset="-128"/>
              </a:rPr>
              <a:t>Best LINE</a:t>
            </a:r>
            <a:r>
              <a:rPr lang="ja-JP" altLang="en-US" sz="1200" b="1" dirty="0">
                <a:solidFill>
                  <a:srgbClr val="C00000"/>
                </a:solidFill>
                <a:latin typeface="メイリオ" panose="020B0604030504040204" pitchFamily="50" charset="-128"/>
                <a:ea typeface="メイリオ" panose="020B0604030504040204" pitchFamily="50" charset="-128"/>
              </a:rPr>
              <a:t>公式アカウント </a:t>
            </a:r>
            <a:r>
              <a:rPr lang="en-US" altLang="ja-JP" sz="1200" b="1" dirty="0">
                <a:solidFill>
                  <a:srgbClr val="C00000"/>
                </a:solidFill>
                <a:latin typeface="メイリオ" panose="020B0604030504040204" pitchFamily="50" charset="-128"/>
                <a:ea typeface="メイリオ" panose="020B0604030504040204" pitchFamily="50" charset="-128"/>
              </a:rPr>
              <a:t>Growth</a:t>
            </a:r>
            <a:r>
              <a:rPr lang="en-US" altLang="ja-JP" sz="700" b="1" dirty="0">
                <a:solidFill>
                  <a:srgbClr val="C00000"/>
                </a:solidFill>
                <a:latin typeface="メイリオ" panose="020B0604030504040204" pitchFamily="50" charset="-128"/>
                <a:ea typeface="メイリオ" panose="020B0604030504040204" pitchFamily="50" charset="-128"/>
              </a:rPr>
              <a:t>※</a:t>
            </a:r>
            <a:r>
              <a:rPr lang="ja-JP" altLang="en-US" sz="1200" b="1" dirty="0">
                <a:solidFill>
                  <a:srgbClr val="C00000"/>
                </a:solidFill>
                <a:latin typeface="メイリオ" panose="020B0604030504040204" pitchFamily="50" charset="-128"/>
                <a:ea typeface="メイリオ" panose="020B0604030504040204" pitchFamily="50" charset="-128"/>
              </a:rPr>
              <a:t>」</a:t>
            </a:r>
            <a:r>
              <a:rPr lang="ja-JP" altLang="en-US" sz="1200" dirty="0">
                <a:solidFill>
                  <a:srgbClr val="000000">
                    <a:lumMod val="95000"/>
                    <a:lumOff val="5000"/>
                  </a:srgbClr>
                </a:solidFill>
                <a:latin typeface="メイリオ" panose="020B0604030504040204" pitchFamily="50" charset="-128"/>
                <a:ea typeface="メイリオ" panose="020B0604030504040204" pitchFamily="50" charset="-128"/>
              </a:rPr>
              <a:t>を受賞。</a:t>
            </a:r>
            <a:br>
              <a:rPr lang="en-US" altLang="ja-JP" sz="1200" dirty="0">
                <a:solidFill>
                  <a:srgbClr val="000000">
                    <a:lumMod val="95000"/>
                    <a:lumOff val="5000"/>
                  </a:srgbClr>
                </a:solidFill>
                <a:latin typeface="メイリオ" panose="020B0604030504040204" pitchFamily="50" charset="-128"/>
                <a:ea typeface="メイリオ" panose="020B0604030504040204" pitchFamily="50" charset="-128"/>
              </a:rPr>
            </a:br>
            <a:r>
              <a:rPr lang="en-US" altLang="ja-JP" sz="1200" dirty="0">
                <a:solidFill>
                  <a:srgbClr val="000000">
                    <a:lumMod val="95000"/>
                    <a:lumOff val="5000"/>
                  </a:srgbClr>
                </a:solidFill>
                <a:latin typeface="メイリオ" panose="020B0604030504040204" pitchFamily="50" charset="-128"/>
                <a:ea typeface="メイリオ" panose="020B0604030504040204" pitchFamily="50" charset="-128"/>
              </a:rPr>
              <a:t>2026</a:t>
            </a:r>
            <a:r>
              <a:rPr lang="ja-JP" altLang="en-US" sz="1200" dirty="0">
                <a:solidFill>
                  <a:srgbClr val="000000">
                    <a:lumMod val="95000"/>
                    <a:lumOff val="5000"/>
                  </a:srgbClr>
                </a:solidFill>
                <a:latin typeface="メイリオ" panose="020B0604030504040204" pitchFamily="50" charset="-128"/>
                <a:ea typeface="メイリオ" panose="020B0604030504040204" pitchFamily="50" charset="-128"/>
              </a:rPr>
              <a:t>年現在、</a:t>
            </a:r>
            <a:r>
              <a:rPr lang="en-US" altLang="ja-JP" sz="1200" dirty="0">
                <a:solidFill>
                  <a:srgbClr val="000000">
                    <a:lumMod val="95000"/>
                    <a:lumOff val="5000"/>
                  </a:srgbClr>
                </a:solidFill>
                <a:latin typeface="メイリオ" panose="020B0604030504040204" pitchFamily="50" charset="-128"/>
                <a:ea typeface="メイリオ" panose="020B0604030504040204" pitchFamily="50" charset="-128"/>
              </a:rPr>
              <a:t>LINE</a:t>
            </a:r>
            <a:r>
              <a:rPr lang="ja-JP" altLang="en-US" sz="1200" dirty="0">
                <a:solidFill>
                  <a:srgbClr val="000000">
                    <a:lumMod val="95000"/>
                    <a:lumOff val="5000"/>
                  </a:srgbClr>
                </a:solidFill>
                <a:latin typeface="メイリオ" panose="020B0604030504040204" pitchFamily="50" charset="-128"/>
                <a:ea typeface="メイリオ" panose="020B0604030504040204" pitchFamily="50" charset="-128"/>
              </a:rPr>
              <a:t>公式アカウントの</a:t>
            </a:r>
            <a:r>
              <a:rPr lang="ja-JP" altLang="en-US" sz="1200" b="1" dirty="0">
                <a:solidFill>
                  <a:srgbClr val="000000">
                    <a:lumMod val="95000"/>
                    <a:lumOff val="5000"/>
                  </a:srgbClr>
                </a:solidFill>
                <a:latin typeface="メイリオ" panose="020B0604030504040204" pitchFamily="50" charset="-128"/>
                <a:ea typeface="メイリオ" panose="020B0604030504040204" pitchFamily="50" charset="-128"/>
              </a:rPr>
              <a:t>取扱社数は</a:t>
            </a:r>
            <a:r>
              <a:rPr lang="en-US" altLang="ja-JP" sz="1200" b="1" dirty="0">
                <a:solidFill>
                  <a:srgbClr val="000000">
                    <a:lumMod val="95000"/>
                    <a:lumOff val="5000"/>
                  </a:srgbClr>
                </a:solidFill>
                <a:latin typeface="メイリオ" panose="020B0604030504040204" pitchFamily="50" charset="-128"/>
                <a:ea typeface="メイリオ" panose="020B0604030504040204" pitchFamily="50" charset="-128"/>
              </a:rPr>
              <a:t>100</a:t>
            </a:r>
            <a:r>
              <a:rPr lang="ja-JP" altLang="en-US" sz="1200" b="1" dirty="0">
                <a:solidFill>
                  <a:srgbClr val="000000">
                    <a:lumMod val="95000"/>
                    <a:lumOff val="5000"/>
                  </a:srgbClr>
                </a:solidFill>
                <a:latin typeface="メイリオ" panose="020B0604030504040204" pitchFamily="50" charset="-128"/>
                <a:ea typeface="メイリオ" panose="020B0604030504040204" pitchFamily="50" charset="-128"/>
              </a:rPr>
              <a:t>社以上、</a:t>
            </a:r>
            <a:r>
              <a:rPr lang="en-US" altLang="ja-JP" sz="1200" b="1" dirty="0">
                <a:solidFill>
                  <a:srgbClr val="000000">
                    <a:lumMod val="95000"/>
                    <a:lumOff val="5000"/>
                  </a:srgbClr>
                </a:solidFill>
                <a:latin typeface="メイリオ" panose="020B0604030504040204" pitchFamily="50" charset="-128"/>
                <a:ea typeface="メイリオ" panose="020B0604030504040204" pitchFamily="50" charset="-128"/>
              </a:rPr>
              <a:t>400</a:t>
            </a:r>
            <a:r>
              <a:rPr lang="ja-JP" altLang="en-US" sz="1200" b="1" dirty="0">
                <a:solidFill>
                  <a:srgbClr val="000000">
                    <a:lumMod val="95000"/>
                    <a:lumOff val="5000"/>
                  </a:srgbClr>
                </a:solidFill>
                <a:latin typeface="メイリオ" panose="020B0604030504040204" pitchFamily="50" charset="-128"/>
                <a:ea typeface="メイリオ" panose="020B0604030504040204" pitchFamily="50" charset="-128"/>
              </a:rPr>
              <a:t>アカウント以上まで拡大</a:t>
            </a:r>
            <a:r>
              <a:rPr lang="ja-JP" altLang="en-US" sz="1200" dirty="0">
                <a:solidFill>
                  <a:srgbClr val="000000">
                    <a:lumMod val="95000"/>
                    <a:lumOff val="5000"/>
                  </a:srgbClr>
                </a:solidFill>
                <a:latin typeface="メイリオ" panose="020B0604030504040204" pitchFamily="50" charset="-128"/>
                <a:ea typeface="メイリオ" panose="020B0604030504040204" pitchFamily="50" charset="-128"/>
              </a:rPr>
              <a:t>しており関連サービスも展開中。</a:t>
            </a:r>
            <a:endParaRPr lang="en-US" altLang="ja-JP" sz="1200" dirty="0">
              <a:solidFill>
                <a:srgbClr val="000000">
                  <a:lumMod val="95000"/>
                  <a:lumOff val="5000"/>
                </a:srgbClr>
              </a:solidFill>
              <a:latin typeface="メイリオ" panose="020B0604030504040204" pitchFamily="50" charset="-128"/>
              <a:ea typeface="メイリオ" panose="020B0604030504040204" pitchFamily="50" charset="-128"/>
            </a:endParaRPr>
          </a:p>
          <a:p>
            <a:pPr algn="r"/>
            <a:r>
              <a:rPr lang="en-US" altLang="ja-JP" sz="900" dirty="0">
                <a:solidFill>
                  <a:schemeClr val="tx1">
                    <a:lumMod val="65000"/>
                    <a:lumOff val="35000"/>
                  </a:schemeClr>
                </a:solidFill>
                <a:latin typeface="メイリオ" panose="020B0604030504040204" pitchFamily="50" charset="-128"/>
                <a:ea typeface="メイリオ" panose="020B0604030504040204" pitchFamily="50" charset="-128"/>
              </a:rPr>
              <a:t>※ LINE</a:t>
            </a:r>
            <a:r>
              <a:rPr lang="ja-JP" altLang="en-US" sz="900" dirty="0">
                <a:solidFill>
                  <a:schemeClr val="tx1">
                    <a:lumMod val="65000"/>
                    <a:lumOff val="35000"/>
                  </a:schemeClr>
                </a:solidFill>
                <a:latin typeface="メイリオ" panose="020B0604030504040204" pitchFamily="50" charset="-128"/>
                <a:ea typeface="メイリオ" panose="020B0604030504040204" pitchFamily="50" charset="-128"/>
              </a:rPr>
              <a:t>公式アカウントを活用し、ビジネス拡大に最も貢献したパートナーに贈られる賞です。</a:t>
            </a:r>
            <a:endParaRPr lang="en-US" altLang="ja-JP" sz="900" dirty="0">
              <a:solidFill>
                <a:schemeClr val="tx1">
                  <a:lumMod val="65000"/>
                  <a:lumOff val="35000"/>
                </a:schemeClr>
              </a:solidFill>
              <a:latin typeface="メイリオ" panose="020B0604030504040204" pitchFamily="50" charset="-128"/>
              <a:ea typeface="メイリオ" panose="020B0604030504040204" pitchFamily="50" charset="-128"/>
            </a:endParaRPr>
          </a:p>
        </p:txBody>
      </p:sp>
      <p:sp>
        <p:nvSpPr>
          <p:cNvPr id="22" name="Google Shape;752;p28">
            <a:extLst>
              <a:ext uri="{FF2B5EF4-FFF2-40B4-BE49-F238E27FC236}">
                <a16:creationId xmlns:a16="http://schemas.microsoft.com/office/drawing/2014/main" id="{C34101C7-CA6C-6ED6-33D4-C2B82BDA5473}"/>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a:solidFill>
                  <a:srgbClr val="323366"/>
                </a:solidFill>
                <a:latin typeface="メイリオ" panose="020B0604030504040204" pitchFamily="50" charset="-128"/>
                <a:ea typeface="メイリオ" panose="020B0604030504040204" pitchFamily="50" charset="-128"/>
                <a:cs typeface="Meiryo"/>
                <a:sym typeface="Meiryo"/>
              </a:rPr>
              <a:t>弊社実績</a:t>
            </a:r>
            <a:endPar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endParaRPr>
          </a:p>
        </p:txBody>
      </p:sp>
      <p:sp>
        <p:nvSpPr>
          <p:cNvPr id="49" name="正方形/長方形 48">
            <a:extLst>
              <a:ext uri="{FF2B5EF4-FFF2-40B4-BE49-F238E27FC236}">
                <a16:creationId xmlns:a16="http://schemas.microsoft.com/office/drawing/2014/main" id="{9685C0AB-6B7A-94C5-EFA8-756E59EE714E}"/>
              </a:ext>
            </a:extLst>
          </p:cNvPr>
          <p:cNvSpPr/>
          <p:nvPr/>
        </p:nvSpPr>
        <p:spPr>
          <a:xfrm>
            <a:off x="388723" y="2116303"/>
            <a:ext cx="9128554" cy="307777"/>
          </a:xfrm>
          <a:prstGeom prst="rect">
            <a:avLst/>
          </a:prstGeom>
          <a:solidFill>
            <a:schemeClr val="bg1">
              <a:lumMod val="65000"/>
            </a:schemeClr>
          </a:solidFill>
          <a:ln>
            <a:solidFill>
              <a:schemeClr val="bg1">
                <a:lumMod val="65000"/>
              </a:schemeClr>
            </a:solidFill>
          </a:ln>
        </p:spPr>
        <p:txBody>
          <a:bodyPr wrap="square">
            <a:spAutoFit/>
          </a:bodyPr>
          <a:lstStyle/>
          <a:p>
            <a:pPr lvl="0" algn="ctr">
              <a:buClr>
                <a:srgbClr val="002060"/>
              </a:buClr>
              <a:buSzPts val="1600"/>
            </a:pPr>
            <a:r>
              <a:rPr lang="ja-JP" altLang="en-US" sz="1400" b="1">
                <a:solidFill>
                  <a:schemeClr val="bg1"/>
                </a:solidFill>
                <a:latin typeface="Meiryo"/>
                <a:ea typeface="Meiryo"/>
                <a:cs typeface="Meiryo"/>
                <a:sym typeface="Meiryo"/>
              </a:rPr>
              <a:t>弊社受賞遍歴 </a:t>
            </a:r>
            <a:r>
              <a:rPr lang="en-US" altLang="ja-JP" sz="1400" b="1">
                <a:solidFill>
                  <a:schemeClr val="bg1"/>
                </a:solidFill>
                <a:latin typeface="Meiryo"/>
                <a:ea typeface="Meiryo"/>
                <a:cs typeface="Meiryo"/>
                <a:sym typeface="Meiryo"/>
              </a:rPr>
              <a:t>Since.2024</a:t>
            </a:r>
            <a:r>
              <a:rPr lang="ja-JP" altLang="en-US" sz="1400" b="1">
                <a:solidFill>
                  <a:schemeClr val="bg1"/>
                </a:solidFill>
                <a:latin typeface="Meiryo"/>
                <a:ea typeface="Meiryo"/>
                <a:cs typeface="Meiryo"/>
                <a:sym typeface="Meiryo"/>
              </a:rPr>
              <a:t>年</a:t>
            </a:r>
            <a:r>
              <a:rPr lang="en-US" altLang="ja-JP" sz="1400" b="1">
                <a:solidFill>
                  <a:schemeClr val="bg1"/>
                </a:solidFill>
                <a:latin typeface="Meiryo"/>
                <a:ea typeface="Meiryo"/>
                <a:cs typeface="Meiryo"/>
                <a:sym typeface="Meiryo"/>
              </a:rPr>
              <a:t>5</a:t>
            </a:r>
            <a:r>
              <a:rPr lang="ja-JP" altLang="en-US" sz="1400" b="1">
                <a:solidFill>
                  <a:schemeClr val="bg1"/>
                </a:solidFill>
                <a:latin typeface="Meiryo"/>
                <a:ea typeface="Meiryo"/>
                <a:cs typeface="Meiryo"/>
                <a:sym typeface="Meiryo"/>
              </a:rPr>
              <a:t>月～</a:t>
            </a:r>
            <a:endParaRPr lang="en-US" altLang="ja-JP" sz="1400" b="1" dirty="0">
              <a:solidFill>
                <a:schemeClr val="bg1"/>
              </a:solidFill>
              <a:latin typeface="Meiryo"/>
              <a:ea typeface="Meiryo"/>
              <a:cs typeface="Meiryo"/>
              <a:sym typeface="Meiryo"/>
            </a:endParaRPr>
          </a:p>
        </p:txBody>
      </p:sp>
      <p:sp>
        <p:nvSpPr>
          <p:cNvPr id="50" name="テキスト プレースホルダー 2">
            <a:extLst>
              <a:ext uri="{FF2B5EF4-FFF2-40B4-BE49-F238E27FC236}">
                <a16:creationId xmlns:a16="http://schemas.microsoft.com/office/drawing/2014/main" id="{18B78559-32E9-7E98-9E42-625866BF0637}"/>
              </a:ext>
            </a:extLst>
          </p:cNvPr>
          <p:cNvSpPr txBox="1">
            <a:spLocks/>
          </p:cNvSpPr>
          <p:nvPr/>
        </p:nvSpPr>
        <p:spPr>
          <a:xfrm>
            <a:off x="4741655" y="135388"/>
            <a:ext cx="3604551" cy="356140"/>
          </a:xfrm>
          <a:prstGeom prst="rect">
            <a:avLst/>
          </a:prstGeom>
        </p:spPr>
        <p:txBody>
          <a:bodyPr lIns="0" tIns="0" rIns="0" bIns="0" anchor="t"/>
          <a:lstStyle>
            <a:lvl1pPr marL="0" indent="0" algn="l" defTabSz="914400" rtl="0" eaLnBrk="1" latinLnBrk="0" hangingPunct="1">
              <a:lnSpc>
                <a:spcPct val="130000"/>
              </a:lnSpc>
              <a:spcBef>
                <a:spcPts val="0"/>
              </a:spcBef>
              <a:buFont typeface="Arial" panose="020B0604020202020204" pitchFamily="34" charset="0"/>
              <a:buNone/>
              <a:defRPr kumimoji="1" sz="1400" kern="1200">
                <a:solidFill>
                  <a:schemeClr val="tx1">
                    <a:lumMod val="95000"/>
                    <a:lumOff val="5000"/>
                  </a:schemeClr>
                </a:solidFill>
                <a:latin typeface="Meiryo" panose="020B0604030504040204" pitchFamily="34" charset="-128"/>
                <a:ea typeface="Meiryo" panose="020B0604030504040204" pitchFamily="34" charset="-128"/>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539750" lvl="0" indent="-539750">
              <a:tabLst>
                <a:tab pos="447675" algn="l"/>
              </a:tabLst>
              <a:defRPr/>
            </a:pPr>
            <a:r>
              <a:rPr lang="en-US" altLang="ja-JP" sz="800" dirty="0">
                <a:solidFill>
                  <a:srgbClr val="000000">
                    <a:lumMod val="95000"/>
                    <a:lumOff val="5000"/>
                  </a:srgbClr>
                </a:solidFill>
              </a:rPr>
              <a:t>【</a:t>
            </a:r>
            <a:r>
              <a:rPr lang="ja-JP" altLang="en-US" sz="800" dirty="0">
                <a:solidFill>
                  <a:srgbClr val="000000">
                    <a:lumMod val="95000"/>
                    <a:lumOff val="5000"/>
                  </a:srgbClr>
                </a:solidFill>
              </a:rPr>
              <a:t>参考情報</a:t>
            </a:r>
            <a:r>
              <a:rPr lang="en-US" altLang="ja-JP" sz="800" dirty="0">
                <a:solidFill>
                  <a:srgbClr val="000000">
                    <a:lumMod val="95000"/>
                    <a:lumOff val="5000"/>
                  </a:srgbClr>
                </a:solidFill>
              </a:rPr>
              <a:t>】</a:t>
            </a:r>
          </a:p>
          <a:p>
            <a:pPr marL="88900" lvl="0">
              <a:tabLst>
                <a:tab pos="447675" algn="l"/>
              </a:tabLst>
              <a:defRPr/>
            </a:pPr>
            <a:r>
              <a:rPr lang="en-US" altLang="ja-JP" sz="800" dirty="0">
                <a:solidFill>
                  <a:srgbClr val="000000">
                    <a:lumMod val="95000"/>
                    <a:lumOff val="5000"/>
                  </a:srgbClr>
                </a:solidFill>
              </a:rPr>
              <a:t>https://prtimes.jp/main/html/rd/p/000000412.000027235.html</a:t>
            </a:r>
            <a:endParaRPr lang="en-US" altLang="ja-JP" sz="1100" dirty="0">
              <a:solidFill>
                <a:srgbClr val="000000">
                  <a:lumMod val="95000"/>
                  <a:lumOff val="5000"/>
                </a:srgbClr>
              </a:solidFill>
            </a:endParaRPr>
          </a:p>
        </p:txBody>
      </p:sp>
      <p:sp>
        <p:nvSpPr>
          <p:cNvPr id="45" name="正方形/長方形 44">
            <a:extLst>
              <a:ext uri="{FF2B5EF4-FFF2-40B4-BE49-F238E27FC236}">
                <a16:creationId xmlns:a16="http://schemas.microsoft.com/office/drawing/2014/main" id="{02177995-9B5C-9C4B-3202-5DD03969179E}"/>
              </a:ext>
            </a:extLst>
          </p:cNvPr>
          <p:cNvSpPr/>
          <p:nvPr/>
        </p:nvSpPr>
        <p:spPr>
          <a:xfrm>
            <a:off x="495424" y="4784484"/>
            <a:ext cx="3561143" cy="276999"/>
          </a:xfrm>
          <a:prstGeom prst="rect">
            <a:avLst/>
          </a:prstGeom>
          <a:solidFill>
            <a:schemeClr val="bg1">
              <a:lumMod val="65000"/>
            </a:schemeClr>
          </a:solidFill>
          <a:ln>
            <a:solidFill>
              <a:schemeClr val="bg1">
                <a:lumMod val="65000"/>
              </a:schemeClr>
            </a:solidFill>
          </a:ln>
        </p:spPr>
        <p:txBody>
          <a:bodyPr wrap="square">
            <a:spAutoFit/>
          </a:bodyPr>
          <a:lstStyle/>
          <a:p>
            <a:pPr lvl="0" algn="ctr">
              <a:buClr>
                <a:srgbClr val="002060"/>
              </a:buClr>
              <a:buSzPts val="1600"/>
            </a:pPr>
            <a:r>
              <a:rPr lang="ja-JP" altLang="en-US" sz="1200" b="1" dirty="0">
                <a:solidFill>
                  <a:schemeClr val="bg1"/>
                </a:solidFill>
                <a:latin typeface="Meiryo"/>
                <a:ea typeface="Meiryo"/>
                <a:cs typeface="Meiryo"/>
                <a:sym typeface="Meiryo"/>
              </a:rPr>
              <a:t>最上位となる </a:t>
            </a:r>
            <a:r>
              <a:rPr lang="en-US" altLang="ja-JP" sz="1200" b="1" dirty="0">
                <a:solidFill>
                  <a:schemeClr val="bg1"/>
                </a:solidFill>
                <a:latin typeface="Meiryo"/>
                <a:ea typeface="Meiryo"/>
                <a:cs typeface="Meiryo"/>
                <a:sym typeface="Meiryo"/>
              </a:rPr>
              <a:t>Sales Partner Premier</a:t>
            </a:r>
          </a:p>
        </p:txBody>
      </p:sp>
      <p:sp>
        <p:nvSpPr>
          <p:cNvPr id="55" name="正方形/長方形 54">
            <a:extLst>
              <a:ext uri="{FF2B5EF4-FFF2-40B4-BE49-F238E27FC236}">
                <a16:creationId xmlns:a16="http://schemas.microsoft.com/office/drawing/2014/main" id="{0E12B4F2-0482-55A4-443A-115FC30E22E8}"/>
              </a:ext>
            </a:extLst>
          </p:cNvPr>
          <p:cNvSpPr/>
          <p:nvPr/>
        </p:nvSpPr>
        <p:spPr>
          <a:xfrm>
            <a:off x="4362995" y="4784484"/>
            <a:ext cx="5165666" cy="276999"/>
          </a:xfrm>
          <a:prstGeom prst="rect">
            <a:avLst/>
          </a:prstGeom>
          <a:solidFill>
            <a:schemeClr val="bg1">
              <a:lumMod val="65000"/>
            </a:schemeClr>
          </a:solidFill>
          <a:ln>
            <a:solidFill>
              <a:schemeClr val="bg1">
                <a:lumMod val="65000"/>
              </a:schemeClr>
            </a:solidFill>
          </a:ln>
        </p:spPr>
        <p:txBody>
          <a:bodyPr wrap="square">
            <a:spAutoFit/>
          </a:bodyPr>
          <a:lstStyle/>
          <a:p>
            <a:pPr algn="ctr">
              <a:buClr>
                <a:srgbClr val="002060"/>
              </a:buClr>
              <a:buSzPts val="1600"/>
            </a:pPr>
            <a:r>
              <a:rPr lang="en-US" altLang="ja-JP" sz="1200" b="1" dirty="0">
                <a:solidFill>
                  <a:schemeClr val="bg1"/>
                </a:solidFill>
                <a:latin typeface="Meiryo"/>
                <a:ea typeface="Meiryo"/>
                <a:cs typeface="Meiryo"/>
                <a:sym typeface="Meiryo"/>
              </a:rPr>
              <a:t>Best LINE</a:t>
            </a:r>
            <a:r>
              <a:rPr lang="ja-JP" altLang="en-US" sz="1200" b="1" dirty="0">
                <a:solidFill>
                  <a:schemeClr val="bg1"/>
                </a:solidFill>
                <a:latin typeface="Meiryo"/>
                <a:ea typeface="Meiryo"/>
                <a:cs typeface="Meiryo"/>
                <a:sym typeface="Meiryo"/>
              </a:rPr>
              <a:t>公式アカウント </a:t>
            </a:r>
            <a:r>
              <a:rPr lang="en-US" altLang="ja-JP" sz="1200" b="1" dirty="0">
                <a:solidFill>
                  <a:schemeClr val="bg1"/>
                </a:solidFill>
                <a:latin typeface="Meiryo"/>
                <a:ea typeface="Meiryo"/>
                <a:cs typeface="Meiryo"/>
                <a:sym typeface="Meiryo"/>
              </a:rPr>
              <a:t>Growth </a:t>
            </a:r>
            <a:r>
              <a:rPr lang="ja-JP" altLang="en-US" sz="1200" b="1" dirty="0">
                <a:solidFill>
                  <a:schemeClr val="bg1"/>
                </a:solidFill>
                <a:latin typeface="Meiryo"/>
                <a:ea typeface="Meiryo"/>
                <a:cs typeface="Meiryo"/>
                <a:sym typeface="Meiryo"/>
              </a:rPr>
              <a:t>の受賞を受ける</a:t>
            </a:r>
            <a:endParaRPr lang="en-US" altLang="ja-JP" sz="1200" b="1" dirty="0">
              <a:solidFill>
                <a:schemeClr val="bg1"/>
              </a:solidFill>
              <a:latin typeface="Meiryo"/>
              <a:ea typeface="Meiryo"/>
              <a:cs typeface="Meiryo"/>
              <a:sym typeface="Meiryo"/>
            </a:endParaRPr>
          </a:p>
        </p:txBody>
      </p:sp>
      <p:cxnSp>
        <p:nvCxnSpPr>
          <p:cNvPr id="2082" name="直線コネクタ 2081">
            <a:extLst>
              <a:ext uri="{FF2B5EF4-FFF2-40B4-BE49-F238E27FC236}">
                <a16:creationId xmlns:a16="http://schemas.microsoft.com/office/drawing/2014/main" id="{530411FF-29F9-73B2-C470-CBF0BA20AC73}"/>
              </a:ext>
            </a:extLst>
          </p:cNvPr>
          <p:cNvCxnSpPr>
            <a:cxnSpLocks/>
          </p:cNvCxnSpPr>
          <p:nvPr/>
        </p:nvCxnSpPr>
        <p:spPr>
          <a:xfrm>
            <a:off x="3212877" y="2980676"/>
            <a:ext cx="6240687" cy="0"/>
          </a:xfrm>
          <a:prstGeom prst="line">
            <a:avLst/>
          </a:prstGeom>
          <a:ln w="76200">
            <a:solidFill>
              <a:srgbClr val="10253F"/>
            </a:solidFill>
          </a:ln>
        </p:spPr>
        <p:style>
          <a:lnRef idx="1">
            <a:schemeClr val="accent1"/>
          </a:lnRef>
          <a:fillRef idx="0">
            <a:schemeClr val="accent1"/>
          </a:fillRef>
          <a:effectRef idx="0">
            <a:schemeClr val="accent1"/>
          </a:effectRef>
          <a:fontRef idx="minor">
            <a:schemeClr val="tx1"/>
          </a:fontRef>
        </p:style>
      </p:cxnSp>
      <p:cxnSp>
        <p:nvCxnSpPr>
          <p:cNvPr id="2085" name="直線コネクタ 2084">
            <a:extLst>
              <a:ext uri="{FF2B5EF4-FFF2-40B4-BE49-F238E27FC236}">
                <a16:creationId xmlns:a16="http://schemas.microsoft.com/office/drawing/2014/main" id="{D7948E6E-45A1-2B8A-2983-5CE3031B129A}"/>
              </a:ext>
            </a:extLst>
          </p:cNvPr>
          <p:cNvCxnSpPr>
            <a:cxnSpLocks/>
          </p:cNvCxnSpPr>
          <p:nvPr/>
        </p:nvCxnSpPr>
        <p:spPr>
          <a:xfrm>
            <a:off x="412752" y="3985954"/>
            <a:ext cx="5253034" cy="0"/>
          </a:xfrm>
          <a:prstGeom prst="line">
            <a:avLst/>
          </a:prstGeom>
          <a:ln w="76200">
            <a:solidFill>
              <a:srgbClr val="10253F"/>
            </a:solidFill>
          </a:ln>
        </p:spPr>
        <p:style>
          <a:lnRef idx="1">
            <a:schemeClr val="accent1"/>
          </a:lnRef>
          <a:fillRef idx="0">
            <a:schemeClr val="accent1"/>
          </a:fillRef>
          <a:effectRef idx="0">
            <a:schemeClr val="accent1"/>
          </a:effectRef>
          <a:fontRef idx="minor">
            <a:schemeClr val="tx1"/>
          </a:fontRef>
        </p:style>
      </p:cxnSp>
      <p:sp>
        <p:nvSpPr>
          <p:cNvPr id="2086" name="フローチャート: 結合子 2085">
            <a:extLst>
              <a:ext uri="{FF2B5EF4-FFF2-40B4-BE49-F238E27FC236}">
                <a16:creationId xmlns:a16="http://schemas.microsoft.com/office/drawing/2014/main" id="{19617C5C-724A-7FCE-22E5-5B2ECC96F048}"/>
              </a:ext>
            </a:extLst>
          </p:cNvPr>
          <p:cNvSpPr/>
          <p:nvPr/>
        </p:nvSpPr>
        <p:spPr>
          <a:xfrm>
            <a:off x="3076995" y="2743198"/>
            <a:ext cx="452718" cy="452718"/>
          </a:xfrm>
          <a:prstGeom prst="flowChartConnector">
            <a:avLst/>
          </a:prstGeom>
          <a:solidFill>
            <a:srgbClr val="10253F"/>
          </a:solidFill>
          <a:ln>
            <a:solidFill>
              <a:srgbClr val="10253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087" name="フローチャート: 結合子 2086">
            <a:extLst>
              <a:ext uri="{FF2B5EF4-FFF2-40B4-BE49-F238E27FC236}">
                <a16:creationId xmlns:a16="http://schemas.microsoft.com/office/drawing/2014/main" id="{C7AB064F-FD75-D23A-C3F2-7F831805457C}"/>
              </a:ext>
            </a:extLst>
          </p:cNvPr>
          <p:cNvSpPr/>
          <p:nvPr/>
        </p:nvSpPr>
        <p:spPr>
          <a:xfrm>
            <a:off x="970449" y="3759595"/>
            <a:ext cx="452718" cy="452718"/>
          </a:xfrm>
          <a:prstGeom prst="flowChartConnector">
            <a:avLst/>
          </a:prstGeom>
          <a:solidFill>
            <a:srgbClr val="10253F"/>
          </a:solidFill>
          <a:ln>
            <a:solidFill>
              <a:srgbClr val="10253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089" name="フローチャート: 結合子 2088">
            <a:extLst>
              <a:ext uri="{FF2B5EF4-FFF2-40B4-BE49-F238E27FC236}">
                <a16:creationId xmlns:a16="http://schemas.microsoft.com/office/drawing/2014/main" id="{CE0B51F4-2695-E1D7-F353-BA60386FABE4}"/>
              </a:ext>
            </a:extLst>
          </p:cNvPr>
          <p:cNvSpPr/>
          <p:nvPr/>
        </p:nvSpPr>
        <p:spPr>
          <a:xfrm>
            <a:off x="7801859" y="2743198"/>
            <a:ext cx="452718" cy="452718"/>
          </a:xfrm>
          <a:prstGeom prst="flowChartConnector">
            <a:avLst/>
          </a:prstGeom>
          <a:solidFill>
            <a:srgbClr val="10253F"/>
          </a:solidFill>
          <a:ln>
            <a:solidFill>
              <a:srgbClr val="10253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090" name="フローチャート: 結合子 2089">
            <a:extLst>
              <a:ext uri="{FF2B5EF4-FFF2-40B4-BE49-F238E27FC236}">
                <a16:creationId xmlns:a16="http://schemas.microsoft.com/office/drawing/2014/main" id="{6F2861A8-2376-2999-4214-6F268B03A3E1}"/>
              </a:ext>
            </a:extLst>
          </p:cNvPr>
          <p:cNvSpPr/>
          <p:nvPr/>
        </p:nvSpPr>
        <p:spPr>
          <a:xfrm>
            <a:off x="5439427" y="2743198"/>
            <a:ext cx="452718" cy="452718"/>
          </a:xfrm>
          <a:prstGeom prst="flowChartConnector">
            <a:avLst/>
          </a:prstGeom>
          <a:solidFill>
            <a:srgbClr val="10253F"/>
          </a:solidFill>
          <a:ln>
            <a:solidFill>
              <a:srgbClr val="10253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092" name="フローチャート: 結合子 2091">
            <a:extLst>
              <a:ext uri="{FF2B5EF4-FFF2-40B4-BE49-F238E27FC236}">
                <a16:creationId xmlns:a16="http://schemas.microsoft.com/office/drawing/2014/main" id="{11455BE0-024C-CCCF-549A-5895CCF6FCA5}"/>
              </a:ext>
            </a:extLst>
          </p:cNvPr>
          <p:cNvSpPr/>
          <p:nvPr/>
        </p:nvSpPr>
        <p:spPr>
          <a:xfrm>
            <a:off x="5454960" y="3739586"/>
            <a:ext cx="452718" cy="452718"/>
          </a:xfrm>
          <a:prstGeom prst="flowChartConnector">
            <a:avLst/>
          </a:prstGeom>
          <a:solidFill>
            <a:srgbClr val="10253F"/>
          </a:solidFill>
          <a:ln>
            <a:solidFill>
              <a:srgbClr val="10253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093" name="フローチャート: 結合子 2092">
            <a:extLst>
              <a:ext uri="{FF2B5EF4-FFF2-40B4-BE49-F238E27FC236}">
                <a16:creationId xmlns:a16="http://schemas.microsoft.com/office/drawing/2014/main" id="{6A2B7AEE-64D5-5687-4D90-BFEBFB87978F}"/>
              </a:ext>
            </a:extLst>
          </p:cNvPr>
          <p:cNvSpPr/>
          <p:nvPr/>
        </p:nvSpPr>
        <p:spPr>
          <a:xfrm>
            <a:off x="3076995" y="3776603"/>
            <a:ext cx="452718" cy="452718"/>
          </a:xfrm>
          <a:prstGeom prst="flowChartConnector">
            <a:avLst/>
          </a:prstGeom>
          <a:solidFill>
            <a:srgbClr val="10253F"/>
          </a:solidFill>
          <a:ln>
            <a:solidFill>
              <a:srgbClr val="10253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094" name="テキスト ボックス 2093">
            <a:extLst>
              <a:ext uri="{FF2B5EF4-FFF2-40B4-BE49-F238E27FC236}">
                <a16:creationId xmlns:a16="http://schemas.microsoft.com/office/drawing/2014/main" id="{F181EC8C-1DAE-5AF7-1C4D-4C86090B08E7}"/>
              </a:ext>
            </a:extLst>
          </p:cNvPr>
          <p:cNvSpPr txBox="1"/>
          <p:nvPr/>
        </p:nvSpPr>
        <p:spPr>
          <a:xfrm>
            <a:off x="2824561" y="2498440"/>
            <a:ext cx="957586" cy="246221"/>
          </a:xfrm>
          <a:prstGeom prst="rect">
            <a:avLst/>
          </a:prstGeom>
          <a:noFill/>
        </p:spPr>
        <p:txBody>
          <a:bodyPr wrap="square" rtlCol="0">
            <a:spAutoFit/>
          </a:bodyPr>
          <a:lstStyle/>
          <a:p>
            <a:pPr algn="ctr"/>
            <a:r>
              <a:rPr kumimoji="1" lang="en-US" altLang="ja-JP" sz="1000">
                <a:latin typeface="メイリオ" panose="020B0604030504040204" pitchFamily="50" charset="-128"/>
                <a:ea typeface="メイリオ" panose="020B0604030504040204" pitchFamily="50" charset="-128"/>
              </a:rPr>
              <a:t>2024</a:t>
            </a:r>
            <a:r>
              <a:rPr kumimoji="1" lang="ja-JP" altLang="en-US" sz="1000">
                <a:latin typeface="メイリオ" panose="020B0604030504040204" pitchFamily="50" charset="-128"/>
                <a:ea typeface="メイリオ" panose="020B0604030504040204" pitchFamily="50" charset="-128"/>
              </a:rPr>
              <a:t>年</a:t>
            </a:r>
            <a:r>
              <a:rPr kumimoji="1" lang="en-US" altLang="ja-JP" sz="1000">
                <a:latin typeface="メイリオ" panose="020B0604030504040204" pitchFamily="50" charset="-128"/>
                <a:ea typeface="メイリオ" panose="020B0604030504040204" pitchFamily="50" charset="-128"/>
              </a:rPr>
              <a:t>5</a:t>
            </a:r>
            <a:r>
              <a:rPr kumimoji="1" lang="ja-JP" altLang="en-US" sz="1000">
                <a:latin typeface="メイリオ" panose="020B0604030504040204" pitchFamily="50" charset="-128"/>
                <a:ea typeface="メイリオ" panose="020B0604030504040204" pitchFamily="50" charset="-128"/>
              </a:rPr>
              <a:t>月</a:t>
            </a:r>
          </a:p>
        </p:txBody>
      </p:sp>
      <p:sp>
        <p:nvSpPr>
          <p:cNvPr id="2095" name="テキスト ボックス 2094">
            <a:extLst>
              <a:ext uri="{FF2B5EF4-FFF2-40B4-BE49-F238E27FC236}">
                <a16:creationId xmlns:a16="http://schemas.microsoft.com/office/drawing/2014/main" id="{E9F47648-05F6-7064-8968-91D3649440CE}"/>
              </a:ext>
            </a:extLst>
          </p:cNvPr>
          <p:cNvSpPr txBox="1"/>
          <p:nvPr/>
        </p:nvSpPr>
        <p:spPr>
          <a:xfrm>
            <a:off x="5232177" y="2496209"/>
            <a:ext cx="957586" cy="246221"/>
          </a:xfrm>
          <a:prstGeom prst="rect">
            <a:avLst/>
          </a:prstGeom>
          <a:noFill/>
        </p:spPr>
        <p:txBody>
          <a:bodyPr wrap="square" rtlCol="0">
            <a:spAutoFit/>
          </a:bodyPr>
          <a:lstStyle/>
          <a:p>
            <a:pPr algn="ctr"/>
            <a:r>
              <a:rPr kumimoji="1" lang="en-US" altLang="ja-JP" sz="1000">
                <a:latin typeface="メイリオ" panose="020B0604030504040204" pitchFamily="50" charset="-128"/>
                <a:ea typeface="メイリオ" panose="020B0604030504040204" pitchFamily="50" charset="-128"/>
              </a:rPr>
              <a:t>2024</a:t>
            </a:r>
            <a:r>
              <a:rPr kumimoji="1" lang="ja-JP" altLang="en-US" sz="1000">
                <a:latin typeface="メイリオ" panose="020B0604030504040204" pitchFamily="50" charset="-128"/>
                <a:ea typeface="メイリオ" panose="020B0604030504040204" pitchFamily="50" charset="-128"/>
              </a:rPr>
              <a:t>年</a:t>
            </a:r>
            <a:r>
              <a:rPr lang="en-US" altLang="ja-JP" sz="1000">
                <a:latin typeface="メイリオ" panose="020B0604030504040204" pitchFamily="50" charset="-128"/>
                <a:ea typeface="メイリオ" panose="020B0604030504040204" pitchFamily="50" charset="-128"/>
              </a:rPr>
              <a:t>12</a:t>
            </a:r>
            <a:r>
              <a:rPr kumimoji="1" lang="ja-JP" altLang="en-US" sz="1000">
                <a:latin typeface="メイリオ" panose="020B0604030504040204" pitchFamily="50" charset="-128"/>
                <a:ea typeface="メイリオ" panose="020B0604030504040204" pitchFamily="50" charset="-128"/>
              </a:rPr>
              <a:t>月</a:t>
            </a:r>
          </a:p>
        </p:txBody>
      </p:sp>
      <p:sp>
        <p:nvSpPr>
          <p:cNvPr id="2096" name="テキスト ボックス 2095">
            <a:extLst>
              <a:ext uri="{FF2B5EF4-FFF2-40B4-BE49-F238E27FC236}">
                <a16:creationId xmlns:a16="http://schemas.microsoft.com/office/drawing/2014/main" id="{2C8EEABD-6A90-AA4E-FBA6-2819EBF654DE}"/>
              </a:ext>
            </a:extLst>
          </p:cNvPr>
          <p:cNvSpPr txBox="1"/>
          <p:nvPr/>
        </p:nvSpPr>
        <p:spPr>
          <a:xfrm>
            <a:off x="7623567" y="2492162"/>
            <a:ext cx="957586" cy="246221"/>
          </a:xfrm>
          <a:prstGeom prst="rect">
            <a:avLst/>
          </a:prstGeom>
          <a:noFill/>
        </p:spPr>
        <p:txBody>
          <a:bodyPr wrap="square" rtlCol="0">
            <a:spAutoFit/>
          </a:bodyPr>
          <a:lstStyle/>
          <a:p>
            <a:pPr algn="ctr"/>
            <a:r>
              <a:rPr kumimoji="1" lang="en-US" altLang="ja-JP" sz="1000">
                <a:latin typeface="メイリオ" panose="020B0604030504040204" pitchFamily="50" charset="-128"/>
                <a:ea typeface="メイリオ" panose="020B0604030504040204" pitchFamily="50" charset="-128"/>
              </a:rPr>
              <a:t>2025</a:t>
            </a:r>
            <a:r>
              <a:rPr kumimoji="1" lang="ja-JP" altLang="en-US" sz="1000">
                <a:latin typeface="メイリオ" panose="020B0604030504040204" pitchFamily="50" charset="-128"/>
                <a:ea typeface="メイリオ" panose="020B0604030504040204" pitchFamily="50" charset="-128"/>
              </a:rPr>
              <a:t>年</a:t>
            </a:r>
            <a:r>
              <a:rPr kumimoji="1" lang="en-US" altLang="ja-JP" sz="1000">
                <a:latin typeface="メイリオ" panose="020B0604030504040204" pitchFamily="50" charset="-128"/>
                <a:ea typeface="メイリオ" panose="020B0604030504040204" pitchFamily="50" charset="-128"/>
              </a:rPr>
              <a:t>5</a:t>
            </a:r>
            <a:r>
              <a:rPr kumimoji="1" lang="ja-JP" altLang="en-US" sz="1000">
                <a:latin typeface="メイリオ" panose="020B0604030504040204" pitchFamily="50" charset="-128"/>
                <a:ea typeface="メイリオ" panose="020B0604030504040204" pitchFamily="50" charset="-128"/>
              </a:rPr>
              <a:t>月</a:t>
            </a:r>
          </a:p>
        </p:txBody>
      </p:sp>
      <p:sp>
        <p:nvSpPr>
          <p:cNvPr id="2098" name="テキスト ボックス 2097">
            <a:extLst>
              <a:ext uri="{FF2B5EF4-FFF2-40B4-BE49-F238E27FC236}">
                <a16:creationId xmlns:a16="http://schemas.microsoft.com/office/drawing/2014/main" id="{CE12257A-0E7E-B895-AF8E-D15F7AA1D62A}"/>
              </a:ext>
            </a:extLst>
          </p:cNvPr>
          <p:cNvSpPr txBox="1"/>
          <p:nvPr/>
        </p:nvSpPr>
        <p:spPr>
          <a:xfrm>
            <a:off x="2895696" y="3511221"/>
            <a:ext cx="957586" cy="246221"/>
          </a:xfrm>
          <a:prstGeom prst="rect">
            <a:avLst/>
          </a:prstGeom>
          <a:noFill/>
          <a:ln>
            <a:noFill/>
          </a:ln>
        </p:spPr>
        <p:txBody>
          <a:bodyPr wrap="square" rtlCol="0">
            <a:spAutoFit/>
          </a:bodyPr>
          <a:lstStyle/>
          <a:p>
            <a:pPr algn="ctr"/>
            <a:r>
              <a:rPr kumimoji="1" lang="en-US" altLang="ja-JP" sz="1000">
                <a:latin typeface="メイリオ" panose="020B0604030504040204" pitchFamily="50" charset="-128"/>
                <a:ea typeface="メイリオ" panose="020B0604030504040204" pitchFamily="50" charset="-128"/>
              </a:rPr>
              <a:t>2025</a:t>
            </a:r>
            <a:r>
              <a:rPr kumimoji="1" lang="ja-JP" altLang="en-US" sz="1000">
                <a:latin typeface="メイリオ" panose="020B0604030504040204" pitchFamily="50" charset="-128"/>
                <a:ea typeface="メイリオ" panose="020B0604030504040204" pitchFamily="50" charset="-128"/>
              </a:rPr>
              <a:t>年</a:t>
            </a:r>
            <a:r>
              <a:rPr lang="en-US" altLang="ja-JP" sz="1000">
                <a:latin typeface="メイリオ" panose="020B0604030504040204" pitchFamily="50" charset="-128"/>
                <a:ea typeface="メイリオ" panose="020B0604030504040204" pitchFamily="50" charset="-128"/>
              </a:rPr>
              <a:t>10</a:t>
            </a:r>
            <a:r>
              <a:rPr kumimoji="1" lang="ja-JP" altLang="en-US" sz="1000">
                <a:latin typeface="メイリオ" panose="020B0604030504040204" pitchFamily="50" charset="-128"/>
                <a:ea typeface="メイリオ" panose="020B0604030504040204" pitchFamily="50" charset="-128"/>
              </a:rPr>
              <a:t>月</a:t>
            </a:r>
          </a:p>
        </p:txBody>
      </p:sp>
      <p:sp>
        <p:nvSpPr>
          <p:cNvPr id="2099" name="テキスト ボックス 2098">
            <a:extLst>
              <a:ext uri="{FF2B5EF4-FFF2-40B4-BE49-F238E27FC236}">
                <a16:creationId xmlns:a16="http://schemas.microsoft.com/office/drawing/2014/main" id="{82EEA8C2-D18D-B5B9-3D3F-C9BE318BD901}"/>
              </a:ext>
            </a:extLst>
          </p:cNvPr>
          <p:cNvSpPr txBox="1"/>
          <p:nvPr/>
        </p:nvSpPr>
        <p:spPr>
          <a:xfrm>
            <a:off x="589609" y="3475317"/>
            <a:ext cx="957586" cy="246221"/>
          </a:xfrm>
          <a:prstGeom prst="rect">
            <a:avLst/>
          </a:prstGeom>
          <a:noFill/>
          <a:ln>
            <a:noFill/>
          </a:ln>
        </p:spPr>
        <p:txBody>
          <a:bodyPr wrap="square" rtlCol="0">
            <a:spAutoFit/>
          </a:bodyPr>
          <a:lstStyle/>
          <a:p>
            <a:pPr algn="ctr"/>
            <a:r>
              <a:rPr kumimoji="1" lang="en-US" altLang="ja-JP" sz="1000">
                <a:latin typeface="メイリオ" panose="020B0604030504040204" pitchFamily="50" charset="-128"/>
                <a:ea typeface="メイリオ" panose="020B0604030504040204" pitchFamily="50" charset="-128"/>
              </a:rPr>
              <a:t>2025</a:t>
            </a:r>
            <a:r>
              <a:rPr kumimoji="1" lang="ja-JP" altLang="en-US" sz="1000">
                <a:latin typeface="メイリオ" panose="020B0604030504040204" pitchFamily="50" charset="-128"/>
                <a:ea typeface="メイリオ" panose="020B0604030504040204" pitchFamily="50" charset="-128"/>
              </a:rPr>
              <a:t>年</a:t>
            </a:r>
            <a:r>
              <a:rPr kumimoji="1" lang="en-US" altLang="ja-JP" sz="1000">
                <a:latin typeface="メイリオ" panose="020B0604030504040204" pitchFamily="50" charset="-128"/>
                <a:ea typeface="メイリオ" panose="020B0604030504040204" pitchFamily="50" charset="-128"/>
              </a:rPr>
              <a:t>8</a:t>
            </a:r>
            <a:r>
              <a:rPr kumimoji="1" lang="ja-JP" altLang="en-US" sz="1000">
                <a:latin typeface="メイリオ" panose="020B0604030504040204" pitchFamily="50" charset="-128"/>
                <a:ea typeface="メイリオ" panose="020B0604030504040204" pitchFamily="50" charset="-128"/>
              </a:rPr>
              <a:t>月</a:t>
            </a:r>
          </a:p>
        </p:txBody>
      </p:sp>
      <p:sp>
        <p:nvSpPr>
          <p:cNvPr id="2101" name="テキスト ボックス 2100">
            <a:extLst>
              <a:ext uri="{FF2B5EF4-FFF2-40B4-BE49-F238E27FC236}">
                <a16:creationId xmlns:a16="http://schemas.microsoft.com/office/drawing/2014/main" id="{E6D4C90C-BD24-1939-D716-C6450E2AD8FC}"/>
              </a:ext>
            </a:extLst>
          </p:cNvPr>
          <p:cNvSpPr txBox="1"/>
          <p:nvPr/>
        </p:nvSpPr>
        <p:spPr>
          <a:xfrm>
            <a:off x="309563" y="4310547"/>
            <a:ext cx="1966105" cy="215444"/>
          </a:xfrm>
          <a:prstGeom prst="rect">
            <a:avLst/>
          </a:prstGeom>
          <a:noFill/>
          <a:ln>
            <a:noFill/>
          </a:ln>
        </p:spPr>
        <p:txBody>
          <a:bodyPr wrap="square" rtlCol="0">
            <a:spAutoFit/>
          </a:bodyPr>
          <a:lstStyle/>
          <a:p>
            <a:pPr algn="ctr"/>
            <a:r>
              <a:rPr lang="ja-JP" altLang="en-US" sz="800" b="1">
                <a:solidFill>
                  <a:srgbClr val="C00000"/>
                </a:solidFill>
                <a:latin typeface="メイリオ" panose="020B0604030504040204" pitchFamily="50" charset="-128"/>
                <a:ea typeface="メイリオ" panose="020B0604030504040204" pitchFamily="50" charset="-128"/>
              </a:rPr>
              <a:t>単月</a:t>
            </a:r>
            <a:r>
              <a:rPr lang="en-US" altLang="ja-JP" sz="800" b="1">
                <a:solidFill>
                  <a:srgbClr val="C00000"/>
                </a:solidFill>
                <a:latin typeface="メイリオ" panose="020B0604030504040204" pitchFamily="50" charset="-128"/>
                <a:ea typeface="メイリオ" panose="020B0604030504040204" pitchFamily="50" charset="-128"/>
              </a:rPr>
              <a:t>6000</a:t>
            </a:r>
            <a:r>
              <a:rPr lang="ja-JP" altLang="en-US" sz="800" b="1">
                <a:solidFill>
                  <a:srgbClr val="C00000"/>
                </a:solidFill>
                <a:latin typeface="メイリオ" panose="020B0604030504040204" pitchFamily="50" charset="-128"/>
                <a:ea typeface="メイリオ" panose="020B0604030504040204" pitchFamily="50" charset="-128"/>
              </a:rPr>
              <a:t>万円</a:t>
            </a:r>
            <a:r>
              <a:rPr lang="ja-JP" altLang="en-US" sz="800">
                <a:latin typeface="メイリオ" panose="020B0604030504040204" pitchFamily="50" charset="-128"/>
                <a:ea typeface="メイリオ" panose="020B0604030504040204" pitchFamily="50" charset="-128"/>
              </a:rPr>
              <a:t>の取り扱いを突破。</a:t>
            </a:r>
            <a:endParaRPr kumimoji="1" lang="ja-JP" altLang="en-US" sz="800">
              <a:latin typeface="メイリオ" panose="020B0604030504040204" pitchFamily="50" charset="-128"/>
              <a:ea typeface="メイリオ" panose="020B0604030504040204" pitchFamily="50" charset="-128"/>
            </a:endParaRPr>
          </a:p>
        </p:txBody>
      </p:sp>
      <p:sp>
        <p:nvSpPr>
          <p:cNvPr id="2102" name="テキスト ボックス 2101">
            <a:extLst>
              <a:ext uri="{FF2B5EF4-FFF2-40B4-BE49-F238E27FC236}">
                <a16:creationId xmlns:a16="http://schemas.microsoft.com/office/drawing/2014/main" id="{756F6552-3CAE-3310-D96A-5D847F286859}"/>
              </a:ext>
            </a:extLst>
          </p:cNvPr>
          <p:cNvSpPr txBox="1"/>
          <p:nvPr/>
        </p:nvSpPr>
        <p:spPr>
          <a:xfrm>
            <a:off x="2105787" y="3209363"/>
            <a:ext cx="2612987" cy="338554"/>
          </a:xfrm>
          <a:prstGeom prst="rect">
            <a:avLst/>
          </a:prstGeom>
          <a:noFill/>
          <a:ln>
            <a:noFill/>
          </a:ln>
        </p:spPr>
        <p:txBody>
          <a:bodyPr wrap="square" rtlCol="0">
            <a:spAutoFit/>
          </a:bodyPr>
          <a:lstStyle/>
          <a:p>
            <a:pPr algn="ctr"/>
            <a:r>
              <a:rPr kumimoji="1" lang="en-US" altLang="ja-JP" sz="800" dirty="0">
                <a:latin typeface="メイリオ" panose="020B0604030504040204" pitchFamily="50" charset="-128"/>
                <a:ea typeface="メイリオ" panose="020B0604030504040204" pitchFamily="50" charset="-128"/>
              </a:rPr>
              <a:t>2024</a:t>
            </a:r>
            <a:r>
              <a:rPr kumimoji="1" lang="ja-JP" altLang="en-US" sz="800" dirty="0">
                <a:latin typeface="メイリオ" panose="020B0604030504040204" pitchFamily="50" charset="-128"/>
                <a:ea typeface="メイリオ" panose="020B0604030504040204" pitchFamily="50" charset="-128"/>
              </a:rPr>
              <a:t>年度上半期の</a:t>
            </a:r>
            <a:r>
              <a:rPr kumimoji="1" lang="en-US" altLang="ja-JP" sz="800" dirty="0">
                <a:latin typeface="メイリオ" panose="020B0604030504040204" pitchFamily="50" charset="-128"/>
                <a:ea typeface="メイリオ" panose="020B0604030504040204" pitchFamily="50" charset="-128"/>
              </a:rPr>
              <a:t>Sales Partner</a:t>
            </a:r>
            <a:r>
              <a:rPr kumimoji="1" lang="ja-JP" altLang="en-US" sz="800" dirty="0">
                <a:latin typeface="メイリオ" panose="020B0604030504040204" pitchFamily="50" charset="-128"/>
                <a:ea typeface="メイリオ" panose="020B0604030504040204" pitchFamily="50" charset="-128"/>
              </a:rPr>
              <a:t>「</a:t>
            </a:r>
            <a:r>
              <a:rPr kumimoji="1" lang="en-US" altLang="ja-JP" sz="800" dirty="0">
                <a:latin typeface="メイリオ" panose="020B0604030504040204" pitchFamily="50" charset="-128"/>
                <a:ea typeface="メイリオ" panose="020B0604030504040204" pitchFamily="50" charset="-128"/>
              </a:rPr>
              <a:t>Premier</a:t>
            </a:r>
            <a:r>
              <a:rPr kumimoji="1" lang="ja-JP" altLang="en-US" sz="800" dirty="0">
                <a:latin typeface="メイリオ" panose="020B0604030504040204" pitchFamily="50" charset="-128"/>
                <a:ea typeface="メイリオ" panose="020B0604030504040204" pitchFamily="50" charset="-128"/>
              </a:rPr>
              <a:t>」に認定</a:t>
            </a:r>
            <a:r>
              <a:rPr lang="ja-JP" altLang="en-US" sz="800" dirty="0">
                <a:latin typeface="メイリオ" panose="020B0604030504040204" pitchFamily="50" charset="-128"/>
                <a:ea typeface="メイリオ" panose="020B0604030504040204" pitchFamily="50" charset="-128"/>
              </a:rPr>
              <a:t>。</a:t>
            </a:r>
            <a:endParaRPr lang="en-US" altLang="ja-JP" sz="800" dirty="0">
              <a:latin typeface="メイリオ" panose="020B0604030504040204" pitchFamily="50" charset="-128"/>
              <a:ea typeface="メイリオ" panose="020B0604030504040204" pitchFamily="50" charset="-128"/>
            </a:endParaRPr>
          </a:p>
          <a:p>
            <a:pPr algn="ctr"/>
            <a:r>
              <a:rPr lang="ja-JP" altLang="en-US" sz="800" b="1" dirty="0">
                <a:solidFill>
                  <a:srgbClr val="C00000"/>
                </a:solidFill>
                <a:latin typeface="メイリオ" panose="020B0604030504040204" pitchFamily="50" charset="-128"/>
                <a:ea typeface="メイリオ" panose="020B0604030504040204" pitchFamily="50" charset="-128"/>
              </a:rPr>
              <a:t>上位</a:t>
            </a:r>
            <a:r>
              <a:rPr lang="en-US" altLang="ja-JP" sz="800" b="1" dirty="0">
                <a:solidFill>
                  <a:srgbClr val="C00000"/>
                </a:solidFill>
                <a:latin typeface="メイリオ" panose="020B0604030504040204" pitchFamily="50" charset="-128"/>
                <a:ea typeface="メイリオ" panose="020B0604030504040204" pitchFamily="50" charset="-128"/>
              </a:rPr>
              <a:t>20</a:t>
            </a:r>
            <a:r>
              <a:rPr lang="ja-JP" altLang="en-US" sz="800" b="1" dirty="0">
                <a:solidFill>
                  <a:srgbClr val="C00000"/>
                </a:solidFill>
                <a:latin typeface="メイリオ" panose="020B0604030504040204" pitchFamily="50" charset="-128"/>
                <a:ea typeface="メイリオ" panose="020B0604030504040204" pitchFamily="50" charset="-128"/>
              </a:rPr>
              <a:t>位タイ</a:t>
            </a:r>
            <a:endParaRPr lang="en-US" altLang="ja-JP" sz="800" b="1" dirty="0">
              <a:solidFill>
                <a:srgbClr val="C00000"/>
              </a:solidFill>
              <a:latin typeface="メイリオ" panose="020B0604030504040204" pitchFamily="50" charset="-128"/>
              <a:ea typeface="メイリオ" panose="020B0604030504040204" pitchFamily="50" charset="-128"/>
            </a:endParaRPr>
          </a:p>
        </p:txBody>
      </p:sp>
      <p:sp>
        <p:nvSpPr>
          <p:cNvPr id="2103" name="テキスト ボックス 2102">
            <a:extLst>
              <a:ext uri="{FF2B5EF4-FFF2-40B4-BE49-F238E27FC236}">
                <a16:creationId xmlns:a16="http://schemas.microsoft.com/office/drawing/2014/main" id="{D5793D3E-32A5-A172-B93D-F2E02806685C}"/>
              </a:ext>
            </a:extLst>
          </p:cNvPr>
          <p:cNvSpPr txBox="1"/>
          <p:nvPr/>
        </p:nvSpPr>
        <p:spPr>
          <a:xfrm>
            <a:off x="4837113" y="3209363"/>
            <a:ext cx="1767520" cy="215444"/>
          </a:xfrm>
          <a:prstGeom prst="rect">
            <a:avLst/>
          </a:prstGeom>
          <a:noFill/>
          <a:ln>
            <a:noFill/>
          </a:ln>
        </p:spPr>
        <p:txBody>
          <a:bodyPr wrap="square" rtlCol="0">
            <a:spAutoFit/>
          </a:bodyPr>
          <a:lstStyle/>
          <a:p>
            <a:pPr algn="ctr"/>
            <a:r>
              <a:rPr lang="ja-JP" altLang="en-US" sz="800" b="1">
                <a:solidFill>
                  <a:srgbClr val="C00000"/>
                </a:solidFill>
                <a:latin typeface="メイリオ" panose="020B0604030504040204" pitchFamily="50" charset="-128"/>
                <a:ea typeface="メイリオ" panose="020B0604030504040204" pitchFamily="50" charset="-128"/>
              </a:rPr>
              <a:t>単月</a:t>
            </a:r>
            <a:r>
              <a:rPr lang="en-US" altLang="ja-JP" sz="800" b="1">
                <a:solidFill>
                  <a:srgbClr val="C00000"/>
                </a:solidFill>
                <a:latin typeface="メイリオ" panose="020B0604030504040204" pitchFamily="50" charset="-128"/>
                <a:ea typeface="メイリオ" panose="020B0604030504040204" pitchFamily="50" charset="-128"/>
              </a:rPr>
              <a:t>2000</a:t>
            </a:r>
            <a:r>
              <a:rPr lang="ja-JP" altLang="en-US" sz="800" b="1">
                <a:solidFill>
                  <a:srgbClr val="C00000"/>
                </a:solidFill>
                <a:latin typeface="メイリオ" panose="020B0604030504040204" pitchFamily="50" charset="-128"/>
                <a:ea typeface="メイリオ" panose="020B0604030504040204" pitchFamily="50" charset="-128"/>
              </a:rPr>
              <a:t>万円</a:t>
            </a:r>
            <a:r>
              <a:rPr lang="ja-JP" altLang="en-US" sz="800">
                <a:latin typeface="メイリオ" panose="020B0604030504040204" pitchFamily="50" charset="-128"/>
                <a:ea typeface="メイリオ" panose="020B0604030504040204" pitchFamily="50" charset="-128"/>
              </a:rPr>
              <a:t>の取り扱いを突破。</a:t>
            </a:r>
            <a:endParaRPr lang="en-US" altLang="ja-JP" sz="800">
              <a:latin typeface="メイリオ" panose="020B0604030504040204" pitchFamily="50" charset="-128"/>
              <a:ea typeface="メイリオ" panose="020B0604030504040204" pitchFamily="50" charset="-128"/>
            </a:endParaRPr>
          </a:p>
        </p:txBody>
      </p:sp>
      <p:sp>
        <p:nvSpPr>
          <p:cNvPr id="2104" name="テキスト ボックス 2103">
            <a:extLst>
              <a:ext uri="{FF2B5EF4-FFF2-40B4-BE49-F238E27FC236}">
                <a16:creationId xmlns:a16="http://schemas.microsoft.com/office/drawing/2014/main" id="{89EE1600-592C-F991-FBB3-472A73DB5551}"/>
              </a:ext>
            </a:extLst>
          </p:cNvPr>
          <p:cNvSpPr txBox="1"/>
          <p:nvPr/>
        </p:nvSpPr>
        <p:spPr>
          <a:xfrm>
            <a:off x="1858111" y="4310547"/>
            <a:ext cx="3234807" cy="338554"/>
          </a:xfrm>
          <a:prstGeom prst="rect">
            <a:avLst/>
          </a:prstGeom>
          <a:noFill/>
          <a:ln>
            <a:noFill/>
          </a:ln>
        </p:spPr>
        <p:txBody>
          <a:bodyPr wrap="square" rtlCol="0">
            <a:spAutoFit/>
          </a:bodyPr>
          <a:lstStyle/>
          <a:p>
            <a:pPr algn="ctr"/>
            <a:r>
              <a:rPr kumimoji="1" lang="ja-JP" altLang="en-US" sz="800">
                <a:latin typeface="メイリオ" panose="020B0604030504040204" pitchFamily="50" charset="-128"/>
                <a:ea typeface="メイリオ" panose="020B0604030504040204" pitchFamily="50" charset="-128"/>
              </a:rPr>
              <a:t>前回に続き、最高グレードである</a:t>
            </a:r>
            <a:r>
              <a:rPr lang="ja-JP" altLang="en-US" sz="800">
                <a:latin typeface="メイリオ" panose="020B0604030504040204" pitchFamily="50" charset="-128"/>
                <a:ea typeface="メイリオ" panose="020B0604030504040204" pitchFamily="50" charset="-128"/>
              </a:rPr>
              <a:t>「</a:t>
            </a:r>
            <a:r>
              <a:rPr lang="en-US" altLang="ja-JP" sz="800">
                <a:latin typeface="メイリオ" panose="020B0604030504040204" pitchFamily="50" charset="-128"/>
                <a:ea typeface="メイリオ" panose="020B0604030504040204" pitchFamily="50" charset="-128"/>
              </a:rPr>
              <a:t>Premier</a:t>
            </a:r>
            <a:r>
              <a:rPr lang="ja-JP" altLang="en-US" sz="800">
                <a:latin typeface="メイリオ" panose="020B0604030504040204" pitchFamily="50" charset="-128"/>
                <a:ea typeface="メイリオ" panose="020B0604030504040204" pitchFamily="50" charset="-128"/>
              </a:rPr>
              <a:t>」に認定。</a:t>
            </a:r>
            <a:endParaRPr lang="en-US" altLang="ja-JP" sz="800">
              <a:latin typeface="メイリオ" panose="020B0604030504040204" pitchFamily="50" charset="-128"/>
              <a:ea typeface="メイリオ" panose="020B0604030504040204" pitchFamily="50" charset="-128"/>
            </a:endParaRPr>
          </a:p>
          <a:p>
            <a:pPr algn="ctr"/>
            <a:r>
              <a:rPr kumimoji="1" lang="ja-JP" altLang="en-US" sz="800" b="1">
                <a:solidFill>
                  <a:srgbClr val="C00000"/>
                </a:solidFill>
                <a:latin typeface="メイリオ" panose="020B0604030504040204" pitchFamily="50" charset="-128"/>
                <a:ea typeface="メイリオ" panose="020B0604030504040204" pitchFamily="50" charset="-128"/>
              </a:rPr>
              <a:t>上位</a:t>
            </a:r>
            <a:r>
              <a:rPr kumimoji="1" lang="en-US" altLang="ja-JP" sz="800" b="1">
                <a:solidFill>
                  <a:srgbClr val="C00000"/>
                </a:solidFill>
                <a:latin typeface="メイリオ" panose="020B0604030504040204" pitchFamily="50" charset="-128"/>
                <a:ea typeface="メイリオ" panose="020B0604030504040204" pitchFamily="50" charset="-128"/>
              </a:rPr>
              <a:t>12</a:t>
            </a:r>
            <a:r>
              <a:rPr kumimoji="1" lang="ja-JP" altLang="en-US" sz="800" b="1">
                <a:solidFill>
                  <a:srgbClr val="C00000"/>
                </a:solidFill>
                <a:latin typeface="メイリオ" panose="020B0604030504040204" pitchFamily="50" charset="-128"/>
                <a:ea typeface="メイリオ" panose="020B0604030504040204" pitchFamily="50" charset="-128"/>
              </a:rPr>
              <a:t>位タイ</a:t>
            </a:r>
          </a:p>
        </p:txBody>
      </p:sp>
      <p:sp>
        <p:nvSpPr>
          <p:cNvPr id="2105" name="テキスト ボックス 2104">
            <a:extLst>
              <a:ext uri="{FF2B5EF4-FFF2-40B4-BE49-F238E27FC236}">
                <a16:creationId xmlns:a16="http://schemas.microsoft.com/office/drawing/2014/main" id="{735B8649-944E-38AC-EFE9-3FF466013418}"/>
              </a:ext>
            </a:extLst>
          </p:cNvPr>
          <p:cNvSpPr txBox="1"/>
          <p:nvPr/>
        </p:nvSpPr>
        <p:spPr>
          <a:xfrm>
            <a:off x="6722972" y="3209363"/>
            <a:ext cx="2758776" cy="338554"/>
          </a:xfrm>
          <a:prstGeom prst="rect">
            <a:avLst/>
          </a:prstGeom>
          <a:noFill/>
          <a:ln>
            <a:noFill/>
          </a:ln>
        </p:spPr>
        <p:txBody>
          <a:bodyPr wrap="square" rtlCol="0">
            <a:spAutoFit/>
          </a:bodyPr>
          <a:lstStyle/>
          <a:p>
            <a:pPr algn="ctr"/>
            <a:r>
              <a:rPr lang="ja-JP" altLang="en-US" sz="800">
                <a:latin typeface="メイリオ" panose="020B0604030504040204" pitchFamily="50" charset="-128"/>
                <a:ea typeface="メイリオ" panose="020B0604030504040204" pitchFamily="50" charset="-128"/>
              </a:rPr>
              <a:t>前回に続き、最高グレードである「</a:t>
            </a:r>
            <a:r>
              <a:rPr lang="en-US" altLang="ja-JP" sz="800">
                <a:latin typeface="メイリオ" panose="020B0604030504040204" pitchFamily="50" charset="-128"/>
                <a:ea typeface="メイリオ" panose="020B0604030504040204" pitchFamily="50" charset="-128"/>
              </a:rPr>
              <a:t>Premier</a:t>
            </a:r>
            <a:r>
              <a:rPr lang="ja-JP" altLang="en-US" sz="800">
                <a:latin typeface="メイリオ" panose="020B0604030504040204" pitchFamily="50" charset="-128"/>
                <a:ea typeface="メイリオ" panose="020B0604030504040204" pitchFamily="50" charset="-128"/>
              </a:rPr>
              <a:t>」に認定。</a:t>
            </a:r>
            <a:r>
              <a:rPr lang="ja-JP" altLang="en-US" sz="800" b="1">
                <a:solidFill>
                  <a:srgbClr val="C00000"/>
                </a:solidFill>
                <a:latin typeface="メイリオ" panose="020B0604030504040204" pitchFamily="50" charset="-128"/>
                <a:ea typeface="メイリオ" panose="020B0604030504040204" pitchFamily="50" charset="-128"/>
              </a:rPr>
              <a:t>上位</a:t>
            </a:r>
            <a:r>
              <a:rPr lang="en-US" altLang="ja-JP" sz="800" b="1">
                <a:solidFill>
                  <a:srgbClr val="C00000"/>
                </a:solidFill>
                <a:latin typeface="メイリオ" panose="020B0604030504040204" pitchFamily="50" charset="-128"/>
                <a:ea typeface="メイリオ" panose="020B0604030504040204" pitchFamily="50" charset="-128"/>
              </a:rPr>
              <a:t>15</a:t>
            </a:r>
            <a:r>
              <a:rPr lang="ja-JP" altLang="en-US" sz="800" b="1">
                <a:solidFill>
                  <a:srgbClr val="C00000"/>
                </a:solidFill>
                <a:latin typeface="メイリオ" panose="020B0604030504040204" pitchFamily="50" charset="-128"/>
                <a:ea typeface="メイリオ" panose="020B0604030504040204" pitchFamily="50" charset="-128"/>
              </a:rPr>
              <a:t>位タイ</a:t>
            </a:r>
            <a:endParaRPr lang="en-US" altLang="ja-JP" sz="800" b="1">
              <a:solidFill>
                <a:srgbClr val="C00000"/>
              </a:solidFill>
              <a:latin typeface="メイリオ" panose="020B0604030504040204" pitchFamily="50" charset="-128"/>
              <a:ea typeface="メイリオ" panose="020B0604030504040204" pitchFamily="50" charset="-128"/>
            </a:endParaRPr>
          </a:p>
        </p:txBody>
      </p:sp>
      <p:sp>
        <p:nvSpPr>
          <p:cNvPr id="2110" name="テキスト ボックス 2109">
            <a:extLst>
              <a:ext uri="{FF2B5EF4-FFF2-40B4-BE49-F238E27FC236}">
                <a16:creationId xmlns:a16="http://schemas.microsoft.com/office/drawing/2014/main" id="{9364E84A-3501-3480-3E86-4181D9EDDE0D}"/>
              </a:ext>
            </a:extLst>
          </p:cNvPr>
          <p:cNvSpPr txBox="1"/>
          <p:nvPr/>
        </p:nvSpPr>
        <p:spPr>
          <a:xfrm>
            <a:off x="5204477" y="3512494"/>
            <a:ext cx="957586" cy="246221"/>
          </a:xfrm>
          <a:prstGeom prst="rect">
            <a:avLst/>
          </a:prstGeom>
          <a:noFill/>
          <a:ln>
            <a:noFill/>
          </a:ln>
        </p:spPr>
        <p:txBody>
          <a:bodyPr wrap="square" rtlCol="0">
            <a:spAutoFit/>
          </a:bodyPr>
          <a:lstStyle/>
          <a:p>
            <a:pPr algn="ctr"/>
            <a:r>
              <a:rPr kumimoji="1" lang="ja-JP" altLang="en-US" sz="1000">
                <a:latin typeface="メイリオ" panose="020B0604030504040204" pitchFamily="50" charset="-128"/>
                <a:ea typeface="メイリオ" panose="020B0604030504040204" pitchFamily="50" charset="-128"/>
              </a:rPr>
              <a:t>現在</a:t>
            </a:r>
          </a:p>
        </p:txBody>
      </p:sp>
      <p:sp>
        <p:nvSpPr>
          <p:cNvPr id="2111" name="テキスト ボックス 2110">
            <a:extLst>
              <a:ext uri="{FF2B5EF4-FFF2-40B4-BE49-F238E27FC236}">
                <a16:creationId xmlns:a16="http://schemas.microsoft.com/office/drawing/2014/main" id="{915149AC-7723-29BD-6D17-D471CC831F56}"/>
              </a:ext>
            </a:extLst>
          </p:cNvPr>
          <p:cNvSpPr txBox="1"/>
          <p:nvPr/>
        </p:nvSpPr>
        <p:spPr>
          <a:xfrm>
            <a:off x="4684085" y="4310547"/>
            <a:ext cx="2335280" cy="338554"/>
          </a:xfrm>
          <a:prstGeom prst="rect">
            <a:avLst/>
          </a:prstGeom>
          <a:noFill/>
          <a:ln>
            <a:noFill/>
          </a:ln>
        </p:spPr>
        <p:txBody>
          <a:bodyPr wrap="square" rtlCol="0">
            <a:spAutoFit/>
          </a:bodyPr>
          <a:lstStyle/>
          <a:p>
            <a:pPr algn="ctr"/>
            <a:r>
              <a:rPr lang="ja-JP" altLang="en-US" sz="800" dirty="0">
                <a:latin typeface="メイリオ" panose="020B0604030504040204" pitchFamily="50" charset="-128"/>
                <a:ea typeface="メイリオ" panose="020B0604030504040204" pitchFamily="50" charset="-128"/>
              </a:rPr>
              <a:t>「</a:t>
            </a:r>
            <a:r>
              <a:rPr lang="en-US" altLang="ja-JP" sz="800" dirty="0">
                <a:latin typeface="メイリオ" panose="020B0604030504040204" pitchFamily="50" charset="-128"/>
                <a:ea typeface="メイリオ" panose="020B0604030504040204" pitchFamily="50" charset="-128"/>
              </a:rPr>
              <a:t>Best LINE</a:t>
            </a:r>
            <a:r>
              <a:rPr lang="ja-JP" altLang="en-US" sz="800" dirty="0">
                <a:latin typeface="メイリオ" panose="020B0604030504040204" pitchFamily="50" charset="-128"/>
                <a:ea typeface="メイリオ" panose="020B0604030504040204" pitchFamily="50" charset="-128"/>
              </a:rPr>
              <a:t>公式アカウント </a:t>
            </a:r>
            <a:r>
              <a:rPr lang="en-US" altLang="ja-JP" sz="800" dirty="0">
                <a:latin typeface="メイリオ" panose="020B0604030504040204" pitchFamily="50" charset="-128"/>
                <a:ea typeface="メイリオ" panose="020B0604030504040204" pitchFamily="50" charset="-128"/>
              </a:rPr>
              <a:t>Growth</a:t>
            </a:r>
            <a:r>
              <a:rPr lang="ja-JP" altLang="en-US" sz="800" dirty="0">
                <a:latin typeface="メイリオ" panose="020B0604030504040204" pitchFamily="50" charset="-128"/>
                <a:ea typeface="メイリオ" panose="020B0604030504040204" pitchFamily="50" charset="-128"/>
              </a:rPr>
              <a:t>」部門で</a:t>
            </a:r>
            <a:r>
              <a:rPr lang="en-US" altLang="ja-JP" sz="800" dirty="0">
                <a:latin typeface="メイリオ" panose="020B0604030504040204" pitchFamily="50" charset="-128"/>
                <a:ea typeface="メイリオ" panose="020B0604030504040204" pitchFamily="50" charset="-128"/>
              </a:rPr>
              <a:t>LINE</a:t>
            </a:r>
            <a:r>
              <a:rPr lang="ja-JP" altLang="en-US" sz="800" dirty="0">
                <a:latin typeface="メイリオ" panose="020B0604030504040204" pitchFamily="50" charset="-128"/>
                <a:ea typeface="メイリオ" panose="020B0604030504040204" pitchFamily="50" charset="-128"/>
              </a:rPr>
              <a:t>ヤフー社から表彰をいただきました。</a:t>
            </a:r>
            <a:endParaRPr kumimoji="1" lang="ja-JP" altLang="en-US" sz="800" dirty="0">
              <a:latin typeface="メイリオ" panose="020B0604030504040204" pitchFamily="50" charset="-128"/>
              <a:ea typeface="メイリオ" panose="020B0604030504040204" pitchFamily="50" charset="-128"/>
            </a:endParaRPr>
          </a:p>
        </p:txBody>
      </p:sp>
      <p:sp>
        <p:nvSpPr>
          <p:cNvPr id="8" name="正方形/長方形 7">
            <a:extLst>
              <a:ext uri="{FF2B5EF4-FFF2-40B4-BE49-F238E27FC236}">
                <a16:creationId xmlns:a16="http://schemas.microsoft.com/office/drawing/2014/main" id="{F974FA57-9312-73D0-6461-C65486B6B90A}"/>
              </a:ext>
            </a:extLst>
          </p:cNvPr>
          <p:cNvSpPr/>
          <p:nvPr/>
        </p:nvSpPr>
        <p:spPr>
          <a:xfrm>
            <a:off x="388723" y="675734"/>
            <a:ext cx="9128556" cy="349010"/>
          </a:xfrm>
          <a:prstGeom prst="rect">
            <a:avLst/>
          </a:prstGeom>
          <a:solidFill>
            <a:schemeClr val="bg1">
              <a:lumMod val="65000"/>
            </a:schemeClr>
          </a:solidFill>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 name="正方形/長方形 2">
            <a:extLst>
              <a:ext uri="{FF2B5EF4-FFF2-40B4-BE49-F238E27FC236}">
                <a16:creationId xmlns:a16="http://schemas.microsoft.com/office/drawing/2014/main" id="{4661DF32-128A-6B77-5F5D-76D78A1B8378}"/>
              </a:ext>
            </a:extLst>
          </p:cNvPr>
          <p:cNvSpPr/>
          <p:nvPr/>
        </p:nvSpPr>
        <p:spPr>
          <a:xfrm>
            <a:off x="2853632" y="700332"/>
            <a:ext cx="6663645" cy="306000"/>
          </a:xfrm>
          <a:prstGeom prst="rect">
            <a:avLst/>
          </a:prstGeom>
          <a:solidFill>
            <a:srgbClr val="10253F"/>
          </a:solidFill>
        </p:spPr>
        <p:txBody>
          <a:bodyPr wrap="square">
            <a:spAutoFit/>
          </a:bodyPr>
          <a:lstStyle/>
          <a:p>
            <a:pPr lvl="0">
              <a:buClr>
                <a:srgbClr val="002060"/>
              </a:buClr>
              <a:buSzPts val="1600"/>
            </a:pPr>
            <a:r>
              <a:rPr lang="en-US" altLang="ja-JP" sz="1300" b="1">
                <a:solidFill>
                  <a:schemeClr val="bg1"/>
                </a:solidFill>
                <a:latin typeface="Meiryo"/>
                <a:ea typeface="Meiryo"/>
                <a:cs typeface="Meiryo"/>
                <a:sym typeface="Meiryo"/>
              </a:rPr>
              <a:t>LINE</a:t>
            </a:r>
            <a:r>
              <a:rPr lang="ja-JP" altLang="en-US" sz="1300" b="1">
                <a:solidFill>
                  <a:schemeClr val="bg1"/>
                </a:solidFill>
                <a:latin typeface="Meiryo"/>
                <a:ea typeface="Meiryo"/>
                <a:cs typeface="Meiryo"/>
                <a:sym typeface="Meiryo"/>
              </a:rPr>
              <a:t>ヤフー </a:t>
            </a:r>
            <a:r>
              <a:rPr lang="en-US" altLang="ja-JP" sz="1300" b="1">
                <a:solidFill>
                  <a:schemeClr val="bg1"/>
                </a:solidFill>
                <a:latin typeface="Meiryo"/>
                <a:ea typeface="Meiryo"/>
                <a:cs typeface="Meiryo"/>
                <a:sym typeface="Meiryo"/>
              </a:rPr>
              <a:t>Partner Award 2025</a:t>
            </a:r>
            <a:r>
              <a:rPr lang="ja-JP" altLang="en-US" sz="1300" b="1">
                <a:solidFill>
                  <a:schemeClr val="bg1"/>
                </a:solidFill>
                <a:latin typeface="Meiryo"/>
                <a:ea typeface="Meiryo"/>
                <a:cs typeface="Meiryo"/>
                <a:sym typeface="Meiryo"/>
              </a:rPr>
              <a:t>にて「</a:t>
            </a:r>
            <a:r>
              <a:rPr lang="en-US" altLang="ja-JP" sz="1300" b="1">
                <a:solidFill>
                  <a:schemeClr val="bg1"/>
                </a:solidFill>
                <a:latin typeface="Meiryo"/>
                <a:ea typeface="Meiryo"/>
                <a:cs typeface="Meiryo"/>
                <a:sym typeface="Meiryo"/>
              </a:rPr>
              <a:t>Best LINE</a:t>
            </a:r>
            <a:r>
              <a:rPr lang="ja-JP" altLang="en-US" sz="1300" b="1">
                <a:solidFill>
                  <a:schemeClr val="bg1"/>
                </a:solidFill>
                <a:latin typeface="Meiryo"/>
                <a:ea typeface="Meiryo"/>
                <a:cs typeface="Meiryo"/>
                <a:sym typeface="Meiryo"/>
              </a:rPr>
              <a:t>公式アカウント </a:t>
            </a:r>
            <a:r>
              <a:rPr lang="en-US" altLang="ja-JP" sz="1300" b="1">
                <a:solidFill>
                  <a:schemeClr val="bg1"/>
                </a:solidFill>
                <a:latin typeface="Meiryo"/>
                <a:ea typeface="Meiryo"/>
                <a:cs typeface="Meiryo"/>
                <a:sym typeface="Meiryo"/>
              </a:rPr>
              <a:t>Growth</a:t>
            </a:r>
            <a:r>
              <a:rPr lang="ja-JP" altLang="en-US" sz="1300" b="1">
                <a:solidFill>
                  <a:schemeClr val="bg1"/>
                </a:solidFill>
                <a:latin typeface="Meiryo"/>
                <a:ea typeface="Meiryo"/>
                <a:cs typeface="Meiryo"/>
                <a:sym typeface="Meiryo"/>
              </a:rPr>
              <a:t>」受賞</a:t>
            </a:r>
            <a:endParaRPr lang="en-US" altLang="ja-JP" sz="1300" b="1" dirty="0">
              <a:solidFill>
                <a:schemeClr val="bg1"/>
              </a:solidFill>
              <a:latin typeface="Meiryo"/>
              <a:ea typeface="Meiryo"/>
              <a:cs typeface="Meiryo"/>
              <a:sym typeface="Meiryo"/>
            </a:endParaRPr>
          </a:p>
        </p:txBody>
      </p:sp>
      <p:sp>
        <p:nvSpPr>
          <p:cNvPr id="6" name="正方形/長方形 5">
            <a:extLst>
              <a:ext uri="{FF2B5EF4-FFF2-40B4-BE49-F238E27FC236}">
                <a16:creationId xmlns:a16="http://schemas.microsoft.com/office/drawing/2014/main" id="{DEE7F595-5FAC-C5CD-0B26-580B6DF09A53}"/>
              </a:ext>
            </a:extLst>
          </p:cNvPr>
          <p:cNvSpPr/>
          <p:nvPr/>
        </p:nvSpPr>
        <p:spPr>
          <a:xfrm>
            <a:off x="432943" y="700332"/>
            <a:ext cx="2391617" cy="306000"/>
          </a:xfrm>
          <a:prstGeom prst="rect">
            <a:avLst/>
          </a:prstGeom>
          <a:solidFill>
            <a:srgbClr val="10253F"/>
          </a:solidFill>
        </p:spPr>
        <p:txBody>
          <a:bodyPr wrap="square">
            <a:spAutoFit/>
          </a:bodyPr>
          <a:lstStyle/>
          <a:p>
            <a:pPr lvl="0" algn="ctr">
              <a:buClr>
                <a:srgbClr val="002060"/>
              </a:buClr>
              <a:buSzPts val="1600"/>
            </a:pPr>
            <a:r>
              <a:rPr lang="en-US" altLang="ja-JP" sz="1400" b="1">
                <a:solidFill>
                  <a:schemeClr val="bg1"/>
                </a:solidFill>
                <a:latin typeface="Meiryo"/>
                <a:ea typeface="Meiryo"/>
                <a:cs typeface="Meiryo"/>
                <a:sym typeface="Meiryo"/>
              </a:rPr>
              <a:t>DYM × LINEOA</a:t>
            </a:r>
            <a:endParaRPr lang="en-US" altLang="ja-JP" sz="1400" b="1" dirty="0">
              <a:solidFill>
                <a:schemeClr val="bg1"/>
              </a:solidFill>
              <a:latin typeface="Meiryo"/>
              <a:ea typeface="Meiryo"/>
              <a:cs typeface="Meiryo"/>
              <a:sym typeface="Meiryo"/>
            </a:endParaRPr>
          </a:p>
        </p:txBody>
      </p:sp>
      <p:pic>
        <p:nvPicPr>
          <p:cNvPr id="56" name="Picture 2">
            <a:extLst>
              <a:ext uri="{FF2B5EF4-FFF2-40B4-BE49-F238E27FC236}">
                <a16:creationId xmlns:a16="http://schemas.microsoft.com/office/drawing/2014/main" id="{6B503BF7-985B-8770-4643-5E3EB6E5562A}"/>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069689" y="5150774"/>
            <a:ext cx="1929199" cy="1286131"/>
          </a:xfrm>
          <a:prstGeom prst="rect">
            <a:avLst/>
          </a:prstGeom>
          <a:noFill/>
          <a:extLst>
            <a:ext uri="{909E8E84-426E-40DD-AFC4-6F175D3DCCD1}">
              <a14:hiddenFill xmlns:a14="http://schemas.microsoft.com/office/drawing/2010/main">
                <a:solidFill>
                  <a:srgbClr val="FFFFFF"/>
                </a:solidFill>
              </a14:hiddenFill>
            </a:ext>
          </a:extLst>
        </p:spPr>
      </p:pic>
      <p:sp>
        <p:nvSpPr>
          <p:cNvPr id="2" name="テキスト プレースホルダー 2">
            <a:extLst>
              <a:ext uri="{FF2B5EF4-FFF2-40B4-BE49-F238E27FC236}">
                <a16:creationId xmlns:a16="http://schemas.microsoft.com/office/drawing/2014/main" id="{761ADAB8-B668-8B05-EDE6-B5003466E015}"/>
              </a:ext>
            </a:extLst>
          </p:cNvPr>
          <p:cNvSpPr txBox="1">
            <a:spLocks/>
          </p:cNvSpPr>
          <p:nvPr/>
        </p:nvSpPr>
        <p:spPr>
          <a:xfrm>
            <a:off x="8209814" y="6217102"/>
            <a:ext cx="676273" cy="157797"/>
          </a:xfrm>
          <a:prstGeom prst="rect">
            <a:avLst/>
          </a:prstGeom>
        </p:spPr>
        <p:txBody>
          <a:bodyPr lIns="0" tIns="0" rIns="0" bIns="0" anchor="t"/>
          <a:lstStyle>
            <a:lvl1pPr marL="0" indent="0" algn="l" defTabSz="914400" rtl="0" eaLnBrk="1" latinLnBrk="0" hangingPunct="1">
              <a:lnSpc>
                <a:spcPct val="130000"/>
              </a:lnSpc>
              <a:spcBef>
                <a:spcPts val="0"/>
              </a:spcBef>
              <a:buFont typeface="Arial" panose="020B0604020202020204" pitchFamily="34" charset="0"/>
              <a:buNone/>
              <a:defRPr kumimoji="1" sz="1400" kern="1200">
                <a:solidFill>
                  <a:schemeClr val="tx1">
                    <a:lumMod val="95000"/>
                    <a:lumOff val="5000"/>
                  </a:schemeClr>
                </a:solidFill>
                <a:latin typeface="Meiryo" panose="020B0604030504040204" pitchFamily="34" charset="-128"/>
                <a:ea typeface="Meiryo" panose="020B0604030504040204" pitchFamily="34" charset="-128"/>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lvl="0">
              <a:defRPr/>
            </a:pPr>
            <a:r>
              <a:rPr lang="en-US" altLang="ja-JP" sz="700">
                <a:solidFill>
                  <a:schemeClr val="bg1"/>
                </a:solidFill>
              </a:rPr>
              <a:t>※</a:t>
            </a:r>
            <a:r>
              <a:rPr lang="ja-JP" altLang="en-US" sz="700">
                <a:solidFill>
                  <a:schemeClr val="bg1"/>
                </a:solidFill>
              </a:rPr>
              <a:t>受賞時の</a:t>
            </a:r>
            <a:r>
              <a:rPr lang="en-US" altLang="ja-JP" sz="700">
                <a:solidFill>
                  <a:schemeClr val="bg1"/>
                </a:solidFill>
              </a:rPr>
              <a:t>1</a:t>
            </a:r>
            <a:r>
              <a:rPr lang="ja-JP" altLang="en-US" sz="700">
                <a:solidFill>
                  <a:schemeClr val="bg1"/>
                </a:solidFill>
              </a:rPr>
              <a:t>枚</a:t>
            </a:r>
            <a:endParaRPr lang="en-US" altLang="ja-JP" sz="700" dirty="0">
              <a:solidFill>
                <a:schemeClr val="bg1"/>
              </a:solidFill>
            </a:endParaRPr>
          </a:p>
        </p:txBody>
      </p:sp>
      <p:pic>
        <p:nvPicPr>
          <p:cNvPr id="7" name="図 6" descr="アイコン が含まれている画像&#10;&#10;AI 生成コンテンツは誤りを含む可能性があります。">
            <a:extLst>
              <a:ext uri="{FF2B5EF4-FFF2-40B4-BE49-F238E27FC236}">
                <a16:creationId xmlns:a16="http://schemas.microsoft.com/office/drawing/2014/main" id="{1FAB445F-372A-C0D2-7552-790613769A34}"/>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4408069" y="4654614"/>
            <a:ext cx="2886575" cy="2294826"/>
          </a:xfrm>
          <a:prstGeom prst="rect">
            <a:avLst/>
          </a:prstGeom>
        </p:spPr>
      </p:pic>
      <p:sp>
        <p:nvSpPr>
          <p:cNvPr id="10" name="テキスト ボックス 9">
            <a:extLst>
              <a:ext uri="{FF2B5EF4-FFF2-40B4-BE49-F238E27FC236}">
                <a16:creationId xmlns:a16="http://schemas.microsoft.com/office/drawing/2014/main" id="{F7A1F49B-800C-42EE-5308-93E8C2B2E88F}"/>
              </a:ext>
            </a:extLst>
          </p:cNvPr>
          <p:cNvSpPr txBox="1"/>
          <p:nvPr/>
        </p:nvSpPr>
        <p:spPr>
          <a:xfrm>
            <a:off x="2535025" y="5767731"/>
            <a:ext cx="4963884" cy="646331"/>
          </a:xfrm>
          <a:prstGeom prst="rect">
            <a:avLst/>
          </a:prstGeom>
          <a:noFill/>
        </p:spPr>
        <p:txBody>
          <a:bodyPr wrap="square">
            <a:spAutoFit/>
          </a:bodyPr>
          <a:lstStyle/>
          <a:p>
            <a:r>
              <a:rPr lang="ja-JP" altLang="en-US" sz="900" dirty="0">
                <a:solidFill>
                  <a:srgbClr val="000000">
                    <a:lumMod val="95000"/>
                    <a:lumOff val="5000"/>
                  </a:srgbClr>
                </a:solidFill>
                <a:latin typeface="メイリオ" panose="020B0604030504040204" pitchFamily="50" charset="-128"/>
                <a:ea typeface="メイリオ" panose="020B0604030504040204" pitchFamily="50" charset="-128"/>
              </a:rPr>
              <a:t>現在</a:t>
            </a:r>
            <a:r>
              <a:rPr lang="en-US" altLang="ja-JP" sz="900" dirty="0">
                <a:solidFill>
                  <a:srgbClr val="000000">
                    <a:lumMod val="95000"/>
                    <a:lumOff val="5000"/>
                  </a:srgbClr>
                </a:solidFill>
                <a:latin typeface="メイリオ" panose="020B0604030504040204" pitchFamily="50" charset="-128"/>
                <a:ea typeface="メイリオ" panose="020B0604030504040204" pitchFamily="50" charset="-128"/>
              </a:rPr>
              <a:t>Sales Partner Premier</a:t>
            </a:r>
          </a:p>
          <a:p>
            <a:r>
              <a:rPr lang="ja-JP" altLang="en-US" sz="900" dirty="0">
                <a:solidFill>
                  <a:srgbClr val="000000">
                    <a:lumMod val="95000"/>
                    <a:lumOff val="5000"/>
                  </a:srgbClr>
                </a:solidFill>
                <a:latin typeface="メイリオ" panose="020B0604030504040204" pitchFamily="50" charset="-128"/>
                <a:ea typeface="メイリオ" panose="020B0604030504040204" pitchFamily="50" charset="-128"/>
              </a:rPr>
              <a:t>は</a:t>
            </a:r>
            <a:r>
              <a:rPr lang="en-US" altLang="ja-JP" sz="900" dirty="0">
                <a:solidFill>
                  <a:srgbClr val="000000">
                    <a:lumMod val="95000"/>
                    <a:lumOff val="5000"/>
                  </a:srgbClr>
                </a:solidFill>
                <a:latin typeface="メイリオ" panose="020B0604030504040204" pitchFamily="50" charset="-128"/>
                <a:ea typeface="メイリオ" panose="020B0604030504040204" pitchFamily="50" charset="-128"/>
              </a:rPr>
              <a:t>DYM</a:t>
            </a:r>
            <a:r>
              <a:rPr lang="ja-JP" altLang="en-US" sz="900" dirty="0">
                <a:solidFill>
                  <a:srgbClr val="000000">
                    <a:lumMod val="95000"/>
                    <a:lumOff val="5000"/>
                  </a:srgbClr>
                </a:solidFill>
                <a:latin typeface="メイリオ" panose="020B0604030504040204" pitchFamily="50" charset="-128"/>
                <a:ea typeface="メイリオ" panose="020B0604030504040204" pitchFamily="50" charset="-128"/>
              </a:rPr>
              <a:t>を合わせて</a:t>
            </a:r>
            <a:r>
              <a:rPr lang="en-US" altLang="ja-JP" sz="900" b="1" dirty="0">
                <a:solidFill>
                  <a:srgbClr val="000000">
                    <a:lumMod val="95000"/>
                    <a:lumOff val="5000"/>
                  </a:srgbClr>
                </a:solidFill>
                <a:latin typeface="メイリオ" panose="020B0604030504040204" pitchFamily="50" charset="-128"/>
                <a:ea typeface="メイリオ" panose="020B0604030504040204" pitchFamily="50" charset="-128"/>
              </a:rPr>
              <a:t>12</a:t>
            </a:r>
            <a:r>
              <a:rPr lang="ja-JP" altLang="en-US" sz="900" b="1" dirty="0">
                <a:solidFill>
                  <a:srgbClr val="000000">
                    <a:lumMod val="95000"/>
                    <a:lumOff val="5000"/>
                  </a:srgbClr>
                </a:solidFill>
                <a:latin typeface="メイリオ" panose="020B0604030504040204" pitchFamily="50" charset="-128"/>
                <a:ea typeface="メイリオ" panose="020B0604030504040204" pitchFamily="50" charset="-128"/>
              </a:rPr>
              <a:t>社が認定</a:t>
            </a:r>
            <a:r>
              <a:rPr lang="ja-JP" altLang="en-US" sz="900" dirty="0">
                <a:solidFill>
                  <a:srgbClr val="000000">
                    <a:lumMod val="95000"/>
                    <a:lumOff val="5000"/>
                  </a:srgbClr>
                </a:solidFill>
                <a:latin typeface="メイリオ" panose="020B0604030504040204" pitchFamily="50" charset="-128"/>
                <a:ea typeface="メイリオ" panose="020B0604030504040204" pitchFamily="50" charset="-128"/>
              </a:rPr>
              <a:t>。</a:t>
            </a:r>
            <a:endParaRPr lang="en-US" altLang="ja-JP" sz="900" dirty="0">
              <a:solidFill>
                <a:srgbClr val="000000">
                  <a:lumMod val="95000"/>
                  <a:lumOff val="5000"/>
                </a:srgbClr>
              </a:solidFill>
              <a:latin typeface="メイリオ" panose="020B0604030504040204" pitchFamily="50" charset="-128"/>
              <a:ea typeface="メイリオ" panose="020B0604030504040204" pitchFamily="50" charset="-128"/>
            </a:endParaRPr>
          </a:p>
          <a:p>
            <a:endParaRPr lang="en-US" altLang="ja-JP" sz="900" dirty="0">
              <a:solidFill>
                <a:srgbClr val="000000">
                  <a:lumMod val="95000"/>
                  <a:lumOff val="5000"/>
                </a:srgbClr>
              </a:solidFill>
              <a:latin typeface="メイリオ" panose="020B0604030504040204" pitchFamily="50" charset="-128"/>
              <a:ea typeface="メイリオ" panose="020B0604030504040204" pitchFamily="50" charset="-128"/>
            </a:endParaRPr>
          </a:p>
          <a:p>
            <a:r>
              <a:rPr lang="en-US" altLang="ja-JP" sz="900" dirty="0">
                <a:solidFill>
                  <a:srgbClr val="000000">
                    <a:lumMod val="95000"/>
                    <a:lumOff val="5000"/>
                  </a:srgbClr>
                </a:solidFill>
                <a:latin typeface="メイリオ" panose="020B0604030504040204" pitchFamily="50" charset="-128"/>
                <a:ea typeface="メイリオ" panose="020B0604030504040204" pitchFamily="50" charset="-128"/>
              </a:rPr>
              <a:t>※</a:t>
            </a:r>
            <a:r>
              <a:rPr lang="ja-JP" altLang="en-US" sz="900" dirty="0">
                <a:solidFill>
                  <a:srgbClr val="000000">
                    <a:lumMod val="95000"/>
                    <a:lumOff val="5000"/>
                  </a:srgbClr>
                </a:solidFill>
                <a:latin typeface="メイリオ" panose="020B0604030504040204" pitchFamily="50" charset="-128"/>
                <a:ea typeface="メイリオ" panose="020B0604030504040204" pitchFamily="50" charset="-128"/>
              </a:rPr>
              <a:t>未上場企業では</a:t>
            </a:r>
            <a:r>
              <a:rPr lang="ja-JP" altLang="en-US" sz="900" b="1" dirty="0">
                <a:solidFill>
                  <a:srgbClr val="000000">
                    <a:lumMod val="95000"/>
                    <a:lumOff val="5000"/>
                  </a:srgbClr>
                </a:solidFill>
                <a:latin typeface="メイリオ" panose="020B0604030504040204" pitchFamily="50" charset="-128"/>
                <a:ea typeface="メイリオ" panose="020B0604030504040204" pitchFamily="50" charset="-128"/>
              </a:rPr>
              <a:t>唯一で最上位</a:t>
            </a:r>
            <a:r>
              <a:rPr lang="ja-JP" altLang="en-US" sz="900" dirty="0">
                <a:solidFill>
                  <a:srgbClr val="000000">
                    <a:lumMod val="95000"/>
                    <a:lumOff val="5000"/>
                  </a:srgbClr>
                </a:solidFill>
                <a:latin typeface="メイリオ" panose="020B0604030504040204" pitchFamily="50" charset="-128"/>
                <a:ea typeface="メイリオ" panose="020B0604030504040204" pitchFamily="50" charset="-128"/>
              </a:rPr>
              <a:t>。</a:t>
            </a:r>
            <a:endParaRPr lang="ja-JP" altLang="en-US" sz="900" dirty="0"/>
          </a:p>
        </p:txBody>
      </p:sp>
      <p:pic>
        <p:nvPicPr>
          <p:cNvPr id="5" name="図 4">
            <a:extLst>
              <a:ext uri="{FF2B5EF4-FFF2-40B4-BE49-F238E27FC236}">
                <a16:creationId xmlns:a16="http://schemas.microsoft.com/office/drawing/2014/main" id="{1F013E1B-3D36-6118-A1E8-A84BF28EDEC2}"/>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88996" y="4759370"/>
            <a:ext cx="2664636" cy="2074350"/>
          </a:xfrm>
          <a:prstGeom prst="rect">
            <a:avLst/>
          </a:prstGeom>
        </p:spPr>
      </p:pic>
    </p:spTree>
    <p:extLst>
      <p:ext uri="{BB962C8B-B14F-4D97-AF65-F5344CB8AC3E}">
        <p14:creationId xmlns:p14="http://schemas.microsoft.com/office/powerpoint/2010/main" val="332055576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E5861D-E2B1-5330-6864-9B051B1B450A}"/>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10815731-3923-DF64-2497-E7A37D053AD8}"/>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弊社ポジショニング</a:t>
            </a:r>
          </a:p>
        </p:txBody>
      </p:sp>
      <p:sp>
        <p:nvSpPr>
          <p:cNvPr id="2" name="正方形/長方形 1">
            <a:extLst>
              <a:ext uri="{FF2B5EF4-FFF2-40B4-BE49-F238E27FC236}">
                <a16:creationId xmlns:a16="http://schemas.microsoft.com/office/drawing/2014/main" id="{6EE73D80-19A8-1B22-3E67-207FD67693A3}"/>
              </a:ext>
            </a:extLst>
          </p:cNvPr>
          <p:cNvSpPr/>
          <p:nvPr/>
        </p:nvSpPr>
        <p:spPr>
          <a:xfrm>
            <a:off x="414745" y="1861522"/>
            <a:ext cx="4383678" cy="1657101"/>
          </a:xfrm>
          <a:prstGeom prst="rect">
            <a:avLst/>
          </a:prstGeom>
          <a:noFill/>
          <a:ln w="63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a:solidFill>
                <a:schemeClr val="tx1"/>
              </a:solidFill>
              <a:latin typeface="メイリオ" panose="020B0604030504040204" pitchFamily="50" charset="-128"/>
              <a:ea typeface="メイリオ" panose="020B0604030504040204" pitchFamily="50" charset="-128"/>
            </a:endParaRPr>
          </a:p>
        </p:txBody>
      </p:sp>
      <p:sp>
        <p:nvSpPr>
          <p:cNvPr id="5" name="正方形/長方形 4">
            <a:extLst>
              <a:ext uri="{FF2B5EF4-FFF2-40B4-BE49-F238E27FC236}">
                <a16:creationId xmlns:a16="http://schemas.microsoft.com/office/drawing/2014/main" id="{CD2306FC-4175-2C00-0D17-32F2AAC51C82}"/>
              </a:ext>
            </a:extLst>
          </p:cNvPr>
          <p:cNvSpPr/>
          <p:nvPr/>
        </p:nvSpPr>
        <p:spPr>
          <a:xfrm>
            <a:off x="4892040" y="1861522"/>
            <a:ext cx="4383678" cy="1657101"/>
          </a:xfrm>
          <a:prstGeom prst="rect">
            <a:avLst/>
          </a:prstGeom>
          <a:noFill/>
          <a:ln w="63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a:latin typeface="メイリオ" panose="020B0604030504040204" pitchFamily="50" charset="-128"/>
              <a:ea typeface="メイリオ" panose="020B0604030504040204" pitchFamily="50" charset="-128"/>
            </a:endParaRPr>
          </a:p>
        </p:txBody>
      </p:sp>
      <p:sp>
        <p:nvSpPr>
          <p:cNvPr id="10" name="正方形/長方形 9">
            <a:extLst>
              <a:ext uri="{FF2B5EF4-FFF2-40B4-BE49-F238E27FC236}">
                <a16:creationId xmlns:a16="http://schemas.microsoft.com/office/drawing/2014/main" id="{9ED6AD3F-541D-3FC5-0062-3F2A923253C9}"/>
              </a:ext>
            </a:extLst>
          </p:cNvPr>
          <p:cNvSpPr/>
          <p:nvPr/>
        </p:nvSpPr>
        <p:spPr>
          <a:xfrm>
            <a:off x="414745" y="4308273"/>
            <a:ext cx="4383678" cy="1657101"/>
          </a:xfrm>
          <a:prstGeom prst="rect">
            <a:avLst/>
          </a:prstGeom>
          <a:noFill/>
          <a:ln w="63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a:latin typeface="メイリオ" panose="020B0604030504040204" pitchFamily="50" charset="-128"/>
              <a:ea typeface="メイリオ" panose="020B0604030504040204" pitchFamily="50" charset="-128"/>
            </a:endParaRPr>
          </a:p>
        </p:txBody>
      </p:sp>
      <p:sp>
        <p:nvSpPr>
          <p:cNvPr id="11" name="正方形/長方形 10">
            <a:extLst>
              <a:ext uri="{FF2B5EF4-FFF2-40B4-BE49-F238E27FC236}">
                <a16:creationId xmlns:a16="http://schemas.microsoft.com/office/drawing/2014/main" id="{D4D20F90-DB1A-B6A0-8607-C0C93118158E}"/>
              </a:ext>
            </a:extLst>
          </p:cNvPr>
          <p:cNvSpPr/>
          <p:nvPr/>
        </p:nvSpPr>
        <p:spPr>
          <a:xfrm>
            <a:off x="4892040" y="4308273"/>
            <a:ext cx="4383678" cy="1657101"/>
          </a:xfrm>
          <a:prstGeom prst="rect">
            <a:avLst/>
          </a:prstGeom>
          <a:noFill/>
          <a:ln w="63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a:latin typeface="メイリオ" panose="020B0604030504040204" pitchFamily="50" charset="-128"/>
              <a:ea typeface="メイリオ" panose="020B0604030504040204" pitchFamily="50" charset="-128"/>
            </a:endParaRPr>
          </a:p>
        </p:txBody>
      </p:sp>
      <p:sp>
        <p:nvSpPr>
          <p:cNvPr id="12" name="正方形/長方形 11">
            <a:extLst>
              <a:ext uri="{FF2B5EF4-FFF2-40B4-BE49-F238E27FC236}">
                <a16:creationId xmlns:a16="http://schemas.microsoft.com/office/drawing/2014/main" id="{94608CEE-4C85-001A-2579-A0A698688995}"/>
              </a:ext>
            </a:extLst>
          </p:cNvPr>
          <p:cNvSpPr/>
          <p:nvPr/>
        </p:nvSpPr>
        <p:spPr>
          <a:xfrm>
            <a:off x="414745" y="1861523"/>
            <a:ext cx="4383678" cy="324689"/>
          </a:xfrm>
          <a:prstGeom prst="rect">
            <a:avLst/>
          </a:prstGeom>
          <a:solidFill>
            <a:schemeClr val="tx2">
              <a:lumMod val="20000"/>
              <a:lumOff val="80000"/>
            </a:schemeClr>
          </a:solidFill>
          <a:ln w="63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dirty="0">
                <a:solidFill>
                  <a:schemeClr val="tx1"/>
                </a:solidFill>
                <a:latin typeface="メイリオ" panose="020B0604030504040204" pitchFamily="50" charset="-128"/>
                <a:ea typeface="メイリオ" panose="020B0604030504040204" pitchFamily="50" charset="-128"/>
              </a:rPr>
              <a:t>ツール会社　</a:t>
            </a:r>
          </a:p>
        </p:txBody>
      </p:sp>
      <p:sp>
        <p:nvSpPr>
          <p:cNvPr id="13" name="正方形/長方形 12">
            <a:extLst>
              <a:ext uri="{FF2B5EF4-FFF2-40B4-BE49-F238E27FC236}">
                <a16:creationId xmlns:a16="http://schemas.microsoft.com/office/drawing/2014/main" id="{59A99E6E-D460-C2CE-3554-D4177944BCC1}"/>
              </a:ext>
            </a:extLst>
          </p:cNvPr>
          <p:cNvSpPr/>
          <p:nvPr/>
        </p:nvSpPr>
        <p:spPr>
          <a:xfrm>
            <a:off x="4892040" y="1861523"/>
            <a:ext cx="4383678" cy="324689"/>
          </a:xfrm>
          <a:prstGeom prst="rect">
            <a:avLst/>
          </a:prstGeom>
          <a:solidFill>
            <a:schemeClr val="tx2">
              <a:lumMod val="20000"/>
              <a:lumOff val="80000"/>
            </a:schemeClr>
          </a:solidFill>
          <a:ln w="63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dirty="0">
                <a:solidFill>
                  <a:schemeClr val="tx1"/>
                </a:solidFill>
                <a:latin typeface="メイリオ" panose="020B0604030504040204" pitchFamily="50" charset="-128"/>
                <a:ea typeface="メイリオ" panose="020B0604030504040204" pitchFamily="50" charset="-128"/>
              </a:rPr>
              <a:t> コンサル会社</a:t>
            </a:r>
          </a:p>
        </p:txBody>
      </p:sp>
      <p:sp>
        <p:nvSpPr>
          <p:cNvPr id="14" name="正方形/長方形 13">
            <a:extLst>
              <a:ext uri="{FF2B5EF4-FFF2-40B4-BE49-F238E27FC236}">
                <a16:creationId xmlns:a16="http://schemas.microsoft.com/office/drawing/2014/main" id="{B9B23A0A-C181-F52D-CE83-83252D57916D}"/>
              </a:ext>
            </a:extLst>
          </p:cNvPr>
          <p:cNvSpPr/>
          <p:nvPr/>
        </p:nvSpPr>
        <p:spPr>
          <a:xfrm>
            <a:off x="414745" y="4295574"/>
            <a:ext cx="4383678" cy="324689"/>
          </a:xfrm>
          <a:prstGeom prst="rect">
            <a:avLst/>
          </a:prstGeom>
          <a:solidFill>
            <a:schemeClr val="tx2">
              <a:lumMod val="20000"/>
              <a:lumOff val="80000"/>
            </a:schemeClr>
          </a:solidFill>
          <a:ln w="63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dirty="0">
                <a:solidFill>
                  <a:schemeClr val="tx1"/>
                </a:solidFill>
                <a:latin typeface="メイリオ" panose="020B0604030504040204" pitchFamily="50" charset="-128"/>
                <a:ea typeface="メイリオ" panose="020B0604030504040204" pitchFamily="50" charset="-128"/>
              </a:rPr>
              <a:t>広告専業の代理店</a:t>
            </a:r>
          </a:p>
        </p:txBody>
      </p:sp>
      <p:sp>
        <p:nvSpPr>
          <p:cNvPr id="15" name="正方形/長方形 14">
            <a:extLst>
              <a:ext uri="{FF2B5EF4-FFF2-40B4-BE49-F238E27FC236}">
                <a16:creationId xmlns:a16="http://schemas.microsoft.com/office/drawing/2014/main" id="{735511C6-7F11-A23D-F1BA-0FACD703798D}"/>
              </a:ext>
            </a:extLst>
          </p:cNvPr>
          <p:cNvSpPr/>
          <p:nvPr/>
        </p:nvSpPr>
        <p:spPr>
          <a:xfrm>
            <a:off x="4892040" y="4295574"/>
            <a:ext cx="4383678" cy="324689"/>
          </a:xfrm>
          <a:prstGeom prst="rect">
            <a:avLst/>
          </a:prstGeom>
          <a:solidFill>
            <a:schemeClr val="tx2">
              <a:lumMod val="20000"/>
              <a:lumOff val="80000"/>
            </a:schemeClr>
          </a:solidFill>
          <a:ln w="63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dirty="0">
                <a:solidFill>
                  <a:schemeClr val="tx1"/>
                </a:solidFill>
                <a:latin typeface="メイリオ" panose="020B0604030504040204" pitchFamily="50" charset="-128"/>
                <a:ea typeface="メイリオ" panose="020B0604030504040204" pitchFamily="50" charset="-128"/>
              </a:rPr>
              <a:t>他</a:t>
            </a:r>
            <a:r>
              <a:rPr kumimoji="1" lang="en-US" altLang="ja-JP" sz="1000" dirty="0">
                <a:solidFill>
                  <a:schemeClr val="tx1"/>
                </a:solidFill>
                <a:latin typeface="メイリオ" panose="020B0604030504040204" pitchFamily="50" charset="-128"/>
                <a:ea typeface="メイリオ" panose="020B0604030504040204" pitchFamily="50" charset="-128"/>
              </a:rPr>
              <a:t>CRM</a:t>
            </a:r>
            <a:r>
              <a:rPr kumimoji="1" lang="ja-JP" altLang="en-US" sz="1000" dirty="0">
                <a:solidFill>
                  <a:schemeClr val="tx1"/>
                </a:solidFill>
                <a:latin typeface="メイリオ" panose="020B0604030504040204" pitchFamily="50" charset="-128"/>
                <a:ea typeface="メイリオ" panose="020B0604030504040204" pitchFamily="50" charset="-128"/>
              </a:rPr>
              <a:t>の会社</a:t>
            </a:r>
          </a:p>
        </p:txBody>
      </p:sp>
      <p:pic>
        <p:nvPicPr>
          <p:cNvPr id="21" name="図 20" descr="文字が書かれている&#10;&#10;AI 生成コンテンツは誤りを含む可能性があります。">
            <a:extLst>
              <a:ext uri="{FF2B5EF4-FFF2-40B4-BE49-F238E27FC236}">
                <a16:creationId xmlns:a16="http://schemas.microsoft.com/office/drawing/2014/main" id="{2521257E-D1E1-307C-8244-A7D93D470795}"/>
              </a:ext>
            </a:extLst>
          </p:cNvPr>
          <p:cNvPicPr>
            <a:picLocks noChangeAspect="1"/>
          </p:cNvPicPr>
          <p:nvPr/>
        </p:nvPicPr>
        <p:blipFill>
          <a:blip r:embed="rId2"/>
          <a:stretch>
            <a:fillRect/>
          </a:stretch>
        </p:blipFill>
        <p:spPr>
          <a:xfrm>
            <a:off x="1086533" y="2288778"/>
            <a:ext cx="1323427" cy="315679"/>
          </a:xfrm>
          <a:prstGeom prst="rect">
            <a:avLst/>
          </a:prstGeom>
        </p:spPr>
      </p:pic>
      <p:pic>
        <p:nvPicPr>
          <p:cNvPr id="1026" name="Picture 2" descr="特定商取引法に関する表示 | Lステップ（エルステップ）公式_LINE公式アカウント特化のマーケティングツール">
            <a:extLst>
              <a:ext uri="{FF2B5EF4-FFF2-40B4-BE49-F238E27FC236}">
                <a16:creationId xmlns:a16="http://schemas.microsoft.com/office/drawing/2014/main" id="{E86AB3B4-1E56-4227-88BE-FA673F023348}"/>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436417" y="2199280"/>
            <a:ext cx="831168" cy="467532"/>
          </a:xfrm>
          <a:prstGeom prst="rect">
            <a:avLst/>
          </a:prstGeom>
          <a:noFill/>
          <a:extLst>
            <a:ext uri="{909E8E84-426E-40DD-AFC4-6F175D3DCCD1}">
              <a14:hiddenFill xmlns:a14="http://schemas.microsoft.com/office/drawing/2010/main">
                <a:solidFill>
                  <a:srgbClr val="FFFFFF"/>
                </a:solidFill>
              </a14:hiddenFill>
            </a:ext>
          </a:extLst>
        </p:spPr>
      </p:pic>
      <p:sp>
        <p:nvSpPr>
          <p:cNvPr id="26" name="乗算記号 25">
            <a:extLst>
              <a:ext uri="{FF2B5EF4-FFF2-40B4-BE49-F238E27FC236}">
                <a16:creationId xmlns:a16="http://schemas.microsoft.com/office/drawing/2014/main" id="{676235DE-33EB-2E33-33D6-74D321860C39}"/>
              </a:ext>
            </a:extLst>
          </p:cNvPr>
          <p:cNvSpPr/>
          <p:nvPr/>
        </p:nvSpPr>
        <p:spPr>
          <a:xfrm>
            <a:off x="6198323" y="1838911"/>
            <a:ext cx="360000" cy="360000"/>
          </a:xfrm>
          <a:prstGeom prst="mathMultiply">
            <a:avLst>
              <a:gd name="adj1" fmla="val 4915"/>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7" name="乗算記号 26">
            <a:extLst>
              <a:ext uri="{FF2B5EF4-FFF2-40B4-BE49-F238E27FC236}">
                <a16:creationId xmlns:a16="http://schemas.microsoft.com/office/drawing/2014/main" id="{7C31A50F-57BD-64E8-DE3F-3A8FB722D839}"/>
              </a:ext>
            </a:extLst>
          </p:cNvPr>
          <p:cNvSpPr/>
          <p:nvPr/>
        </p:nvSpPr>
        <p:spPr>
          <a:xfrm>
            <a:off x="1472312" y="4277918"/>
            <a:ext cx="360000" cy="360000"/>
          </a:xfrm>
          <a:prstGeom prst="mathMultiply">
            <a:avLst>
              <a:gd name="adj1" fmla="val 4915"/>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8" name="乗算記号 27">
            <a:extLst>
              <a:ext uri="{FF2B5EF4-FFF2-40B4-BE49-F238E27FC236}">
                <a16:creationId xmlns:a16="http://schemas.microsoft.com/office/drawing/2014/main" id="{9B7C9A4B-096B-D2DD-08B8-D421AB634155}"/>
              </a:ext>
            </a:extLst>
          </p:cNvPr>
          <p:cNvSpPr/>
          <p:nvPr/>
        </p:nvSpPr>
        <p:spPr>
          <a:xfrm>
            <a:off x="1734353" y="1838911"/>
            <a:ext cx="360000" cy="360000"/>
          </a:xfrm>
          <a:prstGeom prst="mathMultiply">
            <a:avLst>
              <a:gd name="adj1" fmla="val 4915"/>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dirty="0"/>
          </a:p>
        </p:txBody>
      </p:sp>
      <p:sp>
        <p:nvSpPr>
          <p:cNvPr id="29" name="乗算記号 28">
            <a:extLst>
              <a:ext uri="{FF2B5EF4-FFF2-40B4-BE49-F238E27FC236}">
                <a16:creationId xmlns:a16="http://schemas.microsoft.com/office/drawing/2014/main" id="{E3AD3032-8560-946E-0D20-D2977D17F027}"/>
              </a:ext>
            </a:extLst>
          </p:cNvPr>
          <p:cNvSpPr/>
          <p:nvPr/>
        </p:nvSpPr>
        <p:spPr>
          <a:xfrm>
            <a:off x="6128651" y="4274166"/>
            <a:ext cx="360000" cy="360000"/>
          </a:xfrm>
          <a:prstGeom prst="mathMultiply">
            <a:avLst>
              <a:gd name="adj1" fmla="val 4915"/>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pic>
        <p:nvPicPr>
          <p:cNvPr id="1028" name="Picture 4" descr="Salesforceってなに？初心者でも簡単にわかる！導入のメリットと基本機能について | CONCENTO">
            <a:extLst>
              <a:ext uri="{FF2B5EF4-FFF2-40B4-BE49-F238E27FC236}">
                <a16:creationId xmlns:a16="http://schemas.microsoft.com/office/drawing/2014/main" id="{A10BCEF0-052F-BF99-39E9-5BA577F00F74}"/>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l="23384" t="14322" r="25004" b="16405"/>
          <a:stretch>
            <a:fillRect/>
          </a:stretch>
        </p:blipFill>
        <p:spPr bwMode="auto">
          <a:xfrm>
            <a:off x="5388428" y="4704431"/>
            <a:ext cx="441441" cy="311537"/>
          </a:xfrm>
          <a:prstGeom prst="rect">
            <a:avLst/>
          </a:prstGeom>
          <a:ln>
            <a:noFill/>
          </a:ln>
        </p:spPr>
        <p:style>
          <a:lnRef idx="2">
            <a:schemeClr val="dk1"/>
          </a:lnRef>
          <a:fillRef idx="1">
            <a:schemeClr val="lt1"/>
          </a:fillRef>
          <a:effectRef idx="0">
            <a:schemeClr val="dk1"/>
          </a:effectRef>
          <a:fontRef idx="minor">
            <a:schemeClr val="dk1"/>
          </a:fontRef>
        </p:style>
      </p:pic>
      <p:pic>
        <p:nvPicPr>
          <p:cNvPr id="31" name="図 30" descr="挿絵, 抽象 が含まれている画像&#10;&#10;AI 生成コンテンツは誤りを含む可能性があります。">
            <a:extLst>
              <a:ext uri="{FF2B5EF4-FFF2-40B4-BE49-F238E27FC236}">
                <a16:creationId xmlns:a16="http://schemas.microsoft.com/office/drawing/2014/main" id="{172999E0-2479-CF51-1EFC-C4CA794CEC4E}"/>
              </a:ext>
            </a:extLst>
          </p:cNvPr>
          <p:cNvPicPr>
            <a:picLocks noChangeAspect="1"/>
          </p:cNvPicPr>
          <p:nvPr/>
        </p:nvPicPr>
        <p:blipFill>
          <a:blip r:embed="rId5"/>
          <a:stretch>
            <a:fillRect/>
          </a:stretch>
        </p:blipFill>
        <p:spPr>
          <a:xfrm>
            <a:off x="5864283" y="4761290"/>
            <a:ext cx="682242" cy="197819"/>
          </a:xfrm>
          <a:prstGeom prst="rect">
            <a:avLst/>
          </a:prstGeom>
        </p:spPr>
      </p:pic>
      <p:pic>
        <p:nvPicPr>
          <p:cNvPr id="33" name="図 32" descr="黒い背景に白い文字がある&#10;&#10;AI 生成コンテンツは誤りを含む可能性があります。">
            <a:extLst>
              <a:ext uri="{FF2B5EF4-FFF2-40B4-BE49-F238E27FC236}">
                <a16:creationId xmlns:a16="http://schemas.microsoft.com/office/drawing/2014/main" id="{474C051E-B596-1651-549B-F1BDC6EA898F}"/>
              </a:ext>
            </a:extLst>
          </p:cNvPr>
          <p:cNvPicPr>
            <a:picLocks noChangeAspect="1"/>
          </p:cNvPicPr>
          <p:nvPr/>
        </p:nvPicPr>
        <p:blipFill>
          <a:blip r:embed="rId6"/>
          <a:stretch>
            <a:fillRect/>
          </a:stretch>
        </p:blipFill>
        <p:spPr>
          <a:xfrm>
            <a:off x="6580939" y="4739795"/>
            <a:ext cx="1225076" cy="219314"/>
          </a:xfrm>
          <a:prstGeom prst="rect">
            <a:avLst/>
          </a:prstGeom>
        </p:spPr>
      </p:pic>
      <p:sp>
        <p:nvSpPr>
          <p:cNvPr id="35" name="テキスト ボックス 34">
            <a:extLst>
              <a:ext uri="{FF2B5EF4-FFF2-40B4-BE49-F238E27FC236}">
                <a16:creationId xmlns:a16="http://schemas.microsoft.com/office/drawing/2014/main" id="{A53AB6D9-AEB5-ECF4-8C73-A7EFC4F05EF1}"/>
              </a:ext>
            </a:extLst>
          </p:cNvPr>
          <p:cNvSpPr txBox="1"/>
          <p:nvPr/>
        </p:nvSpPr>
        <p:spPr>
          <a:xfrm>
            <a:off x="4866072" y="2288778"/>
            <a:ext cx="4459715" cy="246221"/>
          </a:xfrm>
          <a:prstGeom prst="rect">
            <a:avLst/>
          </a:prstGeom>
          <a:noFill/>
        </p:spPr>
        <p:txBody>
          <a:bodyPr wrap="square">
            <a:spAutoFit/>
          </a:bodyPr>
          <a:lstStyle/>
          <a:p>
            <a:pPr algn="ctr"/>
            <a:r>
              <a:rPr lang="ja-JP" altLang="en-US" sz="1000" b="1" dirty="0">
                <a:latin typeface="メイリオ" panose="020B0604030504040204" pitchFamily="50" charset="-128"/>
                <a:ea typeface="メイリオ" panose="020B0604030504040204" pitchFamily="50" charset="-128"/>
              </a:rPr>
              <a:t>システム管理会社・ツール運用会社・デザイン会社</a:t>
            </a:r>
            <a:endParaRPr kumimoji="1" lang="ja-JP" altLang="en-US" sz="1000" b="1" dirty="0">
              <a:solidFill>
                <a:schemeClr val="tx1"/>
              </a:solidFill>
              <a:latin typeface="メイリオ" panose="020B0604030504040204" pitchFamily="50" charset="-128"/>
              <a:ea typeface="メイリオ" panose="020B0604030504040204" pitchFamily="50" charset="-128"/>
            </a:endParaRPr>
          </a:p>
        </p:txBody>
      </p:sp>
      <p:pic>
        <p:nvPicPr>
          <p:cNvPr id="1030" name="Picture 6" descr="お知らせ一覧｜LINEマーケティングや販促・顧客管理ならLiny">
            <a:extLst>
              <a:ext uri="{FF2B5EF4-FFF2-40B4-BE49-F238E27FC236}">
                <a16:creationId xmlns:a16="http://schemas.microsoft.com/office/drawing/2014/main" id="{A11EE7F3-23DE-A03C-6953-9FC6DABEDA85}"/>
              </a:ext>
            </a:extLst>
          </p:cNvPr>
          <p:cNvPicPr>
            <a:picLocks noChangeAspect="1" noChangeArrowheads="1"/>
          </p:cNvPicPr>
          <p:nvPr/>
        </p:nvPicPr>
        <p:blipFill rotWithShape="1">
          <a:blip r:embed="rId7" cstate="print">
            <a:extLst>
              <a:ext uri="{28A0092B-C50C-407E-A947-70E740481C1C}">
                <a14:useLocalDpi xmlns:a14="http://schemas.microsoft.com/office/drawing/2010/main" val="0"/>
              </a:ext>
            </a:extLst>
          </a:blip>
          <a:srcRect l="21448" t="26478" r="21237" b="27778"/>
          <a:stretch>
            <a:fillRect/>
          </a:stretch>
        </p:blipFill>
        <p:spPr bwMode="auto">
          <a:xfrm>
            <a:off x="3335235" y="2294514"/>
            <a:ext cx="571287" cy="304207"/>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descr="Shopify Japan 株式会社のプレスリリース｜PR TIMES">
            <a:extLst>
              <a:ext uri="{FF2B5EF4-FFF2-40B4-BE49-F238E27FC236}">
                <a16:creationId xmlns:a16="http://schemas.microsoft.com/office/drawing/2014/main" id="{1BF2471A-3689-B39E-D841-0A5CEE63B028}"/>
              </a:ext>
            </a:extLst>
          </p:cNvPr>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7938796" y="4740053"/>
            <a:ext cx="799200" cy="228571"/>
          </a:xfrm>
          <a:prstGeom prst="rect">
            <a:avLst/>
          </a:prstGeom>
          <a:noFill/>
          <a:extLst>
            <a:ext uri="{909E8E84-426E-40DD-AFC4-6F175D3DCCD1}">
              <a14:hiddenFill xmlns:a14="http://schemas.microsoft.com/office/drawing/2010/main">
                <a:solidFill>
                  <a:srgbClr val="FFFFFF"/>
                </a:solidFill>
              </a14:hiddenFill>
            </a:ext>
          </a:extLst>
        </p:spPr>
      </p:pic>
      <p:sp>
        <p:nvSpPr>
          <p:cNvPr id="36" name="テキスト ボックス 35">
            <a:extLst>
              <a:ext uri="{FF2B5EF4-FFF2-40B4-BE49-F238E27FC236}">
                <a16:creationId xmlns:a16="http://schemas.microsoft.com/office/drawing/2014/main" id="{EB20A091-C336-4BDE-54E9-33ECF6B1EC77}"/>
              </a:ext>
            </a:extLst>
          </p:cNvPr>
          <p:cNvSpPr txBox="1"/>
          <p:nvPr/>
        </p:nvSpPr>
        <p:spPr>
          <a:xfrm>
            <a:off x="362665" y="4754506"/>
            <a:ext cx="4459715" cy="246221"/>
          </a:xfrm>
          <a:prstGeom prst="rect">
            <a:avLst/>
          </a:prstGeom>
          <a:noFill/>
        </p:spPr>
        <p:txBody>
          <a:bodyPr wrap="square">
            <a:spAutoFit/>
          </a:bodyPr>
          <a:lstStyle/>
          <a:p>
            <a:pPr algn="ctr"/>
            <a:r>
              <a:rPr lang="en-US" altLang="ja-JP" sz="1000" b="1" dirty="0">
                <a:latin typeface="メイリオ" panose="020B0604030504040204" pitchFamily="50" charset="-128"/>
                <a:ea typeface="メイリオ" panose="020B0604030504040204" pitchFamily="50" charset="-128"/>
              </a:rPr>
              <a:t>LINE</a:t>
            </a:r>
            <a:r>
              <a:rPr lang="ja-JP" altLang="en-US" sz="1000" b="1" dirty="0">
                <a:latin typeface="メイリオ" panose="020B0604030504040204" pitchFamily="50" charset="-128"/>
                <a:ea typeface="メイリオ" panose="020B0604030504040204" pitchFamily="50" charset="-128"/>
              </a:rPr>
              <a:t>ヤフーのパッケージ商品などの拡販</a:t>
            </a:r>
            <a:endParaRPr kumimoji="1" lang="ja-JP" altLang="en-US" sz="1000" b="1" dirty="0">
              <a:solidFill>
                <a:schemeClr val="tx1"/>
              </a:solidFill>
              <a:latin typeface="メイリオ" panose="020B0604030504040204" pitchFamily="50" charset="-128"/>
              <a:ea typeface="メイリオ" panose="020B0604030504040204" pitchFamily="50" charset="-128"/>
            </a:endParaRPr>
          </a:p>
        </p:txBody>
      </p:sp>
      <p:sp>
        <p:nvSpPr>
          <p:cNvPr id="6" name="テキスト ボックス 5">
            <a:extLst>
              <a:ext uri="{FF2B5EF4-FFF2-40B4-BE49-F238E27FC236}">
                <a16:creationId xmlns:a16="http://schemas.microsoft.com/office/drawing/2014/main" id="{63CD4067-EE53-3C90-C918-C15397527FBF}"/>
              </a:ext>
            </a:extLst>
          </p:cNvPr>
          <p:cNvSpPr txBox="1"/>
          <p:nvPr/>
        </p:nvSpPr>
        <p:spPr>
          <a:xfrm>
            <a:off x="459470" y="2738645"/>
            <a:ext cx="4311647" cy="553998"/>
          </a:xfrm>
          <a:prstGeom prst="rect">
            <a:avLst/>
          </a:prstGeom>
          <a:noFill/>
        </p:spPr>
        <p:txBody>
          <a:bodyPr wrap="square">
            <a:spAutoFit/>
          </a:bodyPr>
          <a:lstStyle/>
          <a:p>
            <a:pPr algn="ctr"/>
            <a:r>
              <a:rPr kumimoji="1" lang="ja-JP" altLang="en-US" sz="1000" dirty="0">
                <a:solidFill>
                  <a:schemeClr val="tx1">
                    <a:lumMod val="50000"/>
                    <a:lumOff val="50000"/>
                  </a:schemeClr>
                </a:solidFill>
                <a:latin typeface="メイリオ" panose="020B0604030504040204" pitchFamily="50" charset="-128"/>
                <a:ea typeface="メイリオ" panose="020B0604030504040204" pitchFamily="50" charset="-128"/>
              </a:rPr>
              <a:t>・ツールによって、適用される機能自体に差分がある。</a:t>
            </a:r>
            <a:endParaRPr kumimoji="1" lang="en-US" altLang="ja-JP" sz="1000" dirty="0">
              <a:solidFill>
                <a:schemeClr val="tx1">
                  <a:lumMod val="50000"/>
                  <a:lumOff val="50000"/>
                </a:schemeClr>
              </a:solidFill>
              <a:latin typeface="メイリオ" panose="020B0604030504040204" pitchFamily="50" charset="-128"/>
              <a:ea typeface="メイリオ" panose="020B0604030504040204" pitchFamily="50" charset="-128"/>
            </a:endParaRPr>
          </a:p>
          <a:p>
            <a:pPr algn="ctr"/>
            <a:r>
              <a:rPr lang="ja-JP" altLang="en-US" sz="1000" dirty="0">
                <a:solidFill>
                  <a:schemeClr val="tx1">
                    <a:lumMod val="50000"/>
                    <a:lumOff val="50000"/>
                  </a:schemeClr>
                </a:solidFill>
                <a:latin typeface="メイリオ" panose="020B0604030504040204" pitchFamily="50" charset="-128"/>
                <a:ea typeface="メイリオ" panose="020B0604030504040204" pitchFamily="50" charset="-128"/>
              </a:rPr>
              <a:t>・ </a:t>
            </a:r>
            <a:r>
              <a:rPr kumimoji="1" lang="en-US" altLang="ja-JP" sz="1000" dirty="0">
                <a:solidFill>
                  <a:schemeClr val="tx1">
                    <a:lumMod val="50000"/>
                    <a:lumOff val="50000"/>
                  </a:schemeClr>
                </a:solidFill>
                <a:latin typeface="メイリオ" panose="020B0604030504040204" pitchFamily="50" charset="-128"/>
                <a:ea typeface="メイリオ" panose="020B0604030504040204" pitchFamily="50" charset="-128"/>
              </a:rPr>
              <a:t>API</a:t>
            </a:r>
            <a:r>
              <a:rPr kumimoji="1" lang="ja-JP" altLang="en-US" sz="1000" dirty="0">
                <a:solidFill>
                  <a:schemeClr val="tx1">
                    <a:lumMod val="50000"/>
                    <a:lumOff val="50000"/>
                  </a:schemeClr>
                </a:solidFill>
                <a:latin typeface="メイリオ" panose="020B0604030504040204" pitchFamily="50" charset="-128"/>
                <a:ea typeface="メイリオ" panose="020B0604030504040204" pitchFamily="50" charset="-128"/>
              </a:rPr>
              <a:t>ツールが</a:t>
            </a:r>
            <a:r>
              <a:rPr kumimoji="1" lang="en-US" altLang="ja-JP" sz="1000" dirty="0">
                <a:solidFill>
                  <a:schemeClr val="tx1">
                    <a:lumMod val="50000"/>
                    <a:lumOff val="50000"/>
                  </a:schemeClr>
                </a:solidFill>
                <a:latin typeface="メイリオ" panose="020B0604030504040204" pitchFamily="50" charset="-128"/>
                <a:ea typeface="メイリオ" panose="020B0604030504040204" pitchFamily="50" charset="-128"/>
              </a:rPr>
              <a:t>1</a:t>
            </a:r>
            <a:r>
              <a:rPr kumimoji="1" lang="ja-JP" altLang="en-US" sz="1000" dirty="0">
                <a:solidFill>
                  <a:schemeClr val="tx1">
                    <a:lumMod val="50000"/>
                    <a:lumOff val="50000"/>
                  </a:schemeClr>
                </a:solidFill>
                <a:latin typeface="メイリオ" panose="020B0604030504040204" pitchFamily="50" charset="-128"/>
                <a:ea typeface="メイリオ" panose="020B0604030504040204" pitchFamily="50" charset="-128"/>
              </a:rPr>
              <a:t>社のみの独占となり、切替えが難しい。</a:t>
            </a:r>
            <a:endParaRPr kumimoji="1" lang="en-US" altLang="ja-JP" sz="1000" dirty="0">
              <a:solidFill>
                <a:schemeClr val="tx1">
                  <a:lumMod val="50000"/>
                  <a:lumOff val="50000"/>
                </a:schemeClr>
              </a:solidFill>
              <a:latin typeface="メイリオ" panose="020B0604030504040204" pitchFamily="50" charset="-128"/>
              <a:ea typeface="メイリオ" panose="020B0604030504040204" pitchFamily="50" charset="-128"/>
            </a:endParaRPr>
          </a:p>
          <a:p>
            <a:pPr algn="ctr"/>
            <a:r>
              <a:rPr lang="ja-JP" altLang="en-US" sz="1000" dirty="0">
                <a:solidFill>
                  <a:schemeClr val="tx1">
                    <a:lumMod val="50000"/>
                    <a:lumOff val="50000"/>
                  </a:schemeClr>
                </a:solidFill>
                <a:latin typeface="メイリオ" panose="020B0604030504040204" pitchFamily="50" charset="-128"/>
                <a:ea typeface="メイリオ" panose="020B0604030504040204" pitchFamily="50" charset="-128"/>
              </a:rPr>
              <a:t>・コンサルも依頼の場合に費用が大きくなるリスク。</a:t>
            </a:r>
            <a:endParaRPr kumimoji="1" lang="ja-JP" altLang="en-US" sz="1000" dirty="0">
              <a:solidFill>
                <a:schemeClr val="tx1">
                  <a:lumMod val="50000"/>
                  <a:lumOff val="50000"/>
                </a:schemeClr>
              </a:solidFill>
              <a:latin typeface="メイリオ" panose="020B0604030504040204" pitchFamily="50" charset="-128"/>
              <a:ea typeface="メイリオ" panose="020B0604030504040204" pitchFamily="50" charset="-128"/>
            </a:endParaRPr>
          </a:p>
        </p:txBody>
      </p:sp>
      <p:sp>
        <p:nvSpPr>
          <p:cNvPr id="7" name="テキスト ボックス 6">
            <a:extLst>
              <a:ext uri="{FF2B5EF4-FFF2-40B4-BE49-F238E27FC236}">
                <a16:creationId xmlns:a16="http://schemas.microsoft.com/office/drawing/2014/main" id="{EBA4D737-3559-5FE1-B418-3302CBFCB9A9}"/>
              </a:ext>
            </a:extLst>
          </p:cNvPr>
          <p:cNvSpPr txBox="1"/>
          <p:nvPr/>
        </p:nvSpPr>
        <p:spPr>
          <a:xfrm>
            <a:off x="4928055" y="2733229"/>
            <a:ext cx="4311647" cy="553998"/>
          </a:xfrm>
          <a:prstGeom prst="rect">
            <a:avLst/>
          </a:prstGeom>
          <a:noFill/>
        </p:spPr>
        <p:txBody>
          <a:bodyPr wrap="square">
            <a:spAutoFit/>
          </a:bodyPr>
          <a:lstStyle/>
          <a:p>
            <a:pPr algn="ctr"/>
            <a:r>
              <a:rPr lang="ja-JP" altLang="en-US" sz="1000" dirty="0">
                <a:solidFill>
                  <a:schemeClr val="tx1">
                    <a:lumMod val="50000"/>
                    <a:lumOff val="50000"/>
                  </a:schemeClr>
                </a:solidFill>
                <a:latin typeface="メイリオ" panose="020B0604030504040204" pitchFamily="50" charset="-128"/>
                <a:ea typeface="メイリオ" panose="020B0604030504040204" pitchFamily="50" charset="-128"/>
              </a:rPr>
              <a:t>・ツール外注により費用が大きくなる可能性がある。</a:t>
            </a:r>
            <a:endParaRPr lang="en-US" altLang="ja-JP" sz="1000" dirty="0">
              <a:solidFill>
                <a:schemeClr val="tx1">
                  <a:lumMod val="50000"/>
                  <a:lumOff val="50000"/>
                </a:schemeClr>
              </a:solidFill>
              <a:latin typeface="メイリオ" panose="020B0604030504040204" pitchFamily="50" charset="-128"/>
              <a:ea typeface="メイリオ" panose="020B0604030504040204" pitchFamily="50" charset="-128"/>
            </a:endParaRPr>
          </a:p>
          <a:p>
            <a:pPr algn="ctr"/>
            <a:r>
              <a:rPr lang="ja-JP" altLang="en-US" sz="1000" dirty="0">
                <a:solidFill>
                  <a:schemeClr val="tx1">
                    <a:lumMod val="50000"/>
                    <a:lumOff val="50000"/>
                  </a:schemeClr>
                </a:solidFill>
                <a:latin typeface="メイリオ" panose="020B0604030504040204" pitchFamily="50" charset="-128"/>
                <a:ea typeface="メイリオ" panose="020B0604030504040204" pitchFamily="50" charset="-128"/>
              </a:rPr>
              <a:t>・</a:t>
            </a:r>
            <a:r>
              <a:rPr lang="en-US" altLang="ja-JP" sz="1000" dirty="0">
                <a:solidFill>
                  <a:schemeClr val="tx1">
                    <a:lumMod val="50000"/>
                    <a:lumOff val="50000"/>
                  </a:schemeClr>
                </a:solidFill>
                <a:latin typeface="メイリオ" panose="020B0604030504040204" pitchFamily="50" charset="-128"/>
                <a:ea typeface="メイリオ" panose="020B0604030504040204" pitchFamily="50" charset="-128"/>
              </a:rPr>
              <a:t>OA</a:t>
            </a:r>
            <a:r>
              <a:rPr lang="ja-JP" altLang="en-US" sz="1000" dirty="0">
                <a:solidFill>
                  <a:schemeClr val="tx1">
                    <a:lumMod val="50000"/>
                    <a:lumOff val="50000"/>
                  </a:schemeClr>
                </a:solidFill>
                <a:latin typeface="メイリオ" panose="020B0604030504040204" pitchFamily="50" charset="-128"/>
                <a:ea typeface="メイリオ" panose="020B0604030504040204" pitchFamily="50" charset="-128"/>
              </a:rPr>
              <a:t>運用自体に対する知見が少ない。</a:t>
            </a:r>
            <a:endParaRPr lang="en-US" altLang="ja-JP" sz="1000" dirty="0">
              <a:solidFill>
                <a:schemeClr val="tx1">
                  <a:lumMod val="50000"/>
                  <a:lumOff val="50000"/>
                </a:schemeClr>
              </a:solidFill>
              <a:latin typeface="メイリオ" panose="020B0604030504040204" pitchFamily="50" charset="-128"/>
              <a:ea typeface="メイリオ" panose="020B0604030504040204" pitchFamily="50" charset="-128"/>
            </a:endParaRPr>
          </a:p>
          <a:p>
            <a:pPr algn="ctr"/>
            <a:r>
              <a:rPr lang="ja-JP" altLang="en-US" sz="1000" dirty="0">
                <a:solidFill>
                  <a:schemeClr val="tx1">
                    <a:lumMod val="50000"/>
                    <a:lumOff val="50000"/>
                  </a:schemeClr>
                </a:solidFill>
                <a:latin typeface="メイリオ" panose="020B0604030504040204" pitchFamily="50" charset="-128"/>
                <a:ea typeface="メイリオ" panose="020B0604030504040204" pitchFamily="50" charset="-128"/>
              </a:rPr>
              <a:t>・一部利用できない機能が存在する（</a:t>
            </a:r>
            <a:r>
              <a:rPr lang="en-US" altLang="ja-JP" sz="1000" dirty="0">
                <a:solidFill>
                  <a:schemeClr val="tx1">
                    <a:lumMod val="50000"/>
                    <a:lumOff val="50000"/>
                  </a:schemeClr>
                </a:solidFill>
                <a:latin typeface="メイリオ" panose="020B0604030504040204" pitchFamily="50" charset="-128"/>
                <a:ea typeface="メイリオ" panose="020B0604030504040204" pitchFamily="50" charset="-128"/>
              </a:rPr>
              <a:t>Option API</a:t>
            </a:r>
            <a:r>
              <a:rPr lang="ja-JP" altLang="en-US" sz="1000" dirty="0">
                <a:solidFill>
                  <a:schemeClr val="tx1">
                    <a:lumMod val="50000"/>
                    <a:lumOff val="50000"/>
                  </a:schemeClr>
                </a:solidFill>
                <a:latin typeface="メイリオ" panose="020B0604030504040204" pitchFamily="50" charset="-128"/>
                <a:ea typeface="メイリオ" panose="020B0604030504040204" pitchFamily="50" charset="-128"/>
              </a:rPr>
              <a:t>他）。</a:t>
            </a:r>
          </a:p>
        </p:txBody>
      </p:sp>
      <p:sp>
        <p:nvSpPr>
          <p:cNvPr id="8" name="テキスト ボックス 7">
            <a:extLst>
              <a:ext uri="{FF2B5EF4-FFF2-40B4-BE49-F238E27FC236}">
                <a16:creationId xmlns:a16="http://schemas.microsoft.com/office/drawing/2014/main" id="{C16446F7-FB27-00FA-5115-4A5251550BE6}"/>
              </a:ext>
            </a:extLst>
          </p:cNvPr>
          <p:cNvSpPr txBox="1"/>
          <p:nvPr/>
        </p:nvSpPr>
        <p:spPr>
          <a:xfrm>
            <a:off x="461608" y="5199061"/>
            <a:ext cx="4311647" cy="553998"/>
          </a:xfrm>
          <a:prstGeom prst="rect">
            <a:avLst/>
          </a:prstGeom>
          <a:noFill/>
        </p:spPr>
        <p:txBody>
          <a:bodyPr wrap="square">
            <a:spAutoFit/>
          </a:bodyPr>
          <a:lstStyle/>
          <a:p>
            <a:pPr algn="ctr"/>
            <a:r>
              <a:rPr lang="ja-JP" altLang="en-US" sz="1000" dirty="0">
                <a:solidFill>
                  <a:schemeClr val="tx1">
                    <a:lumMod val="50000"/>
                    <a:lumOff val="50000"/>
                  </a:schemeClr>
                </a:solidFill>
                <a:latin typeface="メイリオ" panose="020B0604030504040204" pitchFamily="50" charset="-128"/>
                <a:ea typeface="メイリオ" panose="020B0604030504040204" pitchFamily="50" charset="-128"/>
              </a:rPr>
              <a:t>・</a:t>
            </a:r>
            <a:r>
              <a:rPr lang="en-US" altLang="ja-JP" sz="1000" dirty="0">
                <a:solidFill>
                  <a:schemeClr val="tx1">
                    <a:lumMod val="50000"/>
                    <a:lumOff val="50000"/>
                  </a:schemeClr>
                </a:solidFill>
                <a:latin typeface="メイリオ" panose="020B0604030504040204" pitchFamily="50" charset="-128"/>
                <a:ea typeface="メイリオ" panose="020B0604030504040204" pitchFamily="50" charset="-128"/>
              </a:rPr>
              <a:t>OA</a:t>
            </a:r>
            <a:r>
              <a:rPr lang="ja-JP" altLang="en-US" sz="1000" dirty="0">
                <a:solidFill>
                  <a:schemeClr val="tx1">
                    <a:lumMod val="50000"/>
                    <a:lumOff val="50000"/>
                  </a:schemeClr>
                </a:solidFill>
                <a:latin typeface="メイリオ" panose="020B0604030504040204" pitchFamily="50" charset="-128"/>
                <a:ea typeface="メイリオ" panose="020B0604030504040204" pitchFamily="50" charset="-128"/>
              </a:rPr>
              <a:t>運用部隊を備えていない可能性がある。</a:t>
            </a:r>
            <a:endParaRPr lang="en-US" altLang="ja-JP" sz="1000" dirty="0">
              <a:solidFill>
                <a:schemeClr val="tx1">
                  <a:lumMod val="50000"/>
                  <a:lumOff val="50000"/>
                </a:schemeClr>
              </a:solidFill>
              <a:latin typeface="メイリオ" panose="020B0604030504040204" pitchFamily="50" charset="-128"/>
              <a:ea typeface="メイリオ" panose="020B0604030504040204" pitchFamily="50" charset="-128"/>
            </a:endParaRPr>
          </a:p>
          <a:p>
            <a:pPr algn="ctr"/>
            <a:r>
              <a:rPr lang="ja-JP" altLang="en-US" sz="1000" dirty="0">
                <a:solidFill>
                  <a:schemeClr val="tx1">
                    <a:lumMod val="50000"/>
                    <a:lumOff val="50000"/>
                  </a:schemeClr>
                </a:solidFill>
                <a:latin typeface="メイリオ" panose="020B0604030504040204" pitchFamily="50" charset="-128"/>
                <a:ea typeface="メイリオ" panose="020B0604030504040204" pitchFamily="50" charset="-128"/>
              </a:rPr>
              <a:t>・パッケージ売りが中心で非アクティブユーザーが増加。</a:t>
            </a:r>
            <a:endParaRPr lang="en-US" altLang="ja-JP" sz="1000" dirty="0">
              <a:solidFill>
                <a:schemeClr val="tx1">
                  <a:lumMod val="50000"/>
                  <a:lumOff val="50000"/>
                </a:schemeClr>
              </a:solidFill>
              <a:latin typeface="メイリオ" panose="020B0604030504040204" pitchFamily="50" charset="-128"/>
              <a:ea typeface="メイリオ" panose="020B0604030504040204" pitchFamily="50" charset="-128"/>
            </a:endParaRPr>
          </a:p>
          <a:p>
            <a:pPr algn="ctr"/>
            <a:r>
              <a:rPr lang="ja-JP" altLang="en-US" sz="1000" dirty="0">
                <a:solidFill>
                  <a:schemeClr val="tx1">
                    <a:lumMod val="50000"/>
                    <a:lumOff val="50000"/>
                  </a:schemeClr>
                </a:solidFill>
                <a:latin typeface="メイリオ" panose="020B0604030504040204" pitchFamily="50" charset="-128"/>
                <a:ea typeface="メイリオ" panose="020B0604030504040204" pitchFamily="50" charset="-128"/>
              </a:rPr>
              <a:t>・コンサルも依頼の場合に費用が大きくなるリスク。</a:t>
            </a:r>
          </a:p>
        </p:txBody>
      </p:sp>
      <p:sp>
        <p:nvSpPr>
          <p:cNvPr id="9" name="テキスト ボックス 8">
            <a:extLst>
              <a:ext uri="{FF2B5EF4-FFF2-40B4-BE49-F238E27FC236}">
                <a16:creationId xmlns:a16="http://schemas.microsoft.com/office/drawing/2014/main" id="{19EE3868-DB7E-927E-8B36-00939FCE4211}"/>
              </a:ext>
            </a:extLst>
          </p:cNvPr>
          <p:cNvSpPr txBox="1"/>
          <p:nvPr/>
        </p:nvSpPr>
        <p:spPr>
          <a:xfrm>
            <a:off x="4930193" y="5316755"/>
            <a:ext cx="4311647" cy="400110"/>
          </a:xfrm>
          <a:prstGeom prst="rect">
            <a:avLst/>
          </a:prstGeom>
          <a:noFill/>
        </p:spPr>
        <p:txBody>
          <a:bodyPr wrap="square" anchor="ctr">
            <a:spAutoFit/>
          </a:bodyPr>
          <a:lstStyle/>
          <a:p>
            <a:pPr algn="ctr"/>
            <a:r>
              <a:rPr lang="ja-JP" altLang="en-US" sz="1000" dirty="0">
                <a:solidFill>
                  <a:schemeClr val="tx1">
                    <a:lumMod val="50000"/>
                    <a:lumOff val="50000"/>
                  </a:schemeClr>
                </a:solidFill>
                <a:latin typeface="メイリオ" panose="020B0604030504040204" pitchFamily="50" charset="-128"/>
                <a:ea typeface="メイリオ" panose="020B0604030504040204" pitchFamily="50" charset="-128"/>
              </a:rPr>
              <a:t>・</a:t>
            </a:r>
            <a:r>
              <a:rPr lang="en-US" altLang="ja-JP" sz="1000" dirty="0">
                <a:solidFill>
                  <a:schemeClr val="tx1">
                    <a:lumMod val="50000"/>
                    <a:lumOff val="50000"/>
                  </a:schemeClr>
                </a:solidFill>
                <a:latin typeface="メイリオ" panose="020B0604030504040204" pitchFamily="50" charset="-128"/>
                <a:ea typeface="メイリオ" panose="020B0604030504040204" pitchFamily="50" charset="-128"/>
              </a:rPr>
              <a:t>CRM</a:t>
            </a:r>
            <a:r>
              <a:rPr lang="ja-JP" altLang="en-US" sz="1000" dirty="0">
                <a:solidFill>
                  <a:schemeClr val="tx1">
                    <a:lumMod val="50000"/>
                    <a:lumOff val="50000"/>
                  </a:schemeClr>
                </a:solidFill>
                <a:latin typeface="メイリオ" panose="020B0604030504040204" pitchFamily="50" charset="-128"/>
                <a:ea typeface="メイリオ" panose="020B0604030504040204" pitchFamily="50" charset="-128"/>
              </a:rPr>
              <a:t>側の</a:t>
            </a:r>
            <a:r>
              <a:rPr lang="en-US" altLang="ja-JP" sz="1000" dirty="0">
                <a:solidFill>
                  <a:schemeClr val="tx1">
                    <a:lumMod val="50000"/>
                    <a:lumOff val="50000"/>
                  </a:schemeClr>
                </a:solidFill>
                <a:latin typeface="メイリオ" panose="020B0604030504040204" pitchFamily="50" charset="-128"/>
                <a:ea typeface="メイリオ" panose="020B0604030504040204" pitchFamily="50" charset="-128"/>
              </a:rPr>
              <a:t>API</a:t>
            </a:r>
            <a:r>
              <a:rPr lang="ja-JP" altLang="en-US" sz="1000" dirty="0">
                <a:solidFill>
                  <a:schemeClr val="tx1">
                    <a:lumMod val="50000"/>
                    <a:lumOff val="50000"/>
                  </a:schemeClr>
                </a:solidFill>
                <a:latin typeface="メイリオ" panose="020B0604030504040204" pitchFamily="50" charset="-128"/>
                <a:ea typeface="メイリオ" panose="020B0604030504040204" pitchFamily="50" charset="-128"/>
              </a:rPr>
              <a:t>利用時に通常より高単価になりやすい。</a:t>
            </a:r>
            <a:endParaRPr lang="en-US" altLang="ja-JP" sz="1000" dirty="0">
              <a:solidFill>
                <a:schemeClr val="tx1">
                  <a:lumMod val="50000"/>
                  <a:lumOff val="50000"/>
                </a:schemeClr>
              </a:solidFill>
              <a:latin typeface="メイリオ" panose="020B0604030504040204" pitchFamily="50" charset="-128"/>
              <a:ea typeface="メイリオ" panose="020B0604030504040204" pitchFamily="50" charset="-128"/>
            </a:endParaRPr>
          </a:p>
          <a:p>
            <a:pPr algn="ctr"/>
            <a:r>
              <a:rPr lang="ja-JP" altLang="en-US" sz="1000" dirty="0">
                <a:solidFill>
                  <a:schemeClr val="tx1">
                    <a:lumMod val="50000"/>
                    <a:lumOff val="50000"/>
                  </a:schemeClr>
                </a:solidFill>
                <a:latin typeface="メイリオ" panose="020B0604030504040204" pitchFamily="50" charset="-128"/>
                <a:ea typeface="メイリオ" panose="020B0604030504040204" pitchFamily="50" charset="-128"/>
              </a:rPr>
              <a:t>・</a:t>
            </a:r>
            <a:r>
              <a:rPr lang="en-US" altLang="ja-JP" sz="1000" dirty="0">
                <a:solidFill>
                  <a:schemeClr val="tx1">
                    <a:lumMod val="50000"/>
                    <a:lumOff val="50000"/>
                  </a:schemeClr>
                </a:solidFill>
                <a:latin typeface="メイリオ" panose="020B0604030504040204" pitchFamily="50" charset="-128"/>
                <a:ea typeface="メイリオ" panose="020B0604030504040204" pitchFamily="50" charset="-128"/>
              </a:rPr>
              <a:t>OA</a:t>
            </a:r>
            <a:r>
              <a:rPr lang="ja-JP" altLang="en-US" sz="1000" dirty="0">
                <a:solidFill>
                  <a:schemeClr val="tx1">
                    <a:lumMod val="50000"/>
                    <a:lumOff val="50000"/>
                  </a:schemeClr>
                </a:solidFill>
                <a:latin typeface="メイリオ" panose="020B0604030504040204" pitchFamily="50" charset="-128"/>
                <a:ea typeface="メイリオ" panose="020B0604030504040204" pitchFamily="50" charset="-128"/>
              </a:rPr>
              <a:t>単体での運用知見の乏しさ。</a:t>
            </a:r>
            <a:endParaRPr lang="en-US" altLang="ja-JP" sz="1000" dirty="0">
              <a:solidFill>
                <a:schemeClr val="tx1">
                  <a:lumMod val="50000"/>
                  <a:lumOff val="50000"/>
                </a:schemeClr>
              </a:solidFill>
              <a:latin typeface="メイリオ" panose="020B0604030504040204" pitchFamily="50" charset="-128"/>
              <a:ea typeface="メイリオ" panose="020B0604030504040204" pitchFamily="50" charset="-128"/>
            </a:endParaRPr>
          </a:p>
        </p:txBody>
      </p:sp>
      <p:sp>
        <p:nvSpPr>
          <p:cNvPr id="17" name="正方形/長方形 16">
            <a:extLst>
              <a:ext uri="{FF2B5EF4-FFF2-40B4-BE49-F238E27FC236}">
                <a16:creationId xmlns:a16="http://schemas.microsoft.com/office/drawing/2014/main" id="{189FFC9F-CF2D-25AD-00C7-208E47BC4C66}"/>
              </a:ext>
            </a:extLst>
          </p:cNvPr>
          <p:cNvSpPr/>
          <p:nvPr/>
        </p:nvSpPr>
        <p:spPr>
          <a:xfrm>
            <a:off x="3361317" y="1908015"/>
            <a:ext cx="1355280" cy="243944"/>
          </a:xfrm>
          <a:prstGeom prst="rect">
            <a:avLst/>
          </a:prstGeom>
          <a:solidFill>
            <a:schemeClr val="tx2"/>
          </a:solidFill>
          <a:ln w="63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dirty="0">
                <a:solidFill>
                  <a:schemeClr val="bg1"/>
                </a:solidFill>
                <a:latin typeface="メイリオ" panose="020B0604030504040204" pitchFamily="50" charset="-128"/>
                <a:ea typeface="メイリオ" panose="020B0604030504040204" pitchFamily="50" charset="-128"/>
              </a:rPr>
              <a:t>自動化・効率化</a:t>
            </a:r>
          </a:p>
        </p:txBody>
      </p:sp>
      <p:sp>
        <p:nvSpPr>
          <p:cNvPr id="18" name="正方形/長方形 17">
            <a:extLst>
              <a:ext uri="{FF2B5EF4-FFF2-40B4-BE49-F238E27FC236}">
                <a16:creationId xmlns:a16="http://schemas.microsoft.com/office/drawing/2014/main" id="{122AB27F-120A-6587-2E9E-7D2F5F3B4407}"/>
              </a:ext>
            </a:extLst>
          </p:cNvPr>
          <p:cNvSpPr/>
          <p:nvPr/>
        </p:nvSpPr>
        <p:spPr>
          <a:xfrm>
            <a:off x="7854818" y="1902839"/>
            <a:ext cx="1355280" cy="243944"/>
          </a:xfrm>
          <a:prstGeom prst="rect">
            <a:avLst/>
          </a:prstGeom>
          <a:solidFill>
            <a:schemeClr val="tx2"/>
          </a:solidFill>
          <a:ln w="63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dirty="0">
                <a:solidFill>
                  <a:schemeClr val="bg1"/>
                </a:solidFill>
                <a:latin typeface="メイリオ" panose="020B0604030504040204" pitchFamily="50" charset="-128"/>
                <a:ea typeface="メイリオ" panose="020B0604030504040204" pitchFamily="50" charset="-128"/>
              </a:rPr>
              <a:t>リッチ化</a:t>
            </a:r>
          </a:p>
        </p:txBody>
      </p:sp>
      <p:sp>
        <p:nvSpPr>
          <p:cNvPr id="19" name="正方形/長方形 18">
            <a:extLst>
              <a:ext uri="{FF2B5EF4-FFF2-40B4-BE49-F238E27FC236}">
                <a16:creationId xmlns:a16="http://schemas.microsoft.com/office/drawing/2014/main" id="{56DB3229-AC80-A545-1A7F-30968AF568EC}"/>
              </a:ext>
            </a:extLst>
          </p:cNvPr>
          <p:cNvSpPr/>
          <p:nvPr/>
        </p:nvSpPr>
        <p:spPr>
          <a:xfrm>
            <a:off x="3386263" y="4343224"/>
            <a:ext cx="1355280" cy="243944"/>
          </a:xfrm>
          <a:prstGeom prst="rect">
            <a:avLst/>
          </a:prstGeom>
          <a:solidFill>
            <a:schemeClr val="tx2"/>
          </a:solidFill>
          <a:ln w="63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dirty="0">
                <a:solidFill>
                  <a:schemeClr val="bg1"/>
                </a:solidFill>
                <a:latin typeface="メイリオ" panose="020B0604030504040204" pitchFamily="50" charset="-128"/>
                <a:ea typeface="メイリオ" panose="020B0604030504040204" pitchFamily="50" charset="-128"/>
              </a:rPr>
              <a:t>リード母数拡大</a:t>
            </a:r>
          </a:p>
        </p:txBody>
      </p:sp>
      <p:sp>
        <p:nvSpPr>
          <p:cNvPr id="20" name="正方形/長方形 19">
            <a:extLst>
              <a:ext uri="{FF2B5EF4-FFF2-40B4-BE49-F238E27FC236}">
                <a16:creationId xmlns:a16="http://schemas.microsoft.com/office/drawing/2014/main" id="{21D29B7F-EC01-1021-44F2-D37D7A2E27DC}"/>
              </a:ext>
            </a:extLst>
          </p:cNvPr>
          <p:cNvSpPr/>
          <p:nvPr/>
        </p:nvSpPr>
        <p:spPr>
          <a:xfrm>
            <a:off x="7879764" y="4338048"/>
            <a:ext cx="1355280" cy="243944"/>
          </a:xfrm>
          <a:prstGeom prst="rect">
            <a:avLst/>
          </a:prstGeom>
          <a:solidFill>
            <a:schemeClr val="tx2"/>
          </a:solidFill>
          <a:ln w="63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dirty="0">
                <a:solidFill>
                  <a:schemeClr val="bg1"/>
                </a:solidFill>
                <a:latin typeface="メイリオ" panose="020B0604030504040204" pitchFamily="50" charset="-128"/>
                <a:ea typeface="メイリオ" panose="020B0604030504040204" pitchFamily="50" charset="-128"/>
              </a:rPr>
              <a:t>自動化・効率化</a:t>
            </a:r>
          </a:p>
        </p:txBody>
      </p:sp>
      <p:sp>
        <p:nvSpPr>
          <p:cNvPr id="22" name="正方形/長方形 21">
            <a:extLst>
              <a:ext uri="{FF2B5EF4-FFF2-40B4-BE49-F238E27FC236}">
                <a16:creationId xmlns:a16="http://schemas.microsoft.com/office/drawing/2014/main" id="{2B94E779-B2D3-DA1A-5386-88EC8B7F7A2A}"/>
              </a:ext>
            </a:extLst>
          </p:cNvPr>
          <p:cNvSpPr/>
          <p:nvPr/>
        </p:nvSpPr>
        <p:spPr>
          <a:xfrm>
            <a:off x="486784" y="738200"/>
            <a:ext cx="9005456" cy="59385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tIns="90000" anchor="ctr"/>
          <a:lstStyle>
            <a:defPPr>
              <a:defRPr lang="ja-JP"/>
            </a:defPPr>
            <a:lvl1pPr marL="0" algn="l" defTabSz="914400" rtl="0" eaLnBrk="1" latinLnBrk="0" hangingPunct="1">
              <a:defRPr kumimoji="1" sz="1800" kern="1200">
                <a:solidFill>
                  <a:schemeClr val="lt1"/>
                </a:solidFill>
                <a:latin typeface="+mn-lt"/>
                <a:ea typeface="+mn-ea"/>
                <a:cs typeface="+mn-cs"/>
              </a:defRPr>
            </a:lvl1pPr>
            <a:lvl2pPr marL="457200" algn="l" defTabSz="914400" rtl="0" eaLnBrk="1" latinLnBrk="0" hangingPunct="1">
              <a:defRPr kumimoji="1" sz="1800" kern="1200">
                <a:solidFill>
                  <a:schemeClr val="lt1"/>
                </a:solidFill>
                <a:latin typeface="+mn-lt"/>
                <a:ea typeface="+mn-ea"/>
                <a:cs typeface="+mn-cs"/>
              </a:defRPr>
            </a:lvl2pPr>
            <a:lvl3pPr marL="914400" algn="l" defTabSz="914400" rtl="0" eaLnBrk="1" latinLnBrk="0" hangingPunct="1">
              <a:defRPr kumimoji="1" sz="1800" kern="1200">
                <a:solidFill>
                  <a:schemeClr val="lt1"/>
                </a:solidFill>
                <a:latin typeface="+mn-lt"/>
                <a:ea typeface="+mn-ea"/>
                <a:cs typeface="+mn-cs"/>
              </a:defRPr>
            </a:lvl3pPr>
            <a:lvl4pPr marL="1371600" algn="l" defTabSz="914400" rtl="0" eaLnBrk="1" latinLnBrk="0" hangingPunct="1">
              <a:defRPr kumimoji="1" sz="1800" kern="1200">
                <a:solidFill>
                  <a:schemeClr val="lt1"/>
                </a:solidFill>
                <a:latin typeface="+mn-lt"/>
                <a:ea typeface="+mn-ea"/>
                <a:cs typeface="+mn-cs"/>
              </a:defRPr>
            </a:lvl4pPr>
            <a:lvl5pPr marL="1828800" algn="l" defTabSz="914400" rtl="0" eaLnBrk="1" latinLnBrk="0" hangingPunct="1">
              <a:defRPr kumimoji="1" sz="1800" kern="1200">
                <a:solidFill>
                  <a:schemeClr val="lt1"/>
                </a:solidFill>
                <a:latin typeface="+mn-lt"/>
                <a:ea typeface="+mn-ea"/>
                <a:cs typeface="+mn-cs"/>
              </a:defRPr>
            </a:lvl5pPr>
            <a:lvl6pPr marL="2286000" algn="l" defTabSz="914400" rtl="0" eaLnBrk="1" latinLnBrk="0" hangingPunct="1">
              <a:defRPr kumimoji="1" sz="1800" kern="1200">
                <a:solidFill>
                  <a:schemeClr val="lt1"/>
                </a:solidFill>
                <a:latin typeface="+mn-lt"/>
                <a:ea typeface="+mn-ea"/>
                <a:cs typeface="+mn-cs"/>
              </a:defRPr>
            </a:lvl6pPr>
            <a:lvl7pPr marL="2743200" algn="l" defTabSz="914400" rtl="0" eaLnBrk="1" latinLnBrk="0" hangingPunct="1">
              <a:defRPr kumimoji="1" sz="1800" kern="1200">
                <a:solidFill>
                  <a:schemeClr val="lt1"/>
                </a:solidFill>
                <a:latin typeface="+mn-lt"/>
                <a:ea typeface="+mn-ea"/>
                <a:cs typeface="+mn-cs"/>
              </a:defRPr>
            </a:lvl7pPr>
            <a:lvl8pPr marL="3200400" algn="l" defTabSz="914400" rtl="0" eaLnBrk="1" latinLnBrk="0" hangingPunct="1">
              <a:defRPr kumimoji="1" sz="1800" kern="1200">
                <a:solidFill>
                  <a:schemeClr val="lt1"/>
                </a:solidFill>
                <a:latin typeface="+mn-lt"/>
                <a:ea typeface="+mn-ea"/>
                <a:cs typeface="+mn-cs"/>
              </a:defRPr>
            </a:lvl8pPr>
            <a:lvl9pPr marL="3657600" algn="l" defTabSz="914400" rtl="0" eaLnBrk="1" latinLnBrk="0" hangingPunct="1">
              <a:defRPr kumimoji="1" sz="1800" kern="1200">
                <a:solidFill>
                  <a:schemeClr val="lt1"/>
                </a:solidFill>
                <a:latin typeface="+mn-lt"/>
                <a:ea typeface="+mn-ea"/>
                <a:cs typeface="+mn-cs"/>
              </a:defRPr>
            </a:lvl9pPr>
          </a:lstStyle>
          <a:p>
            <a:pPr algn="ctr"/>
            <a:r>
              <a:rPr lang="ja-JP" altLang="en-US" sz="1400" dirty="0">
                <a:solidFill>
                  <a:schemeClr val="tx1"/>
                </a:solidFill>
                <a:latin typeface="メイリオ" panose="020B0604030504040204" pitchFamily="50" charset="-128"/>
                <a:ea typeface="メイリオ" panose="020B0604030504040204" pitchFamily="50" charset="-128"/>
              </a:rPr>
              <a:t>各種パートナー企業との連携から、幅広い</a:t>
            </a:r>
            <a:r>
              <a:rPr lang="en-US" altLang="ja-JP" sz="1400" dirty="0">
                <a:solidFill>
                  <a:schemeClr val="tx1"/>
                </a:solidFill>
                <a:latin typeface="メイリオ" panose="020B0604030504040204" pitchFamily="50" charset="-128"/>
                <a:ea typeface="メイリオ" panose="020B0604030504040204" pitchFamily="50" charset="-128"/>
              </a:rPr>
              <a:t>LINEOA</a:t>
            </a:r>
            <a:r>
              <a:rPr lang="ja-JP" altLang="en-US" sz="1400" dirty="0">
                <a:solidFill>
                  <a:schemeClr val="tx1"/>
                </a:solidFill>
                <a:latin typeface="メイリオ" panose="020B0604030504040204" pitchFamily="50" charset="-128"/>
                <a:ea typeface="メイリオ" panose="020B0604030504040204" pitchFamily="50" charset="-128"/>
              </a:rPr>
              <a:t>業務に対して対応が可能。</a:t>
            </a:r>
            <a:endParaRPr lang="en-US" altLang="ja-JP" sz="1400" dirty="0">
              <a:solidFill>
                <a:schemeClr val="tx1"/>
              </a:solidFill>
              <a:latin typeface="メイリオ" panose="020B0604030504040204" pitchFamily="50" charset="-128"/>
              <a:ea typeface="メイリオ" panose="020B0604030504040204" pitchFamily="50" charset="-128"/>
            </a:endParaRPr>
          </a:p>
          <a:p>
            <a:pPr algn="ctr"/>
            <a:r>
              <a:rPr lang="ja-JP" altLang="en-US" sz="1400" dirty="0">
                <a:solidFill>
                  <a:schemeClr val="tx1"/>
                </a:solidFill>
                <a:latin typeface="メイリオ" panose="020B0604030504040204" pitchFamily="50" charset="-128"/>
                <a:ea typeface="メイリオ" panose="020B0604030504040204" pitchFamily="50" charset="-128"/>
              </a:rPr>
              <a:t>貴社社内部隊と連携して、一部委託もご相談いただけます。</a:t>
            </a:r>
            <a:endParaRPr lang="en-US" altLang="ja-JP" sz="1400" dirty="0">
              <a:solidFill>
                <a:schemeClr val="tx1"/>
              </a:solidFill>
              <a:latin typeface="メイリオ" panose="020B0604030504040204" pitchFamily="50" charset="-128"/>
              <a:ea typeface="メイリオ" panose="020B0604030504040204" pitchFamily="50" charset="-128"/>
            </a:endParaRPr>
          </a:p>
        </p:txBody>
      </p:sp>
      <p:sp>
        <p:nvSpPr>
          <p:cNvPr id="30" name="テキスト ボックス 29">
            <a:extLst>
              <a:ext uri="{FF2B5EF4-FFF2-40B4-BE49-F238E27FC236}">
                <a16:creationId xmlns:a16="http://schemas.microsoft.com/office/drawing/2014/main" id="{DB41465D-5D30-6E80-78F0-EEE5C4A9C571}"/>
              </a:ext>
            </a:extLst>
          </p:cNvPr>
          <p:cNvSpPr txBox="1"/>
          <p:nvPr/>
        </p:nvSpPr>
        <p:spPr>
          <a:xfrm>
            <a:off x="269967" y="3632378"/>
            <a:ext cx="687006" cy="261610"/>
          </a:xfrm>
          <a:prstGeom prst="rect">
            <a:avLst/>
          </a:prstGeom>
          <a:solidFill>
            <a:schemeClr val="tx2">
              <a:lumMod val="50000"/>
            </a:schemeClr>
          </a:solidFill>
        </p:spPr>
        <p:txBody>
          <a:bodyPr wrap="square">
            <a:spAutoFit/>
          </a:bodyPr>
          <a:lstStyle/>
          <a:p>
            <a:r>
              <a:rPr lang="en-US" altLang="ja-JP" sz="1100" b="1" dirty="0">
                <a:solidFill>
                  <a:schemeClr val="bg1"/>
                </a:solidFill>
                <a:latin typeface="メイリオ" panose="020B0604030504040204" pitchFamily="50" charset="-128"/>
                <a:ea typeface="メイリオ" panose="020B0604030504040204" pitchFamily="50" charset="-128"/>
              </a:rPr>
              <a:t>DYM</a:t>
            </a:r>
            <a:r>
              <a:rPr lang="ja-JP" altLang="en-US" sz="1100" b="1" dirty="0">
                <a:solidFill>
                  <a:schemeClr val="bg1"/>
                </a:solidFill>
                <a:latin typeface="メイリオ" panose="020B0604030504040204" pitchFamily="50" charset="-128"/>
                <a:ea typeface="メイリオ" panose="020B0604030504040204" pitchFamily="50" charset="-128"/>
              </a:rPr>
              <a:t>→</a:t>
            </a:r>
            <a:endParaRPr lang="ja-JP" altLang="en-US" sz="1100" dirty="0">
              <a:solidFill>
                <a:schemeClr val="bg1"/>
              </a:solidFill>
            </a:endParaRPr>
          </a:p>
        </p:txBody>
      </p:sp>
      <p:sp>
        <p:nvSpPr>
          <p:cNvPr id="34" name="テキスト ボックス 33">
            <a:extLst>
              <a:ext uri="{FF2B5EF4-FFF2-40B4-BE49-F238E27FC236}">
                <a16:creationId xmlns:a16="http://schemas.microsoft.com/office/drawing/2014/main" id="{0144DC71-37E5-DA34-FDBB-69F2A1BEA8E0}"/>
              </a:ext>
            </a:extLst>
          </p:cNvPr>
          <p:cNvSpPr txBox="1"/>
          <p:nvPr/>
        </p:nvSpPr>
        <p:spPr>
          <a:xfrm>
            <a:off x="4741544" y="3629460"/>
            <a:ext cx="687006" cy="261610"/>
          </a:xfrm>
          <a:prstGeom prst="rect">
            <a:avLst/>
          </a:prstGeom>
          <a:solidFill>
            <a:schemeClr val="tx2">
              <a:lumMod val="50000"/>
            </a:schemeClr>
          </a:solidFill>
        </p:spPr>
        <p:txBody>
          <a:bodyPr wrap="square">
            <a:spAutoFit/>
          </a:bodyPr>
          <a:lstStyle/>
          <a:p>
            <a:r>
              <a:rPr lang="en-US" altLang="ja-JP" sz="1100" b="1" dirty="0">
                <a:solidFill>
                  <a:schemeClr val="bg1"/>
                </a:solidFill>
                <a:latin typeface="メイリオ" panose="020B0604030504040204" pitchFamily="50" charset="-128"/>
                <a:ea typeface="メイリオ" panose="020B0604030504040204" pitchFamily="50" charset="-128"/>
              </a:rPr>
              <a:t>DYM</a:t>
            </a:r>
            <a:r>
              <a:rPr lang="ja-JP" altLang="en-US" sz="1100" b="1" dirty="0">
                <a:solidFill>
                  <a:schemeClr val="bg1"/>
                </a:solidFill>
                <a:latin typeface="メイリオ" panose="020B0604030504040204" pitchFamily="50" charset="-128"/>
                <a:ea typeface="メイリオ" panose="020B0604030504040204" pitchFamily="50" charset="-128"/>
              </a:rPr>
              <a:t>→</a:t>
            </a:r>
            <a:endParaRPr lang="ja-JP" altLang="en-US" sz="1100" dirty="0">
              <a:solidFill>
                <a:schemeClr val="bg1"/>
              </a:solidFill>
            </a:endParaRPr>
          </a:p>
        </p:txBody>
      </p:sp>
      <p:sp>
        <p:nvSpPr>
          <p:cNvPr id="38" name="テキスト ボックス 37">
            <a:extLst>
              <a:ext uri="{FF2B5EF4-FFF2-40B4-BE49-F238E27FC236}">
                <a16:creationId xmlns:a16="http://schemas.microsoft.com/office/drawing/2014/main" id="{AF15CFA9-BA43-360D-D26E-040407A743A9}"/>
              </a:ext>
            </a:extLst>
          </p:cNvPr>
          <p:cNvSpPr txBox="1"/>
          <p:nvPr/>
        </p:nvSpPr>
        <p:spPr>
          <a:xfrm>
            <a:off x="269967" y="6081294"/>
            <a:ext cx="687006" cy="261610"/>
          </a:xfrm>
          <a:prstGeom prst="rect">
            <a:avLst/>
          </a:prstGeom>
          <a:solidFill>
            <a:schemeClr val="tx2">
              <a:lumMod val="50000"/>
            </a:schemeClr>
          </a:solidFill>
        </p:spPr>
        <p:txBody>
          <a:bodyPr wrap="square">
            <a:spAutoFit/>
          </a:bodyPr>
          <a:lstStyle/>
          <a:p>
            <a:r>
              <a:rPr lang="en-US" altLang="ja-JP" sz="1100" b="1" dirty="0">
                <a:solidFill>
                  <a:schemeClr val="bg1"/>
                </a:solidFill>
                <a:latin typeface="メイリオ" panose="020B0604030504040204" pitchFamily="50" charset="-128"/>
                <a:ea typeface="メイリオ" panose="020B0604030504040204" pitchFamily="50" charset="-128"/>
              </a:rPr>
              <a:t>DYM</a:t>
            </a:r>
            <a:r>
              <a:rPr lang="ja-JP" altLang="en-US" sz="1100" b="1" dirty="0">
                <a:solidFill>
                  <a:schemeClr val="bg1"/>
                </a:solidFill>
                <a:latin typeface="メイリオ" panose="020B0604030504040204" pitchFamily="50" charset="-128"/>
                <a:ea typeface="メイリオ" panose="020B0604030504040204" pitchFamily="50" charset="-128"/>
              </a:rPr>
              <a:t>→</a:t>
            </a:r>
            <a:endParaRPr lang="ja-JP" altLang="en-US" sz="1100" dirty="0">
              <a:solidFill>
                <a:schemeClr val="bg1"/>
              </a:solidFill>
            </a:endParaRPr>
          </a:p>
        </p:txBody>
      </p:sp>
      <p:sp>
        <p:nvSpPr>
          <p:cNvPr id="40" name="テキスト ボックス 39">
            <a:extLst>
              <a:ext uri="{FF2B5EF4-FFF2-40B4-BE49-F238E27FC236}">
                <a16:creationId xmlns:a16="http://schemas.microsoft.com/office/drawing/2014/main" id="{240BE338-3054-2BB1-6A31-C90BDCFE06A9}"/>
              </a:ext>
            </a:extLst>
          </p:cNvPr>
          <p:cNvSpPr txBox="1"/>
          <p:nvPr/>
        </p:nvSpPr>
        <p:spPr>
          <a:xfrm>
            <a:off x="4741544" y="6078376"/>
            <a:ext cx="687006" cy="261610"/>
          </a:xfrm>
          <a:prstGeom prst="rect">
            <a:avLst/>
          </a:prstGeom>
          <a:solidFill>
            <a:schemeClr val="tx2">
              <a:lumMod val="50000"/>
            </a:schemeClr>
          </a:solidFill>
        </p:spPr>
        <p:txBody>
          <a:bodyPr wrap="square">
            <a:spAutoFit/>
          </a:bodyPr>
          <a:lstStyle/>
          <a:p>
            <a:r>
              <a:rPr lang="en-US" altLang="ja-JP" sz="1100" b="1" dirty="0">
                <a:solidFill>
                  <a:schemeClr val="bg1"/>
                </a:solidFill>
                <a:latin typeface="メイリオ" panose="020B0604030504040204" pitchFamily="50" charset="-128"/>
                <a:ea typeface="メイリオ" panose="020B0604030504040204" pitchFamily="50" charset="-128"/>
              </a:rPr>
              <a:t>DYM</a:t>
            </a:r>
            <a:r>
              <a:rPr lang="ja-JP" altLang="en-US" sz="1100" b="1" dirty="0">
                <a:solidFill>
                  <a:schemeClr val="bg1"/>
                </a:solidFill>
                <a:latin typeface="メイリオ" panose="020B0604030504040204" pitchFamily="50" charset="-128"/>
                <a:ea typeface="メイリオ" panose="020B0604030504040204" pitchFamily="50" charset="-128"/>
              </a:rPr>
              <a:t>→</a:t>
            </a:r>
            <a:endParaRPr lang="ja-JP" altLang="en-US" sz="1100" dirty="0">
              <a:solidFill>
                <a:schemeClr val="bg1"/>
              </a:solidFill>
            </a:endParaRPr>
          </a:p>
        </p:txBody>
      </p:sp>
      <p:sp>
        <p:nvSpPr>
          <p:cNvPr id="41" name="テキスト ボックス 40">
            <a:extLst>
              <a:ext uri="{FF2B5EF4-FFF2-40B4-BE49-F238E27FC236}">
                <a16:creationId xmlns:a16="http://schemas.microsoft.com/office/drawing/2014/main" id="{C0326F10-43FF-1E4A-8F3D-ED5A80FA014B}"/>
              </a:ext>
            </a:extLst>
          </p:cNvPr>
          <p:cNvSpPr txBox="1"/>
          <p:nvPr/>
        </p:nvSpPr>
        <p:spPr>
          <a:xfrm>
            <a:off x="956972" y="3530330"/>
            <a:ext cx="3842445" cy="461665"/>
          </a:xfrm>
          <a:prstGeom prst="rect">
            <a:avLst/>
          </a:prstGeom>
          <a:noFill/>
        </p:spPr>
        <p:txBody>
          <a:bodyPr wrap="square">
            <a:spAutoFit/>
          </a:bodyPr>
          <a:lstStyle/>
          <a:p>
            <a:pPr algn="ctr"/>
            <a:r>
              <a:rPr lang="ja-JP" altLang="en-US" sz="1200" b="1" dirty="0">
                <a:solidFill>
                  <a:schemeClr val="tx2"/>
                </a:solidFill>
                <a:latin typeface="メイリオ" panose="020B0604030504040204" pitchFamily="50" charset="-128"/>
                <a:ea typeface="メイリオ" panose="020B0604030504040204" pitchFamily="50" charset="-128"/>
              </a:rPr>
              <a:t>各種実績の多いツール企業と連携している為、</a:t>
            </a:r>
            <a:endParaRPr lang="en-US" altLang="ja-JP" sz="1200" b="1">
              <a:solidFill>
                <a:schemeClr val="tx2"/>
              </a:solidFill>
              <a:latin typeface="メイリオ" panose="020B0604030504040204" pitchFamily="50" charset="-128"/>
              <a:ea typeface="メイリオ" panose="020B0604030504040204" pitchFamily="50" charset="-128"/>
            </a:endParaRPr>
          </a:p>
          <a:p>
            <a:pPr algn="ctr"/>
            <a:r>
              <a:rPr kumimoji="1" lang="ja-JP" altLang="en-US" sz="1200" b="1">
                <a:solidFill>
                  <a:schemeClr val="tx2"/>
                </a:solidFill>
                <a:latin typeface="メイリオ" panose="020B0604030504040204" pitchFamily="50" charset="-128"/>
                <a:ea typeface="メイリオ" panose="020B0604030504040204" pitchFamily="50" charset="-128"/>
              </a:rPr>
              <a:t>将来的</a:t>
            </a:r>
            <a:r>
              <a:rPr kumimoji="1" lang="ja-JP" altLang="en-US" sz="1200" b="1" dirty="0">
                <a:solidFill>
                  <a:schemeClr val="tx2"/>
                </a:solidFill>
                <a:latin typeface="メイリオ" panose="020B0604030504040204" pitchFamily="50" charset="-128"/>
                <a:ea typeface="メイリオ" panose="020B0604030504040204" pitchFamily="50" charset="-128"/>
              </a:rPr>
              <a:t>な運用プランに合わせてツール選定をサポート。</a:t>
            </a:r>
          </a:p>
        </p:txBody>
      </p:sp>
      <p:sp>
        <p:nvSpPr>
          <p:cNvPr id="42" name="テキスト ボックス 41">
            <a:extLst>
              <a:ext uri="{FF2B5EF4-FFF2-40B4-BE49-F238E27FC236}">
                <a16:creationId xmlns:a16="http://schemas.microsoft.com/office/drawing/2014/main" id="{D6EF5007-A21E-89B0-31EE-98FC1F7BE5FB}"/>
              </a:ext>
            </a:extLst>
          </p:cNvPr>
          <p:cNvSpPr txBox="1"/>
          <p:nvPr/>
        </p:nvSpPr>
        <p:spPr>
          <a:xfrm>
            <a:off x="5428549" y="3527412"/>
            <a:ext cx="3842445" cy="461665"/>
          </a:xfrm>
          <a:prstGeom prst="rect">
            <a:avLst/>
          </a:prstGeom>
          <a:noFill/>
        </p:spPr>
        <p:txBody>
          <a:bodyPr wrap="square">
            <a:spAutoFit/>
          </a:bodyPr>
          <a:lstStyle/>
          <a:p>
            <a:pPr algn="ctr"/>
            <a:r>
              <a:rPr lang="en-US" altLang="ja-JP" sz="1200" b="1" dirty="0">
                <a:solidFill>
                  <a:schemeClr val="tx2"/>
                </a:solidFill>
                <a:latin typeface="メイリオ" panose="020B0604030504040204" pitchFamily="50" charset="-128"/>
                <a:ea typeface="メイリオ" panose="020B0604030504040204" pitchFamily="50" charset="-128"/>
              </a:rPr>
              <a:t>DYM</a:t>
            </a:r>
            <a:r>
              <a:rPr lang="ja-JP" altLang="en-US" sz="1200" b="1" dirty="0">
                <a:solidFill>
                  <a:schemeClr val="tx2"/>
                </a:solidFill>
                <a:latin typeface="メイリオ" panose="020B0604030504040204" pitchFamily="50" charset="-128"/>
                <a:ea typeface="メイリオ" panose="020B0604030504040204" pitchFamily="50" charset="-128"/>
              </a:rPr>
              <a:t>が商流に入ることにより限定の割引プランや</a:t>
            </a:r>
            <a:endParaRPr lang="en-US" altLang="ja-JP" sz="1200" b="1" dirty="0">
              <a:solidFill>
                <a:schemeClr val="tx2"/>
              </a:solidFill>
              <a:latin typeface="メイリオ" panose="020B0604030504040204" pitchFamily="50" charset="-128"/>
              <a:ea typeface="メイリオ" panose="020B0604030504040204" pitchFamily="50" charset="-128"/>
            </a:endParaRPr>
          </a:p>
          <a:p>
            <a:pPr algn="ctr"/>
            <a:r>
              <a:rPr kumimoji="1" lang="ja-JP" altLang="en-US" sz="1200" b="1" dirty="0">
                <a:solidFill>
                  <a:schemeClr val="tx2"/>
                </a:solidFill>
                <a:latin typeface="メイリオ" panose="020B0604030504040204" pitchFamily="50" charset="-128"/>
                <a:ea typeface="メイリオ" panose="020B0604030504040204" pitchFamily="50" charset="-128"/>
              </a:rPr>
              <a:t>拡張機能（一部</a:t>
            </a:r>
            <a:r>
              <a:rPr kumimoji="1" lang="en-US" altLang="ja-JP" sz="1200" b="1" dirty="0">
                <a:solidFill>
                  <a:schemeClr val="tx2"/>
                </a:solidFill>
                <a:latin typeface="メイリオ" panose="020B0604030504040204" pitchFamily="50" charset="-128"/>
                <a:ea typeface="メイリオ" panose="020B0604030504040204" pitchFamily="50" charset="-128"/>
              </a:rPr>
              <a:t>β</a:t>
            </a:r>
            <a:r>
              <a:rPr lang="ja-JP" altLang="en-US" sz="1200" b="1" dirty="0">
                <a:solidFill>
                  <a:schemeClr val="tx2"/>
                </a:solidFill>
                <a:latin typeface="メイリオ" panose="020B0604030504040204" pitchFamily="50" charset="-128"/>
                <a:ea typeface="メイリオ" panose="020B0604030504040204" pitchFamily="50" charset="-128"/>
              </a:rPr>
              <a:t>版）の展開を可能に。</a:t>
            </a:r>
            <a:endParaRPr kumimoji="1" lang="ja-JP" altLang="en-US" sz="1200" b="1" dirty="0">
              <a:solidFill>
                <a:schemeClr val="tx2"/>
              </a:solidFill>
              <a:latin typeface="メイリオ" panose="020B0604030504040204" pitchFamily="50" charset="-128"/>
              <a:ea typeface="メイリオ" panose="020B0604030504040204" pitchFamily="50" charset="-128"/>
            </a:endParaRPr>
          </a:p>
        </p:txBody>
      </p:sp>
      <p:sp>
        <p:nvSpPr>
          <p:cNvPr id="43" name="テキスト ボックス 42">
            <a:extLst>
              <a:ext uri="{FF2B5EF4-FFF2-40B4-BE49-F238E27FC236}">
                <a16:creationId xmlns:a16="http://schemas.microsoft.com/office/drawing/2014/main" id="{674B7463-4A8E-D0FC-FDB4-5BB44B5E2FB2}"/>
              </a:ext>
            </a:extLst>
          </p:cNvPr>
          <p:cNvSpPr txBox="1"/>
          <p:nvPr/>
        </p:nvSpPr>
        <p:spPr>
          <a:xfrm>
            <a:off x="956972" y="5979246"/>
            <a:ext cx="3842445" cy="461665"/>
          </a:xfrm>
          <a:prstGeom prst="rect">
            <a:avLst/>
          </a:prstGeom>
          <a:noFill/>
        </p:spPr>
        <p:txBody>
          <a:bodyPr wrap="square">
            <a:spAutoFit/>
          </a:bodyPr>
          <a:lstStyle/>
          <a:p>
            <a:pPr algn="ctr"/>
            <a:r>
              <a:rPr lang="ja-JP" altLang="en-US" sz="1200" b="1" dirty="0">
                <a:solidFill>
                  <a:schemeClr val="tx2"/>
                </a:solidFill>
                <a:latin typeface="メイリオ" panose="020B0604030504040204" pitchFamily="50" charset="-128"/>
                <a:ea typeface="メイリオ" panose="020B0604030504040204" pitchFamily="50" charset="-128"/>
              </a:rPr>
              <a:t>運用実務におけるアウトソースとして活用し、</a:t>
            </a:r>
            <a:endParaRPr lang="en-US" altLang="ja-JP" sz="1200" b="1" dirty="0">
              <a:solidFill>
                <a:schemeClr val="tx2"/>
              </a:solidFill>
              <a:latin typeface="メイリオ" panose="020B0604030504040204" pitchFamily="50" charset="-128"/>
              <a:ea typeface="メイリオ" panose="020B0604030504040204" pitchFamily="50" charset="-128"/>
            </a:endParaRPr>
          </a:p>
          <a:p>
            <a:pPr algn="ctr"/>
            <a:r>
              <a:rPr kumimoji="1" lang="ja-JP" altLang="en-US" sz="1200" b="1" dirty="0">
                <a:solidFill>
                  <a:schemeClr val="tx2"/>
                </a:solidFill>
                <a:latin typeface="メイリオ" panose="020B0604030504040204" pitchFamily="50" charset="-128"/>
                <a:ea typeface="メイリオ" panose="020B0604030504040204" pitchFamily="50" charset="-128"/>
              </a:rPr>
              <a:t>既存の運用領域における効率化をサポート。</a:t>
            </a:r>
          </a:p>
        </p:txBody>
      </p:sp>
      <p:sp>
        <p:nvSpPr>
          <p:cNvPr id="44" name="テキスト ボックス 43">
            <a:extLst>
              <a:ext uri="{FF2B5EF4-FFF2-40B4-BE49-F238E27FC236}">
                <a16:creationId xmlns:a16="http://schemas.microsoft.com/office/drawing/2014/main" id="{C373F1E9-22BB-9E8C-628E-A261897C133F}"/>
              </a:ext>
            </a:extLst>
          </p:cNvPr>
          <p:cNvSpPr txBox="1"/>
          <p:nvPr/>
        </p:nvSpPr>
        <p:spPr>
          <a:xfrm>
            <a:off x="5428549" y="5976328"/>
            <a:ext cx="3842445" cy="461665"/>
          </a:xfrm>
          <a:prstGeom prst="rect">
            <a:avLst/>
          </a:prstGeom>
          <a:noFill/>
        </p:spPr>
        <p:txBody>
          <a:bodyPr wrap="square">
            <a:spAutoFit/>
          </a:bodyPr>
          <a:lstStyle/>
          <a:p>
            <a:pPr algn="ctr"/>
            <a:r>
              <a:rPr kumimoji="1" lang="en-US" altLang="ja-JP" sz="1200" b="1" dirty="0">
                <a:solidFill>
                  <a:schemeClr val="tx2"/>
                </a:solidFill>
                <a:latin typeface="メイリオ" panose="020B0604030504040204" pitchFamily="50" charset="-128"/>
                <a:ea typeface="メイリオ" panose="020B0604030504040204" pitchFamily="50" charset="-128"/>
              </a:rPr>
              <a:t>OAM(</a:t>
            </a:r>
            <a:r>
              <a:rPr kumimoji="1" lang="ja-JP" altLang="en-US" sz="1200" b="1" dirty="0">
                <a:solidFill>
                  <a:schemeClr val="tx2"/>
                </a:solidFill>
                <a:latin typeface="メイリオ" panose="020B0604030504040204" pitchFamily="50" charset="-128"/>
                <a:ea typeface="メイリオ" panose="020B0604030504040204" pitchFamily="50" charset="-128"/>
              </a:rPr>
              <a:t>公式管理画面</a:t>
            </a:r>
            <a:r>
              <a:rPr kumimoji="1" lang="en-US" altLang="ja-JP" sz="1200" b="1" dirty="0">
                <a:solidFill>
                  <a:schemeClr val="tx2"/>
                </a:solidFill>
                <a:latin typeface="メイリオ" panose="020B0604030504040204" pitchFamily="50" charset="-128"/>
                <a:ea typeface="メイリオ" panose="020B0604030504040204" pitchFamily="50" charset="-128"/>
              </a:rPr>
              <a:t>)</a:t>
            </a:r>
            <a:r>
              <a:rPr kumimoji="1" lang="ja-JP" altLang="en-US" sz="1200" b="1" dirty="0">
                <a:solidFill>
                  <a:schemeClr val="tx2"/>
                </a:solidFill>
                <a:latin typeface="メイリオ" panose="020B0604030504040204" pitchFamily="50" charset="-128"/>
                <a:ea typeface="メイリオ" panose="020B0604030504040204" pitchFamily="50" charset="-128"/>
              </a:rPr>
              <a:t>と併用しながらコストカット。</a:t>
            </a:r>
            <a:endParaRPr kumimoji="1" lang="en-US" altLang="ja-JP" sz="1200" b="1" dirty="0">
              <a:solidFill>
                <a:schemeClr val="tx2"/>
              </a:solidFill>
              <a:latin typeface="メイリオ" panose="020B0604030504040204" pitchFamily="50" charset="-128"/>
              <a:ea typeface="メイリオ" panose="020B0604030504040204" pitchFamily="50" charset="-128"/>
            </a:endParaRPr>
          </a:p>
          <a:p>
            <a:pPr algn="ctr"/>
            <a:r>
              <a:rPr lang="ja-JP" altLang="en-US" sz="1200" b="1" dirty="0">
                <a:solidFill>
                  <a:schemeClr val="tx2"/>
                </a:solidFill>
                <a:latin typeface="メイリオ" panose="020B0604030504040204" pitchFamily="50" charset="-128"/>
                <a:ea typeface="メイリオ" panose="020B0604030504040204" pitchFamily="50" charset="-128"/>
              </a:rPr>
              <a:t>また複数ステップ配信の組み合わせで効率化も。</a:t>
            </a:r>
            <a:endParaRPr kumimoji="1" lang="ja-JP" altLang="en-US" sz="1200" b="1" dirty="0">
              <a:solidFill>
                <a:schemeClr val="tx2"/>
              </a:solidFill>
              <a:latin typeface="メイリオ" panose="020B0604030504040204" pitchFamily="50" charset="-128"/>
              <a:ea typeface="メイリオ" panose="020B0604030504040204" pitchFamily="50" charset="-128"/>
            </a:endParaRPr>
          </a:p>
        </p:txBody>
      </p:sp>
      <p:sp>
        <p:nvSpPr>
          <p:cNvPr id="16" name="テキスト ボックス 15">
            <a:extLst>
              <a:ext uri="{FF2B5EF4-FFF2-40B4-BE49-F238E27FC236}">
                <a16:creationId xmlns:a16="http://schemas.microsoft.com/office/drawing/2014/main" id="{09F8FD3D-D156-D73A-268D-4BD2C4EFA147}"/>
              </a:ext>
            </a:extLst>
          </p:cNvPr>
          <p:cNvSpPr txBox="1"/>
          <p:nvPr/>
        </p:nvSpPr>
        <p:spPr>
          <a:xfrm>
            <a:off x="1659517" y="1322455"/>
            <a:ext cx="6603340" cy="260597"/>
          </a:xfrm>
          <a:prstGeom prst="rect">
            <a:avLst/>
          </a:prstGeom>
          <a:noFill/>
        </p:spPr>
        <p:txBody>
          <a:bodyPr wrap="square">
            <a:spAutoFit/>
          </a:bodyPr>
          <a:lstStyle/>
          <a:p>
            <a:pPr algn="ctr"/>
            <a:r>
              <a:rPr lang="en-US" altLang="ja-JP" sz="1050" dirty="0">
                <a:solidFill>
                  <a:srgbClr val="FF0000"/>
                </a:solidFill>
                <a:latin typeface="メイリオ" panose="020B0604030504040204" pitchFamily="50" charset="-128"/>
                <a:ea typeface="メイリオ" panose="020B0604030504040204" pitchFamily="50" charset="-128"/>
              </a:rPr>
              <a:t>※</a:t>
            </a:r>
            <a:r>
              <a:rPr lang="ja-JP" altLang="en-US" sz="1050" dirty="0">
                <a:solidFill>
                  <a:srgbClr val="FF0000"/>
                </a:solidFill>
                <a:latin typeface="メイリオ" panose="020B0604030504040204" pitchFamily="50" charset="-128"/>
                <a:ea typeface="メイリオ" panose="020B0604030504040204" pitchFamily="50" charset="-128"/>
              </a:rPr>
              <a:t>現状運用環境に合わせた成果報酬プランやコストカットの監修なども提示が可能です。</a:t>
            </a:r>
            <a:endParaRPr lang="ja-JP" altLang="en-US" sz="1200" dirty="0">
              <a:solidFill>
                <a:srgbClr val="FF0000"/>
              </a:solidFill>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91138102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0D8079-0D33-0F1A-6794-86CD36E2B42B}"/>
            </a:ext>
          </a:extLst>
        </p:cNvPr>
        <p:cNvGrpSpPr/>
        <p:nvPr/>
      </p:nvGrpSpPr>
      <p:grpSpPr>
        <a:xfrm>
          <a:off x="0" y="0"/>
          <a:ext cx="0" cy="0"/>
          <a:chOff x="0" y="0"/>
          <a:chExt cx="0" cy="0"/>
        </a:xfrm>
      </p:grpSpPr>
      <p:sp>
        <p:nvSpPr>
          <p:cNvPr id="22" name="Google Shape;752;p28">
            <a:extLst>
              <a:ext uri="{FF2B5EF4-FFF2-40B4-BE49-F238E27FC236}">
                <a16:creationId xmlns:a16="http://schemas.microsoft.com/office/drawing/2014/main" id="{4B54CA7C-C9CE-3E1A-8C0B-D9DC3FFCBAE8}"/>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chemeClr val="bg1">
                    <a:lumMod val="65000"/>
                  </a:schemeClr>
                </a:solidFill>
                <a:latin typeface="メイリオ" panose="020B0604030504040204" pitchFamily="50" charset="-128"/>
                <a:ea typeface="メイリオ" panose="020B0604030504040204" pitchFamily="50" charset="-128"/>
                <a:cs typeface="Meiryo"/>
                <a:sym typeface="Meiryo"/>
              </a:rPr>
              <a:t>アジェンダ</a:t>
            </a:r>
          </a:p>
        </p:txBody>
      </p:sp>
      <p:sp>
        <p:nvSpPr>
          <p:cNvPr id="14" name="Google Shape;752;p28">
            <a:extLst>
              <a:ext uri="{FF2B5EF4-FFF2-40B4-BE49-F238E27FC236}">
                <a16:creationId xmlns:a16="http://schemas.microsoft.com/office/drawing/2014/main" id="{88CD823C-3E61-5E93-B9FE-BD623737FC13}"/>
              </a:ext>
            </a:extLst>
          </p:cNvPr>
          <p:cNvSpPr txBox="1"/>
          <p:nvPr/>
        </p:nvSpPr>
        <p:spPr>
          <a:xfrm>
            <a:off x="602223" y="1104688"/>
            <a:ext cx="1104657" cy="584735"/>
          </a:xfrm>
          <a:prstGeom prst="rect">
            <a:avLst/>
          </a:prstGeom>
          <a:noFill/>
          <a:ln>
            <a:noFill/>
          </a:ln>
        </p:spPr>
        <p:txBody>
          <a:bodyPr spcFirstLastPara="1" wrap="square" lIns="91425" tIns="45700" rIns="91425" bIns="45700" anchor="ctr" anchorCtr="0">
            <a:spAutoFit/>
          </a:bodyPr>
          <a:lstStyle/>
          <a:p>
            <a:pPr lvl="0"/>
            <a:r>
              <a:rPr lang="en-US" altLang="ja-JP" sz="3200" b="1" dirty="0">
                <a:solidFill>
                  <a:srgbClr val="323366"/>
                </a:solidFill>
                <a:latin typeface="メイリオ" panose="020B0604030504040204" pitchFamily="50" charset="-128"/>
                <a:ea typeface="メイリオ" panose="020B0604030504040204" pitchFamily="50" charset="-128"/>
                <a:cs typeface="Meiryo"/>
                <a:sym typeface="Meiryo"/>
              </a:rPr>
              <a:t>01</a:t>
            </a:r>
            <a:endParaRPr lang="ja-JP" altLang="en-US" sz="3200" b="1" dirty="0">
              <a:solidFill>
                <a:srgbClr val="323366"/>
              </a:solidFill>
              <a:latin typeface="メイリオ" panose="020B0604030504040204" pitchFamily="50" charset="-128"/>
              <a:ea typeface="メイリオ" panose="020B0604030504040204" pitchFamily="50" charset="-128"/>
              <a:cs typeface="Meiryo"/>
              <a:sym typeface="Meiryo"/>
            </a:endParaRPr>
          </a:p>
        </p:txBody>
      </p:sp>
      <p:sp>
        <p:nvSpPr>
          <p:cNvPr id="16" name="Google Shape;752;p28">
            <a:extLst>
              <a:ext uri="{FF2B5EF4-FFF2-40B4-BE49-F238E27FC236}">
                <a16:creationId xmlns:a16="http://schemas.microsoft.com/office/drawing/2014/main" id="{403775D4-CF2D-3023-3056-9E596BBE8648}"/>
              </a:ext>
            </a:extLst>
          </p:cNvPr>
          <p:cNvSpPr txBox="1"/>
          <p:nvPr/>
        </p:nvSpPr>
        <p:spPr>
          <a:xfrm>
            <a:off x="1867143" y="1043132"/>
            <a:ext cx="7315200" cy="707846"/>
          </a:xfrm>
          <a:prstGeom prst="rect">
            <a:avLst/>
          </a:prstGeom>
          <a:noFill/>
          <a:ln>
            <a:noFill/>
          </a:ln>
        </p:spPr>
        <p:txBody>
          <a:bodyPr spcFirstLastPara="1" wrap="square" lIns="91425" tIns="45700" rIns="91425" bIns="45700" anchor="ctr" anchorCtr="0">
            <a:spAutoFit/>
          </a:bodyPr>
          <a:lstStyle/>
          <a:p>
            <a:pPr lvl="0"/>
            <a:r>
              <a:rPr lang="ja-JP" altLang="en-US" sz="4000" b="1" dirty="0">
                <a:solidFill>
                  <a:schemeClr val="tx1">
                    <a:lumMod val="65000"/>
                    <a:lumOff val="35000"/>
                  </a:schemeClr>
                </a:solidFill>
                <a:latin typeface="メイリオ" panose="020B0604030504040204" pitchFamily="50" charset="-128"/>
                <a:ea typeface="メイリオ" panose="020B0604030504040204" pitchFamily="50" charset="-128"/>
                <a:cs typeface="Meiryo"/>
                <a:sym typeface="Meiryo"/>
              </a:rPr>
              <a:t>施策背景</a:t>
            </a:r>
          </a:p>
        </p:txBody>
      </p:sp>
      <p:cxnSp>
        <p:nvCxnSpPr>
          <p:cNvPr id="17" name="直線コネクタ 16">
            <a:extLst>
              <a:ext uri="{FF2B5EF4-FFF2-40B4-BE49-F238E27FC236}">
                <a16:creationId xmlns:a16="http://schemas.microsoft.com/office/drawing/2014/main" id="{24E0D700-8F0C-AA59-0C53-7B51F6E65BAA}"/>
              </a:ext>
            </a:extLst>
          </p:cNvPr>
          <p:cNvCxnSpPr>
            <a:cxnSpLocks/>
          </p:cNvCxnSpPr>
          <p:nvPr/>
        </p:nvCxnSpPr>
        <p:spPr>
          <a:xfrm>
            <a:off x="608527" y="1681803"/>
            <a:ext cx="944805" cy="0"/>
          </a:xfrm>
          <a:prstGeom prst="line">
            <a:avLst/>
          </a:prstGeom>
          <a:ln w="57150">
            <a:solidFill>
              <a:srgbClr val="10253F"/>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7642642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A42436-AC50-73E1-6EBE-63A7C5BBF420}"/>
            </a:ext>
          </a:extLst>
        </p:cNvPr>
        <p:cNvGrpSpPr/>
        <p:nvPr/>
      </p:nvGrpSpPr>
      <p:grpSpPr>
        <a:xfrm>
          <a:off x="0" y="0"/>
          <a:ext cx="0" cy="0"/>
          <a:chOff x="0" y="0"/>
          <a:chExt cx="0" cy="0"/>
        </a:xfrm>
      </p:grpSpPr>
      <p:sp>
        <p:nvSpPr>
          <p:cNvPr id="58" name="正方形/長方形 57">
            <a:extLst>
              <a:ext uri="{FF2B5EF4-FFF2-40B4-BE49-F238E27FC236}">
                <a16:creationId xmlns:a16="http://schemas.microsoft.com/office/drawing/2014/main" id="{6C8986CB-406D-05C6-C63F-77B94833C597}"/>
              </a:ext>
            </a:extLst>
          </p:cNvPr>
          <p:cNvSpPr/>
          <p:nvPr/>
        </p:nvSpPr>
        <p:spPr>
          <a:xfrm>
            <a:off x="96788" y="1045811"/>
            <a:ext cx="1935768" cy="21878"/>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100" b="1" dirty="0">
              <a:latin typeface="メイリオ" panose="020B0604030504040204" pitchFamily="50" charset="-128"/>
              <a:ea typeface="メイリオ" panose="020B0604030504040204" pitchFamily="50" charset="-128"/>
            </a:endParaRPr>
          </a:p>
        </p:txBody>
      </p:sp>
      <p:sp>
        <p:nvSpPr>
          <p:cNvPr id="5" name="テキスト ボックス 4">
            <a:extLst>
              <a:ext uri="{FF2B5EF4-FFF2-40B4-BE49-F238E27FC236}">
                <a16:creationId xmlns:a16="http://schemas.microsoft.com/office/drawing/2014/main" id="{F31CD8C5-8C6B-79E9-DFB1-36686BF9F962}"/>
              </a:ext>
            </a:extLst>
          </p:cNvPr>
          <p:cNvSpPr txBox="1"/>
          <p:nvPr/>
        </p:nvSpPr>
        <p:spPr>
          <a:xfrm>
            <a:off x="96788" y="619405"/>
            <a:ext cx="4961186" cy="369332"/>
          </a:xfrm>
          <a:prstGeom prst="rect">
            <a:avLst/>
          </a:prstGeom>
          <a:noFill/>
        </p:spPr>
        <p:txBody>
          <a:bodyPr wrap="square">
            <a:spAutoFit/>
          </a:bodyPr>
          <a:lstStyle/>
          <a:p>
            <a:r>
              <a:rPr lang="ja-JP" altLang="en-US"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市況の変化</a:t>
            </a:r>
            <a:endParaRPr lang="ja-JP" altLang="en-US" sz="1100" dirty="0"/>
          </a:p>
        </p:txBody>
      </p:sp>
      <p:sp>
        <p:nvSpPr>
          <p:cNvPr id="7" name="テキスト ボックス 6">
            <a:extLst>
              <a:ext uri="{FF2B5EF4-FFF2-40B4-BE49-F238E27FC236}">
                <a16:creationId xmlns:a16="http://schemas.microsoft.com/office/drawing/2014/main" id="{0F9B49E5-148A-C9A5-79D8-759C503842CE}"/>
              </a:ext>
            </a:extLst>
          </p:cNvPr>
          <p:cNvSpPr txBox="1"/>
          <p:nvPr/>
        </p:nvSpPr>
        <p:spPr>
          <a:xfrm>
            <a:off x="96788" y="1202790"/>
            <a:ext cx="9687414" cy="307777"/>
          </a:xfrm>
          <a:prstGeom prst="rect">
            <a:avLst/>
          </a:prstGeom>
          <a:noFill/>
        </p:spPr>
        <p:txBody>
          <a:bodyPr wrap="square">
            <a:spAutoFit/>
          </a:bodyPr>
          <a:lstStyle/>
          <a:p>
            <a:r>
              <a:rPr lang="ja-JP" altLang="en-US"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市況の変化に伴い、リスト保有・マネタイズ・</a:t>
            </a:r>
            <a:r>
              <a:rPr lang="en-US" altLang="ja-JP"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LTV</a:t>
            </a:r>
            <a:r>
              <a:rPr lang="ja-JP" altLang="en-US"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の重要性は拡大している。</a:t>
            </a:r>
            <a:endParaRPr lang="ja-JP" altLang="en-US" sz="1000" dirty="0"/>
          </a:p>
        </p:txBody>
      </p:sp>
      <p:sp>
        <p:nvSpPr>
          <p:cNvPr id="9" name="テキスト ボックス 8">
            <a:extLst>
              <a:ext uri="{FF2B5EF4-FFF2-40B4-BE49-F238E27FC236}">
                <a16:creationId xmlns:a16="http://schemas.microsoft.com/office/drawing/2014/main" id="{E8BEF693-34F0-FCA3-0D13-025ADA077FA4}"/>
              </a:ext>
            </a:extLst>
          </p:cNvPr>
          <p:cNvSpPr txBox="1"/>
          <p:nvPr/>
        </p:nvSpPr>
        <p:spPr>
          <a:xfrm>
            <a:off x="460785" y="91159"/>
            <a:ext cx="4961186" cy="369332"/>
          </a:xfrm>
          <a:prstGeom prst="rect">
            <a:avLst/>
          </a:prstGeom>
          <a:noFill/>
        </p:spPr>
        <p:txBody>
          <a:bodyPr wrap="square">
            <a:spAutoFit/>
          </a:bodyPr>
          <a:lstStyle/>
          <a:p>
            <a:r>
              <a:rPr lang="ja-JP" altLang="en-US"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 前提調査</a:t>
            </a:r>
            <a:endParaRPr lang="ja-JP" altLang="en-US" sz="1100" dirty="0"/>
          </a:p>
        </p:txBody>
      </p:sp>
      <p:sp>
        <p:nvSpPr>
          <p:cNvPr id="11" name="正方形/長方形 10">
            <a:extLst>
              <a:ext uri="{FF2B5EF4-FFF2-40B4-BE49-F238E27FC236}">
                <a16:creationId xmlns:a16="http://schemas.microsoft.com/office/drawing/2014/main" id="{0F0E6BAB-8E00-CEF9-3F7F-B243C9622CE9}"/>
              </a:ext>
            </a:extLst>
          </p:cNvPr>
          <p:cNvSpPr/>
          <p:nvPr/>
        </p:nvSpPr>
        <p:spPr>
          <a:xfrm>
            <a:off x="96788" y="1645669"/>
            <a:ext cx="9687414" cy="3577"/>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100" b="1" dirty="0">
              <a:latin typeface="メイリオ" panose="020B0604030504040204" pitchFamily="50" charset="-128"/>
              <a:ea typeface="メイリオ" panose="020B0604030504040204" pitchFamily="50" charset="-128"/>
            </a:endParaRPr>
          </a:p>
        </p:txBody>
      </p:sp>
      <p:sp>
        <p:nvSpPr>
          <p:cNvPr id="12" name="Rectangle 3">
            <a:extLst>
              <a:ext uri="{FF2B5EF4-FFF2-40B4-BE49-F238E27FC236}">
                <a16:creationId xmlns:a16="http://schemas.microsoft.com/office/drawing/2014/main" id="{AD99B47E-7A67-A20F-FA23-6FFE48B38289}"/>
              </a:ext>
            </a:extLst>
          </p:cNvPr>
          <p:cNvSpPr/>
          <p:nvPr/>
        </p:nvSpPr>
        <p:spPr>
          <a:xfrm>
            <a:off x="426720" y="1872996"/>
            <a:ext cx="155448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t"/>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l">
              <a:spcAft>
                <a:spcPts val="300"/>
              </a:spcAft>
            </a:pPr>
            <a:r>
              <a:rPr sz="1100" b="1">
                <a:solidFill>
                  <a:srgbClr val="1F2A5C"/>
                </a:solidFill>
                <a:latin typeface="メイリオ" panose="020B0604030504040204" pitchFamily="50" charset="-128"/>
                <a:ea typeface="メイリオ" panose="020B0604030504040204" pitchFamily="50" charset="-128"/>
              </a:rPr>
              <a:t>変化</a:t>
            </a:r>
          </a:p>
        </p:txBody>
      </p:sp>
      <p:sp>
        <p:nvSpPr>
          <p:cNvPr id="13" name="Rectangle 4">
            <a:extLst>
              <a:ext uri="{FF2B5EF4-FFF2-40B4-BE49-F238E27FC236}">
                <a16:creationId xmlns:a16="http://schemas.microsoft.com/office/drawing/2014/main" id="{3E0DC48D-92CE-9229-ADC8-397327218608}"/>
              </a:ext>
            </a:extLst>
          </p:cNvPr>
          <p:cNvSpPr/>
          <p:nvPr/>
        </p:nvSpPr>
        <p:spPr>
          <a:xfrm>
            <a:off x="2118360" y="1872996"/>
            <a:ext cx="265176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t"/>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l">
              <a:spcAft>
                <a:spcPts val="300"/>
              </a:spcAft>
            </a:pPr>
            <a:r>
              <a:rPr sz="1100" b="1">
                <a:solidFill>
                  <a:srgbClr val="1F2A5C"/>
                </a:solidFill>
                <a:latin typeface="メイリオ" panose="020B0604030504040204" pitchFamily="50" charset="-128"/>
                <a:ea typeface="メイリオ" panose="020B0604030504040204" pitchFamily="50" charset="-128"/>
              </a:rPr>
              <a:t>背景データ</a:t>
            </a:r>
          </a:p>
        </p:txBody>
      </p:sp>
      <p:sp>
        <p:nvSpPr>
          <p:cNvPr id="14" name="Rectangle 5">
            <a:extLst>
              <a:ext uri="{FF2B5EF4-FFF2-40B4-BE49-F238E27FC236}">
                <a16:creationId xmlns:a16="http://schemas.microsoft.com/office/drawing/2014/main" id="{E32730EA-2FDC-122D-34A0-22348B3965AF}"/>
              </a:ext>
            </a:extLst>
          </p:cNvPr>
          <p:cNvSpPr/>
          <p:nvPr/>
        </p:nvSpPr>
        <p:spPr>
          <a:xfrm>
            <a:off x="4907280" y="1872996"/>
            <a:ext cx="2011679"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t"/>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l">
              <a:spcAft>
                <a:spcPts val="300"/>
              </a:spcAft>
            </a:pPr>
            <a:r>
              <a:rPr lang="ja-JP" altLang="en-US" sz="1100" b="1" dirty="0">
                <a:solidFill>
                  <a:srgbClr val="1F2A5C"/>
                </a:solidFill>
                <a:latin typeface="メイリオ" panose="020B0604030504040204" pitchFamily="50" charset="-128"/>
                <a:ea typeface="メイリオ" panose="020B0604030504040204" pitchFamily="50" charset="-128"/>
              </a:rPr>
              <a:t>マーケティング</a:t>
            </a:r>
            <a:r>
              <a:rPr sz="1100" b="1" dirty="0" err="1">
                <a:solidFill>
                  <a:srgbClr val="1F2A5C"/>
                </a:solidFill>
                <a:latin typeface="メイリオ" panose="020B0604030504040204" pitchFamily="50" charset="-128"/>
                <a:ea typeface="メイリオ" panose="020B0604030504040204" pitchFamily="50" charset="-128"/>
              </a:rPr>
              <a:t>への影響</a:t>
            </a:r>
            <a:endParaRPr sz="1100" b="1" dirty="0">
              <a:solidFill>
                <a:srgbClr val="1F2A5C"/>
              </a:solidFill>
              <a:latin typeface="メイリオ" panose="020B0604030504040204" pitchFamily="50" charset="-128"/>
              <a:ea typeface="メイリオ" panose="020B0604030504040204" pitchFamily="50" charset="-128"/>
            </a:endParaRPr>
          </a:p>
        </p:txBody>
      </p:sp>
      <p:sp>
        <p:nvSpPr>
          <p:cNvPr id="15" name="Rectangle 6">
            <a:extLst>
              <a:ext uri="{FF2B5EF4-FFF2-40B4-BE49-F238E27FC236}">
                <a16:creationId xmlns:a16="http://schemas.microsoft.com/office/drawing/2014/main" id="{E20F6A55-5A9A-17DC-163C-8353499D7D59}"/>
              </a:ext>
            </a:extLst>
          </p:cNvPr>
          <p:cNvSpPr/>
          <p:nvPr/>
        </p:nvSpPr>
        <p:spPr>
          <a:xfrm>
            <a:off x="7056120" y="1872996"/>
            <a:ext cx="242316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t"/>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l">
              <a:spcAft>
                <a:spcPts val="300"/>
              </a:spcAft>
            </a:pPr>
            <a:r>
              <a:rPr sz="1100" b="1">
                <a:solidFill>
                  <a:srgbClr val="C8102E"/>
                </a:solidFill>
                <a:latin typeface="メイリオ" panose="020B0604030504040204" pitchFamily="50" charset="-128"/>
                <a:ea typeface="メイリオ" panose="020B0604030504040204" pitchFamily="50" charset="-128"/>
              </a:rPr>
              <a:t>LINE OAでの対応</a:t>
            </a:r>
          </a:p>
        </p:txBody>
      </p:sp>
      <p:sp>
        <p:nvSpPr>
          <p:cNvPr id="16" name="Rectangle 7">
            <a:extLst>
              <a:ext uri="{FF2B5EF4-FFF2-40B4-BE49-F238E27FC236}">
                <a16:creationId xmlns:a16="http://schemas.microsoft.com/office/drawing/2014/main" id="{5C785CCD-8743-8281-EE42-652E7CC6C711}"/>
              </a:ext>
            </a:extLst>
          </p:cNvPr>
          <p:cNvSpPr/>
          <p:nvPr/>
        </p:nvSpPr>
        <p:spPr>
          <a:xfrm>
            <a:off x="381000" y="2193036"/>
            <a:ext cx="1600200" cy="978408"/>
          </a:xfrm>
          <a:prstGeom prst="rect">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36576" rIns="109728" bIns="36576"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l">
              <a:spcAft>
                <a:spcPts val="200"/>
              </a:spcAft>
            </a:pPr>
            <a:r>
              <a:rPr sz="1800" b="1">
                <a:solidFill>
                  <a:srgbClr val="FFFFFF"/>
                </a:solidFill>
                <a:latin typeface="メイリオ" panose="020B0604030504040204" pitchFamily="50" charset="-128"/>
                <a:ea typeface="メイリオ" panose="020B0604030504040204" pitchFamily="50" charset="-128"/>
              </a:rPr>
              <a:t>①</a:t>
            </a:r>
          </a:p>
          <a:p>
            <a:pPr algn="l">
              <a:spcAft>
                <a:spcPts val="300"/>
              </a:spcAft>
            </a:pPr>
            <a:r>
              <a:rPr sz="1200" b="1">
                <a:solidFill>
                  <a:srgbClr val="FFFFFF"/>
                </a:solidFill>
                <a:latin typeface="メイリオ" panose="020B0604030504040204" pitchFamily="50" charset="-128"/>
                <a:ea typeface="メイリオ" panose="020B0604030504040204" pitchFamily="50" charset="-128"/>
              </a:rPr>
              <a:t>広告接点の早期化</a:t>
            </a:r>
          </a:p>
        </p:txBody>
      </p:sp>
      <p:sp>
        <p:nvSpPr>
          <p:cNvPr id="17" name="Rectangle 8">
            <a:extLst>
              <a:ext uri="{FF2B5EF4-FFF2-40B4-BE49-F238E27FC236}">
                <a16:creationId xmlns:a16="http://schemas.microsoft.com/office/drawing/2014/main" id="{51B35245-DA01-007C-B2BF-E2F0A67DC3C4}"/>
              </a:ext>
            </a:extLst>
          </p:cNvPr>
          <p:cNvSpPr/>
          <p:nvPr/>
        </p:nvSpPr>
        <p:spPr>
          <a:xfrm>
            <a:off x="2072640" y="2193036"/>
            <a:ext cx="2697480" cy="978408"/>
          </a:xfrm>
          <a:prstGeom prst="rect">
            <a:avLst/>
          </a:prstGeom>
          <a:solidFill>
            <a:srgbClr val="F3F5FA"/>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36576" rIns="109728" bIns="36576"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l">
              <a:spcAft>
                <a:spcPts val="100"/>
              </a:spcAft>
            </a:pPr>
            <a:r>
              <a:rPr sz="1800" b="1" dirty="0">
                <a:solidFill>
                  <a:srgbClr val="1F2A5C"/>
                </a:solidFill>
                <a:latin typeface="メイリオ" panose="020B0604030504040204" pitchFamily="50" charset="-128"/>
                <a:ea typeface="メイリオ" panose="020B0604030504040204" pitchFamily="50" charset="-128"/>
              </a:rPr>
              <a:t>7,249億円</a:t>
            </a:r>
          </a:p>
          <a:p>
            <a:pPr algn="l">
              <a:spcAft>
                <a:spcPts val="300"/>
              </a:spcAft>
            </a:pPr>
            <a:r>
              <a:rPr sz="950" b="0" dirty="0">
                <a:solidFill>
                  <a:srgbClr val="777777"/>
                </a:solidFill>
                <a:latin typeface="メイリオ" panose="020B0604030504040204" pitchFamily="50" charset="-128"/>
                <a:ea typeface="メイリオ" panose="020B0604030504040204" pitchFamily="50" charset="-128"/>
              </a:rPr>
              <a:t>動画広告市場（2024年・前年比115.9%）。</a:t>
            </a:r>
            <a:r>
              <a:rPr sz="950" b="1" dirty="0">
                <a:solidFill>
                  <a:srgbClr val="777777"/>
                </a:solidFill>
                <a:latin typeface="メイリオ" panose="020B0604030504040204" pitchFamily="50" charset="-128"/>
                <a:ea typeface="メイリオ" panose="020B0604030504040204" pitchFamily="50" charset="-128"/>
              </a:rPr>
              <a:t>縦型動画は前年比171.1%</a:t>
            </a:r>
          </a:p>
        </p:txBody>
      </p:sp>
      <p:sp>
        <p:nvSpPr>
          <p:cNvPr id="18" name="Rectangle 9">
            <a:extLst>
              <a:ext uri="{FF2B5EF4-FFF2-40B4-BE49-F238E27FC236}">
                <a16:creationId xmlns:a16="http://schemas.microsoft.com/office/drawing/2014/main" id="{8A01196A-31FA-AA2D-83D7-5C664ABF1B2A}"/>
              </a:ext>
            </a:extLst>
          </p:cNvPr>
          <p:cNvSpPr/>
          <p:nvPr/>
        </p:nvSpPr>
        <p:spPr>
          <a:xfrm>
            <a:off x="4861560" y="2193036"/>
            <a:ext cx="2057400" cy="978408"/>
          </a:xfrm>
          <a:prstGeom prst="rect">
            <a:avLst/>
          </a:prstGeom>
          <a:solidFill>
            <a:srgbClr val="F3F5FA"/>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36576" rIns="109728" bIns="36576"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l">
              <a:spcAft>
                <a:spcPts val="300"/>
              </a:spcAft>
            </a:pPr>
            <a:r>
              <a:rPr sz="1000" b="0" dirty="0" err="1">
                <a:solidFill>
                  <a:srgbClr val="333333"/>
                </a:solidFill>
                <a:latin typeface="メイリオ" panose="020B0604030504040204" pitchFamily="50" charset="-128"/>
                <a:ea typeface="メイリオ" panose="020B0604030504040204" pitchFamily="50" charset="-128"/>
              </a:rPr>
              <a:t>購入前の接触が増え</a:t>
            </a:r>
            <a:r>
              <a:rPr sz="1000" b="0" dirty="0">
                <a:solidFill>
                  <a:srgbClr val="333333"/>
                </a:solidFill>
                <a:latin typeface="メイリオ" panose="020B0604030504040204" pitchFamily="50" charset="-128"/>
                <a:ea typeface="メイリオ" panose="020B0604030504040204" pitchFamily="50" charset="-128"/>
              </a:rPr>
              <a:t>、</a:t>
            </a:r>
            <a:endParaRPr lang="en-US" sz="1000" b="0" dirty="0">
              <a:solidFill>
                <a:srgbClr val="333333"/>
              </a:solidFill>
              <a:latin typeface="メイリオ" panose="020B0604030504040204" pitchFamily="50" charset="-128"/>
              <a:ea typeface="メイリオ" panose="020B0604030504040204" pitchFamily="50" charset="-128"/>
            </a:endParaRPr>
          </a:p>
          <a:p>
            <a:pPr algn="l">
              <a:spcAft>
                <a:spcPts val="300"/>
              </a:spcAft>
            </a:pPr>
            <a:r>
              <a:rPr sz="1000" b="0" dirty="0" err="1">
                <a:solidFill>
                  <a:srgbClr val="333333"/>
                </a:solidFill>
                <a:latin typeface="メイリオ" panose="020B0604030504040204" pitchFamily="50" charset="-128"/>
                <a:ea typeface="メイリオ" panose="020B0604030504040204" pitchFamily="50" charset="-128"/>
              </a:rPr>
              <a:t>CVだけで接点の価値が見えない</a:t>
            </a:r>
            <a:endParaRPr sz="1000" b="0" dirty="0">
              <a:solidFill>
                <a:srgbClr val="333333"/>
              </a:solidFill>
              <a:latin typeface="メイリオ" panose="020B0604030504040204" pitchFamily="50" charset="-128"/>
              <a:ea typeface="メイリオ" panose="020B0604030504040204" pitchFamily="50" charset="-128"/>
            </a:endParaRPr>
          </a:p>
        </p:txBody>
      </p:sp>
      <p:sp>
        <p:nvSpPr>
          <p:cNvPr id="19" name="Rectangle 10">
            <a:extLst>
              <a:ext uri="{FF2B5EF4-FFF2-40B4-BE49-F238E27FC236}">
                <a16:creationId xmlns:a16="http://schemas.microsoft.com/office/drawing/2014/main" id="{CA8C05AB-C62C-76A1-00F4-F4DE182A4C8A}"/>
              </a:ext>
            </a:extLst>
          </p:cNvPr>
          <p:cNvSpPr/>
          <p:nvPr/>
        </p:nvSpPr>
        <p:spPr>
          <a:xfrm>
            <a:off x="7010400" y="2193036"/>
            <a:ext cx="2514600" cy="978408"/>
          </a:xfrm>
          <a:prstGeom prst="rect">
            <a:avLst/>
          </a:prstGeom>
          <a:solidFill>
            <a:srgbClr val="E4EAF6"/>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128016" tIns="36576" rIns="128016" bIns="36576"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l">
              <a:spcAft>
                <a:spcPts val="300"/>
              </a:spcAft>
            </a:pPr>
            <a:r>
              <a:rPr sz="1150" b="1" dirty="0" err="1">
                <a:solidFill>
                  <a:srgbClr val="1F2A5C"/>
                </a:solidFill>
                <a:latin typeface="メイリオ" panose="020B0604030504040204" pitchFamily="50" charset="-128"/>
                <a:ea typeface="メイリオ" panose="020B0604030504040204" pitchFamily="50" charset="-128"/>
              </a:rPr>
              <a:t>CV前に友だち化し</a:t>
            </a:r>
            <a:r>
              <a:rPr sz="1150" b="1" dirty="0">
                <a:solidFill>
                  <a:srgbClr val="1F2A5C"/>
                </a:solidFill>
                <a:latin typeface="メイリオ" panose="020B0604030504040204" pitchFamily="50" charset="-128"/>
                <a:ea typeface="メイリオ" panose="020B0604030504040204" pitchFamily="50" charset="-128"/>
              </a:rPr>
              <a:t>、</a:t>
            </a:r>
            <a:endParaRPr lang="en-US" sz="1150" b="1" dirty="0">
              <a:solidFill>
                <a:srgbClr val="1F2A5C"/>
              </a:solidFill>
              <a:latin typeface="メイリオ" panose="020B0604030504040204" pitchFamily="50" charset="-128"/>
              <a:ea typeface="メイリオ" panose="020B0604030504040204" pitchFamily="50" charset="-128"/>
            </a:endParaRPr>
          </a:p>
          <a:p>
            <a:pPr algn="l">
              <a:spcAft>
                <a:spcPts val="300"/>
              </a:spcAft>
            </a:pPr>
            <a:r>
              <a:rPr sz="1150" b="1" dirty="0" err="1">
                <a:solidFill>
                  <a:srgbClr val="1F2A5C"/>
                </a:solidFill>
                <a:latin typeface="メイリオ" panose="020B0604030504040204" pitchFamily="50" charset="-128"/>
                <a:ea typeface="メイリオ" panose="020B0604030504040204" pitchFamily="50" charset="-128"/>
              </a:rPr>
              <a:t>検討中も接点を維持する</a:t>
            </a:r>
            <a:endParaRPr sz="1150" b="1" dirty="0">
              <a:solidFill>
                <a:srgbClr val="1F2A5C"/>
              </a:solidFill>
              <a:latin typeface="メイリオ" panose="020B0604030504040204" pitchFamily="50" charset="-128"/>
              <a:ea typeface="メイリオ" panose="020B0604030504040204" pitchFamily="50" charset="-128"/>
            </a:endParaRPr>
          </a:p>
        </p:txBody>
      </p:sp>
      <p:sp>
        <p:nvSpPr>
          <p:cNvPr id="20" name="Rectangle 11">
            <a:extLst>
              <a:ext uri="{FF2B5EF4-FFF2-40B4-BE49-F238E27FC236}">
                <a16:creationId xmlns:a16="http://schemas.microsoft.com/office/drawing/2014/main" id="{A17D7EF3-1AC3-4FC4-0524-407D9564A31C}"/>
              </a:ext>
            </a:extLst>
          </p:cNvPr>
          <p:cNvSpPr/>
          <p:nvPr/>
        </p:nvSpPr>
        <p:spPr>
          <a:xfrm>
            <a:off x="381000" y="3244596"/>
            <a:ext cx="1600200" cy="978408"/>
          </a:xfrm>
          <a:prstGeom prst="rect">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36576" rIns="109728" bIns="36576"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l">
              <a:spcAft>
                <a:spcPts val="200"/>
              </a:spcAft>
            </a:pPr>
            <a:r>
              <a:rPr sz="1800" b="1">
                <a:solidFill>
                  <a:srgbClr val="FFFFFF"/>
                </a:solidFill>
                <a:latin typeface="メイリオ" panose="020B0604030504040204" pitchFamily="50" charset="-128"/>
                <a:ea typeface="メイリオ" panose="020B0604030504040204" pitchFamily="50" charset="-128"/>
              </a:rPr>
              <a:t>②</a:t>
            </a:r>
          </a:p>
          <a:p>
            <a:pPr algn="l">
              <a:spcAft>
                <a:spcPts val="300"/>
              </a:spcAft>
            </a:pPr>
            <a:r>
              <a:rPr sz="1200" b="1">
                <a:solidFill>
                  <a:srgbClr val="FFFFFF"/>
                </a:solidFill>
                <a:latin typeface="メイリオ" panose="020B0604030504040204" pitchFamily="50" charset="-128"/>
                <a:ea typeface="メイリオ" panose="020B0604030504040204" pitchFamily="50" charset="-128"/>
              </a:rPr>
              <a:t>CPCの高騰</a:t>
            </a:r>
          </a:p>
        </p:txBody>
      </p:sp>
      <p:sp>
        <p:nvSpPr>
          <p:cNvPr id="21" name="Rectangle 12">
            <a:extLst>
              <a:ext uri="{FF2B5EF4-FFF2-40B4-BE49-F238E27FC236}">
                <a16:creationId xmlns:a16="http://schemas.microsoft.com/office/drawing/2014/main" id="{9C9A8D6A-35C3-09FD-E00C-AF890038B7F2}"/>
              </a:ext>
            </a:extLst>
          </p:cNvPr>
          <p:cNvSpPr/>
          <p:nvPr/>
        </p:nvSpPr>
        <p:spPr>
          <a:xfrm>
            <a:off x="2072640" y="3244596"/>
            <a:ext cx="2697480" cy="978408"/>
          </a:xfrm>
          <a:prstGeom prst="rect">
            <a:avLst/>
          </a:prstGeom>
          <a:solidFill>
            <a:srgbClr val="F3F5FA"/>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36576" rIns="109728" bIns="36576"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l">
              <a:spcAft>
                <a:spcPts val="100"/>
              </a:spcAft>
            </a:pPr>
            <a:r>
              <a:rPr sz="1800" b="1" dirty="0">
                <a:solidFill>
                  <a:srgbClr val="1F2A5C"/>
                </a:solidFill>
                <a:latin typeface="メイリオ" panose="020B0604030504040204" pitchFamily="50" charset="-128"/>
                <a:ea typeface="メイリオ" panose="020B0604030504040204" pitchFamily="50" charset="-128"/>
              </a:rPr>
              <a:t>1兆1,931億円</a:t>
            </a:r>
          </a:p>
          <a:p>
            <a:pPr algn="l">
              <a:spcAft>
                <a:spcPts val="300"/>
              </a:spcAft>
            </a:pPr>
            <a:r>
              <a:rPr sz="950" b="0" dirty="0">
                <a:solidFill>
                  <a:srgbClr val="777777"/>
                </a:solidFill>
                <a:latin typeface="メイリオ" panose="020B0604030504040204" pitchFamily="50" charset="-128"/>
                <a:ea typeface="メイリオ" panose="020B0604030504040204" pitchFamily="50" charset="-128"/>
              </a:rPr>
              <a:t>検索連動型広告（前年比111.2%）。ネット広告媒体費は2兆9,611億円</a:t>
            </a:r>
          </a:p>
        </p:txBody>
      </p:sp>
      <p:sp>
        <p:nvSpPr>
          <p:cNvPr id="22" name="Rectangle 13">
            <a:extLst>
              <a:ext uri="{FF2B5EF4-FFF2-40B4-BE49-F238E27FC236}">
                <a16:creationId xmlns:a16="http://schemas.microsoft.com/office/drawing/2014/main" id="{45BA9884-66A6-4B9C-6CA2-F04CF341DAAF}"/>
              </a:ext>
            </a:extLst>
          </p:cNvPr>
          <p:cNvSpPr/>
          <p:nvPr/>
        </p:nvSpPr>
        <p:spPr>
          <a:xfrm>
            <a:off x="4861560" y="3244596"/>
            <a:ext cx="2057400" cy="978408"/>
          </a:xfrm>
          <a:prstGeom prst="rect">
            <a:avLst/>
          </a:prstGeom>
          <a:solidFill>
            <a:srgbClr val="F3F5FA"/>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36576" rIns="109728" bIns="36576"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l">
              <a:spcAft>
                <a:spcPts val="300"/>
              </a:spcAft>
            </a:pPr>
            <a:r>
              <a:rPr sz="1000" b="0" dirty="0" err="1">
                <a:solidFill>
                  <a:srgbClr val="333333"/>
                </a:solidFill>
                <a:latin typeface="メイリオ" panose="020B0604030504040204" pitchFamily="50" charset="-128"/>
                <a:ea typeface="メイリオ" panose="020B0604030504040204" pitchFamily="50" charset="-128"/>
              </a:rPr>
              <a:t>入札競争が続き、離脱した</a:t>
            </a:r>
            <a:endParaRPr lang="en-US" sz="1000" b="0" dirty="0">
              <a:solidFill>
                <a:srgbClr val="333333"/>
              </a:solidFill>
              <a:latin typeface="メイリオ" panose="020B0604030504040204" pitchFamily="50" charset="-128"/>
              <a:ea typeface="メイリオ" panose="020B0604030504040204" pitchFamily="50" charset="-128"/>
            </a:endParaRPr>
          </a:p>
          <a:p>
            <a:pPr algn="l">
              <a:spcAft>
                <a:spcPts val="300"/>
              </a:spcAft>
            </a:pPr>
            <a:r>
              <a:rPr sz="1000" b="0" dirty="0" err="1">
                <a:solidFill>
                  <a:srgbClr val="333333"/>
                </a:solidFill>
                <a:latin typeface="メイリオ" panose="020B0604030504040204" pitchFamily="50" charset="-128"/>
                <a:ea typeface="メイリオ" panose="020B0604030504040204" pitchFamily="50" charset="-128"/>
              </a:rPr>
              <a:t>流入の広告費が回収できない</a:t>
            </a:r>
            <a:endParaRPr lang="en-US" sz="1000" b="0" dirty="0">
              <a:solidFill>
                <a:srgbClr val="333333"/>
              </a:solidFill>
              <a:latin typeface="メイリオ" panose="020B0604030504040204" pitchFamily="50" charset="-128"/>
              <a:ea typeface="メイリオ" panose="020B0604030504040204" pitchFamily="50" charset="-128"/>
            </a:endParaRPr>
          </a:p>
          <a:p>
            <a:pPr algn="l">
              <a:spcAft>
                <a:spcPts val="300"/>
              </a:spcAft>
            </a:pPr>
            <a:r>
              <a:rPr lang="en-US" altLang="ja-JP" sz="1000" b="1" dirty="0">
                <a:solidFill>
                  <a:srgbClr val="333333"/>
                </a:solidFill>
                <a:latin typeface="メイリオ" panose="020B0604030504040204" pitchFamily="50" charset="-128"/>
                <a:ea typeface="メイリオ" panose="020B0604030504040204" pitchFamily="50" charset="-128"/>
              </a:rPr>
              <a:t>3</a:t>
            </a:r>
            <a:r>
              <a:rPr lang="ja-JP" altLang="en-US" sz="1000" b="1" dirty="0">
                <a:solidFill>
                  <a:srgbClr val="333333"/>
                </a:solidFill>
                <a:latin typeface="メイリオ" panose="020B0604030504040204" pitchFamily="50" charset="-128"/>
                <a:ea typeface="メイリオ" panose="020B0604030504040204" pitchFamily="50" charset="-128"/>
              </a:rPr>
              <a:t>年前比：</a:t>
            </a:r>
            <a:r>
              <a:rPr lang="en-US" altLang="ja-JP" sz="1000" b="1" dirty="0">
                <a:solidFill>
                  <a:srgbClr val="333333"/>
                </a:solidFill>
                <a:latin typeface="メイリオ" panose="020B0604030504040204" pitchFamily="50" charset="-128"/>
                <a:ea typeface="メイリオ" panose="020B0604030504040204" pitchFamily="50" charset="-128"/>
              </a:rPr>
              <a:t>32%</a:t>
            </a:r>
            <a:r>
              <a:rPr lang="ja-JP" altLang="en-US" sz="1000" b="1" dirty="0">
                <a:solidFill>
                  <a:srgbClr val="333333"/>
                </a:solidFill>
                <a:latin typeface="メイリオ" panose="020B0604030504040204" pitchFamily="50" charset="-128"/>
                <a:ea typeface="メイリオ" panose="020B0604030504040204" pitchFamily="50" charset="-128"/>
              </a:rPr>
              <a:t>程度増</a:t>
            </a:r>
            <a:endParaRPr sz="1000" b="1" dirty="0">
              <a:solidFill>
                <a:srgbClr val="333333"/>
              </a:solidFill>
              <a:latin typeface="メイリオ" panose="020B0604030504040204" pitchFamily="50" charset="-128"/>
              <a:ea typeface="メイリオ" panose="020B0604030504040204" pitchFamily="50" charset="-128"/>
            </a:endParaRPr>
          </a:p>
        </p:txBody>
      </p:sp>
      <p:sp>
        <p:nvSpPr>
          <p:cNvPr id="23" name="Rectangle 14">
            <a:extLst>
              <a:ext uri="{FF2B5EF4-FFF2-40B4-BE49-F238E27FC236}">
                <a16:creationId xmlns:a16="http://schemas.microsoft.com/office/drawing/2014/main" id="{0F279B57-A5CD-5ABE-1169-BA1B16859218}"/>
              </a:ext>
            </a:extLst>
          </p:cNvPr>
          <p:cNvSpPr/>
          <p:nvPr/>
        </p:nvSpPr>
        <p:spPr>
          <a:xfrm>
            <a:off x="7010400" y="3244596"/>
            <a:ext cx="2514600" cy="978408"/>
          </a:xfrm>
          <a:prstGeom prst="rect">
            <a:avLst/>
          </a:prstGeom>
          <a:solidFill>
            <a:srgbClr val="E4EAF6"/>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128016" tIns="36576" rIns="128016" bIns="36576"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l">
              <a:spcAft>
                <a:spcPts val="300"/>
              </a:spcAft>
            </a:pPr>
            <a:r>
              <a:rPr sz="1150" b="1" dirty="0" err="1">
                <a:solidFill>
                  <a:srgbClr val="1F2A5C"/>
                </a:solidFill>
                <a:latin typeface="メイリオ" panose="020B0604030504040204" pitchFamily="50" charset="-128"/>
                <a:ea typeface="メイリオ" panose="020B0604030504040204" pitchFamily="50" charset="-128"/>
              </a:rPr>
              <a:t>離脱後も友だち化し</a:t>
            </a:r>
            <a:r>
              <a:rPr sz="1150" b="1" dirty="0">
                <a:solidFill>
                  <a:srgbClr val="1F2A5C"/>
                </a:solidFill>
                <a:latin typeface="メイリオ" panose="020B0604030504040204" pitchFamily="50" charset="-128"/>
                <a:ea typeface="メイリオ" panose="020B0604030504040204" pitchFamily="50" charset="-128"/>
              </a:rPr>
              <a:t>、</a:t>
            </a:r>
            <a:endParaRPr lang="en-US" sz="1150" b="1" dirty="0">
              <a:solidFill>
                <a:srgbClr val="1F2A5C"/>
              </a:solidFill>
              <a:latin typeface="メイリオ" panose="020B0604030504040204" pitchFamily="50" charset="-128"/>
              <a:ea typeface="メイリオ" panose="020B0604030504040204" pitchFamily="50" charset="-128"/>
            </a:endParaRPr>
          </a:p>
          <a:p>
            <a:pPr algn="l">
              <a:spcAft>
                <a:spcPts val="300"/>
              </a:spcAft>
            </a:pPr>
            <a:r>
              <a:rPr lang="ja-JP" altLang="en-US" sz="1150" b="1" dirty="0">
                <a:solidFill>
                  <a:srgbClr val="FF0000"/>
                </a:solidFill>
                <a:latin typeface="メイリオ" panose="020B0604030504040204" pitchFamily="50" charset="-128"/>
                <a:ea typeface="メイリオ" panose="020B0604030504040204" pitchFamily="50" charset="-128"/>
              </a:rPr>
              <a:t>セグメント配信</a:t>
            </a:r>
            <a:r>
              <a:rPr lang="ja-JP" altLang="en-US" sz="1150" b="1" dirty="0">
                <a:solidFill>
                  <a:srgbClr val="1F2A5C"/>
                </a:solidFill>
                <a:latin typeface="メイリオ" panose="020B0604030504040204" pitchFamily="50" charset="-128"/>
                <a:ea typeface="メイリオ" panose="020B0604030504040204" pitchFamily="50" charset="-128"/>
              </a:rPr>
              <a:t>で</a:t>
            </a:r>
            <a:r>
              <a:rPr sz="1150" b="1" dirty="0" err="1">
                <a:solidFill>
                  <a:srgbClr val="1F2A5C"/>
                </a:solidFill>
                <a:latin typeface="メイリオ" panose="020B0604030504040204" pitchFamily="50" charset="-128"/>
                <a:ea typeface="メイリオ" panose="020B0604030504040204" pitchFamily="50" charset="-128"/>
              </a:rPr>
              <a:t>CV回収する</a:t>
            </a:r>
            <a:endParaRPr sz="1150" b="1" dirty="0">
              <a:solidFill>
                <a:srgbClr val="1F2A5C"/>
              </a:solidFill>
              <a:latin typeface="メイリオ" panose="020B0604030504040204" pitchFamily="50" charset="-128"/>
              <a:ea typeface="メイリオ" panose="020B0604030504040204" pitchFamily="50" charset="-128"/>
            </a:endParaRPr>
          </a:p>
        </p:txBody>
      </p:sp>
      <p:sp>
        <p:nvSpPr>
          <p:cNvPr id="24" name="Rectangle 15">
            <a:extLst>
              <a:ext uri="{FF2B5EF4-FFF2-40B4-BE49-F238E27FC236}">
                <a16:creationId xmlns:a16="http://schemas.microsoft.com/office/drawing/2014/main" id="{63F6C682-E819-BB1D-789F-194C9870942B}"/>
              </a:ext>
            </a:extLst>
          </p:cNvPr>
          <p:cNvSpPr/>
          <p:nvPr/>
        </p:nvSpPr>
        <p:spPr>
          <a:xfrm>
            <a:off x="381000" y="4296156"/>
            <a:ext cx="1600200" cy="978408"/>
          </a:xfrm>
          <a:prstGeom prst="rect">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36576" rIns="109728" bIns="36576"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l">
              <a:spcAft>
                <a:spcPts val="200"/>
              </a:spcAft>
            </a:pPr>
            <a:r>
              <a:rPr sz="1800" b="1">
                <a:solidFill>
                  <a:srgbClr val="FFFFFF"/>
                </a:solidFill>
                <a:latin typeface="メイリオ" panose="020B0604030504040204" pitchFamily="50" charset="-128"/>
                <a:ea typeface="メイリオ" panose="020B0604030504040204" pitchFamily="50" charset="-128"/>
              </a:rPr>
              <a:t>③</a:t>
            </a:r>
          </a:p>
          <a:p>
            <a:pPr algn="l">
              <a:spcAft>
                <a:spcPts val="300"/>
              </a:spcAft>
            </a:pPr>
            <a:r>
              <a:rPr sz="1200" b="1">
                <a:solidFill>
                  <a:srgbClr val="FFFFFF"/>
                </a:solidFill>
                <a:latin typeface="メイリオ" panose="020B0604030504040204" pitchFamily="50" charset="-128"/>
                <a:ea typeface="メイリオ" panose="020B0604030504040204" pitchFamily="50" charset="-128"/>
              </a:rPr>
              <a:t>リマケリストの難化</a:t>
            </a:r>
          </a:p>
        </p:txBody>
      </p:sp>
      <p:sp>
        <p:nvSpPr>
          <p:cNvPr id="25" name="Rectangle 16">
            <a:extLst>
              <a:ext uri="{FF2B5EF4-FFF2-40B4-BE49-F238E27FC236}">
                <a16:creationId xmlns:a16="http://schemas.microsoft.com/office/drawing/2014/main" id="{CE444CC6-8444-A56B-53F6-34549AA5E5D5}"/>
              </a:ext>
            </a:extLst>
          </p:cNvPr>
          <p:cNvSpPr/>
          <p:nvPr/>
        </p:nvSpPr>
        <p:spPr>
          <a:xfrm>
            <a:off x="2072640" y="4296156"/>
            <a:ext cx="2697480" cy="978408"/>
          </a:xfrm>
          <a:prstGeom prst="rect">
            <a:avLst/>
          </a:prstGeom>
          <a:solidFill>
            <a:srgbClr val="F3F5FA"/>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36576" rIns="109728" bIns="36576"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l">
              <a:spcAft>
                <a:spcPts val="100"/>
              </a:spcAft>
            </a:pPr>
            <a:r>
              <a:rPr sz="1800" b="1" dirty="0">
                <a:solidFill>
                  <a:srgbClr val="1F2A5C"/>
                </a:solidFill>
                <a:latin typeface="メイリオ" panose="020B0604030504040204" pitchFamily="50" charset="-128"/>
                <a:ea typeface="メイリオ" panose="020B0604030504040204" pitchFamily="50" charset="-128"/>
              </a:rPr>
              <a:t>7日／24時間</a:t>
            </a:r>
          </a:p>
          <a:p>
            <a:pPr algn="l">
              <a:spcAft>
                <a:spcPts val="300"/>
              </a:spcAft>
            </a:pPr>
            <a:r>
              <a:rPr sz="950" b="0" dirty="0">
                <a:solidFill>
                  <a:srgbClr val="777777"/>
                </a:solidFill>
                <a:latin typeface="メイリオ" panose="020B0604030504040204" pitchFamily="50" charset="-128"/>
                <a:ea typeface="メイリオ" panose="020B0604030504040204" pitchFamily="50" charset="-128"/>
              </a:rPr>
              <a:t>Safariの保持期間上限（2022年秋〜）。2020年に全面ブロック、法改正で同意・通知も必要</a:t>
            </a:r>
          </a:p>
        </p:txBody>
      </p:sp>
      <p:sp>
        <p:nvSpPr>
          <p:cNvPr id="26" name="Rectangle 17">
            <a:extLst>
              <a:ext uri="{FF2B5EF4-FFF2-40B4-BE49-F238E27FC236}">
                <a16:creationId xmlns:a16="http://schemas.microsoft.com/office/drawing/2014/main" id="{A35C0F42-C61B-5793-966E-BE564AA54CFB}"/>
              </a:ext>
            </a:extLst>
          </p:cNvPr>
          <p:cNvSpPr/>
          <p:nvPr/>
        </p:nvSpPr>
        <p:spPr>
          <a:xfrm>
            <a:off x="4861560" y="4296156"/>
            <a:ext cx="2057400" cy="978408"/>
          </a:xfrm>
          <a:prstGeom prst="rect">
            <a:avLst/>
          </a:prstGeom>
          <a:solidFill>
            <a:srgbClr val="F3F5FA"/>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36576" rIns="109728" bIns="36576"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l">
              <a:spcAft>
                <a:spcPts val="300"/>
              </a:spcAft>
            </a:pPr>
            <a:r>
              <a:rPr sz="1000" b="0">
                <a:solidFill>
                  <a:srgbClr val="333333"/>
                </a:solidFill>
                <a:latin typeface="メイリオ" panose="020B0604030504040204" pitchFamily="50" charset="-128"/>
                <a:ea typeface="メイリオ" panose="020B0604030504040204" pitchFamily="50" charset="-128"/>
              </a:rPr>
              <a:t>再訪問者リストを長く持てない</a:t>
            </a:r>
          </a:p>
        </p:txBody>
      </p:sp>
      <p:sp>
        <p:nvSpPr>
          <p:cNvPr id="27" name="Rectangle 18">
            <a:extLst>
              <a:ext uri="{FF2B5EF4-FFF2-40B4-BE49-F238E27FC236}">
                <a16:creationId xmlns:a16="http://schemas.microsoft.com/office/drawing/2014/main" id="{DF93DF39-4FD7-9BA0-BEEB-470FA702AFD7}"/>
              </a:ext>
            </a:extLst>
          </p:cNvPr>
          <p:cNvSpPr/>
          <p:nvPr/>
        </p:nvSpPr>
        <p:spPr>
          <a:xfrm>
            <a:off x="7010400" y="4296156"/>
            <a:ext cx="2514600" cy="978408"/>
          </a:xfrm>
          <a:prstGeom prst="rect">
            <a:avLst/>
          </a:prstGeom>
          <a:solidFill>
            <a:srgbClr val="E4EAF6"/>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128016" tIns="36576" rIns="128016" bIns="36576"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l">
              <a:spcAft>
                <a:spcPts val="300"/>
              </a:spcAft>
            </a:pPr>
            <a:r>
              <a:rPr sz="1150" b="1" dirty="0" err="1">
                <a:solidFill>
                  <a:srgbClr val="1F2A5C"/>
                </a:solidFill>
                <a:latin typeface="メイリオ" panose="020B0604030504040204" pitchFamily="50" charset="-128"/>
                <a:ea typeface="メイリオ" panose="020B0604030504040204" pitchFamily="50" charset="-128"/>
              </a:rPr>
              <a:t>許諾済みの自社リストとして</a:t>
            </a:r>
            <a:endParaRPr lang="en-US" sz="1150" b="1" dirty="0">
              <a:solidFill>
                <a:srgbClr val="1F2A5C"/>
              </a:solidFill>
              <a:latin typeface="メイリオ" panose="020B0604030504040204" pitchFamily="50" charset="-128"/>
              <a:ea typeface="メイリオ" panose="020B0604030504040204" pitchFamily="50" charset="-128"/>
            </a:endParaRPr>
          </a:p>
          <a:p>
            <a:pPr algn="l">
              <a:spcAft>
                <a:spcPts val="300"/>
              </a:spcAft>
            </a:pPr>
            <a:r>
              <a:rPr sz="1150" b="1" dirty="0" err="1">
                <a:solidFill>
                  <a:srgbClr val="1F2A5C"/>
                </a:solidFill>
                <a:latin typeface="メイリオ" panose="020B0604030504040204" pitchFamily="50" charset="-128"/>
                <a:ea typeface="メイリオ" panose="020B0604030504040204" pitchFamily="50" charset="-128"/>
              </a:rPr>
              <a:t>友だちを保持する</a:t>
            </a:r>
            <a:endParaRPr sz="1150" b="1" dirty="0">
              <a:solidFill>
                <a:srgbClr val="1F2A5C"/>
              </a:solidFill>
              <a:latin typeface="メイリオ" panose="020B0604030504040204" pitchFamily="50" charset="-128"/>
              <a:ea typeface="メイリオ" panose="020B0604030504040204" pitchFamily="50" charset="-128"/>
            </a:endParaRPr>
          </a:p>
        </p:txBody>
      </p:sp>
      <p:sp>
        <p:nvSpPr>
          <p:cNvPr id="28" name="Rectangle 19">
            <a:extLst>
              <a:ext uri="{FF2B5EF4-FFF2-40B4-BE49-F238E27FC236}">
                <a16:creationId xmlns:a16="http://schemas.microsoft.com/office/drawing/2014/main" id="{4AD57304-3963-5332-753B-F508A6F0B113}"/>
              </a:ext>
            </a:extLst>
          </p:cNvPr>
          <p:cNvSpPr/>
          <p:nvPr/>
        </p:nvSpPr>
        <p:spPr>
          <a:xfrm>
            <a:off x="381000" y="5347716"/>
            <a:ext cx="1600200" cy="978408"/>
          </a:xfrm>
          <a:prstGeom prst="rect">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36576" rIns="109728" bIns="36576"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l">
              <a:spcAft>
                <a:spcPts val="200"/>
              </a:spcAft>
            </a:pPr>
            <a:r>
              <a:rPr sz="1800" b="1" dirty="0">
                <a:solidFill>
                  <a:srgbClr val="FFFFFF"/>
                </a:solidFill>
                <a:latin typeface="メイリオ" panose="020B0604030504040204" pitchFamily="50" charset="-128"/>
                <a:ea typeface="メイリオ" panose="020B0604030504040204" pitchFamily="50" charset="-128"/>
              </a:rPr>
              <a:t>④</a:t>
            </a:r>
          </a:p>
          <a:p>
            <a:pPr algn="l">
              <a:spcAft>
                <a:spcPts val="300"/>
              </a:spcAft>
            </a:pPr>
            <a:r>
              <a:rPr sz="1200" b="1" dirty="0" err="1">
                <a:solidFill>
                  <a:srgbClr val="FFFFFF"/>
                </a:solidFill>
                <a:latin typeface="メイリオ" panose="020B0604030504040204" pitchFamily="50" charset="-128"/>
                <a:ea typeface="メイリオ" panose="020B0604030504040204" pitchFamily="50" charset="-128"/>
              </a:rPr>
              <a:t>選択肢</a:t>
            </a:r>
            <a:r>
              <a:rPr lang="ja-JP" altLang="en-US" sz="1200" b="1" dirty="0">
                <a:solidFill>
                  <a:srgbClr val="FFFFFF"/>
                </a:solidFill>
                <a:latin typeface="メイリオ" panose="020B0604030504040204" pitchFamily="50" charset="-128"/>
                <a:ea typeface="メイリオ" panose="020B0604030504040204" pitchFamily="50" charset="-128"/>
              </a:rPr>
              <a:t>の</a:t>
            </a:r>
            <a:r>
              <a:rPr sz="1200" b="1" dirty="0">
                <a:solidFill>
                  <a:srgbClr val="FFFFFF"/>
                </a:solidFill>
                <a:latin typeface="メイリオ" panose="020B0604030504040204" pitchFamily="50" charset="-128"/>
                <a:ea typeface="メイリオ" panose="020B0604030504040204" pitchFamily="50" charset="-128"/>
              </a:rPr>
              <a:t>増</a:t>
            </a:r>
            <a:r>
              <a:rPr lang="ja-JP" altLang="en-US" sz="1200" b="1" dirty="0">
                <a:solidFill>
                  <a:srgbClr val="FFFFFF"/>
                </a:solidFill>
                <a:latin typeface="メイリオ" panose="020B0604030504040204" pitchFamily="50" charset="-128"/>
                <a:ea typeface="メイリオ" panose="020B0604030504040204" pitchFamily="50" charset="-128"/>
              </a:rPr>
              <a:t>加</a:t>
            </a:r>
            <a:endParaRPr lang="en-US" sz="1200" b="1" dirty="0">
              <a:solidFill>
                <a:srgbClr val="FFFFFF"/>
              </a:solidFill>
              <a:latin typeface="メイリオ" panose="020B0604030504040204" pitchFamily="50" charset="-128"/>
              <a:ea typeface="メイリオ" panose="020B0604030504040204" pitchFamily="50" charset="-128"/>
            </a:endParaRPr>
          </a:p>
          <a:p>
            <a:pPr algn="l">
              <a:spcAft>
                <a:spcPts val="300"/>
              </a:spcAft>
            </a:pPr>
            <a:r>
              <a:rPr sz="1200" b="1" dirty="0" err="1">
                <a:solidFill>
                  <a:srgbClr val="FFFFFF"/>
                </a:solidFill>
                <a:latin typeface="メイリオ" panose="020B0604030504040204" pitchFamily="50" charset="-128"/>
                <a:ea typeface="メイリオ" panose="020B0604030504040204" pitchFamily="50" charset="-128"/>
              </a:rPr>
              <a:t>検討長期化</a:t>
            </a:r>
            <a:endParaRPr sz="1200" b="1" dirty="0">
              <a:solidFill>
                <a:srgbClr val="FFFFFF"/>
              </a:solidFill>
              <a:latin typeface="メイリオ" panose="020B0604030504040204" pitchFamily="50" charset="-128"/>
              <a:ea typeface="メイリオ" panose="020B0604030504040204" pitchFamily="50" charset="-128"/>
            </a:endParaRPr>
          </a:p>
        </p:txBody>
      </p:sp>
      <p:sp>
        <p:nvSpPr>
          <p:cNvPr id="29" name="Rectangle 20">
            <a:extLst>
              <a:ext uri="{FF2B5EF4-FFF2-40B4-BE49-F238E27FC236}">
                <a16:creationId xmlns:a16="http://schemas.microsoft.com/office/drawing/2014/main" id="{4C419739-A588-2E5A-0FCA-992B80A6DB23}"/>
              </a:ext>
            </a:extLst>
          </p:cNvPr>
          <p:cNvSpPr/>
          <p:nvPr/>
        </p:nvSpPr>
        <p:spPr>
          <a:xfrm>
            <a:off x="2072640" y="5347716"/>
            <a:ext cx="2697480" cy="978408"/>
          </a:xfrm>
          <a:prstGeom prst="rect">
            <a:avLst/>
          </a:prstGeom>
          <a:solidFill>
            <a:srgbClr val="F3F5FA"/>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36576" rIns="109728" bIns="36576"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l">
              <a:spcAft>
                <a:spcPts val="100"/>
              </a:spcAft>
            </a:pPr>
            <a:r>
              <a:rPr sz="1800" b="1" dirty="0">
                <a:solidFill>
                  <a:srgbClr val="1F2A5C"/>
                </a:solidFill>
                <a:latin typeface="メイリオ" panose="020B0604030504040204" pitchFamily="50" charset="-128"/>
                <a:ea typeface="メイリオ" panose="020B0604030504040204" pitchFamily="50" charset="-128"/>
              </a:rPr>
              <a:t>9,900万人</a:t>
            </a:r>
          </a:p>
          <a:p>
            <a:pPr algn="l">
              <a:spcAft>
                <a:spcPts val="300"/>
              </a:spcAft>
            </a:pPr>
            <a:r>
              <a:rPr sz="950" b="0" dirty="0">
                <a:solidFill>
                  <a:srgbClr val="777777"/>
                </a:solidFill>
                <a:latin typeface="メイリオ" panose="020B0604030504040204" pitchFamily="50" charset="-128"/>
                <a:ea typeface="メイリオ" panose="020B0604030504040204" pitchFamily="50" charset="-128"/>
              </a:rPr>
              <a:t>LINE月間利用者（2025年6月末）。広告費は前年比110.2%で比較対象が増加</a:t>
            </a:r>
          </a:p>
        </p:txBody>
      </p:sp>
      <p:sp>
        <p:nvSpPr>
          <p:cNvPr id="30" name="Rectangle 21">
            <a:extLst>
              <a:ext uri="{FF2B5EF4-FFF2-40B4-BE49-F238E27FC236}">
                <a16:creationId xmlns:a16="http://schemas.microsoft.com/office/drawing/2014/main" id="{4DBE8D20-D000-63F5-78E8-0E87974E1648}"/>
              </a:ext>
            </a:extLst>
          </p:cNvPr>
          <p:cNvSpPr/>
          <p:nvPr/>
        </p:nvSpPr>
        <p:spPr>
          <a:xfrm>
            <a:off x="4861560" y="5347716"/>
            <a:ext cx="2057400" cy="978408"/>
          </a:xfrm>
          <a:prstGeom prst="rect">
            <a:avLst/>
          </a:prstGeom>
          <a:solidFill>
            <a:srgbClr val="F3F5FA"/>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36576" rIns="109728" bIns="36576"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l">
              <a:spcAft>
                <a:spcPts val="300"/>
              </a:spcAft>
            </a:pPr>
            <a:r>
              <a:rPr sz="1000" b="0" dirty="0">
                <a:solidFill>
                  <a:srgbClr val="333333"/>
                </a:solidFill>
                <a:latin typeface="メイリオ" panose="020B0604030504040204" pitchFamily="50" charset="-128"/>
                <a:ea typeface="メイリオ" panose="020B0604030504040204" pitchFamily="50" charset="-128"/>
              </a:rPr>
              <a:t>1回の接触では決まらず、</a:t>
            </a:r>
            <a:endParaRPr lang="en-US" sz="1000" b="0" dirty="0">
              <a:solidFill>
                <a:srgbClr val="333333"/>
              </a:solidFill>
              <a:latin typeface="メイリオ" panose="020B0604030504040204" pitchFamily="50" charset="-128"/>
              <a:ea typeface="メイリオ" panose="020B0604030504040204" pitchFamily="50" charset="-128"/>
            </a:endParaRPr>
          </a:p>
          <a:p>
            <a:pPr algn="l">
              <a:spcAft>
                <a:spcPts val="300"/>
              </a:spcAft>
            </a:pPr>
            <a:r>
              <a:rPr sz="1000" b="0" dirty="0" err="1">
                <a:solidFill>
                  <a:srgbClr val="333333"/>
                </a:solidFill>
                <a:latin typeface="メイリオ" panose="020B0604030504040204" pitchFamily="50" charset="-128"/>
                <a:ea typeface="メイリオ" panose="020B0604030504040204" pitchFamily="50" charset="-128"/>
              </a:rPr>
              <a:t>離脱後の追客が要る</a:t>
            </a:r>
            <a:endParaRPr sz="1000" b="0" dirty="0">
              <a:solidFill>
                <a:srgbClr val="333333"/>
              </a:solidFill>
              <a:latin typeface="メイリオ" panose="020B0604030504040204" pitchFamily="50" charset="-128"/>
              <a:ea typeface="メイリオ" panose="020B0604030504040204" pitchFamily="50" charset="-128"/>
            </a:endParaRPr>
          </a:p>
        </p:txBody>
      </p:sp>
      <p:sp>
        <p:nvSpPr>
          <p:cNvPr id="31" name="Rectangle 22">
            <a:extLst>
              <a:ext uri="{FF2B5EF4-FFF2-40B4-BE49-F238E27FC236}">
                <a16:creationId xmlns:a16="http://schemas.microsoft.com/office/drawing/2014/main" id="{E546F08F-DCDF-7DC5-B4A8-B1568842B1C8}"/>
              </a:ext>
            </a:extLst>
          </p:cNvPr>
          <p:cNvSpPr/>
          <p:nvPr/>
        </p:nvSpPr>
        <p:spPr>
          <a:xfrm>
            <a:off x="7010400" y="5347716"/>
            <a:ext cx="2514600" cy="978408"/>
          </a:xfrm>
          <a:prstGeom prst="rect">
            <a:avLst/>
          </a:prstGeom>
          <a:solidFill>
            <a:srgbClr val="E4EAF6"/>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128016" tIns="36576" rIns="128016" bIns="36576"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l">
              <a:spcAft>
                <a:spcPts val="300"/>
              </a:spcAft>
            </a:pPr>
            <a:r>
              <a:rPr sz="1150" b="1" dirty="0" err="1">
                <a:solidFill>
                  <a:srgbClr val="1F2A5C"/>
                </a:solidFill>
                <a:latin typeface="メイリオ" panose="020B0604030504040204" pitchFamily="50" charset="-128"/>
                <a:ea typeface="メイリオ" panose="020B0604030504040204" pitchFamily="50" charset="-128"/>
              </a:rPr>
              <a:t>検討段階に合わせて</a:t>
            </a:r>
            <a:endParaRPr lang="en-US" sz="1150" b="1" dirty="0">
              <a:solidFill>
                <a:srgbClr val="1F2A5C"/>
              </a:solidFill>
              <a:latin typeface="メイリオ" panose="020B0604030504040204" pitchFamily="50" charset="-128"/>
              <a:ea typeface="メイリオ" panose="020B0604030504040204" pitchFamily="50" charset="-128"/>
            </a:endParaRPr>
          </a:p>
          <a:p>
            <a:pPr algn="l">
              <a:spcAft>
                <a:spcPts val="300"/>
              </a:spcAft>
            </a:pPr>
            <a:r>
              <a:rPr sz="1150" b="1" dirty="0" err="1">
                <a:solidFill>
                  <a:srgbClr val="FF0000"/>
                </a:solidFill>
                <a:latin typeface="メイリオ" panose="020B0604030504040204" pitchFamily="50" charset="-128"/>
                <a:ea typeface="メイリオ" panose="020B0604030504040204" pitchFamily="50" charset="-128"/>
              </a:rPr>
              <a:t>ステップ配信</a:t>
            </a:r>
            <a:r>
              <a:rPr sz="1150" b="1" dirty="0" err="1">
                <a:solidFill>
                  <a:srgbClr val="1F2A5C"/>
                </a:solidFill>
                <a:latin typeface="メイリオ" panose="020B0604030504040204" pitchFamily="50" charset="-128"/>
                <a:ea typeface="メイリオ" panose="020B0604030504040204" pitchFamily="50" charset="-128"/>
              </a:rPr>
              <a:t>で接触する</a:t>
            </a:r>
            <a:endParaRPr sz="1150" b="1" dirty="0">
              <a:solidFill>
                <a:srgbClr val="1F2A5C"/>
              </a:solidFill>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276938170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6542F3-A366-2F77-BD90-8553126BF310}"/>
            </a:ext>
          </a:extLst>
        </p:cNvPr>
        <p:cNvGrpSpPr/>
        <p:nvPr/>
      </p:nvGrpSpPr>
      <p:grpSpPr>
        <a:xfrm>
          <a:off x="0" y="0"/>
          <a:ext cx="0" cy="0"/>
          <a:chOff x="0" y="0"/>
          <a:chExt cx="0" cy="0"/>
        </a:xfrm>
      </p:grpSpPr>
      <p:sp>
        <p:nvSpPr>
          <p:cNvPr id="58" name="正方形/長方形 57">
            <a:extLst>
              <a:ext uri="{FF2B5EF4-FFF2-40B4-BE49-F238E27FC236}">
                <a16:creationId xmlns:a16="http://schemas.microsoft.com/office/drawing/2014/main" id="{10EB49B5-9FC5-84CA-4DB1-FD1822B1AD4A}"/>
              </a:ext>
            </a:extLst>
          </p:cNvPr>
          <p:cNvSpPr/>
          <p:nvPr/>
        </p:nvSpPr>
        <p:spPr>
          <a:xfrm>
            <a:off x="96788" y="1045811"/>
            <a:ext cx="1935768" cy="21878"/>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100" b="1" dirty="0">
              <a:latin typeface="メイリオ" panose="020B0604030504040204" pitchFamily="50" charset="-128"/>
              <a:ea typeface="メイリオ" panose="020B0604030504040204" pitchFamily="50" charset="-128"/>
            </a:endParaRPr>
          </a:p>
        </p:txBody>
      </p:sp>
      <p:sp>
        <p:nvSpPr>
          <p:cNvPr id="3" name="正方形/長方形 2">
            <a:extLst>
              <a:ext uri="{FF2B5EF4-FFF2-40B4-BE49-F238E27FC236}">
                <a16:creationId xmlns:a16="http://schemas.microsoft.com/office/drawing/2014/main" id="{AAE0FF34-E36F-DACD-C81B-257EFD178A28}"/>
              </a:ext>
            </a:extLst>
          </p:cNvPr>
          <p:cNvSpPr/>
          <p:nvPr/>
        </p:nvSpPr>
        <p:spPr>
          <a:xfrm>
            <a:off x="96788" y="1645669"/>
            <a:ext cx="9687414" cy="3577"/>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100" b="1" dirty="0">
              <a:latin typeface="メイリオ" panose="020B0604030504040204" pitchFamily="50" charset="-128"/>
              <a:ea typeface="メイリオ" panose="020B0604030504040204" pitchFamily="50" charset="-128"/>
            </a:endParaRPr>
          </a:p>
        </p:txBody>
      </p:sp>
      <p:sp>
        <p:nvSpPr>
          <p:cNvPr id="5" name="テキスト ボックス 4">
            <a:extLst>
              <a:ext uri="{FF2B5EF4-FFF2-40B4-BE49-F238E27FC236}">
                <a16:creationId xmlns:a16="http://schemas.microsoft.com/office/drawing/2014/main" id="{ACBE40DF-02FF-09AD-254C-C183AF288F03}"/>
              </a:ext>
            </a:extLst>
          </p:cNvPr>
          <p:cNvSpPr txBox="1"/>
          <p:nvPr/>
        </p:nvSpPr>
        <p:spPr>
          <a:xfrm>
            <a:off x="96788" y="619405"/>
            <a:ext cx="4961186" cy="369332"/>
          </a:xfrm>
          <a:prstGeom prst="rect">
            <a:avLst/>
          </a:prstGeom>
          <a:noFill/>
        </p:spPr>
        <p:txBody>
          <a:bodyPr wrap="square">
            <a:spAutoFit/>
          </a:bodyPr>
          <a:lstStyle/>
          <a:p>
            <a:r>
              <a:rPr lang="en-US" altLang="ja-JP"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LINEOA</a:t>
            </a:r>
            <a:r>
              <a:rPr lang="ja-JP" altLang="en-US"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公式基礎</a:t>
            </a:r>
            <a:endParaRPr lang="ja-JP" altLang="en-US" sz="1100" dirty="0"/>
          </a:p>
        </p:txBody>
      </p:sp>
      <p:sp>
        <p:nvSpPr>
          <p:cNvPr id="7" name="テキスト ボックス 6">
            <a:extLst>
              <a:ext uri="{FF2B5EF4-FFF2-40B4-BE49-F238E27FC236}">
                <a16:creationId xmlns:a16="http://schemas.microsoft.com/office/drawing/2014/main" id="{6F82A582-FD96-0975-8BC7-695742F3474E}"/>
              </a:ext>
            </a:extLst>
          </p:cNvPr>
          <p:cNvSpPr txBox="1"/>
          <p:nvPr/>
        </p:nvSpPr>
        <p:spPr>
          <a:xfrm>
            <a:off x="96788" y="1202790"/>
            <a:ext cx="9687414" cy="307777"/>
          </a:xfrm>
          <a:prstGeom prst="rect">
            <a:avLst/>
          </a:prstGeom>
          <a:noFill/>
        </p:spPr>
        <p:txBody>
          <a:bodyPr wrap="square">
            <a:spAutoFit/>
          </a:bodyPr>
          <a:lstStyle/>
          <a:p>
            <a:r>
              <a:rPr lang="ja-JP" altLang="en-US"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市況変化に伴い、</a:t>
            </a:r>
            <a:r>
              <a:rPr lang="en-US" altLang="ja-JP"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LINE</a:t>
            </a:r>
            <a:r>
              <a:rPr lang="ja-JP" altLang="en-US"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施策の必要性が増加。反応率の高い</a:t>
            </a:r>
            <a:r>
              <a:rPr lang="en-US" altLang="ja-JP"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LINE</a:t>
            </a:r>
            <a:r>
              <a:rPr lang="ja-JP" altLang="en-US"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公式を効率化することでマーケティングを最適化。</a:t>
            </a:r>
            <a:endParaRPr lang="ja-JP" altLang="en-US" sz="1000" dirty="0"/>
          </a:p>
        </p:txBody>
      </p:sp>
      <p:sp>
        <p:nvSpPr>
          <p:cNvPr id="9" name="テキスト ボックス 8">
            <a:extLst>
              <a:ext uri="{FF2B5EF4-FFF2-40B4-BE49-F238E27FC236}">
                <a16:creationId xmlns:a16="http://schemas.microsoft.com/office/drawing/2014/main" id="{AA2B66CF-65F8-FB43-708F-6D49976FCE64}"/>
              </a:ext>
            </a:extLst>
          </p:cNvPr>
          <p:cNvSpPr txBox="1"/>
          <p:nvPr/>
        </p:nvSpPr>
        <p:spPr>
          <a:xfrm>
            <a:off x="460785" y="91159"/>
            <a:ext cx="4961186" cy="369332"/>
          </a:xfrm>
          <a:prstGeom prst="rect">
            <a:avLst/>
          </a:prstGeom>
          <a:noFill/>
        </p:spPr>
        <p:txBody>
          <a:bodyPr wrap="square">
            <a:spAutoFit/>
          </a:bodyPr>
          <a:lstStyle/>
          <a:p>
            <a:r>
              <a:rPr lang="ja-JP" altLang="en-US"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 前提調査</a:t>
            </a:r>
            <a:endParaRPr lang="ja-JP" altLang="en-US" sz="1100" dirty="0"/>
          </a:p>
        </p:txBody>
      </p:sp>
      <p:pic>
        <p:nvPicPr>
          <p:cNvPr id="23" name="図 22">
            <a:extLst>
              <a:ext uri="{FF2B5EF4-FFF2-40B4-BE49-F238E27FC236}">
                <a16:creationId xmlns:a16="http://schemas.microsoft.com/office/drawing/2014/main" id="{A3ED5CD5-2475-1675-D861-6DF0FEF85224}"/>
              </a:ext>
            </a:extLst>
          </p:cNvPr>
          <p:cNvPicPr>
            <a:picLocks noChangeAspect="1"/>
          </p:cNvPicPr>
          <p:nvPr/>
        </p:nvPicPr>
        <p:blipFill>
          <a:blip r:embed="rId2"/>
          <a:stretch>
            <a:fillRect/>
          </a:stretch>
        </p:blipFill>
        <p:spPr>
          <a:xfrm>
            <a:off x="4731535" y="1769209"/>
            <a:ext cx="4865885" cy="2313349"/>
          </a:xfrm>
          <a:prstGeom prst="rect">
            <a:avLst/>
          </a:prstGeom>
        </p:spPr>
      </p:pic>
      <p:pic>
        <p:nvPicPr>
          <p:cNvPr id="55" name="図 54">
            <a:extLst>
              <a:ext uri="{FF2B5EF4-FFF2-40B4-BE49-F238E27FC236}">
                <a16:creationId xmlns:a16="http://schemas.microsoft.com/office/drawing/2014/main" id="{6F101A2A-4E40-54D6-6EFF-FC688C1D2F0B}"/>
              </a:ext>
            </a:extLst>
          </p:cNvPr>
          <p:cNvPicPr>
            <a:picLocks noChangeAspect="1"/>
          </p:cNvPicPr>
          <p:nvPr/>
        </p:nvPicPr>
        <p:blipFill>
          <a:blip r:embed="rId3"/>
          <a:stretch>
            <a:fillRect/>
          </a:stretch>
        </p:blipFill>
        <p:spPr>
          <a:xfrm>
            <a:off x="121721" y="1796423"/>
            <a:ext cx="4547463" cy="2282442"/>
          </a:xfrm>
          <a:prstGeom prst="rect">
            <a:avLst/>
          </a:prstGeom>
        </p:spPr>
      </p:pic>
      <p:pic>
        <p:nvPicPr>
          <p:cNvPr id="4" name="図 3">
            <a:extLst>
              <a:ext uri="{FF2B5EF4-FFF2-40B4-BE49-F238E27FC236}">
                <a16:creationId xmlns:a16="http://schemas.microsoft.com/office/drawing/2014/main" id="{E64EEB20-E6D7-1754-B863-CE02D1637BAF}"/>
              </a:ext>
            </a:extLst>
          </p:cNvPr>
          <p:cNvPicPr>
            <a:picLocks noChangeAspect="1"/>
          </p:cNvPicPr>
          <p:nvPr/>
        </p:nvPicPr>
        <p:blipFill>
          <a:blip r:embed="rId4"/>
          <a:stretch>
            <a:fillRect/>
          </a:stretch>
        </p:blipFill>
        <p:spPr>
          <a:xfrm>
            <a:off x="4743273" y="4163531"/>
            <a:ext cx="5026817" cy="2263604"/>
          </a:xfrm>
          <a:prstGeom prst="rect">
            <a:avLst/>
          </a:prstGeom>
        </p:spPr>
      </p:pic>
      <p:pic>
        <p:nvPicPr>
          <p:cNvPr id="8" name="図 7">
            <a:extLst>
              <a:ext uri="{FF2B5EF4-FFF2-40B4-BE49-F238E27FC236}">
                <a16:creationId xmlns:a16="http://schemas.microsoft.com/office/drawing/2014/main" id="{4155BE30-8F47-BE42-0733-C328ACCE19E0}"/>
              </a:ext>
            </a:extLst>
          </p:cNvPr>
          <p:cNvPicPr>
            <a:picLocks noChangeAspect="1"/>
          </p:cNvPicPr>
          <p:nvPr/>
        </p:nvPicPr>
        <p:blipFill>
          <a:blip r:embed="rId5"/>
          <a:stretch>
            <a:fillRect/>
          </a:stretch>
        </p:blipFill>
        <p:spPr>
          <a:xfrm>
            <a:off x="144233" y="4162283"/>
            <a:ext cx="4502439" cy="2249497"/>
          </a:xfrm>
          <a:prstGeom prst="rect">
            <a:avLst/>
          </a:prstGeom>
        </p:spPr>
      </p:pic>
    </p:spTree>
    <p:extLst>
      <p:ext uri="{BB962C8B-B14F-4D97-AF65-F5344CB8AC3E}">
        <p14:creationId xmlns:p14="http://schemas.microsoft.com/office/powerpoint/2010/main" val="88681943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85F785-21C2-3B5C-6EEA-F1CBBF75AF74}"/>
            </a:ext>
          </a:extLst>
        </p:cNvPr>
        <p:cNvGrpSpPr/>
        <p:nvPr/>
      </p:nvGrpSpPr>
      <p:grpSpPr>
        <a:xfrm>
          <a:off x="0" y="0"/>
          <a:ext cx="0" cy="0"/>
          <a:chOff x="0" y="0"/>
          <a:chExt cx="0" cy="0"/>
        </a:xfrm>
      </p:grpSpPr>
      <p:sp>
        <p:nvSpPr>
          <p:cNvPr id="58" name="正方形/長方形 57">
            <a:extLst>
              <a:ext uri="{FF2B5EF4-FFF2-40B4-BE49-F238E27FC236}">
                <a16:creationId xmlns:a16="http://schemas.microsoft.com/office/drawing/2014/main" id="{0A6CFA27-8734-0256-59C9-95D2B252C115}"/>
              </a:ext>
            </a:extLst>
          </p:cNvPr>
          <p:cNvSpPr/>
          <p:nvPr/>
        </p:nvSpPr>
        <p:spPr>
          <a:xfrm>
            <a:off x="96788" y="1045811"/>
            <a:ext cx="1935768" cy="21878"/>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100" b="1" dirty="0">
              <a:latin typeface="メイリオ" panose="020B0604030504040204" pitchFamily="50" charset="-128"/>
              <a:ea typeface="メイリオ" panose="020B0604030504040204" pitchFamily="50" charset="-128"/>
            </a:endParaRPr>
          </a:p>
        </p:txBody>
      </p:sp>
      <p:sp>
        <p:nvSpPr>
          <p:cNvPr id="5" name="テキスト ボックス 4">
            <a:extLst>
              <a:ext uri="{FF2B5EF4-FFF2-40B4-BE49-F238E27FC236}">
                <a16:creationId xmlns:a16="http://schemas.microsoft.com/office/drawing/2014/main" id="{3705FD20-7673-B4F7-9F0F-FDAA55CE0655}"/>
              </a:ext>
            </a:extLst>
          </p:cNvPr>
          <p:cNvSpPr txBox="1"/>
          <p:nvPr/>
        </p:nvSpPr>
        <p:spPr>
          <a:xfrm>
            <a:off x="96788" y="619405"/>
            <a:ext cx="4961186" cy="369332"/>
          </a:xfrm>
          <a:prstGeom prst="rect">
            <a:avLst/>
          </a:prstGeom>
          <a:noFill/>
        </p:spPr>
        <p:txBody>
          <a:bodyPr wrap="square">
            <a:spAutoFit/>
          </a:bodyPr>
          <a:lstStyle/>
          <a:p>
            <a:r>
              <a:rPr lang="en-US" altLang="ja-JP"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LINEOA</a:t>
            </a:r>
            <a:r>
              <a:rPr lang="ja-JP" altLang="en-US"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公式基礎</a:t>
            </a:r>
            <a:endParaRPr lang="ja-JP" altLang="en-US" sz="1100" dirty="0"/>
          </a:p>
        </p:txBody>
      </p:sp>
      <p:sp>
        <p:nvSpPr>
          <p:cNvPr id="7" name="テキスト ボックス 6">
            <a:extLst>
              <a:ext uri="{FF2B5EF4-FFF2-40B4-BE49-F238E27FC236}">
                <a16:creationId xmlns:a16="http://schemas.microsoft.com/office/drawing/2014/main" id="{4C9CF45E-C71E-D1AB-5CC4-7A1544E4139F}"/>
              </a:ext>
            </a:extLst>
          </p:cNvPr>
          <p:cNvSpPr txBox="1"/>
          <p:nvPr/>
        </p:nvSpPr>
        <p:spPr>
          <a:xfrm>
            <a:off x="96788" y="1202790"/>
            <a:ext cx="7594930" cy="307777"/>
          </a:xfrm>
          <a:prstGeom prst="rect">
            <a:avLst/>
          </a:prstGeom>
          <a:noFill/>
        </p:spPr>
        <p:txBody>
          <a:bodyPr wrap="square">
            <a:spAutoFit/>
          </a:bodyPr>
          <a:lstStyle/>
          <a:p>
            <a:r>
              <a:rPr lang="ja-JP" altLang="en-US"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市況変化の中で、</a:t>
            </a:r>
            <a:r>
              <a:rPr lang="en-US" altLang="ja-JP"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LINE</a:t>
            </a:r>
            <a:r>
              <a:rPr lang="ja-JP" altLang="en-US"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公式アカウントを導入・最適化すべき</a:t>
            </a:r>
            <a:r>
              <a:rPr lang="en-US" altLang="ja-JP"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4</a:t>
            </a:r>
            <a:r>
              <a:rPr lang="ja-JP" altLang="en-US"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つの理由</a:t>
            </a:r>
            <a:endParaRPr lang="ja-JP" altLang="en-US" sz="1000" dirty="0"/>
          </a:p>
        </p:txBody>
      </p:sp>
      <p:sp>
        <p:nvSpPr>
          <p:cNvPr id="9" name="テキスト ボックス 8">
            <a:extLst>
              <a:ext uri="{FF2B5EF4-FFF2-40B4-BE49-F238E27FC236}">
                <a16:creationId xmlns:a16="http://schemas.microsoft.com/office/drawing/2014/main" id="{2466A3D1-79A2-FC11-5F03-CB24F3F95CFB}"/>
              </a:ext>
            </a:extLst>
          </p:cNvPr>
          <p:cNvSpPr txBox="1"/>
          <p:nvPr/>
        </p:nvSpPr>
        <p:spPr>
          <a:xfrm>
            <a:off x="460785" y="91159"/>
            <a:ext cx="4961186" cy="369332"/>
          </a:xfrm>
          <a:prstGeom prst="rect">
            <a:avLst/>
          </a:prstGeom>
          <a:noFill/>
        </p:spPr>
        <p:txBody>
          <a:bodyPr wrap="square">
            <a:spAutoFit/>
          </a:bodyPr>
          <a:lstStyle/>
          <a:p>
            <a:r>
              <a:rPr lang="ja-JP" altLang="en-US"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 前提調査</a:t>
            </a:r>
            <a:endParaRPr lang="ja-JP" altLang="en-US" sz="1100" dirty="0"/>
          </a:p>
        </p:txBody>
      </p:sp>
      <p:pic>
        <p:nvPicPr>
          <p:cNvPr id="70" name="図 69">
            <a:extLst>
              <a:ext uri="{FF2B5EF4-FFF2-40B4-BE49-F238E27FC236}">
                <a16:creationId xmlns:a16="http://schemas.microsoft.com/office/drawing/2014/main" id="{BD57C684-39A2-ED1F-858B-037F82BEC993}"/>
              </a:ext>
            </a:extLst>
          </p:cNvPr>
          <p:cNvPicPr>
            <a:picLocks noChangeAspect="1"/>
          </p:cNvPicPr>
          <p:nvPr/>
        </p:nvPicPr>
        <p:blipFill>
          <a:blip r:embed="rId2"/>
          <a:stretch>
            <a:fillRect/>
          </a:stretch>
        </p:blipFill>
        <p:spPr>
          <a:xfrm>
            <a:off x="4743273" y="4163531"/>
            <a:ext cx="5026817" cy="2263604"/>
          </a:xfrm>
          <a:prstGeom prst="rect">
            <a:avLst/>
          </a:prstGeom>
        </p:spPr>
      </p:pic>
      <p:pic>
        <p:nvPicPr>
          <p:cNvPr id="72" name="図 71">
            <a:extLst>
              <a:ext uri="{FF2B5EF4-FFF2-40B4-BE49-F238E27FC236}">
                <a16:creationId xmlns:a16="http://schemas.microsoft.com/office/drawing/2014/main" id="{CAD0F638-4BB5-8204-757C-602FB0EFC388}"/>
              </a:ext>
            </a:extLst>
          </p:cNvPr>
          <p:cNvPicPr>
            <a:picLocks noChangeAspect="1"/>
          </p:cNvPicPr>
          <p:nvPr/>
        </p:nvPicPr>
        <p:blipFill>
          <a:blip r:embed="rId3"/>
          <a:stretch>
            <a:fillRect/>
          </a:stretch>
        </p:blipFill>
        <p:spPr>
          <a:xfrm>
            <a:off x="144233" y="4162283"/>
            <a:ext cx="4502439" cy="2249497"/>
          </a:xfrm>
          <a:prstGeom prst="rect">
            <a:avLst/>
          </a:prstGeom>
        </p:spPr>
      </p:pic>
      <p:pic>
        <p:nvPicPr>
          <p:cNvPr id="89" name="図 88">
            <a:extLst>
              <a:ext uri="{FF2B5EF4-FFF2-40B4-BE49-F238E27FC236}">
                <a16:creationId xmlns:a16="http://schemas.microsoft.com/office/drawing/2014/main" id="{1E7DD73A-5ACE-57F2-3D84-1CCFDEA9CEE5}"/>
              </a:ext>
            </a:extLst>
          </p:cNvPr>
          <p:cNvPicPr>
            <a:picLocks noChangeAspect="1"/>
          </p:cNvPicPr>
          <p:nvPr/>
        </p:nvPicPr>
        <p:blipFill>
          <a:blip r:embed="rId4"/>
          <a:stretch>
            <a:fillRect/>
          </a:stretch>
        </p:blipFill>
        <p:spPr>
          <a:xfrm>
            <a:off x="4731535" y="1777918"/>
            <a:ext cx="4865885" cy="2313349"/>
          </a:xfrm>
          <a:prstGeom prst="rect">
            <a:avLst/>
          </a:prstGeom>
        </p:spPr>
      </p:pic>
      <p:pic>
        <p:nvPicPr>
          <p:cNvPr id="91" name="図 90">
            <a:extLst>
              <a:ext uri="{FF2B5EF4-FFF2-40B4-BE49-F238E27FC236}">
                <a16:creationId xmlns:a16="http://schemas.microsoft.com/office/drawing/2014/main" id="{FCAF1797-0FF8-82BA-FC52-3C1CCD7A2ED5}"/>
              </a:ext>
            </a:extLst>
          </p:cNvPr>
          <p:cNvPicPr>
            <a:picLocks noChangeAspect="1"/>
          </p:cNvPicPr>
          <p:nvPr/>
        </p:nvPicPr>
        <p:blipFill>
          <a:blip r:embed="rId5"/>
          <a:stretch>
            <a:fillRect/>
          </a:stretch>
        </p:blipFill>
        <p:spPr>
          <a:xfrm>
            <a:off x="121721" y="1805132"/>
            <a:ext cx="4547463" cy="2282442"/>
          </a:xfrm>
          <a:prstGeom prst="rect">
            <a:avLst/>
          </a:prstGeom>
        </p:spPr>
      </p:pic>
      <p:sp>
        <p:nvSpPr>
          <p:cNvPr id="109" name="正方形/長方形 108">
            <a:extLst>
              <a:ext uri="{FF2B5EF4-FFF2-40B4-BE49-F238E27FC236}">
                <a16:creationId xmlns:a16="http://schemas.microsoft.com/office/drawing/2014/main" id="{75E2613C-ECFC-1043-6B48-5CC36CDAEA49}"/>
              </a:ext>
            </a:extLst>
          </p:cNvPr>
          <p:cNvSpPr/>
          <p:nvPr/>
        </p:nvSpPr>
        <p:spPr>
          <a:xfrm>
            <a:off x="79632" y="1705966"/>
            <a:ext cx="9721727" cy="4805339"/>
          </a:xfrm>
          <a:prstGeom prst="rect">
            <a:avLst/>
          </a:prstGeom>
          <a:solidFill>
            <a:schemeClr val="bg1">
              <a:alpha val="6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tLang="ja-JP" sz="1400" dirty="0">
              <a:solidFill>
                <a:schemeClr val="tx1"/>
              </a:solidFill>
              <a:latin typeface="メイリオ" panose="020B0604030504040204" pitchFamily="50" charset="-128"/>
              <a:ea typeface="メイリオ" panose="020B0604030504040204" pitchFamily="50" charset="-128"/>
            </a:endParaRPr>
          </a:p>
        </p:txBody>
      </p:sp>
      <p:sp>
        <p:nvSpPr>
          <p:cNvPr id="111" name="正方形/長方形 110">
            <a:extLst>
              <a:ext uri="{FF2B5EF4-FFF2-40B4-BE49-F238E27FC236}">
                <a16:creationId xmlns:a16="http://schemas.microsoft.com/office/drawing/2014/main" id="{99739246-55F4-690F-7FCA-3A6125F81DC0}"/>
              </a:ext>
            </a:extLst>
          </p:cNvPr>
          <p:cNvSpPr/>
          <p:nvPr/>
        </p:nvSpPr>
        <p:spPr>
          <a:xfrm>
            <a:off x="212090" y="1717992"/>
            <a:ext cx="4646483" cy="2328629"/>
          </a:xfrm>
          <a:prstGeom prst="rect">
            <a:avLst/>
          </a:prstGeom>
          <a:solidFill>
            <a:schemeClr val="bg1">
              <a:lumMod val="85000"/>
              <a:alpha val="4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2000" b="1" dirty="0">
                <a:solidFill>
                  <a:schemeClr val="tx1"/>
                </a:solidFill>
                <a:latin typeface="メイリオ" panose="020B0604030504040204" pitchFamily="50" charset="-128"/>
                <a:ea typeface="メイリオ" panose="020B0604030504040204" pitchFamily="50" charset="-128"/>
              </a:rPr>
              <a:t>LINE</a:t>
            </a:r>
            <a:r>
              <a:rPr lang="ja-JP" altLang="en-US" sz="2000" b="1" dirty="0">
                <a:solidFill>
                  <a:schemeClr val="tx1"/>
                </a:solidFill>
                <a:latin typeface="メイリオ" panose="020B0604030504040204" pitchFamily="50" charset="-128"/>
                <a:ea typeface="メイリオ" panose="020B0604030504040204" pitchFamily="50" charset="-128"/>
              </a:rPr>
              <a:t>施策の重要性</a:t>
            </a:r>
            <a:endParaRPr lang="en-US" altLang="ja-JP" sz="2000" b="1" dirty="0">
              <a:solidFill>
                <a:schemeClr val="tx1"/>
              </a:solidFill>
              <a:latin typeface="メイリオ" panose="020B0604030504040204" pitchFamily="50" charset="-128"/>
              <a:ea typeface="メイリオ" panose="020B0604030504040204" pitchFamily="50" charset="-128"/>
            </a:endParaRPr>
          </a:p>
          <a:p>
            <a:pPr algn="ctr"/>
            <a:endParaRPr lang="en-US" altLang="ja-JP" sz="1400" b="1" dirty="0">
              <a:solidFill>
                <a:schemeClr val="tx1"/>
              </a:solidFill>
              <a:latin typeface="メイリオ" panose="020B0604030504040204" pitchFamily="50" charset="-128"/>
              <a:ea typeface="メイリオ" panose="020B0604030504040204" pitchFamily="50" charset="-128"/>
            </a:endParaRPr>
          </a:p>
          <a:p>
            <a:pPr algn="ctr"/>
            <a:r>
              <a:rPr lang="ja-JP" altLang="en-US" sz="1400" b="1" dirty="0">
                <a:solidFill>
                  <a:schemeClr val="tx1"/>
                </a:solidFill>
                <a:latin typeface="メイリオ" panose="020B0604030504040204" pitchFamily="50" charset="-128"/>
                <a:ea typeface="メイリオ" panose="020B0604030504040204" pitchFamily="50" charset="-128"/>
              </a:rPr>
              <a:t>開封率、開封時間ともに高効率</a:t>
            </a:r>
            <a:r>
              <a:rPr lang="ja-JP" altLang="en-US" sz="1400" dirty="0">
                <a:solidFill>
                  <a:schemeClr val="tx1"/>
                </a:solidFill>
                <a:latin typeface="メイリオ" panose="020B0604030504040204" pitchFamily="50" charset="-128"/>
                <a:ea typeface="メイリオ" panose="020B0604030504040204" pitchFamily="50" charset="-128"/>
              </a:rPr>
              <a:t>。</a:t>
            </a:r>
            <a:endParaRPr lang="en-US" altLang="ja-JP" sz="1400" dirty="0">
              <a:solidFill>
                <a:schemeClr val="tx1"/>
              </a:solidFill>
              <a:latin typeface="メイリオ" panose="020B0604030504040204" pitchFamily="50" charset="-128"/>
              <a:ea typeface="メイリオ" panose="020B0604030504040204" pitchFamily="50" charset="-128"/>
            </a:endParaRPr>
          </a:p>
          <a:p>
            <a:pPr algn="ctr"/>
            <a:r>
              <a:rPr lang="ja-JP" altLang="en-US" sz="1400" dirty="0">
                <a:solidFill>
                  <a:schemeClr val="tx1"/>
                </a:solidFill>
                <a:latin typeface="メイリオ" panose="020B0604030504040204" pitchFamily="50" charset="-128"/>
                <a:ea typeface="メイリオ" panose="020B0604030504040204" pitchFamily="50" charset="-128"/>
              </a:rPr>
              <a:t>今後のマーケティングに必須のチャネル。</a:t>
            </a:r>
            <a:endParaRPr lang="en-US" altLang="ja-JP" sz="1400" dirty="0">
              <a:solidFill>
                <a:schemeClr val="tx1"/>
              </a:solidFill>
              <a:latin typeface="メイリオ" panose="020B0604030504040204" pitchFamily="50" charset="-128"/>
              <a:ea typeface="メイリオ" panose="020B0604030504040204" pitchFamily="50" charset="-128"/>
            </a:endParaRPr>
          </a:p>
        </p:txBody>
      </p:sp>
      <p:sp>
        <p:nvSpPr>
          <p:cNvPr id="113" name="正方形/長方形 112">
            <a:extLst>
              <a:ext uri="{FF2B5EF4-FFF2-40B4-BE49-F238E27FC236}">
                <a16:creationId xmlns:a16="http://schemas.microsoft.com/office/drawing/2014/main" id="{36DF7064-F61C-CF57-16F4-3ED4FE3F0D7A}"/>
              </a:ext>
            </a:extLst>
          </p:cNvPr>
          <p:cNvSpPr/>
          <p:nvPr/>
        </p:nvSpPr>
        <p:spPr>
          <a:xfrm>
            <a:off x="4929998" y="1717020"/>
            <a:ext cx="4646483" cy="2328629"/>
          </a:xfrm>
          <a:prstGeom prst="rect">
            <a:avLst/>
          </a:prstGeom>
          <a:solidFill>
            <a:schemeClr val="bg1">
              <a:lumMod val="85000"/>
              <a:alpha val="4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2000" b="1" dirty="0">
                <a:solidFill>
                  <a:schemeClr val="tx1"/>
                </a:solidFill>
                <a:latin typeface="メイリオ" panose="020B0604030504040204" pitchFamily="50" charset="-128"/>
                <a:ea typeface="メイリオ" panose="020B0604030504040204" pitchFamily="50" charset="-128"/>
              </a:rPr>
              <a:t>友だち追加後の最適化</a:t>
            </a:r>
            <a:endParaRPr lang="en-US" altLang="ja-JP" sz="2000" b="1" dirty="0">
              <a:solidFill>
                <a:schemeClr val="tx1"/>
              </a:solidFill>
              <a:latin typeface="メイリオ" panose="020B0604030504040204" pitchFamily="50" charset="-128"/>
              <a:ea typeface="メイリオ" panose="020B0604030504040204" pitchFamily="50" charset="-128"/>
            </a:endParaRPr>
          </a:p>
          <a:p>
            <a:pPr algn="ctr"/>
            <a:endParaRPr lang="en-US" altLang="ja-JP" sz="1400" b="1" dirty="0">
              <a:solidFill>
                <a:schemeClr val="tx1"/>
              </a:solidFill>
              <a:latin typeface="メイリオ" panose="020B0604030504040204" pitchFamily="50" charset="-128"/>
              <a:ea typeface="メイリオ" panose="020B0604030504040204" pitchFamily="50" charset="-128"/>
            </a:endParaRPr>
          </a:p>
          <a:p>
            <a:pPr algn="ctr"/>
            <a:r>
              <a:rPr lang="en-US" altLang="ja-JP" sz="1400" dirty="0">
                <a:solidFill>
                  <a:schemeClr val="tx1"/>
                </a:solidFill>
                <a:latin typeface="メイリオ" panose="020B0604030504040204" pitchFamily="50" charset="-128"/>
                <a:ea typeface="メイリオ" panose="020B0604030504040204" pitchFamily="50" charset="-128"/>
              </a:rPr>
              <a:t>LINE</a:t>
            </a:r>
            <a:r>
              <a:rPr lang="ja-JP" altLang="en-US" sz="1400" dirty="0">
                <a:solidFill>
                  <a:schemeClr val="tx1"/>
                </a:solidFill>
                <a:latin typeface="メイリオ" panose="020B0604030504040204" pitchFamily="50" charset="-128"/>
                <a:ea typeface="メイリオ" panose="020B0604030504040204" pitchFamily="50" charset="-128"/>
              </a:rPr>
              <a:t>友だち追加後</a:t>
            </a:r>
            <a:r>
              <a:rPr lang="en-US" altLang="ja-JP" sz="1400" dirty="0">
                <a:solidFill>
                  <a:schemeClr val="tx1"/>
                </a:solidFill>
                <a:latin typeface="メイリオ" panose="020B0604030504040204" pitchFamily="50" charset="-128"/>
                <a:ea typeface="メイリオ" panose="020B0604030504040204" pitchFamily="50" charset="-128"/>
              </a:rPr>
              <a:t>30</a:t>
            </a:r>
            <a:r>
              <a:rPr lang="ja-JP" altLang="en-US" sz="1400" dirty="0">
                <a:solidFill>
                  <a:schemeClr val="tx1"/>
                </a:solidFill>
                <a:latin typeface="メイリオ" panose="020B0604030504040204" pitchFamily="50" charset="-128"/>
                <a:ea typeface="メイリオ" panose="020B0604030504040204" pitchFamily="50" charset="-128"/>
              </a:rPr>
              <a:t>日、</a:t>
            </a:r>
            <a:endParaRPr lang="en-US" altLang="ja-JP" sz="1400" dirty="0">
              <a:solidFill>
                <a:schemeClr val="tx1"/>
              </a:solidFill>
              <a:latin typeface="メイリオ" panose="020B0604030504040204" pitchFamily="50" charset="-128"/>
              <a:ea typeface="メイリオ" panose="020B0604030504040204" pitchFamily="50" charset="-128"/>
            </a:endParaRPr>
          </a:p>
          <a:p>
            <a:pPr algn="ctr"/>
            <a:r>
              <a:rPr lang="ja-JP" altLang="en-US" sz="1400" b="1" dirty="0">
                <a:solidFill>
                  <a:schemeClr val="tx1"/>
                </a:solidFill>
                <a:latin typeface="メイリオ" panose="020B0604030504040204" pitchFamily="50" charset="-128"/>
                <a:ea typeface="メイリオ" panose="020B0604030504040204" pitchFamily="50" charset="-128"/>
              </a:rPr>
              <a:t>初期誘導の最適化は重要性が高い</a:t>
            </a:r>
            <a:r>
              <a:rPr lang="ja-JP" altLang="en-US" sz="1400" dirty="0">
                <a:solidFill>
                  <a:schemeClr val="tx1"/>
                </a:solidFill>
                <a:latin typeface="メイリオ" panose="020B0604030504040204" pitchFamily="50" charset="-128"/>
                <a:ea typeface="メイリオ" panose="020B0604030504040204" pitchFamily="50" charset="-128"/>
              </a:rPr>
              <a:t>。</a:t>
            </a:r>
            <a:endParaRPr lang="en-US" altLang="ja-JP" sz="1400" dirty="0">
              <a:solidFill>
                <a:schemeClr val="tx1"/>
              </a:solidFill>
              <a:latin typeface="メイリオ" panose="020B0604030504040204" pitchFamily="50" charset="-128"/>
              <a:ea typeface="メイリオ" panose="020B0604030504040204" pitchFamily="50" charset="-128"/>
            </a:endParaRPr>
          </a:p>
        </p:txBody>
      </p:sp>
      <p:sp>
        <p:nvSpPr>
          <p:cNvPr id="115" name="正方形/長方形 114">
            <a:extLst>
              <a:ext uri="{FF2B5EF4-FFF2-40B4-BE49-F238E27FC236}">
                <a16:creationId xmlns:a16="http://schemas.microsoft.com/office/drawing/2014/main" id="{B413D49B-5D6C-8C2D-7652-878361DCE9FD}"/>
              </a:ext>
            </a:extLst>
          </p:cNvPr>
          <p:cNvSpPr/>
          <p:nvPr/>
        </p:nvSpPr>
        <p:spPr>
          <a:xfrm>
            <a:off x="212090" y="4103895"/>
            <a:ext cx="4646483" cy="2328629"/>
          </a:xfrm>
          <a:prstGeom prst="rect">
            <a:avLst/>
          </a:prstGeom>
          <a:solidFill>
            <a:schemeClr val="bg1">
              <a:lumMod val="85000"/>
              <a:alpha val="4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2000" b="1" dirty="0">
                <a:solidFill>
                  <a:srgbClr val="FF0000"/>
                </a:solidFill>
                <a:latin typeface="メイリオ" panose="020B0604030504040204" pitchFamily="50" charset="-128"/>
                <a:ea typeface="メイリオ" panose="020B0604030504040204" pitchFamily="50" charset="-128"/>
              </a:rPr>
              <a:t>集客</a:t>
            </a:r>
            <a:r>
              <a:rPr kumimoji="1" lang="en-US" altLang="ja-JP" sz="2000" b="1" dirty="0">
                <a:solidFill>
                  <a:srgbClr val="FF0000"/>
                </a:solidFill>
                <a:latin typeface="メイリオ" panose="020B0604030504040204" pitchFamily="50" charset="-128"/>
                <a:ea typeface="メイリオ" panose="020B0604030504040204" pitchFamily="50" charset="-128"/>
              </a:rPr>
              <a:t>CPA</a:t>
            </a:r>
            <a:r>
              <a:rPr kumimoji="1" lang="ja-JP" altLang="en-US" sz="2000" b="1" dirty="0">
                <a:solidFill>
                  <a:srgbClr val="FF0000"/>
                </a:solidFill>
                <a:latin typeface="メイリオ" panose="020B0604030504040204" pitchFamily="50" charset="-128"/>
                <a:ea typeface="メイリオ" panose="020B0604030504040204" pitchFamily="50" charset="-128"/>
              </a:rPr>
              <a:t>改善の必要性</a:t>
            </a:r>
            <a:endParaRPr kumimoji="1" lang="en-US" altLang="ja-JP" sz="2000" b="1" dirty="0">
              <a:solidFill>
                <a:srgbClr val="FF0000"/>
              </a:solidFill>
              <a:latin typeface="メイリオ" panose="020B0604030504040204" pitchFamily="50" charset="-128"/>
              <a:ea typeface="メイリオ" panose="020B0604030504040204" pitchFamily="50" charset="-128"/>
            </a:endParaRPr>
          </a:p>
          <a:p>
            <a:pPr algn="ctr"/>
            <a:endParaRPr lang="en-US" altLang="ja-JP" sz="1400" b="1" dirty="0">
              <a:solidFill>
                <a:srgbClr val="FF0000"/>
              </a:solidFill>
              <a:latin typeface="メイリオ" panose="020B0604030504040204" pitchFamily="50" charset="-128"/>
              <a:ea typeface="メイリオ" panose="020B0604030504040204" pitchFamily="50" charset="-128"/>
            </a:endParaRPr>
          </a:p>
          <a:p>
            <a:pPr algn="ctr"/>
            <a:r>
              <a:rPr kumimoji="1" lang="ja-JP" altLang="en-US" sz="1400" dirty="0">
                <a:solidFill>
                  <a:srgbClr val="FF0000"/>
                </a:solidFill>
                <a:latin typeface="メイリオ" panose="020B0604030504040204" pitchFamily="50" charset="-128"/>
                <a:ea typeface="メイリオ" panose="020B0604030504040204" pitchFamily="50" charset="-128"/>
              </a:rPr>
              <a:t>広告離脱の</a:t>
            </a:r>
            <a:r>
              <a:rPr kumimoji="1" lang="en-US" altLang="ja-JP" sz="1400" dirty="0">
                <a:solidFill>
                  <a:srgbClr val="FF0000"/>
                </a:solidFill>
                <a:latin typeface="メイリオ" panose="020B0604030504040204" pitchFamily="50" charset="-128"/>
                <a:ea typeface="メイリオ" panose="020B0604030504040204" pitchFamily="50" charset="-128"/>
              </a:rPr>
              <a:t>98%</a:t>
            </a:r>
            <a:r>
              <a:rPr kumimoji="1" lang="ja-JP" altLang="en-US" sz="1400" dirty="0">
                <a:solidFill>
                  <a:srgbClr val="FF0000"/>
                </a:solidFill>
                <a:latin typeface="メイリオ" panose="020B0604030504040204" pitchFamily="50" charset="-128"/>
                <a:ea typeface="メイリオ" panose="020B0604030504040204" pitchFamily="50" charset="-128"/>
              </a:rPr>
              <a:t>は接触が難しい。</a:t>
            </a:r>
            <a:endParaRPr kumimoji="1" lang="en-US" altLang="ja-JP" sz="1400" dirty="0">
              <a:solidFill>
                <a:srgbClr val="FF0000"/>
              </a:solidFill>
              <a:latin typeface="メイリオ" panose="020B0604030504040204" pitchFamily="50" charset="-128"/>
              <a:ea typeface="メイリオ" panose="020B0604030504040204" pitchFamily="50" charset="-128"/>
            </a:endParaRPr>
          </a:p>
          <a:p>
            <a:pPr algn="ctr"/>
            <a:r>
              <a:rPr lang="ja-JP" altLang="en-US" sz="1400" b="1" dirty="0">
                <a:solidFill>
                  <a:srgbClr val="FF0000"/>
                </a:solidFill>
                <a:latin typeface="メイリオ" panose="020B0604030504040204" pitchFamily="50" charset="-128"/>
                <a:ea typeface="メイリオ" panose="020B0604030504040204" pitchFamily="50" charset="-128"/>
              </a:rPr>
              <a:t>離脱理由を洗い出し再追客へ</a:t>
            </a:r>
            <a:r>
              <a:rPr lang="ja-JP" altLang="en-US" sz="1400" dirty="0">
                <a:solidFill>
                  <a:srgbClr val="FF0000"/>
                </a:solidFill>
                <a:latin typeface="メイリオ" panose="020B0604030504040204" pitchFamily="50" charset="-128"/>
                <a:ea typeface="メイリオ" panose="020B0604030504040204" pitchFamily="50" charset="-128"/>
              </a:rPr>
              <a:t>乗せる。</a:t>
            </a:r>
            <a:endParaRPr kumimoji="1" lang="en-US" altLang="ja-JP" sz="1400" dirty="0">
              <a:solidFill>
                <a:srgbClr val="FF0000"/>
              </a:solidFill>
              <a:latin typeface="メイリオ" panose="020B0604030504040204" pitchFamily="50" charset="-128"/>
              <a:ea typeface="メイリオ" panose="020B0604030504040204" pitchFamily="50" charset="-128"/>
            </a:endParaRPr>
          </a:p>
        </p:txBody>
      </p:sp>
      <p:sp>
        <p:nvSpPr>
          <p:cNvPr id="119" name="正方形/長方形 118">
            <a:extLst>
              <a:ext uri="{FF2B5EF4-FFF2-40B4-BE49-F238E27FC236}">
                <a16:creationId xmlns:a16="http://schemas.microsoft.com/office/drawing/2014/main" id="{C700F13F-7FE1-285C-0D95-84AA99805426}"/>
              </a:ext>
            </a:extLst>
          </p:cNvPr>
          <p:cNvSpPr/>
          <p:nvPr/>
        </p:nvSpPr>
        <p:spPr>
          <a:xfrm>
            <a:off x="4929998" y="4103895"/>
            <a:ext cx="4646483" cy="2328629"/>
          </a:xfrm>
          <a:prstGeom prst="rect">
            <a:avLst/>
          </a:prstGeom>
          <a:solidFill>
            <a:schemeClr val="bg1">
              <a:lumMod val="85000"/>
              <a:alpha val="4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2000" b="1" dirty="0">
                <a:solidFill>
                  <a:srgbClr val="FF0000"/>
                </a:solidFill>
                <a:latin typeface="メイリオ" panose="020B0604030504040204" pitchFamily="50" charset="-128"/>
                <a:ea typeface="メイリオ" panose="020B0604030504040204" pitchFamily="50" charset="-128"/>
              </a:rPr>
              <a:t>CPO</a:t>
            </a:r>
            <a:r>
              <a:rPr lang="ja-JP" altLang="en-US" sz="2000" b="1" dirty="0">
                <a:solidFill>
                  <a:srgbClr val="FF0000"/>
                </a:solidFill>
                <a:latin typeface="メイリオ" panose="020B0604030504040204" pitchFamily="50" charset="-128"/>
                <a:ea typeface="メイリオ" panose="020B0604030504040204" pitchFamily="50" charset="-128"/>
              </a:rPr>
              <a:t>・</a:t>
            </a:r>
            <a:r>
              <a:rPr lang="en-US" altLang="ja-JP" sz="2000" b="1" dirty="0">
                <a:solidFill>
                  <a:srgbClr val="FF0000"/>
                </a:solidFill>
                <a:latin typeface="メイリオ" panose="020B0604030504040204" pitchFamily="50" charset="-128"/>
                <a:ea typeface="メイリオ" panose="020B0604030504040204" pitchFamily="50" charset="-128"/>
              </a:rPr>
              <a:t>CPA</a:t>
            </a:r>
            <a:r>
              <a:rPr lang="ja-JP" altLang="en-US" sz="2000" b="1" dirty="0">
                <a:solidFill>
                  <a:srgbClr val="FF0000"/>
                </a:solidFill>
                <a:latin typeface="メイリオ" panose="020B0604030504040204" pitchFamily="50" charset="-128"/>
                <a:ea typeface="メイリオ" panose="020B0604030504040204" pitchFamily="50" charset="-128"/>
              </a:rPr>
              <a:t>改善</a:t>
            </a:r>
            <a:endParaRPr lang="en-US" altLang="ja-JP" sz="2000" b="1" dirty="0">
              <a:solidFill>
                <a:srgbClr val="FF0000"/>
              </a:solidFill>
              <a:latin typeface="メイリオ" panose="020B0604030504040204" pitchFamily="50" charset="-128"/>
              <a:ea typeface="メイリオ" panose="020B0604030504040204" pitchFamily="50" charset="-128"/>
            </a:endParaRPr>
          </a:p>
          <a:p>
            <a:pPr algn="ctr"/>
            <a:endParaRPr lang="en-US" altLang="ja-JP" sz="1400" b="1" dirty="0">
              <a:solidFill>
                <a:srgbClr val="FF0000"/>
              </a:solidFill>
              <a:latin typeface="メイリオ" panose="020B0604030504040204" pitchFamily="50" charset="-128"/>
              <a:ea typeface="メイリオ" panose="020B0604030504040204" pitchFamily="50" charset="-128"/>
            </a:endParaRPr>
          </a:p>
          <a:p>
            <a:pPr algn="ctr"/>
            <a:r>
              <a:rPr lang="ja-JP" altLang="en-US" sz="1400" dirty="0">
                <a:solidFill>
                  <a:srgbClr val="FF0000"/>
                </a:solidFill>
                <a:latin typeface="メイリオ" panose="020B0604030504040204" pitchFamily="50" charset="-128"/>
                <a:ea typeface="メイリオ" panose="020B0604030504040204" pitchFamily="50" charset="-128"/>
              </a:rPr>
              <a:t>成果地点、課金地点には、</a:t>
            </a:r>
            <a:endParaRPr lang="en-US" altLang="ja-JP" sz="1400" dirty="0">
              <a:solidFill>
                <a:srgbClr val="FF0000"/>
              </a:solidFill>
              <a:latin typeface="メイリオ" panose="020B0604030504040204" pitchFamily="50" charset="-128"/>
              <a:ea typeface="メイリオ" panose="020B0604030504040204" pitchFamily="50" charset="-128"/>
            </a:endParaRPr>
          </a:p>
          <a:p>
            <a:pPr algn="ctr"/>
            <a:r>
              <a:rPr lang="en-US" altLang="ja-JP" sz="1400" b="1" dirty="0">
                <a:solidFill>
                  <a:srgbClr val="FF0000"/>
                </a:solidFill>
                <a:latin typeface="メイリオ" panose="020B0604030504040204" pitchFamily="50" charset="-128"/>
                <a:ea typeface="メイリオ" panose="020B0604030504040204" pitchFamily="50" charset="-128"/>
              </a:rPr>
              <a:t>LINE</a:t>
            </a:r>
            <a:r>
              <a:rPr lang="ja-JP" altLang="en-US" sz="1400" b="1" dirty="0">
                <a:solidFill>
                  <a:srgbClr val="FF0000"/>
                </a:solidFill>
                <a:latin typeface="メイリオ" panose="020B0604030504040204" pitchFamily="50" charset="-128"/>
                <a:ea typeface="メイリオ" panose="020B0604030504040204" pitchFamily="50" charset="-128"/>
              </a:rPr>
              <a:t>追加から平均</a:t>
            </a:r>
            <a:r>
              <a:rPr lang="en-US" altLang="ja-JP" sz="1400" b="1" dirty="0">
                <a:solidFill>
                  <a:srgbClr val="FF0000"/>
                </a:solidFill>
                <a:latin typeface="メイリオ" panose="020B0604030504040204" pitchFamily="50" charset="-128"/>
                <a:ea typeface="メイリオ" panose="020B0604030504040204" pitchFamily="50" charset="-128"/>
              </a:rPr>
              <a:t>3%</a:t>
            </a:r>
            <a:r>
              <a:rPr lang="ja-JP" altLang="en-US" sz="1400" b="1" dirty="0">
                <a:solidFill>
                  <a:srgbClr val="FF0000"/>
                </a:solidFill>
                <a:latin typeface="メイリオ" panose="020B0604030504040204" pitchFamily="50" charset="-128"/>
                <a:ea typeface="メイリオ" panose="020B0604030504040204" pitchFamily="50" charset="-128"/>
              </a:rPr>
              <a:t>が到達</a:t>
            </a:r>
            <a:r>
              <a:rPr lang="ja-JP" altLang="en-US" sz="1400" dirty="0">
                <a:solidFill>
                  <a:srgbClr val="FF0000"/>
                </a:solidFill>
                <a:latin typeface="メイリオ" panose="020B0604030504040204" pitchFamily="50" charset="-128"/>
                <a:ea typeface="メイリオ" panose="020B0604030504040204" pitchFamily="50" charset="-128"/>
              </a:rPr>
              <a:t>する。</a:t>
            </a:r>
            <a:endParaRPr lang="en-US" altLang="ja-JP" sz="1400" dirty="0">
              <a:solidFill>
                <a:srgbClr val="FF0000"/>
              </a:solidFill>
              <a:latin typeface="メイリオ" panose="020B0604030504040204" pitchFamily="50" charset="-128"/>
              <a:ea typeface="メイリオ" panose="020B0604030504040204" pitchFamily="50" charset="-128"/>
            </a:endParaRPr>
          </a:p>
        </p:txBody>
      </p:sp>
      <p:sp>
        <p:nvSpPr>
          <p:cNvPr id="123" name="テキスト ボックス 122">
            <a:extLst>
              <a:ext uri="{FF2B5EF4-FFF2-40B4-BE49-F238E27FC236}">
                <a16:creationId xmlns:a16="http://schemas.microsoft.com/office/drawing/2014/main" id="{9E10ACB5-DE72-A1D7-3234-7AA6EA065B02}"/>
              </a:ext>
            </a:extLst>
          </p:cNvPr>
          <p:cNvSpPr txBox="1"/>
          <p:nvPr/>
        </p:nvSpPr>
        <p:spPr>
          <a:xfrm>
            <a:off x="5001123" y="5732571"/>
            <a:ext cx="4512622" cy="230832"/>
          </a:xfrm>
          <a:prstGeom prst="rect">
            <a:avLst/>
          </a:prstGeom>
          <a:noFill/>
        </p:spPr>
        <p:txBody>
          <a:bodyPr wrap="square">
            <a:spAutoFit/>
          </a:bodyPr>
          <a:lstStyle/>
          <a:p>
            <a:pPr algn="ctr"/>
            <a:r>
              <a:rPr lang="ja-JP" altLang="en-US" sz="900" dirty="0">
                <a:solidFill>
                  <a:srgbClr val="FF0000"/>
                </a:solidFill>
                <a:latin typeface="メイリオ" panose="020B0604030504040204" pitchFamily="50" charset="-128"/>
                <a:ea typeface="メイリオ" panose="020B0604030504040204" pitchFamily="50" charset="-128"/>
              </a:rPr>
              <a:t>友だち追加動線により変動します。</a:t>
            </a:r>
            <a:endParaRPr lang="ja-JP" altLang="en-US" sz="1050" dirty="0"/>
          </a:p>
        </p:txBody>
      </p:sp>
      <p:sp>
        <p:nvSpPr>
          <p:cNvPr id="125" name="正方形/長方形 124">
            <a:extLst>
              <a:ext uri="{FF2B5EF4-FFF2-40B4-BE49-F238E27FC236}">
                <a16:creationId xmlns:a16="http://schemas.microsoft.com/office/drawing/2014/main" id="{8AA79FF8-045D-B91F-3862-26BD57F723BA}"/>
              </a:ext>
            </a:extLst>
          </p:cNvPr>
          <p:cNvSpPr/>
          <p:nvPr/>
        </p:nvSpPr>
        <p:spPr>
          <a:xfrm>
            <a:off x="96788" y="1645669"/>
            <a:ext cx="9687414" cy="3577"/>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100" b="1" dirty="0">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181905972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 name="正方形/長方形 57">
            <a:extLst>
              <a:ext uri="{FF2B5EF4-FFF2-40B4-BE49-F238E27FC236}">
                <a16:creationId xmlns:a16="http://schemas.microsoft.com/office/drawing/2014/main" id="{44A10F2E-7086-34EF-5EA3-C29208499DA7}"/>
              </a:ext>
            </a:extLst>
          </p:cNvPr>
          <p:cNvSpPr/>
          <p:nvPr/>
        </p:nvSpPr>
        <p:spPr>
          <a:xfrm>
            <a:off x="96788" y="1045811"/>
            <a:ext cx="3840480" cy="21878"/>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100" b="1" dirty="0">
              <a:latin typeface="メイリオ" panose="020B0604030504040204" pitchFamily="50" charset="-128"/>
              <a:ea typeface="メイリオ" panose="020B0604030504040204" pitchFamily="50" charset="-128"/>
            </a:endParaRPr>
          </a:p>
        </p:txBody>
      </p:sp>
      <p:sp>
        <p:nvSpPr>
          <p:cNvPr id="3" name="正方形/長方形 2">
            <a:extLst>
              <a:ext uri="{FF2B5EF4-FFF2-40B4-BE49-F238E27FC236}">
                <a16:creationId xmlns:a16="http://schemas.microsoft.com/office/drawing/2014/main" id="{D5D17E13-7926-4FEF-B3DF-46643C07A612}"/>
              </a:ext>
            </a:extLst>
          </p:cNvPr>
          <p:cNvSpPr/>
          <p:nvPr/>
        </p:nvSpPr>
        <p:spPr>
          <a:xfrm>
            <a:off x="96788" y="1645669"/>
            <a:ext cx="9687414" cy="3577"/>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100" b="1" dirty="0">
              <a:latin typeface="メイリオ" panose="020B0604030504040204" pitchFamily="50" charset="-128"/>
              <a:ea typeface="メイリオ" panose="020B0604030504040204" pitchFamily="50" charset="-128"/>
            </a:endParaRPr>
          </a:p>
        </p:txBody>
      </p:sp>
      <p:sp>
        <p:nvSpPr>
          <p:cNvPr id="5" name="テキスト ボックス 4">
            <a:extLst>
              <a:ext uri="{FF2B5EF4-FFF2-40B4-BE49-F238E27FC236}">
                <a16:creationId xmlns:a16="http://schemas.microsoft.com/office/drawing/2014/main" id="{42E8D0AC-7EB6-A26E-FB83-BB611CE20B52}"/>
              </a:ext>
            </a:extLst>
          </p:cNvPr>
          <p:cNvSpPr txBox="1"/>
          <p:nvPr/>
        </p:nvSpPr>
        <p:spPr>
          <a:xfrm>
            <a:off x="96788" y="619405"/>
            <a:ext cx="4961186" cy="369332"/>
          </a:xfrm>
          <a:prstGeom prst="rect">
            <a:avLst/>
          </a:prstGeom>
          <a:noFill/>
        </p:spPr>
        <p:txBody>
          <a:bodyPr wrap="square">
            <a:spAutoFit/>
          </a:bodyPr>
          <a:lstStyle/>
          <a:p>
            <a:r>
              <a:rPr lang="ja-JP" altLang="en-US"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リゾートバイト業界のLINE活用</a:t>
            </a:r>
            <a:endParaRPr lang="ja-JP" altLang="en-US" sz="1100" dirty="0"/>
          </a:p>
        </p:txBody>
      </p:sp>
      <p:sp>
        <p:nvSpPr>
          <p:cNvPr id="7" name="テキスト ボックス 6">
            <a:extLst>
              <a:ext uri="{FF2B5EF4-FFF2-40B4-BE49-F238E27FC236}">
                <a16:creationId xmlns:a16="http://schemas.microsoft.com/office/drawing/2014/main" id="{A23B7626-A436-9A82-DD49-5F8A69ED9A70}"/>
              </a:ext>
            </a:extLst>
          </p:cNvPr>
          <p:cNvSpPr txBox="1"/>
          <p:nvPr/>
        </p:nvSpPr>
        <p:spPr>
          <a:xfrm>
            <a:off x="96788" y="1202790"/>
            <a:ext cx="9687414" cy="307777"/>
          </a:xfrm>
          <a:prstGeom prst="rect">
            <a:avLst/>
          </a:prstGeom>
          <a:noFill/>
        </p:spPr>
        <p:txBody>
          <a:bodyPr wrap="square">
            <a:spAutoFit/>
          </a:bodyPr>
          <a:lstStyle/>
          <a:p>
            <a:r>
              <a:rPr lang="ja-JP" altLang="en-US"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主要5社のLINEを比べると、友だち追加の直後から、登録・相談へつなぐ配信が当たり前になっている。</a:t>
            </a:r>
            <a:endParaRPr lang="ja-JP" altLang="en-US" sz="1000" dirty="0"/>
          </a:p>
        </p:txBody>
      </p:sp>
      <p:sp>
        <p:nvSpPr>
          <p:cNvPr id="9" name="テキスト ボックス 8">
            <a:extLst>
              <a:ext uri="{FF2B5EF4-FFF2-40B4-BE49-F238E27FC236}">
                <a16:creationId xmlns:a16="http://schemas.microsoft.com/office/drawing/2014/main" id="{60D95125-3520-4FA9-64C6-1958F1FF1A74}"/>
              </a:ext>
            </a:extLst>
          </p:cNvPr>
          <p:cNvSpPr txBox="1"/>
          <p:nvPr/>
        </p:nvSpPr>
        <p:spPr>
          <a:xfrm>
            <a:off x="460785" y="91159"/>
            <a:ext cx="4961186" cy="369332"/>
          </a:xfrm>
          <a:prstGeom prst="rect">
            <a:avLst/>
          </a:prstGeom>
          <a:noFill/>
        </p:spPr>
        <p:txBody>
          <a:bodyPr wrap="square">
            <a:spAutoFit/>
          </a:bodyPr>
          <a:lstStyle/>
          <a:p>
            <a:r>
              <a:rPr lang="ja-JP" altLang="en-US"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 前提調査</a:t>
            </a:r>
            <a:endParaRPr lang="ja-JP" altLang="en-US" sz="1100" dirty="0"/>
          </a:p>
        </p:txBody>
      </p:sp>
      <p:sp>
        <p:nvSpPr>
          <p:cNvPr id="59" name="Rectangle 58"/>
          <p:cNvSpPr/>
          <p:nvPr/>
        </p:nvSpPr>
        <p:spPr>
          <a:xfrm>
            <a:off x="384048" y="1810512"/>
            <a:ext cx="1737359" cy="365760"/>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wrap="square" lIns="72000" tIns="18000" rIns="72000" bIns="18000" rtlCol="0" anchor="ctr"/>
          <a:lstStyle/>
          <a:p>
            <a:pPr algn="ctr">
              <a:lnSpc>
                <a:spcPct val="110000"/>
              </a:lnSpc>
              <a:spcAft>
                <a:spcPts val="0"/>
              </a:spcAft>
            </a:pPr>
            <a:r>
              <a:rPr sz="1200" b="1">
                <a:solidFill>
                  <a:srgbClr val="FFFFFF"/>
                </a:solidFill>
                <a:latin typeface="メイリオ"/>
                <a:ea typeface="メイリオ"/>
                <a:cs typeface="メイリオ"/>
              </a:rPr>
              <a:t>会社</a:t>
            </a:r>
          </a:p>
        </p:txBody>
      </p:sp>
      <p:sp>
        <p:nvSpPr>
          <p:cNvPr id="60" name="Rectangle 59"/>
          <p:cNvSpPr/>
          <p:nvPr/>
        </p:nvSpPr>
        <p:spPr>
          <a:xfrm>
            <a:off x="2148840" y="1810512"/>
            <a:ext cx="960120" cy="365760"/>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wrap="square" lIns="72000" tIns="18000" rIns="72000" bIns="18000" rtlCol="0" anchor="ctr"/>
          <a:lstStyle/>
          <a:p>
            <a:pPr algn="ctr">
              <a:lnSpc>
                <a:spcPct val="110000"/>
              </a:lnSpc>
              <a:spcAft>
                <a:spcPts val="0"/>
              </a:spcAft>
            </a:pPr>
            <a:r>
              <a:rPr sz="1200" b="1">
                <a:solidFill>
                  <a:srgbClr val="FFFFFF"/>
                </a:solidFill>
                <a:latin typeface="メイリオ"/>
                <a:ea typeface="メイリオ"/>
                <a:cs typeface="メイリオ"/>
              </a:rPr>
              <a:t>友だち数</a:t>
            </a:r>
          </a:p>
        </p:txBody>
      </p:sp>
      <p:sp>
        <p:nvSpPr>
          <p:cNvPr id="61" name="Rectangle 60"/>
          <p:cNvSpPr/>
          <p:nvPr/>
        </p:nvSpPr>
        <p:spPr>
          <a:xfrm>
            <a:off x="3136391" y="1810512"/>
            <a:ext cx="1828800" cy="365760"/>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wrap="square" lIns="72000" tIns="18000" rIns="72000" bIns="18000" rtlCol="0" anchor="ctr"/>
          <a:lstStyle/>
          <a:p>
            <a:pPr algn="ctr">
              <a:lnSpc>
                <a:spcPct val="110000"/>
              </a:lnSpc>
              <a:spcAft>
                <a:spcPts val="0"/>
              </a:spcAft>
            </a:pPr>
            <a:r>
              <a:rPr sz="1200" b="1">
                <a:solidFill>
                  <a:srgbClr val="FFFFFF"/>
                </a:solidFill>
                <a:latin typeface="メイリオ"/>
                <a:ea typeface="メイリオ"/>
                <a:cs typeface="メイリオ"/>
              </a:rPr>
              <a:t>追加の直後</a:t>
            </a:r>
          </a:p>
        </p:txBody>
      </p:sp>
      <p:sp>
        <p:nvSpPr>
          <p:cNvPr id="62" name="Rectangle 61"/>
          <p:cNvSpPr/>
          <p:nvPr/>
        </p:nvSpPr>
        <p:spPr>
          <a:xfrm>
            <a:off x="4992624" y="1810512"/>
            <a:ext cx="1325880" cy="365760"/>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wrap="square" lIns="72000" tIns="18000" rIns="72000" bIns="18000" rtlCol="0" anchor="ctr"/>
          <a:lstStyle/>
          <a:p>
            <a:pPr algn="ctr">
              <a:lnSpc>
                <a:spcPct val="110000"/>
              </a:lnSpc>
              <a:spcAft>
                <a:spcPts val="0"/>
              </a:spcAft>
            </a:pPr>
            <a:r>
              <a:rPr sz="1200" b="1">
                <a:solidFill>
                  <a:srgbClr val="FFFFFF"/>
                </a:solidFill>
                <a:latin typeface="メイリオ"/>
                <a:ea typeface="メイリオ"/>
                <a:cs typeface="メイリオ"/>
              </a:rPr>
              <a:t>配信の頻度</a:t>
            </a:r>
          </a:p>
        </p:txBody>
      </p:sp>
      <p:sp>
        <p:nvSpPr>
          <p:cNvPr id="63" name="Rectangle 62"/>
          <p:cNvSpPr/>
          <p:nvPr/>
        </p:nvSpPr>
        <p:spPr>
          <a:xfrm>
            <a:off x="6345936" y="1810512"/>
            <a:ext cx="1783080" cy="365760"/>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wrap="square" lIns="72000" tIns="18000" rIns="72000" bIns="18000" rtlCol="0" anchor="ctr"/>
          <a:lstStyle/>
          <a:p>
            <a:pPr algn="ctr">
              <a:lnSpc>
                <a:spcPct val="110000"/>
              </a:lnSpc>
              <a:spcAft>
                <a:spcPts val="0"/>
              </a:spcAft>
            </a:pPr>
            <a:r>
              <a:rPr sz="1200" b="1">
                <a:solidFill>
                  <a:srgbClr val="FFFFFF"/>
                </a:solidFill>
                <a:latin typeface="メイリオ"/>
                <a:ea typeface="メイリオ"/>
                <a:cs typeface="メイリオ"/>
              </a:rPr>
              <a:t>相談の入口</a:t>
            </a:r>
          </a:p>
        </p:txBody>
      </p:sp>
      <p:sp>
        <p:nvSpPr>
          <p:cNvPr id="64" name="Rectangle 63"/>
          <p:cNvSpPr/>
          <p:nvPr/>
        </p:nvSpPr>
        <p:spPr>
          <a:xfrm>
            <a:off x="8156448" y="1810512"/>
            <a:ext cx="1371600" cy="365760"/>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wrap="square" lIns="72000" tIns="18000" rIns="72000" bIns="18000" rtlCol="0" anchor="ctr"/>
          <a:lstStyle/>
          <a:p>
            <a:pPr algn="ctr">
              <a:lnSpc>
                <a:spcPct val="110000"/>
              </a:lnSpc>
              <a:spcAft>
                <a:spcPts val="0"/>
              </a:spcAft>
            </a:pPr>
            <a:r>
              <a:rPr sz="1200" b="1">
                <a:solidFill>
                  <a:srgbClr val="FFFFFF"/>
                </a:solidFill>
                <a:latin typeface="メイリオ"/>
                <a:ea typeface="メイリオ"/>
                <a:cs typeface="メイリオ"/>
              </a:rPr>
              <a:t>リッチメニュー</a:t>
            </a:r>
          </a:p>
        </p:txBody>
      </p:sp>
      <p:sp>
        <p:nvSpPr>
          <p:cNvPr id="65" name="Rectangle 64"/>
          <p:cNvSpPr/>
          <p:nvPr/>
        </p:nvSpPr>
        <p:spPr>
          <a:xfrm>
            <a:off x="384048" y="2212848"/>
            <a:ext cx="1737359" cy="713232"/>
          </a:xfrm>
          <a:prstGeom prst="rect">
            <a:avLst/>
          </a:prstGeom>
          <a:solidFill>
            <a:srgbClr val="EEF1F8"/>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100" b="1">
                <a:solidFill>
                  <a:srgbClr val="1F2A5C"/>
                </a:solidFill>
                <a:latin typeface="メイリオ"/>
                <a:ea typeface="メイリオ"/>
                <a:cs typeface="メイリオ"/>
              </a:rPr>
              <a:t>ワクトリ</a:t>
            </a:r>
          </a:p>
        </p:txBody>
      </p:sp>
      <p:sp>
        <p:nvSpPr>
          <p:cNvPr id="66" name="Rectangle 65"/>
          <p:cNvSpPr/>
          <p:nvPr/>
        </p:nvSpPr>
        <p:spPr>
          <a:xfrm>
            <a:off x="2148840" y="2212848"/>
            <a:ext cx="960120" cy="713232"/>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100" b="0">
                <a:solidFill>
                  <a:srgbClr val="333333"/>
                </a:solidFill>
                <a:latin typeface="メイリオ"/>
                <a:ea typeface="メイリオ"/>
                <a:cs typeface="メイリオ"/>
              </a:rPr>
              <a:t>79,904</a:t>
            </a:r>
          </a:p>
        </p:txBody>
      </p:sp>
      <p:sp>
        <p:nvSpPr>
          <p:cNvPr id="67" name="Rectangle 66"/>
          <p:cNvSpPr/>
          <p:nvPr/>
        </p:nvSpPr>
        <p:spPr>
          <a:xfrm>
            <a:off x="3136391" y="2212848"/>
            <a:ext cx="1828800" cy="713232"/>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100" b="0">
                <a:solidFill>
                  <a:srgbClr val="333333"/>
                </a:solidFill>
                <a:latin typeface="メイリオ"/>
                <a:ea typeface="メイリオ"/>
                <a:cs typeface="メイリオ"/>
              </a:rPr>
              <a:t>アンケート3問</a:t>
            </a:r>
          </a:p>
          <a:p>
            <a:pPr algn="l">
              <a:lnSpc>
                <a:spcPct val="110000"/>
              </a:lnSpc>
              <a:spcAft>
                <a:spcPts val="0"/>
              </a:spcAft>
            </a:pPr>
            <a:r>
              <a:rPr sz="1100" b="0">
                <a:solidFill>
                  <a:srgbClr val="333333"/>
                </a:solidFill>
                <a:latin typeface="メイリオ"/>
                <a:ea typeface="メイリオ"/>
                <a:cs typeface="メイリオ"/>
              </a:rPr>
              <a:t>（エントリー・開始時期・エリア）</a:t>
            </a:r>
          </a:p>
        </p:txBody>
      </p:sp>
      <p:sp>
        <p:nvSpPr>
          <p:cNvPr id="68" name="Rectangle 67"/>
          <p:cNvSpPr/>
          <p:nvPr/>
        </p:nvSpPr>
        <p:spPr>
          <a:xfrm>
            <a:off x="4992624" y="2212848"/>
            <a:ext cx="1325880" cy="713232"/>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100" b="0">
                <a:solidFill>
                  <a:srgbClr val="333333"/>
                </a:solidFill>
                <a:latin typeface="メイリオ"/>
                <a:ea typeface="メイリオ"/>
                <a:cs typeface="メイリオ"/>
              </a:rPr>
              <a:t>翌日にENTRY</a:t>
            </a:r>
          </a:p>
          <a:p>
            <a:pPr algn="l">
              <a:lnSpc>
                <a:spcPct val="110000"/>
              </a:lnSpc>
              <a:spcAft>
                <a:spcPts val="0"/>
              </a:spcAft>
            </a:pPr>
            <a:r>
              <a:rPr sz="1100" b="0">
                <a:solidFill>
                  <a:srgbClr val="333333"/>
                </a:solidFill>
                <a:latin typeface="メイリオ"/>
                <a:ea typeface="メイリオ"/>
                <a:cs typeface="メイリオ"/>
              </a:rPr>
              <a:t>その後は週1回</a:t>
            </a:r>
          </a:p>
        </p:txBody>
      </p:sp>
      <p:sp>
        <p:nvSpPr>
          <p:cNvPr id="69" name="Rectangle 68"/>
          <p:cNvSpPr/>
          <p:nvPr/>
        </p:nvSpPr>
        <p:spPr>
          <a:xfrm>
            <a:off x="6345936" y="2212848"/>
            <a:ext cx="1783080" cy="713232"/>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100" b="0">
                <a:solidFill>
                  <a:srgbClr val="333333"/>
                </a:solidFill>
                <a:latin typeface="メイリオ"/>
                <a:ea typeface="メイリオ"/>
                <a:cs typeface="メイリオ"/>
              </a:rPr>
              <a:t>専属エージェント</a:t>
            </a:r>
          </a:p>
          <a:p>
            <a:pPr algn="l">
              <a:lnSpc>
                <a:spcPct val="110000"/>
              </a:lnSpc>
              <a:spcAft>
                <a:spcPts val="0"/>
              </a:spcAft>
            </a:pPr>
            <a:r>
              <a:rPr sz="1100" b="0">
                <a:solidFill>
                  <a:srgbClr val="333333"/>
                </a:solidFill>
                <a:latin typeface="メイリオ"/>
                <a:ea typeface="メイリオ"/>
                <a:cs typeface="メイリオ"/>
              </a:rPr>
              <a:t>（ENTRY）</a:t>
            </a:r>
          </a:p>
        </p:txBody>
      </p:sp>
      <p:sp>
        <p:nvSpPr>
          <p:cNvPr id="70" name="Rectangle 69"/>
          <p:cNvSpPr/>
          <p:nvPr/>
        </p:nvSpPr>
        <p:spPr>
          <a:xfrm>
            <a:off x="8156448" y="2212848"/>
            <a:ext cx="1371600" cy="713232"/>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100" b="0">
                <a:solidFill>
                  <a:srgbClr val="333333"/>
                </a:solidFill>
                <a:latin typeface="メイリオ"/>
                <a:ea typeface="メイリオ"/>
                <a:cs typeface="メイリオ"/>
              </a:rPr>
              <a:t>お仕事探し</a:t>
            </a:r>
          </a:p>
        </p:txBody>
      </p:sp>
      <p:sp>
        <p:nvSpPr>
          <p:cNvPr id="71" name="Rectangle 70"/>
          <p:cNvSpPr/>
          <p:nvPr/>
        </p:nvSpPr>
        <p:spPr>
          <a:xfrm>
            <a:off x="384048" y="2962656"/>
            <a:ext cx="1737359" cy="713232"/>
          </a:xfrm>
          <a:prstGeom prst="rect">
            <a:avLst/>
          </a:prstGeom>
          <a:solidFill>
            <a:srgbClr val="EEF1F8"/>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100" b="1">
                <a:solidFill>
                  <a:srgbClr val="1F2A5C"/>
                </a:solidFill>
                <a:latin typeface="メイリオ"/>
                <a:ea typeface="メイリオ"/>
                <a:cs typeface="メイリオ"/>
              </a:rPr>
              <a:t>リゾートバイトダイブ</a:t>
            </a:r>
          </a:p>
        </p:txBody>
      </p:sp>
      <p:sp>
        <p:nvSpPr>
          <p:cNvPr id="72" name="Rectangle 71"/>
          <p:cNvSpPr/>
          <p:nvPr/>
        </p:nvSpPr>
        <p:spPr>
          <a:xfrm>
            <a:off x="2148840" y="2962656"/>
            <a:ext cx="960120" cy="713232"/>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100" b="0">
                <a:solidFill>
                  <a:srgbClr val="333333"/>
                </a:solidFill>
                <a:latin typeface="メイリオ"/>
                <a:ea typeface="メイリオ"/>
                <a:cs typeface="メイリオ"/>
              </a:rPr>
              <a:t>256,680</a:t>
            </a:r>
          </a:p>
        </p:txBody>
      </p:sp>
      <p:sp>
        <p:nvSpPr>
          <p:cNvPr id="73" name="Rectangle 72"/>
          <p:cNvSpPr/>
          <p:nvPr/>
        </p:nvSpPr>
        <p:spPr>
          <a:xfrm>
            <a:off x="3136391" y="2962656"/>
            <a:ext cx="1828800" cy="713232"/>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100" b="0">
                <a:solidFill>
                  <a:srgbClr val="333333"/>
                </a:solidFill>
                <a:latin typeface="メイリオ"/>
                <a:ea typeface="メイリオ"/>
                <a:cs typeface="メイリオ"/>
              </a:rPr>
              <a:t>マイページ登録のURL</a:t>
            </a:r>
          </a:p>
          <a:p>
            <a:pPr algn="l">
              <a:lnSpc>
                <a:spcPct val="110000"/>
              </a:lnSpc>
              <a:spcAft>
                <a:spcPts val="0"/>
              </a:spcAft>
            </a:pPr>
            <a:r>
              <a:rPr sz="1100" b="0">
                <a:solidFill>
                  <a:srgbClr val="333333"/>
                </a:solidFill>
                <a:latin typeface="メイリオ"/>
                <a:ea typeface="メイリオ"/>
                <a:cs typeface="メイリオ"/>
              </a:rPr>
              <a:t>＋LINEでできること</a:t>
            </a:r>
          </a:p>
        </p:txBody>
      </p:sp>
      <p:sp>
        <p:nvSpPr>
          <p:cNvPr id="74" name="Rectangle 73"/>
          <p:cNvSpPr/>
          <p:nvPr/>
        </p:nvSpPr>
        <p:spPr>
          <a:xfrm>
            <a:off x="4992624" y="2962656"/>
            <a:ext cx="1325880" cy="713232"/>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100" b="0">
                <a:solidFill>
                  <a:srgbClr val="333333"/>
                </a:solidFill>
                <a:latin typeface="メイリオ"/>
                <a:ea typeface="メイリオ"/>
                <a:cs typeface="メイリオ"/>
              </a:rPr>
              <a:t>毎日1通</a:t>
            </a:r>
          </a:p>
        </p:txBody>
      </p:sp>
      <p:sp>
        <p:nvSpPr>
          <p:cNvPr id="75" name="Rectangle 74"/>
          <p:cNvSpPr/>
          <p:nvPr/>
        </p:nvSpPr>
        <p:spPr>
          <a:xfrm>
            <a:off x="6345936" y="2962656"/>
            <a:ext cx="1783080" cy="713232"/>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100" b="0">
                <a:solidFill>
                  <a:srgbClr val="333333"/>
                </a:solidFill>
                <a:latin typeface="メイリオ"/>
                <a:ea typeface="メイリオ"/>
                <a:cs typeface="メイリオ"/>
              </a:rPr>
              <a:t>初回カウンセリングの予約</a:t>
            </a:r>
          </a:p>
          <a:p>
            <a:pPr algn="l">
              <a:lnSpc>
                <a:spcPct val="110000"/>
              </a:lnSpc>
              <a:spcAft>
                <a:spcPts val="0"/>
              </a:spcAft>
            </a:pPr>
            <a:r>
              <a:rPr sz="1100" b="0">
                <a:solidFill>
                  <a:srgbClr val="333333"/>
                </a:solidFill>
                <a:latin typeface="メイリオ"/>
                <a:ea typeface="メイリオ"/>
                <a:cs typeface="メイリオ"/>
              </a:rPr>
              <a:t>（電話15分）</a:t>
            </a:r>
          </a:p>
        </p:txBody>
      </p:sp>
      <p:sp>
        <p:nvSpPr>
          <p:cNvPr id="76" name="Rectangle 75"/>
          <p:cNvSpPr/>
          <p:nvPr/>
        </p:nvSpPr>
        <p:spPr>
          <a:xfrm>
            <a:off x="8156448" y="2962656"/>
            <a:ext cx="1371600" cy="713232"/>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100" b="0">
                <a:solidFill>
                  <a:srgbClr val="333333"/>
                </a:solidFill>
                <a:latin typeface="メイリオ"/>
                <a:ea typeface="メイリオ"/>
                <a:cs typeface="メイリオ"/>
              </a:rPr>
              <a:t>6マス</a:t>
            </a:r>
          </a:p>
          <a:p>
            <a:pPr algn="l">
              <a:lnSpc>
                <a:spcPct val="110000"/>
              </a:lnSpc>
              <a:spcAft>
                <a:spcPts val="0"/>
              </a:spcAft>
            </a:pPr>
            <a:r>
              <a:rPr sz="1100" b="0">
                <a:solidFill>
                  <a:srgbClr val="333333"/>
                </a:solidFill>
                <a:latin typeface="メイリオ"/>
                <a:ea typeface="メイリオ"/>
                <a:cs typeface="メイリオ"/>
              </a:rPr>
              <a:t>開始月別の求人あり</a:t>
            </a:r>
          </a:p>
        </p:txBody>
      </p:sp>
      <p:sp>
        <p:nvSpPr>
          <p:cNvPr id="77" name="Rectangle 76"/>
          <p:cNvSpPr/>
          <p:nvPr/>
        </p:nvSpPr>
        <p:spPr>
          <a:xfrm>
            <a:off x="384048" y="3712464"/>
            <a:ext cx="1737359" cy="713232"/>
          </a:xfrm>
          <a:prstGeom prst="rect">
            <a:avLst/>
          </a:prstGeom>
          <a:solidFill>
            <a:srgbClr val="EEF1F8"/>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100" b="1">
                <a:solidFill>
                  <a:srgbClr val="1F2A5C"/>
                </a:solidFill>
                <a:latin typeface="メイリオ"/>
                <a:ea typeface="メイリオ"/>
                <a:cs typeface="メイリオ"/>
              </a:rPr>
              <a:t>リゾバ.com</a:t>
            </a:r>
          </a:p>
        </p:txBody>
      </p:sp>
      <p:sp>
        <p:nvSpPr>
          <p:cNvPr id="78" name="Rectangle 77"/>
          <p:cNvSpPr/>
          <p:nvPr/>
        </p:nvSpPr>
        <p:spPr>
          <a:xfrm>
            <a:off x="2148840" y="3712464"/>
            <a:ext cx="960120" cy="713232"/>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100" b="0">
                <a:solidFill>
                  <a:srgbClr val="333333"/>
                </a:solidFill>
                <a:latin typeface="メイリオ"/>
                <a:ea typeface="メイリオ"/>
                <a:cs typeface="メイリオ"/>
              </a:rPr>
              <a:t>156,010</a:t>
            </a:r>
          </a:p>
        </p:txBody>
      </p:sp>
      <p:sp>
        <p:nvSpPr>
          <p:cNvPr id="79" name="Rectangle 78"/>
          <p:cNvSpPr/>
          <p:nvPr/>
        </p:nvSpPr>
        <p:spPr>
          <a:xfrm>
            <a:off x="3136391" y="3712464"/>
            <a:ext cx="1828800" cy="713232"/>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100" b="0">
                <a:solidFill>
                  <a:srgbClr val="333333"/>
                </a:solidFill>
                <a:latin typeface="メイリオ"/>
                <a:ea typeface="メイリオ"/>
                <a:cs typeface="メイリオ"/>
              </a:rPr>
              <a:t>リゾートバイト経験の</a:t>
            </a:r>
          </a:p>
          <a:p>
            <a:pPr algn="l">
              <a:lnSpc>
                <a:spcPct val="110000"/>
              </a:lnSpc>
              <a:spcAft>
                <a:spcPts val="0"/>
              </a:spcAft>
            </a:pPr>
            <a:r>
              <a:rPr sz="1100" b="0">
                <a:solidFill>
                  <a:srgbClr val="333333"/>
                </a:solidFill>
                <a:latin typeface="メイリオ"/>
                <a:ea typeface="メイリオ"/>
                <a:cs typeface="メイリオ"/>
              </a:rPr>
              <a:t>有無を質問</a:t>
            </a:r>
          </a:p>
        </p:txBody>
      </p:sp>
      <p:sp>
        <p:nvSpPr>
          <p:cNvPr id="80" name="Rectangle 79"/>
          <p:cNvSpPr/>
          <p:nvPr/>
        </p:nvSpPr>
        <p:spPr>
          <a:xfrm>
            <a:off x="4992624" y="3712464"/>
            <a:ext cx="1325880" cy="713232"/>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100" b="0">
                <a:solidFill>
                  <a:srgbClr val="333333"/>
                </a:solidFill>
                <a:latin typeface="メイリオ"/>
                <a:ea typeface="メイリオ"/>
                <a:cs typeface="メイリオ"/>
              </a:rPr>
              <a:t>1日2通</a:t>
            </a:r>
          </a:p>
        </p:txBody>
      </p:sp>
      <p:sp>
        <p:nvSpPr>
          <p:cNvPr id="81" name="Rectangle 80"/>
          <p:cNvSpPr/>
          <p:nvPr/>
        </p:nvSpPr>
        <p:spPr>
          <a:xfrm>
            <a:off x="6345936" y="3712464"/>
            <a:ext cx="1783080" cy="713232"/>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100" b="0">
                <a:solidFill>
                  <a:srgbClr val="333333"/>
                </a:solidFill>
                <a:latin typeface="メイリオ"/>
                <a:ea typeface="メイリオ"/>
                <a:cs typeface="メイリオ"/>
              </a:rPr>
              <a:t>まずは相談する</a:t>
            </a:r>
          </a:p>
          <a:p>
            <a:pPr algn="l">
              <a:lnSpc>
                <a:spcPct val="110000"/>
              </a:lnSpc>
              <a:spcAft>
                <a:spcPts val="0"/>
              </a:spcAft>
            </a:pPr>
            <a:r>
              <a:rPr sz="1100" b="0">
                <a:solidFill>
                  <a:srgbClr val="333333"/>
                </a:solidFill>
                <a:latin typeface="メイリオ"/>
                <a:ea typeface="メイリオ"/>
                <a:cs typeface="メイリオ"/>
              </a:rPr>
              <a:t>担当者がチャットで返信</a:t>
            </a:r>
          </a:p>
        </p:txBody>
      </p:sp>
      <p:sp>
        <p:nvSpPr>
          <p:cNvPr id="82" name="Rectangle 81"/>
          <p:cNvSpPr/>
          <p:nvPr/>
        </p:nvSpPr>
        <p:spPr>
          <a:xfrm>
            <a:off x="8156448" y="3712464"/>
            <a:ext cx="1371600" cy="713232"/>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100" b="0">
                <a:solidFill>
                  <a:srgbClr val="333333"/>
                </a:solidFill>
                <a:latin typeface="メイリオ"/>
                <a:ea typeface="メイリオ"/>
                <a:cs typeface="メイリオ"/>
              </a:rPr>
              <a:t>タブ2つ</a:t>
            </a:r>
          </a:p>
          <a:p>
            <a:pPr algn="l">
              <a:lnSpc>
                <a:spcPct val="110000"/>
              </a:lnSpc>
              <a:spcAft>
                <a:spcPts val="0"/>
              </a:spcAft>
            </a:pPr>
            <a:r>
              <a:rPr sz="1100" b="0">
                <a:solidFill>
                  <a:srgbClr val="333333"/>
                </a:solidFill>
                <a:latin typeface="メイリオ"/>
                <a:ea typeface="メイリオ"/>
                <a:cs typeface="メイリオ"/>
              </a:rPr>
              <a:t>開始月別の求人あり</a:t>
            </a:r>
          </a:p>
        </p:txBody>
      </p:sp>
      <p:sp>
        <p:nvSpPr>
          <p:cNvPr id="83" name="Rectangle 82"/>
          <p:cNvSpPr/>
          <p:nvPr/>
        </p:nvSpPr>
        <p:spPr>
          <a:xfrm>
            <a:off x="384048" y="4462272"/>
            <a:ext cx="1737359" cy="713232"/>
          </a:xfrm>
          <a:prstGeom prst="rect">
            <a:avLst/>
          </a:prstGeom>
          <a:solidFill>
            <a:srgbClr val="EEF1F8"/>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100" b="1">
                <a:solidFill>
                  <a:srgbClr val="1F2A5C"/>
                </a:solidFill>
                <a:latin typeface="メイリオ"/>
                <a:ea typeface="メイリオ"/>
                <a:cs typeface="メイリオ"/>
              </a:rPr>
              <a:t>リゾートバイト.com</a:t>
            </a:r>
          </a:p>
        </p:txBody>
      </p:sp>
      <p:sp>
        <p:nvSpPr>
          <p:cNvPr id="84" name="Rectangle 83"/>
          <p:cNvSpPr/>
          <p:nvPr/>
        </p:nvSpPr>
        <p:spPr>
          <a:xfrm>
            <a:off x="2148840" y="4462272"/>
            <a:ext cx="960120" cy="713232"/>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100" b="0">
                <a:solidFill>
                  <a:srgbClr val="333333"/>
                </a:solidFill>
                <a:latin typeface="メイリオ"/>
                <a:ea typeface="メイリオ"/>
                <a:cs typeface="メイリオ"/>
              </a:rPr>
              <a:t>32,225</a:t>
            </a:r>
          </a:p>
        </p:txBody>
      </p:sp>
      <p:sp>
        <p:nvSpPr>
          <p:cNvPr id="85" name="Rectangle 84"/>
          <p:cNvSpPr/>
          <p:nvPr/>
        </p:nvSpPr>
        <p:spPr>
          <a:xfrm>
            <a:off x="3136391" y="4462272"/>
            <a:ext cx="1828800" cy="713232"/>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100" b="0">
                <a:solidFill>
                  <a:srgbClr val="333333"/>
                </a:solidFill>
                <a:latin typeface="メイリオ"/>
                <a:ea typeface="メイリオ"/>
                <a:cs typeface="メイリオ"/>
              </a:rPr>
              <a:t>アンケート</a:t>
            </a:r>
          </a:p>
          <a:p>
            <a:pPr algn="l">
              <a:lnSpc>
                <a:spcPct val="110000"/>
              </a:lnSpc>
              <a:spcAft>
                <a:spcPts val="0"/>
              </a:spcAft>
            </a:pPr>
            <a:r>
              <a:rPr sz="1100" b="0">
                <a:solidFill>
                  <a:srgbClr val="333333"/>
                </a:solidFill>
                <a:latin typeface="メイリオ"/>
                <a:ea typeface="メイリオ"/>
                <a:cs typeface="メイリオ"/>
              </a:rPr>
              <a:t>（性別から）</a:t>
            </a:r>
          </a:p>
        </p:txBody>
      </p:sp>
      <p:sp>
        <p:nvSpPr>
          <p:cNvPr id="86" name="Rectangle 85"/>
          <p:cNvSpPr/>
          <p:nvPr/>
        </p:nvSpPr>
        <p:spPr>
          <a:xfrm>
            <a:off x="4992624" y="4462272"/>
            <a:ext cx="1325880" cy="713232"/>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100" b="0">
                <a:solidFill>
                  <a:srgbClr val="333333"/>
                </a:solidFill>
                <a:latin typeface="メイリオ"/>
                <a:ea typeface="メイリオ"/>
                <a:cs typeface="メイリオ"/>
              </a:rPr>
              <a:t>—</a:t>
            </a:r>
          </a:p>
        </p:txBody>
      </p:sp>
      <p:sp>
        <p:nvSpPr>
          <p:cNvPr id="87" name="Rectangle 86"/>
          <p:cNvSpPr/>
          <p:nvPr/>
        </p:nvSpPr>
        <p:spPr>
          <a:xfrm>
            <a:off x="6345936" y="4462272"/>
            <a:ext cx="1783080" cy="713232"/>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100" b="0">
                <a:solidFill>
                  <a:srgbClr val="333333"/>
                </a:solidFill>
                <a:latin typeface="メイリオ"/>
                <a:ea typeface="メイリオ"/>
                <a:cs typeface="メイリオ"/>
              </a:rPr>
              <a:t>お問い合わせ</a:t>
            </a:r>
          </a:p>
          <a:p>
            <a:pPr algn="l">
              <a:lnSpc>
                <a:spcPct val="110000"/>
              </a:lnSpc>
              <a:spcAft>
                <a:spcPts val="0"/>
              </a:spcAft>
            </a:pPr>
            <a:r>
              <a:rPr sz="1100" b="0">
                <a:solidFill>
                  <a:srgbClr val="333333"/>
                </a:solidFill>
                <a:latin typeface="メイリオ"/>
                <a:ea typeface="メイリオ"/>
                <a:cs typeface="メイリオ"/>
              </a:rPr>
              <a:t>（メニュー）</a:t>
            </a:r>
          </a:p>
        </p:txBody>
      </p:sp>
      <p:sp>
        <p:nvSpPr>
          <p:cNvPr id="88" name="Rectangle 87"/>
          <p:cNvSpPr/>
          <p:nvPr/>
        </p:nvSpPr>
        <p:spPr>
          <a:xfrm>
            <a:off x="8156448" y="4462272"/>
            <a:ext cx="1371600" cy="713232"/>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100" b="0">
                <a:solidFill>
                  <a:srgbClr val="333333"/>
                </a:solidFill>
                <a:latin typeface="メイリオ"/>
                <a:ea typeface="メイリオ"/>
                <a:cs typeface="メイリオ"/>
              </a:rPr>
              <a:t>タブ2つ</a:t>
            </a:r>
          </a:p>
          <a:p>
            <a:pPr algn="l">
              <a:lnSpc>
                <a:spcPct val="110000"/>
              </a:lnSpc>
              <a:spcAft>
                <a:spcPts val="0"/>
              </a:spcAft>
            </a:pPr>
            <a:r>
              <a:rPr sz="1100" b="0">
                <a:solidFill>
                  <a:srgbClr val="333333"/>
                </a:solidFill>
                <a:latin typeface="メイリオ"/>
                <a:ea typeface="メイリオ"/>
                <a:cs typeface="メイリオ"/>
              </a:rPr>
              <a:t>開始月別の求人あり</a:t>
            </a:r>
          </a:p>
        </p:txBody>
      </p:sp>
      <p:sp>
        <p:nvSpPr>
          <p:cNvPr id="89" name="Rectangle 88"/>
          <p:cNvSpPr/>
          <p:nvPr/>
        </p:nvSpPr>
        <p:spPr>
          <a:xfrm>
            <a:off x="384048" y="5212080"/>
            <a:ext cx="1737359" cy="713232"/>
          </a:xfrm>
          <a:prstGeom prst="rect">
            <a:avLst/>
          </a:prstGeom>
          <a:solidFill>
            <a:srgbClr val="EEF1F8"/>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100" b="1">
                <a:solidFill>
                  <a:srgbClr val="1F2A5C"/>
                </a:solidFill>
                <a:latin typeface="メイリオ"/>
                <a:ea typeface="メイリオ"/>
                <a:cs typeface="メイリオ"/>
              </a:rPr>
              <a:t>アルファリゾート</a:t>
            </a:r>
          </a:p>
        </p:txBody>
      </p:sp>
      <p:sp>
        <p:nvSpPr>
          <p:cNvPr id="90" name="Rectangle 89"/>
          <p:cNvSpPr/>
          <p:nvPr/>
        </p:nvSpPr>
        <p:spPr>
          <a:xfrm>
            <a:off x="2148840" y="5212080"/>
            <a:ext cx="960120" cy="713232"/>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100" b="0">
                <a:solidFill>
                  <a:srgbClr val="333333"/>
                </a:solidFill>
                <a:latin typeface="メイリオ"/>
                <a:ea typeface="メイリオ"/>
                <a:cs typeface="メイリオ"/>
              </a:rPr>
              <a:t>26,846</a:t>
            </a:r>
          </a:p>
        </p:txBody>
      </p:sp>
      <p:sp>
        <p:nvSpPr>
          <p:cNvPr id="91" name="Rectangle 90"/>
          <p:cNvSpPr/>
          <p:nvPr/>
        </p:nvSpPr>
        <p:spPr>
          <a:xfrm>
            <a:off x="3136391" y="5212080"/>
            <a:ext cx="1828800" cy="713232"/>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100" b="0">
                <a:solidFill>
                  <a:srgbClr val="333333"/>
                </a:solidFill>
                <a:latin typeface="メイリオ"/>
                <a:ea typeface="メイリオ"/>
                <a:cs typeface="メイリオ"/>
              </a:rPr>
              <a:t>会員登録と</a:t>
            </a:r>
          </a:p>
          <a:p>
            <a:pPr algn="l">
              <a:lnSpc>
                <a:spcPct val="110000"/>
              </a:lnSpc>
              <a:spcAft>
                <a:spcPts val="0"/>
              </a:spcAft>
            </a:pPr>
            <a:r>
              <a:rPr sz="1100" b="0">
                <a:solidFill>
                  <a:srgbClr val="333333"/>
                </a:solidFill>
                <a:latin typeface="メイリオ"/>
                <a:ea typeface="メイリオ"/>
                <a:cs typeface="メイリオ"/>
              </a:rPr>
              <a:t>カウンセリング予約のURL</a:t>
            </a:r>
          </a:p>
        </p:txBody>
      </p:sp>
      <p:sp>
        <p:nvSpPr>
          <p:cNvPr id="92" name="Rectangle 91"/>
          <p:cNvSpPr/>
          <p:nvPr/>
        </p:nvSpPr>
        <p:spPr>
          <a:xfrm>
            <a:off x="4992624" y="5212080"/>
            <a:ext cx="1325880" cy="713232"/>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100" b="0">
                <a:solidFill>
                  <a:srgbClr val="333333"/>
                </a:solidFill>
                <a:latin typeface="メイリオ"/>
                <a:ea typeface="メイリオ"/>
                <a:cs typeface="メイリオ"/>
              </a:rPr>
              <a:t>—</a:t>
            </a:r>
          </a:p>
        </p:txBody>
      </p:sp>
      <p:sp>
        <p:nvSpPr>
          <p:cNvPr id="93" name="Rectangle 92"/>
          <p:cNvSpPr/>
          <p:nvPr/>
        </p:nvSpPr>
        <p:spPr>
          <a:xfrm>
            <a:off x="6345936" y="5212080"/>
            <a:ext cx="1783080" cy="713232"/>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100" b="0">
                <a:solidFill>
                  <a:srgbClr val="333333"/>
                </a:solidFill>
                <a:latin typeface="メイリオ"/>
                <a:ea typeface="メイリオ"/>
                <a:cs typeface="メイリオ"/>
              </a:rPr>
              <a:t>初回カウンセリング必須</a:t>
            </a:r>
          </a:p>
          <a:p>
            <a:pPr algn="l">
              <a:lnSpc>
                <a:spcPct val="110000"/>
              </a:lnSpc>
              <a:spcAft>
                <a:spcPts val="0"/>
              </a:spcAft>
            </a:pPr>
            <a:r>
              <a:rPr sz="1100" b="0">
                <a:solidFill>
                  <a:srgbClr val="333333"/>
                </a:solidFill>
                <a:latin typeface="メイリオ"/>
                <a:ea typeface="メイリオ"/>
                <a:cs typeface="メイリオ"/>
              </a:rPr>
              <a:t>担当者がチャットで返信</a:t>
            </a:r>
          </a:p>
        </p:txBody>
      </p:sp>
      <p:sp>
        <p:nvSpPr>
          <p:cNvPr id="94" name="Rectangle 93"/>
          <p:cNvSpPr/>
          <p:nvPr/>
        </p:nvSpPr>
        <p:spPr>
          <a:xfrm>
            <a:off x="8156448" y="5212080"/>
            <a:ext cx="1371600" cy="713232"/>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100" b="0">
                <a:solidFill>
                  <a:srgbClr val="333333"/>
                </a:solidFill>
                <a:latin typeface="メイリオ"/>
                <a:ea typeface="メイリオ"/>
                <a:cs typeface="メイリオ"/>
              </a:rPr>
              <a:t>6マス</a:t>
            </a:r>
          </a:p>
          <a:p>
            <a:pPr algn="l">
              <a:lnSpc>
                <a:spcPct val="110000"/>
              </a:lnSpc>
              <a:spcAft>
                <a:spcPts val="0"/>
              </a:spcAft>
            </a:pPr>
            <a:r>
              <a:rPr sz="1100" b="0">
                <a:solidFill>
                  <a:srgbClr val="333333"/>
                </a:solidFill>
                <a:latin typeface="メイリオ"/>
                <a:ea typeface="メイリオ"/>
                <a:cs typeface="メイリオ"/>
              </a:rPr>
              <a:t>開始月別の求人あり</a:t>
            </a:r>
          </a:p>
        </p:txBody>
      </p:sp>
      <p:sp>
        <p:nvSpPr>
          <p:cNvPr id="95" name="TextBox 94"/>
          <p:cNvSpPr txBox="1"/>
          <p:nvPr/>
        </p:nvSpPr>
        <p:spPr>
          <a:xfrm>
            <a:off x="384048" y="6385762"/>
            <a:ext cx="9144000" cy="167235"/>
          </a:xfrm>
          <a:prstGeom prst="rect">
            <a:avLst/>
          </a:prstGeom>
          <a:noFill/>
        </p:spPr>
        <p:txBody>
          <a:bodyPr wrap="square" lIns="36000" tIns="10800" rIns="36000" bIns="10800" anchor="ctr">
            <a:spAutoFit/>
          </a:bodyPr>
          <a:lstStyle/>
          <a:p>
            <a:pPr algn="l">
              <a:lnSpc>
                <a:spcPct val="105000"/>
              </a:lnSpc>
              <a:spcAft>
                <a:spcPts val="200"/>
              </a:spcAft>
            </a:pPr>
            <a:r>
              <a:rPr sz="900" b="0" dirty="0">
                <a:solidFill>
                  <a:srgbClr val="777777"/>
                </a:solidFill>
                <a:latin typeface="メイリオ"/>
                <a:ea typeface="メイリオ"/>
                <a:cs typeface="メイリオ"/>
              </a:rPr>
              <a:t>出典｜各社のLINE公式アカウント（2026年10月に確認）。</a:t>
            </a:r>
            <a:r>
              <a:rPr sz="900" b="0" dirty="0" err="1">
                <a:solidFill>
                  <a:srgbClr val="777777"/>
                </a:solidFill>
                <a:latin typeface="メイリオ"/>
                <a:ea typeface="メイリオ"/>
                <a:cs typeface="メイリオ"/>
              </a:rPr>
              <a:t>友だち数はプロフィールの表示</a:t>
            </a:r>
            <a:r>
              <a:rPr sz="900" b="0" dirty="0">
                <a:solidFill>
                  <a:srgbClr val="777777"/>
                </a:solidFill>
                <a:latin typeface="メイリオ"/>
                <a:ea typeface="メイリオ"/>
                <a:cs typeface="メイリオ"/>
              </a:rPr>
              <a:t>。</a:t>
            </a:r>
            <a:endParaRPr lang="en-US" sz="900" b="0" dirty="0">
              <a:solidFill>
                <a:srgbClr val="777777"/>
              </a:solidFill>
              <a:latin typeface="メイリオ"/>
              <a:ea typeface="メイリオ"/>
              <a:cs typeface="メイリオ"/>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 name="正方形/長方形 57">
            <a:extLst>
              <a:ext uri="{FF2B5EF4-FFF2-40B4-BE49-F238E27FC236}">
                <a16:creationId xmlns:a16="http://schemas.microsoft.com/office/drawing/2014/main" id="{44A10F2E-7086-34EF-5EA3-C29208499DA7}"/>
              </a:ext>
            </a:extLst>
          </p:cNvPr>
          <p:cNvSpPr/>
          <p:nvPr/>
        </p:nvSpPr>
        <p:spPr>
          <a:xfrm>
            <a:off x="96788" y="1045811"/>
            <a:ext cx="4297680" cy="21878"/>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100" b="1" dirty="0">
              <a:latin typeface="メイリオ" panose="020B0604030504040204" pitchFamily="50" charset="-128"/>
              <a:ea typeface="メイリオ" panose="020B0604030504040204" pitchFamily="50" charset="-128"/>
            </a:endParaRPr>
          </a:p>
        </p:txBody>
      </p:sp>
      <p:sp>
        <p:nvSpPr>
          <p:cNvPr id="3" name="正方形/長方形 2">
            <a:extLst>
              <a:ext uri="{FF2B5EF4-FFF2-40B4-BE49-F238E27FC236}">
                <a16:creationId xmlns:a16="http://schemas.microsoft.com/office/drawing/2014/main" id="{D5D17E13-7926-4FEF-B3DF-46643C07A612}"/>
              </a:ext>
            </a:extLst>
          </p:cNvPr>
          <p:cNvSpPr/>
          <p:nvPr/>
        </p:nvSpPr>
        <p:spPr>
          <a:xfrm>
            <a:off x="96788" y="1645669"/>
            <a:ext cx="9687414" cy="3577"/>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100" b="1" dirty="0">
              <a:latin typeface="メイリオ" panose="020B0604030504040204" pitchFamily="50" charset="-128"/>
              <a:ea typeface="メイリオ" panose="020B0604030504040204" pitchFamily="50" charset="-128"/>
            </a:endParaRPr>
          </a:p>
        </p:txBody>
      </p:sp>
      <p:sp>
        <p:nvSpPr>
          <p:cNvPr id="5" name="テキスト ボックス 4">
            <a:extLst>
              <a:ext uri="{FF2B5EF4-FFF2-40B4-BE49-F238E27FC236}">
                <a16:creationId xmlns:a16="http://schemas.microsoft.com/office/drawing/2014/main" id="{42E8D0AC-7EB6-A26E-FB83-BB611CE20B52}"/>
              </a:ext>
            </a:extLst>
          </p:cNvPr>
          <p:cNvSpPr txBox="1"/>
          <p:nvPr/>
        </p:nvSpPr>
        <p:spPr>
          <a:xfrm>
            <a:off x="96788" y="619405"/>
            <a:ext cx="4961186" cy="369332"/>
          </a:xfrm>
          <a:prstGeom prst="rect">
            <a:avLst/>
          </a:prstGeom>
          <a:noFill/>
        </p:spPr>
        <p:txBody>
          <a:bodyPr wrap="square">
            <a:spAutoFit/>
          </a:bodyPr>
          <a:lstStyle/>
          <a:p>
            <a:r>
              <a:rPr lang="ja-JP" altLang="en-US"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各社の取り組み｜リゾートバイトダイブ</a:t>
            </a:r>
            <a:endParaRPr lang="ja-JP" altLang="en-US" sz="1100" dirty="0"/>
          </a:p>
        </p:txBody>
      </p:sp>
      <p:sp>
        <p:nvSpPr>
          <p:cNvPr id="7" name="テキスト ボックス 6">
            <a:extLst>
              <a:ext uri="{FF2B5EF4-FFF2-40B4-BE49-F238E27FC236}">
                <a16:creationId xmlns:a16="http://schemas.microsoft.com/office/drawing/2014/main" id="{A23B7626-A436-9A82-DD49-5F8A69ED9A70}"/>
              </a:ext>
            </a:extLst>
          </p:cNvPr>
          <p:cNvSpPr txBox="1"/>
          <p:nvPr/>
        </p:nvSpPr>
        <p:spPr>
          <a:xfrm>
            <a:off x="96788" y="1202790"/>
            <a:ext cx="9687414" cy="307777"/>
          </a:xfrm>
          <a:prstGeom prst="rect">
            <a:avLst/>
          </a:prstGeom>
          <a:noFill/>
        </p:spPr>
        <p:txBody>
          <a:bodyPr wrap="square">
            <a:spAutoFit/>
          </a:bodyPr>
          <a:lstStyle/>
          <a:p>
            <a:r>
              <a:rPr lang="ja-JP" altLang="en-US"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追加の直後から毎日1通。登録 → 流れ → カウンセリング → 稼げる額の順に、不安を消して登録・相談へつなぐ。</a:t>
            </a:r>
            <a:endParaRPr lang="ja-JP" altLang="en-US" sz="1000" dirty="0"/>
          </a:p>
        </p:txBody>
      </p:sp>
      <p:sp>
        <p:nvSpPr>
          <p:cNvPr id="9" name="テキスト ボックス 8">
            <a:extLst>
              <a:ext uri="{FF2B5EF4-FFF2-40B4-BE49-F238E27FC236}">
                <a16:creationId xmlns:a16="http://schemas.microsoft.com/office/drawing/2014/main" id="{60D95125-3520-4FA9-64C6-1958F1FF1A74}"/>
              </a:ext>
            </a:extLst>
          </p:cNvPr>
          <p:cNvSpPr txBox="1"/>
          <p:nvPr/>
        </p:nvSpPr>
        <p:spPr>
          <a:xfrm>
            <a:off x="460785" y="91159"/>
            <a:ext cx="4961186" cy="369332"/>
          </a:xfrm>
          <a:prstGeom prst="rect">
            <a:avLst/>
          </a:prstGeom>
          <a:noFill/>
        </p:spPr>
        <p:txBody>
          <a:bodyPr wrap="square">
            <a:spAutoFit/>
          </a:bodyPr>
          <a:lstStyle/>
          <a:p>
            <a:r>
              <a:rPr lang="ja-JP" altLang="en-US"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 前提調査</a:t>
            </a:r>
            <a:endParaRPr lang="ja-JP" altLang="en-US" sz="1100" dirty="0"/>
          </a:p>
        </p:txBody>
      </p:sp>
      <p:pic>
        <p:nvPicPr>
          <p:cNvPr id="59" name="Picture 58" descr="ダイブ_01.jpg"/>
          <p:cNvPicPr>
            <a:picLocks noChangeAspect="1"/>
          </p:cNvPicPr>
          <p:nvPr/>
        </p:nvPicPr>
        <p:blipFill>
          <a:blip r:embed="rId2"/>
          <a:stretch>
            <a:fillRect/>
          </a:stretch>
        </p:blipFill>
        <p:spPr>
          <a:xfrm>
            <a:off x="411480" y="1810512"/>
            <a:ext cx="1941880" cy="4206240"/>
          </a:xfrm>
          <a:prstGeom prst="rect">
            <a:avLst/>
          </a:prstGeom>
        </p:spPr>
      </p:pic>
      <p:pic>
        <p:nvPicPr>
          <p:cNvPr id="60" name="Picture 59" descr="ダイブ_03.jpg"/>
          <p:cNvPicPr>
            <a:picLocks noChangeAspect="1"/>
          </p:cNvPicPr>
          <p:nvPr/>
        </p:nvPicPr>
        <p:blipFill>
          <a:blip r:embed="rId3"/>
          <a:stretch>
            <a:fillRect/>
          </a:stretch>
        </p:blipFill>
        <p:spPr>
          <a:xfrm>
            <a:off x="2463088" y="1810512"/>
            <a:ext cx="1941880" cy="4206240"/>
          </a:xfrm>
          <a:prstGeom prst="rect">
            <a:avLst/>
          </a:prstGeom>
        </p:spPr>
      </p:pic>
      <p:pic>
        <p:nvPicPr>
          <p:cNvPr id="61" name="Picture 60" descr="ダイブ_04.jpg"/>
          <p:cNvPicPr>
            <a:picLocks noChangeAspect="1"/>
          </p:cNvPicPr>
          <p:nvPr/>
        </p:nvPicPr>
        <p:blipFill>
          <a:blip r:embed="rId4"/>
          <a:stretch>
            <a:fillRect/>
          </a:stretch>
        </p:blipFill>
        <p:spPr>
          <a:xfrm>
            <a:off x="4514697" y="1810512"/>
            <a:ext cx="1941880" cy="4206240"/>
          </a:xfrm>
          <a:prstGeom prst="rect">
            <a:avLst/>
          </a:prstGeom>
        </p:spPr>
      </p:pic>
      <p:sp>
        <p:nvSpPr>
          <p:cNvPr id="62" name="Rectangle 61"/>
          <p:cNvSpPr/>
          <p:nvPr/>
        </p:nvSpPr>
        <p:spPr>
          <a:xfrm>
            <a:off x="6776618" y="1810512"/>
            <a:ext cx="2760573" cy="310896"/>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wrap="square" lIns="90000" tIns="0" rIns="36000" bIns="0" rtlCol="0" anchor="ctr"/>
          <a:lstStyle/>
          <a:p>
            <a:pPr algn="l">
              <a:lnSpc>
                <a:spcPct val="110000"/>
              </a:lnSpc>
              <a:spcAft>
                <a:spcPts val="0"/>
              </a:spcAft>
            </a:pPr>
            <a:r>
              <a:rPr sz="1200" b="1">
                <a:solidFill>
                  <a:srgbClr val="FFFFFF"/>
                </a:solidFill>
                <a:latin typeface="メイリオ"/>
                <a:ea typeface="メイリオ"/>
                <a:cs typeface="メイリオ"/>
              </a:rPr>
              <a:t>あいさつ</a:t>
            </a:r>
          </a:p>
        </p:txBody>
      </p:sp>
      <p:sp>
        <p:nvSpPr>
          <p:cNvPr id="63" name="Rectangle 62"/>
          <p:cNvSpPr/>
          <p:nvPr/>
        </p:nvSpPr>
        <p:spPr>
          <a:xfrm>
            <a:off x="6776618" y="2121408"/>
            <a:ext cx="2760573" cy="1014984"/>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90000" tIns="36000" rIns="54000" bIns="18000" rtlCol="0" anchor="t"/>
          <a:lstStyle/>
          <a:p>
            <a:pPr algn="l">
              <a:lnSpc>
                <a:spcPct val="110000"/>
              </a:lnSpc>
              <a:spcAft>
                <a:spcPts val="200"/>
              </a:spcAft>
            </a:pPr>
            <a:r>
              <a:rPr sz="1150" b="0">
                <a:solidFill>
                  <a:srgbClr val="333333"/>
                </a:solidFill>
                <a:latin typeface="メイリオ"/>
                <a:ea typeface="メイリオ"/>
                <a:cs typeface="メイリオ"/>
              </a:rPr>
              <a:t>マイページ登録のURLを最初に置き、LINEでできること（求人を探す・探してもらう・相談）を案内</a:t>
            </a:r>
          </a:p>
        </p:txBody>
      </p:sp>
      <p:sp>
        <p:nvSpPr>
          <p:cNvPr id="64" name="Rectangle 63"/>
          <p:cNvSpPr/>
          <p:nvPr/>
        </p:nvSpPr>
        <p:spPr>
          <a:xfrm>
            <a:off x="6776618" y="3246120"/>
            <a:ext cx="2760573" cy="310896"/>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wrap="square" lIns="90000" tIns="0" rIns="36000" bIns="0" rtlCol="0" anchor="ctr"/>
          <a:lstStyle/>
          <a:p>
            <a:pPr algn="l">
              <a:lnSpc>
                <a:spcPct val="110000"/>
              </a:lnSpc>
              <a:spcAft>
                <a:spcPts val="0"/>
              </a:spcAft>
            </a:pPr>
            <a:r>
              <a:rPr sz="1200" b="1">
                <a:solidFill>
                  <a:srgbClr val="FFFFFF"/>
                </a:solidFill>
                <a:latin typeface="メイリオ"/>
                <a:ea typeface="メイリオ"/>
                <a:cs typeface="メイリオ"/>
              </a:rPr>
              <a:t>追加後の配信（毎日1通）</a:t>
            </a:r>
          </a:p>
        </p:txBody>
      </p:sp>
      <p:sp>
        <p:nvSpPr>
          <p:cNvPr id="65" name="Rectangle 64"/>
          <p:cNvSpPr/>
          <p:nvPr/>
        </p:nvSpPr>
        <p:spPr>
          <a:xfrm>
            <a:off x="6776618" y="3557016"/>
            <a:ext cx="2760573" cy="1014984"/>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90000" tIns="36000" rIns="54000" bIns="18000" rtlCol="0" anchor="t"/>
          <a:lstStyle/>
          <a:p>
            <a:pPr algn="l">
              <a:lnSpc>
                <a:spcPct val="110000"/>
              </a:lnSpc>
              <a:spcAft>
                <a:spcPts val="200"/>
              </a:spcAft>
            </a:pPr>
            <a:r>
              <a:rPr sz="1150" b="0">
                <a:solidFill>
                  <a:srgbClr val="333333"/>
                </a:solidFill>
                <a:latin typeface="メイリオ"/>
                <a:ea typeface="メイリオ"/>
                <a:cs typeface="メイリオ"/>
              </a:rPr>
              <a:t>開始までの5ステップ → 初回カウンセリング（電話15分・履歴書不要）→ 稼げる額（平均月収 約25万円）→ 口コミ・SNS</a:t>
            </a:r>
          </a:p>
        </p:txBody>
      </p:sp>
      <p:sp>
        <p:nvSpPr>
          <p:cNvPr id="66" name="Rectangle 65"/>
          <p:cNvSpPr/>
          <p:nvPr/>
        </p:nvSpPr>
        <p:spPr>
          <a:xfrm>
            <a:off x="6776618" y="4681727"/>
            <a:ext cx="2760573" cy="310896"/>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wrap="square" lIns="90000" tIns="0" rIns="36000" bIns="0" rtlCol="0" anchor="ctr"/>
          <a:lstStyle/>
          <a:p>
            <a:pPr algn="l">
              <a:lnSpc>
                <a:spcPct val="110000"/>
              </a:lnSpc>
              <a:spcAft>
                <a:spcPts val="0"/>
              </a:spcAft>
            </a:pPr>
            <a:r>
              <a:rPr sz="1200" b="1">
                <a:solidFill>
                  <a:srgbClr val="FFFFFF"/>
                </a:solidFill>
                <a:latin typeface="メイリオ"/>
                <a:ea typeface="メイリオ"/>
                <a:cs typeface="メイリオ"/>
              </a:rPr>
              <a:t>リッチメニュー</a:t>
            </a:r>
          </a:p>
        </p:txBody>
      </p:sp>
      <p:sp>
        <p:nvSpPr>
          <p:cNvPr id="67" name="Rectangle 66"/>
          <p:cNvSpPr/>
          <p:nvPr/>
        </p:nvSpPr>
        <p:spPr>
          <a:xfrm>
            <a:off x="6776618" y="4992623"/>
            <a:ext cx="2760573" cy="1014984"/>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90000" tIns="36000" rIns="54000" bIns="18000" rtlCol="0" anchor="t"/>
          <a:lstStyle/>
          <a:p>
            <a:pPr algn="l">
              <a:lnSpc>
                <a:spcPct val="110000"/>
              </a:lnSpc>
              <a:spcAft>
                <a:spcPts val="200"/>
              </a:spcAft>
            </a:pPr>
            <a:r>
              <a:rPr sz="1150" b="0">
                <a:solidFill>
                  <a:srgbClr val="333333"/>
                </a:solidFill>
                <a:latin typeface="メイリオ"/>
                <a:ea typeface="メイリオ"/>
                <a:cs typeface="メイリオ"/>
              </a:rPr>
              <a:t>求人を探す／会員登録／ログイン／11月・12月開始のお仕事／よくある質問</a:t>
            </a:r>
          </a:p>
        </p:txBody>
      </p:sp>
      <p:sp>
        <p:nvSpPr>
          <p:cNvPr id="68" name="TextBox 67"/>
          <p:cNvSpPr txBox="1"/>
          <p:nvPr/>
        </p:nvSpPr>
        <p:spPr>
          <a:xfrm>
            <a:off x="384048" y="6355080"/>
            <a:ext cx="9144000" cy="228600"/>
          </a:xfrm>
          <a:prstGeom prst="rect">
            <a:avLst/>
          </a:prstGeom>
          <a:noFill/>
        </p:spPr>
        <p:txBody>
          <a:bodyPr wrap="square" lIns="36000" tIns="10800" rIns="36000" bIns="10800" anchor="ctr">
            <a:spAutoFit/>
          </a:bodyPr>
          <a:lstStyle/>
          <a:p>
            <a:pPr algn="l">
              <a:lnSpc>
                <a:spcPct val="105000"/>
              </a:lnSpc>
              <a:spcAft>
                <a:spcPts val="200"/>
              </a:spcAft>
            </a:pPr>
            <a:r>
              <a:rPr sz="900" b="0">
                <a:solidFill>
                  <a:srgbClr val="777777"/>
                </a:solidFill>
                <a:latin typeface="メイリオ"/>
                <a:ea typeface="メイリオ"/>
                <a:cs typeface="メイリオ"/>
              </a:rPr>
              <a:t>出典｜リゾートバイトダイブ LINE公式アカウント（2026年10月20〜24日の配信）</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 name="正方形/長方形 57">
            <a:extLst>
              <a:ext uri="{FF2B5EF4-FFF2-40B4-BE49-F238E27FC236}">
                <a16:creationId xmlns:a16="http://schemas.microsoft.com/office/drawing/2014/main" id="{44A10F2E-7086-34EF-5EA3-C29208499DA7}"/>
              </a:ext>
            </a:extLst>
          </p:cNvPr>
          <p:cNvSpPr/>
          <p:nvPr/>
        </p:nvSpPr>
        <p:spPr>
          <a:xfrm>
            <a:off x="96788" y="1045811"/>
            <a:ext cx="3611880" cy="21878"/>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100" b="1" dirty="0">
              <a:latin typeface="メイリオ" panose="020B0604030504040204" pitchFamily="50" charset="-128"/>
              <a:ea typeface="メイリオ" panose="020B0604030504040204" pitchFamily="50" charset="-128"/>
            </a:endParaRPr>
          </a:p>
        </p:txBody>
      </p:sp>
      <p:sp>
        <p:nvSpPr>
          <p:cNvPr id="3" name="正方形/長方形 2">
            <a:extLst>
              <a:ext uri="{FF2B5EF4-FFF2-40B4-BE49-F238E27FC236}">
                <a16:creationId xmlns:a16="http://schemas.microsoft.com/office/drawing/2014/main" id="{D5D17E13-7926-4FEF-B3DF-46643C07A612}"/>
              </a:ext>
            </a:extLst>
          </p:cNvPr>
          <p:cNvSpPr/>
          <p:nvPr/>
        </p:nvSpPr>
        <p:spPr>
          <a:xfrm>
            <a:off x="96788" y="1645669"/>
            <a:ext cx="9687414" cy="3577"/>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100" b="1" dirty="0">
              <a:latin typeface="メイリオ" panose="020B0604030504040204" pitchFamily="50" charset="-128"/>
              <a:ea typeface="メイリオ" panose="020B0604030504040204" pitchFamily="50" charset="-128"/>
            </a:endParaRPr>
          </a:p>
        </p:txBody>
      </p:sp>
      <p:sp>
        <p:nvSpPr>
          <p:cNvPr id="5" name="テキスト ボックス 4">
            <a:extLst>
              <a:ext uri="{FF2B5EF4-FFF2-40B4-BE49-F238E27FC236}">
                <a16:creationId xmlns:a16="http://schemas.microsoft.com/office/drawing/2014/main" id="{42E8D0AC-7EB6-A26E-FB83-BB611CE20B52}"/>
              </a:ext>
            </a:extLst>
          </p:cNvPr>
          <p:cNvSpPr txBox="1"/>
          <p:nvPr/>
        </p:nvSpPr>
        <p:spPr>
          <a:xfrm>
            <a:off x="96788" y="619405"/>
            <a:ext cx="4961186" cy="369332"/>
          </a:xfrm>
          <a:prstGeom prst="rect">
            <a:avLst/>
          </a:prstGeom>
          <a:noFill/>
        </p:spPr>
        <p:txBody>
          <a:bodyPr wrap="square">
            <a:spAutoFit/>
          </a:bodyPr>
          <a:lstStyle/>
          <a:p>
            <a:r>
              <a:rPr lang="ja-JP" altLang="en-US"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各社の取り組み｜リゾバ.com</a:t>
            </a:r>
            <a:endParaRPr lang="ja-JP" altLang="en-US" sz="1100" dirty="0"/>
          </a:p>
        </p:txBody>
      </p:sp>
      <p:sp>
        <p:nvSpPr>
          <p:cNvPr id="7" name="テキスト ボックス 6">
            <a:extLst>
              <a:ext uri="{FF2B5EF4-FFF2-40B4-BE49-F238E27FC236}">
                <a16:creationId xmlns:a16="http://schemas.microsoft.com/office/drawing/2014/main" id="{A23B7626-A436-9A82-DD49-5F8A69ED9A70}"/>
              </a:ext>
            </a:extLst>
          </p:cNvPr>
          <p:cNvSpPr txBox="1"/>
          <p:nvPr/>
        </p:nvSpPr>
        <p:spPr>
          <a:xfrm>
            <a:off x="96788" y="1202790"/>
            <a:ext cx="9687414" cy="307777"/>
          </a:xfrm>
          <a:prstGeom prst="rect">
            <a:avLst/>
          </a:prstGeom>
          <a:noFill/>
        </p:spPr>
        <p:txBody>
          <a:bodyPr wrap="square">
            <a:spAutoFit/>
          </a:bodyPr>
          <a:lstStyle/>
          <a:p>
            <a:r>
              <a:rPr lang="ja-JP" altLang="en-US"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追加の直後に経験の有無を聞き、1日2通、相談・タイプ別・条件別・エリア別の特集で求人へつなぐ。</a:t>
            </a:r>
            <a:endParaRPr lang="ja-JP" altLang="en-US" sz="1000" dirty="0"/>
          </a:p>
        </p:txBody>
      </p:sp>
      <p:sp>
        <p:nvSpPr>
          <p:cNvPr id="9" name="テキスト ボックス 8">
            <a:extLst>
              <a:ext uri="{FF2B5EF4-FFF2-40B4-BE49-F238E27FC236}">
                <a16:creationId xmlns:a16="http://schemas.microsoft.com/office/drawing/2014/main" id="{60D95125-3520-4FA9-64C6-1958F1FF1A74}"/>
              </a:ext>
            </a:extLst>
          </p:cNvPr>
          <p:cNvSpPr txBox="1"/>
          <p:nvPr/>
        </p:nvSpPr>
        <p:spPr>
          <a:xfrm>
            <a:off x="460785" y="91159"/>
            <a:ext cx="4961186" cy="369332"/>
          </a:xfrm>
          <a:prstGeom prst="rect">
            <a:avLst/>
          </a:prstGeom>
          <a:noFill/>
        </p:spPr>
        <p:txBody>
          <a:bodyPr wrap="square">
            <a:spAutoFit/>
          </a:bodyPr>
          <a:lstStyle/>
          <a:p>
            <a:r>
              <a:rPr lang="ja-JP" altLang="en-US"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 前提調査</a:t>
            </a:r>
            <a:endParaRPr lang="ja-JP" altLang="en-US" sz="1100" dirty="0"/>
          </a:p>
        </p:txBody>
      </p:sp>
      <p:pic>
        <p:nvPicPr>
          <p:cNvPr id="59" name="Picture 58" descr="リゾバ_01.jpg"/>
          <p:cNvPicPr>
            <a:picLocks noChangeAspect="1"/>
          </p:cNvPicPr>
          <p:nvPr/>
        </p:nvPicPr>
        <p:blipFill>
          <a:blip r:embed="rId2"/>
          <a:stretch>
            <a:fillRect/>
          </a:stretch>
        </p:blipFill>
        <p:spPr>
          <a:xfrm>
            <a:off x="411480" y="1810512"/>
            <a:ext cx="1941880" cy="4206240"/>
          </a:xfrm>
          <a:prstGeom prst="rect">
            <a:avLst/>
          </a:prstGeom>
        </p:spPr>
      </p:pic>
      <p:pic>
        <p:nvPicPr>
          <p:cNvPr id="60" name="Picture 59" descr="リゾバ_02.jpg"/>
          <p:cNvPicPr>
            <a:picLocks noChangeAspect="1"/>
          </p:cNvPicPr>
          <p:nvPr/>
        </p:nvPicPr>
        <p:blipFill>
          <a:blip r:embed="rId3"/>
          <a:stretch>
            <a:fillRect/>
          </a:stretch>
        </p:blipFill>
        <p:spPr>
          <a:xfrm>
            <a:off x="2463088" y="1810512"/>
            <a:ext cx="1941880" cy="4206240"/>
          </a:xfrm>
          <a:prstGeom prst="rect">
            <a:avLst/>
          </a:prstGeom>
        </p:spPr>
      </p:pic>
      <p:pic>
        <p:nvPicPr>
          <p:cNvPr id="61" name="Picture 60" descr="リゾバ_05.jpg"/>
          <p:cNvPicPr>
            <a:picLocks noChangeAspect="1"/>
          </p:cNvPicPr>
          <p:nvPr/>
        </p:nvPicPr>
        <p:blipFill>
          <a:blip r:embed="rId4"/>
          <a:stretch>
            <a:fillRect/>
          </a:stretch>
        </p:blipFill>
        <p:spPr>
          <a:xfrm>
            <a:off x="4514697" y="1810512"/>
            <a:ext cx="1941880" cy="4206240"/>
          </a:xfrm>
          <a:prstGeom prst="rect">
            <a:avLst/>
          </a:prstGeom>
        </p:spPr>
      </p:pic>
      <p:sp>
        <p:nvSpPr>
          <p:cNvPr id="62" name="Rectangle 61"/>
          <p:cNvSpPr/>
          <p:nvPr/>
        </p:nvSpPr>
        <p:spPr>
          <a:xfrm>
            <a:off x="6776618" y="1810512"/>
            <a:ext cx="2760573" cy="310896"/>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wrap="square" lIns="90000" tIns="0" rIns="36000" bIns="0" rtlCol="0" anchor="ctr"/>
          <a:lstStyle/>
          <a:p>
            <a:pPr algn="l">
              <a:lnSpc>
                <a:spcPct val="110000"/>
              </a:lnSpc>
              <a:spcAft>
                <a:spcPts val="0"/>
              </a:spcAft>
            </a:pPr>
            <a:r>
              <a:rPr sz="1200" b="1">
                <a:solidFill>
                  <a:srgbClr val="FFFFFF"/>
                </a:solidFill>
                <a:latin typeface="メイリオ"/>
                <a:ea typeface="メイリオ"/>
                <a:cs typeface="メイリオ"/>
              </a:rPr>
              <a:t>あいさつ</a:t>
            </a:r>
          </a:p>
        </p:txBody>
      </p:sp>
      <p:sp>
        <p:nvSpPr>
          <p:cNvPr id="63" name="Rectangle 62"/>
          <p:cNvSpPr/>
          <p:nvPr/>
        </p:nvSpPr>
        <p:spPr>
          <a:xfrm>
            <a:off x="6776618" y="2121408"/>
            <a:ext cx="2760573" cy="1014984"/>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90000" tIns="36000" rIns="54000" bIns="18000" rtlCol="0" anchor="t"/>
          <a:lstStyle/>
          <a:p>
            <a:pPr algn="l">
              <a:lnSpc>
                <a:spcPct val="110000"/>
              </a:lnSpc>
              <a:spcAft>
                <a:spcPts val="200"/>
              </a:spcAft>
            </a:pPr>
            <a:r>
              <a:rPr sz="1150" b="0">
                <a:solidFill>
                  <a:srgbClr val="333333"/>
                </a:solidFill>
                <a:latin typeface="メイリオ"/>
                <a:ea typeface="メイリオ"/>
                <a:cs typeface="メイリオ"/>
              </a:rPr>
              <a:t>採用コーディネーターがサポートすると伝え、会員登録（まずは相談する）へ。続けて「リゾートバイト経験はありますか？」</a:t>
            </a:r>
          </a:p>
        </p:txBody>
      </p:sp>
      <p:sp>
        <p:nvSpPr>
          <p:cNvPr id="64" name="Rectangle 63"/>
          <p:cNvSpPr/>
          <p:nvPr/>
        </p:nvSpPr>
        <p:spPr>
          <a:xfrm>
            <a:off x="6776618" y="3246120"/>
            <a:ext cx="2760573" cy="310896"/>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wrap="square" lIns="90000" tIns="0" rIns="36000" bIns="0" rtlCol="0" anchor="ctr"/>
          <a:lstStyle/>
          <a:p>
            <a:pPr algn="l">
              <a:lnSpc>
                <a:spcPct val="110000"/>
              </a:lnSpc>
              <a:spcAft>
                <a:spcPts val="0"/>
              </a:spcAft>
            </a:pPr>
            <a:r>
              <a:rPr sz="1200" b="1">
                <a:solidFill>
                  <a:srgbClr val="FFFFFF"/>
                </a:solidFill>
                <a:latin typeface="メイリオ"/>
                <a:ea typeface="メイリオ"/>
                <a:cs typeface="メイリオ"/>
              </a:rPr>
              <a:t>追加後の配信（1日2通）</a:t>
            </a:r>
          </a:p>
        </p:txBody>
      </p:sp>
      <p:sp>
        <p:nvSpPr>
          <p:cNvPr id="65" name="Rectangle 64"/>
          <p:cNvSpPr/>
          <p:nvPr/>
        </p:nvSpPr>
        <p:spPr>
          <a:xfrm>
            <a:off x="6776618" y="3557016"/>
            <a:ext cx="2760573" cy="1014984"/>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90000" tIns="36000" rIns="54000" bIns="18000" rtlCol="0" anchor="t"/>
          <a:lstStyle/>
          <a:p>
            <a:pPr algn="l">
              <a:lnSpc>
                <a:spcPct val="110000"/>
              </a:lnSpc>
              <a:spcAft>
                <a:spcPts val="200"/>
              </a:spcAft>
            </a:pPr>
            <a:r>
              <a:rPr sz="1150" b="0">
                <a:solidFill>
                  <a:srgbClr val="333333"/>
                </a:solidFill>
                <a:latin typeface="メイリオ"/>
                <a:ea typeface="メイリオ"/>
                <a:cs typeface="メイリオ"/>
              </a:rPr>
              <a:t>「話を聞いてみませんか？」／「あなたはどのタイプ？」（タイプ別の求人）／条件特集・エリア特集・レア求人</a:t>
            </a:r>
          </a:p>
        </p:txBody>
      </p:sp>
      <p:sp>
        <p:nvSpPr>
          <p:cNvPr id="66" name="Rectangle 65"/>
          <p:cNvSpPr/>
          <p:nvPr/>
        </p:nvSpPr>
        <p:spPr>
          <a:xfrm>
            <a:off x="6776618" y="4681727"/>
            <a:ext cx="2760573" cy="310896"/>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wrap="square" lIns="90000" tIns="0" rIns="36000" bIns="0" rtlCol="0" anchor="ctr"/>
          <a:lstStyle/>
          <a:p>
            <a:pPr algn="l">
              <a:lnSpc>
                <a:spcPct val="110000"/>
              </a:lnSpc>
              <a:spcAft>
                <a:spcPts val="0"/>
              </a:spcAft>
            </a:pPr>
            <a:r>
              <a:rPr sz="1200" b="1">
                <a:solidFill>
                  <a:srgbClr val="FFFFFF"/>
                </a:solidFill>
                <a:latin typeface="メイリオ"/>
                <a:ea typeface="メイリオ"/>
                <a:cs typeface="メイリオ"/>
              </a:rPr>
              <a:t>リッチメニュー</a:t>
            </a:r>
          </a:p>
        </p:txBody>
      </p:sp>
      <p:sp>
        <p:nvSpPr>
          <p:cNvPr id="67" name="Rectangle 66"/>
          <p:cNvSpPr/>
          <p:nvPr/>
        </p:nvSpPr>
        <p:spPr>
          <a:xfrm>
            <a:off x="6776618" y="4992623"/>
            <a:ext cx="2760573" cy="1014984"/>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90000" tIns="36000" rIns="54000" bIns="18000" rtlCol="0" anchor="t"/>
          <a:lstStyle/>
          <a:p>
            <a:pPr algn="l">
              <a:lnSpc>
                <a:spcPct val="110000"/>
              </a:lnSpc>
              <a:spcAft>
                <a:spcPts val="200"/>
              </a:spcAft>
            </a:pPr>
            <a:r>
              <a:rPr sz="1150" b="0">
                <a:solidFill>
                  <a:srgbClr val="333333"/>
                </a:solidFill>
                <a:latin typeface="メイリオ"/>
                <a:ea typeface="メイリオ"/>
                <a:cs typeface="メイリオ"/>
              </a:rPr>
              <a:t>探したい・働きたい（新着・条件検索・応募・11〜1月開始）／知りたい（はじめての方へ・体験談・特典）</a:t>
            </a:r>
          </a:p>
        </p:txBody>
      </p:sp>
      <p:sp>
        <p:nvSpPr>
          <p:cNvPr id="68" name="TextBox 67"/>
          <p:cNvSpPr txBox="1"/>
          <p:nvPr/>
        </p:nvSpPr>
        <p:spPr>
          <a:xfrm>
            <a:off x="384048" y="6355080"/>
            <a:ext cx="9144000" cy="228600"/>
          </a:xfrm>
          <a:prstGeom prst="rect">
            <a:avLst/>
          </a:prstGeom>
          <a:noFill/>
        </p:spPr>
        <p:txBody>
          <a:bodyPr wrap="square" lIns="36000" tIns="10800" rIns="36000" bIns="10800" anchor="ctr">
            <a:spAutoFit/>
          </a:bodyPr>
          <a:lstStyle/>
          <a:p>
            <a:pPr algn="l">
              <a:lnSpc>
                <a:spcPct val="105000"/>
              </a:lnSpc>
              <a:spcAft>
                <a:spcPts val="200"/>
              </a:spcAft>
            </a:pPr>
            <a:r>
              <a:rPr sz="900" b="0">
                <a:solidFill>
                  <a:srgbClr val="777777"/>
                </a:solidFill>
                <a:latin typeface="メイリオ"/>
                <a:ea typeface="メイリオ"/>
                <a:cs typeface="メイリオ"/>
              </a:rPr>
              <a:t>出典｜リゾバ.com LINE公式アカウント（2026年10月20〜22日の配信）</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 name="正方形/長方形 57">
            <a:extLst>
              <a:ext uri="{FF2B5EF4-FFF2-40B4-BE49-F238E27FC236}">
                <a16:creationId xmlns:a16="http://schemas.microsoft.com/office/drawing/2014/main" id="{44A10F2E-7086-34EF-5EA3-C29208499DA7}"/>
              </a:ext>
            </a:extLst>
          </p:cNvPr>
          <p:cNvSpPr/>
          <p:nvPr/>
        </p:nvSpPr>
        <p:spPr>
          <a:xfrm>
            <a:off x="96788" y="1045811"/>
            <a:ext cx="4526280" cy="21878"/>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100" b="1" dirty="0">
              <a:latin typeface="メイリオ" panose="020B0604030504040204" pitchFamily="50" charset="-128"/>
              <a:ea typeface="メイリオ" panose="020B0604030504040204" pitchFamily="50" charset="-128"/>
            </a:endParaRPr>
          </a:p>
        </p:txBody>
      </p:sp>
      <p:sp>
        <p:nvSpPr>
          <p:cNvPr id="3" name="正方形/長方形 2">
            <a:extLst>
              <a:ext uri="{FF2B5EF4-FFF2-40B4-BE49-F238E27FC236}">
                <a16:creationId xmlns:a16="http://schemas.microsoft.com/office/drawing/2014/main" id="{D5D17E13-7926-4FEF-B3DF-46643C07A612}"/>
              </a:ext>
            </a:extLst>
          </p:cNvPr>
          <p:cNvSpPr/>
          <p:nvPr/>
        </p:nvSpPr>
        <p:spPr>
          <a:xfrm>
            <a:off x="96788" y="1645669"/>
            <a:ext cx="9687414" cy="3577"/>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100" b="1" dirty="0">
              <a:latin typeface="メイリオ" panose="020B0604030504040204" pitchFamily="50" charset="-128"/>
              <a:ea typeface="メイリオ" panose="020B0604030504040204" pitchFamily="50" charset="-128"/>
            </a:endParaRPr>
          </a:p>
        </p:txBody>
      </p:sp>
      <p:sp>
        <p:nvSpPr>
          <p:cNvPr id="5" name="テキスト ボックス 4">
            <a:extLst>
              <a:ext uri="{FF2B5EF4-FFF2-40B4-BE49-F238E27FC236}">
                <a16:creationId xmlns:a16="http://schemas.microsoft.com/office/drawing/2014/main" id="{42E8D0AC-7EB6-A26E-FB83-BB611CE20B52}"/>
              </a:ext>
            </a:extLst>
          </p:cNvPr>
          <p:cNvSpPr txBox="1"/>
          <p:nvPr/>
        </p:nvSpPr>
        <p:spPr>
          <a:xfrm>
            <a:off x="96788" y="619405"/>
            <a:ext cx="4961186" cy="369332"/>
          </a:xfrm>
          <a:prstGeom prst="rect">
            <a:avLst/>
          </a:prstGeom>
          <a:noFill/>
        </p:spPr>
        <p:txBody>
          <a:bodyPr wrap="square">
            <a:spAutoFit/>
          </a:bodyPr>
          <a:lstStyle/>
          <a:p>
            <a:r>
              <a:rPr lang="ja-JP" altLang="en-US"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各社の取り組み｜リゾートバイト.com</a:t>
            </a:r>
            <a:endParaRPr lang="ja-JP" altLang="en-US" sz="1100" dirty="0"/>
          </a:p>
        </p:txBody>
      </p:sp>
      <p:sp>
        <p:nvSpPr>
          <p:cNvPr id="7" name="テキスト ボックス 6">
            <a:extLst>
              <a:ext uri="{FF2B5EF4-FFF2-40B4-BE49-F238E27FC236}">
                <a16:creationId xmlns:a16="http://schemas.microsoft.com/office/drawing/2014/main" id="{A23B7626-A436-9A82-DD49-5F8A69ED9A70}"/>
              </a:ext>
            </a:extLst>
          </p:cNvPr>
          <p:cNvSpPr txBox="1"/>
          <p:nvPr/>
        </p:nvSpPr>
        <p:spPr>
          <a:xfrm>
            <a:off x="96788" y="1202790"/>
            <a:ext cx="9687414" cy="307777"/>
          </a:xfrm>
          <a:prstGeom prst="rect">
            <a:avLst/>
          </a:prstGeom>
          <a:noFill/>
        </p:spPr>
        <p:txBody>
          <a:bodyPr wrap="square">
            <a:spAutoFit/>
          </a:bodyPr>
          <a:lstStyle/>
          <a:p>
            <a:r>
              <a:rPr lang="ja-JP" altLang="en-US"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追加の直後にアンケートから始め、リッチメニューで開始月別の求人と登録へつなぐ。</a:t>
            </a:r>
            <a:endParaRPr lang="ja-JP" altLang="en-US" sz="1000" dirty="0"/>
          </a:p>
        </p:txBody>
      </p:sp>
      <p:sp>
        <p:nvSpPr>
          <p:cNvPr id="9" name="テキスト ボックス 8">
            <a:extLst>
              <a:ext uri="{FF2B5EF4-FFF2-40B4-BE49-F238E27FC236}">
                <a16:creationId xmlns:a16="http://schemas.microsoft.com/office/drawing/2014/main" id="{60D95125-3520-4FA9-64C6-1958F1FF1A74}"/>
              </a:ext>
            </a:extLst>
          </p:cNvPr>
          <p:cNvSpPr txBox="1"/>
          <p:nvPr/>
        </p:nvSpPr>
        <p:spPr>
          <a:xfrm>
            <a:off x="460785" y="91159"/>
            <a:ext cx="4961186" cy="369332"/>
          </a:xfrm>
          <a:prstGeom prst="rect">
            <a:avLst/>
          </a:prstGeom>
          <a:noFill/>
        </p:spPr>
        <p:txBody>
          <a:bodyPr wrap="square">
            <a:spAutoFit/>
          </a:bodyPr>
          <a:lstStyle/>
          <a:p>
            <a:r>
              <a:rPr lang="ja-JP" altLang="en-US"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 前提調査</a:t>
            </a:r>
            <a:endParaRPr lang="ja-JP" altLang="en-US" sz="1100" dirty="0"/>
          </a:p>
        </p:txBody>
      </p:sp>
      <p:pic>
        <p:nvPicPr>
          <p:cNvPr id="59" name="Picture 58" descr="リゾートバイトcom_01.jpg"/>
          <p:cNvPicPr>
            <a:picLocks noChangeAspect="1"/>
          </p:cNvPicPr>
          <p:nvPr/>
        </p:nvPicPr>
        <p:blipFill>
          <a:blip r:embed="rId2"/>
          <a:stretch>
            <a:fillRect/>
          </a:stretch>
        </p:blipFill>
        <p:spPr>
          <a:xfrm>
            <a:off x="411480" y="1810512"/>
            <a:ext cx="1941880" cy="4206240"/>
          </a:xfrm>
          <a:prstGeom prst="rect">
            <a:avLst/>
          </a:prstGeom>
        </p:spPr>
      </p:pic>
      <p:pic>
        <p:nvPicPr>
          <p:cNvPr id="60" name="Picture 59" descr="リゾートバイトcom_02.jpg"/>
          <p:cNvPicPr>
            <a:picLocks noChangeAspect="1"/>
          </p:cNvPicPr>
          <p:nvPr/>
        </p:nvPicPr>
        <p:blipFill>
          <a:blip r:embed="rId3"/>
          <a:stretch>
            <a:fillRect/>
          </a:stretch>
        </p:blipFill>
        <p:spPr>
          <a:xfrm>
            <a:off x="2463088" y="1810512"/>
            <a:ext cx="1941880" cy="4206240"/>
          </a:xfrm>
          <a:prstGeom prst="rect">
            <a:avLst/>
          </a:prstGeom>
        </p:spPr>
      </p:pic>
      <p:sp>
        <p:nvSpPr>
          <p:cNvPr id="61" name="Rectangle 60"/>
          <p:cNvSpPr/>
          <p:nvPr/>
        </p:nvSpPr>
        <p:spPr>
          <a:xfrm>
            <a:off x="4725009" y="1810512"/>
            <a:ext cx="4812182" cy="310896"/>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wrap="square" lIns="90000" tIns="0" rIns="36000" bIns="0" rtlCol="0" anchor="ctr"/>
          <a:lstStyle/>
          <a:p>
            <a:pPr algn="l">
              <a:lnSpc>
                <a:spcPct val="110000"/>
              </a:lnSpc>
              <a:spcAft>
                <a:spcPts val="0"/>
              </a:spcAft>
            </a:pPr>
            <a:r>
              <a:rPr sz="1200" b="1">
                <a:solidFill>
                  <a:srgbClr val="FFFFFF"/>
                </a:solidFill>
                <a:latin typeface="メイリオ"/>
                <a:ea typeface="メイリオ"/>
                <a:cs typeface="メイリオ"/>
              </a:rPr>
              <a:t>あいさつ</a:t>
            </a:r>
          </a:p>
        </p:txBody>
      </p:sp>
      <p:sp>
        <p:nvSpPr>
          <p:cNvPr id="62" name="Rectangle 61"/>
          <p:cNvSpPr/>
          <p:nvPr/>
        </p:nvSpPr>
        <p:spPr>
          <a:xfrm>
            <a:off x="4725009" y="2121408"/>
            <a:ext cx="4812182" cy="1014984"/>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90000" tIns="36000" rIns="54000" bIns="18000" rtlCol="0" anchor="t"/>
          <a:lstStyle/>
          <a:p>
            <a:pPr algn="l">
              <a:lnSpc>
                <a:spcPct val="110000"/>
              </a:lnSpc>
              <a:spcAft>
                <a:spcPts val="200"/>
              </a:spcAft>
            </a:pPr>
            <a:r>
              <a:rPr sz="1150" b="0">
                <a:solidFill>
                  <a:srgbClr val="333333"/>
                </a:solidFill>
                <a:latin typeface="メイリオ"/>
                <a:ea typeface="メイリオ"/>
                <a:cs typeface="メイリオ"/>
              </a:rPr>
              <a:t>アンケート「Q1.性別を教えてください」から始める</a:t>
            </a:r>
          </a:p>
        </p:txBody>
      </p:sp>
      <p:sp>
        <p:nvSpPr>
          <p:cNvPr id="63" name="Rectangle 62"/>
          <p:cNvSpPr/>
          <p:nvPr/>
        </p:nvSpPr>
        <p:spPr>
          <a:xfrm>
            <a:off x="4725009" y="3246120"/>
            <a:ext cx="4812182" cy="310896"/>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wrap="square" lIns="90000" tIns="0" rIns="36000" bIns="0" rtlCol="0" anchor="ctr"/>
          <a:lstStyle/>
          <a:p>
            <a:pPr algn="l">
              <a:lnSpc>
                <a:spcPct val="110000"/>
              </a:lnSpc>
              <a:spcAft>
                <a:spcPts val="0"/>
              </a:spcAft>
            </a:pPr>
            <a:r>
              <a:rPr sz="1200" b="1">
                <a:solidFill>
                  <a:srgbClr val="FFFFFF"/>
                </a:solidFill>
                <a:latin typeface="メイリオ"/>
                <a:ea typeface="メイリオ"/>
                <a:cs typeface="メイリオ"/>
              </a:rPr>
              <a:t>リッチメニュー（おしごと探し）</a:t>
            </a:r>
          </a:p>
        </p:txBody>
      </p:sp>
      <p:sp>
        <p:nvSpPr>
          <p:cNvPr id="64" name="Rectangle 63"/>
          <p:cNvSpPr/>
          <p:nvPr/>
        </p:nvSpPr>
        <p:spPr>
          <a:xfrm>
            <a:off x="4725009" y="3557016"/>
            <a:ext cx="4812182" cy="1014984"/>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90000" tIns="36000" rIns="54000" bIns="18000" rtlCol="0" anchor="t"/>
          <a:lstStyle/>
          <a:p>
            <a:pPr algn="l">
              <a:lnSpc>
                <a:spcPct val="110000"/>
              </a:lnSpc>
              <a:spcAft>
                <a:spcPts val="200"/>
              </a:spcAft>
            </a:pPr>
            <a:r>
              <a:rPr sz="1150" b="0">
                <a:solidFill>
                  <a:srgbClr val="333333"/>
                </a:solidFill>
                <a:latin typeface="メイリオ"/>
                <a:ea typeface="メイリオ"/>
                <a:cs typeface="メイリオ"/>
              </a:rPr>
              <a:t>リゾートバイト検索／10月・11月勤務開始／スキー場バイト／かんたんWEB登録（約50秒）</a:t>
            </a:r>
          </a:p>
        </p:txBody>
      </p:sp>
      <p:sp>
        <p:nvSpPr>
          <p:cNvPr id="65" name="Rectangle 64"/>
          <p:cNvSpPr/>
          <p:nvPr/>
        </p:nvSpPr>
        <p:spPr>
          <a:xfrm>
            <a:off x="4725009" y="4681727"/>
            <a:ext cx="4812182" cy="310896"/>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wrap="square" lIns="90000" tIns="0" rIns="36000" bIns="0" rtlCol="0" anchor="ctr"/>
          <a:lstStyle/>
          <a:p>
            <a:pPr algn="l">
              <a:lnSpc>
                <a:spcPct val="110000"/>
              </a:lnSpc>
              <a:spcAft>
                <a:spcPts val="0"/>
              </a:spcAft>
            </a:pPr>
            <a:r>
              <a:rPr sz="1200" b="1">
                <a:solidFill>
                  <a:srgbClr val="FFFFFF"/>
                </a:solidFill>
                <a:latin typeface="メイリオ"/>
                <a:ea typeface="メイリオ"/>
                <a:cs typeface="メイリオ"/>
              </a:rPr>
              <a:t>リッチメニュー（サポートナビ）</a:t>
            </a:r>
          </a:p>
        </p:txBody>
      </p:sp>
      <p:sp>
        <p:nvSpPr>
          <p:cNvPr id="66" name="Rectangle 65"/>
          <p:cNvSpPr/>
          <p:nvPr/>
        </p:nvSpPr>
        <p:spPr>
          <a:xfrm>
            <a:off x="4725009" y="4992623"/>
            <a:ext cx="4812182" cy="1014984"/>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90000" tIns="36000" rIns="54000" bIns="18000" rtlCol="0" anchor="t"/>
          <a:lstStyle/>
          <a:p>
            <a:pPr algn="l">
              <a:lnSpc>
                <a:spcPct val="110000"/>
              </a:lnSpc>
              <a:spcAft>
                <a:spcPts val="200"/>
              </a:spcAft>
            </a:pPr>
            <a:r>
              <a:rPr sz="1150" b="0">
                <a:solidFill>
                  <a:srgbClr val="333333"/>
                </a:solidFill>
                <a:latin typeface="メイリオ"/>
                <a:ea typeface="メイリオ"/>
                <a:cs typeface="メイリオ"/>
              </a:rPr>
              <a:t>はじめての方へ／質問はこちら／体験談／お問い合わせ／マイページ／配信設定</a:t>
            </a:r>
          </a:p>
        </p:txBody>
      </p:sp>
      <p:sp>
        <p:nvSpPr>
          <p:cNvPr id="67" name="TextBox 66"/>
          <p:cNvSpPr txBox="1"/>
          <p:nvPr/>
        </p:nvSpPr>
        <p:spPr>
          <a:xfrm>
            <a:off x="384048" y="6355080"/>
            <a:ext cx="9144000" cy="228600"/>
          </a:xfrm>
          <a:prstGeom prst="rect">
            <a:avLst/>
          </a:prstGeom>
          <a:noFill/>
        </p:spPr>
        <p:txBody>
          <a:bodyPr wrap="square" lIns="36000" tIns="10800" rIns="36000" bIns="10800" anchor="ctr">
            <a:spAutoFit/>
          </a:bodyPr>
          <a:lstStyle/>
          <a:p>
            <a:pPr algn="l">
              <a:lnSpc>
                <a:spcPct val="105000"/>
              </a:lnSpc>
              <a:spcAft>
                <a:spcPts val="200"/>
              </a:spcAft>
            </a:pPr>
            <a:r>
              <a:rPr sz="900" b="0">
                <a:solidFill>
                  <a:srgbClr val="777777"/>
                </a:solidFill>
                <a:latin typeface="メイリオ"/>
                <a:ea typeface="メイリオ"/>
                <a:cs typeface="メイリオ"/>
              </a:rPr>
              <a:t>出典｜リゾートバイト.com LINE公式アカウント（2026年10月20日の画面）</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 name="正方形/長方形 57">
            <a:extLst>
              <a:ext uri="{FF2B5EF4-FFF2-40B4-BE49-F238E27FC236}">
                <a16:creationId xmlns:a16="http://schemas.microsoft.com/office/drawing/2014/main" id="{44A10F2E-7086-34EF-5EA3-C29208499DA7}"/>
              </a:ext>
            </a:extLst>
          </p:cNvPr>
          <p:cNvSpPr/>
          <p:nvPr/>
        </p:nvSpPr>
        <p:spPr>
          <a:xfrm>
            <a:off x="96788" y="1045811"/>
            <a:ext cx="3840480" cy="21878"/>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100" b="1" dirty="0">
              <a:latin typeface="メイリオ" panose="020B0604030504040204" pitchFamily="50" charset="-128"/>
              <a:ea typeface="メイリオ" panose="020B0604030504040204" pitchFamily="50" charset="-128"/>
            </a:endParaRPr>
          </a:p>
        </p:txBody>
      </p:sp>
      <p:sp>
        <p:nvSpPr>
          <p:cNvPr id="3" name="正方形/長方形 2">
            <a:extLst>
              <a:ext uri="{FF2B5EF4-FFF2-40B4-BE49-F238E27FC236}">
                <a16:creationId xmlns:a16="http://schemas.microsoft.com/office/drawing/2014/main" id="{D5D17E13-7926-4FEF-B3DF-46643C07A612}"/>
              </a:ext>
            </a:extLst>
          </p:cNvPr>
          <p:cNvSpPr/>
          <p:nvPr/>
        </p:nvSpPr>
        <p:spPr>
          <a:xfrm>
            <a:off x="96788" y="1645669"/>
            <a:ext cx="9687414" cy="3577"/>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100" b="1" dirty="0">
              <a:latin typeface="メイリオ" panose="020B0604030504040204" pitchFamily="50" charset="-128"/>
              <a:ea typeface="メイリオ" panose="020B0604030504040204" pitchFamily="50" charset="-128"/>
            </a:endParaRPr>
          </a:p>
        </p:txBody>
      </p:sp>
      <p:sp>
        <p:nvSpPr>
          <p:cNvPr id="5" name="テキスト ボックス 4">
            <a:extLst>
              <a:ext uri="{FF2B5EF4-FFF2-40B4-BE49-F238E27FC236}">
                <a16:creationId xmlns:a16="http://schemas.microsoft.com/office/drawing/2014/main" id="{42E8D0AC-7EB6-A26E-FB83-BB611CE20B52}"/>
              </a:ext>
            </a:extLst>
          </p:cNvPr>
          <p:cNvSpPr txBox="1"/>
          <p:nvPr/>
        </p:nvSpPr>
        <p:spPr>
          <a:xfrm>
            <a:off x="96788" y="619405"/>
            <a:ext cx="4961186" cy="369332"/>
          </a:xfrm>
          <a:prstGeom prst="rect">
            <a:avLst/>
          </a:prstGeom>
          <a:noFill/>
        </p:spPr>
        <p:txBody>
          <a:bodyPr wrap="square">
            <a:spAutoFit/>
          </a:bodyPr>
          <a:lstStyle/>
          <a:p>
            <a:r>
              <a:rPr lang="ja-JP" altLang="en-US"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各社の取り組み｜アルファリゾート</a:t>
            </a:r>
            <a:endParaRPr lang="ja-JP" altLang="en-US" sz="1100" dirty="0"/>
          </a:p>
        </p:txBody>
      </p:sp>
      <p:sp>
        <p:nvSpPr>
          <p:cNvPr id="7" name="テキスト ボックス 6">
            <a:extLst>
              <a:ext uri="{FF2B5EF4-FFF2-40B4-BE49-F238E27FC236}">
                <a16:creationId xmlns:a16="http://schemas.microsoft.com/office/drawing/2014/main" id="{A23B7626-A436-9A82-DD49-5F8A69ED9A70}"/>
              </a:ext>
            </a:extLst>
          </p:cNvPr>
          <p:cNvSpPr txBox="1"/>
          <p:nvPr/>
        </p:nvSpPr>
        <p:spPr>
          <a:xfrm>
            <a:off x="96788" y="1202790"/>
            <a:ext cx="9687414" cy="307777"/>
          </a:xfrm>
          <a:prstGeom prst="rect">
            <a:avLst/>
          </a:prstGeom>
          <a:noFill/>
        </p:spPr>
        <p:txBody>
          <a:bodyPr wrap="square">
            <a:spAutoFit/>
          </a:bodyPr>
          <a:lstStyle/>
          <a:p>
            <a:r>
              <a:rPr lang="ja-JP" altLang="en-US"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あいさつで会員登録と初回カウンセリングの予約を案内し、担当者がチャットで相談に乗る。</a:t>
            </a:r>
            <a:endParaRPr lang="ja-JP" altLang="en-US" sz="1000" dirty="0"/>
          </a:p>
        </p:txBody>
      </p:sp>
      <p:sp>
        <p:nvSpPr>
          <p:cNvPr id="9" name="テキスト ボックス 8">
            <a:extLst>
              <a:ext uri="{FF2B5EF4-FFF2-40B4-BE49-F238E27FC236}">
                <a16:creationId xmlns:a16="http://schemas.microsoft.com/office/drawing/2014/main" id="{60D95125-3520-4FA9-64C6-1958F1FF1A74}"/>
              </a:ext>
            </a:extLst>
          </p:cNvPr>
          <p:cNvSpPr txBox="1"/>
          <p:nvPr/>
        </p:nvSpPr>
        <p:spPr>
          <a:xfrm>
            <a:off x="460785" y="91159"/>
            <a:ext cx="4961186" cy="369332"/>
          </a:xfrm>
          <a:prstGeom prst="rect">
            <a:avLst/>
          </a:prstGeom>
          <a:noFill/>
        </p:spPr>
        <p:txBody>
          <a:bodyPr wrap="square">
            <a:spAutoFit/>
          </a:bodyPr>
          <a:lstStyle/>
          <a:p>
            <a:r>
              <a:rPr lang="ja-JP" altLang="en-US"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 前提調査</a:t>
            </a:r>
            <a:endParaRPr lang="ja-JP" altLang="en-US" sz="1100" dirty="0"/>
          </a:p>
        </p:txBody>
      </p:sp>
      <p:pic>
        <p:nvPicPr>
          <p:cNvPr id="59" name="Picture 58" descr="アルファ_01.jpg"/>
          <p:cNvPicPr>
            <a:picLocks noChangeAspect="1"/>
          </p:cNvPicPr>
          <p:nvPr/>
        </p:nvPicPr>
        <p:blipFill>
          <a:blip r:embed="rId2"/>
          <a:stretch>
            <a:fillRect/>
          </a:stretch>
        </p:blipFill>
        <p:spPr>
          <a:xfrm>
            <a:off x="411480" y="1810512"/>
            <a:ext cx="1941880" cy="4206240"/>
          </a:xfrm>
          <a:prstGeom prst="rect">
            <a:avLst/>
          </a:prstGeom>
        </p:spPr>
      </p:pic>
      <p:pic>
        <p:nvPicPr>
          <p:cNvPr id="60" name="Picture 59" descr="アルファ_02.jpg"/>
          <p:cNvPicPr>
            <a:picLocks noChangeAspect="1"/>
          </p:cNvPicPr>
          <p:nvPr/>
        </p:nvPicPr>
        <p:blipFill>
          <a:blip r:embed="rId3"/>
          <a:stretch>
            <a:fillRect/>
          </a:stretch>
        </p:blipFill>
        <p:spPr>
          <a:xfrm>
            <a:off x="2463088" y="1810512"/>
            <a:ext cx="1941880" cy="4206240"/>
          </a:xfrm>
          <a:prstGeom prst="rect">
            <a:avLst/>
          </a:prstGeom>
        </p:spPr>
      </p:pic>
      <p:sp>
        <p:nvSpPr>
          <p:cNvPr id="61" name="Rectangle 60"/>
          <p:cNvSpPr/>
          <p:nvPr/>
        </p:nvSpPr>
        <p:spPr>
          <a:xfrm>
            <a:off x="4725009" y="1810512"/>
            <a:ext cx="4812182" cy="310896"/>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wrap="square" lIns="90000" tIns="0" rIns="36000" bIns="0" rtlCol="0" anchor="ctr"/>
          <a:lstStyle/>
          <a:p>
            <a:pPr algn="l">
              <a:lnSpc>
                <a:spcPct val="110000"/>
              </a:lnSpc>
              <a:spcAft>
                <a:spcPts val="0"/>
              </a:spcAft>
            </a:pPr>
            <a:r>
              <a:rPr sz="1200" b="1">
                <a:solidFill>
                  <a:srgbClr val="FFFFFF"/>
                </a:solidFill>
                <a:latin typeface="メイリオ"/>
                <a:ea typeface="メイリオ"/>
                <a:cs typeface="メイリオ"/>
              </a:rPr>
              <a:t>あいさつ</a:t>
            </a:r>
          </a:p>
        </p:txBody>
      </p:sp>
      <p:sp>
        <p:nvSpPr>
          <p:cNvPr id="62" name="Rectangle 61"/>
          <p:cNvSpPr/>
          <p:nvPr/>
        </p:nvSpPr>
        <p:spPr>
          <a:xfrm>
            <a:off x="4725009" y="2121408"/>
            <a:ext cx="4812182" cy="1014984"/>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90000" tIns="36000" rIns="54000" bIns="18000" rtlCol="0" anchor="t"/>
          <a:lstStyle/>
          <a:p>
            <a:pPr algn="l">
              <a:lnSpc>
                <a:spcPct val="110000"/>
              </a:lnSpc>
              <a:spcAft>
                <a:spcPts val="200"/>
              </a:spcAft>
            </a:pPr>
            <a:r>
              <a:rPr sz="1150" b="0">
                <a:solidFill>
                  <a:srgbClr val="333333"/>
                </a:solidFill>
                <a:latin typeface="メイリオ"/>
                <a:ea typeface="メイリオ"/>
                <a:cs typeface="メイリオ"/>
              </a:rPr>
              <a:t>まずは無料で会員登録（URL）／初回カウンセリングの予約（URL・必須）／気になることは担当者が返信</a:t>
            </a:r>
          </a:p>
        </p:txBody>
      </p:sp>
      <p:sp>
        <p:nvSpPr>
          <p:cNvPr id="63" name="Rectangle 62"/>
          <p:cNvSpPr/>
          <p:nvPr/>
        </p:nvSpPr>
        <p:spPr>
          <a:xfrm>
            <a:off x="4725009" y="3246120"/>
            <a:ext cx="4812182" cy="310896"/>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wrap="square" lIns="90000" tIns="0" rIns="36000" bIns="0" rtlCol="0" anchor="ctr"/>
          <a:lstStyle/>
          <a:p>
            <a:pPr algn="l">
              <a:lnSpc>
                <a:spcPct val="110000"/>
              </a:lnSpc>
              <a:spcAft>
                <a:spcPts val="0"/>
              </a:spcAft>
            </a:pPr>
            <a:r>
              <a:rPr sz="1200" b="1">
                <a:solidFill>
                  <a:srgbClr val="FFFFFF"/>
                </a:solidFill>
                <a:latin typeface="メイリオ"/>
                <a:ea typeface="メイリオ"/>
                <a:cs typeface="メイリオ"/>
              </a:rPr>
              <a:t>リッチメニュー</a:t>
            </a:r>
          </a:p>
        </p:txBody>
      </p:sp>
      <p:sp>
        <p:nvSpPr>
          <p:cNvPr id="64" name="Rectangle 63"/>
          <p:cNvSpPr/>
          <p:nvPr/>
        </p:nvSpPr>
        <p:spPr>
          <a:xfrm>
            <a:off x="4725009" y="3557016"/>
            <a:ext cx="4812182" cy="1014984"/>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90000" tIns="36000" rIns="54000" bIns="18000" rtlCol="0" anchor="t"/>
          <a:lstStyle/>
          <a:p>
            <a:pPr algn="l">
              <a:lnSpc>
                <a:spcPct val="110000"/>
              </a:lnSpc>
              <a:spcAft>
                <a:spcPts val="200"/>
              </a:spcAft>
            </a:pPr>
            <a:r>
              <a:rPr sz="1150" b="0">
                <a:solidFill>
                  <a:srgbClr val="333333"/>
                </a:solidFill>
                <a:latin typeface="メイリオ"/>
                <a:ea typeface="メイリオ"/>
                <a:cs typeface="メイリオ"/>
              </a:rPr>
              <a:t>マイページ ログイン／求人検索／お役立ち情報／マイページ作成／よくある質問／10月・11月スタートのお仕事</a:t>
            </a:r>
          </a:p>
        </p:txBody>
      </p:sp>
      <p:sp>
        <p:nvSpPr>
          <p:cNvPr id="65" name="Rectangle 64"/>
          <p:cNvSpPr/>
          <p:nvPr/>
        </p:nvSpPr>
        <p:spPr>
          <a:xfrm>
            <a:off x="4725009" y="4681727"/>
            <a:ext cx="4812182" cy="310896"/>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wrap="square" lIns="90000" tIns="0" rIns="36000" bIns="0" rtlCol="0" anchor="ctr"/>
          <a:lstStyle/>
          <a:p>
            <a:pPr algn="l">
              <a:lnSpc>
                <a:spcPct val="110000"/>
              </a:lnSpc>
              <a:spcAft>
                <a:spcPts val="0"/>
              </a:spcAft>
            </a:pPr>
            <a:r>
              <a:rPr sz="1200" b="1">
                <a:solidFill>
                  <a:srgbClr val="FFFFFF"/>
                </a:solidFill>
                <a:latin typeface="メイリオ"/>
                <a:ea typeface="メイリオ"/>
                <a:cs typeface="メイリオ"/>
              </a:rPr>
              <a:t>ねらい</a:t>
            </a:r>
          </a:p>
        </p:txBody>
      </p:sp>
      <p:sp>
        <p:nvSpPr>
          <p:cNvPr id="66" name="Rectangle 65"/>
          <p:cNvSpPr/>
          <p:nvPr/>
        </p:nvSpPr>
        <p:spPr>
          <a:xfrm>
            <a:off x="4725009" y="4992623"/>
            <a:ext cx="4812182" cy="1014984"/>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90000" tIns="36000" rIns="54000" bIns="18000" rtlCol="0" anchor="t"/>
          <a:lstStyle/>
          <a:p>
            <a:pPr algn="l">
              <a:lnSpc>
                <a:spcPct val="110000"/>
              </a:lnSpc>
              <a:spcAft>
                <a:spcPts val="200"/>
              </a:spcAft>
            </a:pPr>
            <a:r>
              <a:rPr sz="1150" b="0">
                <a:solidFill>
                  <a:srgbClr val="333333"/>
                </a:solidFill>
                <a:latin typeface="メイリオ"/>
                <a:ea typeface="メイリオ"/>
                <a:cs typeface="メイリオ"/>
              </a:rPr>
              <a:t>LINEを、登録とカウンセリングの受付の窓口にしている</a:t>
            </a:r>
          </a:p>
        </p:txBody>
      </p:sp>
      <p:sp>
        <p:nvSpPr>
          <p:cNvPr id="67" name="TextBox 66"/>
          <p:cNvSpPr txBox="1"/>
          <p:nvPr/>
        </p:nvSpPr>
        <p:spPr>
          <a:xfrm>
            <a:off x="384048" y="6355080"/>
            <a:ext cx="9144000" cy="228600"/>
          </a:xfrm>
          <a:prstGeom prst="rect">
            <a:avLst/>
          </a:prstGeom>
          <a:noFill/>
        </p:spPr>
        <p:txBody>
          <a:bodyPr wrap="square" lIns="36000" tIns="10800" rIns="36000" bIns="10800" anchor="ctr">
            <a:spAutoFit/>
          </a:bodyPr>
          <a:lstStyle/>
          <a:p>
            <a:pPr algn="l">
              <a:lnSpc>
                <a:spcPct val="105000"/>
              </a:lnSpc>
              <a:spcAft>
                <a:spcPts val="200"/>
              </a:spcAft>
            </a:pPr>
            <a:r>
              <a:rPr sz="900" b="0">
                <a:solidFill>
                  <a:srgbClr val="777777"/>
                </a:solidFill>
                <a:latin typeface="メイリオ"/>
                <a:ea typeface="メイリオ"/>
                <a:cs typeface="メイリオ"/>
              </a:rPr>
              <a:t>出典｜リゾートバイトならアルファリゾート LINE公式アカウント（2026年10月20日の画面）</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 name="正方形/長方形 57">
            <a:extLst>
              <a:ext uri="{FF2B5EF4-FFF2-40B4-BE49-F238E27FC236}">
                <a16:creationId xmlns:a16="http://schemas.microsoft.com/office/drawing/2014/main" id="{44A10F2E-7086-34EF-5EA3-C29208499DA7}"/>
              </a:ext>
            </a:extLst>
          </p:cNvPr>
          <p:cNvSpPr/>
          <p:nvPr/>
        </p:nvSpPr>
        <p:spPr>
          <a:xfrm>
            <a:off x="96788" y="1045811"/>
            <a:ext cx="3154680" cy="21878"/>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100" b="1" dirty="0">
              <a:latin typeface="メイリオ" panose="020B0604030504040204" pitchFamily="50" charset="-128"/>
              <a:ea typeface="メイリオ" panose="020B0604030504040204" pitchFamily="50" charset="-128"/>
            </a:endParaRPr>
          </a:p>
        </p:txBody>
      </p:sp>
      <p:sp>
        <p:nvSpPr>
          <p:cNvPr id="3" name="正方形/長方形 2">
            <a:extLst>
              <a:ext uri="{FF2B5EF4-FFF2-40B4-BE49-F238E27FC236}">
                <a16:creationId xmlns:a16="http://schemas.microsoft.com/office/drawing/2014/main" id="{D5D17E13-7926-4FEF-B3DF-46643C07A612}"/>
              </a:ext>
            </a:extLst>
          </p:cNvPr>
          <p:cNvSpPr/>
          <p:nvPr/>
        </p:nvSpPr>
        <p:spPr>
          <a:xfrm>
            <a:off x="96788" y="1645669"/>
            <a:ext cx="9687414" cy="3577"/>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100" b="1" dirty="0">
              <a:latin typeface="メイリオ" panose="020B0604030504040204" pitchFamily="50" charset="-128"/>
              <a:ea typeface="メイリオ" panose="020B0604030504040204" pitchFamily="50" charset="-128"/>
            </a:endParaRPr>
          </a:p>
        </p:txBody>
      </p:sp>
      <p:sp>
        <p:nvSpPr>
          <p:cNvPr id="5" name="テキスト ボックス 4">
            <a:extLst>
              <a:ext uri="{FF2B5EF4-FFF2-40B4-BE49-F238E27FC236}">
                <a16:creationId xmlns:a16="http://schemas.microsoft.com/office/drawing/2014/main" id="{42E8D0AC-7EB6-A26E-FB83-BB611CE20B52}"/>
              </a:ext>
            </a:extLst>
          </p:cNvPr>
          <p:cNvSpPr txBox="1"/>
          <p:nvPr/>
        </p:nvSpPr>
        <p:spPr>
          <a:xfrm>
            <a:off x="96788" y="619405"/>
            <a:ext cx="4961186" cy="369332"/>
          </a:xfrm>
          <a:prstGeom prst="rect">
            <a:avLst/>
          </a:prstGeom>
          <a:noFill/>
        </p:spPr>
        <p:txBody>
          <a:bodyPr wrap="square">
            <a:spAutoFit/>
          </a:bodyPr>
          <a:lstStyle/>
          <a:p>
            <a:r>
              <a:rPr lang="ja-JP" altLang="en-US"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他社のLINE活用のまとめ</a:t>
            </a:r>
            <a:endParaRPr lang="ja-JP" altLang="en-US" sz="1100" dirty="0"/>
          </a:p>
        </p:txBody>
      </p:sp>
      <p:sp>
        <p:nvSpPr>
          <p:cNvPr id="7" name="テキスト ボックス 6">
            <a:extLst>
              <a:ext uri="{FF2B5EF4-FFF2-40B4-BE49-F238E27FC236}">
                <a16:creationId xmlns:a16="http://schemas.microsoft.com/office/drawing/2014/main" id="{A23B7626-A436-9A82-DD49-5F8A69ED9A70}"/>
              </a:ext>
            </a:extLst>
          </p:cNvPr>
          <p:cNvSpPr txBox="1"/>
          <p:nvPr/>
        </p:nvSpPr>
        <p:spPr>
          <a:xfrm>
            <a:off x="96788" y="1202790"/>
            <a:ext cx="9687414" cy="307777"/>
          </a:xfrm>
          <a:prstGeom prst="rect">
            <a:avLst/>
          </a:prstGeom>
          <a:noFill/>
        </p:spPr>
        <p:txBody>
          <a:bodyPr wrap="square">
            <a:spAutoFit/>
          </a:bodyPr>
          <a:lstStyle/>
          <a:p>
            <a:r>
              <a:rPr lang="ja-JP" altLang="en-US"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他社は、追加の直後から登録・相談へつないでいる。リゾートバイトの集客で、LINEは必須の接点になっている。</a:t>
            </a:r>
            <a:endParaRPr lang="ja-JP" altLang="en-US" sz="1000" dirty="0"/>
          </a:p>
        </p:txBody>
      </p:sp>
      <p:sp>
        <p:nvSpPr>
          <p:cNvPr id="9" name="テキスト ボックス 8">
            <a:extLst>
              <a:ext uri="{FF2B5EF4-FFF2-40B4-BE49-F238E27FC236}">
                <a16:creationId xmlns:a16="http://schemas.microsoft.com/office/drawing/2014/main" id="{60D95125-3520-4FA9-64C6-1958F1FF1A74}"/>
              </a:ext>
            </a:extLst>
          </p:cNvPr>
          <p:cNvSpPr txBox="1"/>
          <p:nvPr/>
        </p:nvSpPr>
        <p:spPr>
          <a:xfrm>
            <a:off x="460785" y="91159"/>
            <a:ext cx="4961186" cy="369332"/>
          </a:xfrm>
          <a:prstGeom prst="rect">
            <a:avLst/>
          </a:prstGeom>
          <a:noFill/>
        </p:spPr>
        <p:txBody>
          <a:bodyPr wrap="square">
            <a:spAutoFit/>
          </a:bodyPr>
          <a:lstStyle/>
          <a:p>
            <a:r>
              <a:rPr lang="ja-JP" altLang="en-US"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 前提調査</a:t>
            </a:r>
            <a:endParaRPr lang="ja-JP" altLang="en-US" sz="1100" dirty="0"/>
          </a:p>
        </p:txBody>
      </p:sp>
      <p:sp>
        <p:nvSpPr>
          <p:cNvPr id="69" name="Rectangle 58"/>
          <p:cNvSpPr/>
          <p:nvPr/>
        </p:nvSpPr>
        <p:spPr>
          <a:xfrm>
            <a:off x="384048" y="1828800"/>
            <a:ext cx="2057400" cy="365760"/>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wrap="square" lIns="72000" tIns="18000" rIns="72000" bIns="18000" rtlCol="0" anchor="ctr"/>
          <a:lstStyle/>
          <a:p>
            <a:pPr algn="ctr">
              <a:lnSpc>
                <a:spcPct val="110000"/>
              </a:lnSpc>
              <a:spcAft>
                <a:spcPts val="0"/>
              </a:spcAft>
            </a:pPr>
            <a:r>
              <a:rPr sz="1200" b="1">
                <a:solidFill>
                  <a:srgbClr val="FFFFFF"/>
                </a:solidFill>
                <a:latin typeface="メイリオ"/>
                <a:ea typeface="メイリオ"/>
                <a:cs typeface="メイリオ"/>
              </a:rPr>
              <a:t>他社がやっていること</a:t>
            </a:r>
          </a:p>
        </p:txBody>
      </p:sp>
      <p:sp>
        <p:nvSpPr>
          <p:cNvPr id="70" name="Rectangle 59"/>
          <p:cNvSpPr/>
          <p:nvPr/>
        </p:nvSpPr>
        <p:spPr>
          <a:xfrm>
            <a:off x="2478024" y="1828800"/>
            <a:ext cx="3063240" cy="365760"/>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wrap="square" lIns="72000" tIns="18000" rIns="72000" bIns="18000" rtlCol="0" anchor="ctr"/>
          <a:lstStyle/>
          <a:p>
            <a:pPr algn="ctr">
              <a:lnSpc>
                <a:spcPct val="110000"/>
              </a:lnSpc>
              <a:spcAft>
                <a:spcPts val="0"/>
              </a:spcAft>
            </a:pPr>
            <a:r>
              <a:rPr sz="1200" b="1">
                <a:solidFill>
                  <a:srgbClr val="FFFFFF"/>
                </a:solidFill>
                <a:latin typeface="メイリオ"/>
                <a:ea typeface="メイリオ"/>
                <a:cs typeface="メイリオ"/>
              </a:rPr>
              <a:t>どこがやっているか</a:t>
            </a:r>
          </a:p>
        </p:txBody>
      </p:sp>
      <p:sp>
        <p:nvSpPr>
          <p:cNvPr id="71" name="Rectangle 59"/>
          <p:cNvSpPr/>
          <p:nvPr/>
        </p:nvSpPr>
        <p:spPr>
          <a:xfrm>
            <a:off x="5577840" y="1828800"/>
            <a:ext cx="1645920" cy="365760"/>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wrap="square" lIns="72000" tIns="18000" rIns="72000" bIns="18000" rtlCol="0" anchor="ctr"/>
          <a:lstStyle/>
          <a:p>
            <a:pPr algn="ctr">
              <a:lnSpc>
                <a:spcPct val="110000"/>
              </a:lnSpc>
              <a:spcAft>
                <a:spcPts val="0"/>
              </a:spcAft>
            </a:pPr>
            <a:r>
              <a:rPr sz="1200" b="1">
                <a:solidFill>
                  <a:srgbClr val="FFFFFF"/>
                </a:solidFill>
                <a:latin typeface="メイリオ"/>
                <a:ea typeface="メイリオ"/>
                <a:cs typeface="メイリオ"/>
              </a:rPr>
              <a:t>ワクトリの今</a:t>
            </a:r>
          </a:p>
        </p:txBody>
      </p:sp>
      <p:sp>
        <p:nvSpPr>
          <p:cNvPr id="72" name="Rectangle 59"/>
          <p:cNvSpPr/>
          <p:nvPr/>
        </p:nvSpPr>
        <p:spPr>
          <a:xfrm>
            <a:off x="7260336" y="1828800"/>
            <a:ext cx="2267712" cy="365760"/>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wrap="square" lIns="72000" tIns="18000" rIns="72000" bIns="18000" rtlCol="0" anchor="ctr"/>
          <a:lstStyle/>
          <a:p>
            <a:pPr algn="ctr">
              <a:lnSpc>
                <a:spcPct val="110000"/>
              </a:lnSpc>
              <a:spcAft>
                <a:spcPts val="0"/>
              </a:spcAft>
            </a:pPr>
            <a:r>
              <a:rPr sz="1200" b="1">
                <a:solidFill>
                  <a:srgbClr val="FFFFFF"/>
                </a:solidFill>
                <a:latin typeface="メイリオ"/>
                <a:ea typeface="メイリオ"/>
                <a:cs typeface="メイリオ"/>
              </a:rPr>
              <a:t>ご提案での打ち手</a:t>
            </a:r>
          </a:p>
        </p:txBody>
      </p:sp>
      <p:sp>
        <p:nvSpPr>
          <p:cNvPr id="73" name="Rectangle 60"/>
          <p:cNvSpPr/>
          <p:nvPr/>
        </p:nvSpPr>
        <p:spPr>
          <a:xfrm>
            <a:off x="384048" y="2231136"/>
            <a:ext cx="2057400" cy="658368"/>
          </a:xfrm>
          <a:prstGeom prst="rect">
            <a:avLst/>
          </a:prstGeom>
          <a:solidFill>
            <a:srgbClr val="EEF1F8"/>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250" b="1">
                <a:solidFill>
                  <a:srgbClr val="1F2A5C"/>
                </a:solidFill>
                <a:latin typeface="メイリオ"/>
                <a:ea typeface="メイリオ"/>
                <a:cs typeface="メイリオ"/>
              </a:rPr>
              <a:t>1. 追加の直後に、</a:t>
            </a:r>
          </a:p>
          <a:p>
            <a:pPr algn="l">
              <a:lnSpc>
                <a:spcPct val="110000"/>
              </a:lnSpc>
              <a:spcAft>
                <a:spcPts val="0"/>
              </a:spcAft>
            </a:pPr>
            <a:r>
              <a:rPr sz="1250" b="1">
                <a:solidFill>
                  <a:srgbClr val="1F2A5C"/>
                </a:solidFill>
                <a:latin typeface="メイリオ"/>
                <a:ea typeface="メイリオ"/>
                <a:cs typeface="メイリオ"/>
              </a:rPr>
              <a:t>登録・相談へ誘導する</a:t>
            </a:r>
          </a:p>
        </p:txBody>
      </p:sp>
      <p:sp>
        <p:nvSpPr>
          <p:cNvPr id="74" name="Rectangle 61"/>
          <p:cNvSpPr/>
          <p:nvPr/>
        </p:nvSpPr>
        <p:spPr>
          <a:xfrm>
            <a:off x="2478024" y="2231136"/>
            <a:ext cx="3063240" cy="658368"/>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250" b="0">
                <a:solidFill>
                  <a:srgbClr val="333333"/>
                </a:solidFill>
                <a:latin typeface="メイリオ"/>
                <a:ea typeface="メイリオ"/>
                <a:cs typeface="メイリオ"/>
              </a:rPr>
              <a:t>リゾートバイトダイブ／</a:t>
            </a:r>
          </a:p>
          <a:p>
            <a:pPr algn="l">
              <a:lnSpc>
                <a:spcPct val="110000"/>
              </a:lnSpc>
              <a:spcAft>
                <a:spcPts val="0"/>
              </a:spcAft>
            </a:pPr>
            <a:r>
              <a:rPr sz="1250" b="0">
                <a:solidFill>
                  <a:srgbClr val="333333"/>
                </a:solidFill>
                <a:latin typeface="メイリオ"/>
                <a:ea typeface="メイリオ"/>
                <a:cs typeface="メイリオ"/>
              </a:rPr>
              <a:t>リゾバ.com／アルファリゾート</a:t>
            </a:r>
          </a:p>
        </p:txBody>
      </p:sp>
      <p:sp>
        <p:nvSpPr>
          <p:cNvPr id="75" name="Rectangle 61"/>
          <p:cNvSpPr/>
          <p:nvPr/>
        </p:nvSpPr>
        <p:spPr>
          <a:xfrm>
            <a:off x="5577840" y="2231136"/>
            <a:ext cx="1645920" cy="658368"/>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250" b="0">
                <a:solidFill>
                  <a:srgbClr val="333333"/>
                </a:solidFill>
                <a:latin typeface="メイリオ"/>
                <a:ea typeface="メイリオ"/>
                <a:cs typeface="メイリオ"/>
              </a:rPr>
              <a:t>翌日に</a:t>
            </a:r>
          </a:p>
          <a:p>
            <a:pPr algn="l">
              <a:lnSpc>
                <a:spcPct val="110000"/>
              </a:lnSpc>
              <a:spcAft>
                <a:spcPts val="0"/>
              </a:spcAft>
            </a:pPr>
            <a:r>
              <a:rPr sz="1250" b="0">
                <a:solidFill>
                  <a:srgbClr val="333333"/>
                </a:solidFill>
                <a:latin typeface="メイリオ"/>
                <a:ea typeface="メイリオ"/>
                <a:cs typeface="メイリオ"/>
              </a:rPr>
              <a:t>ENTRYの案内</a:t>
            </a:r>
          </a:p>
        </p:txBody>
      </p:sp>
      <p:sp>
        <p:nvSpPr>
          <p:cNvPr id="76" name="Rectangle 61"/>
          <p:cNvSpPr/>
          <p:nvPr/>
        </p:nvSpPr>
        <p:spPr>
          <a:xfrm>
            <a:off x="7260336" y="2231136"/>
            <a:ext cx="2267712" cy="658368"/>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250" b="0">
                <a:solidFill>
                  <a:srgbClr val="333333"/>
                </a:solidFill>
                <a:latin typeface="メイリオ"/>
                <a:ea typeface="メイリオ"/>
                <a:cs typeface="メイリオ"/>
              </a:rPr>
              <a:t>追加直後からの</a:t>
            </a:r>
          </a:p>
          <a:p>
            <a:pPr algn="l">
              <a:lnSpc>
                <a:spcPct val="110000"/>
              </a:lnSpc>
              <a:spcAft>
                <a:spcPts val="0"/>
              </a:spcAft>
            </a:pPr>
            <a:r>
              <a:rPr sz="1250" b="0">
                <a:solidFill>
                  <a:srgbClr val="333333"/>
                </a:solidFill>
                <a:latin typeface="メイリオ"/>
                <a:ea typeface="メイリオ"/>
                <a:cs typeface="メイリオ"/>
              </a:rPr>
              <a:t>ステップ配信（P30）</a:t>
            </a:r>
          </a:p>
        </p:txBody>
      </p:sp>
      <p:sp>
        <p:nvSpPr>
          <p:cNvPr id="77" name="Rectangle 60"/>
          <p:cNvSpPr/>
          <p:nvPr/>
        </p:nvSpPr>
        <p:spPr>
          <a:xfrm>
            <a:off x="384048" y="2926080"/>
            <a:ext cx="2057400" cy="658368"/>
          </a:xfrm>
          <a:prstGeom prst="rect">
            <a:avLst/>
          </a:prstGeom>
          <a:solidFill>
            <a:srgbClr val="EEF1F8"/>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250" b="1">
                <a:solidFill>
                  <a:srgbClr val="1F2A5C"/>
                </a:solidFill>
                <a:latin typeface="メイリオ"/>
                <a:ea typeface="メイリオ"/>
                <a:cs typeface="メイリオ"/>
              </a:rPr>
              <a:t>2. 追加の後も、</a:t>
            </a:r>
          </a:p>
          <a:p>
            <a:pPr algn="l">
              <a:lnSpc>
                <a:spcPct val="110000"/>
              </a:lnSpc>
              <a:spcAft>
                <a:spcPts val="0"/>
              </a:spcAft>
            </a:pPr>
            <a:r>
              <a:rPr sz="1250" b="1">
                <a:solidFill>
                  <a:srgbClr val="1F2A5C"/>
                </a:solidFill>
                <a:latin typeface="メイリオ"/>
                <a:ea typeface="メイリオ"/>
                <a:cs typeface="メイリオ"/>
              </a:rPr>
              <a:t>毎日配信する会社もある</a:t>
            </a:r>
          </a:p>
        </p:txBody>
      </p:sp>
      <p:sp>
        <p:nvSpPr>
          <p:cNvPr id="78" name="Rectangle 61"/>
          <p:cNvSpPr/>
          <p:nvPr/>
        </p:nvSpPr>
        <p:spPr>
          <a:xfrm>
            <a:off x="2478024" y="2926080"/>
            <a:ext cx="3063240" cy="658368"/>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250" b="0">
                <a:solidFill>
                  <a:srgbClr val="333333"/>
                </a:solidFill>
                <a:latin typeface="メイリオ"/>
                <a:ea typeface="メイリオ"/>
                <a:cs typeface="メイリオ"/>
              </a:rPr>
              <a:t>リゾートバイトダイブ（毎日1通）／</a:t>
            </a:r>
          </a:p>
          <a:p>
            <a:pPr algn="l">
              <a:lnSpc>
                <a:spcPct val="110000"/>
              </a:lnSpc>
              <a:spcAft>
                <a:spcPts val="0"/>
              </a:spcAft>
            </a:pPr>
            <a:r>
              <a:rPr sz="1250" b="0">
                <a:solidFill>
                  <a:srgbClr val="333333"/>
                </a:solidFill>
                <a:latin typeface="メイリオ"/>
                <a:ea typeface="メイリオ"/>
                <a:cs typeface="メイリオ"/>
              </a:rPr>
              <a:t>リゾバ.com（1日2通）</a:t>
            </a:r>
          </a:p>
        </p:txBody>
      </p:sp>
      <p:sp>
        <p:nvSpPr>
          <p:cNvPr id="79" name="Rectangle 61"/>
          <p:cNvSpPr/>
          <p:nvPr/>
        </p:nvSpPr>
        <p:spPr>
          <a:xfrm>
            <a:off x="5577840" y="2926080"/>
            <a:ext cx="1645920" cy="658368"/>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250" b="0">
                <a:solidFill>
                  <a:srgbClr val="333333"/>
                </a:solidFill>
                <a:latin typeface="メイリオ"/>
                <a:ea typeface="メイリオ"/>
                <a:cs typeface="メイリオ"/>
              </a:rPr>
              <a:t>週1回の企画配信</a:t>
            </a:r>
          </a:p>
        </p:txBody>
      </p:sp>
      <p:sp>
        <p:nvSpPr>
          <p:cNvPr id="80" name="Rectangle 61"/>
          <p:cNvSpPr/>
          <p:nvPr/>
        </p:nvSpPr>
        <p:spPr>
          <a:xfrm>
            <a:off x="7260336" y="2926080"/>
            <a:ext cx="2267712" cy="658368"/>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250" b="0">
                <a:solidFill>
                  <a:srgbClr val="333333"/>
                </a:solidFill>
                <a:latin typeface="メイリオ"/>
                <a:ea typeface="メイリオ"/>
                <a:cs typeface="メイリオ"/>
              </a:rPr>
              <a:t>追加後15日の</a:t>
            </a:r>
          </a:p>
          <a:p>
            <a:pPr algn="l">
              <a:lnSpc>
                <a:spcPct val="110000"/>
              </a:lnSpc>
              <a:spcAft>
                <a:spcPts val="0"/>
              </a:spcAft>
            </a:pPr>
            <a:r>
              <a:rPr sz="1250" b="0">
                <a:solidFill>
                  <a:srgbClr val="333333"/>
                </a:solidFill>
                <a:latin typeface="メイリオ"/>
                <a:ea typeface="メイリオ"/>
                <a:cs typeface="メイリオ"/>
              </a:rPr>
              <a:t>ステップ配信</a:t>
            </a:r>
          </a:p>
          <a:p>
            <a:pPr algn="l">
              <a:lnSpc>
                <a:spcPct val="110000"/>
              </a:lnSpc>
              <a:spcAft>
                <a:spcPts val="0"/>
              </a:spcAft>
            </a:pPr>
            <a:r>
              <a:rPr sz="1250" b="0">
                <a:solidFill>
                  <a:srgbClr val="333333"/>
                </a:solidFill>
                <a:latin typeface="メイリオ"/>
                <a:ea typeface="メイリオ"/>
                <a:cs typeface="メイリオ"/>
              </a:rPr>
              <a:t>（P24・P30）</a:t>
            </a:r>
          </a:p>
        </p:txBody>
      </p:sp>
      <p:sp>
        <p:nvSpPr>
          <p:cNvPr id="81" name="Rectangle 60"/>
          <p:cNvSpPr/>
          <p:nvPr/>
        </p:nvSpPr>
        <p:spPr>
          <a:xfrm>
            <a:off x="384048" y="3621024"/>
            <a:ext cx="2057400" cy="658368"/>
          </a:xfrm>
          <a:prstGeom prst="rect">
            <a:avLst/>
          </a:prstGeom>
          <a:solidFill>
            <a:srgbClr val="EEF1F8"/>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250" b="1">
                <a:solidFill>
                  <a:srgbClr val="1F2A5C"/>
                </a:solidFill>
                <a:latin typeface="メイリオ"/>
                <a:ea typeface="メイリオ"/>
                <a:cs typeface="メイリオ"/>
              </a:rPr>
              <a:t>3. 経験・タイプを聞き、</a:t>
            </a:r>
          </a:p>
          <a:p>
            <a:pPr algn="l">
              <a:lnSpc>
                <a:spcPct val="110000"/>
              </a:lnSpc>
              <a:spcAft>
                <a:spcPts val="0"/>
              </a:spcAft>
            </a:pPr>
            <a:r>
              <a:rPr sz="1250" b="1">
                <a:solidFill>
                  <a:srgbClr val="1F2A5C"/>
                </a:solidFill>
                <a:latin typeface="メイリオ"/>
                <a:ea typeface="メイリオ"/>
                <a:cs typeface="メイリオ"/>
              </a:rPr>
              <a:t>合う求人を出し分ける</a:t>
            </a:r>
          </a:p>
        </p:txBody>
      </p:sp>
      <p:sp>
        <p:nvSpPr>
          <p:cNvPr id="82" name="Rectangle 61"/>
          <p:cNvSpPr/>
          <p:nvPr/>
        </p:nvSpPr>
        <p:spPr>
          <a:xfrm>
            <a:off x="2478024" y="3621024"/>
            <a:ext cx="3063240" cy="658368"/>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250" b="0">
                <a:solidFill>
                  <a:srgbClr val="333333"/>
                </a:solidFill>
                <a:latin typeface="メイリオ"/>
                <a:ea typeface="メイリオ"/>
                <a:cs typeface="メイリオ"/>
              </a:rPr>
              <a:t>リゾバ.com（経験・タイプ別）／</a:t>
            </a:r>
          </a:p>
          <a:p>
            <a:pPr algn="l">
              <a:lnSpc>
                <a:spcPct val="110000"/>
              </a:lnSpc>
              <a:spcAft>
                <a:spcPts val="0"/>
              </a:spcAft>
            </a:pPr>
            <a:r>
              <a:rPr sz="1250" b="0">
                <a:solidFill>
                  <a:srgbClr val="333333"/>
                </a:solidFill>
                <a:latin typeface="メイリオ"/>
                <a:ea typeface="メイリオ"/>
                <a:cs typeface="メイリオ"/>
              </a:rPr>
              <a:t>リゾートバイト.com（アンケート）</a:t>
            </a:r>
          </a:p>
        </p:txBody>
      </p:sp>
      <p:sp>
        <p:nvSpPr>
          <p:cNvPr id="83" name="Rectangle 61"/>
          <p:cNvSpPr/>
          <p:nvPr/>
        </p:nvSpPr>
        <p:spPr>
          <a:xfrm>
            <a:off x="5577840" y="3621024"/>
            <a:ext cx="1645920" cy="658368"/>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250" b="0">
                <a:solidFill>
                  <a:srgbClr val="333333"/>
                </a:solidFill>
                <a:latin typeface="メイリオ"/>
                <a:ea typeface="メイリオ"/>
                <a:cs typeface="メイリオ"/>
              </a:rPr>
              <a:t>アンケート3問で</a:t>
            </a:r>
          </a:p>
          <a:p>
            <a:pPr algn="l">
              <a:lnSpc>
                <a:spcPct val="110000"/>
              </a:lnSpc>
              <a:spcAft>
                <a:spcPts val="0"/>
              </a:spcAft>
            </a:pPr>
            <a:r>
              <a:rPr sz="1250" b="0">
                <a:solidFill>
                  <a:srgbClr val="333333"/>
                </a:solidFill>
                <a:latin typeface="メイリオ"/>
                <a:ea typeface="メイリオ"/>
                <a:cs typeface="メイリオ"/>
              </a:rPr>
              <a:t>開始時期と</a:t>
            </a:r>
          </a:p>
          <a:p>
            <a:pPr algn="l">
              <a:lnSpc>
                <a:spcPct val="110000"/>
              </a:lnSpc>
              <a:spcAft>
                <a:spcPts val="0"/>
              </a:spcAft>
            </a:pPr>
            <a:r>
              <a:rPr sz="1250" b="0">
                <a:solidFill>
                  <a:srgbClr val="333333"/>
                </a:solidFill>
                <a:latin typeface="メイリオ"/>
                <a:ea typeface="メイリオ"/>
                <a:cs typeface="メイリオ"/>
              </a:rPr>
              <a:t>エリアを伺う</a:t>
            </a:r>
          </a:p>
        </p:txBody>
      </p:sp>
      <p:sp>
        <p:nvSpPr>
          <p:cNvPr id="84" name="Rectangle 61"/>
          <p:cNvSpPr/>
          <p:nvPr/>
        </p:nvSpPr>
        <p:spPr>
          <a:xfrm>
            <a:off x="7260336" y="3621024"/>
            <a:ext cx="2267712" cy="658368"/>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250" b="0">
                <a:solidFill>
                  <a:srgbClr val="333333"/>
                </a:solidFill>
                <a:latin typeface="メイリオ"/>
                <a:ea typeface="メイリオ"/>
                <a:cs typeface="メイリオ"/>
              </a:rPr>
              <a:t>適正バイト診断と</a:t>
            </a:r>
          </a:p>
          <a:p>
            <a:pPr algn="l">
              <a:lnSpc>
                <a:spcPct val="110000"/>
              </a:lnSpc>
              <a:spcAft>
                <a:spcPts val="0"/>
              </a:spcAft>
            </a:pPr>
            <a:r>
              <a:rPr sz="1250" b="0">
                <a:solidFill>
                  <a:srgbClr val="333333"/>
                </a:solidFill>
                <a:latin typeface="メイリオ"/>
                <a:ea typeface="メイリオ"/>
                <a:cs typeface="メイリオ"/>
              </a:rPr>
              <a:t>開始時期・エリア別の配信</a:t>
            </a:r>
          </a:p>
          <a:p>
            <a:pPr algn="l">
              <a:lnSpc>
                <a:spcPct val="110000"/>
              </a:lnSpc>
              <a:spcAft>
                <a:spcPts val="0"/>
              </a:spcAft>
            </a:pPr>
            <a:r>
              <a:rPr sz="1250" b="0">
                <a:solidFill>
                  <a:srgbClr val="333333"/>
                </a:solidFill>
                <a:latin typeface="メイリオ"/>
                <a:ea typeface="メイリオ"/>
                <a:cs typeface="メイリオ"/>
              </a:rPr>
              <a:t>（P29・P31）</a:t>
            </a:r>
          </a:p>
        </p:txBody>
      </p:sp>
      <p:sp>
        <p:nvSpPr>
          <p:cNvPr id="85" name="Rectangle 60"/>
          <p:cNvSpPr/>
          <p:nvPr/>
        </p:nvSpPr>
        <p:spPr>
          <a:xfrm>
            <a:off x="384048" y="4315968"/>
            <a:ext cx="2057400" cy="658368"/>
          </a:xfrm>
          <a:prstGeom prst="rect">
            <a:avLst/>
          </a:prstGeom>
          <a:solidFill>
            <a:srgbClr val="EEF1F8"/>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250" b="1">
                <a:solidFill>
                  <a:srgbClr val="1F2A5C"/>
                </a:solidFill>
                <a:latin typeface="メイリオ"/>
                <a:ea typeface="メイリオ"/>
                <a:cs typeface="メイリオ"/>
              </a:rPr>
              <a:t>4. リッチメニューに、</a:t>
            </a:r>
          </a:p>
          <a:p>
            <a:pPr algn="l">
              <a:lnSpc>
                <a:spcPct val="110000"/>
              </a:lnSpc>
              <a:spcAft>
                <a:spcPts val="0"/>
              </a:spcAft>
            </a:pPr>
            <a:r>
              <a:rPr sz="1250" b="1">
                <a:solidFill>
                  <a:srgbClr val="1F2A5C"/>
                </a:solidFill>
                <a:latin typeface="メイリオ"/>
                <a:ea typeface="メイリオ"/>
                <a:cs typeface="メイリオ"/>
              </a:rPr>
              <a:t>開始月別の求人を置く</a:t>
            </a:r>
          </a:p>
        </p:txBody>
      </p:sp>
      <p:sp>
        <p:nvSpPr>
          <p:cNvPr id="86" name="Rectangle 61"/>
          <p:cNvSpPr/>
          <p:nvPr/>
        </p:nvSpPr>
        <p:spPr>
          <a:xfrm>
            <a:off x="2478024" y="4315968"/>
            <a:ext cx="3063240" cy="658368"/>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250" b="0">
                <a:solidFill>
                  <a:srgbClr val="333333"/>
                </a:solidFill>
                <a:latin typeface="メイリオ"/>
                <a:ea typeface="メイリオ"/>
                <a:cs typeface="メイリオ"/>
              </a:rPr>
              <a:t>4社とも</a:t>
            </a:r>
          </a:p>
        </p:txBody>
      </p:sp>
      <p:sp>
        <p:nvSpPr>
          <p:cNvPr id="87" name="Rectangle 61"/>
          <p:cNvSpPr/>
          <p:nvPr/>
        </p:nvSpPr>
        <p:spPr>
          <a:xfrm>
            <a:off x="5577840" y="4315968"/>
            <a:ext cx="1645920" cy="658368"/>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250" b="0">
                <a:solidFill>
                  <a:srgbClr val="333333"/>
                </a:solidFill>
                <a:latin typeface="メイリオ"/>
                <a:ea typeface="メイリオ"/>
                <a:cs typeface="メイリオ"/>
              </a:rPr>
              <a:t>11月開始の求人と</a:t>
            </a:r>
          </a:p>
          <a:p>
            <a:pPr algn="l">
              <a:lnSpc>
                <a:spcPct val="110000"/>
              </a:lnSpc>
              <a:spcAft>
                <a:spcPts val="0"/>
              </a:spcAft>
            </a:pPr>
            <a:r>
              <a:rPr sz="1250" b="0">
                <a:solidFill>
                  <a:srgbClr val="333333"/>
                </a:solidFill>
                <a:latin typeface="メイリオ"/>
                <a:ea typeface="メイリオ"/>
                <a:cs typeface="メイリオ"/>
              </a:rPr>
              <a:t>スキー特集の入口</a:t>
            </a:r>
          </a:p>
        </p:txBody>
      </p:sp>
      <p:sp>
        <p:nvSpPr>
          <p:cNvPr id="88" name="Rectangle 61"/>
          <p:cNvSpPr/>
          <p:nvPr/>
        </p:nvSpPr>
        <p:spPr>
          <a:xfrm>
            <a:off x="7260336" y="4315968"/>
            <a:ext cx="2267712" cy="658368"/>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250" b="0">
                <a:solidFill>
                  <a:srgbClr val="333333"/>
                </a:solidFill>
                <a:latin typeface="メイリオ"/>
                <a:ea typeface="メイリオ"/>
                <a:cs typeface="メイリオ"/>
              </a:rPr>
              <a:t>上段に開始月別の求人</a:t>
            </a:r>
          </a:p>
          <a:p>
            <a:pPr algn="l">
              <a:lnSpc>
                <a:spcPct val="110000"/>
              </a:lnSpc>
              <a:spcAft>
                <a:spcPts val="0"/>
              </a:spcAft>
            </a:pPr>
            <a:r>
              <a:rPr sz="1250" b="0">
                <a:solidFill>
                  <a:srgbClr val="333333"/>
                </a:solidFill>
                <a:latin typeface="メイリオ"/>
                <a:ea typeface="メイリオ"/>
                <a:cs typeface="メイリオ"/>
              </a:rPr>
              <a:t>（P32）</a:t>
            </a:r>
          </a:p>
        </p:txBody>
      </p:sp>
      <p:sp>
        <p:nvSpPr>
          <p:cNvPr id="89" name="Rectangle 60"/>
          <p:cNvSpPr/>
          <p:nvPr/>
        </p:nvSpPr>
        <p:spPr>
          <a:xfrm>
            <a:off x="384048" y="5010912"/>
            <a:ext cx="2057400" cy="658368"/>
          </a:xfrm>
          <a:prstGeom prst="rect">
            <a:avLst/>
          </a:prstGeom>
          <a:solidFill>
            <a:srgbClr val="EEF1F8"/>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250" b="1">
                <a:solidFill>
                  <a:srgbClr val="1F2A5C"/>
                </a:solidFill>
                <a:latin typeface="メイリオ"/>
                <a:ea typeface="メイリオ"/>
                <a:cs typeface="メイリオ"/>
              </a:rPr>
              <a:t>5. 相談の入口を、</a:t>
            </a:r>
          </a:p>
          <a:p>
            <a:pPr algn="l">
              <a:lnSpc>
                <a:spcPct val="110000"/>
              </a:lnSpc>
              <a:spcAft>
                <a:spcPts val="0"/>
              </a:spcAft>
            </a:pPr>
            <a:r>
              <a:rPr sz="1250" b="1">
                <a:solidFill>
                  <a:srgbClr val="1F2A5C"/>
                </a:solidFill>
                <a:latin typeface="メイリオ"/>
                <a:ea typeface="メイリオ"/>
                <a:cs typeface="メイリオ"/>
              </a:rPr>
              <a:t>最初から見せる</a:t>
            </a:r>
          </a:p>
        </p:txBody>
      </p:sp>
      <p:sp>
        <p:nvSpPr>
          <p:cNvPr id="90" name="Rectangle 61"/>
          <p:cNvSpPr/>
          <p:nvPr/>
        </p:nvSpPr>
        <p:spPr>
          <a:xfrm>
            <a:off x="2478024" y="5010912"/>
            <a:ext cx="3063240" cy="658368"/>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250" b="0">
                <a:solidFill>
                  <a:srgbClr val="333333"/>
                </a:solidFill>
                <a:latin typeface="メイリオ"/>
                <a:ea typeface="メイリオ"/>
                <a:cs typeface="メイリオ"/>
              </a:rPr>
              <a:t>リゾートバイトダイブ（電話15分）／</a:t>
            </a:r>
          </a:p>
          <a:p>
            <a:pPr algn="l">
              <a:lnSpc>
                <a:spcPct val="110000"/>
              </a:lnSpc>
              <a:spcAft>
                <a:spcPts val="0"/>
              </a:spcAft>
            </a:pPr>
            <a:r>
              <a:rPr sz="1250" b="0">
                <a:solidFill>
                  <a:srgbClr val="333333"/>
                </a:solidFill>
                <a:latin typeface="メイリオ"/>
                <a:ea typeface="メイリオ"/>
                <a:cs typeface="メイリオ"/>
              </a:rPr>
              <a:t>リゾバ.com・アルファリゾート</a:t>
            </a:r>
          </a:p>
          <a:p>
            <a:pPr algn="l">
              <a:lnSpc>
                <a:spcPct val="110000"/>
              </a:lnSpc>
              <a:spcAft>
                <a:spcPts val="0"/>
              </a:spcAft>
            </a:pPr>
            <a:r>
              <a:rPr sz="1250" b="0">
                <a:solidFill>
                  <a:srgbClr val="333333"/>
                </a:solidFill>
                <a:latin typeface="メイリオ"/>
                <a:ea typeface="メイリオ"/>
                <a:cs typeface="メイリオ"/>
              </a:rPr>
              <a:t>（チャット）</a:t>
            </a:r>
          </a:p>
        </p:txBody>
      </p:sp>
      <p:sp>
        <p:nvSpPr>
          <p:cNvPr id="91" name="Rectangle 61"/>
          <p:cNvSpPr/>
          <p:nvPr/>
        </p:nvSpPr>
        <p:spPr>
          <a:xfrm>
            <a:off x="5577840" y="5010912"/>
            <a:ext cx="1645920" cy="658368"/>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250" b="0">
                <a:solidFill>
                  <a:srgbClr val="333333"/>
                </a:solidFill>
                <a:latin typeface="メイリオ"/>
                <a:ea typeface="メイリオ"/>
                <a:cs typeface="メイリオ"/>
              </a:rPr>
              <a:t>専属エージェント</a:t>
            </a:r>
          </a:p>
          <a:p>
            <a:pPr algn="l">
              <a:lnSpc>
                <a:spcPct val="110000"/>
              </a:lnSpc>
              <a:spcAft>
                <a:spcPts val="0"/>
              </a:spcAft>
            </a:pPr>
            <a:r>
              <a:rPr sz="1250" b="0">
                <a:solidFill>
                  <a:srgbClr val="333333"/>
                </a:solidFill>
                <a:latin typeface="メイリオ"/>
                <a:ea typeface="メイリオ"/>
                <a:cs typeface="メイリオ"/>
              </a:rPr>
              <a:t>（ENTRYの後）</a:t>
            </a:r>
          </a:p>
        </p:txBody>
      </p:sp>
      <p:sp>
        <p:nvSpPr>
          <p:cNvPr id="92" name="Rectangle 61"/>
          <p:cNvSpPr/>
          <p:nvPr/>
        </p:nvSpPr>
        <p:spPr>
          <a:xfrm>
            <a:off x="7260336" y="5010912"/>
            <a:ext cx="2267712" cy="658368"/>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250" b="0">
                <a:solidFill>
                  <a:srgbClr val="333333"/>
                </a:solidFill>
                <a:latin typeface="メイリオ"/>
                <a:ea typeface="メイリオ"/>
                <a:cs typeface="メイリオ"/>
              </a:rPr>
              <a:t>ステップ配信と</a:t>
            </a:r>
          </a:p>
          <a:p>
            <a:pPr algn="l">
              <a:lnSpc>
                <a:spcPct val="110000"/>
              </a:lnSpc>
              <a:spcAft>
                <a:spcPts val="0"/>
              </a:spcAft>
            </a:pPr>
            <a:r>
              <a:rPr sz="1250" b="0">
                <a:solidFill>
                  <a:srgbClr val="333333"/>
                </a:solidFill>
                <a:latin typeface="メイリオ"/>
                <a:ea typeface="メイリオ"/>
                <a:cs typeface="メイリオ"/>
              </a:rPr>
              <a:t>リッチメニューに</a:t>
            </a:r>
          </a:p>
          <a:p>
            <a:pPr algn="l">
              <a:lnSpc>
                <a:spcPct val="110000"/>
              </a:lnSpc>
              <a:spcAft>
                <a:spcPts val="0"/>
              </a:spcAft>
            </a:pPr>
            <a:r>
              <a:rPr sz="1250" b="0">
                <a:solidFill>
                  <a:srgbClr val="333333"/>
                </a:solidFill>
                <a:latin typeface="メイリオ"/>
                <a:ea typeface="メイリオ"/>
                <a:cs typeface="メイリオ"/>
              </a:rPr>
              <a:t>相談の入口（P24・P32）</a:t>
            </a:r>
          </a:p>
        </p:txBody>
      </p:sp>
      <p:sp>
        <p:nvSpPr>
          <p:cNvPr id="93" name="Rectangle 92"/>
          <p:cNvSpPr/>
          <p:nvPr/>
        </p:nvSpPr>
        <p:spPr>
          <a:xfrm>
            <a:off x="384048" y="5815584"/>
            <a:ext cx="9144000" cy="457200"/>
          </a:xfrm>
          <a:prstGeom prst="rect">
            <a:avLst/>
          </a:prstGeom>
          <a:solidFill>
            <a:srgbClr val="F2F2F2"/>
          </a:solidFill>
          <a:ln>
            <a:noFill/>
          </a:ln>
          <a:effectLst/>
        </p:spPr>
        <p:txBody>
          <a:bodyPr wrap="square" lIns="137160" rIns="137160" rtlCol="0" anchor="ctr"/>
          <a:lstStyle/>
          <a:p>
            <a:pPr algn="ctr"/>
            <a:r>
              <a:rPr sz="1300" b="1">
                <a:solidFill>
                  <a:srgbClr val="1F2A5C"/>
                </a:solidFill>
                <a:latin typeface="メイリオ"/>
                <a:ea typeface="メイリオ"/>
                <a:cs typeface="メイリオ"/>
              </a:rPr>
              <a:t>アンケートで希望を聞けているため、その分析を用いた配信が重要</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 name="正方形/長方形 57">
            <a:extLst>
              <a:ext uri="{FF2B5EF4-FFF2-40B4-BE49-F238E27FC236}">
                <a16:creationId xmlns:a16="http://schemas.microsoft.com/office/drawing/2014/main" id="{44A10F2E-7086-34EF-5EA3-C29208499DA7}"/>
              </a:ext>
            </a:extLst>
          </p:cNvPr>
          <p:cNvSpPr/>
          <p:nvPr/>
        </p:nvSpPr>
        <p:spPr>
          <a:xfrm>
            <a:off x="96788" y="1045811"/>
            <a:ext cx="2926080" cy="21878"/>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100" b="1" dirty="0">
              <a:latin typeface="メイリオ" panose="020B0604030504040204" pitchFamily="50" charset="-128"/>
              <a:ea typeface="メイリオ" panose="020B0604030504040204" pitchFamily="50" charset="-128"/>
            </a:endParaRPr>
          </a:p>
        </p:txBody>
      </p:sp>
      <p:sp>
        <p:nvSpPr>
          <p:cNvPr id="3" name="正方形/長方形 2">
            <a:extLst>
              <a:ext uri="{FF2B5EF4-FFF2-40B4-BE49-F238E27FC236}">
                <a16:creationId xmlns:a16="http://schemas.microsoft.com/office/drawing/2014/main" id="{D5D17E13-7926-4FEF-B3DF-46643C07A612}"/>
              </a:ext>
            </a:extLst>
          </p:cNvPr>
          <p:cNvSpPr/>
          <p:nvPr/>
        </p:nvSpPr>
        <p:spPr>
          <a:xfrm>
            <a:off x="96788" y="1645669"/>
            <a:ext cx="9687414" cy="3577"/>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100" b="1" dirty="0">
              <a:latin typeface="メイリオ" panose="020B0604030504040204" pitchFamily="50" charset="-128"/>
              <a:ea typeface="メイリオ" panose="020B0604030504040204" pitchFamily="50" charset="-128"/>
            </a:endParaRPr>
          </a:p>
        </p:txBody>
      </p:sp>
      <p:sp>
        <p:nvSpPr>
          <p:cNvPr id="5" name="テキスト ボックス 4">
            <a:extLst>
              <a:ext uri="{FF2B5EF4-FFF2-40B4-BE49-F238E27FC236}">
                <a16:creationId xmlns:a16="http://schemas.microsoft.com/office/drawing/2014/main" id="{42E8D0AC-7EB6-A26E-FB83-BB611CE20B52}"/>
              </a:ext>
            </a:extLst>
          </p:cNvPr>
          <p:cNvSpPr txBox="1"/>
          <p:nvPr/>
        </p:nvSpPr>
        <p:spPr>
          <a:xfrm>
            <a:off x="96788" y="619405"/>
            <a:ext cx="4961186" cy="369332"/>
          </a:xfrm>
          <a:prstGeom prst="rect">
            <a:avLst/>
          </a:prstGeom>
          <a:noFill/>
        </p:spPr>
        <p:txBody>
          <a:bodyPr wrap="square">
            <a:spAutoFit/>
          </a:bodyPr>
          <a:lstStyle/>
          <a:p>
            <a:r>
              <a:rPr lang="ja-JP" altLang="en-US"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ワクトリの現状のLINE</a:t>
            </a:r>
            <a:endParaRPr lang="ja-JP" altLang="en-US" sz="1100" dirty="0"/>
          </a:p>
        </p:txBody>
      </p:sp>
      <p:sp>
        <p:nvSpPr>
          <p:cNvPr id="7" name="テキスト ボックス 6">
            <a:extLst>
              <a:ext uri="{FF2B5EF4-FFF2-40B4-BE49-F238E27FC236}">
                <a16:creationId xmlns:a16="http://schemas.microsoft.com/office/drawing/2014/main" id="{A23B7626-A436-9A82-DD49-5F8A69ED9A70}"/>
              </a:ext>
            </a:extLst>
          </p:cNvPr>
          <p:cNvSpPr txBox="1"/>
          <p:nvPr/>
        </p:nvSpPr>
        <p:spPr>
          <a:xfrm>
            <a:off x="96788" y="1202790"/>
            <a:ext cx="9687414" cy="307777"/>
          </a:xfrm>
          <a:prstGeom prst="rect">
            <a:avLst/>
          </a:prstGeom>
          <a:noFill/>
        </p:spPr>
        <p:txBody>
          <a:bodyPr wrap="square">
            <a:spAutoFit/>
          </a:bodyPr>
          <a:lstStyle/>
          <a:p>
            <a:r>
              <a:rPr lang="ja-JP" altLang="en-US"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今の流れは、あいさつ → アンケート3問 → 翌日のENTRY → 週1回の企画配信。絵と文面は見やすく整っている。</a:t>
            </a:r>
            <a:endParaRPr lang="ja-JP" altLang="en-US" sz="1000" dirty="0"/>
          </a:p>
        </p:txBody>
      </p:sp>
      <p:sp>
        <p:nvSpPr>
          <p:cNvPr id="9" name="テキスト ボックス 8">
            <a:extLst>
              <a:ext uri="{FF2B5EF4-FFF2-40B4-BE49-F238E27FC236}">
                <a16:creationId xmlns:a16="http://schemas.microsoft.com/office/drawing/2014/main" id="{60D95125-3520-4FA9-64C6-1958F1FF1A74}"/>
              </a:ext>
            </a:extLst>
          </p:cNvPr>
          <p:cNvSpPr txBox="1"/>
          <p:nvPr/>
        </p:nvSpPr>
        <p:spPr>
          <a:xfrm>
            <a:off x="460785" y="91159"/>
            <a:ext cx="4961186" cy="369332"/>
          </a:xfrm>
          <a:prstGeom prst="rect">
            <a:avLst/>
          </a:prstGeom>
          <a:noFill/>
        </p:spPr>
        <p:txBody>
          <a:bodyPr wrap="square">
            <a:spAutoFit/>
          </a:bodyPr>
          <a:lstStyle/>
          <a:p>
            <a:r>
              <a:rPr lang="ja-JP" altLang="en-US"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 前提調査</a:t>
            </a:r>
            <a:endParaRPr lang="ja-JP" altLang="en-US" sz="1100" dirty="0"/>
          </a:p>
        </p:txBody>
      </p:sp>
      <p:pic>
        <p:nvPicPr>
          <p:cNvPr id="59" name="Picture 58" descr="ワクトリ_01.jpg"/>
          <p:cNvPicPr>
            <a:picLocks noChangeAspect="1"/>
          </p:cNvPicPr>
          <p:nvPr/>
        </p:nvPicPr>
        <p:blipFill>
          <a:blip r:embed="rId2"/>
          <a:stretch>
            <a:fillRect/>
          </a:stretch>
        </p:blipFill>
        <p:spPr>
          <a:xfrm>
            <a:off x="685800" y="1783080"/>
            <a:ext cx="1393088" cy="3017520"/>
          </a:xfrm>
          <a:prstGeom prst="rect">
            <a:avLst/>
          </a:prstGeom>
        </p:spPr>
      </p:pic>
      <p:sp>
        <p:nvSpPr>
          <p:cNvPr id="60" name="TextBox 59"/>
          <p:cNvSpPr txBox="1"/>
          <p:nvPr/>
        </p:nvSpPr>
        <p:spPr>
          <a:xfrm>
            <a:off x="640079" y="4828032"/>
            <a:ext cx="1484528" cy="274320"/>
          </a:xfrm>
          <a:prstGeom prst="rect">
            <a:avLst/>
          </a:prstGeom>
          <a:noFill/>
        </p:spPr>
        <p:txBody>
          <a:bodyPr wrap="square" lIns="36000" tIns="10800" rIns="36000" bIns="10800" anchor="ctr">
            <a:spAutoFit/>
          </a:bodyPr>
          <a:lstStyle/>
          <a:p>
            <a:pPr algn="ctr">
              <a:lnSpc>
                <a:spcPct val="105000"/>
              </a:lnSpc>
              <a:spcAft>
                <a:spcPts val="200"/>
              </a:spcAft>
            </a:pPr>
            <a:r>
              <a:rPr sz="1050" b="1">
                <a:solidFill>
                  <a:srgbClr val="1F2A5C"/>
                </a:solidFill>
                <a:latin typeface="メイリオ"/>
                <a:ea typeface="メイリオ"/>
                <a:cs typeface="メイリオ"/>
              </a:rPr>
              <a:t>あいさつ</a:t>
            </a:r>
          </a:p>
        </p:txBody>
      </p:sp>
      <p:pic>
        <p:nvPicPr>
          <p:cNvPr id="61" name="Picture 60" descr="ワクトリ_02.jpg"/>
          <p:cNvPicPr>
            <a:picLocks noChangeAspect="1"/>
          </p:cNvPicPr>
          <p:nvPr/>
        </p:nvPicPr>
        <p:blipFill>
          <a:blip r:embed="rId3"/>
          <a:stretch>
            <a:fillRect/>
          </a:stretch>
        </p:blipFill>
        <p:spPr>
          <a:xfrm>
            <a:off x="2764688" y="1783080"/>
            <a:ext cx="1393088" cy="3017520"/>
          </a:xfrm>
          <a:prstGeom prst="rect">
            <a:avLst/>
          </a:prstGeom>
        </p:spPr>
      </p:pic>
      <p:sp>
        <p:nvSpPr>
          <p:cNvPr id="62" name="TextBox 61"/>
          <p:cNvSpPr txBox="1"/>
          <p:nvPr/>
        </p:nvSpPr>
        <p:spPr>
          <a:xfrm>
            <a:off x="2718968" y="4828032"/>
            <a:ext cx="1484528" cy="274320"/>
          </a:xfrm>
          <a:prstGeom prst="rect">
            <a:avLst/>
          </a:prstGeom>
          <a:noFill/>
        </p:spPr>
        <p:txBody>
          <a:bodyPr wrap="square" lIns="36000" tIns="10800" rIns="36000" bIns="10800" anchor="ctr">
            <a:spAutoFit/>
          </a:bodyPr>
          <a:lstStyle/>
          <a:p>
            <a:pPr algn="ctr">
              <a:lnSpc>
                <a:spcPct val="105000"/>
              </a:lnSpc>
              <a:spcAft>
                <a:spcPts val="200"/>
              </a:spcAft>
            </a:pPr>
            <a:r>
              <a:rPr sz="1050" b="1">
                <a:solidFill>
                  <a:srgbClr val="1F2A5C"/>
                </a:solidFill>
                <a:latin typeface="メイリオ"/>
                <a:ea typeface="メイリオ"/>
                <a:cs typeface="メイリオ"/>
              </a:rPr>
              <a:t>アンケート3問</a:t>
            </a:r>
          </a:p>
        </p:txBody>
      </p:sp>
      <p:pic>
        <p:nvPicPr>
          <p:cNvPr id="63" name="Picture 62" descr="ワクトリ_04.jpg"/>
          <p:cNvPicPr>
            <a:picLocks noChangeAspect="1"/>
          </p:cNvPicPr>
          <p:nvPr/>
        </p:nvPicPr>
        <p:blipFill>
          <a:blip r:embed="rId4"/>
          <a:stretch>
            <a:fillRect/>
          </a:stretch>
        </p:blipFill>
        <p:spPr>
          <a:xfrm>
            <a:off x="4843576" y="1783080"/>
            <a:ext cx="1393088" cy="3017520"/>
          </a:xfrm>
          <a:prstGeom prst="rect">
            <a:avLst/>
          </a:prstGeom>
        </p:spPr>
      </p:pic>
      <p:sp>
        <p:nvSpPr>
          <p:cNvPr id="64" name="TextBox 63"/>
          <p:cNvSpPr txBox="1"/>
          <p:nvPr/>
        </p:nvSpPr>
        <p:spPr>
          <a:xfrm>
            <a:off x="4797856" y="4828032"/>
            <a:ext cx="1484528" cy="274320"/>
          </a:xfrm>
          <a:prstGeom prst="rect">
            <a:avLst/>
          </a:prstGeom>
          <a:noFill/>
        </p:spPr>
        <p:txBody>
          <a:bodyPr wrap="square" lIns="36000" tIns="10800" rIns="36000" bIns="10800" anchor="ctr">
            <a:spAutoFit/>
          </a:bodyPr>
          <a:lstStyle/>
          <a:p>
            <a:pPr algn="ctr">
              <a:lnSpc>
                <a:spcPct val="105000"/>
              </a:lnSpc>
              <a:spcAft>
                <a:spcPts val="200"/>
              </a:spcAft>
            </a:pPr>
            <a:r>
              <a:rPr sz="1050" b="1">
                <a:solidFill>
                  <a:srgbClr val="1F2A5C"/>
                </a:solidFill>
                <a:latin typeface="メイリオ"/>
                <a:ea typeface="メイリオ"/>
                <a:cs typeface="メイリオ"/>
              </a:rPr>
              <a:t>翌日のENTRY</a:t>
            </a:r>
          </a:p>
        </p:txBody>
      </p:sp>
      <p:pic>
        <p:nvPicPr>
          <p:cNvPr id="65" name="Picture 64" descr="ワクトリ_07.jpg"/>
          <p:cNvPicPr>
            <a:picLocks noChangeAspect="1"/>
          </p:cNvPicPr>
          <p:nvPr/>
        </p:nvPicPr>
        <p:blipFill>
          <a:blip r:embed="rId5"/>
          <a:stretch>
            <a:fillRect/>
          </a:stretch>
        </p:blipFill>
        <p:spPr>
          <a:xfrm>
            <a:off x="6922465" y="1783080"/>
            <a:ext cx="1393088" cy="3017520"/>
          </a:xfrm>
          <a:prstGeom prst="rect">
            <a:avLst/>
          </a:prstGeom>
        </p:spPr>
      </p:pic>
      <p:sp>
        <p:nvSpPr>
          <p:cNvPr id="66" name="TextBox 65"/>
          <p:cNvSpPr txBox="1"/>
          <p:nvPr/>
        </p:nvSpPr>
        <p:spPr>
          <a:xfrm>
            <a:off x="6876745" y="4828032"/>
            <a:ext cx="1484528" cy="274320"/>
          </a:xfrm>
          <a:prstGeom prst="rect">
            <a:avLst/>
          </a:prstGeom>
          <a:noFill/>
        </p:spPr>
        <p:txBody>
          <a:bodyPr wrap="square" lIns="36000" tIns="10800" rIns="36000" bIns="10800" anchor="ctr">
            <a:spAutoFit/>
          </a:bodyPr>
          <a:lstStyle/>
          <a:p>
            <a:pPr algn="ctr">
              <a:lnSpc>
                <a:spcPct val="105000"/>
              </a:lnSpc>
              <a:spcAft>
                <a:spcPts val="200"/>
              </a:spcAft>
            </a:pPr>
            <a:r>
              <a:rPr sz="1050" b="1">
                <a:solidFill>
                  <a:srgbClr val="1F2A5C"/>
                </a:solidFill>
                <a:latin typeface="メイリオ"/>
                <a:ea typeface="メイリオ"/>
                <a:cs typeface="メイリオ"/>
              </a:rPr>
              <a:t>企画配信（毎週火曜）</a:t>
            </a:r>
          </a:p>
        </p:txBody>
      </p:sp>
      <p:sp>
        <p:nvSpPr>
          <p:cNvPr id="67" name="Rectangle 66"/>
          <p:cNvSpPr/>
          <p:nvPr/>
        </p:nvSpPr>
        <p:spPr>
          <a:xfrm>
            <a:off x="384048" y="5193792"/>
            <a:ext cx="2377440" cy="292608"/>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wrap="square" lIns="72000" tIns="18000" rIns="72000" bIns="18000" rtlCol="0" anchor="ctr"/>
          <a:lstStyle/>
          <a:p>
            <a:pPr algn="ctr">
              <a:lnSpc>
                <a:spcPct val="110000"/>
              </a:lnSpc>
              <a:spcAft>
                <a:spcPts val="0"/>
              </a:spcAft>
            </a:pPr>
            <a:r>
              <a:rPr sz="1200" b="1">
                <a:solidFill>
                  <a:srgbClr val="FFFFFF"/>
                </a:solidFill>
                <a:latin typeface="メイリオ"/>
                <a:ea typeface="メイリオ"/>
                <a:cs typeface="メイリオ"/>
              </a:rPr>
              <a:t>企画投稿の2種</a:t>
            </a:r>
          </a:p>
        </p:txBody>
      </p:sp>
      <p:sp>
        <p:nvSpPr>
          <p:cNvPr id="68" name="Rectangle 67"/>
          <p:cNvSpPr/>
          <p:nvPr/>
        </p:nvSpPr>
        <p:spPr>
          <a:xfrm>
            <a:off x="2788920" y="5193792"/>
            <a:ext cx="6739128" cy="292608"/>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wrap="square" lIns="72000" tIns="18000" rIns="72000" bIns="18000" rtlCol="0" anchor="ctr"/>
          <a:lstStyle/>
          <a:p>
            <a:pPr algn="ctr">
              <a:lnSpc>
                <a:spcPct val="110000"/>
              </a:lnSpc>
              <a:spcAft>
                <a:spcPts val="0"/>
              </a:spcAft>
            </a:pPr>
            <a:r>
              <a:rPr sz="1200" b="1">
                <a:solidFill>
                  <a:srgbClr val="FFFFFF"/>
                </a:solidFill>
                <a:latin typeface="メイリオ"/>
                <a:ea typeface="メイリオ"/>
                <a:cs typeface="メイリオ"/>
              </a:rPr>
              <a:t>中身</a:t>
            </a:r>
          </a:p>
        </p:txBody>
      </p:sp>
      <p:sp>
        <p:nvSpPr>
          <p:cNvPr id="69" name="Rectangle 68"/>
          <p:cNvSpPr/>
          <p:nvPr/>
        </p:nvSpPr>
        <p:spPr>
          <a:xfrm>
            <a:off x="384048" y="5522976"/>
            <a:ext cx="2377440" cy="365760"/>
          </a:xfrm>
          <a:prstGeom prst="rect">
            <a:avLst/>
          </a:prstGeom>
          <a:solidFill>
            <a:srgbClr val="EEF1F8"/>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100" b="1">
                <a:solidFill>
                  <a:srgbClr val="1F2A5C"/>
                </a:solidFill>
                <a:latin typeface="メイリオ"/>
                <a:ea typeface="メイリオ"/>
                <a:cs typeface="メイリオ"/>
              </a:rPr>
              <a:t>直接応募</a:t>
            </a:r>
          </a:p>
        </p:txBody>
      </p:sp>
      <p:sp>
        <p:nvSpPr>
          <p:cNvPr id="70" name="Rectangle 69"/>
          <p:cNvSpPr/>
          <p:nvPr/>
        </p:nvSpPr>
        <p:spPr>
          <a:xfrm>
            <a:off x="2788920" y="5522976"/>
            <a:ext cx="6739128" cy="365760"/>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100" b="0">
                <a:solidFill>
                  <a:srgbClr val="333333"/>
                </a:solidFill>
                <a:latin typeface="メイリオ"/>
                <a:ea typeface="メイリオ"/>
                <a:cs typeface="メイリオ"/>
              </a:rPr>
              <a:t>悩み3つ → 条件の特集10選 → 求人カード → 今すぐチェック</a:t>
            </a:r>
          </a:p>
        </p:txBody>
      </p:sp>
      <p:sp>
        <p:nvSpPr>
          <p:cNvPr id="71" name="Rectangle 70"/>
          <p:cNvSpPr/>
          <p:nvPr/>
        </p:nvSpPr>
        <p:spPr>
          <a:xfrm>
            <a:off x="384048" y="5925312"/>
            <a:ext cx="2377440" cy="365760"/>
          </a:xfrm>
          <a:prstGeom prst="rect">
            <a:avLst/>
          </a:prstGeom>
          <a:solidFill>
            <a:srgbClr val="EEF1F8"/>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100" b="1">
                <a:solidFill>
                  <a:srgbClr val="1F2A5C"/>
                </a:solidFill>
                <a:latin typeface="メイリオ"/>
                <a:ea typeface="メイリオ"/>
                <a:cs typeface="メイリオ"/>
              </a:rPr>
              <a:t>会員登録の引き上げ</a:t>
            </a:r>
          </a:p>
        </p:txBody>
      </p:sp>
      <p:sp>
        <p:nvSpPr>
          <p:cNvPr id="72" name="Rectangle 71"/>
          <p:cNvSpPr/>
          <p:nvPr/>
        </p:nvSpPr>
        <p:spPr>
          <a:xfrm>
            <a:off x="2788920" y="5925312"/>
            <a:ext cx="6739128" cy="365760"/>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100" b="0">
                <a:solidFill>
                  <a:srgbClr val="333333"/>
                </a:solidFill>
                <a:latin typeface="メイリオ"/>
                <a:ea typeface="メイリオ"/>
                <a:cs typeface="メイリオ"/>
              </a:rPr>
              <a:t>専属エージェントがサポート → 重視したいポイント（立地・稼げる など）→ ENTRY</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テキスト ボックス 47">
            <a:extLst>
              <a:ext uri="{FF2B5EF4-FFF2-40B4-BE49-F238E27FC236}">
                <a16:creationId xmlns:a16="http://schemas.microsoft.com/office/drawing/2014/main" id="{54048A3F-BF68-8CBE-2D2A-EA19B4DB550B}"/>
              </a:ext>
            </a:extLst>
          </p:cNvPr>
          <p:cNvSpPr txBox="1">
            <a:spLocks noChangeArrowheads="1"/>
          </p:cNvSpPr>
          <p:nvPr/>
        </p:nvSpPr>
        <p:spPr bwMode="auto">
          <a:xfrm>
            <a:off x="456501" y="107813"/>
            <a:ext cx="7512385" cy="3650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tIns="72000">
            <a:spAutoFit/>
          </a:bodyPr>
          <a:lstStyle>
            <a:lvl1pPr>
              <a:defRPr kumimoji="1" sz="3200">
                <a:solidFill>
                  <a:schemeClr val="tx1"/>
                </a:solidFill>
                <a:latin typeface="Calibri" charset="0"/>
                <a:ea typeface="ＭＳ Ｐゴシック" charset="0"/>
                <a:cs typeface="ＭＳ Ｐゴシック" charset="0"/>
              </a:defRPr>
            </a:lvl1pPr>
            <a:lvl2pPr>
              <a:defRPr kumimoji="1" sz="2800">
                <a:solidFill>
                  <a:schemeClr val="tx1"/>
                </a:solidFill>
                <a:latin typeface="Calibri" charset="0"/>
                <a:ea typeface="ＭＳ Ｐゴシック" charset="0"/>
              </a:defRPr>
            </a:lvl2pPr>
            <a:lvl3pPr>
              <a:defRPr kumimoji="1" sz="2400">
                <a:solidFill>
                  <a:schemeClr val="tx1"/>
                </a:solidFill>
                <a:latin typeface="Calibri" charset="0"/>
                <a:ea typeface="ＭＳ Ｐゴシック" charset="0"/>
              </a:defRPr>
            </a:lvl3pPr>
            <a:lvl4pPr>
              <a:defRPr kumimoji="1" sz="2000">
                <a:solidFill>
                  <a:schemeClr val="tx1"/>
                </a:solidFill>
                <a:latin typeface="Calibri" charset="0"/>
                <a:ea typeface="ＭＳ Ｐゴシック" charset="0"/>
              </a:defRPr>
            </a:lvl4pPr>
            <a:lvl5pPr>
              <a:defRPr kumimoji="1" sz="2000">
                <a:solidFill>
                  <a:schemeClr val="tx1"/>
                </a:solidFill>
                <a:latin typeface="Calibri" charset="0"/>
                <a:ea typeface="ＭＳ Ｐゴシック" charset="0"/>
              </a:defRPr>
            </a:lvl5pPr>
            <a:lvl6pPr eaLnBrk="0" fontAlgn="base" hangingPunct="0">
              <a:spcAft>
                <a:spcPct val="0"/>
              </a:spcAft>
              <a:buFont typeface="Arial" charset="0"/>
              <a:buChar char="»"/>
              <a:defRPr kumimoji="1" sz="2000">
                <a:solidFill>
                  <a:schemeClr val="tx1"/>
                </a:solidFill>
                <a:latin typeface="Calibri" charset="0"/>
                <a:ea typeface="ＭＳ Ｐゴシック" charset="0"/>
              </a:defRPr>
            </a:lvl6pPr>
            <a:lvl7pPr eaLnBrk="0" fontAlgn="base" hangingPunct="0">
              <a:spcAft>
                <a:spcPct val="0"/>
              </a:spcAft>
              <a:buFont typeface="Arial" charset="0"/>
              <a:buChar char="»"/>
              <a:defRPr kumimoji="1" sz="2000">
                <a:solidFill>
                  <a:schemeClr val="tx1"/>
                </a:solidFill>
                <a:latin typeface="Calibri" charset="0"/>
                <a:ea typeface="ＭＳ Ｐゴシック" charset="0"/>
              </a:defRPr>
            </a:lvl7pPr>
            <a:lvl8pPr eaLnBrk="0" fontAlgn="base" hangingPunct="0">
              <a:spcAft>
                <a:spcPct val="0"/>
              </a:spcAft>
              <a:buFont typeface="Arial" charset="0"/>
              <a:buChar char="»"/>
              <a:defRPr kumimoji="1" sz="2000">
                <a:solidFill>
                  <a:schemeClr val="tx1"/>
                </a:solidFill>
                <a:latin typeface="Calibri" charset="0"/>
                <a:ea typeface="ＭＳ Ｐゴシック" charset="0"/>
              </a:defRPr>
            </a:lvl8pPr>
            <a:lvl9pPr eaLnBrk="0" fontAlgn="base" hangingPunct="0">
              <a:spcAft>
                <a:spcPct val="0"/>
              </a:spcAft>
              <a:buFont typeface="Arial" charset="0"/>
              <a:buChar char="»"/>
              <a:defRPr kumimoji="1" sz="2000">
                <a:solidFill>
                  <a:schemeClr val="tx1"/>
                </a:solidFill>
                <a:latin typeface="Calibri" charset="0"/>
                <a:ea typeface="ＭＳ Ｐゴシック" charset="0"/>
              </a:defRPr>
            </a:lvl9pPr>
          </a:lstStyle>
          <a:p>
            <a:pPr>
              <a:spcBef>
                <a:spcPct val="20000"/>
              </a:spcBef>
              <a:buFont typeface="Arial" charset="0"/>
              <a:buNone/>
            </a:pPr>
            <a:r>
              <a:rPr lang="ja-JP" altLang="en-US" sz="1600" b="1" dirty="0">
                <a:solidFill>
                  <a:srgbClr val="1F2A5C"/>
                </a:solidFill>
                <a:latin typeface="メイリオ"/>
                <a:ea typeface="メイリオ"/>
                <a:cs typeface="メイリオ"/>
              </a:rPr>
              <a:t>これまでの運用について</a:t>
            </a:r>
          </a:p>
        </p:txBody>
      </p:sp>
      <p:sp>
        <p:nvSpPr>
          <p:cNvPr id="5" name="Rectangle 2">
            <a:extLst>
              <a:ext uri="{FF2B5EF4-FFF2-40B4-BE49-F238E27FC236}">
                <a16:creationId xmlns:a16="http://schemas.microsoft.com/office/drawing/2014/main" id="{234E3E2F-FF11-E565-7999-FABF8B29646D}"/>
              </a:ext>
            </a:extLst>
          </p:cNvPr>
          <p:cNvSpPr/>
          <p:nvPr/>
        </p:nvSpPr>
        <p:spPr>
          <a:xfrm>
            <a:off x="121798" y="960120"/>
            <a:ext cx="9144000" cy="36576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t"/>
          <a:lstStyle/>
          <a:p>
            <a:pPr algn="l">
              <a:spcAft>
                <a:spcPts val="300"/>
              </a:spcAft>
            </a:pPr>
            <a:r>
              <a:rPr sz="1600" b="1">
                <a:solidFill>
                  <a:srgbClr val="4A6FA5"/>
                </a:solidFill>
                <a:latin typeface="メイリオ"/>
                <a:ea typeface="メイリオ"/>
                <a:cs typeface="メイリオ"/>
              </a:rPr>
              <a:t>これまでの運用の課題感と、これからやりたい施策を伺う。</a:t>
            </a:r>
          </a:p>
        </p:txBody>
      </p:sp>
      <p:sp>
        <p:nvSpPr>
          <p:cNvPr id="53" name="正方形/長方形 52">
            <a:extLst>
              <a:ext uri="{FF2B5EF4-FFF2-40B4-BE49-F238E27FC236}">
                <a16:creationId xmlns:a16="http://schemas.microsoft.com/office/drawing/2014/main" id="{F6341BEF-3885-9CF9-B1B6-B2D4EA06ED5E}"/>
              </a:ext>
            </a:extLst>
          </p:cNvPr>
          <p:cNvSpPr/>
          <p:nvPr/>
        </p:nvSpPr>
        <p:spPr>
          <a:xfrm>
            <a:off x="96788" y="1645669"/>
            <a:ext cx="9687414" cy="3577"/>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400" b="1" dirty="0">
              <a:latin typeface="メイリオ" panose="020B0604030504040204" pitchFamily="50" charset="-128"/>
              <a:ea typeface="メイリオ" panose="020B0604030504040204" pitchFamily="50" charset="-128"/>
            </a:endParaRPr>
          </a:p>
        </p:txBody>
      </p:sp>
      <p:sp>
        <p:nvSpPr>
          <p:cNvPr id="54" name="Rectangle 53"/>
          <p:cNvSpPr/>
          <p:nvPr/>
        </p:nvSpPr>
        <p:spPr>
          <a:xfrm>
            <a:off x="384048" y="1828800"/>
            <a:ext cx="4535424" cy="365760"/>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wrap="square" lIns="72000" tIns="18000" rIns="72000" bIns="18000" rtlCol="0" anchor="ctr"/>
          <a:lstStyle/>
          <a:p>
            <a:pPr algn="ctr">
              <a:lnSpc>
                <a:spcPct val="110000"/>
              </a:lnSpc>
              <a:spcAft>
                <a:spcPts val="0"/>
              </a:spcAft>
            </a:pPr>
            <a:r>
              <a:rPr sz="1300" b="1">
                <a:solidFill>
                  <a:srgbClr val="FFFFFF"/>
                </a:solidFill>
                <a:latin typeface="メイリオ"/>
                <a:ea typeface="メイリオ"/>
                <a:cs typeface="メイリオ"/>
              </a:rPr>
              <a:t>これまでの運用の課題感</a:t>
            </a:r>
          </a:p>
        </p:txBody>
      </p:sp>
      <p:sp>
        <p:nvSpPr>
          <p:cNvPr id="55" name="Rectangle 54"/>
          <p:cNvSpPr/>
          <p:nvPr/>
        </p:nvSpPr>
        <p:spPr>
          <a:xfrm>
            <a:off x="384048" y="2231136"/>
            <a:ext cx="4535424" cy="3657600"/>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72000" bIns="18000" rtlCol="0" anchor="ctr"/>
          <a:lstStyle/>
          <a:p>
            <a:pPr algn="ctr"/>
            <a:endParaRPr/>
          </a:p>
        </p:txBody>
      </p:sp>
      <p:sp>
        <p:nvSpPr>
          <p:cNvPr id="56" name="Rectangle 55"/>
          <p:cNvSpPr/>
          <p:nvPr/>
        </p:nvSpPr>
        <p:spPr>
          <a:xfrm>
            <a:off x="4992624" y="1828800"/>
            <a:ext cx="4535424" cy="365760"/>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wrap="square" lIns="72000" tIns="18000" rIns="72000" bIns="18000" rtlCol="0" anchor="ctr"/>
          <a:lstStyle/>
          <a:p>
            <a:pPr algn="ctr">
              <a:lnSpc>
                <a:spcPct val="110000"/>
              </a:lnSpc>
              <a:spcAft>
                <a:spcPts val="0"/>
              </a:spcAft>
            </a:pPr>
            <a:r>
              <a:rPr sz="1300" b="1">
                <a:solidFill>
                  <a:srgbClr val="FFFFFF"/>
                </a:solidFill>
                <a:latin typeface="メイリオ"/>
                <a:ea typeface="メイリオ"/>
                <a:cs typeface="メイリオ"/>
              </a:rPr>
              <a:t>これからやりたい施策</a:t>
            </a:r>
          </a:p>
        </p:txBody>
      </p:sp>
      <p:sp>
        <p:nvSpPr>
          <p:cNvPr id="57" name="Rectangle 56"/>
          <p:cNvSpPr/>
          <p:nvPr/>
        </p:nvSpPr>
        <p:spPr>
          <a:xfrm>
            <a:off x="4992624" y="2231136"/>
            <a:ext cx="4535424" cy="3657600"/>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72000" bIns="18000" rtlCol="0" anchor="ctr"/>
          <a:lstStyle/>
          <a:p>
            <a:pPr algn="ctr"/>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3BF2E0-298A-DE54-F38D-F332A9024833}"/>
            </a:ext>
          </a:extLst>
        </p:cNvPr>
        <p:cNvGrpSpPr/>
        <p:nvPr/>
      </p:nvGrpSpPr>
      <p:grpSpPr>
        <a:xfrm>
          <a:off x="0" y="0"/>
          <a:ext cx="0" cy="0"/>
          <a:chOff x="0" y="0"/>
          <a:chExt cx="0" cy="0"/>
        </a:xfrm>
      </p:grpSpPr>
      <p:sp>
        <p:nvSpPr>
          <p:cNvPr id="22" name="Google Shape;752;p28">
            <a:extLst>
              <a:ext uri="{FF2B5EF4-FFF2-40B4-BE49-F238E27FC236}">
                <a16:creationId xmlns:a16="http://schemas.microsoft.com/office/drawing/2014/main" id="{EFE01AEC-8FF5-06AC-4A88-BD6045B9E3F6}"/>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chemeClr val="bg1">
                    <a:lumMod val="65000"/>
                  </a:schemeClr>
                </a:solidFill>
                <a:latin typeface="メイリオ" panose="020B0604030504040204" pitchFamily="50" charset="-128"/>
                <a:ea typeface="メイリオ" panose="020B0604030504040204" pitchFamily="50" charset="-128"/>
                <a:cs typeface="Meiryo"/>
                <a:sym typeface="Meiryo"/>
              </a:rPr>
              <a:t>アジェンダ</a:t>
            </a:r>
          </a:p>
        </p:txBody>
      </p:sp>
      <p:sp>
        <p:nvSpPr>
          <p:cNvPr id="14" name="Google Shape;752;p28">
            <a:extLst>
              <a:ext uri="{FF2B5EF4-FFF2-40B4-BE49-F238E27FC236}">
                <a16:creationId xmlns:a16="http://schemas.microsoft.com/office/drawing/2014/main" id="{7016A7A6-DF0F-17C1-E44D-81012735C6E3}"/>
              </a:ext>
            </a:extLst>
          </p:cNvPr>
          <p:cNvSpPr txBox="1"/>
          <p:nvPr/>
        </p:nvSpPr>
        <p:spPr>
          <a:xfrm>
            <a:off x="602223" y="1104688"/>
            <a:ext cx="1104657" cy="584735"/>
          </a:xfrm>
          <a:prstGeom prst="rect">
            <a:avLst/>
          </a:prstGeom>
          <a:noFill/>
          <a:ln>
            <a:noFill/>
          </a:ln>
        </p:spPr>
        <p:txBody>
          <a:bodyPr spcFirstLastPara="1" wrap="square" lIns="91425" tIns="45700" rIns="91425" bIns="45700" anchor="ctr" anchorCtr="0">
            <a:spAutoFit/>
          </a:bodyPr>
          <a:lstStyle/>
          <a:p>
            <a:pPr lvl="0"/>
            <a:r>
              <a:rPr lang="en-US" altLang="ja-JP" sz="3200" b="1" dirty="0">
                <a:solidFill>
                  <a:srgbClr val="323366"/>
                </a:solidFill>
                <a:latin typeface="メイリオ" panose="020B0604030504040204" pitchFamily="50" charset="-128"/>
                <a:ea typeface="メイリオ" panose="020B0604030504040204" pitchFamily="50" charset="-128"/>
                <a:cs typeface="Meiryo"/>
                <a:sym typeface="Meiryo"/>
              </a:rPr>
              <a:t>02</a:t>
            </a:r>
            <a:endParaRPr lang="ja-JP" altLang="en-US" sz="3200" b="1" dirty="0">
              <a:solidFill>
                <a:srgbClr val="323366"/>
              </a:solidFill>
              <a:latin typeface="メイリオ" panose="020B0604030504040204" pitchFamily="50" charset="-128"/>
              <a:ea typeface="メイリオ" panose="020B0604030504040204" pitchFamily="50" charset="-128"/>
              <a:cs typeface="Meiryo"/>
              <a:sym typeface="Meiryo"/>
            </a:endParaRPr>
          </a:p>
        </p:txBody>
      </p:sp>
      <p:sp>
        <p:nvSpPr>
          <p:cNvPr id="16" name="Google Shape;752;p28">
            <a:extLst>
              <a:ext uri="{FF2B5EF4-FFF2-40B4-BE49-F238E27FC236}">
                <a16:creationId xmlns:a16="http://schemas.microsoft.com/office/drawing/2014/main" id="{FD928B8B-A353-F88C-1716-B9953B8561FD}"/>
              </a:ext>
            </a:extLst>
          </p:cNvPr>
          <p:cNvSpPr txBox="1"/>
          <p:nvPr/>
        </p:nvSpPr>
        <p:spPr>
          <a:xfrm>
            <a:off x="1867143" y="1043132"/>
            <a:ext cx="7315200" cy="707846"/>
          </a:xfrm>
          <a:prstGeom prst="rect">
            <a:avLst/>
          </a:prstGeom>
          <a:noFill/>
          <a:ln>
            <a:noFill/>
          </a:ln>
        </p:spPr>
        <p:txBody>
          <a:bodyPr spcFirstLastPara="1" wrap="square" lIns="91425" tIns="45700" rIns="91425" bIns="45700" anchor="ctr" anchorCtr="0">
            <a:spAutoFit/>
          </a:bodyPr>
          <a:lstStyle/>
          <a:p>
            <a:pPr lvl="0"/>
            <a:r>
              <a:rPr lang="en-US" altLang="ja-JP" sz="4000" b="1" dirty="0">
                <a:solidFill>
                  <a:schemeClr val="tx1">
                    <a:lumMod val="65000"/>
                    <a:lumOff val="35000"/>
                  </a:schemeClr>
                </a:solidFill>
                <a:latin typeface="メイリオ" panose="020B0604030504040204" pitchFamily="50" charset="-128"/>
                <a:ea typeface="メイリオ" panose="020B0604030504040204" pitchFamily="50" charset="-128"/>
                <a:cs typeface="Meiryo"/>
                <a:sym typeface="Meiryo"/>
              </a:rPr>
              <a:t>LINE</a:t>
            </a:r>
            <a:r>
              <a:rPr lang="ja-JP" altLang="en-US" sz="4000" b="1" dirty="0">
                <a:solidFill>
                  <a:schemeClr val="tx1">
                    <a:lumMod val="65000"/>
                    <a:lumOff val="35000"/>
                  </a:schemeClr>
                </a:solidFill>
                <a:latin typeface="メイリオ" panose="020B0604030504040204" pitchFamily="50" charset="-128"/>
                <a:ea typeface="メイリオ" panose="020B0604030504040204" pitchFamily="50" charset="-128"/>
                <a:cs typeface="Meiryo"/>
                <a:sym typeface="Meiryo"/>
              </a:rPr>
              <a:t>施策全体図</a:t>
            </a:r>
          </a:p>
        </p:txBody>
      </p:sp>
      <p:cxnSp>
        <p:nvCxnSpPr>
          <p:cNvPr id="17" name="直線コネクタ 16">
            <a:extLst>
              <a:ext uri="{FF2B5EF4-FFF2-40B4-BE49-F238E27FC236}">
                <a16:creationId xmlns:a16="http://schemas.microsoft.com/office/drawing/2014/main" id="{DE9E7AD0-8EFD-8BF5-38BD-5DDFF49DC62F}"/>
              </a:ext>
            </a:extLst>
          </p:cNvPr>
          <p:cNvCxnSpPr>
            <a:cxnSpLocks/>
          </p:cNvCxnSpPr>
          <p:nvPr/>
        </p:nvCxnSpPr>
        <p:spPr>
          <a:xfrm>
            <a:off x="608527" y="1681803"/>
            <a:ext cx="944805" cy="0"/>
          </a:xfrm>
          <a:prstGeom prst="line">
            <a:avLst/>
          </a:prstGeom>
          <a:ln w="57150">
            <a:solidFill>
              <a:srgbClr val="10253F"/>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0752516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8AA833-D3F3-93C3-12E0-73EBD257A29B}"/>
            </a:ext>
          </a:extLst>
        </p:cNvPr>
        <p:cNvGrpSpPr/>
        <p:nvPr/>
      </p:nvGrpSpPr>
      <p:grpSpPr>
        <a:xfrm>
          <a:off x="0" y="0"/>
          <a:ext cx="0" cy="0"/>
          <a:chOff x="0" y="0"/>
          <a:chExt cx="0" cy="0"/>
        </a:xfrm>
      </p:grpSpPr>
      <p:sp>
        <p:nvSpPr>
          <p:cNvPr id="58" name="正方形/長方形 57">
            <a:extLst>
              <a:ext uri="{FF2B5EF4-FFF2-40B4-BE49-F238E27FC236}">
                <a16:creationId xmlns:a16="http://schemas.microsoft.com/office/drawing/2014/main" id="{AEDFC864-0FC1-906B-B68E-650BA4B41D40}"/>
              </a:ext>
            </a:extLst>
          </p:cNvPr>
          <p:cNvSpPr/>
          <p:nvPr/>
        </p:nvSpPr>
        <p:spPr>
          <a:xfrm>
            <a:off x="96788" y="1045811"/>
            <a:ext cx="1935768" cy="21878"/>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100" b="1" dirty="0">
              <a:latin typeface="メイリオ" panose="020B0604030504040204" pitchFamily="50" charset="-128"/>
              <a:ea typeface="メイリオ" panose="020B0604030504040204" pitchFamily="50" charset="-128"/>
            </a:endParaRPr>
          </a:p>
        </p:txBody>
      </p:sp>
      <p:sp>
        <p:nvSpPr>
          <p:cNvPr id="3" name="正方形/長方形 2">
            <a:extLst>
              <a:ext uri="{FF2B5EF4-FFF2-40B4-BE49-F238E27FC236}">
                <a16:creationId xmlns:a16="http://schemas.microsoft.com/office/drawing/2014/main" id="{DF535991-533F-EFBE-4AEE-48F51BFAA707}"/>
              </a:ext>
            </a:extLst>
          </p:cNvPr>
          <p:cNvSpPr/>
          <p:nvPr/>
        </p:nvSpPr>
        <p:spPr>
          <a:xfrm>
            <a:off x="96788" y="1645669"/>
            <a:ext cx="9687414" cy="3577"/>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100" b="1" dirty="0">
              <a:latin typeface="メイリオ" panose="020B0604030504040204" pitchFamily="50" charset="-128"/>
              <a:ea typeface="メイリオ" panose="020B0604030504040204" pitchFamily="50" charset="-128"/>
            </a:endParaRPr>
          </a:p>
        </p:txBody>
      </p:sp>
      <p:sp>
        <p:nvSpPr>
          <p:cNvPr id="5" name="テキスト ボックス 4">
            <a:extLst>
              <a:ext uri="{FF2B5EF4-FFF2-40B4-BE49-F238E27FC236}">
                <a16:creationId xmlns:a16="http://schemas.microsoft.com/office/drawing/2014/main" id="{A6CD0D3C-91C0-AC26-EA06-0D9436780C74}"/>
              </a:ext>
            </a:extLst>
          </p:cNvPr>
          <p:cNvSpPr txBox="1"/>
          <p:nvPr/>
        </p:nvSpPr>
        <p:spPr>
          <a:xfrm>
            <a:off x="96788" y="619405"/>
            <a:ext cx="4961186" cy="369332"/>
          </a:xfrm>
          <a:prstGeom prst="rect">
            <a:avLst/>
          </a:prstGeom>
          <a:noFill/>
        </p:spPr>
        <p:txBody>
          <a:bodyPr wrap="square">
            <a:spAutoFit/>
          </a:bodyPr>
          <a:lstStyle/>
          <a:p>
            <a:r>
              <a:rPr lang="ja-JP" altLang="en-US"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ユーザーファネルの考え方</a:t>
            </a:r>
            <a:endParaRPr lang="ja-JP" altLang="en-US" sz="1100" dirty="0"/>
          </a:p>
        </p:txBody>
      </p:sp>
      <p:sp>
        <p:nvSpPr>
          <p:cNvPr id="7" name="テキスト ボックス 6">
            <a:extLst>
              <a:ext uri="{FF2B5EF4-FFF2-40B4-BE49-F238E27FC236}">
                <a16:creationId xmlns:a16="http://schemas.microsoft.com/office/drawing/2014/main" id="{E2E43B61-D3D6-CF9F-215E-9E9F057C93FC}"/>
              </a:ext>
            </a:extLst>
          </p:cNvPr>
          <p:cNvSpPr txBox="1"/>
          <p:nvPr/>
        </p:nvSpPr>
        <p:spPr>
          <a:xfrm>
            <a:off x="96788" y="1202790"/>
            <a:ext cx="9687414" cy="307777"/>
          </a:xfrm>
          <a:prstGeom prst="rect">
            <a:avLst/>
          </a:prstGeom>
          <a:noFill/>
        </p:spPr>
        <p:txBody>
          <a:bodyPr wrap="square">
            <a:spAutoFit/>
          </a:bodyPr>
          <a:lstStyle/>
          <a:p>
            <a:r>
              <a:rPr lang="ja-JP" altLang="en-US" sz="14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集客・友だち追加</a:t>
            </a:r>
            <a:r>
              <a:rPr lang="ja-JP" altLang="en-US"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 から </a:t>
            </a:r>
            <a:r>
              <a:rPr lang="ja-JP" altLang="en-US" sz="1400"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育成・反響</a:t>
            </a:r>
            <a:r>
              <a:rPr lang="ja-JP" altLang="en-US"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 までの全体動線設計</a:t>
            </a:r>
            <a:endParaRPr lang="ja-JP" altLang="en-US" sz="1000" dirty="0"/>
          </a:p>
        </p:txBody>
      </p:sp>
      <p:sp>
        <p:nvSpPr>
          <p:cNvPr id="9" name="テキスト ボックス 8">
            <a:extLst>
              <a:ext uri="{FF2B5EF4-FFF2-40B4-BE49-F238E27FC236}">
                <a16:creationId xmlns:a16="http://schemas.microsoft.com/office/drawing/2014/main" id="{68CB1203-9B68-6A7A-DAA2-3E7F946368F0}"/>
              </a:ext>
            </a:extLst>
          </p:cNvPr>
          <p:cNvSpPr txBox="1"/>
          <p:nvPr/>
        </p:nvSpPr>
        <p:spPr>
          <a:xfrm>
            <a:off x="460785" y="91159"/>
            <a:ext cx="4961186" cy="369332"/>
          </a:xfrm>
          <a:prstGeom prst="rect">
            <a:avLst/>
          </a:prstGeom>
          <a:noFill/>
        </p:spPr>
        <p:txBody>
          <a:bodyPr wrap="square">
            <a:spAutoFit/>
          </a:bodyPr>
          <a:lstStyle/>
          <a:p>
            <a:r>
              <a:rPr lang="ja-JP" altLang="en-US"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 前提調査</a:t>
            </a:r>
            <a:endParaRPr lang="ja-JP" altLang="en-US" sz="1100" dirty="0"/>
          </a:p>
        </p:txBody>
      </p:sp>
      <p:cxnSp>
        <p:nvCxnSpPr>
          <p:cNvPr id="48" name="直線コネクタ 47">
            <a:extLst>
              <a:ext uri="{FF2B5EF4-FFF2-40B4-BE49-F238E27FC236}">
                <a16:creationId xmlns:a16="http://schemas.microsoft.com/office/drawing/2014/main" id="{8D0721AE-E7E5-698E-E773-F2614C0DBB07}"/>
              </a:ext>
            </a:extLst>
          </p:cNvPr>
          <p:cNvCxnSpPr>
            <a:cxnSpLocks/>
          </p:cNvCxnSpPr>
          <p:nvPr/>
        </p:nvCxnSpPr>
        <p:spPr>
          <a:xfrm>
            <a:off x="240222" y="1892621"/>
            <a:ext cx="0" cy="2882641"/>
          </a:xfrm>
          <a:prstGeom prst="line">
            <a:avLst/>
          </a:prstGeom>
          <a:ln w="6350">
            <a:solidFill>
              <a:srgbClr val="FFC000"/>
            </a:solidFill>
            <a:prstDash val="sysDash"/>
          </a:ln>
        </p:spPr>
        <p:style>
          <a:lnRef idx="1">
            <a:schemeClr val="accent1"/>
          </a:lnRef>
          <a:fillRef idx="0">
            <a:schemeClr val="accent1"/>
          </a:fillRef>
          <a:effectRef idx="0">
            <a:schemeClr val="accent1"/>
          </a:effectRef>
          <a:fontRef idx="minor">
            <a:schemeClr val="tx1"/>
          </a:fontRef>
        </p:style>
      </p:cxnSp>
      <p:cxnSp>
        <p:nvCxnSpPr>
          <p:cNvPr id="49" name="直線コネクタ 48">
            <a:extLst>
              <a:ext uri="{FF2B5EF4-FFF2-40B4-BE49-F238E27FC236}">
                <a16:creationId xmlns:a16="http://schemas.microsoft.com/office/drawing/2014/main" id="{3BFFC88E-A589-D631-D366-94F280EFF67D}"/>
              </a:ext>
            </a:extLst>
          </p:cNvPr>
          <p:cNvCxnSpPr>
            <a:cxnSpLocks/>
          </p:cNvCxnSpPr>
          <p:nvPr/>
        </p:nvCxnSpPr>
        <p:spPr>
          <a:xfrm>
            <a:off x="1600733" y="1904263"/>
            <a:ext cx="0" cy="2882641"/>
          </a:xfrm>
          <a:prstGeom prst="line">
            <a:avLst/>
          </a:prstGeom>
          <a:ln w="6350">
            <a:solidFill>
              <a:srgbClr val="FFC000"/>
            </a:solidFill>
            <a:prstDash val="sysDash"/>
          </a:ln>
        </p:spPr>
        <p:style>
          <a:lnRef idx="1">
            <a:schemeClr val="accent1"/>
          </a:lnRef>
          <a:fillRef idx="0">
            <a:schemeClr val="accent1"/>
          </a:fillRef>
          <a:effectRef idx="0">
            <a:schemeClr val="accent1"/>
          </a:effectRef>
          <a:fontRef idx="minor">
            <a:schemeClr val="tx1"/>
          </a:fontRef>
        </p:style>
      </p:cxnSp>
      <p:cxnSp>
        <p:nvCxnSpPr>
          <p:cNvPr id="50" name="直線コネクタ 49">
            <a:extLst>
              <a:ext uri="{FF2B5EF4-FFF2-40B4-BE49-F238E27FC236}">
                <a16:creationId xmlns:a16="http://schemas.microsoft.com/office/drawing/2014/main" id="{D90E23BB-3076-5B7D-82F3-8433A2B09D1F}"/>
              </a:ext>
            </a:extLst>
          </p:cNvPr>
          <p:cNvCxnSpPr>
            <a:cxnSpLocks/>
          </p:cNvCxnSpPr>
          <p:nvPr/>
        </p:nvCxnSpPr>
        <p:spPr>
          <a:xfrm>
            <a:off x="2773855" y="1904263"/>
            <a:ext cx="0" cy="2882641"/>
          </a:xfrm>
          <a:prstGeom prst="line">
            <a:avLst/>
          </a:prstGeom>
          <a:ln w="6350">
            <a:solidFill>
              <a:srgbClr val="FFC000"/>
            </a:solidFill>
            <a:prstDash val="sysDash"/>
          </a:ln>
        </p:spPr>
        <p:style>
          <a:lnRef idx="1">
            <a:schemeClr val="accent1"/>
          </a:lnRef>
          <a:fillRef idx="0">
            <a:schemeClr val="accent1"/>
          </a:fillRef>
          <a:effectRef idx="0">
            <a:schemeClr val="accent1"/>
          </a:effectRef>
          <a:fontRef idx="minor">
            <a:schemeClr val="tx1"/>
          </a:fontRef>
        </p:style>
      </p:cxnSp>
      <p:cxnSp>
        <p:nvCxnSpPr>
          <p:cNvPr id="52" name="直線コネクタ 51">
            <a:extLst>
              <a:ext uri="{FF2B5EF4-FFF2-40B4-BE49-F238E27FC236}">
                <a16:creationId xmlns:a16="http://schemas.microsoft.com/office/drawing/2014/main" id="{6558815C-4A36-8DFA-3258-ADAC642B44B6}"/>
              </a:ext>
            </a:extLst>
          </p:cNvPr>
          <p:cNvCxnSpPr>
            <a:cxnSpLocks/>
          </p:cNvCxnSpPr>
          <p:nvPr/>
        </p:nvCxnSpPr>
        <p:spPr>
          <a:xfrm>
            <a:off x="3936993" y="1892621"/>
            <a:ext cx="0" cy="4305308"/>
          </a:xfrm>
          <a:prstGeom prst="line">
            <a:avLst/>
          </a:prstGeom>
          <a:ln w="6350">
            <a:solidFill>
              <a:srgbClr val="2080FF"/>
            </a:solidFill>
            <a:prstDash val="sysDash"/>
          </a:ln>
        </p:spPr>
        <p:style>
          <a:lnRef idx="1">
            <a:schemeClr val="accent1"/>
          </a:lnRef>
          <a:fillRef idx="0">
            <a:schemeClr val="accent1"/>
          </a:fillRef>
          <a:effectRef idx="0">
            <a:schemeClr val="accent1"/>
          </a:effectRef>
          <a:fontRef idx="minor">
            <a:schemeClr val="tx1"/>
          </a:fontRef>
        </p:style>
      </p:cxnSp>
      <p:cxnSp>
        <p:nvCxnSpPr>
          <p:cNvPr id="53" name="直線コネクタ 52">
            <a:extLst>
              <a:ext uri="{FF2B5EF4-FFF2-40B4-BE49-F238E27FC236}">
                <a16:creationId xmlns:a16="http://schemas.microsoft.com/office/drawing/2014/main" id="{9B24DBF0-6A3A-0783-C6E3-74B28D837D9E}"/>
              </a:ext>
            </a:extLst>
          </p:cNvPr>
          <p:cNvCxnSpPr>
            <a:cxnSpLocks/>
          </p:cNvCxnSpPr>
          <p:nvPr/>
        </p:nvCxnSpPr>
        <p:spPr>
          <a:xfrm>
            <a:off x="5079515" y="1940964"/>
            <a:ext cx="0" cy="4305308"/>
          </a:xfrm>
          <a:prstGeom prst="line">
            <a:avLst/>
          </a:prstGeom>
          <a:ln w="6350">
            <a:solidFill>
              <a:srgbClr val="2080FF"/>
            </a:solidFill>
            <a:prstDash val="sysDash"/>
          </a:ln>
        </p:spPr>
        <p:style>
          <a:lnRef idx="1">
            <a:schemeClr val="accent1"/>
          </a:lnRef>
          <a:fillRef idx="0">
            <a:schemeClr val="accent1"/>
          </a:fillRef>
          <a:effectRef idx="0">
            <a:schemeClr val="accent1"/>
          </a:effectRef>
          <a:fontRef idx="minor">
            <a:schemeClr val="tx1"/>
          </a:fontRef>
        </p:style>
      </p:cxnSp>
      <p:cxnSp>
        <p:nvCxnSpPr>
          <p:cNvPr id="54" name="直線コネクタ 53">
            <a:extLst>
              <a:ext uri="{FF2B5EF4-FFF2-40B4-BE49-F238E27FC236}">
                <a16:creationId xmlns:a16="http://schemas.microsoft.com/office/drawing/2014/main" id="{D9F92929-7F37-647E-2D3E-0EB84FFB20D1}"/>
              </a:ext>
            </a:extLst>
          </p:cNvPr>
          <p:cNvCxnSpPr>
            <a:cxnSpLocks/>
          </p:cNvCxnSpPr>
          <p:nvPr/>
        </p:nvCxnSpPr>
        <p:spPr>
          <a:xfrm>
            <a:off x="6233170" y="1911584"/>
            <a:ext cx="0" cy="4305308"/>
          </a:xfrm>
          <a:prstGeom prst="line">
            <a:avLst/>
          </a:prstGeom>
          <a:ln w="6350">
            <a:solidFill>
              <a:srgbClr val="2080FF"/>
            </a:solidFill>
            <a:prstDash val="sysDash"/>
          </a:ln>
        </p:spPr>
        <p:style>
          <a:lnRef idx="1">
            <a:schemeClr val="accent1"/>
          </a:lnRef>
          <a:fillRef idx="0">
            <a:schemeClr val="accent1"/>
          </a:fillRef>
          <a:effectRef idx="0">
            <a:schemeClr val="accent1"/>
          </a:effectRef>
          <a:fontRef idx="minor">
            <a:schemeClr val="tx1"/>
          </a:fontRef>
        </p:style>
      </p:cxnSp>
      <p:cxnSp>
        <p:nvCxnSpPr>
          <p:cNvPr id="55" name="直線コネクタ 54">
            <a:extLst>
              <a:ext uri="{FF2B5EF4-FFF2-40B4-BE49-F238E27FC236}">
                <a16:creationId xmlns:a16="http://schemas.microsoft.com/office/drawing/2014/main" id="{A53FD7B1-4120-4E04-0DDF-B4B54EDB9BFD}"/>
              </a:ext>
            </a:extLst>
          </p:cNvPr>
          <p:cNvCxnSpPr>
            <a:cxnSpLocks/>
          </p:cNvCxnSpPr>
          <p:nvPr/>
        </p:nvCxnSpPr>
        <p:spPr>
          <a:xfrm>
            <a:off x="7398333" y="1901842"/>
            <a:ext cx="0" cy="4305308"/>
          </a:xfrm>
          <a:prstGeom prst="line">
            <a:avLst/>
          </a:prstGeom>
          <a:ln w="6350">
            <a:solidFill>
              <a:srgbClr val="2080FF"/>
            </a:solidFill>
            <a:prstDash val="sysDash"/>
          </a:ln>
        </p:spPr>
        <p:style>
          <a:lnRef idx="1">
            <a:schemeClr val="accent1"/>
          </a:lnRef>
          <a:fillRef idx="0">
            <a:schemeClr val="accent1"/>
          </a:fillRef>
          <a:effectRef idx="0">
            <a:schemeClr val="accent1"/>
          </a:effectRef>
          <a:fontRef idx="minor">
            <a:schemeClr val="tx1"/>
          </a:fontRef>
        </p:style>
      </p:cxnSp>
      <p:cxnSp>
        <p:nvCxnSpPr>
          <p:cNvPr id="114" name="直線コネクタ 113">
            <a:extLst>
              <a:ext uri="{FF2B5EF4-FFF2-40B4-BE49-F238E27FC236}">
                <a16:creationId xmlns:a16="http://schemas.microsoft.com/office/drawing/2014/main" id="{565A72C8-45FF-A070-3E5F-46A3A7352507}"/>
              </a:ext>
            </a:extLst>
          </p:cNvPr>
          <p:cNvCxnSpPr>
            <a:cxnSpLocks/>
          </p:cNvCxnSpPr>
          <p:nvPr/>
        </p:nvCxnSpPr>
        <p:spPr>
          <a:xfrm>
            <a:off x="9719357" y="2048213"/>
            <a:ext cx="0" cy="4154701"/>
          </a:xfrm>
          <a:prstGeom prst="line">
            <a:avLst/>
          </a:prstGeom>
          <a:ln w="6350">
            <a:solidFill>
              <a:srgbClr val="2080FF"/>
            </a:solidFill>
            <a:prstDash val="sysDash"/>
          </a:ln>
        </p:spPr>
        <p:style>
          <a:lnRef idx="1">
            <a:schemeClr val="accent1"/>
          </a:lnRef>
          <a:fillRef idx="0">
            <a:schemeClr val="accent1"/>
          </a:fillRef>
          <a:effectRef idx="0">
            <a:schemeClr val="accent1"/>
          </a:effectRef>
          <a:fontRef idx="minor">
            <a:schemeClr val="tx1"/>
          </a:fontRef>
        </p:style>
      </p:cxnSp>
      <p:cxnSp>
        <p:nvCxnSpPr>
          <p:cNvPr id="311" name="直線コネクタ 310">
            <a:extLst>
              <a:ext uri="{FF2B5EF4-FFF2-40B4-BE49-F238E27FC236}">
                <a16:creationId xmlns:a16="http://schemas.microsoft.com/office/drawing/2014/main" id="{490BDABD-2035-40BF-A521-7BBCDAFC6FFE}"/>
              </a:ext>
            </a:extLst>
          </p:cNvPr>
          <p:cNvCxnSpPr>
            <a:cxnSpLocks/>
          </p:cNvCxnSpPr>
          <p:nvPr/>
        </p:nvCxnSpPr>
        <p:spPr>
          <a:xfrm>
            <a:off x="8549009" y="2036711"/>
            <a:ext cx="0" cy="4154701"/>
          </a:xfrm>
          <a:prstGeom prst="line">
            <a:avLst/>
          </a:prstGeom>
          <a:ln w="6350">
            <a:solidFill>
              <a:srgbClr val="2080FF"/>
            </a:solidFill>
            <a:prstDash val="sysDash"/>
          </a:ln>
        </p:spPr>
        <p:style>
          <a:lnRef idx="1">
            <a:schemeClr val="accent1"/>
          </a:lnRef>
          <a:fillRef idx="0">
            <a:schemeClr val="accent1"/>
          </a:fillRef>
          <a:effectRef idx="0">
            <a:schemeClr val="accent1"/>
          </a:effectRef>
          <a:fontRef idx="minor">
            <a:schemeClr val="tx1"/>
          </a:fontRef>
        </p:style>
      </p:cxnSp>
      <p:pic>
        <p:nvPicPr>
          <p:cNvPr id="345" name="図 344">
            <a:extLst>
              <a:ext uri="{FF2B5EF4-FFF2-40B4-BE49-F238E27FC236}">
                <a16:creationId xmlns:a16="http://schemas.microsoft.com/office/drawing/2014/main" id="{89F7A10B-75A8-6EC6-A69F-413DDACCFE56}"/>
              </a:ext>
            </a:extLst>
          </p:cNvPr>
          <p:cNvPicPr>
            <a:picLocks noChangeAspect="1"/>
          </p:cNvPicPr>
          <p:nvPr/>
        </p:nvPicPr>
        <p:blipFill>
          <a:blip r:embed="rId2"/>
          <a:stretch>
            <a:fillRect/>
          </a:stretch>
        </p:blipFill>
        <p:spPr>
          <a:xfrm>
            <a:off x="117307" y="1707348"/>
            <a:ext cx="9666895" cy="952587"/>
          </a:xfrm>
          <a:prstGeom prst="rect">
            <a:avLst/>
          </a:prstGeom>
        </p:spPr>
      </p:pic>
      <p:sp>
        <p:nvSpPr>
          <p:cNvPr id="348" name="Pentagon 10">
            <a:extLst>
              <a:ext uri="{FF2B5EF4-FFF2-40B4-BE49-F238E27FC236}">
                <a16:creationId xmlns:a16="http://schemas.microsoft.com/office/drawing/2014/main" id="{D60CF545-0B19-2223-E0F6-EE6FBF96A846}"/>
              </a:ext>
            </a:extLst>
          </p:cNvPr>
          <p:cNvSpPr/>
          <p:nvPr/>
        </p:nvSpPr>
        <p:spPr>
          <a:xfrm>
            <a:off x="240491" y="1840092"/>
            <a:ext cx="1360371" cy="731520"/>
          </a:xfrm>
          <a:prstGeom prst="homePlate">
            <a:avLst/>
          </a:prstGeom>
          <a:solidFill>
            <a:schemeClr val="bg1">
              <a:lumMod val="6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lang="en-US" altLang="ja-JP" sz="1300" b="1" dirty="0">
              <a:solidFill>
                <a:srgbClr val="FFFFFF"/>
              </a:solidFill>
              <a:latin typeface="メイリオ"/>
              <a:ea typeface="メイリオ"/>
              <a:cs typeface="メイリオ"/>
            </a:endParaRPr>
          </a:p>
        </p:txBody>
      </p:sp>
      <p:sp>
        <p:nvSpPr>
          <p:cNvPr id="349" name="Chevron 11">
            <a:extLst>
              <a:ext uri="{FF2B5EF4-FFF2-40B4-BE49-F238E27FC236}">
                <a16:creationId xmlns:a16="http://schemas.microsoft.com/office/drawing/2014/main" id="{6D6E4BCF-267F-981F-EDFF-6E6633C27F06}"/>
              </a:ext>
            </a:extLst>
          </p:cNvPr>
          <p:cNvSpPr/>
          <p:nvPr/>
        </p:nvSpPr>
        <p:spPr>
          <a:xfrm>
            <a:off x="1277140" y="1840092"/>
            <a:ext cx="1482455" cy="731520"/>
          </a:xfrm>
          <a:prstGeom prst="chevron">
            <a:avLst/>
          </a:prstGeom>
          <a:solidFill>
            <a:schemeClr val="accent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350" name="Chevron 12">
            <a:extLst>
              <a:ext uri="{FF2B5EF4-FFF2-40B4-BE49-F238E27FC236}">
                <a16:creationId xmlns:a16="http://schemas.microsoft.com/office/drawing/2014/main" id="{EC978F15-CE92-BED7-7057-8873621D3985}"/>
              </a:ext>
            </a:extLst>
          </p:cNvPr>
          <p:cNvSpPr/>
          <p:nvPr/>
        </p:nvSpPr>
        <p:spPr>
          <a:xfrm>
            <a:off x="3597060" y="1840092"/>
            <a:ext cx="1482455" cy="731520"/>
          </a:xfrm>
          <a:prstGeom prst="chevron">
            <a:avLst/>
          </a:prstGeom>
          <a:solidFill>
            <a:schemeClr val="accent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351" name="Chevron 13">
            <a:extLst>
              <a:ext uri="{FF2B5EF4-FFF2-40B4-BE49-F238E27FC236}">
                <a16:creationId xmlns:a16="http://schemas.microsoft.com/office/drawing/2014/main" id="{326837EC-FB23-5C3F-80BE-2EB4C32996AB}"/>
              </a:ext>
            </a:extLst>
          </p:cNvPr>
          <p:cNvSpPr/>
          <p:nvPr/>
        </p:nvSpPr>
        <p:spPr>
          <a:xfrm>
            <a:off x="7076940" y="1840092"/>
            <a:ext cx="1482455" cy="731520"/>
          </a:xfrm>
          <a:prstGeom prst="chevron">
            <a:avLst/>
          </a:prstGeom>
          <a:solidFill>
            <a:schemeClr val="tx2">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352" name="Chevron 11">
            <a:extLst>
              <a:ext uri="{FF2B5EF4-FFF2-40B4-BE49-F238E27FC236}">
                <a16:creationId xmlns:a16="http://schemas.microsoft.com/office/drawing/2014/main" id="{F00C946B-3DA8-CABA-0BC5-3A47F04D04EB}"/>
              </a:ext>
            </a:extLst>
          </p:cNvPr>
          <p:cNvSpPr/>
          <p:nvPr/>
        </p:nvSpPr>
        <p:spPr>
          <a:xfrm>
            <a:off x="2437100" y="1840092"/>
            <a:ext cx="1482455" cy="731520"/>
          </a:xfrm>
          <a:prstGeom prst="chevron">
            <a:avLst/>
          </a:prstGeom>
          <a:solidFill>
            <a:schemeClr val="accent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353" name="Chevron 12">
            <a:extLst>
              <a:ext uri="{FF2B5EF4-FFF2-40B4-BE49-F238E27FC236}">
                <a16:creationId xmlns:a16="http://schemas.microsoft.com/office/drawing/2014/main" id="{4734BA7D-D5B4-15DE-E6B2-03A372158F7F}"/>
              </a:ext>
            </a:extLst>
          </p:cNvPr>
          <p:cNvSpPr/>
          <p:nvPr/>
        </p:nvSpPr>
        <p:spPr>
          <a:xfrm>
            <a:off x="5916980" y="1840092"/>
            <a:ext cx="1482455" cy="731520"/>
          </a:xfrm>
          <a:prstGeom prst="chevron">
            <a:avLst/>
          </a:prstGeom>
          <a:solidFill>
            <a:schemeClr val="accent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354" name="Chevron 11">
            <a:extLst>
              <a:ext uri="{FF2B5EF4-FFF2-40B4-BE49-F238E27FC236}">
                <a16:creationId xmlns:a16="http://schemas.microsoft.com/office/drawing/2014/main" id="{394E8B7C-CBBB-1A12-4306-5A441E1EEA9D}"/>
              </a:ext>
            </a:extLst>
          </p:cNvPr>
          <p:cNvSpPr/>
          <p:nvPr/>
        </p:nvSpPr>
        <p:spPr>
          <a:xfrm>
            <a:off x="4757020" y="1840092"/>
            <a:ext cx="1482455" cy="731520"/>
          </a:xfrm>
          <a:prstGeom prst="chevron">
            <a:avLst/>
          </a:prstGeom>
          <a:solidFill>
            <a:schemeClr val="accent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355" name="Chevron 13">
            <a:extLst>
              <a:ext uri="{FF2B5EF4-FFF2-40B4-BE49-F238E27FC236}">
                <a16:creationId xmlns:a16="http://schemas.microsoft.com/office/drawing/2014/main" id="{EB635053-C38A-55EE-802F-AC6DA46611CC}"/>
              </a:ext>
            </a:extLst>
          </p:cNvPr>
          <p:cNvSpPr/>
          <p:nvPr/>
        </p:nvSpPr>
        <p:spPr>
          <a:xfrm>
            <a:off x="8236902" y="1840092"/>
            <a:ext cx="1482455" cy="731520"/>
          </a:xfrm>
          <a:prstGeom prst="chevron">
            <a:avLst/>
          </a:prstGeom>
          <a:solidFill>
            <a:schemeClr val="tx2">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356" name="テキスト ボックス 355">
            <a:extLst>
              <a:ext uri="{FF2B5EF4-FFF2-40B4-BE49-F238E27FC236}">
                <a16:creationId xmlns:a16="http://schemas.microsoft.com/office/drawing/2014/main" id="{473AD700-DED1-D270-A19A-6794676F7FBF}"/>
              </a:ext>
            </a:extLst>
          </p:cNvPr>
          <p:cNvSpPr txBox="1"/>
          <p:nvPr/>
        </p:nvSpPr>
        <p:spPr>
          <a:xfrm>
            <a:off x="1594177" y="1990408"/>
            <a:ext cx="811635" cy="430887"/>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サイト</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離脱</a:t>
            </a:r>
          </a:p>
        </p:txBody>
      </p:sp>
      <p:sp>
        <p:nvSpPr>
          <p:cNvPr id="357" name="テキスト ボックス 356">
            <a:extLst>
              <a:ext uri="{FF2B5EF4-FFF2-40B4-BE49-F238E27FC236}">
                <a16:creationId xmlns:a16="http://schemas.microsoft.com/office/drawing/2014/main" id="{8D0682B5-5691-0BAD-1DEA-C5B42E971AE4}"/>
              </a:ext>
            </a:extLst>
          </p:cNvPr>
          <p:cNvSpPr txBox="1"/>
          <p:nvPr/>
        </p:nvSpPr>
        <p:spPr>
          <a:xfrm>
            <a:off x="2765459" y="2075045"/>
            <a:ext cx="811635" cy="261610"/>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育成</a:t>
            </a:r>
          </a:p>
        </p:txBody>
      </p:sp>
      <p:sp>
        <p:nvSpPr>
          <p:cNvPr id="358" name="テキスト ボックス 357">
            <a:extLst>
              <a:ext uri="{FF2B5EF4-FFF2-40B4-BE49-F238E27FC236}">
                <a16:creationId xmlns:a16="http://schemas.microsoft.com/office/drawing/2014/main" id="{58A1D426-1AFD-A9B8-69FC-8C2417EF20DC}"/>
              </a:ext>
            </a:extLst>
          </p:cNvPr>
          <p:cNvSpPr txBox="1"/>
          <p:nvPr/>
        </p:nvSpPr>
        <p:spPr>
          <a:xfrm>
            <a:off x="422895" y="2075045"/>
            <a:ext cx="811635" cy="261610"/>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接触</a:t>
            </a:r>
          </a:p>
        </p:txBody>
      </p:sp>
      <p:sp>
        <p:nvSpPr>
          <p:cNvPr id="359" name="テキスト ボックス 358">
            <a:extLst>
              <a:ext uri="{FF2B5EF4-FFF2-40B4-BE49-F238E27FC236}">
                <a16:creationId xmlns:a16="http://schemas.microsoft.com/office/drawing/2014/main" id="{805EA854-7800-18C4-DB2F-0B1684AFD649}"/>
              </a:ext>
            </a:extLst>
          </p:cNvPr>
          <p:cNvSpPr txBox="1"/>
          <p:nvPr/>
        </p:nvSpPr>
        <p:spPr>
          <a:xfrm>
            <a:off x="7398333" y="2075045"/>
            <a:ext cx="982079" cy="261610"/>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マネタイズ</a:t>
            </a:r>
          </a:p>
        </p:txBody>
      </p:sp>
      <p:sp>
        <p:nvSpPr>
          <p:cNvPr id="360" name="テキスト ボックス 359">
            <a:extLst>
              <a:ext uri="{FF2B5EF4-FFF2-40B4-BE49-F238E27FC236}">
                <a16:creationId xmlns:a16="http://schemas.microsoft.com/office/drawing/2014/main" id="{1DCB6D4B-003C-2B81-10F1-B8085D0EF871}"/>
              </a:ext>
            </a:extLst>
          </p:cNvPr>
          <p:cNvSpPr txBox="1"/>
          <p:nvPr/>
        </p:nvSpPr>
        <p:spPr>
          <a:xfrm>
            <a:off x="3936741" y="1990408"/>
            <a:ext cx="811635" cy="430887"/>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リード</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獲得</a:t>
            </a:r>
          </a:p>
        </p:txBody>
      </p:sp>
      <p:sp>
        <p:nvSpPr>
          <p:cNvPr id="361" name="テキスト ボックス 360">
            <a:extLst>
              <a:ext uri="{FF2B5EF4-FFF2-40B4-BE49-F238E27FC236}">
                <a16:creationId xmlns:a16="http://schemas.microsoft.com/office/drawing/2014/main" id="{5694FDD1-6764-7963-230E-B55B3C5E6AE8}"/>
              </a:ext>
            </a:extLst>
          </p:cNvPr>
          <p:cNvSpPr txBox="1"/>
          <p:nvPr/>
        </p:nvSpPr>
        <p:spPr>
          <a:xfrm>
            <a:off x="5108023" y="1990407"/>
            <a:ext cx="811635" cy="430887"/>
          </a:xfrm>
          <a:prstGeom prst="rect">
            <a:avLst/>
          </a:prstGeom>
          <a:solidFill>
            <a:schemeClr val="accent1">
              <a:lumMod val="75000"/>
            </a:schemeClr>
          </a:solid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有効</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リード化</a:t>
            </a:r>
          </a:p>
        </p:txBody>
      </p:sp>
      <p:sp>
        <p:nvSpPr>
          <p:cNvPr id="362" name="テキスト ボックス 361">
            <a:extLst>
              <a:ext uri="{FF2B5EF4-FFF2-40B4-BE49-F238E27FC236}">
                <a16:creationId xmlns:a16="http://schemas.microsoft.com/office/drawing/2014/main" id="{4FFDA1D0-E62A-A391-F7C2-2B8A8B4FAC30}"/>
              </a:ext>
            </a:extLst>
          </p:cNvPr>
          <p:cNvSpPr txBox="1"/>
          <p:nvPr/>
        </p:nvSpPr>
        <p:spPr>
          <a:xfrm>
            <a:off x="6279305" y="1990408"/>
            <a:ext cx="811635" cy="430887"/>
          </a:xfrm>
          <a:prstGeom prst="rect">
            <a:avLst/>
          </a:prstGeom>
          <a:solidFill>
            <a:schemeClr val="accent1">
              <a:lumMod val="75000"/>
            </a:schemeClr>
          </a:solid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リード</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再育成</a:t>
            </a:r>
          </a:p>
        </p:txBody>
      </p:sp>
      <p:sp>
        <p:nvSpPr>
          <p:cNvPr id="363" name="テキスト ボックス 362">
            <a:extLst>
              <a:ext uri="{FF2B5EF4-FFF2-40B4-BE49-F238E27FC236}">
                <a16:creationId xmlns:a16="http://schemas.microsoft.com/office/drawing/2014/main" id="{950238DC-BC8D-67A5-9664-2467CA1CCC24}"/>
              </a:ext>
            </a:extLst>
          </p:cNvPr>
          <p:cNvSpPr txBox="1"/>
          <p:nvPr/>
        </p:nvSpPr>
        <p:spPr>
          <a:xfrm>
            <a:off x="8565884" y="1990407"/>
            <a:ext cx="982079" cy="430887"/>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リピート</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クロスセル</a:t>
            </a:r>
          </a:p>
        </p:txBody>
      </p:sp>
      <p:sp>
        <p:nvSpPr>
          <p:cNvPr id="392" name="正方形/長方形 391">
            <a:extLst>
              <a:ext uri="{FF2B5EF4-FFF2-40B4-BE49-F238E27FC236}">
                <a16:creationId xmlns:a16="http://schemas.microsoft.com/office/drawing/2014/main" id="{F2695BAE-49A0-C99D-85EB-9666DE14C4B0}"/>
              </a:ext>
            </a:extLst>
          </p:cNvPr>
          <p:cNvSpPr/>
          <p:nvPr/>
        </p:nvSpPr>
        <p:spPr>
          <a:xfrm>
            <a:off x="134519" y="2643132"/>
            <a:ext cx="9687414" cy="1895567"/>
          </a:xfrm>
          <a:prstGeom prst="rect">
            <a:avLst/>
          </a:prstGeom>
          <a:solidFill>
            <a:schemeClr val="bg1">
              <a:lumMod val="95000"/>
              <a:alpha val="3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tLang="ja-JP" sz="1400" dirty="0">
              <a:solidFill>
                <a:schemeClr val="tx1"/>
              </a:solidFill>
              <a:latin typeface="メイリオ" panose="020B0604030504040204" pitchFamily="50" charset="-128"/>
              <a:ea typeface="メイリオ" panose="020B0604030504040204" pitchFamily="50" charset="-128"/>
            </a:endParaRPr>
          </a:p>
        </p:txBody>
      </p:sp>
      <p:sp>
        <p:nvSpPr>
          <p:cNvPr id="399" name="正方形/長方形 398">
            <a:extLst>
              <a:ext uri="{FF2B5EF4-FFF2-40B4-BE49-F238E27FC236}">
                <a16:creationId xmlns:a16="http://schemas.microsoft.com/office/drawing/2014/main" id="{0D7E2DB9-3642-9C9A-E851-E5DD52315F1D}"/>
              </a:ext>
            </a:extLst>
          </p:cNvPr>
          <p:cNvSpPr/>
          <p:nvPr/>
        </p:nvSpPr>
        <p:spPr>
          <a:xfrm>
            <a:off x="2646720" y="4590888"/>
            <a:ext cx="7175212" cy="1895567"/>
          </a:xfrm>
          <a:prstGeom prst="rect">
            <a:avLst/>
          </a:prstGeom>
          <a:solidFill>
            <a:schemeClr val="bg1">
              <a:lumMod val="95000"/>
              <a:alpha val="3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tLang="ja-JP" sz="1400" dirty="0">
              <a:solidFill>
                <a:schemeClr val="tx1"/>
              </a:solidFill>
              <a:latin typeface="メイリオ" panose="020B0604030504040204" pitchFamily="50" charset="-128"/>
              <a:ea typeface="メイリオ" panose="020B0604030504040204" pitchFamily="50" charset="-128"/>
            </a:endParaRPr>
          </a:p>
        </p:txBody>
      </p:sp>
      <p:cxnSp>
        <p:nvCxnSpPr>
          <p:cNvPr id="428" name="直線矢印コネクタ 427">
            <a:extLst>
              <a:ext uri="{FF2B5EF4-FFF2-40B4-BE49-F238E27FC236}">
                <a16:creationId xmlns:a16="http://schemas.microsoft.com/office/drawing/2014/main" id="{4DD36FC2-6468-F5B5-EFB8-BBFB2CF7F452}"/>
              </a:ext>
            </a:extLst>
          </p:cNvPr>
          <p:cNvCxnSpPr>
            <a:cxnSpLocks/>
          </p:cNvCxnSpPr>
          <p:nvPr/>
        </p:nvCxnSpPr>
        <p:spPr>
          <a:xfrm>
            <a:off x="3366878" y="3750175"/>
            <a:ext cx="2037075"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429" name="テキスト ボックス 428">
            <a:extLst>
              <a:ext uri="{FF2B5EF4-FFF2-40B4-BE49-F238E27FC236}">
                <a16:creationId xmlns:a16="http://schemas.microsoft.com/office/drawing/2014/main" id="{52205788-B1CC-5FF9-ED78-B6DD32267E17}"/>
              </a:ext>
            </a:extLst>
          </p:cNvPr>
          <p:cNvSpPr txBox="1"/>
          <p:nvPr/>
        </p:nvSpPr>
        <p:spPr>
          <a:xfrm>
            <a:off x="3735917" y="3616391"/>
            <a:ext cx="1288637" cy="230832"/>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ja-JP" altLang="en-US" sz="900" b="1" dirty="0">
                <a:latin typeface="メイリオ" panose="020B0604030504040204" pitchFamily="50" charset="-128"/>
                <a:ea typeface="メイリオ" panose="020B0604030504040204" pitchFamily="50" charset="-128"/>
                <a:cs typeface="Meiryo"/>
                <a:sym typeface="Meiryo"/>
              </a:rPr>
              <a:t>通知メッセージ</a:t>
            </a:r>
            <a:endParaRPr lang="ja-JP" altLang="en-US" sz="900" b="1" dirty="0"/>
          </a:p>
        </p:txBody>
      </p:sp>
      <p:cxnSp>
        <p:nvCxnSpPr>
          <p:cNvPr id="430" name="直線矢印コネクタ 429">
            <a:extLst>
              <a:ext uri="{FF2B5EF4-FFF2-40B4-BE49-F238E27FC236}">
                <a16:creationId xmlns:a16="http://schemas.microsoft.com/office/drawing/2014/main" id="{923E43E2-8157-8C38-4A7C-C186793E6650}"/>
              </a:ext>
            </a:extLst>
          </p:cNvPr>
          <p:cNvCxnSpPr>
            <a:cxnSpLocks/>
          </p:cNvCxnSpPr>
          <p:nvPr/>
        </p:nvCxnSpPr>
        <p:spPr>
          <a:xfrm>
            <a:off x="3366878" y="4003408"/>
            <a:ext cx="2037075"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431" name="テキスト ボックス 430">
            <a:extLst>
              <a:ext uri="{FF2B5EF4-FFF2-40B4-BE49-F238E27FC236}">
                <a16:creationId xmlns:a16="http://schemas.microsoft.com/office/drawing/2014/main" id="{9B46B511-7630-9D21-552D-BAD1DCEC8387}"/>
              </a:ext>
            </a:extLst>
          </p:cNvPr>
          <p:cNvSpPr txBox="1"/>
          <p:nvPr/>
        </p:nvSpPr>
        <p:spPr>
          <a:xfrm>
            <a:off x="3735917" y="3869624"/>
            <a:ext cx="1288637" cy="230832"/>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ja-JP" altLang="en-US" sz="900" b="1" dirty="0">
                <a:latin typeface="メイリオ" panose="020B0604030504040204" pitchFamily="50" charset="-128"/>
                <a:ea typeface="メイリオ" panose="020B0604030504040204" pitchFamily="50" charset="-128"/>
                <a:cs typeface="Meiryo"/>
                <a:sym typeface="Meiryo"/>
              </a:rPr>
              <a:t>サンクス</a:t>
            </a:r>
            <a:r>
              <a:rPr lang="en-US" altLang="ja-JP" sz="900" b="1" dirty="0">
                <a:latin typeface="メイリオ" panose="020B0604030504040204" pitchFamily="50" charset="-128"/>
                <a:ea typeface="メイリオ" panose="020B0604030504040204" pitchFamily="50" charset="-128"/>
                <a:cs typeface="Meiryo"/>
                <a:sym typeface="Meiryo"/>
              </a:rPr>
              <a:t>LINE</a:t>
            </a:r>
            <a:r>
              <a:rPr lang="ja-JP" altLang="en-US" sz="900" b="1" dirty="0">
                <a:latin typeface="メイリオ" panose="020B0604030504040204" pitchFamily="50" charset="-128"/>
                <a:ea typeface="メイリオ" panose="020B0604030504040204" pitchFamily="50" charset="-128"/>
                <a:cs typeface="Meiryo"/>
                <a:sym typeface="Meiryo"/>
              </a:rPr>
              <a:t>誘導</a:t>
            </a:r>
            <a:endParaRPr lang="ja-JP" altLang="en-US" sz="900" b="1" dirty="0"/>
          </a:p>
        </p:txBody>
      </p:sp>
      <p:cxnSp>
        <p:nvCxnSpPr>
          <p:cNvPr id="432" name="直線矢印コネクタ 431">
            <a:extLst>
              <a:ext uri="{FF2B5EF4-FFF2-40B4-BE49-F238E27FC236}">
                <a16:creationId xmlns:a16="http://schemas.microsoft.com/office/drawing/2014/main" id="{64D8562C-014D-DFB4-2D01-7479448659D1}"/>
              </a:ext>
            </a:extLst>
          </p:cNvPr>
          <p:cNvCxnSpPr>
            <a:cxnSpLocks/>
          </p:cNvCxnSpPr>
          <p:nvPr/>
        </p:nvCxnSpPr>
        <p:spPr>
          <a:xfrm>
            <a:off x="1275980" y="3570877"/>
            <a:ext cx="2037075"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433" name="テキスト ボックス 432">
            <a:extLst>
              <a:ext uri="{FF2B5EF4-FFF2-40B4-BE49-F238E27FC236}">
                <a16:creationId xmlns:a16="http://schemas.microsoft.com/office/drawing/2014/main" id="{540E1D19-5457-9319-2789-430F63EC5A42}"/>
              </a:ext>
            </a:extLst>
          </p:cNvPr>
          <p:cNvSpPr txBox="1"/>
          <p:nvPr/>
        </p:nvSpPr>
        <p:spPr>
          <a:xfrm>
            <a:off x="1645019" y="3437093"/>
            <a:ext cx="1288637" cy="230832"/>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ja-JP" altLang="en-US" sz="900" b="1" dirty="0">
                <a:latin typeface="メイリオ" panose="020B0604030504040204" pitchFamily="50" charset="-128"/>
                <a:ea typeface="メイリオ" panose="020B0604030504040204" pitchFamily="50" charset="-128"/>
                <a:cs typeface="Meiryo"/>
                <a:sym typeface="Meiryo"/>
              </a:rPr>
              <a:t>通知メッセージ</a:t>
            </a:r>
            <a:endParaRPr lang="ja-JP" altLang="en-US" sz="900" b="1" dirty="0"/>
          </a:p>
        </p:txBody>
      </p:sp>
      <p:cxnSp>
        <p:nvCxnSpPr>
          <p:cNvPr id="434" name="直線矢印コネクタ 433">
            <a:extLst>
              <a:ext uri="{FF2B5EF4-FFF2-40B4-BE49-F238E27FC236}">
                <a16:creationId xmlns:a16="http://schemas.microsoft.com/office/drawing/2014/main" id="{490155E9-25FB-3090-382A-CA0B7F87F965}"/>
              </a:ext>
            </a:extLst>
          </p:cNvPr>
          <p:cNvCxnSpPr>
            <a:cxnSpLocks/>
          </p:cNvCxnSpPr>
          <p:nvPr/>
        </p:nvCxnSpPr>
        <p:spPr>
          <a:xfrm>
            <a:off x="1275980" y="3802022"/>
            <a:ext cx="2037075"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435" name="テキスト ボックス 434">
            <a:extLst>
              <a:ext uri="{FF2B5EF4-FFF2-40B4-BE49-F238E27FC236}">
                <a16:creationId xmlns:a16="http://schemas.microsoft.com/office/drawing/2014/main" id="{08D35021-E114-E4DF-FF22-BF7BE0CDF4D8}"/>
              </a:ext>
            </a:extLst>
          </p:cNvPr>
          <p:cNvSpPr txBox="1"/>
          <p:nvPr/>
        </p:nvSpPr>
        <p:spPr>
          <a:xfrm>
            <a:off x="1645019" y="3668238"/>
            <a:ext cx="1288637" cy="230832"/>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ja-JP" altLang="en-US" sz="900" b="1" dirty="0">
                <a:latin typeface="メイリオ" panose="020B0604030504040204" pitchFamily="50" charset="-128"/>
                <a:ea typeface="メイリオ" panose="020B0604030504040204" pitchFamily="50" charset="-128"/>
              </a:rPr>
              <a:t>サイト動線の整備</a:t>
            </a:r>
          </a:p>
        </p:txBody>
      </p:sp>
      <p:cxnSp>
        <p:nvCxnSpPr>
          <p:cNvPr id="436" name="直線矢印コネクタ 435">
            <a:extLst>
              <a:ext uri="{FF2B5EF4-FFF2-40B4-BE49-F238E27FC236}">
                <a16:creationId xmlns:a16="http://schemas.microsoft.com/office/drawing/2014/main" id="{6840C346-E790-A413-26C5-79129D6F5FB7}"/>
              </a:ext>
            </a:extLst>
          </p:cNvPr>
          <p:cNvCxnSpPr>
            <a:cxnSpLocks/>
          </p:cNvCxnSpPr>
          <p:nvPr/>
        </p:nvCxnSpPr>
        <p:spPr>
          <a:xfrm>
            <a:off x="3825040" y="3439859"/>
            <a:ext cx="2037075"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437" name="テキスト ボックス 436">
            <a:extLst>
              <a:ext uri="{FF2B5EF4-FFF2-40B4-BE49-F238E27FC236}">
                <a16:creationId xmlns:a16="http://schemas.microsoft.com/office/drawing/2014/main" id="{715CC99E-9A08-159E-0120-31020FC33D0F}"/>
              </a:ext>
            </a:extLst>
          </p:cNvPr>
          <p:cNvSpPr txBox="1"/>
          <p:nvPr/>
        </p:nvSpPr>
        <p:spPr>
          <a:xfrm>
            <a:off x="4194079" y="3306075"/>
            <a:ext cx="1288637" cy="230832"/>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ja-JP" altLang="en-US" sz="900" b="1" dirty="0">
                <a:latin typeface="メイリオ" panose="020B0604030504040204" pitchFamily="50" charset="-128"/>
                <a:ea typeface="メイリオ" panose="020B0604030504040204" pitchFamily="50" charset="-128"/>
                <a:cs typeface="Meiryo"/>
                <a:sym typeface="Meiryo"/>
              </a:rPr>
              <a:t>既存リストの活用</a:t>
            </a:r>
            <a:endParaRPr lang="en-US" altLang="ja-JP" sz="900" b="1" dirty="0">
              <a:latin typeface="メイリオ" panose="020B0604030504040204" pitchFamily="50" charset="-128"/>
              <a:ea typeface="メイリオ" panose="020B0604030504040204" pitchFamily="50" charset="-128"/>
              <a:cs typeface="Meiryo"/>
              <a:sym typeface="Meiryo"/>
            </a:endParaRPr>
          </a:p>
        </p:txBody>
      </p:sp>
      <p:cxnSp>
        <p:nvCxnSpPr>
          <p:cNvPr id="438" name="直線矢印コネクタ 437">
            <a:extLst>
              <a:ext uri="{FF2B5EF4-FFF2-40B4-BE49-F238E27FC236}">
                <a16:creationId xmlns:a16="http://schemas.microsoft.com/office/drawing/2014/main" id="{C26FDFF8-ECDB-0D20-5A53-4F74EF6D93F8}"/>
              </a:ext>
            </a:extLst>
          </p:cNvPr>
          <p:cNvCxnSpPr>
            <a:cxnSpLocks/>
          </p:cNvCxnSpPr>
          <p:nvPr/>
        </p:nvCxnSpPr>
        <p:spPr>
          <a:xfrm>
            <a:off x="5418772" y="3746239"/>
            <a:ext cx="2037075"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439" name="テキスト ボックス 438">
            <a:extLst>
              <a:ext uri="{FF2B5EF4-FFF2-40B4-BE49-F238E27FC236}">
                <a16:creationId xmlns:a16="http://schemas.microsoft.com/office/drawing/2014/main" id="{03517788-8A00-3CE9-B8A0-DC9904CB9E29}"/>
              </a:ext>
            </a:extLst>
          </p:cNvPr>
          <p:cNvSpPr txBox="1"/>
          <p:nvPr/>
        </p:nvSpPr>
        <p:spPr>
          <a:xfrm>
            <a:off x="5787811" y="3612455"/>
            <a:ext cx="1288637" cy="230832"/>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ja-JP" altLang="en-US" sz="900" b="1" dirty="0">
                <a:latin typeface="メイリオ" panose="020B0604030504040204" pitchFamily="50" charset="-128"/>
                <a:ea typeface="メイリオ" panose="020B0604030504040204" pitchFamily="50" charset="-128"/>
                <a:cs typeface="Meiryo"/>
                <a:sym typeface="Meiryo"/>
              </a:rPr>
              <a:t>通知メッセージ</a:t>
            </a:r>
            <a:endParaRPr lang="ja-JP" altLang="en-US" sz="900" b="1" dirty="0"/>
          </a:p>
        </p:txBody>
      </p:sp>
      <p:cxnSp>
        <p:nvCxnSpPr>
          <p:cNvPr id="440" name="直線矢印コネクタ 439">
            <a:extLst>
              <a:ext uri="{FF2B5EF4-FFF2-40B4-BE49-F238E27FC236}">
                <a16:creationId xmlns:a16="http://schemas.microsoft.com/office/drawing/2014/main" id="{8A08B47D-236B-D58F-E880-0E520352BC81}"/>
              </a:ext>
            </a:extLst>
          </p:cNvPr>
          <p:cNvCxnSpPr>
            <a:cxnSpLocks/>
          </p:cNvCxnSpPr>
          <p:nvPr/>
        </p:nvCxnSpPr>
        <p:spPr>
          <a:xfrm>
            <a:off x="5418772" y="4009075"/>
            <a:ext cx="2037075"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441" name="テキスト ボックス 440">
            <a:extLst>
              <a:ext uri="{FF2B5EF4-FFF2-40B4-BE49-F238E27FC236}">
                <a16:creationId xmlns:a16="http://schemas.microsoft.com/office/drawing/2014/main" id="{8376E216-AB77-BC34-74BE-9C14746155C3}"/>
              </a:ext>
            </a:extLst>
          </p:cNvPr>
          <p:cNvSpPr txBox="1"/>
          <p:nvPr/>
        </p:nvSpPr>
        <p:spPr>
          <a:xfrm>
            <a:off x="5787811" y="3875291"/>
            <a:ext cx="1288637" cy="230832"/>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ja-JP" altLang="en-US" sz="900" b="1" dirty="0">
                <a:latin typeface="メイリオ" panose="020B0604030504040204" pitchFamily="50" charset="-128"/>
                <a:ea typeface="メイリオ" panose="020B0604030504040204" pitchFamily="50" charset="-128"/>
                <a:cs typeface="Meiryo"/>
                <a:sym typeface="Meiryo"/>
              </a:rPr>
              <a:t>サンクス</a:t>
            </a:r>
            <a:r>
              <a:rPr lang="en-US" altLang="ja-JP" sz="900" b="1" dirty="0">
                <a:latin typeface="メイリオ" panose="020B0604030504040204" pitchFamily="50" charset="-128"/>
                <a:ea typeface="メイリオ" panose="020B0604030504040204" pitchFamily="50" charset="-128"/>
                <a:cs typeface="Meiryo"/>
                <a:sym typeface="Meiryo"/>
              </a:rPr>
              <a:t>LINE</a:t>
            </a:r>
            <a:r>
              <a:rPr lang="ja-JP" altLang="en-US" sz="900" b="1" dirty="0">
                <a:latin typeface="メイリオ" panose="020B0604030504040204" pitchFamily="50" charset="-128"/>
                <a:ea typeface="メイリオ" panose="020B0604030504040204" pitchFamily="50" charset="-128"/>
                <a:cs typeface="Meiryo"/>
                <a:sym typeface="Meiryo"/>
              </a:rPr>
              <a:t>誘導</a:t>
            </a:r>
            <a:endParaRPr lang="ja-JP" altLang="en-US" sz="900" b="1" dirty="0"/>
          </a:p>
        </p:txBody>
      </p:sp>
      <p:cxnSp>
        <p:nvCxnSpPr>
          <p:cNvPr id="442" name="直線矢印コネクタ 441">
            <a:extLst>
              <a:ext uri="{FF2B5EF4-FFF2-40B4-BE49-F238E27FC236}">
                <a16:creationId xmlns:a16="http://schemas.microsoft.com/office/drawing/2014/main" id="{D6F7AD1E-A403-6C2E-4207-BA25C2D7BCC6}"/>
              </a:ext>
            </a:extLst>
          </p:cNvPr>
          <p:cNvCxnSpPr>
            <a:cxnSpLocks/>
          </p:cNvCxnSpPr>
          <p:nvPr/>
        </p:nvCxnSpPr>
        <p:spPr>
          <a:xfrm>
            <a:off x="675354" y="4048370"/>
            <a:ext cx="1503674"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443" name="テキスト ボックス 442">
            <a:extLst>
              <a:ext uri="{FF2B5EF4-FFF2-40B4-BE49-F238E27FC236}">
                <a16:creationId xmlns:a16="http://schemas.microsoft.com/office/drawing/2014/main" id="{7D798DBD-5393-6131-8034-EC789105D05B}"/>
              </a:ext>
            </a:extLst>
          </p:cNvPr>
          <p:cNvSpPr txBox="1"/>
          <p:nvPr/>
        </p:nvSpPr>
        <p:spPr>
          <a:xfrm>
            <a:off x="908229" y="3944309"/>
            <a:ext cx="1095075" cy="230832"/>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en-US" altLang="ja-JP" sz="900" dirty="0">
                <a:solidFill>
                  <a:schemeClr val="tx1">
                    <a:lumMod val="50000"/>
                    <a:lumOff val="50000"/>
                  </a:schemeClr>
                </a:solidFill>
                <a:latin typeface="メイリオ" panose="020B0604030504040204" pitchFamily="50" charset="-128"/>
                <a:ea typeface="メイリオ" panose="020B0604030504040204" pitchFamily="50" charset="-128"/>
                <a:cs typeface="Meiryo"/>
                <a:sym typeface="Meiryo"/>
              </a:rPr>
              <a:t>SNS/</a:t>
            </a:r>
            <a:r>
              <a:rPr lang="ja-JP" altLang="en-US" sz="900" dirty="0">
                <a:solidFill>
                  <a:schemeClr val="tx1">
                    <a:lumMod val="50000"/>
                    <a:lumOff val="50000"/>
                  </a:schemeClr>
                </a:solidFill>
                <a:latin typeface="メイリオ" panose="020B0604030504040204" pitchFamily="50" charset="-128"/>
                <a:ea typeface="メイリオ" panose="020B0604030504040204" pitchFamily="50" charset="-128"/>
                <a:cs typeface="Meiryo"/>
                <a:sym typeface="Meiryo"/>
              </a:rPr>
              <a:t>メルマガ</a:t>
            </a:r>
            <a:endParaRPr lang="ja-JP" altLang="en-US" sz="900" dirty="0">
              <a:solidFill>
                <a:schemeClr val="tx1">
                  <a:lumMod val="50000"/>
                  <a:lumOff val="50000"/>
                </a:schemeClr>
              </a:solidFill>
            </a:endParaRPr>
          </a:p>
        </p:txBody>
      </p:sp>
      <p:cxnSp>
        <p:nvCxnSpPr>
          <p:cNvPr id="444" name="直線矢印コネクタ 443">
            <a:extLst>
              <a:ext uri="{FF2B5EF4-FFF2-40B4-BE49-F238E27FC236}">
                <a16:creationId xmlns:a16="http://schemas.microsoft.com/office/drawing/2014/main" id="{527AED14-C910-4D3E-987F-EA62ABD18D90}"/>
              </a:ext>
            </a:extLst>
          </p:cNvPr>
          <p:cNvCxnSpPr>
            <a:cxnSpLocks/>
          </p:cNvCxnSpPr>
          <p:nvPr/>
        </p:nvCxnSpPr>
        <p:spPr>
          <a:xfrm>
            <a:off x="672248" y="4315115"/>
            <a:ext cx="1503674"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445" name="テキスト ボックス 444">
            <a:extLst>
              <a:ext uri="{FF2B5EF4-FFF2-40B4-BE49-F238E27FC236}">
                <a16:creationId xmlns:a16="http://schemas.microsoft.com/office/drawing/2014/main" id="{9644DD32-D05B-DE83-7791-37895274BDE9}"/>
              </a:ext>
            </a:extLst>
          </p:cNvPr>
          <p:cNvSpPr txBox="1"/>
          <p:nvPr/>
        </p:nvSpPr>
        <p:spPr>
          <a:xfrm>
            <a:off x="894117" y="4203750"/>
            <a:ext cx="1117086" cy="231238"/>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ja-JP" altLang="en-US" sz="800" dirty="0">
                <a:solidFill>
                  <a:schemeClr val="tx1">
                    <a:lumMod val="50000"/>
                    <a:lumOff val="50000"/>
                  </a:schemeClr>
                </a:solidFill>
                <a:latin typeface="メイリオ" panose="020B0604030504040204" pitchFamily="50" charset="-128"/>
                <a:ea typeface="メイリオ" panose="020B0604030504040204" pitchFamily="50" charset="-128"/>
                <a:cs typeface="Meiryo"/>
                <a:sym typeface="Meiryo"/>
              </a:rPr>
              <a:t>店内ポップ・チラシ</a:t>
            </a:r>
            <a:endParaRPr lang="ja-JP" altLang="en-US" sz="800" dirty="0">
              <a:solidFill>
                <a:schemeClr val="tx1">
                  <a:lumMod val="50000"/>
                  <a:lumOff val="50000"/>
                </a:schemeClr>
              </a:solidFill>
            </a:endParaRPr>
          </a:p>
        </p:txBody>
      </p:sp>
      <p:cxnSp>
        <p:nvCxnSpPr>
          <p:cNvPr id="446" name="直線矢印コネクタ 445">
            <a:extLst>
              <a:ext uri="{FF2B5EF4-FFF2-40B4-BE49-F238E27FC236}">
                <a16:creationId xmlns:a16="http://schemas.microsoft.com/office/drawing/2014/main" id="{D3D532EE-6712-DE63-E452-E8BEAA167260}"/>
              </a:ext>
            </a:extLst>
          </p:cNvPr>
          <p:cNvCxnSpPr>
            <a:cxnSpLocks/>
          </p:cNvCxnSpPr>
          <p:nvPr/>
        </p:nvCxnSpPr>
        <p:spPr>
          <a:xfrm>
            <a:off x="7458966" y="3862297"/>
            <a:ext cx="2184020"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447" name="テキスト ボックス 446">
            <a:extLst>
              <a:ext uri="{FF2B5EF4-FFF2-40B4-BE49-F238E27FC236}">
                <a16:creationId xmlns:a16="http://schemas.microsoft.com/office/drawing/2014/main" id="{DCDD6E46-B8C3-8536-41F9-F39EB73CBD24}"/>
              </a:ext>
            </a:extLst>
          </p:cNvPr>
          <p:cNvSpPr txBox="1"/>
          <p:nvPr/>
        </p:nvSpPr>
        <p:spPr>
          <a:xfrm>
            <a:off x="8013302" y="3728513"/>
            <a:ext cx="1064989" cy="230832"/>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en-US" altLang="ja-JP" sz="900" b="1" dirty="0">
                <a:solidFill>
                  <a:schemeClr val="tx1">
                    <a:lumMod val="50000"/>
                    <a:lumOff val="50000"/>
                  </a:schemeClr>
                </a:solidFill>
                <a:latin typeface="メイリオ" panose="020B0604030504040204" pitchFamily="50" charset="-128"/>
                <a:ea typeface="メイリオ" panose="020B0604030504040204" pitchFamily="50" charset="-128"/>
                <a:cs typeface="Meiryo"/>
                <a:sym typeface="Meiryo"/>
              </a:rPr>
              <a:t>ID</a:t>
            </a:r>
            <a:r>
              <a:rPr lang="ja-JP" altLang="en-US" sz="900" b="1" dirty="0">
                <a:solidFill>
                  <a:schemeClr val="tx1">
                    <a:lumMod val="50000"/>
                    <a:lumOff val="50000"/>
                  </a:schemeClr>
                </a:solidFill>
                <a:latin typeface="メイリオ" panose="020B0604030504040204" pitchFamily="50" charset="-128"/>
                <a:ea typeface="メイリオ" panose="020B0604030504040204" pitchFamily="50" charset="-128"/>
                <a:cs typeface="Meiryo"/>
                <a:sym typeface="Meiryo"/>
              </a:rPr>
              <a:t>・</a:t>
            </a:r>
            <a:r>
              <a:rPr lang="en-US" altLang="ja-JP" sz="900" b="1" dirty="0">
                <a:solidFill>
                  <a:schemeClr val="tx1">
                    <a:lumMod val="50000"/>
                    <a:lumOff val="50000"/>
                  </a:schemeClr>
                </a:solidFill>
                <a:latin typeface="メイリオ" panose="020B0604030504040204" pitchFamily="50" charset="-128"/>
                <a:ea typeface="メイリオ" panose="020B0604030504040204" pitchFamily="50" charset="-128"/>
                <a:cs typeface="Meiryo"/>
                <a:sym typeface="Meiryo"/>
              </a:rPr>
              <a:t>CRM</a:t>
            </a:r>
            <a:r>
              <a:rPr lang="ja-JP" altLang="en-US" sz="900" b="1" dirty="0">
                <a:solidFill>
                  <a:schemeClr val="tx1">
                    <a:lumMod val="50000"/>
                    <a:lumOff val="50000"/>
                  </a:schemeClr>
                </a:solidFill>
                <a:latin typeface="メイリオ" panose="020B0604030504040204" pitchFamily="50" charset="-128"/>
                <a:ea typeface="メイリオ" panose="020B0604030504040204" pitchFamily="50" charset="-128"/>
                <a:cs typeface="Meiryo"/>
                <a:sym typeface="Meiryo"/>
              </a:rPr>
              <a:t>連携</a:t>
            </a:r>
            <a:endParaRPr lang="ja-JP" altLang="en-US" sz="900" b="1" dirty="0">
              <a:solidFill>
                <a:schemeClr val="tx1">
                  <a:lumMod val="50000"/>
                  <a:lumOff val="50000"/>
                </a:schemeClr>
              </a:solidFill>
            </a:endParaRPr>
          </a:p>
        </p:txBody>
      </p:sp>
      <p:cxnSp>
        <p:nvCxnSpPr>
          <p:cNvPr id="448" name="直線矢印コネクタ 447">
            <a:extLst>
              <a:ext uri="{FF2B5EF4-FFF2-40B4-BE49-F238E27FC236}">
                <a16:creationId xmlns:a16="http://schemas.microsoft.com/office/drawing/2014/main" id="{B94F8848-87A6-4A24-C2DE-D4A5BD2787D7}"/>
              </a:ext>
            </a:extLst>
          </p:cNvPr>
          <p:cNvCxnSpPr>
            <a:cxnSpLocks/>
          </p:cNvCxnSpPr>
          <p:nvPr/>
        </p:nvCxnSpPr>
        <p:spPr>
          <a:xfrm>
            <a:off x="313007" y="3382504"/>
            <a:ext cx="1242705"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449" name="テキスト ボックス 448">
            <a:extLst>
              <a:ext uri="{FF2B5EF4-FFF2-40B4-BE49-F238E27FC236}">
                <a16:creationId xmlns:a16="http://schemas.microsoft.com/office/drawing/2014/main" id="{88C02960-866B-6E8C-A752-2889BC37BC11}"/>
              </a:ext>
            </a:extLst>
          </p:cNvPr>
          <p:cNvSpPr txBox="1"/>
          <p:nvPr/>
        </p:nvSpPr>
        <p:spPr>
          <a:xfrm>
            <a:off x="588964" y="3278443"/>
            <a:ext cx="747951" cy="230832"/>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en-US" altLang="ja-JP" sz="900" b="1" dirty="0">
                <a:latin typeface="メイリオ" panose="020B0604030504040204" pitchFamily="50" charset="-128"/>
                <a:ea typeface="メイリオ" panose="020B0604030504040204" pitchFamily="50" charset="-128"/>
                <a:cs typeface="Meiryo"/>
                <a:sym typeface="Meiryo"/>
              </a:rPr>
              <a:t>CPF</a:t>
            </a:r>
            <a:r>
              <a:rPr lang="ja-JP" altLang="en-US" sz="900" b="1" dirty="0">
                <a:latin typeface="メイリオ" panose="020B0604030504040204" pitchFamily="50" charset="-128"/>
                <a:ea typeface="メイリオ" panose="020B0604030504040204" pitchFamily="50" charset="-128"/>
                <a:cs typeface="Meiryo"/>
                <a:sym typeface="Meiryo"/>
              </a:rPr>
              <a:t>広告</a:t>
            </a:r>
            <a:endParaRPr lang="ja-JP" altLang="en-US" sz="900" b="1" dirty="0"/>
          </a:p>
        </p:txBody>
      </p:sp>
      <p:cxnSp>
        <p:nvCxnSpPr>
          <p:cNvPr id="450" name="直線矢印コネクタ 449">
            <a:extLst>
              <a:ext uri="{FF2B5EF4-FFF2-40B4-BE49-F238E27FC236}">
                <a16:creationId xmlns:a16="http://schemas.microsoft.com/office/drawing/2014/main" id="{3F2ACC73-0643-27D8-F1B3-1B871FCEF141}"/>
              </a:ext>
            </a:extLst>
          </p:cNvPr>
          <p:cNvCxnSpPr>
            <a:cxnSpLocks/>
          </p:cNvCxnSpPr>
          <p:nvPr/>
        </p:nvCxnSpPr>
        <p:spPr>
          <a:xfrm>
            <a:off x="258586" y="2898668"/>
            <a:ext cx="3207836" cy="0"/>
          </a:xfrm>
          <a:prstGeom prst="straightConnector1">
            <a:avLst/>
          </a:prstGeom>
          <a:ln w="28575">
            <a:solidFill>
              <a:srgbClr val="04FA0A"/>
            </a:solidFill>
            <a:prstDash val="sysDash"/>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451" name="直線矢印コネクタ 450">
            <a:extLst>
              <a:ext uri="{FF2B5EF4-FFF2-40B4-BE49-F238E27FC236}">
                <a16:creationId xmlns:a16="http://schemas.microsoft.com/office/drawing/2014/main" id="{C2DCC080-98CE-945F-96A2-C42DE7E0C936}"/>
              </a:ext>
            </a:extLst>
          </p:cNvPr>
          <p:cNvCxnSpPr>
            <a:cxnSpLocks/>
          </p:cNvCxnSpPr>
          <p:nvPr/>
        </p:nvCxnSpPr>
        <p:spPr>
          <a:xfrm>
            <a:off x="3534258" y="2887662"/>
            <a:ext cx="2482432" cy="0"/>
          </a:xfrm>
          <a:prstGeom prst="straightConnector1">
            <a:avLst/>
          </a:prstGeom>
          <a:ln w="28575">
            <a:solidFill>
              <a:srgbClr val="04FA0A"/>
            </a:solidFill>
            <a:prstDash val="sysDash"/>
            <a:headEnd type="triangle"/>
            <a:tailEnd type="triangle"/>
          </a:ln>
        </p:spPr>
        <p:style>
          <a:lnRef idx="1">
            <a:schemeClr val="accent1"/>
          </a:lnRef>
          <a:fillRef idx="0">
            <a:schemeClr val="accent1"/>
          </a:fillRef>
          <a:effectRef idx="0">
            <a:schemeClr val="accent1"/>
          </a:effectRef>
          <a:fontRef idx="minor">
            <a:schemeClr val="tx1"/>
          </a:fontRef>
        </p:style>
      </p:cxnSp>
      <p:sp>
        <p:nvSpPr>
          <p:cNvPr id="452" name="テキスト ボックス 451">
            <a:extLst>
              <a:ext uri="{FF2B5EF4-FFF2-40B4-BE49-F238E27FC236}">
                <a16:creationId xmlns:a16="http://schemas.microsoft.com/office/drawing/2014/main" id="{46C960EE-3214-11A7-C2A3-07025A9849E3}"/>
              </a:ext>
            </a:extLst>
          </p:cNvPr>
          <p:cNvSpPr txBox="1"/>
          <p:nvPr/>
        </p:nvSpPr>
        <p:spPr>
          <a:xfrm>
            <a:off x="1262357" y="2775091"/>
            <a:ext cx="1319856" cy="230832"/>
          </a:xfrm>
          <a:prstGeom prst="rect">
            <a:avLst/>
          </a:prstGeom>
          <a:solidFill>
            <a:schemeClr val="bg1"/>
          </a:solidFill>
        </p:spPr>
        <p:txBody>
          <a:bodyPr wrap="square">
            <a:spAutoFit/>
          </a:bodyPr>
          <a:lstStyle/>
          <a:p>
            <a:pPr algn="ctr"/>
            <a:r>
              <a:rPr lang="en-US" altLang="ja-JP" sz="900" b="1" dirty="0">
                <a:latin typeface="メイリオ" panose="020B0604030504040204" pitchFamily="50" charset="-128"/>
                <a:ea typeface="メイリオ" panose="020B0604030504040204" pitchFamily="50" charset="-128"/>
                <a:cs typeface="Meiryo"/>
                <a:sym typeface="Meiryo"/>
              </a:rPr>
              <a:t>WEB</a:t>
            </a:r>
            <a:r>
              <a:rPr lang="ja-JP" altLang="en-US" sz="900" b="1" dirty="0">
                <a:latin typeface="メイリオ" panose="020B0604030504040204" pitchFamily="50" charset="-128"/>
                <a:ea typeface="メイリオ" panose="020B0604030504040204" pitchFamily="50" charset="-128"/>
                <a:cs typeface="Meiryo"/>
                <a:sym typeface="Meiryo"/>
              </a:rPr>
              <a:t>→</a:t>
            </a:r>
            <a:r>
              <a:rPr lang="en-US" altLang="ja-JP" sz="900" b="1" dirty="0">
                <a:latin typeface="メイリオ" panose="020B0604030504040204" pitchFamily="50" charset="-128"/>
                <a:ea typeface="メイリオ" panose="020B0604030504040204" pitchFamily="50" charset="-128"/>
                <a:cs typeface="Meiryo"/>
                <a:sym typeface="Meiryo"/>
              </a:rPr>
              <a:t>LINEOA</a:t>
            </a:r>
            <a:r>
              <a:rPr lang="ja-JP" altLang="en-US" sz="900" b="1" dirty="0">
                <a:latin typeface="メイリオ" panose="020B0604030504040204" pitchFamily="50" charset="-128"/>
                <a:ea typeface="メイリオ" panose="020B0604030504040204" pitchFamily="50" charset="-128"/>
                <a:cs typeface="Meiryo"/>
                <a:sym typeface="Meiryo"/>
              </a:rPr>
              <a:t>領域</a:t>
            </a:r>
            <a:endParaRPr lang="ja-JP" altLang="en-US" sz="900" dirty="0"/>
          </a:p>
        </p:txBody>
      </p:sp>
      <p:sp>
        <p:nvSpPr>
          <p:cNvPr id="453" name="テキスト ボックス 452">
            <a:extLst>
              <a:ext uri="{FF2B5EF4-FFF2-40B4-BE49-F238E27FC236}">
                <a16:creationId xmlns:a16="http://schemas.microsoft.com/office/drawing/2014/main" id="{6035DF7C-B4BD-5EC8-7209-4196763C930C}"/>
              </a:ext>
            </a:extLst>
          </p:cNvPr>
          <p:cNvSpPr txBox="1"/>
          <p:nvPr/>
        </p:nvSpPr>
        <p:spPr>
          <a:xfrm>
            <a:off x="3961298" y="2771249"/>
            <a:ext cx="1597026" cy="230832"/>
          </a:xfrm>
          <a:prstGeom prst="rect">
            <a:avLst/>
          </a:prstGeom>
          <a:solidFill>
            <a:schemeClr val="bg1"/>
          </a:solidFill>
        </p:spPr>
        <p:txBody>
          <a:bodyPr wrap="square">
            <a:spAutoFit/>
          </a:bodyPr>
          <a:lstStyle/>
          <a:p>
            <a:pPr algn="ctr"/>
            <a:r>
              <a:rPr lang="ja-JP" altLang="en-US" sz="900" b="1" dirty="0">
                <a:latin typeface="メイリオ" panose="020B0604030504040204" pitchFamily="50" charset="-128"/>
                <a:ea typeface="メイリオ" panose="020B0604030504040204" pitchFamily="50" charset="-128"/>
                <a:cs typeface="Meiryo"/>
                <a:sym typeface="Meiryo"/>
              </a:rPr>
              <a:t>オフライン→</a:t>
            </a:r>
            <a:r>
              <a:rPr lang="en-US" altLang="ja-JP" sz="900" b="1" dirty="0">
                <a:latin typeface="メイリオ" panose="020B0604030504040204" pitchFamily="50" charset="-128"/>
                <a:ea typeface="メイリオ" panose="020B0604030504040204" pitchFamily="50" charset="-128"/>
                <a:cs typeface="Meiryo"/>
                <a:sym typeface="Meiryo"/>
              </a:rPr>
              <a:t>LINEOA</a:t>
            </a:r>
            <a:r>
              <a:rPr lang="ja-JP" altLang="en-US" sz="900" b="1" dirty="0">
                <a:latin typeface="メイリオ" panose="020B0604030504040204" pitchFamily="50" charset="-128"/>
                <a:ea typeface="メイリオ" panose="020B0604030504040204" pitchFamily="50" charset="-128"/>
                <a:cs typeface="Meiryo"/>
                <a:sym typeface="Meiryo"/>
              </a:rPr>
              <a:t>領域</a:t>
            </a:r>
            <a:endParaRPr lang="ja-JP" altLang="en-US" sz="900" dirty="0"/>
          </a:p>
        </p:txBody>
      </p:sp>
      <p:sp>
        <p:nvSpPr>
          <p:cNvPr id="454" name="正方形/長方形 453">
            <a:extLst>
              <a:ext uri="{FF2B5EF4-FFF2-40B4-BE49-F238E27FC236}">
                <a16:creationId xmlns:a16="http://schemas.microsoft.com/office/drawing/2014/main" id="{E33317FD-3364-4CC0-4FE2-E3D336A50C78}"/>
              </a:ext>
            </a:extLst>
          </p:cNvPr>
          <p:cNvSpPr/>
          <p:nvPr/>
        </p:nvSpPr>
        <p:spPr>
          <a:xfrm>
            <a:off x="240222" y="3031675"/>
            <a:ext cx="5776468" cy="242559"/>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00" dirty="0">
                <a:latin typeface="メイリオ" panose="020B0604030504040204" pitchFamily="50" charset="-128"/>
                <a:ea typeface="メイリオ" panose="020B0604030504040204" pitchFamily="50" charset="-128"/>
              </a:rPr>
              <a:t>どう</a:t>
            </a:r>
            <a:r>
              <a:rPr kumimoji="1" lang="ja-JP" altLang="en-US" sz="1000" dirty="0">
                <a:latin typeface="メイリオ" panose="020B0604030504040204" pitchFamily="50" charset="-128"/>
                <a:ea typeface="メイリオ" panose="020B0604030504040204" pitchFamily="50" charset="-128"/>
              </a:rPr>
              <a:t>友だち追加させるか？</a:t>
            </a:r>
            <a:r>
              <a:rPr kumimoji="1" lang="ja-JP" altLang="en-US" sz="1000" dirty="0">
                <a:solidFill>
                  <a:srgbClr val="FFFFFF"/>
                </a:solidFill>
                <a:latin typeface="メイリオ" panose="020B0604030504040204" pitchFamily="50" charset="-128"/>
                <a:ea typeface="メイリオ" panose="020B0604030504040204" pitchFamily="50" charset="-128"/>
              </a:rPr>
              <a:t>（</a:t>
            </a:r>
            <a:r>
              <a:rPr kumimoji="1" lang="en-US" altLang="ja-JP" sz="1000" dirty="0">
                <a:solidFill>
                  <a:srgbClr val="FFFFFF"/>
                </a:solidFill>
                <a:latin typeface="メイリオ" panose="020B0604030504040204" pitchFamily="50" charset="-128"/>
                <a:ea typeface="メイリオ" panose="020B0604030504040204" pitchFamily="50" charset="-128"/>
              </a:rPr>
              <a:t>WEB</a:t>
            </a:r>
            <a:r>
              <a:rPr kumimoji="1" lang="ja-JP" altLang="en-US" sz="1000" dirty="0">
                <a:solidFill>
                  <a:srgbClr val="FFFFFF"/>
                </a:solidFill>
                <a:latin typeface="メイリオ" panose="020B0604030504040204" pitchFamily="50" charset="-128"/>
                <a:ea typeface="メイリオ" panose="020B0604030504040204" pitchFamily="50" charset="-128"/>
              </a:rPr>
              <a:t>→</a:t>
            </a:r>
            <a:r>
              <a:rPr kumimoji="1" lang="en-US" altLang="ja-JP" sz="1000" dirty="0">
                <a:solidFill>
                  <a:srgbClr val="FFFFFF"/>
                </a:solidFill>
                <a:latin typeface="メイリオ" panose="020B0604030504040204" pitchFamily="50" charset="-128"/>
                <a:ea typeface="メイリオ" panose="020B0604030504040204" pitchFamily="50" charset="-128"/>
              </a:rPr>
              <a:t>LINE</a:t>
            </a:r>
            <a:r>
              <a:rPr kumimoji="1" lang="ja-JP" altLang="en-US" sz="1000" dirty="0">
                <a:solidFill>
                  <a:srgbClr val="FFFFFF"/>
                </a:solidFill>
                <a:latin typeface="メイリオ" panose="020B0604030504040204" pitchFamily="50" charset="-128"/>
                <a:ea typeface="メイリオ" panose="020B0604030504040204" pitchFamily="50" charset="-128"/>
              </a:rPr>
              <a:t>）</a:t>
            </a:r>
          </a:p>
        </p:txBody>
      </p:sp>
      <p:cxnSp>
        <p:nvCxnSpPr>
          <p:cNvPr id="455" name="直線矢印コネクタ 454">
            <a:extLst>
              <a:ext uri="{FF2B5EF4-FFF2-40B4-BE49-F238E27FC236}">
                <a16:creationId xmlns:a16="http://schemas.microsoft.com/office/drawing/2014/main" id="{69C05BA8-18F6-F344-3C54-A5E03AFE2368}"/>
              </a:ext>
            </a:extLst>
          </p:cNvPr>
          <p:cNvCxnSpPr>
            <a:cxnSpLocks/>
          </p:cNvCxnSpPr>
          <p:nvPr/>
        </p:nvCxnSpPr>
        <p:spPr>
          <a:xfrm>
            <a:off x="2892769" y="4798575"/>
            <a:ext cx="6752172" cy="0"/>
          </a:xfrm>
          <a:prstGeom prst="straightConnector1">
            <a:avLst/>
          </a:prstGeom>
          <a:ln w="28575">
            <a:solidFill>
              <a:schemeClr val="tx1"/>
            </a:solidFill>
            <a:prstDash val="sysDash"/>
            <a:headEnd type="triangle"/>
            <a:tailEnd type="triangle"/>
          </a:ln>
        </p:spPr>
        <p:style>
          <a:lnRef idx="1">
            <a:schemeClr val="accent1"/>
          </a:lnRef>
          <a:fillRef idx="0">
            <a:schemeClr val="accent1"/>
          </a:fillRef>
          <a:effectRef idx="0">
            <a:schemeClr val="accent1"/>
          </a:effectRef>
          <a:fontRef idx="minor">
            <a:schemeClr val="tx1"/>
          </a:fontRef>
        </p:style>
      </p:cxnSp>
      <p:sp>
        <p:nvSpPr>
          <p:cNvPr id="456" name="テキスト ボックス 455">
            <a:extLst>
              <a:ext uri="{FF2B5EF4-FFF2-40B4-BE49-F238E27FC236}">
                <a16:creationId xmlns:a16="http://schemas.microsoft.com/office/drawing/2014/main" id="{5B6D9466-EC9E-4057-AB18-8974D147F3E8}"/>
              </a:ext>
            </a:extLst>
          </p:cNvPr>
          <p:cNvSpPr txBox="1"/>
          <p:nvPr/>
        </p:nvSpPr>
        <p:spPr>
          <a:xfrm>
            <a:off x="5430583" y="4657308"/>
            <a:ext cx="1581214" cy="261610"/>
          </a:xfrm>
          <a:prstGeom prst="rect">
            <a:avLst/>
          </a:prstGeom>
          <a:solidFill>
            <a:schemeClr val="bg1"/>
          </a:solidFill>
        </p:spPr>
        <p:txBody>
          <a:bodyPr wrap="square">
            <a:spAutoFit/>
          </a:bodyPr>
          <a:lstStyle/>
          <a:p>
            <a:pPr algn="ctr"/>
            <a:r>
              <a:rPr lang="en-US" altLang="ja-JP" sz="1050" b="1" dirty="0">
                <a:latin typeface="メイリオ" panose="020B0604030504040204" pitchFamily="50" charset="-128"/>
                <a:ea typeface="メイリオ" panose="020B0604030504040204" pitchFamily="50" charset="-128"/>
                <a:cs typeface="Meiryo"/>
                <a:sym typeface="Meiryo"/>
              </a:rPr>
              <a:t>LINEOA</a:t>
            </a:r>
            <a:r>
              <a:rPr lang="ja-JP" altLang="en-US" sz="1050" b="1" dirty="0">
                <a:latin typeface="メイリオ" panose="020B0604030504040204" pitchFamily="50" charset="-128"/>
                <a:ea typeface="メイリオ" panose="020B0604030504040204" pitchFamily="50" charset="-128"/>
                <a:cs typeface="Meiryo"/>
                <a:sym typeface="Meiryo"/>
              </a:rPr>
              <a:t>➙</a:t>
            </a:r>
            <a:r>
              <a:rPr lang="en-US" altLang="ja-JP" sz="1050" b="1" dirty="0">
                <a:latin typeface="メイリオ" panose="020B0604030504040204" pitchFamily="50" charset="-128"/>
                <a:ea typeface="メイリオ" panose="020B0604030504040204" pitchFamily="50" charset="-128"/>
                <a:cs typeface="Meiryo"/>
                <a:sym typeface="Meiryo"/>
              </a:rPr>
              <a:t>WEB</a:t>
            </a:r>
            <a:r>
              <a:rPr lang="ja-JP" altLang="en-US" sz="1050" b="1" dirty="0">
                <a:latin typeface="メイリオ" panose="020B0604030504040204" pitchFamily="50" charset="-128"/>
                <a:ea typeface="メイリオ" panose="020B0604030504040204" pitchFamily="50" charset="-128"/>
                <a:cs typeface="Meiryo"/>
                <a:sym typeface="Meiryo"/>
              </a:rPr>
              <a:t>領域</a:t>
            </a:r>
            <a:endParaRPr lang="ja-JP" altLang="en-US" sz="1050" dirty="0"/>
          </a:p>
        </p:txBody>
      </p:sp>
      <p:cxnSp>
        <p:nvCxnSpPr>
          <p:cNvPr id="457" name="直線矢印コネクタ 456">
            <a:extLst>
              <a:ext uri="{FF2B5EF4-FFF2-40B4-BE49-F238E27FC236}">
                <a16:creationId xmlns:a16="http://schemas.microsoft.com/office/drawing/2014/main" id="{B9C84515-E6C9-A256-421E-9C3EFEBBFF17}"/>
              </a:ext>
            </a:extLst>
          </p:cNvPr>
          <p:cNvCxnSpPr>
            <a:cxnSpLocks/>
          </p:cNvCxnSpPr>
          <p:nvPr/>
        </p:nvCxnSpPr>
        <p:spPr>
          <a:xfrm>
            <a:off x="7622020" y="5365753"/>
            <a:ext cx="2037075"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458" name="テキスト ボックス 457">
            <a:extLst>
              <a:ext uri="{FF2B5EF4-FFF2-40B4-BE49-F238E27FC236}">
                <a16:creationId xmlns:a16="http://schemas.microsoft.com/office/drawing/2014/main" id="{7E002B77-EFC0-55F3-D3E6-100837F9B195}"/>
              </a:ext>
            </a:extLst>
          </p:cNvPr>
          <p:cNvSpPr txBox="1"/>
          <p:nvPr/>
        </p:nvSpPr>
        <p:spPr>
          <a:xfrm>
            <a:off x="8102883" y="5231969"/>
            <a:ext cx="1064989" cy="230832"/>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ja-JP" altLang="en-US" sz="900" b="1" dirty="0">
                <a:solidFill>
                  <a:schemeClr val="tx1">
                    <a:lumMod val="50000"/>
                    <a:lumOff val="50000"/>
                  </a:schemeClr>
                </a:solidFill>
                <a:latin typeface="メイリオ" panose="020B0604030504040204" pitchFamily="50" charset="-128"/>
                <a:ea typeface="メイリオ" panose="020B0604030504040204" pitchFamily="50" charset="-128"/>
                <a:cs typeface="Meiryo"/>
                <a:sym typeface="Meiryo"/>
              </a:rPr>
              <a:t>フォロー体制</a:t>
            </a:r>
            <a:endParaRPr lang="ja-JP" altLang="en-US" sz="900" b="1" dirty="0">
              <a:solidFill>
                <a:schemeClr val="tx1">
                  <a:lumMod val="50000"/>
                  <a:lumOff val="50000"/>
                </a:schemeClr>
              </a:solidFill>
            </a:endParaRPr>
          </a:p>
        </p:txBody>
      </p:sp>
      <p:cxnSp>
        <p:nvCxnSpPr>
          <p:cNvPr id="459" name="直線矢印コネクタ 458">
            <a:extLst>
              <a:ext uri="{FF2B5EF4-FFF2-40B4-BE49-F238E27FC236}">
                <a16:creationId xmlns:a16="http://schemas.microsoft.com/office/drawing/2014/main" id="{03BD82C1-8BEC-3E49-C1DA-A1C214DB1C8C}"/>
              </a:ext>
            </a:extLst>
          </p:cNvPr>
          <p:cNvCxnSpPr>
            <a:cxnSpLocks/>
          </p:cNvCxnSpPr>
          <p:nvPr/>
        </p:nvCxnSpPr>
        <p:spPr>
          <a:xfrm>
            <a:off x="4443737" y="5364283"/>
            <a:ext cx="2982482"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460" name="テキスト ボックス 459">
            <a:extLst>
              <a:ext uri="{FF2B5EF4-FFF2-40B4-BE49-F238E27FC236}">
                <a16:creationId xmlns:a16="http://schemas.microsoft.com/office/drawing/2014/main" id="{919F797F-1B6A-876C-B468-E147B3D97E8A}"/>
              </a:ext>
            </a:extLst>
          </p:cNvPr>
          <p:cNvSpPr txBox="1"/>
          <p:nvPr/>
        </p:nvSpPr>
        <p:spPr>
          <a:xfrm>
            <a:off x="5470240" y="5239208"/>
            <a:ext cx="1064989" cy="230832"/>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ja-JP" altLang="en-US" sz="900" b="1" dirty="0">
                <a:latin typeface="メイリオ" panose="020B0604030504040204" pitchFamily="50" charset="-128"/>
                <a:ea typeface="メイリオ" panose="020B0604030504040204" pitchFamily="50" charset="-128"/>
                <a:cs typeface="Meiryo"/>
                <a:sym typeface="Meiryo"/>
              </a:rPr>
              <a:t>ステップ配信</a:t>
            </a:r>
            <a:endParaRPr lang="ja-JP" altLang="en-US" sz="900" b="1" dirty="0"/>
          </a:p>
        </p:txBody>
      </p:sp>
      <p:cxnSp>
        <p:nvCxnSpPr>
          <p:cNvPr id="461" name="直線矢印コネクタ 460">
            <a:extLst>
              <a:ext uri="{FF2B5EF4-FFF2-40B4-BE49-F238E27FC236}">
                <a16:creationId xmlns:a16="http://schemas.microsoft.com/office/drawing/2014/main" id="{C96E67E6-B364-7DED-CDB8-DDCEEFB96AD2}"/>
              </a:ext>
            </a:extLst>
          </p:cNvPr>
          <p:cNvCxnSpPr>
            <a:cxnSpLocks/>
          </p:cNvCxnSpPr>
          <p:nvPr/>
        </p:nvCxnSpPr>
        <p:spPr>
          <a:xfrm>
            <a:off x="4443578" y="5637399"/>
            <a:ext cx="2982482"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462" name="テキスト ボックス 461">
            <a:extLst>
              <a:ext uri="{FF2B5EF4-FFF2-40B4-BE49-F238E27FC236}">
                <a16:creationId xmlns:a16="http://schemas.microsoft.com/office/drawing/2014/main" id="{335DB4AB-DEFA-E356-751F-7106100F929E}"/>
              </a:ext>
            </a:extLst>
          </p:cNvPr>
          <p:cNvSpPr txBox="1"/>
          <p:nvPr/>
        </p:nvSpPr>
        <p:spPr>
          <a:xfrm>
            <a:off x="5470081" y="5512324"/>
            <a:ext cx="1064989" cy="230832"/>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ja-JP" altLang="en-US" sz="900" b="1" dirty="0">
                <a:latin typeface="メイリオ" panose="020B0604030504040204" pitchFamily="50" charset="-128"/>
                <a:ea typeface="メイリオ" panose="020B0604030504040204" pitchFamily="50" charset="-128"/>
                <a:cs typeface="Meiryo"/>
                <a:sym typeface="Meiryo"/>
              </a:rPr>
              <a:t>企画配信</a:t>
            </a:r>
            <a:endParaRPr lang="ja-JP" altLang="en-US" sz="900" b="1" dirty="0"/>
          </a:p>
        </p:txBody>
      </p:sp>
      <p:cxnSp>
        <p:nvCxnSpPr>
          <p:cNvPr id="463" name="直線矢印コネクタ 462">
            <a:extLst>
              <a:ext uri="{FF2B5EF4-FFF2-40B4-BE49-F238E27FC236}">
                <a16:creationId xmlns:a16="http://schemas.microsoft.com/office/drawing/2014/main" id="{7884810E-3E89-4CCB-C00C-B386A34717E4}"/>
              </a:ext>
            </a:extLst>
          </p:cNvPr>
          <p:cNvCxnSpPr>
            <a:cxnSpLocks/>
          </p:cNvCxnSpPr>
          <p:nvPr/>
        </p:nvCxnSpPr>
        <p:spPr>
          <a:xfrm>
            <a:off x="3989118" y="5852186"/>
            <a:ext cx="2037075"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464" name="テキスト ボックス 463">
            <a:extLst>
              <a:ext uri="{FF2B5EF4-FFF2-40B4-BE49-F238E27FC236}">
                <a16:creationId xmlns:a16="http://schemas.microsoft.com/office/drawing/2014/main" id="{6FD45AC0-2372-776F-6D16-846C0FB7AC64}"/>
              </a:ext>
            </a:extLst>
          </p:cNvPr>
          <p:cNvSpPr txBox="1"/>
          <p:nvPr/>
        </p:nvSpPr>
        <p:spPr>
          <a:xfrm>
            <a:off x="4304358" y="5753281"/>
            <a:ext cx="1288637" cy="209847"/>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ja-JP" altLang="en-US" sz="900" b="1" dirty="0">
                <a:latin typeface="メイリオ" panose="020B0604030504040204" pitchFamily="50" charset="-128"/>
                <a:ea typeface="メイリオ" panose="020B0604030504040204" pitchFamily="50" charset="-128"/>
                <a:cs typeface="Meiryo"/>
                <a:sym typeface="Meiryo"/>
              </a:rPr>
              <a:t>アンケート回収</a:t>
            </a:r>
            <a:endParaRPr lang="ja-JP" altLang="en-US" sz="900" b="1" dirty="0"/>
          </a:p>
        </p:txBody>
      </p:sp>
      <p:cxnSp>
        <p:nvCxnSpPr>
          <p:cNvPr id="465" name="直線矢印コネクタ 464">
            <a:extLst>
              <a:ext uri="{FF2B5EF4-FFF2-40B4-BE49-F238E27FC236}">
                <a16:creationId xmlns:a16="http://schemas.microsoft.com/office/drawing/2014/main" id="{5BF3558A-EBED-81EE-B158-28A7CA5D6693}"/>
              </a:ext>
            </a:extLst>
          </p:cNvPr>
          <p:cNvCxnSpPr>
            <a:cxnSpLocks/>
          </p:cNvCxnSpPr>
          <p:nvPr/>
        </p:nvCxnSpPr>
        <p:spPr>
          <a:xfrm>
            <a:off x="3986817" y="6094511"/>
            <a:ext cx="2027163" cy="6111"/>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466" name="テキスト ボックス 465">
            <a:extLst>
              <a:ext uri="{FF2B5EF4-FFF2-40B4-BE49-F238E27FC236}">
                <a16:creationId xmlns:a16="http://schemas.microsoft.com/office/drawing/2014/main" id="{001266CB-AC56-8914-0ACE-8B554DB19B76}"/>
              </a:ext>
            </a:extLst>
          </p:cNvPr>
          <p:cNvSpPr txBox="1"/>
          <p:nvPr/>
        </p:nvSpPr>
        <p:spPr>
          <a:xfrm>
            <a:off x="4319604" y="5997197"/>
            <a:ext cx="1288637" cy="209847"/>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ja-JP" altLang="en-US" sz="900" b="1" dirty="0">
                <a:latin typeface="メイリオ" panose="020B0604030504040204" pitchFamily="50" charset="-128"/>
                <a:ea typeface="メイリオ" panose="020B0604030504040204" pitchFamily="50" charset="-128"/>
                <a:cs typeface="Meiryo"/>
                <a:sym typeface="Meiryo"/>
              </a:rPr>
              <a:t>スコアリング等</a:t>
            </a:r>
            <a:endParaRPr lang="ja-JP" altLang="en-US" sz="900" b="1" dirty="0"/>
          </a:p>
        </p:txBody>
      </p:sp>
      <p:cxnSp>
        <p:nvCxnSpPr>
          <p:cNvPr id="467" name="直線矢印コネクタ 466">
            <a:extLst>
              <a:ext uri="{FF2B5EF4-FFF2-40B4-BE49-F238E27FC236}">
                <a16:creationId xmlns:a16="http://schemas.microsoft.com/office/drawing/2014/main" id="{1B403718-ABF2-11BC-1A05-A9E208B7C0F7}"/>
              </a:ext>
            </a:extLst>
          </p:cNvPr>
          <p:cNvCxnSpPr>
            <a:cxnSpLocks/>
          </p:cNvCxnSpPr>
          <p:nvPr/>
        </p:nvCxnSpPr>
        <p:spPr>
          <a:xfrm>
            <a:off x="7042649" y="5856102"/>
            <a:ext cx="2037075"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468" name="直線矢印コネクタ 467">
            <a:extLst>
              <a:ext uri="{FF2B5EF4-FFF2-40B4-BE49-F238E27FC236}">
                <a16:creationId xmlns:a16="http://schemas.microsoft.com/office/drawing/2014/main" id="{B31EBA12-BB45-627B-A1FD-F44E077537B1}"/>
              </a:ext>
            </a:extLst>
          </p:cNvPr>
          <p:cNvCxnSpPr>
            <a:cxnSpLocks/>
          </p:cNvCxnSpPr>
          <p:nvPr/>
        </p:nvCxnSpPr>
        <p:spPr>
          <a:xfrm>
            <a:off x="6911926" y="6113619"/>
            <a:ext cx="2037075" cy="0"/>
          </a:xfrm>
          <a:prstGeom prst="straightConnector1">
            <a:avLst/>
          </a:prstGeom>
          <a:ln>
            <a:solidFill>
              <a:schemeClr val="tx1">
                <a:lumMod val="75000"/>
                <a:lumOff val="2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469" name="テキスト ボックス 468">
            <a:extLst>
              <a:ext uri="{FF2B5EF4-FFF2-40B4-BE49-F238E27FC236}">
                <a16:creationId xmlns:a16="http://schemas.microsoft.com/office/drawing/2014/main" id="{B0C05E5D-44B4-DA5D-7C04-0BDC8A4602CE}"/>
              </a:ext>
            </a:extLst>
          </p:cNvPr>
          <p:cNvSpPr txBox="1"/>
          <p:nvPr/>
        </p:nvSpPr>
        <p:spPr>
          <a:xfrm>
            <a:off x="7260372" y="6007902"/>
            <a:ext cx="1288637" cy="230832"/>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ja-JP" altLang="en-US" sz="900" b="1" dirty="0">
                <a:solidFill>
                  <a:schemeClr val="tx1">
                    <a:lumMod val="50000"/>
                    <a:lumOff val="50000"/>
                  </a:schemeClr>
                </a:solidFill>
                <a:latin typeface="メイリオ" panose="020B0604030504040204" pitchFamily="50" charset="-128"/>
                <a:ea typeface="メイリオ" panose="020B0604030504040204" pitchFamily="50" charset="-128"/>
                <a:cs typeface="Meiryo"/>
                <a:sym typeface="Meiryo"/>
              </a:rPr>
              <a:t>ショップカード</a:t>
            </a:r>
            <a:endParaRPr lang="ja-JP" altLang="en-US" sz="900" b="1" dirty="0">
              <a:solidFill>
                <a:schemeClr val="tx1">
                  <a:lumMod val="50000"/>
                  <a:lumOff val="50000"/>
                </a:schemeClr>
              </a:solidFill>
            </a:endParaRPr>
          </a:p>
        </p:txBody>
      </p:sp>
      <p:pic>
        <p:nvPicPr>
          <p:cNvPr id="470" name="図 469">
            <a:extLst>
              <a:ext uri="{FF2B5EF4-FFF2-40B4-BE49-F238E27FC236}">
                <a16:creationId xmlns:a16="http://schemas.microsoft.com/office/drawing/2014/main" id="{2F4B65BB-B8AA-5045-2074-C574F9423E61}"/>
              </a:ext>
            </a:extLst>
          </p:cNvPr>
          <p:cNvPicPr>
            <a:picLocks noChangeAspect="1"/>
          </p:cNvPicPr>
          <p:nvPr/>
        </p:nvPicPr>
        <p:blipFill>
          <a:blip r:embed="rId3" cstate="print">
            <a:extLst>
              <a:ext uri="{28A0092B-C50C-407E-A947-70E740481C1C}">
                <a14:useLocalDpi xmlns:a14="http://schemas.microsoft.com/office/drawing/2010/main" val="0"/>
              </a:ext>
            </a:extLst>
          </a:blip>
          <a:srcRect t="4981" b="4075"/>
          <a:stretch>
            <a:fillRect/>
          </a:stretch>
        </p:blipFill>
        <p:spPr>
          <a:xfrm>
            <a:off x="2929897" y="4918748"/>
            <a:ext cx="703970" cy="1385346"/>
          </a:xfrm>
          <a:prstGeom prst="rect">
            <a:avLst/>
          </a:prstGeom>
        </p:spPr>
      </p:pic>
      <p:sp>
        <p:nvSpPr>
          <p:cNvPr id="471" name="正方形/長方形 470">
            <a:extLst>
              <a:ext uri="{FF2B5EF4-FFF2-40B4-BE49-F238E27FC236}">
                <a16:creationId xmlns:a16="http://schemas.microsoft.com/office/drawing/2014/main" id="{D22C9FBF-7B93-079A-E87E-A4C967CD0194}"/>
              </a:ext>
            </a:extLst>
          </p:cNvPr>
          <p:cNvSpPr/>
          <p:nvPr/>
        </p:nvSpPr>
        <p:spPr>
          <a:xfrm>
            <a:off x="3832763" y="5206936"/>
            <a:ext cx="2944325" cy="1076098"/>
          </a:xfrm>
          <a:prstGeom prst="rect">
            <a:avLst/>
          </a:prstGeom>
          <a:noFill/>
          <a:ln w="15875">
            <a:solidFill>
              <a:schemeClr val="accent1"/>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72" name="テキスト ボックス 471">
            <a:extLst>
              <a:ext uri="{FF2B5EF4-FFF2-40B4-BE49-F238E27FC236}">
                <a16:creationId xmlns:a16="http://schemas.microsoft.com/office/drawing/2014/main" id="{89B35388-9C44-6C01-ACAA-2E691617E119}"/>
              </a:ext>
            </a:extLst>
          </p:cNvPr>
          <p:cNvSpPr txBox="1"/>
          <p:nvPr/>
        </p:nvSpPr>
        <p:spPr>
          <a:xfrm>
            <a:off x="5647624" y="6173593"/>
            <a:ext cx="1207049" cy="200055"/>
          </a:xfrm>
          <a:prstGeom prst="rect">
            <a:avLst/>
          </a:prstGeom>
          <a:solidFill>
            <a:schemeClr val="tx2"/>
          </a:solidFill>
          <a:ln>
            <a:noFill/>
          </a:ln>
        </p:spPr>
        <p:txBody>
          <a:bodyPr wrap="square">
            <a:spAutoFit/>
          </a:bodyPr>
          <a:lstStyle/>
          <a:p>
            <a:pPr algn="ctr">
              <a:buNone/>
            </a:pPr>
            <a:r>
              <a:rPr lang="ja-JP" altLang="en-US" sz="700" dirty="0">
                <a:solidFill>
                  <a:schemeClr val="bg1"/>
                </a:solidFill>
                <a:latin typeface="メイリオ" panose="020B0604030504040204" pitchFamily="50" charset="-128"/>
                <a:ea typeface="メイリオ" panose="020B0604030504040204" pitchFamily="50" charset="-128"/>
              </a:rPr>
              <a:t>短期と長期で各自設計</a:t>
            </a:r>
            <a:endParaRPr lang="ja-JP" altLang="ja-JP" sz="700" dirty="0">
              <a:solidFill>
                <a:schemeClr val="bg1"/>
              </a:solidFill>
              <a:latin typeface="メイリオ" panose="020B0604030504040204" pitchFamily="50" charset="-128"/>
              <a:ea typeface="メイリオ" panose="020B0604030504040204" pitchFamily="50" charset="-128"/>
            </a:endParaRPr>
          </a:p>
        </p:txBody>
      </p:sp>
      <p:sp>
        <p:nvSpPr>
          <p:cNvPr id="473" name="テキスト ボックス 472">
            <a:extLst>
              <a:ext uri="{FF2B5EF4-FFF2-40B4-BE49-F238E27FC236}">
                <a16:creationId xmlns:a16="http://schemas.microsoft.com/office/drawing/2014/main" id="{BD1C4614-6833-006B-0695-58E26A5CFFB7}"/>
              </a:ext>
            </a:extLst>
          </p:cNvPr>
          <p:cNvSpPr txBox="1"/>
          <p:nvPr/>
        </p:nvSpPr>
        <p:spPr>
          <a:xfrm>
            <a:off x="7434640" y="5741676"/>
            <a:ext cx="1288637" cy="230832"/>
          </a:xfrm>
          <a:prstGeom prst="rect">
            <a:avLst/>
          </a:prstGeom>
          <a:solidFill>
            <a:schemeClr val="bg1">
              <a:lumMod val="95000"/>
            </a:schemeClr>
          </a:solidFill>
          <a:ln w="6350">
            <a:solidFill>
              <a:schemeClr val="bg1">
                <a:lumMod val="85000"/>
              </a:schemeClr>
            </a:solidFill>
          </a:ln>
        </p:spPr>
        <p:txBody>
          <a:bodyPr wrap="square">
            <a:spAutoFit/>
          </a:bodyPr>
          <a:lstStyle/>
          <a:p>
            <a:pPr algn="ctr"/>
            <a:r>
              <a:rPr lang="ja-JP" altLang="en-US" sz="900" b="1" dirty="0">
                <a:solidFill>
                  <a:schemeClr val="tx1">
                    <a:lumMod val="50000"/>
                    <a:lumOff val="50000"/>
                  </a:schemeClr>
                </a:solidFill>
                <a:latin typeface="メイリオ" panose="020B0604030504040204" pitchFamily="50" charset="-128"/>
                <a:ea typeface="メイリオ" panose="020B0604030504040204" pitchFamily="50" charset="-128"/>
                <a:cs typeface="Meiryo"/>
                <a:sym typeface="Meiryo"/>
              </a:rPr>
              <a:t>リサーチ回収</a:t>
            </a:r>
            <a:endParaRPr lang="ja-JP" altLang="en-US" sz="900" b="1" dirty="0">
              <a:solidFill>
                <a:schemeClr val="tx1">
                  <a:lumMod val="50000"/>
                  <a:lumOff val="50000"/>
                </a:schemeClr>
              </a:solidFill>
            </a:endParaRPr>
          </a:p>
        </p:txBody>
      </p:sp>
      <p:sp>
        <p:nvSpPr>
          <p:cNvPr id="474" name="正方形/長方形 473">
            <a:extLst>
              <a:ext uri="{FF2B5EF4-FFF2-40B4-BE49-F238E27FC236}">
                <a16:creationId xmlns:a16="http://schemas.microsoft.com/office/drawing/2014/main" id="{149FC944-C0B9-A202-3A0B-03CB7D89620A}"/>
              </a:ext>
            </a:extLst>
          </p:cNvPr>
          <p:cNvSpPr/>
          <p:nvPr/>
        </p:nvSpPr>
        <p:spPr>
          <a:xfrm>
            <a:off x="3046381" y="4921782"/>
            <a:ext cx="6619128" cy="242559"/>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00" dirty="0">
                <a:latin typeface="メイリオ" panose="020B0604030504040204" pitchFamily="50" charset="-128"/>
                <a:ea typeface="メイリオ" panose="020B0604030504040204" pitchFamily="50" charset="-128"/>
              </a:rPr>
              <a:t>どう</a:t>
            </a:r>
            <a:r>
              <a:rPr kumimoji="1" lang="ja-JP" altLang="en-US" sz="1000" dirty="0">
                <a:latin typeface="メイリオ" panose="020B0604030504040204" pitchFamily="50" charset="-128"/>
                <a:ea typeface="メイリオ" panose="020B0604030504040204" pitchFamily="50" charset="-128"/>
              </a:rPr>
              <a:t>友だちをアクションに結びつけるか？</a:t>
            </a:r>
            <a:r>
              <a:rPr kumimoji="1" lang="ja-JP" altLang="en-US" sz="1000" dirty="0">
                <a:solidFill>
                  <a:srgbClr val="FFFFFF"/>
                </a:solidFill>
                <a:latin typeface="メイリオ" panose="020B0604030504040204" pitchFamily="50" charset="-128"/>
                <a:ea typeface="メイリオ" panose="020B0604030504040204" pitchFamily="50" charset="-128"/>
              </a:rPr>
              <a:t>（</a:t>
            </a:r>
            <a:r>
              <a:rPr kumimoji="1" lang="en-US" altLang="ja-JP" sz="1000" dirty="0">
                <a:solidFill>
                  <a:srgbClr val="FFFFFF"/>
                </a:solidFill>
                <a:latin typeface="メイリオ" panose="020B0604030504040204" pitchFamily="50" charset="-128"/>
                <a:ea typeface="メイリオ" panose="020B0604030504040204" pitchFamily="50" charset="-128"/>
              </a:rPr>
              <a:t>LINE</a:t>
            </a:r>
            <a:r>
              <a:rPr kumimoji="1" lang="ja-JP" altLang="en-US" sz="1000" dirty="0">
                <a:solidFill>
                  <a:srgbClr val="FFFFFF"/>
                </a:solidFill>
                <a:latin typeface="メイリオ" panose="020B0604030504040204" pitchFamily="50" charset="-128"/>
                <a:ea typeface="メイリオ" panose="020B0604030504040204" pitchFamily="50" charset="-128"/>
              </a:rPr>
              <a:t>→反響）</a:t>
            </a:r>
          </a:p>
        </p:txBody>
      </p:sp>
    </p:spTree>
    <p:extLst>
      <p:ext uri="{BB962C8B-B14F-4D97-AF65-F5344CB8AC3E}">
        <p14:creationId xmlns:p14="http://schemas.microsoft.com/office/powerpoint/2010/main" val="346446818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143DE1-3ED3-F966-F6AD-4C1C8BF7CC0E}"/>
            </a:ext>
          </a:extLst>
        </p:cNvPr>
        <p:cNvGrpSpPr/>
        <p:nvPr/>
      </p:nvGrpSpPr>
      <p:grpSpPr>
        <a:xfrm>
          <a:off x="0" y="0"/>
          <a:ext cx="0" cy="0"/>
          <a:chOff x="0" y="0"/>
          <a:chExt cx="0" cy="0"/>
        </a:xfrm>
      </p:grpSpPr>
      <p:sp>
        <p:nvSpPr>
          <p:cNvPr id="58" name="正方形/長方形 57">
            <a:extLst>
              <a:ext uri="{FF2B5EF4-FFF2-40B4-BE49-F238E27FC236}">
                <a16:creationId xmlns:a16="http://schemas.microsoft.com/office/drawing/2014/main" id="{2E6701D8-9A90-E152-7C18-C7706967BB9A}"/>
              </a:ext>
            </a:extLst>
          </p:cNvPr>
          <p:cNvSpPr/>
          <p:nvPr/>
        </p:nvSpPr>
        <p:spPr>
          <a:xfrm>
            <a:off x="96788" y="1045811"/>
            <a:ext cx="1935768" cy="21878"/>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100" b="1" dirty="0">
              <a:latin typeface="メイリオ" panose="020B0604030504040204" pitchFamily="50" charset="-128"/>
              <a:ea typeface="メイリオ" panose="020B0604030504040204" pitchFamily="50" charset="-128"/>
            </a:endParaRPr>
          </a:p>
        </p:txBody>
      </p:sp>
      <p:sp>
        <p:nvSpPr>
          <p:cNvPr id="3" name="正方形/長方形 2">
            <a:extLst>
              <a:ext uri="{FF2B5EF4-FFF2-40B4-BE49-F238E27FC236}">
                <a16:creationId xmlns:a16="http://schemas.microsoft.com/office/drawing/2014/main" id="{1E62FB26-1D1E-5A11-19DE-1FB175754D5C}"/>
              </a:ext>
            </a:extLst>
          </p:cNvPr>
          <p:cNvSpPr/>
          <p:nvPr/>
        </p:nvSpPr>
        <p:spPr>
          <a:xfrm>
            <a:off x="96788" y="1645669"/>
            <a:ext cx="9687414" cy="3577"/>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100" b="1" dirty="0">
              <a:latin typeface="メイリオ" panose="020B0604030504040204" pitchFamily="50" charset="-128"/>
              <a:ea typeface="メイリオ" panose="020B0604030504040204" pitchFamily="50" charset="-128"/>
            </a:endParaRPr>
          </a:p>
        </p:txBody>
      </p:sp>
      <p:sp>
        <p:nvSpPr>
          <p:cNvPr id="5" name="テキスト ボックス 4">
            <a:extLst>
              <a:ext uri="{FF2B5EF4-FFF2-40B4-BE49-F238E27FC236}">
                <a16:creationId xmlns:a16="http://schemas.microsoft.com/office/drawing/2014/main" id="{6598B957-A9E7-BDB0-A5F6-72D1122A5B6E}"/>
              </a:ext>
            </a:extLst>
          </p:cNvPr>
          <p:cNvSpPr txBox="1"/>
          <p:nvPr/>
        </p:nvSpPr>
        <p:spPr>
          <a:xfrm>
            <a:off x="96788" y="619405"/>
            <a:ext cx="4961186" cy="369332"/>
          </a:xfrm>
          <a:prstGeom prst="rect">
            <a:avLst/>
          </a:prstGeom>
          <a:noFill/>
        </p:spPr>
        <p:txBody>
          <a:bodyPr wrap="square">
            <a:spAutoFit/>
          </a:bodyPr>
          <a:lstStyle/>
          <a:p>
            <a:r>
              <a:rPr lang="ja-JP" altLang="en-US"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施策パターン（主要５パターン）</a:t>
            </a:r>
            <a:endParaRPr lang="ja-JP" altLang="en-US" sz="1100" dirty="0"/>
          </a:p>
        </p:txBody>
      </p:sp>
      <p:sp>
        <p:nvSpPr>
          <p:cNvPr id="7" name="テキスト ボックス 6">
            <a:extLst>
              <a:ext uri="{FF2B5EF4-FFF2-40B4-BE49-F238E27FC236}">
                <a16:creationId xmlns:a16="http://schemas.microsoft.com/office/drawing/2014/main" id="{45E74368-07DB-CE00-62F1-E5548485D6FB}"/>
              </a:ext>
            </a:extLst>
          </p:cNvPr>
          <p:cNvSpPr txBox="1"/>
          <p:nvPr/>
        </p:nvSpPr>
        <p:spPr>
          <a:xfrm>
            <a:off x="96788" y="1202790"/>
            <a:ext cx="9687414" cy="307777"/>
          </a:xfrm>
          <a:prstGeom prst="rect">
            <a:avLst/>
          </a:prstGeom>
          <a:noFill/>
        </p:spPr>
        <p:txBody>
          <a:bodyPr wrap="square">
            <a:spAutoFit/>
          </a:bodyPr>
          <a:lstStyle/>
          <a:p>
            <a:r>
              <a:rPr lang="en-US" altLang="ja-JP"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LINE</a:t>
            </a:r>
            <a:r>
              <a:rPr lang="ja-JP" altLang="en-US"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運用で追うべき重要指標（</a:t>
            </a:r>
            <a:r>
              <a:rPr lang="en-US" altLang="ja-JP"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KPI</a:t>
            </a:r>
            <a:r>
              <a:rPr lang="ja-JP" altLang="en-US"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）と、目的に応じた</a:t>
            </a:r>
            <a:r>
              <a:rPr lang="en-US" altLang="ja-JP"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5</a:t>
            </a:r>
            <a:r>
              <a:rPr lang="ja-JP" altLang="en-US"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つの施策方針</a:t>
            </a:r>
            <a:endParaRPr lang="ja-JP" altLang="en-US" sz="1000" dirty="0"/>
          </a:p>
        </p:txBody>
      </p:sp>
      <p:sp>
        <p:nvSpPr>
          <p:cNvPr id="9" name="テキスト ボックス 8">
            <a:extLst>
              <a:ext uri="{FF2B5EF4-FFF2-40B4-BE49-F238E27FC236}">
                <a16:creationId xmlns:a16="http://schemas.microsoft.com/office/drawing/2014/main" id="{29ADE9C4-EDB0-BC95-CE8E-626E80FB4D48}"/>
              </a:ext>
            </a:extLst>
          </p:cNvPr>
          <p:cNvSpPr txBox="1"/>
          <p:nvPr/>
        </p:nvSpPr>
        <p:spPr>
          <a:xfrm>
            <a:off x="460785" y="91159"/>
            <a:ext cx="4961186" cy="369332"/>
          </a:xfrm>
          <a:prstGeom prst="rect">
            <a:avLst/>
          </a:prstGeom>
          <a:noFill/>
        </p:spPr>
        <p:txBody>
          <a:bodyPr wrap="square">
            <a:spAutoFit/>
          </a:bodyPr>
          <a:lstStyle/>
          <a:p>
            <a:r>
              <a:rPr lang="ja-JP" altLang="en-US"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 前提調査</a:t>
            </a:r>
            <a:endParaRPr lang="ja-JP" altLang="en-US" sz="1100" dirty="0"/>
          </a:p>
        </p:txBody>
      </p:sp>
      <p:sp>
        <p:nvSpPr>
          <p:cNvPr id="12" name="Rectangle 4">
            <a:extLst>
              <a:ext uri="{FF2B5EF4-FFF2-40B4-BE49-F238E27FC236}">
                <a16:creationId xmlns:a16="http://schemas.microsoft.com/office/drawing/2014/main" id="{49E79A83-D923-CF9A-2A1A-3D2E1673FD4A}"/>
              </a:ext>
            </a:extLst>
          </p:cNvPr>
          <p:cNvSpPr/>
          <p:nvPr/>
        </p:nvSpPr>
        <p:spPr>
          <a:xfrm>
            <a:off x="408432" y="2163060"/>
            <a:ext cx="1773936" cy="6858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250" b="1" dirty="0" err="1">
                <a:solidFill>
                  <a:srgbClr val="FFFFFF"/>
                </a:solidFill>
                <a:latin typeface="メイリオ"/>
                <a:ea typeface="メイリオ"/>
                <a:cs typeface="メイリオ"/>
              </a:rPr>
              <a:t>露出強化</a:t>
            </a:r>
            <a:endParaRPr sz="1250" b="1" dirty="0">
              <a:solidFill>
                <a:srgbClr val="FFFFFF"/>
              </a:solidFill>
              <a:latin typeface="メイリオ"/>
              <a:ea typeface="メイリオ"/>
              <a:cs typeface="メイリオ"/>
            </a:endParaRPr>
          </a:p>
          <a:p>
            <a:pPr algn="ctr">
              <a:spcAft>
                <a:spcPts val="0"/>
              </a:spcAft>
            </a:pPr>
            <a:r>
              <a:rPr sz="950" b="0" dirty="0" err="1">
                <a:solidFill>
                  <a:srgbClr val="FFFFFF"/>
                </a:solidFill>
                <a:latin typeface="メイリオ"/>
                <a:ea typeface="メイリオ"/>
                <a:cs typeface="メイリオ"/>
              </a:rPr>
              <a:t>ブランディング・告知</a:t>
            </a:r>
            <a:endParaRPr sz="950" b="0" dirty="0">
              <a:solidFill>
                <a:srgbClr val="FFFFFF"/>
              </a:solidFill>
              <a:latin typeface="メイリオ"/>
              <a:ea typeface="メイリオ"/>
              <a:cs typeface="メイリオ"/>
            </a:endParaRPr>
          </a:p>
        </p:txBody>
      </p:sp>
      <p:sp>
        <p:nvSpPr>
          <p:cNvPr id="16" name="Rectangle 5">
            <a:extLst>
              <a:ext uri="{FF2B5EF4-FFF2-40B4-BE49-F238E27FC236}">
                <a16:creationId xmlns:a16="http://schemas.microsoft.com/office/drawing/2014/main" id="{155E13D8-2298-8094-68E3-69F442818216}"/>
              </a:ext>
            </a:extLst>
          </p:cNvPr>
          <p:cNvSpPr/>
          <p:nvPr/>
        </p:nvSpPr>
        <p:spPr>
          <a:xfrm>
            <a:off x="408432" y="2887178"/>
            <a:ext cx="1773936" cy="256032"/>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000" b="1">
                <a:solidFill>
                  <a:schemeClr val="tx2"/>
                </a:solidFill>
                <a:latin typeface="メイリオ"/>
                <a:ea typeface="メイリオ"/>
                <a:cs typeface="メイリオ"/>
              </a:rPr>
              <a:t>目的</a:t>
            </a:r>
          </a:p>
        </p:txBody>
      </p:sp>
      <p:sp>
        <p:nvSpPr>
          <p:cNvPr id="20" name="Rectangle 6">
            <a:extLst>
              <a:ext uri="{FF2B5EF4-FFF2-40B4-BE49-F238E27FC236}">
                <a16:creationId xmlns:a16="http://schemas.microsoft.com/office/drawing/2014/main" id="{6C7DBB20-26A1-8B8F-32D4-0B15E548F56E}"/>
              </a:ext>
            </a:extLst>
          </p:cNvPr>
          <p:cNvSpPr/>
          <p:nvPr/>
        </p:nvSpPr>
        <p:spPr>
          <a:xfrm>
            <a:off x="408432" y="3143209"/>
            <a:ext cx="1773936" cy="896112"/>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100" b="1" dirty="0" err="1">
                <a:solidFill>
                  <a:srgbClr val="333333"/>
                </a:solidFill>
                <a:latin typeface="メイリオ"/>
                <a:ea typeface="メイリオ"/>
                <a:cs typeface="メイリオ"/>
              </a:rPr>
              <a:t>新商品・イベントを</a:t>
            </a:r>
            <a:endParaRPr lang="en-US" sz="1100" b="1" dirty="0">
              <a:solidFill>
                <a:srgbClr val="333333"/>
              </a:solidFill>
              <a:latin typeface="メイリオ"/>
              <a:ea typeface="メイリオ"/>
              <a:cs typeface="メイリオ"/>
            </a:endParaRPr>
          </a:p>
          <a:p>
            <a:pPr algn="l">
              <a:spcAft>
                <a:spcPts val="0"/>
              </a:spcAft>
            </a:pPr>
            <a:r>
              <a:rPr sz="1100" b="1" dirty="0" err="1">
                <a:solidFill>
                  <a:srgbClr val="333333"/>
                </a:solidFill>
                <a:latin typeface="メイリオ"/>
                <a:ea typeface="メイリオ"/>
                <a:cs typeface="メイリオ"/>
              </a:rPr>
              <a:t>広く知らせ、接触量</a:t>
            </a:r>
            <a:r>
              <a:rPr lang="ja-JP" altLang="en-US" sz="1100" b="1" dirty="0">
                <a:solidFill>
                  <a:srgbClr val="333333"/>
                </a:solidFill>
                <a:latin typeface="メイリオ"/>
                <a:ea typeface="メイリオ"/>
                <a:cs typeface="メイリオ"/>
              </a:rPr>
              <a:t>増加</a:t>
            </a:r>
            <a:endParaRPr sz="1100" b="1" dirty="0">
              <a:solidFill>
                <a:srgbClr val="333333"/>
              </a:solidFill>
              <a:latin typeface="メイリオ"/>
              <a:ea typeface="メイリオ"/>
              <a:cs typeface="メイリオ"/>
            </a:endParaRPr>
          </a:p>
        </p:txBody>
      </p:sp>
      <p:sp>
        <p:nvSpPr>
          <p:cNvPr id="24" name="Rectangle 7">
            <a:extLst>
              <a:ext uri="{FF2B5EF4-FFF2-40B4-BE49-F238E27FC236}">
                <a16:creationId xmlns:a16="http://schemas.microsoft.com/office/drawing/2014/main" id="{6811CAAE-5198-A8F3-058F-450EB5ADBA4E}"/>
              </a:ext>
            </a:extLst>
          </p:cNvPr>
          <p:cNvSpPr/>
          <p:nvPr/>
        </p:nvSpPr>
        <p:spPr>
          <a:xfrm>
            <a:off x="408432" y="4147747"/>
            <a:ext cx="1773936" cy="256032"/>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000" b="1">
                <a:solidFill>
                  <a:schemeClr val="tx2"/>
                </a:solidFill>
                <a:latin typeface="メイリオ"/>
                <a:ea typeface="メイリオ"/>
                <a:cs typeface="メイリオ"/>
              </a:rPr>
              <a:t>追う指標</a:t>
            </a:r>
          </a:p>
        </p:txBody>
      </p:sp>
      <p:sp>
        <p:nvSpPr>
          <p:cNvPr id="28" name="Rectangle 8">
            <a:extLst>
              <a:ext uri="{FF2B5EF4-FFF2-40B4-BE49-F238E27FC236}">
                <a16:creationId xmlns:a16="http://schemas.microsoft.com/office/drawing/2014/main" id="{1C3C93C7-EF49-8EB4-41C3-62A45A431458}"/>
              </a:ext>
            </a:extLst>
          </p:cNvPr>
          <p:cNvSpPr/>
          <p:nvPr/>
        </p:nvSpPr>
        <p:spPr>
          <a:xfrm>
            <a:off x="408432" y="4403161"/>
            <a:ext cx="1773936" cy="740588"/>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000" b="0">
                <a:solidFill>
                  <a:schemeClr val="tx1">
                    <a:lumMod val="65000"/>
                    <a:lumOff val="35000"/>
                  </a:schemeClr>
                </a:solidFill>
                <a:latin typeface="メイリオ"/>
                <a:ea typeface="メイリオ"/>
                <a:cs typeface="メイリオ"/>
              </a:rPr>
              <a:t>友だち数／配信到達数／開封率</a:t>
            </a:r>
          </a:p>
        </p:txBody>
      </p:sp>
      <p:sp>
        <p:nvSpPr>
          <p:cNvPr id="32" name="Rectangle 9">
            <a:extLst>
              <a:ext uri="{FF2B5EF4-FFF2-40B4-BE49-F238E27FC236}">
                <a16:creationId xmlns:a16="http://schemas.microsoft.com/office/drawing/2014/main" id="{24002695-377E-A008-465B-19DAB55618DC}"/>
              </a:ext>
            </a:extLst>
          </p:cNvPr>
          <p:cNvSpPr/>
          <p:nvPr/>
        </p:nvSpPr>
        <p:spPr>
          <a:xfrm>
            <a:off x="408432" y="5251553"/>
            <a:ext cx="1773936" cy="256032"/>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000" b="1">
                <a:solidFill>
                  <a:schemeClr val="tx1"/>
                </a:solidFill>
                <a:latin typeface="メイリオ"/>
                <a:ea typeface="メイリオ"/>
                <a:cs typeface="メイリオ"/>
              </a:rPr>
              <a:t>向いている機能</a:t>
            </a:r>
          </a:p>
        </p:txBody>
      </p:sp>
      <p:sp>
        <p:nvSpPr>
          <p:cNvPr id="36" name="Rectangle 10">
            <a:extLst>
              <a:ext uri="{FF2B5EF4-FFF2-40B4-BE49-F238E27FC236}">
                <a16:creationId xmlns:a16="http://schemas.microsoft.com/office/drawing/2014/main" id="{83F02ED9-D873-788D-4F8B-840F449F5E67}"/>
              </a:ext>
            </a:extLst>
          </p:cNvPr>
          <p:cNvSpPr/>
          <p:nvPr/>
        </p:nvSpPr>
        <p:spPr>
          <a:xfrm>
            <a:off x="408432" y="5515675"/>
            <a:ext cx="1773936" cy="740588"/>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000" b="0">
                <a:solidFill>
                  <a:schemeClr val="tx1">
                    <a:lumMod val="65000"/>
                    <a:lumOff val="35000"/>
                  </a:schemeClr>
                </a:solidFill>
                <a:latin typeface="メイリオ"/>
                <a:ea typeface="メイリオ"/>
                <a:cs typeface="メイリオ"/>
              </a:rPr>
              <a:t>企画配信／リッチメニュー</a:t>
            </a:r>
          </a:p>
        </p:txBody>
      </p:sp>
      <p:sp>
        <p:nvSpPr>
          <p:cNvPr id="41" name="Rectangle 12">
            <a:extLst>
              <a:ext uri="{FF2B5EF4-FFF2-40B4-BE49-F238E27FC236}">
                <a16:creationId xmlns:a16="http://schemas.microsoft.com/office/drawing/2014/main" id="{88068114-91B2-5D9E-47D2-54CBE30DEF89}"/>
              </a:ext>
            </a:extLst>
          </p:cNvPr>
          <p:cNvSpPr/>
          <p:nvPr/>
        </p:nvSpPr>
        <p:spPr>
          <a:xfrm>
            <a:off x="2237232" y="2163060"/>
            <a:ext cx="1773936" cy="6858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250" b="1" dirty="0">
                <a:solidFill>
                  <a:srgbClr val="FFFFFF"/>
                </a:solidFill>
                <a:latin typeface="メイリオ"/>
                <a:ea typeface="メイリオ"/>
                <a:cs typeface="メイリオ"/>
              </a:rPr>
              <a:t>CV</a:t>
            </a:r>
            <a:r>
              <a:rPr lang="ja-JP" altLang="en-US" sz="1250" b="1" dirty="0">
                <a:solidFill>
                  <a:srgbClr val="FFFFFF"/>
                </a:solidFill>
                <a:latin typeface="メイリオ"/>
                <a:ea typeface="メイリオ"/>
                <a:cs typeface="メイリオ"/>
              </a:rPr>
              <a:t>最大化</a:t>
            </a:r>
            <a:endParaRPr sz="1250" b="1" dirty="0">
              <a:solidFill>
                <a:srgbClr val="FFFFFF"/>
              </a:solidFill>
              <a:latin typeface="メイリオ"/>
              <a:ea typeface="メイリオ"/>
              <a:cs typeface="メイリオ"/>
            </a:endParaRPr>
          </a:p>
          <a:p>
            <a:pPr algn="ctr">
              <a:spcAft>
                <a:spcPts val="0"/>
              </a:spcAft>
            </a:pPr>
            <a:r>
              <a:rPr sz="950" b="0" dirty="0" err="1">
                <a:solidFill>
                  <a:srgbClr val="FFFFFF"/>
                </a:solidFill>
                <a:latin typeface="メイリオ"/>
                <a:ea typeface="メイリオ"/>
                <a:cs typeface="メイリオ"/>
              </a:rPr>
              <a:t>WEB・実店舗</a:t>
            </a:r>
            <a:endParaRPr sz="950" b="0" dirty="0">
              <a:solidFill>
                <a:srgbClr val="FFFFFF"/>
              </a:solidFill>
              <a:latin typeface="メイリオ"/>
              <a:ea typeface="メイリオ"/>
              <a:cs typeface="メイリオ"/>
            </a:endParaRPr>
          </a:p>
        </p:txBody>
      </p:sp>
      <p:sp>
        <p:nvSpPr>
          <p:cNvPr id="43" name="Rectangle 13">
            <a:extLst>
              <a:ext uri="{FF2B5EF4-FFF2-40B4-BE49-F238E27FC236}">
                <a16:creationId xmlns:a16="http://schemas.microsoft.com/office/drawing/2014/main" id="{35D95F17-69A9-BFB0-0DEF-22C0EB725ED0}"/>
              </a:ext>
            </a:extLst>
          </p:cNvPr>
          <p:cNvSpPr/>
          <p:nvPr/>
        </p:nvSpPr>
        <p:spPr>
          <a:xfrm>
            <a:off x="2237232" y="2887178"/>
            <a:ext cx="1773936" cy="256032"/>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000" b="1">
                <a:solidFill>
                  <a:schemeClr val="tx2"/>
                </a:solidFill>
                <a:latin typeface="メイリオ"/>
                <a:ea typeface="メイリオ"/>
                <a:cs typeface="メイリオ"/>
              </a:rPr>
              <a:t>目的</a:t>
            </a:r>
          </a:p>
        </p:txBody>
      </p:sp>
      <p:sp>
        <p:nvSpPr>
          <p:cNvPr id="45" name="Rectangle 14">
            <a:extLst>
              <a:ext uri="{FF2B5EF4-FFF2-40B4-BE49-F238E27FC236}">
                <a16:creationId xmlns:a16="http://schemas.microsoft.com/office/drawing/2014/main" id="{AF16D352-C907-9B65-3BE4-49A79ABEB20F}"/>
              </a:ext>
            </a:extLst>
          </p:cNvPr>
          <p:cNvSpPr/>
          <p:nvPr/>
        </p:nvSpPr>
        <p:spPr>
          <a:xfrm>
            <a:off x="2237232" y="3143209"/>
            <a:ext cx="1773936" cy="896112"/>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100" b="1" dirty="0" err="1">
                <a:solidFill>
                  <a:srgbClr val="333333"/>
                </a:solidFill>
                <a:latin typeface="メイリオ"/>
                <a:ea typeface="メイリオ"/>
                <a:cs typeface="メイリオ"/>
              </a:rPr>
              <a:t>WEBの申込・予約や</a:t>
            </a:r>
            <a:r>
              <a:rPr sz="1100" b="1" dirty="0">
                <a:solidFill>
                  <a:srgbClr val="333333"/>
                </a:solidFill>
                <a:latin typeface="メイリオ"/>
                <a:ea typeface="メイリオ"/>
                <a:cs typeface="メイリオ"/>
              </a:rPr>
              <a:t>、</a:t>
            </a:r>
            <a:endParaRPr lang="en-US" sz="1100" b="1" dirty="0">
              <a:solidFill>
                <a:srgbClr val="333333"/>
              </a:solidFill>
              <a:latin typeface="メイリオ"/>
              <a:ea typeface="メイリオ"/>
              <a:cs typeface="メイリオ"/>
            </a:endParaRPr>
          </a:p>
          <a:p>
            <a:pPr algn="l">
              <a:spcAft>
                <a:spcPts val="0"/>
              </a:spcAft>
            </a:pPr>
            <a:r>
              <a:rPr sz="1100" b="1" dirty="0" err="1">
                <a:solidFill>
                  <a:srgbClr val="333333"/>
                </a:solidFill>
                <a:latin typeface="メイリオ"/>
                <a:ea typeface="メイリオ"/>
                <a:cs typeface="メイリオ"/>
              </a:rPr>
              <a:t>実店舗の来店</a:t>
            </a:r>
            <a:r>
              <a:rPr sz="1100" b="1" dirty="0">
                <a:solidFill>
                  <a:srgbClr val="333333"/>
                </a:solidFill>
                <a:latin typeface="メイリオ"/>
                <a:ea typeface="メイリオ"/>
                <a:cs typeface="メイリオ"/>
              </a:rPr>
              <a:t>・</a:t>
            </a:r>
            <a:r>
              <a:rPr lang="ja-JP" altLang="en-US" sz="1100" b="1" dirty="0">
                <a:solidFill>
                  <a:srgbClr val="333333"/>
                </a:solidFill>
                <a:latin typeface="メイリオ"/>
                <a:ea typeface="メイリオ"/>
                <a:cs typeface="メイリオ"/>
              </a:rPr>
              <a:t>購入に</a:t>
            </a:r>
            <a:endParaRPr sz="1100" b="1" dirty="0">
              <a:solidFill>
                <a:srgbClr val="333333"/>
              </a:solidFill>
              <a:latin typeface="メイリオ"/>
              <a:ea typeface="メイリオ"/>
              <a:cs typeface="メイリオ"/>
            </a:endParaRPr>
          </a:p>
        </p:txBody>
      </p:sp>
      <p:sp>
        <p:nvSpPr>
          <p:cNvPr id="47" name="Rectangle 15">
            <a:extLst>
              <a:ext uri="{FF2B5EF4-FFF2-40B4-BE49-F238E27FC236}">
                <a16:creationId xmlns:a16="http://schemas.microsoft.com/office/drawing/2014/main" id="{ECF548BA-4F25-D357-FFD9-560CFBC52E16}"/>
              </a:ext>
            </a:extLst>
          </p:cNvPr>
          <p:cNvSpPr/>
          <p:nvPr/>
        </p:nvSpPr>
        <p:spPr>
          <a:xfrm>
            <a:off x="2237232" y="4147747"/>
            <a:ext cx="1773936" cy="256032"/>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000" b="1">
                <a:solidFill>
                  <a:schemeClr val="tx2"/>
                </a:solidFill>
                <a:latin typeface="メイリオ"/>
                <a:ea typeface="メイリオ"/>
                <a:cs typeface="メイリオ"/>
              </a:rPr>
              <a:t>追う指標</a:t>
            </a:r>
          </a:p>
        </p:txBody>
      </p:sp>
      <p:sp>
        <p:nvSpPr>
          <p:cNvPr id="49" name="Rectangle 16">
            <a:extLst>
              <a:ext uri="{FF2B5EF4-FFF2-40B4-BE49-F238E27FC236}">
                <a16:creationId xmlns:a16="http://schemas.microsoft.com/office/drawing/2014/main" id="{4CD5FF1A-1457-7314-0F3D-AA97E2FA4A98}"/>
              </a:ext>
            </a:extLst>
          </p:cNvPr>
          <p:cNvSpPr/>
          <p:nvPr/>
        </p:nvSpPr>
        <p:spPr>
          <a:xfrm>
            <a:off x="2237232" y="4403161"/>
            <a:ext cx="1773936" cy="740588"/>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000" b="0">
                <a:solidFill>
                  <a:schemeClr val="tx1">
                    <a:lumMod val="65000"/>
                    <a:lumOff val="35000"/>
                  </a:schemeClr>
                </a:solidFill>
                <a:latin typeface="メイリオ"/>
                <a:ea typeface="メイリオ"/>
                <a:cs typeface="メイリオ"/>
              </a:rPr>
              <a:t>CV数／CVR／CPA／来店数</a:t>
            </a:r>
          </a:p>
        </p:txBody>
      </p:sp>
      <p:sp>
        <p:nvSpPr>
          <p:cNvPr id="51" name="Rectangle 17">
            <a:extLst>
              <a:ext uri="{FF2B5EF4-FFF2-40B4-BE49-F238E27FC236}">
                <a16:creationId xmlns:a16="http://schemas.microsoft.com/office/drawing/2014/main" id="{12D05AB9-222E-9902-8290-186E965B6FC0}"/>
              </a:ext>
            </a:extLst>
          </p:cNvPr>
          <p:cNvSpPr/>
          <p:nvPr/>
        </p:nvSpPr>
        <p:spPr>
          <a:xfrm>
            <a:off x="2237232" y="5251553"/>
            <a:ext cx="1773936" cy="256032"/>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000" b="1">
                <a:solidFill>
                  <a:schemeClr val="tx1"/>
                </a:solidFill>
                <a:latin typeface="メイリオ"/>
                <a:ea typeface="メイリオ"/>
                <a:cs typeface="メイリオ"/>
              </a:rPr>
              <a:t>向いている機能</a:t>
            </a:r>
          </a:p>
        </p:txBody>
      </p:sp>
      <p:sp>
        <p:nvSpPr>
          <p:cNvPr id="53" name="Rectangle 18">
            <a:extLst>
              <a:ext uri="{FF2B5EF4-FFF2-40B4-BE49-F238E27FC236}">
                <a16:creationId xmlns:a16="http://schemas.microsoft.com/office/drawing/2014/main" id="{DC3C0252-EAC5-F636-A132-78E1C2C2B2AA}"/>
              </a:ext>
            </a:extLst>
          </p:cNvPr>
          <p:cNvSpPr/>
          <p:nvPr/>
        </p:nvSpPr>
        <p:spPr>
          <a:xfrm>
            <a:off x="2237232" y="5515675"/>
            <a:ext cx="1773936" cy="740588"/>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000" b="0">
                <a:solidFill>
                  <a:schemeClr val="tx1">
                    <a:lumMod val="65000"/>
                    <a:lumOff val="35000"/>
                  </a:schemeClr>
                </a:solidFill>
                <a:latin typeface="メイリオ"/>
                <a:ea typeface="メイリオ"/>
                <a:cs typeface="メイリオ"/>
              </a:rPr>
              <a:t>ポップアップ／ステップ配信／リッチメニュー</a:t>
            </a:r>
          </a:p>
        </p:txBody>
      </p:sp>
      <p:sp>
        <p:nvSpPr>
          <p:cNvPr id="57" name="Rectangle 20">
            <a:extLst>
              <a:ext uri="{FF2B5EF4-FFF2-40B4-BE49-F238E27FC236}">
                <a16:creationId xmlns:a16="http://schemas.microsoft.com/office/drawing/2014/main" id="{AB9E57D2-9C3A-6A00-A6E2-0F2E56AC5C82}"/>
              </a:ext>
            </a:extLst>
          </p:cNvPr>
          <p:cNvSpPr/>
          <p:nvPr/>
        </p:nvSpPr>
        <p:spPr>
          <a:xfrm>
            <a:off x="4066032" y="2163060"/>
            <a:ext cx="1773936" cy="6858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250" b="1">
                <a:solidFill>
                  <a:srgbClr val="FFFFFF"/>
                </a:solidFill>
                <a:latin typeface="メイリオ"/>
                <a:ea typeface="メイリオ"/>
                <a:cs typeface="メイリオ"/>
              </a:rPr>
              <a:t>LTV・ユーザーの質</a:t>
            </a:r>
          </a:p>
          <a:p>
            <a:pPr algn="ctr">
              <a:spcAft>
                <a:spcPts val="0"/>
              </a:spcAft>
            </a:pPr>
            <a:r>
              <a:rPr sz="950" b="0">
                <a:solidFill>
                  <a:srgbClr val="FFFFFF"/>
                </a:solidFill>
                <a:latin typeface="メイリオ"/>
                <a:ea typeface="メイリオ"/>
                <a:cs typeface="メイリオ"/>
              </a:rPr>
              <a:t>優良顧客の育成</a:t>
            </a:r>
          </a:p>
        </p:txBody>
      </p:sp>
      <p:sp>
        <p:nvSpPr>
          <p:cNvPr id="60" name="Rectangle 21">
            <a:extLst>
              <a:ext uri="{FF2B5EF4-FFF2-40B4-BE49-F238E27FC236}">
                <a16:creationId xmlns:a16="http://schemas.microsoft.com/office/drawing/2014/main" id="{8A9C7FAF-EA45-CF24-B656-908F5442F50C}"/>
              </a:ext>
            </a:extLst>
          </p:cNvPr>
          <p:cNvSpPr/>
          <p:nvPr/>
        </p:nvSpPr>
        <p:spPr>
          <a:xfrm>
            <a:off x="4066032" y="2887178"/>
            <a:ext cx="1773936" cy="256032"/>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000" b="1">
                <a:solidFill>
                  <a:schemeClr val="tx2"/>
                </a:solidFill>
                <a:latin typeface="メイリオ"/>
                <a:ea typeface="メイリオ"/>
                <a:cs typeface="メイリオ"/>
              </a:rPr>
              <a:t>目的</a:t>
            </a:r>
          </a:p>
        </p:txBody>
      </p:sp>
      <p:sp>
        <p:nvSpPr>
          <p:cNvPr id="62" name="Rectangle 22">
            <a:extLst>
              <a:ext uri="{FF2B5EF4-FFF2-40B4-BE49-F238E27FC236}">
                <a16:creationId xmlns:a16="http://schemas.microsoft.com/office/drawing/2014/main" id="{6CC7BF41-8887-8361-4328-893877256850}"/>
              </a:ext>
            </a:extLst>
          </p:cNvPr>
          <p:cNvSpPr/>
          <p:nvPr/>
        </p:nvSpPr>
        <p:spPr>
          <a:xfrm>
            <a:off x="4066032" y="3143209"/>
            <a:ext cx="1773936" cy="896112"/>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100" b="1" dirty="0" err="1">
                <a:solidFill>
                  <a:srgbClr val="333333"/>
                </a:solidFill>
                <a:latin typeface="メイリオ"/>
                <a:ea typeface="メイリオ"/>
                <a:cs typeface="メイリオ"/>
              </a:rPr>
              <a:t>優良な見込み・顧客を</a:t>
            </a:r>
            <a:endParaRPr lang="en-US" sz="1100" b="1" dirty="0">
              <a:solidFill>
                <a:srgbClr val="333333"/>
              </a:solidFill>
              <a:latin typeface="メイリオ"/>
              <a:ea typeface="メイリオ"/>
              <a:cs typeface="メイリオ"/>
            </a:endParaRPr>
          </a:p>
          <a:p>
            <a:pPr algn="l">
              <a:spcAft>
                <a:spcPts val="0"/>
              </a:spcAft>
            </a:pPr>
            <a:r>
              <a:rPr sz="1100" b="1" dirty="0" err="1">
                <a:solidFill>
                  <a:srgbClr val="333333"/>
                </a:solidFill>
                <a:latin typeface="メイリオ"/>
                <a:ea typeface="メイリオ"/>
                <a:cs typeface="メイリオ"/>
              </a:rPr>
              <a:t>見極め、育てる</a:t>
            </a:r>
            <a:endParaRPr sz="1100" b="1" dirty="0">
              <a:solidFill>
                <a:srgbClr val="333333"/>
              </a:solidFill>
              <a:latin typeface="メイリオ"/>
              <a:ea typeface="メイリオ"/>
              <a:cs typeface="メイリオ"/>
            </a:endParaRPr>
          </a:p>
        </p:txBody>
      </p:sp>
      <p:sp>
        <p:nvSpPr>
          <p:cNvPr id="64" name="Rectangle 23">
            <a:extLst>
              <a:ext uri="{FF2B5EF4-FFF2-40B4-BE49-F238E27FC236}">
                <a16:creationId xmlns:a16="http://schemas.microsoft.com/office/drawing/2014/main" id="{0DDBE270-09C3-11A4-38F6-4AD200C9C94D}"/>
              </a:ext>
            </a:extLst>
          </p:cNvPr>
          <p:cNvSpPr/>
          <p:nvPr/>
        </p:nvSpPr>
        <p:spPr>
          <a:xfrm>
            <a:off x="4066032" y="4147747"/>
            <a:ext cx="1773936" cy="256032"/>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000" b="1">
                <a:solidFill>
                  <a:schemeClr val="tx2"/>
                </a:solidFill>
                <a:latin typeface="メイリオ"/>
                <a:ea typeface="メイリオ"/>
                <a:cs typeface="メイリオ"/>
              </a:rPr>
              <a:t>追う指標</a:t>
            </a:r>
          </a:p>
        </p:txBody>
      </p:sp>
      <p:sp>
        <p:nvSpPr>
          <p:cNvPr id="66" name="Rectangle 24">
            <a:extLst>
              <a:ext uri="{FF2B5EF4-FFF2-40B4-BE49-F238E27FC236}">
                <a16:creationId xmlns:a16="http://schemas.microsoft.com/office/drawing/2014/main" id="{A6EECE04-D4EC-CDF0-B34C-60A31C1CDC8D}"/>
              </a:ext>
            </a:extLst>
          </p:cNvPr>
          <p:cNvSpPr/>
          <p:nvPr/>
        </p:nvSpPr>
        <p:spPr>
          <a:xfrm>
            <a:off x="4066032" y="4403161"/>
            <a:ext cx="1773936" cy="740588"/>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000" b="0">
                <a:solidFill>
                  <a:schemeClr val="tx1">
                    <a:lumMod val="65000"/>
                    <a:lumOff val="35000"/>
                  </a:schemeClr>
                </a:solidFill>
                <a:latin typeface="メイリオ"/>
                <a:ea typeface="メイリオ"/>
                <a:cs typeface="メイリオ"/>
              </a:rPr>
              <a:t>アクティブ率／ブロック率／継続率／客単価</a:t>
            </a:r>
          </a:p>
        </p:txBody>
      </p:sp>
      <p:sp>
        <p:nvSpPr>
          <p:cNvPr id="68" name="Rectangle 25">
            <a:extLst>
              <a:ext uri="{FF2B5EF4-FFF2-40B4-BE49-F238E27FC236}">
                <a16:creationId xmlns:a16="http://schemas.microsoft.com/office/drawing/2014/main" id="{EBC8045D-930A-FA3E-65AE-3A756DDEA8D0}"/>
              </a:ext>
            </a:extLst>
          </p:cNvPr>
          <p:cNvSpPr/>
          <p:nvPr/>
        </p:nvSpPr>
        <p:spPr>
          <a:xfrm>
            <a:off x="4066032" y="5251553"/>
            <a:ext cx="1773936" cy="256032"/>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000" b="1">
                <a:solidFill>
                  <a:schemeClr val="tx1"/>
                </a:solidFill>
                <a:latin typeface="メイリオ"/>
                <a:ea typeface="メイリオ"/>
                <a:cs typeface="メイリオ"/>
              </a:rPr>
              <a:t>向いている機能</a:t>
            </a:r>
          </a:p>
        </p:txBody>
      </p:sp>
      <p:sp>
        <p:nvSpPr>
          <p:cNvPr id="70" name="Rectangle 26">
            <a:extLst>
              <a:ext uri="{FF2B5EF4-FFF2-40B4-BE49-F238E27FC236}">
                <a16:creationId xmlns:a16="http://schemas.microsoft.com/office/drawing/2014/main" id="{FAB78CD6-C04D-A78B-1979-D1C6E3031729}"/>
              </a:ext>
            </a:extLst>
          </p:cNvPr>
          <p:cNvSpPr/>
          <p:nvPr/>
        </p:nvSpPr>
        <p:spPr>
          <a:xfrm>
            <a:off x="4066032" y="5515675"/>
            <a:ext cx="1773936" cy="740588"/>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000" b="0">
                <a:solidFill>
                  <a:schemeClr val="tx1">
                    <a:lumMod val="65000"/>
                    <a:lumOff val="35000"/>
                  </a:schemeClr>
                </a:solidFill>
                <a:latin typeface="メイリオ"/>
                <a:ea typeface="メイリオ"/>
                <a:cs typeface="メイリオ"/>
              </a:rPr>
              <a:t>アンケート／タグ・セグメント／挨拶メッセージ</a:t>
            </a:r>
          </a:p>
        </p:txBody>
      </p:sp>
      <p:sp>
        <p:nvSpPr>
          <p:cNvPr id="74" name="Rectangle 28">
            <a:extLst>
              <a:ext uri="{FF2B5EF4-FFF2-40B4-BE49-F238E27FC236}">
                <a16:creationId xmlns:a16="http://schemas.microsoft.com/office/drawing/2014/main" id="{D6A1A411-0761-977A-6EC4-652572684D97}"/>
              </a:ext>
            </a:extLst>
          </p:cNvPr>
          <p:cNvSpPr/>
          <p:nvPr/>
        </p:nvSpPr>
        <p:spPr>
          <a:xfrm>
            <a:off x="5894832" y="2163060"/>
            <a:ext cx="1773936" cy="6858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250" b="1">
                <a:solidFill>
                  <a:srgbClr val="FFFFFF"/>
                </a:solidFill>
                <a:latin typeface="メイリオ"/>
                <a:ea typeface="メイリオ"/>
                <a:cs typeface="メイリオ"/>
              </a:rPr>
              <a:t>リピート</a:t>
            </a:r>
          </a:p>
          <a:p>
            <a:pPr algn="ctr">
              <a:spcAft>
                <a:spcPts val="0"/>
              </a:spcAft>
            </a:pPr>
            <a:r>
              <a:rPr sz="950" b="0">
                <a:solidFill>
                  <a:srgbClr val="FFFFFF"/>
                </a:solidFill>
                <a:latin typeface="メイリオ"/>
                <a:ea typeface="メイリオ"/>
                <a:cs typeface="メイリオ"/>
              </a:rPr>
              <a:t>再購入・再来店</a:t>
            </a:r>
          </a:p>
        </p:txBody>
      </p:sp>
      <p:sp>
        <p:nvSpPr>
          <p:cNvPr id="76" name="Rectangle 29">
            <a:extLst>
              <a:ext uri="{FF2B5EF4-FFF2-40B4-BE49-F238E27FC236}">
                <a16:creationId xmlns:a16="http://schemas.microsoft.com/office/drawing/2014/main" id="{75906DAF-D632-DFE1-A336-7943CDAA5379}"/>
              </a:ext>
            </a:extLst>
          </p:cNvPr>
          <p:cNvSpPr/>
          <p:nvPr/>
        </p:nvSpPr>
        <p:spPr>
          <a:xfrm>
            <a:off x="5894832" y="2887178"/>
            <a:ext cx="1773936" cy="256032"/>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000" b="1">
                <a:solidFill>
                  <a:schemeClr val="tx2"/>
                </a:solidFill>
                <a:latin typeface="メイリオ"/>
                <a:ea typeface="メイリオ"/>
                <a:cs typeface="メイリオ"/>
              </a:rPr>
              <a:t>目的</a:t>
            </a:r>
          </a:p>
        </p:txBody>
      </p:sp>
      <p:sp>
        <p:nvSpPr>
          <p:cNvPr id="78" name="Rectangle 30">
            <a:extLst>
              <a:ext uri="{FF2B5EF4-FFF2-40B4-BE49-F238E27FC236}">
                <a16:creationId xmlns:a16="http://schemas.microsoft.com/office/drawing/2014/main" id="{CD032C05-9EE1-EF04-2AFC-D7D5BC88127F}"/>
              </a:ext>
            </a:extLst>
          </p:cNvPr>
          <p:cNvSpPr/>
          <p:nvPr/>
        </p:nvSpPr>
        <p:spPr>
          <a:xfrm>
            <a:off x="5894832" y="3143209"/>
            <a:ext cx="1773936" cy="896112"/>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100" b="1" dirty="0" err="1">
                <a:solidFill>
                  <a:srgbClr val="333333"/>
                </a:solidFill>
                <a:latin typeface="メイリオ"/>
                <a:ea typeface="メイリオ"/>
                <a:cs typeface="メイリオ"/>
              </a:rPr>
              <a:t>再購入・再来店の</a:t>
            </a:r>
            <a:endParaRPr lang="en-US" sz="1100" b="1" dirty="0">
              <a:solidFill>
                <a:srgbClr val="333333"/>
              </a:solidFill>
              <a:latin typeface="メイリオ"/>
              <a:ea typeface="メイリオ"/>
              <a:cs typeface="メイリオ"/>
            </a:endParaRPr>
          </a:p>
          <a:p>
            <a:pPr algn="l">
              <a:spcAft>
                <a:spcPts val="0"/>
              </a:spcAft>
            </a:pPr>
            <a:r>
              <a:rPr sz="1100" b="1" dirty="0" err="1">
                <a:solidFill>
                  <a:srgbClr val="333333"/>
                </a:solidFill>
                <a:latin typeface="メイリオ"/>
                <a:ea typeface="メイリオ"/>
                <a:cs typeface="メイリオ"/>
              </a:rPr>
              <a:t>タイミングで必要な人</a:t>
            </a:r>
            <a:r>
              <a:rPr lang="ja-JP" altLang="en-US" sz="1100" b="1" dirty="0">
                <a:solidFill>
                  <a:srgbClr val="333333"/>
                </a:solidFill>
                <a:latin typeface="メイリオ"/>
                <a:ea typeface="メイリオ"/>
                <a:cs typeface="メイリオ"/>
              </a:rPr>
              <a:t>へ</a:t>
            </a:r>
            <a:endParaRPr sz="1100" b="1" dirty="0">
              <a:solidFill>
                <a:srgbClr val="333333"/>
              </a:solidFill>
              <a:latin typeface="メイリオ"/>
              <a:ea typeface="メイリオ"/>
              <a:cs typeface="メイリオ"/>
            </a:endParaRPr>
          </a:p>
        </p:txBody>
      </p:sp>
      <p:sp>
        <p:nvSpPr>
          <p:cNvPr id="80" name="Rectangle 31">
            <a:extLst>
              <a:ext uri="{FF2B5EF4-FFF2-40B4-BE49-F238E27FC236}">
                <a16:creationId xmlns:a16="http://schemas.microsoft.com/office/drawing/2014/main" id="{BFF607A5-74EE-9D3F-E07E-23B5DAB0505C}"/>
              </a:ext>
            </a:extLst>
          </p:cNvPr>
          <p:cNvSpPr/>
          <p:nvPr/>
        </p:nvSpPr>
        <p:spPr>
          <a:xfrm>
            <a:off x="5894832" y="4147747"/>
            <a:ext cx="1773936" cy="256032"/>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000" b="1">
                <a:solidFill>
                  <a:schemeClr val="tx2"/>
                </a:solidFill>
                <a:latin typeface="メイリオ"/>
                <a:ea typeface="メイリオ"/>
                <a:cs typeface="メイリオ"/>
              </a:rPr>
              <a:t>追う指標</a:t>
            </a:r>
          </a:p>
        </p:txBody>
      </p:sp>
      <p:sp>
        <p:nvSpPr>
          <p:cNvPr id="82" name="Rectangle 32">
            <a:extLst>
              <a:ext uri="{FF2B5EF4-FFF2-40B4-BE49-F238E27FC236}">
                <a16:creationId xmlns:a16="http://schemas.microsoft.com/office/drawing/2014/main" id="{50FD0BE7-952B-2A01-998C-6E1602F9524C}"/>
              </a:ext>
            </a:extLst>
          </p:cNvPr>
          <p:cNvSpPr/>
          <p:nvPr/>
        </p:nvSpPr>
        <p:spPr>
          <a:xfrm>
            <a:off x="5894832" y="4403161"/>
            <a:ext cx="1773936" cy="740588"/>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000" b="0">
                <a:solidFill>
                  <a:schemeClr val="tx1">
                    <a:lumMod val="65000"/>
                    <a:lumOff val="35000"/>
                  </a:schemeClr>
                </a:solidFill>
                <a:latin typeface="メイリオ"/>
                <a:ea typeface="メイリオ"/>
                <a:cs typeface="メイリオ"/>
              </a:rPr>
              <a:t>リピート率／再来店数／購入間隔</a:t>
            </a:r>
          </a:p>
        </p:txBody>
      </p:sp>
      <p:sp>
        <p:nvSpPr>
          <p:cNvPr id="84" name="Rectangle 33">
            <a:extLst>
              <a:ext uri="{FF2B5EF4-FFF2-40B4-BE49-F238E27FC236}">
                <a16:creationId xmlns:a16="http://schemas.microsoft.com/office/drawing/2014/main" id="{FC2A570B-9E54-FAC3-01D5-C53C4A413CC4}"/>
              </a:ext>
            </a:extLst>
          </p:cNvPr>
          <p:cNvSpPr/>
          <p:nvPr/>
        </p:nvSpPr>
        <p:spPr>
          <a:xfrm>
            <a:off x="5894832" y="5251553"/>
            <a:ext cx="1773936" cy="256032"/>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000" b="1">
                <a:solidFill>
                  <a:schemeClr val="tx1"/>
                </a:solidFill>
                <a:latin typeface="メイリオ"/>
                <a:ea typeface="メイリオ"/>
                <a:cs typeface="メイリオ"/>
              </a:rPr>
              <a:t>向いている機能</a:t>
            </a:r>
          </a:p>
        </p:txBody>
      </p:sp>
      <p:sp>
        <p:nvSpPr>
          <p:cNvPr id="86" name="Rectangle 34">
            <a:extLst>
              <a:ext uri="{FF2B5EF4-FFF2-40B4-BE49-F238E27FC236}">
                <a16:creationId xmlns:a16="http://schemas.microsoft.com/office/drawing/2014/main" id="{CC3A9112-7923-428F-67F2-2231466F8C27}"/>
              </a:ext>
            </a:extLst>
          </p:cNvPr>
          <p:cNvSpPr/>
          <p:nvPr/>
        </p:nvSpPr>
        <p:spPr>
          <a:xfrm>
            <a:off x="5894832" y="5515675"/>
            <a:ext cx="1773936" cy="740588"/>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000" b="0">
                <a:solidFill>
                  <a:schemeClr val="tx1">
                    <a:lumMod val="65000"/>
                    <a:lumOff val="35000"/>
                  </a:schemeClr>
                </a:solidFill>
                <a:latin typeface="メイリオ"/>
                <a:ea typeface="メイリオ"/>
                <a:cs typeface="メイリオ"/>
              </a:rPr>
              <a:t>企画配信／セグメント／ステップ配信</a:t>
            </a:r>
          </a:p>
        </p:txBody>
      </p:sp>
      <p:sp>
        <p:nvSpPr>
          <p:cNvPr id="90" name="Rectangle 36">
            <a:extLst>
              <a:ext uri="{FF2B5EF4-FFF2-40B4-BE49-F238E27FC236}">
                <a16:creationId xmlns:a16="http://schemas.microsoft.com/office/drawing/2014/main" id="{E81296C5-352B-E383-B51D-61DCBDFB5FD6}"/>
              </a:ext>
            </a:extLst>
          </p:cNvPr>
          <p:cNvSpPr/>
          <p:nvPr/>
        </p:nvSpPr>
        <p:spPr>
          <a:xfrm>
            <a:off x="7723632" y="2163060"/>
            <a:ext cx="1773936" cy="685800"/>
          </a:xfrm>
          <a:prstGeom prst="rect">
            <a:avLst/>
          </a:prstGeom>
          <a:solidFill>
            <a:schemeClr val="tx2">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250" b="1">
                <a:solidFill>
                  <a:srgbClr val="FFFFFF"/>
                </a:solidFill>
                <a:latin typeface="メイリオ"/>
                <a:ea typeface="メイリオ"/>
                <a:cs typeface="メイリオ"/>
              </a:rPr>
              <a:t>限定コミュニティ運営</a:t>
            </a:r>
          </a:p>
          <a:p>
            <a:pPr algn="ctr">
              <a:spcAft>
                <a:spcPts val="0"/>
              </a:spcAft>
            </a:pPr>
            <a:r>
              <a:rPr sz="950" b="0">
                <a:solidFill>
                  <a:srgbClr val="FFFFFF"/>
                </a:solidFill>
                <a:latin typeface="メイリオ"/>
                <a:ea typeface="メイリオ"/>
                <a:cs typeface="メイリオ"/>
              </a:rPr>
              <a:t>ファン化</a:t>
            </a:r>
          </a:p>
        </p:txBody>
      </p:sp>
      <p:sp>
        <p:nvSpPr>
          <p:cNvPr id="92" name="Rectangle 37">
            <a:extLst>
              <a:ext uri="{FF2B5EF4-FFF2-40B4-BE49-F238E27FC236}">
                <a16:creationId xmlns:a16="http://schemas.microsoft.com/office/drawing/2014/main" id="{4F8A6AAC-536B-B6BB-71E9-3125F900E9F4}"/>
              </a:ext>
            </a:extLst>
          </p:cNvPr>
          <p:cNvSpPr/>
          <p:nvPr/>
        </p:nvSpPr>
        <p:spPr>
          <a:xfrm>
            <a:off x="7723632" y="2887178"/>
            <a:ext cx="1773936" cy="256032"/>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000" b="1">
                <a:solidFill>
                  <a:schemeClr val="tx2"/>
                </a:solidFill>
                <a:latin typeface="メイリオ"/>
                <a:ea typeface="メイリオ"/>
                <a:cs typeface="メイリオ"/>
              </a:rPr>
              <a:t>目的</a:t>
            </a:r>
          </a:p>
        </p:txBody>
      </p:sp>
      <p:sp>
        <p:nvSpPr>
          <p:cNvPr id="94" name="Rectangle 38">
            <a:extLst>
              <a:ext uri="{FF2B5EF4-FFF2-40B4-BE49-F238E27FC236}">
                <a16:creationId xmlns:a16="http://schemas.microsoft.com/office/drawing/2014/main" id="{D7046182-3DF8-2C37-71A9-B94D9F3579B2}"/>
              </a:ext>
            </a:extLst>
          </p:cNvPr>
          <p:cNvSpPr/>
          <p:nvPr/>
        </p:nvSpPr>
        <p:spPr>
          <a:xfrm>
            <a:off x="7723632" y="3143209"/>
            <a:ext cx="1773936" cy="896112"/>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100" b="1" dirty="0" err="1">
                <a:solidFill>
                  <a:srgbClr val="333333"/>
                </a:solidFill>
                <a:latin typeface="メイリオ"/>
                <a:ea typeface="メイリオ"/>
                <a:cs typeface="メイリオ"/>
              </a:rPr>
              <a:t>会員・ファン向けに</a:t>
            </a:r>
            <a:endParaRPr lang="en-US" sz="1100" b="1" dirty="0">
              <a:solidFill>
                <a:srgbClr val="333333"/>
              </a:solidFill>
              <a:latin typeface="メイリオ"/>
              <a:ea typeface="メイリオ"/>
              <a:cs typeface="メイリオ"/>
            </a:endParaRPr>
          </a:p>
          <a:p>
            <a:pPr algn="l">
              <a:spcAft>
                <a:spcPts val="0"/>
              </a:spcAft>
            </a:pPr>
            <a:r>
              <a:rPr sz="1100" b="1" dirty="0" err="1">
                <a:solidFill>
                  <a:srgbClr val="333333"/>
                </a:solidFill>
                <a:latin typeface="メイリオ"/>
                <a:ea typeface="メイリオ"/>
                <a:cs typeface="メイリオ"/>
              </a:rPr>
              <a:t>限定情報と特典を届け</a:t>
            </a:r>
            <a:r>
              <a:rPr lang="ja-JP" altLang="en-US" sz="1100" b="1" dirty="0">
                <a:solidFill>
                  <a:srgbClr val="333333"/>
                </a:solidFill>
                <a:latin typeface="メイリオ"/>
                <a:ea typeface="メイリオ"/>
                <a:cs typeface="メイリオ"/>
              </a:rPr>
              <a:t>る</a:t>
            </a:r>
            <a:endParaRPr sz="1100" b="1" dirty="0">
              <a:solidFill>
                <a:srgbClr val="333333"/>
              </a:solidFill>
              <a:latin typeface="メイリオ"/>
              <a:ea typeface="メイリオ"/>
              <a:cs typeface="メイリオ"/>
            </a:endParaRPr>
          </a:p>
        </p:txBody>
      </p:sp>
      <p:sp>
        <p:nvSpPr>
          <p:cNvPr id="96" name="Rectangle 39">
            <a:extLst>
              <a:ext uri="{FF2B5EF4-FFF2-40B4-BE49-F238E27FC236}">
                <a16:creationId xmlns:a16="http://schemas.microsoft.com/office/drawing/2014/main" id="{B6098F37-D497-5015-0B5E-21B88967F2BD}"/>
              </a:ext>
            </a:extLst>
          </p:cNvPr>
          <p:cNvSpPr/>
          <p:nvPr/>
        </p:nvSpPr>
        <p:spPr>
          <a:xfrm>
            <a:off x="7723632" y="4147747"/>
            <a:ext cx="1773936" cy="256032"/>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000" b="1">
                <a:solidFill>
                  <a:schemeClr val="tx2"/>
                </a:solidFill>
                <a:latin typeface="メイリオ"/>
                <a:ea typeface="メイリオ"/>
                <a:cs typeface="メイリオ"/>
              </a:rPr>
              <a:t>追う指標</a:t>
            </a:r>
          </a:p>
        </p:txBody>
      </p:sp>
      <p:sp>
        <p:nvSpPr>
          <p:cNvPr id="98" name="Rectangle 40">
            <a:extLst>
              <a:ext uri="{FF2B5EF4-FFF2-40B4-BE49-F238E27FC236}">
                <a16:creationId xmlns:a16="http://schemas.microsoft.com/office/drawing/2014/main" id="{0BE96C36-A9FB-4161-3395-F63CA2F081B0}"/>
              </a:ext>
            </a:extLst>
          </p:cNvPr>
          <p:cNvSpPr/>
          <p:nvPr/>
        </p:nvSpPr>
        <p:spPr>
          <a:xfrm>
            <a:off x="7723632" y="4403161"/>
            <a:ext cx="1773936" cy="740588"/>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000" b="0">
                <a:solidFill>
                  <a:schemeClr val="tx1">
                    <a:lumMod val="65000"/>
                    <a:lumOff val="35000"/>
                  </a:schemeClr>
                </a:solidFill>
                <a:latin typeface="メイリオ"/>
                <a:ea typeface="メイリオ"/>
                <a:cs typeface="メイリオ"/>
              </a:rPr>
              <a:t>会員数／反応率／参加率／紹介数</a:t>
            </a:r>
          </a:p>
        </p:txBody>
      </p:sp>
      <p:sp>
        <p:nvSpPr>
          <p:cNvPr id="100" name="Rectangle 41">
            <a:extLst>
              <a:ext uri="{FF2B5EF4-FFF2-40B4-BE49-F238E27FC236}">
                <a16:creationId xmlns:a16="http://schemas.microsoft.com/office/drawing/2014/main" id="{F797EE57-6A7A-D477-5F93-76E5E55D9A24}"/>
              </a:ext>
            </a:extLst>
          </p:cNvPr>
          <p:cNvSpPr/>
          <p:nvPr/>
        </p:nvSpPr>
        <p:spPr>
          <a:xfrm>
            <a:off x="7723632" y="5251553"/>
            <a:ext cx="1773936" cy="256032"/>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000" b="1">
                <a:solidFill>
                  <a:schemeClr val="tx1"/>
                </a:solidFill>
                <a:latin typeface="メイリオ"/>
                <a:ea typeface="メイリオ"/>
                <a:cs typeface="メイリオ"/>
              </a:rPr>
              <a:t>向いている機能</a:t>
            </a:r>
          </a:p>
        </p:txBody>
      </p:sp>
      <p:sp>
        <p:nvSpPr>
          <p:cNvPr id="102" name="Rectangle 42">
            <a:extLst>
              <a:ext uri="{FF2B5EF4-FFF2-40B4-BE49-F238E27FC236}">
                <a16:creationId xmlns:a16="http://schemas.microsoft.com/office/drawing/2014/main" id="{23E4C735-B371-F9B9-63D2-A7A1E489E4DC}"/>
              </a:ext>
            </a:extLst>
          </p:cNvPr>
          <p:cNvSpPr/>
          <p:nvPr/>
        </p:nvSpPr>
        <p:spPr>
          <a:xfrm>
            <a:off x="7723632" y="5515675"/>
            <a:ext cx="1773936" cy="740588"/>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000" b="0">
                <a:solidFill>
                  <a:schemeClr val="tx1">
                    <a:lumMod val="65000"/>
                    <a:lumOff val="35000"/>
                  </a:schemeClr>
                </a:solidFill>
                <a:latin typeface="メイリオ"/>
                <a:ea typeface="メイリオ"/>
                <a:cs typeface="メイリオ"/>
              </a:rPr>
              <a:t>タグ・セグメント／企画配信／リッチメニュー</a:t>
            </a:r>
          </a:p>
        </p:txBody>
      </p:sp>
      <p:sp>
        <p:nvSpPr>
          <p:cNvPr id="104" name="Rectangle 43">
            <a:extLst>
              <a:ext uri="{FF2B5EF4-FFF2-40B4-BE49-F238E27FC236}">
                <a16:creationId xmlns:a16="http://schemas.microsoft.com/office/drawing/2014/main" id="{FADE5E5B-B891-E92E-6D6C-55784FACE1C5}"/>
              </a:ext>
            </a:extLst>
          </p:cNvPr>
          <p:cNvSpPr/>
          <p:nvPr/>
        </p:nvSpPr>
        <p:spPr>
          <a:xfrm>
            <a:off x="408432" y="6373649"/>
            <a:ext cx="9144000" cy="91"/>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a:p>
        </p:txBody>
      </p:sp>
      <p:sp>
        <p:nvSpPr>
          <p:cNvPr id="106" name="Rectangle 44">
            <a:extLst>
              <a:ext uri="{FF2B5EF4-FFF2-40B4-BE49-F238E27FC236}">
                <a16:creationId xmlns:a16="http://schemas.microsoft.com/office/drawing/2014/main" id="{1398E17B-A660-9AA8-3264-8469AAE20AC9}"/>
              </a:ext>
            </a:extLst>
          </p:cNvPr>
          <p:cNvSpPr/>
          <p:nvPr/>
        </p:nvSpPr>
        <p:spPr>
          <a:xfrm>
            <a:off x="408432" y="6316543"/>
            <a:ext cx="9144000" cy="18736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t"/>
          <a:lstStyle/>
          <a:p>
            <a:pPr algn="l">
              <a:spcAft>
                <a:spcPts val="300"/>
              </a:spcAft>
            </a:pPr>
            <a:r>
              <a:rPr sz="800" b="0">
                <a:solidFill>
                  <a:srgbClr val="777777"/>
                </a:solidFill>
                <a:latin typeface="メイリオ"/>
                <a:ea typeface="メイリオ"/>
                <a:cs typeface="メイリオ"/>
              </a:rPr>
              <a:t>※一般的な整理。貴社の目的に合わせて重みづけを調整します</a:t>
            </a:r>
          </a:p>
        </p:txBody>
      </p:sp>
      <p:sp>
        <p:nvSpPr>
          <p:cNvPr id="108" name="Oval 3">
            <a:extLst>
              <a:ext uri="{FF2B5EF4-FFF2-40B4-BE49-F238E27FC236}">
                <a16:creationId xmlns:a16="http://schemas.microsoft.com/office/drawing/2014/main" id="{57AC0B05-AFA9-1596-F07B-3F4E24B73CD1}"/>
              </a:ext>
            </a:extLst>
          </p:cNvPr>
          <p:cNvSpPr/>
          <p:nvPr/>
        </p:nvSpPr>
        <p:spPr>
          <a:xfrm>
            <a:off x="382305" y="2042144"/>
            <a:ext cx="343501" cy="283885"/>
          </a:xfrm>
          <a:prstGeom prst="ellipse">
            <a:avLst/>
          </a:prstGeom>
          <a:solidFill>
            <a:schemeClr val="bg1">
              <a:lumMod val="8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0" tIns="18288" rIns="0" bIns="18288" rtlCol="0" anchor="ctr"/>
          <a:lstStyle/>
          <a:p>
            <a:pPr algn="ctr">
              <a:spcAft>
                <a:spcPts val="0"/>
              </a:spcAft>
            </a:pPr>
            <a:r>
              <a:rPr sz="1050" b="1">
                <a:solidFill>
                  <a:schemeClr val="tx1"/>
                </a:solidFill>
                <a:latin typeface="メイリオ"/>
                <a:ea typeface="メイリオ"/>
                <a:cs typeface="メイリオ"/>
              </a:rPr>
              <a:t>1</a:t>
            </a:r>
          </a:p>
        </p:txBody>
      </p:sp>
      <p:sp>
        <p:nvSpPr>
          <p:cNvPr id="110" name="Oval 11">
            <a:extLst>
              <a:ext uri="{FF2B5EF4-FFF2-40B4-BE49-F238E27FC236}">
                <a16:creationId xmlns:a16="http://schemas.microsoft.com/office/drawing/2014/main" id="{301FA881-6688-198B-2701-68129B242FE7}"/>
              </a:ext>
            </a:extLst>
          </p:cNvPr>
          <p:cNvSpPr/>
          <p:nvPr/>
        </p:nvSpPr>
        <p:spPr>
          <a:xfrm>
            <a:off x="2211106" y="2042144"/>
            <a:ext cx="343501" cy="283885"/>
          </a:xfrm>
          <a:prstGeom prst="ellipse">
            <a:avLst/>
          </a:prstGeom>
          <a:solidFill>
            <a:schemeClr val="bg1">
              <a:lumMod val="8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0" tIns="18288" rIns="0" bIns="18288" rtlCol="0" anchor="ctr"/>
          <a:lstStyle/>
          <a:p>
            <a:pPr algn="ctr">
              <a:spcAft>
                <a:spcPts val="0"/>
              </a:spcAft>
            </a:pPr>
            <a:r>
              <a:rPr sz="1050" b="1">
                <a:solidFill>
                  <a:schemeClr val="tx1"/>
                </a:solidFill>
                <a:latin typeface="メイリオ"/>
                <a:ea typeface="メイリオ"/>
                <a:cs typeface="メイリオ"/>
              </a:rPr>
              <a:t>2</a:t>
            </a:r>
          </a:p>
        </p:txBody>
      </p:sp>
      <p:sp>
        <p:nvSpPr>
          <p:cNvPr id="112" name="Oval 19">
            <a:extLst>
              <a:ext uri="{FF2B5EF4-FFF2-40B4-BE49-F238E27FC236}">
                <a16:creationId xmlns:a16="http://schemas.microsoft.com/office/drawing/2014/main" id="{E3DF8A67-626B-3C95-A49A-BFCF74DB564F}"/>
              </a:ext>
            </a:extLst>
          </p:cNvPr>
          <p:cNvSpPr/>
          <p:nvPr/>
        </p:nvSpPr>
        <p:spPr>
          <a:xfrm>
            <a:off x="4039906" y="2042144"/>
            <a:ext cx="343501" cy="283885"/>
          </a:xfrm>
          <a:prstGeom prst="ellipse">
            <a:avLst/>
          </a:prstGeom>
          <a:solidFill>
            <a:schemeClr val="bg1">
              <a:lumMod val="8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0" tIns="18288" rIns="0" bIns="18288" rtlCol="0" anchor="ctr"/>
          <a:lstStyle/>
          <a:p>
            <a:pPr algn="ctr">
              <a:spcAft>
                <a:spcPts val="0"/>
              </a:spcAft>
            </a:pPr>
            <a:r>
              <a:rPr sz="1050" b="1">
                <a:solidFill>
                  <a:schemeClr val="tx1"/>
                </a:solidFill>
                <a:latin typeface="メイリオ"/>
                <a:ea typeface="メイリオ"/>
                <a:cs typeface="メイリオ"/>
              </a:rPr>
              <a:t>3</a:t>
            </a:r>
          </a:p>
        </p:txBody>
      </p:sp>
      <p:sp>
        <p:nvSpPr>
          <p:cNvPr id="114" name="Oval 27">
            <a:extLst>
              <a:ext uri="{FF2B5EF4-FFF2-40B4-BE49-F238E27FC236}">
                <a16:creationId xmlns:a16="http://schemas.microsoft.com/office/drawing/2014/main" id="{31028558-CEAD-B484-640D-13F5CB89F12B}"/>
              </a:ext>
            </a:extLst>
          </p:cNvPr>
          <p:cNvSpPr/>
          <p:nvPr/>
        </p:nvSpPr>
        <p:spPr>
          <a:xfrm>
            <a:off x="5868706" y="2042144"/>
            <a:ext cx="343501" cy="283885"/>
          </a:xfrm>
          <a:prstGeom prst="ellipse">
            <a:avLst/>
          </a:prstGeom>
          <a:solidFill>
            <a:schemeClr val="bg1">
              <a:lumMod val="8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0" tIns="18288" rIns="0" bIns="18288" rtlCol="0" anchor="ctr"/>
          <a:lstStyle/>
          <a:p>
            <a:pPr algn="ctr">
              <a:spcAft>
                <a:spcPts val="0"/>
              </a:spcAft>
            </a:pPr>
            <a:r>
              <a:rPr sz="1050" b="1">
                <a:solidFill>
                  <a:schemeClr val="tx1"/>
                </a:solidFill>
                <a:latin typeface="メイリオ"/>
                <a:ea typeface="メイリオ"/>
                <a:cs typeface="メイリオ"/>
              </a:rPr>
              <a:t>4</a:t>
            </a:r>
          </a:p>
        </p:txBody>
      </p:sp>
      <p:sp>
        <p:nvSpPr>
          <p:cNvPr id="116" name="Oval 35">
            <a:extLst>
              <a:ext uri="{FF2B5EF4-FFF2-40B4-BE49-F238E27FC236}">
                <a16:creationId xmlns:a16="http://schemas.microsoft.com/office/drawing/2014/main" id="{713600C5-45EC-B1DD-3B2D-86B0566C431F}"/>
              </a:ext>
            </a:extLst>
          </p:cNvPr>
          <p:cNvSpPr/>
          <p:nvPr/>
        </p:nvSpPr>
        <p:spPr>
          <a:xfrm>
            <a:off x="7697505" y="2042144"/>
            <a:ext cx="343501" cy="283885"/>
          </a:xfrm>
          <a:prstGeom prst="ellipse">
            <a:avLst/>
          </a:prstGeom>
          <a:solidFill>
            <a:schemeClr val="bg1">
              <a:lumMod val="8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0" tIns="18288" rIns="0" bIns="18288" rtlCol="0" anchor="ctr"/>
          <a:lstStyle/>
          <a:p>
            <a:pPr algn="ctr">
              <a:spcAft>
                <a:spcPts val="0"/>
              </a:spcAft>
            </a:pPr>
            <a:r>
              <a:rPr sz="1050" b="1">
                <a:solidFill>
                  <a:schemeClr val="tx1"/>
                </a:solidFill>
                <a:latin typeface="メイリオ"/>
                <a:ea typeface="メイリオ"/>
                <a:cs typeface="メイリオ"/>
              </a:rPr>
              <a:t>5</a:t>
            </a:r>
          </a:p>
        </p:txBody>
      </p:sp>
    </p:spTree>
    <p:extLst>
      <p:ext uri="{BB962C8B-B14F-4D97-AF65-F5344CB8AC3E}">
        <p14:creationId xmlns:p14="http://schemas.microsoft.com/office/powerpoint/2010/main" val="408086598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B97C76-735E-4062-F6F5-F8388CBB95DC}"/>
            </a:ext>
          </a:extLst>
        </p:cNvPr>
        <p:cNvGrpSpPr/>
        <p:nvPr/>
      </p:nvGrpSpPr>
      <p:grpSpPr>
        <a:xfrm>
          <a:off x="0" y="0"/>
          <a:ext cx="0" cy="0"/>
          <a:chOff x="0" y="0"/>
          <a:chExt cx="0" cy="0"/>
        </a:xfrm>
      </p:grpSpPr>
      <p:sp>
        <p:nvSpPr>
          <p:cNvPr id="58" name="正方形/長方形 57">
            <a:extLst>
              <a:ext uri="{FF2B5EF4-FFF2-40B4-BE49-F238E27FC236}">
                <a16:creationId xmlns:a16="http://schemas.microsoft.com/office/drawing/2014/main" id="{44A10F2E-7086-34EF-5EA3-C29208499DA7}"/>
              </a:ext>
            </a:extLst>
          </p:cNvPr>
          <p:cNvSpPr/>
          <p:nvPr/>
        </p:nvSpPr>
        <p:spPr>
          <a:xfrm>
            <a:off x="96788" y="1045811"/>
            <a:ext cx="1935768" cy="21878"/>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100" b="1" dirty="0">
              <a:latin typeface="メイリオ" panose="020B0604030504040204" pitchFamily="50" charset="-128"/>
              <a:ea typeface="メイリオ" panose="020B0604030504040204" pitchFamily="50" charset="-128"/>
            </a:endParaRPr>
          </a:p>
        </p:txBody>
      </p:sp>
      <p:sp>
        <p:nvSpPr>
          <p:cNvPr id="3" name="正方形/長方形 2">
            <a:extLst>
              <a:ext uri="{FF2B5EF4-FFF2-40B4-BE49-F238E27FC236}">
                <a16:creationId xmlns:a16="http://schemas.microsoft.com/office/drawing/2014/main" id="{D5D17E13-7926-4FEF-B3DF-46643C07A612}"/>
              </a:ext>
            </a:extLst>
          </p:cNvPr>
          <p:cNvSpPr/>
          <p:nvPr/>
        </p:nvSpPr>
        <p:spPr>
          <a:xfrm>
            <a:off x="96788" y="1645669"/>
            <a:ext cx="9687414" cy="3577"/>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100" b="1" dirty="0">
              <a:latin typeface="メイリオ" panose="020B0604030504040204" pitchFamily="50" charset="-128"/>
              <a:ea typeface="メイリオ" panose="020B0604030504040204" pitchFamily="50" charset="-128"/>
            </a:endParaRPr>
          </a:p>
        </p:txBody>
      </p:sp>
      <p:sp>
        <p:nvSpPr>
          <p:cNvPr id="5" name="テキスト ボックス 4">
            <a:extLst>
              <a:ext uri="{FF2B5EF4-FFF2-40B4-BE49-F238E27FC236}">
                <a16:creationId xmlns:a16="http://schemas.microsoft.com/office/drawing/2014/main" id="{42E8D0AC-7EB6-A26E-FB83-BB611CE20B52}"/>
              </a:ext>
            </a:extLst>
          </p:cNvPr>
          <p:cNvSpPr txBox="1"/>
          <p:nvPr/>
        </p:nvSpPr>
        <p:spPr>
          <a:xfrm>
            <a:off x="96788" y="619405"/>
            <a:ext cx="4961186" cy="369332"/>
          </a:xfrm>
          <a:prstGeom prst="rect">
            <a:avLst/>
          </a:prstGeom>
          <a:noFill/>
        </p:spPr>
        <p:txBody>
          <a:bodyPr wrap="square">
            <a:spAutoFit/>
          </a:bodyPr>
          <a:lstStyle/>
          <a:p>
            <a:r>
              <a:rPr lang="ja-JP" altLang="en-US"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施策全体図</a:t>
            </a:r>
            <a:endParaRPr lang="ja-JP" altLang="en-US" sz="1100" dirty="0"/>
          </a:p>
        </p:txBody>
      </p:sp>
      <p:sp>
        <p:nvSpPr>
          <p:cNvPr id="7" name="テキスト ボックス 6">
            <a:extLst>
              <a:ext uri="{FF2B5EF4-FFF2-40B4-BE49-F238E27FC236}">
                <a16:creationId xmlns:a16="http://schemas.microsoft.com/office/drawing/2014/main" id="{A23B7626-A436-9A82-DD49-5F8A69ED9A70}"/>
              </a:ext>
            </a:extLst>
          </p:cNvPr>
          <p:cNvSpPr txBox="1"/>
          <p:nvPr/>
        </p:nvSpPr>
        <p:spPr>
          <a:xfrm>
            <a:off x="96788" y="1202790"/>
            <a:ext cx="9687414" cy="307777"/>
          </a:xfrm>
          <a:prstGeom prst="rect">
            <a:avLst/>
          </a:prstGeom>
          <a:noFill/>
        </p:spPr>
        <p:txBody>
          <a:bodyPr wrap="square">
            <a:spAutoFit/>
          </a:bodyPr>
          <a:lstStyle/>
          <a:p>
            <a:r>
              <a:rPr lang="ja-JP" altLang="en-US"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集客・獲得 → 即時分類 → 分岐育成 → 成果回収 の4ステップで描く、LINE施策の全体図</a:t>
            </a:r>
            <a:endParaRPr lang="ja-JP" altLang="en-US" sz="1000" dirty="0"/>
          </a:p>
        </p:txBody>
      </p:sp>
      <p:sp>
        <p:nvSpPr>
          <p:cNvPr id="9" name="テキスト ボックス 8">
            <a:extLst>
              <a:ext uri="{FF2B5EF4-FFF2-40B4-BE49-F238E27FC236}">
                <a16:creationId xmlns:a16="http://schemas.microsoft.com/office/drawing/2014/main" id="{60D95125-3520-4FA9-64C6-1958F1FF1A74}"/>
              </a:ext>
            </a:extLst>
          </p:cNvPr>
          <p:cNvSpPr txBox="1"/>
          <p:nvPr/>
        </p:nvSpPr>
        <p:spPr>
          <a:xfrm>
            <a:off x="460785" y="91159"/>
            <a:ext cx="4961186" cy="369332"/>
          </a:xfrm>
          <a:prstGeom prst="rect">
            <a:avLst/>
          </a:prstGeom>
          <a:noFill/>
        </p:spPr>
        <p:txBody>
          <a:bodyPr wrap="square">
            <a:spAutoFit/>
          </a:bodyPr>
          <a:lstStyle/>
          <a:p>
            <a:r>
              <a:rPr lang="ja-JP" altLang="en-US"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 前提調査</a:t>
            </a:r>
            <a:endParaRPr lang="ja-JP" altLang="en-US" sz="1100" dirty="0"/>
          </a:p>
        </p:txBody>
      </p:sp>
      <p:sp>
        <p:nvSpPr>
          <p:cNvPr id="59" name="Pentagon 58"/>
          <p:cNvSpPr/>
          <p:nvPr/>
        </p:nvSpPr>
        <p:spPr>
          <a:xfrm>
            <a:off x="365760" y="1810512"/>
            <a:ext cx="2258568" cy="420624"/>
          </a:xfrm>
          <a:prstGeom prst="homePlate">
            <a:avLst>
              <a:gd name="adj" fmla="val 30000"/>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wrap="square" lIns="108000" tIns="7200" rIns="72000" bIns="7200" rtlCol="0" anchor="ctr"/>
          <a:lstStyle/>
          <a:p>
            <a:pPr algn="ctr">
              <a:lnSpc>
                <a:spcPct val="110000"/>
              </a:lnSpc>
              <a:spcAft>
                <a:spcPts val="0"/>
              </a:spcAft>
            </a:pPr>
            <a:r>
              <a:rPr sz="1300" b="1">
                <a:solidFill>
                  <a:srgbClr val="FFFFFF"/>
                </a:solidFill>
                <a:latin typeface="メイリオ"/>
                <a:ea typeface="メイリオ"/>
                <a:cs typeface="メイリオ"/>
              </a:rPr>
              <a:t>STEP1　集客・獲得</a:t>
            </a:r>
          </a:p>
        </p:txBody>
      </p:sp>
      <p:sp>
        <p:nvSpPr>
          <p:cNvPr id="60" name="Chevron 59"/>
          <p:cNvSpPr/>
          <p:nvPr/>
        </p:nvSpPr>
        <p:spPr>
          <a:xfrm>
            <a:off x="2496312" y="1810512"/>
            <a:ext cx="2459736" cy="420624"/>
          </a:xfrm>
          <a:prstGeom prst="chevron">
            <a:avLst>
              <a:gd name="adj" fmla="val 30000"/>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wrap="square" lIns="108000" tIns="7200" rIns="72000" bIns="7200" rtlCol="0" anchor="ctr"/>
          <a:lstStyle/>
          <a:p>
            <a:pPr algn="ctr">
              <a:lnSpc>
                <a:spcPct val="110000"/>
              </a:lnSpc>
              <a:spcAft>
                <a:spcPts val="0"/>
              </a:spcAft>
            </a:pPr>
            <a:r>
              <a:rPr sz="1300" b="1">
                <a:solidFill>
                  <a:srgbClr val="FFFFFF"/>
                </a:solidFill>
                <a:latin typeface="メイリオ"/>
                <a:ea typeface="メイリオ"/>
                <a:cs typeface="メイリオ"/>
              </a:rPr>
              <a:t>STEP2　即時分類</a:t>
            </a:r>
          </a:p>
        </p:txBody>
      </p:sp>
      <p:sp>
        <p:nvSpPr>
          <p:cNvPr id="61" name="Chevron 60"/>
          <p:cNvSpPr/>
          <p:nvPr/>
        </p:nvSpPr>
        <p:spPr>
          <a:xfrm>
            <a:off x="4919472" y="1810512"/>
            <a:ext cx="2551176" cy="420624"/>
          </a:xfrm>
          <a:prstGeom prst="chevron">
            <a:avLst>
              <a:gd name="adj" fmla="val 30000"/>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wrap="square" lIns="108000" tIns="7200" rIns="72000" bIns="7200" rtlCol="0" anchor="ctr"/>
          <a:lstStyle/>
          <a:p>
            <a:pPr algn="ctr">
              <a:lnSpc>
                <a:spcPct val="110000"/>
              </a:lnSpc>
              <a:spcAft>
                <a:spcPts val="0"/>
              </a:spcAft>
            </a:pPr>
            <a:r>
              <a:rPr sz="1300" b="1">
                <a:solidFill>
                  <a:srgbClr val="FFFFFF"/>
                </a:solidFill>
                <a:latin typeface="メイリオ"/>
                <a:ea typeface="メイリオ"/>
                <a:cs typeface="メイリオ"/>
              </a:rPr>
              <a:t>STEP3　分岐育成</a:t>
            </a:r>
          </a:p>
        </p:txBody>
      </p:sp>
      <p:sp>
        <p:nvSpPr>
          <p:cNvPr id="62" name="Chevron 61"/>
          <p:cNvSpPr/>
          <p:nvPr/>
        </p:nvSpPr>
        <p:spPr>
          <a:xfrm>
            <a:off x="7434071" y="1810512"/>
            <a:ext cx="2304288" cy="420624"/>
          </a:xfrm>
          <a:prstGeom prst="chevron">
            <a:avLst>
              <a:gd name="adj" fmla="val 30000"/>
            </a:avLst>
          </a:prstGeom>
          <a:solidFill>
            <a:srgbClr val="1A1A1A"/>
          </a:solidFill>
          <a:ln>
            <a:noFill/>
          </a:ln>
          <a:effectLst/>
        </p:spPr>
        <p:style>
          <a:lnRef idx="1">
            <a:schemeClr val="accent1"/>
          </a:lnRef>
          <a:fillRef idx="3">
            <a:schemeClr val="accent1"/>
          </a:fillRef>
          <a:effectRef idx="0">
            <a:schemeClr val="accent1"/>
          </a:effectRef>
          <a:fontRef idx="minor">
            <a:schemeClr val="lt1"/>
          </a:fontRef>
        </p:style>
        <p:txBody>
          <a:bodyPr wrap="square" lIns="108000" tIns="7200" rIns="72000" bIns="7200" rtlCol="0" anchor="ctr"/>
          <a:lstStyle/>
          <a:p>
            <a:pPr algn="ctr">
              <a:lnSpc>
                <a:spcPct val="110000"/>
              </a:lnSpc>
              <a:spcAft>
                <a:spcPts val="0"/>
              </a:spcAft>
            </a:pPr>
            <a:r>
              <a:rPr sz="1300" b="1">
                <a:solidFill>
                  <a:srgbClr val="FFFFFF"/>
                </a:solidFill>
                <a:latin typeface="メイリオ"/>
                <a:ea typeface="メイリオ"/>
                <a:cs typeface="メイリオ"/>
              </a:rPr>
              <a:t>STEP4　成果回収</a:t>
            </a:r>
          </a:p>
        </p:txBody>
      </p:sp>
      <p:sp>
        <p:nvSpPr>
          <p:cNvPr id="63" name="Rectangle 62"/>
          <p:cNvSpPr/>
          <p:nvPr/>
        </p:nvSpPr>
        <p:spPr>
          <a:xfrm>
            <a:off x="365760" y="2468880"/>
            <a:ext cx="2057400" cy="566928"/>
          </a:xfrm>
          <a:prstGeom prst="rect">
            <a:avLst/>
          </a:prstGeom>
          <a:solidFill>
            <a:srgbClr val="EEF1F8"/>
          </a:solidFill>
          <a:ln>
            <a:noFill/>
          </a:ln>
          <a:effectLst/>
        </p:spPr>
        <p:style>
          <a:lnRef idx="1">
            <a:schemeClr val="accent1"/>
          </a:lnRef>
          <a:fillRef idx="3">
            <a:schemeClr val="accent1"/>
          </a:fillRef>
          <a:effectRef idx="0">
            <a:schemeClr val="accent1"/>
          </a:effectRef>
          <a:fontRef idx="minor">
            <a:schemeClr val="lt1"/>
          </a:fontRef>
        </p:style>
        <p:txBody>
          <a:bodyPr wrap="square" lIns="54000" tIns="18000" rIns="54000" bIns="18000" rtlCol="0" anchor="ctr"/>
          <a:lstStyle/>
          <a:p>
            <a:pPr algn="ctr">
              <a:lnSpc>
                <a:spcPct val="110000"/>
              </a:lnSpc>
              <a:spcAft>
                <a:spcPts val="0"/>
              </a:spcAft>
            </a:pPr>
            <a:r>
              <a:rPr sz="1100" b="0">
                <a:solidFill>
                  <a:srgbClr val="333333"/>
                </a:solidFill>
                <a:latin typeface="メイリオ"/>
                <a:ea typeface="メイリオ"/>
                <a:cs typeface="メイリオ"/>
              </a:rPr>
              <a:t>広告・SEOの来訪者のうち</a:t>
            </a:r>
          </a:p>
          <a:p>
            <a:pPr algn="ctr">
              <a:lnSpc>
                <a:spcPct val="110000"/>
              </a:lnSpc>
              <a:spcAft>
                <a:spcPts val="0"/>
              </a:spcAft>
            </a:pPr>
            <a:r>
              <a:rPr sz="1400" b="1">
                <a:solidFill>
                  <a:srgbClr val="1F2A5C"/>
                </a:solidFill>
                <a:latin typeface="メイリオ"/>
                <a:ea typeface="メイリオ"/>
                <a:cs typeface="メイリオ"/>
              </a:rPr>
              <a:t>離脱する 約99%</a:t>
            </a:r>
          </a:p>
        </p:txBody>
      </p:sp>
      <p:cxnSp>
        <p:nvCxnSpPr>
          <p:cNvPr id="64" name="Connector 63"/>
          <p:cNvCxnSpPr/>
          <p:nvPr/>
        </p:nvCxnSpPr>
        <p:spPr>
          <a:xfrm>
            <a:off x="1394460" y="3054096"/>
            <a:ext cx="0" cy="265176"/>
          </a:xfrm>
          <a:prstGeom prst="line">
            <a:avLst/>
          </a:prstGeom>
          <a:ln w="22225">
            <a:solidFill>
              <a:srgbClr val="1F2A5C"/>
            </a:solidFill>
            <a:tailEnd type="triangle" w="med" len="med"/>
          </a:ln>
        </p:spPr>
        <p:style>
          <a:lnRef idx="2">
            <a:schemeClr val="accent1"/>
          </a:lnRef>
          <a:fillRef idx="0">
            <a:schemeClr val="accent1"/>
          </a:fillRef>
          <a:effectRef idx="0">
            <a:schemeClr val="accent1"/>
          </a:effectRef>
          <a:fontRef idx="minor">
            <a:schemeClr val="tx1"/>
          </a:fontRef>
        </p:style>
      </p:cxnSp>
      <p:sp>
        <p:nvSpPr>
          <p:cNvPr id="65" name="Rectangle 64"/>
          <p:cNvSpPr/>
          <p:nvPr/>
        </p:nvSpPr>
        <p:spPr>
          <a:xfrm>
            <a:off x="365760" y="3337559"/>
            <a:ext cx="2057400" cy="731520"/>
          </a:xfrm>
          <a:prstGeom prst="rect">
            <a:avLst/>
          </a:prstGeom>
          <a:solidFill>
            <a:srgbClr val="FFFFFF"/>
          </a:solidFill>
          <a:ln w="15875">
            <a:solidFill>
              <a:srgbClr val="1F2A5C"/>
            </a:solidFill>
          </a:ln>
          <a:effectLst/>
        </p:spPr>
        <p:style>
          <a:lnRef idx="1">
            <a:schemeClr val="accent1"/>
          </a:lnRef>
          <a:fillRef idx="3">
            <a:schemeClr val="accent1"/>
          </a:fillRef>
          <a:effectRef idx="0">
            <a:schemeClr val="accent1"/>
          </a:effectRef>
          <a:fontRef idx="minor">
            <a:schemeClr val="lt1"/>
          </a:fontRef>
        </p:style>
        <p:txBody>
          <a:bodyPr wrap="square" lIns="54000" tIns="18000" rIns="54000" bIns="18000" rtlCol="0" anchor="ctr"/>
          <a:lstStyle/>
          <a:p>
            <a:pPr algn="ctr">
              <a:lnSpc>
                <a:spcPct val="110000"/>
              </a:lnSpc>
              <a:spcAft>
                <a:spcPts val="0"/>
              </a:spcAft>
            </a:pPr>
            <a:r>
              <a:rPr sz="1300" b="1">
                <a:solidFill>
                  <a:srgbClr val="1F2A5C"/>
                </a:solidFill>
                <a:latin typeface="メイリオ"/>
                <a:ea typeface="メイリオ"/>
                <a:cs typeface="メイリオ"/>
              </a:rPr>
              <a:t>ポップアップ</a:t>
            </a:r>
          </a:p>
          <a:p>
            <a:pPr algn="ctr">
              <a:lnSpc>
                <a:spcPct val="110000"/>
              </a:lnSpc>
              <a:spcAft>
                <a:spcPts val="0"/>
              </a:spcAft>
            </a:pPr>
            <a:r>
              <a:rPr sz="1300" b="1">
                <a:solidFill>
                  <a:srgbClr val="1F2A5C"/>
                </a:solidFill>
                <a:latin typeface="メイリオ"/>
                <a:ea typeface="メイリオ"/>
                <a:cs typeface="メイリオ"/>
              </a:rPr>
              <a:t>通知メッセージ</a:t>
            </a:r>
          </a:p>
        </p:txBody>
      </p:sp>
      <p:sp>
        <p:nvSpPr>
          <p:cNvPr id="66" name="TextBox 65"/>
          <p:cNvSpPr txBox="1"/>
          <p:nvPr/>
        </p:nvSpPr>
        <p:spPr>
          <a:xfrm>
            <a:off x="365760" y="4133087"/>
            <a:ext cx="2057400" cy="502920"/>
          </a:xfrm>
          <a:prstGeom prst="rect">
            <a:avLst/>
          </a:prstGeom>
          <a:noFill/>
        </p:spPr>
        <p:txBody>
          <a:bodyPr wrap="square" lIns="36000" tIns="10800" rIns="36000" bIns="10800" anchor="ctr">
            <a:spAutoFit/>
          </a:bodyPr>
          <a:lstStyle/>
          <a:p>
            <a:pPr algn="ctr">
              <a:lnSpc>
                <a:spcPct val="105000"/>
              </a:lnSpc>
              <a:spcAft>
                <a:spcPts val="200"/>
              </a:spcAft>
            </a:pPr>
            <a:r>
              <a:rPr sz="1050" b="0">
                <a:solidFill>
                  <a:srgbClr val="777777"/>
                </a:solidFill>
                <a:latin typeface="メイリオ"/>
                <a:ea typeface="メイリオ"/>
                <a:cs typeface="メイリオ"/>
              </a:rPr>
              <a:t>サイトを離れる前に表示</a:t>
            </a:r>
          </a:p>
          <a:p>
            <a:pPr algn="ctr">
              <a:lnSpc>
                <a:spcPct val="105000"/>
              </a:lnSpc>
              <a:spcAft>
                <a:spcPts val="200"/>
              </a:spcAft>
            </a:pPr>
            <a:r>
              <a:rPr sz="1050" b="0">
                <a:solidFill>
                  <a:srgbClr val="777777"/>
                </a:solidFill>
                <a:latin typeface="メイリオ"/>
                <a:ea typeface="メイリオ"/>
                <a:cs typeface="メイリオ"/>
              </a:rPr>
              <a:t>保有リストにも届ける</a:t>
            </a:r>
          </a:p>
        </p:txBody>
      </p:sp>
      <p:cxnSp>
        <p:nvCxnSpPr>
          <p:cNvPr id="67" name="Connector 66"/>
          <p:cNvCxnSpPr/>
          <p:nvPr/>
        </p:nvCxnSpPr>
        <p:spPr>
          <a:xfrm>
            <a:off x="2423160" y="3703319"/>
            <a:ext cx="274320" cy="0"/>
          </a:xfrm>
          <a:prstGeom prst="line">
            <a:avLst/>
          </a:prstGeom>
          <a:ln w="22225">
            <a:solidFill>
              <a:srgbClr val="1F2A5C"/>
            </a:solidFill>
            <a:tailEnd type="triangle" w="med" len="med"/>
          </a:ln>
        </p:spPr>
        <p:style>
          <a:lnRef idx="2">
            <a:schemeClr val="accent1"/>
          </a:lnRef>
          <a:fillRef idx="0">
            <a:schemeClr val="accent1"/>
          </a:fillRef>
          <a:effectRef idx="0">
            <a:schemeClr val="accent1"/>
          </a:effectRef>
          <a:fontRef idx="minor">
            <a:schemeClr val="tx1"/>
          </a:fontRef>
        </p:style>
      </p:cxnSp>
      <p:sp>
        <p:nvSpPr>
          <p:cNvPr id="68" name="Rectangle 67"/>
          <p:cNvSpPr/>
          <p:nvPr/>
        </p:nvSpPr>
        <p:spPr>
          <a:xfrm>
            <a:off x="2697480" y="2468880"/>
            <a:ext cx="2057400" cy="566928"/>
          </a:xfrm>
          <a:prstGeom prst="rect">
            <a:avLst/>
          </a:prstGeom>
          <a:solidFill>
            <a:srgbClr val="EEF1F8"/>
          </a:solidFill>
          <a:ln>
            <a:noFill/>
          </a:ln>
          <a:effectLst/>
        </p:spPr>
        <p:style>
          <a:lnRef idx="1">
            <a:schemeClr val="accent1"/>
          </a:lnRef>
          <a:fillRef idx="3">
            <a:schemeClr val="accent1"/>
          </a:fillRef>
          <a:effectRef idx="0">
            <a:schemeClr val="accent1"/>
          </a:effectRef>
          <a:fontRef idx="minor">
            <a:schemeClr val="lt1"/>
          </a:fontRef>
        </p:style>
        <p:txBody>
          <a:bodyPr wrap="square" lIns="54000" tIns="18000" rIns="54000" bIns="18000" rtlCol="0" anchor="ctr"/>
          <a:lstStyle/>
          <a:p>
            <a:pPr algn="ctr">
              <a:lnSpc>
                <a:spcPct val="110000"/>
              </a:lnSpc>
              <a:spcAft>
                <a:spcPts val="0"/>
              </a:spcAft>
            </a:pPr>
            <a:r>
              <a:rPr sz="1100" b="0">
                <a:solidFill>
                  <a:srgbClr val="333333"/>
                </a:solidFill>
                <a:latin typeface="メイリオ"/>
                <a:ea typeface="メイリオ"/>
                <a:cs typeface="メイリオ"/>
              </a:rPr>
              <a:t>最も反応が高い</a:t>
            </a:r>
          </a:p>
          <a:p>
            <a:pPr algn="ctr">
              <a:lnSpc>
                <a:spcPct val="110000"/>
              </a:lnSpc>
              <a:spcAft>
                <a:spcPts val="0"/>
              </a:spcAft>
            </a:pPr>
            <a:r>
              <a:rPr sz="1400" b="1">
                <a:solidFill>
                  <a:srgbClr val="1F2A5C"/>
                </a:solidFill>
                <a:latin typeface="メイリオ"/>
                <a:ea typeface="メイリオ"/>
                <a:cs typeface="メイリオ"/>
              </a:rPr>
              <a:t>友だち追加の直後</a:t>
            </a:r>
          </a:p>
        </p:txBody>
      </p:sp>
      <p:cxnSp>
        <p:nvCxnSpPr>
          <p:cNvPr id="69" name="Connector 68"/>
          <p:cNvCxnSpPr/>
          <p:nvPr/>
        </p:nvCxnSpPr>
        <p:spPr>
          <a:xfrm>
            <a:off x="3726180" y="3054096"/>
            <a:ext cx="0" cy="265176"/>
          </a:xfrm>
          <a:prstGeom prst="line">
            <a:avLst/>
          </a:prstGeom>
          <a:ln w="22225">
            <a:solidFill>
              <a:srgbClr val="1F2A5C"/>
            </a:solidFill>
            <a:tailEnd type="triangle" w="med" len="med"/>
          </a:ln>
        </p:spPr>
        <p:style>
          <a:lnRef idx="2">
            <a:schemeClr val="accent1"/>
          </a:lnRef>
          <a:fillRef idx="0">
            <a:schemeClr val="accent1"/>
          </a:fillRef>
          <a:effectRef idx="0">
            <a:schemeClr val="accent1"/>
          </a:effectRef>
          <a:fontRef idx="minor">
            <a:schemeClr val="tx1"/>
          </a:fontRef>
        </p:style>
      </p:cxnSp>
      <p:sp>
        <p:nvSpPr>
          <p:cNvPr id="70" name="Rectangle 69"/>
          <p:cNvSpPr/>
          <p:nvPr/>
        </p:nvSpPr>
        <p:spPr>
          <a:xfrm>
            <a:off x="2697480" y="3337559"/>
            <a:ext cx="2057400" cy="274320"/>
          </a:xfrm>
          <a:prstGeom prst="rect">
            <a:avLst/>
          </a:prstGeom>
          <a:solidFill>
            <a:srgbClr val="06C755"/>
          </a:solidFill>
          <a:ln>
            <a:noFill/>
          </a:ln>
          <a:effectLst/>
        </p:spPr>
        <p:style>
          <a:lnRef idx="1">
            <a:schemeClr val="accent1"/>
          </a:lnRef>
          <a:fillRef idx="3">
            <a:schemeClr val="accent1"/>
          </a:fillRef>
          <a:effectRef idx="0">
            <a:schemeClr val="accent1"/>
          </a:effectRef>
          <a:fontRef idx="minor">
            <a:schemeClr val="lt1"/>
          </a:fontRef>
        </p:style>
        <p:txBody>
          <a:bodyPr wrap="square" lIns="72000" tIns="18000" rIns="72000" bIns="18000" rtlCol="0" anchor="ctr"/>
          <a:lstStyle/>
          <a:p>
            <a:pPr algn="ctr">
              <a:lnSpc>
                <a:spcPct val="110000"/>
              </a:lnSpc>
              <a:spcAft>
                <a:spcPts val="0"/>
              </a:spcAft>
            </a:pPr>
            <a:r>
              <a:rPr sz="1100" b="1">
                <a:solidFill>
                  <a:srgbClr val="FFFFFF"/>
                </a:solidFill>
                <a:latin typeface="メイリオ"/>
                <a:ea typeface="メイリオ"/>
                <a:cs typeface="メイリオ"/>
              </a:rPr>
              <a:t>LINE友だち追加</a:t>
            </a:r>
          </a:p>
        </p:txBody>
      </p:sp>
      <p:sp>
        <p:nvSpPr>
          <p:cNvPr id="71" name="Rectangle 70"/>
          <p:cNvSpPr/>
          <p:nvPr/>
        </p:nvSpPr>
        <p:spPr>
          <a:xfrm>
            <a:off x="2697480" y="3611880"/>
            <a:ext cx="2057400" cy="457200"/>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wrap="square" lIns="72000" tIns="18000" rIns="72000" bIns="18000" rtlCol="0" anchor="ctr"/>
          <a:lstStyle/>
          <a:p>
            <a:pPr algn="ctr">
              <a:lnSpc>
                <a:spcPct val="110000"/>
              </a:lnSpc>
              <a:spcAft>
                <a:spcPts val="0"/>
              </a:spcAft>
            </a:pPr>
            <a:r>
              <a:rPr sz="1300" b="1">
                <a:solidFill>
                  <a:srgbClr val="FFFFFF"/>
                </a:solidFill>
                <a:latin typeface="メイリオ"/>
                <a:ea typeface="メイリオ"/>
                <a:cs typeface="メイリオ"/>
              </a:rPr>
              <a:t>Day0 アンケート・診断</a:t>
            </a:r>
          </a:p>
        </p:txBody>
      </p:sp>
      <p:sp>
        <p:nvSpPr>
          <p:cNvPr id="72" name="TextBox 71"/>
          <p:cNvSpPr txBox="1"/>
          <p:nvPr/>
        </p:nvSpPr>
        <p:spPr>
          <a:xfrm>
            <a:off x="2697480" y="4133087"/>
            <a:ext cx="2057400" cy="502920"/>
          </a:xfrm>
          <a:prstGeom prst="rect">
            <a:avLst/>
          </a:prstGeom>
          <a:noFill/>
        </p:spPr>
        <p:txBody>
          <a:bodyPr wrap="square" lIns="36000" tIns="10800" rIns="36000" bIns="10800" anchor="ctr">
            <a:spAutoFit/>
          </a:bodyPr>
          <a:lstStyle/>
          <a:p>
            <a:pPr algn="ctr">
              <a:lnSpc>
                <a:spcPct val="105000"/>
              </a:lnSpc>
              <a:spcAft>
                <a:spcPts val="200"/>
              </a:spcAft>
            </a:pPr>
            <a:r>
              <a:rPr sz="1050" b="0">
                <a:solidFill>
                  <a:srgbClr val="777777"/>
                </a:solidFill>
                <a:latin typeface="メイリオ"/>
                <a:ea typeface="メイリオ"/>
                <a:cs typeface="メイリオ"/>
              </a:rPr>
              <a:t>属性・検討度を分け、</a:t>
            </a:r>
          </a:p>
          <a:p>
            <a:pPr algn="ctr">
              <a:lnSpc>
                <a:spcPct val="105000"/>
              </a:lnSpc>
              <a:spcAft>
                <a:spcPts val="200"/>
              </a:spcAft>
            </a:pPr>
            <a:r>
              <a:rPr sz="1050" b="0">
                <a:solidFill>
                  <a:srgbClr val="777777"/>
                </a:solidFill>
                <a:latin typeface="メイリオ"/>
                <a:ea typeface="メイリオ"/>
                <a:cs typeface="メイリオ"/>
              </a:rPr>
              <a:t>次の配信を出し分ける</a:t>
            </a:r>
          </a:p>
        </p:txBody>
      </p:sp>
      <p:sp>
        <p:nvSpPr>
          <p:cNvPr id="73" name="Rectangle 72"/>
          <p:cNvSpPr/>
          <p:nvPr/>
        </p:nvSpPr>
        <p:spPr>
          <a:xfrm>
            <a:off x="5120639" y="2468880"/>
            <a:ext cx="2148840" cy="1051560"/>
          </a:xfrm>
          <a:prstGeom prst="rect">
            <a:avLst/>
          </a:prstGeom>
          <a:solidFill>
            <a:srgbClr val="FFFFFF"/>
          </a:solidFill>
          <a:ln w="15875">
            <a:solidFill>
              <a:srgbClr val="1F2A5C"/>
            </a:solidFill>
          </a:ln>
          <a:effectLst/>
        </p:spPr>
        <p:style>
          <a:lnRef idx="1">
            <a:schemeClr val="accent1"/>
          </a:lnRef>
          <a:fillRef idx="3">
            <a:schemeClr val="accent1"/>
          </a:fillRef>
          <a:effectRef idx="0">
            <a:schemeClr val="accent1"/>
          </a:effectRef>
          <a:fontRef idx="minor">
            <a:schemeClr val="lt1"/>
          </a:fontRef>
        </p:style>
        <p:txBody>
          <a:bodyPr wrap="square" lIns="54000" tIns="18000" rIns="54000" bIns="18000" rtlCol="0" anchor="ctr"/>
          <a:lstStyle/>
          <a:p>
            <a:pPr algn="ctr">
              <a:lnSpc>
                <a:spcPct val="110000"/>
              </a:lnSpc>
              <a:spcAft>
                <a:spcPts val="200"/>
              </a:spcAft>
            </a:pPr>
            <a:r>
              <a:rPr sz="1300" b="1">
                <a:solidFill>
                  <a:srgbClr val="1F2A5C"/>
                </a:solidFill>
                <a:latin typeface="メイリオ"/>
                <a:ea typeface="メイリオ"/>
                <a:cs typeface="メイリオ"/>
              </a:rPr>
              <a:t>短期集中トラック</a:t>
            </a:r>
          </a:p>
          <a:p>
            <a:pPr algn="ctr">
              <a:lnSpc>
                <a:spcPct val="110000"/>
              </a:lnSpc>
              <a:spcAft>
                <a:spcPts val="0"/>
              </a:spcAft>
            </a:pPr>
            <a:r>
              <a:rPr sz="1050" b="0">
                <a:solidFill>
                  <a:srgbClr val="333333"/>
                </a:solidFill>
                <a:latin typeface="メイリオ"/>
                <a:ea typeface="メイリオ"/>
                <a:cs typeface="メイリオ"/>
              </a:rPr>
              <a:t>Day0〜15｜検討度が高い方</a:t>
            </a:r>
          </a:p>
          <a:p>
            <a:pPr algn="ctr">
              <a:lnSpc>
                <a:spcPct val="110000"/>
              </a:lnSpc>
              <a:spcAft>
                <a:spcPts val="0"/>
              </a:spcAft>
            </a:pPr>
            <a:r>
              <a:rPr sz="1050" b="1">
                <a:solidFill>
                  <a:srgbClr val="333333"/>
                </a:solidFill>
                <a:latin typeface="メイリオ"/>
                <a:ea typeface="メイリオ"/>
                <a:cs typeface="メイリオ"/>
              </a:rPr>
              <a:t>15日の壁を超えるステップ配信</a:t>
            </a:r>
          </a:p>
        </p:txBody>
      </p:sp>
      <p:sp>
        <p:nvSpPr>
          <p:cNvPr id="74" name="Rectangle 73"/>
          <p:cNvSpPr/>
          <p:nvPr/>
        </p:nvSpPr>
        <p:spPr>
          <a:xfrm>
            <a:off x="5120639" y="3749040"/>
            <a:ext cx="2148840" cy="1051560"/>
          </a:xfrm>
          <a:prstGeom prst="rect">
            <a:avLst/>
          </a:prstGeom>
          <a:solidFill>
            <a:srgbClr val="FFFFFF"/>
          </a:solidFill>
          <a:ln w="15875">
            <a:solidFill>
              <a:srgbClr val="1F2A5C"/>
            </a:solidFill>
          </a:ln>
          <a:effectLst/>
        </p:spPr>
        <p:style>
          <a:lnRef idx="1">
            <a:schemeClr val="accent1"/>
          </a:lnRef>
          <a:fillRef idx="3">
            <a:schemeClr val="accent1"/>
          </a:fillRef>
          <a:effectRef idx="0">
            <a:schemeClr val="accent1"/>
          </a:effectRef>
          <a:fontRef idx="minor">
            <a:schemeClr val="lt1"/>
          </a:fontRef>
        </p:style>
        <p:txBody>
          <a:bodyPr wrap="square" lIns="54000" tIns="18000" rIns="54000" bIns="18000" rtlCol="0" anchor="ctr"/>
          <a:lstStyle/>
          <a:p>
            <a:pPr algn="ctr">
              <a:lnSpc>
                <a:spcPct val="110000"/>
              </a:lnSpc>
              <a:spcAft>
                <a:spcPts val="200"/>
              </a:spcAft>
            </a:pPr>
            <a:r>
              <a:rPr sz="1300" b="1">
                <a:solidFill>
                  <a:srgbClr val="1F2A5C"/>
                </a:solidFill>
                <a:latin typeface="メイリオ"/>
                <a:ea typeface="メイリオ"/>
                <a:cs typeface="メイリオ"/>
              </a:rPr>
              <a:t>中長期トラック</a:t>
            </a:r>
          </a:p>
          <a:p>
            <a:pPr algn="ctr">
              <a:lnSpc>
                <a:spcPct val="110000"/>
              </a:lnSpc>
              <a:spcAft>
                <a:spcPts val="0"/>
              </a:spcAft>
            </a:pPr>
            <a:r>
              <a:rPr sz="1050" b="0">
                <a:solidFill>
                  <a:srgbClr val="333333"/>
                </a:solidFill>
                <a:latin typeface="メイリオ"/>
                <a:ea typeface="メイリオ"/>
                <a:cs typeface="メイリオ"/>
              </a:rPr>
              <a:t>15日以降｜検討度が中・低の方</a:t>
            </a:r>
          </a:p>
          <a:p>
            <a:pPr algn="ctr">
              <a:lnSpc>
                <a:spcPct val="110000"/>
              </a:lnSpc>
              <a:spcAft>
                <a:spcPts val="0"/>
              </a:spcAft>
            </a:pPr>
            <a:r>
              <a:rPr sz="1050" b="1">
                <a:solidFill>
                  <a:srgbClr val="333333"/>
                </a:solidFill>
                <a:latin typeface="メイリオ"/>
                <a:ea typeface="メイリオ"/>
                <a:cs typeface="メイリオ"/>
              </a:rPr>
              <a:t>シーズナリティ連動の企画配信</a:t>
            </a:r>
          </a:p>
        </p:txBody>
      </p:sp>
      <p:cxnSp>
        <p:nvCxnSpPr>
          <p:cNvPr id="75" name="Connector 74"/>
          <p:cNvCxnSpPr/>
          <p:nvPr/>
        </p:nvCxnSpPr>
        <p:spPr>
          <a:xfrm>
            <a:off x="4754880" y="3703319"/>
            <a:ext cx="146304" cy="0"/>
          </a:xfrm>
          <a:prstGeom prst="line">
            <a:avLst/>
          </a:prstGeom>
          <a:ln w="22225">
            <a:solidFill>
              <a:srgbClr val="1F2A5C"/>
            </a:solidFill>
          </a:ln>
        </p:spPr>
        <p:style>
          <a:lnRef idx="2">
            <a:schemeClr val="accent1"/>
          </a:lnRef>
          <a:fillRef idx="0">
            <a:schemeClr val="accent1"/>
          </a:fillRef>
          <a:effectRef idx="0">
            <a:schemeClr val="accent1"/>
          </a:effectRef>
          <a:fontRef idx="minor">
            <a:schemeClr val="tx1"/>
          </a:fontRef>
        </p:style>
      </p:cxnSp>
      <p:cxnSp>
        <p:nvCxnSpPr>
          <p:cNvPr id="76" name="Connector 75"/>
          <p:cNvCxnSpPr/>
          <p:nvPr/>
        </p:nvCxnSpPr>
        <p:spPr>
          <a:xfrm>
            <a:off x="4901184" y="2994660"/>
            <a:ext cx="0" cy="1280160"/>
          </a:xfrm>
          <a:prstGeom prst="line">
            <a:avLst/>
          </a:prstGeom>
          <a:ln w="22225">
            <a:solidFill>
              <a:srgbClr val="1F2A5C"/>
            </a:solidFill>
          </a:ln>
        </p:spPr>
        <p:style>
          <a:lnRef idx="2">
            <a:schemeClr val="accent1"/>
          </a:lnRef>
          <a:fillRef idx="0">
            <a:schemeClr val="accent1"/>
          </a:fillRef>
          <a:effectRef idx="0">
            <a:schemeClr val="accent1"/>
          </a:effectRef>
          <a:fontRef idx="minor">
            <a:schemeClr val="tx1"/>
          </a:fontRef>
        </p:style>
      </p:cxnSp>
      <p:cxnSp>
        <p:nvCxnSpPr>
          <p:cNvPr id="77" name="Connector 76"/>
          <p:cNvCxnSpPr/>
          <p:nvPr/>
        </p:nvCxnSpPr>
        <p:spPr>
          <a:xfrm>
            <a:off x="4901184" y="2994660"/>
            <a:ext cx="219455" cy="0"/>
          </a:xfrm>
          <a:prstGeom prst="line">
            <a:avLst/>
          </a:prstGeom>
          <a:ln w="22225">
            <a:solidFill>
              <a:srgbClr val="1F2A5C"/>
            </a:solidFill>
            <a:tailEnd type="triangle" w="med" len="med"/>
          </a:ln>
        </p:spPr>
        <p:style>
          <a:lnRef idx="2">
            <a:schemeClr val="accent1"/>
          </a:lnRef>
          <a:fillRef idx="0">
            <a:schemeClr val="accent1"/>
          </a:fillRef>
          <a:effectRef idx="0">
            <a:schemeClr val="accent1"/>
          </a:effectRef>
          <a:fontRef idx="minor">
            <a:schemeClr val="tx1"/>
          </a:fontRef>
        </p:style>
      </p:cxnSp>
      <p:cxnSp>
        <p:nvCxnSpPr>
          <p:cNvPr id="78" name="Connector 77"/>
          <p:cNvCxnSpPr/>
          <p:nvPr/>
        </p:nvCxnSpPr>
        <p:spPr>
          <a:xfrm>
            <a:off x="4901184" y="4274820"/>
            <a:ext cx="219455" cy="0"/>
          </a:xfrm>
          <a:prstGeom prst="line">
            <a:avLst/>
          </a:prstGeom>
          <a:ln w="22225">
            <a:solidFill>
              <a:srgbClr val="1F2A5C"/>
            </a:solidFill>
            <a:tailEnd type="triangle" w="med" len="med"/>
          </a:ln>
        </p:spPr>
        <p:style>
          <a:lnRef idx="2">
            <a:schemeClr val="accent1"/>
          </a:lnRef>
          <a:fillRef idx="0">
            <a:schemeClr val="accent1"/>
          </a:fillRef>
          <a:effectRef idx="0">
            <a:schemeClr val="accent1"/>
          </a:effectRef>
          <a:fontRef idx="minor">
            <a:schemeClr val="tx1"/>
          </a:fontRef>
        </p:style>
      </p:cxnSp>
      <p:cxnSp>
        <p:nvCxnSpPr>
          <p:cNvPr id="79" name="Connector 78"/>
          <p:cNvCxnSpPr/>
          <p:nvPr/>
        </p:nvCxnSpPr>
        <p:spPr>
          <a:xfrm>
            <a:off x="6195059" y="3520440"/>
            <a:ext cx="0" cy="228600"/>
          </a:xfrm>
          <a:prstGeom prst="line">
            <a:avLst/>
          </a:prstGeom>
          <a:ln w="22225">
            <a:solidFill>
              <a:srgbClr val="1F2A5C"/>
            </a:solidFill>
            <a:tailEnd type="triangle" w="med" len="med"/>
          </a:ln>
        </p:spPr>
        <p:style>
          <a:lnRef idx="2">
            <a:schemeClr val="accent1"/>
          </a:lnRef>
          <a:fillRef idx="0">
            <a:schemeClr val="accent1"/>
          </a:fillRef>
          <a:effectRef idx="0">
            <a:schemeClr val="accent1"/>
          </a:effectRef>
          <a:fontRef idx="minor">
            <a:schemeClr val="tx1"/>
          </a:fontRef>
        </p:style>
      </p:cxnSp>
      <p:sp>
        <p:nvSpPr>
          <p:cNvPr id="80" name="TextBox 79"/>
          <p:cNvSpPr txBox="1"/>
          <p:nvPr/>
        </p:nvSpPr>
        <p:spPr>
          <a:xfrm>
            <a:off x="6249923" y="3529583"/>
            <a:ext cx="914400" cy="210312"/>
          </a:xfrm>
          <a:prstGeom prst="rect">
            <a:avLst/>
          </a:prstGeom>
          <a:noFill/>
        </p:spPr>
        <p:txBody>
          <a:bodyPr wrap="square" lIns="36000" tIns="10800" rIns="36000" bIns="10800" anchor="ctr">
            <a:spAutoFit/>
          </a:bodyPr>
          <a:lstStyle/>
          <a:p>
            <a:pPr algn="l">
              <a:lnSpc>
                <a:spcPct val="105000"/>
              </a:lnSpc>
              <a:spcAft>
                <a:spcPts val="200"/>
              </a:spcAft>
            </a:pPr>
            <a:r>
              <a:rPr sz="900" b="0">
                <a:solidFill>
                  <a:srgbClr val="777777"/>
                </a:solidFill>
                <a:latin typeface="メイリオ"/>
                <a:ea typeface="メイリオ"/>
                <a:cs typeface="メイリオ"/>
              </a:rPr>
              <a:t>15日後に合流</a:t>
            </a:r>
          </a:p>
        </p:txBody>
      </p:sp>
      <p:cxnSp>
        <p:nvCxnSpPr>
          <p:cNvPr id="81" name="Connector 80"/>
          <p:cNvCxnSpPr/>
          <p:nvPr/>
        </p:nvCxnSpPr>
        <p:spPr>
          <a:xfrm>
            <a:off x="7269479" y="2994660"/>
            <a:ext cx="137160" cy="0"/>
          </a:xfrm>
          <a:prstGeom prst="line">
            <a:avLst/>
          </a:prstGeom>
          <a:ln w="22225">
            <a:solidFill>
              <a:srgbClr val="1F2A5C"/>
            </a:solidFill>
          </a:ln>
        </p:spPr>
        <p:style>
          <a:lnRef idx="2">
            <a:schemeClr val="accent1"/>
          </a:lnRef>
          <a:fillRef idx="0">
            <a:schemeClr val="accent1"/>
          </a:fillRef>
          <a:effectRef idx="0">
            <a:schemeClr val="accent1"/>
          </a:effectRef>
          <a:fontRef idx="minor">
            <a:schemeClr val="tx1"/>
          </a:fontRef>
        </p:style>
      </p:cxnSp>
      <p:cxnSp>
        <p:nvCxnSpPr>
          <p:cNvPr id="82" name="Connector 81"/>
          <p:cNvCxnSpPr/>
          <p:nvPr/>
        </p:nvCxnSpPr>
        <p:spPr>
          <a:xfrm>
            <a:off x="7269479" y="4274820"/>
            <a:ext cx="137160" cy="0"/>
          </a:xfrm>
          <a:prstGeom prst="line">
            <a:avLst/>
          </a:prstGeom>
          <a:ln w="22225">
            <a:solidFill>
              <a:srgbClr val="1F2A5C"/>
            </a:solidFill>
          </a:ln>
        </p:spPr>
        <p:style>
          <a:lnRef idx="2">
            <a:schemeClr val="accent1"/>
          </a:lnRef>
          <a:fillRef idx="0">
            <a:schemeClr val="accent1"/>
          </a:fillRef>
          <a:effectRef idx="0">
            <a:schemeClr val="accent1"/>
          </a:effectRef>
          <a:fontRef idx="minor">
            <a:schemeClr val="tx1"/>
          </a:fontRef>
        </p:style>
      </p:cxnSp>
      <p:cxnSp>
        <p:nvCxnSpPr>
          <p:cNvPr id="83" name="Connector 82"/>
          <p:cNvCxnSpPr/>
          <p:nvPr/>
        </p:nvCxnSpPr>
        <p:spPr>
          <a:xfrm>
            <a:off x="7406639" y="2994660"/>
            <a:ext cx="0" cy="1280160"/>
          </a:xfrm>
          <a:prstGeom prst="line">
            <a:avLst/>
          </a:prstGeom>
          <a:ln w="22225">
            <a:solidFill>
              <a:srgbClr val="1F2A5C"/>
            </a:solidFill>
          </a:ln>
        </p:spPr>
        <p:style>
          <a:lnRef idx="2">
            <a:schemeClr val="accent1"/>
          </a:lnRef>
          <a:fillRef idx="0">
            <a:schemeClr val="accent1"/>
          </a:fillRef>
          <a:effectRef idx="0">
            <a:schemeClr val="accent1"/>
          </a:effectRef>
          <a:fontRef idx="minor">
            <a:schemeClr val="tx1"/>
          </a:fontRef>
        </p:style>
      </p:cxnSp>
      <p:cxnSp>
        <p:nvCxnSpPr>
          <p:cNvPr id="84" name="Connector 83"/>
          <p:cNvCxnSpPr/>
          <p:nvPr/>
        </p:nvCxnSpPr>
        <p:spPr>
          <a:xfrm>
            <a:off x="7406639" y="3703319"/>
            <a:ext cx="228601" cy="0"/>
          </a:xfrm>
          <a:prstGeom prst="line">
            <a:avLst/>
          </a:prstGeom>
          <a:ln w="22225">
            <a:solidFill>
              <a:srgbClr val="1F2A5C"/>
            </a:solidFill>
            <a:tailEnd type="triangle" w="med" len="med"/>
          </a:ln>
        </p:spPr>
        <p:style>
          <a:lnRef idx="2">
            <a:schemeClr val="accent1"/>
          </a:lnRef>
          <a:fillRef idx="0">
            <a:schemeClr val="accent1"/>
          </a:fillRef>
          <a:effectRef idx="0">
            <a:schemeClr val="accent1"/>
          </a:effectRef>
          <a:fontRef idx="minor">
            <a:schemeClr val="tx1"/>
          </a:fontRef>
        </p:style>
      </p:cxnSp>
      <p:sp>
        <p:nvSpPr>
          <p:cNvPr id="85" name="Rectangle 84"/>
          <p:cNvSpPr/>
          <p:nvPr/>
        </p:nvSpPr>
        <p:spPr>
          <a:xfrm>
            <a:off x="7635240" y="2468880"/>
            <a:ext cx="1901952" cy="566928"/>
          </a:xfrm>
          <a:prstGeom prst="rect">
            <a:avLst/>
          </a:prstGeom>
          <a:solidFill>
            <a:srgbClr val="EEF1F8"/>
          </a:solidFill>
          <a:ln>
            <a:noFill/>
          </a:ln>
          <a:effectLst/>
        </p:spPr>
        <p:style>
          <a:lnRef idx="1">
            <a:schemeClr val="accent1"/>
          </a:lnRef>
          <a:fillRef idx="3">
            <a:schemeClr val="accent1"/>
          </a:fillRef>
          <a:effectRef idx="0">
            <a:schemeClr val="accent1"/>
          </a:effectRef>
          <a:fontRef idx="minor">
            <a:schemeClr val="lt1"/>
          </a:fontRef>
        </p:style>
        <p:txBody>
          <a:bodyPr wrap="square" lIns="54000" tIns="18000" rIns="54000" bIns="18000" rtlCol="0" anchor="ctr"/>
          <a:lstStyle/>
          <a:p>
            <a:pPr algn="ctr">
              <a:lnSpc>
                <a:spcPct val="110000"/>
              </a:lnSpc>
              <a:spcAft>
                <a:spcPts val="0"/>
              </a:spcAft>
            </a:pPr>
            <a:r>
              <a:rPr sz="1200" b="1">
                <a:solidFill>
                  <a:srgbClr val="1F2A5C"/>
                </a:solidFill>
                <a:latin typeface="メイリオ"/>
                <a:ea typeface="メイリオ"/>
                <a:cs typeface="メイリオ"/>
              </a:rPr>
              <a:t>不安・手続きの壁を</a:t>
            </a:r>
          </a:p>
          <a:p>
            <a:pPr algn="ctr">
              <a:lnSpc>
                <a:spcPct val="110000"/>
              </a:lnSpc>
              <a:spcAft>
                <a:spcPts val="0"/>
              </a:spcAft>
            </a:pPr>
            <a:r>
              <a:rPr sz="1200" b="1">
                <a:solidFill>
                  <a:srgbClr val="1F2A5C"/>
                </a:solidFill>
                <a:latin typeface="メイリオ"/>
                <a:ea typeface="メイリオ"/>
                <a:cs typeface="メイリオ"/>
              </a:rPr>
              <a:t>ひとつずつ解消</a:t>
            </a:r>
          </a:p>
        </p:txBody>
      </p:sp>
      <p:cxnSp>
        <p:nvCxnSpPr>
          <p:cNvPr id="86" name="Connector 85"/>
          <p:cNvCxnSpPr/>
          <p:nvPr/>
        </p:nvCxnSpPr>
        <p:spPr>
          <a:xfrm>
            <a:off x="8586216" y="3054096"/>
            <a:ext cx="0" cy="265176"/>
          </a:xfrm>
          <a:prstGeom prst="line">
            <a:avLst/>
          </a:prstGeom>
          <a:ln w="22225">
            <a:solidFill>
              <a:srgbClr val="1F2A5C"/>
            </a:solidFill>
            <a:tailEnd type="triangle" w="med" len="med"/>
          </a:ln>
        </p:spPr>
        <p:style>
          <a:lnRef idx="2">
            <a:schemeClr val="accent1"/>
          </a:lnRef>
          <a:fillRef idx="0">
            <a:schemeClr val="accent1"/>
          </a:fillRef>
          <a:effectRef idx="0">
            <a:schemeClr val="accent1"/>
          </a:effectRef>
          <a:fontRef idx="minor">
            <a:schemeClr val="tx1"/>
          </a:fontRef>
        </p:style>
      </p:cxnSp>
      <p:sp>
        <p:nvSpPr>
          <p:cNvPr id="87" name="Rectangle 86"/>
          <p:cNvSpPr/>
          <p:nvPr/>
        </p:nvSpPr>
        <p:spPr>
          <a:xfrm>
            <a:off x="7635240" y="3337559"/>
            <a:ext cx="1901952" cy="731520"/>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wrap="square" lIns="54000" tIns="18000" rIns="54000" bIns="18000" rtlCol="0" anchor="ctr"/>
          <a:lstStyle/>
          <a:p>
            <a:pPr algn="ctr">
              <a:lnSpc>
                <a:spcPct val="110000"/>
              </a:lnSpc>
              <a:spcAft>
                <a:spcPts val="0"/>
              </a:spcAft>
            </a:pPr>
            <a:r>
              <a:rPr sz="1500" b="1">
                <a:solidFill>
                  <a:srgbClr val="FFFFFF"/>
                </a:solidFill>
                <a:latin typeface="メイリオ"/>
                <a:ea typeface="メイリオ"/>
                <a:cs typeface="メイリオ"/>
              </a:rPr>
              <a:t>CV</a:t>
            </a:r>
          </a:p>
          <a:p>
            <a:pPr algn="ctr">
              <a:lnSpc>
                <a:spcPct val="110000"/>
              </a:lnSpc>
              <a:spcAft>
                <a:spcPts val="0"/>
              </a:spcAft>
            </a:pPr>
            <a:r>
              <a:rPr sz="1100" b="0">
                <a:solidFill>
                  <a:srgbClr val="FFFFFF"/>
                </a:solidFill>
                <a:latin typeface="メイリオ"/>
                <a:ea typeface="メイリオ"/>
                <a:cs typeface="メイリオ"/>
              </a:rPr>
              <a:t>予約・面談・購入</a:t>
            </a:r>
          </a:p>
        </p:txBody>
      </p:sp>
      <p:cxnSp>
        <p:nvCxnSpPr>
          <p:cNvPr id="88" name="Connector 87"/>
          <p:cNvCxnSpPr/>
          <p:nvPr/>
        </p:nvCxnSpPr>
        <p:spPr>
          <a:xfrm>
            <a:off x="8586216" y="4087368"/>
            <a:ext cx="0" cy="228600"/>
          </a:xfrm>
          <a:prstGeom prst="line">
            <a:avLst/>
          </a:prstGeom>
          <a:ln w="22225">
            <a:solidFill>
              <a:srgbClr val="1F2A5C"/>
            </a:solidFill>
            <a:tailEnd type="triangle" w="med" len="med"/>
          </a:ln>
        </p:spPr>
        <p:style>
          <a:lnRef idx="2">
            <a:schemeClr val="accent1"/>
          </a:lnRef>
          <a:fillRef idx="0">
            <a:schemeClr val="accent1"/>
          </a:fillRef>
          <a:effectRef idx="0">
            <a:schemeClr val="accent1"/>
          </a:effectRef>
          <a:fontRef idx="minor">
            <a:schemeClr val="tx1"/>
          </a:fontRef>
        </p:style>
      </p:cxnSp>
      <p:sp>
        <p:nvSpPr>
          <p:cNvPr id="89" name="Rectangle 88"/>
          <p:cNvSpPr/>
          <p:nvPr/>
        </p:nvSpPr>
        <p:spPr>
          <a:xfrm>
            <a:off x="7635240" y="4334255"/>
            <a:ext cx="1901952" cy="502920"/>
          </a:xfrm>
          <a:prstGeom prst="rect">
            <a:avLst/>
          </a:prstGeom>
          <a:solidFill>
            <a:srgbClr val="1A1A1A"/>
          </a:solidFill>
          <a:ln>
            <a:noFill/>
          </a:ln>
          <a:effectLst/>
        </p:spPr>
        <p:style>
          <a:lnRef idx="1">
            <a:schemeClr val="accent1"/>
          </a:lnRef>
          <a:fillRef idx="3">
            <a:schemeClr val="accent1"/>
          </a:fillRef>
          <a:effectRef idx="0">
            <a:schemeClr val="accent1"/>
          </a:effectRef>
          <a:fontRef idx="minor">
            <a:schemeClr val="lt1"/>
          </a:fontRef>
        </p:style>
        <p:txBody>
          <a:bodyPr wrap="square" lIns="54000" tIns="18000" rIns="54000" bIns="18000" rtlCol="0" anchor="ctr"/>
          <a:lstStyle/>
          <a:p>
            <a:pPr algn="ctr">
              <a:lnSpc>
                <a:spcPct val="110000"/>
              </a:lnSpc>
              <a:spcAft>
                <a:spcPts val="0"/>
              </a:spcAft>
            </a:pPr>
            <a:r>
              <a:rPr sz="1400" b="1">
                <a:solidFill>
                  <a:srgbClr val="FFFFFF"/>
                </a:solidFill>
                <a:latin typeface="メイリオ"/>
                <a:ea typeface="メイリオ"/>
                <a:cs typeface="メイリオ"/>
              </a:rPr>
              <a:t>CPA・CPO 改善</a:t>
            </a:r>
          </a:p>
        </p:txBody>
      </p:sp>
      <p:cxnSp>
        <p:nvCxnSpPr>
          <p:cNvPr id="90" name="Connector 89"/>
          <p:cNvCxnSpPr/>
          <p:nvPr/>
        </p:nvCxnSpPr>
        <p:spPr>
          <a:xfrm>
            <a:off x="365760" y="5074920"/>
            <a:ext cx="9171432" cy="0"/>
          </a:xfrm>
          <a:prstGeom prst="line">
            <a:avLst/>
          </a:prstGeom>
          <a:ln w="9525">
            <a:solidFill>
              <a:srgbClr val="D0D5E0"/>
            </a:solidFill>
          </a:ln>
        </p:spPr>
        <p:style>
          <a:lnRef idx="2">
            <a:schemeClr val="accent1"/>
          </a:lnRef>
          <a:fillRef idx="0">
            <a:schemeClr val="accent1"/>
          </a:fillRef>
          <a:effectRef idx="0">
            <a:schemeClr val="accent1"/>
          </a:effectRef>
          <a:fontRef idx="minor">
            <a:schemeClr val="tx1"/>
          </a:fontRef>
        </p:style>
      </p:cxnSp>
      <p:sp>
        <p:nvSpPr>
          <p:cNvPr id="91" name="TextBox 90"/>
          <p:cNvSpPr txBox="1"/>
          <p:nvPr/>
        </p:nvSpPr>
        <p:spPr>
          <a:xfrm>
            <a:off x="365760" y="5120639"/>
            <a:ext cx="2057400" cy="310896"/>
          </a:xfrm>
          <a:prstGeom prst="rect">
            <a:avLst/>
          </a:prstGeom>
          <a:noFill/>
        </p:spPr>
        <p:txBody>
          <a:bodyPr wrap="square" lIns="36000" tIns="10800" rIns="36000" bIns="10800" anchor="ctr">
            <a:spAutoFit/>
          </a:bodyPr>
          <a:lstStyle/>
          <a:p>
            <a:pPr algn="ctr">
              <a:lnSpc>
                <a:spcPct val="105000"/>
              </a:lnSpc>
              <a:spcAft>
                <a:spcPts val="200"/>
              </a:spcAft>
            </a:pPr>
            <a:r>
              <a:rPr sz="1050" b="0">
                <a:solidFill>
                  <a:srgbClr val="777777"/>
                </a:solidFill>
                <a:latin typeface="メイリオ"/>
                <a:ea typeface="メイリオ"/>
                <a:cs typeface="メイリオ"/>
              </a:rPr>
              <a:t>見る数字：友だち追加数</a:t>
            </a:r>
          </a:p>
        </p:txBody>
      </p:sp>
      <p:sp>
        <p:nvSpPr>
          <p:cNvPr id="92" name="TextBox 91"/>
          <p:cNvSpPr txBox="1"/>
          <p:nvPr/>
        </p:nvSpPr>
        <p:spPr>
          <a:xfrm>
            <a:off x="2697480" y="5120639"/>
            <a:ext cx="2057400" cy="310896"/>
          </a:xfrm>
          <a:prstGeom prst="rect">
            <a:avLst/>
          </a:prstGeom>
          <a:noFill/>
        </p:spPr>
        <p:txBody>
          <a:bodyPr wrap="square" lIns="36000" tIns="10800" rIns="36000" bIns="10800" anchor="ctr">
            <a:spAutoFit/>
          </a:bodyPr>
          <a:lstStyle/>
          <a:p>
            <a:pPr algn="ctr">
              <a:lnSpc>
                <a:spcPct val="105000"/>
              </a:lnSpc>
              <a:spcAft>
                <a:spcPts val="200"/>
              </a:spcAft>
            </a:pPr>
            <a:r>
              <a:rPr sz="1050" b="0">
                <a:solidFill>
                  <a:srgbClr val="777777"/>
                </a:solidFill>
                <a:latin typeface="メイリオ"/>
                <a:ea typeface="メイリオ"/>
                <a:cs typeface="メイリオ"/>
              </a:rPr>
              <a:t>見る数字：回答率</a:t>
            </a:r>
          </a:p>
        </p:txBody>
      </p:sp>
      <p:sp>
        <p:nvSpPr>
          <p:cNvPr id="93" name="TextBox 92"/>
          <p:cNvSpPr txBox="1"/>
          <p:nvPr/>
        </p:nvSpPr>
        <p:spPr>
          <a:xfrm>
            <a:off x="5120639" y="5120639"/>
            <a:ext cx="2148840" cy="310896"/>
          </a:xfrm>
          <a:prstGeom prst="rect">
            <a:avLst/>
          </a:prstGeom>
          <a:noFill/>
        </p:spPr>
        <p:txBody>
          <a:bodyPr wrap="square" lIns="36000" tIns="10800" rIns="36000" bIns="10800" anchor="ctr">
            <a:spAutoFit/>
          </a:bodyPr>
          <a:lstStyle/>
          <a:p>
            <a:pPr algn="ctr">
              <a:lnSpc>
                <a:spcPct val="105000"/>
              </a:lnSpc>
              <a:spcAft>
                <a:spcPts val="200"/>
              </a:spcAft>
            </a:pPr>
            <a:r>
              <a:rPr sz="1050" b="0">
                <a:solidFill>
                  <a:srgbClr val="777777"/>
                </a:solidFill>
                <a:latin typeface="メイリオ"/>
                <a:ea typeface="メイリオ"/>
                <a:cs typeface="メイリオ"/>
              </a:rPr>
              <a:t>見る数字：開封率・クリック率</a:t>
            </a:r>
          </a:p>
        </p:txBody>
      </p:sp>
      <p:sp>
        <p:nvSpPr>
          <p:cNvPr id="94" name="TextBox 93"/>
          <p:cNvSpPr txBox="1"/>
          <p:nvPr/>
        </p:nvSpPr>
        <p:spPr>
          <a:xfrm>
            <a:off x="7406639" y="5120639"/>
            <a:ext cx="2130552" cy="310896"/>
          </a:xfrm>
          <a:prstGeom prst="rect">
            <a:avLst/>
          </a:prstGeom>
          <a:noFill/>
        </p:spPr>
        <p:txBody>
          <a:bodyPr wrap="square" lIns="36000" tIns="10800" rIns="36000" bIns="10800" anchor="ctr">
            <a:spAutoFit/>
          </a:bodyPr>
          <a:lstStyle/>
          <a:p>
            <a:pPr algn="ctr">
              <a:lnSpc>
                <a:spcPct val="105000"/>
              </a:lnSpc>
              <a:spcAft>
                <a:spcPts val="200"/>
              </a:spcAft>
            </a:pPr>
            <a:r>
              <a:rPr sz="1050" b="0">
                <a:solidFill>
                  <a:srgbClr val="777777"/>
                </a:solidFill>
                <a:latin typeface="メイリオ"/>
                <a:ea typeface="メイリオ"/>
                <a:cs typeface="メイリオ"/>
              </a:rPr>
              <a:t>見る数字：CV数・CPA・CPO</a:t>
            </a:r>
          </a:p>
        </p:txBody>
      </p:sp>
      <p:sp>
        <p:nvSpPr>
          <p:cNvPr id="95" name="Rectangle 94"/>
          <p:cNvSpPr/>
          <p:nvPr/>
        </p:nvSpPr>
        <p:spPr>
          <a:xfrm>
            <a:off x="365760" y="5623560"/>
            <a:ext cx="9171432" cy="438912"/>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wrap="square" lIns="72000" tIns="18000" rIns="72000" bIns="18000" rtlCol="0" anchor="ctr"/>
          <a:lstStyle/>
          <a:p>
            <a:pPr algn="ctr">
              <a:lnSpc>
                <a:spcPct val="110000"/>
              </a:lnSpc>
              <a:spcAft>
                <a:spcPts val="0"/>
              </a:spcAft>
            </a:pPr>
            <a:r>
              <a:rPr sz="1400" b="1">
                <a:solidFill>
                  <a:srgbClr val="FFFFFF"/>
                </a:solidFill>
                <a:latin typeface="メイリオ"/>
                <a:ea typeface="メイリオ"/>
                <a:cs typeface="メイリオ"/>
              </a:rPr>
              <a:t>取りこぼしていた約99%を、LINEで追い続けてCVに変える</a:t>
            </a:r>
          </a:p>
        </p:txBody>
      </p:sp>
    </p:spTree>
    <p:extLst>
      <p:ext uri="{BB962C8B-B14F-4D97-AF65-F5344CB8AC3E}">
        <p14:creationId xmlns:p14="http://schemas.microsoft.com/office/powerpoint/2010/main" val="291394885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599BA6-A528-73A9-B0F4-DEDDF51B3A4B}"/>
            </a:ext>
          </a:extLst>
        </p:cNvPr>
        <p:cNvGrpSpPr/>
        <p:nvPr/>
      </p:nvGrpSpPr>
      <p:grpSpPr>
        <a:xfrm>
          <a:off x="0" y="0"/>
          <a:ext cx="0" cy="0"/>
          <a:chOff x="0" y="0"/>
          <a:chExt cx="0" cy="0"/>
        </a:xfrm>
      </p:grpSpPr>
      <p:sp>
        <p:nvSpPr>
          <p:cNvPr id="58" name="正方形/長方形 57">
            <a:extLst>
              <a:ext uri="{FF2B5EF4-FFF2-40B4-BE49-F238E27FC236}">
                <a16:creationId xmlns:a16="http://schemas.microsoft.com/office/drawing/2014/main" id="{A5F0E4CA-460F-19EB-3FE1-5585A9B3E061}"/>
              </a:ext>
            </a:extLst>
          </p:cNvPr>
          <p:cNvSpPr/>
          <p:nvPr/>
        </p:nvSpPr>
        <p:spPr>
          <a:xfrm>
            <a:off x="96788" y="1045811"/>
            <a:ext cx="1935768" cy="21878"/>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100" b="1" dirty="0">
              <a:latin typeface="メイリオ" panose="020B0604030504040204" pitchFamily="50" charset="-128"/>
              <a:ea typeface="メイリオ" panose="020B0604030504040204" pitchFamily="50" charset="-128"/>
            </a:endParaRPr>
          </a:p>
        </p:txBody>
      </p:sp>
      <p:sp>
        <p:nvSpPr>
          <p:cNvPr id="3" name="正方形/長方形 2">
            <a:extLst>
              <a:ext uri="{FF2B5EF4-FFF2-40B4-BE49-F238E27FC236}">
                <a16:creationId xmlns:a16="http://schemas.microsoft.com/office/drawing/2014/main" id="{5CD68471-CCDB-50E6-0285-35BF38F933E4}"/>
              </a:ext>
            </a:extLst>
          </p:cNvPr>
          <p:cNvSpPr/>
          <p:nvPr/>
        </p:nvSpPr>
        <p:spPr>
          <a:xfrm>
            <a:off x="96788" y="1645669"/>
            <a:ext cx="9687414" cy="3577"/>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100" b="1" dirty="0">
              <a:latin typeface="メイリオ" panose="020B0604030504040204" pitchFamily="50" charset="-128"/>
              <a:ea typeface="メイリオ" panose="020B0604030504040204" pitchFamily="50" charset="-128"/>
            </a:endParaRPr>
          </a:p>
        </p:txBody>
      </p:sp>
      <p:sp>
        <p:nvSpPr>
          <p:cNvPr id="5" name="テキスト ボックス 4">
            <a:extLst>
              <a:ext uri="{FF2B5EF4-FFF2-40B4-BE49-F238E27FC236}">
                <a16:creationId xmlns:a16="http://schemas.microsoft.com/office/drawing/2014/main" id="{93E92412-8323-7637-01F3-37AEDFFA3E18}"/>
              </a:ext>
            </a:extLst>
          </p:cNvPr>
          <p:cNvSpPr txBox="1"/>
          <p:nvPr/>
        </p:nvSpPr>
        <p:spPr>
          <a:xfrm>
            <a:off x="96788" y="619405"/>
            <a:ext cx="4961186" cy="369332"/>
          </a:xfrm>
          <a:prstGeom prst="rect">
            <a:avLst/>
          </a:prstGeom>
          <a:noFill/>
        </p:spPr>
        <p:txBody>
          <a:bodyPr wrap="square">
            <a:spAutoFit/>
          </a:bodyPr>
          <a:lstStyle/>
          <a:p>
            <a:r>
              <a:rPr lang="en-US" altLang="ja-JP"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LINE</a:t>
            </a:r>
            <a:r>
              <a:rPr lang="ja-JP" altLang="en-US"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施策一覧</a:t>
            </a:r>
            <a:endParaRPr lang="ja-JP" altLang="en-US" sz="1100" dirty="0"/>
          </a:p>
        </p:txBody>
      </p:sp>
      <p:sp>
        <p:nvSpPr>
          <p:cNvPr id="7" name="テキスト ボックス 6">
            <a:extLst>
              <a:ext uri="{FF2B5EF4-FFF2-40B4-BE49-F238E27FC236}">
                <a16:creationId xmlns:a16="http://schemas.microsoft.com/office/drawing/2014/main" id="{D4A0FD7C-1D07-79B6-CA6F-47DF2D8CF1EE}"/>
              </a:ext>
            </a:extLst>
          </p:cNvPr>
          <p:cNvSpPr txBox="1"/>
          <p:nvPr/>
        </p:nvSpPr>
        <p:spPr>
          <a:xfrm>
            <a:off x="96788" y="1202790"/>
            <a:ext cx="9687414" cy="307777"/>
          </a:xfrm>
          <a:prstGeom prst="rect">
            <a:avLst/>
          </a:prstGeom>
          <a:noFill/>
        </p:spPr>
        <p:txBody>
          <a:bodyPr wrap="square">
            <a:spAutoFit/>
          </a:bodyPr>
          <a:lstStyle/>
          <a:p>
            <a:r>
              <a:rPr lang="ja-JP" altLang="en-US"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初期に整える標準設定と、運用しながら改善する施策の一覧</a:t>
            </a:r>
            <a:endParaRPr lang="ja-JP" altLang="en-US" sz="1000" dirty="0"/>
          </a:p>
        </p:txBody>
      </p:sp>
      <p:sp>
        <p:nvSpPr>
          <p:cNvPr id="9" name="テキスト ボックス 8">
            <a:extLst>
              <a:ext uri="{FF2B5EF4-FFF2-40B4-BE49-F238E27FC236}">
                <a16:creationId xmlns:a16="http://schemas.microsoft.com/office/drawing/2014/main" id="{FBA2E1AE-C51F-8327-AEB6-88548FDE3911}"/>
              </a:ext>
            </a:extLst>
          </p:cNvPr>
          <p:cNvSpPr txBox="1"/>
          <p:nvPr/>
        </p:nvSpPr>
        <p:spPr>
          <a:xfrm>
            <a:off x="460785" y="91159"/>
            <a:ext cx="4961186" cy="369332"/>
          </a:xfrm>
          <a:prstGeom prst="rect">
            <a:avLst/>
          </a:prstGeom>
          <a:noFill/>
        </p:spPr>
        <p:txBody>
          <a:bodyPr wrap="square">
            <a:spAutoFit/>
          </a:bodyPr>
          <a:lstStyle/>
          <a:p>
            <a:r>
              <a:rPr lang="ja-JP" altLang="en-US"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 前提調査</a:t>
            </a:r>
            <a:endParaRPr lang="ja-JP" altLang="en-US" sz="1100" dirty="0"/>
          </a:p>
        </p:txBody>
      </p:sp>
      <p:sp>
        <p:nvSpPr>
          <p:cNvPr id="2" name="Rectangle 3">
            <a:extLst>
              <a:ext uri="{FF2B5EF4-FFF2-40B4-BE49-F238E27FC236}">
                <a16:creationId xmlns:a16="http://schemas.microsoft.com/office/drawing/2014/main" id="{8EDF250F-68CF-F752-3821-E813039B5143}"/>
              </a:ext>
            </a:extLst>
          </p:cNvPr>
          <p:cNvSpPr/>
          <p:nvPr/>
        </p:nvSpPr>
        <p:spPr>
          <a:xfrm>
            <a:off x="384048" y="1751297"/>
            <a:ext cx="3611880" cy="256032"/>
          </a:xfrm>
          <a:prstGeom prst="rect">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000" b="1">
                <a:solidFill>
                  <a:srgbClr val="FFFFFF"/>
                </a:solidFill>
                <a:latin typeface="メイリオ" panose="020B0604030504040204" pitchFamily="50" charset="-128"/>
                <a:ea typeface="メイリオ" panose="020B0604030504040204" pitchFamily="50" charset="-128"/>
                <a:cs typeface="メイリオ"/>
              </a:rPr>
              <a:t>初期の標準設定（構築時に設定）</a:t>
            </a:r>
          </a:p>
        </p:txBody>
      </p:sp>
      <p:sp>
        <p:nvSpPr>
          <p:cNvPr id="4" name="Rectangle 4">
            <a:extLst>
              <a:ext uri="{FF2B5EF4-FFF2-40B4-BE49-F238E27FC236}">
                <a16:creationId xmlns:a16="http://schemas.microsoft.com/office/drawing/2014/main" id="{00BC86A0-1945-0E28-F906-696A5BE460B5}"/>
              </a:ext>
            </a:extLst>
          </p:cNvPr>
          <p:cNvSpPr/>
          <p:nvPr/>
        </p:nvSpPr>
        <p:spPr>
          <a:xfrm>
            <a:off x="384048" y="2027227"/>
            <a:ext cx="3611880" cy="438307"/>
          </a:xfrm>
          <a:prstGeom prst="rect">
            <a:avLst/>
          </a:prstGeom>
          <a:solidFill>
            <a:srgbClr val="EEF1F8"/>
          </a:solidFill>
          <a:ln w="12700">
            <a:solidFill>
              <a:srgbClr val="1F2A5C"/>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6" name="Rounded Rectangle 5">
            <a:extLst>
              <a:ext uri="{FF2B5EF4-FFF2-40B4-BE49-F238E27FC236}">
                <a16:creationId xmlns:a16="http://schemas.microsoft.com/office/drawing/2014/main" id="{9590B812-0BE4-8959-A859-DFBF68A13331}"/>
              </a:ext>
            </a:extLst>
          </p:cNvPr>
          <p:cNvSpPr/>
          <p:nvPr/>
        </p:nvSpPr>
        <p:spPr>
          <a:xfrm>
            <a:off x="457200" y="2080126"/>
            <a:ext cx="1115568" cy="332509"/>
          </a:xfrm>
          <a:prstGeom prst="roundRect">
            <a:avLst/>
          </a:prstGeom>
          <a:solidFill>
            <a:srgbClr val="FFFFFF"/>
          </a:solidFill>
          <a:ln w="12700">
            <a:solidFill>
              <a:srgbClr val="1F2A5C"/>
            </a:solidFill>
          </a:ln>
          <a:effectLst/>
        </p:spPr>
        <p:style>
          <a:lnRef idx="1">
            <a:schemeClr val="accent1"/>
          </a:lnRef>
          <a:fillRef idx="3">
            <a:schemeClr val="accent1"/>
          </a:fillRef>
          <a:effectRef idx="2">
            <a:schemeClr val="accent1"/>
          </a:effectRef>
          <a:fontRef idx="minor">
            <a:schemeClr val="lt1"/>
          </a:fontRef>
        </p:style>
        <p:txBody>
          <a:bodyPr wrap="square" lIns="18288" tIns="18288" rIns="18288" bIns="18288" rtlCol="0" anchor="ctr"/>
          <a:lstStyle/>
          <a:p>
            <a:pPr algn="ctr">
              <a:spcAft>
                <a:spcPts val="0"/>
              </a:spcAft>
            </a:pPr>
            <a:r>
              <a:rPr sz="800" b="1">
                <a:solidFill>
                  <a:srgbClr val="1F2A5C"/>
                </a:solidFill>
                <a:latin typeface="メイリオ" panose="020B0604030504040204" pitchFamily="50" charset="-128"/>
                <a:ea typeface="メイリオ" panose="020B0604030504040204" pitchFamily="50" charset="-128"/>
                <a:cs typeface="メイリオ"/>
              </a:rPr>
              <a:t>② 挨拶メッセージ</a:t>
            </a:r>
          </a:p>
        </p:txBody>
      </p:sp>
      <p:sp>
        <p:nvSpPr>
          <p:cNvPr id="8" name="Rounded Rectangle 6">
            <a:extLst>
              <a:ext uri="{FF2B5EF4-FFF2-40B4-BE49-F238E27FC236}">
                <a16:creationId xmlns:a16="http://schemas.microsoft.com/office/drawing/2014/main" id="{C604752C-4276-622A-392D-CD8A49B0584B}"/>
              </a:ext>
            </a:extLst>
          </p:cNvPr>
          <p:cNvSpPr/>
          <p:nvPr/>
        </p:nvSpPr>
        <p:spPr>
          <a:xfrm>
            <a:off x="1627632" y="2080126"/>
            <a:ext cx="1115568" cy="332509"/>
          </a:xfrm>
          <a:prstGeom prst="roundRect">
            <a:avLst/>
          </a:prstGeom>
          <a:solidFill>
            <a:srgbClr val="FFFFFF"/>
          </a:solidFill>
          <a:ln w="12700">
            <a:solidFill>
              <a:srgbClr val="1F2A5C"/>
            </a:solidFill>
          </a:ln>
          <a:effectLst/>
        </p:spPr>
        <p:style>
          <a:lnRef idx="1">
            <a:schemeClr val="accent1"/>
          </a:lnRef>
          <a:fillRef idx="3">
            <a:schemeClr val="accent1"/>
          </a:fillRef>
          <a:effectRef idx="2">
            <a:schemeClr val="accent1"/>
          </a:effectRef>
          <a:fontRef idx="minor">
            <a:schemeClr val="lt1"/>
          </a:fontRef>
        </p:style>
        <p:txBody>
          <a:bodyPr wrap="square" lIns="18288" tIns="18288" rIns="18288" bIns="18288" rtlCol="0" anchor="ctr"/>
          <a:lstStyle/>
          <a:p>
            <a:pPr algn="ctr">
              <a:spcAft>
                <a:spcPts val="0"/>
              </a:spcAft>
            </a:pPr>
            <a:r>
              <a:rPr sz="800" b="1">
                <a:solidFill>
                  <a:srgbClr val="1F2A5C"/>
                </a:solidFill>
                <a:latin typeface="メイリオ" panose="020B0604030504040204" pitchFamily="50" charset="-128"/>
                <a:ea typeface="メイリオ" panose="020B0604030504040204" pitchFamily="50" charset="-128"/>
                <a:cs typeface="メイリオ"/>
              </a:rPr>
              <a:t>⑦ リッチメニュー</a:t>
            </a:r>
          </a:p>
        </p:txBody>
      </p:sp>
      <p:sp>
        <p:nvSpPr>
          <p:cNvPr id="10" name="Rounded Rectangle 7">
            <a:extLst>
              <a:ext uri="{FF2B5EF4-FFF2-40B4-BE49-F238E27FC236}">
                <a16:creationId xmlns:a16="http://schemas.microsoft.com/office/drawing/2014/main" id="{1F06A184-DB9D-F2CB-0471-0929DEE9A890}"/>
              </a:ext>
            </a:extLst>
          </p:cNvPr>
          <p:cNvSpPr/>
          <p:nvPr/>
        </p:nvSpPr>
        <p:spPr>
          <a:xfrm>
            <a:off x="2798064" y="2080126"/>
            <a:ext cx="1115568" cy="332509"/>
          </a:xfrm>
          <a:prstGeom prst="roundRect">
            <a:avLst/>
          </a:prstGeom>
          <a:solidFill>
            <a:srgbClr val="FFFFFF"/>
          </a:solidFill>
          <a:ln w="12700">
            <a:solidFill>
              <a:srgbClr val="1F2A5C"/>
            </a:solidFill>
          </a:ln>
          <a:effectLst/>
        </p:spPr>
        <p:style>
          <a:lnRef idx="1">
            <a:schemeClr val="accent1"/>
          </a:lnRef>
          <a:fillRef idx="3">
            <a:schemeClr val="accent1"/>
          </a:fillRef>
          <a:effectRef idx="2">
            <a:schemeClr val="accent1"/>
          </a:effectRef>
          <a:fontRef idx="minor">
            <a:schemeClr val="lt1"/>
          </a:fontRef>
        </p:style>
        <p:txBody>
          <a:bodyPr wrap="square" lIns="18288" tIns="18288" rIns="18288" bIns="18288" rtlCol="0" anchor="ctr"/>
          <a:lstStyle/>
          <a:p>
            <a:pPr algn="ctr">
              <a:spcAft>
                <a:spcPts val="0"/>
              </a:spcAft>
            </a:pPr>
            <a:r>
              <a:rPr sz="800" b="1">
                <a:solidFill>
                  <a:srgbClr val="1F2A5C"/>
                </a:solidFill>
                <a:latin typeface="メイリオ" panose="020B0604030504040204" pitchFamily="50" charset="-128"/>
                <a:ea typeface="メイリオ" panose="020B0604030504040204" pitchFamily="50" charset="-128"/>
                <a:cs typeface="メイリオ"/>
              </a:rPr>
              <a:t>⑧ 自動応答</a:t>
            </a:r>
          </a:p>
        </p:txBody>
      </p:sp>
      <p:sp>
        <p:nvSpPr>
          <p:cNvPr id="11" name="Rectangle 8">
            <a:extLst>
              <a:ext uri="{FF2B5EF4-FFF2-40B4-BE49-F238E27FC236}">
                <a16:creationId xmlns:a16="http://schemas.microsoft.com/office/drawing/2014/main" id="{021E765B-A271-DE02-1792-DC9E5CE154F8}"/>
              </a:ext>
            </a:extLst>
          </p:cNvPr>
          <p:cNvSpPr/>
          <p:nvPr/>
        </p:nvSpPr>
        <p:spPr>
          <a:xfrm>
            <a:off x="4160520" y="1751297"/>
            <a:ext cx="5367528" cy="256032"/>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000" b="1">
                <a:solidFill>
                  <a:srgbClr val="FFFFFF"/>
                </a:solidFill>
                <a:latin typeface="メイリオ" panose="020B0604030504040204" pitchFamily="50" charset="-128"/>
                <a:ea typeface="メイリオ" panose="020B0604030504040204" pitchFamily="50" charset="-128"/>
                <a:cs typeface="メイリオ"/>
              </a:rPr>
              <a:t>運用施策（運用しながら改善）</a:t>
            </a:r>
          </a:p>
        </p:txBody>
      </p:sp>
      <p:sp>
        <p:nvSpPr>
          <p:cNvPr id="12" name="Rectangle 9">
            <a:extLst>
              <a:ext uri="{FF2B5EF4-FFF2-40B4-BE49-F238E27FC236}">
                <a16:creationId xmlns:a16="http://schemas.microsoft.com/office/drawing/2014/main" id="{99190E0E-1162-5C21-4FF0-A5498319FCC2}"/>
              </a:ext>
            </a:extLst>
          </p:cNvPr>
          <p:cNvSpPr/>
          <p:nvPr/>
        </p:nvSpPr>
        <p:spPr>
          <a:xfrm>
            <a:off x="4160520" y="2027227"/>
            <a:ext cx="5367528" cy="438307"/>
          </a:xfrm>
          <a:prstGeom prst="rect">
            <a:avLst/>
          </a:prstGeom>
          <a:solidFill>
            <a:srgbClr val="FDF0F2"/>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13" name="Rounded Rectangle 10">
            <a:extLst>
              <a:ext uri="{FF2B5EF4-FFF2-40B4-BE49-F238E27FC236}">
                <a16:creationId xmlns:a16="http://schemas.microsoft.com/office/drawing/2014/main" id="{6525B561-FBF1-FB44-C0A8-CC3FE6C9680F}"/>
              </a:ext>
            </a:extLst>
          </p:cNvPr>
          <p:cNvSpPr/>
          <p:nvPr/>
        </p:nvSpPr>
        <p:spPr>
          <a:xfrm>
            <a:off x="4224528" y="2080126"/>
            <a:ext cx="1005840" cy="332509"/>
          </a:xfrm>
          <a:prstGeom prst="roundRect">
            <a:avLst/>
          </a:prstGeom>
          <a:solidFill>
            <a:srgbClr val="FFFFFF"/>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18288" tIns="18288" rIns="18288" bIns="18288" rtlCol="0" anchor="ctr"/>
          <a:lstStyle/>
          <a:p>
            <a:pPr algn="ctr">
              <a:spcAft>
                <a:spcPts val="0"/>
              </a:spcAft>
            </a:pPr>
            <a:r>
              <a:rPr sz="800" b="1">
                <a:solidFill>
                  <a:srgbClr val="C8102E"/>
                </a:solidFill>
                <a:latin typeface="メイリオ" panose="020B0604030504040204" pitchFamily="50" charset="-128"/>
                <a:ea typeface="メイリオ" panose="020B0604030504040204" pitchFamily="50" charset="-128"/>
                <a:cs typeface="メイリオ"/>
              </a:rPr>
              <a:t>① ポップアップ</a:t>
            </a:r>
          </a:p>
        </p:txBody>
      </p:sp>
      <p:sp>
        <p:nvSpPr>
          <p:cNvPr id="14" name="Rounded Rectangle 11">
            <a:extLst>
              <a:ext uri="{FF2B5EF4-FFF2-40B4-BE49-F238E27FC236}">
                <a16:creationId xmlns:a16="http://schemas.microsoft.com/office/drawing/2014/main" id="{C4024D48-4A70-13B2-70F7-88912D787030}"/>
              </a:ext>
            </a:extLst>
          </p:cNvPr>
          <p:cNvSpPr/>
          <p:nvPr/>
        </p:nvSpPr>
        <p:spPr>
          <a:xfrm>
            <a:off x="5266944" y="2080126"/>
            <a:ext cx="1005840" cy="332509"/>
          </a:xfrm>
          <a:prstGeom prst="roundRect">
            <a:avLst/>
          </a:prstGeom>
          <a:solidFill>
            <a:srgbClr val="FFFFFF"/>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18288" tIns="18288" rIns="18288" bIns="18288" rtlCol="0" anchor="ctr"/>
          <a:lstStyle/>
          <a:p>
            <a:pPr algn="ctr">
              <a:spcAft>
                <a:spcPts val="0"/>
              </a:spcAft>
            </a:pPr>
            <a:r>
              <a:rPr sz="800" b="1">
                <a:solidFill>
                  <a:srgbClr val="C8102E"/>
                </a:solidFill>
                <a:latin typeface="メイリオ" panose="020B0604030504040204" pitchFamily="50" charset="-128"/>
                <a:ea typeface="メイリオ" panose="020B0604030504040204" pitchFamily="50" charset="-128"/>
                <a:cs typeface="メイリオ"/>
              </a:rPr>
              <a:t>③ アンケート</a:t>
            </a:r>
          </a:p>
        </p:txBody>
      </p:sp>
      <p:sp>
        <p:nvSpPr>
          <p:cNvPr id="15" name="Rounded Rectangle 12">
            <a:extLst>
              <a:ext uri="{FF2B5EF4-FFF2-40B4-BE49-F238E27FC236}">
                <a16:creationId xmlns:a16="http://schemas.microsoft.com/office/drawing/2014/main" id="{D6345F19-2B8B-BAED-2EDE-1419C87C7D29}"/>
              </a:ext>
            </a:extLst>
          </p:cNvPr>
          <p:cNvSpPr/>
          <p:nvPr/>
        </p:nvSpPr>
        <p:spPr>
          <a:xfrm>
            <a:off x="6309360" y="2080126"/>
            <a:ext cx="1005840" cy="332509"/>
          </a:xfrm>
          <a:prstGeom prst="roundRect">
            <a:avLst/>
          </a:prstGeom>
          <a:solidFill>
            <a:srgbClr val="FFFFFF"/>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18288" tIns="18288" rIns="18288" bIns="18288" rtlCol="0" anchor="ctr"/>
          <a:lstStyle/>
          <a:p>
            <a:pPr algn="ctr">
              <a:spcAft>
                <a:spcPts val="0"/>
              </a:spcAft>
            </a:pPr>
            <a:r>
              <a:rPr sz="800" b="1" dirty="0">
                <a:solidFill>
                  <a:srgbClr val="C8102E"/>
                </a:solidFill>
                <a:latin typeface="メイリオ" panose="020B0604030504040204" pitchFamily="50" charset="-128"/>
                <a:ea typeface="メイリオ" panose="020B0604030504040204" pitchFamily="50" charset="-128"/>
                <a:cs typeface="メイリオ"/>
              </a:rPr>
              <a:t>④ </a:t>
            </a:r>
            <a:r>
              <a:rPr sz="800" b="1" dirty="0" err="1">
                <a:solidFill>
                  <a:srgbClr val="C8102E"/>
                </a:solidFill>
                <a:latin typeface="メイリオ" panose="020B0604030504040204" pitchFamily="50" charset="-128"/>
                <a:ea typeface="メイリオ" panose="020B0604030504040204" pitchFamily="50" charset="-128"/>
                <a:cs typeface="メイリオ"/>
              </a:rPr>
              <a:t>タグ</a:t>
            </a:r>
            <a:endParaRPr lang="en-US" sz="800" b="1" dirty="0">
              <a:solidFill>
                <a:srgbClr val="C8102E"/>
              </a:solidFill>
              <a:latin typeface="メイリオ" panose="020B0604030504040204" pitchFamily="50" charset="-128"/>
              <a:ea typeface="メイリオ" panose="020B0604030504040204" pitchFamily="50" charset="-128"/>
              <a:cs typeface="メイリオ"/>
            </a:endParaRPr>
          </a:p>
          <a:p>
            <a:pPr algn="ctr">
              <a:spcAft>
                <a:spcPts val="0"/>
              </a:spcAft>
            </a:pPr>
            <a:r>
              <a:rPr sz="800" b="1" dirty="0" err="1">
                <a:solidFill>
                  <a:srgbClr val="C8102E"/>
                </a:solidFill>
                <a:latin typeface="メイリオ" panose="020B0604030504040204" pitchFamily="50" charset="-128"/>
                <a:ea typeface="メイリオ" panose="020B0604030504040204" pitchFamily="50" charset="-128"/>
                <a:cs typeface="メイリオ"/>
              </a:rPr>
              <a:t>セグメント</a:t>
            </a:r>
            <a:endParaRPr sz="800" b="1" dirty="0">
              <a:solidFill>
                <a:srgbClr val="C8102E"/>
              </a:solidFill>
              <a:latin typeface="メイリオ" panose="020B0604030504040204" pitchFamily="50" charset="-128"/>
              <a:ea typeface="メイリオ" panose="020B0604030504040204" pitchFamily="50" charset="-128"/>
              <a:cs typeface="メイリオ"/>
            </a:endParaRPr>
          </a:p>
        </p:txBody>
      </p:sp>
      <p:sp>
        <p:nvSpPr>
          <p:cNvPr id="16" name="Rounded Rectangle 13">
            <a:extLst>
              <a:ext uri="{FF2B5EF4-FFF2-40B4-BE49-F238E27FC236}">
                <a16:creationId xmlns:a16="http://schemas.microsoft.com/office/drawing/2014/main" id="{B6BAB4F4-45CE-B7A8-528B-A94A518CCAAA}"/>
              </a:ext>
            </a:extLst>
          </p:cNvPr>
          <p:cNvSpPr/>
          <p:nvPr/>
        </p:nvSpPr>
        <p:spPr>
          <a:xfrm>
            <a:off x="7351775" y="2080126"/>
            <a:ext cx="1005840" cy="332509"/>
          </a:xfrm>
          <a:prstGeom prst="roundRect">
            <a:avLst/>
          </a:prstGeom>
          <a:solidFill>
            <a:srgbClr val="FFFFFF"/>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18288" tIns="18288" rIns="18288" bIns="18288" rtlCol="0" anchor="ctr"/>
          <a:lstStyle/>
          <a:p>
            <a:pPr algn="ctr">
              <a:spcAft>
                <a:spcPts val="0"/>
              </a:spcAft>
            </a:pPr>
            <a:r>
              <a:rPr sz="800" b="1">
                <a:solidFill>
                  <a:srgbClr val="C8102E"/>
                </a:solidFill>
                <a:latin typeface="メイリオ" panose="020B0604030504040204" pitchFamily="50" charset="-128"/>
                <a:ea typeface="メイリオ" panose="020B0604030504040204" pitchFamily="50" charset="-128"/>
                <a:cs typeface="メイリオ"/>
              </a:rPr>
              <a:t>⑤ ステップ配信</a:t>
            </a:r>
          </a:p>
        </p:txBody>
      </p:sp>
      <p:sp>
        <p:nvSpPr>
          <p:cNvPr id="17" name="Rounded Rectangle 14">
            <a:extLst>
              <a:ext uri="{FF2B5EF4-FFF2-40B4-BE49-F238E27FC236}">
                <a16:creationId xmlns:a16="http://schemas.microsoft.com/office/drawing/2014/main" id="{F70AA91C-29B1-D2A6-C89C-6EE4F60F14DB}"/>
              </a:ext>
            </a:extLst>
          </p:cNvPr>
          <p:cNvSpPr/>
          <p:nvPr/>
        </p:nvSpPr>
        <p:spPr>
          <a:xfrm>
            <a:off x="8394192" y="2080126"/>
            <a:ext cx="1005840" cy="332509"/>
          </a:xfrm>
          <a:prstGeom prst="roundRect">
            <a:avLst/>
          </a:prstGeom>
          <a:solidFill>
            <a:srgbClr val="FFFFFF"/>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18288" tIns="18288" rIns="18288" bIns="18288" rtlCol="0" anchor="ctr"/>
          <a:lstStyle/>
          <a:p>
            <a:pPr algn="ctr">
              <a:spcAft>
                <a:spcPts val="0"/>
              </a:spcAft>
            </a:pPr>
            <a:r>
              <a:rPr sz="800" b="1">
                <a:solidFill>
                  <a:srgbClr val="C8102E"/>
                </a:solidFill>
                <a:latin typeface="メイリオ" panose="020B0604030504040204" pitchFamily="50" charset="-128"/>
                <a:ea typeface="メイリオ" panose="020B0604030504040204" pitchFamily="50" charset="-128"/>
                <a:cs typeface="メイリオ"/>
              </a:rPr>
              <a:t>⑥ 企画配信</a:t>
            </a:r>
          </a:p>
        </p:txBody>
      </p:sp>
      <p:sp>
        <p:nvSpPr>
          <p:cNvPr id="18" name="Rectangle 15">
            <a:extLst>
              <a:ext uri="{FF2B5EF4-FFF2-40B4-BE49-F238E27FC236}">
                <a16:creationId xmlns:a16="http://schemas.microsoft.com/office/drawing/2014/main" id="{013A02CB-0DA2-C819-A363-A0BFC4E5F783}"/>
              </a:ext>
            </a:extLst>
          </p:cNvPr>
          <p:cNvSpPr/>
          <p:nvPr/>
        </p:nvSpPr>
        <p:spPr>
          <a:xfrm>
            <a:off x="384048" y="2586136"/>
            <a:ext cx="2468880" cy="1657418"/>
          </a:xfrm>
          <a:prstGeom prst="rect">
            <a:avLst/>
          </a:prstGeom>
          <a:solidFill>
            <a:srgbClr val="FFFFFF"/>
          </a:solidFill>
          <a:ln w="12700">
            <a:solidFill>
              <a:srgbClr val="999999"/>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19" name="Rectangle 16">
            <a:extLst>
              <a:ext uri="{FF2B5EF4-FFF2-40B4-BE49-F238E27FC236}">
                <a16:creationId xmlns:a16="http://schemas.microsoft.com/office/drawing/2014/main" id="{E86D2C36-78EC-6854-E4E1-7334CABCDC1A}"/>
              </a:ext>
            </a:extLst>
          </p:cNvPr>
          <p:cNvSpPr/>
          <p:nvPr/>
        </p:nvSpPr>
        <p:spPr>
          <a:xfrm>
            <a:off x="384048" y="2588622"/>
            <a:ext cx="2468880" cy="237744"/>
          </a:xfrm>
          <a:prstGeom prst="rect">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20" name="Oval 17">
            <a:extLst>
              <a:ext uri="{FF2B5EF4-FFF2-40B4-BE49-F238E27FC236}">
                <a16:creationId xmlns:a16="http://schemas.microsoft.com/office/drawing/2014/main" id="{094197D1-B3A2-167E-A162-4DA5857C26B2}"/>
              </a:ext>
            </a:extLst>
          </p:cNvPr>
          <p:cNvSpPr/>
          <p:nvPr/>
        </p:nvSpPr>
        <p:spPr>
          <a:xfrm>
            <a:off x="457200" y="2661774"/>
            <a:ext cx="91440" cy="91440"/>
          </a:xfrm>
          <a:prstGeom prst="ellipse">
            <a:avLst/>
          </a:prstGeom>
          <a:solidFill>
            <a:srgbClr val="FF6B6B"/>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21" name="Oval 18">
            <a:extLst>
              <a:ext uri="{FF2B5EF4-FFF2-40B4-BE49-F238E27FC236}">
                <a16:creationId xmlns:a16="http://schemas.microsoft.com/office/drawing/2014/main" id="{1C9CC394-D94D-C09E-632E-D667409C8EAC}"/>
              </a:ext>
            </a:extLst>
          </p:cNvPr>
          <p:cNvSpPr/>
          <p:nvPr/>
        </p:nvSpPr>
        <p:spPr>
          <a:xfrm>
            <a:off x="612648" y="2661774"/>
            <a:ext cx="91440" cy="91440"/>
          </a:xfrm>
          <a:prstGeom prst="ellipse">
            <a:avLst/>
          </a:prstGeom>
          <a:solidFill>
            <a:srgbClr val="FFC145"/>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22" name="Oval 19">
            <a:extLst>
              <a:ext uri="{FF2B5EF4-FFF2-40B4-BE49-F238E27FC236}">
                <a16:creationId xmlns:a16="http://schemas.microsoft.com/office/drawing/2014/main" id="{1E0A0DDB-0FA0-A8C4-EFC1-1987BE7B342B}"/>
              </a:ext>
            </a:extLst>
          </p:cNvPr>
          <p:cNvSpPr/>
          <p:nvPr/>
        </p:nvSpPr>
        <p:spPr>
          <a:xfrm>
            <a:off x="768096" y="2661774"/>
            <a:ext cx="91440" cy="91440"/>
          </a:xfrm>
          <a:prstGeom prst="ellipse">
            <a:avLst/>
          </a:prstGeom>
          <a:solidFill>
            <a:srgbClr val="06C755"/>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23" name="Rectangle 20">
            <a:extLst>
              <a:ext uri="{FF2B5EF4-FFF2-40B4-BE49-F238E27FC236}">
                <a16:creationId xmlns:a16="http://schemas.microsoft.com/office/drawing/2014/main" id="{C7D8DE35-18E9-B2F8-EBB6-F5D39FC00825}"/>
              </a:ext>
            </a:extLst>
          </p:cNvPr>
          <p:cNvSpPr/>
          <p:nvPr/>
        </p:nvSpPr>
        <p:spPr>
          <a:xfrm>
            <a:off x="475488" y="2862942"/>
            <a:ext cx="1005840" cy="91440"/>
          </a:xfrm>
          <a:prstGeom prst="rect">
            <a:avLst/>
          </a:prstGeom>
          <a:solidFill>
            <a:srgbClr val="E3E6EE"/>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24" name="Rectangle 21">
            <a:extLst>
              <a:ext uri="{FF2B5EF4-FFF2-40B4-BE49-F238E27FC236}">
                <a16:creationId xmlns:a16="http://schemas.microsoft.com/office/drawing/2014/main" id="{5A60E50B-1463-C428-350C-6B20BB14F600}"/>
              </a:ext>
            </a:extLst>
          </p:cNvPr>
          <p:cNvSpPr/>
          <p:nvPr/>
        </p:nvSpPr>
        <p:spPr>
          <a:xfrm>
            <a:off x="475488" y="3000102"/>
            <a:ext cx="2286000" cy="64008"/>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25" name="Rectangle 22">
            <a:extLst>
              <a:ext uri="{FF2B5EF4-FFF2-40B4-BE49-F238E27FC236}">
                <a16:creationId xmlns:a16="http://schemas.microsoft.com/office/drawing/2014/main" id="{51632E22-3CBA-3EB1-097C-B5A452ACFB3F}"/>
              </a:ext>
            </a:extLst>
          </p:cNvPr>
          <p:cNvSpPr/>
          <p:nvPr/>
        </p:nvSpPr>
        <p:spPr>
          <a:xfrm>
            <a:off x="475488" y="3109830"/>
            <a:ext cx="2011680" cy="64008"/>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26" name="Rectangle 23">
            <a:extLst>
              <a:ext uri="{FF2B5EF4-FFF2-40B4-BE49-F238E27FC236}">
                <a16:creationId xmlns:a16="http://schemas.microsoft.com/office/drawing/2014/main" id="{A95F03D9-D5D2-F49D-3FA0-8D85F2FD1C45}"/>
              </a:ext>
            </a:extLst>
          </p:cNvPr>
          <p:cNvSpPr/>
          <p:nvPr/>
        </p:nvSpPr>
        <p:spPr>
          <a:xfrm>
            <a:off x="475488" y="3256134"/>
            <a:ext cx="868680" cy="640080"/>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27" name="Rectangle 24">
            <a:extLst>
              <a:ext uri="{FF2B5EF4-FFF2-40B4-BE49-F238E27FC236}">
                <a16:creationId xmlns:a16="http://schemas.microsoft.com/office/drawing/2014/main" id="{9C4DBD8F-DB8B-6351-EA24-784802E89E28}"/>
              </a:ext>
            </a:extLst>
          </p:cNvPr>
          <p:cNvSpPr/>
          <p:nvPr/>
        </p:nvSpPr>
        <p:spPr>
          <a:xfrm>
            <a:off x="1417320" y="3256134"/>
            <a:ext cx="868680" cy="640080"/>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28" name="Rounded Rectangle 25">
            <a:extLst>
              <a:ext uri="{FF2B5EF4-FFF2-40B4-BE49-F238E27FC236}">
                <a16:creationId xmlns:a16="http://schemas.microsoft.com/office/drawing/2014/main" id="{1214AD64-46E6-CE51-6B77-7D205CC291B6}"/>
              </a:ext>
            </a:extLst>
          </p:cNvPr>
          <p:cNvSpPr/>
          <p:nvPr/>
        </p:nvSpPr>
        <p:spPr>
          <a:xfrm>
            <a:off x="825135" y="3159858"/>
            <a:ext cx="1783080" cy="982414"/>
          </a:xfrm>
          <a:prstGeom prst="roundRect">
            <a:avLst/>
          </a:prstGeom>
          <a:solidFill>
            <a:srgbClr val="FFFFFF"/>
          </a:solidFill>
          <a:ln w="25400">
            <a:solidFill>
              <a:srgbClr val="1F2A5C"/>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700" b="0" dirty="0" err="1">
                <a:solidFill>
                  <a:srgbClr val="777777"/>
                </a:solidFill>
                <a:latin typeface="メイリオ" panose="020B0604030504040204" pitchFamily="50" charset="-128"/>
                <a:ea typeface="メイリオ" panose="020B0604030504040204" pitchFamily="50" charset="-128"/>
                <a:cs typeface="メイリオ"/>
              </a:rPr>
              <a:t>ご予約・お問い合わせ前に</a:t>
            </a:r>
            <a:endParaRPr sz="700" b="0" dirty="0">
              <a:solidFill>
                <a:srgbClr val="777777"/>
              </a:solidFill>
              <a:latin typeface="メイリオ" panose="020B0604030504040204" pitchFamily="50" charset="-128"/>
              <a:ea typeface="メイリオ" panose="020B0604030504040204" pitchFamily="50" charset="-128"/>
              <a:cs typeface="メイリオ"/>
            </a:endParaRPr>
          </a:p>
          <a:p>
            <a:pPr algn="ctr">
              <a:spcAft>
                <a:spcPts val="0"/>
              </a:spcAft>
            </a:pPr>
            <a:r>
              <a:rPr sz="900" b="1" dirty="0" err="1">
                <a:solidFill>
                  <a:srgbClr val="1F2A5C"/>
                </a:solidFill>
                <a:latin typeface="メイリオ" panose="020B0604030504040204" pitchFamily="50" charset="-128"/>
                <a:ea typeface="メイリオ" panose="020B0604030504040204" pitchFamily="50" charset="-128"/>
                <a:cs typeface="メイリオ"/>
              </a:rPr>
              <a:t>LINE友だち追加で特典</a:t>
            </a:r>
            <a:r>
              <a:rPr sz="900" b="1" dirty="0">
                <a:solidFill>
                  <a:srgbClr val="1F2A5C"/>
                </a:solidFill>
                <a:latin typeface="メイリオ" panose="020B0604030504040204" pitchFamily="50" charset="-128"/>
                <a:ea typeface="メイリオ" panose="020B0604030504040204" pitchFamily="50" charset="-128"/>
                <a:cs typeface="メイリオ"/>
              </a:rPr>
              <a:t>！</a:t>
            </a:r>
            <a:endParaRPr lang="en-US" sz="900" b="1" dirty="0">
              <a:solidFill>
                <a:srgbClr val="1F2A5C"/>
              </a:solidFill>
              <a:latin typeface="メイリオ" panose="020B0604030504040204" pitchFamily="50" charset="-128"/>
              <a:ea typeface="メイリオ" panose="020B0604030504040204" pitchFamily="50" charset="-128"/>
              <a:cs typeface="メイリオ"/>
            </a:endParaRPr>
          </a:p>
          <a:p>
            <a:pPr algn="ctr">
              <a:spcAft>
                <a:spcPts val="0"/>
              </a:spcAft>
            </a:pPr>
            <a:endParaRPr lang="en-US" sz="900" b="1" dirty="0">
              <a:solidFill>
                <a:srgbClr val="1F2A5C"/>
              </a:solidFill>
              <a:latin typeface="メイリオ" panose="020B0604030504040204" pitchFamily="50" charset="-128"/>
              <a:ea typeface="メイリオ" panose="020B0604030504040204" pitchFamily="50" charset="-128"/>
              <a:cs typeface="メイリオ"/>
            </a:endParaRPr>
          </a:p>
          <a:p>
            <a:pPr algn="ctr">
              <a:spcAft>
                <a:spcPts val="0"/>
              </a:spcAft>
            </a:pPr>
            <a:endParaRPr lang="en-US" sz="900" b="1" dirty="0">
              <a:solidFill>
                <a:srgbClr val="1F2A5C"/>
              </a:solidFill>
              <a:latin typeface="メイリオ" panose="020B0604030504040204" pitchFamily="50" charset="-128"/>
              <a:ea typeface="メイリオ" panose="020B0604030504040204" pitchFamily="50" charset="-128"/>
              <a:cs typeface="メイリオ"/>
            </a:endParaRPr>
          </a:p>
          <a:p>
            <a:pPr algn="ctr">
              <a:spcAft>
                <a:spcPts val="0"/>
              </a:spcAft>
            </a:pPr>
            <a:endParaRPr sz="900" b="1" dirty="0">
              <a:solidFill>
                <a:srgbClr val="1F2A5C"/>
              </a:solidFill>
              <a:latin typeface="メイリオ" panose="020B0604030504040204" pitchFamily="50" charset="-128"/>
              <a:ea typeface="メイリオ" panose="020B0604030504040204" pitchFamily="50" charset="-128"/>
              <a:cs typeface="メイリオ"/>
            </a:endParaRPr>
          </a:p>
        </p:txBody>
      </p:sp>
      <p:sp>
        <p:nvSpPr>
          <p:cNvPr id="29" name="Rounded Rectangle 26">
            <a:extLst>
              <a:ext uri="{FF2B5EF4-FFF2-40B4-BE49-F238E27FC236}">
                <a16:creationId xmlns:a16="http://schemas.microsoft.com/office/drawing/2014/main" id="{998E2A17-395F-CCDF-55C9-6834BD58C112}"/>
              </a:ext>
            </a:extLst>
          </p:cNvPr>
          <p:cNvSpPr/>
          <p:nvPr/>
        </p:nvSpPr>
        <p:spPr>
          <a:xfrm>
            <a:off x="1099455" y="3688154"/>
            <a:ext cx="1234440" cy="332509"/>
          </a:xfrm>
          <a:prstGeom prst="roundRect">
            <a:avLst/>
          </a:prstGeom>
          <a:solidFill>
            <a:srgbClr val="06C755"/>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000" b="1">
                <a:solidFill>
                  <a:srgbClr val="FFFFFF"/>
                </a:solidFill>
                <a:latin typeface="メイリオ" panose="020B0604030504040204" pitchFamily="50" charset="-128"/>
                <a:ea typeface="メイリオ" panose="020B0604030504040204" pitchFamily="50" charset="-128"/>
                <a:cs typeface="メイリオ"/>
              </a:rPr>
              <a:t>友だち追加</a:t>
            </a:r>
          </a:p>
        </p:txBody>
      </p:sp>
      <p:sp>
        <p:nvSpPr>
          <p:cNvPr id="30" name="Oval 27">
            <a:extLst>
              <a:ext uri="{FF2B5EF4-FFF2-40B4-BE49-F238E27FC236}">
                <a16:creationId xmlns:a16="http://schemas.microsoft.com/office/drawing/2014/main" id="{AD747F76-72D9-179D-BBA8-F6B4DCA2093D}"/>
              </a:ext>
            </a:extLst>
          </p:cNvPr>
          <p:cNvSpPr/>
          <p:nvPr/>
        </p:nvSpPr>
        <p:spPr>
          <a:xfrm>
            <a:off x="596535" y="2995984"/>
            <a:ext cx="292608" cy="266007"/>
          </a:xfrm>
          <a:prstGeom prst="ellipse">
            <a:avLst/>
          </a:prstGeom>
          <a:solidFill>
            <a:srgbClr val="C8102E"/>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wrap="square" lIns="0" tIns="18288" rIns="0" bIns="18288" rtlCol="0" anchor="ctr"/>
          <a:lstStyle/>
          <a:p>
            <a:pPr algn="ctr">
              <a:spcAft>
                <a:spcPts val="0"/>
              </a:spcAft>
            </a:pPr>
            <a:r>
              <a:rPr sz="1000" b="1">
                <a:solidFill>
                  <a:srgbClr val="FFFFFF"/>
                </a:solidFill>
                <a:latin typeface="メイリオ" panose="020B0604030504040204" pitchFamily="50" charset="-128"/>
                <a:ea typeface="メイリオ" panose="020B0604030504040204" pitchFamily="50" charset="-128"/>
                <a:cs typeface="メイリオ"/>
              </a:rPr>
              <a:t>1</a:t>
            </a:r>
          </a:p>
        </p:txBody>
      </p:sp>
      <p:sp>
        <p:nvSpPr>
          <p:cNvPr id="31" name="Rectangle 28">
            <a:extLst>
              <a:ext uri="{FF2B5EF4-FFF2-40B4-BE49-F238E27FC236}">
                <a16:creationId xmlns:a16="http://schemas.microsoft.com/office/drawing/2014/main" id="{1010E9AC-BCA0-BF47-C7F8-A152DF96AA04}"/>
              </a:ext>
            </a:extLst>
          </p:cNvPr>
          <p:cNvSpPr/>
          <p:nvPr/>
        </p:nvSpPr>
        <p:spPr>
          <a:xfrm>
            <a:off x="384048" y="4234536"/>
            <a:ext cx="2468880" cy="502920"/>
          </a:xfrm>
          <a:prstGeom prst="rect">
            <a:avLst/>
          </a:prstGeom>
          <a:solidFill>
            <a:srgbClr val="FDF0F2"/>
          </a:solidFill>
          <a:ln w="12700">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tIns="18288" bIns="18288" rtlCol="0" anchor="ctr"/>
          <a:lstStyle/>
          <a:p>
            <a:pPr algn="l">
              <a:spcAft>
                <a:spcPts val="0"/>
              </a:spcAft>
            </a:pPr>
            <a:r>
              <a:rPr sz="1000" b="1" dirty="0">
                <a:solidFill>
                  <a:srgbClr val="C8102E"/>
                </a:solidFill>
                <a:latin typeface="メイリオ" panose="020B0604030504040204" pitchFamily="50" charset="-128"/>
                <a:ea typeface="メイリオ" panose="020B0604030504040204" pitchFamily="50" charset="-128"/>
                <a:cs typeface="メイリオ"/>
              </a:rPr>
              <a:t>① </a:t>
            </a:r>
            <a:r>
              <a:rPr sz="1000" b="1" dirty="0" err="1">
                <a:solidFill>
                  <a:srgbClr val="C8102E"/>
                </a:solidFill>
                <a:latin typeface="メイリオ" panose="020B0604030504040204" pitchFamily="50" charset="-128"/>
                <a:ea typeface="メイリオ" panose="020B0604030504040204" pitchFamily="50" charset="-128"/>
                <a:cs typeface="メイリオ"/>
              </a:rPr>
              <a:t>サイトのポップアップ</a:t>
            </a:r>
            <a:endParaRPr sz="1000" b="1" dirty="0">
              <a:solidFill>
                <a:srgbClr val="C8102E"/>
              </a:solidFill>
              <a:latin typeface="メイリオ" panose="020B0604030504040204" pitchFamily="50" charset="-128"/>
              <a:ea typeface="メイリオ" panose="020B0604030504040204" pitchFamily="50" charset="-128"/>
              <a:cs typeface="メイリオ"/>
            </a:endParaRPr>
          </a:p>
          <a:p>
            <a:pPr algn="l">
              <a:spcAft>
                <a:spcPts val="0"/>
              </a:spcAft>
            </a:pPr>
            <a:r>
              <a:rPr sz="800" b="0" dirty="0" err="1">
                <a:solidFill>
                  <a:srgbClr val="333333"/>
                </a:solidFill>
                <a:latin typeface="メイリオ" panose="020B0604030504040204" pitchFamily="50" charset="-128"/>
                <a:ea typeface="メイリオ" panose="020B0604030504040204" pitchFamily="50" charset="-128"/>
                <a:cs typeface="メイリオ"/>
              </a:rPr>
              <a:t>サイトからLINEへ誘導（専用ツール</a:t>
            </a:r>
            <a:r>
              <a:rPr sz="800" b="0" dirty="0">
                <a:solidFill>
                  <a:srgbClr val="333333"/>
                </a:solidFill>
                <a:latin typeface="メイリオ" panose="020B0604030504040204" pitchFamily="50" charset="-128"/>
                <a:ea typeface="メイリオ" panose="020B0604030504040204" pitchFamily="50" charset="-128"/>
                <a:cs typeface="メイリオ"/>
              </a:rPr>
              <a:t>）</a:t>
            </a:r>
          </a:p>
        </p:txBody>
      </p:sp>
      <p:sp>
        <p:nvSpPr>
          <p:cNvPr id="32" name="Rectangle 29">
            <a:extLst>
              <a:ext uri="{FF2B5EF4-FFF2-40B4-BE49-F238E27FC236}">
                <a16:creationId xmlns:a16="http://schemas.microsoft.com/office/drawing/2014/main" id="{C9B761A3-7BC1-BEDC-5294-579F8513A3B8}"/>
              </a:ext>
            </a:extLst>
          </p:cNvPr>
          <p:cNvSpPr/>
          <p:nvPr/>
        </p:nvSpPr>
        <p:spPr>
          <a:xfrm>
            <a:off x="384048" y="4900742"/>
            <a:ext cx="2468880" cy="1463040"/>
          </a:xfrm>
          <a:prstGeom prst="rect">
            <a:avLst/>
          </a:prstGeom>
          <a:solidFill>
            <a:srgbClr val="FFFFFF"/>
          </a:solidFill>
          <a:ln w="15875">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33" name="Rectangle 30">
            <a:extLst>
              <a:ext uri="{FF2B5EF4-FFF2-40B4-BE49-F238E27FC236}">
                <a16:creationId xmlns:a16="http://schemas.microsoft.com/office/drawing/2014/main" id="{D5B2D1C3-B341-4022-F0D3-00797EE985D3}"/>
              </a:ext>
            </a:extLst>
          </p:cNvPr>
          <p:cNvSpPr/>
          <p:nvPr/>
        </p:nvSpPr>
        <p:spPr>
          <a:xfrm>
            <a:off x="384048" y="4900742"/>
            <a:ext cx="2468880" cy="292608"/>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wrap="square" tIns="18288" bIns="18288" rtlCol="0" anchor="ctr"/>
          <a:lstStyle/>
          <a:p>
            <a:pPr algn="l">
              <a:spcAft>
                <a:spcPts val="0"/>
              </a:spcAft>
            </a:pPr>
            <a:r>
              <a:rPr sz="1000" b="1">
                <a:solidFill>
                  <a:srgbClr val="FFFFFF"/>
                </a:solidFill>
                <a:latin typeface="メイリオ" panose="020B0604030504040204" pitchFamily="50" charset="-128"/>
                <a:ea typeface="メイリオ" panose="020B0604030504040204" pitchFamily="50" charset="-128"/>
                <a:cs typeface="メイリオ"/>
              </a:rPr>
              <a:t>④ タグ・セグメント</a:t>
            </a:r>
          </a:p>
        </p:txBody>
      </p:sp>
      <p:sp>
        <p:nvSpPr>
          <p:cNvPr id="34" name="Oval 31">
            <a:extLst>
              <a:ext uri="{FF2B5EF4-FFF2-40B4-BE49-F238E27FC236}">
                <a16:creationId xmlns:a16="http://schemas.microsoft.com/office/drawing/2014/main" id="{44AA6966-72C4-4DBF-CD4A-516799942AE3}"/>
              </a:ext>
            </a:extLst>
          </p:cNvPr>
          <p:cNvSpPr/>
          <p:nvPr/>
        </p:nvSpPr>
        <p:spPr>
          <a:xfrm>
            <a:off x="502920" y="5266502"/>
            <a:ext cx="256032" cy="256032"/>
          </a:xfrm>
          <a:prstGeom prst="ellipse">
            <a:avLst/>
          </a:prstGeom>
          <a:solidFill>
            <a:srgbClr val="B8C2DA"/>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35" name="Rectangle 32">
            <a:extLst>
              <a:ext uri="{FF2B5EF4-FFF2-40B4-BE49-F238E27FC236}">
                <a16:creationId xmlns:a16="http://schemas.microsoft.com/office/drawing/2014/main" id="{7E386317-C0CE-5DF8-898B-CDBB3753252D}"/>
              </a:ext>
            </a:extLst>
          </p:cNvPr>
          <p:cNvSpPr/>
          <p:nvPr/>
        </p:nvSpPr>
        <p:spPr>
          <a:xfrm>
            <a:off x="822960" y="5275646"/>
            <a:ext cx="640080" cy="23774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18288" tIns="18288" rIns="18288" bIns="18288" rtlCol="0" anchor="ctr"/>
          <a:lstStyle/>
          <a:p>
            <a:pPr algn="l">
              <a:spcAft>
                <a:spcPts val="0"/>
              </a:spcAft>
            </a:pPr>
            <a:r>
              <a:rPr sz="800" b="1">
                <a:solidFill>
                  <a:srgbClr val="1F2A5C"/>
                </a:solidFill>
                <a:latin typeface="メイリオ" panose="020B0604030504040204" pitchFamily="50" charset="-128"/>
                <a:ea typeface="メイリオ" panose="020B0604030504040204" pitchFamily="50" charset="-128"/>
                <a:cs typeface="メイリオ"/>
              </a:rPr>
              <a:t>Aさん</a:t>
            </a:r>
          </a:p>
        </p:txBody>
      </p:sp>
      <p:sp>
        <p:nvSpPr>
          <p:cNvPr id="36" name="Rounded Rectangle 33">
            <a:extLst>
              <a:ext uri="{FF2B5EF4-FFF2-40B4-BE49-F238E27FC236}">
                <a16:creationId xmlns:a16="http://schemas.microsoft.com/office/drawing/2014/main" id="{FDBC4478-2C7F-2573-7388-907010AB0607}"/>
              </a:ext>
            </a:extLst>
          </p:cNvPr>
          <p:cNvSpPr/>
          <p:nvPr/>
        </p:nvSpPr>
        <p:spPr>
          <a:xfrm>
            <a:off x="502920" y="5586542"/>
            <a:ext cx="1051560" cy="246888"/>
          </a:xfrm>
          <a:prstGeom prst="round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wrap="square" lIns="9144" tIns="18288" rIns="9144" bIns="18288" rtlCol="0" anchor="ctr"/>
          <a:lstStyle/>
          <a:p>
            <a:pPr algn="ctr">
              <a:spcAft>
                <a:spcPts val="0"/>
              </a:spcAft>
            </a:pPr>
            <a:r>
              <a:rPr sz="700" b="1">
                <a:solidFill>
                  <a:srgbClr val="FFFFFF"/>
                </a:solidFill>
                <a:latin typeface="メイリオ" panose="020B0604030504040204" pitchFamily="50" charset="-128"/>
                <a:ea typeface="メイリオ" panose="020B0604030504040204" pitchFamily="50" charset="-128"/>
                <a:cs typeface="メイリオ"/>
              </a:rPr>
              <a:t>運動に興味</a:t>
            </a:r>
          </a:p>
        </p:txBody>
      </p:sp>
      <p:sp>
        <p:nvSpPr>
          <p:cNvPr id="37" name="Rounded Rectangle 34">
            <a:extLst>
              <a:ext uri="{FF2B5EF4-FFF2-40B4-BE49-F238E27FC236}">
                <a16:creationId xmlns:a16="http://schemas.microsoft.com/office/drawing/2014/main" id="{8BC31972-FFC1-17C4-77C9-69243CB4E570}"/>
              </a:ext>
            </a:extLst>
          </p:cNvPr>
          <p:cNvSpPr/>
          <p:nvPr/>
        </p:nvSpPr>
        <p:spPr>
          <a:xfrm>
            <a:off x="1627632" y="5586542"/>
            <a:ext cx="1097280" cy="246888"/>
          </a:xfrm>
          <a:prstGeom prst="round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wrap="square" lIns="9144" tIns="18288" rIns="9144" bIns="18288" rtlCol="0" anchor="ctr"/>
          <a:lstStyle/>
          <a:p>
            <a:pPr algn="ctr">
              <a:spcAft>
                <a:spcPts val="0"/>
              </a:spcAft>
            </a:pPr>
            <a:r>
              <a:rPr sz="700" b="1">
                <a:solidFill>
                  <a:srgbClr val="FFFFFF"/>
                </a:solidFill>
                <a:latin typeface="メイリオ" panose="020B0604030504040204" pitchFamily="50" charset="-128"/>
                <a:ea typeface="メイリオ" panose="020B0604030504040204" pitchFamily="50" charset="-128"/>
                <a:cs typeface="メイリオ"/>
              </a:rPr>
              <a:t>乗車5回以上</a:t>
            </a:r>
          </a:p>
        </p:txBody>
      </p:sp>
      <p:sp>
        <p:nvSpPr>
          <p:cNvPr id="38" name="Rectangle 35">
            <a:extLst>
              <a:ext uri="{FF2B5EF4-FFF2-40B4-BE49-F238E27FC236}">
                <a16:creationId xmlns:a16="http://schemas.microsoft.com/office/drawing/2014/main" id="{EFFFAAD6-D553-33A2-0CDA-D0F89C23C45A}"/>
              </a:ext>
            </a:extLst>
          </p:cNvPr>
          <p:cNvSpPr/>
          <p:nvPr/>
        </p:nvSpPr>
        <p:spPr>
          <a:xfrm>
            <a:off x="475488" y="5879150"/>
            <a:ext cx="2286000" cy="4572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18288" tIns="18288" rIns="18288" bIns="18288" rtlCol="0" anchor="t"/>
          <a:lstStyle/>
          <a:p>
            <a:pPr algn="l">
              <a:spcAft>
                <a:spcPts val="0"/>
              </a:spcAft>
            </a:pPr>
            <a:r>
              <a:rPr sz="800" b="1" dirty="0" err="1">
                <a:solidFill>
                  <a:srgbClr val="1F2A5C"/>
                </a:solidFill>
                <a:latin typeface="メイリオ" panose="020B0604030504040204" pitchFamily="50" charset="-128"/>
                <a:ea typeface="メイリオ" panose="020B0604030504040204" pitchFamily="50" charset="-128"/>
                <a:cs typeface="メイリオ"/>
              </a:rPr>
              <a:t>タグで対象を絞る</a:t>
            </a:r>
            <a:endParaRPr lang="en-US" sz="800" b="1" dirty="0">
              <a:solidFill>
                <a:srgbClr val="1F2A5C"/>
              </a:solidFill>
              <a:latin typeface="メイリオ" panose="020B0604030504040204" pitchFamily="50" charset="-128"/>
              <a:ea typeface="メイリオ" panose="020B0604030504040204" pitchFamily="50" charset="-128"/>
              <a:cs typeface="メイリオ"/>
            </a:endParaRPr>
          </a:p>
          <a:p>
            <a:pPr algn="l">
              <a:spcAft>
                <a:spcPts val="0"/>
              </a:spcAft>
            </a:pPr>
            <a:r>
              <a:rPr sz="800" b="1" dirty="0">
                <a:solidFill>
                  <a:srgbClr val="1F2A5C"/>
                </a:solidFill>
                <a:latin typeface="メイリオ" panose="020B0604030504040204" pitchFamily="50" charset="-128"/>
                <a:ea typeface="メイリオ" panose="020B0604030504040204" pitchFamily="50" charset="-128"/>
                <a:cs typeface="メイリオ"/>
              </a:rPr>
              <a:t>→「</a:t>
            </a:r>
            <a:r>
              <a:rPr sz="800" b="1" dirty="0" err="1">
                <a:solidFill>
                  <a:srgbClr val="1F2A5C"/>
                </a:solidFill>
                <a:latin typeface="メイリオ" panose="020B0604030504040204" pitchFamily="50" charset="-128"/>
                <a:ea typeface="メイリオ" panose="020B0604030504040204" pitchFamily="50" charset="-128"/>
                <a:cs typeface="メイリオ"/>
              </a:rPr>
              <a:t>運動に興味」の人だけに配信</a:t>
            </a:r>
            <a:endParaRPr sz="800" b="1" dirty="0">
              <a:solidFill>
                <a:srgbClr val="1F2A5C"/>
              </a:solidFill>
              <a:latin typeface="メイリオ" panose="020B0604030504040204" pitchFamily="50" charset="-128"/>
              <a:ea typeface="メイリオ" panose="020B0604030504040204" pitchFamily="50" charset="-128"/>
              <a:cs typeface="メイリオ"/>
            </a:endParaRPr>
          </a:p>
          <a:p>
            <a:pPr algn="l">
              <a:spcAft>
                <a:spcPts val="0"/>
              </a:spcAft>
            </a:pPr>
            <a:r>
              <a:rPr sz="700" b="0" dirty="0" err="1">
                <a:solidFill>
                  <a:srgbClr val="777777"/>
                </a:solidFill>
                <a:latin typeface="メイリオ" panose="020B0604030504040204" pitchFamily="50" charset="-128"/>
                <a:ea typeface="メイリオ" panose="020B0604030504040204" pitchFamily="50" charset="-128"/>
                <a:cs typeface="メイリオ"/>
              </a:rPr>
              <a:t>標準＋APIツール</a:t>
            </a:r>
            <a:endParaRPr sz="700" b="0" dirty="0">
              <a:solidFill>
                <a:srgbClr val="777777"/>
              </a:solidFill>
              <a:latin typeface="メイリオ" panose="020B0604030504040204" pitchFamily="50" charset="-128"/>
              <a:ea typeface="メイリオ" panose="020B0604030504040204" pitchFamily="50" charset="-128"/>
              <a:cs typeface="メイリオ"/>
            </a:endParaRPr>
          </a:p>
        </p:txBody>
      </p:sp>
      <p:sp>
        <p:nvSpPr>
          <p:cNvPr id="39" name="Rounded Rectangle 36">
            <a:extLst>
              <a:ext uri="{FF2B5EF4-FFF2-40B4-BE49-F238E27FC236}">
                <a16:creationId xmlns:a16="http://schemas.microsoft.com/office/drawing/2014/main" id="{EB89F4C5-3674-C37F-0213-9BCB6D7C0FCB}"/>
              </a:ext>
            </a:extLst>
          </p:cNvPr>
          <p:cNvSpPr/>
          <p:nvPr/>
        </p:nvSpPr>
        <p:spPr>
          <a:xfrm>
            <a:off x="3200400" y="2663021"/>
            <a:ext cx="2514600" cy="3865418"/>
          </a:xfrm>
          <a:prstGeom prst="roundRect">
            <a:avLst/>
          </a:prstGeom>
          <a:solidFill>
            <a:srgbClr val="FFFFFF"/>
          </a:solidFill>
          <a:ln w="38100">
            <a:solidFill>
              <a:srgbClr val="333333"/>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40" name="Rectangle 38">
            <a:extLst>
              <a:ext uri="{FF2B5EF4-FFF2-40B4-BE49-F238E27FC236}">
                <a16:creationId xmlns:a16="http://schemas.microsoft.com/office/drawing/2014/main" id="{B3A9B786-A08F-9876-275C-37DD07EED86E}"/>
              </a:ext>
            </a:extLst>
          </p:cNvPr>
          <p:cNvSpPr/>
          <p:nvPr/>
        </p:nvSpPr>
        <p:spPr>
          <a:xfrm>
            <a:off x="3255264" y="2853798"/>
            <a:ext cx="2404872" cy="3310128"/>
          </a:xfrm>
          <a:prstGeom prst="rect">
            <a:avLst/>
          </a:prstGeom>
          <a:solidFill>
            <a:srgbClr val="A8BDDB"/>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41" name="Rounded Rectangle 40">
            <a:extLst>
              <a:ext uri="{FF2B5EF4-FFF2-40B4-BE49-F238E27FC236}">
                <a16:creationId xmlns:a16="http://schemas.microsoft.com/office/drawing/2014/main" id="{24EFF532-6FA6-26BB-0FC6-B24E4302C463}"/>
              </a:ext>
            </a:extLst>
          </p:cNvPr>
          <p:cNvSpPr/>
          <p:nvPr/>
        </p:nvSpPr>
        <p:spPr>
          <a:xfrm>
            <a:off x="3611880" y="2768505"/>
            <a:ext cx="1783080" cy="316021"/>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800" b="0" dirty="0" err="1">
                <a:solidFill>
                  <a:srgbClr val="333333"/>
                </a:solidFill>
                <a:latin typeface="メイリオ" panose="020B0604030504040204" pitchFamily="50" charset="-128"/>
                <a:ea typeface="メイリオ" panose="020B0604030504040204" pitchFamily="50" charset="-128"/>
                <a:cs typeface="メイリオ"/>
              </a:rPr>
              <a:t>友だち追加ありがとう！特典</a:t>
            </a:r>
            <a:r>
              <a:rPr lang="ja-JP" altLang="en-US" sz="800" b="0" dirty="0">
                <a:solidFill>
                  <a:srgbClr val="333333"/>
                </a:solidFill>
                <a:latin typeface="メイリオ" panose="020B0604030504040204" pitchFamily="50" charset="-128"/>
                <a:ea typeface="メイリオ" panose="020B0604030504040204" pitchFamily="50" charset="-128"/>
                <a:cs typeface="メイリオ"/>
              </a:rPr>
              <a:t>は</a:t>
            </a:r>
            <a:r>
              <a:rPr lang="en-US" altLang="ja-JP" sz="800" b="0" dirty="0">
                <a:solidFill>
                  <a:srgbClr val="333333"/>
                </a:solidFill>
                <a:latin typeface="メイリオ" panose="020B0604030504040204" pitchFamily="50" charset="-128"/>
                <a:ea typeface="メイリオ" panose="020B0604030504040204" pitchFamily="50" charset="-128"/>
                <a:cs typeface="メイリオ"/>
              </a:rPr>
              <a:t>…</a:t>
            </a:r>
            <a:endParaRPr sz="800" b="0" dirty="0">
              <a:solidFill>
                <a:srgbClr val="333333"/>
              </a:solidFill>
              <a:latin typeface="メイリオ" panose="020B0604030504040204" pitchFamily="50" charset="-128"/>
              <a:ea typeface="メイリオ" panose="020B0604030504040204" pitchFamily="50" charset="-128"/>
              <a:cs typeface="メイリオ"/>
            </a:endParaRPr>
          </a:p>
        </p:txBody>
      </p:sp>
      <p:sp>
        <p:nvSpPr>
          <p:cNvPr id="42" name="Oval 41">
            <a:extLst>
              <a:ext uri="{FF2B5EF4-FFF2-40B4-BE49-F238E27FC236}">
                <a16:creationId xmlns:a16="http://schemas.microsoft.com/office/drawing/2014/main" id="{D7BDF01D-C3F2-A3DE-0264-B338980A05DB}"/>
              </a:ext>
            </a:extLst>
          </p:cNvPr>
          <p:cNvSpPr/>
          <p:nvPr/>
        </p:nvSpPr>
        <p:spPr>
          <a:xfrm>
            <a:off x="3310128" y="3274422"/>
            <a:ext cx="237744" cy="237744"/>
          </a:xfrm>
          <a:prstGeom prst="ellipse">
            <a:avLst/>
          </a:prstGeom>
          <a:solidFill>
            <a:srgbClr val="FFFFFF"/>
          </a:solidFill>
          <a:ln w="19050">
            <a:solidFill>
              <a:srgbClr val="06C755"/>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43" name="Rounded Rectangle 42">
            <a:extLst>
              <a:ext uri="{FF2B5EF4-FFF2-40B4-BE49-F238E27FC236}">
                <a16:creationId xmlns:a16="http://schemas.microsoft.com/office/drawing/2014/main" id="{4600E2F1-69A4-314B-7CDE-2291AF5A0480}"/>
              </a:ext>
            </a:extLst>
          </p:cNvPr>
          <p:cNvSpPr/>
          <p:nvPr/>
        </p:nvSpPr>
        <p:spPr>
          <a:xfrm>
            <a:off x="3611880" y="3321789"/>
            <a:ext cx="1371600" cy="233581"/>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800" b="0">
                <a:solidFill>
                  <a:srgbClr val="333333"/>
                </a:solidFill>
                <a:latin typeface="メイリオ" panose="020B0604030504040204" pitchFamily="50" charset="-128"/>
                <a:ea typeface="メイリオ" panose="020B0604030504040204" pitchFamily="50" charset="-128"/>
                <a:cs typeface="メイリオ"/>
              </a:rPr>
              <a:t>お子様の興味は？</a:t>
            </a:r>
          </a:p>
        </p:txBody>
      </p:sp>
      <p:sp>
        <p:nvSpPr>
          <p:cNvPr id="44" name="Rounded Rectangle 43">
            <a:extLst>
              <a:ext uri="{FF2B5EF4-FFF2-40B4-BE49-F238E27FC236}">
                <a16:creationId xmlns:a16="http://schemas.microsoft.com/office/drawing/2014/main" id="{8F18330F-E519-5A48-F5E6-F01F2E7FAE51}"/>
              </a:ext>
            </a:extLst>
          </p:cNvPr>
          <p:cNvSpPr/>
          <p:nvPr/>
        </p:nvSpPr>
        <p:spPr>
          <a:xfrm>
            <a:off x="3611880" y="3640182"/>
            <a:ext cx="475488" cy="237744"/>
          </a:xfrm>
          <a:prstGeom prst="roundRect">
            <a:avLst/>
          </a:prstGeom>
          <a:solidFill>
            <a:srgbClr val="FFFFFF"/>
          </a:solidFill>
          <a:ln w="12700">
            <a:solidFill>
              <a:srgbClr val="06C755"/>
            </a:solidFill>
          </a:ln>
          <a:effectLst/>
        </p:spPr>
        <p:style>
          <a:lnRef idx="1">
            <a:schemeClr val="accent1"/>
          </a:lnRef>
          <a:fillRef idx="3">
            <a:schemeClr val="accent1"/>
          </a:fillRef>
          <a:effectRef idx="2">
            <a:schemeClr val="accent1"/>
          </a:effectRef>
          <a:fontRef idx="minor">
            <a:schemeClr val="lt1"/>
          </a:fontRef>
        </p:style>
        <p:txBody>
          <a:bodyPr wrap="square" lIns="0" tIns="18288" rIns="0" bIns="18288" rtlCol="0" anchor="ctr"/>
          <a:lstStyle/>
          <a:p>
            <a:pPr algn="ctr">
              <a:spcAft>
                <a:spcPts val="0"/>
              </a:spcAft>
            </a:pPr>
            <a:r>
              <a:rPr sz="700" b="1">
                <a:solidFill>
                  <a:srgbClr val="06C755"/>
                </a:solidFill>
                <a:latin typeface="メイリオ" panose="020B0604030504040204" pitchFamily="50" charset="-128"/>
                <a:ea typeface="メイリオ" panose="020B0604030504040204" pitchFamily="50" charset="-128"/>
                <a:cs typeface="メイリオ"/>
              </a:rPr>
              <a:t>英語</a:t>
            </a:r>
          </a:p>
        </p:txBody>
      </p:sp>
      <p:sp>
        <p:nvSpPr>
          <p:cNvPr id="45" name="Rounded Rectangle 44">
            <a:extLst>
              <a:ext uri="{FF2B5EF4-FFF2-40B4-BE49-F238E27FC236}">
                <a16:creationId xmlns:a16="http://schemas.microsoft.com/office/drawing/2014/main" id="{EA318321-B2AF-46BA-7FE3-7773EC6AACFE}"/>
              </a:ext>
            </a:extLst>
          </p:cNvPr>
          <p:cNvSpPr/>
          <p:nvPr/>
        </p:nvSpPr>
        <p:spPr>
          <a:xfrm>
            <a:off x="4123944" y="3640182"/>
            <a:ext cx="475488" cy="237744"/>
          </a:xfrm>
          <a:prstGeom prst="roundRect">
            <a:avLst/>
          </a:prstGeom>
          <a:solidFill>
            <a:srgbClr val="06C755"/>
          </a:solidFill>
          <a:ln w="12700">
            <a:solidFill>
              <a:srgbClr val="06C755"/>
            </a:solidFill>
          </a:ln>
          <a:effectLst/>
        </p:spPr>
        <p:style>
          <a:lnRef idx="1">
            <a:schemeClr val="accent1"/>
          </a:lnRef>
          <a:fillRef idx="3">
            <a:schemeClr val="accent1"/>
          </a:fillRef>
          <a:effectRef idx="2">
            <a:schemeClr val="accent1"/>
          </a:effectRef>
          <a:fontRef idx="minor">
            <a:schemeClr val="lt1"/>
          </a:fontRef>
        </p:style>
        <p:txBody>
          <a:bodyPr wrap="square" lIns="0" tIns="18288" rIns="0" bIns="18288" rtlCol="0" anchor="ctr"/>
          <a:lstStyle/>
          <a:p>
            <a:pPr algn="ctr">
              <a:spcAft>
                <a:spcPts val="0"/>
              </a:spcAft>
            </a:pPr>
            <a:r>
              <a:rPr sz="700" b="1">
                <a:solidFill>
                  <a:srgbClr val="FFFFFF"/>
                </a:solidFill>
                <a:latin typeface="メイリオ" panose="020B0604030504040204" pitchFamily="50" charset="-128"/>
                <a:ea typeface="メイリオ" panose="020B0604030504040204" pitchFamily="50" charset="-128"/>
                <a:cs typeface="メイリオ"/>
              </a:rPr>
              <a:t>運動</a:t>
            </a:r>
          </a:p>
        </p:txBody>
      </p:sp>
      <p:sp>
        <p:nvSpPr>
          <p:cNvPr id="46" name="Rounded Rectangle 45">
            <a:extLst>
              <a:ext uri="{FF2B5EF4-FFF2-40B4-BE49-F238E27FC236}">
                <a16:creationId xmlns:a16="http://schemas.microsoft.com/office/drawing/2014/main" id="{671CB2FB-6AD7-FF9C-FB8A-30A83CB7BDBC}"/>
              </a:ext>
            </a:extLst>
          </p:cNvPr>
          <p:cNvSpPr/>
          <p:nvPr/>
        </p:nvSpPr>
        <p:spPr>
          <a:xfrm>
            <a:off x="4636008" y="3640182"/>
            <a:ext cx="475488" cy="237744"/>
          </a:xfrm>
          <a:prstGeom prst="roundRect">
            <a:avLst/>
          </a:prstGeom>
          <a:solidFill>
            <a:srgbClr val="FFFFFF"/>
          </a:solidFill>
          <a:ln w="12700">
            <a:solidFill>
              <a:srgbClr val="06C755"/>
            </a:solidFill>
          </a:ln>
          <a:effectLst/>
        </p:spPr>
        <p:style>
          <a:lnRef idx="1">
            <a:schemeClr val="accent1"/>
          </a:lnRef>
          <a:fillRef idx="3">
            <a:schemeClr val="accent1"/>
          </a:fillRef>
          <a:effectRef idx="2">
            <a:schemeClr val="accent1"/>
          </a:effectRef>
          <a:fontRef idx="minor">
            <a:schemeClr val="lt1"/>
          </a:fontRef>
        </p:style>
        <p:txBody>
          <a:bodyPr wrap="square" lIns="0" tIns="18288" rIns="0" bIns="18288" rtlCol="0" anchor="ctr"/>
          <a:lstStyle/>
          <a:p>
            <a:pPr algn="ctr">
              <a:spcAft>
                <a:spcPts val="0"/>
              </a:spcAft>
            </a:pPr>
            <a:r>
              <a:rPr sz="700" b="1">
                <a:solidFill>
                  <a:srgbClr val="06C755"/>
                </a:solidFill>
                <a:latin typeface="メイリオ" panose="020B0604030504040204" pitchFamily="50" charset="-128"/>
                <a:ea typeface="メイリオ" panose="020B0604030504040204" pitchFamily="50" charset="-128"/>
                <a:cs typeface="メイリオ"/>
              </a:rPr>
              <a:t>知育</a:t>
            </a:r>
          </a:p>
        </p:txBody>
      </p:sp>
      <p:sp>
        <p:nvSpPr>
          <p:cNvPr id="47" name="Rounded Rectangle 46">
            <a:extLst>
              <a:ext uri="{FF2B5EF4-FFF2-40B4-BE49-F238E27FC236}">
                <a16:creationId xmlns:a16="http://schemas.microsoft.com/office/drawing/2014/main" id="{7F504588-536C-8EE6-8E6F-816EF8C24633}"/>
              </a:ext>
            </a:extLst>
          </p:cNvPr>
          <p:cNvSpPr/>
          <p:nvPr/>
        </p:nvSpPr>
        <p:spPr>
          <a:xfrm>
            <a:off x="5166360" y="3640182"/>
            <a:ext cx="457200" cy="237744"/>
          </a:xfrm>
          <a:prstGeom prst="round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wrap="square" lIns="0" tIns="18288" rIns="0" bIns="18288" rtlCol="0" anchor="ctr"/>
          <a:lstStyle/>
          <a:p>
            <a:pPr algn="ctr">
              <a:spcAft>
                <a:spcPts val="0"/>
              </a:spcAft>
            </a:pPr>
            <a:r>
              <a:rPr sz="700" b="1" dirty="0">
                <a:solidFill>
                  <a:srgbClr val="FFFFFF"/>
                </a:solidFill>
                <a:latin typeface="メイリオ" panose="020B0604030504040204" pitchFamily="50" charset="-128"/>
                <a:ea typeface="メイリオ" panose="020B0604030504040204" pitchFamily="50" charset="-128"/>
                <a:cs typeface="メイリオ"/>
              </a:rPr>
              <a:t>＋</a:t>
            </a:r>
            <a:r>
              <a:rPr sz="700" b="1" dirty="0" err="1">
                <a:solidFill>
                  <a:srgbClr val="FFFFFF"/>
                </a:solidFill>
                <a:latin typeface="メイリオ" panose="020B0604030504040204" pitchFamily="50" charset="-128"/>
                <a:ea typeface="メイリオ" panose="020B0604030504040204" pitchFamily="50" charset="-128"/>
                <a:cs typeface="メイリオ"/>
              </a:rPr>
              <a:t>タグ</a:t>
            </a:r>
            <a:endParaRPr sz="700" b="1" dirty="0">
              <a:solidFill>
                <a:srgbClr val="FFFFFF"/>
              </a:solidFill>
              <a:latin typeface="メイリオ" panose="020B0604030504040204" pitchFamily="50" charset="-128"/>
              <a:ea typeface="メイリオ" panose="020B0604030504040204" pitchFamily="50" charset="-128"/>
              <a:cs typeface="メイリオ"/>
            </a:endParaRPr>
          </a:p>
        </p:txBody>
      </p:sp>
      <p:sp>
        <p:nvSpPr>
          <p:cNvPr id="48" name="Oval 47">
            <a:extLst>
              <a:ext uri="{FF2B5EF4-FFF2-40B4-BE49-F238E27FC236}">
                <a16:creationId xmlns:a16="http://schemas.microsoft.com/office/drawing/2014/main" id="{39641FC3-997E-E41B-0786-B2A8B72615F1}"/>
              </a:ext>
            </a:extLst>
          </p:cNvPr>
          <p:cNvSpPr/>
          <p:nvPr/>
        </p:nvSpPr>
        <p:spPr>
          <a:xfrm>
            <a:off x="3310128" y="4024230"/>
            <a:ext cx="237744" cy="237744"/>
          </a:xfrm>
          <a:prstGeom prst="ellipse">
            <a:avLst/>
          </a:prstGeom>
          <a:solidFill>
            <a:srgbClr val="FFFFFF"/>
          </a:solidFill>
          <a:ln w="19050">
            <a:solidFill>
              <a:srgbClr val="06C755"/>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49" name="Rounded Rectangle 48">
            <a:extLst>
              <a:ext uri="{FF2B5EF4-FFF2-40B4-BE49-F238E27FC236}">
                <a16:creationId xmlns:a16="http://schemas.microsoft.com/office/drawing/2014/main" id="{D1AA4CAE-145A-9C37-0213-1B07344EFDA8}"/>
              </a:ext>
            </a:extLst>
          </p:cNvPr>
          <p:cNvSpPr/>
          <p:nvPr/>
        </p:nvSpPr>
        <p:spPr>
          <a:xfrm>
            <a:off x="3611880" y="4018959"/>
            <a:ext cx="1783080" cy="302281"/>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800" b="0">
                <a:solidFill>
                  <a:srgbClr val="333333"/>
                </a:solidFill>
                <a:latin typeface="メイリオ" panose="020B0604030504040204" pitchFamily="50" charset="-128"/>
                <a:ea typeface="メイリオ" panose="020B0604030504040204" pitchFamily="50" charset="-128"/>
                <a:cs typeface="メイリオ"/>
              </a:rPr>
              <a:t>【Day3】運動指導のご紹介</a:t>
            </a:r>
          </a:p>
        </p:txBody>
      </p:sp>
      <p:sp>
        <p:nvSpPr>
          <p:cNvPr id="50" name="Oval 49">
            <a:extLst>
              <a:ext uri="{FF2B5EF4-FFF2-40B4-BE49-F238E27FC236}">
                <a16:creationId xmlns:a16="http://schemas.microsoft.com/office/drawing/2014/main" id="{D7FC1F60-741B-1216-E3C2-B9A9825969FD}"/>
              </a:ext>
            </a:extLst>
          </p:cNvPr>
          <p:cNvSpPr/>
          <p:nvPr/>
        </p:nvSpPr>
        <p:spPr>
          <a:xfrm>
            <a:off x="3310128" y="4600302"/>
            <a:ext cx="237744" cy="237744"/>
          </a:xfrm>
          <a:prstGeom prst="ellipse">
            <a:avLst/>
          </a:prstGeom>
          <a:solidFill>
            <a:srgbClr val="FFFFFF"/>
          </a:solidFill>
          <a:ln w="19050">
            <a:solidFill>
              <a:srgbClr val="06C755"/>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51" name="Rounded Rectangle 50">
            <a:extLst>
              <a:ext uri="{FF2B5EF4-FFF2-40B4-BE49-F238E27FC236}">
                <a16:creationId xmlns:a16="http://schemas.microsoft.com/office/drawing/2014/main" id="{4B728E47-8A05-CAAD-5316-3E29B59A0677}"/>
              </a:ext>
            </a:extLst>
          </p:cNvPr>
          <p:cNvSpPr/>
          <p:nvPr/>
        </p:nvSpPr>
        <p:spPr>
          <a:xfrm>
            <a:off x="3611880" y="4595031"/>
            <a:ext cx="1783080" cy="302281"/>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800" b="0">
                <a:solidFill>
                  <a:srgbClr val="333333"/>
                </a:solidFill>
                <a:latin typeface="メイリオ" panose="020B0604030504040204" pitchFamily="50" charset="-128"/>
                <a:ea typeface="メイリオ" panose="020B0604030504040204" pitchFamily="50" charset="-128"/>
                <a:cs typeface="メイリオ"/>
              </a:rPr>
              <a:t>【今月】夏のイベント開催</a:t>
            </a:r>
          </a:p>
        </p:txBody>
      </p:sp>
      <p:sp>
        <p:nvSpPr>
          <p:cNvPr id="52" name="Rounded Rectangle 51">
            <a:extLst>
              <a:ext uri="{FF2B5EF4-FFF2-40B4-BE49-F238E27FC236}">
                <a16:creationId xmlns:a16="http://schemas.microsoft.com/office/drawing/2014/main" id="{EDE632CC-3F09-E201-A757-0B2AF49C1E03}"/>
              </a:ext>
            </a:extLst>
          </p:cNvPr>
          <p:cNvSpPr/>
          <p:nvPr/>
        </p:nvSpPr>
        <p:spPr>
          <a:xfrm>
            <a:off x="4434840" y="5084934"/>
            <a:ext cx="1097280" cy="237744"/>
          </a:xfrm>
          <a:prstGeom prst="roundRect">
            <a:avLst/>
          </a:prstGeom>
          <a:solidFill>
            <a:srgbClr val="B7E36B"/>
          </a:solidFill>
          <a:ln>
            <a:noFill/>
          </a:ln>
          <a:effectLst/>
        </p:spPr>
        <p:style>
          <a:lnRef idx="1">
            <a:schemeClr val="accent1"/>
          </a:lnRef>
          <a:fillRef idx="3">
            <a:schemeClr val="accent1"/>
          </a:fillRef>
          <a:effectRef idx="2">
            <a:schemeClr val="accent1"/>
          </a:effectRef>
          <a:fontRef idx="minor">
            <a:schemeClr val="lt1"/>
          </a:fontRef>
        </p:style>
        <p:txBody>
          <a:bodyPr wrap="square" lIns="18288" tIns="18288" rIns="18288" bIns="18288" rtlCol="0" anchor="ctr"/>
          <a:lstStyle/>
          <a:p>
            <a:pPr algn="ctr">
              <a:spcAft>
                <a:spcPts val="0"/>
              </a:spcAft>
            </a:pPr>
            <a:r>
              <a:rPr sz="700" b="0">
                <a:solidFill>
                  <a:srgbClr val="333333"/>
                </a:solidFill>
                <a:latin typeface="メイリオ" panose="020B0604030504040204" pitchFamily="50" charset="-128"/>
                <a:ea typeface="メイリオ" panose="020B0604030504040204" pitchFamily="50" charset="-128"/>
                <a:cs typeface="メイリオ"/>
              </a:rPr>
              <a:t>料金を教えて</a:t>
            </a:r>
          </a:p>
        </p:txBody>
      </p:sp>
      <p:sp>
        <p:nvSpPr>
          <p:cNvPr id="53" name="Oval 52">
            <a:extLst>
              <a:ext uri="{FF2B5EF4-FFF2-40B4-BE49-F238E27FC236}">
                <a16:creationId xmlns:a16="http://schemas.microsoft.com/office/drawing/2014/main" id="{33F79F6F-0ADE-256D-5DA4-A82E51FAF5E9}"/>
              </a:ext>
            </a:extLst>
          </p:cNvPr>
          <p:cNvSpPr/>
          <p:nvPr/>
        </p:nvSpPr>
        <p:spPr>
          <a:xfrm>
            <a:off x="3310128" y="5377542"/>
            <a:ext cx="237744" cy="237744"/>
          </a:xfrm>
          <a:prstGeom prst="ellipse">
            <a:avLst/>
          </a:prstGeom>
          <a:solidFill>
            <a:srgbClr val="FFFFFF"/>
          </a:solidFill>
          <a:ln w="19050">
            <a:solidFill>
              <a:srgbClr val="06C755"/>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54" name="Rounded Rectangle 53">
            <a:extLst>
              <a:ext uri="{FF2B5EF4-FFF2-40B4-BE49-F238E27FC236}">
                <a16:creationId xmlns:a16="http://schemas.microsoft.com/office/drawing/2014/main" id="{442A5F6A-8638-8BB7-0CCD-0A2E2B0A2BCC}"/>
              </a:ext>
            </a:extLst>
          </p:cNvPr>
          <p:cNvSpPr/>
          <p:nvPr/>
        </p:nvSpPr>
        <p:spPr>
          <a:xfrm>
            <a:off x="3611880" y="5395155"/>
            <a:ext cx="1463040" cy="274801"/>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800" b="0">
                <a:solidFill>
                  <a:srgbClr val="333333"/>
                </a:solidFill>
                <a:latin typeface="メイリオ" panose="020B0604030504040204" pitchFamily="50" charset="-128"/>
                <a:ea typeface="メイリオ" panose="020B0604030504040204" pitchFamily="50" charset="-128"/>
                <a:cs typeface="メイリオ"/>
              </a:rPr>
              <a:t>料金はこちらです→</a:t>
            </a:r>
          </a:p>
        </p:txBody>
      </p:sp>
      <p:sp>
        <p:nvSpPr>
          <p:cNvPr id="55" name="Rectangle 54">
            <a:extLst>
              <a:ext uri="{FF2B5EF4-FFF2-40B4-BE49-F238E27FC236}">
                <a16:creationId xmlns:a16="http://schemas.microsoft.com/office/drawing/2014/main" id="{3692DFC3-6CB4-FCCE-9844-CF7F277EAFA4}"/>
              </a:ext>
            </a:extLst>
          </p:cNvPr>
          <p:cNvSpPr/>
          <p:nvPr/>
        </p:nvSpPr>
        <p:spPr>
          <a:xfrm>
            <a:off x="3255264" y="6042006"/>
            <a:ext cx="2404872" cy="457200"/>
          </a:xfrm>
          <a:prstGeom prst="rect">
            <a:avLst/>
          </a:prstGeom>
          <a:solidFill>
            <a:srgbClr val="FFFFFF"/>
          </a:solidFill>
          <a:ln w="12700">
            <a:solidFill>
              <a:srgbClr val="BBBBBB"/>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56" name="Rectangle 55">
            <a:extLst>
              <a:ext uri="{FF2B5EF4-FFF2-40B4-BE49-F238E27FC236}">
                <a16:creationId xmlns:a16="http://schemas.microsoft.com/office/drawing/2014/main" id="{F986ADF8-29C3-6A68-1DFA-FFA26561F2B3}"/>
              </a:ext>
            </a:extLst>
          </p:cNvPr>
          <p:cNvSpPr/>
          <p:nvPr/>
        </p:nvSpPr>
        <p:spPr>
          <a:xfrm>
            <a:off x="3273552" y="6060294"/>
            <a:ext cx="585216" cy="420624"/>
          </a:xfrm>
          <a:prstGeom prst="rect">
            <a:avLst/>
          </a:prstGeom>
          <a:solidFill>
            <a:srgbClr val="F3F5FA"/>
          </a:solidFill>
          <a:ln w="12700">
            <a:solidFill>
              <a:srgbClr val="DDDDDD"/>
            </a:solidFill>
          </a:ln>
          <a:effectLst/>
        </p:spPr>
        <p:style>
          <a:lnRef idx="1">
            <a:schemeClr val="accent1"/>
          </a:lnRef>
          <a:fillRef idx="3">
            <a:schemeClr val="accent1"/>
          </a:fillRef>
          <a:effectRef idx="2">
            <a:schemeClr val="accent1"/>
          </a:effectRef>
          <a:fontRef idx="minor">
            <a:schemeClr val="lt1"/>
          </a:fontRef>
        </p:style>
        <p:txBody>
          <a:bodyPr wrap="square" lIns="9144" tIns="18288" rIns="9144" bIns="18288" rtlCol="0" anchor="ctr"/>
          <a:lstStyle/>
          <a:p>
            <a:pPr algn="ctr">
              <a:spcAft>
                <a:spcPts val="0"/>
              </a:spcAft>
            </a:pPr>
            <a:r>
              <a:rPr sz="800" b="1">
                <a:solidFill>
                  <a:srgbClr val="1F2A5C"/>
                </a:solidFill>
                <a:latin typeface="メイリオ" panose="020B0604030504040204" pitchFamily="50" charset="-128"/>
                <a:ea typeface="メイリオ" panose="020B0604030504040204" pitchFamily="50" charset="-128"/>
                <a:cs typeface="メイリオ"/>
              </a:rPr>
              <a:t>予約</a:t>
            </a:r>
          </a:p>
        </p:txBody>
      </p:sp>
      <p:sp>
        <p:nvSpPr>
          <p:cNvPr id="57" name="Rectangle 56">
            <a:extLst>
              <a:ext uri="{FF2B5EF4-FFF2-40B4-BE49-F238E27FC236}">
                <a16:creationId xmlns:a16="http://schemas.microsoft.com/office/drawing/2014/main" id="{3AB1081A-487F-780B-49C7-1270ED530C1F}"/>
              </a:ext>
            </a:extLst>
          </p:cNvPr>
          <p:cNvSpPr/>
          <p:nvPr/>
        </p:nvSpPr>
        <p:spPr>
          <a:xfrm>
            <a:off x="3867912" y="6060294"/>
            <a:ext cx="585216" cy="420624"/>
          </a:xfrm>
          <a:prstGeom prst="rect">
            <a:avLst/>
          </a:prstGeom>
          <a:solidFill>
            <a:srgbClr val="F3F5FA"/>
          </a:solidFill>
          <a:ln w="12700">
            <a:solidFill>
              <a:srgbClr val="DDDDDD"/>
            </a:solidFill>
          </a:ln>
          <a:effectLst/>
        </p:spPr>
        <p:style>
          <a:lnRef idx="1">
            <a:schemeClr val="accent1"/>
          </a:lnRef>
          <a:fillRef idx="3">
            <a:schemeClr val="accent1"/>
          </a:fillRef>
          <a:effectRef idx="2">
            <a:schemeClr val="accent1"/>
          </a:effectRef>
          <a:fontRef idx="minor">
            <a:schemeClr val="lt1"/>
          </a:fontRef>
        </p:style>
        <p:txBody>
          <a:bodyPr wrap="square" lIns="9144" tIns="18288" rIns="9144" bIns="18288" rtlCol="0" anchor="ctr"/>
          <a:lstStyle/>
          <a:p>
            <a:pPr algn="ctr">
              <a:spcAft>
                <a:spcPts val="0"/>
              </a:spcAft>
            </a:pPr>
            <a:r>
              <a:rPr sz="800" b="1">
                <a:solidFill>
                  <a:srgbClr val="1F2A5C"/>
                </a:solidFill>
                <a:latin typeface="メイリオ" panose="020B0604030504040204" pitchFamily="50" charset="-128"/>
                <a:ea typeface="メイリオ" panose="020B0604030504040204" pitchFamily="50" charset="-128"/>
                <a:cs typeface="メイリオ"/>
              </a:rPr>
              <a:t>質問</a:t>
            </a:r>
          </a:p>
        </p:txBody>
      </p:sp>
      <p:sp>
        <p:nvSpPr>
          <p:cNvPr id="59" name="Rectangle 57">
            <a:extLst>
              <a:ext uri="{FF2B5EF4-FFF2-40B4-BE49-F238E27FC236}">
                <a16:creationId xmlns:a16="http://schemas.microsoft.com/office/drawing/2014/main" id="{6F0CCA9C-BDA8-04BF-077D-3A8F5CFF41C8}"/>
              </a:ext>
            </a:extLst>
          </p:cNvPr>
          <p:cNvSpPr/>
          <p:nvPr/>
        </p:nvSpPr>
        <p:spPr>
          <a:xfrm>
            <a:off x="4462272" y="6060294"/>
            <a:ext cx="585216" cy="420624"/>
          </a:xfrm>
          <a:prstGeom prst="rect">
            <a:avLst/>
          </a:prstGeom>
          <a:solidFill>
            <a:srgbClr val="F3F5FA"/>
          </a:solidFill>
          <a:ln w="12700">
            <a:solidFill>
              <a:srgbClr val="DDDDDD"/>
            </a:solidFill>
          </a:ln>
          <a:effectLst/>
        </p:spPr>
        <p:style>
          <a:lnRef idx="1">
            <a:schemeClr val="accent1"/>
          </a:lnRef>
          <a:fillRef idx="3">
            <a:schemeClr val="accent1"/>
          </a:fillRef>
          <a:effectRef idx="2">
            <a:schemeClr val="accent1"/>
          </a:effectRef>
          <a:fontRef idx="minor">
            <a:schemeClr val="lt1"/>
          </a:fontRef>
        </p:style>
        <p:txBody>
          <a:bodyPr wrap="square" lIns="9144" tIns="18288" rIns="9144" bIns="18288" rtlCol="0" anchor="ctr"/>
          <a:lstStyle/>
          <a:p>
            <a:pPr algn="ctr">
              <a:spcAft>
                <a:spcPts val="0"/>
              </a:spcAft>
            </a:pPr>
            <a:r>
              <a:rPr sz="800" b="1">
                <a:solidFill>
                  <a:srgbClr val="1F2A5C"/>
                </a:solidFill>
                <a:latin typeface="メイリオ" panose="020B0604030504040204" pitchFamily="50" charset="-128"/>
                <a:ea typeface="メイリオ" panose="020B0604030504040204" pitchFamily="50" charset="-128"/>
                <a:cs typeface="メイリオ"/>
              </a:rPr>
              <a:t>特典</a:t>
            </a:r>
          </a:p>
        </p:txBody>
      </p:sp>
      <p:sp>
        <p:nvSpPr>
          <p:cNvPr id="60" name="Rectangle 58">
            <a:extLst>
              <a:ext uri="{FF2B5EF4-FFF2-40B4-BE49-F238E27FC236}">
                <a16:creationId xmlns:a16="http://schemas.microsoft.com/office/drawing/2014/main" id="{985C54A4-91FC-0879-5A7C-BF14447F2D4C}"/>
              </a:ext>
            </a:extLst>
          </p:cNvPr>
          <p:cNvSpPr/>
          <p:nvPr/>
        </p:nvSpPr>
        <p:spPr>
          <a:xfrm>
            <a:off x="5056632" y="6060294"/>
            <a:ext cx="585216" cy="420624"/>
          </a:xfrm>
          <a:prstGeom prst="rect">
            <a:avLst/>
          </a:prstGeom>
          <a:solidFill>
            <a:srgbClr val="F3F5FA"/>
          </a:solidFill>
          <a:ln w="12700">
            <a:solidFill>
              <a:srgbClr val="DDDDDD"/>
            </a:solidFill>
          </a:ln>
          <a:effectLst/>
        </p:spPr>
        <p:style>
          <a:lnRef idx="1">
            <a:schemeClr val="accent1"/>
          </a:lnRef>
          <a:fillRef idx="3">
            <a:schemeClr val="accent1"/>
          </a:fillRef>
          <a:effectRef idx="2">
            <a:schemeClr val="accent1"/>
          </a:effectRef>
          <a:fontRef idx="minor">
            <a:schemeClr val="lt1"/>
          </a:fontRef>
        </p:style>
        <p:txBody>
          <a:bodyPr wrap="square" lIns="9144" tIns="18288" rIns="9144" bIns="18288" rtlCol="0" anchor="ctr"/>
          <a:lstStyle/>
          <a:p>
            <a:pPr algn="ctr">
              <a:spcAft>
                <a:spcPts val="0"/>
              </a:spcAft>
            </a:pPr>
            <a:r>
              <a:rPr sz="800" b="1">
                <a:solidFill>
                  <a:srgbClr val="1F2A5C"/>
                </a:solidFill>
                <a:latin typeface="メイリオ" panose="020B0604030504040204" pitchFamily="50" charset="-128"/>
                <a:ea typeface="メイリオ" panose="020B0604030504040204" pitchFamily="50" charset="-128"/>
                <a:cs typeface="メイリオ"/>
              </a:rPr>
              <a:t>店舗</a:t>
            </a:r>
          </a:p>
        </p:txBody>
      </p:sp>
      <p:sp>
        <p:nvSpPr>
          <p:cNvPr id="61" name="Oval 60">
            <a:extLst>
              <a:ext uri="{FF2B5EF4-FFF2-40B4-BE49-F238E27FC236}">
                <a16:creationId xmlns:a16="http://schemas.microsoft.com/office/drawing/2014/main" id="{078D547B-19C0-D1D7-0B0A-A47E1EF12496}"/>
              </a:ext>
            </a:extLst>
          </p:cNvPr>
          <p:cNvSpPr/>
          <p:nvPr/>
        </p:nvSpPr>
        <p:spPr>
          <a:xfrm>
            <a:off x="3063240" y="3210414"/>
            <a:ext cx="274320" cy="274320"/>
          </a:xfrm>
          <a:prstGeom prst="ellipse">
            <a:avLst/>
          </a:prstGeom>
          <a:solidFill>
            <a:srgbClr val="C8102E"/>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wrap="square" lIns="0" tIns="18288" rIns="0" bIns="18288" rtlCol="0" anchor="ctr"/>
          <a:lstStyle/>
          <a:p>
            <a:pPr algn="ctr">
              <a:spcAft>
                <a:spcPts val="0"/>
              </a:spcAft>
            </a:pPr>
            <a:r>
              <a:rPr sz="1000" b="1">
                <a:solidFill>
                  <a:srgbClr val="FFFFFF"/>
                </a:solidFill>
                <a:latin typeface="メイリオ" panose="020B0604030504040204" pitchFamily="50" charset="-128"/>
                <a:ea typeface="メイリオ" panose="020B0604030504040204" pitchFamily="50" charset="-128"/>
                <a:cs typeface="メイリオ"/>
              </a:rPr>
              <a:t>3</a:t>
            </a:r>
          </a:p>
        </p:txBody>
      </p:sp>
      <p:sp>
        <p:nvSpPr>
          <p:cNvPr id="62" name="Oval 61">
            <a:extLst>
              <a:ext uri="{FF2B5EF4-FFF2-40B4-BE49-F238E27FC236}">
                <a16:creationId xmlns:a16="http://schemas.microsoft.com/office/drawing/2014/main" id="{D5B5DA36-D1AC-3FF4-B014-CB1D23230DF3}"/>
              </a:ext>
            </a:extLst>
          </p:cNvPr>
          <p:cNvSpPr/>
          <p:nvPr/>
        </p:nvSpPr>
        <p:spPr>
          <a:xfrm>
            <a:off x="3063240" y="3914502"/>
            <a:ext cx="274320" cy="274320"/>
          </a:xfrm>
          <a:prstGeom prst="ellipse">
            <a:avLst/>
          </a:prstGeom>
          <a:solidFill>
            <a:srgbClr val="C8102E"/>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wrap="square" lIns="0" tIns="18288" rIns="0" bIns="18288" rtlCol="0" anchor="ctr"/>
          <a:lstStyle/>
          <a:p>
            <a:pPr algn="ctr">
              <a:spcAft>
                <a:spcPts val="0"/>
              </a:spcAft>
            </a:pPr>
            <a:r>
              <a:rPr sz="1000" b="1">
                <a:solidFill>
                  <a:srgbClr val="FFFFFF"/>
                </a:solidFill>
                <a:latin typeface="メイリオ" panose="020B0604030504040204" pitchFamily="50" charset="-128"/>
                <a:ea typeface="メイリオ" panose="020B0604030504040204" pitchFamily="50" charset="-128"/>
                <a:cs typeface="メイリオ"/>
              </a:rPr>
              <a:t>5</a:t>
            </a:r>
          </a:p>
        </p:txBody>
      </p:sp>
      <p:sp>
        <p:nvSpPr>
          <p:cNvPr id="63" name="Oval 62">
            <a:extLst>
              <a:ext uri="{FF2B5EF4-FFF2-40B4-BE49-F238E27FC236}">
                <a16:creationId xmlns:a16="http://schemas.microsoft.com/office/drawing/2014/main" id="{AD9506F4-3424-385A-C649-D53A66ECE0FA}"/>
              </a:ext>
            </a:extLst>
          </p:cNvPr>
          <p:cNvSpPr/>
          <p:nvPr/>
        </p:nvSpPr>
        <p:spPr>
          <a:xfrm>
            <a:off x="3063240" y="4481430"/>
            <a:ext cx="274320" cy="274320"/>
          </a:xfrm>
          <a:prstGeom prst="ellipse">
            <a:avLst/>
          </a:prstGeom>
          <a:solidFill>
            <a:srgbClr val="C8102E"/>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wrap="square" lIns="0" tIns="18288" rIns="0" bIns="18288" rtlCol="0" anchor="ctr"/>
          <a:lstStyle/>
          <a:p>
            <a:pPr algn="ctr">
              <a:spcAft>
                <a:spcPts val="0"/>
              </a:spcAft>
            </a:pPr>
            <a:r>
              <a:rPr sz="1000" b="1">
                <a:solidFill>
                  <a:srgbClr val="FFFFFF"/>
                </a:solidFill>
                <a:latin typeface="メイリオ" panose="020B0604030504040204" pitchFamily="50" charset="-128"/>
                <a:ea typeface="メイリオ" panose="020B0604030504040204" pitchFamily="50" charset="-128"/>
                <a:cs typeface="メイリオ"/>
              </a:rPr>
              <a:t>6</a:t>
            </a:r>
          </a:p>
        </p:txBody>
      </p:sp>
      <p:sp>
        <p:nvSpPr>
          <p:cNvPr id="64" name="Oval 63">
            <a:extLst>
              <a:ext uri="{FF2B5EF4-FFF2-40B4-BE49-F238E27FC236}">
                <a16:creationId xmlns:a16="http://schemas.microsoft.com/office/drawing/2014/main" id="{E17B94F9-0158-3E3C-FFDC-922E33C08ACA}"/>
              </a:ext>
            </a:extLst>
          </p:cNvPr>
          <p:cNvSpPr/>
          <p:nvPr/>
        </p:nvSpPr>
        <p:spPr>
          <a:xfrm>
            <a:off x="3063240" y="5286102"/>
            <a:ext cx="274320" cy="274320"/>
          </a:xfrm>
          <a:prstGeom prst="ellipse">
            <a:avLst/>
          </a:prstGeom>
          <a:solidFill>
            <a:srgbClr val="1F2A5C"/>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wrap="square" lIns="0" tIns="18288" rIns="0" bIns="18288" rtlCol="0" anchor="ctr"/>
          <a:lstStyle/>
          <a:p>
            <a:pPr algn="ctr">
              <a:spcAft>
                <a:spcPts val="0"/>
              </a:spcAft>
            </a:pPr>
            <a:r>
              <a:rPr sz="1000" b="1">
                <a:solidFill>
                  <a:srgbClr val="FFFFFF"/>
                </a:solidFill>
                <a:latin typeface="メイリオ" panose="020B0604030504040204" pitchFamily="50" charset="-128"/>
                <a:ea typeface="メイリオ" panose="020B0604030504040204" pitchFamily="50" charset="-128"/>
                <a:cs typeface="メイリオ"/>
              </a:rPr>
              <a:t>8</a:t>
            </a:r>
          </a:p>
        </p:txBody>
      </p:sp>
      <p:sp>
        <p:nvSpPr>
          <p:cNvPr id="65" name="Oval 64">
            <a:extLst>
              <a:ext uri="{FF2B5EF4-FFF2-40B4-BE49-F238E27FC236}">
                <a16:creationId xmlns:a16="http://schemas.microsoft.com/office/drawing/2014/main" id="{C5EFD1D0-F44A-23A1-ADF0-04BFFF1243A0}"/>
              </a:ext>
            </a:extLst>
          </p:cNvPr>
          <p:cNvSpPr/>
          <p:nvPr/>
        </p:nvSpPr>
        <p:spPr>
          <a:xfrm>
            <a:off x="3063240" y="5987142"/>
            <a:ext cx="274320" cy="274320"/>
          </a:xfrm>
          <a:prstGeom prst="ellipse">
            <a:avLst/>
          </a:prstGeom>
          <a:solidFill>
            <a:srgbClr val="1F2A5C"/>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wrap="square" lIns="0" tIns="18288" rIns="0" bIns="18288" rtlCol="0" anchor="ctr"/>
          <a:lstStyle/>
          <a:p>
            <a:pPr algn="ctr">
              <a:spcAft>
                <a:spcPts val="0"/>
              </a:spcAft>
            </a:pPr>
            <a:r>
              <a:rPr sz="1000" b="1">
                <a:solidFill>
                  <a:srgbClr val="FFFFFF"/>
                </a:solidFill>
                <a:latin typeface="メイリオ" panose="020B0604030504040204" pitchFamily="50" charset="-128"/>
                <a:ea typeface="メイリオ" panose="020B0604030504040204" pitchFamily="50" charset="-128"/>
                <a:cs typeface="メイリオ"/>
              </a:rPr>
              <a:t>7</a:t>
            </a:r>
          </a:p>
        </p:txBody>
      </p:sp>
      <p:cxnSp>
        <p:nvCxnSpPr>
          <p:cNvPr id="66" name="Connector 65">
            <a:extLst>
              <a:ext uri="{FF2B5EF4-FFF2-40B4-BE49-F238E27FC236}">
                <a16:creationId xmlns:a16="http://schemas.microsoft.com/office/drawing/2014/main" id="{1B3B9544-3929-8790-DDDE-E6205C63DB3B}"/>
              </a:ext>
            </a:extLst>
          </p:cNvPr>
          <p:cNvCxnSpPr/>
          <p:nvPr/>
        </p:nvCxnSpPr>
        <p:spPr>
          <a:xfrm>
            <a:off x="5715000" y="2862942"/>
            <a:ext cx="274320" cy="0"/>
          </a:xfrm>
          <a:prstGeom prst="line">
            <a:avLst/>
          </a:prstGeom>
          <a:ln w="19050">
            <a:solidFill>
              <a:srgbClr val="1F2A5C"/>
            </a:solidFill>
          </a:ln>
        </p:spPr>
        <p:style>
          <a:lnRef idx="2">
            <a:schemeClr val="accent1"/>
          </a:lnRef>
          <a:fillRef idx="0">
            <a:schemeClr val="accent1"/>
          </a:fillRef>
          <a:effectRef idx="1">
            <a:schemeClr val="accent1"/>
          </a:effectRef>
          <a:fontRef idx="minor">
            <a:schemeClr val="tx1"/>
          </a:fontRef>
        </p:style>
      </p:cxnSp>
      <p:sp>
        <p:nvSpPr>
          <p:cNvPr id="67" name="Rectangle 66">
            <a:extLst>
              <a:ext uri="{FF2B5EF4-FFF2-40B4-BE49-F238E27FC236}">
                <a16:creationId xmlns:a16="http://schemas.microsoft.com/office/drawing/2014/main" id="{BACF9AB3-5E23-75E5-2907-1B4CAA7E7697}"/>
              </a:ext>
            </a:extLst>
          </p:cNvPr>
          <p:cNvSpPr/>
          <p:nvPr/>
        </p:nvSpPr>
        <p:spPr>
          <a:xfrm>
            <a:off x="5989320" y="2561190"/>
            <a:ext cx="3538728" cy="566928"/>
          </a:xfrm>
          <a:prstGeom prst="rect">
            <a:avLst/>
          </a:prstGeom>
          <a:solidFill>
            <a:srgbClr val="FFFFFF"/>
          </a:solidFill>
          <a:ln w="15875">
            <a:solidFill>
              <a:srgbClr val="1F2A5C"/>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68" name="Rectangle 67">
            <a:extLst>
              <a:ext uri="{FF2B5EF4-FFF2-40B4-BE49-F238E27FC236}">
                <a16:creationId xmlns:a16="http://schemas.microsoft.com/office/drawing/2014/main" id="{D99B972D-7A0F-C085-4B94-F0E1D1E5B217}"/>
              </a:ext>
            </a:extLst>
          </p:cNvPr>
          <p:cNvSpPr/>
          <p:nvPr/>
        </p:nvSpPr>
        <p:spPr>
          <a:xfrm>
            <a:off x="5989320" y="2561190"/>
            <a:ext cx="73152" cy="566928"/>
          </a:xfrm>
          <a:prstGeom prst="rect">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69" name="Rectangle 68">
            <a:extLst>
              <a:ext uri="{FF2B5EF4-FFF2-40B4-BE49-F238E27FC236}">
                <a16:creationId xmlns:a16="http://schemas.microsoft.com/office/drawing/2014/main" id="{16F41EB6-80FA-E920-A132-BB4988500C60}"/>
              </a:ext>
            </a:extLst>
          </p:cNvPr>
          <p:cNvSpPr/>
          <p:nvPr/>
        </p:nvSpPr>
        <p:spPr>
          <a:xfrm>
            <a:off x="6108192" y="2579478"/>
            <a:ext cx="3383280" cy="53035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l">
              <a:spcAft>
                <a:spcPts val="0"/>
              </a:spcAft>
            </a:pPr>
            <a:r>
              <a:rPr sz="1000" b="1">
                <a:solidFill>
                  <a:srgbClr val="1F2A5C"/>
                </a:solidFill>
                <a:latin typeface="メイリオ" panose="020B0604030504040204" pitchFamily="50" charset="-128"/>
                <a:ea typeface="メイリオ" panose="020B0604030504040204" pitchFamily="50" charset="-128"/>
                <a:cs typeface="メイリオ"/>
              </a:rPr>
              <a:t>2　挨拶メッセージ</a:t>
            </a:r>
          </a:p>
          <a:p>
            <a:pPr algn="l">
              <a:spcAft>
                <a:spcPts val="0"/>
              </a:spcAft>
            </a:pPr>
            <a:r>
              <a:rPr sz="800" b="0">
                <a:solidFill>
                  <a:srgbClr val="333333"/>
                </a:solidFill>
                <a:latin typeface="メイリオ" panose="020B0604030504040204" pitchFamily="50" charset="-128"/>
                <a:ea typeface="メイリオ" panose="020B0604030504040204" pitchFamily="50" charset="-128"/>
                <a:cs typeface="メイリオ"/>
              </a:rPr>
              <a:t>追加直後に自動で届く最初のメッセージ</a:t>
            </a:r>
          </a:p>
          <a:p>
            <a:pPr algn="l">
              <a:spcAft>
                <a:spcPts val="0"/>
              </a:spcAft>
            </a:pPr>
            <a:r>
              <a:rPr sz="700" b="1">
                <a:solidFill>
                  <a:srgbClr val="1F2A5C"/>
                </a:solidFill>
                <a:latin typeface="メイリオ" panose="020B0604030504040204" pitchFamily="50" charset="-128"/>
                <a:ea typeface="メイリオ" panose="020B0604030504040204" pitchFamily="50" charset="-128"/>
                <a:cs typeface="メイリオ"/>
              </a:rPr>
              <a:t>初期標準設定｜標準機能</a:t>
            </a:r>
          </a:p>
        </p:txBody>
      </p:sp>
      <p:cxnSp>
        <p:nvCxnSpPr>
          <p:cNvPr id="70" name="Connector 69">
            <a:extLst>
              <a:ext uri="{FF2B5EF4-FFF2-40B4-BE49-F238E27FC236}">
                <a16:creationId xmlns:a16="http://schemas.microsoft.com/office/drawing/2014/main" id="{1CC8A23C-C7AE-2F6C-E6D0-69403F4AE719}"/>
              </a:ext>
            </a:extLst>
          </p:cNvPr>
          <p:cNvCxnSpPr/>
          <p:nvPr/>
        </p:nvCxnSpPr>
        <p:spPr>
          <a:xfrm>
            <a:off x="5715000" y="3457302"/>
            <a:ext cx="274320" cy="0"/>
          </a:xfrm>
          <a:prstGeom prst="line">
            <a:avLst/>
          </a:prstGeom>
          <a:ln w="19050">
            <a:solidFill>
              <a:srgbClr val="C8102E"/>
            </a:solidFill>
          </a:ln>
        </p:spPr>
        <p:style>
          <a:lnRef idx="2">
            <a:schemeClr val="accent1"/>
          </a:lnRef>
          <a:fillRef idx="0">
            <a:schemeClr val="accent1"/>
          </a:fillRef>
          <a:effectRef idx="1">
            <a:schemeClr val="accent1"/>
          </a:effectRef>
          <a:fontRef idx="minor">
            <a:schemeClr val="tx1"/>
          </a:fontRef>
        </p:style>
      </p:cxnSp>
      <p:sp>
        <p:nvSpPr>
          <p:cNvPr id="71" name="Rectangle 70">
            <a:extLst>
              <a:ext uri="{FF2B5EF4-FFF2-40B4-BE49-F238E27FC236}">
                <a16:creationId xmlns:a16="http://schemas.microsoft.com/office/drawing/2014/main" id="{2878551C-954D-5600-4A28-2FB6B2FC835B}"/>
              </a:ext>
            </a:extLst>
          </p:cNvPr>
          <p:cNvSpPr/>
          <p:nvPr/>
        </p:nvSpPr>
        <p:spPr>
          <a:xfrm>
            <a:off x="5989320" y="3164694"/>
            <a:ext cx="3538728" cy="566928"/>
          </a:xfrm>
          <a:prstGeom prst="rect">
            <a:avLst/>
          </a:prstGeom>
          <a:solidFill>
            <a:srgbClr val="FFFFFF"/>
          </a:solidFill>
          <a:ln w="15875">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72" name="Rectangle 71">
            <a:extLst>
              <a:ext uri="{FF2B5EF4-FFF2-40B4-BE49-F238E27FC236}">
                <a16:creationId xmlns:a16="http://schemas.microsoft.com/office/drawing/2014/main" id="{08D588BD-CE61-D530-7D53-445F6FE2028D}"/>
              </a:ext>
            </a:extLst>
          </p:cNvPr>
          <p:cNvSpPr/>
          <p:nvPr/>
        </p:nvSpPr>
        <p:spPr>
          <a:xfrm>
            <a:off x="5989320" y="3164694"/>
            <a:ext cx="73152" cy="566928"/>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73" name="Rectangle 72">
            <a:extLst>
              <a:ext uri="{FF2B5EF4-FFF2-40B4-BE49-F238E27FC236}">
                <a16:creationId xmlns:a16="http://schemas.microsoft.com/office/drawing/2014/main" id="{BEFBEC83-9F5E-D6AF-38B6-828597BBE02B}"/>
              </a:ext>
            </a:extLst>
          </p:cNvPr>
          <p:cNvSpPr/>
          <p:nvPr/>
        </p:nvSpPr>
        <p:spPr>
          <a:xfrm>
            <a:off x="6108192" y="3182982"/>
            <a:ext cx="3383280" cy="53035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l">
              <a:spcAft>
                <a:spcPts val="0"/>
              </a:spcAft>
            </a:pPr>
            <a:r>
              <a:rPr sz="1000" b="1">
                <a:solidFill>
                  <a:srgbClr val="C8102E"/>
                </a:solidFill>
                <a:latin typeface="メイリオ" panose="020B0604030504040204" pitchFamily="50" charset="-128"/>
                <a:ea typeface="メイリオ" panose="020B0604030504040204" pitchFamily="50" charset="-128"/>
                <a:cs typeface="メイリオ"/>
              </a:rPr>
              <a:t>3　アンケート</a:t>
            </a:r>
          </a:p>
          <a:p>
            <a:pPr algn="l">
              <a:spcAft>
                <a:spcPts val="0"/>
              </a:spcAft>
            </a:pPr>
            <a:r>
              <a:rPr sz="800" b="0">
                <a:solidFill>
                  <a:srgbClr val="333333"/>
                </a:solidFill>
                <a:latin typeface="メイリオ" panose="020B0604030504040204" pitchFamily="50" charset="-128"/>
                <a:ea typeface="メイリオ" panose="020B0604030504040204" pitchFamily="50" charset="-128"/>
                <a:cs typeface="メイリオ"/>
              </a:rPr>
              <a:t>1タップで回答。興味・状況を把握</a:t>
            </a:r>
          </a:p>
          <a:p>
            <a:pPr algn="l">
              <a:spcAft>
                <a:spcPts val="0"/>
              </a:spcAft>
            </a:pPr>
            <a:r>
              <a:rPr sz="700" b="1">
                <a:solidFill>
                  <a:srgbClr val="C8102E"/>
                </a:solidFill>
                <a:latin typeface="メイリオ" panose="020B0604030504040204" pitchFamily="50" charset="-128"/>
                <a:ea typeface="メイリオ" panose="020B0604030504040204" pitchFamily="50" charset="-128"/>
                <a:cs typeface="メイリオ"/>
              </a:rPr>
              <a:t>運用施策｜標準（簡易）／APIツール</a:t>
            </a:r>
          </a:p>
        </p:txBody>
      </p:sp>
      <p:cxnSp>
        <p:nvCxnSpPr>
          <p:cNvPr id="74" name="Connector 73">
            <a:extLst>
              <a:ext uri="{FF2B5EF4-FFF2-40B4-BE49-F238E27FC236}">
                <a16:creationId xmlns:a16="http://schemas.microsoft.com/office/drawing/2014/main" id="{087854F0-E07A-106C-2F55-5F4540F70FC7}"/>
              </a:ext>
            </a:extLst>
          </p:cNvPr>
          <p:cNvCxnSpPr/>
          <p:nvPr/>
        </p:nvCxnSpPr>
        <p:spPr>
          <a:xfrm>
            <a:off x="5715000" y="4143102"/>
            <a:ext cx="274320" cy="0"/>
          </a:xfrm>
          <a:prstGeom prst="line">
            <a:avLst/>
          </a:prstGeom>
          <a:ln w="19050">
            <a:solidFill>
              <a:srgbClr val="C8102E"/>
            </a:solidFill>
          </a:ln>
        </p:spPr>
        <p:style>
          <a:lnRef idx="2">
            <a:schemeClr val="accent1"/>
          </a:lnRef>
          <a:fillRef idx="0">
            <a:schemeClr val="accent1"/>
          </a:fillRef>
          <a:effectRef idx="1">
            <a:schemeClr val="accent1"/>
          </a:effectRef>
          <a:fontRef idx="minor">
            <a:schemeClr val="tx1"/>
          </a:fontRef>
        </p:style>
      </p:cxnSp>
      <p:sp>
        <p:nvSpPr>
          <p:cNvPr id="75" name="Rectangle 74">
            <a:extLst>
              <a:ext uri="{FF2B5EF4-FFF2-40B4-BE49-F238E27FC236}">
                <a16:creationId xmlns:a16="http://schemas.microsoft.com/office/drawing/2014/main" id="{5E635C83-4255-D874-02BA-723D8D3945A1}"/>
              </a:ext>
            </a:extLst>
          </p:cNvPr>
          <p:cNvSpPr/>
          <p:nvPr/>
        </p:nvSpPr>
        <p:spPr>
          <a:xfrm>
            <a:off x="5989320" y="3841350"/>
            <a:ext cx="3538728" cy="566928"/>
          </a:xfrm>
          <a:prstGeom prst="rect">
            <a:avLst/>
          </a:prstGeom>
          <a:solidFill>
            <a:srgbClr val="FFFFFF"/>
          </a:solidFill>
          <a:ln w="15875">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76" name="Rectangle 75">
            <a:extLst>
              <a:ext uri="{FF2B5EF4-FFF2-40B4-BE49-F238E27FC236}">
                <a16:creationId xmlns:a16="http://schemas.microsoft.com/office/drawing/2014/main" id="{DA813A00-D7BA-7CEB-2811-E995F53B6411}"/>
              </a:ext>
            </a:extLst>
          </p:cNvPr>
          <p:cNvSpPr/>
          <p:nvPr/>
        </p:nvSpPr>
        <p:spPr>
          <a:xfrm>
            <a:off x="5989320" y="3841350"/>
            <a:ext cx="73152" cy="566928"/>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77" name="Rectangle 76">
            <a:extLst>
              <a:ext uri="{FF2B5EF4-FFF2-40B4-BE49-F238E27FC236}">
                <a16:creationId xmlns:a16="http://schemas.microsoft.com/office/drawing/2014/main" id="{37095BF6-3F59-87B8-0E59-07F70CAF7197}"/>
              </a:ext>
            </a:extLst>
          </p:cNvPr>
          <p:cNvSpPr/>
          <p:nvPr/>
        </p:nvSpPr>
        <p:spPr>
          <a:xfrm>
            <a:off x="6108192" y="3859638"/>
            <a:ext cx="3383280" cy="53035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l">
              <a:spcAft>
                <a:spcPts val="0"/>
              </a:spcAft>
            </a:pPr>
            <a:r>
              <a:rPr sz="1000" b="1">
                <a:solidFill>
                  <a:srgbClr val="C8102E"/>
                </a:solidFill>
                <a:latin typeface="メイリオ" panose="020B0604030504040204" pitchFamily="50" charset="-128"/>
                <a:ea typeface="メイリオ" panose="020B0604030504040204" pitchFamily="50" charset="-128"/>
                <a:cs typeface="メイリオ"/>
              </a:rPr>
              <a:t>5　ステップ配信</a:t>
            </a:r>
          </a:p>
          <a:p>
            <a:pPr algn="l">
              <a:spcAft>
                <a:spcPts val="0"/>
              </a:spcAft>
            </a:pPr>
            <a:r>
              <a:rPr sz="800" b="0">
                <a:solidFill>
                  <a:srgbClr val="333333"/>
                </a:solidFill>
                <a:latin typeface="メイリオ" panose="020B0604030504040204" pitchFamily="50" charset="-128"/>
                <a:ea typeface="メイリオ" panose="020B0604030504040204" pitchFamily="50" charset="-128"/>
                <a:cs typeface="メイリオ"/>
              </a:rPr>
              <a:t>追加日などを起点に、日数で自動配信</a:t>
            </a:r>
          </a:p>
          <a:p>
            <a:pPr algn="l">
              <a:spcAft>
                <a:spcPts val="0"/>
              </a:spcAft>
            </a:pPr>
            <a:r>
              <a:rPr sz="700" b="1">
                <a:solidFill>
                  <a:srgbClr val="C8102E"/>
                </a:solidFill>
                <a:latin typeface="メイリオ" panose="020B0604030504040204" pitchFamily="50" charset="-128"/>
                <a:ea typeface="メイリオ" panose="020B0604030504040204" pitchFamily="50" charset="-128"/>
                <a:cs typeface="メイリオ"/>
              </a:rPr>
              <a:t>運用施策｜APIツール</a:t>
            </a:r>
          </a:p>
        </p:txBody>
      </p:sp>
      <p:cxnSp>
        <p:nvCxnSpPr>
          <p:cNvPr id="78" name="Connector 77">
            <a:extLst>
              <a:ext uri="{FF2B5EF4-FFF2-40B4-BE49-F238E27FC236}">
                <a16:creationId xmlns:a16="http://schemas.microsoft.com/office/drawing/2014/main" id="{14DA0944-ACF0-26E9-C341-0F08287E50E0}"/>
              </a:ext>
            </a:extLst>
          </p:cNvPr>
          <p:cNvCxnSpPr/>
          <p:nvPr/>
        </p:nvCxnSpPr>
        <p:spPr>
          <a:xfrm>
            <a:off x="5715000" y="4737462"/>
            <a:ext cx="274320" cy="0"/>
          </a:xfrm>
          <a:prstGeom prst="line">
            <a:avLst/>
          </a:prstGeom>
          <a:ln w="19050">
            <a:solidFill>
              <a:srgbClr val="C8102E"/>
            </a:solidFill>
          </a:ln>
        </p:spPr>
        <p:style>
          <a:lnRef idx="2">
            <a:schemeClr val="accent1"/>
          </a:lnRef>
          <a:fillRef idx="0">
            <a:schemeClr val="accent1"/>
          </a:fillRef>
          <a:effectRef idx="1">
            <a:schemeClr val="accent1"/>
          </a:effectRef>
          <a:fontRef idx="minor">
            <a:schemeClr val="tx1"/>
          </a:fontRef>
        </p:style>
      </p:cxnSp>
      <p:sp>
        <p:nvSpPr>
          <p:cNvPr id="79" name="Rectangle 78">
            <a:extLst>
              <a:ext uri="{FF2B5EF4-FFF2-40B4-BE49-F238E27FC236}">
                <a16:creationId xmlns:a16="http://schemas.microsoft.com/office/drawing/2014/main" id="{04741443-9216-D183-86C7-C1D3D8CD0F86}"/>
              </a:ext>
            </a:extLst>
          </p:cNvPr>
          <p:cNvSpPr/>
          <p:nvPr/>
        </p:nvSpPr>
        <p:spPr>
          <a:xfrm>
            <a:off x="5989320" y="4463142"/>
            <a:ext cx="3538728" cy="566928"/>
          </a:xfrm>
          <a:prstGeom prst="rect">
            <a:avLst/>
          </a:prstGeom>
          <a:solidFill>
            <a:srgbClr val="FFFFFF"/>
          </a:solidFill>
          <a:ln w="15875">
            <a:solidFill>
              <a:srgbClr val="C8102E"/>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80" name="Rectangle 79">
            <a:extLst>
              <a:ext uri="{FF2B5EF4-FFF2-40B4-BE49-F238E27FC236}">
                <a16:creationId xmlns:a16="http://schemas.microsoft.com/office/drawing/2014/main" id="{EF62B91B-5616-0CBB-42CD-ABFAF3770BE1}"/>
              </a:ext>
            </a:extLst>
          </p:cNvPr>
          <p:cNvSpPr/>
          <p:nvPr/>
        </p:nvSpPr>
        <p:spPr>
          <a:xfrm>
            <a:off x="5989320" y="4463142"/>
            <a:ext cx="73152" cy="566928"/>
          </a:xfrm>
          <a:prstGeom prst="rect">
            <a:avLst/>
          </a:prstGeom>
          <a:solidFill>
            <a:srgbClr val="C8102E"/>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81" name="Rectangle 80">
            <a:extLst>
              <a:ext uri="{FF2B5EF4-FFF2-40B4-BE49-F238E27FC236}">
                <a16:creationId xmlns:a16="http://schemas.microsoft.com/office/drawing/2014/main" id="{2D902E01-6B95-274E-8EFB-9F3B88059A6D}"/>
              </a:ext>
            </a:extLst>
          </p:cNvPr>
          <p:cNvSpPr/>
          <p:nvPr/>
        </p:nvSpPr>
        <p:spPr>
          <a:xfrm>
            <a:off x="6108192" y="4481429"/>
            <a:ext cx="3383280" cy="53035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l">
              <a:spcAft>
                <a:spcPts val="0"/>
              </a:spcAft>
            </a:pPr>
            <a:r>
              <a:rPr sz="1000" b="1">
                <a:solidFill>
                  <a:srgbClr val="C8102E"/>
                </a:solidFill>
                <a:latin typeface="メイリオ" panose="020B0604030504040204" pitchFamily="50" charset="-128"/>
                <a:ea typeface="メイリオ" panose="020B0604030504040204" pitchFamily="50" charset="-128"/>
                <a:cs typeface="メイリオ"/>
              </a:rPr>
              <a:t>6　企画配信</a:t>
            </a:r>
          </a:p>
          <a:p>
            <a:pPr algn="l">
              <a:spcAft>
                <a:spcPts val="0"/>
              </a:spcAft>
            </a:pPr>
            <a:r>
              <a:rPr sz="800" b="0">
                <a:solidFill>
                  <a:srgbClr val="333333"/>
                </a:solidFill>
                <a:latin typeface="メイリオ" panose="020B0604030504040204" pitchFamily="50" charset="-128"/>
                <a:ea typeface="メイリオ" panose="020B0604030504040204" pitchFamily="50" charset="-128"/>
                <a:cs typeface="メイリオ"/>
              </a:rPr>
              <a:t>季節・キャンペーンに合わせた定期配信</a:t>
            </a:r>
          </a:p>
          <a:p>
            <a:pPr algn="l">
              <a:spcAft>
                <a:spcPts val="0"/>
              </a:spcAft>
            </a:pPr>
            <a:r>
              <a:rPr sz="700" b="1">
                <a:solidFill>
                  <a:srgbClr val="C8102E"/>
                </a:solidFill>
                <a:latin typeface="メイリオ" panose="020B0604030504040204" pitchFamily="50" charset="-128"/>
                <a:ea typeface="メイリオ" panose="020B0604030504040204" pitchFamily="50" charset="-128"/>
                <a:cs typeface="メイリオ"/>
              </a:rPr>
              <a:t>運用施策｜標準機能</a:t>
            </a:r>
          </a:p>
        </p:txBody>
      </p:sp>
      <p:cxnSp>
        <p:nvCxnSpPr>
          <p:cNvPr id="82" name="Connector 81">
            <a:extLst>
              <a:ext uri="{FF2B5EF4-FFF2-40B4-BE49-F238E27FC236}">
                <a16:creationId xmlns:a16="http://schemas.microsoft.com/office/drawing/2014/main" id="{9FBE9224-F179-3806-57FD-B70E3DD7299F}"/>
              </a:ext>
            </a:extLst>
          </p:cNvPr>
          <p:cNvCxnSpPr/>
          <p:nvPr/>
        </p:nvCxnSpPr>
        <p:spPr>
          <a:xfrm>
            <a:off x="5715000" y="5423262"/>
            <a:ext cx="274320" cy="0"/>
          </a:xfrm>
          <a:prstGeom prst="line">
            <a:avLst/>
          </a:prstGeom>
          <a:ln w="19050">
            <a:solidFill>
              <a:srgbClr val="1F2A5C"/>
            </a:solidFill>
          </a:ln>
        </p:spPr>
        <p:style>
          <a:lnRef idx="2">
            <a:schemeClr val="accent1"/>
          </a:lnRef>
          <a:fillRef idx="0">
            <a:schemeClr val="accent1"/>
          </a:fillRef>
          <a:effectRef idx="1">
            <a:schemeClr val="accent1"/>
          </a:effectRef>
          <a:fontRef idx="minor">
            <a:schemeClr val="tx1"/>
          </a:fontRef>
        </p:style>
      </p:cxnSp>
      <p:sp>
        <p:nvSpPr>
          <p:cNvPr id="83" name="Rectangle 82">
            <a:extLst>
              <a:ext uri="{FF2B5EF4-FFF2-40B4-BE49-F238E27FC236}">
                <a16:creationId xmlns:a16="http://schemas.microsoft.com/office/drawing/2014/main" id="{1AB67702-2E81-6221-4139-488E660CAB4E}"/>
              </a:ext>
            </a:extLst>
          </p:cNvPr>
          <p:cNvSpPr/>
          <p:nvPr/>
        </p:nvSpPr>
        <p:spPr>
          <a:xfrm>
            <a:off x="5989320" y="5121510"/>
            <a:ext cx="3538728" cy="566928"/>
          </a:xfrm>
          <a:prstGeom prst="rect">
            <a:avLst/>
          </a:prstGeom>
          <a:solidFill>
            <a:srgbClr val="FFFFFF"/>
          </a:solidFill>
          <a:ln w="15875">
            <a:solidFill>
              <a:srgbClr val="1F2A5C"/>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84" name="Rectangle 83">
            <a:extLst>
              <a:ext uri="{FF2B5EF4-FFF2-40B4-BE49-F238E27FC236}">
                <a16:creationId xmlns:a16="http://schemas.microsoft.com/office/drawing/2014/main" id="{3938AC4A-CD97-D0B1-CB8F-46DDCFAE35FE}"/>
              </a:ext>
            </a:extLst>
          </p:cNvPr>
          <p:cNvSpPr/>
          <p:nvPr/>
        </p:nvSpPr>
        <p:spPr>
          <a:xfrm>
            <a:off x="5989320" y="5121510"/>
            <a:ext cx="73152" cy="566928"/>
          </a:xfrm>
          <a:prstGeom prst="rect">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85" name="Rectangle 84">
            <a:extLst>
              <a:ext uri="{FF2B5EF4-FFF2-40B4-BE49-F238E27FC236}">
                <a16:creationId xmlns:a16="http://schemas.microsoft.com/office/drawing/2014/main" id="{E093121A-3AE3-1B04-1572-43FD309CC342}"/>
              </a:ext>
            </a:extLst>
          </p:cNvPr>
          <p:cNvSpPr/>
          <p:nvPr/>
        </p:nvSpPr>
        <p:spPr>
          <a:xfrm>
            <a:off x="6108192" y="5139797"/>
            <a:ext cx="3383280" cy="53035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l">
              <a:spcAft>
                <a:spcPts val="0"/>
              </a:spcAft>
            </a:pPr>
            <a:r>
              <a:rPr sz="1000" b="1" dirty="0">
                <a:solidFill>
                  <a:srgbClr val="1F2A5C"/>
                </a:solidFill>
                <a:latin typeface="メイリオ" panose="020B0604030504040204" pitchFamily="50" charset="-128"/>
                <a:ea typeface="メイリオ" panose="020B0604030504040204" pitchFamily="50" charset="-128"/>
                <a:cs typeface="メイリオ"/>
              </a:rPr>
              <a:t>8　</a:t>
            </a:r>
            <a:r>
              <a:rPr sz="1000" b="1" dirty="0" err="1">
                <a:solidFill>
                  <a:srgbClr val="1F2A5C"/>
                </a:solidFill>
                <a:latin typeface="メイリオ" panose="020B0604030504040204" pitchFamily="50" charset="-128"/>
                <a:ea typeface="メイリオ" panose="020B0604030504040204" pitchFamily="50" charset="-128"/>
                <a:cs typeface="メイリオ"/>
              </a:rPr>
              <a:t>自動応答</a:t>
            </a:r>
            <a:endParaRPr sz="1000" b="1" dirty="0">
              <a:solidFill>
                <a:srgbClr val="1F2A5C"/>
              </a:solidFill>
              <a:latin typeface="メイリオ" panose="020B0604030504040204" pitchFamily="50" charset="-128"/>
              <a:ea typeface="メイリオ" panose="020B0604030504040204" pitchFamily="50" charset="-128"/>
              <a:cs typeface="メイリオ"/>
            </a:endParaRPr>
          </a:p>
          <a:p>
            <a:pPr algn="l">
              <a:spcAft>
                <a:spcPts val="0"/>
              </a:spcAft>
            </a:pPr>
            <a:r>
              <a:rPr sz="800" b="0" dirty="0" err="1">
                <a:solidFill>
                  <a:srgbClr val="333333"/>
                </a:solidFill>
                <a:latin typeface="メイリオ" panose="020B0604030504040204" pitchFamily="50" charset="-128"/>
                <a:ea typeface="メイリオ" panose="020B0604030504040204" pitchFamily="50" charset="-128"/>
                <a:cs typeface="メイリオ"/>
              </a:rPr>
              <a:t>キーワードに自動で返信</a:t>
            </a:r>
            <a:endParaRPr sz="800" b="0" dirty="0">
              <a:solidFill>
                <a:srgbClr val="333333"/>
              </a:solidFill>
              <a:latin typeface="メイリオ" panose="020B0604030504040204" pitchFamily="50" charset="-128"/>
              <a:ea typeface="メイリオ" panose="020B0604030504040204" pitchFamily="50" charset="-128"/>
              <a:cs typeface="メイリオ"/>
            </a:endParaRPr>
          </a:p>
          <a:p>
            <a:pPr algn="l">
              <a:spcAft>
                <a:spcPts val="0"/>
              </a:spcAft>
            </a:pPr>
            <a:r>
              <a:rPr sz="700" b="1" dirty="0" err="1">
                <a:solidFill>
                  <a:srgbClr val="1F2A5C"/>
                </a:solidFill>
                <a:latin typeface="メイリオ" panose="020B0604030504040204" pitchFamily="50" charset="-128"/>
                <a:ea typeface="メイリオ" panose="020B0604030504040204" pitchFamily="50" charset="-128"/>
                <a:cs typeface="メイリオ"/>
              </a:rPr>
              <a:t>初期標準設定｜標準（FAQ・有人は別途</a:t>
            </a:r>
            <a:r>
              <a:rPr sz="700" b="1" dirty="0">
                <a:solidFill>
                  <a:srgbClr val="1F2A5C"/>
                </a:solidFill>
                <a:latin typeface="メイリオ" panose="020B0604030504040204" pitchFamily="50" charset="-128"/>
                <a:ea typeface="メイリオ" panose="020B0604030504040204" pitchFamily="50" charset="-128"/>
                <a:cs typeface="メイリオ"/>
              </a:rPr>
              <a:t>）</a:t>
            </a:r>
          </a:p>
        </p:txBody>
      </p:sp>
      <p:cxnSp>
        <p:nvCxnSpPr>
          <p:cNvPr id="86" name="Connector 85">
            <a:extLst>
              <a:ext uri="{FF2B5EF4-FFF2-40B4-BE49-F238E27FC236}">
                <a16:creationId xmlns:a16="http://schemas.microsoft.com/office/drawing/2014/main" id="{4A507D46-E245-9BC1-8E49-9B98A20927EE}"/>
              </a:ext>
            </a:extLst>
          </p:cNvPr>
          <p:cNvCxnSpPr/>
          <p:nvPr/>
        </p:nvCxnSpPr>
        <p:spPr>
          <a:xfrm>
            <a:off x="5715000" y="6170022"/>
            <a:ext cx="274320" cy="0"/>
          </a:xfrm>
          <a:prstGeom prst="line">
            <a:avLst/>
          </a:prstGeom>
          <a:ln w="19050">
            <a:solidFill>
              <a:srgbClr val="1F2A5C"/>
            </a:solidFill>
          </a:ln>
        </p:spPr>
        <p:style>
          <a:lnRef idx="2">
            <a:schemeClr val="accent1"/>
          </a:lnRef>
          <a:fillRef idx="0">
            <a:schemeClr val="accent1"/>
          </a:fillRef>
          <a:effectRef idx="1">
            <a:schemeClr val="accent1"/>
          </a:effectRef>
          <a:fontRef idx="minor">
            <a:schemeClr val="tx1"/>
          </a:fontRef>
        </p:style>
      </p:cxnSp>
      <p:sp>
        <p:nvSpPr>
          <p:cNvPr id="87" name="Rectangle 86">
            <a:extLst>
              <a:ext uri="{FF2B5EF4-FFF2-40B4-BE49-F238E27FC236}">
                <a16:creationId xmlns:a16="http://schemas.microsoft.com/office/drawing/2014/main" id="{BA218128-D353-B007-1B9E-9CC4F4C7DA73}"/>
              </a:ext>
            </a:extLst>
          </p:cNvPr>
          <p:cNvSpPr/>
          <p:nvPr/>
        </p:nvSpPr>
        <p:spPr>
          <a:xfrm>
            <a:off x="5989320" y="5877414"/>
            <a:ext cx="3538728" cy="566928"/>
          </a:xfrm>
          <a:prstGeom prst="rect">
            <a:avLst/>
          </a:prstGeom>
          <a:solidFill>
            <a:srgbClr val="FFFFFF"/>
          </a:solidFill>
          <a:ln w="15875">
            <a:solidFill>
              <a:srgbClr val="1F2A5C"/>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88" name="Rectangle 87">
            <a:extLst>
              <a:ext uri="{FF2B5EF4-FFF2-40B4-BE49-F238E27FC236}">
                <a16:creationId xmlns:a16="http://schemas.microsoft.com/office/drawing/2014/main" id="{D31DED20-2693-1ECE-3338-7CEF9571C52B}"/>
              </a:ext>
            </a:extLst>
          </p:cNvPr>
          <p:cNvSpPr/>
          <p:nvPr/>
        </p:nvSpPr>
        <p:spPr>
          <a:xfrm>
            <a:off x="5989320" y="5877414"/>
            <a:ext cx="73152" cy="566928"/>
          </a:xfrm>
          <a:prstGeom prst="rect">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
        <p:nvSpPr>
          <p:cNvPr id="89" name="Rectangle 88">
            <a:extLst>
              <a:ext uri="{FF2B5EF4-FFF2-40B4-BE49-F238E27FC236}">
                <a16:creationId xmlns:a16="http://schemas.microsoft.com/office/drawing/2014/main" id="{D03442D7-B1E7-5F7B-CB6D-531AF520BA8B}"/>
              </a:ext>
            </a:extLst>
          </p:cNvPr>
          <p:cNvSpPr/>
          <p:nvPr/>
        </p:nvSpPr>
        <p:spPr>
          <a:xfrm>
            <a:off x="6108192" y="5895702"/>
            <a:ext cx="3383280" cy="530352"/>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27432" tIns="18288" rIns="27432" bIns="18288" rtlCol="0" anchor="ctr"/>
          <a:lstStyle/>
          <a:p>
            <a:pPr algn="l">
              <a:spcAft>
                <a:spcPts val="0"/>
              </a:spcAft>
            </a:pPr>
            <a:r>
              <a:rPr sz="1000" b="1">
                <a:solidFill>
                  <a:srgbClr val="1F2A5C"/>
                </a:solidFill>
                <a:latin typeface="メイリオ" panose="020B0604030504040204" pitchFamily="50" charset="-128"/>
                <a:ea typeface="メイリオ" panose="020B0604030504040204" pitchFamily="50" charset="-128"/>
                <a:cs typeface="メイリオ"/>
              </a:rPr>
              <a:t>7　リッチメニュー</a:t>
            </a:r>
          </a:p>
          <a:p>
            <a:pPr algn="l">
              <a:spcAft>
                <a:spcPts val="0"/>
              </a:spcAft>
            </a:pPr>
            <a:r>
              <a:rPr sz="800" b="0">
                <a:solidFill>
                  <a:srgbClr val="333333"/>
                </a:solidFill>
                <a:latin typeface="メイリオ" panose="020B0604030504040204" pitchFamily="50" charset="-128"/>
                <a:ea typeface="メイリオ" panose="020B0604030504040204" pitchFamily="50" charset="-128"/>
                <a:cs typeface="メイリオ"/>
              </a:rPr>
              <a:t>トーク下部に常時表示。1タップで行動</a:t>
            </a:r>
          </a:p>
          <a:p>
            <a:pPr algn="l">
              <a:spcAft>
                <a:spcPts val="0"/>
              </a:spcAft>
            </a:pPr>
            <a:r>
              <a:rPr sz="700" b="1">
                <a:solidFill>
                  <a:srgbClr val="1F2A5C"/>
                </a:solidFill>
                <a:latin typeface="メイリオ" panose="020B0604030504040204" pitchFamily="50" charset="-128"/>
                <a:ea typeface="メイリオ" panose="020B0604030504040204" pitchFamily="50" charset="-128"/>
                <a:cs typeface="メイリオ"/>
              </a:rPr>
              <a:t>初期標準設定｜標準機能</a:t>
            </a:r>
          </a:p>
        </p:txBody>
      </p:sp>
      <p:sp>
        <p:nvSpPr>
          <p:cNvPr id="90" name="Rectangle 89">
            <a:extLst>
              <a:ext uri="{FF2B5EF4-FFF2-40B4-BE49-F238E27FC236}">
                <a16:creationId xmlns:a16="http://schemas.microsoft.com/office/drawing/2014/main" id="{6504280E-50E9-27C6-B905-70CBC084EA6F}"/>
              </a:ext>
            </a:extLst>
          </p:cNvPr>
          <p:cNvSpPr/>
          <p:nvPr/>
        </p:nvSpPr>
        <p:spPr>
          <a:xfrm>
            <a:off x="384048" y="6822294"/>
            <a:ext cx="91440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t"/>
          <a:lstStyle/>
          <a:p>
            <a:pPr algn="l">
              <a:spcAft>
                <a:spcPts val="300"/>
              </a:spcAft>
            </a:pPr>
            <a:r>
              <a:rPr sz="600" b="0">
                <a:solidFill>
                  <a:srgbClr val="777777"/>
                </a:solidFill>
                <a:latin typeface="メイリオ" panose="020B0604030504040204" pitchFamily="50" charset="-128"/>
                <a:ea typeface="メイリオ" panose="020B0604030504040204" pitchFamily="50" charset="-128"/>
                <a:cs typeface="メイリオ"/>
              </a:rPr>
              <a:t>※ステップ配信・タグ・出し分けはAPI（拡張）ツールで実現するのが一般的。画面は動作イメージ（文言はサンプル）</a:t>
            </a:r>
          </a:p>
        </p:txBody>
      </p:sp>
      <p:sp>
        <p:nvSpPr>
          <p:cNvPr id="91" name="Rectangle 37">
            <a:extLst>
              <a:ext uri="{FF2B5EF4-FFF2-40B4-BE49-F238E27FC236}">
                <a16:creationId xmlns:a16="http://schemas.microsoft.com/office/drawing/2014/main" id="{815B0ED0-A740-600B-6C02-0EA2C830954C}"/>
              </a:ext>
            </a:extLst>
          </p:cNvPr>
          <p:cNvSpPr/>
          <p:nvPr/>
        </p:nvSpPr>
        <p:spPr>
          <a:xfrm>
            <a:off x="3504539" y="2556296"/>
            <a:ext cx="1493235" cy="233581"/>
          </a:xfrm>
          <a:prstGeom prst="rect">
            <a:avLst/>
          </a:prstGeom>
          <a:solidFill>
            <a:srgbClr val="06C755"/>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900" b="1">
                <a:solidFill>
                  <a:srgbClr val="FFFFFF"/>
                </a:solidFill>
                <a:latin typeface="メイリオ" panose="020B0604030504040204" pitchFamily="50" charset="-128"/>
                <a:ea typeface="メイリオ" panose="020B0604030504040204" pitchFamily="50" charset="-128"/>
                <a:cs typeface="メイリオ"/>
              </a:rPr>
              <a:t>公式アカウント</a:t>
            </a:r>
          </a:p>
        </p:txBody>
      </p:sp>
      <p:sp>
        <p:nvSpPr>
          <p:cNvPr id="92" name="Oval 59">
            <a:extLst>
              <a:ext uri="{FF2B5EF4-FFF2-40B4-BE49-F238E27FC236}">
                <a16:creationId xmlns:a16="http://schemas.microsoft.com/office/drawing/2014/main" id="{AE3F0BB7-CAA2-7DC4-5444-A62887C4147B}"/>
              </a:ext>
            </a:extLst>
          </p:cNvPr>
          <p:cNvSpPr/>
          <p:nvPr/>
        </p:nvSpPr>
        <p:spPr>
          <a:xfrm>
            <a:off x="3063240" y="2634342"/>
            <a:ext cx="274320" cy="274320"/>
          </a:xfrm>
          <a:prstGeom prst="ellipse">
            <a:avLst/>
          </a:prstGeom>
          <a:solidFill>
            <a:srgbClr val="1F2A5C"/>
          </a:solidFill>
          <a:ln w="19050">
            <a:solidFill>
              <a:srgbClr val="FFFFFF"/>
            </a:solidFill>
          </a:ln>
          <a:effectLst/>
        </p:spPr>
        <p:style>
          <a:lnRef idx="1">
            <a:schemeClr val="accent1"/>
          </a:lnRef>
          <a:fillRef idx="3">
            <a:schemeClr val="accent1"/>
          </a:fillRef>
          <a:effectRef idx="2">
            <a:schemeClr val="accent1"/>
          </a:effectRef>
          <a:fontRef idx="minor">
            <a:schemeClr val="lt1"/>
          </a:fontRef>
        </p:style>
        <p:txBody>
          <a:bodyPr wrap="square" lIns="0" tIns="18288" rIns="0" bIns="18288" rtlCol="0" anchor="ctr"/>
          <a:lstStyle/>
          <a:p>
            <a:pPr algn="ctr">
              <a:spcAft>
                <a:spcPts val="0"/>
              </a:spcAft>
            </a:pPr>
            <a:r>
              <a:rPr sz="1000" b="1">
                <a:solidFill>
                  <a:srgbClr val="FFFFFF"/>
                </a:solidFill>
                <a:latin typeface="メイリオ" panose="020B0604030504040204" pitchFamily="50" charset="-128"/>
                <a:ea typeface="メイリオ" panose="020B0604030504040204" pitchFamily="50" charset="-128"/>
                <a:cs typeface="メイリオ"/>
              </a:rPr>
              <a:t>2</a:t>
            </a:r>
          </a:p>
        </p:txBody>
      </p:sp>
      <p:sp>
        <p:nvSpPr>
          <p:cNvPr id="93" name="Oval 39">
            <a:extLst>
              <a:ext uri="{FF2B5EF4-FFF2-40B4-BE49-F238E27FC236}">
                <a16:creationId xmlns:a16="http://schemas.microsoft.com/office/drawing/2014/main" id="{BD5572D2-C987-F20B-3DAE-F41EEAF2F9EC}"/>
              </a:ext>
            </a:extLst>
          </p:cNvPr>
          <p:cNvSpPr/>
          <p:nvPr/>
        </p:nvSpPr>
        <p:spPr>
          <a:xfrm>
            <a:off x="3310128" y="2771502"/>
            <a:ext cx="237744" cy="237744"/>
          </a:xfrm>
          <a:prstGeom prst="ellipse">
            <a:avLst/>
          </a:prstGeom>
          <a:solidFill>
            <a:srgbClr val="FFFFFF"/>
          </a:solidFill>
          <a:ln w="19050">
            <a:solidFill>
              <a:srgbClr val="06C755"/>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endParaRPr sz="1100">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227854888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77116C-C503-AD0E-1DC9-89A610BC5463}"/>
            </a:ext>
          </a:extLst>
        </p:cNvPr>
        <p:cNvGrpSpPr/>
        <p:nvPr/>
      </p:nvGrpSpPr>
      <p:grpSpPr>
        <a:xfrm>
          <a:off x="0" y="0"/>
          <a:ext cx="0" cy="0"/>
          <a:chOff x="0" y="0"/>
          <a:chExt cx="0" cy="0"/>
        </a:xfrm>
      </p:grpSpPr>
      <p:sp>
        <p:nvSpPr>
          <p:cNvPr id="58" name="正方形/長方形 57">
            <a:extLst>
              <a:ext uri="{FF2B5EF4-FFF2-40B4-BE49-F238E27FC236}">
                <a16:creationId xmlns:a16="http://schemas.microsoft.com/office/drawing/2014/main" id="{3CAF7A2C-02DA-8C56-48F2-6F9C35F802AB}"/>
              </a:ext>
            </a:extLst>
          </p:cNvPr>
          <p:cNvSpPr/>
          <p:nvPr/>
        </p:nvSpPr>
        <p:spPr>
          <a:xfrm>
            <a:off x="96788" y="1045811"/>
            <a:ext cx="1935768" cy="21878"/>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100" b="1" dirty="0">
              <a:latin typeface="メイリオ" panose="020B0604030504040204" pitchFamily="50" charset="-128"/>
              <a:ea typeface="メイリオ" panose="020B0604030504040204" pitchFamily="50" charset="-128"/>
            </a:endParaRPr>
          </a:p>
        </p:txBody>
      </p:sp>
      <p:sp>
        <p:nvSpPr>
          <p:cNvPr id="3" name="正方形/長方形 2">
            <a:extLst>
              <a:ext uri="{FF2B5EF4-FFF2-40B4-BE49-F238E27FC236}">
                <a16:creationId xmlns:a16="http://schemas.microsoft.com/office/drawing/2014/main" id="{7E688361-05C3-950A-7ADB-027296FECB97}"/>
              </a:ext>
            </a:extLst>
          </p:cNvPr>
          <p:cNvSpPr/>
          <p:nvPr/>
        </p:nvSpPr>
        <p:spPr>
          <a:xfrm>
            <a:off x="96788" y="1645669"/>
            <a:ext cx="9687414" cy="3577"/>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100" b="1" dirty="0">
              <a:latin typeface="メイリオ" panose="020B0604030504040204" pitchFamily="50" charset="-128"/>
              <a:ea typeface="メイリオ" panose="020B0604030504040204" pitchFamily="50" charset="-128"/>
            </a:endParaRPr>
          </a:p>
        </p:txBody>
      </p:sp>
      <p:sp>
        <p:nvSpPr>
          <p:cNvPr id="5" name="テキスト ボックス 4">
            <a:extLst>
              <a:ext uri="{FF2B5EF4-FFF2-40B4-BE49-F238E27FC236}">
                <a16:creationId xmlns:a16="http://schemas.microsoft.com/office/drawing/2014/main" id="{0798B0F8-1488-15A2-554D-D8BA88CE6CBC}"/>
              </a:ext>
            </a:extLst>
          </p:cNvPr>
          <p:cNvSpPr txBox="1"/>
          <p:nvPr/>
        </p:nvSpPr>
        <p:spPr>
          <a:xfrm>
            <a:off x="96788" y="619405"/>
            <a:ext cx="4961186" cy="369332"/>
          </a:xfrm>
          <a:prstGeom prst="rect">
            <a:avLst/>
          </a:prstGeom>
          <a:noFill/>
        </p:spPr>
        <p:txBody>
          <a:bodyPr wrap="square">
            <a:spAutoFit/>
          </a:bodyPr>
          <a:lstStyle/>
          <a:p>
            <a:r>
              <a:rPr lang="en-US" altLang="ja-JP"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LINE</a:t>
            </a:r>
            <a:r>
              <a:rPr lang="ja-JP" altLang="en-US"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施策一覧</a:t>
            </a:r>
            <a:endParaRPr lang="ja-JP" altLang="en-US" sz="1100" dirty="0"/>
          </a:p>
        </p:txBody>
      </p:sp>
      <p:sp>
        <p:nvSpPr>
          <p:cNvPr id="7" name="テキスト ボックス 6">
            <a:extLst>
              <a:ext uri="{FF2B5EF4-FFF2-40B4-BE49-F238E27FC236}">
                <a16:creationId xmlns:a16="http://schemas.microsoft.com/office/drawing/2014/main" id="{C3DDC107-5B3F-A510-D857-9EB2AC13C8E6}"/>
              </a:ext>
            </a:extLst>
          </p:cNvPr>
          <p:cNvSpPr txBox="1"/>
          <p:nvPr/>
        </p:nvSpPr>
        <p:spPr>
          <a:xfrm>
            <a:off x="96788" y="1202790"/>
            <a:ext cx="9687414" cy="307777"/>
          </a:xfrm>
          <a:prstGeom prst="rect">
            <a:avLst/>
          </a:prstGeom>
          <a:noFill/>
        </p:spPr>
        <p:txBody>
          <a:bodyPr wrap="square">
            <a:spAutoFit/>
          </a:bodyPr>
          <a:lstStyle/>
          <a:p>
            <a:r>
              <a:rPr lang="ja-JP" altLang="en-US" sz="1400"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機能ごとの区分と、各施策への有効度</a:t>
            </a:r>
            <a:endParaRPr lang="ja-JP" altLang="en-US" sz="1000" dirty="0"/>
          </a:p>
        </p:txBody>
      </p:sp>
      <p:sp>
        <p:nvSpPr>
          <p:cNvPr id="9" name="テキスト ボックス 8">
            <a:extLst>
              <a:ext uri="{FF2B5EF4-FFF2-40B4-BE49-F238E27FC236}">
                <a16:creationId xmlns:a16="http://schemas.microsoft.com/office/drawing/2014/main" id="{E73117CB-A562-540A-5859-170849730990}"/>
              </a:ext>
            </a:extLst>
          </p:cNvPr>
          <p:cNvSpPr txBox="1"/>
          <p:nvPr/>
        </p:nvSpPr>
        <p:spPr>
          <a:xfrm>
            <a:off x="460785" y="91159"/>
            <a:ext cx="4961186" cy="369332"/>
          </a:xfrm>
          <a:prstGeom prst="rect">
            <a:avLst/>
          </a:prstGeom>
          <a:noFill/>
        </p:spPr>
        <p:txBody>
          <a:bodyPr wrap="square">
            <a:spAutoFit/>
          </a:bodyPr>
          <a:lstStyle/>
          <a:p>
            <a:r>
              <a:rPr lang="ja-JP" altLang="en-US" b="1" dirty="0">
                <a:solidFill>
                  <a:schemeClr val="tx1">
                    <a:lumMod val="75000"/>
                    <a:lumOff val="25000"/>
                  </a:schemeClr>
                </a:solidFill>
                <a:latin typeface="メイリオ" panose="020B0604030504040204" pitchFamily="50" charset="-128"/>
                <a:ea typeface="メイリオ" panose="020B0604030504040204" pitchFamily="50" charset="-128"/>
                <a:cs typeface="メイリオ" panose="020B0604030504040204" pitchFamily="50" charset="-128"/>
              </a:rPr>
              <a:t> 前提調査</a:t>
            </a:r>
            <a:endParaRPr lang="ja-JP" altLang="en-US" sz="1100" dirty="0"/>
          </a:p>
        </p:txBody>
      </p:sp>
      <p:sp>
        <p:nvSpPr>
          <p:cNvPr id="90" name="Rectangle 89">
            <a:extLst>
              <a:ext uri="{FF2B5EF4-FFF2-40B4-BE49-F238E27FC236}">
                <a16:creationId xmlns:a16="http://schemas.microsoft.com/office/drawing/2014/main" id="{D3CD1414-1712-221C-F683-DBEB34A5718E}"/>
              </a:ext>
            </a:extLst>
          </p:cNvPr>
          <p:cNvSpPr/>
          <p:nvPr/>
        </p:nvSpPr>
        <p:spPr>
          <a:xfrm>
            <a:off x="384048" y="6308486"/>
            <a:ext cx="91440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t"/>
          <a:lstStyle/>
          <a:p>
            <a:pPr algn="l">
              <a:spcAft>
                <a:spcPts val="300"/>
              </a:spcAft>
            </a:pPr>
            <a:r>
              <a:rPr sz="600" b="0" dirty="0">
                <a:solidFill>
                  <a:srgbClr val="777777"/>
                </a:solidFill>
                <a:latin typeface="メイリオ" panose="020B0604030504040204" pitchFamily="50" charset="-128"/>
                <a:ea typeface="メイリオ" panose="020B0604030504040204" pitchFamily="50" charset="-128"/>
                <a:cs typeface="メイリオ"/>
              </a:rPr>
              <a:t>※</a:t>
            </a:r>
            <a:r>
              <a:rPr sz="600" b="0" dirty="0" err="1">
                <a:solidFill>
                  <a:srgbClr val="777777"/>
                </a:solidFill>
                <a:latin typeface="メイリオ" panose="020B0604030504040204" pitchFamily="50" charset="-128"/>
                <a:ea typeface="メイリオ" panose="020B0604030504040204" pitchFamily="50" charset="-128"/>
                <a:cs typeface="メイリオ"/>
              </a:rPr>
              <a:t>ステップ配信・タグ・出し分けはAPI（拡張）ツールで実現するのが一般的。画面は動作イメージ（文言はサンプル</a:t>
            </a:r>
            <a:r>
              <a:rPr sz="600" b="0" dirty="0">
                <a:solidFill>
                  <a:srgbClr val="777777"/>
                </a:solidFill>
                <a:latin typeface="メイリオ" panose="020B0604030504040204" pitchFamily="50" charset="-128"/>
                <a:ea typeface="メイリオ" panose="020B0604030504040204" pitchFamily="50" charset="-128"/>
                <a:cs typeface="メイリオ"/>
              </a:rPr>
              <a:t>）</a:t>
            </a:r>
          </a:p>
        </p:txBody>
      </p:sp>
      <p:sp>
        <p:nvSpPr>
          <p:cNvPr id="95" name="Rectangle 3">
            <a:extLst>
              <a:ext uri="{FF2B5EF4-FFF2-40B4-BE49-F238E27FC236}">
                <a16:creationId xmlns:a16="http://schemas.microsoft.com/office/drawing/2014/main" id="{49EA327F-E96A-0E42-51BE-B55AF4253D76}"/>
              </a:ext>
            </a:extLst>
          </p:cNvPr>
          <p:cNvSpPr/>
          <p:nvPr/>
        </p:nvSpPr>
        <p:spPr>
          <a:xfrm>
            <a:off x="384048" y="1772236"/>
            <a:ext cx="2167128" cy="349135"/>
          </a:xfrm>
          <a:prstGeom prst="rect">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100" b="1">
                <a:solidFill>
                  <a:srgbClr val="FFFFFF"/>
                </a:solidFill>
                <a:latin typeface="メイリオ"/>
                <a:ea typeface="メイリオ"/>
                <a:cs typeface="メイリオ"/>
              </a:rPr>
              <a:t>機能</a:t>
            </a:r>
          </a:p>
        </p:txBody>
      </p:sp>
      <p:sp>
        <p:nvSpPr>
          <p:cNvPr id="97" name="Rectangle 4">
            <a:extLst>
              <a:ext uri="{FF2B5EF4-FFF2-40B4-BE49-F238E27FC236}">
                <a16:creationId xmlns:a16="http://schemas.microsoft.com/office/drawing/2014/main" id="{A8E732CD-14AC-5A08-4E7F-82ED6AF4AA6B}"/>
              </a:ext>
            </a:extLst>
          </p:cNvPr>
          <p:cNvSpPr/>
          <p:nvPr/>
        </p:nvSpPr>
        <p:spPr>
          <a:xfrm>
            <a:off x="2578608" y="1772236"/>
            <a:ext cx="1161288" cy="349135"/>
          </a:xfrm>
          <a:prstGeom prst="rect">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100" b="1">
                <a:solidFill>
                  <a:srgbClr val="FFFFFF"/>
                </a:solidFill>
                <a:latin typeface="メイリオ"/>
                <a:ea typeface="メイリオ"/>
                <a:cs typeface="メイリオ"/>
              </a:rPr>
              <a:t>区分</a:t>
            </a:r>
          </a:p>
        </p:txBody>
      </p:sp>
      <p:sp>
        <p:nvSpPr>
          <p:cNvPr id="99" name="Rectangle 5">
            <a:extLst>
              <a:ext uri="{FF2B5EF4-FFF2-40B4-BE49-F238E27FC236}">
                <a16:creationId xmlns:a16="http://schemas.microsoft.com/office/drawing/2014/main" id="{D2E91A74-DE49-482E-7EBE-AD0D0EE66A34}"/>
              </a:ext>
            </a:extLst>
          </p:cNvPr>
          <p:cNvSpPr/>
          <p:nvPr/>
        </p:nvSpPr>
        <p:spPr>
          <a:xfrm>
            <a:off x="3767328" y="1772236"/>
            <a:ext cx="1124712" cy="349135"/>
          </a:xfrm>
          <a:prstGeom prst="rect">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100" b="1">
                <a:solidFill>
                  <a:srgbClr val="FFFFFF"/>
                </a:solidFill>
                <a:latin typeface="メイリオ"/>
                <a:ea typeface="メイリオ"/>
                <a:cs typeface="メイリオ"/>
              </a:rPr>
              <a:t>1 露出強化</a:t>
            </a:r>
          </a:p>
        </p:txBody>
      </p:sp>
      <p:sp>
        <p:nvSpPr>
          <p:cNvPr id="101" name="Rectangle 6">
            <a:extLst>
              <a:ext uri="{FF2B5EF4-FFF2-40B4-BE49-F238E27FC236}">
                <a16:creationId xmlns:a16="http://schemas.microsoft.com/office/drawing/2014/main" id="{C4777D6E-7DF6-A05E-5153-229B34E8BA1D}"/>
              </a:ext>
            </a:extLst>
          </p:cNvPr>
          <p:cNvSpPr/>
          <p:nvPr/>
        </p:nvSpPr>
        <p:spPr>
          <a:xfrm>
            <a:off x="4919472" y="1772236"/>
            <a:ext cx="1124712" cy="349135"/>
          </a:xfrm>
          <a:prstGeom prst="rect">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100" b="1">
                <a:solidFill>
                  <a:srgbClr val="FFFFFF"/>
                </a:solidFill>
                <a:latin typeface="メイリオ"/>
                <a:ea typeface="メイリオ"/>
                <a:cs typeface="メイリオ"/>
              </a:rPr>
              <a:t>2 CV</a:t>
            </a:r>
          </a:p>
        </p:txBody>
      </p:sp>
      <p:sp>
        <p:nvSpPr>
          <p:cNvPr id="103" name="Rectangle 7">
            <a:extLst>
              <a:ext uri="{FF2B5EF4-FFF2-40B4-BE49-F238E27FC236}">
                <a16:creationId xmlns:a16="http://schemas.microsoft.com/office/drawing/2014/main" id="{7EC19AA3-119E-E5FD-C316-5A3BEA9CE35A}"/>
              </a:ext>
            </a:extLst>
          </p:cNvPr>
          <p:cNvSpPr/>
          <p:nvPr/>
        </p:nvSpPr>
        <p:spPr>
          <a:xfrm>
            <a:off x="6071616" y="1772236"/>
            <a:ext cx="1124712" cy="349135"/>
          </a:xfrm>
          <a:prstGeom prst="rect">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100" b="1">
                <a:solidFill>
                  <a:srgbClr val="FFFFFF"/>
                </a:solidFill>
                <a:latin typeface="メイリオ"/>
                <a:ea typeface="メイリオ"/>
                <a:cs typeface="メイリオ"/>
              </a:rPr>
              <a:t>3 LTV・質</a:t>
            </a:r>
          </a:p>
        </p:txBody>
      </p:sp>
      <p:sp>
        <p:nvSpPr>
          <p:cNvPr id="105" name="Rectangle 8">
            <a:extLst>
              <a:ext uri="{FF2B5EF4-FFF2-40B4-BE49-F238E27FC236}">
                <a16:creationId xmlns:a16="http://schemas.microsoft.com/office/drawing/2014/main" id="{54AC6625-CD1A-C326-598A-628F361B05A1}"/>
              </a:ext>
            </a:extLst>
          </p:cNvPr>
          <p:cNvSpPr/>
          <p:nvPr/>
        </p:nvSpPr>
        <p:spPr>
          <a:xfrm>
            <a:off x="7223760" y="1772236"/>
            <a:ext cx="1124712" cy="349135"/>
          </a:xfrm>
          <a:prstGeom prst="rect">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100" b="1">
                <a:solidFill>
                  <a:srgbClr val="FFFFFF"/>
                </a:solidFill>
                <a:latin typeface="メイリオ"/>
                <a:ea typeface="メイリオ"/>
                <a:cs typeface="メイリオ"/>
              </a:rPr>
              <a:t>4 リピート</a:t>
            </a:r>
          </a:p>
        </p:txBody>
      </p:sp>
      <p:sp>
        <p:nvSpPr>
          <p:cNvPr id="107" name="Rectangle 9">
            <a:extLst>
              <a:ext uri="{FF2B5EF4-FFF2-40B4-BE49-F238E27FC236}">
                <a16:creationId xmlns:a16="http://schemas.microsoft.com/office/drawing/2014/main" id="{5E88DC84-02C4-EEA1-3E9D-0DFFE020630D}"/>
              </a:ext>
            </a:extLst>
          </p:cNvPr>
          <p:cNvSpPr/>
          <p:nvPr/>
        </p:nvSpPr>
        <p:spPr>
          <a:xfrm>
            <a:off x="8375904" y="1772236"/>
            <a:ext cx="1124712" cy="349135"/>
          </a:xfrm>
          <a:prstGeom prst="rect">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100" b="1">
                <a:solidFill>
                  <a:srgbClr val="FFFFFF"/>
                </a:solidFill>
                <a:latin typeface="メイリオ"/>
                <a:ea typeface="メイリオ"/>
                <a:cs typeface="メイリオ"/>
              </a:rPr>
              <a:t>5 コミュニティ</a:t>
            </a:r>
          </a:p>
        </p:txBody>
      </p:sp>
      <p:sp>
        <p:nvSpPr>
          <p:cNvPr id="109" name="Rectangle 10">
            <a:extLst>
              <a:ext uri="{FF2B5EF4-FFF2-40B4-BE49-F238E27FC236}">
                <a16:creationId xmlns:a16="http://schemas.microsoft.com/office/drawing/2014/main" id="{F8AF94DD-6BD0-815B-7F96-916DA7A75686}"/>
              </a:ext>
            </a:extLst>
          </p:cNvPr>
          <p:cNvSpPr/>
          <p:nvPr/>
        </p:nvSpPr>
        <p:spPr>
          <a:xfrm>
            <a:off x="384048" y="2148229"/>
            <a:ext cx="2167128" cy="436213"/>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wrap="square" tIns="18288" bIns="18288" rtlCol="0" anchor="ctr"/>
          <a:lstStyle/>
          <a:p>
            <a:pPr algn="l">
              <a:spcAft>
                <a:spcPts val="0"/>
              </a:spcAft>
            </a:pPr>
            <a:r>
              <a:rPr sz="1100" b="1">
                <a:solidFill>
                  <a:srgbClr val="1F2A5C"/>
                </a:solidFill>
                <a:latin typeface="メイリオ"/>
                <a:ea typeface="メイリオ"/>
                <a:cs typeface="メイリオ"/>
              </a:rPr>
              <a:t>① ポップアップ</a:t>
            </a:r>
          </a:p>
        </p:txBody>
      </p:sp>
      <p:sp>
        <p:nvSpPr>
          <p:cNvPr id="111" name="Rectangle 11">
            <a:extLst>
              <a:ext uri="{FF2B5EF4-FFF2-40B4-BE49-F238E27FC236}">
                <a16:creationId xmlns:a16="http://schemas.microsoft.com/office/drawing/2014/main" id="{EAC07884-840F-9E39-DF22-1A68ACDBB41F}"/>
              </a:ext>
            </a:extLst>
          </p:cNvPr>
          <p:cNvSpPr/>
          <p:nvPr/>
        </p:nvSpPr>
        <p:spPr>
          <a:xfrm>
            <a:off x="2578608" y="2148229"/>
            <a:ext cx="1161288"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18288" tIns="18288" rIns="18288" bIns="18288" rtlCol="0" anchor="ctr"/>
          <a:lstStyle/>
          <a:p>
            <a:pPr algn="ctr">
              <a:spcAft>
                <a:spcPts val="0"/>
              </a:spcAft>
            </a:pPr>
            <a:r>
              <a:rPr sz="1000" b="1">
                <a:solidFill>
                  <a:srgbClr val="C8102E"/>
                </a:solidFill>
                <a:latin typeface="メイリオ"/>
                <a:ea typeface="メイリオ"/>
                <a:cs typeface="メイリオ"/>
              </a:rPr>
              <a:t>入口</a:t>
            </a:r>
          </a:p>
        </p:txBody>
      </p:sp>
      <p:sp>
        <p:nvSpPr>
          <p:cNvPr id="113" name="Rectangle 12">
            <a:extLst>
              <a:ext uri="{FF2B5EF4-FFF2-40B4-BE49-F238E27FC236}">
                <a16:creationId xmlns:a16="http://schemas.microsoft.com/office/drawing/2014/main" id="{311D7915-7E63-7CCC-0695-EFC6BA2C3ADA}"/>
              </a:ext>
            </a:extLst>
          </p:cNvPr>
          <p:cNvSpPr/>
          <p:nvPr/>
        </p:nvSpPr>
        <p:spPr>
          <a:xfrm>
            <a:off x="3767328" y="2148229"/>
            <a:ext cx="1124712"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600" b="1">
                <a:solidFill>
                  <a:srgbClr val="4A6FA5"/>
                </a:solidFill>
                <a:latin typeface="メイリオ"/>
                <a:ea typeface="メイリオ"/>
                <a:cs typeface="メイリオ"/>
              </a:rPr>
              <a:t>○</a:t>
            </a:r>
          </a:p>
        </p:txBody>
      </p:sp>
      <p:sp>
        <p:nvSpPr>
          <p:cNvPr id="115" name="Rectangle 13">
            <a:extLst>
              <a:ext uri="{FF2B5EF4-FFF2-40B4-BE49-F238E27FC236}">
                <a16:creationId xmlns:a16="http://schemas.microsoft.com/office/drawing/2014/main" id="{60BE805D-C095-F8E7-7A94-0B18AEB6F84C}"/>
              </a:ext>
            </a:extLst>
          </p:cNvPr>
          <p:cNvSpPr/>
          <p:nvPr/>
        </p:nvSpPr>
        <p:spPr>
          <a:xfrm>
            <a:off x="4919472" y="2148229"/>
            <a:ext cx="1124712" cy="436213"/>
          </a:xfrm>
          <a:prstGeom prst="rect">
            <a:avLst/>
          </a:prstGeom>
          <a:solidFill>
            <a:srgbClr val="FDF0F2"/>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600" b="1">
                <a:solidFill>
                  <a:srgbClr val="C8102E"/>
                </a:solidFill>
                <a:latin typeface="メイリオ"/>
                <a:ea typeface="メイリオ"/>
                <a:cs typeface="メイリオ"/>
              </a:rPr>
              <a:t>◎</a:t>
            </a:r>
          </a:p>
        </p:txBody>
      </p:sp>
      <p:sp>
        <p:nvSpPr>
          <p:cNvPr id="117" name="Rectangle 14">
            <a:extLst>
              <a:ext uri="{FF2B5EF4-FFF2-40B4-BE49-F238E27FC236}">
                <a16:creationId xmlns:a16="http://schemas.microsoft.com/office/drawing/2014/main" id="{39625F34-980E-D2C8-E6DD-8B8B44D77878}"/>
              </a:ext>
            </a:extLst>
          </p:cNvPr>
          <p:cNvSpPr/>
          <p:nvPr/>
        </p:nvSpPr>
        <p:spPr>
          <a:xfrm>
            <a:off x="6071616" y="2148229"/>
            <a:ext cx="1124712"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endParaRPr/>
          </a:p>
        </p:txBody>
      </p:sp>
      <p:sp>
        <p:nvSpPr>
          <p:cNvPr id="119" name="Rectangle 15">
            <a:extLst>
              <a:ext uri="{FF2B5EF4-FFF2-40B4-BE49-F238E27FC236}">
                <a16:creationId xmlns:a16="http://schemas.microsoft.com/office/drawing/2014/main" id="{24EDAC7A-83AC-8541-1B88-A1D93D0649D0}"/>
              </a:ext>
            </a:extLst>
          </p:cNvPr>
          <p:cNvSpPr/>
          <p:nvPr/>
        </p:nvSpPr>
        <p:spPr>
          <a:xfrm>
            <a:off x="7223760" y="2148229"/>
            <a:ext cx="1124712"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endParaRPr/>
          </a:p>
        </p:txBody>
      </p:sp>
      <p:sp>
        <p:nvSpPr>
          <p:cNvPr id="121" name="Rectangle 16">
            <a:extLst>
              <a:ext uri="{FF2B5EF4-FFF2-40B4-BE49-F238E27FC236}">
                <a16:creationId xmlns:a16="http://schemas.microsoft.com/office/drawing/2014/main" id="{4DC3437B-9697-00DC-A150-0F58E0E7685B}"/>
              </a:ext>
            </a:extLst>
          </p:cNvPr>
          <p:cNvSpPr/>
          <p:nvPr/>
        </p:nvSpPr>
        <p:spPr>
          <a:xfrm>
            <a:off x="8375904" y="2148229"/>
            <a:ext cx="1124712"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600" b="1">
                <a:solidFill>
                  <a:srgbClr val="4A6FA5"/>
                </a:solidFill>
                <a:latin typeface="メイリオ"/>
                <a:ea typeface="メイリオ"/>
                <a:cs typeface="メイリオ"/>
              </a:rPr>
              <a:t>○</a:t>
            </a:r>
          </a:p>
        </p:txBody>
      </p:sp>
      <p:sp>
        <p:nvSpPr>
          <p:cNvPr id="123" name="Rectangle 17">
            <a:extLst>
              <a:ext uri="{FF2B5EF4-FFF2-40B4-BE49-F238E27FC236}">
                <a16:creationId xmlns:a16="http://schemas.microsoft.com/office/drawing/2014/main" id="{A38047BC-377A-0AF5-F712-50F5C69AF30C}"/>
              </a:ext>
            </a:extLst>
          </p:cNvPr>
          <p:cNvSpPr/>
          <p:nvPr/>
        </p:nvSpPr>
        <p:spPr>
          <a:xfrm>
            <a:off x="384048" y="2643310"/>
            <a:ext cx="2167128" cy="436213"/>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wrap="square" tIns="18288" bIns="18288" rtlCol="0" anchor="ctr"/>
          <a:lstStyle/>
          <a:p>
            <a:pPr algn="l">
              <a:spcAft>
                <a:spcPts val="0"/>
              </a:spcAft>
            </a:pPr>
            <a:r>
              <a:rPr sz="1100" b="1">
                <a:solidFill>
                  <a:srgbClr val="1F2A5C"/>
                </a:solidFill>
                <a:latin typeface="メイリオ"/>
                <a:ea typeface="メイリオ"/>
                <a:cs typeface="メイリオ"/>
              </a:rPr>
              <a:t>② 挨拶メッセージ</a:t>
            </a:r>
          </a:p>
        </p:txBody>
      </p:sp>
      <p:sp>
        <p:nvSpPr>
          <p:cNvPr id="125" name="Rectangle 18">
            <a:extLst>
              <a:ext uri="{FF2B5EF4-FFF2-40B4-BE49-F238E27FC236}">
                <a16:creationId xmlns:a16="http://schemas.microsoft.com/office/drawing/2014/main" id="{A9F3AEF1-F5C3-F86D-A4DE-DC40884A3A77}"/>
              </a:ext>
            </a:extLst>
          </p:cNvPr>
          <p:cNvSpPr/>
          <p:nvPr/>
        </p:nvSpPr>
        <p:spPr>
          <a:xfrm>
            <a:off x="2578608" y="2643310"/>
            <a:ext cx="1161288"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18288" tIns="18288" rIns="18288" bIns="18288" rtlCol="0" anchor="ctr"/>
          <a:lstStyle/>
          <a:p>
            <a:pPr algn="ctr">
              <a:spcAft>
                <a:spcPts val="0"/>
              </a:spcAft>
            </a:pPr>
            <a:r>
              <a:rPr sz="1000" b="1">
                <a:solidFill>
                  <a:srgbClr val="1F2A5C"/>
                </a:solidFill>
                <a:latin typeface="メイリオ"/>
                <a:ea typeface="メイリオ"/>
                <a:cs typeface="メイリオ"/>
              </a:rPr>
              <a:t>初期標準</a:t>
            </a:r>
          </a:p>
        </p:txBody>
      </p:sp>
      <p:sp>
        <p:nvSpPr>
          <p:cNvPr id="127" name="Rectangle 19">
            <a:extLst>
              <a:ext uri="{FF2B5EF4-FFF2-40B4-BE49-F238E27FC236}">
                <a16:creationId xmlns:a16="http://schemas.microsoft.com/office/drawing/2014/main" id="{1A5FF7DD-0DFB-757E-EED7-59CFFD8427A5}"/>
              </a:ext>
            </a:extLst>
          </p:cNvPr>
          <p:cNvSpPr/>
          <p:nvPr/>
        </p:nvSpPr>
        <p:spPr>
          <a:xfrm>
            <a:off x="3767328" y="2643310"/>
            <a:ext cx="1124712"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endParaRPr/>
          </a:p>
        </p:txBody>
      </p:sp>
      <p:sp>
        <p:nvSpPr>
          <p:cNvPr id="129" name="Rectangle 20">
            <a:extLst>
              <a:ext uri="{FF2B5EF4-FFF2-40B4-BE49-F238E27FC236}">
                <a16:creationId xmlns:a16="http://schemas.microsoft.com/office/drawing/2014/main" id="{74E363AF-90CC-FE97-A178-1488F203CCC6}"/>
              </a:ext>
            </a:extLst>
          </p:cNvPr>
          <p:cNvSpPr/>
          <p:nvPr/>
        </p:nvSpPr>
        <p:spPr>
          <a:xfrm>
            <a:off x="4919472" y="2643310"/>
            <a:ext cx="1124712"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600" b="1">
                <a:solidFill>
                  <a:srgbClr val="4A6FA5"/>
                </a:solidFill>
                <a:latin typeface="メイリオ"/>
                <a:ea typeface="メイリオ"/>
                <a:cs typeface="メイリオ"/>
              </a:rPr>
              <a:t>○</a:t>
            </a:r>
          </a:p>
        </p:txBody>
      </p:sp>
      <p:sp>
        <p:nvSpPr>
          <p:cNvPr id="131" name="Rectangle 21">
            <a:extLst>
              <a:ext uri="{FF2B5EF4-FFF2-40B4-BE49-F238E27FC236}">
                <a16:creationId xmlns:a16="http://schemas.microsoft.com/office/drawing/2014/main" id="{6AC96041-BB43-D3DA-9D34-9C915166E941}"/>
              </a:ext>
            </a:extLst>
          </p:cNvPr>
          <p:cNvSpPr/>
          <p:nvPr/>
        </p:nvSpPr>
        <p:spPr>
          <a:xfrm>
            <a:off x="6071616" y="2643310"/>
            <a:ext cx="1124712" cy="436213"/>
          </a:xfrm>
          <a:prstGeom prst="rect">
            <a:avLst/>
          </a:prstGeom>
          <a:solidFill>
            <a:srgbClr val="FDF0F2"/>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600" b="1">
                <a:solidFill>
                  <a:srgbClr val="C8102E"/>
                </a:solidFill>
                <a:latin typeface="メイリオ"/>
                <a:ea typeface="メイリオ"/>
                <a:cs typeface="メイリオ"/>
              </a:rPr>
              <a:t>◎</a:t>
            </a:r>
          </a:p>
        </p:txBody>
      </p:sp>
      <p:sp>
        <p:nvSpPr>
          <p:cNvPr id="133" name="Rectangle 22">
            <a:extLst>
              <a:ext uri="{FF2B5EF4-FFF2-40B4-BE49-F238E27FC236}">
                <a16:creationId xmlns:a16="http://schemas.microsoft.com/office/drawing/2014/main" id="{06964474-BEB7-B1A3-7CC2-7091782D3005}"/>
              </a:ext>
            </a:extLst>
          </p:cNvPr>
          <p:cNvSpPr/>
          <p:nvPr/>
        </p:nvSpPr>
        <p:spPr>
          <a:xfrm>
            <a:off x="7223760" y="2643310"/>
            <a:ext cx="1124712"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endParaRPr/>
          </a:p>
        </p:txBody>
      </p:sp>
      <p:sp>
        <p:nvSpPr>
          <p:cNvPr id="135" name="Rectangle 23">
            <a:extLst>
              <a:ext uri="{FF2B5EF4-FFF2-40B4-BE49-F238E27FC236}">
                <a16:creationId xmlns:a16="http://schemas.microsoft.com/office/drawing/2014/main" id="{8D23914E-C971-EE96-4111-076CA6C88E76}"/>
              </a:ext>
            </a:extLst>
          </p:cNvPr>
          <p:cNvSpPr/>
          <p:nvPr/>
        </p:nvSpPr>
        <p:spPr>
          <a:xfrm>
            <a:off x="8375904" y="2643310"/>
            <a:ext cx="1124712"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600" b="1">
                <a:solidFill>
                  <a:srgbClr val="4A6FA5"/>
                </a:solidFill>
                <a:latin typeface="メイリオ"/>
                <a:ea typeface="メイリオ"/>
                <a:cs typeface="メイリオ"/>
              </a:rPr>
              <a:t>○</a:t>
            </a:r>
          </a:p>
        </p:txBody>
      </p:sp>
      <p:sp>
        <p:nvSpPr>
          <p:cNvPr id="137" name="Rectangle 24">
            <a:extLst>
              <a:ext uri="{FF2B5EF4-FFF2-40B4-BE49-F238E27FC236}">
                <a16:creationId xmlns:a16="http://schemas.microsoft.com/office/drawing/2014/main" id="{9A69F835-F2FD-D659-DCE3-F67F1A44358D}"/>
              </a:ext>
            </a:extLst>
          </p:cNvPr>
          <p:cNvSpPr/>
          <p:nvPr/>
        </p:nvSpPr>
        <p:spPr>
          <a:xfrm>
            <a:off x="384048" y="3138391"/>
            <a:ext cx="2167128" cy="436213"/>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wrap="square" tIns="18288" bIns="18288" rtlCol="0" anchor="ctr"/>
          <a:lstStyle/>
          <a:p>
            <a:pPr algn="l">
              <a:spcAft>
                <a:spcPts val="0"/>
              </a:spcAft>
            </a:pPr>
            <a:r>
              <a:rPr sz="1100" b="1">
                <a:solidFill>
                  <a:srgbClr val="1F2A5C"/>
                </a:solidFill>
                <a:latin typeface="メイリオ"/>
                <a:ea typeface="メイリオ"/>
                <a:cs typeface="メイリオ"/>
              </a:rPr>
              <a:t>③ アンケート</a:t>
            </a:r>
          </a:p>
        </p:txBody>
      </p:sp>
      <p:sp>
        <p:nvSpPr>
          <p:cNvPr id="139" name="Rectangle 25">
            <a:extLst>
              <a:ext uri="{FF2B5EF4-FFF2-40B4-BE49-F238E27FC236}">
                <a16:creationId xmlns:a16="http://schemas.microsoft.com/office/drawing/2014/main" id="{73D5E841-C5F6-49BC-FC6C-246893B9A073}"/>
              </a:ext>
            </a:extLst>
          </p:cNvPr>
          <p:cNvSpPr/>
          <p:nvPr/>
        </p:nvSpPr>
        <p:spPr>
          <a:xfrm>
            <a:off x="2578608" y="3138391"/>
            <a:ext cx="1161288"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18288" tIns="18288" rIns="18288" bIns="18288" rtlCol="0" anchor="ctr"/>
          <a:lstStyle/>
          <a:p>
            <a:pPr algn="ctr">
              <a:spcAft>
                <a:spcPts val="0"/>
              </a:spcAft>
            </a:pPr>
            <a:r>
              <a:rPr sz="1000" b="1">
                <a:solidFill>
                  <a:srgbClr val="C8102E"/>
                </a:solidFill>
                <a:latin typeface="メイリオ"/>
                <a:ea typeface="メイリオ"/>
                <a:cs typeface="メイリオ"/>
              </a:rPr>
              <a:t>運用</a:t>
            </a:r>
          </a:p>
        </p:txBody>
      </p:sp>
      <p:sp>
        <p:nvSpPr>
          <p:cNvPr id="141" name="Rectangle 26">
            <a:extLst>
              <a:ext uri="{FF2B5EF4-FFF2-40B4-BE49-F238E27FC236}">
                <a16:creationId xmlns:a16="http://schemas.microsoft.com/office/drawing/2014/main" id="{6E33CD1B-69FA-AAA6-AC07-587E543F496B}"/>
              </a:ext>
            </a:extLst>
          </p:cNvPr>
          <p:cNvSpPr/>
          <p:nvPr/>
        </p:nvSpPr>
        <p:spPr>
          <a:xfrm>
            <a:off x="3767328" y="3138391"/>
            <a:ext cx="1124712"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endParaRPr/>
          </a:p>
        </p:txBody>
      </p:sp>
      <p:sp>
        <p:nvSpPr>
          <p:cNvPr id="143" name="Rectangle 27">
            <a:extLst>
              <a:ext uri="{FF2B5EF4-FFF2-40B4-BE49-F238E27FC236}">
                <a16:creationId xmlns:a16="http://schemas.microsoft.com/office/drawing/2014/main" id="{B1237B51-61FD-415A-B88D-9D4093177C7E}"/>
              </a:ext>
            </a:extLst>
          </p:cNvPr>
          <p:cNvSpPr/>
          <p:nvPr/>
        </p:nvSpPr>
        <p:spPr>
          <a:xfrm>
            <a:off x="4919472" y="3138391"/>
            <a:ext cx="1124712"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600" b="1">
                <a:solidFill>
                  <a:srgbClr val="4A6FA5"/>
                </a:solidFill>
                <a:latin typeface="メイリオ"/>
                <a:ea typeface="メイリオ"/>
                <a:cs typeface="メイリオ"/>
              </a:rPr>
              <a:t>○</a:t>
            </a:r>
          </a:p>
        </p:txBody>
      </p:sp>
      <p:sp>
        <p:nvSpPr>
          <p:cNvPr id="145" name="Rectangle 28">
            <a:extLst>
              <a:ext uri="{FF2B5EF4-FFF2-40B4-BE49-F238E27FC236}">
                <a16:creationId xmlns:a16="http://schemas.microsoft.com/office/drawing/2014/main" id="{698EED6C-FFE7-DAA0-F5E4-938EB0082F32}"/>
              </a:ext>
            </a:extLst>
          </p:cNvPr>
          <p:cNvSpPr/>
          <p:nvPr/>
        </p:nvSpPr>
        <p:spPr>
          <a:xfrm>
            <a:off x="6071616" y="3138391"/>
            <a:ext cx="1124712" cy="436213"/>
          </a:xfrm>
          <a:prstGeom prst="rect">
            <a:avLst/>
          </a:prstGeom>
          <a:solidFill>
            <a:srgbClr val="FDF0F2"/>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600" b="1">
                <a:solidFill>
                  <a:srgbClr val="C8102E"/>
                </a:solidFill>
                <a:latin typeface="メイリオ"/>
                <a:ea typeface="メイリオ"/>
                <a:cs typeface="メイリオ"/>
              </a:rPr>
              <a:t>◎</a:t>
            </a:r>
          </a:p>
        </p:txBody>
      </p:sp>
      <p:sp>
        <p:nvSpPr>
          <p:cNvPr id="147" name="Rectangle 29">
            <a:extLst>
              <a:ext uri="{FF2B5EF4-FFF2-40B4-BE49-F238E27FC236}">
                <a16:creationId xmlns:a16="http://schemas.microsoft.com/office/drawing/2014/main" id="{39F28ADA-54CB-21A9-D4E0-5A9FC11D5B5E}"/>
              </a:ext>
            </a:extLst>
          </p:cNvPr>
          <p:cNvSpPr/>
          <p:nvPr/>
        </p:nvSpPr>
        <p:spPr>
          <a:xfrm>
            <a:off x="7223760" y="3138391"/>
            <a:ext cx="1124712"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600" b="1">
                <a:solidFill>
                  <a:srgbClr val="4A6FA5"/>
                </a:solidFill>
                <a:latin typeface="メイリオ"/>
                <a:ea typeface="メイリオ"/>
                <a:cs typeface="メイリオ"/>
              </a:rPr>
              <a:t>○</a:t>
            </a:r>
          </a:p>
        </p:txBody>
      </p:sp>
      <p:sp>
        <p:nvSpPr>
          <p:cNvPr id="149" name="Rectangle 30">
            <a:extLst>
              <a:ext uri="{FF2B5EF4-FFF2-40B4-BE49-F238E27FC236}">
                <a16:creationId xmlns:a16="http://schemas.microsoft.com/office/drawing/2014/main" id="{05051530-F83D-00C2-4F87-FEB4B1CF2797}"/>
              </a:ext>
            </a:extLst>
          </p:cNvPr>
          <p:cNvSpPr/>
          <p:nvPr/>
        </p:nvSpPr>
        <p:spPr>
          <a:xfrm>
            <a:off x="8375904" y="3138391"/>
            <a:ext cx="1124712"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endParaRPr/>
          </a:p>
        </p:txBody>
      </p:sp>
      <p:sp>
        <p:nvSpPr>
          <p:cNvPr id="151" name="Rectangle 31">
            <a:extLst>
              <a:ext uri="{FF2B5EF4-FFF2-40B4-BE49-F238E27FC236}">
                <a16:creationId xmlns:a16="http://schemas.microsoft.com/office/drawing/2014/main" id="{61A04942-3698-E590-BEA7-6EF906A190B1}"/>
              </a:ext>
            </a:extLst>
          </p:cNvPr>
          <p:cNvSpPr/>
          <p:nvPr/>
        </p:nvSpPr>
        <p:spPr>
          <a:xfrm>
            <a:off x="384048" y="3633472"/>
            <a:ext cx="2167128" cy="436213"/>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wrap="square" tIns="18288" bIns="18288" rtlCol="0" anchor="ctr"/>
          <a:lstStyle/>
          <a:p>
            <a:pPr algn="l">
              <a:spcAft>
                <a:spcPts val="0"/>
              </a:spcAft>
            </a:pPr>
            <a:r>
              <a:rPr sz="1100" b="1">
                <a:solidFill>
                  <a:srgbClr val="1F2A5C"/>
                </a:solidFill>
                <a:latin typeface="メイリオ"/>
                <a:ea typeface="メイリオ"/>
                <a:cs typeface="メイリオ"/>
              </a:rPr>
              <a:t>④ タグ・セグメント</a:t>
            </a:r>
          </a:p>
        </p:txBody>
      </p:sp>
      <p:sp>
        <p:nvSpPr>
          <p:cNvPr id="153" name="Rectangle 32">
            <a:extLst>
              <a:ext uri="{FF2B5EF4-FFF2-40B4-BE49-F238E27FC236}">
                <a16:creationId xmlns:a16="http://schemas.microsoft.com/office/drawing/2014/main" id="{1E39E853-C262-3BCD-C77F-9B94DE1F207C}"/>
              </a:ext>
            </a:extLst>
          </p:cNvPr>
          <p:cNvSpPr/>
          <p:nvPr/>
        </p:nvSpPr>
        <p:spPr>
          <a:xfrm>
            <a:off x="2578608" y="3633472"/>
            <a:ext cx="1161288"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18288" tIns="18288" rIns="18288" bIns="18288" rtlCol="0" anchor="ctr"/>
          <a:lstStyle/>
          <a:p>
            <a:pPr algn="ctr">
              <a:spcAft>
                <a:spcPts val="0"/>
              </a:spcAft>
            </a:pPr>
            <a:r>
              <a:rPr sz="1000" b="1">
                <a:solidFill>
                  <a:srgbClr val="C8102E"/>
                </a:solidFill>
                <a:latin typeface="メイリオ"/>
                <a:ea typeface="メイリオ"/>
                <a:cs typeface="メイリオ"/>
              </a:rPr>
              <a:t>運用</a:t>
            </a:r>
          </a:p>
        </p:txBody>
      </p:sp>
      <p:sp>
        <p:nvSpPr>
          <p:cNvPr id="155" name="Rectangle 33">
            <a:extLst>
              <a:ext uri="{FF2B5EF4-FFF2-40B4-BE49-F238E27FC236}">
                <a16:creationId xmlns:a16="http://schemas.microsoft.com/office/drawing/2014/main" id="{7DDE9A5B-F57A-CB76-B304-0E68CA66FC16}"/>
              </a:ext>
            </a:extLst>
          </p:cNvPr>
          <p:cNvSpPr/>
          <p:nvPr/>
        </p:nvSpPr>
        <p:spPr>
          <a:xfrm>
            <a:off x="3767328" y="3633472"/>
            <a:ext cx="1124712"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600" b="1">
                <a:solidFill>
                  <a:srgbClr val="4A6FA5"/>
                </a:solidFill>
                <a:latin typeface="メイリオ"/>
                <a:ea typeface="メイリオ"/>
                <a:cs typeface="メイリオ"/>
              </a:rPr>
              <a:t>○</a:t>
            </a:r>
          </a:p>
        </p:txBody>
      </p:sp>
      <p:sp>
        <p:nvSpPr>
          <p:cNvPr id="157" name="Rectangle 34">
            <a:extLst>
              <a:ext uri="{FF2B5EF4-FFF2-40B4-BE49-F238E27FC236}">
                <a16:creationId xmlns:a16="http://schemas.microsoft.com/office/drawing/2014/main" id="{3A07BE12-AC72-F155-28A9-47640CE9BCD1}"/>
              </a:ext>
            </a:extLst>
          </p:cNvPr>
          <p:cNvSpPr/>
          <p:nvPr/>
        </p:nvSpPr>
        <p:spPr>
          <a:xfrm>
            <a:off x="4919472" y="3633472"/>
            <a:ext cx="1124712"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endParaRPr/>
          </a:p>
        </p:txBody>
      </p:sp>
      <p:sp>
        <p:nvSpPr>
          <p:cNvPr id="159" name="Rectangle 35">
            <a:extLst>
              <a:ext uri="{FF2B5EF4-FFF2-40B4-BE49-F238E27FC236}">
                <a16:creationId xmlns:a16="http://schemas.microsoft.com/office/drawing/2014/main" id="{027726E8-B7E9-98DB-B7EA-DD4F11AB37AF}"/>
              </a:ext>
            </a:extLst>
          </p:cNvPr>
          <p:cNvSpPr/>
          <p:nvPr/>
        </p:nvSpPr>
        <p:spPr>
          <a:xfrm>
            <a:off x="6071616" y="3633472"/>
            <a:ext cx="1124712" cy="436213"/>
          </a:xfrm>
          <a:prstGeom prst="rect">
            <a:avLst/>
          </a:prstGeom>
          <a:solidFill>
            <a:srgbClr val="FDF0F2"/>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600" b="1">
                <a:solidFill>
                  <a:srgbClr val="C8102E"/>
                </a:solidFill>
                <a:latin typeface="メイリオ"/>
                <a:ea typeface="メイリオ"/>
                <a:cs typeface="メイリオ"/>
              </a:rPr>
              <a:t>◎</a:t>
            </a:r>
          </a:p>
        </p:txBody>
      </p:sp>
      <p:sp>
        <p:nvSpPr>
          <p:cNvPr id="161" name="Rectangle 36">
            <a:extLst>
              <a:ext uri="{FF2B5EF4-FFF2-40B4-BE49-F238E27FC236}">
                <a16:creationId xmlns:a16="http://schemas.microsoft.com/office/drawing/2014/main" id="{BD93EC24-9E89-5DFD-1A06-5A3F18ADE95C}"/>
              </a:ext>
            </a:extLst>
          </p:cNvPr>
          <p:cNvSpPr/>
          <p:nvPr/>
        </p:nvSpPr>
        <p:spPr>
          <a:xfrm>
            <a:off x="7223760" y="3633472"/>
            <a:ext cx="1124712" cy="436213"/>
          </a:xfrm>
          <a:prstGeom prst="rect">
            <a:avLst/>
          </a:prstGeom>
          <a:solidFill>
            <a:srgbClr val="FDF0F2"/>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600" b="1">
                <a:solidFill>
                  <a:srgbClr val="C8102E"/>
                </a:solidFill>
                <a:latin typeface="メイリオ"/>
                <a:ea typeface="メイリオ"/>
                <a:cs typeface="メイリオ"/>
              </a:rPr>
              <a:t>◎</a:t>
            </a:r>
          </a:p>
        </p:txBody>
      </p:sp>
      <p:sp>
        <p:nvSpPr>
          <p:cNvPr id="163" name="Rectangle 37">
            <a:extLst>
              <a:ext uri="{FF2B5EF4-FFF2-40B4-BE49-F238E27FC236}">
                <a16:creationId xmlns:a16="http://schemas.microsoft.com/office/drawing/2014/main" id="{CC63009F-72DA-DCD6-5469-085A390B1CFE}"/>
              </a:ext>
            </a:extLst>
          </p:cNvPr>
          <p:cNvSpPr/>
          <p:nvPr/>
        </p:nvSpPr>
        <p:spPr>
          <a:xfrm>
            <a:off x="8375904" y="3633472"/>
            <a:ext cx="1124712"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600" b="1">
                <a:solidFill>
                  <a:srgbClr val="4A6FA5"/>
                </a:solidFill>
                <a:latin typeface="メイリオ"/>
                <a:ea typeface="メイリオ"/>
                <a:cs typeface="メイリオ"/>
              </a:rPr>
              <a:t>○</a:t>
            </a:r>
          </a:p>
        </p:txBody>
      </p:sp>
      <p:sp>
        <p:nvSpPr>
          <p:cNvPr id="165" name="Rectangle 38">
            <a:extLst>
              <a:ext uri="{FF2B5EF4-FFF2-40B4-BE49-F238E27FC236}">
                <a16:creationId xmlns:a16="http://schemas.microsoft.com/office/drawing/2014/main" id="{7B60F0BC-54A4-8C7F-5CFA-B0D158A96A5B}"/>
              </a:ext>
            </a:extLst>
          </p:cNvPr>
          <p:cNvSpPr/>
          <p:nvPr/>
        </p:nvSpPr>
        <p:spPr>
          <a:xfrm>
            <a:off x="384048" y="4128552"/>
            <a:ext cx="2167128" cy="436213"/>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wrap="square" tIns="18288" bIns="18288" rtlCol="0" anchor="ctr"/>
          <a:lstStyle/>
          <a:p>
            <a:pPr algn="l">
              <a:spcAft>
                <a:spcPts val="0"/>
              </a:spcAft>
            </a:pPr>
            <a:r>
              <a:rPr sz="1100" b="1">
                <a:solidFill>
                  <a:srgbClr val="1F2A5C"/>
                </a:solidFill>
                <a:latin typeface="メイリオ"/>
                <a:ea typeface="メイリオ"/>
                <a:cs typeface="メイリオ"/>
              </a:rPr>
              <a:t>⑤ ステップ配信</a:t>
            </a:r>
          </a:p>
        </p:txBody>
      </p:sp>
      <p:sp>
        <p:nvSpPr>
          <p:cNvPr id="167" name="Rectangle 39">
            <a:extLst>
              <a:ext uri="{FF2B5EF4-FFF2-40B4-BE49-F238E27FC236}">
                <a16:creationId xmlns:a16="http://schemas.microsoft.com/office/drawing/2014/main" id="{806AF363-F59B-F87D-1131-F239AB9F2E26}"/>
              </a:ext>
            </a:extLst>
          </p:cNvPr>
          <p:cNvSpPr/>
          <p:nvPr/>
        </p:nvSpPr>
        <p:spPr>
          <a:xfrm>
            <a:off x="2578608" y="4128552"/>
            <a:ext cx="1161288"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18288" tIns="18288" rIns="18288" bIns="18288" rtlCol="0" anchor="ctr"/>
          <a:lstStyle/>
          <a:p>
            <a:pPr algn="ctr">
              <a:spcAft>
                <a:spcPts val="0"/>
              </a:spcAft>
            </a:pPr>
            <a:r>
              <a:rPr sz="1000" b="1">
                <a:solidFill>
                  <a:srgbClr val="C8102E"/>
                </a:solidFill>
                <a:latin typeface="メイリオ"/>
                <a:ea typeface="メイリオ"/>
                <a:cs typeface="メイリオ"/>
              </a:rPr>
              <a:t>運用</a:t>
            </a:r>
          </a:p>
        </p:txBody>
      </p:sp>
      <p:sp>
        <p:nvSpPr>
          <p:cNvPr id="169" name="Rectangle 40">
            <a:extLst>
              <a:ext uri="{FF2B5EF4-FFF2-40B4-BE49-F238E27FC236}">
                <a16:creationId xmlns:a16="http://schemas.microsoft.com/office/drawing/2014/main" id="{75CC7116-0D68-AEE0-F3AA-5738E7C9F663}"/>
              </a:ext>
            </a:extLst>
          </p:cNvPr>
          <p:cNvSpPr/>
          <p:nvPr/>
        </p:nvSpPr>
        <p:spPr>
          <a:xfrm>
            <a:off x="3767328" y="4128552"/>
            <a:ext cx="1124712"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endParaRPr/>
          </a:p>
        </p:txBody>
      </p:sp>
      <p:sp>
        <p:nvSpPr>
          <p:cNvPr id="171" name="Rectangle 41">
            <a:extLst>
              <a:ext uri="{FF2B5EF4-FFF2-40B4-BE49-F238E27FC236}">
                <a16:creationId xmlns:a16="http://schemas.microsoft.com/office/drawing/2014/main" id="{0331AD44-DDB1-9676-B388-6C92C21A0A0D}"/>
              </a:ext>
            </a:extLst>
          </p:cNvPr>
          <p:cNvSpPr/>
          <p:nvPr/>
        </p:nvSpPr>
        <p:spPr>
          <a:xfrm>
            <a:off x="4919472" y="4128552"/>
            <a:ext cx="1124712" cy="436213"/>
          </a:xfrm>
          <a:prstGeom prst="rect">
            <a:avLst/>
          </a:prstGeom>
          <a:solidFill>
            <a:srgbClr val="FDF0F2"/>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600" b="1">
                <a:solidFill>
                  <a:srgbClr val="C8102E"/>
                </a:solidFill>
                <a:latin typeface="メイリオ"/>
                <a:ea typeface="メイリオ"/>
                <a:cs typeface="メイリオ"/>
              </a:rPr>
              <a:t>◎</a:t>
            </a:r>
          </a:p>
        </p:txBody>
      </p:sp>
      <p:sp>
        <p:nvSpPr>
          <p:cNvPr id="173" name="Rectangle 42">
            <a:extLst>
              <a:ext uri="{FF2B5EF4-FFF2-40B4-BE49-F238E27FC236}">
                <a16:creationId xmlns:a16="http://schemas.microsoft.com/office/drawing/2014/main" id="{E8FFC0A2-2357-92B7-1C19-EEA69C76294B}"/>
              </a:ext>
            </a:extLst>
          </p:cNvPr>
          <p:cNvSpPr/>
          <p:nvPr/>
        </p:nvSpPr>
        <p:spPr>
          <a:xfrm>
            <a:off x="6071616" y="4128552"/>
            <a:ext cx="1124712" cy="436213"/>
          </a:xfrm>
          <a:prstGeom prst="rect">
            <a:avLst/>
          </a:prstGeom>
          <a:solidFill>
            <a:srgbClr val="FDF0F2"/>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600" b="1">
                <a:solidFill>
                  <a:srgbClr val="C8102E"/>
                </a:solidFill>
                <a:latin typeface="メイリオ"/>
                <a:ea typeface="メイリオ"/>
                <a:cs typeface="メイリオ"/>
              </a:rPr>
              <a:t>◎</a:t>
            </a:r>
          </a:p>
        </p:txBody>
      </p:sp>
      <p:sp>
        <p:nvSpPr>
          <p:cNvPr id="175" name="Rectangle 43">
            <a:extLst>
              <a:ext uri="{FF2B5EF4-FFF2-40B4-BE49-F238E27FC236}">
                <a16:creationId xmlns:a16="http://schemas.microsoft.com/office/drawing/2014/main" id="{6B13204F-831A-41C7-355D-11C8A35D7F53}"/>
              </a:ext>
            </a:extLst>
          </p:cNvPr>
          <p:cNvSpPr/>
          <p:nvPr/>
        </p:nvSpPr>
        <p:spPr>
          <a:xfrm>
            <a:off x="7223760" y="4128552"/>
            <a:ext cx="1124712"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600" b="1">
                <a:solidFill>
                  <a:srgbClr val="4A6FA5"/>
                </a:solidFill>
                <a:latin typeface="メイリオ"/>
                <a:ea typeface="メイリオ"/>
                <a:cs typeface="メイリオ"/>
              </a:rPr>
              <a:t>○</a:t>
            </a:r>
          </a:p>
        </p:txBody>
      </p:sp>
      <p:sp>
        <p:nvSpPr>
          <p:cNvPr id="177" name="Rectangle 44">
            <a:extLst>
              <a:ext uri="{FF2B5EF4-FFF2-40B4-BE49-F238E27FC236}">
                <a16:creationId xmlns:a16="http://schemas.microsoft.com/office/drawing/2014/main" id="{97032AD7-3026-A0FE-32F3-DD27D7313366}"/>
              </a:ext>
            </a:extLst>
          </p:cNvPr>
          <p:cNvSpPr/>
          <p:nvPr/>
        </p:nvSpPr>
        <p:spPr>
          <a:xfrm>
            <a:off x="8375904" y="4128552"/>
            <a:ext cx="1124712"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endParaRPr/>
          </a:p>
        </p:txBody>
      </p:sp>
      <p:sp>
        <p:nvSpPr>
          <p:cNvPr id="179" name="Rectangle 45">
            <a:extLst>
              <a:ext uri="{FF2B5EF4-FFF2-40B4-BE49-F238E27FC236}">
                <a16:creationId xmlns:a16="http://schemas.microsoft.com/office/drawing/2014/main" id="{3ADF3E0A-9911-06FB-98B2-85AD95D9DC05}"/>
              </a:ext>
            </a:extLst>
          </p:cNvPr>
          <p:cNvSpPr/>
          <p:nvPr/>
        </p:nvSpPr>
        <p:spPr>
          <a:xfrm>
            <a:off x="384048" y="4623634"/>
            <a:ext cx="2167128" cy="436213"/>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wrap="square" tIns="18288" bIns="18288" rtlCol="0" anchor="ctr"/>
          <a:lstStyle/>
          <a:p>
            <a:pPr algn="l">
              <a:spcAft>
                <a:spcPts val="0"/>
              </a:spcAft>
            </a:pPr>
            <a:r>
              <a:rPr sz="1100" b="1">
                <a:solidFill>
                  <a:srgbClr val="1F2A5C"/>
                </a:solidFill>
                <a:latin typeface="メイリオ"/>
                <a:ea typeface="メイリオ"/>
                <a:cs typeface="メイリオ"/>
              </a:rPr>
              <a:t>⑥ 企画配信</a:t>
            </a:r>
          </a:p>
        </p:txBody>
      </p:sp>
      <p:sp>
        <p:nvSpPr>
          <p:cNvPr id="181" name="Rectangle 46">
            <a:extLst>
              <a:ext uri="{FF2B5EF4-FFF2-40B4-BE49-F238E27FC236}">
                <a16:creationId xmlns:a16="http://schemas.microsoft.com/office/drawing/2014/main" id="{81A43C7F-2A31-08D4-D136-672F79B135F4}"/>
              </a:ext>
            </a:extLst>
          </p:cNvPr>
          <p:cNvSpPr/>
          <p:nvPr/>
        </p:nvSpPr>
        <p:spPr>
          <a:xfrm>
            <a:off x="2578608" y="4623634"/>
            <a:ext cx="1161288"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18288" tIns="18288" rIns="18288" bIns="18288" rtlCol="0" anchor="ctr"/>
          <a:lstStyle/>
          <a:p>
            <a:pPr algn="ctr">
              <a:spcAft>
                <a:spcPts val="0"/>
              </a:spcAft>
            </a:pPr>
            <a:r>
              <a:rPr sz="1000" b="1">
                <a:solidFill>
                  <a:srgbClr val="C8102E"/>
                </a:solidFill>
                <a:latin typeface="メイリオ"/>
                <a:ea typeface="メイリオ"/>
                <a:cs typeface="メイリオ"/>
              </a:rPr>
              <a:t>運用</a:t>
            </a:r>
          </a:p>
        </p:txBody>
      </p:sp>
      <p:sp>
        <p:nvSpPr>
          <p:cNvPr id="183" name="Rectangle 47">
            <a:extLst>
              <a:ext uri="{FF2B5EF4-FFF2-40B4-BE49-F238E27FC236}">
                <a16:creationId xmlns:a16="http://schemas.microsoft.com/office/drawing/2014/main" id="{AC663C8A-1A44-5E0D-18DB-CDEBA22BD084}"/>
              </a:ext>
            </a:extLst>
          </p:cNvPr>
          <p:cNvSpPr/>
          <p:nvPr/>
        </p:nvSpPr>
        <p:spPr>
          <a:xfrm>
            <a:off x="3767328" y="4623634"/>
            <a:ext cx="1124712" cy="436213"/>
          </a:xfrm>
          <a:prstGeom prst="rect">
            <a:avLst/>
          </a:prstGeom>
          <a:solidFill>
            <a:srgbClr val="FDF0F2"/>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600" b="1">
                <a:solidFill>
                  <a:srgbClr val="C8102E"/>
                </a:solidFill>
                <a:latin typeface="メイリオ"/>
                <a:ea typeface="メイリオ"/>
                <a:cs typeface="メイリオ"/>
              </a:rPr>
              <a:t>◎</a:t>
            </a:r>
          </a:p>
        </p:txBody>
      </p:sp>
      <p:sp>
        <p:nvSpPr>
          <p:cNvPr id="185" name="Rectangle 48">
            <a:extLst>
              <a:ext uri="{FF2B5EF4-FFF2-40B4-BE49-F238E27FC236}">
                <a16:creationId xmlns:a16="http://schemas.microsoft.com/office/drawing/2014/main" id="{593C58F8-7428-8726-B84F-B1A8BF819D76}"/>
              </a:ext>
            </a:extLst>
          </p:cNvPr>
          <p:cNvSpPr/>
          <p:nvPr/>
        </p:nvSpPr>
        <p:spPr>
          <a:xfrm>
            <a:off x="4919472" y="4623634"/>
            <a:ext cx="1124712" cy="436213"/>
          </a:xfrm>
          <a:prstGeom prst="rect">
            <a:avLst/>
          </a:prstGeom>
          <a:solidFill>
            <a:srgbClr val="FDF0F2"/>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600" b="1">
                <a:solidFill>
                  <a:srgbClr val="C8102E"/>
                </a:solidFill>
                <a:latin typeface="メイリオ"/>
                <a:ea typeface="メイリオ"/>
                <a:cs typeface="メイリオ"/>
              </a:rPr>
              <a:t>◎</a:t>
            </a:r>
          </a:p>
        </p:txBody>
      </p:sp>
      <p:sp>
        <p:nvSpPr>
          <p:cNvPr id="187" name="Rectangle 49">
            <a:extLst>
              <a:ext uri="{FF2B5EF4-FFF2-40B4-BE49-F238E27FC236}">
                <a16:creationId xmlns:a16="http://schemas.microsoft.com/office/drawing/2014/main" id="{623B2847-331D-6B25-8DD7-9819D7D1BA82}"/>
              </a:ext>
            </a:extLst>
          </p:cNvPr>
          <p:cNvSpPr/>
          <p:nvPr/>
        </p:nvSpPr>
        <p:spPr>
          <a:xfrm>
            <a:off x="6071616" y="4623634"/>
            <a:ext cx="1124712"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endParaRPr/>
          </a:p>
        </p:txBody>
      </p:sp>
      <p:sp>
        <p:nvSpPr>
          <p:cNvPr id="189" name="Rectangle 50">
            <a:extLst>
              <a:ext uri="{FF2B5EF4-FFF2-40B4-BE49-F238E27FC236}">
                <a16:creationId xmlns:a16="http://schemas.microsoft.com/office/drawing/2014/main" id="{EA6E0F6C-83E1-4256-F51C-9E8CC7E87158}"/>
              </a:ext>
            </a:extLst>
          </p:cNvPr>
          <p:cNvSpPr/>
          <p:nvPr/>
        </p:nvSpPr>
        <p:spPr>
          <a:xfrm>
            <a:off x="7223760" y="4623634"/>
            <a:ext cx="1124712" cy="436213"/>
          </a:xfrm>
          <a:prstGeom prst="rect">
            <a:avLst/>
          </a:prstGeom>
          <a:solidFill>
            <a:srgbClr val="FDF0F2"/>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600" b="1">
                <a:solidFill>
                  <a:srgbClr val="C8102E"/>
                </a:solidFill>
                <a:latin typeface="メイリオ"/>
                <a:ea typeface="メイリオ"/>
                <a:cs typeface="メイリオ"/>
              </a:rPr>
              <a:t>◎</a:t>
            </a:r>
          </a:p>
        </p:txBody>
      </p:sp>
      <p:sp>
        <p:nvSpPr>
          <p:cNvPr id="191" name="Rectangle 51">
            <a:extLst>
              <a:ext uri="{FF2B5EF4-FFF2-40B4-BE49-F238E27FC236}">
                <a16:creationId xmlns:a16="http://schemas.microsoft.com/office/drawing/2014/main" id="{30FBCC1D-C3D9-761F-4E3B-CDF1D885FD38}"/>
              </a:ext>
            </a:extLst>
          </p:cNvPr>
          <p:cNvSpPr/>
          <p:nvPr/>
        </p:nvSpPr>
        <p:spPr>
          <a:xfrm>
            <a:off x="8375904" y="4623634"/>
            <a:ext cx="1124712"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600" b="1">
                <a:solidFill>
                  <a:srgbClr val="4A6FA5"/>
                </a:solidFill>
                <a:latin typeface="メイリオ"/>
                <a:ea typeface="メイリオ"/>
                <a:cs typeface="メイリオ"/>
              </a:rPr>
              <a:t>○</a:t>
            </a:r>
          </a:p>
        </p:txBody>
      </p:sp>
      <p:sp>
        <p:nvSpPr>
          <p:cNvPr id="193" name="Rectangle 52">
            <a:extLst>
              <a:ext uri="{FF2B5EF4-FFF2-40B4-BE49-F238E27FC236}">
                <a16:creationId xmlns:a16="http://schemas.microsoft.com/office/drawing/2014/main" id="{9F969861-65E2-7DEA-1D8D-3C991DC6FCAD}"/>
              </a:ext>
            </a:extLst>
          </p:cNvPr>
          <p:cNvSpPr/>
          <p:nvPr/>
        </p:nvSpPr>
        <p:spPr>
          <a:xfrm>
            <a:off x="384048" y="5118715"/>
            <a:ext cx="2167128" cy="436213"/>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wrap="square" tIns="18288" bIns="18288" rtlCol="0" anchor="ctr"/>
          <a:lstStyle/>
          <a:p>
            <a:pPr algn="l">
              <a:spcAft>
                <a:spcPts val="0"/>
              </a:spcAft>
            </a:pPr>
            <a:r>
              <a:rPr sz="1100" b="1">
                <a:solidFill>
                  <a:srgbClr val="1F2A5C"/>
                </a:solidFill>
                <a:latin typeface="メイリオ"/>
                <a:ea typeface="メイリオ"/>
                <a:cs typeface="メイリオ"/>
              </a:rPr>
              <a:t>⑦ リッチメニュー</a:t>
            </a:r>
          </a:p>
        </p:txBody>
      </p:sp>
      <p:sp>
        <p:nvSpPr>
          <p:cNvPr id="195" name="Rectangle 53">
            <a:extLst>
              <a:ext uri="{FF2B5EF4-FFF2-40B4-BE49-F238E27FC236}">
                <a16:creationId xmlns:a16="http://schemas.microsoft.com/office/drawing/2014/main" id="{FEB00F4C-6D07-AD41-CDD3-7D400EE74D94}"/>
              </a:ext>
            </a:extLst>
          </p:cNvPr>
          <p:cNvSpPr/>
          <p:nvPr/>
        </p:nvSpPr>
        <p:spPr>
          <a:xfrm>
            <a:off x="2578608" y="5118715"/>
            <a:ext cx="1161288"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18288" tIns="18288" rIns="18288" bIns="18288" rtlCol="0" anchor="ctr"/>
          <a:lstStyle/>
          <a:p>
            <a:pPr algn="ctr">
              <a:spcAft>
                <a:spcPts val="0"/>
              </a:spcAft>
            </a:pPr>
            <a:r>
              <a:rPr sz="1000" b="1">
                <a:solidFill>
                  <a:srgbClr val="1F2A5C"/>
                </a:solidFill>
                <a:latin typeface="メイリオ"/>
                <a:ea typeface="メイリオ"/>
                <a:cs typeface="メイリオ"/>
              </a:rPr>
              <a:t>初期標準</a:t>
            </a:r>
          </a:p>
        </p:txBody>
      </p:sp>
      <p:sp>
        <p:nvSpPr>
          <p:cNvPr id="197" name="Rectangle 54">
            <a:extLst>
              <a:ext uri="{FF2B5EF4-FFF2-40B4-BE49-F238E27FC236}">
                <a16:creationId xmlns:a16="http://schemas.microsoft.com/office/drawing/2014/main" id="{474006B6-8EF9-5160-0A19-AAD059407EE5}"/>
              </a:ext>
            </a:extLst>
          </p:cNvPr>
          <p:cNvSpPr/>
          <p:nvPr/>
        </p:nvSpPr>
        <p:spPr>
          <a:xfrm>
            <a:off x="3767328" y="5118715"/>
            <a:ext cx="1124712"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endParaRPr/>
          </a:p>
        </p:txBody>
      </p:sp>
      <p:sp>
        <p:nvSpPr>
          <p:cNvPr id="199" name="Rectangle 55">
            <a:extLst>
              <a:ext uri="{FF2B5EF4-FFF2-40B4-BE49-F238E27FC236}">
                <a16:creationId xmlns:a16="http://schemas.microsoft.com/office/drawing/2014/main" id="{835DFC8E-494C-23F3-5A75-365D4389E0A1}"/>
              </a:ext>
            </a:extLst>
          </p:cNvPr>
          <p:cNvSpPr/>
          <p:nvPr/>
        </p:nvSpPr>
        <p:spPr>
          <a:xfrm>
            <a:off x="4919472" y="5118715"/>
            <a:ext cx="1124712" cy="436213"/>
          </a:xfrm>
          <a:prstGeom prst="rect">
            <a:avLst/>
          </a:prstGeom>
          <a:solidFill>
            <a:srgbClr val="FDF0F2"/>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600" b="1">
                <a:solidFill>
                  <a:srgbClr val="C8102E"/>
                </a:solidFill>
                <a:latin typeface="メイリオ"/>
                <a:ea typeface="メイリオ"/>
                <a:cs typeface="メイリオ"/>
              </a:rPr>
              <a:t>◎</a:t>
            </a:r>
          </a:p>
        </p:txBody>
      </p:sp>
      <p:sp>
        <p:nvSpPr>
          <p:cNvPr id="201" name="Rectangle 56">
            <a:extLst>
              <a:ext uri="{FF2B5EF4-FFF2-40B4-BE49-F238E27FC236}">
                <a16:creationId xmlns:a16="http://schemas.microsoft.com/office/drawing/2014/main" id="{508AA054-C140-CE04-06DD-6D9CFC991D51}"/>
              </a:ext>
            </a:extLst>
          </p:cNvPr>
          <p:cNvSpPr/>
          <p:nvPr/>
        </p:nvSpPr>
        <p:spPr>
          <a:xfrm>
            <a:off x="6071616" y="5118715"/>
            <a:ext cx="1124712"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endParaRPr/>
          </a:p>
        </p:txBody>
      </p:sp>
      <p:sp>
        <p:nvSpPr>
          <p:cNvPr id="203" name="Rectangle 57">
            <a:extLst>
              <a:ext uri="{FF2B5EF4-FFF2-40B4-BE49-F238E27FC236}">
                <a16:creationId xmlns:a16="http://schemas.microsoft.com/office/drawing/2014/main" id="{0A32F90C-518A-01EC-ACCD-61CF0DA46AE2}"/>
              </a:ext>
            </a:extLst>
          </p:cNvPr>
          <p:cNvSpPr/>
          <p:nvPr/>
        </p:nvSpPr>
        <p:spPr>
          <a:xfrm>
            <a:off x="7223760" y="5118715"/>
            <a:ext cx="1124712"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600" b="1">
                <a:solidFill>
                  <a:srgbClr val="4A6FA5"/>
                </a:solidFill>
                <a:latin typeface="メイリオ"/>
                <a:ea typeface="メイリオ"/>
                <a:cs typeface="メイリオ"/>
              </a:rPr>
              <a:t>○</a:t>
            </a:r>
          </a:p>
        </p:txBody>
      </p:sp>
      <p:sp>
        <p:nvSpPr>
          <p:cNvPr id="205" name="Rectangle 58">
            <a:extLst>
              <a:ext uri="{FF2B5EF4-FFF2-40B4-BE49-F238E27FC236}">
                <a16:creationId xmlns:a16="http://schemas.microsoft.com/office/drawing/2014/main" id="{E5905130-E57A-E645-DD15-13FCB3239157}"/>
              </a:ext>
            </a:extLst>
          </p:cNvPr>
          <p:cNvSpPr/>
          <p:nvPr/>
        </p:nvSpPr>
        <p:spPr>
          <a:xfrm>
            <a:off x="8375904" y="5118715"/>
            <a:ext cx="1124712"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600" b="1">
                <a:solidFill>
                  <a:srgbClr val="4A6FA5"/>
                </a:solidFill>
                <a:latin typeface="メイリオ"/>
                <a:ea typeface="メイリオ"/>
                <a:cs typeface="メイリオ"/>
              </a:rPr>
              <a:t>○</a:t>
            </a:r>
          </a:p>
        </p:txBody>
      </p:sp>
      <p:sp>
        <p:nvSpPr>
          <p:cNvPr id="207" name="Rectangle 59">
            <a:extLst>
              <a:ext uri="{FF2B5EF4-FFF2-40B4-BE49-F238E27FC236}">
                <a16:creationId xmlns:a16="http://schemas.microsoft.com/office/drawing/2014/main" id="{670A42D2-0E96-12D3-B85F-5BE6BFDE1675}"/>
              </a:ext>
            </a:extLst>
          </p:cNvPr>
          <p:cNvSpPr/>
          <p:nvPr/>
        </p:nvSpPr>
        <p:spPr>
          <a:xfrm>
            <a:off x="384048" y="5613796"/>
            <a:ext cx="2167128" cy="436213"/>
          </a:xfrm>
          <a:prstGeom prst="rect">
            <a:avLst/>
          </a:prstGeom>
          <a:solidFill>
            <a:srgbClr val="EEF1F8"/>
          </a:solidFill>
          <a:ln>
            <a:noFill/>
          </a:ln>
          <a:effectLst/>
        </p:spPr>
        <p:style>
          <a:lnRef idx="1">
            <a:schemeClr val="accent1"/>
          </a:lnRef>
          <a:fillRef idx="3">
            <a:schemeClr val="accent1"/>
          </a:fillRef>
          <a:effectRef idx="2">
            <a:schemeClr val="accent1"/>
          </a:effectRef>
          <a:fontRef idx="minor">
            <a:schemeClr val="lt1"/>
          </a:fontRef>
        </p:style>
        <p:txBody>
          <a:bodyPr wrap="square" tIns="18288" bIns="18288" rtlCol="0" anchor="ctr"/>
          <a:lstStyle/>
          <a:p>
            <a:pPr algn="l">
              <a:spcAft>
                <a:spcPts val="0"/>
              </a:spcAft>
            </a:pPr>
            <a:r>
              <a:rPr sz="1100" b="1">
                <a:solidFill>
                  <a:srgbClr val="1F2A5C"/>
                </a:solidFill>
                <a:latin typeface="メイリオ"/>
                <a:ea typeface="メイリオ"/>
                <a:cs typeface="メイリオ"/>
              </a:rPr>
              <a:t>⑧ 自動応答</a:t>
            </a:r>
          </a:p>
        </p:txBody>
      </p:sp>
      <p:sp>
        <p:nvSpPr>
          <p:cNvPr id="209" name="Rectangle 60">
            <a:extLst>
              <a:ext uri="{FF2B5EF4-FFF2-40B4-BE49-F238E27FC236}">
                <a16:creationId xmlns:a16="http://schemas.microsoft.com/office/drawing/2014/main" id="{BA384BB0-B57F-BDEA-8AFD-F70160763ED6}"/>
              </a:ext>
            </a:extLst>
          </p:cNvPr>
          <p:cNvSpPr/>
          <p:nvPr/>
        </p:nvSpPr>
        <p:spPr>
          <a:xfrm>
            <a:off x="2578608" y="5613796"/>
            <a:ext cx="1161288"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18288" tIns="18288" rIns="18288" bIns="18288" rtlCol="0" anchor="ctr"/>
          <a:lstStyle/>
          <a:p>
            <a:pPr algn="ctr">
              <a:spcAft>
                <a:spcPts val="0"/>
              </a:spcAft>
            </a:pPr>
            <a:r>
              <a:rPr sz="1000" b="1">
                <a:solidFill>
                  <a:srgbClr val="1F2A5C"/>
                </a:solidFill>
                <a:latin typeface="メイリオ"/>
                <a:ea typeface="メイリオ"/>
                <a:cs typeface="メイリオ"/>
              </a:rPr>
              <a:t>初期標準</a:t>
            </a:r>
          </a:p>
        </p:txBody>
      </p:sp>
      <p:sp>
        <p:nvSpPr>
          <p:cNvPr id="211" name="Rectangle 61">
            <a:extLst>
              <a:ext uri="{FF2B5EF4-FFF2-40B4-BE49-F238E27FC236}">
                <a16:creationId xmlns:a16="http://schemas.microsoft.com/office/drawing/2014/main" id="{8CF9A974-AF48-0226-F298-3354D9E8A871}"/>
              </a:ext>
            </a:extLst>
          </p:cNvPr>
          <p:cNvSpPr/>
          <p:nvPr/>
        </p:nvSpPr>
        <p:spPr>
          <a:xfrm>
            <a:off x="3767328" y="5613796"/>
            <a:ext cx="1124712"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endParaRPr/>
          </a:p>
        </p:txBody>
      </p:sp>
      <p:sp>
        <p:nvSpPr>
          <p:cNvPr id="213" name="Rectangle 62">
            <a:extLst>
              <a:ext uri="{FF2B5EF4-FFF2-40B4-BE49-F238E27FC236}">
                <a16:creationId xmlns:a16="http://schemas.microsoft.com/office/drawing/2014/main" id="{4AF384A8-31D1-31F4-4E26-ECFC1A5A1189}"/>
              </a:ext>
            </a:extLst>
          </p:cNvPr>
          <p:cNvSpPr/>
          <p:nvPr/>
        </p:nvSpPr>
        <p:spPr>
          <a:xfrm>
            <a:off x="4919472" y="5613796"/>
            <a:ext cx="1124712"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600" b="1">
                <a:solidFill>
                  <a:srgbClr val="4A6FA5"/>
                </a:solidFill>
                <a:latin typeface="メイリオ"/>
                <a:ea typeface="メイリオ"/>
                <a:cs typeface="メイリオ"/>
              </a:rPr>
              <a:t>○</a:t>
            </a:r>
          </a:p>
        </p:txBody>
      </p:sp>
      <p:sp>
        <p:nvSpPr>
          <p:cNvPr id="215" name="Rectangle 63">
            <a:extLst>
              <a:ext uri="{FF2B5EF4-FFF2-40B4-BE49-F238E27FC236}">
                <a16:creationId xmlns:a16="http://schemas.microsoft.com/office/drawing/2014/main" id="{EBB135C8-694D-04ED-2331-A114B5F6A2E2}"/>
              </a:ext>
            </a:extLst>
          </p:cNvPr>
          <p:cNvSpPr/>
          <p:nvPr/>
        </p:nvSpPr>
        <p:spPr>
          <a:xfrm>
            <a:off x="6071616" y="5613796"/>
            <a:ext cx="1124712"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600" b="1">
                <a:solidFill>
                  <a:srgbClr val="4A6FA5"/>
                </a:solidFill>
                <a:latin typeface="メイリオ"/>
                <a:ea typeface="メイリオ"/>
                <a:cs typeface="メイリオ"/>
              </a:rPr>
              <a:t>○</a:t>
            </a:r>
          </a:p>
        </p:txBody>
      </p:sp>
      <p:sp>
        <p:nvSpPr>
          <p:cNvPr id="217" name="Rectangle 64">
            <a:extLst>
              <a:ext uri="{FF2B5EF4-FFF2-40B4-BE49-F238E27FC236}">
                <a16:creationId xmlns:a16="http://schemas.microsoft.com/office/drawing/2014/main" id="{7BE70E8C-EF6D-E9D1-E47E-1FD6C3CCD3C9}"/>
              </a:ext>
            </a:extLst>
          </p:cNvPr>
          <p:cNvSpPr/>
          <p:nvPr/>
        </p:nvSpPr>
        <p:spPr>
          <a:xfrm>
            <a:off x="7223760" y="5613796"/>
            <a:ext cx="1124712"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endParaRPr/>
          </a:p>
        </p:txBody>
      </p:sp>
      <p:sp>
        <p:nvSpPr>
          <p:cNvPr id="219" name="Rectangle 65">
            <a:extLst>
              <a:ext uri="{FF2B5EF4-FFF2-40B4-BE49-F238E27FC236}">
                <a16:creationId xmlns:a16="http://schemas.microsoft.com/office/drawing/2014/main" id="{1EE8F08D-6C1C-22F4-2DD7-D1DDB06A7245}"/>
              </a:ext>
            </a:extLst>
          </p:cNvPr>
          <p:cNvSpPr/>
          <p:nvPr/>
        </p:nvSpPr>
        <p:spPr>
          <a:xfrm>
            <a:off x="8375904" y="5613796"/>
            <a:ext cx="1124712" cy="436213"/>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endParaRPr/>
          </a:p>
        </p:txBody>
      </p:sp>
      <p:sp>
        <p:nvSpPr>
          <p:cNvPr id="221" name="Rectangle 66">
            <a:extLst>
              <a:ext uri="{FF2B5EF4-FFF2-40B4-BE49-F238E27FC236}">
                <a16:creationId xmlns:a16="http://schemas.microsoft.com/office/drawing/2014/main" id="{5AB0CFB9-851A-14A5-120D-2BF5670B93F5}"/>
              </a:ext>
            </a:extLst>
          </p:cNvPr>
          <p:cNvSpPr/>
          <p:nvPr/>
        </p:nvSpPr>
        <p:spPr>
          <a:xfrm>
            <a:off x="384048" y="6124303"/>
            <a:ext cx="9144000" cy="27432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t"/>
          <a:lstStyle/>
          <a:p>
            <a:pPr algn="l">
              <a:spcAft>
                <a:spcPts val="300"/>
              </a:spcAft>
            </a:pPr>
            <a:r>
              <a:rPr sz="800" b="0" dirty="0">
                <a:solidFill>
                  <a:srgbClr val="777777"/>
                </a:solidFill>
                <a:latin typeface="メイリオ"/>
                <a:ea typeface="メイリオ"/>
                <a:cs typeface="メイリオ"/>
              </a:rPr>
              <a:t>※</a:t>
            </a:r>
            <a:r>
              <a:rPr sz="800" b="0" dirty="0" err="1">
                <a:solidFill>
                  <a:srgbClr val="777777"/>
                </a:solidFill>
                <a:latin typeface="メイリオ"/>
                <a:ea typeface="メイリオ"/>
                <a:cs typeface="メイリオ"/>
              </a:rPr>
              <a:t>当社想定の整理</a:t>
            </a:r>
            <a:r>
              <a:rPr sz="800" b="0" dirty="0">
                <a:solidFill>
                  <a:srgbClr val="777777"/>
                </a:solidFill>
                <a:latin typeface="メイリオ"/>
                <a:ea typeface="メイリオ"/>
                <a:cs typeface="メイリオ"/>
              </a:rPr>
              <a:t>。「</a:t>
            </a:r>
            <a:r>
              <a:rPr sz="800" b="0" dirty="0" err="1">
                <a:solidFill>
                  <a:srgbClr val="777777"/>
                </a:solidFill>
                <a:latin typeface="メイリオ"/>
                <a:ea typeface="メイリオ"/>
                <a:cs typeface="メイリオ"/>
              </a:rPr>
              <a:t>初期標準」は構築時に設定する標準機能</a:t>
            </a:r>
            <a:r>
              <a:rPr sz="800" b="0" dirty="0">
                <a:solidFill>
                  <a:srgbClr val="777777"/>
                </a:solidFill>
                <a:latin typeface="メイリオ"/>
                <a:ea typeface="メイリオ"/>
                <a:cs typeface="メイリオ"/>
              </a:rPr>
              <a:t>、「</a:t>
            </a:r>
            <a:r>
              <a:rPr sz="800" b="0" dirty="0" err="1">
                <a:solidFill>
                  <a:srgbClr val="777777"/>
                </a:solidFill>
                <a:latin typeface="メイリオ"/>
                <a:ea typeface="メイリオ"/>
                <a:cs typeface="メイリオ"/>
              </a:rPr>
              <a:t>運用</a:t>
            </a:r>
            <a:r>
              <a:rPr sz="800" b="0" dirty="0">
                <a:solidFill>
                  <a:srgbClr val="777777"/>
                </a:solidFill>
                <a:latin typeface="メイリオ"/>
                <a:ea typeface="メイリオ"/>
                <a:cs typeface="メイリオ"/>
              </a:rPr>
              <a:t>」「</a:t>
            </a:r>
            <a:r>
              <a:rPr sz="800" b="0" dirty="0" err="1">
                <a:solidFill>
                  <a:srgbClr val="777777"/>
                </a:solidFill>
                <a:latin typeface="メイリオ"/>
                <a:ea typeface="メイリオ"/>
                <a:cs typeface="メイリオ"/>
              </a:rPr>
              <a:t>入口」は運用しながら改善する施策</a:t>
            </a:r>
            <a:endParaRPr sz="800" b="0" dirty="0">
              <a:solidFill>
                <a:srgbClr val="777777"/>
              </a:solidFill>
              <a:latin typeface="メイリオ"/>
              <a:ea typeface="メイリオ"/>
              <a:cs typeface="メイリオ"/>
            </a:endParaRPr>
          </a:p>
        </p:txBody>
      </p:sp>
    </p:spTree>
    <p:extLst>
      <p:ext uri="{BB962C8B-B14F-4D97-AF65-F5344CB8AC3E}">
        <p14:creationId xmlns:p14="http://schemas.microsoft.com/office/powerpoint/2010/main" val="258793652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Google Shape;752;p28">
            <a:extLst>
              <a:ext uri="{FF2B5EF4-FFF2-40B4-BE49-F238E27FC236}">
                <a16:creationId xmlns:a16="http://schemas.microsoft.com/office/drawing/2014/main" id="{65A1212B-9A99-C03C-9B39-B48B0013BC68}"/>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施策の考え方（短期：ステップ配信）</a:t>
            </a:r>
          </a:p>
        </p:txBody>
      </p:sp>
      <p:sp>
        <p:nvSpPr>
          <p:cNvPr id="8" name="正方形/長方形 7">
            <a:extLst>
              <a:ext uri="{FF2B5EF4-FFF2-40B4-BE49-F238E27FC236}">
                <a16:creationId xmlns:a16="http://schemas.microsoft.com/office/drawing/2014/main" id="{77655FAD-2CE9-1ACF-42D9-A55667D797D3}"/>
              </a:ext>
            </a:extLst>
          </p:cNvPr>
          <p:cNvSpPr/>
          <p:nvPr/>
        </p:nvSpPr>
        <p:spPr>
          <a:xfrm>
            <a:off x="0" y="777240"/>
            <a:ext cx="1802674" cy="502920"/>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400" dirty="0">
                <a:latin typeface="メイリオ" panose="020B0604030504040204" pitchFamily="50" charset="-128"/>
                <a:ea typeface="メイリオ" panose="020B0604030504040204" pitchFamily="50" charset="-128"/>
              </a:rPr>
              <a:t>ステップ配信</a:t>
            </a:r>
            <a:endParaRPr kumimoji="1" lang="ja-JP" altLang="en-US" sz="1400" dirty="0">
              <a:latin typeface="メイリオ" panose="020B0604030504040204" pitchFamily="50" charset="-128"/>
              <a:ea typeface="メイリオ" panose="020B0604030504040204" pitchFamily="50" charset="-128"/>
            </a:endParaRPr>
          </a:p>
        </p:txBody>
      </p:sp>
      <p:sp>
        <p:nvSpPr>
          <p:cNvPr id="10" name="Google Shape;752;p28">
            <a:extLst>
              <a:ext uri="{FF2B5EF4-FFF2-40B4-BE49-F238E27FC236}">
                <a16:creationId xmlns:a16="http://schemas.microsoft.com/office/drawing/2014/main" id="{B56FE2F8-7980-8B94-6C87-C3C5C519D1BB}"/>
              </a:ext>
            </a:extLst>
          </p:cNvPr>
          <p:cNvSpPr txBox="1"/>
          <p:nvPr/>
        </p:nvSpPr>
        <p:spPr>
          <a:xfrm>
            <a:off x="1988819" y="736332"/>
            <a:ext cx="7774305" cy="584735"/>
          </a:xfrm>
          <a:prstGeom prst="rect">
            <a:avLst/>
          </a:prstGeom>
          <a:noFill/>
          <a:ln>
            <a:noFill/>
          </a:ln>
        </p:spPr>
        <p:txBody>
          <a:bodyPr spcFirstLastPara="1" wrap="square" lIns="91425" tIns="45700" rIns="91425" bIns="45700" anchor="ctr" anchorCtr="0">
            <a:spAutoFit/>
          </a:bodyPr>
          <a:lstStyle/>
          <a:p>
            <a:r>
              <a:rPr lang="ja-JP" altLang="en-US" sz="1600" b="1" dirty="0">
                <a:latin typeface="メイリオ" panose="020B0604030504040204" pitchFamily="50" charset="-128"/>
                <a:ea typeface="メイリオ" panose="020B0604030504040204" pitchFamily="50" charset="-128"/>
                <a:cs typeface="Meiryo"/>
                <a:sym typeface="Meiryo"/>
              </a:rPr>
              <a:t>ユーザーニーズが高まったタイミング（業界キーワードの検索）を軸に</a:t>
            </a:r>
            <a:endParaRPr lang="en-US" altLang="ja-JP" sz="1600" b="1" dirty="0">
              <a:latin typeface="メイリオ" panose="020B0604030504040204" pitchFamily="50" charset="-128"/>
              <a:ea typeface="メイリオ" panose="020B0604030504040204" pitchFamily="50" charset="-128"/>
              <a:cs typeface="Meiryo"/>
              <a:sym typeface="Meiryo"/>
            </a:endParaRPr>
          </a:p>
          <a:p>
            <a:r>
              <a:rPr lang="ja-JP" altLang="en-US" sz="1600" b="1" dirty="0">
                <a:latin typeface="メイリオ" panose="020B0604030504040204" pitchFamily="50" charset="-128"/>
                <a:ea typeface="メイリオ" panose="020B0604030504040204" pitchFamily="50" charset="-128"/>
                <a:cs typeface="Meiryo"/>
                <a:sym typeface="Meiryo"/>
              </a:rPr>
              <a:t>比較されるサービスや懸念軸を参照し、ステップ配信を構築。</a:t>
            </a:r>
            <a:endParaRPr lang="en-US" altLang="ja-JP" sz="1600" b="1" dirty="0">
              <a:latin typeface="メイリオ" panose="020B0604030504040204" pitchFamily="50" charset="-128"/>
              <a:ea typeface="メイリオ" panose="020B0604030504040204" pitchFamily="50" charset="-128"/>
              <a:cs typeface="Meiryo"/>
              <a:sym typeface="Meiryo"/>
            </a:endParaRPr>
          </a:p>
        </p:txBody>
      </p:sp>
      <p:sp>
        <p:nvSpPr>
          <p:cNvPr id="877" name="四角形: 角を丸くする 876">
            <a:extLst>
              <a:ext uri="{FF2B5EF4-FFF2-40B4-BE49-F238E27FC236}">
                <a16:creationId xmlns:a16="http://schemas.microsoft.com/office/drawing/2014/main" id="{A27EA2E2-51F5-1DC6-547F-CC48303CA4E1}"/>
              </a:ext>
            </a:extLst>
          </p:cNvPr>
          <p:cNvSpPr/>
          <p:nvPr/>
        </p:nvSpPr>
        <p:spPr>
          <a:xfrm>
            <a:off x="4756154" y="160947"/>
            <a:ext cx="1752679" cy="269057"/>
          </a:xfrm>
          <a:prstGeom prst="roundRect">
            <a:avLst/>
          </a:prstGeom>
          <a:solidFill>
            <a:schemeClr val="bg1"/>
          </a:solidFill>
          <a:ln w="9525">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b="1" dirty="0">
                <a:solidFill>
                  <a:schemeClr val="tx1">
                    <a:lumMod val="65000"/>
                    <a:lumOff val="35000"/>
                  </a:schemeClr>
                </a:solidFill>
                <a:latin typeface="メイリオ" panose="020B0604030504040204" pitchFamily="50" charset="-128"/>
                <a:ea typeface="メイリオ" panose="020B0604030504040204" pitchFamily="50" charset="-128"/>
              </a:rPr>
              <a:t>ご提案時に詳細記載</a:t>
            </a:r>
          </a:p>
        </p:txBody>
      </p:sp>
      <p:pic>
        <p:nvPicPr>
          <p:cNvPr id="262" name="前後検索 派遣 登録（色分け）">
            <a:extLst>
              <a:ext uri="{FF2B5EF4-FFF2-40B4-BE49-F238E27FC236}">
                <a16:creationId xmlns:a16="http://schemas.microsoft.com/office/drawing/2014/main" id="{B2125166-5E25-29DA-D966-FEA0209E7D28}"/>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70698" y="2159248"/>
            <a:ext cx="7040655" cy="4107050"/>
          </a:xfrm>
          <a:prstGeom prst="rect">
            <a:avLst/>
          </a:prstGeom>
        </p:spPr>
      </p:pic>
      <p:sp>
        <p:nvSpPr>
          <p:cNvPr id="263" name="正方形/長方形 262">
            <a:extLst>
              <a:ext uri="{FF2B5EF4-FFF2-40B4-BE49-F238E27FC236}">
                <a16:creationId xmlns:a16="http://schemas.microsoft.com/office/drawing/2014/main" id="{748363DA-2C29-7135-6BD0-55F74CF1062A}"/>
              </a:ext>
            </a:extLst>
          </p:cNvPr>
          <p:cNvSpPr/>
          <p:nvPr/>
        </p:nvSpPr>
        <p:spPr>
          <a:xfrm>
            <a:off x="1141763" y="6219402"/>
            <a:ext cx="3202899" cy="226123"/>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50" b="1" dirty="0">
                <a:solidFill>
                  <a:schemeClr val="tx1"/>
                </a:solidFill>
                <a:latin typeface="メイリオ" panose="020B0604030504040204" pitchFamily="50" charset="-128"/>
                <a:ea typeface="メイリオ" panose="020B0604030504040204" pitchFamily="50" charset="-128"/>
              </a:rPr>
              <a:t>該当ワードの検索</a:t>
            </a:r>
            <a:r>
              <a:rPr kumimoji="1" lang="en-US" altLang="ja-JP" sz="1050" b="1" dirty="0">
                <a:solidFill>
                  <a:schemeClr val="tx1"/>
                </a:solidFill>
                <a:latin typeface="メイリオ" panose="020B0604030504040204" pitchFamily="50" charset="-128"/>
                <a:ea typeface="メイリオ" panose="020B0604030504040204" pitchFamily="50" charset="-128"/>
              </a:rPr>
              <a:t>”</a:t>
            </a:r>
            <a:r>
              <a:rPr kumimoji="1" lang="ja-JP" altLang="en-US" sz="1050" b="1" dirty="0">
                <a:solidFill>
                  <a:schemeClr val="tx1"/>
                </a:solidFill>
                <a:latin typeface="メイリオ" panose="020B0604030504040204" pitchFamily="50" charset="-128"/>
                <a:ea typeface="メイリオ" panose="020B0604030504040204" pitchFamily="50" charset="-128"/>
              </a:rPr>
              <a:t>前</a:t>
            </a:r>
            <a:r>
              <a:rPr kumimoji="1" lang="en-US" altLang="ja-JP" sz="1050" b="1" dirty="0">
                <a:solidFill>
                  <a:schemeClr val="tx1"/>
                </a:solidFill>
                <a:latin typeface="メイリオ" panose="020B0604030504040204" pitchFamily="50" charset="-128"/>
                <a:ea typeface="メイリオ" panose="020B0604030504040204" pitchFamily="50" charset="-128"/>
              </a:rPr>
              <a:t>”15</a:t>
            </a:r>
            <a:r>
              <a:rPr kumimoji="1" lang="ja-JP" altLang="en-US" sz="1050" b="1" dirty="0">
                <a:solidFill>
                  <a:schemeClr val="tx1"/>
                </a:solidFill>
                <a:latin typeface="メイリオ" panose="020B0604030504040204" pitchFamily="50" charset="-128"/>
                <a:ea typeface="メイリオ" panose="020B0604030504040204" pitchFamily="50" charset="-128"/>
              </a:rPr>
              <a:t>日</a:t>
            </a:r>
          </a:p>
        </p:txBody>
      </p:sp>
      <p:sp>
        <p:nvSpPr>
          <p:cNvPr id="264" name="正方形/長方形 263">
            <a:extLst>
              <a:ext uri="{FF2B5EF4-FFF2-40B4-BE49-F238E27FC236}">
                <a16:creationId xmlns:a16="http://schemas.microsoft.com/office/drawing/2014/main" id="{E30C2E59-75D1-61B8-7100-9431FCDA1BB0}"/>
              </a:ext>
            </a:extLst>
          </p:cNvPr>
          <p:cNvSpPr/>
          <p:nvPr/>
        </p:nvSpPr>
        <p:spPr>
          <a:xfrm>
            <a:off x="4454391" y="6219402"/>
            <a:ext cx="3400636" cy="226123"/>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50" b="1" dirty="0">
                <a:solidFill>
                  <a:schemeClr val="tx1"/>
                </a:solidFill>
                <a:latin typeface="メイリオ" panose="020B0604030504040204" pitchFamily="50" charset="-128"/>
                <a:ea typeface="メイリオ" panose="020B0604030504040204" pitchFamily="50" charset="-128"/>
              </a:rPr>
              <a:t>該当ワードの検索</a:t>
            </a:r>
            <a:r>
              <a:rPr lang="en-US" altLang="ja-JP" sz="1050" b="1" dirty="0">
                <a:solidFill>
                  <a:schemeClr val="tx1"/>
                </a:solidFill>
                <a:latin typeface="メイリオ" panose="020B0604030504040204" pitchFamily="50" charset="-128"/>
                <a:ea typeface="メイリオ" panose="020B0604030504040204" pitchFamily="50" charset="-128"/>
              </a:rPr>
              <a:t>”</a:t>
            </a:r>
            <a:r>
              <a:rPr lang="ja-JP" altLang="en-US" sz="1050" b="1" dirty="0">
                <a:solidFill>
                  <a:schemeClr val="tx1"/>
                </a:solidFill>
                <a:latin typeface="メイリオ" panose="020B0604030504040204" pitchFamily="50" charset="-128"/>
                <a:ea typeface="メイリオ" panose="020B0604030504040204" pitchFamily="50" charset="-128"/>
              </a:rPr>
              <a:t>後</a:t>
            </a:r>
            <a:r>
              <a:rPr lang="en-US" altLang="ja-JP" sz="1050" b="1" dirty="0">
                <a:solidFill>
                  <a:schemeClr val="tx1"/>
                </a:solidFill>
                <a:latin typeface="メイリオ" panose="020B0604030504040204" pitchFamily="50" charset="-128"/>
                <a:ea typeface="メイリオ" panose="020B0604030504040204" pitchFamily="50" charset="-128"/>
              </a:rPr>
              <a:t>”15</a:t>
            </a:r>
            <a:r>
              <a:rPr lang="ja-JP" altLang="en-US" sz="1050" b="1" dirty="0">
                <a:solidFill>
                  <a:schemeClr val="tx1"/>
                </a:solidFill>
                <a:latin typeface="メイリオ" panose="020B0604030504040204" pitchFamily="50" charset="-128"/>
                <a:ea typeface="メイリオ" panose="020B0604030504040204" pitchFamily="50" charset="-128"/>
              </a:rPr>
              <a:t>日</a:t>
            </a:r>
          </a:p>
        </p:txBody>
      </p:sp>
      <p:cxnSp>
        <p:nvCxnSpPr>
          <p:cNvPr id="265" name="直線矢印コネクタ 264">
            <a:extLst>
              <a:ext uri="{FF2B5EF4-FFF2-40B4-BE49-F238E27FC236}">
                <a16:creationId xmlns:a16="http://schemas.microsoft.com/office/drawing/2014/main" id="{D5256C44-BCFD-25DA-BA57-DCD0FDFF9A61}"/>
              </a:ext>
            </a:extLst>
          </p:cNvPr>
          <p:cNvCxnSpPr>
            <a:cxnSpLocks/>
          </p:cNvCxnSpPr>
          <p:nvPr/>
        </p:nvCxnSpPr>
        <p:spPr>
          <a:xfrm flipV="1">
            <a:off x="245734" y="1875367"/>
            <a:ext cx="0" cy="4562932"/>
          </a:xfrm>
          <a:prstGeom prst="straightConnector1">
            <a:avLst/>
          </a:prstGeom>
          <a:ln w="15875">
            <a:solidFill>
              <a:schemeClr val="tx1">
                <a:lumMod val="65000"/>
                <a:lumOff val="35000"/>
              </a:schemeClr>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266" name="テキスト ボックス 265">
            <a:extLst>
              <a:ext uri="{FF2B5EF4-FFF2-40B4-BE49-F238E27FC236}">
                <a16:creationId xmlns:a16="http://schemas.microsoft.com/office/drawing/2014/main" id="{7C17D56F-1AC6-34AD-A4BB-4EC0DABD016D}"/>
              </a:ext>
            </a:extLst>
          </p:cNvPr>
          <p:cNvSpPr txBox="1"/>
          <p:nvPr/>
        </p:nvSpPr>
        <p:spPr>
          <a:xfrm>
            <a:off x="174707" y="2012591"/>
            <a:ext cx="1079863" cy="253916"/>
          </a:xfrm>
          <a:prstGeom prst="rect">
            <a:avLst/>
          </a:prstGeom>
          <a:noFill/>
        </p:spPr>
        <p:txBody>
          <a:bodyPr wrap="square">
            <a:spAutoFit/>
          </a:bodyPr>
          <a:lstStyle/>
          <a:p>
            <a:r>
              <a:rPr lang="ja-JP" altLang="en-US" sz="1050" b="1" dirty="0">
                <a:solidFill>
                  <a:srgbClr val="FF0000"/>
                </a:solidFill>
                <a:latin typeface="メイリオ" panose="020B0604030504040204" pitchFamily="50" charset="-128"/>
                <a:ea typeface="メイリオ" panose="020B0604030504040204" pitchFamily="50" charset="-128"/>
              </a:rPr>
              <a:t>検索</a:t>
            </a:r>
            <a:r>
              <a:rPr lang="en-US" altLang="ja-JP" sz="1050" b="1" dirty="0">
                <a:solidFill>
                  <a:srgbClr val="FF0000"/>
                </a:solidFill>
                <a:latin typeface="メイリオ" panose="020B0604030504040204" pitchFamily="50" charset="-128"/>
                <a:ea typeface="メイリオ" panose="020B0604030504040204" pitchFamily="50" charset="-128"/>
              </a:rPr>
              <a:t>Vol:</a:t>
            </a:r>
            <a:r>
              <a:rPr lang="ja-JP" altLang="en-US" sz="1050" b="1" dirty="0">
                <a:solidFill>
                  <a:srgbClr val="FF0000"/>
                </a:solidFill>
                <a:latin typeface="メイリオ" panose="020B0604030504040204" pitchFamily="50" charset="-128"/>
                <a:ea typeface="メイリオ" panose="020B0604030504040204" pitchFamily="50" charset="-128"/>
              </a:rPr>
              <a:t>多</a:t>
            </a:r>
            <a:endParaRPr kumimoji="1" lang="ja-JP" altLang="en-US" sz="1050" b="1" dirty="0">
              <a:solidFill>
                <a:srgbClr val="FF0000"/>
              </a:solidFill>
              <a:latin typeface="メイリオ" panose="020B0604030504040204" pitchFamily="50" charset="-128"/>
              <a:ea typeface="メイリオ" panose="020B0604030504040204" pitchFamily="50" charset="-128"/>
            </a:endParaRPr>
          </a:p>
        </p:txBody>
      </p:sp>
      <p:sp>
        <p:nvSpPr>
          <p:cNvPr id="267" name="正方形/長方形 266">
            <a:extLst>
              <a:ext uri="{FF2B5EF4-FFF2-40B4-BE49-F238E27FC236}">
                <a16:creationId xmlns:a16="http://schemas.microsoft.com/office/drawing/2014/main" id="{AD15A6B3-E0B8-2B6E-5872-4F23BABCE27E}"/>
              </a:ext>
            </a:extLst>
          </p:cNvPr>
          <p:cNvSpPr/>
          <p:nvPr/>
        </p:nvSpPr>
        <p:spPr>
          <a:xfrm>
            <a:off x="4454391" y="1702353"/>
            <a:ext cx="841358" cy="4472105"/>
          </a:xfrm>
          <a:prstGeom prst="rect">
            <a:avLst/>
          </a:prstGeom>
          <a:solidFill>
            <a:srgbClr val="04FA0A">
              <a:alpha val="15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pic>
        <p:nvPicPr>
          <p:cNvPr id="268" name="図 267" descr="LINE公式アカウントのロゴを活用しよう！注意点やNG例も合わせて解説 - LINEマーケティングツールFANVO">
            <a:extLst>
              <a:ext uri="{FF2B5EF4-FFF2-40B4-BE49-F238E27FC236}">
                <a16:creationId xmlns:a16="http://schemas.microsoft.com/office/drawing/2014/main" id="{4024ED2F-A038-044E-2128-7BF7E408248D}"/>
              </a:ext>
            </a:extLst>
          </p:cNvPr>
          <p:cNvPicPr>
            <a:picLocks noChangeAspect="1"/>
          </p:cNvPicPr>
          <p:nvPr/>
        </p:nvPicPr>
        <p:blipFill>
          <a:blip r:embed="rId3"/>
          <a:stretch>
            <a:fillRect/>
          </a:stretch>
        </p:blipFill>
        <p:spPr>
          <a:xfrm>
            <a:off x="4317231" y="1580689"/>
            <a:ext cx="419340" cy="418460"/>
          </a:xfrm>
          <a:prstGeom prst="rect">
            <a:avLst/>
          </a:prstGeom>
        </p:spPr>
      </p:pic>
      <p:sp>
        <p:nvSpPr>
          <p:cNvPr id="269" name="テキスト ボックス 268">
            <a:extLst>
              <a:ext uri="{FF2B5EF4-FFF2-40B4-BE49-F238E27FC236}">
                <a16:creationId xmlns:a16="http://schemas.microsoft.com/office/drawing/2014/main" id="{3EAD58A7-446F-1E3A-A612-6D6F889B81B1}"/>
              </a:ext>
            </a:extLst>
          </p:cNvPr>
          <p:cNvSpPr txBox="1"/>
          <p:nvPr/>
        </p:nvSpPr>
        <p:spPr>
          <a:xfrm>
            <a:off x="4646415" y="1744562"/>
            <a:ext cx="1195820" cy="430887"/>
          </a:xfrm>
          <a:prstGeom prst="rect">
            <a:avLst/>
          </a:prstGeom>
          <a:noFill/>
        </p:spPr>
        <p:txBody>
          <a:bodyPr wrap="square">
            <a:spAutoFit/>
          </a:bodyPr>
          <a:lstStyle/>
          <a:p>
            <a:r>
              <a:rPr lang="en-US" altLang="ja-JP" sz="1100" b="1" dirty="0">
                <a:latin typeface="Meiryo"/>
                <a:ea typeface="Meiryo"/>
                <a:cs typeface="Meiryo"/>
                <a:sym typeface="Meiryo"/>
              </a:rPr>
              <a:t>OA</a:t>
            </a:r>
            <a:r>
              <a:rPr lang="ja-JP" altLang="en-US" sz="1100" b="1" dirty="0">
                <a:latin typeface="Meiryo"/>
                <a:ea typeface="Meiryo"/>
                <a:cs typeface="Meiryo"/>
                <a:sym typeface="Meiryo"/>
              </a:rPr>
              <a:t>追加想定</a:t>
            </a:r>
            <a:endParaRPr lang="en-US" altLang="ja-JP" sz="1100" b="1" dirty="0">
              <a:latin typeface="Meiryo"/>
              <a:ea typeface="Meiryo"/>
              <a:cs typeface="Meiryo"/>
              <a:sym typeface="Meiryo"/>
            </a:endParaRPr>
          </a:p>
          <a:p>
            <a:r>
              <a:rPr lang="en-US" altLang="ja-JP" sz="1000" b="1" dirty="0">
                <a:solidFill>
                  <a:srgbClr val="00B050"/>
                </a:solidFill>
                <a:latin typeface="Meiryo"/>
                <a:ea typeface="Meiryo"/>
                <a:sym typeface="Meiryo"/>
              </a:rPr>
              <a:t>※</a:t>
            </a:r>
            <a:r>
              <a:rPr lang="ja-JP" altLang="en-US" sz="1000" b="1" dirty="0">
                <a:solidFill>
                  <a:srgbClr val="00B050"/>
                </a:solidFill>
                <a:latin typeface="Meiryo"/>
                <a:ea typeface="Meiryo"/>
                <a:sym typeface="Meiryo"/>
              </a:rPr>
              <a:t>検索</a:t>
            </a:r>
            <a:r>
              <a:rPr lang="en-US" altLang="ja-JP" sz="1000" b="1" dirty="0">
                <a:solidFill>
                  <a:srgbClr val="00B050"/>
                </a:solidFill>
                <a:latin typeface="Meiryo"/>
                <a:ea typeface="Meiryo"/>
                <a:sym typeface="Meiryo"/>
              </a:rPr>
              <a:t>0-1</a:t>
            </a:r>
            <a:r>
              <a:rPr lang="ja-JP" altLang="en-US" sz="1000" b="1" dirty="0">
                <a:solidFill>
                  <a:srgbClr val="00B050"/>
                </a:solidFill>
                <a:latin typeface="Meiryo"/>
                <a:ea typeface="Meiryo"/>
                <a:sym typeface="Meiryo"/>
              </a:rPr>
              <a:t>日後</a:t>
            </a:r>
            <a:endParaRPr lang="ja-JP" altLang="en-US" sz="1050" dirty="0">
              <a:solidFill>
                <a:srgbClr val="00B050"/>
              </a:solidFill>
            </a:endParaRPr>
          </a:p>
        </p:txBody>
      </p:sp>
      <p:sp>
        <p:nvSpPr>
          <p:cNvPr id="270" name="四角形: 角を丸くする 269">
            <a:extLst>
              <a:ext uri="{FF2B5EF4-FFF2-40B4-BE49-F238E27FC236}">
                <a16:creationId xmlns:a16="http://schemas.microsoft.com/office/drawing/2014/main" id="{77F6F52A-D5A9-4873-22B4-9CE879E47445}"/>
              </a:ext>
            </a:extLst>
          </p:cNvPr>
          <p:cNvSpPr/>
          <p:nvPr/>
        </p:nvSpPr>
        <p:spPr>
          <a:xfrm>
            <a:off x="7920174" y="1851176"/>
            <a:ext cx="1463040" cy="253916"/>
          </a:xfrm>
          <a:prstGeom prst="roundRect">
            <a:avLst/>
          </a:prstGeom>
          <a:solidFill>
            <a:srgbClr val="3467B2">
              <a:alpha val="35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800" dirty="0">
                <a:solidFill>
                  <a:schemeClr val="tx1"/>
                </a:solidFill>
                <a:latin typeface="メイリオ" panose="020B0604030504040204" pitchFamily="50" charset="-128"/>
                <a:ea typeface="メイリオ" panose="020B0604030504040204" pitchFamily="50" charset="-128"/>
              </a:rPr>
              <a:t>働き方・会社を比べる</a:t>
            </a:r>
          </a:p>
        </p:txBody>
      </p:sp>
      <p:sp>
        <p:nvSpPr>
          <p:cNvPr id="271" name="四角形: 角を丸くする 270">
            <a:extLst>
              <a:ext uri="{FF2B5EF4-FFF2-40B4-BE49-F238E27FC236}">
                <a16:creationId xmlns:a16="http://schemas.microsoft.com/office/drawing/2014/main" id="{BDF2EB8F-D2D1-3527-8285-48540FD924E7}"/>
              </a:ext>
            </a:extLst>
          </p:cNvPr>
          <p:cNvSpPr/>
          <p:nvPr/>
        </p:nvSpPr>
        <p:spPr>
          <a:xfrm>
            <a:off x="7920174" y="2146211"/>
            <a:ext cx="1463040" cy="253916"/>
          </a:xfrm>
          <a:prstGeom prst="roundRect">
            <a:avLst/>
          </a:prstGeom>
          <a:solidFill>
            <a:srgbClr val="8E4EC6">
              <a:alpha val="35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800" dirty="0">
                <a:solidFill>
                  <a:schemeClr val="tx1"/>
                </a:solidFill>
                <a:latin typeface="メイリオ" panose="020B0604030504040204" pitchFamily="50" charset="-128"/>
                <a:ea typeface="メイリオ" panose="020B0604030504040204" pitchFamily="50" charset="-128"/>
              </a:rPr>
              <a:t>登録・応募の準備</a:t>
            </a:r>
          </a:p>
        </p:txBody>
      </p:sp>
      <p:sp>
        <p:nvSpPr>
          <p:cNvPr id="272" name="四角形: 角を丸くする 271">
            <a:extLst>
              <a:ext uri="{FF2B5EF4-FFF2-40B4-BE49-F238E27FC236}">
                <a16:creationId xmlns:a16="http://schemas.microsoft.com/office/drawing/2014/main" id="{8E99E04D-7CD5-C5BF-1D3C-9103098EBCA6}"/>
              </a:ext>
            </a:extLst>
          </p:cNvPr>
          <p:cNvSpPr/>
          <p:nvPr/>
        </p:nvSpPr>
        <p:spPr>
          <a:xfrm>
            <a:off x="7920174" y="2435334"/>
            <a:ext cx="1463040" cy="253916"/>
          </a:xfrm>
          <a:prstGeom prst="roundRect">
            <a:avLst/>
          </a:prstGeom>
          <a:solidFill>
            <a:srgbClr val="00897B">
              <a:alpha val="35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800" dirty="0">
                <a:solidFill>
                  <a:schemeClr val="tx1"/>
                </a:solidFill>
                <a:latin typeface="メイリオ" panose="020B0604030504040204" pitchFamily="50" charset="-128"/>
                <a:ea typeface="メイリオ" panose="020B0604030504040204" pitchFamily="50" charset="-128"/>
              </a:rPr>
              <a:t>お金・保険を調べる</a:t>
            </a:r>
          </a:p>
        </p:txBody>
      </p:sp>
      <p:pic>
        <p:nvPicPr>
          <p:cNvPr id="849" name="図 848" descr="LINEヤフー株式会社」発足 | LINEヤフー株式会社のプレスリリース">
            <a:extLst>
              <a:ext uri="{FF2B5EF4-FFF2-40B4-BE49-F238E27FC236}">
                <a16:creationId xmlns:a16="http://schemas.microsoft.com/office/drawing/2014/main" id="{60D7FCFC-3E1E-701A-1303-62D7A9D128FA}"/>
              </a:ext>
            </a:extLst>
          </p:cNvPr>
          <p:cNvPicPr>
            <a:picLocks noChangeAspect="1"/>
          </p:cNvPicPr>
          <p:nvPr/>
        </p:nvPicPr>
        <p:blipFill>
          <a:blip r:embed="rId4"/>
          <a:stretch>
            <a:fillRect/>
          </a:stretch>
        </p:blipFill>
        <p:spPr>
          <a:xfrm>
            <a:off x="46676" y="1461167"/>
            <a:ext cx="1005885" cy="288352"/>
          </a:xfrm>
          <a:prstGeom prst="rect">
            <a:avLst/>
          </a:prstGeom>
        </p:spPr>
      </p:pic>
      <p:sp>
        <p:nvSpPr>
          <p:cNvPr id="850" name="テキスト ボックス 849">
            <a:extLst>
              <a:ext uri="{FF2B5EF4-FFF2-40B4-BE49-F238E27FC236}">
                <a16:creationId xmlns:a16="http://schemas.microsoft.com/office/drawing/2014/main" id="{3A261F00-4A8B-21CB-F7B0-8CC632CF7CDD}"/>
              </a:ext>
            </a:extLst>
          </p:cNvPr>
          <p:cNvSpPr txBox="1"/>
          <p:nvPr/>
        </p:nvSpPr>
        <p:spPr>
          <a:xfrm>
            <a:off x="1009178" y="1497381"/>
            <a:ext cx="4962524" cy="253916"/>
          </a:xfrm>
          <a:prstGeom prst="rect">
            <a:avLst/>
          </a:prstGeom>
          <a:noFill/>
        </p:spPr>
        <p:txBody>
          <a:bodyPr wrap="square">
            <a:spAutoFit/>
          </a:bodyPr>
          <a:lstStyle/>
          <a:p>
            <a:r>
              <a:rPr kumimoji="1" lang="ja-JP" altLang="en-US" sz="1050" b="1" dirty="0">
                <a:solidFill>
                  <a:schemeClr val="tx1">
                    <a:lumMod val="65000"/>
                    <a:lumOff val="35000"/>
                  </a:schemeClr>
                </a:solidFill>
                <a:latin typeface="メイリオ" panose="020B0604030504040204" pitchFamily="50" charset="-128"/>
                <a:ea typeface="メイリオ" panose="020B0604030504040204" pitchFamily="50" charset="-128"/>
              </a:rPr>
              <a:t>上位代理店限定での公開データ</a:t>
            </a:r>
          </a:p>
        </p:txBody>
      </p:sp>
      <p:sp>
        <p:nvSpPr>
          <p:cNvPr id="851" name="テキスト ボックス 850">
            <a:extLst>
              <a:ext uri="{FF2B5EF4-FFF2-40B4-BE49-F238E27FC236}">
                <a16:creationId xmlns:a16="http://schemas.microsoft.com/office/drawing/2014/main" id="{3BD55E69-4725-07C2-26E9-B6484FEEF81E}"/>
              </a:ext>
            </a:extLst>
          </p:cNvPr>
          <p:cNvSpPr txBox="1"/>
          <p:nvPr/>
        </p:nvSpPr>
        <p:spPr>
          <a:xfrm>
            <a:off x="5870448" y="2542032"/>
            <a:ext cx="1576252" cy="253916"/>
          </a:xfrm>
          <a:prstGeom prst="rect">
            <a:avLst/>
          </a:prstGeom>
          <a:noFill/>
        </p:spPr>
        <p:txBody>
          <a:bodyPr wrap="square">
            <a:spAutoFit/>
          </a:bodyPr>
          <a:lstStyle/>
          <a:p>
            <a:pPr algn="ctr"/>
            <a:r>
              <a:rPr lang="ja-JP" altLang="en-US" sz="1050" b="1" dirty="0">
                <a:latin typeface="メイリオ" panose="020B0604030504040204" pitchFamily="50" charset="-128"/>
                <a:ea typeface="メイリオ" panose="020B0604030504040204" pitchFamily="50" charset="-128"/>
              </a:rPr>
              <a:t>の検索前後データ</a:t>
            </a:r>
            <a:endParaRPr kumimoji="1" lang="ja-JP" altLang="en-US" sz="1050" b="1" dirty="0">
              <a:solidFill>
                <a:schemeClr val="tx1"/>
              </a:solidFill>
              <a:latin typeface="メイリオ" panose="020B0604030504040204" pitchFamily="50" charset="-128"/>
              <a:ea typeface="メイリオ" panose="020B0604030504040204" pitchFamily="50" charset="-128"/>
            </a:endParaRPr>
          </a:p>
        </p:txBody>
      </p:sp>
      <p:sp>
        <p:nvSpPr>
          <p:cNvPr id="852" name="正方形/長方形 851">
            <a:extLst>
              <a:ext uri="{FF2B5EF4-FFF2-40B4-BE49-F238E27FC236}">
                <a16:creationId xmlns:a16="http://schemas.microsoft.com/office/drawing/2014/main" id="{461533CA-41F7-8934-E587-4E31271808B7}"/>
              </a:ext>
            </a:extLst>
          </p:cNvPr>
          <p:cNvSpPr/>
          <p:nvPr/>
        </p:nvSpPr>
        <p:spPr>
          <a:xfrm>
            <a:off x="5623560" y="2240280"/>
            <a:ext cx="1571444" cy="28342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b="1" dirty="0">
                <a:solidFill>
                  <a:schemeClr val="bg1"/>
                </a:solidFill>
                <a:latin typeface="メイリオ" panose="020B0604030504040204" pitchFamily="50" charset="-128"/>
                <a:ea typeface="メイリオ" panose="020B0604030504040204" pitchFamily="50" charset="-128"/>
              </a:rPr>
              <a:t>派遣 登録</a:t>
            </a:r>
          </a:p>
        </p:txBody>
      </p:sp>
      <p:sp>
        <p:nvSpPr>
          <p:cNvPr id="3" name="矢印: 下 2">
            <a:extLst>
              <a:ext uri="{FF2B5EF4-FFF2-40B4-BE49-F238E27FC236}">
                <a16:creationId xmlns:a16="http://schemas.microsoft.com/office/drawing/2014/main" id="{4F31925E-982C-C749-2736-F69C9019276B}"/>
              </a:ext>
            </a:extLst>
          </p:cNvPr>
          <p:cNvSpPr/>
          <p:nvPr/>
        </p:nvSpPr>
        <p:spPr>
          <a:xfrm rot="16200000">
            <a:off x="7818572" y="4034181"/>
            <a:ext cx="792480" cy="586887"/>
          </a:xfrm>
          <a:prstGeom prst="downArrow">
            <a:avLst/>
          </a:prstGeom>
          <a:gradFill>
            <a:gsLst>
              <a:gs pos="4000">
                <a:schemeClr val="bg1">
                  <a:alpha val="70000"/>
                </a:schemeClr>
              </a:gs>
              <a:gs pos="100000">
                <a:schemeClr val="accent1">
                  <a:lumMod val="60000"/>
                  <a:lumOff val="4000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 name="テキスト ボックス 5">
            <a:extLst>
              <a:ext uri="{FF2B5EF4-FFF2-40B4-BE49-F238E27FC236}">
                <a16:creationId xmlns:a16="http://schemas.microsoft.com/office/drawing/2014/main" id="{D67EC0E9-2D4D-AC08-2177-AA06F517920B}"/>
              </a:ext>
            </a:extLst>
          </p:cNvPr>
          <p:cNvSpPr txBox="1"/>
          <p:nvPr/>
        </p:nvSpPr>
        <p:spPr>
          <a:xfrm>
            <a:off x="8439270" y="4065718"/>
            <a:ext cx="1461731" cy="523220"/>
          </a:xfrm>
          <a:prstGeom prst="rect">
            <a:avLst/>
          </a:prstGeom>
          <a:noFill/>
        </p:spPr>
        <p:txBody>
          <a:bodyPr wrap="square">
            <a:spAutoFit/>
          </a:bodyPr>
          <a:lstStyle/>
          <a:p>
            <a:r>
              <a:rPr lang="ja-JP" altLang="en-US" sz="800" b="1" dirty="0">
                <a:latin typeface="メイリオ" panose="020B0604030504040204" pitchFamily="50" charset="-128"/>
                <a:ea typeface="メイリオ" panose="020B0604030504040204" pitchFamily="50" charset="-128"/>
              </a:rPr>
              <a:t>長期検討</a:t>
            </a:r>
            <a:r>
              <a:rPr lang="ja-JP" altLang="en-US" sz="800" dirty="0">
                <a:latin typeface="メイリオ" panose="020B0604030504040204" pitchFamily="50" charset="-128"/>
                <a:ea typeface="メイリオ" panose="020B0604030504040204" pitchFamily="50" charset="-128"/>
              </a:rPr>
              <a:t>へ</a:t>
            </a:r>
            <a:endParaRPr lang="en-US" altLang="ja-JP" sz="800" dirty="0">
              <a:latin typeface="メイリオ" panose="020B0604030504040204" pitchFamily="50" charset="-128"/>
              <a:ea typeface="メイリオ" panose="020B0604030504040204" pitchFamily="50" charset="-128"/>
            </a:endParaRPr>
          </a:p>
          <a:p>
            <a:endParaRPr lang="en-US" altLang="ja-JP" sz="400">
              <a:latin typeface="メイリオ" panose="020B0604030504040204" pitchFamily="50" charset="-128"/>
              <a:ea typeface="メイリオ" panose="020B0604030504040204" pitchFamily="50" charset="-128"/>
            </a:endParaRPr>
          </a:p>
          <a:p>
            <a:r>
              <a:rPr lang="ja-JP" altLang="en-US" sz="800">
                <a:solidFill>
                  <a:schemeClr val="tx1">
                    <a:lumMod val="65000"/>
                    <a:lumOff val="35000"/>
                  </a:schemeClr>
                </a:solidFill>
                <a:latin typeface="メイリオ" panose="020B0604030504040204" pitchFamily="50" charset="-128"/>
                <a:ea typeface="メイリオ" panose="020B0604030504040204" pitchFamily="50" charset="-128"/>
              </a:rPr>
              <a:t>（休眠顧客開拓）</a:t>
            </a:r>
            <a:endParaRPr lang="en-US" altLang="ja-JP" sz="800">
              <a:solidFill>
                <a:schemeClr val="tx1">
                  <a:lumMod val="65000"/>
                  <a:lumOff val="35000"/>
                </a:schemeClr>
              </a:solidFill>
              <a:latin typeface="メイリオ" panose="020B0604030504040204" pitchFamily="50" charset="-128"/>
              <a:ea typeface="メイリオ" panose="020B0604030504040204" pitchFamily="50" charset="-128"/>
            </a:endParaRPr>
          </a:p>
          <a:p>
            <a:r>
              <a:rPr kumimoji="1" lang="ja-JP" altLang="en-US" sz="800">
                <a:solidFill>
                  <a:schemeClr val="tx1">
                    <a:lumMod val="65000"/>
                    <a:lumOff val="35000"/>
                  </a:schemeClr>
                </a:solidFill>
                <a:latin typeface="メイリオ" panose="020B0604030504040204" pitchFamily="50" charset="-128"/>
                <a:ea typeface="メイリオ" panose="020B0604030504040204" pitchFamily="50" charset="-128"/>
              </a:rPr>
              <a:t>（検討時期の長期化）</a:t>
            </a:r>
            <a:endParaRPr kumimoji="1" lang="ja-JP" altLang="en-US" sz="800" dirty="0">
              <a:solidFill>
                <a:schemeClr val="tx1">
                  <a:lumMod val="65000"/>
                  <a:lumOff val="35000"/>
                </a:schemeClr>
              </a:solidFill>
              <a:latin typeface="メイリオ" panose="020B0604030504040204" pitchFamily="50" charset="-128"/>
              <a:ea typeface="メイリオ" panose="020B0604030504040204" pitchFamily="50" charset="-128"/>
            </a:endParaRPr>
          </a:p>
        </p:txBody>
      </p:sp>
      <p:sp>
        <p:nvSpPr>
          <p:cNvPr id="12" name="四角形: 角を丸くする 11">
            <a:extLst>
              <a:ext uri="{FF2B5EF4-FFF2-40B4-BE49-F238E27FC236}">
                <a16:creationId xmlns:a16="http://schemas.microsoft.com/office/drawing/2014/main" id="{8C4735AA-05E6-2765-3241-F1C0FD49D261}"/>
              </a:ext>
            </a:extLst>
          </p:cNvPr>
          <p:cNvSpPr/>
          <p:nvPr/>
        </p:nvSpPr>
        <p:spPr>
          <a:xfrm>
            <a:off x="8469785" y="4170045"/>
            <a:ext cx="980015" cy="63312"/>
          </a:xfrm>
          <a:prstGeom prst="round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dirty="0">
              <a:solidFill>
                <a:schemeClr val="tx1"/>
              </a:solidFill>
              <a:latin typeface="メイリオ" panose="020B0604030504040204" pitchFamily="50" charset="-128"/>
              <a:ea typeface="メイリオ" panose="020B0604030504040204" pitchFamily="50" charset="-128"/>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Google Shape;752;p28">
            <a:extLst>
              <a:ext uri="{FF2B5EF4-FFF2-40B4-BE49-F238E27FC236}">
                <a16:creationId xmlns:a16="http://schemas.microsoft.com/office/drawing/2014/main" id="{816EC0D3-8B92-C366-931F-8E0D0054419D}"/>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施策の考え方（短期：ステップ配信）</a:t>
            </a:r>
          </a:p>
        </p:txBody>
      </p:sp>
      <p:sp>
        <p:nvSpPr>
          <p:cNvPr id="8" name="正方形/長方形 7">
            <a:extLst>
              <a:ext uri="{FF2B5EF4-FFF2-40B4-BE49-F238E27FC236}">
                <a16:creationId xmlns:a16="http://schemas.microsoft.com/office/drawing/2014/main" id="{315B3646-9E2E-6F40-2994-87803CA084A9}"/>
              </a:ext>
            </a:extLst>
          </p:cNvPr>
          <p:cNvSpPr/>
          <p:nvPr/>
        </p:nvSpPr>
        <p:spPr>
          <a:xfrm>
            <a:off x="0" y="777240"/>
            <a:ext cx="1802674" cy="502920"/>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400" dirty="0">
                <a:latin typeface="メイリオ" panose="020B0604030504040204" pitchFamily="50" charset="-128"/>
                <a:ea typeface="メイリオ" panose="020B0604030504040204" pitchFamily="50" charset="-128"/>
              </a:rPr>
              <a:t>ステップ配信</a:t>
            </a:r>
          </a:p>
        </p:txBody>
      </p:sp>
      <p:sp>
        <p:nvSpPr>
          <p:cNvPr id="10" name="Google Shape;752;p28">
            <a:extLst>
              <a:ext uri="{FF2B5EF4-FFF2-40B4-BE49-F238E27FC236}">
                <a16:creationId xmlns:a16="http://schemas.microsoft.com/office/drawing/2014/main" id="{6C3BE050-25AB-CAF4-DDEA-32FB95EA3D92}"/>
              </a:ext>
            </a:extLst>
          </p:cNvPr>
          <p:cNvSpPr txBox="1"/>
          <p:nvPr/>
        </p:nvSpPr>
        <p:spPr>
          <a:xfrm>
            <a:off x="1988819" y="736332"/>
            <a:ext cx="7774305" cy="584735"/>
          </a:xfrm>
          <a:prstGeom prst="rect">
            <a:avLst/>
          </a:prstGeom>
          <a:noFill/>
          <a:ln>
            <a:noFill/>
          </a:ln>
        </p:spPr>
        <p:txBody>
          <a:bodyPr spcFirstLastPara="1" wrap="square" lIns="91425" tIns="45700" rIns="91425" bIns="45700" anchor="ctr" anchorCtr="0">
            <a:spAutoFit/>
          </a:bodyPr>
          <a:lstStyle/>
          <a:p>
            <a:r>
              <a:rPr lang="ja-JP" altLang="en-US" sz="1600" b="1" dirty="0">
                <a:latin typeface="メイリオ" panose="020B0604030504040204" pitchFamily="50" charset="-128"/>
                <a:ea typeface="メイリオ" panose="020B0604030504040204" pitchFamily="50" charset="-128"/>
                <a:cs typeface="Meiryo"/>
                <a:sym typeface="Meiryo"/>
              </a:rPr>
              <a:t>検討が始まったタイミング（業界キーワードの検索）から段階ごとに</a:t>
            </a:r>
          </a:p>
          <a:p>
            <a:r>
              <a:rPr lang="ja-JP" altLang="en-US" sz="1600" b="1" dirty="0">
                <a:latin typeface="メイリオ" panose="020B0604030504040204" pitchFamily="50" charset="-128"/>
                <a:ea typeface="メイリオ" panose="020B0604030504040204" pitchFamily="50" charset="-128"/>
                <a:cs typeface="Meiryo"/>
                <a:sym typeface="Meiryo"/>
              </a:rPr>
              <a:t>不安を解消し、信頼を積み上げて15日以内に、CVへつなげる配信を構築。</a:t>
            </a:r>
            <a:endParaRPr lang="en-US" altLang="ja-JP" sz="1600" b="1" dirty="0">
              <a:latin typeface="メイリオ" panose="020B0604030504040204" pitchFamily="50" charset="-128"/>
              <a:ea typeface="メイリオ" panose="020B0604030504040204" pitchFamily="50" charset="-128"/>
              <a:cs typeface="Meiryo"/>
              <a:sym typeface="Meiryo"/>
            </a:endParaRPr>
          </a:p>
        </p:txBody>
      </p:sp>
      <p:sp>
        <p:nvSpPr>
          <p:cNvPr id="242" name="四角形: 角を丸くする 241">
            <a:extLst>
              <a:ext uri="{FF2B5EF4-FFF2-40B4-BE49-F238E27FC236}">
                <a16:creationId xmlns:a16="http://schemas.microsoft.com/office/drawing/2014/main" id="{812533A9-C7B7-5409-741D-9F06F60FC4F0}"/>
              </a:ext>
            </a:extLst>
          </p:cNvPr>
          <p:cNvSpPr/>
          <p:nvPr/>
        </p:nvSpPr>
        <p:spPr>
          <a:xfrm>
            <a:off x="4756154" y="160947"/>
            <a:ext cx="1752679" cy="269057"/>
          </a:xfrm>
          <a:prstGeom prst="roundRect">
            <a:avLst/>
          </a:prstGeom>
          <a:solidFill>
            <a:schemeClr val="bg1"/>
          </a:solidFill>
          <a:ln w="9525">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b="1" dirty="0">
                <a:solidFill>
                  <a:schemeClr val="tx1">
                    <a:lumMod val="65000"/>
                    <a:lumOff val="35000"/>
                  </a:schemeClr>
                </a:solidFill>
                <a:latin typeface="メイリオ" panose="020B0604030504040204" pitchFamily="50" charset="-128"/>
                <a:ea typeface="メイリオ" panose="020B0604030504040204" pitchFamily="50" charset="-128"/>
              </a:rPr>
              <a:t>ご提案時に詳細記載</a:t>
            </a:r>
          </a:p>
        </p:txBody>
      </p:sp>
      <p:sp>
        <p:nvSpPr>
          <p:cNvPr id="915" name="TextBox 27">
            <a:extLst>
              <a:ext uri="{FF2B5EF4-FFF2-40B4-BE49-F238E27FC236}">
                <a16:creationId xmlns:a16="http://schemas.microsoft.com/office/drawing/2014/main" id="{5BFBF573-5D82-D526-FDE7-07974DC4CAE4}"/>
              </a:ext>
            </a:extLst>
          </p:cNvPr>
          <p:cNvSpPr txBox="1"/>
          <p:nvPr/>
        </p:nvSpPr>
        <p:spPr>
          <a:xfrm>
            <a:off x="266700" y="5459687"/>
            <a:ext cx="9372600" cy="508216"/>
          </a:xfrm>
          <a:prstGeom prst="rect">
            <a:avLst/>
          </a:prstGeom>
          <a:noFill/>
        </p:spPr>
        <p:txBody>
          <a:bodyPr wrap="square">
            <a:spAutoFit/>
          </a:bodyPr>
          <a:lstStyle/>
          <a:p>
            <a:pPr>
              <a:lnSpc>
                <a:spcPct val="120000"/>
              </a:lnSpc>
              <a:buClr>
                <a:srgbClr val="000000"/>
              </a:buClr>
              <a:buFont typeface="Arial"/>
              <a:buNone/>
            </a:pPr>
            <a:r>
              <a:rPr kumimoji="0" sz="1150" kern="0" dirty="0">
                <a:solidFill>
                  <a:srgbClr val="5A6378"/>
                </a:solidFill>
                <a:latin typeface="メイリオ" panose="020B0604030504040204" pitchFamily="50" charset="-128"/>
                <a:ea typeface="メイリオ" panose="020B0604030504040204" pitchFamily="50" charset="-128"/>
                <a:cs typeface="Arial"/>
                <a:sym typeface="Arial"/>
              </a:rPr>
              <a:t>検索当日の働き方の比較（Day1〜2）→ お金・保険の不安の解消（Day3〜4）→ 会社選び（Day6〜7）</a:t>
            </a:r>
            <a:endParaRPr kumimoji="0" lang="en-US" sz="1150" kern="0" dirty="0">
              <a:solidFill>
                <a:srgbClr val="5A6378"/>
              </a:solidFill>
              <a:latin typeface="メイリオ" panose="020B0604030504040204" pitchFamily="50" charset="-128"/>
              <a:ea typeface="メイリオ" panose="020B0604030504040204" pitchFamily="50" charset="-128"/>
              <a:cs typeface="Arial"/>
              <a:sym typeface="Arial"/>
            </a:endParaRPr>
          </a:p>
          <a:p>
            <a:pPr>
              <a:lnSpc>
                <a:spcPct val="120000"/>
              </a:lnSpc>
              <a:buClr>
                <a:srgbClr val="000000"/>
              </a:buClr>
              <a:buFont typeface="Arial"/>
              <a:buNone/>
            </a:pPr>
            <a:r>
              <a:rPr kumimoji="0" sz="1150" kern="0" dirty="0">
                <a:solidFill>
                  <a:srgbClr val="5A6378"/>
                </a:solidFill>
                <a:latin typeface="メイリオ" panose="020B0604030504040204" pitchFamily="50" charset="-128"/>
                <a:ea typeface="メイリオ" panose="020B0604030504040204" pitchFamily="50" charset="-128"/>
                <a:cs typeface="Arial"/>
                <a:sym typeface="Arial"/>
              </a:rPr>
              <a:t>→ </a:t>
            </a:r>
            <a:r>
              <a:rPr kumimoji="0" sz="1150" kern="0" dirty="0" err="1">
                <a:solidFill>
                  <a:srgbClr val="5A6378"/>
                </a:solidFill>
                <a:latin typeface="メイリオ" panose="020B0604030504040204" pitchFamily="50" charset="-128"/>
                <a:ea typeface="メイリオ" panose="020B0604030504040204" pitchFamily="50" charset="-128"/>
                <a:cs typeface="Arial"/>
                <a:sym typeface="Arial"/>
              </a:rPr>
              <a:t>ENTRYの案内</a:t>
            </a:r>
            <a:r>
              <a:rPr kumimoji="0" sz="1150" kern="0" dirty="0">
                <a:solidFill>
                  <a:srgbClr val="5A6378"/>
                </a:solidFill>
                <a:latin typeface="メイリオ" panose="020B0604030504040204" pitchFamily="50" charset="-128"/>
                <a:ea typeface="メイリオ" panose="020B0604030504040204" pitchFamily="50" charset="-128"/>
                <a:cs typeface="Arial"/>
                <a:sym typeface="Arial"/>
              </a:rPr>
              <a:t>（Day10〜15）と、</a:t>
            </a:r>
            <a:r>
              <a:rPr kumimoji="0" sz="1150" b="1" kern="0" dirty="0">
                <a:solidFill>
                  <a:srgbClr val="FF0000"/>
                </a:solidFill>
                <a:latin typeface="メイリオ" panose="020B0604030504040204" pitchFamily="50" charset="-128"/>
                <a:ea typeface="メイリオ" panose="020B0604030504040204" pitchFamily="50" charset="-128"/>
                <a:cs typeface="Arial"/>
                <a:sym typeface="Arial"/>
              </a:rPr>
              <a:t>段階的に信頼を積み上げながらENTRYへつなげる</a:t>
            </a:r>
            <a:r>
              <a:rPr kumimoji="0" sz="1150" kern="0" dirty="0">
                <a:solidFill>
                  <a:srgbClr val="5A6378"/>
                </a:solidFill>
                <a:latin typeface="メイリオ" panose="020B0604030504040204" pitchFamily="50" charset="-128"/>
                <a:ea typeface="メイリオ" panose="020B0604030504040204" pitchFamily="50" charset="-128"/>
                <a:cs typeface="Arial"/>
                <a:sym typeface="Arial"/>
              </a:rPr>
              <a:t>設計。</a:t>
            </a:r>
          </a:p>
        </p:txBody>
      </p:sp>
      <p:sp>
        <p:nvSpPr>
          <p:cNvPr id="181" name="Shape 13">
            <a:extLst>
              <a:ext uri="{FF2B5EF4-FFF2-40B4-BE49-F238E27FC236}">
                <a16:creationId xmlns:a16="http://schemas.microsoft.com/office/drawing/2014/main" id="{613DD4CE-3458-6634-E8E7-A78BCB6B80C7}"/>
              </a:ext>
            </a:extLst>
          </p:cNvPr>
          <p:cNvSpPr/>
          <p:nvPr/>
        </p:nvSpPr>
        <p:spPr>
          <a:xfrm>
            <a:off x="548883" y="1835845"/>
            <a:ext cx="1719072" cy="3363172"/>
          </a:xfrm>
          <a:prstGeom prst="roundRect">
            <a:avLst>
              <a:gd name="adj" fmla="val 3191"/>
            </a:avLst>
          </a:prstGeom>
          <a:solidFill>
            <a:srgbClr val="FFFFFF"/>
          </a:solidFill>
          <a:ln w="12700">
            <a:solidFill>
              <a:srgbClr val="DDDDDD"/>
            </a:solidFill>
            <a:prstDash val="solid"/>
          </a:ln>
          <a:effectLst>
            <a:outerShdw blurRad="38100" dist="12700" dir="8100000" algn="bl" rotWithShape="0">
              <a:srgbClr val="AAAAAA">
                <a:alpha val="10000"/>
              </a:srgbClr>
            </a:outerShdw>
          </a:effectLst>
        </p:spPr>
        <p:txBody>
          <a:bodyPr/>
          <a:lstStyle/>
          <a:p>
            <a:endParaRPr lang="ja-JP" altLang="en-US">
              <a:latin typeface="メイリオ" panose="020B0604030504040204" pitchFamily="50" charset="-128"/>
              <a:ea typeface="メイリオ" panose="020B0604030504040204" pitchFamily="50" charset="-128"/>
            </a:endParaRPr>
          </a:p>
        </p:txBody>
      </p:sp>
      <p:sp>
        <p:nvSpPr>
          <p:cNvPr id="183" name="Shape 14">
            <a:extLst>
              <a:ext uri="{FF2B5EF4-FFF2-40B4-BE49-F238E27FC236}">
                <a16:creationId xmlns:a16="http://schemas.microsoft.com/office/drawing/2014/main" id="{F241DEE0-466F-BF0F-A5D7-0B83ECC33CF4}"/>
              </a:ext>
            </a:extLst>
          </p:cNvPr>
          <p:cNvSpPr/>
          <p:nvPr/>
        </p:nvSpPr>
        <p:spPr>
          <a:xfrm>
            <a:off x="548883" y="1835845"/>
            <a:ext cx="1719072" cy="585216"/>
          </a:xfrm>
          <a:prstGeom prst="roundRect">
            <a:avLst>
              <a:gd name="adj" fmla="val 9375"/>
            </a:avLst>
          </a:prstGeom>
          <a:solidFill>
            <a:srgbClr val="1F2B5C"/>
          </a:solidFill>
          <a:ln w="12700">
            <a:noFill/>
            <a:prstDash val="solid"/>
          </a:ln>
        </p:spPr>
        <p:txBody>
          <a:bodyPr/>
          <a:lstStyle/>
          <a:p>
            <a:endParaRPr lang="ja-JP" altLang="en-US">
              <a:latin typeface="メイリオ" panose="020B0604030504040204" pitchFamily="50" charset="-128"/>
              <a:ea typeface="メイリオ" panose="020B0604030504040204" pitchFamily="50" charset="-128"/>
            </a:endParaRPr>
          </a:p>
        </p:txBody>
      </p:sp>
      <p:sp>
        <p:nvSpPr>
          <p:cNvPr id="185" name="Text 15">
            <a:extLst>
              <a:ext uri="{FF2B5EF4-FFF2-40B4-BE49-F238E27FC236}">
                <a16:creationId xmlns:a16="http://schemas.microsoft.com/office/drawing/2014/main" id="{C3796E8D-94B9-ADB9-C46C-B3B1E855AC20}"/>
              </a:ext>
            </a:extLst>
          </p:cNvPr>
          <p:cNvSpPr/>
          <p:nvPr/>
        </p:nvSpPr>
        <p:spPr>
          <a:xfrm>
            <a:off x="640323" y="1872421"/>
            <a:ext cx="1536192" cy="274320"/>
          </a:xfrm>
          <a:prstGeom prst="rect">
            <a:avLst/>
          </a:prstGeom>
          <a:noFill/>
          <a:ln>
            <a:noFill/>
          </a:ln>
        </p:spPr>
        <p:txBody>
          <a:bodyPr wrap="square" lIns="0" tIns="0" rIns="0" bIns="0" rtlCol="0" anchor="ctr"/>
          <a:lstStyle/>
          <a:p>
            <a:pPr marL="0" indent="0" algn="ctr">
              <a:buNone/>
            </a:pPr>
            <a:r>
              <a:rPr lang="en-US" sz="1500" b="1" dirty="0">
                <a:solidFill>
                  <a:srgbClr val="FFFFFF"/>
                </a:solidFill>
                <a:latin typeface="メイリオ" panose="020B0604030504040204" pitchFamily="50" charset="-128"/>
                <a:ea typeface="メイリオ" panose="020B0604030504040204" pitchFamily="50" charset="-128"/>
                <a:cs typeface="Calibri" pitchFamily="34" charset="-120"/>
              </a:rPr>
              <a:t>Day0</a:t>
            </a:r>
            <a:endParaRPr lang="en-US" sz="1500" dirty="0">
              <a:latin typeface="メイリオ" panose="020B0604030504040204" pitchFamily="50" charset="-128"/>
              <a:ea typeface="メイリオ" panose="020B0604030504040204" pitchFamily="50" charset="-128"/>
            </a:endParaRPr>
          </a:p>
        </p:txBody>
      </p:sp>
      <p:sp>
        <p:nvSpPr>
          <p:cNvPr id="187" name="Text 16">
            <a:extLst>
              <a:ext uri="{FF2B5EF4-FFF2-40B4-BE49-F238E27FC236}">
                <a16:creationId xmlns:a16="http://schemas.microsoft.com/office/drawing/2014/main" id="{40B1EBE9-513F-1DA2-57B8-10DEB735AFF1}"/>
              </a:ext>
            </a:extLst>
          </p:cNvPr>
          <p:cNvSpPr/>
          <p:nvPr/>
        </p:nvSpPr>
        <p:spPr>
          <a:xfrm>
            <a:off x="640323" y="2146741"/>
            <a:ext cx="1536192" cy="201168"/>
          </a:xfrm>
          <a:prstGeom prst="rect">
            <a:avLst/>
          </a:prstGeom>
          <a:noFill/>
          <a:ln>
            <a:noFill/>
          </a:ln>
        </p:spPr>
        <p:txBody>
          <a:bodyPr wrap="square" lIns="0" tIns="0" rIns="0" bIns="0" rtlCol="0" anchor="ctr"/>
          <a:lstStyle/>
          <a:p>
            <a:pPr marL="0" indent="0" algn="ctr">
              <a:buNone/>
            </a:pPr>
            <a:r>
              <a:rPr lang="en-US" sz="900" dirty="0">
                <a:solidFill>
                  <a:srgbClr val="D0E8FF"/>
                </a:solidFill>
                <a:latin typeface="メイリオ" panose="020B0604030504040204" pitchFamily="50" charset="-128"/>
                <a:ea typeface="メイリオ" panose="020B0604030504040204" pitchFamily="50" charset="-128"/>
                <a:cs typeface="Calibri" pitchFamily="34" charset="-120"/>
              </a:rPr>
              <a:t>追加直後：診断</a:t>
            </a:r>
            <a:endParaRPr lang="en-US" sz="900" dirty="0">
              <a:latin typeface="メイリオ" panose="020B0604030504040204" pitchFamily="50" charset="-128"/>
              <a:ea typeface="メイリオ" panose="020B0604030504040204" pitchFamily="50" charset="-128"/>
            </a:endParaRPr>
          </a:p>
        </p:txBody>
      </p:sp>
      <p:sp>
        <p:nvSpPr>
          <p:cNvPr id="189" name="Text 17">
            <a:extLst>
              <a:ext uri="{FF2B5EF4-FFF2-40B4-BE49-F238E27FC236}">
                <a16:creationId xmlns:a16="http://schemas.microsoft.com/office/drawing/2014/main" id="{A58EB949-612E-4D86-A2F6-7E6DFE1C9A09}"/>
              </a:ext>
            </a:extLst>
          </p:cNvPr>
          <p:cNvSpPr/>
          <p:nvPr/>
        </p:nvSpPr>
        <p:spPr>
          <a:xfrm>
            <a:off x="658611" y="2494213"/>
            <a:ext cx="1499616" cy="530352"/>
          </a:xfrm>
          <a:prstGeom prst="rect">
            <a:avLst/>
          </a:prstGeom>
          <a:noFill/>
          <a:ln/>
        </p:spPr>
        <p:txBody>
          <a:bodyPr wrap="square" lIns="0" tIns="0" rIns="0" bIns="0" rtlCol="0" anchor="ctr"/>
          <a:lstStyle/>
          <a:p>
            <a:pPr marL="0" indent="0">
              <a:lnSpc>
                <a:spcPct val="130000"/>
              </a:lnSpc>
              <a:buNone/>
            </a:pPr>
            <a:r>
              <a:rPr lang="en-US" sz="1200" b="1" dirty="0" err="1">
                <a:solidFill>
                  <a:srgbClr val="1F2B5C"/>
                </a:solidFill>
                <a:latin typeface="メイリオ" panose="020B0604030504040204" pitchFamily="50" charset="-128"/>
                <a:ea typeface="メイリオ" panose="020B0604030504040204" pitchFamily="50" charset="-128"/>
                <a:cs typeface="Calibri" pitchFamily="34" charset="-120"/>
              </a:rPr>
              <a:t>ご登録ありがとう</a:t>
            </a:r>
            <a:endParaRPr lang="en-US" sz="1200" dirty="0">
              <a:latin typeface="メイリオ" panose="020B0604030504040204" pitchFamily="50" charset="-128"/>
              <a:ea typeface="メイリオ" panose="020B0604030504040204" pitchFamily="50" charset="-128"/>
            </a:endParaRPr>
          </a:p>
          <a:p>
            <a:pPr marL="0" indent="0">
              <a:lnSpc>
                <a:spcPct val="130000"/>
              </a:lnSpc>
              <a:buNone/>
            </a:pPr>
            <a:r>
              <a:rPr lang="en-US" sz="1200" b="1" dirty="0" err="1">
                <a:solidFill>
                  <a:srgbClr val="1F2B5C"/>
                </a:solidFill>
                <a:latin typeface="メイリオ" panose="020B0604030504040204" pitchFamily="50" charset="-128"/>
                <a:ea typeface="メイリオ" panose="020B0604030504040204" pitchFamily="50" charset="-128"/>
                <a:cs typeface="Calibri" pitchFamily="34" charset="-120"/>
              </a:rPr>
              <a:t>ございます！</a:t>
            </a:r>
            <a:endParaRPr lang="en-US" sz="1200" dirty="0">
              <a:latin typeface="メイリオ" panose="020B0604030504040204" pitchFamily="50" charset="-128"/>
              <a:ea typeface="メイリオ" panose="020B0604030504040204" pitchFamily="50" charset="-128"/>
            </a:endParaRPr>
          </a:p>
        </p:txBody>
      </p:sp>
      <p:sp>
        <p:nvSpPr>
          <p:cNvPr id="191" name="Text 18">
            <a:extLst>
              <a:ext uri="{FF2B5EF4-FFF2-40B4-BE49-F238E27FC236}">
                <a16:creationId xmlns:a16="http://schemas.microsoft.com/office/drawing/2014/main" id="{7676C898-C17D-7E2E-B6BF-9ECC1859A649}"/>
              </a:ext>
            </a:extLst>
          </p:cNvPr>
          <p:cNvSpPr/>
          <p:nvPr/>
        </p:nvSpPr>
        <p:spPr>
          <a:xfrm>
            <a:off x="658611" y="3061141"/>
            <a:ext cx="1499616" cy="749808"/>
          </a:xfrm>
          <a:prstGeom prst="rect">
            <a:avLst/>
          </a:prstGeom>
          <a:noFill/>
          <a:ln/>
        </p:spPr>
        <p:txBody>
          <a:bodyPr wrap="square" lIns="0" tIns="0" rIns="0" bIns="0" rtlCol="0" anchor="ctr"/>
          <a:lstStyle/>
          <a:p>
            <a:pPr marL="0" indent="0">
              <a:lnSpc>
                <a:spcPct val="140000"/>
              </a:lnSpc>
              <a:buNone/>
            </a:pPr>
            <a:r>
              <a:rPr lang="en-US" sz="700" dirty="0">
                <a:solidFill>
                  <a:srgbClr val="494848"/>
                </a:solidFill>
                <a:latin typeface="メイリオ" panose="020B0604030504040204" pitchFamily="50" charset="-128"/>
                <a:ea typeface="メイリオ" panose="020B0604030504040204" pitchFamily="50" charset="-128"/>
                <a:cs typeface="Calibri" pitchFamily="34" charset="-120"/>
              </a:rPr>
              <a:t>3問タップで</a:t>
            </a:r>
            <a:endParaRPr lang="en-US" sz="700" dirty="0">
              <a:latin typeface="メイリオ" panose="020B0604030504040204" pitchFamily="50" charset="-128"/>
              <a:ea typeface="メイリオ" panose="020B0604030504040204" pitchFamily="50" charset="-128"/>
            </a:endParaRPr>
          </a:p>
          <a:p>
            <a:pPr marL="0" indent="0">
              <a:lnSpc>
                <a:spcPct val="140000"/>
              </a:lnSpc>
              <a:buNone/>
            </a:pPr>
            <a:r>
              <a:rPr lang="en-US" sz="700" dirty="0">
                <a:solidFill>
                  <a:srgbClr val="494848"/>
                </a:solidFill>
                <a:latin typeface="メイリオ" panose="020B0604030504040204" pitchFamily="50" charset="-128"/>
                <a:ea typeface="メイリオ" panose="020B0604030504040204" pitchFamily="50" charset="-128"/>
                <a:cs typeface="Calibri" pitchFamily="34" charset="-120"/>
              </a:rPr>
              <a:t>エントリー状況・</a:t>
            </a:r>
            <a:endParaRPr lang="en-US" sz="700" dirty="0">
              <a:latin typeface="メイリオ" panose="020B0604030504040204" pitchFamily="50" charset="-128"/>
              <a:ea typeface="メイリオ" panose="020B0604030504040204" pitchFamily="50" charset="-128"/>
            </a:endParaRPr>
          </a:p>
          <a:p>
            <a:pPr marL="0" indent="0">
              <a:lnSpc>
                <a:spcPct val="140000"/>
              </a:lnSpc>
              <a:buNone/>
            </a:pPr>
            <a:r>
              <a:rPr lang="en-US" sz="700" dirty="0">
                <a:solidFill>
                  <a:srgbClr val="494848"/>
                </a:solidFill>
                <a:latin typeface="メイリオ" panose="020B0604030504040204" pitchFamily="50" charset="-128"/>
                <a:ea typeface="メイリオ" panose="020B0604030504040204" pitchFamily="50" charset="-128"/>
                <a:cs typeface="Calibri" pitchFamily="34" charset="-120"/>
              </a:rPr>
              <a:t>開始時期・エリアを分岐</a:t>
            </a:r>
            <a:endParaRPr lang="en-US" sz="700" dirty="0">
              <a:latin typeface="メイリオ" panose="020B0604030504040204" pitchFamily="50" charset="-128"/>
              <a:ea typeface="メイリオ" panose="020B0604030504040204" pitchFamily="50" charset="-128"/>
            </a:endParaRPr>
          </a:p>
          <a:p>
            <a:pPr marL="0" indent="0">
              <a:lnSpc>
                <a:spcPct val="140000"/>
              </a:lnSpc>
              <a:buNone/>
            </a:pPr>
            <a:r>
              <a:rPr lang="en-US" sz="700" dirty="0">
                <a:solidFill>
                  <a:srgbClr val="494848"/>
                </a:solidFill>
                <a:latin typeface="メイリオ" panose="020B0604030504040204" pitchFamily="50" charset="-128"/>
                <a:ea typeface="メイリオ" panose="020B0604030504040204" pitchFamily="50" charset="-128"/>
                <a:cs typeface="Calibri" pitchFamily="34" charset="-120"/>
              </a:rPr>
              <a:t>・タグ付け</a:t>
            </a:r>
            <a:endParaRPr lang="en-US" sz="700" dirty="0">
              <a:latin typeface="メイリオ" panose="020B0604030504040204" pitchFamily="50" charset="-128"/>
              <a:ea typeface="メイリオ" panose="020B0604030504040204" pitchFamily="50" charset="-128"/>
            </a:endParaRPr>
          </a:p>
          <a:p>
            <a:pPr marL="0" indent="0">
              <a:lnSpc>
                <a:spcPct val="140000"/>
              </a:lnSpc>
              <a:buNone/>
            </a:pPr>
            <a:r>
              <a:rPr lang="en-US" sz="700" dirty="0">
                <a:solidFill>
                  <a:srgbClr val="494848"/>
                </a:solidFill>
                <a:latin typeface="メイリオ" panose="020B0604030504040204" pitchFamily="50" charset="-128"/>
                <a:ea typeface="メイリオ" panose="020B0604030504040204" pitchFamily="50" charset="-128"/>
                <a:cs typeface="Calibri" pitchFamily="34" charset="-120"/>
              </a:rPr>
              <a:t>（今のアンケートを活かす）</a:t>
            </a:r>
            <a:endParaRPr lang="en-US" sz="700" dirty="0">
              <a:latin typeface="メイリオ" panose="020B0604030504040204" pitchFamily="50" charset="-128"/>
              <a:ea typeface="メイリオ" panose="020B0604030504040204" pitchFamily="50" charset="-128"/>
            </a:endParaRPr>
          </a:p>
        </p:txBody>
      </p:sp>
      <p:sp>
        <p:nvSpPr>
          <p:cNvPr id="193" name="Shape 19">
            <a:extLst>
              <a:ext uri="{FF2B5EF4-FFF2-40B4-BE49-F238E27FC236}">
                <a16:creationId xmlns:a16="http://schemas.microsoft.com/office/drawing/2014/main" id="{3F13F0D2-3523-AEE0-91B0-8E81E05DDA0A}"/>
              </a:ext>
            </a:extLst>
          </p:cNvPr>
          <p:cNvSpPr/>
          <p:nvPr/>
        </p:nvSpPr>
        <p:spPr>
          <a:xfrm>
            <a:off x="640323" y="3960738"/>
            <a:ext cx="1536192" cy="694944"/>
          </a:xfrm>
          <a:prstGeom prst="roundRect">
            <a:avLst>
              <a:gd name="adj" fmla="val 6579"/>
            </a:avLst>
          </a:prstGeom>
          <a:solidFill>
            <a:srgbClr val="F5F5F5"/>
          </a:solidFill>
          <a:ln w="12700">
            <a:solidFill>
              <a:srgbClr val="DDDDDD"/>
            </a:solidFill>
            <a:prstDash val="solid"/>
          </a:ln>
        </p:spPr>
        <p:txBody>
          <a:bodyPr/>
          <a:lstStyle/>
          <a:p>
            <a:endParaRPr lang="ja-JP" altLang="en-US" sz="1400">
              <a:latin typeface="メイリオ" panose="020B0604030504040204" pitchFamily="50" charset="-128"/>
              <a:ea typeface="メイリオ" panose="020B0604030504040204" pitchFamily="50" charset="-128"/>
            </a:endParaRPr>
          </a:p>
        </p:txBody>
      </p:sp>
      <p:sp>
        <p:nvSpPr>
          <p:cNvPr id="195" name="Text 20">
            <a:extLst>
              <a:ext uri="{FF2B5EF4-FFF2-40B4-BE49-F238E27FC236}">
                <a16:creationId xmlns:a16="http://schemas.microsoft.com/office/drawing/2014/main" id="{2441CFFD-892A-3183-D026-E486644DEE53}"/>
              </a:ext>
            </a:extLst>
          </p:cNvPr>
          <p:cNvSpPr/>
          <p:nvPr/>
        </p:nvSpPr>
        <p:spPr>
          <a:xfrm>
            <a:off x="713475" y="3997314"/>
            <a:ext cx="1389888" cy="128016"/>
          </a:xfrm>
          <a:prstGeom prst="rect">
            <a:avLst/>
          </a:prstGeom>
          <a:noFill/>
          <a:ln/>
        </p:spPr>
        <p:txBody>
          <a:bodyPr wrap="square" lIns="0" tIns="0" rIns="0" bIns="0" rtlCol="0" anchor="ctr"/>
          <a:lstStyle/>
          <a:p>
            <a:pPr marL="0" indent="0">
              <a:buNone/>
            </a:pPr>
            <a:r>
              <a:rPr lang="en-US" sz="500" b="1" dirty="0">
                <a:solidFill>
                  <a:srgbClr val="888888"/>
                </a:solidFill>
                <a:latin typeface="メイリオ" panose="020B0604030504040204" pitchFamily="50" charset="-128"/>
                <a:ea typeface="メイリオ" panose="020B0604030504040204" pitchFamily="50" charset="-128"/>
                <a:cs typeface="Calibri" pitchFamily="34" charset="-120"/>
              </a:rPr>
              <a:t>[検索データ]</a:t>
            </a:r>
            <a:endParaRPr lang="en-US" sz="500" dirty="0">
              <a:latin typeface="メイリオ" panose="020B0604030504040204" pitchFamily="50" charset="-128"/>
              <a:ea typeface="メイリオ" panose="020B0604030504040204" pitchFamily="50" charset="-128"/>
            </a:endParaRPr>
          </a:p>
        </p:txBody>
      </p:sp>
      <p:sp>
        <p:nvSpPr>
          <p:cNvPr id="197" name="Text 21">
            <a:extLst>
              <a:ext uri="{FF2B5EF4-FFF2-40B4-BE49-F238E27FC236}">
                <a16:creationId xmlns:a16="http://schemas.microsoft.com/office/drawing/2014/main" id="{02E571B0-469E-27C6-416F-54EE99A83950}"/>
              </a:ext>
            </a:extLst>
          </p:cNvPr>
          <p:cNvSpPr/>
          <p:nvPr/>
        </p:nvSpPr>
        <p:spPr>
          <a:xfrm>
            <a:off x="713475" y="4143618"/>
            <a:ext cx="1389888" cy="493776"/>
          </a:xfrm>
          <a:prstGeom prst="rect">
            <a:avLst/>
          </a:prstGeom>
          <a:noFill/>
          <a:ln/>
        </p:spPr>
        <p:txBody>
          <a:bodyPr wrap="square" lIns="0" tIns="0" rIns="0" bIns="0" rtlCol="0" anchor="ctr"/>
          <a:lstStyle/>
          <a:p>
            <a:pPr marL="0" indent="0">
              <a:lnSpc>
                <a:spcPct val="135000"/>
              </a:lnSpc>
              <a:buNone/>
            </a:pPr>
            <a:r>
              <a:rPr lang="en-US" sz="600" dirty="0">
                <a:solidFill>
                  <a:srgbClr val="494848"/>
                </a:solidFill>
                <a:latin typeface="メイリオ" panose="020B0604030504040204" pitchFamily="50" charset="-128"/>
                <a:ea typeface="メイリオ" panose="020B0604030504040204" pitchFamily="50" charset="-128"/>
                <a:cs typeface="Calibri" pitchFamily="34" charset="-120"/>
              </a:rPr>
              <a:t>--</a:t>
            </a:r>
            <a:endParaRPr lang="en-US" sz="600" dirty="0">
              <a:latin typeface="メイリオ" panose="020B0604030504040204" pitchFamily="50" charset="-128"/>
              <a:ea typeface="メイリオ" panose="020B0604030504040204" pitchFamily="50" charset="-128"/>
            </a:endParaRPr>
          </a:p>
          <a:p>
            <a:pPr marL="0" indent="0">
              <a:lnSpc>
                <a:spcPct val="135000"/>
              </a:lnSpc>
              <a:buNone/>
            </a:pPr>
            <a:r>
              <a:rPr lang="en-US" sz="600" dirty="0">
                <a:solidFill>
                  <a:srgbClr val="494848"/>
                </a:solidFill>
                <a:latin typeface="メイリオ" panose="020B0604030504040204" pitchFamily="50" charset="-128"/>
                <a:ea typeface="メイリオ" panose="020B0604030504040204" pitchFamily="50" charset="-128"/>
                <a:cs typeface="Calibri" pitchFamily="34" charset="-120"/>
              </a:rPr>
              <a:t>（追加直後は検索データなし。</a:t>
            </a:r>
            <a:endParaRPr lang="en-US" sz="600" dirty="0">
              <a:latin typeface="メイリオ" panose="020B0604030504040204" pitchFamily="50" charset="-128"/>
              <a:ea typeface="メイリオ" panose="020B0604030504040204" pitchFamily="50" charset="-128"/>
            </a:endParaRPr>
          </a:p>
          <a:p>
            <a:pPr marL="0" indent="0">
              <a:lnSpc>
                <a:spcPct val="135000"/>
              </a:lnSpc>
              <a:buNone/>
            </a:pPr>
            <a:r>
              <a:rPr lang="en-US" sz="600" dirty="0">
                <a:solidFill>
                  <a:srgbClr val="494848"/>
                </a:solidFill>
                <a:latin typeface="メイリオ" panose="020B0604030504040204" pitchFamily="50" charset="-128"/>
                <a:ea typeface="メイリオ" panose="020B0604030504040204" pitchFamily="50" charset="-128"/>
                <a:cs typeface="Calibri" pitchFamily="34" charset="-120"/>
              </a:rPr>
              <a:t>アンケートの回答で配信を出し分け）</a:t>
            </a:r>
            <a:endParaRPr lang="en-US" sz="600" dirty="0">
              <a:latin typeface="メイリオ" panose="020B0604030504040204" pitchFamily="50" charset="-128"/>
              <a:ea typeface="メイリオ" panose="020B0604030504040204" pitchFamily="50" charset="-128"/>
            </a:endParaRPr>
          </a:p>
        </p:txBody>
      </p:sp>
      <p:sp>
        <p:nvSpPr>
          <p:cNvPr id="199" name="Shape 22">
            <a:extLst>
              <a:ext uri="{FF2B5EF4-FFF2-40B4-BE49-F238E27FC236}">
                <a16:creationId xmlns:a16="http://schemas.microsoft.com/office/drawing/2014/main" id="{A9B7453E-695C-212F-38BF-388DF6783D18}"/>
              </a:ext>
            </a:extLst>
          </p:cNvPr>
          <p:cNvSpPr/>
          <p:nvPr/>
        </p:nvSpPr>
        <p:spPr>
          <a:xfrm>
            <a:off x="640323" y="4765410"/>
            <a:ext cx="1536192" cy="310896"/>
          </a:xfrm>
          <a:prstGeom prst="roundRect">
            <a:avLst>
              <a:gd name="adj" fmla="val 35294"/>
            </a:avLst>
          </a:prstGeom>
          <a:solidFill>
            <a:srgbClr val="FFFFFF"/>
          </a:solidFill>
          <a:ln w="12700">
            <a:solidFill>
              <a:srgbClr val="1F2B5C"/>
            </a:solidFill>
            <a:prstDash val="solid"/>
          </a:ln>
        </p:spPr>
        <p:txBody>
          <a:bodyPr/>
          <a:lstStyle/>
          <a:p>
            <a:endParaRPr lang="ja-JP" altLang="en-US">
              <a:latin typeface="メイリオ" panose="020B0604030504040204" pitchFamily="50" charset="-128"/>
              <a:ea typeface="メイリオ" panose="020B0604030504040204" pitchFamily="50" charset="-128"/>
            </a:endParaRPr>
          </a:p>
        </p:txBody>
      </p:sp>
      <p:sp>
        <p:nvSpPr>
          <p:cNvPr id="201" name="Text 23">
            <a:extLst>
              <a:ext uri="{FF2B5EF4-FFF2-40B4-BE49-F238E27FC236}">
                <a16:creationId xmlns:a16="http://schemas.microsoft.com/office/drawing/2014/main" id="{8953102A-09F1-A735-DE78-9D1620CCFC78}"/>
              </a:ext>
            </a:extLst>
          </p:cNvPr>
          <p:cNvSpPr/>
          <p:nvPr/>
        </p:nvSpPr>
        <p:spPr>
          <a:xfrm>
            <a:off x="640323" y="4765410"/>
            <a:ext cx="1536192" cy="310896"/>
          </a:xfrm>
          <a:prstGeom prst="rect">
            <a:avLst/>
          </a:prstGeom>
          <a:noFill/>
          <a:ln/>
        </p:spPr>
        <p:txBody>
          <a:bodyPr wrap="square" lIns="0" tIns="0" rIns="0" bIns="0" rtlCol="0" anchor="ctr"/>
          <a:lstStyle/>
          <a:p>
            <a:pPr marL="0" indent="0" algn="ctr">
              <a:buNone/>
            </a:pPr>
            <a:r>
              <a:rPr lang="en-US" sz="950" b="1" dirty="0">
                <a:latin typeface="メイリオ" panose="020B0604030504040204" pitchFamily="50" charset="-128"/>
                <a:ea typeface="メイリオ" panose="020B0604030504040204" pitchFamily="50" charset="-128"/>
                <a:cs typeface="Calibri" pitchFamily="34" charset="-120"/>
              </a:rPr>
              <a:t>おすすめ求人</a:t>
            </a:r>
            <a:endParaRPr lang="en-US" sz="950" dirty="0">
              <a:latin typeface="メイリオ" panose="020B0604030504040204" pitchFamily="50" charset="-128"/>
              <a:ea typeface="メイリオ" panose="020B0604030504040204" pitchFamily="50" charset="-128"/>
            </a:endParaRPr>
          </a:p>
        </p:txBody>
      </p:sp>
      <p:sp>
        <p:nvSpPr>
          <p:cNvPr id="203" name="Shape 24">
            <a:extLst>
              <a:ext uri="{FF2B5EF4-FFF2-40B4-BE49-F238E27FC236}">
                <a16:creationId xmlns:a16="http://schemas.microsoft.com/office/drawing/2014/main" id="{C88FA24B-5601-EF2D-1F8E-3C4F217194A0}"/>
              </a:ext>
            </a:extLst>
          </p:cNvPr>
          <p:cNvSpPr/>
          <p:nvPr/>
        </p:nvSpPr>
        <p:spPr>
          <a:xfrm>
            <a:off x="2341107" y="1835845"/>
            <a:ext cx="1719072" cy="3363172"/>
          </a:xfrm>
          <a:prstGeom prst="roundRect">
            <a:avLst>
              <a:gd name="adj" fmla="val 3191"/>
            </a:avLst>
          </a:prstGeom>
          <a:solidFill>
            <a:srgbClr val="FFFFFF"/>
          </a:solidFill>
          <a:ln w="12700">
            <a:solidFill>
              <a:srgbClr val="DDDDDD"/>
            </a:solidFill>
            <a:prstDash val="solid"/>
          </a:ln>
          <a:effectLst>
            <a:outerShdw blurRad="38100" dist="12700" dir="8100000" algn="bl" rotWithShape="0">
              <a:srgbClr val="AAAAAA">
                <a:alpha val="10000"/>
              </a:srgbClr>
            </a:outerShdw>
          </a:effectLst>
        </p:spPr>
        <p:txBody>
          <a:bodyPr/>
          <a:lstStyle/>
          <a:p>
            <a:endParaRPr lang="ja-JP" altLang="en-US">
              <a:latin typeface="メイリオ" panose="020B0604030504040204" pitchFamily="50" charset="-128"/>
              <a:ea typeface="メイリオ" panose="020B0604030504040204" pitchFamily="50" charset="-128"/>
            </a:endParaRPr>
          </a:p>
        </p:txBody>
      </p:sp>
      <p:sp>
        <p:nvSpPr>
          <p:cNvPr id="205" name="Shape 25">
            <a:extLst>
              <a:ext uri="{FF2B5EF4-FFF2-40B4-BE49-F238E27FC236}">
                <a16:creationId xmlns:a16="http://schemas.microsoft.com/office/drawing/2014/main" id="{B6268B67-5D90-26D0-5BCD-52C7F292C8B0}"/>
              </a:ext>
            </a:extLst>
          </p:cNvPr>
          <p:cNvSpPr/>
          <p:nvPr/>
        </p:nvSpPr>
        <p:spPr>
          <a:xfrm>
            <a:off x="2341107" y="1835845"/>
            <a:ext cx="1719072" cy="585216"/>
          </a:xfrm>
          <a:prstGeom prst="roundRect">
            <a:avLst>
              <a:gd name="adj" fmla="val 9375"/>
            </a:avLst>
          </a:prstGeom>
          <a:solidFill>
            <a:srgbClr val="1565C0"/>
          </a:solidFill>
          <a:ln w="12700">
            <a:noFill/>
            <a:prstDash val="solid"/>
          </a:ln>
        </p:spPr>
        <p:txBody>
          <a:bodyPr/>
          <a:lstStyle/>
          <a:p>
            <a:endParaRPr lang="ja-JP" altLang="en-US">
              <a:latin typeface="メイリオ" panose="020B0604030504040204" pitchFamily="50" charset="-128"/>
              <a:ea typeface="メイリオ" panose="020B0604030504040204" pitchFamily="50" charset="-128"/>
            </a:endParaRPr>
          </a:p>
        </p:txBody>
      </p:sp>
      <p:sp>
        <p:nvSpPr>
          <p:cNvPr id="207" name="Text 26">
            <a:extLst>
              <a:ext uri="{FF2B5EF4-FFF2-40B4-BE49-F238E27FC236}">
                <a16:creationId xmlns:a16="http://schemas.microsoft.com/office/drawing/2014/main" id="{89D42342-00AC-8FE9-32F8-067BB3EBE2A4}"/>
              </a:ext>
            </a:extLst>
          </p:cNvPr>
          <p:cNvSpPr/>
          <p:nvPr/>
        </p:nvSpPr>
        <p:spPr>
          <a:xfrm>
            <a:off x="2432547" y="1872421"/>
            <a:ext cx="1536192" cy="274320"/>
          </a:xfrm>
          <a:prstGeom prst="rect">
            <a:avLst/>
          </a:prstGeom>
          <a:noFill/>
          <a:ln>
            <a:noFill/>
          </a:ln>
        </p:spPr>
        <p:txBody>
          <a:bodyPr wrap="square" lIns="0" tIns="0" rIns="0" bIns="0" rtlCol="0" anchor="ctr"/>
          <a:lstStyle/>
          <a:p>
            <a:pPr marL="0" indent="0" algn="ctr">
              <a:buNone/>
            </a:pPr>
            <a:r>
              <a:rPr lang="en-US" sz="1500" b="1" dirty="0">
                <a:solidFill>
                  <a:srgbClr val="FFFFFF"/>
                </a:solidFill>
                <a:latin typeface="メイリオ" panose="020B0604030504040204" pitchFamily="50" charset="-128"/>
                <a:ea typeface="メイリオ" panose="020B0604030504040204" pitchFamily="50" charset="-128"/>
                <a:cs typeface="Calibri" pitchFamily="34" charset="-120"/>
              </a:rPr>
              <a:t>Day1〜2</a:t>
            </a:r>
            <a:endParaRPr lang="en-US" sz="1500" dirty="0">
              <a:latin typeface="メイリオ" panose="020B0604030504040204" pitchFamily="50" charset="-128"/>
              <a:ea typeface="メイリオ" panose="020B0604030504040204" pitchFamily="50" charset="-128"/>
            </a:endParaRPr>
          </a:p>
        </p:txBody>
      </p:sp>
      <p:sp>
        <p:nvSpPr>
          <p:cNvPr id="209" name="Text 27">
            <a:extLst>
              <a:ext uri="{FF2B5EF4-FFF2-40B4-BE49-F238E27FC236}">
                <a16:creationId xmlns:a16="http://schemas.microsoft.com/office/drawing/2014/main" id="{DDDA5299-26E4-761F-DC5F-D6ED5EDD3F65}"/>
              </a:ext>
            </a:extLst>
          </p:cNvPr>
          <p:cNvSpPr/>
          <p:nvPr/>
        </p:nvSpPr>
        <p:spPr>
          <a:xfrm>
            <a:off x="2432547" y="2146741"/>
            <a:ext cx="1536192" cy="201168"/>
          </a:xfrm>
          <a:prstGeom prst="rect">
            <a:avLst/>
          </a:prstGeom>
          <a:noFill/>
          <a:ln>
            <a:noFill/>
          </a:ln>
        </p:spPr>
        <p:txBody>
          <a:bodyPr wrap="square" lIns="0" tIns="0" rIns="0" bIns="0" rtlCol="0" anchor="ctr"/>
          <a:lstStyle/>
          <a:p>
            <a:pPr marL="0" indent="0" algn="ctr">
              <a:buNone/>
            </a:pPr>
            <a:r>
              <a:rPr lang="en-US" sz="900" dirty="0">
                <a:solidFill>
                  <a:srgbClr val="D0E8FF"/>
                </a:solidFill>
                <a:latin typeface="メイリオ" panose="020B0604030504040204" pitchFamily="50" charset="-128"/>
                <a:ea typeface="メイリオ" panose="020B0604030504040204" pitchFamily="50" charset="-128"/>
                <a:cs typeface="Calibri" pitchFamily="34" charset="-120"/>
              </a:rPr>
              <a:t>働き方の比較</a:t>
            </a:r>
            <a:endParaRPr lang="en-US" sz="900" dirty="0">
              <a:latin typeface="メイリオ" panose="020B0604030504040204" pitchFamily="50" charset="-128"/>
              <a:ea typeface="メイリオ" panose="020B0604030504040204" pitchFamily="50" charset="-128"/>
            </a:endParaRPr>
          </a:p>
        </p:txBody>
      </p:sp>
      <p:sp>
        <p:nvSpPr>
          <p:cNvPr id="211" name="Text 28">
            <a:extLst>
              <a:ext uri="{FF2B5EF4-FFF2-40B4-BE49-F238E27FC236}">
                <a16:creationId xmlns:a16="http://schemas.microsoft.com/office/drawing/2014/main" id="{289FA38A-B858-EAC9-F39D-14780D290081}"/>
              </a:ext>
            </a:extLst>
          </p:cNvPr>
          <p:cNvSpPr/>
          <p:nvPr/>
        </p:nvSpPr>
        <p:spPr>
          <a:xfrm>
            <a:off x="2450835" y="2494213"/>
            <a:ext cx="1499616" cy="530352"/>
          </a:xfrm>
          <a:prstGeom prst="rect">
            <a:avLst/>
          </a:prstGeom>
          <a:noFill/>
          <a:ln/>
        </p:spPr>
        <p:txBody>
          <a:bodyPr wrap="square" lIns="0" tIns="0" rIns="0" bIns="0" rtlCol="0" anchor="ctr"/>
          <a:lstStyle/>
          <a:p>
            <a:pPr marL="0" indent="0">
              <a:lnSpc>
                <a:spcPct val="130000"/>
              </a:lnSpc>
              <a:buNone/>
            </a:pPr>
            <a:r>
              <a:rPr lang="en-US" sz="1200" b="1" dirty="0" err="1">
                <a:solidFill>
                  <a:srgbClr val="1565C0"/>
                </a:solidFill>
                <a:latin typeface="メイリオ" panose="020B0604030504040204" pitchFamily="50" charset="-128"/>
                <a:ea typeface="メイリオ" panose="020B0604030504040204" pitchFamily="50" charset="-128"/>
                <a:cs typeface="Calibri" pitchFamily="34" charset="-120"/>
              </a:rPr>
              <a:t>リゾートバイトの</a:t>
            </a:r>
            <a:endParaRPr lang="en-US" sz="1200" dirty="0">
              <a:latin typeface="メイリオ" panose="020B0604030504040204" pitchFamily="50" charset="-128"/>
              <a:ea typeface="メイリオ" panose="020B0604030504040204" pitchFamily="50" charset="-128"/>
            </a:endParaRPr>
          </a:p>
          <a:p>
            <a:pPr marL="0" indent="0">
              <a:lnSpc>
                <a:spcPct val="130000"/>
              </a:lnSpc>
              <a:buNone/>
            </a:pPr>
            <a:r>
              <a:rPr lang="en-US" sz="1200" b="1" dirty="0" err="1">
                <a:solidFill>
                  <a:srgbClr val="1565C0"/>
                </a:solidFill>
                <a:latin typeface="メイリオ" panose="020B0604030504040204" pitchFamily="50" charset="-128"/>
                <a:ea typeface="メイリオ" panose="020B0604030504040204" pitchFamily="50" charset="-128"/>
                <a:cs typeface="Calibri" pitchFamily="34" charset="-120"/>
              </a:rPr>
              <a:t>働き方がわかる</a:t>
            </a:r>
            <a:endParaRPr lang="en-US" sz="1200" dirty="0">
              <a:latin typeface="メイリオ" panose="020B0604030504040204" pitchFamily="50" charset="-128"/>
              <a:ea typeface="メイリオ" panose="020B0604030504040204" pitchFamily="50" charset="-128"/>
            </a:endParaRPr>
          </a:p>
        </p:txBody>
      </p:sp>
      <p:sp>
        <p:nvSpPr>
          <p:cNvPr id="213" name="Text 29">
            <a:extLst>
              <a:ext uri="{FF2B5EF4-FFF2-40B4-BE49-F238E27FC236}">
                <a16:creationId xmlns:a16="http://schemas.microsoft.com/office/drawing/2014/main" id="{150DA1ED-B1CD-1150-347A-518E97A2A6AD}"/>
              </a:ext>
            </a:extLst>
          </p:cNvPr>
          <p:cNvSpPr/>
          <p:nvPr/>
        </p:nvSpPr>
        <p:spPr>
          <a:xfrm>
            <a:off x="2450835" y="3061141"/>
            <a:ext cx="1499616" cy="749808"/>
          </a:xfrm>
          <a:prstGeom prst="rect">
            <a:avLst/>
          </a:prstGeom>
          <a:noFill/>
          <a:ln/>
        </p:spPr>
        <p:txBody>
          <a:bodyPr wrap="square" lIns="0" tIns="0" rIns="0" bIns="0" rtlCol="0" anchor="ctr"/>
          <a:lstStyle/>
          <a:p>
            <a:pPr marL="0" indent="0">
              <a:lnSpc>
                <a:spcPct val="140000"/>
              </a:lnSpc>
              <a:buNone/>
            </a:pPr>
            <a:r>
              <a:rPr lang="en-US" sz="700" dirty="0">
                <a:solidFill>
                  <a:srgbClr val="494848"/>
                </a:solidFill>
                <a:latin typeface="メイリオ" panose="020B0604030504040204" pitchFamily="50" charset="-128"/>
                <a:ea typeface="メイリオ" panose="020B0604030504040204" pitchFamily="50" charset="-128"/>
                <a:cs typeface="Calibri" pitchFamily="34" charset="-120"/>
              </a:rPr>
              <a:t>住み込みで働く流れと、</a:t>
            </a:r>
            <a:endParaRPr lang="en-US" sz="700" dirty="0">
              <a:latin typeface="メイリオ" panose="020B0604030504040204" pitchFamily="50" charset="-128"/>
              <a:ea typeface="メイリオ" panose="020B0604030504040204" pitchFamily="50" charset="-128"/>
            </a:endParaRPr>
          </a:p>
          <a:p>
            <a:pPr marL="0" indent="0">
              <a:lnSpc>
                <a:spcPct val="140000"/>
              </a:lnSpc>
              <a:buNone/>
            </a:pPr>
            <a:r>
              <a:rPr lang="en-US" sz="700" dirty="0">
                <a:solidFill>
                  <a:srgbClr val="494848"/>
                </a:solidFill>
                <a:latin typeface="メイリオ" panose="020B0604030504040204" pitchFamily="50" charset="-128"/>
                <a:ea typeface="メイリオ" panose="020B0604030504040204" pitchFamily="50" charset="-128"/>
                <a:cs typeface="Calibri" pitchFamily="34" charset="-120"/>
              </a:rPr>
              <a:t>食費無料・Wi-Fi完備など</a:t>
            </a:r>
            <a:endParaRPr lang="en-US" sz="700" dirty="0">
              <a:latin typeface="メイリオ" panose="020B0604030504040204" pitchFamily="50" charset="-128"/>
              <a:ea typeface="メイリオ" panose="020B0604030504040204" pitchFamily="50" charset="-128"/>
            </a:endParaRPr>
          </a:p>
          <a:p>
            <a:pPr marL="0" indent="0">
              <a:lnSpc>
                <a:spcPct val="140000"/>
              </a:lnSpc>
              <a:buNone/>
            </a:pPr>
            <a:r>
              <a:rPr lang="en-US" sz="700" dirty="0">
                <a:solidFill>
                  <a:srgbClr val="494848"/>
                </a:solidFill>
                <a:latin typeface="メイリオ" panose="020B0604030504040204" pitchFamily="50" charset="-128"/>
                <a:ea typeface="メイリオ" panose="020B0604030504040204" pitchFamily="50" charset="-128"/>
                <a:cs typeface="Calibri" pitchFamily="34" charset="-120"/>
              </a:rPr>
              <a:t>寮・生活の条件を紹介</a:t>
            </a:r>
            <a:endParaRPr lang="en-US" sz="700" dirty="0">
              <a:latin typeface="メイリオ" panose="020B0604030504040204" pitchFamily="50" charset="-128"/>
              <a:ea typeface="メイリオ" panose="020B0604030504040204" pitchFamily="50" charset="-128"/>
            </a:endParaRPr>
          </a:p>
          <a:p>
            <a:pPr marL="0" indent="0">
              <a:lnSpc>
                <a:spcPct val="140000"/>
              </a:lnSpc>
              <a:buNone/>
            </a:pPr>
            <a:r>
              <a:rPr lang="en-US" sz="700" dirty="0">
                <a:solidFill>
                  <a:srgbClr val="494848"/>
                </a:solidFill>
                <a:latin typeface="メイリオ" panose="020B0604030504040204" pitchFamily="50" charset="-128"/>
                <a:ea typeface="メイリオ" panose="020B0604030504040204" pitchFamily="50" charset="-128"/>
                <a:cs typeface="Calibri" pitchFamily="34" charset="-120"/>
              </a:rPr>
              <a:t>派遣・単発と比べて</a:t>
            </a:r>
            <a:endParaRPr lang="en-US" sz="700" dirty="0">
              <a:latin typeface="メイリオ" panose="020B0604030504040204" pitchFamily="50" charset="-128"/>
              <a:ea typeface="メイリオ" panose="020B0604030504040204" pitchFamily="50" charset="-128"/>
            </a:endParaRPr>
          </a:p>
          <a:p>
            <a:pPr marL="0" indent="0">
              <a:lnSpc>
                <a:spcPct val="140000"/>
              </a:lnSpc>
              <a:buNone/>
            </a:pPr>
            <a:r>
              <a:rPr lang="en-US" sz="700" dirty="0">
                <a:solidFill>
                  <a:srgbClr val="494848"/>
                </a:solidFill>
                <a:latin typeface="メイリオ" panose="020B0604030504040204" pitchFamily="50" charset="-128"/>
                <a:ea typeface="メイリオ" panose="020B0604030504040204" pitchFamily="50" charset="-128"/>
                <a:cs typeface="Calibri" pitchFamily="34" charset="-120"/>
              </a:rPr>
              <a:t>選ばれる理由を伝える</a:t>
            </a:r>
            <a:endParaRPr lang="en-US" sz="700" dirty="0">
              <a:latin typeface="メイリオ" panose="020B0604030504040204" pitchFamily="50" charset="-128"/>
              <a:ea typeface="メイリオ" panose="020B0604030504040204" pitchFamily="50" charset="-128"/>
            </a:endParaRPr>
          </a:p>
        </p:txBody>
      </p:sp>
      <p:sp>
        <p:nvSpPr>
          <p:cNvPr id="215" name="Shape 30">
            <a:extLst>
              <a:ext uri="{FF2B5EF4-FFF2-40B4-BE49-F238E27FC236}">
                <a16:creationId xmlns:a16="http://schemas.microsoft.com/office/drawing/2014/main" id="{76E377BC-43E4-750C-D8A2-6481DE03C768}"/>
              </a:ext>
            </a:extLst>
          </p:cNvPr>
          <p:cNvSpPr/>
          <p:nvPr/>
        </p:nvSpPr>
        <p:spPr>
          <a:xfrm>
            <a:off x="2432547" y="3960738"/>
            <a:ext cx="1536192" cy="694944"/>
          </a:xfrm>
          <a:prstGeom prst="roundRect">
            <a:avLst>
              <a:gd name="adj" fmla="val 6579"/>
            </a:avLst>
          </a:prstGeom>
          <a:solidFill>
            <a:srgbClr val="F5F5F5"/>
          </a:solidFill>
          <a:ln w="12700">
            <a:solidFill>
              <a:srgbClr val="DDDDDD"/>
            </a:solidFill>
            <a:prstDash val="solid"/>
          </a:ln>
        </p:spPr>
        <p:txBody>
          <a:bodyPr/>
          <a:lstStyle/>
          <a:p>
            <a:endParaRPr lang="ja-JP" altLang="en-US" sz="1400">
              <a:latin typeface="メイリオ" panose="020B0604030504040204" pitchFamily="50" charset="-128"/>
              <a:ea typeface="メイリオ" panose="020B0604030504040204" pitchFamily="50" charset="-128"/>
            </a:endParaRPr>
          </a:p>
        </p:txBody>
      </p:sp>
      <p:sp>
        <p:nvSpPr>
          <p:cNvPr id="217" name="Text 31">
            <a:extLst>
              <a:ext uri="{FF2B5EF4-FFF2-40B4-BE49-F238E27FC236}">
                <a16:creationId xmlns:a16="http://schemas.microsoft.com/office/drawing/2014/main" id="{FF84F76B-5C74-7B62-2528-5D8C6B827AAE}"/>
              </a:ext>
            </a:extLst>
          </p:cNvPr>
          <p:cNvSpPr/>
          <p:nvPr/>
        </p:nvSpPr>
        <p:spPr>
          <a:xfrm>
            <a:off x="2505699" y="3997314"/>
            <a:ext cx="1389888" cy="128016"/>
          </a:xfrm>
          <a:prstGeom prst="rect">
            <a:avLst/>
          </a:prstGeom>
          <a:noFill/>
          <a:ln/>
        </p:spPr>
        <p:txBody>
          <a:bodyPr wrap="square" lIns="0" tIns="0" rIns="0" bIns="0" rtlCol="0" anchor="ctr"/>
          <a:lstStyle/>
          <a:p>
            <a:pPr marL="0" indent="0">
              <a:buNone/>
            </a:pPr>
            <a:r>
              <a:rPr lang="en-US" sz="500" b="1" dirty="0">
                <a:solidFill>
                  <a:srgbClr val="888888"/>
                </a:solidFill>
                <a:latin typeface="メイリオ" panose="020B0604030504040204" pitchFamily="50" charset="-128"/>
                <a:ea typeface="メイリオ" panose="020B0604030504040204" pitchFamily="50" charset="-128"/>
                <a:cs typeface="Calibri" pitchFamily="34" charset="-120"/>
              </a:rPr>
              <a:t>[検索データ]</a:t>
            </a:r>
            <a:endParaRPr lang="en-US" sz="500" dirty="0">
              <a:latin typeface="メイリオ" panose="020B0604030504040204" pitchFamily="50" charset="-128"/>
              <a:ea typeface="メイリオ" panose="020B0604030504040204" pitchFamily="50" charset="-128"/>
            </a:endParaRPr>
          </a:p>
        </p:txBody>
      </p:sp>
      <p:sp>
        <p:nvSpPr>
          <p:cNvPr id="219" name="Text 32">
            <a:extLst>
              <a:ext uri="{FF2B5EF4-FFF2-40B4-BE49-F238E27FC236}">
                <a16:creationId xmlns:a16="http://schemas.microsoft.com/office/drawing/2014/main" id="{BF0CE63B-9D9B-B598-BC2E-ED84243D6BD2}"/>
              </a:ext>
            </a:extLst>
          </p:cNvPr>
          <p:cNvSpPr/>
          <p:nvPr/>
        </p:nvSpPr>
        <p:spPr>
          <a:xfrm>
            <a:off x="2505699" y="4143618"/>
            <a:ext cx="1389888" cy="493776"/>
          </a:xfrm>
          <a:prstGeom prst="rect">
            <a:avLst/>
          </a:prstGeom>
          <a:noFill/>
          <a:ln/>
        </p:spPr>
        <p:txBody>
          <a:bodyPr wrap="square" lIns="0" tIns="0" rIns="0" bIns="0" rtlCol="0" anchor="ctr"/>
          <a:lstStyle/>
          <a:p>
            <a:pPr marL="0" indent="0">
              <a:lnSpc>
                <a:spcPct val="135000"/>
              </a:lnSpc>
              <a:buNone/>
            </a:pPr>
            <a:r>
              <a:rPr lang="en-US" sz="600" dirty="0">
                <a:solidFill>
                  <a:srgbClr val="494848"/>
                </a:solidFill>
                <a:latin typeface="メイリオ" panose="020B0604030504040204" pitchFamily="50" charset="-128"/>
                <a:ea typeface="メイリオ" panose="020B0604030504040204" pitchFamily="50" charset="-128"/>
                <a:cs typeface="Calibri" pitchFamily="34" charset="-120"/>
              </a:rPr>
              <a:t>検索の直前・当日に</a:t>
            </a:r>
            <a:endParaRPr lang="en-US" sz="600" dirty="0">
              <a:latin typeface="メイリオ" panose="020B0604030504040204" pitchFamily="50" charset="-128"/>
              <a:ea typeface="メイリオ" panose="020B0604030504040204" pitchFamily="50" charset="-128"/>
            </a:endParaRPr>
          </a:p>
          <a:p>
            <a:pPr marL="0" indent="0">
              <a:lnSpc>
                <a:spcPct val="135000"/>
              </a:lnSpc>
              <a:buNone/>
            </a:pPr>
            <a:r>
              <a:rPr lang="en-US" sz="600" dirty="0">
                <a:solidFill>
                  <a:srgbClr val="494848"/>
                </a:solidFill>
                <a:latin typeface="メイリオ" panose="020B0604030504040204" pitchFamily="50" charset="-128"/>
                <a:ea typeface="メイリオ" panose="020B0604030504040204" pitchFamily="50" charset="-128"/>
                <a:cs typeface="Calibri" pitchFamily="34" charset="-120"/>
              </a:rPr>
              <a:t>「派遣会社」「単発バイト」</a:t>
            </a:r>
            <a:endParaRPr lang="en-US" sz="600" dirty="0">
              <a:latin typeface="メイリオ" panose="020B0604030504040204" pitchFamily="50" charset="-128"/>
              <a:ea typeface="メイリオ" panose="020B0604030504040204" pitchFamily="50" charset="-128"/>
            </a:endParaRPr>
          </a:p>
          <a:p>
            <a:pPr marL="0" indent="0">
              <a:lnSpc>
                <a:spcPct val="135000"/>
              </a:lnSpc>
              <a:buNone/>
            </a:pPr>
            <a:r>
              <a:rPr lang="en-US" sz="600" dirty="0">
                <a:solidFill>
                  <a:srgbClr val="494848"/>
                </a:solidFill>
                <a:latin typeface="メイリオ" panose="020B0604030504040204" pitchFamily="50" charset="-128"/>
                <a:ea typeface="メイリオ" panose="020B0604030504040204" pitchFamily="50" charset="-128"/>
                <a:cs typeface="Calibri" pitchFamily="34" charset="-120"/>
              </a:rPr>
              <a:t>「リゾートバイト」などを検索。</a:t>
            </a:r>
            <a:endParaRPr lang="en-US" sz="600" dirty="0">
              <a:latin typeface="メイリオ" panose="020B0604030504040204" pitchFamily="50" charset="-128"/>
              <a:ea typeface="メイリオ" panose="020B0604030504040204" pitchFamily="50" charset="-128"/>
            </a:endParaRPr>
          </a:p>
          <a:p>
            <a:pPr marL="0" indent="0">
              <a:lnSpc>
                <a:spcPct val="135000"/>
              </a:lnSpc>
              <a:buNone/>
            </a:pPr>
            <a:r>
              <a:rPr lang="en-US" sz="600" dirty="0">
                <a:solidFill>
                  <a:srgbClr val="494848"/>
                </a:solidFill>
                <a:latin typeface="メイリオ" panose="020B0604030504040204" pitchFamily="50" charset="-128"/>
                <a:ea typeface="メイリオ" panose="020B0604030504040204" pitchFamily="50" charset="-128"/>
                <a:cs typeface="Calibri" pitchFamily="34" charset="-120"/>
              </a:rPr>
              <a:t>働き方を比べている</a:t>
            </a:r>
            <a:endParaRPr lang="en-US" sz="600" dirty="0">
              <a:latin typeface="メイリオ" panose="020B0604030504040204" pitchFamily="50" charset="-128"/>
              <a:ea typeface="メイリオ" panose="020B0604030504040204" pitchFamily="50" charset="-128"/>
            </a:endParaRPr>
          </a:p>
        </p:txBody>
      </p:sp>
      <p:sp>
        <p:nvSpPr>
          <p:cNvPr id="221" name="Shape 33">
            <a:extLst>
              <a:ext uri="{FF2B5EF4-FFF2-40B4-BE49-F238E27FC236}">
                <a16:creationId xmlns:a16="http://schemas.microsoft.com/office/drawing/2014/main" id="{3B3F2D53-D4B6-4F72-F11A-BF340CD1F372}"/>
              </a:ext>
            </a:extLst>
          </p:cNvPr>
          <p:cNvSpPr/>
          <p:nvPr/>
        </p:nvSpPr>
        <p:spPr>
          <a:xfrm>
            <a:off x="2432547" y="4765410"/>
            <a:ext cx="1536192" cy="310896"/>
          </a:xfrm>
          <a:prstGeom prst="roundRect">
            <a:avLst>
              <a:gd name="adj" fmla="val 35294"/>
            </a:avLst>
          </a:prstGeom>
          <a:solidFill>
            <a:srgbClr val="FFFFFF"/>
          </a:solidFill>
          <a:ln w="12700">
            <a:solidFill>
              <a:srgbClr val="1565C0"/>
            </a:solidFill>
            <a:prstDash val="solid"/>
          </a:ln>
        </p:spPr>
        <p:txBody>
          <a:bodyPr/>
          <a:lstStyle/>
          <a:p>
            <a:endParaRPr lang="ja-JP" altLang="en-US">
              <a:latin typeface="メイリオ" panose="020B0604030504040204" pitchFamily="50" charset="-128"/>
              <a:ea typeface="メイリオ" panose="020B0604030504040204" pitchFamily="50" charset="-128"/>
            </a:endParaRPr>
          </a:p>
        </p:txBody>
      </p:sp>
      <p:sp>
        <p:nvSpPr>
          <p:cNvPr id="223" name="Text 34">
            <a:extLst>
              <a:ext uri="{FF2B5EF4-FFF2-40B4-BE49-F238E27FC236}">
                <a16:creationId xmlns:a16="http://schemas.microsoft.com/office/drawing/2014/main" id="{50528FA6-6538-9244-6433-A9A55F723AD1}"/>
              </a:ext>
            </a:extLst>
          </p:cNvPr>
          <p:cNvSpPr/>
          <p:nvPr/>
        </p:nvSpPr>
        <p:spPr>
          <a:xfrm>
            <a:off x="2432547" y="4765410"/>
            <a:ext cx="1536192" cy="310896"/>
          </a:xfrm>
          <a:prstGeom prst="rect">
            <a:avLst/>
          </a:prstGeom>
          <a:noFill/>
          <a:ln/>
        </p:spPr>
        <p:txBody>
          <a:bodyPr wrap="square" lIns="0" tIns="0" rIns="0" bIns="0" rtlCol="0" anchor="ctr"/>
          <a:lstStyle/>
          <a:p>
            <a:pPr marL="0" indent="0" algn="ctr">
              <a:buNone/>
            </a:pPr>
            <a:r>
              <a:rPr lang="en-US" sz="950" b="1" dirty="0" err="1">
                <a:latin typeface="メイリオ" panose="020B0604030504040204" pitchFamily="50" charset="-128"/>
                <a:ea typeface="メイリオ" panose="020B0604030504040204" pitchFamily="50" charset="-128"/>
                <a:cs typeface="Calibri" pitchFamily="34" charset="-120"/>
              </a:rPr>
              <a:t>お役立ち情報</a:t>
            </a:r>
            <a:endParaRPr lang="en-US" sz="950" dirty="0">
              <a:latin typeface="メイリオ" panose="020B0604030504040204" pitchFamily="50" charset="-128"/>
              <a:ea typeface="メイリオ" panose="020B0604030504040204" pitchFamily="50" charset="-128"/>
            </a:endParaRPr>
          </a:p>
        </p:txBody>
      </p:sp>
      <p:sp>
        <p:nvSpPr>
          <p:cNvPr id="225" name="Shape 35">
            <a:extLst>
              <a:ext uri="{FF2B5EF4-FFF2-40B4-BE49-F238E27FC236}">
                <a16:creationId xmlns:a16="http://schemas.microsoft.com/office/drawing/2014/main" id="{53797D95-7FA3-EAB7-FD16-E3CAA1B9A8E9}"/>
              </a:ext>
            </a:extLst>
          </p:cNvPr>
          <p:cNvSpPr/>
          <p:nvPr/>
        </p:nvSpPr>
        <p:spPr>
          <a:xfrm>
            <a:off x="4133331" y="1835845"/>
            <a:ext cx="1719072" cy="3363172"/>
          </a:xfrm>
          <a:prstGeom prst="roundRect">
            <a:avLst>
              <a:gd name="adj" fmla="val 3191"/>
            </a:avLst>
          </a:prstGeom>
          <a:solidFill>
            <a:srgbClr val="FFFFFF"/>
          </a:solidFill>
          <a:ln w="12700">
            <a:solidFill>
              <a:srgbClr val="DDDDDD"/>
            </a:solidFill>
            <a:prstDash val="solid"/>
          </a:ln>
          <a:effectLst>
            <a:outerShdw blurRad="38100" dist="12700" dir="8100000" algn="bl" rotWithShape="0">
              <a:srgbClr val="AAAAAA">
                <a:alpha val="10000"/>
              </a:srgbClr>
            </a:outerShdw>
          </a:effectLst>
        </p:spPr>
        <p:txBody>
          <a:bodyPr/>
          <a:lstStyle/>
          <a:p>
            <a:endParaRPr lang="ja-JP" altLang="en-US">
              <a:latin typeface="メイリオ" panose="020B0604030504040204" pitchFamily="50" charset="-128"/>
              <a:ea typeface="メイリオ" panose="020B0604030504040204" pitchFamily="50" charset="-128"/>
            </a:endParaRPr>
          </a:p>
        </p:txBody>
      </p:sp>
      <p:sp>
        <p:nvSpPr>
          <p:cNvPr id="227" name="Shape 36">
            <a:extLst>
              <a:ext uri="{FF2B5EF4-FFF2-40B4-BE49-F238E27FC236}">
                <a16:creationId xmlns:a16="http://schemas.microsoft.com/office/drawing/2014/main" id="{629B1933-CCE8-4801-AEDC-00D8587663D2}"/>
              </a:ext>
            </a:extLst>
          </p:cNvPr>
          <p:cNvSpPr/>
          <p:nvPr/>
        </p:nvSpPr>
        <p:spPr>
          <a:xfrm>
            <a:off x="4133331" y="1835845"/>
            <a:ext cx="1719072" cy="585216"/>
          </a:xfrm>
          <a:prstGeom prst="roundRect">
            <a:avLst>
              <a:gd name="adj" fmla="val 9375"/>
            </a:avLst>
          </a:prstGeom>
          <a:solidFill>
            <a:schemeClr val="accent1"/>
          </a:solidFill>
          <a:ln w="12700">
            <a:noFill/>
            <a:prstDash val="solid"/>
          </a:ln>
        </p:spPr>
        <p:txBody>
          <a:bodyPr/>
          <a:lstStyle/>
          <a:p>
            <a:endParaRPr lang="ja-JP" altLang="en-US">
              <a:latin typeface="メイリオ" panose="020B0604030504040204" pitchFamily="50" charset="-128"/>
              <a:ea typeface="メイリオ" panose="020B0604030504040204" pitchFamily="50" charset="-128"/>
            </a:endParaRPr>
          </a:p>
        </p:txBody>
      </p:sp>
      <p:sp>
        <p:nvSpPr>
          <p:cNvPr id="229" name="Text 37">
            <a:extLst>
              <a:ext uri="{FF2B5EF4-FFF2-40B4-BE49-F238E27FC236}">
                <a16:creationId xmlns:a16="http://schemas.microsoft.com/office/drawing/2014/main" id="{092214EE-AC44-038C-2722-B308FA576ED9}"/>
              </a:ext>
            </a:extLst>
          </p:cNvPr>
          <p:cNvSpPr/>
          <p:nvPr/>
        </p:nvSpPr>
        <p:spPr>
          <a:xfrm>
            <a:off x="4224771" y="1872421"/>
            <a:ext cx="1536192" cy="274320"/>
          </a:xfrm>
          <a:prstGeom prst="rect">
            <a:avLst/>
          </a:prstGeom>
          <a:noFill/>
          <a:ln>
            <a:noFill/>
          </a:ln>
        </p:spPr>
        <p:txBody>
          <a:bodyPr wrap="square" lIns="0" tIns="0" rIns="0" bIns="0" rtlCol="0" anchor="ctr"/>
          <a:lstStyle/>
          <a:p>
            <a:pPr marL="0" indent="0" algn="ctr">
              <a:buNone/>
            </a:pPr>
            <a:r>
              <a:rPr lang="en-US" sz="1500" b="1" dirty="0">
                <a:solidFill>
                  <a:srgbClr val="FFFFFF"/>
                </a:solidFill>
                <a:latin typeface="メイリオ" panose="020B0604030504040204" pitchFamily="50" charset="-128"/>
                <a:ea typeface="メイリオ" panose="020B0604030504040204" pitchFamily="50" charset="-128"/>
                <a:cs typeface="Calibri" pitchFamily="34" charset="-120"/>
              </a:rPr>
              <a:t>Day3〜4</a:t>
            </a:r>
            <a:endParaRPr lang="en-US" sz="1500" dirty="0">
              <a:latin typeface="メイリオ" panose="020B0604030504040204" pitchFamily="50" charset="-128"/>
              <a:ea typeface="メイリオ" panose="020B0604030504040204" pitchFamily="50" charset="-128"/>
            </a:endParaRPr>
          </a:p>
        </p:txBody>
      </p:sp>
      <p:sp>
        <p:nvSpPr>
          <p:cNvPr id="231" name="Text 38">
            <a:extLst>
              <a:ext uri="{FF2B5EF4-FFF2-40B4-BE49-F238E27FC236}">
                <a16:creationId xmlns:a16="http://schemas.microsoft.com/office/drawing/2014/main" id="{2956D39A-AB56-1D2C-A166-5AD97BF4555B}"/>
              </a:ext>
            </a:extLst>
          </p:cNvPr>
          <p:cNvSpPr/>
          <p:nvPr/>
        </p:nvSpPr>
        <p:spPr>
          <a:xfrm>
            <a:off x="4224771" y="2146741"/>
            <a:ext cx="1536192" cy="201168"/>
          </a:xfrm>
          <a:prstGeom prst="rect">
            <a:avLst/>
          </a:prstGeom>
          <a:noFill/>
          <a:ln>
            <a:noFill/>
          </a:ln>
        </p:spPr>
        <p:txBody>
          <a:bodyPr wrap="square" lIns="0" tIns="0" rIns="0" bIns="0" rtlCol="0" anchor="ctr"/>
          <a:lstStyle/>
          <a:p>
            <a:pPr marL="0" indent="0" algn="ctr">
              <a:buNone/>
            </a:pPr>
            <a:r>
              <a:rPr lang="en-US" sz="900" dirty="0">
                <a:solidFill>
                  <a:srgbClr val="D0E8FF"/>
                </a:solidFill>
                <a:latin typeface="メイリオ" panose="020B0604030504040204" pitchFamily="50" charset="-128"/>
                <a:ea typeface="メイリオ" panose="020B0604030504040204" pitchFamily="50" charset="-128"/>
                <a:cs typeface="Calibri" pitchFamily="34" charset="-120"/>
              </a:rPr>
              <a:t>お金・保険の不安</a:t>
            </a:r>
            <a:endParaRPr lang="en-US" sz="900" dirty="0">
              <a:latin typeface="メイリオ" panose="020B0604030504040204" pitchFamily="50" charset="-128"/>
              <a:ea typeface="メイリオ" panose="020B0604030504040204" pitchFamily="50" charset="-128"/>
            </a:endParaRPr>
          </a:p>
        </p:txBody>
      </p:sp>
      <p:sp>
        <p:nvSpPr>
          <p:cNvPr id="235" name="Text 39">
            <a:extLst>
              <a:ext uri="{FF2B5EF4-FFF2-40B4-BE49-F238E27FC236}">
                <a16:creationId xmlns:a16="http://schemas.microsoft.com/office/drawing/2014/main" id="{9FD8369A-6329-B6BB-FF1E-783F5AE7FD45}"/>
              </a:ext>
            </a:extLst>
          </p:cNvPr>
          <p:cNvSpPr/>
          <p:nvPr/>
        </p:nvSpPr>
        <p:spPr>
          <a:xfrm>
            <a:off x="4243059" y="2494213"/>
            <a:ext cx="1499616" cy="530352"/>
          </a:xfrm>
          <a:prstGeom prst="rect">
            <a:avLst/>
          </a:prstGeom>
          <a:noFill/>
          <a:ln/>
        </p:spPr>
        <p:txBody>
          <a:bodyPr wrap="square" lIns="0" tIns="0" rIns="0" bIns="0" rtlCol="0" anchor="ctr"/>
          <a:lstStyle/>
          <a:p>
            <a:pPr marL="0" indent="0">
              <a:lnSpc>
                <a:spcPct val="130000"/>
              </a:lnSpc>
              <a:buNone/>
            </a:pPr>
            <a:r>
              <a:rPr lang="en-US" sz="1200" b="1" dirty="0">
                <a:solidFill>
                  <a:schemeClr val="accent1"/>
                </a:solidFill>
                <a:latin typeface="メイリオ" panose="020B0604030504040204" pitchFamily="50" charset="-128"/>
                <a:ea typeface="メイリオ" panose="020B0604030504040204" pitchFamily="50" charset="-128"/>
                <a:cs typeface="Calibri" pitchFamily="34" charset="-120"/>
              </a:rPr>
              <a:t>働く前の</a:t>
            </a:r>
            <a:endParaRPr lang="en-US" sz="1200" dirty="0">
              <a:solidFill>
                <a:schemeClr val="accent1"/>
              </a:solidFill>
              <a:latin typeface="メイリオ" panose="020B0604030504040204" pitchFamily="50" charset="-128"/>
              <a:ea typeface="メイリオ" panose="020B0604030504040204" pitchFamily="50" charset="-128"/>
            </a:endParaRPr>
          </a:p>
          <a:p>
            <a:pPr marL="0" indent="0">
              <a:lnSpc>
                <a:spcPct val="130000"/>
              </a:lnSpc>
              <a:buNone/>
            </a:pPr>
            <a:r>
              <a:rPr lang="en-US" sz="1200" b="1" dirty="0">
                <a:solidFill>
                  <a:schemeClr val="accent1"/>
                </a:solidFill>
                <a:latin typeface="メイリオ" panose="020B0604030504040204" pitchFamily="50" charset="-128"/>
                <a:ea typeface="メイリオ" panose="020B0604030504040204" pitchFamily="50" charset="-128"/>
                <a:cs typeface="Calibri" pitchFamily="34" charset="-120"/>
              </a:rPr>
              <a:t>お金の疑問Q&amp;A</a:t>
            </a:r>
            <a:endParaRPr lang="en-US" sz="1200" dirty="0">
              <a:solidFill>
                <a:schemeClr val="accent1"/>
              </a:solidFill>
              <a:latin typeface="メイリオ" panose="020B0604030504040204" pitchFamily="50" charset="-128"/>
              <a:ea typeface="メイリオ" panose="020B0604030504040204" pitchFamily="50" charset="-128"/>
            </a:endParaRPr>
          </a:p>
        </p:txBody>
      </p:sp>
      <p:sp>
        <p:nvSpPr>
          <p:cNvPr id="237" name="Text 40">
            <a:extLst>
              <a:ext uri="{FF2B5EF4-FFF2-40B4-BE49-F238E27FC236}">
                <a16:creationId xmlns:a16="http://schemas.microsoft.com/office/drawing/2014/main" id="{199D3821-33AB-4ABB-7E4F-446E2E140608}"/>
              </a:ext>
            </a:extLst>
          </p:cNvPr>
          <p:cNvSpPr/>
          <p:nvPr/>
        </p:nvSpPr>
        <p:spPr>
          <a:xfrm>
            <a:off x="4243059" y="3061141"/>
            <a:ext cx="1499616" cy="749808"/>
          </a:xfrm>
          <a:prstGeom prst="rect">
            <a:avLst/>
          </a:prstGeom>
          <a:noFill/>
          <a:ln/>
        </p:spPr>
        <p:txBody>
          <a:bodyPr wrap="square" lIns="0" tIns="0" rIns="0" bIns="0" rtlCol="0" anchor="ctr"/>
          <a:lstStyle/>
          <a:p>
            <a:pPr marL="0" indent="0">
              <a:lnSpc>
                <a:spcPct val="140000"/>
              </a:lnSpc>
              <a:buNone/>
            </a:pPr>
            <a:r>
              <a:rPr lang="en-US" sz="700" dirty="0">
                <a:solidFill>
                  <a:srgbClr val="494848"/>
                </a:solidFill>
                <a:latin typeface="メイリオ" panose="020B0604030504040204" pitchFamily="50" charset="-128"/>
                <a:ea typeface="メイリオ" panose="020B0604030504040204" pitchFamily="50" charset="-128"/>
                <a:cs typeface="Calibri" pitchFamily="34" charset="-120"/>
              </a:rPr>
              <a:t>保険料・年金はどうなる？</a:t>
            </a:r>
            <a:endParaRPr lang="en-US" sz="700" dirty="0">
              <a:latin typeface="メイリオ" panose="020B0604030504040204" pitchFamily="50" charset="-128"/>
              <a:ea typeface="メイリオ" panose="020B0604030504040204" pitchFamily="50" charset="-128"/>
            </a:endParaRPr>
          </a:p>
          <a:p>
            <a:pPr marL="0" indent="0">
              <a:lnSpc>
                <a:spcPct val="140000"/>
              </a:lnSpc>
              <a:buNone/>
            </a:pPr>
            <a:r>
              <a:rPr lang="en-US" sz="700" dirty="0">
                <a:solidFill>
                  <a:srgbClr val="494848"/>
                </a:solidFill>
                <a:latin typeface="メイリオ" panose="020B0604030504040204" pitchFamily="50" charset="-128"/>
                <a:ea typeface="メイリオ" panose="020B0604030504040204" pitchFamily="50" charset="-128"/>
                <a:cs typeface="Calibri" pitchFamily="34" charset="-120"/>
              </a:rPr>
              <a:t>扶養内で働ける金額は？</a:t>
            </a:r>
            <a:endParaRPr lang="en-US" sz="700" dirty="0">
              <a:latin typeface="メイリオ" panose="020B0604030504040204" pitchFamily="50" charset="-128"/>
              <a:ea typeface="メイリオ" panose="020B0604030504040204" pitchFamily="50" charset="-128"/>
            </a:endParaRPr>
          </a:p>
          <a:p>
            <a:pPr marL="0" indent="0">
              <a:lnSpc>
                <a:spcPct val="140000"/>
              </a:lnSpc>
              <a:buNone/>
            </a:pPr>
            <a:r>
              <a:rPr lang="en-US" sz="700" dirty="0">
                <a:solidFill>
                  <a:srgbClr val="494848"/>
                </a:solidFill>
                <a:latin typeface="メイリオ" panose="020B0604030504040204" pitchFamily="50" charset="-128"/>
                <a:ea typeface="メイリオ" panose="020B0604030504040204" pitchFamily="50" charset="-128"/>
                <a:cs typeface="Calibri" pitchFamily="34" charset="-120"/>
              </a:rPr>
              <a:t>など、働く前に気になる</a:t>
            </a:r>
            <a:endParaRPr lang="en-US" sz="700" dirty="0">
              <a:latin typeface="メイリオ" panose="020B0604030504040204" pitchFamily="50" charset="-128"/>
              <a:ea typeface="メイリオ" panose="020B0604030504040204" pitchFamily="50" charset="-128"/>
            </a:endParaRPr>
          </a:p>
          <a:p>
            <a:pPr marL="0" indent="0">
              <a:lnSpc>
                <a:spcPct val="140000"/>
              </a:lnSpc>
              <a:buNone/>
            </a:pPr>
            <a:r>
              <a:rPr lang="en-US" sz="700" dirty="0">
                <a:solidFill>
                  <a:srgbClr val="494848"/>
                </a:solidFill>
                <a:latin typeface="メイリオ" panose="020B0604030504040204" pitchFamily="50" charset="-128"/>
                <a:ea typeface="メイリオ" panose="020B0604030504040204" pitchFamily="50" charset="-128"/>
                <a:cs typeface="Calibri" pitchFamily="34" charset="-120"/>
              </a:rPr>
              <a:t>お金の疑問に</a:t>
            </a:r>
            <a:endParaRPr lang="en-US" sz="700" dirty="0">
              <a:latin typeface="メイリオ" panose="020B0604030504040204" pitchFamily="50" charset="-128"/>
              <a:ea typeface="メイリオ" panose="020B0604030504040204" pitchFamily="50" charset="-128"/>
            </a:endParaRPr>
          </a:p>
          <a:p>
            <a:pPr marL="0" indent="0">
              <a:lnSpc>
                <a:spcPct val="140000"/>
              </a:lnSpc>
              <a:buNone/>
            </a:pPr>
            <a:r>
              <a:rPr lang="en-US" sz="700" dirty="0">
                <a:solidFill>
                  <a:srgbClr val="494848"/>
                </a:solidFill>
                <a:latin typeface="メイリオ" panose="020B0604030504040204" pitchFamily="50" charset="-128"/>
                <a:ea typeface="メイリオ" panose="020B0604030504040204" pitchFamily="50" charset="-128"/>
                <a:cs typeface="Calibri" pitchFamily="34" charset="-120"/>
              </a:rPr>
              <a:t>先回りして答える</a:t>
            </a:r>
            <a:endParaRPr lang="en-US" sz="700" dirty="0">
              <a:latin typeface="メイリオ" panose="020B0604030504040204" pitchFamily="50" charset="-128"/>
              <a:ea typeface="メイリオ" panose="020B0604030504040204" pitchFamily="50" charset="-128"/>
            </a:endParaRPr>
          </a:p>
        </p:txBody>
      </p:sp>
      <p:sp>
        <p:nvSpPr>
          <p:cNvPr id="240" name="Shape 41">
            <a:extLst>
              <a:ext uri="{FF2B5EF4-FFF2-40B4-BE49-F238E27FC236}">
                <a16:creationId xmlns:a16="http://schemas.microsoft.com/office/drawing/2014/main" id="{FE05CBF8-66A0-3EAA-B719-3E5BEB3DFC1F}"/>
              </a:ext>
            </a:extLst>
          </p:cNvPr>
          <p:cNvSpPr/>
          <p:nvPr/>
        </p:nvSpPr>
        <p:spPr>
          <a:xfrm>
            <a:off x="4224771" y="3960738"/>
            <a:ext cx="1536192" cy="694944"/>
          </a:xfrm>
          <a:prstGeom prst="roundRect">
            <a:avLst>
              <a:gd name="adj" fmla="val 6579"/>
            </a:avLst>
          </a:prstGeom>
          <a:solidFill>
            <a:srgbClr val="F5F5F5"/>
          </a:solidFill>
          <a:ln w="12700">
            <a:solidFill>
              <a:srgbClr val="DDDDDD"/>
            </a:solidFill>
            <a:prstDash val="solid"/>
          </a:ln>
        </p:spPr>
        <p:txBody>
          <a:bodyPr/>
          <a:lstStyle/>
          <a:p>
            <a:endParaRPr lang="ja-JP" altLang="en-US" sz="1400">
              <a:latin typeface="メイリオ" panose="020B0604030504040204" pitchFamily="50" charset="-128"/>
              <a:ea typeface="メイリオ" panose="020B0604030504040204" pitchFamily="50" charset="-128"/>
            </a:endParaRPr>
          </a:p>
        </p:txBody>
      </p:sp>
      <p:sp>
        <p:nvSpPr>
          <p:cNvPr id="243" name="Text 42">
            <a:extLst>
              <a:ext uri="{FF2B5EF4-FFF2-40B4-BE49-F238E27FC236}">
                <a16:creationId xmlns:a16="http://schemas.microsoft.com/office/drawing/2014/main" id="{598E8C1A-CF8F-CADC-BEB1-4963E41378B1}"/>
              </a:ext>
            </a:extLst>
          </p:cNvPr>
          <p:cNvSpPr/>
          <p:nvPr/>
        </p:nvSpPr>
        <p:spPr>
          <a:xfrm>
            <a:off x="4297923" y="3997314"/>
            <a:ext cx="1389888" cy="128016"/>
          </a:xfrm>
          <a:prstGeom prst="rect">
            <a:avLst/>
          </a:prstGeom>
          <a:noFill/>
          <a:ln/>
        </p:spPr>
        <p:txBody>
          <a:bodyPr wrap="square" lIns="0" tIns="0" rIns="0" bIns="0" rtlCol="0" anchor="ctr"/>
          <a:lstStyle/>
          <a:p>
            <a:pPr marL="0" indent="0">
              <a:buNone/>
            </a:pPr>
            <a:r>
              <a:rPr lang="en-US" sz="500" b="1" dirty="0">
                <a:solidFill>
                  <a:srgbClr val="888888"/>
                </a:solidFill>
                <a:latin typeface="メイリオ" panose="020B0604030504040204" pitchFamily="50" charset="-128"/>
                <a:ea typeface="メイリオ" panose="020B0604030504040204" pitchFamily="50" charset="-128"/>
                <a:cs typeface="Calibri" pitchFamily="34" charset="-120"/>
              </a:rPr>
              <a:t>[検索データ]</a:t>
            </a:r>
            <a:endParaRPr lang="en-US" sz="500" dirty="0">
              <a:latin typeface="メイリオ" panose="020B0604030504040204" pitchFamily="50" charset="-128"/>
              <a:ea typeface="メイリオ" panose="020B0604030504040204" pitchFamily="50" charset="-128"/>
            </a:endParaRPr>
          </a:p>
        </p:txBody>
      </p:sp>
      <p:sp>
        <p:nvSpPr>
          <p:cNvPr id="247" name="Text 43">
            <a:extLst>
              <a:ext uri="{FF2B5EF4-FFF2-40B4-BE49-F238E27FC236}">
                <a16:creationId xmlns:a16="http://schemas.microsoft.com/office/drawing/2014/main" id="{61A890BF-9DE4-3C72-A92B-372EE26EBBC9}"/>
              </a:ext>
            </a:extLst>
          </p:cNvPr>
          <p:cNvSpPr/>
          <p:nvPr/>
        </p:nvSpPr>
        <p:spPr>
          <a:xfrm>
            <a:off x="4297923" y="4143618"/>
            <a:ext cx="1389888" cy="493776"/>
          </a:xfrm>
          <a:prstGeom prst="rect">
            <a:avLst/>
          </a:prstGeom>
          <a:noFill/>
          <a:ln/>
        </p:spPr>
        <p:txBody>
          <a:bodyPr wrap="square" lIns="0" tIns="0" rIns="0" bIns="0" rtlCol="0" anchor="ctr"/>
          <a:lstStyle/>
          <a:p>
            <a:pPr marL="0" indent="0">
              <a:lnSpc>
                <a:spcPct val="135000"/>
              </a:lnSpc>
              <a:buNone/>
            </a:pPr>
            <a:r>
              <a:rPr lang="en-US" sz="600" dirty="0">
                <a:solidFill>
                  <a:srgbClr val="494848"/>
                </a:solidFill>
                <a:latin typeface="メイリオ" panose="020B0604030504040204" pitchFamily="50" charset="-128"/>
                <a:ea typeface="メイリオ" panose="020B0604030504040204" pitchFamily="50" charset="-128"/>
                <a:cs typeface="Calibri" pitchFamily="34" charset="-120"/>
              </a:rPr>
              <a:t>検索の当日〜1日後に</a:t>
            </a:r>
            <a:endParaRPr lang="en-US" sz="600" dirty="0">
              <a:latin typeface="メイリオ" panose="020B0604030504040204" pitchFamily="50" charset="-128"/>
              <a:ea typeface="メイリオ" panose="020B0604030504040204" pitchFamily="50" charset="-128"/>
            </a:endParaRPr>
          </a:p>
          <a:p>
            <a:pPr marL="0" indent="0">
              <a:lnSpc>
                <a:spcPct val="135000"/>
              </a:lnSpc>
              <a:buNone/>
            </a:pPr>
            <a:r>
              <a:rPr lang="en-US" sz="600" dirty="0">
                <a:solidFill>
                  <a:srgbClr val="494848"/>
                </a:solidFill>
                <a:latin typeface="メイリオ" panose="020B0604030504040204" pitchFamily="50" charset="-128"/>
                <a:ea typeface="メイリオ" panose="020B0604030504040204" pitchFamily="50" charset="-128"/>
                <a:cs typeface="Calibri" pitchFamily="34" charset="-120"/>
              </a:rPr>
              <a:t>「扶養内で働ける金額 2025」</a:t>
            </a:r>
            <a:endParaRPr lang="en-US" sz="600" dirty="0">
              <a:latin typeface="メイリオ" panose="020B0604030504040204" pitchFamily="50" charset="-128"/>
              <a:ea typeface="メイリオ" panose="020B0604030504040204" pitchFamily="50" charset="-128"/>
            </a:endParaRPr>
          </a:p>
          <a:p>
            <a:pPr marL="0" indent="0">
              <a:lnSpc>
                <a:spcPct val="135000"/>
              </a:lnSpc>
              <a:buNone/>
            </a:pPr>
            <a:r>
              <a:rPr lang="en-US" sz="600" dirty="0">
                <a:solidFill>
                  <a:srgbClr val="494848"/>
                </a:solidFill>
                <a:latin typeface="メイリオ" panose="020B0604030504040204" pitchFamily="50" charset="-128"/>
                <a:ea typeface="メイリオ" panose="020B0604030504040204" pitchFamily="50" charset="-128"/>
                <a:cs typeface="Calibri" pitchFamily="34" charset="-120"/>
              </a:rPr>
              <a:t>「国民健康保険料」など、</a:t>
            </a:r>
            <a:endParaRPr lang="en-US" sz="600" dirty="0">
              <a:latin typeface="メイリオ" panose="020B0604030504040204" pitchFamily="50" charset="-128"/>
              <a:ea typeface="メイリオ" panose="020B0604030504040204" pitchFamily="50" charset="-128"/>
            </a:endParaRPr>
          </a:p>
          <a:p>
            <a:pPr marL="0" indent="0">
              <a:lnSpc>
                <a:spcPct val="135000"/>
              </a:lnSpc>
              <a:buNone/>
            </a:pPr>
            <a:r>
              <a:rPr lang="en-US" sz="600" dirty="0">
                <a:solidFill>
                  <a:srgbClr val="494848"/>
                </a:solidFill>
                <a:latin typeface="メイリオ" panose="020B0604030504040204" pitchFamily="50" charset="-128"/>
                <a:ea typeface="メイリオ" panose="020B0604030504040204" pitchFamily="50" charset="-128"/>
                <a:cs typeface="Calibri" pitchFamily="34" charset="-120"/>
              </a:rPr>
              <a:t>お金・保険の検索が続く</a:t>
            </a:r>
            <a:endParaRPr lang="en-US" sz="600" dirty="0">
              <a:latin typeface="メイリオ" panose="020B0604030504040204" pitchFamily="50" charset="-128"/>
              <a:ea typeface="メイリオ" panose="020B0604030504040204" pitchFamily="50" charset="-128"/>
            </a:endParaRPr>
          </a:p>
        </p:txBody>
      </p:sp>
      <p:sp>
        <p:nvSpPr>
          <p:cNvPr id="251" name="Shape 44">
            <a:extLst>
              <a:ext uri="{FF2B5EF4-FFF2-40B4-BE49-F238E27FC236}">
                <a16:creationId xmlns:a16="http://schemas.microsoft.com/office/drawing/2014/main" id="{70455440-ACF9-976A-9AAB-2C130E817A9A}"/>
              </a:ext>
            </a:extLst>
          </p:cNvPr>
          <p:cNvSpPr/>
          <p:nvPr/>
        </p:nvSpPr>
        <p:spPr>
          <a:xfrm>
            <a:off x="4224771" y="4765410"/>
            <a:ext cx="1536192" cy="310896"/>
          </a:xfrm>
          <a:prstGeom prst="roundRect">
            <a:avLst>
              <a:gd name="adj" fmla="val 35294"/>
            </a:avLst>
          </a:prstGeom>
          <a:solidFill>
            <a:srgbClr val="FFFFFF"/>
          </a:solidFill>
          <a:ln w="12700">
            <a:solidFill>
              <a:srgbClr val="0D7377"/>
            </a:solidFill>
            <a:prstDash val="solid"/>
          </a:ln>
        </p:spPr>
        <p:txBody>
          <a:bodyPr/>
          <a:lstStyle/>
          <a:p>
            <a:endParaRPr lang="ja-JP" altLang="en-US">
              <a:latin typeface="メイリオ" panose="020B0604030504040204" pitchFamily="50" charset="-128"/>
              <a:ea typeface="メイリオ" panose="020B0604030504040204" pitchFamily="50" charset="-128"/>
            </a:endParaRPr>
          </a:p>
        </p:txBody>
      </p:sp>
      <p:sp>
        <p:nvSpPr>
          <p:cNvPr id="253" name="Text 45">
            <a:extLst>
              <a:ext uri="{FF2B5EF4-FFF2-40B4-BE49-F238E27FC236}">
                <a16:creationId xmlns:a16="http://schemas.microsoft.com/office/drawing/2014/main" id="{7CE38A7E-B59E-4734-BBB2-CDBD38980874}"/>
              </a:ext>
            </a:extLst>
          </p:cNvPr>
          <p:cNvSpPr/>
          <p:nvPr/>
        </p:nvSpPr>
        <p:spPr>
          <a:xfrm>
            <a:off x="4224771" y="4765410"/>
            <a:ext cx="1536192" cy="310896"/>
          </a:xfrm>
          <a:prstGeom prst="rect">
            <a:avLst/>
          </a:prstGeom>
          <a:noFill/>
          <a:ln/>
        </p:spPr>
        <p:txBody>
          <a:bodyPr wrap="square" lIns="0" tIns="0" rIns="0" bIns="0" rtlCol="0" anchor="ctr"/>
          <a:lstStyle/>
          <a:p>
            <a:pPr marL="0" indent="0" algn="ctr">
              <a:buNone/>
            </a:pPr>
            <a:r>
              <a:rPr lang="en-US" sz="950" b="1" dirty="0" err="1">
                <a:latin typeface="メイリオ" panose="020B0604030504040204" pitchFamily="50" charset="-128"/>
                <a:ea typeface="メイリオ" panose="020B0604030504040204" pitchFamily="50" charset="-128"/>
                <a:cs typeface="Calibri" pitchFamily="34" charset="-120"/>
              </a:rPr>
              <a:t>解決したいQ&amp;A</a:t>
            </a:r>
            <a:endParaRPr lang="en-US" sz="950" dirty="0">
              <a:latin typeface="メイリオ" panose="020B0604030504040204" pitchFamily="50" charset="-128"/>
              <a:ea typeface="メイリオ" panose="020B0604030504040204" pitchFamily="50" charset="-128"/>
            </a:endParaRPr>
          </a:p>
        </p:txBody>
      </p:sp>
      <p:sp>
        <p:nvSpPr>
          <p:cNvPr id="255" name="Shape 46">
            <a:extLst>
              <a:ext uri="{FF2B5EF4-FFF2-40B4-BE49-F238E27FC236}">
                <a16:creationId xmlns:a16="http://schemas.microsoft.com/office/drawing/2014/main" id="{AE76465E-F5D4-326A-00DE-566AF4D0ED4F}"/>
              </a:ext>
            </a:extLst>
          </p:cNvPr>
          <p:cNvSpPr/>
          <p:nvPr/>
        </p:nvSpPr>
        <p:spPr>
          <a:xfrm>
            <a:off x="5925555" y="1835845"/>
            <a:ext cx="1719072" cy="3363172"/>
          </a:xfrm>
          <a:prstGeom prst="roundRect">
            <a:avLst>
              <a:gd name="adj" fmla="val 3191"/>
            </a:avLst>
          </a:prstGeom>
          <a:solidFill>
            <a:srgbClr val="FFFFFF"/>
          </a:solidFill>
          <a:ln w="12700">
            <a:solidFill>
              <a:srgbClr val="DDDDDD"/>
            </a:solidFill>
            <a:prstDash val="solid"/>
          </a:ln>
          <a:effectLst>
            <a:outerShdw blurRad="38100" dist="12700" dir="8100000" algn="bl" rotWithShape="0">
              <a:srgbClr val="AAAAAA">
                <a:alpha val="10000"/>
              </a:srgbClr>
            </a:outerShdw>
          </a:effectLst>
        </p:spPr>
        <p:txBody>
          <a:bodyPr/>
          <a:lstStyle/>
          <a:p>
            <a:endParaRPr lang="ja-JP" altLang="en-US">
              <a:latin typeface="メイリオ" panose="020B0604030504040204" pitchFamily="50" charset="-128"/>
              <a:ea typeface="メイリオ" panose="020B0604030504040204" pitchFamily="50" charset="-128"/>
            </a:endParaRPr>
          </a:p>
        </p:txBody>
      </p:sp>
      <p:sp>
        <p:nvSpPr>
          <p:cNvPr id="257" name="Shape 47">
            <a:extLst>
              <a:ext uri="{FF2B5EF4-FFF2-40B4-BE49-F238E27FC236}">
                <a16:creationId xmlns:a16="http://schemas.microsoft.com/office/drawing/2014/main" id="{4CE9A042-BEA8-8E3F-7458-7B837D4C3B49}"/>
              </a:ext>
            </a:extLst>
          </p:cNvPr>
          <p:cNvSpPr/>
          <p:nvPr/>
        </p:nvSpPr>
        <p:spPr>
          <a:xfrm>
            <a:off x="5925555" y="1835845"/>
            <a:ext cx="1719072" cy="585216"/>
          </a:xfrm>
          <a:prstGeom prst="roundRect">
            <a:avLst>
              <a:gd name="adj" fmla="val 9375"/>
            </a:avLst>
          </a:prstGeom>
          <a:solidFill>
            <a:schemeClr val="tx2">
              <a:lumMod val="60000"/>
              <a:lumOff val="40000"/>
            </a:schemeClr>
          </a:solidFill>
          <a:ln w="12700">
            <a:noFill/>
            <a:prstDash val="solid"/>
          </a:ln>
        </p:spPr>
        <p:txBody>
          <a:bodyPr/>
          <a:lstStyle/>
          <a:p>
            <a:endParaRPr lang="ja-JP" altLang="en-US">
              <a:latin typeface="メイリオ" panose="020B0604030504040204" pitchFamily="50" charset="-128"/>
              <a:ea typeface="メイリオ" panose="020B0604030504040204" pitchFamily="50" charset="-128"/>
            </a:endParaRPr>
          </a:p>
        </p:txBody>
      </p:sp>
      <p:sp>
        <p:nvSpPr>
          <p:cNvPr id="259" name="Text 48">
            <a:extLst>
              <a:ext uri="{FF2B5EF4-FFF2-40B4-BE49-F238E27FC236}">
                <a16:creationId xmlns:a16="http://schemas.microsoft.com/office/drawing/2014/main" id="{7AF37BD4-4646-F464-3A02-960B3183EDAC}"/>
              </a:ext>
            </a:extLst>
          </p:cNvPr>
          <p:cNvSpPr/>
          <p:nvPr/>
        </p:nvSpPr>
        <p:spPr>
          <a:xfrm>
            <a:off x="6016995" y="1872421"/>
            <a:ext cx="1536192" cy="274320"/>
          </a:xfrm>
          <a:prstGeom prst="rect">
            <a:avLst/>
          </a:prstGeom>
          <a:noFill/>
          <a:ln>
            <a:noFill/>
          </a:ln>
        </p:spPr>
        <p:txBody>
          <a:bodyPr wrap="square" lIns="0" tIns="0" rIns="0" bIns="0" rtlCol="0" anchor="ctr"/>
          <a:lstStyle/>
          <a:p>
            <a:pPr marL="0" indent="0" algn="ctr">
              <a:buNone/>
            </a:pPr>
            <a:r>
              <a:rPr lang="en-US" sz="1500" b="1" dirty="0">
                <a:solidFill>
                  <a:srgbClr val="FFFFFF"/>
                </a:solidFill>
                <a:latin typeface="メイリオ" panose="020B0604030504040204" pitchFamily="50" charset="-128"/>
                <a:ea typeface="メイリオ" panose="020B0604030504040204" pitchFamily="50" charset="-128"/>
                <a:cs typeface="Calibri" pitchFamily="34" charset="-120"/>
              </a:rPr>
              <a:t>Day6〜7</a:t>
            </a:r>
            <a:endParaRPr lang="en-US" sz="1500" dirty="0">
              <a:latin typeface="メイリオ" panose="020B0604030504040204" pitchFamily="50" charset="-128"/>
              <a:ea typeface="メイリオ" panose="020B0604030504040204" pitchFamily="50" charset="-128"/>
            </a:endParaRPr>
          </a:p>
        </p:txBody>
      </p:sp>
      <p:sp>
        <p:nvSpPr>
          <p:cNvPr id="261" name="Text 49">
            <a:extLst>
              <a:ext uri="{FF2B5EF4-FFF2-40B4-BE49-F238E27FC236}">
                <a16:creationId xmlns:a16="http://schemas.microsoft.com/office/drawing/2014/main" id="{A2C54EA1-48FF-25BB-CAB7-CF9E2CE2A6BE}"/>
              </a:ext>
            </a:extLst>
          </p:cNvPr>
          <p:cNvSpPr/>
          <p:nvPr/>
        </p:nvSpPr>
        <p:spPr>
          <a:xfrm>
            <a:off x="6016995" y="2146741"/>
            <a:ext cx="1536192" cy="201168"/>
          </a:xfrm>
          <a:prstGeom prst="rect">
            <a:avLst/>
          </a:prstGeom>
          <a:noFill/>
          <a:ln>
            <a:noFill/>
          </a:ln>
        </p:spPr>
        <p:txBody>
          <a:bodyPr wrap="square" lIns="0" tIns="0" rIns="0" bIns="0" rtlCol="0" anchor="ctr"/>
          <a:lstStyle/>
          <a:p>
            <a:pPr marL="0" indent="0" algn="ctr">
              <a:buNone/>
            </a:pPr>
            <a:r>
              <a:rPr lang="en-US" sz="900" dirty="0">
                <a:solidFill>
                  <a:srgbClr val="D0E8FF"/>
                </a:solidFill>
                <a:latin typeface="メイリオ" panose="020B0604030504040204" pitchFamily="50" charset="-128"/>
                <a:ea typeface="メイリオ" panose="020B0604030504040204" pitchFamily="50" charset="-128"/>
                <a:cs typeface="Calibri" pitchFamily="34" charset="-120"/>
              </a:rPr>
              <a:t>会社の比較・選び方</a:t>
            </a:r>
            <a:endParaRPr lang="en-US" sz="900" dirty="0">
              <a:latin typeface="メイリオ" panose="020B0604030504040204" pitchFamily="50" charset="-128"/>
              <a:ea typeface="メイリオ" panose="020B0604030504040204" pitchFamily="50" charset="-128"/>
            </a:endParaRPr>
          </a:p>
        </p:txBody>
      </p:sp>
      <p:sp>
        <p:nvSpPr>
          <p:cNvPr id="263" name="Text 50">
            <a:extLst>
              <a:ext uri="{FF2B5EF4-FFF2-40B4-BE49-F238E27FC236}">
                <a16:creationId xmlns:a16="http://schemas.microsoft.com/office/drawing/2014/main" id="{471AEB23-B4DA-3C81-62CB-E912A644460B}"/>
              </a:ext>
            </a:extLst>
          </p:cNvPr>
          <p:cNvSpPr/>
          <p:nvPr/>
        </p:nvSpPr>
        <p:spPr>
          <a:xfrm>
            <a:off x="6035283" y="2494213"/>
            <a:ext cx="1499616" cy="530352"/>
          </a:xfrm>
          <a:prstGeom prst="rect">
            <a:avLst/>
          </a:prstGeom>
          <a:noFill/>
          <a:ln/>
        </p:spPr>
        <p:txBody>
          <a:bodyPr wrap="square" lIns="0" tIns="0" rIns="0" bIns="0" rtlCol="0" anchor="ctr"/>
          <a:lstStyle/>
          <a:p>
            <a:pPr marL="0" indent="0">
              <a:lnSpc>
                <a:spcPct val="130000"/>
              </a:lnSpc>
              <a:buNone/>
            </a:pPr>
            <a:r>
              <a:rPr lang="en-US" sz="1200" b="1" dirty="0">
                <a:solidFill>
                  <a:schemeClr val="accent1"/>
                </a:solidFill>
                <a:latin typeface="メイリオ" panose="020B0604030504040204" pitchFamily="50" charset="-128"/>
                <a:ea typeface="メイリオ" panose="020B0604030504040204" pitchFamily="50" charset="-128"/>
                <a:cs typeface="Calibri" pitchFamily="34" charset="-120"/>
              </a:rPr>
              <a:t>お仕事探しの</a:t>
            </a:r>
            <a:endParaRPr lang="en-US" sz="1200" dirty="0">
              <a:solidFill>
                <a:schemeClr val="accent1"/>
              </a:solidFill>
              <a:latin typeface="メイリオ" panose="020B0604030504040204" pitchFamily="50" charset="-128"/>
              <a:ea typeface="メイリオ" panose="020B0604030504040204" pitchFamily="50" charset="-128"/>
            </a:endParaRPr>
          </a:p>
          <a:p>
            <a:pPr marL="0" indent="0">
              <a:lnSpc>
                <a:spcPct val="130000"/>
              </a:lnSpc>
              <a:buNone/>
            </a:pPr>
            <a:r>
              <a:rPr lang="en-US" sz="1200" b="1" dirty="0">
                <a:solidFill>
                  <a:schemeClr val="accent1"/>
                </a:solidFill>
                <a:latin typeface="メイリオ" panose="020B0604030504040204" pitchFamily="50" charset="-128"/>
                <a:ea typeface="メイリオ" panose="020B0604030504040204" pitchFamily="50" charset="-128"/>
                <a:cs typeface="Calibri" pitchFamily="34" charset="-120"/>
              </a:rPr>
              <a:t>会社の選び方</a:t>
            </a:r>
            <a:endParaRPr lang="en-US" sz="1200" dirty="0">
              <a:solidFill>
                <a:schemeClr val="accent1"/>
              </a:solidFill>
              <a:latin typeface="メイリオ" panose="020B0604030504040204" pitchFamily="50" charset="-128"/>
              <a:ea typeface="メイリオ" panose="020B0604030504040204" pitchFamily="50" charset="-128"/>
            </a:endParaRPr>
          </a:p>
        </p:txBody>
      </p:sp>
      <p:sp>
        <p:nvSpPr>
          <p:cNvPr id="265" name="Text 51">
            <a:extLst>
              <a:ext uri="{FF2B5EF4-FFF2-40B4-BE49-F238E27FC236}">
                <a16:creationId xmlns:a16="http://schemas.microsoft.com/office/drawing/2014/main" id="{75F01DF6-8600-1DAC-987C-C3554E20E240}"/>
              </a:ext>
            </a:extLst>
          </p:cNvPr>
          <p:cNvSpPr/>
          <p:nvPr/>
        </p:nvSpPr>
        <p:spPr>
          <a:xfrm>
            <a:off x="6035283" y="3061141"/>
            <a:ext cx="1499616" cy="749808"/>
          </a:xfrm>
          <a:prstGeom prst="rect">
            <a:avLst/>
          </a:prstGeom>
          <a:noFill/>
          <a:ln/>
        </p:spPr>
        <p:txBody>
          <a:bodyPr wrap="square" lIns="0" tIns="0" rIns="0" bIns="0" rtlCol="0" anchor="ctr"/>
          <a:lstStyle/>
          <a:p>
            <a:pPr marL="0" indent="0">
              <a:lnSpc>
                <a:spcPct val="140000"/>
              </a:lnSpc>
              <a:buNone/>
            </a:pPr>
            <a:r>
              <a:rPr lang="en-US" sz="700" dirty="0">
                <a:solidFill>
                  <a:srgbClr val="494848"/>
                </a:solidFill>
                <a:latin typeface="メイリオ" panose="020B0604030504040204" pitchFamily="50" charset="-128"/>
                <a:ea typeface="メイリオ" panose="020B0604030504040204" pitchFamily="50" charset="-128"/>
                <a:cs typeface="Calibri" pitchFamily="34" charset="-120"/>
              </a:rPr>
              <a:t>専属エージェントの</a:t>
            </a:r>
            <a:endParaRPr lang="en-US" sz="700" dirty="0">
              <a:latin typeface="メイリオ" panose="020B0604030504040204" pitchFamily="50" charset="-128"/>
              <a:ea typeface="メイリオ" panose="020B0604030504040204" pitchFamily="50" charset="-128"/>
            </a:endParaRPr>
          </a:p>
          <a:p>
            <a:pPr marL="0" indent="0">
              <a:lnSpc>
                <a:spcPct val="140000"/>
              </a:lnSpc>
              <a:buNone/>
            </a:pPr>
            <a:r>
              <a:rPr lang="en-US" sz="700" dirty="0">
                <a:solidFill>
                  <a:srgbClr val="494848"/>
                </a:solidFill>
                <a:latin typeface="メイリオ" panose="020B0604030504040204" pitchFamily="50" charset="-128"/>
                <a:ea typeface="メイリオ" panose="020B0604030504040204" pitchFamily="50" charset="-128"/>
                <a:cs typeface="Calibri" pitchFamily="34" charset="-120"/>
              </a:rPr>
              <a:t>サポートを、他社との</a:t>
            </a:r>
            <a:endParaRPr lang="en-US" sz="700" dirty="0">
              <a:latin typeface="メイリオ" panose="020B0604030504040204" pitchFamily="50" charset="-128"/>
              <a:ea typeface="メイリオ" panose="020B0604030504040204" pitchFamily="50" charset="-128"/>
            </a:endParaRPr>
          </a:p>
          <a:p>
            <a:pPr marL="0" indent="0">
              <a:lnSpc>
                <a:spcPct val="140000"/>
              </a:lnSpc>
              <a:buNone/>
            </a:pPr>
            <a:r>
              <a:rPr lang="en-US" sz="700" dirty="0">
                <a:solidFill>
                  <a:srgbClr val="494848"/>
                </a:solidFill>
                <a:latin typeface="メイリオ" panose="020B0604030504040204" pitchFamily="50" charset="-128"/>
                <a:ea typeface="メイリオ" panose="020B0604030504040204" pitchFamily="50" charset="-128"/>
                <a:cs typeface="Calibri" pitchFamily="34" charset="-120"/>
              </a:rPr>
              <a:t>違いとして伝える</a:t>
            </a:r>
            <a:endParaRPr lang="en-US" sz="700" dirty="0">
              <a:latin typeface="メイリオ" panose="020B0604030504040204" pitchFamily="50" charset="-128"/>
              <a:ea typeface="メイリオ" panose="020B0604030504040204" pitchFamily="50" charset="-128"/>
            </a:endParaRPr>
          </a:p>
          <a:p>
            <a:pPr marL="0" indent="0">
              <a:lnSpc>
                <a:spcPct val="140000"/>
              </a:lnSpc>
              <a:buNone/>
            </a:pPr>
            <a:r>
              <a:rPr lang="en-US" sz="700" dirty="0">
                <a:solidFill>
                  <a:srgbClr val="494848"/>
                </a:solidFill>
                <a:latin typeface="メイリオ" panose="020B0604030504040204" pitchFamily="50" charset="-128"/>
                <a:ea typeface="メイリオ" panose="020B0604030504040204" pitchFamily="50" charset="-128"/>
                <a:cs typeface="Calibri" pitchFamily="34" charset="-120"/>
              </a:rPr>
              <a:t>体験談で信頼を積み上げる</a:t>
            </a:r>
            <a:endParaRPr lang="en-US" sz="700" dirty="0">
              <a:latin typeface="メイリオ" panose="020B0604030504040204" pitchFamily="50" charset="-128"/>
              <a:ea typeface="メイリオ" panose="020B0604030504040204" pitchFamily="50" charset="-128"/>
            </a:endParaRPr>
          </a:p>
        </p:txBody>
      </p:sp>
      <p:sp>
        <p:nvSpPr>
          <p:cNvPr id="267" name="Shape 52">
            <a:extLst>
              <a:ext uri="{FF2B5EF4-FFF2-40B4-BE49-F238E27FC236}">
                <a16:creationId xmlns:a16="http://schemas.microsoft.com/office/drawing/2014/main" id="{81626C02-0128-391F-1AF0-59D225D419BC}"/>
              </a:ext>
            </a:extLst>
          </p:cNvPr>
          <p:cNvSpPr/>
          <p:nvPr/>
        </p:nvSpPr>
        <p:spPr>
          <a:xfrm>
            <a:off x="6016995" y="3960738"/>
            <a:ext cx="1536192" cy="694944"/>
          </a:xfrm>
          <a:prstGeom prst="roundRect">
            <a:avLst>
              <a:gd name="adj" fmla="val 6579"/>
            </a:avLst>
          </a:prstGeom>
          <a:solidFill>
            <a:srgbClr val="F5F5F5"/>
          </a:solidFill>
          <a:ln w="12700">
            <a:solidFill>
              <a:srgbClr val="DDDDDD"/>
            </a:solidFill>
            <a:prstDash val="solid"/>
          </a:ln>
        </p:spPr>
        <p:txBody>
          <a:bodyPr/>
          <a:lstStyle/>
          <a:p>
            <a:endParaRPr lang="ja-JP" altLang="en-US" sz="1400">
              <a:latin typeface="メイリオ" panose="020B0604030504040204" pitchFamily="50" charset="-128"/>
              <a:ea typeface="メイリオ" panose="020B0604030504040204" pitchFamily="50" charset="-128"/>
            </a:endParaRPr>
          </a:p>
        </p:txBody>
      </p:sp>
      <p:sp>
        <p:nvSpPr>
          <p:cNvPr id="269" name="Text 53">
            <a:extLst>
              <a:ext uri="{FF2B5EF4-FFF2-40B4-BE49-F238E27FC236}">
                <a16:creationId xmlns:a16="http://schemas.microsoft.com/office/drawing/2014/main" id="{6A730545-9554-14ED-6B2A-1B88A1389EEA}"/>
              </a:ext>
            </a:extLst>
          </p:cNvPr>
          <p:cNvSpPr/>
          <p:nvPr/>
        </p:nvSpPr>
        <p:spPr>
          <a:xfrm>
            <a:off x="6090147" y="3997314"/>
            <a:ext cx="1389888" cy="128016"/>
          </a:xfrm>
          <a:prstGeom prst="rect">
            <a:avLst/>
          </a:prstGeom>
          <a:noFill/>
          <a:ln/>
        </p:spPr>
        <p:txBody>
          <a:bodyPr wrap="square" lIns="0" tIns="0" rIns="0" bIns="0" rtlCol="0" anchor="ctr"/>
          <a:lstStyle/>
          <a:p>
            <a:pPr marL="0" indent="0">
              <a:buNone/>
            </a:pPr>
            <a:r>
              <a:rPr lang="en-US" sz="500" b="1" dirty="0">
                <a:solidFill>
                  <a:srgbClr val="888888"/>
                </a:solidFill>
                <a:latin typeface="メイリオ" panose="020B0604030504040204" pitchFamily="50" charset="-128"/>
                <a:ea typeface="メイリオ" panose="020B0604030504040204" pitchFamily="50" charset="-128"/>
                <a:cs typeface="Calibri" pitchFamily="34" charset="-120"/>
              </a:rPr>
              <a:t>[検索データ]</a:t>
            </a:r>
            <a:endParaRPr lang="en-US" sz="500" dirty="0">
              <a:latin typeface="メイリオ" panose="020B0604030504040204" pitchFamily="50" charset="-128"/>
              <a:ea typeface="メイリオ" panose="020B0604030504040204" pitchFamily="50" charset="-128"/>
            </a:endParaRPr>
          </a:p>
        </p:txBody>
      </p:sp>
      <p:sp>
        <p:nvSpPr>
          <p:cNvPr id="271" name="Text 54">
            <a:extLst>
              <a:ext uri="{FF2B5EF4-FFF2-40B4-BE49-F238E27FC236}">
                <a16:creationId xmlns:a16="http://schemas.microsoft.com/office/drawing/2014/main" id="{D66B723A-593B-D13D-0018-C9E7DAEBCB1C}"/>
              </a:ext>
            </a:extLst>
          </p:cNvPr>
          <p:cNvSpPr/>
          <p:nvPr/>
        </p:nvSpPr>
        <p:spPr>
          <a:xfrm>
            <a:off x="6090147" y="4143618"/>
            <a:ext cx="1389888" cy="493776"/>
          </a:xfrm>
          <a:prstGeom prst="rect">
            <a:avLst/>
          </a:prstGeom>
          <a:noFill/>
          <a:ln/>
        </p:spPr>
        <p:txBody>
          <a:bodyPr wrap="square" lIns="0" tIns="0" rIns="0" bIns="0" rtlCol="0" anchor="ctr"/>
          <a:lstStyle/>
          <a:p>
            <a:pPr marL="0" indent="0">
              <a:lnSpc>
                <a:spcPct val="135000"/>
              </a:lnSpc>
              <a:buNone/>
            </a:pPr>
            <a:r>
              <a:rPr lang="en-US" sz="600" dirty="0">
                <a:solidFill>
                  <a:srgbClr val="494848"/>
                </a:solidFill>
                <a:latin typeface="メイリオ" panose="020B0604030504040204" pitchFamily="50" charset="-128"/>
                <a:ea typeface="メイリオ" panose="020B0604030504040204" pitchFamily="50" charset="-128"/>
                <a:cs typeface="Calibri" pitchFamily="34" charset="-120"/>
              </a:rPr>
              <a:t>当日〜3日後に</a:t>
            </a:r>
            <a:endParaRPr lang="en-US" sz="600" dirty="0">
              <a:latin typeface="メイリオ" panose="020B0604030504040204" pitchFamily="50" charset="-128"/>
              <a:ea typeface="メイリオ" panose="020B0604030504040204" pitchFamily="50" charset="-128"/>
            </a:endParaRPr>
          </a:p>
          <a:p>
            <a:pPr marL="0" indent="0">
              <a:lnSpc>
                <a:spcPct val="135000"/>
              </a:lnSpc>
              <a:buNone/>
            </a:pPr>
            <a:r>
              <a:rPr lang="en-US" sz="600" dirty="0">
                <a:solidFill>
                  <a:srgbClr val="494848"/>
                </a:solidFill>
                <a:latin typeface="メイリオ" panose="020B0604030504040204" pitchFamily="50" charset="-128"/>
                <a:ea typeface="メイリオ" panose="020B0604030504040204" pitchFamily="50" charset="-128"/>
                <a:cs typeface="Calibri" pitchFamily="34" charset="-120"/>
              </a:rPr>
              <a:t>「派遣会社 おすすめ企業」</a:t>
            </a:r>
            <a:endParaRPr lang="en-US" sz="600" dirty="0">
              <a:latin typeface="メイリオ" panose="020B0604030504040204" pitchFamily="50" charset="-128"/>
              <a:ea typeface="メイリオ" panose="020B0604030504040204" pitchFamily="50" charset="-128"/>
            </a:endParaRPr>
          </a:p>
          <a:p>
            <a:pPr marL="0" indent="0">
              <a:lnSpc>
                <a:spcPct val="135000"/>
              </a:lnSpc>
              <a:buNone/>
            </a:pPr>
            <a:r>
              <a:rPr lang="en-US" sz="600" dirty="0">
                <a:solidFill>
                  <a:srgbClr val="494848"/>
                </a:solidFill>
                <a:latin typeface="メイリオ" panose="020B0604030504040204" pitchFamily="50" charset="-128"/>
                <a:ea typeface="メイリオ" panose="020B0604030504040204" pitchFamily="50" charset="-128"/>
                <a:cs typeface="Calibri" pitchFamily="34" charset="-120"/>
              </a:rPr>
              <a:t>「バイトル」「エン派遣」など、</a:t>
            </a:r>
            <a:endParaRPr lang="en-US" sz="600" dirty="0">
              <a:latin typeface="メイリオ" panose="020B0604030504040204" pitchFamily="50" charset="-128"/>
              <a:ea typeface="メイリオ" panose="020B0604030504040204" pitchFamily="50" charset="-128"/>
            </a:endParaRPr>
          </a:p>
          <a:p>
            <a:pPr marL="0" indent="0">
              <a:lnSpc>
                <a:spcPct val="135000"/>
              </a:lnSpc>
              <a:buNone/>
            </a:pPr>
            <a:r>
              <a:rPr lang="en-US" sz="600" dirty="0">
                <a:solidFill>
                  <a:srgbClr val="494848"/>
                </a:solidFill>
                <a:latin typeface="メイリオ" panose="020B0604030504040204" pitchFamily="50" charset="-128"/>
                <a:ea typeface="メイリオ" panose="020B0604030504040204" pitchFamily="50" charset="-128"/>
                <a:cs typeface="Calibri" pitchFamily="34" charset="-120"/>
              </a:rPr>
              <a:t>会社・サービスを比べる検索が続く</a:t>
            </a:r>
            <a:endParaRPr lang="en-US" sz="600" dirty="0">
              <a:latin typeface="メイリオ" panose="020B0604030504040204" pitchFamily="50" charset="-128"/>
              <a:ea typeface="メイリオ" panose="020B0604030504040204" pitchFamily="50" charset="-128"/>
            </a:endParaRPr>
          </a:p>
        </p:txBody>
      </p:sp>
      <p:sp>
        <p:nvSpPr>
          <p:cNvPr id="273" name="Shape 55">
            <a:extLst>
              <a:ext uri="{FF2B5EF4-FFF2-40B4-BE49-F238E27FC236}">
                <a16:creationId xmlns:a16="http://schemas.microsoft.com/office/drawing/2014/main" id="{83516F18-5DB0-D001-7E95-B25134EA6409}"/>
              </a:ext>
            </a:extLst>
          </p:cNvPr>
          <p:cNvSpPr/>
          <p:nvPr/>
        </p:nvSpPr>
        <p:spPr>
          <a:xfrm>
            <a:off x="6016995" y="4765410"/>
            <a:ext cx="1536192" cy="310896"/>
          </a:xfrm>
          <a:prstGeom prst="roundRect">
            <a:avLst>
              <a:gd name="adj" fmla="val 35294"/>
            </a:avLst>
          </a:prstGeom>
          <a:solidFill>
            <a:srgbClr val="FFFFFF"/>
          </a:solidFill>
          <a:ln w="12700">
            <a:solidFill>
              <a:srgbClr val="2E7D32"/>
            </a:solidFill>
            <a:prstDash val="solid"/>
          </a:ln>
        </p:spPr>
        <p:txBody>
          <a:bodyPr/>
          <a:lstStyle/>
          <a:p>
            <a:endParaRPr lang="ja-JP" altLang="en-US">
              <a:latin typeface="メイリオ" panose="020B0604030504040204" pitchFamily="50" charset="-128"/>
              <a:ea typeface="メイリオ" panose="020B0604030504040204" pitchFamily="50" charset="-128"/>
            </a:endParaRPr>
          </a:p>
        </p:txBody>
      </p:sp>
      <p:sp>
        <p:nvSpPr>
          <p:cNvPr id="275" name="Text 56">
            <a:extLst>
              <a:ext uri="{FF2B5EF4-FFF2-40B4-BE49-F238E27FC236}">
                <a16:creationId xmlns:a16="http://schemas.microsoft.com/office/drawing/2014/main" id="{6F27A7FC-1886-3E15-FE13-B49B5E6B58C4}"/>
              </a:ext>
            </a:extLst>
          </p:cNvPr>
          <p:cNvSpPr/>
          <p:nvPr/>
        </p:nvSpPr>
        <p:spPr>
          <a:xfrm>
            <a:off x="6016995" y="4765410"/>
            <a:ext cx="1536192" cy="310896"/>
          </a:xfrm>
          <a:prstGeom prst="rect">
            <a:avLst/>
          </a:prstGeom>
          <a:noFill/>
          <a:ln/>
        </p:spPr>
        <p:txBody>
          <a:bodyPr wrap="square" lIns="0" tIns="0" rIns="0" bIns="0" rtlCol="0" anchor="ctr"/>
          <a:lstStyle/>
          <a:p>
            <a:pPr marL="0" indent="0" algn="ctr">
              <a:buNone/>
            </a:pPr>
            <a:r>
              <a:rPr lang="en-US" sz="950" b="1" dirty="0" err="1">
                <a:latin typeface="メイリオ" panose="020B0604030504040204" pitchFamily="50" charset="-128"/>
                <a:ea typeface="メイリオ" panose="020B0604030504040204" pitchFamily="50" charset="-128"/>
                <a:cs typeface="Calibri" pitchFamily="34" charset="-120"/>
              </a:rPr>
              <a:t>体験談</a:t>
            </a:r>
            <a:endParaRPr lang="en-US" sz="950" dirty="0">
              <a:latin typeface="メイリオ" panose="020B0604030504040204" pitchFamily="50" charset="-128"/>
              <a:ea typeface="メイリオ" panose="020B0604030504040204" pitchFamily="50" charset="-128"/>
            </a:endParaRPr>
          </a:p>
        </p:txBody>
      </p:sp>
      <p:sp>
        <p:nvSpPr>
          <p:cNvPr id="277" name="Shape 46">
            <a:extLst>
              <a:ext uri="{FF2B5EF4-FFF2-40B4-BE49-F238E27FC236}">
                <a16:creationId xmlns:a16="http://schemas.microsoft.com/office/drawing/2014/main" id="{81FDC777-C320-5C75-D3A4-A08DD76D7E5F}"/>
              </a:ext>
            </a:extLst>
          </p:cNvPr>
          <p:cNvSpPr/>
          <p:nvPr/>
        </p:nvSpPr>
        <p:spPr>
          <a:xfrm>
            <a:off x="7740422" y="1835845"/>
            <a:ext cx="1719072" cy="3363172"/>
          </a:xfrm>
          <a:prstGeom prst="roundRect">
            <a:avLst>
              <a:gd name="adj" fmla="val 3191"/>
            </a:avLst>
          </a:prstGeom>
          <a:solidFill>
            <a:srgbClr val="FFFFFF"/>
          </a:solidFill>
          <a:ln w="12700">
            <a:solidFill>
              <a:srgbClr val="DDDDDD"/>
            </a:solidFill>
            <a:prstDash val="solid"/>
          </a:ln>
          <a:effectLst>
            <a:outerShdw blurRad="38100" dist="12700" dir="8100000" algn="bl" rotWithShape="0">
              <a:srgbClr val="AAAAAA">
                <a:alpha val="10000"/>
              </a:srgbClr>
            </a:outerShdw>
          </a:effectLst>
        </p:spPr>
        <p:txBody>
          <a:bodyPr/>
          <a:lstStyle/>
          <a:p>
            <a:endParaRPr lang="ja-JP" altLang="en-US">
              <a:latin typeface="メイリオ" panose="020B0604030504040204" pitchFamily="50" charset="-128"/>
              <a:ea typeface="メイリオ" panose="020B0604030504040204" pitchFamily="50" charset="-128"/>
            </a:endParaRPr>
          </a:p>
        </p:txBody>
      </p:sp>
      <p:sp>
        <p:nvSpPr>
          <p:cNvPr id="279" name="Shape 47">
            <a:extLst>
              <a:ext uri="{FF2B5EF4-FFF2-40B4-BE49-F238E27FC236}">
                <a16:creationId xmlns:a16="http://schemas.microsoft.com/office/drawing/2014/main" id="{3035F905-AAB5-7BEB-2025-12D56AFD692F}"/>
              </a:ext>
            </a:extLst>
          </p:cNvPr>
          <p:cNvSpPr/>
          <p:nvPr/>
        </p:nvSpPr>
        <p:spPr>
          <a:xfrm>
            <a:off x="7740422" y="1835845"/>
            <a:ext cx="1719072" cy="585216"/>
          </a:xfrm>
          <a:prstGeom prst="roundRect">
            <a:avLst>
              <a:gd name="adj" fmla="val 9375"/>
            </a:avLst>
          </a:prstGeom>
          <a:solidFill>
            <a:srgbClr val="FF0000"/>
          </a:solidFill>
          <a:ln w="12700">
            <a:noFill/>
            <a:prstDash val="solid"/>
          </a:ln>
        </p:spPr>
        <p:txBody>
          <a:bodyPr/>
          <a:lstStyle/>
          <a:p>
            <a:endParaRPr lang="ja-JP" altLang="en-US">
              <a:latin typeface="メイリオ" panose="020B0604030504040204" pitchFamily="50" charset="-128"/>
              <a:ea typeface="メイリオ" panose="020B0604030504040204" pitchFamily="50" charset="-128"/>
            </a:endParaRPr>
          </a:p>
        </p:txBody>
      </p:sp>
      <p:sp>
        <p:nvSpPr>
          <p:cNvPr id="281" name="Text 48">
            <a:extLst>
              <a:ext uri="{FF2B5EF4-FFF2-40B4-BE49-F238E27FC236}">
                <a16:creationId xmlns:a16="http://schemas.microsoft.com/office/drawing/2014/main" id="{68E2156B-2D0C-D7CD-E58E-0CEE790D2936}"/>
              </a:ext>
            </a:extLst>
          </p:cNvPr>
          <p:cNvSpPr/>
          <p:nvPr/>
        </p:nvSpPr>
        <p:spPr>
          <a:xfrm>
            <a:off x="7831862" y="1872421"/>
            <a:ext cx="1536192" cy="274320"/>
          </a:xfrm>
          <a:prstGeom prst="rect">
            <a:avLst/>
          </a:prstGeom>
          <a:noFill/>
          <a:ln>
            <a:noFill/>
          </a:ln>
        </p:spPr>
        <p:txBody>
          <a:bodyPr wrap="square" lIns="0" tIns="0" rIns="0" bIns="0" rtlCol="0" anchor="ctr"/>
          <a:lstStyle/>
          <a:p>
            <a:pPr marL="0" indent="0" algn="ctr">
              <a:buNone/>
            </a:pPr>
            <a:r>
              <a:rPr lang="en-US" sz="1500" b="1" dirty="0">
                <a:solidFill>
                  <a:srgbClr val="FFFFFF"/>
                </a:solidFill>
                <a:latin typeface="メイリオ" panose="020B0604030504040204" pitchFamily="50" charset="-128"/>
                <a:ea typeface="メイリオ" panose="020B0604030504040204" pitchFamily="50" charset="-128"/>
                <a:cs typeface="Calibri" pitchFamily="34" charset="-120"/>
              </a:rPr>
              <a:t>Day10〜15</a:t>
            </a:r>
            <a:endParaRPr lang="en-US" sz="1500" dirty="0">
              <a:latin typeface="メイリオ" panose="020B0604030504040204" pitchFamily="50" charset="-128"/>
              <a:ea typeface="メイリオ" panose="020B0604030504040204" pitchFamily="50" charset="-128"/>
            </a:endParaRPr>
          </a:p>
        </p:txBody>
      </p:sp>
      <p:sp>
        <p:nvSpPr>
          <p:cNvPr id="283" name="Text 49">
            <a:extLst>
              <a:ext uri="{FF2B5EF4-FFF2-40B4-BE49-F238E27FC236}">
                <a16:creationId xmlns:a16="http://schemas.microsoft.com/office/drawing/2014/main" id="{D56A2492-EC40-760E-3C3E-A80DBBA1A3A6}"/>
              </a:ext>
            </a:extLst>
          </p:cNvPr>
          <p:cNvSpPr/>
          <p:nvPr/>
        </p:nvSpPr>
        <p:spPr>
          <a:xfrm>
            <a:off x="7831862" y="2146741"/>
            <a:ext cx="1536192" cy="201168"/>
          </a:xfrm>
          <a:prstGeom prst="rect">
            <a:avLst/>
          </a:prstGeom>
          <a:noFill/>
          <a:ln>
            <a:noFill/>
          </a:ln>
        </p:spPr>
        <p:txBody>
          <a:bodyPr wrap="square" lIns="0" tIns="0" rIns="0" bIns="0" rtlCol="0" anchor="ctr"/>
          <a:lstStyle/>
          <a:p>
            <a:pPr marL="0" indent="0" algn="ctr">
              <a:buNone/>
            </a:pPr>
            <a:r>
              <a:rPr lang="en-US" sz="900" dirty="0">
                <a:solidFill>
                  <a:srgbClr val="D0E8FF"/>
                </a:solidFill>
                <a:latin typeface="メイリオ" panose="020B0604030504040204" pitchFamily="50" charset="-128"/>
                <a:ea typeface="メイリオ" panose="020B0604030504040204" pitchFamily="50" charset="-128"/>
                <a:cs typeface="Calibri" pitchFamily="34" charset="-120"/>
              </a:rPr>
              <a:t>ENTRYの案内</a:t>
            </a:r>
            <a:endParaRPr lang="en-US" sz="900" dirty="0">
              <a:latin typeface="メイリオ" panose="020B0604030504040204" pitchFamily="50" charset="-128"/>
              <a:ea typeface="メイリオ" panose="020B0604030504040204" pitchFamily="50" charset="-128"/>
            </a:endParaRPr>
          </a:p>
        </p:txBody>
      </p:sp>
      <p:sp>
        <p:nvSpPr>
          <p:cNvPr id="285" name="Text 50">
            <a:extLst>
              <a:ext uri="{FF2B5EF4-FFF2-40B4-BE49-F238E27FC236}">
                <a16:creationId xmlns:a16="http://schemas.microsoft.com/office/drawing/2014/main" id="{A0703C68-0981-D8D2-C5DE-76BA82B621A9}"/>
              </a:ext>
            </a:extLst>
          </p:cNvPr>
          <p:cNvSpPr/>
          <p:nvPr/>
        </p:nvSpPr>
        <p:spPr>
          <a:xfrm>
            <a:off x="7850150" y="2494213"/>
            <a:ext cx="1499616" cy="530352"/>
          </a:xfrm>
          <a:prstGeom prst="rect">
            <a:avLst/>
          </a:prstGeom>
          <a:noFill/>
          <a:ln/>
        </p:spPr>
        <p:txBody>
          <a:bodyPr wrap="square" lIns="0" tIns="0" rIns="0" bIns="0" rtlCol="0" anchor="ctr"/>
          <a:lstStyle/>
          <a:p>
            <a:pPr marL="0" indent="0">
              <a:lnSpc>
                <a:spcPct val="130000"/>
              </a:lnSpc>
              <a:buNone/>
            </a:pPr>
            <a:r>
              <a:rPr lang="ja-JP" altLang="en-US" sz="1200" b="1" dirty="0">
                <a:solidFill>
                  <a:srgbClr val="FF0000"/>
                </a:solidFill>
                <a:latin typeface="メイリオ" panose="020B0604030504040204" pitchFamily="50" charset="-128"/>
                <a:ea typeface="メイリオ" panose="020B0604030504040204" pitchFamily="50" charset="-128"/>
                <a:cs typeface="Calibri" pitchFamily="34" charset="-120"/>
              </a:rPr>
              <a:t>かんたん1分</a:t>
            </a:r>
            <a:endParaRPr lang="en-US" sz="1200" dirty="0">
              <a:solidFill>
                <a:srgbClr val="FF0000"/>
              </a:solidFill>
              <a:latin typeface="メイリオ" panose="020B0604030504040204" pitchFamily="50" charset="-128"/>
              <a:ea typeface="メイリオ" panose="020B0604030504040204" pitchFamily="50" charset="-128"/>
            </a:endParaRPr>
          </a:p>
          <a:p>
            <a:pPr marL="0" indent="0">
              <a:lnSpc>
                <a:spcPct val="130000"/>
              </a:lnSpc>
              <a:buNone/>
            </a:pPr>
            <a:r>
              <a:rPr lang="ja-JP" altLang="en-US" sz="1200" b="1" dirty="0">
                <a:solidFill>
                  <a:srgbClr val="FF0000"/>
                </a:solidFill>
                <a:latin typeface="メイリオ" panose="020B0604030504040204" pitchFamily="50" charset="-128"/>
                <a:ea typeface="メイリオ" panose="020B0604030504040204" pitchFamily="50" charset="-128"/>
                <a:cs typeface="Calibri" pitchFamily="34" charset="-120"/>
              </a:rPr>
              <a:t>ENTRYへ</a:t>
            </a:r>
            <a:endParaRPr lang="en-US" sz="1200" dirty="0">
              <a:solidFill>
                <a:srgbClr val="FF0000"/>
              </a:solidFill>
              <a:latin typeface="メイリオ" panose="020B0604030504040204" pitchFamily="50" charset="-128"/>
              <a:ea typeface="メイリオ" panose="020B0604030504040204" pitchFamily="50" charset="-128"/>
            </a:endParaRPr>
          </a:p>
        </p:txBody>
      </p:sp>
      <p:sp>
        <p:nvSpPr>
          <p:cNvPr id="287" name="Text 51">
            <a:extLst>
              <a:ext uri="{FF2B5EF4-FFF2-40B4-BE49-F238E27FC236}">
                <a16:creationId xmlns:a16="http://schemas.microsoft.com/office/drawing/2014/main" id="{CBAD27DA-89EF-E7ED-15D2-58AF159CACA9}"/>
              </a:ext>
            </a:extLst>
          </p:cNvPr>
          <p:cNvSpPr/>
          <p:nvPr/>
        </p:nvSpPr>
        <p:spPr>
          <a:xfrm>
            <a:off x="7850150" y="3061141"/>
            <a:ext cx="1499616" cy="749808"/>
          </a:xfrm>
          <a:prstGeom prst="rect">
            <a:avLst/>
          </a:prstGeom>
          <a:noFill/>
          <a:ln/>
        </p:spPr>
        <p:txBody>
          <a:bodyPr wrap="square" lIns="0" tIns="0" rIns="0" bIns="0" rtlCol="0" anchor="ctr"/>
          <a:lstStyle/>
          <a:p>
            <a:pPr marL="0" indent="0">
              <a:lnSpc>
                <a:spcPct val="140000"/>
              </a:lnSpc>
              <a:buNone/>
            </a:pPr>
            <a:r>
              <a:rPr lang="ja-JP" altLang="en-US" sz="700" dirty="0">
                <a:solidFill>
                  <a:srgbClr val="494848"/>
                </a:solidFill>
                <a:latin typeface="メイリオ" panose="020B0604030504040204" pitchFamily="50" charset="-128"/>
                <a:ea typeface="メイリオ" panose="020B0604030504040204" pitchFamily="50" charset="-128"/>
                <a:cs typeface="Calibri" pitchFamily="34" charset="-120"/>
              </a:rPr>
              <a:t>面接・履歴書作成ナシ</a:t>
            </a:r>
          </a:p>
          <a:p>
            <a:pPr marL="0" indent="0">
              <a:lnSpc>
                <a:spcPct val="140000"/>
              </a:lnSpc>
              <a:buNone/>
            </a:pPr>
            <a:r>
              <a:rPr lang="ja-JP" altLang="en-US" sz="700" dirty="0">
                <a:solidFill>
                  <a:srgbClr val="494848"/>
                </a:solidFill>
                <a:latin typeface="メイリオ" panose="020B0604030504040204" pitchFamily="50" charset="-128"/>
                <a:ea typeface="メイリオ" panose="020B0604030504040204" pitchFamily="50" charset="-128"/>
                <a:cs typeface="Calibri" pitchFamily="34" charset="-120"/>
              </a:rPr>
              <a:t>専属エージェントが</a:t>
            </a:r>
          </a:p>
          <a:p>
            <a:pPr marL="0" indent="0">
              <a:lnSpc>
                <a:spcPct val="140000"/>
              </a:lnSpc>
              <a:buNone/>
            </a:pPr>
            <a:r>
              <a:rPr lang="ja-JP" altLang="en-US" sz="700" dirty="0">
                <a:solidFill>
                  <a:srgbClr val="494848"/>
                </a:solidFill>
                <a:latin typeface="メイリオ" panose="020B0604030504040204" pitchFamily="50" charset="-128"/>
                <a:ea typeface="メイリオ" panose="020B0604030504040204" pitchFamily="50" charset="-128"/>
                <a:cs typeface="Calibri" pitchFamily="34" charset="-120"/>
              </a:rPr>
              <a:t>お仕事中も終了後も</a:t>
            </a:r>
          </a:p>
          <a:p>
            <a:pPr marL="0" indent="0">
              <a:lnSpc>
                <a:spcPct val="140000"/>
              </a:lnSpc>
              <a:buNone/>
            </a:pPr>
            <a:r>
              <a:rPr lang="ja-JP" altLang="en-US" sz="700" dirty="0">
                <a:solidFill>
                  <a:srgbClr val="494848"/>
                </a:solidFill>
                <a:latin typeface="メイリオ" panose="020B0604030504040204" pitchFamily="50" charset="-128"/>
                <a:ea typeface="メイリオ" panose="020B0604030504040204" pitchFamily="50" charset="-128"/>
                <a:cs typeface="Calibri" pitchFamily="34" charset="-120"/>
              </a:rPr>
              <a:t>サポート</a:t>
            </a:r>
          </a:p>
          <a:p>
            <a:pPr marL="0" indent="0">
              <a:lnSpc>
                <a:spcPct val="140000"/>
              </a:lnSpc>
              <a:buNone/>
            </a:pPr>
            <a:r>
              <a:rPr lang="ja-JP" altLang="en-US" sz="700" dirty="0">
                <a:solidFill>
                  <a:srgbClr val="494848"/>
                </a:solidFill>
                <a:latin typeface="メイリオ" panose="020B0604030504040204" pitchFamily="50" charset="-128"/>
                <a:ea typeface="メイリオ" panose="020B0604030504040204" pitchFamily="50" charset="-128"/>
                <a:cs typeface="Calibri" pitchFamily="34" charset="-120"/>
              </a:rPr>
              <a:t>開始時期・エリアに合う求人</a:t>
            </a:r>
          </a:p>
        </p:txBody>
      </p:sp>
      <p:sp>
        <p:nvSpPr>
          <p:cNvPr id="289" name="Shape 52">
            <a:extLst>
              <a:ext uri="{FF2B5EF4-FFF2-40B4-BE49-F238E27FC236}">
                <a16:creationId xmlns:a16="http://schemas.microsoft.com/office/drawing/2014/main" id="{01255A9D-11A8-3A64-125C-E28C1B6380B3}"/>
              </a:ext>
            </a:extLst>
          </p:cNvPr>
          <p:cNvSpPr/>
          <p:nvPr/>
        </p:nvSpPr>
        <p:spPr>
          <a:xfrm>
            <a:off x="7831862" y="3960738"/>
            <a:ext cx="1536192" cy="694944"/>
          </a:xfrm>
          <a:prstGeom prst="roundRect">
            <a:avLst>
              <a:gd name="adj" fmla="val 6579"/>
            </a:avLst>
          </a:prstGeom>
          <a:solidFill>
            <a:srgbClr val="F5F5F5"/>
          </a:solidFill>
          <a:ln w="12700">
            <a:solidFill>
              <a:srgbClr val="DDDDDD"/>
            </a:solidFill>
            <a:prstDash val="solid"/>
          </a:ln>
        </p:spPr>
        <p:txBody>
          <a:bodyPr/>
          <a:lstStyle/>
          <a:p>
            <a:endParaRPr lang="ja-JP" altLang="en-US" sz="1400">
              <a:latin typeface="メイリオ" panose="020B0604030504040204" pitchFamily="50" charset="-128"/>
              <a:ea typeface="メイリオ" panose="020B0604030504040204" pitchFamily="50" charset="-128"/>
            </a:endParaRPr>
          </a:p>
        </p:txBody>
      </p:sp>
      <p:sp>
        <p:nvSpPr>
          <p:cNvPr id="291" name="Text 53">
            <a:extLst>
              <a:ext uri="{FF2B5EF4-FFF2-40B4-BE49-F238E27FC236}">
                <a16:creationId xmlns:a16="http://schemas.microsoft.com/office/drawing/2014/main" id="{8AE4DE94-CD9A-396B-D28D-D8148037F66F}"/>
              </a:ext>
            </a:extLst>
          </p:cNvPr>
          <p:cNvSpPr/>
          <p:nvPr/>
        </p:nvSpPr>
        <p:spPr>
          <a:xfrm>
            <a:off x="7905014" y="3997314"/>
            <a:ext cx="1389888" cy="128016"/>
          </a:xfrm>
          <a:prstGeom prst="rect">
            <a:avLst/>
          </a:prstGeom>
          <a:noFill/>
          <a:ln/>
        </p:spPr>
        <p:txBody>
          <a:bodyPr wrap="square" lIns="0" tIns="0" rIns="0" bIns="0" rtlCol="0" anchor="ctr"/>
          <a:lstStyle/>
          <a:p>
            <a:pPr marL="0" indent="0">
              <a:buNone/>
            </a:pPr>
            <a:r>
              <a:rPr lang="en-US" sz="500" b="1" dirty="0">
                <a:solidFill>
                  <a:srgbClr val="888888"/>
                </a:solidFill>
                <a:latin typeface="メイリオ" panose="020B0604030504040204" pitchFamily="50" charset="-128"/>
                <a:ea typeface="メイリオ" panose="020B0604030504040204" pitchFamily="50" charset="-128"/>
                <a:cs typeface="Calibri" pitchFamily="34" charset="-120"/>
              </a:rPr>
              <a:t>[検索データ]</a:t>
            </a:r>
            <a:endParaRPr lang="en-US" sz="500" dirty="0">
              <a:latin typeface="メイリオ" panose="020B0604030504040204" pitchFamily="50" charset="-128"/>
              <a:ea typeface="メイリオ" panose="020B0604030504040204" pitchFamily="50" charset="-128"/>
            </a:endParaRPr>
          </a:p>
        </p:txBody>
      </p:sp>
      <p:sp>
        <p:nvSpPr>
          <p:cNvPr id="293" name="Text 54">
            <a:extLst>
              <a:ext uri="{FF2B5EF4-FFF2-40B4-BE49-F238E27FC236}">
                <a16:creationId xmlns:a16="http://schemas.microsoft.com/office/drawing/2014/main" id="{8DA89E85-A3D3-6550-47A4-205B7B8B6D62}"/>
              </a:ext>
            </a:extLst>
          </p:cNvPr>
          <p:cNvSpPr/>
          <p:nvPr/>
        </p:nvSpPr>
        <p:spPr>
          <a:xfrm>
            <a:off x="7905014" y="4143618"/>
            <a:ext cx="1389888" cy="493776"/>
          </a:xfrm>
          <a:prstGeom prst="rect">
            <a:avLst/>
          </a:prstGeom>
          <a:noFill/>
          <a:ln/>
        </p:spPr>
        <p:txBody>
          <a:bodyPr wrap="square" lIns="0" tIns="0" rIns="0" bIns="0" rtlCol="0" anchor="ctr"/>
          <a:lstStyle/>
          <a:p>
            <a:pPr marL="0" indent="0">
              <a:lnSpc>
                <a:spcPct val="135000"/>
              </a:lnSpc>
              <a:buNone/>
            </a:pPr>
            <a:r>
              <a:rPr lang="ja-JP" altLang="en-US" sz="600" dirty="0">
                <a:solidFill>
                  <a:srgbClr val="494848"/>
                </a:solidFill>
                <a:latin typeface="メイリオ" panose="020B0604030504040204" pitchFamily="50" charset="-128"/>
                <a:ea typeface="メイリオ" panose="020B0604030504040204" pitchFamily="50" charset="-128"/>
                <a:cs typeface="Calibri" pitchFamily="34" charset="-120"/>
              </a:rPr>
              <a:t>2〜7日後に</a:t>
            </a:r>
          </a:p>
          <a:p>
            <a:pPr marL="0" indent="0">
              <a:lnSpc>
                <a:spcPct val="135000"/>
              </a:lnSpc>
              <a:buNone/>
            </a:pPr>
            <a:r>
              <a:rPr lang="ja-JP" altLang="en-US" sz="600" dirty="0">
                <a:solidFill>
                  <a:srgbClr val="494848"/>
                </a:solidFill>
                <a:latin typeface="メイリオ" panose="020B0604030504040204" pitchFamily="50" charset="-128"/>
                <a:ea typeface="メイリオ" panose="020B0604030504040204" pitchFamily="50" charset="-128"/>
                <a:cs typeface="Calibri" pitchFamily="34" charset="-120"/>
              </a:rPr>
              <a:t>「派遣 職場見学 落ちる確率」</a:t>
            </a:r>
          </a:p>
          <a:p>
            <a:pPr marL="0" indent="0">
              <a:lnSpc>
                <a:spcPct val="135000"/>
              </a:lnSpc>
              <a:buNone/>
            </a:pPr>
            <a:r>
              <a:rPr lang="ja-JP" altLang="en-US" sz="600" dirty="0">
                <a:solidFill>
                  <a:srgbClr val="494848"/>
                </a:solidFill>
                <a:latin typeface="メイリオ" panose="020B0604030504040204" pitchFamily="50" charset="-128"/>
                <a:ea typeface="メイリオ" panose="020B0604030504040204" pitchFamily="50" charset="-128"/>
                <a:cs typeface="Calibri" pitchFamily="34" charset="-120"/>
              </a:rPr>
              <a:t>「履歴書 書き方」など、</a:t>
            </a:r>
          </a:p>
          <a:p>
            <a:pPr marL="0" indent="0">
              <a:lnSpc>
                <a:spcPct val="135000"/>
              </a:lnSpc>
              <a:buNone/>
            </a:pPr>
            <a:r>
              <a:rPr lang="ja-JP" altLang="en-US" sz="600" dirty="0">
                <a:solidFill>
                  <a:srgbClr val="494848"/>
                </a:solidFill>
                <a:latin typeface="メイリオ" panose="020B0604030504040204" pitchFamily="50" charset="-128"/>
                <a:ea typeface="メイリオ" panose="020B0604030504040204" pitchFamily="50" charset="-128"/>
                <a:cs typeface="Calibri" pitchFamily="34" charset="-120"/>
              </a:rPr>
              <a:t>応募・面接の準備の検索が増える</a:t>
            </a:r>
          </a:p>
        </p:txBody>
      </p:sp>
      <p:sp>
        <p:nvSpPr>
          <p:cNvPr id="295" name="Shape 55">
            <a:extLst>
              <a:ext uri="{FF2B5EF4-FFF2-40B4-BE49-F238E27FC236}">
                <a16:creationId xmlns:a16="http://schemas.microsoft.com/office/drawing/2014/main" id="{517894E9-DBEF-7477-92C8-3AEB98A883F2}"/>
              </a:ext>
            </a:extLst>
          </p:cNvPr>
          <p:cNvSpPr/>
          <p:nvPr/>
        </p:nvSpPr>
        <p:spPr>
          <a:xfrm>
            <a:off x="7831862" y="4765410"/>
            <a:ext cx="1536192" cy="310896"/>
          </a:xfrm>
          <a:prstGeom prst="roundRect">
            <a:avLst>
              <a:gd name="adj" fmla="val 35294"/>
            </a:avLst>
          </a:prstGeom>
          <a:solidFill>
            <a:srgbClr val="FFFFFF"/>
          </a:solidFill>
          <a:ln w="12700">
            <a:solidFill>
              <a:srgbClr val="2E7D32"/>
            </a:solidFill>
            <a:prstDash val="solid"/>
          </a:ln>
        </p:spPr>
        <p:txBody>
          <a:bodyPr/>
          <a:lstStyle/>
          <a:p>
            <a:endParaRPr lang="ja-JP" altLang="en-US">
              <a:latin typeface="メイリオ" panose="020B0604030504040204" pitchFamily="50" charset="-128"/>
              <a:ea typeface="メイリオ" panose="020B0604030504040204" pitchFamily="50" charset="-128"/>
            </a:endParaRPr>
          </a:p>
        </p:txBody>
      </p:sp>
      <p:sp>
        <p:nvSpPr>
          <p:cNvPr id="297" name="Text 56">
            <a:extLst>
              <a:ext uri="{FF2B5EF4-FFF2-40B4-BE49-F238E27FC236}">
                <a16:creationId xmlns:a16="http://schemas.microsoft.com/office/drawing/2014/main" id="{DDF1E411-39CC-22B3-B963-FAA79AD524DD}"/>
              </a:ext>
            </a:extLst>
          </p:cNvPr>
          <p:cNvSpPr/>
          <p:nvPr/>
        </p:nvSpPr>
        <p:spPr>
          <a:xfrm>
            <a:off x="7831862" y="4765410"/>
            <a:ext cx="1536192" cy="310896"/>
          </a:xfrm>
          <a:prstGeom prst="rect">
            <a:avLst/>
          </a:prstGeom>
          <a:noFill/>
          <a:ln/>
        </p:spPr>
        <p:txBody>
          <a:bodyPr wrap="square" lIns="0" tIns="0" rIns="0" bIns="0" rtlCol="0" anchor="ctr"/>
          <a:lstStyle/>
          <a:p>
            <a:pPr marL="0" indent="0" algn="ctr">
              <a:buNone/>
            </a:pPr>
            <a:r>
              <a:rPr lang="ja-JP" altLang="en-US" sz="950" b="1" dirty="0">
                <a:latin typeface="メイリオ" panose="020B0604030504040204" pitchFamily="50" charset="-128"/>
                <a:ea typeface="メイリオ" panose="020B0604030504040204" pitchFamily="50" charset="-128"/>
                <a:cs typeface="Calibri" pitchFamily="34" charset="-120"/>
              </a:rPr>
              <a:t>会員登録</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Google Shape;752;p28">
            <a:extLst>
              <a:ext uri="{FF2B5EF4-FFF2-40B4-BE49-F238E27FC236}">
                <a16:creationId xmlns:a16="http://schemas.microsoft.com/office/drawing/2014/main" id="{49D91DB9-7A9D-6C3B-8557-DFE5FEA59B43}"/>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施策の考え方（長期：企画配信）</a:t>
            </a:r>
          </a:p>
        </p:txBody>
      </p:sp>
      <p:sp>
        <p:nvSpPr>
          <p:cNvPr id="8" name="正方形/長方形 7">
            <a:extLst>
              <a:ext uri="{FF2B5EF4-FFF2-40B4-BE49-F238E27FC236}">
                <a16:creationId xmlns:a16="http://schemas.microsoft.com/office/drawing/2014/main" id="{0DA40860-795C-02D9-8E20-768167E5BE2B}"/>
              </a:ext>
            </a:extLst>
          </p:cNvPr>
          <p:cNvSpPr/>
          <p:nvPr/>
        </p:nvSpPr>
        <p:spPr>
          <a:xfrm>
            <a:off x="0" y="777240"/>
            <a:ext cx="1802674" cy="502920"/>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400" dirty="0">
                <a:latin typeface="メイリオ" panose="020B0604030504040204" pitchFamily="50" charset="-128"/>
                <a:ea typeface="メイリオ" panose="020B0604030504040204" pitchFamily="50" charset="-128"/>
              </a:rPr>
              <a:t>企画配信</a:t>
            </a:r>
          </a:p>
        </p:txBody>
      </p:sp>
      <p:sp>
        <p:nvSpPr>
          <p:cNvPr id="10" name="Google Shape;752;p28">
            <a:extLst>
              <a:ext uri="{FF2B5EF4-FFF2-40B4-BE49-F238E27FC236}">
                <a16:creationId xmlns:a16="http://schemas.microsoft.com/office/drawing/2014/main" id="{AB994752-49F6-3841-3471-21EFE66BFB15}"/>
              </a:ext>
            </a:extLst>
          </p:cNvPr>
          <p:cNvSpPr txBox="1"/>
          <p:nvPr/>
        </p:nvSpPr>
        <p:spPr>
          <a:xfrm>
            <a:off x="1988819" y="736332"/>
            <a:ext cx="7774305" cy="584735"/>
          </a:xfrm>
          <a:prstGeom prst="rect">
            <a:avLst/>
          </a:prstGeom>
          <a:noFill/>
          <a:ln>
            <a:noFill/>
          </a:ln>
        </p:spPr>
        <p:txBody>
          <a:bodyPr spcFirstLastPara="1" wrap="square" lIns="91425" tIns="45700" rIns="91425" bIns="45700" anchor="ctr" anchorCtr="0">
            <a:spAutoFit/>
          </a:bodyPr>
          <a:lstStyle/>
          <a:p>
            <a:r>
              <a:rPr lang="ja-JP" altLang="en-US" sz="1600" b="1" dirty="0">
                <a:latin typeface="メイリオ" panose="020B0604030504040204" pitchFamily="50" charset="-128"/>
                <a:ea typeface="メイリオ" panose="020B0604030504040204" pitchFamily="50" charset="-128"/>
                <a:cs typeface="Meiryo"/>
                <a:sym typeface="Meiryo"/>
              </a:rPr>
              <a:t>再びニーズが高まる時期（シーズナリティ）を軸に、</a:t>
            </a:r>
          </a:p>
          <a:p>
            <a:r>
              <a:rPr lang="en-US" altLang="ja-JP" sz="1600" b="1" dirty="0">
                <a:latin typeface="メイリオ" panose="020B0604030504040204" pitchFamily="50" charset="-128"/>
                <a:ea typeface="メイリオ" panose="020B0604030504040204" pitchFamily="50" charset="-128"/>
                <a:cs typeface="Meiryo"/>
                <a:sym typeface="Meiryo"/>
              </a:rPr>
              <a:t>15</a:t>
            </a:r>
            <a:r>
              <a:rPr lang="ja-JP" altLang="en-US" sz="1600" b="1" dirty="0">
                <a:latin typeface="メイリオ" panose="020B0604030504040204" pitchFamily="50" charset="-128"/>
                <a:ea typeface="メイリオ" panose="020B0604030504040204" pitchFamily="50" charset="-128"/>
                <a:cs typeface="Meiryo"/>
                <a:sym typeface="Meiryo"/>
              </a:rPr>
              <a:t>日を過ぎた友だちにも企画配信で再アプローチし、再活性化を図る。</a:t>
            </a:r>
            <a:endParaRPr lang="en-US" altLang="ja-JP" sz="1600" b="1" dirty="0">
              <a:latin typeface="メイリオ" panose="020B0604030504040204" pitchFamily="50" charset="-128"/>
              <a:ea typeface="メイリオ" panose="020B0604030504040204" pitchFamily="50" charset="-128"/>
              <a:cs typeface="Meiryo"/>
              <a:sym typeface="Meiryo"/>
            </a:endParaRPr>
          </a:p>
        </p:txBody>
      </p:sp>
      <p:pic>
        <p:nvPicPr>
          <p:cNvPr id="5" name="Googleトレンド リゾートバイト・スキー場バイト（月ごと）">
            <a:extLst>
              <a:ext uri="{FF2B5EF4-FFF2-40B4-BE49-F238E27FC236}">
                <a16:creationId xmlns:a16="http://schemas.microsoft.com/office/drawing/2014/main" id="{6E74B780-0053-8D9C-7393-EEF0666D1B29}"/>
              </a:ext>
            </a:extLst>
          </p:cNvPr>
          <p:cNvPicPr>
            <a:picLocks noChangeAspect="1"/>
          </p:cNvPicPr>
          <p:nvPr/>
        </p:nvPicPr>
        <p:blipFill>
          <a:blip r:embed="rId2"/>
          <a:stretch>
            <a:fillRect/>
          </a:stretch>
        </p:blipFill>
        <p:spPr>
          <a:xfrm>
            <a:off x="1570034" y="1491240"/>
            <a:ext cx="6765932" cy="2464732"/>
          </a:xfrm>
          <a:prstGeom prst="rect">
            <a:avLst/>
          </a:prstGeom>
        </p:spPr>
      </p:pic>
      <p:sp>
        <p:nvSpPr>
          <p:cNvPr id="9" name="テキスト ボックス 8">
            <a:extLst>
              <a:ext uri="{FF2B5EF4-FFF2-40B4-BE49-F238E27FC236}">
                <a16:creationId xmlns:a16="http://schemas.microsoft.com/office/drawing/2014/main" id="{DC8BF96D-584A-E1C6-6217-4B8E3A069BAC}"/>
              </a:ext>
            </a:extLst>
          </p:cNvPr>
          <p:cNvSpPr txBox="1"/>
          <p:nvPr/>
        </p:nvSpPr>
        <p:spPr>
          <a:xfrm>
            <a:off x="8134788" y="1514702"/>
            <a:ext cx="1576252" cy="253916"/>
          </a:xfrm>
          <a:prstGeom prst="rect">
            <a:avLst/>
          </a:prstGeom>
          <a:noFill/>
        </p:spPr>
        <p:txBody>
          <a:bodyPr wrap="square">
            <a:spAutoFit/>
          </a:bodyPr>
          <a:lstStyle/>
          <a:p>
            <a:pPr algn="ctr"/>
            <a:r>
              <a:rPr lang="ja-JP" altLang="en-US" sz="1050" b="1" dirty="0">
                <a:latin typeface="メイリオ" panose="020B0604030504040204" pitchFamily="50" charset="-128"/>
                <a:ea typeface="メイリオ" panose="020B0604030504040204" pitchFamily="50" charset="-128"/>
              </a:rPr>
              <a:t>のトレンド情報</a:t>
            </a:r>
            <a:endParaRPr kumimoji="1" lang="ja-JP" altLang="en-US" sz="1050" b="1" dirty="0">
              <a:solidFill>
                <a:schemeClr val="tx1"/>
              </a:solidFill>
              <a:latin typeface="メイリオ" panose="020B0604030504040204" pitchFamily="50" charset="-128"/>
              <a:ea typeface="メイリオ" panose="020B0604030504040204" pitchFamily="50" charset="-128"/>
            </a:endParaRPr>
          </a:p>
        </p:txBody>
      </p:sp>
      <p:sp>
        <p:nvSpPr>
          <p:cNvPr id="12" name="正方形/長方形 11">
            <a:extLst>
              <a:ext uri="{FF2B5EF4-FFF2-40B4-BE49-F238E27FC236}">
                <a16:creationId xmlns:a16="http://schemas.microsoft.com/office/drawing/2014/main" id="{8074073A-1881-D07F-BFBF-D955541CB814}"/>
              </a:ext>
            </a:extLst>
          </p:cNvPr>
          <p:cNvSpPr/>
          <p:nvPr/>
        </p:nvSpPr>
        <p:spPr>
          <a:xfrm>
            <a:off x="6764522" y="1491240"/>
            <a:ext cx="1571444" cy="28342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b="1" dirty="0">
                <a:solidFill>
                  <a:schemeClr val="bg1"/>
                </a:solidFill>
                <a:latin typeface="メイリオ" panose="020B0604030504040204" pitchFamily="50" charset="-128"/>
                <a:ea typeface="メイリオ" panose="020B0604030504040204" pitchFamily="50" charset="-128"/>
              </a:rPr>
              <a:t>リゾートバイト</a:t>
            </a:r>
          </a:p>
        </p:txBody>
      </p:sp>
      <p:sp>
        <p:nvSpPr>
          <p:cNvPr id="18" name="四角形: 角を丸くする 17">
            <a:extLst>
              <a:ext uri="{FF2B5EF4-FFF2-40B4-BE49-F238E27FC236}">
                <a16:creationId xmlns:a16="http://schemas.microsoft.com/office/drawing/2014/main" id="{6582B463-2E55-3216-C313-C99DAF3A7B69}"/>
              </a:ext>
            </a:extLst>
          </p:cNvPr>
          <p:cNvSpPr/>
          <p:nvPr/>
        </p:nvSpPr>
        <p:spPr>
          <a:xfrm>
            <a:off x="4756154" y="160947"/>
            <a:ext cx="1752679" cy="269057"/>
          </a:xfrm>
          <a:prstGeom prst="roundRect">
            <a:avLst/>
          </a:prstGeom>
          <a:solidFill>
            <a:schemeClr val="bg1"/>
          </a:solidFill>
          <a:ln w="9525">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b="1" dirty="0">
                <a:solidFill>
                  <a:schemeClr val="tx1">
                    <a:lumMod val="65000"/>
                    <a:lumOff val="35000"/>
                  </a:schemeClr>
                </a:solidFill>
                <a:latin typeface="メイリオ" panose="020B0604030504040204" pitchFamily="50" charset="-128"/>
                <a:ea typeface="メイリオ" panose="020B0604030504040204" pitchFamily="50" charset="-128"/>
              </a:rPr>
              <a:t>ご提案時に詳細記載</a:t>
            </a:r>
          </a:p>
        </p:txBody>
      </p:sp>
      <p:sp>
        <p:nvSpPr>
          <p:cNvPr id="20" name="Shape 29">
            <a:extLst>
              <a:ext uri="{FF2B5EF4-FFF2-40B4-BE49-F238E27FC236}">
                <a16:creationId xmlns:a16="http://schemas.microsoft.com/office/drawing/2014/main" id="{369E970F-2C41-E080-117D-29AFB73E3495}"/>
              </a:ext>
            </a:extLst>
          </p:cNvPr>
          <p:cNvSpPr/>
          <p:nvPr/>
        </p:nvSpPr>
        <p:spPr>
          <a:xfrm>
            <a:off x="3593323" y="4695761"/>
            <a:ext cx="0" cy="73152"/>
          </a:xfrm>
          <a:prstGeom prst="line">
            <a:avLst/>
          </a:prstGeom>
          <a:noFill/>
          <a:ln w="12700">
            <a:solidFill>
              <a:srgbClr val="DDDDDD"/>
            </a:solidFill>
            <a:prstDash val="solid"/>
          </a:ln>
        </p:spPr>
        <p:txBody>
          <a:bodyPr/>
          <a:lstStyle/>
          <a:p>
            <a:endParaRPr lang="ja-JP" altLang="en-US">
              <a:latin typeface="メイリオ" panose="020B0604030504040204" pitchFamily="50" charset="-128"/>
              <a:ea typeface="メイリオ" panose="020B0604030504040204" pitchFamily="50" charset="-128"/>
            </a:endParaRPr>
          </a:p>
        </p:txBody>
      </p:sp>
      <p:sp>
        <p:nvSpPr>
          <p:cNvPr id="22" name="Shape 31">
            <a:extLst>
              <a:ext uri="{FF2B5EF4-FFF2-40B4-BE49-F238E27FC236}">
                <a16:creationId xmlns:a16="http://schemas.microsoft.com/office/drawing/2014/main" id="{FCD65E22-4E82-E3BE-F7D7-233F34810826}"/>
              </a:ext>
            </a:extLst>
          </p:cNvPr>
          <p:cNvSpPr/>
          <p:nvPr/>
        </p:nvSpPr>
        <p:spPr>
          <a:xfrm>
            <a:off x="4060092" y="4695761"/>
            <a:ext cx="0" cy="73152"/>
          </a:xfrm>
          <a:prstGeom prst="line">
            <a:avLst/>
          </a:prstGeom>
          <a:noFill/>
          <a:ln w="12700">
            <a:solidFill>
              <a:srgbClr val="DDDDDD"/>
            </a:solidFill>
            <a:prstDash val="solid"/>
          </a:ln>
        </p:spPr>
        <p:txBody>
          <a:bodyPr/>
          <a:lstStyle/>
          <a:p>
            <a:endParaRPr lang="ja-JP" altLang="en-US">
              <a:latin typeface="メイリオ" panose="020B0604030504040204" pitchFamily="50" charset="-128"/>
              <a:ea typeface="メイリオ" panose="020B0604030504040204" pitchFamily="50" charset="-128"/>
            </a:endParaRPr>
          </a:p>
        </p:txBody>
      </p:sp>
      <p:sp>
        <p:nvSpPr>
          <p:cNvPr id="26" name="矢印: 下 25">
            <a:extLst>
              <a:ext uri="{FF2B5EF4-FFF2-40B4-BE49-F238E27FC236}">
                <a16:creationId xmlns:a16="http://schemas.microsoft.com/office/drawing/2014/main" id="{064EB21E-55AC-291D-BD68-D99487ED9214}"/>
              </a:ext>
            </a:extLst>
          </p:cNvPr>
          <p:cNvSpPr/>
          <p:nvPr/>
        </p:nvSpPr>
        <p:spPr>
          <a:xfrm>
            <a:off x="5341874" y="4326200"/>
            <a:ext cx="792480" cy="586887"/>
          </a:xfrm>
          <a:prstGeom prst="downArrow">
            <a:avLst/>
          </a:prstGeom>
          <a:gradFill>
            <a:gsLst>
              <a:gs pos="4000">
                <a:schemeClr val="bg1">
                  <a:alpha val="35000"/>
                </a:schemeClr>
              </a:gs>
              <a:gs pos="100000">
                <a:schemeClr val="tx2">
                  <a:lumMod val="60000"/>
                  <a:lumOff val="40000"/>
                  <a:alpha val="4000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8" name="矢印: 下 27">
            <a:extLst>
              <a:ext uri="{FF2B5EF4-FFF2-40B4-BE49-F238E27FC236}">
                <a16:creationId xmlns:a16="http://schemas.microsoft.com/office/drawing/2014/main" id="{FB72B5BF-4992-BBB8-E5B3-E5EBD3C2D3AC}"/>
              </a:ext>
            </a:extLst>
          </p:cNvPr>
          <p:cNvSpPr/>
          <p:nvPr/>
        </p:nvSpPr>
        <p:spPr>
          <a:xfrm>
            <a:off x="2174122" y="4326200"/>
            <a:ext cx="792480" cy="586887"/>
          </a:xfrm>
          <a:prstGeom prst="downArrow">
            <a:avLst/>
          </a:prstGeom>
          <a:gradFill>
            <a:gsLst>
              <a:gs pos="4000">
                <a:schemeClr val="bg1">
                  <a:alpha val="35000"/>
                </a:schemeClr>
              </a:gs>
              <a:gs pos="100000">
                <a:schemeClr val="tx2">
                  <a:lumMod val="60000"/>
                  <a:lumOff val="40000"/>
                  <a:alpha val="4000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0" name="テキスト ボックス 29">
            <a:extLst>
              <a:ext uri="{FF2B5EF4-FFF2-40B4-BE49-F238E27FC236}">
                <a16:creationId xmlns:a16="http://schemas.microsoft.com/office/drawing/2014/main" id="{9122B12C-726B-347C-08BA-51C1DD7B1B37}"/>
              </a:ext>
            </a:extLst>
          </p:cNvPr>
          <p:cNvSpPr txBox="1"/>
          <p:nvPr/>
        </p:nvSpPr>
        <p:spPr>
          <a:xfrm>
            <a:off x="1518065" y="4007678"/>
            <a:ext cx="2104595" cy="415498"/>
          </a:xfrm>
          <a:prstGeom prst="rect">
            <a:avLst/>
          </a:prstGeom>
          <a:noFill/>
        </p:spPr>
        <p:txBody>
          <a:bodyPr wrap="square">
            <a:spAutoFit/>
          </a:bodyPr>
          <a:lstStyle/>
          <a:p>
            <a:pPr algn="ctr"/>
            <a:r>
              <a:rPr lang="ja-JP" altLang="en-US" sz="1000" b="1" dirty="0">
                <a:latin typeface="メイリオ" panose="020B0604030504040204" pitchFamily="50" charset="-128"/>
                <a:ea typeface="メイリオ" panose="020B0604030504040204" pitchFamily="50" charset="-128"/>
                <a:sym typeface="Meiryo"/>
              </a:rPr>
              <a:t>再度ニーズ高まったタイミング</a:t>
            </a:r>
            <a:r>
              <a:rPr lang="ja-JP" altLang="en-US" sz="1050" b="1" dirty="0">
                <a:latin typeface="メイリオ" panose="020B0604030504040204" pitchFamily="50" charset="-128"/>
                <a:ea typeface="メイリオ" panose="020B0604030504040204" pitchFamily="50" charset="-128"/>
                <a:sym typeface="Meiryo"/>
              </a:rPr>
              <a:t>で</a:t>
            </a:r>
            <a:endParaRPr lang="en-US" altLang="ja-JP" sz="1050" b="1" dirty="0">
              <a:latin typeface="メイリオ" panose="020B0604030504040204" pitchFamily="50" charset="-128"/>
              <a:ea typeface="メイリオ" panose="020B0604030504040204" pitchFamily="50" charset="-128"/>
              <a:sym typeface="Meiryo"/>
            </a:endParaRPr>
          </a:p>
          <a:p>
            <a:pPr algn="ctr"/>
            <a:r>
              <a:rPr lang="ja-JP" altLang="en-US" sz="1050" b="1" dirty="0">
                <a:latin typeface="メイリオ" panose="020B0604030504040204" pitchFamily="50" charset="-128"/>
                <a:ea typeface="メイリオ" panose="020B0604030504040204" pitchFamily="50" charset="-128"/>
                <a:sym typeface="Meiryo"/>
              </a:rPr>
              <a:t>の再活性化施策として</a:t>
            </a:r>
            <a:endParaRPr lang="en-US" altLang="ja-JP" sz="1000" b="1" dirty="0">
              <a:latin typeface="メイリオ" panose="020B0604030504040204" pitchFamily="50" charset="-128"/>
              <a:ea typeface="メイリオ" panose="020B0604030504040204" pitchFamily="50" charset="-128"/>
              <a:sym typeface="Meiryo"/>
            </a:endParaRPr>
          </a:p>
        </p:txBody>
      </p:sp>
      <p:sp>
        <p:nvSpPr>
          <p:cNvPr id="32" name="テキスト ボックス 31">
            <a:extLst>
              <a:ext uri="{FF2B5EF4-FFF2-40B4-BE49-F238E27FC236}">
                <a16:creationId xmlns:a16="http://schemas.microsoft.com/office/drawing/2014/main" id="{302C7D03-D37A-C26E-B969-DD0DB3163FBC}"/>
              </a:ext>
            </a:extLst>
          </p:cNvPr>
          <p:cNvSpPr txBox="1"/>
          <p:nvPr/>
        </p:nvSpPr>
        <p:spPr>
          <a:xfrm>
            <a:off x="4685816" y="4009455"/>
            <a:ext cx="2104595" cy="415498"/>
          </a:xfrm>
          <a:prstGeom prst="rect">
            <a:avLst/>
          </a:prstGeom>
          <a:noFill/>
        </p:spPr>
        <p:txBody>
          <a:bodyPr wrap="square">
            <a:spAutoFit/>
          </a:bodyPr>
          <a:lstStyle/>
          <a:p>
            <a:pPr algn="ctr"/>
            <a:r>
              <a:rPr lang="ja-JP" altLang="en-US" sz="1000" b="1" dirty="0">
                <a:latin typeface="メイリオ" panose="020B0604030504040204" pitchFamily="50" charset="-128"/>
                <a:ea typeface="メイリオ" panose="020B0604030504040204" pitchFamily="50" charset="-128"/>
                <a:sym typeface="Meiryo"/>
              </a:rPr>
              <a:t>再度ニーズ高まったタイミング</a:t>
            </a:r>
            <a:r>
              <a:rPr lang="ja-JP" altLang="en-US" sz="1050" b="1" dirty="0">
                <a:latin typeface="メイリオ" panose="020B0604030504040204" pitchFamily="50" charset="-128"/>
                <a:ea typeface="メイリオ" panose="020B0604030504040204" pitchFamily="50" charset="-128"/>
                <a:sym typeface="Meiryo"/>
              </a:rPr>
              <a:t>で</a:t>
            </a:r>
            <a:endParaRPr lang="en-US" altLang="ja-JP" sz="1050" b="1" dirty="0">
              <a:latin typeface="メイリオ" panose="020B0604030504040204" pitchFamily="50" charset="-128"/>
              <a:ea typeface="メイリオ" panose="020B0604030504040204" pitchFamily="50" charset="-128"/>
              <a:sym typeface="Meiryo"/>
            </a:endParaRPr>
          </a:p>
          <a:p>
            <a:pPr algn="ctr"/>
            <a:r>
              <a:rPr lang="ja-JP" altLang="en-US" sz="1050" b="1" dirty="0">
                <a:latin typeface="メイリオ" panose="020B0604030504040204" pitchFamily="50" charset="-128"/>
                <a:ea typeface="メイリオ" panose="020B0604030504040204" pitchFamily="50" charset="-128"/>
                <a:sym typeface="Meiryo"/>
              </a:rPr>
              <a:t>の再活性化施策として</a:t>
            </a:r>
            <a:endParaRPr lang="en-US" altLang="ja-JP" sz="1000" b="1" dirty="0">
              <a:latin typeface="メイリオ" panose="020B0604030504040204" pitchFamily="50" charset="-128"/>
              <a:ea typeface="メイリオ" panose="020B0604030504040204" pitchFamily="50" charset="-128"/>
              <a:sym typeface="Meiryo"/>
            </a:endParaRPr>
          </a:p>
        </p:txBody>
      </p:sp>
      <p:sp>
        <p:nvSpPr>
          <p:cNvPr id="34" name="テキスト ボックス 33">
            <a:extLst>
              <a:ext uri="{FF2B5EF4-FFF2-40B4-BE49-F238E27FC236}">
                <a16:creationId xmlns:a16="http://schemas.microsoft.com/office/drawing/2014/main" id="{A2AD2662-C588-A66D-EA47-21DA7A09CF26}"/>
              </a:ext>
            </a:extLst>
          </p:cNvPr>
          <p:cNvSpPr txBox="1"/>
          <p:nvPr/>
        </p:nvSpPr>
        <p:spPr>
          <a:xfrm>
            <a:off x="7099855" y="4053844"/>
            <a:ext cx="2315055" cy="369332"/>
          </a:xfrm>
          <a:prstGeom prst="rect">
            <a:avLst/>
          </a:prstGeom>
          <a:noFill/>
        </p:spPr>
        <p:txBody>
          <a:bodyPr wrap="square">
            <a:spAutoFit/>
          </a:bodyPr>
          <a:lstStyle/>
          <a:p>
            <a:pPr algn="ctr"/>
            <a:r>
              <a:rPr lang="ja-JP" altLang="en-US" sz="900" dirty="0">
                <a:solidFill>
                  <a:srgbClr val="FF0000"/>
                </a:solidFill>
                <a:latin typeface="メイリオ" panose="020B0604030504040204" pitchFamily="50" charset="-128"/>
                <a:ea typeface="メイリオ" panose="020B0604030504040204" pitchFamily="50" charset="-128"/>
                <a:sym typeface="Meiryo"/>
              </a:rPr>
              <a:t>その他、ニーズが高まる前のタイミング</a:t>
            </a:r>
            <a:endParaRPr lang="en-US" altLang="ja-JP" sz="900" dirty="0">
              <a:solidFill>
                <a:srgbClr val="FF0000"/>
              </a:solidFill>
              <a:latin typeface="メイリオ" panose="020B0604030504040204" pitchFamily="50" charset="-128"/>
              <a:ea typeface="メイリオ" panose="020B0604030504040204" pitchFamily="50" charset="-128"/>
              <a:sym typeface="Meiryo"/>
            </a:endParaRPr>
          </a:p>
          <a:p>
            <a:pPr algn="ctr"/>
            <a:r>
              <a:rPr lang="ja-JP" altLang="en-US" sz="900" dirty="0">
                <a:solidFill>
                  <a:srgbClr val="FF0000"/>
                </a:solidFill>
                <a:latin typeface="メイリオ" panose="020B0604030504040204" pitchFamily="50" charset="-128"/>
                <a:ea typeface="メイリオ" panose="020B0604030504040204" pitchFamily="50" charset="-128"/>
                <a:sym typeface="Meiryo"/>
              </a:rPr>
              <a:t>でアプローチする等の施策に活用。</a:t>
            </a:r>
            <a:endParaRPr lang="en-US" altLang="ja-JP" sz="900" dirty="0">
              <a:solidFill>
                <a:srgbClr val="FF0000"/>
              </a:solidFill>
              <a:latin typeface="メイリオ" panose="020B0604030504040204" pitchFamily="50" charset="-128"/>
              <a:ea typeface="メイリオ" panose="020B0604030504040204" pitchFamily="50" charset="-128"/>
              <a:sym typeface="Meiryo"/>
            </a:endParaRPr>
          </a:p>
        </p:txBody>
      </p:sp>
      <p:cxnSp>
        <p:nvCxnSpPr>
          <p:cNvPr id="36" name="直線矢印コネクタ 35">
            <a:extLst>
              <a:ext uri="{FF2B5EF4-FFF2-40B4-BE49-F238E27FC236}">
                <a16:creationId xmlns:a16="http://schemas.microsoft.com/office/drawing/2014/main" id="{53784701-DE88-24A4-1652-CE66A993AA9A}"/>
              </a:ext>
            </a:extLst>
          </p:cNvPr>
          <p:cNvCxnSpPr>
            <a:cxnSpLocks/>
          </p:cNvCxnSpPr>
          <p:nvPr/>
        </p:nvCxnSpPr>
        <p:spPr>
          <a:xfrm flipH="1" flipV="1">
            <a:off x="6437376" y="3465576"/>
            <a:ext cx="914400" cy="566928"/>
          </a:xfrm>
          <a:prstGeom prst="straightConnector1">
            <a:avLst/>
          </a:prstGeom>
          <a:ln>
            <a:solidFill>
              <a:srgbClr val="FF0000"/>
            </a:solidFill>
            <a:prstDash val="sysDash"/>
            <a:tailEnd type="triangle"/>
          </a:ln>
        </p:spPr>
        <p:style>
          <a:lnRef idx="1">
            <a:schemeClr val="accent1"/>
          </a:lnRef>
          <a:fillRef idx="0">
            <a:schemeClr val="accent1"/>
          </a:fillRef>
          <a:effectRef idx="0">
            <a:schemeClr val="accent1"/>
          </a:effectRef>
          <a:fontRef idx="minor">
            <a:schemeClr val="tx1"/>
          </a:fontRef>
        </p:style>
      </p:cxnSp>
      <p:sp>
        <p:nvSpPr>
          <p:cNvPr id="38" name="四角形: 角を丸くする 37">
            <a:extLst>
              <a:ext uri="{FF2B5EF4-FFF2-40B4-BE49-F238E27FC236}">
                <a16:creationId xmlns:a16="http://schemas.microsoft.com/office/drawing/2014/main" id="{9C8551D0-7316-37F3-A274-247A41CF4DC1}"/>
              </a:ext>
            </a:extLst>
          </p:cNvPr>
          <p:cNvSpPr/>
          <p:nvPr/>
        </p:nvSpPr>
        <p:spPr>
          <a:xfrm>
            <a:off x="6181344" y="1856231"/>
            <a:ext cx="512064" cy="1591056"/>
          </a:xfrm>
          <a:prstGeom prst="roundRect">
            <a:avLst>
              <a:gd name="adj" fmla="val 9639"/>
            </a:avLst>
          </a:prstGeom>
          <a:solidFill>
            <a:srgbClr val="FF0000">
              <a:alpha val="2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000" dirty="0">
              <a:solidFill>
                <a:schemeClr val="tx1"/>
              </a:solidFill>
              <a:latin typeface="メイリオ" panose="020B0604030504040204" pitchFamily="50" charset="-128"/>
              <a:ea typeface="メイリオ" panose="020B0604030504040204" pitchFamily="50" charset="-128"/>
            </a:endParaRPr>
          </a:p>
        </p:txBody>
      </p:sp>
      <p:sp>
        <p:nvSpPr>
          <p:cNvPr id="3" name="Rectangle 2012">
            <a:extLst>
              <a:ext uri="{FF2B5EF4-FFF2-40B4-BE49-F238E27FC236}">
                <a16:creationId xmlns:a16="http://schemas.microsoft.com/office/drawing/2014/main" id="{38D4CCB3-6A52-E243-EBF3-4D9F3E0779B3}"/>
              </a:ext>
            </a:extLst>
          </p:cNvPr>
          <p:cNvSpPr/>
          <p:nvPr/>
        </p:nvSpPr>
        <p:spPr>
          <a:xfrm>
            <a:off x="461554" y="5991604"/>
            <a:ext cx="731096" cy="411480"/>
          </a:xfrm>
          <a:prstGeom prst="rect">
            <a:avLst/>
          </a:prstGeom>
          <a:solidFill>
            <a:schemeClr val="tx2"/>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lIns="0" tIns="25400" rIns="0" bIns="25400" rtlCol="0" anchor="ctr"/>
          <a:lstStyle/>
          <a:p>
            <a:pPr algn="ctr"/>
            <a:r>
              <a:rPr sz="1000" b="1">
                <a:solidFill>
                  <a:schemeClr val="bg1"/>
                </a:solidFill>
                <a:latin typeface="メイリオ"/>
              </a:rPr>
              <a:t>1月</a:t>
            </a:r>
          </a:p>
        </p:txBody>
      </p:sp>
      <p:sp>
        <p:nvSpPr>
          <p:cNvPr id="7" name="Rectangle 2011">
            <a:extLst>
              <a:ext uri="{FF2B5EF4-FFF2-40B4-BE49-F238E27FC236}">
                <a16:creationId xmlns:a16="http://schemas.microsoft.com/office/drawing/2014/main" id="{523206B0-A248-EDFA-FDF7-111D4BDD0015}"/>
              </a:ext>
            </a:extLst>
          </p:cNvPr>
          <p:cNvSpPr/>
          <p:nvPr/>
        </p:nvSpPr>
        <p:spPr>
          <a:xfrm>
            <a:off x="1218050" y="5991604"/>
            <a:ext cx="731096" cy="411480"/>
          </a:xfrm>
          <a:prstGeom prst="rect">
            <a:avLst/>
          </a:prstGeom>
          <a:solidFill>
            <a:srgbClr val="E5E8EE"/>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lIns="0" tIns="25400" rIns="0" bIns="25400" rtlCol="0" anchor="ctr"/>
          <a:lstStyle/>
          <a:p>
            <a:pPr algn="ctr"/>
            <a:r>
              <a:rPr sz="1000" b="0">
                <a:solidFill>
                  <a:srgbClr val="5A6378"/>
                </a:solidFill>
                <a:latin typeface="メイリオ"/>
              </a:rPr>
              <a:t>2月</a:t>
            </a:r>
          </a:p>
        </p:txBody>
      </p:sp>
      <p:sp>
        <p:nvSpPr>
          <p:cNvPr id="13" name="Rectangle 2011">
            <a:extLst>
              <a:ext uri="{FF2B5EF4-FFF2-40B4-BE49-F238E27FC236}">
                <a16:creationId xmlns:a16="http://schemas.microsoft.com/office/drawing/2014/main" id="{523206B0-A248-EDFA-FDF7-111D4BDD0015}"/>
              </a:ext>
            </a:extLst>
          </p:cNvPr>
          <p:cNvSpPr/>
          <p:nvPr/>
        </p:nvSpPr>
        <p:spPr>
          <a:xfrm>
            <a:off x="1974546" y="5991604"/>
            <a:ext cx="731096" cy="411480"/>
          </a:xfrm>
          <a:prstGeom prst="rect">
            <a:avLst/>
          </a:prstGeom>
          <a:solidFill>
            <a:srgbClr val="E5E8EE"/>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lIns="0" tIns="25400" rIns="0" bIns="25400" rtlCol="0" anchor="ctr"/>
          <a:lstStyle/>
          <a:p>
            <a:pPr algn="ctr"/>
            <a:r>
              <a:rPr sz="1000" b="0">
                <a:solidFill>
                  <a:srgbClr val="5A6378"/>
                </a:solidFill>
                <a:latin typeface="メイリオ"/>
              </a:rPr>
              <a:t>3月</a:t>
            </a:r>
          </a:p>
        </p:txBody>
      </p:sp>
      <p:sp>
        <p:nvSpPr>
          <p:cNvPr id="17" name="Rectangle 2011">
            <a:extLst>
              <a:ext uri="{FF2B5EF4-FFF2-40B4-BE49-F238E27FC236}">
                <a16:creationId xmlns:a16="http://schemas.microsoft.com/office/drawing/2014/main" id="{523206B0-A248-EDFA-FDF7-111D4BDD0015}"/>
              </a:ext>
            </a:extLst>
          </p:cNvPr>
          <p:cNvSpPr/>
          <p:nvPr/>
        </p:nvSpPr>
        <p:spPr>
          <a:xfrm>
            <a:off x="2731042" y="5991604"/>
            <a:ext cx="731096" cy="411480"/>
          </a:xfrm>
          <a:prstGeom prst="rect">
            <a:avLst/>
          </a:prstGeom>
          <a:solidFill>
            <a:srgbClr val="E5E8EE"/>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lIns="0" tIns="25400" rIns="0" bIns="25400" rtlCol="0" anchor="ctr"/>
          <a:lstStyle/>
          <a:p>
            <a:pPr algn="ctr"/>
            <a:r>
              <a:rPr sz="1000" b="0">
                <a:solidFill>
                  <a:srgbClr val="5A6378"/>
                </a:solidFill>
                <a:latin typeface="メイリオ"/>
              </a:rPr>
              <a:t>4月</a:t>
            </a:r>
          </a:p>
        </p:txBody>
      </p:sp>
      <p:sp>
        <p:nvSpPr>
          <p:cNvPr id="21" name="Rectangle 2011">
            <a:extLst>
              <a:ext uri="{FF2B5EF4-FFF2-40B4-BE49-F238E27FC236}">
                <a16:creationId xmlns:a16="http://schemas.microsoft.com/office/drawing/2014/main" id="{523206B0-A248-EDFA-FDF7-111D4BDD0015}"/>
              </a:ext>
            </a:extLst>
          </p:cNvPr>
          <p:cNvSpPr/>
          <p:nvPr/>
        </p:nvSpPr>
        <p:spPr>
          <a:xfrm>
            <a:off x="3487538" y="5991604"/>
            <a:ext cx="731096" cy="411480"/>
          </a:xfrm>
          <a:prstGeom prst="rect">
            <a:avLst/>
          </a:prstGeom>
          <a:solidFill>
            <a:srgbClr val="E5E8EE"/>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lIns="0" tIns="25400" rIns="0" bIns="25400" rtlCol="0" anchor="ctr"/>
          <a:lstStyle/>
          <a:p>
            <a:pPr algn="ctr"/>
            <a:r>
              <a:rPr sz="1000" b="0">
                <a:solidFill>
                  <a:srgbClr val="5A6378"/>
                </a:solidFill>
                <a:latin typeface="メイリオ"/>
              </a:rPr>
              <a:t>5月</a:t>
            </a:r>
          </a:p>
        </p:txBody>
      </p:sp>
      <p:sp>
        <p:nvSpPr>
          <p:cNvPr id="24" name="Rectangle 2012">
            <a:extLst>
              <a:ext uri="{FF2B5EF4-FFF2-40B4-BE49-F238E27FC236}">
                <a16:creationId xmlns:a16="http://schemas.microsoft.com/office/drawing/2014/main" id="{38D4CCB3-6A52-E243-EBF3-4D9F3E0779B3}"/>
              </a:ext>
            </a:extLst>
          </p:cNvPr>
          <p:cNvSpPr/>
          <p:nvPr/>
        </p:nvSpPr>
        <p:spPr>
          <a:xfrm>
            <a:off x="4244034" y="5991604"/>
            <a:ext cx="731096" cy="411480"/>
          </a:xfrm>
          <a:prstGeom prst="rect">
            <a:avLst/>
          </a:prstGeom>
          <a:solidFill>
            <a:schemeClr val="tx2"/>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lIns="0" tIns="25400" rIns="0" bIns="25400" rtlCol="0" anchor="ctr"/>
          <a:lstStyle/>
          <a:p>
            <a:pPr algn="ctr"/>
            <a:r>
              <a:rPr sz="1000" b="1">
                <a:solidFill>
                  <a:schemeClr val="bg1"/>
                </a:solidFill>
                <a:latin typeface="メイリオ"/>
              </a:rPr>
              <a:t>6月</a:t>
            </a:r>
          </a:p>
        </p:txBody>
      </p:sp>
      <p:sp>
        <p:nvSpPr>
          <p:cNvPr id="27" name="Rectangle 2012">
            <a:extLst>
              <a:ext uri="{FF2B5EF4-FFF2-40B4-BE49-F238E27FC236}">
                <a16:creationId xmlns:a16="http://schemas.microsoft.com/office/drawing/2014/main" id="{38D4CCB3-6A52-E243-EBF3-4D9F3E0779B3}"/>
              </a:ext>
            </a:extLst>
          </p:cNvPr>
          <p:cNvSpPr/>
          <p:nvPr/>
        </p:nvSpPr>
        <p:spPr>
          <a:xfrm>
            <a:off x="5000530" y="5991604"/>
            <a:ext cx="731096" cy="411480"/>
          </a:xfrm>
          <a:prstGeom prst="rect">
            <a:avLst/>
          </a:prstGeom>
          <a:solidFill>
            <a:schemeClr val="tx2"/>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lIns="0" tIns="25400" rIns="0" bIns="25400" rtlCol="0" anchor="ctr"/>
          <a:lstStyle/>
          <a:p>
            <a:pPr algn="ctr"/>
            <a:r>
              <a:rPr sz="1000" b="1">
                <a:solidFill>
                  <a:schemeClr val="bg1"/>
                </a:solidFill>
                <a:latin typeface="メイリオ"/>
              </a:rPr>
              <a:t>7月</a:t>
            </a:r>
          </a:p>
        </p:txBody>
      </p:sp>
      <p:sp>
        <p:nvSpPr>
          <p:cNvPr id="31" name="Rectangle 2011">
            <a:extLst>
              <a:ext uri="{FF2B5EF4-FFF2-40B4-BE49-F238E27FC236}">
                <a16:creationId xmlns:a16="http://schemas.microsoft.com/office/drawing/2014/main" id="{523206B0-A248-EDFA-FDF7-111D4BDD0015}"/>
              </a:ext>
            </a:extLst>
          </p:cNvPr>
          <p:cNvSpPr/>
          <p:nvPr/>
        </p:nvSpPr>
        <p:spPr>
          <a:xfrm>
            <a:off x="5757026" y="5991604"/>
            <a:ext cx="731096" cy="411480"/>
          </a:xfrm>
          <a:prstGeom prst="rect">
            <a:avLst/>
          </a:prstGeom>
          <a:solidFill>
            <a:srgbClr val="E5E8EE"/>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lIns="0" tIns="25400" rIns="0" bIns="25400" rtlCol="0" anchor="ctr"/>
          <a:lstStyle/>
          <a:p>
            <a:pPr algn="ctr"/>
            <a:r>
              <a:rPr sz="1000" b="0">
                <a:solidFill>
                  <a:srgbClr val="5A6378"/>
                </a:solidFill>
                <a:latin typeface="メイリオ"/>
              </a:rPr>
              <a:t>8月</a:t>
            </a:r>
          </a:p>
        </p:txBody>
      </p:sp>
      <p:sp>
        <p:nvSpPr>
          <p:cNvPr id="41" name="Rectangle 2011">
            <a:extLst>
              <a:ext uri="{FF2B5EF4-FFF2-40B4-BE49-F238E27FC236}">
                <a16:creationId xmlns:a16="http://schemas.microsoft.com/office/drawing/2014/main" id="{523206B0-A248-EDFA-FDF7-111D4BDD0015}"/>
              </a:ext>
            </a:extLst>
          </p:cNvPr>
          <p:cNvSpPr/>
          <p:nvPr/>
        </p:nvSpPr>
        <p:spPr>
          <a:xfrm>
            <a:off x="8026514" y="5991604"/>
            <a:ext cx="731096" cy="411480"/>
          </a:xfrm>
          <a:prstGeom prst="rect">
            <a:avLst/>
          </a:prstGeom>
          <a:solidFill>
            <a:srgbClr val="E5E8EE"/>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lIns="0" tIns="25400" rIns="0" bIns="25400" rtlCol="0" anchor="ctr"/>
          <a:lstStyle/>
          <a:p>
            <a:pPr algn="ctr"/>
            <a:r>
              <a:rPr sz="1000" b="0">
                <a:solidFill>
                  <a:srgbClr val="5A6378"/>
                </a:solidFill>
                <a:latin typeface="メイリオ"/>
              </a:rPr>
              <a:t>11月</a:t>
            </a:r>
          </a:p>
        </p:txBody>
      </p:sp>
      <p:sp>
        <p:nvSpPr>
          <p:cNvPr id="49" name="Rectangle 2008">
            <a:extLst>
              <a:ext uri="{FF2B5EF4-FFF2-40B4-BE49-F238E27FC236}">
                <a16:creationId xmlns:a16="http://schemas.microsoft.com/office/drawing/2014/main" id="{82B3CC5E-6187-AF51-5435-202392E72C80}"/>
              </a:ext>
            </a:extLst>
          </p:cNvPr>
          <p:cNvSpPr/>
          <p:nvPr/>
        </p:nvSpPr>
        <p:spPr>
          <a:xfrm>
            <a:off x="6512070" y="5991604"/>
            <a:ext cx="731096" cy="411480"/>
          </a:xfrm>
          <a:prstGeom prst="rect">
            <a:avLst/>
          </a:prstGeom>
          <a:solidFill>
            <a:srgbClr val="FF0000"/>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lIns="0" tIns="25400" rIns="0" bIns="25400" rtlCol="0" anchor="ctr"/>
          <a:lstStyle/>
          <a:p>
            <a:pPr algn="ctr"/>
            <a:r>
              <a:rPr sz="1000" b="1">
                <a:solidFill>
                  <a:srgbClr val="FFFFFF"/>
                </a:solidFill>
                <a:latin typeface="メイリオ"/>
              </a:rPr>
              <a:t>9月</a:t>
            </a:r>
          </a:p>
        </p:txBody>
      </p:sp>
      <p:sp>
        <p:nvSpPr>
          <p:cNvPr id="51" name="Rectangle 2011">
            <a:extLst>
              <a:ext uri="{FF2B5EF4-FFF2-40B4-BE49-F238E27FC236}">
                <a16:creationId xmlns:a16="http://schemas.microsoft.com/office/drawing/2014/main" id="{523206B0-A248-EDFA-FDF7-111D4BDD0015}"/>
              </a:ext>
            </a:extLst>
          </p:cNvPr>
          <p:cNvSpPr/>
          <p:nvPr/>
        </p:nvSpPr>
        <p:spPr>
          <a:xfrm>
            <a:off x="7268566" y="5991604"/>
            <a:ext cx="731096" cy="411480"/>
          </a:xfrm>
          <a:prstGeom prst="rect">
            <a:avLst/>
          </a:prstGeom>
          <a:solidFill>
            <a:srgbClr val="E5E8EE"/>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lIns="0" tIns="25400" rIns="0" bIns="25400" rtlCol="0" anchor="ctr"/>
          <a:lstStyle/>
          <a:p>
            <a:pPr algn="ctr"/>
            <a:r>
              <a:rPr sz="1000" b="0">
                <a:solidFill>
                  <a:srgbClr val="5A6378"/>
                </a:solidFill>
                <a:latin typeface="メイリオ"/>
              </a:rPr>
              <a:t>10月</a:t>
            </a:r>
          </a:p>
        </p:txBody>
      </p:sp>
      <p:sp>
        <p:nvSpPr>
          <p:cNvPr id="55" name="Rectangle 2012">
            <a:extLst>
              <a:ext uri="{FF2B5EF4-FFF2-40B4-BE49-F238E27FC236}">
                <a16:creationId xmlns:a16="http://schemas.microsoft.com/office/drawing/2014/main" id="{38D4CCB3-6A52-E243-EBF3-4D9F3E0779B3}"/>
              </a:ext>
            </a:extLst>
          </p:cNvPr>
          <p:cNvSpPr/>
          <p:nvPr/>
        </p:nvSpPr>
        <p:spPr>
          <a:xfrm>
            <a:off x="8808410" y="5991604"/>
            <a:ext cx="731096" cy="411480"/>
          </a:xfrm>
          <a:prstGeom prst="rect">
            <a:avLst/>
          </a:prstGeom>
          <a:solidFill>
            <a:schemeClr val="tx2"/>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lIns="0" tIns="25400" rIns="0" bIns="25400" rtlCol="0" anchor="ctr"/>
          <a:lstStyle/>
          <a:p>
            <a:pPr algn="ctr"/>
            <a:r>
              <a:rPr sz="1000" b="1">
                <a:solidFill>
                  <a:schemeClr val="bg1"/>
                </a:solidFill>
                <a:latin typeface="メイリオ"/>
              </a:rPr>
              <a:t>12月</a:t>
            </a:r>
          </a:p>
        </p:txBody>
      </p:sp>
      <p:sp>
        <p:nvSpPr>
          <p:cNvPr id="6" name="テキスト ボックス 5">
            <a:extLst>
              <a:ext uri="{FF2B5EF4-FFF2-40B4-BE49-F238E27FC236}">
                <a16:creationId xmlns:a16="http://schemas.microsoft.com/office/drawing/2014/main" id="{C5613934-3058-7342-6086-B74E9E936123}"/>
              </a:ext>
            </a:extLst>
          </p:cNvPr>
          <p:cNvSpPr txBox="1"/>
          <p:nvPr/>
        </p:nvSpPr>
        <p:spPr>
          <a:xfrm>
            <a:off x="1333625" y="4709544"/>
            <a:ext cx="2772917" cy="400110"/>
          </a:xfrm>
          <a:prstGeom prst="rect">
            <a:avLst/>
          </a:prstGeom>
          <a:noFill/>
        </p:spPr>
        <p:txBody>
          <a:bodyPr wrap="square">
            <a:spAutoFit/>
          </a:bodyPr>
          <a:lstStyle/>
          <a:p>
            <a:r>
              <a:rPr lang="ja-JP" altLang="en-US" sz="1000" dirty="0">
                <a:solidFill>
                  <a:schemeClr val="tx1">
                    <a:lumMod val="65000"/>
                    <a:lumOff val="35000"/>
                  </a:schemeClr>
                </a:solidFill>
                <a:latin typeface="メイリオ" panose="020B0604030504040204" pitchFamily="50" charset="-128"/>
                <a:ea typeface="メイリオ" panose="020B0604030504040204" pitchFamily="50" charset="-128"/>
              </a:rPr>
              <a:t>・10〜11月：</a:t>
            </a:r>
            <a:br>
              <a:rPr lang="ja-JP" altLang="en-US" sz="1000" dirty="0">
                <a:solidFill>
                  <a:schemeClr val="tx1">
                    <a:lumMod val="65000"/>
                    <a:lumOff val="35000"/>
                  </a:schemeClr>
                </a:solidFill>
                <a:latin typeface="メイリオ" panose="020B0604030504040204" pitchFamily="50" charset="-128"/>
                <a:ea typeface="メイリオ" panose="020B0604030504040204" pitchFamily="50" charset="-128"/>
              </a:rPr>
            </a:br>
            <a:r>
              <a:rPr lang="ja-JP" altLang="en-US" sz="1000" dirty="0">
                <a:solidFill>
                  <a:schemeClr val="tx1">
                    <a:lumMod val="65000"/>
                    <a:lumOff val="35000"/>
                  </a:schemeClr>
                </a:solidFill>
                <a:latin typeface="メイリオ" panose="020B0604030504040204" pitchFamily="50" charset="-128"/>
                <a:ea typeface="メイリオ" panose="020B0604030504040204" pitchFamily="50" charset="-128"/>
              </a:rPr>
              <a:t>「12月・1月開始のスキー場の求人」特集</a:t>
            </a:r>
            <a:endParaRPr lang="en-US" altLang="ja-JP" sz="1000" dirty="0">
              <a:solidFill>
                <a:schemeClr val="tx1">
                  <a:lumMod val="65000"/>
                  <a:lumOff val="35000"/>
                </a:schemeClr>
              </a:solidFill>
              <a:latin typeface="メイリオ" panose="020B0604030504040204" pitchFamily="50" charset="-128"/>
              <a:ea typeface="メイリオ" panose="020B0604030504040204" pitchFamily="50" charset="-128"/>
            </a:endParaRPr>
          </a:p>
        </p:txBody>
      </p:sp>
      <p:sp>
        <p:nvSpPr>
          <p:cNvPr id="15" name="テキスト ボックス 14">
            <a:extLst>
              <a:ext uri="{FF2B5EF4-FFF2-40B4-BE49-F238E27FC236}">
                <a16:creationId xmlns:a16="http://schemas.microsoft.com/office/drawing/2014/main" id="{68DA1071-AA58-705C-A547-3B4B60150699}"/>
              </a:ext>
            </a:extLst>
          </p:cNvPr>
          <p:cNvSpPr txBox="1"/>
          <p:nvPr/>
        </p:nvSpPr>
        <p:spPr>
          <a:xfrm>
            <a:off x="1333625" y="5183337"/>
            <a:ext cx="2772917" cy="400110"/>
          </a:xfrm>
          <a:prstGeom prst="rect">
            <a:avLst/>
          </a:prstGeom>
          <a:noFill/>
        </p:spPr>
        <p:txBody>
          <a:bodyPr wrap="square">
            <a:spAutoFit/>
          </a:bodyPr>
          <a:lstStyle/>
          <a:p>
            <a:r>
              <a:rPr lang="ja-JP" altLang="en-US" sz="1000" dirty="0">
                <a:solidFill>
                  <a:schemeClr val="tx1">
                    <a:lumMod val="65000"/>
                    <a:lumOff val="35000"/>
                  </a:schemeClr>
                </a:solidFill>
                <a:latin typeface="メイリオ" panose="020B0604030504040204" pitchFamily="50" charset="-128"/>
                <a:ea typeface="メイリオ" panose="020B0604030504040204" pitchFamily="50" charset="-128"/>
              </a:rPr>
              <a:t>・「2026-2027 winter SKI Resort」</a:t>
            </a:r>
            <a:br>
              <a:rPr lang="ja-JP" altLang="en-US" sz="1000" dirty="0">
                <a:solidFill>
                  <a:schemeClr val="tx1">
                    <a:lumMod val="65000"/>
                    <a:lumOff val="35000"/>
                  </a:schemeClr>
                </a:solidFill>
                <a:latin typeface="メイリオ" panose="020B0604030504040204" pitchFamily="50" charset="-128"/>
                <a:ea typeface="メイリオ" panose="020B0604030504040204" pitchFamily="50" charset="-128"/>
              </a:rPr>
            </a:br>
            <a:r>
              <a:rPr lang="ja-JP" altLang="en-US" sz="1000" dirty="0">
                <a:solidFill>
                  <a:schemeClr val="tx1">
                    <a:lumMod val="65000"/>
                    <a:lumOff val="35000"/>
                  </a:schemeClr>
                </a:solidFill>
                <a:latin typeface="メイリオ" panose="020B0604030504040204" pitchFamily="50" charset="-128"/>
                <a:ea typeface="メイリオ" panose="020B0604030504040204" pitchFamily="50" charset="-128"/>
              </a:rPr>
              <a:t>　求人を、開始時期・エリアで出し分け</a:t>
            </a:r>
          </a:p>
        </p:txBody>
      </p:sp>
      <p:sp>
        <p:nvSpPr>
          <p:cNvPr id="23" name="テキスト ボックス 22">
            <a:extLst>
              <a:ext uri="{FF2B5EF4-FFF2-40B4-BE49-F238E27FC236}">
                <a16:creationId xmlns:a16="http://schemas.microsoft.com/office/drawing/2014/main" id="{5E084692-8341-F62C-BDA3-93FFBCF87329}"/>
              </a:ext>
            </a:extLst>
          </p:cNvPr>
          <p:cNvSpPr txBox="1"/>
          <p:nvPr/>
        </p:nvSpPr>
        <p:spPr>
          <a:xfrm>
            <a:off x="1319183" y="5657130"/>
            <a:ext cx="2772917" cy="246221"/>
          </a:xfrm>
          <a:prstGeom prst="rect">
            <a:avLst/>
          </a:prstGeom>
          <a:noFill/>
        </p:spPr>
        <p:txBody>
          <a:bodyPr wrap="square">
            <a:spAutoFit/>
          </a:bodyPr>
          <a:lstStyle/>
          <a:p>
            <a:r>
              <a:rPr lang="ja-JP" altLang="en-US" sz="1000" dirty="0">
                <a:solidFill>
                  <a:schemeClr val="tx1">
                    <a:lumMod val="65000"/>
                    <a:lumOff val="35000"/>
                  </a:schemeClr>
                </a:solidFill>
                <a:latin typeface="メイリオ" panose="020B0604030504040204" pitchFamily="50" charset="-128"/>
                <a:ea typeface="メイリオ" panose="020B0604030504040204" pitchFamily="50" charset="-128"/>
              </a:rPr>
              <a:t>・冬の終わりに、春からの次のお仕事を案内</a:t>
            </a:r>
            <a:endParaRPr lang="en-US" altLang="ja-JP" sz="1000" dirty="0">
              <a:solidFill>
                <a:schemeClr val="tx1">
                  <a:lumMod val="65000"/>
                  <a:lumOff val="35000"/>
                </a:schemeClr>
              </a:solidFill>
              <a:latin typeface="メイリオ" panose="020B0604030504040204" pitchFamily="50" charset="-128"/>
              <a:ea typeface="メイリオ" panose="020B0604030504040204" pitchFamily="50" charset="-128"/>
            </a:endParaRPr>
          </a:p>
        </p:txBody>
      </p:sp>
      <p:sp>
        <p:nvSpPr>
          <p:cNvPr id="29" name="Shape 29">
            <a:extLst>
              <a:ext uri="{FF2B5EF4-FFF2-40B4-BE49-F238E27FC236}">
                <a16:creationId xmlns:a16="http://schemas.microsoft.com/office/drawing/2014/main" id="{B20887B4-FA60-453A-DF70-39F5445ADC5F}"/>
              </a:ext>
            </a:extLst>
          </p:cNvPr>
          <p:cNvSpPr/>
          <p:nvPr/>
        </p:nvSpPr>
        <p:spPr>
          <a:xfrm>
            <a:off x="6604040" y="4681749"/>
            <a:ext cx="0" cy="73152"/>
          </a:xfrm>
          <a:prstGeom prst="line">
            <a:avLst/>
          </a:prstGeom>
          <a:noFill/>
          <a:ln w="12700">
            <a:solidFill>
              <a:srgbClr val="DDDDDD"/>
            </a:solidFill>
            <a:prstDash val="solid"/>
          </a:ln>
        </p:spPr>
        <p:txBody>
          <a:bodyPr/>
          <a:lstStyle/>
          <a:p>
            <a:endParaRPr lang="ja-JP" altLang="en-US">
              <a:latin typeface="メイリオ" panose="020B0604030504040204" pitchFamily="50" charset="-128"/>
              <a:ea typeface="メイリオ" panose="020B0604030504040204" pitchFamily="50" charset="-128"/>
            </a:endParaRPr>
          </a:p>
        </p:txBody>
      </p:sp>
      <p:sp>
        <p:nvSpPr>
          <p:cNvPr id="39" name="テキスト ボックス 38">
            <a:extLst>
              <a:ext uri="{FF2B5EF4-FFF2-40B4-BE49-F238E27FC236}">
                <a16:creationId xmlns:a16="http://schemas.microsoft.com/office/drawing/2014/main" id="{8472013D-5308-599C-BCBD-A2C7ADFD17E4}"/>
              </a:ext>
            </a:extLst>
          </p:cNvPr>
          <p:cNvSpPr txBox="1"/>
          <p:nvPr/>
        </p:nvSpPr>
        <p:spPr>
          <a:xfrm>
            <a:off x="4344342" y="4695532"/>
            <a:ext cx="2772917" cy="246221"/>
          </a:xfrm>
          <a:prstGeom prst="rect">
            <a:avLst/>
          </a:prstGeom>
          <a:noFill/>
        </p:spPr>
        <p:txBody>
          <a:bodyPr wrap="square">
            <a:spAutoFit/>
          </a:bodyPr>
          <a:lstStyle/>
          <a:p>
            <a:r>
              <a:rPr lang="ja-JP" altLang="en-US" sz="1000" dirty="0">
                <a:solidFill>
                  <a:schemeClr val="tx1">
                    <a:lumMod val="65000"/>
                    <a:lumOff val="35000"/>
                  </a:schemeClr>
                </a:solidFill>
                <a:latin typeface="メイリオ" panose="020B0604030504040204" pitchFamily="50" charset="-128"/>
                <a:ea typeface="メイリオ" panose="020B0604030504040204" pitchFamily="50" charset="-128"/>
              </a:rPr>
              <a:t>夏（6〜7月）は</a:t>
            </a:r>
            <a:br>
              <a:rPr lang="ja-JP" altLang="en-US" sz="1000" dirty="0">
                <a:solidFill>
                  <a:schemeClr val="tx1">
                    <a:lumMod val="65000"/>
                    <a:lumOff val="35000"/>
                  </a:schemeClr>
                </a:solidFill>
                <a:latin typeface="メイリオ" panose="020B0604030504040204" pitchFamily="50" charset="-128"/>
                <a:ea typeface="メイリオ" panose="020B0604030504040204" pitchFamily="50" charset="-128"/>
              </a:rPr>
            </a:br>
            <a:r>
              <a:rPr lang="ja-JP" altLang="en-US" sz="1000" dirty="0">
                <a:solidFill>
                  <a:schemeClr val="tx1">
                    <a:lumMod val="65000"/>
                    <a:lumOff val="35000"/>
                  </a:schemeClr>
                </a:solidFill>
                <a:latin typeface="メイリオ" panose="020B0604030504040204" pitchFamily="50" charset="-128"/>
                <a:ea typeface="メイリオ" panose="020B0604030504040204" pitchFamily="50" charset="-128"/>
              </a:rPr>
              <a:t>「リゾートバイト」の検索が最も多い。</a:t>
            </a:r>
          </a:p>
        </p:txBody>
      </p:sp>
      <p:sp>
        <p:nvSpPr>
          <p:cNvPr id="42" name="テキスト ボックス 41">
            <a:extLst>
              <a:ext uri="{FF2B5EF4-FFF2-40B4-BE49-F238E27FC236}">
                <a16:creationId xmlns:a16="http://schemas.microsoft.com/office/drawing/2014/main" id="{159782BD-D49E-7D50-5922-BF0AFE41609D}"/>
              </a:ext>
            </a:extLst>
          </p:cNvPr>
          <p:cNvSpPr txBox="1"/>
          <p:nvPr/>
        </p:nvSpPr>
        <p:spPr>
          <a:xfrm>
            <a:off x="4344342" y="5005823"/>
            <a:ext cx="2772917" cy="246221"/>
          </a:xfrm>
          <a:prstGeom prst="rect">
            <a:avLst/>
          </a:prstGeom>
          <a:noFill/>
        </p:spPr>
        <p:txBody>
          <a:bodyPr wrap="square">
            <a:spAutoFit/>
          </a:bodyPr>
          <a:lstStyle/>
          <a:p>
            <a:r>
              <a:rPr lang="ja-JP" altLang="en-US" sz="1000" dirty="0">
                <a:solidFill>
                  <a:schemeClr val="tx1">
                    <a:lumMod val="65000"/>
                    <a:lumOff val="35000"/>
                  </a:schemeClr>
                </a:solidFill>
                <a:latin typeface="メイリオ" panose="020B0604030504040204" pitchFamily="50" charset="-128"/>
                <a:ea typeface="メイリオ" panose="020B0604030504040204" pitchFamily="50" charset="-128"/>
              </a:rPr>
              <a:t>海・離島・高原など、夏のエリアの求人特集。</a:t>
            </a:r>
            <a:endParaRPr lang="en-US" altLang="ja-JP" sz="1000" dirty="0">
              <a:solidFill>
                <a:schemeClr val="tx1">
                  <a:lumMod val="65000"/>
                  <a:lumOff val="35000"/>
                </a:schemeClr>
              </a:solidFill>
              <a:latin typeface="メイリオ" panose="020B0604030504040204" pitchFamily="50" charset="-128"/>
              <a:ea typeface="メイリオ" panose="020B0604030504040204" pitchFamily="50" charset="-128"/>
            </a:endParaRPr>
          </a:p>
        </p:txBody>
      </p:sp>
      <p:sp>
        <p:nvSpPr>
          <p:cNvPr id="46" name="テキスト ボックス 45">
            <a:extLst>
              <a:ext uri="{FF2B5EF4-FFF2-40B4-BE49-F238E27FC236}">
                <a16:creationId xmlns:a16="http://schemas.microsoft.com/office/drawing/2014/main" id="{DFA1ED2F-ED5C-555B-A807-54C30A8D6A03}"/>
              </a:ext>
            </a:extLst>
          </p:cNvPr>
          <p:cNvSpPr txBox="1"/>
          <p:nvPr/>
        </p:nvSpPr>
        <p:spPr>
          <a:xfrm>
            <a:off x="7268565" y="4476013"/>
            <a:ext cx="2442473" cy="861774"/>
          </a:xfrm>
          <a:prstGeom prst="rect">
            <a:avLst/>
          </a:prstGeom>
          <a:noFill/>
        </p:spPr>
        <p:txBody>
          <a:bodyPr wrap="square">
            <a:spAutoFit/>
          </a:bodyPr>
          <a:lstStyle/>
          <a:p>
            <a:r>
              <a:rPr lang="ja-JP" altLang="en-US" sz="1000" dirty="0">
                <a:solidFill>
                  <a:schemeClr val="tx1">
                    <a:lumMod val="65000"/>
                    <a:lumOff val="35000"/>
                  </a:schemeClr>
                </a:solidFill>
                <a:latin typeface="メイリオ" panose="020B0604030504040204" pitchFamily="50" charset="-128"/>
                <a:ea typeface="メイリオ" panose="020B0604030504040204" pitchFamily="50" charset="-128"/>
              </a:rPr>
              <a:t>・9月：冬の求人の先行案内</a:t>
            </a:r>
            <a:endParaRPr lang="en-US" altLang="ja-JP" sz="1000" dirty="0">
              <a:solidFill>
                <a:schemeClr val="tx1">
                  <a:lumMod val="65000"/>
                  <a:lumOff val="35000"/>
                </a:schemeClr>
              </a:solidFill>
              <a:latin typeface="メイリオ" panose="020B0604030504040204" pitchFamily="50" charset="-128"/>
              <a:ea typeface="メイリオ" panose="020B0604030504040204" pitchFamily="50" charset="-128"/>
            </a:endParaRPr>
          </a:p>
          <a:p>
            <a:r>
              <a:rPr lang="ja-JP" altLang="en-US" sz="1000" dirty="0">
                <a:solidFill>
                  <a:schemeClr val="tx1">
                    <a:lumMod val="65000"/>
                    <a:lumOff val="35000"/>
                  </a:schemeClr>
                </a:solidFill>
                <a:latin typeface="メイリオ" panose="020B0604030504040204" pitchFamily="50" charset="-128"/>
                <a:ea typeface="メイリオ" panose="020B0604030504040204" pitchFamily="50" charset="-128"/>
              </a:rPr>
              <a:t>・4〜5月：夏の求人の先行案内</a:t>
            </a:r>
            <a:endParaRPr lang="en-US" altLang="ja-JP" sz="1000" dirty="0">
              <a:solidFill>
                <a:schemeClr val="tx1">
                  <a:lumMod val="65000"/>
                  <a:lumOff val="35000"/>
                </a:schemeClr>
              </a:solidFill>
              <a:latin typeface="メイリオ" panose="020B0604030504040204" pitchFamily="50" charset="-128"/>
              <a:ea typeface="メイリオ" panose="020B0604030504040204" pitchFamily="50" charset="-128"/>
            </a:endParaRPr>
          </a:p>
          <a:p>
            <a:r>
              <a:rPr lang="ja-JP" altLang="en-US" sz="1000" dirty="0">
                <a:solidFill>
                  <a:schemeClr val="tx1">
                    <a:lumMod val="65000"/>
                    <a:lumOff val="35000"/>
                  </a:schemeClr>
                </a:solidFill>
                <a:latin typeface="メイリオ" panose="020B0604030504040204" pitchFamily="50" charset="-128"/>
                <a:ea typeface="メイリオ" panose="020B0604030504040204" pitchFamily="50" charset="-128"/>
              </a:rPr>
              <a:t>・「LINE友だち限定・先行公開」</a:t>
            </a:r>
            <a:endParaRPr lang="en-US" altLang="ja-JP" sz="1000" dirty="0">
              <a:solidFill>
                <a:schemeClr val="tx1">
                  <a:lumMod val="65000"/>
                  <a:lumOff val="35000"/>
                </a:schemeClr>
              </a:solidFill>
              <a:latin typeface="メイリオ" panose="020B0604030504040204" pitchFamily="50" charset="-128"/>
              <a:ea typeface="メイリオ" panose="020B0604030504040204" pitchFamily="50" charset="-128"/>
            </a:endParaRPr>
          </a:p>
        </p:txBody>
      </p:sp>
      <p:sp>
        <p:nvSpPr>
          <p:cNvPr id="11" name="テキスト ボックス 10">
            <a:extLst>
              <a:ext uri="{FF2B5EF4-FFF2-40B4-BE49-F238E27FC236}">
                <a16:creationId xmlns:a16="http://schemas.microsoft.com/office/drawing/2014/main" id="{212FC656-86E9-6A8C-0891-DCF1433F5FA2}"/>
              </a:ext>
            </a:extLst>
          </p:cNvPr>
          <p:cNvSpPr txBox="1"/>
          <p:nvPr/>
        </p:nvSpPr>
        <p:spPr>
          <a:xfrm>
            <a:off x="4344341" y="5316114"/>
            <a:ext cx="2772917" cy="246221"/>
          </a:xfrm>
          <a:prstGeom prst="rect">
            <a:avLst/>
          </a:prstGeom>
          <a:noFill/>
        </p:spPr>
        <p:txBody>
          <a:bodyPr wrap="square">
            <a:spAutoFit/>
          </a:bodyPr>
          <a:lstStyle/>
          <a:p>
            <a:r>
              <a:rPr lang="ja-JP" altLang="en-US" sz="1000" dirty="0">
                <a:solidFill>
                  <a:schemeClr val="tx1">
                    <a:lumMod val="65000"/>
                    <a:lumOff val="35000"/>
                  </a:schemeClr>
                </a:solidFill>
                <a:latin typeface="メイリオ" panose="020B0604030504040204" pitchFamily="50" charset="-128"/>
                <a:ea typeface="メイリオ" panose="020B0604030504040204" pitchFamily="50" charset="-128"/>
              </a:rPr>
              <a:t>希望のエリア・開始時期の答えで出し分け。</a:t>
            </a:r>
            <a:endParaRPr lang="en-US" altLang="ja-JP" sz="1000" dirty="0">
              <a:solidFill>
                <a:schemeClr val="tx1">
                  <a:lumMod val="65000"/>
                  <a:lumOff val="35000"/>
                </a:schemeClr>
              </a:solidFill>
              <a:latin typeface="メイリオ" panose="020B0604030504040204" pitchFamily="50" charset="-128"/>
              <a:ea typeface="メイリオ" panose="020B0604030504040204" pitchFamily="50" charset="-128"/>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04695B-DA8B-628A-D7EF-2A8933478684}"/>
            </a:ext>
          </a:extLst>
        </p:cNvPr>
        <p:cNvGrpSpPr/>
        <p:nvPr/>
      </p:nvGrpSpPr>
      <p:grpSpPr>
        <a:xfrm>
          <a:off x="0" y="0"/>
          <a:ext cx="0" cy="0"/>
          <a:chOff x="0" y="0"/>
          <a:chExt cx="0" cy="0"/>
        </a:xfrm>
      </p:grpSpPr>
      <p:sp>
        <p:nvSpPr>
          <p:cNvPr id="22" name="Google Shape;752;p28">
            <a:extLst>
              <a:ext uri="{FF2B5EF4-FFF2-40B4-BE49-F238E27FC236}">
                <a16:creationId xmlns:a16="http://schemas.microsoft.com/office/drawing/2014/main" id="{630470A8-B84B-B148-A204-2590B4014218}"/>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chemeClr val="bg1">
                    <a:lumMod val="65000"/>
                  </a:schemeClr>
                </a:solidFill>
                <a:latin typeface="メイリオ" panose="020B0604030504040204" pitchFamily="50" charset="-128"/>
                <a:ea typeface="メイリオ" panose="020B0604030504040204" pitchFamily="50" charset="-128"/>
                <a:cs typeface="Meiryo"/>
                <a:sym typeface="Meiryo"/>
              </a:rPr>
              <a:t>アジェンダ</a:t>
            </a:r>
          </a:p>
        </p:txBody>
      </p:sp>
      <p:sp>
        <p:nvSpPr>
          <p:cNvPr id="14" name="Google Shape;752;p28">
            <a:extLst>
              <a:ext uri="{FF2B5EF4-FFF2-40B4-BE49-F238E27FC236}">
                <a16:creationId xmlns:a16="http://schemas.microsoft.com/office/drawing/2014/main" id="{45CF9DAE-30BF-EBB4-2738-8B519663A3C2}"/>
              </a:ext>
            </a:extLst>
          </p:cNvPr>
          <p:cNvSpPr txBox="1"/>
          <p:nvPr/>
        </p:nvSpPr>
        <p:spPr>
          <a:xfrm>
            <a:off x="602223" y="1104688"/>
            <a:ext cx="1104657" cy="584735"/>
          </a:xfrm>
          <a:prstGeom prst="rect">
            <a:avLst/>
          </a:prstGeom>
          <a:noFill/>
          <a:ln>
            <a:noFill/>
          </a:ln>
        </p:spPr>
        <p:txBody>
          <a:bodyPr spcFirstLastPara="1" wrap="square" lIns="91425" tIns="45700" rIns="91425" bIns="45700" anchor="ctr" anchorCtr="0">
            <a:spAutoFit/>
          </a:bodyPr>
          <a:lstStyle/>
          <a:p>
            <a:pPr lvl="0"/>
            <a:r>
              <a:rPr lang="en-US" altLang="ja-JP" sz="3200" b="1" dirty="0">
                <a:solidFill>
                  <a:srgbClr val="323366"/>
                </a:solidFill>
                <a:latin typeface="メイリオ" panose="020B0604030504040204" pitchFamily="50" charset="-128"/>
                <a:ea typeface="メイリオ" panose="020B0604030504040204" pitchFamily="50" charset="-128"/>
                <a:cs typeface="Meiryo"/>
                <a:sym typeface="Meiryo"/>
              </a:rPr>
              <a:t>03</a:t>
            </a:r>
            <a:endParaRPr lang="ja-JP" altLang="en-US" sz="3200" b="1" dirty="0">
              <a:solidFill>
                <a:srgbClr val="323366"/>
              </a:solidFill>
              <a:latin typeface="メイリオ" panose="020B0604030504040204" pitchFamily="50" charset="-128"/>
              <a:ea typeface="メイリオ" panose="020B0604030504040204" pitchFamily="50" charset="-128"/>
              <a:cs typeface="Meiryo"/>
              <a:sym typeface="Meiryo"/>
            </a:endParaRPr>
          </a:p>
        </p:txBody>
      </p:sp>
      <p:sp>
        <p:nvSpPr>
          <p:cNvPr id="16" name="Google Shape;752;p28">
            <a:extLst>
              <a:ext uri="{FF2B5EF4-FFF2-40B4-BE49-F238E27FC236}">
                <a16:creationId xmlns:a16="http://schemas.microsoft.com/office/drawing/2014/main" id="{1074280A-D5C9-01AC-8681-B924D4C79238}"/>
              </a:ext>
            </a:extLst>
          </p:cNvPr>
          <p:cNvSpPr txBox="1"/>
          <p:nvPr/>
        </p:nvSpPr>
        <p:spPr>
          <a:xfrm>
            <a:off x="1867143" y="1043132"/>
            <a:ext cx="7315200" cy="707846"/>
          </a:xfrm>
          <a:prstGeom prst="rect">
            <a:avLst/>
          </a:prstGeom>
          <a:noFill/>
          <a:ln>
            <a:noFill/>
          </a:ln>
        </p:spPr>
        <p:txBody>
          <a:bodyPr spcFirstLastPara="1" wrap="square" lIns="91425" tIns="45700" rIns="91425" bIns="45700" anchor="ctr" anchorCtr="0">
            <a:spAutoFit/>
          </a:bodyPr>
          <a:lstStyle/>
          <a:p>
            <a:pPr lvl="0"/>
            <a:r>
              <a:rPr lang="ja-JP" altLang="en-US" sz="4000" b="1" dirty="0">
                <a:solidFill>
                  <a:schemeClr val="tx1">
                    <a:lumMod val="65000"/>
                    <a:lumOff val="35000"/>
                  </a:schemeClr>
                </a:solidFill>
                <a:latin typeface="メイリオ" panose="020B0604030504040204" pitchFamily="50" charset="-128"/>
                <a:ea typeface="メイリオ" panose="020B0604030504040204" pitchFamily="50" charset="-128"/>
                <a:cs typeface="Meiryo"/>
                <a:sym typeface="Meiryo"/>
              </a:rPr>
              <a:t>施策詳細（</a:t>
            </a:r>
            <a:r>
              <a:rPr lang="en-US" altLang="ja-JP" sz="4000" b="1" dirty="0">
                <a:solidFill>
                  <a:schemeClr val="tx1">
                    <a:lumMod val="65000"/>
                    <a:lumOff val="35000"/>
                  </a:schemeClr>
                </a:solidFill>
                <a:latin typeface="メイリオ" panose="020B0604030504040204" pitchFamily="50" charset="-128"/>
                <a:ea typeface="メイリオ" panose="020B0604030504040204" pitchFamily="50" charset="-128"/>
                <a:cs typeface="Meiryo"/>
                <a:sym typeface="Meiryo"/>
              </a:rPr>
              <a:t>DYM</a:t>
            </a:r>
            <a:r>
              <a:rPr lang="ja-JP" altLang="en-US" sz="4000" b="1" dirty="0">
                <a:solidFill>
                  <a:schemeClr val="tx1">
                    <a:lumMod val="65000"/>
                    <a:lumOff val="35000"/>
                  </a:schemeClr>
                </a:solidFill>
                <a:latin typeface="メイリオ" panose="020B0604030504040204" pitchFamily="50" charset="-128"/>
                <a:ea typeface="メイリオ" panose="020B0604030504040204" pitchFamily="50" charset="-128"/>
                <a:cs typeface="Meiryo"/>
                <a:sym typeface="Meiryo"/>
              </a:rPr>
              <a:t>プラン）</a:t>
            </a:r>
          </a:p>
        </p:txBody>
      </p:sp>
      <p:cxnSp>
        <p:nvCxnSpPr>
          <p:cNvPr id="17" name="直線コネクタ 16">
            <a:extLst>
              <a:ext uri="{FF2B5EF4-FFF2-40B4-BE49-F238E27FC236}">
                <a16:creationId xmlns:a16="http://schemas.microsoft.com/office/drawing/2014/main" id="{507E5E5E-0A73-E2C6-D228-2CEEE9F667CD}"/>
              </a:ext>
            </a:extLst>
          </p:cNvPr>
          <p:cNvCxnSpPr>
            <a:cxnSpLocks/>
          </p:cNvCxnSpPr>
          <p:nvPr/>
        </p:nvCxnSpPr>
        <p:spPr>
          <a:xfrm>
            <a:off x="608527" y="1681803"/>
            <a:ext cx="944805" cy="0"/>
          </a:xfrm>
          <a:prstGeom prst="line">
            <a:avLst/>
          </a:prstGeom>
          <a:ln w="57150">
            <a:solidFill>
              <a:srgbClr val="10253F"/>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3139986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テキスト ボックス 47">
            <a:extLst>
              <a:ext uri="{FF2B5EF4-FFF2-40B4-BE49-F238E27FC236}">
                <a16:creationId xmlns:a16="http://schemas.microsoft.com/office/drawing/2014/main" id="{61A98738-2D8B-C136-F3AB-BE9E0F4BE04B}"/>
              </a:ext>
            </a:extLst>
          </p:cNvPr>
          <p:cNvSpPr txBox="1">
            <a:spLocks noChangeArrowheads="1"/>
          </p:cNvSpPr>
          <p:nvPr/>
        </p:nvSpPr>
        <p:spPr bwMode="auto">
          <a:xfrm>
            <a:off x="456501" y="107813"/>
            <a:ext cx="7512385" cy="3650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tIns="72000">
            <a:spAutoFit/>
          </a:bodyPr>
          <a:lstStyle>
            <a:lvl1pPr>
              <a:defRPr kumimoji="1" sz="3200">
                <a:solidFill>
                  <a:schemeClr val="tx1"/>
                </a:solidFill>
                <a:latin typeface="Calibri" charset="0"/>
                <a:ea typeface="ＭＳ Ｐゴシック" charset="0"/>
                <a:cs typeface="ＭＳ Ｐゴシック" charset="0"/>
              </a:defRPr>
            </a:lvl1pPr>
            <a:lvl2pPr>
              <a:defRPr kumimoji="1" sz="2800">
                <a:solidFill>
                  <a:schemeClr val="tx1"/>
                </a:solidFill>
                <a:latin typeface="Calibri" charset="0"/>
                <a:ea typeface="ＭＳ Ｐゴシック" charset="0"/>
              </a:defRPr>
            </a:lvl2pPr>
            <a:lvl3pPr>
              <a:defRPr kumimoji="1" sz="2400">
                <a:solidFill>
                  <a:schemeClr val="tx1"/>
                </a:solidFill>
                <a:latin typeface="Calibri" charset="0"/>
                <a:ea typeface="ＭＳ Ｐゴシック" charset="0"/>
              </a:defRPr>
            </a:lvl3pPr>
            <a:lvl4pPr>
              <a:defRPr kumimoji="1" sz="2000">
                <a:solidFill>
                  <a:schemeClr val="tx1"/>
                </a:solidFill>
                <a:latin typeface="Calibri" charset="0"/>
                <a:ea typeface="ＭＳ Ｐゴシック" charset="0"/>
              </a:defRPr>
            </a:lvl4pPr>
            <a:lvl5pPr>
              <a:defRPr kumimoji="1" sz="2000">
                <a:solidFill>
                  <a:schemeClr val="tx1"/>
                </a:solidFill>
                <a:latin typeface="Calibri" charset="0"/>
                <a:ea typeface="ＭＳ Ｐゴシック" charset="0"/>
              </a:defRPr>
            </a:lvl5pPr>
            <a:lvl6pPr eaLnBrk="0" fontAlgn="base" hangingPunct="0">
              <a:spcAft>
                <a:spcPct val="0"/>
              </a:spcAft>
              <a:buFont typeface="Arial" charset="0"/>
              <a:buChar char="»"/>
              <a:defRPr kumimoji="1" sz="2000">
                <a:solidFill>
                  <a:schemeClr val="tx1"/>
                </a:solidFill>
                <a:latin typeface="Calibri" charset="0"/>
                <a:ea typeface="ＭＳ Ｐゴシック" charset="0"/>
              </a:defRPr>
            </a:lvl6pPr>
            <a:lvl7pPr eaLnBrk="0" fontAlgn="base" hangingPunct="0">
              <a:spcAft>
                <a:spcPct val="0"/>
              </a:spcAft>
              <a:buFont typeface="Arial" charset="0"/>
              <a:buChar char="»"/>
              <a:defRPr kumimoji="1" sz="2000">
                <a:solidFill>
                  <a:schemeClr val="tx1"/>
                </a:solidFill>
                <a:latin typeface="Calibri" charset="0"/>
                <a:ea typeface="ＭＳ Ｐゴシック" charset="0"/>
              </a:defRPr>
            </a:lvl7pPr>
            <a:lvl8pPr eaLnBrk="0" fontAlgn="base" hangingPunct="0">
              <a:spcAft>
                <a:spcPct val="0"/>
              </a:spcAft>
              <a:buFont typeface="Arial" charset="0"/>
              <a:buChar char="»"/>
              <a:defRPr kumimoji="1" sz="2000">
                <a:solidFill>
                  <a:schemeClr val="tx1"/>
                </a:solidFill>
                <a:latin typeface="Calibri" charset="0"/>
                <a:ea typeface="ＭＳ Ｐゴシック" charset="0"/>
              </a:defRPr>
            </a:lvl8pPr>
            <a:lvl9pPr eaLnBrk="0" fontAlgn="base" hangingPunct="0">
              <a:spcAft>
                <a:spcPct val="0"/>
              </a:spcAft>
              <a:buFont typeface="Arial" charset="0"/>
              <a:buChar char="»"/>
              <a:defRPr kumimoji="1" sz="2000">
                <a:solidFill>
                  <a:schemeClr val="tx1"/>
                </a:solidFill>
                <a:latin typeface="Calibri" charset="0"/>
                <a:ea typeface="ＭＳ Ｐゴシック" charset="0"/>
              </a:defRPr>
            </a:lvl9pPr>
          </a:lstStyle>
          <a:p>
            <a:pPr>
              <a:spcBef>
                <a:spcPct val="20000"/>
              </a:spcBef>
              <a:buFont typeface="Arial" charset="0"/>
              <a:buNone/>
            </a:pPr>
            <a:r>
              <a:rPr lang="ja-JP" altLang="en-US" sz="1600" b="1" dirty="0">
                <a:solidFill>
                  <a:srgbClr val="1F2A5C"/>
                </a:solidFill>
                <a:latin typeface="メイリオ"/>
                <a:ea typeface="メイリオ"/>
                <a:cs typeface="メイリオ"/>
              </a:rPr>
              <a:t>具体施策のイメージ</a:t>
            </a:r>
          </a:p>
        </p:txBody>
      </p:sp>
      <p:sp>
        <p:nvSpPr>
          <p:cNvPr id="5" name="正方形/長方形 4">
            <a:extLst>
              <a:ext uri="{FF2B5EF4-FFF2-40B4-BE49-F238E27FC236}">
                <a16:creationId xmlns:a16="http://schemas.microsoft.com/office/drawing/2014/main" id="{E763FE7F-E268-AFB9-8C26-A4EB11BA5AE7}"/>
              </a:ext>
            </a:extLst>
          </p:cNvPr>
          <p:cNvSpPr/>
          <p:nvPr/>
        </p:nvSpPr>
        <p:spPr>
          <a:xfrm>
            <a:off x="2659553" y="109691"/>
            <a:ext cx="1992986" cy="326496"/>
          </a:xfrm>
          <a:prstGeom prst="rect">
            <a:avLst/>
          </a:prstGeom>
          <a:solidFill>
            <a:schemeClr val="tx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b="1" dirty="0">
                <a:solidFill>
                  <a:srgbClr val="FFFFFF"/>
                </a:solidFill>
                <a:latin typeface="メイリオ" panose="020B0604030504040204" pitchFamily="50" charset="-128"/>
                <a:ea typeface="メイリオ" panose="020B0604030504040204" pitchFamily="50" charset="-128"/>
              </a:rPr>
              <a:t>集客</a:t>
            </a:r>
          </a:p>
        </p:txBody>
      </p:sp>
      <p:sp>
        <p:nvSpPr>
          <p:cNvPr id="4" name="Chevron 13">
            <a:extLst>
              <a:ext uri="{FF2B5EF4-FFF2-40B4-BE49-F238E27FC236}">
                <a16:creationId xmlns:a16="http://schemas.microsoft.com/office/drawing/2014/main" id="{29489E76-109A-5A9F-6007-97E43FBE69A2}"/>
              </a:ext>
            </a:extLst>
          </p:cNvPr>
          <p:cNvSpPr/>
          <p:nvPr/>
        </p:nvSpPr>
        <p:spPr>
          <a:xfrm>
            <a:off x="7099344" y="795063"/>
            <a:ext cx="1482455" cy="731520"/>
          </a:xfrm>
          <a:prstGeom prst="chevron">
            <a:avLst/>
          </a:prstGeom>
          <a:solidFill>
            <a:schemeClr val="tx2">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7" name="Chevron 12">
            <a:extLst>
              <a:ext uri="{FF2B5EF4-FFF2-40B4-BE49-F238E27FC236}">
                <a16:creationId xmlns:a16="http://schemas.microsoft.com/office/drawing/2014/main" id="{69A3133C-CD4D-8D4C-F0E6-DC6AB18C962D}"/>
              </a:ext>
            </a:extLst>
          </p:cNvPr>
          <p:cNvSpPr/>
          <p:nvPr/>
        </p:nvSpPr>
        <p:spPr>
          <a:xfrm>
            <a:off x="5939384" y="795063"/>
            <a:ext cx="1482455" cy="731520"/>
          </a:xfrm>
          <a:prstGeom prst="chevron">
            <a:avLst/>
          </a:prstGeom>
          <a:solidFill>
            <a:schemeClr val="accent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9" name="Chevron 11">
            <a:extLst>
              <a:ext uri="{FF2B5EF4-FFF2-40B4-BE49-F238E27FC236}">
                <a16:creationId xmlns:a16="http://schemas.microsoft.com/office/drawing/2014/main" id="{F937C8A8-9FC6-659C-E49B-A699CF4D163E}"/>
              </a:ext>
            </a:extLst>
          </p:cNvPr>
          <p:cNvSpPr/>
          <p:nvPr/>
        </p:nvSpPr>
        <p:spPr>
          <a:xfrm>
            <a:off x="4779424" y="795063"/>
            <a:ext cx="1482455" cy="731520"/>
          </a:xfrm>
          <a:prstGeom prst="chevron">
            <a:avLst/>
          </a:prstGeom>
          <a:solidFill>
            <a:schemeClr val="accent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11" name="Chevron 13">
            <a:extLst>
              <a:ext uri="{FF2B5EF4-FFF2-40B4-BE49-F238E27FC236}">
                <a16:creationId xmlns:a16="http://schemas.microsoft.com/office/drawing/2014/main" id="{D5E8202C-DCA5-0507-F682-9FA900EF692C}"/>
              </a:ext>
            </a:extLst>
          </p:cNvPr>
          <p:cNvSpPr/>
          <p:nvPr/>
        </p:nvSpPr>
        <p:spPr>
          <a:xfrm>
            <a:off x="8259306" y="795063"/>
            <a:ext cx="1482455" cy="731520"/>
          </a:xfrm>
          <a:prstGeom prst="chevron">
            <a:avLst/>
          </a:prstGeom>
          <a:solidFill>
            <a:schemeClr val="tx2">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13" name="テキスト ボックス 12">
            <a:extLst>
              <a:ext uri="{FF2B5EF4-FFF2-40B4-BE49-F238E27FC236}">
                <a16:creationId xmlns:a16="http://schemas.microsoft.com/office/drawing/2014/main" id="{6F55644E-8236-43A4-3105-B3F34E3F2103}"/>
              </a:ext>
            </a:extLst>
          </p:cNvPr>
          <p:cNvSpPr txBox="1"/>
          <p:nvPr/>
        </p:nvSpPr>
        <p:spPr>
          <a:xfrm>
            <a:off x="7420737" y="1030016"/>
            <a:ext cx="982079" cy="261610"/>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マネタイズ</a:t>
            </a:r>
          </a:p>
        </p:txBody>
      </p:sp>
      <p:sp>
        <p:nvSpPr>
          <p:cNvPr id="15" name="テキスト ボックス 14">
            <a:extLst>
              <a:ext uri="{FF2B5EF4-FFF2-40B4-BE49-F238E27FC236}">
                <a16:creationId xmlns:a16="http://schemas.microsoft.com/office/drawing/2014/main" id="{56BB0C46-5ADE-C304-D02B-B9272585F6C4}"/>
              </a:ext>
            </a:extLst>
          </p:cNvPr>
          <p:cNvSpPr txBox="1"/>
          <p:nvPr/>
        </p:nvSpPr>
        <p:spPr>
          <a:xfrm>
            <a:off x="5130427" y="945378"/>
            <a:ext cx="811635" cy="430887"/>
          </a:xfrm>
          <a:prstGeom prst="rect">
            <a:avLst/>
          </a:prstGeom>
          <a:solidFill>
            <a:schemeClr val="accent1">
              <a:lumMod val="75000"/>
            </a:schemeClr>
          </a:solid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有効</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リード化</a:t>
            </a:r>
          </a:p>
        </p:txBody>
      </p:sp>
      <p:sp>
        <p:nvSpPr>
          <p:cNvPr id="17" name="テキスト ボックス 16">
            <a:extLst>
              <a:ext uri="{FF2B5EF4-FFF2-40B4-BE49-F238E27FC236}">
                <a16:creationId xmlns:a16="http://schemas.microsoft.com/office/drawing/2014/main" id="{6823B628-7016-D96E-3CC4-F63423F806BA}"/>
              </a:ext>
            </a:extLst>
          </p:cNvPr>
          <p:cNvSpPr txBox="1"/>
          <p:nvPr/>
        </p:nvSpPr>
        <p:spPr>
          <a:xfrm>
            <a:off x="6301709" y="945379"/>
            <a:ext cx="811635" cy="430887"/>
          </a:xfrm>
          <a:prstGeom prst="rect">
            <a:avLst/>
          </a:prstGeom>
          <a:solidFill>
            <a:schemeClr val="accent1">
              <a:lumMod val="75000"/>
            </a:schemeClr>
          </a:solid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リード</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再育成</a:t>
            </a:r>
          </a:p>
        </p:txBody>
      </p:sp>
      <p:sp>
        <p:nvSpPr>
          <p:cNvPr id="19" name="テキスト ボックス 18">
            <a:extLst>
              <a:ext uri="{FF2B5EF4-FFF2-40B4-BE49-F238E27FC236}">
                <a16:creationId xmlns:a16="http://schemas.microsoft.com/office/drawing/2014/main" id="{85AC353D-60E1-F353-0855-728BE833FC2C}"/>
              </a:ext>
            </a:extLst>
          </p:cNvPr>
          <p:cNvSpPr txBox="1"/>
          <p:nvPr/>
        </p:nvSpPr>
        <p:spPr>
          <a:xfrm>
            <a:off x="8544744" y="945378"/>
            <a:ext cx="982079" cy="430887"/>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リピート</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クロスセル</a:t>
            </a:r>
          </a:p>
        </p:txBody>
      </p:sp>
      <p:sp>
        <p:nvSpPr>
          <p:cNvPr id="37" name="Chevron 12">
            <a:extLst>
              <a:ext uri="{FF2B5EF4-FFF2-40B4-BE49-F238E27FC236}">
                <a16:creationId xmlns:a16="http://schemas.microsoft.com/office/drawing/2014/main" id="{DA5127EF-5223-643E-EDB9-5407299E080D}"/>
              </a:ext>
            </a:extLst>
          </p:cNvPr>
          <p:cNvSpPr/>
          <p:nvPr/>
        </p:nvSpPr>
        <p:spPr>
          <a:xfrm>
            <a:off x="3619464" y="795063"/>
            <a:ext cx="1482455" cy="731520"/>
          </a:xfrm>
          <a:prstGeom prst="chevron">
            <a:avLst/>
          </a:prstGeom>
          <a:solidFill>
            <a:schemeClr val="accent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39" name="テキスト ボックス 38">
            <a:extLst>
              <a:ext uri="{FF2B5EF4-FFF2-40B4-BE49-F238E27FC236}">
                <a16:creationId xmlns:a16="http://schemas.microsoft.com/office/drawing/2014/main" id="{E14962F6-8671-20EE-0C84-89C4FB4E7CA0}"/>
              </a:ext>
            </a:extLst>
          </p:cNvPr>
          <p:cNvSpPr txBox="1"/>
          <p:nvPr/>
        </p:nvSpPr>
        <p:spPr>
          <a:xfrm>
            <a:off x="3959145" y="945379"/>
            <a:ext cx="811635" cy="430887"/>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リード</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獲得</a:t>
            </a:r>
          </a:p>
        </p:txBody>
      </p:sp>
      <p:sp>
        <p:nvSpPr>
          <p:cNvPr id="82" name="正方形/長方形 81">
            <a:extLst>
              <a:ext uri="{FF2B5EF4-FFF2-40B4-BE49-F238E27FC236}">
                <a16:creationId xmlns:a16="http://schemas.microsoft.com/office/drawing/2014/main" id="{E39FFBC3-AAB5-2173-2D6D-3CB0180566B7}"/>
              </a:ext>
            </a:extLst>
          </p:cNvPr>
          <p:cNvSpPr/>
          <p:nvPr/>
        </p:nvSpPr>
        <p:spPr>
          <a:xfrm>
            <a:off x="-15984" y="609190"/>
            <a:ext cx="9917132" cy="1034848"/>
          </a:xfrm>
          <a:prstGeom prst="rect">
            <a:avLst/>
          </a:prstGeom>
          <a:solidFill>
            <a:schemeClr val="bg1">
              <a:alpha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tLang="ja-JP" sz="1400" dirty="0">
              <a:solidFill>
                <a:schemeClr val="tx1"/>
              </a:solidFill>
              <a:latin typeface="メイリオ" panose="020B0604030504040204" pitchFamily="50" charset="-128"/>
              <a:ea typeface="メイリオ" panose="020B0604030504040204" pitchFamily="50" charset="-128"/>
            </a:endParaRPr>
          </a:p>
        </p:txBody>
      </p:sp>
      <p:sp>
        <p:nvSpPr>
          <p:cNvPr id="84" name="正方形/長方形 83">
            <a:extLst>
              <a:ext uri="{FF2B5EF4-FFF2-40B4-BE49-F238E27FC236}">
                <a16:creationId xmlns:a16="http://schemas.microsoft.com/office/drawing/2014/main" id="{A77072BE-5118-9AA4-A2E0-18EDA2DCF568}"/>
              </a:ext>
            </a:extLst>
          </p:cNvPr>
          <p:cNvSpPr/>
          <p:nvPr/>
        </p:nvSpPr>
        <p:spPr>
          <a:xfrm>
            <a:off x="-15984" y="645907"/>
            <a:ext cx="9930693" cy="1034848"/>
          </a:xfrm>
          <a:prstGeom prst="rect">
            <a:avLst/>
          </a:prstGeom>
          <a:solidFill>
            <a:schemeClr val="bg1">
              <a:lumMod val="95000"/>
              <a:alpha val="3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tLang="ja-JP" sz="1400" dirty="0">
              <a:solidFill>
                <a:schemeClr val="tx1"/>
              </a:solidFill>
              <a:latin typeface="メイリオ" panose="020B0604030504040204" pitchFamily="50" charset="-128"/>
              <a:ea typeface="メイリオ" panose="020B0604030504040204" pitchFamily="50" charset="-128"/>
            </a:endParaRPr>
          </a:p>
        </p:txBody>
      </p:sp>
      <p:sp>
        <p:nvSpPr>
          <p:cNvPr id="6" name="Pentagon 10">
            <a:extLst>
              <a:ext uri="{FF2B5EF4-FFF2-40B4-BE49-F238E27FC236}">
                <a16:creationId xmlns:a16="http://schemas.microsoft.com/office/drawing/2014/main" id="{088A33FA-3E05-54E4-570A-B7F80484E448}"/>
              </a:ext>
            </a:extLst>
          </p:cNvPr>
          <p:cNvSpPr/>
          <p:nvPr/>
        </p:nvSpPr>
        <p:spPr>
          <a:xfrm>
            <a:off x="262895" y="795063"/>
            <a:ext cx="1360371" cy="731520"/>
          </a:xfrm>
          <a:prstGeom prst="homePlate">
            <a:avLst/>
          </a:prstGeom>
          <a:solidFill>
            <a:schemeClr val="bg1">
              <a:lumMod val="6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lang="en-US" altLang="ja-JP" sz="1300" b="1" dirty="0">
              <a:solidFill>
                <a:srgbClr val="FFFFFF"/>
              </a:solidFill>
              <a:latin typeface="メイリオ"/>
              <a:ea typeface="メイリオ"/>
              <a:cs typeface="メイリオ"/>
            </a:endParaRPr>
          </a:p>
        </p:txBody>
      </p:sp>
      <p:sp>
        <p:nvSpPr>
          <p:cNvPr id="10" name="Chevron 11">
            <a:extLst>
              <a:ext uri="{FF2B5EF4-FFF2-40B4-BE49-F238E27FC236}">
                <a16:creationId xmlns:a16="http://schemas.microsoft.com/office/drawing/2014/main" id="{9A8FA9AD-0E1D-35F6-18B9-3EF66776F42F}"/>
              </a:ext>
            </a:extLst>
          </p:cNvPr>
          <p:cNvSpPr/>
          <p:nvPr/>
        </p:nvSpPr>
        <p:spPr>
          <a:xfrm>
            <a:off x="1299544" y="795063"/>
            <a:ext cx="1482455" cy="731520"/>
          </a:xfrm>
          <a:prstGeom prst="chevron">
            <a:avLst/>
          </a:prstGeom>
          <a:solidFill>
            <a:schemeClr val="accent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14" name="Chevron 11">
            <a:extLst>
              <a:ext uri="{FF2B5EF4-FFF2-40B4-BE49-F238E27FC236}">
                <a16:creationId xmlns:a16="http://schemas.microsoft.com/office/drawing/2014/main" id="{B80A9B91-B735-5AE5-624C-DB7BEDA30516}"/>
              </a:ext>
            </a:extLst>
          </p:cNvPr>
          <p:cNvSpPr/>
          <p:nvPr/>
        </p:nvSpPr>
        <p:spPr>
          <a:xfrm>
            <a:off x="2459504" y="795063"/>
            <a:ext cx="1482455" cy="731520"/>
          </a:xfrm>
          <a:prstGeom prst="chevron">
            <a:avLst/>
          </a:prstGeom>
          <a:solidFill>
            <a:schemeClr val="accent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18" name="テキスト ボックス 17">
            <a:extLst>
              <a:ext uri="{FF2B5EF4-FFF2-40B4-BE49-F238E27FC236}">
                <a16:creationId xmlns:a16="http://schemas.microsoft.com/office/drawing/2014/main" id="{7FA18697-4D57-2182-57FD-2996F95EC0BB}"/>
              </a:ext>
            </a:extLst>
          </p:cNvPr>
          <p:cNvSpPr txBox="1"/>
          <p:nvPr/>
        </p:nvSpPr>
        <p:spPr>
          <a:xfrm>
            <a:off x="1616581" y="945379"/>
            <a:ext cx="811635" cy="430887"/>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サイト</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離脱</a:t>
            </a:r>
          </a:p>
        </p:txBody>
      </p:sp>
      <p:sp>
        <p:nvSpPr>
          <p:cNvPr id="21" name="テキスト ボックス 20">
            <a:extLst>
              <a:ext uri="{FF2B5EF4-FFF2-40B4-BE49-F238E27FC236}">
                <a16:creationId xmlns:a16="http://schemas.microsoft.com/office/drawing/2014/main" id="{571916BE-9BC4-A308-6573-898FC7A47F6B}"/>
              </a:ext>
            </a:extLst>
          </p:cNvPr>
          <p:cNvSpPr txBox="1"/>
          <p:nvPr/>
        </p:nvSpPr>
        <p:spPr>
          <a:xfrm>
            <a:off x="2787863" y="1030016"/>
            <a:ext cx="811635" cy="261610"/>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育成</a:t>
            </a:r>
          </a:p>
        </p:txBody>
      </p:sp>
      <p:sp>
        <p:nvSpPr>
          <p:cNvPr id="23" name="テキスト ボックス 22">
            <a:extLst>
              <a:ext uri="{FF2B5EF4-FFF2-40B4-BE49-F238E27FC236}">
                <a16:creationId xmlns:a16="http://schemas.microsoft.com/office/drawing/2014/main" id="{25C076BB-0677-F238-39C9-02E4D26A9F90}"/>
              </a:ext>
            </a:extLst>
          </p:cNvPr>
          <p:cNvSpPr txBox="1"/>
          <p:nvPr/>
        </p:nvSpPr>
        <p:spPr>
          <a:xfrm>
            <a:off x="445299" y="1030016"/>
            <a:ext cx="811635" cy="261610"/>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接触</a:t>
            </a:r>
          </a:p>
        </p:txBody>
      </p:sp>
      <p:sp>
        <p:nvSpPr>
          <p:cNvPr id="8" name="四角形: 角を丸くする 7">
            <a:extLst>
              <a:ext uri="{FF2B5EF4-FFF2-40B4-BE49-F238E27FC236}">
                <a16:creationId xmlns:a16="http://schemas.microsoft.com/office/drawing/2014/main" id="{3ED11842-B942-C94A-F612-AD82710C5323}"/>
              </a:ext>
            </a:extLst>
          </p:cNvPr>
          <p:cNvSpPr/>
          <p:nvPr/>
        </p:nvSpPr>
        <p:spPr>
          <a:xfrm>
            <a:off x="262895" y="1854926"/>
            <a:ext cx="5885356" cy="435716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6" name="四角形: 角を丸くする 15">
            <a:extLst>
              <a:ext uri="{FF2B5EF4-FFF2-40B4-BE49-F238E27FC236}">
                <a16:creationId xmlns:a16="http://schemas.microsoft.com/office/drawing/2014/main" id="{D8CB4BBB-DB36-4D1D-81B3-0D31B0562450}"/>
              </a:ext>
            </a:extLst>
          </p:cNvPr>
          <p:cNvSpPr/>
          <p:nvPr/>
        </p:nvSpPr>
        <p:spPr>
          <a:xfrm>
            <a:off x="6261879" y="1856231"/>
            <a:ext cx="3381226" cy="1392936"/>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5" name="TextBox 84"/>
          <p:cNvSpPr txBox="1"/>
          <p:nvPr/>
        </p:nvSpPr>
        <p:spPr>
          <a:xfrm>
            <a:off x="411480" y="1965959"/>
            <a:ext cx="5577840" cy="685800"/>
          </a:xfrm>
          <a:prstGeom prst="rect">
            <a:avLst/>
          </a:prstGeom>
          <a:noFill/>
        </p:spPr>
        <p:txBody>
          <a:bodyPr wrap="square" lIns="36000" tIns="10800" rIns="36000" bIns="10800" anchor="t">
            <a:spAutoFit/>
          </a:bodyPr>
          <a:lstStyle/>
          <a:p>
            <a:pPr algn="l">
              <a:lnSpc>
                <a:spcPct val="105000"/>
              </a:lnSpc>
              <a:spcAft>
                <a:spcPts val="200"/>
              </a:spcAft>
            </a:pPr>
            <a:r>
              <a:rPr sz="1600" b="1">
                <a:solidFill>
                  <a:srgbClr val="1F2A5C"/>
                </a:solidFill>
                <a:latin typeface="メイリオ"/>
                <a:ea typeface="メイリオ"/>
                <a:cs typeface="メイリオ"/>
              </a:rPr>
              <a:t>友だちの入口</a:t>
            </a:r>
          </a:p>
          <a:p>
            <a:pPr algn="l">
              <a:lnSpc>
                <a:spcPct val="105000"/>
              </a:lnSpc>
              <a:spcAft>
                <a:spcPts val="200"/>
              </a:spcAft>
            </a:pPr>
            <a:r>
              <a:rPr sz="1200" b="0">
                <a:solidFill>
                  <a:srgbClr val="333333"/>
                </a:solidFill>
                <a:latin typeface="メイリオ"/>
                <a:ea typeface="メイリオ"/>
                <a:cs typeface="メイリオ"/>
              </a:rPr>
              <a:t>サイトのLINEボタン・広告の受け皿</a:t>
            </a:r>
          </a:p>
        </p:txBody>
      </p:sp>
      <p:pic>
        <p:nvPicPr>
          <p:cNvPr id="86" name="Picture 85" descr="demo_p27.png"/>
          <p:cNvPicPr>
            <a:picLocks noChangeAspect="1"/>
          </p:cNvPicPr>
          <p:nvPr/>
        </p:nvPicPr>
        <p:blipFill>
          <a:blip r:embed="rId2"/>
          <a:stretch>
            <a:fillRect/>
          </a:stretch>
        </p:blipFill>
        <p:spPr>
          <a:xfrm>
            <a:off x="1243309" y="2651760"/>
            <a:ext cx="3932468" cy="3310128"/>
          </a:xfrm>
          <a:prstGeom prst="rect">
            <a:avLst/>
          </a:prstGeom>
          <a:ln w="9525">
            <a:solidFill>
              <a:srgbClr val="D9D9D9"/>
            </a:solidFill>
          </a:ln>
        </p:spPr>
      </p:pic>
      <p:sp>
        <p:nvSpPr>
          <p:cNvPr id="87" name="TextBox 86"/>
          <p:cNvSpPr txBox="1"/>
          <p:nvPr/>
        </p:nvSpPr>
        <p:spPr>
          <a:xfrm>
            <a:off x="411480" y="5971032"/>
            <a:ext cx="5577840" cy="219456"/>
          </a:xfrm>
          <a:prstGeom prst="rect">
            <a:avLst/>
          </a:prstGeom>
          <a:noFill/>
        </p:spPr>
        <p:txBody>
          <a:bodyPr wrap="none">
            <a:spAutoFit/>
          </a:bodyPr>
          <a:lstStyle/>
          <a:p>
            <a:r>
              <a:rPr sz="850" b="0">
                <a:solidFill>
                  <a:srgbClr val="7F7F7F"/>
                </a:solidFill>
                <a:latin typeface="メイリオ"/>
                <a:ea typeface="メイリオ"/>
                <a:cs typeface="メイリオ"/>
              </a:rPr>
              <a:t>画面：ワクトリ様向けに作成したデモ（①ユーザーが見る画面／②裏側の処理）。求人はデモ用のサンプル</a:t>
            </a:r>
          </a:p>
        </p:txBody>
      </p:sp>
      <p:sp>
        <p:nvSpPr>
          <p:cNvPr id="91" name="四角形: 角を丸くする 15">
            <a:extLst>
              <a:ext uri="{FF2B5EF4-FFF2-40B4-BE49-F238E27FC236}">
                <a16:creationId xmlns:a16="http://schemas.microsoft.com/office/drawing/2014/main" id="{D8CB4BBB-DB36-4D1D-81B3-0D31B0562450}"/>
              </a:ext>
            </a:extLst>
          </p:cNvPr>
          <p:cNvSpPr/>
          <p:nvPr/>
        </p:nvSpPr>
        <p:spPr>
          <a:xfrm>
            <a:off x="6261879" y="3340608"/>
            <a:ext cx="3381226" cy="1392936"/>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2" name="四角形: 角を丸くする 15">
            <a:extLst>
              <a:ext uri="{FF2B5EF4-FFF2-40B4-BE49-F238E27FC236}">
                <a16:creationId xmlns:a16="http://schemas.microsoft.com/office/drawing/2014/main" id="{D8CB4BBB-DB36-4D1D-81B3-0D31B0562450}"/>
              </a:ext>
            </a:extLst>
          </p:cNvPr>
          <p:cNvSpPr/>
          <p:nvPr/>
        </p:nvSpPr>
        <p:spPr>
          <a:xfrm>
            <a:off x="6261879" y="4824984"/>
            <a:ext cx="3381226" cy="1392936"/>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8" name="TextBox 87"/>
          <p:cNvSpPr txBox="1"/>
          <p:nvPr/>
        </p:nvSpPr>
        <p:spPr>
          <a:xfrm>
            <a:off x="6371607" y="2192344"/>
            <a:ext cx="3161770" cy="720710"/>
          </a:xfrm>
          <a:prstGeom prst="rect">
            <a:avLst/>
          </a:prstGeom>
          <a:noFill/>
        </p:spPr>
        <p:txBody>
          <a:bodyPr wrap="square" anchor="ctr">
            <a:spAutoFit/>
          </a:bodyPr>
          <a:lstStyle/>
          <a:p>
            <a:pPr>
              <a:spcAft>
                <a:spcPts val="400"/>
              </a:spcAft>
            </a:pPr>
            <a:r>
              <a:rPr sz="1350" b="1" dirty="0" err="1">
                <a:solidFill>
                  <a:srgbClr val="1F2A5C"/>
                </a:solidFill>
                <a:latin typeface="メイリオ"/>
                <a:ea typeface="メイリオ"/>
                <a:cs typeface="メイリオ"/>
              </a:rPr>
              <a:t>入口</a:t>
            </a:r>
            <a:endParaRPr sz="1350" b="1" dirty="0">
              <a:solidFill>
                <a:srgbClr val="1F2A5C"/>
              </a:solidFill>
              <a:latin typeface="メイリオ"/>
              <a:ea typeface="メイリオ"/>
              <a:cs typeface="メイリオ"/>
            </a:endParaRPr>
          </a:p>
          <a:p>
            <a:r>
              <a:rPr sz="1200" b="0" dirty="0" err="1">
                <a:solidFill>
                  <a:srgbClr val="333333"/>
                </a:solidFill>
                <a:latin typeface="メイリオ"/>
                <a:ea typeface="メイリオ"/>
                <a:cs typeface="メイリオ"/>
              </a:rPr>
              <a:t>SNSのプロフィール・投稿や</a:t>
            </a:r>
            <a:endParaRPr sz="1200" b="0" dirty="0">
              <a:solidFill>
                <a:srgbClr val="333333"/>
              </a:solidFill>
              <a:latin typeface="メイリオ"/>
              <a:ea typeface="メイリオ"/>
              <a:cs typeface="メイリオ"/>
            </a:endParaRPr>
          </a:p>
          <a:p>
            <a:r>
              <a:rPr sz="1200" b="0" dirty="0" err="1">
                <a:solidFill>
                  <a:srgbClr val="333333"/>
                </a:solidFill>
                <a:latin typeface="メイリオ"/>
                <a:ea typeface="メイリオ"/>
                <a:cs typeface="メイリオ"/>
              </a:rPr>
              <a:t>体験談のページにも入口を置く</a:t>
            </a:r>
            <a:endParaRPr sz="1200" b="0" dirty="0">
              <a:solidFill>
                <a:srgbClr val="333333"/>
              </a:solidFill>
              <a:latin typeface="メイリオ"/>
              <a:ea typeface="メイリオ"/>
              <a:cs typeface="メイリオ"/>
            </a:endParaRPr>
          </a:p>
        </p:txBody>
      </p:sp>
      <p:sp>
        <p:nvSpPr>
          <p:cNvPr id="89" name="TextBox 88"/>
          <p:cNvSpPr txBox="1"/>
          <p:nvPr/>
        </p:nvSpPr>
        <p:spPr>
          <a:xfrm>
            <a:off x="6371607" y="3676721"/>
            <a:ext cx="3161770" cy="720710"/>
          </a:xfrm>
          <a:prstGeom prst="rect">
            <a:avLst/>
          </a:prstGeom>
          <a:noFill/>
        </p:spPr>
        <p:txBody>
          <a:bodyPr wrap="square" anchor="ctr">
            <a:spAutoFit/>
          </a:bodyPr>
          <a:lstStyle/>
          <a:p>
            <a:pPr>
              <a:spcAft>
                <a:spcPts val="400"/>
              </a:spcAft>
            </a:pPr>
            <a:r>
              <a:rPr sz="1350" b="1" dirty="0" err="1">
                <a:solidFill>
                  <a:srgbClr val="1F2A5C"/>
                </a:solidFill>
                <a:latin typeface="メイリオ"/>
                <a:ea typeface="メイリオ"/>
                <a:cs typeface="メイリオ"/>
              </a:rPr>
              <a:t>LINEの仕組み</a:t>
            </a:r>
            <a:endParaRPr sz="1350" b="1" dirty="0">
              <a:solidFill>
                <a:srgbClr val="1F2A5C"/>
              </a:solidFill>
              <a:latin typeface="メイリオ"/>
              <a:ea typeface="メイリオ"/>
              <a:cs typeface="メイリオ"/>
            </a:endParaRPr>
          </a:p>
          <a:p>
            <a:r>
              <a:rPr sz="1200" b="0" dirty="0" err="1">
                <a:solidFill>
                  <a:srgbClr val="333333"/>
                </a:solidFill>
                <a:latin typeface="メイリオ"/>
                <a:ea typeface="メイリオ"/>
                <a:cs typeface="メイリオ"/>
              </a:rPr>
              <a:t>入口ごとにURLを分けて記録し</a:t>
            </a:r>
            <a:r>
              <a:rPr sz="1200" b="0" dirty="0">
                <a:solidFill>
                  <a:srgbClr val="333333"/>
                </a:solidFill>
                <a:latin typeface="メイリオ"/>
                <a:ea typeface="メイリオ"/>
                <a:cs typeface="メイリオ"/>
              </a:rPr>
              <a:t>、</a:t>
            </a:r>
          </a:p>
          <a:p>
            <a:r>
              <a:rPr sz="1200" b="0" dirty="0" err="1">
                <a:solidFill>
                  <a:srgbClr val="333333"/>
                </a:solidFill>
                <a:latin typeface="メイリオ"/>
                <a:ea typeface="メイリオ"/>
                <a:cs typeface="メイリオ"/>
              </a:rPr>
              <a:t>あいさつの文面を出し分ける</a:t>
            </a:r>
            <a:endParaRPr sz="1200" b="0" dirty="0">
              <a:solidFill>
                <a:srgbClr val="333333"/>
              </a:solidFill>
              <a:latin typeface="メイリオ"/>
              <a:ea typeface="メイリオ"/>
              <a:cs typeface="メイリオ"/>
            </a:endParaRPr>
          </a:p>
        </p:txBody>
      </p:sp>
      <p:sp>
        <p:nvSpPr>
          <p:cNvPr id="90" name="TextBox 89"/>
          <p:cNvSpPr txBox="1"/>
          <p:nvPr/>
        </p:nvSpPr>
        <p:spPr>
          <a:xfrm>
            <a:off x="6371607" y="5161097"/>
            <a:ext cx="3161770" cy="720710"/>
          </a:xfrm>
          <a:prstGeom prst="rect">
            <a:avLst/>
          </a:prstGeom>
          <a:noFill/>
        </p:spPr>
        <p:txBody>
          <a:bodyPr wrap="square" anchor="ctr">
            <a:spAutoFit/>
          </a:bodyPr>
          <a:lstStyle/>
          <a:p>
            <a:pPr>
              <a:spcAft>
                <a:spcPts val="400"/>
              </a:spcAft>
            </a:pPr>
            <a:r>
              <a:rPr sz="1350" b="1" dirty="0" err="1">
                <a:solidFill>
                  <a:srgbClr val="1F2A5C"/>
                </a:solidFill>
                <a:latin typeface="メイリオ"/>
                <a:ea typeface="メイリオ"/>
                <a:cs typeface="メイリオ"/>
              </a:rPr>
              <a:t>配信内容</a:t>
            </a:r>
            <a:endParaRPr sz="1350" b="1" dirty="0">
              <a:solidFill>
                <a:srgbClr val="1F2A5C"/>
              </a:solidFill>
              <a:latin typeface="メイリオ"/>
              <a:ea typeface="メイリオ"/>
              <a:cs typeface="メイリオ"/>
            </a:endParaRPr>
          </a:p>
          <a:p>
            <a:r>
              <a:rPr sz="1200" b="0" dirty="0" err="1">
                <a:solidFill>
                  <a:srgbClr val="333333"/>
                </a:solidFill>
                <a:latin typeface="メイリオ"/>
                <a:ea typeface="メイリオ"/>
                <a:cs typeface="メイリオ"/>
              </a:rPr>
              <a:t>追加の特典に「寮生活の</a:t>
            </a:r>
            <a:endParaRPr sz="1200" b="0" dirty="0">
              <a:solidFill>
                <a:srgbClr val="333333"/>
              </a:solidFill>
              <a:latin typeface="メイリオ"/>
              <a:ea typeface="メイリオ"/>
              <a:cs typeface="メイリオ"/>
            </a:endParaRPr>
          </a:p>
          <a:p>
            <a:r>
              <a:rPr sz="1200" b="0" dirty="0" err="1">
                <a:solidFill>
                  <a:srgbClr val="333333"/>
                </a:solidFill>
                <a:latin typeface="メイリオ"/>
                <a:ea typeface="メイリオ"/>
                <a:cs typeface="メイリオ"/>
              </a:rPr>
              <a:t>持ち物リスト」などを届ける</a:t>
            </a:r>
            <a:endParaRPr sz="1200" b="0" dirty="0">
              <a:solidFill>
                <a:srgbClr val="333333"/>
              </a:solidFill>
              <a:latin typeface="メイリオ"/>
              <a:ea typeface="メイリオ"/>
              <a:cs typeface="メイリオ"/>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テキスト ボックス 47">
            <a:extLst>
              <a:ext uri="{FF2B5EF4-FFF2-40B4-BE49-F238E27FC236}">
                <a16:creationId xmlns:a16="http://schemas.microsoft.com/office/drawing/2014/main" id="{61A98738-2D8B-C136-F3AB-BE9E0F4BE04B}"/>
              </a:ext>
            </a:extLst>
          </p:cNvPr>
          <p:cNvSpPr txBox="1">
            <a:spLocks noChangeArrowheads="1"/>
          </p:cNvSpPr>
          <p:nvPr/>
        </p:nvSpPr>
        <p:spPr bwMode="auto">
          <a:xfrm>
            <a:off x="456501" y="107813"/>
            <a:ext cx="7512385" cy="3650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tIns="72000">
            <a:spAutoFit/>
          </a:bodyPr>
          <a:lstStyle>
            <a:lvl1pPr>
              <a:defRPr kumimoji="1" sz="3200">
                <a:solidFill>
                  <a:schemeClr val="tx1"/>
                </a:solidFill>
                <a:latin typeface="Calibri" charset="0"/>
                <a:ea typeface="ＭＳ Ｐゴシック" charset="0"/>
                <a:cs typeface="ＭＳ Ｐゴシック" charset="0"/>
              </a:defRPr>
            </a:lvl1pPr>
            <a:lvl2pPr>
              <a:defRPr kumimoji="1" sz="2800">
                <a:solidFill>
                  <a:schemeClr val="tx1"/>
                </a:solidFill>
                <a:latin typeface="Calibri" charset="0"/>
                <a:ea typeface="ＭＳ Ｐゴシック" charset="0"/>
              </a:defRPr>
            </a:lvl2pPr>
            <a:lvl3pPr>
              <a:defRPr kumimoji="1" sz="2400">
                <a:solidFill>
                  <a:schemeClr val="tx1"/>
                </a:solidFill>
                <a:latin typeface="Calibri" charset="0"/>
                <a:ea typeface="ＭＳ Ｐゴシック" charset="0"/>
              </a:defRPr>
            </a:lvl3pPr>
            <a:lvl4pPr>
              <a:defRPr kumimoji="1" sz="2000">
                <a:solidFill>
                  <a:schemeClr val="tx1"/>
                </a:solidFill>
                <a:latin typeface="Calibri" charset="0"/>
                <a:ea typeface="ＭＳ Ｐゴシック" charset="0"/>
              </a:defRPr>
            </a:lvl4pPr>
            <a:lvl5pPr>
              <a:defRPr kumimoji="1" sz="2000">
                <a:solidFill>
                  <a:schemeClr val="tx1"/>
                </a:solidFill>
                <a:latin typeface="Calibri" charset="0"/>
                <a:ea typeface="ＭＳ Ｐゴシック" charset="0"/>
              </a:defRPr>
            </a:lvl5pPr>
            <a:lvl6pPr eaLnBrk="0" fontAlgn="base" hangingPunct="0">
              <a:spcAft>
                <a:spcPct val="0"/>
              </a:spcAft>
              <a:buFont typeface="Arial" charset="0"/>
              <a:buChar char="»"/>
              <a:defRPr kumimoji="1" sz="2000">
                <a:solidFill>
                  <a:schemeClr val="tx1"/>
                </a:solidFill>
                <a:latin typeface="Calibri" charset="0"/>
                <a:ea typeface="ＭＳ Ｐゴシック" charset="0"/>
              </a:defRPr>
            </a:lvl6pPr>
            <a:lvl7pPr eaLnBrk="0" fontAlgn="base" hangingPunct="0">
              <a:spcAft>
                <a:spcPct val="0"/>
              </a:spcAft>
              <a:buFont typeface="Arial" charset="0"/>
              <a:buChar char="»"/>
              <a:defRPr kumimoji="1" sz="2000">
                <a:solidFill>
                  <a:schemeClr val="tx1"/>
                </a:solidFill>
                <a:latin typeface="Calibri" charset="0"/>
                <a:ea typeface="ＭＳ Ｐゴシック" charset="0"/>
              </a:defRPr>
            </a:lvl7pPr>
            <a:lvl8pPr eaLnBrk="0" fontAlgn="base" hangingPunct="0">
              <a:spcAft>
                <a:spcPct val="0"/>
              </a:spcAft>
              <a:buFont typeface="Arial" charset="0"/>
              <a:buChar char="»"/>
              <a:defRPr kumimoji="1" sz="2000">
                <a:solidFill>
                  <a:schemeClr val="tx1"/>
                </a:solidFill>
                <a:latin typeface="Calibri" charset="0"/>
                <a:ea typeface="ＭＳ Ｐゴシック" charset="0"/>
              </a:defRPr>
            </a:lvl8pPr>
            <a:lvl9pPr eaLnBrk="0" fontAlgn="base" hangingPunct="0">
              <a:spcAft>
                <a:spcPct val="0"/>
              </a:spcAft>
              <a:buFont typeface="Arial" charset="0"/>
              <a:buChar char="»"/>
              <a:defRPr kumimoji="1" sz="2000">
                <a:solidFill>
                  <a:schemeClr val="tx1"/>
                </a:solidFill>
                <a:latin typeface="Calibri" charset="0"/>
                <a:ea typeface="ＭＳ Ｐゴシック" charset="0"/>
              </a:defRPr>
            </a:lvl9pPr>
          </a:lstStyle>
          <a:p>
            <a:pPr>
              <a:spcBef>
                <a:spcPct val="20000"/>
              </a:spcBef>
              <a:buFont typeface="Arial" charset="0"/>
              <a:buNone/>
            </a:pPr>
            <a:r>
              <a:rPr lang="ja-JP" altLang="en-US" sz="1600" b="1" dirty="0">
                <a:solidFill>
                  <a:srgbClr val="1F2A5C"/>
                </a:solidFill>
                <a:latin typeface="メイリオ"/>
                <a:ea typeface="メイリオ"/>
                <a:cs typeface="メイリオ"/>
              </a:rPr>
              <a:t>具体施策のイメージ</a:t>
            </a:r>
          </a:p>
        </p:txBody>
      </p:sp>
      <p:sp>
        <p:nvSpPr>
          <p:cNvPr id="5" name="正方形/長方形 4">
            <a:extLst>
              <a:ext uri="{FF2B5EF4-FFF2-40B4-BE49-F238E27FC236}">
                <a16:creationId xmlns:a16="http://schemas.microsoft.com/office/drawing/2014/main" id="{E763FE7F-E268-AFB9-8C26-A4EB11BA5AE7}"/>
              </a:ext>
            </a:extLst>
          </p:cNvPr>
          <p:cNvSpPr/>
          <p:nvPr/>
        </p:nvSpPr>
        <p:spPr>
          <a:xfrm>
            <a:off x="2659553" y="109691"/>
            <a:ext cx="1992986" cy="326496"/>
          </a:xfrm>
          <a:prstGeom prst="rect">
            <a:avLst/>
          </a:prstGeom>
          <a:solidFill>
            <a:schemeClr val="tx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b="1" dirty="0">
                <a:solidFill>
                  <a:srgbClr val="FFFFFF"/>
                </a:solidFill>
                <a:latin typeface="メイリオ" panose="020B0604030504040204" pitchFamily="50" charset="-128"/>
                <a:ea typeface="メイリオ" panose="020B0604030504040204" pitchFamily="50" charset="-128"/>
              </a:rPr>
              <a:t>集客</a:t>
            </a:r>
          </a:p>
        </p:txBody>
      </p:sp>
      <p:sp>
        <p:nvSpPr>
          <p:cNvPr id="4" name="Chevron 13">
            <a:extLst>
              <a:ext uri="{FF2B5EF4-FFF2-40B4-BE49-F238E27FC236}">
                <a16:creationId xmlns:a16="http://schemas.microsoft.com/office/drawing/2014/main" id="{29489E76-109A-5A9F-6007-97E43FBE69A2}"/>
              </a:ext>
            </a:extLst>
          </p:cNvPr>
          <p:cNvSpPr/>
          <p:nvPr/>
        </p:nvSpPr>
        <p:spPr>
          <a:xfrm>
            <a:off x="7099344" y="795063"/>
            <a:ext cx="1482455" cy="731520"/>
          </a:xfrm>
          <a:prstGeom prst="chevron">
            <a:avLst/>
          </a:prstGeom>
          <a:solidFill>
            <a:schemeClr val="tx2">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7" name="Chevron 12">
            <a:extLst>
              <a:ext uri="{FF2B5EF4-FFF2-40B4-BE49-F238E27FC236}">
                <a16:creationId xmlns:a16="http://schemas.microsoft.com/office/drawing/2014/main" id="{69A3133C-CD4D-8D4C-F0E6-DC6AB18C962D}"/>
              </a:ext>
            </a:extLst>
          </p:cNvPr>
          <p:cNvSpPr/>
          <p:nvPr/>
        </p:nvSpPr>
        <p:spPr>
          <a:xfrm>
            <a:off x="5939384" y="795063"/>
            <a:ext cx="1482455" cy="731520"/>
          </a:xfrm>
          <a:prstGeom prst="chevron">
            <a:avLst/>
          </a:prstGeom>
          <a:solidFill>
            <a:schemeClr val="accent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9" name="Chevron 11">
            <a:extLst>
              <a:ext uri="{FF2B5EF4-FFF2-40B4-BE49-F238E27FC236}">
                <a16:creationId xmlns:a16="http://schemas.microsoft.com/office/drawing/2014/main" id="{F937C8A8-9FC6-659C-E49B-A699CF4D163E}"/>
              </a:ext>
            </a:extLst>
          </p:cNvPr>
          <p:cNvSpPr/>
          <p:nvPr/>
        </p:nvSpPr>
        <p:spPr>
          <a:xfrm>
            <a:off x="4779424" y="795063"/>
            <a:ext cx="1482455" cy="731520"/>
          </a:xfrm>
          <a:prstGeom prst="chevron">
            <a:avLst/>
          </a:prstGeom>
          <a:solidFill>
            <a:schemeClr val="accent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11" name="Chevron 13">
            <a:extLst>
              <a:ext uri="{FF2B5EF4-FFF2-40B4-BE49-F238E27FC236}">
                <a16:creationId xmlns:a16="http://schemas.microsoft.com/office/drawing/2014/main" id="{D5E8202C-DCA5-0507-F682-9FA900EF692C}"/>
              </a:ext>
            </a:extLst>
          </p:cNvPr>
          <p:cNvSpPr/>
          <p:nvPr/>
        </p:nvSpPr>
        <p:spPr>
          <a:xfrm>
            <a:off x="8259306" y="795063"/>
            <a:ext cx="1482455" cy="731520"/>
          </a:xfrm>
          <a:prstGeom prst="chevron">
            <a:avLst/>
          </a:prstGeom>
          <a:solidFill>
            <a:schemeClr val="tx2">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13" name="テキスト ボックス 12">
            <a:extLst>
              <a:ext uri="{FF2B5EF4-FFF2-40B4-BE49-F238E27FC236}">
                <a16:creationId xmlns:a16="http://schemas.microsoft.com/office/drawing/2014/main" id="{6F55644E-8236-43A4-3105-B3F34E3F2103}"/>
              </a:ext>
            </a:extLst>
          </p:cNvPr>
          <p:cNvSpPr txBox="1"/>
          <p:nvPr/>
        </p:nvSpPr>
        <p:spPr>
          <a:xfrm>
            <a:off x="7420737" y="1030016"/>
            <a:ext cx="982079" cy="261610"/>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マネタイズ</a:t>
            </a:r>
          </a:p>
        </p:txBody>
      </p:sp>
      <p:sp>
        <p:nvSpPr>
          <p:cNvPr id="15" name="テキスト ボックス 14">
            <a:extLst>
              <a:ext uri="{FF2B5EF4-FFF2-40B4-BE49-F238E27FC236}">
                <a16:creationId xmlns:a16="http://schemas.microsoft.com/office/drawing/2014/main" id="{56BB0C46-5ADE-C304-D02B-B9272585F6C4}"/>
              </a:ext>
            </a:extLst>
          </p:cNvPr>
          <p:cNvSpPr txBox="1"/>
          <p:nvPr/>
        </p:nvSpPr>
        <p:spPr>
          <a:xfrm>
            <a:off x="5130427" y="945378"/>
            <a:ext cx="811635" cy="430887"/>
          </a:xfrm>
          <a:prstGeom prst="rect">
            <a:avLst/>
          </a:prstGeom>
          <a:solidFill>
            <a:schemeClr val="accent1">
              <a:lumMod val="75000"/>
            </a:schemeClr>
          </a:solid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有効</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リード化</a:t>
            </a:r>
          </a:p>
        </p:txBody>
      </p:sp>
      <p:sp>
        <p:nvSpPr>
          <p:cNvPr id="17" name="テキスト ボックス 16">
            <a:extLst>
              <a:ext uri="{FF2B5EF4-FFF2-40B4-BE49-F238E27FC236}">
                <a16:creationId xmlns:a16="http://schemas.microsoft.com/office/drawing/2014/main" id="{6823B628-7016-D96E-3CC4-F63423F806BA}"/>
              </a:ext>
            </a:extLst>
          </p:cNvPr>
          <p:cNvSpPr txBox="1"/>
          <p:nvPr/>
        </p:nvSpPr>
        <p:spPr>
          <a:xfrm>
            <a:off x="6301709" y="945379"/>
            <a:ext cx="811635" cy="430887"/>
          </a:xfrm>
          <a:prstGeom prst="rect">
            <a:avLst/>
          </a:prstGeom>
          <a:solidFill>
            <a:schemeClr val="accent1">
              <a:lumMod val="75000"/>
            </a:schemeClr>
          </a:solid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リード</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再育成</a:t>
            </a:r>
          </a:p>
        </p:txBody>
      </p:sp>
      <p:sp>
        <p:nvSpPr>
          <p:cNvPr id="19" name="テキスト ボックス 18">
            <a:extLst>
              <a:ext uri="{FF2B5EF4-FFF2-40B4-BE49-F238E27FC236}">
                <a16:creationId xmlns:a16="http://schemas.microsoft.com/office/drawing/2014/main" id="{85AC353D-60E1-F353-0855-728BE833FC2C}"/>
              </a:ext>
            </a:extLst>
          </p:cNvPr>
          <p:cNvSpPr txBox="1"/>
          <p:nvPr/>
        </p:nvSpPr>
        <p:spPr>
          <a:xfrm>
            <a:off x="8544744" y="945378"/>
            <a:ext cx="982079" cy="430887"/>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リピート</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クロスセル</a:t>
            </a:r>
          </a:p>
        </p:txBody>
      </p:sp>
      <p:sp>
        <p:nvSpPr>
          <p:cNvPr id="37" name="Chevron 12">
            <a:extLst>
              <a:ext uri="{FF2B5EF4-FFF2-40B4-BE49-F238E27FC236}">
                <a16:creationId xmlns:a16="http://schemas.microsoft.com/office/drawing/2014/main" id="{DA5127EF-5223-643E-EDB9-5407299E080D}"/>
              </a:ext>
            </a:extLst>
          </p:cNvPr>
          <p:cNvSpPr/>
          <p:nvPr/>
        </p:nvSpPr>
        <p:spPr>
          <a:xfrm>
            <a:off x="3619464" y="795063"/>
            <a:ext cx="1482455" cy="731520"/>
          </a:xfrm>
          <a:prstGeom prst="chevron">
            <a:avLst/>
          </a:prstGeom>
          <a:solidFill>
            <a:schemeClr val="accent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39" name="テキスト ボックス 38">
            <a:extLst>
              <a:ext uri="{FF2B5EF4-FFF2-40B4-BE49-F238E27FC236}">
                <a16:creationId xmlns:a16="http://schemas.microsoft.com/office/drawing/2014/main" id="{E14962F6-8671-20EE-0C84-89C4FB4E7CA0}"/>
              </a:ext>
            </a:extLst>
          </p:cNvPr>
          <p:cNvSpPr txBox="1"/>
          <p:nvPr/>
        </p:nvSpPr>
        <p:spPr>
          <a:xfrm>
            <a:off x="3959145" y="945379"/>
            <a:ext cx="811635" cy="430887"/>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リード</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獲得</a:t>
            </a:r>
          </a:p>
        </p:txBody>
      </p:sp>
      <p:sp>
        <p:nvSpPr>
          <p:cNvPr id="82" name="正方形/長方形 81">
            <a:extLst>
              <a:ext uri="{FF2B5EF4-FFF2-40B4-BE49-F238E27FC236}">
                <a16:creationId xmlns:a16="http://schemas.microsoft.com/office/drawing/2014/main" id="{E39FFBC3-AAB5-2173-2D6D-3CB0180566B7}"/>
              </a:ext>
            </a:extLst>
          </p:cNvPr>
          <p:cNvSpPr/>
          <p:nvPr/>
        </p:nvSpPr>
        <p:spPr>
          <a:xfrm>
            <a:off x="-15984" y="609190"/>
            <a:ext cx="9917132" cy="1034848"/>
          </a:xfrm>
          <a:prstGeom prst="rect">
            <a:avLst/>
          </a:prstGeom>
          <a:solidFill>
            <a:schemeClr val="bg1">
              <a:alpha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tLang="ja-JP" sz="1400" dirty="0">
              <a:solidFill>
                <a:schemeClr val="tx1"/>
              </a:solidFill>
              <a:latin typeface="メイリオ" panose="020B0604030504040204" pitchFamily="50" charset="-128"/>
              <a:ea typeface="メイリオ" panose="020B0604030504040204" pitchFamily="50" charset="-128"/>
            </a:endParaRPr>
          </a:p>
        </p:txBody>
      </p:sp>
      <p:sp>
        <p:nvSpPr>
          <p:cNvPr id="84" name="正方形/長方形 83">
            <a:extLst>
              <a:ext uri="{FF2B5EF4-FFF2-40B4-BE49-F238E27FC236}">
                <a16:creationId xmlns:a16="http://schemas.microsoft.com/office/drawing/2014/main" id="{A77072BE-5118-9AA4-A2E0-18EDA2DCF568}"/>
              </a:ext>
            </a:extLst>
          </p:cNvPr>
          <p:cNvSpPr/>
          <p:nvPr/>
        </p:nvSpPr>
        <p:spPr>
          <a:xfrm>
            <a:off x="-15984" y="645907"/>
            <a:ext cx="9930693" cy="1034848"/>
          </a:xfrm>
          <a:prstGeom prst="rect">
            <a:avLst/>
          </a:prstGeom>
          <a:solidFill>
            <a:schemeClr val="bg1">
              <a:lumMod val="95000"/>
              <a:alpha val="3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tLang="ja-JP" sz="1400" dirty="0">
              <a:solidFill>
                <a:schemeClr val="tx1"/>
              </a:solidFill>
              <a:latin typeface="メイリオ" panose="020B0604030504040204" pitchFamily="50" charset="-128"/>
              <a:ea typeface="メイリオ" panose="020B0604030504040204" pitchFamily="50" charset="-128"/>
            </a:endParaRPr>
          </a:p>
        </p:txBody>
      </p:sp>
      <p:sp>
        <p:nvSpPr>
          <p:cNvPr id="6" name="Pentagon 10">
            <a:extLst>
              <a:ext uri="{FF2B5EF4-FFF2-40B4-BE49-F238E27FC236}">
                <a16:creationId xmlns:a16="http://schemas.microsoft.com/office/drawing/2014/main" id="{088A33FA-3E05-54E4-570A-B7F80484E448}"/>
              </a:ext>
            </a:extLst>
          </p:cNvPr>
          <p:cNvSpPr/>
          <p:nvPr/>
        </p:nvSpPr>
        <p:spPr>
          <a:xfrm>
            <a:off x="262895" y="795063"/>
            <a:ext cx="1360371" cy="731520"/>
          </a:xfrm>
          <a:prstGeom prst="homePlate">
            <a:avLst/>
          </a:prstGeom>
          <a:solidFill>
            <a:schemeClr val="bg1">
              <a:lumMod val="6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lang="en-US" altLang="ja-JP" sz="1300" b="1" dirty="0">
              <a:solidFill>
                <a:srgbClr val="FFFFFF"/>
              </a:solidFill>
              <a:latin typeface="メイリオ"/>
              <a:ea typeface="メイリオ"/>
              <a:cs typeface="メイリオ"/>
            </a:endParaRPr>
          </a:p>
        </p:txBody>
      </p:sp>
      <p:sp>
        <p:nvSpPr>
          <p:cNvPr id="10" name="Chevron 11">
            <a:extLst>
              <a:ext uri="{FF2B5EF4-FFF2-40B4-BE49-F238E27FC236}">
                <a16:creationId xmlns:a16="http://schemas.microsoft.com/office/drawing/2014/main" id="{9A8FA9AD-0E1D-35F6-18B9-3EF66776F42F}"/>
              </a:ext>
            </a:extLst>
          </p:cNvPr>
          <p:cNvSpPr/>
          <p:nvPr/>
        </p:nvSpPr>
        <p:spPr>
          <a:xfrm>
            <a:off x="1299544" y="795063"/>
            <a:ext cx="1482455" cy="731520"/>
          </a:xfrm>
          <a:prstGeom prst="chevron">
            <a:avLst/>
          </a:prstGeom>
          <a:solidFill>
            <a:schemeClr val="accent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14" name="Chevron 11">
            <a:extLst>
              <a:ext uri="{FF2B5EF4-FFF2-40B4-BE49-F238E27FC236}">
                <a16:creationId xmlns:a16="http://schemas.microsoft.com/office/drawing/2014/main" id="{B80A9B91-B735-5AE5-624C-DB7BEDA30516}"/>
              </a:ext>
            </a:extLst>
          </p:cNvPr>
          <p:cNvSpPr/>
          <p:nvPr/>
        </p:nvSpPr>
        <p:spPr>
          <a:xfrm>
            <a:off x="2459504" y="795063"/>
            <a:ext cx="1482455" cy="731520"/>
          </a:xfrm>
          <a:prstGeom prst="chevron">
            <a:avLst/>
          </a:prstGeom>
          <a:solidFill>
            <a:schemeClr val="accent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18" name="テキスト ボックス 17">
            <a:extLst>
              <a:ext uri="{FF2B5EF4-FFF2-40B4-BE49-F238E27FC236}">
                <a16:creationId xmlns:a16="http://schemas.microsoft.com/office/drawing/2014/main" id="{7FA18697-4D57-2182-57FD-2996F95EC0BB}"/>
              </a:ext>
            </a:extLst>
          </p:cNvPr>
          <p:cNvSpPr txBox="1"/>
          <p:nvPr/>
        </p:nvSpPr>
        <p:spPr>
          <a:xfrm>
            <a:off x="1616581" y="945379"/>
            <a:ext cx="811635" cy="430887"/>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サイト</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離脱</a:t>
            </a:r>
          </a:p>
        </p:txBody>
      </p:sp>
      <p:sp>
        <p:nvSpPr>
          <p:cNvPr id="21" name="テキスト ボックス 20">
            <a:extLst>
              <a:ext uri="{FF2B5EF4-FFF2-40B4-BE49-F238E27FC236}">
                <a16:creationId xmlns:a16="http://schemas.microsoft.com/office/drawing/2014/main" id="{571916BE-9BC4-A308-6573-898FC7A47F6B}"/>
              </a:ext>
            </a:extLst>
          </p:cNvPr>
          <p:cNvSpPr txBox="1"/>
          <p:nvPr/>
        </p:nvSpPr>
        <p:spPr>
          <a:xfrm>
            <a:off x="2787863" y="1030016"/>
            <a:ext cx="811635" cy="261610"/>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育成</a:t>
            </a:r>
          </a:p>
        </p:txBody>
      </p:sp>
      <p:sp>
        <p:nvSpPr>
          <p:cNvPr id="23" name="テキスト ボックス 22">
            <a:extLst>
              <a:ext uri="{FF2B5EF4-FFF2-40B4-BE49-F238E27FC236}">
                <a16:creationId xmlns:a16="http://schemas.microsoft.com/office/drawing/2014/main" id="{25C076BB-0677-F238-39C9-02E4D26A9F90}"/>
              </a:ext>
            </a:extLst>
          </p:cNvPr>
          <p:cNvSpPr txBox="1"/>
          <p:nvPr/>
        </p:nvSpPr>
        <p:spPr>
          <a:xfrm>
            <a:off x="445299" y="1030016"/>
            <a:ext cx="811635" cy="261610"/>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接触</a:t>
            </a:r>
          </a:p>
        </p:txBody>
      </p:sp>
      <p:sp>
        <p:nvSpPr>
          <p:cNvPr id="8" name="四角形: 角を丸くする 7">
            <a:extLst>
              <a:ext uri="{FF2B5EF4-FFF2-40B4-BE49-F238E27FC236}">
                <a16:creationId xmlns:a16="http://schemas.microsoft.com/office/drawing/2014/main" id="{3ED11842-B942-C94A-F612-AD82710C5323}"/>
              </a:ext>
            </a:extLst>
          </p:cNvPr>
          <p:cNvSpPr/>
          <p:nvPr/>
        </p:nvSpPr>
        <p:spPr>
          <a:xfrm>
            <a:off x="262895" y="1854926"/>
            <a:ext cx="5885356" cy="435716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6" name="四角形: 角を丸くする 15">
            <a:extLst>
              <a:ext uri="{FF2B5EF4-FFF2-40B4-BE49-F238E27FC236}">
                <a16:creationId xmlns:a16="http://schemas.microsoft.com/office/drawing/2014/main" id="{D8CB4BBB-DB36-4D1D-81B3-0D31B0562450}"/>
              </a:ext>
            </a:extLst>
          </p:cNvPr>
          <p:cNvSpPr/>
          <p:nvPr/>
        </p:nvSpPr>
        <p:spPr>
          <a:xfrm>
            <a:off x="6261879" y="1856231"/>
            <a:ext cx="3381226" cy="1392936"/>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5" name="TextBox 84"/>
          <p:cNvSpPr txBox="1"/>
          <p:nvPr/>
        </p:nvSpPr>
        <p:spPr>
          <a:xfrm>
            <a:off x="411480" y="1965959"/>
            <a:ext cx="5577840" cy="685800"/>
          </a:xfrm>
          <a:prstGeom prst="rect">
            <a:avLst/>
          </a:prstGeom>
          <a:noFill/>
        </p:spPr>
        <p:txBody>
          <a:bodyPr wrap="square" lIns="36000" tIns="10800" rIns="36000" bIns="10800" anchor="t">
            <a:spAutoFit/>
          </a:bodyPr>
          <a:lstStyle/>
          <a:p>
            <a:pPr algn="l">
              <a:lnSpc>
                <a:spcPct val="105000"/>
              </a:lnSpc>
              <a:spcAft>
                <a:spcPts val="200"/>
              </a:spcAft>
            </a:pPr>
            <a:r>
              <a:rPr sz="1600" b="1">
                <a:solidFill>
                  <a:srgbClr val="1F2A5C"/>
                </a:solidFill>
                <a:latin typeface="メイリオ"/>
                <a:ea typeface="メイリオ"/>
                <a:cs typeface="メイリオ"/>
              </a:rPr>
              <a:t>ポップアップ</a:t>
            </a:r>
          </a:p>
          <a:p>
            <a:pPr algn="l">
              <a:lnSpc>
                <a:spcPct val="105000"/>
              </a:lnSpc>
              <a:spcAft>
                <a:spcPts val="200"/>
              </a:spcAft>
            </a:pPr>
            <a:r>
              <a:rPr sz="1200" b="0">
                <a:solidFill>
                  <a:srgbClr val="333333"/>
                </a:solidFill>
                <a:latin typeface="メイリオ"/>
                <a:ea typeface="メイリオ"/>
                <a:cs typeface="メイリオ"/>
              </a:rPr>
              <a:t>サイトを離れる方をLINEへ</a:t>
            </a:r>
          </a:p>
        </p:txBody>
      </p:sp>
      <p:pic>
        <p:nvPicPr>
          <p:cNvPr id="86" name="Picture 85" descr="demo_p28.png"/>
          <p:cNvPicPr>
            <a:picLocks noChangeAspect="1"/>
          </p:cNvPicPr>
          <p:nvPr/>
        </p:nvPicPr>
        <p:blipFill>
          <a:blip r:embed="rId2"/>
          <a:stretch>
            <a:fillRect/>
          </a:stretch>
        </p:blipFill>
        <p:spPr>
          <a:xfrm>
            <a:off x="1243309" y="2651760"/>
            <a:ext cx="3932468" cy="3310128"/>
          </a:xfrm>
          <a:prstGeom prst="rect">
            <a:avLst/>
          </a:prstGeom>
          <a:ln w="9525">
            <a:solidFill>
              <a:srgbClr val="D9D9D9"/>
            </a:solidFill>
          </a:ln>
        </p:spPr>
      </p:pic>
      <p:sp>
        <p:nvSpPr>
          <p:cNvPr id="87" name="TextBox 86"/>
          <p:cNvSpPr txBox="1"/>
          <p:nvPr/>
        </p:nvSpPr>
        <p:spPr>
          <a:xfrm>
            <a:off x="411480" y="5971032"/>
            <a:ext cx="5577840" cy="219456"/>
          </a:xfrm>
          <a:prstGeom prst="rect">
            <a:avLst/>
          </a:prstGeom>
          <a:noFill/>
        </p:spPr>
        <p:txBody>
          <a:bodyPr wrap="none">
            <a:spAutoFit/>
          </a:bodyPr>
          <a:lstStyle/>
          <a:p>
            <a:r>
              <a:rPr sz="850" b="0">
                <a:solidFill>
                  <a:srgbClr val="7F7F7F"/>
                </a:solidFill>
                <a:latin typeface="メイリオ"/>
                <a:ea typeface="メイリオ"/>
                <a:cs typeface="メイリオ"/>
              </a:rPr>
              <a:t>画面：ワクトリ様向けに作成したデモ（①ユーザーが見る画面／②裏側の処理）。求人はデモ用のサンプル</a:t>
            </a:r>
          </a:p>
        </p:txBody>
      </p:sp>
      <p:sp>
        <p:nvSpPr>
          <p:cNvPr id="91" name="四角形: 角を丸くする 15">
            <a:extLst>
              <a:ext uri="{FF2B5EF4-FFF2-40B4-BE49-F238E27FC236}">
                <a16:creationId xmlns:a16="http://schemas.microsoft.com/office/drawing/2014/main" id="{D8CB4BBB-DB36-4D1D-81B3-0D31B0562450}"/>
              </a:ext>
            </a:extLst>
          </p:cNvPr>
          <p:cNvSpPr/>
          <p:nvPr/>
        </p:nvSpPr>
        <p:spPr>
          <a:xfrm>
            <a:off x="6261879" y="3340608"/>
            <a:ext cx="3381226" cy="1392936"/>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2" name="四角形: 角を丸くする 15">
            <a:extLst>
              <a:ext uri="{FF2B5EF4-FFF2-40B4-BE49-F238E27FC236}">
                <a16:creationId xmlns:a16="http://schemas.microsoft.com/office/drawing/2014/main" id="{D8CB4BBB-DB36-4D1D-81B3-0D31B0562450}"/>
              </a:ext>
            </a:extLst>
          </p:cNvPr>
          <p:cNvSpPr/>
          <p:nvPr/>
        </p:nvSpPr>
        <p:spPr>
          <a:xfrm>
            <a:off x="6261879" y="4824984"/>
            <a:ext cx="3381226" cy="1392936"/>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8" name="TextBox 87"/>
          <p:cNvSpPr txBox="1"/>
          <p:nvPr/>
        </p:nvSpPr>
        <p:spPr>
          <a:xfrm>
            <a:off x="6371607" y="2192344"/>
            <a:ext cx="3161770" cy="720710"/>
          </a:xfrm>
          <a:prstGeom prst="rect">
            <a:avLst/>
          </a:prstGeom>
          <a:noFill/>
        </p:spPr>
        <p:txBody>
          <a:bodyPr wrap="square" anchor="ctr">
            <a:spAutoFit/>
          </a:bodyPr>
          <a:lstStyle/>
          <a:p>
            <a:pPr>
              <a:spcAft>
                <a:spcPts val="400"/>
              </a:spcAft>
            </a:pPr>
            <a:r>
              <a:rPr sz="1350" b="1" dirty="0" err="1">
                <a:solidFill>
                  <a:srgbClr val="1F2A5C"/>
                </a:solidFill>
                <a:latin typeface="メイリオ"/>
                <a:ea typeface="メイリオ"/>
                <a:cs typeface="メイリオ"/>
              </a:rPr>
              <a:t>入口</a:t>
            </a:r>
            <a:endParaRPr sz="1350" b="1" dirty="0">
              <a:solidFill>
                <a:srgbClr val="1F2A5C"/>
              </a:solidFill>
              <a:latin typeface="メイリオ"/>
              <a:ea typeface="メイリオ"/>
              <a:cs typeface="メイリオ"/>
            </a:endParaRPr>
          </a:p>
          <a:p>
            <a:r>
              <a:rPr sz="1200" b="0" dirty="0" err="1">
                <a:solidFill>
                  <a:srgbClr val="333333"/>
                </a:solidFill>
                <a:latin typeface="メイリオ"/>
                <a:ea typeface="メイリオ"/>
                <a:cs typeface="メイリオ"/>
              </a:rPr>
              <a:t>離れるときだけでなく</a:t>
            </a:r>
            <a:r>
              <a:rPr sz="1200" b="0" dirty="0">
                <a:solidFill>
                  <a:srgbClr val="333333"/>
                </a:solidFill>
                <a:latin typeface="メイリオ"/>
                <a:ea typeface="メイリオ"/>
                <a:cs typeface="メイリオ"/>
              </a:rPr>
              <a:t>、</a:t>
            </a:r>
          </a:p>
          <a:p>
            <a:r>
              <a:rPr sz="1200" b="0" dirty="0" err="1">
                <a:solidFill>
                  <a:srgbClr val="333333"/>
                </a:solidFill>
                <a:latin typeface="メイリオ"/>
                <a:ea typeface="メイリオ"/>
                <a:cs typeface="メイリオ"/>
              </a:rPr>
              <a:t>スクロールや滞在時間でも表示</a:t>
            </a:r>
            <a:endParaRPr sz="1200" b="0" dirty="0">
              <a:solidFill>
                <a:srgbClr val="333333"/>
              </a:solidFill>
              <a:latin typeface="メイリオ"/>
              <a:ea typeface="メイリオ"/>
              <a:cs typeface="メイリオ"/>
            </a:endParaRPr>
          </a:p>
        </p:txBody>
      </p:sp>
      <p:sp>
        <p:nvSpPr>
          <p:cNvPr id="89" name="TextBox 88"/>
          <p:cNvSpPr txBox="1"/>
          <p:nvPr/>
        </p:nvSpPr>
        <p:spPr>
          <a:xfrm>
            <a:off x="6371607" y="3676721"/>
            <a:ext cx="3161770" cy="720710"/>
          </a:xfrm>
          <a:prstGeom prst="rect">
            <a:avLst/>
          </a:prstGeom>
          <a:noFill/>
        </p:spPr>
        <p:txBody>
          <a:bodyPr wrap="square" anchor="ctr">
            <a:spAutoFit/>
          </a:bodyPr>
          <a:lstStyle/>
          <a:p>
            <a:pPr>
              <a:spcAft>
                <a:spcPts val="400"/>
              </a:spcAft>
            </a:pPr>
            <a:r>
              <a:rPr sz="1350" b="1" dirty="0" err="1">
                <a:solidFill>
                  <a:srgbClr val="1F2A5C"/>
                </a:solidFill>
                <a:latin typeface="メイリオ"/>
                <a:ea typeface="メイリオ"/>
                <a:cs typeface="メイリオ"/>
              </a:rPr>
              <a:t>LINEの仕組み</a:t>
            </a:r>
            <a:endParaRPr sz="1350" b="1" dirty="0">
              <a:solidFill>
                <a:srgbClr val="1F2A5C"/>
              </a:solidFill>
              <a:latin typeface="メイリオ"/>
              <a:ea typeface="メイリオ"/>
              <a:cs typeface="メイリオ"/>
            </a:endParaRPr>
          </a:p>
          <a:p>
            <a:r>
              <a:rPr sz="1200" b="0" dirty="0" err="1">
                <a:solidFill>
                  <a:srgbClr val="333333"/>
                </a:solidFill>
                <a:latin typeface="メイリオ"/>
                <a:ea typeface="メイリオ"/>
                <a:cs typeface="メイリオ"/>
              </a:rPr>
              <a:t>表示したページ（スキー場・海</a:t>
            </a:r>
            <a:r>
              <a:rPr sz="1200" b="0" dirty="0">
                <a:solidFill>
                  <a:srgbClr val="333333"/>
                </a:solidFill>
                <a:latin typeface="メイリオ"/>
                <a:ea typeface="メイリオ"/>
                <a:cs typeface="メイリオ"/>
              </a:rPr>
              <a:t>）</a:t>
            </a:r>
          </a:p>
          <a:p>
            <a:r>
              <a:rPr sz="1200" b="0" dirty="0" err="1">
                <a:solidFill>
                  <a:srgbClr val="333333"/>
                </a:solidFill>
                <a:latin typeface="メイリオ"/>
                <a:ea typeface="メイリオ"/>
                <a:cs typeface="メイリオ"/>
              </a:rPr>
              <a:t>で、追加後の求人を出し分ける</a:t>
            </a:r>
            <a:endParaRPr sz="1200" b="0" dirty="0">
              <a:solidFill>
                <a:srgbClr val="333333"/>
              </a:solidFill>
              <a:latin typeface="メイリオ"/>
              <a:ea typeface="メイリオ"/>
              <a:cs typeface="メイリオ"/>
            </a:endParaRPr>
          </a:p>
        </p:txBody>
      </p:sp>
      <p:sp>
        <p:nvSpPr>
          <p:cNvPr id="90" name="TextBox 89"/>
          <p:cNvSpPr txBox="1"/>
          <p:nvPr/>
        </p:nvSpPr>
        <p:spPr>
          <a:xfrm>
            <a:off x="6371607" y="5161097"/>
            <a:ext cx="3161770" cy="720710"/>
          </a:xfrm>
          <a:prstGeom prst="rect">
            <a:avLst/>
          </a:prstGeom>
          <a:noFill/>
        </p:spPr>
        <p:txBody>
          <a:bodyPr wrap="square" anchor="ctr">
            <a:spAutoFit/>
          </a:bodyPr>
          <a:lstStyle/>
          <a:p>
            <a:pPr>
              <a:spcAft>
                <a:spcPts val="400"/>
              </a:spcAft>
            </a:pPr>
            <a:r>
              <a:rPr sz="1350" b="1" dirty="0" err="1">
                <a:solidFill>
                  <a:srgbClr val="1F2A5C"/>
                </a:solidFill>
                <a:latin typeface="メイリオ"/>
                <a:ea typeface="メイリオ"/>
                <a:cs typeface="メイリオ"/>
              </a:rPr>
              <a:t>配信内容</a:t>
            </a:r>
            <a:endParaRPr sz="1350" b="1" dirty="0">
              <a:solidFill>
                <a:srgbClr val="1F2A5C"/>
              </a:solidFill>
              <a:latin typeface="メイリオ"/>
              <a:ea typeface="メイリオ"/>
              <a:cs typeface="メイリオ"/>
            </a:endParaRPr>
          </a:p>
          <a:p>
            <a:r>
              <a:rPr sz="1200" b="0" dirty="0">
                <a:solidFill>
                  <a:srgbClr val="333333"/>
                </a:solidFill>
                <a:latin typeface="メイリオ"/>
                <a:ea typeface="メイリオ"/>
                <a:cs typeface="メイリオ"/>
              </a:rPr>
              <a:t>「</a:t>
            </a:r>
            <a:r>
              <a:rPr sz="1200" b="0" dirty="0" err="1">
                <a:solidFill>
                  <a:srgbClr val="333333"/>
                </a:solidFill>
                <a:latin typeface="メイリオ"/>
                <a:ea typeface="メイリオ"/>
                <a:cs typeface="メイリオ"/>
              </a:rPr>
              <a:t>この求人に似た求人」や</a:t>
            </a:r>
            <a:endParaRPr sz="1200" b="0" dirty="0">
              <a:solidFill>
                <a:srgbClr val="333333"/>
              </a:solidFill>
              <a:latin typeface="メイリオ"/>
              <a:ea typeface="メイリオ"/>
              <a:cs typeface="メイリオ"/>
            </a:endParaRPr>
          </a:p>
          <a:p>
            <a:r>
              <a:rPr sz="1200" b="0" dirty="0" err="1">
                <a:solidFill>
                  <a:srgbClr val="333333"/>
                </a:solidFill>
                <a:latin typeface="メイリオ"/>
                <a:ea typeface="メイリオ"/>
                <a:cs typeface="メイリオ"/>
              </a:rPr>
              <a:t>締切が近い求人を届ける</a:t>
            </a:r>
            <a:endParaRPr sz="1200" b="0" dirty="0">
              <a:solidFill>
                <a:srgbClr val="333333"/>
              </a:solidFill>
              <a:latin typeface="メイリオ"/>
              <a:ea typeface="メイリオ"/>
              <a:cs typeface="メイリオ"/>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テキスト ボックス 47">
            <a:extLst>
              <a:ext uri="{FF2B5EF4-FFF2-40B4-BE49-F238E27FC236}">
                <a16:creationId xmlns:a16="http://schemas.microsoft.com/office/drawing/2014/main" id="{AFF39C41-BBAA-4AF0-A049-DFB0AE8E1584}"/>
              </a:ext>
            </a:extLst>
          </p:cNvPr>
          <p:cNvSpPr txBox="1">
            <a:spLocks noChangeArrowheads="1"/>
          </p:cNvSpPr>
          <p:nvPr/>
        </p:nvSpPr>
        <p:spPr bwMode="auto">
          <a:xfrm>
            <a:off x="456501" y="107813"/>
            <a:ext cx="7512385" cy="3650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tIns="72000">
            <a:spAutoFit/>
          </a:bodyPr>
          <a:lstStyle>
            <a:lvl1pPr>
              <a:defRPr kumimoji="1" sz="3200">
                <a:solidFill>
                  <a:schemeClr val="tx1"/>
                </a:solidFill>
                <a:latin typeface="Calibri" charset="0"/>
                <a:ea typeface="ＭＳ Ｐゴシック" charset="0"/>
                <a:cs typeface="ＭＳ Ｐゴシック" charset="0"/>
              </a:defRPr>
            </a:lvl1pPr>
            <a:lvl2pPr>
              <a:defRPr kumimoji="1" sz="2800">
                <a:solidFill>
                  <a:schemeClr val="tx1"/>
                </a:solidFill>
                <a:latin typeface="Calibri" charset="0"/>
                <a:ea typeface="ＭＳ Ｐゴシック" charset="0"/>
              </a:defRPr>
            </a:lvl2pPr>
            <a:lvl3pPr>
              <a:defRPr kumimoji="1" sz="2400">
                <a:solidFill>
                  <a:schemeClr val="tx1"/>
                </a:solidFill>
                <a:latin typeface="Calibri" charset="0"/>
                <a:ea typeface="ＭＳ Ｐゴシック" charset="0"/>
              </a:defRPr>
            </a:lvl3pPr>
            <a:lvl4pPr>
              <a:defRPr kumimoji="1" sz="2000">
                <a:solidFill>
                  <a:schemeClr val="tx1"/>
                </a:solidFill>
                <a:latin typeface="Calibri" charset="0"/>
                <a:ea typeface="ＭＳ Ｐゴシック" charset="0"/>
              </a:defRPr>
            </a:lvl4pPr>
            <a:lvl5pPr>
              <a:defRPr kumimoji="1" sz="2000">
                <a:solidFill>
                  <a:schemeClr val="tx1"/>
                </a:solidFill>
                <a:latin typeface="Calibri" charset="0"/>
                <a:ea typeface="ＭＳ Ｐゴシック" charset="0"/>
              </a:defRPr>
            </a:lvl5pPr>
            <a:lvl6pPr eaLnBrk="0" fontAlgn="base" hangingPunct="0">
              <a:spcAft>
                <a:spcPct val="0"/>
              </a:spcAft>
              <a:buFont typeface="Arial" charset="0"/>
              <a:buChar char="»"/>
              <a:defRPr kumimoji="1" sz="2000">
                <a:solidFill>
                  <a:schemeClr val="tx1"/>
                </a:solidFill>
                <a:latin typeface="Calibri" charset="0"/>
                <a:ea typeface="ＭＳ Ｐゴシック" charset="0"/>
              </a:defRPr>
            </a:lvl6pPr>
            <a:lvl7pPr eaLnBrk="0" fontAlgn="base" hangingPunct="0">
              <a:spcAft>
                <a:spcPct val="0"/>
              </a:spcAft>
              <a:buFont typeface="Arial" charset="0"/>
              <a:buChar char="»"/>
              <a:defRPr kumimoji="1" sz="2000">
                <a:solidFill>
                  <a:schemeClr val="tx1"/>
                </a:solidFill>
                <a:latin typeface="Calibri" charset="0"/>
                <a:ea typeface="ＭＳ Ｐゴシック" charset="0"/>
              </a:defRPr>
            </a:lvl7pPr>
            <a:lvl8pPr eaLnBrk="0" fontAlgn="base" hangingPunct="0">
              <a:spcAft>
                <a:spcPct val="0"/>
              </a:spcAft>
              <a:buFont typeface="Arial" charset="0"/>
              <a:buChar char="»"/>
              <a:defRPr kumimoji="1" sz="2000">
                <a:solidFill>
                  <a:schemeClr val="tx1"/>
                </a:solidFill>
                <a:latin typeface="Calibri" charset="0"/>
                <a:ea typeface="ＭＳ Ｐゴシック" charset="0"/>
              </a:defRPr>
            </a:lvl8pPr>
            <a:lvl9pPr eaLnBrk="0" fontAlgn="base" hangingPunct="0">
              <a:spcAft>
                <a:spcPct val="0"/>
              </a:spcAft>
              <a:buFont typeface="Arial" charset="0"/>
              <a:buChar char="»"/>
              <a:defRPr kumimoji="1" sz="2000">
                <a:solidFill>
                  <a:schemeClr val="tx1"/>
                </a:solidFill>
                <a:latin typeface="Calibri" charset="0"/>
                <a:ea typeface="ＭＳ Ｐゴシック" charset="0"/>
              </a:defRPr>
            </a:lvl9pPr>
          </a:lstStyle>
          <a:p>
            <a:pPr>
              <a:spcBef>
                <a:spcPct val="20000"/>
              </a:spcBef>
              <a:buFont typeface="Arial" charset="0"/>
              <a:buNone/>
            </a:pPr>
            <a:r>
              <a:rPr lang="ja-JP" altLang="en-US" sz="1600" b="1" dirty="0">
                <a:solidFill>
                  <a:srgbClr val="1F2A5C"/>
                </a:solidFill>
                <a:latin typeface="メイリオ"/>
                <a:ea typeface="メイリオ"/>
                <a:cs typeface="メイリオ"/>
              </a:rPr>
              <a:t>具体施策のイメージ</a:t>
            </a:r>
          </a:p>
        </p:txBody>
      </p:sp>
      <p:sp>
        <p:nvSpPr>
          <p:cNvPr id="5" name="正方形/長方形 4">
            <a:extLst>
              <a:ext uri="{FF2B5EF4-FFF2-40B4-BE49-F238E27FC236}">
                <a16:creationId xmlns:a16="http://schemas.microsoft.com/office/drawing/2014/main" id="{04911599-3976-0BE2-40B0-51ACC39CBFED}"/>
              </a:ext>
            </a:extLst>
          </p:cNvPr>
          <p:cNvSpPr/>
          <p:nvPr/>
        </p:nvSpPr>
        <p:spPr>
          <a:xfrm>
            <a:off x="2659553" y="109691"/>
            <a:ext cx="1992986" cy="326496"/>
          </a:xfrm>
          <a:prstGeom prst="rect">
            <a:avLst/>
          </a:prstGeom>
          <a:solidFill>
            <a:schemeClr val="tx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200" b="1" dirty="0">
                <a:solidFill>
                  <a:srgbClr val="FFFFFF"/>
                </a:solidFill>
                <a:latin typeface="メイリオ" panose="020B0604030504040204" pitchFamily="50" charset="-128"/>
                <a:ea typeface="メイリオ" panose="020B0604030504040204" pitchFamily="50" charset="-128"/>
              </a:rPr>
              <a:t>即時分類</a:t>
            </a:r>
          </a:p>
        </p:txBody>
      </p:sp>
      <p:sp>
        <p:nvSpPr>
          <p:cNvPr id="51" name="Chevron 13">
            <a:extLst>
              <a:ext uri="{FF2B5EF4-FFF2-40B4-BE49-F238E27FC236}">
                <a16:creationId xmlns:a16="http://schemas.microsoft.com/office/drawing/2014/main" id="{F4A886C9-FE65-EAF2-0560-7B118F2A0853}"/>
              </a:ext>
            </a:extLst>
          </p:cNvPr>
          <p:cNvSpPr/>
          <p:nvPr/>
        </p:nvSpPr>
        <p:spPr>
          <a:xfrm>
            <a:off x="7099344" y="795063"/>
            <a:ext cx="1482455" cy="731520"/>
          </a:xfrm>
          <a:prstGeom prst="chevron">
            <a:avLst/>
          </a:prstGeom>
          <a:solidFill>
            <a:schemeClr val="tx2">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55" name="Chevron 12">
            <a:extLst>
              <a:ext uri="{FF2B5EF4-FFF2-40B4-BE49-F238E27FC236}">
                <a16:creationId xmlns:a16="http://schemas.microsoft.com/office/drawing/2014/main" id="{38844DA0-F5E5-1A45-00EC-394320B24C31}"/>
              </a:ext>
            </a:extLst>
          </p:cNvPr>
          <p:cNvSpPr/>
          <p:nvPr/>
        </p:nvSpPr>
        <p:spPr>
          <a:xfrm>
            <a:off x="5939384" y="795063"/>
            <a:ext cx="1482455" cy="731520"/>
          </a:xfrm>
          <a:prstGeom prst="chevron">
            <a:avLst/>
          </a:prstGeom>
          <a:solidFill>
            <a:schemeClr val="accent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57" name="Chevron 11">
            <a:extLst>
              <a:ext uri="{FF2B5EF4-FFF2-40B4-BE49-F238E27FC236}">
                <a16:creationId xmlns:a16="http://schemas.microsoft.com/office/drawing/2014/main" id="{F724F92B-580B-B89B-155A-257BE4A243F8}"/>
              </a:ext>
            </a:extLst>
          </p:cNvPr>
          <p:cNvSpPr/>
          <p:nvPr/>
        </p:nvSpPr>
        <p:spPr>
          <a:xfrm>
            <a:off x="4779424" y="795063"/>
            <a:ext cx="1482455" cy="731520"/>
          </a:xfrm>
          <a:prstGeom prst="chevron">
            <a:avLst/>
          </a:prstGeom>
          <a:solidFill>
            <a:schemeClr val="accent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59" name="Chevron 13">
            <a:extLst>
              <a:ext uri="{FF2B5EF4-FFF2-40B4-BE49-F238E27FC236}">
                <a16:creationId xmlns:a16="http://schemas.microsoft.com/office/drawing/2014/main" id="{2FC80F6A-1EC7-915D-082F-12807C0FBB3F}"/>
              </a:ext>
            </a:extLst>
          </p:cNvPr>
          <p:cNvSpPr/>
          <p:nvPr/>
        </p:nvSpPr>
        <p:spPr>
          <a:xfrm>
            <a:off x="8259306" y="795063"/>
            <a:ext cx="1482455" cy="731520"/>
          </a:xfrm>
          <a:prstGeom prst="chevron">
            <a:avLst/>
          </a:prstGeom>
          <a:solidFill>
            <a:schemeClr val="tx2">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67" name="テキスト ボックス 66">
            <a:extLst>
              <a:ext uri="{FF2B5EF4-FFF2-40B4-BE49-F238E27FC236}">
                <a16:creationId xmlns:a16="http://schemas.microsoft.com/office/drawing/2014/main" id="{83FEBD46-AE15-A94C-5D92-AAB331223E06}"/>
              </a:ext>
            </a:extLst>
          </p:cNvPr>
          <p:cNvSpPr txBox="1"/>
          <p:nvPr/>
        </p:nvSpPr>
        <p:spPr>
          <a:xfrm>
            <a:off x="7420737" y="1030016"/>
            <a:ext cx="982079" cy="261610"/>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マネタイズ</a:t>
            </a:r>
          </a:p>
        </p:txBody>
      </p:sp>
      <p:sp>
        <p:nvSpPr>
          <p:cNvPr id="71" name="テキスト ボックス 70">
            <a:extLst>
              <a:ext uri="{FF2B5EF4-FFF2-40B4-BE49-F238E27FC236}">
                <a16:creationId xmlns:a16="http://schemas.microsoft.com/office/drawing/2014/main" id="{04C13BD3-240E-4D3F-E67B-71FB080F80EA}"/>
              </a:ext>
            </a:extLst>
          </p:cNvPr>
          <p:cNvSpPr txBox="1"/>
          <p:nvPr/>
        </p:nvSpPr>
        <p:spPr>
          <a:xfrm>
            <a:off x="5130427" y="945378"/>
            <a:ext cx="811635" cy="430887"/>
          </a:xfrm>
          <a:prstGeom prst="rect">
            <a:avLst/>
          </a:prstGeom>
          <a:solidFill>
            <a:schemeClr val="accent1">
              <a:lumMod val="75000"/>
            </a:schemeClr>
          </a:solid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有効</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リード化</a:t>
            </a:r>
          </a:p>
        </p:txBody>
      </p:sp>
      <p:sp>
        <p:nvSpPr>
          <p:cNvPr id="73" name="テキスト ボックス 72">
            <a:extLst>
              <a:ext uri="{FF2B5EF4-FFF2-40B4-BE49-F238E27FC236}">
                <a16:creationId xmlns:a16="http://schemas.microsoft.com/office/drawing/2014/main" id="{6F7EC4A8-A113-362B-E4F8-1ABE0311DEDC}"/>
              </a:ext>
            </a:extLst>
          </p:cNvPr>
          <p:cNvSpPr txBox="1"/>
          <p:nvPr/>
        </p:nvSpPr>
        <p:spPr>
          <a:xfrm>
            <a:off x="6301709" y="945379"/>
            <a:ext cx="811635" cy="430887"/>
          </a:xfrm>
          <a:prstGeom prst="rect">
            <a:avLst/>
          </a:prstGeom>
          <a:solidFill>
            <a:schemeClr val="accent1">
              <a:lumMod val="75000"/>
            </a:schemeClr>
          </a:solid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リード</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再育成</a:t>
            </a:r>
          </a:p>
        </p:txBody>
      </p:sp>
      <p:sp>
        <p:nvSpPr>
          <p:cNvPr id="75" name="テキスト ボックス 74">
            <a:extLst>
              <a:ext uri="{FF2B5EF4-FFF2-40B4-BE49-F238E27FC236}">
                <a16:creationId xmlns:a16="http://schemas.microsoft.com/office/drawing/2014/main" id="{44766F87-46C0-5918-4D18-E86304A53499}"/>
              </a:ext>
            </a:extLst>
          </p:cNvPr>
          <p:cNvSpPr txBox="1"/>
          <p:nvPr/>
        </p:nvSpPr>
        <p:spPr>
          <a:xfrm>
            <a:off x="8544744" y="945378"/>
            <a:ext cx="982079" cy="430887"/>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リピート</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クロスセル</a:t>
            </a:r>
          </a:p>
        </p:txBody>
      </p:sp>
      <p:sp>
        <p:nvSpPr>
          <p:cNvPr id="77" name="正方形/長方形 76">
            <a:extLst>
              <a:ext uri="{FF2B5EF4-FFF2-40B4-BE49-F238E27FC236}">
                <a16:creationId xmlns:a16="http://schemas.microsoft.com/office/drawing/2014/main" id="{9B95ECD3-1A7E-924D-3F0F-41FC24730C6B}"/>
              </a:ext>
            </a:extLst>
          </p:cNvPr>
          <p:cNvSpPr/>
          <p:nvPr/>
        </p:nvSpPr>
        <p:spPr>
          <a:xfrm>
            <a:off x="-15984" y="609190"/>
            <a:ext cx="9917132" cy="1034848"/>
          </a:xfrm>
          <a:prstGeom prst="rect">
            <a:avLst/>
          </a:prstGeom>
          <a:solidFill>
            <a:schemeClr val="bg1">
              <a:alpha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tLang="ja-JP" sz="1400" dirty="0">
              <a:solidFill>
                <a:schemeClr val="tx1"/>
              </a:solidFill>
              <a:latin typeface="メイリオ" panose="020B0604030504040204" pitchFamily="50" charset="-128"/>
              <a:ea typeface="メイリオ" panose="020B0604030504040204" pitchFamily="50" charset="-128"/>
            </a:endParaRPr>
          </a:p>
        </p:txBody>
      </p:sp>
      <p:sp>
        <p:nvSpPr>
          <p:cNvPr id="91" name="正方形/長方形 90">
            <a:extLst>
              <a:ext uri="{FF2B5EF4-FFF2-40B4-BE49-F238E27FC236}">
                <a16:creationId xmlns:a16="http://schemas.microsoft.com/office/drawing/2014/main" id="{23860B2B-6C5B-ADF7-C12E-AF8E17FF13BE}"/>
              </a:ext>
            </a:extLst>
          </p:cNvPr>
          <p:cNvSpPr/>
          <p:nvPr/>
        </p:nvSpPr>
        <p:spPr>
          <a:xfrm>
            <a:off x="-15984" y="645907"/>
            <a:ext cx="9930693" cy="1034848"/>
          </a:xfrm>
          <a:prstGeom prst="rect">
            <a:avLst/>
          </a:prstGeom>
          <a:solidFill>
            <a:schemeClr val="bg1">
              <a:lumMod val="95000"/>
              <a:alpha val="3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tLang="ja-JP" sz="1400" dirty="0">
              <a:solidFill>
                <a:schemeClr val="tx1"/>
              </a:solidFill>
              <a:latin typeface="メイリオ" panose="020B0604030504040204" pitchFamily="50" charset="-128"/>
              <a:ea typeface="メイリオ" panose="020B0604030504040204" pitchFamily="50" charset="-128"/>
            </a:endParaRPr>
          </a:p>
        </p:txBody>
      </p:sp>
      <p:sp>
        <p:nvSpPr>
          <p:cNvPr id="93" name="Pentagon 10">
            <a:extLst>
              <a:ext uri="{FF2B5EF4-FFF2-40B4-BE49-F238E27FC236}">
                <a16:creationId xmlns:a16="http://schemas.microsoft.com/office/drawing/2014/main" id="{B7A320F8-6ED0-8FDE-8D8D-FA43DDE77D55}"/>
              </a:ext>
            </a:extLst>
          </p:cNvPr>
          <p:cNvSpPr/>
          <p:nvPr/>
        </p:nvSpPr>
        <p:spPr>
          <a:xfrm>
            <a:off x="262895" y="795063"/>
            <a:ext cx="1360371" cy="731520"/>
          </a:xfrm>
          <a:prstGeom prst="homePlate">
            <a:avLst/>
          </a:prstGeom>
          <a:solidFill>
            <a:schemeClr val="bg1">
              <a:lumMod val="6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lang="en-US" altLang="ja-JP" sz="1300" b="1" dirty="0">
              <a:solidFill>
                <a:srgbClr val="FFFFFF"/>
              </a:solidFill>
              <a:latin typeface="メイリオ"/>
              <a:ea typeface="メイリオ"/>
              <a:cs typeface="メイリオ"/>
            </a:endParaRPr>
          </a:p>
        </p:txBody>
      </p:sp>
      <p:sp>
        <p:nvSpPr>
          <p:cNvPr id="95" name="Chevron 11">
            <a:extLst>
              <a:ext uri="{FF2B5EF4-FFF2-40B4-BE49-F238E27FC236}">
                <a16:creationId xmlns:a16="http://schemas.microsoft.com/office/drawing/2014/main" id="{6E5F2CF6-FF83-E04E-9531-1DC5EE779FAE}"/>
              </a:ext>
            </a:extLst>
          </p:cNvPr>
          <p:cNvSpPr/>
          <p:nvPr/>
        </p:nvSpPr>
        <p:spPr>
          <a:xfrm>
            <a:off x="1299544" y="795063"/>
            <a:ext cx="1482455" cy="731520"/>
          </a:xfrm>
          <a:prstGeom prst="chevron">
            <a:avLst/>
          </a:prstGeom>
          <a:solidFill>
            <a:schemeClr val="accent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97" name="Chevron 11">
            <a:extLst>
              <a:ext uri="{FF2B5EF4-FFF2-40B4-BE49-F238E27FC236}">
                <a16:creationId xmlns:a16="http://schemas.microsoft.com/office/drawing/2014/main" id="{B164AAA0-8B15-6967-1000-89ADA1733066}"/>
              </a:ext>
            </a:extLst>
          </p:cNvPr>
          <p:cNvSpPr/>
          <p:nvPr/>
        </p:nvSpPr>
        <p:spPr>
          <a:xfrm>
            <a:off x="2459504" y="795063"/>
            <a:ext cx="1482455" cy="731520"/>
          </a:xfrm>
          <a:prstGeom prst="chevron">
            <a:avLst/>
          </a:prstGeom>
          <a:solidFill>
            <a:schemeClr val="accent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99" name="テキスト ボックス 98">
            <a:extLst>
              <a:ext uri="{FF2B5EF4-FFF2-40B4-BE49-F238E27FC236}">
                <a16:creationId xmlns:a16="http://schemas.microsoft.com/office/drawing/2014/main" id="{D77B323D-2B30-D972-4650-75C5772F0DFD}"/>
              </a:ext>
            </a:extLst>
          </p:cNvPr>
          <p:cNvSpPr txBox="1"/>
          <p:nvPr/>
        </p:nvSpPr>
        <p:spPr>
          <a:xfrm>
            <a:off x="1616581" y="945379"/>
            <a:ext cx="811635" cy="430887"/>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サイト</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離脱</a:t>
            </a:r>
          </a:p>
        </p:txBody>
      </p:sp>
      <p:sp>
        <p:nvSpPr>
          <p:cNvPr id="101" name="テキスト ボックス 100">
            <a:extLst>
              <a:ext uri="{FF2B5EF4-FFF2-40B4-BE49-F238E27FC236}">
                <a16:creationId xmlns:a16="http://schemas.microsoft.com/office/drawing/2014/main" id="{8596EDD7-92C6-DCF0-41B5-5C2035C55EF9}"/>
              </a:ext>
            </a:extLst>
          </p:cNvPr>
          <p:cNvSpPr txBox="1"/>
          <p:nvPr/>
        </p:nvSpPr>
        <p:spPr>
          <a:xfrm>
            <a:off x="2787863" y="1030016"/>
            <a:ext cx="811635" cy="261610"/>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育成</a:t>
            </a:r>
          </a:p>
        </p:txBody>
      </p:sp>
      <p:sp>
        <p:nvSpPr>
          <p:cNvPr id="103" name="テキスト ボックス 102">
            <a:extLst>
              <a:ext uri="{FF2B5EF4-FFF2-40B4-BE49-F238E27FC236}">
                <a16:creationId xmlns:a16="http://schemas.microsoft.com/office/drawing/2014/main" id="{D8D0F28C-4241-75CC-7936-4CB65160DD9F}"/>
              </a:ext>
            </a:extLst>
          </p:cNvPr>
          <p:cNvSpPr txBox="1"/>
          <p:nvPr/>
        </p:nvSpPr>
        <p:spPr>
          <a:xfrm>
            <a:off x="445299" y="1030016"/>
            <a:ext cx="811635" cy="261610"/>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接触</a:t>
            </a:r>
          </a:p>
        </p:txBody>
      </p:sp>
      <p:sp>
        <p:nvSpPr>
          <p:cNvPr id="105" name="Chevron 12">
            <a:extLst>
              <a:ext uri="{FF2B5EF4-FFF2-40B4-BE49-F238E27FC236}">
                <a16:creationId xmlns:a16="http://schemas.microsoft.com/office/drawing/2014/main" id="{1EFB2CD0-8FEA-F120-3BD8-EB2D15D982D1}"/>
              </a:ext>
            </a:extLst>
          </p:cNvPr>
          <p:cNvSpPr/>
          <p:nvPr/>
        </p:nvSpPr>
        <p:spPr>
          <a:xfrm>
            <a:off x="3619464" y="795063"/>
            <a:ext cx="1482455" cy="731520"/>
          </a:xfrm>
          <a:prstGeom prst="chevron">
            <a:avLst/>
          </a:prstGeom>
          <a:solidFill>
            <a:schemeClr val="accent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107" name="テキスト ボックス 106">
            <a:extLst>
              <a:ext uri="{FF2B5EF4-FFF2-40B4-BE49-F238E27FC236}">
                <a16:creationId xmlns:a16="http://schemas.microsoft.com/office/drawing/2014/main" id="{D63C1B14-4B6B-558C-38F0-B4738CA178DB}"/>
              </a:ext>
            </a:extLst>
          </p:cNvPr>
          <p:cNvSpPr txBox="1"/>
          <p:nvPr/>
        </p:nvSpPr>
        <p:spPr>
          <a:xfrm>
            <a:off x="3959145" y="945379"/>
            <a:ext cx="811635" cy="430887"/>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リード</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獲得</a:t>
            </a:r>
          </a:p>
        </p:txBody>
      </p:sp>
      <p:sp>
        <p:nvSpPr>
          <p:cNvPr id="4" name="四角形: 角を丸くする 3">
            <a:extLst>
              <a:ext uri="{FF2B5EF4-FFF2-40B4-BE49-F238E27FC236}">
                <a16:creationId xmlns:a16="http://schemas.microsoft.com/office/drawing/2014/main" id="{3F141C4D-4CEC-0747-B5CB-58BA10FE3830}"/>
              </a:ext>
            </a:extLst>
          </p:cNvPr>
          <p:cNvSpPr/>
          <p:nvPr/>
        </p:nvSpPr>
        <p:spPr>
          <a:xfrm>
            <a:off x="262895" y="1854926"/>
            <a:ext cx="5885356" cy="435716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 name="四角形: 角を丸くする 6">
            <a:extLst>
              <a:ext uri="{FF2B5EF4-FFF2-40B4-BE49-F238E27FC236}">
                <a16:creationId xmlns:a16="http://schemas.microsoft.com/office/drawing/2014/main" id="{0BC92DCD-F746-7AC5-0C7C-F6039EE861BE}"/>
              </a:ext>
            </a:extLst>
          </p:cNvPr>
          <p:cNvSpPr/>
          <p:nvPr/>
        </p:nvSpPr>
        <p:spPr>
          <a:xfrm>
            <a:off x="6261879" y="1856231"/>
            <a:ext cx="3381226" cy="1392936"/>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8" name="TextBox 107"/>
          <p:cNvSpPr txBox="1"/>
          <p:nvPr/>
        </p:nvSpPr>
        <p:spPr>
          <a:xfrm>
            <a:off x="411480" y="1965959"/>
            <a:ext cx="5577840" cy="685800"/>
          </a:xfrm>
          <a:prstGeom prst="rect">
            <a:avLst/>
          </a:prstGeom>
          <a:noFill/>
        </p:spPr>
        <p:txBody>
          <a:bodyPr wrap="square" lIns="36000" tIns="10800" rIns="36000" bIns="10800" anchor="t">
            <a:spAutoFit/>
          </a:bodyPr>
          <a:lstStyle/>
          <a:p>
            <a:pPr algn="l">
              <a:lnSpc>
                <a:spcPct val="105000"/>
              </a:lnSpc>
              <a:spcAft>
                <a:spcPts val="200"/>
              </a:spcAft>
            </a:pPr>
            <a:r>
              <a:rPr sz="1600" b="1">
                <a:solidFill>
                  <a:srgbClr val="1F2A5C"/>
                </a:solidFill>
                <a:latin typeface="メイリオ"/>
                <a:ea typeface="メイリオ"/>
                <a:cs typeface="メイリオ"/>
              </a:rPr>
              <a:t>適正バイト診断</a:t>
            </a:r>
          </a:p>
          <a:p>
            <a:pPr algn="l">
              <a:lnSpc>
                <a:spcPct val="105000"/>
              </a:lnSpc>
              <a:spcAft>
                <a:spcPts val="200"/>
              </a:spcAft>
            </a:pPr>
            <a:r>
              <a:rPr sz="1200" b="0">
                <a:solidFill>
                  <a:srgbClr val="333333"/>
                </a:solidFill>
                <a:latin typeface="メイリオ"/>
                <a:ea typeface="メイリオ"/>
                <a:cs typeface="メイリオ"/>
              </a:rPr>
              <a:t>今のアンケート3問の答えで、合う求人を出す</a:t>
            </a:r>
          </a:p>
        </p:txBody>
      </p:sp>
      <p:pic>
        <p:nvPicPr>
          <p:cNvPr id="109" name="Picture 108" descr="demo_p29.png"/>
          <p:cNvPicPr>
            <a:picLocks noChangeAspect="1"/>
          </p:cNvPicPr>
          <p:nvPr/>
        </p:nvPicPr>
        <p:blipFill>
          <a:blip r:embed="rId2"/>
          <a:stretch>
            <a:fillRect/>
          </a:stretch>
        </p:blipFill>
        <p:spPr>
          <a:xfrm>
            <a:off x="1243309" y="2651760"/>
            <a:ext cx="3932468" cy="3310128"/>
          </a:xfrm>
          <a:prstGeom prst="rect">
            <a:avLst/>
          </a:prstGeom>
          <a:ln w="9525">
            <a:solidFill>
              <a:srgbClr val="D9D9D9"/>
            </a:solidFill>
          </a:ln>
        </p:spPr>
      </p:pic>
      <p:sp>
        <p:nvSpPr>
          <p:cNvPr id="110" name="TextBox 109"/>
          <p:cNvSpPr txBox="1"/>
          <p:nvPr/>
        </p:nvSpPr>
        <p:spPr>
          <a:xfrm>
            <a:off x="411480" y="5971032"/>
            <a:ext cx="5577840" cy="219456"/>
          </a:xfrm>
          <a:prstGeom prst="rect">
            <a:avLst/>
          </a:prstGeom>
          <a:noFill/>
        </p:spPr>
        <p:txBody>
          <a:bodyPr wrap="none">
            <a:spAutoFit/>
          </a:bodyPr>
          <a:lstStyle/>
          <a:p>
            <a:r>
              <a:rPr sz="850" b="0">
                <a:solidFill>
                  <a:srgbClr val="7F7F7F"/>
                </a:solidFill>
                <a:latin typeface="メイリオ"/>
                <a:ea typeface="メイリオ"/>
                <a:cs typeface="メイリオ"/>
              </a:rPr>
              <a:t>画面：ワクトリ様向けに作成したデモ（①ユーザーが見る画面／②裏側の処理）。求人はデモ用のサンプル</a:t>
            </a:r>
          </a:p>
        </p:txBody>
      </p:sp>
      <p:sp>
        <p:nvSpPr>
          <p:cNvPr id="114" name="四角形: 角を丸くする 6">
            <a:extLst>
              <a:ext uri="{FF2B5EF4-FFF2-40B4-BE49-F238E27FC236}">
                <a16:creationId xmlns:a16="http://schemas.microsoft.com/office/drawing/2014/main" id="{0BC92DCD-F746-7AC5-0C7C-F6039EE861BE}"/>
              </a:ext>
            </a:extLst>
          </p:cNvPr>
          <p:cNvSpPr/>
          <p:nvPr/>
        </p:nvSpPr>
        <p:spPr>
          <a:xfrm>
            <a:off x="6261879" y="3340608"/>
            <a:ext cx="3381226" cy="1392936"/>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15" name="四角形: 角を丸くする 6">
            <a:extLst>
              <a:ext uri="{FF2B5EF4-FFF2-40B4-BE49-F238E27FC236}">
                <a16:creationId xmlns:a16="http://schemas.microsoft.com/office/drawing/2014/main" id="{0BC92DCD-F746-7AC5-0C7C-F6039EE861BE}"/>
              </a:ext>
            </a:extLst>
          </p:cNvPr>
          <p:cNvSpPr/>
          <p:nvPr/>
        </p:nvSpPr>
        <p:spPr>
          <a:xfrm>
            <a:off x="6261879" y="4824984"/>
            <a:ext cx="3381226" cy="1392936"/>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11" name="TextBox 110"/>
          <p:cNvSpPr txBox="1"/>
          <p:nvPr/>
        </p:nvSpPr>
        <p:spPr>
          <a:xfrm>
            <a:off x="6371607" y="2192344"/>
            <a:ext cx="3161770" cy="720710"/>
          </a:xfrm>
          <a:prstGeom prst="rect">
            <a:avLst/>
          </a:prstGeom>
          <a:noFill/>
        </p:spPr>
        <p:txBody>
          <a:bodyPr wrap="square" anchor="ctr">
            <a:spAutoFit/>
          </a:bodyPr>
          <a:lstStyle/>
          <a:p>
            <a:pPr>
              <a:spcAft>
                <a:spcPts val="400"/>
              </a:spcAft>
            </a:pPr>
            <a:r>
              <a:rPr sz="1350" b="1" dirty="0" err="1">
                <a:solidFill>
                  <a:srgbClr val="1F2A5C"/>
                </a:solidFill>
                <a:latin typeface="メイリオ"/>
                <a:ea typeface="メイリオ"/>
                <a:cs typeface="メイリオ"/>
              </a:rPr>
              <a:t>入口</a:t>
            </a:r>
            <a:endParaRPr sz="1350" b="1" dirty="0">
              <a:solidFill>
                <a:srgbClr val="1F2A5C"/>
              </a:solidFill>
              <a:latin typeface="メイリオ"/>
              <a:ea typeface="メイリオ"/>
              <a:cs typeface="メイリオ"/>
            </a:endParaRPr>
          </a:p>
          <a:p>
            <a:r>
              <a:rPr sz="1200" b="0" dirty="0" err="1">
                <a:solidFill>
                  <a:srgbClr val="333333"/>
                </a:solidFill>
                <a:latin typeface="メイリオ"/>
                <a:ea typeface="メイリオ"/>
                <a:cs typeface="メイリオ"/>
              </a:rPr>
              <a:t>リッチメニューや配信から</a:t>
            </a:r>
            <a:r>
              <a:rPr sz="1200" b="0" dirty="0">
                <a:solidFill>
                  <a:srgbClr val="333333"/>
                </a:solidFill>
                <a:latin typeface="メイリオ"/>
                <a:ea typeface="メイリオ"/>
                <a:cs typeface="メイリオ"/>
              </a:rPr>
              <a:t>、</a:t>
            </a:r>
          </a:p>
          <a:p>
            <a:r>
              <a:rPr sz="1200" b="0" dirty="0" err="1">
                <a:solidFill>
                  <a:srgbClr val="333333"/>
                </a:solidFill>
                <a:latin typeface="メイリオ"/>
                <a:ea typeface="メイリオ"/>
                <a:cs typeface="メイリオ"/>
              </a:rPr>
              <a:t>いつでも診断をやり直せる</a:t>
            </a:r>
            <a:endParaRPr sz="1200" b="0" dirty="0">
              <a:solidFill>
                <a:srgbClr val="333333"/>
              </a:solidFill>
              <a:latin typeface="メイリオ"/>
              <a:ea typeface="メイリオ"/>
              <a:cs typeface="メイリオ"/>
            </a:endParaRPr>
          </a:p>
        </p:txBody>
      </p:sp>
      <p:sp>
        <p:nvSpPr>
          <p:cNvPr id="112" name="TextBox 111"/>
          <p:cNvSpPr txBox="1"/>
          <p:nvPr/>
        </p:nvSpPr>
        <p:spPr>
          <a:xfrm>
            <a:off x="6371607" y="3676721"/>
            <a:ext cx="3161770" cy="720710"/>
          </a:xfrm>
          <a:prstGeom prst="rect">
            <a:avLst/>
          </a:prstGeom>
          <a:noFill/>
        </p:spPr>
        <p:txBody>
          <a:bodyPr wrap="square" anchor="ctr">
            <a:spAutoFit/>
          </a:bodyPr>
          <a:lstStyle/>
          <a:p>
            <a:pPr>
              <a:spcAft>
                <a:spcPts val="400"/>
              </a:spcAft>
            </a:pPr>
            <a:r>
              <a:rPr sz="1350" b="1" dirty="0" err="1">
                <a:solidFill>
                  <a:srgbClr val="1F2A5C"/>
                </a:solidFill>
                <a:latin typeface="メイリオ"/>
                <a:ea typeface="メイリオ"/>
                <a:cs typeface="メイリオ"/>
              </a:rPr>
              <a:t>LINEの仕組み</a:t>
            </a:r>
            <a:endParaRPr sz="1350" b="1" dirty="0">
              <a:solidFill>
                <a:srgbClr val="1F2A5C"/>
              </a:solidFill>
              <a:latin typeface="メイリオ"/>
              <a:ea typeface="メイリオ"/>
              <a:cs typeface="メイリオ"/>
            </a:endParaRPr>
          </a:p>
          <a:p>
            <a:r>
              <a:rPr sz="1200" b="0" dirty="0" err="1">
                <a:solidFill>
                  <a:srgbClr val="333333"/>
                </a:solidFill>
                <a:latin typeface="メイリオ"/>
                <a:ea typeface="メイリオ"/>
                <a:cs typeface="メイリオ"/>
              </a:rPr>
              <a:t>重視したいポイント（立地</a:t>
            </a:r>
            <a:r>
              <a:rPr sz="1200" b="0" dirty="0">
                <a:solidFill>
                  <a:srgbClr val="333333"/>
                </a:solidFill>
                <a:latin typeface="メイリオ"/>
                <a:ea typeface="メイリオ"/>
                <a:cs typeface="メイリオ"/>
              </a:rPr>
              <a:t>・</a:t>
            </a:r>
          </a:p>
          <a:p>
            <a:r>
              <a:rPr sz="1200" b="0" dirty="0" err="1">
                <a:solidFill>
                  <a:srgbClr val="333333"/>
                </a:solidFill>
                <a:latin typeface="メイリオ"/>
                <a:ea typeface="メイリオ"/>
                <a:cs typeface="メイリオ"/>
              </a:rPr>
              <a:t>稼げる・出会い・住環境）も聞く</a:t>
            </a:r>
            <a:endParaRPr sz="1200" b="0" dirty="0">
              <a:solidFill>
                <a:srgbClr val="333333"/>
              </a:solidFill>
              <a:latin typeface="メイリオ"/>
              <a:ea typeface="メイリオ"/>
              <a:cs typeface="メイリオ"/>
            </a:endParaRPr>
          </a:p>
        </p:txBody>
      </p:sp>
      <p:sp>
        <p:nvSpPr>
          <p:cNvPr id="113" name="TextBox 112"/>
          <p:cNvSpPr txBox="1"/>
          <p:nvPr/>
        </p:nvSpPr>
        <p:spPr>
          <a:xfrm>
            <a:off x="6371607" y="5161097"/>
            <a:ext cx="3161770" cy="720710"/>
          </a:xfrm>
          <a:prstGeom prst="rect">
            <a:avLst/>
          </a:prstGeom>
          <a:noFill/>
        </p:spPr>
        <p:txBody>
          <a:bodyPr wrap="square" anchor="ctr">
            <a:spAutoFit/>
          </a:bodyPr>
          <a:lstStyle/>
          <a:p>
            <a:pPr>
              <a:spcAft>
                <a:spcPts val="400"/>
              </a:spcAft>
            </a:pPr>
            <a:r>
              <a:rPr sz="1350" b="1" dirty="0" err="1">
                <a:solidFill>
                  <a:srgbClr val="1F2A5C"/>
                </a:solidFill>
                <a:latin typeface="メイリオ"/>
                <a:ea typeface="メイリオ"/>
                <a:cs typeface="メイリオ"/>
              </a:rPr>
              <a:t>配信内容</a:t>
            </a:r>
            <a:endParaRPr sz="1350" b="1" dirty="0">
              <a:solidFill>
                <a:srgbClr val="1F2A5C"/>
              </a:solidFill>
              <a:latin typeface="メイリオ"/>
              <a:ea typeface="メイリオ"/>
              <a:cs typeface="メイリオ"/>
            </a:endParaRPr>
          </a:p>
          <a:p>
            <a:r>
              <a:rPr sz="1200" b="0" dirty="0" err="1">
                <a:solidFill>
                  <a:srgbClr val="333333"/>
                </a:solidFill>
                <a:latin typeface="メイリオ"/>
                <a:ea typeface="メイリオ"/>
                <a:cs typeface="メイリオ"/>
              </a:rPr>
              <a:t>結果に合う働き方のタイプと</a:t>
            </a:r>
            <a:endParaRPr sz="1200" b="0" dirty="0">
              <a:solidFill>
                <a:srgbClr val="333333"/>
              </a:solidFill>
              <a:latin typeface="メイリオ"/>
              <a:ea typeface="メイリオ"/>
              <a:cs typeface="メイリオ"/>
            </a:endParaRPr>
          </a:p>
          <a:p>
            <a:r>
              <a:rPr sz="1200" b="0" dirty="0" err="1">
                <a:solidFill>
                  <a:srgbClr val="333333"/>
                </a:solidFill>
                <a:latin typeface="メイリオ"/>
                <a:ea typeface="メイリオ"/>
                <a:cs typeface="メイリオ"/>
              </a:rPr>
              <a:t>体験談を一緒に届ける</a:t>
            </a:r>
            <a:endParaRPr sz="1200" b="0" dirty="0">
              <a:solidFill>
                <a:srgbClr val="333333"/>
              </a:solidFill>
              <a:latin typeface="メイリオ"/>
              <a:ea typeface="メイリオ"/>
              <a:cs typeface="メイリオ"/>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テキスト ボックス 47">
            <a:extLst>
              <a:ext uri="{FF2B5EF4-FFF2-40B4-BE49-F238E27FC236}">
                <a16:creationId xmlns:a16="http://schemas.microsoft.com/office/drawing/2014/main" id="{C55FD271-DD54-8C2A-3532-3C2A03D95615}"/>
              </a:ext>
            </a:extLst>
          </p:cNvPr>
          <p:cNvSpPr txBox="1">
            <a:spLocks noChangeArrowheads="1"/>
          </p:cNvSpPr>
          <p:nvPr/>
        </p:nvSpPr>
        <p:spPr bwMode="auto">
          <a:xfrm>
            <a:off x="456501" y="107813"/>
            <a:ext cx="7512385" cy="3650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tIns="72000">
            <a:spAutoFit/>
          </a:bodyPr>
          <a:lstStyle>
            <a:lvl1pPr>
              <a:defRPr kumimoji="1" sz="3200">
                <a:solidFill>
                  <a:schemeClr val="tx1"/>
                </a:solidFill>
                <a:latin typeface="Calibri" charset="0"/>
                <a:ea typeface="ＭＳ Ｐゴシック" charset="0"/>
                <a:cs typeface="ＭＳ Ｐゴシック" charset="0"/>
              </a:defRPr>
            </a:lvl1pPr>
            <a:lvl2pPr>
              <a:defRPr kumimoji="1" sz="2800">
                <a:solidFill>
                  <a:schemeClr val="tx1"/>
                </a:solidFill>
                <a:latin typeface="Calibri" charset="0"/>
                <a:ea typeface="ＭＳ Ｐゴシック" charset="0"/>
              </a:defRPr>
            </a:lvl2pPr>
            <a:lvl3pPr>
              <a:defRPr kumimoji="1" sz="2400">
                <a:solidFill>
                  <a:schemeClr val="tx1"/>
                </a:solidFill>
                <a:latin typeface="Calibri" charset="0"/>
                <a:ea typeface="ＭＳ Ｐゴシック" charset="0"/>
              </a:defRPr>
            </a:lvl3pPr>
            <a:lvl4pPr>
              <a:defRPr kumimoji="1" sz="2000">
                <a:solidFill>
                  <a:schemeClr val="tx1"/>
                </a:solidFill>
                <a:latin typeface="Calibri" charset="0"/>
                <a:ea typeface="ＭＳ Ｐゴシック" charset="0"/>
              </a:defRPr>
            </a:lvl4pPr>
            <a:lvl5pPr>
              <a:defRPr kumimoji="1" sz="2000">
                <a:solidFill>
                  <a:schemeClr val="tx1"/>
                </a:solidFill>
                <a:latin typeface="Calibri" charset="0"/>
                <a:ea typeface="ＭＳ Ｐゴシック" charset="0"/>
              </a:defRPr>
            </a:lvl5pPr>
            <a:lvl6pPr eaLnBrk="0" fontAlgn="base" hangingPunct="0">
              <a:spcAft>
                <a:spcPct val="0"/>
              </a:spcAft>
              <a:buFont typeface="Arial" charset="0"/>
              <a:buChar char="»"/>
              <a:defRPr kumimoji="1" sz="2000">
                <a:solidFill>
                  <a:schemeClr val="tx1"/>
                </a:solidFill>
                <a:latin typeface="Calibri" charset="0"/>
                <a:ea typeface="ＭＳ Ｐゴシック" charset="0"/>
              </a:defRPr>
            </a:lvl6pPr>
            <a:lvl7pPr eaLnBrk="0" fontAlgn="base" hangingPunct="0">
              <a:spcAft>
                <a:spcPct val="0"/>
              </a:spcAft>
              <a:buFont typeface="Arial" charset="0"/>
              <a:buChar char="»"/>
              <a:defRPr kumimoji="1" sz="2000">
                <a:solidFill>
                  <a:schemeClr val="tx1"/>
                </a:solidFill>
                <a:latin typeface="Calibri" charset="0"/>
                <a:ea typeface="ＭＳ Ｐゴシック" charset="0"/>
              </a:defRPr>
            </a:lvl7pPr>
            <a:lvl8pPr eaLnBrk="0" fontAlgn="base" hangingPunct="0">
              <a:spcAft>
                <a:spcPct val="0"/>
              </a:spcAft>
              <a:buFont typeface="Arial" charset="0"/>
              <a:buChar char="»"/>
              <a:defRPr kumimoji="1" sz="2000">
                <a:solidFill>
                  <a:schemeClr val="tx1"/>
                </a:solidFill>
                <a:latin typeface="Calibri" charset="0"/>
                <a:ea typeface="ＭＳ Ｐゴシック" charset="0"/>
              </a:defRPr>
            </a:lvl8pPr>
            <a:lvl9pPr eaLnBrk="0" fontAlgn="base" hangingPunct="0">
              <a:spcAft>
                <a:spcPct val="0"/>
              </a:spcAft>
              <a:buFont typeface="Arial" charset="0"/>
              <a:buChar char="»"/>
              <a:defRPr kumimoji="1" sz="2000">
                <a:solidFill>
                  <a:schemeClr val="tx1"/>
                </a:solidFill>
                <a:latin typeface="Calibri" charset="0"/>
                <a:ea typeface="ＭＳ Ｐゴシック" charset="0"/>
              </a:defRPr>
            </a:lvl9pPr>
          </a:lstStyle>
          <a:p>
            <a:pPr>
              <a:spcBef>
                <a:spcPct val="20000"/>
              </a:spcBef>
              <a:buFont typeface="Arial" charset="0"/>
              <a:buNone/>
            </a:pPr>
            <a:r>
              <a:rPr lang="ja-JP" altLang="en-US" sz="1600" b="1" dirty="0">
                <a:solidFill>
                  <a:srgbClr val="1F2A5C"/>
                </a:solidFill>
                <a:latin typeface="メイリオ"/>
                <a:ea typeface="メイリオ"/>
                <a:cs typeface="メイリオ"/>
              </a:rPr>
              <a:t>具体施策のイメージ</a:t>
            </a:r>
          </a:p>
        </p:txBody>
      </p:sp>
      <p:sp>
        <p:nvSpPr>
          <p:cNvPr id="5" name="正方形/長方形 4">
            <a:extLst>
              <a:ext uri="{FF2B5EF4-FFF2-40B4-BE49-F238E27FC236}">
                <a16:creationId xmlns:a16="http://schemas.microsoft.com/office/drawing/2014/main" id="{CAEED6D7-2A94-A6CB-0BBE-334005590BEA}"/>
              </a:ext>
            </a:extLst>
          </p:cNvPr>
          <p:cNvSpPr/>
          <p:nvPr/>
        </p:nvSpPr>
        <p:spPr>
          <a:xfrm>
            <a:off x="2659553" y="109691"/>
            <a:ext cx="1992986" cy="326496"/>
          </a:xfrm>
          <a:prstGeom prst="rect">
            <a:avLst/>
          </a:prstGeom>
          <a:solidFill>
            <a:schemeClr val="tx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200" b="1" dirty="0">
                <a:solidFill>
                  <a:srgbClr val="FFFFFF"/>
                </a:solidFill>
                <a:latin typeface="メイリオ" panose="020B0604030504040204" pitchFamily="50" charset="-128"/>
                <a:ea typeface="メイリオ" panose="020B0604030504040204" pitchFamily="50" charset="-128"/>
              </a:rPr>
              <a:t>分岐育成</a:t>
            </a:r>
          </a:p>
        </p:txBody>
      </p:sp>
      <p:sp>
        <p:nvSpPr>
          <p:cNvPr id="51" name="Chevron 13">
            <a:extLst>
              <a:ext uri="{FF2B5EF4-FFF2-40B4-BE49-F238E27FC236}">
                <a16:creationId xmlns:a16="http://schemas.microsoft.com/office/drawing/2014/main" id="{1D355FA4-4572-41DB-ADDB-72C9328CFA54}"/>
              </a:ext>
            </a:extLst>
          </p:cNvPr>
          <p:cNvSpPr/>
          <p:nvPr/>
        </p:nvSpPr>
        <p:spPr>
          <a:xfrm>
            <a:off x="7099344" y="795063"/>
            <a:ext cx="1482455" cy="731520"/>
          </a:xfrm>
          <a:prstGeom prst="chevron">
            <a:avLst/>
          </a:prstGeom>
          <a:solidFill>
            <a:schemeClr val="tx2">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55" name="Chevron 12">
            <a:extLst>
              <a:ext uri="{FF2B5EF4-FFF2-40B4-BE49-F238E27FC236}">
                <a16:creationId xmlns:a16="http://schemas.microsoft.com/office/drawing/2014/main" id="{35692A60-CF72-AD98-4C83-9F592CF492E0}"/>
              </a:ext>
            </a:extLst>
          </p:cNvPr>
          <p:cNvSpPr/>
          <p:nvPr/>
        </p:nvSpPr>
        <p:spPr>
          <a:xfrm>
            <a:off x="5939384" y="795063"/>
            <a:ext cx="1482455" cy="731520"/>
          </a:xfrm>
          <a:prstGeom prst="chevron">
            <a:avLst/>
          </a:prstGeom>
          <a:solidFill>
            <a:schemeClr val="accent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59" name="Chevron 13">
            <a:extLst>
              <a:ext uri="{FF2B5EF4-FFF2-40B4-BE49-F238E27FC236}">
                <a16:creationId xmlns:a16="http://schemas.microsoft.com/office/drawing/2014/main" id="{66C0F59A-8A6F-2FF8-83E3-2F298F1F2AC0}"/>
              </a:ext>
            </a:extLst>
          </p:cNvPr>
          <p:cNvSpPr/>
          <p:nvPr/>
        </p:nvSpPr>
        <p:spPr>
          <a:xfrm>
            <a:off x="8259306" y="795063"/>
            <a:ext cx="1482455" cy="731520"/>
          </a:xfrm>
          <a:prstGeom prst="chevron">
            <a:avLst/>
          </a:prstGeom>
          <a:solidFill>
            <a:schemeClr val="tx2">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67" name="テキスト ボックス 66">
            <a:extLst>
              <a:ext uri="{FF2B5EF4-FFF2-40B4-BE49-F238E27FC236}">
                <a16:creationId xmlns:a16="http://schemas.microsoft.com/office/drawing/2014/main" id="{55D40F01-14E7-7602-20AC-BAAC200BE3B3}"/>
              </a:ext>
            </a:extLst>
          </p:cNvPr>
          <p:cNvSpPr txBox="1"/>
          <p:nvPr/>
        </p:nvSpPr>
        <p:spPr>
          <a:xfrm>
            <a:off x="7420737" y="1030016"/>
            <a:ext cx="982079" cy="261610"/>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マネタイズ</a:t>
            </a:r>
          </a:p>
        </p:txBody>
      </p:sp>
      <p:sp>
        <p:nvSpPr>
          <p:cNvPr id="73" name="テキスト ボックス 72">
            <a:extLst>
              <a:ext uri="{FF2B5EF4-FFF2-40B4-BE49-F238E27FC236}">
                <a16:creationId xmlns:a16="http://schemas.microsoft.com/office/drawing/2014/main" id="{EF5D364D-D947-42EA-9004-919D75BD67E2}"/>
              </a:ext>
            </a:extLst>
          </p:cNvPr>
          <p:cNvSpPr txBox="1"/>
          <p:nvPr/>
        </p:nvSpPr>
        <p:spPr>
          <a:xfrm>
            <a:off x="6301709" y="945379"/>
            <a:ext cx="811635" cy="430887"/>
          </a:xfrm>
          <a:prstGeom prst="rect">
            <a:avLst/>
          </a:prstGeom>
          <a:solidFill>
            <a:schemeClr val="accent1">
              <a:lumMod val="75000"/>
            </a:schemeClr>
          </a:solid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リード</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再育成</a:t>
            </a:r>
          </a:p>
        </p:txBody>
      </p:sp>
      <p:sp>
        <p:nvSpPr>
          <p:cNvPr id="75" name="テキスト ボックス 74">
            <a:extLst>
              <a:ext uri="{FF2B5EF4-FFF2-40B4-BE49-F238E27FC236}">
                <a16:creationId xmlns:a16="http://schemas.microsoft.com/office/drawing/2014/main" id="{7D2B1035-4C9A-C019-739F-BAA82A8C0A80}"/>
              </a:ext>
            </a:extLst>
          </p:cNvPr>
          <p:cNvSpPr txBox="1"/>
          <p:nvPr/>
        </p:nvSpPr>
        <p:spPr>
          <a:xfrm>
            <a:off x="8544744" y="945378"/>
            <a:ext cx="982079" cy="430887"/>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リピート</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クロスセル</a:t>
            </a:r>
          </a:p>
        </p:txBody>
      </p:sp>
      <p:sp>
        <p:nvSpPr>
          <p:cNvPr id="93" name="Pentagon 10">
            <a:extLst>
              <a:ext uri="{FF2B5EF4-FFF2-40B4-BE49-F238E27FC236}">
                <a16:creationId xmlns:a16="http://schemas.microsoft.com/office/drawing/2014/main" id="{E7FB1180-9A4A-AE57-1F59-565896215179}"/>
              </a:ext>
            </a:extLst>
          </p:cNvPr>
          <p:cNvSpPr/>
          <p:nvPr/>
        </p:nvSpPr>
        <p:spPr>
          <a:xfrm>
            <a:off x="262895" y="795063"/>
            <a:ext cx="1360371" cy="731520"/>
          </a:xfrm>
          <a:prstGeom prst="homePlate">
            <a:avLst/>
          </a:prstGeom>
          <a:solidFill>
            <a:schemeClr val="bg1">
              <a:lumMod val="6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lang="en-US" altLang="ja-JP" sz="1300" b="1" dirty="0">
              <a:solidFill>
                <a:srgbClr val="FFFFFF"/>
              </a:solidFill>
              <a:latin typeface="メイリオ"/>
              <a:ea typeface="メイリオ"/>
              <a:cs typeface="メイリオ"/>
            </a:endParaRPr>
          </a:p>
        </p:txBody>
      </p:sp>
      <p:sp>
        <p:nvSpPr>
          <p:cNvPr id="95" name="Chevron 11">
            <a:extLst>
              <a:ext uri="{FF2B5EF4-FFF2-40B4-BE49-F238E27FC236}">
                <a16:creationId xmlns:a16="http://schemas.microsoft.com/office/drawing/2014/main" id="{0B0B60C6-5DCD-AEAE-569B-FA25089F13B5}"/>
              </a:ext>
            </a:extLst>
          </p:cNvPr>
          <p:cNvSpPr/>
          <p:nvPr/>
        </p:nvSpPr>
        <p:spPr>
          <a:xfrm>
            <a:off x="1299544" y="795063"/>
            <a:ext cx="1482455" cy="731520"/>
          </a:xfrm>
          <a:prstGeom prst="chevron">
            <a:avLst/>
          </a:prstGeom>
          <a:solidFill>
            <a:schemeClr val="accent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97" name="Chevron 11">
            <a:extLst>
              <a:ext uri="{FF2B5EF4-FFF2-40B4-BE49-F238E27FC236}">
                <a16:creationId xmlns:a16="http://schemas.microsoft.com/office/drawing/2014/main" id="{A4623768-2D8F-7D2D-6B3F-6C18DF141747}"/>
              </a:ext>
            </a:extLst>
          </p:cNvPr>
          <p:cNvSpPr/>
          <p:nvPr/>
        </p:nvSpPr>
        <p:spPr>
          <a:xfrm>
            <a:off x="2459504" y="795063"/>
            <a:ext cx="1482455" cy="731520"/>
          </a:xfrm>
          <a:prstGeom prst="chevron">
            <a:avLst/>
          </a:prstGeom>
          <a:solidFill>
            <a:schemeClr val="accent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99" name="テキスト ボックス 98">
            <a:extLst>
              <a:ext uri="{FF2B5EF4-FFF2-40B4-BE49-F238E27FC236}">
                <a16:creationId xmlns:a16="http://schemas.microsoft.com/office/drawing/2014/main" id="{B0A113B5-1B73-69E4-E6AB-E295D6D4D7F6}"/>
              </a:ext>
            </a:extLst>
          </p:cNvPr>
          <p:cNvSpPr txBox="1"/>
          <p:nvPr/>
        </p:nvSpPr>
        <p:spPr>
          <a:xfrm>
            <a:off x="1616581" y="945379"/>
            <a:ext cx="811635" cy="430887"/>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サイト</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離脱</a:t>
            </a:r>
          </a:p>
        </p:txBody>
      </p:sp>
      <p:sp>
        <p:nvSpPr>
          <p:cNvPr id="101" name="テキスト ボックス 100">
            <a:extLst>
              <a:ext uri="{FF2B5EF4-FFF2-40B4-BE49-F238E27FC236}">
                <a16:creationId xmlns:a16="http://schemas.microsoft.com/office/drawing/2014/main" id="{9C383105-7C60-9319-5CDD-067E90A78396}"/>
              </a:ext>
            </a:extLst>
          </p:cNvPr>
          <p:cNvSpPr txBox="1"/>
          <p:nvPr/>
        </p:nvSpPr>
        <p:spPr>
          <a:xfrm>
            <a:off x="2787863" y="1030016"/>
            <a:ext cx="811635" cy="261610"/>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育成</a:t>
            </a:r>
          </a:p>
        </p:txBody>
      </p:sp>
      <p:sp>
        <p:nvSpPr>
          <p:cNvPr id="103" name="テキスト ボックス 102">
            <a:extLst>
              <a:ext uri="{FF2B5EF4-FFF2-40B4-BE49-F238E27FC236}">
                <a16:creationId xmlns:a16="http://schemas.microsoft.com/office/drawing/2014/main" id="{F9F43CC2-32B7-852A-1FBD-45B2EB27CFB5}"/>
              </a:ext>
            </a:extLst>
          </p:cNvPr>
          <p:cNvSpPr txBox="1"/>
          <p:nvPr/>
        </p:nvSpPr>
        <p:spPr>
          <a:xfrm>
            <a:off x="445299" y="1030016"/>
            <a:ext cx="811635" cy="261610"/>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接触</a:t>
            </a:r>
          </a:p>
        </p:txBody>
      </p:sp>
      <p:sp>
        <p:nvSpPr>
          <p:cNvPr id="11" name="正方形/長方形 10">
            <a:extLst>
              <a:ext uri="{FF2B5EF4-FFF2-40B4-BE49-F238E27FC236}">
                <a16:creationId xmlns:a16="http://schemas.microsoft.com/office/drawing/2014/main" id="{B493BCB4-E00B-E0BE-D79E-5C1F31081B18}"/>
              </a:ext>
            </a:extLst>
          </p:cNvPr>
          <p:cNvSpPr/>
          <p:nvPr/>
        </p:nvSpPr>
        <p:spPr>
          <a:xfrm>
            <a:off x="-15984" y="609190"/>
            <a:ext cx="9917132" cy="1034848"/>
          </a:xfrm>
          <a:prstGeom prst="rect">
            <a:avLst/>
          </a:prstGeom>
          <a:solidFill>
            <a:schemeClr val="bg1">
              <a:alpha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tLang="ja-JP" sz="1400" dirty="0">
              <a:solidFill>
                <a:schemeClr val="tx1"/>
              </a:solidFill>
              <a:latin typeface="メイリオ" panose="020B0604030504040204" pitchFamily="50" charset="-128"/>
              <a:ea typeface="メイリオ" panose="020B0604030504040204" pitchFamily="50" charset="-128"/>
            </a:endParaRPr>
          </a:p>
        </p:txBody>
      </p:sp>
      <p:sp>
        <p:nvSpPr>
          <p:cNvPr id="13" name="正方形/長方形 12">
            <a:extLst>
              <a:ext uri="{FF2B5EF4-FFF2-40B4-BE49-F238E27FC236}">
                <a16:creationId xmlns:a16="http://schemas.microsoft.com/office/drawing/2014/main" id="{59ADA20E-51F8-4962-4E73-FE0A21ED1C8D}"/>
              </a:ext>
            </a:extLst>
          </p:cNvPr>
          <p:cNvSpPr/>
          <p:nvPr/>
        </p:nvSpPr>
        <p:spPr>
          <a:xfrm>
            <a:off x="-15984" y="645907"/>
            <a:ext cx="9930693" cy="1034848"/>
          </a:xfrm>
          <a:prstGeom prst="rect">
            <a:avLst/>
          </a:prstGeom>
          <a:solidFill>
            <a:schemeClr val="bg1">
              <a:lumMod val="95000"/>
              <a:alpha val="3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tLang="ja-JP" sz="1400" dirty="0">
              <a:solidFill>
                <a:schemeClr val="tx1"/>
              </a:solidFill>
              <a:latin typeface="メイリオ" panose="020B0604030504040204" pitchFamily="50" charset="-128"/>
              <a:ea typeface="メイリオ" panose="020B0604030504040204" pitchFamily="50" charset="-128"/>
            </a:endParaRPr>
          </a:p>
        </p:txBody>
      </p:sp>
      <p:sp>
        <p:nvSpPr>
          <p:cNvPr id="15" name="Chevron 12">
            <a:extLst>
              <a:ext uri="{FF2B5EF4-FFF2-40B4-BE49-F238E27FC236}">
                <a16:creationId xmlns:a16="http://schemas.microsoft.com/office/drawing/2014/main" id="{49BBC152-C183-765C-41EA-73A50F842FCD}"/>
              </a:ext>
            </a:extLst>
          </p:cNvPr>
          <p:cNvSpPr/>
          <p:nvPr/>
        </p:nvSpPr>
        <p:spPr>
          <a:xfrm>
            <a:off x="3619464" y="795063"/>
            <a:ext cx="1482455" cy="731520"/>
          </a:xfrm>
          <a:prstGeom prst="chevron">
            <a:avLst/>
          </a:prstGeom>
          <a:solidFill>
            <a:schemeClr val="accent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17" name="テキスト ボックス 16">
            <a:extLst>
              <a:ext uri="{FF2B5EF4-FFF2-40B4-BE49-F238E27FC236}">
                <a16:creationId xmlns:a16="http://schemas.microsoft.com/office/drawing/2014/main" id="{6961C103-0619-18B0-5114-11BA2CE4CF4F}"/>
              </a:ext>
            </a:extLst>
          </p:cNvPr>
          <p:cNvSpPr txBox="1"/>
          <p:nvPr/>
        </p:nvSpPr>
        <p:spPr>
          <a:xfrm>
            <a:off x="3959145" y="945379"/>
            <a:ext cx="811635" cy="430887"/>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リード</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獲得</a:t>
            </a:r>
          </a:p>
        </p:txBody>
      </p:sp>
      <p:sp>
        <p:nvSpPr>
          <p:cNvPr id="19" name="Chevron 11">
            <a:extLst>
              <a:ext uri="{FF2B5EF4-FFF2-40B4-BE49-F238E27FC236}">
                <a16:creationId xmlns:a16="http://schemas.microsoft.com/office/drawing/2014/main" id="{D8CD547B-AAA5-239F-5275-F1E6B4C136D6}"/>
              </a:ext>
            </a:extLst>
          </p:cNvPr>
          <p:cNvSpPr/>
          <p:nvPr/>
        </p:nvSpPr>
        <p:spPr>
          <a:xfrm>
            <a:off x="4779424" y="795063"/>
            <a:ext cx="1482455" cy="731520"/>
          </a:xfrm>
          <a:prstGeom prst="chevron">
            <a:avLst/>
          </a:prstGeom>
          <a:solidFill>
            <a:schemeClr val="accent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21" name="テキスト ボックス 20">
            <a:extLst>
              <a:ext uri="{FF2B5EF4-FFF2-40B4-BE49-F238E27FC236}">
                <a16:creationId xmlns:a16="http://schemas.microsoft.com/office/drawing/2014/main" id="{8F8D1CD4-558F-D99F-A672-878D8BA20B74}"/>
              </a:ext>
            </a:extLst>
          </p:cNvPr>
          <p:cNvSpPr txBox="1"/>
          <p:nvPr/>
        </p:nvSpPr>
        <p:spPr>
          <a:xfrm>
            <a:off x="5130427" y="945378"/>
            <a:ext cx="811635" cy="430887"/>
          </a:xfrm>
          <a:prstGeom prst="rect">
            <a:avLst/>
          </a:prstGeom>
          <a:solidFill>
            <a:schemeClr val="accent1">
              <a:lumMod val="75000"/>
            </a:schemeClr>
          </a:solid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有効</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リード化</a:t>
            </a:r>
          </a:p>
        </p:txBody>
      </p:sp>
      <p:sp>
        <p:nvSpPr>
          <p:cNvPr id="4" name="四角形: 角を丸くする 3">
            <a:extLst>
              <a:ext uri="{FF2B5EF4-FFF2-40B4-BE49-F238E27FC236}">
                <a16:creationId xmlns:a16="http://schemas.microsoft.com/office/drawing/2014/main" id="{C8DD6A89-9E15-EF97-006E-AAD167825BE6}"/>
              </a:ext>
            </a:extLst>
          </p:cNvPr>
          <p:cNvSpPr/>
          <p:nvPr/>
        </p:nvSpPr>
        <p:spPr>
          <a:xfrm>
            <a:off x="262895" y="1854926"/>
            <a:ext cx="5885356" cy="435716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 name="四角形: 角を丸くする 6">
            <a:extLst>
              <a:ext uri="{FF2B5EF4-FFF2-40B4-BE49-F238E27FC236}">
                <a16:creationId xmlns:a16="http://schemas.microsoft.com/office/drawing/2014/main" id="{B0607C34-BCAC-36D4-6E5B-D4E83859DFE4}"/>
              </a:ext>
            </a:extLst>
          </p:cNvPr>
          <p:cNvSpPr/>
          <p:nvPr/>
        </p:nvSpPr>
        <p:spPr>
          <a:xfrm>
            <a:off x="6261879" y="1856231"/>
            <a:ext cx="3381226" cy="1392936"/>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4" name="TextBox 103"/>
          <p:cNvSpPr txBox="1"/>
          <p:nvPr/>
        </p:nvSpPr>
        <p:spPr>
          <a:xfrm>
            <a:off x="411480" y="1965959"/>
            <a:ext cx="5577840" cy="685800"/>
          </a:xfrm>
          <a:prstGeom prst="rect">
            <a:avLst/>
          </a:prstGeom>
          <a:noFill/>
        </p:spPr>
        <p:txBody>
          <a:bodyPr wrap="square" lIns="36000" tIns="10800" rIns="36000" bIns="10800" anchor="t">
            <a:spAutoFit/>
          </a:bodyPr>
          <a:lstStyle/>
          <a:p>
            <a:pPr algn="l">
              <a:lnSpc>
                <a:spcPct val="105000"/>
              </a:lnSpc>
              <a:spcAft>
                <a:spcPts val="200"/>
              </a:spcAft>
            </a:pPr>
            <a:r>
              <a:rPr sz="1600" b="1">
                <a:solidFill>
                  <a:srgbClr val="1F2A5C"/>
                </a:solidFill>
                <a:latin typeface="メイリオ"/>
                <a:ea typeface="メイリオ"/>
                <a:cs typeface="メイリオ"/>
              </a:rPr>
              <a:t>ステップ配信</a:t>
            </a:r>
          </a:p>
          <a:p>
            <a:pPr algn="l">
              <a:lnSpc>
                <a:spcPct val="105000"/>
              </a:lnSpc>
              <a:spcAft>
                <a:spcPts val="200"/>
              </a:spcAft>
            </a:pPr>
            <a:r>
              <a:rPr sz="1200" b="0">
                <a:solidFill>
                  <a:srgbClr val="333333"/>
                </a:solidFill>
                <a:latin typeface="メイリオ"/>
                <a:ea typeface="メイリオ"/>
                <a:cs typeface="メイリオ"/>
              </a:rPr>
              <a:t>追加後15日で、ENTRY・カウンセリングへ</a:t>
            </a:r>
          </a:p>
        </p:txBody>
      </p:sp>
      <p:pic>
        <p:nvPicPr>
          <p:cNvPr id="105" name="Picture 104" descr="demo_p30.png"/>
          <p:cNvPicPr>
            <a:picLocks noChangeAspect="1"/>
          </p:cNvPicPr>
          <p:nvPr/>
        </p:nvPicPr>
        <p:blipFill>
          <a:blip r:embed="rId2"/>
          <a:stretch>
            <a:fillRect/>
          </a:stretch>
        </p:blipFill>
        <p:spPr>
          <a:xfrm>
            <a:off x="1243309" y="2651760"/>
            <a:ext cx="3932468" cy="3310128"/>
          </a:xfrm>
          <a:prstGeom prst="rect">
            <a:avLst/>
          </a:prstGeom>
          <a:ln w="9525">
            <a:solidFill>
              <a:srgbClr val="D9D9D9"/>
            </a:solidFill>
          </a:ln>
        </p:spPr>
      </p:pic>
      <p:sp>
        <p:nvSpPr>
          <p:cNvPr id="106" name="TextBox 105"/>
          <p:cNvSpPr txBox="1"/>
          <p:nvPr/>
        </p:nvSpPr>
        <p:spPr>
          <a:xfrm>
            <a:off x="411480" y="5971032"/>
            <a:ext cx="5577840" cy="219456"/>
          </a:xfrm>
          <a:prstGeom prst="rect">
            <a:avLst/>
          </a:prstGeom>
          <a:noFill/>
        </p:spPr>
        <p:txBody>
          <a:bodyPr wrap="none">
            <a:spAutoFit/>
          </a:bodyPr>
          <a:lstStyle/>
          <a:p>
            <a:r>
              <a:rPr sz="850" b="0">
                <a:solidFill>
                  <a:srgbClr val="7F7F7F"/>
                </a:solidFill>
                <a:latin typeface="メイリオ"/>
                <a:ea typeface="メイリオ"/>
                <a:cs typeface="メイリオ"/>
              </a:rPr>
              <a:t>画面：ワクトリ様向けに作成したデモ（①ユーザーが見る画面／②裏側の処理）。求人はデモ用のサンプル</a:t>
            </a:r>
          </a:p>
        </p:txBody>
      </p:sp>
      <p:sp>
        <p:nvSpPr>
          <p:cNvPr id="110" name="四角形: 角を丸くする 6">
            <a:extLst>
              <a:ext uri="{FF2B5EF4-FFF2-40B4-BE49-F238E27FC236}">
                <a16:creationId xmlns:a16="http://schemas.microsoft.com/office/drawing/2014/main" id="{B0607C34-BCAC-36D4-6E5B-D4E83859DFE4}"/>
              </a:ext>
            </a:extLst>
          </p:cNvPr>
          <p:cNvSpPr/>
          <p:nvPr/>
        </p:nvSpPr>
        <p:spPr>
          <a:xfrm>
            <a:off x="6261879" y="3340608"/>
            <a:ext cx="3381226" cy="1392936"/>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11" name="四角形: 角を丸くする 6">
            <a:extLst>
              <a:ext uri="{FF2B5EF4-FFF2-40B4-BE49-F238E27FC236}">
                <a16:creationId xmlns:a16="http://schemas.microsoft.com/office/drawing/2014/main" id="{B0607C34-BCAC-36D4-6E5B-D4E83859DFE4}"/>
              </a:ext>
            </a:extLst>
          </p:cNvPr>
          <p:cNvSpPr/>
          <p:nvPr/>
        </p:nvSpPr>
        <p:spPr>
          <a:xfrm>
            <a:off x="6261879" y="4824984"/>
            <a:ext cx="3381226" cy="1392936"/>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7" name="TextBox 106"/>
          <p:cNvSpPr txBox="1"/>
          <p:nvPr/>
        </p:nvSpPr>
        <p:spPr>
          <a:xfrm>
            <a:off x="6371607" y="2192344"/>
            <a:ext cx="3161770" cy="720710"/>
          </a:xfrm>
          <a:prstGeom prst="rect">
            <a:avLst/>
          </a:prstGeom>
          <a:noFill/>
        </p:spPr>
        <p:txBody>
          <a:bodyPr wrap="square" anchor="ctr">
            <a:spAutoFit/>
          </a:bodyPr>
          <a:lstStyle/>
          <a:p>
            <a:pPr>
              <a:spcAft>
                <a:spcPts val="400"/>
              </a:spcAft>
            </a:pPr>
            <a:r>
              <a:rPr sz="1350" b="1" dirty="0" err="1">
                <a:solidFill>
                  <a:srgbClr val="1F2A5C"/>
                </a:solidFill>
                <a:latin typeface="メイリオ"/>
                <a:ea typeface="メイリオ"/>
                <a:cs typeface="メイリオ"/>
              </a:rPr>
              <a:t>入口</a:t>
            </a:r>
            <a:endParaRPr sz="1350" b="1" dirty="0">
              <a:solidFill>
                <a:srgbClr val="1F2A5C"/>
              </a:solidFill>
              <a:latin typeface="メイリオ"/>
              <a:ea typeface="メイリオ"/>
              <a:cs typeface="メイリオ"/>
            </a:endParaRPr>
          </a:p>
          <a:p>
            <a:r>
              <a:rPr sz="1200" b="0" dirty="0" err="1">
                <a:solidFill>
                  <a:srgbClr val="333333"/>
                </a:solidFill>
                <a:latin typeface="メイリオ"/>
                <a:ea typeface="メイリオ"/>
                <a:cs typeface="メイリオ"/>
              </a:rPr>
              <a:t>診断に答えていない方には</a:t>
            </a:r>
            <a:r>
              <a:rPr sz="1200" b="0" dirty="0">
                <a:solidFill>
                  <a:srgbClr val="333333"/>
                </a:solidFill>
                <a:latin typeface="メイリオ"/>
                <a:ea typeface="メイリオ"/>
                <a:cs typeface="メイリオ"/>
              </a:rPr>
              <a:t>、</a:t>
            </a:r>
          </a:p>
          <a:p>
            <a:r>
              <a:rPr sz="1200" b="0" dirty="0" err="1">
                <a:solidFill>
                  <a:srgbClr val="333333"/>
                </a:solidFill>
                <a:latin typeface="メイリオ"/>
                <a:ea typeface="メイリオ"/>
                <a:cs typeface="メイリオ"/>
              </a:rPr>
              <a:t>翌日に答えるお願いを届ける</a:t>
            </a:r>
            <a:endParaRPr sz="1200" b="0" dirty="0">
              <a:solidFill>
                <a:srgbClr val="333333"/>
              </a:solidFill>
              <a:latin typeface="メイリオ"/>
              <a:ea typeface="メイリオ"/>
              <a:cs typeface="メイリオ"/>
            </a:endParaRPr>
          </a:p>
        </p:txBody>
      </p:sp>
      <p:sp>
        <p:nvSpPr>
          <p:cNvPr id="108" name="TextBox 107"/>
          <p:cNvSpPr txBox="1"/>
          <p:nvPr/>
        </p:nvSpPr>
        <p:spPr>
          <a:xfrm>
            <a:off x="6371607" y="3676721"/>
            <a:ext cx="3161770" cy="720710"/>
          </a:xfrm>
          <a:prstGeom prst="rect">
            <a:avLst/>
          </a:prstGeom>
          <a:noFill/>
        </p:spPr>
        <p:txBody>
          <a:bodyPr wrap="square" anchor="ctr">
            <a:spAutoFit/>
          </a:bodyPr>
          <a:lstStyle/>
          <a:p>
            <a:pPr>
              <a:spcAft>
                <a:spcPts val="400"/>
              </a:spcAft>
            </a:pPr>
            <a:r>
              <a:rPr sz="1350" b="1" dirty="0" err="1">
                <a:solidFill>
                  <a:srgbClr val="1F2A5C"/>
                </a:solidFill>
                <a:latin typeface="メイリオ"/>
                <a:ea typeface="メイリオ"/>
                <a:cs typeface="メイリオ"/>
              </a:rPr>
              <a:t>LINEの仕組み</a:t>
            </a:r>
            <a:endParaRPr sz="1350" b="1" dirty="0">
              <a:solidFill>
                <a:srgbClr val="1F2A5C"/>
              </a:solidFill>
              <a:latin typeface="メイリオ"/>
              <a:ea typeface="メイリオ"/>
              <a:cs typeface="メイリオ"/>
            </a:endParaRPr>
          </a:p>
          <a:p>
            <a:r>
              <a:rPr sz="1200" b="0" dirty="0" err="1">
                <a:solidFill>
                  <a:srgbClr val="333333"/>
                </a:solidFill>
                <a:latin typeface="メイリオ"/>
                <a:ea typeface="メイリオ"/>
                <a:cs typeface="メイリオ"/>
              </a:rPr>
              <a:t>押した内容（お金・寮など）で</a:t>
            </a:r>
            <a:endParaRPr sz="1200" b="0" dirty="0">
              <a:solidFill>
                <a:srgbClr val="333333"/>
              </a:solidFill>
              <a:latin typeface="メイリオ"/>
              <a:ea typeface="メイリオ"/>
              <a:cs typeface="メイリオ"/>
            </a:endParaRPr>
          </a:p>
          <a:p>
            <a:r>
              <a:rPr sz="1200" b="0" dirty="0" err="1">
                <a:solidFill>
                  <a:srgbClr val="333333"/>
                </a:solidFill>
                <a:latin typeface="メイリオ"/>
                <a:ea typeface="メイリオ"/>
                <a:cs typeface="メイリオ"/>
              </a:rPr>
              <a:t>タグを付け、次の配信を変える</a:t>
            </a:r>
            <a:endParaRPr sz="1200" b="0" dirty="0">
              <a:solidFill>
                <a:srgbClr val="333333"/>
              </a:solidFill>
              <a:latin typeface="メイリオ"/>
              <a:ea typeface="メイリオ"/>
              <a:cs typeface="メイリオ"/>
            </a:endParaRPr>
          </a:p>
        </p:txBody>
      </p:sp>
      <p:sp>
        <p:nvSpPr>
          <p:cNvPr id="109" name="TextBox 108"/>
          <p:cNvSpPr txBox="1"/>
          <p:nvPr/>
        </p:nvSpPr>
        <p:spPr>
          <a:xfrm>
            <a:off x="6371607" y="5161097"/>
            <a:ext cx="3161770" cy="720710"/>
          </a:xfrm>
          <a:prstGeom prst="rect">
            <a:avLst/>
          </a:prstGeom>
          <a:noFill/>
        </p:spPr>
        <p:txBody>
          <a:bodyPr wrap="square" anchor="ctr">
            <a:spAutoFit/>
          </a:bodyPr>
          <a:lstStyle/>
          <a:p>
            <a:pPr>
              <a:spcAft>
                <a:spcPts val="400"/>
              </a:spcAft>
            </a:pPr>
            <a:r>
              <a:rPr sz="1350" b="1" dirty="0" err="1">
                <a:solidFill>
                  <a:srgbClr val="1F2A5C"/>
                </a:solidFill>
                <a:latin typeface="メイリオ"/>
                <a:ea typeface="メイリオ"/>
                <a:cs typeface="メイリオ"/>
              </a:rPr>
              <a:t>配信内容</a:t>
            </a:r>
            <a:endParaRPr sz="1350" b="1" dirty="0">
              <a:solidFill>
                <a:srgbClr val="1F2A5C"/>
              </a:solidFill>
              <a:latin typeface="メイリオ"/>
              <a:ea typeface="メイリオ"/>
              <a:cs typeface="メイリオ"/>
            </a:endParaRPr>
          </a:p>
          <a:p>
            <a:r>
              <a:rPr sz="1200" b="0" dirty="0">
                <a:solidFill>
                  <a:srgbClr val="333333"/>
                </a:solidFill>
                <a:latin typeface="メイリオ"/>
                <a:ea typeface="メイリオ"/>
                <a:cs typeface="メイリオ"/>
              </a:rPr>
              <a:t>寮の写真や1日の流れなど、</a:t>
            </a:r>
          </a:p>
          <a:p>
            <a:r>
              <a:rPr sz="1200" b="0" dirty="0" err="1">
                <a:solidFill>
                  <a:srgbClr val="333333"/>
                </a:solidFill>
                <a:latin typeface="メイリオ"/>
                <a:ea typeface="メイリオ"/>
                <a:cs typeface="メイリオ"/>
              </a:rPr>
              <a:t>不安ごとの配信を足す</a:t>
            </a:r>
            <a:endParaRPr sz="1200" b="0" dirty="0">
              <a:solidFill>
                <a:srgbClr val="333333"/>
              </a:solidFill>
              <a:latin typeface="メイリオ"/>
              <a:ea typeface="メイリオ"/>
              <a:cs typeface="メイリオ"/>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テキスト ボックス 47">
            <a:extLst>
              <a:ext uri="{FF2B5EF4-FFF2-40B4-BE49-F238E27FC236}">
                <a16:creationId xmlns:a16="http://schemas.microsoft.com/office/drawing/2014/main" id="{5868997F-46B4-7BA9-BC42-4A9C872CA868}"/>
              </a:ext>
            </a:extLst>
          </p:cNvPr>
          <p:cNvSpPr txBox="1">
            <a:spLocks noChangeArrowheads="1"/>
          </p:cNvSpPr>
          <p:nvPr/>
        </p:nvSpPr>
        <p:spPr bwMode="auto">
          <a:xfrm>
            <a:off x="456501" y="107813"/>
            <a:ext cx="7512385" cy="3650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tIns="72000">
            <a:spAutoFit/>
          </a:bodyPr>
          <a:lstStyle>
            <a:lvl1pPr>
              <a:defRPr kumimoji="1" sz="3200">
                <a:solidFill>
                  <a:schemeClr val="tx1"/>
                </a:solidFill>
                <a:latin typeface="Calibri" charset="0"/>
                <a:ea typeface="ＭＳ Ｐゴシック" charset="0"/>
                <a:cs typeface="ＭＳ Ｐゴシック" charset="0"/>
              </a:defRPr>
            </a:lvl1pPr>
            <a:lvl2pPr>
              <a:defRPr kumimoji="1" sz="2800">
                <a:solidFill>
                  <a:schemeClr val="tx1"/>
                </a:solidFill>
                <a:latin typeface="Calibri" charset="0"/>
                <a:ea typeface="ＭＳ Ｐゴシック" charset="0"/>
              </a:defRPr>
            </a:lvl2pPr>
            <a:lvl3pPr>
              <a:defRPr kumimoji="1" sz="2400">
                <a:solidFill>
                  <a:schemeClr val="tx1"/>
                </a:solidFill>
                <a:latin typeface="Calibri" charset="0"/>
                <a:ea typeface="ＭＳ Ｐゴシック" charset="0"/>
              </a:defRPr>
            </a:lvl3pPr>
            <a:lvl4pPr>
              <a:defRPr kumimoji="1" sz="2000">
                <a:solidFill>
                  <a:schemeClr val="tx1"/>
                </a:solidFill>
                <a:latin typeface="Calibri" charset="0"/>
                <a:ea typeface="ＭＳ Ｐゴシック" charset="0"/>
              </a:defRPr>
            </a:lvl4pPr>
            <a:lvl5pPr>
              <a:defRPr kumimoji="1" sz="2000">
                <a:solidFill>
                  <a:schemeClr val="tx1"/>
                </a:solidFill>
                <a:latin typeface="Calibri" charset="0"/>
                <a:ea typeface="ＭＳ Ｐゴシック" charset="0"/>
              </a:defRPr>
            </a:lvl5pPr>
            <a:lvl6pPr eaLnBrk="0" fontAlgn="base" hangingPunct="0">
              <a:spcAft>
                <a:spcPct val="0"/>
              </a:spcAft>
              <a:buFont typeface="Arial" charset="0"/>
              <a:buChar char="»"/>
              <a:defRPr kumimoji="1" sz="2000">
                <a:solidFill>
                  <a:schemeClr val="tx1"/>
                </a:solidFill>
                <a:latin typeface="Calibri" charset="0"/>
                <a:ea typeface="ＭＳ Ｐゴシック" charset="0"/>
              </a:defRPr>
            </a:lvl6pPr>
            <a:lvl7pPr eaLnBrk="0" fontAlgn="base" hangingPunct="0">
              <a:spcAft>
                <a:spcPct val="0"/>
              </a:spcAft>
              <a:buFont typeface="Arial" charset="0"/>
              <a:buChar char="»"/>
              <a:defRPr kumimoji="1" sz="2000">
                <a:solidFill>
                  <a:schemeClr val="tx1"/>
                </a:solidFill>
                <a:latin typeface="Calibri" charset="0"/>
                <a:ea typeface="ＭＳ Ｐゴシック" charset="0"/>
              </a:defRPr>
            </a:lvl7pPr>
            <a:lvl8pPr eaLnBrk="0" fontAlgn="base" hangingPunct="0">
              <a:spcAft>
                <a:spcPct val="0"/>
              </a:spcAft>
              <a:buFont typeface="Arial" charset="0"/>
              <a:buChar char="»"/>
              <a:defRPr kumimoji="1" sz="2000">
                <a:solidFill>
                  <a:schemeClr val="tx1"/>
                </a:solidFill>
                <a:latin typeface="Calibri" charset="0"/>
                <a:ea typeface="ＭＳ Ｐゴシック" charset="0"/>
              </a:defRPr>
            </a:lvl8pPr>
            <a:lvl9pPr eaLnBrk="0" fontAlgn="base" hangingPunct="0">
              <a:spcAft>
                <a:spcPct val="0"/>
              </a:spcAft>
              <a:buFont typeface="Arial" charset="0"/>
              <a:buChar char="»"/>
              <a:defRPr kumimoji="1" sz="2000">
                <a:solidFill>
                  <a:schemeClr val="tx1"/>
                </a:solidFill>
                <a:latin typeface="Calibri" charset="0"/>
                <a:ea typeface="ＭＳ Ｐゴシック" charset="0"/>
              </a:defRPr>
            </a:lvl9pPr>
          </a:lstStyle>
          <a:p>
            <a:pPr>
              <a:spcBef>
                <a:spcPct val="20000"/>
              </a:spcBef>
              <a:buFont typeface="Arial" charset="0"/>
              <a:buNone/>
            </a:pPr>
            <a:r>
              <a:rPr lang="ja-JP" altLang="en-US" sz="1600" b="1" dirty="0">
                <a:solidFill>
                  <a:srgbClr val="1F2A5C"/>
                </a:solidFill>
                <a:latin typeface="メイリオ"/>
                <a:ea typeface="メイリオ"/>
                <a:cs typeface="メイリオ"/>
              </a:rPr>
              <a:t>具体施策のイメージ</a:t>
            </a:r>
          </a:p>
        </p:txBody>
      </p:sp>
      <p:sp>
        <p:nvSpPr>
          <p:cNvPr id="5" name="正方形/長方形 4">
            <a:extLst>
              <a:ext uri="{FF2B5EF4-FFF2-40B4-BE49-F238E27FC236}">
                <a16:creationId xmlns:a16="http://schemas.microsoft.com/office/drawing/2014/main" id="{9D47B23B-3577-8555-FFA8-3F6625859F4B}"/>
              </a:ext>
            </a:extLst>
          </p:cNvPr>
          <p:cNvSpPr/>
          <p:nvPr/>
        </p:nvSpPr>
        <p:spPr>
          <a:xfrm>
            <a:off x="2659553" y="109691"/>
            <a:ext cx="1992986" cy="326496"/>
          </a:xfrm>
          <a:prstGeom prst="rect">
            <a:avLst/>
          </a:prstGeom>
          <a:solidFill>
            <a:schemeClr val="tx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b="1" dirty="0">
                <a:solidFill>
                  <a:srgbClr val="FFFFFF"/>
                </a:solidFill>
                <a:latin typeface="メイリオ" panose="020B0604030504040204" pitchFamily="50" charset="-128"/>
                <a:ea typeface="メイリオ" panose="020B0604030504040204" pitchFamily="50" charset="-128"/>
              </a:rPr>
              <a:t>分岐育成</a:t>
            </a:r>
          </a:p>
        </p:txBody>
      </p:sp>
      <p:sp>
        <p:nvSpPr>
          <p:cNvPr id="51" name="Chevron 13">
            <a:extLst>
              <a:ext uri="{FF2B5EF4-FFF2-40B4-BE49-F238E27FC236}">
                <a16:creationId xmlns:a16="http://schemas.microsoft.com/office/drawing/2014/main" id="{D8820E1E-FCC6-0351-0262-F0A662620D7E}"/>
              </a:ext>
            </a:extLst>
          </p:cNvPr>
          <p:cNvSpPr/>
          <p:nvPr/>
        </p:nvSpPr>
        <p:spPr>
          <a:xfrm>
            <a:off x="7099344" y="795063"/>
            <a:ext cx="1482455" cy="731520"/>
          </a:xfrm>
          <a:prstGeom prst="chevron">
            <a:avLst/>
          </a:prstGeom>
          <a:solidFill>
            <a:schemeClr val="tx2">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59" name="Chevron 13">
            <a:extLst>
              <a:ext uri="{FF2B5EF4-FFF2-40B4-BE49-F238E27FC236}">
                <a16:creationId xmlns:a16="http://schemas.microsoft.com/office/drawing/2014/main" id="{42A824CD-AD31-00AF-D740-24B8329BA211}"/>
              </a:ext>
            </a:extLst>
          </p:cNvPr>
          <p:cNvSpPr/>
          <p:nvPr/>
        </p:nvSpPr>
        <p:spPr>
          <a:xfrm>
            <a:off x="8259306" y="795063"/>
            <a:ext cx="1482455" cy="731520"/>
          </a:xfrm>
          <a:prstGeom prst="chevron">
            <a:avLst/>
          </a:prstGeom>
          <a:solidFill>
            <a:schemeClr val="tx2">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67" name="テキスト ボックス 66">
            <a:extLst>
              <a:ext uri="{FF2B5EF4-FFF2-40B4-BE49-F238E27FC236}">
                <a16:creationId xmlns:a16="http://schemas.microsoft.com/office/drawing/2014/main" id="{D974AD9B-8902-BFDF-E4F0-952CE0B08B09}"/>
              </a:ext>
            </a:extLst>
          </p:cNvPr>
          <p:cNvSpPr txBox="1"/>
          <p:nvPr/>
        </p:nvSpPr>
        <p:spPr>
          <a:xfrm>
            <a:off x="7420737" y="1030016"/>
            <a:ext cx="982079" cy="261610"/>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マネタイズ</a:t>
            </a:r>
          </a:p>
        </p:txBody>
      </p:sp>
      <p:sp>
        <p:nvSpPr>
          <p:cNvPr id="75" name="テキスト ボックス 74">
            <a:extLst>
              <a:ext uri="{FF2B5EF4-FFF2-40B4-BE49-F238E27FC236}">
                <a16:creationId xmlns:a16="http://schemas.microsoft.com/office/drawing/2014/main" id="{9D71AFEB-56DC-574C-A3FE-D6ED52BB3648}"/>
              </a:ext>
            </a:extLst>
          </p:cNvPr>
          <p:cNvSpPr txBox="1"/>
          <p:nvPr/>
        </p:nvSpPr>
        <p:spPr>
          <a:xfrm>
            <a:off x="8544744" y="945378"/>
            <a:ext cx="982079" cy="430887"/>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リピート</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クロスセル</a:t>
            </a:r>
          </a:p>
        </p:txBody>
      </p:sp>
      <p:sp>
        <p:nvSpPr>
          <p:cNvPr id="93" name="Pentagon 10">
            <a:extLst>
              <a:ext uri="{FF2B5EF4-FFF2-40B4-BE49-F238E27FC236}">
                <a16:creationId xmlns:a16="http://schemas.microsoft.com/office/drawing/2014/main" id="{9C35DFC7-047F-4445-6485-A587DE019B83}"/>
              </a:ext>
            </a:extLst>
          </p:cNvPr>
          <p:cNvSpPr/>
          <p:nvPr/>
        </p:nvSpPr>
        <p:spPr>
          <a:xfrm>
            <a:off x="262895" y="795063"/>
            <a:ext cx="1360371" cy="731520"/>
          </a:xfrm>
          <a:prstGeom prst="homePlate">
            <a:avLst/>
          </a:prstGeom>
          <a:solidFill>
            <a:schemeClr val="bg1">
              <a:lumMod val="6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lang="en-US" altLang="ja-JP" sz="1300" b="1" dirty="0">
              <a:solidFill>
                <a:srgbClr val="FFFFFF"/>
              </a:solidFill>
              <a:latin typeface="メイリオ"/>
              <a:ea typeface="メイリオ"/>
              <a:cs typeface="メイリオ"/>
            </a:endParaRPr>
          </a:p>
        </p:txBody>
      </p:sp>
      <p:sp>
        <p:nvSpPr>
          <p:cNvPr id="95" name="Chevron 11">
            <a:extLst>
              <a:ext uri="{FF2B5EF4-FFF2-40B4-BE49-F238E27FC236}">
                <a16:creationId xmlns:a16="http://schemas.microsoft.com/office/drawing/2014/main" id="{37CAF156-89B2-5154-8249-AED0CB0552E6}"/>
              </a:ext>
            </a:extLst>
          </p:cNvPr>
          <p:cNvSpPr/>
          <p:nvPr/>
        </p:nvSpPr>
        <p:spPr>
          <a:xfrm>
            <a:off x="1299544" y="795063"/>
            <a:ext cx="1482455" cy="731520"/>
          </a:xfrm>
          <a:prstGeom prst="chevron">
            <a:avLst/>
          </a:prstGeom>
          <a:solidFill>
            <a:schemeClr val="accent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97" name="Chevron 11">
            <a:extLst>
              <a:ext uri="{FF2B5EF4-FFF2-40B4-BE49-F238E27FC236}">
                <a16:creationId xmlns:a16="http://schemas.microsoft.com/office/drawing/2014/main" id="{40555260-5155-C957-DF45-AA2E0C3AF2D2}"/>
              </a:ext>
            </a:extLst>
          </p:cNvPr>
          <p:cNvSpPr/>
          <p:nvPr/>
        </p:nvSpPr>
        <p:spPr>
          <a:xfrm>
            <a:off x="2459504" y="795063"/>
            <a:ext cx="1482455" cy="731520"/>
          </a:xfrm>
          <a:prstGeom prst="chevron">
            <a:avLst/>
          </a:prstGeom>
          <a:solidFill>
            <a:schemeClr val="accent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99" name="テキスト ボックス 98">
            <a:extLst>
              <a:ext uri="{FF2B5EF4-FFF2-40B4-BE49-F238E27FC236}">
                <a16:creationId xmlns:a16="http://schemas.microsoft.com/office/drawing/2014/main" id="{D2BD5B61-1C23-D5EA-685B-AB00A3A95300}"/>
              </a:ext>
            </a:extLst>
          </p:cNvPr>
          <p:cNvSpPr txBox="1"/>
          <p:nvPr/>
        </p:nvSpPr>
        <p:spPr>
          <a:xfrm>
            <a:off x="1616581" y="945379"/>
            <a:ext cx="811635" cy="430887"/>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サイト</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離脱</a:t>
            </a:r>
          </a:p>
        </p:txBody>
      </p:sp>
      <p:sp>
        <p:nvSpPr>
          <p:cNvPr id="101" name="テキスト ボックス 100">
            <a:extLst>
              <a:ext uri="{FF2B5EF4-FFF2-40B4-BE49-F238E27FC236}">
                <a16:creationId xmlns:a16="http://schemas.microsoft.com/office/drawing/2014/main" id="{ABA0293E-0A1C-8B4C-AC25-F1D65105B112}"/>
              </a:ext>
            </a:extLst>
          </p:cNvPr>
          <p:cNvSpPr txBox="1"/>
          <p:nvPr/>
        </p:nvSpPr>
        <p:spPr>
          <a:xfrm>
            <a:off x="2787863" y="1030016"/>
            <a:ext cx="811635" cy="261610"/>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育成</a:t>
            </a:r>
          </a:p>
        </p:txBody>
      </p:sp>
      <p:sp>
        <p:nvSpPr>
          <p:cNvPr id="103" name="テキスト ボックス 102">
            <a:extLst>
              <a:ext uri="{FF2B5EF4-FFF2-40B4-BE49-F238E27FC236}">
                <a16:creationId xmlns:a16="http://schemas.microsoft.com/office/drawing/2014/main" id="{4436E3F3-B650-6233-648E-9FCBA0908DC8}"/>
              </a:ext>
            </a:extLst>
          </p:cNvPr>
          <p:cNvSpPr txBox="1"/>
          <p:nvPr/>
        </p:nvSpPr>
        <p:spPr>
          <a:xfrm>
            <a:off x="445299" y="1030016"/>
            <a:ext cx="811635" cy="261610"/>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接触</a:t>
            </a:r>
          </a:p>
        </p:txBody>
      </p:sp>
      <p:sp>
        <p:nvSpPr>
          <p:cNvPr id="15" name="Chevron 12">
            <a:extLst>
              <a:ext uri="{FF2B5EF4-FFF2-40B4-BE49-F238E27FC236}">
                <a16:creationId xmlns:a16="http://schemas.microsoft.com/office/drawing/2014/main" id="{66ED729F-B19D-D81D-6F94-82B592CBD5C0}"/>
              </a:ext>
            </a:extLst>
          </p:cNvPr>
          <p:cNvSpPr/>
          <p:nvPr/>
        </p:nvSpPr>
        <p:spPr>
          <a:xfrm>
            <a:off x="3619464" y="795063"/>
            <a:ext cx="1482455" cy="731520"/>
          </a:xfrm>
          <a:prstGeom prst="chevron">
            <a:avLst/>
          </a:prstGeom>
          <a:solidFill>
            <a:schemeClr val="accent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17" name="テキスト ボックス 16">
            <a:extLst>
              <a:ext uri="{FF2B5EF4-FFF2-40B4-BE49-F238E27FC236}">
                <a16:creationId xmlns:a16="http://schemas.microsoft.com/office/drawing/2014/main" id="{B46A1456-9D10-C361-8904-956CBC7F1CD7}"/>
              </a:ext>
            </a:extLst>
          </p:cNvPr>
          <p:cNvSpPr txBox="1"/>
          <p:nvPr/>
        </p:nvSpPr>
        <p:spPr>
          <a:xfrm>
            <a:off x="3959145" y="945379"/>
            <a:ext cx="811635" cy="430887"/>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リード</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獲得</a:t>
            </a:r>
          </a:p>
        </p:txBody>
      </p:sp>
      <p:sp>
        <p:nvSpPr>
          <p:cNvPr id="4" name="正方形/長方形 3">
            <a:extLst>
              <a:ext uri="{FF2B5EF4-FFF2-40B4-BE49-F238E27FC236}">
                <a16:creationId xmlns:a16="http://schemas.microsoft.com/office/drawing/2014/main" id="{F308840B-61C6-BA05-C93D-D818E6E827C3}"/>
              </a:ext>
            </a:extLst>
          </p:cNvPr>
          <p:cNvSpPr/>
          <p:nvPr/>
        </p:nvSpPr>
        <p:spPr>
          <a:xfrm>
            <a:off x="-15984" y="609190"/>
            <a:ext cx="9917132" cy="1034848"/>
          </a:xfrm>
          <a:prstGeom prst="rect">
            <a:avLst/>
          </a:prstGeom>
          <a:solidFill>
            <a:schemeClr val="bg1">
              <a:alpha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tLang="ja-JP" sz="1400" dirty="0">
              <a:solidFill>
                <a:schemeClr val="tx1"/>
              </a:solidFill>
              <a:latin typeface="メイリオ" panose="020B0604030504040204" pitchFamily="50" charset="-128"/>
              <a:ea typeface="メイリオ" panose="020B0604030504040204" pitchFamily="50" charset="-128"/>
            </a:endParaRPr>
          </a:p>
        </p:txBody>
      </p:sp>
      <p:sp>
        <p:nvSpPr>
          <p:cNvPr id="7" name="正方形/長方形 6">
            <a:extLst>
              <a:ext uri="{FF2B5EF4-FFF2-40B4-BE49-F238E27FC236}">
                <a16:creationId xmlns:a16="http://schemas.microsoft.com/office/drawing/2014/main" id="{6DFDE99D-1BE1-0B34-3609-FD827D701531}"/>
              </a:ext>
            </a:extLst>
          </p:cNvPr>
          <p:cNvSpPr/>
          <p:nvPr/>
        </p:nvSpPr>
        <p:spPr>
          <a:xfrm>
            <a:off x="-15984" y="645907"/>
            <a:ext cx="9930693" cy="1034848"/>
          </a:xfrm>
          <a:prstGeom prst="rect">
            <a:avLst/>
          </a:prstGeom>
          <a:solidFill>
            <a:schemeClr val="bg1">
              <a:lumMod val="95000"/>
              <a:alpha val="3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tLang="ja-JP" sz="1400" dirty="0">
              <a:solidFill>
                <a:schemeClr val="tx1"/>
              </a:solidFill>
              <a:latin typeface="メイリオ" panose="020B0604030504040204" pitchFamily="50" charset="-128"/>
              <a:ea typeface="メイリオ" panose="020B0604030504040204" pitchFamily="50" charset="-128"/>
            </a:endParaRPr>
          </a:p>
        </p:txBody>
      </p:sp>
      <p:sp>
        <p:nvSpPr>
          <p:cNvPr id="9" name="Chevron 12">
            <a:extLst>
              <a:ext uri="{FF2B5EF4-FFF2-40B4-BE49-F238E27FC236}">
                <a16:creationId xmlns:a16="http://schemas.microsoft.com/office/drawing/2014/main" id="{1EE7C547-FD59-69A9-89BE-65E5F3370324}"/>
              </a:ext>
            </a:extLst>
          </p:cNvPr>
          <p:cNvSpPr/>
          <p:nvPr/>
        </p:nvSpPr>
        <p:spPr>
          <a:xfrm>
            <a:off x="5939384" y="795063"/>
            <a:ext cx="1482455" cy="731520"/>
          </a:xfrm>
          <a:prstGeom prst="chevron">
            <a:avLst/>
          </a:prstGeom>
          <a:solidFill>
            <a:schemeClr val="accent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12" name="テキスト ボックス 11">
            <a:extLst>
              <a:ext uri="{FF2B5EF4-FFF2-40B4-BE49-F238E27FC236}">
                <a16:creationId xmlns:a16="http://schemas.microsoft.com/office/drawing/2014/main" id="{BB4C9F68-E568-903C-F9CF-8C2C3C5BF6C3}"/>
              </a:ext>
            </a:extLst>
          </p:cNvPr>
          <p:cNvSpPr txBox="1"/>
          <p:nvPr/>
        </p:nvSpPr>
        <p:spPr>
          <a:xfrm>
            <a:off x="6301709" y="945379"/>
            <a:ext cx="811635" cy="430887"/>
          </a:xfrm>
          <a:prstGeom prst="rect">
            <a:avLst/>
          </a:prstGeom>
          <a:solidFill>
            <a:schemeClr val="accent1">
              <a:lumMod val="75000"/>
            </a:schemeClr>
          </a:solid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リード</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再育成</a:t>
            </a:r>
          </a:p>
        </p:txBody>
      </p:sp>
      <p:sp>
        <p:nvSpPr>
          <p:cNvPr id="16" name="Chevron 11">
            <a:extLst>
              <a:ext uri="{FF2B5EF4-FFF2-40B4-BE49-F238E27FC236}">
                <a16:creationId xmlns:a16="http://schemas.microsoft.com/office/drawing/2014/main" id="{2047273C-15BE-5CA7-505C-5A86165CEAE9}"/>
              </a:ext>
            </a:extLst>
          </p:cNvPr>
          <p:cNvSpPr/>
          <p:nvPr/>
        </p:nvSpPr>
        <p:spPr>
          <a:xfrm>
            <a:off x="4779424" y="795063"/>
            <a:ext cx="1482455" cy="731520"/>
          </a:xfrm>
          <a:prstGeom prst="chevron">
            <a:avLst/>
          </a:prstGeom>
          <a:solidFill>
            <a:schemeClr val="accent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20" name="テキスト ボックス 19">
            <a:extLst>
              <a:ext uri="{FF2B5EF4-FFF2-40B4-BE49-F238E27FC236}">
                <a16:creationId xmlns:a16="http://schemas.microsoft.com/office/drawing/2014/main" id="{201F0B06-F741-FC93-4675-CFD629658555}"/>
              </a:ext>
            </a:extLst>
          </p:cNvPr>
          <p:cNvSpPr txBox="1"/>
          <p:nvPr/>
        </p:nvSpPr>
        <p:spPr>
          <a:xfrm>
            <a:off x="5130427" y="945378"/>
            <a:ext cx="811635" cy="430887"/>
          </a:xfrm>
          <a:prstGeom prst="rect">
            <a:avLst/>
          </a:prstGeom>
          <a:solidFill>
            <a:schemeClr val="accent1">
              <a:lumMod val="75000"/>
            </a:schemeClr>
          </a:solid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有効</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リード化</a:t>
            </a:r>
          </a:p>
        </p:txBody>
      </p:sp>
      <p:sp>
        <p:nvSpPr>
          <p:cNvPr id="6" name="四角形: 角を丸くする 5">
            <a:extLst>
              <a:ext uri="{FF2B5EF4-FFF2-40B4-BE49-F238E27FC236}">
                <a16:creationId xmlns:a16="http://schemas.microsoft.com/office/drawing/2014/main" id="{EB887024-2BBA-BA65-7274-B6C19830B375}"/>
              </a:ext>
            </a:extLst>
          </p:cNvPr>
          <p:cNvSpPr/>
          <p:nvPr/>
        </p:nvSpPr>
        <p:spPr>
          <a:xfrm>
            <a:off x="262895" y="1854926"/>
            <a:ext cx="5885356" cy="435716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四角形: 角を丸くする 9">
            <a:extLst>
              <a:ext uri="{FF2B5EF4-FFF2-40B4-BE49-F238E27FC236}">
                <a16:creationId xmlns:a16="http://schemas.microsoft.com/office/drawing/2014/main" id="{EF085179-F637-C078-F968-9B03AFE0C41E}"/>
              </a:ext>
            </a:extLst>
          </p:cNvPr>
          <p:cNvSpPr/>
          <p:nvPr/>
        </p:nvSpPr>
        <p:spPr>
          <a:xfrm>
            <a:off x="6261879" y="1856231"/>
            <a:ext cx="3381226" cy="1392936"/>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4" name="TextBox 103"/>
          <p:cNvSpPr txBox="1"/>
          <p:nvPr/>
        </p:nvSpPr>
        <p:spPr>
          <a:xfrm>
            <a:off x="411480" y="1965959"/>
            <a:ext cx="5577840" cy="685800"/>
          </a:xfrm>
          <a:prstGeom prst="rect">
            <a:avLst/>
          </a:prstGeom>
          <a:noFill/>
        </p:spPr>
        <p:txBody>
          <a:bodyPr wrap="square" lIns="36000" tIns="10800" rIns="36000" bIns="10800" anchor="t">
            <a:spAutoFit/>
          </a:bodyPr>
          <a:lstStyle/>
          <a:p>
            <a:pPr algn="l">
              <a:lnSpc>
                <a:spcPct val="105000"/>
              </a:lnSpc>
              <a:spcAft>
                <a:spcPts val="200"/>
              </a:spcAft>
            </a:pPr>
            <a:r>
              <a:rPr sz="1600" b="1">
                <a:solidFill>
                  <a:srgbClr val="1F2A5C"/>
                </a:solidFill>
                <a:latin typeface="メイリオ"/>
                <a:ea typeface="メイリオ"/>
                <a:cs typeface="メイリオ"/>
              </a:rPr>
              <a:t>開始時期・エリア別の配信</a:t>
            </a:r>
          </a:p>
          <a:p>
            <a:pPr algn="l">
              <a:lnSpc>
                <a:spcPct val="105000"/>
              </a:lnSpc>
              <a:spcAft>
                <a:spcPts val="200"/>
              </a:spcAft>
            </a:pPr>
            <a:r>
              <a:rPr sz="1200" b="0">
                <a:solidFill>
                  <a:srgbClr val="333333"/>
                </a:solidFill>
                <a:latin typeface="メイリオ"/>
                <a:ea typeface="メイリオ"/>
                <a:cs typeface="メイリオ"/>
              </a:rPr>
              <a:t>診断の答えで、配信を出し分ける</a:t>
            </a:r>
          </a:p>
        </p:txBody>
      </p:sp>
      <p:pic>
        <p:nvPicPr>
          <p:cNvPr id="105" name="Picture 104" descr="demo_p31.png"/>
          <p:cNvPicPr>
            <a:picLocks noChangeAspect="1"/>
          </p:cNvPicPr>
          <p:nvPr/>
        </p:nvPicPr>
        <p:blipFill>
          <a:blip r:embed="rId2"/>
          <a:stretch>
            <a:fillRect/>
          </a:stretch>
        </p:blipFill>
        <p:spPr>
          <a:xfrm>
            <a:off x="1243309" y="2651760"/>
            <a:ext cx="3932468" cy="3310128"/>
          </a:xfrm>
          <a:prstGeom prst="rect">
            <a:avLst/>
          </a:prstGeom>
          <a:ln w="9525">
            <a:solidFill>
              <a:srgbClr val="D9D9D9"/>
            </a:solidFill>
          </a:ln>
        </p:spPr>
      </p:pic>
      <p:sp>
        <p:nvSpPr>
          <p:cNvPr id="106" name="TextBox 105"/>
          <p:cNvSpPr txBox="1"/>
          <p:nvPr/>
        </p:nvSpPr>
        <p:spPr>
          <a:xfrm>
            <a:off x="411480" y="5971032"/>
            <a:ext cx="5577840" cy="219456"/>
          </a:xfrm>
          <a:prstGeom prst="rect">
            <a:avLst/>
          </a:prstGeom>
          <a:noFill/>
        </p:spPr>
        <p:txBody>
          <a:bodyPr wrap="none">
            <a:spAutoFit/>
          </a:bodyPr>
          <a:lstStyle/>
          <a:p>
            <a:r>
              <a:rPr sz="850" b="0">
                <a:solidFill>
                  <a:srgbClr val="7F7F7F"/>
                </a:solidFill>
                <a:latin typeface="メイリオ"/>
                <a:ea typeface="メイリオ"/>
                <a:cs typeface="メイリオ"/>
              </a:rPr>
              <a:t>画面：ワクトリ様向けに作成したデモ（①ユーザーが見る画面／②裏側の処理）。求人はデモ用のサンプル</a:t>
            </a:r>
          </a:p>
        </p:txBody>
      </p:sp>
      <p:sp>
        <p:nvSpPr>
          <p:cNvPr id="110" name="四角形: 角を丸くする 9">
            <a:extLst>
              <a:ext uri="{FF2B5EF4-FFF2-40B4-BE49-F238E27FC236}">
                <a16:creationId xmlns:a16="http://schemas.microsoft.com/office/drawing/2014/main" id="{EF085179-F637-C078-F968-9B03AFE0C41E}"/>
              </a:ext>
            </a:extLst>
          </p:cNvPr>
          <p:cNvSpPr/>
          <p:nvPr/>
        </p:nvSpPr>
        <p:spPr>
          <a:xfrm>
            <a:off x="6261879" y="3340608"/>
            <a:ext cx="3381226" cy="1392936"/>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11" name="四角形: 角を丸くする 9">
            <a:extLst>
              <a:ext uri="{FF2B5EF4-FFF2-40B4-BE49-F238E27FC236}">
                <a16:creationId xmlns:a16="http://schemas.microsoft.com/office/drawing/2014/main" id="{EF085179-F637-C078-F968-9B03AFE0C41E}"/>
              </a:ext>
            </a:extLst>
          </p:cNvPr>
          <p:cNvSpPr/>
          <p:nvPr/>
        </p:nvSpPr>
        <p:spPr>
          <a:xfrm>
            <a:off x="6261879" y="4824984"/>
            <a:ext cx="3381226" cy="1392936"/>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7" name="TextBox 106"/>
          <p:cNvSpPr txBox="1"/>
          <p:nvPr/>
        </p:nvSpPr>
        <p:spPr>
          <a:xfrm>
            <a:off x="6371607" y="2192344"/>
            <a:ext cx="3161770" cy="720710"/>
          </a:xfrm>
          <a:prstGeom prst="rect">
            <a:avLst/>
          </a:prstGeom>
          <a:noFill/>
        </p:spPr>
        <p:txBody>
          <a:bodyPr wrap="square" anchor="ctr">
            <a:spAutoFit/>
          </a:bodyPr>
          <a:lstStyle/>
          <a:p>
            <a:pPr>
              <a:spcAft>
                <a:spcPts val="400"/>
              </a:spcAft>
            </a:pPr>
            <a:r>
              <a:rPr sz="1350" b="1" dirty="0" err="1">
                <a:solidFill>
                  <a:srgbClr val="1F2A5C"/>
                </a:solidFill>
                <a:latin typeface="メイリオ"/>
                <a:ea typeface="メイリオ"/>
                <a:cs typeface="メイリオ"/>
              </a:rPr>
              <a:t>入口</a:t>
            </a:r>
            <a:endParaRPr sz="1350" b="1" dirty="0">
              <a:solidFill>
                <a:srgbClr val="1F2A5C"/>
              </a:solidFill>
              <a:latin typeface="メイリオ"/>
              <a:ea typeface="メイリオ"/>
              <a:cs typeface="メイリオ"/>
            </a:endParaRPr>
          </a:p>
          <a:p>
            <a:r>
              <a:rPr sz="1200" b="0" dirty="0" err="1">
                <a:solidFill>
                  <a:srgbClr val="333333"/>
                </a:solidFill>
                <a:latin typeface="メイリオ"/>
                <a:ea typeface="メイリオ"/>
                <a:cs typeface="メイリオ"/>
              </a:rPr>
              <a:t>特集から、リッチメニューの</a:t>
            </a:r>
            <a:endParaRPr sz="1200" b="0" dirty="0">
              <a:solidFill>
                <a:srgbClr val="333333"/>
              </a:solidFill>
              <a:latin typeface="メイリオ"/>
              <a:ea typeface="メイリオ"/>
              <a:cs typeface="メイリオ"/>
            </a:endParaRPr>
          </a:p>
          <a:p>
            <a:r>
              <a:rPr sz="1200" b="0" dirty="0" err="1">
                <a:solidFill>
                  <a:srgbClr val="333333"/>
                </a:solidFill>
                <a:latin typeface="メイリオ"/>
                <a:ea typeface="メイリオ"/>
                <a:cs typeface="メイリオ"/>
              </a:rPr>
              <a:t>開始月別の求人へつなげる</a:t>
            </a:r>
            <a:endParaRPr sz="1200" b="0" dirty="0">
              <a:solidFill>
                <a:srgbClr val="333333"/>
              </a:solidFill>
              <a:latin typeface="メイリオ"/>
              <a:ea typeface="メイリオ"/>
              <a:cs typeface="メイリオ"/>
            </a:endParaRPr>
          </a:p>
        </p:txBody>
      </p:sp>
      <p:sp>
        <p:nvSpPr>
          <p:cNvPr id="108" name="TextBox 107"/>
          <p:cNvSpPr txBox="1"/>
          <p:nvPr/>
        </p:nvSpPr>
        <p:spPr>
          <a:xfrm>
            <a:off x="6371607" y="3676721"/>
            <a:ext cx="3161770" cy="720710"/>
          </a:xfrm>
          <a:prstGeom prst="rect">
            <a:avLst/>
          </a:prstGeom>
          <a:noFill/>
        </p:spPr>
        <p:txBody>
          <a:bodyPr wrap="square" anchor="ctr">
            <a:spAutoFit/>
          </a:bodyPr>
          <a:lstStyle/>
          <a:p>
            <a:pPr>
              <a:spcAft>
                <a:spcPts val="400"/>
              </a:spcAft>
            </a:pPr>
            <a:r>
              <a:rPr sz="1350" b="1" dirty="0" err="1">
                <a:solidFill>
                  <a:srgbClr val="1F2A5C"/>
                </a:solidFill>
                <a:latin typeface="メイリオ"/>
                <a:ea typeface="メイリオ"/>
                <a:cs typeface="メイリオ"/>
              </a:rPr>
              <a:t>LINEの仕組み</a:t>
            </a:r>
            <a:endParaRPr sz="1350" b="1" dirty="0">
              <a:solidFill>
                <a:srgbClr val="1F2A5C"/>
              </a:solidFill>
              <a:latin typeface="メイリオ"/>
              <a:ea typeface="メイリオ"/>
              <a:cs typeface="メイリオ"/>
            </a:endParaRPr>
          </a:p>
          <a:p>
            <a:r>
              <a:rPr sz="1200" b="0" dirty="0" err="1">
                <a:solidFill>
                  <a:srgbClr val="333333"/>
                </a:solidFill>
                <a:latin typeface="メイリオ"/>
                <a:ea typeface="メイリオ"/>
                <a:cs typeface="メイリオ"/>
              </a:rPr>
              <a:t>開始時期が近づいたら</a:t>
            </a:r>
            <a:r>
              <a:rPr sz="1200" b="0" dirty="0">
                <a:solidFill>
                  <a:srgbClr val="333333"/>
                </a:solidFill>
                <a:latin typeface="メイリオ"/>
                <a:ea typeface="メイリオ"/>
                <a:cs typeface="メイリオ"/>
              </a:rPr>
              <a:t>、</a:t>
            </a:r>
          </a:p>
          <a:p>
            <a:r>
              <a:rPr sz="1200" b="0" dirty="0" err="1">
                <a:solidFill>
                  <a:srgbClr val="333333"/>
                </a:solidFill>
                <a:latin typeface="メイリオ"/>
                <a:ea typeface="メイリオ"/>
                <a:cs typeface="メイリオ"/>
              </a:rPr>
              <a:t>自動で特集を届ける</a:t>
            </a:r>
            <a:endParaRPr sz="1200" b="0" dirty="0">
              <a:solidFill>
                <a:srgbClr val="333333"/>
              </a:solidFill>
              <a:latin typeface="メイリオ"/>
              <a:ea typeface="メイリオ"/>
              <a:cs typeface="メイリオ"/>
            </a:endParaRPr>
          </a:p>
        </p:txBody>
      </p:sp>
      <p:sp>
        <p:nvSpPr>
          <p:cNvPr id="109" name="TextBox 108"/>
          <p:cNvSpPr txBox="1"/>
          <p:nvPr/>
        </p:nvSpPr>
        <p:spPr>
          <a:xfrm>
            <a:off x="6371607" y="5161097"/>
            <a:ext cx="3161770" cy="720710"/>
          </a:xfrm>
          <a:prstGeom prst="rect">
            <a:avLst/>
          </a:prstGeom>
          <a:noFill/>
        </p:spPr>
        <p:txBody>
          <a:bodyPr wrap="square" anchor="ctr">
            <a:spAutoFit/>
          </a:bodyPr>
          <a:lstStyle/>
          <a:p>
            <a:pPr>
              <a:spcAft>
                <a:spcPts val="400"/>
              </a:spcAft>
            </a:pPr>
            <a:r>
              <a:rPr sz="1350" b="1" dirty="0" err="1">
                <a:solidFill>
                  <a:srgbClr val="1F2A5C"/>
                </a:solidFill>
                <a:latin typeface="メイリオ"/>
                <a:ea typeface="メイリオ"/>
                <a:cs typeface="メイリオ"/>
              </a:rPr>
              <a:t>配信内容</a:t>
            </a:r>
            <a:endParaRPr sz="1350" b="1" dirty="0">
              <a:solidFill>
                <a:srgbClr val="1F2A5C"/>
              </a:solidFill>
              <a:latin typeface="メイリオ"/>
              <a:ea typeface="メイリオ"/>
              <a:cs typeface="メイリオ"/>
            </a:endParaRPr>
          </a:p>
          <a:p>
            <a:r>
              <a:rPr sz="1200" b="0" dirty="0">
                <a:solidFill>
                  <a:srgbClr val="333333"/>
                </a:solidFill>
                <a:latin typeface="メイリオ"/>
                <a:ea typeface="メイリオ"/>
                <a:cs typeface="メイリオ"/>
              </a:rPr>
              <a:t>「</a:t>
            </a:r>
            <a:r>
              <a:rPr sz="1200" b="0" dirty="0" err="1">
                <a:solidFill>
                  <a:srgbClr val="333333"/>
                </a:solidFill>
                <a:latin typeface="メイリオ"/>
                <a:ea typeface="メイリオ"/>
                <a:cs typeface="メイリオ"/>
              </a:rPr>
              <a:t>LINE友だち限定」の先行公開や</a:t>
            </a:r>
            <a:endParaRPr sz="1200" b="0" dirty="0">
              <a:solidFill>
                <a:srgbClr val="333333"/>
              </a:solidFill>
              <a:latin typeface="メイリオ"/>
              <a:ea typeface="メイリオ"/>
              <a:cs typeface="メイリオ"/>
            </a:endParaRPr>
          </a:p>
          <a:p>
            <a:r>
              <a:rPr sz="1200" b="0" dirty="0" err="1">
                <a:solidFill>
                  <a:srgbClr val="333333"/>
                </a:solidFill>
                <a:latin typeface="メイリオ"/>
                <a:ea typeface="メイリオ"/>
                <a:cs typeface="メイリオ"/>
              </a:rPr>
              <a:t>締切が近い求人の特集</a:t>
            </a:r>
            <a:endParaRPr sz="1200" b="0" dirty="0">
              <a:solidFill>
                <a:srgbClr val="333333"/>
              </a:solidFill>
              <a:latin typeface="メイリオ"/>
              <a:ea typeface="メイリオ"/>
              <a:cs typeface="メイリオ"/>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テキスト ボックス 47">
            <a:extLst>
              <a:ext uri="{FF2B5EF4-FFF2-40B4-BE49-F238E27FC236}">
                <a16:creationId xmlns:a16="http://schemas.microsoft.com/office/drawing/2014/main" id="{C88AC88B-A817-4005-424A-224DED0BFBAF}"/>
              </a:ext>
            </a:extLst>
          </p:cNvPr>
          <p:cNvSpPr txBox="1">
            <a:spLocks noChangeArrowheads="1"/>
          </p:cNvSpPr>
          <p:nvPr/>
        </p:nvSpPr>
        <p:spPr bwMode="auto">
          <a:xfrm>
            <a:off x="456501" y="107813"/>
            <a:ext cx="7512385" cy="3650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tIns="72000">
            <a:spAutoFit/>
          </a:bodyPr>
          <a:lstStyle>
            <a:lvl1pPr>
              <a:defRPr kumimoji="1" sz="3200">
                <a:solidFill>
                  <a:schemeClr val="tx1"/>
                </a:solidFill>
                <a:latin typeface="Calibri" charset="0"/>
                <a:ea typeface="ＭＳ Ｐゴシック" charset="0"/>
                <a:cs typeface="ＭＳ Ｐゴシック" charset="0"/>
              </a:defRPr>
            </a:lvl1pPr>
            <a:lvl2pPr>
              <a:defRPr kumimoji="1" sz="2800">
                <a:solidFill>
                  <a:schemeClr val="tx1"/>
                </a:solidFill>
                <a:latin typeface="Calibri" charset="0"/>
                <a:ea typeface="ＭＳ Ｐゴシック" charset="0"/>
              </a:defRPr>
            </a:lvl2pPr>
            <a:lvl3pPr>
              <a:defRPr kumimoji="1" sz="2400">
                <a:solidFill>
                  <a:schemeClr val="tx1"/>
                </a:solidFill>
                <a:latin typeface="Calibri" charset="0"/>
                <a:ea typeface="ＭＳ Ｐゴシック" charset="0"/>
              </a:defRPr>
            </a:lvl3pPr>
            <a:lvl4pPr>
              <a:defRPr kumimoji="1" sz="2000">
                <a:solidFill>
                  <a:schemeClr val="tx1"/>
                </a:solidFill>
                <a:latin typeface="Calibri" charset="0"/>
                <a:ea typeface="ＭＳ Ｐゴシック" charset="0"/>
              </a:defRPr>
            </a:lvl4pPr>
            <a:lvl5pPr>
              <a:defRPr kumimoji="1" sz="2000">
                <a:solidFill>
                  <a:schemeClr val="tx1"/>
                </a:solidFill>
                <a:latin typeface="Calibri" charset="0"/>
                <a:ea typeface="ＭＳ Ｐゴシック" charset="0"/>
              </a:defRPr>
            </a:lvl5pPr>
            <a:lvl6pPr eaLnBrk="0" fontAlgn="base" hangingPunct="0">
              <a:spcAft>
                <a:spcPct val="0"/>
              </a:spcAft>
              <a:buFont typeface="Arial" charset="0"/>
              <a:buChar char="»"/>
              <a:defRPr kumimoji="1" sz="2000">
                <a:solidFill>
                  <a:schemeClr val="tx1"/>
                </a:solidFill>
                <a:latin typeface="Calibri" charset="0"/>
                <a:ea typeface="ＭＳ Ｐゴシック" charset="0"/>
              </a:defRPr>
            </a:lvl6pPr>
            <a:lvl7pPr eaLnBrk="0" fontAlgn="base" hangingPunct="0">
              <a:spcAft>
                <a:spcPct val="0"/>
              </a:spcAft>
              <a:buFont typeface="Arial" charset="0"/>
              <a:buChar char="»"/>
              <a:defRPr kumimoji="1" sz="2000">
                <a:solidFill>
                  <a:schemeClr val="tx1"/>
                </a:solidFill>
                <a:latin typeface="Calibri" charset="0"/>
                <a:ea typeface="ＭＳ Ｐゴシック" charset="0"/>
              </a:defRPr>
            </a:lvl7pPr>
            <a:lvl8pPr eaLnBrk="0" fontAlgn="base" hangingPunct="0">
              <a:spcAft>
                <a:spcPct val="0"/>
              </a:spcAft>
              <a:buFont typeface="Arial" charset="0"/>
              <a:buChar char="»"/>
              <a:defRPr kumimoji="1" sz="2000">
                <a:solidFill>
                  <a:schemeClr val="tx1"/>
                </a:solidFill>
                <a:latin typeface="Calibri" charset="0"/>
                <a:ea typeface="ＭＳ Ｐゴシック" charset="0"/>
              </a:defRPr>
            </a:lvl8pPr>
            <a:lvl9pPr eaLnBrk="0" fontAlgn="base" hangingPunct="0">
              <a:spcAft>
                <a:spcPct val="0"/>
              </a:spcAft>
              <a:buFont typeface="Arial" charset="0"/>
              <a:buChar char="»"/>
              <a:defRPr kumimoji="1" sz="2000">
                <a:solidFill>
                  <a:schemeClr val="tx1"/>
                </a:solidFill>
                <a:latin typeface="Calibri" charset="0"/>
                <a:ea typeface="ＭＳ Ｐゴシック" charset="0"/>
              </a:defRPr>
            </a:lvl9pPr>
          </a:lstStyle>
          <a:p>
            <a:pPr>
              <a:spcBef>
                <a:spcPct val="20000"/>
              </a:spcBef>
              <a:buFont typeface="Arial" charset="0"/>
              <a:buNone/>
            </a:pPr>
            <a:r>
              <a:rPr lang="ja-JP" altLang="en-US" sz="1600" b="1" dirty="0">
                <a:solidFill>
                  <a:srgbClr val="1F2A5C"/>
                </a:solidFill>
                <a:latin typeface="メイリオ"/>
                <a:ea typeface="メイリオ"/>
                <a:cs typeface="メイリオ"/>
              </a:rPr>
              <a:t>具体施策のイメージ</a:t>
            </a:r>
          </a:p>
        </p:txBody>
      </p:sp>
      <p:sp>
        <p:nvSpPr>
          <p:cNvPr id="5" name="正方形/長方形 4">
            <a:extLst>
              <a:ext uri="{FF2B5EF4-FFF2-40B4-BE49-F238E27FC236}">
                <a16:creationId xmlns:a16="http://schemas.microsoft.com/office/drawing/2014/main" id="{CA1675F9-B5FA-2EC4-257D-CF7E4918BA44}"/>
              </a:ext>
            </a:extLst>
          </p:cNvPr>
          <p:cNvSpPr/>
          <p:nvPr/>
        </p:nvSpPr>
        <p:spPr>
          <a:xfrm>
            <a:off x="2659553" y="109691"/>
            <a:ext cx="1992986" cy="326496"/>
          </a:xfrm>
          <a:prstGeom prst="rect">
            <a:avLst/>
          </a:prstGeom>
          <a:solidFill>
            <a:schemeClr val="tx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b="1" dirty="0">
                <a:solidFill>
                  <a:schemeClr val="bg1"/>
                </a:solidFill>
                <a:latin typeface="メイリオ" panose="020B0604030504040204" pitchFamily="50" charset="-128"/>
                <a:ea typeface="メイリオ" panose="020B0604030504040204" pitchFamily="50" charset="-128"/>
              </a:rPr>
              <a:t>分岐育成</a:t>
            </a:r>
          </a:p>
        </p:txBody>
      </p:sp>
      <p:sp>
        <p:nvSpPr>
          <p:cNvPr id="4" name="Chevron 13">
            <a:extLst>
              <a:ext uri="{FF2B5EF4-FFF2-40B4-BE49-F238E27FC236}">
                <a16:creationId xmlns:a16="http://schemas.microsoft.com/office/drawing/2014/main" id="{E810FD3A-0007-FF3D-2EE2-9D3DBDBDF9B7}"/>
              </a:ext>
            </a:extLst>
          </p:cNvPr>
          <p:cNvSpPr/>
          <p:nvPr/>
        </p:nvSpPr>
        <p:spPr>
          <a:xfrm>
            <a:off x="7099344" y="795063"/>
            <a:ext cx="1482455" cy="731520"/>
          </a:xfrm>
          <a:prstGeom prst="chevron">
            <a:avLst/>
          </a:prstGeom>
          <a:solidFill>
            <a:schemeClr val="tx2">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7" name="Chevron 12">
            <a:extLst>
              <a:ext uri="{FF2B5EF4-FFF2-40B4-BE49-F238E27FC236}">
                <a16:creationId xmlns:a16="http://schemas.microsoft.com/office/drawing/2014/main" id="{FDD7F035-7D30-BE00-2E6D-62EECA96060F}"/>
              </a:ext>
            </a:extLst>
          </p:cNvPr>
          <p:cNvSpPr/>
          <p:nvPr/>
        </p:nvSpPr>
        <p:spPr>
          <a:xfrm>
            <a:off x="5939384" y="795063"/>
            <a:ext cx="1482455" cy="731520"/>
          </a:xfrm>
          <a:prstGeom prst="chevron">
            <a:avLst/>
          </a:prstGeom>
          <a:solidFill>
            <a:schemeClr val="accent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9" name="Chevron 11">
            <a:extLst>
              <a:ext uri="{FF2B5EF4-FFF2-40B4-BE49-F238E27FC236}">
                <a16:creationId xmlns:a16="http://schemas.microsoft.com/office/drawing/2014/main" id="{62FA9A97-2CD9-6261-526D-BDC7E9F59914}"/>
              </a:ext>
            </a:extLst>
          </p:cNvPr>
          <p:cNvSpPr/>
          <p:nvPr/>
        </p:nvSpPr>
        <p:spPr>
          <a:xfrm>
            <a:off x="4779424" y="795063"/>
            <a:ext cx="1482455" cy="731520"/>
          </a:xfrm>
          <a:prstGeom prst="chevron">
            <a:avLst/>
          </a:prstGeom>
          <a:solidFill>
            <a:schemeClr val="accent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11" name="Chevron 13">
            <a:extLst>
              <a:ext uri="{FF2B5EF4-FFF2-40B4-BE49-F238E27FC236}">
                <a16:creationId xmlns:a16="http://schemas.microsoft.com/office/drawing/2014/main" id="{1F077936-19EC-1BA9-8307-61A4C0787876}"/>
              </a:ext>
            </a:extLst>
          </p:cNvPr>
          <p:cNvSpPr/>
          <p:nvPr/>
        </p:nvSpPr>
        <p:spPr>
          <a:xfrm>
            <a:off x="8259306" y="795063"/>
            <a:ext cx="1482455" cy="731520"/>
          </a:xfrm>
          <a:prstGeom prst="chevron">
            <a:avLst/>
          </a:prstGeom>
          <a:solidFill>
            <a:schemeClr val="tx2">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13" name="テキスト ボックス 12">
            <a:extLst>
              <a:ext uri="{FF2B5EF4-FFF2-40B4-BE49-F238E27FC236}">
                <a16:creationId xmlns:a16="http://schemas.microsoft.com/office/drawing/2014/main" id="{BA3C3F08-3D41-4AB0-6301-E28F75F92824}"/>
              </a:ext>
            </a:extLst>
          </p:cNvPr>
          <p:cNvSpPr txBox="1"/>
          <p:nvPr/>
        </p:nvSpPr>
        <p:spPr>
          <a:xfrm>
            <a:off x="7420737" y="1030016"/>
            <a:ext cx="982079" cy="261610"/>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マネタイズ</a:t>
            </a:r>
          </a:p>
        </p:txBody>
      </p:sp>
      <p:sp>
        <p:nvSpPr>
          <p:cNvPr id="15" name="テキスト ボックス 14">
            <a:extLst>
              <a:ext uri="{FF2B5EF4-FFF2-40B4-BE49-F238E27FC236}">
                <a16:creationId xmlns:a16="http://schemas.microsoft.com/office/drawing/2014/main" id="{5FB88429-899A-764B-8985-89BDCA69FA89}"/>
              </a:ext>
            </a:extLst>
          </p:cNvPr>
          <p:cNvSpPr txBox="1"/>
          <p:nvPr/>
        </p:nvSpPr>
        <p:spPr>
          <a:xfrm>
            <a:off x="5130427" y="945378"/>
            <a:ext cx="811635" cy="430887"/>
          </a:xfrm>
          <a:prstGeom prst="rect">
            <a:avLst/>
          </a:prstGeom>
          <a:solidFill>
            <a:schemeClr val="accent1">
              <a:lumMod val="75000"/>
            </a:schemeClr>
          </a:solid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有効</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リード化</a:t>
            </a:r>
          </a:p>
        </p:txBody>
      </p:sp>
      <p:sp>
        <p:nvSpPr>
          <p:cNvPr id="17" name="テキスト ボックス 16">
            <a:extLst>
              <a:ext uri="{FF2B5EF4-FFF2-40B4-BE49-F238E27FC236}">
                <a16:creationId xmlns:a16="http://schemas.microsoft.com/office/drawing/2014/main" id="{B7136484-8522-1579-D263-EAACFB1889EB}"/>
              </a:ext>
            </a:extLst>
          </p:cNvPr>
          <p:cNvSpPr txBox="1"/>
          <p:nvPr/>
        </p:nvSpPr>
        <p:spPr>
          <a:xfrm>
            <a:off x="6301709" y="945379"/>
            <a:ext cx="811635" cy="430887"/>
          </a:xfrm>
          <a:prstGeom prst="rect">
            <a:avLst/>
          </a:prstGeom>
          <a:solidFill>
            <a:schemeClr val="accent1">
              <a:lumMod val="75000"/>
            </a:schemeClr>
          </a:solid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リード</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再育成</a:t>
            </a:r>
          </a:p>
        </p:txBody>
      </p:sp>
      <p:sp>
        <p:nvSpPr>
          <p:cNvPr id="19" name="テキスト ボックス 18">
            <a:extLst>
              <a:ext uri="{FF2B5EF4-FFF2-40B4-BE49-F238E27FC236}">
                <a16:creationId xmlns:a16="http://schemas.microsoft.com/office/drawing/2014/main" id="{4979BDA7-0F1E-E435-A28C-9423621EC42F}"/>
              </a:ext>
            </a:extLst>
          </p:cNvPr>
          <p:cNvSpPr txBox="1"/>
          <p:nvPr/>
        </p:nvSpPr>
        <p:spPr>
          <a:xfrm>
            <a:off x="8544744" y="945378"/>
            <a:ext cx="982079" cy="430887"/>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リピート</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クロスセル</a:t>
            </a:r>
          </a:p>
        </p:txBody>
      </p:sp>
      <p:sp>
        <p:nvSpPr>
          <p:cNvPr id="27" name="Chevron 11">
            <a:extLst>
              <a:ext uri="{FF2B5EF4-FFF2-40B4-BE49-F238E27FC236}">
                <a16:creationId xmlns:a16="http://schemas.microsoft.com/office/drawing/2014/main" id="{71817687-7D9D-3B4B-F550-ACDFD57436B2}"/>
              </a:ext>
            </a:extLst>
          </p:cNvPr>
          <p:cNvSpPr/>
          <p:nvPr/>
        </p:nvSpPr>
        <p:spPr>
          <a:xfrm>
            <a:off x="1299544" y="795063"/>
            <a:ext cx="1482455" cy="731520"/>
          </a:xfrm>
          <a:prstGeom prst="chevron">
            <a:avLst/>
          </a:prstGeom>
          <a:solidFill>
            <a:schemeClr val="accent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29" name="Chevron 11">
            <a:extLst>
              <a:ext uri="{FF2B5EF4-FFF2-40B4-BE49-F238E27FC236}">
                <a16:creationId xmlns:a16="http://schemas.microsoft.com/office/drawing/2014/main" id="{554D37E9-1335-2651-1815-E7257F5AF134}"/>
              </a:ext>
            </a:extLst>
          </p:cNvPr>
          <p:cNvSpPr/>
          <p:nvPr/>
        </p:nvSpPr>
        <p:spPr>
          <a:xfrm>
            <a:off x="2459504" y="795063"/>
            <a:ext cx="1482455" cy="731520"/>
          </a:xfrm>
          <a:prstGeom prst="chevron">
            <a:avLst/>
          </a:prstGeom>
          <a:solidFill>
            <a:schemeClr val="accent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31" name="テキスト ボックス 30">
            <a:extLst>
              <a:ext uri="{FF2B5EF4-FFF2-40B4-BE49-F238E27FC236}">
                <a16:creationId xmlns:a16="http://schemas.microsoft.com/office/drawing/2014/main" id="{E5FD654E-DA39-F87F-E126-D2CA3BCFECFA}"/>
              </a:ext>
            </a:extLst>
          </p:cNvPr>
          <p:cNvSpPr txBox="1"/>
          <p:nvPr/>
        </p:nvSpPr>
        <p:spPr>
          <a:xfrm>
            <a:off x="1616581" y="945379"/>
            <a:ext cx="811635" cy="430887"/>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サイト</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離脱</a:t>
            </a:r>
          </a:p>
        </p:txBody>
      </p:sp>
      <p:sp>
        <p:nvSpPr>
          <p:cNvPr id="33" name="テキスト ボックス 32">
            <a:extLst>
              <a:ext uri="{FF2B5EF4-FFF2-40B4-BE49-F238E27FC236}">
                <a16:creationId xmlns:a16="http://schemas.microsoft.com/office/drawing/2014/main" id="{ABCB2BE8-6C91-F80E-49A7-AA2E377146D3}"/>
              </a:ext>
            </a:extLst>
          </p:cNvPr>
          <p:cNvSpPr txBox="1"/>
          <p:nvPr/>
        </p:nvSpPr>
        <p:spPr>
          <a:xfrm>
            <a:off x="2787863" y="1030016"/>
            <a:ext cx="811635" cy="261610"/>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育成</a:t>
            </a:r>
          </a:p>
        </p:txBody>
      </p:sp>
      <p:sp>
        <p:nvSpPr>
          <p:cNvPr id="37" name="Chevron 12">
            <a:extLst>
              <a:ext uri="{FF2B5EF4-FFF2-40B4-BE49-F238E27FC236}">
                <a16:creationId xmlns:a16="http://schemas.microsoft.com/office/drawing/2014/main" id="{35150713-047B-D9D4-872A-3A7863929939}"/>
              </a:ext>
            </a:extLst>
          </p:cNvPr>
          <p:cNvSpPr/>
          <p:nvPr/>
        </p:nvSpPr>
        <p:spPr>
          <a:xfrm>
            <a:off x="3619464" y="795063"/>
            <a:ext cx="1482455" cy="731520"/>
          </a:xfrm>
          <a:prstGeom prst="chevron">
            <a:avLst/>
          </a:prstGeom>
          <a:solidFill>
            <a:schemeClr val="accent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39" name="テキスト ボックス 38">
            <a:extLst>
              <a:ext uri="{FF2B5EF4-FFF2-40B4-BE49-F238E27FC236}">
                <a16:creationId xmlns:a16="http://schemas.microsoft.com/office/drawing/2014/main" id="{D2ED9B44-C4F0-1A57-C3AD-9651A637F2B6}"/>
              </a:ext>
            </a:extLst>
          </p:cNvPr>
          <p:cNvSpPr txBox="1"/>
          <p:nvPr/>
        </p:nvSpPr>
        <p:spPr>
          <a:xfrm>
            <a:off x="3959145" y="945379"/>
            <a:ext cx="811635" cy="430887"/>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リード</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獲得</a:t>
            </a:r>
          </a:p>
        </p:txBody>
      </p:sp>
      <p:sp>
        <p:nvSpPr>
          <p:cNvPr id="84" name="正方形/長方形 83">
            <a:extLst>
              <a:ext uri="{FF2B5EF4-FFF2-40B4-BE49-F238E27FC236}">
                <a16:creationId xmlns:a16="http://schemas.microsoft.com/office/drawing/2014/main" id="{3F86528F-074B-2CD3-B672-1A9E0ADF36DE}"/>
              </a:ext>
            </a:extLst>
          </p:cNvPr>
          <p:cNvSpPr/>
          <p:nvPr/>
        </p:nvSpPr>
        <p:spPr>
          <a:xfrm>
            <a:off x="-15984" y="645907"/>
            <a:ext cx="9930693" cy="1034848"/>
          </a:xfrm>
          <a:prstGeom prst="rect">
            <a:avLst/>
          </a:prstGeom>
          <a:solidFill>
            <a:schemeClr val="bg1">
              <a:lumMod val="95000"/>
              <a:alpha val="3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tLang="ja-JP" sz="1400" dirty="0">
              <a:solidFill>
                <a:schemeClr val="tx1"/>
              </a:solidFill>
              <a:latin typeface="メイリオ" panose="020B0604030504040204" pitchFamily="50" charset="-128"/>
              <a:ea typeface="メイリオ" panose="020B0604030504040204" pitchFamily="50" charset="-128"/>
            </a:endParaRPr>
          </a:p>
        </p:txBody>
      </p:sp>
      <p:sp>
        <p:nvSpPr>
          <p:cNvPr id="86" name="Pentagon 10">
            <a:extLst>
              <a:ext uri="{FF2B5EF4-FFF2-40B4-BE49-F238E27FC236}">
                <a16:creationId xmlns:a16="http://schemas.microsoft.com/office/drawing/2014/main" id="{BC454E1A-6C9B-81E7-66B6-86546B3BD10E}"/>
              </a:ext>
            </a:extLst>
          </p:cNvPr>
          <p:cNvSpPr/>
          <p:nvPr/>
        </p:nvSpPr>
        <p:spPr>
          <a:xfrm>
            <a:off x="262895" y="795063"/>
            <a:ext cx="1360371" cy="731520"/>
          </a:xfrm>
          <a:prstGeom prst="homePlate">
            <a:avLst/>
          </a:prstGeom>
          <a:solidFill>
            <a:schemeClr val="bg1">
              <a:lumMod val="6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lang="en-US" altLang="ja-JP" sz="1300" b="1" dirty="0">
              <a:solidFill>
                <a:srgbClr val="FFFFFF"/>
              </a:solidFill>
              <a:latin typeface="メイリオ"/>
              <a:ea typeface="メイリオ"/>
              <a:cs typeface="メイリオ"/>
            </a:endParaRPr>
          </a:p>
        </p:txBody>
      </p:sp>
      <p:sp>
        <p:nvSpPr>
          <p:cNvPr id="88" name="テキスト ボックス 87">
            <a:extLst>
              <a:ext uri="{FF2B5EF4-FFF2-40B4-BE49-F238E27FC236}">
                <a16:creationId xmlns:a16="http://schemas.microsoft.com/office/drawing/2014/main" id="{90007845-B74B-5EB8-01A2-F0D0B3B107AA}"/>
              </a:ext>
            </a:extLst>
          </p:cNvPr>
          <p:cNvSpPr txBox="1"/>
          <p:nvPr/>
        </p:nvSpPr>
        <p:spPr>
          <a:xfrm>
            <a:off x="445299" y="1030016"/>
            <a:ext cx="811635" cy="261610"/>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接触</a:t>
            </a:r>
          </a:p>
        </p:txBody>
      </p:sp>
      <p:sp>
        <p:nvSpPr>
          <p:cNvPr id="6" name="四角形: 角を丸くする 5">
            <a:extLst>
              <a:ext uri="{FF2B5EF4-FFF2-40B4-BE49-F238E27FC236}">
                <a16:creationId xmlns:a16="http://schemas.microsoft.com/office/drawing/2014/main" id="{4A672F05-4819-7C65-3B2F-FE8247A0F4A9}"/>
              </a:ext>
            </a:extLst>
          </p:cNvPr>
          <p:cNvSpPr/>
          <p:nvPr/>
        </p:nvSpPr>
        <p:spPr>
          <a:xfrm>
            <a:off x="262895" y="1854926"/>
            <a:ext cx="5885356" cy="435716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四角形: 角を丸くする 9">
            <a:extLst>
              <a:ext uri="{FF2B5EF4-FFF2-40B4-BE49-F238E27FC236}">
                <a16:creationId xmlns:a16="http://schemas.microsoft.com/office/drawing/2014/main" id="{354330A3-6E6E-081D-CE86-E6E991D271E0}"/>
              </a:ext>
            </a:extLst>
          </p:cNvPr>
          <p:cNvSpPr/>
          <p:nvPr/>
        </p:nvSpPr>
        <p:spPr>
          <a:xfrm>
            <a:off x="6261879" y="1856231"/>
            <a:ext cx="3381226" cy="1392936"/>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9" name="TextBox 88"/>
          <p:cNvSpPr txBox="1"/>
          <p:nvPr/>
        </p:nvSpPr>
        <p:spPr>
          <a:xfrm>
            <a:off x="411480" y="1965959"/>
            <a:ext cx="5577840" cy="685800"/>
          </a:xfrm>
          <a:prstGeom prst="rect">
            <a:avLst/>
          </a:prstGeom>
          <a:noFill/>
        </p:spPr>
        <p:txBody>
          <a:bodyPr wrap="square" lIns="36000" tIns="10800" rIns="36000" bIns="10800" anchor="t">
            <a:spAutoFit/>
          </a:bodyPr>
          <a:lstStyle/>
          <a:p>
            <a:pPr algn="l">
              <a:lnSpc>
                <a:spcPct val="105000"/>
              </a:lnSpc>
              <a:spcAft>
                <a:spcPts val="200"/>
              </a:spcAft>
            </a:pPr>
            <a:r>
              <a:rPr sz="1600" b="1">
                <a:solidFill>
                  <a:srgbClr val="1F2A5C"/>
                </a:solidFill>
                <a:latin typeface="メイリオ"/>
                <a:ea typeface="メイリオ"/>
                <a:cs typeface="メイリオ"/>
              </a:rPr>
              <a:t>リッチメニュー</a:t>
            </a:r>
          </a:p>
          <a:p>
            <a:pPr algn="l">
              <a:lnSpc>
                <a:spcPct val="105000"/>
              </a:lnSpc>
              <a:spcAft>
                <a:spcPts val="200"/>
              </a:spcAft>
            </a:pPr>
            <a:r>
              <a:rPr sz="1200" b="0">
                <a:solidFill>
                  <a:srgbClr val="333333"/>
                </a:solidFill>
                <a:latin typeface="メイリオ"/>
                <a:ea typeface="メイリオ"/>
                <a:cs typeface="メイリオ"/>
              </a:rPr>
              <a:t>開始月別の求人・相談・ENTRY</a:t>
            </a:r>
          </a:p>
        </p:txBody>
      </p:sp>
      <p:pic>
        <p:nvPicPr>
          <p:cNvPr id="90" name="Picture 89" descr="demo_p32.png"/>
          <p:cNvPicPr>
            <a:picLocks noChangeAspect="1"/>
          </p:cNvPicPr>
          <p:nvPr/>
        </p:nvPicPr>
        <p:blipFill>
          <a:blip r:embed="rId2"/>
          <a:stretch>
            <a:fillRect/>
          </a:stretch>
        </p:blipFill>
        <p:spPr>
          <a:xfrm>
            <a:off x="1243309" y="2651760"/>
            <a:ext cx="3932468" cy="3310128"/>
          </a:xfrm>
          <a:prstGeom prst="rect">
            <a:avLst/>
          </a:prstGeom>
          <a:ln w="9525">
            <a:solidFill>
              <a:srgbClr val="D9D9D9"/>
            </a:solidFill>
          </a:ln>
        </p:spPr>
      </p:pic>
      <p:sp>
        <p:nvSpPr>
          <p:cNvPr id="91" name="TextBox 90"/>
          <p:cNvSpPr txBox="1"/>
          <p:nvPr/>
        </p:nvSpPr>
        <p:spPr>
          <a:xfrm>
            <a:off x="411480" y="5971032"/>
            <a:ext cx="5577840" cy="219456"/>
          </a:xfrm>
          <a:prstGeom prst="rect">
            <a:avLst/>
          </a:prstGeom>
          <a:noFill/>
        </p:spPr>
        <p:txBody>
          <a:bodyPr wrap="none">
            <a:spAutoFit/>
          </a:bodyPr>
          <a:lstStyle/>
          <a:p>
            <a:r>
              <a:rPr sz="850" b="0">
                <a:solidFill>
                  <a:srgbClr val="7F7F7F"/>
                </a:solidFill>
                <a:latin typeface="メイリオ"/>
                <a:ea typeface="メイリオ"/>
                <a:cs typeface="メイリオ"/>
              </a:rPr>
              <a:t>画面：ワクトリ様向けに作成したデモ（①ユーザーが見る画面／②裏側の処理）。求人はデモ用のサンプル</a:t>
            </a:r>
          </a:p>
        </p:txBody>
      </p:sp>
      <p:sp>
        <p:nvSpPr>
          <p:cNvPr id="95" name="四角形: 角を丸くする 9">
            <a:extLst>
              <a:ext uri="{FF2B5EF4-FFF2-40B4-BE49-F238E27FC236}">
                <a16:creationId xmlns:a16="http://schemas.microsoft.com/office/drawing/2014/main" id="{354330A3-6E6E-081D-CE86-E6E991D271E0}"/>
              </a:ext>
            </a:extLst>
          </p:cNvPr>
          <p:cNvSpPr/>
          <p:nvPr/>
        </p:nvSpPr>
        <p:spPr>
          <a:xfrm>
            <a:off x="6261879" y="3340608"/>
            <a:ext cx="3381226" cy="1392936"/>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6" name="四角形: 角を丸くする 9">
            <a:extLst>
              <a:ext uri="{FF2B5EF4-FFF2-40B4-BE49-F238E27FC236}">
                <a16:creationId xmlns:a16="http://schemas.microsoft.com/office/drawing/2014/main" id="{354330A3-6E6E-081D-CE86-E6E991D271E0}"/>
              </a:ext>
            </a:extLst>
          </p:cNvPr>
          <p:cNvSpPr/>
          <p:nvPr/>
        </p:nvSpPr>
        <p:spPr>
          <a:xfrm>
            <a:off x="6261879" y="4824984"/>
            <a:ext cx="3381226" cy="1392936"/>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2" name="TextBox 91"/>
          <p:cNvSpPr txBox="1"/>
          <p:nvPr/>
        </p:nvSpPr>
        <p:spPr>
          <a:xfrm>
            <a:off x="6371607" y="2192344"/>
            <a:ext cx="3161770" cy="720710"/>
          </a:xfrm>
          <a:prstGeom prst="rect">
            <a:avLst/>
          </a:prstGeom>
          <a:noFill/>
        </p:spPr>
        <p:txBody>
          <a:bodyPr wrap="square" anchor="ctr">
            <a:spAutoFit/>
          </a:bodyPr>
          <a:lstStyle/>
          <a:p>
            <a:pPr>
              <a:spcAft>
                <a:spcPts val="400"/>
              </a:spcAft>
            </a:pPr>
            <a:r>
              <a:rPr sz="1350" b="1" dirty="0" err="1">
                <a:solidFill>
                  <a:srgbClr val="1F2A5C"/>
                </a:solidFill>
                <a:latin typeface="メイリオ"/>
                <a:ea typeface="メイリオ"/>
                <a:cs typeface="メイリオ"/>
              </a:rPr>
              <a:t>入口</a:t>
            </a:r>
            <a:endParaRPr sz="1350" b="1" dirty="0">
              <a:solidFill>
                <a:srgbClr val="1F2A5C"/>
              </a:solidFill>
              <a:latin typeface="メイリオ"/>
              <a:ea typeface="メイリオ"/>
              <a:cs typeface="メイリオ"/>
            </a:endParaRPr>
          </a:p>
          <a:p>
            <a:r>
              <a:rPr sz="1200" b="0" dirty="0" err="1">
                <a:solidFill>
                  <a:srgbClr val="333333"/>
                </a:solidFill>
                <a:latin typeface="メイリオ"/>
                <a:ea typeface="メイリオ"/>
                <a:cs typeface="メイリオ"/>
              </a:rPr>
              <a:t>応募（ENTRY）の前と後で</a:t>
            </a:r>
            <a:r>
              <a:rPr sz="1200" b="0" dirty="0">
                <a:solidFill>
                  <a:srgbClr val="333333"/>
                </a:solidFill>
                <a:latin typeface="メイリオ"/>
                <a:ea typeface="メイリオ"/>
                <a:cs typeface="メイリオ"/>
              </a:rPr>
              <a:t>、</a:t>
            </a:r>
          </a:p>
          <a:p>
            <a:r>
              <a:rPr sz="1200" b="0" dirty="0" err="1">
                <a:solidFill>
                  <a:srgbClr val="333333"/>
                </a:solidFill>
                <a:latin typeface="メイリオ"/>
                <a:ea typeface="メイリオ"/>
                <a:cs typeface="メイリオ"/>
              </a:rPr>
              <a:t>メニューを切り替える</a:t>
            </a:r>
            <a:endParaRPr sz="1200" b="0" dirty="0">
              <a:solidFill>
                <a:srgbClr val="333333"/>
              </a:solidFill>
              <a:latin typeface="メイリオ"/>
              <a:ea typeface="メイリオ"/>
              <a:cs typeface="メイリオ"/>
            </a:endParaRPr>
          </a:p>
        </p:txBody>
      </p:sp>
      <p:sp>
        <p:nvSpPr>
          <p:cNvPr id="93" name="TextBox 92"/>
          <p:cNvSpPr txBox="1"/>
          <p:nvPr/>
        </p:nvSpPr>
        <p:spPr>
          <a:xfrm>
            <a:off x="6371607" y="3676721"/>
            <a:ext cx="3161770" cy="720710"/>
          </a:xfrm>
          <a:prstGeom prst="rect">
            <a:avLst/>
          </a:prstGeom>
          <a:noFill/>
        </p:spPr>
        <p:txBody>
          <a:bodyPr wrap="square" anchor="ctr">
            <a:spAutoFit/>
          </a:bodyPr>
          <a:lstStyle/>
          <a:p>
            <a:pPr>
              <a:spcAft>
                <a:spcPts val="400"/>
              </a:spcAft>
            </a:pPr>
            <a:r>
              <a:rPr sz="1350" b="1" dirty="0" err="1">
                <a:solidFill>
                  <a:srgbClr val="1F2A5C"/>
                </a:solidFill>
                <a:latin typeface="メイリオ"/>
                <a:ea typeface="メイリオ"/>
                <a:cs typeface="メイリオ"/>
              </a:rPr>
              <a:t>LINEの仕組み</a:t>
            </a:r>
            <a:endParaRPr sz="1350" b="1" dirty="0">
              <a:solidFill>
                <a:srgbClr val="1F2A5C"/>
              </a:solidFill>
              <a:latin typeface="メイリオ"/>
              <a:ea typeface="メイリオ"/>
              <a:cs typeface="メイリオ"/>
            </a:endParaRPr>
          </a:p>
          <a:p>
            <a:r>
              <a:rPr sz="1200" b="0" dirty="0" err="1">
                <a:solidFill>
                  <a:srgbClr val="333333"/>
                </a:solidFill>
                <a:latin typeface="メイリオ"/>
                <a:ea typeface="メイリオ"/>
                <a:cs typeface="メイリオ"/>
              </a:rPr>
              <a:t>押した項目をタグにして</a:t>
            </a:r>
            <a:r>
              <a:rPr sz="1200" b="0" dirty="0">
                <a:solidFill>
                  <a:srgbClr val="333333"/>
                </a:solidFill>
                <a:latin typeface="メイリオ"/>
                <a:ea typeface="メイリオ"/>
                <a:cs typeface="メイリオ"/>
              </a:rPr>
              <a:t>、</a:t>
            </a:r>
          </a:p>
          <a:p>
            <a:r>
              <a:rPr sz="1200" b="0" dirty="0" err="1">
                <a:solidFill>
                  <a:srgbClr val="333333"/>
                </a:solidFill>
                <a:latin typeface="メイリオ"/>
                <a:ea typeface="メイリオ"/>
                <a:cs typeface="メイリオ"/>
              </a:rPr>
              <a:t>関心に合う配信につなげる</a:t>
            </a:r>
            <a:endParaRPr sz="1200" b="0" dirty="0">
              <a:solidFill>
                <a:srgbClr val="333333"/>
              </a:solidFill>
              <a:latin typeface="メイリオ"/>
              <a:ea typeface="メイリオ"/>
              <a:cs typeface="メイリオ"/>
            </a:endParaRPr>
          </a:p>
        </p:txBody>
      </p:sp>
      <p:sp>
        <p:nvSpPr>
          <p:cNvPr id="94" name="TextBox 93"/>
          <p:cNvSpPr txBox="1"/>
          <p:nvPr/>
        </p:nvSpPr>
        <p:spPr>
          <a:xfrm>
            <a:off x="6371607" y="5161097"/>
            <a:ext cx="3161770" cy="720710"/>
          </a:xfrm>
          <a:prstGeom prst="rect">
            <a:avLst/>
          </a:prstGeom>
          <a:noFill/>
        </p:spPr>
        <p:txBody>
          <a:bodyPr wrap="square" anchor="ctr">
            <a:spAutoFit/>
          </a:bodyPr>
          <a:lstStyle/>
          <a:p>
            <a:pPr>
              <a:spcAft>
                <a:spcPts val="400"/>
              </a:spcAft>
            </a:pPr>
            <a:r>
              <a:rPr sz="1350" b="1" dirty="0" err="1">
                <a:solidFill>
                  <a:srgbClr val="1F2A5C"/>
                </a:solidFill>
                <a:latin typeface="メイリオ"/>
                <a:ea typeface="メイリオ"/>
                <a:cs typeface="メイリオ"/>
              </a:rPr>
              <a:t>配信内容</a:t>
            </a:r>
            <a:endParaRPr sz="1350" b="1" dirty="0">
              <a:solidFill>
                <a:srgbClr val="1F2A5C"/>
              </a:solidFill>
              <a:latin typeface="メイリオ"/>
              <a:ea typeface="メイリオ"/>
              <a:cs typeface="メイリオ"/>
            </a:endParaRPr>
          </a:p>
          <a:p>
            <a:r>
              <a:rPr sz="1200" b="0" dirty="0" err="1">
                <a:solidFill>
                  <a:srgbClr val="333333"/>
                </a:solidFill>
                <a:latin typeface="メイリオ"/>
                <a:ea typeface="メイリオ"/>
                <a:cs typeface="メイリオ"/>
              </a:rPr>
              <a:t>季節ごとに特集の枠を入れ替える</a:t>
            </a:r>
            <a:endParaRPr sz="1200" b="0" dirty="0">
              <a:solidFill>
                <a:srgbClr val="333333"/>
              </a:solidFill>
              <a:latin typeface="メイリオ"/>
              <a:ea typeface="メイリオ"/>
              <a:cs typeface="メイリオ"/>
            </a:endParaRPr>
          </a:p>
          <a:p>
            <a:r>
              <a:rPr sz="1200" b="0" dirty="0">
                <a:solidFill>
                  <a:srgbClr val="333333"/>
                </a:solidFill>
                <a:latin typeface="メイリオ"/>
                <a:ea typeface="メイリオ"/>
                <a:cs typeface="メイリオ"/>
              </a:rPr>
              <a:t>（</a:t>
            </a:r>
            <a:r>
              <a:rPr sz="1200" b="0" dirty="0" err="1">
                <a:solidFill>
                  <a:srgbClr val="333333"/>
                </a:solidFill>
                <a:latin typeface="メイリオ"/>
                <a:ea typeface="メイリオ"/>
                <a:cs typeface="メイリオ"/>
              </a:rPr>
              <a:t>冬はスキー場、夏は海</a:t>
            </a:r>
            <a:r>
              <a:rPr sz="1200" b="0" dirty="0">
                <a:solidFill>
                  <a:srgbClr val="333333"/>
                </a:solidFill>
                <a:latin typeface="メイリオ"/>
                <a:ea typeface="メイリオ"/>
                <a:cs typeface="メイリオ"/>
              </a:rPr>
              <a:t>）</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テキスト ボックス 47">
            <a:extLst>
              <a:ext uri="{FF2B5EF4-FFF2-40B4-BE49-F238E27FC236}">
                <a16:creationId xmlns:a16="http://schemas.microsoft.com/office/drawing/2014/main" id="{557E5823-79CB-79CF-DD07-21851266A6FB}"/>
              </a:ext>
            </a:extLst>
          </p:cNvPr>
          <p:cNvSpPr txBox="1">
            <a:spLocks noChangeArrowheads="1"/>
          </p:cNvSpPr>
          <p:nvPr/>
        </p:nvSpPr>
        <p:spPr bwMode="auto">
          <a:xfrm>
            <a:off x="456501" y="107813"/>
            <a:ext cx="7512385" cy="3650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tIns="72000">
            <a:spAutoFit/>
          </a:bodyPr>
          <a:lstStyle>
            <a:lvl1pPr>
              <a:defRPr kumimoji="1" sz="3200">
                <a:solidFill>
                  <a:schemeClr val="tx1"/>
                </a:solidFill>
                <a:latin typeface="Calibri" charset="0"/>
                <a:ea typeface="ＭＳ Ｐゴシック" charset="0"/>
                <a:cs typeface="ＭＳ Ｐゴシック" charset="0"/>
              </a:defRPr>
            </a:lvl1pPr>
            <a:lvl2pPr>
              <a:defRPr kumimoji="1" sz="2800">
                <a:solidFill>
                  <a:schemeClr val="tx1"/>
                </a:solidFill>
                <a:latin typeface="Calibri" charset="0"/>
                <a:ea typeface="ＭＳ Ｐゴシック" charset="0"/>
              </a:defRPr>
            </a:lvl2pPr>
            <a:lvl3pPr>
              <a:defRPr kumimoji="1" sz="2400">
                <a:solidFill>
                  <a:schemeClr val="tx1"/>
                </a:solidFill>
                <a:latin typeface="Calibri" charset="0"/>
                <a:ea typeface="ＭＳ Ｐゴシック" charset="0"/>
              </a:defRPr>
            </a:lvl3pPr>
            <a:lvl4pPr>
              <a:defRPr kumimoji="1" sz="2000">
                <a:solidFill>
                  <a:schemeClr val="tx1"/>
                </a:solidFill>
                <a:latin typeface="Calibri" charset="0"/>
                <a:ea typeface="ＭＳ Ｐゴシック" charset="0"/>
              </a:defRPr>
            </a:lvl4pPr>
            <a:lvl5pPr>
              <a:defRPr kumimoji="1" sz="2000">
                <a:solidFill>
                  <a:schemeClr val="tx1"/>
                </a:solidFill>
                <a:latin typeface="Calibri" charset="0"/>
                <a:ea typeface="ＭＳ Ｐゴシック" charset="0"/>
              </a:defRPr>
            </a:lvl5pPr>
            <a:lvl6pPr eaLnBrk="0" fontAlgn="base" hangingPunct="0">
              <a:spcAft>
                <a:spcPct val="0"/>
              </a:spcAft>
              <a:buFont typeface="Arial" charset="0"/>
              <a:buChar char="»"/>
              <a:defRPr kumimoji="1" sz="2000">
                <a:solidFill>
                  <a:schemeClr val="tx1"/>
                </a:solidFill>
                <a:latin typeface="Calibri" charset="0"/>
                <a:ea typeface="ＭＳ Ｐゴシック" charset="0"/>
              </a:defRPr>
            </a:lvl6pPr>
            <a:lvl7pPr eaLnBrk="0" fontAlgn="base" hangingPunct="0">
              <a:spcAft>
                <a:spcPct val="0"/>
              </a:spcAft>
              <a:buFont typeface="Arial" charset="0"/>
              <a:buChar char="»"/>
              <a:defRPr kumimoji="1" sz="2000">
                <a:solidFill>
                  <a:schemeClr val="tx1"/>
                </a:solidFill>
                <a:latin typeface="Calibri" charset="0"/>
                <a:ea typeface="ＭＳ Ｐゴシック" charset="0"/>
              </a:defRPr>
            </a:lvl7pPr>
            <a:lvl8pPr eaLnBrk="0" fontAlgn="base" hangingPunct="0">
              <a:spcAft>
                <a:spcPct val="0"/>
              </a:spcAft>
              <a:buFont typeface="Arial" charset="0"/>
              <a:buChar char="»"/>
              <a:defRPr kumimoji="1" sz="2000">
                <a:solidFill>
                  <a:schemeClr val="tx1"/>
                </a:solidFill>
                <a:latin typeface="Calibri" charset="0"/>
                <a:ea typeface="ＭＳ Ｐゴシック" charset="0"/>
              </a:defRPr>
            </a:lvl8pPr>
            <a:lvl9pPr eaLnBrk="0" fontAlgn="base" hangingPunct="0">
              <a:spcAft>
                <a:spcPct val="0"/>
              </a:spcAft>
              <a:buFont typeface="Arial" charset="0"/>
              <a:buChar char="»"/>
              <a:defRPr kumimoji="1" sz="2000">
                <a:solidFill>
                  <a:schemeClr val="tx1"/>
                </a:solidFill>
                <a:latin typeface="Calibri" charset="0"/>
                <a:ea typeface="ＭＳ Ｐゴシック" charset="0"/>
              </a:defRPr>
            </a:lvl9pPr>
          </a:lstStyle>
          <a:p>
            <a:pPr>
              <a:spcBef>
                <a:spcPct val="20000"/>
              </a:spcBef>
              <a:buFont typeface="Arial" charset="0"/>
              <a:buNone/>
            </a:pPr>
            <a:r>
              <a:rPr lang="ja-JP" altLang="en-US" sz="1600" b="1" dirty="0">
                <a:solidFill>
                  <a:srgbClr val="1F2A5C"/>
                </a:solidFill>
                <a:latin typeface="メイリオ"/>
                <a:ea typeface="メイリオ"/>
                <a:cs typeface="メイリオ"/>
              </a:rPr>
              <a:t>具体施策のイメージ</a:t>
            </a:r>
          </a:p>
        </p:txBody>
      </p:sp>
      <p:sp>
        <p:nvSpPr>
          <p:cNvPr id="5" name="正方形/長方形 4">
            <a:extLst>
              <a:ext uri="{FF2B5EF4-FFF2-40B4-BE49-F238E27FC236}">
                <a16:creationId xmlns:a16="http://schemas.microsoft.com/office/drawing/2014/main" id="{1E195F02-0BE8-1161-7792-37774CB37C27}"/>
              </a:ext>
            </a:extLst>
          </p:cNvPr>
          <p:cNvSpPr/>
          <p:nvPr/>
        </p:nvSpPr>
        <p:spPr>
          <a:xfrm>
            <a:off x="2659553" y="109691"/>
            <a:ext cx="1992986" cy="326496"/>
          </a:xfrm>
          <a:prstGeom prst="rect">
            <a:avLst/>
          </a:prstGeom>
          <a:solidFill>
            <a:schemeClr val="tx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b="1" dirty="0">
                <a:solidFill>
                  <a:srgbClr val="FFFFFF"/>
                </a:solidFill>
                <a:latin typeface="メイリオ" panose="020B0604030504040204" pitchFamily="50" charset="-128"/>
                <a:ea typeface="メイリオ" panose="020B0604030504040204" pitchFamily="50" charset="-128"/>
              </a:rPr>
              <a:t>成果回収</a:t>
            </a:r>
          </a:p>
        </p:txBody>
      </p:sp>
      <p:sp>
        <p:nvSpPr>
          <p:cNvPr id="59" name="Chevron 13">
            <a:extLst>
              <a:ext uri="{FF2B5EF4-FFF2-40B4-BE49-F238E27FC236}">
                <a16:creationId xmlns:a16="http://schemas.microsoft.com/office/drawing/2014/main" id="{89590842-2A09-C403-C1A7-D0632594BF04}"/>
              </a:ext>
            </a:extLst>
          </p:cNvPr>
          <p:cNvSpPr/>
          <p:nvPr/>
        </p:nvSpPr>
        <p:spPr>
          <a:xfrm>
            <a:off x="8259306" y="795063"/>
            <a:ext cx="1482455" cy="731520"/>
          </a:xfrm>
          <a:prstGeom prst="chevron">
            <a:avLst/>
          </a:prstGeom>
          <a:solidFill>
            <a:schemeClr val="tx2">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75" name="テキスト ボックス 74">
            <a:extLst>
              <a:ext uri="{FF2B5EF4-FFF2-40B4-BE49-F238E27FC236}">
                <a16:creationId xmlns:a16="http://schemas.microsoft.com/office/drawing/2014/main" id="{12D9BFE2-CB63-417C-A20D-B9821D0107A5}"/>
              </a:ext>
            </a:extLst>
          </p:cNvPr>
          <p:cNvSpPr txBox="1"/>
          <p:nvPr/>
        </p:nvSpPr>
        <p:spPr>
          <a:xfrm>
            <a:off x="8544744" y="945378"/>
            <a:ext cx="982079" cy="430887"/>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リピート</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クロスセル</a:t>
            </a:r>
          </a:p>
        </p:txBody>
      </p:sp>
      <p:sp>
        <p:nvSpPr>
          <p:cNvPr id="93" name="Pentagon 10">
            <a:extLst>
              <a:ext uri="{FF2B5EF4-FFF2-40B4-BE49-F238E27FC236}">
                <a16:creationId xmlns:a16="http://schemas.microsoft.com/office/drawing/2014/main" id="{91C9FB43-DBA3-EA85-05DF-AE178836A78D}"/>
              </a:ext>
            </a:extLst>
          </p:cNvPr>
          <p:cNvSpPr/>
          <p:nvPr/>
        </p:nvSpPr>
        <p:spPr>
          <a:xfrm>
            <a:off x="262895" y="795063"/>
            <a:ext cx="1360371" cy="731520"/>
          </a:xfrm>
          <a:prstGeom prst="homePlate">
            <a:avLst/>
          </a:prstGeom>
          <a:solidFill>
            <a:schemeClr val="bg1">
              <a:lumMod val="6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lang="en-US" altLang="ja-JP" sz="1300" b="1" dirty="0">
              <a:solidFill>
                <a:srgbClr val="FFFFFF"/>
              </a:solidFill>
              <a:latin typeface="メイリオ"/>
              <a:ea typeface="メイリオ"/>
              <a:cs typeface="メイリオ"/>
            </a:endParaRPr>
          </a:p>
        </p:txBody>
      </p:sp>
      <p:sp>
        <p:nvSpPr>
          <p:cNvPr id="95" name="Chevron 11">
            <a:extLst>
              <a:ext uri="{FF2B5EF4-FFF2-40B4-BE49-F238E27FC236}">
                <a16:creationId xmlns:a16="http://schemas.microsoft.com/office/drawing/2014/main" id="{F9CF7B55-ABF2-9927-A557-D4F3EF2DF295}"/>
              </a:ext>
            </a:extLst>
          </p:cNvPr>
          <p:cNvSpPr/>
          <p:nvPr/>
        </p:nvSpPr>
        <p:spPr>
          <a:xfrm>
            <a:off x="1299544" y="795063"/>
            <a:ext cx="1482455" cy="731520"/>
          </a:xfrm>
          <a:prstGeom prst="chevron">
            <a:avLst/>
          </a:prstGeom>
          <a:solidFill>
            <a:schemeClr val="accent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97" name="Chevron 11">
            <a:extLst>
              <a:ext uri="{FF2B5EF4-FFF2-40B4-BE49-F238E27FC236}">
                <a16:creationId xmlns:a16="http://schemas.microsoft.com/office/drawing/2014/main" id="{203D985A-07CB-6B2B-4A38-1E9BA4CDA422}"/>
              </a:ext>
            </a:extLst>
          </p:cNvPr>
          <p:cNvSpPr/>
          <p:nvPr/>
        </p:nvSpPr>
        <p:spPr>
          <a:xfrm>
            <a:off x="2459504" y="795063"/>
            <a:ext cx="1482455" cy="731520"/>
          </a:xfrm>
          <a:prstGeom prst="chevron">
            <a:avLst/>
          </a:prstGeom>
          <a:solidFill>
            <a:schemeClr val="accent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99" name="テキスト ボックス 98">
            <a:extLst>
              <a:ext uri="{FF2B5EF4-FFF2-40B4-BE49-F238E27FC236}">
                <a16:creationId xmlns:a16="http://schemas.microsoft.com/office/drawing/2014/main" id="{B3868298-612A-E7EA-3955-A46C112AF68C}"/>
              </a:ext>
            </a:extLst>
          </p:cNvPr>
          <p:cNvSpPr txBox="1"/>
          <p:nvPr/>
        </p:nvSpPr>
        <p:spPr>
          <a:xfrm>
            <a:off x="1616581" y="945379"/>
            <a:ext cx="811635" cy="430887"/>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サイト</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離脱</a:t>
            </a:r>
          </a:p>
        </p:txBody>
      </p:sp>
      <p:sp>
        <p:nvSpPr>
          <p:cNvPr id="101" name="テキスト ボックス 100">
            <a:extLst>
              <a:ext uri="{FF2B5EF4-FFF2-40B4-BE49-F238E27FC236}">
                <a16:creationId xmlns:a16="http://schemas.microsoft.com/office/drawing/2014/main" id="{B1C1BD77-0A03-135D-FA57-5809267D4770}"/>
              </a:ext>
            </a:extLst>
          </p:cNvPr>
          <p:cNvSpPr txBox="1"/>
          <p:nvPr/>
        </p:nvSpPr>
        <p:spPr>
          <a:xfrm>
            <a:off x="2787863" y="1030016"/>
            <a:ext cx="811635" cy="261610"/>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育成</a:t>
            </a:r>
          </a:p>
        </p:txBody>
      </p:sp>
      <p:sp>
        <p:nvSpPr>
          <p:cNvPr id="103" name="テキスト ボックス 102">
            <a:extLst>
              <a:ext uri="{FF2B5EF4-FFF2-40B4-BE49-F238E27FC236}">
                <a16:creationId xmlns:a16="http://schemas.microsoft.com/office/drawing/2014/main" id="{4C224908-2FD0-1514-BACD-7F6558F09AA2}"/>
              </a:ext>
            </a:extLst>
          </p:cNvPr>
          <p:cNvSpPr txBox="1"/>
          <p:nvPr/>
        </p:nvSpPr>
        <p:spPr>
          <a:xfrm>
            <a:off x="445299" y="1030016"/>
            <a:ext cx="811635" cy="261610"/>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接触</a:t>
            </a:r>
          </a:p>
        </p:txBody>
      </p:sp>
      <p:sp>
        <p:nvSpPr>
          <p:cNvPr id="15" name="Chevron 12">
            <a:extLst>
              <a:ext uri="{FF2B5EF4-FFF2-40B4-BE49-F238E27FC236}">
                <a16:creationId xmlns:a16="http://schemas.microsoft.com/office/drawing/2014/main" id="{8FE0D0D7-6CDA-A5D9-5092-FCB405EBD3A3}"/>
              </a:ext>
            </a:extLst>
          </p:cNvPr>
          <p:cNvSpPr/>
          <p:nvPr/>
        </p:nvSpPr>
        <p:spPr>
          <a:xfrm>
            <a:off x="3619464" y="795063"/>
            <a:ext cx="1482455" cy="731520"/>
          </a:xfrm>
          <a:prstGeom prst="chevron">
            <a:avLst/>
          </a:prstGeom>
          <a:solidFill>
            <a:schemeClr val="accent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17" name="テキスト ボックス 16">
            <a:extLst>
              <a:ext uri="{FF2B5EF4-FFF2-40B4-BE49-F238E27FC236}">
                <a16:creationId xmlns:a16="http://schemas.microsoft.com/office/drawing/2014/main" id="{12488706-D231-32C7-26F9-D9CFE1BA5E6C}"/>
              </a:ext>
            </a:extLst>
          </p:cNvPr>
          <p:cNvSpPr txBox="1"/>
          <p:nvPr/>
        </p:nvSpPr>
        <p:spPr>
          <a:xfrm>
            <a:off x="3959145" y="945379"/>
            <a:ext cx="811635" cy="430887"/>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リード</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獲得</a:t>
            </a:r>
          </a:p>
        </p:txBody>
      </p:sp>
      <p:sp>
        <p:nvSpPr>
          <p:cNvPr id="16" name="Chevron 11">
            <a:extLst>
              <a:ext uri="{FF2B5EF4-FFF2-40B4-BE49-F238E27FC236}">
                <a16:creationId xmlns:a16="http://schemas.microsoft.com/office/drawing/2014/main" id="{0AE256B2-7E32-A02D-D53F-FF495523BBAD}"/>
              </a:ext>
            </a:extLst>
          </p:cNvPr>
          <p:cNvSpPr/>
          <p:nvPr/>
        </p:nvSpPr>
        <p:spPr>
          <a:xfrm>
            <a:off x="4779424" y="795063"/>
            <a:ext cx="1482455" cy="731520"/>
          </a:xfrm>
          <a:prstGeom prst="chevron">
            <a:avLst/>
          </a:prstGeom>
          <a:solidFill>
            <a:schemeClr val="accent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20" name="テキスト ボックス 19">
            <a:extLst>
              <a:ext uri="{FF2B5EF4-FFF2-40B4-BE49-F238E27FC236}">
                <a16:creationId xmlns:a16="http://schemas.microsoft.com/office/drawing/2014/main" id="{EE4FEEB2-BD75-74F5-892E-BB00B34A19C1}"/>
              </a:ext>
            </a:extLst>
          </p:cNvPr>
          <p:cNvSpPr txBox="1"/>
          <p:nvPr/>
        </p:nvSpPr>
        <p:spPr>
          <a:xfrm>
            <a:off x="5130427" y="945378"/>
            <a:ext cx="811635" cy="430887"/>
          </a:xfrm>
          <a:prstGeom prst="rect">
            <a:avLst/>
          </a:prstGeom>
          <a:solidFill>
            <a:schemeClr val="accent1">
              <a:lumMod val="75000"/>
            </a:schemeClr>
          </a:solid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有効</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リード化</a:t>
            </a:r>
          </a:p>
        </p:txBody>
      </p:sp>
      <p:sp>
        <p:nvSpPr>
          <p:cNvPr id="6" name="正方形/長方形 5">
            <a:extLst>
              <a:ext uri="{FF2B5EF4-FFF2-40B4-BE49-F238E27FC236}">
                <a16:creationId xmlns:a16="http://schemas.microsoft.com/office/drawing/2014/main" id="{2B757B0D-5672-2DBF-99A3-B8B407F70FEA}"/>
              </a:ext>
            </a:extLst>
          </p:cNvPr>
          <p:cNvSpPr/>
          <p:nvPr/>
        </p:nvSpPr>
        <p:spPr>
          <a:xfrm>
            <a:off x="-15984" y="609190"/>
            <a:ext cx="9917132" cy="1034848"/>
          </a:xfrm>
          <a:prstGeom prst="rect">
            <a:avLst/>
          </a:prstGeom>
          <a:solidFill>
            <a:schemeClr val="bg1">
              <a:alpha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tLang="ja-JP" sz="1400" dirty="0">
              <a:solidFill>
                <a:schemeClr val="tx1"/>
              </a:solidFill>
              <a:latin typeface="メイリオ" panose="020B0604030504040204" pitchFamily="50" charset="-128"/>
              <a:ea typeface="メイリオ" panose="020B0604030504040204" pitchFamily="50" charset="-128"/>
            </a:endParaRPr>
          </a:p>
        </p:txBody>
      </p:sp>
      <p:sp>
        <p:nvSpPr>
          <p:cNvPr id="10" name="正方形/長方形 9">
            <a:extLst>
              <a:ext uri="{FF2B5EF4-FFF2-40B4-BE49-F238E27FC236}">
                <a16:creationId xmlns:a16="http://schemas.microsoft.com/office/drawing/2014/main" id="{BCB263E2-823E-545D-4E23-6526BDDF63F7}"/>
              </a:ext>
            </a:extLst>
          </p:cNvPr>
          <p:cNvSpPr/>
          <p:nvPr/>
        </p:nvSpPr>
        <p:spPr>
          <a:xfrm>
            <a:off x="-15984" y="645907"/>
            <a:ext cx="9930693" cy="1034848"/>
          </a:xfrm>
          <a:prstGeom prst="rect">
            <a:avLst/>
          </a:prstGeom>
          <a:solidFill>
            <a:schemeClr val="bg1">
              <a:lumMod val="95000"/>
              <a:alpha val="3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tLang="ja-JP" sz="1400" dirty="0">
              <a:solidFill>
                <a:schemeClr val="tx1"/>
              </a:solidFill>
              <a:latin typeface="メイリオ" panose="020B0604030504040204" pitchFamily="50" charset="-128"/>
              <a:ea typeface="メイリオ" panose="020B0604030504040204" pitchFamily="50" charset="-128"/>
            </a:endParaRPr>
          </a:p>
        </p:txBody>
      </p:sp>
      <p:sp>
        <p:nvSpPr>
          <p:cNvPr id="13" name="Chevron 13">
            <a:extLst>
              <a:ext uri="{FF2B5EF4-FFF2-40B4-BE49-F238E27FC236}">
                <a16:creationId xmlns:a16="http://schemas.microsoft.com/office/drawing/2014/main" id="{E71A1805-4F7A-19B6-8CAB-65DAB13A046F}"/>
              </a:ext>
            </a:extLst>
          </p:cNvPr>
          <p:cNvSpPr/>
          <p:nvPr/>
        </p:nvSpPr>
        <p:spPr>
          <a:xfrm>
            <a:off x="7099344" y="795063"/>
            <a:ext cx="1482455" cy="731520"/>
          </a:xfrm>
          <a:prstGeom prst="chevron">
            <a:avLst/>
          </a:prstGeom>
          <a:solidFill>
            <a:schemeClr val="tx2">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18" name="テキスト ボックス 17">
            <a:extLst>
              <a:ext uri="{FF2B5EF4-FFF2-40B4-BE49-F238E27FC236}">
                <a16:creationId xmlns:a16="http://schemas.microsoft.com/office/drawing/2014/main" id="{A0A85333-5E90-D48C-7292-FEE54783258F}"/>
              </a:ext>
            </a:extLst>
          </p:cNvPr>
          <p:cNvSpPr txBox="1"/>
          <p:nvPr/>
        </p:nvSpPr>
        <p:spPr>
          <a:xfrm>
            <a:off x="7420737" y="1030016"/>
            <a:ext cx="982079" cy="261610"/>
          </a:xfrm>
          <a:prstGeom prst="rect">
            <a:avLst/>
          </a:prstGeom>
          <a:no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マネタイズ</a:t>
            </a:r>
          </a:p>
        </p:txBody>
      </p:sp>
      <p:sp>
        <p:nvSpPr>
          <p:cNvPr id="21" name="Chevron 12">
            <a:extLst>
              <a:ext uri="{FF2B5EF4-FFF2-40B4-BE49-F238E27FC236}">
                <a16:creationId xmlns:a16="http://schemas.microsoft.com/office/drawing/2014/main" id="{1783606B-DD54-1208-7E4B-9811ECD1BB55}"/>
              </a:ext>
            </a:extLst>
          </p:cNvPr>
          <p:cNvSpPr/>
          <p:nvPr/>
        </p:nvSpPr>
        <p:spPr>
          <a:xfrm>
            <a:off x="5939384" y="795063"/>
            <a:ext cx="1482455" cy="731520"/>
          </a:xfrm>
          <a:prstGeom prst="chevron">
            <a:avLst/>
          </a:prstGeom>
          <a:solidFill>
            <a:schemeClr val="accent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wrap="square" lIns="228600" tIns="18288" rIns="228600" bIns="18288" rtlCol="0" anchor="ctr"/>
          <a:lstStyle/>
          <a:p>
            <a:pPr algn="ctr">
              <a:spcAft>
                <a:spcPts val="0"/>
              </a:spcAft>
            </a:pPr>
            <a:endParaRPr sz="1300" b="1" dirty="0">
              <a:solidFill>
                <a:srgbClr val="FFFFFF"/>
              </a:solidFill>
              <a:latin typeface="メイリオ"/>
              <a:ea typeface="メイリオ"/>
              <a:cs typeface="メイリオ"/>
            </a:endParaRPr>
          </a:p>
        </p:txBody>
      </p:sp>
      <p:sp>
        <p:nvSpPr>
          <p:cNvPr id="23" name="テキスト ボックス 22">
            <a:extLst>
              <a:ext uri="{FF2B5EF4-FFF2-40B4-BE49-F238E27FC236}">
                <a16:creationId xmlns:a16="http://schemas.microsoft.com/office/drawing/2014/main" id="{92CDBEB6-422E-01E9-0FE6-2116B0ADE9E3}"/>
              </a:ext>
            </a:extLst>
          </p:cNvPr>
          <p:cNvSpPr txBox="1"/>
          <p:nvPr/>
        </p:nvSpPr>
        <p:spPr>
          <a:xfrm>
            <a:off x="6301709" y="945379"/>
            <a:ext cx="811635" cy="430887"/>
          </a:xfrm>
          <a:prstGeom prst="rect">
            <a:avLst/>
          </a:prstGeom>
          <a:solidFill>
            <a:schemeClr val="accent1">
              <a:lumMod val="75000"/>
            </a:schemeClr>
          </a:solidFill>
          <a:ln>
            <a:noFill/>
          </a:ln>
        </p:spPr>
        <p:txBody>
          <a:bodyPr wrap="square" anchor="ctr">
            <a:spAutoFit/>
          </a:bodyPr>
          <a:lstStyle/>
          <a:p>
            <a:pPr algn="ctr">
              <a:spcAft>
                <a:spcPts val="0"/>
              </a:spcAft>
            </a:pPr>
            <a:r>
              <a:rPr lang="ja-JP" altLang="en-US" sz="1100" b="1" dirty="0">
                <a:solidFill>
                  <a:srgbClr val="FFFFFF"/>
                </a:solidFill>
                <a:latin typeface="メイリオ"/>
                <a:ea typeface="メイリオ"/>
                <a:cs typeface="メイリオ"/>
              </a:rPr>
              <a:t>リード</a:t>
            </a:r>
            <a:endParaRPr lang="en-US" altLang="ja-JP" sz="1100" b="1" dirty="0">
              <a:solidFill>
                <a:srgbClr val="FFFFFF"/>
              </a:solidFill>
              <a:latin typeface="メイリオ"/>
              <a:ea typeface="メイリオ"/>
              <a:cs typeface="メイリオ"/>
            </a:endParaRPr>
          </a:p>
          <a:p>
            <a:pPr algn="ctr">
              <a:spcAft>
                <a:spcPts val="0"/>
              </a:spcAft>
            </a:pPr>
            <a:r>
              <a:rPr lang="ja-JP" altLang="en-US" sz="1100" b="1" dirty="0">
                <a:solidFill>
                  <a:srgbClr val="FFFFFF"/>
                </a:solidFill>
                <a:latin typeface="メイリオ"/>
                <a:ea typeface="メイリオ"/>
                <a:cs typeface="メイリオ"/>
              </a:rPr>
              <a:t>再育成</a:t>
            </a:r>
          </a:p>
        </p:txBody>
      </p:sp>
      <p:sp>
        <p:nvSpPr>
          <p:cNvPr id="4" name="四角形: 角を丸くする 3">
            <a:extLst>
              <a:ext uri="{FF2B5EF4-FFF2-40B4-BE49-F238E27FC236}">
                <a16:creationId xmlns:a16="http://schemas.microsoft.com/office/drawing/2014/main" id="{923FB0AD-5795-4174-961E-6636BB6435AD}"/>
              </a:ext>
            </a:extLst>
          </p:cNvPr>
          <p:cNvSpPr/>
          <p:nvPr/>
        </p:nvSpPr>
        <p:spPr>
          <a:xfrm>
            <a:off x="262895" y="1854926"/>
            <a:ext cx="5885356" cy="4357168"/>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 name="四角形: 角を丸くする 7">
            <a:extLst>
              <a:ext uri="{FF2B5EF4-FFF2-40B4-BE49-F238E27FC236}">
                <a16:creationId xmlns:a16="http://schemas.microsoft.com/office/drawing/2014/main" id="{06A126BE-8D6C-B00B-4224-DD59072FF345}"/>
              </a:ext>
            </a:extLst>
          </p:cNvPr>
          <p:cNvSpPr/>
          <p:nvPr/>
        </p:nvSpPr>
        <p:spPr>
          <a:xfrm>
            <a:off x="6261879" y="1856231"/>
            <a:ext cx="3381226" cy="1392936"/>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4" name="TextBox 103"/>
          <p:cNvSpPr txBox="1"/>
          <p:nvPr/>
        </p:nvSpPr>
        <p:spPr>
          <a:xfrm>
            <a:off x="411480" y="1965959"/>
            <a:ext cx="5577840" cy="685800"/>
          </a:xfrm>
          <a:prstGeom prst="rect">
            <a:avLst/>
          </a:prstGeom>
          <a:noFill/>
        </p:spPr>
        <p:txBody>
          <a:bodyPr wrap="square" lIns="36000" tIns="10800" rIns="36000" bIns="10800" anchor="t">
            <a:spAutoFit/>
          </a:bodyPr>
          <a:lstStyle/>
          <a:p>
            <a:pPr algn="l">
              <a:lnSpc>
                <a:spcPct val="105000"/>
              </a:lnSpc>
              <a:spcAft>
                <a:spcPts val="200"/>
              </a:spcAft>
            </a:pPr>
            <a:r>
              <a:rPr sz="1600" b="1">
                <a:solidFill>
                  <a:srgbClr val="1F2A5C"/>
                </a:solidFill>
                <a:latin typeface="メイリオ"/>
                <a:ea typeface="メイリオ"/>
                <a:cs typeface="メイリオ"/>
              </a:rPr>
              <a:t>サンクスLINE誘導（オプション）</a:t>
            </a:r>
          </a:p>
          <a:p>
            <a:pPr algn="l">
              <a:lnSpc>
                <a:spcPct val="105000"/>
              </a:lnSpc>
              <a:spcAft>
                <a:spcPts val="200"/>
              </a:spcAft>
            </a:pPr>
            <a:r>
              <a:rPr sz="1200" b="0">
                <a:solidFill>
                  <a:srgbClr val="333333"/>
                </a:solidFill>
                <a:latin typeface="メイリオ"/>
                <a:ea typeface="メイリオ"/>
                <a:cs typeface="メイリオ"/>
              </a:rPr>
              <a:t>マイページ登録の完了画面からLINEへ、カウンセリング・応募まで</a:t>
            </a:r>
          </a:p>
        </p:txBody>
      </p:sp>
      <p:pic>
        <p:nvPicPr>
          <p:cNvPr id="105" name="Picture 104" descr="demo_p33.png"/>
          <p:cNvPicPr>
            <a:picLocks noChangeAspect="1"/>
          </p:cNvPicPr>
          <p:nvPr/>
        </p:nvPicPr>
        <p:blipFill>
          <a:blip r:embed="rId2"/>
          <a:stretch>
            <a:fillRect/>
          </a:stretch>
        </p:blipFill>
        <p:spPr>
          <a:xfrm>
            <a:off x="1243309" y="2651760"/>
            <a:ext cx="3932468" cy="3310128"/>
          </a:xfrm>
          <a:prstGeom prst="rect">
            <a:avLst/>
          </a:prstGeom>
          <a:ln w="9525">
            <a:solidFill>
              <a:srgbClr val="D9D9D9"/>
            </a:solidFill>
          </a:ln>
        </p:spPr>
      </p:pic>
      <p:sp>
        <p:nvSpPr>
          <p:cNvPr id="106" name="TextBox 105"/>
          <p:cNvSpPr txBox="1"/>
          <p:nvPr/>
        </p:nvSpPr>
        <p:spPr>
          <a:xfrm>
            <a:off x="411480" y="5971032"/>
            <a:ext cx="5577840" cy="219456"/>
          </a:xfrm>
          <a:prstGeom prst="rect">
            <a:avLst/>
          </a:prstGeom>
          <a:noFill/>
        </p:spPr>
        <p:txBody>
          <a:bodyPr wrap="none">
            <a:spAutoFit/>
          </a:bodyPr>
          <a:lstStyle/>
          <a:p>
            <a:r>
              <a:rPr sz="850" b="0">
                <a:solidFill>
                  <a:srgbClr val="7F7F7F"/>
                </a:solidFill>
                <a:latin typeface="メイリオ"/>
                <a:ea typeface="メイリオ"/>
                <a:cs typeface="メイリオ"/>
              </a:rPr>
              <a:t>画面：ワクトリ様向けに作成したデモ（①ユーザーが見る画面／②裏側の処理）。求人はデモ用のサンプル</a:t>
            </a:r>
          </a:p>
        </p:txBody>
      </p:sp>
      <p:sp>
        <p:nvSpPr>
          <p:cNvPr id="110" name="四角形: 角を丸くする 7">
            <a:extLst>
              <a:ext uri="{FF2B5EF4-FFF2-40B4-BE49-F238E27FC236}">
                <a16:creationId xmlns:a16="http://schemas.microsoft.com/office/drawing/2014/main" id="{06A126BE-8D6C-B00B-4224-DD59072FF345}"/>
              </a:ext>
            </a:extLst>
          </p:cNvPr>
          <p:cNvSpPr/>
          <p:nvPr/>
        </p:nvSpPr>
        <p:spPr>
          <a:xfrm>
            <a:off x="6261879" y="3340608"/>
            <a:ext cx="3381226" cy="1392936"/>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11" name="四角形: 角を丸くする 7">
            <a:extLst>
              <a:ext uri="{FF2B5EF4-FFF2-40B4-BE49-F238E27FC236}">
                <a16:creationId xmlns:a16="http://schemas.microsoft.com/office/drawing/2014/main" id="{06A126BE-8D6C-B00B-4224-DD59072FF345}"/>
              </a:ext>
            </a:extLst>
          </p:cNvPr>
          <p:cNvSpPr/>
          <p:nvPr/>
        </p:nvSpPr>
        <p:spPr>
          <a:xfrm>
            <a:off x="6261879" y="4824984"/>
            <a:ext cx="3381226" cy="1392936"/>
          </a:xfrm>
          <a:prstGeom prst="roundRect">
            <a:avLst>
              <a:gd name="adj" fmla="val 2754"/>
            </a:avLst>
          </a:prstGeom>
          <a:noFill/>
          <a:ln>
            <a:solidFill>
              <a:schemeClr val="tx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7" name="TextBox 106"/>
          <p:cNvSpPr txBox="1"/>
          <p:nvPr/>
        </p:nvSpPr>
        <p:spPr>
          <a:xfrm>
            <a:off x="6371607" y="2192344"/>
            <a:ext cx="3161770" cy="720710"/>
          </a:xfrm>
          <a:prstGeom prst="rect">
            <a:avLst/>
          </a:prstGeom>
          <a:noFill/>
        </p:spPr>
        <p:txBody>
          <a:bodyPr wrap="square" anchor="ctr">
            <a:spAutoFit/>
          </a:bodyPr>
          <a:lstStyle/>
          <a:p>
            <a:pPr>
              <a:spcAft>
                <a:spcPts val="400"/>
              </a:spcAft>
            </a:pPr>
            <a:r>
              <a:rPr sz="1350" b="1" dirty="0" err="1">
                <a:solidFill>
                  <a:srgbClr val="1F2A5C"/>
                </a:solidFill>
                <a:latin typeface="メイリオ"/>
                <a:ea typeface="メイリオ"/>
                <a:cs typeface="メイリオ"/>
              </a:rPr>
              <a:t>入口</a:t>
            </a:r>
            <a:endParaRPr sz="1350" b="1" dirty="0">
              <a:solidFill>
                <a:srgbClr val="1F2A5C"/>
              </a:solidFill>
              <a:latin typeface="メイリオ"/>
              <a:ea typeface="メイリオ"/>
              <a:cs typeface="メイリオ"/>
            </a:endParaRPr>
          </a:p>
          <a:p>
            <a:r>
              <a:rPr sz="1200" b="0" dirty="0" err="1">
                <a:solidFill>
                  <a:srgbClr val="333333"/>
                </a:solidFill>
                <a:latin typeface="メイリオ"/>
                <a:ea typeface="メイリオ"/>
                <a:cs typeface="メイリオ"/>
              </a:rPr>
              <a:t>お問い合わせなど、ほかの</a:t>
            </a:r>
            <a:endParaRPr sz="1200" b="0" dirty="0">
              <a:solidFill>
                <a:srgbClr val="333333"/>
              </a:solidFill>
              <a:latin typeface="メイリオ"/>
              <a:ea typeface="メイリオ"/>
              <a:cs typeface="メイリオ"/>
            </a:endParaRPr>
          </a:p>
          <a:p>
            <a:r>
              <a:rPr sz="1200" b="0" dirty="0" err="1">
                <a:solidFill>
                  <a:srgbClr val="333333"/>
                </a:solidFill>
                <a:latin typeface="メイリオ"/>
                <a:ea typeface="メイリオ"/>
                <a:cs typeface="メイリオ"/>
              </a:rPr>
              <a:t>フォームの完了画面にも置く</a:t>
            </a:r>
            <a:endParaRPr sz="1200" b="0" dirty="0">
              <a:solidFill>
                <a:srgbClr val="333333"/>
              </a:solidFill>
              <a:latin typeface="メイリオ"/>
              <a:ea typeface="メイリオ"/>
              <a:cs typeface="メイリオ"/>
            </a:endParaRPr>
          </a:p>
        </p:txBody>
      </p:sp>
      <p:sp>
        <p:nvSpPr>
          <p:cNvPr id="108" name="TextBox 107"/>
          <p:cNvSpPr txBox="1"/>
          <p:nvPr/>
        </p:nvSpPr>
        <p:spPr>
          <a:xfrm>
            <a:off x="6371607" y="3676721"/>
            <a:ext cx="3161770" cy="720710"/>
          </a:xfrm>
          <a:prstGeom prst="rect">
            <a:avLst/>
          </a:prstGeom>
          <a:noFill/>
        </p:spPr>
        <p:txBody>
          <a:bodyPr wrap="square" anchor="ctr">
            <a:spAutoFit/>
          </a:bodyPr>
          <a:lstStyle/>
          <a:p>
            <a:pPr>
              <a:spcAft>
                <a:spcPts val="400"/>
              </a:spcAft>
            </a:pPr>
            <a:r>
              <a:rPr sz="1350" b="1" dirty="0" err="1">
                <a:solidFill>
                  <a:srgbClr val="1F2A5C"/>
                </a:solidFill>
                <a:latin typeface="メイリオ"/>
                <a:ea typeface="メイリオ"/>
                <a:cs typeface="メイリオ"/>
              </a:rPr>
              <a:t>LINEの仕組み</a:t>
            </a:r>
            <a:endParaRPr sz="1350" b="1" dirty="0">
              <a:solidFill>
                <a:srgbClr val="1F2A5C"/>
              </a:solidFill>
              <a:latin typeface="メイリオ"/>
              <a:ea typeface="メイリオ"/>
              <a:cs typeface="メイリオ"/>
            </a:endParaRPr>
          </a:p>
          <a:p>
            <a:r>
              <a:rPr sz="1200" b="0" dirty="0" err="1">
                <a:solidFill>
                  <a:srgbClr val="333333"/>
                </a:solidFill>
                <a:latin typeface="メイリオ"/>
                <a:ea typeface="メイリオ"/>
                <a:cs typeface="メイリオ"/>
              </a:rPr>
              <a:t>ENTRYで伺った内容と同じ質問は</a:t>
            </a:r>
            <a:endParaRPr sz="1200" b="0" dirty="0">
              <a:solidFill>
                <a:srgbClr val="333333"/>
              </a:solidFill>
              <a:latin typeface="メイリオ"/>
              <a:ea typeface="メイリオ"/>
              <a:cs typeface="メイリオ"/>
            </a:endParaRPr>
          </a:p>
          <a:p>
            <a:r>
              <a:rPr sz="1200" b="0" dirty="0" err="1">
                <a:solidFill>
                  <a:srgbClr val="333333"/>
                </a:solidFill>
                <a:latin typeface="メイリオ"/>
                <a:ea typeface="メイリオ"/>
                <a:cs typeface="メイリオ"/>
              </a:rPr>
              <a:t>省いて、診断を短くする</a:t>
            </a:r>
            <a:endParaRPr sz="1200" b="0" dirty="0">
              <a:solidFill>
                <a:srgbClr val="333333"/>
              </a:solidFill>
              <a:latin typeface="メイリオ"/>
              <a:ea typeface="メイリオ"/>
              <a:cs typeface="メイリオ"/>
            </a:endParaRPr>
          </a:p>
        </p:txBody>
      </p:sp>
      <p:sp>
        <p:nvSpPr>
          <p:cNvPr id="109" name="TextBox 108"/>
          <p:cNvSpPr txBox="1"/>
          <p:nvPr/>
        </p:nvSpPr>
        <p:spPr>
          <a:xfrm>
            <a:off x="6371607" y="5161097"/>
            <a:ext cx="3161770" cy="720710"/>
          </a:xfrm>
          <a:prstGeom prst="rect">
            <a:avLst/>
          </a:prstGeom>
          <a:noFill/>
        </p:spPr>
        <p:txBody>
          <a:bodyPr wrap="square" anchor="ctr">
            <a:spAutoFit/>
          </a:bodyPr>
          <a:lstStyle/>
          <a:p>
            <a:pPr>
              <a:spcAft>
                <a:spcPts val="400"/>
              </a:spcAft>
            </a:pPr>
            <a:r>
              <a:rPr sz="1350" b="1" dirty="0" err="1">
                <a:solidFill>
                  <a:srgbClr val="1F2A5C"/>
                </a:solidFill>
                <a:latin typeface="メイリオ"/>
                <a:ea typeface="メイリオ"/>
                <a:cs typeface="メイリオ"/>
              </a:rPr>
              <a:t>配信内容</a:t>
            </a:r>
            <a:endParaRPr sz="1350" b="1" dirty="0">
              <a:solidFill>
                <a:srgbClr val="1F2A5C"/>
              </a:solidFill>
              <a:latin typeface="メイリオ"/>
              <a:ea typeface="メイリオ"/>
              <a:cs typeface="メイリオ"/>
            </a:endParaRPr>
          </a:p>
          <a:p>
            <a:r>
              <a:rPr sz="1200" b="0" dirty="0" err="1">
                <a:solidFill>
                  <a:srgbClr val="333333"/>
                </a:solidFill>
                <a:latin typeface="メイリオ"/>
                <a:ea typeface="メイリオ"/>
                <a:cs typeface="メイリオ"/>
              </a:rPr>
              <a:t>面談・お仕事開始までの流れ</a:t>
            </a:r>
            <a:r>
              <a:rPr sz="1200" b="0" dirty="0">
                <a:solidFill>
                  <a:srgbClr val="333333"/>
                </a:solidFill>
                <a:latin typeface="メイリオ"/>
                <a:ea typeface="メイリオ"/>
                <a:cs typeface="メイリオ"/>
              </a:rPr>
              <a:t>、</a:t>
            </a:r>
          </a:p>
          <a:p>
            <a:r>
              <a:rPr sz="1200" b="0" dirty="0" err="1">
                <a:solidFill>
                  <a:srgbClr val="333333"/>
                </a:solidFill>
                <a:latin typeface="メイリオ"/>
                <a:ea typeface="メイリオ"/>
                <a:cs typeface="メイリオ"/>
              </a:rPr>
              <a:t>持ち物・よくある質問を届ける</a:t>
            </a:r>
            <a:endParaRPr sz="1200" b="0" dirty="0">
              <a:solidFill>
                <a:srgbClr val="333333"/>
              </a:solidFill>
              <a:latin typeface="メイリオ"/>
              <a:ea typeface="メイリオ"/>
              <a:cs typeface="メイリオ"/>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AA1A8D-DF9B-DC16-FB09-828A6A4245CB}"/>
            </a:ext>
          </a:extLst>
        </p:cNvPr>
        <p:cNvGrpSpPr/>
        <p:nvPr/>
      </p:nvGrpSpPr>
      <p:grpSpPr>
        <a:xfrm>
          <a:off x="0" y="0"/>
          <a:ext cx="0" cy="0"/>
          <a:chOff x="0" y="0"/>
          <a:chExt cx="0" cy="0"/>
        </a:xfrm>
      </p:grpSpPr>
      <p:sp>
        <p:nvSpPr>
          <p:cNvPr id="22" name="Google Shape;752;p28">
            <a:extLst>
              <a:ext uri="{FF2B5EF4-FFF2-40B4-BE49-F238E27FC236}">
                <a16:creationId xmlns:a16="http://schemas.microsoft.com/office/drawing/2014/main" id="{F62311B2-8B20-5404-3961-D924DB3A31AD}"/>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chemeClr val="bg1">
                    <a:lumMod val="65000"/>
                  </a:schemeClr>
                </a:solidFill>
                <a:latin typeface="メイリオ" panose="020B0604030504040204" pitchFamily="50" charset="-128"/>
                <a:ea typeface="メイリオ" panose="020B0604030504040204" pitchFamily="50" charset="-128"/>
                <a:cs typeface="Meiryo"/>
                <a:sym typeface="Meiryo"/>
              </a:rPr>
              <a:t>アジェンダ</a:t>
            </a:r>
          </a:p>
        </p:txBody>
      </p:sp>
      <p:sp>
        <p:nvSpPr>
          <p:cNvPr id="14" name="Google Shape;752;p28">
            <a:extLst>
              <a:ext uri="{FF2B5EF4-FFF2-40B4-BE49-F238E27FC236}">
                <a16:creationId xmlns:a16="http://schemas.microsoft.com/office/drawing/2014/main" id="{E54327E7-0F08-0D05-B25E-DE55D46BB2EB}"/>
              </a:ext>
            </a:extLst>
          </p:cNvPr>
          <p:cNvSpPr txBox="1"/>
          <p:nvPr/>
        </p:nvSpPr>
        <p:spPr>
          <a:xfrm>
            <a:off x="602223" y="1104688"/>
            <a:ext cx="1104657" cy="584735"/>
          </a:xfrm>
          <a:prstGeom prst="rect">
            <a:avLst/>
          </a:prstGeom>
          <a:noFill/>
          <a:ln>
            <a:noFill/>
          </a:ln>
        </p:spPr>
        <p:txBody>
          <a:bodyPr spcFirstLastPara="1" wrap="square" lIns="91425" tIns="45700" rIns="91425" bIns="45700" anchor="ctr" anchorCtr="0">
            <a:spAutoFit/>
          </a:bodyPr>
          <a:lstStyle/>
          <a:p>
            <a:pPr lvl="0"/>
            <a:r>
              <a:rPr lang="en-US" altLang="ja-JP" sz="3200" b="1" dirty="0">
                <a:solidFill>
                  <a:srgbClr val="323366"/>
                </a:solidFill>
                <a:latin typeface="メイリオ" panose="020B0604030504040204" pitchFamily="50" charset="-128"/>
                <a:ea typeface="メイリオ" panose="020B0604030504040204" pitchFamily="50" charset="-128"/>
                <a:cs typeface="Meiryo"/>
                <a:sym typeface="Meiryo"/>
              </a:rPr>
              <a:t>04</a:t>
            </a:r>
            <a:endParaRPr lang="ja-JP" altLang="en-US" sz="3200" b="1" dirty="0">
              <a:solidFill>
                <a:srgbClr val="323366"/>
              </a:solidFill>
              <a:latin typeface="メイリオ" panose="020B0604030504040204" pitchFamily="50" charset="-128"/>
              <a:ea typeface="メイリオ" panose="020B0604030504040204" pitchFamily="50" charset="-128"/>
              <a:cs typeface="Meiryo"/>
              <a:sym typeface="Meiryo"/>
            </a:endParaRPr>
          </a:p>
        </p:txBody>
      </p:sp>
      <p:sp>
        <p:nvSpPr>
          <p:cNvPr id="16" name="Google Shape;752;p28">
            <a:extLst>
              <a:ext uri="{FF2B5EF4-FFF2-40B4-BE49-F238E27FC236}">
                <a16:creationId xmlns:a16="http://schemas.microsoft.com/office/drawing/2014/main" id="{2D19382B-2C00-B10F-B0BE-D0D83D18ADF1}"/>
              </a:ext>
            </a:extLst>
          </p:cNvPr>
          <p:cNvSpPr txBox="1"/>
          <p:nvPr/>
        </p:nvSpPr>
        <p:spPr>
          <a:xfrm>
            <a:off x="1867143" y="1043132"/>
            <a:ext cx="7315200" cy="707846"/>
          </a:xfrm>
          <a:prstGeom prst="rect">
            <a:avLst/>
          </a:prstGeom>
          <a:noFill/>
          <a:ln>
            <a:noFill/>
          </a:ln>
        </p:spPr>
        <p:txBody>
          <a:bodyPr spcFirstLastPara="1" wrap="square" lIns="91425" tIns="45700" rIns="91425" bIns="45700" anchor="ctr" anchorCtr="0">
            <a:spAutoFit/>
          </a:bodyPr>
          <a:lstStyle/>
          <a:p>
            <a:pPr lvl="0"/>
            <a:r>
              <a:rPr lang="ja-JP" altLang="en-US" sz="4000" b="1" dirty="0">
                <a:solidFill>
                  <a:schemeClr val="tx1">
                    <a:lumMod val="65000"/>
                    <a:lumOff val="35000"/>
                  </a:schemeClr>
                </a:solidFill>
                <a:latin typeface="メイリオ" panose="020B0604030504040204" pitchFamily="50" charset="-128"/>
                <a:ea typeface="メイリオ" panose="020B0604030504040204" pitchFamily="50" charset="-128"/>
                <a:cs typeface="Meiryo"/>
                <a:sym typeface="Meiryo"/>
              </a:rPr>
              <a:t>料金形態</a:t>
            </a:r>
          </a:p>
        </p:txBody>
      </p:sp>
      <p:cxnSp>
        <p:nvCxnSpPr>
          <p:cNvPr id="17" name="直線コネクタ 16">
            <a:extLst>
              <a:ext uri="{FF2B5EF4-FFF2-40B4-BE49-F238E27FC236}">
                <a16:creationId xmlns:a16="http://schemas.microsoft.com/office/drawing/2014/main" id="{017042CD-D697-408D-A1BC-4F66A205DD00}"/>
              </a:ext>
            </a:extLst>
          </p:cNvPr>
          <p:cNvCxnSpPr>
            <a:cxnSpLocks/>
          </p:cNvCxnSpPr>
          <p:nvPr/>
        </p:nvCxnSpPr>
        <p:spPr>
          <a:xfrm>
            <a:off x="608527" y="1681803"/>
            <a:ext cx="944805" cy="0"/>
          </a:xfrm>
          <a:prstGeom prst="line">
            <a:avLst/>
          </a:prstGeom>
          <a:ln w="57150">
            <a:solidFill>
              <a:srgbClr val="10253F"/>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8362433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 name="正方形/長方形 2"/>
          <p:cNvSpPr/>
          <p:nvPr/>
        </p:nvSpPr>
        <p:spPr>
          <a:xfrm>
            <a:off x="0" y="577800"/>
            <a:ext cx="9905760" cy="812520"/>
          </a:xfrm>
          <a:prstGeom prst="rect">
            <a:avLst/>
          </a:prstGeom>
          <a:noFill/>
          <a:ln>
            <a:noFill/>
          </a:ln>
          <a:effectLst>
            <a:outerShdw blurRad="39960" dist="23040" dir="540000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メイリオ"/>
              <a:ea typeface="メイリオ"/>
            </a:endParaRPr>
          </a:p>
        </p:txBody>
      </p:sp>
      <p:sp>
        <p:nvSpPr>
          <p:cNvPr id="338" name="正方形/長方形 3"/>
          <p:cNvSpPr/>
          <p:nvPr/>
        </p:nvSpPr>
        <p:spPr>
          <a:xfrm>
            <a:off x="379800" y="635040"/>
            <a:ext cx="9160560" cy="698040"/>
          </a:xfrm>
          <a:prstGeom prst="rect">
            <a:avLst/>
          </a:prstGeom>
          <a:noFill/>
          <a:ln>
            <a:noFill/>
          </a:ln>
        </p:spPr>
        <p:style>
          <a:lnRef idx="2">
            <a:schemeClr val="accent1">
              <a:shade val="50000"/>
            </a:schemeClr>
          </a:lnRef>
          <a:fillRef idx="1">
            <a:schemeClr val="accent1"/>
          </a:fillRef>
          <a:effectRef idx="0">
            <a:schemeClr val="accent1"/>
          </a:effectRef>
          <a:fontRef idx="minor"/>
        </p:style>
        <p:txBody>
          <a:bodyPr lIns="90000" tIns="90000" rIns="90000" bIns="45000" anchor="ctr">
            <a:noAutofit/>
          </a:bodyPr>
          <a:lstStyle/>
          <a:p>
            <a:pPr algn="ctr" defTabSz="914400">
              <a:lnSpc>
                <a:spcPts val="2455"/>
              </a:lnSpc>
            </a:pPr>
            <a:endParaRPr lang="en-US" sz="1400" b="0" u="none" strike="noStrike">
              <a:solidFill>
                <a:srgbClr val="343434"/>
              </a:solidFill>
              <a:effectLst/>
              <a:uFillTx/>
              <a:latin typeface="メイリオ"/>
              <a:ea typeface="メイリオ"/>
            </a:endParaRPr>
          </a:p>
        </p:txBody>
      </p:sp>
      <p:sp>
        <p:nvSpPr>
          <p:cNvPr id="339" name="Google Shape;156;p7"/>
          <p:cNvSpPr/>
          <p:nvPr/>
        </p:nvSpPr>
        <p:spPr>
          <a:xfrm>
            <a:off x="549000" y="137983"/>
            <a:ext cx="7680960" cy="338554"/>
          </a:xfrm>
          <a:prstGeom prst="rect">
            <a:avLst/>
          </a:prstGeom>
          <a:noFill/>
          <a:ln w="19050">
            <a:noFill/>
          </a:ln>
        </p:spPr>
        <p:style>
          <a:lnRef idx="0">
            <a:scrgbClr r="0" g="0" b="0"/>
          </a:lnRef>
          <a:fillRef idx="0">
            <a:scrgbClr r="0" g="0" b="0"/>
          </a:fillRef>
          <a:effectRef idx="0">
            <a:scrgbClr r="0" g="0" b="0"/>
          </a:effectRef>
          <a:fontRef idx="minor"/>
        </p:style>
        <p:txBody>
          <a:bodyPr anchor="ctr">
            <a:spAutoFit/>
          </a:bodyPr>
          <a:lstStyle/>
          <a:p>
            <a:pPr>
              <a:tabLst>
                <a:tab pos="0" algn="l"/>
              </a:tabLst>
            </a:pPr>
            <a:r>
              <a:rPr lang="ja-JP" sz="1600" b="1" u="none" strike="noStrike" dirty="0">
                <a:solidFill>
                  <a:srgbClr val="002060"/>
                </a:solidFill>
                <a:effectLst/>
                <a:uFillTx/>
                <a:latin typeface="メイリオ"/>
                <a:ea typeface="メイリオ"/>
              </a:rPr>
              <a:t>概算お見積り：月33万円で、6か月目に友だち 86,631人・応募 月232件</a:t>
            </a:r>
          </a:p>
        </p:txBody>
      </p:sp>
      <p:cxnSp>
        <p:nvCxnSpPr>
          <p:cNvPr id="340" name="直線コネクタ 1"/>
          <p:cNvCxnSpPr/>
          <p:nvPr/>
        </p:nvCxnSpPr>
        <p:spPr>
          <a:xfrm>
            <a:off x="0" y="1390320"/>
            <a:ext cx="9906120" cy="360"/>
          </a:xfrm>
          <a:prstGeom prst="straightConnector1">
            <a:avLst/>
          </a:prstGeom>
          <a:ln w="19050">
            <a:solidFill>
              <a:schemeClr val="lt1">
                <a:lumMod val="85000"/>
                <a:alpha val="60000"/>
              </a:schemeClr>
            </a:solidFill>
            <a:round/>
          </a:ln>
        </p:spPr>
      </p:cxnSp>
      <p:sp>
        <p:nvSpPr>
          <p:cNvPr id="341" name="正方形/長方形 4"/>
          <p:cNvSpPr/>
          <p:nvPr/>
        </p:nvSpPr>
        <p:spPr>
          <a:xfrm>
            <a:off x="261360" y="1517760"/>
            <a:ext cx="2899440" cy="38376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1400" b="0" u="none" strike="noStrike">
                <a:solidFill>
                  <a:schemeClr val="lt1"/>
                </a:solidFill>
                <a:effectLst/>
                <a:uFillTx/>
                <a:latin typeface="メイリオ"/>
                <a:ea typeface="メイリオ"/>
              </a:rPr>
              <a:t>初期</a:t>
            </a:r>
            <a:endParaRPr lang="en-US" sz="1400" b="0" u="none" strike="noStrike">
              <a:solidFill>
                <a:srgbClr val="FFFFFF"/>
              </a:solidFill>
              <a:effectLst/>
              <a:uFillTx/>
              <a:latin typeface="メイリオ"/>
            </a:endParaRPr>
          </a:p>
        </p:txBody>
      </p:sp>
      <p:sp>
        <p:nvSpPr>
          <p:cNvPr id="342" name="正方形/長方形 6"/>
          <p:cNvSpPr/>
          <p:nvPr/>
        </p:nvSpPr>
        <p:spPr>
          <a:xfrm>
            <a:off x="3337560" y="1517760"/>
            <a:ext cx="2899440" cy="38376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1400" b="0" u="none" strike="noStrike">
                <a:solidFill>
                  <a:schemeClr val="lt1"/>
                </a:solidFill>
                <a:effectLst/>
                <a:uFillTx/>
                <a:latin typeface="メイリオ"/>
                <a:ea typeface="メイリオ"/>
              </a:rPr>
              <a:t>月次</a:t>
            </a:r>
            <a:endParaRPr lang="en-US" sz="1400" b="0" u="none" strike="noStrike">
              <a:solidFill>
                <a:srgbClr val="FFFFFF"/>
              </a:solidFill>
              <a:effectLst/>
              <a:uFillTx/>
              <a:latin typeface="メイリオ"/>
            </a:endParaRPr>
          </a:p>
        </p:txBody>
      </p:sp>
      <p:sp>
        <p:nvSpPr>
          <p:cNvPr id="343" name="正方形/長方形 7"/>
          <p:cNvSpPr/>
          <p:nvPr/>
        </p:nvSpPr>
        <p:spPr>
          <a:xfrm>
            <a:off x="261360" y="1956960"/>
            <a:ext cx="2899440" cy="676440"/>
          </a:xfrm>
          <a:prstGeom prst="rect">
            <a:avLst/>
          </a:prstGeom>
          <a:noFill/>
          <a:ln>
            <a:solidFill>
              <a:srgbClr val="223852"/>
            </a:solidFill>
            <a:round/>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en-US" sz="1600" b="1" u="none" strike="noStrike">
                <a:solidFill>
                  <a:schemeClr val="dk1"/>
                </a:solidFill>
                <a:effectLst/>
                <a:uFillTx/>
                <a:latin typeface="メイリオ"/>
                <a:ea typeface="メイリオ"/>
              </a:rPr>
              <a:t>¥215,000〜</a:t>
            </a:r>
            <a:endParaRPr lang="en-US" sz="1600" b="0" u="none" strike="noStrike">
              <a:solidFill>
                <a:srgbClr val="000000"/>
              </a:solidFill>
              <a:effectLst/>
              <a:uFillTx/>
              <a:latin typeface="メイリオ"/>
            </a:endParaRPr>
          </a:p>
        </p:txBody>
      </p:sp>
      <p:sp>
        <p:nvSpPr>
          <p:cNvPr id="344" name="正方形/長方形 9"/>
          <p:cNvSpPr/>
          <p:nvPr/>
        </p:nvSpPr>
        <p:spPr>
          <a:xfrm>
            <a:off x="3337560" y="1956960"/>
            <a:ext cx="2899440" cy="676440"/>
          </a:xfrm>
          <a:prstGeom prst="rect">
            <a:avLst/>
          </a:prstGeom>
          <a:noFill/>
          <a:ln>
            <a:solidFill>
              <a:srgbClr val="223852"/>
            </a:solidFill>
            <a:round/>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en-US" sz="1600" b="1" u="none" strike="noStrike">
                <a:solidFill>
                  <a:schemeClr val="dk1"/>
                </a:solidFill>
                <a:effectLst/>
                <a:uFillTx/>
                <a:latin typeface="メイリオ"/>
                <a:ea typeface="メイリオ"/>
              </a:rPr>
              <a:t>¥330,000〜</a:t>
            </a:r>
            <a:endParaRPr lang="en-US" sz="1600" b="0" u="none" strike="noStrike">
              <a:solidFill>
                <a:srgbClr val="000000"/>
              </a:solidFill>
              <a:effectLst/>
              <a:uFillTx/>
              <a:latin typeface="メイリオ"/>
            </a:endParaRPr>
          </a:p>
        </p:txBody>
      </p:sp>
      <p:sp>
        <p:nvSpPr>
          <p:cNvPr id="345" name="矢印: 右 14"/>
          <p:cNvSpPr/>
          <p:nvPr/>
        </p:nvSpPr>
        <p:spPr>
          <a:xfrm>
            <a:off x="6379200" y="1956960"/>
            <a:ext cx="365400" cy="2797560"/>
          </a:xfrm>
          <a:prstGeom prst="rightArrow">
            <a:avLst>
              <a:gd name="adj1" fmla="val 50000"/>
              <a:gd name="adj2" fmla="val 50000"/>
            </a:avLst>
          </a:prstGeom>
          <a:solidFill>
            <a:schemeClr val="tx1"/>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endParaRPr lang="en-US" sz="1800" b="0" u="none" strike="noStrike">
              <a:solidFill>
                <a:schemeClr val="lt1"/>
              </a:solidFill>
              <a:effectLst/>
              <a:uFillTx/>
              <a:latin typeface="メイリオ"/>
            </a:endParaRPr>
          </a:p>
        </p:txBody>
      </p:sp>
      <p:sp>
        <p:nvSpPr>
          <p:cNvPr id="346" name="正方形/長方形 16"/>
          <p:cNvSpPr/>
          <p:nvPr/>
        </p:nvSpPr>
        <p:spPr>
          <a:xfrm>
            <a:off x="6744960" y="1517760"/>
            <a:ext cx="2899440" cy="38376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en-US" sz="1400" b="0" u="none" strike="noStrike">
                <a:solidFill>
                  <a:schemeClr val="lt1"/>
                </a:solidFill>
                <a:effectLst/>
                <a:uFillTx/>
                <a:latin typeface="メイリオ"/>
                <a:ea typeface="メイリオ"/>
              </a:rPr>
              <a:t>6</a:t>
            </a:r>
            <a:r>
              <a:rPr lang="ja-JP" sz="1400" b="0" u="none" strike="noStrike">
                <a:solidFill>
                  <a:schemeClr val="lt1"/>
                </a:solidFill>
                <a:effectLst/>
                <a:uFillTx/>
                <a:latin typeface="メイリオ"/>
                <a:ea typeface="メイリオ"/>
              </a:rPr>
              <a:t>か月後</a:t>
            </a:r>
            <a:endParaRPr lang="en-US" sz="1400" b="0" u="none" strike="noStrike">
              <a:solidFill>
                <a:srgbClr val="FFFFFF"/>
              </a:solidFill>
              <a:effectLst/>
              <a:uFillTx/>
              <a:latin typeface="メイリオ"/>
            </a:endParaRPr>
          </a:p>
        </p:txBody>
      </p:sp>
      <p:sp>
        <p:nvSpPr>
          <p:cNvPr id="347" name="テキスト ボックス 18"/>
          <p:cNvSpPr/>
          <p:nvPr/>
        </p:nvSpPr>
        <p:spPr>
          <a:xfrm>
            <a:off x="261360" y="2688480"/>
            <a:ext cx="2899080" cy="3470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pPr>
            <a:r>
              <a:rPr lang="en-US" sz="1400" b="0" u="none" strike="noStrike">
                <a:solidFill>
                  <a:schemeClr val="dk1"/>
                </a:solidFill>
                <a:effectLst/>
                <a:uFillTx/>
                <a:latin typeface="メイリオ"/>
                <a:ea typeface="メイリオ"/>
              </a:rPr>
              <a:t>&lt;</a:t>
            </a:r>
            <a:r>
              <a:rPr lang="ja-JP" sz="1400" b="0" u="none" strike="noStrike">
                <a:solidFill>
                  <a:schemeClr val="dk1"/>
                </a:solidFill>
                <a:effectLst/>
                <a:uFillTx/>
                <a:latin typeface="メイリオ"/>
                <a:ea typeface="メイリオ"/>
              </a:rPr>
              <a:t>実施内容</a:t>
            </a:r>
            <a:r>
              <a:rPr lang="en-US" sz="1400" b="0" u="none" strike="noStrike">
                <a:solidFill>
                  <a:schemeClr val="dk1"/>
                </a:solidFill>
                <a:effectLst/>
                <a:uFillTx/>
                <a:latin typeface="メイリオ"/>
                <a:ea typeface="メイリオ"/>
              </a:rPr>
              <a:t>&gt;</a:t>
            </a:r>
            <a:endParaRPr lang="en-US" sz="1400" b="0" u="none" strike="noStrike">
              <a:solidFill>
                <a:srgbClr val="000000"/>
              </a:solidFill>
              <a:effectLst/>
              <a:uFillTx/>
              <a:latin typeface="メイリオ"/>
            </a:endParaRPr>
          </a:p>
        </p:txBody>
      </p:sp>
      <p:sp>
        <p:nvSpPr>
          <p:cNvPr id="348" name="テキスト ボックス 20"/>
          <p:cNvSpPr/>
          <p:nvPr/>
        </p:nvSpPr>
        <p:spPr>
          <a:xfrm>
            <a:off x="3337560" y="2688480"/>
            <a:ext cx="2899080" cy="3470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pPr>
            <a:r>
              <a:rPr lang="en-US" sz="1400" b="0" u="none" strike="noStrike">
                <a:solidFill>
                  <a:schemeClr val="dk1"/>
                </a:solidFill>
                <a:effectLst/>
                <a:uFillTx/>
                <a:latin typeface="メイリオ"/>
                <a:ea typeface="メイリオ"/>
              </a:rPr>
              <a:t>&lt;</a:t>
            </a:r>
            <a:r>
              <a:rPr lang="ja-JP" sz="1400" b="0" u="none" strike="noStrike">
                <a:solidFill>
                  <a:schemeClr val="dk1"/>
                </a:solidFill>
                <a:effectLst/>
                <a:uFillTx/>
                <a:latin typeface="メイリオ"/>
                <a:ea typeface="メイリオ"/>
              </a:rPr>
              <a:t>実施内容</a:t>
            </a:r>
            <a:r>
              <a:rPr lang="en-US" sz="1400" b="0" u="none" strike="noStrike">
                <a:solidFill>
                  <a:schemeClr val="dk1"/>
                </a:solidFill>
                <a:effectLst/>
                <a:uFillTx/>
                <a:latin typeface="メイリオ"/>
                <a:ea typeface="メイリオ"/>
              </a:rPr>
              <a:t>&gt;</a:t>
            </a:r>
            <a:endParaRPr lang="en-US" sz="1400" b="0" u="none" strike="noStrike">
              <a:solidFill>
                <a:srgbClr val="000000"/>
              </a:solidFill>
              <a:effectLst/>
              <a:uFillTx/>
              <a:latin typeface="メイリオ"/>
            </a:endParaRPr>
          </a:p>
        </p:txBody>
      </p:sp>
      <p:sp>
        <p:nvSpPr>
          <p:cNvPr id="349" name="正方形/長方形 24"/>
          <p:cNvSpPr/>
          <p:nvPr/>
        </p:nvSpPr>
        <p:spPr>
          <a:xfrm>
            <a:off x="3383280" y="3090600"/>
            <a:ext cx="1425960" cy="44784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sz="1300" b="0" u="none" strike="noStrike">
                <a:solidFill>
                  <a:schemeClr val="lt1"/>
                </a:solidFill>
                <a:effectLst/>
                <a:uFillTx/>
                <a:latin typeface="メイリオ"/>
                <a:ea typeface="メイリオ"/>
              </a:rPr>
              <a:t>企画配信</a:t>
            </a:r>
            <a:endParaRPr lang="en-US" sz="1300" b="0" u="none" strike="noStrike">
              <a:solidFill>
                <a:srgbClr val="FFFFFF"/>
              </a:solidFill>
              <a:effectLst/>
              <a:uFillTx/>
              <a:latin typeface="メイリオ"/>
            </a:endParaRPr>
          </a:p>
        </p:txBody>
      </p:sp>
      <p:sp>
        <p:nvSpPr>
          <p:cNvPr id="350" name="正方形/長方形 28"/>
          <p:cNvSpPr/>
          <p:nvPr/>
        </p:nvSpPr>
        <p:spPr>
          <a:xfrm>
            <a:off x="4846320" y="3090600"/>
            <a:ext cx="1343880" cy="44784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zh-CN" sz="1300" b="0" u="none" strike="noStrike">
                <a:solidFill>
                  <a:schemeClr val="dk1"/>
                </a:solidFill>
                <a:effectLst/>
                <a:uFillTx/>
                <a:latin typeface="メイリオ"/>
                <a:ea typeface="メイリオ"/>
              </a:rPr>
              <a:t>月3回</a:t>
            </a:r>
            <a:endParaRPr lang="en-US" sz="1300" b="0" u="none" strike="noStrike">
              <a:solidFill>
                <a:srgbClr val="000000"/>
              </a:solidFill>
              <a:effectLst/>
              <a:uFillTx/>
              <a:latin typeface="メイリオ"/>
            </a:endParaRPr>
          </a:p>
        </p:txBody>
      </p:sp>
      <p:sp>
        <p:nvSpPr>
          <p:cNvPr id="351" name="正方形/長方形 32"/>
          <p:cNvSpPr/>
          <p:nvPr/>
        </p:nvSpPr>
        <p:spPr>
          <a:xfrm>
            <a:off x="3383280" y="3579840"/>
            <a:ext cx="1425960" cy="48420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p:style>
        <p:txBody>
          <a:bodyPr lIns="36576" tIns="0" rIns="36576" bIns="0" anchor="ctr">
            <a:noAutofit/>
          </a:bodyPr>
          <a:lstStyle/>
          <a:p>
            <a:pPr algn="ctr" defTabSz="914400">
              <a:lnSpc>
                <a:spcPct val="90000"/>
              </a:lnSpc>
            </a:pPr>
            <a:r>
              <a:rPr lang="ja-JP" sz="1200" b="0" u="none" strike="noStrike">
                <a:solidFill>
                  <a:schemeClr val="lt1"/>
                </a:solidFill>
                <a:effectLst/>
                <a:uFillTx/>
                <a:latin typeface="メイリオ"/>
                <a:ea typeface="メイリオ"/>
              </a:rPr>
              <a:t>開始時期・</a:t>
            </a:r>
            <a:br>
              <a:rPr lang="ja-JP" sz="1200" b="0" u="none" strike="noStrike">
                <a:solidFill>
                  <a:schemeClr val="lt1"/>
                </a:solidFill>
                <a:effectLst/>
                <a:uFillTx/>
                <a:latin typeface="メイリオ"/>
                <a:ea typeface="メイリオ"/>
              </a:rPr>
            </a:br>
            <a:r>
              <a:rPr lang="ja-JP" sz="1200" b="0" u="none" strike="noStrike">
                <a:solidFill>
                  <a:schemeClr val="lt1"/>
                </a:solidFill>
                <a:effectLst/>
                <a:uFillTx/>
                <a:latin typeface="メイリオ"/>
                <a:ea typeface="メイリオ"/>
              </a:rPr>
              <a:t>エリア別</a:t>
            </a:r>
            <a:endParaRPr lang="en-US" sz="1200" b="0" u="none" strike="noStrike">
              <a:solidFill>
                <a:srgbClr val="FFFFFF"/>
              </a:solidFill>
              <a:effectLst/>
              <a:uFillTx/>
              <a:latin typeface="メイリオ"/>
            </a:endParaRPr>
          </a:p>
        </p:txBody>
      </p:sp>
      <p:sp>
        <p:nvSpPr>
          <p:cNvPr id="352" name="正方形/長方形 36"/>
          <p:cNvSpPr/>
          <p:nvPr/>
        </p:nvSpPr>
        <p:spPr>
          <a:xfrm>
            <a:off x="4846320" y="3579840"/>
            <a:ext cx="1343880" cy="48420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p:style>
        <p:txBody>
          <a:bodyPr lIns="36576" tIns="0" rIns="36576" bIns="0" anchor="ctr">
            <a:noAutofit/>
          </a:bodyPr>
          <a:lstStyle/>
          <a:p>
            <a:pPr algn="ctr" defTabSz="914400">
              <a:lnSpc>
                <a:spcPct val="100000"/>
              </a:lnSpc>
            </a:pPr>
            <a:r>
              <a:rPr lang="ja-JP" sz="1200" b="0" u="none" strike="noStrike">
                <a:solidFill>
                  <a:schemeClr val="dk1"/>
                </a:solidFill>
                <a:effectLst/>
                <a:uFillTx/>
                <a:latin typeface="メイリオ"/>
                <a:ea typeface="メイリオ"/>
              </a:rPr>
              <a:t>配信</a:t>
            </a:r>
            <a:endParaRPr lang="en-US" sz="1200" b="0" u="none" strike="noStrike">
              <a:solidFill>
                <a:srgbClr val="000000"/>
              </a:solidFill>
              <a:effectLst/>
              <a:uFillTx/>
              <a:latin typeface="メイリオ"/>
            </a:endParaRPr>
          </a:p>
        </p:txBody>
      </p:sp>
      <p:sp>
        <p:nvSpPr>
          <p:cNvPr id="353" name="正方形/長方形 40"/>
          <p:cNvSpPr/>
          <p:nvPr/>
        </p:nvSpPr>
        <p:spPr>
          <a:xfrm>
            <a:off x="3383280" y="4069080"/>
            <a:ext cx="1425960" cy="44784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sz="1300" b="0" u="none" strike="noStrike">
                <a:solidFill>
                  <a:schemeClr val="lt1"/>
                </a:solidFill>
                <a:effectLst/>
                <a:uFillTx/>
                <a:latin typeface="メイリオ"/>
                <a:ea typeface="メイリオ"/>
              </a:rPr>
              <a:t>ステップ配信</a:t>
            </a:r>
            <a:endParaRPr lang="en-US" sz="1300" b="0" u="none" strike="noStrike">
              <a:solidFill>
                <a:srgbClr val="FFFFFF"/>
              </a:solidFill>
              <a:effectLst/>
              <a:uFillTx/>
              <a:latin typeface="メイリオ"/>
            </a:endParaRPr>
          </a:p>
        </p:txBody>
      </p:sp>
      <p:sp>
        <p:nvSpPr>
          <p:cNvPr id="354" name="正方形/長方形 45"/>
          <p:cNvSpPr/>
          <p:nvPr/>
        </p:nvSpPr>
        <p:spPr>
          <a:xfrm>
            <a:off x="4846320" y="4069080"/>
            <a:ext cx="1343880" cy="44784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en-US" sz="1300" b="0" u="none" strike="noStrike">
                <a:solidFill>
                  <a:schemeClr val="dk1"/>
                </a:solidFill>
                <a:effectLst/>
                <a:uFillTx/>
                <a:latin typeface="メイリオ"/>
                <a:ea typeface="メイリオ"/>
              </a:rPr>
              <a:t>5通の改善</a:t>
            </a:r>
            <a:endParaRPr lang="en-US" sz="1300" b="0" u="none" strike="noStrike">
              <a:solidFill>
                <a:srgbClr val="000000"/>
              </a:solidFill>
              <a:effectLst/>
              <a:uFillTx/>
              <a:latin typeface="メイリオ"/>
            </a:endParaRPr>
          </a:p>
        </p:txBody>
      </p:sp>
      <p:sp>
        <p:nvSpPr>
          <p:cNvPr id="355" name="正方形/長方形 49"/>
          <p:cNvSpPr/>
          <p:nvPr/>
        </p:nvSpPr>
        <p:spPr>
          <a:xfrm>
            <a:off x="3383280" y="4558320"/>
            <a:ext cx="1425960" cy="44784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sz="1300" b="0" u="none" strike="noStrike">
                <a:solidFill>
                  <a:schemeClr val="lt1"/>
                </a:solidFill>
                <a:effectLst/>
                <a:uFillTx/>
                <a:latin typeface="メイリオ"/>
                <a:ea typeface="メイリオ"/>
              </a:rPr>
              <a:t>月次レポート</a:t>
            </a:r>
            <a:endParaRPr lang="en-US" sz="1300" b="0" u="none" strike="noStrike">
              <a:solidFill>
                <a:srgbClr val="FFFFFF"/>
              </a:solidFill>
              <a:effectLst/>
              <a:uFillTx/>
              <a:latin typeface="メイリオ"/>
            </a:endParaRPr>
          </a:p>
        </p:txBody>
      </p:sp>
      <p:sp>
        <p:nvSpPr>
          <p:cNvPr id="356" name="正方形/長方形 53"/>
          <p:cNvSpPr/>
          <p:nvPr/>
        </p:nvSpPr>
        <p:spPr>
          <a:xfrm>
            <a:off x="4846320" y="4558320"/>
            <a:ext cx="1343880" cy="44784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en-US" sz="1300" b="0" u="none" strike="noStrike">
                <a:solidFill>
                  <a:schemeClr val="dk1"/>
                </a:solidFill>
                <a:effectLst/>
                <a:uFillTx/>
                <a:latin typeface="メイリオ"/>
                <a:ea typeface="メイリオ"/>
              </a:rPr>
              <a:t>1回</a:t>
            </a:r>
            <a:endParaRPr lang="en-US" sz="1300" b="0" u="none" strike="noStrike">
              <a:solidFill>
                <a:srgbClr val="000000"/>
              </a:solidFill>
              <a:effectLst/>
              <a:uFillTx/>
              <a:latin typeface="メイリオ"/>
            </a:endParaRPr>
          </a:p>
        </p:txBody>
      </p:sp>
      <p:sp>
        <p:nvSpPr>
          <p:cNvPr id="357" name="正方形/長方形 57"/>
          <p:cNvSpPr/>
          <p:nvPr/>
        </p:nvSpPr>
        <p:spPr>
          <a:xfrm>
            <a:off x="3383280" y="5047560"/>
            <a:ext cx="1425960" cy="44784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sz="1300" b="0" u="none" strike="noStrike">
                <a:solidFill>
                  <a:schemeClr val="lt1"/>
                </a:solidFill>
                <a:effectLst/>
                <a:uFillTx/>
                <a:latin typeface="メイリオ"/>
                <a:ea typeface="メイリオ"/>
              </a:rPr>
              <a:t>月次定例会</a:t>
            </a:r>
            <a:endParaRPr lang="en-US" sz="1300" b="0" u="none" strike="noStrike">
              <a:solidFill>
                <a:srgbClr val="FFFFFF"/>
              </a:solidFill>
              <a:effectLst/>
              <a:uFillTx/>
              <a:latin typeface="メイリオ"/>
            </a:endParaRPr>
          </a:p>
        </p:txBody>
      </p:sp>
      <p:sp>
        <p:nvSpPr>
          <p:cNvPr id="358" name="正方形/長方形 61"/>
          <p:cNvSpPr/>
          <p:nvPr/>
        </p:nvSpPr>
        <p:spPr>
          <a:xfrm>
            <a:off x="4846320" y="5047560"/>
            <a:ext cx="1343880" cy="44784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sz="1300" b="0" u="none" strike="noStrike">
                <a:solidFill>
                  <a:schemeClr val="dk1"/>
                </a:solidFill>
                <a:effectLst/>
                <a:uFillTx/>
                <a:latin typeface="メイリオ"/>
                <a:ea typeface="メイリオ"/>
              </a:rPr>
              <a:t>1回</a:t>
            </a:r>
            <a:endParaRPr lang="en-US" sz="1300" b="0" u="none" strike="noStrike">
              <a:solidFill>
                <a:srgbClr val="000000"/>
              </a:solidFill>
              <a:effectLst/>
              <a:uFillTx/>
              <a:latin typeface="メイリオ"/>
            </a:endParaRPr>
          </a:p>
        </p:txBody>
      </p:sp>
      <p:sp>
        <p:nvSpPr>
          <p:cNvPr id="359" name="正方形/長方形 65"/>
          <p:cNvSpPr/>
          <p:nvPr/>
        </p:nvSpPr>
        <p:spPr>
          <a:xfrm>
            <a:off x="3383280" y="5536800"/>
            <a:ext cx="1425960" cy="44784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sz="1300" b="0" u="none" strike="noStrike">
                <a:solidFill>
                  <a:schemeClr val="lt1"/>
                </a:solidFill>
                <a:effectLst/>
                <a:uFillTx/>
                <a:latin typeface="メイリオ"/>
                <a:ea typeface="メイリオ"/>
              </a:rPr>
              <a:t>友だちの入口</a:t>
            </a:r>
            <a:endParaRPr lang="en-US" sz="1300" b="0" u="none" strike="noStrike">
              <a:solidFill>
                <a:srgbClr val="FFFFFF"/>
              </a:solidFill>
              <a:effectLst/>
              <a:uFillTx/>
              <a:latin typeface="メイリオ"/>
            </a:endParaRPr>
          </a:p>
        </p:txBody>
      </p:sp>
      <p:sp>
        <p:nvSpPr>
          <p:cNvPr id="360" name="正方形/長方形 69"/>
          <p:cNvSpPr/>
          <p:nvPr/>
        </p:nvSpPr>
        <p:spPr>
          <a:xfrm>
            <a:off x="4846320" y="5536800"/>
            <a:ext cx="1343880" cy="44784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en-US" sz="1300" b="0" u="none" strike="noStrike">
                <a:solidFill>
                  <a:schemeClr val="dk1"/>
                </a:solidFill>
                <a:effectLst/>
                <a:uFillTx/>
                <a:latin typeface="メイリオ"/>
                <a:ea typeface="メイリオ"/>
              </a:rPr>
              <a:t>運用</a:t>
            </a:r>
            <a:endParaRPr lang="en-US" sz="1300" b="0" u="none" strike="noStrike">
              <a:solidFill>
                <a:srgbClr val="000000"/>
              </a:solidFill>
              <a:effectLst/>
              <a:uFillTx/>
              <a:latin typeface="メイリオ"/>
            </a:endParaRPr>
          </a:p>
        </p:txBody>
      </p:sp>
      <p:sp>
        <p:nvSpPr>
          <p:cNvPr id="361" name="正方形/長方形 79"/>
          <p:cNvSpPr/>
          <p:nvPr/>
        </p:nvSpPr>
        <p:spPr>
          <a:xfrm>
            <a:off x="6812280" y="1956960"/>
            <a:ext cx="1425960" cy="402120"/>
          </a:xfrm>
          <a:prstGeom prst="rect">
            <a:avLst/>
          </a:prstGeom>
          <a:solidFill>
            <a:srgbClr val="04FA0A"/>
          </a:solidFill>
          <a:ln>
            <a:noFill/>
          </a:ln>
        </p:spPr>
        <p:style>
          <a:lnRef idx="2">
            <a:schemeClr val="accent1">
              <a:shade val="15000"/>
            </a:schemeClr>
          </a:lnRef>
          <a:fillRef idx="1">
            <a:schemeClr val="accent1"/>
          </a:fillRef>
          <a:effectRef idx="0">
            <a:schemeClr val="accent1"/>
          </a:effectRef>
          <a:fontRef idx="minor"/>
        </p:style>
        <p:txBody>
          <a:bodyPr lIns="45720" tIns="45000" rIns="45720" bIns="45000" anchor="ctr">
            <a:noAutofit/>
          </a:bodyPr>
          <a:lstStyle/>
          <a:p>
            <a:pPr algn="ctr" defTabSz="914400">
              <a:lnSpc>
                <a:spcPct val="100000"/>
              </a:lnSpc>
            </a:pPr>
            <a:r>
              <a:rPr lang="ja-JP" sz="1400" b="1" u="none" strike="noStrike">
                <a:solidFill>
                  <a:schemeClr val="lt1"/>
                </a:solidFill>
                <a:effectLst/>
                <a:uFillTx/>
                <a:latin typeface="メイリオ"/>
                <a:ea typeface="メイリオ"/>
              </a:rPr>
              <a:t>友だち数</a:t>
            </a:r>
            <a:endParaRPr lang="en-US" sz="1400" b="0" u="none" strike="noStrike">
              <a:solidFill>
                <a:srgbClr val="000000"/>
              </a:solidFill>
              <a:effectLst/>
              <a:uFillTx/>
              <a:latin typeface="メイリオ"/>
            </a:endParaRPr>
          </a:p>
        </p:txBody>
      </p:sp>
      <p:sp>
        <p:nvSpPr>
          <p:cNvPr id="364" name="正方形/長方形 85"/>
          <p:cNvSpPr/>
          <p:nvPr/>
        </p:nvSpPr>
        <p:spPr>
          <a:xfrm>
            <a:off x="6812280" y="2432160"/>
            <a:ext cx="1425960" cy="402120"/>
          </a:xfrm>
          <a:prstGeom prst="rect">
            <a:avLst/>
          </a:prstGeom>
          <a:solidFill>
            <a:srgbClr val="04FA0A"/>
          </a:solidFill>
          <a:ln>
            <a:noFill/>
          </a:ln>
        </p:spPr>
        <p:style>
          <a:lnRef idx="2">
            <a:schemeClr val="accent1">
              <a:shade val="15000"/>
            </a:schemeClr>
          </a:lnRef>
          <a:fillRef idx="1">
            <a:schemeClr val="accent1"/>
          </a:fillRef>
          <a:effectRef idx="0">
            <a:schemeClr val="accent1"/>
          </a:effectRef>
          <a:fontRef idx="minor"/>
        </p:style>
        <p:txBody>
          <a:bodyPr lIns="45720" tIns="45000" rIns="45720" bIns="45000" anchor="ctr">
            <a:noAutofit/>
          </a:bodyPr>
          <a:lstStyle/>
          <a:p>
            <a:pPr algn="ctr" defTabSz="914400">
              <a:lnSpc>
                <a:spcPct val="100000"/>
              </a:lnSpc>
            </a:pPr>
            <a:r>
              <a:rPr lang="zh-CN" sz="1400" b="1" u="none" strike="noStrike">
                <a:solidFill>
                  <a:schemeClr val="lt1"/>
                </a:solidFill>
                <a:effectLst/>
                <a:uFillTx/>
                <a:latin typeface="メイリオ"/>
                <a:ea typeface="メイリオ"/>
              </a:rPr>
              <a:t>応募</a:t>
            </a:r>
            <a:endParaRPr lang="en-US" sz="1400" b="0" u="none" strike="noStrike">
              <a:solidFill>
                <a:srgbClr val="000000"/>
              </a:solidFill>
              <a:effectLst/>
              <a:uFillTx/>
              <a:latin typeface="メイリオ"/>
            </a:endParaRPr>
          </a:p>
        </p:txBody>
      </p:sp>
      <p:sp>
        <p:nvSpPr>
          <p:cNvPr id="365" name="正方形/長方形 11"/>
          <p:cNvSpPr/>
          <p:nvPr/>
        </p:nvSpPr>
        <p:spPr>
          <a:xfrm>
            <a:off x="307080" y="3090600"/>
            <a:ext cx="1425960" cy="44784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sz="1300" b="0" u="none" strike="noStrike">
                <a:solidFill>
                  <a:schemeClr val="lt1"/>
                </a:solidFill>
                <a:effectLst/>
                <a:uFillTx/>
                <a:latin typeface="メイリオ"/>
                <a:ea typeface="メイリオ"/>
              </a:rPr>
              <a:t>ポップアップ</a:t>
            </a:r>
            <a:endParaRPr lang="en-US" sz="1300" b="0" u="none" strike="noStrike">
              <a:solidFill>
                <a:srgbClr val="FFFFFF"/>
              </a:solidFill>
              <a:effectLst/>
              <a:uFillTx/>
              <a:latin typeface="メイリオ"/>
            </a:endParaRPr>
          </a:p>
        </p:txBody>
      </p:sp>
      <p:sp>
        <p:nvSpPr>
          <p:cNvPr id="366" name="正方形/長方形 13"/>
          <p:cNvSpPr/>
          <p:nvPr/>
        </p:nvSpPr>
        <p:spPr>
          <a:xfrm>
            <a:off x="1770120" y="3090600"/>
            <a:ext cx="1343880" cy="44784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zh-CN" sz="1300" b="0" u="none" strike="noStrike">
                <a:solidFill>
                  <a:schemeClr val="dk1"/>
                </a:solidFill>
                <a:effectLst/>
                <a:uFillTx/>
                <a:latin typeface="メイリオ"/>
                <a:ea typeface="メイリオ"/>
              </a:rPr>
              <a:t>導入</a:t>
            </a:r>
            <a:endParaRPr lang="en-US" sz="1300" b="0" u="none" strike="noStrike">
              <a:solidFill>
                <a:srgbClr val="000000"/>
              </a:solidFill>
              <a:effectLst/>
              <a:uFillTx/>
              <a:latin typeface="メイリオ"/>
            </a:endParaRPr>
          </a:p>
        </p:txBody>
      </p:sp>
      <p:sp>
        <p:nvSpPr>
          <p:cNvPr id="367" name="正方形/長方形 17"/>
          <p:cNvSpPr/>
          <p:nvPr/>
        </p:nvSpPr>
        <p:spPr>
          <a:xfrm>
            <a:off x="307080" y="3579840"/>
            <a:ext cx="1425960" cy="44784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sz="1300" b="0" u="none" strike="noStrike">
                <a:solidFill>
                  <a:schemeClr val="lt1"/>
                </a:solidFill>
                <a:effectLst/>
                <a:uFillTx/>
                <a:latin typeface="メイリオ"/>
                <a:ea typeface="メイリオ"/>
              </a:rPr>
              <a:t>リッチメニュー</a:t>
            </a:r>
            <a:endParaRPr lang="en-US" sz="1300" b="0" u="none" strike="noStrike">
              <a:solidFill>
                <a:srgbClr val="FFFFFF"/>
              </a:solidFill>
              <a:effectLst/>
              <a:uFillTx/>
              <a:latin typeface="メイリオ"/>
            </a:endParaRPr>
          </a:p>
        </p:txBody>
      </p:sp>
      <p:sp>
        <p:nvSpPr>
          <p:cNvPr id="368" name="正方形/長方形 21"/>
          <p:cNvSpPr/>
          <p:nvPr/>
        </p:nvSpPr>
        <p:spPr>
          <a:xfrm>
            <a:off x="1770120" y="3579840"/>
            <a:ext cx="1343880" cy="44784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sz="1300" b="0" u="none" strike="noStrike">
                <a:solidFill>
                  <a:schemeClr val="dk1"/>
                </a:solidFill>
                <a:effectLst/>
                <a:uFillTx/>
                <a:latin typeface="メイリオ"/>
                <a:ea typeface="メイリオ"/>
              </a:rPr>
              <a:t>設計・構築</a:t>
            </a:r>
            <a:endParaRPr lang="en-US" sz="1300" b="0" u="none" strike="noStrike">
              <a:solidFill>
                <a:srgbClr val="000000"/>
              </a:solidFill>
              <a:effectLst/>
              <a:uFillTx/>
              <a:latin typeface="メイリオ"/>
            </a:endParaRPr>
          </a:p>
        </p:txBody>
      </p:sp>
      <p:sp>
        <p:nvSpPr>
          <p:cNvPr id="371" name="正方形/長方形 33"/>
          <p:cNvSpPr/>
          <p:nvPr/>
        </p:nvSpPr>
        <p:spPr>
          <a:xfrm>
            <a:off x="307080" y="4069080"/>
            <a:ext cx="1425960" cy="44784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sz="1300" b="0" u="none" strike="noStrike">
                <a:solidFill>
                  <a:schemeClr val="lt1"/>
                </a:solidFill>
                <a:effectLst/>
                <a:uFillTx/>
                <a:latin typeface="メイリオ"/>
                <a:ea typeface="メイリオ"/>
              </a:rPr>
              <a:t>ステップ配信</a:t>
            </a:r>
            <a:endParaRPr lang="en-US" sz="1300" b="0" u="none" strike="noStrike">
              <a:solidFill>
                <a:srgbClr val="FFFFFF"/>
              </a:solidFill>
              <a:effectLst/>
              <a:uFillTx/>
              <a:latin typeface="メイリオ"/>
            </a:endParaRPr>
          </a:p>
        </p:txBody>
      </p:sp>
      <p:sp>
        <p:nvSpPr>
          <p:cNvPr id="372" name="正方形/長方形 37"/>
          <p:cNvSpPr/>
          <p:nvPr/>
        </p:nvSpPr>
        <p:spPr>
          <a:xfrm>
            <a:off x="1770120" y="4069080"/>
            <a:ext cx="1343880" cy="44784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sz="1300" b="0" u="none" strike="noStrike">
                <a:solidFill>
                  <a:schemeClr val="dk1"/>
                </a:solidFill>
                <a:effectLst/>
                <a:uFillTx/>
                <a:latin typeface="メイリオ"/>
                <a:ea typeface="メイリオ"/>
              </a:rPr>
              <a:t>5通を構築</a:t>
            </a:r>
            <a:endParaRPr lang="en-US" sz="1300" b="0" u="none" strike="noStrike">
              <a:solidFill>
                <a:srgbClr val="000000"/>
              </a:solidFill>
              <a:effectLst/>
              <a:uFillTx/>
              <a:latin typeface="メイリオ"/>
            </a:endParaRPr>
          </a:p>
        </p:txBody>
      </p:sp>
      <p:sp>
        <p:nvSpPr>
          <p:cNvPr id="373" name="正方形/長方形 41"/>
          <p:cNvSpPr/>
          <p:nvPr/>
        </p:nvSpPr>
        <p:spPr>
          <a:xfrm>
            <a:off x="307080" y="4558320"/>
            <a:ext cx="1425960" cy="44784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sz="1300" b="0" u="none" strike="noStrike">
                <a:solidFill>
                  <a:schemeClr val="lt1"/>
                </a:solidFill>
                <a:effectLst/>
                <a:uFillTx/>
                <a:latin typeface="メイリオ"/>
                <a:ea typeface="メイリオ"/>
              </a:rPr>
              <a:t>配信の設計</a:t>
            </a:r>
            <a:endParaRPr lang="en-US" sz="1300" b="0" u="none" strike="noStrike">
              <a:solidFill>
                <a:srgbClr val="FFFFFF"/>
              </a:solidFill>
              <a:effectLst/>
              <a:uFillTx/>
              <a:latin typeface="メイリオ"/>
            </a:endParaRPr>
          </a:p>
        </p:txBody>
      </p:sp>
      <p:sp>
        <p:nvSpPr>
          <p:cNvPr id="374" name="正方形/長方形 46"/>
          <p:cNvSpPr/>
          <p:nvPr/>
        </p:nvSpPr>
        <p:spPr>
          <a:xfrm>
            <a:off x="1770120" y="4558320"/>
            <a:ext cx="1343880" cy="44784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sz="1300" b="0" u="none" strike="noStrike">
                <a:solidFill>
                  <a:schemeClr val="dk1"/>
                </a:solidFill>
                <a:effectLst/>
                <a:uFillTx/>
                <a:latin typeface="メイリオ"/>
                <a:ea typeface="メイリオ"/>
              </a:rPr>
              <a:t>前後検索を</a:t>
            </a:r>
            <a:br>
              <a:rPr lang="ja-JP" sz="1300" b="0" u="none" strike="noStrike">
                <a:solidFill>
                  <a:schemeClr val="dk1"/>
                </a:solidFill>
                <a:effectLst/>
                <a:uFillTx/>
                <a:latin typeface="メイリオ"/>
                <a:ea typeface="メイリオ"/>
              </a:rPr>
            </a:br>
            <a:r>
              <a:rPr lang="ja-JP" sz="1300" b="0" u="none" strike="noStrike">
                <a:solidFill>
                  <a:schemeClr val="dk1"/>
                </a:solidFill>
                <a:effectLst/>
                <a:uFillTx/>
                <a:latin typeface="メイリオ"/>
                <a:ea typeface="メイリオ"/>
              </a:rPr>
              <a:t>もとに設計</a:t>
            </a:r>
            <a:endParaRPr lang="en-US" sz="1300" b="0" u="none" strike="noStrike">
              <a:solidFill>
                <a:srgbClr val="000000"/>
              </a:solidFill>
              <a:effectLst/>
              <a:uFillTx/>
              <a:latin typeface="メイリオ"/>
            </a:endParaRPr>
          </a:p>
        </p:txBody>
      </p:sp>
      <p:sp>
        <p:nvSpPr>
          <p:cNvPr id="375" name="テキスト ボックス 10"/>
          <p:cNvSpPr/>
          <p:nvPr/>
        </p:nvSpPr>
        <p:spPr>
          <a:xfrm>
            <a:off x="8256960" y="1956960"/>
            <a:ext cx="1325520" cy="4021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pPr>
            <a:r>
              <a:rPr lang="zh-CN" sz="1400" b="1" u="none" strike="noStrike">
                <a:solidFill>
                  <a:srgbClr val="1F285A"/>
                </a:solidFill>
                <a:effectLst/>
                <a:uFillTx/>
                <a:latin typeface="メイリオ"/>
                <a:ea typeface="メイリオ"/>
              </a:rPr>
              <a:t>86,631人</a:t>
            </a:r>
            <a:endParaRPr lang="en-US" sz="1400" b="0" u="none" strike="noStrike">
              <a:solidFill>
                <a:srgbClr val="000000"/>
              </a:solidFill>
              <a:effectLst/>
              <a:uFillTx/>
              <a:latin typeface="メイリオ"/>
            </a:endParaRPr>
          </a:p>
        </p:txBody>
      </p:sp>
      <p:sp>
        <p:nvSpPr>
          <p:cNvPr id="378" name="テキスト ボックス 26"/>
          <p:cNvSpPr/>
          <p:nvPr/>
        </p:nvSpPr>
        <p:spPr>
          <a:xfrm>
            <a:off x="8256960" y="2432160"/>
            <a:ext cx="1325520" cy="4021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pPr>
            <a:r>
              <a:rPr lang="en-US" sz="1400" b="1" u="none" strike="noStrike">
                <a:solidFill>
                  <a:srgbClr val="1F285A"/>
                </a:solidFill>
                <a:effectLst/>
                <a:uFillTx/>
                <a:latin typeface="メイリオ"/>
                <a:ea typeface="メイリオ"/>
              </a:rPr>
              <a:t>232件/月</a:t>
            </a:r>
            <a:endParaRPr lang="en-US" sz="1400" b="0" u="none" strike="noStrike">
              <a:solidFill>
                <a:srgbClr val="000000"/>
              </a:solidFill>
              <a:effectLst/>
              <a:uFillTx/>
              <a:latin typeface="メイリオ"/>
            </a:endParaRPr>
          </a:p>
        </p:txBody>
      </p:sp>
      <p:sp>
        <p:nvSpPr>
          <p:cNvPr id="381" name="テキスト ボックス 30"/>
          <p:cNvSpPr/>
          <p:nvPr/>
        </p:nvSpPr>
        <p:spPr>
          <a:xfrm>
            <a:off x="426240" y="635400"/>
            <a:ext cx="9068760" cy="6984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pPr>
            <a:r>
              <a:rPr lang="ja-JP" sz="1400" b="0" u="none" strike="noStrike">
                <a:solidFill>
                  <a:schemeClr val="dk1">
                    <a:lumMod val="65000"/>
                    <a:lumOff val="35000"/>
                  </a:schemeClr>
                </a:solidFill>
                <a:effectLst/>
                <a:uFillTx/>
                <a:latin typeface="メイリオ"/>
                <a:ea typeface="メイリオ"/>
              </a:rPr>
              <a:t>プラン①（月3投稿）で、友だちの入口を増やし、検討の順番に沿った配信で応募を増やす</a:t>
            </a:r>
            <a:endParaRPr lang="en-US" sz="1400" b="0" u="none" strike="noStrike">
              <a:solidFill>
                <a:srgbClr val="000000"/>
              </a:solidFill>
              <a:effectLst/>
              <a:uFillTx/>
              <a:latin typeface="メイリオ"/>
            </a:endParaRPr>
          </a:p>
        </p:txBody>
      </p:sp>
      <p:sp>
        <p:nvSpPr>
          <p:cNvPr id="382" name="初期 来場前のお知らせ"/>
          <p:cNvSpPr/>
          <p:nvPr/>
        </p:nvSpPr>
        <p:spPr>
          <a:xfrm>
            <a:off x="307080" y="5047560"/>
            <a:ext cx="1425960" cy="44784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sz="1300" b="0" u="none" strike="noStrike">
                <a:solidFill>
                  <a:schemeClr val="lt1"/>
                </a:solidFill>
                <a:effectLst/>
                <a:uFillTx/>
                <a:latin typeface="メイリオ"/>
                <a:ea typeface="メイリオ"/>
              </a:rPr>
              <a:t>適正バイト</a:t>
            </a:r>
            <a:endParaRPr lang="en-US" sz="1300" b="0" u="none" strike="noStrike">
              <a:solidFill>
                <a:srgbClr val="FFFFFF"/>
              </a:solidFill>
              <a:effectLst/>
              <a:uFillTx/>
              <a:latin typeface="メイリオ"/>
            </a:endParaRPr>
          </a:p>
          <a:p>
            <a:pPr algn="ctr" defTabSz="914400">
              <a:lnSpc>
                <a:spcPct val="100000"/>
              </a:lnSpc>
            </a:pPr>
            <a:r>
              <a:rPr lang="ja-JP" sz="1300" b="0" u="none" strike="noStrike">
                <a:solidFill>
                  <a:schemeClr val="lt1"/>
                </a:solidFill>
                <a:effectLst/>
                <a:uFillTx/>
                <a:latin typeface="メイリオ"/>
                <a:ea typeface="メイリオ"/>
              </a:rPr>
              <a:t>診断</a:t>
            </a:r>
            <a:endParaRPr lang="en-US" sz="1300" b="0" u="none" strike="noStrike">
              <a:solidFill>
                <a:srgbClr val="FFFFFF"/>
              </a:solidFill>
              <a:effectLst/>
              <a:uFillTx/>
              <a:latin typeface="メイリオ"/>
            </a:endParaRPr>
          </a:p>
        </p:txBody>
      </p:sp>
      <p:sp>
        <p:nvSpPr>
          <p:cNvPr id="383" name="初期 型をつくる"/>
          <p:cNvSpPr/>
          <p:nvPr/>
        </p:nvSpPr>
        <p:spPr>
          <a:xfrm>
            <a:off x="1770120" y="5047560"/>
            <a:ext cx="1343880" cy="44784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p:style>
        <p:txBody>
          <a:bodyPr lIns="45720" tIns="18360" rIns="45720" bIns="18360" anchor="ctr">
            <a:noAutofit/>
          </a:bodyPr>
          <a:lstStyle/>
          <a:p>
            <a:pPr algn="ctr" defTabSz="914400">
              <a:lnSpc>
                <a:spcPct val="100000"/>
              </a:lnSpc>
            </a:pPr>
            <a:r>
              <a:rPr lang="ja-JP" sz="1300" b="0" u="none" strike="noStrike">
                <a:solidFill>
                  <a:schemeClr val="dk1"/>
                </a:solidFill>
                <a:effectLst/>
                <a:uFillTx/>
                <a:latin typeface="メイリオ"/>
                <a:ea typeface="メイリオ"/>
              </a:rPr>
              <a:t>設計・構築</a:t>
            </a:r>
            <a:endParaRPr lang="en-US" sz="1300" b="0" u="none" strike="noStrike">
              <a:solidFill>
                <a:srgbClr val="000000"/>
              </a:solidFill>
              <a:effectLst/>
              <a:uFillTx/>
              <a:latin typeface="メイリオ"/>
            </a:endParaRPr>
          </a:p>
        </p:txBody>
      </p:sp>
      <p:sp>
        <p:nvSpPr>
          <p:cNvPr id="384" name="TextBox 383"/>
          <p:cNvSpPr txBox="1"/>
          <p:nvPr/>
        </p:nvSpPr>
        <p:spPr>
          <a:xfrm>
            <a:off x="265176" y="6035040"/>
            <a:ext cx="9326880" cy="411480"/>
          </a:xfrm>
          <a:prstGeom prst="rect">
            <a:avLst/>
          </a:prstGeom>
          <a:noFill/>
        </p:spPr>
        <p:txBody>
          <a:bodyPr wrap="square" lIns="36000" tIns="10800" rIns="36000" bIns="10800" anchor="t">
            <a:spAutoFit/>
          </a:bodyPr>
          <a:lstStyle/>
          <a:p>
            <a:pPr algn="l">
              <a:lnSpc>
                <a:spcPct val="105000"/>
              </a:lnSpc>
              <a:spcAft>
                <a:spcPts val="200"/>
              </a:spcAft>
            </a:pPr>
            <a:r>
              <a:rPr sz="900" b="0">
                <a:solidFill>
                  <a:srgbClr val="595959"/>
                </a:solidFill>
                <a:latin typeface="メイリオ"/>
                <a:ea typeface="メイリオ"/>
                <a:cs typeface="メイリオ"/>
              </a:rPr>
              <a:t>※前提：サイトの訪問 月85,887人／友だちの入口＝サイトのLINEボタン・ポップアップ／ブロック率34.1%から／</a:t>
            </a:r>
            <a:br>
              <a:rPr sz="900" b="0">
                <a:solidFill>
                  <a:srgbClr val="595959"/>
                </a:solidFill>
                <a:latin typeface="メイリオ"/>
                <a:ea typeface="メイリオ"/>
                <a:cs typeface="メイリオ"/>
              </a:rPr>
            </a:br>
            <a:r>
              <a:rPr sz="900" b="0">
                <a:solidFill>
                  <a:srgbClr val="595959"/>
                </a:solidFill>
                <a:latin typeface="メイリオ"/>
                <a:ea typeface="メイリオ"/>
                <a:cs typeface="メイリオ"/>
              </a:rPr>
              <a:t>企画配信 月3本・ステップ配信5通／応募＝LINEからのクリックの0.4〜0.9%</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5" name="Google Shape;752;p28"/>
          <p:cNvSpPr/>
          <p:nvPr/>
        </p:nvSpPr>
        <p:spPr>
          <a:xfrm>
            <a:off x="549000" y="138240"/>
            <a:ext cx="6275880" cy="338040"/>
          </a:xfrm>
          <a:prstGeom prst="rect">
            <a:avLst/>
          </a:prstGeom>
          <a:noFill/>
          <a:ln w="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pPr>
            <a:r>
              <a:rPr lang="ja-JP" sz="1600" b="1" u="none" strike="noStrike">
                <a:solidFill>
                  <a:srgbClr val="323366"/>
                </a:solidFill>
                <a:effectLst/>
                <a:uFillTx/>
                <a:latin typeface="メイリオ"/>
                <a:ea typeface="メイリオ"/>
              </a:rPr>
              <a:t>料金プラン：2つのプランの費用</a:t>
            </a:r>
            <a:endParaRPr lang="en-US" sz="1600" b="0" u="none" strike="noStrike">
              <a:solidFill>
                <a:srgbClr val="000000"/>
              </a:solidFill>
              <a:effectLst/>
              <a:uFillTx/>
              <a:latin typeface="メイリオ"/>
            </a:endParaRPr>
          </a:p>
        </p:txBody>
      </p:sp>
      <p:sp>
        <p:nvSpPr>
          <p:cNvPr id="636" name="正方形/長方形 8"/>
          <p:cNvSpPr/>
          <p:nvPr/>
        </p:nvSpPr>
        <p:spPr>
          <a:xfrm>
            <a:off x="0" y="681480"/>
            <a:ext cx="2914200" cy="502560"/>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1400" b="0" u="none" strike="noStrike" dirty="0">
                <a:solidFill>
                  <a:schemeClr val="lt1"/>
                </a:solidFill>
                <a:effectLst/>
                <a:uFillTx/>
                <a:latin typeface="メイリオ"/>
                <a:ea typeface="メイリオ"/>
              </a:rPr>
              <a:t>料金プランの比較</a:t>
            </a:r>
            <a:endParaRPr lang="en-US" sz="1400" b="0" u="none" strike="noStrike" dirty="0">
              <a:solidFill>
                <a:srgbClr val="FFFFFF"/>
              </a:solidFill>
              <a:effectLst/>
              <a:uFillTx/>
              <a:latin typeface="メイリオ"/>
            </a:endParaRPr>
          </a:p>
        </p:txBody>
      </p:sp>
      <p:sp>
        <p:nvSpPr>
          <p:cNvPr id="637" name="Google Shape;752;p28"/>
          <p:cNvSpPr/>
          <p:nvPr/>
        </p:nvSpPr>
        <p:spPr>
          <a:xfrm>
            <a:off x="2983680" y="783000"/>
            <a:ext cx="6619680" cy="338040"/>
          </a:xfrm>
          <a:prstGeom prst="rect">
            <a:avLst/>
          </a:prstGeom>
          <a:noFill/>
          <a:ln w="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pPr>
            <a:r>
              <a:rPr lang="ja-JP" sz="1600" b="1" u="none" strike="noStrike" dirty="0">
                <a:solidFill>
                  <a:schemeClr val="dk1"/>
                </a:solidFill>
                <a:effectLst/>
                <a:uFillTx/>
                <a:latin typeface="メイリオ"/>
                <a:ea typeface="メイリオ"/>
              </a:rPr>
              <a:t>運用範囲に合わせて、2つのプランをご用意</a:t>
            </a:r>
            <a:endParaRPr lang="en-US" sz="1600" b="0" u="none" strike="noStrike" dirty="0">
              <a:solidFill>
                <a:srgbClr val="000000"/>
              </a:solidFill>
              <a:effectLst/>
              <a:uFillTx/>
              <a:latin typeface="メイリオ"/>
            </a:endParaRPr>
          </a:p>
        </p:txBody>
      </p:sp>
      <p:graphicFrame>
        <p:nvGraphicFramePr>
          <p:cNvPr id="639" name="料金プラン比較表 638"/>
          <p:cNvGraphicFramePr>
            <a:graphicFrameLocks noGrp="1"/>
          </p:cNvGraphicFramePr>
          <p:nvPr>
            <p:extLst>
              <p:ext uri="{D42A27DB-BD31-4B8C-83A1-F6EECF244321}">
                <p14:modId xmlns:p14="http://schemas.microsoft.com/office/powerpoint/2010/main" val="2012307853"/>
              </p:ext>
            </p:extLst>
          </p:nvPr>
        </p:nvGraphicFramePr>
        <p:xfrm>
          <a:off x="384048" y="1353312"/>
          <a:ext cx="9144000" cy="3749040"/>
        </p:xfrm>
        <a:graphic>
          <a:graphicData uri="http://schemas.openxmlformats.org/drawingml/2006/table">
            <a:tbl>
              <a:tblPr/>
              <a:tblGrid>
                <a:gridCol w="2286000">
                  <a:extLst>
                    <a:ext uri="{9D8B030D-6E8A-4147-A177-3AD203B41FA5}">
                      <a16:colId xmlns:a16="http://schemas.microsoft.com/office/drawing/2014/main" val="20000"/>
                    </a:ext>
                  </a:extLst>
                </a:gridCol>
                <a:gridCol w="3429000">
                  <a:extLst>
                    <a:ext uri="{9D8B030D-6E8A-4147-A177-3AD203B41FA5}">
                      <a16:colId xmlns:a16="http://schemas.microsoft.com/office/drawing/2014/main" val="20001"/>
                    </a:ext>
                  </a:extLst>
                </a:gridCol>
                <a:gridCol w="3429000">
                  <a:extLst>
                    <a:ext uri="{9D8B030D-6E8A-4147-A177-3AD203B41FA5}">
                      <a16:colId xmlns:a16="http://schemas.microsoft.com/office/drawing/2014/main" val="20002"/>
                    </a:ext>
                  </a:extLst>
                </a:gridCol>
              </a:tblGrid>
              <a:tr h="777240">
                <a:tc>
                  <a:txBody>
                    <a:bodyPr/>
                    <a:lstStyle/>
                    <a:p>
                      <a:pPr algn="ctr">
                        <a:buNone/>
                      </a:pPr>
                      <a:r>
                        <a:rPr lang="ja-JP" altLang="en-US" sz="1400" b="1" dirty="0">
                          <a:solidFill>
                            <a:srgbClr val="FFFFFF"/>
                          </a:solidFill>
                          <a:latin typeface="メイリオ" panose="020B0604030504040204" pitchFamily="50" charset="-128"/>
                          <a:ea typeface="メイリオ" panose="020B0604030504040204" pitchFamily="50" charset="-128"/>
                        </a:rPr>
                        <a:t>項目</a:t>
                      </a:r>
                      <a:endParaRPr lang="ja-JP" altLang="en-US" sz="1400" dirty="0"/>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1F285A"/>
                    </a:solidFill>
                  </a:tcPr>
                </a:tc>
                <a:tc>
                  <a:txBody>
                    <a:bodyPr/>
                    <a:lstStyle/>
                    <a:p>
                      <a:pPr algn="ctr">
                        <a:buNone/>
                      </a:pPr>
                      <a:r>
                        <a:rPr lang="ja-JP" altLang="en-US" sz="1400" b="1" dirty="0">
                          <a:solidFill>
                            <a:srgbClr val="FFFFFF"/>
                          </a:solidFill>
                          <a:latin typeface="メイリオ" panose="020B0604030504040204" pitchFamily="50" charset="-128"/>
                          <a:ea typeface="メイリオ" panose="020B0604030504040204" pitchFamily="50" charset="-128"/>
                        </a:rPr>
                        <a:t>プラン①（月3投稿）</a:t>
                      </a:r>
                      <a:endParaRPr lang="ja-JP" altLang="en-US" sz="1300" dirty="0"/>
                    </a:p>
                    <a:p>
                      <a:pPr algn="ctr">
                        <a:buNone/>
                      </a:pPr>
                      <a:r>
                        <a:rPr lang="ja-JP" altLang="en-US" sz="1400" b="1" dirty="0">
                          <a:solidFill>
                            <a:srgbClr val="FFFFFF"/>
                          </a:solidFill>
                          <a:latin typeface="メイリオ" panose="020B0604030504040204" pitchFamily="50" charset="-128"/>
                          <a:ea typeface="メイリオ" panose="020B0604030504040204" pitchFamily="50" charset="-128"/>
                        </a:rPr>
                        <a:t>コンサル基本</a:t>
                      </a:r>
                      <a:endParaRPr lang="ja-JP" altLang="en-US" sz="1300" dirty="0"/>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1F285A"/>
                    </a:solidFill>
                  </a:tcPr>
                </a:tc>
                <a:tc>
                  <a:txBody>
                    <a:bodyPr/>
                    <a:lstStyle/>
                    <a:p>
                      <a:pPr algn="ctr">
                        <a:buNone/>
                      </a:pPr>
                      <a:r>
                        <a:rPr lang="ja-JP" altLang="en-US" sz="1400" b="1" dirty="0">
                          <a:solidFill>
                            <a:srgbClr val="FFFFFF"/>
                          </a:solidFill>
                          <a:latin typeface="メイリオ" panose="020B0604030504040204" pitchFamily="50" charset="-128"/>
                          <a:ea typeface="メイリオ" panose="020B0604030504040204" pitchFamily="50" charset="-128"/>
                        </a:rPr>
                        <a:t>プラン②（月5投稿）</a:t>
                      </a:r>
                      <a:endParaRPr lang="ja-JP" altLang="en-US" sz="1300" dirty="0"/>
                    </a:p>
                    <a:p>
                      <a:pPr algn="ctr">
                        <a:buNone/>
                      </a:pPr>
                      <a:r>
                        <a:rPr lang="ja-JP" altLang="en-US" sz="1400" b="1" dirty="0">
                          <a:solidFill>
                            <a:srgbClr val="FFFFFF"/>
                          </a:solidFill>
                          <a:latin typeface="メイリオ" panose="020B0604030504040204" pitchFamily="50" charset="-128"/>
                          <a:ea typeface="メイリオ" panose="020B0604030504040204" pitchFamily="50" charset="-128"/>
                        </a:rPr>
                        <a:t>コンサル基本</a:t>
                      </a:r>
                      <a:endParaRPr lang="ja-JP" altLang="en-US" sz="1300" dirty="0"/>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1F285A"/>
                    </a:solidFill>
                  </a:tcPr>
                </a:tc>
                <a:extLst>
                  <a:ext uri="{0D108BD9-81ED-4DB2-BD59-A6C34878D82A}">
                    <a16:rowId xmlns:a16="http://schemas.microsoft.com/office/drawing/2014/main" val="10000"/>
                  </a:ext>
                </a:extLst>
              </a:tr>
              <a:tr h="640080">
                <a:tc>
                  <a:txBody>
                    <a:bodyPr/>
                    <a:lstStyle/>
                    <a:p>
                      <a:pPr algn="ctr">
                        <a:buNone/>
                      </a:pPr>
                      <a:r>
                        <a:rPr lang="ja-JP" altLang="en-US" sz="1400" b="1" dirty="0">
                          <a:solidFill>
                            <a:srgbClr val="1F285A"/>
                          </a:solidFill>
                          <a:latin typeface="メイリオ" panose="020B0604030504040204" pitchFamily="50" charset="-128"/>
                          <a:ea typeface="メイリオ" panose="020B0604030504040204" pitchFamily="50" charset="-128"/>
                        </a:rPr>
                        <a:t>初期費用</a:t>
                      </a:r>
                      <a:endParaRPr lang="ja-JP" altLang="en-US" sz="14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tc>
                  <a:txBody>
                    <a:bodyPr/>
                    <a:lstStyle/>
                    <a:p>
                      <a:pPr algn="ctr">
                        <a:buNone/>
                      </a:pPr>
                      <a:r>
                        <a:rPr lang="ja-JP" altLang="en-US" sz="1500" b="0" dirty="0">
                          <a:solidFill>
                            <a:srgbClr val="333333"/>
                          </a:solidFill>
                          <a:latin typeface="メイリオ" panose="020B0604030504040204" pitchFamily="50" charset="-128"/>
                          <a:ea typeface="メイリオ" panose="020B0604030504040204" pitchFamily="50" charset="-128"/>
                        </a:rPr>
                        <a:t>215,000円〜</a:t>
                      </a:r>
                      <a:endParaRPr lang="ja-JP" altLang="en-US" sz="15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500" b="0" dirty="0">
                          <a:solidFill>
                            <a:srgbClr val="333333"/>
                          </a:solidFill>
                          <a:latin typeface="メイリオ" panose="020B0604030504040204" pitchFamily="50" charset="-128"/>
                          <a:ea typeface="メイリオ" panose="020B0604030504040204" pitchFamily="50" charset="-128"/>
                        </a:rPr>
                        <a:t>265,000円〜</a:t>
                      </a:r>
                      <a:endParaRPr lang="ja-JP" altLang="en-US" sz="15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640080">
                <a:tc>
                  <a:txBody>
                    <a:bodyPr/>
                    <a:lstStyle/>
                    <a:p>
                      <a:pPr algn="ctr">
                        <a:buNone/>
                      </a:pPr>
                      <a:r>
                        <a:rPr lang="ja-JP" altLang="en-US" sz="1400" b="1" dirty="0">
                          <a:solidFill>
                            <a:srgbClr val="1F285A"/>
                          </a:solidFill>
                          <a:latin typeface="メイリオ" panose="020B0604030504040204" pitchFamily="50" charset="-128"/>
                          <a:ea typeface="メイリオ" panose="020B0604030504040204" pitchFamily="50" charset="-128"/>
                        </a:rPr>
                        <a:t>月額コンサルティング費</a:t>
                      </a:r>
                      <a:endParaRPr lang="ja-JP" altLang="en-US" sz="14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tc>
                  <a:txBody>
                    <a:bodyPr/>
                    <a:lstStyle/>
                    <a:p>
                      <a:pPr algn="ctr">
                        <a:buNone/>
                      </a:pPr>
                      <a:r>
                        <a:rPr lang="ja-JP" altLang="en-US" sz="1500" b="0" dirty="0">
                          <a:solidFill>
                            <a:srgbClr val="333333"/>
                          </a:solidFill>
                          <a:latin typeface="メイリオ" panose="020B0604030504040204" pitchFamily="50" charset="-128"/>
                          <a:ea typeface="メイリオ" panose="020B0604030504040204" pitchFamily="50" charset="-128"/>
                        </a:rPr>
                        <a:t>300,000円〜</a:t>
                      </a:r>
                      <a:endParaRPr lang="ja-JP" altLang="en-US" sz="15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500" b="0" dirty="0">
                          <a:solidFill>
                            <a:srgbClr val="333333"/>
                          </a:solidFill>
                          <a:latin typeface="メイリオ" panose="020B0604030504040204" pitchFamily="50" charset="-128"/>
                          <a:ea typeface="メイリオ" panose="020B0604030504040204" pitchFamily="50" charset="-128"/>
                        </a:rPr>
                        <a:t>350,000円〜</a:t>
                      </a:r>
                      <a:endParaRPr lang="ja-JP" altLang="en-US" sz="15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777240">
                <a:tc>
                  <a:txBody>
                    <a:bodyPr/>
                    <a:lstStyle/>
                    <a:p>
                      <a:pPr algn="ctr">
                        <a:buNone/>
                      </a:pPr>
                      <a:r>
                        <a:rPr lang="ja-JP" altLang="en-US" sz="1400" b="1" dirty="0">
                          <a:solidFill>
                            <a:srgbClr val="1F285A"/>
                          </a:solidFill>
                          <a:latin typeface="メイリオ" panose="020B0604030504040204" pitchFamily="50" charset="-128"/>
                          <a:ea typeface="メイリオ" panose="020B0604030504040204" pitchFamily="50" charset="-128"/>
                        </a:rPr>
                        <a:t>月額ツール・LINE関連費</a:t>
                      </a:r>
                      <a:endParaRPr lang="ja-JP" altLang="en-US" sz="1400" dirty="0"/>
                    </a:p>
                  </a:txBody>
                  <a:tcPr marL="27432" marR="2743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tc>
                  <a:txBody>
                    <a:bodyPr/>
                    <a:lstStyle/>
                    <a:p>
                      <a:pPr algn="ctr">
                        <a:buNone/>
                      </a:pPr>
                      <a:r>
                        <a:rPr lang="ja-JP" altLang="en-US" sz="1500" b="0" dirty="0">
                          <a:solidFill>
                            <a:srgbClr val="333333"/>
                          </a:solidFill>
                          <a:latin typeface="メイリオ" panose="020B0604030504040204" pitchFamily="50" charset="-128"/>
                          <a:ea typeface="メイリオ" panose="020B0604030504040204" pitchFamily="50" charset="-128"/>
                        </a:rPr>
                        <a:t>30,000円〜</a:t>
                      </a:r>
                      <a:endParaRPr lang="ja-JP" altLang="en-US" sz="15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500" b="0" dirty="0">
                          <a:solidFill>
                            <a:srgbClr val="333333"/>
                          </a:solidFill>
                          <a:latin typeface="メイリオ" panose="020B0604030504040204" pitchFamily="50" charset="-128"/>
                          <a:ea typeface="メイリオ" panose="020B0604030504040204" pitchFamily="50" charset="-128"/>
                        </a:rPr>
                        <a:t>30,000円〜</a:t>
                      </a:r>
                      <a:endParaRPr lang="ja-JP" altLang="en-US" sz="15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914400">
                <a:tc>
                  <a:txBody>
                    <a:bodyPr/>
                    <a:lstStyle/>
                    <a:p>
                      <a:pPr algn="ctr">
                        <a:buNone/>
                      </a:pPr>
                      <a:r>
                        <a:rPr lang="ja-JP" altLang="en-US" sz="1400" b="1" dirty="0">
                          <a:solidFill>
                            <a:srgbClr val="FFFFFF"/>
                          </a:solidFill>
                          <a:latin typeface="メイリオ" panose="020B0604030504040204" pitchFamily="50" charset="-128"/>
                          <a:ea typeface="メイリオ" panose="020B0604030504040204" pitchFamily="50" charset="-128"/>
                        </a:rPr>
                        <a:t>月額費用</a:t>
                      </a:r>
                      <a:endParaRPr lang="ja-JP" altLang="en-US" sz="14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1F285A"/>
                    </a:solidFill>
                  </a:tcPr>
                </a:tc>
                <a:tc>
                  <a:txBody>
                    <a:bodyPr/>
                    <a:lstStyle/>
                    <a:p>
                      <a:pPr algn="ctr">
                        <a:buNone/>
                      </a:pPr>
                      <a:r>
                        <a:rPr lang="ja-JP" altLang="en-US" sz="2000" b="1" dirty="0">
                          <a:solidFill>
                            <a:srgbClr val="1F285A"/>
                          </a:solidFill>
                          <a:latin typeface="メイリオ" panose="020B0604030504040204" pitchFamily="50" charset="-128"/>
                          <a:ea typeface="メイリオ" panose="020B0604030504040204" pitchFamily="50" charset="-128"/>
                        </a:rPr>
                        <a:t>330,000円〜</a:t>
                      </a:r>
                      <a:endParaRPr lang="ja-JP" altLang="en-US" sz="20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tc>
                  <a:txBody>
                    <a:bodyPr/>
                    <a:lstStyle/>
                    <a:p>
                      <a:pPr algn="ctr">
                        <a:buNone/>
                      </a:pPr>
                      <a:r>
                        <a:rPr lang="ja-JP" altLang="en-US" sz="2000" b="1" dirty="0">
                          <a:solidFill>
                            <a:srgbClr val="1F285A"/>
                          </a:solidFill>
                          <a:latin typeface="メイリオ" panose="020B0604030504040204" pitchFamily="50" charset="-128"/>
                          <a:ea typeface="メイリオ" panose="020B0604030504040204" pitchFamily="50" charset="-128"/>
                        </a:rPr>
                        <a:t>380,000円〜</a:t>
                      </a:r>
                      <a:endParaRPr lang="ja-JP" altLang="en-US" sz="20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extLst>
                  <a:ext uri="{0D108BD9-81ED-4DB2-BD59-A6C34878D82A}">
                    <a16:rowId xmlns:a16="http://schemas.microsoft.com/office/drawing/2014/main" val="10004"/>
                  </a:ext>
                </a:extLst>
              </a:tr>
            </a:tbl>
          </a:graphicData>
        </a:graphic>
      </p:graphicFrame>
      <p:sp>
        <p:nvSpPr>
          <p:cNvPr id="640" name="注記"/>
          <p:cNvSpPr/>
          <p:nvPr/>
        </p:nvSpPr>
        <p:spPr>
          <a:xfrm>
            <a:off x="384048" y="5257800"/>
            <a:ext cx="9144000" cy="246888"/>
          </a:xfrm>
          <a:prstGeom prst="rect">
            <a:avLst/>
          </a:prstGeom>
          <a:noFill/>
          <a:ln>
            <a:noFill/>
          </a:ln>
        </p:spPr>
        <p:txBody>
          <a:bodyPr wrap="square" lIns="0" tIns="0" rIns="0" bIns="0" rtlCol="0" anchor="t">
            <a:noAutofit/>
          </a:bodyPr>
          <a:lstStyle/>
          <a:p>
            <a:pPr algn="l">
              <a:buNone/>
            </a:pPr>
            <a:r>
              <a:rPr lang="ja-JP" altLang="en-US" sz="900" b="0" dirty="0">
                <a:solidFill>
                  <a:srgbClr val="7F7F7F"/>
                </a:solidFill>
                <a:latin typeface="メイリオ" panose="020B0604030504040204" pitchFamily="50" charset="-128"/>
                <a:ea typeface="メイリオ" panose="020B0604030504040204" pitchFamily="50" charset="-128"/>
              </a:rPr>
              <a:t>※初期費用＝運用設計・構築（プラン① 200,000円〜／プラン② 250,000円〜）＋ポップアップ 15,000円</a:t>
            </a:r>
            <a:endParaRPr lang="ja-JP" altLang="en-US" sz="1200" dirty="0"/>
          </a:p>
        </p:txBody>
      </p:sp>
      <p:sp>
        <p:nvSpPr>
          <p:cNvPr id="641" name="注記"/>
          <p:cNvSpPr/>
          <p:nvPr/>
        </p:nvSpPr>
        <p:spPr>
          <a:xfrm>
            <a:off x="384048" y="5504688"/>
            <a:ext cx="9144000" cy="246888"/>
          </a:xfrm>
          <a:prstGeom prst="rect">
            <a:avLst/>
          </a:prstGeom>
          <a:noFill/>
          <a:ln>
            <a:noFill/>
          </a:ln>
        </p:spPr>
        <p:txBody>
          <a:bodyPr wrap="square" lIns="0" tIns="0" rIns="0" bIns="0" rtlCol="0" anchor="t">
            <a:noAutofit/>
          </a:bodyPr>
          <a:lstStyle/>
          <a:p>
            <a:pPr algn="l">
              <a:buNone/>
            </a:pPr>
            <a:r>
              <a:rPr lang="ja-JP" altLang="en-US" sz="900" b="0" dirty="0">
                <a:solidFill>
                  <a:srgbClr val="7F7F7F"/>
                </a:solidFill>
                <a:latin typeface="メイリオ" panose="020B0604030504040204" pitchFamily="50" charset="-128"/>
                <a:ea typeface="メイリオ" panose="020B0604030504040204" pitchFamily="50" charset="-128"/>
              </a:rPr>
              <a:t>※月額ツール・LINE関連費＝ポップアップ 30,000円。サンクスLINE誘導はオプション（初期150,000円・月額30,000円〜）。LINE公式アカウント利用料は別</a:t>
            </a:r>
            <a:endParaRPr lang="ja-JP" altLang="en-US" sz="1200" dirty="0"/>
          </a:p>
        </p:txBody>
      </p:sp>
      <p:sp>
        <p:nvSpPr>
          <p:cNvPr id="642" name="注記"/>
          <p:cNvSpPr/>
          <p:nvPr/>
        </p:nvSpPr>
        <p:spPr>
          <a:xfrm>
            <a:off x="384048" y="5751576"/>
            <a:ext cx="9144000" cy="246888"/>
          </a:xfrm>
          <a:prstGeom prst="rect">
            <a:avLst/>
          </a:prstGeom>
          <a:noFill/>
          <a:ln>
            <a:noFill/>
          </a:ln>
        </p:spPr>
        <p:txBody>
          <a:bodyPr wrap="square" lIns="0" tIns="0" rIns="0" bIns="0" rtlCol="0" anchor="t">
            <a:noAutofit/>
          </a:bodyPr>
          <a:lstStyle/>
          <a:p>
            <a:pPr algn="l">
              <a:buNone/>
            </a:pPr>
            <a:r>
              <a:rPr lang="ja-JP" altLang="en-US" sz="900" b="0" dirty="0">
                <a:solidFill>
                  <a:srgbClr val="7F7F7F"/>
                </a:solidFill>
                <a:latin typeface="メイリオ" panose="020B0604030504040204" pitchFamily="50" charset="-128"/>
                <a:ea typeface="メイリオ" panose="020B0604030504040204" pitchFamily="50" charset="-128"/>
              </a:rPr>
              <a:t>※契約期間は6か月〜。概算お見積りのページはプラン①の場合</a:t>
            </a:r>
            <a:endParaRPr lang="ja-JP" altLang="en-US" sz="1200" dirty="0"/>
          </a:p>
        </p:txBody>
      </p:sp>
      <p:sp>
        <p:nvSpPr>
          <p:cNvPr id="643" name="注記"/>
          <p:cNvSpPr/>
          <p:nvPr/>
        </p:nvSpPr>
        <p:spPr>
          <a:xfrm>
            <a:off x="384048" y="5998464"/>
            <a:ext cx="9144000" cy="246888"/>
          </a:xfrm>
          <a:prstGeom prst="rect">
            <a:avLst/>
          </a:prstGeom>
          <a:noFill/>
          <a:ln>
            <a:noFill/>
          </a:ln>
        </p:spPr>
        <p:txBody>
          <a:bodyPr wrap="square" lIns="0" tIns="0" rIns="0" bIns="0" rtlCol="0" anchor="t">
            <a:noAutofit/>
          </a:bodyPr>
          <a:lstStyle/>
          <a:p>
            <a:pPr algn="l">
              <a:buNone/>
            </a:pPr>
            <a:r>
              <a:rPr lang="ja-JP" altLang="en-US" sz="900" b="0" dirty="0">
                <a:solidFill>
                  <a:srgbClr val="7F7F7F"/>
                </a:solidFill>
                <a:latin typeface="メイリオ" panose="020B0604030504040204" pitchFamily="50" charset="-128"/>
                <a:ea typeface="メイリオ" panose="020B0604030504040204" pitchFamily="50" charset="-128"/>
              </a:rPr>
              <a:t>※施策内容・配信本数・連携範囲等により、費用は個別にお見積もりいたします。</a:t>
            </a:r>
            <a:endParaRPr lang="ja-JP" altLang="en-US" sz="12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752;p28"/>
          <p:cNvSpPr/>
          <p:nvPr/>
        </p:nvSpPr>
        <p:spPr>
          <a:xfrm>
            <a:off x="549000" y="138240"/>
            <a:ext cx="6275880" cy="338040"/>
          </a:xfrm>
          <a:prstGeom prst="rect">
            <a:avLst/>
          </a:prstGeom>
          <a:noFill/>
          <a:ln w="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pPr>
            <a:r>
              <a:rPr lang="ja-JP" sz="1600" b="1" u="none" strike="noStrike">
                <a:solidFill>
                  <a:srgbClr val="323366"/>
                </a:solidFill>
                <a:effectLst/>
                <a:uFillTx/>
                <a:latin typeface="メイリオ"/>
                <a:ea typeface="メイリオ"/>
              </a:rPr>
              <a:t>運用内容：プランごとの対応範囲</a:t>
            </a:r>
            <a:endParaRPr lang="en-US" sz="1600" b="0" u="none" strike="noStrike">
              <a:solidFill>
                <a:srgbClr val="000000"/>
              </a:solidFill>
              <a:effectLst/>
              <a:uFillTx/>
              <a:latin typeface="メイリオ"/>
            </a:endParaRPr>
          </a:p>
        </p:txBody>
      </p:sp>
      <p:sp>
        <p:nvSpPr>
          <p:cNvPr id="4" name="正方形/長方形 8"/>
          <p:cNvSpPr/>
          <p:nvPr/>
        </p:nvSpPr>
        <p:spPr>
          <a:xfrm>
            <a:off x="0" y="681480"/>
            <a:ext cx="2914200" cy="502560"/>
          </a:xfrm>
          <a:prstGeom prst="rect">
            <a:avLst/>
          </a:prstGeom>
          <a:solidFill>
            <a:srgbClr val="002060"/>
          </a:solid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914400">
              <a:lnSpc>
                <a:spcPct val="100000"/>
              </a:lnSpc>
            </a:pPr>
            <a:r>
              <a:rPr lang="ja-JP" sz="1400" b="0" u="none" strike="noStrike">
                <a:solidFill>
                  <a:schemeClr val="lt1"/>
                </a:solidFill>
                <a:effectLst/>
                <a:uFillTx/>
                <a:latin typeface="メイリオ"/>
                <a:ea typeface="メイリオ"/>
              </a:rPr>
              <a:t>運用内容の比較</a:t>
            </a:r>
            <a:endParaRPr lang="en-US" sz="1400" b="0" u="none" strike="noStrike">
              <a:solidFill>
                <a:srgbClr val="FFFFFF"/>
              </a:solidFill>
              <a:effectLst/>
              <a:uFillTx/>
              <a:latin typeface="メイリオ"/>
            </a:endParaRPr>
          </a:p>
        </p:txBody>
      </p:sp>
      <p:sp>
        <p:nvSpPr>
          <p:cNvPr id="5" name="Google Shape;752;p28"/>
          <p:cNvSpPr/>
          <p:nvPr/>
        </p:nvSpPr>
        <p:spPr>
          <a:xfrm>
            <a:off x="2983680" y="783000"/>
            <a:ext cx="6619680" cy="338040"/>
          </a:xfrm>
          <a:prstGeom prst="rect">
            <a:avLst/>
          </a:prstGeom>
          <a:noFill/>
          <a:ln w="0">
            <a:noFill/>
          </a:ln>
        </p:spPr>
        <p:style>
          <a:lnRef idx="0">
            <a:scrgbClr r="0" g="0" b="0"/>
          </a:lnRef>
          <a:fillRef idx="0">
            <a:scrgbClr r="0" g="0" b="0"/>
          </a:fillRef>
          <a:effectRef idx="0">
            <a:scrgbClr r="0" g="0" b="0"/>
          </a:effectRef>
          <a:fontRef idx="minor"/>
        </p:style>
        <p:txBody>
          <a:bodyPr anchor="ctr">
            <a:spAutoFit/>
          </a:bodyPr>
          <a:lstStyle/>
          <a:p>
            <a:pPr defTabSz="914400">
              <a:lnSpc>
                <a:spcPct val="100000"/>
              </a:lnSpc>
            </a:pPr>
            <a:r>
              <a:rPr lang="ja-JP" sz="1600" b="1" u="none" strike="noStrike" dirty="0">
                <a:solidFill>
                  <a:schemeClr val="dk1"/>
                </a:solidFill>
                <a:effectLst/>
                <a:uFillTx/>
                <a:latin typeface="メイリオ"/>
                <a:ea typeface="メイリオ"/>
              </a:rPr>
              <a:t>2つのプランの運用内容の比較</a:t>
            </a:r>
            <a:endParaRPr lang="en-US" sz="1600" b="0" u="none" strike="noStrike" dirty="0">
              <a:solidFill>
                <a:srgbClr val="000000"/>
              </a:solidFill>
              <a:effectLst/>
              <a:uFillTx/>
              <a:latin typeface="メイリオ"/>
            </a:endParaRPr>
          </a:p>
        </p:txBody>
      </p:sp>
      <p:graphicFrame>
        <p:nvGraphicFramePr>
          <p:cNvPr id="6" name="運用内容比較表 5"/>
          <p:cNvGraphicFramePr>
            <a:graphicFrameLocks noGrp="1"/>
          </p:cNvGraphicFramePr>
          <p:nvPr>
            <p:extLst>
              <p:ext uri="{D42A27DB-BD31-4B8C-83A1-F6EECF244321}">
                <p14:modId xmlns:p14="http://schemas.microsoft.com/office/powerpoint/2010/main" val="3686588805"/>
              </p:ext>
            </p:extLst>
          </p:nvPr>
        </p:nvGraphicFramePr>
        <p:xfrm>
          <a:off x="384048" y="1353312"/>
          <a:ext cx="9144000" cy="3829506"/>
        </p:xfrm>
        <a:graphic>
          <a:graphicData uri="http://schemas.openxmlformats.org/drawingml/2006/table">
            <a:tbl>
              <a:tblPr/>
              <a:tblGrid>
                <a:gridCol w="2286000">
                  <a:extLst>
                    <a:ext uri="{9D8B030D-6E8A-4147-A177-3AD203B41FA5}">
                      <a16:colId xmlns:a16="http://schemas.microsoft.com/office/drawing/2014/main" val="20000"/>
                    </a:ext>
                  </a:extLst>
                </a:gridCol>
                <a:gridCol w="3429000">
                  <a:extLst>
                    <a:ext uri="{9D8B030D-6E8A-4147-A177-3AD203B41FA5}">
                      <a16:colId xmlns:a16="http://schemas.microsoft.com/office/drawing/2014/main" val="20001"/>
                    </a:ext>
                  </a:extLst>
                </a:gridCol>
                <a:gridCol w="3429000">
                  <a:extLst>
                    <a:ext uri="{9D8B030D-6E8A-4147-A177-3AD203B41FA5}">
                      <a16:colId xmlns:a16="http://schemas.microsoft.com/office/drawing/2014/main" val="20002"/>
                    </a:ext>
                  </a:extLst>
                </a:gridCol>
              </a:tblGrid>
              <a:tr h="680313">
                <a:tc>
                  <a:txBody>
                    <a:bodyPr/>
                    <a:lstStyle/>
                    <a:p>
                      <a:pPr algn="ctr">
                        <a:buNone/>
                      </a:pPr>
                      <a:r>
                        <a:rPr lang="ja-JP" altLang="en-US" sz="1400" b="1" dirty="0">
                          <a:solidFill>
                            <a:srgbClr val="FFFFFF"/>
                          </a:solidFill>
                          <a:latin typeface="メイリオ" panose="020B0604030504040204" pitchFamily="50" charset="-128"/>
                          <a:ea typeface="メイリオ" panose="020B0604030504040204" pitchFamily="50" charset="-128"/>
                        </a:rPr>
                        <a:t>項目</a:t>
                      </a:r>
                      <a:endParaRPr lang="ja-JP" altLang="en-US" sz="1400" dirty="0"/>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1F285A"/>
                    </a:solidFill>
                  </a:tcPr>
                </a:tc>
                <a:tc>
                  <a:txBody>
                    <a:bodyPr/>
                    <a:lstStyle/>
                    <a:p>
                      <a:pPr algn="ctr">
                        <a:buNone/>
                      </a:pPr>
                      <a:r>
                        <a:rPr lang="ja-JP" altLang="en-US" sz="1400" b="1" dirty="0">
                          <a:solidFill>
                            <a:srgbClr val="FFFFFF"/>
                          </a:solidFill>
                          <a:latin typeface="メイリオ" panose="020B0604030504040204" pitchFamily="50" charset="-128"/>
                          <a:ea typeface="メイリオ" panose="020B0604030504040204" pitchFamily="50" charset="-128"/>
                        </a:rPr>
                        <a:t>プラン①（月3投稿）</a:t>
                      </a:r>
                      <a:endParaRPr lang="ja-JP" altLang="en-US" sz="1300" dirty="0"/>
                    </a:p>
                    <a:p>
                      <a:pPr algn="ctr">
                        <a:buNone/>
                      </a:pPr>
                      <a:r>
                        <a:rPr lang="ja-JP" altLang="en-US" sz="1400" b="1" dirty="0">
                          <a:solidFill>
                            <a:srgbClr val="FFFFFF"/>
                          </a:solidFill>
                          <a:latin typeface="メイリオ" panose="020B0604030504040204" pitchFamily="50" charset="-128"/>
                          <a:ea typeface="メイリオ" panose="020B0604030504040204" pitchFamily="50" charset="-128"/>
                        </a:rPr>
                        <a:t>コンサル基本</a:t>
                      </a:r>
                      <a:endParaRPr lang="ja-JP" altLang="en-US" sz="1300" dirty="0"/>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1F285A"/>
                    </a:solidFill>
                  </a:tcPr>
                </a:tc>
                <a:tc>
                  <a:txBody>
                    <a:bodyPr/>
                    <a:lstStyle/>
                    <a:p>
                      <a:pPr algn="ctr">
                        <a:buNone/>
                      </a:pPr>
                      <a:r>
                        <a:rPr lang="ja-JP" altLang="en-US" sz="1400" b="1" dirty="0">
                          <a:solidFill>
                            <a:srgbClr val="FFFFFF"/>
                          </a:solidFill>
                          <a:latin typeface="メイリオ" panose="020B0604030504040204" pitchFamily="50" charset="-128"/>
                          <a:ea typeface="メイリオ" panose="020B0604030504040204" pitchFamily="50" charset="-128"/>
                        </a:rPr>
                        <a:t>プラン②（月5投稿）</a:t>
                      </a:r>
                      <a:endParaRPr lang="ja-JP" altLang="en-US" sz="1300" dirty="0"/>
                    </a:p>
                    <a:p>
                      <a:pPr algn="ctr">
                        <a:buNone/>
                      </a:pPr>
                      <a:r>
                        <a:rPr lang="ja-JP" altLang="en-US" sz="1400" b="1" dirty="0">
                          <a:solidFill>
                            <a:srgbClr val="FFFFFF"/>
                          </a:solidFill>
                          <a:latin typeface="メイリオ" panose="020B0604030504040204" pitchFamily="50" charset="-128"/>
                          <a:ea typeface="メイリオ" panose="020B0604030504040204" pitchFamily="50" charset="-128"/>
                        </a:rPr>
                        <a:t>コンサル基本</a:t>
                      </a:r>
                      <a:endParaRPr lang="ja-JP" altLang="en-US" sz="1300" dirty="0"/>
                    </a:p>
                  </a:txBody>
                  <a:tcPr marL="73152" marR="73152" marT="27432" marB="27432"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1F285A"/>
                    </a:solidFill>
                  </a:tcPr>
                </a:tc>
                <a:extLst>
                  <a:ext uri="{0D108BD9-81ED-4DB2-BD59-A6C34878D82A}">
                    <a16:rowId xmlns:a16="http://schemas.microsoft.com/office/drawing/2014/main" val="10000"/>
                  </a:ext>
                </a:extLst>
              </a:tr>
              <a:tr h="493776">
                <a:tc>
                  <a:txBody>
                    <a:bodyPr/>
                    <a:lstStyle/>
                    <a:p>
                      <a:pPr algn="ctr">
                        <a:buNone/>
                      </a:pPr>
                      <a:r>
                        <a:rPr lang="ja-JP" altLang="en-US" sz="1300" b="1" dirty="0">
                          <a:solidFill>
                            <a:srgbClr val="1F285A"/>
                          </a:solidFill>
                          <a:latin typeface="メイリオ" panose="020B0604030504040204" pitchFamily="50" charset="-128"/>
                          <a:ea typeface="メイリオ" panose="020B0604030504040204" pitchFamily="50" charset="-128"/>
                        </a:rPr>
                        <a:t>ポップアップ</a:t>
                      </a:r>
                      <a:endParaRPr lang="ja-JP" altLang="en-US" sz="13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rPr>
                        <a:t>導入・運用</a:t>
                      </a:r>
                      <a:endParaRPr lang="ja-JP" altLang="en-US" sz="13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rPr>
                        <a:t>導入・運用</a:t>
                      </a:r>
                      <a:endParaRPr lang="ja-JP" altLang="en-US" sz="13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93776">
                <a:tc>
                  <a:txBody>
                    <a:bodyPr/>
                    <a:lstStyle/>
                    <a:p>
                      <a:pPr algn="ctr">
                        <a:buNone/>
                      </a:pPr>
                      <a:r>
                        <a:rPr lang="ja-JP" altLang="en-US" sz="1300" b="1" dirty="0">
                          <a:solidFill>
                            <a:srgbClr val="1F285A"/>
                          </a:solidFill>
                          <a:latin typeface="メイリオ" panose="020B0604030504040204" pitchFamily="50" charset="-128"/>
                          <a:ea typeface="メイリオ" panose="020B0604030504040204" pitchFamily="50" charset="-128"/>
                        </a:rPr>
                        <a:t>適正バイト診断・</a:t>
                      </a:r>
                      <a:endParaRPr lang="ja-JP" altLang="en-US" sz="1300" dirty="0"/>
                    </a:p>
                    <a:p>
                      <a:pPr algn="ctr">
                        <a:buNone/>
                      </a:pPr>
                      <a:r>
                        <a:rPr lang="ja-JP" altLang="en-US" sz="1300" b="1" dirty="0">
                          <a:solidFill>
                            <a:srgbClr val="1F285A"/>
                          </a:solidFill>
                          <a:latin typeface="メイリオ" panose="020B0604030504040204" pitchFamily="50" charset="-128"/>
                          <a:ea typeface="メイリオ" panose="020B0604030504040204" pitchFamily="50" charset="-128"/>
                        </a:rPr>
                        <a:t>ステップ配信</a:t>
                      </a:r>
                      <a:endParaRPr lang="ja-JP" altLang="en-US" sz="13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rPr>
                        <a:t>設計・構築・改善</a:t>
                      </a:r>
                      <a:endParaRPr lang="ja-JP" altLang="en-US" sz="13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rPr>
                        <a:t>設計・構築・改善</a:t>
                      </a:r>
                      <a:endParaRPr lang="ja-JP" altLang="en-US" sz="13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493776">
                <a:tc>
                  <a:txBody>
                    <a:bodyPr/>
                    <a:lstStyle/>
                    <a:p>
                      <a:pPr algn="ctr">
                        <a:buNone/>
                      </a:pPr>
                      <a:r>
                        <a:rPr lang="ja-JP" altLang="en-US" sz="1300" b="1" dirty="0">
                          <a:solidFill>
                            <a:srgbClr val="1F285A"/>
                          </a:solidFill>
                          <a:latin typeface="メイリオ" panose="020B0604030504040204" pitchFamily="50" charset="-128"/>
                          <a:ea typeface="メイリオ" panose="020B0604030504040204" pitchFamily="50" charset="-128"/>
                        </a:rPr>
                        <a:t>企画配信</a:t>
                      </a:r>
                      <a:endParaRPr lang="ja-JP" altLang="en-US" sz="13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rPr>
                        <a:t>月3回程度</a:t>
                      </a:r>
                      <a:endParaRPr lang="ja-JP" altLang="en-US" sz="13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rPr>
                        <a:t>月5回程度</a:t>
                      </a:r>
                      <a:endParaRPr lang="ja-JP" altLang="en-US" sz="13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493776">
                <a:tc>
                  <a:txBody>
                    <a:bodyPr/>
                    <a:lstStyle/>
                    <a:p>
                      <a:pPr algn="ctr">
                        <a:buNone/>
                      </a:pPr>
                      <a:r>
                        <a:rPr lang="ja-JP" altLang="en-US" sz="1300" b="1" dirty="0">
                          <a:solidFill>
                            <a:srgbClr val="1F285A"/>
                          </a:solidFill>
                          <a:latin typeface="メイリオ" panose="020B0604030504040204" pitchFamily="50" charset="-128"/>
                          <a:ea typeface="メイリオ" panose="020B0604030504040204" pitchFamily="50" charset="-128"/>
                        </a:rPr>
                        <a:t>開始時期・エリア別の配信</a:t>
                      </a:r>
                      <a:endParaRPr lang="ja-JP" altLang="en-US" sz="13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rPr>
                        <a:t>対応</a:t>
                      </a:r>
                      <a:endParaRPr lang="ja-JP" altLang="en-US" sz="13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rPr>
                        <a:t>対応</a:t>
                      </a:r>
                      <a:endParaRPr lang="ja-JP" altLang="en-US" sz="13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493776">
                <a:tc>
                  <a:txBody>
                    <a:bodyPr/>
                    <a:lstStyle/>
                    <a:p>
                      <a:pPr algn="ctr">
                        <a:buNone/>
                      </a:pPr>
                      <a:r>
                        <a:rPr lang="ja-JP" altLang="en-US" sz="1300" b="1" dirty="0">
                          <a:solidFill>
                            <a:srgbClr val="1F285A"/>
                          </a:solidFill>
                          <a:latin typeface="メイリオ" panose="020B0604030504040204" pitchFamily="50" charset="-128"/>
                          <a:ea typeface="メイリオ" panose="020B0604030504040204" pitchFamily="50" charset="-128"/>
                        </a:rPr>
                        <a:t>結果の分析・改善</a:t>
                      </a:r>
                      <a:endParaRPr lang="ja-JP" altLang="en-US" sz="1300" dirty="0"/>
                    </a:p>
                    <a:p>
                      <a:pPr algn="ctr">
                        <a:buNone/>
                      </a:pPr>
                      <a:r>
                        <a:rPr lang="ja-JP" altLang="en-US" sz="1300" b="1" dirty="0">
                          <a:solidFill>
                            <a:srgbClr val="1F285A"/>
                          </a:solidFill>
                          <a:latin typeface="メイリオ" panose="020B0604030504040204" pitchFamily="50" charset="-128"/>
                          <a:ea typeface="メイリオ" panose="020B0604030504040204" pitchFamily="50" charset="-128"/>
                        </a:rPr>
                        <a:t>（月次レポート・定例会）</a:t>
                      </a:r>
                      <a:endParaRPr lang="ja-JP" altLang="en-US" sz="13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rPr>
                        <a:t>対応</a:t>
                      </a:r>
                      <a:endParaRPr lang="ja-JP" altLang="en-US" sz="13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rPr>
                        <a:t>対応</a:t>
                      </a:r>
                      <a:endParaRPr lang="ja-JP" altLang="en-US" sz="13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680313">
                <a:tc>
                  <a:txBody>
                    <a:bodyPr/>
                    <a:lstStyle/>
                    <a:p>
                      <a:pPr algn="ctr">
                        <a:buNone/>
                      </a:pPr>
                      <a:r>
                        <a:rPr lang="ja-JP" altLang="en-US" sz="1300" b="1" dirty="0">
                          <a:solidFill>
                            <a:srgbClr val="1F285A"/>
                          </a:solidFill>
                          <a:latin typeface="メイリオ" panose="020B0604030504040204" pitchFamily="50" charset="-128"/>
                          <a:ea typeface="メイリオ" panose="020B0604030504040204" pitchFamily="50" charset="-128"/>
                        </a:rPr>
                        <a:t>サンクスLINE誘導</a:t>
                      </a:r>
                      <a:endParaRPr lang="ja-JP" altLang="en-US" sz="13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E8ECF6"/>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rPr>
                        <a:t>オプション</a:t>
                      </a:r>
                      <a:endParaRPr lang="ja-JP" altLang="en-US" sz="13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tc>
                  <a:txBody>
                    <a:bodyPr/>
                    <a:lstStyle/>
                    <a:p>
                      <a:pPr algn="ctr">
                        <a:buNone/>
                      </a:pPr>
                      <a:r>
                        <a:rPr lang="ja-JP" altLang="en-US" sz="1300" b="0" dirty="0">
                          <a:solidFill>
                            <a:srgbClr val="333333"/>
                          </a:solidFill>
                          <a:latin typeface="メイリオ" panose="020B0604030504040204" pitchFamily="50" charset="-128"/>
                          <a:ea typeface="メイリオ" panose="020B0604030504040204" pitchFamily="50" charset="-128"/>
                        </a:rPr>
                        <a:t>オプション</a:t>
                      </a:r>
                      <a:endParaRPr lang="ja-JP" altLang="en-US" sz="1300" dirty="0"/>
                    </a:p>
                  </a:txBody>
                  <a:tcPr marL="73152" marR="73152" marT="27432" marB="27432" anchor="ctr">
                    <a:lnL w="9525" cap="flat" cmpd="sng" algn="ctr">
                      <a:solidFill>
                        <a:srgbClr val="BFC8DC"/>
                      </a:solidFill>
                      <a:prstDash val="solid"/>
                      <a:round/>
                      <a:headEnd type="none" w="med" len="med"/>
                      <a:tailEnd type="none" w="med" len="med"/>
                    </a:lnL>
                    <a:lnR w="9525" cap="flat" cmpd="sng" algn="ctr">
                      <a:solidFill>
                        <a:srgbClr val="BFC8DC"/>
                      </a:solidFill>
                      <a:prstDash val="solid"/>
                      <a:round/>
                      <a:headEnd type="none" w="med" len="med"/>
                      <a:tailEnd type="none" w="med" len="med"/>
                    </a:lnR>
                    <a:lnT w="9525" cap="flat" cmpd="sng" algn="ctr">
                      <a:solidFill>
                        <a:srgbClr val="BFC8DC"/>
                      </a:solidFill>
                      <a:prstDash val="solid"/>
                      <a:round/>
                      <a:headEnd type="none" w="med" len="med"/>
                      <a:tailEnd type="none" w="med" len="med"/>
                    </a:lnT>
                    <a:lnB w="9525" cap="flat" cmpd="sng" algn="ctr">
                      <a:solidFill>
                        <a:srgbClr val="BFC8DC"/>
                      </a:solidFill>
                      <a:prstDash val="solid"/>
                      <a:round/>
                      <a:headEnd type="none" w="med" len="med"/>
                      <a:tailEnd type="none" w="med" len="med"/>
                    </a:lnB>
                    <a:solidFill>
                      <a:srgbClr val="FFFFFF"/>
                    </a:solidFill>
                  </a:tcPr>
                </a:tc>
                <a:extLst>
                  <a:ext uri="{0D108BD9-81ED-4DB2-BD59-A6C34878D82A}">
                    <a16:rowId xmlns:a16="http://schemas.microsoft.com/office/drawing/2014/main" val="10008"/>
                  </a:ext>
                </a:extLst>
              </a:tr>
            </a:tbl>
          </a:graphicData>
        </a:graphic>
      </p:graphicFrame>
      <p:sp>
        <p:nvSpPr>
          <p:cNvPr id="7" name="TextBox 6"/>
          <p:cNvSpPr txBox="1"/>
          <p:nvPr/>
        </p:nvSpPr>
        <p:spPr>
          <a:xfrm>
            <a:off x="384048" y="5303520"/>
            <a:ext cx="9144000" cy="228600"/>
          </a:xfrm>
          <a:prstGeom prst="rect">
            <a:avLst/>
          </a:prstGeom>
          <a:noFill/>
        </p:spPr>
        <p:txBody>
          <a:bodyPr wrap="square" lIns="36000" tIns="10800" rIns="36000" bIns="10800" anchor="ctr">
            <a:spAutoFit/>
          </a:bodyPr>
          <a:lstStyle/>
          <a:p>
            <a:pPr algn="l">
              <a:lnSpc>
                <a:spcPct val="105000"/>
              </a:lnSpc>
              <a:spcAft>
                <a:spcPts val="200"/>
              </a:spcAft>
            </a:pPr>
            <a:r>
              <a:rPr sz="900" b="0">
                <a:solidFill>
                  <a:srgbClr val="777777"/>
                </a:solidFill>
                <a:latin typeface="メイリオ"/>
                <a:ea typeface="メイリオ"/>
                <a:cs typeface="メイリオ"/>
              </a:rPr>
              <a:t>※サンクスLINE誘導はオプション（初期150,000円・月額30,000円〜）</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094FA4-D911-000B-186B-940B357210A1}"/>
            </a:ext>
          </a:extLst>
        </p:cNvPr>
        <p:cNvGrpSpPr/>
        <p:nvPr/>
      </p:nvGrpSpPr>
      <p:grpSpPr>
        <a:xfrm>
          <a:off x="0" y="0"/>
          <a:ext cx="0" cy="0"/>
          <a:chOff x="0" y="0"/>
          <a:chExt cx="0" cy="0"/>
        </a:xfrm>
      </p:grpSpPr>
      <p:sp>
        <p:nvSpPr>
          <p:cNvPr id="22" name="Google Shape;752;p28">
            <a:extLst>
              <a:ext uri="{FF2B5EF4-FFF2-40B4-BE49-F238E27FC236}">
                <a16:creationId xmlns:a16="http://schemas.microsoft.com/office/drawing/2014/main" id="{E5360B94-F496-92C9-5C32-EC2AC1564015}"/>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chemeClr val="bg1">
                    <a:lumMod val="65000"/>
                  </a:schemeClr>
                </a:solidFill>
                <a:latin typeface="メイリオ" panose="020B0604030504040204" pitchFamily="50" charset="-128"/>
                <a:ea typeface="メイリオ" panose="020B0604030504040204" pitchFamily="50" charset="-128"/>
                <a:cs typeface="Meiryo"/>
                <a:sym typeface="Meiryo"/>
              </a:rPr>
              <a:t>アジェンダ</a:t>
            </a:r>
          </a:p>
        </p:txBody>
      </p:sp>
      <p:sp>
        <p:nvSpPr>
          <p:cNvPr id="14" name="Google Shape;752;p28">
            <a:extLst>
              <a:ext uri="{FF2B5EF4-FFF2-40B4-BE49-F238E27FC236}">
                <a16:creationId xmlns:a16="http://schemas.microsoft.com/office/drawing/2014/main" id="{2E4BE408-251A-7ED1-17D3-E2E4ABC5E278}"/>
              </a:ext>
            </a:extLst>
          </p:cNvPr>
          <p:cNvSpPr txBox="1"/>
          <p:nvPr/>
        </p:nvSpPr>
        <p:spPr>
          <a:xfrm>
            <a:off x="602223" y="1104688"/>
            <a:ext cx="1104657" cy="584735"/>
          </a:xfrm>
          <a:prstGeom prst="rect">
            <a:avLst/>
          </a:prstGeom>
          <a:noFill/>
          <a:ln>
            <a:noFill/>
          </a:ln>
        </p:spPr>
        <p:txBody>
          <a:bodyPr spcFirstLastPara="1" wrap="square" lIns="91425" tIns="45700" rIns="91425" bIns="45700" anchor="ctr" anchorCtr="0">
            <a:spAutoFit/>
          </a:bodyPr>
          <a:lstStyle/>
          <a:p>
            <a:pPr lvl="0"/>
            <a:r>
              <a:rPr lang="en-US" altLang="ja-JP" sz="3200" b="1" dirty="0">
                <a:solidFill>
                  <a:srgbClr val="323366"/>
                </a:solidFill>
                <a:latin typeface="メイリオ" panose="020B0604030504040204" pitchFamily="50" charset="-128"/>
                <a:ea typeface="メイリオ" panose="020B0604030504040204" pitchFamily="50" charset="-128"/>
                <a:cs typeface="Meiryo"/>
                <a:sym typeface="Meiryo"/>
              </a:rPr>
              <a:t>05</a:t>
            </a:r>
            <a:endParaRPr lang="ja-JP" altLang="en-US" sz="3200" b="1" dirty="0">
              <a:solidFill>
                <a:srgbClr val="323366"/>
              </a:solidFill>
              <a:latin typeface="メイリオ" panose="020B0604030504040204" pitchFamily="50" charset="-128"/>
              <a:ea typeface="メイリオ" panose="020B0604030504040204" pitchFamily="50" charset="-128"/>
              <a:cs typeface="Meiryo"/>
              <a:sym typeface="Meiryo"/>
            </a:endParaRPr>
          </a:p>
        </p:txBody>
      </p:sp>
      <p:sp>
        <p:nvSpPr>
          <p:cNvPr id="16" name="Google Shape;752;p28">
            <a:extLst>
              <a:ext uri="{FF2B5EF4-FFF2-40B4-BE49-F238E27FC236}">
                <a16:creationId xmlns:a16="http://schemas.microsoft.com/office/drawing/2014/main" id="{9B6D6E21-585B-EA4B-DB51-75A8EE77309D}"/>
              </a:ext>
            </a:extLst>
          </p:cNvPr>
          <p:cNvSpPr txBox="1"/>
          <p:nvPr/>
        </p:nvSpPr>
        <p:spPr>
          <a:xfrm>
            <a:off x="1867143" y="1043132"/>
            <a:ext cx="7315200" cy="707846"/>
          </a:xfrm>
          <a:prstGeom prst="rect">
            <a:avLst/>
          </a:prstGeom>
          <a:noFill/>
          <a:ln>
            <a:noFill/>
          </a:ln>
        </p:spPr>
        <p:txBody>
          <a:bodyPr spcFirstLastPara="1" wrap="square" lIns="91425" tIns="45700" rIns="91425" bIns="45700" anchor="ctr" anchorCtr="0">
            <a:spAutoFit/>
          </a:bodyPr>
          <a:lstStyle/>
          <a:p>
            <a:pPr lvl="0"/>
            <a:r>
              <a:rPr lang="ja-JP" altLang="en-US" sz="4000" b="1" dirty="0">
                <a:solidFill>
                  <a:schemeClr val="tx1">
                    <a:lumMod val="65000"/>
                    <a:lumOff val="35000"/>
                  </a:schemeClr>
                </a:solidFill>
                <a:latin typeface="メイリオ" panose="020B0604030504040204" pitchFamily="50" charset="-128"/>
                <a:ea typeface="メイリオ" panose="020B0604030504040204" pitchFamily="50" charset="-128"/>
                <a:cs typeface="Meiryo"/>
                <a:sym typeface="Meiryo"/>
              </a:rPr>
              <a:t>サポート体制</a:t>
            </a:r>
          </a:p>
        </p:txBody>
      </p:sp>
      <p:cxnSp>
        <p:nvCxnSpPr>
          <p:cNvPr id="17" name="直線コネクタ 16">
            <a:extLst>
              <a:ext uri="{FF2B5EF4-FFF2-40B4-BE49-F238E27FC236}">
                <a16:creationId xmlns:a16="http://schemas.microsoft.com/office/drawing/2014/main" id="{7E8CBA0C-5F08-1BB2-E25B-5B850FE183D0}"/>
              </a:ext>
            </a:extLst>
          </p:cNvPr>
          <p:cNvCxnSpPr>
            <a:cxnSpLocks/>
          </p:cNvCxnSpPr>
          <p:nvPr/>
        </p:nvCxnSpPr>
        <p:spPr>
          <a:xfrm>
            <a:off x="608527" y="1681803"/>
            <a:ext cx="944805" cy="0"/>
          </a:xfrm>
          <a:prstGeom prst="line">
            <a:avLst/>
          </a:prstGeom>
          <a:ln w="57150">
            <a:solidFill>
              <a:srgbClr val="10253F"/>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6045570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角丸四角形 6"/>
          <p:cNvSpPr/>
          <p:nvPr/>
        </p:nvSpPr>
        <p:spPr>
          <a:xfrm>
            <a:off x="3459839" y="1776142"/>
            <a:ext cx="2986322" cy="4471347"/>
          </a:xfrm>
          <a:prstGeom prst="roundRect">
            <a:avLst>
              <a:gd name="adj" fmla="val 3567"/>
            </a:avLst>
          </a:prstGeom>
          <a:solidFill>
            <a:srgbClr val="FFFFFF">
              <a:lumMod val="95000"/>
            </a:srgbClr>
          </a:solidFill>
          <a:ln w="25400" cap="flat" cmpd="sng" algn="ctr">
            <a:solidFill>
              <a:srgbClr val="FFFFFF">
                <a:lumMod val="85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endParaRPr kumimoji="0" lang="ja-JP" altLang="en-US" sz="1400" b="0" i="0" u="none" strike="noStrike" kern="0" cap="none" spc="0" normalizeH="0" baseline="0" noProof="0">
              <a:ln>
                <a:noFill/>
              </a:ln>
              <a:solidFill>
                <a:srgbClr val="FFFFFF"/>
              </a:solidFill>
              <a:effectLst/>
              <a:uLnTx/>
              <a:uFillTx/>
              <a:latin typeface="Arial"/>
              <a:ea typeface="ＭＳ Ｐゴシック" panose="020B0600070205080204" pitchFamily="50" charset="-128"/>
              <a:cs typeface="+mn-cs"/>
              <a:sym typeface="Arial"/>
            </a:endParaRPr>
          </a:p>
        </p:txBody>
      </p:sp>
      <p:sp>
        <p:nvSpPr>
          <p:cNvPr id="8" name="角丸四角形 7"/>
          <p:cNvSpPr/>
          <p:nvPr/>
        </p:nvSpPr>
        <p:spPr>
          <a:xfrm>
            <a:off x="256642" y="1776143"/>
            <a:ext cx="2986322" cy="4471347"/>
          </a:xfrm>
          <a:prstGeom prst="roundRect">
            <a:avLst>
              <a:gd name="adj" fmla="val 3567"/>
            </a:avLst>
          </a:prstGeom>
          <a:solidFill>
            <a:schemeClr val="accent1">
              <a:lumMod val="20000"/>
              <a:lumOff val="80000"/>
            </a:schemeClr>
          </a:solidFill>
          <a:ln w="25400" cap="flat" cmpd="sng" algn="ctr">
            <a:solidFill>
              <a:schemeClr val="accent1"/>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endParaRPr kumimoji="0" lang="ja-JP" altLang="en-US" sz="1400" b="0" i="0" u="none" strike="noStrike" kern="0" cap="none" spc="0" normalizeH="0" baseline="0" noProof="0">
              <a:ln>
                <a:noFill/>
              </a:ln>
              <a:solidFill>
                <a:srgbClr val="FFFFFF"/>
              </a:solidFill>
              <a:effectLst/>
              <a:uLnTx/>
              <a:uFillTx/>
              <a:latin typeface="Arial"/>
              <a:ea typeface="ＭＳ Ｐゴシック" panose="020B0600070205080204" pitchFamily="50" charset="-128"/>
              <a:cs typeface="+mn-cs"/>
              <a:sym typeface="Arial"/>
            </a:endParaRPr>
          </a:p>
        </p:txBody>
      </p:sp>
      <p:sp>
        <p:nvSpPr>
          <p:cNvPr id="9" name="角丸四角形 8"/>
          <p:cNvSpPr/>
          <p:nvPr/>
        </p:nvSpPr>
        <p:spPr>
          <a:xfrm>
            <a:off x="6663036" y="1776142"/>
            <a:ext cx="2986322" cy="4471347"/>
          </a:xfrm>
          <a:prstGeom prst="roundRect">
            <a:avLst>
              <a:gd name="adj" fmla="val 3567"/>
            </a:avLst>
          </a:prstGeom>
          <a:solidFill>
            <a:schemeClr val="accent1">
              <a:lumMod val="20000"/>
              <a:lumOff val="80000"/>
            </a:schemeClr>
          </a:solidFill>
          <a:ln w="25400" cap="flat" cmpd="sng" algn="ctr">
            <a:solidFill>
              <a:schemeClr val="accent1"/>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endParaRPr kumimoji="0" lang="ja-JP" altLang="en-US" sz="1400" b="0" i="0" u="none" strike="noStrike" kern="0" cap="none" spc="0" normalizeH="0" baseline="0" noProof="0">
              <a:ln>
                <a:noFill/>
              </a:ln>
              <a:solidFill>
                <a:srgbClr val="FFFFFF"/>
              </a:solidFill>
              <a:effectLst/>
              <a:uLnTx/>
              <a:uFillTx/>
              <a:latin typeface="Arial"/>
              <a:ea typeface="ＭＳ Ｐゴシック" panose="020B0600070205080204" pitchFamily="50" charset="-128"/>
              <a:cs typeface="+mn-cs"/>
              <a:sym typeface="Arial"/>
            </a:endParaRPr>
          </a:p>
        </p:txBody>
      </p:sp>
      <p:sp>
        <p:nvSpPr>
          <p:cNvPr id="11" name="Google Shape;178;p7"/>
          <p:cNvSpPr txBox="1"/>
          <p:nvPr/>
        </p:nvSpPr>
        <p:spPr>
          <a:xfrm>
            <a:off x="592643" y="1940375"/>
            <a:ext cx="2314319" cy="459948"/>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2000" b="1" dirty="0">
                <a:solidFill>
                  <a:srgbClr val="002060"/>
                </a:solidFill>
                <a:latin typeface="Meiryo"/>
                <a:ea typeface="Meiryo"/>
                <a:cs typeface="Meiryo"/>
                <a:sym typeface="Meiryo"/>
              </a:rPr>
              <a:t>ポップアップ</a:t>
            </a:r>
            <a:endParaRPr lang="en-US" altLang="ja-JP" sz="2000" b="1" dirty="0">
              <a:solidFill>
                <a:srgbClr val="002060"/>
              </a:solidFill>
              <a:latin typeface="Meiryo"/>
              <a:ea typeface="Meiryo"/>
              <a:cs typeface="Meiryo"/>
              <a:sym typeface="Meiryo"/>
            </a:endParaRPr>
          </a:p>
        </p:txBody>
      </p:sp>
      <p:sp>
        <p:nvSpPr>
          <p:cNvPr id="13" name="Google Shape;178;p7"/>
          <p:cNvSpPr txBox="1"/>
          <p:nvPr/>
        </p:nvSpPr>
        <p:spPr>
          <a:xfrm>
            <a:off x="3795840" y="1940375"/>
            <a:ext cx="2314319" cy="459948"/>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en-US" altLang="ja-JP" sz="2000" b="1" dirty="0">
                <a:solidFill>
                  <a:srgbClr val="002060"/>
                </a:solidFill>
                <a:latin typeface="Meiryo"/>
                <a:ea typeface="Meiryo"/>
                <a:cs typeface="Meiryo"/>
                <a:sym typeface="Meiryo"/>
              </a:rPr>
              <a:t>CPF</a:t>
            </a:r>
            <a:r>
              <a:rPr lang="ja-JP" altLang="en-US" sz="2000" b="1" dirty="0">
                <a:solidFill>
                  <a:srgbClr val="002060"/>
                </a:solidFill>
                <a:latin typeface="Meiryo"/>
                <a:ea typeface="Meiryo"/>
                <a:cs typeface="Meiryo"/>
                <a:sym typeface="Meiryo"/>
              </a:rPr>
              <a:t>広告</a:t>
            </a:r>
            <a:endParaRPr lang="en-US" altLang="ja-JP" sz="2000" b="1" dirty="0">
              <a:solidFill>
                <a:srgbClr val="002060"/>
              </a:solidFill>
              <a:latin typeface="Meiryo"/>
              <a:ea typeface="Meiryo"/>
              <a:cs typeface="Meiryo"/>
              <a:sym typeface="Meiryo"/>
            </a:endParaRPr>
          </a:p>
        </p:txBody>
      </p:sp>
      <p:sp>
        <p:nvSpPr>
          <p:cNvPr id="14" name="Google Shape;178;p7"/>
          <p:cNvSpPr txBox="1"/>
          <p:nvPr/>
        </p:nvSpPr>
        <p:spPr>
          <a:xfrm>
            <a:off x="6756033" y="1949959"/>
            <a:ext cx="2800326" cy="767725"/>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2000" b="1" dirty="0">
                <a:solidFill>
                  <a:srgbClr val="002060"/>
                </a:solidFill>
                <a:latin typeface="Meiryo"/>
                <a:ea typeface="Meiryo"/>
                <a:cs typeface="Meiryo"/>
                <a:sym typeface="Meiryo"/>
              </a:rPr>
              <a:t>サンクス</a:t>
            </a:r>
            <a:r>
              <a:rPr lang="en-US" altLang="ja-JP" sz="2000" b="1" dirty="0">
                <a:solidFill>
                  <a:srgbClr val="002060"/>
                </a:solidFill>
                <a:latin typeface="Meiryo"/>
                <a:ea typeface="Meiryo"/>
                <a:cs typeface="Meiryo"/>
                <a:sym typeface="Meiryo"/>
              </a:rPr>
              <a:t>LINE</a:t>
            </a:r>
            <a:r>
              <a:rPr lang="ja-JP" altLang="en-US" sz="2000" b="1" dirty="0">
                <a:solidFill>
                  <a:srgbClr val="002060"/>
                </a:solidFill>
                <a:latin typeface="Meiryo"/>
                <a:ea typeface="Meiryo"/>
                <a:cs typeface="Meiryo"/>
                <a:sym typeface="Meiryo"/>
              </a:rPr>
              <a:t>誘導</a:t>
            </a:r>
            <a:endParaRPr lang="en-US" altLang="ja-JP" sz="2000" b="1" dirty="0">
              <a:solidFill>
                <a:srgbClr val="002060"/>
              </a:solidFill>
              <a:latin typeface="Meiryo"/>
              <a:ea typeface="Meiryo"/>
              <a:cs typeface="Meiryo"/>
              <a:sym typeface="Meiryo"/>
            </a:endParaRPr>
          </a:p>
        </p:txBody>
      </p:sp>
      <p:sp>
        <p:nvSpPr>
          <p:cNvPr id="16" name="Google Shape;178;p7"/>
          <p:cNvSpPr txBox="1"/>
          <p:nvPr/>
        </p:nvSpPr>
        <p:spPr>
          <a:xfrm>
            <a:off x="92849" y="5014843"/>
            <a:ext cx="2067109" cy="367615"/>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1400" dirty="0">
                <a:solidFill>
                  <a:schemeClr val="tx1">
                    <a:lumMod val="50000"/>
                    <a:lumOff val="50000"/>
                  </a:schemeClr>
                </a:solidFill>
                <a:latin typeface="Meiryo"/>
                <a:ea typeface="Meiryo"/>
                <a:cs typeface="Meiryo"/>
                <a:sym typeface="Meiryo"/>
              </a:rPr>
              <a:t>事例：車買取</a:t>
            </a:r>
            <a:endParaRPr lang="en-US" altLang="ja-JP" sz="1400" dirty="0">
              <a:solidFill>
                <a:schemeClr val="tx1">
                  <a:lumMod val="50000"/>
                  <a:lumOff val="50000"/>
                </a:schemeClr>
              </a:solidFill>
              <a:latin typeface="Meiryo"/>
              <a:ea typeface="Meiryo"/>
              <a:cs typeface="Meiryo"/>
              <a:sym typeface="Meiryo"/>
            </a:endParaRPr>
          </a:p>
        </p:txBody>
      </p:sp>
      <p:pic>
        <p:nvPicPr>
          <p:cNvPr id="2" name="図 1"/>
          <p:cNvPicPr>
            <a:picLocks noChangeAspect="1"/>
          </p:cNvPicPr>
          <p:nvPr/>
        </p:nvPicPr>
        <p:blipFill rotWithShape="1">
          <a:blip r:embed="rId2" cstate="print">
            <a:extLst>
              <a:ext uri="{28A0092B-C50C-407E-A947-70E740481C1C}">
                <a14:useLocalDpi xmlns:a14="http://schemas.microsoft.com/office/drawing/2010/main" val="0"/>
              </a:ext>
            </a:extLst>
          </a:blip>
          <a:srcRect t="34585" b="34763"/>
          <a:stretch/>
        </p:blipFill>
        <p:spPr>
          <a:xfrm>
            <a:off x="314053" y="2324099"/>
            <a:ext cx="2871498" cy="1564723"/>
          </a:xfrm>
          <a:prstGeom prst="rect">
            <a:avLst/>
          </a:prstGeom>
        </p:spPr>
      </p:pic>
      <p:sp>
        <p:nvSpPr>
          <p:cNvPr id="17" name="Google Shape;178;p7"/>
          <p:cNvSpPr txBox="1"/>
          <p:nvPr/>
        </p:nvSpPr>
        <p:spPr>
          <a:xfrm>
            <a:off x="-80913" y="4068767"/>
            <a:ext cx="3501626" cy="798502"/>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1400" dirty="0">
                <a:latin typeface="Meiryo"/>
                <a:ea typeface="Meiryo"/>
                <a:cs typeface="Meiryo"/>
                <a:sym typeface="Meiryo"/>
              </a:rPr>
              <a:t>興味はあるが利用まで</a:t>
            </a:r>
            <a:endParaRPr lang="en-US" altLang="ja-JP" sz="1400" dirty="0">
              <a:latin typeface="Meiryo"/>
              <a:ea typeface="Meiryo"/>
              <a:cs typeface="Meiryo"/>
              <a:sym typeface="Meiryo"/>
            </a:endParaRPr>
          </a:p>
          <a:p>
            <a:pPr lvl="0" algn="ctr">
              <a:buClr>
                <a:schemeClr val="dk1"/>
              </a:buClr>
              <a:buSzPts val="1500"/>
            </a:pPr>
            <a:r>
              <a:rPr lang="ja-JP" altLang="en-US" sz="1400" dirty="0">
                <a:latin typeface="Meiryo"/>
                <a:ea typeface="Meiryo"/>
                <a:cs typeface="Meiryo"/>
                <a:sym typeface="Meiryo"/>
              </a:rPr>
              <a:t>至らなかったユーザーを</a:t>
            </a:r>
            <a:endParaRPr lang="en-US" altLang="ja-JP" sz="1400" dirty="0">
              <a:latin typeface="Meiryo"/>
              <a:ea typeface="Meiryo"/>
              <a:cs typeface="Meiryo"/>
              <a:sym typeface="Meiryo"/>
            </a:endParaRPr>
          </a:p>
          <a:p>
            <a:pPr lvl="0" algn="ctr">
              <a:buClr>
                <a:schemeClr val="dk1"/>
              </a:buClr>
              <a:buSzPts val="1500"/>
            </a:pPr>
            <a:r>
              <a:rPr lang="ja-JP" altLang="en-US" sz="1400" dirty="0">
                <a:latin typeface="Meiryo"/>
                <a:ea typeface="Meiryo"/>
                <a:cs typeface="Meiryo"/>
                <a:sym typeface="Meiryo"/>
              </a:rPr>
              <a:t>友だちとして囲い込む。</a:t>
            </a:r>
            <a:endParaRPr lang="en-US" altLang="ja-JP" sz="1400" dirty="0">
              <a:latin typeface="Meiryo"/>
              <a:ea typeface="Meiryo"/>
              <a:cs typeface="Meiryo"/>
              <a:sym typeface="Meiryo"/>
            </a:endParaRPr>
          </a:p>
        </p:txBody>
      </p:sp>
      <p:sp>
        <p:nvSpPr>
          <p:cNvPr id="19" name="Google Shape;178;p7"/>
          <p:cNvSpPr txBox="1"/>
          <p:nvPr/>
        </p:nvSpPr>
        <p:spPr>
          <a:xfrm>
            <a:off x="3161410" y="4053056"/>
            <a:ext cx="3501626" cy="798502"/>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en-US" altLang="ja-JP" sz="1400" dirty="0">
                <a:latin typeface="Meiryo"/>
                <a:ea typeface="Meiryo"/>
                <a:cs typeface="Meiryo"/>
                <a:sym typeface="Meiryo"/>
              </a:rPr>
              <a:t>CPF</a:t>
            </a:r>
            <a:r>
              <a:rPr lang="ja-JP" altLang="en-US" sz="1400" dirty="0">
                <a:latin typeface="Meiryo"/>
                <a:ea typeface="Meiryo"/>
                <a:cs typeface="Meiryo"/>
                <a:sym typeface="Meiryo"/>
              </a:rPr>
              <a:t>約</a:t>
            </a:r>
            <a:r>
              <a:rPr lang="en-US" altLang="ja-JP" sz="1400" dirty="0">
                <a:latin typeface="Meiryo"/>
                <a:ea typeface="Meiryo"/>
                <a:cs typeface="Meiryo"/>
                <a:sym typeface="Meiryo"/>
              </a:rPr>
              <a:t>100-200</a:t>
            </a:r>
            <a:r>
              <a:rPr lang="ja-JP" altLang="en-US" sz="1400" dirty="0">
                <a:latin typeface="Meiryo"/>
                <a:ea typeface="Meiryo"/>
                <a:cs typeface="Meiryo"/>
                <a:sym typeface="Meiryo"/>
              </a:rPr>
              <a:t>円台。</a:t>
            </a:r>
            <a:endParaRPr lang="en-US" altLang="ja-JP" sz="1400" dirty="0">
              <a:latin typeface="Meiryo"/>
              <a:ea typeface="Meiryo"/>
              <a:cs typeface="Meiryo"/>
              <a:sym typeface="Meiryo"/>
            </a:endParaRPr>
          </a:p>
          <a:p>
            <a:pPr lvl="0" algn="ctr">
              <a:buClr>
                <a:schemeClr val="dk1"/>
              </a:buClr>
              <a:buSzPts val="1500"/>
            </a:pPr>
            <a:r>
              <a:rPr lang="ja-JP" altLang="en-US" sz="1400" dirty="0">
                <a:latin typeface="Meiryo"/>
                <a:ea typeface="Meiryo"/>
                <a:cs typeface="Meiryo"/>
                <a:sym typeface="Meiryo"/>
              </a:rPr>
              <a:t>かなり安価かつ成果報酬で</a:t>
            </a:r>
            <a:endParaRPr lang="en-US" altLang="ja-JP" sz="1400" dirty="0">
              <a:latin typeface="Meiryo"/>
              <a:ea typeface="Meiryo"/>
              <a:cs typeface="Meiryo"/>
              <a:sym typeface="Meiryo"/>
            </a:endParaRPr>
          </a:p>
          <a:p>
            <a:pPr lvl="0" algn="ctr">
              <a:buClr>
                <a:schemeClr val="dk1"/>
              </a:buClr>
              <a:buSzPts val="1500"/>
            </a:pPr>
            <a:r>
              <a:rPr lang="ja-JP" altLang="en-US" sz="1400" dirty="0">
                <a:latin typeface="Meiryo"/>
                <a:ea typeface="Meiryo"/>
                <a:cs typeface="Meiryo"/>
                <a:sym typeface="Meiryo"/>
              </a:rPr>
              <a:t>友だちを増やす広告。</a:t>
            </a:r>
            <a:endParaRPr lang="en-US" altLang="ja-JP" sz="1400" dirty="0">
              <a:latin typeface="Meiryo"/>
              <a:ea typeface="Meiryo"/>
              <a:cs typeface="Meiryo"/>
              <a:sym typeface="Meiryo"/>
            </a:endParaRPr>
          </a:p>
        </p:txBody>
      </p:sp>
      <p:sp>
        <p:nvSpPr>
          <p:cNvPr id="20" name="Google Shape;178;p7"/>
          <p:cNvSpPr txBox="1"/>
          <p:nvPr/>
        </p:nvSpPr>
        <p:spPr>
          <a:xfrm>
            <a:off x="3242964" y="5014843"/>
            <a:ext cx="2338123" cy="367615"/>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1400" dirty="0">
                <a:solidFill>
                  <a:schemeClr val="tx1">
                    <a:lumMod val="50000"/>
                    <a:lumOff val="50000"/>
                  </a:schemeClr>
                </a:solidFill>
                <a:latin typeface="Meiryo"/>
                <a:ea typeface="Meiryo"/>
                <a:cs typeface="Meiryo"/>
                <a:sym typeface="Meiryo"/>
              </a:rPr>
              <a:t>事例：アパレル</a:t>
            </a:r>
            <a:endParaRPr lang="en-US" altLang="ja-JP" sz="1400" dirty="0">
              <a:solidFill>
                <a:schemeClr val="tx1">
                  <a:lumMod val="50000"/>
                  <a:lumOff val="50000"/>
                </a:schemeClr>
              </a:solidFill>
              <a:latin typeface="Meiryo"/>
              <a:ea typeface="Meiryo"/>
              <a:cs typeface="Meiryo"/>
              <a:sym typeface="Meiryo"/>
            </a:endParaRPr>
          </a:p>
        </p:txBody>
      </p:sp>
      <p:sp>
        <p:nvSpPr>
          <p:cNvPr id="21" name="Google Shape;178;p7"/>
          <p:cNvSpPr txBox="1"/>
          <p:nvPr/>
        </p:nvSpPr>
        <p:spPr>
          <a:xfrm>
            <a:off x="3639325" y="5328640"/>
            <a:ext cx="2795420" cy="521504"/>
          </a:xfrm>
          <a:prstGeom prst="rect">
            <a:avLst/>
          </a:prstGeom>
          <a:noFill/>
          <a:ln>
            <a:noFill/>
          </a:ln>
        </p:spPr>
        <p:txBody>
          <a:bodyPr spcFirstLastPara="1" wrap="square" lIns="150750" tIns="75350" rIns="150750" bIns="75350" anchor="t" anchorCtr="0">
            <a:spAutoFit/>
          </a:bodyPr>
          <a:lstStyle/>
          <a:p>
            <a:pPr lvl="0">
              <a:buClr>
                <a:schemeClr val="dk1"/>
              </a:buClr>
              <a:buSzPts val="1500"/>
            </a:pPr>
            <a:r>
              <a:rPr lang="en-US" altLang="ja-JP" sz="1200" dirty="0">
                <a:solidFill>
                  <a:schemeClr val="tx1">
                    <a:lumMod val="50000"/>
                    <a:lumOff val="50000"/>
                  </a:schemeClr>
                </a:solidFill>
                <a:latin typeface="Meiryo"/>
                <a:ea typeface="Meiryo"/>
                <a:cs typeface="Meiryo"/>
                <a:sym typeface="Meiryo"/>
              </a:rPr>
              <a:t>1</a:t>
            </a:r>
            <a:r>
              <a:rPr lang="ja-JP" altLang="en-US" sz="1200" dirty="0">
                <a:solidFill>
                  <a:schemeClr val="tx1">
                    <a:lumMod val="50000"/>
                    <a:lumOff val="50000"/>
                  </a:schemeClr>
                </a:solidFill>
                <a:latin typeface="Meiryo"/>
                <a:ea typeface="Meiryo"/>
                <a:cs typeface="Meiryo"/>
                <a:sym typeface="Meiryo"/>
              </a:rPr>
              <a:t>人あたり</a:t>
            </a:r>
            <a:r>
              <a:rPr lang="en-US" altLang="ja-JP" sz="1200" dirty="0">
                <a:solidFill>
                  <a:schemeClr val="tx1">
                    <a:lumMod val="50000"/>
                    <a:lumOff val="50000"/>
                  </a:schemeClr>
                </a:solidFill>
                <a:latin typeface="Meiryo"/>
                <a:ea typeface="Meiryo"/>
                <a:cs typeface="Meiryo"/>
                <a:sym typeface="Meiryo"/>
              </a:rPr>
              <a:t>50</a:t>
            </a:r>
            <a:r>
              <a:rPr lang="ja-JP" altLang="en-US" sz="1200" dirty="0">
                <a:solidFill>
                  <a:schemeClr val="tx1">
                    <a:lumMod val="50000"/>
                    <a:lumOff val="50000"/>
                  </a:schemeClr>
                </a:solidFill>
                <a:latin typeface="Meiryo"/>
                <a:ea typeface="Meiryo"/>
                <a:cs typeface="Meiryo"/>
                <a:sym typeface="Meiryo"/>
              </a:rPr>
              <a:t>円で友だち獲得</a:t>
            </a:r>
            <a:endParaRPr lang="en-US" altLang="ja-JP" sz="1200" dirty="0">
              <a:solidFill>
                <a:schemeClr val="tx1">
                  <a:lumMod val="50000"/>
                  <a:lumOff val="50000"/>
                </a:schemeClr>
              </a:solidFill>
              <a:latin typeface="Meiryo"/>
              <a:ea typeface="Meiryo"/>
              <a:cs typeface="Meiryo"/>
              <a:sym typeface="Meiryo"/>
            </a:endParaRPr>
          </a:p>
          <a:p>
            <a:pPr lvl="0">
              <a:buClr>
                <a:schemeClr val="dk1"/>
              </a:buClr>
              <a:buSzPts val="1500"/>
            </a:pPr>
            <a:r>
              <a:rPr lang="en-US" altLang="ja-JP" sz="1200" dirty="0">
                <a:solidFill>
                  <a:schemeClr val="tx1">
                    <a:lumMod val="50000"/>
                    <a:lumOff val="50000"/>
                  </a:schemeClr>
                </a:solidFill>
                <a:latin typeface="Meiryo"/>
                <a:ea typeface="Meiryo"/>
                <a:cs typeface="Meiryo"/>
                <a:sym typeface="Meiryo"/>
              </a:rPr>
              <a:t>LINE</a:t>
            </a:r>
            <a:r>
              <a:rPr lang="ja-JP" altLang="en-US" sz="1200" dirty="0">
                <a:solidFill>
                  <a:schemeClr val="tx1">
                    <a:lumMod val="50000"/>
                    <a:lumOff val="50000"/>
                  </a:schemeClr>
                </a:solidFill>
                <a:latin typeface="Meiryo"/>
                <a:ea typeface="Meiryo"/>
                <a:cs typeface="Meiryo"/>
                <a:sym typeface="Meiryo"/>
              </a:rPr>
              <a:t>経由の購入</a:t>
            </a:r>
            <a:r>
              <a:rPr lang="en-US" altLang="ja-JP" sz="1200" dirty="0">
                <a:solidFill>
                  <a:schemeClr val="tx1">
                    <a:lumMod val="50000"/>
                    <a:lumOff val="50000"/>
                  </a:schemeClr>
                </a:solidFill>
                <a:latin typeface="Meiryo"/>
                <a:ea typeface="Meiryo"/>
                <a:cs typeface="Meiryo"/>
                <a:sym typeface="Meiryo"/>
              </a:rPr>
              <a:t>1.5</a:t>
            </a:r>
            <a:r>
              <a:rPr lang="ja-JP" altLang="en-US" sz="1200" dirty="0">
                <a:solidFill>
                  <a:schemeClr val="tx1">
                    <a:lumMod val="50000"/>
                    <a:lumOff val="50000"/>
                  </a:schemeClr>
                </a:solidFill>
                <a:latin typeface="Meiryo"/>
                <a:ea typeface="Meiryo"/>
                <a:cs typeface="Meiryo"/>
                <a:sym typeface="Meiryo"/>
              </a:rPr>
              <a:t>倍</a:t>
            </a:r>
            <a:endParaRPr lang="en-US" altLang="ja-JP" sz="1200" dirty="0">
              <a:solidFill>
                <a:schemeClr val="tx1">
                  <a:lumMod val="50000"/>
                  <a:lumOff val="50000"/>
                </a:schemeClr>
              </a:solidFill>
              <a:latin typeface="Meiryo"/>
              <a:ea typeface="Meiryo"/>
              <a:cs typeface="Meiryo"/>
              <a:sym typeface="Meiryo"/>
            </a:endParaRPr>
          </a:p>
        </p:txBody>
      </p:sp>
      <p:sp>
        <p:nvSpPr>
          <p:cNvPr id="22" name="Google Shape;178;p7"/>
          <p:cNvSpPr txBox="1"/>
          <p:nvPr/>
        </p:nvSpPr>
        <p:spPr>
          <a:xfrm>
            <a:off x="6434745" y="4068766"/>
            <a:ext cx="3501626" cy="798502"/>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1400" dirty="0">
                <a:latin typeface="Meiryo"/>
                <a:ea typeface="Meiryo"/>
                <a:cs typeface="Meiryo"/>
                <a:sym typeface="Meiryo"/>
              </a:rPr>
              <a:t>サンクスページに到達した</a:t>
            </a:r>
            <a:endParaRPr lang="en-US" altLang="ja-JP" sz="1400" dirty="0">
              <a:latin typeface="Meiryo"/>
              <a:ea typeface="Meiryo"/>
              <a:cs typeface="Meiryo"/>
              <a:sym typeface="Meiryo"/>
            </a:endParaRPr>
          </a:p>
          <a:p>
            <a:pPr lvl="0" algn="ctr">
              <a:buClr>
                <a:schemeClr val="dk1"/>
              </a:buClr>
              <a:buSzPts val="1500"/>
            </a:pPr>
            <a:r>
              <a:rPr lang="ja-JP" altLang="en-US" sz="1400" dirty="0">
                <a:latin typeface="Meiryo"/>
                <a:ea typeface="Meiryo"/>
                <a:cs typeface="Meiryo"/>
                <a:sym typeface="Meiryo"/>
              </a:rPr>
              <a:t>ユーザーを自動で</a:t>
            </a:r>
            <a:r>
              <a:rPr lang="en-US" altLang="ja-JP" sz="1400" dirty="0">
                <a:latin typeface="Meiryo"/>
                <a:ea typeface="Meiryo"/>
                <a:cs typeface="Meiryo"/>
                <a:sym typeface="Meiryo"/>
              </a:rPr>
              <a:t>LINE</a:t>
            </a:r>
            <a:r>
              <a:rPr lang="ja-JP" altLang="en-US" sz="1400" dirty="0">
                <a:latin typeface="Meiryo"/>
                <a:ea typeface="Meiryo"/>
                <a:cs typeface="Meiryo"/>
                <a:sym typeface="Meiryo"/>
              </a:rPr>
              <a:t>に誘導。</a:t>
            </a:r>
            <a:endParaRPr lang="en-US" altLang="ja-JP" sz="1400" dirty="0">
              <a:latin typeface="Meiryo"/>
              <a:ea typeface="Meiryo"/>
              <a:cs typeface="Meiryo"/>
              <a:sym typeface="Meiryo"/>
            </a:endParaRPr>
          </a:p>
          <a:p>
            <a:pPr lvl="0" algn="ctr">
              <a:buClr>
                <a:schemeClr val="dk1"/>
              </a:buClr>
              <a:buSzPts val="1500"/>
            </a:pPr>
            <a:r>
              <a:rPr lang="ja-JP" altLang="en-US" sz="1400" dirty="0">
                <a:latin typeface="Meiryo"/>
                <a:ea typeface="Meiryo"/>
                <a:cs typeface="Meiryo"/>
                <a:sym typeface="Meiryo"/>
              </a:rPr>
              <a:t>友だち追加、追客に活用可能。</a:t>
            </a:r>
            <a:endParaRPr lang="en-US" altLang="ja-JP" sz="1400" dirty="0">
              <a:latin typeface="Meiryo"/>
              <a:ea typeface="Meiryo"/>
              <a:cs typeface="Meiryo"/>
              <a:sym typeface="Meiryo"/>
            </a:endParaRPr>
          </a:p>
        </p:txBody>
      </p:sp>
      <p:sp>
        <p:nvSpPr>
          <p:cNvPr id="23" name="Google Shape;178;p7"/>
          <p:cNvSpPr txBox="1"/>
          <p:nvPr/>
        </p:nvSpPr>
        <p:spPr>
          <a:xfrm>
            <a:off x="6434745" y="5014843"/>
            <a:ext cx="2338123" cy="367615"/>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1400" dirty="0">
                <a:solidFill>
                  <a:schemeClr val="tx1">
                    <a:lumMod val="50000"/>
                    <a:lumOff val="50000"/>
                  </a:schemeClr>
                </a:solidFill>
                <a:latin typeface="Meiryo"/>
                <a:ea typeface="Meiryo"/>
                <a:cs typeface="Meiryo"/>
                <a:sym typeface="Meiryo"/>
              </a:rPr>
              <a:t>事例：美容医療</a:t>
            </a:r>
            <a:endParaRPr lang="en-US" altLang="ja-JP" sz="1400" dirty="0">
              <a:solidFill>
                <a:schemeClr val="tx1">
                  <a:lumMod val="50000"/>
                  <a:lumOff val="50000"/>
                </a:schemeClr>
              </a:solidFill>
              <a:latin typeface="Meiryo"/>
              <a:ea typeface="Meiryo"/>
              <a:cs typeface="Meiryo"/>
              <a:sym typeface="Meiryo"/>
            </a:endParaRPr>
          </a:p>
        </p:txBody>
      </p:sp>
      <p:pic>
        <p:nvPicPr>
          <p:cNvPr id="4" name="図 3"/>
          <p:cNvPicPr>
            <a:picLocks noChangeAspect="1"/>
          </p:cNvPicPr>
          <p:nvPr/>
        </p:nvPicPr>
        <p:blipFill>
          <a:blip r:embed="rId3"/>
          <a:stretch>
            <a:fillRect/>
          </a:stretch>
        </p:blipFill>
        <p:spPr>
          <a:xfrm>
            <a:off x="3639325" y="2409907"/>
            <a:ext cx="2627350" cy="1492812"/>
          </a:xfrm>
          <a:prstGeom prst="rect">
            <a:avLst/>
          </a:prstGeom>
        </p:spPr>
      </p:pic>
      <p:sp>
        <p:nvSpPr>
          <p:cNvPr id="24" name="Google Shape;178;p7"/>
          <p:cNvSpPr txBox="1"/>
          <p:nvPr/>
        </p:nvSpPr>
        <p:spPr>
          <a:xfrm>
            <a:off x="440374" y="5328640"/>
            <a:ext cx="2752048" cy="890835"/>
          </a:xfrm>
          <a:prstGeom prst="rect">
            <a:avLst/>
          </a:prstGeom>
          <a:noFill/>
          <a:ln>
            <a:noFill/>
          </a:ln>
        </p:spPr>
        <p:txBody>
          <a:bodyPr spcFirstLastPara="1" wrap="square" lIns="150750" tIns="75350" rIns="150750" bIns="75350" anchor="t" anchorCtr="0">
            <a:spAutoFit/>
          </a:bodyPr>
          <a:lstStyle/>
          <a:p>
            <a:pPr lvl="0">
              <a:buClr>
                <a:schemeClr val="dk1"/>
              </a:buClr>
              <a:buSzPts val="1500"/>
            </a:pPr>
            <a:r>
              <a:rPr lang="en-US" altLang="ja-JP" sz="1200" dirty="0">
                <a:solidFill>
                  <a:schemeClr val="tx1">
                    <a:lumMod val="50000"/>
                    <a:lumOff val="50000"/>
                  </a:schemeClr>
                </a:solidFill>
                <a:latin typeface="Meiryo"/>
                <a:ea typeface="Meiryo"/>
                <a:cs typeface="Meiryo"/>
                <a:sym typeface="Meiryo"/>
              </a:rPr>
              <a:t>LP</a:t>
            </a:r>
            <a:r>
              <a:rPr lang="ja-JP" altLang="en-US" sz="1200" dirty="0">
                <a:solidFill>
                  <a:schemeClr val="tx1">
                    <a:lumMod val="50000"/>
                    <a:lumOff val="50000"/>
                  </a:schemeClr>
                </a:solidFill>
                <a:latin typeface="Meiryo"/>
                <a:ea typeface="Meiryo"/>
                <a:cs typeface="Meiryo"/>
                <a:sym typeface="Meiryo"/>
              </a:rPr>
              <a:t>離脱ユーザーに対して</a:t>
            </a:r>
            <a:endParaRPr lang="en-US" altLang="ja-JP" sz="1200" dirty="0">
              <a:solidFill>
                <a:schemeClr val="tx1">
                  <a:lumMod val="50000"/>
                  <a:lumOff val="50000"/>
                </a:schemeClr>
              </a:solidFill>
              <a:latin typeface="Meiryo"/>
              <a:ea typeface="Meiryo"/>
              <a:cs typeface="Meiryo"/>
              <a:sym typeface="Meiryo"/>
            </a:endParaRPr>
          </a:p>
          <a:p>
            <a:pPr lvl="0">
              <a:buClr>
                <a:schemeClr val="dk1"/>
              </a:buClr>
              <a:buSzPts val="1500"/>
            </a:pPr>
            <a:r>
              <a:rPr lang="en-US" altLang="ja-JP" sz="1200" dirty="0">
                <a:solidFill>
                  <a:schemeClr val="tx1">
                    <a:lumMod val="50000"/>
                    <a:lumOff val="50000"/>
                  </a:schemeClr>
                </a:solidFill>
                <a:latin typeface="Meiryo"/>
                <a:ea typeface="Meiryo"/>
                <a:cs typeface="Meiryo"/>
                <a:sym typeface="Meiryo"/>
              </a:rPr>
              <a:t>LINE</a:t>
            </a:r>
            <a:r>
              <a:rPr lang="ja-JP" altLang="en-US" sz="1200" dirty="0">
                <a:solidFill>
                  <a:schemeClr val="tx1">
                    <a:lumMod val="50000"/>
                    <a:lumOff val="50000"/>
                  </a:schemeClr>
                </a:solidFill>
                <a:latin typeface="Meiryo"/>
                <a:ea typeface="Meiryo"/>
                <a:cs typeface="Meiryo"/>
                <a:sym typeface="Meiryo"/>
              </a:rPr>
              <a:t>誘導を実施。</a:t>
            </a:r>
            <a:endParaRPr lang="en-US" altLang="ja-JP" sz="1200" dirty="0">
              <a:solidFill>
                <a:schemeClr val="tx1">
                  <a:lumMod val="50000"/>
                  <a:lumOff val="50000"/>
                </a:schemeClr>
              </a:solidFill>
              <a:latin typeface="Meiryo"/>
              <a:ea typeface="Meiryo"/>
              <a:cs typeface="Meiryo"/>
              <a:sym typeface="Meiryo"/>
            </a:endParaRPr>
          </a:p>
          <a:p>
            <a:pPr lvl="0">
              <a:buClr>
                <a:schemeClr val="dk1"/>
              </a:buClr>
              <a:buSzPts val="1500"/>
            </a:pPr>
            <a:r>
              <a:rPr lang="en-US" altLang="ja-JP" sz="1200" dirty="0">
                <a:solidFill>
                  <a:schemeClr val="tx1">
                    <a:lumMod val="50000"/>
                    <a:lumOff val="50000"/>
                  </a:schemeClr>
                </a:solidFill>
                <a:latin typeface="Meiryo"/>
                <a:ea typeface="Meiryo"/>
                <a:cs typeface="Meiryo"/>
                <a:sym typeface="Meiryo"/>
              </a:rPr>
              <a:t>LINE</a:t>
            </a:r>
            <a:r>
              <a:rPr lang="ja-JP" altLang="en-US" sz="1200" dirty="0">
                <a:solidFill>
                  <a:schemeClr val="tx1">
                    <a:lumMod val="50000"/>
                    <a:lumOff val="50000"/>
                  </a:schemeClr>
                </a:solidFill>
                <a:latin typeface="Meiryo"/>
                <a:ea typeface="Meiryo"/>
                <a:cs typeface="Meiryo"/>
                <a:sym typeface="Meiryo"/>
              </a:rPr>
              <a:t>追加から</a:t>
            </a:r>
            <a:r>
              <a:rPr lang="en-US" altLang="ja-JP" sz="1200" dirty="0">
                <a:solidFill>
                  <a:schemeClr val="tx1">
                    <a:lumMod val="50000"/>
                    <a:lumOff val="50000"/>
                  </a:schemeClr>
                </a:solidFill>
                <a:latin typeface="Meiryo"/>
                <a:ea typeface="Meiryo"/>
                <a:cs typeface="Meiryo"/>
                <a:sym typeface="Meiryo"/>
              </a:rPr>
              <a:t>20</a:t>
            </a:r>
            <a:r>
              <a:rPr lang="ja-JP" altLang="en-US" sz="1200" dirty="0">
                <a:solidFill>
                  <a:schemeClr val="tx1">
                    <a:lumMod val="50000"/>
                    <a:lumOff val="50000"/>
                  </a:schemeClr>
                </a:solidFill>
                <a:latin typeface="Meiryo"/>
                <a:ea typeface="Meiryo"/>
                <a:cs typeface="Meiryo"/>
                <a:sym typeface="Meiryo"/>
              </a:rPr>
              <a:t>％が</a:t>
            </a:r>
            <a:r>
              <a:rPr lang="en-US" altLang="ja-JP" sz="1200" dirty="0">
                <a:solidFill>
                  <a:schemeClr val="tx1">
                    <a:lumMod val="50000"/>
                    <a:lumOff val="50000"/>
                  </a:schemeClr>
                </a:solidFill>
                <a:latin typeface="Meiryo"/>
                <a:ea typeface="Meiryo"/>
                <a:cs typeface="Meiryo"/>
                <a:sym typeface="Meiryo"/>
              </a:rPr>
              <a:t>CV</a:t>
            </a:r>
          </a:p>
          <a:p>
            <a:pPr lvl="0">
              <a:buClr>
                <a:schemeClr val="dk1"/>
              </a:buClr>
              <a:buSzPts val="1500"/>
            </a:pPr>
            <a:endParaRPr lang="en-US" altLang="ja-JP" sz="1200" dirty="0">
              <a:solidFill>
                <a:schemeClr val="tx1">
                  <a:lumMod val="50000"/>
                  <a:lumOff val="50000"/>
                </a:schemeClr>
              </a:solidFill>
              <a:latin typeface="Meiryo"/>
              <a:ea typeface="Meiryo"/>
              <a:cs typeface="Meiryo"/>
              <a:sym typeface="Meiryo"/>
            </a:endParaRPr>
          </a:p>
        </p:txBody>
      </p:sp>
      <p:sp>
        <p:nvSpPr>
          <p:cNvPr id="25" name="Google Shape;178;p7"/>
          <p:cNvSpPr txBox="1"/>
          <p:nvPr/>
        </p:nvSpPr>
        <p:spPr>
          <a:xfrm>
            <a:off x="6825208" y="5328640"/>
            <a:ext cx="2851751" cy="521504"/>
          </a:xfrm>
          <a:prstGeom prst="rect">
            <a:avLst/>
          </a:prstGeom>
          <a:noFill/>
          <a:ln>
            <a:noFill/>
          </a:ln>
        </p:spPr>
        <p:txBody>
          <a:bodyPr spcFirstLastPara="1" wrap="square" lIns="150750" tIns="75350" rIns="150750" bIns="75350" anchor="t" anchorCtr="0">
            <a:spAutoFit/>
          </a:bodyPr>
          <a:lstStyle/>
          <a:p>
            <a:pPr lvl="0">
              <a:buClr>
                <a:schemeClr val="dk1"/>
              </a:buClr>
              <a:buSzPts val="1500"/>
            </a:pPr>
            <a:r>
              <a:rPr lang="ja-JP" altLang="en-US" sz="1200" dirty="0">
                <a:solidFill>
                  <a:schemeClr val="tx1">
                    <a:lumMod val="50000"/>
                    <a:lumOff val="50000"/>
                  </a:schemeClr>
                </a:solidFill>
                <a:latin typeface="Meiryo"/>
                <a:ea typeface="Meiryo"/>
                <a:cs typeface="Meiryo"/>
                <a:sym typeface="Meiryo"/>
              </a:rPr>
              <a:t>導入後友だち増加数が</a:t>
            </a:r>
            <a:r>
              <a:rPr lang="en-US" altLang="ja-JP" sz="1200" dirty="0">
                <a:solidFill>
                  <a:schemeClr val="tx1">
                    <a:lumMod val="50000"/>
                    <a:lumOff val="50000"/>
                  </a:schemeClr>
                </a:solidFill>
                <a:latin typeface="Meiryo"/>
                <a:ea typeface="Meiryo"/>
                <a:cs typeface="Meiryo"/>
                <a:sym typeface="Meiryo"/>
              </a:rPr>
              <a:t>1.5</a:t>
            </a:r>
            <a:r>
              <a:rPr lang="ja-JP" altLang="en-US" sz="1200" dirty="0">
                <a:solidFill>
                  <a:schemeClr val="tx1">
                    <a:lumMod val="50000"/>
                    <a:lumOff val="50000"/>
                  </a:schemeClr>
                </a:solidFill>
                <a:latin typeface="Meiryo"/>
                <a:ea typeface="Meiryo"/>
                <a:cs typeface="Meiryo"/>
                <a:sym typeface="Meiryo"/>
              </a:rPr>
              <a:t>倍に。</a:t>
            </a:r>
            <a:endParaRPr lang="en-US" altLang="ja-JP" sz="1200" dirty="0">
              <a:solidFill>
                <a:schemeClr val="tx1">
                  <a:lumMod val="50000"/>
                  <a:lumOff val="50000"/>
                </a:schemeClr>
              </a:solidFill>
              <a:latin typeface="Meiryo"/>
              <a:ea typeface="Meiryo"/>
              <a:cs typeface="Meiryo"/>
              <a:sym typeface="Meiryo"/>
            </a:endParaRPr>
          </a:p>
          <a:p>
            <a:pPr lvl="0">
              <a:buClr>
                <a:schemeClr val="dk1"/>
              </a:buClr>
              <a:buSzPts val="1500"/>
            </a:pPr>
            <a:r>
              <a:rPr lang="ja-JP" altLang="en-US" sz="1200" dirty="0">
                <a:solidFill>
                  <a:schemeClr val="tx1">
                    <a:lumMod val="50000"/>
                    <a:lumOff val="50000"/>
                  </a:schemeClr>
                </a:solidFill>
                <a:latin typeface="Meiryo"/>
                <a:ea typeface="Meiryo"/>
                <a:cs typeface="Meiryo"/>
                <a:sym typeface="Meiryo"/>
              </a:rPr>
              <a:t>実反響率も</a:t>
            </a:r>
            <a:r>
              <a:rPr lang="en-US" altLang="ja-JP" sz="1200" dirty="0">
                <a:solidFill>
                  <a:schemeClr val="tx1">
                    <a:lumMod val="50000"/>
                    <a:lumOff val="50000"/>
                  </a:schemeClr>
                </a:solidFill>
                <a:latin typeface="Meiryo"/>
                <a:ea typeface="Meiryo"/>
                <a:cs typeface="Meiryo"/>
                <a:sym typeface="Meiryo"/>
              </a:rPr>
              <a:t>40%</a:t>
            </a:r>
            <a:r>
              <a:rPr lang="ja-JP" altLang="en-US" sz="1200" dirty="0">
                <a:solidFill>
                  <a:schemeClr val="tx1">
                    <a:lumMod val="50000"/>
                    <a:lumOff val="50000"/>
                  </a:schemeClr>
                </a:solidFill>
                <a:latin typeface="Meiryo"/>
                <a:ea typeface="Meiryo"/>
                <a:cs typeface="Meiryo"/>
                <a:sym typeface="Meiryo"/>
              </a:rPr>
              <a:t>程度改善。</a:t>
            </a:r>
            <a:endParaRPr lang="en-US" altLang="ja-JP" sz="1200" dirty="0">
              <a:solidFill>
                <a:schemeClr val="tx1">
                  <a:lumMod val="50000"/>
                  <a:lumOff val="50000"/>
                </a:schemeClr>
              </a:solidFill>
              <a:latin typeface="Meiryo"/>
              <a:ea typeface="Meiryo"/>
              <a:cs typeface="Meiryo"/>
              <a:sym typeface="Meiryo"/>
            </a:endParaRPr>
          </a:p>
        </p:txBody>
      </p:sp>
      <p:sp>
        <p:nvSpPr>
          <p:cNvPr id="37" name="角丸四角形 8">
            <a:extLst>
              <a:ext uri="{FF2B5EF4-FFF2-40B4-BE49-F238E27FC236}">
                <a16:creationId xmlns:a16="http://schemas.microsoft.com/office/drawing/2014/main" id="{C9E1ACA7-99C2-0E6B-91F5-B9518FC16E7C}"/>
              </a:ext>
            </a:extLst>
          </p:cNvPr>
          <p:cNvSpPr/>
          <p:nvPr/>
        </p:nvSpPr>
        <p:spPr>
          <a:xfrm>
            <a:off x="3460688" y="1776142"/>
            <a:ext cx="2986322" cy="4471347"/>
          </a:xfrm>
          <a:prstGeom prst="roundRect">
            <a:avLst>
              <a:gd name="adj" fmla="val 3567"/>
            </a:avLst>
          </a:prstGeom>
          <a:solidFill>
            <a:schemeClr val="accent1">
              <a:lumMod val="20000"/>
              <a:lumOff val="80000"/>
            </a:schemeClr>
          </a:solidFill>
          <a:ln w="25400" cap="flat" cmpd="sng" algn="ctr">
            <a:solidFill>
              <a:schemeClr val="accent1"/>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endParaRPr kumimoji="0" lang="ja-JP" altLang="en-US" sz="1400" b="0" i="0" u="none" strike="noStrike" kern="0" cap="none" spc="0" normalizeH="0" baseline="0" noProof="0">
              <a:ln>
                <a:noFill/>
              </a:ln>
              <a:solidFill>
                <a:srgbClr val="FFFFFF"/>
              </a:solidFill>
              <a:effectLst/>
              <a:uLnTx/>
              <a:uFillTx/>
              <a:latin typeface="Arial"/>
              <a:ea typeface="ＭＳ Ｐゴシック" panose="020B0600070205080204" pitchFamily="50" charset="-128"/>
              <a:cs typeface="+mn-cs"/>
              <a:sym typeface="Arial"/>
            </a:endParaRPr>
          </a:p>
        </p:txBody>
      </p:sp>
      <p:sp>
        <p:nvSpPr>
          <p:cNvPr id="38" name="Google Shape;178;p7">
            <a:extLst>
              <a:ext uri="{FF2B5EF4-FFF2-40B4-BE49-F238E27FC236}">
                <a16:creationId xmlns:a16="http://schemas.microsoft.com/office/drawing/2014/main" id="{6F13136C-FF05-A088-CA87-3ACA257BC421}"/>
              </a:ext>
            </a:extLst>
          </p:cNvPr>
          <p:cNvSpPr txBox="1"/>
          <p:nvPr/>
        </p:nvSpPr>
        <p:spPr>
          <a:xfrm>
            <a:off x="3796689" y="1949959"/>
            <a:ext cx="2314319" cy="459948"/>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2000" b="1" dirty="0">
                <a:solidFill>
                  <a:srgbClr val="002060"/>
                </a:solidFill>
                <a:latin typeface="Meiryo"/>
                <a:ea typeface="Meiryo"/>
                <a:cs typeface="Meiryo"/>
                <a:sym typeface="Meiryo"/>
              </a:rPr>
              <a:t>通知メッセージ</a:t>
            </a:r>
            <a:endParaRPr lang="en-US" altLang="ja-JP" sz="2000" b="1" dirty="0">
              <a:solidFill>
                <a:srgbClr val="002060"/>
              </a:solidFill>
              <a:latin typeface="Meiryo"/>
              <a:ea typeface="Meiryo"/>
              <a:cs typeface="Meiryo"/>
              <a:sym typeface="Meiryo"/>
            </a:endParaRPr>
          </a:p>
        </p:txBody>
      </p:sp>
      <p:sp>
        <p:nvSpPr>
          <p:cNvPr id="39" name="Google Shape;178;p7">
            <a:extLst>
              <a:ext uri="{FF2B5EF4-FFF2-40B4-BE49-F238E27FC236}">
                <a16:creationId xmlns:a16="http://schemas.microsoft.com/office/drawing/2014/main" id="{07FD580D-9A27-0246-033B-9F6EAE799E8D}"/>
              </a:ext>
            </a:extLst>
          </p:cNvPr>
          <p:cNvSpPr txBox="1"/>
          <p:nvPr/>
        </p:nvSpPr>
        <p:spPr>
          <a:xfrm>
            <a:off x="3232397" y="4068766"/>
            <a:ext cx="3501626" cy="798502"/>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1400" dirty="0">
                <a:latin typeface="Meiryo"/>
                <a:ea typeface="Meiryo"/>
                <a:cs typeface="Meiryo"/>
                <a:sym typeface="Meiryo"/>
              </a:rPr>
              <a:t>友だちではないユーザーに</a:t>
            </a:r>
            <a:endParaRPr lang="en-US" altLang="ja-JP" sz="1400" dirty="0">
              <a:latin typeface="Meiryo"/>
              <a:ea typeface="Meiryo"/>
              <a:cs typeface="Meiryo"/>
              <a:sym typeface="Meiryo"/>
            </a:endParaRPr>
          </a:p>
          <a:p>
            <a:pPr lvl="0" algn="ctr">
              <a:buClr>
                <a:schemeClr val="dk1"/>
              </a:buClr>
              <a:buSzPts val="1500"/>
            </a:pPr>
            <a:r>
              <a:rPr lang="ja-JP" altLang="en-US" sz="1400" dirty="0">
                <a:latin typeface="Meiryo"/>
                <a:ea typeface="Meiryo"/>
                <a:cs typeface="Meiryo"/>
                <a:sym typeface="Meiryo"/>
              </a:rPr>
              <a:t>対して予約完了通知などを</a:t>
            </a:r>
            <a:endParaRPr lang="en-US" altLang="ja-JP" sz="1400" dirty="0">
              <a:latin typeface="Meiryo"/>
              <a:ea typeface="Meiryo"/>
              <a:cs typeface="Meiryo"/>
              <a:sym typeface="Meiryo"/>
            </a:endParaRPr>
          </a:p>
          <a:p>
            <a:pPr lvl="0" algn="ctr">
              <a:buClr>
                <a:schemeClr val="dk1"/>
              </a:buClr>
              <a:buSzPts val="1500"/>
            </a:pPr>
            <a:r>
              <a:rPr lang="ja-JP" altLang="en-US" sz="1400" dirty="0">
                <a:latin typeface="Meiryo"/>
                <a:ea typeface="Meiryo"/>
                <a:cs typeface="Meiryo"/>
                <a:sym typeface="Meiryo"/>
              </a:rPr>
              <a:t>送り友だちを増やす。</a:t>
            </a:r>
            <a:endParaRPr lang="en-US" altLang="ja-JP" sz="1400" dirty="0">
              <a:latin typeface="Meiryo"/>
              <a:ea typeface="Meiryo"/>
              <a:cs typeface="Meiryo"/>
              <a:sym typeface="Meiryo"/>
            </a:endParaRPr>
          </a:p>
        </p:txBody>
      </p:sp>
      <p:sp>
        <p:nvSpPr>
          <p:cNvPr id="40" name="Google Shape;178;p7">
            <a:extLst>
              <a:ext uri="{FF2B5EF4-FFF2-40B4-BE49-F238E27FC236}">
                <a16:creationId xmlns:a16="http://schemas.microsoft.com/office/drawing/2014/main" id="{9F664541-9CBE-3991-FFCD-6CC51F91112E}"/>
              </a:ext>
            </a:extLst>
          </p:cNvPr>
          <p:cNvSpPr txBox="1"/>
          <p:nvPr/>
        </p:nvSpPr>
        <p:spPr>
          <a:xfrm>
            <a:off x="3232397" y="5014843"/>
            <a:ext cx="2338123" cy="367615"/>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1400" dirty="0">
                <a:solidFill>
                  <a:schemeClr val="tx1">
                    <a:lumMod val="50000"/>
                    <a:lumOff val="50000"/>
                  </a:schemeClr>
                </a:solidFill>
                <a:latin typeface="Meiryo"/>
                <a:ea typeface="Meiryo"/>
                <a:cs typeface="Meiryo"/>
                <a:sym typeface="Meiryo"/>
              </a:rPr>
              <a:t>事例：宅配ピザ</a:t>
            </a:r>
            <a:endParaRPr lang="en-US" altLang="ja-JP" sz="1400" dirty="0">
              <a:solidFill>
                <a:schemeClr val="tx1">
                  <a:lumMod val="50000"/>
                  <a:lumOff val="50000"/>
                </a:schemeClr>
              </a:solidFill>
              <a:latin typeface="Meiryo"/>
              <a:ea typeface="Meiryo"/>
              <a:cs typeface="Meiryo"/>
              <a:sym typeface="Meiryo"/>
            </a:endParaRPr>
          </a:p>
        </p:txBody>
      </p:sp>
      <p:pic>
        <p:nvPicPr>
          <p:cNvPr id="41" name="図 40">
            <a:extLst>
              <a:ext uri="{FF2B5EF4-FFF2-40B4-BE49-F238E27FC236}">
                <a16:creationId xmlns:a16="http://schemas.microsoft.com/office/drawing/2014/main" id="{EBE29AD0-3B27-DC79-2BA9-92067E227221}"/>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3968283" y="1481069"/>
            <a:ext cx="2029853" cy="3608629"/>
          </a:xfrm>
          <a:prstGeom prst="rect">
            <a:avLst/>
          </a:prstGeom>
        </p:spPr>
      </p:pic>
      <p:sp>
        <p:nvSpPr>
          <p:cNvPr id="42" name="Google Shape;178;p7">
            <a:extLst>
              <a:ext uri="{FF2B5EF4-FFF2-40B4-BE49-F238E27FC236}">
                <a16:creationId xmlns:a16="http://schemas.microsoft.com/office/drawing/2014/main" id="{D998E418-5C84-71C1-1C83-DA02AB529AF7}"/>
              </a:ext>
            </a:extLst>
          </p:cNvPr>
          <p:cNvSpPr txBox="1"/>
          <p:nvPr/>
        </p:nvSpPr>
        <p:spPr>
          <a:xfrm>
            <a:off x="3622860" y="5328640"/>
            <a:ext cx="2851751" cy="521504"/>
          </a:xfrm>
          <a:prstGeom prst="rect">
            <a:avLst/>
          </a:prstGeom>
          <a:noFill/>
          <a:ln>
            <a:noFill/>
          </a:ln>
        </p:spPr>
        <p:txBody>
          <a:bodyPr spcFirstLastPara="1" wrap="square" lIns="150750" tIns="75350" rIns="150750" bIns="75350" anchor="t" anchorCtr="0">
            <a:spAutoFit/>
          </a:bodyPr>
          <a:lstStyle/>
          <a:p>
            <a:pPr lvl="0">
              <a:buClr>
                <a:schemeClr val="dk1"/>
              </a:buClr>
              <a:buSzPts val="1500"/>
            </a:pPr>
            <a:r>
              <a:rPr lang="ja-JP" altLang="en-US" sz="1200" dirty="0">
                <a:solidFill>
                  <a:schemeClr val="tx1">
                    <a:lumMod val="50000"/>
                    <a:lumOff val="50000"/>
                  </a:schemeClr>
                </a:solidFill>
                <a:latin typeface="Meiryo"/>
                <a:ea typeface="Meiryo"/>
                <a:cs typeface="Meiryo"/>
                <a:sym typeface="Meiryo"/>
              </a:rPr>
              <a:t>通知メッセージ導入４ヶ月で</a:t>
            </a:r>
            <a:endParaRPr lang="en-US" altLang="ja-JP" sz="1200" dirty="0">
              <a:solidFill>
                <a:schemeClr val="tx1">
                  <a:lumMod val="50000"/>
                  <a:lumOff val="50000"/>
                </a:schemeClr>
              </a:solidFill>
              <a:latin typeface="Meiryo"/>
              <a:ea typeface="Meiryo"/>
              <a:cs typeface="Meiryo"/>
              <a:sym typeface="Meiryo"/>
            </a:endParaRPr>
          </a:p>
          <a:p>
            <a:pPr lvl="0">
              <a:buClr>
                <a:schemeClr val="dk1"/>
              </a:buClr>
              <a:buSzPts val="1500"/>
            </a:pPr>
            <a:r>
              <a:rPr lang="ja-JP" altLang="en-US" sz="1200" dirty="0">
                <a:solidFill>
                  <a:schemeClr val="tx1">
                    <a:lumMod val="50000"/>
                    <a:lumOff val="50000"/>
                  </a:schemeClr>
                </a:solidFill>
                <a:latin typeface="Meiryo"/>
                <a:ea typeface="Meiryo"/>
                <a:cs typeface="Meiryo"/>
                <a:sym typeface="Meiryo"/>
              </a:rPr>
              <a:t>友だち数</a:t>
            </a:r>
            <a:r>
              <a:rPr lang="en-US" altLang="ja-JP" sz="1200" dirty="0">
                <a:solidFill>
                  <a:schemeClr val="tx1">
                    <a:lumMod val="50000"/>
                    <a:lumOff val="50000"/>
                  </a:schemeClr>
                </a:solidFill>
                <a:latin typeface="Meiryo"/>
                <a:ea typeface="Meiryo"/>
                <a:cs typeface="Meiryo"/>
                <a:sym typeface="Meiryo"/>
              </a:rPr>
              <a:t>2</a:t>
            </a:r>
            <a:r>
              <a:rPr lang="ja-JP" altLang="en-US" sz="1200" dirty="0">
                <a:solidFill>
                  <a:schemeClr val="tx1">
                    <a:lumMod val="50000"/>
                    <a:lumOff val="50000"/>
                  </a:schemeClr>
                </a:solidFill>
                <a:latin typeface="Meiryo"/>
                <a:ea typeface="Meiryo"/>
                <a:cs typeface="Meiryo"/>
                <a:sym typeface="Meiryo"/>
              </a:rPr>
              <a:t>倍</a:t>
            </a:r>
            <a:endParaRPr lang="en-US" altLang="ja-JP" sz="1200" dirty="0">
              <a:solidFill>
                <a:schemeClr val="tx1">
                  <a:lumMod val="50000"/>
                  <a:lumOff val="50000"/>
                </a:schemeClr>
              </a:solidFill>
              <a:latin typeface="Meiryo"/>
              <a:ea typeface="Meiryo"/>
              <a:cs typeface="Meiryo"/>
              <a:sym typeface="Meiryo"/>
            </a:endParaRPr>
          </a:p>
        </p:txBody>
      </p:sp>
      <p:pic>
        <p:nvPicPr>
          <p:cNvPr id="1026" name="Picture 2" descr="サンクスページ インスタ無料テンプレートデザイン。イラストや ...">
            <a:extLst>
              <a:ext uri="{FF2B5EF4-FFF2-40B4-BE49-F238E27FC236}">
                <a16:creationId xmlns:a16="http://schemas.microsoft.com/office/drawing/2014/main" id="{EF2FB526-72BA-45FB-7AF8-36501049F967}"/>
              </a:ext>
            </a:extLst>
          </p:cNvPr>
          <p:cNvPicPr>
            <a:picLocks noChangeAspect="1" noChangeArrowheads="1"/>
          </p:cNvPicPr>
          <p:nvPr/>
        </p:nvPicPr>
        <p:blipFill rotWithShape="1">
          <a:blip r:embed="rId5" cstate="print">
            <a:extLst>
              <a:ext uri="{28A0092B-C50C-407E-A947-70E740481C1C}">
                <a14:useLocalDpi xmlns:a14="http://schemas.microsoft.com/office/drawing/2010/main" val="0"/>
              </a:ext>
            </a:extLst>
          </a:blip>
          <a:srcRect t="18239" b="39628"/>
          <a:stretch>
            <a:fillRect/>
          </a:stretch>
        </p:blipFill>
        <p:spPr bwMode="auto">
          <a:xfrm>
            <a:off x="7001437" y="2549254"/>
            <a:ext cx="2326770" cy="1225425"/>
          </a:xfrm>
          <a:prstGeom prst="rect">
            <a:avLst/>
          </a:prstGeom>
          <a:noFill/>
          <a:extLst>
            <a:ext uri="{909E8E84-426E-40DD-AFC4-6F175D3DCCD1}">
              <a14:hiddenFill xmlns:a14="http://schemas.microsoft.com/office/drawing/2010/main">
                <a:solidFill>
                  <a:srgbClr val="FFFFFF"/>
                </a:solidFill>
              </a14:hiddenFill>
            </a:ext>
          </a:extLst>
        </p:spPr>
      </p:pic>
      <p:sp>
        <p:nvSpPr>
          <p:cNvPr id="3" name="Google Shape;752;p28">
            <a:extLst>
              <a:ext uri="{FF2B5EF4-FFF2-40B4-BE49-F238E27FC236}">
                <a16:creationId xmlns:a16="http://schemas.microsoft.com/office/drawing/2014/main" id="{E6ACC822-B6F9-6C30-928D-BAC3D63D473A}"/>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提供施策について</a:t>
            </a:r>
          </a:p>
        </p:txBody>
      </p:sp>
      <p:sp>
        <p:nvSpPr>
          <p:cNvPr id="5" name="Google Shape;178;p7">
            <a:extLst>
              <a:ext uri="{FF2B5EF4-FFF2-40B4-BE49-F238E27FC236}">
                <a16:creationId xmlns:a16="http://schemas.microsoft.com/office/drawing/2014/main" id="{617CCD27-0570-5EC2-D489-ADCA03A0F721}"/>
              </a:ext>
            </a:extLst>
          </p:cNvPr>
          <p:cNvSpPr txBox="1"/>
          <p:nvPr/>
        </p:nvSpPr>
        <p:spPr>
          <a:xfrm>
            <a:off x="77003" y="943920"/>
            <a:ext cx="9751992" cy="398393"/>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1600" dirty="0">
                <a:latin typeface="Meiryo"/>
                <a:ea typeface="Meiryo"/>
                <a:cs typeface="Meiryo"/>
                <a:sym typeface="Meiryo"/>
              </a:rPr>
              <a:t>準顕在（獲得見込みが高い）層の</a:t>
            </a:r>
            <a:r>
              <a:rPr lang="ja-JP" altLang="en-US" sz="1600" b="1" dirty="0">
                <a:latin typeface="Meiryo"/>
                <a:ea typeface="Meiryo"/>
                <a:cs typeface="Meiryo"/>
                <a:sym typeface="Meiryo"/>
              </a:rPr>
              <a:t>独自獲得手法が豊富</a:t>
            </a:r>
            <a:r>
              <a:rPr lang="ja-JP" altLang="en-US" sz="1600" dirty="0">
                <a:latin typeface="Meiryo"/>
                <a:ea typeface="Meiryo"/>
                <a:cs typeface="Meiryo"/>
                <a:sym typeface="Meiryo"/>
              </a:rPr>
              <a:t>で尚且つ</a:t>
            </a:r>
            <a:r>
              <a:rPr lang="ja-JP" altLang="en-US" sz="1600" b="1" dirty="0">
                <a:latin typeface="Meiryo"/>
                <a:ea typeface="Meiryo"/>
                <a:cs typeface="Meiryo"/>
                <a:sym typeface="Meiryo"/>
              </a:rPr>
              <a:t>利用までナーチャリング</a:t>
            </a:r>
            <a:endParaRPr lang="en-US" altLang="ja-JP" sz="1600" dirty="0">
              <a:latin typeface="Meiryo"/>
              <a:ea typeface="Meiryo"/>
              <a:cs typeface="Meiryo"/>
              <a:sym typeface="Meiryo"/>
            </a:endParaRPr>
          </a:p>
        </p:txBody>
      </p:sp>
    </p:spTree>
    <p:extLst>
      <p:ext uri="{BB962C8B-B14F-4D97-AF65-F5344CB8AC3E}">
        <p14:creationId xmlns:p14="http://schemas.microsoft.com/office/powerpoint/2010/main" val="300013459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975156-99A2-3647-6F9D-3BD80C596EF5}"/>
            </a:ext>
          </a:extLst>
        </p:cNvPr>
        <p:cNvGrpSpPr/>
        <p:nvPr/>
      </p:nvGrpSpPr>
      <p:grpSpPr>
        <a:xfrm>
          <a:off x="0" y="0"/>
          <a:ext cx="0" cy="0"/>
          <a:chOff x="0" y="0"/>
          <a:chExt cx="0" cy="0"/>
        </a:xfrm>
      </p:grpSpPr>
      <p:sp>
        <p:nvSpPr>
          <p:cNvPr id="22" name="Google Shape;752;p28">
            <a:extLst>
              <a:ext uri="{FF2B5EF4-FFF2-40B4-BE49-F238E27FC236}">
                <a16:creationId xmlns:a16="http://schemas.microsoft.com/office/drawing/2014/main" id="{AB249BA1-EB38-DDA6-8221-FC109239C49F}"/>
              </a:ext>
            </a:extLst>
          </p:cNvPr>
          <p:cNvSpPr txBox="1"/>
          <p:nvPr/>
        </p:nvSpPr>
        <p:spPr>
          <a:xfrm>
            <a:off x="548883" y="138138"/>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002060"/>
                </a:solidFill>
                <a:latin typeface="Meiryo"/>
                <a:ea typeface="Meiryo"/>
                <a:cs typeface="Meiryo"/>
                <a:sym typeface="Meiryo"/>
              </a:rPr>
              <a:t>新規友だちの追加（ポップアップ）</a:t>
            </a:r>
          </a:p>
        </p:txBody>
      </p:sp>
      <p:grpSp>
        <p:nvGrpSpPr>
          <p:cNvPr id="3" name="グループ化 2">
            <a:extLst>
              <a:ext uri="{FF2B5EF4-FFF2-40B4-BE49-F238E27FC236}">
                <a16:creationId xmlns:a16="http://schemas.microsoft.com/office/drawing/2014/main" id="{EA805D6F-0719-17C7-4E97-2705F1D9A93C}"/>
              </a:ext>
            </a:extLst>
          </p:cNvPr>
          <p:cNvGrpSpPr/>
          <p:nvPr/>
        </p:nvGrpSpPr>
        <p:grpSpPr>
          <a:xfrm>
            <a:off x="543398" y="777681"/>
            <a:ext cx="3105325" cy="485102"/>
            <a:chOff x="507969" y="928495"/>
            <a:chExt cx="3105325" cy="485102"/>
          </a:xfrm>
        </p:grpSpPr>
        <p:sp>
          <p:nvSpPr>
            <p:cNvPr id="4" name="Google Shape;51;p19">
              <a:extLst>
                <a:ext uri="{FF2B5EF4-FFF2-40B4-BE49-F238E27FC236}">
                  <a16:creationId xmlns:a16="http://schemas.microsoft.com/office/drawing/2014/main" id="{0895EF17-7734-EE92-7BF3-5B0ADCDC65B8}"/>
                </a:ext>
              </a:extLst>
            </p:cNvPr>
            <p:cNvSpPr/>
            <p:nvPr/>
          </p:nvSpPr>
          <p:spPr>
            <a:xfrm>
              <a:off x="507969" y="928495"/>
              <a:ext cx="3105325" cy="485102"/>
            </a:xfrm>
            <a:prstGeom prst="roundRect">
              <a:avLst>
                <a:gd name="adj" fmla="val 16667"/>
              </a:avLst>
            </a:prstGeom>
            <a:solidFill>
              <a:schemeClr val="dk1"/>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lnSpc>
                  <a:spcPct val="100000"/>
                </a:lnSpc>
                <a:spcBef>
                  <a:spcPts val="0"/>
                </a:spcBef>
                <a:spcAft>
                  <a:spcPts val="0"/>
                </a:spcAft>
                <a:buClr>
                  <a:srgbClr val="000000"/>
                </a:buClr>
                <a:buSzPts val="1400"/>
                <a:buFont typeface="Arial"/>
                <a:buNone/>
              </a:pPr>
              <a:endParaRPr sz="1400" b="1" i="0" u="none" strike="noStrike" cap="none" dirty="0">
                <a:solidFill>
                  <a:schemeClr val="lt1"/>
                </a:solidFill>
                <a:latin typeface="Meiryo"/>
                <a:ea typeface="Meiryo"/>
                <a:cs typeface="Meiryo"/>
                <a:sym typeface="Meiryo"/>
              </a:endParaRPr>
            </a:p>
          </p:txBody>
        </p:sp>
        <p:sp>
          <p:nvSpPr>
            <p:cNvPr id="5" name="テキスト ボックス 4">
              <a:extLst>
                <a:ext uri="{FF2B5EF4-FFF2-40B4-BE49-F238E27FC236}">
                  <a16:creationId xmlns:a16="http://schemas.microsoft.com/office/drawing/2014/main" id="{23AD98A9-882F-05AA-BB4E-3FB88AAA7C20}"/>
                </a:ext>
              </a:extLst>
            </p:cNvPr>
            <p:cNvSpPr txBox="1"/>
            <p:nvPr/>
          </p:nvSpPr>
          <p:spPr>
            <a:xfrm>
              <a:off x="687498" y="938979"/>
              <a:ext cx="2746265" cy="357790"/>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120000"/>
                </a:lnSpc>
              </a:pPr>
              <a:r>
                <a:rPr kumimoji="1" lang="ja-JP" altLang="en-US" sz="1500" b="1" dirty="0">
                  <a:solidFill>
                    <a:schemeClr val="bg1"/>
                  </a:solidFill>
                  <a:latin typeface="Meiryo" panose="020B0604030504040204" pitchFamily="34" charset="-128"/>
                  <a:ea typeface="Meiryo" panose="020B0604030504040204" pitchFamily="34" charset="-128"/>
                </a:rPr>
                <a:t>ポップアップ</a:t>
              </a:r>
            </a:p>
          </p:txBody>
        </p:sp>
      </p:grpSp>
      <p:sp>
        <p:nvSpPr>
          <p:cNvPr id="8" name="正方形/長方形 7">
            <a:extLst>
              <a:ext uri="{FF2B5EF4-FFF2-40B4-BE49-F238E27FC236}">
                <a16:creationId xmlns:a16="http://schemas.microsoft.com/office/drawing/2014/main" id="{EB668975-CA29-64DD-88DF-17EAAC94AE34}"/>
              </a:ext>
            </a:extLst>
          </p:cNvPr>
          <p:cNvSpPr/>
          <p:nvPr/>
        </p:nvSpPr>
        <p:spPr>
          <a:xfrm>
            <a:off x="3806311" y="788165"/>
            <a:ext cx="5880088" cy="584775"/>
          </a:xfrm>
          <a:prstGeom prst="rect">
            <a:avLst/>
          </a:prstGeom>
        </p:spPr>
        <p:txBody>
          <a:bodyPr wrap="square">
            <a:spAutoFit/>
          </a:bodyPr>
          <a:lstStyle/>
          <a:p>
            <a:pPr lvl="0" algn="ctr">
              <a:buClr>
                <a:schemeClr val="dk1"/>
              </a:buClr>
              <a:buSzPts val="1500"/>
            </a:pPr>
            <a:r>
              <a:rPr lang="en-US" altLang="ja-JP" sz="1600" dirty="0">
                <a:latin typeface="Meiryo"/>
                <a:ea typeface="Meiryo"/>
                <a:cs typeface="Meiryo"/>
                <a:sym typeface="Meiryo"/>
              </a:rPr>
              <a:t>WEB</a:t>
            </a:r>
            <a:r>
              <a:rPr lang="ja-JP" altLang="en-US" sz="1600" dirty="0">
                <a:latin typeface="Meiryo"/>
                <a:ea typeface="Meiryo"/>
                <a:cs typeface="Meiryo"/>
                <a:sym typeface="Meiryo"/>
              </a:rPr>
              <a:t>サイト上の特定アクションを起こしたユーザーに対して</a:t>
            </a:r>
            <a:endParaRPr lang="en-US" altLang="ja-JP" sz="1600" dirty="0">
              <a:latin typeface="Meiryo"/>
              <a:ea typeface="Meiryo"/>
              <a:cs typeface="Meiryo"/>
              <a:sym typeface="Meiryo"/>
            </a:endParaRPr>
          </a:p>
          <a:p>
            <a:pPr lvl="0" algn="ctr">
              <a:buClr>
                <a:schemeClr val="dk1"/>
              </a:buClr>
              <a:buSzPts val="1500"/>
            </a:pPr>
            <a:r>
              <a:rPr lang="ja-JP" altLang="en-US" sz="1600" dirty="0">
                <a:latin typeface="Meiryo"/>
                <a:ea typeface="Meiryo"/>
                <a:cs typeface="Meiryo"/>
                <a:sym typeface="Meiryo"/>
              </a:rPr>
              <a:t>ポップアップの形で</a:t>
            </a:r>
            <a:r>
              <a:rPr lang="en-US" altLang="ja-JP" sz="1600" dirty="0">
                <a:latin typeface="Meiryo"/>
                <a:ea typeface="Meiryo"/>
                <a:cs typeface="Meiryo"/>
                <a:sym typeface="Meiryo"/>
              </a:rPr>
              <a:t>LINE</a:t>
            </a:r>
            <a:r>
              <a:rPr lang="ja-JP" altLang="en-US" sz="1600" dirty="0">
                <a:latin typeface="Meiryo"/>
                <a:ea typeface="Meiryo"/>
                <a:cs typeface="Meiryo"/>
                <a:sym typeface="Meiryo"/>
              </a:rPr>
              <a:t>誘導の動線を提示。</a:t>
            </a:r>
          </a:p>
        </p:txBody>
      </p:sp>
      <p:pic>
        <p:nvPicPr>
          <p:cNvPr id="6" name="図 5">
            <a:extLst>
              <a:ext uri="{FF2B5EF4-FFF2-40B4-BE49-F238E27FC236}">
                <a16:creationId xmlns:a16="http://schemas.microsoft.com/office/drawing/2014/main" id="{4BC18E84-0DF3-01E6-D82D-0A9DCD2D5F30}"/>
              </a:ext>
            </a:extLst>
          </p:cNvPr>
          <p:cNvPicPr>
            <a:picLocks noChangeAspect="1"/>
          </p:cNvPicPr>
          <p:nvPr/>
        </p:nvPicPr>
        <p:blipFill>
          <a:blip r:embed="rId2"/>
          <a:stretch>
            <a:fillRect/>
          </a:stretch>
        </p:blipFill>
        <p:spPr>
          <a:xfrm>
            <a:off x="5764329" y="2258734"/>
            <a:ext cx="1524677" cy="3096752"/>
          </a:xfrm>
          <a:prstGeom prst="rect">
            <a:avLst/>
          </a:prstGeom>
        </p:spPr>
      </p:pic>
      <p:sp>
        <p:nvSpPr>
          <p:cNvPr id="9" name="テキスト ボックス 8">
            <a:extLst>
              <a:ext uri="{FF2B5EF4-FFF2-40B4-BE49-F238E27FC236}">
                <a16:creationId xmlns:a16="http://schemas.microsoft.com/office/drawing/2014/main" id="{10FACA28-BE3D-80E4-091C-39F6141694C7}"/>
              </a:ext>
            </a:extLst>
          </p:cNvPr>
          <p:cNvSpPr txBox="1"/>
          <p:nvPr/>
        </p:nvSpPr>
        <p:spPr>
          <a:xfrm>
            <a:off x="5214938" y="1372940"/>
            <a:ext cx="4148137" cy="261610"/>
          </a:xfrm>
          <a:prstGeom prst="rect">
            <a:avLst/>
          </a:prstGeom>
          <a:noFill/>
        </p:spPr>
        <p:txBody>
          <a:bodyPr wrap="square">
            <a:spAutoFit/>
          </a:bodyPr>
          <a:lstStyle/>
          <a:p>
            <a:r>
              <a:rPr lang="en-US" altLang="ja-JP" sz="1050" dirty="0">
                <a:solidFill>
                  <a:srgbClr val="FF0000"/>
                </a:solidFill>
                <a:latin typeface="Meiryo"/>
                <a:ea typeface="Meiryo"/>
                <a:cs typeface="Meiryo"/>
                <a:sym typeface="Meiryo"/>
              </a:rPr>
              <a:t>LINE</a:t>
            </a:r>
            <a:r>
              <a:rPr lang="ja-JP" altLang="en-US" sz="1050" dirty="0">
                <a:solidFill>
                  <a:srgbClr val="FF0000"/>
                </a:solidFill>
                <a:latin typeface="Meiryo"/>
                <a:ea typeface="Meiryo"/>
                <a:cs typeface="Meiryo"/>
                <a:sym typeface="Meiryo"/>
              </a:rPr>
              <a:t>以外の注力動線への誘導も同バナーから実施が可能です。</a:t>
            </a:r>
            <a:endParaRPr lang="ja-JP" altLang="en-US" sz="1050" dirty="0">
              <a:solidFill>
                <a:srgbClr val="FF0000"/>
              </a:solidFill>
            </a:endParaRPr>
          </a:p>
        </p:txBody>
      </p:sp>
      <p:pic>
        <p:nvPicPr>
          <p:cNvPr id="11" name="図 10">
            <a:extLst>
              <a:ext uri="{FF2B5EF4-FFF2-40B4-BE49-F238E27FC236}">
                <a16:creationId xmlns:a16="http://schemas.microsoft.com/office/drawing/2014/main" id="{FC908A63-1EE8-A605-1D4F-460FED9442AA}"/>
              </a:ext>
            </a:extLst>
          </p:cNvPr>
          <p:cNvPicPr>
            <a:picLocks noChangeAspect="1"/>
          </p:cNvPicPr>
          <p:nvPr/>
        </p:nvPicPr>
        <p:blipFill>
          <a:blip r:embed="rId2"/>
          <a:stretch>
            <a:fillRect/>
          </a:stretch>
        </p:blipFill>
        <p:spPr>
          <a:xfrm>
            <a:off x="8032877" y="2846109"/>
            <a:ext cx="1524677" cy="3096752"/>
          </a:xfrm>
          <a:prstGeom prst="rect">
            <a:avLst/>
          </a:prstGeom>
        </p:spPr>
      </p:pic>
      <p:sp>
        <p:nvSpPr>
          <p:cNvPr id="12" name="矢印: 右 11">
            <a:extLst>
              <a:ext uri="{FF2B5EF4-FFF2-40B4-BE49-F238E27FC236}">
                <a16:creationId xmlns:a16="http://schemas.microsoft.com/office/drawing/2014/main" id="{C5B2A6E8-796B-963F-0A04-9B9D1A36ADF0}"/>
              </a:ext>
            </a:extLst>
          </p:cNvPr>
          <p:cNvSpPr/>
          <p:nvPr/>
        </p:nvSpPr>
        <p:spPr>
          <a:xfrm>
            <a:off x="7373222" y="3359435"/>
            <a:ext cx="571500" cy="619125"/>
          </a:xfrm>
          <a:prstGeom prst="rightArrow">
            <a:avLst>
              <a:gd name="adj1" fmla="val 64359"/>
              <a:gd name="adj2" fmla="val 50000"/>
            </a:avLst>
          </a:prstGeom>
          <a:solidFill>
            <a:schemeClr val="tx2">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3" name="正方形/長方形 12">
            <a:extLst>
              <a:ext uri="{FF2B5EF4-FFF2-40B4-BE49-F238E27FC236}">
                <a16:creationId xmlns:a16="http://schemas.microsoft.com/office/drawing/2014/main" id="{DB49FAB7-0FB8-4D5F-CF13-A19BBA28C8C7}"/>
              </a:ext>
            </a:extLst>
          </p:cNvPr>
          <p:cNvSpPr/>
          <p:nvPr/>
        </p:nvSpPr>
        <p:spPr>
          <a:xfrm>
            <a:off x="8117093" y="3057525"/>
            <a:ext cx="1371145" cy="2585494"/>
          </a:xfrm>
          <a:prstGeom prst="rect">
            <a:avLst/>
          </a:prstGeom>
          <a:solidFill>
            <a:schemeClr val="tx1">
              <a:lumMod val="75000"/>
              <a:lumOff val="25000"/>
              <a:alpha val="7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5" name="Google Shape;51;p19">
            <a:extLst>
              <a:ext uri="{FF2B5EF4-FFF2-40B4-BE49-F238E27FC236}">
                <a16:creationId xmlns:a16="http://schemas.microsoft.com/office/drawing/2014/main" id="{1B34220E-1DA3-AC59-C2DE-15AB3320AC1C}"/>
              </a:ext>
            </a:extLst>
          </p:cNvPr>
          <p:cNvSpPr/>
          <p:nvPr/>
        </p:nvSpPr>
        <p:spPr>
          <a:xfrm>
            <a:off x="543399" y="1321261"/>
            <a:ext cx="1510826" cy="485102"/>
          </a:xfrm>
          <a:prstGeom prst="roundRect">
            <a:avLst>
              <a:gd name="adj" fmla="val 16667"/>
            </a:avLst>
          </a:prstGeom>
          <a:solidFill>
            <a:schemeClr val="tx2"/>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lnSpc>
                <a:spcPct val="100000"/>
              </a:lnSpc>
              <a:spcBef>
                <a:spcPts val="0"/>
              </a:spcBef>
              <a:spcAft>
                <a:spcPts val="0"/>
              </a:spcAft>
              <a:buClr>
                <a:srgbClr val="000000"/>
              </a:buClr>
              <a:buSzPts val="1400"/>
              <a:buFont typeface="Arial"/>
              <a:buNone/>
            </a:pPr>
            <a:r>
              <a:rPr lang="ja-JP" altLang="en-US" sz="1400" b="1" i="0" u="none" strike="noStrike" cap="none" dirty="0">
                <a:solidFill>
                  <a:schemeClr val="lt1"/>
                </a:solidFill>
                <a:latin typeface="Meiryo"/>
                <a:ea typeface="Meiryo"/>
                <a:cs typeface="Meiryo"/>
                <a:sym typeface="Meiryo"/>
              </a:rPr>
              <a:t>初期：</a:t>
            </a:r>
            <a:r>
              <a:rPr lang="en-US" altLang="ja-JP" sz="1400" b="1" i="0" u="none" strike="noStrike" cap="none" dirty="0">
                <a:solidFill>
                  <a:schemeClr val="lt1"/>
                </a:solidFill>
                <a:latin typeface="Meiryo"/>
                <a:ea typeface="Meiryo"/>
                <a:cs typeface="Meiryo"/>
                <a:sym typeface="Meiryo"/>
              </a:rPr>
              <a:t>1.5</a:t>
            </a:r>
            <a:r>
              <a:rPr lang="ja-JP" altLang="en-US" sz="1400" b="1" i="0" u="none" strike="noStrike" cap="none" dirty="0">
                <a:solidFill>
                  <a:schemeClr val="lt1"/>
                </a:solidFill>
                <a:latin typeface="Meiryo"/>
                <a:ea typeface="Meiryo"/>
                <a:cs typeface="Meiryo"/>
                <a:sym typeface="Meiryo"/>
              </a:rPr>
              <a:t>万円</a:t>
            </a:r>
            <a:endParaRPr sz="1400" b="1" i="0" u="none" strike="noStrike" cap="none" dirty="0">
              <a:solidFill>
                <a:schemeClr val="lt1"/>
              </a:solidFill>
              <a:latin typeface="Meiryo"/>
              <a:ea typeface="Meiryo"/>
              <a:cs typeface="Meiryo"/>
              <a:sym typeface="Meiryo"/>
            </a:endParaRPr>
          </a:p>
        </p:txBody>
      </p:sp>
      <p:sp>
        <p:nvSpPr>
          <p:cNvPr id="17" name="Google Shape;51;p19">
            <a:extLst>
              <a:ext uri="{FF2B5EF4-FFF2-40B4-BE49-F238E27FC236}">
                <a16:creationId xmlns:a16="http://schemas.microsoft.com/office/drawing/2014/main" id="{EBA2E7AC-5299-C000-0A43-CCF8CE458AAF}"/>
              </a:ext>
            </a:extLst>
          </p:cNvPr>
          <p:cNvSpPr/>
          <p:nvPr/>
        </p:nvSpPr>
        <p:spPr>
          <a:xfrm>
            <a:off x="2137897" y="1321261"/>
            <a:ext cx="1510826" cy="485102"/>
          </a:xfrm>
          <a:prstGeom prst="roundRect">
            <a:avLst>
              <a:gd name="adj" fmla="val 16667"/>
            </a:avLst>
          </a:prstGeom>
          <a:solidFill>
            <a:schemeClr val="tx2"/>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lnSpc>
                <a:spcPct val="100000"/>
              </a:lnSpc>
              <a:spcBef>
                <a:spcPts val="0"/>
              </a:spcBef>
              <a:spcAft>
                <a:spcPts val="0"/>
              </a:spcAft>
              <a:buClr>
                <a:srgbClr val="000000"/>
              </a:buClr>
              <a:buSzPts val="1400"/>
              <a:buFont typeface="Arial"/>
              <a:buNone/>
            </a:pPr>
            <a:r>
              <a:rPr lang="ja-JP" altLang="en-US" sz="1400" b="1" i="0" u="none" strike="noStrike" cap="none" dirty="0">
                <a:solidFill>
                  <a:schemeClr val="lt1"/>
                </a:solidFill>
                <a:latin typeface="Meiryo"/>
                <a:ea typeface="Meiryo"/>
                <a:cs typeface="Meiryo"/>
                <a:sym typeface="Meiryo"/>
              </a:rPr>
              <a:t>月額</a:t>
            </a:r>
            <a:r>
              <a:rPr lang="en-US" altLang="ja-JP" sz="1400" b="1" i="0" u="none" strike="noStrike" cap="none" dirty="0">
                <a:solidFill>
                  <a:schemeClr val="lt1"/>
                </a:solidFill>
                <a:latin typeface="Meiryo"/>
                <a:ea typeface="Meiryo"/>
                <a:cs typeface="Meiryo"/>
                <a:sym typeface="Meiryo"/>
              </a:rPr>
              <a:t>3</a:t>
            </a:r>
            <a:r>
              <a:rPr lang="ja-JP" altLang="en-US" sz="1400" b="1" i="0" u="none" strike="noStrike" cap="none" dirty="0">
                <a:solidFill>
                  <a:schemeClr val="lt1"/>
                </a:solidFill>
                <a:latin typeface="Meiryo"/>
                <a:ea typeface="Meiryo"/>
                <a:cs typeface="Meiryo"/>
                <a:sym typeface="Meiryo"/>
              </a:rPr>
              <a:t>万円</a:t>
            </a:r>
            <a:endParaRPr sz="1400" b="1" i="0" u="none" strike="noStrike" cap="none" dirty="0">
              <a:solidFill>
                <a:schemeClr val="lt1"/>
              </a:solidFill>
              <a:latin typeface="Meiryo"/>
              <a:ea typeface="Meiryo"/>
              <a:cs typeface="Meiryo"/>
              <a:sym typeface="Meiryo"/>
            </a:endParaRPr>
          </a:p>
        </p:txBody>
      </p:sp>
      <p:pic>
        <p:nvPicPr>
          <p:cNvPr id="19" name="図 18">
            <a:extLst>
              <a:ext uri="{FF2B5EF4-FFF2-40B4-BE49-F238E27FC236}">
                <a16:creationId xmlns:a16="http://schemas.microsoft.com/office/drawing/2014/main" id="{98FF8283-5B2F-5018-9D25-736A384B4D23}"/>
              </a:ext>
            </a:extLst>
          </p:cNvPr>
          <p:cNvPicPr>
            <a:picLocks noChangeAspect="1"/>
          </p:cNvPicPr>
          <p:nvPr/>
        </p:nvPicPr>
        <p:blipFill>
          <a:blip r:embed="rId3"/>
          <a:stretch>
            <a:fillRect/>
          </a:stretch>
        </p:blipFill>
        <p:spPr>
          <a:xfrm>
            <a:off x="8263942" y="3752836"/>
            <a:ext cx="1062545" cy="1115066"/>
          </a:xfrm>
          <a:prstGeom prst="rect">
            <a:avLst/>
          </a:prstGeom>
        </p:spPr>
      </p:pic>
      <p:sp>
        <p:nvSpPr>
          <p:cNvPr id="24" name="正方形/長方形 23">
            <a:extLst>
              <a:ext uri="{FF2B5EF4-FFF2-40B4-BE49-F238E27FC236}">
                <a16:creationId xmlns:a16="http://schemas.microsoft.com/office/drawing/2014/main" id="{E4AE5F6C-0BA5-6768-64B9-9CD156133552}"/>
              </a:ext>
            </a:extLst>
          </p:cNvPr>
          <p:cNvSpPr/>
          <p:nvPr/>
        </p:nvSpPr>
        <p:spPr>
          <a:xfrm>
            <a:off x="5769326" y="1938056"/>
            <a:ext cx="3788228" cy="244151"/>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100" b="1" dirty="0">
                <a:solidFill>
                  <a:schemeClr val="bg1"/>
                </a:solidFill>
                <a:latin typeface="メイリオ" panose="020B0604030504040204" pitchFamily="50" charset="-128"/>
                <a:ea typeface="メイリオ" panose="020B0604030504040204" pitchFamily="50" charset="-128"/>
              </a:rPr>
              <a:t>動作イメージ</a:t>
            </a:r>
            <a:endParaRPr kumimoji="1" lang="ja-JP" altLang="en-US" sz="1100" b="1" dirty="0">
              <a:solidFill>
                <a:schemeClr val="bg1"/>
              </a:solidFill>
              <a:latin typeface="メイリオ" panose="020B0604030504040204" pitchFamily="50" charset="-128"/>
              <a:ea typeface="メイリオ" panose="020B0604030504040204" pitchFamily="50" charset="-128"/>
            </a:endParaRPr>
          </a:p>
        </p:txBody>
      </p:sp>
      <p:pic>
        <p:nvPicPr>
          <p:cNvPr id="7" name="図 6">
            <a:extLst>
              <a:ext uri="{FF2B5EF4-FFF2-40B4-BE49-F238E27FC236}">
                <a16:creationId xmlns:a16="http://schemas.microsoft.com/office/drawing/2014/main" id="{669C67AE-8870-AB99-9BB8-030F3AB8CB3B}"/>
              </a:ext>
            </a:extLst>
          </p:cNvPr>
          <p:cNvPicPr>
            <a:picLocks noChangeAspect="1"/>
          </p:cNvPicPr>
          <p:nvPr/>
        </p:nvPicPr>
        <p:blipFill>
          <a:blip r:embed="rId4"/>
          <a:stretch>
            <a:fillRect/>
          </a:stretch>
        </p:blipFill>
        <p:spPr>
          <a:xfrm>
            <a:off x="543398" y="4259719"/>
            <a:ext cx="5059180" cy="2191534"/>
          </a:xfrm>
          <a:prstGeom prst="rect">
            <a:avLst/>
          </a:prstGeom>
        </p:spPr>
      </p:pic>
      <p:pic>
        <p:nvPicPr>
          <p:cNvPr id="14" name="図 13">
            <a:extLst>
              <a:ext uri="{FF2B5EF4-FFF2-40B4-BE49-F238E27FC236}">
                <a16:creationId xmlns:a16="http://schemas.microsoft.com/office/drawing/2014/main" id="{CFFD213E-DE33-0075-6E07-F24DBD7A9441}"/>
              </a:ext>
            </a:extLst>
          </p:cNvPr>
          <p:cNvPicPr>
            <a:picLocks noChangeAspect="1"/>
          </p:cNvPicPr>
          <p:nvPr/>
        </p:nvPicPr>
        <p:blipFill>
          <a:blip r:embed="rId5"/>
          <a:stretch>
            <a:fillRect/>
          </a:stretch>
        </p:blipFill>
        <p:spPr>
          <a:xfrm>
            <a:off x="579513" y="1977951"/>
            <a:ext cx="5023065" cy="2231287"/>
          </a:xfrm>
          <a:prstGeom prst="rect">
            <a:avLst/>
          </a:prstGeom>
        </p:spPr>
      </p:pic>
    </p:spTree>
    <p:extLst>
      <p:ext uri="{BB962C8B-B14F-4D97-AF65-F5344CB8AC3E}">
        <p14:creationId xmlns:p14="http://schemas.microsoft.com/office/powerpoint/2010/main" val="105893345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C61D1B-00B3-A324-FA45-8227BFE7C87E}"/>
            </a:ext>
          </a:extLst>
        </p:cNvPr>
        <p:cNvGrpSpPr/>
        <p:nvPr/>
      </p:nvGrpSpPr>
      <p:grpSpPr>
        <a:xfrm>
          <a:off x="0" y="0"/>
          <a:ext cx="0" cy="0"/>
          <a:chOff x="0" y="0"/>
          <a:chExt cx="0" cy="0"/>
        </a:xfrm>
      </p:grpSpPr>
      <p:sp>
        <p:nvSpPr>
          <p:cNvPr id="22" name="Google Shape;752;p28">
            <a:extLst>
              <a:ext uri="{FF2B5EF4-FFF2-40B4-BE49-F238E27FC236}">
                <a16:creationId xmlns:a16="http://schemas.microsoft.com/office/drawing/2014/main" id="{A92EBA17-1F28-FC74-FD04-7BBA4028B4C8}"/>
              </a:ext>
            </a:extLst>
          </p:cNvPr>
          <p:cNvSpPr txBox="1"/>
          <p:nvPr/>
        </p:nvSpPr>
        <p:spPr>
          <a:xfrm>
            <a:off x="548883" y="138138"/>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002060"/>
                </a:solidFill>
                <a:latin typeface="Meiryo"/>
                <a:ea typeface="Meiryo"/>
                <a:cs typeface="Meiryo"/>
                <a:sym typeface="Meiryo"/>
              </a:rPr>
              <a:t>新規友だちの追加（ポップアップ）</a:t>
            </a:r>
          </a:p>
        </p:txBody>
      </p:sp>
      <p:grpSp>
        <p:nvGrpSpPr>
          <p:cNvPr id="3" name="グループ化 2">
            <a:extLst>
              <a:ext uri="{FF2B5EF4-FFF2-40B4-BE49-F238E27FC236}">
                <a16:creationId xmlns:a16="http://schemas.microsoft.com/office/drawing/2014/main" id="{A495E905-6DD4-9945-098D-841CB438C3EE}"/>
              </a:ext>
            </a:extLst>
          </p:cNvPr>
          <p:cNvGrpSpPr/>
          <p:nvPr/>
        </p:nvGrpSpPr>
        <p:grpSpPr>
          <a:xfrm>
            <a:off x="543398" y="777681"/>
            <a:ext cx="3105325" cy="485102"/>
            <a:chOff x="507969" y="928495"/>
            <a:chExt cx="3105325" cy="485102"/>
          </a:xfrm>
        </p:grpSpPr>
        <p:sp>
          <p:nvSpPr>
            <p:cNvPr id="4" name="Google Shape;51;p19">
              <a:extLst>
                <a:ext uri="{FF2B5EF4-FFF2-40B4-BE49-F238E27FC236}">
                  <a16:creationId xmlns:a16="http://schemas.microsoft.com/office/drawing/2014/main" id="{460E3190-8E00-961F-6C91-89DE5F3546AF}"/>
                </a:ext>
              </a:extLst>
            </p:cNvPr>
            <p:cNvSpPr/>
            <p:nvPr/>
          </p:nvSpPr>
          <p:spPr>
            <a:xfrm>
              <a:off x="507969" y="928495"/>
              <a:ext cx="3105325" cy="485102"/>
            </a:xfrm>
            <a:prstGeom prst="roundRect">
              <a:avLst>
                <a:gd name="adj" fmla="val 16667"/>
              </a:avLst>
            </a:prstGeom>
            <a:solidFill>
              <a:schemeClr val="dk1"/>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lnSpc>
                  <a:spcPct val="100000"/>
                </a:lnSpc>
                <a:spcBef>
                  <a:spcPts val="0"/>
                </a:spcBef>
                <a:spcAft>
                  <a:spcPts val="0"/>
                </a:spcAft>
                <a:buClr>
                  <a:srgbClr val="000000"/>
                </a:buClr>
                <a:buSzPts val="1400"/>
                <a:buFont typeface="Arial"/>
                <a:buNone/>
              </a:pPr>
              <a:endParaRPr sz="1400" b="1" i="0" u="none" strike="noStrike" cap="none" dirty="0">
                <a:solidFill>
                  <a:schemeClr val="lt1"/>
                </a:solidFill>
                <a:latin typeface="Meiryo"/>
                <a:ea typeface="Meiryo"/>
                <a:cs typeface="Meiryo"/>
                <a:sym typeface="Meiryo"/>
              </a:endParaRPr>
            </a:p>
          </p:txBody>
        </p:sp>
        <p:sp>
          <p:nvSpPr>
            <p:cNvPr id="5" name="テキスト ボックス 4">
              <a:extLst>
                <a:ext uri="{FF2B5EF4-FFF2-40B4-BE49-F238E27FC236}">
                  <a16:creationId xmlns:a16="http://schemas.microsoft.com/office/drawing/2014/main" id="{214929DF-C4CB-63FB-BAED-F6A1BE2438B2}"/>
                </a:ext>
              </a:extLst>
            </p:cNvPr>
            <p:cNvSpPr txBox="1"/>
            <p:nvPr/>
          </p:nvSpPr>
          <p:spPr>
            <a:xfrm>
              <a:off x="687498" y="938979"/>
              <a:ext cx="2746265" cy="357790"/>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120000"/>
                </a:lnSpc>
              </a:pPr>
              <a:r>
                <a:rPr kumimoji="1" lang="ja-JP" altLang="en-US" sz="1500" b="1" dirty="0">
                  <a:solidFill>
                    <a:schemeClr val="bg1"/>
                  </a:solidFill>
                  <a:latin typeface="Meiryo" panose="020B0604030504040204" pitchFamily="34" charset="-128"/>
                  <a:ea typeface="Meiryo" panose="020B0604030504040204" pitchFamily="34" charset="-128"/>
                </a:rPr>
                <a:t>ポップアップ</a:t>
              </a:r>
            </a:p>
          </p:txBody>
        </p:sp>
      </p:grpSp>
      <p:sp>
        <p:nvSpPr>
          <p:cNvPr id="8" name="正方形/長方形 7">
            <a:extLst>
              <a:ext uri="{FF2B5EF4-FFF2-40B4-BE49-F238E27FC236}">
                <a16:creationId xmlns:a16="http://schemas.microsoft.com/office/drawing/2014/main" id="{200A9277-1702-628D-6325-0D765E09FBE7}"/>
              </a:ext>
            </a:extLst>
          </p:cNvPr>
          <p:cNvSpPr/>
          <p:nvPr/>
        </p:nvSpPr>
        <p:spPr>
          <a:xfrm>
            <a:off x="3806311" y="788165"/>
            <a:ext cx="5880088" cy="584775"/>
          </a:xfrm>
          <a:prstGeom prst="rect">
            <a:avLst/>
          </a:prstGeom>
        </p:spPr>
        <p:txBody>
          <a:bodyPr wrap="square">
            <a:spAutoFit/>
          </a:bodyPr>
          <a:lstStyle/>
          <a:p>
            <a:pPr lvl="0" algn="ctr">
              <a:buClr>
                <a:schemeClr val="dk1"/>
              </a:buClr>
              <a:buSzPts val="1500"/>
            </a:pPr>
            <a:r>
              <a:rPr lang="en-US" altLang="ja-JP" sz="1600" dirty="0">
                <a:latin typeface="Meiryo"/>
                <a:ea typeface="Meiryo"/>
                <a:cs typeface="Meiryo"/>
                <a:sym typeface="Meiryo"/>
              </a:rPr>
              <a:t>WEB</a:t>
            </a:r>
            <a:r>
              <a:rPr lang="ja-JP" altLang="en-US" sz="1600" dirty="0">
                <a:latin typeface="Meiryo"/>
                <a:ea typeface="Meiryo"/>
                <a:cs typeface="Meiryo"/>
                <a:sym typeface="Meiryo"/>
              </a:rPr>
              <a:t>サイト上の特定アクションを起こしたユーザーに対して</a:t>
            </a:r>
            <a:endParaRPr lang="en-US" altLang="ja-JP" sz="1600" dirty="0">
              <a:latin typeface="Meiryo"/>
              <a:ea typeface="Meiryo"/>
              <a:cs typeface="Meiryo"/>
              <a:sym typeface="Meiryo"/>
            </a:endParaRPr>
          </a:p>
          <a:p>
            <a:pPr lvl="0" algn="ctr">
              <a:buClr>
                <a:schemeClr val="dk1"/>
              </a:buClr>
              <a:buSzPts val="1500"/>
            </a:pPr>
            <a:r>
              <a:rPr lang="ja-JP" altLang="en-US" sz="1600" dirty="0">
                <a:latin typeface="Meiryo"/>
                <a:ea typeface="Meiryo"/>
                <a:cs typeface="Meiryo"/>
                <a:sym typeface="Meiryo"/>
              </a:rPr>
              <a:t>ポップアップの形で</a:t>
            </a:r>
            <a:r>
              <a:rPr lang="en-US" altLang="ja-JP" sz="1600" dirty="0">
                <a:latin typeface="Meiryo"/>
                <a:ea typeface="Meiryo"/>
                <a:cs typeface="Meiryo"/>
                <a:sym typeface="Meiryo"/>
              </a:rPr>
              <a:t>LINE</a:t>
            </a:r>
            <a:r>
              <a:rPr lang="ja-JP" altLang="en-US" sz="1600" dirty="0">
                <a:latin typeface="Meiryo"/>
                <a:ea typeface="Meiryo"/>
                <a:cs typeface="Meiryo"/>
                <a:sym typeface="Meiryo"/>
              </a:rPr>
              <a:t>誘導の動線を提示。</a:t>
            </a:r>
          </a:p>
        </p:txBody>
      </p:sp>
      <p:sp>
        <p:nvSpPr>
          <p:cNvPr id="9" name="テキスト ボックス 8">
            <a:extLst>
              <a:ext uri="{FF2B5EF4-FFF2-40B4-BE49-F238E27FC236}">
                <a16:creationId xmlns:a16="http://schemas.microsoft.com/office/drawing/2014/main" id="{FC59C8DC-A3F5-6C82-BBB6-1DCA2E2FCA1E}"/>
              </a:ext>
            </a:extLst>
          </p:cNvPr>
          <p:cNvSpPr txBox="1"/>
          <p:nvPr/>
        </p:nvSpPr>
        <p:spPr>
          <a:xfrm>
            <a:off x="5214938" y="1372940"/>
            <a:ext cx="4148137" cy="261610"/>
          </a:xfrm>
          <a:prstGeom prst="rect">
            <a:avLst/>
          </a:prstGeom>
          <a:noFill/>
        </p:spPr>
        <p:txBody>
          <a:bodyPr wrap="square">
            <a:spAutoFit/>
          </a:bodyPr>
          <a:lstStyle/>
          <a:p>
            <a:r>
              <a:rPr lang="en-US" altLang="ja-JP" sz="1050" dirty="0">
                <a:solidFill>
                  <a:srgbClr val="FF0000"/>
                </a:solidFill>
                <a:latin typeface="Meiryo"/>
                <a:ea typeface="Meiryo"/>
                <a:cs typeface="Meiryo"/>
                <a:sym typeface="Meiryo"/>
              </a:rPr>
              <a:t>LINE</a:t>
            </a:r>
            <a:r>
              <a:rPr lang="ja-JP" altLang="en-US" sz="1050" dirty="0">
                <a:solidFill>
                  <a:srgbClr val="FF0000"/>
                </a:solidFill>
                <a:latin typeface="Meiryo"/>
                <a:ea typeface="Meiryo"/>
                <a:cs typeface="Meiryo"/>
                <a:sym typeface="Meiryo"/>
              </a:rPr>
              <a:t>以外の注力動線への誘導も同バナーから実施が可能です。</a:t>
            </a:r>
            <a:endParaRPr lang="ja-JP" altLang="en-US" sz="1050" dirty="0">
              <a:solidFill>
                <a:srgbClr val="FF0000"/>
              </a:solidFill>
            </a:endParaRPr>
          </a:p>
        </p:txBody>
      </p:sp>
      <p:sp>
        <p:nvSpPr>
          <p:cNvPr id="15" name="Google Shape;51;p19">
            <a:extLst>
              <a:ext uri="{FF2B5EF4-FFF2-40B4-BE49-F238E27FC236}">
                <a16:creationId xmlns:a16="http://schemas.microsoft.com/office/drawing/2014/main" id="{ECC096EC-7A42-299D-ADFB-A11583AA36AB}"/>
              </a:ext>
            </a:extLst>
          </p:cNvPr>
          <p:cNvSpPr/>
          <p:nvPr/>
        </p:nvSpPr>
        <p:spPr>
          <a:xfrm>
            <a:off x="543399" y="1321261"/>
            <a:ext cx="1510826" cy="485102"/>
          </a:xfrm>
          <a:prstGeom prst="roundRect">
            <a:avLst>
              <a:gd name="adj" fmla="val 16667"/>
            </a:avLst>
          </a:prstGeom>
          <a:solidFill>
            <a:schemeClr val="tx2"/>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lnSpc>
                <a:spcPct val="100000"/>
              </a:lnSpc>
              <a:spcBef>
                <a:spcPts val="0"/>
              </a:spcBef>
              <a:spcAft>
                <a:spcPts val="0"/>
              </a:spcAft>
              <a:buClr>
                <a:srgbClr val="000000"/>
              </a:buClr>
              <a:buSzPts val="1400"/>
              <a:buFont typeface="Arial"/>
              <a:buNone/>
            </a:pPr>
            <a:r>
              <a:rPr lang="ja-JP" altLang="en-US" sz="1400" b="1" i="0" u="none" strike="noStrike" cap="none" dirty="0">
                <a:solidFill>
                  <a:schemeClr val="lt1"/>
                </a:solidFill>
                <a:latin typeface="Meiryo"/>
                <a:ea typeface="Meiryo"/>
                <a:cs typeface="Meiryo"/>
                <a:sym typeface="Meiryo"/>
              </a:rPr>
              <a:t>初期：</a:t>
            </a:r>
            <a:r>
              <a:rPr lang="en-US" altLang="ja-JP" sz="1400" b="1" i="0" u="none" strike="noStrike" cap="none" dirty="0">
                <a:solidFill>
                  <a:schemeClr val="lt1"/>
                </a:solidFill>
                <a:latin typeface="Meiryo"/>
                <a:ea typeface="Meiryo"/>
                <a:cs typeface="Meiryo"/>
                <a:sym typeface="Meiryo"/>
              </a:rPr>
              <a:t>1.5</a:t>
            </a:r>
            <a:r>
              <a:rPr lang="ja-JP" altLang="en-US" sz="1400" b="1" i="0" u="none" strike="noStrike" cap="none" dirty="0">
                <a:solidFill>
                  <a:schemeClr val="lt1"/>
                </a:solidFill>
                <a:latin typeface="Meiryo"/>
                <a:ea typeface="Meiryo"/>
                <a:cs typeface="Meiryo"/>
                <a:sym typeface="Meiryo"/>
              </a:rPr>
              <a:t>万円</a:t>
            </a:r>
            <a:endParaRPr sz="1400" b="1" i="0" u="none" strike="noStrike" cap="none" dirty="0">
              <a:solidFill>
                <a:schemeClr val="lt1"/>
              </a:solidFill>
              <a:latin typeface="Meiryo"/>
              <a:ea typeface="Meiryo"/>
              <a:cs typeface="Meiryo"/>
              <a:sym typeface="Meiryo"/>
            </a:endParaRPr>
          </a:p>
        </p:txBody>
      </p:sp>
      <p:sp>
        <p:nvSpPr>
          <p:cNvPr id="17" name="Google Shape;51;p19">
            <a:extLst>
              <a:ext uri="{FF2B5EF4-FFF2-40B4-BE49-F238E27FC236}">
                <a16:creationId xmlns:a16="http://schemas.microsoft.com/office/drawing/2014/main" id="{C52155A1-F32D-8503-456F-3138842AD308}"/>
              </a:ext>
            </a:extLst>
          </p:cNvPr>
          <p:cNvSpPr/>
          <p:nvPr/>
        </p:nvSpPr>
        <p:spPr>
          <a:xfrm>
            <a:off x="2137897" y="1321261"/>
            <a:ext cx="1510826" cy="485102"/>
          </a:xfrm>
          <a:prstGeom prst="roundRect">
            <a:avLst>
              <a:gd name="adj" fmla="val 16667"/>
            </a:avLst>
          </a:prstGeom>
          <a:solidFill>
            <a:schemeClr val="tx2"/>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lnSpc>
                <a:spcPct val="100000"/>
              </a:lnSpc>
              <a:spcBef>
                <a:spcPts val="0"/>
              </a:spcBef>
              <a:spcAft>
                <a:spcPts val="0"/>
              </a:spcAft>
              <a:buClr>
                <a:srgbClr val="000000"/>
              </a:buClr>
              <a:buSzPts val="1400"/>
              <a:buFont typeface="Arial"/>
              <a:buNone/>
            </a:pPr>
            <a:r>
              <a:rPr lang="ja-JP" altLang="en-US" sz="1400" b="1" i="0" u="none" strike="noStrike" cap="none" dirty="0">
                <a:solidFill>
                  <a:schemeClr val="lt1"/>
                </a:solidFill>
                <a:latin typeface="Meiryo"/>
                <a:ea typeface="Meiryo"/>
                <a:cs typeface="Meiryo"/>
                <a:sym typeface="Meiryo"/>
              </a:rPr>
              <a:t>月額</a:t>
            </a:r>
            <a:r>
              <a:rPr lang="en-US" altLang="ja-JP" sz="1400" b="1" i="0" u="none" strike="noStrike" cap="none" dirty="0">
                <a:solidFill>
                  <a:schemeClr val="lt1"/>
                </a:solidFill>
                <a:latin typeface="Meiryo"/>
                <a:ea typeface="Meiryo"/>
                <a:cs typeface="Meiryo"/>
                <a:sym typeface="Meiryo"/>
              </a:rPr>
              <a:t>3</a:t>
            </a:r>
            <a:r>
              <a:rPr lang="ja-JP" altLang="en-US" sz="1400" b="1" i="0" u="none" strike="noStrike" cap="none" dirty="0">
                <a:solidFill>
                  <a:schemeClr val="lt1"/>
                </a:solidFill>
                <a:latin typeface="Meiryo"/>
                <a:ea typeface="Meiryo"/>
                <a:cs typeface="Meiryo"/>
                <a:sym typeface="Meiryo"/>
              </a:rPr>
              <a:t>万円</a:t>
            </a:r>
            <a:endParaRPr sz="1400" b="1" i="0" u="none" strike="noStrike" cap="none" dirty="0">
              <a:solidFill>
                <a:schemeClr val="lt1"/>
              </a:solidFill>
              <a:latin typeface="Meiryo"/>
              <a:ea typeface="Meiryo"/>
              <a:cs typeface="Meiryo"/>
              <a:sym typeface="Meiryo"/>
            </a:endParaRPr>
          </a:p>
        </p:txBody>
      </p:sp>
      <p:pic>
        <p:nvPicPr>
          <p:cNvPr id="10" name="図 9">
            <a:extLst>
              <a:ext uri="{FF2B5EF4-FFF2-40B4-BE49-F238E27FC236}">
                <a16:creationId xmlns:a16="http://schemas.microsoft.com/office/drawing/2014/main" id="{3B15DB85-15F3-FF15-AB96-FDFE17717CDB}"/>
              </a:ext>
            </a:extLst>
          </p:cNvPr>
          <p:cNvPicPr>
            <a:picLocks noChangeAspect="1"/>
          </p:cNvPicPr>
          <p:nvPr/>
        </p:nvPicPr>
        <p:blipFill>
          <a:blip r:embed="rId2"/>
          <a:stretch>
            <a:fillRect/>
          </a:stretch>
        </p:blipFill>
        <p:spPr>
          <a:xfrm>
            <a:off x="1172081" y="1882008"/>
            <a:ext cx="7561838" cy="4661631"/>
          </a:xfrm>
          <a:prstGeom prst="rect">
            <a:avLst/>
          </a:prstGeom>
        </p:spPr>
      </p:pic>
    </p:spTree>
    <p:extLst>
      <p:ext uri="{BB962C8B-B14F-4D97-AF65-F5344CB8AC3E}">
        <p14:creationId xmlns:p14="http://schemas.microsoft.com/office/powerpoint/2010/main" val="427133484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E341AF-76F7-F354-A08C-287945F04D7D}"/>
            </a:ext>
          </a:extLst>
        </p:cNvPr>
        <p:cNvGrpSpPr/>
        <p:nvPr/>
      </p:nvGrpSpPr>
      <p:grpSpPr>
        <a:xfrm>
          <a:off x="0" y="0"/>
          <a:ext cx="0" cy="0"/>
          <a:chOff x="0" y="0"/>
          <a:chExt cx="0" cy="0"/>
        </a:xfrm>
      </p:grpSpPr>
      <p:sp>
        <p:nvSpPr>
          <p:cNvPr id="22" name="Google Shape;752;p28">
            <a:extLst>
              <a:ext uri="{FF2B5EF4-FFF2-40B4-BE49-F238E27FC236}">
                <a16:creationId xmlns:a16="http://schemas.microsoft.com/office/drawing/2014/main" id="{CEDF5177-0A5C-5E57-5AEC-2A3A0A3E97A1}"/>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002060"/>
                </a:solidFill>
                <a:latin typeface="Meiryo"/>
                <a:ea typeface="Meiryo"/>
                <a:cs typeface="Meiryo"/>
                <a:sym typeface="Meiryo"/>
              </a:rPr>
              <a:t>新規友だちの追加</a:t>
            </a:r>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（通知メッセージ）</a:t>
            </a:r>
          </a:p>
        </p:txBody>
      </p:sp>
      <p:grpSp>
        <p:nvGrpSpPr>
          <p:cNvPr id="3" name="グループ化 2">
            <a:extLst>
              <a:ext uri="{FF2B5EF4-FFF2-40B4-BE49-F238E27FC236}">
                <a16:creationId xmlns:a16="http://schemas.microsoft.com/office/drawing/2014/main" id="{40037302-E6AA-0829-6AB4-E8C68E0B5350}"/>
              </a:ext>
            </a:extLst>
          </p:cNvPr>
          <p:cNvGrpSpPr/>
          <p:nvPr/>
        </p:nvGrpSpPr>
        <p:grpSpPr>
          <a:xfrm>
            <a:off x="543398" y="777681"/>
            <a:ext cx="3105325" cy="485102"/>
            <a:chOff x="507969" y="928495"/>
            <a:chExt cx="3105325" cy="485102"/>
          </a:xfrm>
        </p:grpSpPr>
        <p:sp>
          <p:nvSpPr>
            <p:cNvPr id="4" name="Google Shape;51;p19">
              <a:extLst>
                <a:ext uri="{FF2B5EF4-FFF2-40B4-BE49-F238E27FC236}">
                  <a16:creationId xmlns:a16="http://schemas.microsoft.com/office/drawing/2014/main" id="{596B7C8B-2830-475F-54BD-39885C61FB2A}"/>
                </a:ext>
              </a:extLst>
            </p:cNvPr>
            <p:cNvSpPr/>
            <p:nvPr/>
          </p:nvSpPr>
          <p:spPr>
            <a:xfrm>
              <a:off x="507969" y="928495"/>
              <a:ext cx="3105325" cy="485102"/>
            </a:xfrm>
            <a:prstGeom prst="roundRect">
              <a:avLst>
                <a:gd name="adj" fmla="val 16667"/>
              </a:avLst>
            </a:prstGeom>
            <a:solidFill>
              <a:schemeClr val="dk1"/>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lnSpc>
                  <a:spcPct val="100000"/>
                </a:lnSpc>
                <a:spcBef>
                  <a:spcPts val="0"/>
                </a:spcBef>
                <a:spcAft>
                  <a:spcPts val="0"/>
                </a:spcAft>
                <a:buClr>
                  <a:srgbClr val="000000"/>
                </a:buClr>
                <a:buSzPts val="1400"/>
                <a:buFont typeface="Arial"/>
                <a:buNone/>
              </a:pPr>
              <a:endParaRPr sz="1400" b="1" i="0" u="none" strike="noStrike" cap="none" dirty="0">
                <a:solidFill>
                  <a:schemeClr val="lt1"/>
                </a:solidFill>
                <a:latin typeface="Meiryo"/>
                <a:ea typeface="Meiryo"/>
                <a:cs typeface="Meiryo"/>
                <a:sym typeface="Meiryo"/>
              </a:endParaRPr>
            </a:p>
          </p:txBody>
        </p:sp>
        <p:sp>
          <p:nvSpPr>
            <p:cNvPr id="5" name="テキスト ボックス 4">
              <a:extLst>
                <a:ext uri="{FF2B5EF4-FFF2-40B4-BE49-F238E27FC236}">
                  <a16:creationId xmlns:a16="http://schemas.microsoft.com/office/drawing/2014/main" id="{5F77E149-8797-8964-2351-34587DDB9A0B}"/>
                </a:ext>
              </a:extLst>
            </p:cNvPr>
            <p:cNvSpPr txBox="1"/>
            <p:nvPr/>
          </p:nvSpPr>
          <p:spPr>
            <a:xfrm>
              <a:off x="1140096" y="988192"/>
              <a:ext cx="1531188" cy="357790"/>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120000"/>
                </a:lnSpc>
              </a:pPr>
              <a:r>
                <a:rPr kumimoji="1" lang="ja-JP" altLang="en-US" sz="1500" b="1" dirty="0">
                  <a:solidFill>
                    <a:schemeClr val="bg1"/>
                  </a:solidFill>
                  <a:latin typeface="Meiryo" panose="020B0604030504040204" pitchFamily="34" charset="-128"/>
                  <a:ea typeface="Meiryo" panose="020B0604030504040204" pitchFamily="34" charset="-128"/>
                </a:rPr>
                <a:t>通知メッセージ</a:t>
              </a:r>
            </a:p>
          </p:txBody>
        </p:sp>
      </p:grpSp>
      <p:sp>
        <p:nvSpPr>
          <p:cNvPr id="9" name="正方形/長方形 8">
            <a:extLst>
              <a:ext uri="{FF2B5EF4-FFF2-40B4-BE49-F238E27FC236}">
                <a16:creationId xmlns:a16="http://schemas.microsoft.com/office/drawing/2014/main" id="{C076E43E-4FBE-86BD-F3B4-70DD95B2A175}"/>
              </a:ext>
            </a:extLst>
          </p:cNvPr>
          <p:cNvSpPr/>
          <p:nvPr/>
        </p:nvSpPr>
        <p:spPr>
          <a:xfrm>
            <a:off x="3806311" y="788165"/>
            <a:ext cx="5880088" cy="584775"/>
          </a:xfrm>
          <a:prstGeom prst="rect">
            <a:avLst/>
          </a:prstGeom>
        </p:spPr>
        <p:txBody>
          <a:bodyPr wrap="square">
            <a:spAutoFit/>
          </a:bodyPr>
          <a:lstStyle/>
          <a:p>
            <a:pPr lvl="0" algn="ctr">
              <a:buClr>
                <a:schemeClr val="dk1"/>
              </a:buClr>
              <a:buSzPts val="1500"/>
            </a:pPr>
            <a:r>
              <a:rPr lang="en-US" altLang="ja-JP" sz="1600" dirty="0">
                <a:latin typeface="Meiryo"/>
                <a:ea typeface="Meiryo"/>
                <a:cs typeface="Meiryo"/>
                <a:sym typeface="Meiryo"/>
              </a:rPr>
              <a:t>WEB</a:t>
            </a:r>
            <a:r>
              <a:rPr lang="ja-JP" altLang="en-US" sz="1600" dirty="0">
                <a:latin typeface="Meiryo"/>
                <a:ea typeface="Meiryo"/>
                <a:cs typeface="Meiryo"/>
                <a:sym typeface="Meiryo"/>
              </a:rPr>
              <a:t>上のアクションユーザー、貴社保有リスト をターゲット</a:t>
            </a:r>
            <a:endParaRPr lang="en-US" altLang="ja-JP" sz="1600" dirty="0">
              <a:latin typeface="Meiryo"/>
              <a:ea typeface="Meiryo"/>
              <a:cs typeface="Meiryo"/>
              <a:sym typeface="Meiryo"/>
            </a:endParaRPr>
          </a:p>
          <a:p>
            <a:pPr lvl="0" algn="ctr">
              <a:buClr>
                <a:schemeClr val="dk1"/>
              </a:buClr>
              <a:buSzPts val="1500"/>
            </a:pPr>
            <a:r>
              <a:rPr lang="ja-JP" altLang="en-US" sz="1600" dirty="0">
                <a:latin typeface="Meiryo"/>
                <a:ea typeface="Meiryo"/>
                <a:cs typeface="Meiryo"/>
                <a:sym typeface="Meiryo"/>
              </a:rPr>
              <a:t>に友だち登録、ステータス通知を行うことが出来る機能です。</a:t>
            </a:r>
          </a:p>
        </p:txBody>
      </p:sp>
      <p:sp>
        <p:nvSpPr>
          <p:cNvPr id="75" name="Google Shape;51;p19">
            <a:extLst>
              <a:ext uri="{FF2B5EF4-FFF2-40B4-BE49-F238E27FC236}">
                <a16:creationId xmlns:a16="http://schemas.microsoft.com/office/drawing/2014/main" id="{3BC521D4-BDAA-5741-5164-4E22535838BC}"/>
              </a:ext>
            </a:extLst>
          </p:cNvPr>
          <p:cNvSpPr/>
          <p:nvPr/>
        </p:nvSpPr>
        <p:spPr>
          <a:xfrm>
            <a:off x="543399" y="1321261"/>
            <a:ext cx="1510826" cy="485102"/>
          </a:xfrm>
          <a:prstGeom prst="roundRect">
            <a:avLst>
              <a:gd name="adj" fmla="val 16667"/>
            </a:avLst>
          </a:prstGeom>
          <a:solidFill>
            <a:schemeClr val="tx2"/>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lnSpc>
                <a:spcPct val="100000"/>
              </a:lnSpc>
              <a:spcBef>
                <a:spcPts val="0"/>
              </a:spcBef>
              <a:spcAft>
                <a:spcPts val="0"/>
              </a:spcAft>
              <a:buClr>
                <a:srgbClr val="000000"/>
              </a:buClr>
              <a:buSzPts val="1400"/>
              <a:buFont typeface="Arial"/>
              <a:buNone/>
            </a:pPr>
            <a:r>
              <a:rPr lang="ja-JP" altLang="en-US" sz="1400" b="1" i="0" u="none" strike="noStrike" cap="none" dirty="0">
                <a:solidFill>
                  <a:schemeClr val="lt1"/>
                </a:solidFill>
                <a:latin typeface="Meiryo"/>
                <a:ea typeface="Meiryo"/>
                <a:cs typeface="Meiryo"/>
                <a:sym typeface="Meiryo"/>
              </a:rPr>
              <a:t>初期：</a:t>
            </a:r>
            <a:r>
              <a:rPr lang="en-US" altLang="ja-JP" sz="1400" b="1" i="0" u="none" strike="noStrike" cap="none" dirty="0">
                <a:solidFill>
                  <a:schemeClr val="lt1"/>
                </a:solidFill>
                <a:latin typeface="Meiryo"/>
                <a:ea typeface="Meiryo"/>
                <a:cs typeface="Meiryo"/>
                <a:sym typeface="Meiryo"/>
              </a:rPr>
              <a:t>10</a:t>
            </a:r>
            <a:r>
              <a:rPr lang="ja-JP" altLang="en-US" sz="1400" b="1" i="0" u="none" strike="noStrike" cap="none" dirty="0">
                <a:solidFill>
                  <a:schemeClr val="lt1"/>
                </a:solidFill>
                <a:latin typeface="Meiryo"/>
                <a:ea typeface="Meiryo"/>
                <a:cs typeface="Meiryo"/>
                <a:sym typeface="Meiryo"/>
              </a:rPr>
              <a:t>万円</a:t>
            </a:r>
            <a:endParaRPr sz="1400" b="1" i="0" u="none" strike="noStrike" cap="none" dirty="0">
              <a:solidFill>
                <a:schemeClr val="lt1"/>
              </a:solidFill>
              <a:latin typeface="Meiryo"/>
              <a:ea typeface="Meiryo"/>
              <a:cs typeface="Meiryo"/>
              <a:sym typeface="Meiryo"/>
            </a:endParaRPr>
          </a:p>
        </p:txBody>
      </p:sp>
      <p:sp>
        <p:nvSpPr>
          <p:cNvPr id="77" name="Google Shape;51;p19">
            <a:extLst>
              <a:ext uri="{FF2B5EF4-FFF2-40B4-BE49-F238E27FC236}">
                <a16:creationId xmlns:a16="http://schemas.microsoft.com/office/drawing/2014/main" id="{91E7069A-2F1F-16FB-F2FD-E91D9E716C95}"/>
              </a:ext>
            </a:extLst>
          </p:cNvPr>
          <p:cNvSpPr/>
          <p:nvPr/>
        </p:nvSpPr>
        <p:spPr>
          <a:xfrm>
            <a:off x="2137897" y="1321261"/>
            <a:ext cx="1510826" cy="485102"/>
          </a:xfrm>
          <a:prstGeom prst="roundRect">
            <a:avLst>
              <a:gd name="adj" fmla="val 16667"/>
            </a:avLst>
          </a:prstGeom>
          <a:solidFill>
            <a:schemeClr val="tx2"/>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lnSpc>
                <a:spcPct val="100000"/>
              </a:lnSpc>
              <a:spcBef>
                <a:spcPts val="0"/>
              </a:spcBef>
              <a:spcAft>
                <a:spcPts val="0"/>
              </a:spcAft>
              <a:buClr>
                <a:srgbClr val="000000"/>
              </a:buClr>
              <a:buSzPts val="1400"/>
              <a:buFont typeface="Arial"/>
              <a:buNone/>
            </a:pPr>
            <a:r>
              <a:rPr lang="ja-JP" altLang="en-US" sz="1400" b="1" i="0" u="none" strike="noStrike" cap="none" dirty="0">
                <a:solidFill>
                  <a:schemeClr val="lt1"/>
                </a:solidFill>
                <a:latin typeface="Meiryo"/>
                <a:ea typeface="Meiryo"/>
                <a:cs typeface="Meiryo"/>
                <a:sym typeface="Meiryo"/>
              </a:rPr>
              <a:t>月額</a:t>
            </a:r>
            <a:r>
              <a:rPr lang="en-US" altLang="ja-JP" sz="1400" b="1" i="0" u="none" strike="noStrike" cap="none" dirty="0">
                <a:solidFill>
                  <a:schemeClr val="lt1"/>
                </a:solidFill>
                <a:latin typeface="Meiryo"/>
                <a:ea typeface="Meiryo"/>
                <a:cs typeface="Meiryo"/>
                <a:sym typeface="Meiryo"/>
              </a:rPr>
              <a:t>8</a:t>
            </a:r>
            <a:r>
              <a:rPr lang="ja-JP" altLang="en-US" sz="1400" b="1" i="0" u="none" strike="noStrike" cap="none" dirty="0">
                <a:solidFill>
                  <a:schemeClr val="lt1"/>
                </a:solidFill>
                <a:latin typeface="Meiryo"/>
                <a:ea typeface="Meiryo"/>
                <a:cs typeface="Meiryo"/>
                <a:sym typeface="Meiryo"/>
              </a:rPr>
              <a:t>万円～</a:t>
            </a:r>
            <a:endParaRPr lang="en-US" altLang="ja-JP" sz="1400" b="1" i="0" u="none" strike="noStrike" cap="none" dirty="0">
              <a:solidFill>
                <a:schemeClr val="lt1"/>
              </a:solidFill>
              <a:latin typeface="Meiryo"/>
              <a:ea typeface="Meiryo"/>
              <a:cs typeface="Meiryo"/>
              <a:sym typeface="Meiryo"/>
            </a:endParaRPr>
          </a:p>
          <a:p>
            <a:pPr marL="0" marR="0" lvl="0" indent="0" algn="ctr" rtl="0">
              <a:lnSpc>
                <a:spcPct val="100000"/>
              </a:lnSpc>
              <a:spcBef>
                <a:spcPts val="0"/>
              </a:spcBef>
              <a:spcAft>
                <a:spcPts val="0"/>
              </a:spcAft>
              <a:buClr>
                <a:srgbClr val="000000"/>
              </a:buClr>
              <a:buSzPts val="1400"/>
              <a:buFont typeface="Arial"/>
              <a:buNone/>
            </a:pPr>
            <a:r>
              <a:rPr lang="en-US" altLang="ja-JP" sz="1050" b="1" dirty="0">
                <a:solidFill>
                  <a:srgbClr val="FFFFFF"/>
                </a:solidFill>
                <a:latin typeface="Meiryo"/>
                <a:ea typeface="Meiryo"/>
                <a:cs typeface="Meiryo"/>
                <a:sym typeface="Meiryo"/>
              </a:rPr>
              <a:t>+</a:t>
            </a:r>
            <a:r>
              <a:rPr lang="ja-JP" altLang="en-US" sz="1050" b="1" dirty="0">
                <a:solidFill>
                  <a:srgbClr val="FFFFFF"/>
                </a:solidFill>
                <a:latin typeface="Meiryo"/>
                <a:ea typeface="Meiryo"/>
                <a:cs typeface="Meiryo"/>
                <a:sym typeface="Meiryo"/>
              </a:rPr>
              <a:t>通数単価：</a:t>
            </a:r>
            <a:r>
              <a:rPr lang="en-US" altLang="ja-JP" sz="1050" b="1" dirty="0">
                <a:solidFill>
                  <a:srgbClr val="FFFFFF"/>
                </a:solidFill>
                <a:latin typeface="Meiryo"/>
                <a:ea typeface="Meiryo"/>
                <a:cs typeface="Meiryo"/>
                <a:sym typeface="Meiryo"/>
              </a:rPr>
              <a:t>7</a:t>
            </a:r>
            <a:r>
              <a:rPr lang="ja-JP" altLang="en-US" sz="1050" b="1" dirty="0">
                <a:solidFill>
                  <a:srgbClr val="FFFFFF"/>
                </a:solidFill>
                <a:latin typeface="Meiryo"/>
                <a:ea typeface="Meiryo"/>
                <a:cs typeface="Meiryo"/>
                <a:sym typeface="Meiryo"/>
              </a:rPr>
              <a:t>円</a:t>
            </a:r>
            <a:endParaRPr sz="1050" b="1" i="0" u="none" strike="noStrike" cap="none" dirty="0">
              <a:solidFill>
                <a:srgbClr val="FFFFFF"/>
              </a:solidFill>
              <a:latin typeface="Meiryo"/>
              <a:ea typeface="Meiryo"/>
              <a:cs typeface="Meiryo"/>
              <a:sym typeface="Meiryo"/>
            </a:endParaRPr>
          </a:p>
        </p:txBody>
      </p:sp>
      <p:sp>
        <p:nvSpPr>
          <p:cNvPr id="79" name="正方形/長方形 78">
            <a:extLst>
              <a:ext uri="{FF2B5EF4-FFF2-40B4-BE49-F238E27FC236}">
                <a16:creationId xmlns:a16="http://schemas.microsoft.com/office/drawing/2014/main" id="{B31CA3DA-9F8B-560D-3F3E-1B37667D3043}"/>
              </a:ext>
            </a:extLst>
          </p:cNvPr>
          <p:cNvSpPr/>
          <p:nvPr/>
        </p:nvSpPr>
        <p:spPr>
          <a:xfrm>
            <a:off x="5769326" y="1938056"/>
            <a:ext cx="3788228" cy="244151"/>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100" b="1" dirty="0">
                <a:solidFill>
                  <a:schemeClr val="bg1"/>
                </a:solidFill>
                <a:latin typeface="メイリオ" panose="020B0604030504040204" pitchFamily="50" charset="-128"/>
                <a:ea typeface="メイリオ" panose="020B0604030504040204" pitchFamily="50" charset="-128"/>
              </a:rPr>
              <a:t>動作イメージ</a:t>
            </a:r>
            <a:endParaRPr kumimoji="1" lang="ja-JP" altLang="en-US" sz="1100" b="1" dirty="0">
              <a:solidFill>
                <a:schemeClr val="bg1"/>
              </a:solidFill>
              <a:latin typeface="メイリオ" panose="020B0604030504040204" pitchFamily="50" charset="-128"/>
              <a:ea typeface="メイリオ" panose="020B0604030504040204" pitchFamily="50" charset="-128"/>
            </a:endParaRPr>
          </a:p>
        </p:txBody>
      </p:sp>
      <p:pic>
        <p:nvPicPr>
          <p:cNvPr id="82" name="図 81">
            <a:extLst>
              <a:ext uri="{FF2B5EF4-FFF2-40B4-BE49-F238E27FC236}">
                <a16:creationId xmlns:a16="http://schemas.microsoft.com/office/drawing/2014/main" id="{8B5BACB1-E619-75E8-84E9-0C790B13F4E4}"/>
              </a:ext>
            </a:extLst>
          </p:cNvPr>
          <p:cNvPicPr>
            <a:picLocks noChangeAspect="1"/>
          </p:cNvPicPr>
          <p:nvPr/>
        </p:nvPicPr>
        <p:blipFill>
          <a:blip r:embed="rId2"/>
          <a:stretch>
            <a:fillRect/>
          </a:stretch>
        </p:blipFill>
        <p:spPr>
          <a:xfrm>
            <a:off x="532512" y="4787607"/>
            <a:ext cx="3533302" cy="1714690"/>
          </a:xfrm>
          <a:prstGeom prst="rect">
            <a:avLst/>
          </a:prstGeom>
        </p:spPr>
      </p:pic>
      <p:pic>
        <p:nvPicPr>
          <p:cNvPr id="84" name="図 83">
            <a:extLst>
              <a:ext uri="{FF2B5EF4-FFF2-40B4-BE49-F238E27FC236}">
                <a16:creationId xmlns:a16="http://schemas.microsoft.com/office/drawing/2014/main" id="{A2B50304-2B09-7BB6-6FD5-2122ADB3185D}"/>
              </a:ext>
            </a:extLst>
          </p:cNvPr>
          <p:cNvPicPr>
            <a:picLocks noChangeAspect="1"/>
          </p:cNvPicPr>
          <p:nvPr/>
        </p:nvPicPr>
        <p:blipFill>
          <a:blip r:embed="rId3"/>
          <a:stretch>
            <a:fillRect/>
          </a:stretch>
        </p:blipFill>
        <p:spPr>
          <a:xfrm>
            <a:off x="4065814" y="4801141"/>
            <a:ext cx="1586275" cy="1701156"/>
          </a:xfrm>
          <a:prstGeom prst="rect">
            <a:avLst/>
          </a:prstGeom>
        </p:spPr>
      </p:pic>
      <p:pic>
        <p:nvPicPr>
          <p:cNvPr id="86" name="図 85">
            <a:extLst>
              <a:ext uri="{FF2B5EF4-FFF2-40B4-BE49-F238E27FC236}">
                <a16:creationId xmlns:a16="http://schemas.microsoft.com/office/drawing/2014/main" id="{FBAEE1FF-4E25-D523-E0EA-6A3361C12E5A}"/>
              </a:ext>
            </a:extLst>
          </p:cNvPr>
          <p:cNvPicPr>
            <a:picLocks noChangeAspect="1"/>
          </p:cNvPicPr>
          <p:nvPr/>
        </p:nvPicPr>
        <p:blipFill>
          <a:blip r:embed="rId4"/>
          <a:stretch>
            <a:fillRect/>
          </a:stretch>
        </p:blipFill>
        <p:spPr>
          <a:xfrm>
            <a:off x="5988432" y="2468072"/>
            <a:ext cx="3362361" cy="1977297"/>
          </a:xfrm>
          <a:prstGeom prst="rect">
            <a:avLst/>
          </a:prstGeom>
        </p:spPr>
      </p:pic>
      <p:pic>
        <p:nvPicPr>
          <p:cNvPr id="88" name="図 87">
            <a:extLst>
              <a:ext uri="{FF2B5EF4-FFF2-40B4-BE49-F238E27FC236}">
                <a16:creationId xmlns:a16="http://schemas.microsoft.com/office/drawing/2014/main" id="{3517C81E-3BB9-067B-DB2E-F6109D78F069}"/>
              </a:ext>
            </a:extLst>
          </p:cNvPr>
          <p:cNvPicPr>
            <a:picLocks noChangeAspect="1"/>
          </p:cNvPicPr>
          <p:nvPr/>
        </p:nvPicPr>
        <p:blipFill>
          <a:blip r:embed="rId5"/>
          <a:stretch>
            <a:fillRect/>
          </a:stretch>
        </p:blipFill>
        <p:spPr>
          <a:xfrm>
            <a:off x="5927443" y="4787607"/>
            <a:ext cx="3471994" cy="1626185"/>
          </a:xfrm>
          <a:prstGeom prst="rect">
            <a:avLst/>
          </a:prstGeom>
        </p:spPr>
      </p:pic>
      <p:sp>
        <p:nvSpPr>
          <p:cNvPr id="90" name="正方形/長方形 89">
            <a:extLst>
              <a:ext uri="{FF2B5EF4-FFF2-40B4-BE49-F238E27FC236}">
                <a16:creationId xmlns:a16="http://schemas.microsoft.com/office/drawing/2014/main" id="{DAE064A8-FF19-CBAF-1BB4-15234EAFE4C3}"/>
              </a:ext>
            </a:extLst>
          </p:cNvPr>
          <p:cNvSpPr/>
          <p:nvPr/>
        </p:nvSpPr>
        <p:spPr>
          <a:xfrm>
            <a:off x="5941518" y="2223921"/>
            <a:ext cx="3443844" cy="244151"/>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100" dirty="0">
                <a:solidFill>
                  <a:schemeClr val="tx1"/>
                </a:solidFill>
                <a:latin typeface="メイリオ" panose="020B0604030504040204" pitchFamily="50" charset="-128"/>
                <a:ea typeface="メイリオ" panose="020B0604030504040204" pitchFamily="50" charset="-128"/>
              </a:rPr>
              <a:t>佐川急便</a:t>
            </a:r>
            <a:endParaRPr kumimoji="1" lang="ja-JP" altLang="en-US" sz="1100" dirty="0">
              <a:solidFill>
                <a:schemeClr val="tx1"/>
              </a:solidFill>
              <a:latin typeface="メイリオ" panose="020B0604030504040204" pitchFamily="50" charset="-128"/>
              <a:ea typeface="メイリオ" panose="020B0604030504040204" pitchFamily="50" charset="-128"/>
            </a:endParaRPr>
          </a:p>
        </p:txBody>
      </p:sp>
      <p:sp>
        <p:nvSpPr>
          <p:cNvPr id="92" name="正方形/長方形 91">
            <a:extLst>
              <a:ext uri="{FF2B5EF4-FFF2-40B4-BE49-F238E27FC236}">
                <a16:creationId xmlns:a16="http://schemas.microsoft.com/office/drawing/2014/main" id="{D4794AD6-6F68-15DB-7568-78E492020B13}"/>
              </a:ext>
            </a:extLst>
          </p:cNvPr>
          <p:cNvSpPr/>
          <p:nvPr/>
        </p:nvSpPr>
        <p:spPr>
          <a:xfrm>
            <a:off x="5941518" y="4499415"/>
            <a:ext cx="3443844" cy="244151"/>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100" dirty="0">
                <a:solidFill>
                  <a:schemeClr val="tx1"/>
                </a:solidFill>
                <a:latin typeface="メイリオ" panose="020B0604030504040204" pitchFamily="50" charset="-128"/>
                <a:ea typeface="メイリオ" panose="020B0604030504040204" pitchFamily="50" charset="-128"/>
              </a:rPr>
              <a:t>やまや（</a:t>
            </a:r>
            <a:r>
              <a:rPr kumimoji="1" lang="en-US" altLang="ja-JP" sz="1100" dirty="0">
                <a:solidFill>
                  <a:schemeClr val="tx1"/>
                </a:solidFill>
                <a:latin typeface="メイリオ" panose="020B0604030504040204" pitchFamily="50" charset="-128"/>
                <a:ea typeface="メイリオ" panose="020B0604030504040204" pitchFamily="50" charset="-128"/>
              </a:rPr>
              <a:t>EC</a:t>
            </a:r>
            <a:r>
              <a:rPr kumimoji="1" lang="ja-JP" altLang="en-US" sz="1100" dirty="0">
                <a:solidFill>
                  <a:schemeClr val="tx1"/>
                </a:solidFill>
                <a:latin typeface="メイリオ" panose="020B0604030504040204" pitchFamily="50" charset="-128"/>
                <a:ea typeface="メイリオ" panose="020B0604030504040204" pitchFamily="50" charset="-128"/>
              </a:rPr>
              <a:t>）</a:t>
            </a:r>
          </a:p>
        </p:txBody>
      </p:sp>
      <p:sp>
        <p:nvSpPr>
          <p:cNvPr id="94" name="テキスト ボックス 93">
            <a:extLst>
              <a:ext uri="{FF2B5EF4-FFF2-40B4-BE49-F238E27FC236}">
                <a16:creationId xmlns:a16="http://schemas.microsoft.com/office/drawing/2014/main" id="{89F8E75C-F7C6-511B-BA1F-6EB60A9DEADA}"/>
              </a:ext>
            </a:extLst>
          </p:cNvPr>
          <p:cNvSpPr txBox="1"/>
          <p:nvPr/>
        </p:nvSpPr>
        <p:spPr>
          <a:xfrm>
            <a:off x="3904548" y="1368741"/>
            <a:ext cx="4962524" cy="230832"/>
          </a:xfrm>
          <a:prstGeom prst="rect">
            <a:avLst/>
          </a:prstGeom>
          <a:noFill/>
        </p:spPr>
        <p:txBody>
          <a:bodyPr wrap="square">
            <a:spAutoFit/>
          </a:bodyPr>
          <a:lstStyle/>
          <a:p>
            <a:r>
              <a:rPr lang="en-US" altLang="ja-JP" sz="900" dirty="0">
                <a:solidFill>
                  <a:srgbClr val="FF0000"/>
                </a:solidFill>
                <a:latin typeface="メイリオ" panose="020B0604030504040204" pitchFamily="50" charset="-128"/>
                <a:ea typeface="メイリオ" panose="020B0604030504040204" pitchFamily="50" charset="-128"/>
              </a:rPr>
              <a:t>Sales Partner</a:t>
            </a:r>
            <a:r>
              <a:rPr lang="ja-JP" altLang="en-US" sz="900" dirty="0">
                <a:solidFill>
                  <a:srgbClr val="FF0000"/>
                </a:solidFill>
                <a:latin typeface="メイリオ" panose="020B0604030504040204" pitchFamily="50" charset="-128"/>
                <a:ea typeface="メイリオ" panose="020B0604030504040204" pitchFamily="50" charset="-128"/>
              </a:rPr>
              <a:t>、</a:t>
            </a:r>
            <a:r>
              <a:rPr lang="en-US" altLang="ja-JP" sz="900" dirty="0">
                <a:solidFill>
                  <a:srgbClr val="FF0000"/>
                </a:solidFill>
                <a:latin typeface="メイリオ" panose="020B0604030504040204" pitchFamily="50" charset="-128"/>
                <a:ea typeface="メイリオ" panose="020B0604030504040204" pitchFamily="50" charset="-128"/>
              </a:rPr>
              <a:t>Tech Partner</a:t>
            </a:r>
            <a:r>
              <a:rPr lang="ja-JP" altLang="en-US" sz="900" dirty="0">
                <a:solidFill>
                  <a:srgbClr val="FF0000"/>
                </a:solidFill>
                <a:latin typeface="メイリオ" panose="020B0604030504040204" pitchFamily="50" charset="-128"/>
                <a:ea typeface="メイリオ" panose="020B0604030504040204" pitchFamily="50" charset="-128"/>
              </a:rPr>
              <a:t>限定公開の</a:t>
            </a:r>
            <a:r>
              <a:rPr lang="en-US" altLang="ja-JP" sz="900" dirty="0">
                <a:solidFill>
                  <a:srgbClr val="FF0000"/>
                </a:solidFill>
                <a:latin typeface="メイリオ" panose="020B0604030504040204" pitchFamily="50" charset="-128"/>
                <a:ea typeface="メイリオ" panose="020B0604030504040204" pitchFamily="50" charset="-128"/>
              </a:rPr>
              <a:t>API</a:t>
            </a:r>
            <a:r>
              <a:rPr lang="ja-JP" altLang="en-US" sz="900" dirty="0">
                <a:solidFill>
                  <a:srgbClr val="FF0000"/>
                </a:solidFill>
                <a:latin typeface="メイリオ" panose="020B0604030504040204" pitchFamily="50" charset="-128"/>
                <a:ea typeface="メイリオ" panose="020B0604030504040204" pitchFamily="50" charset="-128"/>
              </a:rPr>
              <a:t>を使用した機能です。</a:t>
            </a:r>
          </a:p>
        </p:txBody>
      </p:sp>
      <p:sp>
        <p:nvSpPr>
          <p:cNvPr id="96" name="正方形/長方形 95">
            <a:extLst>
              <a:ext uri="{FF2B5EF4-FFF2-40B4-BE49-F238E27FC236}">
                <a16:creationId xmlns:a16="http://schemas.microsoft.com/office/drawing/2014/main" id="{6569B015-2B51-9A35-9379-E64729B15375}"/>
              </a:ext>
            </a:extLst>
          </p:cNvPr>
          <p:cNvSpPr/>
          <p:nvPr/>
        </p:nvSpPr>
        <p:spPr>
          <a:xfrm>
            <a:off x="543398" y="1938056"/>
            <a:ext cx="4981102" cy="244151"/>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100" b="1" dirty="0">
                <a:solidFill>
                  <a:schemeClr val="tx1">
                    <a:lumMod val="50000"/>
                    <a:lumOff val="50000"/>
                  </a:schemeClr>
                </a:solidFill>
                <a:latin typeface="メイリオ" panose="020B0604030504040204" pitchFamily="50" charset="-128"/>
                <a:ea typeface="メイリオ" panose="020B0604030504040204" pitchFamily="50" charset="-128"/>
              </a:rPr>
              <a:t>利用可能シーン</a:t>
            </a:r>
          </a:p>
        </p:txBody>
      </p:sp>
      <p:pic>
        <p:nvPicPr>
          <p:cNvPr id="7" name="図 6">
            <a:extLst>
              <a:ext uri="{FF2B5EF4-FFF2-40B4-BE49-F238E27FC236}">
                <a16:creationId xmlns:a16="http://schemas.microsoft.com/office/drawing/2014/main" id="{00862346-A302-637E-2976-3985B23ED00C}"/>
              </a:ext>
            </a:extLst>
          </p:cNvPr>
          <p:cNvPicPr>
            <a:picLocks noChangeAspect="1"/>
          </p:cNvPicPr>
          <p:nvPr/>
        </p:nvPicPr>
        <p:blipFill>
          <a:blip r:embed="rId6"/>
          <a:stretch>
            <a:fillRect/>
          </a:stretch>
        </p:blipFill>
        <p:spPr>
          <a:xfrm>
            <a:off x="381811" y="2197911"/>
            <a:ext cx="5286856" cy="2497015"/>
          </a:xfrm>
          <a:prstGeom prst="rect">
            <a:avLst/>
          </a:prstGeom>
        </p:spPr>
      </p:pic>
      <p:sp>
        <p:nvSpPr>
          <p:cNvPr id="10" name="テキスト ボックス 9">
            <a:extLst>
              <a:ext uri="{FF2B5EF4-FFF2-40B4-BE49-F238E27FC236}">
                <a16:creationId xmlns:a16="http://schemas.microsoft.com/office/drawing/2014/main" id="{63354FD4-3595-E9AA-7603-C702E42E9BD1}"/>
              </a:ext>
            </a:extLst>
          </p:cNvPr>
          <p:cNvSpPr txBox="1"/>
          <p:nvPr/>
        </p:nvSpPr>
        <p:spPr>
          <a:xfrm>
            <a:off x="3904548" y="1558412"/>
            <a:ext cx="4962524" cy="230832"/>
          </a:xfrm>
          <a:prstGeom prst="rect">
            <a:avLst/>
          </a:prstGeom>
          <a:noFill/>
        </p:spPr>
        <p:txBody>
          <a:bodyPr wrap="square">
            <a:spAutoFit/>
          </a:bodyPr>
          <a:lstStyle/>
          <a:p>
            <a:r>
              <a:rPr lang="ja-JP" altLang="en-US" sz="900" dirty="0">
                <a:solidFill>
                  <a:srgbClr val="FF0000"/>
                </a:solidFill>
                <a:latin typeface="メイリオ" panose="020B0604030504040204" pitchFamily="50" charset="-128"/>
                <a:ea typeface="メイリオ" panose="020B0604030504040204" pitchFamily="50" charset="-128"/>
              </a:rPr>
              <a:t>料金プランにより通数単価、利用可能機能が異なります。</a:t>
            </a:r>
          </a:p>
        </p:txBody>
      </p:sp>
    </p:spTree>
    <p:extLst>
      <p:ext uri="{BB962C8B-B14F-4D97-AF65-F5344CB8AC3E}">
        <p14:creationId xmlns:p14="http://schemas.microsoft.com/office/powerpoint/2010/main" val="3731031205"/>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0EB58E-2E23-6D6E-492D-03C38E7A1D6F}"/>
            </a:ext>
          </a:extLst>
        </p:cNvPr>
        <p:cNvGrpSpPr/>
        <p:nvPr/>
      </p:nvGrpSpPr>
      <p:grpSpPr>
        <a:xfrm>
          <a:off x="0" y="0"/>
          <a:ext cx="0" cy="0"/>
          <a:chOff x="0" y="0"/>
          <a:chExt cx="0" cy="0"/>
        </a:xfrm>
      </p:grpSpPr>
      <p:sp>
        <p:nvSpPr>
          <p:cNvPr id="22" name="Google Shape;752;p28">
            <a:extLst>
              <a:ext uri="{FF2B5EF4-FFF2-40B4-BE49-F238E27FC236}">
                <a16:creationId xmlns:a16="http://schemas.microsoft.com/office/drawing/2014/main" id="{B579369E-F53C-FDC8-7374-AB2F5B31CD4F}"/>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002060"/>
                </a:solidFill>
                <a:latin typeface="Meiryo"/>
                <a:ea typeface="Meiryo"/>
                <a:cs typeface="Meiryo"/>
                <a:sym typeface="Meiryo"/>
              </a:rPr>
              <a:t>新規友だちの追加</a:t>
            </a:r>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（通知メッセージ）</a:t>
            </a:r>
          </a:p>
        </p:txBody>
      </p:sp>
      <p:grpSp>
        <p:nvGrpSpPr>
          <p:cNvPr id="3" name="グループ化 2">
            <a:extLst>
              <a:ext uri="{FF2B5EF4-FFF2-40B4-BE49-F238E27FC236}">
                <a16:creationId xmlns:a16="http://schemas.microsoft.com/office/drawing/2014/main" id="{16CDA247-29F1-37E2-FCEA-D79F4493519C}"/>
              </a:ext>
            </a:extLst>
          </p:cNvPr>
          <p:cNvGrpSpPr/>
          <p:nvPr/>
        </p:nvGrpSpPr>
        <p:grpSpPr>
          <a:xfrm>
            <a:off x="543398" y="777681"/>
            <a:ext cx="3105325" cy="485102"/>
            <a:chOff x="507969" y="928495"/>
            <a:chExt cx="3105325" cy="485102"/>
          </a:xfrm>
        </p:grpSpPr>
        <p:sp>
          <p:nvSpPr>
            <p:cNvPr id="4" name="Google Shape;51;p19">
              <a:extLst>
                <a:ext uri="{FF2B5EF4-FFF2-40B4-BE49-F238E27FC236}">
                  <a16:creationId xmlns:a16="http://schemas.microsoft.com/office/drawing/2014/main" id="{BB8D843F-BDAA-6DE1-DFCE-2A6A73C04E2B}"/>
                </a:ext>
              </a:extLst>
            </p:cNvPr>
            <p:cNvSpPr/>
            <p:nvPr/>
          </p:nvSpPr>
          <p:spPr>
            <a:xfrm>
              <a:off x="507969" y="928495"/>
              <a:ext cx="3105325" cy="485102"/>
            </a:xfrm>
            <a:prstGeom prst="roundRect">
              <a:avLst>
                <a:gd name="adj" fmla="val 16667"/>
              </a:avLst>
            </a:prstGeom>
            <a:solidFill>
              <a:schemeClr val="dk1"/>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lnSpc>
                  <a:spcPct val="100000"/>
                </a:lnSpc>
                <a:spcBef>
                  <a:spcPts val="0"/>
                </a:spcBef>
                <a:spcAft>
                  <a:spcPts val="0"/>
                </a:spcAft>
                <a:buClr>
                  <a:srgbClr val="000000"/>
                </a:buClr>
                <a:buSzPts val="1400"/>
                <a:buFont typeface="Arial"/>
                <a:buNone/>
              </a:pPr>
              <a:endParaRPr sz="1400" b="1" i="0" u="none" strike="noStrike" cap="none" dirty="0">
                <a:solidFill>
                  <a:schemeClr val="lt1"/>
                </a:solidFill>
                <a:latin typeface="Meiryo"/>
                <a:ea typeface="Meiryo"/>
                <a:cs typeface="Meiryo"/>
                <a:sym typeface="Meiryo"/>
              </a:endParaRPr>
            </a:p>
          </p:txBody>
        </p:sp>
        <p:sp>
          <p:nvSpPr>
            <p:cNvPr id="5" name="テキスト ボックス 4">
              <a:extLst>
                <a:ext uri="{FF2B5EF4-FFF2-40B4-BE49-F238E27FC236}">
                  <a16:creationId xmlns:a16="http://schemas.microsoft.com/office/drawing/2014/main" id="{D91D75E4-A706-8EF4-1ECC-1D62C09F934E}"/>
                </a:ext>
              </a:extLst>
            </p:cNvPr>
            <p:cNvSpPr txBox="1"/>
            <p:nvPr/>
          </p:nvSpPr>
          <p:spPr>
            <a:xfrm>
              <a:off x="1140096" y="988192"/>
              <a:ext cx="1531188" cy="357790"/>
            </a:xfrm>
            <a:prstGeom prst="rect">
              <a:avLst/>
            </a:prstGeom>
            <a:noFill/>
          </p:spPr>
          <p:txBody>
            <a:bodyPr wrap="non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120000"/>
                </a:lnSpc>
              </a:pPr>
              <a:r>
                <a:rPr kumimoji="1" lang="ja-JP" altLang="en-US" sz="1500" b="1" dirty="0">
                  <a:solidFill>
                    <a:schemeClr val="bg1"/>
                  </a:solidFill>
                  <a:latin typeface="Meiryo" panose="020B0604030504040204" pitchFamily="34" charset="-128"/>
                  <a:ea typeface="Meiryo" panose="020B0604030504040204" pitchFamily="34" charset="-128"/>
                </a:rPr>
                <a:t>通知メッセージ</a:t>
              </a:r>
            </a:p>
          </p:txBody>
        </p:sp>
      </p:grpSp>
      <p:sp>
        <p:nvSpPr>
          <p:cNvPr id="9" name="正方形/長方形 8">
            <a:extLst>
              <a:ext uri="{FF2B5EF4-FFF2-40B4-BE49-F238E27FC236}">
                <a16:creationId xmlns:a16="http://schemas.microsoft.com/office/drawing/2014/main" id="{F191580C-EA72-3903-0A46-57D229D50274}"/>
              </a:ext>
            </a:extLst>
          </p:cNvPr>
          <p:cNvSpPr/>
          <p:nvPr/>
        </p:nvSpPr>
        <p:spPr>
          <a:xfrm>
            <a:off x="3806311" y="788165"/>
            <a:ext cx="5880088" cy="584775"/>
          </a:xfrm>
          <a:prstGeom prst="rect">
            <a:avLst/>
          </a:prstGeom>
        </p:spPr>
        <p:txBody>
          <a:bodyPr wrap="square">
            <a:spAutoFit/>
          </a:bodyPr>
          <a:lstStyle/>
          <a:p>
            <a:pPr lvl="0" algn="ctr">
              <a:buClr>
                <a:schemeClr val="dk1"/>
              </a:buClr>
              <a:buSzPts val="1500"/>
            </a:pPr>
            <a:r>
              <a:rPr lang="en-US" altLang="ja-JP" sz="1600" dirty="0">
                <a:latin typeface="Meiryo"/>
                <a:ea typeface="Meiryo"/>
                <a:cs typeface="Meiryo"/>
                <a:sym typeface="Meiryo"/>
              </a:rPr>
              <a:t>WEB</a:t>
            </a:r>
            <a:r>
              <a:rPr lang="ja-JP" altLang="en-US" sz="1600" dirty="0">
                <a:latin typeface="Meiryo"/>
                <a:ea typeface="Meiryo"/>
                <a:cs typeface="Meiryo"/>
                <a:sym typeface="Meiryo"/>
              </a:rPr>
              <a:t>上のアクションユーザー、貴社保有リスト をターゲット</a:t>
            </a:r>
            <a:endParaRPr lang="en-US" altLang="ja-JP" sz="1600" dirty="0">
              <a:latin typeface="Meiryo"/>
              <a:ea typeface="Meiryo"/>
              <a:cs typeface="Meiryo"/>
              <a:sym typeface="Meiryo"/>
            </a:endParaRPr>
          </a:p>
          <a:p>
            <a:pPr lvl="0" algn="ctr">
              <a:buClr>
                <a:schemeClr val="dk1"/>
              </a:buClr>
              <a:buSzPts val="1500"/>
            </a:pPr>
            <a:r>
              <a:rPr lang="ja-JP" altLang="en-US" sz="1600" dirty="0">
                <a:latin typeface="Meiryo"/>
                <a:ea typeface="Meiryo"/>
                <a:cs typeface="Meiryo"/>
                <a:sym typeface="Meiryo"/>
              </a:rPr>
              <a:t>に友だち登録、ステータス通知を行うことが出来る機能です。</a:t>
            </a:r>
          </a:p>
        </p:txBody>
      </p:sp>
      <p:sp>
        <p:nvSpPr>
          <p:cNvPr id="75" name="Google Shape;51;p19">
            <a:extLst>
              <a:ext uri="{FF2B5EF4-FFF2-40B4-BE49-F238E27FC236}">
                <a16:creationId xmlns:a16="http://schemas.microsoft.com/office/drawing/2014/main" id="{5B83E274-8AAB-1C88-48EF-6D543C0091D3}"/>
              </a:ext>
            </a:extLst>
          </p:cNvPr>
          <p:cNvSpPr/>
          <p:nvPr/>
        </p:nvSpPr>
        <p:spPr>
          <a:xfrm>
            <a:off x="543399" y="1321261"/>
            <a:ext cx="1510826" cy="485102"/>
          </a:xfrm>
          <a:prstGeom prst="roundRect">
            <a:avLst>
              <a:gd name="adj" fmla="val 16667"/>
            </a:avLst>
          </a:prstGeom>
          <a:solidFill>
            <a:schemeClr val="tx2"/>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lnSpc>
                <a:spcPct val="100000"/>
              </a:lnSpc>
              <a:spcBef>
                <a:spcPts val="0"/>
              </a:spcBef>
              <a:spcAft>
                <a:spcPts val="0"/>
              </a:spcAft>
              <a:buClr>
                <a:srgbClr val="000000"/>
              </a:buClr>
              <a:buSzPts val="1400"/>
              <a:buFont typeface="Arial"/>
              <a:buNone/>
            </a:pPr>
            <a:r>
              <a:rPr lang="ja-JP" altLang="en-US" sz="1400" b="1" i="0" u="none" strike="noStrike" cap="none" dirty="0">
                <a:solidFill>
                  <a:schemeClr val="lt1"/>
                </a:solidFill>
                <a:latin typeface="Meiryo"/>
                <a:ea typeface="Meiryo"/>
                <a:cs typeface="Meiryo"/>
                <a:sym typeface="Meiryo"/>
              </a:rPr>
              <a:t>初期：</a:t>
            </a:r>
            <a:r>
              <a:rPr lang="en-US" altLang="ja-JP" sz="1400" b="1" i="0" u="none" strike="noStrike" cap="none" dirty="0">
                <a:solidFill>
                  <a:schemeClr val="lt1"/>
                </a:solidFill>
                <a:latin typeface="Meiryo"/>
                <a:ea typeface="Meiryo"/>
                <a:cs typeface="Meiryo"/>
                <a:sym typeface="Meiryo"/>
              </a:rPr>
              <a:t>10</a:t>
            </a:r>
            <a:r>
              <a:rPr lang="ja-JP" altLang="en-US" sz="1400" b="1" i="0" u="none" strike="noStrike" cap="none" dirty="0">
                <a:solidFill>
                  <a:schemeClr val="lt1"/>
                </a:solidFill>
                <a:latin typeface="Meiryo"/>
                <a:ea typeface="Meiryo"/>
                <a:cs typeface="Meiryo"/>
                <a:sym typeface="Meiryo"/>
              </a:rPr>
              <a:t>万円</a:t>
            </a:r>
            <a:endParaRPr sz="1400" b="1" i="0" u="none" strike="noStrike" cap="none" dirty="0">
              <a:solidFill>
                <a:schemeClr val="lt1"/>
              </a:solidFill>
              <a:latin typeface="Meiryo"/>
              <a:ea typeface="Meiryo"/>
              <a:cs typeface="Meiryo"/>
              <a:sym typeface="Meiryo"/>
            </a:endParaRPr>
          </a:p>
        </p:txBody>
      </p:sp>
      <p:sp>
        <p:nvSpPr>
          <p:cNvPr id="77" name="Google Shape;51;p19">
            <a:extLst>
              <a:ext uri="{FF2B5EF4-FFF2-40B4-BE49-F238E27FC236}">
                <a16:creationId xmlns:a16="http://schemas.microsoft.com/office/drawing/2014/main" id="{1ACE7ABA-DEAD-27A6-7DA0-D29E467F0A0D}"/>
              </a:ext>
            </a:extLst>
          </p:cNvPr>
          <p:cNvSpPr/>
          <p:nvPr/>
        </p:nvSpPr>
        <p:spPr>
          <a:xfrm>
            <a:off x="2137897" y="1321261"/>
            <a:ext cx="1510826" cy="485102"/>
          </a:xfrm>
          <a:prstGeom prst="roundRect">
            <a:avLst>
              <a:gd name="adj" fmla="val 16667"/>
            </a:avLst>
          </a:prstGeom>
          <a:solidFill>
            <a:schemeClr val="tx2"/>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lnSpc>
                <a:spcPct val="100000"/>
              </a:lnSpc>
              <a:spcBef>
                <a:spcPts val="0"/>
              </a:spcBef>
              <a:spcAft>
                <a:spcPts val="0"/>
              </a:spcAft>
              <a:buClr>
                <a:srgbClr val="000000"/>
              </a:buClr>
              <a:buSzPts val="1400"/>
              <a:buFont typeface="Arial"/>
              <a:buNone/>
            </a:pPr>
            <a:r>
              <a:rPr lang="ja-JP" altLang="en-US" sz="1400" b="1" i="0" u="none" strike="noStrike" cap="none" dirty="0">
                <a:solidFill>
                  <a:schemeClr val="lt1"/>
                </a:solidFill>
                <a:latin typeface="Meiryo"/>
                <a:ea typeface="Meiryo"/>
                <a:cs typeface="Meiryo"/>
                <a:sym typeface="Meiryo"/>
              </a:rPr>
              <a:t>月額</a:t>
            </a:r>
            <a:r>
              <a:rPr lang="en-US" altLang="ja-JP" sz="1400" b="1" i="0" u="none" strike="noStrike" cap="none" dirty="0">
                <a:solidFill>
                  <a:schemeClr val="lt1"/>
                </a:solidFill>
                <a:latin typeface="Meiryo"/>
                <a:ea typeface="Meiryo"/>
                <a:cs typeface="Meiryo"/>
                <a:sym typeface="Meiryo"/>
              </a:rPr>
              <a:t>8</a:t>
            </a:r>
            <a:r>
              <a:rPr lang="ja-JP" altLang="en-US" sz="1400" b="1" i="0" u="none" strike="noStrike" cap="none" dirty="0">
                <a:solidFill>
                  <a:schemeClr val="lt1"/>
                </a:solidFill>
                <a:latin typeface="Meiryo"/>
                <a:ea typeface="Meiryo"/>
                <a:cs typeface="Meiryo"/>
                <a:sym typeface="Meiryo"/>
              </a:rPr>
              <a:t>万円～</a:t>
            </a:r>
            <a:endParaRPr lang="en-US" altLang="ja-JP" sz="1400" b="1" i="0" u="none" strike="noStrike" cap="none" dirty="0">
              <a:solidFill>
                <a:schemeClr val="lt1"/>
              </a:solidFill>
              <a:latin typeface="Meiryo"/>
              <a:ea typeface="Meiryo"/>
              <a:cs typeface="Meiryo"/>
              <a:sym typeface="Meiryo"/>
            </a:endParaRPr>
          </a:p>
          <a:p>
            <a:pPr marL="0" marR="0" lvl="0" indent="0" algn="ctr" rtl="0">
              <a:lnSpc>
                <a:spcPct val="100000"/>
              </a:lnSpc>
              <a:spcBef>
                <a:spcPts val="0"/>
              </a:spcBef>
              <a:spcAft>
                <a:spcPts val="0"/>
              </a:spcAft>
              <a:buClr>
                <a:srgbClr val="000000"/>
              </a:buClr>
              <a:buSzPts val="1400"/>
              <a:buFont typeface="Arial"/>
              <a:buNone/>
            </a:pPr>
            <a:r>
              <a:rPr lang="en-US" altLang="ja-JP" sz="1050" b="1" dirty="0">
                <a:solidFill>
                  <a:srgbClr val="FFFFFF"/>
                </a:solidFill>
                <a:latin typeface="Meiryo"/>
                <a:ea typeface="Meiryo"/>
                <a:cs typeface="Meiryo"/>
                <a:sym typeface="Meiryo"/>
              </a:rPr>
              <a:t>+</a:t>
            </a:r>
            <a:r>
              <a:rPr lang="ja-JP" altLang="en-US" sz="1050" b="1" dirty="0">
                <a:solidFill>
                  <a:srgbClr val="FFFFFF"/>
                </a:solidFill>
                <a:latin typeface="Meiryo"/>
                <a:ea typeface="Meiryo"/>
                <a:cs typeface="Meiryo"/>
                <a:sym typeface="Meiryo"/>
              </a:rPr>
              <a:t>通数単価：</a:t>
            </a:r>
            <a:r>
              <a:rPr lang="en-US" altLang="ja-JP" sz="1050" b="1" dirty="0">
                <a:solidFill>
                  <a:srgbClr val="FFFFFF"/>
                </a:solidFill>
                <a:latin typeface="Meiryo"/>
                <a:ea typeface="Meiryo"/>
                <a:cs typeface="Meiryo"/>
                <a:sym typeface="Meiryo"/>
              </a:rPr>
              <a:t>7</a:t>
            </a:r>
            <a:r>
              <a:rPr lang="ja-JP" altLang="en-US" sz="1050" b="1" dirty="0">
                <a:solidFill>
                  <a:srgbClr val="FFFFFF"/>
                </a:solidFill>
                <a:latin typeface="Meiryo"/>
                <a:ea typeface="Meiryo"/>
                <a:cs typeface="Meiryo"/>
                <a:sym typeface="Meiryo"/>
              </a:rPr>
              <a:t>円</a:t>
            </a:r>
            <a:endParaRPr sz="1050" b="1" i="0" u="none" strike="noStrike" cap="none" dirty="0">
              <a:solidFill>
                <a:srgbClr val="FFFFFF"/>
              </a:solidFill>
              <a:latin typeface="Meiryo"/>
              <a:ea typeface="Meiryo"/>
              <a:cs typeface="Meiryo"/>
              <a:sym typeface="Meiryo"/>
            </a:endParaRPr>
          </a:p>
        </p:txBody>
      </p:sp>
      <p:sp>
        <p:nvSpPr>
          <p:cNvPr id="94" name="テキスト ボックス 93">
            <a:extLst>
              <a:ext uri="{FF2B5EF4-FFF2-40B4-BE49-F238E27FC236}">
                <a16:creationId xmlns:a16="http://schemas.microsoft.com/office/drawing/2014/main" id="{6BA13AD6-A7FE-E393-39F7-12604E6F2A59}"/>
              </a:ext>
            </a:extLst>
          </p:cNvPr>
          <p:cNvSpPr txBox="1"/>
          <p:nvPr/>
        </p:nvSpPr>
        <p:spPr>
          <a:xfrm>
            <a:off x="3904548" y="1368741"/>
            <a:ext cx="4962524" cy="230832"/>
          </a:xfrm>
          <a:prstGeom prst="rect">
            <a:avLst/>
          </a:prstGeom>
          <a:noFill/>
        </p:spPr>
        <p:txBody>
          <a:bodyPr wrap="square">
            <a:spAutoFit/>
          </a:bodyPr>
          <a:lstStyle/>
          <a:p>
            <a:r>
              <a:rPr lang="en-US" altLang="ja-JP" sz="900" dirty="0">
                <a:solidFill>
                  <a:srgbClr val="FF0000"/>
                </a:solidFill>
                <a:latin typeface="メイリオ" panose="020B0604030504040204" pitchFamily="50" charset="-128"/>
                <a:ea typeface="メイリオ" panose="020B0604030504040204" pitchFamily="50" charset="-128"/>
              </a:rPr>
              <a:t>Sales Partner</a:t>
            </a:r>
            <a:r>
              <a:rPr lang="ja-JP" altLang="en-US" sz="900" dirty="0">
                <a:solidFill>
                  <a:srgbClr val="FF0000"/>
                </a:solidFill>
                <a:latin typeface="メイリオ" panose="020B0604030504040204" pitchFamily="50" charset="-128"/>
                <a:ea typeface="メイリオ" panose="020B0604030504040204" pitchFamily="50" charset="-128"/>
              </a:rPr>
              <a:t>、</a:t>
            </a:r>
            <a:r>
              <a:rPr lang="en-US" altLang="ja-JP" sz="900" dirty="0">
                <a:solidFill>
                  <a:srgbClr val="FF0000"/>
                </a:solidFill>
                <a:latin typeface="メイリオ" panose="020B0604030504040204" pitchFamily="50" charset="-128"/>
                <a:ea typeface="メイリオ" panose="020B0604030504040204" pitchFamily="50" charset="-128"/>
              </a:rPr>
              <a:t>Tech Partner</a:t>
            </a:r>
            <a:r>
              <a:rPr lang="ja-JP" altLang="en-US" sz="900" dirty="0">
                <a:solidFill>
                  <a:srgbClr val="FF0000"/>
                </a:solidFill>
                <a:latin typeface="メイリオ" panose="020B0604030504040204" pitchFamily="50" charset="-128"/>
                <a:ea typeface="メイリオ" panose="020B0604030504040204" pitchFamily="50" charset="-128"/>
              </a:rPr>
              <a:t>限定公開の</a:t>
            </a:r>
            <a:r>
              <a:rPr lang="en-US" altLang="ja-JP" sz="900" dirty="0">
                <a:solidFill>
                  <a:srgbClr val="FF0000"/>
                </a:solidFill>
                <a:latin typeface="メイリオ" panose="020B0604030504040204" pitchFamily="50" charset="-128"/>
                <a:ea typeface="メイリオ" panose="020B0604030504040204" pitchFamily="50" charset="-128"/>
              </a:rPr>
              <a:t>API</a:t>
            </a:r>
            <a:r>
              <a:rPr lang="ja-JP" altLang="en-US" sz="900" dirty="0">
                <a:solidFill>
                  <a:srgbClr val="FF0000"/>
                </a:solidFill>
                <a:latin typeface="メイリオ" panose="020B0604030504040204" pitchFamily="50" charset="-128"/>
                <a:ea typeface="メイリオ" panose="020B0604030504040204" pitchFamily="50" charset="-128"/>
              </a:rPr>
              <a:t>を使用した機能です。</a:t>
            </a:r>
          </a:p>
        </p:txBody>
      </p:sp>
      <p:sp>
        <p:nvSpPr>
          <p:cNvPr id="6" name="テキスト ボックス 5">
            <a:extLst>
              <a:ext uri="{FF2B5EF4-FFF2-40B4-BE49-F238E27FC236}">
                <a16:creationId xmlns:a16="http://schemas.microsoft.com/office/drawing/2014/main" id="{52DBA794-F4DB-834A-6EBA-1F38E3EB8D25}"/>
              </a:ext>
            </a:extLst>
          </p:cNvPr>
          <p:cNvSpPr txBox="1"/>
          <p:nvPr/>
        </p:nvSpPr>
        <p:spPr>
          <a:xfrm>
            <a:off x="3904548" y="1558412"/>
            <a:ext cx="4962524" cy="230832"/>
          </a:xfrm>
          <a:prstGeom prst="rect">
            <a:avLst/>
          </a:prstGeom>
          <a:noFill/>
        </p:spPr>
        <p:txBody>
          <a:bodyPr wrap="square">
            <a:spAutoFit/>
          </a:bodyPr>
          <a:lstStyle/>
          <a:p>
            <a:r>
              <a:rPr lang="ja-JP" altLang="en-US" sz="900" dirty="0">
                <a:solidFill>
                  <a:srgbClr val="FF0000"/>
                </a:solidFill>
                <a:latin typeface="メイリオ" panose="020B0604030504040204" pitchFamily="50" charset="-128"/>
                <a:ea typeface="メイリオ" panose="020B0604030504040204" pitchFamily="50" charset="-128"/>
              </a:rPr>
              <a:t>料金プランにより通数単価、利用可能機能が異なります。</a:t>
            </a:r>
          </a:p>
        </p:txBody>
      </p:sp>
      <p:pic>
        <p:nvPicPr>
          <p:cNvPr id="8" name="図 7">
            <a:extLst>
              <a:ext uri="{FF2B5EF4-FFF2-40B4-BE49-F238E27FC236}">
                <a16:creationId xmlns:a16="http://schemas.microsoft.com/office/drawing/2014/main" id="{6FEAB905-6FFF-5D16-B66E-DAD05A44B7D7}"/>
              </a:ext>
            </a:extLst>
          </p:cNvPr>
          <p:cNvPicPr>
            <a:picLocks noChangeAspect="1"/>
          </p:cNvPicPr>
          <p:nvPr/>
        </p:nvPicPr>
        <p:blipFill>
          <a:blip r:embed="rId2"/>
          <a:stretch>
            <a:fillRect/>
          </a:stretch>
        </p:blipFill>
        <p:spPr>
          <a:xfrm>
            <a:off x="543398" y="1953516"/>
            <a:ext cx="8918385" cy="4389153"/>
          </a:xfrm>
          <a:prstGeom prst="rect">
            <a:avLst/>
          </a:prstGeom>
        </p:spPr>
      </p:pic>
      <p:sp>
        <p:nvSpPr>
          <p:cNvPr id="11" name="Google Shape;51;p19">
            <a:extLst>
              <a:ext uri="{FF2B5EF4-FFF2-40B4-BE49-F238E27FC236}">
                <a16:creationId xmlns:a16="http://schemas.microsoft.com/office/drawing/2014/main" id="{3A8AD54E-DAE5-1F54-4C9C-6EA993DDD1A7}"/>
              </a:ext>
            </a:extLst>
          </p:cNvPr>
          <p:cNvSpPr/>
          <p:nvPr/>
        </p:nvSpPr>
        <p:spPr>
          <a:xfrm>
            <a:off x="6635873" y="5673123"/>
            <a:ext cx="2647463" cy="331332"/>
          </a:xfrm>
          <a:prstGeom prst="roundRect">
            <a:avLst>
              <a:gd name="adj" fmla="val 16667"/>
            </a:avLst>
          </a:prstGeom>
          <a:solidFill>
            <a:schemeClr val="tx1">
              <a:lumMod val="50000"/>
              <a:lumOff val="50000"/>
            </a:schemeClr>
          </a:solid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lnSpc>
                <a:spcPct val="100000"/>
              </a:lnSpc>
              <a:spcBef>
                <a:spcPts val="0"/>
              </a:spcBef>
              <a:spcAft>
                <a:spcPts val="0"/>
              </a:spcAft>
              <a:buClr>
                <a:srgbClr val="000000"/>
              </a:buClr>
              <a:buSzPts val="1400"/>
              <a:buFont typeface="Arial"/>
              <a:buNone/>
            </a:pPr>
            <a:r>
              <a:rPr lang="ja-JP" altLang="en-US" sz="1100" i="0" u="none" strike="noStrike" cap="none" dirty="0">
                <a:solidFill>
                  <a:schemeClr val="lt1"/>
                </a:solidFill>
                <a:latin typeface="Meiryo"/>
                <a:ea typeface="Meiryo"/>
                <a:cs typeface="Meiryo"/>
                <a:sym typeface="Meiryo"/>
              </a:rPr>
              <a:t>利用可能なシーン一例</a:t>
            </a:r>
            <a:endParaRPr sz="900" i="0" u="none" strike="noStrike" cap="none" dirty="0">
              <a:solidFill>
                <a:srgbClr val="FFFFFF"/>
              </a:solidFill>
              <a:latin typeface="Meiryo"/>
              <a:ea typeface="Meiryo"/>
              <a:cs typeface="Meiryo"/>
              <a:sym typeface="Meiryo"/>
            </a:endParaRPr>
          </a:p>
        </p:txBody>
      </p:sp>
    </p:spTree>
    <p:extLst>
      <p:ext uri="{BB962C8B-B14F-4D97-AF65-F5344CB8AC3E}">
        <p14:creationId xmlns:p14="http://schemas.microsoft.com/office/powerpoint/2010/main" val="1795848844"/>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Google Shape;752;p28">
            <a:extLst>
              <a:ext uri="{FF2B5EF4-FFF2-40B4-BE49-F238E27FC236}">
                <a16:creationId xmlns:a16="http://schemas.microsoft.com/office/drawing/2014/main" id="{AA80CD04-9456-70DB-2E44-D3EDB1461933}"/>
              </a:ext>
            </a:extLst>
          </p:cNvPr>
          <p:cNvSpPr txBox="1"/>
          <p:nvPr/>
        </p:nvSpPr>
        <p:spPr>
          <a:xfrm>
            <a:off x="547200" y="136800"/>
            <a:ext cx="6516000" cy="338400"/>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002060"/>
                </a:solidFill>
                <a:latin typeface="メイリオ"/>
                <a:ea typeface="メイリオ"/>
                <a:cs typeface="メイリオ"/>
                <a:sym typeface="Meiryo"/>
              </a:rPr>
              <a:t>新規友だちの追加（サンクスLINE誘導）</a:t>
            </a:r>
            <a:endParaRPr lang="en-US" altLang="ja-JP" sz="1600" b="1" dirty="0">
              <a:solidFill>
                <a:srgbClr val="002060"/>
              </a:solidFill>
              <a:latin typeface="メイリオ"/>
              <a:ea typeface="メイリオ"/>
              <a:cs typeface="メイリオ"/>
              <a:sym typeface="Meiryo"/>
            </a:endParaRPr>
          </a:p>
        </p:txBody>
      </p:sp>
      <p:sp>
        <p:nvSpPr>
          <p:cNvPr id="16" name="正方形/長方形 15">
            <a:extLst>
              <a:ext uri="{FF2B5EF4-FFF2-40B4-BE49-F238E27FC236}">
                <a16:creationId xmlns:a16="http://schemas.microsoft.com/office/drawing/2014/main" id="{32BBF438-B1EF-A61A-EE3D-69CD39766C7E}"/>
              </a:ext>
            </a:extLst>
          </p:cNvPr>
          <p:cNvSpPr/>
          <p:nvPr/>
        </p:nvSpPr>
        <p:spPr>
          <a:xfrm>
            <a:off x="6123840" y="2144236"/>
            <a:ext cx="2487570" cy="1821208"/>
          </a:xfrm>
          <a:prstGeom prst="rect">
            <a:avLst/>
          </a:prstGeom>
          <a:noFill/>
          <a:ln>
            <a:solidFill>
              <a:schemeClr val="tx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endParaRPr lang="ja-JP" altLang="en-US">
              <a:latin typeface="メイリオ"/>
              <a:ea typeface="メイリオ"/>
              <a:cs typeface="メイリオ"/>
            </a:endParaRPr>
          </a:p>
        </p:txBody>
      </p:sp>
      <p:sp>
        <p:nvSpPr>
          <p:cNvPr id="17" name="正方形/長方形 16">
            <a:extLst>
              <a:ext uri="{FF2B5EF4-FFF2-40B4-BE49-F238E27FC236}">
                <a16:creationId xmlns:a16="http://schemas.microsoft.com/office/drawing/2014/main" id="{1A1E4128-77DC-C871-EE20-5BD43326E078}"/>
              </a:ext>
            </a:extLst>
          </p:cNvPr>
          <p:cNvSpPr/>
          <p:nvPr/>
        </p:nvSpPr>
        <p:spPr>
          <a:xfrm>
            <a:off x="6123841" y="4317370"/>
            <a:ext cx="2487569" cy="1821208"/>
          </a:xfrm>
          <a:prstGeom prst="rect">
            <a:avLst/>
          </a:prstGeom>
          <a:noFill/>
          <a:ln>
            <a:solidFill>
              <a:schemeClr val="tx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endParaRPr lang="ja-JP" altLang="en-US">
              <a:latin typeface="メイリオ"/>
              <a:ea typeface="メイリオ"/>
              <a:cs typeface="メイリオ"/>
            </a:endParaRPr>
          </a:p>
        </p:txBody>
      </p:sp>
      <p:sp>
        <p:nvSpPr>
          <p:cNvPr id="20" name="正方形/長方形 19">
            <a:extLst>
              <a:ext uri="{FF2B5EF4-FFF2-40B4-BE49-F238E27FC236}">
                <a16:creationId xmlns:a16="http://schemas.microsoft.com/office/drawing/2014/main" id="{F37BB268-660A-FEE4-BB39-0E338F1DDC23}"/>
              </a:ext>
            </a:extLst>
          </p:cNvPr>
          <p:cNvSpPr/>
          <p:nvPr/>
        </p:nvSpPr>
        <p:spPr>
          <a:xfrm>
            <a:off x="6161261" y="1989652"/>
            <a:ext cx="1315634" cy="244151"/>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r>
              <a:rPr lang="en-US" altLang="ja-JP" sz="850" b="1" dirty="0">
                <a:solidFill>
                  <a:schemeClr val="tx1"/>
                </a:solidFill>
                <a:latin typeface="メイリオ" panose="020B0604030504040204" pitchFamily="50" charset="-128"/>
                <a:ea typeface="メイリオ" panose="020B0604030504040204" pitchFamily="50" charset="-128"/>
                <a:cs typeface="メイリオ"/>
              </a:rPr>
              <a:t>LINE</a:t>
            </a:r>
            <a:r>
              <a:rPr lang="ja-JP" altLang="en-US" sz="850" b="1" dirty="0">
                <a:solidFill>
                  <a:schemeClr val="tx1"/>
                </a:solidFill>
                <a:latin typeface="メイリオ" panose="020B0604030504040204" pitchFamily="50" charset="-128"/>
                <a:ea typeface="メイリオ" panose="020B0604030504040204" pitchFamily="50" charset="-128"/>
                <a:cs typeface="メイリオ"/>
              </a:rPr>
              <a:t>未追加の場合</a:t>
            </a:r>
          </a:p>
        </p:txBody>
      </p:sp>
      <p:sp>
        <p:nvSpPr>
          <p:cNvPr id="21" name="正方形/長方形 20">
            <a:extLst>
              <a:ext uri="{FF2B5EF4-FFF2-40B4-BE49-F238E27FC236}">
                <a16:creationId xmlns:a16="http://schemas.microsoft.com/office/drawing/2014/main" id="{C9FF4626-FD17-CA1C-8064-F46606D0BCCE}"/>
              </a:ext>
            </a:extLst>
          </p:cNvPr>
          <p:cNvSpPr/>
          <p:nvPr/>
        </p:nvSpPr>
        <p:spPr>
          <a:xfrm>
            <a:off x="6161261" y="4195296"/>
            <a:ext cx="1315634" cy="244151"/>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r>
              <a:rPr lang="en-US" altLang="ja-JP" sz="850" b="1" dirty="0">
                <a:solidFill>
                  <a:schemeClr val="tx1"/>
                </a:solidFill>
                <a:latin typeface="メイリオ" panose="020B0604030504040204" pitchFamily="50" charset="-128"/>
                <a:ea typeface="メイリオ" panose="020B0604030504040204" pitchFamily="50" charset="-128"/>
                <a:cs typeface="メイリオ"/>
              </a:rPr>
              <a:t>LINE</a:t>
            </a:r>
            <a:r>
              <a:rPr lang="ja-JP" altLang="en-US" sz="850" b="1" dirty="0">
                <a:solidFill>
                  <a:schemeClr val="tx1"/>
                </a:solidFill>
                <a:latin typeface="メイリオ" panose="020B0604030504040204" pitchFamily="50" charset="-128"/>
                <a:ea typeface="メイリオ" panose="020B0604030504040204" pitchFamily="50" charset="-128"/>
                <a:cs typeface="メイリオ"/>
              </a:rPr>
              <a:t>追加済みの場合</a:t>
            </a:r>
          </a:p>
        </p:txBody>
      </p:sp>
      <p:cxnSp>
        <p:nvCxnSpPr>
          <p:cNvPr id="23" name="直線矢印コネクタ 22">
            <a:extLst>
              <a:ext uri="{FF2B5EF4-FFF2-40B4-BE49-F238E27FC236}">
                <a16:creationId xmlns:a16="http://schemas.microsoft.com/office/drawing/2014/main" id="{8F202453-7FF9-8AE7-D10D-66F74A74A2F4}"/>
              </a:ext>
            </a:extLst>
          </p:cNvPr>
          <p:cNvCxnSpPr>
            <a:cxnSpLocks/>
          </p:cNvCxnSpPr>
          <p:nvPr/>
        </p:nvCxnSpPr>
        <p:spPr>
          <a:xfrm flipV="1">
            <a:off x="5819550" y="2932418"/>
            <a:ext cx="318138" cy="421706"/>
          </a:xfrm>
          <a:prstGeom prst="straightConnector1">
            <a:avLst/>
          </a:prstGeom>
          <a:ln w="19050">
            <a:solidFill>
              <a:srgbClr val="00B050">
                <a:alpha val="80000"/>
              </a:srgbClr>
            </a:solidFill>
            <a:prstDash val="sysDot"/>
            <a:tailEnd type="triangle"/>
          </a:ln>
        </p:spPr>
        <p:style>
          <a:lnRef idx="1">
            <a:schemeClr val="accent1"/>
          </a:lnRef>
          <a:fillRef idx="0">
            <a:schemeClr val="accent1"/>
          </a:fillRef>
          <a:effectRef idx="0">
            <a:schemeClr val="accent1"/>
          </a:effectRef>
          <a:fontRef idx="minor">
            <a:schemeClr val="tx1"/>
          </a:fontRef>
        </p:style>
      </p:cxnSp>
      <p:cxnSp>
        <p:nvCxnSpPr>
          <p:cNvPr id="24" name="直線矢印コネクタ 23">
            <a:extLst>
              <a:ext uri="{FF2B5EF4-FFF2-40B4-BE49-F238E27FC236}">
                <a16:creationId xmlns:a16="http://schemas.microsoft.com/office/drawing/2014/main" id="{C92F6E28-BBFF-1A56-AC22-CA16D2F1B1EA}"/>
              </a:ext>
            </a:extLst>
          </p:cNvPr>
          <p:cNvCxnSpPr>
            <a:cxnSpLocks/>
          </p:cNvCxnSpPr>
          <p:nvPr/>
        </p:nvCxnSpPr>
        <p:spPr>
          <a:xfrm>
            <a:off x="5819550" y="3354124"/>
            <a:ext cx="280718" cy="1392760"/>
          </a:xfrm>
          <a:prstGeom prst="straightConnector1">
            <a:avLst/>
          </a:prstGeom>
          <a:ln w="19050">
            <a:solidFill>
              <a:srgbClr val="00B050">
                <a:alpha val="80000"/>
              </a:srgbClr>
            </a:solidFill>
            <a:prstDash val="sysDot"/>
            <a:tailEnd type="triangle"/>
          </a:ln>
        </p:spPr>
        <p:style>
          <a:lnRef idx="1">
            <a:schemeClr val="accent1"/>
          </a:lnRef>
          <a:fillRef idx="0">
            <a:schemeClr val="accent1"/>
          </a:fillRef>
          <a:effectRef idx="0">
            <a:schemeClr val="accent1"/>
          </a:effectRef>
          <a:fontRef idx="minor">
            <a:schemeClr val="tx1"/>
          </a:fontRef>
        </p:style>
      </p:cxnSp>
      <p:pic>
        <p:nvPicPr>
          <p:cNvPr id="45" name="図 44" descr="グラフィカル ユーザー インターフェイス, アプリケーション, Teams&#10;&#10;AI 生成コンテンツは誤りを含む可能性があります。">
            <a:extLst>
              <a:ext uri="{FF2B5EF4-FFF2-40B4-BE49-F238E27FC236}">
                <a16:creationId xmlns:a16="http://schemas.microsoft.com/office/drawing/2014/main" id="{E91CA7A5-62B3-F1F8-38C3-DDCE33E1CC3D}"/>
              </a:ext>
            </a:extLst>
          </p:cNvPr>
          <p:cNvPicPr>
            <a:picLocks noChangeAspect="1"/>
          </p:cNvPicPr>
          <p:nvPr/>
        </p:nvPicPr>
        <p:blipFill>
          <a:blip r:embed="rId2" cstate="print">
            <a:extLst>
              <a:ext uri="{28A0092B-C50C-407E-A947-70E740481C1C}">
                <a14:useLocalDpi xmlns:a14="http://schemas.microsoft.com/office/drawing/2010/main" val="0"/>
              </a:ext>
            </a:extLst>
          </a:blip>
          <a:srcRect t="4580"/>
          <a:stretch>
            <a:fillRect/>
          </a:stretch>
        </p:blipFill>
        <p:spPr>
          <a:xfrm>
            <a:off x="7518319" y="2173082"/>
            <a:ext cx="1000253" cy="1694141"/>
          </a:xfrm>
          <a:prstGeom prst="rect">
            <a:avLst/>
          </a:prstGeom>
        </p:spPr>
      </p:pic>
      <p:pic>
        <p:nvPicPr>
          <p:cNvPr id="46" name="図 45" descr="電卓の写真のスマートフォンのスクリーンショット&#10;&#10;AI 生成コンテンツは誤りを含む可能性があります。">
            <a:extLst>
              <a:ext uri="{FF2B5EF4-FFF2-40B4-BE49-F238E27FC236}">
                <a16:creationId xmlns:a16="http://schemas.microsoft.com/office/drawing/2014/main" id="{31EEAD2C-3BE8-0210-FD8E-46D52B30A0AE}"/>
              </a:ext>
            </a:extLst>
          </p:cNvPr>
          <p:cNvPicPr>
            <a:picLocks noChangeAspect="1"/>
          </p:cNvPicPr>
          <p:nvPr/>
        </p:nvPicPr>
        <p:blipFill>
          <a:blip r:embed="rId3" cstate="print">
            <a:extLst>
              <a:ext uri="{28A0092B-C50C-407E-A947-70E740481C1C}">
                <a14:useLocalDpi xmlns:a14="http://schemas.microsoft.com/office/drawing/2010/main" val="0"/>
              </a:ext>
            </a:extLst>
          </a:blip>
          <a:srcRect t="4580"/>
          <a:stretch>
            <a:fillRect/>
          </a:stretch>
        </p:blipFill>
        <p:spPr>
          <a:xfrm>
            <a:off x="7527889" y="4316771"/>
            <a:ext cx="1000253" cy="1694142"/>
          </a:xfrm>
          <a:prstGeom prst="rect">
            <a:avLst/>
          </a:prstGeom>
        </p:spPr>
      </p:pic>
      <p:sp>
        <p:nvSpPr>
          <p:cNvPr id="48" name="テキスト ボックス 47">
            <a:extLst>
              <a:ext uri="{FF2B5EF4-FFF2-40B4-BE49-F238E27FC236}">
                <a16:creationId xmlns:a16="http://schemas.microsoft.com/office/drawing/2014/main" id="{E989AEB3-EF0E-8885-B426-8B6A5E01F40A}"/>
              </a:ext>
            </a:extLst>
          </p:cNvPr>
          <p:cNvSpPr txBox="1"/>
          <p:nvPr/>
        </p:nvSpPr>
        <p:spPr>
          <a:xfrm>
            <a:off x="6161261" y="2335961"/>
            <a:ext cx="1227667" cy="400110"/>
          </a:xfrm>
          <a:prstGeom prst="rect">
            <a:avLst/>
          </a:prstGeom>
          <a:noFill/>
        </p:spPr>
        <p:txBody>
          <a:bodyPr wrap="square" lIns="74295" rIns="74295">
            <a:spAutoFit/>
          </a:bodyPr>
          <a:lstStyle/>
          <a:p>
            <a:r>
              <a:rPr lang="ja-JP" altLang="en-US" sz="1000" b="1" dirty="0">
                <a:latin typeface="メイリオ" panose="020B0604030504040204" pitchFamily="50" charset="-128"/>
                <a:ea typeface="メイリオ" panose="020B0604030504040204" pitchFamily="50" charset="-128"/>
                <a:cs typeface="メイリオ"/>
              </a:rPr>
              <a:t>友だち登録ページ</a:t>
            </a:r>
            <a:r>
              <a:rPr lang="ja-JP" altLang="en-US" sz="1000" dirty="0">
                <a:latin typeface="メイリオ" panose="020B0604030504040204" pitchFamily="50" charset="-128"/>
                <a:ea typeface="メイリオ" panose="020B0604030504040204" pitchFamily="50" charset="-128"/>
                <a:cs typeface="メイリオ"/>
              </a:rPr>
              <a:t>へ遷移する。</a:t>
            </a:r>
          </a:p>
        </p:txBody>
      </p:sp>
      <p:sp>
        <p:nvSpPr>
          <p:cNvPr id="49" name="テキスト ボックス 48">
            <a:extLst>
              <a:ext uri="{FF2B5EF4-FFF2-40B4-BE49-F238E27FC236}">
                <a16:creationId xmlns:a16="http://schemas.microsoft.com/office/drawing/2014/main" id="{4E6D08E3-E0B3-1DF4-0533-E4EE67240415}"/>
              </a:ext>
            </a:extLst>
          </p:cNvPr>
          <p:cNvSpPr txBox="1"/>
          <p:nvPr/>
        </p:nvSpPr>
        <p:spPr>
          <a:xfrm>
            <a:off x="6157879" y="4570201"/>
            <a:ext cx="1338278" cy="400110"/>
          </a:xfrm>
          <a:prstGeom prst="rect">
            <a:avLst/>
          </a:prstGeom>
          <a:noFill/>
        </p:spPr>
        <p:txBody>
          <a:bodyPr wrap="square" lIns="74295" rIns="74295">
            <a:spAutoFit/>
          </a:bodyPr>
          <a:lstStyle/>
          <a:p>
            <a:r>
              <a:rPr lang="ja-JP" altLang="en-US" sz="1000" b="1" dirty="0">
                <a:latin typeface="メイリオ" panose="020B0604030504040204" pitchFamily="50" charset="-128"/>
                <a:ea typeface="メイリオ" panose="020B0604030504040204" pitchFamily="50" charset="-128"/>
                <a:cs typeface="メイリオ"/>
              </a:rPr>
              <a:t>トーク画面</a:t>
            </a:r>
            <a:r>
              <a:rPr lang="ja-JP" altLang="en-US" sz="1000" dirty="0">
                <a:latin typeface="メイリオ" panose="020B0604030504040204" pitchFamily="50" charset="-128"/>
                <a:ea typeface="メイリオ" panose="020B0604030504040204" pitchFamily="50" charset="-128"/>
                <a:cs typeface="メイリオ"/>
              </a:rPr>
              <a:t>へ</a:t>
            </a:r>
            <a:endParaRPr lang="en-US" altLang="ja-JP" sz="1000" dirty="0">
              <a:latin typeface="メイリオ" panose="020B0604030504040204" pitchFamily="50" charset="-128"/>
              <a:ea typeface="メイリオ" panose="020B0604030504040204" pitchFamily="50" charset="-128"/>
              <a:cs typeface="メイリオ"/>
            </a:endParaRPr>
          </a:p>
          <a:p>
            <a:r>
              <a:rPr lang="ja-JP" altLang="en-US" sz="1000" dirty="0">
                <a:latin typeface="メイリオ" panose="020B0604030504040204" pitchFamily="50" charset="-128"/>
                <a:ea typeface="メイリオ" panose="020B0604030504040204" pitchFamily="50" charset="-128"/>
                <a:cs typeface="メイリオ"/>
              </a:rPr>
              <a:t>遷移する。</a:t>
            </a:r>
            <a:endParaRPr lang="en-US" altLang="ja-JP" sz="1000" dirty="0">
              <a:latin typeface="メイリオ" panose="020B0604030504040204" pitchFamily="50" charset="-128"/>
              <a:ea typeface="メイリオ" panose="020B0604030504040204" pitchFamily="50" charset="-128"/>
              <a:cs typeface="メイリオ"/>
            </a:endParaRPr>
          </a:p>
        </p:txBody>
      </p:sp>
      <p:pic>
        <p:nvPicPr>
          <p:cNvPr id="56" name="図 55">
            <a:extLst>
              <a:ext uri="{FF2B5EF4-FFF2-40B4-BE49-F238E27FC236}">
                <a16:creationId xmlns:a16="http://schemas.microsoft.com/office/drawing/2014/main" id="{0B7B313D-7D5F-4357-9B38-DFC3DBC5FCF6}"/>
              </a:ext>
            </a:extLst>
          </p:cNvPr>
          <p:cNvPicPr>
            <a:picLocks noChangeAspect="1"/>
          </p:cNvPicPr>
          <p:nvPr/>
        </p:nvPicPr>
        <p:blipFill>
          <a:blip r:embed="rId4"/>
          <a:stretch>
            <a:fillRect/>
          </a:stretch>
        </p:blipFill>
        <p:spPr>
          <a:xfrm>
            <a:off x="7557873" y="2950101"/>
            <a:ext cx="921141" cy="89556"/>
          </a:xfrm>
          <a:prstGeom prst="rect">
            <a:avLst/>
          </a:prstGeom>
        </p:spPr>
      </p:pic>
      <p:pic>
        <p:nvPicPr>
          <p:cNvPr id="57" name="図 56">
            <a:extLst>
              <a:ext uri="{FF2B5EF4-FFF2-40B4-BE49-F238E27FC236}">
                <a16:creationId xmlns:a16="http://schemas.microsoft.com/office/drawing/2014/main" id="{A8EA42C4-338F-850B-B276-B83DC2A73148}"/>
              </a:ext>
            </a:extLst>
          </p:cNvPr>
          <p:cNvPicPr>
            <a:picLocks noChangeAspect="1"/>
          </p:cNvPicPr>
          <p:nvPr/>
        </p:nvPicPr>
        <p:blipFill>
          <a:blip r:embed="rId5"/>
          <a:stretch>
            <a:fillRect/>
          </a:stretch>
        </p:blipFill>
        <p:spPr>
          <a:xfrm>
            <a:off x="7825776" y="2949394"/>
            <a:ext cx="389971" cy="86660"/>
          </a:xfrm>
          <a:prstGeom prst="rect">
            <a:avLst/>
          </a:prstGeom>
        </p:spPr>
      </p:pic>
      <p:pic>
        <p:nvPicPr>
          <p:cNvPr id="58" name="図 57">
            <a:extLst>
              <a:ext uri="{FF2B5EF4-FFF2-40B4-BE49-F238E27FC236}">
                <a16:creationId xmlns:a16="http://schemas.microsoft.com/office/drawing/2014/main" id="{CCB04072-A708-EEE7-1345-D4C9E9FA9C1D}"/>
              </a:ext>
            </a:extLst>
          </p:cNvPr>
          <p:cNvPicPr>
            <a:picLocks noChangeAspect="1"/>
          </p:cNvPicPr>
          <p:nvPr/>
        </p:nvPicPr>
        <p:blipFill>
          <a:blip r:embed="rId5"/>
          <a:stretch>
            <a:fillRect/>
          </a:stretch>
        </p:blipFill>
        <p:spPr>
          <a:xfrm>
            <a:off x="7849883" y="4314411"/>
            <a:ext cx="271710" cy="60381"/>
          </a:xfrm>
          <a:prstGeom prst="rect">
            <a:avLst/>
          </a:prstGeom>
        </p:spPr>
      </p:pic>
      <p:pic>
        <p:nvPicPr>
          <p:cNvPr id="59" name="図 58">
            <a:extLst>
              <a:ext uri="{FF2B5EF4-FFF2-40B4-BE49-F238E27FC236}">
                <a16:creationId xmlns:a16="http://schemas.microsoft.com/office/drawing/2014/main" id="{EDED354B-362F-AAF7-76A6-52D8547EDC91}"/>
              </a:ext>
            </a:extLst>
          </p:cNvPr>
          <p:cNvPicPr>
            <a:picLocks noChangeAspect="1"/>
          </p:cNvPicPr>
          <p:nvPr/>
        </p:nvPicPr>
        <p:blipFill>
          <a:blip r:embed="rId5"/>
          <a:stretch>
            <a:fillRect/>
          </a:stretch>
        </p:blipFill>
        <p:spPr>
          <a:xfrm>
            <a:off x="7973708" y="4438236"/>
            <a:ext cx="271710" cy="60381"/>
          </a:xfrm>
          <a:prstGeom prst="rect">
            <a:avLst/>
          </a:prstGeom>
        </p:spPr>
      </p:pic>
      <p:sp>
        <p:nvSpPr>
          <p:cNvPr id="1030" name="楕円 1029">
            <a:extLst>
              <a:ext uri="{FF2B5EF4-FFF2-40B4-BE49-F238E27FC236}">
                <a16:creationId xmlns:a16="http://schemas.microsoft.com/office/drawing/2014/main" id="{A0934BB8-8F8D-D4F0-8D59-8F32A6A6E03A}"/>
              </a:ext>
            </a:extLst>
          </p:cNvPr>
          <p:cNvSpPr/>
          <p:nvPr/>
        </p:nvSpPr>
        <p:spPr>
          <a:xfrm>
            <a:off x="7855110" y="2591706"/>
            <a:ext cx="321750" cy="321750"/>
          </a:xfrm>
          <a:prstGeom prst="ellipse">
            <a:avLst/>
          </a:prstGeom>
          <a:solidFill>
            <a:schemeClr val="bg1">
              <a:lumMod val="95000"/>
            </a:schemeClr>
          </a:solid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r>
              <a:rPr lang="ja-JP" altLang="en-US" sz="700" dirty="0">
                <a:solidFill>
                  <a:schemeClr val="tx1"/>
                </a:solidFill>
                <a:latin typeface="メイリオ" panose="020B0604030504040204" pitchFamily="50" charset="-128"/>
                <a:ea typeface="メイリオ" panose="020B0604030504040204" pitchFamily="50" charset="-128"/>
                <a:cs typeface="メイリオ"/>
              </a:rPr>
              <a:t>ロゴ</a:t>
            </a:r>
          </a:p>
        </p:txBody>
      </p:sp>
      <p:sp>
        <p:nvSpPr>
          <p:cNvPr id="34" name="正方形/長方形 33">
            <a:extLst>
              <a:ext uri="{FF2B5EF4-FFF2-40B4-BE49-F238E27FC236}">
                <a16:creationId xmlns:a16="http://schemas.microsoft.com/office/drawing/2014/main" id="{A593FC72-954C-48DC-E845-1A5FCE4C9E00}"/>
              </a:ext>
            </a:extLst>
          </p:cNvPr>
          <p:cNvSpPr/>
          <p:nvPr/>
        </p:nvSpPr>
        <p:spPr>
          <a:xfrm>
            <a:off x="693249" y="1644209"/>
            <a:ext cx="1142154" cy="2841034"/>
          </a:xfrm>
          <a:prstGeom prst="rect">
            <a:avLst/>
          </a:prstGeom>
          <a:noFill/>
          <a:ln>
            <a:solidFill>
              <a:schemeClr val="tx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endParaRPr lang="ja-JP" altLang="en-US">
              <a:latin typeface="メイリオ"/>
              <a:ea typeface="メイリオ"/>
              <a:cs typeface="メイリオ"/>
            </a:endParaRPr>
          </a:p>
        </p:txBody>
      </p:sp>
      <p:sp>
        <p:nvSpPr>
          <p:cNvPr id="36" name="二等辺三角形 35">
            <a:extLst>
              <a:ext uri="{FF2B5EF4-FFF2-40B4-BE49-F238E27FC236}">
                <a16:creationId xmlns:a16="http://schemas.microsoft.com/office/drawing/2014/main" id="{626832A8-575E-5E2B-73F4-BE5567514E57}"/>
              </a:ext>
            </a:extLst>
          </p:cNvPr>
          <p:cNvSpPr/>
          <p:nvPr/>
        </p:nvSpPr>
        <p:spPr>
          <a:xfrm rot="5400000">
            <a:off x="1869100" y="2879016"/>
            <a:ext cx="205320" cy="182781"/>
          </a:xfrm>
          <a:prstGeom prst="triangle">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endParaRPr lang="ja-JP" altLang="en-US">
              <a:latin typeface="メイリオ"/>
              <a:ea typeface="メイリオ"/>
              <a:cs typeface="メイリオ"/>
            </a:endParaRPr>
          </a:p>
        </p:txBody>
      </p:sp>
      <p:sp>
        <p:nvSpPr>
          <p:cNvPr id="38" name="正方形/長方形 37">
            <a:extLst>
              <a:ext uri="{FF2B5EF4-FFF2-40B4-BE49-F238E27FC236}">
                <a16:creationId xmlns:a16="http://schemas.microsoft.com/office/drawing/2014/main" id="{28671F13-F479-AFF6-9832-C7C00D2D05EE}"/>
              </a:ext>
            </a:extLst>
          </p:cNvPr>
          <p:cNvSpPr/>
          <p:nvPr/>
        </p:nvSpPr>
        <p:spPr>
          <a:xfrm>
            <a:off x="693249" y="4241092"/>
            <a:ext cx="1142154" cy="244151"/>
          </a:xfrm>
          <a:prstGeom prst="rect">
            <a:avLst/>
          </a:prstGeom>
          <a:solidFill>
            <a:schemeClr val="bg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r>
              <a:rPr lang="ja-JP" altLang="en-US" sz="850" b="1" dirty="0">
                <a:solidFill>
                  <a:schemeClr val="tx1"/>
                </a:solidFill>
                <a:latin typeface="メイリオ" panose="020B0604030504040204" pitchFamily="50" charset="-128"/>
                <a:ea typeface="メイリオ" panose="020B0604030504040204" pitchFamily="50" charset="-128"/>
                <a:cs typeface="メイリオ"/>
              </a:rPr>
              <a:t>フォーム入力</a:t>
            </a:r>
          </a:p>
        </p:txBody>
      </p:sp>
      <p:pic>
        <p:nvPicPr>
          <p:cNvPr id="55" name="図 54">
            <a:extLst>
              <a:ext uri="{FF2B5EF4-FFF2-40B4-BE49-F238E27FC236}">
                <a16:creationId xmlns:a16="http://schemas.microsoft.com/office/drawing/2014/main" id="{8AF12F67-4C9A-867F-4608-8FE9DA811630}"/>
              </a:ext>
            </a:extLst>
          </p:cNvPr>
          <p:cNvPicPr>
            <a:picLocks noChangeAspect="1"/>
          </p:cNvPicPr>
          <p:nvPr/>
        </p:nvPicPr>
        <p:blipFill>
          <a:blip r:embed="rId6"/>
          <a:stretch>
            <a:fillRect/>
          </a:stretch>
        </p:blipFill>
        <p:spPr>
          <a:xfrm>
            <a:off x="760471" y="2042343"/>
            <a:ext cx="1015294" cy="1834505"/>
          </a:xfrm>
          <a:prstGeom prst="rect">
            <a:avLst/>
          </a:prstGeom>
        </p:spPr>
      </p:pic>
      <p:sp>
        <p:nvSpPr>
          <p:cNvPr id="1032" name="正方形/長方形 1031">
            <a:extLst>
              <a:ext uri="{FF2B5EF4-FFF2-40B4-BE49-F238E27FC236}">
                <a16:creationId xmlns:a16="http://schemas.microsoft.com/office/drawing/2014/main" id="{D1D96D42-255C-636E-49E5-2CDA95DD6764}"/>
              </a:ext>
            </a:extLst>
          </p:cNvPr>
          <p:cNvSpPr/>
          <p:nvPr/>
        </p:nvSpPr>
        <p:spPr>
          <a:xfrm>
            <a:off x="2102458" y="1617265"/>
            <a:ext cx="1225682" cy="2841034"/>
          </a:xfrm>
          <a:prstGeom prst="rect">
            <a:avLst/>
          </a:prstGeom>
          <a:solidFill>
            <a:schemeClr val="bg1"/>
          </a:solidFill>
          <a:ln>
            <a:solidFill>
              <a:schemeClr val="tx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endParaRPr lang="ja-JP" altLang="en-US">
              <a:latin typeface="メイリオ"/>
              <a:ea typeface="メイリオ"/>
              <a:cs typeface="メイリオ"/>
            </a:endParaRPr>
          </a:p>
        </p:txBody>
      </p:sp>
      <p:sp>
        <p:nvSpPr>
          <p:cNvPr id="1034" name="正方形/長方形 1033">
            <a:extLst>
              <a:ext uri="{FF2B5EF4-FFF2-40B4-BE49-F238E27FC236}">
                <a16:creationId xmlns:a16="http://schemas.microsoft.com/office/drawing/2014/main" id="{8693E451-BCB1-207B-6B73-131F2A8588BF}"/>
              </a:ext>
            </a:extLst>
          </p:cNvPr>
          <p:cNvSpPr/>
          <p:nvPr/>
        </p:nvSpPr>
        <p:spPr>
          <a:xfrm>
            <a:off x="2100228" y="4219785"/>
            <a:ext cx="1225683" cy="244151"/>
          </a:xfrm>
          <a:prstGeom prst="rect">
            <a:avLst/>
          </a:prstGeom>
          <a:solidFill>
            <a:schemeClr val="tx1">
              <a:lumMod val="65000"/>
              <a:lumOff val="3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r>
              <a:rPr lang="ja-JP" altLang="en-US" sz="850" b="1" dirty="0">
                <a:latin typeface="メイリオ" panose="020B0604030504040204" pitchFamily="50" charset="-128"/>
                <a:ea typeface="メイリオ" panose="020B0604030504040204" pitchFamily="50" charset="-128"/>
                <a:cs typeface="メイリオ"/>
              </a:rPr>
              <a:t>サンクス画面へ</a:t>
            </a:r>
            <a:endParaRPr lang="en-US" altLang="ja-JP" sz="850" b="1" dirty="0">
              <a:latin typeface="メイリオ" panose="020B0604030504040204" pitchFamily="50" charset="-128"/>
              <a:ea typeface="メイリオ" panose="020B0604030504040204" pitchFamily="50" charset="-128"/>
              <a:cs typeface="メイリオ"/>
            </a:endParaRPr>
          </a:p>
        </p:txBody>
      </p:sp>
      <p:pic>
        <p:nvPicPr>
          <p:cNvPr id="1038" name="図 1037" descr="テキスト, 手紙&#10;&#10;AI 生成コンテンツは誤りを含む可能性があります。">
            <a:extLst>
              <a:ext uri="{FF2B5EF4-FFF2-40B4-BE49-F238E27FC236}">
                <a16:creationId xmlns:a16="http://schemas.microsoft.com/office/drawing/2014/main" id="{85260668-6C66-A032-FFE0-0276021F9433}"/>
              </a:ext>
            </a:extLst>
          </p:cNvPr>
          <p:cNvPicPr>
            <a:picLocks noChangeAspect="1"/>
          </p:cNvPicPr>
          <p:nvPr/>
        </p:nvPicPr>
        <p:blipFill>
          <a:blip r:embed="rId7" cstate="print">
            <a:extLst>
              <a:ext uri="{28A0092B-C50C-407E-A947-70E740481C1C}">
                <a14:useLocalDpi xmlns:a14="http://schemas.microsoft.com/office/drawing/2010/main" val="0"/>
              </a:ext>
            </a:extLst>
          </a:blip>
          <a:srcRect t="4580"/>
          <a:stretch>
            <a:fillRect/>
          </a:stretch>
        </p:blipFill>
        <p:spPr>
          <a:xfrm>
            <a:off x="2195552" y="2083381"/>
            <a:ext cx="1066362" cy="1789421"/>
          </a:xfrm>
          <a:prstGeom prst="rect">
            <a:avLst/>
          </a:prstGeom>
        </p:spPr>
      </p:pic>
      <p:pic>
        <p:nvPicPr>
          <p:cNvPr id="1039" name="Picture 2" descr="買い物完了！イラスト｜無料イラスト・フリー素材なら「イラストAC」">
            <a:extLst>
              <a:ext uri="{FF2B5EF4-FFF2-40B4-BE49-F238E27FC236}">
                <a16:creationId xmlns:a16="http://schemas.microsoft.com/office/drawing/2014/main" id="{23D05307-D6FE-6284-27D3-3433EE0122E2}"/>
              </a:ext>
            </a:extLst>
          </p:cNvPr>
          <p:cNvPicPr>
            <a:picLocks noChangeAspect="1" noChangeArrowheads="1"/>
          </p:cNvPicPr>
          <p:nvPr/>
        </p:nvPicPr>
        <p:blipFill rotWithShape="1">
          <a:blip r:embed="rId8" cstate="print">
            <a:extLst>
              <a:ext uri="{28A0092B-C50C-407E-A947-70E740481C1C}">
                <a14:useLocalDpi xmlns:a14="http://schemas.microsoft.com/office/drawing/2010/main" val="0"/>
              </a:ext>
            </a:extLst>
          </a:blip>
          <a:srcRect l="20270" r="23682"/>
          <a:stretch>
            <a:fillRect/>
          </a:stretch>
        </p:blipFill>
        <p:spPr bwMode="auto">
          <a:xfrm>
            <a:off x="3292898" y="1459246"/>
            <a:ext cx="250223" cy="335086"/>
          </a:xfrm>
          <a:prstGeom prst="rect">
            <a:avLst/>
          </a:prstGeom>
          <a:noFill/>
          <a:extLst>
            <a:ext uri="{909E8E84-426E-40DD-AFC4-6F175D3DCCD1}">
              <a14:hiddenFill xmlns:a14="http://schemas.microsoft.com/office/drawing/2010/main">
                <a:solidFill>
                  <a:srgbClr val="FFFFFF"/>
                </a:solidFill>
              </a14:hiddenFill>
            </a:ext>
          </a:extLst>
        </p:spPr>
      </p:pic>
      <p:grpSp>
        <p:nvGrpSpPr>
          <p:cNvPr id="3" name="グループ化 2">
            <a:extLst>
              <a:ext uri="{FF2B5EF4-FFF2-40B4-BE49-F238E27FC236}">
                <a16:creationId xmlns:a16="http://schemas.microsoft.com/office/drawing/2014/main" id="{E76D8F54-2926-2D56-7238-F66ACCBC4F20}"/>
              </a:ext>
            </a:extLst>
          </p:cNvPr>
          <p:cNvGrpSpPr/>
          <p:nvPr/>
        </p:nvGrpSpPr>
        <p:grpSpPr>
          <a:xfrm>
            <a:off x="1261302" y="837894"/>
            <a:ext cx="2523077" cy="485102"/>
            <a:chOff x="507969" y="928495"/>
            <a:chExt cx="3105325" cy="485102"/>
          </a:xfrm>
        </p:grpSpPr>
        <p:sp>
          <p:nvSpPr>
            <p:cNvPr id="4" name="Google Shape;51;p19">
              <a:extLst>
                <a:ext uri="{FF2B5EF4-FFF2-40B4-BE49-F238E27FC236}">
                  <a16:creationId xmlns:a16="http://schemas.microsoft.com/office/drawing/2014/main" id="{98F6BB16-EFC6-9846-2A11-E624E876E64B}"/>
                </a:ext>
              </a:extLst>
            </p:cNvPr>
            <p:cNvSpPr/>
            <p:nvPr/>
          </p:nvSpPr>
          <p:spPr>
            <a:xfrm>
              <a:off x="507969" y="928495"/>
              <a:ext cx="3105325" cy="485102"/>
            </a:xfrm>
            <a:prstGeom prst="roundRect">
              <a:avLst>
                <a:gd name="adj" fmla="val 16667"/>
              </a:avLst>
            </a:prstGeom>
            <a:solidFill>
              <a:schemeClr val="dk1"/>
            </a:solidFill>
            <a:ln>
              <a:noFill/>
            </a:ln>
          </p:spPr>
          <p:txBody>
            <a:bodyPr spcFirstLastPara="1" wrap="square" lIns="74282" tIns="45700" rIns="74282"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9pPr>
            </a:lstStyle>
            <a:p>
              <a:pPr algn="ctr">
                <a:buSzPts val="1400"/>
              </a:pPr>
              <a:endParaRPr b="1" dirty="0">
                <a:solidFill>
                  <a:schemeClr val="lt1"/>
                </a:solidFill>
                <a:sym typeface="Meiryo"/>
              </a:endParaRPr>
            </a:p>
          </p:txBody>
        </p:sp>
        <p:sp>
          <p:nvSpPr>
            <p:cNvPr id="5" name="テキスト ボックス 4">
              <a:extLst>
                <a:ext uri="{FF2B5EF4-FFF2-40B4-BE49-F238E27FC236}">
                  <a16:creationId xmlns:a16="http://schemas.microsoft.com/office/drawing/2014/main" id="{560EDF30-5F09-B70A-2993-8CD4F9E40EFA}"/>
                </a:ext>
              </a:extLst>
            </p:cNvPr>
            <p:cNvSpPr txBox="1"/>
            <p:nvPr/>
          </p:nvSpPr>
          <p:spPr>
            <a:xfrm>
              <a:off x="1140096" y="988192"/>
              <a:ext cx="1832553" cy="357790"/>
            </a:xfrm>
            <a:prstGeom prst="rect">
              <a:avLst/>
            </a:prstGeom>
            <a:noFill/>
          </p:spPr>
          <p:txBody>
            <a:bodyPr wrap="none" lIns="74295" rIns="74295"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1pPr>
              <a:lvl2pPr marR="0" lvl="1"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2pPr>
              <a:lvl3pPr marR="0" lvl="2"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3pPr>
              <a:lvl4pPr marR="0" lvl="3"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4pPr>
              <a:lvl5pPr marR="0" lvl="4"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5pPr>
              <a:lvl6pPr marR="0" lvl="5"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6pPr>
              <a:lvl7pPr marR="0" lvl="6"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7pPr>
              <a:lvl8pPr marR="0" lvl="7"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8pPr>
              <a:lvl9pPr marR="0" lvl="8" algn="l" rtl="0">
                <a:lnSpc>
                  <a:spcPct val="100000"/>
                </a:lnSpc>
                <a:spcBef>
                  <a:spcPts val="0"/>
                </a:spcBef>
                <a:spcAft>
                  <a:spcPts val="0"/>
                </a:spcAft>
                <a:buClr>
                  <a:srgbClr val="000000"/>
                </a:buClr>
                <a:buFont typeface="Arial"/>
                <a:defRPr sz="1100" b="0" i="0" u="none" strike="noStrike" cap="none">
                  <a:solidFill>
                    <a:srgbClr val="000000"/>
                  </a:solidFill>
                  <a:latin typeface="メイリオ"/>
                  <a:ea typeface="メイリオ"/>
                  <a:cs typeface="メイリオ"/>
                  <a:sym typeface="Arial"/>
                </a:defRPr>
              </a:lvl9pPr>
            </a:lstStyle>
            <a:p>
              <a:pPr>
                <a:lnSpc>
                  <a:spcPct val="120000"/>
                </a:lnSpc>
              </a:pPr>
              <a:r>
                <a:rPr lang="ja-JP" altLang="en-US" sz="1200" b="1" dirty="0">
                  <a:solidFill>
                    <a:schemeClr val="bg1"/>
                  </a:solidFill>
                  <a:latin typeface="メイリオ" panose="020B0604030504040204" pitchFamily="34" charset="-128"/>
                  <a:ea typeface="メイリオ" panose="020B0604030504040204" pitchFamily="34" charset="-128"/>
                </a:rPr>
                <a:t>サンクス</a:t>
              </a:r>
              <a:r>
                <a:rPr lang="en-US" altLang="ja-JP" sz="1200" b="1" dirty="0">
                  <a:solidFill>
                    <a:schemeClr val="bg1"/>
                  </a:solidFill>
                  <a:latin typeface="メイリオ" panose="020B0604030504040204" pitchFamily="34" charset="-128"/>
                  <a:ea typeface="メイリオ" panose="020B0604030504040204" pitchFamily="34" charset="-128"/>
                </a:rPr>
                <a:t>LINE</a:t>
              </a:r>
              <a:r>
                <a:rPr lang="ja-JP" altLang="en-US" sz="1200" b="1" dirty="0">
                  <a:solidFill>
                    <a:schemeClr val="bg1"/>
                  </a:solidFill>
                  <a:latin typeface="メイリオ" panose="020B0604030504040204" pitchFamily="34" charset="-128"/>
                  <a:ea typeface="メイリオ" panose="020B0604030504040204" pitchFamily="34" charset="-128"/>
                </a:rPr>
                <a:t>誘導</a:t>
              </a:r>
            </a:p>
          </p:txBody>
        </p:sp>
      </p:grpSp>
      <p:sp>
        <p:nvSpPr>
          <p:cNvPr id="6" name="正方形/長方形 5">
            <a:extLst>
              <a:ext uri="{FF2B5EF4-FFF2-40B4-BE49-F238E27FC236}">
                <a16:creationId xmlns:a16="http://schemas.microsoft.com/office/drawing/2014/main" id="{8B20BFF3-9D3E-A4D7-FF5A-70927F78FC9D}"/>
              </a:ext>
            </a:extLst>
          </p:cNvPr>
          <p:cNvSpPr/>
          <p:nvPr/>
        </p:nvSpPr>
        <p:spPr>
          <a:xfrm>
            <a:off x="7729169" y="4623314"/>
            <a:ext cx="730843" cy="649672"/>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endParaRPr lang="ja-JP" altLang="en-US">
              <a:latin typeface="メイリオ"/>
              <a:ea typeface="メイリオ"/>
              <a:cs typeface="メイリオ"/>
            </a:endParaRPr>
          </a:p>
        </p:txBody>
      </p:sp>
      <p:sp>
        <p:nvSpPr>
          <p:cNvPr id="9" name="正方形/長方形 8">
            <a:extLst>
              <a:ext uri="{FF2B5EF4-FFF2-40B4-BE49-F238E27FC236}">
                <a16:creationId xmlns:a16="http://schemas.microsoft.com/office/drawing/2014/main" id="{DC4FF56C-47EE-47DB-92F1-3F0EF57613D9}"/>
              </a:ext>
            </a:extLst>
          </p:cNvPr>
          <p:cNvSpPr/>
          <p:nvPr/>
        </p:nvSpPr>
        <p:spPr>
          <a:xfrm>
            <a:off x="4180596" y="846996"/>
            <a:ext cx="4575836" cy="307777"/>
          </a:xfrm>
          <a:prstGeom prst="rect">
            <a:avLst/>
          </a:prstGeom>
        </p:spPr>
        <p:txBody>
          <a:bodyPr wrap="square" lIns="74295" rIns="74295">
            <a:spAutoFit/>
          </a:bodyPr>
          <a:lstStyle/>
          <a:p>
            <a:pPr lvl="0">
              <a:buClr>
                <a:schemeClr val="dk1"/>
              </a:buClr>
              <a:buSzPts val="1500"/>
            </a:pPr>
            <a:r>
              <a:rPr lang="ja-JP" altLang="en-US" sz="1400" dirty="0">
                <a:latin typeface="メイリオ"/>
                <a:ea typeface="メイリオ"/>
                <a:cs typeface="メイリオ"/>
                <a:sym typeface="Meiryo"/>
              </a:rPr>
              <a:t>フォーム送信後の</a:t>
            </a:r>
            <a:r>
              <a:rPr lang="en-US" altLang="ja-JP" sz="1400" dirty="0">
                <a:latin typeface="メイリオ"/>
                <a:ea typeface="メイリオ"/>
                <a:cs typeface="メイリオ"/>
                <a:sym typeface="Meiryo"/>
              </a:rPr>
              <a:t>LINE</a:t>
            </a:r>
            <a:r>
              <a:rPr lang="ja-JP" altLang="en-US" sz="1400" dirty="0">
                <a:latin typeface="メイリオ"/>
                <a:ea typeface="メイリオ"/>
                <a:cs typeface="メイリオ"/>
                <a:sym typeface="Meiryo"/>
              </a:rPr>
              <a:t>誘導を自動化するツール</a:t>
            </a:r>
            <a:endParaRPr lang="en-US" altLang="ja-JP" sz="1400" dirty="0">
              <a:latin typeface="メイリオ"/>
              <a:ea typeface="メイリオ"/>
              <a:cs typeface="メイリオ"/>
              <a:sym typeface="Meiryo"/>
            </a:endParaRPr>
          </a:p>
        </p:txBody>
      </p:sp>
      <p:sp>
        <p:nvSpPr>
          <p:cNvPr id="8" name="正方形/長方形 7">
            <a:extLst>
              <a:ext uri="{FF2B5EF4-FFF2-40B4-BE49-F238E27FC236}">
                <a16:creationId xmlns:a16="http://schemas.microsoft.com/office/drawing/2014/main" id="{F5B8C83A-7191-D772-EF88-AE268D007E63}"/>
              </a:ext>
            </a:extLst>
          </p:cNvPr>
          <p:cNvSpPr/>
          <p:nvPr/>
        </p:nvSpPr>
        <p:spPr>
          <a:xfrm>
            <a:off x="6097538" y="1666571"/>
            <a:ext cx="2513872" cy="284744"/>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r>
              <a:rPr lang="ja-JP" altLang="en-US" sz="1100" b="1" dirty="0">
                <a:solidFill>
                  <a:schemeClr val="bg1"/>
                </a:solidFill>
                <a:latin typeface="メイリオ" panose="020B0604030504040204" pitchFamily="50" charset="-128"/>
                <a:ea typeface="メイリオ" panose="020B0604030504040204" pitchFamily="50" charset="-128"/>
                <a:cs typeface="メイリオ"/>
              </a:rPr>
              <a:t>動作イメージ</a:t>
            </a:r>
          </a:p>
        </p:txBody>
      </p:sp>
      <p:sp>
        <p:nvSpPr>
          <p:cNvPr id="11" name="正方形/長方形 10">
            <a:extLst>
              <a:ext uri="{FF2B5EF4-FFF2-40B4-BE49-F238E27FC236}">
                <a16:creationId xmlns:a16="http://schemas.microsoft.com/office/drawing/2014/main" id="{189A6A4C-E34E-E7CF-D6DD-C175E600A94D}"/>
              </a:ext>
            </a:extLst>
          </p:cNvPr>
          <p:cNvSpPr/>
          <p:nvPr/>
        </p:nvSpPr>
        <p:spPr>
          <a:xfrm>
            <a:off x="1209560" y="1525688"/>
            <a:ext cx="1510467" cy="244151"/>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r>
              <a:rPr lang="en-US" altLang="ja-JP" sz="950" b="1"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WEB</a:t>
            </a:r>
            <a:r>
              <a:rPr lang="ja-JP" altLang="en-US" sz="950" b="1" dirty="0">
                <a:solidFill>
                  <a:schemeClr val="tx1">
                    <a:lumMod val="50000"/>
                    <a:lumOff val="50000"/>
                  </a:schemeClr>
                </a:solidFill>
                <a:latin typeface="メイリオ" panose="020B0604030504040204" pitchFamily="50" charset="-128"/>
                <a:ea typeface="メイリオ" panose="020B0604030504040204" pitchFamily="50" charset="-128"/>
                <a:cs typeface="メイリオ"/>
              </a:rPr>
              <a:t>サイト</a:t>
            </a:r>
          </a:p>
        </p:txBody>
      </p:sp>
      <p:pic>
        <p:nvPicPr>
          <p:cNvPr id="18" name="図 17">
            <a:extLst>
              <a:ext uri="{FF2B5EF4-FFF2-40B4-BE49-F238E27FC236}">
                <a16:creationId xmlns:a16="http://schemas.microsoft.com/office/drawing/2014/main" id="{122BEACA-AA0E-EFF8-CDF2-B0A5B58840D0}"/>
              </a:ext>
            </a:extLst>
          </p:cNvPr>
          <p:cNvPicPr>
            <a:picLocks noChangeAspect="1"/>
          </p:cNvPicPr>
          <p:nvPr/>
        </p:nvPicPr>
        <p:blipFill>
          <a:blip r:embed="rId9"/>
          <a:stretch>
            <a:fillRect/>
          </a:stretch>
        </p:blipFill>
        <p:spPr>
          <a:xfrm>
            <a:off x="2412518" y="3590272"/>
            <a:ext cx="379108" cy="69986"/>
          </a:xfrm>
          <a:prstGeom prst="rect">
            <a:avLst/>
          </a:prstGeom>
        </p:spPr>
      </p:pic>
      <p:pic>
        <p:nvPicPr>
          <p:cNvPr id="27" name="図 26">
            <a:extLst>
              <a:ext uri="{FF2B5EF4-FFF2-40B4-BE49-F238E27FC236}">
                <a16:creationId xmlns:a16="http://schemas.microsoft.com/office/drawing/2014/main" id="{D971BE53-7CD8-C375-2A00-B224602AC25F}"/>
              </a:ext>
            </a:extLst>
          </p:cNvPr>
          <p:cNvPicPr>
            <a:picLocks noChangeAspect="1"/>
          </p:cNvPicPr>
          <p:nvPr/>
        </p:nvPicPr>
        <p:blipFill>
          <a:blip r:embed="rId9"/>
          <a:stretch>
            <a:fillRect/>
          </a:stretch>
        </p:blipFill>
        <p:spPr>
          <a:xfrm>
            <a:off x="2234699" y="2111288"/>
            <a:ext cx="379108" cy="69986"/>
          </a:xfrm>
          <a:prstGeom prst="rect">
            <a:avLst/>
          </a:prstGeom>
        </p:spPr>
      </p:pic>
      <p:sp>
        <p:nvSpPr>
          <p:cNvPr id="33" name="四角形: 角を丸くする 32">
            <a:extLst>
              <a:ext uri="{FF2B5EF4-FFF2-40B4-BE49-F238E27FC236}">
                <a16:creationId xmlns:a16="http://schemas.microsoft.com/office/drawing/2014/main" id="{B7D71D80-6086-B1B4-3E2C-EE891B12909E}"/>
              </a:ext>
            </a:extLst>
          </p:cNvPr>
          <p:cNvSpPr/>
          <p:nvPr/>
        </p:nvSpPr>
        <p:spPr>
          <a:xfrm>
            <a:off x="1511868" y="4640731"/>
            <a:ext cx="3960179" cy="659955"/>
          </a:xfrm>
          <a:prstGeom prst="roundRect">
            <a:avLst>
              <a:gd name="adj" fmla="val 25327"/>
            </a:avLst>
          </a:prstGeom>
          <a:solidFill>
            <a:srgbClr val="04FA0A">
              <a:alpha val="4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r>
              <a:rPr lang="ja-JP" altLang="en-US" sz="1300" dirty="0">
                <a:solidFill>
                  <a:schemeClr val="tx1"/>
                </a:solidFill>
                <a:latin typeface="メイリオ" panose="020B0604030504040204" pitchFamily="50" charset="-128"/>
                <a:ea typeface="メイリオ" panose="020B0604030504040204" pitchFamily="50" charset="-128"/>
              </a:rPr>
              <a:t>フォーム入力内容を</a:t>
            </a:r>
            <a:br>
              <a:rPr lang="en-US" altLang="ja-JP" sz="1300" dirty="0">
                <a:solidFill>
                  <a:schemeClr val="tx1"/>
                </a:solidFill>
                <a:latin typeface="メイリオ" panose="020B0604030504040204" pitchFamily="50" charset="-128"/>
                <a:ea typeface="メイリオ" panose="020B0604030504040204" pitchFamily="50" charset="-128"/>
              </a:rPr>
            </a:br>
            <a:r>
              <a:rPr lang="en-US" altLang="ja-JP" sz="1300" dirty="0">
                <a:solidFill>
                  <a:schemeClr val="tx1"/>
                </a:solidFill>
                <a:latin typeface="メイリオ" panose="020B0604030504040204" pitchFamily="50" charset="-128"/>
                <a:ea typeface="メイリオ" panose="020B0604030504040204" pitchFamily="50" charset="-128"/>
              </a:rPr>
              <a:t>LINE</a:t>
            </a:r>
            <a:r>
              <a:rPr lang="ja-JP" altLang="en-US" sz="1300" dirty="0">
                <a:solidFill>
                  <a:schemeClr val="tx1"/>
                </a:solidFill>
                <a:latin typeface="メイリオ" panose="020B0604030504040204" pitchFamily="50" charset="-128"/>
                <a:ea typeface="メイリオ" panose="020B0604030504040204" pitchFamily="50" charset="-128"/>
              </a:rPr>
              <a:t>トーク入力画面へ引き継ぎ可能</a:t>
            </a:r>
          </a:p>
        </p:txBody>
      </p:sp>
      <p:cxnSp>
        <p:nvCxnSpPr>
          <p:cNvPr id="44" name="直線矢印コネクタ 43">
            <a:extLst>
              <a:ext uri="{FF2B5EF4-FFF2-40B4-BE49-F238E27FC236}">
                <a16:creationId xmlns:a16="http://schemas.microsoft.com/office/drawing/2014/main" id="{666CF79B-D322-06BC-F342-DE710BE7473B}"/>
              </a:ext>
            </a:extLst>
          </p:cNvPr>
          <p:cNvCxnSpPr>
            <a:cxnSpLocks/>
          </p:cNvCxnSpPr>
          <p:nvPr/>
        </p:nvCxnSpPr>
        <p:spPr>
          <a:xfrm flipH="1" flipV="1">
            <a:off x="1145256" y="4485242"/>
            <a:ext cx="515326" cy="485466"/>
          </a:xfrm>
          <a:prstGeom prst="straightConnector1">
            <a:avLst/>
          </a:prstGeom>
          <a:ln w="19050">
            <a:solidFill>
              <a:srgbClr val="00B050">
                <a:alpha val="80000"/>
              </a:srgbClr>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29" name="正方形/長方形 28">
            <a:extLst>
              <a:ext uri="{FF2B5EF4-FFF2-40B4-BE49-F238E27FC236}">
                <a16:creationId xmlns:a16="http://schemas.microsoft.com/office/drawing/2014/main" id="{1D29A9C3-A3E8-0780-A758-0C8E7E376668}"/>
              </a:ext>
            </a:extLst>
          </p:cNvPr>
          <p:cNvSpPr/>
          <p:nvPr/>
        </p:nvSpPr>
        <p:spPr>
          <a:xfrm>
            <a:off x="5284944" y="2415812"/>
            <a:ext cx="530810" cy="1821208"/>
          </a:xfrm>
          <a:prstGeom prst="rect">
            <a:avLst/>
          </a:prstGeom>
          <a:solidFill>
            <a:srgbClr val="04FA0A">
              <a:alpha val="4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r>
              <a:rPr lang="en-US" altLang="ja-JP" sz="950" b="1" dirty="0">
                <a:solidFill>
                  <a:schemeClr val="tx1"/>
                </a:solidFill>
                <a:latin typeface="メイリオ" panose="020B0604030504040204" pitchFamily="50" charset="-128"/>
                <a:ea typeface="メイリオ" panose="020B0604030504040204" pitchFamily="50" charset="-128"/>
                <a:cs typeface="メイリオ"/>
              </a:rPr>
              <a:t>DYM</a:t>
            </a:r>
          </a:p>
          <a:p>
            <a:pPr algn="ctr"/>
            <a:r>
              <a:rPr lang="ja-JP" altLang="en-US" sz="950" b="1" dirty="0">
                <a:solidFill>
                  <a:schemeClr val="tx1"/>
                </a:solidFill>
                <a:latin typeface="メイリオ" panose="020B0604030504040204" pitchFamily="50" charset="-128"/>
                <a:ea typeface="メイリオ" panose="020B0604030504040204" pitchFamily="50" charset="-128"/>
                <a:cs typeface="メイリオ"/>
              </a:rPr>
              <a:t>開発</a:t>
            </a:r>
            <a:endParaRPr lang="en-US" altLang="ja-JP" sz="950" b="1" dirty="0">
              <a:solidFill>
                <a:schemeClr val="tx1"/>
              </a:solidFill>
              <a:latin typeface="メイリオ" panose="020B0604030504040204" pitchFamily="50" charset="-128"/>
              <a:ea typeface="メイリオ" panose="020B0604030504040204" pitchFamily="50" charset="-128"/>
              <a:cs typeface="メイリオ"/>
            </a:endParaRPr>
          </a:p>
          <a:p>
            <a:pPr algn="ctr"/>
            <a:r>
              <a:rPr lang="ja-JP" altLang="en-US" sz="950" b="1" dirty="0">
                <a:solidFill>
                  <a:schemeClr val="tx1"/>
                </a:solidFill>
                <a:latin typeface="メイリオ" panose="020B0604030504040204" pitchFamily="50" charset="-128"/>
                <a:ea typeface="メイリオ" panose="020B0604030504040204" pitchFamily="50" charset="-128"/>
                <a:cs typeface="メイリオ"/>
              </a:rPr>
              <a:t>ツール</a:t>
            </a:r>
            <a:endParaRPr lang="en-US" altLang="ja-JP" sz="950" b="1" dirty="0">
              <a:solidFill>
                <a:schemeClr val="tx1"/>
              </a:solidFill>
              <a:latin typeface="メイリオ" panose="020B0604030504040204" pitchFamily="50" charset="-128"/>
              <a:ea typeface="メイリオ" panose="020B0604030504040204" pitchFamily="50" charset="-128"/>
              <a:cs typeface="メイリオ"/>
            </a:endParaRPr>
          </a:p>
        </p:txBody>
      </p:sp>
      <p:sp>
        <p:nvSpPr>
          <p:cNvPr id="1048" name="矢印: 右 1047">
            <a:extLst>
              <a:ext uri="{FF2B5EF4-FFF2-40B4-BE49-F238E27FC236}">
                <a16:creationId xmlns:a16="http://schemas.microsoft.com/office/drawing/2014/main" id="{6A5BBE8E-2B42-49E0-686B-A6584B59E72F}"/>
              </a:ext>
            </a:extLst>
          </p:cNvPr>
          <p:cNvSpPr/>
          <p:nvPr/>
        </p:nvSpPr>
        <p:spPr>
          <a:xfrm>
            <a:off x="3398999" y="3203047"/>
            <a:ext cx="1843892" cy="392774"/>
          </a:xfrm>
          <a:prstGeom prst="rightArrow">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endParaRPr lang="ja-JP" altLang="en-US"/>
          </a:p>
        </p:txBody>
      </p:sp>
      <p:sp>
        <p:nvSpPr>
          <p:cNvPr id="1050" name="吹き出し: 角を丸めた四角形 1049">
            <a:extLst>
              <a:ext uri="{FF2B5EF4-FFF2-40B4-BE49-F238E27FC236}">
                <a16:creationId xmlns:a16="http://schemas.microsoft.com/office/drawing/2014/main" id="{0D7606B7-7AEE-445F-FB97-74913C4A4F60}"/>
              </a:ext>
            </a:extLst>
          </p:cNvPr>
          <p:cNvSpPr/>
          <p:nvPr/>
        </p:nvSpPr>
        <p:spPr>
          <a:xfrm>
            <a:off x="3492025" y="2641849"/>
            <a:ext cx="1624523" cy="476757"/>
          </a:xfrm>
          <a:prstGeom prst="wedgeRoundRectCallout">
            <a:avLst/>
          </a:prstGeom>
          <a:solidFill>
            <a:srgbClr val="FDFDFD"/>
          </a:solidFill>
          <a:ln w="19050">
            <a:solidFill>
              <a:schemeClr val="tx2">
                <a:alpha val="40000"/>
              </a:schemeClr>
            </a:solid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r>
              <a:rPr lang="en-US" altLang="ja-JP" sz="1100" dirty="0">
                <a:solidFill>
                  <a:schemeClr val="tx1"/>
                </a:solidFill>
                <a:latin typeface="メイリオ" panose="020B0604030504040204" pitchFamily="50" charset="-128"/>
                <a:ea typeface="メイリオ" panose="020B0604030504040204" pitchFamily="50" charset="-128"/>
              </a:rPr>
              <a:t>CV</a:t>
            </a:r>
            <a:r>
              <a:rPr lang="ja-JP" altLang="en-US" sz="1100" dirty="0">
                <a:solidFill>
                  <a:schemeClr val="tx1"/>
                </a:solidFill>
                <a:latin typeface="メイリオ" panose="020B0604030504040204" pitchFamily="50" charset="-128"/>
                <a:ea typeface="メイリオ" panose="020B0604030504040204" pitchFamily="50" charset="-128"/>
              </a:rPr>
              <a:t>完了後約</a:t>
            </a:r>
            <a:r>
              <a:rPr lang="en-US" altLang="ja-JP" sz="1100" dirty="0">
                <a:solidFill>
                  <a:schemeClr val="tx1"/>
                </a:solidFill>
                <a:latin typeface="メイリオ" panose="020B0604030504040204" pitchFamily="50" charset="-128"/>
                <a:ea typeface="メイリオ" panose="020B0604030504040204" pitchFamily="50" charset="-128"/>
              </a:rPr>
              <a:t>2~3</a:t>
            </a:r>
            <a:r>
              <a:rPr lang="ja-JP" altLang="en-US" sz="1100" dirty="0">
                <a:solidFill>
                  <a:schemeClr val="tx1"/>
                </a:solidFill>
                <a:latin typeface="メイリオ" panose="020B0604030504040204" pitchFamily="50" charset="-128"/>
                <a:ea typeface="メイリオ" panose="020B0604030504040204" pitchFamily="50" charset="-128"/>
              </a:rPr>
              <a:t>秒で</a:t>
            </a:r>
            <a:br>
              <a:rPr lang="en-US" altLang="ja-JP" sz="1100" dirty="0">
                <a:solidFill>
                  <a:schemeClr val="tx1"/>
                </a:solidFill>
                <a:latin typeface="メイリオ" panose="020B0604030504040204" pitchFamily="50" charset="-128"/>
                <a:ea typeface="メイリオ" panose="020B0604030504040204" pitchFamily="50" charset="-128"/>
              </a:rPr>
            </a:br>
            <a:r>
              <a:rPr lang="en-US" altLang="ja-JP" sz="1100" dirty="0">
                <a:solidFill>
                  <a:schemeClr val="tx1"/>
                </a:solidFill>
                <a:latin typeface="メイリオ" panose="020B0604030504040204" pitchFamily="50" charset="-128"/>
                <a:ea typeface="メイリオ" panose="020B0604030504040204" pitchFamily="50" charset="-128"/>
              </a:rPr>
              <a:t>LINE</a:t>
            </a:r>
            <a:r>
              <a:rPr lang="ja-JP" altLang="en-US" sz="1100" dirty="0">
                <a:solidFill>
                  <a:schemeClr val="tx1"/>
                </a:solidFill>
                <a:latin typeface="メイリオ" panose="020B0604030504040204" pitchFamily="50" charset="-128"/>
                <a:ea typeface="メイリオ" panose="020B0604030504040204" pitchFamily="50" charset="-128"/>
              </a:rPr>
              <a:t>へ自動遷移</a:t>
            </a:r>
            <a:endParaRPr lang="en-US" altLang="ja-JP" sz="1100" dirty="0">
              <a:solidFill>
                <a:schemeClr val="tx1"/>
              </a:solidFill>
              <a:latin typeface="メイリオ" panose="020B0604030504040204" pitchFamily="50" charset="-128"/>
              <a:ea typeface="メイリオ" panose="020B0604030504040204" pitchFamily="50" charset="-128"/>
            </a:endParaRPr>
          </a:p>
        </p:txBody>
      </p:sp>
      <p:cxnSp>
        <p:nvCxnSpPr>
          <p:cNvPr id="1052" name="直線矢印コネクタ 1051">
            <a:extLst>
              <a:ext uri="{FF2B5EF4-FFF2-40B4-BE49-F238E27FC236}">
                <a16:creationId xmlns:a16="http://schemas.microsoft.com/office/drawing/2014/main" id="{5B4E7079-E54A-2282-BDB8-487FFE5E8981}"/>
              </a:ext>
            </a:extLst>
          </p:cNvPr>
          <p:cNvCxnSpPr>
            <a:cxnSpLocks/>
          </p:cNvCxnSpPr>
          <p:nvPr/>
        </p:nvCxnSpPr>
        <p:spPr>
          <a:xfrm>
            <a:off x="5242891" y="4971540"/>
            <a:ext cx="2486278" cy="256434"/>
          </a:xfrm>
          <a:prstGeom prst="straightConnector1">
            <a:avLst/>
          </a:prstGeom>
          <a:ln w="19050">
            <a:solidFill>
              <a:srgbClr val="00B050">
                <a:alpha val="80000"/>
              </a:srgbClr>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7" name="矢印: 右 6">
            <a:extLst>
              <a:ext uri="{FF2B5EF4-FFF2-40B4-BE49-F238E27FC236}">
                <a16:creationId xmlns:a16="http://schemas.microsoft.com/office/drawing/2014/main" id="{9EC51A72-DCD0-B1E9-7CCE-6674E65DC641}"/>
              </a:ext>
            </a:extLst>
          </p:cNvPr>
          <p:cNvSpPr/>
          <p:nvPr/>
        </p:nvSpPr>
        <p:spPr>
          <a:xfrm rot="5400000">
            <a:off x="6436767" y="3831408"/>
            <a:ext cx="349205" cy="392774"/>
          </a:xfrm>
          <a:prstGeom prst="rightArrow">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lIns="74295" rIns="74295" rtlCol="0" anchor="ctr"/>
          <a:lstStyle/>
          <a:p>
            <a:pPr algn="ctr"/>
            <a:endParaRPr lang="ja-JP" altLang="en-US"/>
          </a:p>
        </p:txBody>
      </p:sp>
      <p:sp>
        <p:nvSpPr>
          <p:cNvPr id="41" name="四角形: 角を丸くする 40">
            <a:extLst>
              <a:ext uri="{FF2B5EF4-FFF2-40B4-BE49-F238E27FC236}">
                <a16:creationId xmlns:a16="http://schemas.microsoft.com/office/drawing/2014/main" id="{3DEB8AF5-27EB-F2A5-5738-9D4876D62932}"/>
              </a:ext>
            </a:extLst>
          </p:cNvPr>
          <p:cNvSpPr/>
          <p:nvPr/>
        </p:nvSpPr>
        <p:spPr>
          <a:xfrm>
            <a:off x="1331634" y="5386674"/>
            <a:ext cx="3965148" cy="1126724"/>
          </a:xfrm>
          <a:prstGeom prst="roundRect">
            <a:avLst>
              <a:gd name="adj" fmla="val 8129"/>
            </a:avLst>
          </a:prstGeom>
          <a:solidFill>
            <a:schemeClr val="bg1">
              <a:lumMod val="85000"/>
            </a:schemeClr>
          </a:solidFill>
          <a:ln w="12700">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pic>
        <p:nvPicPr>
          <p:cNvPr id="43" name="図 42">
            <a:extLst>
              <a:ext uri="{FF2B5EF4-FFF2-40B4-BE49-F238E27FC236}">
                <a16:creationId xmlns:a16="http://schemas.microsoft.com/office/drawing/2014/main" id="{F4AEE4F6-B4F2-3B63-B340-970573C6BC9B}"/>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1407362" y="5422614"/>
            <a:ext cx="1068810" cy="1060107"/>
          </a:xfrm>
          <a:prstGeom prst="rect">
            <a:avLst/>
          </a:prstGeom>
        </p:spPr>
      </p:pic>
      <p:sp>
        <p:nvSpPr>
          <p:cNvPr id="50" name="テキスト ボックス 49">
            <a:extLst>
              <a:ext uri="{FF2B5EF4-FFF2-40B4-BE49-F238E27FC236}">
                <a16:creationId xmlns:a16="http://schemas.microsoft.com/office/drawing/2014/main" id="{9E529396-156F-55A0-24A1-E3F30C8D079F}"/>
              </a:ext>
            </a:extLst>
          </p:cNvPr>
          <p:cNvSpPr txBox="1"/>
          <p:nvPr/>
        </p:nvSpPr>
        <p:spPr>
          <a:xfrm>
            <a:off x="2607260" y="6011736"/>
            <a:ext cx="1740223" cy="430887"/>
          </a:xfrm>
          <a:prstGeom prst="rect">
            <a:avLst/>
          </a:prstGeom>
          <a:noFill/>
        </p:spPr>
        <p:txBody>
          <a:bodyPr wrap="square">
            <a:spAutoFit/>
          </a:bodyPr>
          <a:lstStyle/>
          <a:p>
            <a:r>
              <a:rPr lang="ja-JP" altLang="ja-JP" sz="1050" b="1" dirty="0">
                <a:latin typeface="メイリオ" panose="020B0604030504040204" pitchFamily="50" charset="-128"/>
                <a:ea typeface="メイリオ" panose="020B0604030504040204" pitchFamily="50" charset="-128"/>
              </a:rPr>
              <a:t>QRコードを読み取って</a:t>
            </a:r>
            <a:endParaRPr lang="en-US" altLang="ja-JP" sz="1050" b="1" dirty="0">
              <a:latin typeface="メイリオ" panose="020B0604030504040204" pitchFamily="50" charset="-128"/>
              <a:ea typeface="メイリオ" panose="020B0604030504040204" pitchFamily="50" charset="-128"/>
            </a:endParaRPr>
          </a:p>
          <a:p>
            <a:r>
              <a:rPr lang="ja-JP" altLang="ja-JP" sz="1050" b="1" dirty="0">
                <a:latin typeface="メイリオ" panose="020B0604030504040204" pitchFamily="50" charset="-128"/>
                <a:ea typeface="メイリオ" panose="020B0604030504040204" pitchFamily="50" charset="-128"/>
              </a:rPr>
              <a:t>動画を見る（約22秒）</a:t>
            </a:r>
            <a:endParaRPr lang="en-US" altLang="ja-JP" sz="1050" b="1" dirty="0">
              <a:latin typeface="メイリオ" panose="020B0604030504040204" pitchFamily="50" charset="-128"/>
              <a:ea typeface="メイリオ" panose="020B0604030504040204" pitchFamily="50" charset="-128"/>
            </a:endParaRPr>
          </a:p>
        </p:txBody>
      </p:sp>
      <p:sp>
        <p:nvSpPr>
          <p:cNvPr id="52" name="テキスト ボックス 51">
            <a:extLst>
              <a:ext uri="{FF2B5EF4-FFF2-40B4-BE49-F238E27FC236}">
                <a16:creationId xmlns:a16="http://schemas.microsoft.com/office/drawing/2014/main" id="{FA39FB9E-0354-C79E-71A4-67DB6A28B75A}"/>
              </a:ext>
            </a:extLst>
          </p:cNvPr>
          <p:cNvSpPr txBox="1"/>
          <p:nvPr/>
        </p:nvSpPr>
        <p:spPr>
          <a:xfrm>
            <a:off x="4032248" y="5546685"/>
            <a:ext cx="869321" cy="276999"/>
          </a:xfrm>
          <a:prstGeom prst="rect">
            <a:avLst/>
          </a:prstGeom>
          <a:solidFill>
            <a:schemeClr val="tx2"/>
          </a:solidFill>
        </p:spPr>
        <p:txBody>
          <a:bodyPr wrap="square">
            <a:spAutoFit/>
          </a:bodyPr>
          <a:lstStyle/>
          <a:p>
            <a:r>
              <a:rPr lang="ja-JP" altLang="en-US" sz="1200" dirty="0">
                <a:solidFill>
                  <a:schemeClr val="bg1"/>
                </a:solidFill>
                <a:latin typeface="メイリオ" panose="020B0604030504040204" pitchFamily="50" charset="-128"/>
                <a:ea typeface="メイリオ" panose="020B0604030504040204" pitchFamily="50" charset="-128"/>
                <a:hlinkClick r:id="rId11">
                  <a:extLst>
                    <a:ext uri="{A12FA001-AC4F-418D-AE19-62706E023703}">
                      <ahyp:hlinkClr xmlns:ahyp="http://schemas.microsoft.com/office/drawing/2018/hyperlinkcolor" val="tx"/>
                    </a:ext>
                  </a:extLst>
                </a:hlinkClick>
              </a:rPr>
              <a:t>再生</a:t>
            </a:r>
            <a:r>
              <a:rPr lang="ja-JP" altLang="en-US" sz="1200" dirty="0">
                <a:solidFill>
                  <a:srgbClr val="0000FF"/>
                </a:solidFill>
                <a:latin typeface="メイリオ" panose="020B0604030504040204" pitchFamily="50" charset="-128"/>
                <a:ea typeface="メイリオ" panose="020B0604030504040204" pitchFamily="50" charset="-128"/>
                <a:hlinkClick r:id="rId11">
                  <a:extLst>
                    <a:ext uri="{A12FA001-AC4F-418D-AE19-62706E023703}">
                      <ahyp:hlinkClr xmlns:ahyp="http://schemas.microsoft.com/office/drawing/2018/hyperlinkcolor" val="tx"/>
                    </a:ext>
                  </a:extLst>
                </a:hlinkClick>
              </a:rPr>
              <a:t> </a:t>
            </a:r>
            <a:r>
              <a:rPr lang="en-US" altLang="ja-JP" sz="1200" dirty="0">
                <a:solidFill>
                  <a:schemeClr val="bg1"/>
                </a:solidFill>
                <a:latin typeface="メイリオ" panose="020B0604030504040204" pitchFamily="50" charset="-128"/>
                <a:ea typeface="メイリオ" panose="020B0604030504040204" pitchFamily="50" charset="-128"/>
                <a:hlinkClick r:id="rId11">
                  <a:extLst>
                    <a:ext uri="{A12FA001-AC4F-418D-AE19-62706E023703}">
                      <ahyp:hlinkClr xmlns:ahyp="http://schemas.microsoft.com/office/drawing/2018/hyperlinkcolor" val="tx"/>
                    </a:ext>
                  </a:extLst>
                </a:hlinkClick>
              </a:rPr>
              <a:t>[▷]</a:t>
            </a:r>
            <a:endParaRPr lang="ja-JP" altLang="en-US" sz="1200" dirty="0">
              <a:solidFill>
                <a:schemeClr val="bg1"/>
              </a:solidFill>
              <a:latin typeface="メイリオ" panose="020B0604030504040204" pitchFamily="50" charset="-128"/>
              <a:ea typeface="メイリオ" panose="020B0604030504040204" pitchFamily="50" charset="-128"/>
            </a:endParaRPr>
          </a:p>
        </p:txBody>
      </p:sp>
      <p:sp>
        <p:nvSpPr>
          <p:cNvPr id="54" name="テキスト ボックス 53">
            <a:extLst>
              <a:ext uri="{FF2B5EF4-FFF2-40B4-BE49-F238E27FC236}">
                <a16:creationId xmlns:a16="http://schemas.microsoft.com/office/drawing/2014/main" id="{C2099EF7-D4DC-D52C-E0A5-F84C559A9E47}"/>
              </a:ext>
            </a:extLst>
          </p:cNvPr>
          <p:cNvSpPr txBox="1"/>
          <p:nvPr/>
        </p:nvSpPr>
        <p:spPr>
          <a:xfrm>
            <a:off x="2648894" y="5570417"/>
            <a:ext cx="1740223" cy="253916"/>
          </a:xfrm>
          <a:prstGeom prst="rect">
            <a:avLst/>
          </a:prstGeom>
          <a:noFill/>
        </p:spPr>
        <p:txBody>
          <a:bodyPr wrap="square">
            <a:spAutoFit/>
          </a:bodyPr>
          <a:lstStyle/>
          <a:p>
            <a:r>
              <a:rPr lang="ja-JP" altLang="en-US" sz="1050" b="1" dirty="0">
                <a:latin typeface="メイリオ" panose="020B0604030504040204" pitchFamily="50" charset="-128"/>
                <a:ea typeface="メイリオ" panose="020B0604030504040204" pitchFamily="50" charset="-128"/>
              </a:rPr>
              <a:t>クリックして再生</a:t>
            </a:r>
            <a:endParaRPr lang="en-US" altLang="ja-JP" sz="1050" b="1" dirty="0">
              <a:latin typeface="メイリオ" panose="020B0604030504040204" pitchFamily="50" charset="-128"/>
              <a:ea typeface="メイリオ" panose="020B0604030504040204" pitchFamily="50" charset="-128"/>
            </a:endParaRPr>
          </a:p>
        </p:txBody>
      </p:sp>
      <p:sp>
        <p:nvSpPr>
          <p:cNvPr id="1053" name="Rectangle 1052"/>
          <p:cNvSpPr/>
          <p:nvPr/>
        </p:nvSpPr>
        <p:spPr>
          <a:xfrm>
            <a:off x="4178808" y="1216152"/>
            <a:ext cx="1143000" cy="256032"/>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wrap="square" lIns="18000" tIns="0" rIns="18000" bIns="0" rtlCol="0" anchor="ctr"/>
          <a:lstStyle/>
          <a:p>
            <a:pPr algn="ctr">
              <a:lnSpc>
                <a:spcPct val="110000"/>
              </a:lnSpc>
              <a:spcAft>
                <a:spcPts val="0"/>
              </a:spcAft>
            </a:pPr>
            <a:r>
              <a:rPr sz="1100" b="1">
                <a:solidFill>
                  <a:srgbClr val="FFFFFF"/>
                </a:solidFill>
                <a:latin typeface="メイリオ"/>
                <a:ea typeface="メイリオ"/>
                <a:cs typeface="メイリオ"/>
              </a:rPr>
              <a:t>初期：15万円</a:t>
            </a:r>
          </a:p>
        </p:txBody>
      </p:sp>
      <p:sp>
        <p:nvSpPr>
          <p:cNvPr id="1054" name="Rectangle 1053"/>
          <p:cNvSpPr/>
          <p:nvPr/>
        </p:nvSpPr>
        <p:spPr>
          <a:xfrm>
            <a:off x="5394960" y="1216152"/>
            <a:ext cx="2103120" cy="256032"/>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wrap="square" lIns="18000" tIns="0" rIns="18000" bIns="0" rtlCol="0" anchor="ctr"/>
          <a:lstStyle/>
          <a:p>
            <a:pPr algn="ctr">
              <a:lnSpc>
                <a:spcPct val="110000"/>
              </a:lnSpc>
              <a:spcAft>
                <a:spcPts val="0"/>
              </a:spcAft>
            </a:pPr>
            <a:r>
              <a:rPr sz="1100" b="1">
                <a:solidFill>
                  <a:srgbClr val="FFFFFF"/>
                </a:solidFill>
                <a:latin typeface="メイリオ"/>
                <a:ea typeface="メイリオ"/>
                <a:cs typeface="メイリオ"/>
              </a:rPr>
              <a:t>月額3万円〜＋設定地点追加</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Google Shape;752;p28">
            <a:extLst>
              <a:ext uri="{FF2B5EF4-FFF2-40B4-BE49-F238E27FC236}">
                <a16:creationId xmlns:a16="http://schemas.microsoft.com/office/drawing/2014/main" id="{E371F4F6-3F93-7830-595E-799AA69EA971}"/>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提供施策について</a:t>
            </a:r>
          </a:p>
        </p:txBody>
      </p:sp>
      <p:sp>
        <p:nvSpPr>
          <p:cNvPr id="2" name="角丸四角形 8">
            <a:extLst>
              <a:ext uri="{FF2B5EF4-FFF2-40B4-BE49-F238E27FC236}">
                <a16:creationId xmlns:a16="http://schemas.microsoft.com/office/drawing/2014/main" id="{FD5318E5-8B5E-2D7D-A660-11170C412EF2}"/>
              </a:ext>
            </a:extLst>
          </p:cNvPr>
          <p:cNvSpPr/>
          <p:nvPr/>
        </p:nvSpPr>
        <p:spPr>
          <a:xfrm>
            <a:off x="6663036" y="4093029"/>
            <a:ext cx="2986322" cy="2154460"/>
          </a:xfrm>
          <a:prstGeom prst="roundRect">
            <a:avLst>
              <a:gd name="adj" fmla="val 3567"/>
            </a:avLst>
          </a:prstGeom>
          <a:solidFill>
            <a:srgbClr val="FFFFFF">
              <a:lumMod val="95000"/>
            </a:srgbClr>
          </a:solidFill>
          <a:ln w="25400" cap="flat" cmpd="sng" algn="ctr">
            <a:solidFill>
              <a:srgbClr val="FFFFFF">
                <a:lumMod val="85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endParaRPr kumimoji="0" lang="ja-JP" altLang="en-US" sz="1400" b="0" i="0" u="none" strike="noStrike" kern="0" cap="none" spc="0" normalizeH="0" baseline="0" noProof="0">
              <a:ln>
                <a:noFill/>
              </a:ln>
              <a:solidFill>
                <a:srgbClr val="FFFFFF"/>
              </a:solidFill>
              <a:effectLst/>
              <a:uLnTx/>
              <a:uFillTx/>
              <a:latin typeface="Arial"/>
              <a:ea typeface="ＭＳ Ｐゴシック" panose="020B0600070205080204" pitchFamily="50" charset="-128"/>
              <a:cs typeface="+mn-cs"/>
              <a:sym typeface="Arial"/>
            </a:endParaRPr>
          </a:p>
        </p:txBody>
      </p:sp>
      <p:sp>
        <p:nvSpPr>
          <p:cNvPr id="3" name="Google Shape;178;p7">
            <a:extLst>
              <a:ext uri="{FF2B5EF4-FFF2-40B4-BE49-F238E27FC236}">
                <a16:creationId xmlns:a16="http://schemas.microsoft.com/office/drawing/2014/main" id="{5B7BDCE2-F32C-98D5-860A-09F3912D9718}"/>
              </a:ext>
            </a:extLst>
          </p:cNvPr>
          <p:cNvSpPr txBox="1"/>
          <p:nvPr/>
        </p:nvSpPr>
        <p:spPr>
          <a:xfrm>
            <a:off x="6756034" y="4153224"/>
            <a:ext cx="2800326" cy="675392"/>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2000" b="1" dirty="0">
                <a:solidFill>
                  <a:srgbClr val="002060"/>
                </a:solidFill>
                <a:latin typeface="Meiryo"/>
                <a:ea typeface="Meiryo"/>
                <a:cs typeface="Meiryo"/>
                <a:sym typeface="Meiryo"/>
              </a:rPr>
              <a:t>オフライン動線</a:t>
            </a:r>
            <a:endParaRPr lang="en-US" altLang="ja-JP" sz="2000" b="1" dirty="0">
              <a:solidFill>
                <a:srgbClr val="002060"/>
              </a:solidFill>
              <a:latin typeface="Meiryo"/>
              <a:ea typeface="Meiryo"/>
              <a:cs typeface="Meiryo"/>
              <a:sym typeface="Meiryo"/>
            </a:endParaRPr>
          </a:p>
          <a:p>
            <a:pPr lvl="0" algn="ctr">
              <a:buClr>
                <a:schemeClr val="dk1"/>
              </a:buClr>
              <a:buSzPts val="1500"/>
            </a:pPr>
            <a:r>
              <a:rPr lang="ja-JP" altLang="en-US" sz="1400" b="1" dirty="0">
                <a:solidFill>
                  <a:srgbClr val="002060"/>
                </a:solidFill>
                <a:latin typeface="Meiryo"/>
                <a:ea typeface="Meiryo"/>
                <a:cs typeface="Meiryo"/>
                <a:sym typeface="Meiryo"/>
              </a:rPr>
              <a:t>ニュースリリース等</a:t>
            </a:r>
            <a:endParaRPr lang="en-US" altLang="ja-JP" sz="1400" b="1" dirty="0">
              <a:solidFill>
                <a:srgbClr val="002060"/>
              </a:solidFill>
              <a:latin typeface="Meiryo"/>
              <a:ea typeface="Meiryo"/>
              <a:cs typeface="Meiryo"/>
              <a:sym typeface="Meiryo"/>
            </a:endParaRPr>
          </a:p>
        </p:txBody>
      </p:sp>
      <p:sp>
        <p:nvSpPr>
          <p:cNvPr id="5" name="角丸四角形 7">
            <a:extLst>
              <a:ext uri="{FF2B5EF4-FFF2-40B4-BE49-F238E27FC236}">
                <a16:creationId xmlns:a16="http://schemas.microsoft.com/office/drawing/2014/main" id="{467076C6-3952-617E-47B1-6B2C5D00137B}"/>
              </a:ext>
            </a:extLst>
          </p:cNvPr>
          <p:cNvSpPr/>
          <p:nvPr/>
        </p:nvSpPr>
        <p:spPr>
          <a:xfrm>
            <a:off x="3462784" y="4090156"/>
            <a:ext cx="2986322" cy="2154460"/>
          </a:xfrm>
          <a:prstGeom prst="roundRect">
            <a:avLst>
              <a:gd name="adj" fmla="val 3567"/>
            </a:avLst>
          </a:prstGeom>
          <a:solidFill>
            <a:srgbClr val="FFFFFF">
              <a:lumMod val="95000"/>
            </a:srgbClr>
          </a:solidFill>
          <a:ln w="25400" cap="flat" cmpd="sng" algn="ctr">
            <a:solidFill>
              <a:srgbClr val="FFFFFF">
                <a:lumMod val="85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endParaRPr kumimoji="0" lang="ja-JP" altLang="en-US" sz="1400" b="0" i="0" u="none" strike="noStrike" kern="0" cap="none" spc="0" normalizeH="0" baseline="0" noProof="0">
              <a:ln>
                <a:noFill/>
              </a:ln>
              <a:solidFill>
                <a:srgbClr val="FFFFFF"/>
              </a:solidFill>
              <a:effectLst/>
              <a:uLnTx/>
              <a:uFillTx/>
              <a:latin typeface="Arial"/>
              <a:ea typeface="ＭＳ Ｐゴシック" panose="020B0600070205080204" pitchFamily="50" charset="-128"/>
              <a:cs typeface="+mn-cs"/>
              <a:sym typeface="Arial"/>
            </a:endParaRPr>
          </a:p>
        </p:txBody>
      </p:sp>
      <p:sp>
        <p:nvSpPr>
          <p:cNvPr id="6" name="Google Shape;178;p7">
            <a:extLst>
              <a:ext uri="{FF2B5EF4-FFF2-40B4-BE49-F238E27FC236}">
                <a16:creationId xmlns:a16="http://schemas.microsoft.com/office/drawing/2014/main" id="{421A0D53-7019-D33A-B0BD-DBDF4AAB2FEE}"/>
              </a:ext>
            </a:extLst>
          </p:cNvPr>
          <p:cNvSpPr txBox="1"/>
          <p:nvPr/>
        </p:nvSpPr>
        <p:spPr>
          <a:xfrm>
            <a:off x="3563068" y="4245557"/>
            <a:ext cx="2800326" cy="459948"/>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en-US" altLang="ja-JP" sz="2000" b="1" dirty="0">
                <a:solidFill>
                  <a:srgbClr val="002060"/>
                </a:solidFill>
                <a:latin typeface="Meiryo"/>
                <a:ea typeface="Meiryo"/>
                <a:cs typeface="Meiryo"/>
                <a:sym typeface="Meiryo"/>
              </a:rPr>
              <a:t>WEB</a:t>
            </a:r>
            <a:r>
              <a:rPr lang="ja-JP" altLang="en-US" sz="2000" b="1" dirty="0">
                <a:solidFill>
                  <a:srgbClr val="002060"/>
                </a:solidFill>
                <a:latin typeface="Meiryo"/>
                <a:ea typeface="Meiryo"/>
                <a:cs typeface="Meiryo"/>
                <a:sym typeface="Meiryo"/>
              </a:rPr>
              <a:t>サイト動線整備</a:t>
            </a:r>
            <a:endParaRPr lang="en-US" altLang="ja-JP" sz="2000" b="1" dirty="0">
              <a:solidFill>
                <a:srgbClr val="002060"/>
              </a:solidFill>
              <a:latin typeface="Meiryo"/>
              <a:ea typeface="Meiryo"/>
              <a:cs typeface="Meiryo"/>
              <a:sym typeface="Meiryo"/>
            </a:endParaRPr>
          </a:p>
        </p:txBody>
      </p:sp>
      <p:sp>
        <p:nvSpPr>
          <p:cNvPr id="7" name="角丸四角形 8">
            <a:extLst>
              <a:ext uri="{FF2B5EF4-FFF2-40B4-BE49-F238E27FC236}">
                <a16:creationId xmlns:a16="http://schemas.microsoft.com/office/drawing/2014/main" id="{6248FCF3-6E9E-CB4D-40D9-251911AC2CEF}"/>
              </a:ext>
            </a:extLst>
          </p:cNvPr>
          <p:cNvSpPr/>
          <p:nvPr/>
        </p:nvSpPr>
        <p:spPr>
          <a:xfrm>
            <a:off x="262251" y="4093029"/>
            <a:ext cx="2986322" cy="2154460"/>
          </a:xfrm>
          <a:prstGeom prst="roundRect">
            <a:avLst>
              <a:gd name="adj" fmla="val 3567"/>
            </a:avLst>
          </a:prstGeom>
          <a:solidFill>
            <a:srgbClr val="FFFFFF">
              <a:lumMod val="95000"/>
            </a:srgbClr>
          </a:solidFill>
          <a:ln w="25400" cap="flat" cmpd="sng" algn="ctr">
            <a:solidFill>
              <a:srgbClr val="FFFFFF">
                <a:lumMod val="85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endParaRPr kumimoji="0" lang="ja-JP" altLang="en-US" sz="1400" b="0" i="0" u="none" strike="noStrike" kern="0" cap="none" spc="0" normalizeH="0" baseline="0" noProof="0">
              <a:ln>
                <a:noFill/>
              </a:ln>
              <a:solidFill>
                <a:srgbClr val="FFFFFF"/>
              </a:solidFill>
              <a:effectLst/>
              <a:uLnTx/>
              <a:uFillTx/>
              <a:latin typeface="Arial"/>
              <a:ea typeface="ＭＳ Ｐゴシック" panose="020B0600070205080204" pitchFamily="50" charset="-128"/>
              <a:cs typeface="+mn-cs"/>
              <a:sym typeface="Arial"/>
            </a:endParaRPr>
          </a:p>
        </p:txBody>
      </p:sp>
      <p:sp>
        <p:nvSpPr>
          <p:cNvPr id="8" name="Google Shape;178;p7">
            <a:extLst>
              <a:ext uri="{FF2B5EF4-FFF2-40B4-BE49-F238E27FC236}">
                <a16:creationId xmlns:a16="http://schemas.microsoft.com/office/drawing/2014/main" id="{E5C2AF7A-FA8D-3471-762D-FC84F5818E88}"/>
              </a:ext>
            </a:extLst>
          </p:cNvPr>
          <p:cNvSpPr txBox="1"/>
          <p:nvPr/>
        </p:nvSpPr>
        <p:spPr>
          <a:xfrm>
            <a:off x="598393" y="4153224"/>
            <a:ext cx="2314319" cy="644614"/>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2000" b="1" dirty="0">
                <a:solidFill>
                  <a:srgbClr val="002060"/>
                </a:solidFill>
                <a:latin typeface="Meiryo"/>
                <a:ea typeface="Meiryo"/>
                <a:cs typeface="Meiryo"/>
                <a:sym typeface="Meiryo"/>
              </a:rPr>
              <a:t>友だち紹介</a:t>
            </a:r>
            <a:endParaRPr lang="en-US" altLang="ja-JP" sz="2000" b="1" dirty="0">
              <a:solidFill>
                <a:srgbClr val="002060"/>
              </a:solidFill>
              <a:latin typeface="Meiryo"/>
              <a:ea typeface="Meiryo"/>
              <a:cs typeface="Meiryo"/>
              <a:sym typeface="Meiryo"/>
            </a:endParaRPr>
          </a:p>
          <a:p>
            <a:pPr lvl="0" algn="ctr">
              <a:buClr>
                <a:schemeClr val="dk1"/>
              </a:buClr>
              <a:buSzPts val="1500"/>
            </a:pPr>
            <a:r>
              <a:rPr lang="ja-JP" altLang="en-US" sz="1200" b="1" dirty="0">
                <a:solidFill>
                  <a:srgbClr val="002060"/>
                </a:solidFill>
                <a:latin typeface="Meiryo"/>
                <a:ea typeface="Meiryo"/>
                <a:cs typeface="Meiryo"/>
                <a:sym typeface="Meiryo"/>
              </a:rPr>
              <a:t>（</a:t>
            </a:r>
            <a:r>
              <a:rPr lang="en-US" altLang="ja-JP" sz="1200" b="1" dirty="0">
                <a:solidFill>
                  <a:srgbClr val="002060"/>
                </a:solidFill>
                <a:latin typeface="Meiryo"/>
                <a:ea typeface="Meiryo"/>
                <a:cs typeface="Meiryo"/>
                <a:sym typeface="Meiryo"/>
              </a:rPr>
              <a:t>LINE</a:t>
            </a:r>
            <a:r>
              <a:rPr lang="ja-JP" altLang="en-US" sz="1200" b="1" dirty="0">
                <a:solidFill>
                  <a:srgbClr val="002060"/>
                </a:solidFill>
                <a:latin typeface="Meiryo"/>
                <a:ea typeface="Meiryo"/>
                <a:cs typeface="Meiryo"/>
                <a:sym typeface="Meiryo"/>
              </a:rPr>
              <a:t>ポイントコネクト）</a:t>
            </a:r>
            <a:endParaRPr lang="en-US" altLang="ja-JP" sz="1200" b="1" dirty="0">
              <a:solidFill>
                <a:srgbClr val="002060"/>
              </a:solidFill>
              <a:latin typeface="Meiryo"/>
              <a:ea typeface="Meiryo"/>
              <a:cs typeface="Meiryo"/>
              <a:sym typeface="Meiryo"/>
            </a:endParaRPr>
          </a:p>
        </p:txBody>
      </p:sp>
      <p:sp>
        <p:nvSpPr>
          <p:cNvPr id="9" name="角丸四角形 8">
            <a:extLst>
              <a:ext uri="{FF2B5EF4-FFF2-40B4-BE49-F238E27FC236}">
                <a16:creationId xmlns:a16="http://schemas.microsoft.com/office/drawing/2014/main" id="{B44E38B3-9697-65AF-1E0A-CE143B30BA15}"/>
              </a:ext>
            </a:extLst>
          </p:cNvPr>
          <p:cNvSpPr/>
          <p:nvPr/>
        </p:nvSpPr>
        <p:spPr>
          <a:xfrm>
            <a:off x="6663036" y="1859432"/>
            <a:ext cx="2986322" cy="2154460"/>
          </a:xfrm>
          <a:prstGeom prst="roundRect">
            <a:avLst>
              <a:gd name="adj" fmla="val 3567"/>
            </a:avLst>
          </a:prstGeom>
          <a:solidFill>
            <a:srgbClr val="FFFFFF">
              <a:lumMod val="95000"/>
            </a:srgbClr>
          </a:solidFill>
          <a:ln w="25400" cap="flat" cmpd="sng" algn="ctr">
            <a:solidFill>
              <a:srgbClr val="FFFFFF">
                <a:lumMod val="85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endParaRPr kumimoji="0" lang="ja-JP" altLang="en-US" sz="1400" b="0" i="0" u="none" strike="noStrike" kern="0" cap="none" spc="0" normalizeH="0" baseline="0" noProof="0">
              <a:ln>
                <a:noFill/>
              </a:ln>
              <a:solidFill>
                <a:srgbClr val="FFFFFF"/>
              </a:solidFill>
              <a:effectLst/>
              <a:uLnTx/>
              <a:uFillTx/>
              <a:latin typeface="Arial"/>
              <a:ea typeface="ＭＳ Ｐゴシック" panose="020B0600070205080204" pitchFamily="50" charset="-128"/>
              <a:cs typeface="+mn-cs"/>
              <a:sym typeface="Arial"/>
            </a:endParaRPr>
          </a:p>
        </p:txBody>
      </p:sp>
      <p:sp>
        <p:nvSpPr>
          <p:cNvPr id="10" name="Google Shape;178;p7">
            <a:extLst>
              <a:ext uri="{FF2B5EF4-FFF2-40B4-BE49-F238E27FC236}">
                <a16:creationId xmlns:a16="http://schemas.microsoft.com/office/drawing/2014/main" id="{227F189E-B3B2-1E1B-232D-81C3B9F95AF9}"/>
              </a:ext>
            </a:extLst>
          </p:cNvPr>
          <p:cNvSpPr txBox="1"/>
          <p:nvPr/>
        </p:nvSpPr>
        <p:spPr>
          <a:xfrm>
            <a:off x="6756034" y="2011960"/>
            <a:ext cx="2800326" cy="459948"/>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en-US" altLang="ja-JP" sz="2000" b="1" dirty="0">
                <a:solidFill>
                  <a:srgbClr val="002060"/>
                </a:solidFill>
                <a:latin typeface="Meiryo"/>
                <a:ea typeface="Meiryo"/>
                <a:cs typeface="Meiryo"/>
                <a:sym typeface="Meiryo"/>
              </a:rPr>
              <a:t>LINE</a:t>
            </a:r>
            <a:r>
              <a:rPr lang="ja-JP" altLang="en-US" sz="2000" b="1" dirty="0">
                <a:solidFill>
                  <a:srgbClr val="002060"/>
                </a:solidFill>
                <a:latin typeface="Meiryo"/>
                <a:ea typeface="Meiryo"/>
                <a:cs typeface="Meiryo"/>
                <a:sym typeface="Meiryo"/>
              </a:rPr>
              <a:t>ポイント</a:t>
            </a:r>
            <a:r>
              <a:rPr lang="en-US" altLang="ja-JP" sz="2000" b="1" dirty="0">
                <a:solidFill>
                  <a:srgbClr val="002060"/>
                </a:solidFill>
                <a:latin typeface="Meiryo"/>
                <a:ea typeface="Meiryo"/>
                <a:cs typeface="Meiryo"/>
                <a:sym typeface="Meiryo"/>
              </a:rPr>
              <a:t>Ads</a:t>
            </a:r>
            <a:endParaRPr lang="en-US" altLang="ja-JP" sz="1400" b="1" dirty="0">
              <a:solidFill>
                <a:srgbClr val="002060"/>
              </a:solidFill>
              <a:latin typeface="Meiryo"/>
              <a:ea typeface="Meiryo"/>
              <a:cs typeface="Meiryo"/>
              <a:sym typeface="Meiryo"/>
            </a:endParaRPr>
          </a:p>
        </p:txBody>
      </p:sp>
      <p:sp>
        <p:nvSpPr>
          <p:cNvPr id="11" name="角丸四角形 7">
            <a:extLst>
              <a:ext uri="{FF2B5EF4-FFF2-40B4-BE49-F238E27FC236}">
                <a16:creationId xmlns:a16="http://schemas.microsoft.com/office/drawing/2014/main" id="{246EA7DE-13D3-9A9C-9E03-EF6250D306DC}"/>
              </a:ext>
            </a:extLst>
          </p:cNvPr>
          <p:cNvSpPr/>
          <p:nvPr/>
        </p:nvSpPr>
        <p:spPr>
          <a:xfrm>
            <a:off x="3462784" y="1856559"/>
            <a:ext cx="2986322" cy="2154460"/>
          </a:xfrm>
          <a:prstGeom prst="roundRect">
            <a:avLst>
              <a:gd name="adj" fmla="val 3567"/>
            </a:avLst>
          </a:prstGeom>
          <a:solidFill>
            <a:srgbClr val="FFFFFF">
              <a:lumMod val="95000"/>
            </a:srgbClr>
          </a:solidFill>
          <a:ln w="25400" cap="flat" cmpd="sng" algn="ctr">
            <a:solidFill>
              <a:srgbClr val="FFFFFF">
                <a:lumMod val="85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endParaRPr kumimoji="0" lang="ja-JP" altLang="en-US" sz="1400" b="0" i="0" u="none" strike="noStrike" kern="0" cap="none" spc="0" normalizeH="0" baseline="0" noProof="0">
              <a:ln>
                <a:noFill/>
              </a:ln>
              <a:solidFill>
                <a:srgbClr val="FFFFFF"/>
              </a:solidFill>
              <a:effectLst/>
              <a:uLnTx/>
              <a:uFillTx/>
              <a:latin typeface="Arial"/>
              <a:ea typeface="ＭＳ Ｐゴシック" panose="020B0600070205080204" pitchFamily="50" charset="-128"/>
              <a:cs typeface="+mn-cs"/>
              <a:sym typeface="Arial"/>
            </a:endParaRPr>
          </a:p>
        </p:txBody>
      </p:sp>
      <p:sp>
        <p:nvSpPr>
          <p:cNvPr id="12" name="Google Shape;178;p7">
            <a:extLst>
              <a:ext uri="{FF2B5EF4-FFF2-40B4-BE49-F238E27FC236}">
                <a16:creationId xmlns:a16="http://schemas.microsoft.com/office/drawing/2014/main" id="{5045D5F0-5F86-568D-455F-0F514426CF62}"/>
              </a:ext>
            </a:extLst>
          </p:cNvPr>
          <p:cNvSpPr txBox="1"/>
          <p:nvPr/>
        </p:nvSpPr>
        <p:spPr>
          <a:xfrm>
            <a:off x="3563068" y="2011960"/>
            <a:ext cx="2800326" cy="459948"/>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ja-JP" altLang="en-US" sz="2000" b="1" dirty="0">
                <a:solidFill>
                  <a:srgbClr val="002060"/>
                </a:solidFill>
                <a:latin typeface="Meiryo"/>
                <a:ea typeface="Meiryo"/>
                <a:cs typeface="Meiryo"/>
                <a:sym typeface="Meiryo"/>
              </a:rPr>
              <a:t>スタンプ施策</a:t>
            </a:r>
            <a:endParaRPr lang="en-US" altLang="ja-JP" sz="2000" b="1" dirty="0">
              <a:solidFill>
                <a:srgbClr val="002060"/>
              </a:solidFill>
              <a:latin typeface="Meiryo"/>
              <a:ea typeface="Meiryo"/>
              <a:cs typeface="Meiryo"/>
              <a:sym typeface="Meiryo"/>
            </a:endParaRPr>
          </a:p>
        </p:txBody>
      </p:sp>
      <p:sp>
        <p:nvSpPr>
          <p:cNvPr id="13" name="角丸四角形 8">
            <a:extLst>
              <a:ext uri="{FF2B5EF4-FFF2-40B4-BE49-F238E27FC236}">
                <a16:creationId xmlns:a16="http://schemas.microsoft.com/office/drawing/2014/main" id="{3600FC78-1A6B-42D9-C939-11449F5EA1D7}"/>
              </a:ext>
            </a:extLst>
          </p:cNvPr>
          <p:cNvSpPr/>
          <p:nvPr/>
        </p:nvSpPr>
        <p:spPr>
          <a:xfrm>
            <a:off x="262251" y="1859432"/>
            <a:ext cx="2986322" cy="2154460"/>
          </a:xfrm>
          <a:prstGeom prst="roundRect">
            <a:avLst>
              <a:gd name="adj" fmla="val 3567"/>
            </a:avLst>
          </a:prstGeom>
          <a:solidFill>
            <a:srgbClr val="FFFFFF">
              <a:lumMod val="95000"/>
            </a:srgbClr>
          </a:solidFill>
          <a:ln w="25400" cap="flat" cmpd="sng" algn="ctr">
            <a:solidFill>
              <a:srgbClr val="FFFFFF">
                <a:lumMod val="85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endParaRPr kumimoji="0" lang="ja-JP" altLang="en-US" sz="1400" b="0" i="0" u="none" strike="noStrike" kern="0" cap="none" spc="0" normalizeH="0" baseline="0" noProof="0">
              <a:ln>
                <a:noFill/>
              </a:ln>
              <a:solidFill>
                <a:srgbClr val="FFFFFF"/>
              </a:solidFill>
              <a:effectLst/>
              <a:uLnTx/>
              <a:uFillTx/>
              <a:latin typeface="Arial"/>
              <a:ea typeface="ＭＳ Ｐゴシック" panose="020B0600070205080204" pitchFamily="50" charset="-128"/>
              <a:cs typeface="+mn-cs"/>
              <a:sym typeface="Arial"/>
            </a:endParaRPr>
          </a:p>
        </p:txBody>
      </p:sp>
      <p:sp>
        <p:nvSpPr>
          <p:cNvPr id="14" name="Google Shape;178;p7">
            <a:extLst>
              <a:ext uri="{FF2B5EF4-FFF2-40B4-BE49-F238E27FC236}">
                <a16:creationId xmlns:a16="http://schemas.microsoft.com/office/drawing/2014/main" id="{DE80A45D-1C7E-C6F5-E8EB-2D7BDFC995E0}"/>
              </a:ext>
            </a:extLst>
          </p:cNvPr>
          <p:cNvSpPr txBox="1"/>
          <p:nvPr/>
        </p:nvSpPr>
        <p:spPr>
          <a:xfrm>
            <a:off x="598393" y="2011960"/>
            <a:ext cx="2314319" cy="459948"/>
          </a:xfrm>
          <a:prstGeom prst="rect">
            <a:avLst/>
          </a:prstGeom>
          <a:noFill/>
          <a:ln>
            <a:noFill/>
          </a:ln>
        </p:spPr>
        <p:txBody>
          <a:bodyPr spcFirstLastPara="1" wrap="square" lIns="150750" tIns="75350" rIns="150750" bIns="75350" anchor="t" anchorCtr="0">
            <a:spAutoFit/>
          </a:bodyPr>
          <a:lstStyle/>
          <a:p>
            <a:pPr lvl="0" algn="ctr">
              <a:buClr>
                <a:schemeClr val="dk1"/>
              </a:buClr>
              <a:buSzPts val="1500"/>
            </a:pPr>
            <a:r>
              <a:rPr lang="en-US" altLang="ja-JP" sz="2000" b="1" dirty="0">
                <a:solidFill>
                  <a:srgbClr val="002060"/>
                </a:solidFill>
                <a:latin typeface="Meiryo"/>
                <a:ea typeface="Meiryo"/>
                <a:cs typeface="Meiryo"/>
                <a:sym typeface="Meiryo"/>
              </a:rPr>
              <a:t>CPF</a:t>
            </a:r>
            <a:r>
              <a:rPr lang="ja-JP" altLang="en-US" sz="2000" b="1" dirty="0">
                <a:solidFill>
                  <a:srgbClr val="002060"/>
                </a:solidFill>
                <a:latin typeface="Meiryo"/>
                <a:ea typeface="Meiryo"/>
                <a:cs typeface="Meiryo"/>
                <a:sym typeface="Meiryo"/>
              </a:rPr>
              <a:t>広告</a:t>
            </a:r>
            <a:endParaRPr lang="en-US" altLang="ja-JP" sz="1200" b="1" dirty="0">
              <a:solidFill>
                <a:srgbClr val="002060"/>
              </a:solidFill>
              <a:latin typeface="Meiryo"/>
              <a:ea typeface="Meiryo"/>
              <a:cs typeface="Meiryo"/>
              <a:sym typeface="Meiryo"/>
            </a:endParaRPr>
          </a:p>
        </p:txBody>
      </p:sp>
      <p:sp>
        <p:nvSpPr>
          <p:cNvPr id="16" name="テキスト ボックス 15">
            <a:extLst>
              <a:ext uri="{FF2B5EF4-FFF2-40B4-BE49-F238E27FC236}">
                <a16:creationId xmlns:a16="http://schemas.microsoft.com/office/drawing/2014/main" id="{E2BE065C-FC2C-F8DB-8D4D-6A6CF2961B74}"/>
              </a:ext>
            </a:extLst>
          </p:cNvPr>
          <p:cNvSpPr txBox="1"/>
          <p:nvPr/>
        </p:nvSpPr>
        <p:spPr>
          <a:xfrm>
            <a:off x="6663036" y="5212007"/>
            <a:ext cx="2980713" cy="369332"/>
          </a:xfrm>
          <a:prstGeom prst="rect">
            <a:avLst/>
          </a:prstGeom>
          <a:noFill/>
        </p:spPr>
        <p:txBody>
          <a:bodyPr wrap="square">
            <a:spAutoFit/>
          </a:bodyPr>
          <a:lstStyle/>
          <a:p>
            <a:pPr algn="ctr"/>
            <a:r>
              <a:rPr lang="ja-JP" altLang="en-US" sz="1600" dirty="0">
                <a:latin typeface="Meiryo"/>
                <a:ea typeface="Meiryo"/>
                <a:sym typeface="Meiryo"/>
              </a:rPr>
              <a:t>コンサル発注</a:t>
            </a:r>
            <a:r>
              <a:rPr lang="ja-JP" altLang="en-US" sz="1200" dirty="0">
                <a:latin typeface="Meiryo"/>
                <a:ea typeface="Meiryo"/>
                <a:sym typeface="Meiryo"/>
              </a:rPr>
              <a:t>であれば </a:t>
            </a:r>
            <a:r>
              <a:rPr lang="ja-JP" altLang="en-US" b="1" dirty="0">
                <a:solidFill>
                  <a:srgbClr val="FF0000"/>
                </a:solidFill>
                <a:latin typeface="Meiryo"/>
                <a:ea typeface="Meiryo"/>
                <a:sym typeface="Meiryo"/>
              </a:rPr>
              <a:t>無償</a:t>
            </a:r>
            <a:endParaRPr lang="ja-JP" altLang="en-US" dirty="0">
              <a:solidFill>
                <a:srgbClr val="FF0000"/>
              </a:solidFill>
            </a:endParaRPr>
          </a:p>
        </p:txBody>
      </p:sp>
      <p:sp>
        <p:nvSpPr>
          <p:cNvPr id="18" name="正方形/長方形 17">
            <a:extLst>
              <a:ext uri="{FF2B5EF4-FFF2-40B4-BE49-F238E27FC236}">
                <a16:creationId xmlns:a16="http://schemas.microsoft.com/office/drawing/2014/main" id="{6E06F22F-E0C7-5FD3-4405-6102987BD5DF}"/>
              </a:ext>
            </a:extLst>
          </p:cNvPr>
          <p:cNvSpPr/>
          <p:nvPr/>
        </p:nvSpPr>
        <p:spPr>
          <a:xfrm>
            <a:off x="519852" y="4164059"/>
            <a:ext cx="2453983" cy="611171"/>
          </a:xfrm>
          <a:prstGeom prst="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9" name="正方形/長方形 18">
            <a:extLst>
              <a:ext uri="{FF2B5EF4-FFF2-40B4-BE49-F238E27FC236}">
                <a16:creationId xmlns:a16="http://schemas.microsoft.com/office/drawing/2014/main" id="{B0050C1C-B390-1662-9BFB-21BE29D83F9A}"/>
              </a:ext>
            </a:extLst>
          </p:cNvPr>
          <p:cNvSpPr/>
          <p:nvPr/>
        </p:nvSpPr>
        <p:spPr>
          <a:xfrm>
            <a:off x="3613540" y="4162491"/>
            <a:ext cx="2699381" cy="611171"/>
          </a:xfrm>
          <a:prstGeom prst="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0" name="正方形/長方形 19">
            <a:extLst>
              <a:ext uri="{FF2B5EF4-FFF2-40B4-BE49-F238E27FC236}">
                <a16:creationId xmlns:a16="http://schemas.microsoft.com/office/drawing/2014/main" id="{D5EE4289-C478-AD62-AE99-69AE5A069F77}"/>
              </a:ext>
            </a:extLst>
          </p:cNvPr>
          <p:cNvSpPr/>
          <p:nvPr/>
        </p:nvSpPr>
        <p:spPr>
          <a:xfrm>
            <a:off x="6825208" y="4153224"/>
            <a:ext cx="2699381" cy="611171"/>
          </a:xfrm>
          <a:prstGeom prst="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1" name="正方形/長方形 20">
            <a:extLst>
              <a:ext uri="{FF2B5EF4-FFF2-40B4-BE49-F238E27FC236}">
                <a16:creationId xmlns:a16="http://schemas.microsoft.com/office/drawing/2014/main" id="{1396C237-CE79-2CD6-FC3A-C050A56E6C7C}"/>
              </a:ext>
            </a:extLst>
          </p:cNvPr>
          <p:cNvSpPr/>
          <p:nvPr/>
        </p:nvSpPr>
        <p:spPr>
          <a:xfrm>
            <a:off x="6825208" y="1936348"/>
            <a:ext cx="2699381" cy="611171"/>
          </a:xfrm>
          <a:prstGeom prst="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2" name="正方形/長方形 21">
            <a:extLst>
              <a:ext uri="{FF2B5EF4-FFF2-40B4-BE49-F238E27FC236}">
                <a16:creationId xmlns:a16="http://schemas.microsoft.com/office/drawing/2014/main" id="{4F441C91-30FF-B254-D31A-0BF09A82F0CC}"/>
              </a:ext>
            </a:extLst>
          </p:cNvPr>
          <p:cNvSpPr/>
          <p:nvPr/>
        </p:nvSpPr>
        <p:spPr>
          <a:xfrm>
            <a:off x="405862" y="1938891"/>
            <a:ext cx="2699381" cy="611171"/>
          </a:xfrm>
          <a:prstGeom prst="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3" name="正方形/長方形 22">
            <a:extLst>
              <a:ext uri="{FF2B5EF4-FFF2-40B4-BE49-F238E27FC236}">
                <a16:creationId xmlns:a16="http://schemas.microsoft.com/office/drawing/2014/main" id="{0444B2FB-B600-A32F-FC5C-CA7414D41D09}"/>
              </a:ext>
            </a:extLst>
          </p:cNvPr>
          <p:cNvSpPr/>
          <p:nvPr/>
        </p:nvSpPr>
        <p:spPr>
          <a:xfrm>
            <a:off x="3627794" y="1936348"/>
            <a:ext cx="2699381" cy="611171"/>
          </a:xfrm>
          <a:prstGeom prst="rect">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5" name="テキスト ボックス 24">
            <a:extLst>
              <a:ext uri="{FF2B5EF4-FFF2-40B4-BE49-F238E27FC236}">
                <a16:creationId xmlns:a16="http://schemas.microsoft.com/office/drawing/2014/main" id="{0EB1A30C-0F7E-2CA8-AFC7-86F4D2F0F62E}"/>
              </a:ext>
            </a:extLst>
          </p:cNvPr>
          <p:cNvSpPr txBox="1"/>
          <p:nvPr/>
        </p:nvSpPr>
        <p:spPr>
          <a:xfrm>
            <a:off x="3457175" y="5206261"/>
            <a:ext cx="2980713" cy="369332"/>
          </a:xfrm>
          <a:prstGeom prst="rect">
            <a:avLst/>
          </a:prstGeom>
          <a:noFill/>
        </p:spPr>
        <p:txBody>
          <a:bodyPr wrap="square">
            <a:spAutoFit/>
          </a:bodyPr>
          <a:lstStyle/>
          <a:p>
            <a:pPr algn="ctr"/>
            <a:r>
              <a:rPr lang="ja-JP" altLang="en-US" sz="1600" dirty="0">
                <a:latin typeface="Meiryo"/>
                <a:ea typeface="Meiryo"/>
                <a:sym typeface="Meiryo"/>
              </a:rPr>
              <a:t>コンサル発注</a:t>
            </a:r>
            <a:r>
              <a:rPr lang="ja-JP" altLang="en-US" sz="1200" dirty="0">
                <a:latin typeface="Meiryo"/>
                <a:ea typeface="Meiryo"/>
                <a:sym typeface="Meiryo"/>
              </a:rPr>
              <a:t>であれば </a:t>
            </a:r>
            <a:r>
              <a:rPr lang="ja-JP" altLang="en-US" b="1" dirty="0">
                <a:solidFill>
                  <a:srgbClr val="FF0000"/>
                </a:solidFill>
                <a:latin typeface="Meiryo"/>
                <a:ea typeface="Meiryo"/>
                <a:sym typeface="Meiryo"/>
              </a:rPr>
              <a:t>無償</a:t>
            </a:r>
            <a:endParaRPr lang="ja-JP" altLang="en-US" dirty="0">
              <a:solidFill>
                <a:srgbClr val="FF0000"/>
              </a:solidFill>
            </a:endParaRPr>
          </a:p>
        </p:txBody>
      </p:sp>
      <p:sp>
        <p:nvSpPr>
          <p:cNvPr id="27" name="テキスト ボックス 26">
            <a:extLst>
              <a:ext uri="{FF2B5EF4-FFF2-40B4-BE49-F238E27FC236}">
                <a16:creationId xmlns:a16="http://schemas.microsoft.com/office/drawing/2014/main" id="{E132920A-5E9A-4275-387D-200CCBF9F676}"/>
              </a:ext>
            </a:extLst>
          </p:cNvPr>
          <p:cNvSpPr txBox="1"/>
          <p:nvPr/>
        </p:nvSpPr>
        <p:spPr>
          <a:xfrm>
            <a:off x="251033" y="5206261"/>
            <a:ext cx="2980713" cy="369332"/>
          </a:xfrm>
          <a:prstGeom prst="rect">
            <a:avLst/>
          </a:prstGeom>
          <a:noFill/>
        </p:spPr>
        <p:txBody>
          <a:bodyPr wrap="square">
            <a:spAutoFit/>
          </a:bodyPr>
          <a:lstStyle/>
          <a:p>
            <a:pPr algn="ctr"/>
            <a:r>
              <a:rPr lang="ja-JP" altLang="en-US" b="1" dirty="0">
                <a:solidFill>
                  <a:schemeClr val="tx1">
                    <a:lumMod val="50000"/>
                    <a:lumOff val="50000"/>
                  </a:schemeClr>
                </a:solidFill>
                <a:latin typeface="Meiryo"/>
                <a:ea typeface="Meiryo"/>
                <a:sym typeface="Meiryo"/>
              </a:rPr>
              <a:t>サービス停止中</a:t>
            </a:r>
            <a:endParaRPr lang="ja-JP" altLang="en-US" b="1" dirty="0">
              <a:solidFill>
                <a:schemeClr val="tx1">
                  <a:lumMod val="50000"/>
                  <a:lumOff val="50000"/>
                </a:schemeClr>
              </a:solidFill>
            </a:endParaRPr>
          </a:p>
        </p:txBody>
      </p:sp>
      <p:sp>
        <p:nvSpPr>
          <p:cNvPr id="28" name="テキスト ボックス 27">
            <a:extLst>
              <a:ext uri="{FF2B5EF4-FFF2-40B4-BE49-F238E27FC236}">
                <a16:creationId xmlns:a16="http://schemas.microsoft.com/office/drawing/2014/main" id="{F730E614-90C4-E99C-1611-CBB84BD8881C}"/>
              </a:ext>
            </a:extLst>
          </p:cNvPr>
          <p:cNvSpPr txBox="1"/>
          <p:nvPr/>
        </p:nvSpPr>
        <p:spPr>
          <a:xfrm>
            <a:off x="6680454" y="2978410"/>
            <a:ext cx="2980713" cy="400110"/>
          </a:xfrm>
          <a:prstGeom prst="rect">
            <a:avLst/>
          </a:prstGeom>
          <a:noFill/>
        </p:spPr>
        <p:txBody>
          <a:bodyPr wrap="square">
            <a:spAutoFit/>
          </a:bodyPr>
          <a:lstStyle/>
          <a:p>
            <a:pPr algn="ctr"/>
            <a:r>
              <a:rPr lang="en-US" altLang="ja-JP" sz="2000" b="1" dirty="0">
                <a:solidFill>
                  <a:srgbClr val="FF0000"/>
                </a:solidFill>
                <a:latin typeface="Meiryo"/>
                <a:ea typeface="Meiryo"/>
                <a:sym typeface="Meiryo"/>
              </a:rPr>
              <a:t>200</a:t>
            </a:r>
            <a:r>
              <a:rPr lang="ja-JP" altLang="en-US" sz="2000" b="1" dirty="0">
                <a:solidFill>
                  <a:srgbClr val="FF0000"/>
                </a:solidFill>
                <a:latin typeface="Meiryo"/>
                <a:ea typeface="Meiryo"/>
                <a:sym typeface="Meiryo"/>
              </a:rPr>
              <a:t>万円</a:t>
            </a:r>
            <a:r>
              <a:rPr lang="en-US" altLang="ja-JP" sz="2000" b="1" dirty="0">
                <a:solidFill>
                  <a:srgbClr val="FF0000"/>
                </a:solidFill>
                <a:latin typeface="Meiryo"/>
                <a:ea typeface="Meiryo"/>
                <a:sym typeface="Meiryo"/>
              </a:rPr>
              <a:t>~</a:t>
            </a:r>
            <a:r>
              <a:rPr lang="ja-JP" altLang="en-US" sz="1200" dirty="0">
                <a:latin typeface="Meiryo"/>
                <a:ea typeface="Meiryo"/>
                <a:sym typeface="Meiryo"/>
              </a:rPr>
              <a:t>（期間合計）</a:t>
            </a:r>
            <a:endParaRPr lang="ja-JP" altLang="en-US" sz="2000" dirty="0">
              <a:solidFill>
                <a:srgbClr val="FF0000"/>
              </a:solidFill>
            </a:endParaRPr>
          </a:p>
        </p:txBody>
      </p:sp>
      <p:sp>
        <p:nvSpPr>
          <p:cNvPr id="29" name="テキスト ボックス 28">
            <a:extLst>
              <a:ext uri="{FF2B5EF4-FFF2-40B4-BE49-F238E27FC236}">
                <a16:creationId xmlns:a16="http://schemas.microsoft.com/office/drawing/2014/main" id="{BD4CB354-FCE0-FE83-2308-4BB89D24B9EE}"/>
              </a:ext>
            </a:extLst>
          </p:cNvPr>
          <p:cNvSpPr txBox="1"/>
          <p:nvPr/>
        </p:nvSpPr>
        <p:spPr>
          <a:xfrm>
            <a:off x="3474593" y="2972664"/>
            <a:ext cx="2980713" cy="400110"/>
          </a:xfrm>
          <a:prstGeom prst="rect">
            <a:avLst/>
          </a:prstGeom>
          <a:noFill/>
        </p:spPr>
        <p:txBody>
          <a:bodyPr wrap="square">
            <a:spAutoFit/>
          </a:bodyPr>
          <a:lstStyle/>
          <a:p>
            <a:pPr algn="ctr"/>
            <a:r>
              <a:rPr lang="en-US" altLang="ja-JP" sz="2000" b="1" dirty="0">
                <a:solidFill>
                  <a:srgbClr val="FF0000"/>
                </a:solidFill>
                <a:latin typeface="Meiryo"/>
                <a:ea typeface="Meiryo"/>
                <a:sym typeface="Meiryo"/>
              </a:rPr>
              <a:t>200</a:t>
            </a:r>
            <a:r>
              <a:rPr lang="ja-JP" altLang="en-US" sz="2000" b="1" dirty="0">
                <a:solidFill>
                  <a:srgbClr val="FF0000"/>
                </a:solidFill>
                <a:latin typeface="Meiryo"/>
                <a:ea typeface="Meiryo"/>
                <a:sym typeface="Meiryo"/>
              </a:rPr>
              <a:t>万円</a:t>
            </a:r>
            <a:r>
              <a:rPr lang="en-US" altLang="ja-JP" sz="2000" b="1" dirty="0">
                <a:solidFill>
                  <a:srgbClr val="FF0000"/>
                </a:solidFill>
                <a:latin typeface="Meiryo"/>
                <a:ea typeface="Meiryo"/>
                <a:sym typeface="Meiryo"/>
              </a:rPr>
              <a:t>~</a:t>
            </a:r>
            <a:r>
              <a:rPr lang="ja-JP" altLang="en-US" sz="1200" dirty="0">
                <a:latin typeface="Meiryo"/>
                <a:ea typeface="Meiryo"/>
                <a:sym typeface="Meiryo"/>
              </a:rPr>
              <a:t>（期間合計）</a:t>
            </a:r>
            <a:endParaRPr lang="ja-JP" altLang="en-US" sz="2000" dirty="0">
              <a:solidFill>
                <a:srgbClr val="FF0000"/>
              </a:solidFill>
            </a:endParaRPr>
          </a:p>
        </p:txBody>
      </p:sp>
      <p:sp>
        <p:nvSpPr>
          <p:cNvPr id="30" name="テキスト ボックス 29">
            <a:extLst>
              <a:ext uri="{FF2B5EF4-FFF2-40B4-BE49-F238E27FC236}">
                <a16:creationId xmlns:a16="http://schemas.microsoft.com/office/drawing/2014/main" id="{409CCF04-7F2B-649D-F219-27BCA34C2D62}"/>
              </a:ext>
            </a:extLst>
          </p:cNvPr>
          <p:cNvSpPr txBox="1"/>
          <p:nvPr/>
        </p:nvSpPr>
        <p:spPr>
          <a:xfrm>
            <a:off x="268451" y="2972664"/>
            <a:ext cx="2980713" cy="400110"/>
          </a:xfrm>
          <a:prstGeom prst="rect">
            <a:avLst/>
          </a:prstGeom>
          <a:noFill/>
        </p:spPr>
        <p:txBody>
          <a:bodyPr wrap="square">
            <a:spAutoFit/>
          </a:bodyPr>
          <a:lstStyle/>
          <a:p>
            <a:pPr algn="ctr"/>
            <a:r>
              <a:rPr lang="en-US" altLang="ja-JP" sz="2000" b="1" dirty="0">
                <a:solidFill>
                  <a:srgbClr val="FF0000"/>
                </a:solidFill>
                <a:latin typeface="Meiryo"/>
                <a:ea typeface="Meiryo"/>
                <a:sym typeface="Meiryo"/>
              </a:rPr>
              <a:t>20</a:t>
            </a:r>
            <a:r>
              <a:rPr lang="ja-JP" altLang="en-US" sz="2000" b="1" dirty="0">
                <a:solidFill>
                  <a:srgbClr val="FF0000"/>
                </a:solidFill>
                <a:latin typeface="Meiryo"/>
                <a:ea typeface="Meiryo"/>
                <a:sym typeface="Meiryo"/>
              </a:rPr>
              <a:t>万円</a:t>
            </a:r>
            <a:r>
              <a:rPr lang="en-US" altLang="ja-JP" sz="2000" b="1" dirty="0">
                <a:solidFill>
                  <a:srgbClr val="FF0000"/>
                </a:solidFill>
                <a:latin typeface="Meiryo"/>
                <a:ea typeface="Meiryo"/>
                <a:sym typeface="Meiryo"/>
              </a:rPr>
              <a:t>~</a:t>
            </a:r>
            <a:r>
              <a:rPr lang="ja-JP" altLang="en-US" sz="1200" dirty="0">
                <a:latin typeface="Meiryo"/>
                <a:ea typeface="Meiryo"/>
                <a:sym typeface="Meiryo"/>
              </a:rPr>
              <a:t>（</a:t>
            </a:r>
            <a:r>
              <a:rPr lang="en-US" altLang="ja-JP" sz="1200" dirty="0">
                <a:latin typeface="Meiryo"/>
                <a:ea typeface="Meiryo"/>
                <a:sym typeface="Meiryo"/>
              </a:rPr>
              <a:t>1</a:t>
            </a:r>
            <a:r>
              <a:rPr lang="ja-JP" altLang="en-US" sz="1200" dirty="0">
                <a:latin typeface="Meiryo"/>
                <a:ea typeface="Meiryo"/>
                <a:sym typeface="Meiryo"/>
              </a:rPr>
              <a:t>ヶ月</a:t>
            </a:r>
            <a:r>
              <a:rPr lang="en-US" altLang="ja-JP" sz="1200" dirty="0">
                <a:latin typeface="Meiryo"/>
                <a:ea typeface="Meiryo"/>
                <a:sym typeface="Meiryo"/>
              </a:rPr>
              <a:t>~</a:t>
            </a:r>
            <a:r>
              <a:rPr lang="ja-JP" altLang="en-US" sz="1200" dirty="0">
                <a:latin typeface="Meiryo"/>
                <a:ea typeface="Meiryo"/>
                <a:sym typeface="Meiryo"/>
              </a:rPr>
              <a:t>）</a:t>
            </a:r>
            <a:endParaRPr lang="ja-JP" altLang="en-US" sz="2000" dirty="0">
              <a:solidFill>
                <a:srgbClr val="FF0000"/>
              </a:solidFill>
            </a:endParaRPr>
          </a:p>
        </p:txBody>
      </p:sp>
      <p:sp>
        <p:nvSpPr>
          <p:cNvPr id="31" name="正方形/長方形 30">
            <a:extLst>
              <a:ext uri="{FF2B5EF4-FFF2-40B4-BE49-F238E27FC236}">
                <a16:creationId xmlns:a16="http://schemas.microsoft.com/office/drawing/2014/main" id="{48479E1B-BB51-2C74-9251-6EC7A8EFC419}"/>
              </a:ext>
            </a:extLst>
          </p:cNvPr>
          <p:cNvSpPr/>
          <p:nvPr/>
        </p:nvSpPr>
        <p:spPr>
          <a:xfrm>
            <a:off x="663410" y="899253"/>
            <a:ext cx="8628148" cy="584775"/>
          </a:xfrm>
          <a:prstGeom prst="rect">
            <a:avLst/>
          </a:prstGeom>
        </p:spPr>
        <p:txBody>
          <a:bodyPr wrap="square">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lvl="0" algn="ctr">
              <a:buClr>
                <a:srgbClr val="002060"/>
              </a:buClr>
              <a:buSzPts val="1600"/>
            </a:pPr>
            <a:r>
              <a:rPr lang="ja-JP" altLang="en-US" sz="1600" b="1" dirty="0">
                <a:solidFill>
                  <a:schemeClr val="tx1">
                    <a:lumMod val="65000"/>
                    <a:lumOff val="35000"/>
                  </a:schemeClr>
                </a:solidFill>
                <a:latin typeface="Meiryo"/>
                <a:ea typeface="Meiryo"/>
                <a:cs typeface="Meiryo"/>
                <a:sym typeface="Meiryo"/>
              </a:rPr>
              <a:t>各拡張施策についても</a:t>
            </a:r>
            <a:r>
              <a:rPr lang="en-US" altLang="ja-JP" sz="1600" b="1" dirty="0">
                <a:solidFill>
                  <a:schemeClr val="tx1">
                    <a:lumMod val="65000"/>
                    <a:lumOff val="35000"/>
                  </a:schemeClr>
                </a:solidFill>
                <a:latin typeface="Meiryo"/>
                <a:ea typeface="Meiryo"/>
                <a:cs typeface="Meiryo"/>
                <a:sym typeface="Meiryo"/>
              </a:rPr>
              <a:t>MIN</a:t>
            </a:r>
            <a:r>
              <a:rPr lang="ja-JP" altLang="en-US" sz="1600" b="1" dirty="0">
                <a:solidFill>
                  <a:schemeClr val="tx1">
                    <a:lumMod val="65000"/>
                    <a:lumOff val="35000"/>
                  </a:schemeClr>
                </a:solidFill>
                <a:latin typeface="Meiryo"/>
                <a:ea typeface="Meiryo"/>
                <a:cs typeface="Meiryo"/>
                <a:sym typeface="Meiryo"/>
              </a:rPr>
              <a:t>金額からの発注、動線設計が可能です。</a:t>
            </a:r>
            <a:endParaRPr lang="en-US" altLang="ja-JP" sz="1600" b="1" dirty="0">
              <a:solidFill>
                <a:schemeClr val="tx1">
                  <a:lumMod val="65000"/>
                  <a:lumOff val="35000"/>
                </a:schemeClr>
              </a:solidFill>
              <a:latin typeface="Meiryo"/>
              <a:ea typeface="Meiryo"/>
              <a:cs typeface="Meiryo"/>
              <a:sym typeface="Meiryo"/>
            </a:endParaRPr>
          </a:p>
          <a:p>
            <a:pPr lvl="0" algn="ctr">
              <a:buClr>
                <a:srgbClr val="002060"/>
              </a:buClr>
              <a:buSzPts val="1600"/>
            </a:pPr>
            <a:r>
              <a:rPr lang="en-US" altLang="ja-JP" sz="1600" b="1" dirty="0">
                <a:solidFill>
                  <a:schemeClr val="tx1">
                    <a:lumMod val="65000"/>
                    <a:lumOff val="35000"/>
                  </a:schemeClr>
                </a:solidFill>
                <a:latin typeface="Meiryo"/>
                <a:ea typeface="Meiryo"/>
                <a:cs typeface="Meiryo"/>
                <a:sym typeface="Meiryo"/>
              </a:rPr>
              <a:t>LINE</a:t>
            </a:r>
            <a:r>
              <a:rPr lang="ja-JP" altLang="en-US" sz="1600" b="1" dirty="0">
                <a:solidFill>
                  <a:schemeClr val="tx1">
                    <a:lumMod val="65000"/>
                    <a:lumOff val="35000"/>
                  </a:schemeClr>
                </a:solidFill>
                <a:latin typeface="Meiryo"/>
                <a:ea typeface="Meiryo"/>
                <a:cs typeface="Meiryo"/>
                <a:sym typeface="Meiryo"/>
              </a:rPr>
              <a:t>友だち追加後の動線設計（特に友だち追加後すぐ）の検証後の拡大施策として用意。</a:t>
            </a:r>
            <a:endParaRPr lang="en-US" altLang="ja-JP" sz="1600" b="1" dirty="0">
              <a:solidFill>
                <a:schemeClr val="tx1">
                  <a:lumMod val="65000"/>
                  <a:lumOff val="35000"/>
                </a:schemeClr>
              </a:solidFill>
              <a:latin typeface="Meiryo"/>
              <a:ea typeface="Meiryo"/>
              <a:cs typeface="Meiryo"/>
              <a:sym typeface="Meiryo"/>
            </a:endParaRPr>
          </a:p>
        </p:txBody>
      </p:sp>
    </p:spTree>
    <p:extLst>
      <p:ext uri="{BB962C8B-B14F-4D97-AF65-F5344CB8AC3E}">
        <p14:creationId xmlns:p14="http://schemas.microsoft.com/office/powerpoint/2010/main" val="1720263100"/>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40CEAE-3814-32E7-D45E-2C4EC8610FFA}"/>
            </a:ext>
          </a:extLst>
        </p:cNvPr>
        <p:cNvGrpSpPr/>
        <p:nvPr/>
      </p:nvGrpSpPr>
      <p:grpSpPr>
        <a:xfrm>
          <a:off x="0" y="0"/>
          <a:ext cx="0" cy="0"/>
          <a:chOff x="0" y="0"/>
          <a:chExt cx="0" cy="0"/>
        </a:xfrm>
      </p:grpSpPr>
      <p:sp>
        <p:nvSpPr>
          <p:cNvPr id="4" name="Google Shape;752;p28">
            <a:extLst>
              <a:ext uri="{FF2B5EF4-FFF2-40B4-BE49-F238E27FC236}">
                <a16:creationId xmlns:a16="http://schemas.microsoft.com/office/drawing/2014/main" id="{6CD37268-DB4A-D96C-3487-68A9F7301931}"/>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rgbClr val="323366"/>
                </a:solidFill>
                <a:latin typeface="メイリオ" panose="020B0604030504040204" pitchFamily="50" charset="-128"/>
                <a:ea typeface="メイリオ" panose="020B0604030504040204" pitchFamily="50" charset="-128"/>
                <a:cs typeface="Meiryo"/>
                <a:sym typeface="Meiryo"/>
              </a:rPr>
              <a:t>提供施策について</a:t>
            </a:r>
          </a:p>
        </p:txBody>
      </p:sp>
      <p:pic>
        <p:nvPicPr>
          <p:cNvPr id="52" name="図 51">
            <a:extLst>
              <a:ext uri="{FF2B5EF4-FFF2-40B4-BE49-F238E27FC236}">
                <a16:creationId xmlns:a16="http://schemas.microsoft.com/office/drawing/2014/main" id="{190D62DD-D102-4473-AB6A-16C880141BF8}"/>
              </a:ext>
            </a:extLst>
          </p:cNvPr>
          <p:cNvPicPr>
            <a:picLocks noChangeAspect="1"/>
          </p:cNvPicPr>
          <p:nvPr/>
        </p:nvPicPr>
        <p:blipFill>
          <a:blip r:embed="rId2"/>
          <a:stretch>
            <a:fillRect/>
          </a:stretch>
        </p:blipFill>
        <p:spPr>
          <a:xfrm>
            <a:off x="554449" y="1858069"/>
            <a:ext cx="4461381" cy="1873780"/>
          </a:xfrm>
          <a:prstGeom prst="rect">
            <a:avLst/>
          </a:prstGeom>
        </p:spPr>
      </p:pic>
      <p:sp>
        <p:nvSpPr>
          <p:cNvPr id="53" name="正方形/長方形 52">
            <a:extLst>
              <a:ext uri="{FF2B5EF4-FFF2-40B4-BE49-F238E27FC236}">
                <a16:creationId xmlns:a16="http://schemas.microsoft.com/office/drawing/2014/main" id="{1E454A9D-8A4D-3389-458B-9DC647A79863}"/>
              </a:ext>
            </a:extLst>
          </p:cNvPr>
          <p:cNvSpPr/>
          <p:nvPr/>
        </p:nvSpPr>
        <p:spPr>
          <a:xfrm>
            <a:off x="419696" y="732614"/>
            <a:ext cx="2365444" cy="673262"/>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ctr"/>
            <a:r>
              <a:rPr lang="en-US" altLang="ja-JP" sz="1600" b="1" dirty="0">
                <a:latin typeface="メイリオ" panose="020B0604030504040204" pitchFamily="50" charset="-128"/>
                <a:ea typeface="メイリオ" panose="020B0604030504040204" pitchFamily="50" charset="-128"/>
              </a:rPr>
              <a:t>LINE</a:t>
            </a:r>
            <a:r>
              <a:rPr lang="ja-JP" altLang="en-US" sz="1600" b="1" dirty="0">
                <a:latin typeface="メイリオ" panose="020B0604030504040204" pitchFamily="50" charset="-128"/>
                <a:ea typeface="メイリオ" panose="020B0604030504040204" pitchFamily="50" charset="-128"/>
              </a:rPr>
              <a:t>広告</a:t>
            </a:r>
            <a:r>
              <a:rPr lang="ja-JP" altLang="en-US" sz="1200" b="1" dirty="0">
                <a:latin typeface="メイリオ" panose="020B0604030504040204" pitchFamily="50" charset="-128"/>
                <a:ea typeface="メイリオ" panose="020B0604030504040204" pitchFamily="50" charset="-128"/>
              </a:rPr>
              <a:t>（友だち追加）</a:t>
            </a:r>
            <a:endParaRPr lang="en-US" altLang="ja-JP" sz="1200" b="1" dirty="0">
              <a:latin typeface="メイリオ" panose="020B0604030504040204" pitchFamily="50" charset="-128"/>
              <a:ea typeface="メイリオ" panose="020B0604030504040204" pitchFamily="50" charset="-128"/>
            </a:endParaRPr>
          </a:p>
          <a:p>
            <a:pPr algn="ctr"/>
            <a:r>
              <a:rPr lang="en-US" altLang="ja-JP" sz="1200" b="1" dirty="0">
                <a:solidFill>
                  <a:srgbClr val="FFFFFF"/>
                </a:solidFill>
                <a:latin typeface="メイリオ" panose="020B0604030504040204" pitchFamily="50" charset="-128"/>
                <a:ea typeface="メイリオ" panose="020B0604030504040204" pitchFamily="50" charset="-128"/>
              </a:rPr>
              <a:t>※CPF</a:t>
            </a:r>
            <a:r>
              <a:rPr lang="ja-JP" altLang="en-US" sz="1200" b="1" dirty="0">
                <a:solidFill>
                  <a:srgbClr val="FFFFFF"/>
                </a:solidFill>
                <a:latin typeface="メイリオ" panose="020B0604030504040204" pitchFamily="50" charset="-128"/>
                <a:ea typeface="メイリオ" panose="020B0604030504040204" pitchFamily="50" charset="-128"/>
              </a:rPr>
              <a:t>広告</a:t>
            </a:r>
            <a:r>
              <a:rPr lang="en-US" altLang="ja-JP" sz="1200" b="1" dirty="0">
                <a:solidFill>
                  <a:srgbClr val="FFFFFF"/>
                </a:solidFill>
                <a:latin typeface="メイリオ" panose="020B0604030504040204" pitchFamily="50" charset="-128"/>
                <a:ea typeface="メイリオ" panose="020B0604030504040204" pitchFamily="50" charset="-128"/>
              </a:rPr>
              <a:t>※</a:t>
            </a:r>
          </a:p>
        </p:txBody>
      </p:sp>
      <p:sp>
        <p:nvSpPr>
          <p:cNvPr id="54" name="正方形/長方形 53">
            <a:extLst>
              <a:ext uri="{FF2B5EF4-FFF2-40B4-BE49-F238E27FC236}">
                <a16:creationId xmlns:a16="http://schemas.microsoft.com/office/drawing/2014/main" id="{CBF7AEFA-2BE6-4972-0C9D-4ED6780F0997}"/>
              </a:ext>
            </a:extLst>
          </p:cNvPr>
          <p:cNvSpPr/>
          <p:nvPr/>
        </p:nvSpPr>
        <p:spPr>
          <a:xfrm>
            <a:off x="2938369" y="776858"/>
            <a:ext cx="6482455" cy="584775"/>
          </a:xfrm>
          <a:prstGeom prst="rect">
            <a:avLst/>
          </a:prstGeom>
        </p:spPr>
        <p:txBody>
          <a:bodyPr wrap="square">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lvl="0">
              <a:buClr>
                <a:srgbClr val="002060"/>
              </a:buClr>
              <a:buSzPts val="1600"/>
            </a:pPr>
            <a:r>
              <a:rPr lang="en-US" altLang="ja-JP" sz="1600" b="1" dirty="0">
                <a:solidFill>
                  <a:schemeClr val="tx1">
                    <a:lumMod val="65000"/>
                    <a:lumOff val="35000"/>
                  </a:schemeClr>
                </a:solidFill>
                <a:latin typeface="Meiryo"/>
                <a:ea typeface="Meiryo"/>
                <a:cs typeface="Meiryo"/>
                <a:sym typeface="Meiryo"/>
              </a:rPr>
              <a:t>LINE</a:t>
            </a:r>
            <a:r>
              <a:rPr lang="ja-JP" altLang="en-US" sz="1600" b="1" dirty="0">
                <a:solidFill>
                  <a:schemeClr val="tx1">
                    <a:lumMod val="65000"/>
                    <a:lumOff val="35000"/>
                  </a:schemeClr>
                </a:solidFill>
                <a:latin typeface="Meiryo"/>
                <a:ea typeface="Meiryo"/>
                <a:cs typeface="Meiryo"/>
                <a:sym typeface="Meiryo"/>
              </a:rPr>
              <a:t>公式アカウントの友だちを増やすための広告を、</a:t>
            </a:r>
            <a:br>
              <a:rPr lang="en-US" altLang="ja-JP" sz="1600" b="1" dirty="0">
                <a:solidFill>
                  <a:schemeClr val="tx1">
                    <a:lumMod val="65000"/>
                    <a:lumOff val="35000"/>
                  </a:schemeClr>
                </a:solidFill>
                <a:latin typeface="Meiryo"/>
                <a:ea typeface="Meiryo"/>
                <a:cs typeface="Meiryo"/>
                <a:sym typeface="Meiryo"/>
              </a:rPr>
            </a:br>
            <a:r>
              <a:rPr lang="en-US" altLang="ja-JP" sz="1600" b="1" dirty="0">
                <a:solidFill>
                  <a:schemeClr val="tx1">
                    <a:lumMod val="65000"/>
                    <a:lumOff val="35000"/>
                  </a:schemeClr>
                </a:solidFill>
                <a:latin typeface="Meiryo"/>
                <a:ea typeface="Meiryo"/>
                <a:cs typeface="Meiryo"/>
                <a:sym typeface="Meiryo"/>
              </a:rPr>
              <a:t>LINE</a:t>
            </a:r>
            <a:r>
              <a:rPr lang="ja-JP" altLang="en-US" sz="1600" b="1" dirty="0">
                <a:solidFill>
                  <a:schemeClr val="tx1">
                    <a:lumMod val="65000"/>
                    <a:lumOff val="35000"/>
                  </a:schemeClr>
                </a:solidFill>
                <a:latin typeface="Meiryo"/>
                <a:ea typeface="Meiryo"/>
                <a:cs typeface="Meiryo"/>
                <a:sym typeface="Meiryo"/>
              </a:rPr>
              <a:t>広告の管理画面より</a:t>
            </a:r>
            <a:r>
              <a:rPr lang="en-US" altLang="ja-JP" sz="1600" b="1" dirty="0">
                <a:solidFill>
                  <a:schemeClr val="tx1">
                    <a:lumMod val="65000"/>
                    <a:lumOff val="35000"/>
                  </a:schemeClr>
                </a:solidFill>
                <a:latin typeface="Meiryo"/>
                <a:ea typeface="Meiryo"/>
                <a:cs typeface="Meiryo"/>
                <a:sym typeface="Meiryo"/>
              </a:rPr>
              <a:t>LINE</a:t>
            </a:r>
            <a:r>
              <a:rPr lang="ja-JP" altLang="en-US" sz="1600" b="1" dirty="0">
                <a:solidFill>
                  <a:schemeClr val="tx1">
                    <a:lumMod val="65000"/>
                    <a:lumOff val="35000"/>
                  </a:schemeClr>
                </a:solidFill>
                <a:latin typeface="Meiryo"/>
                <a:ea typeface="Meiryo"/>
                <a:cs typeface="Meiryo"/>
                <a:sym typeface="Meiryo"/>
              </a:rPr>
              <a:t>アプリ内で掲載できる機能。</a:t>
            </a:r>
            <a:endParaRPr lang="en-US" altLang="ja-JP" sz="1600" b="1" dirty="0">
              <a:solidFill>
                <a:schemeClr val="tx1">
                  <a:lumMod val="65000"/>
                  <a:lumOff val="35000"/>
                </a:schemeClr>
              </a:solidFill>
              <a:latin typeface="Meiryo"/>
              <a:ea typeface="Meiryo"/>
              <a:cs typeface="Meiryo"/>
              <a:sym typeface="Meiryo"/>
            </a:endParaRPr>
          </a:p>
        </p:txBody>
      </p:sp>
      <p:grpSp>
        <p:nvGrpSpPr>
          <p:cNvPr id="55" name="グループ化 54">
            <a:extLst>
              <a:ext uri="{FF2B5EF4-FFF2-40B4-BE49-F238E27FC236}">
                <a16:creationId xmlns:a16="http://schemas.microsoft.com/office/drawing/2014/main" id="{AA1E2469-A533-1A69-9E3E-DCA5ECAE64F8}"/>
              </a:ext>
            </a:extLst>
          </p:cNvPr>
          <p:cNvGrpSpPr/>
          <p:nvPr/>
        </p:nvGrpSpPr>
        <p:grpSpPr>
          <a:xfrm>
            <a:off x="516143" y="1563631"/>
            <a:ext cx="2696339" cy="312276"/>
            <a:chOff x="548883" y="1619331"/>
            <a:chExt cx="2696339" cy="312276"/>
          </a:xfrm>
        </p:grpSpPr>
        <p:sp>
          <p:nvSpPr>
            <p:cNvPr id="56" name="四角形: 角を丸くする 55">
              <a:extLst>
                <a:ext uri="{FF2B5EF4-FFF2-40B4-BE49-F238E27FC236}">
                  <a16:creationId xmlns:a16="http://schemas.microsoft.com/office/drawing/2014/main" id="{A2BD085E-2BC4-9C8E-5DC8-B72B3DDB8E8D}"/>
                </a:ext>
              </a:extLst>
            </p:cNvPr>
            <p:cNvSpPr/>
            <p:nvPr/>
          </p:nvSpPr>
          <p:spPr>
            <a:xfrm>
              <a:off x="548883" y="1619331"/>
              <a:ext cx="2696339" cy="302592"/>
            </a:xfrm>
            <a:prstGeom prst="round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ctr"/>
              <a:endParaRPr kumimoji="1" lang="ja-JP" altLang="en-US"/>
            </a:p>
          </p:txBody>
        </p:sp>
        <p:sp>
          <p:nvSpPr>
            <p:cNvPr id="57" name="正方形/長方形 56">
              <a:extLst>
                <a:ext uri="{FF2B5EF4-FFF2-40B4-BE49-F238E27FC236}">
                  <a16:creationId xmlns:a16="http://schemas.microsoft.com/office/drawing/2014/main" id="{560B246B-790F-6D05-28ED-13ABB1AF3BEC}"/>
                </a:ext>
              </a:extLst>
            </p:cNvPr>
            <p:cNvSpPr/>
            <p:nvPr/>
          </p:nvSpPr>
          <p:spPr>
            <a:xfrm>
              <a:off x="548883" y="1654608"/>
              <a:ext cx="2696339" cy="276999"/>
            </a:xfrm>
            <a:prstGeom prst="rect">
              <a:avLst/>
            </a:prstGeom>
            <a:noFill/>
          </p:spPr>
          <p:txBody>
            <a:bodyPr wrap="square">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lvl="0" algn="ctr">
                <a:buClr>
                  <a:srgbClr val="002060"/>
                </a:buClr>
                <a:buSzPts val="1600"/>
              </a:pPr>
              <a:r>
                <a:rPr lang="en-US" altLang="ja-JP" sz="1200" b="1" dirty="0">
                  <a:solidFill>
                    <a:srgbClr val="0070C0"/>
                  </a:solidFill>
                  <a:latin typeface="Meiryo"/>
                  <a:ea typeface="Meiryo"/>
                  <a:cs typeface="Meiryo"/>
                  <a:sym typeface="Meiryo"/>
                </a:rPr>
                <a:t>LINE</a:t>
              </a:r>
              <a:r>
                <a:rPr lang="ja-JP" altLang="en-US" sz="1200" b="1" dirty="0">
                  <a:solidFill>
                    <a:srgbClr val="0070C0"/>
                  </a:solidFill>
                  <a:latin typeface="Meiryo"/>
                  <a:ea typeface="Meiryo"/>
                  <a:cs typeface="Meiryo"/>
                  <a:sym typeface="Meiryo"/>
                </a:rPr>
                <a:t>公式アカウントまでの導線</a:t>
              </a:r>
              <a:endParaRPr lang="en-US" altLang="ja-JP" sz="1200" b="1" dirty="0">
                <a:solidFill>
                  <a:srgbClr val="0070C0"/>
                </a:solidFill>
                <a:latin typeface="Meiryo"/>
                <a:ea typeface="Meiryo"/>
                <a:cs typeface="Meiryo"/>
                <a:sym typeface="Meiryo"/>
              </a:endParaRPr>
            </a:p>
          </p:txBody>
        </p:sp>
      </p:grpSp>
      <p:grpSp>
        <p:nvGrpSpPr>
          <p:cNvPr id="58" name="グループ化 57">
            <a:extLst>
              <a:ext uri="{FF2B5EF4-FFF2-40B4-BE49-F238E27FC236}">
                <a16:creationId xmlns:a16="http://schemas.microsoft.com/office/drawing/2014/main" id="{27EC4882-F1F7-3407-18D9-449D2F776799}"/>
              </a:ext>
            </a:extLst>
          </p:cNvPr>
          <p:cNvGrpSpPr/>
          <p:nvPr/>
        </p:nvGrpSpPr>
        <p:grpSpPr>
          <a:xfrm>
            <a:off x="516142" y="3819645"/>
            <a:ext cx="2696339" cy="312276"/>
            <a:chOff x="548883" y="1619331"/>
            <a:chExt cx="2696339" cy="312276"/>
          </a:xfrm>
        </p:grpSpPr>
        <p:sp>
          <p:nvSpPr>
            <p:cNvPr id="59" name="四角形: 角を丸くする 58">
              <a:extLst>
                <a:ext uri="{FF2B5EF4-FFF2-40B4-BE49-F238E27FC236}">
                  <a16:creationId xmlns:a16="http://schemas.microsoft.com/office/drawing/2014/main" id="{6B1769D7-5324-51AE-1D2D-802E7FFC46C9}"/>
                </a:ext>
              </a:extLst>
            </p:cNvPr>
            <p:cNvSpPr/>
            <p:nvPr/>
          </p:nvSpPr>
          <p:spPr>
            <a:xfrm>
              <a:off x="548883" y="1619331"/>
              <a:ext cx="2696339" cy="302592"/>
            </a:xfrm>
            <a:prstGeom prst="round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ctr"/>
              <a:endParaRPr kumimoji="1" lang="ja-JP" altLang="en-US"/>
            </a:p>
          </p:txBody>
        </p:sp>
        <p:sp>
          <p:nvSpPr>
            <p:cNvPr id="60" name="正方形/長方形 59">
              <a:extLst>
                <a:ext uri="{FF2B5EF4-FFF2-40B4-BE49-F238E27FC236}">
                  <a16:creationId xmlns:a16="http://schemas.microsoft.com/office/drawing/2014/main" id="{A0FD1FD7-9083-04AC-7FC2-C1EDD68A2FCA}"/>
                </a:ext>
              </a:extLst>
            </p:cNvPr>
            <p:cNvSpPr/>
            <p:nvPr/>
          </p:nvSpPr>
          <p:spPr>
            <a:xfrm>
              <a:off x="548883" y="1654608"/>
              <a:ext cx="2696339" cy="276999"/>
            </a:xfrm>
            <a:prstGeom prst="rect">
              <a:avLst/>
            </a:prstGeom>
            <a:noFill/>
          </p:spPr>
          <p:txBody>
            <a:bodyPr wrap="square">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lvl="0" algn="ctr">
                <a:buClr>
                  <a:srgbClr val="002060"/>
                </a:buClr>
                <a:buSzPts val="1600"/>
              </a:pPr>
              <a:r>
                <a:rPr lang="ja-JP" altLang="en-US" sz="1200" b="1" dirty="0">
                  <a:solidFill>
                    <a:srgbClr val="0070C0"/>
                  </a:solidFill>
                  <a:latin typeface="Meiryo"/>
                  <a:ea typeface="Meiryo"/>
                  <a:cs typeface="Meiryo"/>
                  <a:sym typeface="Meiryo"/>
                </a:rPr>
                <a:t>「友だち追加広告」との違い</a:t>
              </a:r>
              <a:endParaRPr lang="en-US" altLang="ja-JP" sz="1200" b="1" dirty="0">
                <a:solidFill>
                  <a:srgbClr val="0070C0"/>
                </a:solidFill>
                <a:latin typeface="Meiryo"/>
                <a:ea typeface="Meiryo"/>
                <a:cs typeface="Meiryo"/>
                <a:sym typeface="Meiryo"/>
              </a:endParaRPr>
            </a:p>
          </p:txBody>
        </p:sp>
      </p:grpSp>
      <p:pic>
        <p:nvPicPr>
          <p:cNvPr id="61" name="table">
            <a:extLst>
              <a:ext uri="{FF2B5EF4-FFF2-40B4-BE49-F238E27FC236}">
                <a16:creationId xmlns:a16="http://schemas.microsoft.com/office/drawing/2014/main" id="{9AC26B4B-6733-A76D-2762-4EE39F3BE270}"/>
              </a:ext>
            </a:extLst>
          </p:cNvPr>
          <p:cNvPicPr>
            <a:picLocks noChangeAspect="1"/>
          </p:cNvPicPr>
          <p:nvPr/>
        </p:nvPicPr>
        <p:blipFill>
          <a:blip r:embed="rId3"/>
          <a:stretch>
            <a:fillRect/>
          </a:stretch>
        </p:blipFill>
        <p:spPr>
          <a:xfrm>
            <a:off x="787611" y="4201880"/>
            <a:ext cx="8672139" cy="2202180"/>
          </a:xfrm>
          <a:prstGeom prst="rect">
            <a:avLst/>
          </a:prstGeom>
        </p:spPr>
      </p:pic>
      <p:sp>
        <p:nvSpPr>
          <p:cNvPr id="62" name="矢印: 右 61">
            <a:extLst>
              <a:ext uri="{FF2B5EF4-FFF2-40B4-BE49-F238E27FC236}">
                <a16:creationId xmlns:a16="http://schemas.microsoft.com/office/drawing/2014/main" id="{FAA46C63-E291-C5BA-59B1-5AA6EB934DE7}"/>
              </a:ext>
            </a:extLst>
          </p:cNvPr>
          <p:cNvSpPr/>
          <p:nvPr/>
        </p:nvSpPr>
        <p:spPr>
          <a:xfrm>
            <a:off x="5232623" y="2618810"/>
            <a:ext cx="430306" cy="352298"/>
          </a:xfrm>
          <a:prstGeom prst="rightArrow">
            <a:avLst/>
          </a:prstGeom>
          <a:solidFill>
            <a:schemeClr val="bg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ctr"/>
            <a:endParaRPr kumimoji="1" lang="ja-JP" altLang="en-US"/>
          </a:p>
        </p:txBody>
      </p:sp>
      <p:pic>
        <p:nvPicPr>
          <p:cNvPr id="63" name="図 62">
            <a:extLst>
              <a:ext uri="{FF2B5EF4-FFF2-40B4-BE49-F238E27FC236}">
                <a16:creationId xmlns:a16="http://schemas.microsoft.com/office/drawing/2014/main" id="{15AB3743-9D18-6CD5-EBAE-3179EFAD1455}"/>
              </a:ext>
            </a:extLst>
          </p:cNvPr>
          <p:cNvPicPr>
            <a:picLocks noChangeAspect="1"/>
          </p:cNvPicPr>
          <p:nvPr/>
        </p:nvPicPr>
        <p:blipFill>
          <a:blip r:embed="rId4"/>
          <a:srcRect l="35517" r="35515"/>
          <a:stretch>
            <a:fillRect/>
          </a:stretch>
        </p:blipFill>
        <p:spPr>
          <a:xfrm>
            <a:off x="6038472" y="1875907"/>
            <a:ext cx="917480" cy="1779333"/>
          </a:xfrm>
          <a:prstGeom prst="rect">
            <a:avLst/>
          </a:prstGeom>
        </p:spPr>
      </p:pic>
      <p:sp>
        <p:nvSpPr>
          <p:cNvPr id="64" name="テキスト ボックス 34">
            <a:extLst>
              <a:ext uri="{FF2B5EF4-FFF2-40B4-BE49-F238E27FC236}">
                <a16:creationId xmlns:a16="http://schemas.microsoft.com/office/drawing/2014/main" id="{F684D30B-FB35-7D4D-6BE2-919C8EE56C1F}"/>
              </a:ext>
            </a:extLst>
          </p:cNvPr>
          <p:cNvSpPr txBox="1"/>
          <p:nvPr/>
        </p:nvSpPr>
        <p:spPr>
          <a:xfrm>
            <a:off x="6868291" y="2618810"/>
            <a:ext cx="2705100" cy="523220"/>
          </a:xfrm>
          <a:prstGeom prst="rect">
            <a:avLst/>
          </a:prstGeom>
          <a:noFill/>
        </p:spPr>
        <p:txBody>
          <a:bodyPr wrap="squar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kumimoji="1" lang="en-US" altLang="ja-JP" sz="1200" dirty="0">
                <a:latin typeface="メイリオ" panose="020B0604030504040204" pitchFamily="50" charset="-128"/>
                <a:ea typeface="メイリオ" panose="020B0604030504040204" pitchFamily="50" charset="-128"/>
              </a:rPr>
              <a:t>LINE</a:t>
            </a:r>
            <a:r>
              <a:rPr kumimoji="1" lang="ja-JP" altLang="en-US" sz="1200" dirty="0">
                <a:latin typeface="メイリオ" panose="020B0604030504040204" pitchFamily="50" charset="-128"/>
                <a:ea typeface="メイリオ" panose="020B0604030504040204" pitchFamily="50" charset="-128"/>
              </a:rPr>
              <a:t>アプリ内から</a:t>
            </a:r>
            <a:br>
              <a:rPr kumimoji="1" lang="en-US" altLang="ja-JP" sz="1200" dirty="0">
                <a:latin typeface="メイリオ" panose="020B0604030504040204" pitchFamily="50" charset="-128"/>
                <a:ea typeface="メイリオ" panose="020B0604030504040204" pitchFamily="50" charset="-128"/>
              </a:rPr>
            </a:br>
            <a:r>
              <a:rPr kumimoji="1" lang="ja-JP" altLang="en-US" sz="1200" dirty="0">
                <a:latin typeface="メイリオ" panose="020B0604030504040204" pitchFamily="50" charset="-128"/>
                <a:ea typeface="メイリオ" panose="020B0604030504040204" pitchFamily="50" charset="-128"/>
              </a:rPr>
              <a:t>自社アカウントに</a:t>
            </a:r>
            <a:r>
              <a:rPr kumimoji="1" lang="en-US" altLang="ja-JP" sz="1600" b="1" dirty="0">
                <a:solidFill>
                  <a:srgbClr val="33CC33"/>
                </a:solidFill>
                <a:latin typeface="メイリオ" panose="020B0604030504040204" pitchFamily="50" charset="-128"/>
                <a:ea typeface="メイリオ" panose="020B0604030504040204" pitchFamily="50" charset="-128"/>
              </a:rPr>
              <a:t>“</a:t>
            </a:r>
            <a:r>
              <a:rPr kumimoji="1" lang="ja-JP" altLang="en-US" sz="1600" b="1" dirty="0">
                <a:solidFill>
                  <a:srgbClr val="33CC33"/>
                </a:solidFill>
                <a:latin typeface="メイリオ" panose="020B0604030504040204" pitchFamily="50" charset="-128"/>
                <a:ea typeface="メイリオ" panose="020B0604030504040204" pitchFamily="50" charset="-128"/>
              </a:rPr>
              <a:t>直接</a:t>
            </a:r>
            <a:r>
              <a:rPr kumimoji="1" lang="en-US" altLang="ja-JP" sz="1600" b="1" dirty="0">
                <a:solidFill>
                  <a:srgbClr val="33CC33"/>
                </a:solidFill>
                <a:latin typeface="メイリオ" panose="020B0604030504040204" pitchFamily="50" charset="-128"/>
                <a:ea typeface="メイリオ" panose="020B0604030504040204" pitchFamily="50" charset="-128"/>
              </a:rPr>
              <a:t>”</a:t>
            </a:r>
            <a:r>
              <a:rPr kumimoji="1" lang="ja-JP" altLang="en-US" sz="1200" dirty="0">
                <a:latin typeface="メイリオ" panose="020B0604030504040204" pitchFamily="50" charset="-128"/>
                <a:ea typeface="メイリオ" panose="020B0604030504040204" pitchFamily="50" charset="-128"/>
              </a:rPr>
              <a:t>誘導</a:t>
            </a:r>
            <a:endParaRPr kumimoji="1" lang="en-US" altLang="ja-JP" sz="1200" dirty="0">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3574118905"/>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テキスト ボックス 47">
            <a:extLst>
              <a:ext uri="{FF2B5EF4-FFF2-40B4-BE49-F238E27FC236}">
                <a16:creationId xmlns:a16="http://schemas.microsoft.com/office/drawing/2014/main" id="{54048A3F-BF68-8CBE-2D2A-EA19B4DB550B}"/>
              </a:ext>
            </a:extLst>
          </p:cNvPr>
          <p:cNvSpPr txBox="1">
            <a:spLocks noChangeArrowheads="1"/>
          </p:cNvSpPr>
          <p:nvPr/>
        </p:nvSpPr>
        <p:spPr bwMode="auto">
          <a:xfrm>
            <a:off x="456501" y="107813"/>
            <a:ext cx="7512385" cy="3650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tIns="72000">
            <a:spAutoFit/>
          </a:bodyPr>
          <a:lstStyle>
            <a:lvl1pPr>
              <a:defRPr kumimoji="1" sz="3200">
                <a:solidFill>
                  <a:schemeClr val="tx1"/>
                </a:solidFill>
                <a:latin typeface="Calibri" charset="0"/>
                <a:ea typeface="ＭＳ Ｐゴシック" charset="0"/>
                <a:cs typeface="ＭＳ Ｐゴシック" charset="0"/>
              </a:defRPr>
            </a:lvl1pPr>
            <a:lvl2pPr>
              <a:defRPr kumimoji="1" sz="2800">
                <a:solidFill>
                  <a:schemeClr val="tx1"/>
                </a:solidFill>
                <a:latin typeface="Calibri" charset="0"/>
                <a:ea typeface="ＭＳ Ｐゴシック" charset="0"/>
              </a:defRPr>
            </a:lvl2pPr>
            <a:lvl3pPr>
              <a:defRPr kumimoji="1" sz="2400">
                <a:solidFill>
                  <a:schemeClr val="tx1"/>
                </a:solidFill>
                <a:latin typeface="Calibri" charset="0"/>
                <a:ea typeface="ＭＳ Ｐゴシック" charset="0"/>
              </a:defRPr>
            </a:lvl3pPr>
            <a:lvl4pPr>
              <a:defRPr kumimoji="1" sz="2000">
                <a:solidFill>
                  <a:schemeClr val="tx1"/>
                </a:solidFill>
                <a:latin typeface="Calibri" charset="0"/>
                <a:ea typeface="ＭＳ Ｐゴシック" charset="0"/>
              </a:defRPr>
            </a:lvl4pPr>
            <a:lvl5pPr>
              <a:defRPr kumimoji="1" sz="2000">
                <a:solidFill>
                  <a:schemeClr val="tx1"/>
                </a:solidFill>
                <a:latin typeface="Calibri" charset="0"/>
                <a:ea typeface="ＭＳ Ｐゴシック" charset="0"/>
              </a:defRPr>
            </a:lvl5pPr>
            <a:lvl6pPr eaLnBrk="0" fontAlgn="base" hangingPunct="0">
              <a:spcAft>
                <a:spcPct val="0"/>
              </a:spcAft>
              <a:buFont typeface="Arial" charset="0"/>
              <a:buChar char="»"/>
              <a:defRPr kumimoji="1" sz="2000">
                <a:solidFill>
                  <a:schemeClr val="tx1"/>
                </a:solidFill>
                <a:latin typeface="Calibri" charset="0"/>
                <a:ea typeface="ＭＳ Ｐゴシック" charset="0"/>
              </a:defRPr>
            </a:lvl6pPr>
            <a:lvl7pPr eaLnBrk="0" fontAlgn="base" hangingPunct="0">
              <a:spcAft>
                <a:spcPct val="0"/>
              </a:spcAft>
              <a:buFont typeface="Arial" charset="0"/>
              <a:buChar char="»"/>
              <a:defRPr kumimoji="1" sz="2000">
                <a:solidFill>
                  <a:schemeClr val="tx1"/>
                </a:solidFill>
                <a:latin typeface="Calibri" charset="0"/>
                <a:ea typeface="ＭＳ Ｐゴシック" charset="0"/>
              </a:defRPr>
            </a:lvl7pPr>
            <a:lvl8pPr eaLnBrk="0" fontAlgn="base" hangingPunct="0">
              <a:spcAft>
                <a:spcPct val="0"/>
              </a:spcAft>
              <a:buFont typeface="Arial" charset="0"/>
              <a:buChar char="»"/>
              <a:defRPr kumimoji="1" sz="2000">
                <a:solidFill>
                  <a:schemeClr val="tx1"/>
                </a:solidFill>
                <a:latin typeface="Calibri" charset="0"/>
                <a:ea typeface="ＭＳ Ｐゴシック" charset="0"/>
              </a:defRPr>
            </a:lvl8pPr>
            <a:lvl9pPr eaLnBrk="0" fontAlgn="base" hangingPunct="0">
              <a:spcAft>
                <a:spcPct val="0"/>
              </a:spcAft>
              <a:buFont typeface="Arial" charset="0"/>
              <a:buChar char="»"/>
              <a:defRPr kumimoji="1" sz="2000">
                <a:solidFill>
                  <a:schemeClr val="tx1"/>
                </a:solidFill>
                <a:latin typeface="Calibri" charset="0"/>
                <a:ea typeface="ＭＳ Ｐゴシック" charset="0"/>
              </a:defRPr>
            </a:lvl9pPr>
          </a:lstStyle>
          <a:p>
            <a:pPr>
              <a:spcBef>
                <a:spcPct val="20000"/>
              </a:spcBef>
              <a:buFont typeface="Arial" charset="0"/>
              <a:buNone/>
            </a:pPr>
            <a:r>
              <a:rPr lang="ja-JP" altLang="en-US" sz="1600" b="1" dirty="0">
                <a:solidFill>
                  <a:srgbClr val="1F2A5C"/>
                </a:solidFill>
                <a:latin typeface="メイリオ"/>
                <a:ea typeface="メイリオ"/>
                <a:cs typeface="メイリオ"/>
              </a:rPr>
              <a:t>効果が悪いときの改善例</a:t>
            </a:r>
          </a:p>
        </p:txBody>
      </p:sp>
      <p:sp>
        <p:nvSpPr>
          <p:cNvPr id="5" name="Rectangle 2">
            <a:extLst>
              <a:ext uri="{FF2B5EF4-FFF2-40B4-BE49-F238E27FC236}">
                <a16:creationId xmlns:a16="http://schemas.microsoft.com/office/drawing/2014/main" id="{234E3E2F-FF11-E565-7999-FABF8B29646D}"/>
              </a:ext>
            </a:extLst>
          </p:cNvPr>
          <p:cNvSpPr/>
          <p:nvPr/>
        </p:nvSpPr>
        <p:spPr>
          <a:xfrm>
            <a:off x="121798" y="960120"/>
            <a:ext cx="9144000" cy="36576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t"/>
          <a:lstStyle/>
          <a:p>
            <a:pPr algn="l">
              <a:spcAft>
                <a:spcPts val="300"/>
              </a:spcAft>
            </a:pPr>
            <a:r>
              <a:rPr sz="1600" b="1">
                <a:solidFill>
                  <a:srgbClr val="4A6FA5"/>
                </a:solidFill>
                <a:latin typeface="メイリオ"/>
                <a:ea typeface="メイリオ"/>
                <a:cs typeface="メイリオ"/>
              </a:rPr>
              <a:t>数字が伸びないときは、どこで止まっているかを見て、配信の中身・順番・対象を直す。</a:t>
            </a:r>
          </a:p>
        </p:txBody>
      </p:sp>
      <p:sp>
        <p:nvSpPr>
          <p:cNvPr id="53" name="正方形/長方形 52">
            <a:extLst>
              <a:ext uri="{FF2B5EF4-FFF2-40B4-BE49-F238E27FC236}">
                <a16:creationId xmlns:a16="http://schemas.microsoft.com/office/drawing/2014/main" id="{F6341BEF-3885-9CF9-B1B6-B2D4EA06ED5E}"/>
              </a:ext>
            </a:extLst>
          </p:cNvPr>
          <p:cNvSpPr/>
          <p:nvPr/>
        </p:nvSpPr>
        <p:spPr>
          <a:xfrm>
            <a:off x="96788" y="1645669"/>
            <a:ext cx="9687414" cy="3577"/>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400" b="1" dirty="0">
              <a:latin typeface="メイリオ" panose="020B0604030504040204" pitchFamily="50" charset="-128"/>
              <a:ea typeface="メイリオ" panose="020B0604030504040204" pitchFamily="50" charset="-128"/>
            </a:endParaRPr>
          </a:p>
        </p:txBody>
      </p:sp>
      <p:sp>
        <p:nvSpPr>
          <p:cNvPr id="54" name="Rectangle 53"/>
          <p:cNvSpPr/>
          <p:nvPr/>
        </p:nvSpPr>
        <p:spPr>
          <a:xfrm>
            <a:off x="384048" y="1828800"/>
            <a:ext cx="2377440" cy="365760"/>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wrap="square" lIns="72000" tIns="18000" rIns="72000" bIns="18000" rtlCol="0" anchor="ctr"/>
          <a:lstStyle/>
          <a:p>
            <a:pPr algn="ctr">
              <a:lnSpc>
                <a:spcPct val="110000"/>
              </a:lnSpc>
              <a:spcAft>
                <a:spcPts val="0"/>
              </a:spcAft>
            </a:pPr>
            <a:r>
              <a:rPr sz="1200" b="1">
                <a:solidFill>
                  <a:srgbClr val="FFFFFF"/>
                </a:solidFill>
                <a:latin typeface="メイリオ"/>
                <a:ea typeface="メイリオ"/>
                <a:cs typeface="メイリオ"/>
              </a:rPr>
              <a:t>止まっているところ</a:t>
            </a:r>
          </a:p>
        </p:txBody>
      </p:sp>
      <p:sp>
        <p:nvSpPr>
          <p:cNvPr id="55" name="Rectangle 54"/>
          <p:cNvSpPr/>
          <p:nvPr/>
        </p:nvSpPr>
        <p:spPr>
          <a:xfrm>
            <a:off x="2788920" y="1828800"/>
            <a:ext cx="2377440" cy="365760"/>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wrap="square" lIns="72000" tIns="18000" rIns="72000" bIns="18000" rtlCol="0" anchor="ctr"/>
          <a:lstStyle/>
          <a:p>
            <a:pPr algn="ctr">
              <a:lnSpc>
                <a:spcPct val="110000"/>
              </a:lnSpc>
              <a:spcAft>
                <a:spcPts val="0"/>
              </a:spcAft>
            </a:pPr>
            <a:r>
              <a:rPr sz="1200" b="1">
                <a:solidFill>
                  <a:srgbClr val="FFFFFF"/>
                </a:solidFill>
                <a:latin typeface="メイリオ"/>
                <a:ea typeface="メイリオ"/>
                <a:cs typeface="メイリオ"/>
              </a:rPr>
              <a:t>見る数字</a:t>
            </a:r>
          </a:p>
        </p:txBody>
      </p:sp>
      <p:sp>
        <p:nvSpPr>
          <p:cNvPr id="56" name="Rectangle 55"/>
          <p:cNvSpPr/>
          <p:nvPr/>
        </p:nvSpPr>
        <p:spPr>
          <a:xfrm>
            <a:off x="5193792" y="1828800"/>
            <a:ext cx="4361687" cy="365760"/>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wrap="square" lIns="72000" tIns="18000" rIns="72000" bIns="18000" rtlCol="0" anchor="ctr"/>
          <a:lstStyle/>
          <a:p>
            <a:pPr algn="ctr">
              <a:lnSpc>
                <a:spcPct val="110000"/>
              </a:lnSpc>
              <a:spcAft>
                <a:spcPts val="0"/>
              </a:spcAft>
            </a:pPr>
            <a:r>
              <a:rPr sz="1200" b="1">
                <a:solidFill>
                  <a:srgbClr val="FFFFFF"/>
                </a:solidFill>
                <a:latin typeface="メイリオ"/>
                <a:ea typeface="メイリオ"/>
                <a:cs typeface="メイリオ"/>
              </a:rPr>
              <a:t>直し方</a:t>
            </a:r>
          </a:p>
        </p:txBody>
      </p:sp>
      <p:sp>
        <p:nvSpPr>
          <p:cNvPr id="57" name="Rectangle 56"/>
          <p:cNvSpPr/>
          <p:nvPr/>
        </p:nvSpPr>
        <p:spPr>
          <a:xfrm>
            <a:off x="384048" y="2231136"/>
            <a:ext cx="2377440" cy="603504"/>
          </a:xfrm>
          <a:prstGeom prst="rect">
            <a:avLst/>
          </a:prstGeom>
          <a:solidFill>
            <a:srgbClr val="EEF1F8"/>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200" b="1">
                <a:solidFill>
                  <a:srgbClr val="1F2A5C"/>
                </a:solidFill>
                <a:latin typeface="メイリオ"/>
                <a:ea typeface="メイリオ"/>
                <a:cs typeface="メイリオ"/>
              </a:rPr>
              <a:t>友だちが増えない</a:t>
            </a:r>
          </a:p>
        </p:txBody>
      </p:sp>
      <p:sp>
        <p:nvSpPr>
          <p:cNvPr id="58" name="Rectangle 57"/>
          <p:cNvSpPr/>
          <p:nvPr/>
        </p:nvSpPr>
        <p:spPr>
          <a:xfrm>
            <a:off x="2788920" y="2231136"/>
            <a:ext cx="2377440" cy="603504"/>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200" b="0">
                <a:solidFill>
                  <a:srgbClr val="333333"/>
                </a:solidFill>
                <a:latin typeface="メイリオ"/>
                <a:ea typeface="メイリオ"/>
                <a:cs typeface="メイリオ"/>
              </a:rPr>
              <a:t>友だち追加数・ポップアップの表示回数</a:t>
            </a:r>
          </a:p>
        </p:txBody>
      </p:sp>
      <p:sp>
        <p:nvSpPr>
          <p:cNvPr id="59" name="Rectangle 58"/>
          <p:cNvSpPr/>
          <p:nvPr/>
        </p:nvSpPr>
        <p:spPr>
          <a:xfrm>
            <a:off x="5193792" y="2231136"/>
            <a:ext cx="4361687" cy="603504"/>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200" b="0">
                <a:solidFill>
                  <a:srgbClr val="333333"/>
                </a:solidFill>
                <a:latin typeface="メイリオ"/>
                <a:ea typeface="メイリオ"/>
                <a:cs typeface="メイリオ"/>
              </a:rPr>
              <a:t>ポップアップの出し方と訴求、広告の着地ページの導線を見直す</a:t>
            </a:r>
          </a:p>
        </p:txBody>
      </p:sp>
      <p:sp>
        <p:nvSpPr>
          <p:cNvPr id="60" name="Rectangle 59"/>
          <p:cNvSpPr/>
          <p:nvPr/>
        </p:nvSpPr>
        <p:spPr>
          <a:xfrm>
            <a:off x="384048" y="2871216"/>
            <a:ext cx="2377440" cy="603504"/>
          </a:xfrm>
          <a:prstGeom prst="rect">
            <a:avLst/>
          </a:prstGeom>
          <a:solidFill>
            <a:srgbClr val="EEF1F8"/>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200" b="1">
                <a:solidFill>
                  <a:srgbClr val="1F2A5C"/>
                </a:solidFill>
                <a:latin typeface="メイリオ"/>
                <a:ea typeface="メイリオ"/>
                <a:cs typeface="メイリオ"/>
              </a:rPr>
              <a:t>ブロックが多い</a:t>
            </a:r>
          </a:p>
        </p:txBody>
      </p:sp>
      <p:sp>
        <p:nvSpPr>
          <p:cNvPr id="61" name="Rectangle 60"/>
          <p:cNvSpPr/>
          <p:nvPr/>
        </p:nvSpPr>
        <p:spPr>
          <a:xfrm>
            <a:off x="2788920" y="2871216"/>
            <a:ext cx="2377440" cy="603504"/>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200" b="0">
                <a:solidFill>
                  <a:srgbClr val="333333"/>
                </a:solidFill>
                <a:latin typeface="メイリオ"/>
                <a:ea typeface="メイリオ"/>
                <a:cs typeface="メイリオ"/>
              </a:rPr>
              <a:t>ブロック率（配信ごと）</a:t>
            </a:r>
          </a:p>
        </p:txBody>
      </p:sp>
      <p:sp>
        <p:nvSpPr>
          <p:cNvPr id="62" name="Rectangle 61"/>
          <p:cNvSpPr/>
          <p:nvPr/>
        </p:nvSpPr>
        <p:spPr>
          <a:xfrm>
            <a:off x="5193792" y="2871216"/>
            <a:ext cx="4361687" cy="603504"/>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200" b="0">
                <a:solidFill>
                  <a:srgbClr val="333333"/>
                </a:solidFill>
                <a:latin typeface="メイリオ"/>
                <a:ea typeface="メイリオ"/>
                <a:cs typeface="メイリオ"/>
              </a:rPr>
              <a:t>配信の頻度と対象を絞る。診断の答えに合わない配信を止める</a:t>
            </a:r>
          </a:p>
        </p:txBody>
      </p:sp>
      <p:sp>
        <p:nvSpPr>
          <p:cNvPr id="63" name="Rectangle 62"/>
          <p:cNvSpPr/>
          <p:nvPr/>
        </p:nvSpPr>
        <p:spPr>
          <a:xfrm>
            <a:off x="384048" y="3511296"/>
            <a:ext cx="2377440" cy="603504"/>
          </a:xfrm>
          <a:prstGeom prst="rect">
            <a:avLst/>
          </a:prstGeom>
          <a:solidFill>
            <a:srgbClr val="EEF1F8"/>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200" b="1">
                <a:solidFill>
                  <a:srgbClr val="1F2A5C"/>
                </a:solidFill>
                <a:latin typeface="メイリオ"/>
                <a:ea typeface="メイリオ"/>
                <a:cs typeface="メイリオ"/>
              </a:rPr>
              <a:t>開封・クリックが低い</a:t>
            </a:r>
          </a:p>
        </p:txBody>
      </p:sp>
      <p:sp>
        <p:nvSpPr>
          <p:cNvPr id="64" name="Rectangle 63"/>
          <p:cNvSpPr/>
          <p:nvPr/>
        </p:nvSpPr>
        <p:spPr>
          <a:xfrm>
            <a:off x="2788920" y="3511296"/>
            <a:ext cx="2377440" cy="603504"/>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200" b="0">
                <a:solidFill>
                  <a:srgbClr val="333333"/>
                </a:solidFill>
                <a:latin typeface="メイリオ"/>
                <a:ea typeface="メイリオ"/>
                <a:cs typeface="メイリオ"/>
              </a:rPr>
              <a:t>開封率・クリック率</a:t>
            </a:r>
          </a:p>
        </p:txBody>
      </p:sp>
      <p:sp>
        <p:nvSpPr>
          <p:cNvPr id="65" name="Rectangle 64"/>
          <p:cNvSpPr/>
          <p:nvPr/>
        </p:nvSpPr>
        <p:spPr>
          <a:xfrm>
            <a:off x="5193792" y="3511296"/>
            <a:ext cx="4361687" cy="603504"/>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200" b="0">
                <a:solidFill>
                  <a:srgbClr val="333333"/>
                </a:solidFill>
                <a:latin typeface="メイリオ"/>
                <a:ea typeface="メイリオ"/>
                <a:cs typeface="メイリオ"/>
              </a:rPr>
              <a:t>見出し・画像・送る時間を変えて比べる</a:t>
            </a:r>
          </a:p>
        </p:txBody>
      </p:sp>
      <p:sp>
        <p:nvSpPr>
          <p:cNvPr id="66" name="Rectangle 65"/>
          <p:cNvSpPr/>
          <p:nvPr/>
        </p:nvSpPr>
        <p:spPr>
          <a:xfrm>
            <a:off x="384048" y="4151376"/>
            <a:ext cx="2377440" cy="603504"/>
          </a:xfrm>
          <a:prstGeom prst="rect">
            <a:avLst/>
          </a:prstGeom>
          <a:solidFill>
            <a:srgbClr val="EEF1F8"/>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200" b="1">
                <a:solidFill>
                  <a:srgbClr val="1F2A5C"/>
                </a:solidFill>
                <a:latin typeface="メイリオ"/>
                <a:ea typeface="メイリオ"/>
                <a:cs typeface="メイリオ"/>
              </a:rPr>
              <a:t>ENTRYにつながらない</a:t>
            </a:r>
          </a:p>
        </p:txBody>
      </p:sp>
      <p:sp>
        <p:nvSpPr>
          <p:cNvPr id="67" name="Rectangle 66"/>
          <p:cNvSpPr/>
          <p:nvPr/>
        </p:nvSpPr>
        <p:spPr>
          <a:xfrm>
            <a:off x="2788920" y="4151376"/>
            <a:ext cx="2377440" cy="603504"/>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200" b="0">
                <a:solidFill>
                  <a:srgbClr val="333333"/>
                </a:solidFill>
                <a:latin typeface="メイリオ"/>
                <a:ea typeface="メイリオ"/>
                <a:cs typeface="メイリオ"/>
              </a:rPr>
              <a:t>ENTRY数・ENTRY率</a:t>
            </a:r>
          </a:p>
        </p:txBody>
      </p:sp>
      <p:sp>
        <p:nvSpPr>
          <p:cNvPr id="68" name="Rectangle 67"/>
          <p:cNvSpPr/>
          <p:nvPr/>
        </p:nvSpPr>
        <p:spPr>
          <a:xfrm>
            <a:off x="5193792" y="4151376"/>
            <a:ext cx="4361687" cy="603504"/>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200" b="0">
                <a:solidFill>
                  <a:srgbClr val="333333"/>
                </a:solidFill>
                <a:latin typeface="メイリオ"/>
                <a:ea typeface="メイリオ"/>
                <a:cs typeface="メイリオ"/>
              </a:rPr>
              <a:t>診断の結果に合う求人と、ステップ配信の順番を見直す</a:t>
            </a:r>
          </a:p>
        </p:txBody>
      </p:sp>
      <p:sp>
        <p:nvSpPr>
          <p:cNvPr id="69" name="Rectangle 68"/>
          <p:cNvSpPr/>
          <p:nvPr/>
        </p:nvSpPr>
        <p:spPr>
          <a:xfrm>
            <a:off x="384048" y="4791456"/>
            <a:ext cx="2377440" cy="603504"/>
          </a:xfrm>
          <a:prstGeom prst="rect">
            <a:avLst/>
          </a:prstGeom>
          <a:solidFill>
            <a:srgbClr val="EEF1F8"/>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200" b="1">
                <a:solidFill>
                  <a:srgbClr val="1F2A5C"/>
                </a:solidFill>
                <a:latin typeface="メイリオ"/>
                <a:ea typeface="メイリオ"/>
                <a:cs typeface="メイリオ"/>
              </a:rPr>
              <a:t>登録後に応募が進まない</a:t>
            </a:r>
          </a:p>
        </p:txBody>
      </p:sp>
      <p:sp>
        <p:nvSpPr>
          <p:cNvPr id="70" name="Rectangle 69"/>
          <p:cNvSpPr/>
          <p:nvPr/>
        </p:nvSpPr>
        <p:spPr>
          <a:xfrm>
            <a:off x="2788920" y="4791456"/>
            <a:ext cx="2377440" cy="603504"/>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200" b="0">
                <a:solidFill>
                  <a:srgbClr val="333333"/>
                </a:solidFill>
                <a:latin typeface="メイリオ"/>
                <a:ea typeface="メイリオ"/>
                <a:cs typeface="メイリオ"/>
              </a:rPr>
              <a:t>カウンセリング・応募の数</a:t>
            </a:r>
          </a:p>
        </p:txBody>
      </p:sp>
      <p:sp>
        <p:nvSpPr>
          <p:cNvPr id="71" name="Rectangle 70"/>
          <p:cNvSpPr/>
          <p:nvPr/>
        </p:nvSpPr>
        <p:spPr>
          <a:xfrm>
            <a:off x="5193792" y="4791456"/>
            <a:ext cx="4361687" cy="603504"/>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200" b="0">
                <a:solidFill>
                  <a:srgbClr val="333333"/>
                </a:solidFill>
                <a:latin typeface="メイリオ"/>
                <a:ea typeface="メイリオ"/>
                <a:cs typeface="メイリオ"/>
              </a:rPr>
              <a:t>サンクスLINEの後の案内と、カウンセリングの予約の導線を見直す</a:t>
            </a: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テキスト ボックス 47">
            <a:extLst>
              <a:ext uri="{FF2B5EF4-FFF2-40B4-BE49-F238E27FC236}">
                <a16:creationId xmlns:a16="http://schemas.microsoft.com/office/drawing/2014/main" id="{54048A3F-BF68-8CBE-2D2A-EA19B4DB550B}"/>
              </a:ext>
            </a:extLst>
          </p:cNvPr>
          <p:cNvSpPr txBox="1">
            <a:spLocks noChangeArrowheads="1"/>
          </p:cNvSpPr>
          <p:nvPr/>
        </p:nvSpPr>
        <p:spPr bwMode="auto">
          <a:xfrm>
            <a:off x="456501" y="107813"/>
            <a:ext cx="7512385" cy="3650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tIns="72000">
            <a:spAutoFit/>
          </a:bodyPr>
          <a:lstStyle>
            <a:lvl1pPr>
              <a:defRPr kumimoji="1" sz="3200">
                <a:solidFill>
                  <a:schemeClr val="tx1"/>
                </a:solidFill>
                <a:latin typeface="Calibri" charset="0"/>
                <a:ea typeface="ＭＳ Ｐゴシック" charset="0"/>
                <a:cs typeface="ＭＳ Ｐゴシック" charset="0"/>
              </a:defRPr>
            </a:lvl1pPr>
            <a:lvl2pPr>
              <a:defRPr kumimoji="1" sz="2800">
                <a:solidFill>
                  <a:schemeClr val="tx1"/>
                </a:solidFill>
                <a:latin typeface="Calibri" charset="0"/>
                <a:ea typeface="ＭＳ Ｐゴシック" charset="0"/>
              </a:defRPr>
            </a:lvl2pPr>
            <a:lvl3pPr>
              <a:defRPr kumimoji="1" sz="2400">
                <a:solidFill>
                  <a:schemeClr val="tx1"/>
                </a:solidFill>
                <a:latin typeface="Calibri" charset="0"/>
                <a:ea typeface="ＭＳ Ｐゴシック" charset="0"/>
              </a:defRPr>
            </a:lvl3pPr>
            <a:lvl4pPr>
              <a:defRPr kumimoji="1" sz="2000">
                <a:solidFill>
                  <a:schemeClr val="tx1"/>
                </a:solidFill>
                <a:latin typeface="Calibri" charset="0"/>
                <a:ea typeface="ＭＳ Ｐゴシック" charset="0"/>
              </a:defRPr>
            </a:lvl4pPr>
            <a:lvl5pPr>
              <a:defRPr kumimoji="1" sz="2000">
                <a:solidFill>
                  <a:schemeClr val="tx1"/>
                </a:solidFill>
                <a:latin typeface="Calibri" charset="0"/>
                <a:ea typeface="ＭＳ Ｐゴシック" charset="0"/>
              </a:defRPr>
            </a:lvl5pPr>
            <a:lvl6pPr eaLnBrk="0" fontAlgn="base" hangingPunct="0">
              <a:spcAft>
                <a:spcPct val="0"/>
              </a:spcAft>
              <a:buFont typeface="Arial" charset="0"/>
              <a:buChar char="»"/>
              <a:defRPr kumimoji="1" sz="2000">
                <a:solidFill>
                  <a:schemeClr val="tx1"/>
                </a:solidFill>
                <a:latin typeface="Calibri" charset="0"/>
                <a:ea typeface="ＭＳ Ｐゴシック" charset="0"/>
              </a:defRPr>
            </a:lvl6pPr>
            <a:lvl7pPr eaLnBrk="0" fontAlgn="base" hangingPunct="0">
              <a:spcAft>
                <a:spcPct val="0"/>
              </a:spcAft>
              <a:buFont typeface="Arial" charset="0"/>
              <a:buChar char="»"/>
              <a:defRPr kumimoji="1" sz="2000">
                <a:solidFill>
                  <a:schemeClr val="tx1"/>
                </a:solidFill>
                <a:latin typeface="Calibri" charset="0"/>
                <a:ea typeface="ＭＳ Ｐゴシック" charset="0"/>
              </a:defRPr>
            </a:lvl7pPr>
            <a:lvl8pPr eaLnBrk="0" fontAlgn="base" hangingPunct="0">
              <a:spcAft>
                <a:spcPct val="0"/>
              </a:spcAft>
              <a:buFont typeface="Arial" charset="0"/>
              <a:buChar char="»"/>
              <a:defRPr kumimoji="1" sz="2000">
                <a:solidFill>
                  <a:schemeClr val="tx1"/>
                </a:solidFill>
                <a:latin typeface="Calibri" charset="0"/>
                <a:ea typeface="ＭＳ Ｐゴシック" charset="0"/>
              </a:defRPr>
            </a:lvl8pPr>
            <a:lvl9pPr eaLnBrk="0" fontAlgn="base" hangingPunct="0">
              <a:spcAft>
                <a:spcPct val="0"/>
              </a:spcAft>
              <a:buFont typeface="Arial" charset="0"/>
              <a:buChar char="»"/>
              <a:defRPr kumimoji="1" sz="2000">
                <a:solidFill>
                  <a:schemeClr val="tx1"/>
                </a:solidFill>
                <a:latin typeface="Calibri" charset="0"/>
                <a:ea typeface="ＭＳ Ｐゴシック" charset="0"/>
              </a:defRPr>
            </a:lvl9pPr>
          </a:lstStyle>
          <a:p>
            <a:pPr>
              <a:spcBef>
                <a:spcPct val="20000"/>
              </a:spcBef>
              <a:buFont typeface="Arial" charset="0"/>
              <a:buNone/>
            </a:pPr>
            <a:r>
              <a:rPr lang="ja-JP" altLang="en-US" sz="1600" b="1" dirty="0">
                <a:solidFill>
                  <a:srgbClr val="1F2A5C"/>
                </a:solidFill>
                <a:latin typeface="メイリオ"/>
                <a:ea typeface="メイリオ"/>
                <a:cs typeface="メイリオ"/>
              </a:rPr>
              <a:t>報告の粒度</a:t>
            </a:r>
          </a:p>
        </p:txBody>
      </p:sp>
      <p:sp>
        <p:nvSpPr>
          <p:cNvPr id="5" name="Rectangle 2">
            <a:extLst>
              <a:ext uri="{FF2B5EF4-FFF2-40B4-BE49-F238E27FC236}">
                <a16:creationId xmlns:a16="http://schemas.microsoft.com/office/drawing/2014/main" id="{234E3E2F-FF11-E565-7999-FABF8B29646D}"/>
              </a:ext>
            </a:extLst>
          </p:cNvPr>
          <p:cNvSpPr/>
          <p:nvPr/>
        </p:nvSpPr>
        <p:spPr>
          <a:xfrm>
            <a:off x="121798" y="960120"/>
            <a:ext cx="9144000" cy="36576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t"/>
          <a:lstStyle/>
          <a:p>
            <a:pPr algn="l">
              <a:spcAft>
                <a:spcPts val="300"/>
              </a:spcAft>
            </a:pPr>
            <a:r>
              <a:rPr sz="1600" b="1">
                <a:solidFill>
                  <a:srgbClr val="4A6FA5"/>
                </a:solidFill>
                <a:latin typeface="メイリオ"/>
                <a:ea typeface="メイリオ"/>
                <a:cs typeface="メイリオ"/>
              </a:rPr>
              <a:t>毎月のレポートと定例会で、数字と次の打ち手を共有する。</a:t>
            </a:r>
          </a:p>
        </p:txBody>
      </p:sp>
      <p:sp>
        <p:nvSpPr>
          <p:cNvPr id="53" name="正方形/長方形 52">
            <a:extLst>
              <a:ext uri="{FF2B5EF4-FFF2-40B4-BE49-F238E27FC236}">
                <a16:creationId xmlns:a16="http://schemas.microsoft.com/office/drawing/2014/main" id="{F6341BEF-3885-9CF9-B1B6-B2D4EA06ED5E}"/>
              </a:ext>
            </a:extLst>
          </p:cNvPr>
          <p:cNvSpPr/>
          <p:nvPr/>
        </p:nvSpPr>
        <p:spPr>
          <a:xfrm>
            <a:off x="96788" y="1645669"/>
            <a:ext cx="9687414" cy="3577"/>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400" b="1" dirty="0">
              <a:latin typeface="メイリオ" panose="020B0604030504040204" pitchFamily="50" charset="-128"/>
              <a:ea typeface="メイリオ" panose="020B0604030504040204" pitchFamily="50" charset="-128"/>
            </a:endParaRPr>
          </a:p>
        </p:txBody>
      </p:sp>
      <p:sp>
        <p:nvSpPr>
          <p:cNvPr id="54" name="Rectangle 53"/>
          <p:cNvSpPr/>
          <p:nvPr/>
        </p:nvSpPr>
        <p:spPr>
          <a:xfrm>
            <a:off x="384048" y="1828800"/>
            <a:ext cx="1463040" cy="365760"/>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wrap="square" lIns="72000" tIns="18000" rIns="72000" bIns="18000" rtlCol="0" anchor="ctr"/>
          <a:lstStyle/>
          <a:p>
            <a:pPr algn="ctr">
              <a:lnSpc>
                <a:spcPct val="110000"/>
              </a:lnSpc>
              <a:spcAft>
                <a:spcPts val="0"/>
              </a:spcAft>
            </a:pPr>
            <a:r>
              <a:rPr sz="1200" b="1">
                <a:solidFill>
                  <a:srgbClr val="FFFFFF"/>
                </a:solidFill>
                <a:latin typeface="メイリオ"/>
                <a:ea typeface="メイリオ"/>
                <a:cs typeface="メイリオ"/>
              </a:rPr>
              <a:t>頻度</a:t>
            </a:r>
          </a:p>
        </p:txBody>
      </p:sp>
      <p:sp>
        <p:nvSpPr>
          <p:cNvPr id="55" name="Rectangle 54"/>
          <p:cNvSpPr/>
          <p:nvPr/>
        </p:nvSpPr>
        <p:spPr>
          <a:xfrm>
            <a:off x="1874520" y="1828800"/>
            <a:ext cx="2926080" cy="365760"/>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wrap="square" lIns="72000" tIns="18000" rIns="72000" bIns="18000" rtlCol="0" anchor="ctr"/>
          <a:lstStyle/>
          <a:p>
            <a:pPr algn="ctr">
              <a:lnSpc>
                <a:spcPct val="110000"/>
              </a:lnSpc>
              <a:spcAft>
                <a:spcPts val="0"/>
              </a:spcAft>
            </a:pPr>
            <a:r>
              <a:rPr sz="1200" b="1">
                <a:solidFill>
                  <a:srgbClr val="FFFFFF"/>
                </a:solidFill>
                <a:latin typeface="メイリオ"/>
                <a:ea typeface="メイリオ"/>
                <a:cs typeface="メイリオ"/>
              </a:rPr>
              <a:t>やること</a:t>
            </a:r>
          </a:p>
        </p:txBody>
      </p:sp>
      <p:sp>
        <p:nvSpPr>
          <p:cNvPr id="56" name="Rectangle 55"/>
          <p:cNvSpPr/>
          <p:nvPr/>
        </p:nvSpPr>
        <p:spPr>
          <a:xfrm>
            <a:off x="4828032" y="1828800"/>
            <a:ext cx="4727448" cy="365760"/>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wrap="square" lIns="72000" tIns="18000" rIns="72000" bIns="18000" rtlCol="0" anchor="ctr"/>
          <a:lstStyle/>
          <a:p>
            <a:pPr algn="ctr">
              <a:lnSpc>
                <a:spcPct val="110000"/>
              </a:lnSpc>
              <a:spcAft>
                <a:spcPts val="0"/>
              </a:spcAft>
            </a:pPr>
            <a:r>
              <a:rPr sz="1200" b="1">
                <a:solidFill>
                  <a:srgbClr val="FFFFFF"/>
                </a:solidFill>
                <a:latin typeface="メイリオ"/>
                <a:ea typeface="メイリオ"/>
                <a:cs typeface="メイリオ"/>
              </a:rPr>
              <a:t>中身</a:t>
            </a:r>
          </a:p>
        </p:txBody>
      </p:sp>
      <p:sp>
        <p:nvSpPr>
          <p:cNvPr id="57" name="Rectangle 56"/>
          <p:cNvSpPr/>
          <p:nvPr/>
        </p:nvSpPr>
        <p:spPr>
          <a:xfrm>
            <a:off x="384048" y="2231136"/>
            <a:ext cx="1463040" cy="566928"/>
          </a:xfrm>
          <a:prstGeom prst="rect">
            <a:avLst/>
          </a:prstGeom>
          <a:solidFill>
            <a:srgbClr val="EEF1F8"/>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200" b="1">
                <a:solidFill>
                  <a:srgbClr val="1F2A5C"/>
                </a:solidFill>
                <a:latin typeface="メイリオ"/>
                <a:ea typeface="メイリオ"/>
                <a:cs typeface="メイリオ"/>
              </a:rPr>
              <a:t>毎月</a:t>
            </a:r>
          </a:p>
        </p:txBody>
      </p:sp>
      <p:sp>
        <p:nvSpPr>
          <p:cNvPr id="58" name="Rectangle 57"/>
          <p:cNvSpPr/>
          <p:nvPr/>
        </p:nvSpPr>
        <p:spPr>
          <a:xfrm>
            <a:off x="1874520" y="2231136"/>
            <a:ext cx="2926080" cy="566928"/>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200" b="0">
                <a:solidFill>
                  <a:srgbClr val="333333"/>
                </a:solidFill>
                <a:latin typeface="メイリオ"/>
                <a:ea typeface="メイリオ"/>
                <a:cs typeface="メイリオ"/>
              </a:rPr>
              <a:t>月次レポート</a:t>
            </a:r>
          </a:p>
        </p:txBody>
      </p:sp>
      <p:sp>
        <p:nvSpPr>
          <p:cNvPr id="59" name="Rectangle 58"/>
          <p:cNvSpPr/>
          <p:nvPr/>
        </p:nvSpPr>
        <p:spPr>
          <a:xfrm>
            <a:off x="4828032" y="2231136"/>
            <a:ext cx="4727448" cy="566928"/>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200" b="0">
                <a:solidFill>
                  <a:srgbClr val="333333"/>
                </a:solidFill>
                <a:latin typeface="メイリオ"/>
                <a:ea typeface="メイリオ"/>
                <a:cs typeface="メイリオ"/>
              </a:rPr>
              <a:t>友だち数・ブロック率、配信ごとの開封・クリック、ENTRY・応募</a:t>
            </a:r>
          </a:p>
        </p:txBody>
      </p:sp>
      <p:sp>
        <p:nvSpPr>
          <p:cNvPr id="60" name="Rectangle 59"/>
          <p:cNvSpPr/>
          <p:nvPr/>
        </p:nvSpPr>
        <p:spPr>
          <a:xfrm>
            <a:off x="384048" y="2834640"/>
            <a:ext cx="1463040" cy="566928"/>
          </a:xfrm>
          <a:prstGeom prst="rect">
            <a:avLst/>
          </a:prstGeom>
          <a:solidFill>
            <a:srgbClr val="EEF1F8"/>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200" b="1">
                <a:solidFill>
                  <a:srgbClr val="1F2A5C"/>
                </a:solidFill>
                <a:latin typeface="メイリオ"/>
                <a:ea typeface="メイリオ"/>
                <a:cs typeface="メイリオ"/>
              </a:rPr>
              <a:t>毎月</a:t>
            </a:r>
          </a:p>
        </p:txBody>
      </p:sp>
      <p:sp>
        <p:nvSpPr>
          <p:cNvPr id="61" name="Rectangle 60"/>
          <p:cNvSpPr/>
          <p:nvPr/>
        </p:nvSpPr>
        <p:spPr>
          <a:xfrm>
            <a:off x="1874520" y="2834640"/>
            <a:ext cx="2926080" cy="566928"/>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200" b="0">
                <a:solidFill>
                  <a:srgbClr val="333333"/>
                </a:solidFill>
                <a:latin typeface="メイリオ"/>
                <a:ea typeface="メイリオ"/>
                <a:cs typeface="メイリオ"/>
              </a:rPr>
              <a:t>定例会</a:t>
            </a:r>
          </a:p>
        </p:txBody>
      </p:sp>
      <p:sp>
        <p:nvSpPr>
          <p:cNvPr id="62" name="Rectangle 61"/>
          <p:cNvSpPr/>
          <p:nvPr/>
        </p:nvSpPr>
        <p:spPr>
          <a:xfrm>
            <a:off x="4828032" y="2834640"/>
            <a:ext cx="4727448" cy="566928"/>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200" b="0">
                <a:solidFill>
                  <a:srgbClr val="333333"/>
                </a:solidFill>
                <a:latin typeface="メイリオ"/>
                <a:ea typeface="メイリオ"/>
                <a:cs typeface="メイリオ"/>
              </a:rPr>
              <a:t>先月の振り返りと、翌月の企画配信の内容</a:t>
            </a:r>
          </a:p>
        </p:txBody>
      </p:sp>
      <p:sp>
        <p:nvSpPr>
          <p:cNvPr id="63" name="Rectangle 62"/>
          <p:cNvSpPr/>
          <p:nvPr/>
        </p:nvSpPr>
        <p:spPr>
          <a:xfrm>
            <a:off x="384048" y="3438144"/>
            <a:ext cx="1463040" cy="566928"/>
          </a:xfrm>
          <a:prstGeom prst="rect">
            <a:avLst/>
          </a:prstGeom>
          <a:solidFill>
            <a:srgbClr val="EEF1F8"/>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200" b="1">
                <a:solidFill>
                  <a:srgbClr val="1F2A5C"/>
                </a:solidFill>
                <a:latin typeface="メイリオ"/>
                <a:ea typeface="メイリオ"/>
                <a:cs typeface="メイリオ"/>
              </a:rPr>
              <a:t>四半期</a:t>
            </a:r>
          </a:p>
        </p:txBody>
      </p:sp>
      <p:sp>
        <p:nvSpPr>
          <p:cNvPr id="64" name="Rectangle 63"/>
          <p:cNvSpPr/>
          <p:nvPr/>
        </p:nvSpPr>
        <p:spPr>
          <a:xfrm>
            <a:off x="1874520" y="3438144"/>
            <a:ext cx="2926080" cy="566928"/>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200" b="0">
                <a:solidFill>
                  <a:srgbClr val="333333"/>
                </a:solidFill>
                <a:latin typeface="メイリオ"/>
                <a:ea typeface="メイリオ"/>
                <a:cs typeface="メイリオ"/>
              </a:rPr>
              <a:t>設計の見直し</a:t>
            </a:r>
          </a:p>
        </p:txBody>
      </p:sp>
      <p:sp>
        <p:nvSpPr>
          <p:cNvPr id="65" name="Rectangle 64"/>
          <p:cNvSpPr/>
          <p:nvPr/>
        </p:nvSpPr>
        <p:spPr>
          <a:xfrm>
            <a:off x="4828032" y="3438144"/>
            <a:ext cx="4727448" cy="566928"/>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200" b="0">
                <a:solidFill>
                  <a:srgbClr val="333333"/>
                </a:solidFill>
                <a:latin typeface="メイリオ"/>
                <a:ea typeface="メイリオ"/>
                <a:cs typeface="メイリオ"/>
              </a:rPr>
              <a:t>診断の項目、ステップ配信の順番、リッチメニューの並び</a:t>
            </a:r>
          </a:p>
        </p:txBody>
      </p:sp>
      <p:sp>
        <p:nvSpPr>
          <p:cNvPr id="66" name="Rectangle 65"/>
          <p:cNvSpPr/>
          <p:nvPr/>
        </p:nvSpPr>
        <p:spPr>
          <a:xfrm>
            <a:off x="384048" y="4160520"/>
            <a:ext cx="9116568" cy="1965959"/>
          </a:xfrm>
          <a:prstGeom prst="rect">
            <a:avLst/>
          </a:prstGeom>
          <a:noFill/>
          <a:ln w="12700">
            <a:solidFill>
              <a:srgbClr val="A6A6A6"/>
            </a:solidFill>
            <a:prstDash val="dash"/>
          </a:ln>
          <a:effectLst/>
        </p:spPr>
        <p:style>
          <a:lnRef idx="1">
            <a:schemeClr val="accent1"/>
          </a:lnRef>
          <a:fillRef idx="3">
            <a:schemeClr val="accent1"/>
          </a:fillRef>
          <a:effectRef idx="0">
            <a:schemeClr val="accent1"/>
          </a:effectRef>
          <a:fontRef idx="minor">
            <a:schemeClr val="lt1"/>
          </a:fontRef>
        </p:style>
        <p:txBody>
          <a:bodyPr wrap="square" lIns="72000" tIns="18000" rIns="72000" bIns="18000" rtlCol="0" anchor="ctr"/>
          <a:lstStyle/>
          <a:p>
            <a:pPr algn="ctr">
              <a:lnSpc>
                <a:spcPct val="110000"/>
              </a:lnSpc>
              <a:spcAft>
                <a:spcPts val="0"/>
              </a:spcAft>
            </a:pPr>
            <a:r>
              <a:rPr sz="1200" b="0">
                <a:solidFill>
                  <a:srgbClr val="777777"/>
                </a:solidFill>
                <a:latin typeface="メイリオ"/>
                <a:ea typeface="メイリオ"/>
                <a:cs typeface="メイリオ"/>
              </a:rPr>
              <a:t>差し込み：月次レポートの見本</a:t>
            </a: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テキスト ボックス 47">
            <a:extLst>
              <a:ext uri="{FF2B5EF4-FFF2-40B4-BE49-F238E27FC236}">
                <a16:creationId xmlns:a16="http://schemas.microsoft.com/office/drawing/2014/main" id="{54048A3F-BF68-8CBE-2D2A-EA19B4DB550B}"/>
              </a:ext>
            </a:extLst>
          </p:cNvPr>
          <p:cNvSpPr txBox="1">
            <a:spLocks noChangeArrowheads="1"/>
          </p:cNvSpPr>
          <p:nvPr/>
        </p:nvSpPr>
        <p:spPr bwMode="auto">
          <a:xfrm>
            <a:off x="456501" y="107813"/>
            <a:ext cx="7512385" cy="3650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tIns="72000">
            <a:spAutoFit/>
          </a:bodyPr>
          <a:lstStyle>
            <a:lvl1pPr>
              <a:defRPr kumimoji="1" sz="3200">
                <a:solidFill>
                  <a:schemeClr val="tx1"/>
                </a:solidFill>
                <a:latin typeface="Calibri" charset="0"/>
                <a:ea typeface="ＭＳ Ｐゴシック" charset="0"/>
                <a:cs typeface="ＭＳ Ｐゴシック" charset="0"/>
              </a:defRPr>
            </a:lvl1pPr>
            <a:lvl2pPr>
              <a:defRPr kumimoji="1" sz="2800">
                <a:solidFill>
                  <a:schemeClr val="tx1"/>
                </a:solidFill>
                <a:latin typeface="Calibri" charset="0"/>
                <a:ea typeface="ＭＳ Ｐゴシック" charset="0"/>
              </a:defRPr>
            </a:lvl2pPr>
            <a:lvl3pPr>
              <a:defRPr kumimoji="1" sz="2400">
                <a:solidFill>
                  <a:schemeClr val="tx1"/>
                </a:solidFill>
                <a:latin typeface="Calibri" charset="0"/>
                <a:ea typeface="ＭＳ Ｐゴシック" charset="0"/>
              </a:defRPr>
            </a:lvl3pPr>
            <a:lvl4pPr>
              <a:defRPr kumimoji="1" sz="2000">
                <a:solidFill>
                  <a:schemeClr val="tx1"/>
                </a:solidFill>
                <a:latin typeface="Calibri" charset="0"/>
                <a:ea typeface="ＭＳ Ｐゴシック" charset="0"/>
              </a:defRPr>
            </a:lvl4pPr>
            <a:lvl5pPr>
              <a:defRPr kumimoji="1" sz="2000">
                <a:solidFill>
                  <a:schemeClr val="tx1"/>
                </a:solidFill>
                <a:latin typeface="Calibri" charset="0"/>
                <a:ea typeface="ＭＳ Ｐゴシック" charset="0"/>
              </a:defRPr>
            </a:lvl5pPr>
            <a:lvl6pPr eaLnBrk="0" fontAlgn="base" hangingPunct="0">
              <a:spcAft>
                <a:spcPct val="0"/>
              </a:spcAft>
              <a:buFont typeface="Arial" charset="0"/>
              <a:buChar char="»"/>
              <a:defRPr kumimoji="1" sz="2000">
                <a:solidFill>
                  <a:schemeClr val="tx1"/>
                </a:solidFill>
                <a:latin typeface="Calibri" charset="0"/>
                <a:ea typeface="ＭＳ Ｐゴシック" charset="0"/>
              </a:defRPr>
            </a:lvl6pPr>
            <a:lvl7pPr eaLnBrk="0" fontAlgn="base" hangingPunct="0">
              <a:spcAft>
                <a:spcPct val="0"/>
              </a:spcAft>
              <a:buFont typeface="Arial" charset="0"/>
              <a:buChar char="»"/>
              <a:defRPr kumimoji="1" sz="2000">
                <a:solidFill>
                  <a:schemeClr val="tx1"/>
                </a:solidFill>
                <a:latin typeface="Calibri" charset="0"/>
                <a:ea typeface="ＭＳ Ｐゴシック" charset="0"/>
              </a:defRPr>
            </a:lvl7pPr>
            <a:lvl8pPr eaLnBrk="0" fontAlgn="base" hangingPunct="0">
              <a:spcAft>
                <a:spcPct val="0"/>
              </a:spcAft>
              <a:buFont typeface="Arial" charset="0"/>
              <a:buChar char="»"/>
              <a:defRPr kumimoji="1" sz="2000">
                <a:solidFill>
                  <a:schemeClr val="tx1"/>
                </a:solidFill>
                <a:latin typeface="Calibri" charset="0"/>
                <a:ea typeface="ＭＳ Ｐゴシック" charset="0"/>
              </a:defRPr>
            </a:lvl8pPr>
            <a:lvl9pPr eaLnBrk="0" fontAlgn="base" hangingPunct="0">
              <a:spcAft>
                <a:spcPct val="0"/>
              </a:spcAft>
              <a:buFont typeface="Arial" charset="0"/>
              <a:buChar char="»"/>
              <a:defRPr kumimoji="1" sz="2000">
                <a:solidFill>
                  <a:schemeClr val="tx1"/>
                </a:solidFill>
                <a:latin typeface="Calibri" charset="0"/>
                <a:ea typeface="ＭＳ Ｐゴシック" charset="0"/>
              </a:defRPr>
            </a:lvl9pPr>
          </a:lstStyle>
          <a:p>
            <a:pPr>
              <a:spcBef>
                <a:spcPct val="20000"/>
              </a:spcBef>
              <a:buFont typeface="Arial" charset="0"/>
              <a:buNone/>
            </a:pPr>
            <a:r>
              <a:rPr lang="ja-JP" altLang="en-US" sz="1600" b="1" dirty="0">
                <a:solidFill>
                  <a:srgbClr val="1F2A5C"/>
                </a:solidFill>
                <a:latin typeface="メイリオ"/>
                <a:ea typeface="メイリオ"/>
                <a:cs typeface="メイリオ"/>
              </a:rPr>
              <a:t>体制・スケジュール</a:t>
            </a:r>
          </a:p>
        </p:txBody>
      </p:sp>
      <p:sp>
        <p:nvSpPr>
          <p:cNvPr id="5" name="Rectangle 2">
            <a:extLst>
              <a:ext uri="{FF2B5EF4-FFF2-40B4-BE49-F238E27FC236}">
                <a16:creationId xmlns:a16="http://schemas.microsoft.com/office/drawing/2014/main" id="{234E3E2F-FF11-E565-7999-FABF8B29646D}"/>
              </a:ext>
            </a:extLst>
          </p:cNvPr>
          <p:cNvSpPr/>
          <p:nvPr/>
        </p:nvSpPr>
        <p:spPr>
          <a:xfrm>
            <a:off x="121798" y="960120"/>
            <a:ext cx="9144000" cy="36576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t"/>
          <a:lstStyle/>
          <a:p>
            <a:pPr algn="l">
              <a:spcAft>
                <a:spcPts val="300"/>
              </a:spcAft>
            </a:pPr>
            <a:r>
              <a:rPr sz="1600" b="1">
                <a:solidFill>
                  <a:srgbClr val="4A6FA5"/>
                </a:solidFill>
                <a:latin typeface="メイリオ"/>
                <a:ea typeface="メイリオ"/>
                <a:cs typeface="メイリオ"/>
              </a:rPr>
              <a:t>設計 → 構築 → 運用開始 → 改善の順に進める。</a:t>
            </a:r>
          </a:p>
        </p:txBody>
      </p:sp>
      <p:sp>
        <p:nvSpPr>
          <p:cNvPr id="53" name="正方形/長方形 52">
            <a:extLst>
              <a:ext uri="{FF2B5EF4-FFF2-40B4-BE49-F238E27FC236}">
                <a16:creationId xmlns:a16="http://schemas.microsoft.com/office/drawing/2014/main" id="{F6341BEF-3885-9CF9-B1B6-B2D4EA06ED5E}"/>
              </a:ext>
            </a:extLst>
          </p:cNvPr>
          <p:cNvSpPr/>
          <p:nvPr/>
        </p:nvSpPr>
        <p:spPr>
          <a:xfrm>
            <a:off x="96788" y="1645669"/>
            <a:ext cx="9687414" cy="3577"/>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400" b="1" dirty="0">
              <a:latin typeface="メイリオ" panose="020B0604030504040204" pitchFamily="50" charset="-128"/>
              <a:ea typeface="メイリオ" panose="020B0604030504040204" pitchFamily="50" charset="-128"/>
            </a:endParaRPr>
          </a:p>
        </p:txBody>
      </p:sp>
      <p:sp>
        <p:nvSpPr>
          <p:cNvPr id="54" name="Rectangle 53"/>
          <p:cNvSpPr/>
          <p:nvPr/>
        </p:nvSpPr>
        <p:spPr>
          <a:xfrm>
            <a:off x="384048" y="1828800"/>
            <a:ext cx="1828800" cy="365760"/>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wrap="square" lIns="72000" tIns="18000" rIns="72000" bIns="18000" rtlCol="0" anchor="ctr"/>
          <a:lstStyle/>
          <a:p>
            <a:pPr algn="ctr">
              <a:lnSpc>
                <a:spcPct val="110000"/>
              </a:lnSpc>
              <a:spcAft>
                <a:spcPts val="0"/>
              </a:spcAft>
            </a:pPr>
            <a:r>
              <a:rPr sz="1200" b="1">
                <a:solidFill>
                  <a:srgbClr val="FFFFFF"/>
                </a:solidFill>
                <a:latin typeface="メイリオ"/>
                <a:ea typeface="メイリオ"/>
                <a:cs typeface="メイリオ"/>
              </a:rPr>
              <a:t>段階</a:t>
            </a:r>
          </a:p>
        </p:txBody>
      </p:sp>
      <p:sp>
        <p:nvSpPr>
          <p:cNvPr id="55" name="Rectangle 54"/>
          <p:cNvSpPr/>
          <p:nvPr/>
        </p:nvSpPr>
        <p:spPr>
          <a:xfrm>
            <a:off x="2240279" y="1828800"/>
            <a:ext cx="7287768" cy="365760"/>
          </a:xfrm>
          <a:prstGeom prst="rect">
            <a:avLst/>
          </a:prstGeom>
          <a:solidFill>
            <a:srgbClr val="1F2A5C"/>
          </a:solidFill>
          <a:ln>
            <a:noFill/>
          </a:ln>
          <a:effectLst/>
        </p:spPr>
        <p:style>
          <a:lnRef idx="1">
            <a:schemeClr val="accent1"/>
          </a:lnRef>
          <a:fillRef idx="3">
            <a:schemeClr val="accent1"/>
          </a:fillRef>
          <a:effectRef idx="0">
            <a:schemeClr val="accent1"/>
          </a:effectRef>
          <a:fontRef idx="minor">
            <a:schemeClr val="lt1"/>
          </a:fontRef>
        </p:style>
        <p:txBody>
          <a:bodyPr wrap="square" lIns="72000" tIns="18000" rIns="72000" bIns="18000" rtlCol="0" anchor="ctr"/>
          <a:lstStyle/>
          <a:p>
            <a:pPr algn="ctr">
              <a:lnSpc>
                <a:spcPct val="110000"/>
              </a:lnSpc>
              <a:spcAft>
                <a:spcPts val="0"/>
              </a:spcAft>
            </a:pPr>
            <a:r>
              <a:rPr sz="1200" b="1">
                <a:solidFill>
                  <a:srgbClr val="FFFFFF"/>
                </a:solidFill>
                <a:latin typeface="メイリオ"/>
                <a:ea typeface="メイリオ"/>
                <a:cs typeface="メイリオ"/>
              </a:rPr>
              <a:t>やること</a:t>
            </a:r>
          </a:p>
        </p:txBody>
      </p:sp>
      <p:sp>
        <p:nvSpPr>
          <p:cNvPr id="56" name="Rectangle 55"/>
          <p:cNvSpPr/>
          <p:nvPr/>
        </p:nvSpPr>
        <p:spPr>
          <a:xfrm>
            <a:off x="384048" y="2231136"/>
            <a:ext cx="1828800" cy="548640"/>
          </a:xfrm>
          <a:prstGeom prst="rect">
            <a:avLst/>
          </a:prstGeom>
          <a:solidFill>
            <a:srgbClr val="EEF1F8"/>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200" b="1">
                <a:solidFill>
                  <a:srgbClr val="1F2A5C"/>
                </a:solidFill>
                <a:latin typeface="メイリオ"/>
                <a:ea typeface="メイリオ"/>
                <a:cs typeface="メイリオ"/>
              </a:rPr>
              <a:t>設計</a:t>
            </a:r>
          </a:p>
        </p:txBody>
      </p:sp>
      <p:sp>
        <p:nvSpPr>
          <p:cNvPr id="57" name="Rectangle 56"/>
          <p:cNvSpPr/>
          <p:nvPr/>
        </p:nvSpPr>
        <p:spPr>
          <a:xfrm>
            <a:off x="2240279" y="2231136"/>
            <a:ext cx="7287768" cy="548640"/>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200" b="0">
                <a:solidFill>
                  <a:srgbClr val="333333"/>
                </a:solidFill>
                <a:latin typeface="メイリオ"/>
                <a:ea typeface="メイリオ"/>
                <a:cs typeface="メイリオ"/>
              </a:rPr>
              <a:t>友だちの入口、適正バイト診断の項目、ステップ配信の内容と順番</a:t>
            </a:r>
          </a:p>
        </p:txBody>
      </p:sp>
      <p:sp>
        <p:nvSpPr>
          <p:cNvPr id="58" name="Rectangle 57"/>
          <p:cNvSpPr/>
          <p:nvPr/>
        </p:nvSpPr>
        <p:spPr>
          <a:xfrm>
            <a:off x="384048" y="2816352"/>
            <a:ext cx="1828800" cy="548640"/>
          </a:xfrm>
          <a:prstGeom prst="rect">
            <a:avLst/>
          </a:prstGeom>
          <a:solidFill>
            <a:srgbClr val="EEF1F8"/>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200" b="1">
                <a:solidFill>
                  <a:srgbClr val="1F2A5C"/>
                </a:solidFill>
                <a:latin typeface="メイリオ"/>
                <a:ea typeface="メイリオ"/>
                <a:cs typeface="メイリオ"/>
              </a:rPr>
              <a:t>構築</a:t>
            </a:r>
          </a:p>
        </p:txBody>
      </p:sp>
      <p:sp>
        <p:nvSpPr>
          <p:cNvPr id="59" name="Rectangle 58"/>
          <p:cNvSpPr/>
          <p:nvPr/>
        </p:nvSpPr>
        <p:spPr>
          <a:xfrm>
            <a:off x="2240279" y="2816352"/>
            <a:ext cx="7287768" cy="548640"/>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200" b="0">
                <a:solidFill>
                  <a:srgbClr val="333333"/>
                </a:solidFill>
                <a:latin typeface="メイリオ"/>
                <a:ea typeface="メイリオ"/>
                <a:cs typeface="メイリオ"/>
              </a:rPr>
              <a:t>ポップアップ・サンクスLINE誘導、診断、ステップ配信、リッチメニュー</a:t>
            </a:r>
          </a:p>
        </p:txBody>
      </p:sp>
      <p:sp>
        <p:nvSpPr>
          <p:cNvPr id="60" name="Rectangle 59"/>
          <p:cNvSpPr/>
          <p:nvPr/>
        </p:nvSpPr>
        <p:spPr>
          <a:xfrm>
            <a:off x="384048" y="3401568"/>
            <a:ext cx="1828800" cy="548640"/>
          </a:xfrm>
          <a:prstGeom prst="rect">
            <a:avLst/>
          </a:prstGeom>
          <a:solidFill>
            <a:srgbClr val="EEF1F8"/>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200" b="1">
                <a:solidFill>
                  <a:srgbClr val="1F2A5C"/>
                </a:solidFill>
                <a:latin typeface="メイリオ"/>
                <a:ea typeface="メイリオ"/>
                <a:cs typeface="メイリオ"/>
              </a:rPr>
              <a:t>運用開始</a:t>
            </a:r>
          </a:p>
        </p:txBody>
      </p:sp>
      <p:sp>
        <p:nvSpPr>
          <p:cNvPr id="61" name="Rectangle 60"/>
          <p:cNvSpPr/>
          <p:nvPr/>
        </p:nvSpPr>
        <p:spPr>
          <a:xfrm>
            <a:off x="2240279" y="3401568"/>
            <a:ext cx="7287768" cy="548640"/>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200" b="0">
                <a:solidFill>
                  <a:srgbClr val="333333"/>
                </a:solidFill>
                <a:latin typeface="メイリオ"/>
                <a:ea typeface="メイリオ"/>
                <a:cs typeface="メイリオ"/>
              </a:rPr>
              <a:t>企画配信と、開始時期・エリア別の配信</a:t>
            </a:r>
          </a:p>
        </p:txBody>
      </p:sp>
      <p:sp>
        <p:nvSpPr>
          <p:cNvPr id="62" name="Rectangle 61"/>
          <p:cNvSpPr/>
          <p:nvPr/>
        </p:nvSpPr>
        <p:spPr>
          <a:xfrm>
            <a:off x="384048" y="3986783"/>
            <a:ext cx="1828800" cy="548640"/>
          </a:xfrm>
          <a:prstGeom prst="rect">
            <a:avLst/>
          </a:prstGeom>
          <a:solidFill>
            <a:srgbClr val="EEF1F8"/>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200" b="1">
                <a:solidFill>
                  <a:srgbClr val="1F2A5C"/>
                </a:solidFill>
                <a:latin typeface="メイリオ"/>
                <a:ea typeface="メイリオ"/>
                <a:cs typeface="メイリオ"/>
              </a:rPr>
              <a:t>改善</a:t>
            </a:r>
          </a:p>
        </p:txBody>
      </p:sp>
      <p:sp>
        <p:nvSpPr>
          <p:cNvPr id="63" name="Rectangle 62"/>
          <p:cNvSpPr/>
          <p:nvPr/>
        </p:nvSpPr>
        <p:spPr>
          <a:xfrm>
            <a:off x="2240279" y="3986783"/>
            <a:ext cx="7287768" cy="548640"/>
          </a:xfrm>
          <a:prstGeom prst="rect">
            <a:avLst/>
          </a:prstGeom>
          <a:solidFill>
            <a:srgbClr val="FFFFFF"/>
          </a:solidFill>
          <a:ln w="9525">
            <a:solidFill>
              <a:srgbClr val="D0D5E0"/>
            </a:solidFill>
          </a:ln>
          <a:effectLst/>
        </p:spPr>
        <p:style>
          <a:lnRef idx="1">
            <a:schemeClr val="accent1"/>
          </a:lnRef>
          <a:fillRef idx="3">
            <a:schemeClr val="accent1"/>
          </a:fillRef>
          <a:effectRef idx="0">
            <a:schemeClr val="accent1"/>
          </a:effectRef>
          <a:fontRef idx="minor">
            <a:schemeClr val="lt1"/>
          </a:fontRef>
        </p:style>
        <p:txBody>
          <a:bodyPr wrap="square" lIns="72000" tIns="18000" rIns="54000" bIns="18000" rtlCol="0" anchor="ctr"/>
          <a:lstStyle/>
          <a:p>
            <a:pPr algn="l">
              <a:lnSpc>
                <a:spcPct val="110000"/>
              </a:lnSpc>
              <a:spcAft>
                <a:spcPts val="0"/>
              </a:spcAft>
            </a:pPr>
            <a:r>
              <a:rPr sz="1200" b="0">
                <a:solidFill>
                  <a:srgbClr val="333333"/>
                </a:solidFill>
                <a:latin typeface="メイリオ"/>
                <a:ea typeface="メイリオ"/>
                <a:cs typeface="メイリオ"/>
              </a:rPr>
              <a:t>月次レポート・定例会で、配信の中身・順番・対象を見直す</a:t>
            </a:r>
          </a:p>
        </p:txBody>
      </p:sp>
      <p:sp>
        <p:nvSpPr>
          <p:cNvPr id="64" name="Rectangle 63"/>
          <p:cNvSpPr/>
          <p:nvPr/>
        </p:nvSpPr>
        <p:spPr>
          <a:xfrm>
            <a:off x="384048" y="4526280"/>
            <a:ext cx="9116568" cy="1600200"/>
          </a:xfrm>
          <a:prstGeom prst="rect">
            <a:avLst/>
          </a:prstGeom>
          <a:noFill/>
          <a:ln w="12700">
            <a:solidFill>
              <a:srgbClr val="A6A6A6"/>
            </a:solidFill>
            <a:prstDash val="dash"/>
          </a:ln>
          <a:effectLst/>
        </p:spPr>
        <p:style>
          <a:lnRef idx="1">
            <a:schemeClr val="accent1"/>
          </a:lnRef>
          <a:fillRef idx="3">
            <a:schemeClr val="accent1"/>
          </a:fillRef>
          <a:effectRef idx="0">
            <a:schemeClr val="accent1"/>
          </a:effectRef>
          <a:fontRef idx="minor">
            <a:schemeClr val="lt1"/>
          </a:fontRef>
        </p:style>
        <p:txBody>
          <a:bodyPr wrap="square" lIns="72000" tIns="18000" rIns="72000" bIns="18000" rtlCol="0" anchor="ctr"/>
          <a:lstStyle/>
          <a:p>
            <a:pPr algn="ctr">
              <a:lnSpc>
                <a:spcPct val="110000"/>
              </a:lnSpc>
              <a:spcAft>
                <a:spcPts val="0"/>
              </a:spcAft>
            </a:pPr>
            <a:r>
              <a:rPr sz="1200" b="0">
                <a:solidFill>
                  <a:srgbClr val="777777"/>
                </a:solidFill>
                <a:latin typeface="メイリオ"/>
                <a:ea typeface="メイリオ"/>
                <a:cs typeface="メイリオ"/>
              </a:rPr>
              <a:t>差し込み：体制図（弊社と貴社の役割）</a:t>
            </a: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72D1DD-CAE7-7DB8-9684-F3A91B9AE85F}"/>
            </a:ext>
          </a:extLst>
        </p:cNvPr>
        <p:cNvGrpSpPr/>
        <p:nvPr/>
      </p:nvGrpSpPr>
      <p:grpSpPr>
        <a:xfrm>
          <a:off x="0" y="0"/>
          <a:ext cx="0" cy="0"/>
          <a:chOff x="0" y="0"/>
          <a:chExt cx="0" cy="0"/>
        </a:xfrm>
      </p:grpSpPr>
      <p:sp>
        <p:nvSpPr>
          <p:cNvPr id="22" name="Google Shape;752;p28">
            <a:extLst>
              <a:ext uri="{FF2B5EF4-FFF2-40B4-BE49-F238E27FC236}">
                <a16:creationId xmlns:a16="http://schemas.microsoft.com/office/drawing/2014/main" id="{C357DA0F-C67D-8DDD-608D-27940C40784B}"/>
              </a:ext>
            </a:extLst>
          </p:cNvPr>
          <p:cNvSpPr txBox="1"/>
          <p:nvPr/>
        </p:nvSpPr>
        <p:spPr>
          <a:xfrm>
            <a:off x="548883" y="138137"/>
            <a:ext cx="6276325" cy="338514"/>
          </a:xfrm>
          <a:prstGeom prst="rect">
            <a:avLst/>
          </a:prstGeom>
          <a:noFill/>
          <a:ln>
            <a:noFill/>
          </a:ln>
        </p:spPr>
        <p:txBody>
          <a:bodyPr spcFirstLastPara="1" wrap="square" lIns="91425" tIns="45700" rIns="91425" bIns="45700" anchor="ctr" anchorCtr="0">
            <a:spAutoFit/>
          </a:bodyPr>
          <a:lstStyle/>
          <a:p>
            <a:pPr lvl="0"/>
            <a:r>
              <a:rPr lang="ja-JP" altLang="en-US" sz="1600" b="1" dirty="0">
                <a:solidFill>
                  <a:schemeClr val="bg1">
                    <a:lumMod val="65000"/>
                  </a:schemeClr>
                </a:solidFill>
                <a:latin typeface="メイリオ" panose="020B0604030504040204" pitchFamily="50" charset="-128"/>
                <a:ea typeface="メイリオ" panose="020B0604030504040204" pitchFamily="50" charset="-128"/>
                <a:cs typeface="Meiryo"/>
                <a:sym typeface="Meiryo"/>
              </a:rPr>
              <a:t>アジェンダ</a:t>
            </a:r>
          </a:p>
        </p:txBody>
      </p:sp>
      <p:sp>
        <p:nvSpPr>
          <p:cNvPr id="14" name="Google Shape;752;p28">
            <a:extLst>
              <a:ext uri="{FF2B5EF4-FFF2-40B4-BE49-F238E27FC236}">
                <a16:creationId xmlns:a16="http://schemas.microsoft.com/office/drawing/2014/main" id="{26E1192D-9AA2-9014-0964-28399C9BEE8D}"/>
              </a:ext>
            </a:extLst>
          </p:cNvPr>
          <p:cNvSpPr txBox="1"/>
          <p:nvPr/>
        </p:nvSpPr>
        <p:spPr>
          <a:xfrm>
            <a:off x="602223" y="1104688"/>
            <a:ext cx="1104657" cy="584735"/>
          </a:xfrm>
          <a:prstGeom prst="rect">
            <a:avLst/>
          </a:prstGeom>
          <a:noFill/>
          <a:ln>
            <a:noFill/>
          </a:ln>
        </p:spPr>
        <p:txBody>
          <a:bodyPr spcFirstLastPara="1" wrap="square" lIns="91425" tIns="45700" rIns="91425" bIns="45700" anchor="ctr" anchorCtr="0">
            <a:spAutoFit/>
          </a:bodyPr>
          <a:lstStyle/>
          <a:p>
            <a:pPr lvl="0"/>
            <a:r>
              <a:rPr lang="en-US" altLang="ja-JP" sz="3200" b="1" dirty="0">
                <a:solidFill>
                  <a:srgbClr val="323366"/>
                </a:solidFill>
                <a:latin typeface="メイリオ" panose="020B0604030504040204" pitchFamily="50" charset="-128"/>
                <a:ea typeface="メイリオ" panose="020B0604030504040204" pitchFamily="50" charset="-128"/>
                <a:cs typeface="Meiryo"/>
                <a:sym typeface="Meiryo"/>
              </a:rPr>
              <a:t>06</a:t>
            </a:r>
            <a:endParaRPr lang="ja-JP" altLang="en-US" sz="3200" b="1" dirty="0">
              <a:solidFill>
                <a:srgbClr val="323366"/>
              </a:solidFill>
              <a:latin typeface="メイリオ" panose="020B0604030504040204" pitchFamily="50" charset="-128"/>
              <a:ea typeface="メイリオ" panose="020B0604030504040204" pitchFamily="50" charset="-128"/>
              <a:cs typeface="Meiryo"/>
              <a:sym typeface="Meiryo"/>
            </a:endParaRPr>
          </a:p>
        </p:txBody>
      </p:sp>
      <p:sp>
        <p:nvSpPr>
          <p:cNvPr id="16" name="Google Shape;752;p28">
            <a:extLst>
              <a:ext uri="{FF2B5EF4-FFF2-40B4-BE49-F238E27FC236}">
                <a16:creationId xmlns:a16="http://schemas.microsoft.com/office/drawing/2014/main" id="{C6DC77DA-F435-23D0-D2CE-3DB2470F38A6}"/>
              </a:ext>
            </a:extLst>
          </p:cNvPr>
          <p:cNvSpPr txBox="1"/>
          <p:nvPr/>
        </p:nvSpPr>
        <p:spPr>
          <a:xfrm>
            <a:off x="1867143" y="1043132"/>
            <a:ext cx="7315200" cy="707846"/>
          </a:xfrm>
          <a:prstGeom prst="rect">
            <a:avLst/>
          </a:prstGeom>
          <a:noFill/>
          <a:ln>
            <a:noFill/>
          </a:ln>
        </p:spPr>
        <p:txBody>
          <a:bodyPr spcFirstLastPara="1" wrap="square" lIns="91425" tIns="45700" rIns="91425" bIns="45700" anchor="ctr" anchorCtr="0">
            <a:spAutoFit/>
          </a:bodyPr>
          <a:lstStyle/>
          <a:p>
            <a:pPr lvl="0"/>
            <a:r>
              <a:rPr lang="ja-JP" altLang="en-US" sz="4000" b="1" dirty="0">
                <a:solidFill>
                  <a:schemeClr val="tx1">
                    <a:lumMod val="65000"/>
                    <a:lumOff val="35000"/>
                  </a:schemeClr>
                </a:solidFill>
                <a:latin typeface="メイリオ" panose="020B0604030504040204" pitchFamily="50" charset="-128"/>
                <a:ea typeface="メイリオ" panose="020B0604030504040204" pitchFamily="50" charset="-128"/>
                <a:cs typeface="Meiryo"/>
                <a:sym typeface="Meiryo"/>
              </a:rPr>
              <a:t>次回ご提案に向けて</a:t>
            </a:r>
          </a:p>
        </p:txBody>
      </p:sp>
      <p:cxnSp>
        <p:nvCxnSpPr>
          <p:cNvPr id="17" name="直線コネクタ 16">
            <a:extLst>
              <a:ext uri="{FF2B5EF4-FFF2-40B4-BE49-F238E27FC236}">
                <a16:creationId xmlns:a16="http://schemas.microsoft.com/office/drawing/2014/main" id="{3F50B547-1157-51AB-1A19-0181140945B2}"/>
              </a:ext>
            </a:extLst>
          </p:cNvPr>
          <p:cNvCxnSpPr>
            <a:cxnSpLocks/>
          </p:cNvCxnSpPr>
          <p:nvPr/>
        </p:nvCxnSpPr>
        <p:spPr>
          <a:xfrm>
            <a:off x="608527" y="1681803"/>
            <a:ext cx="944805" cy="0"/>
          </a:xfrm>
          <a:prstGeom prst="line">
            <a:avLst/>
          </a:prstGeom>
          <a:ln w="57150">
            <a:solidFill>
              <a:srgbClr val="10253F"/>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56672329"/>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A4FD29-E6FC-0B1A-9DA4-17FF75836D9E}"/>
            </a:ext>
          </a:extLst>
        </p:cNvPr>
        <p:cNvGrpSpPr/>
        <p:nvPr/>
      </p:nvGrpSpPr>
      <p:grpSpPr>
        <a:xfrm>
          <a:off x="0" y="0"/>
          <a:ext cx="0" cy="0"/>
          <a:chOff x="0" y="0"/>
          <a:chExt cx="0" cy="0"/>
        </a:xfrm>
      </p:grpSpPr>
      <p:sp>
        <p:nvSpPr>
          <p:cNvPr id="3" name="テキスト ボックス 47">
            <a:extLst>
              <a:ext uri="{FF2B5EF4-FFF2-40B4-BE49-F238E27FC236}">
                <a16:creationId xmlns:a16="http://schemas.microsoft.com/office/drawing/2014/main" id="{54048A3F-BF68-8CBE-2D2A-EA19B4DB550B}"/>
              </a:ext>
            </a:extLst>
          </p:cNvPr>
          <p:cNvSpPr txBox="1">
            <a:spLocks noChangeArrowheads="1"/>
          </p:cNvSpPr>
          <p:nvPr/>
        </p:nvSpPr>
        <p:spPr bwMode="auto">
          <a:xfrm>
            <a:off x="456501" y="107813"/>
            <a:ext cx="7512385" cy="3650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tIns="72000">
            <a:spAutoFit/>
          </a:bodyPr>
          <a:lstStyle>
            <a:lvl1pPr>
              <a:defRPr kumimoji="1" sz="3200">
                <a:solidFill>
                  <a:schemeClr val="tx1"/>
                </a:solidFill>
                <a:latin typeface="Calibri" charset="0"/>
                <a:ea typeface="ＭＳ Ｐゴシック" charset="0"/>
                <a:cs typeface="ＭＳ Ｐゴシック" charset="0"/>
              </a:defRPr>
            </a:lvl1pPr>
            <a:lvl2pPr>
              <a:defRPr kumimoji="1" sz="2800">
                <a:solidFill>
                  <a:schemeClr val="tx1"/>
                </a:solidFill>
                <a:latin typeface="Calibri" charset="0"/>
                <a:ea typeface="ＭＳ Ｐゴシック" charset="0"/>
              </a:defRPr>
            </a:lvl2pPr>
            <a:lvl3pPr>
              <a:defRPr kumimoji="1" sz="2400">
                <a:solidFill>
                  <a:schemeClr val="tx1"/>
                </a:solidFill>
                <a:latin typeface="Calibri" charset="0"/>
                <a:ea typeface="ＭＳ Ｐゴシック" charset="0"/>
              </a:defRPr>
            </a:lvl3pPr>
            <a:lvl4pPr>
              <a:defRPr kumimoji="1" sz="2000">
                <a:solidFill>
                  <a:schemeClr val="tx1"/>
                </a:solidFill>
                <a:latin typeface="Calibri" charset="0"/>
                <a:ea typeface="ＭＳ Ｐゴシック" charset="0"/>
              </a:defRPr>
            </a:lvl4pPr>
            <a:lvl5pPr>
              <a:defRPr kumimoji="1" sz="2000">
                <a:solidFill>
                  <a:schemeClr val="tx1"/>
                </a:solidFill>
                <a:latin typeface="Calibri" charset="0"/>
                <a:ea typeface="ＭＳ Ｐゴシック" charset="0"/>
              </a:defRPr>
            </a:lvl5pPr>
            <a:lvl6pPr eaLnBrk="0" fontAlgn="base" hangingPunct="0">
              <a:spcAft>
                <a:spcPct val="0"/>
              </a:spcAft>
              <a:buFont typeface="Arial" charset="0"/>
              <a:buChar char="»"/>
              <a:defRPr kumimoji="1" sz="2000">
                <a:solidFill>
                  <a:schemeClr val="tx1"/>
                </a:solidFill>
                <a:latin typeface="Calibri" charset="0"/>
                <a:ea typeface="ＭＳ Ｐゴシック" charset="0"/>
              </a:defRPr>
            </a:lvl6pPr>
            <a:lvl7pPr eaLnBrk="0" fontAlgn="base" hangingPunct="0">
              <a:spcAft>
                <a:spcPct val="0"/>
              </a:spcAft>
              <a:buFont typeface="Arial" charset="0"/>
              <a:buChar char="»"/>
              <a:defRPr kumimoji="1" sz="2000">
                <a:solidFill>
                  <a:schemeClr val="tx1"/>
                </a:solidFill>
                <a:latin typeface="Calibri" charset="0"/>
                <a:ea typeface="ＭＳ Ｐゴシック" charset="0"/>
              </a:defRPr>
            </a:lvl7pPr>
            <a:lvl8pPr eaLnBrk="0" fontAlgn="base" hangingPunct="0">
              <a:spcAft>
                <a:spcPct val="0"/>
              </a:spcAft>
              <a:buFont typeface="Arial" charset="0"/>
              <a:buChar char="»"/>
              <a:defRPr kumimoji="1" sz="2000">
                <a:solidFill>
                  <a:schemeClr val="tx1"/>
                </a:solidFill>
                <a:latin typeface="Calibri" charset="0"/>
                <a:ea typeface="ＭＳ Ｐゴシック" charset="0"/>
              </a:defRPr>
            </a:lvl8pPr>
            <a:lvl9pPr eaLnBrk="0" fontAlgn="base" hangingPunct="0">
              <a:spcAft>
                <a:spcPct val="0"/>
              </a:spcAft>
              <a:buFont typeface="Arial" charset="0"/>
              <a:buChar char="»"/>
              <a:defRPr kumimoji="1" sz="2000">
                <a:solidFill>
                  <a:schemeClr val="tx1"/>
                </a:solidFill>
                <a:latin typeface="Calibri" charset="0"/>
                <a:ea typeface="ＭＳ Ｐゴシック" charset="0"/>
              </a:defRPr>
            </a:lvl9pPr>
          </a:lstStyle>
          <a:p>
            <a:pPr>
              <a:spcBef>
                <a:spcPct val="20000"/>
              </a:spcBef>
              <a:buFont typeface="Arial" charset="0"/>
              <a:buNone/>
            </a:pPr>
            <a:r>
              <a:rPr lang="ja-JP" altLang="en-US" sz="1600" b="1" dirty="0">
                <a:solidFill>
                  <a:srgbClr val="1F2A5C"/>
                </a:solidFill>
                <a:latin typeface="メイリオ"/>
                <a:ea typeface="メイリオ"/>
                <a:cs typeface="メイリオ"/>
              </a:rPr>
              <a:t>提案に向けて明確化したいポイント①　施策の重要度</a:t>
            </a:r>
          </a:p>
        </p:txBody>
      </p:sp>
      <p:sp>
        <p:nvSpPr>
          <p:cNvPr id="5" name="Rectangle 2">
            <a:extLst>
              <a:ext uri="{FF2B5EF4-FFF2-40B4-BE49-F238E27FC236}">
                <a16:creationId xmlns:a16="http://schemas.microsoft.com/office/drawing/2014/main" id="{234E3E2F-FF11-E565-7999-FABF8B29646D}"/>
              </a:ext>
            </a:extLst>
          </p:cNvPr>
          <p:cNvSpPr/>
          <p:nvPr/>
        </p:nvSpPr>
        <p:spPr>
          <a:xfrm>
            <a:off x="121798" y="960120"/>
            <a:ext cx="9144000" cy="36576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t"/>
          <a:lstStyle/>
          <a:p>
            <a:pPr algn="l">
              <a:spcAft>
                <a:spcPts val="300"/>
              </a:spcAft>
            </a:pPr>
            <a:r>
              <a:rPr sz="1600" b="1">
                <a:solidFill>
                  <a:srgbClr val="4A6FA5"/>
                </a:solidFill>
                <a:latin typeface="メイリオ"/>
                <a:ea typeface="メイリオ"/>
                <a:cs typeface="メイリオ"/>
              </a:rPr>
              <a:t>新規／既存／ファン化／効率化のうち、何を、どの程度重視するか</a:t>
            </a:r>
          </a:p>
        </p:txBody>
      </p:sp>
      <p:sp>
        <p:nvSpPr>
          <p:cNvPr id="7" name="Rectangle 3">
            <a:extLst>
              <a:ext uri="{FF2B5EF4-FFF2-40B4-BE49-F238E27FC236}">
                <a16:creationId xmlns:a16="http://schemas.microsoft.com/office/drawing/2014/main" id="{0E411E5A-CC07-761C-CB20-F06A383B1BB9}"/>
              </a:ext>
            </a:extLst>
          </p:cNvPr>
          <p:cNvSpPr/>
          <p:nvPr/>
        </p:nvSpPr>
        <p:spPr>
          <a:xfrm>
            <a:off x="1632204" y="1746073"/>
            <a:ext cx="1252728" cy="411480"/>
          </a:xfrm>
          <a:prstGeom prst="rect">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400" b="1">
                <a:solidFill>
                  <a:srgbClr val="FFFFFF"/>
                </a:solidFill>
                <a:latin typeface="メイリオ"/>
                <a:ea typeface="メイリオ"/>
                <a:cs typeface="メイリオ"/>
              </a:rPr>
              <a:t>軸</a:t>
            </a:r>
          </a:p>
        </p:txBody>
      </p:sp>
      <p:sp>
        <p:nvSpPr>
          <p:cNvPr id="9" name="Rectangle 4">
            <a:extLst>
              <a:ext uri="{FF2B5EF4-FFF2-40B4-BE49-F238E27FC236}">
                <a16:creationId xmlns:a16="http://schemas.microsoft.com/office/drawing/2014/main" id="{7E370F07-31E8-4A03-CB72-CF991FB2B5C1}"/>
              </a:ext>
            </a:extLst>
          </p:cNvPr>
          <p:cNvSpPr/>
          <p:nvPr/>
        </p:nvSpPr>
        <p:spPr>
          <a:xfrm>
            <a:off x="2912363" y="1746073"/>
            <a:ext cx="3995928" cy="411480"/>
          </a:xfrm>
          <a:prstGeom prst="rect">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400" b="1">
                <a:solidFill>
                  <a:srgbClr val="FFFFFF"/>
                </a:solidFill>
                <a:latin typeface="メイリオ"/>
                <a:ea typeface="メイリオ"/>
                <a:cs typeface="メイリオ"/>
              </a:rPr>
              <a:t>施策の例</a:t>
            </a:r>
          </a:p>
        </p:txBody>
      </p:sp>
      <p:sp>
        <p:nvSpPr>
          <p:cNvPr id="11" name="Rectangle 5">
            <a:extLst>
              <a:ext uri="{FF2B5EF4-FFF2-40B4-BE49-F238E27FC236}">
                <a16:creationId xmlns:a16="http://schemas.microsoft.com/office/drawing/2014/main" id="{3AA8E495-6AA3-81B3-F377-60D6929EA446}"/>
              </a:ext>
            </a:extLst>
          </p:cNvPr>
          <p:cNvSpPr/>
          <p:nvPr/>
        </p:nvSpPr>
        <p:spPr>
          <a:xfrm>
            <a:off x="6935724" y="1746073"/>
            <a:ext cx="1344168" cy="411480"/>
          </a:xfrm>
          <a:prstGeom prst="rect">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400" b="1">
                <a:solidFill>
                  <a:srgbClr val="FFFFFF"/>
                </a:solidFill>
                <a:latin typeface="メイリオ"/>
                <a:ea typeface="メイリオ"/>
                <a:cs typeface="メイリオ"/>
              </a:rPr>
              <a:t>重要度</a:t>
            </a:r>
          </a:p>
        </p:txBody>
      </p:sp>
      <p:sp>
        <p:nvSpPr>
          <p:cNvPr id="18" name="Rectangle 7">
            <a:extLst>
              <a:ext uri="{FF2B5EF4-FFF2-40B4-BE49-F238E27FC236}">
                <a16:creationId xmlns:a16="http://schemas.microsoft.com/office/drawing/2014/main" id="{0DE26C81-EAA6-9BC7-2010-07A0AE499222}"/>
              </a:ext>
            </a:extLst>
          </p:cNvPr>
          <p:cNvSpPr/>
          <p:nvPr/>
        </p:nvSpPr>
        <p:spPr>
          <a:xfrm>
            <a:off x="1632204" y="2194129"/>
            <a:ext cx="1252728" cy="877824"/>
          </a:xfrm>
          <a:prstGeom prst="rect">
            <a:avLst/>
          </a:prstGeom>
          <a:solidFill>
            <a:srgbClr val="EEF1F8"/>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1">
                <a:solidFill>
                  <a:srgbClr val="1F2A5C"/>
                </a:solidFill>
                <a:latin typeface="メイリオ"/>
                <a:ea typeface="メイリオ"/>
                <a:cs typeface="メイリオ"/>
              </a:rPr>
              <a:t>新規</a:t>
            </a:r>
          </a:p>
        </p:txBody>
      </p:sp>
      <p:sp>
        <p:nvSpPr>
          <p:cNvPr id="20" name="Rectangle 8">
            <a:extLst>
              <a:ext uri="{FF2B5EF4-FFF2-40B4-BE49-F238E27FC236}">
                <a16:creationId xmlns:a16="http://schemas.microsoft.com/office/drawing/2014/main" id="{104C26B0-503F-BDBF-1F0A-FBB30E665B09}"/>
              </a:ext>
            </a:extLst>
          </p:cNvPr>
          <p:cNvSpPr/>
          <p:nvPr/>
        </p:nvSpPr>
        <p:spPr>
          <a:xfrm>
            <a:off x="2912363" y="2194129"/>
            <a:ext cx="3995928" cy="877824"/>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0" dirty="0" err="1">
                <a:solidFill>
                  <a:srgbClr val="333333"/>
                </a:solidFill>
                <a:latin typeface="メイリオ"/>
                <a:ea typeface="メイリオ"/>
                <a:cs typeface="メイリオ"/>
              </a:rPr>
              <a:t>友だち追加の入口を増やす</a:t>
            </a:r>
            <a:br>
              <a:rPr sz="1400" b="0" dirty="0" err="1">
                <a:solidFill>
                  <a:srgbClr val="333333"/>
                </a:solidFill>
                <a:latin typeface="メイリオ"/>
                <a:ea typeface="メイリオ"/>
                <a:cs typeface="メイリオ"/>
              </a:rPr>
            </a:br>
            <a:r>
              <a:rPr sz="1400" b="0" dirty="0" err="1">
                <a:solidFill>
                  <a:srgbClr val="333333"/>
                </a:solidFill>
                <a:latin typeface="メイリオ"/>
                <a:ea typeface="メイリオ"/>
                <a:cs typeface="メイリオ"/>
              </a:rPr>
              <a:t>（ポップアップ・広告・店頭）</a:t>
            </a:r>
          </a:p>
        </p:txBody>
      </p:sp>
      <p:sp>
        <p:nvSpPr>
          <p:cNvPr id="23" name="Rectangle 9">
            <a:extLst>
              <a:ext uri="{FF2B5EF4-FFF2-40B4-BE49-F238E27FC236}">
                <a16:creationId xmlns:a16="http://schemas.microsoft.com/office/drawing/2014/main" id="{4D555954-77CD-7E09-CEBD-4C58033525FD}"/>
              </a:ext>
            </a:extLst>
          </p:cNvPr>
          <p:cNvSpPr/>
          <p:nvPr/>
        </p:nvSpPr>
        <p:spPr>
          <a:xfrm>
            <a:off x="6935724" y="2194129"/>
            <a:ext cx="1344168" cy="877824"/>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ctr">
              <a:spcAft>
                <a:spcPts val="0"/>
              </a:spcAft>
            </a:pPr>
            <a:r>
              <a:rPr sz="1400" b="0">
                <a:solidFill>
                  <a:srgbClr val="999999"/>
                </a:solidFill>
                <a:latin typeface="メイリオ"/>
                <a:ea typeface="メイリオ"/>
                <a:cs typeface="メイリオ"/>
              </a:rPr>
              <a:t>◎ ○ △</a:t>
            </a:r>
          </a:p>
        </p:txBody>
      </p:sp>
      <p:sp>
        <p:nvSpPr>
          <p:cNvPr id="27" name="Rectangle 11">
            <a:extLst>
              <a:ext uri="{FF2B5EF4-FFF2-40B4-BE49-F238E27FC236}">
                <a16:creationId xmlns:a16="http://schemas.microsoft.com/office/drawing/2014/main" id="{CB2A3195-221A-72EE-7427-467D873BA83B}"/>
              </a:ext>
            </a:extLst>
          </p:cNvPr>
          <p:cNvSpPr/>
          <p:nvPr/>
        </p:nvSpPr>
        <p:spPr>
          <a:xfrm>
            <a:off x="1632204" y="3108529"/>
            <a:ext cx="1252728" cy="877824"/>
          </a:xfrm>
          <a:prstGeom prst="rect">
            <a:avLst/>
          </a:prstGeom>
          <a:solidFill>
            <a:srgbClr val="EEF1F8"/>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1">
                <a:solidFill>
                  <a:srgbClr val="1F2A5C"/>
                </a:solidFill>
                <a:latin typeface="メイリオ"/>
                <a:ea typeface="メイリオ"/>
                <a:cs typeface="メイリオ"/>
              </a:rPr>
              <a:t>既存</a:t>
            </a:r>
          </a:p>
        </p:txBody>
      </p:sp>
      <p:sp>
        <p:nvSpPr>
          <p:cNvPr id="29" name="Rectangle 12">
            <a:extLst>
              <a:ext uri="{FF2B5EF4-FFF2-40B4-BE49-F238E27FC236}">
                <a16:creationId xmlns:a16="http://schemas.microsoft.com/office/drawing/2014/main" id="{A4AC3903-60B0-B8B7-E4C3-00D581DF3EF8}"/>
              </a:ext>
            </a:extLst>
          </p:cNvPr>
          <p:cNvSpPr/>
          <p:nvPr/>
        </p:nvSpPr>
        <p:spPr>
          <a:xfrm>
            <a:off x="2912363" y="3108529"/>
            <a:ext cx="3995928" cy="877824"/>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0">
                <a:solidFill>
                  <a:srgbClr val="333333"/>
                </a:solidFill>
                <a:latin typeface="メイリオ"/>
                <a:ea typeface="メイリオ"/>
                <a:cs typeface="メイリオ"/>
              </a:rPr>
              <a:t>既存の友だち・顧客へのCV・リピート促進</a:t>
            </a:r>
          </a:p>
        </p:txBody>
      </p:sp>
      <p:sp>
        <p:nvSpPr>
          <p:cNvPr id="31" name="Rectangle 13">
            <a:extLst>
              <a:ext uri="{FF2B5EF4-FFF2-40B4-BE49-F238E27FC236}">
                <a16:creationId xmlns:a16="http://schemas.microsoft.com/office/drawing/2014/main" id="{584CF8C4-B5B9-FFE8-EA87-8C8DDDF96F7B}"/>
              </a:ext>
            </a:extLst>
          </p:cNvPr>
          <p:cNvSpPr/>
          <p:nvPr/>
        </p:nvSpPr>
        <p:spPr>
          <a:xfrm>
            <a:off x="6935724" y="3108529"/>
            <a:ext cx="1344168" cy="877824"/>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ctr">
              <a:spcAft>
                <a:spcPts val="0"/>
              </a:spcAft>
            </a:pPr>
            <a:r>
              <a:rPr sz="1400" b="0">
                <a:solidFill>
                  <a:srgbClr val="999999"/>
                </a:solidFill>
                <a:latin typeface="メイリオ"/>
                <a:ea typeface="メイリオ"/>
                <a:cs typeface="メイリオ"/>
              </a:rPr>
              <a:t>◎ ○ △</a:t>
            </a:r>
          </a:p>
        </p:txBody>
      </p:sp>
      <p:sp>
        <p:nvSpPr>
          <p:cNvPr id="35" name="Rectangle 15">
            <a:extLst>
              <a:ext uri="{FF2B5EF4-FFF2-40B4-BE49-F238E27FC236}">
                <a16:creationId xmlns:a16="http://schemas.microsoft.com/office/drawing/2014/main" id="{6C54381C-EDB8-6610-8581-D5F4C5355345}"/>
              </a:ext>
            </a:extLst>
          </p:cNvPr>
          <p:cNvSpPr/>
          <p:nvPr/>
        </p:nvSpPr>
        <p:spPr>
          <a:xfrm>
            <a:off x="1632204" y="4022929"/>
            <a:ext cx="1252728" cy="877824"/>
          </a:xfrm>
          <a:prstGeom prst="rect">
            <a:avLst/>
          </a:prstGeom>
          <a:solidFill>
            <a:srgbClr val="EEF1F8"/>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1">
                <a:solidFill>
                  <a:srgbClr val="1F2A5C"/>
                </a:solidFill>
                <a:latin typeface="メイリオ"/>
                <a:ea typeface="メイリオ"/>
                <a:cs typeface="メイリオ"/>
              </a:rPr>
              <a:t>ファン化</a:t>
            </a:r>
          </a:p>
        </p:txBody>
      </p:sp>
      <p:sp>
        <p:nvSpPr>
          <p:cNvPr id="37" name="Rectangle 16">
            <a:extLst>
              <a:ext uri="{FF2B5EF4-FFF2-40B4-BE49-F238E27FC236}">
                <a16:creationId xmlns:a16="http://schemas.microsoft.com/office/drawing/2014/main" id="{9C16E17E-2CCE-D35F-C811-2C0A6D66E20F}"/>
              </a:ext>
            </a:extLst>
          </p:cNvPr>
          <p:cNvSpPr/>
          <p:nvPr/>
        </p:nvSpPr>
        <p:spPr>
          <a:xfrm>
            <a:off x="2912363" y="4022929"/>
            <a:ext cx="3995928" cy="877824"/>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0">
                <a:solidFill>
                  <a:srgbClr val="333333"/>
                </a:solidFill>
                <a:latin typeface="メイリオ"/>
                <a:ea typeface="メイリオ"/>
                <a:cs typeface="メイリオ"/>
              </a:rPr>
              <a:t>限定コミュニティ・特典でLTVを高める</a:t>
            </a:r>
          </a:p>
        </p:txBody>
      </p:sp>
      <p:sp>
        <p:nvSpPr>
          <p:cNvPr id="39" name="Rectangle 17">
            <a:extLst>
              <a:ext uri="{FF2B5EF4-FFF2-40B4-BE49-F238E27FC236}">
                <a16:creationId xmlns:a16="http://schemas.microsoft.com/office/drawing/2014/main" id="{6F107650-F753-AB36-FB6A-2B9143014268}"/>
              </a:ext>
            </a:extLst>
          </p:cNvPr>
          <p:cNvSpPr/>
          <p:nvPr/>
        </p:nvSpPr>
        <p:spPr>
          <a:xfrm>
            <a:off x="6935724" y="4022929"/>
            <a:ext cx="1344168" cy="877824"/>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ctr">
              <a:spcAft>
                <a:spcPts val="0"/>
              </a:spcAft>
            </a:pPr>
            <a:r>
              <a:rPr sz="1400" b="0">
                <a:solidFill>
                  <a:srgbClr val="999999"/>
                </a:solidFill>
                <a:latin typeface="メイリオ"/>
                <a:ea typeface="メイリオ"/>
                <a:cs typeface="メイリオ"/>
              </a:rPr>
              <a:t>◎ ○ △</a:t>
            </a:r>
          </a:p>
        </p:txBody>
      </p:sp>
      <p:sp>
        <p:nvSpPr>
          <p:cNvPr id="43" name="Rectangle 19">
            <a:extLst>
              <a:ext uri="{FF2B5EF4-FFF2-40B4-BE49-F238E27FC236}">
                <a16:creationId xmlns:a16="http://schemas.microsoft.com/office/drawing/2014/main" id="{16CB7492-2668-EFB7-5628-A5714FE43E02}"/>
              </a:ext>
            </a:extLst>
          </p:cNvPr>
          <p:cNvSpPr/>
          <p:nvPr/>
        </p:nvSpPr>
        <p:spPr>
          <a:xfrm>
            <a:off x="1632204" y="4937329"/>
            <a:ext cx="1252728" cy="877824"/>
          </a:xfrm>
          <a:prstGeom prst="rect">
            <a:avLst/>
          </a:prstGeom>
          <a:solidFill>
            <a:srgbClr val="EEF1F8"/>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1">
                <a:solidFill>
                  <a:srgbClr val="1F2A5C"/>
                </a:solidFill>
                <a:latin typeface="メイリオ"/>
                <a:ea typeface="メイリオ"/>
                <a:cs typeface="メイリオ"/>
              </a:rPr>
              <a:t>効率化</a:t>
            </a:r>
          </a:p>
        </p:txBody>
      </p:sp>
      <p:sp>
        <p:nvSpPr>
          <p:cNvPr id="45" name="Rectangle 20">
            <a:extLst>
              <a:ext uri="{FF2B5EF4-FFF2-40B4-BE49-F238E27FC236}">
                <a16:creationId xmlns:a16="http://schemas.microsoft.com/office/drawing/2014/main" id="{B7F2AF46-39FB-CD72-C394-6101BBA1E6AE}"/>
              </a:ext>
            </a:extLst>
          </p:cNvPr>
          <p:cNvSpPr/>
          <p:nvPr/>
        </p:nvSpPr>
        <p:spPr>
          <a:xfrm>
            <a:off x="2912363" y="4937329"/>
            <a:ext cx="3995928" cy="877824"/>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0">
                <a:solidFill>
                  <a:srgbClr val="333333"/>
                </a:solidFill>
                <a:latin typeface="メイリオ"/>
                <a:ea typeface="メイリオ"/>
                <a:cs typeface="メイリオ"/>
              </a:rPr>
              <a:t>通数費・運用工数の削減</a:t>
            </a:r>
            <a:br>
              <a:rPr sz="1400" b="0">
                <a:solidFill>
                  <a:srgbClr val="333333"/>
                </a:solidFill>
                <a:latin typeface="メイリオ"/>
                <a:ea typeface="メイリオ"/>
                <a:cs typeface="メイリオ"/>
              </a:rPr>
            </a:br>
            <a:r>
              <a:rPr sz="1400" b="0">
                <a:solidFill>
                  <a:srgbClr val="333333"/>
                </a:solidFill>
                <a:latin typeface="メイリオ"/>
                <a:ea typeface="メイリオ"/>
                <a:cs typeface="メイリオ"/>
              </a:rPr>
              <a:t>（セグメント・自動化）</a:t>
            </a:r>
          </a:p>
        </p:txBody>
      </p:sp>
      <p:sp>
        <p:nvSpPr>
          <p:cNvPr id="47" name="Rectangle 21">
            <a:extLst>
              <a:ext uri="{FF2B5EF4-FFF2-40B4-BE49-F238E27FC236}">
                <a16:creationId xmlns:a16="http://schemas.microsoft.com/office/drawing/2014/main" id="{1C65ED6F-D773-2D2E-6B1F-B627C96E1B17}"/>
              </a:ext>
            </a:extLst>
          </p:cNvPr>
          <p:cNvSpPr/>
          <p:nvPr/>
        </p:nvSpPr>
        <p:spPr>
          <a:xfrm>
            <a:off x="6935724" y="4937329"/>
            <a:ext cx="1344168" cy="877824"/>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ctr">
              <a:spcAft>
                <a:spcPts val="0"/>
              </a:spcAft>
            </a:pPr>
            <a:r>
              <a:rPr sz="1400" b="0">
                <a:solidFill>
                  <a:srgbClr val="999999"/>
                </a:solidFill>
                <a:latin typeface="メイリオ"/>
                <a:ea typeface="メイリオ"/>
                <a:cs typeface="メイリオ"/>
              </a:rPr>
              <a:t>◎ ○ △</a:t>
            </a:r>
          </a:p>
        </p:txBody>
      </p:sp>
      <p:sp>
        <p:nvSpPr>
          <p:cNvPr id="51" name="Rectangle 23">
            <a:extLst>
              <a:ext uri="{FF2B5EF4-FFF2-40B4-BE49-F238E27FC236}">
                <a16:creationId xmlns:a16="http://schemas.microsoft.com/office/drawing/2014/main" id="{B53BF0F8-9B97-5A93-DC50-8004A6ADA6B5}"/>
              </a:ext>
            </a:extLst>
          </p:cNvPr>
          <p:cNvSpPr/>
          <p:nvPr/>
        </p:nvSpPr>
        <p:spPr>
          <a:xfrm>
            <a:off x="384048" y="5893528"/>
            <a:ext cx="9144000" cy="548640"/>
          </a:xfrm>
          <a:prstGeom prst="rect">
            <a:avLst/>
          </a:prstGeom>
          <a:solidFill>
            <a:srgbClr val="F3F5FA"/>
          </a:solidFill>
          <a:ln w="12700">
            <a:solidFill>
              <a:srgbClr val="1F2A5C"/>
            </a:solidFill>
          </a:ln>
          <a:effectLst/>
        </p:spPr>
        <p:style>
          <a:lnRef idx="1">
            <a:schemeClr val="accent1"/>
          </a:lnRef>
          <a:fillRef idx="3">
            <a:schemeClr val="accent1"/>
          </a:fillRef>
          <a:effectRef idx="2">
            <a:schemeClr val="accent1"/>
          </a:effectRef>
          <a:fontRef idx="minor">
            <a:schemeClr val="lt1"/>
          </a:fontRef>
        </p:style>
        <p:txBody>
          <a:bodyPr wrap="square" lIns="137160" tIns="18288" rIns="137160" bIns="18288" rtlCol="0" anchor="ctr"/>
          <a:lstStyle/>
          <a:p>
            <a:pPr algn="ctr">
              <a:spcAft>
                <a:spcPts val="0"/>
              </a:spcAft>
            </a:pPr>
            <a:r>
              <a:rPr sz="1400" b="1">
                <a:solidFill>
                  <a:srgbClr val="1F2A5C"/>
                </a:solidFill>
                <a:latin typeface="メイリオ"/>
                <a:ea typeface="メイリオ"/>
                <a:cs typeface="メイリオ"/>
              </a:rPr>
              <a:t>◎＝最重視／○＝重視／△＝優先度は低い。ヒアリングで記入し、施策の配分と予算の目安に反映する</a:t>
            </a:r>
          </a:p>
        </p:txBody>
      </p:sp>
      <p:sp>
        <p:nvSpPr>
          <p:cNvPr id="53" name="正方形/長方形 52">
            <a:extLst>
              <a:ext uri="{FF2B5EF4-FFF2-40B4-BE49-F238E27FC236}">
                <a16:creationId xmlns:a16="http://schemas.microsoft.com/office/drawing/2014/main" id="{F6341BEF-3885-9CF9-B1B6-B2D4EA06ED5E}"/>
              </a:ext>
            </a:extLst>
          </p:cNvPr>
          <p:cNvSpPr/>
          <p:nvPr/>
        </p:nvSpPr>
        <p:spPr>
          <a:xfrm>
            <a:off x="96788" y="1645669"/>
            <a:ext cx="9687414" cy="3577"/>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400" b="1" dirty="0">
              <a:latin typeface="メイリオ" panose="020B0604030504040204" pitchFamily="50" charset="-128"/>
              <a:ea typeface="メイリオ" panose="020B0604030504040204" pitchFamily="50" charset="-128"/>
            </a:endParaRPr>
          </a:p>
        </p:txBody>
      </p:sp>
    </p:spTree>
    <p:extLst>
      <p:ext uri="{BB962C8B-B14F-4D97-AF65-F5344CB8AC3E}">
        <p14:creationId xmlns:p14="http://schemas.microsoft.com/office/powerpoint/2010/main" val="1386069822"/>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FDE2BF-63A1-B882-547A-489CE17D8FD7}"/>
            </a:ext>
          </a:extLst>
        </p:cNvPr>
        <p:cNvGrpSpPr/>
        <p:nvPr/>
      </p:nvGrpSpPr>
      <p:grpSpPr>
        <a:xfrm>
          <a:off x="0" y="0"/>
          <a:ext cx="0" cy="0"/>
          <a:chOff x="0" y="0"/>
          <a:chExt cx="0" cy="0"/>
        </a:xfrm>
      </p:grpSpPr>
      <p:sp>
        <p:nvSpPr>
          <p:cNvPr id="3" name="テキスト ボックス 47">
            <a:extLst>
              <a:ext uri="{FF2B5EF4-FFF2-40B4-BE49-F238E27FC236}">
                <a16:creationId xmlns:a16="http://schemas.microsoft.com/office/drawing/2014/main" id="{2422549E-4218-60BD-B63F-BC5503BDE6D6}"/>
              </a:ext>
            </a:extLst>
          </p:cNvPr>
          <p:cNvSpPr txBox="1">
            <a:spLocks noChangeArrowheads="1"/>
          </p:cNvSpPr>
          <p:nvPr/>
        </p:nvSpPr>
        <p:spPr bwMode="auto">
          <a:xfrm>
            <a:off x="456501" y="107813"/>
            <a:ext cx="7512385" cy="3650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tIns="72000">
            <a:spAutoFit/>
          </a:bodyPr>
          <a:lstStyle>
            <a:lvl1pPr>
              <a:defRPr kumimoji="1" sz="3200">
                <a:solidFill>
                  <a:schemeClr val="tx1"/>
                </a:solidFill>
                <a:latin typeface="Calibri" charset="0"/>
                <a:ea typeface="ＭＳ Ｐゴシック" charset="0"/>
                <a:cs typeface="ＭＳ Ｐゴシック" charset="0"/>
              </a:defRPr>
            </a:lvl1pPr>
            <a:lvl2pPr>
              <a:defRPr kumimoji="1" sz="2800">
                <a:solidFill>
                  <a:schemeClr val="tx1"/>
                </a:solidFill>
                <a:latin typeface="Calibri" charset="0"/>
                <a:ea typeface="ＭＳ Ｐゴシック" charset="0"/>
              </a:defRPr>
            </a:lvl2pPr>
            <a:lvl3pPr>
              <a:defRPr kumimoji="1" sz="2400">
                <a:solidFill>
                  <a:schemeClr val="tx1"/>
                </a:solidFill>
                <a:latin typeface="Calibri" charset="0"/>
                <a:ea typeface="ＭＳ Ｐゴシック" charset="0"/>
              </a:defRPr>
            </a:lvl3pPr>
            <a:lvl4pPr>
              <a:defRPr kumimoji="1" sz="2000">
                <a:solidFill>
                  <a:schemeClr val="tx1"/>
                </a:solidFill>
                <a:latin typeface="Calibri" charset="0"/>
                <a:ea typeface="ＭＳ Ｐゴシック" charset="0"/>
              </a:defRPr>
            </a:lvl4pPr>
            <a:lvl5pPr>
              <a:defRPr kumimoji="1" sz="2000">
                <a:solidFill>
                  <a:schemeClr val="tx1"/>
                </a:solidFill>
                <a:latin typeface="Calibri" charset="0"/>
                <a:ea typeface="ＭＳ Ｐゴシック" charset="0"/>
              </a:defRPr>
            </a:lvl5pPr>
            <a:lvl6pPr eaLnBrk="0" fontAlgn="base" hangingPunct="0">
              <a:spcAft>
                <a:spcPct val="0"/>
              </a:spcAft>
              <a:buFont typeface="Arial" charset="0"/>
              <a:buChar char="»"/>
              <a:defRPr kumimoji="1" sz="2000">
                <a:solidFill>
                  <a:schemeClr val="tx1"/>
                </a:solidFill>
                <a:latin typeface="Calibri" charset="0"/>
                <a:ea typeface="ＭＳ Ｐゴシック" charset="0"/>
              </a:defRPr>
            </a:lvl6pPr>
            <a:lvl7pPr eaLnBrk="0" fontAlgn="base" hangingPunct="0">
              <a:spcAft>
                <a:spcPct val="0"/>
              </a:spcAft>
              <a:buFont typeface="Arial" charset="0"/>
              <a:buChar char="»"/>
              <a:defRPr kumimoji="1" sz="2000">
                <a:solidFill>
                  <a:schemeClr val="tx1"/>
                </a:solidFill>
                <a:latin typeface="Calibri" charset="0"/>
                <a:ea typeface="ＭＳ Ｐゴシック" charset="0"/>
              </a:defRPr>
            </a:lvl7pPr>
            <a:lvl8pPr eaLnBrk="0" fontAlgn="base" hangingPunct="0">
              <a:spcAft>
                <a:spcPct val="0"/>
              </a:spcAft>
              <a:buFont typeface="Arial" charset="0"/>
              <a:buChar char="»"/>
              <a:defRPr kumimoji="1" sz="2000">
                <a:solidFill>
                  <a:schemeClr val="tx1"/>
                </a:solidFill>
                <a:latin typeface="Calibri" charset="0"/>
                <a:ea typeface="ＭＳ Ｐゴシック" charset="0"/>
              </a:defRPr>
            </a:lvl8pPr>
            <a:lvl9pPr eaLnBrk="0" fontAlgn="base" hangingPunct="0">
              <a:spcAft>
                <a:spcPct val="0"/>
              </a:spcAft>
              <a:buFont typeface="Arial" charset="0"/>
              <a:buChar char="»"/>
              <a:defRPr kumimoji="1" sz="2000">
                <a:solidFill>
                  <a:schemeClr val="tx1"/>
                </a:solidFill>
                <a:latin typeface="Calibri" charset="0"/>
                <a:ea typeface="ＭＳ Ｐゴシック" charset="0"/>
              </a:defRPr>
            </a:lvl9pPr>
          </a:lstStyle>
          <a:p>
            <a:pPr>
              <a:spcBef>
                <a:spcPct val="20000"/>
              </a:spcBef>
              <a:buFont typeface="Arial" charset="0"/>
              <a:buNone/>
            </a:pPr>
            <a:r>
              <a:rPr lang="ja-JP" altLang="en-US" sz="1600" b="1" dirty="0">
                <a:solidFill>
                  <a:srgbClr val="1F2A5C"/>
                </a:solidFill>
                <a:latin typeface="メイリオ"/>
                <a:ea typeface="メイリオ"/>
                <a:cs typeface="メイリオ"/>
              </a:rPr>
              <a:t>提案に向けて明確化したいポイント②　既存WEBサイトのパワー</a:t>
            </a:r>
          </a:p>
        </p:txBody>
      </p:sp>
      <p:sp>
        <p:nvSpPr>
          <p:cNvPr id="5" name="Rectangle 2">
            <a:extLst>
              <a:ext uri="{FF2B5EF4-FFF2-40B4-BE49-F238E27FC236}">
                <a16:creationId xmlns:a16="http://schemas.microsoft.com/office/drawing/2014/main" id="{29DDE3F2-B3CE-2F35-E720-21B38FDDB0E2}"/>
              </a:ext>
            </a:extLst>
          </p:cNvPr>
          <p:cNvSpPr/>
          <p:nvPr/>
        </p:nvSpPr>
        <p:spPr>
          <a:xfrm>
            <a:off x="121798" y="960120"/>
            <a:ext cx="9144000" cy="36576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t"/>
          <a:lstStyle/>
          <a:p>
            <a:pPr>
              <a:spcAft>
                <a:spcPts val="300"/>
              </a:spcAft>
            </a:pPr>
            <a:r>
              <a:rPr lang="ja-JP" altLang="en-US" sz="1600" b="1" dirty="0">
                <a:solidFill>
                  <a:srgbClr val="4A6FA5"/>
                </a:solidFill>
                <a:latin typeface="メイリオ"/>
                <a:ea typeface="メイリオ"/>
                <a:cs typeface="メイリオ"/>
              </a:rPr>
              <a:t>流入量・CV・CV地点から、LINEで拾えるユーザーの規模を見積もる</a:t>
            </a:r>
          </a:p>
        </p:txBody>
      </p:sp>
      <p:sp>
        <p:nvSpPr>
          <p:cNvPr id="53" name="正方形/長方形 52">
            <a:extLst>
              <a:ext uri="{FF2B5EF4-FFF2-40B4-BE49-F238E27FC236}">
                <a16:creationId xmlns:a16="http://schemas.microsoft.com/office/drawing/2014/main" id="{407A83F0-AB60-A7A3-0DE3-ADB4AB087238}"/>
              </a:ext>
            </a:extLst>
          </p:cNvPr>
          <p:cNvSpPr/>
          <p:nvPr/>
        </p:nvSpPr>
        <p:spPr>
          <a:xfrm>
            <a:off x="96788" y="1645669"/>
            <a:ext cx="9687414" cy="3577"/>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400" b="1" dirty="0">
              <a:latin typeface="メイリオ" panose="020B0604030504040204" pitchFamily="50" charset="-128"/>
              <a:ea typeface="メイリオ" panose="020B0604030504040204" pitchFamily="50" charset="-128"/>
            </a:endParaRPr>
          </a:p>
        </p:txBody>
      </p:sp>
      <p:sp>
        <p:nvSpPr>
          <p:cNvPr id="4" name="Rectangle 3">
            <a:extLst>
              <a:ext uri="{FF2B5EF4-FFF2-40B4-BE49-F238E27FC236}">
                <a16:creationId xmlns:a16="http://schemas.microsoft.com/office/drawing/2014/main" id="{EBAA925A-E8DA-FF18-93A2-9EA6DA656475}"/>
              </a:ext>
            </a:extLst>
          </p:cNvPr>
          <p:cNvSpPr/>
          <p:nvPr/>
        </p:nvSpPr>
        <p:spPr>
          <a:xfrm>
            <a:off x="1860804" y="1754781"/>
            <a:ext cx="2167128" cy="384048"/>
          </a:xfrm>
          <a:prstGeom prst="rect">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400" b="1">
                <a:solidFill>
                  <a:srgbClr val="FFFFFF"/>
                </a:solidFill>
                <a:latin typeface="メイリオ"/>
                <a:ea typeface="メイリオ"/>
                <a:cs typeface="メイリオ"/>
              </a:rPr>
              <a:t>項目</a:t>
            </a:r>
          </a:p>
        </p:txBody>
      </p:sp>
      <p:sp>
        <p:nvSpPr>
          <p:cNvPr id="8" name="Rectangle 4">
            <a:extLst>
              <a:ext uri="{FF2B5EF4-FFF2-40B4-BE49-F238E27FC236}">
                <a16:creationId xmlns:a16="http://schemas.microsoft.com/office/drawing/2014/main" id="{1F99B4A0-CAAB-226D-724F-0101D5180384}"/>
              </a:ext>
            </a:extLst>
          </p:cNvPr>
          <p:cNvSpPr/>
          <p:nvPr/>
        </p:nvSpPr>
        <p:spPr>
          <a:xfrm>
            <a:off x="4055364" y="1754781"/>
            <a:ext cx="3995928" cy="384048"/>
          </a:xfrm>
          <a:prstGeom prst="rect">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400" b="1">
                <a:solidFill>
                  <a:srgbClr val="FFFFFF"/>
                </a:solidFill>
                <a:latin typeface="メイリオ"/>
                <a:ea typeface="メイリオ"/>
                <a:cs typeface="メイリオ"/>
              </a:rPr>
              <a:t>確認内容</a:t>
            </a:r>
          </a:p>
        </p:txBody>
      </p:sp>
      <p:sp>
        <p:nvSpPr>
          <p:cNvPr id="15" name="Rectangle 6">
            <a:extLst>
              <a:ext uri="{FF2B5EF4-FFF2-40B4-BE49-F238E27FC236}">
                <a16:creationId xmlns:a16="http://schemas.microsoft.com/office/drawing/2014/main" id="{ECF4FAB5-94CA-8D75-4428-FE51AE61E877}"/>
              </a:ext>
            </a:extLst>
          </p:cNvPr>
          <p:cNvSpPr/>
          <p:nvPr/>
        </p:nvSpPr>
        <p:spPr>
          <a:xfrm>
            <a:off x="1860804" y="2172101"/>
            <a:ext cx="2167128" cy="537830"/>
          </a:xfrm>
          <a:prstGeom prst="rect">
            <a:avLst/>
          </a:prstGeom>
          <a:solidFill>
            <a:srgbClr val="EEF1F8"/>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1">
                <a:solidFill>
                  <a:srgbClr val="1F2A5C"/>
                </a:solidFill>
                <a:latin typeface="メイリオ"/>
                <a:ea typeface="メイリオ"/>
                <a:cs typeface="メイリオ"/>
              </a:rPr>
              <a:t>サイトUU（月間）</a:t>
            </a:r>
          </a:p>
        </p:txBody>
      </p:sp>
      <p:sp>
        <p:nvSpPr>
          <p:cNvPr id="17" name="Rectangle 7">
            <a:extLst>
              <a:ext uri="{FF2B5EF4-FFF2-40B4-BE49-F238E27FC236}">
                <a16:creationId xmlns:a16="http://schemas.microsoft.com/office/drawing/2014/main" id="{59ABF4AC-E182-56EE-AF0A-8E996E913D89}"/>
              </a:ext>
            </a:extLst>
          </p:cNvPr>
          <p:cNvSpPr/>
          <p:nvPr/>
        </p:nvSpPr>
        <p:spPr>
          <a:xfrm>
            <a:off x="4055364" y="2172101"/>
            <a:ext cx="3995928" cy="537830"/>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0">
                <a:solidFill>
                  <a:srgbClr val="333333"/>
                </a:solidFill>
                <a:latin typeface="メイリオ"/>
                <a:ea typeface="メイリオ"/>
                <a:cs typeface="メイリオ"/>
              </a:rPr>
              <a:t>サイト全体のユニークユーザー数</a:t>
            </a:r>
          </a:p>
        </p:txBody>
      </p:sp>
      <p:sp>
        <p:nvSpPr>
          <p:cNvPr id="24" name="Rectangle 9">
            <a:extLst>
              <a:ext uri="{FF2B5EF4-FFF2-40B4-BE49-F238E27FC236}">
                <a16:creationId xmlns:a16="http://schemas.microsoft.com/office/drawing/2014/main" id="{D73FA1D7-BEA3-B981-6155-AEFEF0286995}"/>
              </a:ext>
            </a:extLst>
          </p:cNvPr>
          <p:cNvSpPr/>
          <p:nvPr/>
        </p:nvSpPr>
        <p:spPr>
          <a:xfrm>
            <a:off x="1860804" y="2739899"/>
            <a:ext cx="2167128" cy="537830"/>
          </a:xfrm>
          <a:prstGeom prst="rect">
            <a:avLst/>
          </a:prstGeom>
          <a:solidFill>
            <a:srgbClr val="EEF1F8"/>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1">
                <a:solidFill>
                  <a:srgbClr val="1F2A5C"/>
                </a:solidFill>
                <a:latin typeface="メイリオ"/>
                <a:ea typeface="メイリオ"/>
                <a:cs typeface="メイリオ"/>
              </a:rPr>
              <a:t>広告UU・広告費用</a:t>
            </a:r>
          </a:p>
        </p:txBody>
      </p:sp>
      <p:sp>
        <p:nvSpPr>
          <p:cNvPr id="28" name="Rectangle 10">
            <a:extLst>
              <a:ext uri="{FF2B5EF4-FFF2-40B4-BE49-F238E27FC236}">
                <a16:creationId xmlns:a16="http://schemas.microsoft.com/office/drawing/2014/main" id="{C1EFEFFE-E7CB-5EE7-1AB5-590315FE3980}"/>
              </a:ext>
            </a:extLst>
          </p:cNvPr>
          <p:cNvSpPr/>
          <p:nvPr/>
        </p:nvSpPr>
        <p:spPr>
          <a:xfrm>
            <a:off x="4055364" y="2739899"/>
            <a:ext cx="3995928" cy="537830"/>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0">
                <a:solidFill>
                  <a:srgbClr val="333333"/>
                </a:solidFill>
                <a:latin typeface="メイリオ"/>
                <a:ea typeface="メイリオ"/>
                <a:cs typeface="メイリオ"/>
              </a:rPr>
              <a:t>広告経由の流入と月間の広告費</a:t>
            </a:r>
          </a:p>
        </p:txBody>
      </p:sp>
      <p:sp>
        <p:nvSpPr>
          <p:cNvPr id="36" name="Rectangle 12">
            <a:extLst>
              <a:ext uri="{FF2B5EF4-FFF2-40B4-BE49-F238E27FC236}">
                <a16:creationId xmlns:a16="http://schemas.microsoft.com/office/drawing/2014/main" id="{697ECEAF-7BB9-7DE2-205B-BF4102EA1DC3}"/>
              </a:ext>
            </a:extLst>
          </p:cNvPr>
          <p:cNvSpPr/>
          <p:nvPr/>
        </p:nvSpPr>
        <p:spPr>
          <a:xfrm>
            <a:off x="1860804" y="3307697"/>
            <a:ext cx="2167128" cy="537830"/>
          </a:xfrm>
          <a:prstGeom prst="rect">
            <a:avLst/>
          </a:prstGeom>
          <a:solidFill>
            <a:srgbClr val="EEF1F8"/>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1">
                <a:solidFill>
                  <a:srgbClr val="1F2A5C"/>
                </a:solidFill>
                <a:latin typeface="メイリオ"/>
                <a:ea typeface="メイリオ"/>
                <a:cs typeface="メイリオ"/>
              </a:rPr>
              <a:t>月間CV数</a:t>
            </a:r>
          </a:p>
        </p:txBody>
      </p:sp>
      <p:sp>
        <p:nvSpPr>
          <p:cNvPr id="40" name="Rectangle 13">
            <a:extLst>
              <a:ext uri="{FF2B5EF4-FFF2-40B4-BE49-F238E27FC236}">
                <a16:creationId xmlns:a16="http://schemas.microsoft.com/office/drawing/2014/main" id="{C02F7488-4398-6603-803E-B682EA6639F8}"/>
              </a:ext>
            </a:extLst>
          </p:cNvPr>
          <p:cNvSpPr/>
          <p:nvPr/>
        </p:nvSpPr>
        <p:spPr>
          <a:xfrm>
            <a:off x="4055364" y="3307697"/>
            <a:ext cx="3995928" cy="537830"/>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0">
                <a:solidFill>
                  <a:srgbClr val="333333"/>
                </a:solidFill>
                <a:latin typeface="メイリオ"/>
                <a:ea typeface="メイリオ"/>
                <a:cs typeface="メイリオ"/>
              </a:rPr>
              <a:t>申込・予約・購入などの件数</a:t>
            </a:r>
          </a:p>
        </p:txBody>
      </p:sp>
      <p:sp>
        <p:nvSpPr>
          <p:cNvPr id="48" name="Rectangle 15">
            <a:extLst>
              <a:ext uri="{FF2B5EF4-FFF2-40B4-BE49-F238E27FC236}">
                <a16:creationId xmlns:a16="http://schemas.microsoft.com/office/drawing/2014/main" id="{61F4857C-44FC-330D-6E38-FCB957103270}"/>
              </a:ext>
            </a:extLst>
          </p:cNvPr>
          <p:cNvSpPr/>
          <p:nvPr/>
        </p:nvSpPr>
        <p:spPr>
          <a:xfrm>
            <a:off x="1860804" y="3875494"/>
            <a:ext cx="2167128" cy="537830"/>
          </a:xfrm>
          <a:prstGeom prst="rect">
            <a:avLst/>
          </a:prstGeom>
          <a:solidFill>
            <a:srgbClr val="EEF1F8"/>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1">
                <a:solidFill>
                  <a:srgbClr val="1F2A5C"/>
                </a:solidFill>
                <a:latin typeface="メイリオ"/>
                <a:ea typeface="メイリオ"/>
                <a:cs typeface="メイリオ"/>
              </a:rPr>
              <a:t>CV地点</a:t>
            </a:r>
          </a:p>
        </p:txBody>
      </p:sp>
      <p:sp>
        <p:nvSpPr>
          <p:cNvPr id="52" name="Rectangle 16">
            <a:extLst>
              <a:ext uri="{FF2B5EF4-FFF2-40B4-BE49-F238E27FC236}">
                <a16:creationId xmlns:a16="http://schemas.microsoft.com/office/drawing/2014/main" id="{83517BD4-932E-04BC-6215-04A0EC53978D}"/>
              </a:ext>
            </a:extLst>
          </p:cNvPr>
          <p:cNvSpPr/>
          <p:nvPr/>
        </p:nvSpPr>
        <p:spPr>
          <a:xfrm>
            <a:off x="4055364" y="3875494"/>
            <a:ext cx="3995928" cy="537830"/>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0">
                <a:solidFill>
                  <a:srgbClr val="333333"/>
                </a:solidFill>
                <a:latin typeface="メイリオ"/>
                <a:ea typeface="メイリオ"/>
                <a:cs typeface="メイリオ"/>
              </a:rPr>
              <a:t>電話／フォーム／来店予約／購入など</a:t>
            </a:r>
          </a:p>
        </p:txBody>
      </p:sp>
      <p:sp>
        <p:nvSpPr>
          <p:cNvPr id="57" name="Rectangle 18">
            <a:extLst>
              <a:ext uri="{FF2B5EF4-FFF2-40B4-BE49-F238E27FC236}">
                <a16:creationId xmlns:a16="http://schemas.microsoft.com/office/drawing/2014/main" id="{E3B3C022-C821-43A8-BDFA-36760FBCB427}"/>
              </a:ext>
            </a:extLst>
          </p:cNvPr>
          <p:cNvSpPr/>
          <p:nvPr/>
        </p:nvSpPr>
        <p:spPr>
          <a:xfrm>
            <a:off x="1860804" y="4443293"/>
            <a:ext cx="2167128" cy="537830"/>
          </a:xfrm>
          <a:prstGeom prst="rect">
            <a:avLst/>
          </a:prstGeom>
          <a:solidFill>
            <a:srgbClr val="EEF1F8"/>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1">
                <a:solidFill>
                  <a:srgbClr val="1F2A5C"/>
                </a:solidFill>
                <a:latin typeface="メイリオ"/>
                <a:ea typeface="メイリオ"/>
                <a:cs typeface="メイリオ"/>
              </a:rPr>
              <a:t>主な流入元</a:t>
            </a:r>
          </a:p>
        </p:txBody>
      </p:sp>
      <p:sp>
        <p:nvSpPr>
          <p:cNvPr id="59" name="Rectangle 19">
            <a:extLst>
              <a:ext uri="{FF2B5EF4-FFF2-40B4-BE49-F238E27FC236}">
                <a16:creationId xmlns:a16="http://schemas.microsoft.com/office/drawing/2014/main" id="{4FEAAEBA-5690-AC8F-8FF3-276F88FCE6A0}"/>
              </a:ext>
            </a:extLst>
          </p:cNvPr>
          <p:cNvSpPr/>
          <p:nvPr/>
        </p:nvSpPr>
        <p:spPr>
          <a:xfrm>
            <a:off x="4055364" y="4443293"/>
            <a:ext cx="3995928" cy="537830"/>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0">
                <a:solidFill>
                  <a:srgbClr val="333333"/>
                </a:solidFill>
                <a:latin typeface="メイリオ"/>
                <a:ea typeface="メイリオ"/>
                <a:cs typeface="メイリオ"/>
              </a:rPr>
              <a:t>SEO・広告・SNS・ディスプレイの比率</a:t>
            </a:r>
          </a:p>
        </p:txBody>
      </p:sp>
      <p:sp>
        <p:nvSpPr>
          <p:cNvPr id="63" name="Rectangle 21">
            <a:extLst>
              <a:ext uri="{FF2B5EF4-FFF2-40B4-BE49-F238E27FC236}">
                <a16:creationId xmlns:a16="http://schemas.microsoft.com/office/drawing/2014/main" id="{7313DF05-AD69-66C6-AA40-BD1CA81439B5}"/>
              </a:ext>
            </a:extLst>
          </p:cNvPr>
          <p:cNvSpPr/>
          <p:nvPr/>
        </p:nvSpPr>
        <p:spPr>
          <a:xfrm>
            <a:off x="1860804" y="5011091"/>
            <a:ext cx="2167128" cy="537830"/>
          </a:xfrm>
          <a:prstGeom prst="rect">
            <a:avLst/>
          </a:prstGeom>
          <a:solidFill>
            <a:srgbClr val="EEF1F8"/>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1">
                <a:solidFill>
                  <a:srgbClr val="1F2A5C"/>
                </a:solidFill>
                <a:latin typeface="メイリオ"/>
                <a:ea typeface="メイリオ"/>
                <a:cs typeface="メイリオ"/>
              </a:rPr>
              <a:t>現在のLINE導線</a:t>
            </a:r>
          </a:p>
        </p:txBody>
      </p:sp>
      <p:sp>
        <p:nvSpPr>
          <p:cNvPr id="65" name="Rectangle 22">
            <a:extLst>
              <a:ext uri="{FF2B5EF4-FFF2-40B4-BE49-F238E27FC236}">
                <a16:creationId xmlns:a16="http://schemas.microsoft.com/office/drawing/2014/main" id="{E8EA0A2C-B891-6674-4DCF-61D5975B1186}"/>
              </a:ext>
            </a:extLst>
          </p:cNvPr>
          <p:cNvSpPr/>
          <p:nvPr/>
        </p:nvSpPr>
        <p:spPr>
          <a:xfrm>
            <a:off x="4055364" y="5011091"/>
            <a:ext cx="3995928" cy="537830"/>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0">
                <a:solidFill>
                  <a:srgbClr val="333333"/>
                </a:solidFill>
                <a:latin typeface="メイリオ"/>
                <a:ea typeface="メイリオ"/>
                <a:cs typeface="メイリオ"/>
              </a:rPr>
              <a:t>サイト上の友だち追加の入口の有無</a:t>
            </a:r>
          </a:p>
        </p:txBody>
      </p:sp>
      <p:sp>
        <p:nvSpPr>
          <p:cNvPr id="69" name="Rectangle 24">
            <a:extLst>
              <a:ext uri="{FF2B5EF4-FFF2-40B4-BE49-F238E27FC236}">
                <a16:creationId xmlns:a16="http://schemas.microsoft.com/office/drawing/2014/main" id="{C6E03287-2BFA-C776-5D36-CFA637C8C321}"/>
              </a:ext>
            </a:extLst>
          </p:cNvPr>
          <p:cNvSpPr/>
          <p:nvPr/>
        </p:nvSpPr>
        <p:spPr>
          <a:xfrm>
            <a:off x="1860804" y="5578889"/>
            <a:ext cx="2167128" cy="537830"/>
          </a:xfrm>
          <a:prstGeom prst="rect">
            <a:avLst/>
          </a:prstGeom>
          <a:solidFill>
            <a:srgbClr val="EEF1F8"/>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1">
                <a:solidFill>
                  <a:srgbClr val="1F2A5C"/>
                </a:solidFill>
                <a:latin typeface="メイリオ"/>
                <a:ea typeface="メイリオ"/>
                <a:cs typeface="メイリオ"/>
              </a:rPr>
              <a:t>リード保有数・他SNS</a:t>
            </a:r>
          </a:p>
        </p:txBody>
      </p:sp>
      <p:sp>
        <p:nvSpPr>
          <p:cNvPr id="71" name="Rectangle 25">
            <a:extLst>
              <a:ext uri="{FF2B5EF4-FFF2-40B4-BE49-F238E27FC236}">
                <a16:creationId xmlns:a16="http://schemas.microsoft.com/office/drawing/2014/main" id="{FC84BF14-9CF1-6C23-B694-B5ABD998471B}"/>
              </a:ext>
            </a:extLst>
          </p:cNvPr>
          <p:cNvSpPr/>
          <p:nvPr/>
        </p:nvSpPr>
        <p:spPr>
          <a:xfrm>
            <a:off x="4055364" y="5578889"/>
            <a:ext cx="3995928" cy="537830"/>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0">
                <a:solidFill>
                  <a:srgbClr val="333333"/>
                </a:solidFill>
                <a:latin typeface="メイリオ"/>
                <a:ea typeface="メイリオ"/>
                <a:cs typeface="メイリオ"/>
              </a:rPr>
              <a:t>メール会員・他SNSのフォロワー数など</a:t>
            </a:r>
          </a:p>
        </p:txBody>
      </p:sp>
      <p:sp>
        <p:nvSpPr>
          <p:cNvPr id="75" name="Rectangle 27">
            <a:extLst>
              <a:ext uri="{FF2B5EF4-FFF2-40B4-BE49-F238E27FC236}">
                <a16:creationId xmlns:a16="http://schemas.microsoft.com/office/drawing/2014/main" id="{9173779F-195E-9786-2251-C130A6484F81}"/>
              </a:ext>
            </a:extLst>
          </p:cNvPr>
          <p:cNvSpPr/>
          <p:nvPr/>
        </p:nvSpPr>
        <p:spPr>
          <a:xfrm>
            <a:off x="384048" y="6307118"/>
            <a:ext cx="9144000" cy="18736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t"/>
          <a:lstStyle/>
          <a:p>
            <a:pPr algn="l">
              <a:spcAft>
                <a:spcPts val="300"/>
              </a:spcAft>
            </a:pPr>
            <a:r>
              <a:rPr sz="800" b="0">
                <a:solidFill>
                  <a:srgbClr val="777777"/>
                </a:solidFill>
                <a:latin typeface="メイリオ"/>
                <a:ea typeface="メイリオ"/>
                <a:cs typeface="メイリオ"/>
              </a:rPr>
              <a:t>※数値は貴社ヒアリングおよびGA等の外部計測をもとに想定します</a:t>
            </a:r>
          </a:p>
        </p:txBody>
      </p:sp>
    </p:spTree>
    <p:extLst>
      <p:ext uri="{BB962C8B-B14F-4D97-AF65-F5344CB8AC3E}">
        <p14:creationId xmlns:p14="http://schemas.microsoft.com/office/powerpoint/2010/main" val="3306063931"/>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10FB08-13E3-C993-1F60-B189537A26F7}"/>
            </a:ext>
          </a:extLst>
        </p:cNvPr>
        <p:cNvGrpSpPr/>
        <p:nvPr/>
      </p:nvGrpSpPr>
      <p:grpSpPr>
        <a:xfrm>
          <a:off x="0" y="0"/>
          <a:ext cx="0" cy="0"/>
          <a:chOff x="0" y="0"/>
          <a:chExt cx="0" cy="0"/>
        </a:xfrm>
      </p:grpSpPr>
      <p:sp>
        <p:nvSpPr>
          <p:cNvPr id="3" name="テキスト ボックス 47">
            <a:extLst>
              <a:ext uri="{FF2B5EF4-FFF2-40B4-BE49-F238E27FC236}">
                <a16:creationId xmlns:a16="http://schemas.microsoft.com/office/drawing/2014/main" id="{2637A23C-033D-1544-8EE9-E879FC52D382}"/>
              </a:ext>
            </a:extLst>
          </p:cNvPr>
          <p:cNvSpPr txBox="1">
            <a:spLocks noChangeArrowheads="1"/>
          </p:cNvSpPr>
          <p:nvPr/>
        </p:nvSpPr>
        <p:spPr bwMode="auto">
          <a:xfrm>
            <a:off x="456501" y="107813"/>
            <a:ext cx="7512385" cy="3650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tIns="72000">
            <a:spAutoFit/>
          </a:bodyPr>
          <a:lstStyle>
            <a:lvl1pPr>
              <a:defRPr kumimoji="1" sz="3200">
                <a:solidFill>
                  <a:schemeClr val="tx1"/>
                </a:solidFill>
                <a:latin typeface="Calibri" charset="0"/>
                <a:ea typeface="ＭＳ Ｐゴシック" charset="0"/>
                <a:cs typeface="ＭＳ Ｐゴシック" charset="0"/>
              </a:defRPr>
            </a:lvl1pPr>
            <a:lvl2pPr>
              <a:defRPr kumimoji="1" sz="2800">
                <a:solidFill>
                  <a:schemeClr val="tx1"/>
                </a:solidFill>
                <a:latin typeface="Calibri" charset="0"/>
                <a:ea typeface="ＭＳ Ｐゴシック" charset="0"/>
              </a:defRPr>
            </a:lvl2pPr>
            <a:lvl3pPr>
              <a:defRPr kumimoji="1" sz="2400">
                <a:solidFill>
                  <a:schemeClr val="tx1"/>
                </a:solidFill>
                <a:latin typeface="Calibri" charset="0"/>
                <a:ea typeface="ＭＳ Ｐゴシック" charset="0"/>
              </a:defRPr>
            </a:lvl3pPr>
            <a:lvl4pPr>
              <a:defRPr kumimoji="1" sz="2000">
                <a:solidFill>
                  <a:schemeClr val="tx1"/>
                </a:solidFill>
                <a:latin typeface="Calibri" charset="0"/>
                <a:ea typeface="ＭＳ Ｐゴシック" charset="0"/>
              </a:defRPr>
            </a:lvl4pPr>
            <a:lvl5pPr>
              <a:defRPr kumimoji="1" sz="2000">
                <a:solidFill>
                  <a:schemeClr val="tx1"/>
                </a:solidFill>
                <a:latin typeface="Calibri" charset="0"/>
                <a:ea typeface="ＭＳ Ｐゴシック" charset="0"/>
              </a:defRPr>
            </a:lvl5pPr>
            <a:lvl6pPr eaLnBrk="0" fontAlgn="base" hangingPunct="0">
              <a:spcAft>
                <a:spcPct val="0"/>
              </a:spcAft>
              <a:buFont typeface="Arial" charset="0"/>
              <a:buChar char="»"/>
              <a:defRPr kumimoji="1" sz="2000">
                <a:solidFill>
                  <a:schemeClr val="tx1"/>
                </a:solidFill>
                <a:latin typeface="Calibri" charset="0"/>
                <a:ea typeface="ＭＳ Ｐゴシック" charset="0"/>
              </a:defRPr>
            </a:lvl6pPr>
            <a:lvl7pPr eaLnBrk="0" fontAlgn="base" hangingPunct="0">
              <a:spcAft>
                <a:spcPct val="0"/>
              </a:spcAft>
              <a:buFont typeface="Arial" charset="0"/>
              <a:buChar char="»"/>
              <a:defRPr kumimoji="1" sz="2000">
                <a:solidFill>
                  <a:schemeClr val="tx1"/>
                </a:solidFill>
                <a:latin typeface="Calibri" charset="0"/>
                <a:ea typeface="ＭＳ Ｐゴシック" charset="0"/>
              </a:defRPr>
            </a:lvl7pPr>
            <a:lvl8pPr eaLnBrk="0" fontAlgn="base" hangingPunct="0">
              <a:spcAft>
                <a:spcPct val="0"/>
              </a:spcAft>
              <a:buFont typeface="Arial" charset="0"/>
              <a:buChar char="»"/>
              <a:defRPr kumimoji="1" sz="2000">
                <a:solidFill>
                  <a:schemeClr val="tx1"/>
                </a:solidFill>
                <a:latin typeface="Calibri" charset="0"/>
                <a:ea typeface="ＭＳ Ｐゴシック" charset="0"/>
              </a:defRPr>
            </a:lvl8pPr>
            <a:lvl9pPr eaLnBrk="0" fontAlgn="base" hangingPunct="0">
              <a:spcAft>
                <a:spcPct val="0"/>
              </a:spcAft>
              <a:buFont typeface="Arial" charset="0"/>
              <a:buChar char="»"/>
              <a:defRPr kumimoji="1" sz="2000">
                <a:solidFill>
                  <a:schemeClr val="tx1"/>
                </a:solidFill>
                <a:latin typeface="Calibri" charset="0"/>
                <a:ea typeface="ＭＳ Ｐゴシック" charset="0"/>
              </a:defRPr>
            </a:lvl9pPr>
          </a:lstStyle>
          <a:p>
            <a:pPr>
              <a:spcBef>
                <a:spcPct val="20000"/>
              </a:spcBef>
              <a:buFont typeface="Arial" charset="0"/>
              <a:buNone/>
            </a:pPr>
            <a:r>
              <a:rPr lang="ja-JP" altLang="en-US" sz="1600" b="1" dirty="0">
                <a:solidFill>
                  <a:srgbClr val="1F2A5C"/>
                </a:solidFill>
                <a:latin typeface="メイリオ"/>
                <a:ea typeface="メイリオ"/>
                <a:cs typeface="メイリオ"/>
              </a:rPr>
              <a:t>提案に向けて明確化したいポイント③　既存LINE公式アカウント</a:t>
            </a:r>
          </a:p>
        </p:txBody>
      </p:sp>
      <p:sp>
        <p:nvSpPr>
          <p:cNvPr id="5" name="Rectangle 2">
            <a:extLst>
              <a:ext uri="{FF2B5EF4-FFF2-40B4-BE49-F238E27FC236}">
                <a16:creationId xmlns:a16="http://schemas.microsoft.com/office/drawing/2014/main" id="{A3FC988D-B1DD-8205-D73C-DA166AB12BBD}"/>
              </a:ext>
            </a:extLst>
          </p:cNvPr>
          <p:cNvSpPr/>
          <p:nvPr/>
        </p:nvSpPr>
        <p:spPr>
          <a:xfrm>
            <a:off x="121798" y="960120"/>
            <a:ext cx="9144000" cy="36576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t"/>
          <a:lstStyle/>
          <a:p>
            <a:pPr>
              <a:spcAft>
                <a:spcPts val="300"/>
              </a:spcAft>
            </a:pPr>
            <a:r>
              <a:rPr lang="ja-JP" altLang="en-US" sz="1600" b="1" dirty="0">
                <a:solidFill>
                  <a:srgbClr val="4A6FA5"/>
                </a:solidFill>
                <a:latin typeface="メイリオ"/>
                <a:ea typeface="メイリオ"/>
                <a:cs typeface="メイリオ"/>
              </a:rPr>
              <a:t>現状の規模・活用度・費用から、改善余地を見極める</a:t>
            </a:r>
          </a:p>
        </p:txBody>
      </p:sp>
      <p:sp>
        <p:nvSpPr>
          <p:cNvPr id="53" name="正方形/長方形 52">
            <a:extLst>
              <a:ext uri="{FF2B5EF4-FFF2-40B4-BE49-F238E27FC236}">
                <a16:creationId xmlns:a16="http://schemas.microsoft.com/office/drawing/2014/main" id="{019F89D8-176F-C4D3-FA4F-CC6F45A8E89D}"/>
              </a:ext>
            </a:extLst>
          </p:cNvPr>
          <p:cNvSpPr/>
          <p:nvPr/>
        </p:nvSpPr>
        <p:spPr>
          <a:xfrm>
            <a:off x="96788" y="1645669"/>
            <a:ext cx="9687414" cy="3577"/>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400" b="1" dirty="0">
              <a:latin typeface="メイリオ" panose="020B0604030504040204" pitchFamily="50" charset="-128"/>
              <a:ea typeface="メイリオ" panose="020B0604030504040204" pitchFamily="50" charset="-128"/>
            </a:endParaRPr>
          </a:p>
        </p:txBody>
      </p:sp>
      <p:sp>
        <p:nvSpPr>
          <p:cNvPr id="4" name="Rectangle 3">
            <a:extLst>
              <a:ext uri="{FF2B5EF4-FFF2-40B4-BE49-F238E27FC236}">
                <a16:creationId xmlns:a16="http://schemas.microsoft.com/office/drawing/2014/main" id="{2E9E5595-5564-F6B6-4231-BF3FBBE8BF96}"/>
              </a:ext>
            </a:extLst>
          </p:cNvPr>
          <p:cNvSpPr/>
          <p:nvPr/>
        </p:nvSpPr>
        <p:spPr>
          <a:xfrm>
            <a:off x="1860804" y="1780907"/>
            <a:ext cx="2167128" cy="384048"/>
          </a:xfrm>
          <a:prstGeom prst="rect">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400" b="1">
                <a:solidFill>
                  <a:srgbClr val="FFFFFF"/>
                </a:solidFill>
                <a:latin typeface="メイリオ"/>
                <a:ea typeface="メイリオ"/>
                <a:cs typeface="メイリオ"/>
              </a:rPr>
              <a:t>項目</a:t>
            </a:r>
          </a:p>
        </p:txBody>
      </p:sp>
      <p:sp>
        <p:nvSpPr>
          <p:cNvPr id="8" name="Rectangle 4">
            <a:extLst>
              <a:ext uri="{FF2B5EF4-FFF2-40B4-BE49-F238E27FC236}">
                <a16:creationId xmlns:a16="http://schemas.microsoft.com/office/drawing/2014/main" id="{1B2F3472-C219-FE04-0FAB-2471178F9BAE}"/>
              </a:ext>
            </a:extLst>
          </p:cNvPr>
          <p:cNvSpPr/>
          <p:nvPr/>
        </p:nvSpPr>
        <p:spPr>
          <a:xfrm>
            <a:off x="4055364" y="1780907"/>
            <a:ext cx="3995928" cy="384048"/>
          </a:xfrm>
          <a:prstGeom prst="rect">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400" b="1">
                <a:solidFill>
                  <a:srgbClr val="FFFFFF"/>
                </a:solidFill>
                <a:latin typeface="メイリオ"/>
                <a:ea typeface="メイリオ"/>
                <a:cs typeface="メイリオ"/>
              </a:rPr>
              <a:t>確認内容</a:t>
            </a:r>
          </a:p>
        </p:txBody>
      </p:sp>
      <p:sp>
        <p:nvSpPr>
          <p:cNvPr id="15" name="Rectangle 6">
            <a:extLst>
              <a:ext uri="{FF2B5EF4-FFF2-40B4-BE49-F238E27FC236}">
                <a16:creationId xmlns:a16="http://schemas.microsoft.com/office/drawing/2014/main" id="{E019A0C2-CAAE-25A0-61D2-699B65C42417}"/>
              </a:ext>
            </a:extLst>
          </p:cNvPr>
          <p:cNvSpPr/>
          <p:nvPr/>
        </p:nvSpPr>
        <p:spPr>
          <a:xfrm>
            <a:off x="1860804" y="2203668"/>
            <a:ext cx="2167128" cy="565265"/>
          </a:xfrm>
          <a:prstGeom prst="rect">
            <a:avLst/>
          </a:prstGeom>
          <a:solidFill>
            <a:srgbClr val="EEF1F8"/>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1">
                <a:solidFill>
                  <a:srgbClr val="1F2A5C"/>
                </a:solidFill>
                <a:latin typeface="メイリオ"/>
                <a:ea typeface="メイリオ"/>
                <a:cs typeface="メイリオ"/>
              </a:rPr>
              <a:t>友だち数</a:t>
            </a:r>
          </a:p>
        </p:txBody>
      </p:sp>
      <p:sp>
        <p:nvSpPr>
          <p:cNvPr id="17" name="Rectangle 7">
            <a:extLst>
              <a:ext uri="{FF2B5EF4-FFF2-40B4-BE49-F238E27FC236}">
                <a16:creationId xmlns:a16="http://schemas.microsoft.com/office/drawing/2014/main" id="{18AC0B76-9D3D-7E03-E909-B45DC15D43B6}"/>
              </a:ext>
            </a:extLst>
          </p:cNvPr>
          <p:cNvSpPr/>
          <p:nvPr/>
        </p:nvSpPr>
        <p:spPr>
          <a:xfrm>
            <a:off x="4055364" y="2203668"/>
            <a:ext cx="3995928" cy="565265"/>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0">
                <a:solidFill>
                  <a:srgbClr val="333333"/>
                </a:solidFill>
                <a:latin typeface="メイリオ"/>
                <a:ea typeface="メイリオ"/>
                <a:cs typeface="メイリオ"/>
              </a:rPr>
              <a:t>累計と、直近の月間増加数</a:t>
            </a:r>
          </a:p>
        </p:txBody>
      </p:sp>
      <p:sp>
        <p:nvSpPr>
          <p:cNvPr id="24" name="Rectangle 9">
            <a:extLst>
              <a:ext uri="{FF2B5EF4-FFF2-40B4-BE49-F238E27FC236}">
                <a16:creationId xmlns:a16="http://schemas.microsoft.com/office/drawing/2014/main" id="{382D44E1-F4E2-5751-D452-0D8CCC481730}"/>
              </a:ext>
            </a:extLst>
          </p:cNvPr>
          <p:cNvSpPr/>
          <p:nvPr/>
        </p:nvSpPr>
        <p:spPr>
          <a:xfrm>
            <a:off x="1860804" y="2809782"/>
            <a:ext cx="2167128" cy="565265"/>
          </a:xfrm>
          <a:prstGeom prst="rect">
            <a:avLst/>
          </a:prstGeom>
          <a:solidFill>
            <a:srgbClr val="EEF1F8"/>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1">
                <a:solidFill>
                  <a:srgbClr val="1F2A5C"/>
                </a:solidFill>
                <a:latin typeface="メイリオ"/>
                <a:ea typeface="メイリオ"/>
                <a:cs typeface="メイリオ"/>
              </a:rPr>
              <a:t>アクティブ率</a:t>
            </a:r>
          </a:p>
        </p:txBody>
      </p:sp>
      <p:sp>
        <p:nvSpPr>
          <p:cNvPr id="28" name="Rectangle 10">
            <a:extLst>
              <a:ext uri="{FF2B5EF4-FFF2-40B4-BE49-F238E27FC236}">
                <a16:creationId xmlns:a16="http://schemas.microsoft.com/office/drawing/2014/main" id="{8BBA3D2A-3669-05A3-FEA9-C9200F5ACDCB}"/>
              </a:ext>
            </a:extLst>
          </p:cNvPr>
          <p:cNvSpPr/>
          <p:nvPr/>
        </p:nvSpPr>
        <p:spPr>
          <a:xfrm>
            <a:off x="4055364" y="2809782"/>
            <a:ext cx="3995928" cy="565265"/>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0">
                <a:solidFill>
                  <a:srgbClr val="333333"/>
                </a:solidFill>
                <a:latin typeface="メイリオ"/>
                <a:ea typeface="メイリオ"/>
                <a:cs typeface="メイリオ"/>
              </a:rPr>
              <a:t>ブロック率、開封率、クリック率</a:t>
            </a:r>
          </a:p>
        </p:txBody>
      </p:sp>
      <p:sp>
        <p:nvSpPr>
          <p:cNvPr id="36" name="Rectangle 12">
            <a:extLst>
              <a:ext uri="{FF2B5EF4-FFF2-40B4-BE49-F238E27FC236}">
                <a16:creationId xmlns:a16="http://schemas.microsoft.com/office/drawing/2014/main" id="{C5BC36E1-E9EC-5F99-6730-862D59A7268A}"/>
              </a:ext>
            </a:extLst>
          </p:cNvPr>
          <p:cNvSpPr/>
          <p:nvPr/>
        </p:nvSpPr>
        <p:spPr>
          <a:xfrm>
            <a:off x="1860804" y="3424605"/>
            <a:ext cx="2167128" cy="565265"/>
          </a:xfrm>
          <a:prstGeom prst="rect">
            <a:avLst/>
          </a:prstGeom>
          <a:solidFill>
            <a:srgbClr val="EEF1F8"/>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1">
                <a:solidFill>
                  <a:srgbClr val="1F2A5C"/>
                </a:solidFill>
                <a:latin typeface="メイリオ"/>
                <a:ea typeface="メイリオ"/>
                <a:cs typeface="メイリオ"/>
              </a:rPr>
              <a:t>月間投稿数</a:t>
            </a:r>
          </a:p>
        </p:txBody>
      </p:sp>
      <p:sp>
        <p:nvSpPr>
          <p:cNvPr id="40" name="Rectangle 13">
            <a:extLst>
              <a:ext uri="{FF2B5EF4-FFF2-40B4-BE49-F238E27FC236}">
                <a16:creationId xmlns:a16="http://schemas.microsoft.com/office/drawing/2014/main" id="{D7C51E36-A3E0-FAF5-4F2A-F634C9ABFEB4}"/>
              </a:ext>
            </a:extLst>
          </p:cNvPr>
          <p:cNvSpPr/>
          <p:nvPr/>
        </p:nvSpPr>
        <p:spPr>
          <a:xfrm>
            <a:off x="4055364" y="3424605"/>
            <a:ext cx="3995928" cy="565265"/>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0">
                <a:solidFill>
                  <a:srgbClr val="333333"/>
                </a:solidFill>
                <a:latin typeface="メイリオ"/>
                <a:ea typeface="メイリオ"/>
                <a:cs typeface="メイリオ"/>
              </a:rPr>
              <a:t>一斉配信・ステップ配信の本数、月間通数</a:t>
            </a:r>
          </a:p>
        </p:txBody>
      </p:sp>
      <p:sp>
        <p:nvSpPr>
          <p:cNvPr id="48" name="Rectangle 15">
            <a:extLst>
              <a:ext uri="{FF2B5EF4-FFF2-40B4-BE49-F238E27FC236}">
                <a16:creationId xmlns:a16="http://schemas.microsoft.com/office/drawing/2014/main" id="{7A4A3E0B-F476-7DC4-F177-948A5D80A39F}"/>
              </a:ext>
            </a:extLst>
          </p:cNvPr>
          <p:cNvSpPr/>
          <p:nvPr/>
        </p:nvSpPr>
        <p:spPr>
          <a:xfrm>
            <a:off x="1860804" y="4030719"/>
            <a:ext cx="2167128" cy="565265"/>
          </a:xfrm>
          <a:prstGeom prst="rect">
            <a:avLst/>
          </a:prstGeom>
          <a:solidFill>
            <a:srgbClr val="EEF1F8"/>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1">
                <a:solidFill>
                  <a:srgbClr val="1F2A5C"/>
                </a:solidFill>
                <a:latin typeface="メイリオ"/>
                <a:ea typeface="メイリオ"/>
                <a:cs typeface="メイリオ"/>
              </a:rPr>
              <a:t>契約プラン</a:t>
            </a:r>
          </a:p>
        </p:txBody>
      </p:sp>
      <p:sp>
        <p:nvSpPr>
          <p:cNvPr id="52" name="Rectangle 16">
            <a:extLst>
              <a:ext uri="{FF2B5EF4-FFF2-40B4-BE49-F238E27FC236}">
                <a16:creationId xmlns:a16="http://schemas.microsoft.com/office/drawing/2014/main" id="{A4648CD6-60C7-E224-DC81-0EA8893B695C}"/>
              </a:ext>
            </a:extLst>
          </p:cNvPr>
          <p:cNvSpPr/>
          <p:nvPr/>
        </p:nvSpPr>
        <p:spPr>
          <a:xfrm>
            <a:off x="4055364" y="4030719"/>
            <a:ext cx="3995928" cy="565265"/>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0">
                <a:solidFill>
                  <a:srgbClr val="333333"/>
                </a:solidFill>
                <a:latin typeface="メイリオ"/>
                <a:ea typeface="メイリオ"/>
                <a:cs typeface="メイリオ"/>
              </a:rPr>
              <a:t>LINE公式アカウントの料金プラン</a:t>
            </a:r>
          </a:p>
        </p:txBody>
      </p:sp>
      <p:sp>
        <p:nvSpPr>
          <p:cNvPr id="57" name="Rectangle 18">
            <a:extLst>
              <a:ext uri="{FF2B5EF4-FFF2-40B4-BE49-F238E27FC236}">
                <a16:creationId xmlns:a16="http://schemas.microsoft.com/office/drawing/2014/main" id="{279B2C05-4721-5850-5790-24F42D16195C}"/>
              </a:ext>
            </a:extLst>
          </p:cNvPr>
          <p:cNvSpPr/>
          <p:nvPr/>
        </p:nvSpPr>
        <p:spPr>
          <a:xfrm>
            <a:off x="1860804" y="4645542"/>
            <a:ext cx="2167128" cy="565265"/>
          </a:xfrm>
          <a:prstGeom prst="rect">
            <a:avLst/>
          </a:prstGeom>
          <a:solidFill>
            <a:srgbClr val="EEF1F8"/>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1">
                <a:solidFill>
                  <a:srgbClr val="1F2A5C"/>
                </a:solidFill>
                <a:latin typeface="メイリオ"/>
                <a:ea typeface="メイリオ"/>
                <a:cs typeface="メイリオ"/>
              </a:rPr>
              <a:t>契約ツール</a:t>
            </a:r>
          </a:p>
        </p:txBody>
      </p:sp>
      <p:sp>
        <p:nvSpPr>
          <p:cNvPr id="59" name="Rectangle 19">
            <a:extLst>
              <a:ext uri="{FF2B5EF4-FFF2-40B4-BE49-F238E27FC236}">
                <a16:creationId xmlns:a16="http://schemas.microsoft.com/office/drawing/2014/main" id="{072A4C57-A1E2-FE0C-0F9A-495CB437882F}"/>
              </a:ext>
            </a:extLst>
          </p:cNvPr>
          <p:cNvSpPr/>
          <p:nvPr/>
        </p:nvSpPr>
        <p:spPr>
          <a:xfrm>
            <a:off x="4055364" y="4645542"/>
            <a:ext cx="3995928" cy="565265"/>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0">
                <a:solidFill>
                  <a:srgbClr val="333333"/>
                </a:solidFill>
                <a:latin typeface="メイリオ"/>
                <a:ea typeface="メイリオ"/>
                <a:cs typeface="メイリオ"/>
              </a:rPr>
              <a:t>APIツール（Lステップ等）の有無・プラン</a:t>
            </a:r>
          </a:p>
        </p:txBody>
      </p:sp>
      <p:sp>
        <p:nvSpPr>
          <p:cNvPr id="63" name="Rectangle 21">
            <a:extLst>
              <a:ext uri="{FF2B5EF4-FFF2-40B4-BE49-F238E27FC236}">
                <a16:creationId xmlns:a16="http://schemas.microsoft.com/office/drawing/2014/main" id="{F4210959-8935-1BA3-A155-B4D4B1BE79EA}"/>
              </a:ext>
            </a:extLst>
          </p:cNvPr>
          <p:cNvSpPr/>
          <p:nvPr/>
        </p:nvSpPr>
        <p:spPr>
          <a:xfrm>
            <a:off x="1860804" y="5251655"/>
            <a:ext cx="2167128" cy="565265"/>
          </a:xfrm>
          <a:prstGeom prst="rect">
            <a:avLst/>
          </a:prstGeom>
          <a:solidFill>
            <a:srgbClr val="EEF1F8"/>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1">
                <a:solidFill>
                  <a:srgbClr val="1F2A5C"/>
                </a:solidFill>
                <a:latin typeface="メイリオ"/>
                <a:ea typeface="メイリオ"/>
                <a:cs typeface="メイリオ"/>
              </a:rPr>
              <a:t>全体費用感</a:t>
            </a:r>
          </a:p>
        </p:txBody>
      </p:sp>
      <p:sp>
        <p:nvSpPr>
          <p:cNvPr id="65" name="Rectangle 22">
            <a:extLst>
              <a:ext uri="{FF2B5EF4-FFF2-40B4-BE49-F238E27FC236}">
                <a16:creationId xmlns:a16="http://schemas.microsoft.com/office/drawing/2014/main" id="{16CDB4BF-4971-BB2D-5EDB-62359C5FCF0B}"/>
              </a:ext>
            </a:extLst>
          </p:cNvPr>
          <p:cNvSpPr/>
          <p:nvPr/>
        </p:nvSpPr>
        <p:spPr>
          <a:xfrm>
            <a:off x="4055364" y="5251655"/>
            <a:ext cx="3995928" cy="565265"/>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0">
                <a:solidFill>
                  <a:srgbClr val="333333"/>
                </a:solidFill>
                <a:latin typeface="メイリオ"/>
                <a:ea typeface="メイリオ"/>
                <a:cs typeface="メイリオ"/>
              </a:rPr>
              <a:t>アカウント費・ツール費・運用費・</a:t>
            </a:r>
            <a:br>
              <a:rPr sz="1400" b="0">
                <a:solidFill>
                  <a:srgbClr val="333333"/>
                </a:solidFill>
                <a:latin typeface="メイリオ"/>
                <a:ea typeface="メイリオ"/>
                <a:cs typeface="メイリオ"/>
              </a:rPr>
            </a:br>
            <a:r>
              <a:rPr sz="1400" b="0">
                <a:solidFill>
                  <a:srgbClr val="333333"/>
                </a:solidFill>
                <a:latin typeface="メイリオ"/>
                <a:ea typeface="メイリオ"/>
                <a:cs typeface="メイリオ"/>
              </a:rPr>
              <a:t>通数費の月額合計</a:t>
            </a:r>
          </a:p>
        </p:txBody>
      </p:sp>
      <p:sp>
        <p:nvSpPr>
          <p:cNvPr id="69" name="Rectangle 24">
            <a:extLst>
              <a:ext uri="{FF2B5EF4-FFF2-40B4-BE49-F238E27FC236}">
                <a16:creationId xmlns:a16="http://schemas.microsoft.com/office/drawing/2014/main" id="{809B7433-BAD1-B81E-97BD-B889CD809E11}"/>
              </a:ext>
            </a:extLst>
          </p:cNvPr>
          <p:cNvSpPr/>
          <p:nvPr/>
        </p:nvSpPr>
        <p:spPr>
          <a:xfrm>
            <a:off x="384048" y="6000207"/>
            <a:ext cx="9144000" cy="502920"/>
          </a:xfrm>
          <a:prstGeom prst="rect">
            <a:avLst/>
          </a:prstGeom>
          <a:solidFill>
            <a:srgbClr val="F3F5FA"/>
          </a:solidFill>
          <a:ln w="12700">
            <a:solidFill>
              <a:srgbClr val="1F2A5C"/>
            </a:solidFill>
          </a:ln>
          <a:effectLst/>
        </p:spPr>
        <p:style>
          <a:lnRef idx="1">
            <a:schemeClr val="accent1"/>
          </a:lnRef>
          <a:fillRef idx="3">
            <a:schemeClr val="accent1"/>
          </a:fillRef>
          <a:effectRef idx="2">
            <a:schemeClr val="accent1"/>
          </a:effectRef>
          <a:fontRef idx="minor">
            <a:schemeClr val="lt1"/>
          </a:fontRef>
        </p:style>
        <p:txBody>
          <a:bodyPr wrap="square" lIns="137160" tIns="18288" rIns="137160" bIns="18288" rtlCol="0" anchor="ctr"/>
          <a:lstStyle/>
          <a:p>
            <a:pPr algn="ctr">
              <a:spcAft>
                <a:spcPts val="0"/>
              </a:spcAft>
            </a:pPr>
            <a:r>
              <a:rPr sz="1400" b="1">
                <a:solidFill>
                  <a:srgbClr val="1F2A5C"/>
                </a:solidFill>
                <a:latin typeface="メイリオ"/>
                <a:ea typeface="メイリオ"/>
                <a:cs typeface="メイリオ"/>
              </a:rPr>
              <a:t>アクティブ率・通数費の現状を見て、セグメント配信などで改善できる範囲を提案に反映する</a:t>
            </a:r>
          </a:p>
        </p:txBody>
      </p:sp>
    </p:spTree>
    <p:extLst>
      <p:ext uri="{BB962C8B-B14F-4D97-AF65-F5344CB8AC3E}">
        <p14:creationId xmlns:p14="http://schemas.microsoft.com/office/powerpoint/2010/main" val="2363105677"/>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6C866B-D0C2-7EA1-2C00-9FD2CFA7473A}"/>
            </a:ext>
          </a:extLst>
        </p:cNvPr>
        <p:cNvGrpSpPr/>
        <p:nvPr/>
      </p:nvGrpSpPr>
      <p:grpSpPr>
        <a:xfrm>
          <a:off x="0" y="0"/>
          <a:ext cx="0" cy="0"/>
          <a:chOff x="0" y="0"/>
          <a:chExt cx="0" cy="0"/>
        </a:xfrm>
      </p:grpSpPr>
      <p:sp>
        <p:nvSpPr>
          <p:cNvPr id="3" name="テキスト ボックス 47">
            <a:extLst>
              <a:ext uri="{FF2B5EF4-FFF2-40B4-BE49-F238E27FC236}">
                <a16:creationId xmlns:a16="http://schemas.microsoft.com/office/drawing/2014/main" id="{649E6FCE-AA7B-DE7B-9452-E5F490B34B37}"/>
              </a:ext>
            </a:extLst>
          </p:cNvPr>
          <p:cNvSpPr txBox="1">
            <a:spLocks noChangeArrowheads="1"/>
          </p:cNvSpPr>
          <p:nvPr/>
        </p:nvSpPr>
        <p:spPr bwMode="auto">
          <a:xfrm>
            <a:off x="456501" y="107813"/>
            <a:ext cx="7512385" cy="3650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tIns="72000">
            <a:spAutoFit/>
          </a:bodyPr>
          <a:lstStyle>
            <a:lvl1pPr>
              <a:defRPr kumimoji="1" sz="3200">
                <a:solidFill>
                  <a:schemeClr val="tx1"/>
                </a:solidFill>
                <a:latin typeface="Calibri" charset="0"/>
                <a:ea typeface="ＭＳ Ｐゴシック" charset="0"/>
                <a:cs typeface="ＭＳ Ｐゴシック" charset="0"/>
              </a:defRPr>
            </a:lvl1pPr>
            <a:lvl2pPr>
              <a:defRPr kumimoji="1" sz="2800">
                <a:solidFill>
                  <a:schemeClr val="tx1"/>
                </a:solidFill>
                <a:latin typeface="Calibri" charset="0"/>
                <a:ea typeface="ＭＳ Ｐゴシック" charset="0"/>
              </a:defRPr>
            </a:lvl2pPr>
            <a:lvl3pPr>
              <a:defRPr kumimoji="1" sz="2400">
                <a:solidFill>
                  <a:schemeClr val="tx1"/>
                </a:solidFill>
                <a:latin typeface="Calibri" charset="0"/>
                <a:ea typeface="ＭＳ Ｐゴシック" charset="0"/>
              </a:defRPr>
            </a:lvl3pPr>
            <a:lvl4pPr>
              <a:defRPr kumimoji="1" sz="2000">
                <a:solidFill>
                  <a:schemeClr val="tx1"/>
                </a:solidFill>
                <a:latin typeface="Calibri" charset="0"/>
                <a:ea typeface="ＭＳ Ｐゴシック" charset="0"/>
              </a:defRPr>
            </a:lvl4pPr>
            <a:lvl5pPr>
              <a:defRPr kumimoji="1" sz="2000">
                <a:solidFill>
                  <a:schemeClr val="tx1"/>
                </a:solidFill>
                <a:latin typeface="Calibri" charset="0"/>
                <a:ea typeface="ＭＳ Ｐゴシック" charset="0"/>
              </a:defRPr>
            </a:lvl5pPr>
            <a:lvl6pPr eaLnBrk="0" fontAlgn="base" hangingPunct="0">
              <a:spcAft>
                <a:spcPct val="0"/>
              </a:spcAft>
              <a:buFont typeface="Arial" charset="0"/>
              <a:buChar char="»"/>
              <a:defRPr kumimoji="1" sz="2000">
                <a:solidFill>
                  <a:schemeClr val="tx1"/>
                </a:solidFill>
                <a:latin typeface="Calibri" charset="0"/>
                <a:ea typeface="ＭＳ Ｐゴシック" charset="0"/>
              </a:defRPr>
            </a:lvl6pPr>
            <a:lvl7pPr eaLnBrk="0" fontAlgn="base" hangingPunct="0">
              <a:spcAft>
                <a:spcPct val="0"/>
              </a:spcAft>
              <a:buFont typeface="Arial" charset="0"/>
              <a:buChar char="»"/>
              <a:defRPr kumimoji="1" sz="2000">
                <a:solidFill>
                  <a:schemeClr val="tx1"/>
                </a:solidFill>
                <a:latin typeface="Calibri" charset="0"/>
                <a:ea typeface="ＭＳ Ｐゴシック" charset="0"/>
              </a:defRPr>
            </a:lvl7pPr>
            <a:lvl8pPr eaLnBrk="0" fontAlgn="base" hangingPunct="0">
              <a:spcAft>
                <a:spcPct val="0"/>
              </a:spcAft>
              <a:buFont typeface="Arial" charset="0"/>
              <a:buChar char="»"/>
              <a:defRPr kumimoji="1" sz="2000">
                <a:solidFill>
                  <a:schemeClr val="tx1"/>
                </a:solidFill>
                <a:latin typeface="Calibri" charset="0"/>
                <a:ea typeface="ＭＳ Ｐゴシック" charset="0"/>
              </a:defRPr>
            </a:lvl8pPr>
            <a:lvl9pPr eaLnBrk="0" fontAlgn="base" hangingPunct="0">
              <a:spcAft>
                <a:spcPct val="0"/>
              </a:spcAft>
              <a:buFont typeface="Arial" charset="0"/>
              <a:buChar char="»"/>
              <a:defRPr kumimoji="1" sz="2000">
                <a:solidFill>
                  <a:schemeClr val="tx1"/>
                </a:solidFill>
                <a:latin typeface="Calibri" charset="0"/>
                <a:ea typeface="ＭＳ Ｐゴシック" charset="0"/>
              </a:defRPr>
            </a:lvl9pPr>
          </a:lstStyle>
          <a:p>
            <a:pPr>
              <a:spcBef>
                <a:spcPct val="20000"/>
              </a:spcBef>
              <a:buFont typeface="Arial" charset="0"/>
              <a:buNone/>
            </a:pPr>
            <a:r>
              <a:rPr lang="ja-JP" altLang="en-US" sz="1600" b="1" dirty="0">
                <a:solidFill>
                  <a:srgbClr val="1F2A5C"/>
                </a:solidFill>
                <a:latin typeface="メイリオ"/>
                <a:ea typeface="メイリオ"/>
                <a:cs typeface="メイリオ"/>
              </a:rPr>
              <a:t>提案に向けて明確化したいポイント④　その他</a:t>
            </a:r>
          </a:p>
        </p:txBody>
      </p:sp>
      <p:sp>
        <p:nvSpPr>
          <p:cNvPr id="5" name="Rectangle 2">
            <a:extLst>
              <a:ext uri="{FF2B5EF4-FFF2-40B4-BE49-F238E27FC236}">
                <a16:creationId xmlns:a16="http://schemas.microsoft.com/office/drawing/2014/main" id="{2A2003E7-DEBA-516C-5544-9E84FEB0FAAA}"/>
              </a:ext>
            </a:extLst>
          </p:cNvPr>
          <p:cNvSpPr/>
          <p:nvPr/>
        </p:nvSpPr>
        <p:spPr>
          <a:xfrm>
            <a:off x="121798" y="960120"/>
            <a:ext cx="9144000" cy="36576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t"/>
          <a:lstStyle/>
          <a:p>
            <a:pPr>
              <a:spcAft>
                <a:spcPts val="300"/>
              </a:spcAft>
            </a:pPr>
            <a:r>
              <a:rPr lang="ja-JP" altLang="en-US" sz="1600" b="1" dirty="0">
                <a:solidFill>
                  <a:srgbClr val="4A6FA5"/>
                </a:solidFill>
                <a:latin typeface="メイリオ"/>
                <a:ea typeface="メイリオ"/>
                <a:cs typeface="メイリオ"/>
              </a:rPr>
              <a:t>配信の体制や社内の確認の流れなど、運用の進め方に関わる確認事項</a:t>
            </a:r>
          </a:p>
        </p:txBody>
      </p:sp>
      <p:sp>
        <p:nvSpPr>
          <p:cNvPr id="53" name="正方形/長方形 52">
            <a:extLst>
              <a:ext uri="{FF2B5EF4-FFF2-40B4-BE49-F238E27FC236}">
                <a16:creationId xmlns:a16="http://schemas.microsoft.com/office/drawing/2014/main" id="{5161E2C4-62DD-580C-6DB6-319F2E18B5A8}"/>
              </a:ext>
            </a:extLst>
          </p:cNvPr>
          <p:cNvSpPr/>
          <p:nvPr/>
        </p:nvSpPr>
        <p:spPr>
          <a:xfrm>
            <a:off x="96788" y="1645669"/>
            <a:ext cx="9687414" cy="3577"/>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400" b="1" dirty="0">
              <a:latin typeface="メイリオ" panose="020B0604030504040204" pitchFamily="50" charset="-128"/>
              <a:ea typeface="メイリオ" panose="020B0604030504040204" pitchFamily="50" charset="-128"/>
            </a:endParaRPr>
          </a:p>
        </p:txBody>
      </p:sp>
      <p:sp>
        <p:nvSpPr>
          <p:cNvPr id="4" name="Rectangle 3">
            <a:extLst>
              <a:ext uri="{FF2B5EF4-FFF2-40B4-BE49-F238E27FC236}">
                <a16:creationId xmlns:a16="http://schemas.microsoft.com/office/drawing/2014/main" id="{2E9E5595-5564-F6B6-4231-BF3FBBE8BF96}"/>
              </a:ext>
            </a:extLst>
          </p:cNvPr>
          <p:cNvSpPr/>
          <p:nvPr/>
        </p:nvSpPr>
        <p:spPr>
          <a:xfrm>
            <a:off x="1860804" y="1780907"/>
            <a:ext cx="2167128" cy="384048"/>
          </a:xfrm>
          <a:prstGeom prst="rect">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400" b="1">
                <a:solidFill>
                  <a:srgbClr val="FFFFFF"/>
                </a:solidFill>
                <a:latin typeface="メイリオ"/>
                <a:ea typeface="メイリオ"/>
                <a:cs typeface="メイリオ"/>
              </a:rPr>
              <a:t>項目</a:t>
            </a:r>
          </a:p>
        </p:txBody>
      </p:sp>
      <p:sp>
        <p:nvSpPr>
          <p:cNvPr id="8" name="Rectangle 4">
            <a:extLst>
              <a:ext uri="{FF2B5EF4-FFF2-40B4-BE49-F238E27FC236}">
                <a16:creationId xmlns:a16="http://schemas.microsoft.com/office/drawing/2014/main" id="{1B2F3472-C219-FE04-0FAB-2471178F9BAE}"/>
              </a:ext>
            </a:extLst>
          </p:cNvPr>
          <p:cNvSpPr/>
          <p:nvPr/>
        </p:nvSpPr>
        <p:spPr>
          <a:xfrm>
            <a:off x="4055364" y="1780907"/>
            <a:ext cx="3995928" cy="384048"/>
          </a:xfrm>
          <a:prstGeom prst="rect">
            <a:avLst/>
          </a:prstGeom>
          <a:solidFill>
            <a:srgbClr val="1F2A5C"/>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18288" rIns="45720" bIns="18288" rtlCol="0" anchor="ctr"/>
          <a:lstStyle/>
          <a:p>
            <a:pPr algn="ctr">
              <a:spcAft>
                <a:spcPts val="0"/>
              </a:spcAft>
            </a:pPr>
            <a:r>
              <a:rPr sz="1400" b="1">
                <a:solidFill>
                  <a:srgbClr val="FFFFFF"/>
                </a:solidFill>
                <a:latin typeface="メイリオ"/>
                <a:ea typeface="メイリオ"/>
                <a:cs typeface="メイリオ"/>
              </a:rPr>
              <a:t>確認内容</a:t>
            </a:r>
          </a:p>
        </p:txBody>
      </p:sp>
      <p:sp>
        <p:nvSpPr>
          <p:cNvPr id="15" name="Rectangle 6">
            <a:extLst>
              <a:ext uri="{FF2B5EF4-FFF2-40B4-BE49-F238E27FC236}">
                <a16:creationId xmlns:a16="http://schemas.microsoft.com/office/drawing/2014/main" id="{E019A0C2-CAAE-25A0-61D2-699B65C42417}"/>
              </a:ext>
            </a:extLst>
          </p:cNvPr>
          <p:cNvSpPr/>
          <p:nvPr/>
        </p:nvSpPr>
        <p:spPr>
          <a:xfrm>
            <a:off x="1860804" y="2203668"/>
            <a:ext cx="2167128" cy="565265"/>
          </a:xfrm>
          <a:prstGeom prst="rect">
            <a:avLst/>
          </a:prstGeom>
          <a:solidFill>
            <a:srgbClr val="EEF1F8"/>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1">
                <a:solidFill>
                  <a:srgbClr val="1F2A5C"/>
                </a:solidFill>
                <a:latin typeface="メイリオ"/>
                <a:ea typeface="メイリオ"/>
                <a:cs typeface="メイリオ"/>
              </a:rPr>
              <a:t>配信の確認体制</a:t>
            </a:r>
          </a:p>
        </p:txBody>
      </p:sp>
      <p:sp>
        <p:nvSpPr>
          <p:cNvPr id="17" name="Rectangle 7">
            <a:extLst>
              <a:ext uri="{FF2B5EF4-FFF2-40B4-BE49-F238E27FC236}">
                <a16:creationId xmlns:a16="http://schemas.microsoft.com/office/drawing/2014/main" id="{18AC0B76-9D3D-7E03-E909-B45DC15D43B6}"/>
              </a:ext>
            </a:extLst>
          </p:cNvPr>
          <p:cNvSpPr/>
          <p:nvPr/>
        </p:nvSpPr>
        <p:spPr>
          <a:xfrm>
            <a:off x="4055364" y="2203668"/>
            <a:ext cx="3995928" cy="565265"/>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0">
                <a:solidFill>
                  <a:srgbClr val="333333"/>
                </a:solidFill>
                <a:latin typeface="メイリオ"/>
                <a:ea typeface="メイリオ"/>
                <a:cs typeface="メイリオ"/>
              </a:rPr>
              <a:t>確認する方・承認の流れ・確認にかかる日数</a:t>
            </a:r>
          </a:p>
        </p:txBody>
      </p:sp>
      <p:sp>
        <p:nvSpPr>
          <p:cNvPr id="2" name="Rectangle 6">
            <a:extLst>
              <a:ext uri="{FF2B5EF4-FFF2-40B4-BE49-F238E27FC236}">
                <a16:creationId xmlns:a16="http://schemas.microsoft.com/office/drawing/2014/main" id="{E019A0C2-CAAE-25A0-61D2-699B65C42417}"/>
              </a:ext>
            </a:extLst>
          </p:cNvPr>
          <p:cNvSpPr/>
          <p:nvPr/>
        </p:nvSpPr>
        <p:spPr>
          <a:xfrm>
            <a:off x="1860804" y="2811744"/>
            <a:ext cx="2167128" cy="565265"/>
          </a:xfrm>
          <a:prstGeom prst="rect">
            <a:avLst/>
          </a:prstGeom>
          <a:solidFill>
            <a:srgbClr val="EEF1F8"/>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1">
                <a:solidFill>
                  <a:srgbClr val="1F2A5C"/>
                </a:solidFill>
                <a:latin typeface="メイリオ"/>
                <a:ea typeface="メイリオ"/>
                <a:cs typeface="メイリオ"/>
              </a:rPr>
              <a:t>窓口・素材</a:t>
            </a:r>
          </a:p>
        </p:txBody>
      </p:sp>
      <p:sp>
        <p:nvSpPr>
          <p:cNvPr id="6" name="Rectangle 7">
            <a:extLst>
              <a:ext uri="{FF2B5EF4-FFF2-40B4-BE49-F238E27FC236}">
                <a16:creationId xmlns:a16="http://schemas.microsoft.com/office/drawing/2014/main" id="{18AC0B76-9D3D-7E03-E909-B45DC15D43B6}"/>
              </a:ext>
            </a:extLst>
          </p:cNvPr>
          <p:cNvSpPr/>
          <p:nvPr/>
        </p:nvSpPr>
        <p:spPr>
          <a:xfrm>
            <a:off x="4055364" y="2811744"/>
            <a:ext cx="3995928" cy="565265"/>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0">
                <a:solidFill>
                  <a:srgbClr val="333333"/>
                </a:solidFill>
                <a:latin typeface="メイリオ"/>
                <a:ea typeface="メイリオ"/>
                <a:cs typeface="メイリオ"/>
              </a:rPr>
              <a:t>社内の窓口、写真・事例などの素材</a:t>
            </a:r>
          </a:p>
        </p:txBody>
      </p:sp>
      <p:sp>
        <p:nvSpPr>
          <p:cNvPr id="7" name="Rectangle 6">
            <a:extLst>
              <a:ext uri="{FF2B5EF4-FFF2-40B4-BE49-F238E27FC236}">
                <a16:creationId xmlns:a16="http://schemas.microsoft.com/office/drawing/2014/main" id="{E019A0C2-CAAE-25A0-61D2-699B65C42417}"/>
              </a:ext>
            </a:extLst>
          </p:cNvPr>
          <p:cNvSpPr/>
          <p:nvPr/>
        </p:nvSpPr>
        <p:spPr>
          <a:xfrm>
            <a:off x="1860804" y="3419820"/>
            <a:ext cx="2167128" cy="565265"/>
          </a:xfrm>
          <a:prstGeom prst="rect">
            <a:avLst/>
          </a:prstGeom>
          <a:solidFill>
            <a:srgbClr val="EEF1F8"/>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1">
                <a:solidFill>
                  <a:srgbClr val="1F2A5C"/>
                </a:solidFill>
                <a:latin typeface="メイリオ"/>
                <a:ea typeface="メイリオ"/>
                <a:cs typeface="メイリオ"/>
              </a:rPr>
              <a:t>年間の予定</a:t>
            </a:r>
          </a:p>
        </p:txBody>
      </p:sp>
      <p:sp>
        <p:nvSpPr>
          <p:cNvPr id="9" name="Rectangle 7">
            <a:extLst>
              <a:ext uri="{FF2B5EF4-FFF2-40B4-BE49-F238E27FC236}">
                <a16:creationId xmlns:a16="http://schemas.microsoft.com/office/drawing/2014/main" id="{18AC0B76-9D3D-7E03-E909-B45DC15D43B6}"/>
              </a:ext>
            </a:extLst>
          </p:cNvPr>
          <p:cNvSpPr/>
          <p:nvPr/>
        </p:nvSpPr>
        <p:spPr>
          <a:xfrm>
            <a:off x="4055364" y="3419820"/>
            <a:ext cx="3995928" cy="565265"/>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0">
                <a:solidFill>
                  <a:srgbClr val="333333"/>
                </a:solidFill>
                <a:latin typeface="メイリオ"/>
                <a:ea typeface="メイリオ"/>
                <a:cs typeface="メイリオ"/>
              </a:rPr>
              <a:t>繁忙期・キャンペーン・イベントの時期</a:t>
            </a:r>
          </a:p>
        </p:txBody>
      </p:sp>
      <p:sp>
        <p:nvSpPr>
          <p:cNvPr id="10" name="Rectangle 6">
            <a:extLst>
              <a:ext uri="{FF2B5EF4-FFF2-40B4-BE49-F238E27FC236}">
                <a16:creationId xmlns:a16="http://schemas.microsoft.com/office/drawing/2014/main" id="{E019A0C2-CAAE-25A0-61D2-699B65C42417}"/>
              </a:ext>
            </a:extLst>
          </p:cNvPr>
          <p:cNvSpPr/>
          <p:nvPr/>
        </p:nvSpPr>
        <p:spPr>
          <a:xfrm>
            <a:off x="1860804" y="4027896"/>
            <a:ext cx="2167128" cy="565265"/>
          </a:xfrm>
          <a:prstGeom prst="rect">
            <a:avLst/>
          </a:prstGeom>
          <a:solidFill>
            <a:srgbClr val="EEF1F8"/>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1">
                <a:solidFill>
                  <a:srgbClr val="1F2A5C"/>
                </a:solidFill>
                <a:latin typeface="メイリオ"/>
                <a:ea typeface="メイリオ"/>
                <a:cs typeface="メイリオ"/>
              </a:rPr>
              <a:t>予約・顧客管理</a:t>
            </a:r>
          </a:p>
        </p:txBody>
      </p:sp>
      <p:sp>
        <p:nvSpPr>
          <p:cNvPr id="11" name="Rectangle 7">
            <a:extLst>
              <a:ext uri="{FF2B5EF4-FFF2-40B4-BE49-F238E27FC236}">
                <a16:creationId xmlns:a16="http://schemas.microsoft.com/office/drawing/2014/main" id="{18AC0B76-9D3D-7E03-E909-B45DC15D43B6}"/>
              </a:ext>
            </a:extLst>
          </p:cNvPr>
          <p:cNvSpPr/>
          <p:nvPr/>
        </p:nvSpPr>
        <p:spPr>
          <a:xfrm>
            <a:off x="4055364" y="4027896"/>
            <a:ext cx="3995928" cy="565265"/>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0">
                <a:solidFill>
                  <a:srgbClr val="333333"/>
                </a:solidFill>
                <a:latin typeface="メイリオ"/>
                <a:ea typeface="メイリオ"/>
                <a:cs typeface="メイリオ"/>
              </a:rPr>
              <a:t>使っているシステムと、LINE連携の可否</a:t>
            </a:r>
          </a:p>
        </p:txBody>
      </p:sp>
      <p:sp>
        <p:nvSpPr>
          <p:cNvPr id="12" name="Rectangle 6">
            <a:extLst>
              <a:ext uri="{FF2B5EF4-FFF2-40B4-BE49-F238E27FC236}">
                <a16:creationId xmlns:a16="http://schemas.microsoft.com/office/drawing/2014/main" id="{E019A0C2-CAAE-25A0-61D2-699B65C42417}"/>
              </a:ext>
            </a:extLst>
          </p:cNvPr>
          <p:cNvSpPr/>
          <p:nvPr/>
        </p:nvSpPr>
        <p:spPr>
          <a:xfrm>
            <a:off x="1860804" y="4635972"/>
            <a:ext cx="2167128" cy="565265"/>
          </a:xfrm>
          <a:prstGeom prst="rect">
            <a:avLst/>
          </a:prstGeom>
          <a:solidFill>
            <a:srgbClr val="EEF1F8"/>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1">
                <a:solidFill>
                  <a:srgbClr val="1F2A5C"/>
                </a:solidFill>
                <a:latin typeface="メイリオ"/>
                <a:ea typeface="メイリオ"/>
                <a:cs typeface="メイリオ"/>
              </a:rPr>
              <a:t>表現の決まり</a:t>
            </a:r>
          </a:p>
        </p:txBody>
      </p:sp>
      <p:sp>
        <p:nvSpPr>
          <p:cNvPr id="13" name="Rectangle 7">
            <a:extLst>
              <a:ext uri="{FF2B5EF4-FFF2-40B4-BE49-F238E27FC236}">
                <a16:creationId xmlns:a16="http://schemas.microsoft.com/office/drawing/2014/main" id="{18AC0B76-9D3D-7E03-E909-B45DC15D43B6}"/>
              </a:ext>
            </a:extLst>
          </p:cNvPr>
          <p:cNvSpPr/>
          <p:nvPr/>
        </p:nvSpPr>
        <p:spPr>
          <a:xfrm>
            <a:off x="4055364" y="4635972"/>
            <a:ext cx="3995928" cy="565265"/>
          </a:xfrm>
          <a:prstGeom prst="rect">
            <a:avLst/>
          </a:prstGeom>
          <a:solidFill>
            <a:srgbClr val="FFFFFF"/>
          </a:solidFill>
          <a:ln w="12700">
            <a:solidFill>
              <a:srgbClr val="D0D5E0"/>
            </a:solidFill>
          </a:ln>
          <a:effectLst/>
        </p:spPr>
        <p:style>
          <a:lnRef idx="1">
            <a:schemeClr val="accent1"/>
          </a:lnRef>
          <a:fillRef idx="3">
            <a:schemeClr val="accent1"/>
          </a:fillRef>
          <a:effectRef idx="2">
            <a:schemeClr val="accent1"/>
          </a:effectRef>
          <a:fontRef idx="minor">
            <a:schemeClr val="lt1"/>
          </a:fontRef>
        </p:style>
        <p:txBody>
          <a:bodyPr wrap="square" lIns="73152" tIns="18288" rIns="73152" bIns="18288" rtlCol="0" anchor="ctr"/>
          <a:lstStyle/>
          <a:p>
            <a:pPr algn="l">
              <a:spcAft>
                <a:spcPts val="0"/>
              </a:spcAft>
            </a:pPr>
            <a:r>
              <a:rPr sz="1400" b="0">
                <a:solidFill>
                  <a:srgbClr val="333333"/>
                </a:solidFill>
                <a:latin typeface="メイリオ"/>
                <a:ea typeface="メイリオ"/>
                <a:cs typeface="メイリオ"/>
              </a:rPr>
              <a:t>業法・社内ルールで使えない表現</a:t>
            </a:r>
          </a:p>
        </p:txBody>
      </p:sp>
      <p:sp>
        <p:nvSpPr>
          <p:cNvPr id="69" name="Rectangle 24">
            <a:extLst>
              <a:ext uri="{FF2B5EF4-FFF2-40B4-BE49-F238E27FC236}">
                <a16:creationId xmlns:a16="http://schemas.microsoft.com/office/drawing/2014/main" id="{A485A409-0FAF-105F-F311-A3F789094A81}"/>
              </a:ext>
            </a:extLst>
          </p:cNvPr>
          <p:cNvSpPr/>
          <p:nvPr/>
        </p:nvSpPr>
        <p:spPr>
          <a:xfrm>
            <a:off x="384048" y="6000207"/>
            <a:ext cx="9144000" cy="502920"/>
          </a:xfrm>
          <a:prstGeom prst="rect">
            <a:avLst/>
          </a:prstGeom>
          <a:solidFill>
            <a:srgbClr val="F3F5FA"/>
          </a:solidFill>
          <a:ln w="12700">
            <a:solidFill>
              <a:srgbClr val="1F2A5C"/>
            </a:solidFill>
          </a:ln>
          <a:effectLst/>
        </p:spPr>
        <p:style>
          <a:lnRef idx="1">
            <a:schemeClr val="accent1"/>
          </a:lnRef>
          <a:fillRef idx="3">
            <a:schemeClr val="accent1"/>
          </a:fillRef>
          <a:effectRef idx="2">
            <a:schemeClr val="accent1"/>
          </a:effectRef>
          <a:fontRef idx="minor">
            <a:schemeClr val="lt1"/>
          </a:fontRef>
        </p:style>
        <p:txBody>
          <a:bodyPr wrap="square" lIns="137160" tIns="18288" rIns="137160" bIns="18288" rtlCol="0" anchor="ctr"/>
          <a:lstStyle/>
          <a:p>
            <a:pPr algn="ctr">
              <a:spcAft>
                <a:spcPts val="0"/>
              </a:spcAft>
            </a:pPr>
            <a:r>
              <a:rPr lang="en-US" altLang="ja-JP" sz="1400" b="1" dirty="0">
                <a:solidFill>
                  <a:srgbClr val="1F2A5C"/>
                </a:solidFill>
                <a:latin typeface="メイリオ"/>
                <a:ea typeface="メイリオ"/>
                <a:cs typeface="メイリオ"/>
              </a:rPr>
              <a:t>LINE Official</a:t>
            </a:r>
            <a:r>
              <a:rPr lang="ja-JP" altLang="en-US" sz="1400" b="1" dirty="0">
                <a:solidFill>
                  <a:srgbClr val="1F2A5C"/>
                </a:solidFill>
                <a:latin typeface="メイリオ"/>
                <a:ea typeface="メイリオ"/>
                <a:cs typeface="メイリオ"/>
              </a:rPr>
              <a:t> </a:t>
            </a:r>
            <a:r>
              <a:rPr lang="en-US" altLang="ja-JP" sz="1400" b="1" dirty="0">
                <a:solidFill>
                  <a:srgbClr val="1F2A5C"/>
                </a:solidFill>
                <a:latin typeface="メイリオ"/>
                <a:ea typeface="メイリオ"/>
                <a:cs typeface="メイリオ"/>
              </a:rPr>
              <a:t>Manager</a:t>
            </a:r>
            <a:r>
              <a:rPr lang="ja-JP" altLang="en-US" sz="1400" b="1" dirty="0">
                <a:solidFill>
                  <a:srgbClr val="1F2A5C"/>
                </a:solidFill>
                <a:latin typeface="メイリオ"/>
                <a:ea typeface="メイリオ"/>
                <a:cs typeface="メイリオ"/>
              </a:rPr>
              <a:t>、</a:t>
            </a:r>
            <a:r>
              <a:rPr lang="en-US" altLang="ja-JP" sz="1400" b="1" dirty="0">
                <a:solidFill>
                  <a:srgbClr val="1F2A5C"/>
                </a:solidFill>
                <a:latin typeface="メイリオ"/>
                <a:ea typeface="メイリオ"/>
                <a:cs typeface="メイリオ"/>
              </a:rPr>
              <a:t>API</a:t>
            </a:r>
            <a:r>
              <a:rPr lang="ja-JP" altLang="en-US" sz="1400" b="1" dirty="0">
                <a:solidFill>
                  <a:srgbClr val="1F2A5C"/>
                </a:solidFill>
                <a:latin typeface="メイリオ"/>
                <a:ea typeface="メイリオ"/>
                <a:cs typeface="メイリオ"/>
              </a:rPr>
              <a:t>ツール等、配信にかかわる管理画面の共有をいただければ詳細なご提案が可能</a:t>
            </a:r>
            <a:endParaRPr sz="1400" b="1" dirty="0">
              <a:solidFill>
                <a:srgbClr val="1F2A5C"/>
              </a:solidFill>
              <a:latin typeface="メイリオ"/>
              <a:ea typeface="メイリオ"/>
              <a:cs typeface="メイリオ"/>
            </a:endParaRPr>
          </a:p>
        </p:txBody>
      </p:sp>
    </p:spTree>
    <p:extLst>
      <p:ext uri="{BB962C8B-B14F-4D97-AF65-F5344CB8AC3E}">
        <p14:creationId xmlns:p14="http://schemas.microsoft.com/office/powerpoint/2010/main" val="1634953255"/>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正方形/長方形 18"/>
          <p:cNvSpPr>
            <a:spLocks noChangeArrowheads="1"/>
          </p:cNvSpPr>
          <p:nvPr/>
        </p:nvSpPr>
        <p:spPr bwMode="auto">
          <a:xfrm>
            <a:off x="1649030" y="5820984"/>
            <a:ext cx="6192837" cy="3736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p>
            <a:pPr marL="0" lvl="1" fontAlgn="base">
              <a:spcBef>
                <a:spcPct val="20000"/>
              </a:spcBef>
              <a:spcAft>
                <a:spcPct val="0"/>
              </a:spcAft>
              <a:defRPr/>
            </a:pPr>
            <a:r>
              <a:rPr lang="ja-JP" altLang="en-US" sz="831" b="1" dirty="0">
                <a:solidFill>
                  <a:prstClr val="black"/>
                </a:solidFill>
                <a:latin typeface="メイリオ"/>
                <a:ea typeface="メイリオ"/>
                <a:cs typeface="メイリオ"/>
              </a:rPr>
              <a:t>株式会社</a:t>
            </a:r>
            <a:r>
              <a:rPr lang="en-US" altLang="ja-JP" sz="831" b="1" dirty="0">
                <a:solidFill>
                  <a:prstClr val="black"/>
                </a:solidFill>
                <a:latin typeface="メイリオ"/>
                <a:ea typeface="メイリオ"/>
                <a:cs typeface="メイリオ"/>
              </a:rPr>
              <a:t>DYM</a:t>
            </a:r>
            <a:r>
              <a:rPr lang="ja-JP" altLang="en-US" sz="831" b="1" dirty="0">
                <a:solidFill>
                  <a:prstClr val="black"/>
                </a:solidFill>
                <a:latin typeface="メイリオ"/>
                <a:ea typeface="メイリオ"/>
                <a:cs typeface="メイリオ"/>
              </a:rPr>
              <a:t>　〒</a:t>
            </a:r>
            <a:r>
              <a:rPr lang="en-US" altLang="ja-JP" sz="831" b="1" dirty="0">
                <a:solidFill>
                  <a:prstClr val="black"/>
                </a:solidFill>
                <a:latin typeface="メイリオ"/>
                <a:ea typeface="メイリオ"/>
                <a:cs typeface="メイリオ"/>
              </a:rPr>
              <a:t>141-0032</a:t>
            </a:r>
            <a:r>
              <a:rPr lang="ja-JP" altLang="en-US" sz="831" b="1" dirty="0">
                <a:solidFill>
                  <a:prstClr val="black"/>
                </a:solidFill>
                <a:latin typeface="メイリオ"/>
                <a:ea typeface="メイリオ"/>
                <a:cs typeface="メイリオ"/>
              </a:rPr>
              <a:t>　東京都品川区大崎</a:t>
            </a:r>
            <a:r>
              <a:rPr lang="en-US" altLang="ja-JP" sz="831" b="1" dirty="0">
                <a:solidFill>
                  <a:prstClr val="black"/>
                </a:solidFill>
                <a:latin typeface="メイリオ"/>
                <a:ea typeface="メイリオ"/>
                <a:cs typeface="メイリオ"/>
              </a:rPr>
              <a:t>1-11-2</a:t>
            </a:r>
            <a:r>
              <a:rPr lang="ja-JP" altLang="en-US" sz="831" b="1" dirty="0">
                <a:solidFill>
                  <a:prstClr val="black"/>
                </a:solidFill>
                <a:latin typeface="メイリオ"/>
                <a:ea typeface="メイリオ"/>
                <a:cs typeface="メイリオ"/>
              </a:rPr>
              <a:t>　ゲートシティ大崎イーストタワー</a:t>
            </a:r>
            <a:r>
              <a:rPr lang="en-US" altLang="ja-JP" sz="831" b="1" dirty="0">
                <a:solidFill>
                  <a:prstClr val="black"/>
                </a:solidFill>
                <a:latin typeface="メイリオ"/>
                <a:ea typeface="メイリオ"/>
                <a:cs typeface="メイリオ"/>
              </a:rPr>
              <a:t>10</a:t>
            </a:r>
            <a:r>
              <a:rPr lang="ja-JP" altLang="en-US" sz="831" b="1" dirty="0">
                <a:solidFill>
                  <a:prstClr val="black"/>
                </a:solidFill>
                <a:latin typeface="メイリオ"/>
                <a:ea typeface="メイリオ"/>
                <a:cs typeface="メイリオ"/>
              </a:rPr>
              <a:t>階</a:t>
            </a:r>
            <a:endParaRPr lang="en-US" altLang="ja-JP" sz="831" b="1" dirty="0">
              <a:solidFill>
                <a:prstClr val="black"/>
              </a:solidFill>
              <a:latin typeface="メイリオ"/>
              <a:ea typeface="メイリオ"/>
              <a:cs typeface="メイリオ"/>
            </a:endParaRPr>
          </a:p>
          <a:p>
            <a:pPr marL="0" lvl="1" fontAlgn="base">
              <a:spcBef>
                <a:spcPct val="20000"/>
              </a:spcBef>
              <a:spcAft>
                <a:spcPct val="0"/>
              </a:spcAft>
              <a:defRPr/>
            </a:pPr>
            <a:r>
              <a:rPr lang="en-US" altLang="ja-JP" sz="831" b="1" dirty="0">
                <a:solidFill>
                  <a:prstClr val="black"/>
                </a:solidFill>
                <a:latin typeface="メイリオ"/>
                <a:ea typeface="メイリオ"/>
                <a:cs typeface="メイリオ"/>
              </a:rPr>
              <a:t>TEL: 03-5745-0200</a:t>
            </a:r>
            <a:r>
              <a:rPr lang="ja-JP" altLang="en-US" sz="831" b="1" dirty="0">
                <a:solidFill>
                  <a:prstClr val="black"/>
                </a:solidFill>
                <a:latin typeface="メイリオ"/>
                <a:ea typeface="メイリオ"/>
                <a:cs typeface="メイリオ"/>
              </a:rPr>
              <a:t>　</a:t>
            </a:r>
            <a:r>
              <a:rPr lang="en-US" altLang="ja-JP" sz="831" b="1" dirty="0">
                <a:solidFill>
                  <a:prstClr val="black"/>
                </a:solidFill>
                <a:latin typeface="メイリオ"/>
                <a:ea typeface="メイリオ"/>
                <a:cs typeface="メイリオ"/>
              </a:rPr>
              <a:t>FAX: 03-3779-8720 </a:t>
            </a:r>
            <a:r>
              <a:rPr lang="ja-JP" altLang="en-US" sz="831" b="1" dirty="0">
                <a:solidFill>
                  <a:prstClr val="black"/>
                </a:solidFill>
                <a:latin typeface="メイリオ"/>
                <a:ea typeface="メイリオ"/>
                <a:cs typeface="メイリオ"/>
              </a:rPr>
              <a:t>　</a:t>
            </a:r>
            <a:r>
              <a:rPr lang="en-US" altLang="ja-JP" sz="831" b="1" dirty="0">
                <a:solidFill>
                  <a:prstClr val="black"/>
                </a:solidFill>
                <a:latin typeface="メイリオ"/>
                <a:ea typeface="メイリオ"/>
                <a:cs typeface="メイリオ"/>
              </a:rPr>
              <a:t>http://dym.asia   </a:t>
            </a:r>
            <a:r>
              <a:rPr lang="ja-JP" altLang="en-US" sz="831" b="1" dirty="0">
                <a:solidFill>
                  <a:prstClr val="black"/>
                </a:solidFill>
                <a:latin typeface="メイリオ"/>
                <a:ea typeface="メイリオ"/>
                <a:cs typeface="メイリオ"/>
              </a:rPr>
              <a:t>代表取締役　水谷佑毅</a:t>
            </a:r>
          </a:p>
        </p:txBody>
      </p:sp>
      <p:pic>
        <p:nvPicPr>
          <p:cNvPr id="24" name="図 1"/>
          <p:cNvPicPr>
            <a:picLocks noChangeAspect="1"/>
          </p:cNvPicPr>
          <p:nvPr/>
        </p:nvPicPr>
        <p:blipFill rotWithShape="1">
          <a:blip r:embed="rId3" cstate="email">
            <a:extLst>
              <a:ext uri="{28A0092B-C50C-407E-A947-70E740481C1C}">
                <a14:useLocalDpi xmlns:a14="http://schemas.microsoft.com/office/drawing/2010/main"/>
              </a:ext>
            </a:extLst>
          </a:blip>
          <a:srcRect l="-1647" r="-11171"/>
          <a:stretch/>
        </p:blipFill>
        <p:spPr bwMode="auto">
          <a:xfrm>
            <a:off x="543897" y="5895365"/>
            <a:ext cx="1100981" cy="22486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テキスト ボックス 2"/>
          <p:cNvSpPr txBox="1"/>
          <p:nvPr/>
        </p:nvSpPr>
        <p:spPr>
          <a:xfrm>
            <a:off x="5070232" y="5597769"/>
            <a:ext cx="184731" cy="369332"/>
          </a:xfrm>
          <a:prstGeom prst="rect">
            <a:avLst/>
          </a:prstGeom>
          <a:noFill/>
        </p:spPr>
        <p:txBody>
          <a:bodyPr wrap="none" rtlCol="0">
            <a:spAutoFit/>
          </a:bodyPr>
          <a:lstStyle/>
          <a:p>
            <a:pPr fontAlgn="base">
              <a:spcBef>
                <a:spcPct val="0"/>
              </a:spcBef>
              <a:spcAft>
                <a:spcPct val="0"/>
              </a:spcAft>
              <a:defRPr/>
            </a:pPr>
            <a:endParaRPr lang="ja-JP" altLang="en-US">
              <a:solidFill>
                <a:prstClr val="black"/>
              </a:solidFill>
              <a:latin typeface="Arial" pitchFamily="34" charset="0"/>
              <a:ea typeface="ＭＳ Ｐゴシック" pitchFamily="50" charset="-128"/>
            </a:endParaRPr>
          </a:p>
        </p:txBody>
      </p:sp>
      <p:sp>
        <p:nvSpPr>
          <p:cNvPr id="18" name="正方形/長方形 17"/>
          <p:cNvSpPr/>
          <p:nvPr/>
        </p:nvSpPr>
        <p:spPr>
          <a:xfrm>
            <a:off x="2170038" y="989684"/>
            <a:ext cx="5565924" cy="369332"/>
          </a:xfrm>
          <a:prstGeom prst="rect">
            <a:avLst/>
          </a:prstGeom>
        </p:spPr>
        <p:txBody>
          <a:bodyPr wrap="square">
            <a:spAutoFit/>
          </a:bodyPr>
          <a:lstStyle/>
          <a:p>
            <a:pPr algn="ctr" fontAlgn="base">
              <a:spcBef>
                <a:spcPct val="20000"/>
              </a:spcBef>
              <a:spcAft>
                <a:spcPct val="0"/>
              </a:spcAft>
              <a:defRPr/>
            </a:pPr>
            <a:r>
              <a:rPr lang="ja-JP" altLang="en-US" b="1" dirty="0">
                <a:solidFill>
                  <a:prstClr val="black"/>
                </a:solidFill>
                <a:latin typeface="メイリオ" charset="0"/>
                <a:ea typeface="メイリオ" charset="0"/>
                <a:cs typeface="メイリオ" charset="0"/>
              </a:rPr>
              <a:t>貴社の明るい未来に必ず貢献致します。</a:t>
            </a:r>
          </a:p>
        </p:txBody>
      </p:sp>
      <p:sp>
        <p:nvSpPr>
          <p:cNvPr id="14" name="正方形/長方形 13"/>
          <p:cNvSpPr/>
          <p:nvPr/>
        </p:nvSpPr>
        <p:spPr>
          <a:xfrm>
            <a:off x="382695" y="2698377"/>
            <a:ext cx="598220" cy="205890"/>
          </a:xfrm>
          <a:prstGeom prst="rect">
            <a:avLst/>
          </a:prstGeom>
        </p:spPr>
        <p:txBody>
          <a:bodyPr wrap="square">
            <a:spAutoFit/>
          </a:bodyPr>
          <a:lstStyle/>
          <a:p>
            <a:pPr algn="ctr" fontAlgn="base">
              <a:spcBef>
                <a:spcPct val="20000"/>
              </a:spcBef>
              <a:spcAft>
                <a:spcPct val="0"/>
              </a:spcAft>
              <a:defRPr/>
            </a:pPr>
            <a:r>
              <a:rPr lang="ja-JP" altLang="en-US" sz="738">
                <a:solidFill>
                  <a:srgbClr val="FFFFFF"/>
                </a:solidFill>
                <a:latin typeface="メイリオ" charset="0"/>
                <a:ea typeface="メイリオ" charset="0"/>
                <a:cs typeface="メイリオ" charset="0"/>
              </a:rPr>
              <a:t>本社</a:t>
            </a:r>
          </a:p>
        </p:txBody>
      </p:sp>
      <p:sp>
        <p:nvSpPr>
          <p:cNvPr id="15" name="正方形/長方形 14"/>
          <p:cNvSpPr/>
          <p:nvPr/>
        </p:nvSpPr>
        <p:spPr>
          <a:xfrm>
            <a:off x="368300" y="2355213"/>
            <a:ext cx="756684" cy="215444"/>
          </a:xfrm>
          <a:prstGeom prst="rect">
            <a:avLst/>
          </a:prstGeom>
        </p:spPr>
        <p:txBody>
          <a:bodyPr wrap="square">
            <a:spAutoFit/>
          </a:bodyPr>
          <a:lstStyle/>
          <a:p>
            <a:pPr algn="ctr" fontAlgn="base">
              <a:spcBef>
                <a:spcPct val="20000"/>
              </a:spcBef>
              <a:spcAft>
                <a:spcPct val="0"/>
              </a:spcAft>
              <a:defRPr/>
            </a:pPr>
            <a:r>
              <a:rPr lang="ja-JP" altLang="en-US" sz="800" dirty="0">
                <a:solidFill>
                  <a:srgbClr val="FFFFFF"/>
                </a:solidFill>
                <a:latin typeface="メイリオ" charset="0"/>
                <a:ea typeface="メイリオ" charset="0"/>
                <a:cs typeface="メイリオ" charset="0"/>
              </a:rPr>
              <a:t>本社</a:t>
            </a:r>
          </a:p>
        </p:txBody>
      </p:sp>
      <p:grpSp>
        <p:nvGrpSpPr>
          <p:cNvPr id="22" name="グループ化 21">
            <a:extLst>
              <a:ext uri="{FF2B5EF4-FFF2-40B4-BE49-F238E27FC236}">
                <a16:creationId xmlns:a16="http://schemas.microsoft.com/office/drawing/2014/main" id="{05A1AABC-CDB8-5B83-4CFD-649967A361BF}"/>
              </a:ext>
            </a:extLst>
          </p:cNvPr>
          <p:cNvGrpSpPr/>
          <p:nvPr/>
        </p:nvGrpSpPr>
        <p:grpSpPr>
          <a:xfrm>
            <a:off x="381002" y="1772817"/>
            <a:ext cx="9143999" cy="3314853"/>
            <a:chOff x="1" y="1772816"/>
            <a:chExt cx="9143999" cy="3314853"/>
          </a:xfrm>
        </p:grpSpPr>
        <p:pic>
          <p:nvPicPr>
            <p:cNvPr id="21" name="図 20" descr="ポーズをとる男性グループ&#10;&#10;自動的に生成された説明">
              <a:extLst>
                <a:ext uri="{FF2B5EF4-FFF2-40B4-BE49-F238E27FC236}">
                  <a16:creationId xmlns:a16="http://schemas.microsoft.com/office/drawing/2014/main" id="{4927F40E-D146-C638-5583-C9DC2984722E}"/>
                </a:ext>
              </a:extLst>
            </p:cNvPr>
            <p:cNvPicPr>
              <a:picLocks noChangeAspect="1"/>
            </p:cNvPicPr>
            <p:nvPr/>
          </p:nvPicPr>
          <p:blipFill rotWithShape="1">
            <a:blip r:embed="rId4" cstate="print">
              <a:extLst>
                <a:ext uri="{28A0092B-C50C-407E-A947-70E740481C1C}">
                  <a14:useLocalDpi xmlns:a14="http://schemas.microsoft.com/office/drawing/2010/main" val="0"/>
                </a:ext>
              </a:extLst>
            </a:blip>
            <a:srcRect l="3642" r="4076"/>
            <a:stretch/>
          </p:blipFill>
          <p:spPr>
            <a:xfrm>
              <a:off x="6973793" y="3518745"/>
              <a:ext cx="2170207" cy="1567781"/>
            </a:xfrm>
            <a:prstGeom prst="rect">
              <a:avLst/>
            </a:prstGeom>
          </p:spPr>
        </p:pic>
        <p:pic>
          <p:nvPicPr>
            <p:cNvPr id="16" name="図 15" descr="白いシャツを着ている男性&#10;&#10;中程度の精度で自動的に生成された説明">
              <a:extLst>
                <a:ext uri="{FF2B5EF4-FFF2-40B4-BE49-F238E27FC236}">
                  <a16:creationId xmlns:a16="http://schemas.microsoft.com/office/drawing/2014/main" id="{2ECDFCA7-8611-D865-F999-FDCD0EC21269}"/>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4983808" y="3519888"/>
              <a:ext cx="1989985" cy="1567781"/>
            </a:xfrm>
            <a:prstGeom prst="rect">
              <a:avLst/>
            </a:prstGeom>
          </p:spPr>
        </p:pic>
        <p:pic>
          <p:nvPicPr>
            <p:cNvPr id="10" name="図 9" descr="スーツを着た男性たち&#10;&#10;自動的に生成された説明">
              <a:extLst>
                <a:ext uri="{FF2B5EF4-FFF2-40B4-BE49-F238E27FC236}">
                  <a16:creationId xmlns:a16="http://schemas.microsoft.com/office/drawing/2014/main" id="{9D3AD52A-1514-4350-FFDD-09984B3666E2}"/>
                </a:ext>
              </a:extLst>
            </p:cNvPr>
            <p:cNvPicPr>
              <a:picLocks noChangeAspect="1"/>
            </p:cNvPicPr>
            <p:nvPr/>
          </p:nvPicPr>
          <p:blipFill rotWithShape="1">
            <a:blip r:embed="rId6" cstate="print">
              <a:extLst>
                <a:ext uri="{28A0092B-C50C-407E-A947-70E740481C1C}">
                  <a14:useLocalDpi xmlns:a14="http://schemas.microsoft.com/office/drawing/2010/main" val="0"/>
                </a:ext>
              </a:extLst>
            </a:blip>
            <a:srcRect l="10703" r="10363"/>
            <a:stretch/>
          </p:blipFill>
          <p:spPr>
            <a:xfrm>
              <a:off x="7299681" y="1773979"/>
              <a:ext cx="1842624" cy="1745909"/>
            </a:xfrm>
            <a:prstGeom prst="rect">
              <a:avLst/>
            </a:prstGeom>
          </p:spPr>
        </p:pic>
        <p:pic>
          <p:nvPicPr>
            <p:cNvPr id="7" name="図 6" descr="講堂にいる人たち&#10;&#10;中程度の精度で自動的に生成された説明">
              <a:extLst>
                <a:ext uri="{FF2B5EF4-FFF2-40B4-BE49-F238E27FC236}">
                  <a16:creationId xmlns:a16="http://schemas.microsoft.com/office/drawing/2014/main" id="{B1CA0DFF-0DAF-D5BD-8D9F-8AFB103E2698}"/>
                </a:ext>
              </a:extLst>
            </p:cNvPr>
            <p:cNvPicPr>
              <a:picLocks noChangeAspect="1"/>
            </p:cNvPicPr>
            <p:nvPr/>
          </p:nvPicPr>
          <p:blipFill rotWithShape="1">
            <a:blip r:embed="rId7" cstate="print">
              <a:extLst>
                <a:ext uri="{28A0092B-C50C-407E-A947-70E740481C1C}">
                  <a14:useLocalDpi xmlns:a14="http://schemas.microsoft.com/office/drawing/2010/main" val="0"/>
                </a:ext>
              </a:extLst>
            </a:blip>
            <a:srcRect l="2512" t="12879" r="2477"/>
            <a:stretch/>
          </p:blipFill>
          <p:spPr>
            <a:xfrm>
              <a:off x="1" y="1772816"/>
              <a:ext cx="5089778" cy="3314853"/>
            </a:xfrm>
            <a:prstGeom prst="rect">
              <a:avLst/>
            </a:prstGeom>
          </p:spPr>
        </p:pic>
        <p:pic>
          <p:nvPicPr>
            <p:cNvPr id="11" name="図 10" descr="スーツを着た男性グループの写真&#10;&#10;低い精度で自動的に生成された説明">
              <a:extLst>
                <a:ext uri="{FF2B5EF4-FFF2-40B4-BE49-F238E27FC236}">
                  <a16:creationId xmlns:a16="http://schemas.microsoft.com/office/drawing/2014/main" id="{FEFAFF33-EFBF-C67E-586A-08D93AF295F8}"/>
                </a:ext>
              </a:extLst>
            </p:cNvPr>
            <p:cNvPicPr>
              <a:picLocks noChangeAspect="1"/>
            </p:cNvPicPr>
            <p:nvPr/>
          </p:nvPicPr>
          <p:blipFill rotWithShape="1">
            <a:blip r:embed="rId8" cstate="print">
              <a:extLst>
                <a:ext uri="{28A0092B-C50C-407E-A947-70E740481C1C}">
                  <a14:useLocalDpi xmlns:a14="http://schemas.microsoft.com/office/drawing/2010/main" val="0"/>
                </a:ext>
              </a:extLst>
            </a:blip>
            <a:srcRect l="8595" r="6763"/>
            <a:stretch/>
          </p:blipFill>
          <p:spPr>
            <a:xfrm>
              <a:off x="5089779" y="1772836"/>
              <a:ext cx="2215315" cy="1745909"/>
            </a:xfrm>
            <a:prstGeom prst="rect">
              <a:avLst/>
            </a:prstGeom>
          </p:spPr>
        </p:pic>
      </p:grpSp>
      <p:sp>
        <p:nvSpPr>
          <p:cNvPr id="6" name="正方形/長方形 5">
            <a:extLst>
              <a:ext uri="{FF2B5EF4-FFF2-40B4-BE49-F238E27FC236}">
                <a16:creationId xmlns:a16="http://schemas.microsoft.com/office/drawing/2014/main" id="{238B92EF-519D-929F-4345-5BAC445EF234}"/>
              </a:ext>
            </a:extLst>
          </p:cNvPr>
          <p:cNvSpPr/>
          <p:nvPr/>
        </p:nvSpPr>
        <p:spPr>
          <a:xfrm>
            <a:off x="128016" y="6620256"/>
            <a:ext cx="2852928" cy="237744"/>
          </a:xfrm>
          <a:prstGeom prst="rect">
            <a:avLst/>
          </a:prstGeom>
          <a:solidFill>
            <a:srgbClr val="191F54"/>
          </a:solidFill>
          <a:ln>
            <a:solidFill>
              <a:srgbClr val="10253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 name="正方形/長方形 1">
            <a:extLst>
              <a:ext uri="{FF2B5EF4-FFF2-40B4-BE49-F238E27FC236}">
                <a16:creationId xmlns:a16="http://schemas.microsoft.com/office/drawing/2014/main" id="{A949B271-D24D-666E-90F2-EA616E1EABC2}"/>
              </a:ext>
            </a:extLst>
          </p:cNvPr>
          <p:cNvSpPr/>
          <p:nvPr/>
        </p:nvSpPr>
        <p:spPr>
          <a:xfrm>
            <a:off x="368300" y="0"/>
            <a:ext cx="9537700" cy="514974"/>
          </a:xfrm>
          <a:prstGeom prst="rect">
            <a:avLst/>
          </a:prstGeom>
          <a:solidFill>
            <a:schemeClr val="bg1"/>
          </a:solidFill>
          <a:ln>
            <a:solidFill>
              <a:schemeClr val="bg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4185355464"/>
      </p:ext>
    </p:extLst>
  </p:cSld>
  <p:clrMapOvr>
    <a:masterClrMapping/>
  </p:clrMapOvr>
  <p:transition spd="slow"/>
</p:sld>
</file>

<file path=ppt/theme/theme1.xml><?xml version="1.0" encoding="utf-8"?>
<a:theme xmlns:a="http://schemas.openxmlformats.org/drawingml/2006/main" name="テーマ1">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テーマ1" id="{8EA1701B-0E00-4167-9612-575199E01EDB}" vid="{8EF6575E-BB77-44AE-AF00-801DE4CAFB82}"/>
    </a:ext>
  </a:extLst>
</a:theme>
</file>

<file path=ppt/theme/theme2.xml><?xml version="1.0" encoding="utf-8"?>
<a:theme xmlns:a="http://schemas.openxmlformats.org/drawingml/2006/main" name="DYMJAPA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Default Theme</Template>
  <TotalTime>145429</TotalTime>
  <Words>5139</Words>
  <Application>Microsoft Office PowerPoint</Application>
  <PresentationFormat>A4 210 x 297 mm</PresentationFormat>
  <Paragraphs>1218</Paragraphs>
  <Slides>55</Slides>
  <Notes>1</Notes>
  <HiddenSlides>1</HiddenSlides>
  <MMClips>0</MMClips>
  <ScaleCrop>false</ScaleCrop>
  <HeadingPairs>
    <vt:vector size="6" baseType="variant">
      <vt:variant>
        <vt:lpstr>使用されているフォント</vt:lpstr>
      </vt:variant>
      <vt:variant>
        <vt:i4>5</vt:i4>
      </vt:variant>
      <vt:variant>
        <vt:lpstr>テーマ</vt:lpstr>
      </vt:variant>
      <vt:variant>
        <vt:i4>2</vt:i4>
      </vt:variant>
      <vt:variant>
        <vt:lpstr>スライド タイトル</vt:lpstr>
      </vt:variant>
      <vt:variant>
        <vt:i4>55</vt:i4>
      </vt:variant>
    </vt:vector>
  </HeadingPairs>
  <TitlesOfParts>
    <vt:vector size="62" baseType="lpstr">
      <vt:lpstr>Meiryo</vt:lpstr>
      <vt:lpstr>Meiryo</vt:lpstr>
      <vt:lpstr>Arial</vt:lpstr>
      <vt:lpstr>Calibri</vt:lpstr>
      <vt:lpstr>Century Gothic</vt:lpstr>
      <vt:lpstr>テーマ1</vt:lpstr>
      <vt:lpstr>DYMJAPAN</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プレゼンテーション</dc:title>
  <dc:creator>中村 駿</dc:creator>
  <cp:lastModifiedBy>殿村 亮太</cp:lastModifiedBy>
  <cp:revision>1986</cp:revision>
  <cp:lastPrinted>2022-11-01T11:38:14Z</cp:lastPrinted>
  <dcterms:created xsi:type="dcterms:W3CDTF">2015-09-04T09:21:15Z</dcterms:created>
  <dcterms:modified xsi:type="dcterms:W3CDTF">2026-10-30T03:13:46Z</dcterms:modified>
</cp:coreProperties>
</file>