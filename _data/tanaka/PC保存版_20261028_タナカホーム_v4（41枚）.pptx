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319" r:id="rId2"/>
    <p:sldId id="2726" r:id="rId3"/>
    <p:sldId id="3150" r:id="rId4"/>
    <p:sldId id="2721" r:id="rId5"/>
    <p:sldId id="2723" r:id="rId6"/>
    <p:sldId id="2724" r:id="rId7"/>
    <p:sldId id="2364" r:id="rId8"/>
    <p:sldId id="2365" r:id="rId9"/>
    <p:sldId id="2725" r:id="rId10"/>
    <p:sldId id="2913" r:id="rId11"/>
    <p:sldId id="311" r:id="rId12"/>
    <p:sldId id="305" r:id="rId13"/>
    <p:sldId id="312" r:id="rId14"/>
    <p:sldId id="333" r:id="rId15"/>
    <p:sldId id="334" r:id="rId16"/>
    <p:sldId id="306" r:id="rId17"/>
    <p:sldId id="313" r:id="rId18"/>
    <p:sldId id="310" r:id="rId19"/>
    <p:sldId id="314" r:id="rId20"/>
    <p:sldId id="335" r:id="rId21"/>
    <p:sldId id="315" r:id="rId22"/>
    <p:sldId id="336" r:id="rId23"/>
    <p:sldId id="337" r:id="rId24"/>
    <p:sldId id="338" r:id="rId25"/>
    <p:sldId id="339" r:id="rId26"/>
    <p:sldId id="309" r:id="rId27"/>
    <p:sldId id="318" r:id="rId28"/>
    <p:sldId id="301" r:id="rId29"/>
    <p:sldId id="320" r:id="rId30"/>
    <p:sldId id="321" r:id="rId31"/>
    <p:sldId id="322" r:id="rId32"/>
    <p:sldId id="323" r:id="rId33"/>
    <p:sldId id="324" r:id="rId34"/>
    <p:sldId id="325" r:id="rId35"/>
    <p:sldId id="326" r:id="rId36"/>
    <p:sldId id="327" r:id="rId37"/>
    <p:sldId id="328" r:id="rId38"/>
    <p:sldId id="329" r:id="rId39"/>
    <p:sldId id="330" r:id="rId40"/>
    <p:sldId id="331" r:id="rId41"/>
    <p:sldId id="332" r:id="rId4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平屋</c:v>
                </c:pt>
              </c:strCache>
            </c:strRef>
          </c:tx>
          <c:invertIfNegative val="1"/>
          <c:dPt>
            <c:idx val="0"/>
            <c:invertIfNegative val="1"/>
            <c:bubble3D val="0"/>
            <c:spPr>
              <a:solidFill>
                <a:srgbClr val="1F285A"/>
              </a:solidFill>
            </c:spPr>
            <c:extLst>
              <c:ext xmlns:c16="http://schemas.microsoft.com/office/drawing/2014/chart" uri="{C3380CC4-5D6E-409C-BE32-E72D297353CC}">
                <c16:uniqueId val="{00000001-E4DC-4448-802D-983EA201CFED}"/>
              </c:ext>
            </c:extLst>
          </c:dPt>
          <c:dPt>
            <c:idx val="1"/>
            <c:invertIfNegative val="1"/>
            <c:bubble3D val="0"/>
            <c:spPr>
              <a:solidFill>
                <a:srgbClr val="1F285A"/>
              </a:solidFill>
            </c:spPr>
            <c:extLst>
              <c:ext xmlns:c16="http://schemas.microsoft.com/office/drawing/2014/chart" uri="{C3380CC4-5D6E-409C-BE32-E72D297353CC}">
                <c16:uniqueId val="{00000003-E4DC-4448-802D-983EA201CFED}"/>
              </c:ext>
            </c:extLst>
          </c:dPt>
          <c:dPt>
            <c:idx val="2"/>
            <c:invertIfNegative val="1"/>
            <c:bubble3D val="0"/>
            <c:spPr>
              <a:solidFill>
                <a:srgbClr val="C9CEDF"/>
              </a:solidFill>
            </c:spPr>
            <c:extLst>
              <c:ext xmlns:c16="http://schemas.microsoft.com/office/drawing/2014/chart" uri="{C3380CC4-5D6E-409C-BE32-E72D297353CC}">
                <c16:uniqueId val="{00000005-E4DC-4448-802D-983EA201CFED}"/>
              </c:ext>
            </c:extLst>
          </c:dPt>
          <c:dPt>
            <c:idx val="3"/>
            <c:invertIfNegative val="1"/>
            <c:bubble3D val="0"/>
            <c:spPr>
              <a:solidFill>
                <a:srgbClr val="C9CEDF"/>
              </a:solidFill>
            </c:spPr>
            <c:extLst>
              <c:ext xmlns:c16="http://schemas.microsoft.com/office/drawing/2014/chart" uri="{C3380CC4-5D6E-409C-BE32-E72D297353CC}">
                <c16:uniqueId val="{00000007-E4DC-4448-802D-983EA201CFED}"/>
              </c:ext>
            </c:extLst>
          </c:dPt>
          <c:dPt>
            <c:idx val="4"/>
            <c:invertIfNegative val="1"/>
            <c:bubble3D val="0"/>
            <c:spPr>
              <a:solidFill>
                <a:srgbClr val="C9CEDF"/>
              </a:solidFill>
            </c:spPr>
            <c:extLst>
              <c:ext xmlns:c16="http://schemas.microsoft.com/office/drawing/2014/chart" uri="{C3380CC4-5D6E-409C-BE32-E72D297353CC}">
                <c16:uniqueId val="{00000009-E4DC-4448-802D-983EA201CFED}"/>
              </c:ext>
            </c:extLst>
          </c:dPt>
          <c:dPt>
            <c:idx val="5"/>
            <c:invertIfNegative val="1"/>
            <c:bubble3D val="0"/>
            <c:spPr>
              <a:solidFill>
                <a:srgbClr val="C9CEDF"/>
              </a:solidFill>
            </c:spPr>
            <c:extLst>
              <c:ext xmlns:c16="http://schemas.microsoft.com/office/drawing/2014/chart" uri="{C3380CC4-5D6E-409C-BE32-E72D297353CC}">
                <c16:uniqueId val="{0000000B-E4DC-4448-802D-983EA201CFED}"/>
              </c:ext>
            </c:extLst>
          </c:dPt>
          <c:dPt>
            <c:idx val="6"/>
            <c:invertIfNegative val="1"/>
            <c:bubble3D val="0"/>
            <c:spPr>
              <a:solidFill>
                <a:srgbClr val="C9CEDF"/>
              </a:solidFill>
            </c:spPr>
            <c:extLst>
              <c:ext xmlns:c16="http://schemas.microsoft.com/office/drawing/2014/chart" uri="{C3380CC4-5D6E-409C-BE32-E72D297353CC}">
                <c16:uniqueId val="{0000000D-E4DC-4448-802D-983EA201CFED}"/>
              </c:ext>
            </c:extLst>
          </c:dPt>
          <c:dPt>
            <c:idx val="7"/>
            <c:invertIfNegative val="1"/>
            <c:bubble3D val="0"/>
            <c:spPr>
              <a:solidFill>
                <a:srgbClr val="C9CEDF"/>
              </a:solidFill>
            </c:spPr>
            <c:extLst>
              <c:ext xmlns:c16="http://schemas.microsoft.com/office/drawing/2014/chart" uri="{C3380CC4-5D6E-409C-BE32-E72D297353CC}">
                <c16:uniqueId val="{0000000F-E4DC-4448-802D-983EA201CFED}"/>
              </c:ext>
            </c:extLst>
          </c:dPt>
          <c:dPt>
            <c:idx val="8"/>
            <c:invertIfNegative val="1"/>
            <c:bubble3D val="0"/>
            <c:spPr>
              <a:solidFill>
                <a:srgbClr val="C9CEDF"/>
              </a:solidFill>
            </c:spPr>
            <c:extLst>
              <c:ext xmlns:c16="http://schemas.microsoft.com/office/drawing/2014/chart" uri="{C3380CC4-5D6E-409C-BE32-E72D297353CC}">
                <c16:uniqueId val="{00000011-E4DC-4448-802D-983EA201CFED}"/>
              </c:ext>
            </c:extLst>
          </c:dPt>
          <c:dPt>
            <c:idx val="9"/>
            <c:invertIfNegative val="1"/>
            <c:bubble3D val="0"/>
            <c:spPr>
              <a:solidFill>
                <a:srgbClr val="C9CEDF"/>
              </a:solidFill>
            </c:spPr>
            <c:extLst>
              <c:ext xmlns:c16="http://schemas.microsoft.com/office/drawing/2014/chart" uri="{C3380CC4-5D6E-409C-BE32-E72D297353CC}">
                <c16:uniqueId val="{00000013-E4DC-4448-802D-983EA201CFED}"/>
              </c:ext>
            </c:extLst>
          </c:dPt>
          <c:dPt>
            <c:idx val="10"/>
            <c:invertIfNegative val="1"/>
            <c:bubble3D val="0"/>
            <c:spPr>
              <a:solidFill>
                <a:srgbClr val="C9CEDF"/>
              </a:solidFill>
            </c:spPr>
            <c:extLst>
              <c:ext xmlns:c16="http://schemas.microsoft.com/office/drawing/2014/chart" uri="{C3380CC4-5D6E-409C-BE32-E72D297353CC}">
                <c16:uniqueId val="{00000015-E4DC-4448-802D-983EA201CFED}"/>
              </c:ext>
            </c:extLst>
          </c:dPt>
          <c:dPt>
            <c:idx val="11"/>
            <c:invertIfNegative val="1"/>
            <c:bubble3D val="0"/>
            <c:spPr>
              <a:solidFill>
                <a:srgbClr val="C9CEDF"/>
              </a:solidFill>
            </c:spPr>
            <c:extLst>
              <c:ext xmlns:c16="http://schemas.microsoft.com/office/drawing/2014/chart" uri="{C3380CC4-5D6E-409C-BE32-E72D297353CC}">
                <c16:uniqueId val="{00000017-E4DC-4448-802D-983EA201CFED}"/>
              </c:ext>
            </c:extLst>
          </c:dPt>
          <c:dLbls>
            <c:numFmt formatCode="0" sourceLinked="0"/>
            <c:spPr>
              <a:noFill/>
              <a:ln>
                <a:noFill/>
              </a:ln>
              <a:effectLst/>
            </c:spPr>
            <c:txPr>
              <a:bodyPr/>
              <a:lstStyle/>
              <a:p>
                <a:pPr>
                  <a:defRPr sz="900">
                    <a:latin typeface="メイリオ"/>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80</c:v>
                </c:pt>
                <c:pt idx="1">
                  <c:v>83</c:v>
                </c:pt>
                <c:pt idx="2">
                  <c:v>78</c:v>
                </c:pt>
                <c:pt idx="3">
                  <c:v>70</c:v>
                </c:pt>
                <c:pt idx="4">
                  <c:v>69</c:v>
                </c:pt>
                <c:pt idx="5">
                  <c:v>73</c:v>
                </c:pt>
                <c:pt idx="6">
                  <c:v>58</c:v>
                </c:pt>
                <c:pt idx="7">
                  <c:v>70</c:v>
                </c:pt>
                <c:pt idx="8">
                  <c:v>76</c:v>
                </c:pt>
                <c:pt idx="9">
                  <c:v>78</c:v>
                </c:pt>
                <c:pt idx="10">
                  <c:v>63</c:v>
                </c:pt>
                <c:pt idx="11">
                  <c:v>68</c:v>
                </c:pt>
              </c:numCache>
            </c:numRef>
          </c:val>
          <c:extLst>
            <c:ext xmlns:c16="http://schemas.microsoft.com/office/drawing/2014/chart" uri="{C3380CC4-5D6E-409C-BE32-E72D297353CC}">
              <c16:uniqueId val="{00000018-E4DC-4448-802D-983EA201CFED}"/>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900"/>
            </a:pPr>
            <a:endParaRPr lang="ja-JP"/>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333333"/>
          </a:solidFill>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28</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5.jpg"/><Relationship Id="rId3" Type="http://schemas.openxmlformats.org/officeDocument/2006/relationships/image" Target="../media/image30.jpg"/><Relationship Id="rId7" Type="http://schemas.openxmlformats.org/officeDocument/2006/relationships/image" Target="../media/image34.jpg"/><Relationship Id="rId2" Type="http://schemas.openxmlformats.org/officeDocument/2006/relationships/image" Target="../media/image29.jp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hyperlink" Target="https://youtube.com/shorts/0qI4QgrOppQ" TargetMode="External"/><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43.jpeg"/><Relationship Id="rId3" Type="http://schemas.openxmlformats.org/officeDocument/2006/relationships/image" Target="../media/image38.emf"/><Relationship Id="rId7" Type="http://schemas.openxmlformats.org/officeDocument/2006/relationships/image" Target="../media/image42.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svg"/><Relationship Id="rId1" Type="http://schemas.openxmlformats.org/officeDocument/2006/relationships/slideLayout" Target="../slideLayouts/slideLayout2.xml"/><Relationship Id="rId5" Type="http://schemas.openxmlformats.org/officeDocument/2006/relationships/image" Target="../media/image47.svg"/><Relationship Id="rId4" Type="http://schemas.openxmlformats.org/officeDocument/2006/relationships/image" Target="../media/image46.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937630"/>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LINE公式アカウント運用のご提案</a:t>
            </a:r>
            <a:endParaRPr lang="en-US" sz="3200" b="0" u="none" strike="noStrike" dirty="0">
              <a:solidFill>
                <a:srgbClr val="000000"/>
              </a:solidFill>
              <a:effectLst/>
              <a:uFillTx/>
              <a:latin typeface="メイリオ"/>
            </a:endParaRPr>
          </a:p>
        </p:txBody>
      </p:sp>
      <p:sp>
        <p:nvSpPr>
          <p:cNvPr id="27" name="正方形/長方形 5"/>
          <p:cNvSpPr/>
          <p:nvPr/>
        </p:nvSpPr>
        <p:spPr>
          <a:xfrm>
            <a:off x="1336792" y="1922429"/>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メイリオ"/>
                <a:ea typeface="メイリオ"/>
              </a:rPr>
              <a:t>集めた見込み客を逃さずナーチャリングをし、</a:t>
            </a:r>
          </a:p>
          <a:p>
            <a:pPr algn="ctr"/>
            <a:r>
              <a:rPr lang="ja-JP" sz="1600" b="0" u="none" strike="noStrike" dirty="0">
                <a:solidFill>
                  <a:schemeClr val="dk1">
                    <a:lumMod val="50000"/>
                    <a:lumOff val="50000"/>
                  </a:schemeClr>
                </a:solidFill>
                <a:effectLst/>
                <a:uFillTx/>
                <a:latin typeface="メイリオ"/>
                <a:ea typeface="メイリオ"/>
              </a:rPr>
              <a:t>来場・契約へ変えるLINE仕組みの構築</a:t>
            </a: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メイリオ"/>
                <a:ea typeface="メイリオ"/>
              </a:rPr>
              <a:t>タナカホーム株式会社 御中</a:t>
            </a:r>
            <a:endParaRPr lang="en-US" sz="1600" b="0" u="none" strike="noStrike">
              <a:solidFill>
                <a:srgbClr val="000000"/>
              </a:solidFill>
              <a:effectLst/>
              <a:uFillTx/>
              <a:latin typeface="メイリオ"/>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2B273-7697-D76C-B709-A46B064F573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0553DA5-5DE0-BD33-70D4-FC02F33113D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6" name="図 5">
            <a:extLst>
              <a:ext uri="{FF2B5EF4-FFF2-40B4-BE49-F238E27FC236}">
                <a16:creationId xmlns:a16="http://schemas.microsoft.com/office/drawing/2014/main" id="{CFA9FEA4-17EA-590D-125E-FAC8C6AD3583}"/>
              </a:ext>
            </a:extLst>
          </p:cNvPr>
          <p:cNvPicPr>
            <a:picLocks noChangeAspect="1"/>
          </p:cNvPicPr>
          <p:nvPr/>
        </p:nvPicPr>
        <p:blipFill>
          <a:blip r:embed="rId2"/>
          <a:srcRect b="947"/>
          <a:stretch>
            <a:fillRect/>
          </a:stretch>
        </p:blipFill>
        <p:spPr>
          <a:xfrm>
            <a:off x="10340" y="821330"/>
            <a:ext cx="9885321" cy="5476601"/>
          </a:xfrm>
          <a:prstGeom prst="rect">
            <a:avLst/>
          </a:prstGeom>
        </p:spPr>
      </p:pic>
    </p:spTree>
    <p:extLst>
      <p:ext uri="{BB962C8B-B14F-4D97-AF65-F5344CB8AC3E}">
        <p14:creationId xmlns:p14="http://schemas.microsoft.com/office/powerpoint/2010/main" val="1302978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4961186"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2000" b="1"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BC1E3528-49FC-2F40-A6E5-CF541F7FF75D}"/>
              </a:ext>
            </a:extLst>
          </p:cNvPr>
          <p:cNvSpPr txBox="1"/>
          <p:nvPr/>
        </p:nvSpPr>
        <p:spPr>
          <a:xfrm>
            <a:off x="5218703" y="2796155"/>
            <a:ext cx="4102384" cy="523220"/>
          </a:xfrm>
          <a:prstGeom prst="rect">
            <a:avLst/>
          </a:prstGeom>
          <a:solidFill>
            <a:schemeClr val="bg1">
              <a:alpha val="60000"/>
            </a:schemeClr>
          </a:solidFill>
        </p:spPr>
        <p:txBody>
          <a:bodyPr wrap="square">
            <a:spAutoFit/>
          </a:bodyPr>
          <a:lstStyle/>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9741E7E2-8CD1-5737-D697-09B5D2B75F28}"/>
              </a:ext>
            </a:extLst>
          </p:cNvPr>
          <p:cNvSpPr txBox="1"/>
          <p:nvPr/>
        </p:nvSpPr>
        <p:spPr>
          <a:xfrm>
            <a:off x="463701" y="2801521"/>
            <a:ext cx="4102384" cy="523220"/>
          </a:xfrm>
          <a:prstGeom prst="rect">
            <a:avLst/>
          </a:prstGeom>
          <a:solidFill>
            <a:schemeClr val="bg1">
              <a:alpha val="60000"/>
            </a:schemeClr>
          </a:solidFill>
        </p:spPr>
        <p:txBody>
          <a:bodyPr wrap="square">
            <a:spAutoFit/>
          </a:bodyPr>
          <a:lstStyle/>
          <a:p>
            <a:pPr algn="ctr"/>
            <a:r>
              <a:rPr lang="ja-JP" altLang="en-US" sz="1400" b="1" dirty="0">
                <a:latin typeface="メイリオ" panose="020B0604030504040204" pitchFamily="50" charset="-128"/>
                <a:ea typeface="メイリオ" panose="020B0604030504040204" pitchFamily="50" charset="-128"/>
              </a:rPr>
              <a:t>開封率、開封時間ともに高効率</a:t>
            </a:r>
            <a:r>
              <a:rPr lang="ja-JP" altLang="en-US" sz="1400" dirty="0">
                <a:latin typeface="メイリオ" panose="020B0604030504040204" pitchFamily="50" charset="-128"/>
                <a:ea typeface="メイリオ" panose="020B0604030504040204" pitchFamily="50" charset="-128"/>
              </a:rPr>
              <a:t>。</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今後のマーケティングに必須のチャネル。</a:t>
            </a:r>
            <a:endParaRPr lang="en-US" altLang="ja-JP" sz="1400"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BD081E68-EA84-585C-A316-D201FAC9649E}"/>
              </a:ext>
            </a:extLst>
          </p:cNvPr>
          <p:cNvSpPr txBox="1"/>
          <p:nvPr/>
        </p:nvSpPr>
        <p:spPr>
          <a:xfrm>
            <a:off x="463701" y="5262659"/>
            <a:ext cx="4102384" cy="523220"/>
          </a:xfrm>
          <a:prstGeom prst="rect">
            <a:avLst/>
          </a:prstGeom>
          <a:solidFill>
            <a:schemeClr val="bg1">
              <a:alpha val="60000"/>
            </a:schemeClr>
          </a:solid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rPr>
              <a:t>広告離脱の</a:t>
            </a:r>
            <a:r>
              <a:rPr lang="en-US" altLang="ja-JP" sz="1400" dirty="0">
                <a:solidFill>
                  <a:srgbClr val="FF0000"/>
                </a:solidFill>
                <a:latin typeface="メイリオ" panose="020B0604030504040204" pitchFamily="50" charset="-128"/>
                <a:ea typeface="メイリオ" panose="020B0604030504040204" pitchFamily="50" charset="-128"/>
              </a:rPr>
              <a:t>98%</a:t>
            </a:r>
            <a:r>
              <a:rPr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F98D4197-216C-A3BE-091A-D32F4A6C7A17}"/>
              </a:ext>
            </a:extLst>
          </p:cNvPr>
          <p:cNvSpPr txBox="1"/>
          <p:nvPr/>
        </p:nvSpPr>
        <p:spPr>
          <a:xfrm>
            <a:off x="5218703" y="5262333"/>
            <a:ext cx="4102384" cy="738664"/>
          </a:xfrm>
          <a:prstGeom prst="rect">
            <a:avLst/>
          </a:prstGeom>
          <a:solidFill>
            <a:schemeClr val="bg1">
              <a:alpha val="60000"/>
            </a:schemeClr>
          </a:solid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7DA217C-F98F-2E58-74CA-39B7014CE382}"/>
              </a:ext>
            </a:extLst>
          </p:cNvPr>
          <p:cNvSpPr txBox="1"/>
          <p:nvPr/>
        </p:nvSpPr>
        <p:spPr>
          <a:xfrm>
            <a:off x="5574695" y="5724686"/>
            <a:ext cx="3390400"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Tree>
    <p:extLst>
      <p:ext uri="{BB962C8B-B14F-4D97-AF65-F5344CB8AC3E}">
        <p14:creationId xmlns:p14="http://schemas.microsoft.com/office/powerpoint/2010/main" val="1819059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実例紹介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弊社実績について</a:t>
            </a:r>
          </a:p>
        </p:txBody>
      </p:sp>
      <p:graphicFrame>
        <p:nvGraphicFramePr>
          <p:cNvPr id="3" name="表 2">
            <a:extLst>
              <a:ext uri="{FF2B5EF4-FFF2-40B4-BE49-F238E27FC236}">
                <a16:creationId xmlns:a16="http://schemas.microsoft.com/office/drawing/2014/main" id="{9A6B81D2-7F85-D98D-ED15-FD61A8068EF9}"/>
              </a:ext>
            </a:extLst>
          </p:cNvPr>
          <p:cNvGraphicFramePr>
            <a:graphicFrameLocks noGrp="1"/>
          </p:cNvGraphicFramePr>
          <p:nvPr/>
        </p:nvGraphicFramePr>
        <p:xfrm>
          <a:off x="381000" y="809625"/>
          <a:ext cx="9191625" cy="5485142"/>
        </p:xfrm>
        <a:graphic>
          <a:graphicData uri="http://schemas.openxmlformats.org/drawingml/2006/table">
            <a:tbl>
              <a:tblPr/>
              <a:tblGrid>
                <a:gridCol w="1819275">
                  <a:extLst>
                    <a:ext uri="{9D8B030D-6E8A-4147-A177-3AD203B41FA5}">
                      <a16:colId xmlns:a16="http://schemas.microsoft.com/office/drawing/2014/main" val="1856077232"/>
                    </a:ext>
                  </a:extLst>
                </a:gridCol>
                <a:gridCol w="828675">
                  <a:extLst>
                    <a:ext uri="{9D8B030D-6E8A-4147-A177-3AD203B41FA5}">
                      <a16:colId xmlns:a16="http://schemas.microsoft.com/office/drawing/2014/main" val="2505763101"/>
                    </a:ext>
                  </a:extLst>
                </a:gridCol>
                <a:gridCol w="2856379">
                  <a:extLst>
                    <a:ext uri="{9D8B030D-6E8A-4147-A177-3AD203B41FA5}">
                      <a16:colId xmlns:a16="http://schemas.microsoft.com/office/drawing/2014/main" val="415261329"/>
                    </a:ext>
                  </a:extLst>
                </a:gridCol>
                <a:gridCol w="3687296">
                  <a:extLst>
                    <a:ext uri="{9D8B030D-6E8A-4147-A177-3AD203B41FA5}">
                      <a16:colId xmlns:a16="http://schemas.microsoft.com/office/drawing/2014/main" val="2991975434"/>
                    </a:ext>
                  </a:extLst>
                </a:gridCol>
              </a:tblGrid>
              <a:tr h="371475">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業界</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運用期間</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施策インパクト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施策内容</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extLst>
                  <a:ext uri="{0D108BD9-81ED-4DB2-BD59-A6C34878D82A}">
                    <a16:rowId xmlns:a16="http://schemas.microsoft.com/office/drawing/2014/main" val="369463423"/>
                  </a:ext>
                </a:extLst>
              </a:tr>
              <a:tr h="1028103">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人材</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（資格職・専門職転職）</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■月間求人応募数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4</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br>
                        <a:rPr lang="en-US" altLang="ja-JP" sz="18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30</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¥145,000 → ¥102,000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ユーザーセグメントの取得</a:t>
                      </a:r>
                      <a:b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400" b="1" i="0" u="sng" strike="noStrike" dirty="0">
                          <a:solidFill>
                            <a:srgbClr val="C00000"/>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・セグメント配信による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パーソナライズされた追客</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4378025"/>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不動産</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（住宅メーカー）</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10</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■月間来場・資料請求件数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による友だち増加促進</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ペルソナに合わせた動線・クリエイティブ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の設計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117311"/>
                  </a:ext>
                </a:extLst>
              </a:tr>
              <a:tr h="1021391">
                <a:tc>
                  <a:txBody>
                    <a:bodyPr/>
                    <a:lstStyle/>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a:t>
                      </a: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総合</a:t>
                      </a: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離脱防止バナーと</a:t>
                      </a:r>
                      <a: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t>CPF</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を活用した友だち増加</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・アンケートを実施し、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カゴ落ちユーザーを中心に</a:t>
                      </a:r>
                      <a:b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1200" b="0" i="0" u="none" strike="noStrike" dirty="0">
                          <a:solidFill>
                            <a:srgbClr val="C00000"/>
                          </a:solidFill>
                          <a:effectLst/>
                          <a:latin typeface="メイリオ" panose="020B0604030504040204" pitchFamily="50" charset="-128"/>
                          <a:ea typeface="メイリオ" panose="020B0604030504040204" pitchFamily="50" charset="-128"/>
                        </a:rPr>
                        <a:t>　</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期間限定商品・高単価商品の情報を配信</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0092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（美肌治療）</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a:solidFill>
                            <a:schemeClr val="tx1">
                              <a:lumMod val="65000"/>
                              <a:lumOff val="35000"/>
                            </a:schemeClr>
                          </a:solidFill>
                          <a:effectLst/>
                          <a:latin typeface="メイリオ" panose="020B0604030504040204" pitchFamily="50" charset="-128"/>
                          <a:ea typeface="メイリオ" panose="020B0604030504040204" pitchFamily="50" charset="-128"/>
                        </a:rPr>
                        <a:t>年</a:t>
                      </a:r>
                      <a:endPar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63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¥32,000 → ¥12,000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個別メッセージを利用したユーザー個々への追客</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51158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（痩身）</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45</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件</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万円台</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 → ¥10,700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・アンケート動線を設定し、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悩み別のシナリオを用意</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9865"/>
                  </a:ext>
                </a:extLst>
              </a:tr>
            </a:tbl>
          </a:graphicData>
        </a:graphic>
      </p:graphicFrame>
    </p:spTree>
    <p:extLst>
      <p:ext uri="{BB962C8B-B14F-4D97-AF65-F5344CB8AC3E}">
        <p14:creationId xmlns:p14="http://schemas.microsoft.com/office/powerpoint/2010/main" val="1624169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提案の流れ</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資料請求</a:t>
            </a:r>
            <a:r>
              <a:rPr lang="ja-JP" altLang="en-US" sz="1400" b="1" dirty="0">
                <a:latin typeface="メイリオ" panose="020B0604030504040204" pitchFamily="50" charset="-128"/>
                <a:ea typeface="メイリオ" panose="020B0604030504040204" pitchFamily="50" charset="-128"/>
              </a:rPr>
              <a:t>以前</a:t>
            </a:r>
            <a:r>
              <a:rPr lang="ja-JP" sz="1400" b="1" u="none" strike="noStrike" dirty="0">
                <a:effectLst/>
                <a:uFillTx/>
                <a:latin typeface="メイリオ" panose="020B0604030504040204" pitchFamily="50" charset="-128"/>
                <a:ea typeface="メイリオ" panose="020B0604030504040204" pitchFamily="50" charset="-128"/>
              </a:rPr>
              <a:t>からLINEでつながり、来場・契約まで案内する。</a:t>
            </a:r>
            <a:endParaRPr lang="en-US" sz="1400" b="1" u="none" strike="noStrike" dirty="0">
              <a:effectLst/>
              <a:uFillTx/>
              <a:latin typeface="メイリオ"/>
            </a:endParaRPr>
          </a:p>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青森店で確立し、他店舗へ広げることも見据える</a:t>
            </a:r>
            <a:endParaRPr lang="en-US" sz="1400" b="1" u="none" strike="noStrike" dirty="0">
              <a:effectLst/>
              <a:uFillTx/>
              <a:latin typeface="メイリオ"/>
            </a:endParaRPr>
          </a:p>
        </p:txBody>
      </p:sp>
      <p:graphicFrame>
        <p:nvGraphicFramePr>
          <p:cNvPr id="7" name="提案の流れ 6"/>
          <p:cNvGraphicFramePr>
            <a:graphicFrameLocks noGrp="1"/>
          </p:cNvGraphicFramePr>
          <p:nvPr>
            <p:extLst>
              <p:ext uri="{D42A27DB-BD31-4B8C-83A1-F6EECF244321}">
                <p14:modId xmlns:p14="http://schemas.microsoft.com/office/powerpoint/2010/main" val="3956596197"/>
              </p:ext>
            </p:extLst>
          </p:nvPr>
        </p:nvGraphicFramePr>
        <p:xfrm>
          <a:off x="502920" y="1691640"/>
          <a:ext cx="8897112" cy="2852928"/>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 現状と打ち手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来場予約は目標50〜60件に対し35〜40件。広告とSEOで質の高い見込み客を集める。</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LINEは来場予約のご案内が中心</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2. 課題</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来場を決める前の検討中の方と、LINEでつながれていない。</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検討期間の約2週間の接点が、来場を左右する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3. 解決策</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資料請求以前から来場・契約までを追う。</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前後検索に沿って配信し、来場前日のお知らせでキャンセルも減らす</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4. 今後の展開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青森店で型をつくり、全店に広げる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8" name="Appendix 7"/>
          <p:cNvGraphicFramePr>
            <a:graphicFrameLocks noGrp="1"/>
          </p:cNvGraphicFramePr>
          <p:nvPr/>
        </p:nvGraphicFramePr>
        <p:xfrm>
          <a:off x="502920" y="4846320"/>
          <a:ext cx="8897112" cy="457200"/>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457200">
                <a:tc>
                  <a:txBody>
                    <a:bodyPr/>
                    <a:lstStyle/>
                    <a:p>
                      <a:pPr algn="ctr">
                        <a:buNone/>
                      </a:pPr>
                      <a:r>
                        <a:rPr lang="ja-JP" altLang="en-US" sz="1250" b="1" dirty="0">
                          <a:solidFill>
                            <a:srgbClr val="7F7F7F"/>
                          </a:solidFill>
                          <a:latin typeface="メイリオ" panose="020B0604030504040204" pitchFamily="50" charset="-128"/>
                          <a:ea typeface="メイリオ" panose="020B0604030504040204" pitchFamily="50" charset="-128"/>
                        </a:rPr>
                        <a:t>Appendix</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LINE導入の背景／CRM・API連携／その他の活用機能／提供施策／運用プラン</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現状と打ち手：広告改善とSEOで、質の高い流入を確保する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青森店の来場</a:t>
            </a:r>
            <a:r>
              <a:rPr lang="ja-JP" altLang="en-US" sz="1400" b="1" u="none" strike="noStrike" dirty="0">
                <a:effectLst/>
                <a:uFillTx/>
                <a:latin typeface="メイリオ" panose="020B0604030504040204" pitchFamily="50" charset="-128"/>
                <a:ea typeface="メイリオ" panose="020B0604030504040204" pitchFamily="50" charset="-128"/>
              </a:rPr>
              <a:t>が</a:t>
            </a:r>
            <a:r>
              <a:rPr lang="ja-JP" sz="1400" b="1" u="none" strike="noStrike" dirty="0">
                <a:effectLst/>
                <a:uFillTx/>
                <a:latin typeface="メイリオ" panose="020B0604030504040204" pitchFamily="50" charset="-128"/>
                <a:ea typeface="メイリオ" panose="020B0604030504040204" pitchFamily="50" charset="-128"/>
              </a:rPr>
              <a:t>目標に届いていない。集客フェーズは、広告の改善とSEOで立て直す</a:t>
            </a:r>
            <a:endParaRPr lang="en-US" altLang="ja-JP" sz="1400" b="1" u="none" strike="noStrike" dirty="0">
              <a:effectLst/>
              <a:uFillTx/>
              <a:latin typeface="メイリオ" panose="020B0604030504040204" pitchFamily="50" charset="-128"/>
              <a:ea typeface="メイリオ" panose="020B0604030504040204" pitchFamily="50" charset="-128"/>
            </a:endParaRPr>
          </a:p>
          <a:p>
            <a:pPr algn="ctr" defTabSz="914400">
              <a:lnSpc>
                <a:spcPct val="100000"/>
              </a:lnSpc>
            </a:pPr>
            <a:r>
              <a:rPr lang="ja-JP" altLang="en-US" sz="1400" b="1" dirty="0">
                <a:latin typeface="メイリオ" panose="020B0604030504040204" pitchFamily="50" charset="-128"/>
                <a:ea typeface="メイリオ" panose="020B0604030504040204" pitchFamily="50" charset="-128"/>
              </a:rPr>
              <a:t>⇒見込み客は</a:t>
            </a:r>
            <a:r>
              <a:rPr lang="en-US" altLang="ja-JP" sz="1400" b="1" dirty="0">
                <a:latin typeface="メイリオ" panose="020B0604030504040204" pitchFamily="50" charset="-128"/>
                <a:ea typeface="メイリオ" panose="020B0604030504040204" pitchFamily="50" charset="-128"/>
              </a:rPr>
              <a:t>LINE</a:t>
            </a:r>
            <a:r>
              <a:rPr lang="ja-JP" altLang="en-US" sz="1400" b="1" dirty="0">
                <a:latin typeface="メイリオ" panose="020B0604030504040204" pitchFamily="50" charset="-128"/>
                <a:ea typeface="メイリオ" panose="020B0604030504040204" pitchFamily="50" charset="-128"/>
              </a:rPr>
              <a:t>でナーチャリングする</a:t>
            </a:r>
            <a:endParaRPr lang="en-US" sz="1400" b="1" u="none" strike="noStrike" dirty="0">
              <a:effectLst/>
              <a:uFillTx/>
              <a:latin typeface="メイリオ"/>
            </a:endParaRPr>
          </a:p>
        </p:txBody>
      </p:sp>
      <p:sp>
        <p:nvSpPr>
          <p:cNvPr id="7" name="見出し 青森店の現在地"/>
          <p:cNvSpPr/>
          <p:nvPr/>
        </p:nvSpPr>
        <p:spPr>
          <a:xfrm>
            <a:off x="435836" y="1857894"/>
            <a:ext cx="434340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青森店の現在地</a:t>
            </a:r>
            <a:endParaRPr lang="ja-JP" altLang="en-US" sz="1300" dirty="0"/>
          </a:p>
        </p:txBody>
      </p:sp>
      <p:sp>
        <p:nvSpPr>
          <p:cNvPr id="9" name="見出し 集客フェーズの打ち手"/>
          <p:cNvSpPr/>
          <p:nvPr/>
        </p:nvSpPr>
        <p:spPr>
          <a:xfrm>
            <a:off x="5007836" y="1857894"/>
            <a:ext cx="4325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集客フェーズの打ち手</a:t>
            </a:r>
            <a:endParaRPr lang="ja-JP" altLang="en-US" sz="1300" dirty="0"/>
          </a:p>
        </p:txBody>
      </p:sp>
      <p:sp>
        <p:nvSpPr>
          <p:cNvPr id="10" name="打ち手1"/>
          <p:cNvSpPr/>
          <p:nvPr/>
        </p:nvSpPr>
        <p:spPr>
          <a:xfrm>
            <a:off x="5007836" y="226937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広告の改善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青森店の媒体配分とクリエイティブを見直し、来場予約のCPAを下げる</a:t>
            </a:r>
            <a:endParaRPr lang="ja-JP" altLang="en-US" sz="1300" dirty="0"/>
          </a:p>
        </p:txBody>
      </p:sp>
      <p:sp>
        <p:nvSpPr>
          <p:cNvPr id="11" name="打ち手2"/>
          <p:cNvSpPr/>
          <p:nvPr/>
        </p:nvSpPr>
        <p:spPr>
          <a:xfrm>
            <a:off x="5007836" y="332093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SEO</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青森・八戸・弘前の地域キーワードと、AI検索への対応で、家づくりを具体的に検討している方の流入を増やす</a:t>
            </a:r>
            <a:endParaRPr lang="ja-JP" altLang="en-US" sz="1300" dirty="0"/>
          </a:p>
        </p:txBody>
      </p:sp>
      <p:sp>
        <p:nvSpPr>
          <p:cNvPr id="12" name="矢印下"/>
          <p:cNvSpPr/>
          <p:nvPr/>
        </p:nvSpPr>
        <p:spPr>
          <a:xfrm>
            <a:off x="6987512" y="4299341"/>
            <a:ext cx="365760" cy="256032"/>
          </a:xfrm>
          <a:prstGeom prst="rect">
            <a:avLst/>
          </a:prstGeom>
          <a:noFill/>
          <a:ln>
            <a:noFill/>
          </a:ln>
        </p:spPr>
        <p:txBody>
          <a:bodyPr wrap="square" lIns="0" tIns="0" rIns="0" bIns="0" rtlCol="0" anchor="ctr">
            <a:noAutofit/>
          </a:bodyPr>
          <a:lstStyle/>
          <a:p>
            <a:pPr algn="ctr">
              <a:buNone/>
            </a:pPr>
            <a:r>
              <a:rPr lang="ja-JP" altLang="en-US" sz="13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結果"/>
          <p:cNvSpPr/>
          <p:nvPr/>
        </p:nvSpPr>
        <p:spPr>
          <a:xfrm>
            <a:off x="5007836" y="4573662"/>
            <a:ext cx="4325112" cy="566928"/>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質が高く、熱量の高い見込み客の流入が増える</a:t>
            </a:r>
            <a:endParaRPr lang="ja-JP" altLang="en-US" sz="1300" dirty="0"/>
          </a:p>
        </p:txBody>
      </p:sp>
      <p:graphicFrame>
        <p:nvGraphicFramePr>
          <p:cNvPr id="15" name="現在地 14"/>
          <p:cNvGraphicFramePr>
            <a:graphicFrameLocks noGrp="1"/>
          </p:cNvGraphicFramePr>
          <p:nvPr>
            <p:extLst>
              <p:ext uri="{D42A27DB-BD31-4B8C-83A1-F6EECF244321}">
                <p14:modId xmlns:p14="http://schemas.microsoft.com/office/powerpoint/2010/main" val="1648189534"/>
              </p:ext>
            </p:extLst>
          </p:nvPr>
        </p:nvGraphicFramePr>
        <p:xfrm>
          <a:off x="435836" y="2269374"/>
          <a:ext cx="4343400" cy="2904132"/>
        </p:xfrm>
        <a:graphic>
          <a:graphicData uri="http://schemas.openxmlformats.org/drawingml/2006/table">
            <a:tbl>
              <a:tblPr/>
              <a:tblGrid>
                <a:gridCol w="1417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（4展示場）</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目標 月50〜60件に対し、</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現状 月35〜40件</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来場予約のCPA</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Web広告で約30,000円</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（ポータル・特典費を含めると注文住宅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約50,000円）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青森店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予約のキャンセルが2〜3割</a:t>
                      </a:r>
                      <a:br>
                        <a:rPr lang="ja-JP" altLang="en-US" sz="1250" b="0" dirty="0">
                          <a:solidFill>
                            <a:srgbClr val="333333"/>
                          </a:solidFill>
                          <a:latin typeface="メイリオ" panose="020B0604030504040204" pitchFamily="50" charset="-128"/>
                          <a:ea typeface="メイリオ" panose="020B0604030504040204" pitchFamily="50" charset="-128"/>
                        </a:rPr>
                      </a:br>
                      <a:r>
                        <a:rPr lang="ja-JP" altLang="en-US" sz="1250" b="0" dirty="0">
                          <a:solidFill>
                            <a:srgbClr val="333333"/>
                          </a:solidFill>
                          <a:latin typeface="メイリオ" panose="020B0604030504040204" pitchFamily="50" charset="-128"/>
                          <a:ea typeface="メイリオ" panose="020B0604030504040204" pitchFamily="50" charset="-128"/>
                        </a:rPr>
                        <a:t>八戸・おいらせより認知が浅い</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自社サイトの</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資料請求</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月一桁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検索広告のCPA</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（9月）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14,796円 → 47,500円</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（前年同月比）</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LINE公式アカウントの現状：来場を決めた方へのご案内は整っている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実写真の配信と来場特典のご案内で、来場予約までの流れができている</a:t>
            </a:r>
            <a:endParaRPr lang="en-US" sz="1400" b="1" u="none" strike="noStrike" dirty="0">
              <a:effectLst/>
              <a:uFillTx/>
              <a:latin typeface="メイリオ"/>
            </a:endParaRPr>
          </a:p>
        </p:txBody>
      </p:sp>
      <p:graphicFrame>
        <p:nvGraphicFramePr>
          <p:cNvPr id="7" name="LINEの現状 6"/>
          <p:cNvGraphicFramePr>
            <a:graphicFrameLocks noGrp="1"/>
          </p:cNvGraphicFramePr>
          <p:nvPr>
            <p:extLst>
              <p:ext uri="{D42A27DB-BD31-4B8C-83A1-F6EECF244321}">
                <p14:modId xmlns:p14="http://schemas.microsoft.com/office/powerpoint/2010/main" val="4147098564"/>
              </p:ext>
            </p:extLst>
          </p:nvPr>
        </p:nvGraphicFramePr>
        <p:xfrm>
          <a:off x="379800" y="1691640"/>
          <a:ext cx="5883840" cy="3246119"/>
        </p:xfrm>
        <a:graphic>
          <a:graphicData uri="http://schemas.openxmlformats.org/drawingml/2006/table">
            <a:tbl>
              <a:tblPr/>
              <a:tblGrid>
                <a:gridCol w="1458804">
                  <a:extLst>
                    <a:ext uri="{9D8B030D-6E8A-4147-A177-3AD203B41FA5}">
                      <a16:colId xmlns:a16="http://schemas.microsoft.com/office/drawing/2014/main" val="20000"/>
                    </a:ext>
                  </a:extLst>
                </a:gridCol>
                <a:gridCol w="4425036">
                  <a:extLst>
                    <a:ext uri="{9D8B030D-6E8A-4147-A177-3AD203B41FA5}">
                      <a16:colId xmlns:a16="http://schemas.microsoft.com/office/drawing/2014/main" val="20001"/>
                    </a:ext>
                  </a:extLst>
                </a:gridCol>
              </a:tblGrid>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友だち数</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417人</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友だちの入口</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サイトのポップアップ「LINEお友だち登録キャンペーン」</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来場特典 最大7,000円分（予約来場 5,000円分＋友だち登録 2,000円分）</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配信</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見学会・来場予約のご案内が中心</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実写真の画像とカルーセルで、見学会の中身が伝わる作り</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予約／ホームページ／公式SNS</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2891">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1:1チャット</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担当者が返信する設定。個別のご相談を受けられる</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8" name="LINEの配信" descr="tanaka_line_talk.png"/>
          <p:cNvPicPr>
            <a:picLocks noChangeAspect="1"/>
          </p:cNvPicPr>
          <p:nvPr/>
        </p:nvPicPr>
        <p:blipFill>
          <a:blip r:embed="rId2"/>
          <a:stretch>
            <a:fillRect/>
          </a:stretch>
        </p:blipFill>
        <p:spPr>
          <a:xfrm>
            <a:off x="6355080" y="1691640"/>
            <a:ext cx="1371600" cy="2971800"/>
          </a:xfrm>
          <a:prstGeom prst="rect">
            <a:avLst/>
          </a:prstGeom>
        </p:spPr>
      </p:pic>
      <p:sp>
        <p:nvSpPr>
          <p:cNvPr id="9" name="画像の説明"/>
          <p:cNvSpPr/>
          <p:nvPr/>
        </p:nvSpPr>
        <p:spPr>
          <a:xfrm>
            <a:off x="6172200" y="4709160"/>
            <a:ext cx="1737360"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LINEの配信</a:t>
            </a:r>
            <a:endParaRPr lang="ja-JP" altLang="en-US" sz="1200" dirty="0"/>
          </a:p>
        </p:txBody>
      </p:sp>
      <p:pic>
        <p:nvPicPr>
          <p:cNvPr id="10" name="サイトのポップアップ" descr="tanaka_line_popup.png"/>
          <p:cNvPicPr>
            <a:picLocks noChangeAspect="1"/>
          </p:cNvPicPr>
          <p:nvPr/>
        </p:nvPicPr>
        <p:blipFill>
          <a:blip r:embed="rId3"/>
          <a:stretch>
            <a:fillRect/>
          </a:stretch>
        </p:blipFill>
        <p:spPr>
          <a:xfrm>
            <a:off x="7909560" y="1691640"/>
            <a:ext cx="1490472" cy="1545336"/>
          </a:xfrm>
          <a:prstGeom prst="rect">
            <a:avLst/>
          </a:prstGeom>
        </p:spPr>
      </p:pic>
      <p:sp>
        <p:nvSpPr>
          <p:cNvPr id="11" name="画像の説明"/>
          <p:cNvSpPr/>
          <p:nvPr/>
        </p:nvSpPr>
        <p:spPr>
          <a:xfrm>
            <a:off x="7818120" y="3291840"/>
            <a:ext cx="1673352"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サイトのポップアップ</a:t>
            </a:r>
            <a:endParaRPr lang="ja-JP" altLang="en-US" sz="1200" dirty="0"/>
          </a:p>
        </p:txBody>
      </p:sp>
      <p:sp>
        <p:nvSpPr>
          <p:cNvPr id="12"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※2026年10月時点で、貴社のLINE公式アカウントとサイトを弊社で確認</a:t>
            </a:r>
            <a:endParaRPr lang="ja-JP" alt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競合のLINE運用：大進建設は特典で、資料請求から事前審査まで後押しする</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大進建設を中心に、一条工務店・セキスイハイムの友だち追加の入口とあいさつを、実際の画面で見る</a:t>
            </a:r>
            <a:endParaRPr lang="en-US" sz="1400" b="1" u="none" strike="noStrike" dirty="0">
              <a:effectLst/>
              <a:uFillTx/>
              <a:latin typeface="メイリオ"/>
              <a:ea typeface="メイリオ"/>
              <a:cs typeface="メイリオ"/>
            </a:endParaRPr>
          </a:p>
        </p:txBody>
      </p:sp>
      <p:pic>
        <p:nvPicPr>
          <p:cNvPr id="8" name="大進建設のポップアップ" descr="大進建設_LINE登録キャンペーン_20261016.png"/>
          <p:cNvPicPr>
            <a:picLocks noChangeAspect="1"/>
          </p:cNvPicPr>
          <p:nvPr/>
        </p:nvPicPr>
        <p:blipFill>
          <a:blip r:embed="rId2"/>
          <a:stretch>
            <a:fillRect/>
          </a:stretch>
        </p:blipFill>
        <p:spPr>
          <a:xfrm>
            <a:off x="411480" y="2340864"/>
            <a:ext cx="1600200" cy="1600200"/>
          </a:xfrm>
          <a:prstGeom prst="rect">
            <a:avLst/>
          </a:prstGeom>
        </p:spPr>
      </p:pic>
      <p:sp>
        <p:nvSpPr>
          <p:cNvPr id="9" name="会社 大進建設"/>
          <p:cNvSpPr/>
          <p:nvPr/>
        </p:nvSpPr>
        <p:spPr>
          <a:xfrm>
            <a:off x="411480" y="1481328"/>
            <a:ext cx="557784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00" dirty="0">
              <a:latin typeface="メイリオ"/>
              <a:ea typeface="メイリオ"/>
              <a:cs typeface="メイリオ"/>
            </a:endParaRPr>
          </a:p>
        </p:txBody>
      </p:sp>
      <p:sp>
        <p:nvSpPr>
          <p:cNvPr id="10" name="会社 ほかの大手"/>
          <p:cNvSpPr/>
          <p:nvPr/>
        </p:nvSpPr>
        <p:spPr>
          <a:xfrm>
            <a:off x="6217920" y="1481328"/>
            <a:ext cx="3273552" cy="329184"/>
          </a:xfrm>
          <a:prstGeom prst="rect">
            <a:avLst/>
          </a:prstGeom>
          <a:solidFill>
            <a:srgbClr val="7F7F7F"/>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ほかの大手（参考）</a:t>
            </a:r>
            <a:endParaRPr lang="ja-JP" altLang="en-US" sz="1200" dirty="0">
              <a:latin typeface="メイリオ"/>
              <a:ea typeface="メイリオ"/>
              <a:cs typeface="メイリオ"/>
            </a:endParaRPr>
          </a:p>
        </p:txBody>
      </p:sp>
      <p:sp>
        <p:nvSpPr>
          <p:cNvPr id="11" name="見出し 入口と特典&#10;（サイト）"/>
          <p:cNvSpPr/>
          <p:nvPr/>
        </p:nvSpPr>
        <p:spPr>
          <a:xfrm>
            <a:off x="411480" y="1874519"/>
            <a:ext cx="160020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入口と特典</a:t>
            </a:r>
            <a:endParaRPr lang="ja-JP" altLang="en-US" sz="1200" dirty="0">
              <a:latin typeface="メイリオ"/>
              <a:ea typeface="メイリオ"/>
              <a:cs typeface="メイリオ"/>
            </a:endParaRPr>
          </a:p>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a:t>
            </a:r>
            <a:endParaRPr lang="ja-JP" altLang="en-US" sz="1200" dirty="0">
              <a:latin typeface="メイリオ"/>
              <a:ea typeface="メイリオ"/>
              <a:cs typeface="メイリオ"/>
            </a:endParaRPr>
          </a:p>
        </p:txBody>
      </p:sp>
      <p:sp>
        <p:nvSpPr>
          <p:cNvPr id="12" name="画面の説明"/>
          <p:cNvSpPr/>
          <p:nvPr/>
        </p:nvSpPr>
        <p:spPr>
          <a:xfrm>
            <a:off x="411480" y="4023360"/>
            <a:ext cx="1600200" cy="548640"/>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LINE登録で</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最大4万円分</a:t>
            </a:r>
            <a:endParaRPr lang="ja-JP" altLang="en-US" sz="1200" dirty="0">
              <a:latin typeface="メイリオ"/>
              <a:ea typeface="メイリオ"/>
              <a:cs typeface="メイリオ"/>
            </a:endParaRPr>
          </a:p>
        </p:txBody>
      </p:sp>
      <p:sp>
        <p:nvSpPr>
          <p:cNvPr id="13" name="見出し あいさつ"/>
          <p:cNvSpPr/>
          <p:nvPr/>
        </p:nvSpPr>
        <p:spPr>
          <a:xfrm>
            <a:off x="2148840" y="1874519"/>
            <a:ext cx="182880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pic>
        <p:nvPicPr>
          <p:cNvPr id="14" name="大進建設のあいさつ" descr="tanaka_line_daishin_aisatsu.png"/>
          <p:cNvPicPr>
            <a:picLocks noChangeAspect="1"/>
          </p:cNvPicPr>
          <p:nvPr/>
        </p:nvPicPr>
        <p:blipFill>
          <a:blip r:embed="rId3"/>
          <a:stretch>
            <a:fillRect/>
          </a:stretch>
        </p:blipFill>
        <p:spPr>
          <a:xfrm>
            <a:off x="2400300" y="2340864"/>
            <a:ext cx="1325880" cy="2871216"/>
          </a:xfrm>
          <a:prstGeom prst="rect">
            <a:avLst/>
          </a:prstGeom>
          <a:ln w="9525">
            <a:solidFill>
              <a:srgbClr val="BFBFBF"/>
            </a:solidFill>
          </a:ln>
        </p:spPr>
      </p:pic>
      <p:sp>
        <p:nvSpPr>
          <p:cNvPr id="15" name="画面の説明"/>
          <p:cNvSpPr/>
          <p:nvPr/>
        </p:nvSpPr>
        <p:spPr>
          <a:xfrm>
            <a:off x="2148840" y="5266944"/>
            <a:ext cx="182880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お名前入りのあいさつと、キャンペーンの案内</a:t>
            </a:r>
            <a:endParaRPr lang="ja-JP" altLang="en-US" sz="1200" dirty="0">
              <a:latin typeface="メイリオ"/>
              <a:ea typeface="メイリオ"/>
              <a:cs typeface="メイリオ"/>
            </a:endParaRPr>
          </a:p>
        </p:txBody>
      </p:sp>
      <p:sp>
        <p:nvSpPr>
          <p:cNvPr id="16" name="見出し リッチメニュー"/>
          <p:cNvSpPr/>
          <p:nvPr/>
        </p:nvSpPr>
        <p:spPr>
          <a:xfrm>
            <a:off x="4114800" y="1874519"/>
            <a:ext cx="1874519"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00" dirty="0">
              <a:latin typeface="メイリオ"/>
              <a:ea typeface="メイリオ"/>
              <a:cs typeface="メイリオ"/>
            </a:endParaRPr>
          </a:p>
        </p:txBody>
      </p:sp>
      <p:sp>
        <p:nvSpPr>
          <p:cNvPr id="18" name="見出し 一条工務店"/>
          <p:cNvSpPr/>
          <p:nvPr/>
        </p:nvSpPr>
        <p:spPr>
          <a:xfrm>
            <a:off x="6217920" y="1874519"/>
            <a:ext cx="3273552" cy="347472"/>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一条工務店</a:t>
            </a:r>
            <a:endParaRPr lang="ja-JP" altLang="en-US" sz="1200" dirty="0">
              <a:latin typeface="メイリオ"/>
              <a:ea typeface="メイリオ"/>
              <a:cs typeface="メイリオ"/>
            </a:endParaRPr>
          </a:p>
        </p:txBody>
      </p:sp>
      <p:pic>
        <p:nvPicPr>
          <p:cNvPr id="19" name="Picture 18" descr="tanaka_line_ichijo_top.png"/>
          <p:cNvPicPr>
            <a:picLocks noChangeAspect="1"/>
          </p:cNvPicPr>
          <p:nvPr/>
        </p:nvPicPr>
        <p:blipFill>
          <a:blip r:embed="rId4"/>
          <a:stretch>
            <a:fillRect/>
          </a:stretch>
        </p:blipFill>
        <p:spPr>
          <a:xfrm>
            <a:off x="6263640" y="2286000"/>
            <a:ext cx="868680" cy="1883664"/>
          </a:xfrm>
          <a:prstGeom prst="rect">
            <a:avLst/>
          </a:prstGeom>
          <a:ln w="9525">
            <a:solidFill>
              <a:srgbClr val="BFBFBF"/>
            </a:solidFill>
          </a:ln>
        </p:spPr>
      </p:pic>
      <p:sp>
        <p:nvSpPr>
          <p:cNvPr id="20" name="画面の説明"/>
          <p:cNvSpPr/>
          <p:nvPr/>
        </p:nvSpPr>
        <p:spPr>
          <a:xfrm>
            <a:off x="8183879" y="2286000"/>
            <a:ext cx="1307592" cy="1883664"/>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1分のアンケートへ案内。メニューに性能・暮らし・実例</a:t>
            </a:r>
            <a:endParaRPr lang="ja-JP" altLang="en-US" sz="1200" dirty="0">
              <a:latin typeface="メイリオ"/>
              <a:ea typeface="メイリオ"/>
              <a:cs typeface="メイリオ"/>
            </a:endParaRPr>
          </a:p>
        </p:txBody>
      </p:sp>
      <p:sp>
        <p:nvSpPr>
          <p:cNvPr id="21" name="見出し セキスイハイム"/>
          <p:cNvSpPr/>
          <p:nvPr/>
        </p:nvSpPr>
        <p:spPr>
          <a:xfrm>
            <a:off x="6217920" y="4343400"/>
            <a:ext cx="3273552" cy="347472"/>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セキスイハイム</a:t>
            </a:r>
            <a:endParaRPr lang="ja-JP" altLang="en-US" sz="1200" dirty="0">
              <a:latin typeface="メイリオ"/>
              <a:ea typeface="メイリオ"/>
              <a:cs typeface="メイリオ"/>
            </a:endParaRPr>
          </a:p>
        </p:txBody>
      </p:sp>
      <p:pic>
        <p:nvPicPr>
          <p:cNvPr id="22" name="Picture 21" descr="tanaka_line_ichijo_contents.png"/>
          <p:cNvPicPr>
            <a:picLocks noChangeAspect="1"/>
          </p:cNvPicPr>
          <p:nvPr/>
        </p:nvPicPr>
        <p:blipFill>
          <a:blip r:embed="rId5"/>
          <a:stretch>
            <a:fillRect/>
          </a:stretch>
        </p:blipFill>
        <p:spPr>
          <a:xfrm>
            <a:off x="7223760" y="2286000"/>
            <a:ext cx="868680" cy="1883664"/>
          </a:xfrm>
          <a:prstGeom prst="rect">
            <a:avLst/>
          </a:prstGeom>
          <a:ln w="9525">
            <a:solidFill>
              <a:srgbClr val="BFBFBF"/>
            </a:solidFill>
          </a:ln>
        </p:spPr>
      </p:pic>
      <p:sp>
        <p:nvSpPr>
          <p:cNvPr id="23" name="画面の説明"/>
          <p:cNvSpPr/>
          <p:nvPr/>
        </p:nvSpPr>
        <p:spPr>
          <a:xfrm>
            <a:off x="6217920" y="4754880"/>
            <a:ext cx="3273552" cy="548640"/>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LINEで、カタログ無料診断・無料間取り作成を案内</a:t>
            </a:r>
            <a:endParaRPr lang="ja-JP" altLang="en-US" sz="1200" dirty="0">
              <a:latin typeface="メイリオ"/>
              <a:ea typeface="メイリオ"/>
              <a:cs typeface="メイリオ"/>
            </a:endParaRPr>
          </a:p>
        </p:txBody>
      </p:sp>
      <p:sp>
        <p:nvSpPr>
          <p:cNvPr id="26" name="区切り"/>
          <p:cNvSpPr/>
          <p:nvPr/>
        </p:nvSpPr>
        <p:spPr>
          <a:xfrm>
            <a:off x="6080760" y="1481328"/>
            <a:ext cx="9144" cy="4526280"/>
          </a:xfrm>
          <a:prstGeom prst="rect">
            <a:avLst/>
          </a:prstGeom>
          <a:solidFill>
            <a:srgbClr val="D9D9D9"/>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27" name="注記"/>
          <p:cNvSpPr/>
          <p:nvPr/>
        </p:nvSpPr>
        <p:spPr>
          <a:xfrm>
            <a:off x="502920" y="6053328"/>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※各社のLINE公式アカウントより（大進建設 2026年10月21日、一条工務店 2026年10月19日、セキスイハイム 2026年10月16日確認）。サイトのポップアップは大進建設の公式サイトより（2026年10月16日確認）</a:t>
            </a:r>
            <a:endParaRPr lang="ja-JP" altLang="en-US" sz="1200" dirty="0">
              <a:latin typeface="メイリオ"/>
              <a:ea typeface="メイリオ"/>
              <a:cs typeface="メイリオ"/>
            </a:endParaRPr>
          </a:p>
        </p:txBody>
      </p:sp>
      <p:pic>
        <p:nvPicPr>
          <p:cNvPr id="28" name="大進建設のキャンペーンとリッチメニュー" descr="tanaka_line_daishin_aisatsu.png"/>
          <p:cNvPicPr>
            <a:picLocks noChangeAspect="1"/>
          </p:cNvPicPr>
          <p:nvPr/>
        </p:nvPicPr>
        <p:blipFill>
          <a:blip r:embed="rId6"/>
          <a:stretch>
            <a:fillRect/>
          </a:stretch>
        </p:blipFill>
        <p:spPr>
          <a:xfrm>
            <a:off x="4389120" y="2340864"/>
            <a:ext cx="1325880" cy="2871216"/>
          </a:xfrm>
          <a:prstGeom prst="rect">
            <a:avLst/>
          </a:prstGeom>
          <a:ln w="9525">
            <a:solidFill>
              <a:srgbClr val="BFBFBF"/>
            </a:solidFill>
          </a:ln>
        </p:spPr>
      </p:pic>
      <p:sp>
        <p:nvSpPr>
          <p:cNvPr id="29" name="画面の説明"/>
          <p:cNvSpPr/>
          <p:nvPr/>
        </p:nvSpPr>
        <p:spPr>
          <a:xfrm>
            <a:off x="4069080" y="5266944"/>
            <a:ext cx="196596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資料請求・モデルハウス・</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イベント・土地情報</a:t>
            </a:r>
            <a:endParaRPr lang="ja-JP" altLang="en-US" sz="1200" dirty="0">
              <a:latin typeface="メイリオ"/>
              <a:ea typeface="メイリオ"/>
              <a:cs typeface="メイリオ"/>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競合の取り組みに対して：LINEで、タナカホームを選ぶ理由を届ける</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特典で事前審査まで後押しする大進建設に対し、資料請求の前から契約まで追う設計で応える</a:t>
            </a:r>
            <a:endParaRPr lang="en-US" sz="1400" b="1" u="none" strike="noStrike" dirty="0">
              <a:effectLst/>
              <a:uFillTx/>
              <a:latin typeface="メイリオ"/>
              <a:ea typeface="メイリオ"/>
              <a:cs typeface="メイリオ"/>
            </a:endParaRPr>
          </a:p>
        </p:txBody>
      </p:sp>
      <p:sp>
        <p:nvSpPr>
          <p:cNvPr id="8" name="示唆"/>
          <p:cNvSpPr/>
          <p:nvPr/>
        </p:nvSpPr>
        <p:spPr>
          <a:xfrm>
            <a:off x="502920" y="534924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ポイントは、比べられている間に、</a:t>
            </a:r>
            <a:r>
              <a:rPr lang="ja-JP" altLang="en-US" sz="1300" b="1" dirty="0">
                <a:solidFill>
                  <a:srgbClr val="C00000"/>
                </a:solidFill>
                <a:latin typeface="メイリオ" panose="020B0604030504040204" pitchFamily="50" charset="-128"/>
                <a:ea typeface="メイリオ" panose="020B0604030504040204" pitchFamily="50" charset="-128"/>
                <a:cs typeface="メイリオ"/>
              </a:rPr>
              <a:t>タナカホームを選ぶ理由を届けられること</a:t>
            </a:r>
            <a:endParaRPr lang="ja-JP" altLang="en-US" sz="1200" dirty="0">
              <a:latin typeface="メイリオ"/>
              <a:ea typeface="メイリオ"/>
              <a:cs typeface="メイリオ"/>
            </a:endParaRPr>
          </a:p>
        </p:txBody>
      </p:sp>
      <p:sp>
        <p:nvSpPr>
          <p:cNvPr id="12" name="注記"/>
          <p:cNvSpPr/>
          <p:nvPr/>
        </p:nvSpPr>
        <p:spPr>
          <a:xfrm>
            <a:off x="502920" y="6035040"/>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※各社のLINE公式アカウントより（大進建設 2026年10月21日、一条工務店 2026年10月19日確認）。入口・ポップアップは各社の公式サイトより（2026年10月16日確認）</a:t>
            </a:r>
            <a:endParaRPr lang="ja-JP" altLang="en-US" sz="1200" dirty="0">
              <a:latin typeface="メイリオ"/>
              <a:ea typeface="メイリオ"/>
              <a:cs typeface="メイリオ"/>
            </a:endParaRPr>
          </a:p>
        </p:txBody>
      </p:sp>
      <p:sp>
        <p:nvSpPr>
          <p:cNvPr id="13" name="会社 大進建設"/>
          <p:cNvSpPr/>
          <p:nvPr/>
        </p:nvSpPr>
        <p:spPr>
          <a:xfrm>
            <a:off x="502920" y="1572768"/>
            <a:ext cx="3401568" cy="329184"/>
          </a:xfrm>
          <a:prstGeom prst="rect">
            <a:avLst/>
          </a:prstGeom>
          <a:solidFill>
            <a:srgbClr val="7F7F7F"/>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00" dirty="0">
              <a:latin typeface="メイリオ"/>
              <a:ea typeface="メイリオ"/>
              <a:cs typeface="メイリオ"/>
            </a:endParaRPr>
          </a:p>
        </p:txBody>
      </p:sp>
      <p:sp>
        <p:nvSpPr>
          <p:cNvPr id="14" name="会社 タナカホーム"/>
          <p:cNvSpPr/>
          <p:nvPr/>
        </p:nvSpPr>
        <p:spPr>
          <a:xfrm>
            <a:off x="5971032" y="1572768"/>
            <a:ext cx="342900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タナカホーム（弊社の運用でつくる形）</a:t>
            </a:r>
            <a:endParaRPr lang="ja-JP" altLang="en-US" sz="1200" dirty="0">
              <a:latin typeface="メイリオ"/>
              <a:ea typeface="メイリオ"/>
              <a:cs typeface="メイリオ"/>
            </a:endParaRPr>
          </a:p>
        </p:txBody>
      </p:sp>
      <p:sp>
        <p:nvSpPr>
          <p:cNvPr id="15" name="項目 友だちになるきっかけ"/>
          <p:cNvSpPr/>
          <p:nvPr/>
        </p:nvSpPr>
        <p:spPr>
          <a:xfrm>
            <a:off x="4023360" y="208483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友だちになるきっかけ</a:t>
            </a:r>
            <a:endParaRPr lang="ja-JP" altLang="en-US" sz="1200" dirty="0">
              <a:latin typeface="メイリオ"/>
              <a:ea typeface="メイリオ"/>
              <a:cs typeface="メイリオ"/>
            </a:endParaRPr>
          </a:p>
        </p:txBody>
      </p:sp>
      <p:sp>
        <p:nvSpPr>
          <p:cNvPr id="16" name="大進建設"/>
          <p:cNvSpPr/>
          <p:nvPr/>
        </p:nvSpPr>
        <p:spPr>
          <a:xfrm>
            <a:off x="502920" y="201168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LINE登録で最大4万円分のギフトカード</a:t>
            </a:r>
            <a:endParaRPr lang="ja-JP" altLang="en-US" sz="1200" dirty="0">
              <a:latin typeface="メイリオ"/>
              <a:ea typeface="メイリオ"/>
              <a:cs typeface="メイリオ"/>
            </a:endParaRPr>
          </a:p>
        </p:txBody>
      </p:sp>
      <p:sp>
        <p:nvSpPr>
          <p:cNvPr id="17" name="タナカホーム"/>
          <p:cNvSpPr/>
          <p:nvPr/>
        </p:nvSpPr>
        <p:spPr>
          <a:xfrm>
            <a:off x="5971032" y="201168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来場特典に加え、</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施工事例・ルームツアーなどの情報</a:t>
            </a:r>
            <a:endParaRPr lang="ja-JP" altLang="en-US" sz="1200" dirty="0">
              <a:latin typeface="メイリオ"/>
              <a:ea typeface="メイリオ"/>
              <a:cs typeface="メイリオ"/>
            </a:endParaRPr>
          </a:p>
        </p:txBody>
      </p:sp>
      <p:cxnSp>
        <p:nvCxnSpPr>
          <p:cNvPr id="18" name="項目の区切り"/>
          <p:cNvCxnSpPr/>
          <p:nvPr/>
        </p:nvCxnSpPr>
        <p:spPr>
          <a:xfrm>
            <a:off x="502920" y="260604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項目 友だちの入口"/>
          <p:cNvSpPr/>
          <p:nvPr/>
        </p:nvSpPr>
        <p:spPr>
          <a:xfrm>
            <a:off x="4023360" y="272491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友だちの入口</a:t>
            </a:r>
            <a:endParaRPr lang="ja-JP" altLang="en-US" sz="1200" dirty="0">
              <a:latin typeface="メイリオ"/>
              <a:ea typeface="メイリオ"/>
              <a:cs typeface="メイリオ"/>
            </a:endParaRPr>
          </a:p>
        </p:txBody>
      </p:sp>
      <p:sp>
        <p:nvSpPr>
          <p:cNvPr id="20" name="大進建設"/>
          <p:cNvSpPr/>
          <p:nvPr/>
        </p:nvSpPr>
        <p:spPr>
          <a:xfrm>
            <a:off x="502920" y="265176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サイトのポップアップ</a:t>
            </a:r>
            <a:endParaRPr lang="ja-JP" altLang="en-US" sz="1200" dirty="0">
              <a:latin typeface="メイリオ"/>
              <a:ea typeface="メイリオ"/>
              <a:cs typeface="メイリオ"/>
            </a:endParaRPr>
          </a:p>
        </p:txBody>
      </p:sp>
      <p:sp>
        <p:nvSpPr>
          <p:cNvPr id="21" name="タナカホーム"/>
          <p:cNvSpPr/>
          <p:nvPr/>
        </p:nvSpPr>
        <p:spPr>
          <a:xfrm>
            <a:off x="5971032" y="265176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サイトのポップアップ＋</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サイトを閉じるとき・資料請求の完了直後</a:t>
            </a:r>
            <a:endParaRPr lang="ja-JP" altLang="en-US" sz="1200" dirty="0">
              <a:latin typeface="メイリオ"/>
              <a:ea typeface="メイリオ"/>
              <a:cs typeface="メイリオ"/>
            </a:endParaRPr>
          </a:p>
        </p:txBody>
      </p:sp>
      <p:cxnSp>
        <p:nvCxnSpPr>
          <p:cNvPr id="22" name="項目の区切り"/>
          <p:cNvCxnSpPr/>
          <p:nvPr/>
        </p:nvCxnSpPr>
        <p:spPr>
          <a:xfrm>
            <a:off x="502920" y="324612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項目 あいさつ"/>
          <p:cNvSpPr/>
          <p:nvPr/>
        </p:nvSpPr>
        <p:spPr>
          <a:xfrm>
            <a:off x="4023360" y="336499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sp>
        <p:nvSpPr>
          <p:cNvPr id="24" name="大進建設"/>
          <p:cNvSpPr/>
          <p:nvPr/>
        </p:nvSpPr>
        <p:spPr>
          <a:xfrm>
            <a:off x="502920" y="329184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お名前入りのあいさつと、キャンペーンの案内。</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「まずは資料請求から」</a:t>
            </a:r>
            <a:endParaRPr lang="ja-JP" altLang="en-US" sz="1200" dirty="0">
              <a:latin typeface="メイリオ"/>
              <a:ea typeface="メイリオ"/>
              <a:cs typeface="メイリオ"/>
            </a:endParaRPr>
          </a:p>
        </p:txBody>
      </p:sp>
      <p:sp>
        <p:nvSpPr>
          <p:cNvPr id="25" name="タナカホーム"/>
          <p:cNvSpPr/>
          <p:nvPr/>
        </p:nvSpPr>
        <p:spPr>
          <a:xfrm>
            <a:off x="5971032" y="329184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予約の案内に加え、</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平屋か2階建てか・予算の簡易診断へ</a:t>
            </a:r>
            <a:endParaRPr lang="ja-JP" altLang="en-US" sz="1200" dirty="0">
              <a:latin typeface="メイリオ"/>
              <a:ea typeface="メイリオ"/>
              <a:cs typeface="メイリオ"/>
            </a:endParaRPr>
          </a:p>
        </p:txBody>
      </p:sp>
      <p:cxnSp>
        <p:nvCxnSpPr>
          <p:cNvPr id="26" name="項目の区切り"/>
          <p:cNvCxnSpPr/>
          <p:nvPr/>
        </p:nvCxnSpPr>
        <p:spPr>
          <a:xfrm>
            <a:off x="502920" y="388620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項目 リッチメニュー"/>
          <p:cNvSpPr/>
          <p:nvPr/>
        </p:nvSpPr>
        <p:spPr>
          <a:xfrm>
            <a:off x="4023360" y="400507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00" dirty="0">
              <a:latin typeface="メイリオ"/>
              <a:ea typeface="メイリオ"/>
              <a:cs typeface="メイリオ"/>
            </a:endParaRPr>
          </a:p>
        </p:txBody>
      </p:sp>
      <p:sp>
        <p:nvSpPr>
          <p:cNvPr id="28" name="大進建設"/>
          <p:cNvSpPr/>
          <p:nvPr/>
        </p:nvSpPr>
        <p:spPr>
          <a:xfrm>
            <a:off x="502920" y="393192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キャンペーン・資料請求・モデルハウス・</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イベント・土地情報</a:t>
            </a:r>
            <a:endParaRPr lang="ja-JP" altLang="en-US" sz="1200" dirty="0">
              <a:latin typeface="メイリオ"/>
              <a:ea typeface="メイリオ"/>
              <a:cs typeface="メイリオ"/>
            </a:endParaRPr>
          </a:p>
        </p:txBody>
      </p:sp>
      <p:sp>
        <p:nvSpPr>
          <p:cNvPr id="29" name="タナカホーム"/>
          <p:cNvSpPr/>
          <p:nvPr/>
        </p:nvSpPr>
        <p:spPr>
          <a:xfrm>
            <a:off x="5971032" y="393192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今の予約・ホームページ・SNSに、</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施工事例・ルームツアー・資金相談を足す</a:t>
            </a:r>
            <a:endParaRPr lang="ja-JP" altLang="en-US" sz="1200" dirty="0">
              <a:latin typeface="メイリオ"/>
              <a:ea typeface="メイリオ"/>
              <a:cs typeface="メイリオ"/>
            </a:endParaRPr>
          </a:p>
        </p:txBody>
      </p:sp>
      <p:cxnSp>
        <p:nvCxnSpPr>
          <p:cNvPr id="30" name="項目の区切り"/>
          <p:cNvCxnSpPr/>
          <p:nvPr/>
        </p:nvCxnSpPr>
        <p:spPr>
          <a:xfrm>
            <a:off x="502920" y="452628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項目 どこまで追うか"/>
          <p:cNvSpPr/>
          <p:nvPr/>
        </p:nvSpPr>
        <p:spPr>
          <a:xfrm>
            <a:off x="4023360" y="4645152"/>
            <a:ext cx="1828800" cy="402335"/>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どこまで追うか</a:t>
            </a:r>
            <a:endParaRPr lang="ja-JP" altLang="en-US" sz="1200" dirty="0">
              <a:latin typeface="メイリオ"/>
              <a:ea typeface="メイリオ"/>
              <a:cs typeface="メイリオ"/>
            </a:endParaRPr>
          </a:p>
        </p:txBody>
      </p:sp>
      <p:sp>
        <p:nvSpPr>
          <p:cNvPr id="32" name="大進建設"/>
          <p:cNvSpPr/>
          <p:nvPr/>
        </p:nvSpPr>
        <p:spPr>
          <a:xfrm>
            <a:off x="502920" y="457200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特典で、資料請求・予約来場から、</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来場後の事前審査まで</a:t>
            </a:r>
            <a:endParaRPr lang="ja-JP" altLang="en-US" sz="1200" dirty="0">
              <a:latin typeface="メイリオ"/>
              <a:ea typeface="メイリオ"/>
              <a:cs typeface="メイリオ"/>
            </a:endParaRPr>
          </a:p>
        </p:txBody>
      </p:sp>
      <p:sp>
        <p:nvSpPr>
          <p:cNvPr id="33" name="タナカホーム"/>
          <p:cNvSpPr/>
          <p:nvPr/>
        </p:nvSpPr>
        <p:spPr>
          <a:xfrm>
            <a:off x="5971032" y="457200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弊社が運用を代行して、</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資料請求の前から契約まで追う設計にする</a:t>
            </a:r>
            <a:endParaRPr lang="ja-JP" altLang="en-US" sz="1200" dirty="0">
              <a:latin typeface="メイリオ"/>
              <a:ea typeface="メイリオ"/>
              <a:cs typeface="メイリオ"/>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課題：来場を決める前の検討中の方と、LINEでつながれていない</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サイトに来た方の多くは、来場予約も資料請求もせずに離れている</a:t>
            </a:r>
            <a:endParaRPr lang="en-US" sz="1400" b="1" u="none" strike="noStrike" dirty="0">
              <a:effectLst/>
              <a:uFillTx/>
              <a:latin typeface="メイリオ"/>
            </a:endParaRPr>
          </a:p>
        </p:txBody>
      </p:sp>
      <p:sp>
        <p:nvSpPr>
          <p:cNvPr id="7" name="流れ1"/>
          <p:cNvSpPr/>
          <p:nvPr/>
        </p:nvSpPr>
        <p:spPr>
          <a:xfrm>
            <a:off x="50292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流入</a:t>
            </a:r>
            <a:endParaRPr lang="ja-JP" altLang="en-US" sz="1300" dirty="0"/>
          </a:p>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広告・SEO・ポータル</a:t>
            </a:r>
            <a:endParaRPr lang="ja-JP" altLang="en-US" sz="1300" dirty="0"/>
          </a:p>
        </p:txBody>
      </p:sp>
      <p:sp>
        <p:nvSpPr>
          <p:cNvPr id="8" name="矢印"/>
          <p:cNvSpPr/>
          <p:nvPr/>
        </p:nvSpPr>
        <p:spPr>
          <a:xfrm>
            <a:off x="250774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80035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4805172"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5097779"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来場予約・来場</a:t>
            </a:r>
            <a:endParaRPr lang="ja-JP" altLang="en-US" sz="1300" dirty="0"/>
          </a:p>
        </p:txBody>
      </p:sp>
      <p:sp>
        <p:nvSpPr>
          <p:cNvPr id="12" name="矢印"/>
          <p:cNvSpPr/>
          <p:nvPr/>
        </p:nvSpPr>
        <p:spPr>
          <a:xfrm>
            <a:off x="710260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739521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商談・契約</a:t>
            </a:r>
            <a:endParaRPr lang="ja-JP" altLang="en-US" sz="1300" dirty="0"/>
          </a:p>
        </p:txBody>
      </p:sp>
      <p:sp>
        <p:nvSpPr>
          <p:cNvPr id="14" name="状態1"/>
          <p:cNvSpPr/>
          <p:nvPr/>
        </p:nvSpPr>
        <p:spPr>
          <a:xfrm>
            <a:off x="50292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検討の動き</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来場を決めるまでの間、複数の会社を比べ、費用や性能を調べ続ける</a:t>
            </a:r>
            <a:endParaRPr lang="ja-JP" altLang="en-US" sz="1400" dirty="0"/>
          </a:p>
        </p:txBody>
      </p:sp>
      <p:sp>
        <p:nvSpPr>
          <p:cNvPr id="15" name="状態2"/>
          <p:cNvSpPr/>
          <p:nvPr/>
        </p:nvSpPr>
        <p:spPr>
          <a:xfrm>
            <a:off x="280035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資料請求の後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今の友だち登録のご案内は来場特典とセット。来場を決める前の方には、友だちになる理由がない</a:t>
            </a:r>
            <a:endParaRPr lang="ja-JP" altLang="en-US" sz="1400" dirty="0"/>
          </a:p>
        </p:txBody>
      </p:sp>
      <p:sp>
        <p:nvSpPr>
          <p:cNvPr id="16" name="状態3"/>
          <p:cNvSpPr/>
          <p:nvPr/>
        </p:nvSpPr>
        <p:spPr>
          <a:xfrm>
            <a:off x="5097779"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LINEで見学会・来場予約をご案内できている</a:t>
            </a:r>
            <a:endParaRPr lang="ja-JP" altLang="en-US" sz="1400" dirty="0"/>
          </a:p>
        </p:txBody>
      </p:sp>
      <p:sp>
        <p:nvSpPr>
          <p:cNvPr id="17" name="状態4"/>
          <p:cNvSpPr/>
          <p:nvPr/>
        </p:nvSpPr>
        <p:spPr>
          <a:xfrm>
            <a:off x="739521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競合（一条工務店・大進建設）と比べながら、契約まで検討が続く</a:t>
            </a:r>
            <a:endParaRPr lang="ja-JP" altLang="en-US" sz="1400" dirty="0"/>
          </a:p>
        </p:txBody>
      </p:sp>
      <p:sp>
        <p:nvSpPr>
          <p:cNvPr id="18" name="範囲 これから"/>
          <p:cNvSpPr/>
          <p:nvPr/>
        </p:nvSpPr>
        <p:spPr>
          <a:xfrm>
            <a:off x="502920" y="4069080"/>
            <a:ext cx="4302252" cy="548640"/>
          </a:xfrm>
          <a:prstGeom prst="rect">
            <a:avLst/>
          </a:prstGeom>
          <a:solidFill>
            <a:srgbClr val="F4F7FF"/>
          </a:solidFill>
          <a:ln w="9525">
            <a:solidFill>
              <a:srgbClr val="1F285A"/>
            </a:solidFill>
            <a:prstDash val="dash"/>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来場を決める前：LINEでつながる入口がまだない</a:t>
            </a:r>
            <a:endParaRPr lang="ja-JP" altLang="en-US" sz="1400" dirty="0"/>
          </a:p>
        </p:txBody>
      </p:sp>
      <p:sp>
        <p:nvSpPr>
          <p:cNvPr id="19" name="範囲 今"/>
          <p:cNvSpPr/>
          <p:nvPr/>
        </p:nvSpPr>
        <p:spPr>
          <a:xfrm>
            <a:off x="5097780" y="4069080"/>
            <a:ext cx="4302252" cy="54864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来場を決めた後：今のLINEがご案内している範囲</a:t>
            </a:r>
            <a:endParaRPr lang="ja-JP" altLang="en-US" sz="1400" dirty="0"/>
          </a:p>
        </p:txBody>
      </p:sp>
      <p:sp>
        <p:nvSpPr>
          <p:cNvPr id="20"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課題は配信の中身ではなく、</a:t>
            </a:r>
            <a:r>
              <a:rPr lang="ja-JP" altLang="en-US" sz="1400" b="1" dirty="0">
                <a:solidFill>
                  <a:srgbClr val="C00000"/>
                </a:solidFill>
                <a:latin typeface="メイリオ" panose="020B0604030504040204" pitchFamily="50" charset="-128"/>
                <a:ea typeface="メイリオ" panose="020B0604030504040204" pitchFamily="50" charset="-128"/>
              </a:rPr>
              <a:t>LINEでつながっている範囲にある</a:t>
            </a:r>
            <a:endParaRPr lang="ja-JP" altLang="en-US" sz="1400" dirty="0"/>
          </a:p>
        </p:txBody>
      </p:sp>
      <p:sp>
        <p:nvSpPr>
          <p:cNvPr id="21"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※検討者の動きは、LINEヤフー社の前後検索データより</a:t>
            </a:r>
            <a:endParaRPr lang="ja-JP" alt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前後検索「注文住宅」：当日に大手を比べ、その後は住宅ローン・性能を調べる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検討期間の約2週間の接点が、来場を左右する</a:t>
            </a:r>
            <a:endParaRPr lang="en-US" sz="1400" b="1" u="none" strike="noStrike" dirty="0">
              <a:effectLst/>
              <a:uFillTx/>
              <a:latin typeface="メイリオ"/>
            </a:endParaRPr>
          </a:p>
        </p:txBody>
      </p:sp>
      <p:pic>
        <p:nvPicPr>
          <p:cNvPr id="7" name="前後検索 注文住宅（色分け）" descr="tanaka_zengo_chumon_color.png"/>
          <p:cNvPicPr>
            <a:picLocks noChangeAspect="1"/>
          </p:cNvPicPr>
          <p:nvPr/>
        </p:nvPicPr>
        <p:blipFill>
          <a:blip r:embed="rId2"/>
          <a:stretch>
            <a:fillRect/>
          </a:stretch>
        </p:blipFill>
        <p:spPr>
          <a:xfrm>
            <a:off x="502920" y="1600200"/>
            <a:ext cx="5943600" cy="3468090"/>
          </a:xfrm>
          <a:prstGeom prst="rect">
            <a:avLst/>
          </a:prstGeom>
        </p:spPr>
      </p:pic>
      <p:sp>
        <p:nvSpPr>
          <p:cNvPr id="8" name="LINE追加の時期"/>
          <p:cNvSpPr/>
          <p:nvPr/>
        </p:nvSpPr>
        <p:spPr>
          <a:xfrm>
            <a:off x="3554958" y="1644777"/>
            <a:ext cx="692429" cy="3239261"/>
          </a:xfrm>
          <a:prstGeom prst="rect">
            <a:avLst/>
          </a:prstGeom>
          <a:solidFill>
            <a:srgbClr val="06C755">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LINE追加 札"/>
          <p:cNvSpPr/>
          <p:nvPr/>
        </p:nvSpPr>
        <p:spPr>
          <a:xfrm>
            <a:off x="3443973" y="5104866"/>
            <a:ext cx="914400" cy="237744"/>
          </a:xfrm>
          <a:prstGeom prst="rect">
            <a:avLst/>
          </a:prstGeom>
          <a:solidFill>
            <a:srgbClr val="C6EFCE"/>
          </a:solidFill>
          <a:ln>
            <a:noFill/>
          </a:ln>
        </p:spPr>
        <p:txBody>
          <a:bodyPr wrap="square" lIns="0" tIns="0" rIns="0" bIns="0" rtlCol="0" anchor="ctr">
            <a:noAutofit/>
          </a:bodyPr>
          <a:lstStyle/>
          <a:p>
            <a:pPr algn="ctr">
              <a:buNone/>
            </a:pPr>
            <a:r>
              <a:rPr lang="ja-JP" altLang="en-US" sz="950" b="1" dirty="0">
                <a:solidFill>
                  <a:srgbClr val="00873C"/>
                </a:solidFill>
                <a:latin typeface="メイリオ" panose="020B0604030504040204" pitchFamily="50" charset="-128"/>
                <a:ea typeface="メイリオ" panose="020B0604030504040204" pitchFamily="50" charset="-128"/>
              </a:rPr>
              <a:t>LINE追加</a:t>
            </a:r>
            <a:endParaRPr lang="ja-JP" altLang="en-US" sz="1200" dirty="0"/>
          </a:p>
        </p:txBody>
      </p:sp>
      <p:sp>
        <p:nvSpPr>
          <p:cNvPr id="10" name="凡例の色"/>
          <p:cNvSpPr/>
          <p:nvPr/>
        </p:nvSpPr>
        <p:spPr>
          <a:xfrm>
            <a:off x="6629400" y="1655064"/>
            <a:ext cx="137160" cy="137160"/>
          </a:xfrm>
          <a:prstGeom prst="rect">
            <a:avLst/>
          </a:prstGeom>
          <a:solidFill>
            <a:srgbClr val="3467B2"/>
          </a:solidFill>
          <a:ln>
            <a:noFill/>
          </a:ln>
        </p:spPr>
        <p:txBody>
          <a:bodyPr wrap="square" lIns="0" tIns="0" rIns="0" bIns="0" rtlCol="0" anchor="ctr">
            <a:noAutofit/>
          </a:bodyPr>
          <a:lstStyle/>
          <a:p>
            <a:pPr algn="l">
              <a:buNone/>
            </a:pPr>
            <a:endParaRPr lang="ja-JP" altLang="en-US" sz="1200" dirty="0"/>
          </a:p>
        </p:txBody>
      </p:sp>
      <p:sp>
        <p:nvSpPr>
          <p:cNvPr id="11" name="凡例"/>
          <p:cNvSpPr/>
          <p:nvPr/>
        </p:nvSpPr>
        <p:spPr>
          <a:xfrm>
            <a:off x="6812280" y="1600200"/>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住宅会社を比べる</a:t>
            </a:r>
            <a:endParaRPr lang="ja-JP" altLang="en-US" sz="1200" dirty="0"/>
          </a:p>
        </p:txBody>
      </p:sp>
      <p:sp>
        <p:nvSpPr>
          <p:cNvPr id="12" name="凡例の色"/>
          <p:cNvSpPr/>
          <p:nvPr/>
        </p:nvSpPr>
        <p:spPr>
          <a:xfrm>
            <a:off x="6629400" y="1901952"/>
            <a:ext cx="137160" cy="137160"/>
          </a:xfrm>
          <a:prstGeom prst="rect">
            <a:avLst/>
          </a:prstGeom>
          <a:solidFill>
            <a:srgbClr val="D9661F"/>
          </a:solidFill>
          <a:ln>
            <a:noFill/>
          </a:ln>
        </p:spPr>
        <p:txBody>
          <a:bodyPr wrap="square" lIns="0" tIns="0" rIns="0" bIns="0" rtlCol="0" anchor="ctr">
            <a:noAutofit/>
          </a:bodyPr>
          <a:lstStyle/>
          <a:p>
            <a:pPr algn="l">
              <a:buNone/>
            </a:pPr>
            <a:endParaRPr lang="ja-JP" altLang="en-US" sz="1200" dirty="0"/>
          </a:p>
        </p:txBody>
      </p:sp>
      <p:sp>
        <p:nvSpPr>
          <p:cNvPr id="13" name="凡例"/>
          <p:cNvSpPr/>
          <p:nvPr/>
        </p:nvSpPr>
        <p:spPr>
          <a:xfrm>
            <a:off x="6812280" y="1847088"/>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費用・住宅ローンを調べる</a:t>
            </a:r>
            <a:endParaRPr lang="ja-JP" altLang="en-US" sz="1200" dirty="0"/>
          </a:p>
        </p:txBody>
      </p:sp>
      <p:sp>
        <p:nvSpPr>
          <p:cNvPr id="14" name="凡例の色"/>
          <p:cNvSpPr/>
          <p:nvPr/>
        </p:nvSpPr>
        <p:spPr>
          <a:xfrm>
            <a:off x="6629400" y="2148840"/>
            <a:ext cx="137160" cy="137160"/>
          </a:xfrm>
          <a:prstGeom prst="rect">
            <a:avLst/>
          </a:prstGeom>
          <a:solidFill>
            <a:srgbClr val="8E4EC6"/>
          </a:solidFill>
          <a:ln>
            <a:noFill/>
          </a:ln>
        </p:spPr>
        <p:txBody>
          <a:bodyPr wrap="square" lIns="0" tIns="0" rIns="0" bIns="0" rtlCol="0" anchor="ctr">
            <a:noAutofit/>
          </a:bodyPr>
          <a:lstStyle/>
          <a:p>
            <a:pPr algn="l">
              <a:buNone/>
            </a:pPr>
            <a:endParaRPr lang="ja-JP" altLang="en-US" sz="1200" dirty="0"/>
          </a:p>
        </p:txBody>
      </p:sp>
      <p:sp>
        <p:nvSpPr>
          <p:cNvPr id="15" name="凡例"/>
          <p:cNvSpPr/>
          <p:nvPr/>
        </p:nvSpPr>
        <p:spPr>
          <a:xfrm>
            <a:off x="6812280" y="2093976"/>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間取り・性能を調べる</a:t>
            </a:r>
            <a:endParaRPr lang="ja-JP" altLang="en-US" sz="1200" dirty="0"/>
          </a:p>
        </p:txBody>
      </p:sp>
      <p:sp>
        <p:nvSpPr>
          <p:cNvPr id="16" name="凡例の色"/>
          <p:cNvSpPr/>
          <p:nvPr/>
        </p:nvSpPr>
        <p:spPr>
          <a:xfrm>
            <a:off x="6629400" y="2395728"/>
            <a:ext cx="137160" cy="137160"/>
          </a:xfrm>
          <a:prstGeom prst="rect">
            <a:avLst/>
          </a:prstGeom>
          <a:solidFill>
            <a:srgbClr val="00897B"/>
          </a:solidFill>
          <a:ln>
            <a:noFill/>
          </a:ln>
        </p:spPr>
        <p:txBody>
          <a:bodyPr wrap="square" lIns="0" tIns="0" rIns="0" bIns="0" rtlCol="0" anchor="ctr">
            <a:noAutofit/>
          </a:bodyPr>
          <a:lstStyle/>
          <a:p>
            <a:pPr algn="l">
              <a:buNone/>
            </a:pPr>
            <a:endParaRPr lang="ja-JP" altLang="en-US" sz="1200" dirty="0"/>
          </a:p>
        </p:txBody>
      </p:sp>
      <p:sp>
        <p:nvSpPr>
          <p:cNvPr id="17" name="凡例"/>
          <p:cNvSpPr/>
          <p:nvPr/>
        </p:nvSpPr>
        <p:spPr>
          <a:xfrm>
            <a:off x="6812280" y="2340864"/>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土地を調べる</a:t>
            </a:r>
            <a:endParaRPr lang="ja-JP" altLang="en-US" sz="1200" dirty="0"/>
          </a:p>
        </p:txBody>
      </p:sp>
      <p:sp>
        <p:nvSpPr>
          <p:cNvPr id="18" name="分析 当日"/>
          <p:cNvSpPr/>
          <p:nvPr/>
        </p:nvSpPr>
        <p:spPr>
          <a:xfrm>
            <a:off x="6629400" y="2651760"/>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当日</a:t>
            </a:r>
            <a:endParaRPr lang="ja-JP" altLang="en-US" sz="1200" dirty="0"/>
          </a:p>
        </p:txBody>
      </p:sp>
      <p:sp>
        <p:nvSpPr>
          <p:cNvPr id="19" name="分析 当日 本文"/>
          <p:cNvSpPr/>
          <p:nvPr/>
        </p:nvSpPr>
        <p:spPr>
          <a:xfrm>
            <a:off x="6629400" y="2926079"/>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住宅会社名が中心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一条工務店・積水ハウス・住友林業など。住宅展示場・土地探しも</a:t>
            </a:r>
            <a:endParaRPr lang="ja-JP" altLang="en-US" sz="1200" dirty="0"/>
          </a:p>
        </p:txBody>
      </p:sp>
      <p:sp>
        <p:nvSpPr>
          <p:cNvPr id="20" name="分析 1〜7日後"/>
          <p:cNvSpPr/>
          <p:nvPr/>
        </p:nvSpPr>
        <p:spPr>
          <a:xfrm>
            <a:off x="6629400" y="3694176"/>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1〜7日後</a:t>
            </a:r>
            <a:endParaRPr lang="ja-JP" altLang="en-US" sz="1200" dirty="0"/>
          </a:p>
        </p:txBody>
      </p:sp>
      <p:sp>
        <p:nvSpPr>
          <p:cNvPr id="21" name="分析 1〜7日後 本文"/>
          <p:cNvSpPr/>
          <p:nvPr/>
        </p:nvSpPr>
        <p:spPr>
          <a:xfrm>
            <a:off x="6629400" y="3968496"/>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住宅ローンと坪単価が増える</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シミュレーション・審査・控除、坪単価。比べる会社はさらに広がる</a:t>
            </a:r>
            <a:endParaRPr lang="ja-JP" altLang="en-US" sz="1200" dirty="0"/>
          </a:p>
        </p:txBody>
      </p:sp>
      <p:sp>
        <p:nvSpPr>
          <p:cNvPr id="22" name="分析 7〜15日後"/>
          <p:cNvSpPr/>
          <p:nvPr/>
        </p:nvSpPr>
        <p:spPr>
          <a:xfrm>
            <a:off x="6629400" y="4736592"/>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7〜15日後</a:t>
            </a:r>
            <a:endParaRPr lang="ja-JP" altLang="en-US" sz="1200" dirty="0"/>
          </a:p>
        </p:txBody>
      </p:sp>
      <p:sp>
        <p:nvSpPr>
          <p:cNvPr id="23" name="分析 7〜15日後 本文"/>
          <p:cNvSpPr/>
          <p:nvPr/>
        </p:nvSpPr>
        <p:spPr>
          <a:xfrm>
            <a:off x="6629400" y="5010912"/>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間取り・性能が中心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断熱等級・吹き抜け・パントリー・ルームツアー。住宅ローンは金利の比較へ</a:t>
            </a:r>
            <a:endParaRPr lang="ja-JP" altLang="en-US" sz="1200" dirty="0"/>
          </a:p>
        </p:txBody>
      </p:sp>
      <p:sp>
        <p:nvSpPr>
          <p:cNvPr id="24" name="示唆"/>
          <p:cNvSpPr/>
          <p:nvPr/>
        </p:nvSpPr>
        <p:spPr>
          <a:xfrm>
            <a:off x="502920" y="5779008"/>
            <a:ext cx="8897112" cy="411480"/>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会社を比べる → 費用 → 間取り・性能 の順に、</a:t>
            </a:r>
            <a:r>
              <a:rPr lang="ja-JP" altLang="en-US" sz="1400" b="1" dirty="0">
                <a:solidFill>
                  <a:srgbClr val="C00000"/>
                </a:solidFill>
                <a:latin typeface="メイリオ" panose="020B0604030504040204" pitchFamily="50" charset="-128"/>
                <a:ea typeface="メイリオ" panose="020B0604030504040204" pitchFamily="50" charset="-128"/>
              </a:rPr>
              <a:t>約2週間かけて検討が進む</a:t>
            </a:r>
            <a:endParaRPr lang="ja-JP" altLang="en-US" sz="1200" dirty="0"/>
          </a:p>
        </p:txBody>
      </p:sp>
      <p:sp>
        <p:nvSpPr>
          <p:cNvPr id="25" name="注記"/>
          <p:cNvSpPr/>
          <p:nvPr/>
        </p:nvSpPr>
        <p:spPr>
          <a:xfrm>
            <a:off x="502920" y="6236208"/>
            <a:ext cx="8897112" cy="228600"/>
          </a:xfrm>
          <a:prstGeom prst="rect">
            <a:avLst/>
          </a:prstGeom>
          <a:noFill/>
          <a:ln>
            <a:noFill/>
          </a:ln>
        </p:spPr>
        <p:txBody>
          <a:bodyPr wrap="square" lIns="0" tIns="0" rIns="0" bIns="0" rtlCol="0" anchor="t">
            <a:noAutofit/>
          </a:bodyPr>
          <a:lstStyle/>
          <a:p>
            <a:pPr algn="l">
              <a:lnSpc>
                <a:spcPct val="115000"/>
              </a:lnSpc>
              <a:buNone/>
            </a:pPr>
            <a:r>
              <a:rPr lang="ja-JP" altLang="en-US" sz="850" b="0" dirty="0">
                <a:solidFill>
                  <a:srgbClr val="7F7F7F"/>
                </a:solidFill>
                <a:latin typeface="メイリオ" panose="020B0604030504040204" pitchFamily="50" charset="-128"/>
                <a:ea typeface="メイリオ" panose="020B0604030504040204" pitchFamily="50" charset="-128"/>
              </a:rPr>
              <a:t>※LINEヤフー社の前後検索データより。「注文住宅」を検索した方が、前後15日間に検索した言葉（縦軸＝検索した人数）。</a:t>
            </a:r>
            <a:endParaRPr lang="ja-JP" alt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解決策：資料請求以前から、来場・契約までを追う</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altLang="en-US" sz="1400" b="1" dirty="0">
                <a:latin typeface="メイリオ" panose="020B0604030504040204" pitchFamily="50" charset="-128"/>
                <a:ea typeface="メイリオ" panose="020B0604030504040204" pitchFamily="50" charset="-128"/>
              </a:rPr>
              <a:t>契約</a:t>
            </a:r>
            <a:r>
              <a:rPr lang="ja-JP" sz="1400" b="1" u="none" strike="noStrike" dirty="0">
                <a:effectLst/>
                <a:uFillTx/>
                <a:latin typeface="メイリオ" panose="020B0604030504040204" pitchFamily="50" charset="-128"/>
                <a:ea typeface="メイリオ" panose="020B0604030504040204" pitchFamily="50" charset="-128"/>
              </a:rPr>
              <a:t>まで追い続けられることが、LINEの強み。</a:t>
            </a:r>
            <a:endParaRPr lang="en-US" altLang="ja-JP" sz="1400" b="1" u="none" strike="noStrike" dirty="0">
              <a:effectLst/>
              <a:uFillTx/>
              <a:latin typeface="メイリオ" panose="020B0604030504040204" pitchFamily="50" charset="-128"/>
              <a:ea typeface="メイリオ" panose="020B0604030504040204" pitchFamily="50" charset="-128"/>
            </a:endParaRPr>
          </a:p>
        </p:txBody>
      </p:sp>
      <p:sp>
        <p:nvSpPr>
          <p:cNvPr id="7" name="流れ1"/>
          <p:cNvSpPr/>
          <p:nvPr/>
        </p:nvSpPr>
        <p:spPr>
          <a:xfrm>
            <a:off x="50292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サイトに来る</a:t>
            </a:r>
            <a:endParaRPr lang="ja-JP" altLang="en-US" sz="1300" dirty="0"/>
          </a:p>
        </p:txBody>
      </p:sp>
      <p:sp>
        <p:nvSpPr>
          <p:cNvPr id="8" name="矢印"/>
          <p:cNvSpPr/>
          <p:nvPr/>
        </p:nvSpPr>
        <p:spPr>
          <a:xfrm>
            <a:off x="1833372"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016252"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3346704"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3529584"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a:t>
            </a:r>
            <a:endParaRPr lang="ja-JP" altLang="en-US" sz="1300" dirty="0"/>
          </a:p>
        </p:txBody>
      </p:sp>
      <p:sp>
        <p:nvSpPr>
          <p:cNvPr id="12" name="矢印"/>
          <p:cNvSpPr/>
          <p:nvPr/>
        </p:nvSpPr>
        <p:spPr>
          <a:xfrm>
            <a:off x="4860036"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042916"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a:t>
            </a:r>
            <a:endParaRPr lang="ja-JP" altLang="en-US" sz="1300" dirty="0"/>
          </a:p>
        </p:txBody>
      </p:sp>
      <p:sp>
        <p:nvSpPr>
          <p:cNvPr id="14" name="矢印"/>
          <p:cNvSpPr/>
          <p:nvPr/>
        </p:nvSpPr>
        <p:spPr>
          <a:xfrm>
            <a:off x="6373368"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6556248"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a:t>
            </a:r>
            <a:endParaRPr lang="ja-JP" altLang="en-US" sz="1300" dirty="0"/>
          </a:p>
        </p:txBody>
      </p:sp>
      <p:sp>
        <p:nvSpPr>
          <p:cNvPr id="16" name="矢印"/>
          <p:cNvSpPr/>
          <p:nvPr/>
        </p:nvSpPr>
        <p:spPr>
          <a:xfrm>
            <a:off x="7886700"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7" name="流れ6"/>
          <p:cNvSpPr/>
          <p:nvPr/>
        </p:nvSpPr>
        <p:spPr>
          <a:xfrm>
            <a:off x="806958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契約</a:t>
            </a:r>
            <a:endParaRPr lang="ja-JP" altLang="en-US" sz="1300" dirty="0"/>
          </a:p>
        </p:txBody>
      </p:sp>
      <p:sp>
        <p:nvSpPr>
          <p:cNvPr id="18" name="帯 今のLINE"/>
          <p:cNvSpPr/>
          <p:nvPr/>
        </p:nvSpPr>
        <p:spPr>
          <a:xfrm>
            <a:off x="3529584" y="2331720"/>
            <a:ext cx="2843783" cy="438912"/>
          </a:xfrm>
          <a:prstGeom prst="rect">
            <a:avLst/>
          </a:prstGeom>
          <a:solidFill>
            <a:srgbClr val="F2F2F2"/>
          </a:solidFill>
          <a:ln w="9525">
            <a:solidFill>
              <a:srgbClr val="D9D9D9"/>
            </a:solidFill>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rPr>
              <a:t>今のLINE：来場予約・来場のご案内</a:t>
            </a:r>
            <a:endParaRPr lang="ja-JP" altLang="en-US" sz="1300" dirty="0"/>
          </a:p>
        </p:txBody>
      </p:sp>
      <p:sp>
        <p:nvSpPr>
          <p:cNvPr id="19" name="帯 弊社のご提案"/>
          <p:cNvSpPr/>
          <p:nvPr/>
        </p:nvSpPr>
        <p:spPr>
          <a:xfrm>
            <a:off x="502920" y="2862072"/>
            <a:ext cx="8897112" cy="5029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弊社のご提案：資料請求の前から、契約まで追う</a:t>
            </a:r>
            <a:endParaRPr lang="ja-JP" altLang="en-US" sz="1300" dirty="0"/>
          </a:p>
        </p:txBody>
      </p:sp>
      <p:sp>
        <p:nvSpPr>
          <p:cNvPr id="20" name="見出し これで可能になること"/>
          <p:cNvSpPr/>
          <p:nvPr/>
        </p:nvSpPr>
        <p:spPr>
          <a:xfrm>
            <a:off x="502920" y="3611880"/>
            <a:ext cx="8897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これで可能になること</a:t>
            </a:r>
            <a:endParaRPr lang="ja-JP" altLang="en-US" sz="1300" dirty="0"/>
          </a:p>
        </p:txBody>
      </p:sp>
      <p:sp>
        <p:nvSpPr>
          <p:cNvPr id="21" name="可能になること01"/>
          <p:cNvSpPr/>
          <p:nvPr/>
        </p:nvSpPr>
        <p:spPr>
          <a:xfrm>
            <a:off x="502920"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01</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来場を決める前の方を取りこぼさない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サイトに来た方・資料請求をした方が友だちになり、比べている間も情報を届けられる</a:t>
            </a:r>
            <a:endParaRPr lang="ja-JP" altLang="en-US" sz="1300" dirty="0"/>
          </a:p>
        </p:txBody>
      </p:sp>
      <p:sp>
        <p:nvSpPr>
          <p:cNvPr id="22" name="可能になること02"/>
          <p:cNvSpPr/>
          <p:nvPr/>
        </p:nvSpPr>
        <p:spPr>
          <a:xfrm>
            <a:off x="3529584"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02</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来場予約のキャンセルを減らす</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予約から来場までをLINEでつなぎ、前日にお知らせする</a:t>
            </a:r>
            <a:endParaRPr lang="ja-JP" altLang="en-US" sz="1300" dirty="0"/>
          </a:p>
        </p:txBody>
      </p:sp>
      <p:sp>
        <p:nvSpPr>
          <p:cNvPr id="23" name="可能になること03"/>
          <p:cNvSpPr/>
          <p:nvPr/>
        </p:nvSpPr>
        <p:spPr>
          <a:xfrm>
            <a:off x="6556248"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03</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契約につながる集客が分かる</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契約までの結果を貴社の記録と合わせて確認し、広告の改善に生かす</a:t>
            </a:r>
            <a:endParaRPr lang="ja-JP" alt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友だちの入口：来場特典に加え、家づくりの情報で友だちになっていただく</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サイトを離れる前、資料請求の直後など、検討中の方が友だちになる理由を用意する</a:t>
            </a:r>
            <a:endParaRPr lang="en-US" sz="1400" b="1" u="none" strike="noStrike" dirty="0">
              <a:effectLst/>
              <a:uFillTx/>
              <a:latin typeface="メイリオ"/>
            </a:endParaRPr>
          </a:p>
        </p:txBody>
      </p:sp>
      <p:graphicFrame>
        <p:nvGraphicFramePr>
          <p:cNvPr id="7" name="友だちの入口 6"/>
          <p:cNvGraphicFramePr>
            <a:graphicFrameLocks noGrp="1"/>
          </p:cNvGraphicFramePr>
          <p:nvPr>
            <p:extLst>
              <p:ext uri="{D42A27DB-BD31-4B8C-83A1-F6EECF244321}">
                <p14:modId xmlns:p14="http://schemas.microsoft.com/office/powerpoint/2010/main" val="2964617158"/>
              </p:ext>
            </p:extLst>
          </p:nvPr>
        </p:nvGraphicFramePr>
        <p:xfrm>
          <a:off x="502920" y="1691640"/>
          <a:ext cx="8897111" cy="2331720"/>
        </p:xfrm>
        <a:graphic>
          <a:graphicData uri="http://schemas.openxmlformats.org/drawingml/2006/table">
            <a:tbl>
              <a:tblPr/>
              <a:tblGrid>
                <a:gridCol w="731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3822191">
                  <a:extLst>
                    <a:ext uri="{9D8B030D-6E8A-4147-A177-3AD203B41FA5}">
                      <a16:colId xmlns:a16="http://schemas.microsoft.com/office/drawing/2014/main" val="20003"/>
                    </a:ext>
                  </a:extLst>
                </a:gridCol>
              </a:tblGrid>
              <a:tr h="365760">
                <a:tc>
                  <a:txBody>
                    <a:bodyPr/>
                    <a:lstStyle/>
                    <a:p>
                      <a:pPr algn="ctr">
                        <a:buNone/>
                      </a:pP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入口</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タイミング</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友だちになる理由</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7F7F7F"/>
                          </a:solidFill>
                          <a:latin typeface="メイリオ" panose="020B0604030504040204" pitchFamily="50" charset="-128"/>
                          <a:ea typeface="メイリオ" panose="020B0604030504040204" pitchFamily="50" charset="-128"/>
                        </a:rPr>
                        <a:t>今</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来場を決めたとき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来場特典の上乗せ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サイトを閉じようとしたとき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家づくりの情報（例：平屋の間取り、費用の目安）をLINEでお届け</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施工事例・見学会のページを見ているとき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見学会や新しい施工事例のお知らせ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資料請求・来場予約が</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完了した直後</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資料の続き（ルームツアー・費用・土地）、</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来場前のお知らせ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弊社の導入実績</a:t>
            </a:r>
            <a:endParaRPr lang="ja-JP" altLang="en-US" sz="1300" dirty="0"/>
          </a:p>
        </p:txBody>
      </p:sp>
      <p:sp>
        <p:nvSpPr>
          <p:cNvPr id="9"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300" b="1" dirty="0">
                <a:solidFill>
                  <a:srgbClr val="1F285A"/>
                </a:solidFill>
                <a:latin typeface="メイリオ" panose="020B0604030504040204" pitchFamily="50" charset="-128"/>
                <a:ea typeface="メイリオ" panose="020B0604030504040204" pitchFamily="50" charset="-128"/>
              </a:rPr>
              <a:t>人材業界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サンクスLINE誘導ツールを導入</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友だち増加数（3か月）1,532人 → 2,103人</a:t>
            </a:r>
            <a:endParaRPr lang="ja-JP" altLang="en-US" sz="1400" dirty="0"/>
          </a:p>
        </p:txBody>
      </p:sp>
      <p:sp>
        <p:nvSpPr>
          <p:cNvPr id="10"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rPr>
              <a:t>友だち増加数</a:t>
            </a:r>
            <a:endParaRPr lang="ja-JP" altLang="en-US" sz="13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導入前比137.3%</a:t>
            </a:r>
            <a:endParaRPr lang="ja-JP" altLang="en-US" sz="1300" dirty="0"/>
          </a:p>
          <a:p>
            <a:pPr algn="ctr">
              <a:lnSpc>
                <a:spcPct val="100000"/>
              </a:lnSpc>
              <a:buNone/>
            </a:pPr>
            <a:r>
              <a:rPr lang="ja-JP" altLang="en-US" sz="1300" b="1" dirty="0">
                <a:solidFill>
                  <a:srgbClr val="1F285A"/>
                </a:solidFill>
                <a:latin typeface="メイリオ" panose="020B0604030504040204" pitchFamily="50" charset="-128"/>
                <a:ea typeface="メイリオ" panose="020B0604030504040204" pitchFamily="50" charset="-128"/>
              </a:rPr>
              <a:t>前年比127.5%</a:t>
            </a:r>
            <a:endParaRPr lang="ja-JP" alt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85"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解決策：LINEの配信でナーチャリングを</a:t>
            </a:r>
            <a:endParaRPr lang="en-US" sz="1600" b="0" u="none" strike="noStrike">
              <a:solidFill>
                <a:srgbClr val="000000"/>
              </a:solidFill>
              <a:effectLst/>
              <a:uFillTx/>
              <a:latin typeface="メイリオ"/>
            </a:endParaRPr>
          </a:p>
        </p:txBody>
      </p:sp>
      <p:sp>
        <p:nvSpPr>
          <p:cNvPr id="386" name="TextBox 2"/>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zh-CN" sz="1400" b="0" u="none" strike="noStrike" dirty="0">
                <a:solidFill>
                  <a:srgbClr val="5A6378"/>
                </a:solidFill>
                <a:effectLst/>
                <a:uFillTx/>
                <a:latin typeface="メイリオ"/>
                <a:ea typeface="メイリオ"/>
              </a:rPr>
              <a:t>前後検索で見える検討の順番に合わせた、14日間のステップ配信（全5通）と月4回程度の企画配信で、来場予約を後押し</a:t>
            </a:r>
            <a:br>
              <a:rPr lang="zh-CN" sz="1400" b="0" u="none" strike="noStrike" dirty="0">
                <a:solidFill>
                  <a:srgbClr val="5A6378"/>
                </a:solidFill>
                <a:effectLst/>
                <a:uFillTx/>
                <a:latin typeface="メイリオ"/>
                <a:ea typeface="メイリオ"/>
              </a:rPr>
            </a:br>
            <a:endParaRPr lang="en-US" sz="1400" b="0" u="none" strike="noStrike" dirty="0">
              <a:solidFill>
                <a:srgbClr val="000000"/>
              </a:solidFill>
              <a:effectLst/>
              <a:uFillTx/>
              <a:latin typeface="メイリオ"/>
            </a:endParaRPr>
          </a:p>
        </p:txBody>
      </p:sp>
      <p:sp>
        <p:nvSpPr>
          <p:cNvPr id="387" name="TextBox 3"/>
          <p:cNvSpPr/>
          <p:nvPr/>
        </p:nvSpPr>
        <p:spPr>
          <a:xfrm>
            <a:off x="384120" y="1371600"/>
            <a:ext cx="9125712"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[ステップ配信・全5通｜新しい友だちへ追加後に自動配信]</a:t>
            </a:r>
            <a:endParaRPr lang="en-US" sz="1400" b="0" u="none" strike="noStrike">
              <a:solidFill>
                <a:srgbClr val="000000"/>
              </a:solidFill>
              <a:effectLst/>
              <a:uFillTx/>
              <a:latin typeface="メイリオ"/>
            </a:endParaRPr>
          </a:p>
        </p:txBody>
      </p:sp>
      <p:sp>
        <p:nvSpPr>
          <p:cNvPr id="388" name="Rounded Rectangle 4"/>
          <p:cNvSpPr/>
          <p:nvPr/>
        </p:nvSpPr>
        <p:spPr>
          <a:xfrm>
            <a:off x="384048" y="192024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当日〜1日後</a:t>
            </a:r>
            <a:endParaRPr lang="en-US" sz="1200" b="0" u="none" strike="noStrike">
              <a:solidFill>
                <a:srgbClr val="FFFFFF"/>
              </a:solidFill>
              <a:effectLst/>
              <a:uFillTx/>
              <a:latin typeface="メイリオ"/>
            </a:endParaRPr>
          </a:p>
        </p:txBody>
      </p:sp>
      <p:sp>
        <p:nvSpPr>
          <p:cNvPr id="390" name="Right Arrow 6"/>
          <p:cNvSpPr/>
          <p:nvPr/>
        </p:nvSpPr>
        <p:spPr>
          <a:xfrm>
            <a:off x="2121408"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3" name="Rounded Rectangle 9"/>
          <p:cNvSpPr/>
          <p:nvPr/>
        </p:nvSpPr>
        <p:spPr>
          <a:xfrm>
            <a:off x="2359152" y="192024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施工事例・会社の特長</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土地探しのご相談</a:t>
            </a:r>
            <a:endParaRPr lang="en-US" sz="1200" b="0" u="none" strike="noStrike">
              <a:solidFill>
                <a:srgbClr val="000000"/>
              </a:solidFill>
              <a:effectLst/>
              <a:uFillTx/>
              <a:latin typeface="メイリオ"/>
            </a:endParaRPr>
          </a:p>
        </p:txBody>
      </p:sp>
      <p:sp>
        <p:nvSpPr>
          <p:cNvPr id="394" name="Right Arrow 10"/>
          <p:cNvSpPr/>
          <p:nvPr/>
        </p:nvSpPr>
        <p:spPr>
          <a:xfrm>
            <a:off x="5084064"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5" name="Rounded Rectangle 11"/>
          <p:cNvSpPr/>
          <p:nvPr/>
        </p:nvSpPr>
        <p:spPr>
          <a:xfrm>
            <a:off x="5321808" y="192024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比べる会社の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候補に入る</a:t>
            </a:r>
            <a:endParaRPr lang="en-US" sz="1200" b="0" u="none" strike="noStrike">
              <a:solidFill>
                <a:srgbClr val="000000"/>
              </a:solidFill>
              <a:effectLst/>
              <a:uFillTx/>
              <a:latin typeface="メイリオ"/>
            </a:endParaRPr>
          </a:p>
        </p:txBody>
      </p:sp>
      <p:sp>
        <p:nvSpPr>
          <p:cNvPr id="396" name="Right Arrow 12"/>
          <p:cNvSpPr/>
          <p:nvPr/>
        </p:nvSpPr>
        <p:spPr>
          <a:xfrm>
            <a:off x="7808975"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7" name="Rounded Rectangle 13"/>
          <p:cNvSpPr/>
          <p:nvPr/>
        </p:nvSpPr>
        <p:spPr>
          <a:xfrm>
            <a:off x="8046720" y="192024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資料請求へ</a:t>
            </a:r>
            <a:endParaRPr lang="en-US" sz="1200" b="0" u="none" strike="noStrike">
              <a:solidFill>
                <a:srgbClr val="FFFFFF"/>
              </a:solidFill>
              <a:effectLst/>
              <a:uFillTx/>
              <a:latin typeface="メイリオ"/>
            </a:endParaRPr>
          </a:p>
        </p:txBody>
      </p:sp>
      <p:sp>
        <p:nvSpPr>
          <p:cNvPr id="398" name="Rounded Rectangle 14"/>
          <p:cNvSpPr/>
          <p:nvPr/>
        </p:nvSpPr>
        <p:spPr>
          <a:xfrm>
            <a:off x="384048" y="246888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2〜7日後</a:t>
            </a:r>
            <a:endParaRPr lang="en-US" sz="1200" b="0" u="none" strike="noStrike">
              <a:solidFill>
                <a:srgbClr val="FFFFFF"/>
              </a:solidFill>
              <a:effectLst/>
              <a:uFillTx/>
              <a:latin typeface="メイリオ"/>
            </a:endParaRPr>
          </a:p>
        </p:txBody>
      </p:sp>
      <p:sp>
        <p:nvSpPr>
          <p:cNvPr id="400" name="Right Arrow 16"/>
          <p:cNvSpPr/>
          <p:nvPr/>
        </p:nvSpPr>
        <p:spPr>
          <a:xfrm>
            <a:off x="2121408"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3" name="Rounded Rectangle 19"/>
          <p:cNvSpPr/>
          <p:nvPr/>
        </p:nvSpPr>
        <p:spPr>
          <a:xfrm>
            <a:off x="2359152" y="246888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住宅ローン・坪単価の考え方</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平屋・2階建ての価格の目安</a:t>
            </a:r>
            <a:endParaRPr lang="en-US" sz="1200" b="0" u="none" strike="noStrike">
              <a:solidFill>
                <a:srgbClr val="000000"/>
              </a:solidFill>
              <a:effectLst/>
              <a:uFillTx/>
              <a:latin typeface="メイリオ"/>
            </a:endParaRPr>
          </a:p>
        </p:txBody>
      </p:sp>
      <p:sp>
        <p:nvSpPr>
          <p:cNvPr id="404" name="Right Arrow 20"/>
          <p:cNvSpPr/>
          <p:nvPr/>
        </p:nvSpPr>
        <p:spPr>
          <a:xfrm>
            <a:off x="5084064"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5" name="Rounded Rectangle 21"/>
          <p:cNvSpPr/>
          <p:nvPr/>
        </p:nvSpPr>
        <p:spPr>
          <a:xfrm>
            <a:off x="5321808" y="246888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06" name="Right Arrow 22"/>
          <p:cNvSpPr/>
          <p:nvPr/>
        </p:nvSpPr>
        <p:spPr>
          <a:xfrm>
            <a:off x="7808975"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7" name="Rounded Rectangle 23"/>
          <p:cNvSpPr/>
          <p:nvPr/>
        </p:nvSpPr>
        <p:spPr>
          <a:xfrm>
            <a:off x="8046720" y="246888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08" name="Rounded Rectangle 24"/>
          <p:cNvSpPr/>
          <p:nvPr/>
        </p:nvSpPr>
        <p:spPr>
          <a:xfrm>
            <a:off x="384048" y="301752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8〜14日後</a:t>
            </a:r>
            <a:endParaRPr lang="en-US" sz="1200" b="0" u="none" strike="noStrike">
              <a:solidFill>
                <a:srgbClr val="FFFFFF"/>
              </a:solidFill>
              <a:effectLst/>
              <a:uFillTx/>
              <a:latin typeface="メイリオ"/>
            </a:endParaRPr>
          </a:p>
        </p:txBody>
      </p:sp>
      <p:sp>
        <p:nvSpPr>
          <p:cNvPr id="410" name="Right Arrow 26"/>
          <p:cNvSpPr/>
          <p:nvPr/>
        </p:nvSpPr>
        <p:spPr>
          <a:xfrm>
            <a:off x="2121408"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3" name="Rounded Rectangle 29"/>
          <p:cNvSpPr/>
          <p:nvPr/>
        </p:nvSpPr>
        <p:spPr>
          <a:xfrm>
            <a:off x="2359152" y="301752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青森の冬を快適にする断熱・間取り</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ルームツアー動画</a:t>
            </a:r>
            <a:endParaRPr lang="en-US" altLang="ja-JP" sz="1200" b="0" u="none" strike="noStrike" dirty="0">
              <a:solidFill>
                <a:srgbClr val="333333"/>
              </a:solidFill>
              <a:effectLst/>
              <a:uFillTx/>
              <a:latin typeface="メイリオ"/>
              <a:ea typeface="メイリオ"/>
            </a:endParaRPr>
          </a:p>
        </p:txBody>
      </p:sp>
      <p:sp>
        <p:nvSpPr>
          <p:cNvPr id="414" name="Right Arrow 30"/>
          <p:cNvSpPr/>
          <p:nvPr/>
        </p:nvSpPr>
        <p:spPr>
          <a:xfrm>
            <a:off x="5084064"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5" name="Rounded Rectangle 31"/>
          <p:cNvSpPr/>
          <p:nvPr/>
        </p:nvSpPr>
        <p:spPr>
          <a:xfrm>
            <a:off x="5321808" y="301752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住みたいイメージを</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育てる</a:t>
            </a:r>
            <a:endParaRPr lang="en-US" altLang="ja-JP" sz="1200" b="0" u="none" strike="noStrike" dirty="0">
              <a:solidFill>
                <a:srgbClr val="333333"/>
              </a:solidFill>
              <a:effectLst/>
              <a:uFillTx/>
              <a:latin typeface="メイリオ"/>
              <a:ea typeface="メイリオ"/>
            </a:endParaRPr>
          </a:p>
        </p:txBody>
      </p:sp>
      <p:sp>
        <p:nvSpPr>
          <p:cNvPr id="416" name="Right Arrow 32"/>
          <p:cNvSpPr/>
          <p:nvPr/>
        </p:nvSpPr>
        <p:spPr>
          <a:xfrm>
            <a:off x="7808975"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7" name="Rounded Rectangle 33"/>
          <p:cNvSpPr/>
          <p:nvPr/>
        </p:nvSpPr>
        <p:spPr>
          <a:xfrm>
            <a:off x="8046720" y="301752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18" name="TextBox 34"/>
          <p:cNvSpPr/>
          <p:nvPr/>
        </p:nvSpPr>
        <p:spPr>
          <a:xfrm>
            <a:off x="384120" y="371232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企画配信</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メイリオ"/>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メイリオ"/>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メイリオ"/>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見学会・</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モデルハウス公開</a:t>
            </a:r>
            <a:endParaRPr lang="en-US" sz="1200" b="0" u="none" strike="noStrike">
              <a:solidFill>
                <a:srgbClr val="000000"/>
              </a:solidFill>
              <a:effectLst/>
              <a:uFillTx/>
              <a:latin typeface="メイリオ"/>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見に行く理由を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つくる</a:t>
            </a:r>
            <a:endParaRPr lang="en-US" sz="1200" b="0" u="none" strike="noStrike">
              <a:solidFill>
                <a:srgbClr val="000000"/>
              </a:solidFill>
              <a:effectLst/>
              <a:uFillTx/>
              <a:latin typeface="メイリオ"/>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来場予約前の方</a:t>
            </a:r>
            <a:endParaRPr lang="en-US" sz="1200" b="0" u="none" strike="noStrike">
              <a:solidFill>
                <a:srgbClr val="000000"/>
              </a:solidFill>
              <a:effectLst/>
              <a:uFillTx/>
              <a:latin typeface="メイリオ"/>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来場予約済みを除く</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（チャットタグ）</a:t>
            </a:r>
            <a:endParaRPr lang="en-US" sz="1200" b="0" u="none" strike="noStrike">
              <a:solidFill>
                <a:srgbClr val="000000"/>
              </a:solidFill>
              <a:effectLst/>
              <a:uFillTx/>
              <a:latin typeface="メイリオ"/>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予算の簡易診断</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平屋か2階建てか</a:t>
            </a:r>
            <a:endParaRPr lang="en-US" sz="1200" b="0" u="none" strike="noStrike">
              <a:solidFill>
                <a:srgbClr val="000000"/>
              </a:solidFill>
              <a:effectLst/>
              <a:uFillTx/>
              <a:latin typeface="メイリオ"/>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希望を聞き分ける</a:t>
            </a:r>
            <a:endParaRPr lang="en-US" sz="1200" b="0" u="none" strike="noStrike">
              <a:solidFill>
                <a:srgbClr val="000000"/>
              </a:solidFill>
              <a:effectLst/>
              <a:uFillTx/>
              <a:latin typeface="メイリオ"/>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費用に関心がある方</a:t>
            </a:r>
            <a:endParaRPr lang="en-US" sz="1200" b="0" u="none" strike="noStrike">
              <a:solidFill>
                <a:srgbClr val="000000"/>
              </a:solidFill>
              <a:effectLst/>
              <a:uFillTx/>
              <a:latin typeface="メイリオ"/>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住宅ローンの配信を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クリックした方</a:t>
            </a:r>
            <a:endParaRPr lang="en-US" sz="1200" b="0" u="none" strike="noStrike">
              <a:solidFill>
                <a:srgbClr val="000000"/>
              </a:solidFill>
              <a:effectLst/>
              <a:uFillTx/>
              <a:latin typeface="メイリオ"/>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資金計画の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個別相談のご案内</a:t>
            </a:r>
            <a:endParaRPr lang="en-US" sz="1200" b="0" u="none" strike="noStrike">
              <a:solidFill>
                <a:srgbClr val="000000"/>
              </a:solidFill>
              <a:effectLst/>
              <a:uFillTx/>
              <a:latin typeface="メイリオ"/>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契約前の方</a:t>
            </a:r>
            <a:endParaRPr lang="en-US" sz="1200" b="0" u="none" strike="noStrike">
              <a:solidFill>
                <a:srgbClr val="000000"/>
              </a:solidFill>
              <a:effectLst/>
              <a:uFillTx/>
              <a:latin typeface="メイリオ"/>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来場済みのタグ</a:t>
            </a:r>
            <a:endParaRPr lang="en-US" sz="1200" b="0" u="none" strike="noStrike">
              <a:solidFill>
                <a:srgbClr val="000000"/>
              </a:solidFill>
              <a:effectLst/>
              <a:uFillTx/>
              <a:latin typeface="メイリオ"/>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お客様の声</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構造見学会</a:t>
            </a:r>
            <a:endParaRPr lang="en-US" sz="1200" b="0" u="none" strike="noStrike">
              <a:solidFill>
                <a:srgbClr val="000000"/>
              </a:solidFill>
              <a:effectLst/>
              <a:uFillTx/>
              <a:latin typeface="メイリオ"/>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契約前の後押し</a:t>
            </a:r>
            <a:endParaRPr lang="en-US" sz="1200" b="0" u="none" strike="noStrike">
              <a:solidFill>
                <a:srgbClr val="000000"/>
              </a:solidFill>
              <a:effectLst/>
              <a:uFillTx/>
              <a:latin typeface="メイリオ"/>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商談・契約へ</a:t>
            </a:r>
            <a:endParaRPr lang="en-US" sz="1200" b="0" u="none" strike="noStrike">
              <a:solidFill>
                <a:srgbClr val="FFFFFF"/>
              </a:solidFill>
              <a:effectLst/>
              <a:uFillTx/>
              <a:latin typeface="メイリオ"/>
            </a:endParaRPr>
          </a:p>
        </p:txBody>
      </p:sp>
      <p:sp>
        <p:nvSpPr>
          <p:cNvPr id="457" name="テキスト ボックス 9"/>
          <p:cNvSpPr/>
          <p:nvPr/>
        </p:nvSpPr>
        <p:spPr>
          <a:xfrm>
            <a:off x="2359152" y="1664280"/>
            <a:ext cx="2724912"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58" name="テキスト ボックス 11"/>
          <p:cNvSpPr/>
          <p:nvPr/>
        </p:nvSpPr>
        <p:spPr>
          <a:xfrm>
            <a:off x="5321808" y="1664280"/>
            <a:ext cx="2487168"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
        <p:nvSpPr>
          <p:cNvPr id="459" name="テキスト ボックス 14"/>
          <p:cNvSpPr/>
          <p:nvPr/>
        </p:nvSpPr>
        <p:spPr>
          <a:xfrm>
            <a:off x="38412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メイリオ"/>
            </a:endParaRPr>
          </a:p>
        </p:txBody>
      </p:sp>
      <p:sp>
        <p:nvSpPr>
          <p:cNvPr id="460" name="テキスト ボックス 16"/>
          <p:cNvSpPr/>
          <p:nvPr/>
        </p:nvSpPr>
        <p:spPr>
          <a:xfrm>
            <a:off x="235908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メイリオ"/>
            </a:endParaRPr>
          </a:p>
        </p:txBody>
      </p:sp>
      <p:sp>
        <p:nvSpPr>
          <p:cNvPr id="461" name="テキスト ボックス 18"/>
          <p:cNvSpPr/>
          <p:nvPr/>
        </p:nvSpPr>
        <p:spPr>
          <a:xfrm>
            <a:off x="4334400" y="4005000"/>
            <a:ext cx="16455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62" name="テキスト ボックス 21"/>
          <p:cNvSpPr/>
          <p:nvPr/>
        </p:nvSpPr>
        <p:spPr>
          <a:xfrm>
            <a:off x="6217920" y="400500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来場前のお知らせ：予約から来場までをLINEでつなぎ、キャンセルを減らす</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日程の変更もLINEのチャットで受け付け、キャンセルではなく変更につなげる</a:t>
            </a:r>
            <a:endParaRPr lang="en-US" sz="1400" b="1" u="none" strike="noStrike" dirty="0">
              <a:effectLst/>
              <a:uFillTx/>
              <a:latin typeface="メイリオ"/>
            </a:endParaRPr>
          </a:p>
        </p:txBody>
      </p:sp>
      <p:sp>
        <p:nvSpPr>
          <p:cNvPr id="7" name="流れ1"/>
          <p:cNvSpPr/>
          <p:nvPr/>
        </p:nvSpPr>
        <p:spPr>
          <a:xfrm>
            <a:off x="502920"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予約の完了</a:t>
            </a:r>
            <a:endParaRPr lang="ja-JP" altLang="en-US" sz="1300" dirty="0"/>
          </a:p>
        </p:txBody>
      </p:sp>
      <p:sp>
        <p:nvSpPr>
          <p:cNvPr id="8" name="矢印"/>
          <p:cNvSpPr/>
          <p:nvPr/>
        </p:nvSpPr>
        <p:spPr>
          <a:xfrm>
            <a:off x="2099462"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328062"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予約の確認</a:t>
            </a:r>
            <a:endParaRPr lang="ja-JP" altLang="en-US" sz="1300" dirty="0"/>
          </a:p>
        </p:txBody>
      </p:sp>
      <p:sp>
        <p:nvSpPr>
          <p:cNvPr id="10" name="矢印"/>
          <p:cNvSpPr/>
          <p:nvPr/>
        </p:nvSpPr>
        <p:spPr>
          <a:xfrm>
            <a:off x="3924604"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4153204"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3日前</a:t>
            </a:r>
            <a:endParaRPr lang="ja-JP" altLang="en-US" sz="1300" dirty="0"/>
          </a:p>
        </p:txBody>
      </p:sp>
      <p:sp>
        <p:nvSpPr>
          <p:cNvPr id="12" name="矢印"/>
          <p:cNvSpPr/>
          <p:nvPr/>
        </p:nvSpPr>
        <p:spPr>
          <a:xfrm>
            <a:off x="5749747"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978347"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前日</a:t>
            </a:r>
            <a:endParaRPr lang="ja-JP" altLang="en-US" sz="1300" dirty="0"/>
          </a:p>
        </p:txBody>
      </p:sp>
      <p:sp>
        <p:nvSpPr>
          <p:cNvPr id="14" name="矢印"/>
          <p:cNvSpPr/>
          <p:nvPr/>
        </p:nvSpPr>
        <p:spPr>
          <a:xfrm>
            <a:off x="7574889"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7803489"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来場の後</a:t>
            </a:r>
            <a:endParaRPr lang="ja-JP" altLang="en-US" sz="1300" dirty="0"/>
          </a:p>
        </p:txBody>
      </p:sp>
      <p:sp>
        <p:nvSpPr>
          <p:cNvPr id="16" name="お知らせ1"/>
          <p:cNvSpPr/>
          <p:nvPr/>
        </p:nvSpPr>
        <p:spPr>
          <a:xfrm>
            <a:off x="502920"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事前アンケートの回答後に、LINEの友だち追加をご案内</a:t>
            </a:r>
            <a:endParaRPr lang="ja-JP" altLang="en-US" sz="1300" dirty="0"/>
          </a:p>
        </p:txBody>
      </p:sp>
      <p:sp>
        <p:nvSpPr>
          <p:cNvPr id="17" name="お知らせ2"/>
          <p:cNvSpPr/>
          <p:nvPr/>
        </p:nvSpPr>
        <p:spPr>
          <a:xfrm>
            <a:off x="2328062"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日時・展示場・担当者をLINEでお知らせ</a:t>
            </a:r>
            <a:endParaRPr lang="ja-JP" altLang="en-US" sz="1300" dirty="0"/>
          </a:p>
        </p:txBody>
      </p:sp>
      <p:sp>
        <p:nvSpPr>
          <p:cNvPr id="18" name="お知らせ3"/>
          <p:cNvSpPr/>
          <p:nvPr/>
        </p:nvSpPr>
        <p:spPr>
          <a:xfrm>
            <a:off x="4153204"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当日の見どころ・流れ・所要時間をご案内</a:t>
            </a:r>
            <a:endParaRPr lang="ja-JP" altLang="en-US" sz="1300" dirty="0"/>
          </a:p>
        </p:txBody>
      </p:sp>
      <p:sp>
        <p:nvSpPr>
          <p:cNvPr id="19" name="お知らせ4"/>
          <p:cNvSpPr/>
          <p:nvPr/>
        </p:nvSpPr>
        <p:spPr>
          <a:xfrm>
            <a:off x="5978347"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日時・場所・地図・駐車場をお知らせ。日程の変更はチャットで受付</a:t>
            </a:r>
            <a:endParaRPr lang="ja-JP" altLang="en-US" sz="1300" dirty="0"/>
          </a:p>
        </p:txBody>
      </p:sp>
      <p:sp>
        <p:nvSpPr>
          <p:cNvPr id="20" name="お知らせ5"/>
          <p:cNvSpPr/>
          <p:nvPr/>
        </p:nvSpPr>
        <p:spPr>
          <a:xfrm>
            <a:off x="7803489"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お礼と、次のご相談（商談）のご案内</a:t>
            </a:r>
            <a:endParaRPr lang="ja-JP" altLang="en-US" sz="1300" dirty="0"/>
          </a:p>
        </p:txBody>
      </p:sp>
      <p:sp>
        <p:nvSpPr>
          <p:cNvPr id="21" name="実績 見出し"/>
          <p:cNvSpPr/>
          <p:nvPr/>
        </p:nvSpPr>
        <p:spPr>
          <a:xfrm>
            <a:off x="502920" y="420624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弊社運用の実績</a:t>
            </a:r>
            <a:endParaRPr lang="ja-JP" altLang="en-US" sz="1300" dirty="0"/>
          </a:p>
        </p:txBody>
      </p:sp>
      <p:sp>
        <p:nvSpPr>
          <p:cNvPr id="22" name="実績 施策"/>
          <p:cNvSpPr/>
          <p:nvPr/>
        </p:nvSpPr>
        <p:spPr>
          <a:xfrm>
            <a:off x="2240280" y="420624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美容クリニック</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予約の完了後にLINEへご案内し、予約の確認・前日のお知らせを配信</a:t>
            </a:r>
            <a:endParaRPr lang="ja-JP" altLang="en-US" sz="1300" dirty="0"/>
          </a:p>
        </p:txBody>
      </p:sp>
      <p:sp>
        <p:nvSpPr>
          <p:cNvPr id="23" name="実績 数字"/>
          <p:cNvSpPr/>
          <p:nvPr/>
        </p:nvSpPr>
        <p:spPr>
          <a:xfrm>
            <a:off x="6446520" y="420624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5000"/>
              </a:lnSpc>
              <a:buNone/>
            </a:pPr>
            <a:r>
              <a:rPr lang="ja-JP" altLang="en-US" sz="1200" b="1" dirty="0">
                <a:solidFill>
                  <a:srgbClr val="1F285A"/>
                </a:solidFill>
                <a:latin typeface="メイリオ" panose="020B0604030504040204" pitchFamily="50" charset="-128"/>
                <a:ea typeface="メイリオ" panose="020B0604030504040204" pitchFamily="50" charset="-128"/>
              </a:rPr>
              <a:t>予約後の来院率</a:t>
            </a:r>
            <a:endParaRPr lang="ja-JP" altLang="en-US" sz="1300" dirty="0"/>
          </a:p>
          <a:p>
            <a:pPr algn="ctr">
              <a:lnSpc>
                <a:spcPct val="105000"/>
              </a:lnSpc>
              <a:buNone/>
            </a:pPr>
            <a:r>
              <a:rPr lang="ja-JP" altLang="en-US" sz="2200" b="1" dirty="0">
                <a:solidFill>
                  <a:srgbClr val="1F285A"/>
                </a:solidFill>
                <a:latin typeface="メイリオ" panose="020B0604030504040204" pitchFamily="50" charset="-128"/>
                <a:ea typeface="メイリオ" panose="020B0604030504040204" pitchFamily="50" charset="-128"/>
              </a:rPr>
              <a:t>40〜50%改善</a:t>
            </a:r>
            <a:endParaRPr lang="ja-JP" altLang="en-US" sz="1300" dirty="0"/>
          </a:p>
        </p:txBody>
      </p:sp>
      <p:sp>
        <p:nvSpPr>
          <p:cNvPr id="24" name="送り方"/>
          <p:cNvSpPr/>
          <p:nvPr/>
        </p:nvSpPr>
        <p:spPr>
          <a:xfrm>
            <a:off x="502920" y="3639312"/>
            <a:ext cx="8897112" cy="384048"/>
          </a:xfrm>
          <a:prstGeom prst="rect">
            <a:avLst/>
          </a:prstGeom>
          <a:noFill/>
          <a:ln w="9525">
            <a:solidFill>
              <a:srgbClr val="D9D9D9"/>
            </a:solidFill>
          </a:ln>
        </p:spPr>
        <p:txBody>
          <a:bodyPr wrap="square" lIns="91440" tIns="91440" rIns="91440" bIns="54864" rtlCol="0" anchor="ctr">
            <a:noAutofit/>
          </a:bodyPr>
          <a:lstStyle/>
          <a:p>
            <a:pPr algn="l">
              <a:lnSpc>
                <a:spcPct val="125000"/>
              </a:lnSpc>
              <a:buNone/>
            </a:pPr>
            <a:r>
              <a:rPr lang="ja-JP" altLang="en-US" sz="1200" b="0" dirty="0">
                <a:solidFill>
                  <a:srgbClr val="333333"/>
                </a:solidFill>
                <a:latin typeface="メイリオ" panose="020B0604030504040204" pitchFamily="50" charset="-128"/>
                <a:ea typeface="メイリオ" panose="020B0604030504040204" pitchFamily="50" charset="-128"/>
              </a:rPr>
              <a:t>送り方｜貴社の事務の方が予約を確認し、LINEでお送りする。文面の型は弊社が用意し、反応を見て直す</a:t>
            </a:r>
            <a:endParaRPr lang="ja-JP" alt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概算お見積り：月23万円で、6か月目に資料請求 月11件・来場予約 月8件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¥165,000〜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¥230,000〜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月4回程度</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来場前のお知らせ</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型の改善</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資料請求</a:t>
            </a:r>
            <a:endParaRPr lang="en-US" sz="1400" b="0" u="none" strike="noStrike">
              <a:solidFill>
                <a:srgbClr val="000000"/>
              </a:solidFill>
              <a:effectLst/>
              <a:uFillTx/>
              <a:latin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来場予約</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サンクス</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LINE誘導</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オプション</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1,453人</a:t>
            </a:r>
            <a:endParaRPr lang="en-US" sz="1400" b="0" u="none" strike="noStrike">
              <a:solidFill>
                <a:srgbClr val="000000"/>
              </a:solidFill>
              <a:effectLst/>
              <a:uFillTx/>
              <a:latin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11件/月</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8件/月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プラン②｜総合運用で、友だちの入口を増やし、検討の順番に沿った配信で資料請求・来場予約を増やす</a:t>
            </a:r>
            <a:endParaRPr lang="en-US" sz="1400" b="0" u="none" strike="noStrike">
              <a:solidFill>
                <a:srgbClr val="000000"/>
              </a:solidFill>
              <a:effectLst/>
              <a:uFillTx/>
              <a:latin typeface="メイリオ"/>
            </a:endParaRPr>
          </a:p>
        </p:txBody>
      </p:sp>
      <p:sp>
        <p:nvSpPr>
          <p:cNvPr id="382" name="初期 来場前のお知らせ"/>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来場前の</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お知らせ</a:t>
            </a:r>
            <a:endParaRPr lang="en-US" sz="1300" b="0" u="none" strike="noStrike">
              <a:solidFill>
                <a:srgbClr val="FFFFFF"/>
              </a:solidFill>
              <a:effectLst/>
              <a:uFillTx/>
              <a:latin typeface="メイリオ"/>
            </a:endParaRPr>
          </a:p>
        </p:txBody>
      </p:sp>
      <p:sp>
        <p:nvSpPr>
          <p:cNvPr id="383" name="初期 型をつくる"/>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型をつくる</a:t>
            </a:r>
            <a:endParaRPr lang="en-US" sz="1300" b="0" u="none" strike="noStrike">
              <a:solidFill>
                <a:srgbClr val="000000"/>
              </a:solidFill>
              <a:effectLst/>
              <a:uFillTx/>
              <a:latin typeface="メイリオ"/>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料金プラン：3つのプランの費用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運用範囲に合わせて、3つのプランをご用意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なし</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＋LINE広告</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230,000円〜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430,000円〜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17550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※初期費用＝運用設計・構築（プラン① 100,000円〜／プラン②・③ 150,000円〜）＋離脱防止 15,000円</a:t>
            </a:r>
            <a:endParaRPr lang="ja-JP" altLang="en-US" sz="1200" dirty="0"/>
          </a:p>
        </p:txBody>
      </p:sp>
      <p:sp>
        <p:nvSpPr>
          <p:cNvPr id="641" name="注記"/>
          <p:cNvSpPr/>
          <p:nvPr/>
        </p:nvSpPr>
        <p:spPr>
          <a:xfrm>
            <a:off x="384048" y="540410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※月額ツール・LINE関連費＝離脱防止 30,000円。LINE公式アカウント利用料は別（貴社のご契約のまま）</a:t>
            </a:r>
            <a:endParaRPr lang="ja-JP" altLang="en-US" sz="1200" dirty="0"/>
          </a:p>
        </p:txBody>
      </p:sp>
      <p:sp>
        <p:nvSpPr>
          <p:cNvPr id="2" name="注記"/>
          <p:cNvSpPr/>
          <p:nvPr/>
        </p:nvSpPr>
        <p:spPr>
          <a:xfrm>
            <a:off x="384048" y="5632704"/>
            <a:ext cx="9144000" cy="246888"/>
          </a:xfrm>
          <a:prstGeom prst="rect">
            <a:avLst/>
          </a:prstGeom>
          <a:noFill/>
          <a:ln>
            <a:noFill/>
          </a:ln>
        </p:spPr>
        <p:txBody>
          <a:bodyPr wrap="square" lIns="0" tIns="0" rIns="0" bIns="0" rtlCol="0" anchor="t">
            <a:noAutofit/>
          </a:bodyPr>
          <a:lstStyle/>
          <a:p>
            <a:pPr algn="l">
              <a:buNone/>
            </a:pPr>
            <a:r>
              <a:rPr lang="ja-JP" altLang="en-US" sz="900" b="1" dirty="0">
                <a:solidFill>
                  <a:srgbClr val="7F7F7F"/>
                </a:solidFill>
                <a:latin typeface="メイリオ" panose="020B0604030504040204" pitchFamily="50" charset="-128"/>
                <a:ea typeface="メイリオ" panose="020B0604030504040204" pitchFamily="50" charset="-128"/>
              </a:rPr>
              <a:t>※サンクスLINE誘導（オプション）：追加する場合は初期＋150,000円・月額＋30,000円〜。サンクスLINE誘導のみの導入も可能</a:t>
            </a:r>
            <a:endParaRPr lang="ja-JP" altLang="en-US" sz="1200" dirty="0"/>
          </a:p>
        </p:txBody>
      </p:sp>
      <p:sp>
        <p:nvSpPr>
          <p:cNvPr id="642" name="注記"/>
          <p:cNvSpPr/>
          <p:nvPr/>
        </p:nvSpPr>
        <p:spPr>
          <a:xfrm>
            <a:off x="384048" y="586130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※契約期間は6か月〜。概算お見積りのページはプラン②の場合</a:t>
            </a:r>
            <a:endParaRPr lang="ja-JP" altLang="en-US" sz="1200" dirty="0"/>
          </a:p>
        </p:txBody>
      </p:sp>
      <p:sp>
        <p:nvSpPr>
          <p:cNvPr id="643" name="注記"/>
          <p:cNvSpPr/>
          <p:nvPr/>
        </p:nvSpPr>
        <p:spPr>
          <a:xfrm>
            <a:off x="384048" y="608990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3つのプランの運用内容</a:t>
            </a:r>
            <a:r>
              <a:rPr lang="ja-JP" altLang="en-US" sz="1600" b="1" u="none" strike="noStrike" dirty="0">
                <a:solidFill>
                  <a:schemeClr val="dk1"/>
                </a:solidFill>
                <a:effectLst/>
                <a:uFillTx/>
                <a:latin typeface="メイリオ"/>
                <a:ea typeface="メイリオ"/>
              </a:rPr>
              <a:t>の</a:t>
            </a:r>
            <a:r>
              <a:rPr lang="ja-JP" sz="1600" b="1" u="none" strike="noStrike" dirty="0">
                <a:solidFill>
                  <a:schemeClr val="dk1"/>
                </a:solidFill>
                <a:effectLst/>
                <a:uFillTx/>
                <a:latin typeface="メイリオ"/>
                <a:ea typeface="メイリオ"/>
              </a:rPr>
              <a:t>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なし（貴社で運用）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来場前のお知らせ</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型の作成・改善</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（送信は貴社）</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型の作成・改善</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（送信は貴社）</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LINE広告</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（友だち追加）</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42" name="注記"/>
          <p:cNvSpPr/>
          <p:nvPr/>
        </p:nvSpPr>
        <p:spPr>
          <a:xfrm>
            <a:off x="384048" y="529254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※サンクスLINE誘導はオプション（どのプランにも追加可能。サンクスLINE誘導のみの導入も可能）</a:t>
            </a:r>
            <a:endParaRPr lang="ja-JP" alt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78808" y="645487"/>
            <a:ext cx="4575836" cy="523220"/>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a:p>
            <a:pPr lvl="0">
              <a:buClr>
                <a:schemeClr val="dk1"/>
              </a:buClr>
              <a:buSzPts val="1500"/>
            </a:pPr>
            <a:r>
              <a:rPr lang="ja-JP" altLang="en-US" sz="1400" dirty="0">
                <a:latin typeface="メイリオ"/>
                <a:ea typeface="メイリオ"/>
                <a:cs typeface="メイリオ"/>
                <a:sym typeface="Meiryo"/>
              </a:rPr>
              <a:t>サンクス</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誘導のみのご導入も可能</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今後の展開：青森店で型を作り、全店へ横展開する</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配信の仕組みとコンテンツは、他の店舗・別のターゲットにそのまま転用できる</a:t>
            </a:r>
            <a:endParaRPr lang="en-US" sz="1400" b="1" u="none" strike="noStrike" dirty="0">
              <a:effectLst/>
              <a:uFillTx/>
              <a:latin typeface="メイリオ"/>
            </a:endParaRPr>
          </a:p>
        </p:txBody>
      </p:sp>
      <p:sp>
        <p:nvSpPr>
          <p:cNvPr id="7" name="見出し 青森店で確立する型"/>
          <p:cNvSpPr/>
          <p:nvPr/>
        </p:nvSpPr>
        <p:spPr>
          <a:xfrm>
            <a:off x="502920" y="1691640"/>
            <a:ext cx="33832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青森店で確立する型</a:t>
            </a:r>
            <a:endParaRPr lang="ja-JP" altLang="en-US" sz="1300" dirty="0"/>
          </a:p>
        </p:txBody>
      </p:sp>
      <p:sp>
        <p:nvSpPr>
          <p:cNvPr id="8" name="型1"/>
          <p:cNvSpPr/>
          <p:nvPr/>
        </p:nvSpPr>
        <p:spPr>
          <a:xfrm>
            <a:off x="502920" y="2103120"/>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① 入口</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資料請求・来場予約・サイトからLINEへ</a:t>
            </a:r>
            <a:endParaRPr lang="ja-JP" altLang="en-US" sz="1300" dirty="0"/>
          </a:p>
        </p:txBody>
      </p:sp>
      <p:sp>
        <p:nvSpPr>
          <p:cNvPr id="9" name="型2"/>
          <p:cNvSpPr/>
          <p:nvPr/>
        </p:nvSpPr>
        <p:spPr>
          <a:xfrm>
            <a:off x="502920" y="2944368"/>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② 配信</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検討の順番に沿ったステップ配信</a:t>
            </a:r>
            <a:endParaRPr lang="ja-JP" altLang="en-US" sz="1300" dirty="0"/>
          </a:p>
        </p:txBody>
      </p:sp>
      <p:sp>
        <p:nvSpPr>
          <p:cNvPr id="10" name="型3"/>
          <p:cNvSpPr/>
          <p:nvPr/>
        </p:nvSpPr>
        <p:spPr>
          <a:xfrm>
            <a:off x="502920" y="3785615"/>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③ 改善</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来場・契約の結果を見て、配信と広告を見直す</a:t>
            </a:r>
            <a:endParaRPr lang="ja-JP" altLang="en-US" sz="1300" dirty="0"/>
          </a:p>
        </p:txBody>
      </p:sp>
      <p:sp>
        <p:nvSpPr>
          <p:cNvPr id="11" name="矢印"/>
          <p:cNvSpPr/>
          <p:nvPr/>
        </p:nvSpPr>
        <p:spPr>
          <a:xfrm>
            <a:off x="3931920" y="2103120"/>
            <a:ext cx="457199" cy="2359152"/>
          </a:xfrm>
          <a:prstGeom prst="rect">
            <a:avLst/>
          </a:prstGeom>
          <a:noFill/>
          <a:ln>
            <a:noFill/>
          </a:ln>
        </p:spPr>
        <p:txBody>
          <a:bodyPr wrap="square" lIns="0" tIns="0" rIns="0" bIns="0" rtlCol="0" anchor="ctr">
            <a:noAutofit/>
          </a:bodyPr>
          <a:lstStyle/>
          <a:p>
            <a:pPr algn="ctr">
              <a:buNone/>
            </a:pPr>
            <a:r>
              <a:rPr lang="ja-JP" altLang="en-US" sz="18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2" name="見出し 横展開"/>
          <p:cNvSpPr/>
          <p:nvPr/>
        </p:nvSpPr>
        <p:spPr>
          <a:xfrm>
            <a:off x="4434840" y="1691640"/>
            <a:ext cx="496519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横展開</a:t>
            </a:r>
            <a:endParaRPr lang="ja-JP" altLang="en-US" sz="1300" dirty="0"/>
          </a:p>
        </p:txBody>
      </p:sp>
      <p:graphicFrame>
        <p:nvGraphicFramePr>
          <p:cNvPr id="13" name="横展開 12"/>
          <p:cNvGraphicFramePr>
            <a:graphicFrameLocks noGrp="1"/>
          </p:cNvGraphicFramePr>
          <p:nvPr/>
        </p:nvGraphicFramePr>
        <p:xfrm>
          <a:off x="4434840" y="2103120"/>
          <a:ext cx="4965192" cy="2359152"/>
        </p:xfrm>
        <a:graphic>
          <a:graphicData uri="http://schemas.openxmlformats.org/drawingml/2006/table">
            <a:tbl>
              <a:tblPr/>
              <a:tblGrid>
                <a:gridCol w="8686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店舗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八戸・おいらせ・弘前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店舗ごとのQR・URLで、配信を分ける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商品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注文住宅・分譲・土地</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希望に合わせた配信</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層</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検討中・来場済・OB施主</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段階に合わせた配信（OB施主には紹介・点検の案内）</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4"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集客投資の効果を最大化するために、</a:t>
            </a:r>
            <a:r>
              <a:rPr lang="ja-JP" altLang="en-US" sz="1300" b="1" dirty="0">
                <a:solidFill>
                  <a:srgbClr val="C00000"/>
                </a:solidFill>
                <a:latin typeface="メイリオ" panose="020B0604030504040204" pitchFamily="50" charset="-128"/>
                <a:ea typeface="メイリオ" panose="020B0604030504040204" pitchFamily="50" charset="-128"/>
              </a:rPr>
              <a:t>今、LINEでつながる範囲を広げる</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※1つのアカウントで運用し、店舗・商品・層は友だち追加の経路とタグで分ける／既存のLINE公式アカウントを活用</a:t>
            </a:r>
            <a:endParaRPr lang="ja-JP" alt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スケジュール：検索が最も増える年明けまでに、LINEの仕組みを整える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11月から設計・構築を進め、1月から運用を始める</a:t>
            </a:r>
            <a:endParaRPr lang="en-US" sz="1400" b="1" u="none" strike="noStrike" dirty="0">
              <a:effectLst/>
              <a:uFillTx/>
              <a:latin typeface="メイリオ"/>
            </a:endParaRPr>
          </a:p>
        </p:txBody>
      </p:sp>
      <p:sp>
        <p:nvSpPr>
          <p:cNvPr id="7" name="見出し 「平屋」の検索（青森県・月別）"/>
          <p:cNvSpPr/>
          <p:nvPr/>
        </p:nvSpPr>
        <p:spPr>
          <a:xfrm>
            <a:off x="502920" y="1691640"/>
            <a:ext cx="40690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「平屋」の検索（青森県・月別）</a:t>
            </a:r>
            <a:endParaRPr lang="ja-JP" altLang="en-US" sz="1300" dirty="0"/>
          </a:p>
        </p:txBody>
      </p:sp>
      <p:graphicFrame>
        <p:nvGraphicFramePr>
          <p:cNvPr id="8" name="検索の月別"/>
          <p:cNvGraphicFramePr>
            <a:graphicFrameLocks noGrp="1"/>
          </p:cNvGraphicFramePr>
          <p:nvPr/>
        </p:nvGraphicFramePr>
        <p:xfrm>
          <a:off x="502920" y="2103120"/>
          <a:ext cx="406908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9" name="見出し 進め方"/>
          <p:cNvSpPr/>
          <p:nvPr/>
        </p:nvSpPr>
        <p:spPr>
          <a:xfrm>
            <a:off x="4800600" y="1691640"/>
            <a:ext cx="459943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進め方</a:t>
            </a:r>
            <a:endParaRPr lang="ja-JP" altLang="en-US" sz="1300" dirty="0"/>
          </a:p>
        </p:txBody>
      </p:sp>
      <p:graphicFrame>
        <p:nvGraphicFramePr>
          <p:cNvPr id="10" name="進め方 9"/>
          <p:cNvGraphicFramePr>
            <a:graphicFrameLocks noGrp="1"/>
          </p:cNvGraphicFramePr>
          <p:nvPr/>
        </p:nvGraphicFramePr>
        <p:xfrm>
          <a:off x="4800600" y="2103120"/>
          <a:ext cx="4599432" cy="2743200"/>
        </p:xfrm>
        <a:graphic>
          <a:graphicData uri="http://schemas.openxmlformats.org/drawingml/2006/table">
            <a:tbl>
              <a:tblPr/>
              <a:tblGrid>
                <a:gridCol w="868680">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tblGrid>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設計：友だちの入口、配信の内容と順番、使う写真・動画の確認</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12月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構築：離脱防止、ステップ配信、来場前のお知らせの型（サンクスLINE誘導はオプション）</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運用開始：検索が増える時期に、友だちを集めて配信する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3月〜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改善：来場・契約の結果を見て、配信と広告を見直す。他店舗への展開を準備</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注記"/>
          <p:cNvSpPr/>
          <p:nvPr/>
        </p:nvSpPr>
        <p:spPr>
          <a:xfrm>
            <a:off x="502920" y="502920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※Googleトレンドより。2016年10月〜2026年9月で最も多い月を100とした値を、直近5年（2021年10月〜2026年9月）の月ごとに平均。全国の「注文住宅」も1〜2月が最も多い</a:t>
            </a:r>
            <a:endParaRPr lang="ja-JP" altLang="en-US" sz="1200" dirty="0"/>
          </a:p>
        </p:txBody>
      </p:sp>
      <p:sp>
        <p:nvSpPr>
          <p:cNvPr id="12" name="注記"/>
          <p:cNvSpPr/>
          <p:nvPr/>
        </p:nvSpPr>
        <p:spPr>
          <a:xfrm>
            <a:off x="502920" y="5468112"/>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※スケジュールは、ご契約の時期により前後する</a:t>
            </a:r>
            <a:endParaRPr lang="ja-JP" alt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Appendix</a:t>
            </a:r>
            <a:endParaRPr lang="en-US" sz="1600" b="0" u="none" strike="noStrike">
              <a:solidFill>
                <a:srgbClr val="000000"/>
              </a:solidFill>
              <a:effectLst/>
              <a:uFillTx/>
              <a:latin typeface="メイリオ"/>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参考資料</a:t>
            </a:r>
            <a:endParaRPr lang="en-US" sz="3200" b="0" u="none" strike="noStrike">
              <a:solidFill>
                <a:srgbClr val="000000"/>
              </a:solidFill>
              <a:effectLst/>
              <a:uFillTx/>
              <a:latin typeface="メイリオ"/>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740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rPr>
              <a:t>LINEOA</a:t>
            </a:r>
            <a:r>
              <a:rPr lang="ja-JP" sz="1600" b="1" u="none" strike="noStrike" dirty="0">
                <a:solidFill>
                  <a:schemeClr val="dk1"/>
                </a:solidFill>
                <a:effectLst/>
                <a:uFillTx/>
                <a:latin typeface="メイリオ"/>
                <a:ea typeface="メイリオ"/>
              </a:rPr>
              <a:t>の運用業務・</a:t>
            </a:r>
            <a:r>
              <a:rPr lang="en-US" sz="1600" b="1" u="none" strike="noStrike" dirty="0">
                <a:solidFill>
                  <a:schemeClr val="dk1"/>
                </a:solidFill>
                <a:effectLst/>
                <a:uFillTx/>
                <a:latin typeface="メイリオ"/>
                <a:ea typeface="メイリオ"/>
              </a:rPr>
              <a:t>CR</a:t>
            </a:r>
            <a:r>
              <a:rPr lang="ja-JP" sz="1600" b="1" u="none" strike="noStrike" dirty="0">
                <a:solidFill>
                  <a:schemeClr val="dk1"/>
                </a:solidFill>
                <a:effectLst/>
                <a:uFillTx/>
                <a:latin typeface="メイリオ"/>
                <a:ea typeface="メイリオ"/>
              </a:rPr>
              <a:t>制作業務を一部外出ししてご依頼も。</a:t>
            </a:r>
            <a:endParaRPr lang="en-US" sz="1600" b="0" u="none" strike="noStrike" dirty="0">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貴社リソースの状況に応じて、都度発注でのご依頼も各単価で対応可能</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143287</TotalTime>
  <Words>5722</Words>
  <Application>Microsoft Office PowerPoint</Application>
  <PresentationFormat>A4 210 x 297 mm</PresentationFormat>
  <Paragraphs>900</Paragraphs>
  <Slides>41</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41</vt:i4>
      </vt:variant>
    </vt:vector>
  </HeadingPairs>
  <TitlesOfParts>
    <vt:vector size="49" baseType="lpstr">
      <vt:lpstr>Meiryo</vt:lpstr>
      <vt:lpstr>Meiryo</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1978</cp:revision>
  <cp:lastPrinted>2022-11-01T11:38:14Z</cp:lastPrinted>
  <dcterms:created xsi:type="dcterms:W3CDTF">2015-09-04T09:21:15Z</dcterms:created>
  <dcterms:modified xsi:type="dcterms:W3CDTF">2026-10-28T06:59:20Z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