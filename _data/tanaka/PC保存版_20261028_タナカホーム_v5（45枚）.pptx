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319" r:id="rId2"/>
    <p:sldId id="2726" r:id="rId3"/>
    <p:sldId id="3150" r:id="rId4"/>
    <p:sldId id="2721" r:id="rId5"/>
    <p:sldId id="2723" r:id="rId6"/>
    <p:sldId id="2724" r:id="rId7"/>
    <p:sldId id="2364" r:id="rId8"/>
    <p:sldId id="2365" r:id="rId9"/>
    <p:sldId id="2725" r:id="rId10"/>
    <p:sldId id="2913" r:id="rId11"/>
    <p:sldId id="311" r:id="rId12"/>
    <p:sldId id="3151" r:id="rId13"/>
    <p:sldId id="305" r:id="rId14"/>
    <p:sldId id="312" r:id="rId15"/>
    <p:sldId id="333" r:id="rId16"/>
    <p:sldId id="334" r:id="rId17"/>
    <p:sldId id="3152" r:id="rId18"/>
    <p:sldId id="306" r:id="rId19"/>
    <p:sldId id="313" r:id="rId20"/>
    <p:sldId id="3153" r:id="rId21"/>
    <p:sldId id="310" r:id="rId22"/>
    <p:sldId id="314" r:id="rId23"/>
    <p:sldId id="335" r:id="rId24"/>
    <p:sldId id="315" r:id="rId25"/>
    <p:sldId id="336" r:id="rId26"/>
    <p:sldId id="337" r:id="rId27"/>
    <p:sldId id="338" r:id="rId28"/>
    <p:sldId id="339" r:id="rId29"/>
    <p:sldId id="3154" r:id="rId30"/>
    <p:sldId id="309" r:id="rId31"/>
    <p:sldId id="318" r:id="rId32"/>
    <p:sldId id="301"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32</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35.jpg"/><Relationship Id="rId3" Type="http://schemas.openxmlformats.org/officeDocument/2006/relationships/image" Target="../media/image30.jpg"/><Relationship Id="rId7" Type="http://schemas.openxmlformats.org/officeDocument/2006/relationships/image" Target="../media/image34.jpg"/><Relationship Id="rId2" Type="http://schemas.openxmlformats.org/officeDocument/2006/relationships/image" Target="../media/image29.jp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hyperlink" Target="https://youtube.com/shorts/0qI4QgrOppQ" TargetMode="External"/><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emf"/><Relationship Id="rId7" Type="http://schemas.openxmlformats.org/officeDocument/2006/relationships/image" Target="../media/image42.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slideLayout" Target="../slideLayouts/slideLayout2.xml"/><Relationship Id="rId5" Type="http://schemas.openxmlformats.org/officeDocument/2006/relationships/image" Target="../media/image47.svg"/><Relationship Id="rId4" Type="http://schemas.openxmlformats.org/officeDocument/2006/relationships/image" Target="../media/image46.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2B273-7697-D76C-B709-A46B064F5735}"/>
            </a:ext>
          </a:extLst>
        </p:cNvPr>
        <p:cNvGrpSpPr/>
        <p:nvPr/>
      </p:nvGrpSpPr>
      <p:grpSpPr>
        <a:xfrm>
          <a:off x="0" y="0"/>
          <a:ext cx="0" cy="0"/>
          <a:chOff x="0" y="0"/>
          <a:chExt cx="0" cy="0"/>
        </a:xfrm>
      </p:grpSpPr>
      <p:cxnSp>
        <p:nvCxnSpPr>
          <p:cNvPr id="23" name="直線コネクタ 4"/>
          <p:cNvCxnSpPr/>
          <p:nvPr/>
        </p:nvCxnSpPr>
        <p:spPr>
          <a:xfrm>
            <a:off x="0" y="548640"/>
            <a:ext cx="9906120" cy="360"/>
          </a:xfrm>
          <a:prstGeom prst="straightConnector1">
            <a:avLst/>
          </a:prstGeom>
          <a:ln>
            <a:solidFill>
              <a:srgbClr val="191F54"/>
            </a:solidFill>
            <a:round/>
          </a:ln>
        </p:spPr>
      </p:cxnSp>
      <p:sp>
        <p:nvSpPr>
          <p:cNvPr id="2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22" name="Google Shape;752;p28">
            <a:extLst>
              <a:ext uri="{FF2B5EF4-FFF2-40B4-BE49-F238E27FC236}">
                <a16:creationId xmlns:a16="http://schemas.microsoft.com/office/drawing/2014/main" id="{E0553DA5-5DE0-BD33-70D4-FC02F33113D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6" name="図 5">
            <a:extLst>
              <a:ext uri="{FF2B5EF4-FFF2-40B4-BE49-F238E27FC236}">
                <a16:creationId xmlns:a16="http://schemas.microsoft.com/office/drawing/2014/main" id="{CFA9FEA4-17EA-590D-125E-FAC8C6AD3583}"/>
              </a:ext>
            </a:extLst>
          </p:cNvPr>
          <p:cNvPicPr>
            <a:picLocks noChangeAspect="1"/>
          </p:cNvPicPr>
          <p:nvPr/>
        </p:nvPicPr>
        <p:blipFill>
          <a:blip r:embed="rId2"/>
          <a:srcRect b="947"/>
          <a:stretch>
            <a:fillRect/>
          </a:stretch>
        </p:blipFill>
        <p:spPr>
          <a:xfrm>
            <a:off x="10340" y="821330"/>
            <a:ext cx="9885321" cy="5476601"/>
          </a:xfrm>
          <a:prstGeom prst="rect">
            <a:avLst/>
          </a:prstGeom>
        </p:spPr>
      </p:pic>
    </p:spTree>
    <p:extLst>
      <p:ext uri="{BB962C8B-B14F-4D97-AF65-F5344CB8AC3E}">
        <p14:creationId xmlns:p14="http://schemas.microsoft.com/office/powerpoint/2010/main" val="130297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cxnSp>
        <p:nvCxnSpPr>
          <p:cNvPr id="2112" name="直線コネクタ 4"/>
          <p:cNvCxnSpPr/>
          <p:nvPr/>
        </p:nvCxnSpPr>
        <p:spPr>
          <a:xfrm>
            <a:off x="0" y="548640"/>
            <a:ext cx="9906120" cy="360"/>
          </a:xfrm>
          <a:prstGeom prst="straightConnector1">
            <a:avLst/>
          </a:prstGeom>
          <a:ln>
            <a:solidFill>
              <a:srgbClr val="191F54"/>
            </a:solidFill>
            <a:round/>
          </a:ln>
        </p:spPr>
      </p:cxnSp>
      <p:sp>
        <p:nvSpPr>
          <p:cNvPr id="2113"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a:t>
            </a: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cxnSp>
        <p:nvCxnSpPr>
          <p:cNvPr id="1033" name="直線コネクタ 4"/>
          <p:cNvCxnSpPr/>
          <p:nvPr/>
        </p:nvCxnSpPr>
        <p:spPr>
          <a:xfrm>
            <a:off x="0" y="548640"/>
            <a:ext cx="9906120" cy="360"/>
          </a:xfrm>
          <a:prstGeom prst="straightConnector1">
            <a:avLst/>
          </a:prstGeom>
          <a:ln>
            <a:solidFill>
              <a:srgbClr val="191F54"/>
            </a:solidFill>
            <a:round/>
          </a:ln>
        </p:spPr>
      </p:cxnSp>
      <p:sp>
        <p:nvSpPr>
          <p:cNvPr id="1034"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516203" y="123233"/>
            <a:ext cx="4961186" cy="338554"/>
          </a:xfrm>
          <a:prstGeom prst="rect">
            <a:avLst/>
          </a:prstGeom>
          <a:noFill/>
        </p:spPr>
        <p:txBody>
          <a:bodyPr wrap="square">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050" dirty="0">
              <a:solidFill>
                <a:srgbClr val="002060"/>
              </a:solidFill>
            </a:endParaRPr>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cxnSp>
        <p:nvCxnSpPr>
          <p:cNvPr id="59" name="直線コネクタ 4"/>
          <p:cNvCxnSpPr/>
          <p:nvPr/>
        </p:nvCxnSpPr>
        <p:spPr>
          <a:xfrm>
            <a:off x="0" y="548640"/>
            <a:ext cx="9906120" cy="360"/>
          </a:xfrm>
          <a:prstGeom prst="straightConnector1">
            <a:avLst/>
          </a:prstGeom>
          <a:ln>
            <a:solidFill>
              <a:srgbClr val="191F54"/>
            </a:solidFill>
            <a:round/>
          </a:ln>
        </p:spPr>
      </p:cxnSp>
      <p:sp>
        <p:nvSpPr>
          <p:cNvPr id="60"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590094" y="126668"/>
            <a:ext cx="4961186" cy="338554"/>
          </a:xfrm>
          <a:prstGeom prst="rect">
            <a:avLst/>
          </a:prstGeom>
          <a:noFill/>
        </p:spPr>
        <p:txBody>
          <a:bodyPr wrap="square">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050" dirty="0">
              <a:solidFill>
                <a:srgbClr val="002060"/>
              </a:solidFill>
            </a:endParaRPr>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cxnSp>
        <p:nvCxnSpPr>
          <p:cNvPr id="126" name="直線コネクタ 4"/>
          <p:cNvCxnSpPr/>
          <p:nvPr/>
        </p:nvCxnSpPr>
        <p:spPr>
          <a:xfrm>
            <a:off x="0" y="548640"/>
            <a:ext cx="9906120" cy="360"/>
          </a:xfrm>
          <a:prstGeom prst="straightConnector1">
            <a:avLst/>
          </a:prstGeom>
          <a:ln>
            <a:solidFill>
              <a:srgbClr val="191F54"/>
            </a:solidFill>
            <a:round/>
          </a:ln>
        </p:spPr>
      </p:cxnSp>
      <p:sp>
        <p:nvSpPr>
          <p:cNvPr id="127"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4961186"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3701" y="121662"/>
            <a:ext cx="4961186" cy="338554"/>
          </a:xfrm>
          <a:prstGeom prst="rect">
            <a:avLst/>
          </a:prstGeom>
          <a:noFill/>
        </p:spPr>
        <p:txBody>
          <a:bodyPr wrap="square">
            <a:spAutoFit/>
          </a:bodyPr>
          <a:lstStyle/>
          <a:p>
            <a:r>
              <a:rPr lang="ja-JP" altLang="en-US" sz="1600" b="1" dirty="0">
                <a:solidFill>
                  <a:srgbClr val="002060"/>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050" dirty="0">
              <a:solidFill>
                <a:srgbClr val="002060"/>
              </a:solidFill>
            </a:endParaRPr>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2000" b="1"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BC1E3528-49FC-2F40-A6E5-CF541F7FF75D}"/>
              </a:ext>
            </a:extLst>
          </p:cNvPr>
          <p:cNvSpPr txBox="1"/>
          <p:nvPr/>
        </p:nvSpPr>
        <p:spPr>
          <a:xfrm>
            <a:off x="5218703" y="2796155"/>
            <a:ext cx="4102384" cy="523220"/>
          </a:xfrm>
          <a:prstGeom prst="rect">
            <a:avLst/>
          </a:prstGeom>
          <a:solidFill>
            <a:schemeClr val="bg1">
              <a:alpha val="60000"/>
            </a:schemeClr>
          </a:solidFill>
        </p:spPr>
        <p:txBody>
          <a:bodyPr wrap="square">
            <a:spAutoFit/>
          </a:bodyPr>
          <a:lstStyle/>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9741E7E2-8CD1-5737-D697-09B5D2B75F28}"/>
              </a:ext>
            </a:extLst>
          </p:cNvPr>
          <p:cNvSpPr txBox="1"/>
          <p:nvPr/>
        </p:nvSpPr>
        <p:spPr>
          <a:xfrm>
            <a:off x="463701" y="2801521"/>
            <a:ext cx="4102384" cy="523220"/>
          </a:xfrm>
          <a:prstGeom prst="rect">
            <a:avLst/>
          </a:prstGeom>
          <a:solidFill>
            <a:schemeClr val="bg1">
              <a:alpha val="60000"/>
            </a:schemeClr>
          </a:solidFill>
        </p:spPr>
        <p:txBody>
          <a:bodyPr wrap="square">
            <a:spAutoFit/>
          </a:bodyPr>
          <a:lstStyle/>
          <a:p>
            <a:pPr algn="ctr"/>
            <a:r>
              <a:rPr lang="ja-JP" altLang="en-US" sz="1400" b="1" dirty="0">
                <a:latin typeface="メイリオ" panose="020B0604030504040204" pitchFamily="50" charset="-128"/>
                <a:ea typeface="メイリオ" panose="020B0604030504040204" pitchFamily="50" charset="-128"/>
              </a:rPr>
              <a:t>開封率、開封時間ともに高効率</a:t>
            </a:r>
            <a:r>
              <a:rPr lang="ja-JP" altLang="en-US" sz="1400" dirty="0">
                <a:latin typeface="メイリオ" panose="020B0604030504040204" pitchFamily="50" charset="-128"/>
                <a:ea typeface="メイリオ" panose="020B0604030504040204" pitchFamily="50" charset="-128"/>
              </a:rPr>
              <a:t>。</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今後のマーケティングに必須のチャネル。</a:t>
            </a:r>
            <a:endParaRPr lang="en-US" altLang="ja-JP" sz="1400"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BD081E68-EA84-585C-A316-D201FAC9649E}"/>
              </a:ext>
            </a:extLst>
          </p:cNvPr>
          <p:cNvSpPr txBox="1"/>
          <p:nvPr/>
        </p:nvSpPr>
        <p:spPr>
          <a:xfrm>
            <a:off x="463701" y="5262659"/>
            <a:ext cx="4102384" cy="523220"/>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広告離脱の</a:t>
            </a:r>
            <a:r>
              <a:rPr lang="en-US" altLang="ja-JP" sz="1400" dirty="0">
                <a:solidFill>
                  <a:srgbClr val="FF0000"/>
                </a:solidFill>
                <a:latin typeface="メイリオ" panose="020B0604030504040204" pitchFamily="50" charset="-128"/>
                <a:ea typeface="メイリオ" panose="020B0604030504040204" pitchFamily="50" charset="-128"/>
              </a:rPr>
              <a:t>98%</a:t>
            </a:r>
            <a:r>
              <a:rPr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F98D4197-216C-A3BE-091A-D32F4A6C7A17}"/>
              </a:ext>
            </a:extLst>
          </p:cNvPr>
          <p:cNvSpPr txBox="1"/>
          <p:nvPr/>
        </p:nvSpPr>
        <p:spPr>
          <a:xfrm>
            <a:off x="5218703" y="5262333"/>
            <a:ext cx="4102384" cy="738664"/>
          </a:xfrm>
          <a:prstGeom prst="rect">
            <a:avLst/>
          </a:prstGeom>
          <a:solidFill>
            <a:schemeClr val="bg1">
              <a:alpha val="60000"/>
            </a:schemeClr>
          </a:solid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7DA217C-F98F-2E58-74CA-39B7014CE382}"/>
              </a:ext>
            </a:extLst>
          </p:cNvPr>
          <p:cNvSpPr txBox="1"/>
          <p:nvPr/>
        </p:nvSpPr>
        <p:spPr>
          <a:xfrm>
            <a:off x="5574695" y="5724686"/>
            <a:ext cx="3390400"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Tree>
    <p:extLst>
      <p:ext uri="{BB962C8B-B14F-4D97-AF65-F5344CB8AC3E}">
        <p14:creationId xmlns:p14="http://schemas.microsoft.com/office/powerpoint/2010/main" val="1819059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コネクタ 4"/>
          <p:cNvCxnSpPr/>
          <p:nvPr/>
        </p:nvCxnSpPr>
        <p:spPr>
          <a:xfrm>
            <a:off x="0" y="548640"/>
            <a:ext cx="9906120" cy="360"/>
          </a:xfrm>
          <a:prstGeom prst="straightConnector1">
            <a:avLst/>
          </a:prstGeom>
          <a:ln>
            <a:solidFill>
              <a:srgbClr val="191F54"/>
            </a:solidFill>
            <a:round/>
          </a:ln>
        </p:spPr>
      </p:cxnSp>
      <p:sp>
        <p:nvSpPr>
          <p:cNvPr id="6"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実例紹介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弊社実績について</a:t>
            </a:r>
          </a:p>
        </p:txBody>
      </p:sp>
      <p:graphicFrame>
        <p:nvGraphicFramePr>
          <p:cNvPr id="3" name="表 2">
            <a:extLst>
              <a:ext uri="{FF2B5EF4-FFF2-40B4-BE49-F238E27FC236}">
                <a16:creationId xmlns:a16="http://schemas.microsoft.com/office/drawing/2014/main" id="{9A6B81D2-7F85-D98D-ED15-FD61A8068EF9}"/>
              </a:ext>
            </a:extLst>
          </p:cNvPr>
          <p:cNvGraphicFramePr>
            <a:graphicFrameLocks noGrp="1"/>
          </p:cNvGraphicFramePr>
          <p:nvPr/>
        </p:nvGraphicFramePr>
        <p:xfrm>
          <a:off x="381000" y="809625"/>
          <a:ext cx="9191625" cy="5485142"/>
        </p:xfrm>
        <a:graphic>
          <a:graphicData uri="http://schemas.openxmlformats.org/drawingml/2006/table">
            <a:tbl>
              <a:tblPr/>
              <a:tblGrid>
                <a:gridCol w="1819275">
                  <a:extLst>
                    <a:ext uri="{9D8B030D-6E8A-4147-A177-3AD203B41FA5}">
                      <a16:colId xmlns:a16="http://schemas.microsoft.com/office/drawing/2014/main" val="1856077232"/>
                    </a:ext>
                  </a:extLst>
                </a:gridCol>
                <a:gridCol w="828675">
                  <a:extLst>
                    <a:ext uri="{9D8B030D-6E8A-4147-A177-3AD203B41FA5}">
                      <a16:colId xmlns:a16="http://schemas.microsoft.com/office/drawing/2014/main" val="2505763101"/>
                    </a:ext>
                  </a:extLst>
                </a:gridCol>
                <a:gridCol w="2856379">
                  <a:extLst>
                    <a:ext uri="{9D8B030D-6E8A-4147-A177-3AD203B41FA5}">
                      <a16:colId xmlns:a16="http://schemas.microsoft.com/office/drawing/2014/main" val="415261329"/>
                    </a:ext>
                  </a:extLst>
                </a:gridCol>
                <a:gridCol w="3687296">
                  <a:extLst>
                    <a:ext uri="{9D8B030D-6E8A-4147-A177-3AD203B41FA5}">
                      <a16:colId xmlns:a16="http://schemas.microsoft.com/office/drawing/2014/main" val="2991975434"/>
                    </a:ext>
                  </a:extLst>
                </a:gridCol>
              </a:tblGrid>
              <a:tr h="371475">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業界</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運用期間</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施策インパクト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tc>
                  <a:txBody>
                    <a:bodyPr/>
                    <a:lstStyle/>
                    <a:p>
                      <a:pPr algn="ctr" fontAlgn="ctr">
                        <a:buNone/>
                      </a:pPr>
                      <a:r>
                        <a:rPr lang="ja-JP" altLang="en-US" sz="1400" b="1" i="0" u="none" strike="noStrike" dirty="0">
                          <a:solidFill>
                            <a:schemeClr val="bg1"/>
                          </a:solidFill>
                          <a:effectLst/>
                          <a:latin typeface="メイリオ" panose="020B0604030504040204" pitchFamily="50" charset="-128"/>
                          <a:ea typeface="メイリオ" panose="020B0604030504040204" pitchFamily="50" charset="-128"/>
                        </a:rPr>
                        <a:t>施策内容</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91F54"/>
                    </a:solidFill>
                  </a:tcPr>
                </a:tc>
                <a:extLst>
                  <a:ext uri="{0D108BD9-81ED-4DB2-BD59-A6C34878D82A}">
                    <a16:rowId xmlns:a16="http://schemas.microsoft.com/office/drawing/2014/main" val="369463423"/>
                  </a:ext>
                </a:extLst>
              </a:tr>
              <a:tr h="1028103">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人材</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（資格職・専門職転職）</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■月間求人応募数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4</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br>
                        <a:rPr lang="en-US" altLang="ja-JP" sz="18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30</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¥145,000 → ¥102,000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ユーザーセグメントの取得</a:t>
                      </a:r>
                      <a:b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400" b="1" i="0" u="sng" strike="noStrike" dirty="0">
                          <a:solidFill>
                            <a:srgbClr val="C00000"/>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・セグメント配信による</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パーソナライズされた追客</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4378025"/>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不動産</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（住宅メーカー）</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10</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■月間来場・資料請求件数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による友だち増加促進</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ペルソナに合わせた動線・クリエイティブ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の設計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09117311"/>
                  </a:ext>
                </a:extLst>
              </a:tr>
              <a:tr h="1021391">
                <a:tc>
                  <a:txBody>
                    <a:bodyPr/>
                    <a:lstStyle/>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p>
                      <a:pPr algn="ctr" fontAlgn="ctr">
                        <a:buNone/>
                      </a:pPr>
                      <a:r>
                        <a:rPr lang="en-US" sz="1200" b="1" i="0" u="none" strike="noStrike" dirty="0">
                          <a:solidFill>
                            <a:srgbClr val="191F54"/>
                          </a:solidFill>
                          <a:effectLst/>
                          <a:latin typeface="メイリオ" panose="020B0604030504040204" pitchFamily="50" charset="-128"/>
                          <a:ea typeface="メイリオ" panose="020B0604030504040204" pitchFamily="50" charset="-128"/>
                        </a:rPr>
                        <a:t>（</a:t>
                      </a: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総合</a:t>
                      </a:r>
                      <a:r>
                        <a:rPr lang="en-US" sz="1200" b="1" i="0" u="none" strike="noStrike" dirty="0">
                          <a:solidFill>
                            <a:srgbClr val="191F54"/>
                          </a:solidFill>
                          <a:effectLst/>
                          <a:latin typeface="メイリオ" panose="020B0604030504040204" pitchFamily="50" charset="-128"/>
                          <a:ea typeface="メイリオ" panose="020B0604030504040204" pitchFamily="50" charset="-128"/>
                        </a:rPr>
                        <a:t>EC）</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8</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520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92</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¥150,000 → ¥12,500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離脱防止バナーと</a:t>
                      </a:r>
                      <a:r>
                        <a:rPr lang="en-US" altLang="ja-JP" sz="1200" b="1" i="0" u="sng" strike="noStrike" dirty="0">
                          <a:solidFill>
                            <a:srgbClr val="C00000"/>
                          </a:solidFill>
                          <a:effectLst/>
                          <a:latin typeface="メイリオ" panose="020B0604030504040204" pitchFamily="50" charset="-128"/>
                          <a:ea typeface="メイリオ" panose="020B0604030504040204" pitchFamily="50" charset="-128"/>
                        </a:rPr>
                        <a:t>CPF</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を活用した友だち増加</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・アンケートを実施し、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カゴ落ちユーザーを中心に</a:t>
                      </a:r>
                      <a:b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br>
                      <a:r>
                        <a:rPr lang="ja-JP" altLang="en-US" sz="1200" b="0" i="0" u="none" strike="noStrike" dirty="0">
                          <a:solidFill>
                            <a:srgbClr val="C00000"/>
                          </a:solidFill>
                          <a:effectLst/>
                          <a:latin typeface="メイリオ" panose="020B0604030504040204" pitchFamily="50" charset="-128"/>
                          <a:ea typeface="メイリオ" panose="020B0604030504040204" pitchFamily="50" charset="-128"/>
                        </a:rPr>
                        <a:t>　</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期間限定商品・高単価商品の情報を配信</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30092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（美肌治療）</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a:t>
                      </a:r>
                      <a:r>
                        <a:rPr lang="ja-JP" altLang="en-US" sz="1100" b="1" i="0" u="none" strike="noStrike">
                          <a:solidFill>
                            <a:schemeClr val="tx1">
                              <a:lumMod val="65000"/>
                              <a:lumOff val="35000"/>
                            </a:schemeClr>
                          </a:solidFill>
                          <a:effectLst/>
                          <a:latin typeface="メイリオ" panose="020B0604030504040204" pitchFamily="50" charset="-128"/>
                          <a:ea typeface="メイリオ" panose="020B0604030504040204" pitchFamily="50" charset="-128"/>
                        </a:rPr>
                        <a:t>年</a:t>
                      </a:r>
                      <a:endPar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倍</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60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ROAS</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63</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％改善</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¥32,000 → ¥12,000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個別メッセージを利用したユーザー個々への追客</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5115858"/>
                  </a:ext>
                </a:extLst>
              </a:tr>
              <a:tr h="1021391">
                <a:tc>
                  <a:txBody>
                    <a:bodyPr/>
                    <a:lstStyle/>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美容クリニック</a:t>
                      </a:r>
                      <a:endParaRPr lang="en-US" altLang="ja-JP" sz="1200" b="1" i="0" u="none" strike="noStrike" dirty="0">
                        <a:solidFill>
                          <a:srgbClr val="191F54"/>
                        </a:solidFill>
                        <a:effectLst/>
                        <a:latin typeface="メイリオ" panose="020B0604030504040204" pitchFamily="50" charset="-128"/>
                        <a:ea typeface="メイリオ" panose="020B0604030504040204" pitchFamily="50" charset="-128"/>
                      </a:endParaRPr>
                    </a:p>
                    <a:p>
                      <a:pPr algn="ctr" fontAlgn="ctr">
                        <a:buNone/>
                      </a:pPr>
                      <a:r>
                        <a:rPr lang="ja-JP" altLang="en-US" sz="1200" b="1" i="0" u="none" strike="noStrike" dirty="0">
                          <a:solidFill>
                            <a:srgbClr val="191F54"/>
                          </a:solidFill>
                          <a:effectLst/>
                          <a:latin typeface="メイリオ" panose="020B0604030504040204" pitchFamily="50" charset="-128"/>
                          <a:ea typeface="メイリオ" panose="020B0604030504040204" pitchFamily="50" charset="-128"/>
                        </a:rPr>
                        <a:t>（痩身）</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年</a:t>
                      </a:r>
                      <a:r>
                        <a:rPr lang="en-US" altLang="ja-JP"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a:t>
                      </a:r>
                      <a:r>
                        <a:rPr lang="ja-JP" altLang="en-US" sz="1100" b="1"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ヶ月</a:t>
                      </a: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lnSpc>
                          <a:spcPct val="100000"/>
                        </a:lnSpc>
                        <a:buNone/>
                      </a:pP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■月間</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CV</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件数</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endParaRPr lang="en-US" altLang="ja-JP"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45</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件</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 </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45</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件）</a:t>
                      </a:r>
                      <a:endPar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p>
                      <a:pPr marL="88900" indent="0" algn="l" fontAlgn="ctr">
                        <a:lnSpc>
                          <a:spcPct val="100000"/>
                        </a:lnSpc>
                        <a:buNone/>
                      </a:pP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CPA</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換算</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p>
                    <a:p>
                      <a:pPr marL="88900" indent="0" algn="l" fontAlgn="ctr">
                        <a:lnSpc>
                          <a:spcPct val="100000"/>
                        </a:lnSpc>
                        <a:buNone/>
                      </a:pPr>
                      <a:r>
                        <a:rPr lang="ja-JP" altLang="en-US" sz="2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r>
                        <a:rPr lang="ja-JP" altLang="en-US" sz="1100" b="1" i="0" u="none" strike="noStrike" dirty="0">
                          <a:solidFill>
                            <a:srgbClr val="C00000"/>
                          </a:solidFill>
                          <a:effectLst/>
                          <a:latin typeface="メイリオ" panose="020B0604030504040204" pitchFamily="50" charset="-128"/>
                          <a:ea typeface="メイリオ" panose="020B0604030504040204" pitchFamily="50" charset="-128"/>
                        </a:rPr>
                        <a:t>開設から</a:t>
                      </a:r>
                      <a:r>
                        <a:rPr lang="en-US" altLang="ja-JP" sz="1600" b="1" i="0" u="none" strike="noStrike" dirty="0">
                          <a:solidFill>
                            <a:srgbClr val="C00000"/>
                          </a:solidFill>
                          <a:effectLst/>
                          <a:latin typeface="メイリオ" panose="020B0604030504040204" pitchFamily="50" charset="-128"/>
                          <a:ea typeface="メイリオ" panose="020B0604030504040204" pitchFamily="50" charset="-128"/>
                        </a:rPr>
                        <a:t>1</a:t>
                      </a:r>
                      <a:r>
                        <a:rPr lang="ja-JP" altLang="en-US" sz="1600" b="1" i="0" u="none" strike="noStrike" dirty="0">
                          <a:solidFill>
                            <a:srgbClr val="C00000"/>
                          </a:solidFill>
                          <a:effectLst/>
                          <a:latin typeface="メイリオ" panose="020B0604030504040204" pitchFamily="50" charset="-128"/>
                          <a:ea typeface="メイリオ" panose="020B0604030504040204" pitchFamily="50" charset="-128"/>
                        </a:rPr>
                        <a:t>万円台</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en-US" altLang="ja-JP"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N/A → ¥10,700</a:t>
                      </a:r>
                      <a:r>
                        <a:rPr lang="ja-JP" altLang="en-US" sz="10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endPar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88900" indent="0" algn="l" fontAlgn="ctr">
                        <a:buNone/>
                      </a:pP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ビフォーアフターがわかるクリエイティブ</a:t>
                      </a: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を配信</a:t>
                      </a:r>
                      <a:br>
                        <a:rPr lang="en-US" altLang="ja-JP"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4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　</a:t>
                      </a:r>
                      <a:b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br>
                      <a:r>
                        <a:rPr lang="ja-JP" altLang="en-US" sz="110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・アンケート動線を設定し、</a:t>
                      </a:r>
                      <a:r>
                        <a:rPr lang="ja-JP" altLang="en-US" sz="1200" b="1" i="0" u="sng" strike="noStrike" dirty="0">
                          <a:solidFill>
                            <a:srgbClr val="C00000"/>
                          </a:solidFill>
                          <a:effectLst/>
                          <a:latin typeface="メイリオ" panose="020B0604030504040204" pitchFamily="50" charset="-128"/>
                          <a:ea typeface="メイリオ" panose="020B0604030504040204" pitchFamily="50" charset="-128"/>
                        </a:rPr>
                        <a:t>悩み別のシナリオを用意</a:t>
                      </a:r>
                      <a:endParaRPr lang="ja-JP" altLang="en-US" sz="1100" b="1" i="0" u="sng" strike="noStrike" dirty="0">
                        <a:solidFill>
                          <a:srgbClr val="C00000"/>
                        </a:solidFill>
                        <a:effectLst/>
                        <a:latin typeface="メイリオ" panose="020B0604030504040204" pitchFamily="50" charset="-128"/>
                        <a:ea typeface="メイリオ" panose="020B0604030504040204" pitchFamily="50" charset="-128"/>
                      </a:endParaRPr>
                    </a:p>
                  </a:txBody>
                  <a:tcPr marL="6120" marR="6120" marT="61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9865"/>
                  </a:ext>
                </a:extLst>
              </a:tr>
            </a:tbl>
          </a:graphicData>
        </a:graphic>
      </p:graphicFrame>
    </p:spTree>
    <p:extLst>
      <p:ext uri="{BB962C8B-B14F-4D97-AF65-F5344CB8AC3E}">
        <p14:creationId xmlns:p14="http://schemas.microsoft.com/office/powerpoint/2010/main" val="162416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LINE導入の背景／CRM・API連携／その他の活用機能／提供施策／運用プラン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現状と打ち手</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648189534"/>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4147098564"/>
              </p:ext>
            </p:extLst>
          </p:nvPr>
        </p:nvGraphicFramePr>
        <p:xfrm>
          <a:off x="379800" y="1691640"/>
          <a:ext cx="5883840" cy="3246119"/>
        </p:xfrm>
        <a:graphic>
          <a:graphicData uri="http://schemas.openxmlformats.org/drawingml/2006/table">
            <a:tbl>
              <a:tblPr/>
              <a:tblGrid>
                <a:gridCol w="1458804">
                  <a:extLst>
                    <a:ext uri="{9D8B030D-6E8A-4147-A177-3AD203B41FA5}">
                      <a16:colId xmlns:a16="http://schemas.microsoft.com/office/drawing/2014/main" val="20000"/>
                    </a:ext>
                  </a:extLst>
                </a:gridCol>
                <a:gridCol w="4425036">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競合のLINE運用：大進建設は特典で、資料請求から事前審査まで後押しする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大進建設を中心に、一条工務店・セキスイハイムの友だち追加の入口とあいさつを、実際の画面で見る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2340864"/>
            <a:ext cx="1600200" cy="1600200"/>
          </a:xfrm>
          <a:prstGeom prst="rect">
            <a:avLst/>
          </a:prstGeom>
        </p:spPr>
      </p:pic>
      <p:sp>
        <p:nvSpPr>
          <p:cNvPr id="9" name="会社 大進建設"/>
          <p:cNvSpPr/>
          <p:nvPr/>
        </p:nvSpPr>
        <p:spPr>
          <a:xfrm>
            <a:off x="411480" y="1481328"/>
            <a:ext cx="5577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ほかの大手"/>
          <p:cNvSpPr/>
          <p:nvPr/>
        </p:nvSpPr>
        <p:spPr>
          <a:xfrm>
            <a:off x="6217920" y="1481328"/>
            <a:ext cx="3273552"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ほかの大手（参考）</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6002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4023360"/>
            <a:ext cx="1600200"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最大4万円分</a:t>
            </a:r>
            <a:endParaRPr lang="ja-JP" altLang="en-US" sz="1200" dirty="0">
              <a:latin typeface="メイリオ"/>
              <a:ea typeface="メイリオ"/>
              <a:cs typeface="メイリオ"/>
            </a:endParaRPr>
          </a:p>
        </p:txBody>
      </p:sp>
      <p:sp>
        <p:nvSpPr>
          <p:cNvPr id="13" name="見出し あいさつ"/>
          <p:cNvSpPr/>
          <p:nvPr/>
        </p:nvSpPr>
        <p:spPr>
          <a:xfrm>
            <a:off x="2148840" y="1874519"/>
            <a:ext cx="182880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大進建設のあいさつ" descr="tanaka_line_daishin_aisatsu.png"/>
          <p:cNvPicPr>
            <a:picLocks noChangeAspect="1"/>
          </p:cNvPicPr>
          <p:nvPr/>
        </p:nvPicPr>
        <p:blipFill>
          <a:blip r:embed="rId3"/>
          <a:stretch>
            <a:fillRect/>
          </a:stretch>
        </p:blipFill>
        <p:spPr>
          <a:xfrm>
            <a:off x="2400300" y="2340864"/>
            <a:ext cx="1325880" cy="2871216"/>
          </a:xfrm>
          <a:prstGeom prst="rect">
            <a:avLst/>
          </a:prstGeom>
          <a:ln w="9525">
            <a:solidFill>
              <a:srgbClr val="BFBFBF"/>
            </a:solidFill>
          </a:ln>
        </p:spPr>
      </p:pic>
      <p:sp>
        <p:nvSpPr>
          <p:cNvPr id="15" name="画面の説明"/>
          <p:cNvSpPr/>
          <p:nvPr/>
        </p:nvSpPr>
        <p:spPr>
          <a:xfrm>
            <a:off x="2148840" y="5266944"/>
            <a:ext cx="182880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p:txBody>
      </p:sp>
      <p:sp>
        <p:nvSpPr>
          <p:cNvPr id="16" name="見出し リッチメニュー"/>
          <p:cNvSpPr/>
          <p:nvPr/>
        </p:nvSpPr>
        <p:spPr>
          <a:xfrm>
            <a:off x="4114800" y="1874519"/>
            <a:ext cx="1874519"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18" name="見出し 一条工務店"/>
          <p:cNvSpPr/>
          <p:nvPr/>
        </p:nvSpPr>
        <p:spPr>
          <a:xfrm>
            <a:off x="6217920" y="1874519"/>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6263640" y="2286000"/>
            <a:ext cx="868680" cy="1883664"/>
          </a:xfrm>
          <a:prstGeom prst="rect">
            <a:avLst/>
          </a:prstGeom>
          <a:ln w="9525">
            <a:solidFill>
              <a:srgbClr val="BFBFBF"/>
            </a:solidFill>
          </a:ln>
        </p:spPr>
      </p:pic>
      <p:sp>
        <p:nvSpPr>
          <p:cNvPr id="20" name="画面の説明"/>
          <p:cNvSpPr/>
          <p:nvPr/>
        </p:nvSpPr>
        <p:spPr>
          <a:xfrm>
            <a:off x="8183879" y="2286000"/>
            <a:ext cx="1307592" cy="1883664"/>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1分のアンケートへ案内。メニューに性能・暮らし・実例</a:t>
            </a:r>
            <a:endParaRPr lang="ja-JP" altLang="en-US" sz="1200" dirty="0">
              <a:latin typeface="メイリオ"/>
              <a:ea typeface="メイリオ"/>
              <a:cs typeface="メイリオ"/>
            </a:endParaRPr>
          </a:p>
        </p:txBody>
      </p:sp>
      <p:sp>
        <p:nvSpPr>
          <p:cNvPr id="21" name="見出し セキスイハイム"/>
          <p:cNvSpPr/>
          <p:nvPr/>
        </p:nvSpPr>
        <p:spPr>
          <a:xfrm>
            <a:off x="6217920" y="4343400"/>
            <a:ext cx="3273552" cy="347472"/>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セキスイハイム</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7223760" y="2286000"/>
            <a:ext cx="868680" cy="1883664"/>
          </a:xfrm>
          <a:prstGeom prst="rect">
            <a:avLst/>
          </a:prstGeom>
          <a:ln w="9525">
            <a:solidFill>
              <a:srgbClr val="BFBFBF"/>
            </a:solidFill>
          </a:ln>
        </p:spPr>
      </p:pic>
      <p:sp>
        <p:nvSpPr>
          <p:cNvPr id="23" name="画面の説明"/>
          <p:cNvSpPr/>
          <p:nvPr/>
        </p:nvSpPr>
        <p:spPr>
          <a:xfrm>
            <a:off x="6217920" y="4754880"/>
            <a:ext cx="3273552" cy="548640"/>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LINEで、カタログ無料診断・無料間取り作成を案内</a:t>
            </a:r>
            <a:endParaRPr lang="ja-JP" altLang="en-US" sz="1200" dirty="0">
              <a:latin typeface="メイリオ"/>
              <a:ea typeface="メイリオ"/>
              <a:cs typeface="メイリオ"/>
            </a:endParaRPr>
          </a:p>
        </p:txBody>
      </p:sp>
      <p:sp>
        <p:nvSpPr>
          <p:cNvPr id="26" name="区切り"/>
          <p:cNvSpPr/>
          <p:nvPr/>
        </p:nvSpPr>
        <p:spPr>
          <a:xfrm>
            <a:off x="608076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2026年10月19日、セキスイハイム 2026年10月16日確認）。サイトのポップアップは大進建設の公式サイトより（2026年10月16日確認）</a:t>
            </a:r>
            <a:endParaRPr lang="ja-JP" altLang="en-US" sz="1200" dirty="0">
              <a:latin typeface="メイリオ"/>
              <a:ea typeface="メイリオ"/>
              <a:cs typeface="メイリオ"/>
            </a:endParaRPr>
          </a:p>
        </p:txBody>
      </p:sp>
      <p:pic>
        <p:nvPicPr>
          <p:cNvPr id="28" name="大進建設のキャンペーンとリッチメニュー" descr="tanaka_line_daishin_aisatsu.png"/>
          <p:cNvPicPr>
            <a:picLocks noChangeAspect="1"/>
          </p:cNvPicPr>
          <p:nvPr/>
        </p:nvPicPr>
        <p:blipFill>
          <a:blip r:embed="rId6"/>
          <a:stretch>
            <a:fillRect/>
          </a:stretch>
        </p:blipFill>
        <p:spPr>
          <a:xfrm>
            <a:off x="4389120" y="2340864"/>
            <a:ext cx="1325880" cy="2871216"/>
          </a:xfrm>
          <a:prstGeom prst="rect">
            <a:avLst/>
          </a:prstGeom>
          <a:ln w="9525">
            <a:solidFill>
              <a:srgbClr val="BFBFBF"/>
            </a:solidFill>
          </a:ln>
        </p:spPr>
      </p:pic>
      <p:sp>
        <p:nvSpPr>
          <p:cNvPr id="29" name="画面の説明"/>
          <p:cNvSpPr/>
          <p:nvPr/>
        </p:nvSpPr>
        <p:spPr>
          <a:xfrm>
            <a:off x="4069080" y="5266944"/>
            <a:ext cx="196596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特典で事前審査まで後押しする大進建設に対し、資料請求の前から契約まで追う設計で応える</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※各社のLINE公式アカウントより（大進建設 2026年10月21日、一条工務店 2026年10月19日確認）。入口・ポップアップは各社の公式サイトより（2026年10月16日確認）</a:t>
            </a:r>
            <a:endParaRPr lang="ja-JP" altLang="en-US" sz="1200" dirty="0">
              <a:latin typeface="メイリオ"/>
              <a:ea typeface="メイリオ"/>
              <a:cs typeface="メイリオ"/>
            </a:endParaRPr>
          </a:p>
        </p:txBody>
      </p:sp>
      <p:sp>
        <p:nvSpPr>
          <p:cNvPr id="13" name="会社 大進建設"/>
          <p:cNvSpPr/>
          <p:nvPr/>
        </p:nvSpPr>
        <p:spPr>
          <a:xfrm>
            <a:off x="502920" y="1572768"/>
            <a:ext cx="3401568" cy="329184"/>
          </a:xfrm>
          <a:prstGeom prst="rect">
            <a:avLst/>
          </a:prstGeom>
          <a:solidFill>
            <a:srgbClr val="7F7F7F"/>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4" name="会社 タナカホーム"/>
          <p:cNvSpPr/>
          <p:nvPr/>
        </p:nvSpPr>
        <p:spPr>
          <a:xfrm>
            <a:off x="5971032" y="1572768"/>
            <a:ext cx="342900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タナカホーム（弊社の運用でつくる形）</a:t>
            </a:r>
            <a:endParaRPr lang="ja-JP" altLang="en-US" sz="1200" dirty="0">
              <a:latin typeface="メイリオ"/>
              <a:ea typeface="メイリオ"/>
              <a:cs typeface="メイリオ"/>
            </a:endParaRPr>
          </a:p>
        </p:txBody>
      </p:sp>
      <p:sp>
        <p:nvSpPr>
          <p:cNvPr id="15" name="項目 友だちになるきっかけ"/>
          <p:cNvSpPr/>
          <p:nvPr/>
        </p:nvSpPr>
        <p:spPr>
          <a:xfrm>
            <a:off x="4023360" y="208483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友だちになるきっかけ</a:t>
            </a:r>
            <a:endParaRPr lang="ja-JP" altLang="en-US" sz="1200" dirty="0">
              <a:latin typeface="メイリオ"/>
              <a:ea typeface="メイリオ"/>
              <a:cs typeface="メイリオ"/>
            </a:endParaRPr>
          </a:p>
        </p:txBody>
      </p:sp>
      <p:sp>
        <p:nvSpPr>
          <p:cNvPr id="16" name="大進建設"/>
          <p:cNvSpPr/>
          <p:nvPr/>
        </p:nvSpPr>
        <p:spPr>
          <a:xfrm>
            <a:off x="502920" y="201168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LINE登録で最大4万円分のギフトカード</a:t>
            </a:r>
            <a:endParaRPr lang="ja-JP" altLang="en-US" sz="1200" dirty="0">
              <a:latin typeface="メイリオ"/>
              <a:ea typeface="メイリオ"/>
              <a:cs typeface="メイリオ"/>
            </a:endParaRPr>
          </a:p>
        </p:txBody>
      </p:sp>
      <p:sp>
        <p:nvSpPr>
          <p:cNvPr id="17" name="タナカホーム"/>
          <p:cNvSpPr/>
          <p:nvPr/>
        </p:nvSpPr>
        <p:spPr>
          <a:xfrm>
            <a:off x="5971032" y="201168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来場特典に加え、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施工事例・ルームツアーなどの情報</a:t>
            </a:r>
            <a:endParaRPr lang="ja-JP" altLang="en-US" sz="1200" dirty="0">
              <a:latin typeface="メイリオ"/>
              <a:ea typeface="メイリオ"/>
              <a:cs typeface="メイリオ"/>
            </a:endParaRPr>
          </a:p>
        </p:txBody>
      </p:sp>
      <p:cxnSp>
        <p:nvCxnSpPr>
          <p:cNvPr id="18" name="項目の区切り"/>
          <p:cNvCxnSpPr/>
          <p:nvPr/>
        </p:nvCxnSpPr>
        <p:spPr>
          <a:xfrm>
            <a:off x="502920" y="260604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項目 友だちの入口"/>
          <p:cNvSpPr/>
          <p:nvPr/>
        </p:nvSpPr>
        <p:spPr>
          <a:xfrm>
            <a:off x="4023360" y="272491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友だちの入口</a:t>
            </a:r>
            <a:endParaRPr lang="ja-JP" altLang="en-US" sz="1200" dirty="0">
              <a:latin typeface="メイリオ"/>
              <a:ea typeface="メイリオ"/>
              <a:cs typeface="メイリオ"/>
            </a:endParaRPr>
          </a:p>
        </p:txBody>
      </p:sp>
      <p:sp>
        <p:nvSpPr>
          <p:cNvPr id="20" name="大進建設"/>
          <p:cNvSpPr/>
          <p:nvPr/>
        </p:nvSpPr>
        <p:spPr>
          <a:xfrm>
            <a:off x="502920" y="265176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p:txBody>
      </p:sp>
      <p:sp>
        <p:nvSpPr>
          <p:cNvPr id="21" name="タナカホーム"/>
          <p:cNvSpPr/>
          <p:nvPr/>
        </p:nvSpPr>
        <p:spPr>
          <a:xfrm>
            <a:off x="5971032" y="265176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サイトのポップアップ＋</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サイトを閉じるとき・資料請求の完了直後</a:t>
            </a:r>
            <a:endParaRPr lang="ja-JP" altLang="en-US" sz="1200" dirty="0">
              <a:latin typeface="メイリオ"/>
              <a:ea typeface="メイリオ"/>
              <a:cs typeface="メイリオ"/>
            </a:endParaRPr>
          </a:p>
        </p:txBody>
      </p:sp>
      <p:cxnSp>
        <p:nvCxnSpPr>
          <p:cNvPr id="22" name="項目の区切り"/>
          <p:cNvCxnSpPr/>
          <p:nvPr/>
        </p:nvCxnSpPr>
        <p:spPr>
          <a:xfrm>
            <a:off x="502920" y="324612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項目 あいさつ"/>
          <p:cNvSpPr/>
          <p:nvPr/>
        </p:nvSpPr>
        <p:spPr>
          <a:xfrm>
            <a:off x="4023360" y="336499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sp>
        <p:nvSpPr>
          <p:cNvPr id="24" name="大進建設"/>
          <p:cNvSpPr/>
          <p:nvPr/>
        </p:nvSpPr>
        <p:spPr>
          <a:xfrm>
            <a:off x="502920" y="329184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お名前入りのあいさつと、キャンペーンの案内。</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「まずは資料請求から」</a:t>
            </a:r>
            <a:endParaRPr lang="ja-JP" altLang="en-US" sz="1200" dirty="0">
              <a:latin typeface="メイリオ"/>
              <a:ea typeface="メイリオ"/>
              <a:cs typeface="メイリオ"/>
            </a:endParaRPr>
          </a:p>
        </p:txBody>
      </p:sp>
      <p:sp>
        <p:nvSpPr>
          <p:cNvPr id="25" name="タナカホーム"/>
          <p:cNvSpPr/>
          <p:nvPr/>
        </p:nvSpPr>
        <p:spPr>
          <a:xfrm>
            <a:off x="5971032" y="329184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予約の案内に加え、</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平屋か2階建てか・予算の簡易診断へ</a:t>
            </a:r>
            <a:endParaRPr lang="ja-JP" altLang="en-US" sz="1200" dirty="0">
              <a:latin typeface="メイリオ"/>
              <a:ea typeface="メイリオ"/>
              <a:cs typeface="メイリオ"/>
            </a:endParaRPr>
          </a:p>
        </p:txBody>
      </p:sp>
      <p:cxnSp>
        <p:nvCxnSpPr>
          <p:cNvPr id="26" name="項目の区切り"/>
          <p:cNvCxnSpPr/>
          <p:nvPr/>
        </p:nvCxnSpPr>
        <p:spPr>
          <a:xfrm>
            <a:off x="502920" y="388620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項目 リッチメニュー"/>
          <p:cNvSpPr/>
          <p:nvPr/>
        </p:nvSpPr>
        <p:spPr>
          <a:xfrm>
            <a:off x="4023360" y="4005072"/>
            <a:ext cx="1828800" cy="402335"/>
          </a:xfrm>
          <a:prstGeom prst="rect">
            <a:avLst/>
          </a:prstGeom>
          <a:solidFill>
            <a:srgbClr val="FFFFFF"/>
          </a:solidFill>
          <a:ln w="12700">
            <a:solidFill>
              <a:srgbClr val="1F285A"/>
            </a:solidFill>
          </a:ln>
        </p:spPr>
        <p:txBody>
          <a:bodyPr wrap="square" lIns="73152" tIns="36576" rIns="73152" bIns="36576" rtlCol="0" anchor="ctr">
            <a:noAutofit/>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sp>
        <p:nvSpPr>
          <p:cNvPr id="28" name="大進建設"/>
          <p:cNvSpPr/>
          <p:nvPr/>
        </p:nvSpPr>
        <p:spPr>
          <a:xfrm>
            <a:off x="502920" y="393192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キャンペーン・資料請求・モデルハウス・</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イベント・土地情報</a:t>
            </a:r>
            <a:endParaRPr lang="ja-JP" altLang="en-US" sz="1200" dirty="0">
              <a:latin typeface="メイリオ"/>
              <a:ea typeface="メイリオ"/>
              <a:cs typeface="メイリオ"/>
            </a:endParaRPr>
          </a:p>
        </p:txBody>
      </p:sp>
      <p:sp>
        <p:nvSpPr>
          <p:cNvPr id="29" name="タナカホーム"/>
          <p:cNvSpPr/>
          <p:nvPr/>
        </p:nvSpPr>
        <p:spPr>
          <a:xfrm>
            <a:off x="5971032" y="393192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今の予約・ホームページ・SNSに、</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施工事例・ルームツアー・資金相談を足す</a:t>
            </a:r>
            <a:endParaRPr lang="ja-JP" altLang="en-US" sz="1200" dirty="0">
              <a:latin typeface="メイリオ"/>
              <a:ea typeface="メイリオ"/>
              <a:cs typeface="メイリオ"/>
            </a:endParaRPr>
          </a:p>
        </p:txBody>
      </p:sp>
      <p:cxnSp>
        <p:nvCxnSpPr>
          <p:cNvPr id="30" name="項目の区切り"/>
          <p:cNvCxnSpPr/>
          <p:nvPr/>
        </p:nvCxnSpPr>
        <p:spPr>
          <a:xfrm>
            <a:off x="502920" y="4526280"/>
            <a:ext cx="8897112"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31" name="項目 どこまで追うか"/>
          <p:cNvSpPr/>
          <p:nvPr/>
        </p:nvSpPr>
        <p:spPr>
          <a:xfrm>
            <a:off x="4023360" y="4645152"/>
            <a:ext cx="1828800" cy="402335"/>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どこまで追うか</a:t>
            </a:r>
            <a:endParaRPr lang="ja-JP" altLang="en-US" sz="1200" dirty="0">
              <a:latin typeface="メイリオ"/>
              <a:ea typeface="メイリオ"/>
              <a:cs typeface="メイリオ"/>
            </a:endParaRPr>
          </a:p>
        </p:txBody>
      </p:sp>
      <p:sp>
        <p:nvSpPr>
          <p:cNvPr id="32" name="大進建設"/>
          <p:cNvSpPr/>
          <p:nvPr/>
        </p:nvSpPr>
        <p:spPr>
          <a:xfrm>
            <a:off x="502920" y="4572000"/>
            <a:ext cx="3401568"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特典で、資料請求・予約来場から、</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来場後の事前審査まで</a:t>
            </a:r>
            <a:endParaRPr lang="ja-JP" altLang="en-US" sz="1200" dirty="0">
              <a:latin typeface="メイリオ"/>
              <a:ea typeface="メイリオ"/>
              <a:cs typeface="メイリオ"/>
            </a:endParaRPr>
          </a:p>
        </p:txBody>
      </p:sp>
      <p:sp>
        <p:nvSpPr>
          <p:cNvPr id="33" name="タナカホーム"/>
          <p:cNvSpPr/>
          <p:nvPr/>
        </p:nvSpPr>
        <p:spPr>
          <a:xfrm>
            <a:off x="5971032" y="4572000"/>
            <a:ext cx="3429000" cy="548640"/>
          </a:xfrm>
          <a:prstGeom prst="rect">
            <a:avLst/>
          </a:prstGeom>
          <a:noFill/>
          <a:ln>
            <a:noFill/>
          </a:ln>
        </p:spPr>
        <p:txBody>
          <a:bodyPr wrap="square" lIns="18288" tIns="18288" rIns="18288" bIns="0"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弊社が運用を代行して、</a:t>
            </a:r>
            <a:endParaRPr lang="ja-JP" altLang="en-US" sz="1200" dirty="0">
              <a:latin typeface="メイリオ"/>
              <a:ea typeface="メイリオ"/>
              <a:cs typeface="メイリオ"/>
            </a:endParaRPr>
          </a:p>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資料請求の前から契約まで追う設計にする</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課題</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ご提案内容</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1887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20624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20624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20624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
        <p:nvSpPr>
          <p:cNvPr id="24" name="送り方"/>
          <p:cNvSpPr/>
          <p:nvPr/>
        </p:nvSpPr>
        <p:spPr>
          <a:xfrm>
            <a:off x="502920" y="3639312"/>
            <a:ext cx="8897112" cy="384048"/>
          </a:xfrm>
          <a:prstGeom prst="rect">
            <a:avLst/>
          </a:prstGeom>
          <a:noFill/>
          <a:ln w="9525">
            <a:solidFill>
              <a:srgbClr val="D9D9D9"/>
            </a:solidFill>
          </a:ln>
        </p:spPr>
        <p:txBody>
          <a:bodyPr wrap="square" lIns="91440" tIns="91440" rIns="91440" bIns="54864" rtlCol="0" anchor="ctr">
            <a:noAutofit/>
          </a:bodyPr>
          <a:lstStyle/>
          <a:p>
            <a:pPr algn="l">
              <a:lnSpc>
                <a:spcPct val="125000"/>
              </a:lnSpc>
              <a:buNone/>
            </a:pPr>
            <a:r>
              <a:rPr lang="ja-JP" altLang="en-US" sz="1200" b="0" dirty="0">
                <a:solidFill>
                  <a:srgbClr val="333333"/>
                </a:solidFill>
                <a:latin typeface="メイリオ" panose="020B0604030504040204" pitchFamily="50" charset="-128"/>
                <a:ea typeface="メイリオ" panose="020B0604030504040204" pitchFamily="50" charset="-128"/>
              </a:rPr>
              <a:t>送り方｜貴社の事務の方が予約を確認し、LINEでお送りする。文面の型は弊社が用意し、反応を見て直す</a:t>
            </a:r>
            <a:endParaRPr lang="ja-JP" alt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概算お見積り：月23万円で、6か月目に資料請求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¥165,000〜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型の改善</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オプション</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1,453人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来場前の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お知らせ</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型をつくる</a:t>
            </a:r>
            <a:endParaRPr lang="en-US" sz="1300" b="0" u="none" strike="noStrike">
              <a:solidFill>
                <a:srgbClr val="000000"/>
              </a:solidFill>
              <a:effectLst/>
              <a:uFillTx/>
              <a:latin typeface="メイリオ"/>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165,000円〜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1755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100,000円〜／プラン②・③ 150,000円〜）＋離脱防止 15,000円</a:t>
            </a:r>
            <a:endParaRPr lang="ja-JP" altLang="en-US" sz="1200" dirty="0"/>
          </a:p>
        </p:txBody>
      </p:sp>
      <p:sp>
        <p:nvSpPr>
          <p:cNvPr id="641" name="注記"/>
          <p:cNvSpPr/>
          <p:nvPr/>
        </p:nvSpPr>
        <p:spPr>
          <a:xfrm>
            <a:off x="384048" y="54041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30,000円。LINE公式アカウント利用料は別（貴社のご契約のまま）</a:t>
            </a:r>
            <a:endParaRPr lang="ja-JP" altLang="en-US" sz="1200" dirty="0"/>
          </a:p>
        </p:txBody>
      </p:sp>
      <p:sp>
        <p:nvSpPr>
          <p:cNvPr id="2" name="注記"/>
          <p:cNvSpPr/>
          <p:nvPr/>
        </p:nvSpPr>
        <p:spPr>
          <a:xfrm>
            <a:off x="384048" y="5632704"/>
            <a:ext cx="9144000" cy="246888"/>
          </a:xfrm>
          <a:prstGeom prst="rect">
            <a:avLst/>
          </a:prstGeom>
          <a:noFill/>
          <a:ln>
            <a:noFill/>
          </a:ln>
        </p:spPr>
        <p:txBody>
          <a:bodyPr wrap="square" lIns="0" tIns="0" rIns="0" bIns="0" rtlCol="0" anchor="t">
            <a:noAutofit/>
          </a:bodyPr>
          <a:lstStyle/>
          <a:p>
            <a:pPr algn="l">
              <a:buNone/>
            </a:pPr>
            <a:r>
              <a:rPr lang="ja-JP" altLang="en-US" sz="900" b="1" dirty="0">
                <a:solidFill>
                  <a:srgbClr val="7F7F7F"/>
                </a:solidFill>
                <a:latin typeface="メイリオ" panose="020B0604030504040204" pitchFamily="50" charset="-128"/>
                <a:ea typeface="メイリオ" panose="020B0604030504040204" pitchFamily="50" charset="-128"/>
              </a:rPr>
              <a:t>※サンクスLINE誘導（オプション）：追加する場合は初期＋150,000円・月額＋30,000円〜。サンクスLINE誘導のみの導入も可能</a:t>
            </a:r>
            <a:endParaRPr lang="ja-JP" altLang="en-US" sz="1200" dirty="0"/>
          </a:p>
        </p:txBody>
      </p:sp>
      <p:sp>
        <p:nvSpPr>
          <p:cNvPr id="642" name="注記"/>
          <p:cNvSpPr/>
          <p:nvPr/>
        </p:nvSpPr>
        <p:spPr>
          <a:xfrm>
            <a:off x="384048" y="58613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608990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型の作成・改善</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（送信は貴社）</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42" name="注記"/>
          <p:cNvSpPr/>
          <p:nvPr/>
        </p:nvSpPr>
        <p:spPr>
          <a:xfrm>
            <a:off x="384048" y="529254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※サンクスLINE誘導はオプション（どのプランにも追加可能。サンクスLINE誘導のみの導入も可能）</a:t>
            </a:r>
            <a:endParaRPr lang="ja-JP" alt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78808" y="645487"/>
            <a:ext cx="4575836" cy="523220"/>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a:p>
            <a:pPr lvl="0">
              <a:buClr>
                <a:schemeClr val="dk1"/>
              </a:buClr>
              <a:buSzPts val="1500"/>
            </a:pPr>
            <a:r>
              <a:rPr lang="ja-JP" altLang="en-US" sz="1400" dirty="0">
                <a:latin typeface="メイリオ"/>
                <a:ea typeface="メイリオ"/>
                <a:cs typeface="メイリオ"/>
                <a:sym typeface="Meiryo"/>
              </a:rPr>
              <a:t>サンクス</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誘導のみのご導入も可能</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5028957"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今後の展開</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構築：離脱防止、ステップ配信、来場前のお知らせの型（サンクスLINE誘導はオプション）</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143289</TotalTime>
  <Words>5734</Words>
  <Application>Microsoft Office PowerPoint</Application>
  <PresentationFormat>A4 210 x 297 mm</PresentationFormat>
  <Paragraphs>907</Paragraphs>
  <Slides>45</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45</vt:i4>
      </vt:variant>
    </vt:vector>
  </HeadingPairs>
  <TitlesOfParts>
    <vt:vector size="53" baseType="lpstr">
      <vt:lpstr>Meiryo</vt:lpstr>
      <vt:lpstr>Meiryo</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1979</cp:revision>
  <cp:lastPrinted>2022-11-01T11:38:14Z</cp:lastPrinted>
  <dcterms:created xsi:type="dcterms:W3CDTF">2015-09-04T09:21:15Z</dcterms:created>
  <dcterms:modified xsi:type="dcterms:W3CDTF">2026-10-28T07:12:42Z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