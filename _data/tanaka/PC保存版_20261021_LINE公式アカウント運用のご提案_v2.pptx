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emf"/><Relationship Id="rId7"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競合のLINE運用：大進建設は特典で来場へ、一条工務店は情報でつなぐ</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友だち追加の入口と特典・あいさつ・リッチメニューを、各社の実際の画面で見る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3113532"/>
            <a:ext cx="1325880" cy="1325880"/>
          </a:xfrm>
          <a:prstGeom prst="rect">
            <a:avLst/>
          </a:prstGeom>
        </p:spPr>
      </p:pic>
      <p:sp>
        <p:nvSpPr>
          <p:cNvPr id="9" name="会社 大進建設"/>
          <p:cNvSpPr/>
          <p:nvPr/>
        </p:nvSpPr>
        <p:spPr>
          <a:xfrm>
            <a:off x="411480" y="1481328"/>
            <a:ext cx="4434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一条工務店"/>
          <p:cNvSpPr/>
          <p:nvPr/>
        </p:nvSpPr>
        <p:spPr>
          <a:xfrm>
            <a:off x="5056632" y="1481328"/>
            <a:ext cx="4434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a:t>
            </a:r>
            <a:endParaRPr lang="ja-JP" altLang="en-US" sz="1200" dirty="0">
              <a:latin typeface="メイリオ"/>
              <a:ea typeface="メイリオ"/>
              <a:cs typeface="メイリオ"/>
            </a:endParaRPr>
          </a:p>
        </p:txBody>
      </p:sp>
      <p:sp>
        <p:nvSpPr>
          <p:cNvPr id="13" name="見出し あいさつ"/>
          <p:cNvSpPr/>
          <p:nvPr/>
        </p:nvSpPr>
        <p:spPr>
          <a:xfrm>
            <a:off x="196596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Picture 13" descr="tanaka_line_daishin_aisatsu.png"/>
          <p:cNvPicPr>
            <a:picLocks noChangeAspect="1"/>
          </p:cNvPicPr>
          <p:nvPr/>
        </p:nvPicPr>
        <p:blipFill>
          <a:blip r:embed="rId3"/>
          <a:stretch>
            <a:fillRect/>
          </a:stretch>
        </p:blipFill>
        <p:spPr>
          <a:xfrm>
            <a:off x="1965960" y="2340864"/>
            <a:ext cx="1325880" cy="2871942"/>
          </a:xfrm>
          <a:prstGeom prst="rect">
            <a:avLst/>
          </a:prstGeom>
          <a:ln w="9525">
            <a:solidFill>
              <a:srgbClr val="BFBFBF"/>
            </a:solidFill>
          </a:ln>
        </p:spPr>
      </p:pic>
      <p:sp>
        <p:nvSpPr>
          <p:cNvPr id="15" name="画面の説明"/>
          <p:cNvSpPr/>
          <p:nvPr/>
        </p:nvSpPr>
        <p:spPr>
          <a:xfrm>
            <a:off x="1965960"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来場特典・相談・来場予約をLINEで受付</a:t>
            </a:r>
            <a:endParaRPr lang="ja-JP" altLang="en-US" sz="1200" dirty="0">
              <a:latin typeface="メイリオ"/>
              <a:ea typeface="メイリオ"/>
              <a:cs typeface="メイリオ"/>
            </a:endParaRPr>
          </a:p>
        </p:txBody>
      </p:sp>
      <p:sp>
        <p:nvSpPr>
          <p:cNvPr id="16" name="見出し 追加後の配信"/>
          <p:cNvSpPr/>
          <p:nvPr/>
        </p:nvSpPr>
        <p:spPr>
          <a:xfrm>
            <a:off x="352044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00" dirty="0">
              <a:latin typeface="メイリオ"/>
              <a:ea typeface="メイリオ"/>
              <a:cs typeface="メイリオ"/>
            </a:endParaRPr>
          </a:p>
        </p:txBody>
      </p:sp>
      <p:sp>
        <p:nvSpPr>
          <p:cNvPr id="17" name="差し込み ステップ配信"/>
          <p:cNvSpPr/>
          <p:nvPr/>
        </p:nvSpPr>
        <p:spPr>
          <a:xfrm>
            <a:off x="3520440" y="2340864"/>
            <a:ext cx="1325880" cy="2871216"/>
          </a:xfrm>
          <a:prstGeom prst="rect">
            <a:avLst/>
          </a:prstGeom>
          <a:noFill/>
          <a:ln w="9525">
            <a:solidFill>
              <a:srgbClr val="7F7F7F"/>
            </a:solidFill>
            <a:prstDash val="dash"/>
          </a:ln>
        </p:spPr>
        <p:txBody>
          <a:bodyPr wrap="square" lIns="73152" tIns="36576" rIns="73152" bIns="36576" rtlCol="0" anchor="ctr">
            <a:noAutofit/>
          </a:bodyPr>
          <a:lstStyle/>
          <a:p>
            <a:pPr algn="ctr">
              <a:lnSpc>
                <a:spcPct val="130000"/>
              </a:lnSpc>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ステップ配信の画面</a:t>
            </a:r>
            <a:endParaRPr lang="ja-JP" altLang="en-US" sz="1200" dirty="0">
              <a:latin typeface="メイリオ"/>
              <a:ea typeface="メイリオ"/>
              <a:cs typeface="メイリオ"/>
            </a:endParaRPr>
          </a:p>
          <a:p>
            <a:pPr algn="ctr">
              <a:lnSpc>
                <a:spcPct val="130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（差し込み）</a:t>
            </a:r>
            <a:endParaRPr lang="ja-JP" altLang="en-US" sz="1200" dirty="0">
              <a:latin typeface="メイリオ"/>
              <a:ea typeface="メイリオ"/>
              <a:cs typeface="メイリオ"/>
            </a:endParaRPr>
          </a:p>
        </p:txBody>
      </p:sp>
      <p:sp>
        <p:nvSpPr>
          <p:cNvPr id="18" name="見出し あいさつ"/>
          <p:cNvSpPr/>
          <p:nvPr/>
        </p:nvSpPr>
        <p:spPr>
          <a:xfrm>
            <a:off x="505663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5056632" y="2340864"/>
            <a:ext cx="1325880" cy="2871942"/>
          </a:xfrm>
          <a:prstGeom prst="rect">
            <a:avLst/>
          </a:prstGeom>
          <a:ln w="9525">
            <a:solidFill>
              <a:srgbClr val="BFBFBF"/>
            </a:solidFill>
          </a:ln>
        </p:spPr>
      </p:pic>
      <p:sp>
        <p:nvSpPr>
          <p:cNvPr id="20" name="画面の説明"/>
          <p:cNvSpPr/>
          <p:nvPr/>
        </p:nvSpPr>
        <p:spPr>
          <a:xfrm>
            <a:off x="5056632"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アンケートへ案内。TOPに来場キャンペーン</a:t>
            </a:r>
            <a:endParaRPr lang="ja-JP" altLang="en-US" sz="1200" dirty="0">
              <a:latin typeface="メイリオ"/>
              <a:ea typeface="メイリオ"/>
              <a:cs typeface="メイリオ"/>
            </a:endParaRPr>
          </a:p>
        </p:txBody>
      </p:sp>
      <p:sp>
        <p:nvSpPr>
          <p:cNvPr id="21" name="見出し リッチメニュー"/>
          <p:cNvSpPr/>
          <p:nvPr/>
        </p:nvSpPr>
        <p:spPr>
          <a:xfrm>
            <a:off x="661111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6611112" y="2340864"/>
            <a:ext cx="1325880" cy="2871942"/>
          </a:xfrm>
          <a:prstGeom prst="rect">
            <a:avLst/>
          </a:prstGeom>
          <a:ln w="9525">
            <a:solidFill>
              <a:srgbClr val="BFBFBF"/>
            </a:solidFill>
          </a:ln>
        </p:spPr>
      </p:pic>
      <p:sp>
        <p:nvSpPr>
          <p:cNvPr id="23" name="画面の説明"/>
          <p:cNvSpPr/>
          <p:nvPr/>
        </p:nvSpPr>
        <p:spPr>
          <a:xfrm>
            <a:off x="6611112"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コンテンツ：性能・暮らし・実例など</a:t>
            </a:r>
            <a:endParaRPr lang="ja-JP" altLang="en-US" sz="1200" dirty="0">
              <a:latin typeface="メイリオ"/>
              <a:ea typeface="メイリオ"/>
              <a:cs typeface="メイリオ"/>
            </a:endParaRPr>
          </a:p>
        </p:txBody>
      </p:sp>
      <p:sp>
        <p:nvSpPr>
          <p:cNvPr id="24" name="見出し 追加後の配信"/>
          <p:cNvSpPr/>
          <p:nvPr/>
        </p:nvSpPr>
        <p:spPr>
          <a:xfrm>
            <a:off x="816559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00" dirty="0">
              <a:latin typeface="メイリオ"/>
              <a:ea typeface="メイリオ"/>
              <a:cs typeface="メイリオ"/>
            </a:endParaRPr>
          </a:p>
        </p:txBody>
      </p:sp>
      <p:sp>
        <p:nvSpPr>
          <p:cNvPr id="25" name="差し込み ステップ配信"/>
          <p:cNvSpPr/>
          <p:nvPr/>
        </p:nvSpPr>
        <p:spPr>
          <a:xfrm>
            <a:off x="8165592" y="2340864"/>
            <a:ext cx="1325880" cy="2871216"/>
          </a:xfrm>
          <a:prstGeom prst="rect">
            <a:avLst/>
          </a:prstGeom>
          <a:noFill/>
          <a:ln w="9525">
            <a:solidFill>
              <a:srgbClr val="7F7F7F"/>
            </a:solidFill>
            <a:prstDash val="dash"/>
          </a:ln>
        </p:spPr>
        <p:txBody>
          <a:bodyPr wrap="square" lIns="73152" tIns="36576" rIns="73152" bIns="36576" rtlCol="0" anchor="ctr">
            <a:noAutofit/>
          </a:bodyPr>
          <a:lstStyle/>
          <a:p>
            <a:pPr algn="ctr">
              <a:lnSpc>
                <a:spcPct val="130000"/>
              </a:lnSpc>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ステップ配信の画面</a:t>
            </a:r>
            <a:endParaRPr lang="ja-JP" altLang="en-US" sz="1200" dirty="0">
              <a:latin typeface="メイリオ"/>
              <a:ea typeface="メイリオ"/>
              <a:cs typeface="メイリオ"/>
            </a:endParaRPr>
          </a:p>
          <a:p>
            <a:pPr algn="ctr">
              <a:lnSpc>
                <a:spcPct val="130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（差し込み）</a:t>
            </a:r>
            <a:endParaRPr lang="ja-JP" altLang="en-US" sz="1200" dirty="0">
              <a:latin typeface="メイリオ"/>
              <a:ea typeface="メイリオ"/>
              <a:cs typeface="メイリオ"/>
            </a:endParaRPr>
          </a:p>
        </p:txBody>
      </p:sp>
      <p:sp>
        <p:nvSpPr>
          <p:cNvPr id="26" name="区切り"/>
          <p:cNvSpPr/>
          <p:nvPr/>
        </p:nvSpPr>
        <p:spPr>
          <a:xfrm>
            <a:off x="491490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※各社のLINE公式アカウントより（2026年10月19日確認）。サイトのポップアップは大進建設の公式サイトより（2026年10月16日確認）</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今の来場特典に加え、検討の順番に沿った情報で、資料請求から来場・契約まで追う</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graphicFrame>
        <p:nvGraphicFramePr>
          <p:cNvPr id="9" name="LINEの運用 8"/>
          <p:cNvGraphicFramePr>
            <a:graphicFrameLocks noGrp="1"/>
          </p:cNvGraphicFramePr>
          <p:nvPr/>
        </p:nvGraphicFramePr>
        <p:xfrm>
          <a:off x="502920" y="1572768"/>
          <a:ext cx="8897112" cy="3566160"/>
        </p:xfrm>
        <a:graphic>
          <a:graphicData uri="http://schemas.openxmlformats.org/drawingml/2006/table">
            <a:tbl>
              <a:tblPr/>
              <a:tblGrid>
                <a:gridCol w="13258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384048">
                <a:tc>
                  <a:txBody>
                    <a:bodyPr/>
                    <a:lstStyle/>
                    <a:p>
                      <a:pPr algn="ctr">
                        <a:buNone/>
                      </a:pP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一条工務店</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タナカホームの運用（ご提案）</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5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サイトのポップアップ「LINE登録で最大4万円分」</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サイトの公式SNSの一覧から友だち追加</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今の来場特典に加え、サイトを閉じるとき・資料請求の完了直後にも入口をつくる</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1"/>
                  </a:ext>
                </a:extLst>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5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来場特典・相談・来場予約をLINEで受け付け、資料請求とイベントのリンクを案内</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1分のアンケートに答えると、オーナー様の実例や家づくりの知識が届く</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来場予約・資料請求の案内に加え、平屋か2階建てか・予算の簡易診断へ案内する</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2"/>
                  </a:ext>
                </a:extLst>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5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友だち追加直後の画面では表示なし（相談・来場予約はメッセージで受付）</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「TOP」（展示場・カタログ請求・来場キャンペーン）と「コンテンツ」（性能・暮らし・実例）の2つ</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今の「予約／ホームページ／公式SNS」に、施工事例・ルームツアー・資金相談を足す</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3"/>
                  </a:ext>
                </a:extLst>
              </a:tr>
              <a:tr h="713232">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5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前後検索の順番に沿ったステップ配信（全5通）で、来場予約まで案内する</a:t>
                      </a:r>
                      <a:endParaRPr lang="ja-JP" altLang="en-US" sz="1200" dirty="0">
                        <a:latin typeface="メイリオ"/>
                        <a:ea typeface="メイリオ"/>
                        <a:cs typeface="メイリオ"/>
                      </a:endParaRPr>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extLst>
                  <a:ext uri="{0D108BD9-81ED-4DB2-BD59-A6C34878D82A}">
                    <a16:rowId xmlns:a16="http://schemas.microsoft.com/office/drawing/2014/main" val="10004"/>
                  </a:ext>
                </a:extLst>
              </a:tr>
            </a:tbl>
          </a:graphicData>
        </a:graphic>
      </p:graphicFrame>
      <p:sp>
        <p:nvSpPr>
          <p:cNvPr id="10" name="差し込み ステップ配信"/>
          <p:cNvSpPr/>
          <p:nvPr/>
        </p:nvSpPr>
        <p:spPr>
          <a:xfrm>
            <a:off x="1883664" y="4480559"/>
            <a:ext cx="2221991" cy="603504"/>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ステップ配信の内容（差し込み）</a:t>
            </a:r>
            <a:endParaRPr lang="ja-JP" altLang="en-US" sz="1200" dirty="0">
              <a:latin typeface="メイリオ"/>
              <a:ea typeface="メイリオ"/>
              <a:cs typeface="メイリオ"/>
            </a:endParaRPr>
          </a:p>
        </p:txBody>
      </p:sp>
      <p:sp>
        <p:nvSpPr>
          <p:cNvPr id="11" name="差し込み ステップ配信"/>
          <p:cNvSpPr/>
          <p:nvPr/>
        </p:nvSpPr>
        <p:spPr>
          <a:xfrm>
            <a:off x="4215383" y="4480559"/>
            <a:ext cx="2267712" cy="603504"/>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ステップ配信の内容（差し込み）</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※各社のLINE公式アカウントより（2026年10月19日確認）。入口・ポップアップは各社の公式サイトより（2026年10月16日確認）</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サイトの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LINEボタン</a:t>
            </a:r>
            <a:endParaRPr lang="en-US" sz="1300" b="0" u="none" strike="noStrike">
              <a:solidFill>
                <a:srgbClr val="FFFFFF"/>
              </a:solidFill>
              <a:effectLst/>
              <a:uFillTx/>
              <a:latin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設置</a:t>
            </a:r>
            <a:endParaRPr lang="en-US" sz="1300" b="0" u="none" strike="noStrike">
              <a:solidFill>
                <a:srgbClr val="000000"/>
              </a:solidFill>
              <a:effectLst/>
              <a:uFillTx/>
              <a:latin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143279</TotalTime>
  <Words>4261</Words>
  <Application>Microsoft Office PowerPoint</Application>
  <PresentationFormat>A4 210 x 297 mm</PresentationFormat>
  <Paragraphs>692</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1976</cp:revision>
  <cp:lastPrinted>2022-11-01T11:38:14Z</cp:lastPrinted>
  <dcterms:created xsi:type="dcterms:W3CDTF">2015-09-04T09:21:15Z</dcterms:created>
  <dcterms:modified xsi:type="dcterms:W3CDTF">2026-10-19T03:20:25Z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