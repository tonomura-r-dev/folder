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10"/>
  </p:notesMasterIdLst>
  <p:handoutMasterIdLst>
    <p:handoutMasterId r:id="rId11"/>
  </p:handoutMasterIdLst>
  <p:sldIdLst>
    <p:sldId id="257" r:id="rId3"/>
    <p:sldId id="256" r:id="rId4"/>
    <p:sldId id="259" r:id="rId5"/>
    <p:sldId id="260" r:id="rId6"/>
    <p:sldId id="262" r:id="rId7"/>
    <p:sldId id="258" r:id="rId8"/>
    <p:sldId id="261" r:id="rId9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>
        <p:scale>
          <a:sx n="66" d="100"/>
          <a:sy n="66" d="100"/>
        </p:scale>
        <p:origin x="1024" y="220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hyperlink" Target="https://youtube.com/shorts/0qI4QgrOppQ" TargetMode="External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752;p28">
            <a:extLst>
              <a:ext uri="{FF2B5EF4-FFF2-40B4-BE49-F238E27FC236}">
                <a16:creationId xmlns:a16="http://schemas.microsoft.com/office/drawing/2014/main" id="{AA80CD04-9456-70DB-2E44-D3EDB1461933}"/>
              </a:ext>
            </a:extLst>
          </p:cNvPr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  <a:sym typeface="Meiryo"/>
              </a:rPr>
              <a:t>サンクスLINE｜機能・費用</a:t>
            </a:r>
            <a:endParaRPr lang="en-US" altLang="ja-JP"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2BBF438-B1EF-A61A-EE3D-69CD39766C7E}"/>
              </a:ext>
            </a:extLst>
          </p:cNvPr>
          <p:cNvSpPr/>
          <p:nvPr/>
        </p:nvSpPr>
        <p:spPr>
          <a:xfrm>
            <a:off x="6123840" y="2144236"/>
            <a:ext cx="2487570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A1E4128-77DC-C871-EE20-5BD43326E078}"/>
              </a:ext>
            </a:extLst>
          </p:cNvPr>
          <p:cNvSpPr/>
          <p:nvPr/>
        </p:nvSpPr>
        <p:spPr>
          <a:xfrm>
            <a:off x="6123841" y="4317370"/>
            <a:ext cx="2487569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37BB268-660A-FEE4-BB39-0E338F1DDC23}"/>
              </a:ext>
            </a:extLst>
          </p:cNvPr>
          <p:cNvSpPr/>
          <p:nvPr/>
        </p:nvSpPr>
        <p:spPr>
          <a:xfrm>
            <a:off x="6161261" y="1989652"/>
            <a:ext cx="1315634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未追加の場合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9FF4626-FD17-CA1C-8064-F46606D0BCCE}"/>
              </a:ext>
            </a:extLst>
          </p:cNvPr>
          <p:cNvSpPr/>
          <p:nvPr/>
        </p:nvSpPr>
        <p:spPr>
          <a:xfrm>
            <a:off x="6161261" y="4195296"/>
            <a:ext cx="1315634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追加済みの場合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F202453-7FF9-8AE7-D10D-66F74A74A2F4}"/>
              </a:ext>
            </a:extLst>
          </p:cNvPr>
          <p:cNvCxnSpPr>
            <a:cxnSpLocks/>
          </p:cNvCxnSpPr>
          <p:nvPr/>
        </p:nvCxnSpPr>
        <p:spPr>
          <a:xfrm flipV="1">
            <a:off x="5819550" y="2932418"/>
            <a:ext cx="318138" cy="42170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92F6E28-BBFF-1A56-AC22-CA16D2F1B1EA}"/>
              </a:ext>
            </a:extLst>
          </p:cNvPr>
          <p:cNvCxnSpPr>
            <a:cxnSpLocks/>
          </p:cNvCxnSpPr>
          <p:nvPr/>
        </p:nvCxnSpPr>
        <p:spPr>
          <a:xfrm>
            <a:off x="5819550" y="3354124"/>
            <a:ext cx="280718" cy="1392760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図 44" descr="グラフィカル ユーザー インターフェイス, アプリケーション, Teams&#10;&#10;AI 生成コンテンツは誤りを含む可能性があります。">
            <a:extLst>
              <a:ext uri="{FF2B5EF4-FFF2-40B4-BE49-F238E27FC236}">
                <a16:creationId xmlns:a16="http://schemas.microsoft.com/office/drawing/2014/main" id="{E91CA7A5-62B3-F1F8-38C3-DDCE33E1CC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518319" y="2173082"/>
            <a:ext cx="1000253" cy="1694141"/>
          </a:xfrm>
          <a:prstGeom prst="rect">
            <a:avLst/>
          </a:prstGeom>
        </p:spPr>
      </p:pic>
      <p:pic>
        <p:nvPicPr>
          <p:cNvPr id="46" name="図 45" descr="電卓の写真のスマートフォン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31EEAD2C-3BE8-0210-FD8E-46D52B30A0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527889" y="4316771"/>
            <a:ext cx="1000253" cy="1694142"/>
          </a:xfrm>
          <a:prstGeom prst="rect">
            <a:avLst/>
          </a:prstGeom>
        </p:spPr>
      </p:pic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989AEB3-EF0E-8885-B426-8B6A5E01F40A}"/>
              </a:ext>
            </a:extLst>
          </p:cNvPr>
          <p:cNvSpPr txBox="1"/>
          <p:nvPr/>
        </p:nvSpPr>
        <p:spPr>
          <a:xfrm>
            <a:off x="6161261" y="2335961"/>
            <a:ext cx="1227667" cy="400110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友だち登録ページ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へ遷移する。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4E6D08E3-E0B3-1DF4-0533-E4EE67240415}"/>
              </a:ext>
            </a:extLst>
          </p:cNvPr>
          <p:cNvSpPr txBox="1"/>
          <p:nvPr/>
        </p:nvSpPr>
        <p:spPr>
          <a:xfrm>
            <a:off x="6157879" y="4570201"/>
            <a:ext cx="1338278" cy="400110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トーク画面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遷移する。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56" name="図 55">
            <a:extLst>
              <a:ext uri="{FF2B5EF4-FFF2-40B4-BE49-F238E27FC236}">
                <a16:creationId xmlns:a16="http://schemas.microsoft.com/office/drawing/2014/main" id="{0B7B313D-7D5F-4357-9B38-DFC3DBC5F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873" y="2950101"/>
            <a:ext cx="921141" cy="89556"/>
          </a:xfrm>
          <a:prstGeom prst="rect">
            <a:avLst/>
          </a:prstGeom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A8EA42C4-338F-850B-B276-B83DC2A73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776" y="2949394"/>
            <a:ext cx="389971" cy="86660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CCB04072-A708-EEE7-1345-D4C9E9FA9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9883" y="4314411"/>
            <a:ext cx="271710" cy="60381"/>
          </a:xfrm>
          <a:prstGeom prst="rect">
            <a:avLst/>
          </a:prstGeom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EDED354B-362F-AAF7-76A6-52D8547ED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708" y="4438236"/>
            <a:ext cx="271710" cy="60381"/>
          </a:xfrm>
          <a:prstGeom prst="rect">
            <a:avLst/>
          </a:prstGeom>
        </p:spPr>
      </p:pic>
      <p:sp>
        <p:nvSpPr>
          <p:cNvPr id="1030" name="楕円 1029">
            <a:extLst>
              <a:ext uri="{FF2B5EF4-FFF2-40B4-BE49-F238E27FC236}">
                <a16:creationId xmlns:a16="http://schemas.microsoft.com/office/drawing/2014/main" id="{A0934BB8-8F8D-D4F0-8D59-8F32A6A6E03A}"/>
              </a:ext>
            </a:extLst>
          </p:cNvPr>
          <p:cNvSpPr/>
          <p:nvPr/>
        </p:nvSpPr>
        <p:spPr>
          <a:xfrm>
            <a:off x="7855110" y="2591706"/>
            <a:ext cx="321750" cy="32175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7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ロゴ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593FC72-954C-48DC-E845-1A5FCE4C9E00}"/>
              </a:ext>
            </a:extLst>
          </p:cNvPr>
          <p:cNvSpPr/>
          <p:nvPr/>
        </p:nvSpPr>
        <p:spPr>
          <a:xfrm>
            <a:off x="693249" y="1644209"/>
            <a:ext cx="1142154" cy="284103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6" name="二等辺三角形 35">
            <a:extLst>
              <a:ext uri="{FF2B5EF4-FFF2-40B4-BE49-F238E27FC236}">
                <a16:creationId xmlns:a16="http://schemas.microsoft.com/office/drawing/2014/main" id="{626832A8-575E-5E2B-73F4-BE5567514E57}"/>
              </a:ext>
            </a:extLst>
          </p:cNvPr>
          <p:cNvSpPr/>
          <p:nvPr/>
        </p:nvSpPr>
        <p:spPr>
          <a:xfrm rot="5400000">
            <a:off x="1869100" y="2879016"/>
            <a:ext cx="205320" cy="182781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28671F13-F479-AFF6-9832-C7C00D2D05EE}"/>
              </a:ext>
            </a:extLst>
          </p:cNvPr>
          <p:cNvSpPr/>
          <p:nvPr/>
        </p:nvSpPr>
        <p:spPr>
          <a:xfrm>
            <a:off x="693249" y="4241092"/>
            <a:ext cx="1142154" cy="2441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フォーム入力</a:t>
            </a:r>
          </a:p>
        </p:txBody>
      </p:sp>
      <p:pic>
        <p:nvPicPr>
          <p:cNvPr id="55" name="図 54">
            <a:extLst>
              <a:ext uri="{FF2B5EF4-FFF2-40B4-BE49-F238E27FC236}">
                <a16:creationId xmlns:a16="http://schemas.microsoft.com/office/drawing/2014/main" id="{8AF12F67-4C9A-867F-4608-8FE9DA8116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471" y="2042343"/>
            <a:ext cx="1015294" cy="1834505"/>
          </a:xfrm>
          <a:prstGeom prst="rect">
            <a:avLst/>
          </a:prstGeom>
        </p:spPr>
      </p:pic>
      <p:sp>
        <p:nvSpPr>
          <p:cNvPr id="1032" name="正方形/長方形 1031">
            <a:extLst>
              <a:ext uri="{FF2B5EF4-FFF2-40B4-BE49-F238E27FC236}">
                <a16:creationId xmlns:a16="http://schemas.microsoft.com/office/drawing/2014/main" id="{D1D96D42-255C-636E-49E5-2CDA95DD6764}"/>
              </a:ext>
            </a:extLst>
          </p:cNvPr>
          <p:cNvSpPr/>
          <p:nvPr/>
        </p:nvSpPr>
        <p:spPr>
          <a:xfrm>
            <a:off x="2102458" y="1617265"/>
            <a:ext cx="1225682" cy="284103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034" name="正方形/長方形 1033">
            <a:extLst>
              <a:ext uri="{FF2B5EF4-FFF2-40B4-BE49-F238E27FC236}">
                <a16:creationId xmlns:a16="http://schemas.microsoft.com/office/drawing/2014/main" id="{8693E451-BCB1-207B-6B73-131F2A8588BF}"/>
              </a:ext>
            </a:extLst>
          </p:cNvPr>
          <p:cNvSpPr/>
          <p:nvPr/>
        </p:nvSpPr>
        <p:spPr>
          <a:xfrm>
            <a:off x="2100228" y="4219785"/>
            <a:ext cx="1225683" cy="2441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8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サンクス画面へ</a:t>
            </a:r>
            <a:endParaRPr lang="en-US" altLang="ja-JP" sz="85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1038" name="図 1037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85260668-6C66-A032-FFE0-0276021F943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2195552" y="2083381"/>
            <a:ext cx="1066362" cy="1789421"/>
          </a:xfrm>
          <a:prstGeom prst="rect">
            <a:avLst/>
          </a:prstGeom>
        </p:spPr>
      </p:pic>
      <p:pic>
        <p:nvPicPr>
          <p:cNvPr id="1039" name="Picture 2" descr="買い物完了！イラスト｜無料イラスト・フリー素材なら「イラストAC」">
            <a:extLst>
              <a:ext uri="{FF2B5EF4-FFF2-40B4-BE49-F238E27FC236}">
                <a16:creationId xmlns:a16="http://schemas.microsoft.com/office/drawing/2014/main" id="{23D05307-D6FE-6284-27D3-3433EE012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70" r="23682"/>
          <a:stretch>
            <a:fillRect/>
          </a:stretch>
        </p:blipFill>
        <p:spPr bwMode="auto">
          <a:xfrm>
            <a:off x="3292898" y="1459246"/>
            <a:ext cx="250223" cy="33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76D8F54-2926-2D56-7238-F66ACCBC4F20}"/>
              </a:ext>
            </a:extLst>
          </p:cNvPr>
          <p:cNvGrpSpPr/>
          <p:nvPr/>
        </p:nvGrpSpPr>
        <p:grpSpPr>
          <a:xfrm>
            <a:off x="1261302" y="837894"/>
            <a:ext cx="2523077" cy="485102"/>
            <a:chOff x="507969" y="928495"/>
            <a:chExt cx="3105325" cy="485102"/>
          </a:xfrm>
        </p:grpSpPr>
        <p:sp>
          <p:nvSpPr>
            <p:cNvPr id="4" name="Google Shape;51;p19">
              <a:extLst>
                <a:ext uri="{FF2B5EF4-FFF2-40B4-BE49-F238E27FC236}">
                  <a16:creationId xmlns:a16="http://schemas.microsoft.com/office/drawing/2014/main" id="{98F6BB16-EFC6-9846-2A11-E624E876E64B}"/>
                </a:ext>
              </a:extLst>
            </p:cNvPr>
            <p:cNvSpPr/>
            <p:nvPr/>
          </p:nvSpPr>
          <p:spPr>
            <a:xfrm>
              <a:off x="507969" y="928495"/>
              <a:ext cx="3105325" cy="485102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74282" tIns="45700" rIns="74282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 algn="ctr">
                <a:buSzPts val="1400"/>
              </a:pPr>
              <a:endParaRPr b="1" dirty="0">
                <a:solidFill>
                  <a:schemeClr val="lt1"/>
                </a:solidFill>
                <a:sym typeface="Meiryo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560EDF30-5F09-B70A-2993-8CD4F9E40EFA}"/>
                </a:ext>
              </a:extLst>
            </p:cNvPr>
            <p:cNvSpPr txBox="1"/>
            <p:nvPr/>
          </p:nvSpPr>
          <p:spPr>
            <a:xfrm>
              <a:off x="1140096" y="988192"/>
              <a:ext cx="1832553" cy="357790"/>
            </a:xfrm>
            <a:prstGeom prst="rect">
              <a:avLst/>
            </a:prstGeom>
            <a:noFill/>
          </p:spPr>
          <p:txBody>
            <a:bodyPr wrap="none" lIns="74295" rIns="74295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ja-JP" altLang="en-US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サンクス</a:t>
              </a:r>
              <a:r>
                <a:rPr lang="en-US" altLang="ja-JP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LINE</a:t>
              </a:r>
              <a:r>
                <a:rPr lang="ja-JP" altLang="en-US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誘導</a:t>
              </a:r>
            </a:p>
          </p:txBody>
        </p:sp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20BFF3-9D3E-A4D7-FF5A-70927F78FC9D}"/>
              </a:ext>
            </a:extLst>
          </p:cNvPr>
          <p:cNvSpPr/>
          <p:nvPr/>
        </p:nvSpPr>
        <p:spPr>
          <a:xfrm>
            <a:off x="7729169" y="4623314"/>
            <a:ext cx="730843" cy="6496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C4FF56C-47EE-47DB-92F1-3F0EF57613D9}"/>
              </a:ext>
            </a:extLst>
          </p:cNvPr>
          <p:cNvSpPr/>
          <p:nvPr/>
        </p:nvSpPr>
        <p:spPr>
          <a:xfrm>
            <a:off x="4180596" y="846996"/>
            <a:ext cx="4575836" cy="307777"/>
          </a:xfrm>
          <a:prstGeom prst="rect">
            <a:avLst/>
          </a:prstGeom>
        </p:spPr>
        <p:txBody>
          <a:bodyPr wrap="square" lIns="74295" rIns="74295">
            <a:spAutoFit/>
          </a:bodyPr>
          <a:lstStyle/>
          <a:p>
            <a:pPr lvl="0">
              <a:buClr>
                <a:schemeClr val="dk1"/>
              </a:buClr>
              <a:buSzPts val="1500"/>
            </a:pPr>
            <a:r>
              <a:rPr lang="ja-JP" altLang="en-US" sz="1400" dirty="0">
                <a:latin typeface="メイリオ"/>
                <a:ea typeface="メイリオ"/>
                <a:cs typeface="メイリオ"/>
                <a:sym typeface="Meiryo"/>
              </a:rPr>
              <a:t>フォーム送信後の</a:t>
            </a:r>
            <a:r>
              <a:rPr lang="en-US" altLang="ja-JP" sz="1400" dirty="0"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400" dirty="0">
                <a:latin typeface="メイリオ"/>
                <a:ea typeface="メイリオ"/>
                <a:cs typeface="メイリオ"/>
                <a:sym typeface="Meiryo"/>
              </a:rPr>
              <a:t>誘導を自動化するツール</a:t>
            </a:r>
            <a:endParaRPr lang="en-US" altLang="ja-JP" sz="1400" dirty="0"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ED6F7D2-546D-BF9F-9805-58455D7E2831}"/>
              </a:ext>
            </a:extLst>
          </p:cNvPr>
          <p:cNvSpPr txBox="1"/>
          <p:nvPr/>
        </p:nvSpPr>
        <p:spPr>
          <a:xfrm>
            <a:off x="4180597" y="1172815"/>
            <a:ext cx="3833883" cy="230832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en-US" altLang="ja-JP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※</a:t>
            </a:r>
            <a:r>
              <a:rPr lang="ja-JP" altLang="en-US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既存</a:t>
            </a:r>
            <a:r>
              <a:rPr lang="en-US" altLang="ja-JP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API</a:t>
            </a:r>
            <a:r>
              <a:rPr lang="ja-JP" altLang="en-US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ツールとの併用についても、問題なく稼働が可能。</a:t>
            </a:r>
            <a:endParaRPr lang="ja-JP" altLang="en-US" sz="900" dirty="0">
              <a:solidFill>
                <a:srgbClr val="FF000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5B8C83A-7191-D772-EF88-AE268D007E63}"/>
              </a:ext>
            </a:extLst>
          </p:cNvPr>
          <p:cNvSpPr/>
          <p:nvPr/>
        </p:nvSpPr>
        <p:spPr>
          <a:xfrm>
            <a:off x="6097538" y="1666571"/>
            <a:ext cx="2513872" cy="2847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動作イメージ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89A6A4C-E34E-E7CF-D6DD-C175E600A94D}"/>
              </a:ext>
            </a:extLst>
          </p:cNvPr>
          <p:cNvSpPr/>
          <p:nvPr/>
        </p:nvSpPr>
        <p:spPr>
          <a:xfrm>
            <a:off x="1209560" y="1525688"/>
            <a:ext cx="1510467" cy="2441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9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WEB</a:t>
            </a:r>
            <a:r>
              <a:rPr lang="ja-JP" altLang="en-US" sz="9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サイト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122BEACA-AA0E-EFF8-CDF2-B0A5B58840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2518" y="3590272"/>
            <a:ext cx="379108" cy="69986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D971BE53-7CD8-C375-2A00-B224602AC2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4699" y="2111288"/>
            <a:ext cx="379108" cy="69986"/>
          </a:xfrm>
          <a:prstGeom prst="rect">
            <a:avLst/>
          </a:prstGeom>
        </p:spPr>
      </p:pic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B7D71D80-6086-B1B4-3E2C-EE891B12909E}"/>
              </a:ext>
            </a:extLst>
          </p:cNvPr>
          <p:cNvSpPr/>
          <p:nvPr/>
        </p:nvSpPr>
        <p:spPr>
          <a:xfrm>
            <a:off x="1511868" y="4640731"/>
            <a:ext cx="3960179" cy="659955"/>
          </a:xfrm>
          <a:prstGeom prst="roundRect">
            <a:avLst>
              <a:gd name="adj" fmla="val 25327"/>
            </a:avLst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フォーム入力内容を</a:t>
            </a:r>
            <a:br>
              <a:rPr lang="en-US" altLang="ja-JP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トーク入力画面へ引き継ぎ可能</a:t>
            </a: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666CF79B-D322-06BC-F342-DE710BE7473B}"/>
              </a:ext>
            </a:extLst>
          </p:cNvPr>
          <p:cNvCxnSpPr>
            <a:cxnSpLocks/>
          </p:cNvCxnSpPr>
          <p:nvPr/>
        </p:nvCxnSpPr>
        <p:spPr>
          <a:xfrm flipH="1" flipV="1">
            <a:off x="1145256" y="4485242"/>
            <a:ext cx="515326" cy="48546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D29A9C3-A3E8-0780-A758-0C8E7E376668}"/>
              </a:ext>
            </a:extLst>
          </p:cNvPr>
          <p:cNvSpPr/>
          <p:nvPr/>
        </p:nvSpPr>
        <p:spPr>
          <a:xfrm>
            <a:off x="5284944" y="2415812"/>
            <a:ext cx="530810" cy="1821208"/>
          </a:xfrm>
          <a:prstGeom prst="rect">
            <a:avLst/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</a:p>
          <a:p>
            <a:pPr algn="ctr"/>
            <a:r>
              <a:rPr lang="ja-JP" altLang="en-US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開発</a:t>
            </a:r>
            <a:endParaRPr lang="en-US" altLang="ja-JP" sz="9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ツール</a:t>
            </a:r>
            <a:endParaRPr lang="en-US" altLang="ja-JP" sz="9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048" name="矢印: 右 1047">
            <a:extLst>
              <a:ext uri="{FF2B5EF4-FFF2-40B4-BE49-F238E27FC236}">
                <a16:creationId xmlns:a16="http://schemas.microsoft.com/office/drawing/2014/main" id="{6A5BBE8E-2B42-49E0-686B-A6584B59E72F}"/>
              </a:ext>
            </a:extLst>
          </p:cNvPr>
          <p:cNvSpPr/>
          <p:nvPr/>
        </p:nvSpPr>
        <p:spPr>
          <a:xfrm>
            <a:off x="3398999" y="3203047"/>
            <a:ext cx="1843892" cy="3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/>
          </a:p>
        </p:txBody>
      </p:sp>
      <p:sp>
        <p:nvSpPr>
          <p:cNvPr id="1050" name="吹き出し: 角を丸めた四角形 1049">
            <a:extLst>
              <a:ext uri="{FF2B5EF4-FFF2-40B4-BE49-F238E27FC236}">
                <a16:creationId xmlns:a16="http://schemas.microsoft.com/office/drawing/2014/main" id="{0D7606B7-7AEE-445F-FB97-74913C4A4F60}"/>
              </a:ext>
            </a:extLst>
          </p:cNvPr>
          <p:cNvSpPr/>
          <p:nvPr/>
        </p:nvSpPr>
        <p:spPr>
          <a:xfrm>
            <a:off x="3492025" y="2641849"/>
            <a:ext cx="1624523" cy="476757"/>
          </a:xfrm>
          <a:prstGeom prst="wedgeRoundRectCallout">
            <a:avLst/>
          </a:prstGeom>
          <a:solidFill>
            <a:srgbClr val="FDFDFD"/>
          </a:solidFill>
          <a:ln w="19050">
            <a:solidFill>
              <a:schemeClr val="tx2"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完了後約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2~3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秒で</a:t>
            </a:r>
            <a:b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へ自動遷移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52" name="直線矢印コネクタ 1051">
            <a:extLst>
              <a:ext uri="{FF2B5EF4-FFF2-40B4-BE49-F238E27FC236}">
                <a16:creationId xmlns:a16="http://schemas.microsoft.com/office/drawing/2014/main" id="{5B4E7079-E54A-2282-BDB8-487FFE5E8981}"/>
              </a:ext>
            </a:extLst>
          </p:cNvPr>
          <p:cNvCxnSpPr>
            <a:cxnSpLocks/>
          </p:cNvCxnSpPr>
          <p:nvPr/>
        </p:nvCxnSpPr>
        <p:spPr>
          <a:xfrm>
            <a:off x="5242891" y="4971540"/>
            <a:ext cx="2486278" cy="256434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矢印: 右 6">
            <a:extLst>
              <a:ext uri="{FF2B5EF4-FFF2-40B4-BE49-F238E27FC236}">
                <a16:creationId xmlns:a16="http://schemas.microsoft.com/office/drawing/2014/main" id="{9EC51A72-DCD0-B1E9-7CCE-6674E65DC641}"/>
              </a:ext>
            </a:extLst>
          </p:cNvPr>
          <p:cNvSpPr/>
          <p:nvPr/>
        </p:nvSpPr>
        <p:spPr>
          <a:xfrm rot="5400000">
            <a:off x="6436767" y="3831408"/>
            <a:ext cx="349205" cy="3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3DEB8AF5-27EB-F2A5-5738-9D4876D62932}"/>
              </a:ext>
            </a:extLst>
          </p:cNvPr>
          <p:cNvSpPr/>
          <p:nvPr/>
        </p:nvSpPr>
        <p:spPr>
          <a:xfrm>
            <a:off x="1331634" y="5386674"/>
            <a:ext cx="3965148" cy="1126724"/>
          </a:xfrm>
          <a:prstGeom prst="roundRect">
            <a:avLst>
              <a:gd name="adj" fmla="val 8129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F4AEE4F6-B4F2-3B63-B340-970573C6BC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362" y="5422614"/>
            <a:ext cx="1068810" cy="1060107"/>
          </a:xfrm>
          <a:prstGeom prst="rect">
            <a:avLst/>
          </a:prstGeom>
        </p:spPr>
      </p:pic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9E529396-156F-55A0-24A1-E3F30C8D079F}"/>
              </a:ext>
            </a:extLst>
          </p:cNvPr>
          <p:cNvSpPr txBox="1"/>
          <p:nvPr/>
        </p:nvSpPr>
        <p:spPr>
          <a:xfrm>
            <a:off x="2607260" y="6011736"/>
            <a:ext cx="17402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QRコードを読み取って</a:t>
            </a:r>
            <a:endParaRPr lang="en-US" altLang="ja-JP" sz="10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動画を見る（約22秒）</a:t>
            </a:r>
            <a:endParaRPr lang="en-US" altLang="ja-JP" sz="10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FA39FB9E-0354-C79E-71A4-67DB6A28B75A}"/>
              </a:ext>
            </a:extLst>
          </p:cNvPr>
          <p:cNvSpPr txBox="1"/>
          <p:nvPr/>
        </p:nvSpPr>
        <p:spPr>
          <a:xfrm>
            <a:off x="4032248" y="5546685"/>
            <a:ext cx="869321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再生</a:t>
            </a:r>
            <a:r>
              <a:rPr lang="ja-JP" altLang="en-US" sz="1200" dirty="0">
                <a:solidFill>
                  <a:srgbClr val="0000FF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[▷]</a:t>
            </a:r>
            <a:endParaRPr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2099EF7-D4DC-D52C-E0A5-F84C559A9E47}"/>
              </a:ext>
            </a:extLst>
          </p:cNvPr>
          <p:cNvSpPr txBox="1"/>
          <p:nvPr/>
        </p:nvSpPr>
        <p:spPr>
          <a:xfrm>
            <a:off x="2648894" y="5570417"/>
            <a:ext cx="17402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クリックして再生</a:t>
            </a:r>
            <a:endParaRPr lang="en-US" altLang="ja-JP" sz="10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広告と一緒にサンクスLINEを実施する理由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3500" y="792000"/>
            <a:ext cx="4212000" cy="35640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77500" y="990000"/>
            <a:ext cx="1053000" cy="324000"/>
          </a:xfrm>
          <a:prstGeom prst="roundRect">
            <a:avLst>
              <a:gd name="adj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CV獲得まで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89000" y="864000"/>
            <a:ext cx="2749500" cy="576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施策全体の </a:t>
            </a: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CPA</a:t>
            </a: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 改善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3750" y="1548000"/>
            <a:ext cx="34515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8" name="Isosceles Triangle 7"/>
          <p:cNvSpPr/>
          <p:nvPr/>
        </p:nvSpPr>
        <p:spPr>
          <a:xfrm rot="10800000">
            <a:off x="2685150" y="1998000"/>
            <a:ext cx="1287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1023750" y="2142000"/>
            <a:ext cx="34515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LP</a:t>
            </a:r>
          </a:p>
        </p:txBody>
      </p:sp>
      <p:sp>
        <p:nvSpPr>
          <p:cNvPr id="10" name="Isosceles Triangle 9"/>
          <p:cNvSpPr/>
          <p:nvPr/>
        </p:nvSpPr>
        <p:spPr>
          <a:xfrm rot="10800000">
            <a:off x="2685150" y="2592000"/>
            <a:ext cx="1287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1023750" y="2736000"/>
            <a:ext cx="34515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 × 成果報酬施策</a:t>
            </a: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2685150" y="3186000"/>
            <a:ext cx="1287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1023750" y="3330000"/>
            <a:ext cx="3451500" cy="413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000" y="3950095"/>
            <a:ext cx="3861000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CVの取りこぼしを減らし施策全体のCPAを改善</a:t>
            </a:r>
            <a:endParaRPr sz="10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60250" y="792000"/>
            <a:ext cx="4212000" cy="3564000"/>
          </a:xfrm>
          <a:prstGeom prst="roundRect">
            <a:avLst>
              <a:gd name="adj" fmla="val 4000"/>
            </a:avLst>
          </a:prstGeom>
          <a:solidFill>
            <a:srgbClr val="EE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94250" y="990000"/>
            <a:ext cx="1053000" cy="324000"/>
          </a:xfrm>
          <a:prstGeom prst="roundRect">
            <a:avLst>
              <a:gd name="adj" fmla="val 50000"/>
            </a:avLst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CV獲得後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749" y="864000"/>
            <a:ext cx="2749500" cy="576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0E8A3F"/>
                </a:solidFill>
                <a:latin typeface="メイリオ"/>
                <a:ea typeface="メイリオ"/>
                <a:cs typeface="メイリオ"/>
              </a:rPr>
              <a:t>CPO</a:t>
            </a:r>
            <a:r>
              <a:rPr sz="1500" b="1">
                <a:solidFill>
                  <a:srgbClr val="0E8A3F"/>
                </a:solidFill>
                <a:latin typeface="メイリオ"/>
                <a:ea typeface="メイリオ"/>
                <a:cs typeface="メイリオ"/>
              </a:rPr>
              <a:t> の改善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500" y="1548000"/>
            <a:ext cx="3451500" cy="413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9" name="Isosceles Triangle 18"/>
          <p:cNvSpPr/>
          <p:nvPr/>
        </p:nvSpPr>
        <p:spPr>
          <a:xfrm rot="10800000">
            <a:off x="7101900" y="1998000"/>
            <a:ext cx="128700" cy="108000"/>
          </a:xfrm>
          <a:prstGeom prst="triangle">
            <a:avLst/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20" name="Rectangle 19"/>
          <p:cNvSpPr/>
          <p:nvPr/>
        </p:nvSpPr>
        <p:spPr>
          <a:xfrm>
            <a:off x="5440500" y="2142000"/>
            <a:ext cx="3451500" cy="413999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</p:txBody>
      </p:sp>
      <p:sp>
        <p:nvSpPr>
          <p:cNvPr id="21" name="Isosceles Triangle 20"/>
          <p:cNvSpPr/>
          <p:nvPr/>
        </p:nvSpPr>
        <p:spPr>
          <a:xfrm rot="10800000">
            <a:off x="7101900" y="2592000"/>
            <a:ext cx="128700" cy="108000"/>
          </a:xfrm>
          <a:prstGeom prst="triangl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22" name="Rectangle 21"/>
          <p:cNvSpPr/>
          <p:nvPr/>
        </p:nvSpPr>
        <p:spPr>
          <a:xfrm>
            <a:off x="5440500" y="2736000"/>
            <a:ext cx="3451500" cy="413999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LINEでナーチャリング</a:t>
            </a:r>
          </a:p>
        </p:txBody>
      </p:sp>
      <p:sp>
        <p:nvSpPr>
          <p:cNvPr id="23" name="Isosceles Triangle 22"/>
          <p:cNvSpPr/>
          <p:nvPr/>
        </p:nvSpPr>
        <p:spPr>
          <a:xfrm rot="10800000">
            <a:off x="7101900" y="3186000"/>
            <a:ext cx="128700" cy="108000"/>
          </a:xfrm>
          <a:prstGeom prst="triangl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24" name="Rectangle 23"/>
          <p:cNvSpPr/>
          <p:nvPr/>
        </p:nvSpPr>
        <p:spPr>
          <a:xfrm>
            <a:off x="5440500" y="3330000"/>
            <a:ext cx="3451500" cy="413999"/>
          </a:xfrm>
          <a:prstGeom prst="rect">
            <a:avLst/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購入・契約など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35750" y="3950096"/>
            <a:ext cx="3861000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CV後の歩留まりを改善し、CPOを改善</a:t>
            </a:r>
          </a:p>
        </p:txBody>
      </p:sp>
      <p:sp>
        <p:nvSpPr>
          <p:cNvPr id="26" name="Pentagon 25"/>
          <p:cNvSpPr/>
          <p:nvPr/>
        </p:nvSpPr>
        <p:spPr>
          <a:xfrm>
            <a:off x="643500" y="4536000"/>
            <a:ext cx="2934750" cy="684000"/>
          </a:xfrm>
          <a:prstGeom prst="homePlate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760500" y="4741330"/>
            <a:ext cx="2583749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dirty="0" err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CPOの改善</a:t>
            </a:r>
            <a:endParaRPr sz="1400" b="1" dirty="0">
              <a:solidFill>
                <a:srgbClr val="0B7A3B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8" name="Chevron 27"/>
          <p:cNvSpPr/>
          <p:nvPr/>
        </p:nvSpPr>
        <p:spPr>
          <a:xfrm>
            <a:off x="3490500" y="4536000"/>
            <a:ext cx="2934750" cy="684000"/>
          </a:xfrm>
          <a:prstGeom prst="chevron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3753750" y="4741330"/>
            <a:ext cx="2437499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許容CPAの引き上げ</a:t>
            </a:r>
            <a:endParaRPr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0" name="Chevron 29"/>
          <p:cNvSpPr/>
          <p:nvPr/>
        </p:nvSpPr>
        <p:spPr>
          <a:xfrm>
            <a:off x="6337499" y="4536000"/>
            <a:ext cx="2934750" cy="684000"/>
          </a:xfrm>
          <a:prstGeom prst="chevron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6600749" y="4741330"/>
            <a:ext cx="2437499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広告配信の拡大</a:t>
            </a:r>
            <a:endParaRPr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9126000" y="5256000"/>
            <a:ext cx="0" cy="16200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89750" y="5418000"/>
            <a:ext cx="833625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89750" y="5263200"/>
            <a:ext cx="0" cy="15480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349124" y="5292000"/>
            <a:ext cx="3217500" cy="251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さらに成果が増えれば、再投資して継続的に拡大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3500" y="5652000"/>
            <a:ext cx="8628750" cy="61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3500" y="5652000"/>
            <a:ext cx="8628750" cy="612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広告とあわせて実施することで、</a:t>
            </a:r>
            <a:r>
              <a:rPr sz="1600" b="1">
                <a:solidFill>
                  <a:srgbClr val="FFE400"/>
                </a:solidFill>
                <a:latin typeface="メイリオ"/>
                <a:ea typeface="メイリオ"/>
                <a:cs typeface="メイリオ"/>
              </a:rPr>
              <a:t>事業全体の効率化</a:t>
            </a: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を図る。</a:t>
            </a:r>
          </a:p>
        </p:txBody>
      </p:sp>
      <p:sp>
        <p:nvSpPr>
          <p:cNvPr id="39" name="Rounded Rectangle 15">
            <a:extLst>
              <a:ext uri="{FF2B5EF4-FFF2-40B4-BE49-F238E27FC236}">
                <a16:creationId xmlns:a16="http://schemas.microsoft.com/office/drawing/2014/main" id="{E32FF46F-8EC5-84E2-0196-27AFC801F6CB}"/>
              </a:ext>
            </a:extLst>
          </p:cNvPr>
          <p:cNvSpPr/>
          <p:nvPr/>
        </p:nvSpPr>
        <p:spPr>
          <a:xfrm>
            <a:off x="8065876" y="985508"/>
            <a:ext cx="1274130" cy="324000"/>
          </a:xfrm>
          <a:prstGeom prst="roundRect">
            <a:avLst>
              <a:gd name="adj" fmla="val 39249"/>
            </a:avLst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重要性 </a:t>
            </a:r>
            <a:r>
              <a:rPr lang="en-US" altLang="ja-JP" sz="1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UP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サンクスLINE｜導入・活用実績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44865" y="817378"/>
            <a:ext cx="9111472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LINE活用の参考事例と、サンクスLINE誘導ツールの導入実績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4400" y="1548000"/>
            <a:ext cx="8629200" cy="13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0400" y="1980000"/>
            <a:ext cx="3131999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クリニック｜LINE活用による来院率改善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6400" y="2250000"/>
            <a:ext cx="1548000" cy="19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LINEヤフーの参考事例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3851999" y="2034000"/>
            <a:ext cx="990000" cy="413999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" tIns="7200" rIns="10800" bIns="72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予約完了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63600" y="2241000"/>
            <a:ext cx="1008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986000" y="2034000"/>
            <a:ext cx="990000" cy="413999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" tIns="7200" rIns="10800" bIns="72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97600" y="2241000"/>
            <a:ext cx="1008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120000" y="2034000"/>
            <a:ext cx="990000" cy="413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" tIns="7200" rIns="10800" bIns="72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予約確認・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前日のお知らせ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2000" y="1853999"/>
            <a:ext cx="2034000" cy="1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予約後の来院率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2000" y="2051999"/>
            <a:ext cx="2034000" cy="503999"/>
          </a:xfrm>
          <a:prstGeom prst="rect">
            <a:avLst/>
          </a:prstGeom>
          <a:noFill/>
        </p:spPr>
        <p:txBody>
          <a:bodyPr wrap="non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40〜50%</a:t>
            </a: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改善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400" y="3078000"/>
            <a:ext cx="3780000" cy="27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人材業界｜サンクスLINE誘導ツール導入実績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6399" y="3114000"/>
            <a:ext cx="1152000" cy="198000"/>
          </a:xfrm>
          <a:prstGeom prst="roundRect">
            <a:avLst>
              <a:gd name="adj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DYMの導入実績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400" y="3401999"/>
            <a:ext cx="2880000" cy="20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4400" y="3401999"/>
            <a:ext cx="2880000" cy="27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導入前後3か月比較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400" y="3761999"/>
            <a:ext cx="1188000" cy="1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導入前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00" y="3923999"/>
            <a:ext cx="1188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1,532人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958400" y="3977999"/>
            <a:ext cx="251999" cy="198000"/>
          </a:xfrm>
          <a:prstGeom prst="rightArrow">
            <a:avLst>
              <a:gd name="adj1" fmla="val 40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28399" y="3761999"/>
            <a:ext cx="1188000" cy="1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導入後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28399" y="3923999"/>
            <a:ext cx="1188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2,103人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8400" y="4320000"/>
            <a:ext cx="259199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6400" y="4373999"/>
            <a:ext cx="2736000" cy="57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導入前比 </a:t>
            </a: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137.3%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400" y="4986000"/>
            <a:ext cx="2736000" cy="288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増加数 </a:t>
            </a: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+571人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32400" y="3401999"/>
            <a:ext cx="2880000" cy="20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32400" y="3401999"/>
            <a:ext cx="2880000" cy="27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前年同期間比較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0400" y="3761999"/>
            <a:ext cx="1188000" cy="1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2025年7〜9月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0400" y="3923999"/>
            <a:ext cx="1188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1,650人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946400" y="3977999"/>
            <a:ext cx="251999" cy="198000"/>
          </a:xfrm>
          <a:prstGeom prst="rightArrow">
            <a:avLst>
              <a:gd name="adj1" fmla="val 40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16399" y="3761999"/>
            <a:ext cx="1188000" cy="1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2026年7〜9月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6399" y="3923999"/>
            <a:ext cx="1188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2,103人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776400" y="4320000"/>
            <a:ext cx="2592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704399" y="4373999"/>
            <a:ext cx="2736000" cy="57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127.5%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4399" y="4986000"/>
            <a:ext cx="2736000" cy="288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増加数 </a:t>
            </a: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+453人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6399" y="3420000"/>
            <a:ext cx="2617200" cy="1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月別比較（友だち増加数・人）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92400" y="3625199"/>
            <a:ext cx="108000" cy="108000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18399" y="3571200"/>
            <a:ext cx="684000" cy="21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2025年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20400" y="3625199"/>
            <a:ext cx="108000" cy="108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46399" y="3571200"/>
            <a:ext cx="684000" cy="21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2026年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88799" y="4259114"/>
            <a:ext cx="288000" cy="690885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0799" y="4079114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575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19999" y="4211052"/>
            <a:ext cx="288000" cy="738947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11999" y="4031052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0399" y="4968000"/>
            <a:ext cx="756000" cy="151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0399" y="5112000"/>
            <a:ext cx="756000" cy="180000"/>
          </a:xfrm>
          <a:prstGeom prst="rect">
            <a:avLst/>
          </a:prstGeom>
          <a:noFill/>
        </p:spPr>
        <p:txBody>
          <a:bodyPr wrap="non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107%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16800" y="4330005"/>
            <a:ext cx="288000" cy="619994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08799" y="4150005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516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47999" y="4014000"/>
            <a:ext cx="288000" cy="93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39999" y="3834000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779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48399" y="4968000"/>
            <a:ext cx="756000" cy="151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8月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48399" y="5112000"/>
            <a:ext cx="756000" cy="180000"/>
          </a:xfrm>
          <a:prstGeom prst="rect">
            <a:avLst/>
          </a:prstGeom>
          <a:noFill/>
        </p:spPr>
        <p:txBody>
          <a:bodyPr wrap="non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151%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44800" y="4278338"/>
            <a:ext cx="288000" cy="671661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36800" y="4098338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559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76000" y="4098107"/>
            <a:ext cx="288000" cy="851892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567999" y="3918107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6399" y="4968000"/>
            <a:ext cx="756000" cy="151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9月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6399" y="5112000"/>
            <a:ext cx="756000" cy="180000"/>
          </a:xfrm>
          <a:prstGeom prst="rect">
            <a:avLst/>
          </a:prstGeom>
          <a:noFill/>
        </p:spPr>
        <p:txBody>
          <a:bodyPr wrap="non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127%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728399" y="4950000"/>
            <a:ext cx="2509201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644400" y="5598000"/>
            <a:ext cx="8629200" cy="34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サンクスLINE誘導ツールの導入後、友だち増加数が導入前比137.3%、前年比127.5%に改善。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E821B20-3372-85EB-4334-5055D2443F85}"/>
              </a:ext>
            </a:extLst>
          </p:cNvPr>
          <p:cNvSpPr txBox="1"/>
          <p:nvPr/>
        </p:nvSpPr>
        <p:spPr>
          <a:xfrm>
            <a:off x="241266" y="6287499"/>
            <a:ext cx="47051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出典：株式会社</a:t>
            </a:r>
            <a:r>
              <a:rPr lang="en-US" altLang="ja-JP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DYM</a:t>
            </a:r>
            <a:r>
              <a:rPr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運用実績（当社調べ）</a:t>
            </a:r>
            <a:r>
              <a:rPr lang="en-US" altLang="ja-JP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美容クリニック：予約後来院率の改善実績</a:t>
            </a:r>
            <a:endParaRPr lang="en-US" altLang="ja-JP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出典：人材業界｜株式会社</a:t>
            </a:r>
            <a:r>
              <a:rPr lang="en-US" altLang="ja-JP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DYM </a:t>
            </a:r>
            <a:r>
              <a:rPr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社内集計（サンクス</a:t>
            </a:r>
            <a:r>
              <a:rPr lang="en-US" altLang="ja-JP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誘導ツール導入前後</a:t>
            </a:r>
            <a:r>
              <a:rPr lang="en-US" altLang="ja-JP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か月、</a:t>
            </a:r>
            <a:r>
              <a:rPr lang="en-US" altLang="ja-JP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年・</a:t>
            </a:r>
            <a:r>
              <a:rPr lang="en-US" altLang="ja-JP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2026</a:t>
            </a:r>
            <a:r>
              <a:rPr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7〜9</a:t>
            </a:r>
            <a:r>
              <a:rPr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月の友だち増加数）</a:t>
            </a:r>
            <a:endParaRPr kumimoji="1" lang="ja-JP" alt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ターゲット業界別｜サンクスLINE活用イメージ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865" y="817378"/>
            <a:ext cx="9111472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CVの後にLINEで送る内容は、業界ごとに変わる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953000" y="1728000"/>
            <a:ext cx="0" cy="450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3500" y="3978000"/>
            <a:ext cx="8619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thanks_scen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886" y="1899562"/>
            <a:ext cx="1439613" cy="17988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11438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4500" y="1799402"/>
            <a:ext cx="2047500" cy="307195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500" y="2322000"/>
            <a:ext cx="9945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</a:t>
            </a:r>
            <a:endParaRPr 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----</a:t>
            </a:r>
            <a:endParaRPr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  <a:endParaRPr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681875" y="2700000"/>
            <a:ext cx="26325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9215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17874" y="2700000"/>
            <a:ext cx="676137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3500" y="3221999"/>
            <a:ext cx="2635886" cy="188701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500" y="3420000"/>
            <a:ext cx="2635886" cy="205629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前日リマインド／求人紹介／選考のご案内</a:t>
            </a:r>
            <a:endParaRPr sz="10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7" name="Picture 16" descr="thanks_scen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886" y="1899562"/>
            <a:ext cx="1439613" cy="1798875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5096438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9500" y="1799402"/>
            <a:ext cx="2047500" cy="307195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不動産投資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8500" y="2322000"/>
            <a:ext cx="9945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</a:t>
            </a:r>
            <a:endParaRPr 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n-US" altLang="ja-JP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----</a:t>
            </a:r>
            <a:endParaRPr lang="ja-JP" alt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相談予約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66875" y="2700000"/>
            <a:ext cx="26325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065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2875" y="2700000"/>
            <a:ext cx="676136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128500" y="3221999"/>
            <a:ext cx="2635886" cy="188701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8500" y="3420000"/>
            <a:ext cx="2635886" cy="205629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面談リマインド／セミナー案内／物件情報</a:t>
            </a:r>
          </a:p>
        </p:txBody>
      </p:sp>
      <p:pic>
        <p:nvPicPr>
          <p:cNvPr id="26" name="Picture 25" descr="thanks_scen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886" y="4257562"/>
            <a:ext cx="1439613" cy="1798875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611438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500" y="4157402"/>
            <a:ext cx="2047500" cy="307195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altLang="ja-JP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EC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3500" y="4680000"/>
            <a:ext cx="9945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購入</a:t>
            </a:r>
            <a:endParaRPr 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----</a:t>
            </a:r>
            <a:endParaRPr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  <a:endParaRPr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1681875" y="5058000"/>
            <a:ext cx="26325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9215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617874" y="5058000"/>
            <a:ext cx="676137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3500" y="5580000"/>
            <a:ext cx="2635886" cy="188701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500" y="5778000"/>
            <a:ext cx="2635886" cy="205629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限定商品の案内／キャンペーン・クーポン</a:t>
            </a:r>
          </a:p>
        </p:txBody>
      </p:sp>
      <p:pic>
        <p:nvPicPr>
          <p:cNvPr id="35" name="Picture 34" descr="thanks_scen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2886" y="4257562"/>
            <a:ext cx="1439613" cy="1798875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5096438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79500" y="4157402"/>
            <a:ext cx="2047500" cy="307195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ハウスメーカー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8500" y="4680000"/>
            <a:ext cx="9945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</a:t>
            </a:r>
            <a:endParaRPr 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----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来場予約</a:t>
            </a:r>
            <a:endParaRPr 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6166875" y="5058000"/>
            <a:ext cx="26325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4065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02875" y="5058000"/>
            <a:ext cx="676136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128500" y="5580000"/>
            <a:ext cx="2635886" cy="188701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8500" y="5778000"/>
            <a:ext cx="2635886" cy="205629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見学会の案内／土地情報／個別相談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6516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ハードルの低いCVからLINEにつなぎ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契約・購入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865" y="831517"/>
            <a:ext cx="9111472" cy="316966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ハードル</a:t>
            </a: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が低い</a:t>
            </a: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を入り口とし</a:t>
            </a: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</a:t>
            </a:r>
            <a:r>
              <a:rPr lang="en-US" altLang="ja-JP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でナーチャリングを経て、契約・購入につなげる。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643500" y="2592000"/>
            <a:ext cx="969545" cy="1188000"/>
          </a:xfrm>
          <a:prstGeom prst="homePlate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731250" y="3066258"/>
            <a:ext cx="706295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8" name="Chevron 7"/>
          <p:cNvSpPr/>
          <p:nvPr/>
        </p:nvSpPr>
        <p:spPr>
          <a:xfrm>
            <a:off x="1510670" y="2592000"/>
            <a:ext cx="1228090" cy="1188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1778881" y="3066258"/>
            <a:ext cx="847840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簡易ページ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2636386" y="2592000"/>
            <a:ext cx="1228090" cy="1188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2841136" y="2964691"/>
            <a:ext cx="847840" cy="442617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ハードル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低いCV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3762102" y="2592000"/>
            <a:ext cx="1228090" cy="1188000"/>
          </a:xfrm>
          <a:prstGeom prst="chevron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3966852" y="2964691"/>
            <a:ext cx="847840" cy="442617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14" name="Chevron 13"/>
          <p:cNvSpPr/>
          <p:nvPr/>
        </p:nvSpPr>
        <p:spPr>
          <a:xfrm>
            <a:off x="4887818" y="2592000"/>
            <a:ext cx="1228090" cy="1188000"/>
          </a:xfrm>
          <a:prstGeom prst="chevron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5092568" y="2964691"/>
            <a:ext cx="847840" cy="442617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16" name="Chevron 15"/>
          <p:cNvSpPr/>
          <p:nvPr/>
        </p:nvSpPr>
        <p:spPr>
          <a:xfrm>
            <a:off x="6013534" y="2592000"/>
            <a:ext cx="1583590" cy="1188000"/>
          </a:xfrm>
          <a:prstGeom prst="chevron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6218284" y="2964691"/>
            <a:ext cx="1203340" cy="442617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ナーチャリング</a:t>
            </a:r>
          </a:p>
        </p:txBody>
      </p:sp>
      <p:sp>
        <p:nvSpPr>
          <p:cNvPr id="18" name="Chevron 17"/>
          <p:cNvSpPr/>
          <p:nvPr/>
        </p:nvSpPr>
        <p:spPr>
          <a:xfrm>
            <a:off x="7494749" y="2592000"/>
            <a:ext cx="1777500" cy="1188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7699499" y="3066257"/>
            <a:ext cx="1397250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購入・契約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など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3500" y="2160000"/>
            <a:ext cx="3177102" cy="504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3500" y="1890000"/>
            <a:ext cx="2340000" cy="270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AD・獲得領域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35227" y="2160000"/>
            <a:ext cx="5437022" cy="504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35227" y="1890000"/>
            <a:ext cx="2340000" cy="270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LINE領域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27914" y="1908000"/>
            <a:ext cx="0" cy="3348000"/>
          </a:xfrm>
          <a:prstGeom prst="line">
            <a:avLst/>
          </a:prstGeom>
          <a:ln w="15875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358102" y="3996000"/>
            <a:ext cx="140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簡易診断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58102" y="4302000"/>
            <a:ext cx="140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チェックコンテンツ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58102" y="4608000"/>
            <a:ext cx="140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資料DL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04115" y="3996000"/>
            <a:ext cx="2351311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情報提供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04115" y="4302000"/>
            <a:ext cx="2351311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04115" y="4608000"/>
            <a:ext cx="2351311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セグメント配信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04115" y="4913999"/>
            <a:ext cx="2351311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個別フォロー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500" y="5578981"/>
            <a:ext cx="8628750" cy="578038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ハードルが低い</a:t>
            </a:r>
            <a:r>
              <a:rPr lang="en-US" altLang="ja-JP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</a:t>
            </a:r>
            <a:r>
              <a:rPr lang="ja-JP" altLang="en-US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を獲得するため該当のページ制作から、</a:t>
            </a:r>
            <a:endParaRPr lang="en-US" altLang="ja-JP" sz="16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サンクス</a:t>
            </a:r>
            <a:r>
              <a:rPr lang="en-US" altLang="ja-JP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誘導・ナーチャリングを一気通貫で対応可能</a:t>
            </a:r>
            <a:endParaRPr sz="16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前後検索データを活用したステップ配信設計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865" y="817378"/>
            <a:ext cx="9111472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友だち追加直後で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アクション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率が高い時に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ユーザーの検討行動に合わせた配信を設計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14812" y="1620000"/>
            <a:ext cx="306000" cy="30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525" y="1842343"/>
            <a:ext cx="2515500" cy="510327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前後検</a:t>
            </a:r>
            <a:r>
              <a:rPr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索</a:t>
            </a: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lang="en-US" altLang="ja-JP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LY</a:t>
            </a: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生データ）</a:t>
            </a:r>
            <a:endParaRPr lang="en-US"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⇒ユーザーの</a:t>
            </a:r>
            <a:r>
              <a:rPr sz="14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ニーズを把握</a:t>
            </a:r>
            <a:endParaRPr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643500" y="2443339"/>
            <a:ext cx="25155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452062" y="1620000"/>
            <a:ext cx="306000" cy="30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0750" y="1987330"/>
            <a:ext cx="2515500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配信内容・順番を設計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80750" y="2443339"/>
            <a:ext cx="25155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289312" y="1620000"/>
            <a:ext cx="306000" cy="306000"/>
          </a:xfrm>
          <a:prstGeom prst="ellips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7999" y="1987330"/>
            <a:ext cx="2954250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追加直後で</a:t>
            </a:r>
            <a:r>
              <a:rPr sz="14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アクション</a:t>
            </a: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が起きやすい</a:t>
            </a:r>
            <a:endParaRPr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6317999" y="2443339"/>
            <a:ext cx="2954251" cy="0"/>
          </a:xfrm>
          <a:prstGeom prst="line">
            <a:avLst/>
          </a:prstGeom>
          <a:ln w="19050">
            <a:solidFill>
              <a:srgbClr val="0B7A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ight Arrow 17"/>
          <p:cNvSpPr/>
          <p:nvPr/>
        </p:nvSpPr>
        <p:spPr>
          <a:xfrm>
            <a:off x="3202875" y="3595339"/>
            <a:ext cx="234000" cy="468000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9" name="Right Arrow 18"/>
          <p:cNvSpPr/>
          <p:nvPr/>
        </p:nvSpPr>
        <p:spPr>
          <a:xfrm>
            <a:off x="6040124" y="3595339"/>
            <a:ext cx="234000" cy="468000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cxnSp>
        <p:nvCxnSpPr>
          <p:cNvPr id="20" name="Connector 19"/>
          <p:cNvCxnSpPr/>
          <p:nvPr/>
        </p:nvCxnSpPr>
        <p:spPr>
          <a:xfrm>
            <a:off x="848250" y="4171339"/>
            <a:ext cx="2281500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250" y="2659339"/>
            <a:ext cx="0" cy="151200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989000" y="2659339"/>
            <a:ext cx="0" cy="151200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4250" y="2839339"/>
            <a:ext cx="234000" cy="180000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UU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856" y="4178539"/>
            <a:ext cx="334788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-15日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771" y="4178539"/>
            <a:ext cx="270669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-7日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5811" y="4178539"/>
            <a:ext cx="270669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-3日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09396" y="4178539"/>
            <a:ext cx="559209" cy="307195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0日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(検索起点)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3963" y="4178539"/>
            <a:ext cx="225784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3日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29003" y="4178539"/>
            <a:ext cx="225784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7日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84798" y="4178539"/>
            <a:ext cx="289904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15日</a:t>
            </a:r>
          </a:p>
        </p:txBody>
      </p:sp>
      <p:sp>
        <p:nvSpPr>
          <p:cNvPr id="31" name="Oval 30"/>
          <p:cNvSpPr/>
          <p:nvPr/>
        </p:nvSpPr>
        <p:spPr>
          <a:xfrm>
            <a:off x="2174974" y="274483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235274" y="2744831"/>
            <a:ext cx="218467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973582" y="280076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335968" y="304864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007339" y="307113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566087" y="307201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626387" y="3072012"/>
            <a:ext cx="149086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224222" y="307361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732481" y="310039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075299" y="311427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248154" y="313799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308454" y="3137999"/>
            <a:ext cx="151435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243256" y="320979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195314" y="321725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701768" y="330026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762965" y="340874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823265" y="3408746"/>
            <a:ext cx="99054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764070" y="346994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012988" y="350577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554709" y="351370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695035" y="352781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755335" y="3527816"/>
            <a:ext cx="101200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754402" y="352862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222114" y="353613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870393" y="356019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2490680" y="356701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2550980" y="3567010"/>
            <a:ext cx="132849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803295" y="361829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007748" y="366502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679031" y="367068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798546" y="367960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1858846" y="3679609"/>
            <a:ext cx="122598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346384" y="368396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708212" y="372825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885936" y="378458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973201" y="380867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2033501" y="3808677"/>
            <a:ext cx="196848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2434276" y="382729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502102" y="384878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103102" y="385231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431684" y="385694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2491984" y="3856944"/>
            <a:ext cx="108999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2957112" y="389125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2071759" y="391093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1327210" y="391322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094264" y="392384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2154564" y="3923847"/>
            <a:ext cx="90790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509761" y="393643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2344056" y="393931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2061964" y="394440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896624" y="394869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1956924" y="3948694"/>
            <a:ext cx="212923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947040" y="395815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489551" y="398534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2382012" y="401985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86" name="Oval 85"/>
          <p:cNvSpPr/>
          <p:nvPr/>
        </p:nvSpPr>
        <p:spPr>
          <a:xfrm>
            <a:off x="1606119" y="402604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87" name="Rounded Rectangle 86"/>
          <p:cNvSpPr/>
          <p:nvPr/>
        </p:nvSpPr>
        <p:spPr>
          <a:xfrm>
            <a:off x="1666419" y="4026047"/>
            <a:ext cx="157281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88" name="Oval 87"/>
          <p:cNvSpPr/>
          <p:nvPr/>
        </p:nvSpPr>
        <p:spPr>
          <a:xfrm>
            <a:off x="2189770" y="402869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89" name="Oval 88"/>
          <p:cNvSpPr/>
          <p:nvPr/>
        </p:nvSpPr>
        <p:spPr>
          <a:xfrm>
            <a:off x="2581579" y="403066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0" name="Oval 89"/>
          <p:cNvSpPr/>
          <p:nvPr/>
        </p:nvSpPr>
        <p:spPr>
          <a:xfrm>
            <a:off x="1908993" y="403718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1" name="Oval 90"/>
          <p:cNvSpPr/>
          <p:nvPr/>
        </p:nvSpPr>
        <p:spPr>
          <a:xfrm>
            <a:off x="2276001" y="404162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2" name="Rounded Rectangle 91"/>
          <p:cNvSpPr/>
          <p:nvPr/>
        </p:nvSpPr>
        <p:spPr>
          <a:xfrm>
            <a:off x="2336301" y="4041628"/>
            <a:ext cx="107046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3" name="Oval 92"/>
          <p:cNvSpPr/>
          <p:nvPr/>
        </p:nvSpPr>
        <p:spPr>
          <a:xfrm>
            <a:off x="1866016" y="404855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4" name="Oval 93"/>
          <p:cNvSpPr/>
          <p:nvPr/>
        </p:nvSpPr>
        <p:spPr>
          <a:xfrm>
            <a:off x="2081942" y="404983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5" name="Oval 94"/>
          <p:cNvSpPr/>
          <p:nvPr/>
        </p:nvSpPr>
        <p:spPr>
          <a:xfrm>
            <a:off x="2175240" y="406040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6" name="Oval 95"/>
          <p:cNvSpPr/>
          <p:nvPr/>
        </p:nvSpPr>
        <p:spPr>
          <a:xfrm>
            <a:off x="2165289" y="406212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7" name="Rounded Rectangle 96"/>
          <p:cNvSpPr/>
          <p:nvPr/>
        </p:nvSpPr>
        <p:spPr>
          <a:xfrm>
            <a:off x="2225589" y="4062120"/>
            <a:ext cx="159244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8" name="Oval 97"/>
          <p:cNvSpPr/>
          <p:nvPr/>
        </p:nvSpPr>
        <p:spPr>
          <a:xfrm>
            <a:off x="2365996" y="406509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9" name="Oval 98"/>
          <p:cNvSpPr/>
          <p:nvPr/>
        </p:nvSpPr>
        <p:spPr>
          <a:xfrm>
            <a:off x="2318492" y="407152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0" name="Oval 99"/>
          <p:cNvSpPr/>
          <p:nvPr/>
        </p:nvSpPr>
        <p:spPr>
          <a:xfrm>
            <a:off x="2545675" y="407693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1" name="Oval 100"/>
          <p:cNvSpPr/>
          <p:nvPr/>
        </p:nvSpPr>
        <p:spPr>
          <a:xfrm>
            <a:off x="1355620" y="407833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2" name="Rounded Rectangle 101"/>
          <p:cNvSpPr/>
          <p:nvPr/>
        </p:nvSpPr>
        <p:spPr>
          <a:xfrm>
            <a:off x="1415920" y="4078332"/>
            <a:ext cx="91309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3" name="Oval 102"/>
          <p:cNvSpPr/>
          <p:nvPr/>
        </p:nvSpPr>
        <p:spPr>
          <a:xfrm>
            <a:off x="1764247" y="407856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4" name="Oval 103"/>
          <p:cNvSpPr/>
          <p:nvPr/>
        </p:nvSpPr>
        <p:spPr>
          <a:xfrm>
            <a:off x="1722435" y="407970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5" name="Oval 104"/>
          <p:cNvSpPr/>
          <p:nvPr/>
        </p:nvSpPr>
        <p:spPr>
          <a:xfrm>
            <a:off x="2021203" y="407992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6" name="Oval 105"/>
          <p:cNvSpPr/>
          <p:nvPr/>
        </p:nvSpPr>
        <p:spPr>
          <a:xfrm>
            <a:off x="1615776" y="408282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7" name="Rounded Rectangle 106"/>
          <p:cNvSpPr/>
          <p:nvPr/>
        </p:nvSpPr>
        <p:spPr>
          <a:xfrm>
            <a:off x="1676076" y="4082821"/>
            <a:ext cx="157262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8" name="Oval 107"/>
          <p:cNvSpPr/>
          <p:nvPr/>
        </p:nvSpPr>
        <p:spPr>
          <a:xfrm>
            <a:off x="2054659" y="408517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9" name="Oval 108"/>
          <p:cNvSpPr/>
          <p:nvPr/>
        </p:nvSpPr>
        <p:spPr>
          <a:xfrm>
            <a:off x="1391304" y="408677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0" name="Oval 109"/>
          <p:cNvSpPr/>
          <p:nvPr/>
        </p:nvSpPr>
        <p:spPr>
          <a:xfrm>
            <a:off x="2150492" y="408789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1" name="Oval 110"/>
          <p:cNvSpPr/>
          <p:nvPr/>
        </p:nvSpPr>
        <p:spPr>
          <a:xfrm>
            <a:off x="2342302" y="408821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2" name="Rounded Rectangle 111"/>
          <p:cNvSpPr/>
          <p:nvPr/>
        </p:nvSpPr>
        <p:spPr>
          <a:xfrm>
            <a:off x="2402602" y="4088218"/>
            <a:ext cx="216545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3" name="Oval 112"/>
          <p:cNvSpPr/>
          <p:nvPr/>
        </p:nvSpPr>
        <p:spPr>
          <a:xfrm>
            <a:off x="1876813" y="408852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4" name="Oval 113"/>
          <p:cNvSpPr/>
          <p:nvPr/>
        </p:nvSpPr>
        <p:spPr>
          <a:xfrm>
            <a:off x="1624306" y="408953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5" name="Oval 114"/>
          <p:cNvSpPr/>
          <p:nvPr/>
        </p:nvSpPr>
        <p:spPr>
          <a:xfrm>
            <a:off x="2138041" y="409004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6" name="Oval 115"/>
          <p:cNvSpPr/>
          <p:nvPr/>
        </p:nvSpPr>
        <p:spPr>
          <a:xfrm>
            <a:off x="2101194" y="409171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7" name="Rounded Rectangle 116"/>
          <p:cNvSpPr/>
          <p:nvPr/>
        </p:nvSpPr>
        <p:spPr>
          <a:xfrm>
            <a:off x="2161494" y="4091711"/>
            <a:ext cx="201385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8" name="Oval 117"/>
          <p:cNvSpPr/>
          <p:nvPr/>
        </p:nvSpPr>
        <p:spPr>
          <a:xfrm>
            <a:off x="2247349" y="409213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21" name="Rectangle 120"/>
          <p:cNvSpPr/>
          <p:nvPr/>
        </p:nvSpPr>
        <p:spPr>
          <a:xfrm>
            <a:off x="3480750" y="2515339"/>
            <a:ext cx="1023750" cy="27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検索データ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972500" y="2515339"/>
            <a:ext cx="1023750" cy="270000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LINE配信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480750" y="2947339"/>
            <a:ext cx="1023750" cy="3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不安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4563000" y="3145339"/>
            <a:ext cx="351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4972500" y="2947339"/>
            <a:ext cx="1023750" cy="396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どの情報を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480750" y="3541338"/>
            <a:ext cx="1023750" cy="3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比較軸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4563000" y="3739339"/>
            <a:ext cx="351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ounded Rectangle 127"/>
          <p:cNvSpPr/>
          <p:nvPr/>
        </p:nvSpPr>
        <p:spPr>
          <a:xfrm>
            <a:off x="4972500" y="3541338"/>
            <a:ext cx="1023750" cy="396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どの順番で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480750" y="4135339"/>
            <a:ext cx="1023750" cy="3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関心テーマ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4563000" y="4333339"/>
            <a:ext cx="351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ounded Rectangle 130"/>
          <p:cNvSpPr/>
          <p:nvPr/>
        </p:nvSpPr>
        <p:spPr>
          <a:xfrm>
            <a:off x="4972500" y="4135339"/>
            <a:ext cx="1023750" cy="396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いつ配信するか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3673313" y="4770998"/>
            <a:ext cx="2322937" cy="620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29250" tIns="18000" rIns="29250" bIns="18000" anchor="t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ニーズをもとに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配信内容・順番・タイミングを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業界・商材ごとに設計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133" name="Connector 132"/>
          <p:cNvCxnSpPr/>
          <p:nvPr/>
        </p:nvCxnSpPr>
        <p:spPr>
          <a:xfrm>
            <a:off x="7166249" y="2623339"/>
            <a:ext cx="0" cy="2556000"/>
          </a:xfrm>
          <a:prstGeom prst="line">
            <a:avLst/>
          </a:prstGeom>
          <a:ln w="25400">
            <a:solidFill>
              <a:srgbClr val="06C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Oval 133"/>
          <p:cNvSpPr/>
          <p:nvPr/>
        </p:nvSpPr>
        <p:spPr>
          <a:xfrm>
            <a:off x="7058249" y="2515339"/>
            <a:ext cx="216000" cy="216000"/>
          </a:xfrm>
          <a:prstGeom prst="ellipse">
            <a:avLst/>
          </a:prstGeom>
          <a:solidFill>
            <a:srgbClr val="06C755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000"/>
          </a:p>
        </p:txBody>
      </p:sp>
      <p:sp>
        <p:nvSpPr>
          <p:cNvPr id="135" name="TextBox 134"/>
          <p:cNvSpPr txBox="1"/>
          <p:nvPr/>
        </p:nvSpPr>
        <p:spPr>
          <a:xfrm>
            <a:off x="6317999" y="2520524"/>
            <a:ext cx="731250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137" name="Oval 136"/>
          <p:cNvSpPr/>
          <p:nvPr/>
        </p:nvSpPr>
        <p:spPr>
          <a:xfrm>
            <a:off x="7058249" y="2923167"/>
            <a:ext cx="216000" cy="216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000"/>
          </a:p>
        </p:txBody>
      </p:sp>
      <p:sp>
        <p:nvSpPr>
          <p:cNvPr id="138" name="TextBox 137"/>
          <p:cNvSpPr txBox="1"/>
          <p:nvPr/>
        </p:nvSpPr>
        <p:spPr>
          <a:xfrm>
            <a:off x="6317999" y="2936816"/>
            <a:ext cx="731250" cy="188701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初回配信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370999" y="2868646"/>
            <a:ext cx="190125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3875" tIns="0" rIns="4387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興味喚起</a:t>
            </a:r>
          </a:p>
        </p:txBody>
      </p:sp>
      <p:sp>
        <p:nvSpPr>
          <p:cNvPr id="140" name="Oval 139"/>
          <p:cNvSpPr/>
          <p:nvPr/>
        </p:nvSpPr>
        <p:spPr>
          <a:xfrm>
            <a:off x="7058249" y="3561721"/>
            <a:ext cx="216000" cy="216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000"/>
          </a:p>
        </p:txBody>
      </p:sp>
      <p:sp>
        <p:nvSpPr>
          <p:cNvPr id="141" name="TextBox 140"/>
          <p:cNvSpPr txBox="1"/>
          <p:nvPr/>
        </p:nvSpPr>
        <p:spPr>
          <a:xfrm>
            <a:off x="6317999" y="3575371"/>
            <a:ext cx="731250" cy="188701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数日後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370999" y="3507201"/>
            <a:ext cx="190125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3875" tIns="0" rIns="4387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比較検討情報・不安解消</a:t>
            </a:r>
            <a:endParaRPr sz="1050" b="1" dirty="0">
              <a:solidFill>
                <a:srgbClr val="0B7A3B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3" name="Oval 142"/>
          <p:cNvSpPr/>
          <p:nvPr/>
        </p:nvSpPr>
        <p:spPr>
          <a:xfrm>
            <a:off x="7058249" y="4250539"/>
            <a:ext cx="216000" cy="216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000"/>
          </a:p>
        </p:txBody>
      </p:sp>
      <p:sp>
        <p:nvSpPr>
          <p:cNvPr id="144" name="TextBox 143"/>
          <p:cNvSpPr txBox="1"/>
          <p:nvPr/>
        </p:nvSpPr>
        <p:spPr>
          <a:xfrm>
            <a:off x="6317999" y="4264188"/>
            <a:ext cx="731250" cy="188701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1〜2週間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370999" y="4196018"/>
            <a:ext cx="190125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3875" tIns="0" rIns="4387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050" b="1" dirty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契約・利用</a:t>
            </a:r>
            <a:r>
              <a:rPr sz="1050" b="1" dirty="0" err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オファ</a:t>
            </a:r>
            <a:r>
              <a:rPr sz="1050" b="1" dirty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ー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43500" y="5841474"/>
            <a:ext cx="8628750" cy="34105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前後検索でユーザーニーズを捉え、友だち追加直後のステップ配信に反映</a:t>
            </a:r>
            <a:endParaRPr sz="2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0" name="二等辺三角形 149">
            <a:extLst>
              <a:ext uri="{FF2B5EF4-FFF2-40B4-BE49-F238E27FC236}">
                <a16:creationId xmlns:a16="http://schemas.microsoft.com/office/drawing/2014/main" id="{45749858-75C5-B795-5AA4-35BD51777768}"/>
              </a:ext>
            </a:extLst>
          </p:cNvPr>
          <p:cNvSpPr/>
          <p:nvPr/>
        </p:nvSpPr>
        <p:spPr>
          <a:xfrm rot="10800000">
            <a:off x="7082247" y="5077100"/>
            <a:ext cx="171834" cy="290396"/>
          </a:xfrm>
          <a:prstGeom prst="triangle">
            <a:avLst/>
          </a:prstGeom>
          <a:solidFill>
            <a:srgbClr val="00B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kumimoji="1" lang="ja-JP" altLang="en-US" sz="2000"/>
          </a:p>
        </p:txBody>
      </p:sp>
      <p:sp>
        <p:nvSpPr>
          <p:cNvPr id="152" name="Rounded Rectangle 144">
            <a:extLst>
              <a:ext uri="{FF2B5EF4-FFF2-40B4-BE49-F238E27FC236}">
                <a16:creationId xmlns:a16="http://schemas.microsoft.com/office/drawing/2014/main" id="{9271364C-3269-6287-1367-C96CC9B7B278}"/>
              </a:ext>
            </a:extLst>
          </p:cNvPr>
          <p:cNvSpPr/>
          <p:nvPr/>
        </p:nvSpPr>
        <p:spPr>
          <a:xfrm>
            <a:off x="7370999" y="5025751"/>
            <a:ext cx="190125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3875" tIns="0" rIns="4387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050" b="1" dirty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以降もナーチャリング対象</a:t>
            </a:r>
            <a:endParaRPr sz="1050" b="1" dirty="0">
              <a:solidFill>
                <a:srgbClr val="0B7A3B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TextBox 131">
            <a:extLst>
              <a:ext uri="{FF2B5EF4-FFF2-40B4-BE49-F238E27FC236}">
                <a16:creationId xmlns:a16="http://schemas.microsoft.com/office/drawing/2014/main" id="{23F6D43A-CEDB-036F-68BB-B6F0EF86E65C}"/>
              </a:ext>
            </a:extLst>
          </p:cNvPr>
          <p:cNvSpPr txBox="1"/>
          <p:nvPr/>
        </p:nvSpPr>
        <p:spPr>
          <a:xfrm>
            <a:off x="643500" y="4768226"/>
            <a:ext cx="2486250" cy="620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29250" tIns="18000" rIns="29250" bIns="18000" anchor="t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検討後に何を検索しているか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ユーザーの不安・比較軸</a:t>
            </a:r>
            <a:endParaRPr lang="en-US" altLang="ja-JP"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・関心テーマを把握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DYMのコンサル支援内容・費用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865" y="817378"/>
            <a:ext cx="9111472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ツール導入だけではなく、CPO改善に向けたLINE運用まで支援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643500" y="1800000"/>
            <a:ext cx="2233969" cy="864000"/>
          </a:xfrm>
          <a:prstGeom prst="homePlate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731250" y="2112258"/>
            <a:ext cx="1985344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サンクスLINE導入</a:t>
            </a:r>
          </a:p>
        </p:txBody>
      </p:sp>
      <p:sp>
        <p:nvSpPr>
          <p:cNvPr id="8" name="Chevron 7"/>
          <p:cNvSpPr/>
          <p:nvPr/>
        </p:nvSpPr>
        <p:spPr>
          <a:xfrm>
            <a:off x="2775094" y="1800000"/>
            <a:ext cx="2233969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2965219" y="2112258"/>
            <a:ext cx="1882969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LINE配信設計</a:t>
            </a:r>
          </a:p>
        </p:txBody>
      </p:sp>
      <p:sp>
        <p:nvSpPr>
          <p:cNvPr id="10" name="Chevron 9"/>
          <p:cNvSpPr/>
          <p:nvPr/>
        </p:nvSpPr>
        <p:spPr>
          <a:xfrm>
            <a:off x="4906688" y="1800000"/>
            <a:ext cx="2233969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5096812" y="2112258"/>
            <a:ext cx="1882969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効果計測</a:t>
            </a:r>
          </a:p>
        </p:txBody>
      </p:sp>
      <p:sp>
        <p:nvSpPr>
          <p:cNvPr id="12" name="Chevron 11"/>
          <p:cNvSpPr/>
          <p:nvPr/>
        </p:nvSpPr>
        <p:spPr>
          <a:xfrm>
            <a:off x="7038281" y="1800000"/>
            <a:ext cx="2233969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7228406" y="2112258"/>
            <a:ext cx="1882969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改善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0500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導線設計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500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設定支援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2094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92094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92094" y="3528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92094" y="3870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セグメント配信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3688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3688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LINE経由CV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3688" y="3528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来店・面談・購入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55281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配信内容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55281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配信タイミング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55281" y="3528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281" y="3911185"/>
            <a:ext cx="1941469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を継続改善</a:t>
            </a:r>
            <a:endParaRPr sz="1000" b="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8126016" y="4212000"/>
            <a:ext cx="0" cy="251999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62828" y="4463999"/>
            <a:ext cx="4263188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862828" y="4230000"/>
            <a:ext cx="0" cy="233999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950578" y="4487185"/>
            <a:ext cx="2925000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計測結果をもとに、配信・導線を見直す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3500" y="5043465"/>
            <a:ext cx="862875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43500" y="5194665"/>
            <a:ext cx="48502" cy="179999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800"/>
          </a:p>
        </p:txBody>
      </p:sp>
      <p:sp>
        <p:nvSpPr>
          <p:cNvPr id="33" name="TextBox 32"/>
          <p:cNvSpPr txBox="1"/>
          <p:nvPr/>
        </p:nvSpPr>
        <p:spPr>
          <a:xfrm>
            <a:off x="745875" y="5175187"/>
            <a:ext cx="3772348" cy="222556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サンクスLINE誘導ツール｜費用目安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500" y="5544136"/>
            <a:ext cx="1933329" cy="31266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　</a:t>
            </a:r>
            <a:r>
              <a:rPr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15万円</a:t>
            </a:r>
          </a:p>
        </p:txBody>
      </p:sp>
      <p:cxnSp>
        <p:nvCxnSpPr>
          <p:cNvPr id="35" name="Connector 34"/>
          <p:cNvCxnSpPr>
            <a:cxnSpLocks/>
          </p:cNvCxnSpPr>
          <p:nvPr/>
        </p:nvCxnSpPr>
        <p:spPr>
          <a:xfrm>
            <a:off x="2742188" y="5529465"/>
            <a:ext cx="0" cy="341999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742188" y="5544136"/>
            <a:ext cx="1933329" cy="31266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　</a:t>
            </a:r>
            <a:r>
              <a:rPr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3万円〜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14000" y="5194665"/>
            <a:ext cx="58704" cy="179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5016375" y="5175187"/>
            <a:ext cx="4565854" cy="222556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LINE運用コンサル｜費用目安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06688" y="5544136"/>
            <a:ext cx="1560000" cy="31266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</a:t>
            </a:r>
            <a:r>
              <a:rPr lang="ja-JP" altLang="en-US" sz="1000" b="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3126" y="5544136"/>
            <a:ext cx="1560000" cy="31266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</a:t>
            </a:r>
            <a:r>
              <a:rPr lang="en-US" sz="10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20万円〜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19563" y="5545867"/>
            <a:ext cx="1560000" cy="31266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期間</a:t>
            </a:r>
            <a:r>
              <a:rPr lang="en-US" sz="10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6か月〜</a:t>
            </a:r>
          </a:p>
        </p:txBody>
      </p:sp>
      <p:cxnSp>
        <p:nvCxnSpPr>
          <p:cNvPr id="44" name="Connector 43"/>
          <p:cNvCxnSpPr>
            <a:cxnSpLocks/>
          </p:cNvCxnSpPr>
          <p:nvPr/>
        </p:nvCxnSpPr>
        <p:spPr>
          <a:xfrm>
            <a:off x="4797000" y="5151465"/>
            <a:ext cx="0" cy="791997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50813" y="6016994"/>
            <a:ext cx="8628750" cy="188701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※施策内容・配信本数・連携範囲等により、費用は個別にお見積もりいたします。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143380</TotalTime>
  <Words>684</Words>
  <Application>Microsoft Office PowerPoint</Application>
  <PresentationFormat>A4 210 x 297 mm</PresentationFormat>
  <Paragraphs>216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7</vt:i4>
      </vt:variant>
    </vt:vector>
  </HeadingPairs>
  <TitlesOfParts>
    <vt:vector size="14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1971</cp:revision>
  <cp:lastPrinted>2022-11-01T11:38:14Z</cp:lastPrinted>
  <dcterms:created xsi:type="dcterms:W3CDTF">2015-09-04T09:21:15Z</dcterms:created>
  <dcterms:modified xsi:type="dcterms:W3CDTF">2026-10-08T16:33:17Z</dcterms:modified>
</cp:coreProperties>
</file>