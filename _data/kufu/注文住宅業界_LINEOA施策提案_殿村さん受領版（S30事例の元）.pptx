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4"/>
  </p:notesMasterIdLst>
  <p:handoutMasterIdLst>
    <p:handoutMasterId r:id="rId35"/>
  </p:handoutMasterIdLst>
  <p:sldIdLst>
    <p:sldId id="2363" r:id="rId3"/>
    <p:sldId id="2736" r:id="rId4"/>
    <p:sldId id="2972" r:id="rId5"/>
    <p:sldId id="2977" r:id="rId6"/>
    <p:sldId id="2908" r:id="rId7"/>
    <p:sldId id="2974" r:id="rId8"/>
    <p:sldId id="2975" r:id="rId9"/>
    <p:sldId id="2979" r:id="rId10"/>
    <p:sldId id="2982" r:id="rId11"/>
    <p:sldId id="2956" r:id="rId12"/>
    <p:sldId id="2988" r:id="rId13"/>
    <p:sldId id="2937" r:id="rId14"/>
    <p:sldId id="2939" r:id="rId15"/>
    <p:sldId id="2983" r:id="rId16"/>
    <p:sldId id="2984" r:id="rId17"/>
    <p:sldId id="2985" r:id="rId18"/>
    <p:sldId id="2986" r:id="rId19"/>
    <p:sldId id="2987" r:id="rId20"/>
    <p:sldId id="2966" r:id="rId21"/>
    <p:sldId id="2962" r:id="rId22"/>
    <p:sldId id="2942" r:id="rId23"/>
    <p:sldId id="2943" r:id="rId24"/>
    <p:sldId id="2944" r:id="rId25"/>
    <p:sldId id="2967" r:id="rId26"/>
    <p:sldId id="2947" r:id="rId27"/>
    <p:sldId id="2948" r:id="rId28"/>
    <p:sldId id="2954" r:id="rId29"/>
    <p:sldId id="2958" r:id="rId30"/>
    <p:sldId id="2953" r:id="rId31"/>
    <p:sldId id="2955" r:id="rId32"/>
    <p:sldId id="1169" r:id="rId3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31</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3.emf"/><Relationship Id="rId7"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nchor="t">
            <a:spAutoFit/>
          </a:bodyPr>
          <a:lstStyle/>
          <a:p>
            <a:pPr algn="ctr"/>
            <a:r>
              <a:rPr sz="1600" b="0">
                <a:solidFill>
                  <a:srgbClr val="333333"/>
                </a:solidFill>
                <a:latin typeface="Meiryo"/>
                <a:ea typeface="Meiryo"/>
                <a:cs typeface="Meiryo"/>
              </a:rPr>
              <a:t>検討期間10ヶ月を伴走し、来場率と契約棟数を引き上げる動線を構築する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400" b="1">
                <a:solidFill>
                  <a:srgbClr val="333333"/>
                </a:solidFill>
                <a:latin typeface="メイリオ"/>
                <a:ea typeface="メイリオ"/>
                <a:cs typeface="メイリオ"/>
              </a:rPr>
              <a:t>業界：注文住宅</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検討期間10ヶ月を伴走し、来場率と契約棟数を引き上げる動線をご提案します。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728000"/>
            <a:ext cx="1007999" cy="5832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728000"/>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第1章</a:t>
            </a:r>
          </a:p>
        </p:txBody>
      </p:sp>
      <p:sp>
        <p:nvSpPr>
          <p:cNvPr id="7" name="Rounded Rectangle 6"/>
          <p:cNvSpPr/>
          <p:nvPr/>
        </p:nvSpPr>
        <p:spPr>
          <a:xfrm>
            <a:off x="1645200" y="1728000"/>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71200" y="1814400"/>
            <a:ext cx="7444800" cy="2592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どこで売上を失っているか</a:t>
            </a:r>
          </a:p>
        </p:txBody>
      </p:sp>
      <p:sp>
        <p:nvSpPr>
          <p:cNvPr id="9" name="TextBox 8"/>
          <p:cNvSpPr txBox="1"/>
          <p:nvPr/>
        </p:nvSpPr>
        <p:spPr>
          <a:xfrm>
            <a:off x="1771200" y="2073600"/>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商材の構造と機会損失／検討者の心理／本提案のスコープ</a:t>
            </a:r>
          </a:p>
        </p:txBody>
      </p:sp>
      <p:sp>
        <p:nvSpPr>
          <p:cNvPr id="10" name="Rounded Rectangle 9"/>
          <p:cNvSpPr/>
          <p:nvPr/>
        </p:nvSpPr>
        <p:spPr>
          <a:xfrm>
            <a:off x="547200" y="2394000"/>
            <a:ext cx="1007999" cy="5832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7200" y="2394000"/>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第2章</a:t>
            </a:r>
          </a:p>
        </p:txBody>
      </p:sp>
      <p:sp>
        <p:nvSpPr>
          <p:cNvPr id="12" name="Rounded Rectangle 11"/>
          <p:cNvSpPr/>
          <p:nvPr/>
        </p:nvSpPr>
        <p:spPr>
          <a:xfrm>
            <a:off x="1645200" y="2394000"/>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71200" y="2480400"/>
            <a:ext cx="7444800" cy="2592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業界の実態調査</a:t>
            </a:r>
          </a:p>
        </p:txBody>
      </p:sp>
      <p:sp>
        <p:nvSpPr>
          <p:cNvPr id="14" name="TextBox 13"/>
          <p:cNvSpPr txBox="1"/>
          <p:nvPr/>
        </p:nvSpPr>
        <p:spPr>
          <a:xfrm>
            <a:off x="1771200" y="2739600"/>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シーズナリティ／前後検索／競合7社の運用実態</a:t>
            </a:r>
          </a:p>
        </p:txBody>
      </p:sp>
      <p:sp>
        <p:nvSpPr>
          <p:cNvPr id="15" name="Rounded Rectangle 14"/>
          <p:cNvSpPr/>
          <p:nvPr/>
        </p:nvSpPr>
        <p:spPr>
          <a:xfrm>
            <a:off x="547200" y="3060000"/>
            <a:ext cx="1007999" cy="5832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7200" y="3060000"/>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第3章</a:t>
            </a:r>
          </a:p>
        </p:txBody>
      </p:sp>
      <p:sp>
        <p:nvSpPr>
          <p:cNvPr id="17" name="Rounded Rectangle 16"/>
          <p:cNvSpPr/>
          <p:nvPr/>
        </p:nvSpPr>
        <p:spPr>
          <a:xfrm>
            <a:off x="1645200" y="3060000"/>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71200" y="3146400"/>
            <a:ext cx="7444800" cy="2592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全体設計</a:t>
            </a:r>
          </a:p>
        </p:txBody>
      </p:sp>
      <p:sp>
        <p:nvSpPr>
          <p:cNvPr id="19" name="TextBox 18"/>
          <p:cNvSpPr txBox="1"/>
          <p:nvPr/>
        </p:nvSpPr>
        <p:spPr>
          <a:xfrm>
            <a:off x="1771200" y="3405600"/>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現状の導線と離脱ポイント／導入後の導線／具体施策一覧</a:t>
            </a:r>
          </a:p>
        </p:txBody>
      </p:sp>
      <p:sp>
        <p:nvSpPr>
          <p:cNvPr id="20" name="Rounded Rectangle 19"/>
          <p:cNvSpPr/>
          <p:nvPr/>
        </p:nvSpPr>
        <p:spPr>
          <a:xfrm>
            <a:off x="547200" y="3726000"/>
            <a:ext cx="1007999" cy="5832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7200" y="3726000"/>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第4章</a:t>
            </a:r>
          </a:p>
        </p:txBody>
      </p:sp>
      <p:sp>
        <p:nvSpPr>
          <p:cNvPr id="22" name="Rounded Rectangle 21"/>
          <p:cNvSpPr/>
          <p:nvPr/>
        </p:nvSpPr>
        <p:spPr>
          <a:xfrm>
            <a:off x="1645200" y="3726000"/>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771200" y="3812400"/>
            <a:ext cx="7444800" cy="2592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アカウント構築</a:t>
            </a:r>
          </a:p>
        </p:txBody>
      </p:sp>
      <p:sp>
        <p:nvSpPr>
          <p:cNvPr id="24" name="TextBox 23"/>
          <p:cNvSpPr txBox="1"/>
          <p:nvPr/>
        </p:nvSpPr>
        <p:spPr>
          <a:xfrm>
            <a:off x="1771200" y="4071599"/>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友だち追加動線・あいさつ・診断・リッチメニュー</a:t>
            </a:r>
          </a:p>
        </p:txBody>
      </p:sp>
      <p:sp>
        <p:nvSpPr>
          <p:cNvPr id="25" name="Rounded Rectangle 24"/>
          <p:cNvSpPr/>
          <p:nvPr/>
        </p:nvSpPr>
        <p:spPr>
          <a:xfrm>
            <a:off x="547200" y="4392000"/>
            <a:ext cx="1007999" cy="5832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7200" y="4392000"/>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第5章</a:t>
            </a:r>
          </a:p>
        </p:txBody>
      </p:sp>
      <p:sp>
        <p:nvSpPr>
          <p:cNvPr id="27" name="Rounded Rectangle 26"/>
          <p:cNvSpPr/>
          <p:nvPr/>
        </p:nvSpPr>
        <p:spPr>
          <a:xfrm>
            <a:off x="1645200" y="4392000"/>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771200" y="4478400"/>
            <a:ext cx="7444800" cy="2592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配信設計</a:t>
            </a:r>
          </a:p>
        </p:txBody>
      </p:sp>
      <p:sp>
        <p:nvSpPr>
          <p:cNvPr id="29" name="TextBox 28"/>
          <p:cNvSpPr txBox="1"/>
          <p:nvPr/>
        </p:nvSpPr>
        <p:spPr>
          <a:xfrm>
            <a:off x="1771200" y="4737600"/>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14日ステップ・実文面・タイプ別追客・通知メッセージ</a:t>
            </a:r>
          </a:p>
        </p:txBody>
      </p:sp>
      <p:sp>
        <p:nvSpPr>
          <p:cNvPr id="30" name="Rounded Rectangle 29"/>
          <p:cNvSpPr/>
          <p:nvPr/>
        </p:nvSpPr>
        <p:spPr>
          <a:xfrm>
            <a:off x="547200" y="5058000"/>
            <a:ext cx="1007999" cy="5832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7200" y="5058000"/>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第6章</a:t>
            </a:r>
          </a:p>
        </p:txBody>
      </p:sp>
      <p:sp>
        <p:nvSpPr>
          <p:cNvPr id="32" name="Rounded Rectangle 31"/>
          <p:cNvSpPr/>
          <p:nvPr/>
        </p:nvSpPr>
        <p:spPr>
          <a:xfrm>
            <a:off x="1645200" y="5058000"/>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771200" y="5144400"/>
            <a:ext cx="7444800" cy="259200"/>
          </a:xfrm>
          <a:prstGeom prst="rect">
            <a:avLst/>
          </a:prstGeom>
          <a:noFill/>
        </p:spPr>
        <p:txBody>
          <a:bodyPr wrap="square" lIns="21600" tIns="7200" rIns="21600" bIns="7200" anchor="t">
            <a:spAutoFit/>
          </a:bodyPr>
          <a:lstStyle/>
          <a:p>
            <a:pPr algn="l"/>
            <a:r>
              <a:rPr sz="1300" b="1">
                <a:solidFill>
                  <a:srgbClr val="ED7D31"/>
                </a:solidFill>
                <a:latin typeface="メイリオ"/>
                <a:ea typeface="メイリオ"/>
                <a:cs typeface="メイリオ"/>
              </a:rPr>
              <a:t>成果と投資判断</a:t>
            </a:r>
          </a:p>
        </p:txBody>
      </p:sp>
      <p:sp>
        <p:nvSpPr>
          <p:cNvPr id="34" name="TextBox 33"/>
          <p:cNvSpPr txBox="1"/>
          <p:nvPr/>
        </p:nvSpPr>
        <p:spPr>
          <a:xfrm>
            <a:off x="1771200" y="5403599"/>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歩留まり／営業工数の削減／成果の感度分析／費用と推奨プラン</a:t>
            </a:r>
          </a:p>
        </p:txBody>
      </p:sp>
      <p:sp>
        <p:nvSpPr>
          <p:cNvPr id="35" name="Rounded Rectangle 34"/>
          <p:cNvSpPr/>
          <p:nvPr/>
        </p:nvSpPr>
        <p:spPr>
          <a:xfrm>
            <a:off x="547200" y="5723999"/>
            <a:ext cx="1007999" cy="5832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7200" y="5723999"/>
            <a:ext cx="1007999" cy="5832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第7章</a:t>
            </a:r>
          </a:p>
        </p:txBody>
      </p:sp>
      <p:sp>
        <p:nvSpPr>
          <p:cNvPr id="37" name="Rounded Rectangle 36"/>
          <p:cNvSpPr/>
          <p:nvPr/>
        </p:nvSpPr>
        <p:spPr>
          <a:xfrm>
            <a:off x="1645200" y="5723999"/>
            <a:ext cx="7714800" cy="5832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771200" y="5810399"/>
            <a:ext cx="7444800" cy="259200"/>
          </a:xfrm>
          <a:prstGeom prst="rect">
            <a:avLst/>
          </a:prstGeom>
          <a:noFill/>
        </p:spPr>
        <p:txBody>
          <a:bodyPr wrap="square" lIns="21600" tIns="7200" rIns="21600" bIns="7200" anchor="t">
            <a:spAutoFit/>
          </a:bodyPr>
          <a:lstStyle/>
          <a:p>
            <a:pPr algn="l"/>
            <a:r>
              <a:rPr sz="1300" b="1">
                <a:solidFill>
                  <a:srgbClr val="ED7D31"/>
                </a:solidFill>
                <a:latin typeface="メイリオ"/>
                <a:ea typeface="メイリオ"/>
                <a:cs typeface="メイリオ"/>
              </a:rPr>
              <a:t>導入</a:t>
            </a:r>
          </a:p>
        </p:txBody>
      </p:sp>
      <p:sp>
        <p:nvSpPr>
          <p:cNvPr id="39" name="TextBox 38"/>
          <p:cNvSpPr txBox="1"/>
          <p:nvPr/>
        </p:nvSpPr>
        <p:spPr>
          <a:xfrm>
            <a:off x="1771200" y="6069600"/>
            <a:ext cx="7444800" cy="198000"/>
          </a:xfrm>
          <a:prstGeom prst="rect">
            <a:avLst/>
          </a:prstGeom>
          <a:noFill/>
        </p:spPr>
        <p:txBody>
          <a:bodyPr wrap="square" lIns="21600" tIns="7200" rIns="21600" bIns="7200" anchor="t">
            <a:spAutoFit/>
          </a:bodyPr>
          <a:lstStyle/>
          <a:p>
            <a:pPr algn="l"/>
            <a:r>
              <a:rPr sz="1050" b="0">
                <a:solidFill>
                  <a:srgbClr val="7F7F7F"/>
                </a:solidFill>
                <a:latin typeface="メイリオ"/>
                <a:ea typeface="メイリオ"/>
                <a:cs typeface="メイリオ"/>
              </a:rPr>
              <a:t>まず90日でやること／運用体制／LINE公式アカウントの活用実績</a:t>
            </a:r>
          </a:p>
        </p:txBody>
      </p:sp>
      <p:sp>
        <p:nvSpPr>
          <p:cNvPr id="40" name="Rounded Rectangle 39"/>
          <p:cNvSpPr/>
          <p:nvPr/>
        </p:nvSpPr>
        <p:spPr>
          <a:xfrm>
            <a:off x="547200" y="6462000"/>
            <a:ext cx="8812800" cy="4680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7200" y="6462000"/>
            <a:ext cx="8812800" cy="468000"/>
          </a:xfrm>
          <a:prstGeom prst="rect">
            <a:avLst/>
          </a:prstGeom>
          <a:noFill/>
        </p:spPr>
        <p:txBody>
          <a:bodyPr wrap="square" lIns="21600" tIns="7200" rIns="21600" bIns="7200" anchor="ctr">
            <a:spAutoFit/>
          </a:bodyPr>
          <a:lstStyle/>
          <a:p>
            <a:pPr algn="ctr"/>
            <a:r>
              <a:rPr sz="1300" b="1">
                <a:solidFill>
                  <a:srgbClr val="FFFFFF"/>
                </a:solidFill>
                <a:latin typeface="メイリオ"/>
                <a:ea typeface="メイリオ"/>
                <a:cs typeface="メイリオ"/>
              </a:rPr>
              <a:t>広告費は増やしません。すでに獲得している検討者の取りこぼしだけを減らすご提案です。</a:t>
            </a:r>
          </a:p>
        </p:txBody>
      </p:sp>
    </p:spTree>
    <p:extLst>
      <p:ext uri="{BB962C8B-B14F-4D97-AF65-F5344CB8AC3E}">
        <p14:creationId xmlns:p14="http://schemas.microsoft.com/office/powerpoint/2010/main" val="311280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注文住宅という商材の構造</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検討8〜12ヶ月・決裁者3人・LPの98%が離脱する。この3つが重なるのが注文住宅です。</a:t>
            </a:r>
          </a:p>
          <a:p>
            <a:pPr algn="l">
              <a:spcAft>
                <a:spcPts val="300"/>
              </a:spcAft>
            </a:pPr>
            <a:r>
              <a:rPr sz="1250" b="1">
                <a:solidFill>
                  <a:srgbClr val="333333"/>
                </a:solidFill>
                <a:latin typeface="メイリオ"/>
                <a:ea typeface="メイリオ"/>
                <a:cs typeface="メイリオ"/>
              </a:rPr>
              <a:t>広告で母数を増やしても、途中で落ちる構造そのものは変わりません。</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2793600" cy="237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6400" y="1735199"/>
            <a:ext cx="2635200" cy="295200"/>
          </a:xfrm>
          <a:prstGeom prst="roundRect">
            <a:avLst>
              <a:gd name="adj" fmla="val 18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6400" y="1763999"/>
            <a:ext cx="2635200" cy="2448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① 獲得単価が高い</a:t>
            </a:r>
          </a:p>
        </p:txBody>
      </p:sp>
      <p:sp>
        <p:nvSpPr>
          <p:cNvPr id="8" name="TextBox 7"/>
          <p:cNvSpPr txBox="1"/>
          <p:nvPr/>
        </p:nvSpPr>
        <p:spPr>
          <a:xfrm>
            <a:off x="669600" y="21168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・資料請求CPA 15,000〜30,000円</a:t>
            </a:r>
          </a:p>
        </p:txBody>
      </p:sp>
      <p:sp>
        <p:nvSpPr>
          <p:cNvPr id="9" name="TextBox 8"/>
          <p:cNvSpPr txBox="1"/>
          <p:nvPr/>
        </p:nvSpPr>
        <p:spPr>
          <a:xfrm>
            <a:off x="669600" y="2448000"/>
            <a:ext cx="2548800" cy="324000"/>
          </a:xfrm>
          <a:prstGeom prst="rect">
            <a:avLst/>
          </a:prstGeom>
          <a:noFill/>
        </p:spPr>
        <p:txBody>
          <a:bodyPr wrap="square" lIns="21600" tIns="7200" rIns="21600" bIns="7200" anchor="t">
            <a:spAutoFit/>
          </a:bodyPr>
          <a:lstStyle/>
          <a:p>
            <a:pPr algn="l"/>
            <a:r>
              <a:rPr sz="1100" b="0">
                <a:solidFill>
                  <a:srgbClr val="C00000"/>
                </a:solidFill>
                <a:latin typeface="メイリオ"/>
                <a:ea typeface="メイリオ"/>
                <a:cs typeface="メイリオ"/>
              </a:rPr>
              <a:t>・来場予約CPA 80,000〜150,000円</a:t>
            </a:r>
          </a:p>
        </p:txBody>
      </p:sp>
      <p:sp>
        <p:nvSpPr>
          <p:cNvPr id="10" name="TextBox 9"/>
          <p:cNvSpPr txBox="1"/>
          <p:nvPr/>
        </p:nvSpPr>
        <p:spPr>
          <a:xfrm>
            <a:off x="669600" y="27792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・1件失うたびに、この金額が消える</a:t>
            </a:r>
          </a:p>
        </p:txBody>
      </p:sp>
      <p:sp>
        <p:nvSpPr>
          <p:cNvPr id="11" name="TextBox 10"/>
          <p:cNvSpPr txBox="1"/>
          <p:nvPr/>
        </p:nvSpPr>
        <p:spPr>
          <a:xfrm>
            <a:off x="669600" y="31104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・広告費を足しても下がらない</a:t>
            </a:r>
          </a:p>
        </p:txBody>
      </p:sp>
      <p:sp>
        <p:nvSpPr>
          <p:cNvPr id="12" name="Rounded Rectangle 11"/>
          <p:cNvSpPr/>
          <p:nvPr/>
        </p:nvSpPr>
        <p:spPr>
          <a:xfrm>
            <a:off x="3556800" y="1655999"/>
            <a:ext cx="2793600" cy="2376000"/>
          </a:xfrm>
          <a:prstGeom prst="roundRect">
            <a:avLst>
              <a:gd name="adj" fmla="val 6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636000" y="1735199"/>
            <a:ext cx="2635200" cy="295200"/>
          </a:xfrm>
          <a:prstGeom prst="roundRect">
            <a:avLst>
              <a:gd name="adj" fmla="val 1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6000" y="1763999"/>
            <a:ext cx="2635200" cy="2448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② Webで98%が離脱</a:t>
            </a:r>
          </a:p>
        </p:txBody>
      </p:sp>
      <p:sp>
        <p:nvSpPr>
          <p:cNvPr id="15" name="TextBox 14"/>
          <p:cNvSpPr txBox="1"/>
          <p:nvPr/>
        </p:nvSpPr>
        <p:spPr>
          <a:xfrm>
            <a:off x="3679200" y="21168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・LP CVR は 2.0%</a:t>
            </a:r>
          </a:p>
        </p:txBody>
      </p:sp>
      <p:sp>
        <p:nvSpPr>
          <p:cNvPr id="16" name="TextBox 15"/>
          <p:cNvSpPr txBox="1"/>
          <p:nvPr/>
        </p:nvSpPr>
        <p:spPr>
          <a:xfrm>
            <a:off x="3679200" y="2448000"/>
            <a:ext cx="2548800" cy="324000"/>
          </a:xfrm>
          <a:prstGeom prst="rect">
            <a:avLst/>
          </a:prstGeom>
          <a:noFill/>
        </p:spPr>
        <p:txBody>
          <a:bodyPr wrap="square" lIns="21600" tIns="7200" rIns="21600" bIns="7200" anchor="t">
            <a:spAutoFit/>
          </a:bodyPr>
          <a:lstStyle/>
          <a:p>
            <a:pPr algn="l"/>
            <a:r>
              <a:rPr sz="1100" b="0">
                <a:solidFill>
                  <a:srgbClr val="C00000"/>
                </a:solidFill>
                <a:latin typeface="メイリオ"/>
                <a:ea typeface="メイリオ"/>
                <a:cs typeface="メイリオ"/>
              </a:rPr>
              <a:t>・残り98%は接点を持てないまま</a:t>
            </a:r>
          </a:p>
        </p:txBody>
      </p:sp>
      <p:sp>
        <p:nvSpPr>
          <p:cNvPr id="17" name="TextBox 16"/>
          <p:cNvSpPr txBox="1"/>
          <p:nvPr/>
        </p:nvSpPr>
        <p:spPr>
          <a:xfrm>
            <a:off x="3679200" y="27792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・フォームを押せる人だけが残る</a:t>
            </a:r>
          </a:p>
        </p:txBody>
      </p:sp>
      <p:sp>
        <p:nvSpPr>
          <p:cNvPr id="18" name="TextBox 17"/>
          <p:cNvSpPr txBox="1"/>
          <p:nvPr/>
        </p:nvSpPr>
        <p:spPr>
          <a:xfrm>
            <a:off x="3679200" y="31104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・押さなかった人は二度と戻らない</a:t>
            </a:r>
          </a:p>
        </p:txBody>
      </p:sp>
      <p:sp>
        <p:nvSpPr>
          <p:cNvPr id="19" name="Rounded Rectangle 18"/>
          <p:cNvSpPr/>
          <p:nvPr/>
        </p:nvSpPr>
        <p:spPr>
          <a:xfrm>
            <a:off x="6566400" y="1655999"/>
            <a:ext cx="2793600" cy="237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645600" y="1735199"/>
            <a:ext cx="2635200" cy="2952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45600" y="1763999"/>
            <a:ext cx="2635200" cy="2448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③ 歩留まりが落ちる</a:t>
            </a:r>
          </a:p>
        </p:txBody>
      </p:sp>
      <p:sp>
        <p:nvSpPr>
          <p:cNvPr id="22" name="TextBox 21"/>
          <p:cNvSpPr txBox="1"/>
          <p:nvPr/>
        </p:nvSpPr>
        <p:spPr>
          <a:xfrm>
            <a:off x="6688800" y="21168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・資料請求 → 来場 25%</a:t>
            </a:r>
          </a:p>
        </p:txBody>
      </p:sp>
      <p:sp>
        <p:nvSpPr>
          <p:cNvPr id="23" name="TextBox 22"/>
          <p:cNvSpPr txBox="1"/>
          <p:nvPr/>
        </p:nvSpPr>
        <p:spPr>
          <a:xfrm>
            <a:off x="6688800" y="24480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・来場 → 契約 10%</a:t>
            </a:r>
          </a:p>
        </p:txBody>
      </p:sp>
      <p:sp>
        <p:nvSpPr>
          <p:cNvPr id="24" name="TextBox 23"/>
          <p:cNvSpPr txBox="1"/>
          <p:nvPr/>
        </p:nvSpPr>
        <p:spPr>
          <a:xfrm>
            <a:off x="6688800" y="2779200"/>
            <a:ext cx="2548800" cy="324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・100件の請求が2.5件の契約になる</a:t>
            </a:r>
          </a:p>
        </p:txBody>
      </p:sp>
      <p:sp>
        <p:nvSpPr>
          <p:cNvPr id="25" name="TextBox 24"/>
          <p:cNvSpPr txBox="1"/>
          <p:nvPr/>
        </p:nvSpPr>
        <p:spPr>
          <a:xfrm>
            <a:off x="6688800" y="3110400"/>
            <a:ext cx="2548800" cy="324000"/>
          </a:xfrm>
          <a:prstGeom prst="rect">
            <a:avLst/>
          </a:prstGeom>
          <a:noFill/>
        </p:spPr>
        <p:txBody>
          <a:bodyPr wrap="square" lIns="21600" tIns="7200" rIns="21600" bIns="7200" anchor="t">
            <a:spAutoFit/>
          </a:bodyPr>
          <a:lstStyle/>
          <a:p>
            <a:pPr algn="l"/>
            <a:r>
              <a:rPr sz="1100" b="0">
                <a:solidFill>
                  <a:srgbClr val="1F285A"/>
                </a:solidFill>
                <a:latin typeface="メイリオ"/>
                <a:ea typeface="メイリオ"/>
                <a:cs typeface="メイリオ"/>
              </a:rPr>
              <a:t>・最も伸びしろが大きいのはここ</a:t>
            </a:r>
          </a:p>
        </p:txBody>
      </p:sp>
      <p:sp>
        <p:nvSpPr>
          <p:cNvPr id="26" name="TextBox 25"/>
          <p:cNvSpPr txBox="1"/>
          <p:nvPr/>
        </p:nvSpPr>
        <p:spPr>
          <a:xfrm>
            <a:off x="547200" y="4212000"/>
            <a:ext cx="8812800" cy="1224000"/>
          </a:xfrm>
          <a:prstGeom prst="rect">
            <a:avLst/>
          </a:prstGeom>
          <a:noFill/>
        </p:spPr>
        <p:txBody>
          <a:bodyPr wrap="square" lIns="21600" tIns="7200" rIns="21600" bIns="7200" anchor="t">
            <a:spAutoFit/>
          </a:bodyPr>
          <a:lstStyle/>
          <a:p>
            <a:pPr algn="l">
              <a:spcAft>
                <a:spcPts val="500"/>
              </a:spcAft>
            </a:pPr>
            <a:r>
              <a:rPr sz="1250" b="1">
                <a:solidFill>
                  <a:srgbClr val="333333"/>
                </a:solidFill>
                <a:latin typeface="メイリオ"/>
                <a:ea typeface="メイリオ"/>
                <a:cs typeface="メイリオ"/>
              </a:rPr>
              <a:t>決裁者は夫婦＋資金援助をする親の3人。全員が納得するまで、平均3〜5社を比較し続けます。</a:t>
            </a:r>
          </a:p>
          <a:p>
            <a:pPr algn="l">
              <a:spcAft>
                <a:spcPts val="500"/>
              </a:spcAft>
            </a:pPr>
            <a:r>
              <a:rPr sz="1250" b="1">
                <a:solidFill>
                  <a:srgbClr val="333333"/>
                </a:solidFill>
                <a:latin typeface="メイリオ"/>
                <a:ea typeface="メイリオ"/>
                <a:cs typeface="メイリオ"/>
              </a:rPr>
              <a:t>その間ずっと接点を保てるかどうかが、契約棟数を分けています。</a:t>
            </a:r>
          </a:p>
          <a:p>
            <a:pPr algn="l">
              <a:spcAft>
                <a:spcPts val="500"/>
              </a:spcAft>
            </a:pPr>
            <a:r>
              <a:rPr sz="1250" b="1">
                <a:solidFill>
                  <a:srgbClr val="333333"/>
                </a:solidFill>
                <a:latin typeface="メイリオ"/>
                <a:ea typeface="メイリオ"/>
                <a:cs typeface="メイリオ"/>
              </a:rPr>
              <a:t>平均所要資金は4,262万円。1棟の粗利が大きいぶん、1件の取りこぼしがそのまま損失になります。</a:t>
            </a:r>
          </a:p>
          <a:p>
            <a:pPr algn="l"/>
            <a:r>
              <a:rPr sz="1250" b="1">
                <a:solidFill>
                  <a:srgbClr val="C00000"/>
                </a:solidFill>
                <a:latin typeface="メイリオ"/>
                <a:ea typeface="メイリオ"/>
                <a:cs typeface="メイリオ"/>
              </a:rPr>
              <a:t>来場予約1件のCPAは8〜15万円。予約したのに来ない分だけでも、月16〜30万円が消えている計算です。</a:t>
            </a:r>
          </a:p>
        </p:txBody>
      </p:sp>
      <p:sp>
        <p:nvSpPr>
          <p:cNvPr id="27" name="Rounded Rectangle 26"/>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母数を増やす前に、落ちている98%と歩留まりに手を入れる</a:t>
            </a:r>
          </a:p>
        </p:txBody>
      </p:sp>
      <p:sp>
        <p:nvSpPr>
          <p:cNvPr id="28" name="TextBox 27"/>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※CPA・CVR・歩留まりはいずれも業界水準（公開情報・業界一般値）。貴社実数が判明した時点で差し替えます。</a:t>
            </a:r>
          </a:p>
          <a:p>
            <a:pPr algn="l"/>
            <a:r>
              <a:rPr sz="850" b="0">
                <a:solidFill>
                  <a:srgbClr val="7F7F7F"/>
                </a:solidFill>
                <a:latin typeface="メイリオ"/>
                <a:ea typeface="メイリオ"/>
                <a:cs typeface="メイリオ"/>
              </a:rPr>
              <a:t>※平均所要資金4,262万円は2025年度フラット35利用者調査（住宅金融支援機構）の土地付注文住宅の値です。</a:t>
            </a:r>
          </a:p>
        </p:txBody>
      </p:sp>
    </p:spTree>
    <p:extLst>
      <p:ext uri="{BB962C8B-B14F-4D97-AF65-F5344CB8AC3E}">
        <p14:creationId xmlns:p14="http://schemas.microsoft.com/office/powerpoint/2010/main" val="1187594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エンドユーザーの深層心理</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「まだ問い合わせる段階じゃない」——フォームを押せない理由は、情報不足ではありません。</a:t>
            </a:r>
          </a:p>
          <a:p>
            <a:pPr algn="l">
              <a:spcAft>
                <a:spcPts val="300"/>
              </a:spcAft>
            </a:pPr>
            <a:r>
              <a:rPr sz="1250" b="1">
                <a:solidFill>
                  <a:srgbClr val="333333"/>
                </a:solidFill>
                <a:latin typeface="メイリオ"/>
                <a:ea typeface="メイリオ"/>
                <a:cs typeface="メイリオ"/>
              </a:rPr>
              <a:t>追いかけられることへの警戒です。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4406400" cy="3060000"/>
          </a:xfrm>
          <a:prstGeom prst="roundRect">
            <a:avLst>
              <a:gd name="adj" fmla="val 6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200" y="1771200"/>
            <a:ext cx="4082400" cy="251999"/>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検討者の心の声</a:t>
            </a:r>
          </a:p>
        </p:txBody>
      </p:sp>
      <p:sp>
        <p:nvSpPr>
          <p:cNvPr id="7" name="TextBox 6"/>
          <p:cNvSpPr txBox="1"/>
          <p:nvPr/>
        </p:nvSpPr>
        <p:spPr>
          <a:xfrm>
            <a:off x="745200" y="2141999"/>
            <a:ext cx="4010400" cy="45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「展示場に行ったら営業さんに追いかけられる」</a:t>
            </a:r>
          </a:p>
        </p:txBody>
      </p:sp>
      <p:sp>
        <p:nvSpPr>
          <p:cNvPr id="8" name="TextBox 7"/>
          <p:cNvSpPr txBox="1"/>
          <p:nvPr/>
        </p:nvSpPr>
        <p:spPr>
          <a:xfrm>
            <a:off x="745200" y="2566799"/>
            <a:ext cx="4010400" cy="45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「まだ土地も決まってないのに問い合わせたら冷やかしだと思われそう」</a:t>
            </a:r>
          </a:p>
        </p:txBody>
      </p:sp>
      <p:sp>
        <p:nvSpPr>
          <p:cNvPr id="9" name="TextBox 8"/>
          <p:cNvSpPr txBox="1"/>
          <p:nvPr/>
        </p:nvSpPr>
        <p:spPr>
          <a:xfrm>
            <a:off x="745200" y="2991599"/>
            <a:ext cx="4010400" cy="45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「予算を言ったら足元を見られる」</a:t>
            </a:r>
          </a:p>
        </p:txBody>
      </p:sp>
      <p:sp>
        <p:nvSpPr>
          <p:cNvPr id="10" name="TextBox 9"/>
          <p:cNvSpPr txBox="1"/>
          <p:nvPr/>
        </p:nvSpPr>
        <p:spPr>
          <a:xfrm>
            <a:off x="745200" y="3416399"/>
            <a:ext cx="4010400" cy="45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「前に一括資料請求したら電話が鳴り止まなかった」</a:t>
            </a:r>
          </a:p>
        </p:txBody>
      </p:sp>
      <p:sp>
        <p:nvSpPr>
          <p:cNvPr id="11" name="TextBox 10"/>
          <p:cNvSpPr txBox="1"/>
          <p:nvPr/>
        </p:nvSpPr>
        <p:spPr>
          <a:xfrm>
            <a:off x="745200" y="3841199"/>
            <a:ext cx="4010400" cy="45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「一生に一度だから絶対に失敗したくない」</a:t>
            </a:r>
          </a:p>
        </p:txBody>
      </p:sp>
      <p:sp>
        <p:nvSpPr>
          <p:cNvPr id="12" name="TextBox 11"/>
          <p:cNvSpPr txBox="1"/>
          <p:nvPr/>
        </p:nvSpPr>
        <p:spPr>
          <a:xfrm>
            <a:off x="745200" y="4265999"/>
            <a:ext cx="4010400" cy="45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「妻（夫）と親にも相談しないと決められない」</a:t>
            </a:r>
          </a:p>
        </p:txBody>
      </p:sp>
      <p:sp>
        <p:nvSpPr>
          <p:cNvPr id="13" name="TextBox 12"/>
          <p:cNvSpPr txBox="1"/>
          <p:nvPr/>
        </p:nvSpPr>
        <p:spPr>
          <a:xfrm>
            <a:off x="5217984" y="1655999"/>
            <a:ext cx="4142016" cy="251999"/>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フォームが越えられない3つの壁</a:t>
            </a:r>
          </a:p>
        </p:txBody>
      </p:sp>
      <p:sp>
        <p:nvSpPr>
          <p:cNvPr id="14" name="Rounded Rectangle 13"/>
          <p:cNvSpPr/>
          <p:nvPr/>
        </p:nvSpPr>
        <p:spPr>
          <a:xfrm>
            <a:off x="5217984" y="1998000"/>
            <a:ext cx="4142016" cy="720000"/>
          </a:xfrm>
          <a:prstGeom prst="roundRect">
            <a:avLst>
              <a:gd name="adj" fmla="val 6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54784" y="2077199"/>
            <a:ext cx="3868416" cy="216000"/>
          </a:xfrm>
          <a:prstGeom prst="rect">
            <a:avLst/>
          </a:prstGeom>
          <a:noFill/>
        </p:spPr>
        <p:txBody>
          <a:bodyPr wrap="square" lIns="21600" tIns="7200" rIns="21600" bIns="7200" anchor="t">
            <a:spAutoFit/>
          </a:bodyPr>
          <a:lstStyle/>
          <a:p>
            <a:pPr algn="l"/>
            <a:r>
              <a:rPr sz="1200" b="1">
                <a:solidFill>
                  <a:srgbClr val="C00000"/>
                </a:solidFill>
                <a:latin typeface="メイリオ"/>
                <a:ea typeface="メイリオ"/>
                <a:cs typeface="メイリオ"/>
              </a:rPr>
              <a:t>個人情報の壁</a:t>
            </a:r>
          </a:p>
        </p:txBody>
      </p:sp>
      <p:sp>
        <p:nvSpPr>
          <p:cNvPr id="16" name="TextBox 15"/>
          <p:cNvSpPr txBox="1"/>
          <p:nvPr/>
        </p:nvSpPr>
        <p:spPr>
          <a:xfrm>
            <a:off x="5354784" y="2314800"/>
            <a:ext cx="3868416"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氏名・電話番号を渡した瞬間、</a:t>
            </a:r>
          </a:p>
          <a:p>
            <a:pPr algn="l"/>
            <a:r>
              <a:rPr sz="1000" b="0">
                <a:solidFill>
                  <a:srgbClr val="333333"/>
                </a:solidFill>
                <a:latin typeface="メイリオ"/>
                <a:ea typeface="メイリオ"/>
                <a:cs typeface="メイリオ"/>
              </a:rPr>
              <a:t>営業が始まると知っている</a:t>
            </a:r>
          </a:p>
        </p:txBody>
      </p:sp>
      <p:sp>
        <p:nvSpPr>
          <p:cNvPr id="17" name="Rounded Rectangle 16"/>
          <p:cNvSpPr/>
          <p:nvPr/>
        </p:nvSpPr>
        <p:spPr>
          <a:xfrm>
            <a:off x="5217984" y="2790000"/>
            <a:ext cx="4142016" cy="720000"/>
          </a:xfrm>
          <a:prstGeom prst="roundRect">
            <a:avLst>
              <a:gd name="adj" fmla="val 6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54784" y="2869200"/>
            <a:ext cx="3868416" cy="216000"/>
          </a:xfrm>
          <a:prstGeom prst="rect">
            <a:avLst/>
          </a:prstGeom>
          <a:noFill/>
        </p:spPr>
        <p:txBody>
          <a:bodyPr wrap="square" lIns="21600" tIns="7200" rIns="21600" bIns="7200" anchor="t">
            <a:spAutoFit/>
          </a:bodyPr>
          <a:lstStyle/>
          <a:p>
            <a:pPr algn="l"/>
            <a:r>
              <a:rPr sz="1200" b="1">
                <a:solidFill>
                  <a:srgbClr val="C00000"/>
                </a:solidFill>
                <a:latin typeface="メイリオ"/>
                <a:ea typeface="メイリオ"/>
                <a:cs typeface="メイリオ"/>
              </a:rPr>
              <a:t>本気度の壁</a:t>
            </a:r>
          </a:p>
        </p:txBody>
      </p:sp>
      <p:sp>
        <p:nvSpPr>
          <p:cNvPr id="19" name="TextBox 18"/>
          <p:cNvSpPr txBox="1"/>
          <p:nvPr/>
        </p:nvSpPr>
        <p:spPr>
          <a:xfrm>
            <a:off x="5354784" y="3106800"/>
            <a:ext cx="3868416"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土地も予算も決まっていない自分は、</a:t>
            </a:r>
          </a:p>
          <a:p>
            <a:pPr algn="l"/>
            <a:r>
              <a:rPr sz="1000" b="0">
                <a:solidFill>
                  <a:srgbClr val="333333"/>
                </a:solidFill>
                <a:latin typeface="メイリオ"/>
                <a:ea typeface="メイリオ"/>
                <a:cs typeface="メイリオ"/>
              </a:rPr>
              <a:t>まだ相談する資格がないと思っている</a:t>
            </a:r>
          </a:p>
        </p:txBody>
      </p:sp>
      <p:sp>
        <p:nvSpPr>
          <p:cNvPr id="20" name="Rounded Rectangle 19"/>
          <p:cNvSpPr/>
          <p:nvPr/>
        </p:nvSpPr>
        <p:spPr>
          <a:xfrm>
            <a:off x="5217984" y="3581999"/>
            <a:ext cx="4142016" cy="720000"/>
          </a:xfrm>
          <a:prstGeom prst="roundRect">
            <a:avLst>
              <a:gd name="adj" fmla="val 6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54784" y="3661200"/>
            <a:ext cx="3868416" cy="216000"/>
          </a:xfrm>
          <a:prstGeom prst="rect">
            <a:avLst/>
          </a:prstGeom>
          <a:noFill/>
        </p:spPr>
        <p:txBody>
          <a:bodyPr wrap="square" lIns="21600" tIns="7200" rIns="21600" bIns="7200" anchor="t">
            <a:spAutoFit/>
          </a:bodyPr>
          <a:lstStyle/>
          <a:p>
            <a:pPr algn="l"/>
            <a:r>
              <a:rPr sz="1200" b="1">
                <a:solidFill>
                  <a:srgbClr val="C00000"/>
                </a:solidFill>
                <a:latin typeface="メイリオ"/>
                <a:ea typeface="メイリオ"/>
                <a:cs typeface="メイリオ"/>
              </a:rPr>
              <a:t>相談の壁</a:t>
            </a:r>
          </a:p>
        </p:txBody>
      </p:sp>
      <p:sp>
        <p:nvSpPr>
          <p:cNvPr id="22" name="TextBox 21"/>
          <p:cNvSpPr txBox="1"/>
          <p:nvPr/>
        </p:nvSpPr>
        <p:spPr>
          <a:xfrm>
            <a:off x="5354784" y="3898800"/>
            <a:ext cx="3868416"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その場で決められない。持ち帰って</a:t>
            </a:r>
          </a:p>
          <a:p>
            <a:pPr algn="l"/>
            <a:r>
              <a:rPr sz="1000" b="0">
                <a:solidFill>
                  <a:srgbClr val="333333"/>
                </a:solidFill>
                <a:latin typeface="メイリオ"/>
                <a:ea typeface="メイリオ"/>
                <a:cs typeface="メイリオ"/>
              </a:rPr>
              <a:t>夫婦と親に相談する時間が要る</a:t>
            </a:r>
          </a:p>
        </p:txBody>
      </p:sp>
      <p:sp>
        <p:nvSpPr>
          <p:cNvPr id="23" name="Rounded Rectangle 22"/>
          <p:cNvSpPr/>
          <p:nvPr/>
        </p:nvSpPr>
        <p:spPr>
          <a:xfrm>
            <a:off x="5217984" y="4428000"/>
            <a:ext cx="4142016" cy="72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54784" y="4518000"/>
            <a:ext cx="3868416" cy="540000"/>
          </a:xfrm>
          <a:prstGeom prst="rect">
            <a:avLst/>
          </a:prstGeom>
          <a:noFill/>
        </p:spPr>
        <p:txBody>
          <a:bodyPr wrap="square" lIns="21600" tIns="7200" rIns="21600" bIns="7200" anchor="t">
            <a:spAutoFit/>
          </a:bodyPr>
          <a:lstStyle/>
          <a:p>
            <a:pPr algn="l">
              <a:spcAft>
                <a:spcPts val="400"/>
              </a:spcAft>
            </a:pPr>
            <a:r>
              <a:rPr sz="1150" b="1">
                <a:solidFill>
                  <a:srgbClr val="FFFFFF"/>
                </a:solidFill>
                <a:latin typeface="メイリオ"/>
                <a:ea typeface="メイリオ"/>
                <a:cs typeface="メイリオ"/>
              </a:rPr>
              <a:t>LINEなら、名前も電話番号も渡さずに</a:t>
            </a:r>
          </a:p>
          <a:p>
            <a:pPr algn="l"/>
            <a:r>
              <a:rPr sz="1150" b="1">
                <a:solidFill>
                  <a:srgbClr val="FFFFFF"/>
                </a:solidFill>
                <a:latin typeface="メイリオ"/>
                <a:ea typeface="メイリオ"/>
                <a:cs typeface="メイリオ"/>
              </a:rPr>
              <a:t>情報だけ受け取れます。</a:t>
            </a:r>
          </a:p>
        </p:txBody>
      </p:sp>
      <p:sp>
        <p:nvSpPr>
          <p:cNvPr id="25" name="Rounded Rectangle 24"/>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越えられないのは情報量ではなく、追いかけられることへの警戒</a:t>
            </a:r>
          </a:p>
        </p:txBody>
      </p:sp>
      <p:sp>
        <p:nvSpPr>
          <p:cNvPr id="26" name="TextBox 25"/>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※心の声は業界の検討者インタビュー・検索クエリから再構成した代表例です。</a:t>
            </a:r>
          </a:p>
        </p:txBody>
      </p:sp>
    </p:spTree>
    <p:extLst>
      <p:ext uri="{BB962C8B-B14F-4D97-AF65-F5344CB8AC3E}">
        <p14:creationId xmlns:p14="http://schemas.microsoft.com/office/powerpoint/2010/main" val="466478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本提案のスコープ</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広告費・LP・営業体制には手を入れません。</a:t>
            </a:r>
          </a:p>
          <a:p>
            <a:pPr algn="l">
              <a:spcAft>
                <a:spcPts val="300"/>
              </a:spcAft>
            </a:pPr>
            <a:r>
              <a:rPr sz="1250" b="1">
                <a:solidFill>
                  <a:srgbClr val="333333"/>
                </a:solidFill>
                <a:latin typeface="メイリオ"/>
                <a:ea typeface="メイリオ"/>
                <a:cs typeface="メイリオ"/>
              </a:rPr>
              <a:t>触るのは「LPから落ちた後」と「来場予約が入った後」の2箇所だけです。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7200" y="1620000"/>
            <a:ext cx="8812800" cy="251999"/>
          </a:xfrm>
          <a:prstGeom prst="rect">
            <a:avLst/>
          </a:prstGeom>
          <a:noFill/>
        </p:spPr>
        <p:txBody>
          <a:bodyPr wrap="square" lIns="21600" tIns="7200" rIns="21600" bIns="7200" anchor="t">
            <a:spAutoFit/>
          </a:bodyPr>
          <a:lstStyle/>
          <a:p>
            <a:pPr algn="l"/>
            <a:r>
              <a:rPr sz="1250" b="1">
                <a:solidFill>
                  <a:srgbClr val="7F7F7F"/>
                </a:solidFill>
                <a:latin typeface="メイリオ"/>
                <a:ea typeface="メイリオ"/>
                <a:cs typeface="メイリオ"/>
              </a:rPr>
              <a:t>触らないもの</a:t>
            </a:r>
          </a:p>
        </p:txBody>
      </p:sp>
      <p:sp>
        <p:nvSpPr>
          <p:cNvPr id="6" name="Rounded Rectangle 5"/>
          <p:cNvSpPr/>
          <p:nvPr/>
        </p:nvSpPr>
        <p:spPr>
          <a:xfrm>
            <a:off x="547200" y="1908000"/>
            <a:ext cx="2793600" cy="684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5200" y="1987199"/>
            <a:ext cx="2577600" cy="216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広告費</a:t>
            </a:r>
          </a:p>
        </p:txBody>
      </p:sp>
      <p:sp>
        <p:nvSpPr>
          <p:cNvPr id="8" name="TextBox 7"/>
          <p:cNvSpPr txBox="1"/>
          <p:nvPr/>
        </p:nvSpPr>
        <p:spPr>
          <a:xfrm>
            <a:off x="655200" y="2239200"/>
            <a:ext cx="2577600" cy="216000"/>
          </a:xfrm>
          <a:prstGeom prst="rect">
            <a:avLst/>
          </a:prstGeom>
          <a:noFill/>
        </p:spPr>
        <p:txBody>
          <a:bodyPr wrap="square" lIns="21600" tIns="7200" rIns="21600" bIns="7200" anchor="ctr">
            <a:spAutoFit/>
          </a:bodyPr>
          <a:lstStyle/>
          <a:p>
            <a:pPr algn="ctr"/>
            <a:r>
              <a:rPr sz="1100" b="0">
                <a:solidFill>
                  <a:srgbClr val="7F7F7F"/>
                </a:solidFill>
                <a:latin typeface="メイリオ"/>
                <a:ea typeface="メイリオ"/>
                <a:cs typeface="メイリオ"/>
              </a:rPr>
              <a:t>増額しません</a:t>
            </a:r>
          </a:p>
        </p:txBody>
      </p:sp>
      <p:sp>
        <p:nvSpPr>
          <p:cNvPr id="9" name="Rounded Rectangle 8"/>
          <p:cNvSpPr/>
          <p:nvPr/>
        </p:nvSpPr>
        <p:spPr>
          <a:xfrm>
            <a:off x="3556800" y="1908000"/>
            <a:ext cx="2793600" cy="684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64800" y="1987199"/>
            <a:ext cx="2577600" cy="216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LP</a:t>
            </a:r>
          </a:p>
        </p:txBody>
      </p:sp>
      <p:sp>
        <p:nvSpPr>
          <p:cNvPr id="11" name="TextBox 10"/>
          <p:cNvSpPr txBox="1"/>
          <p:nvPr/>
        </p:nvSpPr>
        <p:spPr>
          <a:xfrm>
            <a:off x="3664800" y="2239200"/>
            <a:ext cx="2577600" cy="216000"/>
          </a:xfrm>
          <a:prstGeom prst="rect">
            <a:avLst/>
          </a:prstGeom>
          <a:noFill/>
        </p:spPr>
        <p:txBody>
          <a:bodyPr wrap="square" lIns="21600" tIns="7200" rIns="21600" bIns="7200" anchor="ctr">
            <a:spAutoFit/>
          </a:bodyPr>
          <a:lstStyle/>
          <a:p>
            <a:pPr algn="ctr"/>
            <a:r>
              <a:rPr sz="1100" b="0">
                <a:solidFill>
                  <a:srgbClr val="7F7F7F"/>
                </a:solidFill>
                <a:latin typeface="メイリオ"/>
                <a:ea typeface="メイリオ"/>
                <a:cs typeface="メイリオ"/>
              </a:rPr>
              <a:t>作り替えません</a:t>
            </a:r>
          </a:p>
        </p:txBody>
      </p:sp>
      <p:sp>
        <p:nvSpPr>
          <p:cNvPr id="12" name="Rounded Rectangle 11"/>
          <p:cNvSpPr/>
          <p:nvPr/>
        </p:nvSpPr>
        <p:spPr>
          <a:xfrm>
            <a:off x="6566400" y="1908000"/>
            <a:ext cx="2793600" cy="684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4400" y="1987199"/>
            <a:ext cx="2577600" cy="216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営業体制</a:t>
            </a:r>
          </a:p>
        </p:txBody>
      </p:sp>
      <p:sp>
        <p:nvSpPr>
          <p:cNvPr id="14" name="TextBox 13"/>
          <p:cNvSpPr txBox="1"/>
          <p:nvPr/>
        </p:nvSpPr>
        <p:spPr>
          <a:xfrm>
            <a:off x="6674400" y="2239200"/>
            <a:ext cx="2577600" cy="216000"/>
          </a:xfrm>
          <a:prstGeom prst="rect">
            <a:avLst/>
          </a:prstGeom>
          <a:noFill/>
        </p:spPr>
        <p:txBody>
          <a:bodyPr wrap="square" lIns="21600" tIns="7200" rIns="21600" bIns="7200" anchor="ctr">
            <a:spAutoFit/>
          </a:bodyPr>
          <a:lstStyle/>
          <a:p>
            <a:pPr algn="ctr"/>
            <a:r>
              <a:rPr sz="1100" b="0">
                <a:solidFill>
                  <a:srgbClr val="7F7F7F"/>
                </a:solidFill>
                <a:latin typeface="メイリオ"/>
                <a:ea typeface="メイリオ"/>
                <a:cs typeface="メイリオ"/>
              </a:rPr>
              <a:t>変えません</a:t>
            </a:r>
          </a:p>
        </p:txBody>
      </p:sp>
      <p:sp>
        <p:nvSpPr>
          <p:cNvPr id="15" name="TextBox 14"/>
          <p:cNvSpPr txBox="1"/>
          <p:nvPr/>
        </p:nvSpPr>
        <p:spPr>
          <a:xfrm>
            <a:off x="547200" y="2754000"/>
            <a:ext cx="8812800" cy="251999"/>
          </a:xfrm>
          <a:prstGeom prst="rect">
            <a:avLst/>
          </a:prstGeom>
          <a:noFill/>
        </p:spPr>
        <p:txBody>
          <a:bodyPr wrap="square" lIns="21600" tIns="7200" rIns="21600" bIns="7200" anchor="t">
            <a:spAutoFit/>
          </a:bodyPr>
          <a:lstStyle/>
          <a:p>
            <a:pPr algn="l"/>
            <a:r>
              <a:rPr sz="1250" b="1">
                <a:solidFill>
                  <a:srgbClr val="1F285A"/>
                </a:solidFill>
                <a:latin typeface="メイリオ"/>
                <a:ea typeface="メイリオ"/>
                <a:cs typeface="メイリオ"/>
              </a:rPr>
              <a:t>触る2箇所</a:t>
            </a:r>
          </a:p>
        </p:txBody>
      </p:sp>
      <p:sp>
        <p:nvSpPr>
          <p:cNvPr id="16" name="Rounded Rectangle 15"/>
          <p:cNvSpPr/>
          <p:nvPr/>
        </p:nvSpPr>
        <p:spPr>
          <a:xfrm>
            <a:off x="547200" y="3041999"/>
            <a:ext cx="4280400" cy="1655999"/>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6400" y="3121200"/>
            <a:ext cx="4122000" cy="2952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400" y="3150000"/>
            <a:ext cx="4122000" cy="244800"/>
          </a:xfrm>
          <a:prstGeom prst="rect">
            <a:avLst/>
          </a:prstGeom>
          <a:noFill/>
        </p:spPr>
        <p:txBody>
          <a:bodyPr wrap="square" lIns="21600" tIns="7200" rIns="21600" bIns="7200" anchor="ctr">
            <a:spAutoFit/>
          </a:bodyPr>
          <a:lstStyle/>
          <a:p>
            <a:pPr algn="ctr"/>
            <a:r>
              <a:rPr sz="1300" b="1">
                <a:solidFill>
                  <a:srgbClr val="FFFFFF"/>
                </a:solidFill>
                <a:latin typeface="メイリオ"/>
                <a:ea typeface="メイリオ"/>
                <a:cs typeface="メイリオ"/>
              </a:rPr>
              <a:t>① LPから落ちた後</a:t>
            </a:r>
          </a:p>
        </p:txBody>
      </p:sp>
      <p:sp>
        <p:nvSpPr>
          <p:cNvPr id="19" name="TextBox 18"/>
          <p:cNvSpPr txBox="1"/>
          <p:nvPr/>
        </p:nvSpPr>
        <p:spPr>
          <a:xfrm>
            <a:off x="669600" y="3502799"/>
            <a:ext cx="4035600" cy="324000"/>
          </a:xfrm>
          <a:prstGeom prst="rect">
            <a:avLst/>
          </a:prstGeom>
          <a:noFill/>
        </p:spPr>
        <p:txBody>
          <a:bodyPr wrap="square" lIns="21600" tIns="7200" rIns="21600" bIns="7200" anchor="t">
            <a:spAutoFit/>
          </a:bodyPr>
          <a:lstStyle/>
          <a:p>
            <a:pPr algn="l"/>
            <a:r>
              <a:rPr sz="1150" b="0">
                <a:solidFill>
                  <a:srgbClr val="333333"/>
                </a:solidFill>
                <a:latin typeface="メイリオ"/>
                <a:ea typeface="メイリオ"/>
                <a:cs typeface="メイリオ"/>
              </a:rPr>
              <a:t>・離脱しようとした瞬間にLINEへ誘導する</a:t>
            </a:r>
          </a:p>
        </p:txBody>
      </p:sp>
      <p:sp>
        <p:nvSpPr>
          <p:cNvPr id="20" name="TextBox 19"/>
          <p:cNvSpPr txBox="1"/>
          <p:nvPr/>
        </p:nvSpPr>
        <p:spPr>
          <a:xfrm>
            <a:off x="669600" y="3833999"/>
            <a:ext cx="4035600" cy="324000"/>
          </a:xfrm>
          <a:prstGeom prst="rect">
            <a:avLst/>
          </a:prstGeom>
          <a:noFill/>
        </p:spPr>
        <p:txBody>
          <a:bodyPr wrap="square" lIns="21600" tIns="7200" rIns="21600" bIns="7200" anchor="t">
            <a:spAutoFit/>
          </a:bodyPr>
          <a:lstStyle/>
          <a:p>
            <a:pPr algn="l"/>
            <a:r>
              <a:rPr sz="1150" b="0">
                <a:solidFill>
                  <a:srgbClr val="333333"/>
                </a:solidFill>
                <a:latin typeface="メイリオ"/>
                <a:ea typeface="メイリオ"/>
                <a:cs typeface="メイリオ"/>
              </a:rPr>
              <a:t>・名前も電話番号も要らない入口をつくる</a:t>
            </a:r>
          </a:p>
        </p:txBody>
      </p:sp>
      <p:sp>
        <p:nvSpPr>
          <p:cNvPr id="21" name="TextBox 20"/>
          <p:cNvSpPr txBox="1"/>
          <p:nvPr/>
        </p:nvSpPr>
        <p:spPr>
          <a:xfrm>
            <a:off x="669600" y="4165199"/>
            <a:ext cx="4035600" cy="324000"/>
          </a:xfrm>
          <a:prstGeom prst="rect">
            <a:avLst/>
          </a:prstGeom>
          <a:noFill/>
        </p:spPr>
        <p:txBody>
          <a:bodyPr wrap="square" lIns="21600" tIns="7200" rIns="21600" bIns="7200" anchor="t">
            <a:spAutoFit/>
          </a:bodyPr>
          <a:lstStyle/>
          <a:p>
            <a:pPr algn="l"/>
            <a:r>
              <a:rPr sz="1150" b="0">
                <a:solidFill>
                  <a:srgbClr val="333333"/>
                </a:solidFill>
                <a:latin typeface="メイリオ"/>
                <a:ea typeface="メイリオ"/>
                <a:cs typeface="メイリオ"/>
              </a:rPr>
              <a:t>・検討期間中ずっと情報を届け続ける</a:t>
            </a:r>
          </a:p>
        </p:txBody>
      </p:sp>
      <p:sp>
        <p:nvSpPr>
          <p:cNvPr id="22" name="Rounded Rectangle 21"/>
          <p:cNvSpPr/>
          <p:nvPr/>
        </p:nvSpPr>
        <p:spPr>
          <a:xfrm>
            <a:off x="5079600" y="3041999"/>
            <a:ext cx="4280400" cy="1655999"/>
          </a:xfrm>
          <a:prstGeom prst="roundRect">
            <a:avLst>
              <a:gd name="adj" fmla="val 6000"/>
            </a:avLst>
          </a:prstGeom>
          <a:solidFill>
            <a:srgbClr val="F4F7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158800" y="3121200"/>
            <a:ext cx="4122000" cy="295200"/>
          </a:xfrm>
          <a:prstGeom prst="roundRect">
            <a:avLst>
              <a:gd name="adj" fmla="val 18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58800" y="3150000"/>
            <a:ext cx="4122000" cy="244800"/>
          </a:xfrm>
          <a:prstGeom prst="rect">
            <a:avLst/>
          </a:prstGeom>
          <a:noFill/>
        </p:spPr>
        <p:txBody>
          <a:bodyPr wrap="square" lIns="21600" tIns="7200" rIns="21600" bIns="7200" anchor="ctr">
            <a:spAutoFit/>
          </a:bodyPr>
          <a:lstStyle/>
          <a:p>
            <a:pPr algn="ctr"/>
            <a:r>
              <a:rPr sz="1300" b="1">
                <a:solidFill>
                  <a:srgbClr val="FFFFFF"/>
                </a:solidFill>
                <a:latin typeface="メイリオ"/>
                <a:ea typeface="メイリオ"/>
                <a:cs typeface="メイリオ"/>
              </a:rPr>
              <a:t>② 来場予約が入った後</a:t>
            </a:r>
          </a:p>
        </p:txBody>
      </p:sp>
      <p:sp>
        <p:nvSpPr>
          <p:cNvPr id="25" name="TextBox 24"/>
          <p:cNvSpPr txBox="1"/>
          <p:nvPr/>
        </p:nvSpPr>
        <p:spPr>
          <a:xfrm>
            <a:off x="5202000" y="3502799"/>
            <a:ext cx="4035600" cy="324000"/>
          </a:xfrm>
          <a:prstGeom prst="rect">
            <a:avLst/>
          </a:prstGeom>
          <a:noFill/>
        </p:spPr>
        <p:txBody>
          <a:bodyPr wrap="square" lIns="21600" tIns="7200" rIns="21600" bIns="7200" anchor="t">
            <a:spAutoFit/>
          </a:bodyPr>
          <a:lstStyle/>
          <a:p>
            <a:pPr algn="l"/>
            <a:r>
              <a:rPr sz="1150" b="0">
                <a:solidFill>
                  <a:srgbClr val="333333"/>
                </a:solidFill>
                <a:latin typeface="メイリオ"/>
                <a:ea typeface="メイリオ"/>
                <a:cs typeface="メイリオ"/>
              </a:rPr>
              <a:t>・前日リマインドで当日キャンセルを防ぐ</a:t>
            </a:r>
          </a:p>
        </p:txBody>
      </p:sp>
      <p:sp>
        <p:nvSpPr>
          <p:cNvPr id="26" name="TextBox 25"/>
          <p:cNvSpPr txBox="1"/>
          <p:nvPr/>
        </p:nvSpPr>
        <p:spPr>
          <a:xfrm>
            <a:off x="5202000" y="3833999"/>
            <a:ext cx="4035600" cy="324000"/>
          </a:xfrm>
          <a:prstGeom prst="rect">
            <a:avLst/>
          </a:prstGeom>
          <a:noFill/>
        </p:spPr>
        <p:txBody>
          <a:bodyPr wrap="square" lIns="21600" tIns="7200" rIns="21600" bIns="7200" anchor="t">
            <a:spAutoFit/>
          </a:bodyPr>
          <a:lstStyle/>
          <a:p>
            <a:pPr algn="l"/>
            <a:r>
              <a:rPr sz="1150" b="0">
                <a:solidFill>
                  <a:srgbClr val="333333"/>
                </a:solidFill>
                <a:latin typeface="メイリオ"/>
                <a:ea typeface="メイリオ"/>
                <a:cs typeface="メイリオ"/>
              </a:rPr>
              <a:t>・事前ヒアリングで初回面談の密度を上げる</a:t>
            </a:r>
          </a:p>
        </p:txBody>
      </p:sp>
      <p:sp>
        <p:nvSpPr>
          <p:cNvPr id="27" name="TextBox 26"/>
          <p:cNvSpPr txBox="1"/>
          <p:nvPr/>
        </p:nvSpPr>
        <p:spPr>
          <a:xfrm>
            <a:off x="5202000" y="4165199"/>
            <a:ext cx="4035600" cy="324000"/>
          </a:xfrm>
          <a:prstGeom prst="rect">
            <a:avLst/>
          </a:prstGeom>
          <a:noFill/>
        </p:spPr>
        <p:txBody>
          <a:bodyPr wrap="square" lIns="21600" tIns="7200" rIns="21600" bIns="7200" anchor="t">
            <a:spAutoFit/>
          </a:bodyPr>
          <a:lstStyle/>
          <a:p>
            <a:pPr algn="l"/>
            <a:r>
              <a:rPr sz="1150" b="0">
                <a:solidFill>
                  <a:srgbClr val="333333"/>
                </a:solidFill>
                <a:latin typeface="メイリオ"/>
                <a:ea typeface="メイリオ"/>
                <a:cs typeface="メイリオ"/>
              </a:rPr>
              <a:t>・来場後もLINEで関係を保つ</a:t>
            </a:r>
          </a:p>
        </p:txBody>
      </p:sp>
      <p:sp>
        <p:nvSpPr>
          <p:cNvPr id="28" name="Rounded Rectangle 27"/>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広告と営業はそのまま。その間に空いている区間だけをLINEが埋めます</a:t>
            </a:r>
          </a:p>
        </p:txBody>
      </p:sp>
      <p:sp>
        <p:nvSpPr>
          <p:cNvPr id="29" name="TextBox 28"/>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※参考：弊社運用の住宅・不動産カテゴリでは、2023年→2025-26年でCPCが約1.75倍・CPMが約2.7倍に上昇（弊社実績）。</a:t>
            </a:r>
          </a:p>
          <a:p>
            <a:pPr algn="l"/>
            <a:r>
              <a:rPr sz="850" b="0">
                <a:solidFill>
                  <a:srgbClr val="7F7F7F"/>
                </a:solidFill>
                <a:latin typeface="メイリオ"/>
                <a:ea typeface="メイリオ"/>
                <a:cs typeface="メイリオ"/>
              </a:rPr>
              <a:t>　同じ広告費で取れる母数は年々減っているため、獲得済みの検討層を取りこぼさない設計が相対的に効きます。</a:t>
            </a:r>
          </a:p>
        </p:txBody>
      </p:sp>
    </p:spTree>
    <p:extLst>
      <p:ext uri="{BB962C8B-B14F-4D97-AF65-F5344CB8AC3E}">
        <p14:creationId xmlns:p14="http://schemas.microsoft.com/office/powerpoint/2010/main" val="970958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ニーズ調査｜市場の縮小と、調べる山・行く山のズレ</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注文住宅は市場そのものが縮んでいます。持家着工は3年連続減、検索需要も同じ方向です。</a:t>
            </a:r>
          </a:p>
          <a:p>
            <a:pPr algn="l">
              <a:spcAft>
                <a:spcPts val="300"/>
              </a:spcAft>
            </a:pPr>
            <a:r>
              <a:rPr sz="1250" b="1">
                <a:solidFill>
                  <a:srgbClr val="333333"/>
                </a:solidFill>
                <a:latin typeface="メイリオ"/>
                <a:ea typeface="メイリオ"/>
                <a:cs typeface="メイリオ"/>
              </a:rPr>
              <a:t>そのなかで最も速く減っているのが「住宅展示場」——来場という行動が痩せています。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pic>
        <p:nvPicPr>
          <p:cNvPr id="5" name="Picture 4" descr="jutaku_chart_trend.png"/>
          <p:cNvPicPr>
            <a:picLocks noChangeAspect="1"/>
          </p:cNvPicPr>
          <p:nvPr/>
        </p:nvPicPr>
        <p:blipFill>
          <a:blip r:embed="rId3"/>
          <a:stretch>
            <a:fillRect/>
          </a:stretch>
        </p:blipFill>
        <p:spPr>
          <a:xfrm>
            <a:off x="547200" y="1853999"/>
            <a:ext cx="4262400" cy="1906863"/>
          </a:xfrm>
          <a:prstGeom prst="rect">
            <a:avLst/>
          </a:prstGeom>
        </p:spPr>
      </p:pic>
      <p:sp>
        <p:nvSpPr>
          <p:cNvPr id="6" name="TextBox 5"/>
          <p:cNvSpPr txBox="1"/>
          <p:nvPr/>
        </p:nvSpPr>
        <p:spPr>
          <a:xfrm>
            <a:off x="547200" y="1620000"/>
            <a:ext cx="4262400" cy="2232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① 検索需要の伸び率（2022年=100）</a:t>
            </a:r>
          </a:p>
        </p:txBody>
      </p:sp>
      <p:pic>
        <p:nvPicPr>
          <p:cNvPr id="7" name="Picture 6" descr="jutaku_chart_season.png"/>
          <p:cNvPicPr>
            <a:picLocks noChangeAspect="1"/>
          </p:cNvPicPr>
          <p:nvPr/>
        </p:nvPicPr>
        <p:blipFill>
          <a:blip r:embed="rId4"/>
          <a:stretch>
            <a:fillRect/>
          </a:stretch>
        </p:blipFill>
        <p:spPr>
          <a:xfrm>
            <a:off x="5097600" y="1853999"/>
            <a:ext cx="4262400" cy="1962947"/>
          </a:xfrm>
          <a:prstGeom prst="rect">
            <a:avLst/>
          </a:prstGeom>
        </p:spPr>
      </p:pic>
      <p:sp>
        <p:nvSpPr>
          <p:cNvPr id="8" name="TextBox 7"/>
          <p:cNvSpPr txBox="1"/>
          <p:nvPr/>
        </p:nvSpPr>
        <p:spPr>
          <a:xfrm>
            <a:off x="5097600" y="1620000"/>
            <a:ext cx="4262400" cy="2232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② 年間シーズナリティ（年平均=100）</a:t>
            </a:r>
          </a:p>
        </p:txBody>
      </p:sp>
      <p:sp>
        <p:nvSpPr>
          <p:cNvPr id="9" name="Rounded Rectangle 8"/>
          <p:cNvSpPr/>
          <p:nvPr/>
        </p:nvSpPr>
        <p:spPr>
          <a:xfrm>
            <a:off x="547200" y="4176000"/>
            <a:ext cx="2793600" cy="846000"/>
          </a:xfrm>
          <a:prstGeom prst="roundRect">
            <a:avLst>
              <a:gd name="adj" fmla="val 6000"/>
            </a:avLst>
          </a:prstGeom>
          <a:solidFill>
            <a:srgbClr val="F4F7FF"/>
          </a:solidFill>
          <a:ln w="1524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3200" y="4276800"/>
            <a:ext cx="2541600" cy="259200"/>
          </a:xfrm>
          <a:prstGeom prst="rect">
            <a:avLst/>
          </a:prstGeom>
          <a:noFill/>
        </p:spPr>
        <p:txBody>
          <a:bodyPr wrap="square" lIns="21600" tIns="7200" rIns="21600" bIns="7200" anchor="t">
            <a:spAutoFit/>
          </a:bodyPr>
          <a:lstStyle/>
          <a:p>
            <a:pPr algn="l"/>
            <a:r>
              <a:rPr sz="1250" b="1">
                <a:solidFill>
                  <a:srgbClr val="C00000"/>
                </a:solidFill>
                <a:latin typeface="メイリオ"/>
                <a:ea typeface="メイリオ"/>
                <a:cs typeface="メイリオ"/>
              </a:rPr>
              <a:t>住宅展示場 −17.6%</a:t>
            </a:r>
          </a:p>
        </p:txBody>
      </p:sp>
      <p:sp>
        <p:nvSpPr>
          <p:cNvPr id="11" name="TextBox 10"/>
          <p:cNvSpPr txBox="1"/>
          <p:nvPr/>
        </p:nvSpPr>
        <p:spPr>
          <a:xfrm>
            <a:off x="673200" y="4564800"/>
            <a:ext cx="2541600" cy="39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4KW中で最大の落ち込み。来場という行動が最も速く減っている</a:t>
            </a:r>
          </a:p>
        </p:txBody>
      </p:sp>
      <p:sp>
        <p:nvSpPr>
          <p:cNvPr id="12" name="Rounded Rectangle 11"/>
          <p:cNvSpPr/>
          <p:nvPr/>
        </p:nvSpPr>
        <p:spPr>
          <a:xfrm>
            <a:off x="3556800" y="4176000"/>
            <a:ext cx="2793600" cy="846000"/>
          </a:xfrm>
          <a:prstGeom prst="roundRect">
            <a:avLst>
              <a:gd name="adj" fmla="val 6000"/>
            </a:avLst>
          </a:prstGeom>
          <a:solidFill>
            <a:srgbClr val="F4F7FF"/>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2800" y="4276800"/>
            <a:ext cx="2541600" cy="259200"/>
          </a:xfrm>
          <a:prstGeom prst="rect">
            <a:avLst/>
          </a:prstGeom>
          <a:noFill/>
        </p:spPr>
        <p:txBody>
          <a:bodyPr wrap="square" lIns="21600" tIns="7200" rIns="21600" bIns="7200" anchor="t">
            <a:spAutoFit/>
          </a:bodyPr>
          <a:lstStyle/>
          <a:p>
            <a:pPr algn="l"/>
            <a:r>
              <a:rPr sz="1250" b="1">
                <a:solidFill>
                  <a:srgbClr val="1F285A"/>
                </a:solidFill>
                <a:latin typeface="メイリオ"/>
                <a:ea typeface="メイリオ"/>
                <a:cs typeface="メイリオ"/>
              </a:rPr>
              <a:t>調べる山は2月・行く山は9月</a:t>
            </a:r>
          </a:p>
        </p:txBody>
      </p:sp>
      <p:sp>
        <p:nvSpPr>
          <p:cNvPr id="14" name="TextBox 13"/>
          <p:cNvSpPr txBox="1"/>
          <p:nvPr/>
        </p:nvSpPr>
        <p:spPr>
          <a:xfrm>
            <a:off x="3682800" y="4564800"/>
            <a:ext cx="2541600" cy="39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検索してから展示場に動くまでに時間差がある</a:t>
            </a:r>
          </a:p>
        </p:txBody>
      </p:sp>
      <p:sp>
        <p:nvSpPr>
          <p:cNvPr id="15" name="Rounded Rectangle 14"/>
          <p:cNvSpPr/>
          <p:nvPr/>
        </p:nvSpPr>
        <p:spPr>
          <a:xfrm>
            <a:off x="6566400" y="4176000"/>
            <a:ext cx="2793600" cy="846000"/>
          </a:xfrm>
          <a:prstGeom prst="roundRect">
            <a:avLst>
              <a:gd name="adj" fmla="val 6000"/>
            </a:avLst>
          </a:prstGeom>
          <a:solidFill>
            <a:srgbClr val="F4F7FF"/>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2400" y="4276800"/>
            <a:ext cx="2541600" cy="259200"/>
          </a:xfrm>
          <a:prstGeom prst="rect">
            <a:avLst/>
          </a:prstGeom>
          <a:noFill/>
        </p:spPr>
        <p:txBody>
          <a:bodyPr wrap="square" lIns="21600" tIns="7200" rIns="21600" bIns="7200" anchor="t">
            <a:spAutoFit/>
          </a:bodyPr>
          <a:lstStyle/>
          <a:p>
            <a:pPr algn="l"/>
            <a:r>
              <a:rPr sz="1250" b="1">
                <a:solidFill>
                  <a:srgbClr val="ED7D31"/>
                </a:solidFill>
                <a:latin typeface="メイリオ"/>
                <a:ea typeface="メイリオ"/>
                <a:cs typeface="メイリオ"/>
              </a:rPr>
              <a:t>12月は指数74まで低下</a:t>
            </a:r>
          </a:p>
        </p:txBody>
      </p:sp>
      <p:sp>
        <p:nvSpPr>
          <p:cNvPr id="17" name="TextBox 16"/>
          <p:cNvSpPr txBox="1"/>
          <p:nvPr/>
        </p:nvSpPr>
        <p:spPr>
          <a:xfrm>
            <a:off x="6692400" y="4564800"/>
            <a:ext cx="2541600" cy="39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他KWの底（90前後）より深い。刈り取りではなく関係づくりの時期</a:t>
            </a:r>
          </a:p>
        </p:txBody>
      </p:sp>
      <p:sp>
        <p:nvSpPr>
          <p:cNvPr id="18" name="Rounded Rectangle 17"/>
          <p:cNvSpPr/>
          <p:nvPr/>
        </p:nvSpPr>
        <p:spPr>
          <a:xfrm>
            <a:off x="547200" y="5076000"/>
            <a:ext cx="8812800" cy="522000"/>
          </a:xfrm>
          <a:prstGeom prst="roundRect">
            <a:avLst>
              <a:gd name="adj" fmla="val 6000"/>
            </a:avLst>
          </a:prstGeom>
          <a:solidFill>
            <a:srgbClr val="FFFFFF"/>
          </a:solidFill>
          <a:ln w="1397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9200" y="5133600"/>
            <a:ext cx="8488800" cy="2088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企画配信は、この山に合わせて当てます</a:t>
            </a:r>
          </a:p>
        </p:txBody>
      </p:sp>
      <p:sp>
        <p:nvSpPr>
          <p:cNvPr id="20" name="TextBox 19"/>
          <p:cNvSpPr txBox="1"/>
          <p:nvPr/>
        </p:nvSpPr>
        <p:spPr>
          <a:xfrm>
            <a:off x="709200" y="5349600"/>
            <a:ext cx="8488800" cy="208800"/>
          </a:xfrm>
          <a:prstGeom prst="rect">
            <a:avLst/>
          </a:prstGeom>
          <a:noFill/>
        </p:spPr>
        <p:txBody>
          <a:bodyPr wrap="square" lIns="21600" tIns="7200" rIns="21600" bIns="7200" anchor="t">
            <a:spAutoFit/>
          </a:bodyPr>
          <a:lstStyle/>
          <a:p>
            <a:pPr algn="l"/>
            <a:r>
              <a:rPr sz="1100" b="1">
                <a:solidFill>
                  <a:srgbClr val="333333"/>
                </a:solidFill>
                <a:latin typeface="メイリオ"/>
                <a:ea typeface="メイリオ"/>
                <a:cs typeface="メイリオ"/>
              </a:rPr>
              <a:t>1〜3月 総額を出しきる　／　4〜6月 土地から動かす　／　7〜9月 見に来てもらう　／　10〜12月 刈り取らず来年に備える</a:t>
            </a:r>
          </a:p>
        </p:txBody>
      </p:sp>
      <p:sp>
        <p:nvSpPr>
          <p:cNvPr id="21" name="Rounded Rectangle 20"/>
          <p:cNvSpPr/>
          <p:nvPr/>
        </p:nvSpPr>
        <p:spPr>
          <a:xfrm>
            <a:off x="547200" y="5652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市場が縮むからこそ、すでに接点を持った検討層を取りこぼさない設計が効く</a:t>
            </a:r>
          </a:p>
        </p:txBody>
      </p:sp>
      <p:sp>
        <p:nvSpPr>
          <p:cNvPr id="22" name="TextBox 21"/>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※Googleトレンド（日本・2021年8月〜2026年8月・月次）を弊社にて指数化。2021年は8〜12月のみのため2022年を基準年としています。</a:t>
            </a:r>
          </a:p>
          <a:p>
            <a:pPr algn="l"/>
            <a:r>
              <a:rPr sz="850" b="0">
                <a:solidFill>
                  <a:srgbClr val="7F7F7F"/>
                </a:solidFill>
                <a:latin typeface="メイリオ"/>
                <a:ea typeface="メイリオ"/>
                <a:cs typeface="メイリオ"/>
              </a:rPr>
              <a:t>※持家の新設着工戸数：2024年 218,132戸／前年比 −2.8%（3年連続減）｜国土交通省 建築着工統計</a:t>
            </a: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ニーズ調査｜前後検索で見る、検討の8ヶ月</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「注文住宅」を調べた人が、その前後に何を検索しているか。実データで検討サイクルが見えます。</a:t>
            </a:r>
          </a:p>
          <a:p>
            <a:pPr algn="l">
              <a:spcAft>
                <a:spcPts val="300"/>
              </a:spcAft>
            </a:pPr>
            <a:r>
              <a:rPr sz="1250" b="1">
                <a:solidFill>
                  <a:srgbClr val="333333"/>
                </a:solidFill>
                <a:latin typeface="メイリオ"/>
                <a:ea typeface="メイリオ"/>
                <a:cs typeface="メイリオ"/>
              </a:rPr>
              <a:t>友だち追加を仕掛けるべきなのは、メーカー名を調べ始める前です。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7200" y="1620000"/>
            <a:ext cx="8812800" cy="2232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検索の時系列（起点＝「注文住宅」を検索した日）</a:t>
            </a:r>
          </a:p>
        </p:txBody>
      </p:sp>
      <p:sp>
        <p:nvSpPr>
          <p:cNvPr id="6" name="Rounded Rectangle 5"/>
          <p:cNvSpPr/>
          <p:nvPr/>
        </p:nvSpPr>
        <p:spPr>
          <a:xfrm>
            <a:off x="547200" y="1872000"/>
            <a:ext cx="1296000" cy="460800"/>
          </a:xfrm>
          <a:prstGeom prst="roundRect">
            <a:avLst>
              <a:gd name="adj" fmla="val 14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1872000"/>
            <a:ext cx="1296000" cy="46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−60〜−14日</a:t>
            </a:r>
          </a:p>
        </p:txBody>
      </p:sp>
      <p:sp>
        <p:nvSpPr>
          <p:cNvPr id="8" name="Rounded Rectangle 7"/>
          <p:cNvSpPr/>
          <p:nvPr/>
        </p:nvSpPr>
        <p:spPr>
          <a:xfrm>
            <a:off x="1933200" y="1872000"/>
            <a:ext cx="7426800" cy="460800"/>
          </a:xfrm>
          <a:prstGeom prst="roundRect">
            <a:avLst>
              <a:gd name="adj" fmla="val 1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9200" y="1922400"/>
            <a:ext cx="1944000" cy="216000"/>
          </a:xfrm>
          <a:prstGeom prst="rect">
            <a:avLst/>
          </a:prstGeom>
          <a:noFill/>
        </p:spPr>
        <p:txBody>
          <a:bodyPr wrap="square" lIns="21600" tIns="7200" rIns="21600" bIns="7200" anchor="t">
            <a:spAutoFit/>
          </a:bodyPr>
          <a:lstStyle/>
          <a:p>
            <a:pPr algn="l"/>
            <a:r>
              <a:rPr sz="1150" b="1">
                <a:solidFill>
                  <a:srgbClr val="7F7F7F"/>
                </a:solidFill>
                <a:latin typeface="メイリオ"/>
                <a:ea typeface="メイリオ"/>
                <a:cs typeface="メイリオ"/>
              </a:rPr>
              <a:t>他の選択肢と比較</a:t>
            </a:r>
          </a:p>
        </p:txBody>
      </p:sp>
      <p:sp>
        <p:nvSpPr>
          <p:cNvPr id="10" name="TextBox 9"/>
          <p:cNvSpPr txBox="1"/>
          <p:nvPr/>
        </p:nvSpPr>
        <p:spPr>
          <a:xfrm>
            <a:off x="4075200" y="1944000"/>
            <a:ext cx="5104800" cy="3240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中古一戸建て／リノベーション費用／平屋 間取り</a:t>
            </a:r>
          </a:p>
        </p:txBody>
      </p:sp>
      <p:sp>
        <p:nvSpPr>
          <p:cNvPr id="11" name="Rounded Rectangle 10"/>
          <p:cNvSpPr/>
          <p:nvPr/>
        </p:nvSpPr>
        <p:spPr>
          <a:xfrm>
            <a:off x="547200" y="2390400"/>
            <a:ext cx="1296000" cy="4608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7200" y="2390400"/>
            <a:ext cx="1296000" cy="46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−14〜−1日</a:t>
            </a:r>
          </a:p>
        </p:txBody>
      </p:sp>
      <p:sp>
        <p:nvSpPr>
          <p:cNvPr id="13" name="Rounded Rectangle 12"/>
          <p:cNvSpPr/>
          <p:nvPr/>
        </p:nvSpPr>
        <p:spPr>
          <a:xfrm>
            <a:off x="1933200" y="2390400"/>
            <a:ext cx="7426800" cy="4608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59200" y="2440800"/>
            <a:ext cx="1944000" cy="216000"/>
          </a:xfrm>
          <a:prstGeom prst="rect">
            <a:avLst/>
          </a:prstGeom>
          <a:noFill/>
        </p:spPr>
        <p:txBody>
          <a:bodyPr wrap="square" lIns="21600" tIns="7200" rIns="21600" bIns="7200" anchor="t">
            <a:spAutoFit/>
          </a:bodyPr>
          <a:lstStyle/>
          <a:p>
            <a:pPr algn="l"/>
            <a:r>
              <a:rPr sz="1150" b="1">
                <a:solidFill>
                  <a:srgbClr val="C00000"/>
                </a:solidFill>
                <a:latin typeface="メイリオ"/>
                <a:ea typeface="メイリオ"/>
                <a:cs typeface="メイリオ"/>
              </a:rPr>
              <a:t>資金の壁</a:t>
            </a:r>
          </a:p>
        </p:txBody>
      </p:sp>
      <p:sp>
        <p:nvSpPr>
          <p:cNvPr id="15" name="TextBox 14"/>
          <p:cNvSpPr txBox="1"/>
          <p:nvPr/>
        </p:nvSpPr>
        <p:spPr>
          <a:xfrm>
            <a:off x="4075200" y="2462400"/>
            <a:ext cx="5104800" cy="3240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住宅ローン 245,861UU（全体1位・起点の1.8日前）</a:t>
            </a:r>
          </a:p>
        </p:txBody>
      </p:sp>
      <p:sp>
        <p:nvSpPr>
          <p:cNvPr id="16" name="Rounded Rectangle 15"/>
          <p:cNvSpPr/>
          <p:nvPr/>
        </p:nvSpPr>
        <p:spPr>
          <a:xfrm>
            <a:off x="547200" y="2908800"/>
            <a:ext cx="1296000" cy="4608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7200" y="2908800"/>
            <a:ext cx="1296000" cy="46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±1日</a:t>
            </a:r>
          </a:p>
        </p:txBody>
      </p:sp>
      <p:sp>
        <p:nvSpPr>
          <p:cNvPr id="18" name="Rounded Rectangle 17"/>
          <p:cNvSpPr/>
          <p:nvPr/>
        </p:nvSpPr>
        <p:spPr>
          <a:xfrm>
            <a:off x="1933200" y="2908800"/>
            <a:ext cx="7426800" cy="460800"/>
          </a:xfrm>
          <a:prstGeom prst="roundRect">
            <a:avLst>
              <a:gd name="adj" fmla="val 14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59200" y="2959200"/>
            <a:ext cx="1944000" cy="2160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メーカー指名</a:t>
            </a:r>
          </a:p>
        </p:txBody>
      </p:sp>
      <p:sp>
        <p:nvSpPr>
          <p:cNvPr id="20" name="TextBox 19"/>
          <p:cNvSpPr txBox="1"/>
          <p:nvPr/>
        </p:nvSpPr>
        <p:spPr>
          <a:xfrm>
            <a:off x="4075200" y="2980800"/>
            <a:ext cx="5104800" cy="3240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積水ハウス 203,315／住友林業 116,714／大和ハウス 114,959</a:t>
            </a:r>
          </a:p>
        </p:txBody>
      </p:sp>
      <p:sp>
        <p:nvSpPr>
          <p:cNvPr id="21" name="Rounded Rectangle 20"/>
          <p:cNvSpPr/>
          <p:nvPr/>
        </p:nvSpPr>
        <p:spPr>
          <a:xfrm>
            <a:off x="547200" y="3427200"/>
            <a:ext cx="1296000" cy="4608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7200" y="3427200"/>
            <a:ext cx="1296000" cy="46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+1〜+14日</a:t>
            </a:r>
          </a:p>
        </p:txBody>
      </p:sp>
      <p:sp>
        <p:nvSpPr>
          <p:cNvPr id="23" name="Rounded Rectangle 22"/>
          <p:cNvSpPr/>
          <p:nvPr/>
        </p:nvSpPr>
        <p:spPr>
          <a:xfrm>
            <a:off x="1933200" y="3427200"/>
            <a:ext cx="7426800" cy="460800"/>
          </a:xfrm>
          <a:prstGeom prst="roundRect">
            <a:avLst>
              <a:gd name="adj" fmla="val 1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59200" y="3477600"/>
            <a:ext cx="1944000" cy="2160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ローン実務</a:t>
            </a:r>
          </a:p>
        </p:txBody>
      </p:sp>
      <p:sp>
        <p:nvSpPr>
          <p:cNvPr id="25" name="TextBox 24"/>
          <p:cNvSpPr txBox="1"/>
          <p:nvPr/>
        </p:nvSpPr>
        <p:spPr>
          <a:xfrm>
            <a:off x="4075200" y="3499199"/>
            <a:ext cx="5104800" cy="3240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フラット35／団信保険とは／固定資産税 計算</a:t>
            </a:r>
          </a:p>
        </p:txBody>
      </p:sp>
      <p:sp>
        <p:nvSpPr>
          <p:cNvPr id="26" name="Rounded Rectangle 25"/>
          <p:cNvSpPr/>
          <p:nvPr/>
        </p:nvSpPr>
        <p:spPr>
          <a:xfrm>
            <a:off x="547200" y="3945599"/>
            <a:ext cx="1296000" cy="4608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7200" y="3945599"/>
            <a:ext cx="1296000" cy="46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+14〜+60日</a:t>
            </a:r>
          </a:p>
        </p:txBody>
      </p:sp>
      <p:sp>
        <p:nvSpPr>
          <p:cNvPr id="28" name="Rounded Rectangle 27"/>
          <p:cNvSpPr/>
          <p:nvPr/>
        </p:nvSpPr>
        <p:spPr>
          <a:xfrm>
            <a:off x="1933200" y="3945599"/>
            <a:ext cx="7426800" cy="460800"/>
          </a:xfrm>
          <a:prstGeom prst="roundRect">
            <a:avLst>
              <a:gd name="adj" fmla="val 1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59200" y="3996000"/>
            <a:ext cx="1944000" cy="216000"/>
          </a:xfrm>
          <a:prstGeom prst="rect">
            <a:avLst/>
          </a:prstGeom>
          <a:noFill/>
        </p:spPr>
        <p:txBody>
          <a:bodyPr wrap="square" lIns="21600" tIns="7200" rIns="21600" bIns="7200" anchor="t">
            <a:spAutoFit/>
          </a:bodyPr>
          <a:lstStyle/>
          <a:p>
            <a:pPr algn="l"/>
            <a:r>
              <a:rPr sz="1150" b="1">
                <a:solidFill>
                  <a:srgbClr val="ED7D31"/>
                </a:solidFill>
                <a:latin typeface="メイリオ"/>
                <a:ea typeface="メイリオ"/>
                <a:cs typeface="メイリオ"/>
              </a:rPr>
              <a:t>仕様決定</a:t>
            </a:r>
          </a:p>
        </p:txBody>
      </p:sp>
      <p:sp>
        <p:nvSpPr>
          <p:cNvPr id="30" name="TextBox 29"/>
          <p:cNvSpPr txBox="1"/>
          <p:nvPr/>
        </p:nvSpPr>
        <p:spPr>
          <a:xfrm>
            <a:off x="4075200" y="4017599"/>
            <a:ext cx="5104800" cy="3240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リクシルショールーム／外構工事／地鎮祭</a:t>
            </a:r>
          </a:p>
        </p:txBody>
      </p:sp>
      <p:sp>
        <p:nvSpPr>
          <p:cNvPr id="31" name="Rounded Rectangle 30"/>
          <p:cNvSpPr/>
          <p:nvPr/>
        </p:nvSpPr>
        <p:spPr>
          <a:xfrm>
            <a:off x="547200" y="4463999"/>
            <a:ext cx="1296000" cy="4608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7200" y="4463999"/>
            <a:ext cx="1296000" cy="46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+60〜+200日</a:t>
            </a:r>
          </a:p>
        </p:txBody>
      </p:sp>
      <p:sp>
        <p:nvSpPr>
          <p:cNvPr id="33" name="Rounded Rectangle 32"/>
          <p:cNvSpPr/>
          <p:nvPr/>
        </p:nvSpPr>
        <p:spPr>
          <a:xfrm>
            <a:off x="1933200" y="4463999"/>
            <a:ext cx="7426800" cy="460800"/>
          </a:xfrm>
          <a:prstGeom prst="roundRect">
            <a:avLst>
              <a:gd name="adj" fmla="val 1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59200" y="4514400"/>
            <a:ext cx="1944000" cy="216000"/>
          </a:xfrm>
          <a:prstGeom prst="rect">
            <a:avLst/>
          </a:prstGeom>
          <a:noFill/>
        </p:spPr>
        <p:txBody>
          <a:bodyPr wrap="square" lIns="21600" tIns="7200" rIns="21600" bIns="7200" anchor="t">
            <a:spAutoFit/>
          </a:bodyPr>
          <a:lstStyle/>
          <a:p>
            <a:pPr algn="l"/>
            <a:r>
              <a:rPr sz="1150" b="1">
                <a:solidFill>
                  <a:srgbClr val="ED7D31"/>
                </a:solidFill>
                <a:latin typeface="メイリオ"/>
                <a:ea typeface="メイリオ"/>
                <a:cs typeface="メイリオ"/>
              </a:rPr>
              <a:t>着工〜入居</a:t>
            </a:r>
          </a:p>
        </p:txBody>
      </p:sp>
      <p:sp>
        <p:nvSpPr>
          <p:cNvPr id="35" name="TextBox 34"/>
          <p:cNvSpPr txBox="1"/>
          <p:nvPr/>
        </p:nvSpPr>
        <p:spPr>
          <a:xfrm>
            <a:off x="4075200" y="4535999"/>
            <a:ext cx="5104800" cy="3240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上棟式／シンボルツリー／こどもエコすまい支援事業</a:t>
            </a:r>
          </a:p>
        </p:txBody>
      </p:sp>
      <p:sp>
        <p:nvSpPr>
          <p:cNvPr id="36" name="Rounded Rectangle 35"/>
          <p:cNvSpPr/>
          <p:nvPr/>
        </p:nvSpPr>
        <p:spPr>
          <a:xfrm>
            <a:off x="547200" y="5054399"/>
            <a:ext cx="8812800" cy="68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7200" y="5133599"/>
            <a:ext cx="8452800" cy="540000"/>
          </a:xfrm>
          <a:prstGeom prst="rect">
            <a:avLst/>
          </a:prstGeom>
          <a:noFill/>
        </p:spPr>
        <p:txBody>
          <a:bodyPr wrap="square" lIns="21600" tIns="7200" rIns="21600" bIns="7200" anchor="t">
            <a:spAutoFit/>
          </a:bodyPr>
          <a:lstStyle/>
          <a:p>
            <a:pPr algn="l">
              <a:spcAft>
                <a:spcPts val="400"/>
              </a:spcAft>
            </a:pPr>
            <a:r>
              <a:rPr sz="1200" b="1">
                <a:solidFill>
                  <a:srgbClr val="FFFFFF"/>
                </a:solidFill>
                <a:latin typeface="メイリオ"/>
                <a:ea typeface="メイリオ"/>
                <a:cs typeface="メイリオ"/>
              </a:rPr>
              <a:t>最も強く結びつく検索語は「注文住宅 後悔」（関連度1位）。</a:t>
            </a:r>
          </a:p>
          <a:p>
            <a:pPr algn="l"/>
            <a:r>
              <a:rPr sz="1200" b="1">
                <a:solidFill>
                  <a:srgbClr val="FFFFFF"/>
                </a:solidFill>
                <a:latin typeface="メイリオ"/>
                <a:ea typeface="メイリオ"/>
                <a:cs typeface="メイリオ"/>
              </a:rPr>
              <a:t>失敗したくない気持ちが検討を動かしています。友だち追加を仕掛けるのは、メーカー名を調べ始める前です。</a:t>
            </a:r>
          </a:p>
        </p:txBody>
      </p:sp>
      <p:sp>
        <p:nvSpPr>
          <p:cNvPr id="38" name="TextBox 37"/>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※LINEヤフーの媒体情報（前後検索データ）を弊社にて分析。UUはログインUU。</a:t>
            </a: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他社分析①｜大手7社のLINE運用ステータス</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調査対象7社のうち6社が、認証済みアカウントを運用しています。</a:t>
            </a:r>
          </a:p>
          <a:p>
            <a:pPr algn="l">
              <a:spcAft>
                <a:spcPts val="300"/>
              </a:spcAft>
            </a:pPr>
            <a:r>
              <a:rPr sz="1250" b="1">
                <a:solidFill>
                  <a:srgbClr val="333333"/>
                </a:solidFill>
                <a:latin typeface="メイリオ"/>
                <a:ea typeface="メイリオ"/>
                <a:cs typeface="メイリオ"/>
              </a:rPr>
              <a:t>問われているのは開設の有無ではなく、検討層をどう絞って届けるかです。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7200" y="1655999"/>
            <a:ext cx="1888457" cy="331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55999"/>
            <a:ext cx="1888457" cy="331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企業</a:t>
            </a:r>
          </a:p>
        </p:txBody>
      </p:sp>
      <p:sp>
        <p:nvSpPr>
          <p:cNvPr id="7" name="Rectangle 6"/>
          <p:cNvSpPr/>
          <p:nvPr/>
        </p:nvSpPr>
        <p:spPr>
          <a:xfrm>
            <a:off x="2435657" y="1655999"/>
            <a:ext cx="1510765" cy="331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35657" y="1655999"/>
            <a:ext cx="1510765" cy="331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友だち数</a:t>
            </a:r>
          </a:p>
        </p:txBody>
      </p:sp>
      <p:sp>
        <p:nvSpPr>
          <p:cNvPr id="9" name="Rectangle 8"/>
          <p:cNvSpPr/>
          <p:nvPr/>
        </p:nvSpPr>
        <p:spPr>
          <a:xfrm>
            <a:off x="3946422" y="1655999"/>
            <a:ext cx="755382" cy="331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6422" y="1655999"/>
            <a:ext cx="755382" cy="331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認証</a:t>
            </a:r>
          </a:p>
        </p:txBody>
      </p:sp>
      <p:sp>
        <p:nvSpPr>
          <p:cNvPr id="11" name="Rectangle 10"/>
          <p:cNvSpPr/>
          <p:nvPr/>
        </p:nvSpPr>
        <p:spPr>
          <a:xfrm>
            <a:off x="4701805" y="1655999"/>
            <a:ext cx="4658194" cy="331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1805" y="1655999"/>
            <a:ext cx="4658194" cy="331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プロフィール文（公式表記）</a:t>
            </a:r>
          </a:p>
        </p:txBody>
      </p:sp>
      <p:sp>
        <p:nvSpPr>
          <p:cNvPr id="13" name="Rectangle 12"/>
          <p:cNvSpPr/>
          <p:nvPr/>
        </p:nvSpPr>
        <p:spPr>
          <a:xfrm>
            <a:off x="547200" y="1987199"/>
            <a:ext cx="1888457"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7200" y="1987199"/>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積水ハウス</a:t>
            </a:r>
          </a:p>
        </p:txBody>
      </p:sp>
      <p:sp>
        <p:nvSpPr>
          <p:cNvPr id="15" name="Rectangle 14"/>
          <p:cNvSpPr/>
          <p:nvPr/>
        </p:nvSpPr>
        <p:spPr>
          <a:xfrm>
            <a:off x="2435657" y="1987199"/>
            <a:ext cx="1510765"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35657" y="1987199"/>
            <a:ext cx="1510765" cy="331200"/>
          </a:xfrm>
          <a:prstGeom prst="rect">
            <a:avLst/>
          </a:prstGeom>
          <a:noFill/>
        </p:spPr>
        <p:txBody>
          <a:bodyPr wrap="square" lIns="21600" tIns="7200" rIns="21600" bIns="7200" anchor="ctr">
            <a:spAutoFit/>
          </a:bodyPr>
          <a:lstStyle/>
          <a:p>
            <a:pPr algn="ctr"/>
            <a:r>
              <a:rPr sz="1050" b="0">
                <a:solidFill>
                  <a:srgbClr val="1F285A"/>
                </a:solidFill>
                <a:latin typeface="メイリオ"/>
                <a:ea typeface="メイリオ"/>
                <a:cs typeface="メイリオ"/>
              </a:rPr>
              <a:t>5,867,667人</a:t>
            </a:r>
          </a:p>
        </p:txBody>
      </p:sp>
      <p:sp>
        <p:nvSpPr>
          <p:cNvPr id="17" name="Rectangle 16"/>
          <p:cNvSpPr/>
          <p:nvPr/>
        </p:nvSpPr>
        <p:spPr>
          <a:xfrm>
            <a:off x="3946422" y="1987199"/>
            <a:ext cx="755382"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46422" y="1987199"/>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19" name="Rectangle 18"/>
          <p:cNvSpPr/>
          <p:nvPr/>
        </p:nvSpPr>
        <p:spPr>
          <a:xfrm>
            <a:off x="4701805" y="1987199"/>
            <a:ext cx="4658194"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01805" y="1987199"/>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暮らしを豊かにする情報などをお届け♪</a:t>
            </a:r>
          </a:p>
        </p:txBody>
      </p:sp>
      <p:sp>
        <p:nvSpPr>
          <p:cNvPr id="21" name="Rectangle 20"/>
          <p:cNvSpPr/>
          <p:nvPr/>
        </p:nvSpPr>
        <p:spPr>
          <a:xfrm>
            <a:off x="547200" y="2318400"/>
            <a:ext cx="1888457"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7200" y="2318400"/>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一条工務店</a:t>
            </a:r>
          </a:p>
        </p:txBody>
      </p:sp>
      <p:sp>
        <p:nvSpPr>
          <p:cNvPr id="23" name="Rectangle 22"/>
          <p:cNvSpPr/>
          <p:nvPr/>
        </p:nvSpPr>
        <p:spPr>
          <a:xfrm>
            <a:off x="2435657" y="2318400"/>
            <a:ext cx="1510765"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35657" y="2318400"/>
            <a:ext cx="1510765" cy="331200"/>
          </a:xfrm>
          <a:prstGeom prst="rect">
            <a:avLst/>
          </a:prstGeom>
          <a:noFill/>
        </p:spPr>
        <p:txBody>
          <a:bodyPr wrap="square" lIns="21600" tIns="7200" rIns="21600" bIns="7200" anchor="ctr">
            <a:spAutoFit/>
          </a:bodyPr>
          <a:lstStyle/>
          <a:p>
            <a:pPr algn="ctr"/>
            <a:r>
              <a:rPr sz="1050" b="0">
                <a:solidFill>
                  <a:srgbClr val="1F285A"/>
                </a:solidFill>
                <a:latin typeface="メイリオ"/>
                <a:ea typeface="メイリオ"/>
                <a:cs typeface="メイリオ"/>
              </a:rPr>
              <a:t>682,214人</a:t>
            </a:r>
          </a:p>
        </p:txBody>
      </p:sp>
      <p:sp>
        <p:nvSpPr>
          <p:cNvPr id="25" name="Rectangle 24"/>
          <p:cNvSpPr/>
          <p:nvPr/>
        </p:nvSpPr>
        <p:spPr>
          <a:xfrm>
            <a:off x="3946422" y="2318400"/>
            <a:ext cx="755382"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46422" y="2318400"/>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27" name="Rectangle 26"/>
          <p:cNvSpPr/>
          <p:nvPr/>
        </p:nvSpPr>
        <p:spPr>
          <a:xfrm>
            <a:off x="4701805" y="2318400"/>
            <a:ext cx="4658194"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01805" y="2318400"/>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暮らしにいいコト、たくさん。</a:t>
            </a:r>
          </a:p>
        </p:txBody>
      </p:sp>
      <p:sp>
        <p:nvSpPr>
          <p:cNvPr id="29" name="Rectangle 28"/>
          <p:cNvSpPr/>
          <p:nvPr/>
        </p:nvSpPr>
        <p:spPr>
          <a:xfrm>
            <a:off x="547200" y="2649600"/>
            <a:ext cx="1888457"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7200" y="2649600"/>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ヘーベルハウス</a:t>
            </a:r>
          </a:p>
        </p:txBody>
      </p:sp>
      <p:sp>
        <p:nvSpPr>
          <p:cNvPr id="31" name="Rectangle 30"/>
          <p:cNvSpPr/>
          <p:nvPr/>
        </p:nvSpPr>
        <p:spPr>
          <a:xfrm>
            <a:off x="2435657" y="2649600"/>
            <a:ext cx="1510765"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435657" y="2649600"/>
            <a:ext cx="1510765"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37,687人</a:t>
            </a:r>
          </a:p>
        </p:txBody>
      </p:sp>
      <p:sp>
        <p:nvSpPr>
          <p:cNvPr id="33" name="Rectangle 32"/>
          <p:cNvSpPr/>
          <p:nvPr/>
        </p:nvSpPr>
        <p:spPr>
          <a:xfrm>
            <a:off x="3946422" y="2649600"/>
            <a:ext cx="755382"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946422" y="2649600"/>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35" name="Rectangle 34"/>
          <p:cNvSpPr/>
          <p:nvPr/>
        </p:nvSpPr>
        <p:spPr>
          <a:xfrm>
            <a:off x="4701805" y="2649600"/>
            <a:ext cx="4658194"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01805" y="2649600"/>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ヘーベルハウスの情報をお届けしています</a:t>
            </a:r>
          </a:p>
        </p:txBody>
      </p:sp>
      <p:sp>
        <p:nvSpPr>
          <p:cNvPr id="37" name="Rectangle 36"/>
          <p:cNvSpPr/>
          <p:nvPr/>
        </p:nvSpPr>
        <p:spPr>
          <a:xfrm>
            <a:off x="547200" y="2980800"/>
            <a:ext cx="1888457"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7200" y="2980800"/>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住友林業の家</a:t>
            </a:r>
          </a:p>
        </p:txBody>
      </p:sp>
      <p:sp>
        <p:nvSpPr>
          <p:cNvPr id="39" name="Rectangle 38"/>
          <p:cNvSpPr/>
          <p:nvPr/>
        </p:nvSpPr>
        <p:spPr>
          <a:xfrm>
            <a:off x="2435657" y="2980800"/>
            <a:ext cx="1510765"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435657" y="2980800"/>
            <a:ext cx="1510765" cy="331200"/>
          </a:xfrm>
          <a:prstGeom prst="rect">
            <a:avLst/>
          </a:prstGeom>
          <a:noFill/>
        </p:spPr>
        <p:txBody>
          <a:bodyPr wrap="square" lIns="21600" tIns="7200" rIns="21600" bIns="7200" anchor="ctr">
            <a:spAutoFit/>
          </a:bodyPr>
          <a:lstStyle/>
          <a:p>
            <a:pPr algn="ctr"/>
            <a:r>
              <a:rPr sz="1050" b="0">
                <a:solidFill>
                  <a:srgbClr val="ED7D31"/>
                </a:solidFill>
                <a:latin typeface="メイリオ"/>
                <a:ea typeface="メイリオ"/>
                <a:cs typeface="メイリオ"/>
              </a:rPr>
              <a:t>7,093人</a:t>
            </a:r>
          </a:p>
        </p:txBody>
      </p:sp>
      <p:sp>
        <p:nvSpPr>
          <p:cNvPr id="41" name="Rectangle 40"/>
          <p:cNvSpPr/>
          <p:nvPr/>
        </p:nvSpPr>
        <p:spPr>
          <a:xfrm>
            <a:off x="3946422" y="2980800"/>
            <a:ext cx="755382"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946422" y="2980800"/>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43" name="Rectangle 42"/>
          <p:cNvSpPr/>
          <p:nvPr/>
        </p:nvSpPr>
        <p:spPr>
          <a:xfrm>
            <a:off x="4701805" y="2980800"/>
            <a:ext cx="4658194"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01805" y="2980800"/>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【公式】家づくり情報をお届けしています♪</a:t>
            </a:r>
          </a:p>
        </p:txBody>
      </p:sp>
      <p:sp>
        <p:nvSpPr>
          <p:cNvPr id="45" name="Rectangle 44"/>
          <p:cNvSpPr/>
          <p:nvPr/>
        </p:nvSpPr>
        <p:spPr>
          <a:xfrm>
            <a:off x="547200" y="3311999"/>
            <a:ext cx="1888457"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7200" y="3311999"/>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ポラス（中央住宅）</a:t>
            </a:r>
          </a:p>
        </p:txBody>
      </p:sp>
      <p:sp>
        <p:nvSpPr>
          <p:cNvPr id="47" name="Rectangle 46"/>
          <p:cNvSpPr/>
          <p:nvPr/>
        </p:nvSpPr>
        <p:spPr>
          <a:xfrm>
            <a:off x="2435657" y="3311999"/>
            <a:ext cx="1510765"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435657" y="3311999"/>
            <a:ext cx="1510765"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1,950人</a:t>
            </a:r>
          </a:p>
        </p:txBody>
      </p:sp>
      <p:sp>
        <p:nvSpPr>
          <p:cNvPr id="49" name="Rectangle 48"/>
          <p:cNvSpPr/>
          <p:nvPr/>
        </p:nvSpPr>
        <p:spPr>
          <a:xfrm>
            <a:off x="3946422" y="3311999"/>
            <a:ext cx="755382"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946422" y="3311999"/>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51" name="Rectangle 50"/>
          <p:cNvSpPr/>
          <p:nvPr/>
        </p:nvSpPr>
        <p:spPr>
          <a:xfrm>
            <a:off x="4701805" y="3311999"/>
            <a:ext cx="4658194"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701805" y="3311999"/>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戸建分譲事業部のアカウントです。</a:t>
            </a:r>
          </a:p>
        </p:txBody>
      </p:sp>
      <p:sp>
        <p:nvSpPr>
          <p:cNvPr id="53" name="Rectangle 52"/>
          <p:cNvSpPr/>
          <p:nvPr/>
        </p:nvSpPr>
        <p:spPr>
          <a:xfrm>
            <a:off x="547200" y="3643199"/>
            <a:ext cx="1888457"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7200" y="3643199"/>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アキュラホーム</a:t>
            </a:r>
          </a:p>
        </p:txBody>
      </p:sp>
      <p:sp>
        <p:nvSpPr>
          <p:cNvPr id="55" name="Rectangle 54"/>
          <p:cNvSpPr/>
          <p:nvPr/>
        </p:nvSpPr>
        <p:spPr>
          <a:xfrm>
            <a:off x="2435657" y="3643199"/>
            <a:ext cx="1510765"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435657" y="3643199"/>
            <a:ext cx="1510765"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1,276人</a:t>
            </a:r>
          </a:p>
        </p:txBody>
      </p:sp>
      <p:sp>
        <p:nvSpPr>
          <p:cNvPr id="57" name="Rectangle 56"/>
          <p:cNvSpPr/>
          <p:nvPr/>
        </p:nvSpPr>
        <p:spPr>
          <a:xfrm>
            <a:off x="3946422" y="3643199"/>
            <a:ext cx="755382"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946422" y="3643199"/>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59" name="Rectangle 58"/>
          <p:cNvSpPr/>
          <p:nvPr/>
        </p:nvSpPr>
        <p:spPr>
          <a:xfrm>
            <a:off x="4701805" y="3643199"/>
            <a:ext cx="4658194" cy="331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01805" y="3643199"/>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（企業理念・構法の説明）</a:t>
            </a:r>
          </a:p>
        </p:txBody>
      </p:sp>
      <p:sp>
        <p:nvSpPr>
          <p:cNvPr id="61" name="Rectangle 60"/>
          <p:cNvSpPr/>
          <p:nvPr/>
        </p:nvSpPr>
        <p:spPr>
          <a:xfrm>
            <a:off x="547200" y="3974399"/>
            <a:ext cx="1888457"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7200" y="3974399"/>
            <a:ext cx="1888457"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タマホーム</a:t>
            </a:r>
          </a:p>
        </p:txBody>
      </p:sp>
      <p:sp>
        <p:nvSpPr>
          <p:cNvPr id="63" name="Rectangle 62"/>
          <p:cNvSpPr/>
          <p:nvPr/>
        </p:nvSpPr>
        <p:spPr>
          <a:xfrm>
            <a:off x="2435657" y="3974399"/>
            <a:ext cx="1510765"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435657" y="3974399"/>
            <a:ext cx="1510765" cy="331200"/>
          </a:xfrm>
          <a:prstGeom prst="rect">
            <a:avLst/>
          </a:prstGeom>
          <a:noFill/>
        </p:spPr>
        <p:txBody>
          <a:bodyPr wrap="square" lIns="21600" tIns="7200" rIns="21600" bIns="7200" anchor="ctr">
            <a:spAutoFit/>
          </a:bodyPr>
          <a:lstStyle/>
          <a:p>
            <a:pPr algn="ctr"/>
            <a:r>
              <a:rPr sz="1050" b="0">
                <a:solidFill>
                  <a:srgbClr val="C00000"/>
                </a:solidFill>
                <a:latin typeface="メイリオ"/>
                <a:ea typeface="メイリオ"/>
                <a:cs typeface="メイリオ"/>
              </a:rPr>
              <a:t>アカウントなし</a:t>
            </a:r>
          </a:p>
        </p:txBody>
      </p:sp>
      <p:sp>
        <p:nvSpPr>
          <p:cNvPr id="65" name="Rectangle 64"/>
          <p:cNvSpPr/>
          <p:nvPr/>
        </p:nvSpPr>
        <p:spPr>
          <a:xfrm>
            <a:off x="3946422" y="3974399"/>
            <a:ext cx="755382"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946422" y="3974399"/>
            <a:ext cx="755382"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a:t>
            </a:r>
          </a:p>
        </p:txBody>
      </p:sp>
      <p:sp>
        <p:nvSpPr>
          <p:cNvPr id="67" name="Rectangle 66"/>
          <p:cNvSpPr/>
          <p:nvPr/>
        </p:nvSpPr>
        <p:spPr>
          <a:xfrm>
            <a:off x="4701805" y="3974399"/>
            <a:ext cx="4658194" cy="331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701805" y="3974399"/>
            <a:ext cx="4658194" cy="331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公式サイトにLINE導線なし</a:t>
            </a:r>
          </a:p>
        </p:txBody>
      </p:sp>
      <p:sp>
        <p:nvSpPr>
          <p:cNvPr id="69" name="TextBox 68"/>
          <p:cNvSpPr txBox="1"/>
          <p:nvPr/>
        </p:nvSpPr>
        <p:spPr>
          <a:xfrm>
            <a:off x="547200" y="4485600"/>
            <a:ext cx="8812800" cy="540000"/>
          </a:xfrm>
          <a:prstGeom prst="rect">
            <a:avLst/>
          </a:prstGeom>
          <a:noFill/>
        </p:spPr>
        <p:txBody>
          <a:bodyPr wrap="square" lIns="21600" tIns="7200" rIns="21600" bIns="7200" anchor="t">
            <a:spAutoFit/>
          </a:bodyPr>
          <a:lstStyle/>
          <a:p>
            <a:pPr algn="l">
              <a:spcAft>
                <a:spcPts val="400"/>
              </a:spcAft>
            </a:pPr>
            <a:r>
              <a:rPr sz="1200" b="1">
                <a:solidFill>
                  <a:srgbClr val="333333"/>
                </a:solidFill>
                <a:latin typeface="メイリオ"/>
                <a:ea typeface="メイリオ"/>
                <a:cs typeface="メイリオ"/>
              </a:rPr>
              <a:t>調査対象7社中6社が運用中。友だち数は1,276人〜586万人と4,600倍の開きがあります。</a:t>
            </a:r>
          </a:p>
          <a:p>
            <a:pPr algn="l"/>
            <a:r>
              <a:rPr sz="1200" b="1">
                <a:solidFill>
                  <a:srgbClr val="333333"/>
                </a:solidFill>
                <a:latin typeface="メイリオ"/>
                <a:ea typeface="メイリオ"/>
                <a:cs typeface="メイリオ"/>
              </a:rPr>
              <a:t>この差は運用の巧拙ではなく、アカウントの目的が違うことを示しています。</a:t>
            </a:r>
          </a:p>
        </p:txBody>
      </p:sp>
      <p:sp>
        <p:nvSpPr>
          <p:cNvPr id="70" name="Rounded Rectangle 69"/>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開設しているかではなく、誰を集めているかで差がつく</a:t>
            </a:r>
          </a:p>
        </p:txBody>
      </p:sp>
      <p:sp>
        <p:nvSpPr>
          <p:cNvPr id="71" name="TextBox 70"/>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※2026年8月26日時点、各社のLINE公式アカウント紹介ページ（page.line.me）にて弊社が確認した実数です。第三者集計サイトの数値は使用していません。</a:t>
            </a:r>
          </a:p>
        </p:txBody>
      </p:sp>
    </p:spTree>
    <p:extLst>
      <p:ext uri="{BB962C8B-B14F-4D97-AF65-F5344CB8AC3E}">
        <p14:creationId xmlns:p14="http://schemas.microsoft.com/office/powerpoint/2010/main" val="2687779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他社分析②｜運用の型は3つに分かれる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友だち数の多さは、集客力の差ではありません。集めている相手が違うだけです。</a:t>
            </a:r>
          </a:p>
          <a:p>
            <a:pPr algn="l">
              <a:spcAft>
                <a:spcPts val="300"/>
              </a:spcAft>
            </a:pPr>
            <a:r>
              <a:rPr sz="1250" b="1">
                <a:solidFill>
                  <a:srgbClr val="333333"/>
                </a:solidFill>
                <a:latin typeface="メイリオ"/>
                <a:ea typeface="メイリオ"/>
                <a:cs typeface="メイリオ"/>
              </a:rPr>
              <a:t>注文住宅の検討層を狙うなら、参考にすべき型は決まっています。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2793600" cy="2736000"/>
          </a:xfrm>
          <a:prstGeom prst="roundRect">
            <a:avLst>
              <a:gd name="adj" fmla="val 6000"/>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7200" y="1745999"/>
            <a:ext cx="2613600" cy="324000"/>
          </a:xfrm>
          <a:prstGeom prst="roundRect">
            <a:avLst>
              <a:gd name="adj" fmla="val 18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7200" y="1771200"/>
            <a:ext cx="2613600" cy="2736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A ブランド型</a:t>
            </a:r>
          </a:p>
        </p:txBody>
      </p:sp>
      <p:sp>
        <p:nvSpPr>
          <p:cNvPr id="8" name="TextBox 7"/>
          <p:cNvSpPr txBox="1"/>
          <p:nvPr/>
        </p:nvSpPr>
        <p:spPr>
          <a:xfrm>
            <a:off x="673200" y="2141999"/>
            <a:ext cx="2541600" cy="306000"/>
          </a:xfrm>
          <a:prstGeom prst="rect">
            <a:avLst/>
          </a:prstGeom>
          <a:noFill/>
        </p:spPr>
        <p:txBody>
          <a:bodyPr wrap="square" lIns="21600" tIns="7200" rIns="21600" bIns="7200" anchor="ctr">
            <a:spAutoFit/>
          </a:bodyPr>
          <a:lstStyle/>
          <a:p>
            <a:pPr algn="ctr"/>
            <a:r>
              <a:rPr sz="1700" b="1">
                <a:solidFill>
                  <a:srgbClr val="7F7F7F"/>
                </a:solidFill>
                <a:latin typeface="メイリオ"/>
                <a:ea typeface="メイリオ"/>
                <a:cs typeface="メイリオ"/>
              </a:rPr>
              <a:t>586万人 / 68万人</a:t>
            </a:r>
          </a:p>
        </p:txBody>
      </p:sp>
      <p:sp>
        <p:nvSpPr>
          <p:cNvPr id="9" name="TextBox 8"/>
          <p:cNvSpPr txBox="1"/>
          <p:nvPr/>
        </p:nvSpPr>
        <p:spPr>
          <a:xfrm>
            <a:off x="691200" y="2538000"/>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・積水ハウス・一条工務店</a:t>
            </a:r>
          </a:p>
        </p:txBody>
      </p:sp>
      <p:sp>
        <p:nvSpPr>
          <p:cNvPr id="10" name="TextBox 9"/>
          <p:cNvSpPr txBox="1"/>
          <p:nvPr/>
        </p:nvSpPr>
        <p:spPr>
          <a:xfrm>
            <a:off x="691200" y="2970000"/>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・全社的な生活情報を配信</a:t>
            </a:r>
          </a:p>
        </p:txBody>
      </p:sp>
      <p:sp>
        <p:nvSpPr>
          <p:cNvPr id="11" name="TextBox 10"/>
          <p:cNvSpPr txBox="1"/>
          <p:nvPr/>
        </p:nvSpPr>
        <p:spPr>
          <a:xfrm>
            <a:off x="691200" y="3401999"/>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・注文住宅の検討層に絞られていない</a:t>
            </a:r>
          </a:p>
        </p:txBody>
      </p:sp>
      <p:sp>
        <p:nvSpPr>
          <p:cNvPr id="12" name="TextBox 11"/>
          <p:cNvSpPr txBox="1"/>
          <p:nvPr/>
        </p:nvSpPr>
        <p:spPr>
          <a:xfrm>
            <a:off x="691200" y="3833999"/>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・母体の知名度が前提。真似できない</a:t>
            </a:r>
          </a:p>
        </p:txBody>
      </p:sp>
      <p:sp>
        <p:nvSpPr>
          <p:cNvPr id="13" name="Rounded Rectangle 12"/>
          <p:cNvSpPr/>
          <p:nvPr/>
        </p:nvSpPr>
        <p:spPr>
          <a:xfrm>
            <a:off x="3556800" y="1655999"/>
            <a:ext cx="2793600" cy="2736000"/>
          </a:xfrm>
          <a:prstGeom prst="roundRect">
            <a:avLst>
              <a:gd name="adj" fmla="val 6000"/>
            </a:avLst>
          </a:prstGeom>
          <a:solidFill>
            <a:srgbClr val="F4F7FF"/>
          </a:solidFill>
          <a:ln w="2032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646800" y="1745999"/>
            <a:ext cx="2613600" cy="324000"/>
          </a:xfrm>
          <a:prstGeom prst="roundRect">
            <a:avLst>
              <a:gd name="adj" fmla="val 18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46800" y="1771200"/>
            <a:ext cx="2613600" cy="2736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B 商品特化型</a:t>
            </a:r>
          </a:p>
        </p:txBody>
      </p:sp>
      <p:sp>
        <p:nvSpPr>
          <p:cNvPr id="16" name="TextBox 15"/>
          <p:cNvSpPr txBox="1"/>
          <p:nvPr/>
        </p:nvSpPr>
        <p:spPr>
          <a:xfrm>
            <a:off x="3682800" y="2141999"/>
            <a:ext cx="2541600" cy="306000"/>
          </a:xfrm>
          <a:prstGeom prst="rect">
            <a:avLst/>
          </a:prstGeom>
          <a:noFill/>
        </p:spPr>
        <p:txBody>
          <a:bodyPr wrap="square" lIns="21600" tIns="7200" rIns="21600" bIns="7200" anchor="ctr">
            <a:spAutoFit/>
          </a:bodyPr>
          <a:lstStyle/>
          <a:p>
            <a:pPr algn="ctr"/>
            <a:r>
              <a:rPr sz="1700" b="1">
                <a:solidFill>
                  <a:srgbClr val="ED7D31"/>
                </a:solidFill>
                <a:latin typeface="メイリオ"/>
                <a:ea typeface="メイリオ"/>
                <a:cs typeface="メイリオ"/>
              </a:rPr>
              <a:t>7,093人</a:t>
            </a:r>
          </a:p>
        </p:txBody>
      </p:sp>
      <p:sp>
        <p:nvSpPr>
          <p:cNvPr id="17" name="TextBox 16"/>
          <p:cNvSpPr txBox="1"/>
          <p:nvPr/>
        </p:nvSpPr>
        <p:spPr>
          <a:xfrm>
            <a:off x="3700800" y="2538000"/>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・住友林業の家</a:t>
            </a:r>
          </a:p>
        </p:txBody>
      </p:sp>
      <p:sp>
        <p:nvSpPr>
          <p:cNvPr id="18" name="TextBox 17"/>
          <p:cNvSpPr txBox="1"/>
          <p:nvPr/>
        </p:nvSpPr>
        <p:spPr>
          <a:xfrm>
            <a:off x="3700800" y="2970000"/>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・「家づくり情報」に絞って配信</a:t>
            </a:r>
          </a:p>
        </p:txBody>
      </p:sp>
      <p:sp>
        <p:nvSpPr>
          <p:cNvPr id="19" name="TextBox 18"/>
          <p:cNvSpPr txBox="1"/>
          <p:nvPr/>
        </p:nvSpPr>
        <p:spPr>
          <a:xfrm>
            <a:off x="3700800" y="3401999"/>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・数は少ないが検討層の純度が高い</a:t>
            </a:r>
          </a:p>
        </p:txBody>
      </p:sp>
      <p:sp>
        <p:nvSpPr>
          <p:cNvPr id="20" name="TextBox 19"/>
          <p:cNvSpPr txBox="1"/>
          <p:nvPr/>
        </p:nvSpPr>
        <p:spPr>
          <a:xfrm>
            <a:off x="3700800" y="3833999"/>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・【仮説】注文住宅で参考にすべき型</a:t>
            </a:r>
          </a:p>
        </p:txBody>
      </p:sp>
      <p:sp>
        <p:nvSpPr>
          <p:cNvPr id="21" name="Rounded Rectangle 20"/>
          <p:cNvSpPr/>
          <p:nvPr/>
        </p:nvSpPr>
        <p:spPr>
          <a:xfrm>
            <a:off x="6566400" y="1655999"/>
            <a:ext cx="2793600" cy="2736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656400" y="1745999"/>
            <a:ext cx="2613600" cy="324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56400" y="1771200"/>
            <a:ext cx="2613600" cy="2736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C 事業部・エリア型</a:t>
            </a:r>
          </a:p>
        </p:txBody>
      </p:sp>
      <p:sp>
        <p:nvSpPr>
          <p:cNvPr id="24" name="TextBox 23"/>
          <p:cNvSpPr txBox="1"/>
          <p:nvPr/>
        </p:nvSpPr>
        <p:spPr>
          <a:xfrm>
            <a:off x="6692400" y="2141999"/>
            <a:ext cx="2541600" cy="306000"/>
          </a:xfrm>
          <a:prstGeom prst="rect">
            <a:avLst/>
          </a:prstGeom>
          <a:noFill/>
        </p:spPr>
        <p:txBody>
          <a:bodyPr wrap="square" lIns="21600" tIns="7200" rIns="21600" bIns="7200" anchor="ctr">
            <a:spAutoFit/>
          </a:bodyPr>
          <a:lstStyle/>
          <a:p>
            <a:pPr algn="ctr"/>
            <a:r>
              <a:rPr sz="1700" b="1">
                <a:solidFill>
                  <a:srgbClr val="1F285A"/>
                </a:solidFill>
                <a:latin typeface="メイリオ"/>
                <a:ea typeface="メイリオ"/>
                <a:cs typeface="メイリオ"/>
              </a:rPr>
              <a:t>1,950人</a:t>
            </a:r>
          </a:p>
        </p:txBody>
      </p:sp>
      <p:sp>
        <p:nvSpPr>
          <p:cNvPr id="25" name="TextBox 24"/>
          <p:cNvSpPr txBox="1"/>
          <p:nvPr/>
        </p:nvSpPr>
        <p:spPr>
          <a:xfrm>
            <a:off x="6710400" y="2538000"/>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・ポラス（戸建分譲事業部）</a:t>
            </a:r>
          </a:p>
        </p:txBody>
      </p:sp>
      <p:sp>
        <p:nvSpPr>
          <p:cNvPr id="26" name="TextBox 25"/>
          <p:cNvSpPr txBox="1"/>
          <p:nvPr/>
        </p:nvSpPr>
        <p:spPr>
          <a:xfrm>
            <a:off x="6710400" y="2970000"/>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・分譲/注文、エリアで分ける</a:t>
            </a:r>
          </a:p>
        </p:txBody>
      </p:sp>
      <p:sp>
        <p:nvSpPr>
          <p:cNvPr id="27" name="TextBox 26"/>
          <p:cNvSpPr txBox="1"/>
          <p:nvPr/>
        </p:nvSpPr>
        <p:spPr>
          <a:xfrm>
            <a:off x="6710400" y="3401999"/>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・営業所単位の運用に向く</a:t>
            </a:r>
          </a:p>
        </p:txBody>
      </p:sp>
      <p:sp>
        <p:nvSpPr>
          <p:cNvPr id="28" name="TextBox 27"/>
          <p:cNvSpPr txBox="1"/>
          <p:nvPr/>
        </p:nvSpPr>
        <p:spPr>
          <a:xfrm>
            <a:off x="6710400" y="3833999"/>
            <a:ext cx="2505600" cy="413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・配信内容を地域に寄せられる</a:t>
            </a:r>
          </a:p>
        </p:txBody>
      </p:sp>
      <p:sp>
        <p:nvSpPr>
          <p:cNvPr id="29" name="Rounded Rectangle 28"/>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狙うのは友だち数ではなく、家を建てたい人だけが入っている状態</a:t>
            </a:r>
          </a:p>
        </p:txBody>
      </p:sp>
      <p:sp>
        <p:nvSpPr>
          <p:cNvPr id="30" name="TextBox 29"/>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※分類は上記7社の公開プロフィール・アカウント設計から弊社が整理したものです（2026年8月26日時点）。</a:t>
            </a:r>
          </a:p>
        </p:txBody>
      </p:sp>
    </p:spTree>
    <p:extLst>
      <p:ext uri="{BB962C8B-B14F-4D97-AF65-F5344CB8AC3E}">
        <p14:creationId xmlns:p14="http://schemas.microsoft.com/office/powerpoint/2010/main" val="653866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全体設計①｜いま、どこで落ちているのか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広告で集めた検討者が、契約に至るまでに3か所で落ちています。</a:t>
            </a:r>
          </a:p>
          <a:p>
            <a:pPr algn="l">
              <a:spcAft>
                <a:spcPts val="300"/>
              </a:spcAft>
            </a:pPr>
            <a:r>
              <a:rPr sz="1250" b="1">
                <a:solidFill>
                  <a:srgbClr val="333333"/>
                </a:solidFill>
                <a:latin typeface="メイリオ"/>
                <a:ea typeface="メイリオ"/>
                <a:cs typeface="メイリオ"/>
              </a:rPr>
              <a:t>落ちているのは商品力ではなく、8〜12か月の検討期間に接点が切れることが原因です。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92000"/>
            <a:ext cx="1318800" cy="3780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3200" y="1692000"/>
            <a:ext cx="1246800" cy="378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① 接触</a:t>
            </a:r>
          </a:p>
        </p:txBody>
      </p:sp>
      <p:sp>
        <p:nvSpPr>
          <p:cNvPr id="7" name="Rounded Rectangle 6"/>
          <p:cNvSpPr/>
          <p:nvPr/>
        </p:nvSpPr>
        <p:spPr>
          <a:xfrm>
            <a:off x="547200" y="2141999"/>
            <a:ext cx="1318800" cy="118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3200" y="2250000"/>
            <a:ext cx="1246800" cy="540000"/>
          </a:xfrm>
          <a:prstGeom prst="rect">
            <a:avLst/>
          </a:prstGeom>
          <a:noFill/>
        </p:spPr>
        <p:txBody>
          <a:bodyPr wrap="square" lIns="21600" tIns="7200" rIns="21600" bIns="7200" anchor="ctr">
            <a:spAutoFit/>
          </a:bodyPr>
          <a:lstStyle/>
          <a:p>
            <a:pPr algn="ctr"/>
            <a:r>
              <a:rPr sz="2200" b="1">
                <a:solidFill>
                  <a:srgbClr val="7F7F7F"/>
                </a:solidFill>
                <a:latin typeface="メイリオ"/>
                <a:ea typeface="メイリオ"/>
                <a:cs typeface="メイリオ"/>
              </a:rPr>
              <a:t>3,000</a:t>
            </a:r>
          </a:p>
        </p:txBody>
      </p:sp>
      <p:sp>
        <p:nvSpPr>
          <p:cNvPr id="9" name="TextBox 8"/>
          <p:cNvSpPr txBox="1"/>
          <p:nvPr/>
        </p:nvSpPr>
        <p:spPr>
          <a:xfrm>
            <a:off x="583200" y="2790000"/>
            <a:ext cx="1246800" cy="432000"/>
          </a:xfrm>
          <a:prstGeom prst="rect">
            <a:avLst/>
          </a:prstGeom>
          <a:noFill/>
        </p:spPr>
        <p:txBody>
          <a:bodyPr wrap="square" lIns="21600" tIns="7200" rIns="21600" bIns="7200" anchor="t">
            <a:spAutoFit/>
          </a:bodyPr>
          <a:lstStyle/>
          <a:p>
            <a:pPr algn="ctr"/>
            <a:r>
              <a:rPr sz="1000" b="0">
                <a:solidFill>
                  <a:srgbClr val="7F7F7F"/>
                </a:solidFill>
                <a:latin typeface="メイリオ"/>
                <a:ea typeface="メイリオ"/>
                <a:cs typeface="メイリオ"/>
              </a:rPr>
              <a:t>セッション/月</a:t>
            </a:r>
          </a:p>
        </p:txBody>
      </p:sp>
      <p:sp>
        <p:nvSpPr>
          <p:cNvPr id="10" name="TextBox 9"/>
          <p:cNvSpPr txBox="1"/>
          <p:nvPr/>
        </p:nvSpPr>
        <p:spPr>
          <a:xfrm>
            <a:off x="1866000" y="2520000"/>
            <a:ext cx="180000" cy="360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a:t>
            </a:r>
          </a:p>
        </p:txBody>
      </p:sp>
      <p:sp>
        <p:nvSpPr>
          <p:cNvPr id="11" name="Rounded Rectangle 10"/>
          <p:cNvSpPr/>
          <p:nvPr/>
        </p:nvSpPr>
        <p:spPr>
          <a:xfrm>
            <a:off x="2046000" y="1692000"/>
            <a:ext cx="1318800" cy="378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82000" y="1692000"/>
            <a:ext cx="1246800" cy="378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② LP到達</a:t>
            </a:r>
          </a:p>
        </p:txBody>
      </p:sp>
      <p:sp>
        <p:nvSpPr>
          <p:cNvPr id="13" name="Rounded Rectangle 12"/>
          <p:cNvSpPr/>
          <p:nvPr/>
        </p:nvSpPr>
        <p:spPr>
          <a:xfrm>
            <a:off x="2046000" y="2141999"/>
            <a:ext cx="1318800" cy="1188000"/>
          </a:xfrm>
          <a:prstGeom prst="roundRect">
            <a:avLst>
              <a:gd name="adj" fmla="val 6000"/>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82000" y="2250000"/>
            <a:ext cx="1246800" cy="540000"/>
          </a:xfrm>
          <a:prstGeom prst="rect">
            <a:avLst/>
          </a:prstGeom>
          <a:noFill/>
        </p:spPr>
        <p:txBody>
          <a:bodyPr wrap="square" lIns="21600" tIns="7200" rIns="21600" bIns="7200" anchor="ctr">
            <a:spAutoFit/>
          </a:bodyPr>
          <a:lstStyle/>
          <a:p>
            <a:pPr algn="ctr"/>
            <a:r>
              <a:rPr sz="2200" b="1">
                <a:solidFill>
                  <a:srgbClr val="C00000"/>
                </a:solidFill>
                <a:latin typeface="メイリオ"/>
                <a:ea typeface="メイリオ"/>
                <a:cs typeface="メイリオ"/>
              </a:rPr>
              <a:t>2,940</a:t>
            </a:r>
          </a:p>
        </p:txBody>
      </p:sp>
      <p:sp>
        <p:nvSpPr>
          <p:cNvPr id="15" name="TextBox 14"/>
          <p:cNvSpPr txBox="1"/>
          <p:nvPr/>
        </p:nvSpPr>
        <p:spPr>
          <a:xfrm>
            <a:off x="2082000" y="2790000"/>
            <a:ext cx="1246800" cy="432000"/>
          </a:xfrm>
          <a:prstGeom prst="rect">
            <a:avLst/>
          </a:prstGeom>
          <a:noFill/>
        </p:spPr>
        <p:txBody>
          <a:bodyPr wrap="square" lIns="21600" tIns="7200" rIns="21600" bIns="7200" anchor="t">
            <a:spAutoFit/>
          </a:bodyPr>
          <a:lstStyle/>
          <a:p>
            <a:pPr algn="ctr"/>
            <a:r>
              <a:rPr sz="1000" b="1">
                <a:solidFill>
                  <a:srgbClr val="C00000"/>
                </a:solidFill>
                <a:latin typeface="メイリオ"/>
                <a:ea typeface="メイリオ"/>
                <a:cs typeface="メイリオ"/>
              </a:rPr>
              <a:t>98%が離脱</a:t>
            </a:r>
          </a:p>
        </p:txBody>
      </p:sp>
      <p:sp>
        <p:nvSpPr>
          <p:cNvPr id="16" name="TextBox 15"/>
          <p:cNvSpPr txBox="1"/>
          <p:nvPr/>
        </p:nvSpPr>
        <p:spPr>
          <a:xfrm>
            <a:off x="3364800" y="2520000"/>
            <a:ext cx="180000" cy="360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a:t>
            </a:r>
          </a:p>
        </p:txBody>
      </p:sp>
      <p:sp>
        <p:nvSpPr>
          <p:cNvPr id="17" name="Rounded Rectangle 16"/>
          <p:cNvSpPr/>
          <p:nvPr/>
        </p:nvSpPr>
        <p:spPr>
          <a:xfrm>
            <a:off x="2046000" y="3438000"/>
            <a:ext cx="1318800" cy="360000"/>
          </a:xfrm>
          <a:prstGeom prst="roundRect">
            <a:avLst>
              <a:gd name="adj" fmla="val 1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82000" y="3438000"/>
            <a:ext cx="124680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対策なし</a:t>
            </a:r>
          </a:p>
        </p:txBody>
      </p:sp>
      <p:sp>
        <p:nvSpPr>
          <p:cNvPr id="19" name="Rounded Rectangle 18"/>
          <p:cNvSpPr/>
          <p:nvPr/>
        </p:nvSpPr>
        <p:spPr>
          <a:xfrm>
            <a:off x="3544800" y="1692000"/>
            <a:ext cx="1318800" cy="3780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80800" y="1692000"/>
            <a:ext cx="1246800" cy="378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③ 資料請求</a:t>
            </a:r>
          </a:p>
        </p:txBody>
      </p:sp>
      <p:sp>
        <p:nvSpPr>
          <p:cNvPr id="21" name="Rounded Rectangle 20"/>
          <p:cNvSpPr/>
          <p:nvPr/>
        </p:nvSpPr>
        <p:spPr>
          <a:xfrm>
            <a:off x="3544800" y="2141999"/>
            <a:ext cx="1318800" cy="118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80800" y="2250000"/>
            <a:ext cx="1246800" cy="540000"/>
          </a:xfrm>
          <a:prstGeom prst="rect">
            <a:avLst/>
          </a:prstGeom>
          <a:noFill/>
        </p:spPr>
        <p:txBody>
          <a:bodyPr wrap="square" lIns="21600" tIns="7200" rIns="21600" bIns="7200" anchor="ctr">
            <a:spAutoFit/>
          </a:bodyPr>
          <a:lstStyle/>
          <a:p>
            <a:pPr algn="ctr"/>
            <a:r>
              <a:rPr sz="2200" b="1">
                <a:solidFill>
                  <a:srgbClr val="7F7F7F"/>
                </a:solidFill>
                <a:latin typeface="メイリオ"/>
                <a:ea typeface="メイリオ"/>
                <a:cs typeface="メイリオ"/>
              </a:rPr>
              <a:t>60件</a:t>
            </a:r>
          </a:p>
        </p:txBody>
      </p:sp>
      <p:sp>
        <p:nvSpPr>
          <p:cNvPr id="23" name="TextBox 22"/>
          <p:cNvSpPr txBox="1"/>
          <p:nvPr/>
        </p:nvSpPr>
        <p:spPr>
          <a:xfrm>
            <a:off x="3580800" y="2790000"/>
            <a:ext cx="1246800" cy="432000"/>
          </a:xfrm>
          <a:prstGeom prst="rect">
            <a:avLst/>
          </a:prstGeom>
          <a:noFill/>
        </p:spPr>
        <p:txBody>
          <a:bodyPr wrap="square" lIns="21600" tIns="7200" rIns="21600" bIns="7200" anchor="t">
            <a:spAutoFit/>
          </a:bodyPr>
          <a:lstStyle/>
          <a:p>
            <a:pPr algn="ctr"/>
            <a:r>
              <a:rPr sz="1000" b="0">
                <a:solidFill>
                  <a:srgbClr val="7F7F7F"/>
                </a:solidFill>
                <a:latin typeface="メイリオ"/>
                <a:ea typeface="メイリオ"/>
                <a:cs typeface="メイリオ"/>
              </a:rPr>
              <a:t>CVR 2.0%</a:t>
            </a:r>
          </a:p>
        </p:txBody>
      </p:sp>
      <p:sp>
        <p:nvSpPr>
          <p:cNvPr id="24" name="TextBox 23"/>
          <p:cNvSpPr txBox="1"/>
          <p:nvPr/>
        </p:nvSpPr>
        <p:spPr>
          <a:xfrm>
            <a:off x="4863600" y="2520000"/>
            <a:ext cx="180000" cy="360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a:t>
            </a:r>
          </a:p>
        </p:txBody>
      </p:sp>
      <p:sp>
        <p:nvSpPr>
          <p:cNvPr id="25" name="Rounded Rectangle 24"/>
          <p:cNvSpPr/>
          <p:nvPr/>
        </p:nvSpPr>
        <p:spPr>
          <a:xfrm>
            <a:off x="5043600" y="1692000"/>
            <a:ext cx="1318800" cy="378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79600" y="1692000"/>
            <a:ext cx="1246800" cy="378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④ 来場予約</a:t>
            </a:r>
          </a:p>
        </p:txBody>
      </p:sp>
      <p:sp>
        <p:nvSpPr>
          <p:cNvPr id="27" name="Rounded Rectangle 26"/>
          <p:cNvSpPr/>
          <p:nvPr/>
        </p:nvSpPr>
        <p:spPr>
          <a:xfrm>
            <a:off x="5043600" y="2141999"/>
            <a:ext cx="1318800" cy="1188000"/>
          </a:xfrm>
          <a:prstGeom prst="roundRect">
            <a:avLst>
              <a:gd name="adj" fmla="val 6000"/>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79600" y="2250000"/>
            <a:ext cx="1246800" cy="540000"/>
          </a:xfrm>
          <a:prstGeom prst="rect">
            <a:avLst/>
          </a:prstGeom>
          <a:noFill/>
        </p:spPr>
        <p:txBody>
          <a:bodyPr wrap="square" lIns="21600" tIns="7200" rIns="21600" bIns="7200" anchor="ctr">
            <a:spAutoFit/>
          </a:bodyPr>
          <a:lstStyle/>
          <a:p>
            <a:pPr algn="ctr"/>
            <a:r>
              <a:rPr sz="2200" b="1">
                <a:solidFill>
                  <a:srgbClr val="C00000"/>
                </a:solidFill>
                <a:latin typeface="メイリオ"/>
                <a:ea typeface="メイリオ"/>
                <a:cs typeface="メイリオ"/>
              </a:rPr>
              <a:t>15件</a:t>
            </a:r>
          </a:p>
        </p:txBody>
      </p:sp>
      <p:sp>
        <p:nvSpPr>
          <p:cNvPr id="29" name="TextBox 28"/>
          <p:cNvSpPr txBox="1"/>
          <p:nvPr/>
        </p:nvSpPr>
        <p:spPr>
          <a:xfrm>
            <a:off x="5079600" y="2790000"/>
            <a:ext cx="1246800" cy="432000"/>
          </a:xfrm>
          <a:prstGeom prst="rect">
            <a:avLst/>
          </a:prstGeom>
          <a:noFill/>
        </p:spPr>
        <p:txBody>
          <a:bodyPr wrap="square" lIns="21600" tIns="7200" rIns="21600" bIns="7200" anchor="t">
            <a:spAutoFit/>
          </a:bodyPr>
          <a:lstStyle/>
          <a:p>
            <a:pPr algn="ctr"/>
            <a:r>
              <a:rPr sz="1000" b="1">
                <a:solidFill>
                  <a:srgbClr val="C00000"/>
                </a:solidFill>
                <a:latin typeface="メイリオ"/>
                <a:ea typeface="メイリオ"/>
                <a:cs typeface="メイリオ"/>
              </a:rPr>
              <a:t>45件が来場せず</a:t>
            </a:r>
          </a:p>
        </p:txBody>
      </p:sp>
      <p:sp>
        <p:nvSpPr>
          <p:cNvPr id="30" name="TextBox 29"/>
          <p:cNvSpPr txBox="1"/>
          <p:nvPr/>
        </p:nvSpPr>
        <p:spPr>
          <a:xfrm>
            <a:off x="6362400" y="2520000"/>
            <a:ext cx="180000" cy="360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a:t>
            </a:r>
          </a:p>
        </p:txBody>
      </p:sp>
      <p:sp>
        <p:nvSpPr>
          <p:cNvPr id="31" name="Rounded Rectangle 30"/>
          <p:cNvSpPr/>
          <p:nvPr/>
        </p:nvSpPr>
        <p:spPr>
          <a:xfrm>
            <a:off x="5043600" y="3438000"/>
            <a:ext cx="1318800" cy="360000"/>
          </a:xfrm>
          <a:prstGeom prst="roundRect">
            <a:avLst>
              <a:gd name="adj" fmla="val 1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79600" y="3438000"/>
            <a:ext cx="124680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電話・メールのみ</a:t>
            </a:r>
          </a:p>
        </p:txBody>
      </p:sp>
      <p:sp>
        <p:nvSpPr>
          <p:cNvPr id="33" name="Rounded Rectangle 32"/>
          <p:cNvSpPr/>
          <p:nvPr/>
        </p:nvSpPr>
        <p:spPr>
          <a:xfrm>
            <a:off x="6542400" y="1692000"/>
            <a:ext cx="1318800" cy="378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78400" y="1692000"/>
            <a:ext cx="1246800" cy="378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⑤ 来場</a:t>
            </a:r>
          </a:p>
        </p:txBody>
      </p:sp>
      <p:sp>
        <p:nvSpPr>
          <p:cNvPr id="35" name="Rounded Rectangle 34"/>
          <p:cNvSpPr/>
          <p:nvPr/>
        </p:nvSpPr>
        <p:spPr>
          <a:xfrm>
            <a:off x="6542400" y="2141999"/>
            <a:ext cx="1318800" cy="1188000"/>
          </a:xfrm>
          <a:prstGeom prst="roundRect">
            <a:avLst>
              <a:gd name="adj" fmla="val 6000"/>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78400" y="2250000"/>
            <a:ext cx="1246800" cy="540000"/>
          </a:xfrm>
          <a:prstGeom prst="rect">
            <a:avLst/>
          </a:prstGeom>
          <a:noFill/>
        </p:spPr>
        <p:txBody>
          <a:bodyPr wrap="square" lIns="21600" tIns="7200" rIns="21600" bIns="7200" anchor="ctr">
            <a:spAutoFit/>
          </a:bodyPr>
          <a:lstStyle/>
          <a:p>
            <a:pPr algn="ctr"/>
            <a:r>
              <a:rPr sz="2200" b="1">
                <a:solidFill>
                  <a:srgbClr val="C00000"/>
                </a:solidFill>
                <a:latin typeface="メイリオ"/>
                <a:ea typeface="メイリオ"/>
                <a:cs typeface="メイリオ"/>
              </a:rPr>
              <a:t>13件</a:t>
            </a:r>
          </a:p>
        </p:txBody>
      </p:sp>
      <p:sp>
        <p:nvSpPr>
          <p:cNvPr id="37" name="TextBox 36"/>
          <p:cNvSpPr txBox="1"/>
          <p:nvPr/>
        </p:nvSpPr>
        <p:spPr>
          <a:xfrm>
            <a:off x="6578400" y="2790000"/>
            <a:ext cx="1246800" cy="432000"/>
          </a:xfrm>
          <a:prstGeom prst="rect">
            <a:avLst/>
          </a:prstGeom>
          <a:noFill/>
        </p:spPr>
        <p:txBody>
          <a:bodyPr wrap="square" lIns="21600" tIns="7200" rIns="21600" bIns="7200" anchor="t">
            <a:spAutoFit/>
          </a:bodyPr>
          <a:lstStyle/>
          <a:p>
            <a:pPr algn="ctr"/>
            <a:r>
              <a:rPr sz="1000" b="1">
                <a:solidFill>
                  <a:srgbClr val="C00000"/>
                </a:solidFill>
                <a:latin typeface="メイリオ"/>
                <a:ea typeface="メイリオ"/>
                <a:cs typeface="メイリオ"/>
              </a:rPr>
              <a:t>2件が未来場</a:t>
            </a:r>
          </a:p>
        </p:txBody>
      </p:sp>
      <p:sp>
        <p:nvSpPr>
          <p:cNvPr id="38" name="TextBox 37"/>
          <p:cNvSpPr txBox="1"/>
          <p:nvPr/>
        </p:nvSpPr>
        <p:spPr>
          <a:xfrm>
            <a:off x="7861200" y="2520000"/>
            <a:ext cx="180000" cy="360000"/>
          </a:xfrm>
          <a:prstGeom prst="rect">
            <a:avLst/>
          </a:prstGeom>
          <a:noFill/>
        </p:spPr>
        <p:txBody>
          <a:bodyPr wrap="square" lIns="21600" tIns="7200" rIns="21600" bIns="7200" anchor="ctr">
            <a:spAutoFit/>
          </a:bodyPr>
          <a:lstStyle/>
          <a:p>
            <a:pPr algn="ctr"/>
            <a:r>
              <a:rPr sz="1300" b="1">
                <a:solidFill>
                  <a:srgbClr val="7F7F7F"/>
                </a:solidFill>
                <a:latin typeface="メイリオ"/>
                <a:ea typeface="メイリオ"/>
                <a:cs typeface="メイリオ"/>
              </a:rPr>
              <a:t>▶</a:t>
            </a:r>
          </a:p>
        </p:txBody>
      </p:sp>
      <p:sp>
        <p:nvSpPr>
          <p:cNvPr id="39" name="Rounded Rectangle 38"/>
          <p:cNvSpPr/>
          <p:nvPr/>
        </p:nvSpPr>
        <p:spPr>
          <a:xfrm>
            <a:off x="6542400" y="3438000"/>
            <a:ext cx="1318800" cy="360000"/>
          </a:xfrm>
          <a:prstGeom prst="roundRect">
            <a:avLst>
              <a:gd name="adj" fmla="val 1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8400" y="3438000"/>
            <a:ext cx="124680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前日連絡なし</a:t>
            </a:r>
          </a:p>
        </p:txBody>
      </p:sp>
      <p:sp>
        <p:nvSpPr>
          <p:cNvPr id="41" name="Rounded Rectangle 40"/>
          <p:cNvSpPr/>
          <p:nvPr/>
        </p:nvSpPr>
        <p:spPr>
          <a:xfrm>
            <a:off x="8041200" y="1692000"/>
            <a:ext cx="1318800" cy="3780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077200" y="1692000"/>
            <a:ext cx="1246800" cy="378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⑥ 契約</a:t>
            </a:r>
          </a:p>
        </p:txBody>
      </p:sp>
      <p:sp>
        <p:nvSpPr>
          <p:cNvPr id="43" name="Rounded Rectangle 42"/>
          <p:cNvSpPr/>
          <p:nvPr/>
        </p:nvSpPr>
        <p:spPr>
          <a:xfrm>
            <a:off x="8041200" y="2141999"/>
            <a:ext cx="1318800" cy="118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77200" y="2250000"/>
            <a:ext cx="1246800" cy="540000"/>
          </a:xfrm>
          <a:prstGeom prst="rect">
            <a:avLst/>
          </a:prstGeom>
          <a:noFill/>
        </p:spPr>
        <p:txBody>
          <a:bodyPr wrap="square" lIns="21600" tIns="7200" rIns="21600" bIns="7200" anchor="ctr">
            <a:spAutoFit/>
          </a:bodyPr>
          <a:lstStyle/>
          <a:p>
            <a:pPr algn="ctr"/>
            <a:r>
              <a:rPr sz="2200" b="1">
                <a:solidFill>
                  <a:srgbClr val="7F7F7F"/>
                </a:solidFill>
                <a:latin typeface="メイリオ"/>
                <a:ea typeface="メイリオ"/>
                <a:cs typeface="メイリオ"/>
              </a:rPr>
              <a:t>1.5件</a:t>
            </a:r>
          </a:p>
        </p:txBody>
      </p:sp>
      <p:sp>
        <p:nvSpPr>
          <p:cNvPr id="45" name="TextBox 44"/>
          <p:cNvSpPr txBox="1"/>
          <p:nvPr/>
        </p:nvSpPr>
        <p:spPr>
          <a:xfrm>
            <a:off x="8077200" y="2790000"/>
            <a:ext cx="1246800" cy="432000"/>
          </a:xfrm>
          <a:prstGeom prst="rect">
            <a:avLst/>
          </a:prstGeom>
          <a:noFill/>
        </p:spPr>
        <p:txBody>
          <a:bodyPr wrap="square" lIns="21600" tIns="7200" rIns="21600" bIns="7200" anchor="t">
            <a:spAutoFit/>
          </a:bodyPr>
          <a:lstStyle/>
          <a:p>
            <a:pPr algn="ctr"/>
            <a:r>
              <a:rPr sz="1000" b="0">
                <a:solidFill>
                  <a:srgbClr val="7F7F7F"/>
                </a:solidFill>
                <a:latin typeface="メイリオ"/>
                <a:ea typeface="メイリオ"/>
                <a:cs typeface="メイリオ"/>
              </a:rPr>
              <a:t>来場→契約 10%</a:t>
            </a:r>
          </a:p>
        </p:txBody>
      </p:sp>
      <p:sp>
        <p:nvSpPr>
          <p:cNvPr id="46" name="TextBox 45"/>
          <p:cNvSpPr txBox="1"/>
          <p:nvPr/>
        </p:nvSpPr>
        <p:spPr>
          <a:xfrm>
            <a:off x="547200" y="3960000"/>
            <a:ext cx="8812800" cy="288000"/>
          </a:xfrm>
          <a:prstGeom prst="rect">
            <a:avLst/>
          </a:prstGeom>
          <a:noFill/>
        </p:spPr>
        <p:txBody>
          <a:bodyPr wrap="square" lIns="21600" tIns="7200" rIns="21600" bIns="7200" anchor="t">
            <a:spAutoFit/>
          </a:bodyPr>
          <a:lstStyle/>
          <a:p>
            <a:pPr algn="l"/>
            <a:r>
              <a:rPr sz="1300" b="1">
                <a:solidFill>
                  <a:srgbClr val="C00000"/>
                </a:solidFill>
                <a:latin typeface="メイリオ"/>
                <a:ea typeface="メイリオ"/>
                <a:cs typeface="メイリオ"/>
              </a:rPr>
              <a:t>落ちている3か所は、いずれも「追いかける手段がない」ことが原因です</a:t>
            </a:r>
          </a:p>
        </p:txBody>
      </p:sp>
      <p:sp>
        <p:nvSpPr>
          <p:cNvPr id="47" name="Rounded Rectangle 46"/>
          <p:cNvSpPr/>
          <p:nvPr/>
        </p:nvSpPr>
        <p:spPr>
          <a:xfrm>
            <a:off x="547200" y="4320000"/>
            <a:ext cx="2817600" cy="1332000"/>
          </a:xfrm>
          <a:prstGeom prst="roundRect">
            <a:avLst>
              <a:gd name="adj" fmla="val 6000"/>
            </a:avLst>
          </a:prstGeom>
          <a:solidFill>
            <a:srgbClr val="FFFFFF"/>
          </a:solidFill>
          <a:ln w="1524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547200" y="4320000"/>
            <a:ext cx="281760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9200" y="4320000"/>
            <a:ext cx="2673600" cy="36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② LPを離れた2,940人</a:t>
            </a:r>
          </a:p>
        </p:txBody>
      </p:sp>
      <p:sp>
        <p:nvSpPr>
          <p:cNvPr id="50" name="TextBox 49"/>
          <p:cNvSpPr txBox="1"/>
          <p:nvPr/>
        </p:nvSpPr>
        <p:spPr>
          <a:xfrm>
            <a:off x="691200" y="4752000"/>
            <a:ext cx="2529600" cy="324000"/>
          </a:xfrm>
          <a:prstGeom prst="rect">
            <a:avLst/>
          </a:prstGeom>
          <a:noFill/>
        </p:spPr>
        <p:txBody>
          <a:bodyPr wrap="square" lIns="21600" tIns="7200" rIns="21600" bIns="7200" anchor="t">
            <a:spAutoFit/>
          </a:bodyPr>
          <a:lstStyle/>
          <a:p>
            <a:pPr algn="l"/>
            <a:r>
              <a:rPr sz="1150" b="1">
                <a:solidFill>
                  <a:srgbClr val="C00000"/>
                </a:solidFill>
                <a:latin typeface="メイリオ"/>
                <a:ea typeface="メイリオ"/>
                <a:cs typeface="メイリオ"/>
              </a:rPr>
              <a:t>二度と接点を持てない</a:t>
            </a:r>
          </a:p>
        </p:txBody>
      </p:sp>
      <p:sp>
        <p:nvSpPr>
          <p:cNvPr id="51" name="TextBox 50"/>
          <p:cNvSpPr txBox="1"/>
          <p:nvPr/>
        </p:nvSpPr>
        <p:spPr>
          <a:xfrm>
            <a:off x="691200" y="5076000"/>
            <a:ext cx="2529600" cy="503999"/>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広告費は払い済み。当て直すには再び広告費が要る</a:t>
            </a:r>
          </a:p>
        </p:txBody>
      </p:sp>
      <p:sp>
        <p:nvSpPr>
          <p:cNvPr id="52" name="Rounded Rectangle 51"/>
          <p:cNvSpPr/>
          <p:nvPr/>
        </p:nvSpPr>
        <p:spPr>
          <a:xfrm>
            <a:off x="3544800" y="4320000"/>
            <a:ext cx="2817600" cy="1332000"/>
          </a:xfrm>
          <a:prstGeom prst="roundRect">
            <a:avLst>
              <a:gd name="adj" fmla="val 6000"/>
            </a:avLst>
          </a:prstGeom>
          <a:solidFill>
            <a:srgbClr val="FFFFFF"/>
          </a:solidFill>
          <a:ln w="1524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544800" y="4320000"/>
            <a:ext cx="281760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616800" y="4320000"/>
            <a:ext cx="2673600" cy="36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④ 資料請求後に来ない45件</a:t>
            </a:r>
          </a:p>
        </p:txBody>
      </p:sp>
      <p:sp>
        <p:nvSpPr>
          <p:cNvPr id="55" name="TextBox 54"/>
          <p:cNvSpPr txBox="1"/>
          <p:nvPr/>
        </p:nvSpPr>
        <p:spPr>
          <a:xfrm>
            <a:off x="3688800" y="4752000"/>
            <a:ext cx="2529600" cy="324000"/>
          </a:xfrm>
          <a:prstGeom prst="rect">
            <a:avLst/>
          </a:prstGeom>
          <a:noFill/>
        </p:spPr>
        <p:txBody>
          <a:bodyPr wrap="square" lIns="21600" tIns="7200" rIns="21600" bIns="7200" anchor="t">
            <a:spAutoFit/>
          </a:bodyPr>
          <a:lstStyle/>
          <a:p>
            <a:pPr algn="l"/>
            <a:r>
              <a:rPr sz="1150" b="1">
                <a:solidFill>
                  <a:srgbClr val="C00000"/>
                </a:solidFill>
                <a:latin typeface="メイリオ"/>
                <a:ea typeface="メイリオ"/>
                <a:cs typeface="メイリオ"/>
              </a:rPr>
              <a:t>電話とメールしか手段がない</a:t>
            </a:r>
          </a:p>
        </p:txBody>
      </p:sp>
      <p:sp>
        <p:nvSpPr>
          <p:cNvPr id="56" name="TextBox 55"/>
          <p:cNvSpPr txBox="1"/>
          <p:nvPr/>
        </p:nvSpPr>
        <p:spPr>
          <a:xfrm>
            <a:off x="3688800" y="5076000"/>
            <a:ext cx="2529600" cy="503999"/>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検討は8〜12か月。電話3回では追い切れない</a:t>
            </a:r>
          </a:p>
        </p:txBody>
      </p:sp>
      <p:sp>
        <p:nvSpPr>
          <p:cNvPr id="57" name="Rounded Rectangle 56"/>
          <p:cNvSpPr/>
          <p:nvPr/>
        </p:nvSpPr>
        <p:spPr>
          <a:xfrm>
            <a:off x="6542400" y="4320000"/>
            <a:ext cx="2817600" cy="1332000"/>
          </a:xfrm>
          <a:prstGeom prst="roundRect">
            <a:avLst>
              <a:gd name="adj" fmla="val 6000"/>
            </a:avLst>
          </a:prstGeom>
          <a:solidFill>
            <a:srgbClr val="FFFFFF"/>
          </a:solidFill>
          <a:ln w="1524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6542400" y="4320000"/>
            <a:ext cx="281760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14400" y="4320000"/>
            <a:ext cx="2673600" cy="36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⑤ 予約したのに来ない2件</a:t>
            </a:r>
          </a:p>
        </p:txBody>
      </p:sp>
      <p:sp>
        <p:nvSpPr>
          <p:cNvPr id="60" name="TextBox 59"/>
          <p:cNvSpPr txBox="1"/>
          <p:nvPr/>
        </p:nvSpPr>
        <p:spPr>
          <a:xfrm>
            <a:off x="6686400" y="4752000"/>
            <a:ext cx="2529600" cy="324000"/>
          </a:xfrm>
          <a:prstGeom prst="rect">
            <a:avLst/>
          </a:prstGeom>
          <a:noFill/>
        </p:spPr>
        <p:txBody>
          <a:bodyPr wrap="square" lIns="21600" tIns="7200" rIns="21600" bIns="7200" anchor="t">
            <a:spAutoFit/>
          </a:bodyPr>
          <a:lstStyle/>
          <a:p>
            <a:pPr algn="l"/>
            <a:r>
              <a:rPr sz="1150" b="1">
                <a:solidFill>
                  <a:srgbClr val="C00000"/>
                </a:solidFill>
                <a:latin typeface="メイリオ"/>
                <a:ea typeface="メイリオ"/>
                <a:cs typeface="メイリオ"/>
              </a:rPr>
              <a:t>前日の連絡が取れていない</a:t>
            </a:r>
          </a:p>
        </p:txBody>
      </p:sp>
      <p:sp>
        <p:nvSpPr>
          <p:cNvPr id="61" name="TextBox 60"/>
          <p:cNvSpPr txBox="1"/>
          <p:nvPr/>
        </p:nvSpPr>
        <p:spPr>
          <a:xfrm>
            <a:off x="6686400" y="5076000"/>
            <a:ext cx="2529600" cy="503999"/>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来場予約CPA 8〜15万円がそのまま消える</a:t>
            </a:r>
          </a:p>
        </p:txBody>
      </p:sp>
      <p:sp>
        <p:nvSpPr>
          <p:cNvPr id="62" name="Rounded Rectangle 61"/>
          <p:cNvSpPr/>
          <p:nvPr/>
        </p:nvSpPr>
        <p:spPr>
          <a:xfrm>
            <a:off x="547200" y="5706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商品ではなく、検討期間の途中で接点が切れることで落ちている</a:t>
            </a:r>
          </a:p>
        </p:txBody>
      </p:sp>
      <p:sp>
        <p:nvSpPr>
          <p:cNvPr id="63" name="TextBox 62"/>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※件数はLP流入3,000セッション／LP CVR2.0%／資料請求→来場25%／来場→契約10%の業界水準にもとづく試算です。</a:t>
            </a:r>
          </a:p>
        </p:txBody>
      </p:sp>
    </p:spTree>
    <p:extLst>
      <p:ext uri="{BB962C8B-B14F-4D97-AF65-F5344CB8AC3E}">
        <p14:creationId xmlns:p14="http://schemas.microsoft.com/office/powerpoint/2010/main" val="676230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全体設計②｜広告と営業はそのまま、間だけをLINEが埋める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広告の予算も、LPも、営業の進め方も変えません。接点が切れている区間だけを埋めます。</a:t>
            </a:r>
          </a:p>
          <a:p>
            <a:pPr algn="l">
              <a:spcAft>
                <a:spcPts val="300"/>
              </a:spcAft>
            </a:pPr>
            <a:r>
              <a:rPr sz="1250" b="1">
                <a:solidFill>
                  <a:srgbClr val="333333"/>
                </a:solidFill>
                <a:latin typeface="メイリオ"/>
                <a:ea typeface="メイリオ"/>
                <a:cs typeface="メイリオ"/>
              </a:rPr>
              <a:t>新しく足すのは、離脱者と資料請求者をLINEにためて来場までつなぐ仕組みだけです。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92000"/>
            <a:ext cx="991350" cy="360000"/>
          </a:xfrm>
          <a:prstGeom prst="roundRect">
            <a:avLst>
              <a:gd name="adj" fmla="val 14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① 接触</a:t>
            </a:r>
          </a:p>
        </p:txBody>
      </p:sp>
      <p:sp>
        <p:nvSpPr>
          <p:cNvPr id="7" name="Rounded Rectangle 6"/>
          <p:cNvSpPr/>
          <p:nvPr/>
        </p:nvSpPr>
        <p:spPr>
          <a:xfrm>
            <a:off x="54720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5200" y="2124000"/>
            <a:ext cx="955350" cy="6120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広告・SEO</a:t>
            </a:r>
          </a:p>
        </p:txBody>
      </p:sp>
      <p:sp>
        <p:nvSpPr>
          <p:cNvPr id="9" name="Rounded Rectangle 8"/>
          <p:cNvSpPr/>
          <p:nvPr/>
        </p:nvSpPr>
        <p:spPr>
          <a:xfrm>
            <a:off x="547200" y="3078000"/>
            <a:ext cx="991350" cy="972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200" y="3078000"/>
            <a:ext cx="955350" cy="9720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いまのまま</a:t>
            </a:r>
          </a:p>
        </p:txBody>
      </p:sp>
      <p:sp>
        <p:nvSpPr>
          <p:cNvPr id="11" name="Rounded Rectangle 10"/>
          <p:cNvSpPr/>
          <p:nvPr/>
        </p:nvSpPr>
        <p:spPr>
          <a:xfrm>
            <a:off x="1664550" y="1692000"/>
            <a:ext cx="99135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6455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② LP離脱</a:t>
            </a:r>
          </a:p>
        </p:txBody>
      </p:sp>
      <p:sp>
        <p:nvSpPr>
          <p:cNvPr id="13" name="Rounded Rectangle 12"/>
          <p:cNvSpPr/>
          <p:nvPr/>
        </p:nvSpPr>
        <p:spPr>
          <a:xfrm>
            <a:off x="166455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82550" y="2124000"/>
            <a:ext cx="955350" cy="6120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対策なし</a:t>
            </a:r>
          </a:p>
        </p:txBody>
      </p:sp>
      <p:sp>
        <p:nvSpPr>
          <p:cNvPr id="15" name="TextBox 14"/>
          <p:cNvSpPr txBox="1"/>
          <p:nvPr/>
        </p:nvSpPr>
        <p:spPr>
          <a:xfrm>
            <a:off x="1664550" y="2771999"/>
            <a:ext cx="991350" cy="270000"/>
          </a:xfrm>
          <a:prstGeom prst="rect">
            <a:avLst/>
          </a:prstGeom>
          <a:noFill/>
        </p:spPr>
        <p:txBody>
          <a:bodyPr wrap="square" lIns="21600" tIns="7200" rIns="21600" bIns="7200" anchor="ctr">
            <a:spAutoFit/>
          </a:bodyPr>
          <a:lstStyle/>
          <a:p>
            <a:pPr algn="ctr"/>
            <a:r>
              <a:rPr sz="1300" b="1">
                <a:solidFill>
                  <a:srgbClr val="06C755"/>
                </a:solidFill>
                <a:latin typeface="メイリオ"/>
                <a:ea typeface="メイリオ"/>
                <a:cs typeface="メイリオ"/>
              </a:rPr>
              <a:t>▼</a:t>
            </a:r>
          </a:p>
        </p:txBody>
      </p:sp>
      <p:sp>
        <p:nvSpPr>
          <p:cNvPr id="16" name="Rounded Rectangle 15"/>
          <p:cNvSpPr/>
          <p:nvPr/>
        </p:nvSpPr>
        <p:spPr>
          <a:xfrm>
            <a:off x="1664550" y="3078000"/>
            <a:ext cx="991350" cy="972000"/>
          </a:xfrm>
          <a:prstGeom prst="roundRect">
            <a:avLst>
              <a:gd name="adj" fmla="val 6000"/>
            </a:avLst>
          </a:prstGeom>
          <a:solidFill>
            <a:srgbClr val="F4F7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82550" y="3078000"/>
            <a:ext cx="955350" cy="972000"/>
          </a:xfrm>
          <a:prstGeom prst="rect">
            <a:avLst/>
          </a:prstGeom>
          <a:noFill/>
        </p:spPr>
        <p:txBody>
          <a:bodyPr wrap="square" lIns="21600" tIns="7200" rIns="21600" bIns="7200" anchor="ctr">
            <a:spAutoFit/>
          </a:bodyPr>
          <a:lstStyle/>
          <a:p>
            <a:pPr algn="ctr"/>
            <a:r>
              <a:rPr sz="950" b="1">
                <a:solidFill>
                  <a:srgbClr val="1F285A"/>
                </a:solidFill>
                <a:latin typeface="メイリオ"/>
                <a:ea typeface="メイリオ"/>
                <a:cs typeface="メイリオ"/>
              </a:rPr>
              <a:t>離脱防止</a:t>
            </a:r>
          </a:p>
          <a:p>
            <a:pPr algn="ctr"/>
            <a:r>
              <a:rPr sz="950" b="1">
                <a:solidFill>
                  <a:srgbClr val="1F285A"/>
                </a:solidFill>
                <a:latin typeface="メイリオ"/>
                <a:ea typeface="メイリオ"/>
                <a:cs typeface="メイリオ"/>
              </a:rPr>
              <a:t>ポップアップ</a:t>
            </a:r>
          </a:p>
        </p:txBody>
      </p:sp>
      <p:sp>
        <p:nvSpPr>
          <p:cNvPr id="18" name="Rounded Rectangle 17"/>
          <p:cNvSpPr/>
          <p:nvPr/>
        </p:nvSpPr>
        <p:spPr>
          <a:xfrm>
            <a:off x="2781900" y="1692000"/>
            <a:ext cx="99135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8190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③ 育成</a:t>
            </a:r>
          </a:p>
        </p:txBody>
      </p:sp>
      <p:sp>
        <p:nvSpPr>
          <p:cNvPr id="20" name="Rounded Rectangle 19"/>
          <p:cNvSpPr/>
          <p:nvPr/>
        </p:nvSpPr>
        <p:spPr>
          <a:xfrm>
            <a:off x="278190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99900" y="2124000"/>
            <a:ext cx="955350" cy="6120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対策なし</a:t>
            </a:r>
          </a:p>
        </p:txBody>
      </p:sp>
      <p:sp>
        <p:nvSpPr>
          <p:cNvPr id="22" name="TextBox 21"/>
          <p:cNvSpPr txBox="1"/>
          <p:nvPr/>
        </p:nvSpPr>
        <p:spPr>
          <a:xfrm>
            <a:off x="2781900" y="2771999"/>
            <a:ext cx="991350" cy="270000"/>
          </a:xfrm>
          <a:prstGeom prst="rect">
            <a:avLst/>
          </a:prstGeom>
          <a:noFill/>
        </p:spPr>
        <p:txBody>
          <a:bodyPr wrap="square" lIns="21600" tIns="7200" rIns="21600" bIns="7200" anchor="ctr">
            <a:spAutoFit/>
          </a:bodyPr>
          <a:lstStyle/>
          <a:p>
            <a:pPr algn="ctr"/>
            <a:r>
              <a:rPr sz="1300" b="1">
                <a:solidFill>
                  <a:srgbClr val="06C755"/>
                </a:solidFill>
                <a:latin typeface="メイリオ"/>
                <a:ea typeface="メイリオ"/>
                <a:cs typeface="メイリオ"/>
              </a:rPr>
              <a:t>▼</a:t>
            </a:r>
          </a:p>
        </p:txBody>
      </p:sp>
      <p:sp>
        <p:nvSpPr>
          <p:cNvPr id="23" name="Rounded Rectangle 22"/>
          <p:cNvSpPr/>
          <p:nvPr/>
        </p:nvSpPr>
        <p:spPr>
          <a:xfrm>
            <a:off x="2781900" y="3078000"/>
            <a:ext cx="991350" cy="972000"/>
          </a:xfrm>
          <a:prstGeom prst="roundRect">
            <a:avLst>
              <a:gd name="adj" fmla="val 6000"/>
            </a:avLst>
          </a:prstGeom>
          <a:solidFill>
            <a:srgbClr val="F4F7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99900" y="3078000"/>
            <a:ext cx="955350" cy="972000"/>
          </a:xfrm>
          <a:prstGeom prst="rect">
            <a:avLst/>
          </a:prstGeom>
          <a:noFill/>
        </p:spPr>
        <p:txBody>
          <a:bodyPr wrap="square" lIns="21600" tIns="7200" rIns="21600" bIns="7200" anchor="ctr">
            <a:spAutoFit/>
          </a:bodyPr>
          <a:lstStyle/>
          <a:p>
            <a:pPr algn="ctr"/>
            <a:r>
              <a:rPr sz="950" b="1">
                <a:solidFill>
                  <a:srgbClr val="1F285A"/>
                </a:solidFill>
                <a:latin typeface="メイリオ"/>
                <a:ea typeface="メイリオ"/>
                <a:cs typeface="メイリオ"/>
              </a:rPr>
              <a:t>60秒の</a:t>
            </a:r>
          </a:p>
          <a:p>
            <a:pPr algn="ctr"/>
            <a:r>
              <a:rPr sz="950" b="1">
                <a:solidFill>
                  <a:srgbClr val="1F285A"/>
                </a:solidFill>
                <a:latin typeface="メイリオ"/>
                <a:ea typeface="メイリオ"/>
                <a:cs typeface="メイリオ"/>
              </a:rPr>
              <a:t>予算診断</a:t>
            </a:r>
          </a:p>
        </p:txBody>
      </p:sp>
      <p:sp>
        <p:nvSpPr>
          <p:cNvPr id="25" name="Rounded Rectangle 24"/>
          <p:cNvSpPr/>
          <p:nvPr/>
        </p:nvSpPr>
        <p:spPr>
          <a:xfrm>
            <a:off x="3899250" y="1692000"/>
            <a:ext cx="991350" cy="360000"/>
          </a:xfrm>
          <a:prstGeom prst="roundRect">
            <a:avLst>
              <a:gd name="adj" fmla="val 14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9925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④ 資料請求</a:t>
            </a:r>
          </a:p>
        </p:txBody>
      </p:sp>
      <p:sp>
        <p:nvSpPr>
          <p:cNvPr id="27" name="Rounded Rectangle 26"/>
          <p:cNvSpPr/>
          <p:nvPr/>
        </p:nvSpPr>
        <p:spPr>
          <a:xfrm>
            <a:off x="389925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17250" y="2124000"/>
            <a:ext cx="955350" cy="6120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フォーム</a:t>
            </a:r>
          </a:p>
        </p:txBody>
      </p:sp>
      <p:sp>
        <p:nvSpPr>
          <p:cNvPr id="29" name="Rounded Rectangle 28"/>
          <p:cNvSpPr/>
          <p:nvPr/>
        </p:nvSpPr>
        <p:spPr>
          <a:xfrm>
            <a:off x="3899250" y="3078000"/>
            <a:ext cx="991350" cy="972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917250" y="3078000"/>
            <a:ext cx="955350" cy="9720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いまのまま</a:t>
            </a:r>
          </a:p>
        </p:txBody>
      </p:sp>
      <p:sp>
        <p:nvSpPr>
          <p:cNvPr id="31" name="Rounded Rectangle 30"/>
          <p:cNvSpPr/>
          <p:nvPr/>
        </p:nvSpPr>
        <p:spPr>
          <a:xfrm>
            <a:off x="5016600" y="1692000"/>
            <a:ext cx="99135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660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⑤ 請求後</a:t>
            </a:r>
          </a:p>
        </p:txBody>
      </p:sp>
      <p:sp>
        <p:nvSpPr>
          <p:cNvPr id="33" name="Rounded Rectangle 32"/>
          <p:cNvSpPr/>
          <p:nvPr/>
        </p:nvSpPr>
        <p:spPr>
          <a:xfrm>
            <a:off x="501660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34600" y="2124000"/>
            <a:ext cx="955350" cy="6120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電話・メール</a:t>
            </a:r>
          </a:p>
        </p:txBody>
      </p:sp>
      <p:sp>
        <p:nvSpPr>
          <p:cNvPr id="35" name="TextBox 34"/>
          <p:cNvSpPr txBox="1"/>
          <p:nvPr/>
        </p:nvSpPr>
        <p:spPr>
          <a:xfrm>
            <a:off x="5016600" y="2771999"/>
            <a:ext cx="991350" cy="270000"/>
          </a:xfrm>
          <a:prstGeom prst="rect">
            <a:avLst/>
          </a:prstGeom>
          <a:noFill/>
        </p:spPr>
        <p:txBody>
          <a:bodyPr wrap="square" lIns="21600" tIns="7200" rIns="21600" bIns="7200" anchor="ctr">
            <a:spAutoFit/>
          </a:bodyPr>
          <a:lstStyle/>
          <a:p>
            <a:pPr algn="ctr"/>
            <a:r>
              <a:rPr sz="1300" b="1">
                <a:solidFill>
                  <a:srgbClr val="06C755"/>
                </a:solidFill>
                <a:latin typeface="メイリオ"/>
                <a:ea typeface="メイリオ"/>
                <a:cs typeface="メイリオ"/>
              </a:rPr>
              <a:t>▼</a:t>
            </a:r>
          </a:p>
        </p:txBody>
      </p:sp>
      <p:sp>
        <p:nvSpPr>
          <p:cNvPr id="36" name="Rounded Rectangle 35"/>
          <p:cNvSpPr/>
          <p:nvPr/>
        </p:nvSpPr>
        <p:spPr>
          <a:xfrm>
            <a:off x="5016600" y="3078000"/>
            <a:ext cx="991350" cy="972000"/>
          </a:xfrm>
          <a:prstGeom prst="roundRect">
            <a:avLst>
              <a:gd name="adj" fmla="val 6000"/>
            </a:avLst>
          </a:prstGeom>
          <a:solidFill>
            <a:srgbClr val="F4F7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34600" y="3078000"/>
            <a:ext cx="955350" cy="972000"/>
          </a:xfrm>
          <a:prstGeom prst="rect">
            <a:avLst/>
          </a:prstGeom>
          <a:noFill/>
        </p:spPr>
        <p:txBody>
          <a:bodyPr wrap="square" lIns="21600" tIns="7200" rIns="21600" bIns="7200" anchor="ctr">
            <a:spAutoFit/>
          </a:bodyPr>
          <a:lstStyle/>
          <a:p>
            <a:pPr algn="ctr"/>
            <a:r>
              <a:rPr sz="950" b="1">
                <a:solidFill>
                  <a:srgbClr val="1F285A"/>
                </a:solidFill>
                <a:latin typeface="メイリオ"/>
                <a:ea typeface="メイリオ"/>
                <a:cs typeface="メイリオ"/>
              </a:rPr>
              <a:t>14日</a:t>
            </a:r>
          </a:p>
          <a:p>
            <a:pPr algn="ctr"/>
            <a:r>
              <a:rPr sz="950" b="1">
                <a:solidFill>
                  <a:srgbClr val="1F285A"/>
                </a:solidFill>
                <a:latin typeface="メイリオ"/>
                <a:ea typeface="メイリオ"/>
                <a:cs typeface="メイリオ"/>
              </a:rPr>
              <a:t>ステップ配信</a:t>
            </a:r>
          </a:p>
        </p:txBody>
      </p:sp>
      <p:sp>
        <p:nvSpPr>
          <p:cNvPr id="38" name="Rounded Rectangle 37"/>
          <p:cNvSpPr/>
          <p:nvPr/>
        </p:nvSpPr>
        <p:spPr>
          <a:xfrm>
            <a:off x="6133950" y="1692000"/>
            <a:ext cx="99135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3395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⑥ 来場前</a:t>
            </a:r>
          </a:p>
        </p:txBody>
      </p:sp>
      <p:sp>
        <p:nvSpPr>
          <p:cNvPr id="40" name="Rounded Rectangle 39"/>
          <p:cNvSpPr/>
          <p:nvPr/>
        </p:nvSpPr>
        <p:spPr>
          <a:xfrm>
            <a:off x="613395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51950" y="2124000"/>
            <a:ext cx="955350" cy="6120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対策なし</a:t>
            </a:r>
          </a:p>
        </p:txBody>
      </p:sp>
      <p:sp>
        <p:nvSpPr>
          <p:cNvPr id="42" name="TextBox 41"/>
          <p:cNvSpPr txBox="1"/>
          <p:nvPr/>
        </p:nvSpPr>
        <p:spPr>
          <a:xfrm>
            <a:off x="6133950" y="2771999"/>
            <a:ext cx="991350" cy="270000"/>
          </a:xfrm>
          <a:prstGeom prst="rect">
            <a:avLst/>
          </a:prstGeom>
          <a:noFill/>
        </p:spPr>
        <p:txBody>
          <a:bodyPr wrap="square" lIns="21600" tIns="7200" rIns="21600" bIns="7200" anchor="ctr">
            <a:spAutoFit/>
          </a:bodyPr>
          <a:lstStyle/>
          <a:p>
            <a:pPr algn="ctr"/>
            <a:r>
              <a:rPr sz="1300" b="1">
                <a:solidFill>
                  <a:srgbClr val="06C755"/>
                </a:solidFill>
                <a:latin typeface="メイリオ"/>
                <a:ea typeface="メイリオ"/>
                <a:cs typeface="メイリオ"/>
              </a:rPr>
              <a:t>▼</a:t>
            </a:r>
          </a:p>
        </p:txBody>
      </p:sp>
      <p:sp>
        <p:nvSpPr>
          <p:cNvPr id="43" name="Rounded Rectangle 42"/>
          <p:cNvSpPr/>
          <p:nvPr/>
        </p:nvSpPr>
        <p:spPr>
          <a:xfrm>
            <a:off x="6133950" y="3078000"/>
            <a:ext cx="991350" cy="972000"/>
          </a:xfrm>
          <a:prstGeom prst="roundRect">
            <a:avLst>
              <a:gd name="adj" fmla="val 6000"/>
            </a:avLst>
          </a:prstGeom>
          <a:solidFill>
            <a:srgbClr val="F4F7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51950" y="3078000"/>
            <a:ext cx="955350" cy="972000"/>
          </a:xfrm>
          <a:prstGeom prst="rect">
            <a:avLst/>
          </a:prstGeom>
          <a:noFill/>
        </p:spPr>
        <p:txBody>
          <a:bodyPr wrap="square" lIns="21600" tIns="7200" rIns="21600" bIns="7200" anchor="ctr">
            <a:spAutoFit/>
          </a:bodyPr>
          <a:lstStyle/>
          <a:p>
            <a:pPr algn="ctr"/>
            <a:r>
              <a:rPr sz="950" b="1">
                <a:solidFill>
                  <a:srgbClr val="1F285A"/>
                </a:solidFill>
                <a:latin typeface="メイリオ"/>
                <a:ea typeface="メイリオ"/>
                <a:cs typeface="メイリオ"/>
              </a:rPr>
              <a:t>前日リマインド</a:t>
            </a:r>
          </a:p>
          <a:p>
            <a:pPr algn="ctr"/>
            <a:r>
              <a:rPr sz="950" b="1">
                <a:solidFill>
                  <a:srgbClr val="1F285A"/>
                </a:solidFill>
                <a:latin typeface="メイリオ"/>
                <a:ea typeface="メイリオ"/>
                <a:cs typeface="メイリオ"/>
              </a:rPr>
              <a:t>事前ヒアリング</a:t>
            </a:r>
          </a:p>
        </p:txBody>
      </p:sp>
      <p:sp>
        <p:nvSpPr>
          <p:cNvPr id="45" name="Rounded Rectangle 44"/>
          <p:cNvSpPr/>
          <p:nvPr/>
        </p:nvSpPr>
        <p:spPr>
          <a:xfrm>
            <a:off x="7251300" y="1692000"/>
            <a:ext cx="991350" cy="360000"/>
          </a:xfrm>
          <a:prstGeom prst="roundRect">
            <a:avLst>
              <a:gd name="adj" fmla="val 14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5130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⑦ 契約</a:t>
            </a:r>
          </a:p>
        </p:txBody>
      </p:sp>
      <p:sp>
        <p:nvSpPr>
          <p:cNvPr id="47" name="Rounded Rectangle 46"/>
          <p:cNvSpPr/>
          <p:nvPr/>
        </p:nvSpPr>
        <p:spPr>
          <a:xfrm>
            <a:off x="725130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69300" y="2124000"/>
            <a:ext cx="955350" cy="6120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営業が対応</a:t>
            </a:r>
          </a:p>
        </p:txBody>
      </p:sp>
      <p:sp>
        <p:nvSpPr>
          <p:cNvPr id="49" name="Rounded Rectangle 48"/>
          <p:cNvSpPr/>
          <p:nvPr/>
        </p:nvSpPr>
        <p:spPr>
          <a:xfrm>
            <a:off x="7251300" y="3078000"/>
            <a:ext cx="991350" cy="972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269300" y="3078000"/>
            <a:ext cx="955350" cy="9720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いまのまま</a:t>
            </a:r>
          </a:p>
        </p:txBody>
      </p:sp>
      <p:sp>
        <p:nvSpPr>
          <p:cNvPr id="51" name="Rounded Rectangle 50"/>
          <p:cNvSpPr/>
          <p:nvPr/>
        </p:nvSpPr>
        <p:spPr>
          <a:xfrm>
            <a:off x="8368650" y="1692000"/>
            <a:ext cx="991350" cy="360000"/>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368650" y="1692000"/>
            <a:ext cx="991350" cy="360000"/>
          </a:xfrm>
          <a:prstGeom prst="rect">
            <a:avLst/>
          </a:prstGeom>
          <a:noFill/>
        </p:spPr>
        <p:txBody>
          <a:bodyPr wrap="square" lIns="21600" tIns="7200" rIns="21600" bIns="7200" anchor="ctr">
            <a:spAutoFit/>
          </a:bodyPr>
          <a:lstStyle/>
          <a:p>
            <a:pPr algn="ctr"/>
            <a:r>
              <a:rPr sz="950" b="1">
                <a:solidFill>
                  <a:srgbClr val="FFFFFF"/>
                </a:solidFill>
                <a:latin typeface="メイリオ"/>
                <a:ea typeface="メイリオ"/>
                <a:cs typeface="メイリオ"/>
              </a:rPr>
              <a:t>⑧ 引渡し後</a:t>
            </a:r>
          </a:p>
        </p:txBody>
      </p:sp>
      <p:sp>
        <p:nvSpPr>
          <p:cNvPr id="53" name="Rounded Rectangle 52"/>
          <p:cNvSpPr/>
          <p:nvPr/>
        </p:nvSpPr>
        <p:spPr>
          <a:xfrm>
            <a:off x="8368650" y="2124000"/>
            <a:ext cx="991350" cy="61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86650" y="2124000"/>
            <a:ext cx="955350" cy="6120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接点なし</a:t>
            </a:r>
          </a:p>
        </p:txBody>
      </p:sp>
      <p:sp>
        <p:nvSpPr>
          <p:cNvPr id="55" name="TextBox 54"/>
          <p:cNvSpPr txBox="1"/>
          <p:nvPr/>
        </p:nvSpPr>
        <p:spPr>
          <a:xfrm>
            <a:off x="8368650" y="2771999"/>
            <a:ext cx="991350" cy="270000"/>
          </a:xfrm>
          <a:prstGeom prst="rect">
            <a:avLst/>
          </a:prstGeom>
          <a:noFill/>
        </p:spPr>
        <p:txBody>
          <a:bodyPr wrap="square" lIns="21600" tIns="7200" rIns="21600" bIns="7200" anchor="ctr">
            <a:spAutoFit/>
          </a:bodyPr>
          <a:lstStyle/>
          <a:p>
            <a:pPr algn="ctr"/>
            <a:r>
              <a:rPr sz="1300" b="1">
                <a:solidFill>
                  <a:srgbClr val="06C755"/>
                </a:solidFill>
                <a:latin typeface="メイリオ"/>
                <a:ea typeface="メイリオ"/>
                <a:cs typeface="メイリオ"/>
              </a:rPr>
              <a:t>▼</a:t>
            </a:r>
          </a:p>
        </p:txBody>
      </p:sp>
      <p:sp>
        <p:nvSpPr>
          <p:cNvPr id="56" name="Rounded Rectangle 55"/>
          <p:cNvSpPr/>
          <p:nvPr/>
        </p:nvSpPr>
        <p:spPr>
          <a:xfrm>
            <a:off x="8368650" y="3078000"/>
            <a:ext cx="991350" cy="972000"/>
          </a:xfrm>
          <a:prstGeom prst="roundRect">
            <a:avLst>
              <a:gd name="adj" fmla="val 6000"/>
            </a:avLst>
          </a:prstGeom>
          <a:solidFill>
            <a:srgbClr val="F4F7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86650" y="3078000"/>
            <a:ext cx="955350" cy="972000"/>
          </a:xfrm>
          <a:prstGeom prst="rect">
            <a:avLst/>
          </a:prstGeom>
          <a:noFill/>
        </p:spPr>
        <p:txBody>
          <a:bodyPr wrap="square" lIns="21600" tIns="7200" rIns="21600" bIns="7200" anchor="ctr">
            <a:spAutoFit/>
          </a:bodyPr>
          <a:lstStyle/>
          <a:p>
            <a:pPr algn="ctr"/>
            <a:r>
              <a:rPr sz="950" b="1">
                <a:solidFill>
                  <a:srgbClr val="1F285A"/>
                </a:solidFill>
                <a:latin typeface="メイリオ"/>
                <a:ea typeface="メイリオ"/>
                <a:cs typeface="メイリオ"/>
              </a:rPr>
              <a:t>工程通知</a:t>
            </a:r>
          </a:p>
          <a:p>
            <a:pPr algn="ctr"/>
            <a:r>
              <a:rPr sz="950" b="1">
                <a:solidFill>
                  <a:srgbClr val="1F285A"/>
                </a:solidFill>
                <a:latin typeface="メイリオ"/>
                <a:ea typeface="メイリオ"/>
                <a:cs typeface="メイリオ"/>
              </a:rPr>
              <a:t>点検・ご紹介</a:t>
            </a:r>
          </a:p>
        </p:txBody>
      </p:sp>
      <p:sp>
        <p:nvSpPr>
          <p:cNvPr id="58" name="Rounded Rectangle 57"/>
          <p:cNvSpPr/>
          <p:nvPr/>
        </p:nvSpPr>
        <p:spPr>
          <a:xfrm>
            <a:off x="547200" y="4212000"/>
            <a:ext cx="8812800" cy="3780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7200" y="4212000"/>
            <a:ext cx="8812800" cy="378000"/>
          </a:xfrm>
          <a:prstGeom prst="rect">
            <a:avLst/>
          </a:prstGeom>
          <a:noFill/>
        </p:spPr>
        <p:txBody>
          <a:bodyPr wrap="square" lIns="21600" tIns="7200" rIns="21600" bIns="7200" anchor="ctr">
            <a:spAutoFit/>
          </a:bodyPr>
          <a:lstStyle/>
          <a:p>
            <a:pPr algn="ctr"/>
            <a:r>
              <a:rPr sz="1350" b="1">
                <a:solidFill>
                  <a:srgbClr val="FFFFFF"/>
                </a:solidFill>
                <a:latin typeface="メイリオ"/>
                <a:ea typeface="メイリオ"/>
                <a:cs typeface="メイリオ"/>
              </a:rPr>
              <a:t>LINEが担当するのは ②③⑤⑥⑧ の5か所だけ</a:t>
            </a:r>
          </a:p>
        </p:txBody>
      </p:sp>
      <p:sp>
        <p:nvSpPr>
          <p:cNvPr id="60" name="Rounded Rectangle 59"/>
          <p:cNvSpPr/>
          <p:nvPr/>
        </p:nvSpPr>
        <p:spPr>
          <a:xfrm>
            <a:off x="547200" y="4662000"/>
            <a:ext cx="2793600" cy="990000"/>
          </a:xfrm>
          <a:prstGeom prst="roundRect">
            <a:avLst>
              <a:gd name="adj" fmla="val 6000"/>
            </a:avLst>
          </a:prstGeom>
          <a:solidFill>
            <a:srgbClr val="FFFF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547200" y="4662000"/>
            <a:ext cx="2793600" cy="3420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19200" y="4662000"/>
            <a:ext cx="2649600" cy="342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STEP 1　リード有効化</a:t>
            </a:r>
          </a:p>
        </p:txBody>
      </p:sp>
      <p:sp>
        <p:nvSpPr>
          <p:cNvPr id="63" name="TextBox 62"/>
          <p:cNvSpPr txBox="1"/>
          <p:nvPr/>
        </p:nvSpPr>
        <p:spPr>
          <a:xfrm>
            <a:off x="691200" y="5058000"/>
            <a:ext cx="2505600" cy="2448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落ちている分を拾う</a:t>
            </a:r>
          </a:p>
        </p:txBody>
      </p:sp>
      <p:sp>
        <p:nvSpPr>
          <p:cNvPr id="64" name="TextBox 63"/>
          <p:cNvSpPr txBox="1"/>
          <p:nvPr/>
        </p:nvSpPr>
        <p:spPr>
          <a:xfrm>
            <a:off x="691200" y="5310000"/>
            <a:ext cx="2505600" cy="32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離脱者と資料請求者をLINEにためて、14日ステップで読む状態をつくる</a:t>
            </a:r>
          </a:p>
        </p:txBody>
      </p:sp>
      <p:sp>
        <p:nvSpPr>
          <p:cNvPr id="65" name="Rounded Rectangle 64"/>
          <p:cNvSpPr/>
          <p:nvPr/>
        </p:nvSpPr>
        <p:spPr>
          <a:xfrm>
            <a:off x="3556800" y="4662000"/>
            <a:ext cx="2793600" cy="990000"/>
          </a:xfrm>
          <a:prstGeom prst="roundRect">
            <a:avLst>
              <a:gd name="adj" fmla="val 6000"/>
            </a:avLst>
          </a:prstGeom>
          <a:solidFill>
            <a:srgbClr val="FFFF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3556800" y="4662000"/>
            <a:ext cx="2793600" cy="3420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628800" y="4662000"/>
            <a:ext cx="2649600" cy="342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STEP 2　マネタイズ</a:t>
            </a:r>
          </a:p>
        </p:txBody>
      </p:sp>
      <p:sp>
        <p:nvSpPr>
          <p:cNvPr id="68" name="TextBox 67"/>
          <p:cNvSpPr txBox="1"/>
          <p:nvPr/>
        </p:nvSpPr>
        <p:spPr>
          <a:xfrm>
            <a:off x="3700800" y="5058000"/>
            <a:ext cx="2505600" cy="244800"/>
          </a:xfrm>
          <a:prstGeom prst="rect">
            <a:avLst/>
          </a:prstGeom>
          <a:noFill/>
        </p:spPr>
        <p:txBody>
          <a:bodyPr wrap="square" lIns="21600" tIns="7200" rIns="21600" bIns="7200" anchor="t">
            <a:spAutoFit/>
          </a:bodyPr>
          <a:lstStyle/>
          <a:p>
            <a:pPr algn="l"/>
            <a:r>
              <a:rPr sz="1100" b="1">
                <a:solidFill>
                  <a:srgbClr val="ED7D31"/>
                </a:solidFill>
                <a:latin typeface="メイリオ"/>
                <a:ea typeface="メイリオ"/>
                <a:cs typeface="メイリオ"/>
              </a:rPr>
              <a:t>来場と契約に接続する</a:t>
            </a:r>
          </a:p>
        </p:txBody>
      </p:sp>
      <p:sp>
        <p:nvSpPr>
          <p:cNvPr id="69" name="TextBox 68"/>
          <p:cNvSpPr txBox="1"/>
          <p:nvPr/>
        </p:nvSpPr>
        <p:spPr>
          <a:xfrm>
            <a:off x="3700800" y="5310000"/>
            <a:ext cx="2505600" cy="32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診断タグ別に見学会・個別相談を出し分け、前日リマインドで未来場を減らす</a:t>
            </a:r>
          </a:p>
        </p:txBody>
      </p:sp>
      <p:sp>
        <p:nvSpPr>
          <p:cNvPr id="70" name="Rounded Rectangle 69"/>
          <p:cNvSpPr/>
          <p:nvPr/>
        </p:nvSpPr>
        <p:spPr>
          <a:xfrm>
            <a:off x="6566400" y="4662000"/>
            <a:ext cx="2793600" cy="990000"/>
          </a:xfrm>
          <a:prstGeom prst="roundRect">
            <a:avLst>
              <a:gd name="adj" fmla="val 6000"/>
            </a:avLst>
          </a:prstGeom>
          <a:solidFill>
            <a:srgbClr val="FFFFFF"/>
          </a:solidFill>
          <a:ln w="1651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6566400" y="4662000"/>
            <a:ext cx="2793600" cy="342000"/>
          </a:xfrm>
          <a:prstGeom prst="roundRect">
            <a:avLst>
              <a:gd name="adj" fmla="val 14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38400" y="4662000"/>
            <a:ext cx="2649600" cy="342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STEP 3　LTV最大化</a:t>
            </a:r>
          </a:p>
        </p:txBody>
      </p:sp>
      <p:sp>
        <p:nvSpPr>
          <p:cNvPr id="73" name="TextBox 72"/>
          <p:cNvSpPr txBox="1"/>
          <p:nvPr/>
        </p:nvSpPr>
        <p:spPr>
          <a:xfrm>
            <a:off x="6710400" y="5058000"/>
            <a:ext cx="2505600" cy="244800"/>
          </a:xfrm>
          <a:prstGeom prst="rect">
            <a:avLst/>
          </a:prstGeom>
          <a:noFill/>
        </p:spPr>
        <p:txBody>
          <a:bodyPr wrap="square" lIns="21600" tIns="7200" rIns="21600" bIns="7200" anchor="t">
            <a:spAutoFit/>
          </a:bodyPr>
          <a:lstStyle/>
          <a:p>
            <a:pPr algn="l"/>
            <a:r>
              <a:rPr sz="1100" b="1">
                <a:solidFill>
                  <a:srgbClr val="3E6DB5"/>
                </a:solidFill>
                <a:latin typeface="メイリオ"/>
                <a:ea typeface="メイリオ"/>
                <a:cs typeface="メイリオ"/>
              </a:rPr>
              <a:t>引渡し後も切らさない</a:t>
            </a:r>
          </a:p>
        </p:txBody>
      </p:sp>
      <p:sp>
        <p:nvSpPr>
          <p:cNvPr id="74" name="TextBox 73"/>
          <p:cNvSpPr txBox="1"/>
          <p:nvPr/>
        </p:nvSpPr>
        <p:spPr>
          <a:xfrm>
            <a:off x="6710400" y="5310000"/>
            <a:ext cx="2505600" cy="32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工程通知・定期点検・外構・ご紹介まで、同じアカウントでつなぐ</a:t>
            </a:r>
          </a:p>
        </p:txBody>
      </p:sp>
      <p:sp>
        <p:nvSpPr>
          <p:cNvPr id="75" name="Rounded Rectangle 74"/>
          <p:cNvSpPr/>
          <p:nvPr/>
        </p:nvSpPr>
        <p:spPr>
          <a:xfrm>
            <a:off x="547200" y="5706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既存の広告と営業は止めない。空いている区間だけを埋める</a:t>
            </a:r>
          </a:p>
        </p:txBody>
      </p:sp>
      <p:sp>
        <p:nvSpPr>
          <p:cNvPr id="76" name="TextBox 75"/>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※フェーズ区分は前ページの導線に対応しています。CV3段（軽CV＝診断／主CV＝来場予約／最終CV＝契約・LTV）は資料全体で共通です。</a:t>
            </a:r>
          </a:p>
        </p:txBody>
      </p:sp>
    </p:spTree>
    <p:extLst>
      <p:ext uri="{BB962C8B-B14F-4D97-AF65-F5344CB8AC3E}">
        <p14:creationId xmlns:p14="http://schemas.microsoft.com/office/powerpoint/2010/main" val="3509480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全体設計③｜施策一覧と、それぞれが解決する課題</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やることは13あります。すべて「どの取りこぼしを拾うか」から逆算しています。</a:t>
            </a:r>
          </a:p>
          <a:p>
            <a:pPr algn="l">
              <a:spcAft>
                <a:spcPts val="300"/>
              </a:spcAft>
            </a:pPr>
            <a:r>
              <a:rPr sz="1250" b="1">
                <a:solidFill>
                  <a:srgbClr val="333333"/>
                </a:solidFill>
                <a:latin typeface="メイリオ"/>
                <a:ea typeface="メイリオ"/>
                <a:cs typeface="メイリオ"/>
              </a:rPr>
              <a:t>赤い枠が、いま対策が入っていない4か所に直接効く施策です。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7200" y="1655999"/>
            <a:ext cx="485744" cy="280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55999"/>
            <a:ext cx="485744" cy="28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a:t>
            </a:r>
          </a:p>
        </p:txBody>
      </p:sp>
      <p:sp>
        <p:nvSpPr>
          <p:cNvPr id="7" name="Rectangle 6"/>
          <p:cNvSpPr/>
          <p:nvPr/>
        </p:nvSpPr>
        <p:spPr>
          <a:xfrm>
            <a:off x="1032944" y="1655999"/>
            <a:ext cx="2289940" cy="280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2944" y="1655999"/>
            <a:ext cx="2289940" cy="28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施策</a:t>
            </a:r>
          </a:p>
        </p:txBody>
      </p:sp>
      <p:sp>
        <p:nvSpPr>
          <p:cNvPr id="9" name="Rectangle 8"/>
          <p:cNvSpPr/>
          <p:nvPr/>
        </p:nvSpPr>
        <p:spPr>
          <a:xfrm>
            <a:off x="3322885" y="1655999"/>
            <a:ext cx="4302311" cy="280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2885" y="1655999"/>
            <a:ext cx="4302311" cy="28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解決する課題</a:t>
            </a:r>
          </a:p>
        </p:txBody>
      </p:sp>
      <p:sp>
        <p:nvSpPr>
          <p:cNvPr id="11" name="Rectangle 10"/>
          <p:cNvSpPr/>
          <p:nvPr/>
        </p:nvSpPr>
        <p:spPr>
          <a:xfrm>
            <a:off x="7625196" y="1655999"/>
            <a:ext cx="1734803" cy="280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25196" y="1655999"/>
            <a:ext cx="1734803" cy="2808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想定KPI</a:t>
            </a:r>
          </a:p>
        </p:txBody>
      </p:sp>
      <p:sp>
        <p:nvSpPr>
          <p:cNvPr id="13" name="Rectangle 12"/>
          <p:cNvSpPr/>
          <p:nvPr/>
        </p:nvSpPr>
        <p:spPr>
          <a:xfrm>
            <a:off x="547200" y="1936800"/>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7200" y="1936800"/>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①</a:t>
            </a:r>
          </a:p>
        </p:txBody>
      </p:sp>
      <p:sp>
        <p:nvSpPr>
          <p:cNvPr id="15" name="Rectangle 14"/>
          <p:cNvSpPr/>
          <p:nvPr/>
        </p:nvSpPr>
        <p:spPr>
          <a:xfrm>
            <a:off x="1032944" y="1936800"/>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32944" y="1936800"/>
            <a:ext cx="2289940" cy="280800"/>
          </a:xfrm>
          <a:prstGeom prst="rect">
            <a:avLst/>
          </a:prstGeom>
          <a:noFill/>
        </p:spPr>
        <p:txBody>
          <a:bodyPr wrap="square" lIns="21600" tIns="7200" rIns="21600" bIns="7200" anchor="ctr">
            <a:spAutoFit/>
          </a:bodyPr>
          <a:lstStyle/>
          <a:p>
            <a:pPr algn="l"/>
            <a:r>
              <a:rPr sz="1050" b="0">
                <a:solidFill>
                  <a:srgbClr val="C00000"/>
                </a:solidFill>
                <a:latin typeface="メイリオ"/>
                <a:ea typeface="メイリオ"/>
                <a:cs typeface="メイリオ"/>
              </a:rPr>
              <a:t>離脱防止ポップアップ</a:t>
            </a:r>
          </a:p>
        </p:txBody>
      </p:sp>
      <p:sp>
        <p:nvSpPr>
          <p:cNvPr id="17" name="Rectangle 16"/>
          <p:cNvSpPr/>
          <p:nvPr/>
        </p:nvSpPr>
        <p:spPr>
          <a:xfrm>
            <a:off x="3322885" y="1936800"/>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22885" y="1936800"/>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LPを離れる98%と接点が持てない</a:t>
            </a:r>
          </a:p>
        </p:txBody>
      </p:sp>
      <p:sp>
        <p:nvSpPr>
          <p:cNvPr id="19" name="Rectangle 18"/>
          <p:cNvSpPr/>
          <p:nvPr/>
        </p:nvSpPr>
        <p:spPr>
          <a:xfrm>
            <a:off x="7625196" y="1936800"/>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25196" y="1936800"/>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友だち化率</a:t>
            </a:r>
          </a:p>
        </p:txBody>
      </p:sp>
      <p:sp>
        <p:nvSpPr>
          <p:cNvPr id="21" name="Rectangle 20"/>
          <p:cNvSpPr/>
          <p:nvPr/>
        </p:nvSpPr>
        <p:spPr>
          <a:xfrm>
            <a:off x="547200" y="2217600"/>
            <a:ext cx="485744"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7200" y="2217600"/>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②</a:t>
            </a:r>
          </a:p>
        </p:txBody>
      </p:sp>
      <p:sp>
        <p:nvSpPr>
          <p:cNvPr id="23" name="Rectangle 22"/>
          <p:cNvSpPr/>
          <p:nvPr/>
        </p:nvSpPr>
        <p:spPr>
          <a:xfrm>
            <a:off x="1032944" y="2217600"/>
            <a:ext cx="2289940"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2944" y="2217600"/>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LINE広告 CPF配信</a:t>
            </a:r>
          </a:p>
        </p:txBody>
      </p:sp>
      <p:sp>
        <p:nvSpPr>
          <p:cNvPr id="25" name="Rectangle 24"/>
          <p:cNvSpPr/>
          <p:nvPr/>
        </p:nvSpPr>
        <p:spPr>
          <a:xfrm>
            <a:off x="3322885" y="2217600"/>
            <a:ext cx="4302311"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22885" y="2217600"/>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友だち母数がそもそも足りない</a:t>
            </a:r>
          </a:p>
        </p:txBody>
      </p:sp>
      <p:sp>
        <p:nvSpPr>
          <p:cNvPr id="27" name="Rectangle 26"/>
          <p:cNvSpPr/>
          <p:nvPr/>
        </p:nvSpPr>
        <p:spPr>
          <a:xfrm>
            <a:off x="7625196" y="2217600"/>
            <a:ext cx="1734803"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25196" y="2217600"/>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友だち追加単価</a:t>
            </a:r>
          </a:p>
        </p:txBody>
      </p:sp>
      <p:sp>
        <p:nvSpPr>
          <p:cNvPr id="29" name="Rectangle 28"/>
          <p:cNvSpPr/>
          <p:nvPr/>
        </p:nvSpPr>
        <p:spPr>
          <a:xfrm>
            <a:off x="547200" y="2498400"/>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7200" y="2498400"/>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③</a:t>
            </a:r>
          </a:p>
        </p:txBody>
      </p:sp>
      <p:sp>
        <p:nvSpPr>
          <p:cNvPr id="31" name="Rectangle 30"/>
          <p:cNvSpPr/>
          <p:nvPr/>
        </p:nvSpPr>
        <p:spPr>
          <a:xfrm>
            <a:off x="1032944" y="2498400"/>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2944" y="2498400"/>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あいさつメッセージ</a:t>
            </a:r>
          </a:p>
        </p:txBody>
      </p:sp>
      <p:sp>
        <p:nvSpPr>
          <p:cNvPr id="33" name="Rectangle 32"/>
          <p:cNvSpPr/>
          <p:nvPr/>
        </p:nvSpPr>
        <p:spPr>
          <a:xfrm>
            <a:off x="3322885" y="2498400"/>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22885" y="2498400"/>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追加直後にブロックされる</a:t>
            </a:r>
          </a:p>
        </p:txBody>
      </p:sp>
      <p:sp>
        <p:nvSpPr>
          <p:cNvPr id="35" name="Rectangle 34"/>
          <p:cNvSpPr/>
          <p:nvPr/>
        </p:nvSpPr>
        <p:spPr>
          <a:xfrm>
            <a:off x="7625196" y="2498400"/>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25196" y="2498400"/>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初回ブロック率</a:t>
            </a:r>
          </a:p>
        </p:txBody>
      </p:sp>
      <p:sp>
        <p:nvSpPr>
          <p:cNvPr id="37" name="Rectangle 36"/>
          <p:cNvSpPr/>
          <p:nvPr/>
        </p:nvSpPr>
        <p:spPr>
          <a:xfrm>
            <a:off x="547200" y="2779200"/>
            <a:ext cx="485744"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7200" y="2779200"/>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④</a:t>
            </a:r>
          </a:p>
        </p:txBody>
      </p:sp>
      <p:sp>
        <p:nvSpPr>
          <p:cNvPr id="39" name="Rectangle 38"/>
          <p:cNvSpPr/>
          <p:nvPr/>
        </p:nvSpPr>
        <p:spPr>
          <a:xfrm>
            <a:off x="1032944" y="2779200"/>
            <a:ext cx="2289940"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32944" y="2779200"/>
            <a:ext cx="2289940" cy="280800"/>
          </a:xfrm>
          <a:prstGeom prst="rect">
            <a:avLst/>
          </a:prstGeom>
          <a:noFill/>
        </p:spPr>
        <p:txBody>
          <a:bodyPr wrap="square" lIns="21600" tIns="7200" rIns="21600" bIns="7200" anchor="ctr">
            <a:spAutoFit/>
          </a:bodyPr>
          <a:lstStyle/>
          <a:p>
            <a:pPr algn="l"/>
            <a:r>
              <a:rPr sz="1050" b="0">
                <a:solidFill>
                  <a:srgbClr val="C00000"/>
                </a:solidFill>
                <a:latin typeface="メイリオ"/>
                <a:ea typeface="メイリオ"/>
                <a:cs typeface="メイリオ"/>
              </a:rPr>
              <a:t>60秒 予算診断</a:t>
            </a:r>
          </a:p>
        </p:txBody>
      </p:sp>
      <p:sp>
        <p:nvSpPr>
          <p:cNvPr id="41" name="Rectangle 40"/>
          <p:cNvSpPr/>
          <p:nvPr/>
        </p:nvSpPr>
        <p:spPr>
          <a:xfrm>
            <a:off x="3322885" y="2779200"/>
            <a:ext cx="4302311"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322885" y="2779200"/>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検討状況が分からず一律配信になる</a:t>
            </a:r>
          </a:p>
        </p:txBody>
      </p:sp>
      <p:sp>
        <p:nvSpPr>
          <p:cNvPr id="43" name="Rectangle 42"/>
          <p:cNvSpPr/>
          <p:nvPr/>
        </p:nvSpPr>
        <p:spPr>
          <a:xfrm>
            <a:off x="7625196" y="2779200"/>
            <a:ext cx="1734803"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625196" y="2779200"/>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診断回答率</a:t>
            </a:r>
          </a:p>
        </p:txBody>
      </p:sp>
      <p:sp>
        <p:nvSpPr>
          <p:cNvPr id="45" name="Rectangle 44"/>
          <p:cNvSpPr/>
          <p:nvPr/>
        </p:nvSpPr>
        <p:spPr>
          <a:xfrm>
            <a:off x="547200" y="3060000"/>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7200" y="3060000"/>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⑤</a:t>
            </a:r>
          </a:p>
        </p:txBody>
      </p:sp>
      <p:sp>
        <p:nvSpPr>
          <p:cNvPr id="47" name="Rectangle 46"/>
          <p:cNvSpPr/>
          <p:nvPr/>
        </p:nvSpPr>
        <p:spPr>
          <a:xfrm>
            <a:off x="1032944" y="3060000"/>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32944" y="3060000"/>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タグ設計</a:t>
            </a:r>
          </a:p>
        </p:txBody>
      </p:sp>
      <p:sp>
        <p:nvSpPr>
          <p:cNvPr id="49" name="Rectangle 48"/>
          <p:cNvSpPr/>
          <p:nvPr/>
        </p:nvSpPr>
        <p:spPr>
          <a:xfrm>
            <a:off x="3322885" y="3060000"/>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22885" y="3060000"/>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誰に何を送るべきか判断できない</a:t>
            </a:r>
          </a:p>
        </p:txBody>
      </p:sp>
      <p:sp>
        <p:nvSpPr>
          <p:cNvPr id="51" name="Rectangle 50"/>
          <p:cNvSpPr/>
          <p:nvPr/>
        </p:nvSpPr>
        <p:spPr>
          <a:xfrm>
            <a:off x="7625196" y="3060000"/>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625196" y="3060000"/>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タグ付与率</a:t>
            </a:r>
          </a:p>
        </p:txBody>
      </p:sp>
      <p:sp>
        <p:nvSpPr>
          <p:cNvPr id="53" name="Rectangle 52"/>
          <p:cNvSpPr/>
          <p:nvPr/>
        </p:nvSpPr>
        <p:spPr>
          <a:xfrm>
            <a:off x="547200" y="3340800"/>
            <a:ext cx="485744"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7200" y="3340800"/>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⑥</a:t>
            </a:r>
          </a:p>
        </p:txBody>
      </p:sp>
      <p:sp>
        <p:nvSpPr>
          <p:cNvPr id="55" name="Rectangle 54"/>
          <p:cNvSpPr/>
          <p:nvPr/>
        </p:nvSpPr>
        <p:spPr>
          <a:xfrm>
            <a:off x="1032944" y="3340800"/>
            <a:ext cx="2289940"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32944" y="3340800"/>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リッチメニュー</a:t>
            </a:r>
          </a:p>
        </p:txBody>
      </p:sp>
      <p:sp>
        <p:nvSpPr>
          <p:cNvPr id="57" name="Rectangle 56"/>
          <p:cNvSpPr/>
          <p:nvPr/>
        </p:nvSpPr>
        <p:spPr>
          <a:xfrm>
            <a:off x="3322885" y="3340800"/>
            <a:ext cx="4302311"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322885" y="3340800"/>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聞きたいことに自力で辿り着けない</a:t>
            </a:r>
          </a:p>
        </p:txBody>
      </p:sp>
      <p:sp>
        <p:nvSpPr>
          <p:cNvPr id="59" name="Rectangle 58"/>
          <p:cNvSpPr/>
          <p:nvPr/>
        </p:nvSpPr>
        <p:spPr>
          <a:xfrm>
            <a:off x="7625196" y="3340800"/>
            <a:ext cx="1734803"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25196" y="3340800"/>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タップ率</a:t>
            </a:r>
          </a:p>
        </p:txBody>
      </p:sp>
      <p:sp>
        <p:nvSpPr>
          <p:cNvPr id="61" name="Rectangle 60"/>
          <p:cNvSpPr/>
          <p:nvPr/>
        </p:nvSpPr>
        <p:spPr>
          <a:xfrm>
            <a:off x="547200" y="3621599"/>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7200" y="36215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⑦</a:t>
            </a:r>
          </a:p>
        </p:txBody>
      </p:sp>
      <p:sp>
        <p:nvSpPr>
          <p:cNvPr id="63" name="Rectangle 62"/>
          <p:cNvSpPr/>
          <p:nvPr/>
        </p:nvSpPr>
        <p:spPr>
          <a:xfrm>
            <a:off x="1032944" y="3621599"/>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32944" y="3621599"/>
            <a:ext cx="2289940" cy="280800"/>
          </a:xfrm>
          <a:prstGeom prst="rect">
            <a:avLst/>
          </a:prstGeom>
          <a:noFill/>
        </p:spPr>
        <p:txBody>
          <a:bodyPr wrap="square" lIns="21600" tIns="7200" rIns="21600" bIns="7200" anchor="ctr">
            <a:spAutoFit/>
          </a:bodyPr>
          <a:lstStyle/>
          <a:p>
            <a:pPr algn="l"/>
            <a:r>
              <a:rPr sz="1050" b="0">
                <a:solidFill>
                  <a:srgbClr val="C00000"/>
                </a:solidFill>
                <a:latin typeface="メイリオ"/>
                <a:ea typeface="メイリオ"/>
                <a:cs typeface="メイリオ"/>
              </a:rPr>
              <a:t>14日ステップ配信</a:t>
            </a:r>
          </a:p>
        </p:txBody>
      </p:sp>
      <p:sp>
        <p:nvSpPr>
          <p:cNvPr id="65" name="Rectangle 64"/>
          <p:cNvSpPr/>
          <p:nvPr/>
        </p:nvSpPr>
        <p:spPr>
          <a:xfrm>
            <a:off x="3322885" y="3621599"/>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322885" y="36215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資料請求後の45件を追えていない</a:t>
            </a:r>
          </a:p>
        </p:txBody>
      </p:sp>
      <p:sp>
        <p:nvSpPr>
          <p:cNvPr id="67" name="Rectangle 66"/>
          <p:cNvSpPr/>
          <p:nvPr/>
        </p:nvSpPr>
        <p:spPr>
          <a:xfrm>
            <a:off x="7625196" y="3621599"/>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625196" y="36215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開封率／来場予約数</a:t>
            </a:r>
          </a:p>
        </p:txBody>
      </p:sp>
      <p:sp>
        <p:nvSpPr>
          <p:cNvPr id="69" name="Rectangle 68"/>
          <p:cNvSpPr/>
          <p:nvPr/>
        </p:nvSpPr>
        <p:spPr>
          <a:xfrm>
            <a:off x="547200" y="3902399"/>
            <a:ext cx="485744"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7200" y="39023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⑧</a:t>
            </a:r>
          </a:p>
        </p:txBody>
      </p:sp>
      <p:sp>
        <p:nvSpPr>
          <p:cNvPr id="71" name="Rectangle 70"/>
          <p:cNvSpPr/>
          <p:nvPr/>
        </p:nvSpPr>
        <p:spPr>
          <a:xfrm>
            <a:off x="1032944" y="3902399"/>
            <a:ext cx="2289940"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32944" y="3902399"/>
            <a:ext cx="2289940" cy="280800"/>
          </a:xfrm>
          <a:prstGeom prst="rect">
            <a:avLst/>
          </a:prstGeom>
          <a:noFill/>
        </p:spPr>
        <p:txBody>
          <a:bodyPr wrap="square" lIns="21600" tIns="7200" rIns="21600" bIns="7200" anchor="ctr">
            <a:spAutoFit/>
          </a:bodyPr>
          <a:lstStyle/>
          <a:p>
            <a:pPr algn="l"/>
            <a:r>
              <a:rPr sz="1050" b="0">
                <a:solidFill>
                  <a:srgbClr val="C00000"/>
                </a:solidFill>
                <a:latin typeface="メイリオ"/>
                <a:ea typeface="メイリオ"/>
                <a:cs typeface="メイリオ"/>
              </a:rPr>
              <a:t>前日リマインド</a:t>
            </a:r>
          </a:p>
        </p:txBody>
      </p:sp>
      <p:sp>
        <p:nvSpPr>
          <p:cNvPr id="73" name="Rectangle 72"/>
          <p:cNvSpPr/>
          <p:nvPr/>
        </p:nvSpPr>
        <p:spPr>
          <a:xfrm>
            <a:off x="3322885" y="3902399"/>
            <a:ext cx="4302311"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322885" y="39023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予約したのに来ない人がいる</a:t>
            </a:r>
          </a:p>
        </p:txBody>
      </p:sp>
      <p:sp>
        <p:nvSpPr>
          <p:cNvPr id="75" name="Rectangle 74"/>
          <p:cNvSpPr/>
          <p:nvPr/>
        </p:nvSpPr>
        <p:spPr>
          <a:xfrm>
            <a:off x="7625196" y="3902399"/>
            <a:ext cx="1734803"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625196" y="39023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来場率</a:t>
            </a:r>
          </a:p>
        </p:txBody>
      </p:sp>
      <p:sp>
        <p:nvSpPr>
          <p:cNvPr id="77" name="Rectangle 76"/>
          <p:cNvSpPr/>
          <p:nvPr/>
        </p:nvSpPr>
        <p:spPr>
          <a:xfrm>
            <a:off x="547200" y="4183199"/>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7200" y="41831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⑨</a:t>
            </a:r>
          </a:p>
        </p:txBody>
      </p:sp>
      <p:sp>
        <p:nvSpPr>
          <p:cNvPr id="79" name="Rectangle 78"/>
          <p:cNvSpPr/>
          <p:nvPr/>
        </p:nvSpPr>
        <p:spPr>
          <a:xfrm>
            <a:off x="1032944" y="4183199"/>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032944" y="4183199"/>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事前ヒアリング3問</a:t>
            </a:r>
          </a:p>
        </p:txBody>
      </p:sp>
      <p:sp>
        <p:nvSpPr>
          <p:cNvPr id="81" name="Rectangle 80"/>
          <p:cNvSpPr/>
          <p:nvPr/>
        </p:nvSpPr>
        <p:spPr>
          <a:xfrm>
            <a:off x="3322885" y="4183199"/>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322885" y="41831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当日の聞き取りに時間がかかる</a:t>
            </a:r>
          </a:p>
        </p:txBody>
      </p:sp>
      <p:sp>
        <p:nvSpPr>
          <p:cNvPr id="83" name="Rectangle 82"/>
          <p:cNvSpPr/>
          <p:nvPr/>
        </p:nvSpPr>
        <p:spPr>
          <a:xfrm>
            <a:off x="7625196" y="4183199"/>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625196" y="41831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商談化率</a:t>
            </a:r>
          </a:p>
        </p:txBody>
      </p:sp>
      <p:sp>
        <p:nvSpPr>
          <p:cNvPr id="85" name="Rectangle 84"/>
          <p:cNvSpPr/>
          <p:nvPr/>
        </p:nvSpPr>
        <p:spPr>
          <a:xfrm>
            <a:off x="547200" y="4463999"/>
            <a:ext cx="485744"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7200" y="44639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⑩</a:t>
            </a:r>
          </a:p>
        </p:txBody>
      </p:sp>
      <p:sp>
        <p:nvSpPr>
          <p:cNvPr id="87" name="Rectangle 86"/>
          <p:cNvSpPr/>
          <p:nvPr/>
        </p:nvSpPr>
        <p:spPr>
          <a:xfrm>
            <a:off x="1032944" y="4463999"/>
            <a:ext cx="2289940"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32944" y="4463999"/>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キーワード自動応答</a:t>
            </a:r>
          </a:p>
        </p:txBody>
      </p:sp>
      <p:sp>
        <p:nvSpPr>
          <p:cNvPr id="89" name="Rectangle 88"/>
          <p:cNvSpPr/>
          <p:nvPr/>
        </p:nvSpPr>
        <p:spPr>
          <a:xfrm>
            <a:off x="3322885" y="4463999"/>
            <a:ext cx="4302311"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3322885" y="44639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営業時間外の問い合わせを落としている</a:t>
            </a:r>
          </a:p>
        </p:txBody>
      </p:sp>
      <p:sp>
        <p:nvSpPr>
          <p:cNvPr id="91" name="Rectangle 90"/>
          <p:cNvSpPr/>
          <p:nvPr/>
        </p:nvSpPr>
        <p:spPr>
          <a:xfrm>
            <a:off x="7625196" y="4463999"/>
            <a:ext cx="1734803"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625196" y="44639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自動応答率</a:t>
            </a:r>
          </a:p>
        </p:txBody>
      </p:sp>
      <p:sp>
        <p:nvSpPr>
          <p:cNvPr id="93" name="Rectangle 92"/>
          <p:cNvSpPr/>
          <p:nvPr/>
        </p:nvSpPr>
        <p:spPr>
          <a:xfrm>
            <a:off x="547200" y="4744799"/>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7200" y="47447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⑪</a:t>
            </a:r>
          </a:p>
        </p:txBody>
      </p:sp>
      <p:sp>
        <p:nvSpPr>
          <p:cNvPr id="95" name="Rectangle 94"/>
          <p:cNvSpPr/>
          <p:nvPr/>
        </p:nvSpPr>
        <p:spPr>
          <a:xfrm>
            <a:off x="1032944" y="4744799"/>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32944" y="4744799"/>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年間の企画配信</a:t>
            </a:r>
          </a:p>
        </p:txBody>
      </p:sp>
      <p:sp>
        <p:nvSpPr>
          <p:cNvPr id="97" name="Rectangle 96"/>
          <p:cNvSpPr/>
          <p:nvPr/>
        </p:nvSpPr>
        <p:spPr>
          <a:xfrm>
            <a:off x="3322885" y="4744799"/>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322885" y="47447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検討8〜12か月の途中で接点が切れる</a:t>
            </a:r>
          </a:p>
        </p:txBody>
      </p:sp>
      <p:sp>
        <p:nvSpPr>
          <p:cNvPr id="99" name="Rectangle 98"/>
          <p:cNvSpPr/>
          <p:nvPr/>
        </p:nvSpPr>
        <p:spPr>
          <a:xfrm>
            <a:off x="7625196" y="4744799"/>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7625196" y="47447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配信別クリック数</a:t>
            </a:r>
          </a:p>
        </p:txBody>
      </p:sp>
      <p:sp>
        <p:nvSpPr>
          <p:cNvPr id="101" name="Rectangle 100"/>
          <p:cNvSpPr/>
          <p:nvPr/>
        </p:nvSpPr>
        <p:spPr>
          <a:xfrm>
            <a:off x="547200" y="5025599"/>
            <a:ext cx="485744"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7200" y="50255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⑫</a:t>
            </a:r>
          </a:p>
        </p:txBody>
      </p:sp>
      <p:sp>
        <p:nvSpPr>
          <p:cNvPr id="103" name="Rectangle 102"/>
          <p:cNvSpPr/>
          <p:nvPr/>
        </p:nvSpPr>
        <p:spPr>
          <a:xfrm>
            <a:off x="1032944" y="5025599"/>
            <a:ext cx="2289940"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1032944" y="5025599"/>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過去リストの掘り起こし</a:t>
            </a:r>
          </a:p>
        </p:txBody>
      </p:sp>
      <p:sp>
        <p:nvSpPr>
          <p:cNvPr id="105" name="Rectangle 104"/>
          <p:cNvSpPr/>
          <p:nvPr/>
        </p:nvSpPr>
        <p:spPr>
          <a:xfrm>
            <a:off x="3322885" y="5025599"/>
            <a:ext cx="4302311"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322885" y="50255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請求だけで止まった過去分が眠っている</a:t>
            </a:r>
          </a:p>
        </p:txBody>
      </p:sp>
      <p:sp>
        <p:nvSpPr>
          <p:cNvPr id="107" name="Rectangle 106"/>
          <p:cNvSpPr/>
          <p:nvPr/>
        </p:nvSpPr>
        <p:spPr>
          <a:xfrm>
            <a:off x="7625196" y="5025599"/>
            <a:ext cx="1734803" cy="280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7625196" y="50255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再来場数</a:t>
            </a:r>
          </a:p>
        </p:txBody>
      </p:sp>
      <p:sp>
        <p:nvSpPr>
          <p:cNvPr id="109" name="Rectangle 108"/>
          <p:cNvSpPr/>
          <p:nvPr/>
        </p:nvSpPr>
        <p:spPr>
          <a:xfrm>
            <a:off x="547200" y="5306399"/>
            <a:ext cx="485744"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7200" y="5306399"/>
            <a:ext cx="485744"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⑬</a:t>
            </a:r>
          </a:p>
        </p:txBody>
      </p:sp>
      <p:sp>
        <p:nvSpPr>
          <p:cNvPr id="111" name="Rectangle 110"/>
          <p:cNvSpPr/>
          <p:nvPr/>
        </p:nvSpPr>
        <p:spPr>
          <a:xfrm>
            <a:off x="1032944" y="5306399"/>
            <a:ext cx="2289940"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32944" y="5306399"/>
            <a:ext cx="2289940"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引渡し後フォロー</a:t>
            </a:r>
          </a:p>
        </p:txBody>
      </p:sp>
      <p:sp>
        <p:nvSpPr>
          <p:cNvPr id="113" name="Rectangle 112"/>
          <p:cNvSpPr/>
          <p:nvPr/>
        </p:nvSpPr>
        <p:spPr>
          <a:xfrm>
            <a:off x="3322885" y="5306399"/>
            <a:ext cx="4302311"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322885" y="5306399"/>
            <a:ext cx="4302311" cy="2808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引渡しで関係が終わっている</a:t>
            </a:r>
          </a:p>
        </p:txBody>
      </p:sp>
      <p:sp>
        <p:nvSpPr>
          <p:cNvPr id="115" name="Rectangle 114"/>
          <p:cNvSpPr/>
          <p:nvPr/>
        </p:nvSpPr>
        <p:spPr>
          <a:xfrm>
            <a:off x="7625196" y="5306399"/>
            <a:ext cx="1734803" cy="280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625196" y="5306399"/>
            <a:ext cx="1734803" cy="2808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点検・紹介件数</a:t>
            </a:r>
          </a:p>
        </p:txBody>
      </p:sp>
      <p:sp>
        <p:nvSpPr>
          <p:cNvPr id="117" name="TextBox 116"/>
          <p:cNvSpPr txBox="1"/>
          <p:nvPr/>
        </p:nvSpPr>
        <p:spPr>
          <a:xfrm>
            <a:off x="547200" y="5731200"/>
            <a:ext cx="8812800" cy="540000"/>
          </a:xfrm>
          <a:prstGeom prst="rect">
            <a:avLst/>
          </a:prstGeom>
          <a:noFill/>
        </p:spPr>
        <p:txBody>
          <a:bodyPr wrap="square" lIns="21600" tIns="7200" rIns="21600" bIns="7200" anchor="t">
            <a:spAutoFit/>
          </a:bodyPr>
          <a:lstStyle/>
          <a:p>
            <a:pPr algn="l">
              <a:spcAft>
                <a:spcPts val="400"/>
              </a:spcAft>
            </a:pPr>
            <a:r>
              <a:rPr sz="1200" b="1">
                <a:solidFill>
                  <a:srgbClr val="C00000"/>
                </a:solidFill>
                <a:latin typeface="メイリオ"/>
                <a:ea typeface="メイリオ"/>
                <a:cs typeface="メイリオ"/>
              </a:rPr>
              <a:t>赤い①④⑦⑧の4つが取りこぼしの本体です。ここだけでも成立します。</a:t>
            </a:r>
          </a:p>
          <a:p>
            <a:pPr algn="l"/>
            <a:r>
              <a:rPr sz="1150" b="1">
                <a:solidFill>
                  <a:srgbClr val="333333"/>
                </a:solidFill>
                <a:latin typeface="メイリオ"/>
                <a:ea typeface="メイリオ"/>
                <a:cs typeface="メイリオ"/>
              </a:rPr>
              <a:t>⑪⑬には他社がやらない打ち手も入れています。資金計画シートの親転送、外構費の先出し、構造見学会のLINE限定公開。</a:t>
            </a:r>
          </a:p>
        </p:txBody>
      </p:sp>
      <p:sp>
        <p:nvSpPr>
          <p:cNvPr id="118" name="TextBox 117"/>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※想定KPIは運用2〜3か月目の実測で確定します。実装に外部ツールが必要な施策は費用プランに記載しています。</a:t>
            </a:r>
          </a:p>
        </p:txBody>
      </p:sp>
    </p:spTree>
    <p:extLst>
      <p:ext uri="{BB962C8B-B14F-4D97-AF65-F5344CB8AC3E}">
        <p14:creationId xmlns:p14="http://schemas.microsoft.com/office/powerpoint/2010/main" val="133544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アカウント構築｜友だち追加の動線</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友だちが増えなければ、この提案は成立しません。入口は2つに絞ります。</a:t>
            </a:r>
          </a:p>
          <a:p>
            <a:pPr algn="l">
              <a:spcAft>
                <a:spcPts val="300"/>
              </a:spcAft>
            </a:pPr>
            <a:r>
              <a:rPr sz="1250" b="1">
                <a:solidFill>
                  <a:srgbClr val="333333"/>
                </a:solidFill>
                <a:latin typeface="メイリオ"/>
                <a:ea typeface="メイリオ"/>
                <a:cs typeface="メイリオ"/>
              </a:rPr>
              <a:t>どちらも「問い合わせる」とは書きません。受け取るだけ、と書きます。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4176000"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1200" y="1655999"/>
            <a:ext cx="4031999" cy="360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① 離脱防止ポップアップ（LP・HPからの離脱時に表示）</a:t>
            </a:r>
          </a:p>
        </p:txBody>
      </p:sp>
      <p:sp>
        <p:nvSpPr>
          <p:cNvPr id="7" name="Rounded Rectangle 6"/>
          <p:cNvSpPr/>
          <p:nvPr/>
        </p:nvSpPr>
        <p:spPr>
          <a:xfrm>
            <a:off x="547200" y="2088000"/>
            <a:ext cx="4176000" cy="2592000"/>
          </a:xfrm>
          <a:prstGeom prst="roundRect">
            <a:avLst>
              <a:gd name="adj" fmla="val 6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opup_exit.png"/>
          <p:cNvPicPr>
            <a:picLocks noChangeAspect="1"/>
          </p:cNvPicPr>
          <p:nvPr/>
        </p:nvPicPr>
        <p:blipFill>
          <a:blip r:embed="rId2"/>
          <a:stretch>
            <a:fillRect/>
          </a:stretch>
        </p:blipFill>
        <p:spPr>
          <a:xfrm>
            <a:off x="1051200" y="2178000"/>
            <a:ext cx="3168000" cy="2436923"/>
          </a:xfrm>
          <a:prstGeom prst="rect">
            <a:avLst/>
          </a:prstGeom>
        </p:spPr>
      </p:pic>
      <p:sp>
        <p:nvSpPr>
          <p:cNvPr id="9" name="TextBox 8"/>
          <p:cNvSpPr txBox="1"/>
          <p:nvPr/>
        </p:nvSpPr>
        <p:spPr>
          <a:xfrm>
            <a:off x="547200" y="4770000"/>
            <a:ext cx="4176000" cy="432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・CTAは「問い合わせる」ではなく「受け取る」。連絡先を渡す行為だと思われると押されません。</a:t>
            </a:r>
          </a:p>
        </p:txBody>
      </p:sp>
      <p:sp>
        <p:nvSpPr>
          <p:cNvPr id="10" name="TextBox 9"/>
          <p:cNvSpPr txBox="1"/>
          <p:nvPr/>
        </p:nvSpPr>
        <p:spPr>
          <a:xfrm>
            <a:off x="547200" y="5220000"/>
            <a:ext cx="4176000" cy="432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・「お電話しません」は押す前に見せます。押したあとでは警戒は解けません。</a:t>
            </a:r>
          </a:p>
        </p:txBody>
      </p:sp>
      <p:sp>
        <p:nvSpPr>
          <p:cNvPr id="11" name="TextBox 10"/>
          <p:cNvSpPr txBox="1"/>
          <p:nvPr/>
        </p:nvSpPr>
        <p:spPr>
          <a:xfrm>
            <a:off x="547200" y="5670000"/>
            <a:ext cx="4176000" cy="432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・「今はいい」を必ず用意します。閉じられない画面は、ページ全体の印象を悪くします。</a:t>
            </a:r>
          </a:p>
        </p:txBody>
      </p:sp>
      <p:sp>
        <p:nvSpPr>
          <p:cNvPr id="12" name="Rounded Rectangle 11"/>
          <p:cNvSpPr/>
          <p:nvPr/>
        </p:nvSpPr>
        <p:spPr>
          <a:xfrm>
            <a:off x="5011200" y="1655999"/>
            <a:ext cx="4348800" cy="360000"/>
          </a:xfrm>
          <a:prstGeom prst="roundRect">
            <a:avLst>
              <a:gd name="adj" fmla="val 15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5200" y="1655999"/>
            <a:ext cx="4060800" cy="360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② LINE広告 CPF配信（友だち追加が課金地点）</a:t>
            </a:r>
          </a:p>
        </p:txBody>
      </p:sp>
      <p:sp>
        <p:nvSpPr>
          <p:cNvPr id="14" name="Rounded Rectangle 13"/>
          <p:cNvSpPr/>
          <p:nvPr/>
        </p:nvSpPr>
        <p:spPr>
          <a:xfrm>
            <a:off x="5011200" y="2088000"/>
            <a:ext cx="4348800" cy="2592000"/>
          </a:xfrm>
          <a:prstGeom prst="roundRect">
            <a:avLst>
              <a:gd name="adj" fmla="val 6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155200" y="2250000"/>
            <a:ext cx="1224000" cy="540000"/>
          </a:xfrm>
          <a:prstGeom prst="roundRect">
            <a:avLst>
              <a:gd name="adj" fmla="val 14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55200" y="2250000"/>
            <a:ext cx="1224000" cy="540000"/>
          </a:xfrm>
          <a:prstGeom prst="rect">
            <a:avLst/>
          </a:prstGeom>
          <a:noFill/>
        </p:spPr>
        <p:txBody>
          <a:bodyPr wrap="square" lIns="21600" tIns="7200" rIns="21600" bIns="7200" anchor="ctr">
            <a:spAutoFit/>
          </a:bodyPr>
          <a:lstStyle/>
          <a:p>
            <a:pPr algn="ctr"/>
            <a:r>
              <a:rPr sz="1000" b="1">
                <a:solidFill>
                  <a:srgbClr val="ED7D31"/>
                </a:solidFill>
                <a:latin typeface="メイリオ"/>
                <a:ea typeface="メイリオ"/>
                <a:cs typeface="メイリオ"/>
              </a:rPr>
              <a:t>見出し（20字）</a:t>
            </a:r>
          </a:p>
        </p:txBody>
      </p:sp>
      <p:sp>
        <p:nvSpPr>
          <p:cNvPr id="17" name="TextBox 16"/>
          <p:cNvSpPr txBox="1"/>
          <p:nvPr/>
        </p:nvSpPr>
        <p:spPr>
          <a:xfrm>
            <a:off x="6451200" y="2250000"/>
            <a:ext cx="2728800"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その土地、建てられますか</a:t>
            </a:r>
          </a:p>
        </p:txBody>
      </p:sp>
      <p:sp>
        <p:nvSpPr>
          <p:cNvPr id="18" name="Rounded Rectangle 17"/>
          <p:cNvSpPr/>
          <p:nvPr/>
        </p:nvSpPr>
        <p:spPr>
          <a:xfrm>
            <a:off x="5155200" y="2844000"/>
            <a:ext cx="1224000" cy="540000"/>
          </a:xfrm>
          <a:prstGeom prst="roundRect">
            <a:avLst>
              <a:gd name="adj" fmla="val 14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55200" y="2844000"/>
            <a:ext cx="1224000" cy="540000"/>
          </a:xfrm>
          <a:prstGeom prst="rect">
            <a:avLst/>
          </a:prstGeom>
          <a:noFill/>
        </p:spPr>
        <p:txBody>
          <a:bodyPr wrap="square" lIns="21600" tIns="7200" rIns="21600" bIns="7200" anchor="ctr">
            <a:spAutoFit/>
          </a:bodyPr>
          <a:lstStyle/>
          <a:p>
            <a:pPr algn="ctr"/>
            <a:r>
              <a:rPr sz="1000" b="1">
                <a:solidFill>
                  <a:srgbClr val="ED7D31"/>
                </a:solidFill>
                <a:latin typeface="メイリオ"/>
                <a:ea typeface="メイリオ"/>
                <a:cs typeface="メイリオ"/>
              </a:rPr>
              <a:t>本文（40字）</a:t>
            </a:r>
          </a:p>
        </p:txBody>
      </p:sp>
      <p:sp>
        <p:nvSpPr>
          <p:cNvPr id="20" name="TextBox 19"/>
          <p:cNvSpPr txBox="1"/>
          <p:nvPr/>
        </p:nvSpPr>
        <p:spPr>
          <a:xfrm>
            <a:off x="6451200" y="2844000"/>
            <a:ext cx="2728800"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60秒の質問に答えるだけ。土地・建物・諸費用の総額目安をLINEでお送りします。</a:t>
            </a:r>
          </a:p>
        </p:txBody>
      </p:sp>
      <p:sp>
        <p:nvSpPr>
          <p:cNvPr id="21" name="Rounded Rectangle 20"/>
          <p:cNvSpPr/>
          <p:nvPr/>
        </p:nvSpPr>
        <p:spPr>
          <a:xfrm>
            <a:off x="5155200" y="3438000"/>
            <a:ext cx="1224000" cy="540000"/>
          </a:xfrm>
          <a:prstGeom prst="roundRect">
            <a:avLst>
              <a:gd name="adj" fmla="val 14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55200" y="3438000"/>
            <a:ext cx="1224000" cy="540000"/>
          </a:xfrm>
          <a:prstGeom prst="rect">
            <a:avLst/>
          </a:prstGeom>
          <a:noFill/>
        </p:spPr>
        <p:txBody>
          <a:bodyPr wrap="square" lIns="21600" tIns="7200" rIns="21600" bIns="7200" anchor="ctr">
            <a:spAutoFit/>
          </a:bodyPr>
          <a:lstStyle/>
          <a:p>
            <a:pPr algn="ctr"/>
            <a:r>
              <a:rPr sz="1000" b="1">
                <a:solidFill>
                  <a:srgbClr val="ED7D31"/>
                </a:solidFill>
                <a:latin typeface="メイリオ"/>
                <a:ea typeface="メイリオ"/>
                <a:cs typeface="メイリオ"/>
              </a:rPr>
              <a:t>ボタン文言</a:t>
            </a:r>
          </a:p>
        </p:txBody>
      </p:sp>
      <p:sp>
        <p:nvSpPr>
          <p:cNvPr id="23" name="TextBox 22"/>
          <p:cNvSpPr txBox="1"/>
          <p:nvPr/>
        </p:nvSpPr>
        <p:spPr>
          <a:xfrm>
            <a:off x="6451200" y="3438000"/>
            <a:ext cx="2728800"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友だち追加して受け取る</a:t>
            </a:r>
          </a:p>
        </p:txBody>
      </p:sp>
      <p:sp>
        <p:nvSpPr>
          <p:cNvPr id="24" name="Rounded Rectangle 23"/>
          <p:cNvSpPr/>
          <p:nvPr/>
        </p:nvSpPr>
        <p:spPr>
          <a:xfrm>
            <a:off x="5155200" y="4032000"/>
            <a:ext cx="1224000" cy="540000"/>
          </a:xfrm>
          <a:prstGeom prst="roundRect">
            <a:avLst>
              <a:gd name="adj" fmla="val 14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55200" y="4032000"/>
            <a:ext cx="1224000" cy="540000"/>
          </a:xfrm>
          <a:prstGeom prst="rect">
            <a:avLst/>
          </a:prstGeom>
          <a:noFill/>
        </p:spPr>
        <p:txBody>
          <a:bodyPr wrap="square" lIns="21600" tIns="7200" rIns="21600" bIns="7200" anchor="ctr">
            <a:spAutoFit/>
          </a:bodyPr>
          <a:lstStyle/>
          <a:p>
            <a:pPr algn="ctr"/>
            <a:r>
              <a:rPr sz="1000" b="1">
                <a:solidFill>
                  <a:srgbClr val="ED7D31"/>
                </a:solidFill>
                <a:latin typeface="メイリオ"/>
                <a:ea typeface="メイリオ"/>
                <a:cs typeface="メイリオ"/>
              </a:rPr>
              <a:t>配信先</a:t>
            </a:r>
          </a:p>
        </p:txBody>
      </p:sp>
      <p:sp>
        <p:nvSpPr>
          <p:cNvPr id="26" name="TextBox 25"/>
          <p:cNvSpPr txBox="1"/>
          <p:nvPr/>
        </p:nvSpPr>
        <p:spPr>
          <a:xfrm>
            <a:off x="6451200" y="4032000"/>
            <a:ext cx="2728800"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エリア×年齢×住宅関心層（LINEヤフー社の配信面）</a:t>
            </a:r>
          </a:p>
        </p:txBody>
      </p:sp>
      <p:sp>
        <p:nvSpPr>
          <p:cNvPr id="27" name="Rounded Rectangle 26"/>
          <p:cNvSpPr/>
          <p:nvPr/>
        </p:nvSpPr>
        <p:spPr>
          <a:xfrm>
            <a:off x="5155200" y="4643999"/>
            <a:ext cx="4060800" cy="1224000"/>
          </a:xfrm>
          <a:prstGeom prst="roundRect">
            <a:avLst>
              <a:gd name="adj" fmla="val 6000"/>
            </a:avLst>
          </a:prstGeom>
          <a:solidFill>
            <a:srgbClr val="F4F7FF"/>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99200" y="4752000"/>
            <a:ext cx="3772800" cy="1007999"/>
          </a:xfrm>
          <a:prstGeom prst="rect">
            <a:avLst/>
          </a:prstGeom>
          <a:noFill/>
        </p:spPr>
        <p:txBody>
          <a:bodyPr wrap="square" lIns="21600" tIns="7200" rIns="21600" bIns="7200" anchor="t">
            <a:spAutoFit/>
          </a:bodyPr>
          <a:lstStyle/>
          <a:p>
            <a:pPr algn="l">
              <a:spcAft>
                <a:spcPts val="400"/>
              </a:spcAft>
            </a:pPr>
            <a:r>
              <a:rPr sz="1050" b="0">
                <a:solidFill>
                  <a:srgbClr val="333333"/>
                </a:solidFill>
                <a:latin typeface="メイリオ"/>
                <a:ea typeface="メイリオ"/>
                <a:cs typeface="メイリオ"/>
              </a:rPr>
              <a:t>CPFは友だち追加1件ごとの課金です。資料請求のCPA（業界水準15,000〜30,000円）よりはるかに安く母数を作れます。</a:t>
            </a:r>
          </a:p>
          <a:p>
            <a:pPr algn="l"/>
            <a:r>
              <a:rPr sz="1050" b="1">
                <a:solidFill>
                  <a:srgbClr val="333333"/>
                </a:solidFill>
                <a:latin typeface="メイリオ"/>
                <a:ea typeface="メイリオ"/>
                <a:cs typeface="メイリオ"/>
              </a:rPr>
              <a:t>ただし追加しただけの友だちなので、14日ステップで育てることが前提になります。</a:t>
            </a:r>
          </a:p>
        </p:txBody>
      </p:sp>
      <p:sp>
        <p:nvSpPr>
          <p:cNvPr id="29" name="TextBox 28"/>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※離脱防止ポップアップの実装には外部ツールが必要です（初期15,000円＋月30,000円・税別）。費用プランに記載しています。</a:t>
            </a:r>
          </a:p>
          <a:p>
            <a:pPr algn="l"/>
            <a:r>
              <a:rPr sz="850" b="0">
                <a:solidFill>
                  <a:srgbClr val="7F7F7F"/>
                </a:solidFill>
                <a:latin typeface="メイリオ"/>
                <a:ea typeface="メイリオ"/>
                <a:cs typeface="メイリオ"/>
              </a:rPr>
              <a:t>※LINE広告CPFの配信条件・単価はLINEヤフー社の規定によります。資料請求CPAは業界水準です。</a:t>
            </a:r>
          </a:p>
        </p:txBody>
      </p:sp>
    </p:spTree>
    <p:extLst>
      <p:ext uri="{BB962C8B-B14F-4D97-AF65-F5344CB8AC3E}">
        <p14:creationId xmlns:p14="http://schemas.microsoft.com/office/powerpoint/2010/main" val="173865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アカウント構築｜あいさつメッセージ</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友だち追加の直後が、最も警戒されている瞬間です。ここで営業色を出すとブロックされます。</a:t>
            </a:r>
          </a:p>
          <a:p>
            <a:pPr algn="l">
              <a:spcAft>
                <a:spcPts val="300"/>
              </a:spcAft>
            </a:pPr>
            <a:r>
              <a:rPr sz="1250" b="1">
                <a:solidFill>
                  <a:srgbClr val="333333"/>
                </a:solidFill>
                <a:latin typeface="メイリオ"/>
                <a:ea typeface="メイリオ"/>
                <a:cs typeface="メイリオ"/>
              </a:rPr>
              <a:t>1通目で「電話はしません」と先に伝え、アンケートで興味だけ受け取ります。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pic>
        <p:nvPicPr>
          <p:cNvPr id="5" name="Picture 4" descr="talk_01_greeting.png"/>
          <p:cNvPicPr>
            <a:picLocks noChangeAspect="1"/>
          </p:cNvPicPr>
          <p:nvPr/>
        </p:nvPicPr>
        <p:blipFill>
          <a:blip r:embed="rId3"/>
          <a:stretch>
            <a:fillRect/>
          </a:stretch>
        </p:blipFill>
        <p:spPr>
          <a:xfrm>
            <a:off x="547200" y="1673999"/>
            <a:ext cx="3384000" cy="3275712"/>
          </a:xfrm>
          <a:prstGeom prst="rect">
            <a:avLst/>
          </a:prstGeom>
        </p:spPr>
      </p:pic>
      <p:sp>
        <p:nvSpPr>
          <p:cNvPr id="6" name="TextBox 5"/>
          <p:cNvSpPr txBox="1"/>
          <p:nvPr/>
        </p:nvSpPr>
        <p:spPr>
          <a:xfrm>
            <a:off x="4147200" y="1655999"/>
            <a:ext cx="5212800" cy="251999"/>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この4通に込めた設計意図</a:t>
            </a:r>
          </a:p>
        </p:txBody>
      </p:sp>
      <p:sp>
        <p:nvSpPr>
          <p:cNvPr id="7" name="Rounded Rectangle 6"/>
          <p:cNvSpPr/>
          <p:nvPr/>
        </p:nvSpPr>
        <p:spPr>
          <a:xfrm>
            <a:off x="4147200" y="2015999"/>
            <a:ext cx="5212800" cy="774000"/>
          </a:xfrm>
          <a:prstGeom prst="roundRect">
            <a:avLst>
              <a:gd name="adj" fmla="val 6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1200" y="2109600"/>
            <a:ext cx="4924800" cy="2340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① 担当者名と資格を出す</a:t>
            </a:r>
          </a:p>
        </p:txBody>
      </p:sp>
      <p:sp>
        <p:nvSpPr>
          <p:cNvPr id="9" name="TextBox 8"/>
          <p:cNvSpPr txBox="1"/>
          <p:nvPr/>
        </p:nvSpPr>
        <p:spPr>
          <a:xfrm>
            <a:off x="4291200" y="2368800"/>
            <a:ext cx="4924800"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会社ではなく人が応対することを最初に示す。匿名のアカウントは信用されない</a:t>
            </a:r>
          </a:p>
        </p:txBody>
      </p:sp>
      <p:sp>
        <p:nvSpPr>
          <p:cNvPr id="10" name="Rounded Rectangle 9"/>
          <p:cNvSpPr/>
          <p:nvPr/>
        </p:nvSpPr>
        <p:spPr>
          <a:xfrm>
            <a:off x="4147200" y="2861999"/>
            <a:ext cx="5212800" cy="774000"/>
          </a:xfrm>
          <a:prstGeom prst="roundRect">
            <a:avLst>
              <a:gd name="adj" fmla="val 6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1200" y="2955599"/>
            <a:ext cx="4924800" cy="2340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② 有人対応の時間帯を明記</a:t>
            </a:r>
          </a:p>
        </p:txBody>
      </p:sp>
      <p:sp>
        <p:nvSpPr>
          <p:cNvPr id="12" name="TextBox 11"/>
          <p:cNvSpPr txBox="1"/>
          <p:nvPr/>
        </p:nvSpPr>
        <p:spPr>
          <a:xfrm>
            <a:off x="4291200" y="3214800"/>
            <a:ext cx="4924800"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いつ返事が来るか分かると、質問のハードルが下がる</a:t>
            </a:r>
          </a:p>
        </p:txBody>
      </p:sp>
      <p:sp>
        <p:nvSpPr>
          <p:cNvPr id="13" name="Rounded Rectangle 12"/>
          <p:cNvSpPr/>
          <p:nvPr/>
        </p:nvSpPr>
        <p:spPr>
          <a:xfrm>
            <a:off x="4147200" y="3707999"/>
            <a:ext cx="5212800" cy="774000"/>
          </a:xfrm>
          <a:prstGeom prst="roundRect">
            <a:avLst>
              <a:gd name="adj" fmla="val 6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1200" y="3801599"/>
            <a:ext cx="4924800" cy="2340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③「お電話しません」を先に書く</a:t>
            </a:r>
          </a:p>
        </p:txBody>
      </p:sp>
      <p:sp>
        <p:nvSpPr>
          <p:cNvPr id="15" name="TextBox 14"/>
          <p:cNvSpPr txBox="1"/>
          <p:nvPr/>
        </p:nvSpPr>
        <p:spPr>
          <a:xfrm>
            <a:off x="4291200" y="4060800"/>
            <a:ext cx="4924800"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検討者が最も警戒しているのは営業電話。聞かれる前に打ち消す</a:t>
            </a:r>
          </a:p>
        </p:txBody>
      </p:sp>
      <p:sp>
        <p:nvSpPr>
          <p:cNvPr id="16" name="Rounded Rectangle 15"/>
          <p:cNvSpPr/>
          <p:nvPr/>
        </p:nvSpPr>
        <p:spPr>
          <a:xfrm>
            <a:off x="4147200" y="4553999"/>
            <a:ext cx="5212800" cy="774000"/>
          </a:xfrm>
          <a:prstGeom prst="roundRect">
            <a:avLst>
              <a:gd name="adj" fmla="val 6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1200" y="4647599"/>
            <a:ext cx="4924800" cy="234000"/>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④ アンケートを1通目に置く</a:t>
            </a:r>
          </a:p>
        </p:txBody>
      </p:sp>
      <p:sp>
        <p:nvSpPr>
          <p:cNvPr id="18" name="TextBox 17"/>
          <p:cNvSpPr txBox="1"/>
          <p:nvPr/>
        </p:nvSpPr>
        <p:spPr>
          <a:xfrm>
            <a:off x="4291200" y="4906800"/>
            <a:ext cx="4924800" cy="36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友だち追加直後が最も回答率が高い。時間が経つほど開かれなくなる</a:t>
            </a:r>
          </a:p>
        </p:txBody>
      </p:sp>
      <p:sp>
        <p:nvSpPr>
          <p:cNvPr id="19" name="Rounded Rectangle 18"/>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1通目の役割は案内ではなく、警戒を解くこと</a:t>
            </a:r>
          </a:p>
        </p:txBody>
      </p:sp>
      <p:sp>
        <p:nvSpPr>
          <p:cNvPr id="20" name="TextBox 19"/>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※文面は業界向けの標準案です。実際の運用では貴社の担当者名・対応時間に置き換えて設定します。</a:t>
            </a:r>
          </a:p>
        </p:txBody>
      </p:sp>
    </p:spTree>
    <p:extLst>
      <p:ext uri="{BB962C8B-B14F-4D97-AF65-F5344CB8AC3E}">
        <p14:creationId xmlns:p14="http://schemas.microsoft.com/office/powerpoint/2010/main" val="406932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アカウント構築｜60秒 予算診断</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自由入力はゼロ。4問すべて選択式にして、60秒で終わる設計にします。</a:t>
            </a:r>
          </a:p>
          <a:p>
            <a:pPr algn="l">
              <a:spcAft>
                <a:spcPts val="300"/>
              </a:spcAft>
            </a:pPr>
            <a:r>
              <a:rPr sz="1250" b="1">
                <a:solidFill>
                  <a:srgbClr val="333333"/>
                </a:solidFill>
                <a:latin typeface="メイリオ"/>
                <a:ea typeface="メイリオ"/>
                <a:cs typeface="メイリオ"/>
              </a:rPr>
              <a:t>答えるだけでタグが付き、以降の配信が本人の状況に合ったものだけになります。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73999"/>
            <a:ext cx="5903999" cy="864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5200" y="1835999"/>
            <a:ext cx="540000" cy="5400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5200" y="1835999"/>
            <a:ext cx="540000" cy="54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Q1</a:t>
            </a:r>
          </a:p>
        </p:txBody>
      </p:sp>
      <p:sp>
        <p:nvSpPr>
          <p:cNvPr id="8" name="TextBox 7"/>
          <p:cNvSpPr txBox="1"/>
          <p:nvPr/>
        </p:nvSpPr>
        <p:spPr>
          <a:xfrm>
            <a:off x="1303200" y="1846799"/>
            <a:ext cx="3420000" cy="251999"/>
          </a:xfrm>
          <a:prstGeom prst="rect">
            <a:avLst/>
          </a:prstGeom>
          <a:noFill/>
        </p:spPr>
        <p:txBody>
          <a:bodyPr wrap="square" lIns="21600" tIns="7200" rIns="21600" bIns="7200" anchor="t">
            <a:spAutoFit/>
          </a:bodyPr>
          <a:lstStyle/>
          <a:p>
            <a:pPr algn="l"/>
            <a:r>
              <a:rPr sz="1250" b="1">
                <a:solidFill>
                  <a:srgbClr val="333333"/>
                </a:solidFill>
                <a:latin typeface="メイリオ"/>
                <a:ea typeface="メイリオ"/>
                <a:cs typeface="メイリオ"/>
              </a:rPr>
              <a:t>建てたい時期は？</a:t>
            </a:r>
          </a:p>
        </p:txBody>
      </p:sp>
      <p:sp>
        <p:nvSpPr>
          <p:cNvPr id="9" name="TextBox 8"/>
          <p:cNvSpPr txBox="1"/>
          <p:nvPr/>
        </p:nvSpPr>
        <p:spPr>
          <a:xfrm>
            <a:off x="1303200" y="2124000"/>
            <a:ext cx="3420000" cy="270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1年以内 ／ 1〜2年 ／ 2〜3年 ／ まだ決めていない</a:t>
            </a:r>
          </a:p>
        </p:txBody>
      </p:sp>
      <p:sp>
        <p:nvSpPr>
          <p:cNvPr id="10" name="Rounded Rectangle 9"/>
          <p:cNvSpPr/>
          <p:nvPr/>
        </p:nvSpPr>
        <p:spPr>
          <a:xfrm>
            <a:off x="4795200" y="1889999"/>
            <a:ext cx="1548000" cy="432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95200" y="1889999"/>
            <a:ext cx="1548000" cy="432000"/>
          </a:xfrm>
          <a:prstGeom prst="rect">
            <a:avLst/>
          </a:prstGeom>
          <a:noFill/>
        </p:spPr>
        <p:txBody>
          <a:bodyPr wrap="square" lIns="21600" tIns="7200" rIns="21600" bIns="7200" anchor="ctr">
            <a:spAutoFit/>
          </a:bodyPr>
          <a:lstStyle/>
          <a:p>
            <a:pPr algn="ctr"/>
            <a:r>
              <a:rPr sz="1050" b="1">
                <a:solidFill>
                  <a:srgbClr val="1F285A"/>
                </a:solidFill>
                <a:latin typeface="メイリオ"/>
                <a:ea typeface="メイリオ"/>
                <a:cs typeface="メイリオ"/>
              </a:rPr>
              <a:t>→ 検討時期タグ</a:t>
            </a:r>
          </a:p>
        </p:txBody>
      </p:sp>
      <p:sp>
        <p:nvSpPr>
          <p:cNvPr id="12" name="Rounded Rectangle 11"/>
          <p:cNvSpPr/>
          <p:nvPr/>
        </p:nvSpPr>
        <p:spPr>
          <a:xfrm>
            <a:off x="547200" y="2610000"/>
            <a:ext cx="5903999" cy="864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5200" y="2772000"/>
            <a:ext cx="540000" cy="5400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5200" y="2772000"/>
            <a:ext cx="540000" cy="54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Q2</a:t>
            </a:r>
          </a:p>
        </p:txBody>
      </p:sp>
      <p:sp>
        <p:nvSpPr>
          <p:cNvPr id="15" name="TextBox 14"/>
          <p:cNvSpPr txBox="1"/>
          <p:nvPr/>
        </p:nvSpPr>
        <p:spPr>
          <a:xfrm>
            <a:off x="1303200" y="2782800"/>
            <a:ext cx="3420000" cy="251999"/>
          </a:xfrm>
          <a:prstGeom prst="rect">
            <a:avLst/>
          </a:prstGeom>
          <a:noFill/>
        </p:spPr>
        <p:txBody>
          <a:bodyPr wrap="square" lIns="21600" tIns="7200" rIns="21600" bIns="7200" anchor="t">
            <a:spAutoFit/>
          </a:bodyPr>
          <a:lstStyle/>
          <a:p>
            <a:pPr algn="l"/>
            <a:r>
              <a:rPr sz="1250" b="1">
                <a:solidFill>
                  <a:srgbClr val="333333"/>
                </a:solidFill>
                <a:latin typeface="メイリオ"/>
                <a:ea typeface="メイリオ"/>
                <a:cs typeface="メイリオ"/>
              </a:rPr>
              <a:t>土地はお決まりですか？</a:t>
            </a:r>
          </a:p>
        </p:txBody>
      </p:sp>
      <p:sp>
        <p:nvSpPr>
          <p:cNvPr id="16" name="TextBox 15"/>
          <p:cNvSpPr txBox="1"/>
          <p:nvPr/>
        </p:nvSpPr>
        <p:spPr>
          <a:xfrm>
            <a:off x="1303200" y="3060000"/>
            <a:ext cx="3420000" cy="270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所有している ／ 候補がある ／ これから探す</a:t>
            </a:r>
          </a:p>
        </p:txBody>
      </p:sp>
      <p:sp>
        <p:nvSpPr>
          <p:cNvPr id="17" name="Rounded Rectangle 16"/>
          <p:cNvSpPr/>
          <p:nvPr/>
        </p:nvSpPr>
        <p:spPr>
          <a:xfrm>
            <a:off x="4795200" y="2826000"/>
            <a:ext cx="1548000" cy="432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95200" y="2826000"/>
            <a:ext cx="1548000" cy="432000"/>
          </a:xfrm>
          <a:prstGeom prst="rect">
            <a:avLst/>
          </a:prstGeom>
          <a:noFill/>
        </p:spPr>
        <p:txBody>
          <a:bodyPr wrap="square" lIns="21600" tIns="7200" rIns="21600" bIns="7200" anchor="ctr">
            <a:spAutoFit/>
          </a:bodyPr>
          <a:lstStyle/>
          <a:p>
            <a:pPr algn="ctr"/>
            <a:r>
              <a:rPr sz="1050" b="1">
                <a:solidFill>
                  <a:srgbClr val="1F285A"/>
                </a:solidFill>
                <a:latin typeface="メイリオ"/>
                <a:ea typeface="メイリオ"/>
                <a:cs typeface="メイリオ"/>
              </a:rPr>
              <a:t>→ 土地有無タグ</a:t>
            </a:r>
          </a:p>
        </p:txBody>
      </p:sp>
      <p:sp>
        <p:nvSpPr>
          <p:cNvPr id="19" name="Rounded Rectangle 18"/>
          <p:cNvSpPr/>
          <p:nvPr/>
        </p:nvSpPr>
        <p:spPr>
          <a:xfrm>
            <a:off x="547200" y="3546000"/>
            <a:ext cx="5903999" cy="864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55200" y="3707999"/>
            <a:ext cx="540000" cy="5400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5200" y="3707999"/>
            <a:ext cx="540000" cy="54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Q3</a:t>
            </a:r>
          </a:p>
        </p:txBody>
      </p:sp>
      <p:sp>
        <p:nvSpPr>
          <p:cNvPr id="22" name="TextBox 21"/>
          <p:cNvSpPr txBox="1"/>
          <p:nvPr/>
        </p:nvSpPr>
        <p:spPr>
          <a:xfrm>
            <a:off x="1303200" y="3718800"/>
            <a:ext cx="3420000" cy="251999"/>
          </a:xfrm>
          <a:prstGeom prst="rect">
            <a:avLst/>
          </a:prstGeom>
          <a:noFill/>
        </p:spPr>
        <p:txBody>
          <a:bodyPr wrap="square" lIns="21600" tIns="7200" rIns="21600" bIns="7200" anchor="t">
            <a:spAutoFit/>
          </a:bodyPr>
          <a:lstStyle/>
          <a:p>
            <a:pPr algn="l"/>
            <a:r>
              <a:rPr sz="1250" b="1">
                <a:solidFill>
                  <a:srgbClr val="333333"/>
                </a:solidFill>
                <a:latin typeface="メイリオ"/>
                <a:ea typeface="メイリオ"/>
                <a:cs typeface="メイリオ"/>
              </a:rPr>
              <a:t>ご予算の目安は？</a:t>
            </a:r>
          </a:p>
        </p:txBody>
      </p:sp>
      <p:sp>
        <p:nvSpPr>
          <p:cNvPr id="23" name="TextBox 22"/>
          <p:cNvSpPr txBox="1"/>
          <p:nvPr/>
        </p:nvSpPr>
        <p:spPr>
          <a:xfrm>
            <a:off x="1303200" y="3996000"/>
            <a:ext cx="3420000" cy="270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〜2,500万／2,500〜3,500万／3,500万〜／まだ分からない</a:t>
            </a:r>
          </a:p>
        </p:txBody>
      </p:sp>
      <p:sp>
        <p:nvSpPr>
          <p:cNvPr id="24" name="Rounded Rectangle 23"/>
          <p:cNvSpPr/>
          <p:nvPr/>
        </p:nvSpPr>
        <p:spPr>
          <a:xfrm>
            <a:off x="4795200" y="3761999"/>
            <a:ext cx="1548000" cy="432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95200" y="3761999"/>
            <a:ext cx="1548000" cy="432000"/>
          </a:xfrm>
          <a:prstGeom prst="rect">
            <a:avLst/>
          </a:prstGeom>
          <a:noFill/>
        </p:spPr>
        <p:txBody>
          <a:bodyPr wrap="square" lIns="21600" tIns="7200" rIns="21600" bIns="7200" anchor="ctr">
            <a:spAutoFit/>
          </a:bodyPr>
          <a:lstStyle/>
          <a:p>
            <a:pPr algn="ctr"/>
            <a:r>
              <a:rPr sz="1050" b="1">
                <a:solidFill>
                  <a:srgbClr val="1F285A"/>
                </a:solidFill>
                <a:latin typeface="メイリオ"/>
                <a:ea typeface="メイリオ"/>
                <a:cs typeface="メイリオ"/>
              </a:rPr>
              <a:t>→ 予算帯タグ</a:t>
            </a:r>
          </a:p>
        </p:txBody>
      </p:sp>
      <p:sp>
        <p:nvSpPr>
          <p:cNvPr id="26" name="Rounded Rectangle 25"/>
          <p:cNvSpPr/>
          <p:nvPr/>
        </p:nvSpPr>
        <p:spPr>
          <a:xfrm>
            <a:off x="547200" y="4482000"/>
            <a:ext cx="5903999" cy="864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55200" y="4643999"/>
            <a:ext cx="540000" cy="5400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5200" y="4643999"/>
            <a:ext cx="540000" cy="54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Q4</a:t>
            </a:r>
          </a:p>
        </p:txBody>
      </p:sp>
      <p:sp>
        <p:nvSpPr>
          <p:cNvPr id="29" name="TextBox 28"/>
          <p:cNvSpPr txBox="1"/>
          <p:nvPr/>
        </p:nvSpPr>
        <p:spPr>
          <a:xfrm>
            <a:off x="1303200" y="4654800"/>
            <a:ext cx="3420000" cy="251999"/>
          </a:xfrm>
          <a:prstGeom prst="rect">
            <a:avLst/>
          </a:prstGeom>
          <a:noFill/>
        </p:spPr>
        <p:txBody>
          <a:bodyPr wrap="square" lIns="21600" tIns="7200" rIns="21600" bIns="7200" anchor="t">
            <a:spAutoFit/>
          </a:bodyPr>
          <a:lstStyle/>
          <a:p>
            <a:pPr algn="l"/>
            <a:r>
              <a:rPr sz="1250" b="1">
                <a:solidFill>
                  <a:srgbClr val="333333"/>
                </a:solidFill>
                <a:latin typeface="メイリオ"/>
                <a:ea typeface="メイリオ"/>
                <a:cs typeface="メイリオ"/>
              </a:rPr>
              <a:t>いちばん気になることは？</a:t>
            </a:r>
          </a:p>
        </p:txBody>
      </p:sp>
      <p:sp>
        <p:nvSpPr>
          <p:cNvPr id="30" name="TextBox 29"/>
          <p:cNvSpPr txBox="1"/>
          <p:nvPr/>
        </p:nvSpPr>
        <p:spPr>
          <a:xfrm>
            <a:off x="1303200" y="4932000"/>
            <a:ext cx="3420000" cy="270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費用 ／ 間取り ／ 土地 ／ 性能・断熱 ／ 補助金</a:t>
            </a:r>
          </a:p>
        </p:txBody>
      </p:sp>
      <p:sp>
        <p:nvSpPr>
          <p:cNvPr id="31" name="Rounded Rectangle 30"/>
          <p:cNvSpPr/>
          <p:nvPr/>
        </p:nvSpPr>
        <p:spPr>
          <a:xfrm>
            <a:off x="4795200" y="4698000"/>
            <a:ext cx="1548000" cy="432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95200" y="4698000"/>
            <a:ext cx="1548000" cy="432000"/>
          </a:xfrm>
          <a:prstGeom prst="rect">
            <a:avLst/>
          </a:prstGeom>
          <a:noFill/>
        </p:spPr>
        <p:txBody>
          <a:bodyPr wrap="square" lIns="21600" tIns="7200" rIns="21600" bIns="7200" anchor="ctr">
            <a:spAutoFit/>
          </a:bodyPr>
          <a:lstStyle/>
          <a:p>
            <a:pPr algn="ctr"/>
            <a:r>
              <a:rPr sz="1050" b="1">
                <a:solidFill>
                  <a:srgbClr val="1F285A"/>
                </a:solidFill>
                <a:latin typeface="メイリオ"/>
                <a:ea typeface="メイリオ"/>
                <a:cs typeface="メイリオ"/>
              </a:rPr>
              <a:t>→ 関心テーマタグ</a:t>
            </a:r>
          </a:p>
        </p:txBody>
      </p:sp>
      <p:sp>
        <p:nvSpPr>
          <p:cNvPr id="33" name="Rounded Rectangle 32"/>
          <p:cNvSpPr/>
          <p:nvPr/>
        </p:nvSpPr>
        <p:spPr>
          <a:xfrm>
            <a:off x="6631199" y="1673999"/>
            <a:ext cx="2728800" cy="3618000"/>
          </a:xfrm>
          <a:prstGeom prst="roundRect">
            <a:avLst>
              <a:gd name="adj" fmla="val 6000"/>
            </a:avLst>
          </a:prstGeom>
          <a:solidFill>
            <a:srgbClr val="F4F7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75199" y="1792799"/>
            <a:ext cx="2440800" cy="251999"/>
          </a:xfrm>
          <a:prstGeom prst="rect">
            <a:avLst/>
          </a:prstGeom>
          <a:noFill/>
        </p:spPr>
        <p:txBody>
          <a:bodyPr wrap="square" lIns="21600" tIns="7200" rIns="21600" bIns="7200" anchor="t">
            <a:spAutoFit/>
          </a:bodyPr>
          <a:lstStyle/>
          <a:p>
            <a:pPr algn="l"/>
            <a:r>
              <a:rPr sz="1250" b="1">
                <a:solidFill>
                  <a:srgbClr val="ED7D31"/>
                </a:solidFill>
                <a:latin typeface="メイリオ"/>
                <a:ea typeface="メイリオ"/>
                <a:cs typeface="メイリオ"/>
              </a:rPr>
              <a:t>設計の要点</a:t>
            </a:r>
          </a:p>
        </p:txBody>
      </p:sp>
      <p:sp>
        <p:nvSpPr>
          <p:cNvPr id="35" name="TextBox 34"/>
          <p:cNvSpPr txBox="1"/>
          <p:nvPr/>
        </p:nvSpPr>
        <p:spPr>
          <a:xfrm>
            <a:off x="6775199" y="2178000"/>
            <a:ext cx="2440800" cy="72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・自由入力はゼロ。指で選ぶだけで終わる</a:t>
            </a:r>
          </a:p>
        </p:txBody>
      </p:sp>
      <p:sp>
        <p:nvSpPr>
          <p:cNvPr id="36" name="TextBox 35"/>
          <p:cNvSpPr txBox="1"/>
          <p:nvPr/>
        </p:nvSpPr>
        <p:spPr>
          <a:xfrm>
            <a:off x="6775199" y="2934000"/>
            <a:ext cx="2440800" cy="72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・Q3に「まだ分からない」を必ず置く。予算を答えられない人を弾かない</a:t>
            </a:r>
          </a:p>
        </p:txBody>
      </p:sp>
      <p:sp>
        <p:nvSpPr>
          <p:cNvPr id="37" name="TextBox 36"/>
          <p:cNvSpPr txBox="1"/>
          <p:nvPr/>
        </p:nvSpPr>
        <p:spPr>
          <a:xfrm>
            <a:off x="6775199" y="3690000"/>
            <a:ext cx="2440800" cy="72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・診断結果は共感→実例→費用→CTAの順で返す</a:t>
            </a:r>
          </a:p>
        </p:txBody>
      </p:sp>
      <p:sp>
        <p:nvSpPr>
          <p:cNvPr id="38" name="TextBox 37"/>
          <p:cNvSpPr txBox="1"/>
          <p:nvPr/>
        </p:nvSpPr>
        <p:spPr>
          <a:xfrm>
            <a:off x="6775199" y="4446000"/>
            <a:ext cx="2440800" cy="72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・この4つのタグが、以降の配信すべての土台になる</a:t>
            </a:r>
          </a:p>
        </p:txBody>
      </p:sp>
      <p:sp>
        <p:nvSpPr>
          <p:cNvPr id="39" name="Rounded Rectangle 38"/>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聞くのは4つだけ。答えた瞬間に、届く情報が変わる</a:t>
            </a:r>
          </a:p>
        </p:txBody>
      </p:sp>
      <p:sp>
        <p:nvSpPr>
          <p:cNvPr id="40" name="TextBox 39"/>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※設問・選択肢は業界向けの標準案です。実際は貴社の商品ラインナップに合わせて調整します。</a:t>
            </a:r>
          </a:p>
        </p:txBody>
      </p:sp>
    </p:spTree>
    <p:extLst>
      <p:ext uri="{BB962C8B-B14F-4D97-AF65-F5344CB8AC3E}">
        <p14:creationId xmlns:p14="http://schemas.microsoft.com/office/powerpoint/2010/main" val="3225074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アカウント構築｜リッチメニュー 3タブ×6枠</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検討段階によって知りたいことが変わるため、タブを3つに分けます。</a:t>
            </a:r>
          </a:p>
          <a:p>
            <a:pPr algn="l">
              <a:spcAft>
                <a:spcPts val="300"/>
              </a:spcAft>
            </a:pPr>
            <a:r>
              <a:rPr sz="1250" b="1">
                <a:solidFill>
                  <a:srgbClr val="333333"/>
                </a:solidFill>
                <a:latin typeface="メイリオ"/>
                <a:ea typeface="メイリオ"/>
                <a:cs typeface="メイリオ"/>
              </a:rPr>
              <a:t>実装は2500×1686pxを3列×2行に分割。左上が最も押される位置なので、各タブの主役をそこに置きます。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1296000" cy="108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1200" y="1655999"/>
            <a:ext cx="1188000" cy="108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タブ①</a:t>
            </a:r>
          </a:p>
          <a:p>
            <a:pPr algn="ctr"/>
            <a:r>
              <a:rPr sz="1150" b="1">
                <a:solidFill>
                  <a:srgbClr val="FFFFFF"/>
                </a:solidFill>
                <a:latin typeface="メイリオ"/>
                <a:ea typeface="メイリオ"/>
                <a:cs typeface="メイリオ"/>
              </a:rPr>
              <a:t>これから考える</a:t>
            </a:r>
          </a:p>
        </p:txBody>
      </p:sp>
      <p:sp>
        <p:nvSpPr>
          <p:cNvPr id="7" name="Rectangle 6"/>
          <p:cNvSpPr/>
          <p:nvPr/>
        </p:nvSpPr>
        <p:spPr>
          <a:xfrm>
            <a:off x="1951200" y="1655999"/>
            <a:ext cx="2469600" cy="540000"/>
          </a:xfrm>
          <a:prstGeom prst="rect">
            <a:avLst/>
          </a:prstGeom>
          <a:solidFill>
            <a:srgbClr val="1F285A"/>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23200" y="1655999"/>
            <a:ext cx="2325599"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60秒 予算診断</a:t>
            </a:r>
          </a:p>
        </p:txBody>
      </p:sp>
      <p:sp>
        <p:nvSpPr>
          <p:cNvPr id="9" name="Rectangle 8"/>
          <p:cNvSpPr/>
          <p:nvPr/>
        </p:nvSpPr>
        <p:spPr>
          <a:xfrm>
            <a:off x="4420800" y="1655999"/>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2799" y="1655999"/>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建築実例を見る</a:t>
            </a:r>
          </a:p>
        </p:txBody>
      </p:sp>
      <p:sp>
        <p:nvSpPr>
          <p:cNvPr id="11" name="Rectangle 10"/>
          <p:cNvSpPr/>
          <p:nvPr/>
        </p:nvSpPr>
        <p:spPr>
          <a:xfrm>
            <a:off x="6890400" y="1655999"/>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62400" y="1655999"/>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費用の内訳を知る</a:t>
            </a:r>
          </a:p>
        </p:txBody>
      </p:sp>
      <p:sp>
        <p:nvSpPr>
          <p:cNvPr id="13" name="Rectangle 12"/>
          <p:cNvSpPr/>
          <p:nvPr/>
        </p:nvSpPr>
        <p:spPr>
          <a:xfrm>
            <a:off x="1951200" y="21960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23200" y="21960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土地探しのコツ</a:t>
            </a:r>
          </a:p>
        </p:txBody>
      </p:sp>
      <p:sp>
        <p:nvSpPr>
          <p:cNvPr id="15" name="Rectangle 14"/>
          <p:cNvSpPr/>
          <p:nvPr/>
        </p:nvSpPr>
        <p:spPr>
          <a:xfrm>
            <a:off x="4420800" y="21960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92799" y="21960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よくある質問</a:t>
            </a:r>
          </a:p>
        </p:txBody>
      </p:sp>
      <p:sp>
        <p:nvSpPr>
          <p:cNvPr id="17" name="Rectangle 16"/>
          <p:cNvSpPr/>
          <p:nvPr/>
        </p:nvSpPr>
        <p:spPr>
          <a:xfrm>
            <a:off x="6890400" y="21960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62400" y="21960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相談してみる</a:t>
            </a:r>
          </a:p>
        </p:txBody>
      </p:sp>
      <p:sp>
        <p:nvSpPr>
          <p:cNvPr id="19" name="Rounded Rectangle 18"/>
          <p:cNvSpPr/>
          <p:nvPr/>
        </p:nvSpPr>
        <p:spPr>
          <a:xfrm>
            <a:off x="547200" y="2836800"/>
            <a:ext cx="1296000" cy="1080000"/>
          </a:xfrm>
          <a:prstGeom prst="roundRect">
            <a:avLst>
              <a:gd name="adj" fmla="val 8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1200" y="2836800"/>
            <a:ext cx="1188000" cy="108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タブ②</a:t>
            </a:r>
          </a:p>
          <a:p>
            <a:pPr algn="ctr"/>
            <a:r>
              <a:rPr sz="1150" b="1">
                <a:solidFill>
                  <a:srgbClr val="FFFFFF"/>
                </a:solidFill>
                <a:latin typeface="メイリオ"/>
                <a:ea typeface="メイリオ"/>
                <a:cs typeface="メイリオ"/>
              </a:rPr>
              <a:t>資金を調べる</a:t>
            </a:r>
          </a:p>
        </p:txBody>
      </p:sp>
      <p:sp>
        <p:nvSpPr>
          <p:cNvPr id="21" name="Rectangle 20"/>
          <p:cNvSpPr/>
          <p:nvPr/>
        </p:nvSpPr>
        <p:spPr>
          <a:xfrm>
            <a:off x="1951200" y="2836800"/>
            <a:ext cx="2469600" cy="540000"/>
          </a:xfrm>
          <a:prstGeom prst="rect">
            <a:avLst/>
          </a:prstGeom>
          <a:solidFill>
            <a:srgbClr val="ED7D31"/>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23200" y="2836800"/>
            <a:ext cx="2325599"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住宅ローン相談</a:t>
            </a:r>
          </a:p>
        </p:txBody>
      </p:sp>
      <p:sp>
        <p:nvSpPr>
          <p:cNvPr id="23" name="Rectangle 22"/>
          <p:cNvSpPr/>
          <p:nvPr/>
        </p:nvSpPr>
        <p:spPr>
          <a:xfrm>
            <a:off x="4420800" y="2836800"/>
            <a:ext cx="2469600" cy="540000"/>
          </a:xfrm>
          <a:prstGeom prst="rect">
            <a:avLst/>
          </a:prstGeom>
          <a:solidFill>
            <a:srgbClr val="FEF8F3"/>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2799" y="28368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親からの援助・贈与の話</a:t>
            </a:r>
          </a:p>
        </p:txBody>
      </p:sp>
      <p:sp>
        <p:nvSpPr>
          <p:cNvPr id="25" name="Rectangle 24"/>
          <p:cNvSpPr/>
          <p:nvPr/>
        </p:nvSpPr>
        <p:spPr>
          <a:xfrm>
            <a:off x="6890400" y="2836800"/>
            <a:ext cx="2469600" cy="540000"/>
          </a:xfrm>
          <a:prstGeom prst="rect">
            <a:avLst/>
          </a:prstGeom>
          <a:solidFill>
            <a:srgbClr val="FEF8F3"/>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62400" y="28368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使える補助金</a:t>
            </a:r>
          </a:p>
        </p:txBody>
      </p:sp>
      <p:sp>
        <p:nvSpPr>
          <p:cNvPr id="27" name="Rectangle 26"/>
          <p:cNvSpPr/>
          <p:nvPr/>
        </p:nvSpPr>
        <p:spPr>
          <a:xfrm>
            <a:off x="1951200" y="3376799"/>
            <a:ext cx="2469600" cy="540000"/>
          </a:xfrm>
          <a:prstGeom prst="rect">
            <a:avLst/>
          </a:prstGeom>
          <a:solidFill>
            <a:srgbClr val="FEF8F3"/>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23200" y="3376799"/>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月々の返済シミュレーション</a:t>
            </a:r>
          </a:p>
        </p:txBody>
      </p:sp>
      <p:sp>
        <p:nvSpPr>
          <p:cNvPr id="29" name="Rectangle 28"/>
          <p:cNvSpPr/>
          <p:nvPr/>
        </p:nvSpPr>
        <p:spPr>
          <a:xfrm>
            <a:off x="4420800" y="3376799"/>
            <a:ext cx="2469600" cy="540000"/>
          </a:xfrm>
          <a:prstGeom prst="rect">
            <a:avLst/>
          </a:prstGeom>
          <a:solidFill>
            <a:srgbClr val="FEF8F3"/>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92799" y="3376799"/>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土地＋建物の総額目安</a:t>
            </a:r>
          </a:p>
        </p:txBody>
      </p:sp>
      <p:sp>
        <p:nvSpPr>
          <p:cNvPr id="31" name="Rectangle 30"/>
          <p:cNvSpPr/>
          <p:nvPr/>
        </p:nvSpPr>
        <p:spPr>
          <a:xfrm>
            <a:off x="6890400" y="3376799"/>
            <a:ext cx="2469600" cy="540000"/>
          </a:xfrm>
          <a:prstGeom prst="rect">
            <a:avLst/>
          </a:prstGeom>
          <a:solidFill>
            <a:srgbClr val="FEF8F3"/>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62400" y="3376799"/>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相談してみる</a:t>
            </a:r>
          </a:p>
        </p:txBody>
      </p:sp>
      <p:sp>
        <p:nvSpPr>
          <p:cNvPr id="33" name="Rounded Rectangle 32"/>
          <p:cNvSpPr/>
          <p:nvPr/>
        </p:nvSpPr>
        <p:spPr>
          <a:xfrm>
            <a:off x="547200" y="4017600"/>
            <a:ext cx="1296000" cy="1080000"/>
          </a:xfrm>
          <a:prstGeom prst="roundRect">
            <a:avLst>
              <a:gd name="adj" fmla="val 8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1200" y="4017600"/>
            <a:ext cx="1188000" cy="108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タブ③</a:t>
            </a:r>
          </a:p>
          <a:p>
            <a:pPr algn="ctr"/>
            <a:r>
              <a:rPr sz="1150" b="1">
                <a:solidFill>
                  <a:srgbClr val="FFFFFF"/>
                </a:solidFill>
                <a:latin typeface="メイリオ"/>
                <a:ea typeface="メイリオ"/>
                <a:cs typeface="メイリオ"/>
              </a:rPr>
              <a:t>見に行く</a:t>
            </a:r>
          </a:p>
        </p:txBody>
      </p:sp>
      <p:sp>
        <p:nvSpPr>
          <p:cNvPr id="35" name="Rectangle 34"/>
          <p:cNvSpPr/>
          <p:nvPr/>
        </p:nvSpPr>
        <p:spPr>
          <a:xfrm>
            <a:off x="1951200" y="4017600"/>
            <a:ext cx="2469600" cy="540000"/>
          </a:xfrm>
          <a:prstGeom prst="rect">
            <a:avLst/>
          </a:prstGeom>
          <a:solidFill>
            <a:srgbClr val="3E6DB5"/>
          </a:solidFill>
          <a:ln w="1524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023200" y="4017600"/>
            <a:ext cx="2325599"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完成見学会に申し込む</a:t>
            </a:r>
          </a:p>
        </p:txBody>
      </p:sp>
      <p:sp>
        <p:nvSpPr>
          <p:cNvPr id="37" name="Rectangle 36"/>
          <p:cNvSpPr/>
          <p:nvPr/>
        </p:nvSpPr>
        <p:spPr>
          <a:xfrm>
            <a:off x="4420800" y="40176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92799" y="40176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個別相談を予約する</a:t>
            </a:r>
          </a:p>
        </p:txBody>
      </p:sp>
      <p:sp>
        <p:nvSpPr>
          <p:cNvPr id="39" name="Rectangle 38"/>
          <p:cNvSpPr/>
          <p:nvPr/>
        </p:nvSpPr>
        <p:spPr>
          <a:xfrm>
            <a:off x="6890400" y="40176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62400" y="40176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オンライン相談</a:t>
            </a:r>
          </a:p>
        </p:txBody>
      </p:sp>
      <p:sp>
        <p:nvSpPr>
          <p:cNvPr id="41" name="Rectangle 40"/>
          <p:cNvSpPr/>
          <p:nvPr/>
        </p:nvSpPr>
        <p:spPr>
          <a:xfrm>
            <a:off x="1951200" y="45576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023200" y="45576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展示場の場所</a:t>
            </a:r>
          </a:p>
        </p:txBody>
      </p:sp>
      <p:sp>
        <p:nvSpPr>
          <p:cNvPr id="43" name="Rectangle 42"/>
          <p:cNvSpPr/>
          <p:nvPr/>
        </p:nvSpPr>
        <p:spPr>
          <a:xfrm>
            <a:off x="4420800" y="45576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92799" y="45576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来場特典を見る</a:t>
            </a:r>
          </a:p>
        </p:txBody>
      </p:sp>
      <p:sp>
        <p:nvSpPr>
          <p:cNvPr id="45" name="Rectangle 44"/>
          <p:cNvSpPr/>
          <p:nvPr/>
        </p:nvSpPr>
        <p:spPr>
          <a:xfrm>
            <a:off x="6890400" y="4557600"/>
            <a:ext cx="2469600" cy="540000"/>
          </a:xfrm>
          <a:prstGeom prst="rect">
            <a:avLst/>
          </a:prstGeom>
          <a:solidFill>
            <a:srgbClr val="F7F9FD"/>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62400" y="4557600"/>
            <a:ext cx="2325599" cy="5400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日程を変更する</a:t>
            </a:r>
          </a:p>
        </p:txBody>
      </p:sp>
      <p:sp>
        <p:nvSpPr>
          <p:cNvPr id="47" name="TextBox 46"/>
          <p:cNvSpPr txBox="1"/>
          <p:nvPr/>
        </p:nvSpPr>
        <p:spPr>
          <a:xfrm>
            <a:off x="547200" y="5223600"/>
            <a:ext cx="8812800" cy="612000"/>
          </a:xfrm>
          <a:prstGeom prst="rect">
            <a:avLst/>
          </a:prstGeom>
          <a:noFill/>
        </p:spPr>
        <p:txBody>
          <a:bodyPr wrap="square" lIns="21600" tIns="7200" rIns="21600" bIns="7200" anchor="t">
            <a:spAutoFit/>
          </a:bodyPr>
          <a:lstStyle/>
          <a:p>
            <a:pPr algn="l">
              <a:spcAft>
                <a:spcPts val="400"/>
              </a:spcAft>
            </a:pPr>
            <a:r>
              <a:rPr sz="1150" b="1">
                <a:solidFill>
                  <a:srgbClr val="333333"/>
                </a:solidFill>
                <a:latin typeface="メイリオ"/>
                <a:ea typeface="メイリオ"/>
                <a:cs typeface="メイリオ"/>
              </a:rPr>
              <a:t>色を付けた左上のマスが各タブの主役です。指が最初に届く位置に、そのタブで一番押してほしいものを置きます。</a:t>
            </a:r>
          </a:p>
          <a:p>
            <a:pPr algn="l"/>
            <a:r>
              <a:rPr sz="1150" b="1">
                <a:solidFill>
                  <a:srgbClr val="ED7D31"/>
                </a:solidFill>
                <a:latin typeface="メイリオ"/>
                <a:ea typeface="メイリオ"/>
                <a:cs typeface="メイリオ"/>
              </a:rPr>
              <a:t>タブ②の「親からの援助・贈与の話」は、決裁者が親であるケースへの布石です。</a:t>
            </a:r>
          </a:p>
        </p:txBody>
      </p:sp>
      <p:sp>
        <p:nvSpPr>
          <p:cNvPr id="48" name="Rounded Rectangle 47"/>
          <p:cNvSpPr/>
          <p:nvPr/>
        </p:nvSpPr>
        <p:spPr>
          <a:xfrm>
            <a:off x="547200" y="5616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18個すべてに役割がある。飾りのボタンは置かない</a:t>
            </a:r>
          </a:p>
        </p:txBody>
      </p:sp>
      <p:sp>
        <p:nvSpPr>
          <p:cNvPr id="49" name="TextBox 48"/>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※タブ切替はリッチメニューの切替機能で実装します。文言は貴社の商品名に合わせて調整可能です。</a:t>
            </a:r>
          </a:p>
        </p:txBody>
      </p:sp>
    </p:spTree>
    <p:extLst>
      <p:ext uri="{BB962C8B-B14F-4D97-AF65-F5344CB8AC3E}">
        <p14:creationId xmlns:p14="http://schemas.microsoft.com/office/powerpoint/2010/main" val="4224870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アカウント構築｜最初の2週間で、読まれるかどうかが決まる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友だち追加から2週間ほどで開封率が落ち、ブロック率が上がる傾向があります（弊社運用実績）。</a:t>
            </a:r>
          </a:p>
          <a:p>
            <a:pPr algn="l">
              <a:spcAft>
                <a:spcPts val="300"/>
              </a:spcAft>
            </a:pPr>
            <a:r>
              <a:rPr sz="1250" b="1">
                <a:solidFill>
                  <a:srgbClr val="333333"/>
                </a:solidFill>
                <a:latin typeface="メイリオ"/>
                <a:ea typeface="メイリオ"/>
                <a:cs typeface="メイリオ"/>
              </a:rPr>
              <a:t>だからステップ配信は14日で組みます。この期間に「読む習慣」をつくれるかが分かれ目です。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728000"/>
            <a:ext cx="1512000" cy="630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728000"/>
            <a:ext cx="1512000" cy="63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Day 0〜3</a:t>
            </a:r>
          </a:p>
        </p:txBody>
      </p:sp>
      <p:sp>
        <p:nvSpPr>
          <p:cNvPr id="7" name="Rounded Rectangle 6"/>
          <p:cNvSpPr/>
          <p:nvPr/>
        </p:nvSpPr>
        <p:spPr>
          <a:xfrm>
            <a:off x="2167200" y="1728000"/>
            <a:ext cx="7192800" cy="630000"/>
          </a:xfrm>
          <a:prstGeom prst="roundRect">
            <a:avLst>
              <a:gd name="adj" fmla="val 12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11200" y="1807199"/>
            <a:ext cx="6904800" cy="251999"/>
          </a:xfrm>
          <a:prstGeom prst="rect">
            <a:avLst/>
          </a:prstGeom>
          <a:noFill/>
        </p:spPr>
        <p:txBody>
          <a:bodyPr wrap="square" lIns="21600" tIns="7200" rIns="21600" bIns="7200" anchor="t">
            <a:spAutoFit/>
          </a:bodyPr>
          <a:lstStyle/>
          <a:p>
            <a:pPr algn="l"/>
            <a:r>
              <a:rPr sz="1200" b="1">
                <a:solidFill>
                  <a:srgbClr val="1F285A"/>
                </a:solidFill>
                <a:latin typeface="メイリオ"/>
                <a:ea typeface="メイリオ"/>
                <a:cs typeface="メイリオ"/>
              </a:rPr>
              <a:t>最も開かれやすい</a:t>
            </a:r>
          </a:p>
        </p:txBody>
      </p:sp>
      <p:sp>
        <p:nvSpPr>
          <p:cNvPr id="9" name="TextBox 8"/>
          <p:cNvSpPr txBox="1"/>
          <p:nvPr/>
        </p:nvSpPr>
        <p:spPr>
          <a:xfrm>
            <a:off x="2311200" y="2070000"/>
            <a:ext cx="6904800" cy="251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追加直後は通知を開いてもらえる。ここで有益だと思われるかが全て</a:t>
            </a:r>
          </a:p>
        </p:txBody>
      </p:sp>
      <p:sp>
        <p:nvSpPr>
          <p:cNvPr id="10" name="Rounded Rectangle 9"/>
          <p:cNvSpPr/>
          <p:nvPr/>
        </p:nvSpPr>
        <p:spPr>
          <a:xfrm>
            <a:off x="547200" y="2430000"/>
            <a:ext cx="1512000" cy="630000"/>
          </a:xfrm>
          <a:prstGeom prst="roundRect">
            <a:avLst>
              <a:gd name="adj" fmla="val 12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7200" y="2430000"/>
            <a:ext cx="1512000" cy="63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Day 4〜9</a:t>
            </a:r>
          </a:p>
        </p:txBody>
      </p:sp>
      <p:sp>
        <p:nvSpPr>
          <p:cNvPr id="12" name="Rounded Rectangle 11"/>
          <p:cNvSpPr/>
          <p:nvPr/>
        </p:nvSpPr>
        <p:spPr>
          <a:xfrm>
            <a:off x="2167200" y="2430000"/>
            <a:ext cx="7192800" cy="630000"/>
          </a:xfrm>
          <a:prstGeom prst="roundRect">
            <a:avLst>
              <a:gd name="adj" fmla="val 12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1200" y="2509200"/>
            <a:ext cx="6904800" cy="251999"/>
          </a:xfrm>
          <a:prstGeom prst="rect">
            <a:avLst/>
          </a:prstGeom>
          <a:noFill/>
        </p:spPr>
        <p:txBody>
          <a:bodyPr wrap="square" lIns="21600" tIns="7200" rIns="21600" bIns="7200" anchor="t">
            <a:spAutoFit/>
          </a:bodyPr>
          <a:lstStyle/>
          <a:p>
            <a:pPr algn="l"/>
            <a:r>
              <a:rPr sz="1200" b="1">
                <a:solidFill>
                  <a:srgbClr val="ED7D31"/>
                </a:solidFill>
                <a:latin typeface="メイリオ"/>
                <a:ea typeface="メイリオ"/>
                <a:cs typeface="メイリオ"/>
              </a:rPr>
              <a:t>習慣になるかどうか</a:t>
            </a:r>
          </a:p>
        </p:txBody>
      </p:sp>
      <p:sp>
        <p:nvSpPr>
          <p:cNvPr id="14" name="TextBox 13"/>
          <p:cNvSpPr txBox="1"/>
          <p:nvPr/>
        </p:nvSpPr>
        <p:spPr>
          <a:xfrm>
            <a:off x="2311200" y="2772000"/>
            <a:ext cx="6904800" cy="251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3通目までに一度も開かれないと、以降の開封率が下がりやすい</a:t>
            </a:r>
          </a:p>
        </p:txBody>
      </p:sp>
      <p:sp>
        <p:nvSpPr>
          <p:cNvPr id="15" name="Rounded Rectangle 14"/>
          <p:cNvSpPr/>
          <p:nvPr/>
        </p:nvSpPr>
        <p:spPr>
          <a:xfrm>
            <a:off x="547200" y="3131999"/>
            <a:ext cx="1512000" cy="630000"/>
          </a:xfrm>
          <a:prstGeom prst="roundRect">
            <a:avLst>
              <a:gd name="adj" fmla="val 12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7200" y="3131999"/>
            <a:ext cx="1512000" cy="63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Day 10〜14</a:t>
            </a:r>
          </a:p>
        </p:txBody>
      </p:sp>
      <p:sp>
        <p:nvSpPr>
          <p:cNvPr id="17" name="Rounded Rectangle 16"/>
          <p:cNvSpPr/>
          <p:nvPr/>
        </p:nvSpPr>
        <p:spPr>
          <a:xfrm>
            <a:off x="2167200" y="3131999"/>
            <a:ext cx="7192800" cy="630000"/>
          </a:xfrm>
          <a:prstGeom prst="roundRect">
            <a:avLst>
              <a:gd name="adj" fmla="val 12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11200" y="3211200"/>
            <a:ext cx="6904800" cy="251999"/>
          </a:xfrm>
          <a:prstGeom prst="rect">
            <a:avLst/>
          </a:prstGeom>
          <a:noFill/>
        </p:spPr>
        <p:txBody>
          <a:bodyPr wrap="square" lIns="21600" tIns="7200" rIns="21600" bIns="7200" anchor="t">
            <a:spAutoFit/>
          </a:bodyPr>
          <a:lstStyle/>
          <a:p>
            <a:pPr algn="l"/>
            <a:r>
              <a:rPr sz="1200" b="1">
                <a:solidFill>
                  <a:srgbClr val="ED7D31"/>
                </a:solidFill>
                <a:latin typeface="メイリオ"/>
                <a:ea typeface="メイリオ"/>
                <a:cs typeface="メイリオ"/>
              </a:rPr>
              <a:t>最後の接点</a:t>
            </a:r>
          </a:p>
        </p:txBody>
      </p:sp>
      <p:sp>
        <p:nvSpPr>
          <p:cNvPr id="19" name="TextBox 18"/>
          <p:cNvSpPr txBox="1"/>
          <p:nvPr/>
        </p:nvSpPr>
        <p:spPr>
          <a:xfrm>
            <a:off x="2311200" y="3473999"/>
            <a:ext cx="6904800" cy="251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この期間の配信が、以降も読んでもらえるかを左右する</a:t>
            </a:r>
          </a:p>
        </p:txBody>
      </p:sp>
      <p:sp>
        <p:nvSpPr>
          <p:cNvPr id="20" name="Rounded Rectangle 19"/>
          <p:cNvSpPr/>
          <p:nvPr/>
        </p:nvSpPr>
        <p:spPr>
          <a:xfrm>
            <a:off x="547200" y="3833999"/>
            <a:ext cx="1512000" cy="63000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7200" y="3833999"/>
            <a:ext cx="1512000" cy="630000"/>
          </a:xfrm>
          <a:prstGeom prst="rect">
            <a:avLst/>
          </a:prstGeom>
          <a:noFill/>
        </p:spPr>
        <p:txBody>
          <a:bodyPr wrap="square" lIns="21600" tIns="7200" rIns="21600" bIns="7200" anchor="ctr">
            <a:spAutoFit/>
          </a:bodyPr>
          <a:lstStyle/>
          <a:p>
            <a:pPr algn="ctr"/>
            <a:r>
              <a:rPr sz="1250" b="1">
                <a:solidFill>
                  <a:srgbClr val="FFFFFF"/>
                </a:solidFill>
                <a:latin typeface="メイリオ"/>
                <a:ea typeface="メイリオ"/>
                <a:cs typeface="メイリオ"/>
              </a:rPr>
              <a:t>Day 15〜</a:t>
            </a:r>
          </a:p>
        </p:txBody>
      </p:sp>
      <p:sp>
        <p:nvSpPr>
          <p:cNvPr id="22" name="Rounded Rectangle 21"/>
          <p:cNvSpPr/>
          <p:nvPr/>
        </p:nvSpPr>
        <p:spPr>
          <a:xfrm>
            <a:off x="2167200" y="3833999"/>
            <a:ext cx="7192800" cy="630000"/>
          </a:xfrm>
          <a:prstGeom prst="roundRect">
            <a:avLst>
              <a:gd name="adj" fmla="val 12000"/>
            </a:avLst>
          </a:prstGeom>
          <a:solidFill>
            <a:srgbClr val="F4F7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11200" y="3913199"/>
            <a:ext cx="6904800" cy="251999"/>
          </a:xfrm>
          <a:prstGeom prst="rect">
            <a:avLst/>
          </a:prstGeom>
          <a:noFill/>
        </p:spPr>
        <p:txBody>
          <a:bodyPr wrap="square" lIns="21600" tIns="7200" rIns="21600" bIns="7200" anchor="t">
            <a:spAutoFit/>
          </a:bodyPr>
          <a:lstStyle/>
          <a:p>
            <a:pPr algn="l"/>
            <a:r>
              <a:rPr sz="1200" b="1">
                <a:solidFill>
                  <a:srgbClr val="C00000"/>
                </a:solidFill>
                <a:latin typeface="メイリオ"/>
                <a:ea typeface="メイリオ"/>
                <a:cs typeface="メイリオ"/>
              </a:rPr>
              <a:t>反応が落ちる</a:t>
            </a:r>
          </a:p>
        </p:txBody>
      </p:sp>
      <p:sp>
        <p:nvSpPr>
          <p:cNvPr id="24" name="TextBox 23"/>
          <p:cNvSpPr txBox="1"/>
          <p:nvPr/>
        </p:nvSpPr>
        <p:spPr>
          <a:xfrm>
            <a:off x="2311200" y="4175999"/>
            <a:ext cx="6904800" cy="251999"/>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未開封が続いた友だちは、企画配信への反応が鈍くなる傾向</a:t>
            </a:r>
          </a:p>
        </p:txBody>
      </p:sp>
      <p:sp>
        <p:nvSpPr>
          <p:cNvPr id="25" name="Rounded Rectangle 24"/>
          <p:cNvSpPr/>
          <p:nvPr/>
        </p:nvSpPr>
        <p:spPr>
          <a:xfrm>
            <a:off x="547200" y="4625999"/>
            <a:ext cx="4318272" cy="1080000"/>
          </a:xfrm>
          <a:prstGeom prst="roundRect">
            <a:avLst>
              <a:gd name="adj" fmla="val 6000"/>
            </a:avLst>
          </a:prstGeom>
          <a:solidFill>
            <a:srgbClr val="FFFFFF"/>
          </a:solidFill>
          <a:ln w="1397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7200" y="4733999"/>
            <a:ext cx="3958272" cy="270000"/>
          </a:xfrm>
          <a:prstGeom prst="rect">
            <a:avLst/>
          </a:prstGeom>
          <a:noFill/>
        </p:spPr>
        <p:txBody>
          <a:bodyPr wrap="square" lIns="21600" tIns="7200" rIns="21600" bIns="7200" anchor="t">
            <a:spAutoFit/>
          </a:bodyPr>
          <a:lstStyle/>
          <a:p>
            <a:pPr algn="l"/>
            <a:r>
              <a:rPr sz="1150" b="1">
                <a:solidFill>
                  <a:srgbClr val="7F7F7F"/>
                </a:solidFill>
                <a:latin typeface="メイリオ"/>
                <a:ea typeface="メイリオ"/>
                <a:cs typeface="メイリオ"/>
              </a:rPr>
              <a:t>初回配信のタイミングには別の見方もあります</a:t>
            </a:r>
          </a:p>
        </p:txBody>
      </p:sp>
      <p:sp>
        <p:nvSpPr>
          <p:cNvPr id="27" name="TextBox 26"/>
          <p:cNvSpPr txBox="1"/>
          <p:nvPr/>
        </p:nvSpPr>
        <p:spPr>
          <a:xfrm>
            <a:off x="727200" y="5021999"/>
            <a:ext cx="3958272" cy="540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LIFULL HOME'Sは友だち追加後の初回配信を1日後と7日後で比較し、7日後のほうがクリック率が高かったと公開しています。ただし複数社から情報が届くポータルでの検証です。</a:t>
            </a:r>
          </a:p>
        </p:txBody>
      </p:sp>
      <p:sp>
        <p:nvSpPr>
          <p:cNvPr id="28" name="Rounded Rectangle 27"/>
          <p:cNvSpPr/>
          <p:nvPr/>
        </p:nvSpPr>
        <p:spPr>
          <a:xfrm>
            <a:off x="5041728" y="4625999"/>
            <a:ext cx="4318272" cy="108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21728" y="4733999"/>
            <a:ext cx="3958272" cy="864000"/>
          </a:xfrm>
          <a:prstGeom prst="rect">
            <a:avLst/>
          </a:prstGeom>
          <a:noFill/>
        </p:spPr>
        <p:txBody>
          <a:bodyPr wrap="square" lIns="21600" tIns="7200" rIns="21600" bIns="7200" anchor="t">
            <a:spAutoFit/>
          </a:bodyPr>
          <a:lstStyle/>
          <a:p>
            <a:pPr algn="l">
              <a:spcAft>
                <a:spcPts val="400"/>
              </a:spcAft>
            </a:pPr>
            <a:r>
              <a:rPr sz="1200" b="1">
                <a:solidFill>
                  <a:srgbClr val="FFFFFF"/>
                </a:solidFill>
                <a:latin typeface="メイリオ"/>
                <a:ea typeface="メイリオ"/>
                <a:cs typeface="メイリオ"/>
              </a:rPr>
              <a:t>注文住宅の検討は8〜12か月続きます。14日で契約は決まりません。</a:t>
            </a:r>
          </a:p>
          <a:p>
            <a:pPr algn="l"/>
            <a:r>
              <a:rPr sz="1200" b="1">
                <a:solidFill>
                  <a:srgbClr val="FFFFFF"/>
                </a:solidFill>
                <a:latin typeface="メイリオ"/>
                <a:ea typeface="メイリオ"/>
                <a:cs typeface="メイリオ"/>
              </a:rPr>
              <a:t>この14日の目的は成約ではなく、「この会社の配信は読む」という状態をつくることです。</a:t>
            </a:r>
          </a:p>
        </p:txBody>
      </p:sp>
      <p:sp>
        <p:nvSpPr>
          <p:cNvPr id="30" name="TextBox 29"/>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※開封率・ブロック率の推移は弊社の運用実績にもとづく傾向です。断定的な数値ではなく、貴社アカウントの実測で置き換えます。</a:t>
            </a:r>
          </a:p>
          <a:p>
            <a:pPr algn="l"/>
            <a:r>
              <a:rPr sz="850" b="0">
                <a:solidFill>
                  <a:srgbClr val="7F7F7F"/>
                </a:solidFill>
                <a:latin typeface="メイリオ"/>
                <a:ea typeface="メイリオ"/>
                <a:cs typeface="メイリオ"/>
              </a:rPr>
              <a:t>※LIFULL HOME'Sの検証結果はLINEヤフー for Business 導入事例（lycbiz.com）の公開情報です。</a:t>
            </a:r>
          </a:p>
        </p:txBody>
      </p:sp>
    </p:spTree>
    <p:extLst>
      <p:ext uri="{BB962C8B-B14F-4D97-AF65-F5344CB8AC3E}">
        <p14:creationId xmlns:p14="http://schemas.microsoft.com/office/powerpoint/2010/main" val="1772806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配信設計｜ステップ配信 14日の設計表</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前後検索データで確認した「検索の順番」に合わせて配信します。</a:t>
            </a:r>
          </a:p>
          <a:p>
            <a:pPr algn="l">
              <a:spcAft>
                <a:spcPts val="300"/>
              </a:spcAft>
            </a:pPr>
            <a:r>
              <a:rPr sz="1250" b="1">
                <a:solidFill>
                  <a:srgbClr val="333333"/>
                </a:solidFill>
                <a:latin typeface="メイリオ"/>
                <a:ea typeface="メイリオ"/>
                <a:cs typeface="メイリオ"/>
              </a:rPr>
              <a:t>CVオファーは2回だけ。Day6の見学会と、Day14の個別相談です。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7200" y="1673999"/>
            <a:ext cx="755382" cy="396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73999"/>
            <a:ext cx="755382" cy="396000"/>
          </a:xfrm>
          <a:prstGeom prst="rect">
            <a:avLst/>
          </a:prstGeom>
          <a:noFill/>
        </p:spPr>
        <p:txBody>
          <a:bodyPr wrap="square" lIns="21600" tIns="7200" rIns="21600" bIns="7200" anchor="ctr">
            <a:spAutoFit/>
          </a:bodyPr>
          <a:lstStyle/>
          <a:p>
            <a:pPr algn="ctr"/>
            <a:endParaRPr/>
          </a:p>
        </p:txBody>
      </p:sp>
      <p:sp>
        <p:nvSpPr>
          <p:cNvPr id="7" name="Rectangle 6"/>
          <p:cNvSpPr/>
          <p:nvPr/>
        </p:nvSpPr>
        <p:spPr>
          <a:xfrm>
            <a:off x="1302582" y="1673999"/>
            <a:ext cx="2374060" cy="396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02582" y="1673999"/>
            <a:ext cx="2374060" cy="396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配信内容の方向性</a:t>
            </a:r>
          </a:p>
        </p:txBody>
      </p:sp>
      <p:sp>
        <p:nvSpPr>
          <p:cNvPr id="9" name="Rectangle 8"/>
          <p:cNvSpPr/>
          <p:nvPr/>
        </p:nvSpPr>
        <p:spPr>
          <a:xfrm>
            <a:off x="3676643" y="1673999"/>
            <a:ext cx="5215738" cy="396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76643" y="1673999"/>
            <a:ext cx="5215738" cy="396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そう組む根拠（前後検索データ）</a:t>
            </a:r>
          </a:p>
        </p:txBody>
      </p:sp>
      <p:sp>
        <p:nvSpPr>
          <p:cNvPr id="11" name="Rectangle 10"/>
          <p:cNvSpPr/>
          <p:nvPr/>
        </p:nvSpPr>
        <p:spPr>
          <a:xfrm>
            <a:off x="8892382" y="1673999"/>
            <a:ext cx="467617" cy="396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92382" y="1673999"/>
            <a:ext cx="467617" cy="3960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CV</a:t>
            </a:r>
          </a:p>
        </p:txBody>
      </p:sp>
      <p:sp>
        <p:nvSpPr>
          <p:cNvPr id="13" name="Rectangle 12"/>
          <p:cNvSpPr/>
          <p:nvPr/>
        </p:nvSpPr>
        <p:spPr>
          <a:xfrm>
            <a:off x="547200" y="2070000"/>
            <a:ext cx="755382"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7200" y="2070000"/>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0</a:t>
            </a:r>
          </a:p>
        </p:txBody>
      </p:sp>
      <p:sp>
        <p:nvSpPr>
          <p:cNvPr id="15" name="Rectangle 14"/>
          <p:cNvSpPr/>
          <p:nvPr/>
        </p:nvSpPr>
        <p:spPr>
          <a:xfrm>
            <a:off x="1302582" y="2070000"/>
            <a:ext cx="2374060"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02582" y="2070000"/>
            <a:ext cx="2374060"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まずは資金から。総額の内訳</a:t>
            </a:r>
          </a:p>
        </p:txBody>
      </p:sp>
      <p:sp>
        <p:nvSpPr>
          <p:cNvPr id="17" name="Rectangle 16"/>
          <p:cNvSpPr/>
          <p:nvPr/>
        </p:nvSpPr>
        <p:spPr>
          <a:xfrm>
            <a:off x="3676643" y="2070000"/>
            <a:ext cx="5215738"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76643" y="2070000"/>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「住宅ローン」が全体1位・起点の1.8日前。資金の壁を越えた人だけが先へ進む</a:t>
            </a:r>
          </a:p>
        </p:txBody>
      </p:sp>
      <p:sp>
        <p:nvSpPr>
          <p:cNvPr id="19" name="Rectangle 18"/>
          <p:cNvSpPr/>
          <p:nvPr/>
        </p:nvSpPr>
        <p:spPr>
          <a:xfrm>
            <a:off x="8892382" y="2070000"/>
            <a:ext cx="467617"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92382" y="2070000"/>
            <a:ext cx="467617" cy="396000"/>
          </a:xfrm>
          <a:prstGeom prst="rect">
            <a:avLst/>
          </a:prstGeom>
          <a:noFill/>
        </p:spPr>
        <p:txBody>
          <a:bodyPr wrap="square" lIns="21600" tIns="7200" rIns="21600" bIns="7200" anchor="ctr">
            <a:spAutoFit/>
          </a:bodyPr>
          <a:lstStyle/>
          <a:p>
            <a:pPr algn="ctr"/>
            <a:endParaRPr/>
          </a:p>
        </p:txBody>
      </p:sp>
      <p:sp>
        <p:nvSpPr>
          <p:cNvPr id="21" name="Rectangle 20"/>
          <p:cNvSpPr/>
          <p:nvPr/>
        </p:nvSpPr>
        <p:spPr>
          <a:xfrm>
            <a:off x="547200" y="2466000"/>
            <a:ext cx="755382"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7200" y="2466000"/>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1</a:t>
            </a:r>
          </a:p>
        </p:txBody>
      </p:sp>
      <p:sp>
        <p:nvSpPr>
          <p:cNvPr id="23" name="Rectangle 22"/>
          <p:cNvSpPr/>
          <p:nvPr/>
        </p:nvSpPr>
        <p:spPr>
          <a:xfrm>
            <a:off x="1302582" y="2466000"/>
            <a:ext cx="2374060"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02582" y="2466000"/>
            <a:ext cx="2374060"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建てた人が後悔したこと3つ</a:t>
            </a:r>
          </a:p>
        </p:txBody>
      </p:sp>
      <p:sp>
        <p:nvSpPr>
          <p:cNvPr id="25" name="Rectangle 24"/>
          <p:cNvSpPr/>
          <p:nvPr/>
        </p:nvSpPr>
        <p:spPr>
          <a:xfrm>
            <a:off x="3676643" y="2466000"/>
            <a:ext cx="5215738"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76643" y="2466000"/>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関連度1位が「注文住宅 後悔」。失敗を避けたい気持ちが最大の関心事</a:t>
            </a:r>
          </a:p>
        </p:txBody>
      </p:sp>
      <p:sp>
        <p:nvSpPr>
          <p:cNvPr id="27" name="Rectangle 26"/>
          <p:cNvSpPr/>
          <p:nvPr/>
        </p:nvSpPr>
        <p:spPr>
          <a:xfrm>
            <a:off x="8892382" y="2466000"/>
            <a:ext cx="467617"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92382" y="2466000"/>
            <a:ext cx="467617" cy="396000"/>
          </a:xfrm>
          <a:prstGeom prst="rect">
            <a:avLst/>
          </a:prstGeom>
          <a:noFill/>
        </p:spPr>
        <p:txBody>
          <a:bodyPr wrap="square" lIns="21600" tIns="7200" rIns="21600" bIns="7200" anchor="ctr">
            <a:spAutoFit/>
          </a:bodyPr>
          <a:lstStyle/>
          <a:p>
            <a:pPr algn="ctr"/>
            <a:endParaRPr/>
          </a:p>
        </p:txBody>
      </p:sp>
      <p:sp>
        <p:nvSpPr>
          <p:cNvPr id="29" name="Rectangle 28"/>
          <p:cNvSpPr/>
          <p:nvPr/>
        </p:nvSpPr>
        <p:spPr>
          <a:xfrm>
            <a:off x="547200" y="2861999"/>
            <a:ext cx="755382"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7200" y="2861999"/>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3</a:t>
            </a:r>
          </a:p>
        </p:txBody>
      </p:sp>
      <p:sp>
        <p:nvSpPr>
          <p:cNvPr id="31" name="Rectangle 30"/>
          <p:cNvSpPr/>
          <p:nvPr/>
        </p:nvSpPr>
        <p:spPr>
          <a:xfrm>
            <a:off x="1302582" y="2861999"/>
            <a:ext cx="2374060"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02582" y="2861999"/>
            <a:ext cx="2374060"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土地から探す場合の進め方</a:t>
            </a:r>
          </a:p>
        </p:txBody>
      </p:sp>
      <p:sp>
        <p:nvSpPr>
          <p:cNvPr id="33" name="Rectangle 32"/>
          <p:cNvSpPr/>
          <p:nvPr/>
        </p:nvSpPr>
        <p:spPr>
          <a:xfrm>
            <a:off x="3676643" y="2861999"/>
            <a:ext cx="5215738"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76643" y="2861999"/>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「土地探し」「建築条件付き土地」が起点の前後に集中している</a:t>
            </a:r>
          </a:p>
        </p:txBody>
      </p:sp>
      <p:sp>
        <p:nvSpPr>
          <p:cNvPr id="35" name="Rectangle 34"/>
          <p:cNvSpPr/>
          <p:nvPr/>
        </p:nvSpPr>
        <p:spPr>
          <a:xfrm>
            <a:off x="8892382" y="2861999"/>
            <a:ext cx="467617"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892382" y="2861999"/>
            <a:ext cx="467617" cy="396000"/>
          </a:xfrm>
          <a:prstGeom prst="rect">
            <a:avLst/>
          </a:prstGeom>
          <a:noFill/>
        </p:spPr>
        <p:txBody>
          <a:bodyPr wrap="square" lIns="21600" tIns="7200" rIns="21600" bIns="7200" anchor="ctr">
            <a:spAutoFit/>
          </a:bodyPr>
          <a:lstStyle/>
          <a:p>
            <a:pPr algn="ctr"/>
            <a:endParaRPr/>
          </a:p>
        </p:txBody>
      </p:sp>
      <p:sp>
        <p:nvSpPr>
          <p:cNvPr id="37" name="Rectangle 36"/>
          <p:cNvSpPr/>
          <p:nvPr/>
        </p:nvSpPr>
        <p:spPr>
          <a:xfrm>
            <a:off x="547200" y="3257999"/>
            <a:ext cx="755382"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7200" y="3257999"/>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6</a:t>
            </a:r>
          </a:p>
        </p:txBody>
      </p:sp>
      <p:sp>
        <p:nvSpPr>
          <p:cNvPr id="39" name="Rectangle 38"/>
          <p:cNvSpPr/>
          <p:nvPr/>
        </p:nvSpPr>
        <p:spPr>
          <a:xfrm>
            <a:off x="1302582" y="3257999"/>
            <a:ext cx="2374060"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02582" y="3257999"/>
            <a:ext cx="2374060" cy="396000"/>
          </a:xfrm>
          <a:prstGeom prst="rect">
            <a:avLst/>
          </a:prstGeom>
          <a:noFill/>
        </p:spPr>
        <p:txBody>
          <a:bodyPr wrap="square" lIns="21600" tIns="7200" rIns="21600" bIns="7200" anchor="ctr">
            <a:spAutoFit/>
          </a:bodyPr>
          <a:lstStyle/>
          <a:p>
            <a:pPr algn="l"/>
            <a:r>
              <a:rPr sz="1000" b="0">
                <a:solidFill>
                  <a:srgbClr val="ED7D31"/>
                </a:solidFill>
                <a:latin typeface="メイリオ"/>
                <a:ea typeface="メイリオ"/>
                <a:cs typeface="メイリオ"/>
              </a:rPr>
              <a:t>見学会のご案内（少人数・貸切）</a:t>
            </a:r>
          </a:p>
        </p:txBody>
      </p:sp>
      <p:sp>
        <p:nvSpPr>
          <p:cNvPr id="41" name="Rectangle 40"/>
          <p:cNvSpPr/>
          <p:nvPr/>
        </p:nvSpPr>
        <p:spPr>
          <a:xfrm>
            <a:off x="3676643" y="3257999"/>
            <a:ext cx="5215738"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76643" y="3257999"/>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起点±1日でメーカー名の検索がピーク。比較が始まる前に実物を見てもらう</a:t>
            </a:r>
          </a:p>
        </p:txBody>
      </p:sp>
      <p:sp>
        <p:nvSpPr>
          <p:cNvPr id="43" name="Rectangle 42"/>
          <p:cNvSpPr/>
          <p:nvPr/>
        </p:nvSpPr>
        <p:spPr>
          <a:xfrm>
            <a:off x="8892382" y="3257999"/>
            <a:ext cx="467617"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892382" y="3257999"/>
            <a:ext cx="467617" cy="396000"/>
          </a:xfrm>
          <a:prstGeom prst="rect">
            <a:avLst/>
          </a:prstGeom>
          <a:noFill/>
        </p:spPr>
        <p:txBody>
          <a:bodyPr wrap="square" lIns="21600" tIns="7200" rIns="21600" bIns="7200" anchor="ctr">
            <a:spAutoFit/>
          </a:bodyPr>
          <a:lstStyle/>
          <a:p>
            <a:pPr algn="ctr"/>
            <a:r>
              <a:rPr sz="1000" b="0">
                <a:solidFill>
                  <a:srgbClr val="ED7D31"/>
                </a:solidFill>
                <a:latin typeface="メイリオ"/>
                <a:ea typeface="メイリオ"/>
                <a:cs typeface="メイリオ"/>
              </a:rPr>
              <a:t>①</a:t>
            </a:r>
          </a:p>
        </p:txBody>
      </p:sp>
      <p:sp>
        <p:nvSpPr>
          <p:cNvPr id="45" name="Rectangle 44"/>
          <p:cNvSpPr/>
          <p:nvPr/>
        </p:nvSpPr>
        <p:spPr>
          <a:xfrm>
            <a:off x="547200" y="3653999"/>
            <a:ext cx="755382"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7200" y="3653999"/>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9</a:t>
            </a:r>
          </a:p>
        </p:txBody>
      </p:sp>
      <p:sp>
        <p:nvSpPr>
          <p:cNvPr id="47" name="Rectangle 46"/>
          <p:cNvSpPr/>
          <p:nvPr/>
        </p:nvSpPr>
        <p:spPr>
          <a:xfrm>
            <a:off x="1302582" y="3653999"/>
            <a:ext cx="2374060"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302582" y="3653999"/>
            <a:ext cx="2374060"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性能の見方（断熱・耐震）</a:t>
            </a:r>
          </a:p>
        </p:txBody>
      </p:sp>
      <p:sp>
        <p:nvSpPr>
          <p:cNvPr id="49" name="Rectangle 48"/>
          <p:cNvSpPr/>
          <p:nvPr/>
        </p:nvSpPr>
        <p:spPr>
          <a:xfrm>
            <a:off x="3676643" y="3653999"/>
            <a:ext cx="5215738"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76643" y="3653999"/>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「断熱等級」「耐震等級」など仕様の検索が起点の+1〜14日に出てくる</a:t>
            </a:r>
          </a:p>
        </p:txBody>
      </p:sp>
      <p:sp>
        <p:nvSpPr>
          <p:cNvPr id="51" name="Rectangle 50"/>
          <p:cNvSpPr/>
          <p:nvPr/>
        </p:nvSpPr>
        <p:spPr>
          <a:xfrm>
            <a:off x="8892382" y="3653999"/>
            <a:ext cx="467617"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892382" y="3653999"/>
            <a:ext cx="467617" cy="396000"/>
          </a:xfrm>
          <a:prstGeom prst="rect">
            <a:avLst/>
          </a:prstGeom>
          <a:noFill/>
        </p:spPr>
        <p:txBody>
          <a:bodyPr wrap="square" lIns="21600" tIns="7200" rIns="21600" bIns="7200" anchor="ctr">
            <a:spAutoFit/>
          </a:bodyPr>
          <a:lstStyle/>
          <a:p>
            <a:pPr algn="ctr"/>
            <a:endParaRPr/>
          </a:p>
        </p:txBody>
      </p:sp>
      <p:sp>
        <p:nvSpPr>
          <p:cNvPr id="53" name="Rectangle 52"/>
          <p:cNvSpPr/>
          <p:nvPr/>
        </p:nvSpPr>
        <p:spPr>
          <a:xfrm>
            <a:off x="547200" y="4049999"/>
            <a:ext cx="755382"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7200" y="4049999"/>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11</a:t>
            </a:r>
          </a:p>
        </p:txBody>
      </p:sp>
      <p:sp>
        <p:nvSpPr>
          <p:cNvPr id="55" name="Rectangle 54"/>
          <p:cNvSpPr/>
          <p:nvPr/>
        </p:nvSpPr>
        <p:spPr>
          <a:xfrm>
            <a:off x="1302582" y="4049999"/>
            <a:ext cx="2374060"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302582" y="4049999"/>
            <a:ext cx="2374060"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使える補助金と申請の期限</a:t>
            </a:r>
          </a:p>
        </p:txBody>
      </p:sp>
      <p:sp>
        <p:nvSpPr>
          <p:cNvPr id="57" name="Rectangle 56"/>
          <p:cNvSpPr/>
          <p:nvPr/>
        </p:nvSpPr>
        <p:spPr>
          <a:xfrm>
            <a:off x="3676643" y="4049999"/>
            <a:ext cx="5215738"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76643" y="4049999"/>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補助金の検索は起点から3か月後に出現。先に知らせると差がつく</a:t>
            </a:r>
          </a:p>
        </p:txBody>
      </p:sp>
      <p:sp>
        <p:nvSpPr>
          <p:cNvPr id="59" name="Rectangle 58"/>
          <p:cNvSpPr/>
          <p:nvPr/>
        </p:nvSpPr>
        <p:spPr>
          <a:xfrm>
            <a:off x="8892382" y="4049999"/>
            <a:ext cx="467617" cy="396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892382" y="4049999"/>
            <a:ext cx="467617" cy="396000"/>
          </a:xfrm>
          <a:prstGeom prst="rect">
            <a:avLst/>
          </a:prstGeom>
          <a:noFill/>
        </p:spPr>
        <p:txBody>
          <a:bodyPr wrap="square" lIns="21600" tIns="7200" rIns="21600" bIns="7200" anchor="ctr">
            <a:spAutoFit/>
          </a:bodyPr>
          <a:lstStyle/>
          <a:p>
            <a:pPr algn="ctr"/>
            <a:endParaRPr/>
          </a:p>
        </p:txBody>
      </p:sp>
      <p:sp>
        <p:nvSpPr>
          <p:cNvPr id="61" name="Rectangle 60"/>
          <p:cNvSpPr/>
          <p:nvPr/>
        </p:nvSpPr>
        <p:spPr>
          <a:xfrm>
            <a:off x="547200" y="4445999"/>
            <a:ext cx="755382"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7200" y="4445999"/>
            <a:ext cx="755382" cy="396000"/>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Day 14</a:t>
            </a:r>
          </a:p>
        </p:txBody>
      </p:sp>
      <p:sp>
        <p:nvSpPr>
          <p:cNvPr id="63" name="Rectangle 62"/>
          <p:cNvSpPr/>
          <p:nvPr/>
        </p:nvSpPr>
        <p:spPr>
          <a:xfrm>
            <a:off x="1302582" y="4445999"/>
            <a:ext cx="2374060"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302582" y="4445999"/>
            <a:ext cx="2374060" cy="396000"/>
          </a:xfrm>
          <a:prstGeom prst="rect">
            <a:avLst/>
          </a:prstGeom>
          <a:noFill/>
        </p:spPr>
        <p:txBody>
          <a:bodyPr wrap="square" lIns="21600" tIns="7200" rIns="21600" bIns="7200" anchor="ctr">
            <a:spAutoFit/>
          </a:bodyPr>
          <a:lstStyle/>
          <a:p>
            <a:pPr algn="l"/>
            <a:r>
              <a:rPr sz="1000" b="0">
                <a:solidFill>
                  <a:srgbClr val="ED7D31"/>
                </a:solidFill>
                <a:latin typeface="メイリオ"/>
                <a:ea typeface="メイリオ"/>
                <a:cs typeface="メイリオ"/>
              </a:rPr>
              <a:t>個別相談のご案内</a:t>
            </a:r>
          </a:p>
        </p:txBody>
      </p:sp>
      <p:sp>
        <p:nvSpPr>
          <p:cNvPr id="65" name="Rectangle 64"/>
          <p:cNvSpPr/>
          <p:nvPr/>
        </p:nvSpPr>
        <p:spPr>
          <a:xfrm>
            <a:off x="3676643" y="4445999"/>
            <a:ext cx="5215738"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76643" y="4445999"/>
            <a:ext cx="5215738" cy="396000"/>
          </a:xfrm>
          <a:prstGeom prst="rect">
            <a:avLst/>
          </a:prstGeom>
          <a:noFill/>
        </p:spPr>
        <p:txBody>
          <a:bodyPr wrap="square" lIns="21600" tIns="7200" rIns="21600" bIns="7200" anchor="ctr">
            <a:spAutoFit/>
          </a:bodyPr>
          <a:lstStyle/>
          <a:p>
            <a:pPr algn="l"/>
            <a:r>
              <a:rPr sz="1000" b="0">
                <a:solidFill>
                  <a:srgbClr val="333333"/>
                </a:solidFill>
                <a:latin typeface="メイリオ"/>
                <a:ea typeface="メイリオ"/>
                <a:cs typeface="メイリオ"/>
              </a:rPr>
              <a:t>ここまで開封が続いた層は検討が進んでいる。担当者と話す段階へ</a:t>
            </a:r>
          </a:p>
        </p:txBody>
      </p:sp>
      <p:sp>
        <p:nvSpPr>
          <p:cNvPr id="67" name="Rectangle 66"/>
          <p:cNvSpPr/>
          <p:nvPr/>
        </p:nvSpPr>
        <p:spPr>
          <a:xfrm>
            <a:off x="8892382" y="4445999"/>
            <a:ext cx="467617" cy="396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892382" y="4445999"/>
            <a:ext cx="467617" cy="396000"/>
          </a:xfrm>
          <a:prstGeom prst="rect">
            <a:avLst/>
          </a:prstGeom>
          <a:noFill/>
        </p:spPr>
        <p:txBody>
          <a:bodyPr wrap="square" lIns="21600" tIns="7200" rIns="21600" bIns="7200" anchor="ctr">
            <a:spAutoFit/>
          </a:bodyPr>
          <a:lstStyle/>
          <a:p>
            <a:pPr algn="ctr"/>
            <a:r>
              <a:rPr sz="1000" b="0">
                <a:solidFill>
                  <a:srgbClr val="ED7D31"/>
                </a:solidFill>
                <a:latin typeface="メイリオ"/>
                <a:ea typeface="メイリオ"/>
                <a:cs typeface="メイリオ"/>
              </a:rPr>
              <a:t>②</a:t>
            </a:r>
          </a:p>
        </p:txBody>
      </p:sp>
      <p:sp>
        <p:nvSpPr>
          <p:cNvPr id="69" name="TextBox 68"/>
          <p:cNvSpPr txBox="1"/>
          <p:nvPr/>
        </p:nvSpPr>
        <p:spPr>
          <a:xfrm>
            <a:off x="547200" y="5040000"/>
            <a:ext cx="8812800" cy="468000"/>
          </a:xfrm>
          <a:prstGeom prst="rect">
            <a:avLst/>
          </a:prstGeom>
          <a:noFill/>
        </p:spPr>
        <p:txBody>
          <a:bodyPr wrap="square" lIns="21600" tIns="7200" rIns="21600" bIns="7200" anchor="t">
            <a:spAutoFit/>
          </a:bodyPr>
          <a:lstStyle/>
          <a:p>
            <a:pPr algn="l">
              <a:spcAft>
                <a:spcPts val="400"/>
              </a:spcAft>
            </a:pPr>
            <a:r>
              <a:rPr sz="1200" b="1">
                <a:solidFill>
                  <a:srgbClr val="333333"/>
                </a:solidFill>
                <a:latin typeface="メイリオ"/>
                <a:ea typeface="メイリオ"/>
                <a:cs typeface="メイリオ"/>
              </a:rPr>
              <a:t>オファーを2回に絞るのは、残り5通を「売り込まない情報」にするためです。</a:t>
            </a:r>
          </a:p>
          <a:p>
            <a:pPr algn="l"/>
            <a:r>
              <a:rPr sz="1200" b="1">
                <a:solidFill>
                  <a:srgbClr val="333333"/>
                </a:solidFill>
                <a:latin typeface="メイリオ"/>
                <a:ea typeface="メイリオ"/>
                <a:cs typeface="メイリオ"/>
              </a:rPr>
              <a:t>毎回オファーを入れると通知を開かなくなり、15日の壁を越えられません。</a:t>
            </a:r>
          </a:p>
        </p:txBody>
      </p:sp>
      <p:sp>
        <p:nvSpPr>
          <p:cNvPr id="70" name="Rounded Rectangle 69"/>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14日で売らない。読む習慣をつくって、8ヶ月伴走する土台にする</a:t>
            </a:r>
          </a:p>
        </p:txBody>
      </p:sp>
      <p:sp>
        <p:nvSpPr>
          <p:cNvPr id="71" name="TextBox 70"/>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※根拠列はLINEヤフーの媒体情報（前後検索データ）を弊社にて分析した結果です。</a:t>
            </a:r>
          </a:p>
        </p:txBody>
      </p:sp>
    </p:spTree>
    <p:extLst>
      <p:ext uri="{BB962C8B-B14F-4D97-AF65-F5344CB8AC3E}">
        <p14:creationId xmlns:p14="http://schemas.microsoft.com/office/powerpoint/2010/main" val="426098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配信設計｜実文面① Day0・Day3</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1通目は資金、3通目は土地。前後検索で最初に調べられている順に並べています。</a:t>
            </a:r>
          </a:p>
          <a:p>
            <a:pPr algn="l">
              <a:spcAft>
                <a:spcPts val="300"/>
              </a:spcAft>
            </a:pPr>
            <a:r>
              <a:rPr sz="1250" b="1">
                <a:solidFill>
                  <a:srgbClr val="333333"/>
                </a:solidFill>
                <a:latin typeface="メイリオ"/>
                <a:ea typeface="メイリオ"/>
                <a:cs typeface="メイリオ"/>
              </a:rPr>
              <a:t>どちらも売り込みは入れません。読んで得をする情報だけを送ります。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3024000" cy="306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55999"/>
            <a:ext cx="3024000" cy="30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Day 0（友だち追加の当日）</a:t>
            </a:r>
          </a:p>
        </p:txBody>
      </p:sp>
      <p:sp>
        <p:nvSpPr>
          <p:cNvPr id="7" name="Rounded Rectangle 6"/>
          <p:cNvSpPr/>
          <p:nvPr/>
        </p:nvSpPr>
        <p:spPr>
          <a:xfrm>
            <a:off x="547200" y="1998000"/>
            <a:ext cx="3024000" cy="558000"/>
          </a:xfrm>
          <a:prstGeom prst="roundRect">
            <a:avLst>
              <a:gd name="adj" fmla="val 14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200" y="2055600"/>
            <a:ext cx="2772000" cy="198000"/>
          </a:xfrm>
          <a:prstGeom prst="rect">
            <a:avLst/>
          </a:prstGeom>
          <a:noFill/>
        </p:spPr>
        <p:txBody>
          <a:bodyPr wrap="square" lIns="21600" tIns="7200" rIns="21600" bIns="7200" anchor="t">
            <a:spAutoFit/>
          </a:bodyPr>
          <a:lstStyle/>
          <a:p>
            <a:pPr algn="l"/>
            <a:r>
              <a:rPr sz="900" b="1">
                <a:solidFill>
                  <a:srgbClr val="7F7F7F"/>
                </a:solidFill>
                <a:latin typeface="メイリオ"/>
                <a:ea typeface="メイリオ"/>
                <a:cs typeface="メイリオ"/>
              </a:rPr>
              <a:t>通知プレビュー（冒頭15文字）</a:t>
            </a:r>
          </a:p>
        </p:txBody>
      </p:sp>
      <p:sp>
        <p:nvSpPr>
          <p:cNvPr id="9" name="TextBox 8"/>
          <p:cNvSpPr txBox="1"/>
          <p:nvPr/>
        </p:nvSpPr>
        <p:spPr>
          <a:xfrm>
            <a:off x="673200" y="2271600"/>
            <a:ext cx="2772000" cy="234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「【はじめまして】家づくりのお金」</a:t>
            </a:r>
          </a:p>
        </p:txBody>
      </p:sp>
      <p:pic>
        <p:nvPicPr>
          <p:cNvPr id="10" name="Picture 9" descr="talk_02_day0.png"/>
          <p:cNvPicPr>
            <a:picLocks noChangeAspect="1"/>
          </p:cNvPicPr>
          <p:nvPr/>
        </p:nvPicPr>
        <p:blipFill>
          <a:blip r:embed="rId2"/>
          <a:stretch>
            <a:fillRect/>
          </a:stretch>
        </p:blipFill>
        <p:spPr>
          <a:xfrm>
            <a:off x="547200" y="2610000"/>
            <a:ext cx="3024000" cy="2963520"/>
          </a:xfrm>
          <a:prstGeom prst="rect">
            <a:avLst/>
          </a:prstGeom>
        </p:spPr>
      </p:pic>
      <p:sp>
        <p:nvSpPr>
          <p:cNvPr id="11" name="Rounded Rectangle 10"/>
          <p:cNvSpPr/>
          <p:nvPr/>
        </p:nvSpPr>
        <p:spPr>
          <a:xfrm>
            <a:off x="3769200" y="1655999"/>
            <a:ext cx="3024000" cy="306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9200" y="1655999"/>
            <a:ext cx="3024000" cy="30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Day 3（3日後）</a:t>
            </a:r>
          </a:p>
        </p:txBody>
      </p:sp>
      <p:sp>
        <p:nvSpPr>
          <p:cNvPr id="13" name="Rounded Rectangle 12"/>
          <p:cNvSpPr/>
          <p:nvPr/>
        </p:nvSpPr>
        <p:spPr>
          <a:xfrm>
            <a:off x="3769200" y="1998000"/>
            <a:ext cx="3024000" cy="558000"/>
          </a:xfrm>
          <a:prstGeom prst="roundRect">
            <a:avLst>
              <a:gd name="adj" fmla="val 14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95200" y="2055600"/>
            <a:ext cx="2772000" cy="198000"/>
          </a:xfrm>
          <a:prstGeom prst="rect">
            <a:avLst/>
          </a:prstGeom>
          <a:noFill/>
        </p:spPr>
        <p:txBody>
          <a:bodyPr wrap="square" lIns="21600" tIns="7200" rIns="21600" bIns="7200" anchor="t">
            <a:spAutoFit/>
          </a:bodyPr>
          <a:lstStyle/>
          <a:p>
            <a:pPr algn="l"/>
            <a:r>
              <a:rPr sz="900" b="1">
                <a:solidFill>
                  <a:srgbClr val="7F7F7F"/>
                </a:solidFill>
                <a:latin typeface="メイリオ"/>
                <a:ea typeface="メイリオ"/>
                <a:cs typeface="メイリオ"/>
              </a:rPr>
              <a:t>通知プレビュー（冒頭15文字）</a:t>
            </a:r>
          </a:p>
        </p:txBody>
      </p:sp>
      <p:sp>
        <p:nvSpPr>
          <p:cNvPr id="15" name="TextBox 14"/>
          <p:cNvSpPr txBox="1"/>
          <p:nvPr/>
        </p:nvSpPr>
        <p:spPr>
          <a:xfrm>
            <a:off x="3895200" y="2271600"/>
            <a:ext cx="2772000" cy="234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「【土地から探す方へ】先に知って」</a:t>
            </a:r>
          </a:p>
        </p:txBody>
      </p:sp>
      <p:pic>
        <p:nvPicPr>
          <p:cNvPr id="16" name="Picture 15" descr="talk_03_day3.png"/>
          <p:cNvPicPr>
            <a:picLocks noChangeAspect="1"/>
          </p:cNvPicPr>
          <p:nvPr/>
        </p:nvPicPr>
        <p:blipFill>
          <a:blip r:embed="rId3"/>
          <a:stretch>
            <a:fillRect/>
          </a:stretch>
        </p:blipFill>
        <p:spPr>
          <a:xfrm>
            <a:off x="3769200" y="2610000"/>
            <a:ext cx="3024000" cy="2963520"/>
          </a:xfrm>
          <a:prstGeom prst="rect">
            <a:avLst/>
          </a:prstGeom>
        </p:spPr>
      </p:pic>
      <p:sp>
        <p:nvSpPr>
          <p:cNvPr id="17" name="Rounded Rectangle 16"/>
          <p:cNvSpPr/>
          <p:nvPr/>
        </p:nvSpPr>
        <p:spPr>
          <a:xfrm>
            <a:off x="6991200" y="1655999"/>
            <a:ext cx="2368799" cy="4050000"/>
          </a:xfrm>
          <a:prstGeom prst="roundRect">
            <a:avLst>
              <a:gd name="adj" fmla="val 6000"/>
            </a:avLst>
          </a:prstGeom>
          <a:solidFill>
            <a:srgbClr val="F4F7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17200" y="1763999"/>
            <a:ext cx="2116799" cy="251999"/>
          </a:xfrm>
          <a:prstGeom prst="rect">
            <a:avLst/>
          </a:prstGeom>
          <a:noFill/>
        </p:spPr>
        <p:txBody>
          <a:bodyPr wrap="square" lIns="21600" tIns="7200" rIns="21600" bIns="7200" anchor="t">
            <a:spAutoFit/>
          </a:bodyPr>
          <a:lstStyle/>
          <a:p>
            <a:pPr algn="l"/>
            <a:r>
              <a:rPr sz="1200" b="1">
                <a:solidFill>
                  <a:srgbClr val="ED7D31"/>
                </a:solidFill>
                <a:latin typeface="メイリオ"/>
                <a:ea typeface="メイリオ"/>
                <a:cs typeface="メイリオ"/>
              </a:rPr>
              <a:t>この文面の狙い</a:t>
            </a:r>
          </a:p>
        </p:txBody>
      </p:sp>
      <p:sp>
        <p:nvSpPr>
          <p:cNvPr id="19" name="TextBox 18"/>
          <p:cNvSpPr txBox="1"/>
          <p:nvPr/>
        </p:nvSpPr>
        <p:spPr>
          <a:xfrm>
            <a:off x="7117200" y="2088000"/>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・Day0で資金の話から入るのは、前後検索で「住宅ローン」が全体1位、起点の1.8日前に来ているためです。資金の見通しが立たない人は先へ進みません。</a:t>
            </a:r>
          </a:p>
        </p:txBody>
      </p:sp>
      <p:sp>
        <p:nvSpPr>
          <p:cNvPr id="20" name="TextBox 19"/>
          <p:cNvSpPr txBox="1"/>
          <p:nvPr/>
        </p:nvSpPr>
        <p:spPr>
          <a:xfrm>
            <a:off x="7117200" y="2970000"/>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・総額の内訳を先に開示すると、あとから「聞いていない」が起きません。不信の芽を最初に摘みます。</a:t>
            </a:r>
          </a:p>
        </p:txBody>
      </p:sp>
      <p:sp>
        <p:nvSpPr>
          <p:cNvPr id="21" name="TextBox 20"/>
          <p:cNvSpPr txBox="1"/>
          <p:nvPr/>
        </p:nvSpPr>
        <p:spPr>
          <a:xfrm>
            <a:off x="7117200" y="3851999"/>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・Day3は返信のきっかけを一言だけ置いています。「土地」と送るだけなので、質問文を考える負担がありません。</a:t>
            </a:r>
          </a:p>
        </p:txBody>
      </p:sp>
      <p:sp>
        <p:nvSpPr>
          <p:cNvPr id="22" name="TextBox 21"/>
          <p:cNvSpPr txBox="1"/>
          <p:nvPr/>
        </p:nvSpPr>
        <p:spPr>
          <a:xfrm>
            <a:off x="7117200" y="4733999"/>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・どちらもCTAは相談ではなく次回予告です。売り込まない回を先に置くことで、Day6の見学会が浮きません。</a:t>
            </a:r>
          </a:p>
        </p:txBody>
      </p:sp>
      <p:sp>
        <p:nvSpPr>
          <p:cNvPr id="23" name="Rounded Rectangle 22"/>
          <p:cNvSpPr/>
          <p:nvPr/>
        </p:nvSpPr>
        <p:spPr>
          <a:xfrm>
            <a:off x="547200" y="5724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最初の2通は、売らずに信用を作る回</a:t>
            </a:r>
          </a:p>
        </p:txBody>
      </p:sp>
      <p:sp>
        <p:nvSpPr>
          <p:cNvPr id="24" name="TextBox 23"/>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※文面は業界向けの標準案です。実際は貴社の商品構成・エリアに合わせて作成します。</a:t>
            </a:r>
          </a:p>
        </p:txBody>
      </p:sp>
    </p:spTree>
    <p:extLst>
      <p:ext uri="{BB962C8B-B14F-4D97-AF65-F5344CB8AC3E}">
        <p14:creationId xmlns:p14="http://schemas.microsoft.com/office/powerpoint/2010/main" val="106556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配信設計｜実文面② Day6・Day14</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この2通だけがオファーです。断りやすさを先に置くほど、予約は増えます。</a:t>
            </a:r>
          </a:p>
          <a:p>
            <a:pPr algn="l">
              <a:spcAft>
                <a:spcPts val="300"/>
              </a:spcAft>
            </a:pPr>
            <a:r>
              <a:rPr sz="1250" b="1">
                <a:solidFill>
                  <a:srgbClr val="333333"/>
                </a:solidFill>
                <a:latin typeface="メイリオ"/>
                <a:ea typeface="メイリオ"/>
                <a:cs typeface="メイリオ"/>
              </a:rPr>
              <a:t>「今回は都合が合わない」を必ず選択肢に入れ、後日に回せる導線を残します。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3024000" cy="306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55999"/>
            <a:ext cx="3024000" cy="30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Day 6（1回目のオファー）</a:t>
            </a:r>
          </a:p>
        </p:txBody>
      </p:sp>
      <p:sp>
        <p:nvSpPr>
          <p:cNvPr id="7" name="Rounded Rectangle 6"/>
          <p:cNvSpPr/>
          <p:nvPr/>
        </p:nvSpPr>
        <p:spPr>
          <a:xfrm>
            <a:off x="547200" y="1998000"/>
            <a:ext cx="3024000" cy="558000"/>
          </a:xfrm>
          <a:prstGeom prst="roundRect">
            <a:avLst>
              <a:gd name="adj" fmla="val 14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200" y="2055600"/>
            <a:ext cx="2772000" cy="198000"/>
          </a:xfrm>
          <a:prstGeom prst="rect">
            <a:avLst/>
          </a:prstGeom>
          <a:noFill/>
        </p:spPr>
        <p:txBody>
          <a:bodyPr wrap="square" lIns="21600" tIns="7200" rIns="21600" bIns="7200" anchor="t">
            <a:spAutoFit/>
          </a:bodyPr>
          <a:lstStyle/>
          <a:p>
            <a:pPr algn="l"/>
            <a:r>
              <a:rPr sz="900" b="1">
                <a:solidFill>
                  <a:srgbClr val="7F7F7F"/>
                </a:solidFill>
                <a:latin typeface="メイリオ"/>
                <a:ea typeface="メイリオ"/>
                <a:cs typeface="メイリオ"/>
              </a:rPr>
              <a:t>通知プレビュー（冒頭15文字）</a:t>
            </a:r>
          </a:p>
        </p:txBody>
      </p:sp>
      <p:sp>
        <p:nvSpPr>
          <p:cNvPr id="9" name="TextBox 8"/>
          <p:cNvSpPr txBox="1"/>
          <p:nvPr/>
        </p:nvSpPr>
        <p:spPr>
          <a:xfrm>
            <a:off x="673200" y="2271600"/>
            <a:ext cx="2772000" cy="234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「【ご案内】1組貸切の完成見学会」</a:t>
            </a:r>
          </a:p>
        </p:txBody>
      </p:sp>
      <p:pic>
        <p:nvPicPr>
          <p:cNvPr id="10" name="Picture 9" descr="talk_04_day6.png"/>
          <p:cNvPicPr>
            <a:picLocks noChangeAspect="1"/>
          </p:cNvPicPr>
          <p:nvPr/>
        </p:nvPicPr>
        <p:blipFill>
          <a:blip r:embed="rId2"/>
          <a:stretch>
            <a:fillRect/>
          </a:stretch>
        </p:blipFill>
        <p:spPr>
          <a:xfrm>
            <a:off x="547200" y="2610000"/>
            <a:ext cx="3024000" cy="3096576"/>
          </a:xfrm>
          <a:prstGeom prst="rect">
            <a:avLst/>
          </a:prstGeom>
        </p:spPr>
      </p:pic>
      <p:sp>
        <p:nvSpPr>
          <p:cNvPr id="11" name="Rounded Rectangle 10"/>
          <p:cNvSpPr/>
          <p:nvPr/>
        </p:nvSpPr>
        <p:spPr>
          <a:xfrm>
            <a:off x="3769200" y="1655999"/>
            <a:ext cx="3024000" cy="306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9200" y="1655999"/>
            <a:ext cx="3024000" cy="30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Day 14（2回目のオファー）</a:t>
            </a:r>
          </a:p>
        </p:txBody>
      </p:sp>
      <p:sp>
        <p:nvSpPr>
          <p:cNvPr id="13" name="Rounded Rectangle 12"/>
          <p:cNvSpPr/>
          <p:nvPr/>
        </p:nvSpPr>
        <p:spPr>
          <a:xfrm>
            <a:off x="3769200" y="1998000"/>
            <a:ext cx="3024000" cy="558000"/>
          </a:xfrm>
          <a:prstGeom prst="roundRect">
            <a:avLst>
              <a:gd name="adj" fmla="val 14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95200" y="2055600"/>
            <a:ext cx="2772000" cy="198000"/>
          </a:xfrm>
          <a:prstGeom prst="rect">
            <a:avLst/>
          </a:prstGeom>
          <a:noFill/>
        </p:spPr>
        <p:txBody>
          <a:bodyPr wrap="square" lIns="21600" tIns="7200" rIns="21600" bIns="7200" anchor="t">
            <a:spAutoFit/>
          </a:bodyPr>
          <a:lstStyle/>
          <a:p>
            <a:pPr algn="l"/>
            <a:r>
              <a:rPr sz="900" b="1">
                <a:solidFill>
                  <a:srgbClr val="7F7F7F"/>
                </a:solidFill>
                <a:latin typeface="メイリオ"/>
                <a:ea typeface="メイリオ"/>
                <a:cs typeface="メイリオ"/>
              </a:rPr>
              <a:t>通知プレビュー（冒頭15文字）</a:t>
            </a:r>
          </a:p>
        </p:txBody>
      </p:sp>
      <p:sp>
        <p:nvSpPr>
          <p:cNvPr id="15" name="TextBox 14"/>
          <p:cNvSpPr txBox="1"/>
          <p:nvPr/>
        </p:nvSpPr>
        <p:spPr>
          <a:xfrm>
            <a:off x="3895200" y="2271600"/>
            <a:ext cx="2772000" cy="234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「【一度だけ】間取りのご相談を承」</a:t>
            </a:r>
          </a:p>
        </p:txBody>
      </p:sp>
      <p:pic>
        <p:nvPicPr>
          <p:cNvPr id="16" name="Picture 15" descr="talk_05_day14.png"/>
          <p:cNvPicPr>
            <a:picLocks noChangeAspect="1"/>
          </p:cNvPicPr>
          <p:nvPr/>
        </p:nvPicPr>
        <p:blipFill>
          <a:blip r:embed="rId3"/>
          <a:stretch>
            <a:fillRect/>
          </a:stretch>
        </p:blipFill>
        <p:spPr>
          <a:xfrm>
            <a:off x="3769200" y="2610000"/>
            <a:ext cx="3024000" cy="3096576"/>
          </a:xfrm>
          <a:prstGeom prst="rect">
            <a:avLst/>
          </a:prstGeom>
        </p:spPr>
      </p:pic>
      <p:sp>
        <p:nvSpPr>
          <p:cNvPr id="17" name="Rounded Rectangle 16"/>
          <p:cNvSpPr/>
          <p:nvPr/>
        </p:nvSpPr>
        <p:spPr>
          <a:xfrm>
            <a:off x="6991200" y="1655999"/>
            <a:ext cx="2368799" cy="4050000"/>
          </a:xfrm>
          <a:prstGeom prst="roundRect">
            <a:avLst>
              <a:gd name="adj" fmla="val 6000"/>
            </a:avLst>
          </a:prstGeom>
          <a:solidFill>
            <a:srgbClr val="F4F7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17200" y="1763999"/>
            <a:ext cx="2116799" cy="251999"/>
          </a:xfrm>
          <a:prstGeom prst="rect">
            <a:avLst/>
          </a:prstGeom>
          <a:noFill/>
        </p:spPr>
        <p:txBody>
          <a:bodyPr wrap="square" lIns="21600" tIns="7200" rIns="21600" bIns="7200" anchor="t">
            <a:spAutoFit/>
          </a:bodyPr>
          <a:lstStyle/>
          <a:p>
            <a:pPr algn="l"/>
            <a:r>
              <a:rPr sz="1200" b="1">
                <a:solidFill>
                  <a:srgbClr val="ED7D31"/>
                </a:solidFill>
                <a:latin typeface="メイリオ"/>
                <a:ea typeface="メイリオ"/>
                <a:cs typeface="メイリオ"/>
              </a:rPr>
              <a:t>この文面の狙い</a:t>
            </a:r>
          </a:p>
        </p:txBody>
      </p:sp>
      <p:sp>
        <p:nvSpPr>
          <p:cNvPr id="19" name="TextBox 18"/>
          <p:cNvSpPr txBox="1"/>
          <p:nvPr/>
        </p:nvSpPr>
        <p:spPr>
          <a:xfrm>
            <a:off x="7117200" y="2088000"/>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・Day6を貸切にするのは、展示場に行きたくない理由の多くが「捕まりそう」だからです。捕まらないことを先に3行で約束します。</a:t>
            </a:r>
          </a:p>
        </p:txBody>
      </p:sp>
      <p:sp>
        <p:nvSpPr>
          <p:cNvPr id="20" name="TextBox 19"/>
          <p:cNvSpPr txBox="1"/>
          <p:nvPr/>
        </p:nvSpPr>
        <p:spPr>
          <a:xfrm>
            <a:off x="7117200" y="2970000"/>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・「今回は都合が合わない」を置くと断った人にタグが付きます。消えるのではなく、次の企画配信に回せます。</a:t>
            </a:r>
          </a:p>
        </p:txBody>
      </p:sp>
      <p:sp>
        <p:nvSpPr>
          <p:cNvPr id="21" name="TextBox 20"/>
          <p:cNvSpPr txBox="1"/>
          <p:nvPr/>
        </p:nvSpPr>
        <p:spPr>
          <a:xfrm>
            <a:off x="7117200" y="3851999"/>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・Day14では一度だけと明言します。しつこくしないと宣言することが、いちばん強い誘い方になります。</a:t>
            </a:r>
          </a:p>
        </p:txBody>
      </p:sp>
      <p:sp>
        <p:nvSpPr>
          <p:cNvPr id="22" name="TextBox 21"/>
          <p:cNvSpPr txBox="1"/>
          <p:nvPr/>
        </p:nvSpPr>
        <p:spPr>
          <a:xfrm>
            <a:off x="7117200" y="4733999"/>
            <a:ext cx="2116799" cy="86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・「情報だけ受け取りたい」を残せば断っても友だちのままでいられます。8か月の検討では、これが効いてきます。</a:t>
            </a:r>
          </a:p>
        </p:txBody>
      </p:sp>
      <p:sp>
        <p:nvSpPr>
          <p:cNvPr id="23" name="Rounded Rectangle 22"/>
          <p:cNvSpPr/>
          <p:nvPr/>
        </p:nvSpPr>
        <p:spPr>
          <a:xfrm>
            <a:off x="547200" y="5724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断り方を用意した誘い方のほうが、結果として予約は増える</a:t>
            </a:r>
          </a:p>
        </p:txBody>
      </p:sp>
      <p:sp>
        <p:nvSpPr>
          <p:cNvPr id="24" name="TextBox 23"/>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※日程の選択肢はリッチメニュー・カルーセルで実装します。文面は貴社の運用に合わせて調整します。</a:t>
            </a:r>
          </a:p>
        </p:txBody>
      </p:sp>
    </p:spTree>
    <p:extLst>
      <p:ext uri="{BB962C8B-B14F-4D97-AF65-F5344CB8AC3E}">
        <p14:creationId xmlns:p14="http://schemas.microsoft.com/office/powerpoint/2010/main" val="229935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配信設計｜診断タイプ別の追客の強弱</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60秒診断で付いたタグごとに、配信の頻度と中身を変えます。</a:t>
            </a:r>
          </a:p>
          <a:p>
            <a:pPr algn="l">
              <a:spcAft>
                <a:spcPts val="300"/>
              </a:spcAft>
            </a:pPr>
            <a:r>
              <a:rPr sz="1250" b="1">
                <a:solidFill>
                  <a:srgbClr val="333333"/>
                </a:solidFill>
                <a:latin typeface="メイリオ"/>
                <a:ea typeface="メイリオ"/>
                <a:cs typeface="メイリオ"/>
              </a:rPr>
              <a:t>いちばん大事なのは、④にオファーを出さないと決めることです。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2041200" cy="3348000"/>
          </a:xfrm>
          <a:prstGeom prst="roundRect">
            <a:avLst>
              <a:gd name="adj" fmla="val 6000"/>
            </a:avLst>
          </a:prstGeom>
          <a:solidFill>
            <a:srgbClr val="FFFF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7200" y="1655999"/>
            <a:ext cx="2041200" cy="3600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1655999"/>
            <a:ext cx="2041200" cy="36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① 今すぐ建てたい型</a:t>
            </a:r>
          </a:p>
        </p:txBody>
      </p:sp>
      <p:sp>
        <p:nvSpPr>
          <p:cNvPr id="8" name="TextBox 7"/>
          <p:cNvSpPr txBox="1"/>
          <p:nvPr/>
        </p:nvSpPr>
        <p:spPr>
          <a:xfrm>
            <a:off x="655200" y="2088000"/>
            <a:ext cx="1825200" cy="540000"/>
          </a:xfrm>
          <a:prstGeom prst="rect">
            <a:avLst/>
          </a:prstGeom>
          <a:noFill/>
        </p:spPr>
        <p:txBody>
          <a:bodyPr wrap="square" lIns="21600" tIns="7200" rIns="21600" bIns="7200" anchor="ctr">
            <a:spAutoFit/>
          </a:bodyPr>
          <a:lstStyle/>
          <a:p>
            <a:pPr algn="ctr"/>
            <a:r>
              <a:rPr sz="1500" b="1">
                <a:solidFill>
                  <a:srgbClr val="1F285A"/>
                </a:solidFill>
                <a:latin typeface="メイリオ"/>
                <a:ea typeface="メイリオ"/>
                <a:cs typeface="メイリオ"/>
              </a:rPr>
              <a:t>追客の強さ　強</a:t>
            </a:r>
          </a:p>
        </p:txBody>
      </p:sp>
      <p:sp>
        <p:nvSpPr>
          <p:cNvPr id="9" name="Rounded Rectangle 8"/>
          <p:cNvSpPr/>
          <p:nvPr/>
        </p:nvSpPr>
        <p:spPr>
          <a:xfrm>
            <a:off x="763200" y="2664000"/>
            <a:ext cx="1609200" cy="342000"/>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3200" y="2664000"/>
            <a:ext cx="1609200" cy="342000"/>
          </a:xfrm>
          <a:prstGeom prst="rect">
            <a:avLst/>
          </a:prstGeom>
          <a:noFill/>
        </p:spPr>
        <p:txBody>
          <a:bodyPr wrap="square" lIns="21600" tIns="7200" rIns="21600" bIns="7200" anchor="ctr">
            <a:spAutoFit/>
          </a:bodyPr>
          <a:lstStyle/>
          <a:p>
            <a:pPr algn="ctr"/>
            <a:r>
              <a:rPr sz="1100" b="1">
                <a:solidFill>
                  <a:srgbClr val="1F285A"/>
                </a:solidFill>
                <a:latin typeface="メイリオ"/>
                <a:ea typeface="メイリオ"/>
                <a:cs typeface="メイリオ"/>
              </a:rPr>
              <a:t>配信頻度　週2回</a:t>
            </a:r>
          </a:p>
        </p:txBody>
      </p:sp>
      <p:sp>
        <p:nvSpPr>
          <p:cNvPr id="11" name="TextBox 10"/>
          <p:cNvSpPr txBox="1"/>
          <p:nvPr/>
        </p:nvSpPr>
        <p:spPr>
          <a:xfrm>
            <a:off x="673200" y="3131999"/>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・建てたい時期が1年以内</a:t>
            </a:r>
          </a:p>
        </p:txBody>
      </p:sp>
      <p:sp>
        <p:nvSpPr>
          <p:cNvPr id="12" name="TextBox 11"/>
          <p:cNvSpPr txBox="1"/>
          <p:nvPr/>
        </p:nvSpPr>
        <p:spPr>
          <a:xfrm>
            <a:off x="673200" y="3726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・毎回オファーを入れる</a:t>
            </a:r>
          </a:p>
        </p:txBody>
      </p:sp>
      <p:sp>
        <p:nvSpPr>
          <p:cNvPr id="13" name="TextBox 12"/>
          <p:cNvSpPr txBox="1"/>
          <p:nvPr/>
        </p:nvSpPr>
        <p:spPr>
          <a:xfrm>
            <a:off x="673200" y="4320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・反響があれば営業へトスアップ</a:t>
            </a:r>
          </a:p>
        </p:txBody>
      </p:sp>
      <p:sp>
        <p:nvSpPr>
          <p:cNvPr id="14" name="Rounded Rectangle 13"/>
          <p:cNvSpPr/>
          <p:nvPr/>
        </p:nvSpPr>
        <p:spPr>
          <a:xfrm>
            <a:off x="2804399" y="1655999"/>
            <a:ext cx="2041200" cy="3348000"/>
          </a:xfrm>
          <a:prstGeom prst="roundRect">
            <a:avLst>
              <a:gd name="adj" fmla="val 6000"/>
            </a:avLst>
          </a:prstGeom>
          <a:solidFill>
            <a:srgbClr val="FFFFFF"/>
          </a:solidFill>
          <a:ln w="1651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804399" y="1655999"/>
            <a:ext cx="2041200" cy="360000"/>
          </a:xfrm>
          <a:prstGeom prst="roundRect">
            <a:avLst>
              <a:gd name="adj" fmla="val 14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04399" y="1655999"/>
            <a:ext cx="2041200" cy="36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② 土地探し型</a:t>
            </a:r>
          </a:p>
        </p:txBody>
      </p:sp>
      <p:sp>
        <p:nvSpPr>
          <p:cNvPr id="17" name="TextBox 16"/>
          <p:cNvSpPr txBox="1"/>
          <p:nvPr/>
        </p:nvSpPr>
        <p:spPr>
          <a:xfrm>
            <a:off x="2912400" y="2088000"/>
            <a:ext cx="1825200" cy="540000"/>
          </a:xfrm>
          <a:prstGeom prst="rect">
            <a:avLst/>
          </a:prstGeom>
          <a:noFill/>
        </p:spPr>
        <p:txBody>
          <a:bodyPr wrap="square" lIns="21600" tIns="7200" rIns="21600" bIns="7200" anchor="ctr">
            <a:spAutoFit/>
          </a:bodyPr>
          <a:lstStyle/>
          <a:p>
            <a:pPr algn="ctr"/>
            <a:r>
              <a:rPr sz="1500" b="1">
                <a:solidFill>
                  <a:srgbClr val="3E6DB5"/>
                </a:solidFill>
                <a:latin typeface="メイリオ"/>
                <a:ea typeface="メイリオ"/>
                <a:cs typeface="メイリオ"/>
              </a:rPr>
              <a:t>追客の強さ　中</a:t>
            </a:r>
          </a:p>
        </p:txBody>
      </p:sp>
      <p:sp>
        <p:nvSpPr>
          <p:cNvPr id="18" name="Rounded Rectangle 17"/>
          <p:cNvSpPr/>
          <p:nvPr/>
        </p:nvSpPr>
        <p:spPr>
          <a:xfrm>
            <a:off x="3020399" y="2664000"/>
            <a:ext cx="1609200" cy="342000"/>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20399" y="2664000"/>
            <a:ext cx="1609200" cy="342000"/>
          </a:xfrm>
          <a:prstGeom prst="rect">
            <a:avLst/>
          </a:prstGeom>
          <a:noFill/>
        </p:spPr>
        <p:txBody>
          <a:bodyPr wrap="square" lIns="21600" tIns="7200" rIns="21600" bIns="7200" anchor="ctr">
            <a:spAutoFit/>
          </a:bodyPr>
          <a:lstStyle/>
          <a:p>
            <a:pPr algn="ctr"/>
            <a:r>
              <a:rPr sz="1100" b="1">
                <a:solidFill>
                  <a:srgbClr val="3E6DB5"/>
                </a:solidFill>
                <a:latin typeface="メイリオ"/>
                <a:ea typeface="メイリオ"/>
                <a:cs typeface="メイリオ"/>
              </a:rPr>
              <a:t>配信頻度　週1回</a:t>
            </a:r>
          </a:p>
        </p:txBody>
      </p:sp>
      <p:sp>
        <p:nvSpPr>
          <p:cNvPr id="20" name="TextBox 19"/>
          <p:cNvSpPr txBox="1"/>
          <p:nvPr/>
        </p:nvSpPr>
        <p:spPr>
          <a:xfrm>
            <a:off x="2930399" y="3131999"/>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・土地が未定・これから探す</a:t>
            </a:r>
          </a:p>
        </p:txBody>
      </p:sp>
      <p:sp>
        <p:nvSpPr>
          <p:cNvPr id="21" name="TextBox 20"/>
          <p:cNvSpPr txBox="1"/>
          <p:nvPr/>
        </p:nvSpPr>
        <p:spPr>
          <a:xfrm>
            <a:off x="2930399" y="3726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・エリア別の土地情報を優先</a:t>
            </a:r>
          </a:p>
        </p:txBody>
      </p:sp>
      <p:sp>
        <p:nvSpPr>
          <p:cNvPr id="22" name="TextBox 21"/>
          <p:cNvSpPr txBox="1"/>
          <p:nvPr/>
        </p:nvSpPr>
        <p:spPr>
          <a:xfrm>
            <a:off x="2930399" y="4320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・土地が決まれば①へ移す</a:t>
            </a:r>
          </a:p>
        </p:txBody>
      </p:sp>
      <p:sp>
        <p:nvSpPr>
          <p:cNvPr id="23" name="Rounded Rectangle 22"/>
          <p:cNvSpPr/>
          <p:nvPr/>
        </p:nvSpPr>
        <p:spPr>
          <a:xfrm>
            <a:off x="5061600" y="1655999"/>
            <a:ext cx="2041200" cy="3348000"/>
          </a:xfrm>
          <a:prstGeom prst="roundRect">
            <a:avLst>
              <a:gd name="adj" fmla="val 6000"/>
            </a:avLst>
          </a:prstGeom>
          <a:solidFill>
            <a:srgbClr val="FFFF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061600" y="1655999"/>
            <a:ext cx="2041200" cy="3600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61600" y="1655999"/>
            <a:ext cx="2041200" cy="36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③ 予算不安型</a:t>
            </a:r>
          </a:p>
        </p:txBody>
      </p:sp>
      <p:sp>
        <p:nvSpPr>
          <p:cNvPr id="26" name="TextBox 25"/>
          <p:cNvSpPr txBox="1"/>
          <p:nvPr/>
        </p:nvSpPr>
        <p:spPr>
          <a:xfrm>
            <a:off x="5169600" y="2088000"/>
            <a:ext cx="1825200" cy="540000"/>
          </a:xfrm>
          <a:prstGeom prst="rect">
            <a:avLst/>
          </a:prstGeom>
          <a:noFill/>
        </p:spPr>
        <p:txBody>
          <a:bodyPr wrap="square" lIns="21600" tIns="7200" rIns="21600" bIns="7200" anchor="ctr">
            <a:spAutoFit/>
          </a:bodyPr>
          <a:lstStyle/>
          <a:p>
            <a:pPr algn="ctr"/>
            <a:r>
              <a:rPr sz="1500" b="1">
                <a:solidFill>
                  <a:srgbClr val="ED7D31"/>
                </a:solidFill>
                <a:latin typeface="メイリオ"/>
                <a:ea typeface="メイリオ"/>
                <a:cs typeface="メイリオ"/>
              </a:rPr>
              <a:t>追客の強さ　中</a:t>
            </a:r>
          </a:p>
        </p:txBody>
      </p:sp>
      <p:sp>
        <p:nvSpPr>
          <p:cNvPr id="27" name="Rounded Rectangle 26"/>
          <p:cNvSpPr/>
          <p:nvPr/>
        </p:nvSpPr>
        <p:spPr>
          <a:xfrm>
            <a:off x="5277599" y="2664000"/>
            <a:ext cx="1609200" cy="342000"/>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77599" y="2664000"/>
            <a:ext cx="1609200" cy="342000"/>
          </a:xfrm>
          <a:prstGeom prst="rect">
            <a:avLst/>
          </a:prstGeom>
          <a:noFill/>
        </p:spPr>
        <p:txBody>
          <a:bodyPr wrap="square" lIns="21600" tIns="7200" rIns="21600" bIns="7200" anchor="ctr">
            <a:spAutoFit/>
          </a:bodyPr>
          <a:lstStyle/>
          <a:p>
            <a:pPr algn="ctr"/>
            <a:r>
              <a:rPr sz="1100" b="1">
                <a:solidFill>
                  <a:srgbClr val="ED7D31"/>
                </a:solidFill>
                <a:latin typeface="メイリオ"/>
                <a:ea typeface="メイリオ"/>
                <a:cs typeface="メイリオ"/>
              </a:rPr>
              <a:t>配信頻度　週1回</a:t>
            </a:r>
          </a:p>
        </p:txBody>
      </p:sp>
      <p:sp>
        <p:nvSpPr>
          <p:cNvPr id="29" name="TextBox 28"/>
          <p:cNvSpPr txBox="1"/>
          <p:nvPr/>
        </p:nvSpPr>
        <p:spPr>
          <a:xfrm>
            <a:off x="5187599" y="3131999"/>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・予算が「まだ分からない」</a:t>
            </a:r>
          </a:p>
        </p:txBody>
      </p:sp>
      <p:sp>
        <p:nvSpPr>
          <p:cNvPr id="30" name="TextBox 29"/>
          <p:cNvSpPr txBox="1"/>
          <p:nvPr/>
        </p:nvSpPr>
        <p:spPr>
          <a:xfrm>
            <a:off x="5187599" y="3726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・費用・ローン・補助金が中心</a:t>
            </a:r>
          </a:p>
        </p:txBody>
      </p:sp>
      <p:sp>
        <p:nvSpPr>
          <p:cNvPr id="31" name="TextBox 30"/>
          <p:cNvSpPr txBox="1"/>
          <p:nvPr/>
        </p:nvSpPr>
        <p:spPr>
          <a:xfrm>
            <a:off x="5187599" y="4320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・オファーは月1回だけ</a:t>
            </a:r>
          </a:p>
        </p:txBody>
      </p:sp>
      <p:sp>
        <p:nvSpPr>
          <p:cNvPr id="32" name="Rounded Rectangle 31"/>
          <p:cNvSpPr/>
          <p:nvPr/>
        </p:nvSpPr>
        <p:spPr>
          <a:xfrm>
            <a:off x="7318799" y="1655999"/>
            <a:ext cx="2041200" cy="3348000"/>
          </a:xfrm>
          <a:prstGeom prst="roundRect">
            <a:avLst>
              <a:gd name="adj" fmla="val 6000"/>
            </a:avLst>
          </a:prstGeom>
          <a:solidFill>
            <a:srgbClr val="FFFFFF"/>
          </a:solidFill>
          <a:ln w="1651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318799" y="1655999"/>
            <a:ext cx="2041200" cy="360000"/>
          </a:xfrm>
          <a:prstGeom prst="roundRect">
            <a:avLst>
              <a:gd name="adj" fmla="val 14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8799" y="1655999"/>
            <a:ext cx="2041200" cy="36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④ 情報収集型</a:t>
            </a:r>
          </a:p>
        </p:txBody>
      </p:sp>
      <p:sp>
        <p:nvSpPr>
          <p:cNvPr id="35" name="TextBox 34"/>
          <p:cNvSpPr txBox="1"/>
          <p:nvPr/>
        </p:nvSpPr>
        <p:spPr>
          <a:xfrm>
            <a:off x="7426800" y="2088000"/>
            <a:ext cx="1825200" cy="540000"/>
          </a:xfrm>
          <a:prstGeom prst="rect">
            <a:avLst/>
          </a:prstGeom>
          <a:noFill/>
        </p:spPr>
        <p:txBody>
          <a:bodyPr wrap="square" lIns="21600" tIns="7200" rIns="21600" bIns="7200" anchor="ctr">
            <a:spAutoFit/>
          </a:bodyPr>
          <a:lstStyle/>
          <a:p>
            <a:pPr algn="ctr"/>
            <a:r>
              <a:rPr sz="1500" b="1">
                <a:solidFill>
                  <a:srgbClr val="7F7F7F"/>
                </a:solidFill>
                <a:latin typeface="メイリオ"/>
                <a:ea typeface="メイリオ"/>
                <a:cs typeface="メイリオ"/>
              </a:rPr>
              <a:t>追客の強さ　弱</a:t>
            </a:r>
          </a:p>
        </p:txBody>
      </p:sp>
      <p:sp>
        <p:nvSpPr>
          <p:cNvPr id="36" name="Rounded Rectangle 35"/>
          <p:cNvSpPr/>
          <p:nvPr/>
        </p:nvSpPr>
        <p:spPr>
          <a:xfrm>
            <a:off x="7534800" y="2664000"/>
            <a:ext cx="1609200" cy="342000"/>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34800" y="2664000"/>
            <a:ext cx="1609200" cy="342000"/>
          </a:xfrm>
          <a:prstGeom prst="rect">
            <a:avLst/>
          </a:prstGeom>
          <a:noFill/>
        </p:spPr>
        <p:txBody>
          <a:bodyPr wrap="square" lIns="21600" tIns="7200" rIns="21600" bIns="7200" anchor="ctr">
            <a:spAutoFit/>
          </a:bodyPr>
          <a:lstStyle/>
          <a:p>
            <a:pPr algn="ctr"/>
            <a:r>
              <a:rPr sz="1100" b="1">
                <a:solidFill>
                  <a:srgbClr val="7F7F7F"/>
                </a:solidFill>
                <a:latin typeface="メイリオ"/>
                <a:ea typeface="メイリオ"/>
                <a:cs typeface="メイリオ"/>
              </a:rPr>
              <a:t>配信頻度　月2回</a:t>
            </a:r>
          </a:p>
        </p:txBody>
      </p:sp>
      <p:sp>
        <p:nvSpPr>
          <p:cNvPr id="38" name="TextBox 37"/>
          <p:cNvSpPr txBox="1"/>
          <p:nvPr/>
        </p:nvSpPr>
        <p:spPr>
          <a:xfrm>
            <a:off x="7444800" y="3131999"/>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・時期未定・実例だけ見たい</a:t>
            </a:r>
          </a:p>
        </p:txBody>
      </p:sp>
      <p:sp>
        <p:nvSpPr>
          <p:cNvPr id="39" name="TextBox 38"/>
          <p:cNvSpPr txBox="1"/>
          <p:nvPr/>
        </p:nvSpPr>
        <p:spPr>
          <a:xfrm>
            <a:off x="7444800" y="3726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・実例と読み物のみ</a:t>
            </a:r>
          </a:p>
        </p:txBody>
      </p:sp>
      <p:sp>
        <p:nvSpPr>
          <p:cNvPr id="40" name="TextBox 39"/>
          <p:cNvSpPr txBox="1"/>
          <p:nvPr/>
        </p:nvSpPr>
        <p:spPr>
          <a:xfrm>
            <a:off x="7444800" y="4320000"/>
            <a:ext cx="1789200" cy="576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・オファーは出さない</a:t>
            </a:r>
          </a:p>
        </p:txBody>
      </p:sp>
      <p:sp>
        <p:nvSpPr>
          <p:cNvPr id="41" name="Rounded Rectangle 40"/>
          <p:cNvSpPr/>
          <p:nvPr/>
        </p:nvSpPr>
        <p:spPr>
          <a:xfrm>
            <a:off x="547200" y="5093999"/>
            <a:ext cx="8812800" cy="630000"/>
          </a:xfrm>
          <a:prstGeom prst="roundRect">
            <a:avLst>
              <a:gd name="adj" fmla="val 6000"/>
            </a:avLst>
          </a:prstGeom>
          <a:solidFill>
            <a:srgbClr val="F4F7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7200" y="5183999"/>
            <a:ext cx="8452800" cy="468000"/>
          </a:xfrm>
          <a:prstGeom prst="rect">
            <a:avLst/>
          </a:prstGeom>
          <a:noFill/>
        </p:spPr>
        <p:txBody>
          <a:bodyPr wrap="square" lIns="21600" tIns="7200" rIns="21600" bIns="7200" anchor="t">
            <a:spAutoFit/>
          </a:bodyPr>
          <a:lstStyle/>
          <a:p>
            <a:pPr algn="l">
              <a:spcAft>
                <a:spcPts val="300"/>
              </a:spcAft>
            </a:pPr>
            <a:r>
              <a:rPr sz="1200" b="1">
                <a:solidFill>
                  <a:srgbClr val="333333"/>
                </a:solidFill>
                <a:latin typeface="メイリオ"/>
                <a:ea typeface="メイリオ"/>
                <a:cs typeface="メイリオ"/>
              </a:rPr>
              <a:t>④にオファーを出さないと決めることが、①〜③を守ります。</a:t>
            </a:r>
          </a:p>
          <a:p>
            <a:pPr algn="l"/>
            <a:r>
              <a:rPr sz="1100" b="0">
                <a:solidFill>
                  <a:srgbClr val="333333"/>
                </a:solidFill>
                <a:latin typeface="メイリオ"/>
                <a:ea typeface="メイリオ"/>
                <a:cs typeface="メイリオ"/>
              </a:rPr>
              <a:t>全員に同じ案内を送ると、まだ検討していない層がブロックし、母数そのものが減るためです。</a:t>
            </a:r>
          </a:p>
        </p:txBody>
      </p:sp>
      <p:sp>
        <p:nvSpPr>
          <p:cNvPr id="43" name="Rounded Rectangle 42"/>
          <p:cNvSpPr/>
          <p:nvPr/>
        </p:nvSpPr>
        <p:spPr>
          <a:xfrm>
            <a:off x="547200" y="576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全員に同じものを送らない。それだけで母数が減らなくなる</a:t>
            </a:r>
          </a:p>
        </p:txBody>
      </p:sp>
      <p:sp>
        <p:nvSpPr>
          <p:cNvPr id="44" name="TextBox 43"/>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※頻度は業界向けの標準案です。実際の運用では開封率・ブロック率の実測を見ながら調整します。</a:t>
            </a:r>
          </a:p>
        </p:txBody>
      </p:sp>
    </p:spTree>
    <p:extLst>
      <p:ext uri="{BB962C8B-B14F-4D97-AF65-F5344CB8AC3E}">
        <p14:creationId xmlns:p14="http://schemas.microsoft.com/office/powerpoint/2010/main" val="2957158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配信設計｜通知メッセージの利用シーン</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通知メッセージは、友だちでない相手にも電話番号あてに届けられる機能です。</a:t>
            </a:r>
          </a:p>
          <a:p>
            <a:pPr algn="l">
              <a:spcAft>
                <a:spcPts val="300"/>
              </a:spcAft>
            </a:pPr>
            <a:r>
              <a:rPr sz="1250" b="1">
                <a:solidFill>
                  <a:srgbClr val="333333"/>
                </a:solidFill>
                <a:latin typeface="メイリオ"/>
                <a:ea typeface="メイリオ"/>
                <a:cs typeface="メイリオ"/>
              </a:rPr>
              <a:t>使うのは4場面だけ。乱発すると友だち追加の入口として機能しなくなります。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73999"/>
            <a:ext cx="4298400" cy="1800000"/>
          </a:xfrm>
          <a:prstGeom prst="roundRect">
            <a:avLst>
              <a:gd name="adj" fmla="val 6000"/>
            </a:avLst>
          </a:prstGeom>
          <a:solidFill>
            <a:srgbClr val="FFFF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7200" y="1673999"/>
            <a:ext cx="4298400" cy="360000"/>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3200" y="1673999"/>
            <a:ext cx="4046400" cy="360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① 来場の前日リマインド</a:t>
            </a:r>
          </a:p>
        </p:txBody>
      </p:sp>
      <p:sp>
        <p:nvSpPr>
          <p:cNvPr id="8" name="TextBox 7"/>
          <p:cNvSpPr txBox="1"/>
          <p:nvPr/>
        </p:nvSpPr>
        <p:spPr>
          <a:xfrm>
            <a:off x="709200" y="2106000"/>
            <a:ext cx="3974399" cy="251999"/>
          </a:xfrm>
          <a:prstGeom prst="rect">
            <a:avLst/>
          </a:prstGeom>
          <a:noFill/>
        </p:spPr>
        <p:txBody>
          <a:bodyPr wrap="square" lIns="21600" tIns="7200" rIns="21600" bIns="7200" anchor="t">
            <a:spAutoFit/>
          </a:bodyPr>
          <a:lstStyle/>
          <a:p>
            <a:pPr algn="l"/>
            <a:r>
              <a:rPr sz="1150" b="1">
                <a:solidFill>
                  <a:srgbClr val="1F285A"/>
                </a:solidFill>
                <a:latin typeface="メイリオ"/>
                <a:ea typeface="メイリオ"/>
                <a:cs typeface="メイリオ"/>
              </a:rPr>
              <a:t>予約したが来ない、を減らす</a:t>
            </a:r>
          </a:p>
        </p:txBody>
      </p:sp>
      <p:sp>
        <p:nvSpPr>
          <p:cNvPr id="9" name="TextBox 8"/>
          <p:cNvSpPr txBox="1"/>
          <p:nvPr/>
        </p:nvSpPr>
        <p:spPr>
          <a:xfrm>
            <a:off x="709200" y="2394000"/>
            <a:ext cx="3974399" cy="72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予約から来場まで日が空くと、当日の連絡がつかないまま流れます。前日に届けば、変更にも切り替えられます。</a:t>
            </a:r>
          </a:p>
        </p:txBody>
      </p:sp>
      <p:sp>
        <p:nvSpPr>
          <p:cNvPr id="10" name="Rounded Rectangle 9"/>
          <p:cNvSpPr/>
          <p:nvPr/>
        </p:nvSpPr>
        <p:spPr>
          <a:xfrm>
            <a:off x="709200" y="3060000"/>
            <a:ext cx="3974399" cy="306000"/>
          </a:xfrm>
          <a:prstGeom prst="roundRect">
            <a:avLst>
              <a:gd name="adj" fmla="val 1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9200" y="3060000"/>
            <a:ext cx="3974399" cy="306000"/>
          </a:xfrm>
          <a:prstGeom prst="rect">
            <a:avLst/>
          </a:prstGeom>
          <a:noFill/>
        </p:spPr>
        <p:txBody>
          <a:bodyPr wrap="square" lIns="21600" tIns="7200" rIns="21600" bIns="7200" anchor="ctr">
            <a:spAutoFit/>
          </a:bodyPr>
          <a:lstStyle/>
          <a:p>
            <a:pPr algn="ctr"/>
            <a:r>
              <a:rPr sz="1050" b="1">
                <a:solidFill>
                  <a:srgbClr val="1F285A"/>
                </a:solidFill>
                <a:latin typeface="メイリオ"/>
                <a:ea typeface="メイリオ"/>
                <a:cs typeface="メイリオ"/>
              </a:rPr>
              <a:t>→ 来場率の改善</a:t>
            </a:r>
          </a:p>
        </p:txBody>
      </p:sp>
      <p:sp>
        <p:nvSpPr>
          <p:cNvPr id="12" name="Rounded Rectangle 11"/>
          <p:cNvSpPr/>
          <p:nvPr/>
        </p:nvSpPr>
        <p:spPr>
          <a:xfrm>
            <a:off x="5061600" y="1673999"/>
            <a:ext cx="4298400" cy="1800000"/>
          </a:xfrm>
          <a:prstGeom prst="roundRect">
            <a:avLst>
              <a:gd name="adj" fmla="val 6000"/>
            </a:avLst>
          </a:prstGeom>
          <a:solidFill>
            <a:srgbClr val="FFFF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61600" y="1673999"/>
            <a:ext cx="4298400" cy="3600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87599" y="1673999"/>
            <a:ext cx="4046400" cy="360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② 過去リストの掘り起こし</a:t>
            </a:r>
          </a:p>
        </p:txBody>
      </p:sp>
      <p:sp>
        <p:nvSpPr>
          <p:cNvPr id="15" name="TextBox 14"/>
          <p:cNvSpPr txBox="1"/>
          <p:nvPr/>
        </p:nvSpPr>
        <p:spPr>
          <a:xfrm>
            <a:off x="5223599" y="2106000"/>
            <a:ext cx="3974399" cy="251999"/>
          </a:xfrm>
          <a:prstGeom prst="rect">
            <a:avLst/>
          </a:prstGeom>
          <a:noFill/>
        </p:spPr>
        <p:txBody>
          <a:bodyPr wrap="square" lIns="21600" tIns="7200" rIns="21600" bIns="7200" anchor="t">
            <a:spAutoFit/>
          </a:bodyPr>
          <a:lstStyle/>
          <a:p>
            <a:pPr algn="l"/>
            <a:r>
              <a:rPr sz="1150" b="1">
                <a:solidFill>
                  <a:srgbClr val="ED7D31"/>
                </a:solidFill>
                <a:latin typeface="メイリオ"/>
                <a:ea typeface="メイリオ"/>
                <a:cs typeface="メイリオ"/>
              </a:rPr>
              <a:t>資料請求だけで止まった人へ</a:t>
            </a:r>
          </a:p>
        </p:txBody>
      </p:sp>
      <p:sp>
        <p:nvSpPr>
          <p:cNvPr id="16" name="TextBox 15"/>
          <p:cNvSpPr txBox="1"/>
          <p:nvPr/>
        </p:nvSpPr>
        <p:spPr>
          <a:xfrm>
            <a:off x="5223599" y="2394000"/>
            <a:ext cx="3974399" cy="72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資料請求はしたが来場していない過去リストに、新しい実例や見学会を届けます。広告費をかけずに母数が戻ります。</a:t>
            </a:r>
          </a:p>
        </p:txBody>
      </p:sp>
      <p:sp>
        <p:nvSpPr>
          <p:cNvPr id="17" name="Rounded Rectangle 16"/>
          <p:cNvSpPr/>
          <p:nvPr/>
        </p:nvSpPr>
        <p:spPr>
          <a:xfrm>
            <a:off x="5223599" y="3060000"/>
            <a:ext cx="3974399" cy="306000"/>
          </a:xfrm>
          <a:prstGeom prst="roundRect">
            <a:avLst>
              <a:gd name="adj" fmla="val 1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23599" y="3060000"/>
            <a:ext cx="3974399" cy="306000"/>
          </a:xfrm>
          <a:prstGeom prst="rect">
            <a:avLst/>
          </a:prstGeom>
          <a:noFill/>
        </p:spPr>
        <p:txBody>
          <a:bodyPr wrap="square" lIns="21600" tIns="7200" rIns="21600" bIns="7200" anchor="ctr">
            <a:spAutoFit/>
          </a:bodyPr>
          <a:lstStyle/>
          <a:p>
            <a:pPr algn="ctr"/>
            <a:r>
              <a:rPr sz="1050" b="1">
                <a:solidFill>
                  <a:srgbClr val="ED7D31"/>
                </a:solidFill>
                <a:latin typeface="メイリオ"/>
                <a:ea typeface="メイリオ"/>
                <a:cs typeface="メイリオ"/>
              </a:rPr>
              <a:t>→ 新規獲得コストの削減</a:t>
            </a:r>
          </a:p>
        </p:txBody>
      </p:sp>
      <p:sp>
        <p:nvSpPr>
          <p:cNvPr id="19" name="Rounded Rectangle 18"/>
          <p:cNvSpPr/>
          <p:nvPr/>
        </p:nvSpPr>
        <p:spPr>
          <a:xfrm>
            <a:off x="547200" y="3600000"/>
            <a:ext cx="4298400" cy="1800000"/>
          </a:xfrm>
          <a:prstGeom prst="roundRect">
            <a:avLst>
              <a:gd name="adj" fmla="val 6000"/>
            </a:avLst>
          </a:prstGeom>
          <a:solidFill>
            <a:srgbClr val="FFFFFF"/>
          </a:solidFill>
          <a:ln w="1651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47200" y="3600000"/>
            <a:ext cx="4298400" cy="360000"/>
          </a:xfrm>
          <a:prstGeom prst="roundRect">
            <a:avLst>
              <a:gd name="adj" fmla="val 14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3200" y="3600000"/>
            <a:ext cx="4046400" cy="360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③ 着工〜引渡しの工程通知</a:t>
            </a:r>
          </a:p>
        </p:txBody>
      </p:sp>
      <p:sp>
        <p:nvSpPr>
          <p:cNvPr id="22" name="TextBox 21"/>
          <p:cNvSpPr txBox="1"/>
          <p:nvPr/>
        </p:nvSpPr>
        <p:spPr>
          <a:xfrm>
            <a:off x="709200" y="4031999"/>
            <a:ext cx="3974399" cy="251999"/>
          </a:xfrm>
          <a:prstGeom prst="rect">
            <a:avLst/>
          </a:prstGeom>
          <a:noFill/>
        </p:spPr>
        <p:txBody>
          <a:bodyPr wrap="square" lIns="21600" tIns="7200" rIns="21600" bIns="7200" anchor="t">
            <a:spAutoFit/>
          </a:bodyPr>
          <a:lstStyle/>
          <a:p>
            <a:pPr algn="l"/>
            <a:r>
              <a:rPr sz="1150" b="1">
                <a:solidFill>
                  <a:srgbClr val="3E6DB5"/>
                </a:solidFill>
                <a:latin typeface="メイリオ"/>
                <a:ea typeface="メイリオ"/>
                <a:cs typeface="メイリオ"/>
              </a:rPr>
              <a:t>契約後の不安をなくす</a:t>
            </a:r>
          </a:p>
        </p:txBody>
      </p:sp>
      <p:sp>
        <p:nvSpPr>
          <p:cNvPr id="23" name="TextBox 22"/>
          <p:cNvSpPr txBox="1"/>
          <p:nvPr/>
        </p:nvSpPr>
        <p:spPr>
          <a:xfrm>
            <a:off x="709200" y="4320000"/>
            <a:ext cx="3974399" cy="72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基礎・上棟・内装の進捗を写真つきで届けます。契約後の「今どうなっているか分からない」が、いちばん不満になります。</a:t>
            </a:r>
          </a:p>
        </p:txBody>
      </p:sp>
      <p:sp>
        <p:nvSpPr>
          <p:cNvPr id="24" name="Rounded Rectangle 23"/>
          <p:cNvSpPr/>
          <p:nvPr/>
        </p:nvSpPr>
        <p:spPr>
          <a:xfrm>
            <a:off x="709200" y="4986000"/>
            <a:ext cx="3974399" cy="306000"/>
          </a:xfrm>
          <a:prstGeom prst="roundRect">
            <a:avLst>
              <a:gd name="adj" fmla="val 1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9200" y="4986000"/>
            <a:ext cx="3974399" cy="306000"/>
          </a:xfrm>
          <a:prstGeom prst="rect">
            <a:avLst/>
          </a:prstGeom>
          <a:noFill/>
        </p:spPr>
        <p:txBody>
          <a:bodyPr wrap="square" lIns="21600" tIns="7200" rIns="21600" bIns="7200" anchor="ctr">
            <a:spAutoFit/>
          </a:bodyPr>
          <a:lstStyle/>
          <a:p>
            <a:pPr algn="ctr"/>
            <a:r>
              <a:rPr sz="1050" b="1">
                <a:solidFill>
                  <a:srgbClr val="3E6DB5"/>
                </a:solidFill>
                <a:latin typeface="メイリオ"/>
                <a:ea typeface="メイリオ"/>
                <a:cs typeface="メイリオ"/>
              </a:rPr>
              <a:t>→ 紹介・口コミにつながる</a:t>
            </a:r>
          </a:p>
        </p:txBody>
      </p:sp>
      <p:sp>
        <p:nvSpPr>
          <p:cNvPr id="26" name="Rounded Rectangle 25"/>
          <p:cNvSpPr/>
          <p:nvPr/>
        </p:nvSpPr>
        <p:spPr>
          <a:xfrm>
            <a:off x="5061600" y="3600000"/>
            <a:ext cx="4298400" cy="1800000"/>
          </a:xfrm>
          <a:prstGeom prst="roundRect">
            <a:avLst>
              <a:gd name="adj" fmla="val 6000"/>
            </a:avLst>
          </a:prstGeom>
          <a:solidFill>
            <a:srgbClr val="FFFFFF"/>
          </a:solidFill>
          <a:ln w="1651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061600" y="3600000"/>
            <a:ext cx="4298400" cy="360000"/>
          </a:xfrm>
          <a:prstGeom prst="roundRect">
            <a:avLst>
              <a:gd name="adj" fmla="val 14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87599" y="3600000"/>
            <a:ext cx="4046400" cy="360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④ 引渡し後の点検・メンテ</a:t>
            </a:r>
          </a:p>
        </p:txBody>
      </p:sp>
      <p:sp>
        <p:nvSpPr>
          <p:cNvPr id="29" name="TextBox 28"/>
          <p:cNvSpPr txBox="1"/>
          <p:nvPr/>
        </p:nvSpPr>
        <p:spPr>
          <a:xfrm>
            <a:off x="5223599" y="4031999"/>
            <a:ext cx="3974399" cy="251999"/>
          </a:xfrm>
          <a:prstGeom prst="rect">
            <a:avLst/>
          </a:prstGeom>
          <a:noFill/>
        </p:spPr>
        <p:txBody>
          <a:bodyPr wrap="square" lIns="21600" tIns="7200" rIns="21600" bIns="7200" anchor="t">
            <a:spAutoFit/>
          </a:bodyPr>
          <a:lstStyle/>
          <a:p>
            <a:pPr algn="l"/>
            <a:r>
              <a:rPr sz="1150" b="1">
                <a:solidFill>
                  <a:srgbClr val="3E6DB5"/>
                </a:solidFill>
                <a:latin typeface="メイリオ"/>
                <a:ea typeface="メイリオ"/>
                <a:cs typeface="メイリオ"/>
              </a:rPr>
              <a:t>10年目まで接点を切らさない</a:t>
            </a:r>
          </a:p>
        </p:txBody>
      </p:sp>
      <p:sp>
        <p:nvSpPr>
          <p:cNvPr id="30" name="TextBox 29"/>
          <p:cNvSpPr txBox="1"/>
          <p:nvPr/>
        </p:nvSpPr>
        <p:spPr>
          <a:xfrm>
            <a:off x="5223599" y="4320000"/>
            <a:ext cx="3974399" cy="72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1年・5年・10年の定期点検や、外構・リフォームの案内を届けます。引渡しで関係を切らないための機能です。</a:t>
            </a:r>
          </a:p>
        </p:txBody>
      </p:sp>
      <p:sp>
        <p:nvSpPr>
          <p:cNvPr id="31" name="Rounded Rectangle 30"/>
          <p:cNvSpPr/>
          <p:nvPr/>
        </p:nvSpPr>
        <p:spPr>
          <a:xfrm>
            <a:off x="5223599" y="4986000"/>
            <a:ext cx="3974399" cy="306000"/>
          </a:xfrm>
          <a:prstGeom prst="roundRect">
            <a:avLst>
              <a:gd name="adj" fmla="val 1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23599" y="4986000"/>
            <a:ext cx="3974399" cy="306000"/>
          </a:xfrm>
          <a:prstGeom prst="rect">
            <a:avLst/>
          </a:prstGeom>
          <a:noFill/>
        </p:spPr>
        <p:txBody>
          <a:bodyPr wrap="square" lIns="21600" tIns="7200" rIns="21600" bIns="7200" anchor="ctr">
            <a:spAutoFit/>
          </a:bodyPr>
          <a:lstStyle/>
          <a:p>
            <a:pPr algn="ctr"/>
            <a:r>
              <a:rPr sz="1050" b="1">
                <a:solidFill>
                  <a:srgbClr val="3E6DB5"/>
                </a:solidFill>
                <a:latin typeface="メイリオ"/>
                <a:ea typeface="メイリオ"/>
                <a:cs typeface="メイリオ"/>
              </a:rPr>
              <a:t>→ LTVの最大化</a:t>
            </a:r>
          </a:p>
        </p:txBody>
      </p:sp>
      <p:sp>
        <p:nvSpPr>
          <p:cNvPr id="33" name="Rounded Rectangle 32"/>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友だちでない相手にも届く。だからこそ、使う場面を絞る</a:t>
            </a:r>
          </a:p>
        </p:txBody>
      </p:sp>
      <p:sp>
        <p:nvSpPr>
          <p:cNvPr id="34" name="TextBox 33"/>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※通知メッセージはLINEヤフー社の提供機能です。利用には電話番号の保有と、同社の定める配信条件を満たす必要があります。</a:t>
            </a:r>
          </a:p>
          <a:p>
            <a:pPr algn="l"/>
            <a:r>
              <a:rPr sz="850" b="0">
                <a:solidFill>
                  <a:srgbClr val="7F7F7F"/>
                </a:solidFill>
                <a:latin typeface="メイリオ"/>
                <a:ea typeface="メイリオ"/>
                <a:cs typeface="メイリオ"/>
              </a:rPr>
              <a:t>※費用は初期200,000円＋月600,000円（税別）と大きいため、導入は必須ではありません。②の掘り起こしで費用対効果が見込める場合にご提案します。</a:t>
            </a:r>
          </a:p>
        </p:txBody>
      </p:sp>
    </p:spTree>
    <p:extLst>
      <p:ext uri="{BB962C8B-B14F-4D97-AF65-F5344CB8AC3E}">
        <p14:creationId xmlns:p14="http://schemas.microsoft.com/office/powerpoint/2010/main" val="774396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歩留まり｜予約したのに来ない、を減らす</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来場予約のCPAは業界水準で80,000〜150,000円。1件の未来場が、そのまま損失になります。</a:t>
            </a:r>
          </a:p>
          <a:p>
            <a:pPr algn="l">
              <a:spcAft>
                <a:spcPts val="300"/>
              </a:spcAft>
            </a:pPr>
            <a:r>
              <a:rPr sz="1250" b="1">
                <a:solidFill>
                  <a:srgbClr val="333333"/>
                </a:solidFill>
                <a:latin typeface="メイリオ"/>
                <a:ea typeface="メイリオ"/>
                <a:cs typeface="メイリオ"/>
              </a:rPr>
              <a:t>来場前にやることは3つだけです。どれも人手を増やさずに動きます。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pic>
        <p:nvPicPr>
          <p:cNvPr id="5" name="Picture 4" descr="talk_06_reminder.png"/>
          <p:cNvPicPr>
            <a:picLocks noChangeAspect="1"/>
          </p:cNvPicPr>
          <p:nvPr/>
        </p:nvPicPr>
        <p:blipFill>
          <a:blip r:embed="rId2"/>
          <a:stretch>
            <a:fillRect/>
          </a:stretch>
        </p:blipFill>
        <p:spPr>
          <a:xfrm>
            <a:off x="547200" y="1673999"/>
            <a:ext cx="3024000" cy="2298240"/>
          </a:xfrm>
          <a:prstGeom prst="rect">
            <a:avLst/>
          </a:prstGeom>
        </p:spPr>
      </p:pic>
      <p:sp>
        <p:nvSpPr>
          <p:cNvPr id="6" name="Rounded Rectangle 5"/>
          <p:cNvSpPr/>
          <p:nvPr/>
        </p:nvSpPr>
        <p:spPr>
          <a:xfrm>
            <a:off x="3751200" y="1655999"/>
            <a:ext cx="5608800" cy="990000"/>
          </a:xfrm>
          <a:prstGeom prst="roundRect">
            <a:avLst>
              <a:gd name="adj" fmla="val 6000"/>
            </a:avLst>
          </a:prstGeom>
          <a:solidFill>
            <a:srgbClr val="FFFFFF"/>
          </a:solidFill>
          <a:ln w="1397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5200" y="1745999"/>
            <a:ext cx="2015999" cy="251999"/>
          </a:xfrm>
          <a:prstGeom prst="rect">
            <a:avLst/>
          </a:prstGeom>
          <a:noFill/>
        </p:spPr>
        <p:txBody>
          <a:bodyPr wrap="square" lIns="21600" tIns="7200" rIns="21600" bIns="7200" anchor="t">
            <a:spAutoFit/>
          </a:bodyPr>
          <a:lstStyle/>
          <a:p>
            <a:pPr algn="l"/>
            <a:r>
              <a:rPr sz="1200" b="1">
                <a:solidFill>
                  <a:srgbClr val="1F285A"/>
                </a:solidFill>
                <a:latin typeface="メイリオ"/>
                <a:ea typeface="メイリオ"/>
                <a:cs typeface="メイリオ"/>
              </a:rPr>
              <a:t>① 前日リマインド</a:t>
            </a:r>
          </a:p>
        </p:txBody>
      </p:sp>
      <p:sp>
        <p:nvSpPr>
          <p:cNvPr id="8" name="TextBox 7"/>
          <p:cNvSpPr txBox="1"/>
          <p:nvPr/>
        </p:nvSpPr>
        <p:spPr>
          <a:xfrm>
            <a:off x="5947200" y="1745999"/>
            <a:ext cx="3268800" cy="251999"/>
          </a:xfrm>
          <a:prstGeom prst="rect">
            <a:avLst/>
          </a:prstGeom>
          <a:noFill/>
        </p:spPr>
        <p:txBody>
          <a:bodyPr wrap="square" lIns="21600" tIns="7200" rIns="21600" bIns="7200" anchor="t">
            <a:spAutoFit/>
          </a:bodyPr>
          <a:lstStyle/>
          <a:p>
            <a:pPr algn="l"/>
            <a:r>
              <a:rPr sz="1150" b="1">
                <a:solidFill>
                  <a:srgbClr val="ED7D31"/>
                </a:solidFill>
                <a:latin typeface="メイリオ"/>
                <a:ea typeface="メイリオ"/>
                <a:cs typeface="メイリオ"/>
              </a:rPr>
              <a:t>「日程を変更する」を堂々と置く</a:t>
            </a:r>
          </a:p>
        </p:txBody>
      </p:sp>
      <p:sp>
        <p:nvSpPr>
          <p:cNvPr id="9" name="TextBox 8"/>
          <p:cNvSpPr txBox="1"/>
          <p:nvPr/>
        </p:nvSpPr>
        <p:spPr>
          <a:xfrm>
            <a:off x="3895200" y="2033999"/>
            <a:ext cx="5320800" cy="54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変更ボタンを隠すと、来ないまま連絡が途絶えます。押しやすくすると、その場で次の日程が埋まります。</a:t>
            </a:r>
          </a:p>
        </p:txBody>
      </p:sp>
      <p:sp>
        <p:nvSpPr>
          <p:cNvPr id="10" name="Rounded Rectangle 9"/>
          <p:cNvSpPr/>
          <p:nvPr/>
        </p:nvSpPr>
        <p:spPr>
          <a:xfrm>
            <a:off x="3751200" y="2718000"/>
            <a:ext cx="5608800" cy="990000"/>
          </a:xfrm>
          <a:prstGeom prst="roundRect">
            <a:avLst>
              <a:gd name="adj" fmla="val 6000"/>
            </a:avLst>
          </a:prstGeom>
          <a:solidFill>
            <a:srgbClr val="FFFFFF"/>
          </a:solidFill>
          <a:ln w="1397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95200" y="2808000"/>
            <a:ext cx="2015999" cy="251999"/>
          </a:xfrm>
          <a:prstGeom prst="rect">
            <a:avLst/>
          </a:prstGeom>
          <a:noFill/>
        </p:spPr>
        <p:txBody>
          <a:bodyPr wrap="square" lIns="21600" tIns="7200" rIns="21600" bIns="7200" anchor="t">
            <a:spAutoFit/>
          </a:bodyPr>
          <a:lstStyle/>
          <a:p>
            <a:pPr algn="l"/>
            <a:r>
              <a:rPr sz="1200" b="1">
                <a:solidFill>
                  <a:srgbClr val="1F285A"/>
                </a:solidFill>
                <a:latin typeface="メイリオ"/>
                <a:ea typeface="メイリオ"/>
                <a:cs typeface="メイリオ"/>
              </a:rPr>
              <a:t>② 事前ヒアリング3問</a:t>
            </a:r>
          </a:p>
        </p:txBody>
      </p:sp>
      <p:sp>
        <p:nvSpPr>
          <p:cNvPr id="12" name="TextBox 11"/>
          <p:cNvSpPr txBox="1"/>
          <p:nvPr/>
        </p:nvSpPr>
        <p:spPr>
          <a:xfrm>
            <a:off x="5947200" y="2808000"/>
            <a:ext cx="3268800" cy="251999"/>
          </a:xfrm>
          <a:prstGeom prst="rect">
            <a:avLst/>
          </a:prstGeom>
          <a:noFill/>
        </p:spPr>
        <p:txBody>
          <a:bodyPr wrap="square" lIns="21600" tIns="7200" rIns="21600" bIns="7200" anchor="t">
            <a:spAutoFit/>
          </a:bodyPr>
          <a:lstStyle/>
          <a:p>
            <a:pPr algn="l"/>
            <a:r>
              <a:rPr sz="1150" b="1">
                <a:solidFill>
                  <a:srgbClr val="ED7D31"/>
                </a:solidFill>
                <a:latin typeface="メイリオ"/>
                <a:ea typeface="メイリオ"/>
                <a:cs typeface="メイリオ"/>
              </a:rPr>
              <a:t>Q2でご両親の同伴を聞く</a:t>
            </a:r>
          </a:p>
        </p:txBody>
      </p:sp>
      <p:sp>
        <p:nvSpPr>
          <p:cNvPr id="13" name="TextBox 12"/>
          <p:cNvSpPr txBox="1"/>
          <p:nvPr/>
        </p:nvSpPr>
        <p:spPr>
          <a:xfrm>
            <a:off x="3895200" y="3096000"/>
            <a:ext cx="5320800" cy="54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Q1 いま一番知りたいこと／Q2 当日ご一緒される方（ご両親を含むか）／Q3 土地の状況。決裁者が親であれば、当日の案内が変わります。</a:t>
            </a:r>
          </a:p>
        </p:txBody>
      </p:sp>
      <p:sp>
        <p:nvSpPr>
          <p:cNvPr id="14" name="Rounded Rectangle 13"/>
          <p:cNvSpPr/>
          <p:nvPr/>
        </p:nvSpPr>
        <p:spPr>
          <a:xfrm>
            <a:off x="3751200" y="3780000"/>
            <a:ext cx="5608800" cy="990000"/>
          </a:xfrm>
          <a:prstGeom prst="roundRect">
            <a:avLst>
              <a:gd name="adj" fmla="val 6000"/>
            </a:avLst>
          </a:prstGeom>
          <a:solidFill>
            <a:srgbClr val="FFFFFF"/>
          </a:solidFill>
          <a:ln w="1397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95200" y="3870000"/>
            <a:ext cx="2015999" cy="251999"/>
          </a:xfrm>
          <a:prstGeom prst="rect">
            <a:avLst/>
          </a:prstGeom>
          <a:noFill/>
        </p:spPr>
        <p:txBody>
          <a:bodyPr wrap="square" lIns="21600" tIns="7200" rIns="21600" bIns="7200" anchor="t">
            <a:spAutoFit/>
          </a:bodyPr>
          <a:lstStyle/>
          <a:p>
            <a:pPr algn="l"/>
            <a:r>
              <a:rPr sz="1200" b="1">
                <a:solidFill>
                  <a:srgbClr val="1F285A"/>
                </a:solidFill>
                <a:latin typeface="メイリオ"/>
                <a:ea typeface="メイリオ"/>
                <a:cs typeface="メイリオ"/>
              </a:rPr>
              <a:t>③ キーワード自動応答</a:t>
            </a:r>
          </a:p>
        </p:txBody>
      </p:sp>
      <p:sp>
        <p:nvSpPr>
          <p:cNvPr id="16" name="TextBox 15"/>
          <p:cNvSpPr txBox="1"/>
          <p:nvPr/>
        </p:nvSpPr>
        <p:spPr>
          <a:xfrm>
            <a:off x="5947200" y="3870000"/>
            <a:ext cx="3268800" cy="251999"/>
          </a:xfrm>
          <a:prstGeom prst="rect">
            <a:avLst/>
          </a:prstGeom>
          <a:noFill/>
        </p:spPr>
        <p:txBody>
          <a:bodyPr wrap="square" lIns="21600" tIns="7200" rIns="21600" bIns="7200" anchor="t">
            <a:spAutoFit/>
          </a:bodyPr>
          <a:lstStyle/>
          <a:p>
            <a:pPr algn="l"/>
            <a:r>
              <a:rPr sz="1150" b="1">
                <a:solidFill>
                  <a:srgbClr val="ED7D31"/>
                </a:solidFill>
                <a:latin typeface="メイリオ"/>
                <a:ea typeface="メイリオ"/>
                <a:cs typeface="メイリオ"/>
              </a:rPr>
              <a:t>夜21時〜翌朝9時を拾う</a:t>
            </a:r>
          </a:p>
        </p:txBody>
      </p:sp>
      <p:sp>
        <p:nvSpPr>
          <p:cNvPr id="17" name="TextBox 16"/>
          <p:cNvSpPr txBox="1"/>
          <p:nvPr/>
        </p:nvSpPr>
        <p:spPr>
          <a:xfrm>
            <a:off x="3895200" y="4158000"/>
            <a:ext cx="5320800" cy="54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問い合わせは営業時間外に多く発生します。「駐車場」「価格」「予約」などに自動で返し、翌朝に担当が引き継ぎます。</a:t>
            </a:r>
          </a:p>
        </p:txBody>
      </p:sp>
      <p:sp>
        <p:nvSpPr>
          <p:cNvPr id="18" name="Rounded Rectangle 17"/>
          <p:cNvSpPr/>
          <p:nvPr/>
        </p:nvSpPr>
        <p:spPr>
          <a:xfrm>
            <a:off x="3751200" y="4842000"/>
            <a:ext cx="5608800" cy="684000"/>
          </a:xfrm>
          <a:prstGeom prst="roundRect">
            <a:avLst>
              <a:gd name="adj" fmla="val 6000"/>
            </a:avLst>
          </a:prstGeom>
          <a:solidFill>
            <a:srgbClr val="F4F7FF"/>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95200" y="4942799"/>
            <a:ext cx="5320800" cy="503999"/>
          </a:xfrm>
          <a:prstGeom prst="rect">
            <a:avLst/>
          </a:prstGeom>
          <a:noFill/>
        </p:spPr>
        <p:txBody>
          <a:bodyPr wrap="square" lIns="21600" tIns="7200" rIns="21600" bIns="7200" anchor="t">
            <a:spAutoFit/>
          </a:bodyPr>
          <a:lstStyle/>
          <a:p>
            <a:pPr algn="l">
              <a:spcAft>
                <a:spcPts val="300"/>
              </a:spcAft>
            </a:pPr>
            <a:r>
              <a:rPr sz="1100" b="1">
                <a:solidFill>
                  <a:srgbClr val="333333"/>
                </a:solidFill>
                <a:latin typeface="メイリオ"/>
                <a:ea typeface="メイリオ"/>
                <a:cs typeface="メイリオ"/>
              </a:rPr>
              <a:t>夜21時〜翌朝9時の問い合わせは、これまで翌営業日まで放置されていました。</a:t>
            </a:r>
          </a:p>
          <a:p>
            <a:pPr algn="l"/>
            <a:r>
              <a:rPr sz="1100" b="1">
                <a:solidFill>
                  <a:srgbClr val="333333"/>
                </a:solidFill>
                <a:latin typeface="メイリオ"/>
                <a:ea typeface="メイリオ"/>
                <a:cs typeface="メイリオ"/>
              </a:rPr>
              <a:t>その時間に返事が届くだけで、他社に流れる分を止められます。</a:t>
            </a:r>
          </a:p>
        </p:txBody>
      </p:sp>
      <p:sp>
        <p:nvSpPr>
          <p:cNvPr id="20" name="Rounded Rectangle 19"/>
          <p:cNvSpPr/>
          <p:nvPr/>
        </p:nvSpPr>
        <p:spPr>
          <a:xfrm>
            <a:off x="547200" y="5580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獲得を増やす前に、取れているのに落としている分を拾う</a:t>
            </a:r>
          </a:p>
        </p:txBody>
      </p:sp>
      <p:sp>
        <p:nvSpPr>
          <p:cNvPr id="21" name="TextBox 20"/>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※来場予約CPAは業界水準です。歩留まりの改善幅は貴社の実測をもとに算出します。</a:t>
            </a:r>
          </a:p>
        </p:txBody>
      </p:sp>
    </p:spTree>
    <p:extLst>
      <p:ext uri="{BB962C8B-B14F-4D97-AF65-F5344CB8AC3E}">
        <p14:creationId xmlns:p14="http://schemas.microsoft.com/office/powerpoint/2010/main" val="2299725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工数｜同じ人数のまま、追客の手が空く</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LINEの効果は獲得件数だけではありません。営業がいま電話に使っている時間が空きます。</a:t>
            </a:r>
          </a:p>
          <a:p>
            <a:pPr algn="l">
              <a:spcAft>
                <a:spcPts val="300"/>
              </a:spcAft>
            </a:pPr>
            <a:r>
              <a:rPr sz="1250" b="1">
                <a:solidFill>
                  <a:srgbClr val="333333"/>
                </a:solidFill>
                <a:latin typeface="メイリオ"/>
                <a:ea typeface="メイリオ"/>
                <a:cs typeface="メイリオ"/>
              </a:rPr>
              <a:t>下記は業界水準にもとづく試算です。実際の件数は貴社の実績に置き換えて算出します。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7200" y="1673999"/>
            <a:ext cx="1888457"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7200" y="1673999"/>
            <a:ext cx="1888457"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業務</a:t>
            </a:r>
          </a:p>
        </p:txBody>
      </p:sp>
      <p:sp>
        <p:nvSpPr>
          <p:cNvPr id="7" name="Rectangle 6"/>
          <p:cNvSpPr/>
          <p:nvPr/>
        </p:nvSpPr>
        <p:spPr>
          <a:xfrm>
            <a:off x="2435657" y="1673999"/>
            <a:ext cx="2168228"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35657" y="1673999"/>
            <a:ext cx="2168228"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いまのやり方</a:t>
            </a:r>
          </a:p>
        </p:txBody>
      </p:sp>
      <p:sp>
        <p:nvSpPr>
          <p:cNvPr id="9" name="Rectangle 8"/>
          <p:cNvSpPr/>
          <p:nvPr/>
        </p:nvSpPr>
        <p:spPr>
          <a:xfrm>
            <a:off x="4603885" y="1673999"/>
            <a:ext cx="839314"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3885" y="1673999"/>
            <a:ext cx="839314"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所要（月）</a:t>
            </a:r>
          </a:p>
        </p:txBody>
      </p:sp>
      <p:sp>
        <p:nvSpPr>
          <p:cNvPr id="11" name="Rectangle 10"/>
          <p:cNvSpPr/>
          <p:nvPr/>
        </p:nvSpPr>
        <p:spPr>
          <a:xfrm>
            <a:off x="5443200" y="1673999"/>
            <a:ext cx="2308114"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3200" y="1673999"/>
            <a:ext cx="2308114"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LINE導入後</a:t>
            </a:r>
          </a:p>
        </p:txBody>
      </p:sp>
      <p:sp>
        <p:nvSpPr>
          <p:cNvPr id="13" name="Rectangle 12"/>
          <p:cNvSpPr/>
          <p:nvPr/>
        </p:nvSpPr>
        <p:spPr>
          <a:xfrm>
            <a:off x="7751314" y="1673999"/>
            <a:ext cx="839314"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51314" y="1673999"/>
            <a:ext cx="839314"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所要（月）</a:t>
            </a:r>
          </a:p>
        </p:txBody>
      </p:sp>
      <p:sp>
        <p:nvSpPr>
          <p:cNvPr id="15" name="Rectangle 14"/>
          <p:cNvSpPr/>
          <p:nvPr/>
        </p:nvSpPr>
        <p:spPr>
          <a:xfrm>
            <a:off x="8590628" y="1673999"/>
            <a:ext cx="769371"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0628" y="1673999"/>
            <a:ext cx="769371" cy="5400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削減</a:t>
            </a:r>
          </a:p>
        </p:txBody>
      </p:sp>
      <p:sp>
        <p:nvSpPr>
          <p:cNvPr id="17" name="Rectangle 16"/>
          <p:cNvSpPr/>
          <p:nvPr/>
        </p:nvSpPr>
        <p:spPr>
          <a:xfrm>
            <a:off x="547200" y="2214000"/>
            <a:ext cx="1888457"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7200" y="2214000"/>
            <a:ext cx="1888457"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資料請求者への追客電話</a:t>
            </a:r>
          </a:p>
        </p:txBody>
      </p:sp>
      <p:sp>
        <p:nvSpPr>
          <p:cNvPr id="19" name="Rectangle 18"/>
          <p:cNvSpPr/>
          <p:nvPr/>
        </p:nvSpPr>
        <p:spPr>
          <a:xfrm>
            <a:off x="2435657" y="2214000"/>
            <a:ext cx="2168228"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35657" y="2214000"/>
            <a:ext cx="2168228"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60件 × 3回 × 5分</a:t>
            </a:r>
          </a:p>
        </p:txBody>
      </p:sp>
      <p:sp>
        <p:nvSpPr>
          <p:cNvPr id="21" name="Rectangle 20"/>
          <p:cNvSpPr/>
          <p:nvPr/>
        </p:nvSpPr>
        <p:spPr>
          <a:xfrm>
            <a:off x="4603885" y="2214000"/>
            <a:ext cx="839314"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03885" y="2214000"/>
            <a:ext cx="839314"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900分</a:t>
            </a:r>
          </a:p>
        </p:txBody>
      </p:sp>
      <p:sp>
        <p:nvSpPr>
          <p:cNvPr id="23" name="Rectangle 22"/>
          <p:cNvSpPr/>
          <p:nvPr/>
        </p:nvSpPr>
        <p:spPr>
          <a:xfrm>
            <a:off x="5443200" y="2214000"/>
            <a:ext cx="2308114"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43200" y="2214000"/>
            <a:ext cx="2308114"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ステップ配信（作成30分×4回）</a:t>
            </a:r>
          </a:p>
        </p:txBody>
      </p:sp>
      <p:sp>
        <p:nvSpPr>
          <p:cNvPr id="25" name="Rectangle 24"/>
          <p:cNvSpPr/>
          <p:nvPr/>
        </p:nvSpPr>
        <p:spPr>
          <a:xfrm>
            <a:off x="7751314" y="2214000"/>
            <a:ext cx="839314"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51314" y="2214000"/>
            <a:ext cx="839314"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120分</a:t>
            </a:r>
          </a:p>
        </p:txBody>
      </p:sp>
      <p:sp>
        <p:nvSpPr>
          <p:cNvPr id="27" name="Rectangle 26"/>
          <p:cNvSpPr/>
          <p:nvPr/>
        </p:nvSpPr>
        <p:spPr>
          <a:xfrm>
            <a:off x="8590628" y="2214000"/>
            <a:ext cx="769371"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0628" y="2214000"/>
            <a:ext cx="769371" cy="540000"/>
          </a:xfrm>
          <a:prstGeom prst="rect">
            <a:avLst/>
          </a:prstGeom>
          <a:noFill/>
        </p:spPr>
        <p:txBody>
          <a:bodyPr wrap="square" lIns="21600" tIns="7200" rIns="21600" bIns="7200" anchor="ctr">
            <a:spAutoFit/>
          </a:bodyPr>
          <a:lstStyle/>
          <a:p>
            <a:pPr algn="ctr"/>
            <a:r>
              <a:rPr sz="1050" b="0">
                <a:solidFill>
                  <a:srgbClr val="C00000"/>
                </a:solidFill>
                <a:latin typeface="メイリオ"/>
                <a:ea typeface="メイリオ"/>
                <a:cs typeface="メイリオ"/>
              </a:rPr>
              <a:t>▲780分</a:t>
            </a:r>
          </a:p>
        </p:txBody>
      </p:sp>
      <p:sp>
        <p:nvSpPr>
          <p:cNvPr id="29" name="Rectangle 28"/>
          <p:cNvSpPr/>
          <p:nvPr/>
        </p:nvSpPr>
        <p:spPr>
          <a:xfrm>
            <a:off x="547200" y="2754000"/>
            <a:ext cx="1888457"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7200" y="2754000"/>
            <a:ext cx="1888457"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来場前日のリマインド電話</a:t>
            </a:r>
          </a:p>
        </p:txBody>
      </p:sp>
      <p:sp>
        <p:nvSpPr>
          <p:cNvPr id="31" name="Rectangle 30"/>
          <p:cNvSpPr/>
          <p:nvPr/>
        </p:nvSpPr>
        <p:spPr>
          <a:xfrm>
            <a:off x="2435657" y="2754000"/>
            <a:ext cx="2168228"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435657" y="2754000"/>
            <a:ext cx="2168228"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15件 × 2回 × 3分</a:t>
            </a:r>
          </a:p>
        </p:txBody>
      </p:sp>
      <p:sp>
        <p:nvSpPr>
          <p:cNvPr id="33" name="Rectangle 32"/>
          <p:cNvSpPr/>
          <p:nvPr/>
        </p:nvSpPr>
        <p:spPr>
          <a:xfrm>
            <a:off x="4603885" y="2754000"/>
            <a:ext cx="839314"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03885" y="2754000"/>
            <a:ext cx="839314"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90分</a:t>
            </a:r>
          </a:p>
        </p:txBody>
      </p:sp>
      <p:sp>
        <p:nvSpPr>
          <p:cNvPr id="35" name="Rectangle 34"/>
          <p:cNvSpPr/>
          <p:nvPr/>
        </p:nvSpPr>
        <p:spPr>
          <a:xfrm>
            <a:off x="5443200" y="2754000"/>
            <a:ext cx="2308114"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43200" y="2754000"/>
            <a:ext cx="2308114"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前日リマインド自動配信</a:t>
            </a:r>
          </a:p>
        </p:txBody>
      </p:sp>
      <p:sp>
        <p:nvSpPr>
          <p:cNvPr id="37" name="Rectangle 36"/>
          <p:cNvSpPr/>
          <p:nvPr/>
        </p:nvSpPr>
        <p:spPr>
          <a:xfrm>
            <a:off x="7751314" y="2754000"/>
            <a:ext cx="839314"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51314" y="2754000"/>
            <a:ext cx="839314"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0分</a:t>
            </a:r>
          </a:p>
        </p:txBody>
      </p:sp>
      <p:sp>
        <p:nvSpPr>
          <p:cNvPr id="39" name="Rectangle 38"/>
          <p:cNvSpPr/>
          <p:nvPr/>
        </p:nvSpPr>
        <p:spPr>
          <a:xfrm>
            <a:off x="8590628" y="2754000"/>
            <a:ext cx="769371"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90628" y="2754000"/>
            <a:ext cx="769371" cy="540000"/>
          </a:xfrm>
          <a:prstGeom prst="rect">
            <a:avLst/>
          </a:prstGeom>
          <a:noFill/>
        </p:spPr>
        <p:txBody>
          <a:bodyPr wrap="square" lIns="21600" tIns="7200" rIns="21600" bIns="7200" anchor="ctr">
            <a:spAutoFit/>
          </a:bodyPr>
          <a:lstStyle/>
          <a:p>
            <a:pPr algn="ctr"/>
            <a:r>
              <a:rPr sz="1050" b="0">
                <a:solidFill>
                  <a:srgbClr val="C00000"/>
                </a:solidFill>
                <a:latin typeface="メイリオ"/>
                <a:ea typeface="メイリオ"/>
                <a:cs typeface="メイリオ"/>
              </a:rPr>
              <a:t>▲90分</a:t>
            </a:r>
          </a:p>
        </p:txBody>
      </p:sp>
      <p:sp>
        <p:nvSpPr>
          <p:cNvPr id="41" name="Rectangle 40"/>
          <p:cNvSpPr/>
          <p:nvPr/>
        </p:nvSpPr>
        <p:spPr>
          <a:xfrm>
            <a:off x="547200" y="3293999"/>
            <a:ext cx="1888457"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7200" y="3293999"/>
            <a:ext cx="1888457"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当日の要望・予算の聞き取り</a:t>
            </a:r>
          </a:p>
        </p:txBody>
      </p:sp>
      <p:sp>
        <p:nvSpPr>
          <p:cNvPr id="43" name="Rectangle 42"/>
          <p:cNvSpPr/>
          <p:nvPr/>
        </p:nvSpPr>
        <p:spPr>
          <a:xfrm>
            <a:off x="2435657" y="3293999"/>
            <a:ext cx="2168228"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435657" y="3293999"/>
            <a:ext cx="2168228"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15件 × 10分</a:t>
            </a:r>
          </a:p>
        </p:txBody>
      </p:sp>
      <p:sp>
        <p:nvSpPr>
          <p:cNvPr id="45" name="Rectangle 44"/>
          <p:cNvSpPr/>
          <p:nvPr/>
        </p:nvSpPr>
        <p:spPr>
          <a:xfrm>
            <a:off x="4603885" y="3293999"/>
            <a:ext cx="839314"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03885" y="3293999"/>
            <a:ext cx="839314"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150分</a:t>
            </a:r>
          </a:p>
        </p:txBody>
      </p:sp>
      <p:sp>
        <p:nvSpPr>
          <p:cNvPr id="47" name="Rectangle 46"/>
          <p:cNvSpPr/>
          <p:nvPr/>
        </p:nvSpPr>
        <p:spPr>
          <a:xfrm>
            <a:off x="5443200" y="3293999"/>
            <a:ext cx="2308114"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43200" y="3293999"/>
            <a:ext cx="2308114" cy="540000"/>
          </a:xfrm>
          <a:prstGeom prst="rect">
            <a:avLst/>
          </a:prstGeom>
          <a:noFill/>
        </p:spPr>
        <p:txBody>
          <a:bodyPr wrap="square" lIns="21600" tIns="7200" rIns="21600" bIns="7200" anchor="ctr">
            <a:spAutoFit/>
          </a:bodyPr>
          <a:lstStyle/>
          <a:p>
            <a:pPr algn="l"/>
            <a:r>
              <a:rPr sz="1050" b="0">
                <a:solidFill>
                  <a:srgbClr val="333333"/>
                </a:solidFill>
                <a:latin typeface="メイリオ"/>
                <a:ea typeface="メイリオ"/>
                <a:cs typeface="メイリオ"/>
              </a:rPr>
              <a:t>事前ヒアリング3問（15件×3分）</a:t>
            </a:r>
          </a:p>
        </p:txBody>
      </p:sp>
      <p:sp>
        <p:nvSpPr>
          <p:cNvPr id="49" name="Rectangle 48"/>
          <p:cNvSpPr/>
          <p:nvPr/>
        </p:nvSpPr>
        <p:spPr>
          <a:xfrm>
            <a:off x="7751314" y="3293999"/>
            <a:ext cx="839314"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51314" y="3293999"/>
            <a:ext cx="839314" cy="5400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45分</a:t>
            </a:r>
          </a:p>
        </p:txBody>
      </p:sp>
      <p:sp>
        <p:nvSpPr>
          <p:cNvPr id="51" name="Rectangle 50"/>
          <p:cNvSpPr/>
          <p:nvPr/>
        </p:nvSpPr>
        <p:spPr>
          <a:xfrm>
            <a:off x="8590628" y="3293999"/>
            <a:ext cx="769371" cy="5400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590628" y="3293999"/>
            <a:ext cx="769371" cy="540000"/>
          </a:xfrm>
          <a:prstGeom prst="rect">
            <a:avLst/>
          </a:prstGeom>
          <a:noFill/>
        </p:spPr>
        <p:txBody>
          <a:bodyPr wrap="square" lIns="21600" tIns="7200" rIns="21600" bIns="7200" anchor="ctr">
            <a:spAutoFit/>
          </a:bodyPr>
          <a:lstStyle/>
          <a:p>
            <a:pPr algn="ctr"/>
            <a:r>
              <a:rPr sz="1050" b="0">
                <a:solidFill>
                  <a:srgbClr val="C00000"/>
                </a:solidFill>
                <a:latin typeface="メイリオ"/>
                <a:ea typeface="メイリオ"/>
                <a:cs typeface="メイリオ"/>
              </a:rPr>
              <a:t>▲105分</a:t>
            </a:r>
          </a:p>
        </p:txBody>
      </p:sp>
      <p:sp>
        <p:nvSpPr>
          <p:cNvPr id="53" name="Rectangle 52"/>
          <p:cNvSpPr/>
          <p:nvPr/>
        </p:nvSpPr>
        <p:spPr>
          <a:xfrm>
            <a:off x="547200" y="3833999"/>
            <a:ext cx="1888457"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7200" y="3833999"/>
            <a:ext cx="1888457" cy="540000"/>
          </a:xfrm>
          <a:prstGeom prst="rect">
            <a:avLst/>
          </a:prstGeom>
          <a:noFill/>
        </p:spPr>
        <p:txBody>
          <a:bodyPr wrap="square" lIns="21600" tIns="7200" rIns="21600" bIns="7200" anchor="ctr">
            <a:spAutoFit/>
          </a:bodyPr>
          <a:lstStyle/>
          <a:p>
            <a:pPr algn="ctr"/>
            <a:r>
              <a:rPr sz="1050" b="0">
                <a:solidFill>
                  <a:srgbClr val="FFFFFF"/>
                </a:solidFill>
                <a:latin typeface="メイリオ"/>
                <a:ea typeface="メイリオ"/>
                <a:cs typeface="メイリオ"/>
              </a:rPr>
              <a:t>合計</a:t>
            </a:r>
          </a:p>
        </p:txBody>
      </p:sp>
      <p:sp>
        <p:nvSpPr>
          <p:cNvPr id="55" name="Rectangle 54"/>
          <p:cNvSpPr/>
          <p:nvPr/>
        </p:nvSpPr>
        <p:spPr>
          <a:xfrm>
            <a:off x="2435657" y="3833999"/>
            <a:ext cx="2168228"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435657" y="3833999"/>
            <a:ext cx="2168228" cy="540000"/>
          </a:xfrm>
          <a:prstGeom prst="rect">
            <a:avLst/>
          </a:prstGeom>
          <a:noFill/>
        </p:spPr>
        <p:txBody>
          <a:bodyPr wrap="square" lIns="21600" tIns="7200" rIns="21600" bIns="7200" anchor="ctr">
            <a:spAutoFit/>
          </a:bodyPr>
          <a:lstStyle/>
          <a:p>
            <a:pPr algn="l"/>
            <a:endParaRPr/>
          </a:p>
        </p:txBody>
      </p:sp>
      <p:sp>
        <p:nvSpPr>
          <p:cNvPr id="57" name="Rectangle 56"/>
          <p:cNvSpPr/>
          <p:nvPr/>
        </p:nvSpPr>
        <p:spPr>
          <a:xfrm>
            <a:off x="4603885" y="3833999"/>
            <a:ext cx="839314"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603885" y="3833999"/>
            <a:ext cx="839314" cy="540000"/>
          </a:xfrm>
          <a:prstGeom prst="rect">
            <a:avLst/>
          </a:prstGeom>
          <a:noFill/>
        </p:spPr>
        <p:txBody>
          <a:bodyPr wrap="square" lIns="21600" tIns="7200" rIns="21600" bIns="7200" anchor="ctr">
            <a:spAutoFit/>
          </a:bodyPr>
          <a:lstStyle/>
          <a:p>
            <a:pPr algn="ctr"/>
            <a:r>
              <a:rPr sz="1050" b="0">
                <a:solidFill>
                  <a:srgbClr val="FFFFFF"/>
                </a:solidFill>
                <a:latin typeface="メイリオ"/>
                <a:ea typeface="メイリオ"/>
                <a:cs typeface="メイリオ"/>
              </a:rPr>
              <a:t>1,140分</a:t>
            </a:r>
          </a:p>
        </p:txBody>
      </p:sp>
      <p:sp>
        <p:nvSpPr>
          <p:cNvPr id="59" name="Rectangle 58"/>
          <p:cNvSpPr/>
          <p:nvPr/>
        </p:nvSpPr>
        <p:spPr>
          <a:xfrm>
            <a:off x="5443200" y="3833999"/>
            <a:ext cx="2308114"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43200" y="3833999"/>
            <a:ext cx="2308114" cy="540000"/>
          </a:xfrm>
          <a:prstGeom prst="rect">
            <a:avLst/>
          </a:prstGeom>
          <a:noFill/>
        </p:spPr>
        <p:txBody>
          <a:bodyPr wrap="square" lIns="21600" tIns="7200" rIns="21600" bIns="7200" anchor="ctr">
            <a:spAutoFit/>
          </a:bodyPr>
          <a:lstStyle/>
          <a:p>
            <a:pPr algn="l"/>
            <a:endParaRPr/>
          </a:p>
        </p:txBody>
      </p:sp>
      <p:sp>
        <p:nvSpPr>
          <p:cNvPr id="61" name="Rectangle 60"/>
          <p:cNvSpPr/>
          <p:nvPr/>
        </p:nvSpPr>
        <p:spPr>
          <a:xfrm>
            <a:off x="7751314" y="3833999"/>
            <a:ext cx="839314"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751314" y="3833999"/>
            <a:ext cx="839314" cy="540000"/>
          </a:xfrm>
          <a:prstGeom prst="rect">
            <a:avLst/>
          </a:prstGeom>
          <a:noFill/>
        </p:spPr>
        <p:txBody>
          <a:bodyPr wrap="square" lIns="21600" tIns="7200" rIns="21600" bIns="7200" anchor="ctr">
            <a:spAutoFit/>
          </a:bodyPr>
          <a:lstStyle/>
          <a:p>
            <a:pPr algn="ctr"/>
            <a:r>
              <a:rPr sz="1050" b="0">
                <a:solidFill>
                  <a:srgbClr val="FFFFFF"/>
                </a:solidFill>
                <a:latin typeface="メイリオ"/>
                <a:ea typeface="メイリオ"/>
                <a:cs typeface="メイリオ"/>
              </a:rPr>
              <a:t>165分</a:t>
            </a:r>
          </a:p>
        </p:txBody>
      </p:sp>
      <p:sp>
        <p:nvSpPr>
          <p:cNvPr id="63" name="Rectangle 62"/>
          <p:cNvSpPr/>
          <p:nvPr/>
        </p:nvSpPr>
        <p:spPr>
          <a:xfrm>
            <a:off x="8590628" y="3833999"/>
            <a:ext cx="769371" cy="5400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590628" y="3833999"/>
            <a:ext cx="769371" cy="540000"/>
          </a:xfrm>
          <a:prstGeom prst="rect">
            <a:avLst/>
          </a:prstGeom>
          <a:noFill/>
        </p:spPr>
        <p:txBody>
          <a:bodyPr wrap="square" lIns="21600" tIns="7200" rIns="21600" bIns="7200" anchor="ctr">
            <a:spAutoFit/>
          </a:bodyPr>
          <a:lstStyle/>
          <a:p>
            <a:pPr algn="ctr"/>
            <a:r>
              <a:rPr sz="1050" b="0">
                <a:solidFill>
                  <a:srgbClr val="FFFFFF"/>
                </a:solidFill>
                <a:latin typeface="メイリオ"/>
                <a:ea typeface="メイリオ"/>
                <a:cs typeface="メイリオ"/>
              </a:rPr>
              <a:t>▲975分</a:t>
            </a:r>
          </a:p>
        </p:txBody>
      </p:sp>
      <p:sp>
        <p:nvSpPr>
          <p:cNvPr id="65" name="Rectangle 64"/>
          <p:cNvSpPr/>
          <p:nvPr/>
        </p:nvSpPr>
        <p:spPr>
          <a:xfrm>
            <a:off x="547200" y="3833999"/>
            <a:ext cx="8812800" cy="5400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47200" y="3833999"/>
            <a:ext cx="1888457" cy="54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合計</a:t>
            </a:r>
          </a:p>
        </p:txBody>
      </p:sp>
      <p:sp>
        <p:nvSpPr>
          <p:cNvPr id="67" name="TextBox 66"/>
          <p:cNvSpPr txBox="1"/>
          <p:nvPr/>
        </p:nvSpPr>
        <p:spPr>
          <a:xfrm>
            <a:off x="4603885" y="3833999"/>
            <a:ext cx="839314" cy="54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1,140分</a:t>
            </a:r>
          </a:p>
        </p:txBody>
      </p:sp>
      <p:sp>
        <p:nvSpPr>
          <p:cNvPr id="68" name="TextBox 67"/>
          <p:cNvSpPr txBox="1"/>
          <p:nvPr/>
        </p:nvSpPr>
        <p:spPr>
          <a:xfrm>
            <a:off x="7751314" y="3833999"/>
            <a:ext cx="839314" cy="54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165分</a:t>
            </a:r>
          </a:p>
        </p:txBody>
      </p:sp>
      <p:sp>
        <p:nvSpPr>
          <p:cNvPr id="69" name="TextBox 68"/>
          <p:cNvSpPr txBox="1"/>
          <p:nvPr/>
        </p:nvSpPr>
        <p:spPr>
          <a:xfrm>
            <a:off x="8590628" y="3833999"/>
            <a:ext cx="769371" cy="540000"/>
          </a:xfrm>
          <a:prstGeom prst="rect">
            <a:avLst/>
          </a:prstGeom>
          <a:noFill/>
        </p:spPr>
        <p:txBody>
          <a:bodyPr wrap="square" lIns="21600" tIns="7200" rIns="21600" bIns="7200" anchor="ctr">
            <a:spAutoFit/>
          </a:bodyPr>
          <a:lstStyle/>
          <a:p>
            <a:pPr algn="ctr"/>
            <a:r>
              <a:rPr sz="1150" b="1">
                <a:solidFill>
                  <a:srgbClr val="FFFFFF"/>
                </a:solidFill>
                <a:latin typeface="メイリオ"/>
                <a:ea typeface="メイリオ"/>
                <a:cs typeface="メイリオ"/>
              </a:rPr>
              <a:t>▲975分</a:t>
            </a:r>
          </a:p>
        </p:txBody>
      </p:sp>
      <p:sp>
        <p:nvSpPr>
          <p:cNvPr id="70" name="Rounded Rectangle 69"/>
          <p:cNvSpPr/>
          <p:nvPr/>
        </p:nvSpPr>
        <p:spPr>
          <a:xfrm>
            <a:off x="547200" y="4589999"/>
            <a:ext cx="4230144" cy="1044000"/>
          </a:xfrm>
          <a:prstGeom prst="roundRect">
            <a:avLst>
              <a:gd name="adj" fmla="val 6000"/>
            </a:avLst>
          </a:prstGeom>
          <a:solidFill>
            <a:srgbClr val="F4F7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27200" y="4698000"/>
            <a:ext cx="3870143" cy="288000"/>
          </a:xfrm>
          <a:prstGeom prst="rect">
            <a:avLst/>
          </a:prstGeom>
          <a:noFill/>
        </p:spPr>
        <p:txBody>
          <a:bodyPr wrap="square" lIns="21600" tIns="7200" rIns="21600" bIns="7200" anchor="t">
            <a:spAutoFit/>
          </a:bodyPr>
          <a:lstStyle/>
          <a:p>
            <a:pPr algn="l"/>
            <a:r>
              <a:rPr sz="1400" b="1">
                <a:solidFill>
                  <a:srgbClr val="1F285A"/>
                </a:solidFill>
                <a:latin typeface="メイリオ"/>
                <a:ea typeface="メイリオ"/>
                <a:cs typeface="メイリオ"/>
              </a:rPr>
              <a:t>月あたり 約16時間の削減</a:t>
            </a:r>
          </a:p>
        </p:txBody>
      </p:sp>
      <p:sp>
        <p:nvSpPr>
          <p:cNvPr id="72" name="TextBox 71"/>
          <p:cNvSpPr txBox="1"/>
          <p:nvPr/>
        </p:nvSpPr>
        <p:spPr>
          <a:xfrm>
            <a:off x="727200" y="5039999"/>
            <a:ext cx="3870143" cy="503999"/>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1日8時間として、営業1名の約2日分です。人を増やさずに追客の手を取り戻せます。</a:t>
            </a:r>
          </a:p>
        </p:txBody>
      </p:sp>
      <p:sp>
        <p:nvSpPr>
          <p:cNvPr id="73" name="Rounded Rectangle 72"/>
          <p:cNvSpPr/>
          <p:nvPr/>
        </p:nvSpPr>
        <p:spPr>
          <a:xfrm>
            <a:off x="5129856" y="4589999"/>
            <a:ext cx="4230144" cy="1044000"/>
          </a:xfrm>
          <a:prstGeom prst="roundRect">
            <a:avLst>
              <a:gd name="adj" fmla="val 6000"/>
            </a:avLst>
          </a:prstGeom>
          <a:solidFill>
            <a:srgbClr val="FFFF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309856" y="4698000"/>
            <a:ext cx="3870143" cy="288000"/>
          </a:xfrm>
          <a:prstGeom prst="rect">
            <a:avLst/>
          </a:prstGeom>
          <a:noFill/>
        </p:spPr>
        <p:txBody>
          <a:bodyPr wrap="square" lIns="21600" tIns="7200" rIns="21600" bIns="7200" anchor="t">
            <a:spAutoFit/>
          </a:bodyPr>
          <a:lstStyle/>
          <a:p>
            <a:pPr algn="l"/>
            <a:r>
              <a:rPr sz="1300" b="1">
                <a:solidFill>
                  <a:srgbClr val="ED7D31"/>
                </a:solidFill>
                <a:latin typeface="メイリオ"/>
                <a:ea typeface="メイリオ"/>
                <a:cs typeface="メイリオ"/>
              </a:rPr>
              <a:t>同じ削減幅が公開事例でも出ています</a:t>
            </a:r>
          </a:p>
        </p:txBody>
      </p:sp>
      <p:sp>
        <p:nvSpPr>
          <p:cNvPr id="75" name="TextBox 74"/>
          <p:cNvSpPr txBox="1"/>
          <p:nvPr/>
        </p:nvSpPr>
        <p:spPr>
          <a:xfrm>
            <a:off x="5309856" y="5039999"/>
            <a:ext cx="3870143" cy="503999"/>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LIFULL HOME'Sはステップ配信の導入で運用工数を1/4に削減（月8時間 → 2時間程度）。LINEヤフー社の公開事例です。</a:t>
            </a:r>
          </a:p>
        </p:txBody>
      </p:sp>
      <p:sp>
        <p:nvSpPr>
          <p:cNvPr id="76" name="Rounded Rectangle 75"/>
          <p:cNvSpPr/>
          <p:nvPr/>
        </p:nvSpPr>
        <p:spPr>
          <a:xfrm>
            <a:off x="547200" y="5688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売上を増やす提案であると同時に、営業の手を空ける提案でもある</a:t>
            </a:r>
          </a:p>
        </p:txBody>
      </p:sp>
      <p:sp>
        <p:nvSpPr>
          <p:cNvPr id="77" name="TextBox 76"/>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※件数・所要時間はいずれも業界水準にもとづく試算です。実際の削減幅は貴社の運用実態にあわせて再計算します。</a:t>
            </a:r>
          </a:p>
          <a:p>
            <a:pPr algn="l"/>
            <a:r>
              <a:rPr sz="850" b="0">
                <a:solidFill>
                  <a:srgbClr val="7F7F7F"/>
                </a:solidFill>
                <a:latin typeface="メイリオ"/>
                <a:ea typeface="メイリオ"/>
                <a:cs typeface="メイリオ"/>
              </a:rPr>
              <a:t>※LIFULL HOME'Sの数値はLINEヤフー for Business 導入事例（lycbiz.com）の公開値です。</a:t>
            </a:r>
          </a:p>
        </p:txBody>
      </p:sp>
    </p:spTree>
    <p:extLst>
      <p:ext uri="{BB962C8B-B14F-4D97-AF65-F5344CB8AC3E}">
        <p14:creationId xmlns:p14="http://schemas.microsoft.com/office/powerpoint/2010/main" val="263812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成果｜どこまで出れば投資回収できるか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成果を断定はしません。「どの水準で回収できるか」を先にお示しします。</a:t>
            </a:r>
          </a:p>
          <a:p>
            <a:pPr algn="l">
              <a:spcAft>
                <a:spcPts val="300"/>
              </a:spcAft>
            </a:pPr>
            <a:r>
              <a:rPr sz="1250" b="1">
                <a:solidFill>
                  <a:srgbClr val="333333"/>
                </a:solidFill>
                <a:latin typeface="メイリオ"/>
                <a:ea typeface="メイリオ"/>
                <a:cs typeface="メイリオ"/>
              </a:rPr>
              <a:t>広告費もLP CVRも動かしません。運用費は月20万円（コンサル基本プラン）で試算しています。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7200" y="1638000"/>
            <a:ext cx="8812800" cy="251999"/>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① 来場が月に何件増えれば回収できるか</a:t>
            </a:r>
          </a:p>
        </p:txBody>
      </p:sp>
      <p:sp>
        <p:nvSpPr>
          <p:cNvPr id="6" name="Rectangle 5"/>
          <p:cNvSpPr/>
          <p:nvPr/>
        </p:nvSpPr>
        <p:spPr>
          <a:xfrm>
            <a:off x="547200" y="1908000"/>
            <a:ext cx="1644179"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1908000"/>
            <a:ext cx="1644179" cy="2952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LINE経由の来場増</a:t>
            </a:r>
          </a:p>
        </p:txBody>
      </p:sp>
      <p:sp>
        <p:nvSpPr>
          <p:cNvPr id="8" name="Rectangle 7"/>
          <p:cNvSpPr/>
          <p:nvPr/>
        </p:nvSpPr>
        <p:spPr>
          <a:xfrm>
            <a:off x="2191379" y="1908000"/>
            <a:ext cx="2104549"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91379" y="1908000"/>
            <a:ext cx="2104549" cy="2952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契約増（来場→契約10%）</a:t>
            </a:r>
          </a:p>
        </p:txBody>
      </p:sp>
      <p:sp>
        <p:nvSpPr>
          <p:cNvPr id="10" name="Rectangle 9"/>
          <p:cNvSpPr/>
          <p:nvPr/>
        </p:nvSpPr>
        <p:spPr>
          <a:xfrm>
            <a:off x="4295928" y="1908000"/>
            <a:ext cx="2170316"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5928" y="1908000"/>
            <a:ext cx="2170316" cy="2952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粗利増（1棟 約900万円）</a:t>
            </a:r>
          </a:p>
        </p:txBody>
      </p:sp>
      <p:sp>
        <p:nvSpPr>
          <p:cNvPr id="12" name="Rectangle 11"/>
          <p:cNvSpPr/>
          <p:nvPr/>
        </p:nvSpPr>
        <p:spPr>
          <a:xfrm>
            <a:off x="6466244" y="1908000"/>
            <a:ext cx="1381110"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6244" y="1908000"/>
            <a:ext cx="1381110" cy="2952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運用費（月）</a:t>
            </a:r>
          </a:p>
        </p:txBody>
      </p:sp>
      <p:sp>
        <p:nvSpPr>
          <p:cNvPr id="14" name="Rectangle 13"/>
          <p:cNvSpPr/>
          <p:nvPr/>
        </p:nvSpPr>
        <p:spPr>
          <a:xfrm>
            <a:off x="7847355" y="1908000"/>
            <a:ext cx="1512644"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47355" y="1908000"/>
            <a:ext cx="1512644" cy="295200"/>
          </a:xfrm>
          <a:prstGeom prst="rect">
            <a:avLst/>
          </a:prstGeom>
          <a:noFill/>
        </p:spPr>
        <p:txBody>
          <a:bodyPr wrap="square" lIns="21600" tIns="7200" rIns="21600" bIns="7200" anchor="ctr">
            <a:spAutoFit/>
          </a:bodyPr>
          <a:lstStyle/>
          <a:p>
            <a:pPr algn="ctr"/>
            <a:r>
              <a:rPr sz="1100" b="1">
                <a:solidFill>
                  <a:srgbClr val="FFFFFF"/>
                </a:solidFill>
                <a:latin typeface="メイリオ"/>
                <a:ea typeface="メイリオ"/>
                <a:cs typeface="メイリオ"/>
              </a:rPr>
              <a:t>差引</a:t>
            </a:r>
          </a:p>
        </p:txBody>
      </p:sp>
      <p:sp>
        <p:nvSpPr>
          <p:cNvPr id="16" name="Rectangle 15"/>
          <p:cNvSpPr/>
          <p:nvPr/>
        </p:nvSpPr>
        <p:spPr>
          <a:xfrm>
            <a:off x="547200" y="2203200"/>
            <a:ext cx="1644179"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7200" y="2203200"/>
            <a:ext cx="1644179" cy="295200"/>
          </a:xfrm>
          <a:prstGeom prst="rect">
            <a:avLst/>
          </a:prstGeom>
          <a:noFill/>
        </p:spPr>
        <p:txBody>
          <a:bodyPr wrap="square" lIns="21600" tIns="7200" rIns="21600" bIns="7200" anchor="ctr">
            <a:spAutoFit/>
          </a:bodyPr>
          <a:lstStyle/>
          <a:p>
            <a:pPr algn="ctr"/>
            <a:r>
              <a:rPr sz="1100" b="0">
                <a:solidFill>
                  <a:srgbClr val="1F285A"/>
                </a:solidFill>
                <a:latin typeface="メイリオ"/>
                <a:ea typeface="メイリオ"/>
                <a:cs typeface="メイリオ"/>
              </a:rPr>
              <a:t>＋1件</a:t>
            </a:r>
          </a:p>
        </p:txBody>
      </p:sp>
      <p:sp>
        <p:nvSpPr>
          <p:cNvPr id="18" name="Rectangle 17"/>
          <p:cNvSpPr/>
          <p:nvPr/>
        </p:nvSpPr>
        <p:spPr>
          <a:xfrm>
            <a:off x="2191379" y="2203200"/>
            <a:ext cx="2104549"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91379" y="2203200"/>
            <a:ext cx="2104549"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0.1件</a:t>
            </a:r>
          </a:p>
        </p:txBody>
      </p:sp>
      <p:sp>
        <p:nvSpPr>
          <p:cNvPr id="20" name="Rectangle 19"/>
          <p:cNvSpPr/>
          <p:nvPr/>
        </p:nvSpPr>
        <p:spPr>
          <a:xfrm>
            <a:off x="4295928" y="2203200"/>
            <a:ext cx="2170316"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5928" y="2203200"/>
            <a:ext cx="2170316"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90万円</a:t>
            </a:r>
          </a:p>
        </p:txBody>
      </p:sp>
      <p:sp>
        <p:nvSpPr>
          <p:cNvPr id="22" name="Rectangle 21"/>
          <p:cNvSpPr/>
          <p:nvPr/>
        </p:nvSpPr>
        <p:spPr>
          <a:xfrm>
            <a:off x="6466244" y="2203200"/>
            <a:ext cx="1381110"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6244" y="2203200"/>
            <a:ext cx="1381110"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▲20万円</a:t>
            </a:r>
          </a:p>
        </p:txBody>
      </p:sp>
      <p:sp>
        <p:nvSpPr>
          <p:cNvPr id="24" name="Rectangle 23"/>
          <p:cNvSpPr/>
          <p:nvPr/>
        </p:nvSpPr>
        <p:spPr>
          <a:xfrm>
            <a:off x="7847355" y="2203200"/>
            <a:ext cx="1512644"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47355" y="2203200"/>
            <a:ext cx="1512644" cy="295200"/>
          </a:xfrm>
          <a:prstGeom prst="rect">
            <a:avLst/>
          </a:prstGeom>
          <a:noFill/>
        </p:spPr>
        <p:txBody>
          <a:bodyPr wrap="square" lIns="21600" tIns="7200" rIns="21600" bIns="7200" anchor="ctr">
            <a:spAutoFit/>
          </a:bodyPr>
          <a:lstStyle/>
          <a:p>
            <a:pPr algn="ctr"/>
            <a:r>
              <a:rPr sz="1100" b="0">
                <a:solidFill>
                  <a:srgbClr val="ED7D31"/>
                </a:solidFill>
                <a:latin typeface="メイリオ"/>
                <a:ea typeface="メイリオ"/>
                <a:cs typeface="メイリオ"/>
              </a:rPr>
              <a:t>＋70万円</a:t>
            </a:r>
          </a:p>
        </p:txBody>
      </p:sp>
      <p:sp>
        <p:nvSpPr>
          <p:cNvPr id="26" name="Rectangle 25"/>
          <p:cNvSpPr/>
          <p:nvPr/>
        </p:nvSpPr>
        <p:spPr>
          <a:xfrm>
            <a:off x="547200" y="2498400"/>
            <a:ext cx="1644179"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7200" y="2498400"/>
            <a:ext cx="1644179" cy="295200"/>
          </a:xfrm>
          <a:prstGeom prst="rect">
            <a:avLst/>
          </a:prstGeom>
          <a:noFill/>
        </p:spPr>
        <p:txBody>
          <a:bodyPr wrap="square" lIns="21600" tIns="7200" rIns="21600" bIns="7200" anchor="ctr">
            <a:spAutoFit/>
          </a:bodyPr>
          <a:lstStyle/>
          <a:p>
            <a:pPr algn="ctr"/>
            <a:r>
              <a:rPr sz="1100" b="0">
                <a:solidFill>
                  <a:srgbClr val="1F285A"/>
                </a:solidFill>
                <a:latin typeface="メイリオ"/>
                <a:ea typeface="メイリオ"/>
                <a:cs typeface="メイリオ"/>
              </a:rPr>
              <a:t>＋2件</a:t>
            </a:r>
          </a:p>
        </p:txBody>
      </p:sp>
      <p:sp>
        <p:nvSpPr>
          <p:cNvPr id="28" name="Rectangle 27"/>
          <p:cNvSpPr/>
          <p:nvPr/>
        </p:nvSpPr>
        <p:spPr>
          <a:xfrm>
            <a:off x="2191379" y="2498400"/>
            <a:ext cx="2104549"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91379" y="2498400"/>
            <a:ext cx="2104549"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0.2件</a:t>
            </a:r>
          </a:p>
        </p:txBody>
      </p:sp>
      <p:sp>
        <p:nvSpPr>
          <p:cNvPr id="30" name="Rectangle 29"/>
          <p:cNvSpPr/>
          <p:nvPr/>
        </p:nvSpPr>
        <p:spPr>
          <a:xfrm>
            <a:off x="4295928" y="2498400"/>
            <a:ext cx="2170316"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95928" y="2498400"/>
            <a:ext cx="2170316"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180万円</a:t>
            </a:r>
          </a:p>
        </p:txBody>
      </p:sp>
      <p:sp>
        <p:nvSpPr>
          <p:cNvPr id="32" name="Rectangle 31"/>
          <p:cNvSpPr/>
          <p:nvPr/>
        </p:nvSpPr>
        <p:spPr>
          <a:xfrm>
            <a:off x="6466244" y="2498400"/>
            <a:ext cx="1381110"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66244" y="2498400"/>
            <a:ext cx="1381110"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▲20万円</a:t>
            </a:r>
          </a:p>
        </p:txBody>
      </p:sp>
      <p:sp>
        <p:nvSpPr>
          <p:cNvPr id="34" name="Rectangle 33"/>
          <p:cNvSpPr/>
          <p:nvPr/>
        </p:nvSpPr>
        <p:spPr>
          <a:xfrm>
            <a:off x="7847355" y="2498400"/>
            <a:ext cx="1512644"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847355" y="2498400"/>
            <a:ext cx="1512644" cy="295200"/>
          </a:xfrm>
          <a:prstGeom prst="rect">
            <a:avLst/>
          </a:prstGeom>
          <a:noFill/>
        </p:spPr>
        <p:txBody>
          <a:bodyPr wrap="square" lIns="21600" tIns="7200" rIns="21600" bIns="7200" anchor="ctr">
            <a:spAutoFit/>
          </a:bodyPr>
          <a:lstStyle/>
          <a:p>
            <a:pPr algn="ctr"/>
            <a:r>
              <a:rPr sz="1100" b="0">
                <a:solidFill>
                  <a:srgbClr val="ED7D31"/>
                </a:solidFill>
                <a:latin typeface="メイリオ"/>
                <a:ea typeface="メイリオ"/>
                <a:cs typeface="メイリオ"/>
              </a:rPr>
              <a:t>＋160万円</a:t>
            </a:r>
          </a:p>
        </p:txBody>
      </p:sp>
      <p:sp>
        <p:nvSpPr>
          <p:cNvPr id="36" name="Rectangle 35"/>
          <p:cNvSpPr/>
          <p:nvPr/>
        </p:nvSpPr>
        <p:spPr>
          <a:xfrm>
            <a:off x="547200" y="2793600"/>
            <a:ext cx="1644179"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7200" y="2793600"/>
            <a:ext cx="1644179" cy="295200"/>
          </a:xfrm>
          <a:prstGeom prst="rect">
            <a:avLst/>
          </a:prstGeom>
          <a:noFill/>
        </p:spPr>
        <p:txBody>
          <a:bodyPr wrap="square" lIns="21600" tIns="7200" rIns="21600" bIns="7200" anchor="ctr">
            <a:spAutoFit/>
          </a:bodyPr>
          <a:lstStyle/>
          <a:p>
            <a:pPr algn="ctr"/>
            <a:r>
              <a:rPr sz="1100" b="0">
                <a:solidFill>
                  <a:srgbClr val="1F285A"/>
                </a:solidFill>
                <a:latin typeface="メイリオ"/>
                <a:ea typeface="メイリオ"/>
                <a:cs typeface="メイリオ"/>
              </a:rPr>
              <a:t>＋3件</a:t>
            </a:r>
          </a:p>
        </p:txBody>
      </p:sp>
      <p:sp>
        <p:nvSpPr>
          <p:cNvPr id="38" name="Rectangle 37"/>
          <p:cNvSpPr/>
          <p:nvPr/>
        </p:nvSpPr>
        <p:spPr>
          <a:xfrm>
            <a:off x="2191379" y="2793600"/>
            <a:ext cx="2104549"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191379" y="2793600"/>
            <a:ext cx="2104549"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0.3件</a:t>
            </a:r>
          </a:p>
        </p:txBody>
      </p:sp>
      <p:sp>
        <p:nvSpPr>
          <p:cNvPr id="40" name="Rectangle 39"/>
          <p:cNvSpPr/>
          <p:nvPr/>
        </p:nvSpPr>
        <p:spPr>
          <a:xfrm>
            <a:off x="4295928" y="2793600"/>
            <a:ext cx="2170316"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95928" y="2793600"/>
            <a:ext cx="2170316"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270万円</a:t>
            </a:r>
          </a:p>
        </p:txBody>
      </p:sp>
      <p:sp>
        <p:nvSpPr>
          <p:cNvPr id="42" name="Rectangle 41"/>
          <p:cNvSpPr/>
          <p:nvPr/>
        </p:nvSpPr>
        <p:spPr>
          <a:xfrm>
            <a:off x="6466244" y="2793600"/>
            <a:ext cx="1381110"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66244" y="2793600"/>
            <a:ext cx="1381110"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▲20万円</a:t>
            </a:r>
          </a:p>
        </p:txBody>
      </p:sp>
      <p:sp>
        <p:nvSpPr>
          <p:cNvPr id="44" name="Rectangle 43"/>
          <p:cNvSpPr/>
          <p:nvPr/>
        </p:nvSpPr>
        <p:spPr>
          <a:xfrm>
            <a:off x="7847355" y="2793600"/>
            <a:ext cx="1512644"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847355" y="2793600"/>
            <a:ext cx="1512644" cy="295200"/>
          </a:xfrm>
          <a:prstGeom prst="rect">
            <a:avLst/>
          </a:prstGeom>
          <a:noFill/>
        </p:spPr>
        <p:txBody>
          <a:bodyPr wrap="square" lIns="21600" tIns="7200" rIns="21600" bIns="7200" anchor="ctr">
            <a:spAutoFit/>
          </a:bodyPr>
          <a:lstStyle/>
          <a:p>
            <a:pPr algn="ctr"/>
            <a:r>
              <a:rPr sz="1100" b="0">
                <a:solidFill>
                  <a:srgbClr val="ED7D31"/>
                </a:solidFill>
                <a:latin typeface="メイリオ"/>
                <a:ea typeface="メイリオ"/>
                <a:cs typeface="メイリオ"/>
              </a:rPr>
              <a:t>＋250万円</a:t>
            </a:r>
          </a:p>
        </p:txBody>
      </p:sp>
      <p:sp>
        <p:nvSpPr>
          <p:cNvPr id="46" name="Rectangle 45"/>
          <p:cNvSpPr/>
          <p:nvPr/>
        </p:nvSpPr>
        <p:spPr>
          <a:xfrm>
            <a:off x="547200" y="3088800"/>
            <a:ext cx="1644179"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7200" y="3088800"/>
            <a:ext cx="1644179" cy="295200"/>
          </a:xfrm>
          <a:prstGeom prst="rect">
            <a:avLst/>
          </a:prstGeom>
          <a:noFill/>
        </p:spPr>
        <p:txBody>
          <a:bodyPr wrap="square" lIns="21600" tIns="7200" rIns="21600" bIns="7200" anchor="ctr">
            <a:spAutoFit/>
          </a:bodyPr>
          <a:lstStyle/>
          <a:p>
            <a:pPr algn="ctr"/>
            <a:r>
              <a:rPr sz="1100" b="0">
                <a:solidFill>
                  <a:srgbClr val="1F285A"/>
                </a:solidFill>
                <a:latin typeface="メイリオ"/>
                <a:ea typeface="メイリオ"/>
                <a:cs typeface="メイリオ"/>
              </a:rPr>
              <a:t>＋5件</a:t>
            </a:r>
          </a:p>
        </p:txBody>
      </p:sp>
      <p:sp>
        <p:nvSpPr>
          <p:cNvPr id="48" name="Rectangle 47"/>
          <p:cNvSpPr/>
          <p:nvPr/>
        </p:nvSpPr>
        <p:spPr>
          <a:xfrm>
            <a:off x="2191379" y="3088800"/>
            <a:ext cx="2104549"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191379" y="3088800"/>
            <a:ext cx="2104549"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0.5件</a:t>
            </a:r>
          </a:p>
        </p:txBody>
      </p:sp>
      <p:sp>
        <p:nvSpPr>
          <p:cNvPr id="50" name="Rectangle 49"/>
          <p:cNvSpPr/>
          <p:nvPr/>
        </p:nvSpPr>
        <p:spPr>
          <a:xfrm>
            <a:off x="4295928" y="3088800"/>
            <a:ext cx="2170316"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295928" y="3088800"/>
            <a:ext cx="2170316"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450万円</a:t>
            </a:r>
          </a:p>
        </p:txBody>
      </p:sp>
      <p:sp>
        <p:nvSpPr>
          <p:cNvPr id="52" name="Rectangle 51"/>
          <p:cNvSpPr/>
          <p:nvPr/>
        </p:nvSpPr>
        <p:spPr>
          <a:xfrm>
            <a:off x="6466244" y="3088800"/>
            <a:ext cx="1381110"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66244" y="3088800"/>
            <a:ext cx="1381110" cy="295200"/>
          </a:xfrm>
          <a:prstGeom prst="rect">
            <a:avLst/>
          </a:prstGeom>
          <a:noFill/>
        </p:spPr>
        <p:txBody>
          <a:bodyPr wrap="square" lIns="21600" tIns="7200" rIns="21600" bIns="7200" anchor="ctr">
            <a:spAutoFit/>
          </a:bodyPr>
          <a:lstStyle/>
          <a:p>
            <a:pPr algn="ctr"/>
            <a:r>
              <a:rPr sz="1100" b="0">
                <a:solidFill>
                  <a:srgbClr val="333333"/>
                </a:solidFill>
                <a:latin typeface="メイリオ"/>
                <a:ea typeface="メイリオ"/>
                <a:cs typeface="メイリオ"/>
              </a:rPr>
              <a:t>▲20万円</a:t>
            </a:r>
          </a:p>
        </p:txBody>
      </p:sp>
      <p:sp>
        <p:nvSpPr>
          <p:cNvPr id="54" name="Rectangle 53"/>
          <p:cNvSpPr/>
          <p:nvPr/>
        </p:nvSpPr>
        <p:spPr>
          <a:xfrm>
            <a:off x="7847355" y="3088800"/>
            <a:ext cx="1512644"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47355" y="3088800"/>
            <a:ext cx="1512644" cy="295200"/>
          </a:xfrm>
          <a:prstGeom prst="rect">
            <a:avLst/>
          </a:prstGeom>
          <a:noFill/>
        </p:spPr>
        <p:txBody>
          <a:bodyPr wrap="square" lIns="21600" tIns="7200" rIns="21600" bIns="7200" anchor="ctr">
            <a:spAutoFit/>
          </a:bodyPr>
          <a:lstStyle/>
          <a:p>
            <a:pPr algn="ctr"/>
            <a:r>
              <a:rPr sz="1100" b="0">
                <a:solidFill>
                  <a:srgbClr val="ED7D31"/>
                </a:solidFill>
                <a:latin typeface="メイリオ"/>
                <a:ea typeface="メイリオ"/>
                <a:cs typeface="メイリオ"/>
              </a:rPr>
              <a:t>＋430万円</a:t>
            </a:r>
          </a:p>
        </p:txBody>
      </p:sp>
      <p:sp>
        <p:nvSpPr>
          <p:cNvPr id="56" name="Rounded Rectangle 55"/>
          <p:cNvSpPr/>
          <p:nvPr/>
        </p:nvSpPr>
        <p:spPr>
          <a:xfrm>
            <a:off x="547200" y="3438000"/>
            <a:ext cx="8812800" cy="360000"/>
          </a:xfrm>
          <a:prstGeom prst="roundRect">
            <a:avLst>
              <a:gd name="adj" fmla="val 6000"/>
            </a:avLst>
          </a:prstGeom>
          <a:solidFill>
            <a:srgbClr val="FFF4EC"/>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7200" y="3438000"/>
            <a:ext cx="8452800" cy="360000"/>
          </a:xfrm>
          <a:prstGeom prst="rect">
            <a:avLst/>
          </a:prstGeom>
          <a:noFill/>
        </p:spPr>
        <p:txBody>
          <a:bodyPr wrap="square" lIns="21600" tIns="7200" rIns="21600" bIns="7200" anchor="ctr">
            <a:spAutoFit/>
          </a:bodyPr>
          <a:lstStyle/>
          <a:p>
            <a:pPr algn="l"/>
            <a:r>
              <a:rPr sz="1300" b="1">
                <a:solidFill>
                  <a:srgbClr val="ED7D31"/>
                </a:solidFill>
                <a:latin typeface="メイリオ"/>
                <a:ea typeface="メイリオ"/>
                <a:cs typeface="メイリオ"/>
              </a:rPr>
              <a:t>損益分岐は 来場＋0.3件／月。年に3〜4件の来場増で運用費は回収できます。</a:t>
            </a:r>
          </a:p>
        </p:txBody>
      </p:sp>
      <p:sp>
        <p:nvSpPr>
          <p:cNvPr id="58" name="TextBox 57"/>
          <p:cNvSpPr txBox="1"/>
          <p:nvPr/>
        </p:nvSpPr>
        <p:spPr>
          <a:xfrm>
            <a:off x="547200" y="3870000"/>
            <a:ext cx="8812800" cy="251999"/>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② 友だち化率が何%なら、その来場増が起きるか</a:t>
            </a:r>
          </a:p>
        </p:txBody>
      </p:sp>
      <p:sp>
        <p:nvSpPr>
          <p:cNvPr id="59" name="Rectangle 58"/>
          <p:cNvSpPr/>
          <p:nvPr/>
        </p:nvSpPr>
        <p:spPr>
          <a:xfrm>
            <a:off x="547200" y="4121999"/>
            <a:ext cx="2345853"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7200" y="4121999"/>
            <a:ext cx="2345853" cy="295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友だち化率（LP離脱者のうち）</a:t>
            </a:r>
          </a:p>
        </p:txBody>
      </p:sp>
      <p:sp>
        <p:nvSpPr>
          <p:cNvPr id="61" name="Rectangle 60"/>
          <p:cNvSpPr/>
          <p:nvPr/>
        </p:nvSpPr>
        <p:spPr>
          <a:xfrm>
            <a:off x="2893053" y="4121999"/>
            <a:ext cx="1331430"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893053" y="4121999"/>
            <a:ext cx="1331430" cy="295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友だち数（月）</a:t>
            </a:r>
          </a:p>
        </p:txBody>
      </p:sp>
      <p:sp>
        <p:nvSpPr>
          <p:cNvPr id="63" name="Rectangle 62"/>
          <p:cNvSpPr/>
          <p:nvPr/>
        </p:nvSpPr>
        <p:spPr>
          <a:xfrm>
            <a:off x="4224483" y="4121999"/>
            <a:ext cx="1648437"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224483" y="4121999"/>
            <a:ext cx="1648437" cy="295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来場予約（転換率5%）</a:t>
            </a:r>
          </a:p>
        </p:txBody>
      </p:sp>
      <p:sp>
        <p:nvSpPr>
          <p:cNvPr id="65" name="Rectangle 64"/>
          <p:cNvSpPr/>
          <p:nvPr/>
        </p:nvSpPr>
        <p:spPr>
          <a:xfrm>
            <a:off x="5872920" y="4121999"/>
            <a:ext cx="1077824"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872920" y="4121999"/>
            <a:ext cx="1077824" cy="295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契約（10%）</a:t>
            </a:r>
          </a:p>
        </p:txBody>
      </p:sp>
      <p:sp>
        <p:nvSpPr>
          <p:cNvPr id="67" name="Rectangle 66"/>
          <p:cNvSpPr/>
          <p:nvPr/>
        </p:nvSpPr>
        <p:spPr>
          <a:xfrm>
            <a:off x="6950745" y="4121999"/>
            <a:ext cx="1458233"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950745" y="4121999"/>
            <a:ext cx="1458233" cy="295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粗利増（月）</a:t>
            </a:r>
          </a:p>
        </p:txBody>
      </p:sp>
      <p:sp>
        <p:nvSpPr>
          <p:cNvPr id="69" name="Rectangle 68"/>
          <p:cNvSpPr/>
          <p:nvPr/>
        </p:nvSpPr>
        <p:spPr>
          <a:xfrm>
            <a:off x="8408978" y="4121999"/>
            <a:ext cx="951021" cy="2952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408978" y="4121999"/>
            <a:ext cx="951021" cy="295200"/>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判定</a:t>
            </a:r>
          </a:p>
        </p:txBody>
      </p:sp>
      <p:sp>
        <p:nvSpPr>
          <p:cNvPr id="71" name="Rectangle 70"/>
          <p:cNvSpPr/>
          <p:nvPr/>
        </p:nvSpPr>
        <p:spPr>
          <a:xfrm>
            <a:off x="547200" y="4417200"/>
            <a:ext cx="2345853"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47200" y="4417200"/>
            <a:ext cx="234585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0.5%</a:t>
            </a:r>
          </a:p>
        </p:txBody>
      </p:sp>
      <p:sp>
        <p:nvSpPr>
          <p:cNvPr id="73" name="Rectangle 72"/>
          <p:cNvSpPr/>
          <p:nvPr/>
        </p:nvSpPr>
        <p:spPr>
          <a:xfrm>
            <a:off x="2893053" y="4417200"/>
            <a:ext cx="1331430"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2893053" y="4417200"/>
            <a:ext cx="1331430"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15人</a:t>
            </a:r>
          </a:p>
        </p:txBody>
      </p:sp>
      <p:sp>
        <p:nvSpPr>
          <p:cNvPr id="75" name="Rectangle 74"/>
          <p:cNvSpPr/>
          <p:nvPr/>
        </p:nvSpPr>
        <p:spPr>
          <a:xfrm>
            <a:off x="4224483" y="4417200"/>
            <a:ext cx="1648437"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224483" y="4417200"/>
            <a:ext cx="1648437"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0.7件</a:t>
            </a:r>
          </a:p>
        </p:txBody>
      </p:sp>
      <p:sp>
        <p:nvSpPr>
          <p:cNvPr id="77" name="Rectangle 76"/>
          <p:cNvSpPr/>
          <p:nvPr/>
        </p:nvSpPr>
        <p:spPr>
          <a:xfrm>
            <a:off x="5872920" y="4417200"/>
            <a:ext cx="1077824"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872920" y="4417200"/>
            <a:ext cx="1077824"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0.07件</a:t>
            </a:r>
          </a:p>
        </p:txBody>
      </p:sp>
      <p:sp>
        <p:nvSpPr>
          <p:cNvPr id="79" name="Rectangle 78"/>
          <p:cNvSpPr/>
          <p:nvPr/>
        </p:nvSpPr>
        <p:spPr>
          <a:xfrm>
            <a:off x="6950745" y="4417200"/>
            <a:ext cx="1458233"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950745" y="4417200"/>
            <a:ext cx="145823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63万円</a:t>
            </a:r>
          </a:p>
        </p:txBody>
      </p:sp>
      <p:sp>
        <p:nvSpPr>
          <p:cNvPr id="81" name="Rectangle 80"/>
          <p:cNvSpPr/>
          <p:nvPr/>
        </p:nvSpPr>
        <p:spPr>
          <a:xfrm>
            <a:off x="8408978" y="4417200"/>
            <a:ext cx="951021"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408978" y="4417200"/>
            <a:ext cx="951021" cy="295200"/>
          </a:xfrm>
          <a:prstGeom prst="rect">
            <a:avLst/>
          </a:prstGeom>
          <a:noFill/>
        </p:spPr>
        <p:txBody>
          <a:bodyPr wrap="square" lIns="21600" tIns="7200" rIns="21600" bIns="7200" anchor="ctr">
            <a:spAutoFit/>
          </a:bodyPr>
          <a:lstStyle/>
          <a:p>
            <a:pPr algn="ctr"/>
            <a:r>
              <a:rPr sz="1050" b="0">
                <a:solidFill>
                  <a:srgbClr val="ED7D31"/>
                </a:solidFill>
                <a:latin typeface="メイリオ"/>
                <a:ea typeface="メイリオ"/>
                <a:cs typeface="メイリオ"/>
              </a:rPr>
              <a:t>回収可</a:t>
            </a:r>
          </a:p>
        </p:txBody>
      </p:sp>
      <p:sp>
        <p:nvSpPr>
          <p:cNvPr id="83" name="Rectangle 82"/>
          <p:cNvSpPr/>
          <p:nvPr/>
        </p:nvSpPr>
        <p:spPr>
          <a:xfrm>
            <a:off x="547200" y="4712400"/>
            <a:ext cx="2345853"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47200" y="4712400"/>
            <a:ext cx="234585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1.0%</a:t>
            </a:r>
          </a:p>
        </p:txBody>
      </p:sp>
      <p:sp>
        <p:nvSpPr>
          <p:cNvPr id="85" name="Rectangle 84"/>
          <p:cNvSpPr/>
          <p:nvPr/>
        </p:nvSpPr>
        <p:spPr>
          <a:xfrm>
            <a:off x="2893053" y="4712400"/>
            <a:ext cx="1331430"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893053" y="4712400"/>
            <a:ext cx="1331430"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29人</a:t>
            </a:r>
          </a:p>
        </p:txBody>
      </p:sp>
      <p:sp>
        <p:nvSpPr>
          <p:cNvPr id="87" name="Rectangle 86"/>
          <p:cNvSpPr/>
          <p:nvPr/>
        </p:nvSpPr>
        <p:spPr>
          <a:xfrm>
            <a:off x="4224483" y="4712400"/>
            <a:ext cx="1648437"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4224483" y="4712400"/>
            <a:ext cx="1648437"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1.5件</a:t>
            </a:r>
          </a:p>
        </p:txBody>
      </p:sp>
      <p:sp>
        <p:nvSpPr>
          <p:cNvPr id="89" name="Rectangle 88"/>
          <p:cNvSpPr/>
          <p:nvPr/>
        </p:nvSpPr>
        <p:spPr>
          <a:xfrm>
            <a:off x="5872920" y="4712400"/>
            <a:ext cx="1077824"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872920" y="4712400"/>
            <a:ext cx="1077824"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0.15件</a:t>
            </a:r>
          </a:p>
        </p:txBody>
      </p:sp>
      <p:sp>
        <p:nvSpPr>
          <p:cNvPr id="91" name="Rectangle 90"/>
          <p:cNvSpPr/>
          <p:nvPr/>
        </p:nvSpPr>
        <p:spPr>
          <a:xfrm>
            <a:off x="6950745" y="4712400"/>
            <a:ext cx="1458233"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950745" y="4712400"/>
            <a:ext cx="145823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135万円</a:t>
            </a:r>
          </a:p>
        </p:txBody>
      </p:sp>
      <p:sp>
        <p:nvSpPr>
          <p:cNvPr id="93" name="Rectangle 92"/>
          <p:cNvSpPr/>
          <p:nvPr/>
        </p:nvSpPr>
        <p:spPr>
          <a:xfrm>
            <a:off x="8408978" y="4712400"/>
            <a:ext cx="951021"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8408978" y="4712400"/>
            <a:ext cx="951021" cy="295200"/>
          </a:xfrm>
          <a:prstGeom prst="rect">
            <a:avLst/>
          </a:prstGeom>
          <a:noFill/>
        </p:spPr>
        <p:txBody>
          <a:bodyPr wrap="square" lIns="21600" tIns="7200" rIns="21600" bIns="7200" anchor="ctr">
            <a:spAutoFit/>
          </a:bodyPr>
          <a:lstStyle/>
          <a:p>
            <a:pPr algn="ctr"/>
            <a:r>
              <a:rPr sz="1050" b="0">
                <a:solidFill>
                  <a:srgbClr val="ED7D31"/>
                </a:solidFill>
                <a:latin typeface="メイリオ"/>
                <a:ea typeface="メイリオ"/>
                <a:cs typeface="メイリオ"/>
              </a:rPr>
              <a:t>回収可</a:t>
            </a:r>
          </a:p>
        </p:txBody>
      </p:sp>
      <p:sp>
        <p:nvSpPr>
          <p:cNvPr id="95" name="Rectangle 94"/>
          <p:cNvSpPr/>
          <p:nvPr/>
        </p:nvSpPr>
        <p:spPr>
          <a:xfrm>
            <a:off x="547200" y="5007600"/>
            <a:ext cx="2345853"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547200" y="5007600"/>
            <a:ext cx="234585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2.0%</a:t>
            </a:r>
          </a:p>
        </p:txBody>
      </p:sp>
      <p:sp>
        <p:nvSpPr>
          <p:cNvPr id="97" name="Rectangle 96"/>
          <p:cNvSpPr/>
          <p:nvPr/>
        </p:nvSpPr>
        <p:spPr>
          <a:xfrm>
            <a:off x="2893053" y="5007600"/>
            <a:ext cx="1331430"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2893053" y="5007600"/>
            <a:ext cx="1331430"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59人</a:t>
            </a:r>
          </a:p>
        </p:txBody>
      </p:sp>
      <p:sp>
        <p:nvSpPr>
          <p:cNvPr id="99" name="Rectangle 98"/>
          <p:cNvSpPr/>
          <p:nvPr/>
        </p:nvSpPr>
        <p:spPr>
          <a:xfrm>
            <a:off x="4224483" y="5007600"/>
            <a:ext cx="1648437"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4224483" y="5007600"/>
            <a:ext cx="1648437"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2.9件</a:t>
            </a:r>
          </a:p>
        </p:txBody>
      </p:sp>
      <p:sp>
        <p:nvSpPr>
          <p:cNvPr id="101" name="Rectangle 100"/>
          <p:cNvSpPr/>
          <p:nvPr/>
        </p:nvSpPr>
        <p:spPr>
          <a:xfrm>
            <a:off x="5872920" y="5007600"/>
            <a:ext cx="1077824"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872920" y="5007600"/>
            <a:ext cx="1077824"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0.29件</a:t>
            </a:r>
          </a:p>
        </p:txBody>
      </p:sp>
      <p:sp>
        <p:nvSpPr>
          <p:cNvPr id="103" name="Rectangle 102"/>
          <p:cNvSpPr/>
          <p:nvPr/>
        </p:nvSpPr>
        <p:spPr>
          <a:xfrm>
            <a:off x="6950745" y="5007600"/>
            <a:ext cx="1458233"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6950745" y="5007600"/>
            <a:ext cx="145823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261万円</a:t>
            </a:r>
          </a:p>
        </p:txBody>
      </p:sp>
      <p:sp>
        <p:nvSpPr>
          <p:cNvPr id="105" name="Rectangle 104"/>
          <p:cNvSpPr/>
          <p:nvPr/>
        </p:nvSpPr>
        <p:spPr>
          <a:xfrm>
            <a:off x="8408978" y="5007600"/>
            <a:ext cx="951021" cy="2952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408978" y="5007600"/>
            <a:ext cx="951021" cy="295200"/>
          </a:xfrm>
          <a:prstGeom prst="rect">
            <a:avLst/>
          </a:prstGeom>
          <a:noFill/>
        </p:spPr>
        <p:txBody>
          <a:bodyPr wrap="square" lIns="21600" tIns="7200" rIns="21600" bIns="7200" anchor="ctr">
            <a:spAutoFit/>
          </a:bodyPr>
          <a:lstStyle/>
          <a:p>
            <a:pPr algn="ctr"/>
            <a:r>
              <a:rPr sz="1050" b="0">
                <a:solidFill>
                  <a:srgbClr val="ED7D31"/>
                </a:solidFill>
                <a:latin typeface="メイリオ"/>
                <a:ea typeface="メイリオ"/>
                <a:cs typeface="メイリオ"/>
              </a:rPr>
              <a:t>回収可</a:t>
            </a:r>
          </a:p>
        </p:txBody>
      </p:sp>
      <p:sp>
        <p:nvSpPr>
          <p:cNvPr id="107" name="Rectangle 106"/>
          <p:cNvSpPr/>
          <p:nvPr/>
        </p:nvSpPr>
        <p:spPr>
          <a:xfrm>
            <a:off x="547200" y="5302800"/>
            <a:ext cx="2345853"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47200" y="5302800"/>
            <a:ext cx="234585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3.0%</a:t>
            </a:r>
          </a:p>
        </p:txBody>
      </p:sp>
      <p:sp>
        <p:nvSpPr>
          <p:cNvPr id="109" name="Rectangle 108"/>
          <p:cNvSpPr/>
          <p:nvPr/>
        </p:nvSpPr>
        <p:spPr>
          <a:xfrm>
            <a:off x="2893053" y="5302800"/>
            <a:ext cx="1331430"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2893053" y="5302800"/>
            <a:ext cx="1331430"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88人</a:t>
            </a:r>
          </a:p>
        </p:txBody>
      </p:sp>
      <p:sp>
        <p:nvSpPr>
          <p:cNvPr id="111" name="Rectangle 110"/>
          <p:cNvSpPr/>
          <p:nvPr/>
        </p:nvSpPr>
        <p:spPr>
          <a:xfrm>
            <a:off x="4224483" y="5302800"/>
            <a:ext cx="1648437"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4224483" y="5302800"/>
            <a:ext cx="1648437"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4.4件</a:t>
            </a:r>
          </a:p>
        </p:txBody>
      </p:sp>
      <p:sp>
        <p:nvSpPr>
          <p:cNvPr id="113" name="Rectangle 112"/>
          <p:cNvSpPr/>
          <p:nvPr/>
        </p:nvSpPr>
        <p:spPr>
          <a:xfrm>
            <a:off x="5872920" y="5302800"/>
            <a:ext cx="1077824"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5872920" y="5302800"/>
            <a:ext cx="1077824"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0.44件</a:t>
            </a:r>
          </a:p>
        </p:txBody>
      </p:sp>
      <p:sp>
        <p:nvSpPr>
          <p:cNvPr id="115" name="Rectangle 114"/>
          <p:cNvSpPr/>
          <p:nvPr/>
        </p:nvSpPr>
        <p:spPr>
          <a:xfrm>
            <a:off x="6950745" y="5302800"/>
            <a:ext cx="1458233"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6950745" y="5302800"/>
            <a:ext cx="1458233" cy="295200"/>
          </a:xfrm>
          <a:prstGeom prst="rect">
            <a:avLst/>
          </a:prstGeom>
          <a:noFill/>
        </p:spPr>
        <p:txBody>
          <a:bodyPr wrap="square" lIns="21600" tIns="7200" rIns="21600" bIns="7200" anchor="ctr">
            <a:spAutoFit/>
          </a:bodyPr>
          <a:lstStyle/>
          <a:p>
            <a:pPr algn="ctr"/>
            <a:r>
              <a:rPr sz="1050" b="0">
                <a:solidFill>
                  <a:srgbClr val="333333"/>
                </a:solidFill>
                <a:latin typeface="メイリオ"/>
                <a:ea typeface="メイリオ"/>
                <a:cs typeface="メイリオ"/>
              </a:rPr>
              <a:t>396万円</a:t>
            </a:r>
          </a:p>
        </p:txBody>
      </p:sp>
      <p:sp>
        <p:nvSpPr>
          <p:cNvPr id="117" name="Rectangle 116"/>
          <p:cNvSpPr/>
          <p:nvPr/>
        </p:nvSpPr>
        <p:spPr>
          <a:xfrm>
            <a:off x="8408978" y="5302800"/>
            <a:ext cx="951021" cy="2952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8408978" y="5302800"/>
            <a:ext cx="951021" cy="295200"/>
          </a:xfrm>
          <a:prstGeom prst="rect">
            <a:avLst/>
          </a:prstGeom>
          <a:noFill/>
        </p:spPr>
        <p:txBody>
          <a:bodyPr wrap="square" lIns="21600" tIns="7200" rIns="21600" bIns="7200" anchor="ctr">
            <a:spAutoFit/>
          </a:bodyPr>
          <a:lstStyle/>
          <a:p>
            <a:pPr algn="ctr"/>
            <a:r>
              <a:rPr sz="1050" b="0">
                <a:solidFill>
                  <a:srgbClr val="ED7D31"/>
                </a:solidFill>
                <a:latin typeface="メイリオ"/>
                <a:ea typeface="メイリオ"/>
                <a:cs typeface="メイリオ"/>
              </a:rPr>
              <a:t>回収可</a:t>
            </a:r>
          </a:p>
        </p:txBody>
      </p:sp>
      <p:sp>
        <p:nvSpPr>
          <p:cNvPr id="119" name="TextBox 118"/>
          <p:cNvSpPr txBox="1"/>
          <p:nvPr/>
        </p:nvSpPr>
        <p:spPr>
          <a:xfrm>
            <a:off x="547200" y="5723999"/>
            <a:ext cx="8812800" cy="576000"/>
          </a:xfrm>
          <a:prstGeom prst="rect">
            <a:avLst/>
          </a:prstGeom>
          <a:noFill/>
        </p:spPr>
        <p:txBody>
          <a:bodyPr wrap="square" lIns="21600" tIns="7200" rIns="21600" bIns="7200" anchor="t">
            <a:spAutoFit/>
          </a:bodyPr>
          <a:lstStyle/>
          <a:p>
            <a:pPr algn="l">
              <a:spcAft>
                <a:spcPts val="400"/>
              </a:spcAft>
            </a:pPr>
            <a:r>
              <a:rPr sz="1200" b="1">
                <a:solidFill>
                  <a:srgbClr val="333333"/>
                </a:solidFill>
                <a:latin typeface="メイリオ"/>
                <a:ea typeface="メイリオ"/>
                <a:cs typeface="メイリオ"/>
              </a:rPr>
              <a:t>最低ラインの0.5%でも回収できます。1棟の粗利が大きい商材なので、少ない件数でも投資は成立します。</a:t>
            </a:r>
          </a:p>
          <a:p>
            <a:pPr algn="l"/>
            <a:r>
              <a:rPr sz="1200" b="1">
                <a:solidFill>
                  <a:srgbClr val="333333"/>
                </a:solidFill>
                <a:latin typeface="メイリオ"/>
                <a:ea typeface="メイリオ"/>
                <a:cs typeface="メイリオ"/>
              </a:rPr>
              <a:t>この2つの数値は、2か月目に友だち化率、3か月目に来場転換率が出ます。それを見て継続をご判断ください。</a:t>
            </a:r>
          </a:p>
        </p:txBody>
      </p:sp>
      <p:sp>
        <p:nvSpPr>
          <p:cNvPr id="120" name="TextBox 119"/>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※前提：LP流入3,000セッション／LP CVR2.0%（据え置き）／資料請求60件／来場→契約10%／1棟粗利 約900万円。いずれも業界水準です。</a:t>
            </a:r>
          </a:p>
          <a:p>
            <a:pPr algn="l"/>
            <a:r>
              <a:rPr sz="850" b="0">
                <a:solidFill>
                  <a:srgbClr val="7F7F7F"/>
                </a:solidFill>
                <a:latin typeface="メイリオ"/>
                <a:ea typeface="メイリオ"/>
                <a:cs typeface="メイリオ"/>
              </a:rPr>
              <a:t>※友だち化率・来場転換率は本提案の想定値です。断定ではなく、回収ラインを示すための感度分析です。</a:t>
            </a:r>
          </a:p>
        </p:txBody>
      </p:sp>
    </p:spTree>
    <p:extLst>
      <p:ext uri="{BB962C8B-B14F-4D97-AF65-F5344CB8AC3E}">
        <p14:creationId xmlns:p14="http://schemas.microsoft.com/office/powerpoint/2010/main" val="2012545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費用プラン</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ご予算と社内体制に合わせて4つご用意しています。まず①か②で始める形が一般的です。</a:t>
            </a:r>
          </a:p>
          <a:p>
            <a:pPr algn="l">
              <a:spcAft>
                <a:spcPts val="300"/>
              </a:spcAft>
            </a:pPr>
            <a:r>
              <a:rPr sz="1250" b="1">
                <a:solidFill>
                  <a:srgbClr val="333333"/>
                </a:solidFill>
                <a:latin typeface="メイリオ"/>
                <a:ea typeface="メイリオ"/>
                <a:cs typeface="メイリオ"/>
              </a:rPr>
              <a:t>無償で付帯するものと、別途費用がかかるものを分けて記載しています。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55999"/>
            <a:ext cx="2054700" cy="1620000"/>
          </a:xfrm>
          <a:prstGeom prst="roundRect">
            <a:avLst>
              <a:gd name="adj" fmla="val 6000"/>
            </a:avLst>
          </a:prstGeom>
          <a:solidFill>
            <a:srgbClr val="FFFF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7200" y="1655999"/>
            <a:ext cx="2054700" cy="378000"/>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1655999"/>
            <a:ext cx="2054700" cy="378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① コンサル基本</a:t>
            </a:r>
          </a:p>
        </p:txBody>
      </p:sp>
      <p:sp>
        <p:nvSpPr>
          <p:cNvPr id="8" name="TextBox 7"/>
          <p:cNvSpPr txBox="1"/>
          <p:nvPr/>
        </p:nvSpPr>
        <p:spPr>
          <a:xfrm>
            <a:off x="637200" y="2088000"/>
            <a:ext cx="1874700" cy="270000"/>
          </a:xfrm>
          <a:prstGeom prst="rect">
            <a:avLst/>
          </a:prstGeom>
          <a:noFill/>
        </p:spPr>
        <p:txBody>
          <a:bodyPr wrap="square" lIns="21600" tIns="7200" rIns="21600" bIns="7200" anchor="t">
            <a:spAutoFit/>
          </a:bodyPr>
          <a:lstStyle/>
          <a:p>
            <a:pPr algn="ctr"/>
            <a:r>
              <a:rPr sz="1250" b="1">
                <a:solidFill>
                  <a:srgbClr val="1F285A"/>
                </a:solidFill>
                <a:latin typeface="メイリオ"/>
                <a:ea typeface="メイリオ"/>
                <a:cs typeface="メイリオ"/>
              </a:rPr>
              <a:t>初期 10万円〜</a:t>
            </a:r>
          </a:p>
        </p:txBody>
      </p:sp>
      <p:cxnSp>
        <p:nvCxnSpPr>
          <p:cNvPr id="9" name="Connector 8"/>
          <p:cNvCxnSpPr/>
          <p:nvPr/>
        </p:nvCxnSpPr>
        <p:spPr>
          <a:xfrm>
            <a:off x="763200" y="2394000"/>
            <a:ext cx="16227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37200" y="2448000"/>
            <a:ext cx="1874700" cy="306000"/>
          </a:xfrm>
          <a:prstGeom prst="rect">
            <a:avLst/>
          </a:prstGeom>
          <a:noFill/>
        </p:spPr>
        <p:txBody>
          <a:bodyPr wrap="square" lIns="21600" tIns="7200" rIns="21600" bIns="7200" anchor="t">
            <a:spAutoFit/>
          </a:bodyPr>
          <a:lstStyle/>
          <a:p>
            <a:pPr algn="ctr"/>
            <a:r>
              <a:rPr sz="1300" b="1">
                <a:solidFill>
                  <a:srgbClr val="333333"/>
                </a:solidFill>
                <a:latin typeface="メイリオ"/>
                <a:ea typeface="メイリオ"/>
                <a:cs typeface="メイリオ"/>
              </a:rPr>
              <a:t>月20 / 30 / 50万円</a:t>
            </a:r>
          </a:p>
        </p:txBody>
      </p:sp>
      <p:sp>
        <p:nvSpPr>
          <p:cNvPr id="11" name="TextBox 10"/>
          <p:cNvSpPr txBox="1"/>
          <p:nvPr/>
        </p:nvSpPr>
        <p:spPr>
          <a:xfrm>
            <a:off x="691200" y="2790000"/>
            <a:ext cx="1766700" cy="432000"/>
          </a:xfrm>
          <a:prstGeom prst="rect">
            <a:avLst/>
          </a:prstGeom>
          <a:noFill/>
        </p:spPr>
        <p:txBody>
          <a:bodyPr wrap="square" lIns="21600" tIns="7200" rIns="21600" bIns="7200" anchor="t">
            <a:spAutoFit/>
          </a:bodyPr>
          <a:lstStyle/>
          <a:p>
            <a:pPr algn="ctr"/>
            <a:r>
              <a:rPr sz="950" b="0">
                <a:solidFill>
                  <a:srgbClr val="7F7F7F"/>
                </a:solidFill>
                <a:latin typeface="メイリオ"/>
                <a:ea typeface="メイリオ"/>
                <a:cs typeface="メイリオ"/>
              </a:rPr>
              <a:t>企画投稿 3本 / 5本 / 9本。設計から運用まで一括</a:t>
            </a:r>
          </a:p>
        </p:txBody>
      </p:sp>
      <p:sp>
        <p:nvSpPr>
          <p:cNvPr id="12" name="Rounded Rectangle 11"/>
          <p:cNvSpPr/>
          <p:nvPr/>
        </p:nvSpPr>
        <p:spPr>
          <a:xfrm>
            <a:off x="2799900" y="1655999"/>
            <a:ext cx="2054700" cy="1620000"/>
          </a:xfrm>
          <a:prstGeom prst="roundRect">
            <a:avLst>
              <a:gd name="adj" fmla="val 6000"/>
            </a:avLst>
          </a:prstGeom>
          <a:solidFill>
            <a:srgbClr val="FFFF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799900" y="1655999"/>
            <a:ext cx="2054700" cy="378000"/>
          </a:xfrm>
          <a:prstGeom prst="roundRect">
            <a:avLst>
              <a:gd name="adj" fmla="val 13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99900" y="1655999"/>
            <a:ext cx="2054700" cy="378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② 初動設計＋運用</a:t>
            </a:r>
          </a:p>
        </p:txBody>
      </p:sp>
      <p:sp>
        <p:nvSpPr>
          <p:cNvPr id="15" name="TextBox 14"/>
          <p:cNvSpPr txBox="1"/>
          <p:nvPr/>
        </p:nvSpPr>
        <p:spPr>
          <a:xfrm>
            <a:off x="2889900" y="2088000"/>
            <a:ext cx="1874700" cy="270000"/>
          </a:xfrm>
          <a:prstGeom prst="rect">
            <a:avLst/>
          </a:prstGeom>
          <a:noFill/>
        </p:spPr>
        <p:txBody>
          <a:bodyPr wrap="square" lIns="21600" tIns="7200" rIns="21600" bIns="7200" anchor="t">
            <a:spAutoFit/>
          </a:bodyPr>
          <a:lstStyle/>
          <a:p>
            <a:pPr algn="ctr"/>
            <a:r>
              <a:rPr sz="1250" b="1">
                <a:solidFill>
                  <a:srgbClr val="ED7D31"/>
                </a:solidFill>
                <a:latin typeface="メイリオ"/>
                <a:ea typeface="メイリオ"/>
                <a:cs typeface="メイリオ"/>
              </a:rPr>
              <a:t>初期 10万円〜</a:t>
            </a:r>
          </a:p>
        </p:txBody>
      </p:sp>
      <p:cxnSp>
        <p:nvCxnSpPr>
          <p:cNvPr id="16" name="Connector 15"/>
          <p:cNvCxnSpPr/>
          <p:nvPr/>
        </p:nvCxnSpPr>
        <p:spPr>
          <a:xfrm>
            <a:off x="3015900" y="2394000"/>
            <a:ext cx="16227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89900" y="2448000"/>
            <a:ext cx="1874700" cy="306000"/>
          </a:xfrm>
          <a:prstGeom prst="rect">
            <a:avLst/>
          </a:prstGeom>
          <a:noFill/>
        </p:spPr>
        <p:txBody>
          <a:bodyPr wrap="square" lIns="21600" tIns="7200" rIns="21600" bIns="7200" anchor="t">
            <a:spAutoFit/>
          </a:bodyPr>
          <a:lstStyle/>
          <a:p>
            <a:pPr algn="ctr"/>
            <a:r>
              <a:rPr sz="1300" b="1">
                <a:solidFill>
                  <a:srgbClr val="333333"/>
                </a:solidFill>
                <a:latin typeface="メイリオ"/>
                <a:ea typeface="メイリオ"/>
                <a:cs typeface="メイリオ"/>
              </a:rPr>
              <a:t>月5万円〜</a:t>
            </a:r>
          </a:p>
        </p:txBody>
      </p:sp>
      <p:sp>
        <p:nvSpPr>
          <p:cNvPr id="18" name="TextBox 17"/>
          <p:cNvSpPr txBox="1"/>
          <p:nvPr/>
        </p:nvSpPr>
        <p:spPr>
          <a:xfrm>
            <a:off x="2943900" y="2790000"/>
            <a:ext cx="1766700" cy="432000"/>
          </a:xfrm>
          <a:prstGeom prst="rect">
            <a:avLst/>
          </a:prstGeom>
          <a:noFill/>
        </p:spPr>
        <p:txBody>
          <a:bodyPr wrap="square" lIns="21600" tIns="7200" rIns="21600" bIns="7200" anchor="t">
            <a:spAutoFit/>
          </a:bodyPr>
          <a:lstStyle/>
          <a:p>
            <a:pPr algn="ctr"/>
            <a:r>
              <a:rPr sz="950" b="0">
                <a:solidFill>
                  <a:srgbClr val="7F7F7F"/>
                </a:solidFill>
                <a:latin typeface="メイリオ"/>
                <a:ea typeface="メイリオ"/>
                <a:cs typeface="メイリオ"/>
              </a:rPr>
              <a:t>初期設計と構築はDYM／以降は貴社運用</a:t>
            </a:r>
          </a:p>
        </p:txBody>
      </p:sp>
      <p:sp>
        <p:nvSpPr>
          <p:cNvPr id="19" name="Rounded Rectangle 18"/>
          <p:cNvSpPr/>
          <p:nvPr/>
        </p:nvSpPr>
        <p:spPr>
          <a:xfrm>
            <a:off x="5052600" y="1655999"/>
            <a:ext cx="2054700" cy="1620000"/>
          </a:xfrm>
          <a:prstGeom prst="roundRect">
            <a:avLst>
              <a:gd name="adj" fmla="val 6000"/>
            </a:avLst>
          </a:prstGeom>
          <a:solidFill>
            <a:srgbClr val="FFFFFF"/>
          </a:solidFill>
          <a:ln w="1651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52600" y="1655999"/>
            <a:ext cx="2054700" cy="378000"/>
          </a:xfrm>
          <a:prstGeom prst="roundRect">
            <a:avLst>
              <a:gd name="adj" fmla="val 13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52600" y="1655999"/>
            <a:ext cx="2054700" cy="378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③ 運用代行</a:t>
            </a:r>
          </a:p>
        </p:txBody>
      </p:sp>
      <p:sp>
        <p:nvSpPr>
          <p:cNvPr id="22" name="TextBox 21"/>
          <p:cNvSpPr txBox="1"/>
          <p:nvPr/>
        </p:nvSpPr>
        <p:spPr>
          <a:xfrm>
            <a:off x="5142600" y="2088000"/>
            <a:ext cx="1874700" cy="270000"/>
          </a:xfrm>
          <a:prstGeom prst="rect">
            <a:avLst/>
          </a:prstGeom>
          <a:noFill/>
        </p:spPr>
        <p:txBody>
          <a:bodyPr wrap="square" lIns="21600" tIns="7200" rIns="21600" bIns="7200" anchor="t">
            <a:spAutoFit/>
          </a:bodyPr>
          <a:lstStyle/>
          <a:p>
            <a:pPr algn="ctr"/>
            <a:r>
              <a:rPr sz="1250" b="1">
                <a:solidFill>
                  <a:srgbClr val="3E6DB5"/>
                </a:solidFill>
                <a:latin typeface="メイリオ"/>
                <a:ea typeface="メイリオ"/>
                <a:cs typeface="メイリオ"/>
              </a:rPr>
              <a:t>初期 10万円〜</a:t>
            </a:r>
          </a:p>
        </p:txBody>
      </p:sp>
      <p:cxnSp>
        <p:nvCxnSpPr>
          <p:cNvPr id="23" name="Connector 22"/>
          <p:cNvCxnSpPr/>
          <p:nvPr/>
        </p:nvCxnSpPr>
        <p:spPr>
          <a:xfrm>
            <a:off x="5268600" y="2394000"/>
            <a:ext cx="1622699"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142600" y="2448000"/>
            <a:ext cx="1874700" cy="306000"/>
          </a:xfrm>
          <a:prstGeom prst="rect">
            <a:avLst/>
          </a:prstGeom>
          <a:noFill/>
        </p:spPr>
        <p:txBody>
          <a:bodyPr wrap="square" lIns="21600" tIns="7200" rIns="21600" bIns="7200" anchor="t">
            <a:spAutoFit/>
          </a:bodyPr>
          <a:lstStyle/>
          <a:p>
            <a:pPr algn="ctr"/>
            <a:r>
              <a:rPr sz="1300" b="1">
                <a:solidFill>
                  <a:srgbClr val="333333"/>
                </a:solidFill>
                <a:latin typeface="メイリオ"/>
                <a:ea typeface="メイリオ"/>
                <a:cs typeface="メイリオ"/>
              </a:rPr>
              <a:t>月0万円〜</a:t>
            </a:r>
          </a:p>
        </p:txBody>
      </p:sp>
      <p:sp>
        <p:nvSpPr>
          <p:cNvPr id="25" name="TextBox 24"/>
          <p:cNvSpPr txBox="1"/>
          <p:nvPr/>
        </p:nvSpPr>
        <p:spPr>
          <a:xfrm>
            <a:off x="5196600" y="2790000"/>
            <a:ext cx="1766700" cy="432000"/>
          </a:xfrm>
          <a:prstGeom prst="rect">
            <a:avLst/>
          </a:prstGeom>
          <a:noFill/>
        </p:spPr>
        <p:txBody>
          <a:bodyPr wrap="square" lIns="21600" tIns="7200" rIns="21600" bIns="7200" anchor="t">
            <a:spAutoFit/>
          </a:bodyPr>
          <a:lstStyle/>
          <a:p>
            <a:pPr algn="ctr"/>
            <a:r>
              <a:rPr sz="950" b="0">
                <a:solidFill>
                  <a:srgbClr val="7F7F7F"/>
                </a:solidFill>
                <a:latin typeface="メイリオ"/>
                <a:ea typeface="メイリオ"/>
                <a:cs typeface="メイリオ"/>
              </a:rPr>
              <a:t>広告のお取引がある場合の運用代行</a:t>
            </a:r>
          </a:p>
        </p:txBody>
      </p:sp>
      <p:sp>
        <p:nvSpPr>
          <p:cNvPr id="26" name="Rounded Rectangle 25"/>
          <p:cNvSpPr/>
          <p:nvPr/>
        </p:nvSpPr>
        <p:spPr>
          <a:xfrm>
            <a:off x="7305300" y="1655999"/>
            <a:ext cx="2054700" cy="1620000"/>
          </a:xfrm>
          <a:prstGeom prst="roundRect">
            <a:avLst>
              <a:gd name="adj" fmla="val 6000"/>
            </a:avLst>
          </a:prstGeom>
          <a:solidFill>
            <a:srgbClr val="FFFFFF"/>
          </a:solidFill>
          <a:ln w="1651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305300" y="1655999"/>
            <a:ext cx="2054700" cy="378000"/>
          </a:xfrm>
          <a:prstGeom prst="roundRect">
            <a:avLst>
              <a:gd name="adj" fmla="val 13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05300" y="1655999"/>
            <a:ext cx="2054700" cy="378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④ 成果報酬型</a:t>
            </a:r>
          </a:p>
        </p:txBody>
      </p:sp>
      <p:sp>
        <p:nvSpPr>
          <p:cNvPr id="29" name="TextBox 28"/>
          <p:cNvSpPr txBox="1"/>
          <p:nvPr/>
        </p:nvSpPr>
        <p:spPr>
          <a:xfrm>
            <a:off x="7395300" y="2088000"/>
            <a:ext cx="1874700" cy="270000"/>
          </a:xfrm>
          <a:prstGeom prst="rect">
            <a:avLst/>
          </a:prstGeom>
          <a:noFill/>
        </p:spPr>
        <p:txBody>
          <a:bodyPr wrap="square" lIns="21600" tIns="7200" rIns="21600" bIns="7200" anchor="t">
            <a:spAutoFit/>
          </a:bodyPr>
          <a:lstStyle/>
          <a:p>
            <a:pPr algn="ctr"/>
            <a:r>
              <a:rPr sz="1250" b="1">
                <a:solidFill>
                  <a:srgbClr val="7F7F7F"/>
                </a:solidFill>
                <a:latin typeface="メイリオ"/>
                <a:ea typeface="メイリオ"/>
                <a:cs typeface="メイリオ"/>
              </a:rPr>
              <a:t>初期 5万円〜</a:t>
            </a:r>
          </a:p>
        </p:txBody>
      </p:sp>
      <p:cxnSp>
        <p:nvCxnSpPr>
          <p:cNvPr id="30" name="Connector 29"/>
          <p:cNvCxnSpPr/>
          <p:nvPr/>
        </p:nvCxnSpPr>
        <p:spPr>
          <a:xfrm>
            <a:off x="7521300" y="2394000"/>
            <a:ext cx="16227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95300" y="2448000"/>
            <a:ext cx="1874700" cy="306000"/>
          </a:xfrm>
          <a:prstGeom prst="rect">
            <a:avLst/>
          </a:prstGeom>
          <a:noFill/>
        </p:spPr>
        <p:txBody>
          <a:bodyPr wrap="square" lIns="21600" tIns="7200" rIns="21600" bIns="7200" anchor="t">
            <a:spAutoFit/>
          </a:bodyPr>
          <a:lstStyle/>
          <a:p>
            <a:pPr algn="ctr"/>
            <a:r>
              <a:rPr sz="1300" b="1">
                <a:solidFill>
                  <a:srgbClr val="333333"/>
                </a:solidFill>
                <a:latin typeface="メイリオ"/>
                <a:ea typeface="メイリオ"/>
                <a:cs typeface="メイリオ"/>
              </a:rPr>
              <a:t>成果1件ごとの単価制</a:t>
            </a:r>
          </a:p>
        </p:txBody>
      </p:sp>
      <p:sp>
        <p:nvSpPr>
          <p:cNvPr id="32" name="TextBox 31"/>
          <p:cNvSpPr txBox="1"/>
          <p:nvPr/>
        </p:nvSpPr>
        <p:spPr>
          <a:xfrm>
            <a:off x="7449300" y="2790000"/>
            <a:ext cx="1766700" cy="432000"/>
          </a:xfrm>
          <a:prstGeom prst="rect">
            <a:avLst/>
          </a:prstGeom>
          <a:noFill/>
        </p:spPr>
        <p:txBody>
          <a:bodyPr wrap="square" lIns="21600" tIns="7200" rIns="21600" bIns="7200" anchor="t">
            <a:spAutoFit/>
          </a:bodyPr>
          <a:lstStyle/>
          <a:p>
            <a:pPr algn="ctr"/>
            <a:r>
              <a:rPr sz="950" b="0">
                <a:solidFill>
                  <a:srgbClr val="7F7F7F"/>
                </a:solidFill>
                <a:latin typeface="メイリオ"/>
                <a:ea typeface="メイリオ"/>
                <a:cs typeface="メイリオ"/>
              </a:rPr>
              <a:t>来場予約など成果地点を決めて課金</a:t>
            </a:r>
          </a:p>
        </p:txBody>
      </p:sp>
      <p:sp>
        <p:nvSpPr>
          <p:cNvPr id="33" name="TextBox 32"/>
          <p:cNvSpPr txBox="1"/>
          <p:nvPr/>
        </p:nvSpPr>
        <p:spPr>
          <a:xfrm>
            <a:off x="547200" y="3383999"/>
            <a:ext cx="8812800" cy="2700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プラン内で対応する範囲と、別途費用が発生する範囲</a:t>
            </a:r>
          </a:p>
        </p:txBody>
      </p:sp>
      <p:sp>
        <p:nvSpPr>
          <p:cNvPr id="34" name="Rectangle 33"/>
          <p:cNvSpPr/>
          <p:nvPr/>
        </p:nvSpPr>
        <p:spPr>
          <a:xfrm>
            <a:off x="547200" y="3671999"/>
            <a:ext cx="1421419" cy="244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7200" y="3671999"/>
            <a:ext cx="1421419" cy="244800"/>
          </a:xfrm>
          <a:prstGeom prst="rect">
            <a:avLst/>
          </a:prstGeom>
          <a:noFill/>
        </p:spPr>
        <p:txBody>
          <a:bodyPr wrap="square" lIns="21600" tIns="7200" rIns="21600" bIns="7200" anchor="ctr">
            <a:spAutoFit/>
          </a:bodyPr>
          <a:lstStyle/>
          <a:p>
            <a:pPr algn="ctr"/>
            <a:r>
              <a:rPr sz="1000" b="1">
                <a:solidFill>
                  <a:srgbClr val="FFFFFF"/>
                </a:solidFill>
                <a:latin typeface="メイリオ"/>
                <a:ea typeface="メイリオ"/>
                <a:cs typeface="メイリオ"/>
              </a:rPr>
              <a:t>区分</a:t>
            </a:r>
          </a:p>
        </p:txBody>
      </p:sp>
      <p:sp>
        <p:nvSpPr>
          <p:cNvPr id="36" name="Rectangle 35"/>
          <p:cNvSpPr/>
          <p:nvPr/>
        </p:nvSpPr>
        <p:spPr>
          <a:xfrm>
            <a:off x="1968619" y="3671999"/>
            <a:ext cx="4974967" cy="244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968619" y="3671999"/>
            <a:ext cx="4974967" cy="244800"/>
          </a:xfrm>
          <a:prstGeom prst="rect">
            <a:avLst/>
          </a:prstGeom>
          <a:noFill/>
        </p:spPr>
        <p:txBody>
          <a:bodyPr wrap="square" lIns="21600" tIns="7200" rIns="21600" bIns="7200" anchor="ctr">
            <a:spAutoFit/>
          </a:bodyPr>
          <a:lstStyle/>
          <a:p>
            <a:pPr algn="ctr"/>
            <a:r>
              <a:rPr sz="1000" b="1">
                <a:solidFill>
                  <a:srgbClr val="FFFFFF"/>
                </a:solidFill>
                <a:latin typeface="メイリオ"/>
                <a:ea typeface="メイリオ"/>
                <a:cs typeface="メイリオ"/>
              </a:rPr>
              <a:t>項目</a:t>
            </a:r>
          </a:p>
        </p:txBody>
      </p:sp>
      <p:sp>
        <p:nvSpPr>
          <p:cNvPr id="38" name="Rectangle 37"/>
          <p:cNvSpPr/>
          <p:nvPr/>
        </p:nvSpPr>
        <p:spPr>
          <a:xfrm>
            <a:off x="6943587" y="3671999"/>
            <a:ext cx="1208206" cy="244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43587" y="3671999"/>
            <a:ext cx="1208206" cy="244800"/>
          </a:xfrm>
          <a:prstGeom prst="rect">
            <a:avLst/>
          </a:prstGeom>
          <a:noFill/>
        </p:spPr>
        <p:txBody>
          <a:bodyPr wrap="square" lIns="21600" tIns="7200" rIns="21600" bIns="7200" anchor="ctr">
            <a:spAutoFit/>
          </a:bodyPr>
          <a:lstStyle/>
          <a:p>
            <a:pPr algn="ctr"/>
            <a:r>
              <a:rPr sz="1000" b="1">
                <a:solidFill>
                  <a:srgbClr val="FFFFFF"/>
                </a:solidFill>
                <a:latin typeface="メイリオ"/>
                <a:ea typeface="メイリオ"/>
                <a:cs typeface="メイリオ"/>
              </a:rPr>
              <a:t>初期</a:t>
            </a:r>
          </a:p>
        </p:txBody>
      </p:sp>
      <p:sp>
        <p:nvSpPr>
          <p:cNvPr id="40" name="Rectangle 39"/>
          <p:cNvSpPr/>
          <p:nvPr/>
        </p:nvSpPr>
        <p:spPr>
          <a:xfrm>
            <a:off x="8151793" y="3671999"/>
            <a:ext cx="1208206" cy="244800"/>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151793" y="3671999"/>
            <a:ext cx="1208206" cy="244800"/>
          </a:xfrm>
          <a:prstGeom prst="rect">
            <a:avLst/>
          </a:prstGeom>
          <a:noFill/>
        </p:spPr>
        <p:txBody>
          <a:bodyPr wrap="square" lIns="21600" tIns="7200" rIns="21600" bIns="7200" anchor="ctr">
            <a:spAutoFit/>
          </a:bodyPr>
          <a:lstStyle/>
          <a:p>
            <a:pPr algn="ctr"/>
            <a:r>
              <a:rPr sz="1000" b="1">
                <a:solidFill>
                  <a:srgbClr val="FFFFFF"/>
                </a:solidFill>
                <a:latin typeface="メイリオ"/>
                <a:ea typeface="メイリオ"/>
                <a:cs typeface="メイリオ"/>
              </a:rPr>
              <a:t>月額</a:t>
            </a:r>
          </a:p>
        </p:txBody>
      </p:sp>
      <p:sp>
        <p:nvSpPr>
          <p:cNvPr id="42" name="Rectangle 41"/>
          <p:cNvSpPr/>
          <p:nvPr/>
        </p:nvSpPr>
        <p:spPr>
          <a:xfrm>
            <a:off x="547200" y="3916799"/>
            <a:ext cx="1421419"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7200" y="3916799"/>
            <a:ext cx="1421419" cy="244800"/>
          </a:xfrm>
          <a:prstGeom prst="rect">
            <a:avLst/>
          </a:prstGeom>
          <a:noFill/>
        </p:spPr>
        <p:txBody>
          <a:bodyPr wrap="square" lIns="21600" tIns="7200" rIns="21600" bIns="7200" anchor="ctr">
            <a:spAutoFit/>
          </a:bodyPr>
          <a:lstStyle/>
          <a:p>
            <a:pPr algn="ctr"/>
            <a:r>
              <a:rPr sz="950" b="0">
                <a:solidFill>
                  <a:srgbClr val="1F285A"/>
                </a:solidFill>
                <a:latin typeface="メイリオ"/>
                <a:ea typeface="メイリオ"/>
                <a:cs typeface="メイリオ"/>
              </a:rPr>
              <a:t>プラン内</a:t>
            </a:r>
          </a:p>
        </p:txBody>
      </p:sp>
      <p:sp>
        <p:nvSpPr>
          <p:cNvPr id="44" name="Rectangle 43"/>
          <p:cNvSpPr/>
          <p:nvPr/>
        </p:nvSpPr>
        <p:spPr>
          <a:xfrm>
            <a:off x="1968619" y="3916799"/>
            <a:ext cx="4974967"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968619" y="39167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プロフィール・リッチメニュー・あいさつ・初期アンケート・KW自動応答</a:t>
            </a:r>
          </a:p>
        </p:txBody>
      </p:sp>
      <p:sp>
        <p:nvSpPr>
          <p:cNvPr id="46" name="Rectangle 45"/>
          <p:cNvSpPr/>
          <p:nvPr/>
        </p:nvSpPr>
        <p:spPr>
          <a:xfrm>
            <a:off x="6943587" y="39167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943587" y="39167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¥0</a:t>
            </a:r>
          </a:p>
        </p:txBody>
      </p:sp>
      <p:sp>
        <p:nvSpPr>
          <p:cNvPr id="48" name="Rectangle 47"/>
          <p:cNvSpPr/>
          <p:nvPr/>
        </p:nvSpPr>
        <p:spPr>
          <a:xfrm>
            <a:off x="8151793" y="39167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51793" y="39167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¥0</a:t>
            </a:r>
          </a:p>
        </p:txBody>
      </p:sp>
      <p:sp>
        <p:nvSpPr>
          <p:cNvPr id="50" name="Rectangle 49"/>
          <p:cNvSpPr/>
          <p:nvPr/>
        </p:nvSpPr>
        <p:spPr>
          <a:xfrm>
            <a:off x="547200" y="4161599"/>
            <a:ext cx="1421419"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7200" y="4161599"/>
            <a:ext cx="1421419" cy="244800"/>
          </a:xfrm>
          <a:prstGeom prst="rect">
            <a:avLst/>
          </a:prstGeom>
          <a:noFill/>
        </p:spPr>
        <p:txBody>
          <a:bodyPr wrap="square" lIns="21600" tIns="7200" rIns="21600" bIns="7200" anchor="ctr">
            <a:spAutoFit/>
          </a:bodyPr>
          <a:lstStyle/>
          <a:p>
            <a:pPr algn="ctr"/>
            <a:r>
              <a:rPr sz="950" b="0">
                <a:solidFill>
                  <a:srgbClr val="1F285A"/>
                </a:solidFill>
                <a:latin typeface="メイリオ"/>
                <a:ea typeface="メイリオ"/>
                <a:cs typeface="メイリオ"/>
              </a:rPr>
              <a:t>プラン内</a:t>
            </a:r>
          </a:p>
        </p:txBody>
      </p:sp>
      <p:sp>
        <p:nvSpPr>
          <p:cNvPr id="52" name="Rectangle 51"/>
          <p:cNvSpPr/>
          <p:nvPr/>
        </p:nvSpPr>
        <p:spPr>
          <a:xfrm>
            <a:off x="1968619" y="4161599"/>
            <a:ext cx="4974967"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968619" y="41615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ステップ配信・セグメント配信・タグ管理・チャット対応・レポート連携・制作・定例会</a:t>
            </a:r>
          </a:p>
        </p:txBody>
      </p:sp>
      <p:sp>
        <p:nvSpPr>
          <p:cNvPr id="54" name="Rectangle 53"/>
          <p:cNvSpPr/>
          <p:nvPr/>
        </p:nvSpPr>
        <p:spPr>
          <a:xfrm>
            <a:off x="6943587" y="41615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943587" y="41615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¥0</a:t>
            </a:r>
          </a:p>
        </p:txBody>
      </p:sp>
      <p:sp>
        <p:nvSpPr>
          <p:cNvPr id="56" name="Rectangle 55"/>
          <p:cNvSpPr/>
          <p:nvPr/>
        </p:nvSpPr>
        <p:spPr>
          <a:xfrm>
            <a:off x="8151793" y="41615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151793" y="41615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¥0</a:t>
            </a:r>
          </a:p>
        </p:txBody>
      </p:sp>
      <p:sp>
        <p:nvSpPr>
          <p:cNvPr id="58" name="Rectangle 57"/>
          <p:cNvSpPr/>
          <p:nvPr/>
        </p:nvSpPr>
        <p:spPr>
          <a:xfrm>
            <a:off x="547200" y="4406399"/>
            <a:ext cx="1421419"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7200" y="4406399"/>
            <a:ext cx="1421419" cy="2448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アカウント開設</a:t>
            </a:r>
          </a:p>
        </p:txBody>
      </p:sp>
      <p:sp>
        <p:nvSpPr>
          <p:cNvPr id="60" name="Rectangle 59"/>
          <p:cNvSpPr/>
          <p:nvPr/>
        </p:nvSpPr>
        <p:spPr>
          <a:xfrm>
            <a:off x="1968619" y="4406399"/>
            <a:ext cx="4974967"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968619" y="44063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新規に開設する場合のみ（既存アカウントがあれば不要）</a:t>
            </a:r>
          </a:p>
        </p:txBody>
      </p:sp>
      <p:sp>
        <p:nvSpPr>
          <p:cNvPr id="62" name="Rectangle 61"/>
          <p:cNvSpPr/>
          <p:nvPr/>
        </p:nvSpPr>
        <p:spPr>
          <a:xfrm>
            <a:off x="6943587" y="44063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943587" y="44063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¥10,000</a:t>
            </a:r>
          </a:p>
        </p:txBody>
      </p:sp>
      <p:sp>
        <p:nvSpPr>
          <p:cNvPr id="64" name="Rectangle 63"/>
          <p:cNvSpPr/>
          <p:nvPr/>
        </p:nvSpPr>
        <p:spPr>
          <a:xfrm>
            <a:off x="8151793" y="44063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151793" y="44063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a:t>
            </a:r>
          </a:p>
        </p:txBody>
      </p:sp>
      <p:sp>
        <p:nvSpPr>
          <p:cNvPr id="66" name="Rectangle 65"/>
          <p:cNvSpPr/>
          <p:nvPr/>
        </p:nvSpPr>
        <p:spPr>
          <a:xfrm>
            <a:off x="547200" y="4651199"/>
            <a:ext cx="1421419"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47200" y="4651199"/>
            <a:ext cx="1421419"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別途費用</a:t>
            </a:r>
          </a:p>
        </p:txBody>
      </p:sp>
      <p:sp>
        <p:nvSpPr>
          <p:cNvPr id="68" name="Rectangle 67"/>
          <p:cNvSpPr/>
          <p:nvPr/>
        </p:nvSpPr>
        <p:spPr>
          <a:xfrm>
            <a:off x="1968619" y="4651199"/>
            <a:ext cx="4974967"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968619" y="46511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離脱防止ツール（ポップアップ）</a:t>
            </a:r>
          </a:p>
        </p:txBody>
      </p:sp>
      <p:sp>
        <p:nvSpPr>
          <p:cNvPr id="70" name="Rectangle 69"/>
          <p:cNvSpPr/>
          <p:nvPr/>
        </p:nvSpPr>
        <p:spPr>
          <a:xfrm>
            <a:off x="6943587" y="46511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943587" y="46511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¥15,000</a:t>
            </a:r>
          </a:p>
        </p:txBody>
      </p:sp>
      <p:sp>
        <p:nvSpPr>
          <p:cNvPr id="72" name="Rectangle 71"/>
          <p:cNvSpPr/>
          <p:nvPr/>
        </p:nvSpPr>
        <p:spPr>
          <a:xfrm>
            <a:off x="8151793" y="46511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151793" y="46511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¥30,000</a:t>
            </a:r>
          </a:p>
        </p:txBody>
      </p:sp>
      <p:sp>
        <p:nvSpPr>
          <p:cNvPr id="74" name="Rectangle 73"/>
          <p:cNvSpPr/>
          <p:nvPr/>
        </p:nvSpPr>
        <p:spPr>
          <a:xfrm>
            <a:off x="547200" y="4895999"/>
            <a:ext cx="1421419"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7200" y="4895999"/>
            <a:ext cx="1421419"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別途費用</a:t>
            </a:r>
          </a:p>
        </p:txBody>
      </p:sp>
      <p:sp>
        <p:nvSpPr>
          <p:cNvPr id="76" name="Rectangle 75"/>
          <p:cNvSpPr/>
          <p:nvPr/>
        </p:nvSpPr>
        <p:spPr>
          <a:xfrm>
            <a:off x="1968619" y="4895999"/>
            <a:ext cx="4974967"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968619" y="48959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サンクスLINE誘導ツール</a:t>
            </a:r>
          </a:p>
        </p:txBody>
      </p:sp>
      <p:sp>
        <p:nvSpPr>
          <p:cNvPr id="78" name="Rectangle 77"/>
          <p:cNvSpPr/>
          <p:nvPr/>
        </p:nvSpPr>
        <p:spPr>
          <a:xfrm>
            <a:off x="6943587" y="48959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943587" y="48959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¥50,000</a:t>
            </a:r>
          </a:p>
        </p:txBody>
      </p:sp>
      <p:sp>
        <p:nvSpPr>
          <p:cNvPr id="80" name="Rectangle 79"/>
          <p:cNvSpPr/>
          <p:nvPr/>
        </p:nvSpPr>
        <p:spPr>
          <a:xfrm>
            <a:off x="8151793" y="48959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151793" y="48959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¥30,000〜</a:t>
            </a:r>
          </a:p>
        </p:txBody>
      </p:sp>
      <p:sp>
        <p:nvSpPr>
          <p:cNvPr id="82" name="Rectangle 81"/>
          <p:cNvSpPr/>
          <p:nvPr/>
        </p:nvSpPr>
        <p:spPr>
          <a:xfrm>
            <a:off x="547200" y="5140799"/>
            <a:ext cx="1421419"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47200" y="5140799"/>
            <a:ext cx="1421419"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別途費用</a:t>
            </a:r>
          </a:p>
        </p:txBody>
      </p:sp>
      <p:sp>
        <p:nvSpPr>
          <p:cNvPr id="84" name="Rectangle 83"/>
          <p:cNvSpPr/>
          <p:nvPr/>
        </p:nvSpPr>
        <p:spPr>
          <a:xfrm>
            <a:off x="1968619" y="5140799"/>
            <a:ext cx="4974967"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968619" y="51407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APIツール導入／チャットボット機能</a:t>
            </a:r>
          </a:p>
        </p:txBody>
      </p:sp>
      <p:sp>
        <p:nvSpPr>
          <p:cNvPr id="86" name="Rectangle 85"/>
          <p:cNvSpPr/>
          <p:nvPr/>
        </p:nvSpPr>
        <p:spPr>
          <a:xfrm>
            <a:off x="6943587" y="51407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943587" y="51407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¥50,000〜</a:t>
            </a:r>
          </a:p>
        </p:txBody>
      </p:sp>
      <p:sp>
        <p:nvSpPr>
          <p:cNvPr id="88" name="Rectangle 87"/>
          <p:cNvSpPr/>
          <p:nvPr/>
        </p:nvSpPr>
        <p:spPr>
          <a:xfrm>
            <a:off x="8151793" y="51407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151793" y="51407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¥50,000〜</a:t>
            </a:r>
          </a:p>
        </p:txBody>
      </p:sp>
      <p:sp>
        <p:nvSpPr>
          <p:cNvPr id="90" name="Rectangle 89"/>
          <p:cNvSpPr/>
          <p:nvPr/>
        </p:nvSpPr>
        <p:spPr>
          <a:xfrm>
            <a:off x="547200" y="5385599"/>
            <a:ext cx="1421419"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47200" y="5385599"/>
            <a:ext cx="1421419"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別途費用</a:t>
            </a:r>
          </a:p>
        </p:txBody>
      </p:sp>
      <p:sp>
        <p:nvSpPr>
          <p:cNvPr id="92" name="Rectangle 91"/>
          <p:cNvSpPr/>
          <p:nvPr/>
        </p:nvSpPr>
        <p:spPr>
          <a:xfrm>
            <a:off x="1968619" y="5385599"/>
            <a:ext cx="4974967"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968619" y="53855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ID連携（会員サイトとの接続開発）</a:t>
            </a:r>
          </a:p>
        </p:txBody>
      </p:sp>
      <p:sp>
        <p:nvSpPr>
          <p:cNvPr id="94" name="Rectangle 93"/>
          <p:cNvSpPr/>
          <p:nvPr/>
        </p:nvSpPr>
        <p:spPr>
          <a:xfrm>
            <a:off x="6943587" y="53855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943587" y="53855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¥200,000〜</a:t>
            </a:r>
          </a:p>
        </p:txBody>
      </p:sp>
      <p:sp>
        <p:nvSpPr>
          <p:cNvPr id="96" name="Rectangle 95"/>
          <p:cNvSpPr/>
          <p:nvPr/>
        </p:nvSpPr>
        <p:spPr>
          <a:xfrm>
            <a:off x="8151793" y="53855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151793" y="53855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¥50,000〜</a:t>
            </a:r>
          </a:p>
        </p:txBody>
      </p:sp>
      <p:sp>
        <p:nvSpPr>
          <p:cNvPr id="98" name="Rectangle 97"/>
          <p:cNvSpPr/>
          <p:nvPr/>
        </p:nvSpPr>
        <p:spPr>
          <a:xfrm>
            <a:off x="547200" y="5630399"/>
            <a:ext cx="1421419"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547200" y="5630399"/>
            <a:ext cx="1421419"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別途費用</a:t>
            </a:r>
          </a:p>
        </p:txBody>
      </p:sp>
      <p:sp>
        <p:nvSpPr>
          <p:cNvPr id="100" name="Rectangle 99"/>
          <p:cNvSpPr/>
          <p:nvPr/>
        </p:nvSpPr>
        <p:spPr>
          <a:xfrm>
            <a:off x="1968619" y="5630399"/>
            <a:ext cx="4974967"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968619" y="56303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通知メッセージ（電話番号あて配信）</a:t>
            </a:r>
          </a:p>
        </p:txBody>
      </p:sp>
      <p:sp>
        <p:nvSpPr>
          <p:cNvPr id="102" name="Rectangle 101"/>
          <p:cNvSpPr/>
          <p:nvPr/>
        </p:nvSpPr>
        <p:spPr>
          <a:xfrm>
            <a:off x="6943587" y="56303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943587" y="56303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¥200,000</a:t>
            </a:r>
          </a:p>
        </p:txBody>
      </p:sp>
      <p:sp>
        <p:nvSpPr>
          <p:cNvPr id="104" name="Rectangle 103"/>
          <p:cNvSpPr/>
          <p:nvPr/>
        </p:nvSpPr>
        <p:spPr>
          <a:xfrm>
            <a:off x="8151793" y="5630399"/>
            <a:ext cx="1208206" cy="244800"/>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151793" y="5630399"/>
            <a:ext cx="1208206" cy="244800"/>
          </a:xfrm>
          <a:prstGeom prst="rect">
            <a:avLst/>
          </a:prstGeom>
          <a:noFill/>
        </p:spPr>
        <p:txBody>
          <a:bodyPr wrap="square" lIns="21600" tIns="7200" rIns="21600" bIns="7200" anchor="ctr">
            <a:spAutoFit/>
          </a:bodyPr>
          <a:lstStyle/>
          <a:p>
            <a:pPr algn="ctr"/>
            <a:r>
              <a:rPr sz="950" b="0">
                <a:solidFill>
                  <a:srgbClr val="C00000"/>
                </a:solidFill>
                <a:latin typeface="メイリオ"/>
                <a:ea typeface="メイリオ"/>
                <a:cs typeface="メイリオ"/>
              </a:rPr>
              <a:t>¥600,000</a:t>
            </a:r>
          </a:p>
        </p:txBody>
      </p:sp>
      <p:sp>
        <p:nvSpPr>
          <p:cNvPr id="106" name="Rectangle 105"/>
          <p:cNvSpPr/>
          <p:nvPr/>
        </p:nvSpPr>
        <p:spPr>
          <a:xfrm>
            <a:off x="547200" y="5875199"/>
            <a:ext cx="1421419"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47200" y="5875199"/>
            <a:ext cx="1421419" cy="244800"/>
          </a:xfrm>
          <a:prstGeom prst="rect">
            <a:avLst/>
          </a:prstGeom>
          <a:noFill/>
        </p:spPr>
        <p:txBody>
          <a:bodyPr wrap="square" lIns="21600" tIns="7200" rIns="21600" bIns="7200" anchor="ctr">
            <a:spAutoFit/>
          </a:bodyPr>
          <a:lstStyle/>
          <a:p>
            <a:pPr algn="ctr"/>
            <a:r>
              <a:rPr sz="950" b="0">
                <a:solidFill>
                  <a:srgbClr val="7F7F7F"/>
                </a:solidFill>
                <a:latin typeface="メイリオ"/>
                <a:ea typeface="メイリオ"/>
                <a:cs typeface="メイリオ"/>
              </a:rPr>
              <a:t>媒体費</a:t>
            </a:r>
          </a:p>
        </p:txBody>
      </p:sp>
      <p:sp>
        <p:nvSpPr>
          <p:cNvPr id="108" name="Rectangle 107"/>
          <p:cNvSpPr/>
          <p:nvPr/>
        </p:nvSpPr>
        <p:spPr>
          <a:xfrm>
            <a:off x="1968619" y="5875199"/>
            <a:ext cx="4974967"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968619" y="5875199"/>
            <a:ext cx="4974967" cy="244800"/>
          </a:xfrm>
          <a:prstGeom prst="rect">
            <a:avLst/>
          </a:prstGeom>
          <a:noFill/>
        </p:spPr>
        <p:txBody>
          <a:bodyPr wrap="square" lIns="21600" tIns="7200" rIns="21600" bIns="7200" anchor="ctr">
            <a:spAutoFit/>
          </a:bodyPr>
          <a:lstStyle/>
          <a:p>
            <a:pPr algn="l"/>
            <a:r>
              <a:rPr sz="950" b="0">
                <a:solidFill>
                  <a:srgbClr val="333333"/>
                </a:solidFill>
                <a:latin typeface="メイリオ"/>
                <a:ea typeface="メイリオ"/>
                <a:cs typeface="メイリオ"/>
              </a:rPr>
              <a:t>LINE公式アカウントの月額プラン費（LINEヤフー社へお支払い）</a:t>
            </a:r>
          </a:p>
        </p:txBody>
      </p:sp>
      <p:sp>
        <p:nvSpPr>
          <p:cNvPr id="110" name="Rectangle 109"/>
          <p:cNvSpPr/>
          <p:nvPr/>
        </p:nvSpPr>
        <p:spPr>
          <a:xfrm>
            <a:off x="6943587" y="58751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943587" y="58751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a:t>
            </a:r>
          </a:p>
        </p:txBody>
      </p:sp>
      <p:sp>
        <p:nvSpPr>
          <p:cNvPr id="112" name="Rectangle 111"/>
          <p:cNvSpPr/>
          <p:nvPr/>
        </p:nvSpPr>
        <p:spPr>
          <a:xfrm>
            <a:off x="8151793" y="5875199"/>
            <a:ext cx="1208206" cy="244800"/>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51793" y="5875199"/>
            <a:ext cx="1208206" cy="244800"/>
          </a:xfrm>
          <a:prstGeom prst="rect">
            <a:avLst/>
          </a:prstGeom>
          <a:noFill/>
        </p:spPr>
        <p:txBody>
          <a:bodyPr wrap="square" lIns="21600" tIns="7200" rIns="21600" bIns="7200" anchor="ctr">
            <a:spAutoFit/>
          </a:bodyPr>
          <a:lstStyle/>
          <a:p>
            <a:pPr algn="ctr"/>
            <a:r>
              <a:rPr sz="950" b="0">
                <a:solidFill>
                  <a:srgbClr val="333333"/>
                </a:solidFill>
                <a:latin typeface="メイリオ"/>
                <a:ea typeface="メイリオ"/>
                <a:cs typeface="メイリオ"/>
              </a:rPr>
              <a:t>配信数による</a:t>
            </a:r>
          </a:p>
        </p:txBody>
      </p:sp>
      <p:sp>
        <p:nvSpPr>
          <p:cNvPr id="114" name="TextBox 113"/>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※金額はすべて税別です。契約期間は6か月〜となります。企画投稿の本数はプランにより異なります。</a:t>
            </a:r>
          </a:p>
          <a:p>
            <a:pPr algn="l"/>
            <a:r>
              <a:rPr sz="850" b="0">
                <a:solidFill>
                  <a:srgbClr val="7F7F7F"/>
                </a:solidFill>
                <a:latin typeface="メイリオ"/>
                <a:ea typeface="メイリオ"/>
                <a:cs typeface="メイリオ"/>
              </a:rPr>
              <a:t>※通知メッセージは友だち以外にも届く機能のため費用が大きく、利用シーンを絞ったうえでご提案します。導入は必須ではありません。</a:t>
            </a:r>
          </a:p>
        </p:txBody>
      </p:sp>
    </p:spTree>
    <p:extLst>
      <p:ext uri="{BB962C8B-B14F-4D97-AF65-F5344CB8AC3E}">
        <p14:creationId xmlns:p14="http://schemas.microsoft.com/office/powerpoint/2010/main" val="3845543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推奨プラン｜まずは月20万円で3か月、実測してから決める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4プランのうち、注文住宅では「コンサル基本プラン」を推奨します。</a:t>
            </a:r>
          </a:p>
          <a:p>
            <a:pPr algn="l">
              <a:spcAft>
                <a:spcPts val="300"/>
              </a:spcAft>
            </a:pPr>
            <a:r>
              <a:rPr sz="1250" b="1">
                <a:solidFill>
                  <a:srgbClr val="333333"/>
                </a:solidFill>
                <a:latin typeface="メイリオ"/>
                <a:ea typeface="メイリオ"/>
                <a:cs typeface="メイリオ"/>
              </a:rPr>
              <a:t>最初から大きな固定費を持たず、3か月の実測を見てから継続を判断できる形です。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73999"/>
            <a:ext cx="4582656" cy="2556000"/>
          </a:xfrm>
          <a:prstGeom prst="roundRect">
            <a:avLst>
              <a:gd name="adj" fmla="val 6000"/>
            </a:avLst>
          </a:prstGeom>
          <a:solidFill>
            <a:srgbClr val="F4F7FF"/>
          </a:solidFill>
          <a:ln w="2286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7200" y="1835999"/>
            <a:ext cx="1152000" cy="34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7200" y="1835999"/>
            <a:ext cx="1152000" cy="342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推奨</a:t>
            </a:r>
          </a:p>
        </p:txBody>
      </p:sp>
      <p:sp>
        <p:nvSpPr>
          <p:cNvPr id="8" name="TextBox 7"/>
          <p:cNvSpPr txBox="1"/>
          <p:nvPr/>
        </p:nvSpPr>
        <p:spPr>
          <a:xfrm>
            <a:off x="799199" y="2304000"/>
            <a:ext cx="4078656" cy="396000"/>
          </a:xfrm>
          <a:prstGeom prst="rect">
            <a:avLst/>
          </a:prstGeom>
          <a:noFill/>
        </p:spPr>
        <p:txBody>
          <a:bodyPr wrap="square" lIns="21600" tIns="7200" rIns="21600" bIns="7200" anchor="t">
            <a:spAutoFit/>
          </a:bodyPr>
          <a:lstStyle/>
          <a:p>
            <a:pPr algn="l"/>
            <a:r>
              <a:rPr sz="1900" b="1">
                <a:solidFill>
                  <a:srgbClr val="1F285A"/>
                </a:solidFill>
                <a:latin typeface="メイリオ"/>
                <a:ea typeface="メイリオ"/>
                <a:cs typeface="メイリオ"/>
              </a:rPr>
              <a:t>コンサル基本プラン</a:t>
            </a:r>
          </a:p>
        </p:txBody>
      </p:sp>
      <p:cxnSp>
        <p:nvCxnSpPr>
          <p:cNvPr id="9" name="Connector 8"/>
          <p:cNvCxnSpPr/>
          <p:nvPr/>
        </p:nvCxnSpPr>
        <p:spPr>
          <a:xfrm>
            <a:off x="799199" y="2754000"/>
            <a:ext cx="4078657" cy="0"/>
          </a:xfrm>
          <a:prstGeom prst="line">
            <a:avLst/>
          </a:prstGeom>
          <a:ln w="9525">
            <a:solidFill>
              <a:srgbClr val="1F285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99199" y="2844000"/>
            <a:ext cx="4078656" cy="684000"/>
          </a:xfrm>
          <a:prstGeom prst="rect">
            <a:avLst/>
          </a:prstGeom>
          <a:noFill/>
        </p:spPr>
        <p:txBody>
          <a:bodyPr wrap="square" lIns="21600" tIns="7200" rIns="21600" bIns="7200" anchor="t">
            <a:spAutoFit/>
          </a:bodyPr>
          <a:lstStyle/>
          <a:p>
            <a:pPr algn="l">
              <a:spcAft>
                <a:spcPts val="500"/>
              </a:spcAft>
            </a:pPr>
            <a:r>
              <a:rPr sz="1900" b="1">
                <a:solidFill>
                  <a:srgbClr val="ED7D31"/>
                </a:solidFill>
                <a:latin typeface="メイリオ"/>
                <a:ea typeface="メイリオ"/>
                <a:cs typeface="メイリオ"/>
              </a:rPr>
              <a:t>初期 10万円　＋　月額 20万円</a:t>
            </a:r>
          </a:p>
          <a:p>
            <a:pPr algn="l"/>
            <a:r>
              <a:rPr sz="1200" b="1">
                <a:solidFill>
                  <a:srgbClr val="333333"/>
                </a:solidFill>
                <a:latin typeface="メイリオ"/>
                <a:ea typeface="メイリオ"/>
                <a:cs typeface="メイリオ"/>
              </a:rPr>
              <a:t>企画投稿3本／レポート・定例会つき</a:t>
            </a:r>
          </a:p>
        </p:txBody>
      </p:sp>
      <p:sp>
        <p:nvSpPr>
          <p:cNvPr id="11" name="TextBox 10"/>
          <p:cNvSpPr txBox="1"/>
          <p:nvPr/>
        </p:nvSpPr>
        <p:spPr>
          <a:xfrm>
            <a:off x="799199" y="3563999"/>
            <a:ext cx="4078656" cy="540000"/>
          </a:xfrm>
          <a:prstGeom prst="rect">
            <a:avLst/>
          </a:prstGeom>
          <a:noFill/>
        </p:spPr>
        <p:txBody>
          <a:bodyPr wrap="square" lIns="21600" tIns="7200" rIns="21600" bIns="7200" anchor="t">
            <a:spAutoFit/>
          </a:bodyPr>
          <a:lstStyle/>
          <a:p>
            <a:pPr algn="l">
              <a:spcAft>
                <a:spcPts val="400"/>
              </a:spcAft>
            </a:pPr>
            <a:r>
              <a:rPr sz="1100" b="0">
                <a:solidFill>
                  <a:srgbClr val="333333"/>
                </a:solidFill>
                <a:latin typeface="メイリオ"/>
                <a:ea typeface="メイリオ"/>
                <a:cs typeface="メイリオ"/>
              </a:rPr>
              <a:t>構築・配信・レポートまで込みです。定例会は3か月に1回。</a:t>
            </a:r>
          </a:p>
          <a:p>
            <a:pPr algn="l"/>
            <a:r>
              <a:rPr sz="1100" b="0">
                <a:solidFill>
                  <a:srgbClr val="333333"/>
                </a:solidFill>
                <a:latin typeface="メイリオ"/>
                <a:ea typeface="メイリオ"/>
                <a:cs typeface="メイリオ"/>
              </a:rPr>
              <a:t>成果が確認できたら月30万円（5投稿・定例会 毎月）へ上げられます。</a:t>
            </a:r>
          </a:p>
        </p:txBody>
      </p:sp>
      <p:sp>
        <p:nvSpPr>
          <p:cNvPr id="12" name="TextBox 11"/>
          <p:cNvSpPr txBox="1"/>
          <p:nvPr/>
        </p:nvSpPr>
        <p:spPr>
          <a:xfrm>
            <a:off x="5394240" y="1673999"/>
            <a:ext cx="3965759" cy="2700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この4つが理由です</a:t>
            </a:r>
          </a:p>
        </p:txBody>
      </p:sp>
      <p:sp>
        <p:nvSpPr>
          <p:cNvPr id="13" name="Rounded Rectangle 12"/>
          <p:cNvSpPr/>
          <p:nvPr/>
        </p:nvSpPr>
        <p:spPr>
          <a:xfrm>
            <a:off x="5394240" y="1961999"/>
            <a:ext cx="3965759" cy="558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20240" y="2026799"/>
            <a:ext cx="3713759" cy="216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最初の1〜2か月で導線とステップ配信を作り切れる</a:t>
            </a:r>
          </a:p>
        </p:txBody>
      </p:sp>
      <p:sp>
        <p:nvSpPr>
          <p:cNvPr id="15" name="TextBox 14"/>
          <p:cNvSpPr txBox="1"/>
          <p:nvPr/>
        </p:nvSpPr>
        <p:spPr>
          <a:xfrm>
            <a:off x="5520240" y="2249999"/>
            <a:ext cx="3713759" cy="23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友だち追加動線・14日ステップ・リッチメニューまで初期費用10万円に含まれます</a:t>
            </a:r>
          </a:p>
        </p:txBody>
      </p:sp>
      <p:sp>
        <p:nvSpPr>
          <p:cNvPr id="16" name="Rounded Rectangle 15"/>
          <p:cNvSpPr/>
          <p:nvPr/>
        </p:nvSpPr>
        <p:spPr>
          <a:xfrm>
            <a:off x="5394240" y="2556000"/>
            <a:ext cx="3965759" cy="558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20240" y="2620800"/>
            <a:ext cx="3713759" cy="216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3か月目に実測データで継続を判断できる</a:t>
            </a:r>
          </a:p>
        </p:txBody>
      </p:sp>
      <p:sp>
        <p:nvSpPr>
          <p:cNvPr id="18" name="TextBox 17"/>
          <p:cNvSpPr txBox="1"/>
          <p:nvPr/>
        </p:nvSpPr>
        <p:spPr>
          <a:xfrm>
            <a:off x="5520240" y="2844000"/>
            <a:ext cx="3713759" cy="23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友だち化率と来場転換率が出るので、勘ではなく数字で判断できます</a:t>
            </a:r>
          </a:p>
        </p:txBody>
      </p:sp>
      <p:sp>
        <p:nvSpPr>
          <p:cNvPr id="19" name="Rounded Rectangle 18"/>
          <p:cNvSpPr/>
          <p:nvPr/>
        </p:nvSpPr>
        <p:spPr>
          <a:xfrm>
            <a:off x="5394240" y="3150000"/>
            <a:ext cx="3965759" cy="558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20240" y="3214800"/>
            <a:ext cx="3713759" cy="216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最初から大きな固定費を抱えない</a:t>
            </a:r>
          </a:p>
        </p:txBody>
      </p:sp>
      <p:sp>
        <p:nvSpPr>
          <p:cNvPr id="21" name="TextBox 20"/>
          <p:cNvSpPr txBox="1"/>
          <p:nvPr/>
        </p:nvSpPr>
        <p:spPr>
          <a:xfrm>
            <a:off x="5520240" y="3438000"/>
            <a:ext cx="3713759" cy="23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月20万円は来場0.3件分の粗利で回収できる水準です</a:t>
            </a:r>
          </a:p>
        </p:txBody>
      </p:sp>
      <p:sp>
        <p:nvSpPr>
          <p:cNvPr id="22" name="Rounded Rectangle 21"/>
          <p:cNvSpPr/>
          <p:nvPr/>
        </p:nvSpPr>
        <p:spPr>
          <a:xfrm>
            <a:off x="5394240" y="3744000"/>
            <a:ext cx="3965759" cy="558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20240" y="3808800"/>
            <a:ext cx="3713759" cy="216000"/>
          </a:xfrm>
          <a:prstGeom prst="rect">
            <a:avLst/>
          </a:prstGeom>
          <a:noFill/>
        </p:spPr>
        <p:txBody>
          <a:bodyPr wrap="square" lIns="21600" tIns="7200" rIns="21600" bIns="7200" anchor="t">
            <a:spAutoFit/>
          </a:bodyPr>
          <a:lstStyle/>
          <a:p>
            <a:pPr algn="l"/>
            <a:r>
              <a:rPr sz="1100" b="1">
                <a:solidFill>
                  <a:srgbClr val="1F285A"/>
                </a:solidFill>
                <a:latin typeface="メイリオ"/>
                <a:ea typeface="メイリオ"/>
                <a:cs typeface="メイリオ"/>
              </a:rPr>
              <a:t>成果が出れば投稿数を増やして拡大できる</a:t>
            </a:r>
          </a:p>
        </p:txBody>
      </p:sp>
      <p:sp>
        <p:nvSpPr>
          <p:cNvPr id="24" name="TextBox 23"/>
          <p:cNvSpPr txBox="1"/>
          <p:nvPr/>
        </p:nvSpPr>
        <p:spPr>
          <a:xfrm>
            <a:off x="5520240" y="4032000"/>
            <a:ext cx="3713759" cy="234000"/>
          </a:xfrm>
          <a:prstGeom prst="rect">
            <a:avLst/>
          </a:prstGeom>
          <a:noFill/>
        </p:spPr>
        <p:txBody>
          <a:bodyPr wrap="square" lIns="21600" tIns="7200" rIns="21600" bIns="7200" anchor="t">
            <a:spAutoFit/>
          </a:bodyPr>
          <a:lstStyle/>
          <a:p>
            <a:pPr algn="l"/>
            <a:r>
              <a:rPr sz="950" b="0">
                <a:solidFill>
                  <a:srgbClr val="333333"/>
                </a:solidFill>
                <a:latin typeface="メイリオ"/>
                <a:ea typeface="メイリオ"/>
                <a:cs typeface="メイリオ"/>
              </a:rPr>
              <a:t>20万→30万→50万と、成果に合わせて段階的に上げられます</a:t>
            </a:r>
          </a:p>
        </p:txBody>
      </p:sp>
      <p:sp>
        <p:nvSpPr>
          <p:cNvPr id="25" name="Rounded Rectangle 24"/>
          <p:cNvSpPr/>
          <p:nvPr/>
        </p:nvSpPr>
        <p:spPr>
          <a:xfrm>
            <a:off x="547200" y="4428000"/>
            <a:ext cx="8812800" cy="1080000"/>
          </a:xfrm>
          <a:prstGeom prst="roundRect">
            <a:avLst>
              <a:gd name="adj" fmla="val 6000"/>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7200" y="4536000"/>
            <a:ext cx="8452800" cy="270000"/>
          </a:xfrm>
          <a:prstGeom prst="rect">
            <a:avLst/>
          </a:prstGeom>
          <a:noFill/>
        </p:spPr>
        <p:txBody>
          <a:bodyPr wrap="square" lIns="21600" tIns="7200" rIns="21600" bIns="7200" anchor="t">
            <a:spAutoFit/>
          </a:bodyPr>
          <a:lstStyle/>
          <a:p>
            <a:pPr algn="l"/>
            <a:r>
              <a:rPr sz="1250" b="1">
                <a:solidFill>
                  <a:srgbClr val="7F7F7F"/>
                </a:solidFill>
                <a:latin typeface="メイリオ"/>
                <a:ea typeface="メイリオ"/>
                <a:cs typeface="メイリオ"/>
              </a:rPr>
              <a:t>成果報酬型をおすすめしない理由</a:t>
            </a:r>
          </a:p>
        </p:txBody>
      </p:sp>
      <p:sp>
        <p:nvSpPr>
          <p:cNvPr id="27" name="TextBox 26"/>
          <p:cNvSpPr txBox="1"/>
          <p:nvPr/>
        </p:nvSpPr>
        <p:spPr>
          <a:xfrm>
            <a:off x="727200" y="4823999"/>
            <a:ext cx="8452800" cy="648000"/>
          </a:xfrm>
          <a:prstGeom prst="rect">
            <a:avLst/>
          </a:prstGeom>
          <a:noFill/>
        </p:spPr>
        <p:txBody>
          <a:bodyPr wrap="square" lIns="21600" tIns="7200" rIns="21600" bIns="7200" anchor="t">
            <a:spAutoFit/>
          </a:bodyPr>
          <a:lstStyle/>
          <a:p>
            <a:pPr algn="l">
              <a:spcAft>
                <a:spcPts val="400"/>
              </a:spcAft>
            </a:pPr>
            <a:r>
              <a:rPr sz="1100" b="0">
                <a:solidFill>
                  <a:srgbClr val="333333"/>
                </a:solidFill>
                <a:latin typeface="メイリオ"/>
                <a:ea typeface="メイリオ"/>
                <a:cs typeface="メイリオ"/>
              </a:rPr>
              <a:t>成果報酬は成果1件ごとの課金です。来場予約の単価を業界水準（8〜15万円）に合わせると、月15件で120万円を超え、コンサル基本プランより高くなります。</a:t>
            </a:r>
          </a:p>
          <a:p>
            <a:pPr algn="l"/>
            <a:r>
              <a:rPr sz="1100" b="1">
                <a:solidFill>
                  <a:srgbClr val="333333"/>
                </a:solidFill>
                <a:latin typeface="メイリオ"/>
                <a:ea typeface="メイリオ"/>
                <a:cs typeface="メイリオ"/>
              </a:rPr>
              <a:t>1棟の粗利が大きく、CV単価も高い注文住宅では、固定費型のほうが貴社の負担は軽くなります。</a:t>
            </a:r>
          </a:p>
        </p:txBody>
      </p:sp>
      <p:sp>
        <p:nvSpPr>
          <p:cNvPr id="28" name="Rounded Rectangle 27"/>
          <p:cNvSpPr/>
          <p:nvPr/>
        </p:nvSpPr>
        <p:spPr>
          <a:xfrm>
            <a:off x="547200" y="5706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小さく始めて、3か月の数字を見てから決める</a:t>
            </a:r>
          </a:p>
        </p:txBody>
      </p:sp>
      <p:sp>
        <p:nvSpPr>
          <p:cNvPr id="29" name="TextBox 28"/>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※金額は税別です。契約期間は6か月〜となります。外部ツール・API開発が必要な場合は別途費用が発生します。</a:t>
            </a:r>
          </a:p>
        </p:txBody>
      </p:sp>
    </p:spTree>
    <p:extLst>
      <p:ext uri="{BB962C8B-B14F-4D97-AF65-F5344CB8AC3E}">
        <p14:creationId xmlns:p14="http://schemas.microsoft.com/office/powerpoint/2010/main" val="901063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導入｜まず90日で、ここまでやります</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1か月目に作り切り、2か月目から配信を回して、3か月目に数字で判断します。</a:t>
            </a:r>
          </a:p>
          <a:p>
            <a:pPr algn="l">
              <a:spcAft>
                <a:spcPts val="300"/>
              </a:spcAft>
            </a:pPr>
            <a:r>
              <a:rPr sz="1250" b="1">
                <a:solidFill>
                  <a:srgbClr val="333333"/>
                </a:solidFill>
                <a:latin typeface="メイリオ"/>
                <a:ea typeface="メイリオ"/>
                <a:cs typeface="メイリオ"/>
              </a:rPr>
              <a:t>貴社にご対応いただくのは、実例写真のご提供と最終確認だけです。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92000"/>
            <a:ext cx="2793600" cy="3311999"/>
          </a:xfrm>
          <a:prstGeom prst="roundRect">
            <a:avLst>
              <a:gd name="adj" fmla="val 6000"/>
            </a:avLst>
          </a:prstGeom>
          <a:solidFill>
            <a:srgbClr val="FFFFFF"/>
          </a:solidFill>
          <a:ln w="1778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7200" y="1692000"/>
            <a:ext cx="2793600" cy="413999"/>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1692000"/>
            <a:ext cx="2793600" cy="413999"/>
          </a:xfrm>
          <a:prstGeom prst="rect">
            <a:avLst/>
          </a:prstGeom>
          <a:noFill/>
        </p:spPr>
        <p:txBody>
          <a:bodyPr wrap="square" lIns="21600" tIns="7200" rIns="21600" bIns="7200" anchor="ctr">
            <a:spAutoFit/>
          </a:bodyPr>
          <a:lstStyle/>
          <a:p>
            <a:pPr algn="ctr"/>
            <a:r>
              <a:rPr sz="1300" b="1">
                <a:solidFill>
                  <a:srgbClr val="FFFFFF"/>
                </a:solidFill>
                <a:latin typeface="メイリオ"/>
                <a:ea typeface="メイリオ"/>
                <a:cs typeface="メイリオ"/>
              </a:rPr>
              <a:t>1か月目　設計・構築</a:t>
            </a:r>
          </a:p>
        </p:txBody>
      </p:sp>
      <p:sp>
        <p:nvSpPr>
          <p:cNvPr id="8" name="TextBox 7"/>
          <p:cNvSpPr txBox="1"/>
          <p:nvPr/>
        </p:nvSpPr>
        <p:spPr>
          <a:xfrm>
            <a:off x="691200" y="2231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・LINEアカウントの整理・初期設定</a:t>
            </a:r>
          </a:p>
        </p:txBody>
      </p:sp>
      <p:sp>
        <p:nvSpPr>
          <p:cNvPr id="9" name="TextBox 8"/>
          <p:cNvSpPr txBox="1"/>
          <p:nvPr/>
        </p:nvSpPr>
        <p:spPr>
          <a:xfrm>
            <a:off x="691200" y="2699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・離脱防止の導線設計</a:t>
            </a:r>
          </a:p>
        </p:txBody>
      </p:sp>
      <p:sp>
        <p:nvSpPr>
          <p:cNvPr id="10" name="TextBox 9"/>
          <p:cNvSpPr txBox="1"/>
          <p:nvPr/>
        </p:nvSpPr>
        <p:spPr>
          <a:xfrm>
            <a:off x="691200" y="3167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・60秒 予算診断の設計</a:t>
            </a:r>
          </a:p>
        </p:txBody>
      </p:sp>
      <p:sp>
        <p:nvSpPr>
          <p:cNvPr id="11" name="TextBox 10"/>
          <p:cNvSpPr txBox="1"/>
          <p:nvPr/>
        </p:nvSpPr>
        <p:spPr>
          <a:xfrm>
            <a:off x="691200" y="3636000"/>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・リッチメニュー18枠の制作</a:t>
            </a:r>
          </a:p>
        </p:txBody>
      </p:sp>
      <p:sp>
        <p:nvSpPr>
          <p:cNvPr id="12" name="TextBox 11"/>
          <p:cNvSpPr txBox="1"/>
          <p:nvPr/>
        </p:nvSpPr>
        <p:spPr>
          <a:xfrm>
            <a:off x="691200" y="4104000"/>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・14日ステップの文面作成</a:t>
            </a:r>
          </a:p>
        </p:txBody>
      </p:sp>
      <p:sp>
        <p:nvSpPr>
          <p:cNvPr id="13" name="Rounded Rectangle 12"/>
          <p:cNvSpPr/>
          <p:nvPr/>
        </p:nvSpPr>
        <p:spPr>
          <a:xfrm>
            <a:off x="673200" y="4500000"/>
            <a:ext cx="2541600" cy="413999"/>
          </a:xfrm>
          <a:prstGeom prst="roundRect">
            <a:avLst>
              <a:gd name="adj" fmla="val 14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9200" y="4500000"/>
            <a:ext cx="2469600" cy="413999"/>
          </a:xfrm>
          <a:prstGeom prst="rect">
            <a:avLst/>
          </a:prstGeom>
          <a:noFill/>
        </p:spPr>
        <p:txBody>
          <a:bodyPr wrap="square" lIns="21600" tIns="7200" rIns="21600" bIns="7200" anchor="ctr">
            <a:spAutoFit/>
          </a:bodyPr>
          <a:lstStyle/>
          <a:p>
            <a:pPr algn="ctr"/>
            <a:r>
              <a:rPr sz="1000" b="1">
                <a:solidFill>
                  <a:srgbClr val="1F285A"/>
                </a:solidFill>
                <a:latin typeface="メイリオ"/>
                <a:ea typeface="メイリオ"/>
                <a:cs typeface="メイリオ"/>
              </a:rPr>
              <a:t>貴社のご対応：写真のご提供と確認のみ</a:t>
            </a:r>
          </a:p>
        </p:txBody>
      </p:sp>
      <p:sp>
        <p:nvSpPr>
          <p:cNvPr id="15" name="TextBox 14"/>
          <p:cNvSpPr txBox="1"/>
          <p:nvPr/>
        </p:nvSpPr>
        <p:spPr>
          <a:xfrm>
            <a:off x="3340800" y="3168000"/>
            <a:ext cx="216000" cy="360000"/>
          </a:xfrm>
          <a:prstGeom prst="rect">
            <a:avLst/>
          </a:prstGeom>
          <a:noFill/>
        </p:spPr>
        <p:txBody>
          <a:bodyPr wrap="square" lIns="21600" tIns="7200" rIns="21600" bIns="7200" anchor="ctr">
            <a:spAutoFit/>
          </a:bodyPr>
          <a:lstStyle/>
          <a:p>
            <a:pPr algn="ctr"/>
            <a:r>
              <a:rPr sz="1400" b="1">
                <a:solidFill>
                  <a:srgbClr val="7F7F7F"/>
                </a:solidFill>
                <a:latin typeface="メイリオ"/>
                <a:ea typeface="メイリオ"/>
                <a:cs typeface="メイリオ"/>
              </a:rPr>
              <a:t>▶</a:t>
            </a:r>
          </a:p>
        </p:txBody>
      </p:sp>
      <p:sp>
        <p:nvSpPr>
          <p:cNvPr id="16" name="Rounded Rectangle 15"/>
          <p:cNvSpPr/>
          <p:nvPr/>
        </p:nvSpPr>
        <p:spPr>
          <a:xfrm>
            <a:off x="3556800" y="1692000"/>
            <a:ext cx="2793600" cy="3311999"/>
          </a:xfrm>
          <a:prstGeom prst="roundRect">
            <a:avLst>
              <a:gd name="adj" fmla="val 6000"/>
            </a:avLst>
          </a:prstGeom>
          <a:solidFill>
            <a:srgbClr val="FFFFFF"/>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556800" y="1692000"/>
            <a:ext cx="2793600" cy="413999"/>
          </a:xfrm>
          <a:prstGeom prst="roundRect">
            <a:avLst>
              <a:gd name="adj" fmla="val 13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56800" y="1692000"/>
            <a:ext cx="2793600" cy="413999"/>
          </a:xfrm>
          <a:prstGeom prst="rect">
            <a:avLst/>
          </a:prstGeom>
          <a:noFill/>
        </p:spPr>
        <p:txBody>
          <a:bodyPr wrap="square" lIns="21600" tIns="7200" rIns="21600" bIns="7200" anchor="ctr">
            <a:spAutoFit/>
          </a:bodyPr>
          <a:lstStyle/>
          <a:p>
            <a:pPr algn="ctr"/>
            <a:r>
              <a:rPr sz="1300" b="1">
                <a:solidFill>
                  <a:srgbClr val="FFFFFF"/>
                </a:solidFill>
                <a:latin typeface="メイリオ"/>
                <a:ea typeface="メイリオ"/>
                <a:cs typeface="メイリオ"/>
              </a:rPr>
              <a:t>2か月目　配信開始・計測</a:t>
            </a:r>
          </a:p>
        </p:txBody>
      </p:sp>
      <p:sp>
        <p:nvSpPr>
          <p:cNvPr id="19" name="TextBox 18"/>
          <p:cNvSpPr txBox="1"/>
          <p:nvPr/>
        </p:nvSpPr>
        <p:spPr>
          <a:xfrm>
            <a:off x="3700800" y="2231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・離脱防止ポップアップの稼働</a:t>
            </a:r>
          </a:p>
        </p:txBody>
      </p:sp>
      <p:sp>
        <p:nvSpPr>
          <p:cNvPr id="20" name="TextBox 19"/>
          <p:cNvSpPr txBox="1"/>
          <p:nvPr/>
        </p:nvSpPr>
        <p:spPr>
          <a:xfrm>
            <a:off x="3700800" y="2699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・14日ステップ配信の開始</a:t>
            </a:r>
          </a:p>
        </p:txBody>
      </p:sp>
      <p:sp>
        <p:nvSpPr>
          <p:cNvPr id="21" name="TextBox 20"/>
          <p:cNvSpPr txBox="1"/>
          <p:nvPr/>
        </p:nvSpPr>
        <p:spPr>
          <a:xfrm>
            <a:off x="3700800" y="3167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・前日リマインドの運用開始</a:t>
            </a:r>
          </a:p>
        </p:txBody>
      </p:sp>
      <p:sp>
        <p:nvSpPr>
          <p:cNvPr id="22" name="TextBox 21"/>
          <p:cNvSpPr txBox="1"/>
          <p:nvPr/>
        </p:nvSpPr>
        <p:spPr>
          <a:xfrm>
            <a:off x="3700800" y="3636000"/>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・友だち化率の計測</a:t>
            </a:r>
          </a:p>
        </p:txBody>
      </p:sp>
      <p:sp>
        <p:nvSpPr>
          <p:cNvPr id="23" name="TextBox 22"/>
          <p:cNvSpPr txBox="1"/>
          <p:nvPr/>
        </p:nvSpPr>
        <p:spPr>
          <a:xfrm>
            <a:off x="3700800" y="4104000"/>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・キーワード自動応答の拡充</a:t>
            </a:r>
          </a:p>
        </p:txBody>
      </p:sp>
      <p:sp>
        <p:nvSpPr>
          <p:cNvPr id="24" name="Rounded Rectangle 23"/>
          <p:cNvSpPr/>
          <p:nvPr/>
        </p:nvSpPr>
        <p:spPr>
          <a:xfrm>
            <a:off x="3682800" y="4500000"/>
            <a:ext cx="2541600" cy="413999"/>
          </a:xfrm>
          <a:prstGeom prst="roundRect">
            <a:avLst>
              <a:gd name="adj" fmla="val 14000"/>
            </a:avLst>
          </a:prstGeom>
          <a:solidFill>
            <a:srgbClr val="F4F7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718800" y="4500000"/>
            <a:ext cx="2469600" cy="413999"/>
          </a:xfrm>
          <a:prstGeom prst="rect">
            <a:avLst/>
          </a:prstGeom>
          <a:noFill/>
        </p:spPr>
        <p:txBody>
          <a:bodyPr wrap="square" lIns="21600" tIns="7200" rIns="21600" bIns="7200" anchor="ctr">
            <a:spAutoFit/>
          </a:bodyPr>
          <a:lstStyle/>
          <a:p>
            <a:pPr algn="ctr"/>
            <a:r>
              <a:rPr sz="1000" b="1">
                <a:solidFill>
                  <a:srgbClr val="ED7D31"/>
                </a:solidFill>
                <a:latin typeface="メイリオ"/>
                <a:ea typeface="メイリオ"/>
                <a:cs typeface="メイリオ"/>
              </a:rPr>
              <a:t>この月に ① 友だち化率 が出ます</a:t>
            </a:r>
          </a:p>
        </p:txBody>
      </p:sp>
      <p:sp>
        <p:nvSpPr>
          <p:cNvPr id="26" name="TextBox 25"/>
          <p:cNvSpPr txBox="1"/>
          <p:nvPr/>
        </p:nvSpPr>
        <p:spPr>
          <a:xfrm>
            <a:off x="6350400" y="3168000"/>
            <a:ext cx="216000" cy="360000"/>
          </a:xfrm>
          <a:prstGeom prst="rect">
            <a:avLst/>
          </a:prstGeom>
          <a:noFill/>
        </p:spPr>
        <p:txBody>
          <a:bodyPr wrap="square" lIns="21600" tIns="7200" rIns="21600" bIns="7200" anchor="ctr">
            <a:spAutoFit/>
          </a:bodyPr>
          <a:lstStyle/>
          <a:p>
            <a:pPr algn="ctr"/>
            <a:r>
              <a:rPr sz="1400" b="1">
                <a:solidFill>
                  <a:srgbClr val="7F7F7F"/>
                </a:solidFill>
                <a:latin typeface="メイリオ"/>
                <a:ea typeface="メイリオ"/>
                <a:cs typeface="メイリオ"/>
              </a:rPr>
              <a:t>▶</a:t>
            </a:r>
          </a:p>
        </p:txBody>
      </p:sp>
      <p:sp>
        <p:nvSpPr>
          <p:cNvPr id="27" name="Rounded Rectangle 26"/>
          <p:cNvSpPr/>
          <p:nvPr/>
        </p:nvSpPr>
        <p:spPr>
          <a:xfrm>
            <a:off x="6566400" y="1692000"/>
            <a:ext cx="2793600" cy="3311999"/>
          </a:xfrm>
          <a:prstGeom prst="roundRect">
            <a:avLst>
              <a:gd name="adj" fmla="val 6000"/>
            </a:avLst>
          </a:prstGeom>
          <a:solidFill>
            <a:srgbClr val="FFFFFF"/>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566400" y="1692000"/>
            <a:ext cx="2793600" cy="413999"/>
          </a:xfrm>
          <a:prstGeom prst="roundRect">
            <a:avLst>
              <a:gd name="adj" fmla="val 13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66400" y="1692000"/>
            <a:ext cx="2793600" cy="413999"/>
          </a:xfrm>
          <a:prstGeom prst="rect">
            <a:avLst/>
          </a:prstGeom>
          <a:noFill/>
        </p:spPr>
        <p:txBody>
          <a:bodyPr wrap="square" lIns="21600" tIns="7200" rIns="21600" bIns="7200" anchor="ctr">
            <a:spAutoFit/>
          </a:bodyPr>
          <a:lstStyle/>
          <a:p>
            <a:pPr algn="ctr"/>
            <a:r>
              <a:rPr sz="1300" b="1">
                <a:solidFill>
                  <a:srgbClr val="FFFFFF"/>
                </a:solidFill>
                <a:latin typeface="メイリオ"/>
                <a:ea typeface="メイリオ"/>
                <a:cs typeface="メイリオ"/>
              </a:rPr>
              <a:t>3か月目　改善と判断</a:t>
            </a:r>
          </a:p>
        </p:txBody>
      </p:sp>
      <p:sp>
        <p:nvSpPr>
          <p:cNvPr id="30" name="TextBox 29"/>
          <p:cNvSpPr txBox="1"/>
          <p:nvPr/>
        </p:nvSpPr>
        <p:spPr>
          <a:xfrm>
            <a:off x="6710400" y="2231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・来場転換率の確認</a:t>
            </a:r>
          </a:p>
        </p:txBody>
      </p:sp>
      <p:sp>
        <p:nvSpPr>
          <p:cNvPr id="31" name="TextBox 30"/>
          <p:cNvSpPr txBox="1"/>
          <p:nvPr/>
        </p:nvSpPr>
        <p:spPr>
          <a:xfrm>
            <a:off x="6710400" y="2699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・文面・オファーのABテスト</a:t>
            </a:r>
          </a:p>
        </p:txBody>
      </p:sp>
      <p:sp>
        <p:nvSpPr>
          <p:cNvPr id="32" name="TextBox 31"/>
          <p:cNvSpPr txBox="1"/>
          <p:nvPr/>
        </p:nvSpPr>
        <p:spPr>
          <a:xfrm>
            <a:off x="6710400" y="3167999"/>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・診断タグ別のセグメント配信</a:t>
            </a:r>
          </a:p>
        </p:txBody>
      </p:sp>
      <p:sp>
        <p:nvSpPr>
          <p:cNvPr id="33" name="TextBox 32"/>
          <p:cNvSpPr txBox="1"/>
          <p:nvPr/>
        </p:nvSpPr>
        <p:spPr>
          <a:xfrm>
            <a:off x="6710400" y="3636000"/>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・投資対効果の確認</a:t>
            </a:r>
          </a:p>
        </p:txBody>
      </p:sp>
      <p:sp>
        <p:nvSpPr>
          <p:cNvPr id="34" name="TextBox 33"/>
          <p:cNvSpPr txBox="1"/>
          <p:nvPr/>
        </p:nvSpPr>
        <p:spPr>
          <a:xfrm>
            <a:off x="6710400" y="4104000"/>
            <a:ext cx="2505600" cy="450000"/>
          </a:xfrm>
          <a:prstGeom prst="rect">
            <a:avLst/>
          </a:prstGeom>
          <a:noFill/>
        </p:spPr>
        <p:txBody>
          <a:bodyPr wrap="square" lIns="21600" tIns="7200" rIns="21600" bIns="7200" anchor="t">
            <a:spAutoFit/>
          </a:bodyPr>
          <a:lstStyle/>
          <a:p>
            <a:pPr algn="l"/>
            <a:r>
              <a:rPr sz="1050" b="0">
                <a:solidFill>
                  <a:srgbClr val="333333"/>
                </a:solidFill>
                <a:latin typeface="メイリオ"/>
                <a:ea typeface="メイリオ"/>
                <a:cs typeface="メイリオ"/>
              </a:rPr>
              <a:t>・4か月目以降の方針決定</a:t>
            </a:r>
          </a:p>
        </p:txBody>
      </p:sp>
      <p:sp>
        <p:nvSpPr>
          <p:cNvPr id="35" name="Rounded Rectangle 34"/>
          <p:cNvSpPr/>
          <p:nvPr/>
        </p:nvSpPr>
        <p:spPr>
          <a:xfrm>
            <a:off x="6692400" y="4500000"/>
            <a:ext cx="2541600" cy="413999"/>
          </a:xfrm>
          <a:prstGeom prst="roundRect">
            <a:avLst>
              <a:gd name="adj" fmla="val 14000"/>
            </a:avLst>
          </a:prstGeom>
          <a:solidFill>
            <a:srgbClr val="F4F7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28400" y="4500000"/>
            <a:ext cx="2469600" cy="413999"/>
          </a:xfrm>
          <a:prstGeom prst="rect">
            <a:avLst/>
          </a:prstGeom>
          <a:noFill/>
        </p:spPr>
        <p:txBody>
          <a:bodyPr wrap="square" lIns="21600" tIns="7200" rIns="21600" bIns="7200" anchor="ctr">
            <a:spAutoFit/>
          </a:bodyPr>
          <a:lstStyle/>
          <a:p>
            <a:pPr algn="ctr"/>
            <a:r>
              <a:rPr sz="1000" b="1">
                <a:solidFill>
                  <a:srgbClr val="ED7D31"/>
                </a:solidFill>
                <a:latin typeface="メイリオ"/>
                <a:ea typeface="メイリオ"/>
                <a:cs typeface="メイリオ"/>
              </a:rPr>
              <a:t>この月に ② 来場転換率 が出ます</a:t>
            </a:r>
          </a:p>
        </p:txBody>
      </p:sp>
      <p:sp>
        <p:nvSpPr>
          <p:cNvPr id="37" name="Rounded Rectangle 36"/>
          <p:cNvSpPr/>
          <p:nvPr/>
        </p:nvSpPr>
        <p:spPr>
          <a:xfrm>
            <a:off x="547200" y="5093999"/>
            <a:ext cx="8812800" cy="540000"/>
          </a:xfrm>
          <a:prstGeom prst="roundRect">
            <a:avLst>
              <a:gd name="adj" fmla="val 6000"/>
            </a:avLst>
          </a:prstGeom>
          <a:solidFill>
            <a:srgbClr val="F4F7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3200" y="5093999"/>
            <a:ext cx="8380800" cy="540000"/>
          </a:xfrm>
          <a:prstGeom prst="rect">
            <a:avLst/>
          </a:prstGeom>
          <a:noFill/>
        </p:spPr>
        <p:txBody>
          <a:bodyPr wrap="square" lIns="21600" tIns="7200" rIns="21600" bIns="7200" anchor="ctr">
            <a:spAutoFit/>
          </a:bodyPr>
          <a:lstStyle/>
          <a:p>
            <a:pPr algn="l"/>
            <a:r>
              <a:rPr sz="1250" b="1">
                <a:solidFill>
                  <a:srgbClr val="333333"/>
                </a:solidFill>
                <a:latin typeface="メイリオ"/>
                <a:ea typeface="メイリオ"/>
                <a:cs typeface="メイリオ"/>
              </a:rPr>
              <a:t>90日で成果が確認できたら投稿数を増やして拡大します。出なければ改善するか、縮小してください。</a:t>
            </a:r>
          </a:p>
        </p:txBody>
      </p:sp>
      <p:sp>
        <p:nvSpPr>
          <p:cNvPr id="39" name="Rounded Rectangle 38"/>
          <p:cNvSpPr/>
          <p:nvPr/>
        </p:nvSpPr>
        <p:spPr>
          <a:xfrm>
            <a:off x="547200" y="5652000"/>
            <a:ext cx="8812800" cy="381600"/>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1600" tIns="7200" rIns="21600" bIns="7200" rtlCol="0" anchor="ctr"/>
          <a:lstStyle/>
          <a:p>
            <a:pPr algn="ctr"/>
            <a:r>
              <a:rPr sz="1250" b="1">
                <a:solidFill>
                  <a:srgbClr val="FFFFFF"/>
                </a:solidFill>
                <a:latin typeface="メイリオ"/>
                <a:ea typeface="メイリオ"/>
                <a:cs typeface="メイリオ"/>
              </a:rPr>
              <a:t>3か月やってみて、数字を見てから続けるか決められる</a:t>
            </a:r>
          </a:p>
        </p:txBody>
      </p:sp>
      <p:sp>
        <p:nvSpPr>
          <p:cNvPr id="40" name="TextBox 39"/>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※既存のLINE公式アカウントをお持ちの場合、1か月目は短縮できます。4か月目以降はセグメント配信と過去リストの掘り起こしに進みます。</a:t>
            </a:r>
          </a:p>
        </p:txBody>
      </p:sp>
    </p:spTree>
    <p:extLst>
      <p:ext uri="{BB962C8B-B14F-4D97-AF65-F5344CB8AC3E}">
        <p14:creationId xmlns:p14="http://schemas.microsoft.com/office/powerpoint/2010/main" val="1482779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サポート体制</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担当が固定でつき、月次の定例会で数字を一緒に見ます。制作物もこちらで作ります。</a:t>
            </a:r>
          </a:p>
          <a:p>
            <a:pPr algn="l">
              <a:spcAft>
                <a:spcPts val="300"/>
              </a:spcAft>
            </a:pPr>
            <a:r>
              <a:rPr sz="1250" b="1">
                <a:solidFill>
                  <a:srgbClr val="333333"/>
                </a:solidFill>
                <a:latin typeface="メイリオ"/>
                <a:ea typeface="メイリオ"/>
                <a:cs typeface="メイリオ"/>
              </a:rPr>
              <a:t>貴社にご対応いただくのは、実例写真のご提供と最終確認だけです。</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92000"/>
            <a:ext cx="2793600" cy="2304000"/>
          </a:xfrm>
          <a:prstGeom prst="roundRect">
            <a:avLst>
              <a:gd name="adj" fmla="val 6000"/>
            </a:avLst>
          </a:prstGeom>
          <a:solidFill>
            <a:srgbClr val="FFFFFF"/>
          </a:solidFill>
          <a:ln w="1651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7200" y="1692000"/>
            <a:ext cx="2793600" cy="396000"/>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1692000"/>
            <a:ext cx="2793600" cy="39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定例会（月1回・60分）</a:t>
            </a:r>
          </a:p>
        </p:txBody>
      </p:sp>
      <p:sp>
        <p:nvSpPr>
          <p:cNvPr id="8" name="TextBox 7"/>
          <p:cNvSpPr txBox="1"/>
          <p:nvPr/>
        </p:nvSpPr>
        <p:spPr>
          <a:xfrm>
            <a:off x="691200" y="2268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・前月の実績を数字で確認する</a:t>
            </a:r>
          </a:p>
        </p:txBody>
      </p:sp>
      <p:sp>
        <p:nvSpPr>
          <p:cNvPr id="9" name="TextBox 8"/>
          <p:cNvSpPr txBox="1"/>
          <p:nvPr/>
        </p:nvSpPr>
        <p:spPr>
          <a:xfrm>
            <a:off x="691200" y="2826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・翌月の配信計画をその場で決める</a:t>
            </a:r>
          </a:p>
        </p:txBody>
      </p:sp>
      <p:sp>
        <p:nvSpPr>
          <p:cNvPr id="10" name="TextBox 9"/>
          <p:cNvSpPr txBox="1"/>
          <p:nvPr/>
        </p:nvSpPr>
        <p:spPr>
          <a:xfrm>
            <a:off x="691200" y="3384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・オンライン／訪問どちらも対応</a:t>
            </a:r>
          </a:p>
        </p:txBody>
      </p:sp>
      <p:sp>
        <p:nvSpPr>
          <p:cNvPr id="11" name="Rounded Rectangle 10"/>
          <p:cNvSpPr/>
          <p:nvPr/>
        </p:nvSpPr>
        <p:spPr>
          <a:xfrm>
            <a:off x="3556800" y="1692000"/>
            <a:ext cx="2793600" cy="2304000"/>
          </a:xfrm>
          <a:prstGeom prst="roundRect">
            <a:avLst>
              <a:gd name="adj" fmla="val 6000"/>
            </a:avLst>
          </a:prstGeom>
          <a:solidFill>
            <a:srgbClr val="FFFFFF"/>
          </a:solidFill>
          <a:ln w="16510">
            <a:solidFill>
              <a:srgbClr val="3E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56800" y="1692000"/>
            <a:ext cx="2793600" cy="396000"/>
          </a:xfrm>
          <a:prstGeom prst="roundRect">
            <a:avLst>
              <a:gd name="adj" fmla="val 13000"/>
            </a:avLst>
          </a:prstGeom>
          <a:solidFill>
            <a:srgbClr val="3E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6800" y="1692000"/>
            <a:ext cx="2793600" cy="39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月次レポート</a:t>
            </a:r>
          </a:p>
        </p:txBody>
      </p:sp>
      <p:sp>
        <p:nvSpPr>
          <p:cNvPr id="14" name="TextBox 13"/>
          <p:cNvSpPr txBox="1"/>
          <p:nvPr/>
        </p:nvSpPr>
        <p:spPr>
          <a:xfrm>
            <a:off x="3700800" y="2268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・友だち追加数・ブロック率・開封率</a:t>
            </a:r>
          </a:p>
        </p:txBody>
      </p:sp>
      <p:sp>
        <p:nvSpPr>
          <p:cNvPr id="15" name="TextBox 14"/>
          <p:cNvSpPr txBox="1"/>
          <p:nvPr/>
        </p:nvSpPr>
        <p:spPr>
          <a:xfrm>
            <a:off x="3700800" y="2826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・配信別のクリック数と予約件数</a:t>
            </a:r>
          </a:p>
        </p:txBody>
      </p:sp>
      <p:sp>
        <p:nvSpPr>
          <p:cNvPr id="16" name="TextBox 15"/>
          <p:cNvSpPr txBox="1"/>
          <p:nvPr/>
        </p:nvSpPr>
        <p:spPr>
          <a:xfrm>
            <a:off x="3700800" y="3384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・想定値と実測の差分を明記</a:t>
            </a:r>
          </a:p>
        </p:txBody>
      </p:sp>
      <p:sp>
        <p:nvSpPr>
          <p:cNvPr id="17" name="Rounded Rectangle 16"/>
          <p:cNvSpPr/>
          <p:nvPr/>
        </p:nvSpPr>
        <p:spPr>
          <a:xfrm>
            <a:off x="6566400" y="1692000"/>
            <a:ext cx="2793600" cy="2304000"/>
          </a:xfrm>
          <a:prstGeom prst="roundRect">
            <a:avLst>
              <a:gd name="adj" fmla="val 6000"/>
            </a:avLst>
          </a:prstGeom>
          <a:solidFill>
            <a:srgbClr val="FFFFFF"/>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66400" y="1692000"/>
            <a:ext cx="2793600" cy="396000"/>
          </a:xfrm>
          <a:prstGeom prst="roundRect">
            <a:avLst>
              <a:gd name="adj" fmla="val 13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66400" y="1692000"/>
            <a:ext cx="2793600" cy="396000"/>
          </a:xfrm>
          <a:prstGeom prst="rect">
            <a:avLst/>
          </a:prstGeom>
          <a:noFill/>
        </p:spPr>
        <p:txBody>
          <a:bodyPr wrap="square" lIns="21600" tIns="7200" rIns="21600" bIns="7200" anchor="ctr">
            <a:spAutoFit/>
          </a:bodyPr>
          <a:lstStyle/>
          <a:p>
            <a:pPr algn="ctr"/>
            <a:r>
              <a:rPr sz="1200" b="1">
                <a:solidFill>
                  <a:srgbClr val="FFFFFF"/>
                </a:solidFill>
                <a:latin typeface="メイリオ"/>
                <a:ea typeface="メイリオ"/>
                <a:cs typeface="メイリオ"/>
              </a:rPr>
              <a:t>クリエイティブ制作</a:t>
            </a:r>
          </a:p>
        </p:txBody>
      </p:sp>
      <p:sp>
        <p:nvSpPr>
          <p:cNvPr id="20" name="TextBox 19"/>
          <p:cNvSpPr txBox="1"/>
          <p:nvPr/>
        </p:nvSpPr>
        <p:spPr>
          <a:xfrm>
            <a:off x="6710400" y="2268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・リッチメニュー・バナーの制作</a:t>
            </a:r>
          </a:p>
        </p:txBody>
      </p:sp>
      <p:sp>
        <p:nvSpPr>
          <p:cNvPr id="21" name="TextBox 20"/>
          <p:cNvSpPr txBox="1"/>
          <p:nvPr/>
        </p:nvSpPr>
        <p:spPr>
          <a:xfrm>
            <a:off x="6710400" y="2826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・配信文面の作成と改稿</a:t>
            </a:r>
          </a:p>
        </p:txBody>
      </p:sp>
      <p:sp>
        <p:nvSpPr>
          <p:cNvPr id="22" name="TextBox 21"/>
          <p:cNvSpPr txBox="1"/>
          <p:nvPr/>
        </p:nvSpPr>
        <p:spPr>
          <a:xfrm>
            <a:off x="6710400" y="3384000"/>
            <a:ext cx="2505600" cy="540000"/>
          </a:xfrm>
          <a:prstGeom prst="rect">
            <a:avLst/>
          </a:prstGeom>
          <a:noFill/>
        </p:spPr>
        <p:txBody>
          <a:bodyPr wrap="square" lIns="21600" tIns="7200" rIns="21600" bIns="7200" anchor="t">
            <a:spAutoFit/>
          </a:bodyPr>
          <a:lstStyle/>
          <a:p>
            <a:pPr algn="l"/>
            <a:r>
              <a:rPr sz="1100" b="0">
                <a:solidFill>
                  <a:srgbClr val="333333"/>
                </a:solidFill>
                <a:latin typeface="メイリオ"/>
                <a:ea typeface="メイリオ"/>
                <a:cs typeface="メイリオ"/>
              </a:rPr>
              <a:t>・実例写真のレタッチ・トリミング</a:t>
            </a:r>
          </a:p>
        </p:txBody>
      </p:sp>
      <p:sp>
        <p:nvSpPr>
          <p:cNvPr id="23" name="Rounded Rectangle 22"/>
          <p:cNvSpPr/>
          <p:nvPr/>
        </p:nvSpPr>
        <p:spPr>
          <a:xfrm>
            <a:off x="547200" y="4212000"/>
            <a:ext cx="8812800" cy="1800000"/>
          </a:xfrm>
          <a:prstGeom prst="roundRect">
            <a:avLst>
              <a:gd name="adj" fmla="val 6000"/>
            </a:avLst>
          </a:prstGeom>
          <a:solidFill>
            <a:srgbClr val="F4F7FF"/>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3200" y="4338000"/>
            <a:ext cx="8380800" cy="288000"/>
          </a:xfrm>
          <a:prstGeom prst="rect">
            <a:avLst/>
          </a:prstGeom>
          <a:noFill/>
        </p:spPr>
        <p:txBody>
          <a:bodyPr wrap="square" lIns="21600" tIns="7200" rIns="21600" bIns="7200" anchor="t">
            <a:spAutoFit/>
          </a:bodyPr>
          <a:lstStyle/>
          <a:p>
            <a:pPr algn="l"/>
            <a:r>
              <a:rPr sz="1300" b="1">
                <a:solidFill>
                  <a:srgbClr val="1F285A"/>
                </a:solidFill>
                <a:latin typeface="メイリオ"/>
                <a:ea typeface="メイリオ"/>
                <a:cs typeface="メイリオ"/>
              </a:rPr>
              <a:t>役割分担</a:t>
            </a:r>
          </a:p>
        </p:txBody>
      </p:sp>
      <p:sp>
        <p:nvSpPr>
          <p:cNvPr id="25" name="Rectangle 24"/>
          <p:cNvSpPr/>
          <p:nvPr/>
        </p:nvSpPr>
        <p:spPr>
          <a:xfrm>
            <a:off x="763200" y="4680000"/>
            <a:ext cx="3841200" cy="251999"/>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3200" y="4680000"/>
            <a:ext cx="3841200" cy="251999"/>
          </a:xfrm>
          <a:prstGeom prst="rect">
            <a:avLst/>
          </a:prstGeom>
          <a:noFill/>
        </p:spPr>
        <p:txBody>
          <a:bodyPr wrap="square" lIns="21600" tIns="7200" rIns="21600" bIns="7200" anchor="ctr">
            <a:spAutoFit/>
          </a:bodyPr>
          <a:lstStyle/>
          <a:p>
            <a:pPr algn="ctr"/>
            <a:endParaRPr/>
          </a:p>
        </p:txBody>
      </p:sp>
      <p:sp>
        <p:nvSpPr>
          <p:cNvPr id="27" name="Rectangle 26"/>
          <p:cNvSpPr/>
          <p:nvPr/>
        </p:nvSpPr>
        <p:spPr>
          <a:xfrm>
            <a:off x="4604400" y="4680000"/>
            <a:ext cx="2269800" cy="251999"/>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04400" y="4680000"/>
            <a:ext cx="2269800" cy="251999"/>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DYM</a:t>
            </a:r>
          </a:p>
        </p:txBody>
      </p:sp>
      <p:sp>
        <p:nvSpPr>
          <p:cNvPr id="29" name="Rectangle 28"/>
          <p:cNvSpPr/>
          <p:nvPr/>
        </p:nvSpPr>
        <p:spPr>
          <a:xfrm>
            <a:off x="6874200" y="4680000"/>
            <a:ext cx="2269800" cy="251999"/>
          </a:xfrm>
          <a:prstGeom prst="rect">
            <a:avLst/>
          </a:prstGeom>
          <a:solidFill>
            <a:srgbClr val="1F285A"/>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4200" y="4680000"/>
            <a:ext cx="2269800" cy="251999"/>
          </a:xfrm>
          <a:prstGeom prst="rect">
            <a:avLst/>
          </a:prstGeom>
          <a:noFill/>
        </p:spPr>
        <p:txBody>
          <a:bodyPr wrap="square" lIns="21600" tIns="7200" rIns="21600" bIns="7200" anchor="ctr">
            <a:spAutoFit/>
          </a:bodyPr>
          <a:lstStyle/>
          <a:p>
            <a:pPr algn="ctr"/>
            <a:r>
              <a:rPr sz="1050" b="1">
                <a:solidFill>
                  <a:srgbClr val="FFFFFF"/>
                </a:solidFill>
                <a:latin typeface="メイリオ"/>
                <a:ea typeface="メイリオ"/>
                <a:cs typeface="メイリオ"/>
              </a:rPr>
              <a:t>貴社</a:t>
            </a:r>
          </a:p>
        </p:txBody>
      </p:sp>
      <p:sp>
        <p:nvSpPr>
          <p:cNvPr id="31" name="Rectangle 30"/>
          <p:cNvSpPr/>
          <p:nvPr/>
        </p:nvSpPr>
        <p:spPr>
          <a:xfrm>
            <a:off x="763200" y="4932000"/>
            <a:ext cx="3841200" cy="251999"/>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3200" y="4932000"/>
            <a:ext cx="3841200" cy="251999"/>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初期構築（設定・デザイン・文面）</a:t>
            </a:r>
          </a:p>
        </p:txBody>
      </p:sp>
      <p:sp>
        <p:nvSpPr>
          <p:cNvPr id="33" name="Rectangle 32"/>
          <p:cNvSpPr/>
          <p:nvPr/>
        </p:nvSpPr>
        <p:spPr>
          <a:xfrm>
            <a:off x="4604400" y="4932000"/>
            <a:ext cx="2269800" cy="251999"/>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04400" y="4932000"/>
            <a:ext cx="2269800" cy="251999"/>
          </a:xfrm>
          <a:prstGeom prst="rect">
            <a:avLst/>
          </a:prstGeom>
          <a:noFill/>
        </p:spPr>
        <p:txBody>
          <a:bodyPr wrap="square" lIns="21600" tIns="7200" rIns="21600" bIns="7200" anchor="ctr">
            <a:spAutoFit/>
          </a:bodyPr>
          <a:lstStyle/>
          <a:p>
            <a:pPr algn="ctr"/>
            <a:r>
              <a:rPr sz="1000" b="0">
                <a:solidFill>
                  <a:srgbClr val="1F285A"/>
                </a:solidFill>
                <a:latin typeface="メイリオ"/>
                <a:ea typeface="メイリオ"/>
                <a:cs typeface="メイリオ"/>
              </a:rPr>
              <a:t>すべて対応</a:t>
            </a:r>
          </a:p>
        </p:txBody>
      </p:sp>
      <p:sp>
        <p:nvSpPr>
          <p:cNvPr id="35" name="Rectangle 34"/>
          <p:cNvSpPr/>
          <p:nvPr/>
        </p:nvSpPr>
        <p:spPr>
          <a:xfrm>
            <a:off x="6874200" y="4932000"/>
            <a:ext cx="2269800" cy="251999"/>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74200" y="4932000"/>
            <a:ext cx="2269800" cy="251999"/>
          </a:xfrm>
          <a:prstGeom prst="rect">
            <a:avLst/>
          </a:prstGeom>
          <a:noFill/>
        </p:spPr>
        <p:txBody>
          <a:bodyPr wrap="square" lIns="21600" tIns="7200" rIns="21600" bIns="7200" anchor="ctr">
            <a:spAutoFit/>
          </a:bodyPr>
          <a:lstStyle/>
          <a:p>
            <a:pPr algn="ctr"/>
            <a:r>
              <a:rPr sz="1000" b="0">
                <a:solidFill>
                  <a:srgbClr val="7F7F7F"/>
                </a:solidFill>
                <a:latin typeface="メイリオ"/>
                <a:ea typeface="メイリオ"/>
                <a:cs typeface="メイリオ"/>
              </a:rPr>
              <a:t>最終確認のみ</a:t>
            </a:r>
          </a:p>
        </p:txBody>
      </p:sp>
      <p:sp>
        <p:nvSpPr>
          <p:cNvPr id="37" name="Rectangle 36"/>
          <p:cNvSpPr/>
          <p:nvPr/>
        </p:nvSpPr>
        <p:spPr>
          <a:xfrm>
            <a:off x="763200" y="5183999"/>
            <a:ext cx="3841200" cy="251999"/>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3200" y="5183999"/>
            <a:ext cx="3841200" cy="251999"/>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月次の配信作成・配信実行</a:t>
            </a:r>
          </a:p>
        </p:txBody>
      </p:sp>
      <p:sp>
        <p:nvSpPr>
          <p:cNvPr id="39" name="Rectangle 38"/>
          <p:cNvSpPr/>
          <p:nvPr/>
        </p:nvSpPr>
        <p:spPr>
          <a:xfrm>
            <a:off x="4604400" y="5183999"/>
            <a:ext cx="2269800" cy="251999"/>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04400" y="5183999"/>
            <a:ext cx="2269800" cy="251999"/>
          </a:xfrm>
          <a:prstGeom prst="rect">
            <a:avLst/>
          </a:prstGeom>
          <a:noFill/>
        </p:spPr>
        <p:txBody>
          <a:bodyPr wrap="square" lIns="21600" tIns="7200" rIns="21600" bIns="7200" anchor="ctr">
            <a:spAutoFit/>
          </a:bodyPr>
          <a:lstStyle/>
          <a:p>
            <a:pPr algn="ctr"/>
            <a:r>
              <a:rPr sz="1000" b="0">
                <a:solidFill>
                  <a:srgbClr val="1F285A"/>
                </a:solidFill>
                <a:latin typeface="メイリオ"/>
                <a:ea typeface="メイリオ"/>
                <a:cs typeface="メイリオ"/>
              </a:rPr>
              <a:t>すべて対応</a:t>
            </a:r>
          </a:p>
        </p:txBody>
      </p:sp>
      <p:sp>
        <p:nvSpPr>
          <p:cNvPr id="41" name="Rectangle 40"/>
          <p:cNvSpPr/>
          <p:nvPr/>
        </p:nvSpPr>
        <p:spPr>
          <a:xfrm>
            <a:off x="6874200" y="5183999"/>
            <a:ext cx="2269800" cy="251999"/>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874200" y="5183999"/>
            <a:ext cx="2269800" cy="251999"/>
          </a:xfrm>
          <a:prstGeom prst="rect">
            <a:avLst/>
          </a:prstGeom>
          <a:noFill/>
        </p:spPr>
        <p:txBody>
          <a:bodyPr wrap="square" lIns="21600" tIns="7200" rIns="21600" bIns="7200" anchor="ctr">
            <a:spAutoFit/>
          </a:bodyPr>
          <a:lstStyle/>
          <a:p>
            <a:pPr algn="ctr"/>
            <a:r>
              <a:rPr sz="1000" b="0">
                <a:solidFill>
                  <a:srgbClr val="7F7F7F"/>
                </a:solidFill>
                <a:latin typeface="メイリオ"/>
                <a:ea typeface="メイリオ"/>
                <a:cs typeface="メイリオ"/>
              </a:rPr>
              <a:t>最終確認のみ</a:t>
            </a:r>
          </a:p>
        </p:txBody>
      </p:sp>
      <p:sp>
        <p:nvSpPr>
          <p:cNvPr id="43" name="Rectangle 42"/>
          <p:cNvSpPr/>
          <p:nvPr/>
        </p:nvSpPr>
        <p:spPr>
          <a:xfrm>
            <a:off x="763200" y="5435999"/>
            <a:ext cx="3841200" cy="251999"/>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63200" y="5435999"/>
            <a:ext cx="3841200" cy="251999"/>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実例写真・お客様の声の提供</a:t>
            </a:r>
          </a:p>
        </p:txBody>
      </p:sp>
      <p:sp>
        <p:nvSpPr>
          <p:cNvPr id="45" name="Rectangle 44"/>
          <p:cNvSpPr/>
          <p:nvPr/>
        </p:nvSpPr>
        <p:spPr>
          <a:xfrm>
            <a:off x="4604400" y="5435999"/>
            <a:ext cx="2269800" cy="251999"/>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04400" y="5435999"/>
            <a:ext cx="2269800" cy="251999"/>
          </a:xfrm>
          <a:prstGeom prst="rect">
            <a:avLst/>
          </a:prstGeom>
          <a:noFill/>
        </p:spPr>
        <p:txBody>
          <a:bodyPr wrap="square" lIns="21600" tIns="7200" rIns="21600" bIns="7200" anchor="ctr">
            <a:spAutoFit/>
          </a:bodyPr>
          <a:lstStyle/>
          <a:p>
            <a:pPr algn="ctr"/>
            <a:r>
              <a:rPr sz="1000" b="0">
                <a:solidFill>
                  <a:srgbClr val="1F285A"/>
                </a:solidFill>
                <a:latin typeface="メイリオ"/>
                <a:ea typeface="メイリオ"/>
                <a:cs typeface="メイリオ"/>
              </a:rPr>
              <a:t>レタッチ・選定</a:t>
            </a:r>
          </a:p>
        </p:txBody>
      </p:sp>
      <p:sp>
        <p:nvSpPr>
          <p:cNvPr id="47" name="Rectangle 46"/>
          <p:cNvSpPr/>
          <p:nvPr/>
        </p:nvSpPr>
        <p:spPr>
          <a:xfrm>
            <a:off x="6874200" y="5435999"/>
            <a:ext cx="2269800" cy="251999"/>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74200" y="5435999"/>
            <a:ext cx="2269800" cy="251999"/>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撮影データのご提供</a:t>
            </a:r>
          </a:p>
        </p:txBody>
      </p:sp>
      <p:sp>
        <p:nvSpPr>
          <p:cNvPr id="49" name="Rectangle 48"/>
          <p:cNvSpPr/>
          <p:nvPr/>
        </p:nvSpPr>
        <p:spPr>
          <a:xfrm>
            <a:off x="763200" y="5687999"/>
            <a:ext cx="3841200" cy="251999"/>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3200" y="5687999"/>
            <a:ext cx="3841200" cy="251999"/>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問い合わせへの有人返信</a:t>
            </a:r>
          </a:p>
        </p:txBody>
      </p:sp>
      <p:sp>
        <p:nvSpPr>
          <p:cNvPr id="51" name="Rectangle 50"/>
          <p:cNvSpPr/>
          <p:nvPr/>
        </p:nvSpPr>
        <p:spPr>
          <a:xfrm>
            <a:off x="4604400" y="5687999"/>
            <a:ext cx="2269800" cy="251999"/>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604400" y="5687999"/>
            <a:ext cx="2269800" cy="251999"/>
          </a:xfrm>
          <a:prstGeom prst="rect">
            <a:avLst/>
          </a:prstGeom>
          <a:noFill/>
        </p:spPr>
        <p:txBody>
          <a:bodyPr wrap="square" lIns="21600" tIns="7200" rIns="21600" bIns="7200" anchor="ctr">
            <a:spAutoFit/>
          </a:bodyPr>
          <a:lstStyle/>
          <a:p>
            <a:pPr algn="ctr"/>
            <a:r>
              <a:rPr sz="1000" b="0">
                <a:solidFill>
                  <a:srgbClr val="1F285A"/>
                </a:solidFill>
                <a:latin typeface="メイリオ"/>
                <a:ea typeface="メイリオ"/>
                <a:cs typeface="メイリオ"/>
              </a:rPr>
              <a:t>返信テンプレの用意</a:t>
            </a:r>
          </a:p>
        </p:txBody>
      </p:sp>
      <p:sp>
        <p:nvSpPr>
          <p:cNvPr id="53" name="Rectangle 52"/>
          <p:cNvSpPr/>
          <p:nvPr/>
        </p:nvSpPr>
        <p:spPr>
          <a:xfrm>
            <a:off x="6874200" y="5687999"/>
            <a:ext cx="2269800" cy="251999"/>
          </a:xfrm>
          <a:prstGeom prst="rect">
            <a:avLst/>
          </a:prstGeom>
          <a:solidFill>
            <a:srgbClr val="F4F7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74200" y="5687999"/>
            <a:ext cx="2269800" cy="251999"/>
          </a:xfrm>
          <a:prstGeom prst="rect">
            <a:avLst/>
          </a:prstGeom>
          <a:noFill/>
        </p:spPr>
        <p:txBody>
          <a:bodyPr wrap="square" lIns="21600" tIns="7200" rIns="21600" bIns="7200" anchor="ctr">
            <a:spAutoFit/>
          </a:bodyPr>
          <a:lstStyle/>
          <a:p>
            <a:pPr algn="ctr"/>
            <a:r>
              <a:rPr sz="1000" b="0">
                <a:solidFill>
                  <a:srgbClr val="333333"/>
                </a:solidFill>
                <a:latin typeface="メイリオ"/>
                <a:ea typeface="メイリオ"/>
                <a:cs typeface="メイリオ"/>
              </a:rPr>
              <a:t>営業時間内のご対応</a:t>
            </a:r>
          </a:p>
        </p:txBody>
      </p:sp>
      <p:sp>
        <p:nvSpPr>
          <p:cNvPr id="55" name="TextBox 54"/>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※体制はプランにより異なります。詳細は費用プランのスライドをご参照ください。</a:t>
            </a:r>
          </a:p>
        </p:txBody>
      </p:sp>
    </p:spTree>
    <p:extLst>
      <p:ext uri="{BB962C8B-B14F-4D97-AF65-F5344CB8AC3E}">
        <p14:creationId xmlns:p14="http://schemas.microsoft.com/office/powerpoint/2010/main" val="2185305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812800" cy="338400"/>
          </a:xfrm>
          <a:prstGeom prst="rect">
            <a:avLst/>
          </a:prstGeom>
          <a:noFill/>
        </p:spPr>
        <p:txBody>
          <a:bodyPr wrap="square" lIns="21600" tIns="7200" rIns="21600" bIns="7200" anchor="ctr">
            <a:spAutoFit/>
          </a:bodyPr>
          <a:lstStyle/>
          <a:p>
            <a:pPr algn="l"/>
            <a:r>
              <a:rPr sz="1600" b="1">
                <a:solidFill>
                  <a:srgbClr val="002060"/>
                </a:solidFill>
                <a:latin typeface="メイリオ"/>
                <a:ea typeface="メイリオ"/>
                <a:cs typeface="メイリオ"/>
              </a:rPr>
              <a:t>住宅・不動産領域におけるLINE公式アカウントの活用事例</a:t>
            </a:r>
          </a:p>
        </p:txBody>
      </p:sp>
      <p:sp>
        <p:nvSpPr>
          <p:cNvPr id="3" name="TextBox 2"/>
          <p:cNvSpPr txBox="1"/>
          <p:nvPr/>
        </p:nvSpPr>
        <p:spPr>
          <a:xfrm>
            <a:off x="547200" y="648000"/>
            <a:ext cx="8812800" cy="630000"/>
          </a:xfrm>
          <a:prstGeom prst="rect">
            <a:avLst/>
          </a:prstGeom>
          <a:noFill/>
        </p:spPr>
        <p:txBody>
          <a:bodyPr wrap="square" lIns="21600" tIns="7200" rIns="21600" bIns="7200" anchor="t">
            <a:spAutoFit/>
          </a:bodyPr>
          <a:lstStyle/>
          <a:p>
            <a:pPr algn="l">
              <a:spcAft>
                <a:spcPts val="300"/>
              </a:spcAft>
            </a:pPr>
            <a:r>
              <a:rPr sz="1250" b="1">
                <a:solidFill>
                  <a:srgbClr val="333333"/>
                </a:solidFill>
                <a:latin typeface="メイリオ"/>
                <a:ea typeface="メイリオ"/>
                <a:cs typeface="メイリオ"/>
              </a:rPr>
              <a:t>LINEヤフー社が公式に公開している、住宅・不動産領域の活用事例です。</a:t>
            </a:r>
          </a:p>
          <a:p>
            <a:pPr algn="l">
              <a:spcAft>
                <a:spcPts val="300"/>
              </a:spcAft>
            </a:pPr>
            <a:r>
              <a:rPr sz="1250" b="1">
                <a:solidFill>
                  <a:srgbClr val="333333"/>
                </a:solidFill>
                <a:latin typeface="メイリオ"/>
                <a:ea typeface="メイリオ"/>
                <a:cs typeface="メイリオ"/>
              </a:rPr>
              <a:t>数値は同社の公開値をそのまま転記します。丸めたり、脚色したりはしません。</a:t>
            </a:r>
          </a:p>
        </p:txBody>
      </p:sp>
      <p:cxnSp>
        <p:nvCxnSpPr>
          <p:cNvPr id="4" name="Connector 3"/>
          <p:cNvCxnSpPr/>
          <p:nvPr/>
        </p:nvCxnSpPr>
        <p:spPr>
          <a:xfrm>
            <a:off x="547200" y="1389600"/>
            <a:ext cx="88128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7200" y="1673999"/>
            <a:ext cx="4298400" cy="1782000"/>
          </a:xfrm>
          <a:prstGeom prst="roundRect">
            <a:avLst>
              <a:gd name="adj" fmla="val 6000"/>
            </a:avLst>
          </a:prstGeom>
          <a:solidFill>
            <a:srgbClr val="FFFFFF"/>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7200" y="1673999"/>
            <a:ext cx="4298400" cy="378000"/>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1200" y="1673999"/>
            <a:ext cx="4010399" cy="378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auka（アウカ）</a:t>
            </a:r>
          </a:p>
        </p:txBody>
      </p:sp>
      <p:sp>
        <p:nvSpPr>
          <p:cNvPr id="8" name="TextBox 7"/>
          <p:cNvSpPr txBox="1"/>
          <p:nvPr/>
        </p:nvSpPr>
        <p:spPr>
          <a:xfrm>
            <a:off x="709200" y="2098799"/>
            <a:ext cx="3974399" cy="198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株式会社ギバーテイクオール</a:t>
            </a:r>
          </a:p>
        </p:txBody>
      </p:sp>
      <p:sp>
        <p:nvSpPr>
          <p:cNvPr id="9" name="TextBox 8"/>
          <p:cNvSpPr txBox="1"/>
          <p:nvPr/>
        </p:nvSpPr>
        <p:spPr>
          <a:xfrm>
            <a:off x="709200" y="2321999"/>
            <a:ext cx="3974399" cy="468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注文住宅の無料相談窓口。LINE広告から友だち追加とアンケートに誘導し、温度感を高めてから電話相談へつなぐ導線。</a:t>
            </a:r>
          </a:p>
        </p:txBody>
      </p:sp>
      <p:sp>
        <p:nvSpPr>
          <p:cNvPr id="10" name="Rounded Rectangle 9"/>
          <p:cNvSpPr/>
          <p:nvPr/>
        </p:nvSpPr>
        <p:spPr>
          <a:xfrm>
            <a:off x="709200" y="2826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5200" y="2880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CVR</a:t>
            </a:r>
          </a:p>
        </p:txBody>
      </p:sp>
      <p:sp>
        <p:nvSpPr>
          <p:cNvPr id="12" name="TextBox 11"/>
          <p:cNvSpPr txBox="1"/>
          <p:nvPr/>
        </p:nvSpPr>
        <p:spPr>
          <a:xfrm>
            <a:off x="745200" y="3060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7% → 15%</a:t>
            </a:r>
          </a:p>
        </p:txBody>
      </p:sp>
      <p:sp>
        <p:nvSpPr>
          <p:cNvPr id="13" name="Rounded Rectangle 12"/>
          <p:cNvSpPr/>
          <p:nvPr/>
        </p:nvSpPr>
        <p:spPr>
          <a:xfrm>
            <a:off x="2046000" y="2826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82000" y="2880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友だち追加</a:t>
            </a:r>
          </a:p>
        </p:txBody>
      </p:sp>
      <p:sp>
        <p:nvSpPr>
          <p:cNvPr id="15" name="TextBox 14"/>
          <p:cNvSpPr txBox="1"/>
          <p:nvPr/>
        </p:nvSpPr>
        <p:spPr>
          <a:xfrm>
            <a:off x="2082000" y="3060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約24,000人</a:t>
            </a:r>
          </a:p>
        </p:txBody>
      </p:sp>
      <p:sp>
        <p:nvSpPr>
          <p:cNvPr id="16" name="Rounded Rectangle 15"/>
          <p:cNvSpPr/>
          <p:nvPr/>
        </p:nvSpPr>
        <p:spPr>
          <a:xfrm>
            <a:off x="3382800" y="2826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18800" y="2880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全施策のCPA</a:t>
            </a:r>
          </a:p>
        </p:txBody>
      </p:sp>
      <p:sp>
        <p:nvSpPr>
          <p:cNvPr id="18" name="TextBox 17"/>
          <p:cNvSpPr txBox="1"/>
          <p:nvPr/>
        </p:nvSpPr>
        <p:spPr>
          <a:xfrm>
            <a:off x="3418800" y="3060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3万円を切る</a:t>
            </a:r>
          </a:p>
        </p:txBody>
      </p:sp>
      <p:sp>
        <p:nvSpPr>
          <p:cNvPr id="19" name="Rounded Rectangle 18"/>
          <p:cNvSpPr/>
          <p:nvPr/>
        </p:nvSpPr>
        <p:spPr>
          <a:xfrm>
            <a:off x="5061600" y="1673999"/>
            <a:ext cx="4298400" cy="1782000"/>
          </a:xfrm>
          <a:prstGeom prst="roundRect">
            <a:avLst>
              <a:gd name="adj" fmla="val 6000"/>
            </a:avLst>
          </a:prstGeom>
          <a:solidFill>
            <a:srgbClr val="FFFFFF"/>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61600" y="1673999"/>
            <a:ext cx="4298400" cy="378000"/>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05600" y="1673999"/>
            <a:ext cx="4010399" cy="378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オープンハウスグループ</a:t>
            </a:r>
          </a:p>
        </p:txBody>
      </p:sp>
      <p:sp>
        <p:nvSpPr>
          <p:cNvPr id="22" name="TextBox 21"/>
          <p:cNvSpPr txBox="1"/>
          <p:nvPr/>
        </p:nvSpPr>
        <p:spPr>
          <a:xfrm>
            <a:off x="5223599" y="2098799"/>
            <a:ext cx="3974399" cy="198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株式会社オープンハウスグループ</a:t>
            </a:r>
          </a:p>
        </p:txBody>
      </p:sp>
      <p:sp>
        <p:nvSpPr>
          <p:cNvPr id="23" name="TextBox 22"/>
          <p:cNvSpPr txBox="1"/>
          <p:nvPr/>
        </p:nvSpPr>
        <p:spPr>
          <a:xfrm>
            <a:off x="5223599" y="2321999"/>
            <a:ext cx="3974399" cy="468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2018年3月にLINE公式アカウントを開設。会員登録時期とサイト訪問履歴でセグメントし、週1〜2回のステップ配信を実施。</a:t>
            </a:r>
          </a:p>
        </p:txBody>
      </p:sp>
      <p:sp>
        <p:nvSpPr>
          <p:cNvPr id="24" name="Rounded Rectangle 23"/>
          <p:cNvSpPr/>
          <p:nvPr/>
        </p:nvSpPr>
        <p:spPr>
          <a:xfrm>
            <a:off x="5223599" y="2826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59599" y="2880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CVR（前年比）</a:t>
            </a:r>
          </a:p>
        </p:txBody>
      </p:sp>
      <p:sp>
        <p:nvSpPr>
          <p:cNvPr id="26" name="TextBox 25"/>
          <p:cNvSpPr txBox="1"/>
          <p:nvPr/>
        </p:nvSpPr>
        <p:spPr>
          <a:xfrm>
            <a:off x="5259599" y="3060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158%改善</a:t>
            </a:r>
          </a:p>
        </p:txBody>
      </p:sp>
      <p:sp>
        <p:nvSpPr>
          <p:cNvPr id="27" name="Rounded Rectangle 26"/>
          <p:cNvSpPr/>
          <p:nvPr/>
        </p:nvSpPr>
        <p:spPr>
          <a:xfrm>
            <a:off x="6560400" y="2826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6400" y="2880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CPA（前年比）</a:t>
            </a:r>
          </a:p>
        </p:txBody>
      </p:sp>
      <p:sp>
        <p:nvSpPr>
          <p:cNvPr id="29" name="TextBox 28"/>
          <p:cNvSpPr txBox="1"/>
          <p:nvPr/>
        </p:nvSpPr>
        <p:spPr>
          <a:xfrm>
            <a:off x="6596400" y="3060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68%抑制</a:t>
            </a:r>
          </a:p>
        </p:txBody>
      </p:sp>
      <p:sp>
        <p:nvSpPr>
          <p:cNvPr id="30" name="Rounded Rectangle 29"/>
          <p:cNvSpPr/>
          <p:nvPr/>
        </p:nvSpPr>
        <p:spPr>
          <a:xfrm>
            <a:off x="7897199" y="2826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33199" y="2880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資料請求CPA</a:t>
            </a:r>
          </a:p>
        </p:txBody>
      </p:sp>
      <p:sp>
        <p:nvSpPr>
          <p:cNvPr id="32" name="TextBox 31"/>
          <p:cNvSpPr txBox="1"/>
          <p:nvPr/>
        </p:nvSpPr>
        <p:spPr>
          <a:xfrm>
            <a:off x="7933199" y="3060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82%抑制</a:t>
            </a:r>
          </a:p>
        </p:txBody>
      </p:sp>
      <p:sp>
        <p:nvSpPr>
          <p:cNvPr id="33" name="Rounded Rectangle 32"/>
          <p:cNvSpPr/>
          <p:nvPr/>
        </p:nvSpPr>
        <p:spPr>
          <a:xfrm>
            <a:off x="547200" y="3600000"/>
            <a:ext cx="4298400" cy="1782000"/>
          </a:xfrm>
          <a:prstGeom prst="roundRect">
            <a:avLst>
              <a:gd name="adj" fmla="val 6000"/>
            </a:avLst>
          </a:prstGeom>
          <a:solidFill>
            <a:srgbClr val="FFFFFF"/>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7200" y="3600000"/>
            <a:ext cx="4298400" cy="378000"/>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1200" y="3600000"/>
            <a:ext cx="4010399" cy="378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LIFULL HOME'S</a:t>
            </a:r>
          </a:p>
        </p:txBody>
      </p:sp>
      <p:sp>
        <p:nvSpPr>
          <p:cNvPr id="36" name="TextBox 35"/>
          <p:cNvSpPr txBox="1"/>
          <p:nvPr/>
        </p:nvSpPr>
        <p:spPr>
          <a:xfrm>
            <a:off x="709200" y="4024800"/>
            <a:ext cx="3974399" cy="198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株式会社LIFULL</a:t>
            </a:r>
          </a:p>
        </p:txBody>
      </p:sp>
      <p:sp>
        <p:nvSpPr>
          <p:cNvPr id="37" name="TextBox 36"/>
          <p:cNvSpPr txBox="1"/>
          <p:nvPr/>
        </p:nvSpPr>
        <p:spPr>
          <a:xfrm>
            <a:off x="709200" y="4248000"/>
            <a:ext cx="3974399" cy="468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手動配信をステップ配信に置き換え。配信タイミングをABテストし、運用の負荷を下げながら成果を維持。</a:t>
            </a:r>
          </a:p>
        </p:txBody>
      </p:sp>
      <p:sp>
        <p:nvSpPr>
          <p:cNvPr id="38" name="Rounded Rectangle 37"/>
          <p:cNvSpPr/>
          <p:nvPr/>
        </p:nvSpPr>
        <p:spPr>
          <a:xfrm>
            <a:off x="709200" y="4752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45200" y="4806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CPC</a:t>
            </a:r>
          </a:p>
        </p:txBody>
      </p:sp>
      <p:sp>
        <p:nvSpPr>
          <p:cNvPr id="40" name="TextBox 39"/>
          <p:cNvSpPr txBox="1"/>
          <p:nvPr/>
        </p:nvSpPr>
        <p:spPr>
          <a:xfrm>
            <a:off x="745200" y="4986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6割改善</a:t>
            </a:r>
          </a:p>
        </p:txBody>
      </p:sp>
      <p:sp>
        <p:nvSpPr>
          <p:cNvPr id="41" name="Rounded Rectangle 40"/>
          <p:cNvSpPr/>
          <p:nvPr/>
        </p:nvSpPr>
        <p:spPr>
          <a:xfrm>
            <a:off x="2046000" y="4752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082000" y="4806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運用工数</a:t>
            </a:r>
          </a:p>
        </p:txBody>
      </p:sp>
      <p:sp>
        <p:nvSpPr>
          <p:cNvPr id="43" name="TextBox 42"/>
          <p:cNvSpPr txBox="1"/>
          <p:nvPr/>
        </p:nvSpPr>
        <p:spPr>
          <a:xfrm>
            <a:off x="2082000" y="4986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1/4に削減</a:t>
            </a:r>
          </a:p>
        </p:txBody>
      </p:sp>
      <p:sp>
        <p:nvSpPr>
          <p:cNvPr id="44" name="Rounded Rectangle 43"/>
          <p:cNvSpPr/>
          <p:nvPr/>
        </p:nvSpPr>
        <p:spPr>
          <a:xfrm>
            <a:off x="3382800" y="4752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18800" y="4806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作業時間</a:t>
            </a:r>
          </a:p>
        </p:txBody>
      </p:sp>
      <p:sp>
        <p:nvSpPr>
          <p:cNvPr id="46" name="TextBox 45"/>
          <p:cNvSpPr txBox="1"/>
          <p:nvPr/>
        </p:nvSpPr>
        <p:spPr>
          <a:xfrm>
            <a:off x="3418800" y="4986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月8時間 → 2時間</a:t>
            </a:r>
          </a:p>
        </p:txBody>
      </p:sp>
      <p:sp>
        <p:nvSpPr>
          <p:cNvPr id="47" name="Rounded Rectangle 46"/>
          <p:cNvSpPr/>
          <p:nvPr/>
        </p:nvSpPr>
        <p:spPr>
          <a:xfrm>
            <a:off x="5061600" y="3600000"/>
            <a:ext cx="4298400" cy="1782000"/>
          </a:xfrm>
          <a:prstGeom prst="roundRect">
            <a:avLst>
              <a:gd name="adj" fmla="val 6000"/>
            </a:avLst>
          </a:prstGeom>
          <a:solidFill>
            <a:srgbClr val="FFFFFF"/>
          </a:solidFill>
          <a:ln w="1524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5061600" y="3600000"/>
            <a:ext cx="4298400" cy="378000"/>
          </a:xfrm>
          <a:prstGeom prst="roundRect">
            <a:avLst>
              <a:gd name="adj" fmla="val 13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05600" y="3600000"/>
            <a:ext cx="4010399" cy="378000"/>
          </a:xfrm>
          <a:prstGeom prst="rect">
            <a:avLst/>
          </a:prstGeom>
          <a:noFill/>
        </p:spPr>
        <p:txBody>
          <a:bodyPr wrap="square" lIns="21600" tIns="7200" rIns="21600" bIns="7200" anchor="ctr">
            <a:spAutoFit/>
          </a:bodyPr>
          <a:lstStyle/>
          <a:p>
            <a:pPr algn="l"/>
            <a:r>
              <a:rPr sz="1200" b="1">
                <a:solidFill>
                  <a:srgbClr val="FFFFFF"/>
                </a:solidFill>
                <a:latin typeface="メイリオ"/>
                <a:ea typeface="メイリオ"/>
                <a:cs typeface="メイリオ"/>
              </a:rPr>
              <a:t>ミサワホーム北越</a:t>
            </a:r>
          </a:p>
        </p:txBody>
      </p:sp>
      <p:sp>
        <p:nvSpPr>
          <p:cNvPr id="50" name="TextBox 49"/>
          <p:cNvSpPr txBox="1"/>
          <p:nvPr/>
        </p:nvSpPr>
        <p:spPr>
          <a:xfrm>
            <a:off x="5223599" y="4024800"/>
            <a:ext cx="3974399" cy="198000"/>
          </a:xfrm>
          <a:prstGeom prst="rect">
            <a:avLst/>
          </a:prstGeom>
          <a:noFill/>
        </p:spPr>
        <p:txBody>
          <a:bodyPr wrap="square" lIns="21600" tIns="7200" rIns="21600" bIns="7200" anchor="t">
            <a:spAutoFit/>
          </a:bodyPr>
          <a:lstStyle/>
          <a:p>
            <a:pPr algn="l"/>
            <a:r>
              <a:rPr sz="950" b="0">
                <a:solidFill>
                  <a:srgbClr val="7F7F7F"/>
                </a:solidFill>
                <a:latin typeface="メイリオ"/>
                <a:ea typeface="メイリオ"/>
                <a:cs typeface="メイリオ"/>
              </a:rPr>
              <a:t>ミサワホーム北越株式会社</a:t>
            </a:r>
          </a:p>
        </p:txBody>
      </p:sp>
      <p:sp>
        <p:nvSpPr>
          <p:cNvPr id="51" name="TextBox 50"/>
          <p:cNvSpPr txBox="1"/>
          <p:nvPr/>
        </p:nvSpPr>
        <p:spPr>
          <a:xfrm>
            <a:off x="5223599" y="4248000"/>
            <a:ext cx="3974399" cy="468000"/>
          </a:xfrm>
          <a:prstGeom prst="rect">
            <a:avLst/>
          </a:prstGeom>
          <a:noFill/>
        </p:spPr>
        <p:txBody>
          <a:bodyPr wrap="square" lIns="21600" tIns="7200" rIns="21600" bIns="7200" anchor="t">
            <a:spAutoFit/>
          </a:bodyPr>
          <a:lstStyle/>
          <a:p>
            <a:pPr algn="l"/>
            <a:r>
              <a:rPr sz="1000" b="0">
                <a:solidFill>
                  <a:srgbClr val="333333"/>
                </a:solidFill>
                <a:latin typeface="メイリオ"/>
                <a:ea typeface="メイリオ"/>
                <a:cs typeface="メイリオ"/>
              </a:rPr>
              <a:t>地域密着の住宅会社。LINE広告の「友だち追加」でリフォーム代金オフクーポンを配布し、県内50代以上の女性に配信。</a:t>
            </a:r>
          </a:p>
        </p:txBody>
      </p:sp>
      <p:sp>
        <p:nvSpPr>
          <p:cNvPr id="52" name="Rounded Rectangle 51"/>
          <p:cNvSpPr/>
          <p:nvPr/>
        </p:nvSpPr>
        <p:spPr>
          <a:xfrm>
            <a:off x="5223599" y="4752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259599" y="4806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友だち数</a:t>
            </a:r>
          </a:p>
        </p:txBody>
      </p:sp>
      <p:sp>
        <p:nvSpPr>
          <p:cNvPr id="54" name="TextBox 53"/>
          <p:cNvSpPr txBox="1"/>
          <p:nvPr/>
        </p:nvSpPr>
        <p:spPr>
          <a:xfrm>
            <a:off x="5259599" y="4986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5倍に増加</a:t>
            </a:r>
          </a:p>
        </p:txBody>
      </p:sp>
      <p:sp>
        <p:nvSpPr>
          <p:cNvPr id="55" name="Rounded Rectangle 54"/>
          <p:cNvSpPr/>
          <p:nvPr/>
        </p:nvSpPr>
        <p:spPr>
          <a:xfrm>
            <a:off x="6560400" y="4752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96400" y="4806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開始</a:t>
            </a:r>
          </a:p>
        </p:txBody>
      </p:sp>
      <p:sp>
        <p:nvSpPr>
          <p:cNvPr id="57" name="TextBox 56"/>
          <p:cNvSpPr txBox="1"/>
          <p:nvPr/>
        </p:nvSpPr>
        <p:spPr>
          <a:xfrm>
            <a:off x="6596400" y="4986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2020年12月〜</a:t>
            </a:r>
          </a:p>
        </p:txBody>
      </p:sp>
      <p:sp>
        <p:nvSpPr>
          <p:cNvPr id="58" name="Rounded Rectangle 57"/>
          <p:cNvSpPr/>
          <p:nvPr/>
        </p:nvSpPr>
        <p:spPr>
          <a:xfrm>
            <a:off x="7897199" y="4752000"/>
            <a:ext cx="1300800" cy="540000"/>
          </a:xfrm>
          <a:prstGeom prst="roundRect">
            <a:avLst>
              <a:gd name="adj" fmla="val 1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933199" y="4806000"/>
            <a:ext cx="1228800" cy="180000"/>
          </a:xfrm>
          <a:prstGeom prst="rect">
            <a:avLst/>
          </a:prstGeom>
          <a:noFill/>
        </p:spPr>
        <p:txBody>
          <a:bodyPr wrap="square" lIns="21600" tIns="7200" rIns="21600" bIns="7200" anchor="t">
            <a:spAutoFit/>
          </a:bodyPr>
          <a:lstStyle/>
          <a:p>
            <a:pPr algn="ctr"/>
            <a:r>
              <a:rPr sz="900" b="1">
                <a:solidFill>
                  <a:srgbClr val="7F7F7F"/>
                </a:solidFill>
                <a:latin typeface="メイリオ"/>
                <a:ea typeface="メイリオ"/>
                <a:cs typeface="メイリオ"/>
              </a:rPr>
              <a:t>対象</a:t>
            </a:r>
          </a:p>
        </p:txBody>
      </p:sp>
      <p:sp>
        <p:nvSpPr>
          <p:cNvPr id="60" name="TextBox 59"/>
          <p:cNvSpPr txBox="1"/>
          <p:nvPr/>
        </p:nvSpPr>
        <p:spPr>
          <a:xfrm>
            <a:off x="7933199" y="4986000"/>
            <a:ext cx="1228800" cy="270000"/>
          </a:xfrm>
          <a:prstGeom prst="rect">
            <a:avLst/>
          </a:prstGeom>
          <a:noFill/>
        </p:spPr>
        <p:txBody>
          <a:bodyPr wrap="square" lIns="21600" tIns="7200" rIns="21600" bIns="7200" anchor="t">
            <a:spAutoFit/>
          </a:bodyPr>
          <a:lstStyle/>
          <a:p>
            <a:pPr algn="ctr"/>
            <a:r>
              <a:rPr sz="1150" b="1">
                <a:solidFill>
                  <a:srgbClr val="ED7D31"/>
                </a:solidFill>
                <a:latin typeface="メイリオ"/>
                <a:ea typeface="メイリオ"/>
                <a:cs typeface="メイリオ"/>
              </a:rPr>
              <a:t>新潟県内</a:t>
            </a:r>
          </a:p>
        </p:txBody>
      </p:sp>
      <p:sp>
        <p:nvSpPr>
          <p:cNvPr id="61" name="Rounded Rectangle 60"/>
          <p:cNvSpPr/>
          <p:nvPr/>
        </p:nvSpPr>
        <p:spPr>
          <a:xfrm>
            <a:off x="547200" y="5543999"/>
            <a:ext cx="8812800" cy="540000"/>
          </a:xfrm>
          <a:prstGeom prst="roundRect">
            <a:avLst>
              <a:gd name="adj" fmla="val 6000"/>
            </a:avLst>
          </a:prstGeom>
          <a:solidFill>
            <a:srgbClr val="F4F7FF"/>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63200" y="5543999"/>
            <a:ext cx="8380800" cy="540000"/>
          </a:xfrm>
          <a:prstGeom prst="rect">
            <a:avLst/>
          </a:prstGeom>
          <a:noFill/>
        </p:spPr>
        <p:txBody>
          <a:bodyPr wrap="square" lIns="21600" tIns="7200" rIns="21600" bIns="7200" anchor="ctr">
            <a:spAutoFit/>
          </a:bodyPr>
          <a:lstStyle/>
          <a:p>
            <a:pPr algn="l"/>
            <a:r>
              <a:rPr sz="1200" b="1">
                <a:solidFill>
                  <a:srgbClr val="333333"/>
                </a:solidFill>
                <a:latin typeface="メイリオ"/>
                <a:ea typeface="メイリオ"/>
                <a:cs typeface="メイリオ"/>
              </a:rPr>
              <a:t>公開値のみを掲載しています。弊社の推計や他社メディアの二次情報は使用していません。</a:t>
            </a:r>
          </a:p>
        </p:txBody>
      </p:sp>
      <p:sp>
        <p:nvSpPr>
          <p:cNvPr id="63" name="TextBox 62"/>
          <p:cNvSpPr txBox="1"/>
          <p:nvPr/>
        </p:nvSpPr>
        <p:spPr>
          <a:xfrm>
            <a:off x="547200" y="6246000"/>
            <a:ext cx="8812800" cy="432000"/>
          </a:xfrm>
          <a:prstGeom prst="rect">
            <a:avLst/>
          </a:prstGeom>
          <a:noFill/>
        </p:spPr>
        <p:txBody>
          <a:bodyPr wrap="square" lIns="21600" tIns="7200" rIns="21600" bIns="7200" anchor="t">
            <a:spAutoFit/>
          </a:bodyPr>
          <a:lstStyle/>
          <a:p>
            <a:pPr algn="l"/>
            <a:r>
              <a:rPr sz="850" b="0">
                <a:solidFill>
                  <a:srgbClr val="7F7F7F"/>
                </a:solidFill>
                <a:latin typeface="メイリオ"/>
                <a:ea typeface="メイリオ"/>
                <a:cs typeface="メイリオ"/>
              </a:rPr>
              <a:t>※出典：LINEヤフー for Business 導入事例（lycbiz.com）／2026年8月時点の掲載内容。ミサワホーム北越は「その他業界の活用事例」ページに掲載。</a:t>
            </a:r>
          </a:p>
        </p:txBody>
      </p:sp>
    </p:spTree>
    <p:extLst>
      <p:ext uri="{BB962C8B-B14F-4D97-AF65-F5344CB8AC3E}">
        <p14:creationId xmlns:p14="http://schemas.microsoft.com/office/powerpoint/2010/main" val="1932664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3659</Words>
  <Application>Microsoft Office PowerPoint</Application>
  <PresentationFormat>A4 210 x 297 mm</PresentationFormat>
  <Paragraphs>910</Paragraphs>
  <Slides>31</Slides>
  <Notes>12</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31</vt:i4>
      </vt:variant>
    </vt:vector>
  </HeadingPairs>
  <TitlesOfParts>
    <vt:vector size="38"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1919</cp:revision>
  <cp:lastPrinted>2022-11-01T11:38:14Z</cp:lastPrinted>
  <dcterms:created xsi:type="dcterms:W3CDTF">2015-09-04T09:21:15Z</dcterms:created>
  <dcterms:modified xsi:type="dcterms:W3CDTF">2026-09-09T07:17:06Z</dcterms:modified>
</cp:coreProperties>
</file>