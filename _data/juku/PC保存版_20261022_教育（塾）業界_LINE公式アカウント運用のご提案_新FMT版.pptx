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74"/>
  </p:notesMasterIdLst>
  <p:handoutMasterIdLst>
    <p:handoutMasterId r:id="rId75"/>
  </p:handoutMasterIdLst>
  <p:sldIdLst>
    <p:sldId id="2363" r:id="rId3"/>
    <p:sldId id="2726" r:id="rId4"/>
    <p:sldId id="2721" r:id="rId5"/>
    <p:sldId id="2723" r:id="rId6"/>
    <p:sldId id="2724" r:id="rId7"/>
    <p:sldId id="3150" r:id="rId8"/>
    <p:sldId id="3151" r:id="rId9"/>
    <p:sldId id="2365" r:id="rId10"/>
    <p:sldId id="2725" r:id="rId11"/>
    <p:sldId id="2727" r:id="rId12"/>
    <p:sldId id="3152" r:id="rId13"/>
    <p:sldId id="3153" r:id="rId14"/>
    <p:sldId id="3132" r:id="rId15"/>
    <p:sldId id="3154" r:id="rId16"/>
    <p:sldId id="3155" r:id="rId17"/>
    <p:sldId id="3156" r:id="rId18"/>
    <p:sldId id="3157" r:id="rId19"/>
    <p:sldId id="3158" r:id="rId20"/>
    <p:sldId id="3159" r:id="rId21"/>
    <p:sldId id="3160" r:id="rId22"/>
    <p:sldId id="3161" r:id="rId23"/>
    <p:sldId id="3162" r:id="rId24"/>
    <p:sldId id="3163" r:id="rId25"/>
    <p:sldId id="3164" r:id="rId26"/>
    <p:sldId id="3165" r:id="rId27"/>
    <p:sldId id="2728" r:id="rId28"/>
    <p:sldId id="3166" r:id="rId29"/>
    <p:sldId id="3167" r:id="rId30"/>
    <p:sldId id="3168" r:id="rId31"/>
    <p:sldId id="3169" r:id="rId32"/>
    <p:sldId id="3170" r:id="rId33"/>
    <p:sldId id="3171" r:id="rId34"/>
    <p:sldId id="3172" r:id="rId35"/>
    <p:sldId id="3173" r:id="rId36"/>
    <p:sldId id="3174" r:id="rId37"/>
    <p:sldId id="3175" r:id="rId38"/>
    <p:sldId id="3176" r:id="rId39"/>
    <p:sldId id="3177" r:id="rId40"/>
    <p:sldId id="3178" r:id="rId41"/>
    <p:sldId id="2729" r:id="rId42"/>
    <p:sldId id="3179" r:id="rId43"/>
    <p:sldId id="2730" r:id="rId44"/>
    <p:sldId id="2563" r:id="rId45"/>
    <p:sldId id="2959" r:id="rId46"/>
    <p:sldId id="2970" r:id="rId47"/>
    <p:sldId id="2968" r:id="rId48"/>
    <p:sldId id="2969" r:id="rId49"/>
    <p:sldId id="2639" r:id="rId50"/>
    <p:sldId id="2575" r:id="rId51"/>
    <p:sldId id="2910" r:id="rId52"/>
    <p:sldId id="3180" r:id="rId53"/>
    <p:sldId id="3136" r:id="rId54"/>
    <p:sldId id="3137" r:id="rId55"/>
    <p:sldId id="3138" r:id="rId56"/>
    <p:sldId id="3139" r:id="rId57"/>
    <p:sldId id="3140" r:id="rId58"/>
    <p:sldId id="1169" r:id="rId59"/>
    <p:sldId id="3181" r:id="rId60"/>
    <p:sldId id="3182" r:id="rId61"/>
    <p:sldId id="3183" r:id="rId62"/>
    <p:sldId id="3184" r:id="rId63"/>
    <p:sldId id="3185" r:id="rId64"/>
    <p:sldId id="3186" r:id="rId65"/>
    <p:sldId id="3187" r:id="rId66"/>
    <p:sldId id="3188" r:id="rId67"/>
    <p:sldId id="3189" r:id="rId68"/>
    <p:sldId id="3190" r:id="rId69"/>
    <p:sldId id="3191" r:id="rId70"/>
    <p:sldId id="3192" r:id="rId71"/>
    <p:sldId id="3193" r:id="rId72"/>
    <p:sldId id="3194" r:id="rId73"/>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57</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 Id="rId4" Type="http://schemas.openxmlformats.org/officeDocument/2006/relationships/image" Target="../media/image31.jp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jpeg"/><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jpeg"/><Relationship Id="rId7" Type="http://schemas.openxmlformats.org/officeDocument/2006/relationships/image" Target="../media/image54.png"/><Relationship Id="rId2" Type="http://schemas.openxmlformats.org/officeDocument/2006/relationships/image" Target="../media/image49.jpeg"/><Relationship Id="rId1" Type="http://schemas.openxmlformats.org/officeDocument/2006/relationships/slideLayout" Target="../slideLayouts/slideLayout2.xml"/><Relationship Id="rId6" Type="http://schemas.openxmlformats.org/officeDocument/2006/relationships/image" Target="../media/image53.jpeg"/><Relationship Id="rId5" Type="http://schemas.openxmlformats.org/officeDocument/2006/relationships/image" Target="../media/image52.png"/><Relationship Id="rId10" Type="http://schemas.openxmlformats.org/officeDocument/2006/relationships/image" Target="../media/image57.jpeg"/><Relationship Id="rId4" Type="http://schemas.openxmlformats.org/officeDocument/2006/relationships/image" Target="../media/image51.png"/><Relationship Id="rId9" Type="http://schemas.openxmlformats.org/officeDocument/2006/relationships/image" Target="../media/image5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3.emf"/><Relationship Id="rId7" Type="http://schemas.openxmlformats.org/officeDocument/2006/relationships/image" Target="../media/image64.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保護者の「迷っている期間」に寄り添い、資料請求から入会までをつなぐ</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業界：教育（学習塾）</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LINE公式アカウントを検討する背景｜市場データ</a:t>
            </a:r>
          </a:p>
        </p:txBody>
      </p:sp>
      <p:sp>
        <p:nvSpPr>
          <p:cNvPr id="3" name="TextBox 2"/>
          <p:cNvSpPr txBox="1"/>
          <p:nvPr/>
        </p:nvSpPr>
        <p:spPr>
          <a:xfrm>
            <a:off x="432000" y="73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出生数は8年で27.7%減った一方、学習塾市場は伸びている。</a:t>
            </a:r>
          </a:p>
          <a:p>
            <a:pPr algn="l">
              <a:lnSpc>
                <a:spcPct val="128000"/>
              </a:lnSpc>
            </a:pPr>
            <a:r>
              <a:rPr sz="1200" dirty="0" err="1">
                <a:solidFill>
                  <a:srgbClr val="333333"/>
                </a:solidFill>
                <a:latin typeface="メイリオ"/>
                <a:ea typeface="メイリオ"/>
                <a:cs typeface="メイリオ"/>
              </a:rPr>
              <a:t>子どもの数が減るなか、一人ひとりに選ばれるための競争が強まっている。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875599"/>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983599"/>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出生数（2015→2023）</a:t>
            </a:r>
          </a:p>
        </p:txBody>
      </p:sp>
      <p:sp>
        <p:nvSpPr>
          <p:cNvPr id="7" name="TextBox 6"/>
          <p:cNvSpPr txBox="1"/>
          <p:nvPr/>
        </p:nvSpPr>
        <p:spPr>
          <a:xfrm>
            <a:off x="432000" y="2343599"/>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▲27.7%</a:t>
            </a:r>
          </a:p>
        </p:txBody>
      </p:sp>
      <p:sp>
        <p:nvSpPr>
          <p:cNvPr id="8" name="TextBox 7"/>
          <p:cNvSpPr txBox="1"/>
          <p:nvPr/>
        </p:nvSpPr>
        <p:spPr>
          <a:xfrm>
            <a:off x="432000" y="2955599"/>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1,005,677人 → 727,277人</a:t>
            </a:r>
          </a:p>
        </p:txBody>
      </p:sp>
      <p:sp>
        <p:nvSpPr>
          <p:cNvPr id="9" name="Rounded Rectangle 8"/>
          <p:cNvSpPr/>
          <p:nvPr/>
        </p:nvSpPr>
        <p:spPr>
          <a:xfrm>
            <a:off x="3482400" y="1875599"/>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2400" y="1983599"/>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学習塾 市場規模（2020→2024）</a:t>
            </a:r>
          </a:p>
        </p:txBody>
      </p:sp>
      <p:sp>
        <p:nvSpPr>
          <p:cNvPr id="11" name="TextBox 10"/>
          <p:cNvSpPr txBox="1"/>
          <p:nvPr/>
        </p:nvSpPr>
        <p:spPr>
          <a:xfrm>
            <a:off x="3482400" y="2343599"/>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+13.5%</a:t>
            </a:r>
          </a:p>
        </p:txBody>
      </p:sp>
      <p:sp>
        <p:nvSpPr>
          <p:cNvPr id="12" name="TextBox 11"/>
          <p:cNvSpPr txBox="1"/>
          <p:nvPr/>
        </p:nvSpPr>
        <p:spPr>
          <a:xfrm>
            <a:off x="3482400" y="2955599"/>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4,374億円 → 4,965億円</a:t>
            </a:r>
          </a:p>
        </p:txBody>
      </p:sp>
      <p:sp>
        <p:nvSpPr>
          <p:cNvPr id="13" name="Rounded Rectangle 12"/>
          <p:cNvSpPr/>
          <p:nvPr/>
        </p:nvSpPr>
        <p:spPr>
          <a:xfrm>
            <a:off x="6532800" y="1875599"/>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2800" y="1983599"/>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小学校 児童数（2015→2024）</a:t>
            </a:r>
          </a:p>
        </p:txBody>
      </p:sp>
      <p:sp>
        <p:nvSpPr>
          <p:cNvPr id="15" name="TextBox 14"/>
          <p:cNvSpPr txBox="1"/>
          <p:nvPr/>
        </p:nvSpPr>
        <p:spPr>
          <a:xfrm>
            <a:off x="6532800" y="2343599"/>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▲9.7%</a:t>
            </a:r>
          </a:p>
        </p:txBody>
      </p:sp>
      <p:sp>
        <p:nvSpPr>
          <p:cNvPr id="16" name="TextBox 15"/>
          <p:cNvSpPr txBox="1"/>
          <p:nvPr/>
        </p:nvSpPr>
        <p:spPr>
          <a:xfrm>
            <a:off x="6532800" y="2955599"/>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654.3万人 → 591.0万人</a:t>
            </a:r>
          </a:p>
        </p:txBody>
      </p:sp>
      <p:sp>
        <p:nvSpPr>
          <p:cNvPr id="17" name="Rounded Rectangle 16"/>
          <p:cNvSpPr/>
          <p:nvPr/>
        </p:nvSpPr>
        <p:spPr>
          <a:xfrm>
            <a:off x="432000" y="3675599"/>
            <a:ext cx="9043200" cy="61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0000" y="3675599"/>
            <a:ext cx="8827200" cy="612000"/>
          </a:xfrm>
          <a:prstGeom prst="rect">
            <a:avLst/>
          </a:prstGeom>
          <a:noFill/>
        </p:spPr>
        <p:txBody>
          <a:bodyPr wrap="square" lIns="50400" tIns="21600" rIns="50400" bIns="21600" anchor="ctr">
            <a:spAutoFit/>
          </a:bodyPr>
          <a:lstStyle/>
          <a:p>
            <a:pPr algn="l">
              <a:lnSpc>
                <a:spcPct val="130000"/>
              </a:lnSpc>
            </a:pPr>
            <a:r>
              <a:rPr sz="1500" b="1">
                <a:solidFill>
                  <a:srgbClr val="002060"/>
                </a:solidFill>
                <a:latin typeface="メイリオ"/>
                <a:ea typeface="メイリオ"/>
                <a:cs typeface="メイリオ"/>
              </a:rPr>
              <a:t>子どもの数は今後も減り、競争はさらに強まる。検討中の保護者を取りこぼさない仕組みが重要。</a:t>
            </a:r>
          </a:p>
        </p:txBody>
      </p:sp>
      <p:sp>
        <p:nvSpPr>
          <p:cNvPr id="19" name="Rounded Rectangle 18"/>
          <p:cNvSpPr/>
          <p:nvPr/>
        </p:nvSpPr>
        <p:spPr>
          <a:xfrm>
            <a:off x="432000" y="4431599"/>
            <a:ext cx="9043200" cy="900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0000" y="4485599"/>
            <a:ext cx="8827200" cy="664946"/>
          </a:xfrm>
          <a:prstGeom prst="rect">
            <a:avLst/>
          </a:prstGeom>
          <a:noFill/>
        </p:spPr>
        <p:txBody>
          <a:bodyPr wrap="square" lIns="50400" tIns="21600" rIns="50400" bIns="21600" anchor="t">
            <a:spAutoFit/>
          </a:bodyPr>
          <a:lstStyle/>
          <a:p>
            <a:pPr algn="l">
              <a:spcAft>
                <a:spcPts val="400"/>
              </a:spcAft>
            </a:pPr>
            <a:r>
              <a:rPr sz="1100" b="1" dirty="0">
                <a:solidFill>
                  <a:srgbClr val="C00000"/>
                </a:solidFill>
                <a:latin typeface="メイリオ"/>
                <a:ea typeface="メイリオ"/>
                <a:cs typeface="メイリオ"/>
              </a:rPr>
              <a:t>市場規模は「定義」で約2倍変わる</a:t>
            </a:r>
          </a:p>
          <a:p>
            <a:pPr algn="l">
              <a:lnSpc>
                <a:spcPct val="125000"/>
              </a:lnSpc>
              <a:spcAft>
                <a:spcPts val="200"/>
              </a:spcAft>
            </a:pPr>
            <a:r>
              <a:rPr sz="1000" dirty="0">
                <a:solidFill>
                  <a:srgbClr val="333333"/>
                </a:solidFill>
                <a:latin typeface="メイリオ"/>
                <a:ea typeface="メイリオ"/>
                <a:cs typeface="メイリオ"/>
              </a:rPr>
              <a:t>経産省「特定サービス産業動態統計」4,965億円＝受講生500人以上の主要事業者のみ（市場の約4〜5割）。</a:t>
            </a:r>
            <a:r>
              <a:rPr sz="1000" dirty="0" err="1">
                <a:solidFill>
                  <a:srgbClr val="333333"/>
                </a:solidFill>
                <a:latin typeface="メイリオ"/>
                <a:ea typeface="メイリオ"/>
                <a:cs typeface="メイリオ"/>
              </a:rPr>
              <a:t>個人塾・中小は含まない</a:t>
            </a:r>
            <a:r>
              <a:rPr sz="1000" dirty="0">
                <a:solidFill>
                  <a:srgbClr val="333333"/>
                </a:solidFill>
                <a:latin typeface="メイリオ"/>
                <a:ea typeface="メイリオ"/>
                <a:cs typeface="メイリオ"/>
              </a:rPr>
              <a:t>。</a:t>
            </a:r>
          </a:p>
          <a:p>
            <a:pPr algn="l">
              <a:lnSpc>
                <a:spcPct val="125000"/>
              </a:lnSpc>
            </a:pPr>
            <a:r>
              <a:rPr sz="1000" dirty="0">
                <a:solidFill>
                  <a:srgbClr val="333333"/>
                </a:solidFill>
                <a:latin typeface="メイリオ"/>
                <a:ea typeface="メイリオ"/>
                <a:cs typeface="メイリオ"/>
              </a:rPr>
              <a:t>矢野経済研究所の全体推計＝9,870億円（2023年度）。個人経営の補習塾・中小予備校まで含むため約2倍。どちらも正しく、対象の範囲が異なる。</a:t>
            </a:r>
          </a:p>
        </p:txBody>
      </p: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出典｜厚生労働省 人口動態統計（確定数）／経済産業省 特定サービス産業動態統計（2025年3月公表・2024年確報）／文部科学省 学校基本調査（令和6年度確報）／矢野経済研究所「教育産業市場に関する調査」2024年</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前後検索｜誰が調べているか</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塾を調べているのは、40代の母親が中心。塾選びで最も困っているのは、料金ではなく</a:t>
            </a:r>
          </a:p>
          <a:p>
            <a:pPr algn="l">
              <a:lnSpc>
                <a:spcPct val="128000"/>
              </a:lnSpc>
            </a:pPr>
            <a:r>
              <a:rPr sz="1200">
                <a:solidFill>
                  <a:srgbClr val="333333"/>
                </a:solidFill>
                <a:latin typeface="メイリオ"/>
                <a:ea typeface="メイリオ"/>
                <a:cs typeface="メイリオ"/>
              </a:rPr>
              <a:t>「うちの子に合う塾が分からない」（63.5%）。費用よりも、合うかどうか分からないことが決められない理由。</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19999"/>
            <a:ext cx="4176000" cy="336758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92000"/>
            <a:ext cx="3960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誰が調べているか（LINEヤフー前後検索・実測）</a:t>
            </a:r>
          </a:p>
        </p:txBody>
      </p:sp>
      <p:sp>
        <p:nvSpPr>
          <p:cNvPr id="7" name="Rounded Rectangle 6"/>
          <p:cNvSpPr/>
          <p:nvPr/>
        </p:nvSpPr>
        <p:spPr>
          <a:xfrm>
            <a:off x="557999" y="2051999"/>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566235" y="2254458"/>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性別</a:t>
            </a:r>
            <a:endParaRPr sz="1000" b="1" dirty="0">
              <a:solidFill>
                <a:srgbClr val="FFFFFF"/>
              </a:solidFill>
              <a:latin typeface="メイリオ"/>
              <a:ea typeface="メイリオ"/>
              <a:cs typeface="メイリオ"/>
            </a:endParaRPr>
          </a:p>
        </p:txBody>
      </p:sp>
      <p:sp>
        <p:nvSpPr>
          <p:cNvPr id="9" name="TextBox 8"/>
          <p:cNvSpPr txBox="1"/>
          <p:nvPr/>
        </p:nvSpPr>
        <p:spPr>
          <a:xfrm>
            <a:off x="1530000" y="2034167"/>
            <a:ext cx="1080000" cy="536064"/>
          </a:xfrm>
          <a:prstGeom prst="rect">
            <a:avLst/>
          </a:prstGeom>
          <a:noFill/>
        </p:spPr>
        <p:txBody>
          <a:bodyPr wrap="square" lIns="50400" tIns="21600" rIns="50400" bIns="21600" anchor="ctr">
            <a:spAutoFit/>
          </a:bodyPr>
          <a:lstStyle/>
          <a:p>
            <a:pPr algn="ctr"/>
            <a:r>
              <a:rPr sz="1600" b="1" dirty="0" err="1">
                <a:solidFill>
                  <a:srgbClr val="1F285A"/>
                </a:solidFill>
                <a:latin typeface="メイリオ"/>
                <a:ea typeface="メイリオ"/>
                <a:cs typeface="メイリオ"/>
              </a:rPr>
              <a:t>女性</a:t>
            </a:r>
            <a:r>
              <a:rPr sz="1600" b="1" dirty="0">
                <a:solidFill>
                  <a:srgbClr val="1F285A"/>
                </a:solidFill>
                <a:latin typeface="メイリオ"/>
                <a:ea typeface="メイリオ"/>
                <a:cs typeface="メイリオ"/>
              </a:rPr>
              <a:t> 67.4%</a:t>
            </a:r>
          </a:p>
        </p:txBody>
      </p:sp>
      <p:sp>
        <p:nvSpPr>
          <p:cNvPr id="10" name="TextBox 9"/>
          <p:cNvSpPr txBox="1"/>
          <p:nvPr/>
        </p:nvSpPr>
        <p:spPr>
          <a:xfrm>
            <a:off x="2637000" y="2168665"/>
            <a:ext cx="1835999" cy="369096"/>
          </a:xfrm>
          <a:prstGeom prst="rect">
            <a:avLst/>
          </a:prstGeom>
          <a:noFill/>
        </p:spPr>
        <p:txBody>
          <a:bodyPr wrap="square" lIns="50400" tIns="21600" rIns="50400" bIns="21600" anchor="ctr">
            <a:spAutoFit/>
          </a:bodyPr>
          <a:lstStyle/>
          <a:p>
            <a:pPr algn="l">
              <a:lnSpc>
                <a:spcPct val="120000"/>
              </a:lnSpc>
            </a:pPr>
            <a:r>
              <a:rPr sz="900" dirty="0" err="1">
                <a:solidFill>
                  <a:srgbClr val="333333"/>
                </a:solidFill>
                <a:latin typeface="メイリオ"/>
                <a:ea typeface="メイリオ"/>
                <a:cs typeface="メイリオ"/>
              </a:rPr>
              <a:t>起点KW「塾</a:t>
            </a:r>
            <a:r>
              <a:rPr sz="900" dirty="0">
                <a:solidFill>
                  <a:srgbClr val="333333"/>
                </a:solidFill>
                <a:latin typeface="メイリオ"/>
                <a:ea typeface="メイリオ"/>
                <a:cs typeface="メイリオ"/>
              </a:rPr>
              <a:t>」</a:t>
            </a:r>
            <a:endParaRPr lang="en-US" sz="900" dirty="0">
              <a:solidFill>
                <a:srgbClr val="333333"/>
              </a:solidFill>
              <a:latin typeface="メイリオ"/>
              <a:ea typeface="メイリオ"/>
              <a:cs typeface="メイリオ"/>
            </a:endParaRPr>
          </a:p>
          <a:p>
            <a:pPr algn="l">
              <a:lnSpc>
                <a:spcPct val="120000"/>
              </a:lnSpc>
            </a:pPr>
            <a:r>
              <a:rPr sz="900" dirty="0">
                <a:solidFill>
                  <a:srgbClr val="333333"/>
                </a:solidFill>
                <a:latin typeface="メイリオ"/>
                <a:ea typeface="メイリオ"/>
                <a:cs typeface="メイリオ"/>
              </a:rPr>
              <a:t>「塾 費用」も65.5%</a:t>
            </a:r>
          </a:p>
        </p:txBody>
      </p:sp>
      <p:sp>
        <p:nvSpPr>
          <p:cNvPr id="11" name="Rounded Rectangle 10"/>
          <p:cNvSpPr/>
          <p:nvPr/>
        </p:nvSpPr>
        <p:spPr>
          <a:xfrm>
            <a:off x="566235" y="2789377"/>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557237" y="2964370"/>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個別クエリ</a:t>
            </a:r>
            <a:endParaRPr sz="1000" b="1" dirty="0">
              <a:solidFill>
                <a:srgbClr val="FFFFFF"/>
              </a:solidFill>
              <a:latin typeface="メイリオ"/>
              <a:ea typeface="メイリオ"/>
              <a:cs typeface="メイリオ"/>
            </a:endParaRPr>
          </a:p>
        </p:txBody>
      </p:sp>
      <p:sp>
        <p:nvSpPr>
          <p:cNvPr id="13" name="TextBox 12"/>
          <p:cNvSpPr txBox="1"/>
          <p:nvPr/>
        </p:nvSpPr>
        <p:spPr>
          <a:xfrm>
            <a:off x="1565236" y="2785546"/>
            <a:ext cx="1080000" cy="536064"/>
          </a:xfrm>
          <a:prstGeom prst="rect">
            <a:avLst/>
          </a:prstGeom>
          <a:noFill/>
        </p:spPr>
        <p:txBody>
          <a:bodyPr wrap="square" lIns="50400" tIns="21600" rIns="50400" bIns="21600" anchor="ctr">
            <a:spAutoFit/>
          </a:bodyPr>
          <a:lstStyle/>
          <a:p>
            <a:pPr algn="ctr"/>
            <a:r>
              <a:rPr sz="1600" b="1" dirty="0" err="1">
                <a:solidFill>
                  <a:srgbClr val="1F285A"/>
                </a:solidFill>
                <a:latin typeface="メイリオ"/>
                <a:ea typeface="メイリオ"/>
                <a:cs typeface="メイリオ"/>
              </a:rPr>
              <a:t>女性</a:t>
            </a:r>
            <a:r>
              <a:rPr sz="1600" b="1" dirty="0">
                <a:solidFill>
                  <a:srgbClr val="1F285A"/>
                </a:solidFill>
                <a:latin typeface="メイリオ"/>
                <a:ea typeface="メイリオ"/>
                <a:cs typeface="メイリオ"/>
              </a:rPr>
              <a:t> 86〜88%</a:t>
            </a:r>
          </a:p>
        </p:txBody>
      </p:sp>
      <p:sp>
        <p:nvSpPr>
          <p:cNvPr id="14" name="TextBox 13"/>
          <p:cNvSpPr txBox="1"/>
          <p:nvPr/>
        </p:nvSpPr>
        <p:spPr>
          <a:xfrm>
            <a:off x="2618236" y="2780764"/>
            <a:ext cx="1835999" cy="535295"/>
          </a:xfrm>
          <a:prstGeom prst="rect">
            <a:avLst/>
          </a:prstGeom>
          <a:noFill/>
        </p:spPr>
        <p:txBody>
          <a:bodyPr wrap="square" lIns="50400" tIns="21600" rIns="50400" bIns="21600" anchor="ctr">
            <a:spAutoFit/>
          </a:bodyPr>
          <a:lstStyle/>
          <a:p>
            <a:pPr algn="l">
              <a:lnSpc>
                <a:spcPct val="120000"/>
              </a:lnSpc>
            </a:pPr>
            <a:r>
              <a:rPr sz="900" dirty="0">
                <a:solidFill>
                  <a:srgbClr val="333333"/>
                </a:solidFill>
                <a:latin typeface="メイリオ"/>
                <a:ea typeface="メイリオ"/>
                <a:cs typeface="メイリオ"/>
              </a:rPr>
              <a:t>「塾 いつから通わせる」86.5%／「</a:t>
            </a:r>
            <a:r>
              <a:rPr sz="900" dirty="0" err="1">
                <a:solidFill>
                  <a:srgbClr val="333333"/>
                </a:solidFill>
                <a:latin typeface="メイリオ"/>
                <a:ea typeface="メイリオ"/>
                <a:cs typeface="メイリオ"/>
              </a:rPr>
              <a:t>高校受験</a:t>
            </a:r>
            <a:r>
              <a:rPr sz="900" dirty="0">
                <a:solidFill>
                  <a:srgbClr val="333333"/>
                </a:solidFill>
                <a:latin typeface="メイリオ"/>
                <a:ea typeface="メイリオ"/>
                <a:cs typeface="メイリオ"/>
              </a:rPr>
              <a:t> 塾 いつから」87.9%</a:t>
            </a:r>
          </a:p>
        </p:txBody>
      </p:sp>
      <p:sp>
        <p:nvSpPr>
          <p:cNvPr id="15" name="Rounded Rectangle 14"/>
          <p:cNvSpPr/>
          <p:nvPr/>
        </p:nvSpPr>
        <p:spPr>
          <a:xfrm>
            <a:off x="547200" y="3534116"/>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547200" y="3711609"/>
            <a:ext cx="900000" cy="197510"/>
          </a:xfrm>
          <a:prstGeom prst="rect">
            <a:avLst/>
          </a:prstGeom>
          <a:noFill/>
        </p:spPr>
        <p:txBody>
          <a:bodyPr wrap="square" lIns="50400" tIns="21600" rIns="50400" bIns="21600" anchor="ctr">
            <a:spAutoFit/>
          </a:bodyPr>
          <a:lstStyle/>
          <a:p>
            <a:pPr algn="ctr"/>
            <a:r>
              <a:rPr sz="1000" b="1">
                <a:solidFill>
                  <a:srgbClr val="FFFFFF"/>
                </a:solidFill>
                <a:latin typeface="メイリオ"/>
                <a:ea typeface="メイリオ"/>
                <a:cs typeface="メイリオ"/>
              </a:rPr>
              <a:t>年代</a:t>
            </a:r>
          </a:p>
        </p:txBody>
      </p:sp>
      <p:sp>
        <p:nvSpPr>
          <p:cNvPr id="17" name="TextBox 16"/>
          <p:cNvSpPr txBox="1"/>
          <p:nvPr/>
        </p:nvSpPr>
        <p:spPr>
          <a:xfrm>
            <a:off x="1519201" y="3532792"/>
            <a:ext cx="1080000" cy="536064"/>
          </a:xfrm>
          <a:prstGeom prst="rect">
            <a:avLst/>
          </a:prstGeom>
          <a:noFill/>
        </p:spPr>
        <p:txBody>
          <a:bodyPr wrap="square" lIns="50400" tIns="21600" rIns="50400" bIns="21600" anchor="ctr">
            <a:spAutoFit/>
          </a:bodyPr>
          <a:lstStyle/>
          <a:p>
            <a:pPr algn="ctr"/>
            <a:r>
              <a:rPr sz="1600" b="1" dirty="0">
                <a:solidFill>
                  <a:srgbClr val="1F285A"/>
                </a:solidFill>
                <a:latin typeface="メイリオ"/>
                <a:ea typeface="メイリオ"/>
                <a:cs typeface="メイリオ"/>
              </a:rPr>
              <a:t>40代 52.8%</a:t>
            </a:r>
          </a:p>
        </p:txBody>
      </p:sp>
      <p:sp>
        <p:nvSpPr>
          <p:cNvPr id="18" name="TextBox 17"/>
          <p:cNvSpPr txBox="1"/>
          <p:nvPr/>
        </p:nvSpPr>
        <p:spPr>
          <a:xfrm>
            <a:off x="2599201" y="3629769"/>
            <a:ext cx="1835999" cy="369096"/>
          </a:xfrm>
          <a:prstGeom prst="rect">
            <a:avLst/>
          </a:prstGeom>
          <a:noFill/>
        </p:spPr>
        <p:txBody>
          <a:bodyPr wrap="square" lIns="50400" tIns="21600" rIns="50400" bIns="21600" anchor="ctr">
            <a:spAutoFit/>
          </a:bodyPr>
          <a:lstStyle/>
          <a:p>
            <a:pPr algn="l">
              <a:lnSpc>
                <a:spcPct val="120000"/>
              </a:lnSpc>
            </a:pPr>
            <a:r>
              <a:rPr sz="900" dirty="0">
                <a:solidFill>
                  <a:srgbClr val="333333"/>
                </a:solidFill>
                <a:latin typeface="メイリオ"/>
                <a:ea typeface="メイリオ"/>
                <a:cs typeface="メイリオ"/>
              </a:rPr>
              <a:t>50代23.5%／30代11.1%</a:t>
            </a:r>
            <a:endParaRPr lang="en-US" sz="900" dirty="0">
              <a:solidFill>
                <a:srgbClr val="333333"/>
              </a:solidFill>
              <a:latin typeface="メイリオ"/>
              <a:ea typeface="メイリオ"/>
              <a:cs typeface="メイリオ"/>
            </a:endParaRPr>
          </a:p>
          <a:p>
            <a:pPr algn="l">
              <a:lnSpc>
                <a:spcPct val="120000"/>
              </a:lnSpc>
            </a:pPr>
            <a:r>
              <a:rPr sz="900" dirty="0">
                <a:solidFill>
                  <a:srgbClr val="333333"/>
                </a:solidFill>
                <a:latin typeface="メイリオ"/>
                <a:ea typeface="メイリオ"/>
                <a:cs typeface="メイリオ"/>
              </a:rPr>
              <a:t>（同音異義語を除いた数値）</a:t>
            </a:r>
          </a:p>
        </p:txBody>
      </p:sp>
      <p:sp>
        <p:nvSpPr>
          <p:cNvPr id="19" name="Rounded Rectangle 18"/>
          <p:cNvSpPr/>
          <p:nvPr/>
        </p:nvSpPr>
        <p:spPr>
          <a:xfrm>
            <a:off x="571201" y="4256255"/>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566235" y="4433748"/>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学年別の違い</a:t>
            </a:r>
            <a:endParaRPr sz="1000" b="1" dirty="0">
              <a:solidFill>
                <a:srgbClr val="FFFFFF"/>
              </a:solidFill>
              <a:latin typeface="メイリオ"/>
              <a:ea typeface="メイリオ"/>
              <a:cs typeface="メイリオ"/>
            </a:endParaRPr>
          </a:p>
        </p:txBody>
      </p:sp>
      <p:sp>
        <p:nvSpPr>
          <p:cNvPr id="21" name="TextBox 20"/>
          <p:cNvSpPr txBox="1"/>
          <p:nvPr/>
        </p:nvSpPr>
        <p:spPr>
          <a:xfrm>
            <a:off x="1543202" y="4274695"/>
            <a:ext cx="1080000" cy="536064"/>
          </a:xfrm>
          <a:prstGeom prst="rect">
            <a:avLst/>
          </a:prstGeom>
          <a:noFill/>
        </p:spPr>
        <p:txBody>
          <a:bodyPr wrap="square" lIns="50400" tIns="21600" rIns="50400" bIns="21600" anchor="ctr">
            <a:spAutoFit/>
          </a:bodyPr>
          <a:lstStyle/>
          <a:p>
            <a:pPr algn="ctr"/>
            <a:r>
              <a:rPr sz="1600" b="1" dirty="0">
                <a:solidFill>
                  <a:srgbClr val="1F285A"/>
                </a:solidFill>
                <a:latin typeface="メイリオ"/>
                <a:ea typeface="メイリオ"/>
                <a:cs typeface="メイリオ"/>
              </a:rPr>
              <a:t>30代 22.1%</a:t>
            </a:r>
          </a:p>
        </p:txBody>
      </p:sp>
      <p:sp>
        <p:nvSpPr>
          <p:cNvPr id="22" name="TextBox 21"/>
          <p:cNvSpPr txBox="1"/>
          <p:nvPr/>
        </p:nvSpPr>
        <p:spPr>
          <a:xfrm>
            <a:off x="2650201" y="4348247"/>
            <a:ext cx="1835999" cy="369096"/>
          </a:xfrm>
          <a:prstGeom prst="rect">
            <a:avLst/>
          </a:prstGeom>
          <a:noFill/>
        </p:spPr>
        <p:txBody>
          <a:bodyPr wrap="square" lIns="50400" tIns="21600" rIns="50400" bIns="21600" anchor="ctr">
            <a:spAutoFit/>
          </a:bodyPr>
          <a:lstStyle/>
          <a:p>
            <a:pPr algn="l">
              <a:lnSpc>
                <a:spcPct val="120000"/>
              </a:lnSpc>
            </a:pPr>
            <a:r>
              <a:rPr sz="900" dirty="0">
                <a:solidFill>
                  <a:srgbClr val="333333"/>
                </a:solidFill>
                <a:latin typeface="メイリオ"/>
                <a:ea typeface="メイリオ"/>
                <a:cs typeface="メイリオ"/>
              </a:rPr>
              <a:t>「塾 費用」では30代が上昇</a:t>
            </a:r>
            <a:endParaRPr lang="en-US" sz="900" dirty="0">
              <a:solidFill>
                <a:srgbClr val="333333"/>
              </a:solidFill>
              <a:latin typeface="メイリオ"/>
              <a:ea typeface="メイリオ"/>
              <a:cs typeface="メイリオ"/>
            </a:endParaRPr>
          </a:p>
          <a:p>
            <a:pPr algn="l">
              <a:lnSpc>
                <a:spcPct val="120000"/>
              </a:lnSpc>
            </a:pPr>
            <a:r>
              <a:rPr sz="900" dirty="0">
                <a:solidFill>
                  <a:srgbClr val="333333"/>
                </a:solidFill>
                <a:latin typeface="メイリオ"/>
                <a:ea typeface="メイリオ"/>
                <a:cs typeface="メイリオ"/>
              </a:rPr>
              <a:t>＝小学生の保護者は30代が多い</a:t>
            </a:r>
          </a:p>
        </p:txBody>
      </p:sp>
      <p:sp>
        <p:nvSpPr>
          <p:cNvPr id="24" name="Rounded Rectangle 23"/>
          <p:cNvSpPr/>
          <p:nvPr/>
        </p:nvSpPr>
        <p:spPr>
          <a:xfrm>
            <a:off x="4823999" y="1619999"/>
            <a:ext cx="4651200" cy="3367587"/>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49999" y="1692000"/>
            <a:ext cx="4392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保護者の心の声（データから読み取れること）</a:t>
            </a:r>
          </a:p>
        </p:txBody>
      </p:sp>
      <p:sp>
        <p:nvSpPr>
          <p:cNvPr id="26" name="Rounded Rectangle 25"/>
          <p:cNvSpPr/>
          <p:nvPr/>
        </p:nvSpPr>
        <p:spPr>
          <a:xfrm>
            <a:off x="4949999" y="2051998"/>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a:t>
            </a:r>
            <a:r>
              <a:rPr sz="1100" b="1" dirty="0" err="1">
                <a:solidFill>
                  <a:srgbClr val="333333"/>
                </a:solidFill>
                <a:latin typeface="メイリオ"/>
                <a:ea typeface="メイリオ"/>
                <a:cs typeface="メイリオ"/>
              </a:rPr>
              <a:t>うちの子に合うのか、通ってみるまで分からない</a:t>
            </a:r>
            <a:r>
              <a:rPr sz="1100" b="1" dirty="0">
                <a:solidFill>
                  <a:srgbClr val="333333"/>
                </a:solidFill>
                <a:latin typeface="メイリオ"/>
                <a:ea typeface="メイリオ"/>
                <a:cs typeface="メイリオ"/>
              </a:rPr>
              <a:t>」</a:t>
            </a:r>
          </a:p>
          <a:p>
            <a:pPr algn="l">
              <a:lnSpc>
                <a:spcPct val="115000"/>
              </a:lnSpc>
            </a:pPr>
            <a:r>
              <a:rPr sz="900" dirty="0" err="1">
                <a:solidFill>
                  <a:srgbClr val="7F7F7F"/>
                </a:solidFill>
                <a:latin typeface="メイリオ"/>
                <a:ea typeface="メイリオ"/>
                <a:cs typeface="メイリオ"/>
              </a:rPr>
              <a:t>塾選び最大の苦労</a:t>
            </a:r>
            <a:r>
              <a:rPr sz="900" dirty="0">
                <a:solidFill>
                  <a:srgbClr val="7F7F7F"/>
                </a:solidFill>
                <a:latin typeface="メイリオ"/>
                <a:ea typeface="メイリオ"/>
                <a:cs typeface="メイリオ"/>
              </a:rPr>
              <a:t> 63.5%（塾ナラ2025・n=200）</a:t>
            </a:r>
          </a:p>
        </p:txBody>
      </p:sp>
      <p:sp>
        <p:nvSpPr>
          <p:cNvPr id="27" name="Rounded Rectangle 26"/>
          <p:cNvSpPr/>
          <p:nvPr/>
        </p:nvSpPr>
        <p:spPr>
          <a:xfrm>
            <a:off x="4942799" y="2806673"/>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a:t>
            </a:r>
            <a:r>
              <a:rPr sz="1100" b="1" dirty="0" err="1">
                <a:solidFill>
                  <a:srgbClr val="333333"/>
                </a:solidFill>
                <a:latin typeface="メイリオ"/>
                <a:ea typeface="メイリオ"/>
                <a:cs typeface="メイリオ"/>
              </a:rPr>
              <a:t>集団と個別、どっちが向いてるのか判断できない</a:t>
            </a:r>
            <a:r>
              <a:rPr sz="1100" b="1" dirty="0">
                <a:solidFill>
                  <a:srgbClr val="333333"/>
                </a:solidFill>
                <a:latin typeface="メイリオ"/>
                <a:ea typeface="メイリオ"/>
                <a:cs typeface="メイリオ"/>
              </a:rPr>
              <a:t>」</a:t>
            </a:r>
          </a:p>
          <a:p>
            <a:pPr algn="l">
              <a:lnSpc>
                <a:spcPct val="115000"/>
              </a:lnSpc>
            </a:pPr>
            <a:r>
              <a:rPr sz="900" dirty="0">
                <a:solidFill>
                  <a:srgbClr val="7F7F7F"/>
                </a:solidFill>
                <a:latin typeface="メイリオ"/>
                <a:ea typeface="メイリオ"/>
                <a:cs typeface="メイリオ"/>
              </a:rPr>
              <a:t>「情報が多すぎる」17.0%</a:t>
            </a:r>
          </a:p>
        </p:txBody>
      </p:sp>
      <p:sp>
        <p:nvSpPr>
          <p:cNvPr id="28" name="Rounded Rectangle 27"/>
          <p:cNvSpPr/>
          <p:nvPr/>
        </p:nvSpPr>
        <p:spPr>
          <a:xfrm>
            <a:off x="4942799" y="3561348"/>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a:t>
            </a:r>
            <a:r>
              <a:rPr sz="1100" b="1" dirty="0" err="1">
                <a:solidFill>
                  <a:srgbClr val="333333"/>
                </a:solidFill>
                <a:latin typeface="メイリオ"/>
                <a:ea typeface="メイリオ"/>
                <a:cs typeface="メイリオ"/>
              </a:rPr>
              <a:t>月謝の他に講習費がいくら乗るのか読めない</a:t>
            </a:r>
            <a:r>
              <a:rPr sz="1100" b="1" dirty="0">
                <a:solidFill>
                  <a:srgbClr val="333333"/>
                </a:solidFill>
                <a:latin typeface="メイリオ"/>
                <a:ea typeface="メイリオ"/>
                <a:cs typeface="メイリオ"/>
              </a:rPr>
              <a:t>」</a:t>
            </a:r>
          </a:p>
          <a:p>
            <a:pPr algn="l">
              <a:lnSpc>
                <a:spcPct val="115000"/>
              </a:lnSpc>
            </a:pPr>
            <a:r>
              <a:rPr sz="900" dirty="0">
                <a:solidFill>
                  <a:srgbClr val="7F7F7F"/>
                </a:solidFill>
                <a:latin typeface="メイリオ"/>
                <a:ea typeface="メイリオ"/>
                <a:cs typeface="メイリオ"/>
              </a:rPr>
              <a:t>費用に負担を感じる91.2%／一方で「妥当」57.7%（塾シル2026）</a:t>
            </a:r>
          </a:p>
        </p:txBody>
      </p:sp>
      <p:sp>
        <p:nvSpPr>
          <p:cNvPr id="29" name="Rounded Rectangle 28"/>
          <p:cNvSpPr/>
          <p:nvPr/>
        </p:nvSpPr>
        <p:spPr>
          <a:xfrm>
            <a:off x="4942799" y="4274467"/>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「集団と個別、どちらに入れたらいいのか」</a:t>
            </a:r>
          </a:p>
          <a:p>
            <a:pPr algn="l">
              <a:lnSpc>
                <a:spcPct val="115000"/>
              </a:lnSpc>
            </a:pPr>
            <a:r>
              <a:rPr sz="900" dirty="0">
                <a:solidFill>
                  <a:srgbClr val="7F7F7F"/>
                </a:solidFill>
                <a:latin typeface="メイリオ"/>
                <a:ea typeface="メイリオ"/>
                <a:cs typeface="メイリオ"/>
              </a:rPr>
              <a:t>塾を決めるのに関わる人：保護者80.5%（明光2020）</a:t>
            </a:r>
          </a:p>
        </p:txBody>
      </p:sp>
      <p:sp>
        <p:nvSpPr>
          <p:cNvPr id="30" name="Rounded Rectangle 29"/>
          <p:cNvSpPr/>
          <p:nvPr/>
        </p:nvSpPr>
        <p:spPr>
          <a:xfrm>
            <a:off x="442800" y="5316193"/>
            <a:ext cx="9043200" cy="6012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dirty="0" err="1">
                <a:solidFill>
                  <a:srgbClr val="FFFFFF"/>
                </a:solidFill>
                <a:latin typeface="メイリオ"/>
                <a:ea typeface="メイリオ"/>
                <a:cs typeface="メイリオ"/>
              </a:rPr>
              <a:t>費用より、「合うかどうか分からない」ことが決められない理由。</a:t>
            </a:r>
            <a:endParaRPr lang="en-US" sz="1400" b="1" dirty="0">
              <a:solidFill>
                <a:srgbClr val="FFFFFF"/>
              </a:solidFill>
              <a:latin typeface="メイリオ"/>
              <a:ea typeface="メイリオ"/>
              <a:cs typeface="メイリオ"/>
            </a:endParaRPr>
          </a:p>
          <a:p>
            <a:pPr algn="ctr"/>
            <a:r>
              <a:rPr sz="1400" b="1" dirty="0" err="1">
                <a:solidFill>
                  <a:srgbClr val="FFFFFF"/>
                </a:solidFill>
                <a:latin typeface="メイリオ"/>
                <a:ea typeface="メイリオ"/>
                <a:cs typeface="メイリオ"/>
              </a:rPr>
              <a:t>だから、申し込む前に「合う・合わない」を確かめられるようにする。</a:t>
            </a:r>
          </a:p>
        </p:txBody>
      </p:sp>
      <p:sp>
        <p:nvSpPr>
          <p:cNvPr id="33" name="TextBox 3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出典｜LINEヤフー前後検索（2022-05〜2023-05・実測）／塾ナラ2025（n=200）／塾シル・ユナイトプロジェクト2026（n=249）／明光ネットワークジャパン2020</a:t>
            </a:r>
          </a:p>
        </p:txBody>
      </p:sp>
      <p:sp>
        <p:nvSpPr>
          <p:cNvPr id="34" name="Pentagon 33"/>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5" name="Chevron 3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6" name="Chevron 35"/>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37" name="Chevron 36"/>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8" name="Chevron 3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9" name="Chevron 3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40" name="Chevron 3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41" name="Chevron 4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4961186"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全体設計想定</a:t>
            </a:r>
          </a:p>
        </p:txBody>
      </p:sp>
      <p:sp>
        <p:nvSpPr>
          <p:cNvPr id="3" name="TextBox 2"/>
          <p:cNvSpPr txBox="1"/>
          <p:nvPr/>
        </p:nvSpPr>
        <p:spPr>
          <a:xfrm>
            <a:off x="432000" y="82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まず気軽な申し込み（資料請求）でつながり、体験予約、入会へ進んでいただく。</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入会は教室で行うため、LINEで計測する</a:t>
            </a:r>
            <a:r>
              <a:rPr lang="ja-JP" altLang="en-US" sz="1200" dirty="0">
                <a:solidFill>
                  <a:srgbClr val="333333"/>
                </a:solidFill>
                <a:latin typeface="メイリオ"/>
                <a:ea typeface="メイリオ"/>
                <a:cs typeface="メイリオ"/>
              </a:rPr>
              <a:t>成果地点</a:t>
            </a:r>
            <a:r>
              <a:rPr sz="1200" dirty="0">
                <a:solidFill>
                  <a:srgbClr val="333333"/>
                </a:solidFill>
                <a:latin typeface="メイリオ"/>
                <a:ea typeface="メイリオ"/>
                <a:cs typeface="メイリオ"/>
              </a:rPr>
              <a:t>は資料請求と体験予約の2つ。</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Pentagon 12"/>
          <p:cNvSpPr/>
          <p:nvPr/>
        </p:nvSpPr>
        <p:spPr>
          <a:xfrm>
            <a:off x="432000" y="1584000"/>
            <a:ext cx="1254857" cy="36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①接触</a:t>
            </a:r>
          </a:p>
        </p:txBody>
      </p:sp>
      <p:sp>
        <p:nvSpPr>
          <p:cNvPr id="14" name="Rounded Rectangle 13"/>
          <p:cNvSpPr/>
          <p:nvPr/>
        </p:nvSpPr>
        <p:spPr>
          <a:xfrm>
            <a:off x="450000"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広告・チラシ</a:t>
            </a:r>
          </a:p>
          <a:p>
            <a:pPr algn="ctr"/>
            <a:r>
              <a:rPr sz="1100" b="0">
                <a:solidFill>
                  <a:srgbClr val="333333"/>
                </a:solidFill>
                <a:latin typeface="メイリオ"/>
                <a:ea typeface="メイリオ"/>
                <a:cs typeface="メイリオ"/>
              </a:rPr>
              <a:t>・口コミ</a:t>
            </a:r>
          </a:p>
        </p:txBody>
      </p:sp>
      <p:sp>
        <p:nvSpPr>
          <p:cNvPr id="15" name="Chevron 14"/>
          <p:cNvSpPr/>
          <p:nvPr/>
        </p:nvSpPr>
        <p:spPr>
          <a:xfrm>
            <a:off x="1730057"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②離脱</a:t>
            </a:r>
          </a:p>
        </p:txBody>
      </p:sp>
      <p:sp>
        <p:nvSpPr>
          <p:cNvPr id="16" name="Rounded Rectangle 15"/>
          <p:cNvSpPr/>
          <p:nvPr/>
        </p:nvSpPr>
        <p:spPr>
          <a:xfrm>
            <a:off x="1748057"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帰る保護者を</a:t>
            </a:r>
          </a:p>
          <a:p>
            <a:pPr algn="ctr"/>
            <a:r>
              <a:rPr sz="1100" b="0">
                <a:solidFill>
                  <a:srgbClr val="333333"/>
                </a:solidFill>
                <a:latin typeface="メイリオ"/>
                <a:ea typeface="メイリオ"/>
                <a:cs typeface="メイリオ"/>
              </a:rPr>
              <a:t>離脱防止でLINEへ</a:t>
            </a:r>
          </a:p>
        </p:txBody>
      </p:sp>
      <p:sp>
        <p:nvSpPr>
          <p:cNvPr id="17" name="Chevron 16"/>
          <p:cNvSpPr/>
          <p:nvPr/>
        </p:nvSpPr>
        <p:spPr>
          <a:xfrm>
            <a:off x="3028114"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③育成</a:t>
            </a:r>
          </a:p>
        </p:txBody>
      </p:sp>
      <p:sp>
        <p:nvSpPr>
          <p:cNvPr id="18" name="Rounded Rectangle 17"/>
          <p:cNvSpPr/>
          <p:nvPr/>
        </p:nvSpPr>
        <p:spPr>
          <a:xfrm>
            <a:off x="3046114"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比べている間</a:t>
            </a:r>
          </a:p>
          <a:p>
            <a:pPr algn="ctr"/>
            <a:r>
              <a:rPr sz="1100" b="0">
                <a:solidFill>
                  <a:srgbClr val="333333"/>
                </a:solidFill>
                <a:latin typeface="メイリオ"/>
                <a:ea typeface="メイリオ"/>
                <a:cs typeface="メイリオ"/>
              </a:rPr>
              <a:t>情報を届ける</a:t>
            </a:r>
          </a:p>
        </p:txBody>
      </p:sp>
      <p:sp>
        <p:nvSpPr>
          <p:cNvPr id="19" name="Chevron 18"/>
          <p:cNvSpPr/>
          <p:nvPr/>
        </p:nvSpPr>
        <p:spPr>
          <a:xfrm>
            <a:off x="4326171"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④リード獲得</a:t>
            </a:r>
          </a:p>
        </p:txBody>
      </p:sp>
      <p:sp>
        <p:nvSpPr>
          <p:cNvPr id="20" name="Rounded Rectangle 19"/>
          <p:cNvSpPr/>
          <p:nvPr/>
        </p:nvSpPr>
        <p:spPr>
          <a:xfrm>
            <a:off x="4344171"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30秒診断 →</a:t>
            </a:r>
          </a:p>
          <a:p>
            <a:pPr algn="ctr"/>
            <a:r>
              <a:rPr sz="1100" b="0">
                <a:solidFill>
                  <a:srgbClr val="333333"/>
                </a:solidFill>
                <a:latin typeface="メイリオ"/>
                <a:ea typeface="メイリオ"/>
                <a:cs typeface="メイリオ"/>
              </a:rPr>
              <a:t>資料をLINEで</a:t>
            </a:r>
          </a:p>
        </p:txBody>
      </p:sp>
      <p:sp>
        <p:nvSpPr>
          <p:cNvPr id="21" name="Chevron 20"/>
          <p:cNvSpPr/>
          <p:nvPr/>
        </p:nvSpPr>
        <p:spPr>
          <a:xfrm>
            <a:off x="5624228"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⑤リード有効化</a:t>
            </a:r>
          </a:p>
        </p:txBody>
      </p:sp>
      <p:sp>
        <p:nvSpPr>
          <p:cNvPr id="22" name="Rounded Rectangle 21"/>
          <p:cNvSpPr/>
          <p:nvPr/>
        </p:nvSpPr>
        <p:spPr>
          <a:xfrm>
            <a:off x="5642228"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資料を読む方へ</a:t>
            </a:r>
          </a:p>
          <a:p>
            <a:pPr algn="ctr"/>
            <a:r>
              <a:rPr sz="1100" b="0">
                <a:solidFill>
                  <a:srgbClr val="333333"/>
                </a:solidFill>
                <a:latin typeface="メイリオ"/>
                <a:ea typeface="メイリオ"/>
                <a:cs typeface="メイリオ"/>
              </a:rPr>
              <a:t>続けて配信→体験予約</a:t>
            </a:r>
          </a:p>
        </p:txBody>
      </p:sp>
      <p:sp>
        <p:nvSpPr>
          <p:cNvPr id="23" name="Chevron 22"/>
          <p:cNvSpPr/>
          <p:nvPr/>
        </p:nvSpPr>
        <p:spPr>
          <a:xfrm>
            <a:off x="6922285"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⑥再育成</a:t>
            </a:r>
          </a:p>
        </p:txBody>
      </p:sp>
      <p:sp>
        <p:nvSpPr>
          <p:cNvPr id="24" name="Rounded Rectangle 23"/>
          <p:cNvSpPr/>
          <p:nvPr/>
        </p:nvSpPr>
        <p:spPr>
          <a:xfrm>
            <a:off x="6940285"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体験に来なかった・</a:t>
            </a:r>
          </a:p>
          <a:p>
            <a:pPr algn="ctr"/>
            <a:r>
              <a:rPr sz="1100" b="0">
                <a:solidFill>
                  <a:srgbClr val="333333"/>
                </a:solidFill>
                <a:latin typeface="メイリオ"/>
                <a:ea typeface="メイリオ"/>
                <a:cs typeface="メイリオ"/>
              </a:rPr>
              <a:t>入会しなかった方へ</a:t>
            </a:r>
          </a:p>
        </p:txBody>
      </p:sp>
      <p:sp>
        <p:nvSpPr>
          <p:cNvPr id="25" name="Chevron 24"/>
          <p:cNvSpPr/>
          <p:nvPr/>
        </p:nvSpPr>
        <p:spPr>
          <a:xfrm>
            <a:off x="8220342"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⑦入会（契約）</a:t>
            </a:r>
          </a:p>
        </p:txBody>
      </p:sp>
      <p:sp>
        <p:nvSpPr>
          <p:cNvPr id="26" name="Rounded Rectangle 25"/>
          <p:cNvSpPr/>
          <p:nvPr/>
        </p:nvSpPr>
        <p:spPr>
          <a:xfrm>
            <a:off x="8238342"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教室で入会</a:t>
            </a:r>
          </a:p>
          <a:p>
            <a:pPr algn="ctr"/>
            <a:r>
              <a:rPr sz="1100" b="0">
                <a:solidFill>
                  <a:srgbClr val="333333"/>
                </a:solidFill>
                <a:latin typeface="メイリオ"/>
                <a:ea typeface="メイリオ"/>
                <a:cs typeface="メイリオ"/>
              </a:rPr>
              <a:t>（LINEでは計測しない）</a:t>
            </a:r>
          </a:p>
        </p:txBody>
      </p:sp>
      <p:cxnSp>
        <p:nvCxnSpPr>
          <p:cNvPr id="27" name="Connector 26"/>
          <p:cNvCxnSpPr/>
          <p:nvPr/>
        </p:nvCxnSpPr>
        <p:spPr>
          <a:xfrm>
            <a:off x="4953600"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344171" y="32040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FFFFFF"/>
                </a:solidFill>
                <a:latin typeface="メイリオ"/>
                <a:ea typeface="メイリオ"/>
                <a:cs typeface="メイリオ"/>
              </a:rPr>
              <a:t>CV①</a:t>
            </a:r>
          </a:p>
          <a:p>
            <a:pPr algn="ctr"/>
            <a:r>
              <a:rPr sz="1000" b="1">
                <a:solidFill>
                  <a:srgbClr val="FFFFFF"/>
                </a:solidFill>
                <a:latin typeface="メイリオ"/>
                <a:ea typeface="メイリオ"/>
                <a:cs typeface="メイリオ"/>
              </a:rPr>
              <a:t>資料請求</a:t>
            </a:r>
          </a:p>
        </p:txBody>
      </p:sp>
      <p:cxnSp>
        <p:nvCxnSpPr>
          <p:cNvPr id="29" name="Connector 28"/>
          <p:cNvCxnSpPr/>
          <p:nvPr/>
        </p:nvCxnSpPr>
        <p:spPr>
          <a:xfrm>
            <a:off x="6251657"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642228" y="32040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FFFFFF"/>
                </a:solidFill>
                <a:latin typeface="メイリオ"/>
                <a:ea typeface="メイリオ"/>
                <a:cs typeface="メイリオ"/>
              </a:rPr>
              <a:t>CV②</a:t>
            </a:r>
          </a:p>
          <a:p>
            <a:pPr algn="ctr"/>
            <a:r>
              <a:rPr sz="1000" b="1">
                <a:solidFill>
                  <a:srgbClr val="FFFFFF"/>
                </a:solidFill>
                <a:latin typeface="メイリオ"/>
                <a:ea typeface="メイリオ"/>
                <a:cs typeface="メイリオ"/>
              </a:rPr>
              <a:t>体験予約</a:t>
            </a:r>
          </a:p>
        </p:txBody>
      </p:sp>
      <p:cxnSp>
        <p:nvCxnSpPr>
          <p:cNvPr id="31" name="Connector 30"/>
          <p:cNvCxnSpPr/>
          <p:nvPr/>
        </p:nvCxnSpPr>
        <p:spPr>
          <a:xfrm>
            <a:off x="8847771" y="2862000"/>
            <a:ext cx="0" cy="342000"/>
          </a:xfrm>
          <a:prstGeom prst="line">
            <a:avLst/>
          </a:prstGeom>
          <a:ln w="25400">
            <a:solidFill>
              <a:srgbClr val="1F285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38342" y="3204000"/>
            <a:ext cx="1218857" cy="4320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FFFFFF"/>
                </a:solidFill>
                <a:latin typeface="メイリオ"/>
                <a:ea typeface="メイリオ"/>
                <a:cs typeface="メイリオ"/>
              </a:rPr>
              <a:t>入会</a:t>
            </a:r>
          </a:p>
          <a:p>
            <a:pPr algn="ctr"/>
            <a:r>
              <a:rPr sz="1000" b="1">
                <a:solidFill>
                  <a:srgbClr val="FFFFFF"/>
                </a:solidFill>
                <a:latin typeface="メイリオ"/>
                <a:ea typeface="メイリオ"/>
                <a:cs typeface="メイリオ"/>
              </a:rPr>
              <a:t>（契約）</a:t>
            </a:r>
          </a:p>
        </p:txBody>
      </p:sp>
      <p:sp>
        <p:nvSpPr>
          <p:cNvPr id="33" name="Rectangle 32"/>
          <p:cNvSpPr/>
          <p:nvPr/>
        </p:nvSpPr>
        <p:spPr>
          <a:xfrm>
            <a:off x="4218171" y="3643199"/>
            <a:ext cx="2768914" cy="1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850" b="1">
                <a:solidFill>
                  <a:srgbClr val="1F285A"/>
                </a:solidFill>
                <a:latin typeface="メイリオ"/>
                <a:ea typeface="メイリオ"/>
                <a:cs typeface="メイリオ"/>
              </a:rPr>
              <a:t>↑ この間に「読んで・比べて・迷う」期間がある ↑</a:t>
            </a:r>
          </a:p>
        </p:txBody>
      </p:sp>
      <p:sp>
        <p:nvSpPr>
          <p:cNvPr id="34" name="Rounded Rectangle 33"/>
          <p:cNvSpPr/>
          <p:nvPr/>
        </p:nvSpPr>
        <p:spPr>
          <a:xfrm>
            <a:off x="432000" y="3816000"/>
            <a:ext cx="9043200" cy="1475999"/>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ectangle 34"/>
          <p:cNvSpPr/>
          <p:nvPr/>
        </p:nvSpPr>
        <p:spPr>
          <a:xfrm>
            <a:off x="576000" y="3870000"/>
            <a:ext cx="87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2060"/>
                </a:solidFill>
                <a:latin typeface="メイリオ"/>
                <a:ea typeface="メイリオ"/>
                <a:cs typeface="メイリオ"/>
              </a:rPr>
              <a:t>CVを2段に分ける理由</a:t>
            </a:r>
          </a:p>
        </p:txBody>
      </p:sp>
      <p:sp>
        <p:nvSpPr>
          <p:cNvPr id="36" name="Rectangle 35"/>
          <p:cNvSpPr/>
          <p:nvPr/>
        </p:nvSpPr>
        <p:spPr>
          <a:xfrm>
            <a:off x="576000" y="4212000"/>
            <a:ext cx="424800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897B"/>
                </a:solidFill>
                <a:latin typeface="メイリオ"/>
                <a:ea typeface="メイリオ"/>
                <a:cs typeface="メイリオ"/>
              </a:rPr>
              <a:t>CV① 資料請求（気軽な申し込み）</a:t>
            </a:r>
          </a:p>
          <a:p>
            <a:pPr algn="l"/>
            <a:r>
              <a:rPr sz="1250" b="0">
                <a:solidFill>
                  <a:srgbClr val="333333"/>
                </a:solidFill>
                <a:latin typeface="メイリオ"/>
                <a:ea typeface="メイリオ"/>
                <a:cs typeface="メイリオ"/>
              </a:rPr>
              <a:t>・まだ決めていない保護者でも、気軽に申し込める</a:t>
            </a:r>
          </a:p>
          <a:p>
            <a:pPr algn="l"/>
            <a:r>
              <a:rPr sz="1250" b="0">
                <a:solidFill>
                  <a:srgbClr val="333333"/>
                </a:solidFill>
                <a:latin typeface="メイリオ"/>
                <a:ea typeface="メイリオ"/>
                <a:cs typeface="メイリオ"/>
              </a:rPr>
              <a:t>・学年や悩みが分かり、その後の配信を合わせられる</a:t>
            </a:r>
          </a:p>
        </p:txBody>
      </p:sp>
      <p:sp>
        <p:nvSpPr>
          <p:cNvPr id="37" name="Rectangle 36"/>
          <p:cNvSpPr/>
          <p:nvPr/>
        </p:nvSpPr>
        <p:spPr>
          <a:xfrm>
            <a:off x="5004000" y="4212000"/>
            <a:ext cx="432000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00897B"/>
                </a:solidFill>
                <a:latin typeface="メイリオ"/>
                <a:ea typeface="メイリオ"/>
                <a:cs typeface="メイリオ"/>
              </a:rPr>
              <a:t>CV② 体験予約（検討が進んだ申し込み）</a:t>
            </a:r>
          </a:p>
          <a:p>
            <a:pPr algn="l"/>
            <a:r>
              <a:rPr sz="1350" b="0">
                <a:solidFill>
                  <a:srgbClr val="333333"/>
                </a:solidFill>
                <a:latin typeface="メイリオ"/>
                <a:ea typeface="メイリオ"/>
                <a:cs typeface="メイリオ"/>
              </a:rPr>
              <a:t>・資料を読んで「合いそう」と思った保護者が進む</a:t>
            </a:r>
          </a:p>
          <a:p>
            <a:pPr algn="l"/>
            <a:r>
              <a:rPr sz="1350" b="0">
                <a:solidFill>
                  <a:srgbClr val="333333"/>
                </a:solidFill>
                <a:latin typeface="メイリオ"/>
                <a:ea typeface="メイリオ"/>
                <a:cs typeface="メイリオ"/>
              </a:rPr>
              <a:t>・体験に来ていただければ、入会は教室でご案内できる</a:t>
            </a:r>
          </a:p>
        </p:txBody>
      </p:sp>
      <p:sp>
        <p:nvSpPr>
          <p:cNvPr id="38" name="Rounded Rectangle 37"/>
          <p:cNvSpPr/>
          <p:nvPr/>
        </p:nvSpPr>
        <p:spPr>
          <a:xfrm>
            <a:off x="432000" y="5436000"/>
            <a:ext cx="9043200" cy="468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700" b="1">
                <a:solidFill>
                  <a:srgbClr val="FFFFFF"/>
                </a:solidFill>
                <a:latin typeface="メイリオ"/>
                <a:ea typeface="メイリオ"/>
                <a:cs typeface="メイリオ"/>
              </a:rPr>
              <a:t>いきなり体験をおすすめせず、資料請求 → 体験予約 → 入会の順に進んでいただく。</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改善したいフロー｜8フェーズのうち最大の課題</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入会までの8フェーズのうち、保護者が一番離れているのはどこか。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塾では、資料請求から体験予約までの間（⑤リード有効化）が、最大の課題になりやすいと考える。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ectangle 12"/>
          <p:cNvSpPr/>
          <p:nvPr/>
        </p:nvSpPr>
        <p:spPr>
          <a:xfrm>
            <a:off x="429768" y="1600200"/>
            <a:ext cx="1106424" cy="384048"/>
          </a:xfrm>
          <a:prstGeom prst="homePlate">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①接触</a:t>
            </a:r>
            <a:endParaRPr lang="ja-JP" altLang="en-US" sz="1000" dirty="0"/>
          </a:p>
        </p:txBody>
      </p:sp>
      <p:sp>
        <p:nvSpPr>
          <p:cNvPr id="14" name="Rectangle 13"/>
          <p:cNvSpPr/>
          <p:nvPr/>
        </p:nvSpPr>
        <p:spPr>
          <a:xfrm>
            <a:off x="1560195"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②離脱</a:t>
            </a:r>
            <a:endParaRPr lang="ja-JP" altLang="en-US" sz="1000" dirty="0"/>
          </a:p>
        </p:txBody>
      </p:sp>
      <p:sp>
        <p:nvSpPr>
          <p:cNvPr id="15" name="Rectangle 14"/>
          <p:cNvSpPr/>
          <p:nvPr/>
        </p:nvSpPr>
        <p:spPr>
          <a:xfrm>
            <a:off x="2690622"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③育成</a:t>
            </a:r>
            <a:endParaRPr lang="ja-JP" altLang="en-US" sz="1000" dirty="0"/>
          </a:p>
        </p:txBody>
      </p:sp>
      <p:sp>
        <p:nvSpPr>
          <p:cNvPr id="16" name="Rectangle 15"/>
          <p:cNvSpPr/>
          <p:nvPr/>
        </p:nvSpPr>
        <p:spPr>
          <a:xfrm>
            <a:off x="3821049"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④リード獲得</a:t>
            </a:r>
            <a:endParaRPr lang="ja-JP" altLang="en-US" sz="1000" dirty="0"/>
          </a:p>
        </p:txBody>
      </p:sp>
      <p:sp>
        <p:nvSpPr>
          <p:cNvPr id="17" name="Rectangle 16"/>
          <p:cNvSpPr/>
          <p:nvPr/>
        </p:nvSpPr>
        <p:spPr>
          <a:xfrm>
            <a:off x="4951476" y="1600200"/>
            <a:ext cx="1106424" cy="384048"/>
          </a:xfrm>
          <a:prstGeom prst="chevron">
            <a:avLst/>
          </a:prstGeom>
          <a:solidFill>
            <a:srgbClr val="1F285A"/>
          </a:solidFill>
          <a:ln>
            <a:noFill/>
          </a:ln>
        </p:spPr>
        <p:txBody>
          <a:bodyPr wrap="square" lIns="91440" tIns="18288" rIns="18288" bIns="18288"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⑤リード有効化</a:t>
            </a:r>
            <a:endParaRPr lang="ja-JP" altLang="en-US" sz="1000" dirty="0"/>
          </a:p>
        </p:txBody>
      </p:sp>
      <p:sp>
        <p:nvSpPr>
          <p:cNvPr id="18" name="Rectangle 17"/>
          <p:cNvSpPr/>
          <p:nvPr/>
        </p:nvSpPr>
        <p:spPr>
          <a:xfrm>
            <a:off x="6081903"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⑥再育成</a:t>
            </a:r>
            <a:endParaRPr lang="ja-JP" altLang="en-US" sz="1000" dirty="0"/>
          </a:p>
        </p:txBody>
      </p:sp>
      <p:sp>
        <p:nvSpPr>
          <p:cNvPr id="19" name="Rectangle 18"/>
          <p:cNvSpPr/>
          <p:nvPr/>
        </p:nvSpPr>
        <p:spPr>
          <a:xfrm>
            <a:off x="7212330"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⑦入会（契約）</a:t>
            </a:r>
            <a:endParaRPr lang="ja-JP" altLang="en-US" sz="1000" dirty="0"/>
          </a:p>
        </p:txBody>
      </p:sp>
      <p:sp>
        <p:nvSpPr>
          <p:cNvPr id="20" name="Rectangle 19"/>
          <p:cNvSpPr/>
          <p:nvPr/>
        </p:nvSpPr>
        <p:spPr>
          <a:xfrm>
            <a:off x="8342757"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⑧紹介</a:t>
            </a:r>
            <a:endParaRPr lang="ja-JP" altLang="en-US" sz="1000" dirty="0"/>
          </a:p>
        </p:txBody>
      </p:sp>
      <p:sp>
        <p:nvSpPr>
          <p:cNvPr id="21" name="Rounded Rectangle 20"/>
          <p:cNvSpPr/>
          <p:nvPr/>
        </p:nvSpPr>
        <p:spPr>
          <a:xfrm>
            <a:off x="4773168" y="2057400"/>
            <a:ext cx="1463040" cy="274320"/>
          </a:xfrm>
          <a:prstGeom prst="roundRect">
            <a:avLst/>
          </a:prstGeom>
          <a:solidFill>
            <a:srgbClr val="C00000"/>
          </a:solidFill>
          <a:ln>
            <a:noFill/>
          </a:ln>
        </p:spPr>
        <p:txBody>
          <a:bodyPr wrap="square" lIns="18288" tIns="0" rIns="18288"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最大の課題</a:t>
            </a:r>
            <a:endParaRPr lang="ja-JP" altLang="en-US" sz="1100" dirty="0"/>
          </a:p>
        </p:txBody>
      </p:sp>
      <p:sp>
        <p:nvSpPr>
          <p:cNvPr id="22" name="Rounded Rectangle 21"/>
          <p:cNvSpPr/>
          <p:nvPr/>
        </p:nvSpPr>
        <p:spPr>
          <a:xfrm>
            <a:off x="429768"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ounded Rectangle 22"/>
          <p:cNvSpPr/>
          <p:nvPr/>
        </p:nvSpPr>
        <p:spPr>
          <a:xfrm>
            <a:off x="429768"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550" b="1" dirty="0">
                <a:solidFill>
                  <a:srgbClr val="1F285A"/>
                </a:solidFill>
                <a:latin typeface="メイリオ" panose="020B0604030504040204" pitchFamily="50" charset="-128"/>
                <a:ea typeface="メイリオ" panose="020B0604030504040204" pitchFamily="50" charset="-128"/>
              </a:rPr>
              <a:t>② 離脱</a:t>
            </a:r>
            <a:endParaRPr lang="ja-JP" altLang="en-US" sz="1550" dirty="0"/>
          </a:p>
        </p:txBody>
      </p:sp>
      <p:sp>
        <p:nvSpPr>
          <p:cNvPr id="24" name="Rectangle 23"/>
          <p:cNvSpPr/>
          <p:nvPr/>
        </p:nvSpPr>
        <p:spPr>
          <a:xfrm>
            <a:off x="566928"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サイトを訪れても、問い合わせをせずに離れる保護者が多い。</a:t>
            </a:r>
            <a:endParaRPr lang="ja-JP" altLang="en-US" sz="1250" dirty="0"/>
          </a:p>
        </p:txBody>
      </p:sp>
      <p:sp>
        <p:nvSpPr>
          <p:cNvPr id="25" name="Rectangle 24"/>
          <p:cNvSpPr/>
          <p:nvPr/>
        </p:nvSpPr>
        <p:spPr>
          <a:xfrm>
            <a:off x="566928"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離脱防止ポップアップで、サイトを離れる前にLINEの友だちになっていただく。</a:t>
            </a:r>
            <a:endParaRPr lang="ja-JP" altLang="en-US" sz="1250" dirty="0"/>
          </a:p>
        </p:txBody>
      </p:sp>
      <p:sp>
        <p:nvSpPr>
          <p:cNvPr id="26" name="Rounded Rectangle 25"/>
          <p:cNvSpPr/>
          <p:nvPr/>
        </p:nvSpPr>
        <p:spPr>
          <a:xfrm>
            <a:off x="3511296" y="2514600"/>
            <a:ext cx="2880360" cy="2606040"/>
          </a:xfrm>
          <a:prstGeom prst="roundRect">
            <a:avLst>
              <a:gd name="adj" fmla="val 5000"/>
            </a:avLst>
          </a:prstGeom>
          <a:solidFill>
            <a:srgbClr val="FFFFFF"/>
          </a:solidFill>
          <a:ln w="28575">
            <a:solidFill>
              <a:srgbClr val="1F285A"/>
            </a:solidFill>
          </a:ln>
        </p:spPr>
        <p:txBody>
          <a:bodyPr wrap="square" lIns="73152" tIns="36576" rIns="73152" bIns="36576" rtlCol="0" anchor="ctr">
            <a:noAutofit/>
          </a:bodyPr>
          <a:lstStyle/>
          <a:p>
            <a:pPr algn="l">
              <a:buNone/>
            </a:pPr>
            <a:endParaRPr lang="ja-JP" altLang="en-US" sz="1200" dirty="0"/>
          </a:p>
        </p:txBody>
      </p:sp>
      <p:sp>
        <p:nvSpPr>
          <p:cNvPr id="27" name="Rounded Rectangle 26"/>
          <p:cNvSpPr/>
          <p:nvPr/>
        </p:nvSpPr>
        <p:spPr>
          <a:xfrm>
            <a:off x="3511296" y="2514600"/>
            <a:ext cx="2880360" cy="411480"/>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550" b="1" dirty="0">
                <a:solidFill>
                  <a:srgbClr val="FFFFFF"/>
                </a:solidFill>
                <a:latin typeface="メイリオ" panose="020B0604030504040204" pitchFamily="50" charset="-128"/>
                <a:ea typeface="メイリオ" panose="020B0604030504040204" pitchFamily="50" charset="-128"/>
              </a:rPr>
              <a:t>⑤ リード有効化</a:t>
            </a:r>
            <a:endParaRPr lang="ja-JP" altLang="en-US" sz="1550" dirty="0"/>
          </a:p>
        </p:txBody>
      </p:sp>
      <p:sp>
        <p:nvSpPr>
          <p:cNvPr id="28" name="Rectangle 27"/>
          <p:cNvSpPr/>
          <p:nvPr/>
        </p:nvSpPr>
        <p:spPr>
          <a:xfrm>
            <a:off x="3648456"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資料請求のあと、体験予約までの間に「読んで・比べて・迷う」期間があり、ここで他の塾に流れやすい。</a:t>
            </a:r>
            <a:endParaRPr lang="ja-JP" altLang="en-US" sz="1250" dirty="0"/>
          </a:p>
        </p:txBody>
      </p:sp>
      <p:sp>
        <p:nvSpPr>
          <p:cNvPr id="29" name="Rectangle 28"/>
          <p:cNvSpPr/>
          <p:nvPr/>
        </p:nvSpPr>
        <p:spPr>
          <a:xfrm>
            <a:off x="3648456"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迷っている間も配信を届け続け、体験予約につなげる。</a:t>
            </a:r>
            <a:endParaRPr lang="ja-JP" altLang="en-US" sz="1250" dirty="0"/>
          </a:p>
        </p:txBody>
      </p:sp>
      <p:sp>
        <p:nvSpPr>
          <p:cNvPr id="30" name="Rounded Rectangle 29"/>
          <p:cNvSpPr/>
          <p:nvPr/>
        </p:nvSpPr>
        <p:spPr>
          <a:xfrm>
            <a:off x="6592824"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31" name="Rounded Rectangle 30"/>
          <p:cNvSpPr/>
          <p:nvPr/>
        </p:nvSpPr>
        <p:spPr>
          <a:xfrm>
            <a:off x="6592824"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550" b="1" dirty="0">
                <a:solidFill>
                  <a:srgbClr val="1F285A"/>
                </a:solidFill>
                <a:latin typeface="メイリオ" panose="020B0604030504040204" pitchFamily="50" charset="-128"/>
                <a:ea typeface="メイリオ" panose="020B0604030504040204" pitchFamily="50" charset="-128"/>
              </a:rPr>
              <a:t>⑥ 再育成</a:t>
            </a:r>
            <a:endParaRPr lang="ja-JP" altLang="en-US" sz="1550" dirty="0"/>
          </a:p>
        </p:txBody>
      </p:sp>
      <p:sp>
        <p:nvSpPr>
          <p:cNvPr id="32" name="Rectangle 31"/>
          <p:cNvSpPr/>
          <p:nvPr/>
        </p:nvSpPr>
        <p:spPr>
          <a:xfrm>
            <a:off x="6729984"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体験に来なかった・入会しなかった保護者とは、つながりが途切れやすい。</a:t>
            </a:r>
            <a:endParaRPr lang="ja-JP" altLang="en-US" sz="1250" dirty="0"/>
          </a:p>
        </p:txBody>
      </p:sp>
      <p:sp>
        <p:nvSpPr>
          <p:cNvPr id="33" name="Rectangle 32"/>
          <p:cNvSpPr/>
          <p:nvPr/>
        </p:nvSpPr>
        <p:spPr>
          <a:xfrm>
            <a:off x="6729984"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時期に合わせた企画配信で、もう一度ご案内する。</a:t>
            </a:r>
            <a:endParaRPr lang="ja-JP" altLang="en-US" sz="1250" dirty="0"/>
          </a:p>
        </p:txBody>
      </p:sp>
      <p:sp>
        <p:nvSpPr>
          <p:cNvPr id="34" name="Rounded Rectangle 33"/>
          <p:cNvSpPr/>
          <p:nvPr/>
        </p:nvSpPr>
        <p:spPr>
          <a:xfrm>
            <a:off x="429768" y="5394960"/>
            <a:ext cx="9043416" cy="457200"/>
          </a:xfrm>
          <a:prstGeom prst="roundRect">
            <a:avLst/>
          </a:prstGeom>
          <a:solidFill>
            <a:srgbClr val="1F285A"/>
          </a:solidFill>
          <a:ln>
            <a:noFill/>
          </a:ln>
        </p:spPr>
        <p:txBody>
          <a:bodyPr wrap="square" lIns="73152" tIns="36576" rIns="73152" bIns="36576" rtlCol="0" anchor="ctr">
            <a:noAutofit/>
          </a:bodyPr>
          <a:lstStyle/>
          <a:p>
            <a:pPr algn="ctr">
              <a:buNone/>
            </a:pPr>
            <a:r>
              <a:rPr lang="ja-JP" altLang="en-US" sz="1550" b="1" dirty="0">
                <a:solidFill>
                  <a:srgbClr val="FFFFFF"/>
                </a:solidFill>
                <a:latin typeface="メイリオ" panose="020B0604030504040204" pitchFamily="50" charset="-128"/>
                <a:ea typeface="メイリオ" panose="020B0604030504040204" pitchFamily="50" charset="-128"/>
              </a:rPr>
              <a:t>貴塾で最も改善したいフェーズを伺い、それに合わせたプランをご提案する。</a:t>
            </a:r>
            <a:endParaRPr lang="ja-JP" alt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LINEの施策は、目的ごとに5つのパターンに分けられる。</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施策全体像</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最初につくるのは、診断・リッチメニュー・14日間の配信。</a:t>
            </a:r>
          </a:p>
          <a:p>
            <a:pPr algn="l">
              <a:lnSpc>
                <a:spcPct val="128000"/>
              </a:lnSpc>
            </a:pPr>
            <a:r>
              <a:rPr sz="1200">
                <a:solidFill>
                  <a:srgbClr val="333333"/>
                </a:solidFill>
                <a:latin typeface="メイリオ"/>
                <a:ea typeface="メイリオ"/>
                <a:cs typeface="メイリオ"/>
              </a:rPr>
              <a:t>その後は毎月、企画配信と出し分け配信を運用する。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32000" y="1512000"/>
            <a:ext cx="44280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最初につくるもの</a:t>
            </a:r>
          </a:p>
        </p:txBody>
      </p:sp>
      <p:sp>
        <p:nvSpPr>
          <p:cNvPr id="14" name="Rounded Rectangle 13"/>
          <p:cNvSpPr/>
          <p:nvPr/>
        </p:nvSpPr>
        <p:spPr>
          <a:xfrm>
            <a:off x="4320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LINE公式アカウントの設定（未開設の場合）</a:t>
            </a:r>
          </a:p>
        </p:txBody>
      </p:sp>
      <p:sp>
        <p:nvSpPr>
          <p:cNvPr id="15" name="Rounded Rectangle 14"/>
          <p:cNvSpPr/>
          <p:nvPr/>
        </p:nvSpPr>
        <p:spPr>
          <a:xfrm>
            <a:off x="4068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①</a:t>
            </a:r>
          </a:p>
        </p:txBody>
      </p:sp>
      <p:sp>
        <p:nvSpPr>
          <p:cNvPr id="16" name="Rounded Rectangle 15"/>
          <p:cNvSpPr/>
          <p:nvPr/>
        </p:nvSpPr>
        <p:spPr>
          <a:xfrm>
            <a:off x="4320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サイトの離脱防止ポップアップ</a:t>
            </a:r>
          </a:p>
        </p:txBody>
      </p:sp>
      <p:sp>
        <p:nvSpPr>
          <p:cNvPr id="17" name="Rounded Rectangle 16"/>
          <p:cNvSpPr/>
          <p:nvPr/>
        </p:nvSpPr>
        <p:spPr>
          <a:xfrm>
            <a:off x="4068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②</a:t>
            </a:r>
          </a:p>
        </p:txBody>
      </p:sp>
      <p:sp>
        <p:nvSpPr>
          <p:cNvPr id="18" name="Rounded Rectangle 17"/>
          <p:cNvSpPr/>
          <p:nvPr/>
        </p:nvSpPr>
        <p:spPr>
          <a:xfrm>
            <a:off x="4320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あいさつメッセージ</a:t>
            </a:r>
          </a:p>
        </p:txBody>
      </p:sp>
      <p:sp>
        <p:nvSpPr>
          <p:cNvPr id="19" name="Rounded Rectangle 18"/>
          <p:cNvSpPr/>
          <p:nvPr/>
        </p:nvSpPr>
        <p:spPr>
          <a:xfrm>
            <a:off x="4068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0" name="Rounded Rectangle 19"/>
          <p:cNvSpPr/>
          <p:nvPr/>
        </p:nvSpPr>
        <p:spPr>
          <a:xfrm>
            <a:off x="4320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30秒ぴったり診断（4問）</a:t>
            </a:r>
          </a:p>
        </p:txBody>
      </p:sp>
      <p:sp>
        <p:nvSpPr>
          <p:cNvPr id="21" name="Rounded Rectangle 20"/>
          <p:cNvSpPr/>
          <p:nvPr/>
        </p:nvSpPr>
        <p:spPr>
          <a:xfrm>
            <a:off x="4068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2" name="Rounded Rectangle 21"/>
          <p:cNvSpPr/>
          <p:nvPr/>
        </p:nvSpPr>
        <p:spPr>
          <a:xfrm>
            <a:off x="4320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LINEで資料請求の仕組み</a:t>
            </a:r>
          </a:p>
        </p:txBody>
      </p:sp>
      <p:sp>
        <p:nvSpPr>
          <p:cNvPr id="23" name="Rounded Rectangle 22"/>
          <p:cNvSpPr/>
          <p:nvPr/>
        </p:nvSpPr>
        <p:spPr>
          <a:xfrm>
            <a:off x="4068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4" name="Rounded Rectangle 23"/>
          <p:cNvSpPr/>
          <p:nvPr/>
        </p:nvSpPr>
        <p:spPr>
          <a:xfrm>
            <a:off x="432000" y="3996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リッチメニュー（2タブ）</a:t>
            </a:r>
          </a:p>
        </p:txBody>
      </p:sp>
      <p:sp>
        <p:nvSpPr>
          <p:cNvPr id="25" name="Rounded Rectangle 24"/>
          <p:cNvSpPr/>
          <p:nvPr/>
        </p:nvSpPr>
        <p:spPr>
          <a:xfrm>
            <a:off x="4068000" y="40679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全体</a:t>
            </a:r>
          </a:p>
        </p:txBody>
      </p:sp>
      <p:sp>
        <p:nvSpPr>
          <p:cNvPr id="26" name="Rounded Rectangle 25"/>
          <p:cNvSpPr/>
          <p:nvPr/>
        </p:nvSpPr>
        <p:spPr>
          <a:xfrm>
            <a:off x="432000" y="4420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14日間の配信（未入会の保護者向け）</a:t>
            </a:r>
          </a:p>
        </p:txBody>
      </p:sp>
      <p:sp>
        <p:nvSpPr>
          <p:cNvPr id="27" name="Rounded Rectangle 26"/>
          <p:cNvSpPr/>
          <p:nvPr/>
        </p:nvSpPr>
        <p:spPr>
          <a:xfrm>
            <a:off x="4068000" y="4492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③⑤</a:t>
            </a:r>
          </a:p>
        </p:txBody>
      </p:sp>
      <p:sp>
        <p:nvSpPr>
          <p:cNvPr id="28" name="Rounded Rectangle 27"/>
          <p:cNvSpPr/>
          <p:nvPr/>
        </p:nvSpPr>
        <p:spPr>
          <a:xfrm>
            <a:off x="432000" y="4845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キーワード自動応答（料金・体験・持ち物）</a:t>
            </a:r>
          </a:p>
        </p:txBody>
      </p:sp>
      <p:sp>
        <p:nvSpPr>
          <p:cNvPr id="29" name="Rounded Rectangle 28"/>
          <p:cNvSpPr/>
          <p:nvPr/>
        </p:nvSpPr>
        <p:spPr>
          <a:xfrm>
            <a:off x="4068000" y="4917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a:t>
            </a:r>
          </a:p>
        </p:txBody>
      </p:sp>
      <p:sp>
        <p:nvSpPr>
          <p:cNvPr id="30" name="Rounded Rectangle 29"/>
          <p:cNvSpPr/>
          <p:nvPr/>
        </p:nvSpPr>
        <p:spPr>
          <a:xfrm>
            <a:off x="5047200" y="1512000"/>
            <a:ext cx="44280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毎月運用するもの</a:t>
            </a:r>
          </a:p>
        </p:txBody>
      </p:sp>
      <p:sp>
        <p:nvSpPr>
          <p:cNvPr id="31" name="Rounded Rectangle 30"/>
          <p:cNvSpPr/>
          <p:nvPr/>
        </p:nvSpPr>
        <p:spPr>
          <a:xfrm>
            <a:off x="50472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企画配信（月1〜2本・年間カレンダーに沿って）</a:t>
            </a:r>
          </a:p>
        </p:txBody>
      </p:sp>
      <p:sp>
        <p:nvSpPr>
          <p:cNvPr id="32" name="Rounded Rectangle 31"/>
          <p:cNvSpPr/>
          <p:nvPr/>
        </p:nvSpPr>
        <p:spPr>
          <a:xfrm>
            <a:off x="8676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③</a:t>
            </a:r>
          </a:p>
        </p:txBody>
      </p:sp>
      <p:sp>
        <p:nvSpPr>
          <p:cNvPr id="33" name="Rounded Rectangle 32"/>
          <p:cNvSpPr/>
          <p:nvPr/>
        </p:nvSpPr>
        <p:spPr>
          <a:xfrm>
            <a:off x="50472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診断結果に合わせた出し分け配信</a:t>
            </a:r>
          </a:p>
        </p:txBody>
      </p:sp>
      <p:sp>
        <p:nvSpPr>
          <p:cNvPr id="34" name="Rounded Rectangle 33"/>
          <p:cNvSpPr/>
          <p:nvPr/>
        </p:nvSpPr>
        <p:spPr>
          <a:xfrm>
            <a:off x="8676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⑤⑥</a:t>
            </a:r>
          </a:p>
        </p:txBody>
      </p:sp>
      <p:sp>
        <p:nvSpPr>
          <p:cNvPr id="35" name="Rounded Rectangle 34"/>
          <p:cNvSpPr/>
          <p:nvPr/>
        </p:nvSpPr>
        <p:spPr>
          <a:xfrm>
            <a:off x="50472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体験予約者への前日リマインド（自動）</a:t>
            </a:r>
          </a:p>
        </p:txBody>
      </p:sp>
      <p:sp>
        <p:nvSpPr>
          <p:cNvPr id="36" name="Rounded Rectangle 35"/>
          <p:cNvSpPr/>
          <p:nvPr/>
        </p:nvSpPr>
        <p:spPr>
          <a:xfrm>
            <a:off x="8676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⑤⑦</a:t>
            </a:r>
          </a:p>
        </p:txBody>
      </p:sp>
      <p:sp>
        <p:nvSpPr>
          <p:cNvPr id="37" name="Rounded Rectangle 36"/>
          <p:cNvSpPr/>
          <p:nvPr/>
        </p:nvSpPr>
        <p:spPr>
          <a:xfrm>
            <a:off x="50472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過去に問い合わせた保護者への再案内</a:t>
            </a:r>
          </a:p>
        </p:txBody>
      </p:sp>
      <p:sp>
        <p:nvSpPr>
          <p:cNvPr id="38" name="Rounded Rectangle 37"/>
          <p:cNvSpPr/>
          <p:nvPr/>
        </p:nvSpPr>
        <p:spPr>
          <a:xfrm>
            <a:off x="8676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⑥</a:t>
            </a:r>
          </a:p>
        </p:txBody>
      </p:sp>
      <p:sp>
        <p:nvSpPr>
          <p:cNvPr id="39" name="Rounded Rectangle 38"/>
          <p:cNvSpPr/>
          <p:nvPr/>
        </p:nvSpPr>
        <p:spPr>
          <a:xfrm>
            <a:off x="50472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月次レポートと定例会</a:t>
            </a:r>
          </a:p>
        </p:txBody>
      </p:sp>
      <p:sp>
        <p:nvSpPr>
          <p:cNvPr id="40" name="Rounded Rectangle 39"/>
          <p:cNvSpPr/>
          <p:nvPr/>
        </p:nvSpPr>
        <p:spPr>
          <a:xfrm>
            <a:off x="8676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全体</a:t>
            </a:r>
          </a:p>
        </p:txBody>
      </p:sp>
      <p:sp>
        <p:nvSpPr>
          <p:cNvPr id="41" name="Rounded Rectangle 40"/>
          <p:cNvSpPr/>
          <p:nvPr/>
        </p:nvSpPr>
        <p:spPr>
          <a:xfrm>
            <a:off x="5047200" y="4068000"/>
            <a:ext cx="4428000" cy="118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特に作り込むのは、診断・リッチメニュー・14日間の配信の3つ。</a:t>
            </a:r>
          </a:p>
          <a:p>
            <a:pPr algn="ctr"/>
            <a:r>
              <a:rPr sz="1100" b="0">
                <a:solidFill>
                  <a:srgbClr val="333333"/>
                </a:solidFill>
                <a:latin typeface="メイリオ"/>
                <a:ea typeface="メイリオ"/>
                <a:cs typeface="メイリオ"/>
              </a:rPr>
              <a:t>この3つが、その後のすべての配信の土台になる。</a:t>
            </a:r>
          </a:p>
        </p:txBody>
      </p:sp>
      <p:sp>
        <p:nvSpPr>
          <p:cNvPr id="42" name="Rectangle 41"/>
          <p:cNvSpPr/>
          <p:nvPr/>
        </p:nvSpPr>
        <p:spPr>
          <a:xfrm>
            <a:off x="432000" y="5328000"/>
            <a:ext cx="90432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900" b="0">
                <a:solidFill>
                  <a:srgbClr val="7F7F7F"/>
                </a:solidFill>
                <a:latin typeface="メイリオ"/>
                <a:ea typeface="メイリオ"/>
                <a:cs typeface="メイリオ"/>
              </a:rPr>
              <a:t>右の番号は、8フェーズのどこに効くか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現状分析｜LINEでできること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保護者の「迷っている期間」に、LINEでできることは4つ。</a:t>
            </a:r>
          </a:p>
          <a:p>
            <a:pPr algn="l">
              <a:lnSpc>
                <a:spcPct val="128000"/>
              </a:lnSpc>
            </a:pPr>
            <a:r>
              <a:rPr sz="1200">
                <a:solidFill>
                  <a:srgbClr val="333333"/>
                </a:solidFill>
                <a:latin typeface="メイリオ"/>
                <a:ea typeface="メイリオ"/>
                <a:cs typeface="メイリオ"/>
              </a:rPr>
              <a:t>授業の質や合格実績はLINEでは変えられない。LINEで整えられるのは、保護者とのつながりと、体験・入会までの流れ。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125600" y="1800000"/>
            <a:ext cx="1655999" cy="302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4" name="Rectangle 13"/>
          <p:cNvSpPr/>
          <p:nvPr/>
        </p:nvSpPr>
        <p:spPr>
          <a:xfrm>
            <a:off x="4215600" y="1998000"/>
            <a:ext cx="1475999" cy="266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5" name="Rectangle 14"/>
          <p:cNvSpPr/>
          <p:nvPr/>
        </p:nvSpPr>
        <p:spPr>
          <a:xfrm>
            <a:off x="4215600" y="1998000"/>
            <a:ext cx="1475999"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16" name="Rounded Rectangle 15"/>
          <p:cNvSpPr/>
          <p:nvPr/>
        </p:nvSpPr>
        <p:spPr>
          <a:xfrm>
            <a:off x="4269600" y="2340000"/>
            <a:ext cx="1332000" cy="4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30秒で、お子さまに</a:t>
            </a:r>
          </a:p>
          <a:p>
            <a:pPr algn="l"/>
            <a:r>
              <a:rPr sz="750" b="0">
                <a:solidFill>
                  <a:srgbClr val="333333"/>
                </a:solidFill>
                <a:latin typeface="メイリオ"/>
                <a:ea typeface="メイリオ"/>
                <a:cs typeface="メイリオ"/>
              </a:rPr>
              <a:t>合う学び方が分かります</a:t>
            </a:r>
          </a:p>
        </p:txBody>
      </p:sp>
      <p:sp>
        <p:nvSpPr>
          <p:cNvPr id="17" name="Rounded Rectangle 16"/>
          <p:cNvSpPr/>
          <p:nvPr/>
        </p:nvSpPr>
        <p:spPr>
          <a:xfrm>
            <a:off x="4287600" y="2898000"/>
            <a:ext cx="1259999" cy="216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FFFFFF"/>
                </a:solidFill>
                <a:latin typeface="メイリオ"/>
                <a:ea typeface="メイリオ"/>
                <a:cs typeface="メイリオ"/>
              </a:rPr>
              <a:t>診断をはじめる</a:t>
            </a:r>
          </a:p>
        </p:txBody>
      </p:sp>
      <p:sp>
        <p:nvSpPr>
          <p:cNvPr id="18" name="Rounded Rectangle 17"/>
          <p:cNvSpPr/>
          <p:nvPr/>
        </p:nvSpPr>
        <p:spPr>
          <a:xfrm>
            <a:off x="4269600" y="3221999"/>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コースと料金の資料を</a:t>
            </a:r>
          </a:p>
          <a:p>
            <a:pPr algn="l"/>
            <a:r>
              <a:rPr sz="750" b="0">
                <a:solidFill>
                  <a:srgbClr val="333333"/>
                </a:solidFill>
                <a:latin typeface="メイリオ"/>
                <a:ea typeface="メイリオ"/>
                <a:cs typeface="メイリオ"/>
              </a:rPr>
              <a:t>お送りしました</a:t>
            </a:r>
          </a:p>
        </p:txBody>
      </p:sp>
      <p:sp>
        <p:nvSpPr>
          <p:cNvPr id="19" name="Rounded Rectangle 18"/>
          <p:cNvSpPr/>
          <p:nvPr/>
        </p:nvSpPr>
        <p:spPr>
          <a:xfrm>
            <a:off x="4269600" y="3690000"/>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明日17時、体験授業で</a:t>
            </a:r>
          </a:p>
          <a:p>
            <a:pPr algn="l"/>
            <a:r>
              <a:rPr sz="750" b="0">
                <a:solidFill>
                  <a:srgbClr val="333333"/>
                </a:solidFill>
                <a:latin typeface="メイリオ"/>
                <a:ea typeface="メイリオ"/>
                <a:cs typeface="メイリオ"/>
              </a:rPr>
              <a:t>お待ちしています</a:t>
            </a:r>
          </a:p>
        </p:txBody>
      </p:sp>
      <p:sp>
        <p:nvSpPr>
          <p:cNvPr id="20" name="Rounded Rectangle 19"/>
          <p:cNvSpPr/>
          <p:nvPr/>
        </p:nvSpPr>
        <p:spPr>
          <a:xfrm>
            <a:off x="432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1" name="Rounded Rectangle 20"/>
          <p:cNvSpPr/>
          <p:nvPr/>
        </p:nvSpPr>
        <p:spPr>
          <a:xfrm>
            <a:off x="432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① タイプ別の診断</a:t>
            </a:r>
          </a:p>
        </p:txBody>
      </p:sp>
      <p:sp>
        <p:nvSpPr>
          <p:cNvPr id="22" name="Rectangle 21"/>
          <p:cNvSpPr/>
          <p:nvPr/>
        </p:nvSpPr>
        <p:spPr>
          <a:xfrm>
            <a:off x="557999"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「うちの子に合うのはどれ？」に、申し込む前に答える</a:t>
            </a:r>
          </a:p>
        </p:txBody>
      </p:sp>
      <p:sp>
        <p:nvSpPr>
          <p:cNvPr id="23" name="Rounded Rectangle 22"/>
          <p:cNvSpPr/>
          <p:nvPr/>
        </p:nvSpPr>
        <p:spPr>
          <a:xfrm>
            <a:off x="557999"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④リード獲得</a:t>
            </a:r>
          </a:p>
        </p:txBody>
      </p:sp>
      <p:sp>
        <p:nvSpPr>
          <p:cNvPr id="24" name="Rounded Rectangle 23"/>
          <p:cNvSpPr/>
          <p:nvPr/>
        </p:nvSpPr>
        <p:spPr>
          <a:xfrm>
            <a:off x="6516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5" name="Rounded Rectangle 24"/>
          <p:cNvSpPr/>
          <p:nvPr/>
        </p:nvSpPr>
        <p:spPr>
          <a:xfrm>
            <a:off x="6516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② LINEで資料請求</a:t>
            </a:r>
          </a:p>
        </p:txBody>
      </p:sp>
      <p:sp>
        <p:nvSpPr>
          <p:cNvPr id="26" name="Rectangle 25"/>
          <p:cNvSpPr/>
          <p:nvPr/>
        </p:nvSpPr>
        <p:spPr>
          <a:xfrm>
            <a:off x="6642000"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電話や来塾なしで、コースと料金の資料が届く</a:t>
            </a:r>
          </a:p>
        </p:txBody>
      </p:sp>
      <p:sp>
        <p:nvSpPr>
          <p:cNvPr id="27" name="Rounded Rectangle 26"/>
          <p:cNvSpPr/>
          <p:nvPr/>
        </p:nvSpPr>
        <p:spPr>
          <a:xfrm>
            <a:off x="6642000"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④リード獲得（CV①）</a:t>
            </a:r>
          </a:p>
        </p:txBody>
      </p:sp>
      <p:sp>
        <p:nvSpPr>
          <p:cNvPr id="28" name="Rounded Rectangle 27"/>
          <p:cNvSpPr/>
          <p:nvPr/>
        </p:nvSpPr>
        <p:spPr>
          <a:xfrm>
            <a:off x="432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9" name="Rounded Rectangle 28"/>
          <p:cNvSpPr/>
          <p:nvPr/>
        </p:nvSpPr>
        <p:spPr>
          <a:xfrm>
            <a:off x="432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③ 14日間の配信</a:t>
            </a:r>
          </a:p>
        </p:txBody>
      </p:sp>
      <p:sp>
        <p:nvSpPr>
          <p:cNvPr id="30" name="Rectangle 29"/>
          <p:cNvSpPr/>
          <p:nvPr/>
        </p:nvSpPr>
        <p:spPr>
          <a:xfrm>
            <a:off x="557999"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迷っている間に役立つ情報を届けて、体験へ</a:t>
            </a:r>
          </a:p>
        </p:txBody>
      </p:sp>
      <p:sp>
        <p:nvSpPr>
          <p:cNvPr id="31" name="Rounded Rectangle 30"/>
          <p:cNvSpPr/>
          <p:nvPr/>
        </p:nvSpPr>
        <p:spPr>
          <a:xfrm>
            <a:off x="557999"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③育成・⑤リード有効化</a:t>
            </a:r>
          </a:p>
        </p:txBody>
      </p:sp>
      <p:sp>
        <p:nvSpPr>
          <p:cNvPr id="32" name="Rounded Rectangle 31"/>
          <p:cNvSpPr/>
          <p:nvPr/>
        </p:nvSpPr>
        <p:spPr>
          <a:xfrm>
            <a:off x="6516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3" name="Rounded Rectangle 32"/>
          <p:cNvSpPr/>
          <p:nvPr/>
        </p:nvSpPr>
        <p:spPr>
          <a:xfrm>
            <a:off x="6516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④ 体験前のリマインド</a:t>
            </a:r>
          </a:p>
        </p:txBody>
      </p:sp>
      <p:sp>
        <p:nvSpPr>
          <p:cNvPr id="34" name="Rectangle 33"/>
          <p:cNvSpPr/>
          <p:nvPr/>
        </p:nvSpPr>
        <p:spPr>
          <a:xfrm>
            <a:off x="6642000"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日時・持ち物・変更方法を前日にお届けし、当日の来塾につなげる</a:t>
            </a:r>
          </a:p>
        </p:txBody>
      </p:sp>
      <p:sp>
        <p:nvSpPr>
          <p:cNvPr id="35" name="Rounded Rectangle 34"/>
          <p:cNvSpPr/>
          <p:nvPr/>
        </p:nvSpPr>
        <p:spPr>
          <a:xfrm>
            <a:off x="6642000"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⑤リード有効化 → ⑦入会</a:t>
            </a:r>
          </a:p>
        </p:txBody>
      </p:sp>
      <p:cxnSp>
        <p:nvCxnSpPr>
          <p:cNvPr id="36" name="Connector 35"/>
          <p:cNvCxnSpPr/>
          <p:nvPr/>
        </p:nvCxnSpPr>
        <p:spPr>
          <a:xfrm>
            <a:off x="3401999" y="23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799600" y="23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401999" y="41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5799600" y="41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2000" y="5526000"/>
            <a:ext cx="9043200" cy="360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0">
                <a:solidFill>
                  <a:srgbClr val="7F7F7F"/>
                </a:solidFill>
                <a:latin typeface="メイリオ"/>
                <a:ea typeface="メイリオ"/>
                <a:cs typeface="メイリオ"/>
              </a:rPr>
              <a:t>LINEではできないこと：授業の質を上げる／合格実績をつくる／講師を採用・育成する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700" dirty="0">
                <a:latin typeface="メイリオ" panose="020B0604030504040204" pitchFamily="50" charset="-128"/>
                <a:ea typeface="メイリオ" panose="020B0604030504040204" pitchFamily="50" charset="-128"/>
              </a:rPr>
              <a:t>LINE施策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Web上で資料請求・体験予約などの成果地点に到達しているかどうかを軸に、</a:t>
            </a:r>
          </a:p>
          <a:p>
            <a:r>
              <a:rPr lang="ja-JP" altLang="en-US" sz="1600" b="1" dirty="0">
                <a:latin typeface="メイリオ" panose="020B0604030504040204" pitchFamily="50" charset="-128"/>
                <a:ea typeface="メイリオ" panose="020B0604030504040204" pitchFamily="50" charset="-128"/>
                <a:cs typeface="Meiryo"/>
                <a:sym typeface="Meiryo"/>
              </a:rPr>
              <a:t>配信の流れを組み立てることで、ブロックを抑えながら運用する。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1F285A"/>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1F285A"/>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[LINEで30秒ぴったり診断]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検討初期の保護者を取りこぼしやすい</a:t>
            </a:r>
            <a:endParaRPr sz="1200" b="0" dirty="0">
              <a:solidFill>
                <a:srgbClr val="1C2233"/>
              </a:solidFill>
              <a:latin typeface="メイリオ"/>
            </a:endParaRPr>
          </a:p>
          <a:p>
            <a:r>
              <a:rPr sz="1200" b="0" dirty="0">
                <a:solidFill>
                  <a:srgbClr val="1C2233"/>
                </a:solidFill>
                <a:latin typeface="メイリオ"/>
                <a:ea typeface="メイリオ"/>
              </a:rPr>
              <a:t>✓ 電話の折り返しに手間がかかる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Web予約は既に機能している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体験の無断欠席が課題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通知メッセージを使いたい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電話や資料請求フォームに「ハードルが高い」と感じる保護者がいる。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LINEなら、名前も電話番号も入れずに始められる。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※離脱防止ポップアップはSitelead等（別途費用）</a:t>
            </a:r>
          </a:p>
        </p:txBody>
      </p:sp>
      <p:sp>
        <p:nvSpPr>
          <p:cNvPr id="31" name="Pentagon 3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2" name="Chevron 31"/>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33" name="Chevron 32"/>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4" name="Chevron 33"/>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35" name="Chevron 3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6" name="Chevron 3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7" name="Chevron 36"/>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8" name="Chevron 3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9" name="Rounded Rectangle 38"/>
          <p:cNvSpPr/>
          <p:nvPr/>
        </p:nvSpPr>
        <p:spPr>
          <a:xfrm>
            <a:off x="432000" y="1800000"/>
            <a:ext cx="1152000" cy="864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333333"/>
                </a:solidFill>
                <a:latin typeface="メイリオ"/>
                <a:ea typeface="メイリオ"/>
                <a:cs typeface="メイリオ"/>
              </a:rPr>
              <a:t>サイトから</a:t>
            </a:r>
          </a:p>
          <a:p>
            <a:pPr algn="ctr"/>
            <a:r>
              <a:rPr sz="1150" b="1">
                <a:solidFill>
                  <a:srgbClr val="333333"/>
                </a:solidFill>
                <a:latin typeface="メイリオ"/>
                <a:ea typeface="メイリオ"/>
                <a:cs typeface="メイリオ"/>
              </a:rPr>
              <a:t>帰ろうとする</a:t>
            </a:r>
          </a:p>
        </p:txBody>
      </p:sp>
      <p:cxnSp>
        <p:nvCxnSpPr>
          <p:cNvPr id="40" name="Connector 39"/>
          <p:cNvCxnSpPr/>
          <p:nvPr/>
        </p:nvCxnSpPr>
        <p:spPr>
          <a:xfrm>
            <a:off x="1594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746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離脱防止</a:t>
            </a:r>
          </a:p>
          <a:p>
            <a:pPr algn="ctr"/>
            <a:r>
              <a:rPr sz="1150" b="1">
                <a:solidFill>
                  <a:srgbClr val="1F285A"/>
                </a:solidFill>
                <a:latin typeface="メイリオ"/>
                <a:ea typeface="メイリオ"/>
                <a:cs typeface="メイリオ"/>
              </a:rPr>
              <a:t>ポップアップ</a:t>
            </a:r>
          </a:p>
        </p:txBody>
      </p:sp>
      <p:cxnSp>
        <p:nvCxnSpPr>
          <p:cNvPr id="42" name="Connector 41"/>
          <p:cNvCxnSpPr/>
          <p:nvPr/>
        </p:nvCxnSpPr>
        <p:spPr>
          <a:xfrm>
            <a:off x="2908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3060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LINE</a:t>
            </a:r>
          </a:p>
          <a:p>
            <a:pPr algn="ctr"/>
            <a:r>
              <a:rPr sz="1150" b="1">
                <a:solidFill>
                  <a:srgbClr val="1F285A"/>
                </a:solidFill>
                <a:latin typeface="メイリオ"/>
                <a:ea typeface="メイリオ"/>
                <a:cs typeface="メイリオ"/>
              </a:rPr>
              <a:t>友だち追加</a:t>
            </a:r>
          </a:p>
        </p:txBody>
      </p:sp>
      <p:cxnSp>
        <p:nvCxnSpPr>
          <p:cNvPr id="44" name="Connector 43"/>
          <p:cNvCxnSpPr/>
          <p:nvPr/>
        </p:nvCxnSpPr>
        <p:spPr>
          <a:xfrm>
            <a:off x="4222799" y="2232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374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30秒</a:t>
            </a:r>
          </a:p>
          <a:p>
            <a:pPr algn="ctr"/>
            <a:r>
              <a:rPr sz="1150" b="1">
                <a:solidFill>
                  <a:srgbClr val="1F285A"/>
                </a:solidFill>
                <a:latin typeface="メイリオ"/>
                <a:ea typeface="メイリオ"/>
                <a:cs typeface="メイリオ"/>
              </a:rPr>
              <a:t>診断</a:t>
            </a:r>
          </a:p>
        </p:txBody>
      </p:sp>
      <p:cxnSp>
        <p:nvCxnSpPr>
          <p:cNvPr id="46" name="Connector 45"/>
          <p:cNvCxnSpPr/>
          <p:nvPr/>
        </p:nvCxnSpPr>
        <p:spPr>
          <a:xfrm>
            <a:off x="5536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688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資料請求</a:t>
            </a:r>
          </a:p>
          <a:p>
            <a:pPr algn="ctr"/>
            <a:r>
              <a:rPr sz="1150" b="1">
                <a:solidFill>
                  <a:srgbClr val="FFFFFF"/>
                </a:solidFill>
                <a:latin typeface="メイリオ"/>
                <a:ea typeface="メイリオ"/>
                <a:cs typeface="メイリオ"/>
              </a:rPr>
              <a:t>（CV①）</a:t>
            </a:r>
          </a:p>
        </p:txBody>
      </p:sp>
      <p:cxnSp>
        <p:nvCxnSpPr>
          <p:cNvPr id="48" name="Connector 47"/>
          <p:cNvCxnSpPr/>
          <p:nvPr/>
        </p:nvCxnSpPr>
        <p:spPr>
          <a:xfrm>
            <a:off x="6850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7002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体験予約</a:t>
            </a:r>
          </a:p>
          <a:p>
            <a:pPr algn="ctr"/>
            <a:r>
              <a:rPr sz="1150" b="1">
                <a:solidFill>
                  <a:srgbClr val="FFFFFF"/>
                </a:solidFill>
                <a:latin typeface="メイリオ"/>
                <a:ea typeface="メイリオ"/>
                <a:cs typeface="メイリオ"/>
              </a:rPr>
              <a:t>（CV②）</a:t>
            </a:r>
          </a:p>
        </p:txBody>
      </p:sp>
      <p:cxnSp>
        <p:nvCxnSpPr>
          <p:cNvPr id="50" name="Connector 49"/>
          <p:cNvCxnSpPr/>
          <p:nvPr/>
        </p:nvCxnSpPr>
        <p:spPr>
          <a:xfrm>
            <a:off x="8164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8316000" y="1800000"/>
            <a:ext cx="1152000" cy="864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入会</a:t>
            </a:r>
          </a:p>
          <a:p>
            <a:pPr algn="ctr"/>
            <a:r>
              <a:rPr sz="1150" b="1">
                <a:solidFill>
                  <a:srgbClr val="FFFFFF"/>
                </a:solidFill>
                <a:latin typeface="メイリオ"/>
                <a:ea typeface="メイリオ"/>
                <a:cs typeface="メイリオ"/>
              </a:rPr>
              <a:t>（契約）</a:t>
            </a:r>
          </a:p>
        </p:txBody>
      </p:sp>
      <p:sp>
        <p:nvSpPr>
          <p:cNvPr id="52" name="Rectangle 51"/>
          <p:cNvSpPr/>
          <p:nvPr/>
        </p:nvSpPr>
        <p:spPr>
          <a:xfrm>
            <a:off x="174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「まだ決めなくて</a:t>
            </a:r>
          </a:p>
          <a:p>
            <a:pPr algn="ctr"/>
            <a:r>
              <a:rPr sz="1000" b="0">
                <a:solidFill>
                  <a:srgbClr val="7F7F7F"/>
                </a:solidFill>
                <a:latin typeface="メイリオ"/>
                <a:ea typeface="メイリオ"/>
                <a:cs typeface="メイリオ"/>
              </a:rPr>
              <a:t>大丈夫です」</a:t>
            </a:r>
          </a:p>
        </p:txBody>
      </p:sp>
      <p:sp>
        <p:nvSpPr>
          <p:cNvPr id="53" name="Rectangle 52"/>
          <p:cNvSpPr/>
          <p:nvPr/>
        </p:nvSpPr>
        <p:spPr>
          <a:xfrm>
            <a:off x="3060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名前・電話番号</a:t>
            </a:r>
          </a:p>
          <a:p>
            <a:pPr algn="ctr"/>
            <a:r>
              <a:rPr sz="1000" b="0">
                <a:solidFill>
                  <a:srgbClr val="7F7F7F"/>
                </a:solidFill>
                <a:latin typeface="メイリオ"/>
                <a:ea typeface="メイリオ"/>
                <a:cs typeface="メイリオ"/>
              </a:rPr>
              <a:t>は不要</a:t>
            </a:r>
          </a:p>
        </p:txBody>
      </p:sp>
      <p:sp>
        <p:nvSpPr>
          <p:cNvPr id="54" name="Rectangle 53"/>
          <p:cNvSpPr/>
          <p:nvPr/>
        </p:nvSpPr>
        <p:spPr>
          <a:xfrm>
            <a:off x="4374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学年・悩み・性格</a:t>
            </a:r>
          </a:p>
          <a:p>
            <a:pPr algn="ctr"/>
            <a:r>
              <a:rPr sz="1000" b="0">
                <a:solidFill>
                  <a:srgbClr val="7F7F7F"/>
                </a:solidFill>
                <a:latin typeface="メイリオ"/>
                <a:ea typeface="メイリオ"/>
                <a:cs typeface="メイリオ"/>
              </a:rPr>
              <a:t>いつから</a:t>
            </a:r>
          </a:p>
        </p:txBody>
      </p:sp>
      <p:sp>
        <p:nvSpPr>
          <p:cNvPr id="55" name="Rectangle 54"/>
          <p:cNvSpPr/>
          <p:nvPr/>
        </p:nvSpPr>
        <p:spPr>
          <a:xfrm>
            <a:off x="5688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コース・料金の</a:t>
            </a:r>
          </a:p>
          <a:p>
            <a:pPr algn="ctr"/>
            <a:r>
              <a:rPr sz="1000" b="0">
                <a:solidFill>
                  <a:srgbClr val="7F7F7F"/>
                </a:solidFill>
                <a:latin typeface="メイリオ"/>
                <a:ea typeface="メイリオ"/>
                <a:cs typeface="メイリオ"/>
              </a:rPr>
              <a:t>資料が届く</a:t>
            </a:r>
          </a:p>
        </p:txBody>
      </p:sp>
      <p:sp>
        <p:nvSpPr>
          <p:cNvPr id="56" name="Rectangle 55"/>
          <p:cNvSpPr/>
          <p:nvPr/>
        </p:nvSpPr>
        <p:spPr>
          <a:xfrm>
            <a:off x="7002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LINEで日時を</a:t>
            </a:r>
          </a:p>
          <a:p>
            <a:pPr algn="ctr"/>
            <a:r>
              <a:rPr sz="1000" b="0">
                <a:solidFill>
                  <a:srgbClr val="7F7F7F"/>
                </a:solidFill>
                <a:latin typeface="メイリオ"/>
                <a:ea typeface="メイリオ"/>
                <a:cs typeface="メイリオ"/>
              </a:rPr>
              <a:t>選ぶだけ</a:t>
            </a:r>
          </a:p>
        </p:txBody>
      </p:sp>
      <p:sp>
        <p:nvSpPr>
          <p:cNvPr id="57" name="Rectangle 56"/>
          <p:cNvSpPr/>
          <p:nvPr/>
        </p:nvSpPr>
        <p:spPr>
          <a:xfrm>
            <a:off x="831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教室で</a:t>
            </a:r>
          </a:p>
          <a:p>
            <a:pPr algn="ctr"/>
            <a:r>
              <a:rPr sz="1000" b="0">
                <a:solidFill>
                  <a:srgbClr val="7F7F7F"/>
                </a:solidFill>
                <a:latin typeface="メイリオ"/>
                <a:ea typeface="メイリオ"/>
                <a:cs typeface="メイリオ"/>
              </a:rPr>
              <a:t>入会手続き</a:t>
            </a:r>
          </a:p>
        </p:txBody>
      </p:sp>
      <p:sp>
        <p:nvSpPr>
          <p:cNvPr id="58" name="Rounded Rectangle 57"/>
          <p:cNvSpPr/>
          <p:nvPr/>
        </p:nvSpPr>
        <p:spPr>
          <a:xfrm>
            <a:off x="432000" y="3456000"/>
            <a:ext cx="4428000" cy="1655999"/>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ectangle 58"/>
          <p:cNvSpPr/>
          <p:nvPr/>
        </p:nvSpPr>
        <p:spPr>
          <a:xfrm>
            <a:off x="576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7F7F7F"/>
                </a:solidFill>
                <a:latin typeface="メイリオ"/>
                <a:ea typeface="メイリオ"/>
                <a:cs typeface="メイリオ"/>
              </a:rPr>
              <a:t>フォームだけの場合</a:t>
            </a:r>
          </a:p>
          <a:p>
            <a:pPr algn="l"/>
            <a:r>
              <a:rPr sz="1250" b="0">
                <a:solidFill>
                  <a:srgbClr val="333333"/>
                </a:solidFill>
                <a:latin typeface="メイリオ"/>
                <a:ea typeface="メイリオ"/>
                <a:cs typeface="メイリオ"/>
              </a:rPr>
              <a:t>サイト → 資料請求フォーム／電話 → 体験</a:t>
            </a:r>
          </a:p>
          <a:p>
            <a:pPr algn="l"/>
            <a:r>
              <a:rPr sz="1250" b="0">
                <a:solidFill>
                  <a:srgbClr val="333333"/>
                </a:solidFill>
                <a:latin typeface="メイリオ"/>
                <a:ea typeface="メイリオ"/>
                <a:cs typeface="メイリオ"/>
              </a:rPr>
              <a:t>・フォームに名前・住所・電話番号を入れる</a:t>
            </a:r>
          </a:p>
          <a:p>
            <a:pPr algn="l"/>
            <a:r>
              <a:rPr sz="1250" b="0">
                <a:solidFill>
                  <a:srgbClr val="333333"/>
                </a:solidFill>
                <a:latin typeface="メイリオ"/>
                <a:ea typeface="メイリオ"/>
                <a:cs typeface="メイリオ"/>
              </a:rPr>
              <a:t>・電話がかかってくるかもしれない</a:t>
            </a:r>
          </a:p>
          <a:p>
            <a:pPr algn="l"/>
            <a:r>
              <a:rPr sz="1250" b="1">
                <a:solidFill>
                  <a:srgbClr val="C00000"/>
                </a:solidFill>
                <a:latin typeface="メイリオ"/>
                <a:ea typeface="メイリオ"/>
                <a:cs typeface="メイリオ"/>
              </a:rPr>
              <a:t>→ まだ決めていない保護者は、ここで離れやすい</a:t>
            </a:r>
          </a:p>
        </p:txBody>
      </p:sp>
      <p:sp>
        <p:nvSpPr>
          <p:cNvPr id="60" name="Rounded Rectangle 59"/>
          <p:cNvSpPr/>
          <p:nvPr/>
        </p:nvSpPr>
        <p:spPr>
          <a:xfrm>
            <a:off x="5047200" y="3456000"/>
            <a:ext cx="4428000" cy="1655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1" name="Rectangle 60"/>
          <p:cNvSpPr/>
          <p:nvPr/>
        </p:nvSpPr>
        <p:spPr>
          <a:xfrm>
            <a:off x="5184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1F285A"/>
                </a:solidFill>
                <a:latin typeface="メイリオ"/>
                <a:ea typeface="メイリオ"/>
                <a:cs typeface="メイリオ"/>
              </a:rPr>
              <a:t>LINEを加えると</a:t>
            </a:r>
          </a:p>
          <a:p>
            <a:pPr algn="l"/>
            <a:r>
              <a:rPr sz="1250" b="0">
                <a:solidFill>
                  <a:srgbClr val="333333"/>
                </a:solidFill>
                <a:latin typeface="メイリオ"/>
                <a:ea typeface="メイリオ"/>
                <a:cs typeface="メイリオ"/>
              </a:rPr>
              <a:t>サイト → LINE → 診断 → 資料 → 体験</a:t>
            </a:r>
          </a:p>
          <a:p>
            <a:pPr algn="l"/>
            <a:r>
              <a:rPr sz="1250" b="0">
                <a:solidFill>
                  <a:srgbClr val="333333"/>
                </a:solidFill>
                <a:latin typeface="メイリオ"/>
                <a:ea typeface="メイリオ"/>
                <a:cs typeface="メイリオ"/>
              </a:rPr>
              <a:t>・タップ1回で友だち追加。入力はいらない</a:t>
            </a:r>
          </a:p>
          <a:p>
            <a:pPr algn="l"/>
            <a:r>
              <a:rPr sz="1250" b="0">
                <a:solidFill>
                  <a:srgbClr val="333333"/>
                </a:solidFill>
                <a:latin typeface="メイリオ"/>
                <a:ea typeface="メイリオ"/>
                <a:cs typeface="メイリオ"/>
              </a:rPr>
              <a:t>・資料を読んでから、体験を決められる</a:t>
            </a:r>
          </a:p>
          <a:p>
            <a:pPr algn="l"/>
            <a:r>
              <a:rPr sz="1250" b="1">
                <a:solidFill>
                  <a:srgbClr val="1F285A"/>
                </a:solidFill>
                <a:latin typeface="メイリオ"/>
                <a:ea typeface="メイリオ"/>
                <a:cs typeface="メイリオ"/>
              </a:rPr>
              <a:t>→ まだ決めていない保護者とも、つながっておける</a:t>
            </a:r>
          </a:p>
        </p:txBody>
      </p:sp>
      <p:sp>
        <p:nvSpPr>
          <p:cNvPr id="62" name="Rounded Rectangle 61"/>
          <p:cNvSpPr/>
          <p:nvPr/>
        </p:nvSpPr>
        <p:spPr>
          <a:xfrm>
            <a:off x="432000" y="525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入口のハードルを下げて、まだ決めていない保護者ともつながる。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前後検索「中学受験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中学受験の保護者は、検索の前に志望校・偏差値・算数検定を調べ、当日は塾の名前に集中する。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そのあとは、入室テスト・料金・口コミで比べている。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塾の名前を調べる前（志望校・偏差値を調べる時期）に、LINEでつながっておく。</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出典｜LINEヤフー前後検索（2026年10月取得）。横軸＝起点の検索の前後15日、縦軸＝検索した人数（UU）。配信の中身はP22・P64</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「中学受験 塾」の検索前後（LINEヤフー前後検索・実データ）</a:t>
            </a:r>
            <a:endParaRPr lang="ja-JP" altLang="en-US" sz="1250" dirty="0"/>
          </a:p>
        </p:txBody>
      </p:sp>
      <p:pic>
        <p:nvPicPr>
          <p:cNvPr id="27" name="前後検索_中学受験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0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私立中学 偏差値ランキング／海城中学・女子学院／栄東中学校 入試／中学受験 偏差値40</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600" dirty="0"/>
          </a:p>
          <a:p>
            <a:pPr algn="l">
              <a:lnSpc>
                <a:spcPct val="105000"/>
              </a:lnSpc>
              <a:buNone/>
            </a:pPr>
            <a:r>
              <a:rPr lang="ja-JP" altLang="en-US" sz="1200" b="1" dirty="0">
                <a:solidFill>
                  <a:srgbClr val="8E4EC6"/>
                </a:solidFill>
                <a:latin typeface="メイリオ" panose="020B0604030504040204" pitchFamily="50" charset="-128"/>
                <a:ea typeface="メイリオ" panose="020B0604030504040204" pitchFamily="50" charset="-128"/>
              </a:rPr>
              <a:t>② 検定・勉強法</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算数検定／予習シリーズ／中学受験 社会 勉強方法／中学受験 親の関わり方</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中学受験 塾選び／塾 ランキング／個別指導のみ／塾 費用／4年生から始める</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日能研・早稲田アカデミー・サピックス／サピックス 入室テスト／日能研 費用／明光義塾 口コミ</a:t>
            </a:r>
            <a:endParaRPr lang="ja-JP" altLang="en-US" sz="13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志望校・偏差値を調べている → 学年と志望校を伺い、入試から逆算した準備をお届けする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塾選び・費用・いつからを比べている → 費用の目安と始める時期を先にお伝えする</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入室テスト・口コミで比べている → 同じタイプのお子さまの事例と、体験授業のご案内</a:t>
            </a:r>
            <a:endParaRPr lang="ja-JP" alt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前後検索「中高一貫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中高一貫の保護者は、都立中高一貫校・中等教育学校の名前と入試日程を、15日前から調べている。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塾の名前（ena・栄光ゼミナール・日能研）は当日に集中し、そのあとは料金・合格実績で比べている。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学校名と日程を調べ始める15日前から、志望校の情報でつながる。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出典｜LINEヤフー前後検索（2026年10月取得）。横軸＝起点の検索の前後15日、縦軸＝検索した人数（UU）。配信の中身はP22・P64</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「中高一貫 塾」の検索前後（LINEヤフー前後検索・実データ）</a:t>
            </a:r>
            <a:endParaRPr lang="ja-JP" altLang="en-US" sz="1250" dirty="0"/>
          </a:p>
        </p:txBody>
      </p:sp>
      <p:pic>
        <p:nvPicPr>
          <p:cNvPr id="27" name="前後検索_中高一貫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0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都立中高一貫校／立川国際・三鷹・九段中等教育学校／都立高校 入試日程／都立推薦 日程</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8E4EC6"/>
                </a:solidFill>
                <a:latin typeface="メイリオ" panose="020B0604030504040204" pitchFamily="50" charset="-128"/>
                <a:ea typeface="メイリオ" panose="020B0604030504040204" pitchFamily="50" charset="-128"/>
              </a:rPr>
              <a:t>② 検定・勉強法</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声の教育社（過去問）／四谷大塚 予習シリーズ</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中学受験 塾選び／中学受験 塾 費用／中学受験 全落ち／中高一貫 塾</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ena・栄光ゼミナール・日能研／栄光ゼミナール 料金／早稲田アカデミー 合格実績／森塾 口コミ</a:t>
            </a:r>
            <a:endParaRPr lang="ja-JP" altLang="en-US" sz="13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学校名・入試日程を調べている → 志望校を伺い、入試から逆算した準備をお届けする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塾の費用・全落ちを心配している → 年間の費用の目安と、準備の進め方</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料金・合格実績で比べている → 同じ志望校のお子さまの事例と、体験授業のご案内</a:t>
            </a:r>
            <a:endParaRPr lang="ja-JP"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前後検索「高校受験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高校受験の保護者は、当日に「塾 いつから・費用・ランキング・勉強方法」をまとめて調べている。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その前は志望校の偏差値、そのあとは塾の名前と料金で比べている。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「いつから・費用」を調べる当日に、その答えをLINEで先に届ける。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出典｜LINEヤフー前後検索（2026年10月取得）。横軸＝起点の検索の前後15日、縦軸＝検索した人数（UU）。配信の中身はP22・P64</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「高校受験 塾」の検索前後（LINEヤフー前後検索・実データ）</a:t>
            </a:r>
            <a:endParaRPr lang="ja-JP" altLang="en-US" sz="1250" dirty="0"/>
          </a:p>
        </p:txBody>
      </p:sp>
      <p:pic>
        <p:nvPicPr>
          <p:cNvPr id="27" name="前後検索_高校受験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05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都立高校／高校受験 偏差値／東京都 高校 偏差値／都立高校 入試</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8E4EC6"/>
                </a:solidFill>
                <a:latin typeface="メイリオ" panose="020B0604030504040204" pitchFamily="50" charset="-128"/>
                <a:ea typeface="メイリオ" panose="020B0604030504040204" pitchFamily="50" charset="-128"/>
              </a:rPr>
              <a:t>② 検定・勉強法</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高校受験 勉強方法／数検3級／高校受験 塾なし／中学 英語</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高校受験 塾 いつから／塾 費用／塾 ランキング／中学受験 高校受験 どっち／オンライン 塾</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早稲田アカデミー・栄光ゼミナール・臨海セミナー／早稲アカ 個別 料金／臨海セミナー 口コミ</a:t>
            </a:r>
            <a:endParaRPr lang="ja-JP" altLang="en-US" sz="120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3日後｜家でできる勉強のコツ</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勉強方法・塾なしで迷っている → まずは、家でできる勉強のコツをお届けする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いつから・費用を調べている → 年間の費用の目安と、始める時期</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14日後｜テストから逆算＋体験のご案内②</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塾の名前・料金で比べている → 次の定期テストから逆算した体験授業のご案内</a:t>
            </a:r>
            <a:endParaRPr lang="ja-JP" alt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前後検索「英語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英語の保護者は、塾より先に英検（日程・級・合格発表）を調べている。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当日は英語塾・個別指導塾の名前、そのあとは料金・口コミで比べている。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英検の日程を調べるタイミングで、英検の情報からつながる。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出典｜LINEヤフー前後検索（2026年10月取得）。横軸＝起点の検索の前後15日、縦軸＝検索した人数（UU）。配信の中身はP22・P64</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「英語 塾」の検索前後（LINEヤフー前後検索・実データ）</a:t>
            </a:r>
            <a:endParaRPr lang="ja-JP" altLang="en-US" sz="1250" dirty="0"/>
          </a:p>
        </p:txBody>
      </p:sp>
      <p:pic>
        <p:nvPicPr>
          <p:cNvPr id="27" name="前後検索_英語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5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中高一貫校／大学受験／開成高校／高校受験</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8E4EC6"/>
                </a:solidFill>
                <a:latin typeface="メイリオ" panose="020B0604030504040204" pitchFamily="50" charset="-128"/>
                <a:ea typeface="メイリオ" panose="020B0604030504040204" pitchFamily="50" charset="-128"/>
              </a:rPr>
              <a:t>② 検定・勉強法</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英検 日程／英検3級・2級・準1級／英検 合格発表／漢検／スタディサプリ／英単語</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個別指導塾／英語塾 中高一貫校／高校受験 塾／小学生 英語 塾</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武田塾・明光義塾・森塾／英検アカデミー 料金・口コミ／武田塾 料金</a:t>
            </a:r>
            <a:endParaRPr lang="ja-JP" altLang="en-US" sz="14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英検の日程・級を調べている → 学年と目指す級を伺い、次の英検から逆算した準備をお届けする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3日後｜家でできる勉強のコツ</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英単語・勉強法を調べている → 家でできる英語の勉強のコツ</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料金・口コミで比べている → 同じ級を目指したお子さまの事例と、体験授業のご案内</a:t>
            </a:r>
            <a:endParaRPr lang="ja-JP" alt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ステップ配信｜14日間の配信</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比べている間は、ご案内より先に役立つ情報を届け、体験予約に進んでいただく。</a:t>
            </a:r>
          </a:p>
          <a:p>
            <a:pPr algn="l">
              <a:lnSpc>
                <a:spcPct val="128000"/>
              </a:lnSpc>
            </a:pPr>
            <a:r>
              <a:rPr sz="1200">
                <a:solidFill>
                  <a:srgbClr val="333333"/>
                </a:solidFill>
                <a:latin typeface="メイリオ"/>
                <a:ea typeface="メイリオ"/>
                <a:cs typeface="メイリオ"/>
              </a:rPr>
              <a:t>14日のうち、体験の案内は2通だけ（7日後・14日後）。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※前後検索（P18〜P21）：比べている間は、塾の費用・いつから・口コミを調べている。配信の中身をこれに合わせる。明光義塾のステップ配信の例はP29</a:t>
            </a:r>
          </a:p>
        </p:txBody>
      </p:sp>
      <p:sp>
        <p:nvSpPr>
          <p:cNvPr id="11" name="Pentagon 1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12" name="Chevron 1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3" name="Chevron 1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4" name="Chevron 1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15" name="Chevron 1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6" name="Chevron 15"/>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7" name="Chevron 1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8" name="Chevron 1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9" name="Rounded Rectangle 18"/>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0" name="Rounded Rectangle 19"/>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1" name="Rectangle 20"/>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保護者は比べている間に、</a:t>
            </a:r>
          </a:p>
          <a:p>
            <a:pPr algn="l"/>
            <a:r>
              <a:rPr sz="1000" b="0">
                <a:solidFill>
                  <a:srgbClr val="333333"/>
                </a:solidFill>
                <a:latin typeface="メイリオ"/>
                <a:ea typeface="メイリオ"/>
                <a:cs typeface="メイリオ"/>
              </a:rPr>
              <a:t>費用・時期・口コミを調べている</a:t>
            </a:r>
          </a:p>
          <a:p>
            <a:pPr algn="l"/>
            <a:r>
              <a:rPr sz="1000" b="0">
                <a:solidFill>
                  <a:srgbClr val="333333"/>
                </a:solidFill>
                <a:latin typeface="メイリオ"/>
                <a:ea typeface="メイリオ"/>
                <a:cs typeface="メイリオ"/>
              </a:rPr>
              <a:t>（前後検索・P18〜P21）</a:t>
            </a:r>
          </a:p>
        </p:txBody>
      </p:sp>
      <p:cxnSp>
        <p:nvCxnSpPr>
          <p:cNvPr id="22" name="Connector 21"/>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4" name="Rounded Rectangle 23"/>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25" name="Rectangle 24"/>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ご案内より先に、</a:t>
            </a:r>
          </a:p>
          <a:p>
            <a:pPr algn="l"/>
            <a:r>
              <a:rPr sz="1000" b="0">
                <a:solidFill>
                  <a:srgbClr val="333333"/>
                </a:solidFill>
                <a:latin typeface="メイリオ"/>
                <a:ea typeface="メイリオ"/>
                <a:cs typeface="メイリオ"/>
              </a:rPr>
              <a:t>役に立つ情報を届ける</a:t>
            </a:r>
          </a:p>
        </p:txBody>
      </p:sp>
      <p:cxnSp>
        <p:nvCxnSpPr>
          <p:cNvPr id="26" name="Connector 25"/>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8" name="Rounded Rectangle 27"/>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29" name="Rectangle 28"/>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未入会の保護者向けに</a:t>
            </a:r>
          </a:p>
          <a:p>
            <a:pPr algn="l"/>
            <a:r>
              <a:rPr sz="1000" b="0">
                <a:solidFill>
                  <a:srgbClr val="FFFFFF"/>
                </a:solidFill>
                <a:latin typeface="メイリオ"/>
                <a:ea typeface="メイリオ"/>
                <a:cs typeface="メイリオ"/>
              </a:rPr>
              <a:t>14日間の配信を自動で送る</a:t>
            </a:r>
          </a:p>
        </p:txBody>
      </p:sp>
      <p:cxnSp>
        <p:nvCxnSpPr>
          <p:cNvPr id="30" name="Connector 29"/>
          <p:cNvCxnSpPr/>
          <p:nvPr/>
        </p:nvCxnSpPr>
        <p:spPr>
          <a:xfrm>
            <a:off x="576000" y="2951999"/>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595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2" name="Rectangle 31"/>
          <p:cNvSpPr/>
          <p:nvPr/>
        </p:nvSpPr>
        <p:spPr>
          <a:xfrm>
            <a:off x="432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登録した日</a:t>
            </a:r>
          </a:p>
        </p:txBody>
      </p:sp>
      <p:sp>
        <p:nvSpPr>
          <p:cNvPr id="33" name="Rounded Rectangle 32"/>
          <p:cNvSpPr/>
          <p:nvPr/>
        </p:nvSpPr>
        <p:spPr>
          <a:xfrm>
            <a:off x="468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友だち追加の直後</a:t>
            </a:r>
          </a:p>
        </p:txBody>
      </p:sp>
      <p:sp>
        <p:nvSpPr>
          <p:cNvPr id="34" name="Rounded Rectangle 33"/>
          <p:cNvSpPr/>
          <p:nvPr/>
        </p:nvSpPr>
        <p:spPr>
          <a:xfrm>
            <a:off x="4680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あいさつ＋30秒診断</a:t>
            </a:r>
          </a:p>
        </p:txBody>
      </p:sp>
      <p:sp>
        <p:nvSpPr>
          <p:cNvPr id="35" name="Oval 34"/>
          <p:cNvSpPr/>
          <p:nvPr/>
        </p:nvSpPr>
        <p:spPr>
          <a:xfrm>
            <a:off x="25668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6" name="Rectangle 35"/>
          <p:cNvSpPr/>
          <p:nvPr/>
        </p:nvSpPr>
        <p:spPr>
          <a:xfrm>
            <a:off x="19392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3日後</a:t>
            </a:r>
          </a:p>
        </p:txBody>
      </p:sp>
      <p:sp>
        <p:nvSpPr>
          <p:cNvPr id="37" name="Rounded Rectangle 36"/>
          <p:cNvSpPr/>
          <p:nvPr/>
        </p:nvSpPr>
        <p:spPr>
          <a:xfrm>
            <a:off x="19752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比べ始めたころ</a:t>
            </a:r>
          </a:p>
        </p:txBody>
      </p:sp>
      <p:sp>
        <p:nvSpPr>
          <p:cNvPr id="38" name="Rounded Rectangle 37"/>
          <p:cNvSpPr/>
          <p:nvPr/>
        </p:nvSpPr>
        <p:spPr>
          <a:xfrm>
            <a:off x="19752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家でできる勉強のコツ</a:t>
            </a:r>
          </a:p>
        </p:txBody>
      </p:sp>
      <p:sp>
        <p:nvSpPr>
          <p:cNvPr id="39" name="Oval 38"/>
          <p:cNvSpPr/>
          <p:nvPr/>
        </p:nvSpPr>
        <p:spPr>
          <a:xfrm>
            <a:off x="40740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0" name="Rectangle 39"/>
          <p:cNvSpPr/>
          <p:nvPr/>
        </p:nvSpPr>
        <p:spPr>
          <a:xfrm>
            <a:off x="34463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5日後</a:t>
            </a:r>
          </a:p>
        </p:txBody>
      </p:sp>
      <p:sp>
        <p:nvSpPr>
          <p:cNvPr id="41" name="Rounded Rectangle 40"/>
          <p:cNvSpPr/>
          <p:nvPr/>
        </p:nvSpPr>
        <p:spPr>
          <a:xfrm>
            <a:off x="34823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費用が気になるころ</a:t>
            </a:r>
          </a:p>
        </p:txBody>
      </p:sp>
      <p:sp>
        <p:nvSpPr>
          <p:cNvPr id="42" name="Rounded Rectangle 41"/>
          <p:cNvSpPr/>
          <p:nvPr/>
        </p:nvSpPr>
        <p:spPr>
          <a:xfrm>
            <a:off x="3482399"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月謝＋講習費の年間の目安</a:t>
            </a:r>
          </a:p>
        </p:txBody>
      </p:sp>
      <p:sp>
        <p:nvSpPr>
          <p:cNvPr id="43" name="Oval 42"/>
          <p:cNvSpPr/>
          <p:nvPr/>
        </p:nvSpPr>
        <p:spPr>
          <a:xfrm>
            <a:off x="55812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4" name="Rectangle 43"/>
          <p:cNvSpPr/>
          <p:nvPr/>
        </p:nvSpPr>
        <p:spPr>
          <a:xfrm>
            <a:off x="49535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00897B"/>
                </a:solidFill>
                <a:latin typeface="メイリオ"/>
                <a:ea typeface="メイリオ"/>
                <a:cs typeface="メイリオ"/>
              </a:rPr>
              <a:t>7日後</a:t>
            </a:r>
          </a:p>
        </p:txBody>
      </p:sp>
      <p:sp>
        <p:nvSpPr>
          <p:cNvPr id="45" name="Rounded Rectangle 44"/>
          <p:cNvSpPr/>
          <p:nvPr/>
        </p:nvSpPr>
        <p:spPr>
          <a:xfrm>
            <a:off x="49895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候補を絞るころ</a:t>
            </a:r>
          </a:p>
        </p:txBody>
      </p:sp>
      <p:sp>
        <p:nvSpPr>
          <p:cNvPr id="46" name="Rounded Rectangle 45"/>
          <p:cNvSpPr/>
          <p:nvPr/>
        </p:nvSpPr>
        <p:spPr>
          <a:xfrm>
            <a:off x="4989599"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同じタイプの子の事例＋体験のご案内①</a:t>
            </a:r>
          </a:p>
        </p:txBody>
      </p:sp>
      <p:sp>
        <p:nvSpPr>
          <p:cNvPr id="47" name="Oval 46"/>
          <p:cNvSpPr/>
          <p:nvPr/>
        </p:nvSpPr>
        <p:spPr>
          <a:xfrm>
            <a:off x="70883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8" name="Rectangle 47"/>
          <p:cNvSpPr/>
          <p:nvPr/>
        </p:nvSpPr>
        <p:spPr>
          <a:xfrm>
            <a:off x="64608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10日後</a:t>
            </a:r>
          </a:p>
        </p:txBody>
      </p:sp>
      <p:sp>
        <p:nvSpPr>
          <p:cNvPr id="49" name="Rounded Rectangle 48"/>
          <p:cNvSpPr/>
          <p:nvPr/>
        </p:nvSpPr>
        <p:spPr>
          <a:xfrm>
            <a:off x="64968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まだ予約していない方</a:t>
            </a:r>
          </a:p>
        </p:txBody>
      </p:sp>
      <p:sp>
        <p:nvSpPr>
          <p:cNvPr id="50" name="Rounded Rectangle 49"/>
          <p:cNvSpPr/>
          <p:nvPr/>
        </p:nvSpPr>
        <p:spPr>
          <a:xfrm>
            <a:off x="64968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よくある質問（断ってもいい？総額は？）</a:t>
            </a:r>
          </a:p>
        </p:txBody>
      </p:sp>
      <p:sp>
        <p:nvSpPr>
          <p:cNvPr id="51" name="Oval 50"/>
          <p:cNvSpPr/>
          <p:nvPr/>
        </p:nvSpPr>
        <p:spPr>
          <a:xfrm>
            <a:off x="85956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2" name="Rectangle 51"/>
          <p:cNvSpPr/>
          <p:nvPr/>
        </p:nvSpPr>
        <p:spPr>
          <a:xfrm>
            <a:off x="7968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00897B"/>
                </a:solidFill>
                <a:latin typeface="メイリオ"/>
                <a:ea typeface="メイリオ"/>
                <a:cs typeface="メイリオ"/>
              </a:rPr>
              <a:t>14日後</a:t>
            </a:r>
          </a:p>
        </p:txBody>
      </p:sp>
      <p:sp>
        <p:nvSpPr>
          <p:cNvPr id="53" name="Rounded Rectangle 52"/>
          <p:cNvSpPr/>
          <p:nvPr/>
        </p:nvSpPr>
        <p:spPr>
          <a:xfrm>
            <a:off x="8004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決めるころ</a:t>
            </a:r>
          </a:p>
        </p:txBody>
      </p:sp>
      <p:sp>
        <p:nvSpPr>
          <p:cNvPr id="54" name="Rounded Rectangle 53"/>
          <p:cNvSpPr/>
          <p:nvPr/>
        </p:nvSpPr>
        <p:spPr>
          <a:xfrm>
            <a:off x="8004000"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次の定期テストからの逆算＋体験のご案内②</a:t>
            </a:r>
          </a:p>
        </p:txBody>
      </p:sp>
      <p:sp>
        <p:nvSpPr>
          <p:cNvPr id="55" name="Rounded Rectangle 54"/>
          <p:cNvSpPr/>
          <p:nvPr/>
        </p:nvSpPr>
        <p:spPr>
          <a:xfrm>
            <a:off x="4320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00897B"/>
                </a:solidFill>
                <a:latin typeface="メイリオ"/>
                <a:ea typeface="メイリオ"/>
                <a:cs typeface="メイリオ"/>
              </a:rPr>
              <a:t>体験予約した方</a:t>
            </a:r>
          </a:p>
          <a:p>
            <a:pPr algn="ctr"/>
            <a:r>
              <a:rPr sz="1100" b="0">
                <a:solidFill>
                  <a:srgbClr val="333333"/>
                </a:solidFill>
                <a:latin typeface="メイリオ"/>
                <a:ea typeface="メイリオ"/>
                <a:cs typeface="メイリオ"/>
              </a:rPr>
              <a:t>→ 前日リマインドへ（P38）</a:t>
            </a:r>
          </a:p>
        </p:txBody>
      </p:sp>
      <p:sp>
        <p:nvSpPr>
          <p:cNvPr id="56" name="Rounded Rectangle 55"/>
          <p:cNvSpPr/>
          <p:nvPr/>
        </p:nvSpPr>
        <p:spPr>
          <a:xfrm>
            <a:off x="50472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予約しなかった方</a:t>
            </a:r>
          </a:p>
          <a:p>
            <a:pPr algn="ctr"/>
            <a:r>
              <a:rPr sz="1100" b="0">
                <a:solidFill>
                  <a:srgbClr val="333333"/>
                </a:solidFill>
                <a:latin typeface="メイリオ"/>
                <a:ea typeface="メイリオ"/>
                <a:cs typeface="メイリオ"/>
              </a:rPr>
              <a:t>→ 週1回の配信へ合流し、講習の時期に再案内（⑥再育成）</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ステップ配信｜場面ごとのメッセージ（実文面）</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メッセージごとに「いつ・どの場面で送るか」を決めておく。</a:t>
            </a:r>
          </a:p>
          <a:p>
            <a:pPr algn="l">
              <a:lnSpc>
                <a:spcPct val="128000"/>
              </a:lnSpc>
            </a:pPr>
            <a:r>
              <a:rPr sz="1200">
                <a:solidFill>
                  <a:srgbClr val="333333"/>
                </a:solidFill>
                <a:latin typeface="メイリオ"/>
                <a:ea typeface="メイリオ"/>
                <a:cs typeface="メイリオ"/>
              </a:rPr>
              <a:t>通知の冒頭（最初の15文字ほど）で開封が左右されるため、冒頭も1通ずつ決める。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※事例の数字は、貴塾の実績（学年・期間・通った回数）に合わせて作成する。体験予約の前日のメッセージはP38</a:t>
            </a:r>
          </a:p>
        </p:txBody>
      </p:sp>
      <p:sp>
        <p:nvSpPr>
          <p:cNvPr id="15" name="Pentagon 1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16" name="Chevron 1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7" name="Chevron 1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8" name="Chevron 1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19" name="Chevron 1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20" name="Chevron 1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1" name="Chevron 2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2" name="Chevron 2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3" name="Rounded Rectangle 22"/>
          <p:cNvSpPr/>
          <p:nvPr/>
        </p:nvSpPr>
        <p:spPr>
          <a:xfrm>
            <a:off x="432000"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【登録から3日後】</a:t>
            </a:r>
          </a:p>
          <a:p>
            <a:pPr algn="ctr"/>
            <a:r>
              <a:rPr sz="1000" b="0">
                <a:solidFill>
                  <a:srgbClr val="FFFFFF"/>
                </a:solidFill>
                <a:latin typeface="メイリオ"/>
                <a:ea typeface="メイリオ"/>
                <a:cs typeface="メイリオ"/>
              </a:rPr>
              <a:t>比べ始めたころ</a:t>
            </a:r>
          </a:p>
        </p:txBody>
      </p:sp>
      <p:sp>
        <p:nvSpPr>
          <p:cNvPr id="24" name="Rounded Rectangle 23"/>
          <p:cNvSpPr/>
          <p:nvPr/>
        </p:nvSpPr>
        <p:spPr>
          <a:xfrm>
            <a:off x="432000"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通知の冒頭：テスト後、9割のご家庭がしない事</a:t>
            </a:r>
          </a:p>
        </p:txBody>
      </p:sp>
      <p:sp>
        <p:nvSpPr>
          <p:cNvPr id="25" name="Rectangle 24"/>
          <p:cNvSpPr/>
          <p:nvPr/>
        </p:nvSpPr>
        <p:spPr>
          <a:xfrm>
            <a:off x="432000" y="2304000"/>
            <a:ext cx="2908800" cy="33227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6" name="Rounded Rectangle 25"/>
          <p:cNvSpPr/>
          <p:nvPr/>
        </p:nvSpPr>
        <p:spPr>
          <a:xfrm>
            <a:off x="540000" y="2394000"/>
            <a:ext cx="2664000" cy="1873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塾の佐藤です</a:t>
            </a:r>
            <a:r>
              <a:rPr sz="850" b="0" dirty="0">
                <a:solidFill>
                  <a:srgbClr val="333333"/>
                </a:solidFill>
                <a:latin typeface="メイリオ"/>
                <a:ea typeface="メイリオ"/>
                <a:cs typeface="メイリオ"/>
              </a:rPr>
              <a:t>📚</a:t>
            </a:r>
          </a:p>
          <a:p>
            <a:pPr algn="l"/>
            <a:r>
              <a:rPr sz="850" b="0" dirty="0">
                <a:solidFill>
                  <a:srgbClr val="333333"/>
                </a:solidFill>
                <a:latin typeface="メイリオ"/>
                <a:ea typeface="メイリオ"/>
                <a:cs typeface="メイリオ"/>
              </a:rPr>
              <a:t>塾を探す前に、今日からできることを1つ</a:t>
            </a:r>
          </a:p>
          <a:p>
            <a:pPr algn="l"/>
            <a:r>
              <a:rPr sz="850" b="0" dirty="0" err="1">
                <a:solidFill>
                  <a:srgbClr val="333333"/>
                </a:solidFill>
                <a:latin typeface="メイリオ"/>
                <a:ea typeface="メイリオ"/>
                <a:cs typeface="メイリオ"/>
              </a:rPr>
              <a:t>だけ</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伸びる子の家庭は、テスト返却の日に</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これをやっています</a:t>
            </a:r>
            <a:r>
              <a:rPr sz="850" b="0" dirty="0">
                <a:solidFill>
                  <a:srgbClr val="333333"/>
                </a:solidFill>
                <a:latin typeface="メイリオ"/>
                <a:ea typeface="メイリオ"/>
                <a:cs typeface="メイリオ"/>
              </a:rPr>
              <a:t>👇</a:t>
            </a: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間違いを「ケアレスミス」と</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わからなかった」に仕分け</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わからなかった」だけ付箋</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週末に付箋の問題だけ解き直す</a:t>
            </a:r>
            <a:endParaRPr sz="850" b="0" dirty="0">
              <a:solidFill>
                <a:srgbClr val="333333"/>
              </a:solidFill>
              <a:latin typeface="メイリオ"/>
              <a:ea typeface="メイリオ"/>
              <a:cs typeface="メイリオ"/>
            </a:endParaRP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塾はその先</a:t>
            </a:r>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付箋が多すぎて手に負えな</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い」ときの選択肢で大丈夫です</a:t>
            </a:r>
            <a:r>
              <a:rPr sz="850" b="0" dirty="0">
                <a:solidFill>
                  <a:srgbClr val="333333"/>
                </a:solidFill>
                <a:latin typeface="メイリオ"/>
                <a:ea typeface="メイリオ"/>
                <a:cs typeface="メイリオ"/>
              </a:rPr>
              <a:t>😊</a:t>
            </a:r>
          </a:p>
        </p:txBody>
      </p:sp>
      <p:sp>
        <p:nvSpPr>
          <p:cNvPr id="27" name="Rounded Rectangle 26"/>
          <p:cNvSpPr/>
          <p:nvPr/>
        </p:nvSpPr>
        <p:spPr>
          <a:xfrm>
            <a:off x="34991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【登録から7日後】</a:t>
            </a:r>
          </a:p>
          <a:p>
            <a:pPr algn="ctr"/>
            <a:r>
              <a:rPr sz="1000" b="0">
                <a:solidFill>
                  <a:srgbClr val="FFFFFF"/>
                </a:solidFill>
                <a:latin typeface="メイリオ"/>
                <a:ea typeface="メイリオ"/>
                <a:cs typeface="メイリオ"/>
              </a:rPr>
              <a:t>候補を絞るころ</a:t>
            </a:r>
          </a:p>
        </p:txBody>
      </p:sp>
      <p:sp>
        <p:nvSpPr>
          <p:cNvPr id="28" name="Rounded Rectangle 27"/>
          <p:cNvSpPr/>
          <p:nvPr/>
        </p:nvSpPr>
        <p:spPr>
          <a:xfrm>
            <a:off x="3499199"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通知の冒頭：同じ悩みだった◯年生の話</a:t>
            </a:r>
          </a:p>
        </p:txBody>
      </p:sp>
      <p:sp>
        <p:nvSpPr>
          <p:cNvPr id="29" name="Rectangle 28"/>
          <p:cNvSpPr/>
          <p:nvPr/>
        </p:nvSpPr>
        <p:spPr>
          <a:xfrm>
            <a:off x="3499199" y="2304000"/>
            <a:ext cx="2908800" cy="33227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0" name="Rounded Rectangle 29"/>
          <p:cNvSpPr/>
          <p:nvPr/>
        </p:nvSpPr>
        <p:spPr>
          <a:xfrm>
            <a:off x="3607200" y="2393999"/>
            <a:ext cx="2664000" cy="1646777"/>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塾の佐藤です</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診断で</a:t>
            </a:r>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タイプ」だったお子さまと</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同じタイプの、中2のAさんのお話です。</a:t>
            </a: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入塾前は「授業についていけない」が</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悩みでしたが、分からない所まで戻った</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ことで、3か月後の定期テストで</a:t>
            </a:r>
          </a:p>
          <a:p>
            <a:pPr algn="l"/>
            <a:r>
              <a:rPr sz="850" b="0" dirty="0" err="1">
                <a:solidFill>
                  <a:srgbClr val="333333"/>
                </a:solidFill>
                <a:latin typeface="メイリオ"/>
                <a:ea typeface="メイリオ"/>
                <a:cs typeface="メイリオ"/>
              </a:rPr>
              <a:t>数学が◯点</a:t>
            </a:r>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点に</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お子さまに合うかどうかは</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体験で確かめられます</a:t>
            </a:r>
            <a:r>
              <a:rPr sz="850" b="0" dirty="0">
                <a:solidFill>
                  <a:srgbClr val="333333"/>
                </a:solidFill>
                <a:latin typeface="メイリオ"/>
                <a:ea typeface="メイリオ"/>
                <a:cs typeface="メイリオ"/>
              </a:rPr>
              <a:t>。</a:t>
            </a:r>
          </a:p>
        </p:txBody>
      </p:sp>
      <p:sp>
        <p:nvSpPr>
          <p:cNvPr id="31" name="Rounded Rectangle 30"/>
          <p:cNvSpPr/>
          <p:nvPr/>
        </p:nvSpPr>
        <p:spPr>
          <a:xfrm>
            <a:off x="3607200" y="4158000"/>
            <a:ext cx="2664000" cy="232907"/>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 無料体験の空き枠を見る</a:t>
            </a:r>
          </a:p>
        </p:txBody>
      </p:sp>
      <p:sp>
        <p:nvSpPr>
          <p:cNvPr id="32" name="Rounded Rectangle 31"/>
          <p:cNvSpPr/>
          <p:nvPr/>
        </p:nvSpPr>
        <p:spPr>
          <a:xfrm>
            <a:off x="65663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【登録から14日後】</a:t>
            </a:r>
          </a:p>
          <a:p>
            <a:pPr algn="ctr"/>
            <a:r>
              <a:rPr sz="1000" b="0">
                <a:solidFill>
                  <a:srgbClr val="FFFFFF"/>
                </a:solidFill>
                <a:latin typeface="メイリオ"/>
                <a:ea typeface="メイリオ"/>
                <a:cs typeface="メイリオ"/>
              </a:rPr>
              <a:t>決めるころ</a:t>
            </a:r>
          </a:p>
        </p:txBody>
      </p:sp>
      <p:sp>
        <p:nvSpPr>
          <p:cNvPr id="33" name="Rounded Rectangle 32"/>
          <p:cNvSpPr/>
          <p:nvPr/>
        </p:nvSpPr>
        <p:spPr>
          <a:xfrm>
            <a:off x="6566399"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通知の冒頭：次のテストまで、あと◯日です</a:t>
            </a:r>
          </a:p>
        </p:txBody>
      </p:sp>
      <p:sp>
        <p:nvSpPr>
          <p:cNvPr id="34" name="Rectangle 33"/>
          <p:cNvSpPr/>
          <p:nvPr/>
        </p:nvSpPr>
        <p:spPr>
          <a:xfrm>
            <a:off x="6566399" y="2304000"/>
            <a:ext cx="2908800" cy="33227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6674400" y="2394000"/>
            <a:ext cx="2664000" cy="164677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塾の佐藤です</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次の定期テストまで、あと約◯日</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入塾手続きから授業開始まで約1週間、</a:t>
            </a:r>
          </a:p>
          <a:p>
            <a:pPr algn="l"/>
            <a:r>
              <a:rPr sz="850" b="0" dirty="0">
                <a:solidFill>
                  <a:srgbClr val="333333"/>
                </a:solidFill>
                <a:latin typeface="メイリオ"/>
                <a:ea typeface="メイリオ"/>
                <a:cs typeface="メイリオ"/>
              </a:rPr>
              <a:t>テスト対策には3週間ほどかかるため、</a:t>
            </a:r>
          </a:p>
          <a:p>
            <a:pPr algn="l"/>
            <a:r>
              <a:rPr sz="850" b="0" dirty="0" err="1">
                <a:solidFill>
                  <a:srgbClr val="333333"/>
                </a:solidFill>
                <a:latin typeface="メイリオ"/>
                <a:ea typeface="メイリオ"/>
                <a:cs typeface="メイリオ"/>
              </a:rPr>
              <a:t>ご検討中なら今週がひとつの分かれ目</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です</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まだ迷っている」段階でも大丈夫</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体験だけ受けて、テスト後にゆっくり</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決めたご家庭も多いです</a:t>
            </a:r>
            <a:r>
              <a:rPr sz="850" b="0" dirty="0">
                <a:solidFill>
                  <a:srgbClr val="333333"/>
                </a:solidFill>
                <a:latin typeface="メイリオ"/>
                <a:ea typeface="メイリオ"/>
                <a:cs typeface="メイリオ"/>
              </a:rPr>
              <a:t>😊</a:t>
            </a:r>
          </a:p>
        </p:txBody>
      </p:sp>
      <p:sp>
        <p:nvSpPr>
          <p:cNvPr id="36" name="Rounded Rectangle 35"/>
          <p:cNvSpPr/>
          <p:nvPr/>
        </p:nvSpPr>
        <p:spPr>
          <a:xfrm>
            <a:off x="6674400" y="4158000"/>
            <a:ext cx="2664000" cy="232907"/>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 今週の体験枠を見る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ニーズ調査（シーズナリティ）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「塾」の検索が一番多いのは2月上旬。「夏期講習」は7月中旬で、冬期・春期の3〜5倍。</a:t>
            </a:r>
          </a:p>
          <a:p>
            <a:pPr algn="l">
              <a:lnSpc>
                <a:spcPct val="128000"/>
              </a:lnSpc>
            </a:pPr>
            <a:r>
              <a:rPr sz="1200" dirty="0">
                <a:solidFill>
                  <a:srgbClr val="333333"/>
                </a:solidFill>
                <a:latin typeface="メイリオ"/>
                <a:ea typeface="メイリオ"/>
                <a:cs typeface="メイリオ"/>
              </a:rPr>
              <a:t>検索のピークの前から、LINEでつながっておく。</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出典｜Googleトレンド（日本・2026年年初来・週次）※相対値。規模の違うキーワードは別のグラフで表示</a:t>
            </a:r>
          </a:p>
        </p:txBody>
      </p:sp>
      <p:sp>
        <p:nvSpPr>
          <p:cNvPr id="25" name="Pentagon 2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pic>
        <p:nvPicPr>
          <p:cNvPr id="33" name="Picture 32" descr="juku_v2_trend_juku.png"/>
          <p:cNvPicPr>
            <a:picLocks noChangeAspect="1"/>
          </p:cNvPicPr>
          <p:nvPr/>
        </p:nvPicPr>
        <p:blipFill>
          <a:blip r:embed="rId2"/>
          <a:stretch>
            <a:fillRect/>
          </a:stretch>
        </p:blipFill>
        <p:spPr>
          <a:xfrm>
            <a:off x="432000" y="1512000"/>
            <a:ext cx="4464000" cy="1667868"/>
          </a:xfrm>
          <a:prstGeom prst="rect">
            <a:avLst/>
          </a:prstGeom>
        </p:spPr>
      </p:pic>
      <p:pic>
        <p:nvPicPr>
          <p:cNvPr id="34" name="Picture 33" descr="juku_v2_trend_koushuu.png"/>
          <p:cNvPicPr>
            <a:picLocks noChangeAspect="1"/>
          </p:cNvPicPr>
          <p:nvPr/>
        </p:nvPicPr>
        <p:blipFill>
          <a:blip r:embed="rId3"/>
          <a:stretch>
            <a:fillRect/>
          </a:stretch>
        </p:blipFill>
        <p:spPr>
          <a:xfrm>
            <a:off x="5011200" y="1512000"/>
            <a:ext cx="4464000" cy="1667868"/>
          </a:xfrm>
          <a:prstGeom prst="rect">
            <a:avLst/>
          </a:prstGeom>
        </p:spPr>
      </p:pic>
      <p:pic>
        <p:nvPicPr>
          <p:cNvPr id="35" name="Picture 34" descr="juku_v2_trend_juken.png"/>
          <p:cNvPicPr>
            <a:picLocks noChangeAspect="1"/>
          </p:cNvPicPr>
          <p:nvPr/>
        </p:nvPicPr>
        <p:blipFill>
          <a:blip r:embed="rId4"/>
          <a:stretch>
            <a:fillRect/>
          </a:stretch>
        </p:blipFill>
        <p:spPr>
          <a:xfrm>
            <a:off x="432000" y="3311999"/>
            <a:ext cx="4464000" cy="1520703"/>
          </a:xfrm>
          <a:prstGeom prst="rect">
            <a:avLst/>
          </a:prstGeom>
        </p:spPr>
      </p:pic>
      <p:sp>
        <p:nvSpPr>
          <p:cNvPr id="36" name="Rounded Rectangle 35"/>
          <p:cNvSpPr/>
          <p:nvPr/>
        </p:nvSpPr>
        <p:spPr>
          <a:xfrm>
            <a:off x="5011200" y="3366000"/>
            <a:ext cx="4464000" cy="1404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ectangle 36"/>
          <p:cNvSpPr/>
          <p:nvPr/>
        </p:nvSpPr>
        <p:spPr>
          <a:xfrm>
            <a:off x="5148000" y="3420000"/>
            <a:ext cx="4320000" cy="133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dirty="0" err="1">
                <a:solidFill>
                  <a:srgbClr val="002060"/>
                </a:solidFill>
                <a:latin typeface="メイリオ"/>
                <a:ea typeface="メイリオ"/>
                <a:cs typeface="メイリオ"/>
              </a:rPr>
              <a:t>読み取れること</a:t>
            </a:r>
            <a:endParaRPr sz="1150" b="1" dirty="0">
              <a:solidFill>
                <a:srgbClr val="002060"/>
              </a:solidFill>
              <a:latin typeface="メイリオ"/>
              <a:ea typeface="メイリオ"/>
              <a:cs typeface="メイリオ"/>
            </a:endParaRPr>
          </a:p>
          <a:p>
            <a:pPr algn="l"/>
            <a:r>
              <a:rPr sz="1100" b="0" dirty="0">
                <a:solidFill>
                  <a:srgbClr val="333333"/>
                </a:solidFill>
                <a:latin typeface="メイリオ"/>
                <a:ea typeface="メイリオ"/>
                <a:cs typeface="メイリオ"/>
              </a:rPr>
              <a:t>・「塾」は2月上旬がピーク。ただし年間を通して大きくは落ちない</a:t>
            </a:r>
          </a:p>
          <a:p>
            <a:pPr algn="l"/>
            <a:r>
              <a:rPr sz="1100" b="0" dirty="0">
                <a:solidFill>
                  <a:srgbClr val="333333"/>
                </a:solidFill>
                <a:latin typeface="メイリオ"/>
                <a:ea typeface="メイリオ"/>
                <a:cs typeface="メイリオ"/>
              </a:rPr>
              <a:t>・講習は夏が圧倒的。冬期・春期の3〜5倍</a:t>
            </a:r>
          </a:p>
          <a:p>
            <a:pPr algn="l"/>
            <a:r>
              <a:rPr sz="1100" b="0" dirty="0">
                <a:solidFill>
                  <a:srgbClr val="333333"/>
                </a:solidFill>
                <a:latin typeface="メイリオ"/>
                <a:ea typeface="メイリオ"/>
                <a:cs typeface="メイリオ"/>
              </a:rPr>
              <a:t>・受験の検索は1月中旬〜2月上旬に集中</a:t>
            </a:r>
          </a:p>
          <a:p>
            <a:pPr algn="l"/>
            <a:r>
              <a:rPr sz="1100" b="1" dirty="0">
                <a:solidFill>
                  <a:srgbClr val="1F285A"/>
                </a:solidFill>
                <a:latin typeface="メイリオ"/>
                <a:ea typeface="メイリオ"/>
                <a:cs typeface="メイリオ"/>
              </a:rPr>
              <a:t>→ ピークの時期だけ広告を増やすより、</a:t>
            </a:r>
          </a:p>
          <a:p>
            <a:pPr algn="l"/>
            <a:r>
              <a:rPr sz="1100" b="1" dirty="0">
                <a:solidFill>
                  <a:srgbClr val="1F285A"/>
                </a:solidFill>
                <a:latin typeface="メイリオ"/>
                <a:ea typeface="メイリオ"/>
                <a:cs typeface="メイリオ"/>
              </a:rPr>
              <a:t>　 ピークの前からLINEでつながっておく</a:t>
            </a:r>
          </a:p>
        </p:txBody>
      </p:sp>
      <p:sp>
        <p:nvSpPr>
          <p:cNvPr id="38" name="Rounded Rectangle 37"/>
          <p:cNvSpPr/>
          <p:nvPr/>
        </p:nvSpPr>
        <p:spPr>
          <a:xfrm>
            <a:off x="432000" y="507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50" b="1">
                <a:solidFill>
                  <a:srgbClr val="FFFFFF"/>
                </a:solidFill>
                <a:latin typeface="メイリオ"/>
                <a:ea typeface="メイリオ"/>
                <a:cs typeface="メイリオ"/>
              </a:rPr>
              <a:t>検索のピークの前から、LINEでつながっておく。</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年間の配信カレンダー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検索のピーク（2月・7月）の前から、その時期に保護者が気にしていることに合わせて配信する。</a:t>
            </a:r>
          </a:p>
          <a:p>
            <a:pPr algn="l">
              <a:lnSpc>
                <a:spcPct val="128000"/>
              </a:lnSpc>
            </a:pPr>
            <a:r>
              <a:rPr sz="1200">
                <a:solidFill>
                  <a:srgbClr val="333333"/>
                </a:solidFill>
                <a:latin typeface="メイリオ"/>
                <a:ea typeface="メイリオ"/>
                <a:cs typeface="メイリオ"/>
              </a:rPr>
              <a:t>企画配信は月1〜2本。</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38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Rounded Rectangle 5"/>
          <p:cNvSpPr/>
          <p:nvPr/>
        </p:nvSpPr>
        <p:spPr>
          <a:xfrm>
            <a:off x="432000" y="16380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1月</a:t>
            </a:r>
          </a:p>
        </p:txBody>
      </p:sp>
      <p:sp>
        <p:nvSpPr>
          <p:cNvPr id="7" name="TextBox 6"/>
          <p:cNvSpPr txBox="1"/>
          <p:nvPr/>
        </p:nvSpPr>
        <p:spPr>
          <a:xfrm>
            <a:off x="1475999" y="1784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新学年の準備が動き出す</a:t>
            </a:r>
          </a:p>
        </p:txBody>
      </p:sp>
      <p:sp>
        <p:nvSpPr>
          <p:cNvPr id="8" name="TextBox 7"/>
          <p:cNvSpPr txBox="1"/>
          <p:nvPr/>
        </p:nvSpPr>
        <p:spPr>
          <a:xfrm>
            <a:off x="3491999" y="1785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「塾」の検索は2月上旬がピーク</a:t>
            </a:r>
          </a:p>
        </p:txBody>
      </p:sp>
      <p:sp>
        <p:nvSpPr>
          <p:cNvPr id="9" name="TextBox 8"/>
          <p:cNvSpPr txBox="1"/>
          <p:nvPr/>
        </p:nvSpPr>
        <p:spPr>
          <a:xfrm>
            <a:off x="6552000" y="1785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小5・中2の保護者へ「次学年で変わること」</a:t>
            </a:r>
          </a:p>
        </p:txBody>
      </p:sp>
      <p:sp>
        <p:nvSpPr>
          <p:cNvPr id="10" name="Rounded Rectangle 9"/>
          <p:cNvSpPr/>
          <p:nvPr/>
        </p:nvSpPr>
        <p:spPr>
          <a:xfrm>
            <a:off x="432000" y="2221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ounded Rectangle 10"/>
          <p:cNvSpPr/>
          <p:nvPr/>
        </p:nvSpPr>
        <p:spPr>
          <a:xfrm>
            <a:off x="432000" y="22212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2-3月</a:t>
            </a:r>
          </a:p>
        </p:txBody>
      </p:sp>
      <p:sp>
        <p:nvSpPr>
          <p:cNvPr id="12" name="TextBox 11"/>
          <p:cNvSpPr txBox="1"/>
          <p:nvPr/>
        </p:nvSpPr>
        <p:spPr>
          <a:xfrm>
            <a:off x="1475999" y="2367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入会の最大期／春期講習</a:t>
            </a:r>
          </a:p>
        </p:txBody>
      </p:sp>
      <p:sp>
        <p:nvSpPr>
          <p:cNvPr id="13" name="TextBox 12"/>
          <p:cNvSpPr txBox="1"/>
          <p:nvPr/>
        </p:nvSpPr>
        <p:spPr>
          <a:xfrm>
            <a:off x="3491999" y="2369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受験3種のピークも1月中旬〜2月上旬</a:t>
            </a:r>
          </a:p>
        </p:txBody>
      </p:sp>
      <p:sp>
        <p:nvSpPr>
          <p:cNvPr id="14" name="TextBox 13"/>
          <p:cNvSpPr txBox="1"/>
          <p:nvPr/>
        </p:nvSpPr>
        <p:spPr>
          <a:xfrm>
            <a:off x="6552000" y="2369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新学年スタート応援。春期講習は夏の1/3規模</a:t>
            </a:r>
          </a:p>
        </p:txBody>
      </p:sp>
      <p:sp>
        <p:nvSpPr>
          <p:cNvPr id="15" name="Rounded Rectangle 14"/>
          <p:cNvSpPr/>
          <p:nvPr/>
        </p:nvSpPr>
        <p:spPr>
          <a:xfrm>
            <a:off x="432000" y="28044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Rounded Rectangle 15"/>
          <p:cNvSpPr/>
          <p:nvPr/>
        </p:nvSpPr>
        <p:spPr>
          <a:xfrm>
            <a:off x="432000" y="28044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4-5月</a:t>
            </a:r>
          </a:p>
        </p:txBody>
      </p:sp>
      <p:sp>
        <p:nvSpPr>
          <p:cNvPr id="17" name="TextBox 16"/>
          <p:cNvSpPr txBox="1"/>
          <p:nvPr/>
        </p:nvSpPr>
        <p:spPr>
          <a:xfrm>
            <a:off x="1475999" y="29506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最初の定期テスト</a:t>
            </a:r>
          </a:p>
        </p:txBody>
      </p:sp>
      <p:sp>
        <p:nvSpPr>
          <p:cNvPr id="18" name="TextBox 17"/>
          <p:cNvSpPr txBox="1"/>
          <p:nvPr/>
        </p:nvSpPr>
        <p:spPr>
          <a:xfrm>
            <a:off x="3491999" y="29522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中間テストで成績不安が顕在化</a:t>
            </a:r>
          </a:p>
        </p:txBody>
      </p:sp>
      <p:sp>
        <p:nvSpPr>
          <p:cNvPr id="19" name="TextBox 18"/>
          <p:cNvSpPr txBox="1"/>
          <p:nvPr/>
        </p:nvSpPr>
        <p:spPr>
          <a:xfrm>
            <a:off x="6552000" y="2856037"/>
            <a:ext cx="2880000" cy="418725"/>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「テスト後、9割の家庭がしない事」（P23）</a:t>
            </a:r>
          </a:p>
        </p:txBody>
      </p:sp>
      <p:sp>
        <p:nvSpPr>
          <p:cNvPr id="20" name="Rounded Rectangle 19"/>
          <p:cNvSpPr/>
          <p:nvPr/>
        </p:nvSpPr>
        <p:spPr>
          <a:xfrm>
            <a:off x="432000" y="33876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Rounded Rectangle 20"/>
          <p:cNvSpPr/>
          <p:nvPr/>
        </p:nvSpPr>
        <p:spPr>
          <a:xfrm>
            <a:off x="432000" y="33876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6月</a:t>
            </a:r>
          </a:p>
        </p:txBody>
      </p:sp>
      <p:sp>
        <p:nvSpPr>
          <p:cNvPr id="22" name="TextBox 21"/>
          <p:cNvSpPr txBox="1"/>
          <p:nvPr/>
        </p:nvSpPr>
        <p:spPr>
          <a:xfrm>
            <a:off x="1475999" y="35338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夏期講習の配信の準備</a:t>
            </a:r>
          </a:p>
        </p:txBody>
      </p:sp>
      <p:sp>
        <p:nvSpPr>
          <p:cNvPr id="23" name="TextBox 22"/>
          <p:cNvSpPr txBox="1"/>
          <p:nvPr/>
        </p:nvSpPr>
        <p:spPr>
          <a:xfrm>
            <a:off x="3491999" y="35354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夏期講習の検索は7月中旬が山</a:t>
            </a:r>
          </a:p>
        </p:txBody>
      </p:sp>
      <p:sp>
        <p:nvSpPr>
          <p:cNvPr id="24" name="TextBox 23"/>
          <p:cNvSpPr txBox="1"/>
          <p:nvPr/>
        </p:nvSpPr>
        <p:spPr>
          <a:xfrm>
            <a:off x="6552000" y="35354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年間で最も申し込みが集まる時期</a:t>
            </a:r>
          </a:p>
        </p:txBody>
      </p:sp>
      <p:sp>
        <p:nvSpPr>
          <p:cNvPr id="25" name="Rounded Rectangle 24"/>
          <p:cNvSpPr/>
          <p:nvPr/>
        </p:nvSpPr>
        <p:spPr>
          <a:xfrm>
            <a:off x="432000" y="39708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Rounded Rectangle 25"/>
          <p:cNvSpPr/>
          <p:nvPr/>
        </p:nvSpPr>
        <p:spPr>
          <a:xfrm>
            <a:off x="432000" y="39708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7-8月</a:t>
            </a:r>
          </a:p>
        </p:txBody>
      </p:sp>
      <p:sp>
        <p:nvSpPr>
          <p:cNvPr id="27" name="TextBox 26"/>
          <p:cNvSpPr txBox="1"/>
          <p:nvPr/>
        </p:nvSpPr>
        <p:spPr>
          <a:xfrm>
            <a:off x="1475999" y="41170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夏期講習ピーク</a:t>
            </a:r>
          </a:p>
        </p:txBody>
      </p:sp>
      <p:sp>
        <p:nvSpPr>
          <p:cNvPr id="28" name="TextBox 27"/>
          <p:cNvSpPr txBox="1"/>
          <p:nvPr/>
        </p:nvSpPr>
        <p:spPr>
          <a:xfrm>
            <a:off x="3491999" y="41186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冬期・春期の3〜5倍の規模</a:t>
            </a:r>
          </a:p>
        </p:txBody>
      </p:sp>
      <p:sp>
        <p:nvSpPr>
          <p:cNvPr id="29" name="TextBox 28"/>
          <p:cNvSpPr txBox="1"/>
          <p:nvPr/>
        </p:nvSpPr>
        <p:spPr>
          <a:xfrm>
            <a:off x="6552000" y="41186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夏の学習計画・自由研究・受験生の夏</a:t>
            </a:r>
          </a:p>
        </p:txBody>
      </p:sp>
      <p:sp>
        <p:nvSpPr>
          <p:cNvPr id="30" name="Rounded Rectangle 29"/>
          <p:cNvSpPr/>
          <p:nvPr/>
        </p:nvSpPr>
        <p:spPr>
          <a:xfrm>
            <a:off x="432000" y="4554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Rounded Rectangle 30"/>
          <p:cNvSpPr/>
          <p:nvPr/>
        </p:nvSpPr>
        <p:spPr>
          <a:xfrm>
            <a:off x="432000" y="45540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9-10月</a:t>
            </a:r>
          </a:p>
        </p:txBody>
      </p:sp>
      <p:sp>
        <p:nvSpPr>
          <p:cNvPr id="32" name="TextBox 31"/>
          <p:cNvSpPr txBox="1"/>
          <p:nvPr/>
        </p:nvSpPr>
        <p:spPr>
          <a:xfrm>
            <a:off x="1475999" y="4700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2学期の定期テスト</a:t>
            </a:r>
          </a:p>
        </p:txBody>
      </p:sp>
      <p:sp>
        <p:nvSpPr>
          <p:cNvPr id="33" name="TextBox 32"/>
          <p:cNvSpPr txBox="1"/>
          <p:nvPr/>
        </p:nvSpPr>
        <p:spPr>
          <a:xfrm>
            <a:off x="3491999" y="4701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中間・期末テストで成績の不安が出やすい</a:t>
            </a:r>
          </a:p>
        </p:txBody>
      </p:sp>
      <p:sp>
        <p:nvSpPr>
          <p:cNvPr id="34" name="TextBox 33"/>
          <p:cNvSpPr txBox="1"/>
          <p:nvPr/>
        </p:nvSpPr>
        <p:spPr>
          <a:xfrm>
            <a:off x="6552000" y="4701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テスト返却週に「点数の見方」を配信</a:t>
            </a:r>
          </a:p>
        </p:txBody>
      </p:sp>
      <p:sp>
        <p:nvSpPr>
          <p:cNvPr id="35" name="Rounded Rectangle 34"/>
          <p:cNvSpPr/>
          <p:nvPr/>
        </p:nvSpPr>
        <p:spPr>
          <a:xfrm>
            <a:off x="432000" y="5137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Rounded Rectangle 35"/>
          <p:cNvSpPr/>
          <p:nvPr/>
        </p:nvSpPr>
        <p:spPr>
          <a:xfrm>
            <a:off x="432000" y="51372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11-12月</a:t>
            </a:r>
          </a:p>
        </p:txBody>
      </p:sp>
      <p:sp>
        <p:nvSpPr>
          <p:cNvPr id="37" name="TextBox 36"/>
          <p:cNvSpPr txBox="1"/>
          <p:nvPr/>
        </p:nvSpPr>
        <p:spPr>
          <a:xfrm>
            <a:off x="1475999" y="5283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冬期講習・受験直前</a:t>
            </a:r>
          </a:p>
        </p:txBody>
      </p:sp>
      <p:sp>
        <p:nvSpPr>
          <p:cNvPr id="38" name="TextBox 37"/>
          <p:cNvSpPr txBox="1"/>
          <p:nvPr/>
        </p:nvSpPr>
        <p:spPr>
          <a:xfrm>
            <a:off x="3491999" y="5285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冬期講習は12月下旬がピーク</a:t>
            </a:r>
          </a:p>
        </p:txBody>
      </p:sp>
      <p:sp>
        <p:nvSpPr>
          <p:cNvPr id="39" name="TextBox 38"/>
          <p:cNvSpPr txBox="1"/>
          <p:nvPr/>
        </p:nvSpPr>
        <p:spPr>
          <a:xfrm>
            <a:off x="6552000" y="5285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受験生は直前期、非受験生は「来年こそ」</a:t>
            </a:r>
          </a:p>
        </p:txBody>
      </p:sp>
      <p:sp>
        <p:nvSpPr>
          <p:cNvPr id="40" name="TextBox 3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出典｜Googleトレンド（日本・2026年年初来・週次）。各月の内容は弊社の見解</a:t>
            </a:r>
          </a:p>
        </p:txBody>
      </p:sp>
      <p:sp>
        <p:nvSpPr>
          <p:cNvPr id="41" name="Pentagon 40"/>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42" name="Chevron 4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43" name="Chevron 4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44" name="Chevron 4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45" name="Chevron 44"/>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46" name="Chevron 4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47" name="Chevron 4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48" name="Chevron 4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運用の参考事例｜明光義塾</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LINEで資料請求を伸ばした塾の事例（LINEヤフー公式の導入事例）。</a:t>
            </a:r>
          </a:p>
          <a:p>
            <a:pPr algn="l">
              <a:lnSpc>
                <a:spcPct val="128000"/>
              </a:lnSpc>
            </a:pPr>
            <a:r>
              <a:rPr sz="1200" dirty="0" err="1">
                <a:solidFill>
                  <a:srgbClr val="333333"/>
                </a:solidFill>
                <a:latin typeface="メイリオ"/>
                <a:ea typeface="メイリオ"/>
                <a:cs typeface="メイリオ"/>
              </a:rPr>
              <a:t>「塾はすぐには申し込まれない」という前提で、サイトから友だちになっていただき、比べている間をLINEで支えている。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出典｜LINEヤフー for Business 導入事例 明光義塾（2024年4月5日）。友だち数：page.line.me（2026-09-25実測）</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大手でも、取り組みの軸は「友だちになっていただき、比べている間をLINEで支える」こと。</a:t>
            </a:r>
          </a:p>
        </p:txBody>
      </p:sp>
      <p:sp>
        <p:nvSpPr>
          <p:cNvPr id="105" name="Rounded Rectangle 104"/>
          <p:cNvSpPr/>
          <p:nvPr/>
        </p:nvSpPr>
        <p:spPr>
          <a:xfrm>
            <a:off x="429768"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友だち数</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30.8万人</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2026年9月の実測</a:t>
            </a:r>
            <a:endParaRPr lang="ja-JP" altLang="en-US" sz="1200" dirty="0"/>
          </a:p>
        </p:txBody>
      </p:sp>
      <p:sp>
        <p:nvSpPr>
          <p:cNvPr id="106" name="Rounded Rectangle 105"/>
          <p:cNvSpPr/>
          <p:nvPr/>
        </p:nvSpPr>
        <p:spPr>
          <a:xfrm>
            <a:off x="3511296"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スタンプ施策の約5か月</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約20万人増</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うち約15万人は友だちからの広がり</a:t>
            </a:r>
            <a:endParaRPr lang="ja-JP" altLang="en-US" sz="1200" dirty="0"/>
          </a:p>
        </p:txBody>
      </p:sp>
      <p:sp>
        <p:nvSpPr>
          <p:cNvPr id="107" name="Rounded Rectangle 106"/>
          <p:cNvSpPr/>
          <p:nvPr/>
        </p:nvSpPr>
        <p:spPr>
          <a:xfrm>
            <a:off x="6592824"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資料請求（2023年6〜7月）</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前年比 約120%</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スタンプ施策の後半2か月</a:t>
            </a:r>
            <a:endParaRPr lang="ja-JP" altLang="en-US" sz="1200" dirty="0"/>
          </a:p>
        </p:txBody>
      </p:sp>
      <p:sp>
        <p:nvSpPr>
          <p:cNvPr id="108" name="Rectangle 107"/>
          <p:cNvSpPr/>
          <p:nvPr/>
        </p:nvSpPr>
        <p:spPr>
          <a:xfrm>
            <a:off x="429768" y="2606040"/>
            <a:ext cx="9043416" cy="640080"/>
          </a:xfrm>
          <a:prstGeom prst="rect">
            <a:avLst/>
          </a:prstGeom>
          <a:solidFill>
            <a:srgbClr val="FFFFFF"/>
          </a:solidFill>
          <a:ln w="9525">
            <a:solidFill>
              <a:srgbClr val="D9D9D9"/>
            </a:solidFill>
          </a:ln>
        </p:spPr>
        <p:txBody>
          <a:bodyPr wrap="square" lIns="128016" tIns="45720" rIns="128016" bIns="45720" rtlCol="0" anchor="ctr">
            <a:noAutofit/>
          </a:bodyPr>
          <a:lstStyle/>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「学習塾は他塾と念入りに比較検討されるお客さまが多く、</a:t>
            </a:r>
            <a:br>
              <a:rPr lang="ja-JP" altLang="en-US" sz="1000" b="0" dirty="0">
                <a:solidFill>
                  <a:srgbClr val="333333"/>
                </a:solidFill>
                <a:latin typeface="メイリオ" panose="020B0604030504040204" pitchFamily="50" charset="-128"/>
                <a:ea typeface="メイリオ" panose="020B0604030504040204" pitchFamily="50" charset="-128"/>
              </a:rPr>
            </a:br>
            <a:r>
              <a:rPr lang="ja-JP" altLang="en-US" sz="1000" b="0" dirty="0">
                <a:solidFill>
                  <a:srgbClr val="333333"/>
                </a:solidFill>
                <a:latin typeface="メイリオ" panose="020B0604030504040204" pitchFamily="50" charset="-128"/>
                <a:ea typeface="メイリオ" panose="020B0604030504040204" pitchFamily="50" charset="-128"/>
              </a:rPr>
              <a:t>Webサイトを訪れてすぐに資料請求や体験授業の申し込みなどのCV（コンバージョン）につながるケースはそこまで多くありません」</a:t>
            </a:r>
            <a:endParaRPr lang="ja-JP" altLang="en-US" sz="1000" dirty="0"/>
          </a:p>
          <a:p>
            <a:pPr algn="l">
              <a:lnSpc>
                <a:spcPct val="105000"/>
              </a:lnSpc>
              <a:buNone/>
            </a:pPr>
            <a:r>
              <a:rPr lang="ja-JP" altLang="en-US" sz="900" b="0" dirty="0">
                <a:solidFill>
                  <a:srgbClr val="595959"/>
                </a:solidFill>
                <a:latin typeface="メイリオ" panose="020B0604030504040204" pitchFamily="50" charset="-128"/>
                <a:ea typeface="メイリオ" panose="020B0604030504040204" pitchFamily="50" charset="-128"/>
              </a:rPr>
              <a:t>― 明光ネットワークジャパン ご担当者（公式事例より）</a:t>
            </a:r>
            <a:endParaRPr lang="ja-JP" altLang="en-US" sz="1000" dirty="0"/>
          </a:p>
        </p:txBody>
      </p:sp>
      <p:sp>
        <p:nvSpPr>
          <p:cNvPr id="109" name="Rectangle 108"/>
          <p:cNvSpPr/>
          <p:nvPr/>
        </p:nvSpPr>
        <p:spPr>
          <a:xfrm>
            <a:off x="429768" y="3383280"/>
            <a:ext cx="9043416" cy="274320"/>
          </a:xfrm>
          <a:prstGeom prst="rect">
            <a:avLst/>
          </a:prstGeom>
          <a:noFill/>
          <a:ln>
            <a:noFill/>
          </a:ln>
        </p:spPr>
        <p:txBody>
          <a:bodyPr wrap="square" lIns="0" tIns="0" rIns="0" bIns="0" rtlCol="0" anchor="ctr">
            <a:noAutofit/>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公式事例（2023年）の施策の流れ</a:t>
            </a:r>
            <a:endParaRPr lang="ja-JP" altLang="en-US" sz="1300" dirty="0"/>
          </a:p>
        </p:txBody>
      </p:sp>
      <p:sp>
        <p:nvSpPr>
          <p:cNvPr id="110" name="Rectangle 109"/>
          <p:cNvSpPr/>
          <p:nvPr/>
        </p:nvSpPr>
        <p:spPr>
          <a:xfrm>
            <a:off x="429768"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初回訪問時・離脱時の</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ポップアップから</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友だち追加</a:t>
            </a:r>
            <a:endParaRPr lang="ja-JP" altLang="en-US" sz="1150" dirty="0"/>
          </a:p>
        </p:txBody>
      </p:sp>
      <p:sp>
        <p:nvSpPr>
          <p:cNvPr id="111" name="Rounded Rectangle 110"/>
          <p:cNvSpPr/>
          <p:nvPr/>
        </p:nvSpPr>
        <p:spPr>
          <a:xfrm>
            <a:off x="429768"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　サイトで</a:t>
            </a:r>
            <a:endParaRPr lang="ja-JP" altLang="en-US" sz="1100" dirty="0"/>
          </a:p>
        </p:txBody>
      </p:sp>
      <p:sp>
        <p:nvSpPr>
          <p:cNvPr id="112" name="Rectangle 111"/>
          <p:cNvSpPr/>
          <p:nvPr/>
        </p:nvSpPr>
        <p:spPr>
          <a:xfrm>
            <a:off x="2718054"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チャットと配信で</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良さ・他塾との違いを</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じっくり伝える</a:t>
            </a:r>
            <a:endParaRPr lang="ja-JP" altLang="en-US" sz="1150" dirty="0"/>
          </a:p>
        </p:txBody>
      </p:sp>
      <p:sp>
        <p:nvSpPr>
          <p:cNvPr id="113" name="Rounded Rectangle 112"/>
          <p:cNvSpPr/>
          <p:nvPr/>
        </p:nvSpPr>
        <p:spPr>
          <a:xfrm>
            <a:off x="2718054"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　追加のあと</a:t>
            </a:r>
            <a:endParaRPr lang="ja-JP" altLang="en-US" sz="1100" dirty="0"/>
          </a:p>
        </p:txBody>
      </p:sp>
      <p:sp>
        <p:nvSpPr>
          <p:cNvPr id="114" name="Rectangle 113"/>
          <p:cNvSpPr/>
          <p:nvPr/>
        </p:nvSpPr>
        <p:spPr>
          <a:xfrm>
            <a:off x="5006340"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タップで答えるアンケートに</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答えるとスタンプを配布</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 友だちから広がる</a:t>
            </a:r>
            <a:endParaRPr lang="ja-JP" altLang="en-US" sz="1150" dirty="0"/>
          </a:p>
        </p:txBody>
      </p:sp>
      <p:sp>
        <p:nvSpPr>
          <p:cNvPr id="115" name="Rounded Rectangle 114"/>
          <p:cNvSpPr/>
          <p:nvPr/>
        </p:nvSpPr>
        <p:spPr>
          <a:xfrm>
            <a:off x="5006340"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　スタンプで</a:t>
            </a:r>
            <a:endParaRPr lang="ja-JP" altLang="en-US" sz="1100" dirty="0"/>
          </a:p>
        </p:txBody>
      </p:sp>
      <p:sp>
        <p:nvSpPr>
          <p:cNvPr id="116" name="Rectangle 115"/>
          <p:cNvSpPr/>
          <p:nvPr/>
        </p:nvSpPr>
        <p:spPr>
          <a:xfrm>
            <a:off x="7294626"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回答をもとに、</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まだ塾に通っていない</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お子さま・保護者に絞る</a:t>
            </a:r>
            <a:endParaRPr lang="ja-JP" altLang="en-US" sz="1150" dirty="0"/>
          </a:p>
        </p:txBody>
      </p:sp>
      <p:sp>
        <p:nvSpPr>
          <p:cNvPr id="117" name="Rounded Rectangle 116"/>
          <p:cNvSpPr/>
          <p:nvPr/>
        </p:nvSpPr>
        <p:spPr>
          <a:xfrm>
            <a:off x="7294626"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　配信で</a:t>
            </a:r>
            <a:endParaRPr lang="ja-JP" altLang="en-US" sz="1100" dirty="0"/>
          </a:p>
        </p:txBody>
      </p:sp>
      <p:sp>
        <p:nvSpPr>
          <p:cNvPr id="118" name="Rectangle 117"/>
          <p:cNvSpPr/>
          <p:nvPr/>
        </p:nvSpPr>
        <p:spPr>
          <a:xfrm>
            <a:off x="429768" y="4892040"/>
            <a:ext cx="9043416" cy="457200"/>
          </a:xfrm>
          <a:prstGeom prst="rect">
            <a:avLst/>
          </a:prstGeom>
          <a:noFill/>
          <a:ln>
            <a:noFill/>
          </a:ln>
        </p:spPr>
        <p:txBody>
          <a:bodyPr wrap="square" lIns="0" tIns="0" rIns="0" bIns="0" rtlCol="0" anchor="ctr">
            <a:noAutofit/>
          </a:bodyPr>
          <a:lstStyle/>
          <a:p>
            <a:pPr algn="l">
              <a:lnSpc>
                <a:spcPct val="100000"/>
              </a:lnSpc>
              <a:buNone/>
            </a:pPr>
            <a:r>
              <a:rPr lang="ja-JP" altLang="en-US" sz="900" b="0" dirty="0">
                <a:solidFill>
                  <a:srgbClr val="595959"/>
                </a:solidFill>
                <a:latin typeface="メイリオ" panose="020B0604030504040204" pitchFamily="50" charset="-128"/>
                <a:ea typeface="メイリオ" panose="020B0604030504040204" pitchFamily="50" charset="-128"/>
              </a:rPr>
              <a:t>※ スタンプの広がりで友だちになり、アンケートに答えていない方には、後日クイズ形式の配信で回答を促し、55%が反応。</a:t>
            </a:r>
            <a:endParaRPr lang="ja-JP" altLang="en-US" sz="900" dirty="0"/>
          </a:p>
          <a:p>
            <a:pPr algn="l">
              <a:lnSpc>
                <a:spcPct val="100000"/>
              </a:lnSpc>
              <a:buNone/>
            </a:pPr>
            <a:r>
              <a:rPr lang="ja-JP" altLang="en-US" sz="900" b="0" dirty="0">
                <a:solidFill>
                  <a:srgbClr val="595959"/>
                </a:solidFill>
                <a:latin typeface="メイリオ" panose="020B0604030504040204" pitchFamily="50" charset="-128"/>
                <a:ea typeface="メイリオ" panose="020B0604030504040204" pitchFamily="50" charset="-128"/>
              </a:rPr>
              <a:t>※ 友だちが増えても、ブロック率は施策前とほぼ同じ。友だち集めにはLINE広告（友だち追加）も使用。チャットの接客は「ジールス」（株式会社Zeals）。</a:t>
            </a:r>
            <a:endParaRPr lang="ja-JP" alt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明光義塾の実際の画面</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dirty="0" err="1">
                <a:solidFill>
                  <a:srgbClr val="333333"/>
                </a:solidFill>
                <a:latin typeface="メイリオ"/>
                <a:ea typeface="メイリオ"/>
                <a:cs typeface="メイリオ"/>
              </a:rPr>
              <a:t>友だち追加の直後に、30秒の相性チェックと「このままLINEで無料体験の予約」を案内している。</a:t>
            </a:r>
          </a:p>
          <a:p>
            <a:pPr algn="l">
              <a:lnSpc>
                <a:spcPct val="128000"/>
              </a:lnSpc>
            </a:pPr>
            <a:r>
              <a:rPr sz="1250" dirty="0" err="1">
                <a:solidFill>
                  <a:srgbClr val="333333"/>
                </a:solidFill>
                <a:latin typeface="メイリオ"/>
                <a:ea typeface="メイリオ"/>
                <a:cs typeface="メイリオ"/>
              </a:rPr>
              <a:t>リッチメニューの一番大きい枠は「授業料シミュレーション」。</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画面：明光義塾 LINE公式アカウント（2026-10-19 弊社で友だち追加して確認）</a:t>
            </a:r>
          </a:p>
        </p:txBody>
      </p:sp>
      <p:sp>
        <p:nvSpPr>
          <p:cNvPr id="68" name="Rounded Rectangle 67"/>
          <p:cNvSpPr/>
          <p:nvPr/>
        </p:nvSpPr>
        <p:spPr>
          <a:xfrm>
            <a:off x="429768"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1　あいさつ＋相性チェック</a:t>
            </a:r>
            <a:endParaRPr lang="ja-JP" altLang="en-US" sz="1200" dirty="0"/>
          </a:p>
        </p:txBody>
      </p:sp>
      <p:pic>
        <p:nvPicPr>
          <p:cNvPr id="69" name="明光義塾_あいさつ＋相性チェック"/>
          <p:cNvPicPr>
            <a:picLocks noChangeAspect="1"/>
          </p:cNvPicPr>
          <p:nvPr/>
        </p:nvPicPr>
        <p:blipFill>
          <a:blip r:embed="rId2"/>
          <a:stretch>
            <a:fillRect/>
          </a:stretch>
        </p:blipFill>
        <p:spPr>
          <a:xfrm>
            <a:off x="935964" y="1847088"/>
            <a:ext cx="1730806" cy="3749039"/>
          </a:xfrm>
          <a:prstGeom prst="rect">
            <a:avLst/>
          </a:prstGeom>
          <a:ln w="9525">
            <a:solidFill>
              <a:srgbClr val="C6CADD"/>
            </a:solidFill>
          </a:ln>
        </p:spPr>
      </p:pic>
      <p:sp>
        <p:nvSpPr>
          <p:cNvPr id="70" name="Rectangle 69"/>
          <p:cNvSpPr/>
          <p:nvPr/>
        </p:nvSpPr>
        <p:spPr>
          <a:xfrm>
            <a:off x="429768"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友だち追加の直後に</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30秒の相性チェック（全5問）</a:t>
            </a:r>
            <a:endParaRPr lang="ja-JP" altLang="en-US" sz="1050" dirty="0"/>
          </a:p>
        </p:txBody>
      </p:sp>
      <p:sp>
        <p:nvSpPr>
          <p:cNvPr id="71" name="Rounded Rectangle 70"/>
          <p:cNvSpPr/>
          <p:nvPr/>
        </p:nvSpPr>
        <p:spPr>
          <a:xfrm>
            <a:off x="3579876"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2　LINEの中で体験予約</a:t>
            </a:r>
            <a:endParaRPr lang="ja-JP" altLang="en-US" sz="1200" dirty="0"/>
          </a:p>
        </p:txBody>
      </p:sp>
      <p:pic>
        <p:nvPicPr>
          <p:cNvPr id="72" name="明光義塾_LINEの中で体験予約"/>
          <p:cNvPicPr>
            <a:picLocks noChangeAspect="1"/>
          </p:cNvPicPr>
          <p:nvPr/>
        </p:nvPicPr>
        <p:blipFill>
          <a:blip r:embed="rId3"/>
          <a:stretch>
            <a:fillRect/>
          </a:stretch>
        </p:blipFill>
        <p:spPr>
          <a:xfrm>
            <a:off x="4086072" y="1847088"/>
            <a:ext cx="1730806" cy="3749039"/>
          </a:xfrm>
          <a:prstGeom prst="rect">
            <a:avLst/>
          </a:prstGeom>
          <a:ln w="9525">
            <a:solidFill>
              <a:srgbClr val="C6CADD"/>
            </a:solidFill>
          </a:ln>
        </p:spPr>
      </p:pic>
      <p:sp>
        <p:nvSpPr>
          <p:cNvPr id="73" name="Rectangle 72"/>
          <p:cNvSpPr/>
          <p:nvPr/>
        </p:nvSpPr>
        <p:spPr>
          <a:xfrm>
            <a:off x="3579876"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「このままLINEで無料体験の予約」</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60秒・トークの中で入力（全7問）</a:t>
            </a:r>
            <a:endParaRPr lang="ja-JP" altLang="en-US" sz="1050" dirty="0"/>
          </a:p>
        </p:txBody>
      </p:sp>
      <p:sp>
        <p:nvSpPr>
          <p:cNvPr id="74" name="Rounded Rectangle 73"/>
          <p:cNvSpPr/>
          <p:nvPr/>
        </p:nvSpPr>
        <p:spPr>
          <a:xfrm>
            <a:off x="6729984"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3　リッチメニュー</a:t>
            </a:r>
            <a:endParaRPr lang="ja-JP" altLang="en-US" sz="1200" dirty="0"/>
          </a:p>
        </p:txBody>
      </p:sp>
      <p:pic>
        <p:nvPicPr>
          <p:cNvPr id="75" name="明光義塾_リッチメニュー"/>
          <p:cNvPicPr>
            <a:picLocks noChangeAspect="1"/>
          </p:cNvPicPr>
          <p:nvPr/>
        </p:nvPicPr>
        <p:blipFill>
          <a:blip r:embed="rId4"/>
          <a:stretch>
            <a:fillRect/>
          </a:stretch>
        </p:blipFill>
        <p:spPr>
          <a:xfrm>
            <a:off x="7236180" y="1847088"/>
            <a:ext cx="1730806" cy="3749039"/>
          </a:xfrm>
          <a:prstGeom prst="rect">
            <a:avLst/>
          </a:prstGeom>
          <a:ln w="9525">
            <a:solidFill>
              <a:srgbClr val="C6CADD"/>
            </a:solidFill>
          </a:ln>
        </p:spPr>
      </p:pic>
      <p:sp>
        <p:nvSpPr>
          <p:cNvPr id="76" name="Rectangle 75"/>
          <p:cNvSpPr/>
          <p:nvPr/>
        </p:nvSpPr>
        <p:spPr>
          <a:xfrm>
            <a:off x="6729984"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一番大きい枠に</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授業料シミュレーション</a:t>
            </a:r>
            <a:endParaRPr lang="ja-JP" alt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明光義塾のステップ配信（公式事例の画面）</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友だち追加のあと、相手に合わせた配信が自動で届く（2023年の公式事例の画面）。</a:t>
            </a:r>
          </a:p>
          <a:p>
            <a:pPr algn="l">
              <a:lnSpc>
                <a:spcPct val="128000"/>
              </a:lnSpc>
            </a:pPr>
            <a:r>
              <a:rPr sz="1200" dirty="0" err="1">
                <a:solidFill>
                  <a:srgbClr val="333333"/>
                </a:solidFill>
                <a:latin typeface="メイリオ"/>
                <a:ea typeface="メイリオ"/>
                <a:cs typeface="メイリオ"/>
              </a:rPr>
              <a:t>答えていない方にはクイズで回答を促し、塾に通っていない方には迷い具合に合わせて3つの行動を案内している。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画面：LINEヤフー for Business 導入事例 明光義塾（2024年4月5日）掲載の図版（2023年の施策時のもの）。55%は同事例の記載。画面の中のボタンの色は明光義塾のもの</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答えやすい形で聞き、迷い具合に合わせて次の一歩を選べるようにしている。</a:t>
            </a:r>
          </a:p>
        </p:txBody>
      </p:sp>
      <p:sp>
        <p:nvSpPr>
          <p:cNvPr id="105" name="Rounded Rectangle 104"/>
          <p:cNvSpPr/>
          <p:nvPr/>
        </p:nvSpPr>
        <p:spPr>
          <a:xfrm>
            <a:off x="429768" y="1481328"/>
            <a:ext cx="4425696"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1　アンケートに答えていない方へ</a:t>
            </a:r>
            <a:endParaRPr lang="ja-JP" altLang="en-US" sz="1200" dirty="0"/>
          </a:p>
        </p:txBody>
      </p:sp>
      <p:pic>
        <p:nvPicPr>
          <p:cNvPr id="106" name="明光義塾_ステップ配信_1"/>
          <p:cNvPicPr>
            <a:picLocks noChangeAspect="1"/>
          </p:cNvPicPr>
          <p:nvPr/>
        </p:nvPicPr>
        <p:blipFill>
          <a:blip r:embed="rId2"/>
          <a:stretch>
            <a:fillRect/>
          </a:stretch>
        </p:blipFill>
        <p:spPr>
          <a:xfrm>
            <a:off x="465459" y="1865376"/>
            <a:ext cx="4354313" cy="2606040"/>
          </a:xfrm>
          <a:prstGeom prst="rect">
            <a:avLst/>
          </a:prstGeom>
          <a:ln w="9525">
            <a:solidFill>
              <a:srgbClr val="C6CADD"/>
            </a:solidFill>
          </a:ln>
        </p:spPr>
      </p:pic>
      <p:sp>
        <p:nvSpPr>
          <p:cNvPr id="107" name="Rectangle 106"/>
          <p:cNvSpPr/>
          <p:nvPr/>
        </p:nvSpPr>
        <p:spPr>
          <a:xfrm>
            <a:off x="429768" y="4562856"/>
            <a:ext cx="4425696" cy="1005840"/>
          </a:xfrm>
          <a:prstGeom prst="rect">
            <a:avLst/>
          </a:prstGeom>
          <a:solidFill>
            <a:srgbClr val="F4F7FF"/>
          </a:solidFill>
          <a:ln w="9525">
            <a:solidFill>
              <a:srgbClr val="D9D9D9"/>
            </a:solidFill>
          </a:ln>
        </p:spPr>
        <p:txBody>
          <a:bodyPr wrap="square" lIns="109728" tIns="54864" rIns="91440" bIns="54864" rtlCol="0" anchor="ctr">
            <a:noAutofit/>
          </a:bodyPr>
          <a:lstStyle/>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クイズ「サボローを探せ！」の答えを見るボタンが</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「保護者の方／生徒の方／その他の方」。</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楽しみながら答えていただき、保護者か生徒かが分かる。</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配信した方の55%が反応。</a:t>
            </a:r>
            <a:endParaRPr lang="ja-JP" altLang="en-US" sz="1000" dirty="0"/>
          </a:p>
        </p:txBody>
      </p:sp>
      <p:sp>
        <p:nvSpPr>
          <p:cNvPr id="108" name="Rounded Rectangle 107"/>
          <p:cNvSpPr/>
          <p:nvPr/>
        </p:nvSpPr>
        <p:spPr>
          <a:xfrm>
            <a:off x="5047488" y="1481328"/>
            <a:ext cx="4425696"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2　塾に通っていない方へ</a:t>
            </a:r>
            <a:endParaRPr lang="ja-JP" altLang="en-US" sz="1200" dirty="0"/>
          </a:p>
        </p:txBody>
      </p:sp>
      <p:pic>
        <p:nvPicPr>
          <p:cNvPr id="109" name="明光義塾_ステップ配信_2"/>
          <p:cNvPicPr>
            <a:picLocks noChangeAspect="1"/>
          </p:cNvPicPr>
          <p:nvPr/>
        </p:nvPicPr>
        <p:blipFill>
          <a:blip r:embed="rId3"/>
          <a:stretch>
            <a:fillRect/>
          </a:stretch>
        </p:blipFill>
        <p:spPr>
          <a:xfrm>
            <a:off x="5445183" y="1865376"/>
            <a:ext cx="3630304" cy="2606040"/>
          </a:xfrm>
          <a:prstGeom prst="rect">
            <a:avLst/>
          </a:prstGeom>
          <a:ln w="9525">
            <a:solidFill>
              <a:srgbClr val="C6CADD"/>
            </a:solidFill>
          </a:ln>
        </p:spPr>
      </p:pic>
      <p:sp>
        <p:nvSpPr>
          <p:cNvPr id="110" name="Rectangle 109"/>
          <p:cNvSpPr/>
          <p:nvPr/>
        </p:nvSpPr>
        <p:spPr>
          <a:xfrm>
            <a:off x="5047488" y="4562856"/>
            <a:ext cx="4425696" cy="1005840"/>
          </a:xfrm>
          <a:prstGeom prst="rect">
            <a:avLst/>
          </a:prstGeom>
          <a:solidFill>
            <a:srgbClr val="F4F7FF"/>
          </a:solidFill>
          <a:ln w="9525">
            <a:solidFill>
              <a:srgbClr val="D9D9D9"/>
            </a:solidFill>
          </a:ln>
        </p:spPr>
        <p:txBody>
          <a:bodyPr wrap="square" lIns="109728" tIns="54864" rIns="91440" bIns="54864" rtlCol="0" anchor="ctr">
            <a:noAutofit/>
          </a:bodyPr>
          <a:lstStyle/>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「先ほどは友だち登録していただき…」から始まる。</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ボタンは迷い具合で3つ：</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授業を受けてみたい→無料体験／雰囲気を知りたい→</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教室見学／一度検討したい→資料請求。</a:t>
            </a:r>
            <a:endParaRPr lang="ja-JP" alt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明光義塾の取り組みは、3つの仕組みに分けられる</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公式事例（2023年）と実際の画面（2026年10月）から、3つの仕組みが読み取れる。</a:t>
            </a:r>
          </a:p>
          <a:p>
            <a:pPr algn="l">
              <a:lnSpc>
                <a:spcPct val="128000"/>
              </a:lnSpc>
            </a:pPr>
            <a:r>
              <a:rPr sz="1200" dirty="0" err="1">
                <a:solidFill>
                  <a:srgbClr val="333333"/>
                </a:solidFill>
                <a:latin typeface="メイリオ"/>
                <a:ea typeface="メイリオ"/>
                <a:cs typeface="メイリオ"/>
              </a:rPr>
              <a:t>この仕組みを、入口（P31）・診断（P35）・配信の出し分け（P37）・ステップ配信（P22）に取り入れる。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 出典：LINEヤフー for Business 導入事例（2024年4月5日）・明光義塾 LINE公式アカウント（2026-10-19 弊社確認）。実際の画面はP28。</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FFFFFF"/>
                </a:solidFill>
                <a:latin typeface="メイリオ"/>
                <a:ea typeface="メイリオ"/>
                <a:cs typeface="メイリオ"/>
              </a:rPr>
              <a:t>友だちになっていただき、質問に答えていただき、合う方にお届けする。この時期の資料請求は前年比 約120%（公式事例）。</a:t>
            </a:r>
          </a:p>
        </p:txBody>
      </p:sp>
      <p:sp>
        <p:nvSpPr>
          <p:cNvPr id="105" name="Rounded Rectangle 104"/>
          <p:cNvSpPr/>
          <p:nvPr/>
        </p:nvSpPr>
        <p:spPr>
          <a:xfrm>
            <a:off x="429768"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① サイトから、LINEの友だちに</a:t>
            </a:r>
            <a:endParaRPr lang="ja-JP" altLang="en-US" sz="1250" dirty="0"/>
          </a:p>
        </p:txBody>
      </p:sp>
      <p:sp>
        <p:nvSpPr>
          <p:cNvPr id="106" name="Rounded Rectangle 105"/>
          <p:cNvSpPr/>
          <p:nvPr/>
        </p:nvSpPr>
        <p:spPr>
          <a:xfrm>
            <a:off x="429768"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サイトの初回訪問時・離脱時に、ポップアップで友だち追加を案内。</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2023年は、スタンプの無料配布で、友だちから友だちへ広げた。</a:t>
            </a:r>
            <a:endParaRPr lang="ja-JP" altLang="en-US" sz="1100" dirty="0"/>
          </a:p>
        </p:txBody>
      </p:sp>
      <p:sp>
        <p:nvSpPr>
          <p:cNvPr id="107" name="Rounded Rectangle 106"/>
          <p:cNvSpPr/>
          <p:nvPr/>
        </p:nvSpPr>
        <p:spPr>
          <a:xfrm>
            <a:off x="429768"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約5か月で友だち約20万人増</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うち約15万人は友だちからの広がり</a:t>
            </a:r>
            <a:endParaRPr lang="ja-JP" altLang="en-US" sz="1100" dirty="0"/>
          </a:p>
        </p:txBody>
      </p:sp>
      <p:sp>
        <p:nvSpPr>
          <p:cNvPr id="108" name="Rounded Rectangle 107"/>
          <p:cNvSpPr/>
          <p:nvPr/>
        </p:nvSpPr>
        <p:spPr>
          <a:xfrm>
            <a:off x="3511296"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② 追加の直後に、診断と予約の案内</a:t>
            </a:r>
            <a:endParaRPr lang="ja-JP" altLang="en-US" sz="1250" dirty="0"/>
          </a:p>
        </p:txBody>
      </p:sp>
      <p:sp>
        <p:nvSpPr>
          <p:cNvPr id="109" name="Rounded Rectangle 108"/>
          <p:cNvSpPr/>
          <p:nvPr/>
        </p:nvSpPr>
        <p:spPr>
          <a:xfrm>
            <a:off x="3511296"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友だち追加の直後に、30秒の相性チェック（ボタンで答える5問）。</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あわせて「このままLINEで無料体験の予約」も案内。予約はトークの中で入力できる。</a:t>
            </a:r>
            <a:endParaRPr lang="ja-JP" altLang="en-US" sz="1100" dirty="0"/>
          </a:p>
        </p:txBody>
      </p:sp>
      <p:sp>
        <p:nvSpPr>
          <p:cNvPr id="110" name="Rounded Rectangle 109"/>
          <p:cNvSpPr/>
          <p:nvPr/>
        </p:nvSpPr>
        <p:spPr>
          <a:xfrm>
            <a:off x="3511296"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相性チェック 全5問</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体験予約 60秒・全7問</a:t>
            </a:r>
            <a:endParaRPr lang="ja-JP" altLang="en-US" sz="1100" dirty="0"/>
          </a:p>
        </p:txBody>
      </p:sp>
      <p:sp>
        <p:nvSpPr>
          <p:cNvPr id="111" name="Rounded Rectangle 110"/>
          <p:cNvSpPr/>
          <p:nvPr/>
        </p:nvSpPr>
        <p:spPr>
          <a:xfrm>
            <a:off x="6592824"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③ 答えをもとに、配信の相手を絞る</a:t>
            </a:r>
            <a:endParaRPr lang="ja-JP" altLang="en-US" sz="1250" dirty="0"/>
          </a:p>
        </p:txBody>
      </p:sp>
      <p:sp>
        <p:nvSpPr>
          <p:cNvPr id="112" name="Rounded Rectangle 111"/>
          <p:cNvSpPr/>
          <p:nvPr/>
        </p:nvSpPr>
        <p:spPr>
          <a:xfrm>
            <a:off x="6592824"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2023年は、アンケートで保護者か生徒か、塾に通っているかを伺った。</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「まだ塾に通っていない」お子さま・保護者に絞って配信した。</a:t>
            </a:r>
            <a:endParaRPr lang="ja-JP" altLang="en-US" sz="1100" dirty="0"/>
          </a:p>
        </p:txBody>
      </p:sp>
      <p:sp>
        <p:nvSpPr>
          <p:cNvPr id="113" name="Rounded Rectangle 112"/>
          <p:cNvSpPr/>
          <p:nvPr/>
        </p:nvSpPr>
        <p:spPr>
          <a:xfrm>
            <a:off x="6592824"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答えていない方にクイズ形式の配信</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 配信した方の55%が反応（P29）</a:t>
            </a:r>
            <a:endParaRPr lang="ja-JP" alt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構築①｜友だち追加の入口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決断を急がせず、「資料と診断を受け取るだけ」でつながる入口をつくる。</a:t>
            </a:r>
          </a:p>
          <a:p>
            <a:pPr algn="l">
              <a:lnSpc>
                <a:spcPct val="128000"/>
              </a:lnSpc>
            </a:pPr>
            <a:r>
              <a:rPr sz="1200">
                <a:solidFill>
                  <a:srgbClr val="333333"/>
                </a:solidFill>
                <a:latin typeface="メイリオ"/>
                <a:ea typeface="メイリオ"/>
                <a:cs typeface="メイリオ"/>
              </a:rPr>
              <a:t>ボタンは「今すぐ体験」ではなく「受け取る」。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※ボタンの文言は弊社の見解。離脱防止ポップアップはSitelead等（別途費用）。明光義塾も、サイトの初回訪問時・離脱時のポップアップで友だちを集めていた（公式事例・P27）</a:t>
            </a:r>
          </a:p>
        </p:txBody>
      </p:sp>
      <p:sp>
        <p:nvSpPr>
          <p:cNvPr id="18" name="Pentagon 17"/>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19" name="Chevron 18"/>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20" name="Chevron 1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1" name="Chevron 2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2" name="Chevron 2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3" name="Chevron 22"/>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4" name="Chevron 2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5" name="Chevron 2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6" name="Rounded Rectangle 2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7" name="Rounded Rectangle 2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8" name="Rectangle 2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問い合わせをせずに離れる保護者は多い</a:t>
            </a:r>
          </a:p>
          <a:p>
            <a:pPr algn="l"/>
            <a:r>
              <a:rPr sz="1000" b="0">
                <a:solidFill>
                  <a:srgbClr val="333333"/>
                </a:solidFill>
                <a:latin typeface="メイリオ"/>
                <a:ea typeface="メイリオ"/>
                <a:cs typeface="メイリオ"/>
              </a:rPr>
              <a:t>一番の悩みは「合うか分からない」63.5%（P7）</a:t>
            </a:r>
          </a:p>
        </p:txBody>
      </p:sp>
      <p:cxnSp>
        <p:nvCxnSpPr>
          <p:cNvPr id="29" name="Connector 2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1" name="Rounded Rectangle 30"/>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2" name="Rectangle 3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決めていない保護者でも、</a:t>
            </a:r>
          </a:p>
          <a:p>
            <a:pPr algn="l"/>
            <a:r>
              <a:rPr sz="1000" b="0">
                <a:solidFill>
                  <a:srgbClr val="333333"/>
                </a:solidFill>
                <a:latin typeface="メイリオ"/>
                <a:ea typeface="メイリオ"/>
                <a:cs typeface="メイリオ"/>
              </a:rPr>
              <a:t>気軽につながれる入口をつくる</a:t>
            </a:r>
          </a:p>
        </p:txBody>
      </p:sp>
      <p:cxnSp>
        <p:nvCxnSpPr>
          <p:cNvPr id="33" name="Connector 3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36" name="Rectangle 3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入口は3つ：</a:t>
            </a:r>
          </a:p>
          <a:p>
            <a:pPr algn="l"/>
            <a:r>
              <a:rPr sz="1000" b="0">
                <a:solidFill>
                  <a:srgbClr val="FFFFFF"/>
                </a:solidFill>
                <a:latin typeface="メイリオ"/>
                <a:ea typeface="メイリオ"/>
                <a:cs typeface="メイリオ"/>
              </a:rPr>
              <a:t>離脱防止ポップアップ／チラシ・教室のQR／友だちからの紹介</a:t>
            </a:r>
          </a:p>
        </p:txBody>
      </p:sp>
      <p:sp>
        <p:nvSpPr>
          <p:cNvPr id="37" name="Rectangle 36"/>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入口は3つ</a:t>
            </a:r>
          </a:p>
        </p:txBody>
      </p:sp>
      <p:sp>
        <p:nvSpPr>
          <p:cNvPr id="38" name="Rounded Rectangle 37"/>
          <p:cNvSpPr/>
          <p:nvPr/>
        </p:nvSpPr>
        <p:spPr>
          <a:xfrm>
            <a:off x="432000" y="2862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サイトの離脱防止ポップアップ</a:t>
            </a:r>
          </a:p>
          <a:p>
            <a:pPr algn="l"/>
            <a:r>
              <a:rPr sz="1200" b="0">
                <a:solidFill>
                  <a:srgbClr val="333333"/>
                </a:solidFill>
                <a:latin typeface="メイリオ"/>
                <a:ea typeface="メイリオ"/>
                <a:cs typeface="メイリオ"/>
              </a:rPr>
              <a:t>サイトを離れようとした時に表示。広告費を増やさずにつながれる</a:t>
            </a:r>
          </a:p>
        </p:txBody>
      </p:sp>
      <p:sp>
        <p:nvSpPr>
          <p:cNvPr id="39" name="Rounded Rectangle 38"/>
          <p:cNvSpPr/>
          <p:nvPr/>
        </p:nvSpPr>
        <p:spPr>
          <a:xfrm>
            <a:off x="432000" y="3654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チラシ・教室掲示のQR</a:t>
            </a:r>
          </a:p>
          <a:p>
            <a:pPr algn="l"/>
            <a:r>
              <a:rPr sz="1200" b="0">
                <a:solidFill>
                  <a:srgbClr val="333333"/>
                </a:solidFill>
                <a:latin typeface="メイリオ"/>
                <a:ea typeface="メイリオ"/>
                <a:cs typeface="メイリオ"/>
              </a:rPr>
              <a:t>今のチラシにQRコードを1つ加えるだけ</a:t>
            </a:r>
          </a:p>
        </p:txBody>
      </p:sp>
      <p:sp>
        <p:nvSpPr>
          <p:cNvPr id="40" name="Rounded Rectangle 39"/>
          <p:cNvSpPr/>
          <p:nvPr/>
        </p:nvSpPr>
        <p:spPr>
          <a:xfrm>
            <a:off x="432000" y="4446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友だちからの紹介（入会前）</a:t>
            </a:r>
          </a:p>
          <a:p>
            <a:pPr algn="l"/>
            <a:r>
              <a:rPr sz="1200" b="0">
                <a:solidFill>
                  <a:srgbClr val="333333"/>
                </a:solidFill>
                <a:latin typeface="メイリオ"/>
                <a:ea typeface="メイリオ"/>
                <a:cs typeface="メイリオ"/>
              </a:rPr>
              <a:t>「一緒に体験しよう」をLINEで送っていただく（P32）</a:t>
            </a:r>
          </a:p>
        </p:txBody>
      </p:sp>
      <p:sp>
        <p:nvSpPr>
          <p:cNvPr id="41" name="Rectangle 40"/>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離脱防止ポップアップの実文</a:t>
            </a:r>
          </a:p>
        </p:txBody>
      </p:sp>
      <p:sp>
        <p:nvSpPr>
          <p:cNvPr id="42" name="Rounded Rectangle 41"/>
          <p:cNvSpPr/>
          <p:nvPr/>
        </p:nvSpPr>
        <p:spPr>
          <a:xfrm>
            <a:off x="5148000" y="2862000"/>
            <a:ext cx="4320000" cy="2286000"/>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3" name="Rectangle 42"/>
          <p:cNvSpPr/>
          <p:nvPr/>
        </p:nvSpPr>
        <p:spPr>
          <a:xfrm>
            <a:off x="5328000" y="2951999"/>
            <a:ext cx="3960000" cy="154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2060"/>
                </a:solidFill>
                <a:latin typeface="メイリオ"/>
                <a:ea typeface="メイリオ"/>
                <a:cs typeface="メイリオ"/>
              </a:rPr>
              <a:t>まだ、塾を決めなくて大丈夫です。</a:t>
            </a:r>
          </a:p>
          <a:p>
            <a:pPr algn="l"/>
            <a:r>
              <a:rPr sz="1050" b="0">
                <a:solidFill>
                  <a:srgbClr val="333333"/>
                </a:solidFill>
                <a:latin typeface="メイリオ"/>
                <a:ea typeface="メイリオ"/>
                <a:cs typeface="メイリオ"/>
              </a:rPr>
              <a:t>30秒の診断で、お子さまに合う学び方（集団／個別／映像）と、</a:t>
            </a:r>
          </a:p>
          <a:p>
            <a:pPr algn="l"/>
            <a:r>
              <a:rPr sz="1050" b="0">
                <a:solidFill>
                  <a:srgbClr val="333333"/>
                </a:solidFill>
                <a:latin typeface="メイリオ"/>
                <a:ea typeface="メイリオ"/>
                <a:cs typeface="メイリオ"/>
              </a:rPr>
              <a:t>コース・料金の資料をLINEでお届けします。</a:t>
            </a:r>
          </a:p>
        </p:txBody>
      </p:sp>
      <p:sp>
        <p:nvSpPr>
          <p:cNvPr id="44" name="Rounded Rectangle 43"/>
          <p:cNvSpPr/>
          <p:nvPr/>
        </p:nvSpPr>
        <p:spPr>
          <a:xfrm>
            <a:off x="5688000" y="4176000"/>
            <a:ext cx="3240000" cy="396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LINEで資料と診断を受け取る</a:t>
            </a:r>
          </a:p>
        </p:txBody>
      </p:sp>
      <p:sp>
        <p:nvSpPr>
          <p:cNvPr id="45" name="Rectangle 44"/>
          <p:cNvSpPr/>
          <p:nvPr/>
        </p:nvSpPr>
        <p:spPr>
          <a:xfrm>
            <a:off x="5328000" y="4644000"/>
            <a:ext cx="39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950" b="0">
                <a:solidFill>
                  <a:srgbClr val="7F7F7F"/>
                </a:solidFill>
                <a:latin typeface="メイリオ"/>
                <a:ea typeface="メイリオ"/>
                <a:cs typeface="メイリオ"/>
              </a:rPr>
              <a:t>※お名前・お電話番号は不要です</a:t>
            </a:r>
          </a:p>
        </p:txBody>
      </p:sp>
      <p:sp>
        <p:nvSpPr>
          <p:cNvPr id="46" name="Rectangle 45"/>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露出の強化</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構築①｜つづき：友だちと一緒に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「友だちと一緒なら行ってみたい」を、体験予約のきっかけにする。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保護者どうしの「どこの塾に行ってる？」を、LINEでつなぐ。</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出典｜POPER「Comiru」保護者と学習塾の意識調査 2022年（保護者300人）。特典の中身は塾ごとに決める</a:t>
            </a:r>
          </a:p>
        </p:txBody>
      </p:sp>
      <p:sp>
        <p:nvSpPr>
          <p:cNvPr id="17" name="Pentagon 16"/>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18" name="Chevron 17"/>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9" name="Chevron 18"/>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0" name="Chevron 19"/>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1" name="Chevron 20"/>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22" name="Chevron 21"/>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3" name="Chevron 22"/>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4" name="Chevron 23"/>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5" name="Rounded Rectangle 24"/>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6" name="Rounded Rectangle 25"/>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7" name="Rectangle 26"/>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333333"/>
                </a:solidFill>
                <a:latin typeface="メイリオ"/>
                <a:ea typeface="メイリオ"/>
                <a:cs typeface="メイリオ"/>
              </a:rPr>
              <a:t>塾を知ったきっかけの1位は</a:t>
            </a:r>
          </a:p>
          <a:p>
            <a:pPr algn="l"/>
            <a:r>
              <a:rPr sz="1150" b="0">
                <a:solidFill>
                  <a:srgbClr val="333333"/>
                </a:solidFill>
                <a:latin typeface="メイリオ"/>
                <a:ea typeface="メイリオ"/>
                <a:cs typeface="メイリオ"/>
              </a:rPr>
              <a:t>「知人・友人の口コミ」47.0%</a:t>
            </a:r>
          </a:p>
        </p:txBody>
      </p:sp>
      <p:cxnSp>
        <p:nvCxnSpPr>
          <p:cNvPr id="28" name="Connector 27"/>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0" name="Rounded Rectangle 29"/>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1" name="Rectangle 30"/>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333333"/>
                </a:solidFill>
                <a:latin typeface="メイリオ"/>
                <a:ea typeface="メイリオ"/>
                <a:cs typeface="メイリオ"/>
              </a:rPr>
              <a:t>友だちとの会話を、</a:t>
            </a:r>
          </a:p>
          <a:p>
            <a:pPr algn="l"/>
            <a:r>
              <a:rPr sz="1150" b="0">
                <a:solidFill>
                  <a:srgbClr val="333333"/>
                </a:solidFill>
                <a:latin typeface="メイリオ"/>
                <a:ea typeface="メイリオ"/>
                <a:cs typeface="メイリオ"/>
              </a:rPr>
              <a:t>体験予約のきっかけにする</a:t>
            </a:r>
          </a:p>
        </p:txBody>
      </p:sp>
      <p:cxnSp>
        <p:nvCxnSpPr>
          <p:cNvPr id="32" name="Connector 31"/>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4" name="Rounded Rectangle 33"/>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35" name="Rectangle 34"/>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FFFFFF"/>
                </a:solidFill>
                <a:latin typeface="メイリオ"/>
                <a:ea typeface="メイリオ"/>
                <a:cs typeface="メイリオ"/>
              </a:rPr>
              <a:t>友だちと一緒の体験枠をLINEで予約</a:t>
            </a:r>
          </a:p>
          <a:p>
            <a:pPr algn="l"/>
            <a:r>
              <a:rPr sz="1150" b="0">
                <a:solidFill>
                  <a:srgbClr val="FFFFFF"/>
                </a:solidFill>
                <a:latin typeface="メイリオ"/>
                <a:ea typeface="メイリオ"/>
                <a:cs typeface="メイリオ"/>
              </a:rPr>
              <a:t>LINEの転送だけで紹介できる</a:t>
            </a:r>
          </a:p>
        </p:txBody>
      </p:sp>
      <p:sp>
        <p:nvSpPr>
          <p:cNvPr id="36" name="Rectangle 35"/>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友だちと一緒に通うメリット（保護者に伝えること）</a:t>
            </a:r>
          </a:p>
        </p:txBody>
      </p:sp>
      <p:sp>
        <p:nvSpPr>
          <p:cNvPr id="37" name="Rounded Rectangle 36"/>
          <p:cNvSpPr/>
          <p:nvPr/>
        </p:nvSpPr>
        <p:spPr>
          <a:xfrm>
            <a:off x="432000" y="2862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38" name="Rounded Rectangle 37"/>
          <p:cNvSpPr/>
          <p:nvPr/>
        </p:nvSpPr>
        <p:spPr>
          <a:xfrm>
            <a:off x="1188000" y="2862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通う習慣がつきやすい</a:t>
            </a:r>
          </a:p>
          <a:p>
            <a:pPr algn="l"/>
            <a:r>
              <a:rPr sz="1200" b="0">
                <a:solidFill>
                  <a:srgbClr val="333333"/>
                </a:solidFill>
                <a:latin typeface="メイリオ"/>
                <a:ea typeface="メイリオ"/>
                <a:cs typeface="メイリオ"/>
              </a:rPr>
              <a:t>一緒に行く友だちがいると、休みにくくなる</a:t>
            </a:r>
          </a:p>
        </p:txBody>
      </p:sp>
      <p:sp>
        <p:nvSpPr>
          <p:cNvPr id="39" name="Rounded Rectangle 38"/>
          <p:cNvSpPr/>
          <p:nvPr/>
        </p:nvSpPr>
        <p:spPr>
          <a:xfrm>
            <a:off x="432000" y="3654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40" name="Rounded Rectangle 39"/>
          <p:cNvSpPr/>
          <p:nvPr/>
        </p:nvSpPr>
        <p:spPr>
          <a:xfrm>
            <a:off x="1188000" y="3654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励まし合える</a:t>
            </a:r>
          </a:p>
          <a:p>
            <a:pPr algn="l"/>
            <a:r>
              <a:rPr sz="1200" b="0">
                <a:solidFill>
                  <a:srgbClr val="333333"/>
                </a:solidFill>
                <a:latin typeface="メイリオ"/>
                <a:ea typeface="メイリオ"/>
                <a:cs typeface="メイリオ"/>
              </a:rPr>
              <a:t>テスト前も「一緒に頑張ろう」がある</a:t>
            </a:r>
          </a:p>
        </p:txBody>
      </p:sp>
      <p:sp>
        <p:nvSpPr>
          <p:cNvPr id="41" name="Rounded Rectangle 40"/>
          <p:cNvSpPr/>
          <p:nvPr/>
        </p:nvSpPr>
        <p:spPr>
          <a:xfrm>
            <a:off x="432000" y="4446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42" name="Rounded Rectangle 41"/>
          <p:cNvSpPr/>
          <p:nvPr/>
        </p:nvSpPr>
        <p:spPr>
          <a:xfrm>
            <a:off x="1188000" y="4446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送り迎えを分担できる</a:t>
            </a:r>
          </a:p>
          <a:p>
            <a:pPr algn="l"/>
            <a:r>
              <a:rPr sz="1200" b="0">
                <a:solidFill>
                  <a:srgbClr val="333333"/>
                </a:solidFill>
                <a:latin typeface="メイリオ"/>
                <a:ea typeface="メイリオ"/>
                <a:cs typeface="メイリオ"/>
              </a:rPr>
              <a:t>保護者どうしで助け合える</a:t>
            </a:r>
          </a:p>
        </p:txBody>
      </p:sp>
      <p:sp>
        <p:nvSpPr>
          <p:cNvPr id="43" name="Rectangle 42"/>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LINEでの仕組み</a:t>
            </a:r>
          </a:p>
        </p:txBody>
      </p:sp>
      <p:sp>
        <p:nvSpPr>
          <p:cNvPr id="44" name="Rounded Rectangle 43"/>
          <p:cNvSpPr/>
          <p:nvPr/>
        </p:nvSpPr>
        <p:spPr>
          <a:xfrm>
            <a:off x="5148000" y="2844000"/>
            <a:ext cx="1728000" cy="3060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ectangle 44"/>
          <p:cNvSpPr/>
          <p:nvPr/>
        </p:nvSpPr>
        <p:spPr>
          <a:xfrm>
            <a:off x="5238000" y="3042000"/>
            <a:ext cx="1548000" cy="2700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6" name="Rectangle 45"/>
          <p:cNvSpPr/>
          <p:nvPr/>
        </p:nvSpPr>
        <p:spPr>
          <a:xfrm>
            <a:off x="5238000" y="3042000"/>
            <a:ext cx="15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47" name="Rounded Rectangle 46"/>
          <p:cNvSpPr/>
          <p:nvPr/>
        </p:nvSpPr>
        <p:spPr>
          <a:xfrm>
            <a:off x="5310000" y="3402000"/>
            <a:ext cx="1368000" cy="72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お友だちと一緒の</a:t>
            </a:r>
          </a:p>
          <a:p>
            <a:pPr algn="l"/>
            <a:r>
              <a:rPr sz="800" b="0">
                <a:solidFill>
                  <a:srgbClr val="333333"/>
                </a:solidFill>
                <a:latin typeface="メイリオ"/>
                <a:ea typeface="メイリオ"/>
                <a:cs typeface="メイリオ"/>
              </a:rPr>
              <a:t>体験授業も受け付けて</a:t>
            </a:r>
          </a:p>
          <a:p>
            <a:pPr algn="l"/>
            <a:r>
              <a:rPr sz="800" b="0">
                <a:solidFill>
                  <a:srgbClr val="333333"/>
                </a:solidFill>
                <a:latin typeface="メイリオ"/>
                <a:ea typeface="メイリオ"/>
                <a:cs typeface="メイリオ"/>
              </a:rPr>
              <a:t>います😊 2人とも</a:t>
            </a:r>
          </a:p>
          <a:p>
            <a:pPr algn="l"/>
            <a:r>
              <a:rPr sz="800" b="0">
                <a:solidFill>
                  <a:srgbClr val="333333"/>
                </a:solidFill>
                <a:latin typeface="メイリオ"/>
                <a:ea typeface="メイリオ"/>
                <a:cs typeface="メイリオ"/>
              </a:rPr>
              <a:t>特典があります</a:t>
            </a:r>
          </a:p>
        </p:txBody>
      </p:sp>
      <p:sp>
        <p:nvSpPr>
          <p:cNvPr id="48" name="Rounded Rectangle 47"/>
          <p:cNvSpPr/>
          <p:nvPr/>
        </p:nvSpPr>
        <p:spPr>
          <a:xfrm>
            <a:off x="5310000" y="4194000"/>
            <a:ext cx="1368000" cy="234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FFFFFF"/>
                </a:solidFill>
                <a:latin typeface="メイリオ"/>
                <a:ea typeface="メイリオ"/>
                <a:cs typeface="メイリオ"/>
              </a:rPr>
              <a:t>一緒に体験を予約</a:t>
            </a:r>
          </a:p>
        </p:txBody>
      </p:sp>
      <p:sp>
        <p:nvSpPr>
          <p:cNvPr id="49" name="Rounded Rectangle 48"/>
          <p:cNvSpPr/>
          <p:nvPr/>
        </p:nvSpPr>
        <p:spPr>
          <a:xfrm>
            <a:off x="5310000" y="4482000"/>
            <a:ext cx="1368000" cy="234000"/>
          </a:xfrm>
          <a:prstGeom prst="roundRect">
            <a:avLst>
              <a:gd name="adj" fmla="val 30000"/>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06C755"/>
                </a:solidFill>
                <a:latin typeface="メイリオ"/>
                <a:ea typeface="メイリオ"/>
                <a:cs typeface="メイリオ"/>
              </a:rPr>
              <a:t>友だちに送る</a:t>
            </a:r>
          </a:p>
        </p:txBody>
      </p:sp>
      <p:sp>
        <p:nvSpPr>
          <p:cNvPr id="50" name="Oval 49"/>
          <p:cNvSpPr/>
          <p:nvPr/>
        </p:nvSpPr>
        <p:spPr>
          <a:xfrm>
            <a:off x="7056000" y="3024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1</a:t>
            </a:r>
          </a:p>
        </p:txBody>
      </p:sp>
      <p:sp>
        <p:nvSpPr>
          <p:cNvPr id="51" name="Rectangle 50"/>
          <p:cNvSpPr/>
          <p:nvPr/>
        </p:nvSpPr>
        <p:spPr>
          <a:xfrm>
            <a:off x="7488000" y="2934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友だちと一緒の体験枠を用意</a:t>
            </a:r>
          </a:p>
          <a:p>
            <a:pPr algn="l"/>
            <a:r>
              <a:rPr sz="950" b="0">
                <a:solidFill>
                  <a:srgbClr val="333333"/>
                </a:solidFill>
                <a:latin typeface="メイリオ"/>
                <a:ea typeface="メイリオ"/>
                <a:cs typeface="メイリオ"/>
              </a:rPr>
              <a:t>LINEで2人分をまとめて予約できる</a:t>
            </a:r>
          </a:p>
        </p:txBody>
      </p:sp>
      <p:sp>
        <p:nvSpPr>
          <p:cNvPr id="52" name="Oval 51"/>
          <p:cNvSpPr/>
          <p:nvPr/>
        </p:nvSpPr>
        <p:spPr>
          <a:xfrm>
            <a:off x="7056000" y="3816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2</a:t>
            </a:r>
          </a:p>
        </p:txBody>
      </p:sp>
      <p:sp>
        <p:nvSpPr>
          <p:cNvPr id="53" name="Rectangle 52"/>
          <p:cNvSpPr/>
          <p:nvPr/>
        </p:nvSpPr>
        <p:spPr>
          <a:xfrm>
            <a:off x="7488000" y="3726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2人とも特典</a:t>
            </a:r>
          </a:p>
          <a:p>
            <a:pPr algn="l"/>
            <a:r>
              <a:rPr sz="950" b="0">
                <a:solidFill>
                  <a:srgbClr val="333333"/>
                </a:solidFill>
                <a:latin typeface="メイリオ"/>
                <a:ea typeface="メイリオ"/>
                <a:cs typeface="メイリオ"/>
              </a:rPr>
              <a:t>例：体験後の学習相談、教材プレゼント</a:t>
            </a:r>
          </a:p>
        </p:txBody>
      </p:sp>
      <p:sp>
        <p:nvSpPr>
          <p:cNvPr id="54" name="Oval 53"/>
          <p:cNvSpPr/>
          <p:nvPr/>
        </p:nvSpPr>
        <p:spPr>
          <a:xfrm>
            <a:off x="7056000" y="4608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3</a:t>
            </a:r>
          </a:p>
        </p:txBody>
      </p:sp>
      <p:sp>
        <p:nvSpPr>
          <p:cNvPr id="55" name="Rectangle 54"/>
          <p:cNvSpPr/>
          <p:nvPr/>
        </p:nvSpPr>
        <p:spPr>
          <a:xfrm>
            <a:off x="7488000" y="4518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LINEの転送で紹介</a:t>
            </a:r>
          </a:p>
          <a:p>
            <a:pPr algn="l"/>
            <a:r>
              <a:rPr sz="950" b="0">
                <a:solidFill>
                  <a:srgbClr val="333333"/>
                </a:solidFill>
                <a:latin typeface="メイリオ"/>
                <a:ea typeface="メイリオ"/>
                <a:cs typeface="メイリオ"/>
              </a:rPr>
              <a:t>トークを友だちの保護者に送るだけ</a:t>
            </a:r>
          </a:p>
        </p:txBody>
      </p:sp>
      <p:sp>
        <p:nvSpPr>
          <p:cNvPr id="56" name="Rectangle 55"/>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露出の強化</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具体企画の構成｜第2の提案軸：友だちと一緒に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塾を知ったきっかけの1位は「知人・友人の口コミ」47.0%。塾の公式サイトより多い。</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保護者どうしの「どこの塾に行ってる？」を、LINEの友だち追加につなげる。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出典｜POPER「Comiru」保護者と学習塾の意識調査 2022年（保護者300人）</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2" name="Rounded Rectangle 31"/>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3" name="Rounded Rectangle 32"/>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4" name="Rectangle 33"/>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塾を知ったきっかけ</a:t>
            </a:r>
          </a:p>
          <a:p>
            <a:pPr algn="l"/>
            <a:r>
              <a:rPr sz="1000" b="0">
                <a:solidFill>
                  <a:srgbClr val="333333"/>
                </a:solidFill>
                <a:latin typeface="メイリオ"/>
                <a:ea typeface="メイリオ"/>
                <a:cs typeface="メイリオ"/>
              </a:rPr>
              <a:t>1位「知人・友人の口コミ」47.0%</a:t>
            </a:r>
          </a:p>
          <a:p>
            <a:pPr algn="l"/>
            <a:r>
              <a:rPr sz="1000" b="0">
                <a:solidFill>
                  <a:srgbClr val="333333"/>
                </a:solidFill>
                <a:latin typeface="メイリオ"/>
                <a:ea typeface="メイリオ"/>
                <a:cs typeface="メイリオ"/>
              </a:rPr>
              <a:t>2位「インターネット上の口コミ」28.3%</a:t>
            </a:r>
          </a:p>
        </p:txBody>
      </p:sp>
      <p:cxnSp>
        <p:nvCxnSpPr>
          <p:cNvPr id="35" name="Connector 34"/>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ounded Rectangle 36"/>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8" name="Rectangle 37"/>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保護者どうしの会話を、</a:t>
            </a:r>
          </a:p>
          <a:p>
            <a:pPr algn="l"/>
            <a:r>
              <a:rPr sz="1000" b="0">
                <a:solidFill>
                  <a:srgbClr val="333333"/>
                </a:solidFill>
                <a:latin typeface="メイリオ"/>
                <a:ea typeface="メイリオ"/>
                <a:cs typeface="メイリオ"/>
              </a:rPr>
              <a:t>LINEの友だち追加につなげる</a:t>
            </a:r>
          </a:p>
        </p:txBody>
      </p:sp>
      <p:cxnSp>
        <p:nvCxnSpPr>
          <p:cNvPr id="39" name="Connector 38"/>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2" name="Rectangle 41"/>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友だちと一緒の体験枠／</a:t>
            </a:r>
          </a:p>
          <a:p>
            <a:pPr algn="l"/>
            <a:r>
              <a:rPr sz="1000" b="0">
                <a:solidFill>
                  <a:srgbClr val="FFFFFF"/>
                </a:solidFill>
                <a:latin typeface="メイリオ"/>
                <a:ea typeface="メイリオ"/>
                <a:cs typeface="メイリオ"/>
              </a:rPr>
              <a:t>診断結果を友だちに送れる</a:t>
            </a:r>
          </a:p>
        </p:txBody>
      </p:sp>
      <p:sp>
        <p:nvSpPr>
          <p:cNvPr id="43" name="Rectangle 42"/>
          <p:cNvSpPr/>
          <p:nvPr/>
        </p:nvSpPr>
        <p:spPr>
          <a:xfrm>
            <a:off x="4320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塾を知ったきっかけ（上位2つ）</a:t>
            </a:r>
          </a:p>
        </p:txBody>
      </p:sp>
      <p:sp>
        <p:nvSpPr>
          <p:cNvPr id="44" name="Rectangle 43"/>
          <p:cNvSpPr/>
          <p:nvPr/>
        </p:nvSpPr>
        <p:spPr>
          <a:xfrm>
            <a:off x="432000" y="2987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1">
                <a:solidFill>
                  <a:srgbClr val="333333"/>
                </a:solidFill>
                <a:latin typeface="メイリオ"/>
                <a:ea typeface="メイリオ"/>
                <a:cs typeface="メイリオ"/>
              </a:rPr>
              <a:t>知人・友人の口コミ</a:t>
            </a:r>
          </a:p>
        </p:txBody>
      </p:sp>
      <p:sp>
        <p:nvSpPr>
          <p:cNvPr id="45" name="Rectangle 44"/>
          <p:cNvSpPr/>
          <p:nvPr/>
        </p:nvSpPr>
        <p:spPr>
          <a:xfrm>
            <a:off x="2196000" y="2951999"/>
            <a:ext cx="2368800" cy="360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6" name="Rectangle 45"/>
          <p:cNvSpPr/>
          <p:nvPr/>
        </p:nvSpPr>
        <p:spPr>
          <a:xfrm>
            <a:off x="4600800" y="2987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47.0%</a:t>
            </a:r>
          </a:p>
        </p:txBody>
      </p:sp>
      <p:sp>
        <p:nvSpPr>
          <p:cNvPr id="47" name="Rectangle 46"/>
          <p:cNvSpPr/>
          <p:nvPr/>
        </p:nvSpPr>
        <p:spPr>
          <a:xfrm>
            <a:off x="432000" y="3563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1">
                <a:solidFill>
                  <a:srgbClr val="333333"/>
                </a:solidFill>
                <a:latin typeface="メイリオ"/>
                <a:ea typeface="メイリオ"/>
                <a:cs typeface="メイリオ"/>
              </a:rPr>
              <a:t>インターネット上の口コミ</a:t>
            </a:r>
          </a:p>
        </p:txBody>
      </p:sp>
      <p:sp>
        <p:nvSpPr>
          <p:cNvPr id="48" name="Rectangle 47"/>
          <p:cNvSpPr/>
          <p:nvPr/>
        </p:nvSpPr>
        <p:spPr>
          <a:xfrm>
            <a:off x="2196000" y="3527999"/>
            <a:ext cx="1426320" cy="360000"/>
          </a:xfrm>
          <a:prstGeom prst="rect">
            <a:avLst/>
          </a:prstGeom>
          <a:solidFill>
            <a:srgbClr val="8EA9D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ectangle 48"/>
          <p:cNvSpPr/>
          <p:nvPr/>
        </p:nvSpPr>
        <p:spPr>
          <a:xfrm>
            <a:off x="3658319" y="3563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28.3%</a:t>
            </a:r>
          </a:p>
        </p:txBody>
      </p:sp>
      <p:sp>
        <p:nvSpPr>
          <p:cNvPr id="50" name="Rectangle 49"/>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LINEでの仕掛け（入会前）</a:t>
            </a:r>
          </a:p>
        </p:txBody>
      </p:sp>
      <p:sp>
        <p:nvSpPr>
          <p:cNvPr id="51" name="Rounded Rectangle 50"/>
          <p:cNvSpPr/>
          <p:nvPr/>
        </p:nvSpPr>
        <p:spPr>
          <a:xfrm>
            <a:off x="5047200" y="2880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友だちと一緒の体験枠</a:t>
            </a:r>
          </a:p>
          <a:p>
            <a:pPr algn="l"/>
            <a:r>
              <a:rPr sz="1100" b="0">
                <a:solidFill>
                  <a:srgbClr val="333333"/>
                </a:solidFill>
                <a:latin typeface="メイリオ"/>
                <a:ea typeface="メイリオ"/>
                <a:cs typeface="メイリオ"/>
              </a:rPr>
              <a:t>2人まとめてLINEで予約（P32）</a:t>
            </a:r>
          </a:p>
        </p:txBody>
      </p:sp>
      <p:sp>
        <p:nvSpPr>
          <p:cNvPr id="52" name="Rounded Rectangle 51"/>
          <p:cNvSpPr/>
          <p:nvPr/>
        </p:nvSpPr>
        <p:spPr>
          <a:xfrm>
            <a:off x="5047200" y="3546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診断結果を友だちに送れる</a:t>
            </a:r>
          </a:p>
          <a:p>
            <a:pPr algn="l"/>
            <a:r>
              <a:rPr sz="1100" b="0">
                <a:solidFill>
                  <a:srgbClr val="333333"/>
                </a:solidFill>
                <a:latin typeface="メイリオ"/>
                <a:ea typeface="メイリオ"/>
                <a:cs typeface="メイリオ"/>
              </a:rPr>
              <a:t>「うちはこのタイプだった」を共有しやすく</a:t>
            </a:r>
          </a:p>
        </p:txBody>
      </p:sp>
      <p:sp>
        <p:nvSpPr>
          <p:cNvPr id="53" name="Rounded Rectangle 52"/>
          <p:cNvSpPr/>
          <p:nvPr/>
        </p:nvSpPr>
        <p:spPr>
          <a:xfrm>
            <a:off x="5047200" y="4212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体験に来た保護者へ案内</a:t>
            </a:r>
          </a:p>
          <a:p>
            <a:pPr algn="l"/>
            <a:r>
              <a:rPr sz="1100" b="0">
                <a:solidFill>
                  <a:srgbClr val="333333"/>
                </a:solidFill>
                <a:latin typeface="メイリオ"/>
                <a:ea typeface="メイリオ"/>
                <a:cs typeface="メイリオ"/>
              </a:rPr>
              <a:t>「お友達も一緒にどうぞ」を翌日のメッセージで</a:t>
            </a:r>
          </a:p>
        </p:txBody>
      </p:sp>
      <p:sp>
        <p:nvSpPr>
          <p:cNvPr id="54" name="Rounded Rectangle 53"/>
          <p:cNvSpPr/>
          <p:nvPr/>
        </p:nvSpPr>
        <p:spPr>
          <a:xfrm>
            <a:off x="432000" y="5004000"/>
            <a:ext cx="9043200" cy="43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口コミで選ばれる業界だから、口コミが生まれる場所にLINEの入口を置く。</a:t>
            </a:r>
          </a:p>
        </p:txBody>
      </p:sp>
      <p:sp>
        <p:nvSpPr>
          <p:cNvPr id="55" name="Rectangle 54"/>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露出の強化</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構築②｜あいさつメッセージ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友だち追加の直後は、一番メッセージが読まれるタイミング。</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最初の1通で安心できることを先に伝え、診断へ進んでいただく。</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※文面の教室長名・対応時間・配信頻度は、貴塾の運用に合わせて調整する</a:t>
            </a:r>
          </a:p>
        </p:txBody>
      </p:sp>
      <p:sp>
        <p:nvSpPr>
          <p:cNvPr id="22" name="Pentagon 2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23" name="Chevron 2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4" name="Chevron 2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5" name="Chevron 2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6" name="Chevron 25"/>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7" name="Chevron 2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8" name="Chevron 2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9" name="Chevron 2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0" name="Rounded Rectangle 2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1" name="Rounded Rectangle 3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2" name="Rectangle 3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友だち追加の直後は、</a:t>
            </a:r>
          </a:p>
          <a:p>
            <a:pPr algn="l"/>
            <a:r>
              <a:rPr sz="1200" b="0">
                <a:solidFill>
                  <a:srgbClr val="333333"/>
                </a:solidFill>
                <a:latin typeface="メイリオ"/>
                <a:ea typeface="メイリオ"/>
                <a:cs typeface="メイリオ"/>
              </a:rPr>
              <a:t>一番メッセージが読まれる</a:t>
            </a:r>
          </a:p>
        </p:txBody>
      </p:sp>
      <p:cxnSp>
        <p:nvCxnSpPr>
          <p:cNvPr id="33" name="Connector 3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6" name="Rectangle 3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安心できることを先に伝えて、</a:t>
            </a:r>
          </a:p>
          <a:p>
            <a:pPr algn="l"/>
            <a:r>
              <a:rPr sz="1200" b="0">
                <a:solidFill>
                  <a:srgbClr val="333333"/>
                </a:solidFill>
                <a:latin typeface="メイリオ"/>
                <a:ea typeface="メイリオ"/>
                <a:cs typeface="メイリオ"/>
              </a:rPr>
              <a:t>診断へ進んでいただく</a:t>
            </a:r>
          </a:p>
        </p:txBody>
      </p:sp>
      <p:cxnSp>
        <p:nvCxnSpPr>
          <p:cNvPr id="37" name="Connector 3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9" name="Rounded Rectangle 3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0" name="Rectangle 3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あいさつメッセージの</a:t>
            </a:r>
          </a:p>
          <a:p>
            <a:pPr algn="l"/>
            <a:r>
              <a:rPr sz="1200" b="0">
                <a:solidFill>
                  <a:srgbClr val="FFFFFF"/>
                </a:solidFill>
                <a:latin typeface="メイリオ"/>
                <a:ea typeface="メイリオ"/>
                <a:cs typeface="メイリオ"/>
              </a:rPr>
              <a:t>組み立てを決めておく</a:t>
            </a:r>
          </a:p>
        </p:txBody>
      </p:sp>
      <p:sp>
        <p:nvSpPr>
          <p:cNvPr id="41" name="Rectangle 40"/>
          <p:cNvSpPr/>
          <p:nvPr/>
        </p:nvSpPr>
        <p:spPr>
          <a:xfrm>
            <a:off x="432000" y="2610000"/>
            <a:ext cx="468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メッセージの組み立て</a:t>
            </a:r>
          </a:p>
        </p:txBody>
      </p:sp>
      <p:sp>
        <p:nvSpPr>
          <p:cNvPr id="42" name="Oval 41"/>
          <p:cNvSpPr/>
          <p:nvPr/>
        </p:nvSpPr>
        <p:spPr>
          <a:xfrm>
            <a:off x="432000" y="2951999"/>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1</a:t>
            </a:r>
          </a:p>
        </p:txBody>
      </p:sp>
      <p:sp>
        <p:nvSpPr>
          <p:cNvPr id="43" name="Rounded Rectangle 42"/>
          <p:cNvSpPr/>
          <p:nvPr/>
        </p:nvSpPr>
        <p:spPr>
          <a:xfrm>
            <a:off x="827999" y="28620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教室長の名前を出す</a:t>
            </a:r>
          </a:p>
          <a:p>
            <a:pPr algn="l"/>
            <a:r>
              <a:rPr sz="950" b="0">
                <a:solidFill>
                  <a:srgbClr val="333333"/>
                </a:solidFill>
                <a:latin typeface="メイリオ"/>
                <a:ea typeface="メイリオ"/>
                <a:cs typeface="メイリオ"/>
              </a:rPr>
              <a:t>人の顔が見えると安心できる</a:t>
            </a:r>
          </a:p>
        </p:txBody>
      </p:sp>
      <p:sp>
        <p:nvSpPr>
          <p:cNvPr id="44" name="Oval 43"/>
          <p:cNvSpPr/>
          <p:nvPr/>
        </p:nvSpPr>
        <p:spPr>
          <a:xfrm>
            <a:off x="432000" y="35352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2</a:t>
            </a:r>
          </a:p>
        </p:txBody>
      </p:sp>
      <p:sp>
        <p:nvSpPr>
          <p:cNvPr id="45" name="Rounded Rectangle 44"/>
          <p:cNvSpPr/>
          <p:nvPr/>
        </p:nvSpPr>
        <p:spPr>
          <a:xfrm>
            <a:off x="827999" y="34452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返信できる時間を書く</a:t>
            </a:r>
          </a:p>
          <a:p>
            <a:pPr algn="l"/>
            <a:r>
              <a:rPr sz="950" b="0">
                <a:solidFill>
                  <a:srgbClr val="333333"/>
                </a:solidFill>
                <a:latin typeface="メイリオ"/>
                <a:ea typeface="メイリオ"/>
                <a:cs typeface="メイリオ"/>
              </a:rPr>
              <a:t>例：平日14〜21時</a:t>
            </a:r>
          </a:p>
        </p:txBody>
      </p:sp>
      <p:sp>
        <p:nvSpPr>
          <p:cNvPr id="46" name="Oval 45"/>
          <p:cNvSpPr/>
          <p:nvPr/>
        </p:nvSpPr>
        <p:spPr>
          <a:xfrm>
            <a:off x="432000" y="41184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3</a:t>
            </a:r>
          </a:p>
        </p:txBody>
      </p:sp>
      <p:sp>
        <p:nvSpPr>
          <p:cNvPr id="47" name="Rounded Rectangle 46"/>
          <p:cNvSpPr/>
          <p:nvPr/>
        </p:nvSpPr>
        <p:spPr>
          <a:xfrm>
            <a:off x="827999" y="40284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届く頻度を書く</a:t>
            </a:r>
          </a:p>
          <a:p>
            <a:pPr algn="l"/>
            <a:r>
              <a:rPr sz="950" b="0">
                <a:solidFill>
                  <a:srgbClr val="333333"/>
                </a:solidFill>
                <a:latin typeface="メイリオ"/>
                <a:ea typeface="メイリオ"/>
                <a:cs typeface="メイリオ"/>
              </a:rPr>
              <a:t>例：週1回</a:t>
            </a:r>
          </a:p>
        </p:txBody>
      </p:sp>
      <p:sp>
        <p:nvSpPr>
          <p:cNvPr id="48" name="Oval 47"/>
          <p:cNvSpPr/>
          <p:nvPr/>
        </p:nvSpPr>
        <p:spPr>
          <a:xfrm>
            <a:off x="432000" y="47016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4</a:t>
            </a:r>
          </a:p>
        </p:txBody>
      </p:sp>
      <p:sp>
        <p:nvSpPr>
          <p:cNvPr id="49" name="Rounded Rectangle 48"/>
          <p:cNvSpPr/>
          <p:nvPr/>
        </p:nvSpPr>
        <p:spPr>
          <a:xfrm>
            <a:off x="827999" y="46116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営業のお電話はしないと書く</a:t>
            </a:r>
          </a:p>
          <a:p>
            <a:pPr algn="l"/>
            <a:r>
              <a:rPr sz="950" b="0">
                <a:solidFill>
                  <a:srgbClr val="333333"/>
                </a:solidFill>
                <a:latin typeface="メイリオ"/>
                <a:ea typeface="メイリオ"/>
                <a:cs typeface="メイリオ"/>
              </a:rPr>
              <a:t>連絡先を渡す不安をなくす</a:t>
            </a:r>
          </a:p>
        </p:txBody>
      </p:sp>
      <p:sp>
        <p:nvSpPr>
          <p:cNvPr id="50" name="Oval 49"/>
          <p:cNvSpPr/>
          <p:nvPr/>
        </p:nvSpPr>
        <p:spPr>
          <a:xfrm>
            <a:off x="432000" y="52848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5</a:t>
            </a:r>
          </a:p>
        </p:txBody>
      </p:sp>
      <p:sp>
        <p:nvSpPr>
          <p:cNvPr id="51" name="Rounded Rectangle 50"/>
          <p:cNvSpPr/>
          <p:nvPr/>
        </p:nvSpPr>
        <p:spPr>
          <a:xfrm>
            <a:off x="827999" y="51948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30秒診断へのボタン</a:t>
            </a:r>
          </a:p>
          <a:p>
            <a:pPr algn="l"/>
            <a:r>
              <a:rPr sz="950" b="0">
                <a:solidFill>
                  <a:srgbClr val="333333"/>
                </a:solidFill>
                <a:latin typeface="メイリオ"/>
                <a:ea typeface="メイリオ"/>
                <a:cs typeface="メイリオ"/>
              </a:rPr>
              <a:t>そのまま診断へ進める</a:t>
            </a:r>
          </a:p>
        </p:txBody>
      </p:sp>
      <p:sp>
        <p:nvSpPr>
          <p:cNvPr id="52" name="Rounded Rectangle 51"/>
          <p:cNvSpPr/>
          <p:nvPr/>
        </p:nvSpPr>
        <p:spPr>
          <a:xfrm>
            <a:off x="6048000" y="2610000"/>
            <a:ext cx="2592000" cy="345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3" name="Rectangle 52"/>
          <p:cNvSpPr/>
          <p:nvPr/>
        </p:nvSpPr>
        <p:spPr>
          <a:xfrm>
            <a:off x="6138000" y="2808000"/>
            <a:ext cx="2412000" cy="309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4" name="Rectangle 53"/>
          <p:cNvSpPr/>
          <p:nvPr/>
        </p:nvSpPr>
        <p:spPr>
          <a:xfrm>
            <a:off x="6138000" y="2808000"/>
            <a:ext cx="2412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55" name="Rounded Rectangle 54"/>
          <p:cNvSpPr/>
          <p:nvPr/>
        </p:nvSpPr>
        <p:spPr>
          <a:xfrm>
            <a:off x="6228000" y="3150000"/>
            <a:ext cx="2088000" cy="22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はじめまして、◯◯塾 △△教室の</a:t>
            </a:r>
          </a:p>
          <a:p>
            <a:pPr algn="l"/>
            <a:r>
              <a:rPr sz="800" b="0">
                <a:solidFill>
                  <a:srgbClr val="333333"/>
                </a:solidFill>
                <a:latin typeface="メイリオ"/>
                <a:ea typeface="メイリオ"/>
                <a:cs typeface="メイリオ"/>
              </a:rPr>
              <a:t>教室長、佐藤です😊</a:t>
            </a:r>
          </a:p>
          <a:p>
            <a:pPr algn="l"/>
            <a:r>
              <a:rPr sz="800" b="0">
                <a:solidFill>
                  <a:srgbClr val="333333"/>
                </a:solidFill>
                <a:latin typeface="メイリオ"/>
                <a:ea typeface="メイリオ"/>
                <a:cs typeface="メイリオ"/>
              </a:rPr>
              <a:t>友だち追加ありがとうございます。</a:t>
            </a:r>
          </a:p>
          <a:p>
            <a:pPr algn="l"/>
            <a:endParaRPr sz="800" b="0">
              <a:solidFill>
                <a:srgbClr val="333333"/>
              </a:solidFill>
              <a:latin typeface="メイリオ"/>
              <a:ea typeface="メイリオ"/>
              <a:cs typeface="メイリオ"/>
            </a:endParaRPr>
          </a:p>
          <a:p>
            <a:pPr algn="l"/>
            <a:r>
              <a:rPr sz="800" b="0">
                <a:solidFill>
                  <a:srgbClr val="333333"/>
                </a:solidFill>
                <a:latin typeface="メイリオ"/>
                <a:ea typeface="メイリオ"/>
                <a:cs typeface="メイリオ"/>
              </a:rPr>
              <a:t>このLINEでは、お子さまの勉強に</a:t>
            </a:r>
          </a:p>
          <a:p>
            <a:pPr algn="l"/>
            <a:r>
              <a:rPr sz="800" b="0">
                <a:solidFill>
                  <a:srgbClr val="333333"/>
                </a:solidFill>
                <a:latin typeface="メイリオ"/>
                <a:ea typeface="メイリオ"/>
                <a:cs typeface="メイリオ"/>
              </a:rPr>
              <a:t>役立つ情報を週1回お届けします。</a:t>
            </a:r>
          </a:p>
          <a:p>
            <a:pPr algn="l"/>
            <a:r>
              <a:rPr sz="800" b="0">
                <a:solidFill>
                  <a:srgbClr val="333333"/>
                </a:solidFill>
                <a:latin typeface="メイリオ"/>
                <a:ea typeface="メイリオ"/>
                <a:cs typeface="メイリオ"/>
              </a:rPr>
              <a:t>営業のお電話は一切しません。</a:t>
            </a:r>
          </a:p>
          <a:p>
            <a:pPr algn="l"/>
            <a:r>
              <a:rPr sz="800" b="0">
                <a:solidFill>
                  <a:srgbClr val="333333"/>
                </a:solidFill>
                <a:latin typeface="メイリオ"/>
                <a:ea typeface="メイリオ"/>
                <a:cs typeface="メイリオ"/>
              </a:rPr>
              <a:t>ご質問は、平日14〜21時に</a:t>
            </a:r>
          </a:p>
          <a:p>
            <a:pPr algn="l"/>
            <a:r>
              <a:rPr sz="800" b="0">
                <a:solidFill>
                  <a:srgbClr val="333333"/>
                </a:solidFill>
                <a:latin typeface="メイリオ"/>
                <a:ea typeface="メイリオ"/>
                <a:cs typeface="メイリオ"/>
              </a:rPr>
              <a:t>このトークでお返事します。</a:t>
            </a:r>
          </a:p>
          <a:p>
            <a:pPr algn="l"/>
            <a:endParaRPr sz="800" b="0">
              <a:solidFill>
                <a:srgbClr val="333333"/>
              </a:solidFill>
              <a:latin typeface="メイリオ"/>
              <a:ea typeface="メイリオ"/>
              <a:cs typeface="メイリオ"/>
            </a:endParaRPr>
          </a:p>
          <a:p>
            <a:pPr algn="l"/>
            <a:r>
              <a:rPr sz="800" b="0">
                <a:solidFill>
                  <a:srgbClr val="333333"/>
                </a:solidFill>
                <a:latin typeface="メイリオ"/>
                <a:ea typeface="メイリオ"/>
                <a:cs typeface="メイリオ"/>
              </a:rPr>
              <a:t>まずは30秒の診断で、お子さまに</a:t>
            </a:r>
          </a:p>
          <a:p>
            <a:pPr algn="l"/>
            <a:r>
              <a:rPr sz="800" b="0">
                <a:solidFill>
                  <a:srgbClr val="333333"/>
                </a:solidFill>
                <a:latin typeface="メイリオ"/>
                <a:ea typeface="メイリオ"/>
                <a:cs typeface="メイリオ"/>
              </a:rPr>
              <a:t>合う学び方とコース・料金の資料を</a:t>
            </a:r>
          </a:p>
          <a:p>
            <a:pPr algn="l"/>
            <a:r>
              <a:rPr sz="800" b="0">
                <a:solidFill>
                  <a:srgbClr val="333333"/>
                </a:solidFill>
                <a:latin typeface="メイリオ"/>
                <a:ea typeface="メイリオ"/>
                <a:cs typeface="メイリオ"/>
              </a:rPr>
              <a:t>お受け取りください👇</a:t>
            </a:r>
          </a:p>
        </p:txBody>
      </p:sp>
      <p:sp>
        <p:nvSpPr>
          <p:cNvPr id="56" name="Rounded Rectangle 55"/>
          <p:cNvSpPr/>
          <p:nvPr/>
        </p:nvSpPr>
        <p:spPr>
          <a:xfrm>
            <a:off x="6228000" y="5490000"/>
            <a:ext cx="2088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30秒診断をはじめる</a:t>
            </a:r>
          </a:p>
        </p:txBody>
      </p:sp>
      <p:sp>
        <p:nvSpPr>
          <p:cNvPr id="57" name="Rectangle 56"/>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CVの最大化</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構築③｜30秒ぴったり診断</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申し込む前に「集団・個別・映像のどれが合うか」をお伝えし、納得してから体験へ。</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4問すべて選択式。回答はそのまま配信の出し分けに使う。</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※明光義塾は、相性チェック（5問）と合わせて、LINEの中での体験予約も案内している（P28）。競合の診断（トライの性格別学習法診断など）はP62を参照</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塾選びで一番困ったこと</a:t>
            </a:r>
          </a:p>
          <a:p>
            <a:pPr algn="l"/>
            <a:r>
              <a:rPr sz="1000" b="0">
                <a:solidFill>
                  <a:srgbClr val="333333"/>
                </a:solidFill>
                <a:latin typeface="メイリオ"/>
                <a:ea typeface="メイリオ"/>
                <a:cs typeface="メイリオ"/>
              </a:rPr>
              <a:t>「うちの子に合う塾が分からない」63.5%</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申し込む前に、</a:t>
            </a:r>
          </a:p>
          <a:p>
            <a:pPr algn="l"/>
            <a:r>
              <a:rPr sz="1000" b="0">
                <a:solidFill>
                  <a:srgbClr val="333333"/>
                </a:solidFill>
                <a:latin typeface="メイリオ"/>
                <a:ea typeface="メイリオ"/>
                <a:cs typeface="メイリオ"/>
              </a:rPr>
              <a:t>「合う・合わない」をお伝えする</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30秒診断 → 資料請求（CV①）</a:t>
            </a:r>
          </a:p>
          <a:p>
            <a:pPr algn="l"/>
            <a:r>
              <a:rPr sz="1000" b="0">
                <a:solidFill>
                  <a:srgbClr val="FFFFFF"/>
                </a:solidFill>
                <a:latin typeface="メイリオ"/>
                <a:ea typeface="メイリオ"/>
                <a:cs typeface="メイリオ"/>
              </a:rPr>
              <a:t>→ 体験予約（CV②）</a:t>
            </a:r>
          </a:p>
        </p:txBody>
      </p:sp>
      <p:sp>
        <p:nvSpPr>
          <p:cNvPr id="51" name="Rounded Rectangle 50"/>
          <p:cNvSpPr/>
          <p:nvPr/>
        </p:nvSpPr>
        <p:spPr>
          <a:xfrm>
            <a:off x="432000" y="2628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Q1 お子さまの学年は？</a:t>
            </a:r>
          </a:p>
          <a:p>
            <a:pPr algn="l"/>
            <a:r>
              <a:rPr sz="900" b="0">
                <a:solidFill>
                  <a:srgbClr val="333333"/>
                </a:solidFill>
                <a:latin typeface="メイリオ"/>
                <a:ea typeface="メイリオ"/>
                <a:cs typeface="メイリオ"/>
              </a:rPr>
              <a:t>小1〜4／小5・6／中1・2／中3／高1・2／高3</a:t>
            </a:r>
          </a:p>
        </p:txBody>
      </p:sp>
      <p:sp>
        <p:nvSpPr>
          <p:cNvPr id="52" name="Rounded Rectangle 51"/>
          <p:cNvSpPr/>
          <p:nvPr/>
        </p:nvSpPr>
        <p:spPr>
          <a:xfrm>
            <a:off x="5256000" y="2826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学年</a:t>
            </a:r>
          </a:p>
        </p:txBody>
      </p:sp>
      <p:sp>
        <p:nvSpPr>
          <p:cNvPr id="53" name="Rounded Rectangle 52"/>
          <p:cNvSpPr/>
          <p:nvPr/>
        </p:nvSpPr>
        <p:spPr>
          <a:xfrm>
            <a:off x="432000" y="3384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Q2 いちばん近いお悩みは？</a:t>
            </a:r>
          </a:p>
          <a:p>
            <a:pPr algn="l"/>
            <a:r>
              <a:rPr sz="900" b="0">
                <a:solidFill>
                  <a:srgbClr val="333333"/>
                </a:solidFill>
                <a:latin typeface="メイリオ"/>
                <a:ea typeface="メイリオ"/>
                <a:cs typeface="メイリオ"/>
              </a:rPr>
              <a:t>成績が下がってきた／やる気が出ない／受験対策を始めたい／授業についていけない</a:t>
            </a:r>
          </a:p>
        </p:txBody>
      </p:sp>
      <p:sp>
        <p:nvSpPr>
          <p:cNvPr id="54" name="Rounded Rectangle 53"/>
          <p:cNvSpPr/>
          <p:nvPr/>
        </p:nvSpPr>
        <p:spPr>
          <a:xfrm>
            <a:off x="5256000" y="3582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悩み</a:t>
            </a:r>
          </a:p>
        </p:txBody>
      </p:sp>
      <p:sp>
        <p:nvSpPr>
          <p:cNvPr id="55" name="Rounded Rectangle 54"/>
          <p:cNvSpPr/>
          <p:nvPr/>
        </p:nvSpPr>
        <p:spPr>
          <a:xfrm>
            <a:off x="432000" y="4140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Q3 お子さまの性格に近いのは？</a:t>
            </a:r>
          </a:p>
          <a:p>
            <a:pPr algn="l"/>
            <a:r>
              <a:rPr sz="900" b="0">
                <a:solidFill>
                  <a:srgbClr val="333333"/>
                </a:solidFill>
                <a:latin typeface="メイリオ"/>
                <a:ea typeface="メイリオ"/>
                <a:cs typeface="メイリオ"/>
              </a:rPr>
              <a:t>競争があると燃える／マイペースにコツコツ／質問するのが苦手／集中が続かない</a:t>
            </a:r>
          </a:p>
        </p:txBody>
      </p:sp>
      <p:sp>
        <p:nvSpPr>
          <p:cNvPr id="56" name="Rounded Rectangle 55"/>
          <p:cNvSpPr/>
          <p:nvPr/>
        </p:nvSpPr>
        <p:spPr>
          <a:xfrm>
            <a:off x="5256000" y="4338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性格</a:t>
            </a:r>
          </a:p>
        </p:txBody>
      </p:sp>
      <p:sp>
        <p:nvSpPr>
          <p:cNvPr id="57" name="Rounded Rectangle 56"/>
          <p:cNvSpPr/>
          <p:nvPr/>
        </p:nvSpPr>
        <p:spPr>
          <a:xfrm>
            <a:off x="432000" y="4896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Q4 塾はいつから？</a:t>
            </a:r>
          </a:p>
          <a:p>
            <a:pPr algn="l"/>
            <a:r>
              <a:rPr sz="900" b="0">
                <a:solidFill>
                  <a:srgbClr val="333333"/>
                </a:solidFill>
                <a:latin typeface="メイリオ"/>
                <a:ea typeface="メイリオ"/>
                <a:cs typeface="メイリオ"/>
              </a:rPr>
              <a:t>今すぐ／今学期中に／次の学年から／情報収集だけ</a:t>
            </a:r>
          </a:p>
        </p:txBody>
      </p:sp>
      <p:sp>
        <p:nvSpPr>
          <p:cNvPr id="58" name="Rounded Rectangle 57"/>
          <p:cNvSpPr/>
          <p:nvPr/>
        </p:nvSpPr>
        <p:spPr>
          <a:xfrm>
            <a:off x="5256000" y="5094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時期</a:t>
            </a:r>
          </a:p>
        </p:txBody>
      </p:sp>
      <p:sp>
        <p:nvSpPr>
          <p:cNvPr id="59" name="Rectangle 58"/>
          <p:cNvSpPr/>
          <p:nvPr/>
        </p:nvSpPr>
        <p:spPr>
          <a:xfrm>
            <a:off x="6192000" y="2610000"/>
            <a:ext cx="324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診断結果の流れ</a:t>
            </a:r>
          </a:p>
        </p:txBody>
      </p:sp>
      <p:sp>
        <p:nvSpPr>
          <p:cNvPr id="60" name="Rounded Rectangle 59"/>
          <p:cNvSpPr/>
          <p:nvPr/>
        </p:nvSpPr>
        <p:spPr>
          <a:xfrm>
            <a:off x="6192000" y="28620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共感</a:t>
            </a:r>
          </a:p>
          <a:p>
            <a:pPr algn="ctr"/>
            <a:r>
              <a:rPr sz="900" b="0">
                <a:solidFill>
                  <a:srgbClr val="333333"/>
                </a:solidFill>
                <a:latin typeface="メイリオ"/>
                <a:ea typeface="メイリオ"/>
                <a:cs typeface="メイリオ"/>
              </a:rPr>
              <a:t>「◯◯タイプのお子さまは、こんな所でつまずきやすい」</a:t>
            </a:r>
          </a:p>
        </p:txBody>
      </p:sp>
      <p:cxnSp>
        <p:nvCxnSpPr>
          <p:cNvPr id="61" name="Connector 60"/>
          <p:cNvCxnSpPr/>
          <p:nvPr/>
        </p:nvCxnSpPr>
        <p:spPr>
          <a:xfrm>
            <a:off x="7830000" y="33516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192000" y="34452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合う学び方</a:t>
            </a:r>
          </a:p>
          <a:p>
            <a:pPr algn="ctr"/>
            <a:r>
              <a:rPr sz="900" b="0">
                <a:solidFill>
                  <a:srgbClr val="333333"/>
                </a:solidFill>
                <a:latin typeface="メイリオ"/>
                <a:ea typeface="メイリオ"/>
                <a:cs typeface="メイリオ"/>
              </a:rPr>
              <a:t>集団／個別／映像のどれが合うか</a:t>
            </a:r>
          </a:p>
        </p:txBody>
      </p:sp>
      <p:cxnSp>
        <p:nvCxnSpPr>
          <p:cNvPr id="63" name="Connector 62"/>
          <p:cNvCxnSpPr/>
          <p:nvPr/>
        </p:nvCxnSpPr>
        <p:spPr>
          <a:xfrm>
            <a:off x="7830000" y="39348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6192000" y="40284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同じタイプの事例</a:t>
            </a:r>
          </a:p>
          <a:p>
            <a:pPr algn="ctr"/>
            <a:r>
              <a:rPr sz="900" b="0">
                <a:solidFill>
                  <a:srgbClr val="333333"/>
                </a:solidFill>
                <a:latin typeface="メイリオ"/>
                <a:ea typeface="メイリオ"/>
                <a:cs typeface="メイリオ"/>
              </a:rPr>
              <a:t>同じ悩みだったお子さまの変化</a:t>
            </a:r>
          </a:p>
        </p:txBody>
      </p:sp>
      <p:cxnSp>
        <p:nvCxnSpPr>
          <p:cNvPr id="65" name="Connector 64"/>
          <p:cNvCxnSpPr/>
          <p:nvPr/>
        </p:nvCxnSpPr>
        <p:spPr>
          <a:xfrm>
            <a:off x="7830000" y="45180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192000" y="46116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資料を受け取る</a:t>
            </a:r>
          </a:p>
          <a:p>
            <a:pPr algn="ctr"/>
            <a:r>
              <a:rPr sz="900" b="0">
                <a:solidFill>
                  <a:srgbClr val="FFFFFF"/>
                </a:solidFill>
                <a:latin typeface="メイリオ"/>
                <a:ea typeface="メイリオ"/>
                <a:cs typeface="メイリオ"/>
              </a:rPr>
              <a:t>CV① 資料請求</a:t>
            </a:r>
          </a:p>
        </p:txBody>
      </p:sp>
      <p:cxnSp>
        <p:nvCxnSpPr>
          <p:cNvPr id="67" name="Connector 66"/>
          <p:cNvCxnSpPr/>
          <p:nvPr/>
        </p:nvCxnSpPr>
        <p:spPr>
          <a:xfrm>
            <a:off x="7830000" y="51012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6192000" y="51948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無料体験を予約する</a:t>
            </a:r>
          </a:p>
          <a:p>
            <a:pPr algn="ctr"/>
            <a:r>
              <a:rPr sz="900" b="0">
                <a:solidFill>
                  <a:srgbClr val="FFFFFF"/>
                </a:solidFill>
                <a:latin typeface="メイリオ"/>
                <a:ea typeface="メイリオ"/>
                <a:cs typeface="メイリオ"/>
              </a:rPr>
              <a:t>CV② 体験予約（LINEの中で受付）</a:t>
            </a:r>
          </a:p>
        </p:txBody>
      </p:sp>
      <p:sp>
        <p:nvSpPr>
          <p:cNvPr id="69" name="Rectangle 68"/>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CVの最大化</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構築④｜リッチメニュー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スマホの親指が一番届きやすいのは、画面の右下。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最も押していただきたいボタン（無料体験・教室見学の予約）を右下に置く。</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※体験予約済みの方には、タブ②（体験当日の流れ・アクセス・日程変更など）を出し分ける。明光義塾は、一番大きい枠に「授業料シミュレーション」を置いている（P28）</a:t>
            </a:r>
          </a:p>
        </p:txBody>
      </p:sp>
      <p:sp>
        <p:nvSpPr>
          <p:cNvPr id="46" name="Pentagon 45"/>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54" name="Rounded Rectangle 53"/>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5" name="Rounded Rectangle 54"/>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56" name="Rectangle 55"/>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スマホを片手で持つと、</a:t>
            </a:r>
          </a:p>
          <a:p>
            <a:pPr algn="l"/>
            <a:r>
              <a:rPr sz="1000" b="0">
                <a:solidFill>
                  <a:srgbClr val="333333"/>
                </a:solidFill>
                <a:latin typeface="メイリオ"/>
                <a:ea typeface="メイリオ"/>
                <a:cs typeface="メイリオ"/>
              </a:rPr>
              <a:t>親指が一番届くのは右下</a:t>
            </a:r>
          </a:p>
        </p:txBody>
      </p:sp>
      <p:cxnSp>
        <p:nvCxnSpPr>
          <p:cNvPr id="57" name="Connector 56"/>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ounded Rectangle 58"/>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60" name="Rectangle 59"/>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最も押していただきたいボタンを、</a:t>
            </a:r>
          </a:p>
          <a:p>
            <a:pPr algn="l"/>
            <a:r>
              <a:rPr sz="1000" b="0">
                <a:solidFill>
                  <a:srgbClr val="333333"/>
                </a:solidFill>
                <a:latin typeface="メイリオ"/>
                <a:ea typeface="メイリオ"/>
                <a:cs typeface="メイリオ"/>
              </a:rPr>
              <a:t>右下に置く</a:t>
            </a:r>
          </a:p>
        </p:txBody>
      </p:sp>
      <p:cxnSp>
        <p:nvCxnSpPr>
          <p:cNvPr id="61" name="Connector 60"/>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3" name="Rounded Rectangle 62"/>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64" name="Rectangle 63"/>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右下＝無料体験・教室見学の予約</a:t>
            </a:r>
          </a:p>
          <a:p>
            <a:pPr algn="l"/>
            <a:r>
              <a:rPr sz="1000" b="0">
                <a:solidFill>
                  <a:srgbClr val="FFFFFF"/>
                </a:solidFill>
                <a:latin typeface="メイリオ"/>
                <a:ea typeface="メイリオ"/>
                <a:cs typeface="メイリオ"/>
              </a:rPr>
              <a:t>（体験予約済みの方は日程の確認・変更）</a:t>
            </a:r>
          </a:p>
        </p:txBody>
      </p:sp>
      <p:sp>
        <p:nvSpPr>
          <p:cNvPr id="65" name="Rounded Rectangle 64"/>
          <p:cNvSpPr/>
          <p:nvPr/>
        </p:nvSpPr>
        <p:spPr>
          <a:xfrm>
            <a:off x="432000" y="2592000"/>
            <a:ext cx="2880000" cy="356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6" name="Rectangle 65"/>
          <p:cNvSpPr/>
          <p:nvPr/>
        </p:nvSpPr>
        <p:spPr>
          <a:xfrm>
            <a:off x="522000" y="2790000"/>
            <a:ext cx="2700000" cy="320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7" name="Rectangle 66"/>
          <p:cNvSpPr/>
          <p:nvPr/>
        </p:nvSpPr>
        <p:spPr>
          <a:xfrm>
            <a:off x="522000" y="2790000"/>
            <a:ext cx="2700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68" name="Rounded Rectangle 67"/>
          <p:cNvSpPr/>
          <p:nvPr/>
        </p:nvSpPr>
        <p:spPr>
          <a:xfrm>
            <a:off x="612000" y="3150000"/>
            <a:ext cx="2268000" cy="43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診断結果とコース・料金の</a:t>
            </a:r>
          </a:p>
          <a:p>
            <a:pPr algn="l"/>
            <a:r>
              <a:rPr sz="800" b="0">
                <a:solidFill>
                  <a:srgbClr val="333333"/>
                </a:solidFill>
                <a:latin typeface="メイリオ"/>
                <a:ea typeface="メイリオ"/>
                <a:cs typeface="メイリオ"/>
              </a:rPr>
              <a:t>資料をお送りしました📄</a:t>
            </a:r>
          </a:p>
        </p:txBody>
      </p:sp>
      <p:sp>
        <p:nvSpPr>
          <p:cNvPr id="69" name="Rectangle 68"/>
          <p:cNvSpPr/>
          <p:nvPr/>
        </p:nvSpPr>
        <p:spPr>
          <a:xfrm>
            <a:off x="5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30秒</a:t>
            </a:r>
          </a:p>
          <a:p>
            <a:pPr algn="ctr"/>
            <a:r>
              <a:rPr sz="900" b="1">
                <a:solidFill>
                  <a:srgbClr val="1F285A"/>
                </a:solidFill>
                <a:latin typeface="メイリオ"/>
                <a:ea typeface="メイリオ"/>
                <a:cs typeface="メイリオ"/>
              </a:rPr>
              <a:t>ぴったり診断</a:t>
            </a:r>
          </a:p>
        </p:txBody>
      </p:sp>
      <p:sp>
        <p:nvSpPr>
          <p:cNvPr id="70" name="Rectangle 69"/>
          <p:cNvSpPr/>
          <p:nvPr/>
        </p:nvSpPr>
        <p:spPr>
          <a:xfrm>
            <a:off x="14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コース・料金</a:t>
            </a:r>
          </a:p>
        </p:txBody>
      </p:sp>
      <p:sp>
        <p:nvSpPr>
          <p:cNvPr id="71" name="Rectangle 70"/>
          <p:cNvSpPr/>
          <p:nvPr/>
        </p:nvSpPr>
        <p:spPr>
          <a:xfrm>
            <a:off x="23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教室・講師</a:t>
            </a:r>
          </a:p>
          <a:p>
            <a:pPr algn="ctr"/>
            <a:r>
              <a:rPr sz="900" b="1">
                <a:solidFill>
                  <a:srgbClr val="1F285A"/>
                </a:solidFill>
                <a:latin typeface="メイリオ"/>
                <a:ea typeface="メイリオ"/>
                <a:cs typeface="メイリオ"/>
              </a:rPr>
              <a:t>紹介</a:t>
            </a:r>
          </a:p>
        </p:txBody>
      </p:sp>
      <p:sp>
        <p:nvSpPr>
          <p:cNvPr id="72" name="Rectangle 71"/>
          <p:cNvSpPr/>
          <p:nvPr/>
        </p:nvSpPr>
        <p:spPr>
          <a:xfrm>
            <a:off x="5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資料を</a:t>
            </a:r>
          </a:p>
          <a:p>
            <a:pPr algn="ctr"/>
            <a:r>
              <a:rPr sz="900" b="1">
                <a:solidFill>
                  <a:srgbClr val="1F285A"/>
                </a:solidFill>
                <a:latin typeface="メイリオ"/>
                <a:ea typeface="メイリオ"/>
                <a:cs typeface="メイリオ"/>
              </a:rPr>
              <a:t>受け取る</a:t>
            </a:r>
          </a:p>
        </p:txBody>
      </p:sp>
      <p:sp>
        <p:nvSpPr>
          <p:cNvPr id="73" name="Rectangle 72"/>
          <p:cNvSpPr/>
          <p:nvPr/>
        </p:nvSpPr>
        <p:spPr>
          <a:xfrm>
            <a:off x="14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友だちと</a:t>
            </a:r>
          </a:p>
          <a:p>
            <a:pPr algn="ctr"/>
            <a:r>
              <a:rPr sz="900" b="1">
                <a:solidFill>
                  <a:srgbClr val="1F285A"/>
                </a:solidFill>
                <a:latin typeface="メイリオ"/>
                <a:ea typeface="メイリオ"/>
                <a:cs typeface="メイリオ"/>
              </a:rPr>
              <a:t>一緒に体験</a:t>
            </a:r>
          </a:p>
        </p:txBody>
      </p:sp>
      <p:sp>
        <p:nvSpPr>
          <p:cNvPr id="74" name="Rectangle 73"/>
          <p:cNvSpPr/>
          <p:nvPr/>
        </p:nvSpPr>
        <p:spPr>
          <a:xfrm>
            <a:off x="2322000" y="5202000"/>
            <a:ext cx="900000" cy="79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FFFFFF"/>
                </a:solidFill>
                <a:latin typeface="メイリオ"/>
                <a:ea typeface="メイリオ"/>
                <a:cs typeface="メイリオ"/>
              </a:rPr>
              <a:t>無料体験・</a:t>
            </a:r>
          </a:p>
          <a:p>
            <a:pPr algn="ctr"/>
            <a:r>
              <a:rPr sz="900" b="1">
                <a:solidFill>
                  <a:srgbClr val="FFFFFF"/>
                </a:solidFill>
                <a:latin typeface="メイリオ"/>
                <a:ea typeface="メイリオ"/>
                <a:cs typeface="メイリオ"/>
              </a:rPr>
              <a:t>教室見学の予約</a:t>
            </a:r>
          </a:p>
        </p:txBody>
      </p:sp>
      <p:sp>
        <p:nvSpPr>
          <p:cNvPr id="75" name="Rounded Rectangle 74"/>
          <p:cNvSpPr/>
          <p:nvPr/>
        </p:nvSpPr>
        <p:spPr>
          <a:xfrm>
            <a:off x="1602000" y="4139999"/>
            <a:ext cx="1620000" cy="216000"/>
          </a:xfrm>
          <a:prstGeom prst="roundRect">
            <a:avLst>
              <a:gd name="adj" fmla="val 3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800" b="1">
                <a:solidFill>
                  <a:srgbClr val="FFFFFF"/>
                </a:solidFill>
                <a:latin typeface="メイリオ"/>
                <a:ea typeface="メイリオ"/>
                <a:cs typeface="メイリオ"/>
              </a:rPr>
              <a:t>右下＝一番押しやすい ↘</a:t>
            </a:r>
          </a:p>
        </p:txBody>
      </p:sp>
      <p:sp>
        <p:nvSpPr>
          <p:cNvPr id="76" name="Rectangle 75"/>
          <p:cNvSpPr/>
          <p:nvPr/>
        </p:nvSpPr>
        <p:spPr>
          <a:xfrm>
            <a:off x="3671999" y="2610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ボタンの並び（タブ① はじめての方）</a:t>
            </a:r>
          </a:p>
        </p:txBody>
      </p:sp>
      <p:sp>
        <p:nvSpPr>
          <p:cNvPr id="77" name="Rectangle 76"/>
          <p:cNvSpPr/>
          <p:nvPr/>
        </p:nvSpPr>
        <p:spPr>
          <a:xfrm>
            <a:off x="3671999"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30秒ぴったり診断</a:t>
            </a:r>
          </a:p>
        </p:txBody>
      </p:sp>
      <p:sp>
        <p:nvSpPr>
          <p:cNvPr id="78" name="Rectangle 77"/>
          <p:cNvSpPr/>
          <p:nvPr/>
        </p:nvSpPr>
        <p:spPr>
          <a:xfrm>
            <a:off x="5616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コース・料金</a:t>
            </a:r>
          </a:p>
        </p:txBody>
      </p:sp>
      <p:sp>
        <p:nvSpPr>
          <p:cNvPr id="79" name="Rectangle 78"/>
          <p:cNvSpPr/>
          <p:nvPr/>
        </p:nvSpPr>
        <p:spPr>
          <a:xfrm>
            <a:off x="7560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教室・講師紹介</a:t>
            </a:r>
          </a:p>
        </p:txBody>
      </p:sp>
      <p:sp>
        <p:nvSpPr>
          <p:cNvPr id="80" name="Rectangle 79"/>
          <p:cNvSpPr/>
          <p:nvPr/>
        </p:nvSpPr>
        <p:spPr>
          <a:xfrm>
            <a:off x="3671999"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資料を受け取る（CV①）</a:t>
            </a:r>
          </a:p>
        </p:txBody>
      </p:sp>
      <p:sp>
        <p:nvSpPr>
          <p:cNvPr id="81" name="Rectangle 80"/>
          <p:cNvSpPr/>
          <p:nvPr/>
        </p:nvSpPr>
        <p:spPr>
          <a:xfrm>
            <a:off x="5616000"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友だちと一緒に体験</a:t>
            </a:r>
          </a:p>
        </p:txBody>
      </p:sp>
      <p:sp>
        <p:nvSpPr>
          <p:cNvPr id="82" name="Rectangle 81"/>
          <p:cNvSpPr/>
          <p:nvPr/>
        </p:nvSpPr>
        <p:spPr>
          <a:xfrm>
            <a:off x="7560000" y="3420000"/>
            <a:ext cx="1890000" cy="503999"/>
          </a:xfrm>
          <a:prstGeom prst="rect">
            <a:avLst/>
          </a:prstGeom>
          <a:solidFill>
            <a:srgbClr val="C00000"/>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 無料体験・教室見学の予約（CV②）</a:t>
            </a:r>
          </a:p>
        </p:txBody>
      </p:sp>
      <p:sp>
        <p:nvSpPr>
          <p:cNvPr id="83" name="Rectangle 82"/>
          <p:cNvSpPr/>
          <p:nvPr/>
        </p:nvSpPr>
        <p:spPr>
          <a:xfrm>
            <a:off x="3671999" y="4068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置き方の考え方</a:t>
            </a:r>
          </a:p>
        </p:txBody>
      </p:sp>
      <p:sp>
        <p:nvSpPr>
          <p:cNvPr id="84" name="Rectangle 83"/>
          <p:cNvSpPr/>
          <p:nvPr/>
        </p:nvSpPr>
        <p:spPr>
          <a:xfrm>
            <a:off x="3671999" y="4302000"/>
            <a:ext cx="5796000" cy="12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0">
                <a:solidFill>
                  <a:srgbClr val="333333"/>
                </a:solidFill>
                <a:latin typeface="メイリオ"/>
                <a:ea typeface="メイリオ"/>
                <a:cs typeface="メイリオ"/>
              </a:rPr>
              <a:t>・右下：最も押していただきたいボタン。体験・見学の予約（CV②）</a:t>
            </a:r>
          </a:p>
          <a:p>
            <a:pPr algn="l"/>
            <a:r>
              <a:rPr sz="1100" b="0">
                <a:solidFill>
                  <a:srgbClr val="333333"/>
                </a:solidFill>
                <a:latin typeface="メイリオ"/>
                <a:ea typeface="メイリオ"/>
                <a:cs typeface="メイリオ"/>
              </a:rPr>
              <a:t>・左下：資料を受け取る（CV①）。体験はまだ先という保護者の受け皿</a:t>
            </a:r>
          </a:p>
          <a:p>
            <a:pPr algn="l"/>
            <a:r>
              <a:rPr sz="1100" b="0">
                <a:solidFill>
                  <a:srgbClr val="333333"/>
                </a:solidFill>
                <a:latin typeface="メイリオ"/>
                <a:ea typeface="メイリオ"/>
                <a:cs typeface="メイリオ"/>
              </a:rPr>
              <a:t>・上段：比べるときに見たい情報（診断・料金・教室）</a:t>
            </a:r>
          </a:p>
          <a:p>
            <a:pPr algn="l"/>
            <a:r>
              <a:rPr sz="1100" b="0">
                <a:solidFill>
                  <a:srgbClr val="333333"/>
                </a:solidFill>
                <a:latin typeface="メイリオ"/>
                <a:ea typeface="メイリオ"/>
                <a:cs typeface="メイリオ"/>
              </a:rPr>
              <a:t>・体験予約済みの方には、タブ②に切り替えて右下を「日程の確認・変更」にする</a:t>
            </a:r>
          </a:p>
        </p:txBody>
      </p:sp>
      <p:sp>
        <p:nvSpPr>
          <p:cNvPr id="85" name="Rounded Rectangle 84"/>
          <p:cNvSpPr/>
          <p:nvPr/>
        </p:nvSpPr>
        <p:spPr>
          <a:xfrm>
            <a:off x="3671999" y="5580000"/>
            <a:ext cx="5796000" cy="432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1F285A"/>
                </a:solidFill>
                <a:latin typeface="メイリオ"/>
                <a:ea typeface="メイリオ"/>
                <a:cs typeface="メイリオ"/>
              </a:rPr>
              <a:t>タブ②（体験予約済みの方）：体験当日の流れ／アクセス・持ち物／担当講師の紹介／保護者の声／LINEで質問／日程の確認・変更（右下）</a:t>
            </a:r>
          </a:p>
        </p:txBody>
      </p:sp>
      <p:sp>
        <p:nvSpPr>
          <p:cNvPr id="86" name="Rectangle 85"/>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CVの最大化</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構築⑤｜配信の出し分け</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同じ内容を全員に送ると、合わない方からブロックされやすい。</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診断の回答と、LINEでの行動で、保護者ごとに「うちの子の話」になる配信にする。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4" name="Rounded Rectangle 13"/>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15" name="Rectangle 14"/>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同じ内容を全員に送ると、</a:t>
            </a:r>
          </a:p>
          <a:p>
            <a:pPr algn="l"/>
            <a:r>
              <a:rPr sz="1200" b="0">
                <a:solidFill>
                  <a:srgbClr val="333333"/>
                </a:solidFill>
                <a:latin typeface="メイリオ"/>
                <a:ea typeface="メイリオ"/>
                <a:cs typeface="メイリオ"/>
              </a:rPr>
              <a:t>合わない方からブロックされやすい</a:t>
            </a:r>
          </a:p>
        </p:txBody>
      </p:sp>
      <p:cxnSp>
        <p:nvCxnSpPr>
          <p:cNvPr id="16" name="Connector 15"/>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8" name="Rounded Rectangle 17"/>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19" name="Rectangle 18"/>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保護者ごとに、</a:t>
            </a:r>
          </a:p>
          <a:p>
            <a:pPr algn="l"/>
            <a:r>
              <a:rPr sz="1200" b="0">
                <a:solidFill>
                  <a:srgbClr val="333333"/>
                </a:solidFill>
                <a:latin typeface="メイリオ"/>
                <a:ea typeface="メイリオ"/>
                <a:cs typeface="メイリオ"/>
              </a:rPr>
              <a:t>「うちの子の話」になる配信にする</a:t>
            </a:r>
          </a:p>
        </p:txBody>
      </p:sp>
      <p:cxnSp>
        <p:nvCxnSpPr>
          <p:cNvPr id="20" name="Connector 19"/>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2" name="Rounded Rectangle 21"/>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23" name="Rectangle 22"/>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診断タグ＋行動タグで</a:t>
            </a:r>
          </a:p>
          <a:p>
            <a:pPr algn="l"/>
            <a:r>
              <a:rPr sz="1200" b="0">
                <a:solidFill>
                  <a:srgbClr val="FFFFFF"/>
                </a:solidFill>
                <a:latin typeface="メイリオ"/>
                <a:ea typeface="メイリオ"/>
                <a:cs typeface="メイリオ"/>
              </a:rPr>
              <a:t>配信を出し分ける</a:t>
            </a:r>
          </a:p>
        </p:txBody>
      </p:sp>
      <p:sp>
        <p:nvSpPr>
          <p:cNvPr id="24" name="Rounded Rectangle 23"/>
          <p:cNvSpPr/>
          <p:nvPr/>
        </p:nvSpPr>
        <p:spPr>
          <a:xfrm>
            <a:off x="432000"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① 診断タグ（友だち追加の直後）</a:t>
            </a:r>
          </a:p>
        </p:txBody>
      </p:sp>
      <p:sp>
        <p:nvSpPr>
          <p:cNvPr id="25" name="Rounded Rectangle 24"/>
          <p:cNvSpPr/>
          <p:nvPr/>
        </p:nvSpPr>
        <p:spPr>
          <a:xfrm>
            <a:off x="432000"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学年</a:t>
            </a:r>
          </a:p>
        </p:txBody>
      </p:sp>
      <p:sp>
        <p:nvSpPr>
          <p:cNvPr id="26" name="Rounded Rectangle 25"/>
          <p:cNvSpPr/>
          <p:nvPr/>
        </p:nvSpPr>
        <p:spPr>
          <a:xfrm>
            <a:off x="432000"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悩み</a:t>
            </a:r>
          </a:p>
        </p:txBody>
      </p:sp>
      <p:sp>
        <p:nvSpPr>
          <p:cNvPr id="27" name="Rounded Rectangle 26"/>
          <p:cNvSpPr/>
          <p:nvPr/>
        </p:nvSpPr>
        <p:spPr>
          <a:xfrm>
            <a:off x="432000"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性格（集団／個別の判定）</a:t>
            </a:r>
          </a:p>
        </p:txBody>
      </p:sp>
      <p:sp>
        <p:nvSpPr>
          <p:cNvPr id="28" name="Rounded Rectangle 27"/>
          <p:cNvSpPr/>
          <p:nvPr/>
        </p:nvSpPr>
        <p:spPr>
          <a:xfrm>
            <a:off x="432000"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いつから（温度）</a:t>
            </a:r>
          </a:p>
        </p:txBody>
      </p:sp>
      <p:sp>
        <p:nvSpPr>
          <p:cNvPr id="29" name="Rounded Rectangle 28"/>
          <p:cNvSpPr/>
          <p:nvPr/>
        </p:nvSpPr>
        <p:spPr>
          <a:xfrm>
            <a:off x="3499199"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② 行動タグ（LINEでの行動）</a:t>
            </a:r>
          </a:p>
        </p:txBody>
      </p:sp>
      <p:sp>
        <p:nvSpPr>
          <p:cNvPr id="30" name="Rounded Rectangle 29"/>
          <p:cNvSpPr/>
          <p:nvPr/>
        </p:nvSpPr>
        <p:spPr>
          <a:xfrm>
            <a:off x="3499199"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どのボタンを押したか</a:t>
            </a:r>
          </a:p>
        </p:txBody>
      </p:sp>
      <p:sp>
        <p:nvSpPr>
          <p:cNvPr id="31" name="Rounded Rectangle 30"/>
          <p:cNvSpPr/>
          <p:nvPr/>
        </p:nvSpPr>
        <p:spPr>
          <a:xfrm>
            <a:off x="3499199"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資料請求したか</a:t>
            </a:r>
          </a:p>
        </p:txBody>
      </p:sp>
      <p:sp>
        <p:nvSpPr>
          <p:cNvPr id="32" name="Rounded Rectangle 31"/>
          <p:cNvSpPr/>
          <p:nvPr/>
        </p:nvSpPr>
        <p:spPr>
          <a:xfrm>
            <a:off x="3499199"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体験予約したか・来たか</a:t>
            </a:r>
          </a:p>
        </p:txBody>
      </p:sp>
      <p:sp>
        <p:nvSpPr>
          <p:cNvPr id="33" name="Rounded Rectangle 32"/>
          <p:cNvSpPr/>
          <p:nvPr/>
        </p:nvSpPr>
        <p:spPr>
          <a:xfrm>
            <a:off x="3499199"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配信を開いているか</a:t>
            </a:r>
          </a:p>
        </p:txBody>
      </p:sp>
      <p:sp>
        <p:nvSpPr>
          <p:cNvPr id="34" name="Rounded Rectangle 33"/>
          <p:cNvSpPr/>
          <p:nvPr/>
        </p:nvSpPr>
        <p:spPr>
          <a:xfrm>
            <a:off x="6566399" y="2628000"/>
            <a:ext cx="29088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何ができるようになるか</a:t>
            </a:r>
          </a:p>
        </p:txBody>
      </p:sp>
      <p:sp>
        <p:nvSpPr>
          <p:cNvPr id="35" name="Rounded Rectangle 34"/>
          <p:cNvSpPr/>
          <p:nvPr/>
        </p:nvSpPr>
        <p:spPr>
          <a:xfrm>
            <a:off x="6566399" y="29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中3で「受験対策」→ 高校受験の情報を中心に</a:t>
            </a:r>
          </a:p>
        </p:txBody>
      </p:sp>
      <p:sp>
        <p:nvSpPr>
          <p:cNvPr id="36" name="Rounded Rectangle 35"/>
          <p:cNvSpPr/>
          <p:nvPr/>
        </p:nvSpPr>
        <p:spPr>
          <a:xfrm>
            <a:off x="6566399" y="34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「質問するのが苦手」→ 個別指導の事例を中心に</a:t>
            </a:r>
          </a:p>
        </p:txBody>
      </p:sp>
      <p:sp>
        <p:nvSpPr>
          <p:cNvPr id="37" name="Rounded Rectangle 36"/>
          <p:cNvSpPr/>
          <p:nvPr/>
        </p:nvSpPr>
        <p:spPr>
          <a:xfrm>
            <a:off x="6566399" y="38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資料請求したが予約なし → 体験の案内を追加で</a:t>
            </a:r>
          </a:p>
        </p:txBody>
      </p:sp>
      <p:sp>
        <p:nvSpPr>
          <p:cNvPr id="38" name="Rounded Rectangle 37"/>
          <p:cNvSpPr/>
          <p:nvPr/>
        </p:nvSpPr>
        <p:spPr>
          <a:xfrm>
            <a:off x="6566399" y="43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「情報収集だけ」→ ご案内は控え、週1回の情報のみ</a:t>
            </a:r>
          </a:p>
        </p:txBody>
      </p:sp>
      <p:sp>
        <p:nvSpPr>
          <p:cNvPr id="39"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※明光義塾は、アンケートの回答をもとに「まだ塾に通っていない」お子さま・保護者に絞って配信していた（公式事例・P27）</a:t>
            </a:r>
          </a:p>
        </p:txBody>
      </p:sp>
      <p:sp>
        <p:nvSpPr>
          <p:cNvPr id="40" name="Rectangle 39"/>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マネタイズ最大化</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ステップ配信｜体験予約から入会まで</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体験を予約しても、当日来られない方がいる。理由として多いのは「忘れた」「持ち物が不安」「変更の仕方が分からない」。</a:t>
            </a:r>
          </a:p>
          <a:p>
            <a:pPr algn="l">
              <a:lnSpc>
                <a:spcPct val="128000"/>
              </a:lnSpc>
            </a:pPr>
            <a:r>
              <a:rPr sz="1200">
                <a:solidFill>
                  <a:srgbClr val="333333"/>
                </a:solidFill>
                <a:latin typeface="メイリオ"/>
                <a:ea typeface="メイリオ"/>
                <a:cs typeface="メイリオ"/>
              </a:rPr>
              <a:t>前日までに先回りしてご案内し、体験への来塾と入会につなげる。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※体験に来られない割合・改善の幅は、貴塾の実績をもとに確認する</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体験を予約しても、</a:t>
            </a:r>
          </a:p>
          <a:p>
            <a:pPr algn="l"/>
            <a:r>
              <a:rPr sz="1000" b="0">
                <a:solidFill>
                  <a:srgbClr val="333333"/>
                </a:solidFill>
                <a:latin typeface="メイリオ"/>
                <a:ea typeface="メイリオ"/>
                <a:cs typeface="メイリオ"/>
              </a:rPr>
              <a:t>当日来られない方がいる</a:t>
            </a:r>
          </a:p>
          <a:p>
            <a:pPr algn="l"/>
            <a:r>
              <a:rPr sz="1000" b="0">
                <a:solidFill>
                  <a:srgbClr val="333333"/>
                </a:solidFill>
                <a:latin typeface="メイリオ"/>
                <a:ea typeface="メイリオ"/>
                <a:cs typeface="メイリオ"/>
              </a:rPr>
              <a:t>（割合は貴塾の実績で確認）</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来られない理由を、</a:t>
            </a:r>
          </a:p>
          <a:p>
            <a:pPr algn="l"/>
            <a:r>
              <a:rPr sz="1000" b="0">
                <a:solidFill>
                  <a:srgbClr val="333333"/>
                </a:solidFill>
                <a:latin typeface="メイリオ"/>
                <a:ea typeface="メイリオ"/>
                <a:cs typeface="メイリオ"/>
              </a:rPr>
              <a:t>前日までに先回りして解消する</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予約の直後から翌日まで、</a:t>
            </a:r>
          </a:p>
          <a:p>
            <a:pPr algn="l"/>
            <a:r>
              <a:rPr sz="1000" b="0">
                <a:solidFill>
                  <a:srgbClr val="FFFFFF"/>
                </a:solidFill>
                <a:latin typeface="メイリオ"/>
                <a:ea typeface="メイリオ"/>
                <a:cs typeface="メイリオ"/>
              </a:rPr>
              <a:t>LINEで5回自動で届ける</a:t>
            </a:r>
          </a:p>
        </p:txBody>
      </p:sp>
      <p:cxnSp>
        <p:nvCxnSpPr>
          <p:cNvPr id="51" name="Connector 50"/>
          <p:cNvCxnSpPr/>
          <p:nvPr/>
        </p:nvCxnSpPr>
        <p:spPr>
          <a:xfrm>
            <a:off x="576000" y="2880000"/>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21031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3" name="Rectangle 52"/>
          <p:cNvSpPr/>
          <p:nvPr/>
        </p:nvSpPr>
        <p:spPr>
          <a:xfrm>
            <a:off x="43200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予約した直後</a:t>
            </a:r>
          </a:p>
        </p:txBody>
      </p:sp>
      <p:sp>
        <p:nvSpPr>
          <p:cNvPr id="54" name="Rounded Rectangle 53"/>
          <p:cNvSpPr/>
          <p:nvPr/>
        </p:nvSpPr>
        <p:spPr>
          <a:xfrm>
            <a:off x="48599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予約内容の確認</a:t>
            </a:r>
          </a:p>
          <a:p>
            <a:pPr algn="ctr"/>
            <a:r>
              <a:rPr sz="1000" b="0">
                <a:solidFill>
                  <a:srgbClr val="333333"/>
                </a:solidFill>
                <a:latin typeface="メイリオ"/>
                <a:ea typeface="メイリオ"/>
                <a:cs typeface="メイリオ"/>
              </a:rPr>
              <a:t>カレンダー登録</a:t>
            </a:r>
          </a:p>
        </p:txBody>
      </p:sp>
      <p:sp>
        <p:nvSpPr>
          <p:cNvPr id="55" name="Oval 54"/>
          <p:cNvSpPr/>
          <p:nvPr/>
        </p:nvSpPr>
        <p:spPr>
          <a:xfrm>
            <a:off x="301896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6" name="Rectangle 55"/>
          <p:cNvSpPr/>
          <p:nvPr/>
        </p:nvSpPr>
        <p:spPr>
          <a:xfrm>
            <a:off x="224064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2日前</a:t>
            </a:r>
          </a:p>
        </p:txBody>
      </p:sp>
      <p:sp>
        <p:nvSpPr>
          <p:cNvPr id="57" name="Rounded Rectangle 56"/>
          <p:cNvSpPr/>
          <p:nvPr/>
        </p:nvSpPr>
        <p:spPr>
          <a:xfrm>
            <a:off x="229464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担当講師の紹介</a:t>
            </a:r>
          </a:p>
          <a:p>
            <a:pPr algn="ctr"/>
            <a:r>
              <a:rPr sz="1000" b="0">
                <a:solidFill>
                  <a:srgbClr val="333333"/>
                </a:solidFill>
                <a:latin typeface="メイリオ"/>
                <a:ea typeface="メイリオ"/>
                <a:cs typeface="メイリオ"/>
              </a:rPr>
              <a:t>顔写真とひとこと</a:t>
            </a:r>
          </a:p>
        </p:txBody>
      </p:sp>
      <p:sp>
        <p:nvSpPr>
          <p:cNvPr id="58" name="Oval 57"/>
          <p:cNvSpPr/>
          <p:nvPr/>
        </p:nvSpPr>
        <p:spPr>
          <a:xfrm>
            <a:off x="482760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ectangle 58"/>
          <p:cNvSpPr/>
          <p:nvPr/>
        </p:nvSpPr>
        <p:spPr>
          <a:xfrm>
            <a:off x="404927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前日</a:t>
            </a:r>
          </a:p>
        </p:txBody>
      </p:sp>
      <p:sp>
        <p:nvSpPr>
          <p:cNvPr id="60" name="Rounded Rectangle 59"/>
          <p:cNvSpPr/>
          <p:nvPr/>
        </p:nvSpPr>
        <p:spPr>
          <a:xfrm>
            <a:off x="410328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持ち物・アクセス</a:t>
            </a:r>
          </a:p>
          <a:p>
            <a:pPr algn="ctr"/>
            <a:r>
              <a:rPr sz="1000" b="0">
                <a:solidFill>
                  <a:srgbClr val="333333"/>
                </a:solidFill>
                <a:latin typeface="メイリオ"/>
                <a:ea typeface="メイリオ"/>
                <a:cs typeface="メイリオ"/>
              </a:rPr>
              <a:t>日程の変更方法</a:t>
            </a:r>
          </a:p>
        </p:txBody>
      </p:sp>
      <p:sp>
        <p:nvSpPr>
          <p:cNvPr id="61" name="Oval 60"/>
          <p:cNvSpPr/>
          <p:nvPr/>
        </p:nvSpPr>
        <p:spPr>
          <a:xfrm>
            <a:off x="663623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2" name="Rectangle 61"/>
          <p:cNvSpPr/>
          <p:nvPr/>
        </p:nvSpPr>
        <p:spPr>
          <a:xfrm>
            <a:off x="585791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当日2時間前</a:t>
            </a:r>
          </a:p>
        </p:txBody>
      </p:sp>
      <p:sp>
        <p:nvSpPr>
          <p:cNvPr id="63" name="Rounded Rectangle 62"/>
          <p:cNvSpPr/>
          <p:nvPr/>
        </p:nvSpPr>
        <p:spPr>
          <a:xfrm>
            <a:off x="591191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「お待ちしています」</a:t>
            </a:r>
          </a:p>
          <a:p>
            <a:pPr algn="ctr"/>
            <a:r>
              <a:rPr sz="1000" b="0">
                <a:solidFill>
                  <a:srgbClr val="333333"/>
                </a:solidFill>
                <a:latin typeface="メイリオ"/>
                <a:ea typeface="メイリオ"/>
                <a:cs typeface="メイリオ"/>
              </a:rPr>
              <a:t>短い一言</a:t>
            </a:r>
          </a:p>
        </p:txBody>
      </p:sp>
      <p:sp>
        <p:nvSpPr>
          <p:cNvPr id="64" name="Oval 63"/>
          <p:cNvSpPr/>
          <p:nvPr/>
        </p:nvSpPr>
        <p:spPr>
          <a:xfrm>
            <a:off x="8444880" y="2754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5" name="Rectangle 64"/>
          <p:cNvSpPr/>
          <p:nvPr/>
        </p:nvSpPr>
        <p:spPr>
          <a:xfrm>
            <a:off x="766656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00897B"/>
                </a:solidFill>
                <a:latin typeface="メイリオ"/>
                <a:ea typeface="メイリオ"/>
                <a:cs typeface="メイリオ"/>
              </a:rPr>
              <a:t>翌日</a:t>
            </a:r>
          </a:p>
        </p:txBody>
      </p:sp>
      <p:sp>
        <p:nvSpPr>
          <p:cNvPr id="66" name="Rounded Rectangle 65"/>
          <p:cNvSpPr/>
          <p:nvPr/>
        </p:nvSpPr>
        <p:spPr>
          <a:xfrm>
            <a:off x="772055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お礼＋診断結果</a:t>
            </a:r>
          </a:p>
          <a:p>
            <a:pPr algn="ctr"/>
            <a:r>
              <a:rPr sz="1000" b="0">
                <a:solidFill>
                  <a:srgbClr val="333333"/>
                </a:solidFill>
                <a:latin typeface="メイリオ"/>
                <a:ea typeface="メイリオ"/>
                <a:cs typeface="メイリオ"/>
              </a:rPr>
              <a:t>入会のご相談はこちら</a:t>
            </a:r>
          </a:p>
        </p:txBody>
      </p:sp>
      <p:sp>
        <p:nvSpPr>
          <p:cNvPr id="67" name="Rectangle 66"/>
          <p:cNvSpPr/>
          <p:nvPr/>
        </p:nvSpPr>
        <p:spPr>
          <a:xfrm>
            <a:off x="432000" y="3761999"/>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前日のメッセージ（実文）</a:t>
            </a:r>
          </a:p>
        </p:txBody>
      </p:sp>
      <p:sp>
        <p:nvSpPr>
          <p:cNvPr id="68" name="Rectangle 67"/>
          <p:cNvSpPr/>
          <p:nvPr/>
        </p:nvSpPr>
        <p:spPr>
          <a:xfrm>
            <a:off x="432000" y="3996000"/>
            <a:ext cx="5040000" cy="212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9" name="Rounded Rectangle 68"/>
          <p:cNvSpPr/>
          <p:nvPr/>
        </p:nvSpPr>
        <p:spPr>
          <a:xfrm>
            <a:off x="540000" y="4068000"/>
            <a:ext cx="4824000" cy="198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【明日◯時〜】体験授業のご確認です😊</a:t>
            </a:r>
          </a:p>
          <a:p>
            <a:pPr algn="l"/>
            <a:r>
              <a:rPr sz="950" b="0">
                <a:solidFill>
                  <a:srgbClr val="333333"/>
                </a:solidFill>
                <a:latin typeface="メイリオ"/>
                <a:ea typeface="メイリオ"/>
                <a:cs typeface="メイリオ"/>
              </a:rPr>
              <a:t>◯◯塾 △△教室（地図はこちら▼）</a:t>
            </a:r>
          </a:p>
          <a:p>
            <a:pPr algn="l"/>
            <a:r>
              <a:rPr sz="950" b="0">
                <a:solidFill>
                  <a:srgbClr val="333333"/>
                </a:solidFill>
                <a:latin typeface="メイリオ"/>
                <a:ea typeface="メイリオ"/>
                <a:cs typeface="メイリオ"/>
              </a:rPr>
              <a:t>✏️ 持ち物：筆記用具だけでOK（教材はご用意します）</a:t>
            </a:r>
          </a:p>
          <a:p>
            <a:pPr algn="l"/>
            <a:r>
              <a:rPr sz="950" b="0">
                <a:solidFill>
                  <a:srgbClr val="333333"/>
                </a:solidFill>
                <a:latin typeface="メイリオ"/>
                <a:ea typeface="メイリオ"/>
                <a:cs typeface="メイリオ"/>
              </a:rPr>
              <a:t>🚲 駐輪場：教室裏にあります</a:t>
            </a:r>
          </a:p>
          <a:p>
            <a:pPr algn="l"/>
            <a:r>
              <a:rPr sz="950" b="0">
                <a:solidFill>
                  <a:srgbClr val="333333"/>
                </a:solidFill>
                <a:latin typeface="メイリオ"/>
                <a:ea typeface="メイリオ"/>
                <a:cs typeface="メイリオ"/>
              </a:rPr>
              <a:t>👪 保護者さまは「見学」でも「面談だけ」でも大丈夫です</a:t>
            </a:r>
          </a:p>
          <a:p>
            <a:pPr algn="l"/>
            <a:endParaRPr sz="950" b="0">
              <a:solidFill>
                <a:srgbClr val="333333"/>
              </a:solidFill>
              <a:latin typeface="メイリオ"/>
              <a:ea typeface="メイリオ"/>
              <a:cs typeface="メイリオ"/>
            </a:endParaRPr>
          </a:p>
          <a:p>
            <a:pPr algn="l"/>
            <a:r>
              <a:rPr sz="950" b="0">
                <a:solidFill>
                  <a:srgbClr val="333333"/>
                </a:solidFill>
                <a:latin typeface="メイリオ"/>
                <a:ea typeface="メイリオ"/>
                <a:cs typeface="メイリオ"/>
              </a:rPr>
              <a:t>ご都合が変わったら、このトークに「変更」と送って</a:t>
            </a:r>
          </a:p>
          <a:p>
            <a:pPr algn="l"/>
            <a:r>
              <a:rPr sz="950" b="0">
                <a:solidFill>
                  <a:srgbClr val="333333"/>
                </a:solidFill>
                <a:latin typeface="メイリオ"/>
                <a:ea typeface="メイリオ"/>
                <a:cs typeface="メイリオ"/>
              </a:rPr>
              <a:t>ください。別の日程をご案内します。</a:t>
            </a:r>
          </a:p>
          <a:p>
            <a:pPr algn="l"/>
            <a:r>
              <a:rPr sz="950" b="0">
                <a:solidFill>
                  <a:srgbClr val="333333"/>
                </a:solidFill>
                <a:latin typeface="メイリオ"/>
                <a:ea typeface="メイリオ"/>
                <a:cs typeface="メイリオ"/>
              </a:rPr>
              <a:t>（キャンセル料はありません）</a:t>
            </a:r>
          </a:p>
        </p:txBody>
      </p:sp>
      <p:sp>
        <p:nvSpPr>
          <p:cNvPr id="70" name="Rounded Rectangle 69"/>
          <p:cNvSpPr/>
          <p:nvPr/>
        </p:nvSpPr>
        <p:spPr>
          <a:xfrm>
            <a:off x="5652000" y="3996000"/>
            <a:ext cx="3823199" cy="1007999"/>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333333"/>
                </a:solidFill>
                <a:latin typeface="メイリオ"/>
                <a:ea typeface="メイリオ"/>
                <a:cs typeface="メイリオ"/>
              </a:rPr>
              <a:t>「キャンセル料はありません」を必ず書く</a:t>
            </a:r>
          </a:p>
          <a:p>
            <a:pPr algn="l"/>
            <a:r>
              <a:rPr sz="1200" b="0">
                <a:solidFill>
                  <a:srgbClr val="333333"/>
                </a:solidFill>
                <a:latin typeface="メイリオ"/>
                <a:ea typeface="メイリオ"/>
                <a:cs typeface="メイリオ"/>
              </a:rPr>
              <a:t>変更・キャンセルの自由を先に伝えたほうが、</a:t>
            </a:r>
          </a:p>
          <a:p>
            <a:pPr algn="l"/>
            <a:r>
              <a:rPr sz="1200" b="0">
                <a:solidFill>
                  <a:srgbClr val="333333"/>
                </a:solidFill>
                <a:latin typeface="メイリオ"/>
                <a:ea typeface="メイリオ"/>
                <a:cs typeface="メイリオ"/>
              </a:rPr>
              <a:t>体験に来ていただきやすい</a:t>
            </a:r>
          </a:p>
        </p:txBody>
      </p:sp>
      <p:sp>
        <p:nvSpPr>
          <p:cNvPr id="71" name="Rounded Rectangle 70"/>
          <p:cNvSpPr/>
          <p:nvPr/>
        </p:nvSpPr>
        <p:spPr>
          <a:xfrm>
            <a:off x="5652000" y="5112000"/>
            <a:ext cx="3823199" cy="1007999"/>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翌日のメッセージで入会へ</a:t>
            </a:r>
          </a:p>
          <a:p>
            <a:pPr algn="l"/>
            <a:r>
              <a:rPr sz="1200" b="0">
                <a:solidFill>
                  <a:srgbClr val="333333"/>
                </a:solidFill>
                <a:latin typeface="メイリオ"/>
                <a:ea typeface="メイリオ"/>
                <a:cs typeface="メイリオ"/>
              </a:rPr>
              <a:t>お礼と診断結果を送り、入会の相談は</a:t>
            </a:r>
          </a:p>
          <a:p>
            <a:pPr algn="l"/>
            <a:r>
              <a:rPr sz="1200" b="0">
                <a:solidFill>
                  <a:srgbClr val="333333"/>
                </a:solidFill>
                <a:latin typeface="メイリオ"/>
                <a:ea typeface="メイリオ"/>
                <a:cs typeface="メイリオ"/>
              </a:rPr>
              <a:t>LINEで受け付けて教室へつなぐ</a:t>
            </a:r>
          </a:p>
        </p:txBody>
      </p:sp>
      <p:sp>
        <p:nvSpPr>
          <p:cNvPr id="72" name="Rectangle 71"/>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CPOの改善（CV質）</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具体企画の構成｜過去に問い合わせた保護者へ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塾には、資料請求や体験だけで止まった保護者の連絡先が残っている。</a:t>
            </a:r>
          </a:p>
          <a:p>
            <a:pPr algn="l">
              <a:lnSpc>
                <a:spcPct val="128000"/>
              </a:lnSpc>
            </a:pPr>
            <a:r>
              <a:rPr sz="1200">
                <a:solidFill>
                  <a:srgbClr val="333333"/>
                </a:solidFill>
                <a:latin typeface="メイリオ"/>
                <a:ea typeface="メイリオ"/>
                <a:cs typeface="メイリオ"/>
              </a:rPr>
              <a:t>講習の時期に合わせて、もう一度ご案内する。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通知メッセージは別途費用。利用条件・単価はLINEヤフーの規定で変わるため、要件定義の際に最新の条件を確認する</a:t>
            </a:r>
          </a:p>
        </p:txBody>
      </p:sp>
      <p:sp>
        <p:nvSpPr>
          <p:cNvPr id="28" name="Pentagon 2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6" name="Rounded Rectangle 3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ounded Rectangle 3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8" name="Rectangle 3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資料請求や体験だけで止まった</a:t>
            </a:r>
          </a:p>
          <a:p>
            <a:pPr algn="l"/>
            <a:r>
              <a:rPr sz="1200" b="0">
                <a:solidFill>
                  <a:srgbClr val="333333"/>
                </a:solidFill>
                <a:latin typeface="メイリオ"/>
                <a:ea typeface="メイリオ"/>
                <a:cs typeface="メイリオ"/>
              </a:rPr>
              <a:t>保護者の電話番号が残っている</a:t>
            </a:r>
          </a:p>
        </p:txBody>
      </p:sp>
      <p:cxnSp>
        <p:nvCxnSpPr>
          <p:cNvPr id="39" name="Connector 3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2" name="Rectangle 4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講習の時期に合わせて、</a:t>
            </a:r>
          </a:p>
          <a:p>
            <a:pPr algn="l"/>
            <a:r>
              <a:rPr sz="1200" b="0">
                <a:solidFill>
                  <a:srgbClr val="333333"/>
                </a:solidFill>
                <a:latin typeface="メイリオ"/>
                <a:ea typeface="メイリオ"/>
                <a:cs typeface="メイリオ"/>
              </a:rPr>
              <a:t>もう一度ご案内する</a:t>
            </a:r>
          </a:p>
        </p:txBody>
      </p:sp>
      <p:cxnSp>
        <p:nvCxnSpPr>
          <p:cNvPr id="43" name="Connector 4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6" name="Rectangle 4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通知メッセージ（電話番号で</a:t>
            </a:r>
          </a:p>
          <a:p>
            <a:pPr algn="l"/>
            <a:r>
              <a:rPr sz="1200" b="0">
                <a:solidFill>
                  <a:srgbClr val="FFFFFF"/>
                </a:solidFill>
                <a:latin typeface="メイリオ"/>
                <a:ea typeface="メイリオ"/>
                <a:cs typeface="メイリオ"/>
              </a:rPr>
              <a:t>LINEに届く機能）で再案内</a:t>
            </a:r>
          </a:p>
        </p:txBody>
      </p:sp>
      <p:sp>
        <p:nvSpPr>
          <p:cNvPr id="47" name="Rounded Rectangle 46"/>
          <p:cNvSpPr/>
          <p:nvPr/>
        </p:nvSpPr>
        <p:spPr>
          <a:xfrm>
            <a:off x="432000" y="2664000"/>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資料請求だけで止まっている保護者</a:t>
            </a:r>
          </a:p>
          <a:p>
            <a:pPr algn="l"/>
            <a:r>
              <a:rPr sz="1200" b="0">
                <a:solidFill>
                  <a:srgbClr val="333333"/>
                </a:solidFill>
                <a:latin typeface="メイリオ"/>
                <a:ea typeface="メイリオ"/>
                <a:cs typeface="メイリオ"/>
              </a:rPr>
              <a:t>資料は読んだが、体験に進まなかった</a:t>
            </a:r>
          </a:p>
        </p:txBody>
      </p:sp>
      <p:sp>
        <p:nvSpPr>
          <p:cNvPr id="48" name="Rounded Rectangle 47"/>
          <p:cNvSpPr/>
          <p:nvPr/>
        </p:nvSpPr>
        <p:spPr>
          <a:xfrm>
            <a:off x="432000" y="3491999"/>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体験に来たが、入会しなかった保護者</a:t>
            </a:r>
          </a:p>
          <a:p>
            <a:pPr algn="l"/>
            <a:r>
              <a:rPr sz="1200" b="0">
                <a:solidFill>
                  <a:srgbClr val="333333"/>
                </a:solidFill>
                <a:latin typeface="メイリオ"/>
                <a:ea typeface="メイリオ"/>
                <a:cs typeface="メイリオ"/>
              </a:rPr>
              <a:t>時期が合わなかった・迷っていた</a:t>
            </a:r>
          </a:p>
        </p:txBody>
      </p:sp>
      <p:sp>
        <p:nvSpPr>
          <p:cNvPr id="49" name="Rectangle 48"/>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送るタイミング</a:t>
            </a:r>
          </a:p>
        </p:txBody>
      </p:sp>
      <p:sp>
        <p:nvSpPr>
          <p:cNvPr id="50" name="Rounded Rectangle 49"/>
          <p:cNvSpPr/>
          <p:nvPr/>
        </p:nvSpPr>
        <p:spPr>
          <a:xfrm>
            <a:off x="5047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夏期講習の前</a:t>
            </a:r>
          </a:p>
        </p:txBody>
      </p:sp>
      <p:sp>
        <p:nvSpPr>
          <p:cNvPr id="51" name="Rounded Rectangle 50"/>
          <p:cNvSpPr/>
          <p:nvPr/>
        </p:nvSpPr>
        <p:spPr>
          <a:xfrm>
            <a:off x="6559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冬期講習の前</a:t>
            </a:r>
          </a:p>
        </p:txBody>
      </p:sp>
      <p:sp>
        <p:nvSpPr>
          <p:cNvPr id="52" name="Rounded Rectangle 51"/>
          <p:cNvSpPr/>
          <p:nvPr/>
        </p:nvSpPr>
        <p:spPr>
          <a:xfrm>
            <a:off x="8071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新学年の前</a:t>
            </a:r>
          </a:p>
        </p:txBody>
      </p:sp>
      <p:sp>
        <p:nvSpPr>
          <p:cNvPr id="53" name="Rounded Rectangle 52"/>
          <p:cNvSpPr/>
          <p:nvPr/>
        </p:nvSpPr>
        <p:spPr>
          <a:xfrm>
            <a:off x="5047200" y="3456000"/>
            <a:ext cx="4428000" cy="756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0">
                <a:solidFill>
                  <a:srgbClr val="333333"/>
                </a:solidFill>
                <a:latin typeface="メイリオ"/>
                <a:ea typeface="メイリオ"/>
                <a:cs typeface="メイリオ"/>
              </a:rPr>
              <a:t>例：「夏期講習のご案内です。以前いただいた資料請求の</a:t>
            </a:r>
          </a:p>
          <a:p>
            <a:pPr algn="l"/>
            <a:r>
              <a:rPr sz="1100" b="0">
                <a:solidFill>
                  <a:srgbClr val="333333"/>
                </a:solidFill>
                <a:latin typeface="メイリオ"/>
                <a:ea typeface="メイリオ"/>
                <a:cs typeface="メイリオ"/>
              </a:rPr>
              <a:t>内容をもとに、お子さまの学年に合うコースをお送りします」</a:t>
            </a:r>
          </a:p>
        </p:txBody>
      </p:sp>
      <p:sp>
        <p:nvSpPr>
          <p:cNvPr id="54" name="Rounded Rectangle 53"/>
          <p:cNvSpPr/>
          <p:nvPr/>
        </p:nvSpPr>
        <p:spPr>
          <a:xfrm>
            <a:off x="432000" y="4428000"/>
            <a:ext cx="9043200" cy="864000"/>
          </a:xfrm>
          <a:prstGeom prst="roundRect">
            <a:avLst>
              <a:gd name="adj" fmla="val 8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注意すること</a:t>
            </a:r>
          </a:p>
          <a:p>
            <a:pPr algn="l"/>
            <a:r>
              <a:rPr sz="1200" b="0">
                <a:solidFill>
                  <a:srgbClr val="333333"/>
                </a:solidFill>
                <a:latin typeface="メイリオ"/>
                <a:ea typeface="メイリオ"/>
                <a:cs typeface="メイリオ"/>
              </a:rPr>
              <a:t>・関係がはっきりしている相手だけに送る（資料請求・体験をした保護者）</a:t>
            </a:r>
          </a:p>
          <a:p>
            <a:pPr algn="l"/>
            <a:r>
              <a:rPr sz="1200" b="0">
                <a:solidFill>
                  <a:srgbClr val="333333"/>
                </a:solidFill>
                <a:latin typeface="メイリオ"/>
                <a:ea typeface="メイリオ"/>
                <a:cs typeface="メイリオ"/>
              </a:rPr>
              <a:t>・「知らないのに届いた」と思われない文面にする（いつ・何で接点があったかを書く）</a:t>
            </a:r>
          </a:p>
        </p:txBody>
      </p:sp>
      <p:sp>
        <p:nvSpPr>
          <p:cNvPr id="55" name="Rectangle 54"/>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休眠顧客の有効化</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ご提供プラン</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ご予算と最大の課題に合わせて、3つのプランから選べる。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いずれも6か月〜の契約・税抜。開発やツール導入は別途費用。</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29768" y="1600200"/>
            <a:ext cx="2880360" cy="868680"/>
          </a:xfrm>
          <a:prstGeom prst="roundRect">
            <a:avLst>
              <a:gd name="adj" fmla="val 10000"/>
            </a:avLst>
          </a:prstGeom>
          <a:solidFill>
            <a:srgbClr val="1F285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プラン①</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構築から配信の運用まで</a:t>
            </a:r>
            <a:endParaRPr lang="ja-JP" altLang="en-US" sz="2200" dirty="0"/>
          </a:p>
        </p:txBody>
      </p:sp>
      <p:sp>
        <p:nvSpPr>
          <p:cNvPr id="14" name="Rounded Rectangle 13"/>
          <p:cNvSpPr/>
          <p:nvPr/>
        </p:nvSpPr>
        <p:spPr>
          <a:xfrm>
            <a:off x="429768"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5" name="Rectangle 14"/>
          <p:cNvSpPr/>
          <p:nvPr/>
        </p:nvSpPr>
        <p:spPr>
          <a:xfrm>
            <a:off x="594359"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・企画配信 月4〜5本（週1回）</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・ステップ配信 10通</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・API連携なども含めて対応可能</a:t>
            </a:r>
            <a:endParaRPr lang="ja-JP" altLang="en-US" sz="1300" dirty="0"/>
          </a:p>
        </p:txBody>
      </p:sp>
      <p:sp>
        <p:nvSpPr>
          <p:cNvPr id="16" name="Rounded Rectangle 15"/>
          <p:cNvSpPr/>
          <p:nvPr/>
        </p:nvSpPr>
        <p:spPr>
          <a:xfrm>
            <a:off x="429768"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30万円〜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10万円〜</a:t>
            </a:r>
            <a:endParaRPr lang="ja-JP" altLang="en-US" sz="1700" dirty="0"/>
          </a:p>
        </p:txBody>
      </p:sp>
      <p:sp>
        <p:nvSpPr>
          <p:cNvPr id="17" name="Rounded Rectangle 16"/>
          <p:cNvSpPr/>
          <p:nvPr/>
        </p:nvSpPr>
        <p:spPr>
          <a:xfrm>
            <a:off x="3511296" y="1600200"/>
            <a:ext cx="2880360" cy="868680"/>
          </a:xfrm>
          <a:prstGeom prst="roundRect">
            <a:avLst>
              <a:gd name="adj" fmla="val 10000"/>
            </a:avLst>
          </a:prstGeom>
          <a:solidFill>
            <a:srgbClr val="3E5B9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プラン②</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構築＋新しい友だちを増やす</a:t>
            </a:r>
            <a:endParaRPr lang="ja-JP" altLang="en-US" sz="2200" dirty="0"/>
          </a:p>
        </p:txBody>
      </p:sp>
      <p:sp>
        <p:nvSpPr>
          <p:cNvPr id="18" name="Rounded Rectangle 17"/>
          <p:cNvSpPr/>
          <p:nvPr/>
        </p:nvSpPr>
        <p:spPr>
          <a:xfrm>
            <a:off x="3511296"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9" name="Rectangle 18"/>
          <p:cNvSpPr/>
          <p:nvPr/>
        </p:nvSpPr>
        <p:spPr>
          <a:xfrm>
            <a:off x="3675887"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・初期構築</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・企画配信 月1〜2本</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・新しい友だちを増やすツール・機能の導入</a:t>
            </a:r>
            <a:endParaRPr lang="ja-JP" altLang="en-US" sz="1400" dirty="0"/>
          </a:p>
          <a:p>
            <a:pPr marL="146304" indent="-146304" algn="l">
              <a:lnSpc>
                <a:spcPct val="115000"/>
              </a:lnSpc>
              <a:spcAft>
                <a:spcPts val="600"/>
              </a:spcAft>
              <a:buNone/>
            </a:pPr>
            <a:r>
              <a:rPr lang="ja-JP" altLang="en-US" sz="1200" b="0" dirty="0">
                <a:solidFill>
                  <a:srgbClr val="7F7F7F"/>
                </a:solidFill>
                <a:latin typeface="メイリオ" panose="020B0604030504040204" pitchFamily="50" charset="-128"/>
                <a:ea typeface="メイリオ" panose="020B0604030504040204" pitchFamily="50" charset="-128"/>
              </a:rPr>
              <a:t>・例：離脱防止ポップアップ</a:t>
            </a:r>
            <a:endParaRPr lang="ja-JP" altLang="en-US" sz="1400" dirty="0"/>
          </a:p>
        </p:txBody>
      </p:sp>
      <p:sp>
        <p:nvSpPr>
          <p:cNvPr id="20" name="Rounded Rectangle 19"/>
          <p:cNvSpPr/>
          <p:nvPr/>
        </p:nvSpPr>
        <p:spPr>
          <a:xfrm>
            <a:off x="3511296"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5万円〜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5万円〜</a:t>
            </a:r>
            <a:endParaRPr lang="ja-JP" altLang="en-US" sz="1700" dirty="0"/>
          </a:p>
        </p:txBody>
      </p:sp>
      <p:sp>
        <p:nvSpPr>
          <p:cNvPr id="21" name="Rounded Rectangle 20"/>
          <p:cNvSpPr/>
          <p:nvPr/>
        </p:nvSpPr>
        <p:spPr>
          <a:xfrm>
            <a:off x="6592824" y="1600200"/>
            <a:ext cx="2880360" cy="868680"/>
          </a:xfrm>
          <a:prstGeom prst="roundRect">
            <a:avLst>
              <a:gd name="adj" fmla="val 10000"/>
            </a:avLst>
          </a:prstGeom>
          <a:solidFill>
            <a:srgbClr val="C9D3E6"/>
          </a:solidFill>
          <a:ln>
            <a:noFill/>
          </a:ln>
        </p:spPr>
        <p:txBody>
          <a:bodyPr wrap="square" lIns="54864" tIns="18288" rIns="54864" bIns="36576" rtlCol="0" anchor="ctr">
            <a:noAutofit/>
          </a:bodyPr>
          <a:lstStyle/>
          <a:p>
            <a:pPr algn="ctr">
              <a:lnSpc>
                <a:spcPct val="100000"/>
              </a:lnSpc>
              <a:buNone/>
            </a:pPr>
            <a:r>
              <a:rPr lang="ja-JP" altLang="en-US" sz="2200" b="1" dirty="0">
                <a:solidFill>
                  <a:srgbClr val="1F285A"/>
                </a:solidFill>
                <a:latin typeface="メイリオ" panose="020B0604030504040204" pitchFamily="50" charset="-128"/>
                <a:ea typeface="メイリオ" panose="020B0604030504040204" pitchFamily="50" charset="-128"/>
              </a:rPr>
              <a:t>プラン③</a:t>
            </a:r>
            <a:endParaRPr lang="ja-JP" altLang="en-US" sz="2200" dirty="0"/>
          </a:p>
          <a:p>
            <a:pPr algn="ctr">
              <a:lnSpc>
                <a:spcPct val="100000"/>
              </a:lnSpc>
              <a:buNone/>
            </a:pPr>
            <a:r>
              <a:rPr lang="ja-JP" altLang="en-US" sz="1150" b="0" dirty="0">
                <a:solidFill>
                  <a:srgbClr val="1F285A"/>
                </a:solidFill>
                <a:latin typeface="メイリオ" panose="020B0604030504040204" pitchFamily="50" charset="-128"/>
                <a:ea typeface="メイリオ" panose="020B0604030504040204" pitchFamily="50" charset="-128"/>
              </a:rPr>
              <a:t>ツールの導入を支援</a:t>
            </a:r>
            <a:endParaRPr lang="ja-JP" altLang="en-US" sz="2200" dirty="0"/>
          </a:p>
        </p:txBody>
      </p:sp>
      <p:sp>
        <p:nvSpPr>
          <p:cNvPr id="22" name="Rounded Rectangle 21"/>
          <p:cNvSpPr/>
          <p:nvPr/>
        </p:nvSpPr>
        <p:spPr>
          <a:xfrm>
            <a:off x="6592824"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ectangle 22"/>
          <p:cNvSpPr/>
          <p:nvPr/>
        </p:nvSpPr>
        <p:spPr>
          <a:xfrm>
            <a:off x="6757416"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・ツールの導入支援</a:t>
            </a:r>
            <a:endParaRPr lang="ja-JP" altLang="en-US" sz="1400" dirty="0"/>
          </a:p>
          <a:p>
            <a:pPr marL="146304" indent="-146304" algn="l">
              <a:lnSpc>
                <a:spcPct val="115000"/>
              </a:lnSpc>
              <a:spcAft>
                <a:spcPts val="600"/>
              </a:spcAft>
              <a:buNone/>
            </a:pPr>
            <a:r>
              <a:rPr lang="ja-JP" altLang="en-US" sz="1200" b="0" dirty="0">
                <a:solidFill>
                  <a:srgbClr val="7F7F7F"/>
                </a:solidFill>
                <a:latin typeface="メイリオ" panose="020B0604030504040204" pitchFamily="50" charset="-128"/>
                <a:ea typeface="メイリオ" panose="020B0604030504040204" pitchFamily="50" charset="-128"/>
              </a:rPr>
              <a:t>・例：サンクスLINE誘導のみ（申し込み完了画面からLINEへ）</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・初期構築</a:t>
            </a:r>
            <a:endParaRPr lang="ja-JP" altLang="en-US" sz="1400" dirty="0"/>
          </a:p>
        </p:txBody>
      </p:sp>
      <p:sp>
        <p:nvSpPr>
          <p:cNvPr id="24" name="Rounded Rectangle 23"/>
          <p:cNvSpPr/>
          <p:nvPr/>
        </p:nvSpPr>
        <p:spPr>
          <a:xfrm>
            <a:off x="6592824"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3万円〜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15万円</a:t>
            </a:r>
            <a:endParaRPr lang="ja-JP" alt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初期：15万円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設定地点追加</a:t>
            </a:r>
            <a:endParaRPr sz="1050" b="1" i="0" u="none" strike="noStrike" cap="none" dirty="0">
              <a:solidFill>
                <a:srgbClr val="FFFFFF"/>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体制</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配信の実務（原稿・制作・設定・分析）は弊社が担当する。</a:t>
            </a:r>
          </a:p>
          <a:p>
            <a:pPr algn="l">
              <a:lnSpc>
                <a:spcPct val="128000"/>
              </a:lnSpc>
            </a:pPr>
            <a:r>
              <a:rPr sz="1200">
                <a:solidFill>
                  <a:srgbClr val="333333"/>
                </a:solidFill>
                <a:latin typeface="メイリオ"/>
                <a:ea typeface="メイリオ"/>
                <a:cs typeface="メイリオ"/>
              </a:rPr>
              <a:t>貴塾にお願いするのは、教室の情報のご提供と、月1回の定例会へのご参加のみ。</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20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DYM｜運用統括</a:t>
            </a:r>
          </a:p>
        </p:txBody>
      </p:sp>
      <p:sp>
        <p:nvSpPr>
          <p:cNvPr id="7" name="TextBox 6"/>
          <p:cNvSpPr txBox="1"/>
          <p:nvPr/>
        </p:nvSpPr>
        <p:spPr>
          <a:xfrm>
            <a:off x="5400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・全体設計・KPI管理</a:t>
            </a:r>
          </a:p>
          <a:p>
            <a:pPr algn="l">
              <a:lnSpc>
                <a:spcPct val="130000"/>
              </a:lnSpc>
              <a:spcAft>
                <a:spcPts val="600"/>
              </a:spcAft>
            </a:pPr>
            <a:r>
              <a:rPr sz="1000">
                <a:solidFill>
                  <a:srgbClr val="333333"/>
                </a:solidFill>
                <a:latin typeface="メイリオ"/>
                <a:ea typeface="メイリオ"/>
                <a:cs typeface="メイリオ"/>
              </a:rPr>
              <a:t>・月次レポートと改善提案</a:t>
            </a:r>
          </a:p>
          <a:p>
            <a:pPr algn="l">
              <a:lnSpc>
                <a:spcPct val="130000"/>
              </a:lnSpc>
              <a:spcAft>
                <a:spcPts val="600"/>
              </a:spcAft>
            </a:pPr>
            <a:r>
              <a:rPr sz="1000">
                <a:solidFill>
                  <a:srgbClr val="333333"/>
                </a:solidFill>
                <a:latin typeface="メイリオ"/>
                <a:ea typeface="メイリオ"/>
                <a:cs typeface="メイリオ"/>
              </a:rPr>
              <a:t>・定例会の進行</a:t>
            </a:r>
          </a:p>
        </p:txBody>
      </p:sp>
      <p:sp>
        <p:nvSpPr>
          <p:cNvPr id="8" name="Rounded Rectangle 7"/>
          <p:cNvSpPr/>
          <p:nvPr/>
        </p:nvSpPr>
        <p:spPr>
          <a:xfrm>
            <a:off x="27198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198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DYM｜配信担当</a:t>
            </a:r>
          </a:p>
        </p:txBody>
      </p:sp>
      <p:sp>
        <p:nvSpPr>
          <p:cNvPr id="10" name="TextBox 9"/>
          <p:cNvSpPr txBox="1"/>
          <p:nvPr/>
        </p:nvSpPr>
        <p:spPr>
          <a:xfrm>
            <a:off x="28278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・配信原稿の作成</a:t>
            </a:r>
          </a:p>
          <a:p>
            <a:pPr algn="l">
              <a:lnSpc>
                <a:spcPct val="130000"/>
              </a:lnSpc>
              <a:spcAft>
                <a:spcPts val="600"/>
              </a:spcAft>
            </a:pPr>
            <a:r>
              <a:rPr sz="1000">
                <a:solidFill>
                  <a:srgbClr val="333333"/>
                </a:solidFill>
                <a:latin typeface="メイリオ"/>
                <a:ea typeface="メイリオ"/>
                <a:cs typeface="メイリオ"/>
              </a:rPr>
              <a:t>・セグメント・ステップの設定</a:t>
            </a:r>
          </a:p>
          <a:p>
            <a:pPr algn="l">
              <a:lnSpc>
                <a:spcPct val="130000"/>
              </a:lnSpc>
              <a:spcAft>
                <a:spcPts val="600"/>
              </a:spcAft>
            </a:pPr>
            <a:r>
              <a:rPr sz="1000">
                <a:solidFill>
                  <a:srgbClr val="333333"/>
                </a:solidFill>
                <a:latin typeface="メイリオ"/>
                <a:ea typeface="メイリオ"/>
                <a:cs typeface="メイリオ"/>
              </a:rPr>
              <a:t>・前日リマインドの管理</a:t>
            </a:r>
          </a:p>
        </p:txBody>
      </p:sp>
      <p:sp>
        <p:nvSpPr>
          <p:cNvPr id="11" name="Rounded Rectangle 10"/>
          <p:cNvSpPr/>
          <p:nvPr/>
        </p:nvSpPr>
        <p:spPr>
          <a:xfrm>
            <a:off x="50076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076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DYM｜クリエイティブ</a:t>
            </a:r>
          </a:p>
        </p:txBody>
      </p:sp>
      <p:sp>
        <p:nvSpPr>
          <p:cNvPr id="13" name="TextBox 12"/>
          <p:cNvSpPr txBox="1"/>
          <p:nvPr/>
        </p:nvSpPr>
        <p:spPr>
          <a:xfrm>
            <a:off x="51156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・リッチメニュー制作</a:t>
            </a:r>
          </a:p>
          <a:p>
            <a:pPr algn="l">
              <a:lnSpc>
                <a:spcPct val="130000"/>
              </a:lnSpc>
              <a:spcAft>
                <a:spcPts val="600"/>
              </a:spcAft>
            </a:pPr>
            <a:r>
              <a:rPr sz="1000">
                <a:solidFill>
                  <a:srgbClr val="333333"/>
                </a:solidFill>
                <a:latin typeface="メイリオ"/>
                <a:ea typeface="メイリオ"/>
                <a:cs typeface="メイリオ"/>
              </a:rPr>
              <a:t>・配信画像・バナー</a:t>
            </a:r>
          </a:p>
          <a:p>
            <a:pPr algn="l">
              <a:lnSpc>
                <a:spcPct val="130000"/>
              </a:lnSpc>
              <a:spcAft>
                <a:spcPts val="600"/>
              </a:spcAft>
            </a:pPr>
            <a:r>
              <a:rPr sz="1000">
                <a:solidFill>
                  <a:srgbClr val="333333"/>
                </a:solidFill>
                <a:latin typeface="メイリオ"/>
                <a:ea typeface="メイリオ"/>
                <a:cs typeface="メイリオ"/>
              </a:rPr>
              <a:t>・LP離脱防止の設置</a:t>
            </a:r>
          </a:p>
        </p:txBody>
      </p:sp>
      <p:sp>
        <p:nvSpPr>
          <p:cNvPr id="14" name="Rounded Rectangle 13"/>
          <p:cNvSpPr/>
          <p:nvPr/>
        </p:nvSpPr>
        <p:spPr>
          <a:xfrm>
            <a:off x="7295400" y="1655999"/>
            <a:ext cx="2179800" cy="1655999"/>
          </a:xfrm>
          <a:prstGeom prst="roundRect">
            <a:avLst>
              <a:gd name="adj" fmla="val 6000"/>
            </a:avLst>
          </a:prstGeom>
          <a:solidFill>
            <a:srgbClr val="FFFFFF"/>
          </a:solidFill>
          <a:ln w="1587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295400" y="1655999"/>
            <a:ext cx="2179800" cy="360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貴塾｜教室</a:t>
            </a:r>
          </a:p>
        </p:txBody>
      </p:sp>
      <p:sp>
        <p:nvSpPr>
          <p:cNvPr id="16" name="TextBox 15"/>
          <p:cNvSpPr txBox="1"/>
          <p:nvPr/>
        </p:nvSpPr>
        <p:spPr>
          <a:xfrm>
            <a:off x="7403400" y="2106000"/>
            <a:ext cx="2064600" cy="786133"/>
          </a:xfrm>
          <a:prstGeom prst="rect">
            <a:avLst/>
          </a:prstGeom>
          <a:noFill/>
        </p:spPr>
        <p:txBody>
          <a:bodyPr wrap="square" lIns="50400" tIns="21600" rIns="50400" bIns="21600" anchor="t">
            <a:spAutoFit/>
          </a:bodyPr>
          <a:lstStyle/>
          <a:p>
            <a:pPr algn="l">
              <a:lnSpc>
                <a:spcPct val="130000"/>
              </a:lnSpc>
              <a:spcAft>
                <a:spcPts val="600"/>
              </a:spcAft>
            </a:pPr>
            <a:r>
              <a:rPr sz="1000" dirty="0">
                <a:solidFill>
                  <a:srgbClr val="333333"/>
                </a:solidFill>
                <a:latin typeface="メイリオ"/>
                <a:ea typeface="メイリオ"/>
                <a:cs typeface="メイリオ"/>
              </a:rPr>
              <a:t>・</a:t>
            </a:r>
            <a:r>
              <a:rPr sz="1000" dirty="0" err="1">
                <a:solidFill>
                  <a:srgbClr val="333333"/>
                </a:solidFill>
                <a:latin typeface="メイリオ"/>
                <a:ea typeface="メイリオ"/>
                <a:cs typeface="メイリオ"/>
              </a:rPr>
              <a:t>教室の情報提供（実績・講師</a:t>
            </a:r>
            <a:r>
              <a:rPr sz="1000" dirty="0">
                <a:solidFill>
                  <a:srgbClr val="333333"/>
                </a:solidFill>
                <a:latin typeface="メイリオ"/>
                <a:ea typeface="メイリオ"/>
                <a:cs typeface="メイリオ"/>
              </a:rPr>
              <a:t>）</a:t>
            </a:r>
          </a:p>
          <a:p>
            <a:pPr algn="l">
              <a:lnSpc>
                <a:spcPct val="130000"/>
              </a:lnSpc>
              <a:spcAft>
                <a:spcPts val="600"/>
              </a:spcAft>
            </a:pPr>
            <a:r>
              <a:rPr sz="1000" dirty="0">
                <a:solidFill>
                  <a:srgbClr val="333333"/>
                </a:solidFill>
                <a:latin typeface="メイリオ"/>
                <a:ea typeface="メイリオ"/>
                <a:cs typeface="メイリオ"/>
              </a:rPr>
              <a:t>・</a:t>
            </a:r>
            <a:r>
              <a:rPr sz="1000" dirty="0" err="1">
                <a:solidFill>
                  <a:srgbClr val="333333"/>
                </a:solidFill>
                <a:latin typeface="メイリオ"/>
                <a:ea typeface="メイリオ"/>
                <a:cs typeface="メイリオ"/>
              </a:rPr>
              <a:t>体験・面談の実施</a:t>
            </a:r>
            <a:endParaRPr sz="1000" dirty="0">
              <a:solidFill>
                <a:srgbClr val="333333"/>
              </a:solidFill>
              <a:latin typeface="メイリオ"/>
              <a:ea typeface="メイリオ"/>
              <a:cs typeface="メイリオ"/>
            </a:endParaRPr>
          </a:p>
          <a:p>
            <a:pPr algn="l">
              <a:lnSpc>
                <a:spcPct val="130000"/>
              </a:lnSpc>
              <a:spcAft>
                <a:spcPts val="600"/>
              </a:spcAft>
            </a:pPr>
            <a:r>
              <a:rPr sz="1000" dirty="0">
                <a:solidFill>
                  <a:srgbClr val="333333"/>
                </a:solidFill>
                <a:latin typeface="メイリオ"/>
                <a:ea typeface="メイリオ"/>
                <a:cs typeface="メイリオ"/>
              </a:rPr>
              <a:t>・月1回の定例会にご参加</a:t>
            </a:r>
          </a:p>
        </p:txBody>
      </p:sp>
      <p:sp>
        <p:nvSpPr>
          <p:cNvPr id="17" name="TextBox 16"/>
          <p:cNvSpPr txBox="1"/>
          <p:nvPr/>
        </p:nvSpPr>
        <p:spPr>
          <a:xfrm>
            <a:off x="432000" y="345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進め方のリズム</a:t>
            </a:r>
          </a:p>
        </p:txBody>
      </p:sp>
      <p:sp>
        <p:nvSpPr>
          <p:cNvPr id="18" name="Rounded Rectangle 17"/>
          <p:cNvSpPr/>
          <p:nvPr/>
        </p:nvSpPr>
        <p:spPr>
          <a:xfrm>
            <a:off x="432000" y="3743999"/>
            <a:ext cx="9043200" cy="432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03999" y="3815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毎月</a:t>
            </a:r>
          </a:p>
        </p:txBody>
      </p:sp>
      <p:sp>
        <p:nvSpPr>
          <p:cNvPr id="20" name="TextBox 19"/>
          <p:cNvSpPr txBox="1"/>
          <p:nvPr/>
        </p:nvSpPr>
        <p:spPr>
          <a:xfrm>
            <a:off x="1584000" y="3743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配信企画のご提案（弊社）→ 貴塾のご確認 → 配信 → レポート</a:t>
            </a:r>
          </a:p>
        </p:txBody>
      </p:sp>
      <p:sp>
        <p:nvSpPr>
          <p:cNvPr id="21" name="Rounded Rectangle 20"/>
          <p:cNvSpPr/>
          <p:nvPr/>
        </p:nvSpPr>
        <p:spPr>
          <a:xfrm>
            <a:off x="432000" y="4229999"/>
            <a:ext cx="9043200" cy="43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301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毎月</a:t>
            </a:r>
          </a:p>
        </p:txBody>
      </p:sp>
      <p:sp>
        <p:nvSpPr>
          <p:cNvPr id="23" name="TextBox 22"/>
          <p:cNvSpPr txBox="1"/>
          <p:nvPr/>
        </p:nvSpPr>
        <p:spPr>
          <a:xfrm>
            <a:off x="1584000" y="4229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定例会（30〜60分）：先月の数字の振り返りと翌月の企画</a:t>
            </a:r>
          </a:p>
        </p:txBody>
      </p:sp>
      <p:sp>
        <p:nvSpPr>
          <p:cNvPr id="24" name="Rounded Rectangle 23"/>
          <p:cNvSpPr/>
          <p:nvPr/>
        </p:nvSpPr>
        <p:spPr>
          <a:xfrm>
            <a:off x="432000" y="4715999"/>
            <a:ext cx="9043200" cy="432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03999" y="4787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四半期</a:t>
            </a:r>
          </a:p>
        </p:txBody>
      </p:sp>
      <p:sp>
        <p:nvSpPr>
          <p:cNvPr id="26" name="TextBox 25"/>
          <p:cNvSpPr txBox="1"/>
          <p:nvPr/>
        </p:nvSpPr>
        <p:spPr>
          <a:xfrm>
            <a:off x="1584000" y="4715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体験→入会の割合の確認と、施策の組み替え</a:t>
            </a:r>
          </a:p>
        </p:txBody>
      </p:sp>
      <p:sp>
        <p:nvSpPr>
          <p:cNvPr id="27" name="Rounded Rectangle 26"/>
          <p:cNvSpPr/>
          <p:nvPr/>
        </p:nvSpPr>
        <p:spPr>
          <a:xfrm>
            <a:off x="432000" y="5202000"/>
            <a:ext cx="9043200" cy="43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03999" y="5273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随時</a:t>
            </a:r>
          </a:p>
        </p:txBody>
      </p:sp>
      <p:sp>
        <p:nvSpPr>
          <p:cNvPr id="29" name="TextBox 28"/>
          <p:cNvSpPr txBox="1"/>
          <p:nvPr/>
        </p:nvSpPr>
        <p:spPr>
          <a:xfrm>
            <a:off x="1584000" y="5202000"/>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LINEトークで質問・相談（専用グループ）</a:t>
            </a:r>
          </a:p>
        </p:txBody>
      </p:sp>
      <p:sp>
        <p:nvSpPr>
          <p:cNvPr id="30" name="Rounded Rectangle 29"/>
          <p:cNvSpPr/>
          <p:nvPr/>
        </p:nvSpPr>
        <p:spPr>
          <a:xfrm>
            <a:off x="432000" y="5723999"/>
            <a:ext cx="9043200" cy="3096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a:solidFill>
                  <a:srgbClr val="FFFFFF"/>
                </a:solidFill>
                <a:latin typeface="メイリオ"/>
                <a:ea typeface="メイリオ"/>
                <a:cs typeface="メイリオ"/>
              </a:rPr>
              <a:t>配信の実務は弊社が担当し、教室は授業と体験に集中できる。</a:t>
            </a:r>
          </a:p>
        </p:txBody>
      </p: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体制の人数・担当者名は契約時に確定する。定例会はオンライン可</a:t>
            </a:r>
          </a:p>
        </p:txBody>
      </p:sp>
      <p:sp>
        <p:nvSpPr>
          <p:cNvPr id="32" name="Pentagon 31"/>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3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重要度</a:t>
            </a:r>
          </a:p>
        </p:txBody>
      </p:sp>
      <p:sp>
        <p:nvSpPr>
          <p:cNvPr id="13"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dirty="0" err="1">
                <a:solidFill>
                  <a:srgbClr val="333333"/>
                </a:solidFill>
                <a:latin typeface="メイリオ"/>
                <a:ea typeface="メイリオ"/>
                <a:cs typeface="メイリオ"/>
              </a:rPr>
              <a:t>友だち追加の入口を増やす（ポップアップ・広告・店頭</a:t>
            </a:r>
            <a:r>
              <a:rPr sz="1100" b="0" dirty="0">
                <a:solidFill>
                  <a:srgbClr val="333333"/>
                </a:solidFill>
                <a:latin typeface="メイリオ"/>
                <a:ea typeface="メイリオ"/>
                <a:cs typeface="メイリオ"/>
              </a:rPr>
              <a:t>）</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2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33"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1"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通数費・運用工数の削減（セグメント・自動化）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9"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◎＝最重視／○＝重視／△＝優先度は低い。ヒアリングで記入し、施策の配分と予算の目安に反映します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流入量・</a:t>
            </a:r>
            <a:r>
              <a:rPr lang="en-US" altLang="ja-JP" sz="1300" b="1" dirty="0">
                <a:solidFill>
                  <a:srgbClr val="4A6FA5"/>
                </a:solidFill>
                <a:latin typeface="メイリオ"/>
                <a:ea typeface="メイリオ"/>
                <a:cs typeface="メイリオ"/>
              </a:rPr>
              <a:t>CV</a:t>
            </a:r>
            <a:r>
              <a:rPr lang="ja-JP" altLang="en-US" sz="1300" b="1" dirty="0">
                <a:solidFill>
                  <a:srgbClr val="4A6FA5"/>
                </a:solidFill>
                <a:latin typeface="メイリオ"/>
                <a:ea typeface="メイリオ"/>
                <a:cs typeface="メイリオ"/>
              </a:rPr>
              <a:t>・</a:t>
            </a:r>
            <a:r>
              <a:rPr lang="en-US" altLang="ja-JP" sz="1300" b="1" dirty="0">
                <a:solidFill>
                  <a:srgbClr val="4A6FA5"/>
                </a:solidFill>
                <a:latin typeface="メイリオ"/>
                <a:ea typeface="メイリオ"/>
                <a:cs typeface="メイリオ"/>
              </a:rPr>
              <a:t>CV</a:t>
            </a:r>
            <a:r>
              <a:rPr lang="ja-JP" altLang="en-US" sz="1300" b="1" dirty="0">
                <a:solidFill>
                  <a:srgbClr val="4A6FA5"/>
                </a:solidFill>
                <a:latin typeface="メイリオ"/>
                <a:ea typeface="メイリオ"/>
                <a:cs typeface="メイリオ"/>
              </a:rPr>
              <a:t>地点から、</a:t>
            </a:r>
            <a:r>
              <a:rPr lang="en-US" altLang="ja-JP" sz="1300" b="1" dirty="0">
                <a:solidFill>
                  <a:srgbClr val="4A6FA5"/>
                </a:solidFill>
                <a:latin typeface="メイリオ"/>
                <a:ea typeface="メイリオ"/>
                <a:cs typeface="メイリオ"/>
              </a:rPr>
              <a:t>LINE</a:t>
            </a:r>
            <a:r>
              <a:rPr lang="ja-JP" altLang="en-US" sz="1300" b="1" dirty="0">
                <a:solidFill>
                  <a:srgbClr val="4A6FA5"/>
                </a:solidFill>
                <a:latin typeface="メイリオ"/>
                <a:ea typeface="メイリオ"/>
                <a:cs typeface="メイリオ"/>
              </a:rPr>
              <a:t>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サイト全体のユニークユーザー数</a:t>
            </a:r>
          </a:p>
        </p:txBody>
      </p:sp>
      <p:sp>
        <p:nvSpPr>
          <p:cNvPr id="21"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広告経由の流入と月間の広告費</a:t>
            </a:r>
          </a:p>
        </p:txBody>
      </p:sp>
      <p:sp>
        <p:nvSpPr>
          <p:cNvPr id="32"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申込・予約・購入などの件数</a:t>
            </a:r>
          </a:p>
        </p:txBody>
      </p:sp>
      <p:sp>
        <p:nvSpPr>
          <p:cNvPr id="44"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電話／フォーム／来店予約／購入など</a:t>
            </a:r>
          </a:p>
        </p:txBody>
      </p:sp>
      <p:sp>
        <p:nvSpPr>
          <p:cNvPr id="55"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SEO・広告・SNS・ディスプレイの比率</a:t>
            </a:r>
          </a:p>
        </p:txBody>
      </p:sp>
      <p:sp>
        <p:nvSpPr>
          <p:cNvPr id="6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サイト上の友だち追加の入口の有無</a:t>
            </a:r>
          </a:p>
        </p:txBody>
      </p:sp>
      <p:sp>
        <p:nvSpPr>
          <p:cNvPr id="67"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メール会員・他SNSのフォロワー数など</a:t>
            </a:r>
          </a:p>
        </p:txBody>
      </p:sp>
      <p:sp>
        <p:nvSpPr>
          <p:cNvPr id="7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384048"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5BA3C8AC-F83B-8887-50C2-B4AED74F4F54}"/>
              </a:ext>
            </a:extLst>
          </p:cNvPr>
          <p:cNvSpPr/>
          <p:nvPr/>
        </p:nvSpPr>
        <p:spPr>
          <a:xfrm>
            <a:off x="6601968" y="1780907"/>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019A0C2-CAAE-25A0-61D2-699B65C42417}"/>
              </a:ext>
            </a:extLst>
          </p:cNvPr>
          <p:cNvSpPr/>
          <p:nvPr/>
        </p:nvSpPr>
        <p:spPr>
          <a:xfrm>
            <a:off x="384048"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累計と、直近の月間増加数</a:t>
            </a:r>
          </a:p>
        </p:txBody>
      </p:sp>
      <p:sp>
        <p:nvSpPr>
          <p:cNvPr id="21" name="Rectangle 8">
            <a:extLst>
              <a:ext uri="{FF2B5EF4-FFF2-40B4-BE49-F238E27FC236}">
                <a16:creationId xmlns:a16="http://schemas.microsoft.com/office/drawing/2014/main" id="{090C52B4-5C5E-4082-D9D0-B3F682D1D56B}"/>
              </a:ext>
            </a:extLst>
          </p:cNvPr>
          <p:cNvSpPr/>
          <p:nvPr/>
        </p:nvSpPr>
        <p:spPr>
          <a:xfrm>
            <a:off x="6601968" y="2203668"/>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382D44E1-F4E2-5751-D452-0D8CCC481730}"/>
              </a:ext>
            </a:extLst>
          </p:cNvPr>
          <p:cNvSpPr/>
          <p:nvPr/>
        </p:nvSpPr>
        <p:spPr>
          <a:xfrm>
            <a:off x="384048"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ブロック率、開封率、クリック率</a:t>
            </a:r>
          </a:p>
        </p:txBody>
      </p:sp>
      <p:sp>
        <p:nvSpPr>
          <p:cNvPr id="32" name="Rectangle 11">
            <a:extLst>
              <a:ext uri="{FF2B5EF4-FFF2-40B4-BE49-F238E27FC236}">
                <a16:creationId xmlns:a16="http://schemas.microsoft.com/office/drawing/2014/main" id="{5D95E04F-E0EF-7048-CE4F-52EF8E06A51C}"/>
              </a:ext>
            </a:extLst>
          </p:cNvPr>
          <p:cNvSpPr/>
          <p:nvPr/>
        </p:nvSpPr>
        <p:spPr>
          <a:xfrm>
            <a:off x="6601968" y="2809782"/>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C5BC36E1-E9EC-5F99-6730-862D59A7268A}"/>
              </a:ext>
            </a:extLst>
          </p:cNvPr>
          <p:cNvSpPr/>
          <p:nvPr/>
        </p:nvSpPr>
        <p:spPr>
          <a:xfrm>
            <a:off x="384048"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一斉配信・ステップ配信の本数、月間通数</a:t>
            </a:r>
          </a:p>
        </p:txBody>
      </p:sp>
      <p:sp>
        <p:nvSpPr>
          <p:cNvPr id="44" name="Rectangle 14">
            <a:extLst>
              <a:ext uri="{FF2B5EF4-FFF2-40B4-BE49-F238E27FC236}">
                <a16:creationId xmlns:a16="http://schemas.microsoft.com/office/drawing/2014/main" id="{8DF123B9-F9C1-F5AC-B9B8-847E3B54BB6E}"/>
              </a:ext>
            </a:extLst>
          </p:cNvPr>
          <p:cNvSpPr/>
          <p:nvPr/>
        </p:nvSpPr>
        <p:spPr>
          <a:xfrm>
            <a:off x="6601968" y="3424605"/>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7A4A3E0B-F476-7DC4-F177-948A5D80A39F}"/>
              </a:ext>
            </a:extLst>
          </p:cNvPr>
          <p:cNvSpPr/>
          <p:nvPr/>
        </p:nvSpPr>
        <p:spPr>
          <a:xfrm>
            <a:off x="384048"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LINE公式アカウントの料金プラン</a:t>
            </a:r>
          </a:p>
        </p:txBody>
      </p:sp>
      <p:sp>
        <p:nvSpPr>
          <p:cNvPr id="55" name="Rectangle 17">
            <a:extLst>
              <a:ext uri="{FF2B5EF4-FFF2-40B4-BE49-F238E27FC236}">
                <a16:creationId xmlns:a16="http://schemas.microsoft.com/office/drawing/2014/main" id="{8586DBF7-7FC5-FCBD-008A-A179145000C4}"/>
              </a:ext>
            </a:extLst>
          </p:cNvPr>
          <p:cNvSpPr/>
          <p:nvPr/>
        </p:nvSpPr>
        <p:spPr>
          <a:xfrm>
            <a:off x="6601968" y="4030719"/>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279B2C05-4721-5850-5790-24F42D16195C}"/>
              </a:ext>
            </a:extLst>
          </p:cNvPr>
          <p:cNvSpPr/>
          <p:nvPr/>
        </p:nvSpPr>
        <p:spPr>
          <a:xfrm>
            <a:off x="384048"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APIツール（Lステップ等）の有無・プラン</a:t>
            </a:r>
          </a:p>
        </p:txBody>
      </p:sp>
      <p:sp>
        <p:nvSpPr>
          <p:cNvPr id="61" name="Rectangle 20">
            <a:extLst>
              <a:ext uri="{FF2B5EF4-FFF2-40B4-BE49-F238E27FC236}">
                <a16:creationId xmlns:a16="http://schemas.microsoft.com/office/drawing/2014/main" id="{DB7FB4C0-51C6-3078-A140-B7A1B50F861A}"/>
              </a:ext>
            </a:extLst>
          </p:cNvPr>
          <p:cNvSpPr/>
          <p:nvPr/>
        </p:nvSpPr>
        <p:spPr>
          <a:xfrm>
            <a:off x="6601968" y="4645542"/>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F4210959-8935-1BA3-A155-B4D4B1BE79EA}"/>
              </a:ext>
            </a:extLst>
          </p:cNvPr>
          <p:cNvSpPr/>
          <p:nvPr/>
        </p:nvSpPr>
        <p:spPr>
          <a:xfrm>
            <a:off x="384048"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アカウント費・ツール費・運用費・通数費の月額合計</a:t>
            </a:r>
          </a:p>
        </p:txBody>
      </p:sp>
      <p:sp>
        <p:nvSpPr>
          <p:cNvPr id="67" name="Rectangle 23">
            <a:extLst>
              <a:ext uri="{FF2B5EF4-FFF2-40B4-BE49-F238E27FC236}">
                <a16:creationId xmlns:a16="http://schemas.microsoft.com/office/drawing/2014/main" id="{0B10266D-13DE-7185-5A31-5B2D7BD7491A}"/>
              </a:ext>
            </a:extLst>
          </p:cNvPr>
          <p:cNvSpPr/>
          <p:nvPr/>
        </p:nvSpPr>
        <p:spPr>
          <a:xfrm>
            <a:off x="6601968" y="5251655"/>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アクティブ率・通数費の現状を見て、セグメント配信などで改善できる範囲を提案に反映します</a:t>
            </a:r>
          </a:p>
        </p:txBody>
      </p:sp>
    </p:spTree>
    <p:extLst>
      <p:ext uri="{BB962C8B-B14F-4D97-AF65-F5344CB8AC3E}">
        <p14:creationId xmlns:p14="http://schemas.microsoft.com/office/powerpoint/2010/main" val="23631056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150" b="1" dirty="0">
                <a:solidFill>
                  <a:srgbClr val="1F2A5C"/>
                </a:solidFill>
                <a:latin typeface="メイリオ"/>
                <a:ea typeface="メイリオ"/>
                <a:cs typeface="メイリオ"/>
              </a:rPr>
              <a:t>LINE Official</a:t>
            </a:r>
            <a:r>
              <a:rPr lang="ja-JP" altLang="en-US" sz="1150" b="1" dirty="0">
                <a:solidFill>
                  <a:srgbClr val="1F2A5C"/>
                </a:solidFill>
                <a:latin typeface="メイリオ"/>
                <a:ea typeface="メイリオ"/>
                <a:cs typeface="メイリオ"/>
              </a:rPr>
              <a:t> </a:t>
            </a:r>
            <a:r>
              <a:rPr lang="en-US" altLang="ja-JP" sz="1150" b="1" dirty="0">
                <a:solidFill>
                  <a:srgbClr val="1F2A5C"/>
                </a:solidFill>
                <a:latin typeface="メイリオ"/>
                <a:ea typeface="メイリオ"/>
                <a:cs typeface="メイリオ"/>
              </a:rPr>
              <a:t>Manager</a:t>
            </a:r>
            <a:r>
              <a:rPr lang="ja-JP" altLang="en-US" sz="1150" b="1" dirty="0">
                <a:solidFill>
                  <a:srgbClr val="1F2A5C"/>
                </a:solidFill>
                <a:latin typeface="メイリオ"/>
                <a:ea typeface="メイリオ"/>
                <a:cs typeface="メイリオ"/>
              </a:rPr>
              <a:t>、</a:t>
            </a:r>
            <a:r>
              <a:rPr lang="en-US" altLang="ja-JP" sz="1150" b="1" dirty="0">
                <a:solidFill>
                  <a:srgbClr val="1F2A5C"/>
                </a:solidFill>
                <a:latin typeface="メイリオ"/>
                <a:ea typeface="メイリオ"/>
                <a:cs typeface="メイリオ"/>
              </a:rPr>
              <a:t>API</a:t>
            </a:r>
            <a:r>
              <a:rPr lang="ja-JP" altLang="en-US" sz="1150" b="1" dirty="0">
                <a:solidFill>
                  <a:srgbClr val="1F2A5C"/>
                </a:solidFill>
                <a:latin typeface="メイリオ"/>
                <a:ea typeface="メイリオ"/>
                <a:cs typeface="メイリオ"/>
              </a:rPr>
              <a:t>ツール等、配信にかかわる管理画面の共有をいただければ詳細なご提案が可能です。</a:t>
            </a:r>
            <a:endParaRPr sz="115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603504" y="1043132"/>
            <a:ext cx="82296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Appendix（参考資料）</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ファン化・自社アプリ登録に「ハードルが高い」と感じるユーザーが増えている。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 友だち追加 → LINEで診断・体験予約 → 入会 の導線で、ハードルを下げながら運用が可能。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継続・講習</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友だち紹介につなげる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※ヒアリングのうえ、</a:t>
            </a: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不足している施策を明示</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LINE誘導から1.5〜3%程度が、資料請求・体験予約につながる（弊社想定の目安）。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貴塾の集客課題に合わせて、LINE公式アカウントの構築モデルを活用し、集客効率を改善。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2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2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50" dirty="0">
                <a:solidFill>
                  <a:schemeClr val="tx1">
                    <a:lumMod val="65000"/>
                    <a:lumOff val="35000"/>
                  </a:schemeClr>
                </a:solidFill>
                <a:latin typeface="メイリオ" panose="020B0604030504040204" pitchFamily="50" charset="-128"/>
                <a:ea typeface="メイリオ" panose="020B0604030504040204" pitchFamily="50" charset="-128"/>
              </a:rPr>
              <a:t>LINE広告（友だち追加）</a:t>
            </a:r>
          </a:p>
          <a:p>
            <a:pPr algn="ctr"/>
            <a:r>
              <a:rPr lang="ja-JP" altLang="en-US" sz="11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1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通知メッセージ</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資料請求・体験予約済み</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資料請求・体験予約済み</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通知メッセージ</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メールマガジン・電話</a:t>
            </a:r>
            <a:endPar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30秒ぴったり診断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体験予約のご案内</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自動応答の設定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質問内容別に即返信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85A"/>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1F285A"/>
                </a:solidFill>
                <a:latin typeface="メイリオ" panose="020B0604030504040204" pitchFamily="50" charset="-128"/>
                <a:ea typeface="メイリオ" panose="020B0604030504040204" pitchFamily="50" charset="-128"/>
              </a:rPr>
              <a:t>※弊社想定の上限目安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85A"/>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検討度が高い方：即スタッフ対応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サンクスメッセージ＋</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講習・コースのご案内</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一斉配信で再びつながる</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対象を絞った配信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（特典で友だち追加を促進）</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紹介キャンペーン・継続促進</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各割合は弊社想定の上限目安であり、保証値ではない。参考：LINEヤフー社の公開値では、メッセージは受信当日中に約8割が開封される。</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検索データからわかる「すべきこと」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本編の検索データから、取り組むべきことを整理する。</a:t>
            </a:r>
          </a:p>
          <a:p>
            <a:pPr algn="l">
              <a:lnSpc>
                <a:spcPct val="128000"/>
              </a:lnSpc>
            </a:pPr>
            <a:r>
              <a:rPr sz="1200">
                <a:solidFill>
                  <a:srgbClr val="333333"/>
                </a:solidFill>
                <a:latin typeface="メイリオ"/>
                <a:ea typeface="メイリオ"/>
                <a:cs typeface="メイリオ"/>
              </a:rPr>
              <a:t>塾名を調べる前の保護者と先につながり、申し込む前に「合う・合わない」を確かめられるようにする。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512000"/>
            <a:ext cx="3060000" cy="251999"/>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データ（事実）</a:t>
            </a:r>
          </a:p>
        </p:txBody>
      </p:sp>
      <p:sp>
        <p:nvSpPr>
          <p:cNvPr id="14" name="Rounded Rectangle 13"/>
          <p:cNvSpPr/>
          <p:nvPr/>
        </p:nvSpPr>
        <p:spPr>
          <a:xfrm>
            <a:off x="3671999" y="1512000"/>
            <a:ext cx="2951999" cy="251999"/>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すべきこと</a:t>
            </a:r>
          </a:p>
        </p:txBody>
      </p:sp>
      <p:sp>
        <p:nvSpPr>
          <p:cNvPr id="15" name="Rounded Rectangle 14"/>
          <p:cNvSpPr/>
          <p:nvPr/>
        </p:nvSpPr>
        <p:spPr>
          <a:xfrm>
            <a:off x="6803999" y="1512000"/>
            <a:ext cx="2671200" cy="251999"/>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LINE施策</a:t>
            </a:r>
          </a:p>
        </p:txBody>
      </p:sp>
      <p:sp>
        <p:nvSpPr>
          <p:cNvPr id="16" name="Rounded Rectangle 15"/>
          <p:cNvSpPr/>
          <p:nvPr/>
        </p:nvSpPr>
        <p:spPr>
          <a:xfrm>
            <a:off x="432000" y="1854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サイトを訪れても、問い合わせをせずに離れる保護者は多い</a:t>
            </a:r>
          </a:p>
        </p:txBody>
      </p:sp>
      <p:sp>
        <p:nvSpPr>
          <p:cNvPr id="17" name="Rounded Rectangle 16"/>
          <p:cNvSpPr/>
          <p:nvPr/>
        </p:nvSpPr>
        <p:spPr>
          <a:xfrm>
            <a:off x="3671999" y="1854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塾名を調べる前の保護者と、先につながる</a:t>
            </a:r>
          </a:p>
        </p:txBody>
      </p:sp>
      <p:sp>
        <p:nvSpPr>
          <p:cNvPr id="18" name="Rounded Rectangle 17"/>
          <p:cNvSpPr/>
          <p:nvPr/>
        </p:nvSpPr>
        <p:spPr>
          <a:xfrm>
            <a:off x="6803999" y="1854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サイトの離脱防止からLINEへ</a:t>
            </a:r>
          </a:p>
        </p:txBody>
      </p:sp>
      <p:cxnSp>
        <p:nvCxnSpPr>
          <p:cNvPr id="19" name="Connector 18"/>
          <p:cNvCxnSpPr/>
          <p:nvPr/>
        </p:nvCxnSpPr>
        <p:spPr>
          <a:xfrm>
            <a:off x="3510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42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2000" y="2700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塾名を調べる前から、保護者は調べ始めている（P18〜P21）</a:t>
            </a:r>
          </a:p>
        </p:txBody>
      </p:sp>
      <p:sp>
        <p:nvSpPr>
          <p:cNvPr id="22" name="Rounded Rectangle 21"/>
          <p:cNvSpPr/>
          <p:nvPr/>
        </p:nvSpPr>
        <p:spPr>
          <a:xfrm>
            <a:off x="3671999" y="2700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比べている間、役に立つ情報を届け続ける</a:t>
            </a:r>
          </a:p>
        </p:txBody>
      </p:sp>
      <p:sp>
        <p:nvSpPr>
          <p:cNvPr id="23" name="Rounded Rectangle 22"/>
          <p:cNvSpPr/>
          <p:nvPr/>
        </p:nvSpPr>
        <p:spPr>
          <a:xfrm>
            <a:off x="6803999" y="2700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14日間の配信</a:t>
            </a:r>
          </a:p>
        </p:txBody>
      </p:sp>
      <p:cxnSp>
        <p:nvCxnSpPr>
          <p:cNvPr id="24" name="Connector 23"/>
          <p:cNvCxnSpPr/>
          <p:nvPr/>
        </p:nvCxnSpPr>
        <p:spPr>
          <a:xfrm>
            <a:off x="3510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42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2000" y="3546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一番の悩みは「うちの子に合うか分からない」63.5%（P7）</a:t>
            </a:r>
          </a:p>
        </p:txBody>
      </p:sp>
      <p:sp>
        <p:nvSpPr>
          <p:cNvPr id="27" name="Rounded Rectangle 26"/>
          <p:cNvSpPr/>
          <p:nvPr/>
        </p:nvSpPr>
        <p:spPr>
          <a:xfrm>
            <a:off x="3671999" y="3546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申し込む前に「合う・合わない」をお伝えする</a:t>
            </a:r>
          </a:p>
        </p:txBody>
      </p:sp>
      <p:sp>
        <p:nvSpPr>
          <p:cNvPr id="28" name="Rounded Rectangle 27"/>
          <p:cNvSpPr/>
          <p:nvPr/>
        </p:nvSpPr>
        <p:spPr>
          <a:xfrm>
            <a:off x="6803999" y="3546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30秒ぴったり診断</a:t>
            </a:r>
          </a:p>
        </p:txBody>
      </p:sp>
      <p:cxnSp>
        <p:nvCxnSpPr>
          <p:cNvPr id="29" name="Connector 28"/>
          <p:cNvCxnSpPr/>
          <p:nvPr/>
        </p:nvCxnSpPr>
        <p:spPr>
          <a:xfrm>
            <a:off x="3510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642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32000" y="4392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検索のピークは2月と7月（P24）</a:t>
            </a:r>
          </a:p>
        </p:txBody>
      </p:sp>
      <p:sp>
        <p:nvSpPr>
          <p:cNvPr id="32" name="Rounded Rectangle 31"/>
          <p:cNvSpPr/>
          <p:nvPr/>
        </p:nvSpPr>
        <p:spPr>
          <a:xfrm>
            <a:off x="3671999" y="4392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dirty="0" err="1">
                <a:solidFill>
                  <a:srgbClr val="333333"/>
                </a:solidFill>
                <a:latin typeface="メイリオ"/>
                <a:ea typeface="メイリオ"/>
                <a:cs typeface="メイリオ"/>
              </a:rPr>
              <a:t>ピークの前からつながっておく</a:t>
            </a:r>
            <a:endParaRPr sz="1100" b="1" dirty="0">
              <a:solidFill>
                <a:srgbClr val="333333"/>
              </a:solidFill>
              <a:latin typeface="メイリオ"/>
              <a:ea typeface="メイリオ"/>
              <a:cs typeface="メイリオ"/>
            </a:endParaRPr>
          </a:p>
        </p:txBody>
      </p:sp>
      <p:sp>
        <p:nvSpPr>
          <p:cNvPr id="33" name="Rounded Rectangle 32"/>
          <p:cNvSpPr/>
          <p:nvPr/>
        </p:nvSpPr>
        <p:spPr>
          <a:xfrm>
            <a:off x="6803999" y="4392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時期に合わせた企画配信</a:t>
            </a:r>
          </a:p>
        </p:txBody>
      </p:sp>
      <p:cxnSp>
        <p:nvCxnSpPr>
          <p:cNvPr id="34" name="Connector 33"/>
          <p:cNvCxnSpPr/>
          <p:nvPr/>
        </p:nvCxnSpPr>
        <p:spPr>
          <a:xfrm>
            <a:off x="3510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642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2000" y="5292000"/>
            <a:ext cx="9043200" cy="46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診断と資料をきっかけにLINEの友だちになっていただき、比べている間も情報を届け続ける。</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現状分析｜各社LINEの今</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dirty="0" err="1">
                <a:solidFill>
                  <a:srgbClr val="333333"/>
                </a:solidFill>
                <a:latin typeface="メイリオ"/>
                <a:ea typeface="メイリオ"/>
                <a:cs typeface="メイリオ"/>
              </a:rPr>
              <a:t>大手・中堅の塾は、LINEで保護者の迷いにどこまで応えているか。</a:t>
            </a:r>
          </a:p>
          <a:p>
            <a:pPr algn="l">
              <a:lnSpc>
                <a:spcPct val="128000"/>
              </a:lnSpc>
            </a:pPr>
            <a:r>
              <a:rPr sz="1250" dirty="0" err="1">
                <a:solidFill>
                  <a:srgbClr val="333333"/>
                </a:solidFill>
                <a:latin typeface="メイリオ"/>
                <a:ea typeface="メイリオ"/>
                <a:cs typeface="メイリオ"/>
              </a:rPr>
              <a:t>大手2社（個別教室のトライ・明光義塾）と中堅2社（森塾・ナビ個別指導学院）を実際に確認した。</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出典｜各社LINE公式アカウント（page.line.me・実測）・公式サイト・LINEヤフー for Business 導入事例（明光ネットワークジャパン 2024）2026-09-25取得。「確認できず」＝公開情報で確認できなかったもの</a:t>
            </a:r>
          </a:p>
        </p:txBody>
      </p:sp>
      <p:sp>
        <p:nvSpPr>
          <p:cNvPr id="68" name="Rectangle 67"/>
          <p:cNvSpPr/>
          <p:nvPr/>
        </p:nvSpPr>
        <p:spPr>
          <a:xfrm>
            <a:off x="1835999" y="1494000"/>
            <a:ext cx="1526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本部アカウント</a:t>
            </a:r>
          </a:p>
          <a:p>
            <a:pPr algn="ctr"/>
            <a:r>
              <a:rPr sz="950" b="1">
                <a:solidFill>
                  <a:srgbClr val="FFFFFF"/>
                </a:solidFill>
                <a:latin typeface="メイリオ"/>
                <a:ea typeface="メイリオ"/>
                <a:cs typeface="メイリオ"/>
              </a:rPr>
              <a:t>（友だち数）</a:t>
            </a:r>
          </a:p>
        </p:txBody>
      </p:sp>
      <p:sp>
        <p:nvSpPr>
          <p:cNvPr id="69" name="Rectangle 68"/>
          <p:cNvSpPr/>
          <p:nvPr/>
        </p:nvSpPr>
        <p:spPr>
          <a:xfrm>
            <a:off x="3383999" y="1494000"/>
            <a:ext cx="102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教室別の</a:t>
            </a:r>
          </a:p>
          <a:p>
            <a:pPr algn="ctr"/>
            <a:r>
              <a:rPr sz="950" b="1">
                <a:solidFill>
                  <a:srgbClr val="FFFFFF"/>
                </a:solidFill>
                <a:latin typeface="メイリオ"/>
                <a:ea typeface="メイリオ"/>
                <a:cs typeface="メイリオ"/>
              </a:rPr>
              <a:t>アカウント</a:t>
            </a:r>
          </a:p>
        </p:txBody>
      </p:sp>
      <p:sp>
        <p:nvSpPr>
          <p:cNvPr id="70" name="Rectangle 69"/>
          <p:cNvSpPr/>
          <p:nvPr/>
        </p:nvSpPr>
        <p:spPr>
          <a:xfrm>
            <a:off x="4428000" y="1494000"/>
            <a:ext cx="806399"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誰向け</a:t>
            </a:r>
          </a:p>
        </p:txBody>
      </p:sp>
      <p:sp>
        <p:nvSpPr>
          <p:cNvPr id="71" name="Rectangle 70"/>
          <p:cNvSpPr/>
          <p:nvPr/>
        </p:nvSpPr>
        <p:spPr>
          <a:xfrm>
            <a:off x="5255999" y="1494000"/>
            <a:ext cx="138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診断</a:t>
            </a:r>
          </a:p>
        </p:txBody>
      </p:sp>
      <p:sp>
        <p:nvSpPr>
          <p:cNvPr id="72" name="Rectangle 71"/>
          <p:cNvSpPr/>
          <p:nvPr/>
        </p:nvSpPr>
        <p:spPr>
          <a:xfrm>
            <a:off x="6659999" y="1494000"/>
            <a:ext cx="1454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LINEで資料請求</a:t>
            </a:r>
          </a:p>
          <a:p>
            <a:pPr algn="ctr"/>
            <a:r>
              <a:rPr sz="950" b="1">
                <a:solidFill>
                  <a:srgbClr val="FFFFFF"/>
                </a:solidFill>
                <a:latin typeface="メイリオ"/>
                <a:ea typeface="メイリオ"/>
                <a:cs typeface="メイリオ"/>
              </a:rPr>
              <a:t>・体験予約</a:t>
            </a:r>
          </a:p>
        </p:txBody>
      </p:sp>
      <p:sp>
        <p:nvSpPr>
          <p:cNvPr id="73" name="Rectangle 72"/>
          <p:cNvSpPr/>
          <p:nvPr/>
        </p:nvSpPr>
        <p:spPr>
          <a:xfrm>
            <a:off x="8135999" y="1494000"/>
            <a:ext cx="13176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チャット相談</a:t>
            </a:r>
          </a:p>
        </p:txBody>
      </p:sp>
      <p:sp>
        <p:nvSpPr>
          <p:cNvPr id="74" name="Rectangle 73"/>
          <p:cNvSpPr/>
          <p:nvPr/>
        </p:nvSpPr>
        <p:spPr>
          <a:xfrm>
            <a:off x="432000" y="1936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大手</a:t>
            </a:r>
          </a:p>
          <a:p>
            <a:pPr algn="ctr"/>
            <a:r>
              <a:rPr sz="1200" b="1">
                <a:solidFill>
                  <a:srgbClr val="1F285A"/>
                </a:solidFill>
                <a:latin typeface="メイリオ"/>
                <a:ea typeface="メイリオ"/>
                <a:cs typeface="メイリオ"/>
              </a:rPr>
              <a:t>明光義塾</a:t>
            </a:r>
          </a:p>
        </p:txBody>
      </p:sp>
      <p:sp>
        <p:nvSpPr>
          <p:cNvPr id="75" name="Rectangle 74"/>
          <p:cNvSpPr/>
          <p:nvPr/>
        </p:nvSpPr>
        <p:spPr>
          <a:xfrm>
            <a:off x="1835999" y="1936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明光義塾</a:t>
            </a:r>
          </a:p>
          <a:p>
            <a:pPr algn="ctr"/>
            <a:r>
              <a:rPr sz="950" b="0">
                <a:solidFill>
                  <a:srgbClr val="333333"/>
                </a:solidFill>
                <a:latin typeface="メイリオ"/>
                <a:ea typeface="メイリオ"/>
                <a:cs typeface="メイリオ"/>
              </a:rPr>
              <a:t>308,344人</a:t>
            </a:r>
          </a:p>
        </p:txBody>
      </p:sp>
      <p:sp>
        <p:nvSpPr>
          <p:cNvPr id="76" name="Rectangle 75"/>
          <p:cNvSpPr/>
          <p:nvPr/>
        </p:nvSpPr>
        <p:spPr>
          <a:xfrm>
            <a:off x="3383999" y="1936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あり（多数）</a:t>
            </a:r>
          </a:p>
          <a:p>
            <a:pPr algn="ctr"/>
            <a:r>
              <a:rPr sz="1000" b="0">
                <a:solidFill>
                  <a:srgbClr val="333333"/>
                </a:solidFill>
                <a:latin typeface="メイリオ"/>
                <a:ea typeface="メイリオ"/>
                <a:cs typeface="メイリオ"/>
              </a:rPr>
              <a:t>例：623人</a:t>
            </a:r>
          </a:p>
        </p:txBody>
      </p:sp>
      <p:sp>
        <p:nvSpPr>
          <p:cNvPr id="77" name="Rectangle 76"/>
          <p:cNvSpPr/>
          <p:nvPr/>
        </p:nvSpPr>
        <p:spPr>
          <a:xfrm>
            <a:off x="4428000" y="1936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00897B"/>
                </a:solidFill>
                <a:latin typeface="メイリオ"/>
                <a:ea typeface="メイリオ"/>
                <a:cs typeface="メイリオ"/>
              </a:rPr>
              <a:t>保護者</a:t>
            </a:r>
          </a:p>
        </p:txBody>
      </p:sp>
      <p:sp>
        <p:nvSpPr>
          <p:cNvPr id="78" name="Rectangle 77"/>
          <p:cNvSpPr/>
          <p:nvPr/>
        </p:nvSpPr>
        <p:spPr>
          <a:xfrm>
            <a:off x="5255999" y="1936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00897B"/>
                </a:solidFill>
                <a:latin typeface="メイリオ"/>
                <a:ea typeface="メイリオ"/>
                <a:cs typeface="メイリオ"/>
              </a:rPr>
              <a:t>あり</a:t>
            </a:r>
          </a:p>
          <a:p>
            <a:pPr algn="ctr"/>
            <a:r>
              <a:rPr sz="900" b="0">
                <a:solidFill>
                  <a:srgbClr val="333333"/>
                </a:solidFill>
                <a:latin typeface="メイリオ"/>
                <a:ea typeface="メイリオ"/>
                <a:cs typeface="メイリオ"/>
              </a:rPr>
              <a:t>タイプ別の勉強法・相性チェック</a:t>
            </a:r>
          </a:p>
        </p:txBody>
      </p:sp>
      <p:sp>
        <p:nvSpPr>
          <p:cNvPr id="79" name="Rectangle 78"/>
          <p:cNvSpPr/>
          <p:nvPr/>
        </p:nvSpPr>
        <p:spPr>
          <a:xfrm>
            <a:off x="6659999" y="1936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00897B"/>
                </a:solidFill>
                <a:latin typeface="メイリオ"/>
                <a:ea typeface="メイリオ"/>
                <a:cs typeface="メイリオ"/>
              </a:rPr>
              <a:t>あり</a:t>
            </a:r>
          </a:p>
          <a:p>
            <a:pPr algn="ctr"/>
            <a:r>
              <a:rPr sz="850" b="0">
                <a:solidFill>
                  <a:srgbClr val="7F7F7F"/>
                </a:solidFill>
                <a:latin typeface="メイリオ"/>
                <a:ea typeface="メイリオ"/>
                <a:cs typeface="メイリオ"/>
              </a:rPr>
              <a:t>（体験予約はLINEの中で）</a:t>
            </a:r>
          </a:p>
        </p:txBody>
      </p:sp>
      <p:sp>
        <p:nvSpPr>
          <p:cNvPr id="80" name="Rectangle 79"/>
          <p:cNvSpPr/>
          <p:nvPr/>
        </p:nvSpPr>
        <p:spPr>
          <a:xfrm>
            <a:off x="8135999" y="1936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a:t>
            </a:r>
          </a:p>
          <a:p>
            <a:pPr algn="ctr"/>
            <a:r>
              <a:rPr sz="1000" b="0">
                <a:solidFill>
                  <a:srgbClr val="333333"/>
                </a:solidFill>
                <a:latin typeface="メイリオ"/>
                <a:ea typeface="メイリオ"/>
                <a:cs typeface="メイリオ"/>
              </a:rPr>
              <a:t>AIが回答</a:t>
            </a:r>
          </a:p>
        </p:txBody>
      </p:sp>
      <p:sp>
        <p:nvSpPr>
          <p:cNvPr id="81" name="Rectangle 80"/>
          <p:cNvSpPr/>
          <p:nvPr/>
        </p:nvSpPr>
        <p:spPr>
          <a:xfrm>
            <a:off x="432000" y="2638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大手</a:t>
            </a:r>
          </a:p>
          <a:p>
            <a:pPr algn="ctr"/>
            <a:r>
              <a:rPr sz="1200" b="1">
                <a:solidFill>
                  <a:srgbClr val="1F285A"/>
                </a:solidFill>
                <a:latin typeface="メイリオ"/>
                <a:ea typeface="メイリオ"/>
                <a:cs typeface="メイリオ"/>
              </a:rPr>
              <a:t>個別教室のトライ</a:t>
            </a:r>
          </a:p>
        </p:txBody>
      </p:sp>
      <p:sp>
        <p:nvSpPr>
          <p:cNvPr id="82" name="Rectangle 81"/>
          <p:cNvSpPr/>
          <p:nvPr/>
        </p:nvSpPr>
        <p:spPr>
          <a:xfrm>
            <a:off x="1835999" y="2638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トライさん</a:t>
            </a:r>
          </a:p>
          <a:p>
            <a:pPr algn="ctr"/>
            <a:r>
              <a:rPr sz="950" b="0">
                <a:solidFill>
                  <a:srgbClr val="333333"/>
                </a:solidFill>
                <a:latin typeface="メイリオ"/>
                <a:ea typeface="メイリオ"/>
                <a:cs typeface="メイリオ"/>
              </a:rPr>
              <a:t>120,131人</a:t>
            </a:r>
          </a:p>
        </p:txBody>
      </p:sp>
      <p:sp>
        <p:nvSpPr>
          <p:cNvPr id="83" name="Rectangle 82"/>
          <p:cNvSpPr/>
          <p:nvPr/>
        </p:nvSpPr>
        <p:spPr>
          <a:xfrm>
            <a:off x="3383999" y="2638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84" name="Rectangle 83"/>
          <p:cNvSpPr/>
          <p:nvPr/>
        </p:nvSpPr>
        <p:spPr>
          <a:xfrm>
            <a:off x="4428000" y="2638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333333"/>
                </a:solidFill>
                <a:latin typeface="メイリオ"/>
                <a:ea typeface="メイリオ"/>
                <a:cs typeface="メイリオ"/>
              </a:rPr>
              <a:t>生徒</a:t>
            </a:r>
          </a:p>
          <a:p>
            <a:pPr algn="ctr"/>
            <a:r>
              <a:rPr sz="1000" b="0">
                <a:solidFill>
                  <a:srgbClr val="333333"/>
                </a:solidFill>
                <a:latin typeface="メイリオ"/>
                <a:ea typeface="メイリオ"/>
                <a:cs typeface="メイリオ"/>
              </a:rPr>
              <a:t>（中高生）</a:t>
            </a:r>
          </a:p>
        </p:txBody>
      </p:sp>
      <p:sp>
        <p:nvSpPr>
          <p:cNvPr id="85" name="Rectangle 84"/>
          <p:cNvSpPr/>
          <p:nvPr/>
        </p:nvSpPr>
        <p:spPr>
          <a:xfrm>
            <a:off x="5255999" y="2638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333333"/>
                </a:solidFill>
                <a:latin typeface="メイリオ"/>
                <a:ea typeface="メイリオ"/>
                <a:cs typeface="メイリオ"/>
              </a:rPr>
              <a:t>Webの性格診断あり</a:t>
            </a:r>
          </a:p>
          <a:p>
            <a:pPr algn="ctr"/>
            <a:r>
              <a:rPr sz="900" b="0">
                <a:solidFill>
                  <a:srgbClr val="333333"/>
                </a:solidFill>
                <a:latin typeface="メイリオ"/>
                <a:ea typeface="メイリオ"/>
                <a:cs typeface="メイリオ"/>
              </a:rPr>
              <a:t>LINEでは確認できず</a:t>
            </a:r>
          </a:p>
        </p:txBody>
      </p:sp>
      <p:sp>
        <p:nvSpPr>
          <p:cNvPr id="86" name="Rectangle 85"/>
          <p:cNvSpPr/>
          <p:nvPr/>
        </p:nvSpPr>
        <p:spPr>
          <a:xfrm>
            <a:off x="6659999" y="2638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確認できず</a:t>
            </a:r>
          </a:p>
          <a:p>
            <a:pPr algn="ctr"/>
            <a:r>
              <a:rPr sz="850" b="0">
                <a:solidFill>
                  <a:srgbClr val="7F7F7F"/>
                </a:solidFill>
                <a:latin typeface="メイリオ"/>
                <a:ea typeface="メイリオ"/>
                <a:cs typeface="メイリオ"/>
              </a:rPr>
              <a:t>（Webフォーム）</a:t>
            </a:r>
          </a:p>
        </p:txBody>
      </p:sp>
      <p:sp>
        <p:nvSpPr>
          <p:cNvPr id="87" name="Rectangle 86"/>
          <p:cNvSpPr/>
          <p:nvPr/>
        </p:nvSpPr>
        <p:spPr>
          <a:xfrm>
            <a:off x="8135999" y="2638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a:t>
            </a:r>
          </a:p>
          <a:p>
            <a:pPr algn="ctr"/>
            <a:r>
              <a:rPr sz="1000" b="0">
                <a:solidFill>
                  <a:srgbClr val="333333"/>
                </a:solidFill>
                <a:latin typeface="メイリオ"/>
                <a:ea typeface="メイリオ"/>
                <a:cs typeface="メイリオ"/>
              </a:rPr>
              <a:t>LINE相談窓口</a:t>
            </a:r>
          </a:p>
        </p:txBody>
      </p:sp>
      <p:sp>
        <p:nvSpPr>
          <p:cNvPr id="88" name="Rectangle 87"/>
          <p:cNvSpPr/>
          <p:nvPr/>
        </p:nvSpPr>
        <p:spPr>
          <a:xfrm>
            <a:off x="432000" y="3340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中堅</a:t>
            </a:r>
          </a:p>
          <a:p>
            <a:pPr algn="ctr"/>
            <a:r>
              <a:rPr sz="1200" b="1">
                <a:solidFill>
                  <a:srgbClr val="1F285A"/>
                </a:solidFill>
                <a:latin typeface="メイリオ"/>
                <a:ea typeface="メイリオ"/>
                <a:cs typeface="メイリオ"/>
              </a:rPr>
              <a:t>森塾</a:t>
            </a:r>
          </a:p>
        </p:txBody>
      </p:sp>
      <p:sp>
        <p:nvSpPr>
          <p:cNvPr id="89" name="Rectangle 88"/>
          <p:cNvSpPr/>
          <p:nvPr/>
        </p:nvSpPr>
        <p:spPr>
          <a:xfrm>
            <a:off x="1835999" y="3340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運営会社名義</a:t>
            </a:r>
          </a:p>
          <a:p>
            <a:pPr algn="ctr"/>
            <a:r>
              <a:rPr sz="950" b="0">
                <a:solidFill>
                  <a:srgbClr val="333333"/>
                </a:solidFill>
                <a:latin typeface="メイリオ"/>
                <a:ea typeface="メイリオ"/>
                <a:cs typeface="メイリオ"/>
              </a:rPr>
              <a:t>（スプリックス）</a:t>
            </a:r>
          </a:p>
          <a:p>
            <a:pPr algn="ctr"/>
            <a:r>
              <a:rPr sz="950" b="0">
                <a:solidFill>
                  <a:srgbClr val="333333"/>
                </a:solidFill>
                <a:latin typeface="メイリオ"/>
                <a:ea typeface="メイリオ"/>
                <a:cs typeface="メイリオ"/>
              </a:rPr>
              <a:t>2,043,233人</a:t>
            </a:r>
          </a:p>
        </p:txBody>
      </p:sp>
      <p:sp>
        <p:nvSpPr>
          <p:cNvPr id="90" name="Rectangle 89"/>
          <p:cNvSpPr/>
          <p:nvPr/>
        </p:nvSpPr>
        <p:spPr>
          <a:xfrm>
            <a:off x="3383999" y="3340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1" name="Rectangle 90"/>
          <p:cNvSpPr/>
          <p:nvPr/>
        </p:nvSpPr>
        <p:spPr>
          <a:xfrm>
            <a:off x="4428000" y="3340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7F7F7F"/>
                </a:solidFill>
                <a:latin typeface="メイリオ"/>
                <a:ea typeface="メイリオ"/>
                <a:cs typeface="メイリオ"/>
              </a:rPr>
              <a:t>確認できず</a:t>
            </a:r>
          </a:p>
        </p:txBody>
      </p:sp>
      <p:sp>
        <p:nvSpPr>
          <p:cNvPr id="92" name="Rectangle 91"/>
          <p:cNvSpPr/>
          <p:nvPr/>
        </p:nvSpPr>
        <p:spPr>
          <a:xfrm>
            <a:off x="5255999" y="3340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93" name="Rectangle 92"/>
          <p:cNvSpPr/>
          <p:nvPr/>
        </p:nvSpPr>
        <p:spPr>
          <a:xfrm>
            <a:off x="6659999" y="3340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94" name="Rectangle 93"/>
          <p:cNvSpPr/>
          <p:nvPr/>
        </p:nvSpPr>
        <p:spPr>
          <a:xfrm>
            <a:off x="8135999" y="3340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95" name="Rectangle 94"/>
          <p:cNvSpPr/>
          <p:nvPr/>
        </p:nvSpPr>
        <p:spPr>
          <a:xfrm>
            <a:off x="432000" y="4042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中堅</a:t>
            </a:r>
          </a:p>
          <a:p>
            <a:pPr algn="ctr"/>
            <a:r>
              <a:rPr sz="1200" b="1">
                <a:solidFill>
                  <a:srgbClr val="1F285A"/>
                </a:solidFill>
                <a:latin typeface="メイリオ"/>
                <a:ea typeface="メイリオ"/>
                <a:cs typeface="メイリオ"/>
              </a:rPr>
              <a:t>ナビ個別指導学院</a:t>
            </a:r>
          </a:p>
        </p:txBody>
      </p:sp>
      <p:sp>
        <p:nvSpPr>
          <p:cNvPr id="96" name="Rectangle 95"/>
          <p:cNvSpPr/>
          <p:nvPr/>
        </p:nvSpPr>
        <p:spPr>
          <a:xfrm>
            <a:off x="1835999" y="4042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7" name="Rectangle 96"/>
          <p:cNvSpPr/>
          <p:nvPr/>
        </p:nvSpPr>
        <p:spPr>
          <a:xfrm>
            <a:off x="3383999" y="4042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8" name="Rectangle 97"/>
          <p:cNvSpPr/>
          <p:nvPr/>
        </p:nvSpPr>
        <p:spPr>
          <a:xfrm>
            <a:off x="4428000" y="4042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7F7F7F"/>
                </a:solidFill>
                <a:latin typeface="メイリオ"/>
                <a:ea typeface="メイリオ"/>
                <a:cs typeface="メイリオ"/>
              </a:rPr>
              <a:t>―</a:t>
            </a:r>
          </a:p>
        </p:txBody>
      </p:sp>
      <p:sp>
        <p:nvSpPr>
          <p:cNvPr id="99" name="Rectangle 98"/>
          <p:cNvSpPr/>
          <p:nvPr/>
        </p:nvSpPr>
        <p:spPr>
          <a:xfrm>
            <a:off x="5255999" y="4042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a:t>
            </a:r>
          </a:p>
        </p:txBody>
      </p:sp>
      <p:sp>
        <p:nvSpPr>
          <p:cNvPr id="100" name="Rectangle 99"/>
          <p:cNvSpPr/>
          <p:nvPr/>
        </p:nvSpPr>
        <p:spPr>
          <a:xfrm>
            <a:off x="6659999" y="4042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101" name="Rectangle 100"/>
          <p:cNvSpPr/>
          <p:nvPr/>
        </p:nvSpPr>
        <p:spPr>
          <a:xfrm>
            <a:off x="8135999" y="4042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a:t>
            </a:r>
          </a:p>
        </p:txBody>
      </p:sp>
      <p:sp>
        <p:nvSpPr>
          <p:cNvPr id="102" name="Rounded Rectangle 101"/>
          <p:cNvSpPr/>
          <p:nvPr/>
        </p:nvSpPr>
        <p:spPr>
          <a:xfrm>
            <a:off x="432000" y="4788000"/>
            <a:ext cx="4428000" cy="990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050" b="1">
                <a:solidFill>
                  <a:srgbClr val="1F285A"/>
                </a:solidFill>
                <a:latin typeface="メイリオ"/>
                <a:ea typeface="メイリオ"/>
                <a:cs typeface="メイリオ"/>
              </a:rPr>
              <a:t>明光義塾はLINEで成果を出している（公式事例・P27）</a:t>
            </a:r>
          </a:p>
          <a:p>
            <a:pPr algn="l"/>
            <a:r>
              <a:rPr sz="950" b="0">
                <a:solidFill>
                  <a:srgbClr val="333333"/>
                </a:solidFill>
                <a:latin typeface="メイリオ"/>
                <a:ea typeface="メイリオ"/>
                <a:cs typeface="メイリオ"/>
              </a:rPr>
              <a:t>・サイトの離脱時ポップアップから友だち追加</a:t>
            </a:r>
          </a:p>
          <a:p>
            <a:pPr algn="l"/>
            <a:r>
              <a:rPr sz="950" b="0">
                <a:solidFill>
                  <a:srgbClr val="333333"/>
                </a:solidFill>
                <a:latin typeface="メイリオ"/>
                <a:ea typeface="メイリオ"/>
                <a:cs typeface="メイリオ"/>
              </a:rPr>
              <a:t>・約5カ月で約20万人の友だち（うち約15万人はスタンプの二次拡散）</a:t>
            </a:r>
          </a:p>
          <a:p>
            <a:pPr algn="l"/>
            <a:r>
              <a:rPr sz="950" b="0">
                <a:solidFill>
                  <a:srgbClr val="333333"/>
                </a:solidFill>
                <a:latin typeface="メイリオ"/>
                <a:ea typeface="メイリオ"/>
                <a:cs typeface="メイリオ"/>
              </a:rPr>
              <a:t>・資料請求が前年比120％ほど（2023年6〜7月）</a:t>
            </a:r>
          </a:p>
        </p:txBody>
      </p:sp>
      <p:sp>
        <p:nvSpPr>
          <p:cNvPr id="103" name="Rounded Rectangle 102"/>
          <p:cNvSpPr/>
          <p:nvPr/>
        </p:nvSpPr>
        <p:spPr>
          <a:xfrm>
            <a:off x="5047200" y="4788000"/>
            <a:ext cx="4428000" cy="990000"/>
          </a:xfrm>
          <a:prstGeom prst="roundRect">
            <a:avLst>
              <a:gd name="adj" fmla="val 8000"/>
            </a:avLst>
          </a:prstGeom>
          <a:solidFill>
            <a:srgbClr val="E4E9F2"/>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050" b="1">
                <a:solidFill>
                  <a:srgbClr val="333333"/>
                </a:solidFill>
                <a:latin typeface="メイリオ"/>
                <a:ea typeface="メイリオ"/>
                <a:cs typeface="メイリオ"/>
              </a:rPr>
              <a:t>差がつくところ</a:t>
            </a:r>
          </a:p>
          <a:p>
            <a:pPr algn="l"/>
            <a:r>
              <a:rPr sz="950" b="0">
                <a:solidFill>
                  <a:srgbClr val="333333"/>
                </a:solidFill>
                <a:latin typeface="メイリオ"/>
                <a:ea typeface="メイリオ"/>
                <a:cs typeface="メイリオ"/>
              </a:rPr>
              <a:t>・保護者向けに「診断 → 体験予約」をLINEの中で</a:t>
            </a:r>
          </a:p>
          <a:p>
            <a:pPr algn="l"/>
            <a:r>
              <a:rPr sz="950" b="0">
                <a:solidFill>
                  <a:srgbClr val="333333"/>
                </a:solidFill>
                <a:latin typeface="メイリオ"/>
                <a:ea typeface="メイリオ"/>
                <a:cs typeface="メイリオ"/>
              </a:rPr>
              <a:t>　つないでいるのは、確認した4社では明光義塾だけ</a:t>
            </a:r>
          </a:p>
          <a:p>
            <a:pPr algn="l"/>
            <a:r>
              <a:rPr sz="950" b="0">
                <a:solidFill>
                  <a:srgbClr val="333333"/>
                </a:solidFill>
                <a:latin typeface="メイリオ"/>
                <a:ea typeface="メイリオ"/>
                <a:cs typeface="メイリオ"/>
              </a:rPr>
              <a:t>・トライは生徒向け。森塾・ナビは公式サイトでLINEの導線を確認できなかった</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保護者向けに、診断から体験予約までをLINEでつないでいる塾は、まだ少ない。</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施策の設計図①　友だち追加の動線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どこで、何をお伝えして、LINEの友だちになっていただくか。1教室あたり月250人をモデル値とした。</a:t>
            </a:r>
          </a:p>
          <a:p>
            <a:pPr algn="l">
              <a:lnSpc>
                <a:spcPct val="128000"/>
              </a:lnSpc>
            </a:pPr>
            <a:r>
              <a:rPr sz="1200">
                <a:solidFill>
                  <a:srgbClr val="333333"/>
                </a:solidFill>
                <a:latin typeface="メイリオ"/>
                <a:ea typeface="メイリオ"/>
                <a:cs typeface="メイリオ"/>
              </a:rPr>
              <a:t>最も多いのは、サイトを離れようとする保護者に表示する離脱防止ポップアップ。</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※友だち追加数は1教室あたりのモデル値（例）。費用は月額・初期とも税抜。離脱防止ポップアップはSitelead等</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2" name="Rectangle 31"/>
          <p:cNvSpPr/>
          <p:nvPr/>
        </p:nvSpPr>
        <p:spPr>
          <a:xfrm>
            <a:off x="432000" y="1494000"/>
            <a:ext cx="1612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箇所</a:t>
            </a:r>
          </a:p>
        </p:txBody>
      </p:sp>
      <p:sp>
        <p:nvSpPr>
          <p:cNvPr id="33" name="Rectangle 32"/>
          <p:cNvSpPr/>
          <p:nvPr/>
        </p:nvSpPr>
        <p:spPr>
          <a:xfrm>
            <a:off x="2088000" y="1494000"/>
            <a:ext cx="355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34" name="Rectangle 33"/>
          <p:cNvSpPr/>
          <p:nvPr/>
        </p:nvSpPr>
        <p:spPr>
          <a:xfrm>
            <a:off x="5688000" y="1494000"/>
            <a:ext cx="132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LINE追加</a:t>
            </a:r>
          </a:p>
        </p:txBody>
      </p:sp>
      <p:sp>
        <p:nvSpPr>
          <p:cNvPr id="35" name="Rectangle 34"/>
          <p:cNvSpPr/>
          <p:nvPr/>
        </p:nvSpPr>
        <p:spPr>
          <a:xfrm>
            <a:off x="7056000" y="1494000"/>
            <a:ext cx="118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費用（月）</a:t>
            </a:r>
          </a:p>
        </p:txBody>
      </p:sp>
      <p:sp>
        <p:nvSpPr>
          <p:cNvPr id="36" name="Rectangle 35"/>
          <p:cNvSpPr/>
          <p:nvPr/>
        </p:nvSpPr>
        <p:spPr>
          <a:xfrm>
            <a:off x="8280000" y="1494000"/>
            <a:ext cx="11520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初期費用</a:t>
            </a:r>
          </a:p>
        </p:txBody>
      </p:sp>
      <p:sp>
        <p:nvSpPr>
          <p:cNvPr id="37" name="Rectangle 36"/>
          <p:cNvSpPr/>
          <p:nvPr/>
        </p:nvSpPr>
        <p:spPr>
          <a:xfrm>
            <a:off x="432000" y="17459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00 離脱防止</a:t>
            </a:r>
          </a:p>
          <a:p>
            <a:pPr algn="l"/>
            <a:r>
              <a:rPr sz="1150" b="1">
                <a:solidFill>
                  <a:srgbClr val="333333"/>
                </a:solidFill>
                <a:latin typeface="メイリオ"/>
                <a:ea typeface="メイリオ"/>
                <a:cs typeface="メイリオ"/>
              </a:rPr>
              <a:t>ポップアップ</a:t>
            </a:r>
          </a:p>
        </p:txBody>
      </p:sp>
      <p:cxnSp>
        <p:nvCxnSpPr>
          <p:cNvPr id="38" name="Connector 37"/>
          <p:cNvCxnSpPr/>
          <p:nvPr/>
        </p:nvCxnSpPr>
        <p:spPr>
          <a:xfrm>
            <a:off x="2030400" y="20339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2088000" y="17459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「まだ決めなくて大丈夫です」</a:t>
            </a:r>
          </a:p>
          <a:p>
            <a:pPr algn="l"/>
            <a:r>
              <a:rPr sz="1150" b="0">
                <a:solidFill>
                  <a:srgbClr val="7F7F7F"/>
                </a:solidFill>
                <a:latin typeface="メイリオ"/>
                <a:ea typeface="メイリオ"/>
                <a:cs typeface="メイリオ"/>
              </a:rPr>
              <a:t>30秒診断と資料をLINEで。営業電話なし</a:t>
            </a:r>
          </a:p>
        </p:txBody>
      </p:sp>
      <p:cxnSp>
        <p:nvCxnSpPr>
          <p:cNvPr id="40" name="Connector 39"/>
          <p:cNvCxnSpPr/>
          <p:nvPr/>
        </p:nvCxnSpPr>
        <p:spPr>
          <a:xfrm>
            <a:off x="5630400" y="20339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688000" y="17459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200人/月</a:t>
            </a:r>
          </a:p>
        </p:txBody>
      </p:sp>
      <p:sp>
        <p:nvSpPr>
          <p:cNvPr id="42" name="Rectangle 41"/>
          <p:cNvSpPr/>
          <p:nvPr/>
        </p:nvSpPr>
        <p:spPr>
          <a:xfrm>
            <a:off x="7056000" y="17459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3万円</a:t>
            </a:r>
          </a:p>
        </p:txBody>
      </p:sp>
      <p:sp>
        <p:nvSpPr>
          <p:cNvPr id="43" name="Rectangle 42"/>
          <p:cNvSpPr/>
          <p:nvPr/>
        </p:nvSpPr>
        <p:spPr>
          <a:xfrm>
            <a:off x="8280000" y="17459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1.5万円</a:t>
            </a:r>
          </a:p>
        </p:txBody>
      </p:sp>
      <p:sp>
        <p:nvSpPr>
          <p:cNvPr id="44" name="Rectangle 43"/>
          <p:cNvSpPr/>
          <p:nvPr/>
        </p:nvSpPr>
        <p:spPr>
          <a:xfrm>
            <a:off x="432000" y="2365200"/>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01 完了画面</a:t>
            </a:r>
          </a:p>
          <a:p>
            <a:pPr algn="l"/>
            <a:r>
              <a:rPr sz="1150" b="1">
                <a:solidFill>
                  <a:srgbClr val="333333"/>
                </a:solidFill>
                <a:latin typeface="メイリオ"/>
                <a:ea typeface="メイリオ"/>
                <a:cs typeface="メイリオ"/>
              </a:rPr>
              <a:t>からの誘導</a:t>
            </a:r>
          </a:p>
        </p:txBody>
      </p:sp>
      <p:cxnSp>
        <p:nvCxnSpPr>
          <p:cNvPr id="45" name="Connector 44"/>
          <p:cNvCxnSpPr/>
          <p:nvPr/>
        </p:nvCxnSpPr>
        <p:spPr>
          <a:xfrm>
            <a:off x="2030400" y="26531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088000" y="2365200"/>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資料請求・体験予約の完了画面で</a:t>
            </a:r>
          </a:p>
          <a:p>
            <a:pPr algn="l"/>
            <a:r>
              <a:rPr sz="1150" b="0">
                <a:solidFill>
                  <a:srgbClr val="7F7F7F"/>
                </a:solidFill>
                <a:latin typeface="メイリオ"/>
                <a:ea typeface="メイリオ"/>
                <a:cs typeface="メイリオ"/>
              </a:rPr>
              <a:t>「日程の確認・変更はLINEで」</a:t>
            </a:r>
          </a:p>
        </p:txBody>
      </p:sp>
      <p:cxnSp>
        <p:nvCxnSpPr>
          <p:cNvPr id="47" name="Connector 46"/>
          <p:cNvCxnSpPr/>
          <p:nvPr/>
        </p:nvCxnSpPr>
        <p:spPr>
          <a:xfrm>
            <a:off x="5630400" y="26531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688000" y="2365200"/>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30人/月</a:t>
            </a:r>
          </a:p>
        </p:txBody>
      </p:sp>
      <p:sp>
        <p:nvSpPr>
          <p:cNvPr id="49" name="Rectangle 48"/>
          <p:cNvSpPr/>
          <p:nvPr/>
        </p:nvSpPr>
        <p:spPr>
          <a:xfrm>
            <a:off x="7056000" y="2365200"/>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3万円〜</a:t>
            </a:r>
          </a:p>
        </p:txBody>
      </p:sp>
      <p:sp>
        <p:nvSpPr>
          <p:cNvPr id="50" name="Rectangle 49"/>
          <p:cNvSpPr/>
          <p:nvPr/>
        </p:nvSpPr>
        <p:spPr>
          <a:xfrm>
            <a:off x="8280000" y="2365200"/>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15万円</a:t>
            </a:r>
          </a:p>
        </p:txBody>
      </p:sp>
      <p:sp>
        <p:nvSpPr>
          <p:cNvPr id="51" name="Rectangle 50"/>
          <p:cNvSpPr/>
          <p:nvPr/>
        </p:nvSpPr>
        <p:spPr>
          <a:xfrm>
            <a:off x="432000" y="29843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02 チラシ・</a:t>
            </a:r>
          </a:p>
          <a:p>
            <a:pPr algn="l"/>
            <a:r>
              <a:rPr sz="1150" b="1">
                <a:solidFill>
                  <a:srgbClr val="333333"/>
                </a:solidFill>
                <a:latin typeface="メイリオ"/>
                <a:ea typeface="メイリオ"/>
                <a:cs typeface="メイリオ"/>
              </a:rPr>
              <a:t>教室のQR</a:t>
            </a:r>
          </a:p>
        </p:txBody>
      </p:sp>
      <p:cxnSp>
        <p:nvCxnSpPr>
          <p:cNvPr id="52" name="Connector 51"/>
          <p:cNvCxnSpPr/>
          <p:nvPr/>
        </p:nvCxnSpPr>
        <p:spPr>
          <a:xfrm>
            <a:off x="2030400" y="3272400"/>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2088000" y="29843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LINE限定</a:t>
            </a:r>
          </a:p>
          <a:p>
            <a:pPr algn="l"/>
            <a:r>
              <a:rPr sz="1150" b="0">
                <a:solidFill>
                  <a:srgbClr val="7F7F7F"/>
                </a:solidFill>
                <a:latin typeface="メイリオ"/>
                <a:ea typeface="メイリオ"/>
                <a:cs typeface="メイリオ"/>
              </a:rPr>
              <a:t>「学年別テスト対策プリント」プレゼント</a:t>
            </a:r>
          </a:p>
        </p:txBody>
      </p:sp>
      <p:cxnSp>
        <p:nvCxnSpPr>
          <p:cNvPr id="54" name="Connector 53"/>
          <p:cNvCxnSpPr/>
          <p:nvPr/>
        </p:nvCxnSpPr>
        <p:spPr>
          <a:xfrm>
            <a:off x="5630400" y="3272400"/>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5688000" y="29843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20人/月</a:t>
            </a:r>
          </a:p>
        </p:txBody>
      </p:sp>
      <p:sp>
        <p:nvSpPr>
          <p:cNvPr id="56" name="Rectangle 55"/>
          <p:cNvSpPr/>
          <p:nvPr/>
        </p:nvSpPr>
        <p:spPr>
          <a:xfrm>
            <a:off x="7056000" y="29843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費用内</a:t>
            </a:r>
          </a:p>
        </p:txBody>
      </p:sp>
      <p:sp>
        <p:nvSpPr>
          <p:cNvPr id="57" name="Rectangle 56"/>
          <p:cNvSpPr/>
          <p:nvPr/>
        </p:nvSpPr>
        <p:spPr>
          <a:xfrm>
            <a:off x="8280000" y="29843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費用内</a:t>
            </a:r>
          </a:p>
        </p:txBody>
      </p:sp>
      <p:sp>
        <p:nvSpPr>
          <p:cNvPr id="58" name="Rounded Rectangle 57"/>
          <p:cNvSpPr/>
          <p:nvPr/>
        </p:nvSpPr>
        <p:spPr>
          <a:xfrm>
            <a:off x="432000" y="3636000"/>
            <a:ext cx="9043200" cy="360000"/>
          </a:xfrm>
          <a:prstGeom prst="roundRect">
            <a:avLst>
              <a:gd name="adj" fmla="val 2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新しい友だち　合計 月250人（1教室あたり）</a:t>
            </a:r>
          </a:p>
        </p:txBody>
      </p:sp>
      <p:sp>
        <p:nvSpPr>
          <p:cNvPr id="59" name="Rectangle 58"/>
          <p:cNvSpPr/>
          <p:nvPr/>
        </p:nvSpPr>
        <p:spPr>
          <a:xfrm>
            <a:off x="432000" y="4068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それぞれの訴求（実文）</a:t>
            </a:r>
          </a:p>
        </p:txBody>
      </p:sp>
      <p:sp>
        <p:nvSpPr>
          <p:cNvPr id="60" name="Rounded Rectangle 59"/>
          <p:cNvSpPr/>
          <p:nvPr/>
        </p:nvSpPr>
        <p:spPr>
          <a:xfrm>
            <a:off x="432000"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1" name="Rectangle 60"/>
          <p:cNvSpPr/>
          <p:nvPr/>
        </p:nvSpPr>
        <p:spPr>
          <a:xfrm>
            <a:off x="5400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00 離脱防止ポップアップ</a:t>
            </a:r>
          </a:p>
        </p:txBody>
      </p:sp>
      <p:sp>
        <p:nvSpPr>
          <p:cNvPr id="62" name="Rectangle 61"/>
          <p:cNvSpPr/>
          <p:nvPr/>
        </p:nvSpPr>
        <p:spPr>
          <a:xfrm>
            <a:off x="5400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まだ、塾を決めなくて大丈夫です。</a:t>
            </a:r>
          </a:p>
          <a:p>
            <a:pPr algn="l"/>
            <a:r>
              <a:rPr sz="1150" b="0">
                <a:solidFill>
                  <a:srgbClr val="333333"/>
                </a:solidFill>
                <a:latin typeface="メイリオ"/>
                <a:ea typeface="メイリオ"/>
                <a:cs typeface="メイリオ"/>
              </a:rPr>
              <a:t>30秒の診断で、お子さまに合う学び方と</a:t>
            </a:r>
          </a:p>
          <a:p>
            <a:pPr algn="l"/>
            <a:r>
              <a:rPr sz="1150" b="0">
                <a:solidFill>
                  <a:srgbClr val="333333"/>
                </a:solidFill>
                <a:latin typeface="メイリオ"/>
                <a:ea typeface="メイリオ"/>
                <a:cs typeface="メイリオ"/>
              </a:rPr>
              <a:t>コース・料金の資料をLINEでお届けします。</a:t>
            </a:r>
          </a:p>
        </p:txBody>
      </p:sp>
      <p:sp>
        <p:nvSpPr>
          <p:cNvPr id="63" name="Rounded Rectangle 62"/>
          <p:cNvSpPr/>
          <p:nvPr/>
        </p:nvSpPr>
        <p:spPr>
          <a:xfrm>
            <a:off x="6479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LINEで資料と診断を受け取る</a:t>
            </a:r>
          </a:p>
        </p:txBody>
      </p:sp>
      <p:sp>
        <p:nvSpPr>
          <p:cNvPr id="64" name="Rounded Rectangle 63"/>
          <p:cNvSpPr/>
          <p:nvPr/>
        </p:nvSpPr>
        <p:spPr>
          <a:xfrm>
            <a:off x="34991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5" name="Rectangle 64"/>
          <p:cNvSpPr/>
          <p:nvPr/>
        </p:nvSpPr>
        <p:spPr>
          <a:xfrm>
            <a:off x="36072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01 完了画面</a:t>
            </a:r>
          </a:p>
        </p:txBody>
      </p:sp>
      <p:sp>
        <p:nvSpPr>
          <p:cNvPr id="66" name="Rectangle 65"/>
          <p:cNvSpPr/>
          <p:nvPr/>
        </p:nvSpPr>
        <p:spPr>
          <a:xfrm>
            <a:off x="36072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資料請求ありがとうございます。</a:t>
            </a:r>
          </a:p>
          <a:p>
            <a:pPr algn="l"/>
            <a:r>
              <a:rPr sz="1150" b="0">
                <a:solidFill>
                  <a:srgbClr val="333333"/>
                </a:solidFill>
                <a:latin typeface="メイリオ"/>
                <a:ea typeface="メイリオ"/>
                <a:cs typeface="メイリオ"/>
              </a:rPr>
              <a:t>体験の日程の確認・変更は、</a:t>
            </a:r>
          </a:p>
          <a:p>
            <a:pPr algn="l"/>
            <a:r>
              <a:rPr sz="1150" b="0">
                <a:solidFill>
                  <a:srgbClr val="333333"/>
                </a:solidFill>
                <a:latin typeface="メイリオ"/>
                <a:ea typeface="メイリオ"/>
                <a:cs typeface="メイリオ"/>
              </a:rPr>
              <a:t>LINEからいつでもできます。</a:t>
            </a:r>
          </a:p>
        </p:txBody>
      </p:sp>
      <p:sp>
        <p:nvSpPr>
          <p:cNvPr id="67" name="Rounded Rectangle 66"/>
          <p:cNvSpPr/>
          <p:nvPr/>
        </p:nvSpPr>
        <p:spPr>
          <a:xfrm>
            <a:off x="37151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LINEで友だち追加</a:t>
            </a:r>
          </a:p>
        </p:txBody>
      </p:sp>
      <p:sp>
        <p:nvSpPr>
          <p:cNvPr id="68" name="Rounded Rectangle 67"/>
          <p:cNvSpPr/>
          <p:nvPr/>
        </p:nvSpPr>
        <p:spPr>
          <a:xfrm>
            <a:off x="65663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9" name="Rectangle 68"/>
          <p:cNvSpPr/>
          <p:nvPr/>
        </p:nvSpPr>
        <p:spPr>
          <a:xfrm>
            <a:off x="66744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02 チラシ・教室のQR</a:t>
            </a:r>
          </a:p>
        </p:txBody>
      </p:sp>
      <p:sp>
        <p:nvSpPr>
          <p:cNvPr id="70" name="Rectangle 69"/>
          <p:cNvSpPr/>
          <p:nvPr/>
        </p:nvSpPr>
        <p:spPr>
          <a:xfrm>
            <a:off x="66744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LINEの友だち限定</a:t>
            </a:r>
          </a:p>
          <a:p>
            <a:pPr algn="l"/>
            <a:r>
              <a:rPr sz="1150" b="0">
                <a:solidFill>
                  <a:srgbClr val="333333"/>
                </a:solidFill>
                <a:latin typeface="メイリオ"/>
                <a:ea typeface="メイリオ"/>
                <a:cs typeface="メイリオ"/>
              </a:rPr>
              <a:t>学年別「テスト対策プリント」を</a:t>
            </a:r>
          </a:p>
          <a:p>
            <a:pPr algn="l"/>
            <a:r>
              <a:rPr sz="1150" b="0">
                <a:solidFill>
                  <a:srgbClr val="333333"/>
                </a:solidFill>
                <a:latin typeface="メイリオ"/>
                <a:ea typeface="メイリオ"/>
                <a:cs typeface="メイリオ"/>
              </a:rPr>
              <a:t>プレゼントしています。</a:t>
            </a:r>
          </a:p>
        </p:txBody>
      </p:sp>
      <p:sp>
        <p:nvSpPr>
          <p:cNvPr id="71" name="Rounded Rectangle 70"/>
          <p:cNvSpPr/>
          <p:nvPr/>
        </p:nvSpPr>
        <p:spPr>
          <a:xfrm>
            <a:off x="6782400"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QRから受け取る</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6516000"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002060"/>
                </a:solidFill>
                <a:latin typeface="メイリオ"/>
                <a:ea typeface="メイリオ"/>
                <a:cs typeface="Meiryo"/>
                <a:sym typeface="Meiryo"/>
              </a:rPr>
              <a:t>施策の設計図②　効率改善（ステップ配信・企画配信）</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8" name="Pentagon 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9" name="Chevron 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0" name="Chevron 9"/>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1" name="Chevron 1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12" name="Chevron 11"/>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3" name="Chevron 1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4" name="Chevron 1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5" name="Chevron 1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6" name="Rectangle 15"/>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l"/>
            <a:r>
              <a:rPr sz="1200" b="0">
                <a:solidFill>
                  <a:srgbClr val="333333"/>
                </a:solidFill>
                <a:latin typeface="メイリオ"/>
                <a:ea typeface="メイリオ"/>
                <a:cs typeface="メイリオ"/>
              </a:rPr>
              <a:t>友だち追加から14日間はステップ配信で、その後は時期に合わせた企画配信で、</a:t>
            </a:r>
          </a:p>
          <a:p>
            <a:pPr algn="l"/>
            <a:r>
              <a:rPr sz="1200" b="0">
                <a:solidFill>
                  <a:srgbClr val="333333"/>
                </a:solidFill>
                <a:latin typeface="メイリオ"/>
                <a:ea typeface="メイリオ"/>
                <a:cs typeface="メイリオ"/>
              </a:rPr>
              <a:t>資料請求（CV①）と体験予約（CV②）につなげる。</a:t>
            </a:r>
          </a:p>
        </p:txBody>
      </p:sp>
      <p:cxnSp>
        <p:nvCxnSpPr>
          <p:cNvPr id="17" name="Connector 16"/>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750" b="0">
                <a:solidFill>
                  <a:srgbClr val="7F7F7F"/>
                </a:solidFill>
                <a:latin typeface="メイリオ"/>
                <a:ea typeface="メイリオ"/>
                <a:cs typeface="メイリオ"/>
              </a:rPr>
              <a:t>※10教室のモデル値（例）。新しい友だちは1教室あたり月250人（P63）×10教室。開封率・クリック率＝弊社運用の目安（ステップ配信 72.5%×12%／企画配信 78%×10%）。CVR＝0.3〜1.0%。件数は整数（端数は四捨五入）</a:t>
            </a:r>
          </a:p>
        </p:txBody>
      </p:sp>
      <p:sp>
        <p:nvSpPr>
          <p:cNvPr id="19" name="Rectangle 18"/>
          <p:cNvSpPr/>
          <p:nvPr/>
        </p:nvSpPr>
        <p:spPr>
          <a:xfrm>
            <a:off x="432000" y="1475999"/>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l"/>
            <a:r>
              <a:rPr sz="1200" b="1">
                <a:solidFill>
                  <a:srgbClr val="FFFFFF"/>
                </a:solidFill>
                <a:latin typeface="メイリオ"/>
                <a:ea typeface="メイリオ"/>
                <a:cs typeface="メイリオ"/>
              </a:rPr>
              <a:t>[ステップ配信]　友だち追加から14日間・自動（新しい友だち 月2,500人＝10教室）</a:t>
            </a:r>
          </a:p>
        </p:txBody>
      </p:sp>
      <p:sp>
        <p:nvSpPr>
          <p:cNvPr id="20" name="Rectangle 19"/>
          <p:cNvSpPr/>
          <p:nvPr/>
        </p:nvSpPr>
        <p:spPr>
          <a:xfrm>
            <a:off x="432000" y="1720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タイミング</a:t>
            </a:r>
          </a:p>
        </p:txBody>
      </p:sp>
      <p:sp>
        <p:nvSpPr>
          <p:cNvPr id="21" name="Rectangle 20"/>
          <p:cNvSpPr/>
          <p:nvPr/>
        </p:nvSpPr>
        <p:spPr>
          <a:xfrm>
            <a:off x="1440000" y="1720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対象（想定数）</a:t>
            </a:r>
          </a:p>
        </p:txBody>
      </p:sp>
      <p:sp>
        <p:nvSpPr>
          <p:cNvPr id="22" name="Rectangle 21"/>
          <p:cNvSpPr/>
          <p:nvPr/>
        </p:nvSpPr>
        <p:spPr>
          <a:xfrm>
            <a:off x="3060000" y="1720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23" name="Rectangle 22"/>
          <p:cNvSpPr/>
          <p:nvPr/>
        </p:nvSpPr>
        <p:spPr>
          <a:xfrm>
            <a:off x="5652000" y="1720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開封率×クリック率×CVR</a:t>
            </a:r>
          </a:p>
        </p:txBody>
      </p:sp>
      <p:sp>
        <p:nvSpPr>
          <p:cNvPr id="24" name="Rectangle 23"/>
          <p:cNvSpPr/>
          <p:nvPr/>
        </p:nvSpPr>
        <p:spPr>
          <a:xfrm>
            <a:off x="7596000" y="1720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件数</a:t>
            </a:r>
          </a:p>
        </p:txBody>
      </p:sp>
      <p:sp>
        <p:nvSpPr>
          <p:cNvPr id="25" name="Rectangle 24"/>
          <p:cNvSpPr/>
          <p:nvPr/>
        </p:nvSpPr>
        <p:spPr>
          <a:xfrm>
            <a:off x="8784000" y="1720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a:t>
            </a:r>
          </a:p>
        </p:txBody>
      </p:sp>
      <p:sp>
        <p:nvSpPr>
          <p:cNvPr id="26" name="Rectangle 25"/>
          <p:cNvSpPr/>
          <p:nvPr/>
        </p:nvSpPr>
        <p:spPr>
          <a:xfrm>
            <a:off x="432000" y="1954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0日後</a:t>
            </a:r>
          </a:p>
        </p:txBody>
      </p:sp>
      <p:sp>
        <p:nvSpPr>
          <p:cNvPr id="27" name="Rectangle 26"/>
          <p:cNvSpPr/>
          <p:nvPr/>
        </p:nvSpPr>
        <p:spPr>
          <a:xfrm>
            <a:off x="1440000" y="1954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友だち追加者全員</a:t>
            </a:r>
          </a:p>
          <a:p>
            <a:pPr algn="l"/>
            <a:r>
              <a:rPr sz="950" b="0">
                <a:solidFill>
                  <a:srgbClr val="7F7F7F"/>
                </a:solidFill>
                <a:latin typeface="メイリオ"/>
                <a:ea typeface="メイリオ"/>
                <a:cs typeface="メイリオ"/>
              </a:rPr>
              <a:t>2,500人</a:t>
            </a:r>
          </a:p>
        </p:txBody>
      </p:sp>
      <p:cxnSp>
        <p:nvCxnSpPr>
          <p:cNvPr id="28" name="Connector 27"/>
          <p:cNvCxnSpPr/>
          <p:nvPr/>
        </p:nvCxnSpPr>
        <p:spPr>
          <a:xfrm>
            <a:off x="3013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060000" y="1954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あいさつ＋診断 → 資料を受け取る</a:t>
            </a:r>
          </a:p>
        </p:txBody>
      </p:sp>
      <p:cxnSp>
        <p:nvCxnSpPr>
          <p:cNvPr id="30" name="Connector 29"/>
          <p:cNvCxnSpPr/>
          <p:nvPr/>
        </p:nvCxnSpPr>
        <p:spPr>
          <a:xfrm>
            <a:off x="5605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652000" y="1954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100% × 12% × 1.0%</a:t>
            </a:r>
          </a:p>
        </p:txBody>
      </p:sp>
      <p:cxnSp>
        <p:nvCxnSpPr>
          <p:cNvPr id="32" name="Connector 31"/>
          <p:cNvCxnSpPr/>
          <p:nvPr/>
        </p:nvCxnSpPr>
        <p:spPr>
          <a:xfrm>
            <a:off x="7549200" y="2129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596000" y="1954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3件</a:t>
            </a:r>
          </a:p>
          <a:p>
            <a:pPr algn="ctr"/>
            <a:r>
              <a:rPr sz="950" b="0">
                <a:solidFill>
                  <a:srgbClr val="FFFFFF"/>
                </a:solidFill>
                <a:latin typeface="メイリオ"/>
                <a:ea typeface="メイリオ"/>
                <a:cs typeface="メイリオ"/>
              </a:rPr>
              <a:t>CV① 資料請求</a:t>
            </a:r>
          </a:p>
        </p:txBody>
      </p:sp>
      <p:sp>
        <p:nvSpPr>
          <p:cNvPr id="34" name="Rectangle 33"/>
          <p:cNvSpPr/>
          <p:nvPr/>
        </p:nvSpPr>
        <p:spPr>
          <a:xfrm>
            <a:off x="8784000" y="1954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35" name="Rectangle 34"/>
          <p:cNvSpPr/>
          <p:nvPr/>
        </p:nvSpPr>
        <p:spPr>
          <a:xfrm>
            <a:off x="432000" y="2325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3日後</a:t>
            </a:r>
          </a:p>
        </p:txBody>
      </p:sp>
      <p:sp>
        <p:nvSpPr>
          <p:cNvPr id="36" name="Rectangle 35"/>
          <p:cNvSpPr/>
          <p:nvPr/>
        </p:nvSpPr>
        <p:spPr>
          <a:xfrm>
            <a:off x="1440000" y="2325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2,500人</a:t>
            </a:r>
          </a:p>
        </p:txBody>
      </p:sp>
      <p:cxnSp>
        <p:nvCxnSpPr>
          <p:cNvPr id="37" name="Connector 36"/>
          <p:cNvCxnSpPr/>
          <p:nvPr/>
        </p:nvCxnSpPr>
        <p:spPr>
          <a:xfrm>
            <a:off x="3013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060000" y="2325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家でできる勉強のコツ</a:t>
            </a:r>
          </a:p>
        </p:txBody>
      </p:sp>
      <p:cxnSp>
        <p:nvCxnSpPr>
          <p:cNvPr id="39" name="Connector 38"/>
          <p:cNvCxnSpPr/>
          <p:nvPr/>
        </p:nvCxnSpPr>
        <p:spPr>
          <a:xfrm>
            <a:off x="5605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652000" y="2325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a:t>
            </a:r>
          </a:p>
        </p:txBody>
      </p:sp>
      <p:cxnSp>
        <p:nvCxnSpPr>
          <p:cNvPr id="41" name="Connector 40"/>
          <p:cNvCxnSpPr/>
          <p:nvPr/>
        </p:nvCxnSpPr>
        <p:spPr>
          <a:xfrm>
            <a:off x="7549200" y="2500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596000" y="23256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案内なし</a:t>
            </a:r>
          </a:p>
          <a:p>
            <a:pPr algn="ctr"/>
            <a:r>
              <a:rPr sz="950" b="0">
                <a:solidFill>
                  <a:srgbClr val="7F7F7F"/>
                </a:solidFill>
                <a:latin typeface="メイリオ"/>
                <a:ea typeface="メイリオ"/>
                <a:cs typeface="メイリオ"/>
              </a:rPr>
              <a:t>信頼関係づくり</a:t>
            </a:r>
          </a:p>
        </p:txBody>
      </p:sp>
      <p:sp>
        <p:nvSpPr>
          <p:cNvPr id="43" name="Rectangle 42"/>
          <p:cNvSpPr/>
          <p:nvPr/>
        </p:nvSpPr>
        <p:spPr>
          <a:xfrm>
            <a:off x="8784000" y="2325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44" name="Rectangle 43"/>
          <p:cNvSpPr/>
          <p:nvPr/>
        </p:nvSpPr>
        <p:spPr>
          <a:xfrm>
            <a:off x="432000" y="2696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5日後</a:t>
            </a:r>
          </a:p>
        </p:txBody>
      </p:sp>
      <p:sp>
        <p:nvSpPr>
          <p:cNvPr id="45" name="Rectangle 44"/>
          <p:cNvSpPr/>
          <p:nvPr/>
        </p:nvSpPr>
        <p:spPr>
          <a:xfrm>
            <a:off x="1440000" y="2696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資料未請求の方</a:t>
            </a:r>
          </a:p>
          <a:p>
            <a:pPr algn="l"/>
            <a:r>
              <a:rPr sz="950" b="0">
                <a:solidFill>
                  <a:srgbClr val="7F7F7F"/>
                </a:solidFill>
                <a:latin typeface="メイリオ"/>
                <a:ea typeface="メイリオ"/>
                <a:cs typeface="メイリオ"/>
              </a:rPr>
              <a:t>約2,500人</a:t>
            </a:r>
          </a:p>
        </p:txBody>
      </p:sp>
      <p:cxnSp>
        <p:nvCxnSpPr>
          <p:cNvPr id="46" name="Connector 45"/>
          <p:cNvCxnSpPr/>
          <p:nvPr/>
        </p:nvCxnSpPr>
        <p:spPr>
          <a:xfrm>
            <a:off x="3013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060000" y="2696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月謝＋講習費の年間の目安</a:t>
            </a:r>
          </a:p>
        </p:txBody>
      </p:sp>
      <p:cxnSp>
        <p:nvCxnSpPr>
          <p:cNvPr id="48" name="Connector 47"/>
          <p:cNvCxnSpPr/>
          <p:nvPr/>
        </p:nvCxnSpPr>
        <p:spPr>
          <a:xfrm>
            <a:off x="5605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652000" y="2696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1.0%</a:t>
            </a:r>
          </a:p>
        </p:txBody>
      </p:sp>
      <p:cxnSp>
        <p:nvCxnSpPr>
          <p:cNvPr id="50" name="Connector 49"/>
          <p:cNvCxnSpPr/>
          <p:nvPr/>
        </p:nvCxnSpPr>
        <p:spPr>
          <a:xfrm>
            <a:off x="7549200" y="2871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596000" y="26964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CV① 資料請求</a:t>
            </a:r>
          </a:p>
        </p:txBody>
      </p:sp>
      <p:sp>
        <p:nvSpPr>
          <p:cNvPr id="52" name="Rectangle 51"/>
          <p:cNvSpPr/>
          <p:nvPr/>
        </p:nvSpPr>
        <p:spPr>
          <a:xfrm>
            <a:off x="8784000" y="2696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53" name="Rectangle 52"/>
          <p:cNvSpPr/>
          <p:nvPr/>
        </p:nvSpPr>
        <p:spPr>
          <a:xfrm>
            <a:off x="432000" y="3067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7日後</a:t>
            </a:r>
          </a:p>
        </p:txBody>
      </p:sp>
      <p:sp>
        <p:nvSpPr>
          <p:cNvPr id="54" name="Rectangle 53"/>
          <p:cNvSpPr/>
          <p:nvPr/>
        </p:nvSpPr>
        <p:spPr>
          <a:xfrm>
            <a:off x="1440000" y="3067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2,500人</a:t>
            </a:r>
          </a:p>
        </p:txBody>
      </p:sp>
      <p:cxnSp>
        <p:nvCxnSpPr>
          <p:cNvPr id="55" name="Connector 54"/>
          <p:cNvCxnSpPr/>
          <p:nvPr/>
        </p:nvCxnSpPr>
        <p:spPr>
          <a:xfrm>
            <a:off x="3013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060000" y="3067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事例＋体験のご案内①</a:t>
            </a:r>
          </a:p>
        </p:txBody>
      </p:sp>
      <p:cxnSp>
        <p:nvCxnSpPr>
          <p:cNvPr id="57" name="Connector 56"/>
          <p:cNvCxnSpPr/>
          <p:nvPr/>
        </p:nvCxnSpPr>
        <p:spPr>
          <a:xfrm>
            <a:off x="5605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652000" y="3067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0.8%</a:t>
            </a:r>
          </a:p>
        </p:txBody>
      </p:sp>
      <p:cxnSp>
        <p:nvCxnSpPr>
          <p:cNvPr id="59" name="Connector 58"/>
          <p:cNvCxnSpPr/>
          <p:nvPr/>
        </p:nvCxnSpPr>
        <p:spPr>
          <a:xfrm>
            <a:off x="7549200" y="3241799"/>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7596000" y="30672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CV② 体験予約</a:t>
            </a:r>
          </a:p>
        </p:txBody>
      </p:sp>
      <p:sp>
        <p:nvSpPr>
          <p:cNvPr id="61" name="Rectangle 60"/>
          <p:cNvSpPr/>
          <p:nvPr/>
        </p:nvSpPr>
        <p:spPr>
          <a:xfrm>
            <a:off x="8784000" y="3067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62" name="Rectangle 61"/>
          <p:cNvSpPr/>
          <p:nvPr/>
        </p:nvSpPr>
        <p:spPr>
          <a:xfrm>
            <a:off x="432000" y="34380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14日後</a:t>
            </a:r>
          </a:p>
        </p:txBody>
      </p:sp>
      <p:sp>
        <p:nvSpPr>
          <p:cNvPr id="63" name="Rectangle 62"/>
          <p:cNvSpPr/>
          <p:nvPr/>
        </p:nvSpPr>
        <p:spPr>
          <a:xfrm>
            <a:off x="1440000" y="34380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体験未予約の方</a:t>
            </a:r>
          </a:p>
          <a:p>
            <a:pPr algn="l"/>
            <a:r>
              <a:rPr sz="950" b="0">
                <a:solidFill>
                  <a:srgbClr val="7F7F7F"/>
                </a:solidFill>
                <a:latin typeface="メイリオ"/>
                <a:ea typeface="メイリオ"/>
                <a:cs typeface="メイリオ"/>
              </a:rPr>
              <a:t>約2,500人</a:t>
            </a:r>
          </a:p>
        </p:txBody>
      </p:sp>
      <p:cxnSp>
        <p:nvCxnSpPr>
          <p:cNvPr id="64" name="Connector 63"/>
          <p:cNvCxnSpPr/>
          <p:nvPr/>
        </p:nvCxnSpPr>
        <p:spPr>
          <a:xfrm>
            <a:off x="3013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3060000" y="34380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テストから逆算＋体験の案内②</a:t>
            </a:r>
          </a:p>
        </p:txBody>
      </p:sp>
      <p:cxnSp>
        <p:nvCxnSpPr>
          <p:cNvPr id="66" name="Connector 65"/>
          <p:cNvCxnSpPr/>
          <p:nvPr/>
        </p:nvCxnSpPr>
        <p:spPr>
          <a:xfrm>
            <a:off x="5605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5652000" y="34380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1.0%</a:t>
            </a:r>
          </a:p>
        </p:txBody>
      </p:sp>
      <p:cxnSp>
        <p:nvCxnSpPr>
          <p:cNvPr id="68" name="Connector 67"/>
          <p:cNvCxnSpPr/>
          <p:nvPr/>
        </p:nvCxnSpPr>
        <p:spPr>
          <a:xfrm>
            <a:off x="7549200" y="36126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596000" y="34380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CV② 体験予約</a:t>
            </a:r>
          </a:p>
        </p:txBody>
      </p:sp>
      <p:sp>
        <p:nvSpPr>
          <p:cNvPr id="70" name="Rectangle 69"/>
          <p:cNvSpPr/>
          <p:nvPr/>
        </p:nvSpPr>
        <p:spPr>
          <a:xfrm>
            <a:off x="8784000" y="34380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71" name="Rectangle 70"/>
          <p:cNvSpPr/>
          <p:nvPr/>
        </p:nvSpPr>
        <p:spPr>
          <a:xfrm>
            <a:off x="432000" y="3834000"/>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l"/>
            <a:r>
              <a:rPr sz="1200" b="1">
                <a:solidFill>
                  <a:srgbClr val="FFFFFF"/>
                </a:solidFill>
                <a:latin typeface="メイリオ"/>
                <a:ea typeface="メイリオ"/>
                <a:cs typeface="メイリオ"/>
              </a:rPr>
              <a:t>[企画配信]　月1〜2本（友だち 累計約10,000人・ブロックを除いて約6,800人）</a:t>
            </a:r>
          </a:p>
        </p:txBody>
      </p:sp>
      <p:sp>
        <p:nvSpPr>
          <p:cNvPr id="72" name="Rectangle 71"/>
          <p:cNvSpPr/>
          <p:nvPr/>
        </p:nvSpPr>
        <p:spPr>
          <a:xfrm>
            <a:off x="432000" y="4078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タイミング</a:t>
            </a:r>
          </a:p>
        </p:txBody>
      </p:sp>
      <p:sp>
        <p:nvSpPr>
          <p:cNvPr id="73" name="Rectangle 72"/>
          <p:cNvSpPr/>
          <p:nvPr/>
        </p:nvSpPr>
        <p:spPr>
          <a:xfrm>
            <a:off x="1440000" y="4078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対象（想定数）</a:t>
            </a:r>
          </a:p>
        </p:txBody>
      </p:sp>
      <p:sp>
        <p:nvSpPr>
          <p:cNvPr id="74" name="Rectangle 73"/>
          <p:cNvSpPr/>
          <p:nvPr/>
        </p:nvSpPr>
        <p:spPr>
          <a:xfrm>
            <a:off x="3060000" y="4078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75" name="Rectangle 74"/>
          <p:cNvSpPr/>
          <p:nvPr/>
        </p:nvSpPr>
        <p:spPr>
          <a:xfrm>
            <a:off x="5652000" y="4078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開封率×クリック率×CVR</a:t>
            </a:r>
          </a:p>
        </p:txBody>
      </p:sp>
      <p:sp>
        <p:nvSpPr>
          <p:cNvPr id="76" name="Rectangle 75"/>
          <p:cNvSpPr/>
          <p:nvPr/>
        </p:nvSpPr>
        <p:spPr>
          <a:xfrm>
            <a:off x="7596000" y="4078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件数</a:t>
            </a:r>
          </a:p>
        </p:txBody>
      </p:sp>
      <p:sp>
        <p:nvSpPr>
          <p:cNvPr id="77" name="Rectangle 76"/>
          <p:cNvSpPr/>
          <p:nvPr/>
        </p:nvSpPr>
        <p:spPr>
          <a:xfrm>
            <a:off x="8784000" y="4078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a:t>
            </a:r>
          </a:p>
        </p:txBody>
      </p:sp>
      <p:sp>
        <p:nvSpPr>
          <p:cNvPr id="78" name="Rectangle 77"/>
          <p:cNvSpPr/>
          <p:nvPr/>
        </p:nvSpPr>
        <p:spPr>
          <a:xfrm>
            <a:off x="432000" y="4312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講習の前</a:t>
            </a:r>
          </a:p>
        </p:txBody>
      </p:sp>
      <p:sp>
        <p:nvSpPr>
          <p:cNvPr id="79" name="Rectangle 78"/>
          <p:cNvSpPr/>
          <p:nvPr/>
        </p:nvSpPr>
        <p:spPr>
          <a:xfrm>
            <a:off x="1440000" y="4312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友だち全体</a:t>
            </a:r>
          </a:p>
          <a:p>
            <a:pPr algn="l"/>
            <a:r>
              <a:rPr sz="950" b="0">
                <a:solidFill>
                  <a:srgbClr val="7F7F7F"/>
                </a:solidFill>
                <a:latin typeface="メイリオ"/>
                <a:ea typeface="メイリオ"/>
                <a:cs typeface="メイリオ"/>
              </a:rPr>
              <a:t>約6,800人</a:t>
            </a:r>
          </a:p>
        </p:txBody>
      </p:sp>
      <p:cxnSp>
        <p:nvCxnSpPr>
          <p:cNvPr id="80" name="Connector 79"/>
          <p:cNvCxnSpPr/>
          <p:nvPr/>
        </p:nvCxnSpPr>
        <p:spPr>
          <a:xfrm>
            <a:off x="3013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3060000" y="4312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講習・新学年の先行案内</a:t>
            </a:r>
          </a:p>
        </p:txBody>
      </p:sp>
      <p:cxnSp>
        <p:nvCxnSpPr>
          <p:cNvPr id="82" name="Connector 81"/>
          <p:cNvCxnSpPr/>
          <p:nvPr/>
        </p:nvCxnSpPr>
        <p:spPr>
          <a:xfrm>
            <a:off x="5605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5652000" y="4312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1.0%</a:t>
            </a:r>
          </a:p>
        </p:txBody>
      </p:sp>
      <p:cxnSp>
        <p:nvCxnSpPr>
          <p:cNvPr id="84" name="Connector 83"/>
          <p:cNvCxnSpPr/>
          <p:nvPr/>
        </p:nvCxnSpPr>
        <p:spPr>
          <a:xfrm>
            <a:off x="7549200" y="4487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7596000" y="4312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5件</a:t>
            </a:r>
          </a:p>
          <a:p>
            <a:pPr algn="ctr"/>
            <a:r>
              <a:rPr sz="950" b="0">
                <a:solidFill>
                  <a:srgbClr val="FFFFFF"/>
                </a:solidFill>
                <a:latin typeface="メイリオ"/>
                <a:ea typeface="メイリオ"/>
                <a:cs typeface="メイリオ"/>
              </a:rPr>
              <a:t>CV② 体験・講習</a:t>
            </a:r>
          </a:p>
        </p:txBody>
      </p:sp>
      <p:sp>
        <p:nvSpPr>
          <p:cNvPr id="86" name="Rectangle 85"/>
          <p:cNvSpPr/>
          <p:nvPr/>
        </p:nvSpPr>
        <p:spPr>
          <a:xfrm>
            <a:off x="8784000" y="4312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87" name="Rectangle 86"/>
          <p:cNvSpPr/>
          <p:nvPr/>
        </p:nvSpPr>
        <p:spPr>
          <a:xfrm>
            <a:off x="432000" y="4683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テストの前</a:t>
            </a:r>
          </a:p>
        </p:txBody>
      </p:sp>
      <p:sp>
        <p:nvSpPr>
          <p:cNvPr id="88" name="Rectangle 87"/>
          <p:cNvSpPr/>
          <p:nvPr/>
        </p:nvSpPr>
        <p:spPr>
          <a:xfrm>
            <a:off x="1440000" y="4683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中学生の保護者</a:t>
            </a:r>
          </a:p>
          <a:p>
            <a:pPr algn="l"/>
            <a:r>
              <a:rPr sz="950" b="0">
                <a:solidFill>
                  <a:srgbClr val="7F7F7F"/>
                </a:solidFill>
                <a:latin typeface="メイリオ"/>
                <a:ea typeface="メイリオ"/>
                <a:cs typeface="メイリオ"/>
              </a:rPr>
              <a:t>約2,700人</a:t>
            </a:r>
          </a:p>
        </p:txBody>
      </p:sp>
      <p:cxnSp>
        <p:nvCxnSpPr>
          <p:cNvPr id="89" name="Connector 88"/>
          <p:cNvCxnSpPr/>
          <p:nvPr/>
        </p:nvCxnSpPr>
        <p:spPr>
          <a:xfrm>
            <a:off x="3013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3060000" y="4683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テスト対策講座・見直しポイント</a:t>
            </a:r>
          </a:p>
        </p:txBody>
      </p:sp>
      <p:cxnSp>
        <p:nvCxnSpPr>
          <p:cNvPr id="91" name="Connector 90"/>
          <p:cNvCxnSpPr/>
          <p:nvPr/>
        </p:nvCxnSpPr>
        <p:spPr>
          <a:xfrm>
            <a:off x="5605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652000" y="4683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0.5%</a:t>
            </a:r>
          </a:p>
        </p:txBody>
      </p:sp>
      <p:cxnSp>
        <p:nvCxnSpPr>
          <p:cNvPr id="93" name="Connector 92"/>
          <p:cNvCxnSpPr/>
          <p:nvPr/>
        </p:nvCxnSpPr>
        <p:spPr>
          <a:xfrm>
            <a:off x="7549200" y="4858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7596000" y="46836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1件</a:t>
            </a:r>
          </a:p>
          <a:p>
            <a:pPr algn="ctr"/>
            <a:r>
              <a:rPr sz="950" b="0">
                <a:solidFill>
                  <a:srgbClr val="FFFFFF"/>
                </a:solidFill>
                <a:latin typeface="メイリオ"/>
                <a:ea typeface="メイリオ"/>
                <a:cs typeface="メイリオ"/>
              </a:rPr>
              <a:t>CV② 体験予約</a:t>
            </a:r>
          </a:p>
        </p:txBody>
      </p:sp>
      <p:sp>
        <p:nvSpPr>
          <p:cNvPr id="95" name="Rectangle 94"/>
          <p:cNvSpPr/>
          <p:nvPr/>
        </p:nvSpPr>
        <p:spPr>
          <a:xfrm>
            <a:off x="8784000" y="4683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96" name="Rectangle 95"/>
          <p:cNvSpPr/>
          <p:nvPr/>
        </p:nvSpPr>
        <p:spPr>
          <a:xfrm>
            <a:off x="432000" y="5054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資料請求後</a:t>
            </a:r>
          </a:p>
        </p:txBody>
      </p:sp>
      <p:sp>
        <p:nvSpPr>
          <p:cNvPr id="97" name="Rectangle 96"/>
          <p:cNvSpPr/>
          <p:nvPr/>
        </p:nvSpPr>
        <p:spPr>
          <a:xfrm>
            <a:off x="1440000" y="5054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資料を請求した方</a:t>
            </a:r>
          </a:p>
          <a:p>
            <a:pPr algn="l"/>
            <a:r>
              <a:rPr sz="950" b="0">
                <a:solidFill>
                  <a:srgbClr val="7F7F7F"/>
                </a:solidFill>
                <a:latin typeface="メイリオ"/>
                <a:ea typeface="メイリオ"/>
                <a:cs typeface="メイリオ"/>
              </a:rPr>
              <a:t>（件数は実績で）</a:t>
            </a:r>
          </a:p>
        </p:txBody>
      </p:sp>
      <p:cxnSp>
        <p:nvCxnSpPr>
          <p:cNvPr id="98" name="Connector 97"/>
          <p:cNvCxnSpPr/>
          <p:nvPr/>
        </p:nvCxnSpPr>
        <p:spPr>
          <a:xfrm>
            <a:off x="3013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3060000" y="5054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事例・費用のQ&amp;A・教室紹介</a:t>
            </a:r>
          </a:p>
        </p:txBody>
      </p:sp>
      <p:cxnSp>
        <p:nvCxnSpPr>
          <p:cNvPr id="100" name="Connector 99"/>
          <p:cNvCxnSpPr/>
          <p:nvPr/>
        </p:nvCxnSpPr>
        <p:spPr>
          <a:xfrm>
            <a:off x="5605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5652000" y="5054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1.0%</a:t>
            </a:r>
          </a:p>
        </p:txBody>
      </p:sp>
      <p:cxnSp>
        <p:nvCxnSpPr>
          <p:cNvPr id="102" name="Connector 101"/>
          <p:cNvCxnSpPr/>
          <p:nvPr/>
        </p:nvCxnSpPr>
        <p:spPr>
          <a:xfrm>
            <a:off x="7549200" y="5229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3" name="Rectangle 102"/>
          <p:cNvSpPr/>
          <p:nvPr/>
        </p:nvSpPr>
        <p:spPr>
          <a:xfrm>
            <a:off x="7596000" y="50544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CV② 体験予約</a:t>
            </a:r>
          </a:p>
        </p:txBody>
      </p:sp>
      <p:sp>
        <p:nvSpPr>
          <p:cNvPr id="104" name="Rectangle 103"/>
          <p:cNvSpPr/>
          <p:nvPr/>
        </p:nvSpPr>
        <p:spPr>
          <a:xfrm>
            <a:off x="8784000" y="5054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105" name="Rectangle 104"/>
          <p:cNvSpPr/>
          <p:nvPr/>
        </p:nvSpPr>
        <p:spPr>
          <a:xfrm>
            <a:off x="432000" y="5425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講習の時期</a:t>
            </a:r>
          </a:p>
        </p:txBody>
      </p:sp>
      <p:sp>
        <p:nvSpPr>
          <p:cNvPr id="106" name="Rectangle 105"/>
          <p:cNvSpPr/>
          <p:nvPr/>
        </p:nvSpPr>
        <p:spPr>
          <a:xfrm>
            <a:off x="1440000" y="5425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体験・入会に</a:t>
            </a:r>
          </a:p>
          <a:p>
            <a:pPr algn="l"/>
            <a:r>
              <a:rPr sz="950" b="0">
                <a:solidFill>
                  <a:srgbClr val="7F7F7F"/>
                </a:solidFill>
                <a:latin typeface="メイリオ"/>
                <a:ea typeface="メイリオ"/>
                <a:cs typeface="メイリオ"/>
              </a:rPr>
              <a:t>至らなかった方</a:t>
            </a:r>
          </a:p>
        </p:txBody>
      </p:sp>
      <p:cxnSp>
        <p:nvCxnSpPr>
          <p:cNvPr id="107" name="Connector 106"/>
          <p:cNvCxnSpPr/>
          <p:nvPr/>
        </p:nvCxnSpPr>
        <p:spPr>
          <a:xfrm>
            <a:off x="3013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3060000" y="5425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講習のご案内（通知メッセージ）</a:t>
            </a:r>
          </a:p>
        </p:txBody>
      </p:sp>
      <p:cxnSp>
        <p:nvCxnSpPr>
          <p:cNvPr id="109" name="Connector 108"/>
          <p:cNvCxnSpPr/>
          <p:nvPr/>
        </p:nvCxnSpPr>
        <p:spPr>
          <a:xfrm>
            <a:off x="5605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5652000" y="5425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通知メッセージ</a:t>
            </a:r>
          </a:p>
        </p:txBody>
      </p:sp>
      <p:cxnSp>
        <p:nvCxnSpPr>
          <p:cNvPr id="111" name="Connector 110"/>
          <p:cNvCxnSpPr/>
          <p:nvPr/>
        </p:nvCxnSpPr>
        <p:spPr>
          <a:xfrm>
            <a:off x="7549200" y="55998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7596000" y="54252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別途費用</a:t>
            </a:r>
          </a:p>
        </p:txBody>
      </p:sp>
      <p:sp>
        <p:nvSpPr>
          <p:cNvPr id="113" name="Rectangle 112"/>
          <p:cNvSpPr/>
          <p:nvPr/>
        </p:nvSpPr>
        <p:spPr>
          <a:xfrm>
            <a:off x="8784000" y="5425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別途</a:t>
            </a:r>
          </a:p>
        </p:txBody>
      </p:sp>
      <p:sp>
        <p:nvSpPr>
          <p:cNvPr id="114" name="Rounded Rectangle 113"/>
          <p:cNvSpPr/>
          <p:nvPr/>
        </p:nvSpPr>
        <p:spPr>
          <a:xfrm>
            <a:off x="432000" y="5813999"/>
            <a:ext cx="9043200" cy="396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333333"/>
                </a:solidFill>
                <a:latin typeface="メイリオ"/>
                <a:ea typeface="メイリオ"/>
                <a:cs typeface="メイリオ"/>
              </a:rPr>
              <a:t>10教室で月に 資料請求 約5件・体験予約 約10件　→　100教室なら 資料請求 約50件・体験予約 約100件</a:t>
            </a:r>
          </a:p>
        </p:txBody>
      </p:sp>
      <p:sp>
        <p:nvSpPr>
          <p:cNvPr id="115" name="Rectangle 114"/>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r"/>
            <a:fld id="{8C1D2E3F-4A5B-4C6D-9E7F-000000000001}" type="slidenum">
              <a:rPr sz="1200" b="1">
                <a:solidFill>
                  <a:srgbClr val="FFFFFF"/>
                </a:solidFill>
                <a:latin typeface="メイリオ"/>
                <a:ea typeface="メイリオ"/>
                <a:cs typeface="メイリオ"/>
              </a:rPr>
              <a:t>64</a:t>
            </a:fld>
            <a:endParaRPr sz="1200" b="1">
              <a:solidFill>
                <a:srgbClr val="FFFFFF"/>
              </a:solidFill>
              <a:latin typeface="メイリオ"/>
              <a:ea typeface="メイリオ"/>
              <a:cs typeface="メイリオ"/>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施策の設計図③　満足度改善（保護者）</a:t>
            </a:r>
            <a:endParaRPr sz="1600" b="1" dirty="0">
              <a:solidFill>
                <a:srgbClr val="002060"/>
              </a:solidFill>
              <a:latin typeface="メイリオ"/>
              <a:ea typeface="メイリオ"/>
              <a:cs typeface="Meiryo"/>
              <a:sym typeface="Meiryo"/>
            </a:endParaRPr>
          </a:p>
        </p:txBody>
      </p:sp>
      <p:sp>
        <p:nvSpPr>
          <p:cNvPr id="46" name="Pentagon 45"/>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54" name="Rectangle 53"/>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l"/>
            <a:r>
              <a:rPr sz="1200" b="0">
                <a:solidFill>
                  <a:srgbClr val="333333"/>
                </a:solidFill>
                <a:latin typeface="メイリオ"/>
                <a:ea typeface="メイリオ"/>
                <a:cs typeface="メイリオ"/>
              </a:rPr>
              <a:t>保護者の疑問に、待たせずに答える。</a:t>
            </a:r>
          </a:p>
          <a:p>
            <a:pPr algn="l"/>
            <a:r>
              <a:rPr sz="1200" b="0">
                <a:solidFill>
                  <a:srgbClr val="333333"/>
                </a:solidFill>
                <a:latin typeface="メイリオ"/>
                <a:ea typeface="メイリオ"/>
                <a:cs typeface="メイリオ"/>
              </a:rPr>
              <a:t>すぐ答えられることは自動で、相談ごとは人が答える。押していただきたいボタンは右下に置く。</a:t>
            </a:r>
          </a:p>
        </p:txBody>
      </p:sp>
      <p:cxnSp>
        <p:nvCxnSpPr>
          <p:cNvPr id="55" name="Connector 54"/>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900" b="0">
                <a:solidFill>
                  <a:srgbClr val="7F7F7F"/>
                </a:solidFill>
                <a:latin typeface="メイリオ"/>
                <a:ea typeface="メイリオ"/>
                <a:cs typeface="メイリオ"/>
              </a:rPr>
              <a:t>※有人対応の時間帯（平日14〜21時）は例。教室の運用に合わせて決める</a:t>
            </a:r>
          </a:p>
        </p:txBody>
      </p:sp>
      <p:sp>
        <p:nvSpPr>
          <p:cNvPr id="57" name="Rectangle 56"/>
          <p:cNvSpPr/>
          <p:nvPr/>
        </p:nvSpPr>
        <p:spPr>
          <a:xfrm>
            <a:off x="432000" y="151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[QA自動化]</a:t>
            </a:r>
          </a:p>
        </p:txBody>
      </p:sp>
      <p:sp>
        <p:nvSpPr>
          <p:cNvPr id="58" name="Rectangle 57"/>
          <p:cNvSpPr/>
          <p:nvPr/>
        </p:nvSpPr>
        <p:spPr>
          <a:xfrm>
            <a:off x="1692000" y="151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料金・コース・対象学年・駐車場などは、キーワード自動応答ですぐ答える</a:t>
            </a:r>
          </a:p>
        </p:txBody>
      </p:sp>
      <p:sp>
        <p:nvSpPr>
          <p:cNvPr id="59" name="Rectangle 58"/>
          <p:cNvSpPr/>
          <p:nvPr/>
        </p:nvSpPr>
        <p:spPr>
          <a:xfrm>
            <a:off x="5796000" y="151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0" name="Rectangle 59"/>
          <p:cNvSpPr/>
          <p:nvPr/>
        </p:nvSpPr>
        <p:spPr>
          <a:xfrm>
            <a:off x="432000" y="223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[個別チャット]</a:t>
            </a:r>
          </a:p>
        </p:txBody>
      </p:sp>
      <p:sp>
        <p:nvSpPr>
          <p:cNvPr id="61" name="Rectangle 60"/>
          <p:cNvSpPr/>
          <p:nvPr/>
        </p:nvSpPr>
        <p:spPr>
          <a:xfrm>
            <a:off x="1692000" y="223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志望校の相談や日程の調整は、平日14〜21時に教室スタッフが1対1で対応</a:t>
            </a:r>
          </a:p>
        </p:txBody>
      </p:sp>
      <p:sp>
        <p:nvSpPr>
          <p:cNvPr id="62" name="Rectangle 61"/>
          <p:cNvSpPr/>
          <p:nvPr/>
        </p:nvSpPr>
        <p:spPr>
          <a:xfrm>
            <a:off x="5796000" y="223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3" name="Rectangle 62"/>
          <p:cNvSpPr/>
          <p:nvPr/>
        </p:nvSpPr>
        <p:spPr>
          <a:xfrm>
            <a:off x="432000" y="2951999"/>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[その他]</a:t>
            </a:r>
          </a:p>
        </p:txBody>
      </p:sp>
      <p:sp>
        <p:nvSpPr>
          <p:cNvPr id="64" name="Rectangle 63"/>
          <p:cNvSpPr/>
          <p:nvPr/>
        </p:nvSpPr>
        <p:spPr>
          <a:xfrm>
            <a:off x="1692000" y="2951999"/>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リッチメニューの右下に「無料体験・教室見学の予約」を常に置く</a:t>
            </a:r>
          </a:p>
        </p:txBody>
      </p:sp>
      <p:sp>
        <p:nvSpPr>
          <p:cNvPr id="65" name="Rectangle 64"/>
          <p:cNvSpPr/>
          <p:nvPr/>
        </p:nvSpPr>
        <p:spPr>
          <a:xfrm>
            <a:off x="5796000" y="2951999"/>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6" name="Rounded Rectangle 65"/>
          <p:cNvSpPr/>
          <p:nvPr/>
        </p:nvSpPr>
        <p:spPr>
          <a:xfrm>
            <a:off x="6840000" y="1475999"/>
            <a:ext cx="2628000" cy="47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7" name="Rectangle 66"/>
          <p:cNvSpPr/>
          <p:nvPr/>
        </p:nvSpPr>
        <p:spPr>
          <a:xfrm>
            <a:off x="6930000" y="1673999"/>
            <a:ext cx="2448000" cy="435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8" name="Rectangle 67"/>
          <p:cNvSpPr/>
          <p:nvPr/>
        </p:nvSpPr>
        <p:spPr>
          <a:xfrm>
            <a:off x="6930000" y="1673999"/>
            <a:ext cx="24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69" name="Rounded Rectangle 68"/>
          <p:cNvSpPr/>
          <p:nvPr/>
        </p:nvSpPr>
        <p:spPr>
          <a:xfrm>
            <a:off x="8082000" y="2033999"/>
            <a:ext cx="1188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0">
                <a:solidFill>
                  <a:srgbClr val="333333"/>
                </a:solidFill>
                <a:latin typeface="メイリオ"/>
                <a:ea typeface="メイリオ"/>
                <a:cs typeface="メイリオ"/>
              </a:rPr>
              <a:t>料金はいくら？</a:t>
            </a:r>
          </a:p>
        </p:txBody>
      </p:sp>
      <p:sp>
        <p:nvSpPr>
          <p:cNvPr id="70" name="Rounded Rectangle 69"/>
          <p:cNvSpPr/>
          <p:nvPr/>
        </p:nvSpPr>
        <p:spPr>
          <a:xfrm>
            <a:off x="7020000" y="2394000"/>
            <a:ext cx="2015999" cy="93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（自動応答）</a:t>
            </a:r>
          </a:p>
          <a:p>
            <a:pPr algn="l"/>
            <a:r>
              <a:rPr sz="950" b="0">
                <a:solidFill>
                  <a:srgbClr val="333333"/>
                </a:solidFill>
                <a:latin typeface="メイリオ"/>
                <a:ea typeface="メイリオ"/>
                <a:cs typeface="メイリオ"/>
              </a:rPr>
              <a:t>コース別の月謝の目安です👇</a:t>
            </a:r>
          </a:p>
          <a:p>
            <a:pPr algn="l"/>
            <a:r>
              <a:rPr sz="950" b="0">
                <a:solidFill>
                  <a:srgbClr val="333333"/>
                </a:solidFill>
                <a:latin typeface="メイリオ"/>
                <a:ea typeface="メイリオ"/>
                <a:cs typeface="メイリオ"/>
              </a:rPr>
              <a:t>・小学生　◯◯円〜</a:t>
            </a:r>
          </a:p>
          <a:p>
            <a:pPr algn="l"/>
            <a:r>
              <a:rPr sz="950" b="0">
                <a:solidFill>
                  <a:srgbClr val="333333"/>
                </a:solidFill>
                <a:latin typeface="メイリオ"/>
                <a:ea typeface="メイリオ"/>
                <a:cs typeface="メイリオ"/>
              </a:rPr>
              <a:t>・中学生　◯◯円〜</a:t>
            </a:r>
          </a:p>
          <a:p>
            <a:pPr algn="l"/>
            <a:r>
              <a:rPr sz="950" b="0">
                <a:solidFill>
                  <a:srgbClr val="333333"/>
                </a:solidFill>
                <a:latin typeface="メイリオ"/>
                <a:ea typeface="メイリオ"/>
                <a:cs typeface="メイリオ"/>
              </a:rPr>
              <a:t>講習費を含めた年間の目安は</a:t>
            </a:r>
          </a:p>
          <a:p>
            <a:pPr algn="l"/>
            <a:r>
              <a:rPr sz="950" b="0">
                <a:solidFill>
                  <a:srgbClr val="333333"/>
                </a:solidFill>
                <a:latin typeface="メイリオ"/>
                <a:ea typeface="メイリオ"/>
                <a:cs typeface="メイリオ"/>
              </a:rPr>
              <a:t>こちら▶</a:t>
            </a:r>
          </a:p>
        </p:txBody>
      </p:sp>
      <p:sp>
        <p:nvSpPr>
          <p:cNvPr id="71" name="Rounded Rectangle 70"/>
          <p:cNvSpPr/>
          <p:nvPr/>
        </p:nvSpPr>
        <p:spPr>
          <a:xfrm>
            <a:off x="7974000" y="3401999"/>
            <a:ext cx="1296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0">
                <a:solidFill>
                  <a:srgbClr val="333333"/>
                </a:solidFill>
                <a:latin typeface="メイリオ"/>
                <a:ea typeface="メイリオ"/>
                <a:cs typeface="メイリオ"/>
              </a:rPr>
              <a:t>志望校の相談をしたい</a:t>
            </a:r>
          </a:p>
        </p:txBody>
      </p:sp>
      <p:sp>
        <p:nvSpPr>
          <p:cNvPr id="72" name="Rounded Rectangle 71"/>
          <p:cNvSpPr/>
          <p:nvPr/>
        </p:nvSpPr>
        <p:spPr>
          <a:xfrm>
            <a:off x="7020000" y="3761999"/>
            <a:ext cx="2015999" cy="684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（教室長の佐藤です）</a:t>
            </a:r>
          </a:p>
          <a:p>
            <a:pPr algn="l"/>
            <a:r>
              <a:rPr sz="950" b="0">
                <a:solidFill>
                  <a:srgbClr val="333333"/>
                </a:solidFill>
                <a:latin typeface="メイリオ"/>
                <a:ea typeface="メイリオ"/>
                <a:cs typeface="メイリオ"/>
              </a:rPr>
              <a:t>ご相談ありがとうございます。</a:t>
            </a:r>
          </a:p>
          <a:p>
            <a:pPr algn="l"/>
            <a:r>
              <a:rPr sz="950" b="0">
                <a:solidFill>
                  <a:srgbClr val="333333"/>
                </a:solidFill>
                <a:latin typeface="メイリオ"/>
                <a:ea typeface="メイリオ"/>
                <a:cs typeface="メイリオ"/>
              </a:rPr>
              <a:t>お子さまの学年を教えて</a:t>
            </a:r>
          </a:p>
          <a:p>
            <a:pPr algn="l"/>
            <a:r>
              <a:rPr sz="950" b="0">
                <a:solidFill>
                  <a:srgbClr val="333333"/>
                </a:solidFill>
                <a:latin typeface="メイリオ"/>
                <a:ea typeface="メイリオ"/>
                <a:cs typeface="メイリオ"/>
              </a:rPr>
              <a:t>いただけますか？</a:t>
            </a:r>
          </a:p>
        </p:txBody>
      </p:sp>
      <p:sp>
        <p:nvSpPr>
          <p:cNvPr id="73" name="Rectangle 72"/>
          <p:cNvSpPr/>
          <p:nvPr/>
        </p:nvSpPr>
        <p:spPr>
          <a:xfrm>
            <a:off x="6930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30秒診断</a:t>
            </a:r>
          </a:p>
        </p:txBody>
      </p:sp>
      <p:sp>
        <p:nvSpPr>
          <p:cNvPr id="74" name="Rectangle 73"/>
          <p:cNvSpPr/>
          <p:nvPr/>
        </p:nvSpPr>
        <p:spPr>
          <a:xfrm>
            <a:off x="7746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コース・料金</a:t>
            </a:r>
          </a:p>
        </p:txBody>
      </p:sp>
      <p:sp>
        <p:nvSpPr>
          <p:cNvPr id="75" name="Rectangle 74"/>
          <p:cNvSpPr/>
          <p:nvPr/>
        </p:nvSpPr>
        <p:spPr>
          <a:xfrm>
            <a:off x="8562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教室・講師</a:t>
            </a:r>
          </a:p>
        </p:txBody>
      </p:sp>
      <p:sp>
        <p:nvSpPr>
          <p:cNvPr id="76" name="Rectangle 75"/>
          <p:cNvSpPr/>
          <p:nvPr/>
        </p:nvSpPr>
        <p:spPr>
          <a:xfrm>
            <a:off x="6930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資料を受け取る</a:t>
            </a:r>
          </a:p>
        </p:txBody>
      </p:sp>
      <p:sp>
        <p:nvSpPr>
          <p:cNvPr id="77" name="Rectangle 76"/>
          <p:cNvSpPr/>
          <p:nvPr/>
        </p:nvSpPr>
        <p:spPr>
          <a:xfrm>
            <a:off x="7746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友だちと体験</a:t>
            </a:r>
          </a:p>
        </p:txBody>
      </p:sp>
      <p:sp>
        <p:nvSpPr>
          <p:cNvPr id="78" name="Rectangle 77"/>
          <p:cNvSpPr/>
          <p:nvPr/>
        </p:nvSpPr>
        <p:spPr>
          <a:xfrm>
            <a:off x="8562000" y="5418000"/>
            <a:ext cx="816000" cy="61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FFFFFF"/>
                </a:solidFill>
                <a:latin typeface="メイリオ"/>
                <a:ea typeface="メイリオ"/>
                <a:cs typeface="メイリオ"/>
              </a:rPr>
              <a:t>無料体験・</a:t>
            </a:r>
          </a:p>
          <a:p>
            <a:pPr algn="ctr"/>
            <a:r>
              <a:rPr sz="800" b="1">
                <a:solidFill>
                  <a:srgbClr val="FFFFFF"/>
                </a:solidFill>
                <a:latin typeface="メイリオ"/>
                <a:ea typeface="メイリオ"/>
                <a:cs typeface="メイリオ"/>
              </a:rPr>
              <a:t>見学の予約</a:t>
            </a:r>
          </a:p>
        </p:txBody>
      </p:sp>
      <p:sp>
        <p:nvSpPr>
          <p:cNvPr id="79" name="Rounded Rectangle 78"/>
          <p:cNvSpPr/>
          <p:nvPr/>
        </p:nvSpPr>
        <p:spPr>
          <a:xfrm>
            <a:off x="432000" y="3744000"/>
            <a:ext cx="6192000" cy="154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80" name="Rectangle 79"/>
          <p:cNvSpPr/>
          <p:nvPr/>
        </p:nvSpPr>
        <p:spPr>
          <a:xfrm>
            <a:off x="576000" y="3816000"/>
            <a:ext cx="5940000" cy="14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1F285A"/>
                </a:solidFill>
                <a:latin typeface="メイリオ"/>
                <a:ea typeface="メイリオ"/>
                <a:cs typeface="メイリオ"/>
              </a:rPr>
              <a:t>保護者にとって良くなること</a:t>
            </a:r>
          </a:p>
          <a:p>
            <a:pPr algn="l"/>
            <a:r>
              <a:rPr sz="1350" b="0">
                <a:solidFill>
                  <a:srgbClr val="333333"/>
                </a:solidFill>
                <a:latin typeface="メイリオ"/>
                <a:ea typeface="メイリオ"/>
                <a:cs typeface="メイリオ"/>
              </a:rPr>
              <a:t>・夜や休みの日でも、料金やコースがすぐ分かる</a:t>
            </a:r>
          </a:p>
          <a:p>
            <a:pPr algn="l"/>
            <a:r>
              <a:rPr sz="1350" b="0">
                <a:solidFill>
                  <a:srgbClr val="333333"/>
                </a:solidFill>
                <a:latin typeface="メイリオ"/>
                <a:ea typeface="メイリオ"/>
                <a:cs typeface="メイリオ"/>
              </a:rPr>
              <a:t>・電話をしなくても、LINEで気軽に相談できる</a:t>
            </a:r>
          </a:p>
          <a:p>
            <a:pPr algn="l"/>
            <a:r>
              <a:rPr sz="1350" b="0">
                <a:solidFill>
                  <a:srgbClr val="333333"/>
                </a:solidFill>
                <a:latin typeface="メイリオ"/>
                <a:ea typeface="メイリオ"/>
                <a:cs typeface="メイリオ"/>
              </a:rPr>
              <a:t>・体験の予約が、画面の右下からすぐできる</a:t>
            </a:r>
          </a:p>
        </p:txBody>
      </p:sp>
      <p:sp>
        <p:nvSpPr>
          <p:cNvPr id="81" name="Rounded Rectangle 80"/>
          <p:cNvSpPr/>
          <p:nvPr/>
        </p:nvSpPr>
        <p:spPr>
          <a:xfrm>
            <a:off x="432000" y="5436000"/>
            <a:ext cx="6192000" cy="720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すぐ答える仕組みが、</a:t>
            </a:r>
          </a:p>
          <a:p>
            <a:pPr algn="ctr"/>
            <a:r>
              <a:rPr sz="1500" b="1">
                <a:solidFill>
                  <a:srgbClr val="333333"/>
                </a:solidFill>
                <a:latin typeface="メイリオ"/>
                <a:ea typeface="メイリオ"/>
                <a:cs typeface="メイリオ"/>
              </a:rPr>
              <a:t>資料請求・体験予約の取りこぼしを減らす。</a:t>
            </a:r>
          </a:p>
        </p:txBody>
      </p:sp>
      <p:sp>
        <p:nvSpPr>
          <p:cNvPr id="82" name="Rectangle 81"/>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r"/>
            <a:fld id="{8C1D2E3F-4A5B-4C6D-9E7F-000000000002}" type="slidenum">
              <a:rPr sz="1200" b="1">
                <a:solidFill>
                  <a:srgbClr val="FFFFFF"/>
                </a:solidFill>
                <a:latin typeface="メイリオ"/>
                <a:ea typeface="メイリオ"/>
                <a:cs typeface="メイリオ"/>
              </a:rPr>
              <a:t>65</a:t>
            </a:fld>
            <a:endParaRPr sz="1200" b="1">
              <a:solidFill>
                <a:srgbClr val="FFFFFF"/>
              </a:solidFill>
              <a:latin typeface="メイリオ"/>
              <a:ea typeface="メイリオ"/>
              <a:cs typeface="メイリオ"/>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施策の設計図④　効率改善（教室・運用側）</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教室の手間を増やさずに運用する。予約の受付・日程変更・持ち物の案内は、LINEで自動にする。</a:t>
            </a:r>
          </a:p>
          <a:p>
            <a:pPr algn="l">
              <a:lnSpc>
                <a:spcPct val="128000"/>
              </a:lnSpc>
            </a:pPr>
            <a:r>
              <a:rPr sz="1200">
                <a:solidFill>
                  <a:srgbClr val="333333"/>
                </a:solidFill>
                <a:latin typeface="メイリオ"/>
                <a:ea typeface="メイリオ"/>
                <a:cs typeface="メイリオ"/>
              </a:rPr>
              <a:t>LINE経由の資料請求・体験予約の数も、計測できるようにする。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※GA4のパラメータ（utm）でLINE経由の流入と資料請求・体験予約を計測。費用は月額費用内</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ectangle 39"/>
          <p:cNvSpPr/>
          <p:nvPr/>
        </p:nvSpPr>
        <p:spPr>
          <a:xfrm>
            <a:off x="432000" y="151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550" b="1">
                <a:solidFill>
                  <a:srgbClr val="FFFFFF"/>
                </a:solidFill>
                <a:latin typeface="メイリオ"/>
                <a:ea typeface="メイリオ"/>
                <a:cs typeface="メイリオ"/>
              </a:rPr>
              <a:t>[自動応答]</a:t>
            </a:r>
          </a:p>
        </p:txBody>
      </p:sp>
      <p:sp>
        <p:nvSpPr>
          <p:cNvPr id="41" name="Rectangle 40"/>
          <p:cNvSpPr/>
          <p:nvPr/>
        </p:nvSpPr>
        <p:spPr>
          <a:xfrm>
            <a:off x="1692000" y="151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50" b="0">
                <a:solidFill>
                  <a:srgbClr val="333333"/>
                </a:solidFill>
                <a:latin typeface="メイリオ"/>
                <a:ea typeface="メイリオ"/>
                <a:cs typeface="メイリオ"/>
              </a:rPr>
              <a:t>体験予約の受付・日程の変更・持ち物の案内を、24時間自動で受け付ける</a:t>
            </a:r>
          </a:p>
        </p:txBody>
      </p:sp>
      <p:sp>
        <p:nvSpPr>
          <p:cNvPr id="42" name="Rectangle 41"/>
          <p:cNvSpPr/>
          <p:nvPr/>
        </p:nvSpPr>
        <p:spPr>
          <a:xfrm>
            <a:off x="8676000" y="151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43" name="Rectangle 42"/>
          <p:cNvSpPr/>
          <p:nvPr/>
        </p:nvSpPr>
        <p:spPr>
          <a:xfrm>
            <a:off x="432000" y="214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550" b="1">
                <a:solidFill>
                  <a:srgbClr val="FFFFFF"/>
                </a:solidFill>
                <a:latin typeface="メイリオ"/>
                <a:ea typeface="メイリオ"/>
                <a:cs typeface="メイリオ"/>
              </a:rPr>
              <a:t>[その他]</a:t>
            </a:r>
          </a:p>
        </p:txBody>
      </p:sp>
      <p:sp>
        <p:nvSpPr>
          <p:cNvPr id="44" name="Rectangle 43"/>
          <p:cNvSpPr/>
          <p:nvPr/>
        </p:nvSpPr>
        <p:spPr>
          <a:xfrm>
            <a:off x="1692000" y="214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50" b="0">
                <a:solidFill>
                  <a:srgbClr val="333333"/>
                </a:solidFill>
                <a:latin typeface="メイリオ"/>
                <a:ea typeface="メイリオ"/>
                <a:cs typeface="メイリオ"/>
              </a:rPr>
              <a:t>GA4のパラメータで、LINE経由の資料請求・体験予約の数を計測する</a:t>
            </a:r>
          </a:p>
        </p:txBody>
      </p:sp>
      <p:sp>
        <p:nvSpPr>
          <p:cNvPr id="45" name="Rectangle 44"/>
          <p:cNvSpPr/>
          <p:nvPr/>
        </p:nvSpPr>
        <p:spPr>
          <a:xfrm>
            <a:off x="8676000" y="214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46" name="Rectangle 45"/>
          <p:cNvSpPr/>
          <p:nvPr/>
        </p:nvSpPr>
        <p:spPr>
          <a:xfrm>
            <a:off x="432000" y="282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[自動応答]　体験予約の流れ（教室は当日迎えるだけ）</a:t>
            </a:r>
          </a:p>
        </p:txBody>
      </p:sp>
      <p:sp>
        <p:nvSpPr>
          <p:cNvPr id="47" name="Rounded Rectangle 46"/>
          <p:cNvSpPr/>
          <p:nvPr/>
        </p:nvSpPr>
        <p:spPr>
          <a:xfrm>
            <a:off x="43200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LINEで</a:t>
            </a:r>
          </a:p>
          <a:p>
            <a:pPr algn="ctr"/>
            <a:r>
              <a:rPr sz="1200" b="1">
                <a:solidFill>
                  <a:srgbClr val="1F285A"/>
                </a:solidFill>
                <a:latin typeface="メイリオ"/>
                <a:ea typeface="メイリオ"/>
                <a:cs typeface="メイリオ"/>
              </a:rPr>
              <a:t>「体験予約」</a:t>
            </a:r>
          </a:p>
        </p:txBody>
      </p:sp>
      <p:cxnSp>
        <p:nvCxnSpPr>
          <p:cNvPr id="48" name="Connector 47"/>
          <p:cNvCxnSpPr/>
          <p:nvPr/>
        </p:nvCxnSpPr>
        <p:spPr>
          <a:xfrm>
            <a:off x="177840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97424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日時を選ぶ</a:t>
            </a:r>
          </a:p>
          <a:p>
            <a:pPr algn="ctr"/>
            <a:r>
              <a:rPr sz="1200" b="1">
                <a:solidFill>
                  <a:srgbClr val="1F285A"/>
                </a:solidFill>
                <a:latin typeface="メイリオ"/>
                <a:ea typeface="メイリオ"/>
                <a:cs typeface="メイリオ"/>
              </a:rPr>
              <a:t>（空き枠）</a:t>
            </a:r>
          </a:p>
        </p:txBody>
      </p:sp>
      <p:cxnSp>
        <p:nvCxnSpPr>
          <p:cNvPr id="50" name="Connector 49"/>
          <p:cNvCxnSpPr/>
          <p:nvPr/>
        </p:nvCxnSpPr>
        <p:spPr>
          <a:xfrm>
            <a:off x="332064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51647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予約完了を</a:t>
            </a:r>
          </a:p>
          <a:p>
            <a:pPr algn="ctr"/>
            <a:r>
              <a:rPr sz="1200" b="1">
                <a:solidFill>
                  <a:srgbClr val="1F285A"/>
                </a:solidFill>
                <a:latin typeface="メイリオ"/>
                <a:ea typeface="メイリオ"/>
                <a:cs typeface="メイリオ"/>
              </a:rPr>
              <a:t>自動で送る</a:t>
            </a:r>
          </a:p>
        </p:txBody>
      </p:sp>
      <p:cxnSp>
        <p:nvCxnSpPr>
          <p:cNvPr id="52" name="Connector 51"/>
          <p:cNvCxnSpPr/>
          <p:nvPr/>
        </p:nvCxnSpPr>
        <p:spPr>
          <a:xfrm>
            <a:off x="486288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505872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前日に</a:t>
            </a:r>
          </a:p>
          <a:p>
            <a:pPr algn="ctr"/>
            <a:r>
              <a:rPr sz="1200" b="1">
                <a:solidFill>
                  <a:srgbClr val="1F285A"/>
                </a:solidFill>
                <a:latin typeface="メイリオ"/>
                <a:ea typeface="メイリオ"/>
                <a:cs typeface="メイリオ"/>
              </a:rPr>
              <a:t>持ち物・地図</a:t>
            </a:r>
          </a:p>
        </p:txBody>
      </p:sp>
      <p:cxnSp>
        <p:nvCxnSpPr>
          <p:cNvPr id="54" name="Connector 53"/>
          <p:cNvCxnSpPr/>
          <p:nvPr/>
        </p:nvCxnSpPr>
        <p:spPr>
          <a:xfrm>
            <a:off x="6405119" y="3510000"/>
            <a:ext cx="18144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60095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変更は</a:t>
            </a:r>
          </a:p>
          <a:p>
            <a:pPr algn="ctr"/>
            <a:r>
              <a:rPr sz="1200" b="1">
                <a:solidFill>
                  <a:srgbClr val="1F285A"/>
                </a:solidFill>
                <a:latin typeface="メイリオ"/>
                <a:ea typeface="メイリオ"/>
                <a:cs typeface="メイリオ"/>
              </a:rPr>
              <a:t>「変更」と送る</a:t>
            </a:r>
          </a:p>
        </p:txBody>
      </p:sp>
      <p:cxnSp>
        <p:nvCxnSpPr>
          <p:cNvPr id="56" name="Connector 55"/>
          <p:cNvCxnSpPr/>
          <p:nvPr/>
        </p:nvCxnSpPr>
        <p:spPr>
          <a:xfrm>
            <a:off x="7947359"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8143199" y="3096000"/>
            <a:ext cx="1332000" cy="827999"/>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教室は</a:t>
            </a:r>
          </a:p>
          <a:p>
            <a:pPr algn="ctr"/>
            <a:r>
              <a:rPr sz="1200" b="1">
                <a:solidFill>
                  <a:srgbClr val="FFFFFF"/>
                </a:solidFill>
                <a:latin typeface="メイリオ"/>
                <a:ea typeface="メイリオ"/>
                <a:cs typeface="メイリオ"/>
              </a:rPr>
              <a:t>迎えるだけ</a:t>
            </a:r>
          </a:p>
        </p:txBody>
      </p:sp>
      <p:sp>
        <p:nvSpPr>
          <p:cNvPr id="58" name="Rectangle 57"/>
          <p:cNvSpPr/>
          <p:nvPr/>
        </p:nvSpPr>
        <p:spPr>
          <a:xfrm>
            <a:off x="432000" y="408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[その他]　LINE経由の成果を数える</a:t>
            </a:r>
          </a:p>
        </p:txBody>
      </p:sp>
      <p:sp>
        <p:nvSpPr>
          <p:cNvPr id="59" name="Rounded Rectangle 58"/>
          <p:cNvSpPr/>
          <p:nvPr/>
        </p:nvSpPr>
        <p:spPr>
          <a:xfrm>
            <a:off x="4320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LINEの配信</a:t>
            </a:r>
          </a:p>
          <a:p>
            <a:pPr algn="ctr"/>
            <a:r>
              <a:rPr sz="1100" b="0">
                <a:solidFill>
                  <a:srgbClr val="7F7F7F"/>
                </a:solidFill>
                <a:latin typeface="メイリオ"/>
                <a:ea typeface="メイリオ"/>
                <a:cs typeface="メイリオ"/>
              </a:rPr>
              <a:t>リンクに目印を付ける</a:t>
            </a:r>
          </a:p>
        </p:txBody>
      </p:sp>
      <p:cxnSp>
        <p:nvCxnSpPr>
          <p:cNvPr id="60" name="Connector 59"/>
          <p:cNvCxnSpPr/>
          <p:nvPr/>
        </p:nvCxnSpPr>
        <p:spPr>
          <a:xfrm>
            <a:off x="20664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2878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サイト</a:t>
            </a:r>
          </a:p>
          <a:p>
            <a:pPr algn="ctr"/>
            <a:r>
              <a:rPr sz="1100" b="0">
                <a:solidFill>
                  <a:srgbClr val="7F7F7F"/>
                </a:solidFill>
                <a:latin typeface="メイリオ"/>
                <a:ea typeface="メイリオ"/>
                <a:cs typeface="メイリオ"/>
              </a:rPr>
              <a:t>GA4で見分ける</a:t>
            </a:r>
          </a:p>
        </p:txBody>
      </p:sp>
      <p:cxnSp>
        <p:nvCxnSpPr>
          <p:cNvPr id="62" name="Connector 61"/>
          <p:cNvCxnSpPr/>
          <p:nvPr/>
        </p:nvCxnSpPr>
        <p:spPr>
          <a:xfrm>
            <a:off x="39222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41436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00897B"/>
                </a:solidFill>
                <a:latin typeface="メイリオ"/>
                <a:ea typeface="メイリオ"/>
                <a:cs typeface="メイリオ"/>
              </a:rPr>
              <a:t>資料請求（CV①）</a:t>
            </a:r>
          </a:p>
          <a:p>
            <a:pPr algn="ctr"/>
            <a:r>
              <a:rPr sz="1100" b="0">
                <a:solidFill>
                  <a:srgbClr val="7F7F7F"/>
                </a:solidFill>
                <a:latin typeface="メイリオ"/>
                <a:ea typeface="メイリオ"/>
                <a:cs typeface="メイリオ"/>
              </a:rPr>
              <a:t>件数を計測</a:t>
            </a:r>
          </a:p>
        </p:txBody>
      </p:sp>
      <p:cxnSp>
        <p:nvCxnSpPr>
          <p:cNvPr id="64" name="Connector 63"/>
          <p:cNvCxnSpPr/>
          <p:nvPr/>
        </p:nvCxnSpPr>
        <p:spPr>
          <a:xfrm>
            <a:off x="57779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59994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00897B"/>
                </a:solidFill>
                <a:latin typeface="メイリオ"/>
                <a:ea typeface="メイリオ"/>
                <a:cs typeface="メイリオ"/>
              </a:rPr>
              <a:t>体験予約（CV②）</a:t>
            </a:r>
          </a:p>
          <a:p>
            <a:pPr algn="ctr"/>
            <a:r>
              <a:rPr sz="1100" b="0">
                <a:solidFill>
                  <a:srgbClr val="7F7F7F"/>
                </a:solidFill>
                <a:latin typeface="メイリオ"/>
                <a:ea typeface="メイリオ"/>
                <a:cs typeface="メイリオ"/>
              </a:rPr>
              <a:t>件数を計測</a:t>
            </a:r>
          </a:p>
        </p:txBody>
      </p:sp>
      <p:cxnSp>
        <p:nvCxnSpPr>
          <p:cNvPr id="66" name="Connector 65"/>
          <p:cNvCxnSpPr/>
          <p:nvPr/>
        </p:nvCxnSpPr>
        <p:spPr>
          <a:xfrm>
            <a:off x="76337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78552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月次レポート</a:t>
            </a:r>
          </a:p>
          <a:p>
            <a:pPr algn="ctr"/>
            <a:r>
              <a:rPr sz="1100" b="0">
                <a:solidFill>
                  <a:srgbClr val="7F7F7F"/>
                </a:solidFill>
                <a:latin typeface="メイリオ"/>
                <a:ea typeface="メイリオ"/>
                <a:cs typeface="メイリオ"/>
              </a:rPr>
              <a:t>定例会で共有</a:t>
            </a:r>
          </a:p>
        </p:txBody>
      </p:sp>
      <p:sp>
        <p:nvSpPr>
          <p:cNvPr id="68" name="Rounded Rectangle 67"/>
          <p:cNvSpPr/>
          <p:nvPr/>
        </p:nvSpPr>
        <p:spPr>
          <a:xfrm>
            <a:off x="432000" y="5436000"/>
            <a:ext cx="9043200" cy="684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教室の手間を増やさずに、LINE経由の成果が毎月数字で見える。</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成果の見方</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友だちの数は成果にしない。見るのは、資料請求・体験予約・入会の3つ。</a:t>
            </a:r>
          </a:p>
          <a:p>
            <a:pPr algn="l">
              <a:lnSpc>
                <a:spcPct val="128000"/>
              </a:lnSpc>
            </a:pPr>
            <a:r>
              <a:rPr sz="1200">
                <a:solidFill>
                  <a:srgbClr val="333333"/>
                </a:solidFill>
                <a:latin typeface="メイリオ"/>
                <a:ea typeface="メイリオ"/>
                <a:cs typeface="メイリオ"/>
              </a:rPr>
              <a:t>入会は教室で決まるため、3か月ごとに教室からご報告いただいて確認する。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レポートは月次の定例会で共有（費用内）</a:t>
            </a:r>
          </a:p>
        </p:txBody>
      </p:sp>
      <p:sp>
        <p:nvSpPr>
          <p:cNvPr id="13" name="Pentagon 12"/>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14" name="Chevron 13"/>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15" name="Chevron 14"/>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16" name="Chevron 15"/>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17" name="Chevron 16"/>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8" name="Chevron 17"/>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9" name="Chevron 18"/>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20" name="Chevron 19"/>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1" name="Rounded Rectangle 20"/>
          <p:cNvSpPr/>
          <p:nvPr/>
        </p:nvSpPr>
        <p:spPr>
          <a:xfrm>
            <a:off x="432000" y="1548000"/>
            <a:ext cx="4428000" cy="324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毎月見る</a:t>
            </a:r>
          </a:p>
        </p:txBody>
      </p:sp>
      <p:sp>
        <p:nvSpPr>
          <p:cNvPr id="22" name="Rounded Rectangle 21"/>
          <p:cNvSpPr/>
          <p:nvPr/>
        </p:nvSpPr>
        <p:spPr>
          <a:xfrm>
            <a:off x="4320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友だち追加数</a:t>
            </a:r>
          </a:p>
        </p:txBody>
      </p:sp>
      <p:sp>
        <p:nvSpPr>
          <p:cNvPr id="23" name="Rounded Rectangle 22"/>
          <p:cNvSpPr/>
          <p:nvPr/>
        </p:nvSpPr>
        <p:spPr>
          <a:xfrm>
            <a:off x="4320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診断の回答数</a:t>
            </a:r>
          </a:p>
        </p:txBody>
      </p:sp>
      <p:sp>
        <p:nvSpPr>
          <p:cNvPr id="24" name="Rounded Rectangle 23"/>
          <p:cNvSpPr/>
          <p:nvPr/>
        </p:nvSpPr>
        <p:spPr>
          <a:xfrm>
            <a:off x="4320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資料請求数（CV①）</a:t>
            </a:r>
          </a:p>
        </p:txBody>
      </p:sp>
      <p:sp>
        <p:nvSpPr>
          <p:cNvPr id="25" name="Rounded Rectangle 24"/>
          <p:cNvSpPr/>
          <p:nvPr/>
        </p:nvSpPr>
        <p:spPr>
          <a:xfrm>
            <a:off x="432000" y="3348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体験予約数（CV②）</a:t>
            </a:r>
          </a:p>
        </p:txBody>
      </p:sp>
      <p:sp>
        <p:nvSpPr>
          <p:cNvPr id="26" name="Rounded Rectangle 25"/>
          <p:cNvSpPr/>
          <p:nvPr/>
        </p:nvSpPr>
        <p:spPr>
          <a:xfrm>
            <a:off x="432000" y="3816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体験に来た数</a:t>
            </a:r>
          </a:p>
        </p:txBody>
      </p:sp>
      <p:sp>
        <p:nvSpPr>
          <p:cNvPr id="27" name="Rounded Rectangle 26"/>
          <p:cNvSpPr/>
          <p:nvPr/>
        </p:nvSpPr>
        <p:spPr>
          <a:xfrm>
            <a:off x="432000" y="428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ブロック率</a:t>
            </a:r>
          </a:p>
        </p:txBody>
      </p:sp>
      <p:sp>
        <p:nvSpPr>
          <p:cNvPr id="28" name="Rounded Rectangle 27"/>
          <p:cNvSpPr/>
          <p:nvPr/>
        </p:nvSpPr>
        <p:spPr>
          <a:xfrm>
            <a:off x="5047200" y="1548000"/>
            <a:ext cx="4428000" cy="324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3か月ごとに見る</a:t>
            </a:r>
          </a:p>
        </p:txBody>
      </p:sp>
      <p:sp>
        <p:nvSpPr>
          <p:cNvPr id="29" name="Rounded Rectangle 28"/>
          <p:cNvSpPr/>
          <p:nvPr/>
        </p:nvSpPr>
        <p:spPr>
          <a:xfrm>
            <a:off x="50472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入会数（教室からご報告いただく）</a:t>
            </a:r>
          </a:p>
        </p:txBody>
      </p:sp>
      <p:sp>
        <p:nvSpPr>
          <p:cNvPr id="30" name="Rounded Rectangle 29"/>
          <p:cNvSpPr/>
          <p:nvPr/>
        </p:nvSpPr>
        <p:spPr>
          <a:xfrm>
            <a:off x="50472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 → 入会の割合</a:t>
            </a:r>
          </a:p>
        </p:txBody>
      </p:sp>
      <p:sp>
        <p:nvSpPr>
          <p:cNvPr id="31" name="Rounded Rectangle 30"/>
          <p:cNvSpPr/>
          <p:nvPr/>
        </p:nvSpPr>
        <p:spPr>
          <a:xfrm>
            <a:off x="50472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資料請求 → 体験予約の割合</a:t>
            </a:r>
          </a:p>
        </p:txBody>
      </p:sp>
      <p:sp>
        <p:nvSpPr>
          <p:cNvPr id="32" name="Rounded Rectangle 31"/>
          <p:cNvSpPr/>
          <p:nvPr/>
        </p:nvSpPr>
        <p:spPr>
          <a:xfrm>
            <a:off x="432000" y="4896000"/>
            <a:ext cx="9043200" cy="46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友だちの数ではなく、資料請求・体験予約・入会で見る。</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導入スケジュール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次の申し込みのピークから逆算して着手する。14日間のステップ配信が一巡すると、数字が見え始める。</a:t>
            </a:r>
          </a:p>
          <a:p>
            <a:pPr algn="l">
              <a:lnSpc>
                <a:spcPct val="128000"/>
              </a:lnSpc>
            </a:pPr>
            <a:r>
              <a:rPr sz="1200">
                <a:solidFill>
                  <a:srgbClr val="333333"/>
                </a:solidFill>
                <a:latin typeface="メイリオ"/>
                <a:ea typeface="メイリオ"/>
                <a:cs typeface="メイリオ"/>
              </a:rPr>
              <a:t>2月の入会期なら12月着手、夏期講習なら5月着手が目安。</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Chevron 4"/>
          <p:cNvSpPr/>
          <p:nvPr/>
        </p:nvSpPr>
        <p:spPr>
          <a:xfrm>
            <a:off x="4320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1</a:t>
            </a:r>
          </a:p>
          <a:p>
            <a:pPr algn="ctr">
              <a:lnSpc>
                <a:spcPct val="115000"/>
              </a:lnSpc>
            </a:pPr>
            <a:r>
              <a:rPr sz="1150" b="1">
                <a:solidFill>
                  <a:srgbClr val="FFFFFF"/>
                </a:solidFill>
                <a:latin typeface="メイリオ"/>
                <a:ea typeface="メイリオ"/>
                <a:cs typeface="メイリオ"/>
              </a:rPr>
              <a:t>要件定義・設計</a:t>
            </a:r>
          </a:p>
        </p:txBody>
      </p:sp>
      <p:sp>
        <p:nvSpPr>
          <p:cNvPr id="7" name="Rounded Rectangle 6"/>
          <p:cNvSpPr/>
          <p:nvPr/>
        </p:nvSpPr>
        <p:spPr>
          <a:xfrm>
            <a:off x="4320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00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・現状ヒアリング（月謝・広告実績・資料請求と体験予約の件数）</a:t>
            </a:r>
          </a:p>
          <a:p>
            <a:pPr algn="l">
              <a:lnSpc>
                <a:spcPct val="130000"/>
              </a:lnSpc>
              <a:spcAft>
                <a:spcPts val="500"/>
              </a:spcAft>
            </a:pPr>
            <a:r>
              <a:rPr sz="850">
                <a:solidFill>
                  <a:srgbClr val="333333"/>
                </a:solidFill>
                <a:latin typeface="メイリオ"/>
                <a:ea typeface="メイリオ"/>
                <a:cs typeface="メイリオ"/>
              </a:rPr>
              <a:t>・CV（資料請求・体験予約）とタグ設計の確定</a:t>
            </a:r>
          </a:p>
          <a:p>
            <a:pPr algn="l">
              <a:lnSpc>
                <a:spcPct val="130000"/>
              </a:lnSpc>
              <a:spcAft>
                <a:spcPts val="500"/>
              </a:spcAft>
            </a:pPr>
            <a:r>
              <a:rPr sz="850">
                <a:solidFill>
                  <a:srgbClr val="333333"/>
                </a:solidFill>
                <a:latin typeface="メイリオ"/>
                <a:ea typeface="メイリオ"/>
                <a:cs typeface="メイリオ"/>
              </a:rPr>
              <a:t>・LINEで資料請求の仕組みの決定</a:t>
            </a:r>
          </a:p>
          <a:p>
            <a:pPr algn="l">
              <a:lnSpc>
                <a:spcPct val="130000"/>
              </a:lnSpc>
              <a:spcAft>
                <a:spcPts val="500"/>
              </a:spcAft>
            </a:pPr>
            <a:r>
              <a:rPr sz="850">
                <a:solidFill>
                  <a:srgbClr val="333333"/>
                </a:solidFill>
                <a:latin typeface="メイリオ"/>
                <a:ea typeface="メイリオ"/>
                <a:cs typeface="メイリオ"/>
              </a:rPr>
              <a:t>・配信ツールの選定（Lstep / Hachidori）</a:t>
            </a:r>
          </a:p>
        </p:txBody>
      </p:sp>
      <p:sp>
        <p:nvSpPr>
          <p:cNvPr id="9" name="Chevron 8"/>
          <p:cNvSpPr/>
          <p:nvPr/>
        </p:nvSpPr>
        <p:spPr>
          <a:xfrm>
            <a:off x="27198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2</a:t>
            </a:r>
          </a:p>
          <a:p>
            <a:pPr algn="ctr">
              <a:lnSpc>
                <a:spcPct val="115000"/>
              </a:lnSpc>
            </a:pPr>
            <a:r>
              <a:rPr sz="1150" b="1">
                <a:solidFill>
                  <a:srgbClr val="FFFFFF"/>
                </a:solidFill>
                <a:latin typeface="メイリオ"/>
                <a:ea typeface="メイリオ"/>
                <a:cs typeface="メイリオ"/>
              </a:rPr>
              <a:t>構築・制作</a:t>
            </a:r>
          </a:p>
        </p:txBody>
      </p:sp>
      <p:sp>
        <p:nvSpPr>
          <p:cNvPr id="11" name="Rounded Rectangle 10"/>
          <p:cNvSpPr/>
          <p:nvPr/>
        </p:nvSpPr>
        <p:spPr>
          <a:xfrm>
            <a:off x="27198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278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・アカウント開設・プロフィール（未開設の場合）</a:t>
            </a:r>
          </a:p>
          <a:p>
            <a:pPr algn="l">
              <a:lnSpc>
                <a:spcPct val="130000"/>
              </a:lnSpc>
              <a:spcAft>
                <a:spcPts val="500"/>
              </a:spcAft>
            </a:pPr>
            <a:r>
              <a:rPr sz="850">
                <a:solidFill>
                  <a:srgbClr val="333333"/>
                </a:solidFill>
                <a:latin typeface="メイリオ"/>
                <a:ea typeface="メイリオ"/>
                <a:cs typeface="メイリオ"/>
              </a:rPr>
              <a:t>・30秒診断（4問）の設計と実装</a:t>
            </a:r>
          </a:p>
          <a:p>
            <a:pPr algn="l">
              <a:lnSpc>
                <a:spcPct val="130000"/>
              </a:lnSpc>
              <a:spcAft>
                <a:spcPts val="500"/>
              </a:spcAft>
            </a:pPr>
            <a:r>
              <a:rPr sz="850">
                <a:solidFill>
                  <a:srgbClr val="333333"/>
                </a:solidFill>
                <a:latin typeface="メイリオ"/>
                <a:ea typeface="メイリオ"/>
                <a:cs typeface="メイリオ"/>
              </a:rPr>
              <a:t>・リッチメニュー3タブ×6枠の制作</a:t>
            </a:r>
          </a:p>
          <a:p>
            <a:pPr algn="l">
              <a:lnSpc>
                <a:spcPct val="130000"/>
              </a:lnSpc>
              <a:spcAft>
                <a:spcPts val="500"/>
              </a:spcAft>
            </a:pPr>
            <a:r>
              <a:rPr sz="850">
                <a:solidFill>
                  <a:srgbClr val="333333"/>
                </a:solidFill>
                <a:latin typeface="メイリオ"/>
                <a:ea typeface="メイリオ"/>
                <a:cs typeface="メイリオ"/>
              </a:rPr>
              <a:t>・14日ステップ（14通）の原稿・実装</a:t>
            </a:r>
          </a:p>
          <a:p>
            <a:pPr algn="l">
              <a:lnSpc>
                <a:spcPct val="130000"/>
              </a:lnSpc>
              <a:spcAft>
                <a:spcPts val="500"/>
              </a:spcAft>
            </a:pPr>
            <a:r>
              <a:rPr sz="850">
                <a:solidFill>
                  <a:srgbClr val="333333"/>
                </a:solidFill>
                <a:latin typeface="メイリオ"/>
                <a:ea typeface="メイリオ"/>
                <a:cs typeface="メイリオ"/>
              </a:rPr>
              <a:t>・LP離脱防止の設置</a:t>
            </a:r>
          </a:p>
        </p:txBody>
      </p:sp>
      <p:sp>
        <p:nvSpPr>
          <p:cNvPr id="13" name="Chevron 12"/>
          <p:cNvSpPr/>
          <p:nvPr/>
        </p:nvSpPr>
        <p:spPr>
          <a:xfrm>
            <a:off x="5007600" y="1655999"/>
            <a:ext cx="2179800" cy="540000"/>
          </a:xfrm>
          <a:prstGeom prst="chevron">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3</a:t>
            </a:r>
          </a:p>
          <a:p>
            <a:pPr algn="ctr">
              <a:lnSpc>
                <a:spcPct val="115000"/>
              </a:lnSpc>
            </a:pPr>
            <a:r>
              <a:rPr sz="1150" b="1">
                <a:solidFill>
                  <a:srgbClr val="FFFFFF"/>
                </a:solidFill>
                <a:latin typeface="メイリオ"/>
                <a:ea typeface="メイリオ"/>
                <a:cs typeface="メイリオ"/>
              </a:rPr>
              <a:t>テスト配信・調整</a:t>
            </a:r>
          </a:p>
        </p:txBody>
      </p:sp>
      <p:sp>
        <p:nvSpPr>
          <p:cNvPr id="15" name="Rounded Rectangle 14"/>
          <p:cNvSpPr/>
          <p:nvPr/>
        </p:nvSpPr>
        <p:spPr>
          <a:xfrm>
            <a:off x="50076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156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・社内テスト配信（文面・分岐の確認）</a:t>
            </a:r>
          </a:p>
          <a:p>
            <a:pPr algn="l">
              <a:lnSpc>
                <a:spcPct val="130000"/>
              </a:lnSpc>
              <a:spcAft>
                <a:spcPts val="500"/>
              </a:spcAft>
            </a:pPr>
            <a:r>
              <a:rPr sz="850">
                <a:solidFill>
                  <a:srgbClr val="333333"/>
                </a:solidFill>
                <a:latin typeface="メイリオ"/>
                <a:ea typeface="メイリオ"/>
                <a:cs typeface="メイリオ"/>
              </a:rPr>
              <a:t>・表現の確認（成果の断定・最上級表現がないか）</a:t>
            </a:r>
          </a:p>
          <a:p>
            <a:pPr algn="l">
              <a:lnSpc>
                <a:spcPct val="130000"/>
              </a:lnSpc>
              <a:spcAft>
                <a:spcPts val="500"/>
              </a:spcAft>
            </a:pPr>
            <a:r>
              <a:rPr sz="850">
                <a:solidFill>
                  <a:srgbClr val="333333"/>
                </a:solidFill>
                <a:latin typeface="メイリオ"/>
                <a:ea typeface="メイリオ"/>
                <a:cs typeface="メイリオ"/>
              </a:rPr>
              <a:t>・教室スタッフへの運用説明</a:t>
            </a:r>
          </a:p>
        </p:txBody>
      </p:sp>
      <p:sp>
        <p:nvSpPr>
          <p:cNvPr id="17" name="Chevron 16"/>
          <p:cNvSpPr/>
          <p:nvPr/>
        </p:nvSpPr>
        <p:spPr>
          <a:xfrm>
            <a:off x="7295400" y="1655999"/>
            <a:ext cx="2179800" cy="540000"/>
          </a:xfrm>
          <a:prstGeom prst="chevron">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4</a:t>
            </a:r>
          </a:p>
          <a:p>
            <a:pPr algn="ctr">
              <a:lnSpc>
                <a:spcPct val="115000"/>
              </a:lnSpc>
            </a:pPr>
            <a:r>
              <a:rPr sz="1150" b="1">
                <a:solidFill>
                  <a:srgbClr val="FFFFFF"/>
                </a:solidFill>
                <a:latin typeface="メイリオ"/>
                <a:ea typeface="メイリオ"/>
                <a:cs typeface="メイリオ"/>
              </a:rPr>
              <a:t>本格運用・改善</a:t>
            </a:r>
          </a:p>
        </p:txBody>
      </p:sp>
      <p:sp>
        <p:nvSpPr>
          <p:cNvPr id="19" name="Rounded Rectangle 18"/>
          <p:cNvSpPr/>
          <p:nvPr/>
        </p:nvSpPr>
        <p:spPr>
          <a:xfrm>
            <a:off x="72954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34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・企画配信（月1〜2本）</a:t>
            </a:r>
          </a:p>
          <a:p>
            <a:pPr algn="l">
              <a:lnSpc>
                <a:spcPct val="130000"/>
              </a:lnSpc>
              <a:spcAft>
                <a:spcPts val="500"/>
              </a:spcAft>
            </a:pPr>
            <a:r>
              <a:rPr sz="850">
                <a:solidFill>
                  <a:srgbClr val="333333"/>
                </a:solidFill>
                <a:latin typeface="メイリオ"/>
                <a:ea typeface="メイリオ"/>
                <a:cs typeface="メイリオ"/>
              </a:rPr>
              <a:t>・出し分け配信・前日リマインドの稼働</a:t>
            </a:r>
          </a:p>
          <a:p>
            <a:pPr algn="l">
              <a:lnSpc>
                <a:spcPct val="130000"/>
              </a:lnSpc>
              <a:spcAft>
                <a:spcPts val="500"/>
              </a:spcAft>
            </a:pPr>
            <a:r>
              <a:rPr sz="850">
                <a:solidFill>
                  <a:srgbClr val="333333"/>
                </a:solidFill>
                <a:latin typeface="メイリオ"/>
                <a:ea typeface="メイリオ"/>
                <a:cs typeface="メイリオ"/>
              </a:rPr>
              <a:t>・月次レポート＋定例会</a:t>
            </a:r>
          </a:p>
          <a:p>
            <a:pPr algn="l">
              <a:lnSpc>
                <a:spcPct val="130000"/>
              </a:lnSpc>
              <a:spcAft>
                <a:spcPts val="500"/>
              </a:spcAft>
            </a:pPr>
            <a:r>
              <a:rPr sz="850">
                <a:solidFill>
                  <a:srgbClr val="333333"/>
                </a:solidFill>
                <a:latin typeface="メイリオ"/>
                <a:ea typeface="メイリオ"/>
                <a:cs typeface="メイリオ"/>
              </a:rPr>
              <a:t>・3か月ごとに体験→入会の割合を確認</a:t>
            </a:r>
          </a:p>
        </p:txBody>
      </p:sp>
      <p:sp>
        <p:nvSpPr>
          <p:cNvPr id="21" name="TextBox 20"/>
          <p:cNvSpPr txBox="1"/>
          <p:nvPr/>
        </p:nvSpPr>
        <p:spPr>
          <a:xfrm>
            <a:off x="432000" y="453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逆算のしかた（検索のピークから）</a:t>
            </a:r>
          </a:p>
        </p:txBody>
      </p:sp>
      <p:sp>
        <p:nvSpPr>
          <p:cNvPr id="22" name="Rounded Rectangle 21"/>
          <p:cNvSpPr/>
          <p:nvPr/>
        </p:nvSpPr>
        <p:spPr>
          <a:xfrm>
            <a:off x="432000" y="4823999"/>
            <a:ext cx="9043200" cy="43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300" b="1">
                <a:solidFill>
                  <a:srgbClr val="1F285A"/>
                </a:solidFill>
                <a:latin typeface="メイリオ"/>
                <a:ea typeface="メイリオ"/>
                <a:cs typeface="メイリオ"/>
              </a:rPr>
              <a:t>2〜3月の入会期に向けて　→　12月着手 → 1月中旬に配信開始</a:t>
            </a:r>
          </a:p>
        </p:txBody>
      </p:sp>
      <p:sp>
        <p:nvSpPr>
          <p:cNvPr id="23" name="Rounded Rectangle 22"/>
          <p:cNvSpPr/>
          <p:nvPr/>
        </p:nvSpPr>
        <p:spPr>
          <a:xfrm>
            <a:off x="432000" y="5309999"/>
            <a:ext cx="9043200" cy="43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300" b="1">
                <a:solidFill>
                  <a:srgbClr val="1F285A"/>
                </a:solidFill>
                <a:latin typeface="メイリオ"/>
                <a:ea typeface="メイリオ"/>
                <a:cs typeface="メイリオ"/>
              </a:rPr>
              <a:t>7〜8月の夏期講習に向けて　→　5月着手 → 6月中旬に配信開始</a:t>
            </a:r>
          </a:p>
        </p:txBody>
      </p: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14日間の配信が一巡してから、数字が見え始める</a:t>
            </a:r>
          </a:p>
        </p:txBody>
      </p:sp>
      <p:sp>
        <p:nvSpPr>
          <p:cNvPr id="25" name="Pentagon 2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700">
                <a:latin typeface="メイリオ" panose="020B0604030504040204" pitchFamily="50" charset="-128"/>
                <a:ea typeface="メイリオ" panose="020B0604030504040204" pitchFamily="50" charset="-128"/>
              </a:rPr>
              <a:t>集客動線</a:t>
            </a:r>
            <a:endParaRPr kumimoji="1" lang="ja-JP" altLang="en-US" sz="17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18の具体施策が、どのフェーズで効くかを1枚にまとめた。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友だち追加までが6施策、追加後が12施策。追加後の施策が多い構成。</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⑦入会（契約）</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300" b="1" dirty="0">
                <a:latin typeface="メイリオ" panose="020B0604030504040204" pitchFamily="50" charset="-128"/>
                <a:ea typeface="メイリオ" panose="020B0604030504040204" pitchFamily="50" charset="-128"/>
              </a:rPr>
              <a:t>⑥ 有効リードの再育成</a:t>
            </a:r>
            <a:endParaRPr lang="ja-JP" altLang="ja-JP" sz="13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⑧継続・紹介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どう友だちになっていただくか（①〜④）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LINE広告（友だち追加）</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LINE登録をゴールに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どう申し込みにつなげるか（⑤〜⑧）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キーワード自動応答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検討度の高い方の検知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未入会の方へ再案内</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時期に合わせた配信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通知メッセージで再案内</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資料請求後のリマインド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自動応答と有人の切り替え</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入会後のフォロー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通塾状況に合わせた講習案内</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関連コースのご案内</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施策は友だち追加の後に多い。友だちを増やした後の関わり方で差がつく。</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企画のご参考</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他塾ではまだ少ない企画の例（ご参考）。</a:t>
            </a:r>
          </a:p>
          <a:p>
            <a:pPr algn="l">
              <a:lnSpc>
                <a:spcPct val="128000"/>
              </a:lnSpc>
            </a:pPr>
            <a:r>
              <a:rPr sz="1200">
                <a:solidFill>
                  <a:srgbClr val="333333"/>
                </a:solidFill>
                <a:latin typeface="メイリオ"/>
                <a:ea typeface="メイリオ"/>
                <a:cs typeface="メイリオ"/>
              </a:rPr>
              <a:t>地域で先行できる企画案。</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3999" y="1781999"/>
            <a:ext cx="432000" cy="43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7" name="TextBox 6"/>
          <p:cNvSpPr txBox="1"/>
          <p:nvPr/>
        </p:nvSpPr>
        <p:spPr>
          <a:xfrm>
            <a:off x="1044000" y="1728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学年別・逆算カレンダー配信</a:t>
            </a:r>
          </a:p>
        </p:txBody>
      </p:sp>
      <p:sp>
        <p:nvSpPr>
          <p:cNvPr id="8" name="TextBox 7"/>
          <p:cNvSpPr txBox="1"/>
          <p:nvPr/>
        </p:nvSpPr>
        <p:spPr>
          <a:xfrm>
            <a:off x="3780000" y="1728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小3〜中2の保護者へ、学年ごとに「この時期にやるべきこと」を毎月配信。入塾が多い学年（中学受験は小4／その他は小5・6）の1学年前からつながる</a:t>
            </a:r>
          </a:p>
        </p:txBody>
      </p:sp>
      <p:sp>
        <p:nvSpPr>
          <p:cNvPr id="9" name="Rounded Rectangle 8"/>
          <p:cNvSpPr/>
          <p:nvPr/>
        </p:nvSpPr>
        <p:spPr>
          <a:xfrm>
            <a:off x="432000" y="2430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3999" y="2556000"/>
            <a:ext cx="432000" cy="43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1" name="TextBox 10"/>
          <p:cNvSpPr txBox="1"/>
          <p:nvPr/>
        </p:nvSpPr>
        <p:spPr>
          <a:xfrm>
            <a:off x="1044000" y="2502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テスト返却週のピンポイント配信</a:t>
            </a:r>
          </a:p>
        </p:txBody>
      </p:sp>
      <p:sp>
        <p:nvSpPr>
          <p:cNvPr id="12" name="TextBox 11"/>
          <p:cNvSpPr txBox="1"/>
          <p:nvPr/>
        </p:nvSpPr>
        <p:spPr>
          <a:xfrm>
            <a:off x="3780000" y="2502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定期テストの返却時期に合わせて「点数の見方」を配信。中学生の入塾きっかけ1位は「成績が不安」52.4%</a:t>
            </a:r>
          </a:p>
        </p:txBody>
      </p:sp>
      <p:sp>
        <p:nvSpPr>
          <p:cNvPr id="17" name="Rounded Rectangle 16"/>
          <p:cNvSpPr/>
          <p:nvPr/>
        </p:nvSpPr>
        <p:spPr>
          <a:xfrm>
            <a:off x="432000" y="3203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3999" y="3329999"/>
            <a:ext cx="432000" cy="43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9" name="TextBox 18"/>
          <p:cNvSpPr txBox="1"/>
          <p:nvPr/>
        </p:nvSpPr>
        <p:spPr>
          <a:xfrm>
            <a:off x="1044000" y="3275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保護者向け「進路のきほん」ミニ講座</a:t>
            </a:r>
          </a:p>
        </p:txBody>
      </p:sp>
      <p:sp>
        <p:nvSpPr>
          <p:cNvPr id="20" name="TextBox 19"/>
          <p:cNvSpPr txBox="1"/>
          <p:nvPr/>
        </p:nvSpPr>
        <p:spPr>
          <a:xfrm>
            <a:off x="3780000" y="3275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LINEで完結する3分×5回の配信講座。決定関与は保護者80.5%。保護者自身の知識不足を埋める</a:t>
            </a:r>
          </a:p>
        </p:txBody>
      </p:sp>
      <p:sp>
        <p:nvSpPr>
          <p:cNvPr id="21" name="Rounded Rectangle 20"/>
          <p:cNvSpPr/>
          <p:nvPr/>
        </p:nvSpPr>
        <p:spPr>
          <a:xfrm>
            <a:off x="432000" y="3978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104000"/>
            <a:ext cx="432000" cy="432000"/>
          </a:xfrm>
          <a:prstGeom prst="roundRect">
            <a:avLst>
              <a:gd name="adj" fmla="val 6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23" name="TextBox 22"/>
          <p:cNvSpPr txBox="1"/>
          <p:nvPr/>
        </p:nvSpPr>
        <p:spPr>
          <a:xfrm>
            <a:off x="1044000" y="4049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AIによる学習相談ボット</a:t>
            </a:r>
          </a:p>
        </p:txBody>
      </p:sp>
      <p:sp>
        <p:nvSpPr>
          <p:cNvPr id="24" name="TextBox 23"/>
          <p:cNvSpPr txBox="1"/>
          <p:nvPr/>
        </p:nvSpPr>
        <p:spPr>
          <a:xfrm>
            <a:off x="3780000" y="4049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24時間の質問対応。ただし塾は「先生」で選ばれる業界のため、有人対応の価値を下げない設計が必要</a:t>
            </a:r>
          </a:p>
        </p:txBody>
      </p:sp>
      <p:sp>
        <p:nvSpPr>
          <p:cNvPr id="25" name="Rounded Rectangle 24"/>
          <p:cNvSpPr/>
          <p:nvPr/>
        </p:nvSpPr>
        <p:spPr>
          <a:xfrm>
            <a:off x="432000" y="5580000"/>
            <a:ext cx="9043200" cy="3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6000" y="5598000"/>
            <a:ext cx="8755200" cy="324000"/>
          </a:xfrm>
          <a:prstGeom prst="rect">
            <a:avLst/>
          </a:prstGeom>
          <a:noFill/>
        </p:spPr>
        <p:txBody>
          <a:bodyPr wrap="square" lIns="50400" tIns="21600" rIns="50400" bIns="21600" anchor="ctr">
            <a:spAutoFit/>
          </a:bodyPr>
          <a:lstStyle/>
          <a:p>
            <a:pPr algn="ctr"/>
            <a:r>
              <a:rPr sz="1150">
                <a:solidFill>
                  <a:srgbClr val="333333"/>
                </a:solidFill>
                <a:latin typeface="メイリオ"/>
                <a:ea typeface="メイリオ"/>
                <a:cs typeface="メイリオ"/>
              </a:rPr>
              <a:t>◎＝根拠データあり・すぐ実行できる　／　○＝条件付きで有効　／　△＝この業界では優先度低（弊社の見解）</a:t>
            </a:r>
          </a:p>
        </p:txBody>
      </p: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優先度の判定は弊社の見解。根拠は巻末の出典一覧を参照</a:t>
            </a:r>
          </a:p>
        </p:txBody>
      </p:sp>
      <p:sp>
        <p:nvSpPr>
          <p:cNvPr id="28" name="Pentagon 27"/>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この資料の出典</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a:solidFill>
                  <a:srgbClr val="333333"/>
                </a:solidFill>
                <a:latin typeface="メイリオ"/>
                <a:ea typeface="メイリオ"/>
                <a:cs typeface="メイリオ"/>
              </a:rPr>
              <a:t>この資料で使用した数値の出典一覧。</a:t>
            </a:r>
          </a:p>
          <a:p>
            <a:pPr algn="l">
              <a:lnSpc>
                <a:spcPct val="128000"/>
              </a:lnSpc>
            </a:pPr>
            <a:r>
              <a:rPr sz="1250">
                <a:solidFill>
                  <a:srgbClr val="333333"/>
                </a:solidFill>
                <a:latin typeface="メイリオ"/>
                <a:ea typeface="メイリオ"/>
                <a:cs typeface="メイリオ"/>
              </a:rPr>
              <a:t>出典のない数値は記載していない。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業界指標／自社実績／業界推計値／モデル値は、ラベルを分けて表記している</a:t>
            </a:r>
          </a:p>
        </p:txBody>
      </p:sp>
      <p:sp>
        <p:nvSpPr>
          <p:cNvPr id="13" name="Rectangle 12"/>
          <p:cNvSpPr/>
          <p:nvPr/>
        </p:nvSpPr>
        <p:spPr>
          <a:xfrm>
            <a:off x="432000" y="1512000"/>
            <a:ext cx="1296000" cy="251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ページ</a:t>
            </a:r>
          </a:p>
        </p:txBody>
      </p:sp>
      <p:sp>
        <p:nvSpPr>
          <p:cNvPr id="14" name="Rectangle 13"/>
          <p:cNvSpPr/>
          <p:nvPr/>
        </p:nvSpPr>
        <p:spPr>
          <a:xfrm>
            <a:off x="1764000" y="1512000"/>
            <a:ext cx="7711200" cy="251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出典</a:t>
            </a:r>
          </a:p>
        </p:txBody>
      </p:sp>
      <p:sp>
        <p:nvSpPr>
          <p:cNvPr id="15" name="Rectangle 14"/>
          <p:cNvSpPr/>
          <p:nvPr/>
        </p:nvSpPr>
        <p:spPr>
          <a:xfrm>
            <a:off x="432000" y="1800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P6</a:t>
            </a:r>
          </a:p>
        </p:txBody>
      </p:sp>
      <p:sp>
        <p:nvSpPr>
          <p:cNvPr id="16" name="Rectangle 15"/>
          <p:cNvSpPr/>
          <p:nvPr/>
        </p:nvSpPr>
        <p:spPr>
          <a:xfrm>
            <a:off x="1764000" y="1800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厚労省 人口動態統計／経産省 特定サービス産業動態統計／文科省 学校基本調査／矢野経済研究所 2024</a:t>
            </a:r>
          </a:p>
        </p:txBody>
      </p:sp>
      <p:sp>
        <p:nvSpPr>
          <p:cNvPr id="19" name="Rectangle 18"/>
          <p:cNvSpPr/>
          <p:nvPr/>
        </p:nvSpPr>
        <p:spPr>
          <a:xfrm>
            <a:off x="432000" y="2142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P7</a:t>
            </a:r>
          </a:p>
        </p:txBody>
      </p:sp>
      <p:sp>
        <p:nvSpPr>
          <p:cNvPr id="20" name="Rectangle 19"/>
          <p:cNvSpPr/>
          <p:nvPr/>
        </p:nvSpPr>
        <p:spPr>
          <a:xfrm>
            <a:off x="1764000" y="2142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LINEヤフー前後検索（実測）／塾ナラ 2025 n=200／塾シル・ユナイトプロジェクト 2026 n=249／明光ネットワークジャパン 2020</a:t>
            </a:r>
          </a:p>
        </p:txBody>
      </p:sp>
      <p:sp>
        <p:nvSpPr>
          <p:cNvPr id="21" name="Rectangle 20"/>
          <p:cNvSpPr/>
          <p:nvPr/>
        </p:nvSpPr>
        <p:spPr>
          <a:xfrm>
            <a:off x="432000" y="2484000"/>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P18〜P21・P61・P22</a:t>
            </a:r>
          </a:p>
        </p:txBody>
      </p:sp>
      <p:sp>
        <p:nvSpPr>
          <p:cNvPr id="22" name="Rectangle 21"/>
          <p:cNvSpPr/>
          <p:nvPr/>
        </p:nvSpPr>
        <p:spPr>
          <a:xfrm>
            <a:off x="1764000" y="2484000"/>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LINEヤフー前後検索（2026年10月取得）起点KW：中学受験 塾／中高一貫 塾／高校受験 塾／英語 塾</a:t>
            </a:r>
          </a:p>
        </p:txBody>
      </p:sp>
      <p:sp>
        <p:nvSpPr>
          <p:cNvPr id="23" name="Rectangle 22"/>
          <p:cNvSpPr/>
          <p:nvPr/>
        </p:nvSpPr>
        <p:spPr>
          <a:xfrm>
            <a:off x="432000" y="2826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P24・P25</a:t>
            </a:r>
          </a:p>
        </p:txBody>
      </p:sp>
      <p:sp>
        <p:nvSpPr>
          <p:cNvPr id="24" name="Rectangle 23"/>
          <p:cNvSpPr/>
          <p:nvPr/>
        </p:nvSpPr>
        <p:spPr>
          <a:xfrm>
            <a:off x="1764000" y="2826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Googleトレンド 日本 2026年年初来（実測）</a:t>
            </a:r>
          </a:p>
        </p:txBody>
      </p:sp>
      <p:sp>
        <p:nvSpPr>
          <p:cNvPr id="25" name="Rectangle 24"/>
          <p:cNvSpPr/>
          <p:nvPr/>
        </p:nvSpPr>
        <p:spPr>
          <a:xfrm>
            <a:off x="432000" y="3168000"/>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P62</a:t>
            </a:r>
          </a:p>
        </p:txBody>
      </p:sp>
      <p:sp>
        <p:nvSpPr>
          <p:cNvPr id="26" name="Rectangle 25"/>
          <p:cNvSpPr/>
          <p:nvPr/>
        </p:nvSpPr>
        <p:spPr>
          <a:xfrm>
            <a:off x="1764000" y="3168000"/>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各社LINE公式アカウント（page.line.me）・公式サイト 2026-09-25取得</a:t>
            </a:r>
          </a:p>
        </p:txBody>
      </p:sp>
      <p:sp>
        <p:nvSpPr>
          <p:cNvPr id="27" name="Rectangle 26"/>
          <p:cNvSpPr/>
          <p:nvPr/>
        </p:nvSpPr>
        <p:spPr>
          <a:xfrm>
            <a:off x="432000" y="3851998"/>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P32・P33</a:t>
            </a:r>
          </a:p>
        </p:txBody>
      </p:sp>
      <p:sp>
        <p:nvSpPr>
          <p:cNvPr id="28" name="Rectangle 27"/>
          <p:cNvSpPr/>
          <p:nvPr/>
        </p:nvSpPr>
        <p:spPr>
          <a:xfrm>
            <a:off x="1764000" y="3851998"/>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POPER「Comiru」保護者と学習塾の意識調査 2022年 n=300</a:t>
            </a:r>
          </a:p>
        </p:txBody>
      </p:sp>
      <p:sp>
        <p:nvSpPr>
          <p:cNvPr id="29" name="Rectangle 28"/>
          <p:cNvSpPr/>
          <p:nvPr/>
        </p:nvSpPr>
        <p:spPr>
          <a:xfrm>
            <a:off x="432000" y="4193998"/>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P70</a:t>
            </a:r>
          </a:p>
        </p:txBody>
      </p:sp>
      <p:sp>
        <p:nvSpPr>
          <p:cNvPr id="30" name="Rectangle 29"/>
          <p:cNvSpPr/>
          <p:nvPr/>
        </p:nvSpPr>
        <p:spPr>
          <a:xfrm>
            <a:off x="1764000" y="4193998"/>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オリコンME 2025 学習塾 利用実態データ／インタースペース「ママスタ」2021年 n=1,037</a:t>
            </a:r>
          </a:p>
        </p:txBody>
      </p:sp>
      <p:sp>
        <p:nvSpPr>
          <p:cNvPr id="34" name="Rectangle 27"/>
          <p:cNvSpPr/>
          <p:nvPr/>
        </p:nvSpPr>
        <p:spPr>
          <a:xfrm>
            <a:off x="1764000" y="3509999"/>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LINEヤフー for Business 導入事例 明光義塾（2024年4月5日・掲載の図版を含む）／明光義塾 LINE公式アカウント（2026-10-19 弊社確認）</a:t>
            </a:r>
          </a:p>
        </p:txBody>
      </p:sp>
      <p:sp>
        <p:nvSpPr>
          <p:cNvPr id="33" name="Rectangle 26"/>
          <p:cNvSpPr/>
          <p:nvPr/>
        </p:nvSpPr>
        <p:spPr>
          <a:xfrm>
            <a:off x="432000" y="3509999"/>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P27〜P29・P30</a:t>
            </a:r>
          </a:p>
        </p:txBody>
      </p:sp>
      <p:sp>
        <p:nvSpPr>
          <p:cNvPr id="31" name="Rounded Rectangle 30"/>
          <p:cNvSpPr/>
          <p:nvPr/>
        </p:nvSpPr>
        <p:spPr>
          <a:xfrm>
            <a:off x="432000" y="4644000"/>
            <a:ext cx="9043200" cy="1080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300" b="1">
                <a:solidFill>
                  <a:srgbClr val="1F285A"/>
                </a:solidFill>
                <a:latin typeface="メイリオ"/>
                <a:ea typeface="メイリオ"/>
                <a:cs typeface="メイリオ"/>
              </a:rPr>
              <a:t>LINEヤフー公式データ</a:t>
            </a:r>
          </a:p>
          <a:p>
            <a:pPr algn="l"/>
            <a:r>
              <a:rPr sz="1150" b="0">
                <a:solidFill>
                  <a:srgbClr val="333333"/>
                </a:solidFill>
                <a:latin typeface="メイリオ"/>
                <a:ea typeface="メイリオ"/>
                <a:cs typeface="メイリオ"/>
              </a:rPr>
              <a:t>・LINE 国内月間利用者数：1億人突破（2025年12月末時点）</a:t>
            </a:r>
          </a:p>
          <a:p>
            <a:pPr algn="l"/>
            <a:r>
              <a:rPr sz="1150" b="0">
                <a:solidFill>
                  <a:srgbClr val="333333"/>
                </a:solidFill>
                <a:latin typeface="メイリオ"/>
                <a:ea typeface="メイリオ"/>
                <a:cs typeface="メイリオ"/>
              </a:rPr>
              <a:t>・メッセージの開封：受信直後 約2割／3〜6時間で約5割／当日中に約8割</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145144</TotalTime>
  <Words>9966</Words>
  <Application>Microsoft Office PowerPoint</Application>
  <PresentationFormat>A4 210 x 297 mm</PresentationFormat>
  <Paragraphs>2126</Paragraphs>
  <Slides>71</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71</vt:i4>
      </vt:variant>
    </vt:vector>
  </HeadingPairs>
  <TitlesOfParts>
    <vt:vector size="78"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1979</cp:revision>
  <cp:lastPrinted>2022-11-01T11:38:14Z</cp:lastPrinted>
  <dcterms:created xsi:type="dcterms:W3CDTF">2015-09-04T09:21:15Z</dcterms:created>
  <dcterms:modified xsi:type="dcterms:W3CDTF">2026-10-22T09:15:28Z</dcterms:modified>
</cp:coreProperties>
</file>