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7" r:id="rId2"/>
  </p:sldMasterIdLst>
  <p:notesMasterIdLst>
    <p:notesMasterId r:id="rId59"/>
  </p:notesMasterIdLst>
  <p:handoutMasterIdLst>
    <p:handoutMasterId r:id="rId60"/>
  </p:handoutMasterIdLst>
  <p:sldIdLst>
    <p:sldId id="2363" r:id="rId3"/>
    <p:sldId id="2992" r:id="rId4"/>
    <p:sldId id="2993" r:id="rId5"/>
    <p:sldId id="2994" r:id="rId6"/>
    <p:sldId id="2956" r:id="rId7"/>
    <p:sldId id="2995" r:id="rId8"/>
    <p:sldId id="2972" r:id="rId9"/>
    <p:sldId id="3015" r:id="rId10"/>
    <p:sldId id="3016" r:id="rId11"/>
    <p:sldId id="3017" r:id="rId12"/>
    <p:sldId id="3018" r:id="rId13"/>
    <p:sldId id="2982" r:id="rId14"/>
    <p:sldId id="2986" r:id="rId15"/>
    <p:sldId id="2983" r:id="rId16"/>
    <p:sldId id="3011" r:id="rId17"/>
    <p:sldId id="3012" r:id="rId18"/>
    <p:sldId id="3014" r:id="rId19"/>
    <p:sldId id="2977" r:id="rId20"/>
    <p:sldId id="2984" r:id="rId21"/>
    <p:sldId id="2996" r:id="rId22"/>
    <p:sldId id="3013" r:id="rId23"/>
    <p:sldId id="2997" r:id="rId24"/>
    <p:sldId id="2944" r:id="rId25"/>
    <p:sldId id="2985" r:id="rId26"/>
    <p:sldId id="2987" r:id="rId27"/>
    <p:sldId id="2962" r:id="rId28"/>
    <p:sldId id="2908" r:id="rId29"/>
    <p:sldId id="2950" r:id="rId30"/>
    <p:sldId id="2762" r:id="rId31"/>
    <p:sldId id="2937" r:id="rId32"/>
    <p:sldId id="2939" r:id="rId33"/>
    <p:sldId id="2966" r:id="rId34"/>
    <p:sldId id="2942" r:id="rId35"/>
    <p:sldId id="2943" r:id="rId36"/>
    <p:sldId id="2941" r:id="rId37"/>
    <p:sldId id="2953" r:id="rId38"/>
    <p:sldId id="2979" r:id="rId39"/>
    <p:sldId id="2990" r:id="rId40"/>
    <p:sldId id="2989" r:id="rId41"/>
    <p:sldId id="2991" r:id="rId42"/>
    <p:sldId id="2946" r:id="rId43"/>
    <p:sldId id="2998" r:id="rId44"/>
    <p:sldId id="3005" r:id="rId45"/>
    <p:sldId id="3007" r:id="rId46"/>
    <p:sldId id="3008" r:id="rId47"/>
    <p:sldId id="2948" r:id="rId48"/>
    <p:sldId id="2958" r:id="rId49"/>
    <p:sldId id="2999" r:id="rId50"/>
    <p:sldId id="3000" r:id="rId51"/>
    <p:sldId id="3001" r:id="rId52"/>
    <p:sldId id="3002" r:id="rId53"/>
    <p:sldId id="3003" r:id="rId54"/>
    <p:sldId id="3004" r:id="rId55"/>
    <p:sldId id="2954" r:id="rId56"/>
    <p:sldId id="2955" r:id="rId57"/>
    <p:sldId id="1169" r:id="rId58"/>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58" userDrawn="1">
          <p15:clr>
            <a:srgbClr val="A4A3A4"/>
          </p15:clr>
        </p15:guide>
        <p15:guide id="2" pos="30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FDFD"/>
    <a:srgbClr val="173559"/>
    <a:srgbClr val="04FA0A"/>
    <a:srgbClr val="2080FF"/>
    <a:srgbClr val="1D8DFF"/>
    <a:srgbClr val="515457"/>
    <a:srgbClr val="F6A454"/>
    <a:srgbClr val="EAEEF4"/>
    <a:srgbClr val="2D6CB9"/>
    <a:srgbClr val="D1D9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157" autoAdjust="0"/>
    <p:restoredTop sz="94424" autoAdjust="0"/>
  </p:normalViewPr>
  <p:slideViewPr>
    <p:cSldViewPr snapToGrid="0">
      <p:cViewPr varScale="1">
        <p:scale>
          <a:sx n="110" d="100"/>
          <a:sy n="110" d="100"/>
        </p:scale>
        <p:origin x="1236" y="102"/>
      </p:cViewPr>
      <p:guideLst>
        <p:guide orient="horz" pos="3158"/>
        <p:guide pos="308"/>
      </p:guideLst>
    </p:cSldViewPr>
  </p:slideViewPr>
  <p:notesTextViewPr>
    <p:cViewPr>
      <p:scale>
        <a:sx n="1" d="1"/>
        <a:sy n="1" d="1"/>
      </p:scale>
      <p:origin x="0" y="0"/>
    </p:cViewPr>
  </p:notesTextViewPr>
  <p:sorterViewPr>
    <p:cViewPr>
      <p:scale>
        <a:sx n="100" d="100"/>
        <a:sy n="100" d="100"/>
      </p:scale>
      <p:origin x="0" y="-3072"/>
    </p:cViewPr>
  </p:sorterViewPr>
  <p:notesViewPr>
    <p:cSldViewPr snapToGrid="0">
      <p:cViewPr varScale="1">
        <p:scale>
          <a:sx n="79" d="100"/>
          <a:sy n="79" d="100"/>
        </p:scale>
        <p:origin x="4014" y="102"/>
      </p:cViewPr>
      <p:guideLst/>
    </p:cSldViewPr>
  </p:notesViewPr>
  <p:gridSpacing cx="1080001" cy="1080001"/>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5" Type="http://schemas.openxmlformats.org/officeDocument/2006/relationships/slide" Target="slides/slide3.xml"/><Relationship Id="rId61" Type="http://schemas.openxmlformats.org/officeDocument/2006/relationships/presProps" Target="presProps.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notesMaster" Target="notesMasters/notesMaster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handoutMaster" Target="handoutMasters/handoutMaster1.xml"/><Relationship Id="rId4" Type="http://schemas.openxmlformats.org/officeDocument/2006/relationships/slide" Target="slides/slide2.xml"/><Relationship Id="rId9"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フッター プレースホルダー 3"/>
          <p:cNvSpPr>
            <a:spLocks noGrp="1"/>
          </p:cNvSpPr>
          <p:nvPr>
            <p:ph type="ftr" sz="quarter" idx="2"/>
          </p:nvPr>
        </p:nvSpPr>
        <p:spPr>
          <a:xfrm>
            <a:off x="0" y="9441662"/>
            <a:ext cx="2949420" cy="497676"/>
          </a:xfrm>
          <a:prstGeom prst="rect">
            <a:avLst/>
          </a:prstGeom>
        </p:spPr>
        <p:txBody>
          <a:bodyPr vert="horz" lIns="90561" tIns="45280" rIns="90561" bIns="4528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6210" y="9441662"/>
            <a:ext cx="2949420" cy="497676"/>
          </a:xfrm>
          <a:prstGeom prst="rect">
            <a:avLst/>
          </a:prstGeom>
        </p:spPr>
        <p:txBody>
          <a:bodyPr vert="horz" lIns="90561" tIns="45280" rIns="90561" bIns="45280" rtlCol="0" anchor="b"/>
          <a:lstStyle>
            <a:lvl1pPr algn="r">
              <a:defRPr sz="1200"/>
            </a:lvl1pPr>
          </a:lstStyle>
          <a:p>
            <a:fld id="{7B45B759-5475-4693-BFD4-53BF6401E48A}" type="slidenum">
              <a:rPr kumimoji="1" lang="ja-JP" altLang="en-US" smtClean="0"/>
              <a:t>‹#›</a:t>
            </a:fld>
            <a:endParaRPr kumimoji="1" lang="ja-JP" altLang="en-US"/>
          </a:p>
        </p:txBody>
      </p:sp>
    </p:spTree>
    <p:extLst>
      <p:ext uri="{BB962C8B-B14F-4D97-AF65-F5344CB8AC3E}">
        <p14:creationId xmlns:p14="http://schemas.microsoft.com/office/powerpoint/2010/main" val="3259530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2"/>
            <a:ext cx="2950528" cy="497524"/>
          </a:xfrm>
          <a:prstGeom prst="rect">
            <a:avLst/>
          </a:prstGeom>
        </p:spPr>
        <p:txBody>
          <a:bodyPr vert="horz" lIns="91529" tIns="45765" rIns="91529" bIns="45765"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082" y="2"/>
            <a:ext cx="2950528" cy="497524"/>
          </a:xfrm>
          <a:prstGeom prst="rect">
            <a:avLst/>
          </a:prstGeom>
        </p:spPr>
        <p:txBody>
          <a:bodyPr vert="horz" lIns="91529" tIns="45765" rIns="91529" bIns="45765" rtlCol="0"/>
          <a:lstStyle>
            <a:lvl1pPr algn="r">
              <a:defRPr sz="1200"/>
            </a:lvl1pPr>
          </a:lstStyle>
          <a:p>
            <a:fld id="{6AF8158D-F6B1-45E0-9831-E70689DC8490}" type="datetimeFigureOut">
              <a:rPr kumimoji="1" lang="ja-JP" altLang="en-US" smtClean="0"/>
              <a:t>2026/10/21</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529" tIns="45765" rIns="91529" bIns="45765" rtlCol="0" anchor="ctr"/>
          <a:lstStyle/>
          <a:p>
            <a:endParaRPr lang="ja-JP" altLang="en-US"/>
          </a:p>
        </p:txBody>
      </p:sp>
      <p:sp>
        <p:nvSpPr>
          <p:cNvPr id="5" name="ノート プレースホルダー 4"/>
          <p:cNvSpPr>
            <a:spLocks noGrp="1"/>
          </p:cNvSpPr>
          <p:nvPr>
            <p:ph type="body" sz="quarter" idx="3"/>
          </p:nvPr>
        </p:nvSpPr>
        <p:spPr>
          <a:xfrm>
            <a:off x="680402" y="4782901"/>
            <a:ext cx="5446396" cy="3913426"/>
          </a:xfrm>
          <a:prstGeom prst="rect">
            <a:avLst/>
          </a:prstGeom>
        </p:spPr>
        <p:txBody>
          <a:bodyPr vert="horz" lIns="91529" tIns="45765" rIns="91529" bIns="45765"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441817"/>
            <a:ext cx="2950528" cy="497524"/>
          </a:xfrm>
          <a:prstGeom prst="rect">
            <a:avLst/>
          </a:prstGeom>
        </p:spPr>
        <p:txBody>
          <a:bodyPr vert="horz" lIns="91529" tIns="45765" rIns="91529" bIns="45765"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082" y="9441817"/>
            <a:ext cx="2950528" cy="497524"/>
          </a:xfrm>
          <a:prstGeom prst="rect">
            <a:avLst/>
          </a:prstGeom>
        </p:spPr>
        <p:txBody>
          <a:bodyPr vert="horz" lIns="91529" tIns="45765" rIns="91529" bIns="45765" rtlCol="0" anchor="b"/>
          <a:lstStyle>
            <a:lvl1pPr algn="r">
              <a:defRPr sz="1200"/>
            </a:lvl1pPr>
          </a:lstStyle>
          <a:p>
            <a:fld id="{022E43C0-6795-4B13-B37C-259C826D4B6A}" type="slidenum">
              <a:rPr kumimoji="1" lang="ja-JP" altLang="en-US" smtClean="0"/>
              <a:t>‹#›</a:t>
            </a:fld>
            <a:endParaRPr kumimoji="1" lang="ja-JP" altLang="en-US"/>
          </a:p>
        </p:txBody>
      </p:sp>
    </p:spTree>
    <p:extLst>
      <p:ext uri="{BB962C8B-B14F-4D97-AF65-F5344CB8AC3E}">
        <p14:creationId xmlns:p14="http://schemas.microsoft.com/office/powerpoint/2010/main" val="64091890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440A72-79AB-D734-F919-6B5353A0768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043DCC9-013F-5916-497A-3173AB3EE69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AE4841C-3C6F-F028-ED9E-D25D3936D70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8A806F5D-B3E8-8EF8-D9FF-5F440AE7245B}"/>
              </a:ext>
            </a:extLst>
          </p:cNvPr>
          <p:cNvSpPr>
            <a:spLocks noGrp="1"/>
          </p:cNvSpPr>
          <p:nvPr>
            <p:ph type="sldNum" sz="quarter" idx="10"/>
          </p:nvPr>
        </p:nvSpPr>
        <p:spPr/>
        <p:txBody>
          <a:bodyPr/>
          <a:lstStyle/>
          <a:p>
            <a:fld id="{022E43C0-6795-4B13-B37C-259C826D4B6A}" type="slidenum">
              <a:rPr kumimoji="1" lang="ja-JP" altLang="en-US" smtClean="0"/>
              <a:t>7</a:t>
            </a:fld>
            <a:endParaRPr kumimoji="1" lang="ja-JP" altLang="en-US"/>
          </a:p>
        </p:txBody>
      </p:sp>
    </p:spTree>
    <p:extLst>
      <p:ext uri="{BB962C8B-B14F-4D97-AF65-F5344CB8AC3E}">
        <p14:creationId xmlns:p14="http://schemas.microsoft.com/office/powerpoint/2010/main" val="42606325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9F8CEE-BA77-7F59-159F-47D256C6C92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920AAE9-56BE-66E5-82F7-A32C5F5E37D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23263BB-84E3-A23F-F50A-22409A9D0377}"/>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AE676F0-0850-6080-8D54-24CC34C00E13}"/>
              </a:ext>
            </a:extLst>
          </p:cNvPr>
          <p:cNvSpPr>
            <a:spLocks noGrp="1"/>
          </p:cNvSpPr>
          <p:nvPr>
            <p:ph type="sldNum" sz="quarter" idx="10"/>
          </p:nvPr>
        </p:nvSpPr>
        <p:spPr/>
        <p:txBody>
          <a:bodyPr/>
          <a:lstStyle/>
          <a:p>
            <a:fld id="{022E43C0-6795-4B13-B37C-259C826D4B6A}" type="slidenum">
              <a:rPr kumimoji="1" lang="ja-JP" altLang="en-US" smtClean="0"/>
              <a:t>12</a:t>
            </a:fld>
            <a:endParaRPr kumimoji="1" lang="ja-JP" altLang="en-US"/>
          </a:p>
        </p:txBody>
      </p:sp>
    </p:spTree>
    <p:extLst>
      <p:ext uri="{BB962C8B-B14F-4D97-AF65-F5344CB8AC3E}">
        <p14:creationId xmlns:p14="http://schemas.microsoft.com/office/powerpoint/2010/main" val="21814560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09A811-371F-8FB3-F066-52767F4E9A7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0A11C9D-FDA9-6C17-2E4B-B8729DB02DB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D22E24C-8C3E-B253-1458-19B063283ED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95308508-22B0-7807-8EBD-1B4BC57F8A84}"/>
              </a:ext>
            </a:extLst>
          </p:cNvPr>
          <p:cNvSpPr>
            <a:spLocks noGrp="1"/>
          </p:cNvSpPr>
          <p:nvPr>
            <p:ph type="sldNum" sz="quarter" idx="10"/>
          </p:nvPr>
        </p:nvSpPr>
        <p:spPr/>
        <p:txBody>
          <a:bodyPr/>
          <a:lstStyle/>
          <a:p>
            <a:fld id="{022E43C0-6795-4B13-B37C-259C826D4B6A}" type="slidenum">
              <a:rPr kumimoji="1" lang="ja-JP" altLang="en-US" smtClean="0"/>
              <a:t>13</a:t>
            </a:fld>
            <a:endParaRPr kumimoji="1" lang="ja-JP" altLang="en-US"/>
          </a:p>
        </p:txBody>
      </p:sp>
    </p:spTree>
    <p:extLst>
      <p:ext uri="{BB962C8B-B14F-4D97-AF65-F5344CB8AC3E}">
        <p14:creationId xmlns:p14="http://schemas.microsoft.com/office/powerpoint/2010/main" val="22178351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9B1800-D47D-9623-88C4-F3F1B11ED7C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B704ED9-0313-110E-A57A-A9A15550FCA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01CA249-8084-E89C-5484-AD2CD6CA53A1}"/>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BCB72AE6-8350-35EF-B366-1B6DD9FAA1BC}"/>
              </a:ext>
            </a:extLst>
          </p:cNvPr>
          <p:cNvSpPr>
            <a:spLocks noGrp="1"/>
          </p:cNvSpPr>
          <p:nvPr>
            <p:ph type="sldNum" sz="quarter" idx="10"/>
          </p:nvPr>
        </p:nvSpPr>
        <p:spPr/>
        <p:txBody>
          <a:bodyPr/>
          <a:lstStyle/>
          <a:p>
            <a:fld id="{022E43C0-6795-4B13-B37C-259C826D4B6A}" type="slidenum">
              <a:rPr kumimoji="1" lang="ja-JP" altLang="en-US" smtClean="0"/>
              <a:t>14</a:t>
            </a:fld>
            <a:endParaRPr kumimoji="1" lang="ja-JP" altLang="en-US"/>
          </a:p>
        </p:txBody>
      </p:sp>
    </p:spTree>
    <p:extLst>
      <p:ext uri="{BB962C8B-B14F-4D97-AF65-F5344CB8AC3E}">
        <p14:creationId xmlns:p14="http://schemas.microsoft.com/office/powerpoint/2010/main" val="8376308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FCC596-88E7-2BC9-7631-7B2FF864C8B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78EA305-DD4B-4755-1A79-3ECAA1BFAEF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E530CFC-96E0-CB7F-D9F4-B974123A5BE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2C657086-8B2C-117D-A7A7-81B2D30759FF}"/>
              </a:ext>
            </a:extLst>
          </p:cNvPr>
          <p:cNvSpPr>
            <a:spLocks noGrp="1"/>
          </p:cNvSpPr>
          <p:nvPr>
            <p:ph type="sldNum" sz="quarter" idx="10"/>
          </p:nvPr>
        </p:nvSpPr>
        <p:spPr/>
        <p:txBody>
          <a:bodyPr/>
          <a:lstStyle/>
          <a:p>
            <a:fld id="{022E43C0-6795-4B13-B37C-259C826D4B6A}" type="slidenum">
              <a:rPr kumimoji="1" lang="ja-JP" altLang="en-US" smtClean="0"/>
              <a:t>18</a:t>
            </a:fld>
            <a:endParaRPr kumimoji="1" lang="ja-JP" altLang="en-US"/>
          </a:p>
        </p:txBody>
      </p:sp>
    </p:spTree>
    <p:extLst>
      <p:ext uri="{BB962C8B-B14F-4D97-AF65-F5344CB8AC3E}">
        <p14:creationId xmlns:p14="http://schemas.microsoft.com/office/powerpoint/2010/main" val="12440221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7D297-594A-D322-AC6D-28FDD0CCC6A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AD47DAF-3395-7EB8-B917-99947107C4E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5D9425B-51D3-BDCB-545C-23641969BEA2}"/>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3D62E5C-A1FD-A187-2F31-A827800A2799}"/>
              </a:ext>
            </a:extLst>
          </p:cNvPr>
          <p:cNvSpPr>
            <a:spLocks noGrp="1"/>
          </p:cNvSpPr>
          <p:nvPr>
            <p:ph type="sldNum" sz="quarter" idx="10"/>
          </p:nvPr>
        </p:nvSpPr>
        <p:spPr/>
        <p:txBody>
          <a:bodyPr/>
          <a:lstStyle/>
          <a:p>
            <a:fld id="{022E43C0-6795-4B13-B37C-259C826D4B6A}" type="slidenum">
              <a:rPr kumimoji="1" lang="ja-JP" altLang="en-US" smtClean="0"/>
              <a:t>19</a:t>
            </a:fld>
            <a:endParaRPr kumimoji="1" lang="ja-JP" altLang="en-US"/>
          </a:p>
        </p:txBody>
      </p:sp>
    </p:spTree>
    <p:extLst>
      <p:ext uri="{BB962C8B-B14F-4D97-AF65-F5344CB8AC3E}">
        <p14:creationId xmlns:p14="http://schemas.microsoft.com/office/powerpoint/2010/main" val="35219002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4CC1BB-A366-B481-D59D-4EB55327777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0890F8B-EEFF-D02B-04F0-B8C096E43F4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1D321AA-CFFF-72F6-A10A-CE135C21D901}"/>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9628A77C-D838-F107-1299-1CFE8BFB2F29}"/>
              </a:ext>
            </a:extLst>
          </p:cNvPr>
          <p:cNvSpPr>
            <a:spLocks noGrp="1"/>
          </p:cNvSpPr>
          <p:nvPr>
            <p:ph type="sldNum" sz="quarter" idx="10"/>
          </p:nvPr>
        </p:nvSpPr>
        <p:spPr/>
        <p:txBody>
          <a:bodyPr/>
          <a:lstStyle/>
          <a:p>
            <a:fld id="{022E43C0-6795-4B13-B37C-259C826D4B6A}" type="slidenum">
              <a:rPr kumimoji="1" lang="ja-JP" altLang="en-US" smtClean="0"/>
              <a:t>24</a:t>
            </a:fld>
            <a:endParaRPr kumimoji="1" lang="ja-JP" altLang="en-US"/>
          </a:p>
        </p:txBody>
      </p:sp>
    </p:spTree>
    <p:extLst>
      <p:ext uri="{BB962C8B-B14F-4D97-AF65-F5344CB8AC3E}">
        <p14:creationId xmlns:p14="http://schemas.microsoft.com/office/powerpoint/2010/main" val="30923610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32497A-27D1-3FCF-1F91-9D3EAE5F54F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F107B2A-3CC9-CDDB-0154-3C6FEEEB7FA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69E55FE-2D43-AAFB-1E0D-9FE86011A40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7505F46C-9309-B38B-AEB2-32E50CF0E84A}"/>
              </a:ext>
            </a:extLst>
          </p:cNvPr>
          <p:cNvSpPr>
            <a:spLocks noGrp="1"/>
          </p:cNvSpPr>
          <p:nvPr>
            <p:ph type="sldNum" sz="quarter" idx="10"/>
          </p:nvPr>
        </p:nvSpPr>
        <p:spPr/>
        <p:txBody>
          <a:bodyPr/>
          <a:lstStyle/>
          <a:p>
            <a:fld id="{022E43C0-6795-4B13-B37C-259C826D4B6A}" type="slidenum">
              <a:rPr kumimoji="1" lang="ja-JP" altLang="en-US" smtClean="0"/>
              <a:t>25</a:t>
            </a:fld>
            <a:endParaRPr kumimoji="1" lang="ja-JP" altLang="en-US"/>
          </a:p>
        </p:txBody>
      </p:sp>
    </p:spTree>
    <p:extLst>
      <p:ext uri="{BB962C8B-B14F-4D97-AF65-F5344CB8AC3E}">
        <p14:creationId xmlns:p14="http://schemas.microsoft.com/office/powerpoint/2010/main" val="32460700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7E86F-A6D1-E87A-0CDF-967B15A6E03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EB2A411-33D2-6528-1C93-D186B198494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6218984-9375-B358-47D3-58B36CCF8DA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1F039DC-7BEC-8764-B0DE-E4A154E5A1A8}"/>
              </a:ext>
            </a:extLst>
          </p:cNvPr>
          <p:cNvSpPr>
            <a:spLocks noGrp="1"/>
          </p:cNvSpPr>
          <p:nvPr>
            <p:ph type="sldNum" sz="quarter" idx="10"/>
          </p:nvPr>
        </p:nvSpPr>
        <p:spPr/>
        <p:txBody>
          <a:bodyPr/>
          <a:lstStyle/>
          <a:p>
            <a:fld id="{022E43C0-6795-4B13-B37C-259C826D4B6A}" type="slidenum">
              <a:rPr kumimoji="1" lang="ja-JP" altLang="en-US" smtClean="0"/>
              <a:t>28</a:t>
            </a:fld>
            <a:endParaRPr kumimoji="1" lang="ja-JP" altLang="en-US"/>
          </a:p>
        </p:txBody>
      </p:sp>
    </p:spTree>
    <p:extLst>
      <p:ext uri="{BB962C8B-B14F-4D97-AF65-F5344CB8AC3E}">
        <p14:creationId xmlns:p14="http://schemas.microsoft.com/office/powerpoint/2010/main" val="27020095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15D0A-BA72-DE45-32FA-363803F140C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7D2F8A3-D4B3-B9E6-A613-A157696B87F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33FBD4A-B575-3375-091A-F6A24B5A9BD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CAEAEB9-E37C-569F-CBB7-45D65E2A0906}"/>
              </a:ext>
            </a:extLst>
          </p:cNvPr>
          <p:cNvSpPr>
            <a:spLocks noGrp="1"/>
          </p:cNvSpPr>
          <p:nvPr>
            <p:ph type="sldNum" sz="quarter" idx="10"/>
          </p:nvPr>
        </p:nvSpPr>
        <p:spPr/>
        <p:txBody>
          <a:bodyPr/>
          <a:lstStyle/>
          <a:p>
            <a:fld id="{022E43C0-6795-4B13-B37C-259C826D4B6A}" type="slidenum">
              <a:rPr kumimoji="1" lang="ja-JP" altLang="en-US" smtClean="0"/>
              <a:t>37</a:t>
            </a:fld>
            <a:endParaRPr kumimoji="1" lang="ja-JP" altLang="en-US"/>
          </a:p>
        </p:txBody>
      </p:sp>
    </p:spTree>
    <p:extLst>
      <p:ext uri="{BB962C8B-B14F-4D97-AF65-F5344CB8AC3E}">
        <p14:creationId xmlns:p14="http://schemas.microsoft.com/office/powerpoint/2010/main" val="15851486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フッター プレースホルダー 3"/>
          <p:cNvSpPr>
            <a:spLocks noGrp="1"/>
          </p:cNvSpPr>
          <p:nvPr>
            <p:ph type="ftr" sz="quarter" idx="10"/>
          </p:nvPr>
        </p:nvSpPr>
        <p:spPr/>
        <p:txBody>
          <a:bodyPr/>
          <a:lstStyle/>
          <a:p>
            <a:pPr defTabSz="956886">
              <a:defRPr/>
            </a:pPr>
            <a:endParaRPr lang="ja-JP" altLang="en-US">
              <a:solidFill>
                <a:prstClr val="black"/>
              </a:solidFill>
              <a:latin typeface="Calibri"/>
              <a:ea typeface="ＭＳ Ｐゴシック" panose="020B0600070205080204" pitchFamily="50" charset="-128"/>
            </a:endParaRPr>
          </a:p>
        </p:txBody>
      </p:sp>
      <p:sp>
        <p:nvSpPr>
          <p:cNvPr id="5" name="スライド番号プレースホルダー 4"/>
          <p:cNvSpPr>
            <a:spLocks noGrp="1"/>
          </p:cNvSpPr>
          <p:nvPr>
            <p:ph type="sldNum" sz="quarter" idx="11"/>
          </p:nvPr>
        </p:nvSpPr>
        <p:spPr/>
        <p:txBody>
          <a:bodyPr/>
          <a:lstStyle/>
          <a:p>
            <a:pPr defTabSz="956886">
              <a:defRPr/>
            </a:pPr>
            <a:fld id="{929202D6-C1F5-472A-A72F-285F233F82C2}" type="slidenum">
              <a:rPr lang="ja-JP" altLang="en-US">
                <a:solidFill>
                  <a:prstClr val="black"/>
                </a:solidFill>
                <a:latin typeface="Calibri"/>
                <a:ea typeface="ＭＳ Ｐゴシック" panose="020B0600070205080204" pitchFamily="50" charset="-128"/>
              </a:rPr>
              <a:pPr defTabSz="956886">
                <a:defRPr/>
              </a:pPr>
              <a:t>56</a:t>
            </a:fld>
            <a:endParaRPr lang="ja-JP" altLang="en-US">
              <a:solidFill>
                <a:prstClr val="black"/>
              </a:solidFill>
              <a:latin typeface="Calibri"/>
              <a:ea typeface="ＭＳ Ｐゴシック" panose="020B0600070205080204" pitchFamily="50" charset="-128"/>
            </a:endParaRPr>
          </a:p>
        </p:txBody>
      </p:sp>
    </p:spTree>
    <p:extLst>
      <p:ext uri="{BB962C8B-B14F-4D97-AF65-F5344CB8AC3E}">
        <p14:creationId xmlns:p14="http://schemas.microsoft.com/office/powerpoint/2010/main" val="37920873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2" name="正方形/長方形 1"/>
          <p:cNvSpPr/>
          <p:nvPr userDrawn="1"/>
        </p:nvSpPr>
        <p:spPr>
          <a:xfrm>
            <a:off x="9398000" y="6591300"/>
            <a:ext cx="419100" cy="2667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58107768"/>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Tree>
    <p:extLst>
      <p:ext uri="{BB962C8B-B14F-4D97-AF65-F5344CB8AC3E}">
        <p14:creationId xmlns:p14="http://schemas.microsoft.com/office/powerpoint/2010/main" val="1958189266"/>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521234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図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1357" y="72255"/>
            <a:ext cx="1598627" cy="424153"/>
          </a:xfrm>
          <a:prstGeom prst="rect">
            <a:avLst/>
          </a:prstGeom>
        </p:spPr>
      </p:pic>
      <p:pic>
        <p:nvPicPr>
          <p:cNvPr id="5" name="図 4"/>
          <p:cNvPicPr>
            <a:picLocks noChangeAspect="1"/>
          </p:cNvPicPr>
          <p:nvPr/>
        </p:nvPicPr>
        <p:blipFill>
          <a:blip r:embed="rId6"/>
          <a:stretch>
            <a:fillRect/>
          </a:stretch>
        </p:blipFill>
        <p:spPr>
          <a:xfrm>
            <a:off x="8151355" y="32333"/>
            <a:ext cx="1653069" cy="635796"/>
          </a:xfrm>
          <a:prstGeom prst="rect">
            <a:avLst/>
          </a:prstGeom>
        </p:spPr>
      </p:pic>
      <p:sp>
        <p:nvSpPr>
          <p:cNvPr id="6" name="正方形/長方形 5"/>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
        <p:nvSpPr>
          <p:cNvPr id="8" name="スライド番号プレースホルダ 1"/>
          <p:cNvSpPr txBox="1">
            <a:spLocks/>
          </p:cNvSpPr>
          <p:nvPr/>
        </p:nvSpPr>
        <p:spPr>
          <a:xfrm>
            <a:off x="7594600" y="6552729"/>
            <a:ext cx="2311400" cy="365125"/>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b="1"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pPr algn="r"/>
              <a:t>‹#›</a:t>
            </a:fld>
            <a:endParaRPr lang="ja-JP" altLang="en-US" sz="1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p:cNvSpPr txBox="1">
            <a:spLocks noChangeArrowheads="1"/>
          </p:cNvSpPr>
          <p:nvPr userDrawn="1"/>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schemeClr val="bg1"/>
                </a:solidFill>
                <a:latin typeface="メイリオ"/>
                <a:ea typeface="メイリオ"/>
                <a:cs typeface="メイリオ"/>
              </a:rPr>
              <a:t>Copyright(c) DYM Co., Ltd</a:t>
            </a:r>
            <a:r>
              <a:rPr lang="ja-JP" altLang="en-US" sz="800" b="1" dirty="0" err="1">
                <a:solidFill>
                  <a:schemeClr val="bg1"/>
                </a:solidFill>
                <a:latin typeface="メイリオ"/>
                <a:ea typeface="メイリオ"/>
                <a:cs typeface="メイリオ"/>
              </a:rPr>
              <a:t>．</a:t>
            </a:r>
            <a:r>
              <a:rPr lang="en-US" altLang="ja-JP" sz="800" b="1" dirty="0">
                <a:solidFill>
                  <a:schemeClr val="bg1"/>
                </a:solidFill>
                <a:latin typeface="メイリオ"/>
                <a:ea typeface="メイリオ"/>
                <a:cs typeface="メイリオ"/>
              </a:rPr>
              <a:t> All Rights Reserved.</a:t>
            </a:r>
          </a:p>
        </p:txBody>
      </p:sp>
    </p:spTree>
    <p:extLst>
      <p:ext uri="{BB962C8B-B14F-4D97-AF65-F5344CB8AC3E}">
        <p14:creationId xmlns:p14="http://schemas.microsoft.com/office/powerpoint/2010/main" val="345870335"/>
      </p:ext>
    </p:extLst>
  </p:cSld>
  <p:clrMap bg1="lt1" tx1="dk1" bg2="lt2" tx2="dk2" accent1="accent1" accent2="accent2" accent3="accent3" accent4="accent4" accent5="accent5" accent6="accent6" hlink="hlink" folHlink="folHlink"/>
  <p:sldLayoutIdLst>
    <p:sldLayoutId id="2147483676" r:id="rId1"/>
    <p:sldLayoutId id="2147483683" r:id="rId2"/>
    <p:sldLayoutId id="2147483689" r:id="rId3"/>
  </p:sldLayoutIdLst>
  <p:hf hdr="0" dt="0"/>
  <p:txStyles>
    <p:titleStyle>
      <a:lvl1pPr algn="ctr" rtl="0" eaLnBrk="1" fontAlgn="base" hangingPunct="1">
        <a:spcBef>
          <a:spcPct val="0"/>
        </a:spcBef>
        <a:spcAft>
          <a:spcPct val="0"/>
        </a:spcAft>
        <a:defRPr kumimoji="1" sz="4400" kern="1200">
          <a:solidFill>
            <a:schemeClr val="tx1"/>
          </a:solidFill>
          <a:latin typeface="+mj-lt"/>
          <a:ea typeface="+mj-ea"/>
          <a:cs typeface="+mj-cs"/>
        </a:defRPr>
      </a:lvl1pPr>
      <a:lvl2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2pPr>
      <a:lvl3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3pPr>
      <a:lvl4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4pPr>
      <a:lvl5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5pPr>
      <a:lvl6pPr marL="4572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6pPr>
      <a:lvl7pPr marL="9144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7pPr>
      <a:lvl8pPr marL="13716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8pPr>
      <a:lvl9pPr marL="18288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9pPr>
    </p:titleStyle>
    <p:bodyStyle>
      <a:lvl1pPr marL="342900" indent="-342900" algn="l" rtl="0" eaLnBrk="1" fontAlgn="base" hangingPunct="1">
        <a:spcBef>
          <a:spcPct val="20000"/>
        </a:spcBef>
        <a:spcAft>
          <a:spcPct val="0"/>
        </a:spcAft>
        <a:buFont typeface="Arial" charset="0"/>
        <a:buChar char="•"/>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正方形/長方形 4"/>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sp>
        <p:nvSpPr>
          <p:cNvPr id="10" name="テキスト ボックス 9"/>
          <p:cNvSpPr txBox="1">
            <a:spLocks noChangeArrowheads="1"/>
          </p:cNvSpPr>
          <p:nvPr/>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prstClr val="white"/>
                </a:solidFill>
                <a:latin typeface="メイリオ"/>
                <a:ea typeface="メイリオ"/>
                <a:cs typeface="メイリオ"/>
              </a:rPr>
              <a:t>Copyright(c) DYM Co., </a:t>
            </a:r>
            <a:r>
              <a:rPr lang="en-US" altLang="ja-JP" sz="800" b="1" dirty="0" err="1">
                <a:solidFill>
                  <a:prstClr val="white"/>
                </a:solidFill>
                <a:latin typeface="メイリオ"/>
                <a:ea typeface="メイリオ"/>
                <a:cs typeface="メイリオ"/>
              </a:rPr>
              <a:t>Ltd.All</a:t>
            </a:r>
            <a:r>
              <a:rPr lang="en-US" altLang="ja-JP" sz="800" b="1" dirty="0">
                <a:solidFill>
                  <a:prstClr val="white"/>
                </a:solidFill>
                <a:latin typeface="メイリオ"/>
                <a:ea typeface="メイリオ"/>
                <a:cs typeface="メイリオ"/>
              </a:rPr>
              <a:t> Rights Reserved.</a:t>
            </a:r>
          </a:p>
        </p:txBody>
      </p:sp>
      <p:sp>
        <p:nvSpPr>
          <p:cNvPr id="8" name="正方形/長方形 7"/>
          <p:cNvSpPr/>
          <p:nvPr/>
        </p:nvSpPr>
        <p:spPr>
          <a:xfrm>
            <a:off x="0" y="0"/>
            <a:ext cx="416496"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cxnSp>
        <p:nvCxnSpPr>
          <p:cNvPr id="4" name="直線コネクタ 3"/>
          <p:cNvCxnSpPr/>
          <p:nvPr/>
        </p:nvCxnSpPr>
        <p:spPr>
          <a:xfrm>
            <a:off x="0" y="548680"/>
            <a:ext cx="9906000" cy="0"/>
          </a:xfrm>
          <a:prstGeom prst="line">
            <a:avLst/>
          </a:prstGeom>
          <a:ln>
            <a:solidFill>
              <a:srgbClr val="00324B"/>
            </a:solidFill>
          </a:ln>
          <a:effectLst/>
        </p:spPr>
        <p:style>
          <a:lnRef idx="2">
            <a:schemeClr val="accent1"/>
          </a:lnRef>
          <a:fillRef idx="0">
            <a:schemeClr val="accent1"/>
          </a:fillRef>
          <a:effectRef idx="1">
            <a:schemeClr val="accent1"/>
          </a:effectRef>
          <a:fontRef idx="minor">
            <a:schemeClr val="tx1"/>
          </a:fontRef>
        </p:style>
      </p:cxnSp>
      <p:pic>
        <p:nvPicPr>
          <p:cNvPr id="9" name="図 1"/>
          <p:cNvPicPr>
            <a:picLocks/>
          </p:cNvPicPr>
          <p:nvPr userDrawn="1"/>
        </p:nvPicPr>
        <p:blipFill rotWithShape="1">
          <a:blip r:embed="rId2" cstate="hqprint">
            <a:extLst>
              <a:ext uri="{28A0092B-C50C-407E-A947-70E740481C1C}">
                <a14:useLocalDpi xmlns:a14="http://schemas.microsoft.com/office/drawing/2010/main" val="0"/>
              </a:ext>
            </a:extLst>
          </a:blip>
          <a:srcRect l="-1647" r="-11171"/>
          <a:stretch/>
        </p:blipFill>
        <p:spPr bwMode="auto">
          <a:xfrm>
            <a:off x="8619408" y="161057"/>
            <a:ext cx="1192729" cy="263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スライド番号プレースホルダ 1"/>
          <p:cNvSpPr txBox="1">
            <a:spLocks/>
          </p:cNvSpPr>
          <p:nvPr userDrawn="1"/>
        </p:nvSpPr>
        <p:spPr>
          <a:xfrm>
            <a:off x="7545288" y="6571255"/>
            <a:ext cx="2133600" cy="216000"/>
          </a:xfrm>
          <a:prstGeom prst="rect">
            <a:avLst/>
          </a:prstGeom>
        </p:spPr>
        <p:txBody>
          <a:bodyPr tIns="2520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i="1" smtClean="0">
                <a:solidFill>
                  <a:prstClr val="white"/>
                </a:solidFill>
                <a:latin typeface="Century Gothic" panose="020B0502020202020204" pitchFamily="34" charset="0"/>
              </a:rPr>
              <a:pPr algn="r"/>
              <a:t>‹#›</a:t>
            </a:fld>
            <a:endParaRPr lang="ja-JP" altLang="en-US" sz="1400" i="1" dirty="0">
              <a:solidFill>
                <a:prstClr val="white"/>
              </a:solidFill>
              <a:latin typeface="Century Gothic" panose="020B0502020202020204" pitchFamily="34" charset="0"/>
            </a:endParaRPr>
          </a:p>
        </p:txBody>
      </p:sp>
    </p:spTree>
    <p:extLst>
      <p:ext uri="{BB962C8B-B14F-4D97-AF65-F5344CB8AC3E}">
        <p14:creationId xmlns:p14="http://schemas.microsoft.com/office/powerpoint/2010/main" val="611138245"/>
      </p:ext>
    </p:extLst>
  </p:cSld>
  <p:clrMap bg1="lt1" tx1="dk1" bg2="lt2" tx2="dk2" accent1="accent1" accent2="accent2" accent3="accent3" accent4="accent4" accent5="accent5" accent6="accent6" hlink="hlink" folHlink="folHlink"/>
  <p:hf hdr="0" dt="0"/>
  <p:txStyles>
    <p:titleStyle>
      <a:lvl1pPr algn="ctr" defTabSz="457200" rtl="0" eaLnBrk="1" fontAlgn="base" hangingPunct="1">
        <a:spcBef>
          <a:spcPct val="0"/>
        </a:spcBef>
        <a:spcAft>
          <a:spcPct val="0"/>
        </a:spcAft>
        <a:defRPr kumimoji="1" sz="4400" kern="1200">
          <a:solidFill>
            <a:schemeClr val="tx1"/>
          </a:solidFill>
          <a:latin typeface="+mj-lt"/>
          <a:ea typeface="+mj-ea"/>
          <a:cs typeface="ＭＳ Ｐゴシック" charset="0"/>
        </a:defRPr>
      </a:lvl1pPr>
      <a:lvl2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2pPr>
      <a:lvl3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3pPr>
      <a:lvl4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4pPr>
      <a:lvl5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5pPr>
      <a:lvl6pPr marL="4572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6pPr>
      <a:lvl7pPr marL="9144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7pPr>
      <a:lvl8pPr marL="13716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8pPr>
      <a:lvl9pPr marL="18288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kumimoji="1" sz="3200" kern="1200">
          <a:solidFill>
            <a:schemeClr val="tx1"/>
          </a:solidFill>
          <a:latin typeface="+mn-lt"/>
          <a:ea typeface="+mn-ea"/>
          <a:cs typeface="ＭＳ Ｐゴシック" charset="0"/>
        </a:defRPr>
      </a:lvl1pPr>
      <a:lvl2pPr marL="742950" indent="-285750" algn="l" defTabSz="457200"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defTabSz="457200"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2.xml"/><Relationship Id="rId4" Type="http://schemas.openxmlformats.org/officeDocument/2006/relationships/image" Target="../media/image14.jpeg"/></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8" Type="http://schemas.openxmlformats.org/officeDocument/2006/relationships/image" Target="../media/image22.jpeg"/><Relationship Id="rId3" Type="http://schemas.openxmlformats.org/officeDocument/2006/relationships/image" Target="../media/image3.emf"/><Relationship Id="rId7" Type="http://schemas.openxmlformats.org/officeDocument/2006/relationships/image" Target="../media/image21.jpeg"/><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image" Target="../media/image20.jpeg"/><Relationship Id="rId5" Type="http://schemas.openxmlformats.org/officeDocument/2006/relationships/image" Target="../media/image19.jpeg"/><Relationship Id="rId4" Type="http://schemas.openxmlformats.org/officeDocument/2006/relationships/image" Target="../media/image18.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9A0322D-BA5F-9122-1E12-FB7AC2AF15A5}"/>
              </a:ext>
            </a:extLst>
          </p:cNvPr>
          <p:cNvSpPr/>
          <p:nvPr/>
        </p:nvSpPr>
        <p:spPr>
          <a:xfrm>
            <a:off x="1665887" y="3038203"/>
            <a:ext cx="6574236" cy="584775"/>
          </a:xfrm>
          <a:prstGeom prst="rect">
            <a:avLst/>
          </a:prstGeom>
        </p:spPr>
        <p:txBody>
          <a:bodyPr wrap="none">
            <a:spAutoFit/>
          </a:bodyPr>
          <a:lstStyle/>
          <a:p>
            <a:pPr algn="ctr"/>
            <a:r>
              <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公式アカウント運用のご提案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正方形/長方形 5">
            <a:extLst>
              <a:ext uri="{FF2B5EF4-FFF2-40B4-BE49-F238E27FC236}">
                <a16:creationId xmlns:a16="http://schemas.microsoft.com/office/drawing/2014/main" id="{3CC59398-53B4-E01E-A60C-6C13628FCBFB}"/>
              </a:ext>
            </a:extLst>
          </p:cNvPr>
          <p:cNvSpPr/>
          <p:nvPr/>
        </p:nvSpPr>
        <p:spPr>
          <a:xfrm>
            <a:off x="1639684" y="2460753"/>
            <a:ext cx="6626632" cy="474509"/>
          </a:xfrm>
          <a:prstGeom prst="rect">
            <a:avLst/>
          </a:prstGeom>
        </p:spPr>
        <p:txBody>
          <a:bodyPr wrap="square" lIns="50400" tIns="21600" rIns="50400" bIns="21600" anchor="ctr">
            <a:spAutoFit/>
          </a:bodyPr>
          <a:lstStyle/>
          <a:p>
            <a:pPr algn="ctr"/>
            <a:r>
              <a:rPr lang="ja-JP" altLang="en-US" sz="1400" b="1" dirty="0">
                <a:solidFill>
                  <a:srgbClr val="333333"/>
                </a:solidFill>
                <a:latin typeface="メイリオ"/>
                <a:ea typeface="メイリオ"/>
                <a:cs typeface="メイリオ"/>
              </a:rPr>
              <a:t>保護者の「迷っている期間」に寄り添い、</a:t>
            </a:r>
            <a:endParaRPr lang="en-US" sz="1400" b="1" dirty="0">
              <a:solidFill>
                <a:srgbClr val="333333"/>
              </a:solidFill>
              <a:latin typeface="メイリオ"/>
              <a:ea typeface="メイリオ"/>
              <a:cs typeface="メイリオ"/>
            </a:endParaRPr>
          </a:p>
          <a:p>
            <a:pPr algn="ctr"/>
            <a:r>
              <a:rPr lang="ja-JP" altLang="en-US" sz="1400" b="1" dirty="0">
                <a:solidFill>
                  <a:srgbClr val="333333"/>
                </a:solidFill>
                <a:latin typeface="メイリオ"/>
                <a:ea typeface="メイリオ"/>
                <a:cs typeface="メイリオ"/>
              </a:rPr>
              <a:t>資料請求から体験予約・入会までをつなぐ</a:t>
            </a:r>
            <a:endParaRPr lang="en-US" sz="1400" b="1" dirty="0">
              <a:solidFill>
                <a:srgbClr val="333333"/>
              </a:solidFill>
              <a:latin typeface="メイリオ"/>
              <a:ea typeface="メイリオ"/>
              <a:cs typeface="メイリオ"/>
            </a:endParaRPr>
          </a:p>
        </p:txBody>
      </p:sp>
      <p:cxnSp>
        <p:nvCxnSpPr>
          <p:cNvPr id="5" name="直線コネクタ 4">
            <a:extLst>
              <a:ext uri="{FF2B5EF4-FFF2-40B4-BE49-F238E27FC236}">
                <a16:creationId xmlns:a16="http://schemas.microsoft.com/office/drawing/2014/main" id="{B532C1C8-7FE6-8830-B27C-27941421F5F9}"/>
              </a:ext>
            </a:extLst>
          </p:cNvPr>
          <p:cNvCxnSpPr>
            <a:cxnSpLocks/>
          </p:cNvCxnSpPr>
          <p:nvPr/>
        </p:nvCxnSpPr>
        <p:spPr>
          <a:xfrm>
            <a:off x="1337175" y="3705064"/>
            <a:ext cx="723166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9" name="図 8" descr="背景パターン&#10;&#10;AI 生成コンテンツは誤りを含む可能性があります。">
            <a:extLst>
              <a:ext uri="{FF2B5EF4-FFF2-40B4-BE49-F238E27FC236}">
                <a16:creationId xmlns:a16="http://schemas.microsoft.com/office/drawing/2014/main" id="{FFE022E1-8FF6-B4B4-B955-17E7CFA96460}"/>
              </a:ext>
            </a:extLst>
          </p:cNvPr>
          <p:cNvPicPr>
            <a:picLocks noChangeAspect="1"/>
          </p:cNvPicPr>
          <p:nvPr/>
        </p:nvPicPr>
        <p:blipFill>
          <a:blip r:embed="rId2"/>
          <a:stretch>
            <a:fillRect/>
          </a:stretch>
        </p:blipFill>
        <p:spPr>
          <a:xfrm>
            <a:off x="-1" y="0"/>
            <a:ext cx="8159931" cy="766354"/>
          </a:xfrm>
          <a:prstGeom prst="rect">
            <a:avLst/>
          </a:prstGeom>
        </p:spPr>
      </p:pic>
      <p:pic>
        <p:nvPicPr>
          <p:cNvPr id="10" name="図 9" descr="背景パターン&#10;&#10;AI 生成コンテンツは誤りを含む可能性があります。">
            <a:extLst>
              <a:ext uri="{FF2B5EF4-FFF2-40B4-BE49-F238E27FC236}">
                <a16:creationId xmlns:a16="http://schemas.microsoft.com/office/drawing/2014/main" id="{0F2999B3-5873-C495-70F5-12487911C618}"/>
              </a:ext>
            </a:extLst>
          </p:cNvPr>
          <p:cNvPicPr>
            <a:picLocks noChangeAspect="1"/>
          </p:cNvPicPr>
          <p:nvPr/>
        </p:nvPicPr>
        <p:blipFill>
          <a:blip r:embed="rId2"/>
          <a:stretch>
            <a:fillRect/>
          </a:stretch>
        </p:blipFill>
        <p:spPr>
          <a:xfrm>
            <a:off x="7863840" y="494114"/>
            <a:ext cx="2042161" cy="272239"/>
          </a:xfrm>
          <a:prstGeom prst="rect">
            <a:avLst/>
          </a:prstGeom>
        </p:spPr>
      </p:pic>
      <p:sp>
        <p:nvSpPr>
          <p:cNvPr id="3" name="正方形/長方形 2">
            <a:extLst>
              <a:ext uri="{FF2B5EF4-FFF2-40B4-BE49-F238E27FC236}">
                <a16:creationId xmlns:a16="http://schemas.microsoft.com/office/drawing/2014/main" id="{8EDEE7F4-9CB5-D481-E92E-3941E7AB9B1C}"/>
              </a:ext>
            </a:extLst>
          </p:cNvPr>
          <p:cNvSpPr/>
          <p:nvPr/>
        </p:nvSpPr>
        <p:spPr>
          <a:xfrm>
            <a:off x="3524717" y="3910946"/>
            <a:ext cx="2804160" cy="40554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- 2026</a:t>
            </a:r>
            <a:r>
              <a:rPr kumimoji="1"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最新版 </a:t>
            </a:r>
            <a:r>
              <a:rPr kumimoji="1"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a:t>
            </a:r>
            <a:endParaRPr kumimoji="1" lang="ja-JP" altLang="en-US" sz="1400"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26E1B5EC-868B-5787-A5AF-C20671BB3688}"/>
              </a:ext>
            </a:extLst>
          </p:cNvPr>
          <p:cNvSpPr/>
          <p:nvPr/>
        </p:nvSpPr>
        <p:spPr>
          <a:xfrm>
            <a:off x="3524717" y="4341752"/>
            <a:ext cx="2804160" cy="405546"/>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50400" tIns="21600" rIns="50400" bIns="21600" rtlCol="0" anchor="ctr"/>
          <a:lstStyle/>
          <a:p>
            <a:pPr algn="ctr"/>
            <a:r>
              <a:rPr sz="1200" b="1" dirty="0" err="1">
                <a:solidFill>
                  <a:srgbClr val="002060"/>
                </a:solidFill>
                <a:latin typeface="メイリオ"/>
                <a:ea typeface="メイリオ"/>
                <a:cs typeface="メイリオ"/>
              </a:rPr>
              <a:t>業界：教育（学習塾）</a:t>
            </a:r>
          </a:p>
        </p:txBody>
      </p:sp>
    </p:spTree>
    <p:extLst>
      <p:ext uri="{BB962C8B-B14F-4D97-AF65-F5344CB8AC3E}">
        <p14:creationId xmlns:p14="http://schemas.microsoft.com/office/powerpoint/2010/main" val="3944598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テキスト ボックス 5">
            <a:extLst>
              <a:ext uri="{FF2B5EF4-FFF2-40B4-BE49-F238E27FC236}">
                <a16:creationId xmlns:a16="http://schemas.microsoft.com/office/drawing/2014/main" id="{1ED39001-ACC7-138F-6DD5-C2073D5DE829}"/>
              </a:ext>
            </a:extLst>
          </p:cNvPr>
          <p:cNvSpPr txBox="1"/>
          <p:nvPr/>
        </p:nvSpPr>
        <p:spPr>
          <a:xfrm>
            <a:off x="595223" y="129396"/>
            <a:ext cx="1620957" cy="338554"/>
          </a:xfrm>
          <a:prstGeom prst="rect">
            <a:avLst/>
          </a:prstGeom>
          <a:noFill/>
        </p:spPr>
        <p:txBody>
          <a:bodyPr wrap="none" rtlCol="0">
            <a:spAutoFit/>
          </a:bodyPr>
          <a:lstStyle/>
          <a:p>
            <a:r>
              <a:rPr kumimoji="1" lang="ja-JP" altLang="en-US" sz="1600" b="1" dirty="0">
                <a:solidFill>
                  <a:srgbClr val="002060"/>
                </a:solidFill>
                <a:latin typeface="メイリオ"/>
                <a:ea typeface="メイリオ"/>
              </a:rPr>
              <a:t>アジェンダ構成</a:t>
            </a:r>
            <a:endParaRPr kumimoji="1" lang="en-US" altLang="ja-JP" sz="1600" b="1" dirty="0">
              <a:solidFill>
                <a:srgbClr val="002060"/>
              </a:solidFill>
              <a:latin typeface="+mj-ea"/>
              <a:ea typeface="+mj-ea"/>
            </a:endParaRPr>
          </a:p>
        </p:txBody>
      </p:sp>
      <p:sp>
        <p:nvSpPr>
          <p:cNvPr id="7" name="テキスト ボックス 6">
            <a:extLst>
              <a:ext uri="{FF2B5EF4-FFF2-40B4-BE49-F238E27FC236}">
                <a16:creationId xmlns:a16="http://schemas.microsoft.com/office/drawing/2014/main" id="{AFD80AAF-7C29-1B7B-BAD5-38BB2C055EA4}"/>
              </a:ext>
            </a:extLst>
          </p:cNvPr>
          <p:cNvSpPr txBox="1"/>
          <p:nvPr/>
        </p:nvSpPr>
        <p:spPr>
          <a:xfrm>
            <a:off x="664235" y="2406770"/>
            <a:ext cx="8143335" cy="1938992"/>
          </a:xfrm>
          <a:prstGeom prst="rect">
            <a:avLst/>
          </a:prstGeom>
          <a:noFill/>
        </p:spPr>
        <p:txBody>
          <a:bodyPr wrap="square" rtlCol="0">
            <a:spAutoFit/>
          </a:bodyPr>
          <a:lstStyle/>
          <a:p>
            <a:r>
              <a:rPr lang="en-US" altLang="ja-JP" sz="2400" dirty="0">
                <a:latin typeface="メイリオ"/>
                <a:ea typeface="メイリオ"/>
              </a:rPr>
              <a:t>1. LINE</a:t>
            </a:r>
            <a:r>
              <a:rPr lang="ja-JP" altLang="en-US" sz="2400" dirty="0">
                <a:latin typeface="メイリオ"/>
                <a:ea typeface="メイリオ"/>
              </a:rPr>
              <a:t>公式アカウントを検討する背景         </a:t>
            </a:r>
            <a:endParaRPr lang="en-US" altLang="ja-JP" sz="2400" dirty="0"/>
          </a:p>
          <a:p>
            <a:r>
              <a:rPr lang="en-US" altLang="ja-JP" sz="2400" dirty="0">
                <a:latin typeface="メイリオ"/>
                <a:ea typeface="メイリオ"/>
              </a:rPr>
              <a:t>2. </a:t>
            </a:r>
            <a:r>
              <a:rPr lang="ja-JP" altLang="en-US" sz="2400" dirty="0">
                <a:latin typeface="メイリオ"/>
                <a:ea typeface="メイリオ"/>
              </a:rPr>
              <a:t>配信の考え方 ── 市場・需要の実態      </a:t>
            </a:r>
            <a:br>
              <a:rPr lang="en-US" altLang="ja-JP" sz="2400" dirty="0"/>
            </a:br>
            <a:r>
              <a:rPr lang="en-US" altLang="ja-JP" sz="2400" dirty="0">
                <a:latin typeface="メイリオ"/>
                <a:ea typeface="メイリオ"/>
              </a:rPr>
              <a:t>3. </a:t>
            </a:r>
            <a:r>
              <a:rPr lang="ja-JP" altLang="en-US" sz="2400" dirty="0">
                <a:latin typeface="メイリオ"/>
                <a:ea typeface="メイリオ"/>
              </a:rPr>
              <a:t>施策の詳細（配信の効率化）── 設計と改善モデル  </a:t>
            </a:r>
          </a:p>
          <a:p>
            <a:r>
              <a:rPr lang="en-US" altLang="ja-JP" sz="2400" dirty="0">
                <a:latin typeface="メイリオ"/>
                <a:ea typeface="メイリオ"/>
              </a:rPr>
              <a:t>4. </a:t>
            </a:r>
            <a:r>
              <a:rPr lang="ja-JP" altLang="en-US" sz="2400" dirty="0">
                <a:latin typeface="メイリオ"/>
                <a:ea typeface="メイリオ"/>
              </a:rPr>
              <a:t>具体プラン提示                     </a:t>
            </a:r>
          </a:p>
          <a:p>
            <a:r>
              <a:rPr lang="en-US" altLang="ja-JP" sz="2400" dirty="0">
                <a:latin typeface="メイリオ"/>
                <a:ea typeface="メイリオ"/>
              </a:rPr>
              <a:t>5. </a:t>
            </a:r>
            <a:r>
              <a:rPr lang="ja-JP" altLang="en-US" sz="2400" dirty="0">
                <a:latin typeface="メイリオ"/>
                <a:ea typeface="メイリオ"/>
              </a:rPr>
              <a:t>ご提案にあたり（施策紹介・企画案）      </a:t>
            </a:r>
            <a:endParaRPr kumimoji="1" lang="ja-JP" altLang="en-US" sz="2400" dirty="0"/>
          </a:p>
        </p:txBody>
      </p:sp>
    </p:spTree>
    <p:extLst>
      <p:ext uri="{BB962C8B-B14F-4D97-AF65-F5344CB8AC3E}">
        <p14:creationId xmlns:p14="http://schemas.microsoft.com/office/powerpoint/2010/main" val="3283623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579F4-FB71-CB84-349D-670C2D29F6A3}"/>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4B1E45AF-D1E3-4DBA-4BB7-0857F699B7A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C6D5128D-AC86-A618-019E-D9FA2B942550}"/>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ファン化・自社アプリ登録に対して、</a:t>
            </a:r>
            <a:r>
              <a:rPr lang="en-US" altLang="ja-JP" sz="1400" dirty="0">
                <a:solidFill>
                  <a:srgbClr val="343434"/>
                </a:solidFill>
                <a:latin typeface="メイリオ" panose="020B0604030504040204" pitchFamily="50" charset="-128"/>
                <a:ea typeface="メイリオ" panose="020B0604030504040204" pitchFamily="50" charset="-128"/>
              </a:rPr>
              <a:t>”</a:t>
            </a:r>
            <a:r>
              <a:rPr lang="ja-JP" altLang="en-US" sz="1400" dirty="0">
                <a:solidFill>
                  <a:srgbClr val="343434"/>
                </a:solidFill>
                <a:latin typeface="メイリオ" panose="020B0604030504040204" pitchFamily="50" charset="-128"/>
                <a:ea typeface="メイリオ" panose="020B0604030504040204" pitchFamily="50" charset="-128"/>
              </a:rPr>
              <a:t>ハードルが高く感じる</a:t>
            </a:r>
            <a:r>
              <a:rPr lang="en-US" altLang="ja-JP" sz="1400" dirty="0">
                <a:solidFill>
                  <a:srgbClr val="343434"/>
                </a:solidFill>
                <a:latin typeface="メイリオ" panose="020B0604030504040204" pitchFamily="50" charset="-128"/>
                <a:ea typeface="メイリオ" panose="020B0604030504040204" pitchFamily="50" charset="-128"/>
              </a:rPr>
              <a:t>”</a:t>
            </a:r>
            <a:r>
              <a:rPr lang="ja-JP" altLang="en-US" sz="1400" dirty="0">
                <a:solidFill>
                  <a:srgbClr val="343434"/>
                </a:solidFill>
                <a:latin typeface="メイリオ" panose="020B0604030504040204" pitchFamily="50" charset="-128"/>
                <a:ea typeface="メイリオ" panose="020B0604030504040204" pitchFamily="50" charset="-128"/>
              </a:rPr>
              <a:t>ユーザーが増えている状況。</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離脱防止 &gt;&gt; 友だち追加 &gt;&gt; LINEで診断・体験予約 &gt;&gt; 実利用 の導線設計でハードル抑えつつ運営が可能。</a:t>
            </a:r>
            <a:endParaRPr lang="en-US" altLang="ja-JP" sz="14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5C1533E1-7172-D6F9-4659-AAF59CE221F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5303208C-F2F3-3716-B706-B8EDA63E975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Meiryo"/>
                <a:sym typeface="Meiryo"/>
              </a:rPr>
              <a:t>LINE</a:t>
            </a:r>
            <a:r>
              <a:rPr lang="ja-JP" altLang="en-US" sz="1600" b="1" dirty="0">
                <a:solidFill>
                  <a:srgbClr val="002060"/>
                </a:solidFill>
                <a:latin typeface="メイリオ"/>
                <a:ea typeface="メイリオ"/>
                <a:cs typeface="Meiryo"/>
                <a:sym typeface="Meiryo"/>
              </a:rPr>
              <a:t>公式アカウントを検討する背景</a:t>
            </a:r>
            <a:endParaRPr sz="1600" b="1" dirty="0">
              <a:solidFill>
                <a:srgbClr val="002060"/>
              </a:solidFill>
              <a:latin typeface="メイリオ"/>
              <a:ea typeface="メイリオ"/>
              <a:cs typeface="Meiryo"/>
              <a:sym typeface="Meiryo"/>
            </a:endParaRPr>
          </a:p>
        </p:txBody>
      </p:sp>
      <p:sp>
        <p:nvSpPr>
          <p:cNvPr id="2" name="台形 1">
            <a:extLst>
              <a:ext uri="{FF2B5EF4-FFF2-40B4-BE49-F238E27FC236}">
                <a16:creationId xmlns:a16="http://schemas.microsoft.com/office/drawing/2014/main" id="{6CEEA445-8026-0C8A-48B1-72329CC0C762}"/>
              </a:ext>
            </a:extLst>
          </p:cNvPr>
          <p:cNvSpPr/>
          <p:nvPr/>
        </p:nvSpPr>
        <p:spPr>
          <a:xfrm rot="10800000">
            <a:off x="548883" y="1844173"/>
            <a:ext cx="3274466" cy="604240"/>
          </a:xfrm>
          <a:prstGeom prst="trapezoid">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台形 5">
            <a:extLst>
              <a:ext uri="{FF2B5EF4-FFF2-40B4-BE49-F238E27FC236}">
                <a16:creationId xmlns:a16="http://schemas.microsoft.com/office/drawing/2014/main" id="{9F2F9E67-FA62-E2F6-550C-31986420B41E}"/>
              </a:ext>
            </a:extLst>
          </p:cNvPr>
          <p:cNvSpPr/>
          <p:nvPr/>
        </p:nvSpPr>
        <p:spPr>
          <a:xfrm rot="10800000">
            <a:off x="752147" y="2517920"/>
            <a:ext cx="2877705" cy="604240"/>
          </a:xfrm>
          <a:prstGeom prst="trapezoid">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台形 6">
            <a:extLst>
              <a:ext uri="{FF2B5EF4-FFF2-40B4-BE49-F238E27FC236}">
                <a16:creationId xmlns:a16="http://schemas.microsoft.com/office/drawing/2014/main" id="{B6E67C0E-450F-9501-7066-6FB44B603ACE}"/>
              </a:ext>
            </a:extLst>
          </p:cNvPr>
          <p:cNvSpPr/>
          <p:nvPr/>
        </p:nvSpPr>
        <p:spPr>
          <a:xfrm rot="10800000">
            <a:off x="963025" y="3191667"/>
            <a:ext cx="2430931" cy="604240"/>
          </a:xfrm>
          <a:prstGeom prst="trapezoid">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台形 7">
            <a:extLst>
              <a:ext uri="{FF2B5EF4-FFF2-40B4-BE49-F238E27FC236}">
                <a16:creationId xmlns:a16="http://schemas.microsoft.com/office/drawing/2014/main" id="{EC332CC3-1BFE-4336-94C4-337A6F76E30F}"/>
              </a:ext>
            </a:extLst>
          </p:cNvPr>
          <p:cNvSpPr/>
          <p:nvPr/>
        </p:nvSpPr>
        <p:spPr>
          <a:xfrm rot="10800000">
            <a:off x="1195275" y="3865414"/>
            <a:ext cx="1981682" cy="604240"/>
          </a:xfrm>
          <a:prstGeom prst="trapezoid">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台形 8">
            <a:extLst>
              <a:ext uri="{FF2B5EF4-FFF2-40B4-BE49-F238E27FC236}">
                <a16:creationId xmlns:a16="http://schemas.microsoft.com/office/drawing/2014/main" id="{9FA0DA39-CA3D-4A32-A88D-5F42671F47B8}"/>
              </a:ext>
            </a:extLst>
          </p:cNvPr>
          <p:cNvSpPr/>
          <p:nvPr/>
        </p:nvSpPr>
        <p:spPr>
          <a:xfrm rot="10800000">
            <a:off x="1422661" y="4539161"/>
            <a:ext cx="1536677" cy="604240"/>
          </a:xfrm>
          <a:prstGeom prst="trapezoid">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台形 9">
            <a:extLst>
              <a:ext uri="{FF2B5EF4-FFF2-40B4-BE49-F238E27FC236}">
                <a16:creationId xmlns:a16="http://schemas.microsoft.com/office/drawing/2014/main" id="{1DAAE755-E19F-83A4-49AB-80FD2B8C6117}"/>
              </a:ext>
            </a:extLst>
          </p:cNvPr>
          <p:cNvSpPr/>
          <p:nvPr/>
        </p:nvSpPr>
        <p:spPr>
          <a:xfrm rot="10800000">
            <a:off x="1611466" y="5212908"/>
            <a:ext cx="1134047" cy="470263"/>
          </a:xfrm>
          <a:prstGeom prst="trapezoid">
            <a:avLst>
              <a:gd name="adj" fmla="val 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1" name="台形 10">
            <a:extLst>
              <a:ext uri="{FF2B5EF4-FFF2-40B4-BE49-F238E27FC236}">
                <a16:creationId xmlns:a16="http://schemas.microsoft.com/office/drawing/2014/main" id="{CE13A148-43A9-FACC-AA40-5B3C6364394E}"/>
              </a:ext>
            </a:extLst>
          </p:cNvPr>
          <p:cNvSpPr/>
          <p:nvPr/>
        </p:nvSpPr>
        <p:spPr>
          <a:xfrm rot="10800000">
            <a:off x="1611465" y="5752675"/>
            <a:ext cx="1134047" cy="470263"/>
          </a:xfrm>
          <a:prstGeom prst="trapezoid">
            <a:avLst>
              <a:gd name="adj" fmla="val 0"/>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3" name="テキスト ボックス 12">
            <a:extLst>
              <a:ext uri="{FF2B5EF4-FFF2-40B4-BE49-F238E27FC236}">
                <a16:creationId xmlns:a16="http://schemas.microsoft.com/office/drawing/2014/main" id="{927CB514-4619-59D1-450A-DDF1B29355E0}"/>
              </a:ext>
            </a:extLst>
          </p:cNvPr>
          <p:cNvSpPr txBox="1"/>
          <p:nvPr/>
        </p:nvSpPr>
        <p:spPr>
          <a:xfrm>
            <a:off x="1459558" y="5315094"/>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既存ユーザー</a:t>
            </a:r>
          </a:p>
        </p:txBody>
      </p:sp>
      <p:sp>
        <p:nvSpPr>
          <p:cNvPr id="14" name="テキスト ボックス 13">
            <a:extLst>
              <a:ext uri="{FF2B5EF4-FFF2-40B4-BE49-F238E27FC236}">
                <a16:creationId xmlns:a16="http://schemas.microsoft.com/office/drawing/2014/main" id="{CB3559A7-D98B-633E-360D-B9755713CB4A}"/>
              </a:ext>
            </a:extLst>
          </p:cNvPr>
          <p:cNvSpPr txBox="1"/>
          <p:nvPr/>
        </p:nvSpPr>
        <p:spPr>
          <a:xfrm>
            <a:off x="1458475" y="5884142"/>
            <a:ext cx="1437861" cy="2308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rPr>
              <a:t>リピート・ファン化</a:t>
            </a:r>
          </a:p>
        </p:txBody>
      </p:sp>
      <p:sp>
        <p:nvSpPr>
          <p:cNvPr id="15" name="テキスト ボックス 14">
            <a:extLst>
              <a:ext uri="{FF2B5EF4-FFF2-40B4-BE49-F238E27FC236}">
                <a16:creationId xmlns:a16="http://schemas.microsoft.com/office/drawing/2014/main" id="{6BF621D8-B54B-3C3E-20B9-51565ADCB9C9}"/>
              </a:ext>
            </a:extLst>
          </p:cNvPr>
          <p:cNvSpPr txBox="1"/>
          <p:nvPr/>
        </p:nvSpPr>
        <p:spPr>
          <a:xfrm>
            <a:off x="1467184" y="468410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リード獲得層</a:t>
            </a:r>
          </a:p>
        </p:txBody>
      </p:sp>
      <p:sp>
        <p:nvSpPr>
          <p:cNvPr id="16" name="テキスト ボックス 15">
            <a:extLst>
              <a:ext uri="{FF2B5EF4-FFF2-40B4-BE49-F238E27FC236}">
                <a16:creationId xmlns:a16="http://schemas.microsoft.com/office/drawing/2014/main" id="{AE6EDBBE-DC2E-D1B4-D90F-A1213B9D8FB2}"/>
              </a:ext>
            </a:extLst>
          </p:cNvPr>
          <p:cNvSpPr txBox="1"/>
          <p:nvPr/>
        </p:nvSpPr>
        <p:spPr>
          <a:xfrm>
            <a:off x="1467184" y="405415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顕在層</a:t>
            </a:r>
          </a:p>
        </p:txBody>
      </p:sp>
      <p:sp>
        <p:nvSpPr>
          <p:cNvPr id="17" name="テキスト ボックス 16">
            <a:extLst>
              <a:ext uri="{FF2B5EF4-FFF2-40B4-BE49-F238E27FC236}">
                <a16:creationId xmlns:a16="http://schemas.microsoft.com/office/drawing/2014/main" id="{742EB2DA-CD05-53A4-819B-B3E66F91159A}"/>
              </a:ext>
            </a:extLst>
          </p:cNvPr>
          <p:cNvSpPr txBox="1"/>
          <p:nvPr/>
        </p:nvSpPr>
        <p:spPr>
          <a:xfrm>
            <a:off x="1459558" y="337292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準顕在層</a:t>
            </a:r>
          </a:p>
        </p:txBody>
      </p:sp>
      <p:sp>
        <p:nvSpPr>
          <p:cNvPr id="18" name="テキスト ボックス 17">
            <a:extLst>
              <a:ext uri="{FF2B5EF4-FFF2-40B4-BE49-F238E27FC236}">
                <a16:creationId xmlns:a16="http://schemas.microsoft.com/office/drawing/2014/main" id="{EFAB44CD-3FC2-FB15-3D61-30AD87D19366}"/>
              </a:ext>
            </a:extLst>
          </p:cNvPr>
          <p:cNvSpPr txBox="1"/>
          <p:nvPr/>
        </p:nvSpPr>
        <p:spPr>
          <a:xfrm>
            <a:off x="1467184" y="270021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潜在層</a:t>
            </a:r>
          </a:p>
        </p:txBody>
      </p:sp>
      <p:sp>
        <p:nvSpPr>
          <p:cNvPr id="19" name="テキスト ボックス 18">
            <a:extLst>
              <a:ext uri="{FF2B5EF4-FFF2-40B4-BE49-F238E27FC236}">
                <a16:creationId xmlns:a16="http://schemas.microsoft.com/office/drawing/2014/main" id="{1514C466-C0C4-5FB6-74AF-13B6F4947391}"/>
              </a:ext>
            </a:extLst>
          </p:cNvPr>
          <p:cNvSpPr txBox="1"/>
          <p:nvPr/>
        </p:nvSpPr>
        <p:spPr>
          <a:xfrm>
            <a:off x="1478205" y="2007789"/>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興味関心なし 層</a:t>
            </a:r>
          </a:p>
        </p:txBody>
      </p:sp>
      <p:sp>
        <p:nvSpPr>
          <p:cNvPr id="22" name="台形 21">
            <a:extLst>
              <a:ext uri="{FF2B5EF4-FFF2-40B4-BE49-F238E27FC236}">
                <a16:creationId xmlns:a16="http://schemas.microsoft.com/office/drawing/2014/main" id="{9BACDF3F-A4E5-35A7-B870-B83B08A9B3FF}"/>
              </a:ext>
            </a:extLst>
          </p:cNvPr>
          <p:cNvSpPr/>
          <p:nvPr/>
        </p:nvSpPr>
        <p:spPr>
          <a:xfrm rot="10800000">
            <a:off x="7611914" y="4188220"/>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23" name="テキスト ボックス 22">
            <a:extLst>
              <a:ext uri="{FF2B5EF4-FFF2-40B4-BE49-F238E27FC236}">
                <a16:creationId xmlns:a16="http://schemas.microsoft.com/office/drawing/2014/main" id="{35A77394-5E5F-8C4D-28B8-74F4583DF5D0}"/>
              </a:ext>
            </a:extLst>
          </p:cNvPr>
          <p:cNvSpPr txBox="1"/>
          <p:nvPr/>
        </p:nvSpPr>
        <p:spPr>
          <a:xfrm>
            <a:off x="7550332" y="4198522"/>
            <a:ext cx="1887978" cy="400110"/>
          </a:xfrm>
          <a:prstGeom prst="rect">
            <a:avLst/>
          </a:prstGeom>
          <a:noFill/>
        </p:spPr>
        <p:txBody>
          <a:bodyPr wrap="square">
            <a:spAutoFit/>
          </a:body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「LINE診断・体験予約」にて</a:t>
            </a:r>
            <a:r>
              <a:rPr lang="en-US" altLang="ja-JP" sz="1000" b="1" dirty="0">
                <a:solidFill>
                  <a:schemeClr val="bg1"/>
                </a:solidFill>
                <a:latin typeface="メイリオ" panose="020B0604030504040204" pitchFamily="50" charset="-128"/>
                <a:ea typeface="メイリオ" panose="020B0604030504040204" pitchFamily="50" charset="-128"/>
              </a:rPr>
              <a:t>LINE</a:t>
            </a:r>
            <a:r>
              <a:rPr lang="ja-JP" altLang="en-US" sz="1000" b="1" dirty="0">
                <a:solidFill>
                  <a:schemeClr val="bg1"/>
                </a:solidFill>
                <a:latin typeface="メイリオ" panose="020B0604030504040204" pitchFamily="50" charset="-128"/>
                <a:ea typeface="メイリオ" panose="020B0604030504040204" pitchFamily="50" charset="-128"/>
              </a:rPr>
              <a:t>リードを獲得</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24" name="台形 23">
            <a:extLst>
              <a:ext uri="{FF2B5EF4-FFF2-40B4-BE49-F238E27FC236}">
                <a16:creationId xmlns:a16="http://schemas.microsoft.com/office/drawing/2014/main" id="{3B9CC8D9-DD20-6C2F-3BDD-BE9F5B8FFC38}"/>
              </a:ext>
            </a:extLst>
          </p:cNvPr>
          <p:cNvSpPr/>
          <p:nvPr/>
        </p:nvSpPr>
        <p:spPr>
          <a:xfrm rot="10800000">
            <a:off x="7611914" y="3120018"/>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25" name="テキスト ボックス 24">
            <a:extLst>
              <a:ext uri="{FF2B5EF4-FFF2-40B4-BE49-F238E27FC236}">
                <a16:creationId xmlns:a16="http://schemas.microsoft.com/office/drawing/2014/main" id="{342DD099-7AA1-F285-5FF9-42B4945A3099}"/>
              </a:ext>
            </a:extLst>
          </p:cNvPr>
          <p:cNvSpPr txBox="1"/>
          <p:nvPr/>
        </p:nvSpPr>
        <p:spPr>
          <a:xfrm>
            <a:off x="7611914" y="3118189"/>
            <a:ext cx="1826395" cy="553998"/>
          </a:xfrm>
          <a:prstGeom prst="rect">
            <a:avLst/>
          </a:prstGeom>
          <a:noFill/>
        </p:spPr>
        <p:txBody>
          <a:bodyPr wrap="square">
            <a:spAutoFit/>
          </a:body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離脱防止バナーにて</a:t>
            </a:r>
            <a:endParaRPr kumimoji="1" lang="en-US" altLang="ja-JP" sz="1000" b="1" dirty="0">
              <a:solidFill>
                <a:schemeClr val="bg1"/>
              </a:solidFill>
              <a:latin typeface="メイリオ" panose="020B0604030504040204" pitchFamily="50" charset="-128"/>
              <a:ea typeface="メイリオ" panose="020B0604030504040204" pitchFamily="50" charset="-128"/>
            </a:endParaRPr>
          </a:p>
          <a:p>
            <a:pPr algn="ctr"/>
            <a:r>
              <a:rPr lang="ja-JP" altLang="en-US" sz="1000" b="1" dirty="0">
                <a:solidFill>
                  <a:schemeClr val="bg1"/>
                </a:solidFill>
                <a:latin typeface="メイリオ" panose="020B0604030504040204" pitchFamily="50" charset="-128"/>
                <a:ea typeface="メイリオ" panose="020B0604030504040204" pitchFamily="50" charset="-128"/>
              </a:rPr>
              <a:t>検討段階ユーザーを</a:t>
            </a:r>
            <a:endParaRPr lang="en-US" altLang="ja-JP" sz="1000" b="1" dirty="0">
              <a:solidFill>
                <a:schemeClr val="bg1"/>
              </a:solidFill>
              <a:latin typeface="メイリオ" panose="020B0604030504040204" pitchFamily="50" charset="-128"/>
              <a:ea typeface="メイリオ" panose="020B0604030504040204" pitchFamily="50" charset="-128"/>
            </a:endParaRPr>
          </a:p>
          <a:p>
            <a:pPr algn="ctr"/>
            <a:r>
              <a:rPr lang="en-US" altLang="ja-JP" sz="1000" b="1" dirty="0">
                <a:solidFill>
                  <a:schemeClr val="bg1"/>
                </a:solidFill>
                <a:latin typeface="メイリオ" panose="020B0604030504040204" pitchFamily="50" charset="-128"/>
                <a:ea typeface="メイリオ" panose="020B0604030504040204" pitchFamily="50" charset="-128"/>
              </a:rPr>
              <a:t>LINE</a:t>
            </a:r>
            <a:r>
              <a:rPr lang="ja-JP" altLang="en-US" sz="1000" b="1" dirty="0">
                <a:solidFill>
                  <a:schemeClr val="bg1"/>
                </a:solidFill>
                <a:latin typeface="メイリオ" panose="020B0604030504040204" pitchFamily="50" charset="-128"/>
                <a:ea typeface="メイリオ" panose="020B0604030504040204" pitchFamily="50" charset="-128"/>
              </a:rPr>
              <a:t>誘導</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27" name="台形 26">
            <a:extLst>
              <a:ext uri="{FF2B5EF4-FFF2-40B4-BE49-F238E27FC236}">
                <a16:creationId xmlns:a16="http://schemas.microsoft.com/office/drawing/2014/main" id="{D95457DF-AF4B-4B8E-D6F2-2A10C8E1A4A2}"/>
              </a:ext>
            </a:extLst>
          </p:cNvPr>
          <p:cNvSpPr/>
          <p:nvPr/>
        </p:nvSpPr>
        <p:spPr>
          <a:xfrm rot="10800000">
            <a:off x="7611914" y="225703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32" name="テキスト ボックス 31">
            <a:extLst>
              <a:ext uri="{FF2B5EF4-FFF2-40B4-BE49-F238E27FC236}">
                <a16:creationId xmlns:a16="http://schemas.microsoft.com/office/drawing/2014/main" id="{D94F1D70-CF6B-885E-B41C-C70125B75219}"/>
              </a:ext>
            </a:extLst>
          </p:cNvPr>
          <p:cNvSpPr txBox="1"/>
          <p:nvPr/>
        </p:nvSpPr>
        <p:spPr>
          <a:xfrm>
            <a:off x="7611914" y="2313761"/>
            <a:ext cx="1826395" cy="400110"/>
          </a:xfrm>
          <a:prstGeom prst="rect">
            <a:avLst/>
          </a:prstGeom>
          <a:noFill/>
        </p:spPr>
        <p:txBody>
          <a:bodyPr wrap="square">
            <a:spAutoFit/>
          </a:body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接触、詳細ページ閲覧</a:t>
            </a:r>
            <a:endParaRPr kumimoji="1" lang="en-US" altLang="ja-JP" sz="1000" b="1" dirty="0">
              <a:solidFill>
                <a:schemeClr val="bg1"/>
              </a:solidFill>
              <a:latin typeface="メイリオ" panose="020B0604030504040204" pitchFamily="50" charset="-128"/>
              <a:ea typeface="メイリオ" panose="020B0604030504040204" pitchFamily="50" charset="-128"/>
            </a:endParaRPr>
          </a:p>
          <a:p>
            <a:pPr algn="ctr"/>
            <a:r>
              <a:rPr lang="ja-JP" altLang="en-US" sz="1000" b="1" dirty="0">
                <a:solidFill>
                  <a:schemeClr val="bg1"/>
                </a:solidFill>
                <a:latin typeface="メイリオ" panose="020B0604030504040204" pitchFamily="50" charset="-128"/>
                <a:ea typeface="メイリオ" panose="020B0604030504040204" pitchFamily="50" charset="-128"/>
              </a:rPr>
              <a:t>の動線での</a:t>
            </a:r>
            <a:r>
              <a:rPr lang="en-US" altLang="ja-JP" sz="1000" b="1" dirty="0">
                <a:solidFill>
                  <a:schemeClr val="bg1"/>
                </a:solidFill>
                <a:latin typeface="メイリオ" panose="020B0604030504040204" pitchFamily="50" charset="-128"/>
                <a:ea typeface="メイリオ" panose="020B0604030504040204" pitchFamily="50" charset="-128"/>
              </a:rPr>
              <a:t>LINE</a:t>
            </a:r>
            <a:r>
              <a:rPr lang="ja-JP" altLang="en-US" sz="1000" b="1" dirty="0">
                <a:solidFill>
                  <a:schemeClr val="bg1"/>
                </a:solidFill>
                <a:latin typeface="メイリオ" panose="020B0604030504040204" pitchFamily="50" charset="-128"/>
                <a:ea typeface="メイリオ" panose="020B0604030504040204" pitchFamily="50" charset="-128"/>
              </a:rPr>
              <a:t>誘導を整備</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41" name="テキスト ボックス 40">
            <a:extLst>
              <a:ext uri="{FF2B5EF4-FFF2-40B4-BE49-F238E27FC236}">
                <a16:creationId xmlns:a16="http://schemas.microsoft.com/office/drawing/2014/main" id="{4E163946-1549-509D-4F46-C667EBDCE5EE}"/>
              </a:ext>
            </a:extLst>
          </p:cNvPr>
          <p:cNvSpPr txBox="1"/>
          <p:nvPr/>
        </p:nvSpPr>
        <p:spPr>
          <a:xfrm>
            <a:off x="7462272" y="1725706"/>
            <a:ext cx="2125679" cy="276999"/>
          </a:xfrm>
          <a:prstGeom prst="rect">
            <a:avLst/>
          </a:prstGeom>
          <a:solidFill>
            <a:schemeClr val="tx2"/>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rPr>
              <a:t>DYM</a:t>
            </a:r>
            <a:r>
              <a:rPr lang="ja-JP" altLang="en-US" sz="1200" dirty="0">
                <a:solidFill>
                  <a:schemeClr val="bg1"/>
                </a:solidFill>
                <a:latin typeface="メイリオ" panose="020B0604030504040204" pitchFamily="50" charset="-128"/>
                <a:ea typeface="メイリオ" panose="020B0604030504040204" pitchFamily="50" charset="-128"/>
              </a:rPr>
              <a:t>施策</a:t>
            </a:r>
            <a:endParaRPr lang="ja-JP" altLang="en-US" sz="1200" dirty="0">
              <a:solidFill>
                <a:schemeClr val="bg1"/>
              </a:solidFill>
            </a:endParaRPr>
          </a:p>
        </p:txBody>
      </p:sp>
      <p:sp>
        <p:nvSpPr>
          <p:cNvPr id="44" name="テキスト ボックス 43">
            <a:extLst>
              <a:ext uri="{FF2B5EF4-FFF2-40B4-BE49-F238E27FC236}">
                <a16:creationId xmlns:a16="http://schemas.microsoft.com/office/drawing/2014/main" id="{CCE5C835-66DF-7ACC-2268-769AE89BC22D}"/>
              </a:ext>
            </a:extLst>
          </p:cNvPr>
          <p:cNvSpPr txBox="1"/>
          <p:nvPr/>
        </p:nvSpPr>
        <p:spPr>
          <a:xfrm>
            <a:off x="5273193" y="1735237"/>
            <a:ext cx="2125679" cy="276999"/>
          </a:xfrm>
          <a:prstGeom prst="rect">
            <a:avLst/>
          </a:prstGeom>
          <a:solidFill>
            <a:schemeClr val="tx1"/>
          </a:solidFill>
        </p:spPr>
        <p:txBody>
          <a:bodyPr wrap="square">
            <a:sp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rPr>
              <a:t>現状施策</a:t>
            </a:r>
            <a:endParaRPr lang="ja-JP" altLang="en-US" sz="1200" dirty="0">
              <a:solidFill>
                <a:schemeClr val="bg1"/>
              </a:solidFill>
            </a:endParaRPr>
          </a:p>
        </p:txBody>
      </p:sp>
      <p:sp>
        <p:nvSpPr>
          <p:cNvPr id="46" name="台形 45">
            <a:extLst>
              <a:ext uri="{FF2B5EF4-FFF2-40B4-BE49-F238E27FC236}">
                <a16:creationId xmlns:a16="http://schemas.microsoft.com/office/drawing/2014/main" id="{770C8367-24F5-979C-4481-908DE742DF1B}"/>
              </a:ext>
            </a:extLst>
          </p:cNvPr>
          <p:cNvSpPr/>
          <p:nvPr/>
        </p:nvSpPr>
        <p:spPr>
          <a:xfrm rot="10800000">
            <a:off x="7611914" y="572507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47" name="テキスト ボックス 46">
            <a:extLst>
              <a:ext uri="{FF2B5EF4-FFF2-40B4-BE49-F238E27FC236}">
                <a16:creationId xmlns:a16="http://schemas.microsoft.com/office/drawing/2014/main" id="{1353124E-927F-8496-8FC6-E6DD494A8DEA}"/>
              </a:ext>
            </a:extLst>
          </p:cNvPr>
          <p:cNvSpPr txBox="1"/>
          <p:nvPr/>
        </p:nvSpPr>
        <p:spPr>
          <a:xfrm>
            <a:off x="7611914" y="5785358"/>
            <a:ext cx="1826395" cy="400110"/>
          </a:xfrm>
          <a:prstGeom prst="rect">
            <a:avLst/>
          </a:prstGeom>
          <a:noFill/>
        </p:spPr>
        <p:txBody>
          <a:bodyPr wrap="square">
            <a:spAutoFit/>
          </a:body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継続・PT/物販</a:t>
            </a:r>
            <a:endParaRPr kumimoji="1" lang="en-US" altLang="ja-JP" sz="1000" b="1" dirty="0">
              <a:solidFill>
                <a:schemeClr val="bg1"/>
              </a:solidFill>
              <a:latin typeface="メイリオ" panose="020B0604030504040204" pitchFamily="50" charset="-128"/>
              <a:ea typeface="メイリオ" panose="020B0604030504040204" pitchFamily="50" charset="-128"/>
            </a:endParaRPr>
          </a:p>
          <a:p>
            <a:pPr algn="ctr"/>
            <a:r>
              <a:rPr lang="ja-JP" altLang="en-US" sz="1000" b="1" dirty="0">
                <a:solidFill>
                  <a:schemeClr val="bg1"/>
                </a:solidFill>
                <a:latin typeface="メイリオ" panose="020B0604030504040204" pitchFamily="50" charset="-128"/>
                <a:ea typeface="メイリオ" panose="020B0604030504040204" pitchFamily="50" charset="-128"/>
              </a:rPr>
              <a:t>友だち紹介に繋げる</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48" name="台形 47">
            <a:extLst>
              <a:ext uri="{FF2B5EF4-FFF2-40B4-BE49-F238E27FC236}">
                <a16:creationId xmlns:a16="http://schemas.microsoft.com/office/drawing/2014/main" id="{BAFBCC32-B244-9AC5-0A18-C121D3B9BCDA}"/>
              </a:ext>
            </a:extLst>
          </p:cNvPr>
          <p:cNvSpPr/>
          <p:nvPr/>
        </p:nvSpPr>
        <p:spPr>
          <a:xfrm rot="10800000">
            <a:off x="7611914" y="5183481"/>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49" name="テキスト ボックス 48">
            <a:extLst>
              <a:ext uri="{FF2B5EF4-FFF2-40B4-BE49-F238E27FC236}">
                <a16:creationId xmlns:a16="http://schemas.microsoft.com/office/drawing/2014/main" id="{19BD53B7-C509-F64E-CB4B-C6D3341F3AD5}"/>
              </a:ext>
            </a:extLst>
          </p:cNvPr>
          <p:cNvSpPr txBox="1"/>
          <p:nvPr/>
        </p:nvSpPr>
        <p:spPr>
          <a:xfrm>
            <a:off x="7611914" y="5315094"/>
            <a:ext cx="1826395" cy="246221"/>
          </a:xfrm>
          <a:prstGeom prst="rect">
            <a:avLst/>
          </a:prstGeom>
          <a:noFill/>
        </p:spPr>
        <p:txBody>
          <a:bodyPr wrap="square">
            <a:spAutoFit/>
          </a:body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※ID</a:t>
            </a:r>
            <a:r>
              <a:rPr kumimoji="1" lang="ja-JP" altLang="en-US" sz="1000" b="1" dirty="0">
                <a:solidFill>
                  <a:schemeClr val="bg1"/>
                </a:solidFill>
                <a:latin typeface="メイリオ" panose="020B0604030504040204" pitchFamily="50" charset="-128"/>
                <a:ea typeface="メイリオ" panose="020B0604030504040204" pitchFamily="50" charset="-128"/>
              </a:rPr>
              <a:t>連携特典等を表示</a:t>
            </a:r>
          </a:p>
        </p:txBody>
      </p:sp>
      <p:sp>
        <p:nvSpPr>
          <p:cNvPr id="50" name="台形 49">
            <a:extLst>
              <a:ext uri="{FF2B5EF4-FFF2-40B4-BE49-F238E27FC236}">
                <a16:creationId xmlns:a16="http://schemas.microsoft.com/office/drawing/2014/main" id="{3941D3AF-378C-FC85-0F44-DC7CE1041E69}"/>
              </a:ext>
            </a:extLst>
          </p:cNvPr>
          <p:cNvSpPr/>
          <p:nvPr/>
        </p:nvSpPr>
        <p:spPr>
          <a:xfrm rot="10800000">
            <a:off x="7611914" y="4683087"/>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51" name="テキスト ボックス 50">
            <a:extLst>
              <a:ext uri="{FF2B5EF4-FFF2-40B4-BE49-F238E27FC236}">
                <a16:creationId xmlns:a16="http://schemas.microsoft.com/office/drawing/2014/main" id="{04C3D2CB-85C1-FE9F-4777-E7D3AB629F25}"/>
              </a:ext>
            </a:extLst>
          </p:cNvPr>
          <p:cNvSpPr txBox="1"/>
          <p:nvPr/>
        </p:nvSpPr>
        <p:spPr>
          <a:xfrm>
            <a:off x="7611914" y="4814700"/>
            <a:ext cx="1826395" cy="246221"/>
          </a:xfrm>
          <a:prstGeom prst="rect">
            <a:avLst/>
          </a:prstGeom>
          <a:noFill/>
        </p:spPr>
        <p:txBody>
          <a:bodyPr wrap="square">
            <a:spAutoFit/>
          </a:body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a:t>
            </a:r>
            <a:r>
              <a:rPr kumimoji="1" lang="ja-JP" altLang="en-US" sz="1000" b="1" dirty="0">
                <a:solidFill>
                  <a:schemeClr val="bg1"/>
                </a:solidFill>
                <a:latin typeface="メイリオ" panose="020B0604030504040204" pitchFamily="50" charset="-128"/>
                <a:ea typeface="メイリオ" panose="020B0604030504040204" pitchFamily="50" charset="-128"/>
              </a:rPr>
              <a:t>ミニアプリ・診断 →</a:t>
            </a:r>
            <a:r>
              <a:rPr lang="en-US" altLang="ja-JP" sz="1000" b="1" dirty="0">
                <a:solidFill>
                  <a:schemeClr val="bg1"/>
                </a:solidFill>
                <a:latin typeface="メイリオ" panose="020B0604030504040204" pitchFamily="50" charset="-128"/>
                <a:ea typeface="メイリオ" panose="020B0604030504040204" pitchFamily="50" charset="-128"/>
              </a:rPr>
              <a:t> </a:t>
            </a:r>
            <a:r>
              <a:rPr lang="ja-JP" altLang="en-US" sz="1000" b="1" dirty="0">
                <a:solidFill>
                  <a:schemeClr val="bg1"/>
                </a:solidFill>
                <a:latin typeface="メイリオ" panose="020B0604030504040204" pitchFamily="50" charset="-128"/>
                <a:ea typeface="メイリオ" panose="020B0604030504040204" pitchFamily="50" charset="-128"/>
              </a:rPr>
              <a:t>特典</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57" name="台形 56">
            <a:extLst>
              <a:ext uri="{FF2B5EF4-FFF2-40B4-BE49-F238E27FC236}">
                <a16:creationId xmlns:a16="http://schemas.microsoft.com/office/drawing/2014/main" id="{B65081E4-37AB-CFC9-6ADB-B4EEA7844473}"/>
              </a:ext>
            </a:extLst>
          </p:cNvPr>
          <p:cNvSpPr/>
          <p:nvPr/>
        </p:nvSpPr>
        <p:spPr>
          <a:xfrm rot="10800000">
            <a:off x="8075757" y="6244548"/>
            <a:ext cx="1826395" cy="265450"/>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58" name="テキスト ボックス 57">
            <a:extLst>
              <a:ext uri="{FF2B5EF4-FFF2-40B4-BE49-F238E27FC236}">
                <a16:creationId xmlns:a16="http://schemas.microsoft.com/office/drawing/2014/main" id="{84FBB3DE-B0A1-98BB-3108-365CAA2451B5}"/>
              </a:ext>
            </a:extLst>
          </p:cNvPr>
          <p:cNvSpPr txBox="1"/>
          <p:nvPr/>
        </p:nvSpPr>
        <p:spPr>
          <a:xfrm>
            <a:off x="8198333" y="6267085"/>
            <a:ext cx="1581242" cy="253916"/>
          </a:xfrm>
          <a:prstGeom prst="rect">
            <a:avLst/>
          </a:prstGeom>
          <a:noFill/>
        </p:spPr>
        <p:txBody>
          <a:bodyPr wrap="square">
            <a:spAutoFit/>
          </a:bodyPr>
          <a:lstStyle/>
          <a:p>
            <a:pPr algn="ctr"/>
            <a:r>
              <a:rPr kumimoji="1" lang="en-US" altLang="ja-JP" sz="1050" dirty="0">
                <a:solidFill>
                  <a:schemeClr val="bg1"/>
                </a:solidFill>
                <a:latin typeface="メイリオ" panose="020B0604030504040204" pitchFamily="50" charset="-128"/>
                <a:ea typeface="メイリオ" panose="020B0604030504040204" pitchFamily="50" charset="-128"/>
              </a:rPr>
              <a:t>※</a:t>
            </a:r>
            <a:r>
              <a:rPr kumimoji="1" lang="ja-JP" altLang="en-US" sz="1050" dirty="0">
                <a:solidFill>
                  <a:schemeClr val="bg1"/>
                </a:solidFill>
                <a:latin typeface="メイリオ" panose="020B0604030504040204" pitchFamily="50" charset="-128"/>
                <a:ea typeface="メイリオ" panose="020B0604030504040204" pitchFamily="50" charset="-128"/>
              </a:rPr>
              <a:t>長期施策として想定</a:t>
            </a:r>
          </a:p>
        </p:txBody>
      </p:sp>
      <p:sp>
        <p:nvSpPr>
          <p:cNvPr id="12" name="矢印: 下 11">
            <a:extLst>
              <a:ext uri="{FF2B5EF4-FFF2-40B4-BE49-F238E27FC236}">
                <a16:creationId xmlns:a16="http://schemas.microsoft.com/office/drawing/2014/main" id="{06D6460A-91B3-70D3-5D14-11DFAD84B566}"/>
              </a:ext>
            </a:extLst>
          </p:cNvPr>
          <p:cNvSpPr/>
          <p:nvPr/>
        </p:nvSpPr>
        <p:spPr>
          <a:xfrm>
            <a:off x="4075746" y="1862186"/>
            <a:ext cx="1134047" cy="4292485"/>
          </a:xfrm>
          <a:prstGeom prst="downArrow">
            <a:avLst/>
          </a:prstGeom>
          <a:gradFill>
            <a:gsLst>
              <a:gs pos="0">
                <a:srgbClr val="FDFDFD"/>
              </a:gs>
              <a:gs pos="100000">
                <a:schemeClr val="accent3">
                  <a:lumMod val="20000"/>
                  <a:lumOff val="8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テキスト ボックス 19">
            <a:extLst>
              <a:ext uri="{FF2B5EF4-FFF2-40B4-BE49-F238E27FC236}">
                <a16:creationId xmlns:a16="http://schemas.microsoft.com/office/drawing/2014/main" id="{ED28F54A-7862-D06F-CFB5-B49F4F603D20}"/>
              </a:ext>
            </a:extLst>
          </p:cNvPr>
          <p:cNvSpPr txBox="1"/>
          <p:nvPr/>
        </p:nvSpPr>
        <p:spPr>
          <a:xfrm>
            <a:off x="3578823" y="5448078"/>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rPr>
              <a:t>LINE </a:t>
            </a:r>
            <a:r>
              <a:rPr kumimoji="1" lang="ja-JP" altLang="en-US" sz="1200" b="1" dirty="0">
                <a:latin typeface="メイリオ" panose="020B0604030504040204" pitchFamily="50" charset="-128"/>
                <a:ea typeface="メイリオ" panose="020B0604030504040204" pitchFamily="50" charset="-128"/>
              </a:rPr>
              <a:t>ミニアプリ</a:t>
            </a:r>
          </a:p>
        </p:txBody>
      </p:sp>
      <p:sp>
        <p:nvSpPr>
          <p:cNvPr id="21" name="テキスト ボックス 20">
            <a:extLst>
              <a:ext uri="{FF2B5EF4-FFF2-40B4-BE49-F238E27FC236}">
                <a16:creationId xmlns:a16="http://schemas.microsoft.com/office/drawing/2014/main" id="{56067991-5512-33D9-BAFF-EBE3BE4E55D1}"/>
              </a:ext>
            </a:extLst>
          </p:cNvPr>
          <p:cNvSpPr txBox="1"/>
          <p:nvPr/>
        </p:nvSpPr>
        <p:spPr>
          <a:xfrm>
            <a:off x="3578823" y="3803604"/>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rPr>
              <a:t>LINE</a:t>
            </a:r>
            <a:r>
              <a:rPr kumimoji="1" lang="ja-JP" altLang="en-US" sz="1200" b="1" dirty="0">
                <a:latin typeface="メイリオ" panose="020B0604030504040204" pitchFamily="50" charset="-128"/>
                <a:ea typeface="メイリオ" panose="020B0604030504040204" pitchFamily="50" charset="-128"/>
              </a:rPr>
              <a:t>友だち</a:t>
            </a:r>
          </a:p>
        </p:txBody>
      </p:sp>
      <p:sp>
        <p:nvSpPr>
          <p:cNvPr id="26" name="テキスト ボックス 25">
            <a:extLst>
              <a:ext uri="{FF2B5EF4-FFF2-40B4-BE49-F238E27FC236}">
                <a16:creationId xmlns:a16="http://schemas.microsoft.com/office/drawing/2014/main" id="{6182F190-E0A8-5EE1-D9A3-5B13AA74C67A}"/>
              </a:ext>
            </a:extLst>
          </p:cNvPr>
          <p:cNvSpPr txBox="1"/>
          <p:nvPr/>
        </p:nvSpPr>
        <p:spPr>
          <a:xfrm>
            <a:off x="3578823" y="3347800"/>
            <a:ext cx="2127892" cy="276999"/>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rPr>
              <a:t>離脱防止バナー</a:t>
            </a:r>
          </a:p>
        </p:txBody>
      </p:sp>
      <p:sp>
        <p:nvSpPr>
          <p:cNvPr id="36" name="テキスト ボックス 35">
            <a:extLst>
              <a:ext uri="{FF2B5EF4-FFF2-40B4-BE49-F238E27FC236}">
                <a16:creationId xmlns:a16="http://schemas.microsoft.com/office/drawing/2014/main" id="{D60AE015-CFAC-BAED-064E-14583E6CD31A}"/>
              </a:ext>
            </a:extLst>
          </p:cNvPr>
          <p:cNvSpPr txBox="1"/>
          <p:nvPr/>
        </p:nvSpPr>
        <p:spPr>
          <a:xfrm>
            <a:off x="3578823" y="1982662"/>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rPr>
              <a:t>接触</a:t>
            </a:r>
          </a:p>
        </p:txBody>
      </p:sp>
      <p:sp>
        <p:nvSpPr>
          <p:cNvPr id="39" name="テキスト ボックス 38">
            <a:extLst>
              <a:ext uri="{FF2B5EF4-FFF2-40B4-BE49-F238E27FC236}">
                <a16:creationId xmlns:a16="http://schemas.microsoft.com/office/drawing/2014/main" id="{BDD6B11B-082B-2EC1-7CA1-262D7193544D}"/>
              </a:ext>
            </a:extLst>
          </p:cNvPr>
          <p:cNvSpPr txBox="1"/>
          <p:nvPr/>
        </p:nvSpPr>
        <p:spPr>
          <a:xfrm>
            <a:off x="3629852" y="5901217"/>
            <a:ext cx="1913793" cy="461665"/>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rPr>
              <a:t>自社</a:t>
            </a:r>
            <a:r>
              <a:rPr kumimoji="1" lang="en-US" altLang="ja-JP" sz="1200" b="1" dirty="0">
                <a:latin typeface="メイリオ" panose="020B0604030504040204" pitchFamily="50" charset="-128"/>
                <a:ea typeface="メイリオ" panose="020B0604030504040204" pitchFamily="50" charset="-128"/>
              </a:rPr>
              <a:t>App/</a:t>
            </a:r>
            <a:r>
              <a:rPr kumimoji="1" lang="ja-JP" altLang="en-US" sz="1200" b="1" dirty="0">
                <a:latin typeface="メイリオ" panose="020B0604030504040204" pitchFamily="50" charset="-128"/>
                <a:ea typeface="メイリオ" panose="020B0604030504040204" pitchFamily="50" charset="-128"/>
              </a:rPr>
              <a:t>ネットワーク</a:t>
            </a:r>
            <a:endParaRPr kumimoji="1" lang="en-US" altLang="ja-JP" sz="1200" b="1" dirty="0">
              <a:latin typeface="メイリオ" panose="020B0604030504040204" pitchFamily="50" charset="-128"/>
              <a:ea typeface="メイリオ" panose="020B0604030504040204" pitchFamily="50" charset="-128"/>
            </a:endParaRPr>
          </a:p>
          <a:p>
            <a:pPr algn="ctr"/>
            <a:r>
              <a:rPr lang="ja-JP" altLang="en-US" sz="1200" b="1" dirty="0">
                <a:latin typeface="メイリオ" panose="020B0604030504040204" pitchFamily="50" charset="-128"/>
                <a:ea typeface="メイリオ" panose="020B0604030504040204" pitchFamily="50" charset="-128"/>
              </a:rPr>
              <a:t>（</a:t>
            </a:r>
            <a:r>
              <a:rPr lang="en-US" altLang="ja-JP" sz="1200" b="1" dirty="0">
                <a:latin typeface="メイリオ" panose="020B0604030504040204" pitchFamily="50" charset="-128"/>
                <a:ea typeface="メイリオ" panose="020B0604030504040204" pitchFamily="50" charset="-128"/>
              </a:rPr>
              <a:t>ID</a:t>
            </a:r>
            <a:r>
              <a:rPr lang="ja-JP" altLang="en-US" sz="1200" b="1" dirty="0">
                <a:latin typeface="メイリオ" panose="020B0604030504040204" pitchFamily="50" charset="-128"/>
                <a:ea typeface="メイリオ" panose="020B0604030504040204" pitchFamily="50" charset="-128"/>
              </a:rPr>
              <a:t>連携等の開発）</a:t>
            </a:r>
            <a:endParaRPr kumimoji="1" lang="ja-JP" altLang="en-US" sz="1200" b="1" dirty="0">
              <a:latin typeface="メイリオ" panose="020B0604030504040204" pitchFamily="50" charset="-128"/>
              <a:ea typeface="メイリオ" panose="020B0604030504040204" pitchFamily="50" charset="-128"/>
            </a:endParaRPr>
          </a:p>
        </p:txBody>
      </p:sp>
      <p:sp>
        <p:nvSpPr>
          <p:cNvPr id="40" name="テキスト ボックス 39">
            <a:extLst>
              <a:ext uri="{FF2B5EF4-FFF2-40B4-BE49-F238E27FC236}">
                <a16:creationId xmlns:a16="http://schemas.microsoft.com/office/drawing/2014/main" id="{5842F9D0-B398-BB40-E6E0-1806610B3ABF}"/>
              </a:ext>
            </a:extLst>
          </p:cNvPr>
          <p:cNvSpPr txBox="1"/>
          <p:nvPr/>
        </p:nvSpPr>
        <p:spPr>
          <a:xfrm>
            <a:off x="3578823" y="2650866"/>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rPr>
              <a:t>離脱</a:t>
            </a:r>
          </a:p>
        </p:txBody>
      </p:sp>
      <p:sp>
        <p:nvSpPr>
          <p:cNvPr id="42" name="テキスト ボックス 41">
            <a:extLst>
              <a:ext uri="{FF2B5EF4-FFF2-40B4-BE49-F238E27FC236}">
                <a16:creationId xmlns:a16="http://schemas.microsoft.com/office/drawing/2014/main" id="{65925534-D40D-9B46-2A4B-52FA9BA609A2}"/>
              </a:ext>
            </a:extLst>
          </p:cNvPr>
          <p:cNvSpPr txBox="1"/>
          <p:nvPr/>
        </p:nvSpPr>
        <p:spPr>
          <a:xfrm>
            <a:off x="3578823" y="4271087"/>
            <a:ext cx="2127892" cy="276999"/>
          </a:xfrm>
          <a:prstGeom prst="rect">
            <a:avLst/>
          </a:prstGeom>
          <a:noFill/>
        </p:spPr>
        <p:txBody>
          <a:bodyPr wrap="square">
            <a:spAutoFit/>
          </a:bodyPr>
          <a:lstStyle/>
          <a:p>
            <a:pPr algn="ctr"/>
            <a:r>
              <a:rPr lang="en-US" altLang="ja-JP" sz="1200" b="1" dirty="0">
                <a:latin typeface="メイリオ" panose="020B0604030504040204" pitchFamily="50" charset="-128"/>
                <a:ea typeface="メイリオ" panose="020B0604030504040204" pitchFamily="50" charset="-128"/>
              </a:rPr>
              <a:t>LINE</a:t>
            </a:r>
            <a:r>
              <a:rPr lang="ja-JP" altLang="en-US" sz="1200" b="1" dirty="0">
                <a:latin typeface="メイリオ" panose="020B0604030504040204" pitchFamily="50" charset="-128"/>
                <a:ea typeface="メイリオ" panose="020B0604030504040204" pitchFamily="50" charset="-128"/>
              </a:rPr>
              <a:t>でログイン</a:t>
            </a:r>
          </a:p>
        </p:txBody>
      </p:sp>
      <p:sp>
        <p:nvSpPr>
          <p:cNvPr id="29" name="台形 28">
            <a:extLst>
              <a:ext uri="{FF2B5EF4-FFF2-40B4-BE49-F238E27FC236}">
                <a16:creationId xmlns:a16="http://schemas.microsoft.com/office/drawing/2014/main" id="{631B5A0E-480A-21DA-478B-1C86D29B43FC}"/>
              </a:ext>
            </a:extLst>
          </p:cNvPr>
          <p:cNvSpPr/>
          <p:nvPr/>
        </p:nvSpPr>
        <p:spPr>
          <a:xfrm rot="10800000">
            <a:off x="7611914" y="3620411"/>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31" name="テキスト ボックス 30">
            <a:extLst>
              <a:ext uri="{FF2B5EF4-FFF2-40B4-BE49-F238E27FC236}">
                <a16:creationId xmlns:a16="http://schemas.microsoft.com/office/drawing/2014/main" id="{2B674F16-FAA2-578A-0AB9-863BDC58B75D}"/>
              </a:ext>
            </a:extLst>
          </p:cNvPr>
          <p:cNvSpPr txBox="1"/>
          <p:nvPr/>
        </p:nvSpPr>
        <p:spPr>
          <a:xfrm>
            <a:off x="7611914" y="3677135"/>
            <a:ext cx="1826395" cy="400110"/>
          </a:xfrm>
          <a:prstGeom prst="rect">
            <a:avLst/>
          </a:prstGeom>
          <a:noFill/>
        </p:spPr>
        <p:txBody>
          <a:bodyPr wrap="square">
            <a:spAutoFit/>
          </a:body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開始時期・通える頻度</a:t>
            </a:r>
            <a:endParaRPr kumimoji="1" lang="en-US" altLang="ja-JP" sz="1000" b="1" dirty="0">
              <a:solidFill>
                <a:schemeClr val="bg1"/>
              </a:solidFill>
              <a:latin typeface="メイリオ" panose="020B0604030504040204" pitchFamily="50" charset="-128"/>
              <a:ea typeface="メイリオ" panose="020B0604030504040204" pitchFamily="50" charset="-128"/>
            </a:endParaRPr>
          </a:p>
          <a:p>
            <a:pPr algn="ctr"/>
            <a:r>
              <a:rPr lang="ja-JP" altLang="en-US" sz="1000" b="1" dirty="0">
                <a:solidFill>
                  <a:schemeClr val="bg1"/>
                </a:solidFill>
                <a:latin typeface="メイリオ" panose="020B0604030504040204" pitchFamily="50" charset="-128"/>
                <a:ea typeface="メイリオ" panose="020B0604030504040204" pitchFamily="50" charset="-128"/>
              </a:rPr>
              <a:t>を確認</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34" name="台形 33">
            <a:extLst>
              <a:ext uri="{FF2B5EF4-FFF2-40B4-BE49-F238E27FC236}">
                <a16:creationId xmlns:a16="http://schemas.microsoft.com/office/drawing/2014/main" id="{BF27E5AF-6A9E-D2DF-F51B-E8DA545CA345}"/>
              </a:ext>
            </a:extLst>
          </p:cNvPr>
          <p:cNvSpPr/>
          <p:nvPr/>
        </p:nvSpPr>
        <p:spPr>
          <a:xfrm rot="10800000">
            <a:off x="5422833" y="2137335"/>
            <a:ext cx="1826395" cy="4058005"/>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7" name="テキスト ボックス 36">
            <a:extLst>
              <a:ext uri="{FF2B5EF4-FFF2-40B4-BE49-F238E27FC236}">
                <a16:creationId xmlns:a16="http://schemas.microsoft.com/office/drawing/2014/main" id="{21C26183-5619-0076-CEE1-600FD18943B4}"/>
              </a:ext>
            </a:extLst>
          </p:cNvPr>
          <p:cNvSpPr txBox="1"/>
          <p:nvPr/>
        </p:nvSpPr>
        <p:spPr>
          <a:xfrm>
            <a:off x="5379134" y="3311809"/>
            <a:ext cx="1913793" cy="738664"/>
          </a:xfrm>
          <a:prstGeom prst="rect">
            <a:avLst/>
          </a:prstGeom>
          <a:noFill/>
        </p:spPr>
        <p:txBody>
          <a:bodyPr wrap="square">
            <a:spAutoFit/>
          </a:bodyPr>
          <a:lstStyle/>
          <a:p>
            <a:pPr algn="ctr"/>
            <a:r>
              <a:rPr kumimoji="1" lang="ja-JP" altLang="en-US" sz="1200" dirty="0">
                <a:solidFill>
                  <a:schemeClr val="bg1"/>
                </a:solidFill>
                <a:latin typeface="メイリオ" panose="020B0604030504040204" pitchFamily="50" charset="-128"/>
                <a:ea typeface="メイリオ" panose="020B0604030504040204" pitchFamily="50" charset="-128"/>
              </a:rPr>
              <a:t>不明</a:t>
            </a:r>
            <a:endParaRPr kumimoji="1" lang="en-US" altLang="ja-JP" sz="1200" dirty="0">
              <a:solidFill>
                <a:schemeClr val="bg1"/>
              </a:solidFill>
              <a:latin typeface="メイリオ" panose="020B0604030504040204" pitchFamily="50" charset="-128"/>
              <a:ea typeface="メイリオ" panose="020B0604030504040204" pitchFamily="50" charset="-128"/>
            </a:endParaRPr>
          </a:p>
          <a:p>
            <a:pPr algn="ctr"/>
            <a:endParaRPr lang="en-US" altLang="ja-JP" sz="1000" b="1" dirty="0">
              <a:solidFill>
                <a:schemeClr val="bg1"/>
              </a:solidFill>
              <a:latin typeface="メイリオ" panose="020B0604030504040204" pitchFamily="50" charset="-128"/>
              <a:ea typeface="メイリオ" panose="020B0604030504040204" pitchFamily="50" charset="-128"/>
            </a:endParaRPr>
          </a:p>
          <a:p>
            <a:pPr algn="ctr"/>
            <a:r>
              <a:rPr lang="en-US" altLang="ja-JP" sz="1000" b="1" dirty="0">
                <a:solidFill>
                  <a:schemeClr val="bg1"/>
                </a:solidFill>
                <a:latin typeface="メイリオ" panose="020B0604030504040204" pitchFamily="50" charset="-128"/>
                <a:ea typeface="メイリオ" panose="020B0604030504040204" pitchFamily="50" charset="-128"/>
              </a:rPr>
              <a:t>※</a:t>
            </a:r>
            <a:r>
              <a:rPr lang="ja-JP" altLang="en-US" sz="1000" b="1" dirty="0">
                <a:solidFill>
                  <a:schemeClr val="bg1"/>
                </a:solidFill>
                <a:latin typeface="メイリオ" panose="020B0604030504040204" pitchFamily="50" charset="-128"/>
                <a:ea typeface="メイリオ" panose="020B0604030504040204" pitchFamily="50" charset="-128"/>
              </a:rPr>
              <a:t>ヒアリングの上、</a:t>
            </a:r>
            <a:endParaRPr lang="en-US" altLang="ja-JP" sz="1000" b="1" dirty="0">
              <a:solidFill>
                <a:schemeClr val="bg1"/>
              </a:solidFill>
              <a:latin typeface="メイリオ" panose="020B0604030504040204" pitchFamily="50" charset="-128"/>
              <a:ea typeface="メイリオ" panose="020B0604030504040204" pitchFamily="50" charset="-128"/>
            </a:endParaRPr>
          </a:p>
          <a:p>
            <a:pPr algn="ctr"/>
            <a:r>
              <a:rPr kumimoji="1" lang="ja-JP" altLang="en-US" sz="1000" b="1" dirty="0">
                <a:solidFill>
                  <a:schemeClr val="bg1"/>
                </a:solidFill>
                <a:latin typeface="メイリオ" panose="020B0604030504040204" pitchFamily="50" charset="-128"/>
                <a:ea typeface="メイリオ" panose="020B0604030504040204" pitchFamily="50" charset="-128"/>
              </a:rPr>
              <a:t>不足施策を明示</a:t>
            </a:r>
          </a:p>
        </p:txBody>
      </p:sp>
    </p:spTree>
    <p:extLst>
      <p:ext uri="{BB962C8B-B14F-4D97-AF65-F5344CB8AC3E}">
        <p14:creationId xmlns:p14="http://schemas.microsoft.com/office/powerpoint/2010/main" val="993846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EBFBA-F50F-49FF-6262-A65BC71D24BA}"/>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54A58725-F6F0-8B49-3CD7-5CBEAA430892}"/>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C83D44E2-DD1A-B705-6239-227268DFCE80}"/>
              </a:ext>
            </a:extLst>
          </p:cNvPr>
          <p:cNvSpPr/>
          <p:nvPr/>
        </p:nvSpPr>
        <p:spPr>
          <a:xfrm>
            <a:off x="788963" y="793451"/>
            <a:ext cx="8328074" cy="3817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LINE誘導から1.5〜3%程度のユーザーが有効化/マネタイズ可能（社内想定の目安）。</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貴社集客課題に合わせて、LINE公式アカウントの構築モデルを活用しながら集客効率を改善。</a:t>
            </a:r>
          </a:p>
        </p:txBody>
      </p:sp>
      <p:cxnSp>
        <p:nvCxnSpPr>
          <p:cNvPr id="5" name="直線コネクタ 4">
            <a:extLst>
              <a:ext uri="{FF2B5EF4-FFF2-40B4-BE49-F238E27FC236}">
                <a16:creationId xmlns:a16="http://schemas.microsoft.com/office/drawing/2014/main" id="{73533EC4-DA04-2252-5E95-8206105B300C}"/>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DEFE914D-32AD-C9E0-A47B-60FB84F7995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Meiryo"/>
                <a:sym typeface="Meiryo"/>
              </a:rPr>
              <a:t>LINE</a:t>
            </a:r>
            <a:r>
              <a:rPr lang="ja-JP" altLang="en-US" sz="1600" b="1" dirty="0">
                <a:solidFill>
                  <a:srgbClr val="002060"/>
                </a:solidFill>
                <a:latin typeface="メイリオ"/>
                <a:ea typeface="メイリオ"/>
                <a:cs typeface="Meiryo"/>
                <a:sym typeface="Meiryo"/>
              </a:rPr>
              <a:t>公式アカウントを検討する背景</a:t>
            </a:r>
            <a:endParaRPr sz="1600" b="1" dirty="0">
              <a:solidFill>
                <a:srgbClr val="002060"/>
              </a:solidFill>
              <a:latin typeface="メイリオ"/>
              <a:ea typeface="メイリオ"/>
              <a:cs typeface="Meiryo"/>
              <a:sym typeface="Meiryo"/>
            </a:endParaRPr>
          </a:p>
        </p:txBody>
      </p:sp>
      <p:sp>
        <p:nvSpPr>
          <p:cNvPr id="2" name="正方形/長方形 1">
            <a:extLst>
              <a:ext uri="{FF2B5EF4-FFF2-40B4-BE49-F238E27FC236}">
                <a16:creationId xmlns:a16="http://schemas.microsoft.com/office/drawing/2014/main" id="{EEF4BB1D-1E6E-955A-85D2-2DAF3FCF967B}"/>
              </a:ext>
            </a:extLst>
          </p:cNvPr>
          <p:cNvSpPr/>
          <p:nvPr/>
        </p:nvSpPr>
        <p:spPr>
          <a:xfrm>
            <a:off x="368444" y="1582429"/>
            <a:ext cx="1425879"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latin typeface="メイリオ" panose="020B0604030504040204" pitchFamily="50" charset="-128"/>
                <a:ea typeface="メイリオ" panose="020B0604030504040204" pitchFamily="50" charset="-128"/>
              </a:rPr>
              <a:t>流入元</a:t>
            </a:r>
          </a:p>
        </p:txBody>
      </p:sp>
      <p:sp>
        <p:nvSpPr>
          <p:cNvPr id="8" name="正方形/長方形 7">
            <a:extLst>
              <a:ext uri="{FF2B5EF4-FFF2-40B4-BE49-F238E27FC236}">
                <a16:creationId xmlns:a16="http://schemas.microsoft.com/office/drawing/2014/main" id="{531C33D5-FD17-057E-9ABE-377B289F9790}"/>
              </a:ext>
            </a:extLst>
          </p:cNvPr>
          <p:cNvSpPr/>
          <p:nvPr/>
        </p:nvSpPr>
        <p:spPr>
          <a:xfrm>
            <a:off x="1870673" y="1582428"/>
            <a:ext cx="1425879" cy="314059"/>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rPr>
              <a:t>LINE</a:t>
            </a:r>
            <a:r>
              <a:rPr kumimoji="1" lang="ja-JP" altLang="en-US" sz="1400" b="1" dirty="0">
                <a:latin typeface="メイリオ" panose="020B0604030504040204" pitchFamily="50" charset="-128"/>
                <a:ea typeface="メイリオ" panose="020B0604030504040204" pitchFamily="50" charset="-128"/>
              </a:rPr>
              <a:t>誘導</a:t>
            </a:r>
          </a:p>
        </p:txBody>
      </p:sp>
      <p:sp>
        <p:nvSpPr>
          <p:cNvPr id="10" name="正方形/長方形 9">
            <a:extLst>
              <a:ext uri="{FF2B5EF4-FFF2-40B4-BE49-F238E27FC236}">
                <a16:creationId xmlns:a16="http://schemas.microsoft.com/office/drawing/2014/main" id="{AFB52975-24F0-82CC-8A36-A65D2F539FA3}"/>
              </a:ext>
            </a:extLst>
          </p:cNvPr>
          <p:cNvSpPr/>
          <p:nvPr/>
        </p:nvSpPr>
        <p:spPr>
          <a:xfrm>
            <a:off x="3372902" y="1582428"/>
            <a:ext cx="4320230"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rPr>
              <a:t>具体の施策方針</a:t>
            </a:r>
          </a:p>
        </p:txBody>
      </p:sp>
      <p:sp>
        <p:nvSpPr>
          <p:cNvPr id="34" name="矢印: 右 33">
            <a:extLst>
              <a:ext uri="{FF2B5EF4-FFF2-40B4-BE49-F238E27FC236}">
                <a16:creationId xmlns:a16="http://schemas.microsoft.com/office/drawing/2014/main" id="{173A008B-7B40-3834-688E-168FABDF16B8}"/>
              </a:ext>
            </a:extLst>
          </p:cNvPr>
          <p:cNvSpPr/>
          <p:nvPr/>
        </p:nvSpPr>
        <p:spPr>
          <a:xfrm>
            <a:off x="1080889" y="228037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正方形/長方形 36">
            <a:extLst>
              <a:ext uri="{FF2B5EF4-FFF2-40B4-BE49-F238E27FC236}">
                <a16:creationId xmlns:a16="http://schemas.microsoft.com/office/drawing/2014/main" id="{FD70E0F9-3A37-9791-A2F1-DB53DFA521CA}"/>
              </a:ext>
            </a:extLst>
          </p:cNvPr>
          <p:cNvSpPr/>
          <p:nvPr/>
        </p:nvSpPr>
        <p:spPr>
          <a:xfrm>
            <a:off x="1870673" y="1990823"/>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a:solidFill>
                  <a:schemeClr val="tx1">
                    <a:lumMod val="75000"/>
                    <a:lumOff val="25000"/>
                  </a:schemeClr>
                </a:solidFill>
                <a:latin typeface="メイリオ" panose="020B0604030504040204" pitchFamily="50" charset="-128"/>
                <a:ea typeface="メイリオ" panose="020B0604030504040204" pitchFamily="50" charset="-128"/>
              </a:rPr>
              <a:t>離脱防止</a:t>
            </a:r>
            <a:endParaRPr lang="en-US" altLang="ja-JP" sz="10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rPr>
              <a:t>サイト上ポップアップ</a:t>
            </a:r>
          </a:p>
        </p:txBody>
      </p:sp>
      <p:sp>
        <p:nvSpPr>
          <p:cNvPr id="39" name="正方形/長方形 38">
            <a:extLst>
              <a:ext uri="{FF2B5EF4-FFF2-40B4-BE49-F238E27FC236}">
                <a16:creationId xmlns:a16="http://schemas.microsoft.com/office/drawing/2014/main" id="{BC93A6AA-67BF-84C0-0945-45084140FCCE}"/>
              </a:ext>
            </a:extLst>
          </p:cNvPr>
          <p:cNvSpPr/>
          <p:nvPr/>
        </p:nvSpPr>
        <p:spPr>
          <a:xfrm>
            <a:off x="1870673" y="2604009"/>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rPr>
              <a:t>離脱防止</a:t>
            </a:r>
            <a:endParaRPr lang="en-US" altLang="ja-JP" sz="10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rPr>
              <a:t>サイト上ポップアップ</a:t>
            </a:r>
          </a:p>
        </p:txBody>
      </p:sp>
      <p:sp>
        <p:nvSpPr>
          <p:cNvPr id="41" name="正方形/長方形 40">
            <a:extLst>
              <a:ext uri="{FF2B5EF4-FFF2-40B4-BE49-F238E27FC236}">
                <a16:creationId xmlns:a16="http://schemas.microsoft.com/office/drawing/2014/main" id="{1B7DB214-408D-A44C-E3F0-2C35AF01311F}"/>
              </a:ext>
            </a:extLst>
          </p:cNvPr>
          <p:cNvSpPr/>
          <p:nvPr/>
        </p:nvSpPr>
        <p:spPr>
          <a:xfrm>
            <a:off x="368444" y="1990823"/>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250">
                <a:solidFill>
                  <a:schemeClr val="tx1">
                    <a:lumMod val="75000"/>
                    <a:lumOff val="25000"/>
                  </a:schemeClr>
                </a:solidFill>
                <a:latin typeface="メイリオ" panose="020B0604030504040204" pitchFamily="50" charset="-128"/>
                <a:ea typeface="メイリオ" panose="020B0604030504040204" pitchFamily="50" charset="-128"/>
              </a:rPr>
              <a:t>SEO</a:t>
            </a:r>
            <a:r>
              <a:rPr lang="ja-JP" altLang="en-US" sz="1250">
                <a:solidFill>
                  <a:schemeClr val="tx1">
                    <a:lumMod val="75000"/>
                    <a:lumOff val="25000"/>
                  </a:schemeClr>
                </a:solidFill>
                <a:latin typeface="メイリオ" panose="020B0604030504040204" pitchFamily="50" charset="-128"/>
                <a:ea typeface="メイリオ" panose="020B0604030504040204" pitchFamily="50" charset="-128"/>
              </a:rPr>
              <a:t>・</a:t>
            </a:r>
            <a:r>
              <a:rPr lang="en-US" altLang="ja-JP" sz="1250" dirty="0">
                <a:solidFill>
                  <a:schemeClr val="tx1">
                    <a:lumMod val="75000"/>
                    <a:lumOff val="25000"/>
                  </a:schemeClr>
                </a:solidFill>
                <a:latin typeface="メイリオ" panose="020B0604030504040204" pitchFamily="50" charset="-128"/>
                <a:ea typeface="メイリオ" panose="020B0604030504040204" pitchFamily="50" charset="-128"/>
              </a:rPr>
              <a:t>AIO</a:t>
            </a:r>
            <a:endParaRPr lang="ja-JP" altLang="en-US" sz="125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43" name="正方形/長方形 42">
            <a:extLst>
              <a:ext uri="{FF2B5EF4-FFF2-40B4-BE49-F238E27FC236}">
                <a16:creationId xmlns:a16="http://schemas.microsoft.com/office/drawing/2014/main" id="{4FF021F0-AD46-9EC1-0810-C474BA8335D8}"/>
              </a:ext>
            </a:extLst>
          </p:cNvPr>
          <p:cNvSpPr/>
          <p:nvPr/>
        </p:nvSpPr>
        <p:spPr>
          <a:xfrm>
            <a:off x="368444" y="2604009"/>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50" dirty="0">
                <a:solidFill>
                  <a:schemeClr val="tx1">
                    <a:lumMod val="75000"/>
                    <a:lumOff val="25000"/>
                  </a:schemeClr>
                </a:solidFill>
                <a:latin typeface="メイリオ" panose="020B0604030504040204" pitchFamily="50" charset="-128"/>
                <a:ea typeface="メイリオ" panose="020B0604030504040204" pitchFamily="50" charset="-128"/>
              </a:rPr>
              <a:t>広告</a:t>
            </a:r>
          </a:p>
        </p:txBody>
      </p:sp>
      <p:sp>
        <p:nvSpPr>
          <p:cNvPr id="46" name="正方形/長方形 45">
            <a:extLst>
              <a:ext uri="{FF2B5EF4-FFF2-40B4-BE49-F238E27FC236}">
                <a16:creationId xmlns:a16="http://schemas.microsoft.com/office/drawing/2014/main" id="{8A474FF7-4108-C39F-A5EC-7D5691573134}"/>
              </a:ext>
            </a:extLst>
          </p:cNvPr>
          <p:cNvSpPr/>
          <p:nvPr/>
        </p:nvSpPr>
        <p:spPr>
          <a:xfrm>
            <a:off x="3372902" y="1985363"/>
            <a:ext cx="4320230" cy="1177176"/>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48" name="矢印: 右 47">
            <a:extLst>
              <a:ext uri="{FF2B5EF4-FFF2-40B4-BE49-F238E27FC236}">
                <a16:creationId xmlns:a16="http://schemas.microsoft.com/office/drawing/2014/main" id="{7386A58D-9B89-4DB0-7216-4E1CB6B454A9}"/>
              </a:ext>
            </a:extLst>
          </p:cNvPr>
          <p:cNvSpPr/>
          <p:nvPr/>
        </p:nvSpPr>
        <p:spPr>
          <a:xfrm>
            <a:off x="1080891" y="323221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矢印: 右 49">
            <a:extLst>
              <a:ext uri="{FF2B5EF4-FFF2-40B4-BE49-F238E27FC236}">
                <a16:creationId xmlns:a16="http://schemas.microsoft.com/office/drawing/2014/main" id="{D3CE675D-8A5C-D632-6FDA-1C8A7E291893}"/>
              </a:ext>
            </a:extLst>
          </p:cNvPr>
          <p:cNvSpPr/>
          <p:nvPr/>
        </p:nvSpPr>
        <p:spPr>
          <a:xfrm>
            <a:off x="1080890" y="3933285"/>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1" name="直線コネクタ 50">
            <a:extLst>
              <a:ext uri="{FF2B5EF4-FFF2-40B4-BE49-F238E27FC236}">
                <a16:creationId xmlns:a16="http://schemas.microsoft.com/office/drawing/2014/main" id="{8397AEEA-4837-54CF-13BA-F31B80D1393F}"/>
              </a:ext>
            </a:extLst>
          </p:cNvPr>
          <p:cNvCxnSpPr>
            <a:cxnSpLocks/>
          </p:cNvCxnSpPr>
          <p:nvPr/>
        </p:nvCxnSpPr>
        <p:spPr>
          <a:xfrm flipV="1">
            <a:off x="368444" y="3864601"/>
            <a:ext cx="7324688" cy="1"/>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52" name="正方形/長方形 51">
            <a:extLst>
              <a:ext uri="{FF2B5EF4-FFF2-40B4-BE49-F238E27FC236}">
                <a16:creationId xmlns:a16="http://schemas.microsoft.com/office/drawing/2014/main" id="{24D1C472-525A-CFB1-3C6E-3053F2619881}"/>
              </a:ext>
            </a:extLst>
          </p:cNvPr>
          <p:cNvSpPr/>
          <p:nvPr/>
        </p:nvSpPr>
        <p:spPr>
          <a:xfrm>
            <a:off x="368444" y="3217195"/>
            <a:ext cx="2928107"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150" dirty="0">
                <a:solidFill>
                  <a:schemeClr val="tx1">
                    <a:lumMod val="65000"/>
                    <a:lumOff val="35000"/>
                  </a:schemeClr>
                </a:solidFill>
                <a:latin typeface="メイリオ" panose="020B0604030504040204" pitchFamily="50" charset="-128"/>
                <a:ea typeface="メイリオ" panose="020B0604030504040204" pitchFamily="50" charset="-128"/>
              </a:rPr>
              <a:t>LINE</a:t>
            </a:r>
            <a:r>
              <a:rPr kumimoji="1" lang="ja-JP" altLang="en-US" sz="1150" dirty="0">
                <a:solidFill>
                  <a:schemeClr val="tx1">
                    <a:lumMod val="65000"/>
                    <a:lumOff val="35000"/>
                  </a:schemeClr>
                </a:solidFill>
                <a:latin typeface="メイリオ" panose="020B0604030504040204" pitchFamily="50" charset="-128"/>
                <a:ea typeface="メイリオ" panose="020B0604030504040204" pitchFamily="50" charset="-128"/>
              </a:rPr>
              <a:t>広告（</a:t>
            </a:r>
            <a:r>
              <a:rPr kumimoji="1" lang="en-US" altLang="ja-JP" sz="1150" dirty="0">
                <a:solidFill>
                  <a:schemeClr val="tx1">
                    <a:lumMod val="65000"/>
                    <a:lumOff val="35000"/>
                  </a:schemeClr>
                </a:solidFill>
                <a:latin typeface="メイリオ" panose="020B0604030504040204" pitchFamily="50" charset="-128"/>
                <a:ea typeface="メイリオ" panose="020B0604030504040204" pitchFamily="50" charset="-128"/>
              </a:rPr>
              <a:t>CPF</a:t>
            </a:r>
            <a:r>
              <a:rPr kumimoji="1" lang="ja-JP" altLang="en-US" sz="1150" dirty="0">
                <a:solidFill>
                  <a:schemeClr val="tx1">
                    <a:lumMod val="65000"/>
                    <a:lumOff val="35000"/>
                  </a:schemeClr>
                </a:solidFill>
                <a:latin typeface="メイリオ" panose="020B0604030504040204" pitchFamily="50" charset="-128"/>
                <a:ea typeface="メイリオ" panose="020B0604030504040204" pitchFamily="50" charset="-128"/>
              </a:rPr>
              <a:t>配信）</a:t>
            </a:r>
            <a:endParaRPr kumimoji="1" lang="en-US" altLang="ja-JP" sz="115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ja-JP" altLang="en-US" sz="1150" dirty="0">
                <a:solidFill>
                  <a:schemeClr val="tx1">
                    <a:lumMod val="65000"/>
                    <a:lumOff val="35000"/>
                  </a:schemeClr>
                </a:solidFill>
                <a:latin typeface="メイリオ" panose="020B0604030504040204" pitchFamily="50" charset="-128"/>
                <a:ea typeface="メイリオ" panose="020B0604030504040204" pitchFamily="50" charset="-128"/>
              </a:rPr>
              <a:t>サイト上ポップアップ</a:t>
            </a:r>
            <a:endParaRPr kumimoji="1" lang="ja-JP" altLang="en-US" sz="115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3" name="正方形/長方形 52">
            <a:extLst>
              <a:ext uri="{FF2B5EF4-FFF2-40B4-BE49-F238E27FC236}">
                <a16:creationId xmlns:a16="http://schemas.microsoft.com/office/drawing/2014/main" id="{CBD188BB-0EA8-4510-DCA0-2AEE1B7CD5EB}"/>
              </a:ext>
            </a:extLst>
          </p:cNvPr>
          <p:cNvSpPr/>
          <p:nvPr/>
        </p:nvSpPr>
        <p:spPr>
          <a:xfrm>
            <a:off x="1870673" y="395347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通知メッセ</a:t>
            </a:r>
          </a:p>
        </p:txBody>
      </p:sp>
      <p:sp>
        <p:nvSpPr>
          <p:cNvPr id="54" name="正方形/長方形 53">
            <a:extLst>
              <a:ext uri="{FF2B5EF4-FFF2-40B4-BE49-F238E27FC236}">
                <a16:creationId xmlns:a16="http://schemas.microsoft.com/office/drawing/2014/main" id="{29E6B5C9-2FD2-FC57-1789-05FA5F38E1F7}"/>
              </a:ext>
            </a:extLst>
          </p:cNvPr>
          <p:cNvSpPr/>
          <p:nvPr/>
        </p:nvSpPr>
        <p:spPr>
          <a:xfrm>
            <a:off x="368444" y="395347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50" dirty="0">
                <a:solidFill>
                  <a:schemeClr val="tx1">
                    <a:lumMod val="65000"/>
                    <a:lumOff val="35000"/>
                  </a:schemeClr>
                </a:solidFill>
                <a:latin typeface="メイリオ" panose="020B0604030504040204" pitchFamily="50" charset="-128"/>
                <a:ea typeface="メイリオ" panose="020B0604030504040204" pitchFamily="50" charset="-128"/>
              </a:rPr>
              <a:t>CV</a:t>
            </a:r>
            <a:r>
              <a:rPr kumimoji="1" lang="ja-JP" altLang="en-US" sz="1250" dirty="0">
                <a:solidFill>
                  <a:schemeClr val="tx1">
                    <a:lumMod val="65000"/>
                    <a:lumOff val="35000"/>
                  </a:schemeClr>
                </a:solidFill>
                <a:latin typeface="メイリオ" panose="020B0604030504040204" pitchFamily="50" charset="-128"/>
                <a:ea typeface="メイリオ" panose="020B0604030504040204" pitchFamily="50" charset="-128"/>
              </a:rPr>
              <a:t>・</a:t>
            </a:r>
            <a:r>
              <a:rPr kumimoji="1" lang="en-US" altLang="ja-JP" sz="1250" dirty="0">
                <a:solidFill>
                  <a:schemeClr val="tx1">
                    <a:lumMod val="65000"/>
                    <a:lumOff val="35000"/>
                  </a:schemeClr>
                </a:solidFill>
                <a:latin typeface="メイリオ" panose="020B0604030504040204" pitchFamily="50" charset="-128"/>
                <a:ea typeface="メイリオ" panose="020B0604030504040204" pitchFamily="50" charset="-128"/>
              </a:rPr>
              <a:t>mcv</a:t>
            </a:r>
            <a:r>
              <a:rPr kumimoji="1" lang="ja-JP" altLang="en-US" sz="1250" dirty="0">
                <a:solidFill>
                  <a:schemeClr val="tx1">
                    <a:lumMod val="65000"/>
                    <a:lumOff val="35000"/>
                  </a:schemeClr>
                </a:solidFill>
                <a:latin typeface="メイリオ" panose="020B0604030504040204" pitchFamily="50" charset="-128"/>
                <a:ea typeface="メイリオ" panose="020B0604030504040204" pitchFamily="50" charset="-128"/>
              </a:rPr>
              <a:t>済</a:t>
            </a:r>
          </a:p>
        </p:txBody>
      </p:sp>
      <p:sp>
        <p:nvSpPr>
          <p:cNvPr id="55" name="正方形/長方形 54">
            <a:extLst>
              <a:ext uri="{FF2B5EF4-FFF2-40B4-BE49-F238E27FC236}">
                <a16:creationId xmlns:a16="http://schemas.microsoft.com/office/drawing/2014/main" id="{533AD0C0-7276-FA17-9FD7-734635201CB2}"/>
              </a:ext>
            </a:extLst>
          </p:cNvPr>
          <p:cNvSpPr/>
          <p:nvPr/>
        </p:nvSpPr>
        <p:spPr>
          <a:xfrm>
            <a:off x="3372901" y="3217195"/>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6" name="正方形/長方形 55">
            <a:extLst>
              <a:ext uri="{FF2B5EF4-FFF2-40B4-BE49-F238E27FC236}">
                <a16:creationId xmlns:a16="http://schemas.microsoft.com/office/drawing/2014/main" id="{415D5861-B108-7E0A-3377-5601EF82149A}"/>
              </a:ext>
            </a:extLst>
          </p:cNvPr>
          <p:cNvSpPr/>
          <p:nvPr/>
        </p:nvSpPr>
        <p:spPr>
          <a:xfrm>
            <a:off x="3372901" y="3953479"/>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8" name="矢印: 右 57">
            <a:extLst>
              <a:ext uri="{FF2B5EF4-FFF2-40B4-BE49-F238E27FC236}">
                <a16:creationId xmlns:a16="http://schemas.microsoft.com/office/drawing/2014/main" id="{94AAFD78-CFCD-8AAC-C5DE-8F785D90C401}"/>
              </a:ext>
            </a:extLst>
          </p:cNvPr>
          <p:cNvSpPr/>
          <p:nvPr/>
        </p:nvSpPr>
        <p:spPr>
          <a:xfrm>
            <a:off x="1080889" y="458031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矢印: 右 59">
            <a:extLst>
              <a:ext uri="{FF2B5EF4-FFF2-40B4-BE49-F238E27FC236}">
                <a16:creationId xmlns:a16="http://schemas.microsoft.com/office/drawing/2014/main" id="{4D8298BD-6809-4C50-E889-0C5F779DE209}"/>
              </a:ext>
            </a:extLst>
          </p:cNvPr>
          <p:cNvSpPr/>
          <p:nvPr/>
        </p:nvSpPr>
        <p:spPr>
          <a:xfrm>
            <a:off x="1080889" y="581195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矢印: 右 61">
            <a:extLst>
              <a:ext uri="{FF2B5EF4-FFF2-40B4-BE49-F238E27FC236}">
                <a16:creationId xmlns:a16="http://schemas.microsoft.com/office/drawing/2014/main" id="{01F0D3B8-3119-304D-228E-ED46B6CAB67D}"/>
              </a:ext>
            </a:extLst>
          </p:cNvPr>
          <p:cNvSpPr/>
          <p:nvPr/>
        </p:nvSpPr>
        <p:spPr>
          <a:xfrm>
            <a:off x="1080889" y="5201704"/>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4" name="正方形/長方形 63">
            <a:extLst>
              <a:ext uri="{FF2B5EF4-FFF2-40B4-BE49-F238E27FC236}">
                <a16:creationId xmlns:a16="http://schemas.microsoft.com/office/drawing/2014/main" id="{9751A61D-8342-2E71-49E2-6F2A585210CF}"/>
              </a:ext>
            </a:extLst>
          </p:cNvPr>
          <p:cNvSpPr/>
          <p:nvPr/>
        </p:nvSpPr>
        <p:spPr>
          <a:xfrm>
            <a:off x="1870673" y="4572123"/>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サンクス</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LINE</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誘導</a:t>
            </a:r>
          </a:p>
        </p:txBody>
      </p:sp>
      <p:sp>
        <p:nvSpPr>
          <p:cNvPr id="66" name="正方形/長方形 65">
            <a:extLst>
              <a:ext uri="{FF2B5EF4-FFF2-40B4-BE49-F238E27FC236}">
                <a16:creationId xmlns:a16="http://schemas.microsoft.com/office/drawing/2014/main" id="{069B86FC-7AC9-2579-6747-94409852E6A9}"/>
              </a:ext>
            </a:extLst>
          </p:cNvPr>
          <p:cNvSpPr/>
          <p:nvPr/>
        </p:nvSpPr>
        <p:spPr>
          <a:xfrm>
            <a:off x="368444" y="4572123"/>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50" dirty="0">
                <a:solidFill>
                  <a:schemeClr val="tx1">
                    <a:lumMod val="65000"/>
                    <a:lumOff val="35000"/>
                  </a:schemeClr>
                </a:solidFill>
                <a:latin typeface="メイリオ" panose="020B0604030504040204" pitchFamily="50" charset="-128"/>
                <a:ea typeface="メイリオ" panose="020B0604030504040204" pitchFamily="50" charset="-128"/>
              </a:rPr>
              <a:t>CV</a:t>
            </a:r>
            <a:r>
              <a:rPr kumimoji="1" lang="ja-JP" altLang="en-US" sz="1250" dirty="0">
                <a:solidFill>
                  <a:schemeClr val="tx1">
                    <a:lumMod val="65000"/>
                    <a:lumOff val="35000"/>
                  </a:schemeClr>
                </a:solidFill>
                <a:latin typeface="メイリオ" panose="020B0604030504040204" pitchFamily="50" charset="-128"/>
                <a:ea typeface="メイリオ" panose="020B0604030504040204" pitchFamily="50" charset="-128"/>
              </a:rPr>
              <a:t>・</a:t>
            </a:r>
            <a:r>
              <a:rPr kumimoji="1" lang="en-US" altLang="ja-JP" sz="1250" dirty="0">
                <a:solidFill>
                  <a:schemeClr val="tx1">
                    <a:lumMod val="65000"/>
                    <a:lumOff val="35000"/>
                  </a:schemeClr>
                </a:solidFill>
                <a:latin typeface="メイリオ" panose="020B0604030504040204" pitchFamily="50" charset="-128"/>
                <a:ea typeface="メイリオ" panose="020B0604030504040204" pitchFamily="50" charset="-128"/>
              </a:rPr>
              <a:t>mcv</a:t>
            </a:r>
            <a:r>
              <a:rPr kumimoji="1" lang="ja-JP" altLang="en-US" sz="1250" dirty="0">
                <a:solidFill>
                  <a:schemeClr val="tx1">
                    <a:lumMod val="65000"/>
                    <a:lumOff val="35000"/>
                  </a:schemeClr>
                </a:solidFill>
                <a:latin typeface="メイリオ" panose="020B0604030504040204" pitchFamily="50" charset="-128"/>
                <a:ea typeface="メイリオ" panose="020B0604030504040204" pitchFamily="50" charset="-128"/>
              </a:rPr>
              <a:t>済</a:t>
            </a:r>
          </a:p>
        </p:txBody>
      </p:sp>
      <p:sp>
        <p:nvSpPr>
          <p:cNvPr id="68" name="正方形/長方形 67">
            <a:extLst>
              <a:ext uri="{FF2B5EF4-FFF2-40B4-BE49-F238E27FC236}">
                <a16:creationId xmlns:a16="http://schemas.microsoft.com/office/drawing/2014/main" id="{259BCB38-DAF2-BC8F-7410-9383C33A3F86}"/>
              </a:ext>
            </a:extLst>
          </p:cNvPr>
          <p:cNvSpPr/>
          <p:nvPr/>
        </p:nvSpPr>
        <p:spPr>
          <a:xfrm>
            <a:off x="368444" y="5190769"/>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50" dirty="0">
                <a:solidFill>
                  <a:schemeClr val="tx1">
                    <a:lumMod val="65000"/>
                    <a:lumOff val="35000"/>
                  </a:schemeClr>
                </a:solidFill>
                <a:latin typeface="メイリオ" panose="020B0604030504040204" pitchFamily="50" charset="-128"/>
                <a:ea typeface="メイリオ" panose="020B0604030504040204" pitchFamily="50" charset="-128"/>
              </a:rPr>
              <a:t>保有リスト</a:t>
            </a:r>
          </a:p>
        </p:txBody>
      </p:sp>
      <p:sp>
        <p:nvSpPr>
          <p:cNvPr id="70" name="正方形/長方形 69">
            <a:extLst>
              <a:ext uri="{FF2B5EF4-FFF2-40B4-BE49-F238E27FC236}">
                <a16:creationId xmlns:a16="http://schemas.microsoft.com/office/drawing/2014/main" id="{1F924E3D-9CB9-CA80-4FF6-D62C50842AEB}"/>
              </a:ext>
            </a:extLst>
          </p:cNvPr>
          <p:cNvSpPr/>
          <p:nvPr/>
        </p:nvSpPr>
        <p:spPr>
          <a:xfrm>
            <a:off x="368444" y="5809415"/>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保有リスト</a:t>
            </a:r>
          </a:p>
        </p:txBody>
      </p:sp>
      <p:sp>
        <p:nvSpPr>
          <p:cNvPr id="72" name="正方形/長方形 71">
            <a:extLst>
              <a:ext uri="{FF2B5EF4-FFF2-40B4-BE49-F238E27FC236}">
                <a16:creationId xmlns:a16="http://schemas.microsoft.com/office/drawing/2014/main" id="{048444BF-0B54-4CE2-78C3-B78C7FCD001B}"/>
              </a:ext>
            </a:extLst>
          </p:cNvPr>
          <p:cNvSpPr/>
          <p:nvPr/>
        </p:nvSpPr>
        <p:spPr>
          <a:xfrm>
            <a:off x="1870672" y="5190769"/>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通知メッセ</a:t>
            </a:r>
          </a:p>
        </p:txBody>
      </p:sp>
      <p:sp>
        <p:nvSpPr>
          <p:cNvPr id="74" name="正方形/長方形 73">
            <a:extLst>
              <a:ext uri="{FF2B5EF4-FFF2-40B4-BE49-F238E27FC236}">
                <a16:creationId xmlns:a16="http://schemas.microsoft.com/office/drawing/2014/main" id="{AD971EAE-829E-07E1-B15C-D7B9C5538B0F}"/>
              </a:ext>
            </a:extLst>
          </p:cNvPr>
          <p:cNvSpPr/>
          <p:nvPr/>
        </p:nvSpPr>
        <p:spPr>
          <a:xfrm>
            <a:off x="1870672" y="5809415"/>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tx1">
                    <a:lumMod val="65000"/>
                    <a:lumOff val="35000"/>
                  </a:schemeClr>
                </a:solidFill>
                <a:latin typeface="メイリオ" panose="020B0604030504040204" pitchFamily="50" charset="-128"/>
                <a:ea typeface="メイリオ" panose="020B0604030504040204" pitchFamily="50" charset="-128"/>
              </a:rPr>
              <a:t>メルマガ・テレマ</a:t>
            </a:r>
            <a:endParaRPr kumimoji="1" lang="en-US" altLang="ja-JP" sz="110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en-US" altLang="ja-JP" sz="1100" dirty="0">
                <a:solidFill>
                  <a:schemeClr val="tx1">
                    <a:lumMod val="65000"/>
                    <a:lumOff val="35000"/>
                  </a:schemeClr>
                </a:solidFill>
                <a:latin typeface="メイリオ" panose="020B0604030504040204" pitchFamily="50" charset="-128"/>
                <a:ea typeface="メイリオ" panose="020B0604030504040204" pitchFamily="50" charset="-128"/>
              </a:rPr>
              <a:t>SNS</a:t>
            </a:r>
            <a:r>
              <a:rPr lang="ja-JP" altLang="en-US" sz="1100" dirty="0">
                <a:solidFill>
                  <a:schemeClr val="tx1">
                    <a:lumMod val="65000"/>
                    <a:lumOff val="35000"/>
                  </a:schemeClr>
                </a:solidFill>
                <a:latin typeface="メイリオ" panose="020B0604030504040204" pitchFamily="50" charset="-128"/>
                <a:ea typeface="メイリオ" panose="020B0604030504040204" pitchFamily="50" charset="-128"/>
              </a:rPr>
              <a:t>告知</a:t>
            </a:r>
            <a:endParaRPr kumimoji="1" lang="ja-JP" altLang="en-US" sz="11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76" name="正方形/長方形 75">
            <a:extLst>
              <a:ext uri="{FF2B5EF4-FFF2-40B4-BE49-F238E27FC236}">
                <a16:creationId xmlns:a16="http://schemas.microsoft.com/office/drawing/2014/main" id="{1D0E3A14-A5E0-6277-4C0A-37271CE6D04A}"/>
              </a:ext>
            </a:extLst>
          </p:cNvPr>
          <p:cNvSpPr/>
          <p:nvPr/>
        </p:nvSpPr>
        <p:spPr>
          <a:xfrm>
            <a:off x="3372901" y="4572125"/>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78" name="正方形/長方形 77">
            <a:extLst>
              <a:ext uri="{FF2B5EF4-FFF2-40B4-BE49-F238E27FC236}">
                <a16:creationId xmlns:a16="http://schemas.microsoft.com/office/drawing/2014/main" id="{0F8EFC74-4358-EB59-16A6-D864C62AC931}"/>
              </a:ext>
            </a:extLst>
          </p:cNvPr>
          <p:cNvSpPr/>
          <p:nvPr/>
        </p:nvSpPr>
        <p:spPr>
          <a:xfrm>
            <a:off x="3372901" y="5190770"/>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80" name="正方形/長方形 79">
            <a:extLst>
              <a:ext uri="{FF2B5EF4-FFF2-40B4-BE49-F238E27FC236}">
                <a16:creationId xmlns:a16="http://schemas.microsoft.com/office/drawing/2014/main" id="{36006927-A8A5-7A4B-A04C-F5D0808A5304}"/>
              </a:ext>
            </a:extLst>
          </p:cNvPr>
          <p:cNvSpPr/>
          <p:nvPr/>
        </p:nvSpPr>
        <p:spPr>
          <a:xfrm>
            <a:off x="3372901" y="5798489"/>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86" name="Shape 17">
            <a:extLst>
              <a:ext uri="{FF2B5EF4-FFF2-40B4-BE49-F238E27FC236}">
                <a16:creationId xmlns:a16="http://schemas.microsoft.com/office/drawing/2014/main" id="{B77E1FF1-F589-36AA-D779-FABB807F9501}"/>
              </a:ext>
            </a:extLst>
          </p:cNvPr>
          <p:cNvSpPr/>
          <p:nvPr/>
        </p:nvSpPr>
        <p:spPr>
          <a:xfrm>
            <a:off x="3566951" y="2020993"/>
            <a:ext cx="1763487" cy="492752"/>
          </a:xfrm>
          <a:prstGeom prst="rect">
            <a:avLst/>
          </a:prstGeom>
          <a:solidFill>
            <a:srgbClr val="F2F2F2"/>
          </a:solidFill>
          <a:ln w="12700">
            <a:solidFill>
              <a:srgbClr val="CCCCCC"/>
            </a:solidFill>
            <a:prstDash val="solid"/>
          </a:ln>
        </p:spPr>
        <p:txBody>
          <a:bodyPr/>
          <a:lstStyle/>
          <a:p>
            <a:pPr>
              <a:lnSpc>
                <a:spcPct val="135000"/>
              </a:lnSpc>
            </a:pPr>
            <a:r>
              <a:rPr lang="en-US" altLang="ja-JP" sz="800" dirty="0" err="1">
                <a:solidFill>
                  <a:srgbClr val="1C2233"/>
                </a:solidFill>
                <a:latin typeface="メイリオ" panose="020B0604030504040204" pitchFamily="50" charset="-128"/>
                <a:ea typeface="メイリオ" panose="020B0604030504040204" pitchFamily="50" charset="-128"/>
                <a:cs typeface="Calibri" pitchFamily="34" charset="-120"/>
              </a:rPr>
              <a:t>あいさつMSG</a:t>
            </a:r>
            <a:r>
              <a:rPr lang="en-US" altLang="ja-JP" sz="800" dirty="0">
                <a:solidFill>
                  <a:srgbClr val="1C2233"/>
                </a:solidFill>
                <a:latin typeface="メイリオ" panose="020B0604030504040204" pitchFamily="50" charset="-128"/>
                <a:ea typeface="メイリオ" panose="020B0604030504040204" pitchFamily="50" charset="-128"/>
                <a:cs typeface="Calibri" pitchFamily="34" charset="-120"/>
              </a:rPr>
              <a:t>＋</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a:p>
            <a:pPr>
              <a:lnSpc>
                <a:spcPct val="135000"/>
              </a:lnSpc>
            </a:pPr>
            <a:r>
              <a:rPr lang="en-US" altLang="ja-JP" sz="800" dirty="0" err="1">
                <a:solidFill>
                  <a:srgbClr val="1C2233"/>
                </a:solidFill>
                <a:latin typeface="メイリオ" panose="020B0604030504040204" pitchFamily="50" charset="-128"/>
                <a:ea typeface="メイリオ" panose="020B0604030504040204" pitchFamily="50" charset="-128"/>
                <a:cs typeface="Calibri" pitchFamily="34" charset="-120"/>
              </a:rPr>
              <a:t>特典(診断) 自動送付 / 30秒ぴったり診断</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88" name="Shape 18">
            <a:extLst>
              <a:ext uri="{FF2B5EF4-FFF2-40B4-BE49-F238E27FC236}">
                <a16:creationId xmlns:a16="http://schemas.microsoft.com/office/drawing/2014/main" id="{CA0F439F-8568-5F59-980B-81BDBE16E656}"/>
              </a:ext>
            </a:extLst>
          </p:cNvPr>
          <p:cNvSpPr/>
          <p:nvPr/>
        </p:nvSpPr>
        <p:spPr>
          <a:xfrm>
            <a:off x="5616079" y="2056240"/>
            <a:ext cx="1763486" cy="466492"/>
          </a:xfrm>
          <a:prstGeom prst="rect">
            <a:avLst/>
          </a:prstGeom>
          <a:solidFill>
            <a:srgbClr val="F2F2F2"/>
          </a:solidFill>
          <a:ln w="12700">
            <a:solidFill>
              <a:srgbClr val="CCCCCC"/>
            </a:solidFill>
            <a:prstDash val="solid"/>
          </a:ln>
        </p:spPr>
        <p:txBody>
          <a:bodyPr/>
          <a:lstStyle/>
          <a:p>
            <a:pPr>
              <a:lnSpc>
                <a:spcPct val="135000"/>
              </a:lnSpc>
            </a:pPr>
            <a:r>
              <a:rPr lang="en-US" altLang="ja-JP" sz="900">
                <a:solidFill>
                  <a:srgbClr val="1C2233"/>
                </a:solidFill>
                <a:latin typeface="メイリオ" panose="020B0604030504040204" pitchFamily="50" charset="-128"/>
                <a:ea typeface="メイリオ" panose="020B0604030504040204" pitchFamily="50" charset="-128"/>
                <a:cs typeface="Calibri" pitchFamily="34" charset="-120"/>
              </a:rPr>
              <a:t>教育コンテンツ配信</a:t>
            </a:r>
            <a:endParaRPr lang="en-US" altLang="ja-JP" sz="900">
              <a:solidFill>
                <a:schemeClr val="bg1">
                  <a:lumMod val="65000"/>
                </a:schemeClr>
              </a:solidFill>
              <a:latin typeface="メイリオ" panose="020B0604030504040204" pitchFamily="50" charset="-128"/>
              <a:ea typeface="メイリオ" panose="020B0604030504040204" pitchFamily="50" charset="-128"/>
            </a:endParaRPr>
          </a:p>
          <a:p>
            <a:pPr>
              <a:lnSpc>
                <a:spcPct val="135000"/>
              </a:lnSpc>
            </a:pPr>
            <a:r>
              <a:rPr lang="en-US" altLang="ja-JP" sz="900">
                <a:solidFill>
                  <a:srgbClr val="1C2233"/>
                </a:solidFill>
                <a:latin typeface="メイリオ" panose="020B0604030504040204" pitchFamily="50" charset="-128"/>
                <a:ea typeface="メイリオ" panose="020B0604030504040204" pitchFamily="50" charset="-128"/>
                <a:cs typeface="Calibri" pitchFamily="34" charset="-120"/>
              </a:rPr>
              <a:t>（週1）→ CV誘導オファー</a:t>
            </a:r>
            <a:endParaRPr lang="en-US" altLang="ja-JP" sz="90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90" name="Text 22">
            <a:extLst>
              <a:ext uri="{FF2B5EF4-FFF2-40B4-BE49-F238E27FC236}">
                <a16:creationId xmlns:a16="http://schemas.microsoft.com/office/drawing/2014/main" id="{A38D1B69-A9BE-A8D7-FA06-008BBED1A542}"/>
              </a:ext>
            </a:extLst>
          </p:cNvPr>
          <p:cNvSpPr/>
          <p:nvPr/>
        </p:nvSpPr>
        <p:spPr>
          <a:xfrm>
            <a:off x="-1097280" y="1156254"/>
            <a:ext cx="2359152" cy="585216"/>
          </a:xfrm>
          <a:prstGeom prst="rect">
            <a:avLst/>
          </a:prstGeom>
          <a:noFill/>
          <a:ln/>
        </p:spPr>
        <p:txBody>
          <a:bodyPr wrap="square" lIns="0" tIns="0" rIns="0" bIns="0" rtlCol="0" anchor="ctr"/>
          <a:lstStyle/>
          <a:p>
            <a:pPr marL="0" indent="0">
              <a:lnSpc>
                <a:spcPct val="135000"/>
              </a:lnSpc>
              <a:buNone/>
            </a:pPr>
            <a:endParaRPr lang="en-US" sz="900" dirty="0"/>
          </a:p>
        </p:txBody>
      </p:sp>
      <p:sp>
        <p:nvSpPr>
          <p:cNvPr id="92" name="Text 24">
            <a:extLst>
              <a:ext uri="{FF2B5EF4-FFF2-40B4-BE49-F238E27FC236}">
                <a16:creationId xmlns:a16="http://schemas.microsoft.com/office/drawing/2014/main" id="{56CF8B32-B6D6-0DD2-541C-145309CBBBE1}"/>
              </a:ext>
            </a:extLst>
          </p:cNvPr>
          <p:cNvSpPr/>
          <p:nvPr/>
        </p:nvSpPr>
        <p:spPr>
          <a:xfrm>
            <a:off x="1591056" y="1156254"/>
            <a:ext cx="2944368" cy="585216"/>
          </a:xfrm>
          <a:prstGeom prst="rect">
            <a:avLst/>
          </a:prstGeom>
          <a:noFill/>
          <a:ln/>
        </p:spPr>
        <p:txBody>
          <a:bodyPr wrap="square" lIns="0" tIns="0" rIns="0" bIns="0" rtlCol="0" anchor="ctr"/>
          <a:lstStyle/>
          <a:p>
            <a:pPr marL="0" indent="0">
              <a:lnSpc>
                <a:spcPct val="135000"/>
              </a:lnSpc>
              <a:buNone/>
            </a:pPr>
            <a:endParaRPr lang="en-US" sz="900" dirty="0"/>
          </a:p>
        </p:txBody>
      </p:sp>
      <p:cxnSp>
        <p:nvCxnSpPr>
          <p:cNvPr id="94" name="直線矢印コネクタ 93">
            <a:extLst>
              <a:ext uri="{FF2B5EF4-FFF2-40B4-BE49-F238E27FC236}">
                <a16:creationId xmlns:a16="http://schemas.microsoft.com/office/drawing/2014/main" id="{F1667E92-F492-3E12-307D-7E98E48B45D9}"/>
              </a:ext>
            </a:extLst>
          </p:cNvPr>
          <p:cNvCxnSpPr>
            <a:endCxn id="88" idx="1"/>
          </p:cNvCxnSpPr>
          <p:nvPr/>
        </p:nvCxnSpPr>
        <p:spPr>
          <a:xfrm>
            <a:off x="5347420" y="2280490"/>
            <a:ext cx="261258"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96" name="Shape 17">
            <a:extLst>
              <a:ext uri="{FF2B5EF4-FFF2-40B4-BE49-F238E27FC236}">
                <a16:creationId xmlns:a16="http://schemas.microsoft.com/office/drawing/2014/main" id="{9BCE046A-F0B6-BBFD-BFCA-03015B84F033}"/>
              </a:ext>
            </a:extLst>
          </p:cNvPr>
          <p:cNvSpPr/>
          <p:nvPr/>
        </p:nvSpPr>
        <p:spPr>
          <a:xfrm>
            <a:off x="3566951" y="2590426"/>
            <a:ext cx="1763487" cy="524369"/>
          </a:xfrm>
          <a:prstGeom prst="rect">
            <a:avLst/>
          </a:prstGeom>
          <a:solidFill>
            <a:srgbClr val="F2F2F2"/>
          </a:solidFill>
          <a:ln w="12700">
            <a:solidFill>
              <a:srgbClr val="CCCCCC"/>
            </a:solidFill>
            <a:prstDash val="solid"/>
          </a:ln>
        </p:spPr>
        <p:txBody>
          <a:bodyPr/>
          <a:lstStyle/>
          <a:p>
            <a:pPr>
              <a:lnSpc>
                <a:spcPct val="135000"/>
              </a:lnSpc>
            </a:pP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KW</a:t>
            </a: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自動応答設定</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 ユーザー意図別に即返信</a:t>
            </a:r>
          </a:p>
        </p:txBody>
      </p:sp>
      <p:sp>
        <p:nvSpPr>
          <p:cNvPr id="98" name="Shape 18">
            <a:extLst>
              <a:ext uri="{FF2B5EF4-FFF2-40B4-BE49-F238E27FC236}">
                <a16:creationId xmlns:a16="http://schemas.microsoft.com/office/drawing/2014/main" id="{14F2BF34-2AB8-9060-75EF-F5ADF9F01344}"/>
              </a:ext>
            </a:extLst>
          </p:cNvPr>
          <p:cNvSpPr/>
          <p:nvPr/>
        </p:nvSpPr>
        <p:spPr>
          <a:xfrm>
            <a:off x="5616079" y="2590427"/>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ステップ配信（</a:t>
            </a: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7〜14</a:t>
            </a: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通）</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 体験予約への誘導</a:t>
            </a:r>
          </a:p>
        </p:txBody>
      </p:sp>
      <p:cxnSp>
        <p:nvCxnSpPr>
          <p:cNvPr id="99" name="直線矢印コネクタ 98">
            <a:extLst>
              <a:ext uri="{FF2B5EF4-FFF2-40B4-BE49-F238E27FC236}">
                <a16:creationId xmlns:a16="http://schemas.microsoft.com/office/drawing/2014/main" id="{B31F7370-9528-F602-262C-2CE6C0CA7D95}"/>
              </a:ext>
            </a:extLst>
          </p:cNvPr>
          <p:cNvCxnSpPr>
            <a:cxnSpLocks/>
            <a:stCxn id="96" idx="3"/>
            <a:endCxn id="98" idx="1"/>
          </p:cNvCxnSpPr>
          <p:nvPr/>
        </p:nvCxnSpPr>
        <p:spPr>
          <a:xfrm flipV="1">
            <a:off x="5330438" y="2823673"/>
            <a:ext cx="285641" cy="28938"/>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03" name="テキスト ボックス 102">
            <a:extLst>
              <a:ext uri="{FF2B5EF4-FFF2-40B4-BE49-F238E27FC236}">
                <a16:creationId xmlns:a16="http://schemas.microsoft.com/office/drawing/2014/main" id="{CB5BD751-9EE2-F77E-B237-6EBEA67F4576}"/>
              </a:ext>
            </a:extLst>
          </p:cNvPr>
          <p:cNvSpPr txBox="1"/>
          <p:nvPr/>
        </p:nvSpPr>
        <p:spPr>
          <a:xfrm>
            <a:off x="7693132" y="1562739"/>
            <a:ext cx="1874173" cy="430887"/>
          </a:xfrm>
          <a:prstGeom prst="rect">
            <a:avLst/>
          </a:prstGeom>
          <a:noFill/>
        </p:spPr>
        <p:txBody>
          <a:bodyPr wrap="square">
            <a:spAutoFit/>
          </a:bodyPr>
          <a:lstStyle/>
          <a:p>
            <a:pPr algn="ctr"/>
            <a:r>
              <a:rPr kumimoji="1" lang="en-US" altLang="ja-JP" sz="1100" b="1" dirty="0">
                <a:solidFill>
                  <a:srgbClr val="1F285A"/>
                </a:solidFill>
                <a:latin typeface="メイリオ" panose="020B0604030504040204" pitchFamily="50" charset="-128"/>
                <a:ea typeface="メイリオ" panose="020B0604030504040204" pitchFamily="50" charset="-128"/>
              </a:rPr>
              <a:t>CVするユーザー割合</a:t>
            </a:r>
            <a:endParaRPr kumimoji="1" lang="en-US" altLang="ja-JP" sz="1100" b="1" dirty="0">
              <a:solidFill>
                <a:srgbClr val="FF0000"/>
              </a:solidFill>
              <a:latin typeface="メイリオ" panose="020B0604030504040204" pitchFamily="50" charset="-128"/>
              <a:ea typeface="メイリオ" panose="020B0604030504040204" pitchFamily="50" charset="-128"/>
            </a:endParaRPr>
          </a:p>
          <a:p>
            <a:pPr algn="ctr"/>
            <a:r>
              <a:rPr lang="en-US" altLang="ja-JP" sz="1000" dirty="0">
                <a:solidFill>
                  <a:srgbClr val="1F285A"/>
                </a:solidFill>
                <a:latin typeface="メイリオ" panose="020B0604030504040204" pitchFamily="50" charset="-128"/>
                <a:ea typeface="メイリオ" panose="020B0604030504040204" pitchFamily="50" charset="-128"/>
              </a:rPr>
              <a:t>※社内想定の上限目安</a:t>
            </a:r>
            <a:endParaRPr kumimoji="1" lang="ja-JP" altLang="en-US" sz="1000" dirty="0">
              <a:solidFill>
                <a:srgbClr val="FF0000"/>
              </a:solidFill>
              <a:latin typeface="メイリオ" panose="020B0604030504040204" pitchFamily="50" charset="-128"/>
              <a:ea typeface="メイリオ" panose="020B0604030504040204" pitchFamily="50" charset="-128"/>
            </a:endParaRPr>
          </a:p>
        </p:txBody>
      </p:sp>
      <p:sp>
        <p:nvSpPr>
          <p:cNvPr id="105" name="テキスト ボックス 104">
            <a:extLst>
              <a:ext uri="{FF2B5EF4-FFF2-40B4-BE49-F238E27FC236}">
                <a16:creationId xmlns:a16="http://schemas.microsoft.com/office/drawing/2014/main" id="{55562E1F-54CF-8256-1530-F264D924D0C4}"/>
              </a:ext>
            </a:extLst>
          </p:cNvPr>
          <p:cNvSpPr txBox="1"/>
          <p:nvPr/>
        </p:nvSpPr>
        <p:spPr>
          <a:xfrm>
            <a:off x="7844989" y="2313983"/>
            <a:ext cx="1361106" cy="523220"/>
          </a:xfrm>
          <a:prstGeom prst="rect">
            <a:avLst/>
          </a:prstGeom>
          <a:noFill/>
        </p:spPr>
        <p:txBody>
          <a:bodyPr wrap="square">
            <a:spAutoFit/>
          </a:bodyPr>
          <a:lstStyle/>
          <a:p>
            <a:pPr algn="r"/>
            <a:r>
              <a:rPr kumimoji="1" lang="ja-JP" altLang="en-US" sz="2800" b="1" dirty="0">
                <a:solidFill>
                  <a:srgbClr val="1F285A"/>
                </a:solidFill>
                <a:latin typeface="メイリオ" panose="020B0604030504040204" pitchFamily="50" charset="-128"/>
                <a:ea typeface="メイリオ" panose="020B0604030504040204" pitchFamily="50" charset="-128"/>
              </a:rPr>
              <a:t>３％</a:t>
            </a:r>
            <a:endParaRPr lang="ja-JP" altLang="en-US" sz="2400" dirty="0">
              <a:solidFill>
                <a:srgbClr val="FF0000"/>
              </a:solidFill>
            </a:endParaRPr>
          </a:p>
        </p:txBody>
      </p:sp>
      <p:sp>
        <p:nvSpPr>
          <p:cNvPr id="107" name="テキスト ボックス 106">
            <a:extLst>
              <a:ext uri="{FF2B5EF4-FFF2-40B4-BE49-F238E27FC236}">
                <a16:creationId xmlns:a16="http://schemas.microsoft.com/office/drawing/2014/main" id="{0D6F6472-C1C9-8DD7-5969-2F70988996B7}"/>
              </a:ext>
            </a:extLst>
          </p:cNvPr>
          <p:cNvSpPr txBox="1"/>
          <p:nvPr/>
        </p:nvSpPr>
        <p:spPr>
          <a:xfrm>
            <a:off x="7830986" y="3258904"/>
            <a:ext cx="1361106" cy="523220"/>
          </a:xfrm>
          <a:prstGeom prst="rect">
            <a:avLst/>
          </a:prstGeom>
          <a:noFill/>
        </p:spPr>
        <p:txBody>
          <a:bodyPr wrap="square">
            <a:spAutoFit/>
          </a:bodyPr>
          <a:lstStyle/>
          <a:p>
            <a:pPr algn="r"/>
            <a:r>
              <a:rPr kumimoji="1" lang="en-US" altLang="ja-JP" sz="2800" b="1" dirty="0">
                <a:solidFill>
                  <a:srgbClr val="1F285A"/>
                </a:solidFill>
                <a:latin typeface="メイリオ" panose="020B0604030504040204" pitchFamily="50" charset="-128"/>
                <a:ea typeface="メイリオ" panose="020B0604030504040204" pitchFamily="50" charset="-128"/>
              </a:rPr>
              <a:t>1.5％</a:t>
            </a:r>
            <a:endParaRPr lang="ja-JP" altLang="en-US" sz="2400" dirty="0">
              <a:solidFill>
                <a:srgbClr val="FF0000"/>
              </a:solidFill>
            </a:endParaRPr>
          </a:p>
        </p:txBody>
      </p:sp>
      <p:sp>
        <p:nvSpPr>
          <p:cNvPr id="109" name="テキスト ボックス 108">
            <a:extLst>
              <a:ext uri="{FF2B5EF4-FFF2-40B4-BE49-F238E27FC236}">
                <a16:creationId xmlns:a16="http://schemas.microsoft.com/office/drawing/2014/main" id="{3EBEB224-105E-FCC6-752F-0DC0ACDDFEFC}"/>
              </a:ext>
            </a:extLst>
          </p:cNvPr>
          <p:cNvSpPr txBox="1"/>
          <p:nvPr/>
        </p:nvSpPr>
        <p:spPr>
          <a:xfrm>
            <a:off x="7844989" y="3964707"/>
            <a:ext cx="1361106" cy="523220"/>
          </a:xfrm>
          <a:prstGeom prst="rect">
            <a:avLst/>
          </a:prstGeom>
          <a:noFill/>
        </p:spPr>
        <p:txBody>
          <a:bodyPr wrap="square">
            <a:spAutoFit/>
          </a:bodyPr>
          <a:lstStyle/>
          <a:p>
            <a:pPr algn="r"/>
            <a:r>
              <a:rPr kumimoji="1" lang="en-US" altLang="ja-JP" sz="2800" b="1" dirty="0">
                <a:solidFill>
                  <a:srgbClr val="1F285A"/>
                </a:solidFill>
                <a:latin typeface="メイリオ" panose="020B0604030504040204" pitchFamily="50" charset="-128"/>
                <a:ea typeface="メイリオ" panose="020B0604030504040204" pitchFamily="50" charset="-128"/>
              </a:rPr>
              <a:t>2.5％</a:t>
            </a:r>
            <a:endParaRPr lang="ja-JP" altLang="en-US" sz="2400" dirty="0">
              <a:solidFill>
                <a:srgbClr val="FF0000"/>
              </a:solidFill>
            </a:endParaRPr>
          </a:p>
        </p:txBody>
      </p:sp>
      <p:sp>
        <p:nvSpPr>
          <p:cNvPr id="111" name="テキスト ボックス 110">
            <a:extLst>
              <a:ext uri="{FF2B5EF4-FFF2-40B4-BE49-F238E27FC236}">
                <a16:creationId xmlns:a16="http://schemas.microsoft.com/office/drawing/2014/main" id="{F26B0A2E-9DBA-FEE5-637F-02A225C02C23}"/>
              </a:ext>
            </a:extLst>
          </p:cNvPr>
          <p:cNvSpPr txBox="1"/>
          <p:nvPr/>
        </p:nvSpPr>
        <p:spPr>
          <a:xfrm>
            <a:off x="7830985" y="4604843"/>
            <a:ext cx="1361106" cy="523220"/>
          </a:xfrm>
          <a:prstGeom prst="rect">
            <a:avLst/>
          </a:prstGeom>
          <a:noFill/>
        </p:spPr>
        <p:txBody>
          <a:bodyPr wrap="square">
            <a:spAutoFit/>
          </a:bodyPr>
          <a:lstStyle/>
          <a:p>
            <a:pPr algn="r"/>
            <a:r>
              <a:rPr kumimoji="1" lang="en-US" altLang="ja-JP" sz="2800" b="1" dirty="0">
                <a:solidFill>
                  <a:srgbClr val="1F285A"/>
                </a:solidFill>
                <a:latin typeface="メイリオ" panose="020B0604030504040204" pitchFamily="50" charset="-128"/>
                <a:ea typeface="メイリオ" panose="020B0604030504040204" pitchFamily="50" charset="-128"/>
              </a:rPr>
              <a:t>2.5％</a:t>
            </a:r>
            <a:endParaRPr lang="ja-JP" altLang="en-US" sz="2400" dirty="0">
              <a:solidFill>
                <a:srgbClr val="FF0000"/>
              </a:solidFill>
            </a:endParaRPr>
          </a:p>
        </p:txBody>
      </p:sp>
      <p:sp>
        <p:nvSpPr>
          <p:cNvPr id="113" name="テキスト ボックス 112">
            <a:extLst>
              <a:ext uri="{FF2B5EF4-FFF2-40B4-BE49-F238E27FC236}">
                <a16:creationId xmlns:a16="http://schemas.microsoft.com/office/drawing/2014/main" id="{0C0FA132-24D2-97C7-D00F-5A970556EB00}"/>
              </a:ext>
            </a:extLst>
          </p:cNvPr>
          <p:cNvSpPr txBox="1"/>
          <p:nvPr/>
        </p:nvSpPr>
        <p:spPr>
          <a:xfrm>
            <a:off x="7830985" y="5229016"/>
            <a:ext cx="1361106" cy="523220"/>
          </a:xfrm>
          <a:prstGeom prst="rect">
            <a:avLst/>
          </a:prstGeom>
          <a:noFill/>
        </p:spPr>
        <p:txBody>
          <a:bodyPr wrap="square">
            <a:spAutoFit/>
          </a:bodyPr>
          <a:lstStyle/>
          <a:p>
            <a:pPr algn="r"/>
            <a:r>
              <a:rPr kumimoji="1" lang="en-US" altLang="ja-JP" sz="2800" b="1" dirty="0">
                <a:solidFill>
                  <a:srgbClr val="1F285A"/>
                </a:solidFill>
                <a:latin typeface="メイリオ" panose="020B0604030504040204" pitchFamily="50" charset="-128"/>
                <a:ea typeface="メイリオ" panose="020B0604030504040204" pitchFamily="50" charset="-128"/>
              </a:rPr>
              <a:t>2.5％</a:t>
            </a:r>
            <a:endParaRPr lang="ja-JP" altLang="en-US" sz="2400" dirty="0">
              <a:solidFill>
                <a:srgbClr val="FF0000"/>
              </a:solidFill>
            </a:endParaRPr>
          </a:p>
        </p:txBody>
      </p:sp>
      <p:sp>
        <p:nvSpPr>
          <p:cNvPr id="115" name="テキスト ボックス 114">
            <a:extLst>
              <a:ext uri="{FF2B5EF4-FFF2-40B4-BE49-F238E27FC236}">
                <a16:creationId xmlns:a16="http://schemas.microsoft.com/office/drawing/2014/main" id="{FD400E85-93A8-6ADB-337D-4AC8973CAF45}"/>
              </a:ext>
            </a:extLst>
          </p:cNvPr>
          <p:cNvSpPr txBox="1"/>
          <p:nvPr/>
        </p:nvSpPr>
        <p:spPr>
          <a:xfrm>
            <a:off x="7830985" y="5834851"/>
            <a:ext cx="1361106" cy="523220"/>
          </a:xfrm>
          <a:prstGeom prst="rect">
            <a:avLst/>
          </a:prstGeom>
          <a:noFill/>
        </p:spPr>
        <p:txBody>
          <a:bodyPr wrap="square">
            <a:spAutoFit/>
          </a:bodyPr>
          <a:lstStyle/>
          <a:p>
            <a:pPr algn="r"/>
            <a:r>
              <a:rPr kumimoji="1" lang="en-US" altLang="ja-JP" sz="2800" b="1" dirty="0">
                <a:solidFill>
                  <a:srgbClr val="1F285A"/>
                </a:solidFill>
                <a:latin typeface="メイリオ" panose="020B0604030504040204" pitchFamily="50" charset="-128"/>
                <a:ea typeface="メイリオ" panose="020B0604030504040204" pitchFamily="50" charset="-128"/>
              </a:rPr>
              <a:t>2％</a:t>
            </a:r>
            <a:endParaRPr lang="ja-JP" altLang="en-US" sz="2400" dirty="0">
              <a:solidFill>
                <a:srgbClr val="FF0000"/>
              </a:solidFill>
            </a:endParaRPr>
          </a:p>
        </p:txBody>
      </p:sp>
      <p:sp>
        <p:nvSpPr>
          <p:cNvPr id="116" name="Shape 17">
            <a:extLst>
              <a:ext uri="{FF2B5EF4-FFF2-40B4-BE49-F238E27FC236}">
                <a16:creationId xmlns:a16="http://schemas.microsoft.com/office/drawing/2014/main" id="{1CA555AB-71AF-EB14-1D64-C35A07A084CC}"/>
              </a:ext>
            </a:extLst>
          </p:cNvPr>
          <p:cNvSpPr/>
          <p:nvPr/>
        </p:nvSpPr>
        <p:spPr>
          <a:xfrm>
            <a:off x="3566951" y="3268111"/>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スクリーニングアンケート</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a:t>
            </a: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3</a:t>
            </a: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問）→ セグメント分類</a:t>
            </a:r>
          </a:p>
        </p:txBody>
      </p:sp>
      <p:sp>
        <p:nvSpPr>
          <p:cNvPr id="117" name="Shape 18">
            <a:extLst>
              <a:ext uri="{FF2B5EF4-FFF2-40B4-BE49-F238E27FC236}">
                <a16:creationId xmlns:a16="http://schemas.microsoft.com/office/drawing/2014/main" id="{019053B5-0AD3-160E-B42A-8528F025A84E}"/>
              </a:ext>
            </a:extLst>
          </p:cNvPr>
          <p:cNvSpPr/>
          <p:nvPr/>
        </p:nvSpPr>
        <p:spPr>
          <a:xfrm>
            <a:off x="5616079" y="3268111"/>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セグメント別シナリオ配信</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ホットリード</a:t>
            </a: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a:t>
            </a: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即スタッフ対応</a:t>
            </a:r>
          </a:p>
        </p:txBody>
      </p:sp>
      <p:cxnSp>
        <p:nvCxnSpPr>
          <p:cNvPr id="118" name="直線矢印コネクタ 117">
            <a:extLst>
              <a:ext uri="{FF2B5EF4-FFF2-40B4-BE49-F238E27FC236}">
                <a16:creationId xmlns:a16="http://schemas.microsoft.com/office/drawing/2014/main" id="{48AC5144-1E7E-4082-003A-97A6D96D2994}"/>
              </a:ext>
            </a:extLst>
          </p:cNvPr>
          <p:cNvCxnSpPr>
            <a:cxnSpLocks/>
            <a:stCxn id="116" idx="3"/>
            <a:endCxn id="117" idx="1"/>
          </p:cNvCxnSpPr>
          <p:nvPr/>
        </p:nvCxnSpPr>
        <p:spPr>
          <a:xfrm>
            <a:off x="5330438" y="3501357"/>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19" name="Shape 17">
            <a:extLst>
              <a:ext uri="{FF2B5EF4-FFF2-40B4-BE49-F238E27FC236}">
                <a16:creationId xmlns:a16="http://schemas.microsoft.com/office/drawing/2014/main" id="{03AA9053-24E8-182C-23AA-4BEA28F1863B}"/>
              </a:ext>
            </a:extLst>
          </p:cNvPr>
          <p:cNvSpPr/>
          <p:nvPr/>
        </p:nvSpPr>
        <p:spPr>
          <a:xfrm>
            <a:off x="3566951" y="4008969"/>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サンクス自動</a:t>
            </a: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MSG</a:t>
            </a: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次のアクション案内</a:t>
            </a:r>
          </a:p>
        </p:txBody>
      </p:sp>
      <p:sp>
        <p:nvSpPr>
          <p:cNvPr id="120" name="Shape 18">
            <a:extLst>
              <a:ext uri="{FF2B5EF4-FFF2-40B4-BE49-F238E27FC236}">
                <a16:creationId xmlns:a16="http://schemas.microsoft.com/office/drawing/2014/main" id="{760C890D-1868-9325-4069-2354337B0399}"/>
              </a:ext>
            </a:extLst>
          </p:cNvPr>
          <p:cNvSpPr/>
          <p:nvPr/>
        </p:nvSpPr>
        <p:spPr>
          <a:xfrm>
            <a:off x="5616079" y="4008969"/>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リマインド配信</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クロスセル・アップセル</a:t>
            </a:r>
          </a:p>
        </p:txBody>
      </p:sp>
      <p:cxnSp>
        <p:nvCxnSpPr>
          <p:cNvPr id="121" name="直線矢印コネクタ 120">
            <a:extLst>
              <a:ext uri="{FF2B5EF4-FFF2-40B4-BE49-F238E27FC236}">
                <a16:creationId xmlns:a16="http://schemas.microsoft.com/office/drawing/2014/main" id="{CE344BB3-FFA2-50D7-ADEA-7AA9C56BA1E2}"/>
              </a:ext>
            </a:extLst>
          </p:cNvPr>
          <p:cNvCxnSpPr>
            <a:cxnSpLocks/>
            <a:stCxn id="119" idx="3"/>
            <a:endCxn id="120" idx="1"/>
          </p:cNvCxnSpPr>
          <p:nvPr/>
        </p:nvCxnSpPr>
        <p:spPr>
          <a:xfrm>
            <a:off x="5330438" y="4242215"/>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2" name="Shape 17">
            <a:extLst>
              <a:ext uri="{FF2B5EF4-FFF2-40B4-BE49-F238E27FC236}">
                <a16:creationId xmlns:a16="http://schemas.microsoft.com/office/drawing/2014/main" id="{9439D4FC-6ABA-77F9-BCBC-39518FFF0A4B}"/>
              </a:ext>
            </a:extLst>
          </p:cNvPr>
          <p:cNvSpPr/>
          <p:nvPr/>
        </p:nvSpPr>
        <p:spPr>
          <a:xfrm>
            <a:off x="3566951" y="4615355"/>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スクリーニング（</a:t>
            </a: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3</a:t>
            </a: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問）</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温度感・ニーズ把握</a:t>
            </a:r>
          </a:p>
        </p:txBody>
      </p:sp>
      <p:sp>
        <p:nvSpPr>
          <p:cNvPr id="123" name="Shape 18">
            <a:extLst>
              <a:ext uri="{FF2B5EF4-FFF2-40B4-BE49-F238E27FC236}">
                <a16:creationId xmlns:a16="http://schemas.microsoft.com/office/drawing/2014/main" id="{E23B94EA-C025-B46E-3CFE-6F951848C924}"/>
              </a:ext>
            </a:extLst>
          </p:cNvPr>
          <p:cNvSpPr/>
          <p:nvPr/>
        </p:nvSpPr>
        <p:spPr>
          <a:xfrm>
            <a:off x="5616079" y="4615355"/>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有効リード育成シナリオ</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 体験予約・入会への誘導</a:t>
            </a:r>
          </a:p>
        </p:txBody>
      </p:sp>
      <p:cxnSp>
        <p:nvCxnSpPr>
          <p:cNvPr id="124" name="直線矢印コネクタ 123">
            <a:extLst>
              <a:ext uri="{FF2B5EF4-FFF2-40B4-BE49-F238E27FC236}">
                <a16:creationId xmlns:a16="http://schemas.microsoft.com/office/drawing/2014/main" id="{83F28A8E-5BD4-6CFE-A1AB-95F3F23ADFC2}"/>
              </a:ext>
            </a:extLst>
          </p:cNvPr>
          <p:cNvCxnSpPr>
            <a:cxnSpLocks/>
            <a:stCxn id="122" idx="3"/>
            <a:endCxn id="123" idx="1"/>
          </p:cNvCxnSpPr>
          <p:nvPr/>
        </p:nvCxnSpPr>
        <p:spPr>
          <a:xfrm>
            <a:off x="5330438" y="4848601"/>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5" name="Shape 17">
            <a:extLst>
              <a:ext uri="{FF2B5EF4-FFF2-40B4-BE49-F238E27FC236}">
                <a16:creationId xmlns:a16="http://schemas.microsoft.com/office/drawing/2014/main" id="{6D4CD712-1339-1DEA-1A5F-9F51874CCCB1}"/>
              </a:ext>
            </a:extLst>
          </p:cNvPr>
          <p:cNvSpPr/>
          <p:nvPr/>
        </p:nvSpPr>
        <p:spPr>
          <a:xfrm>
            <a:off x="3566951" y="5239126"/>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一斉配信でリスト活性化</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アンケートで属性把握</a:t>
            </a:r>
          </a:p>
        </p:txBody>
      </p:sp>
      <p:sp>
        <p:nvSpPr>
          <p:cNvPr id="126" name="Shape 18">
            <a:extLst>
              <a:ext uri="{FF2B5EF4-FFF2-40B4-BE49-F238E27FC236}">
                <a16:creationId xmlns:a16="http://schemas.microsoft.com/office/drawing/2014/main" id="{5F976E27-1C09-25DE-2664-7D927081F231}"/>
              </a:ext>
            </a:extLst>
          </p:cNvPr>
          <p:cNvSpPr/>
          <p:nvPr/>
        </p:nvSpPr>
        <p:spPr>
          <a:xfrm>
            <a:off x="5616079" y="5239126"/>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セグメント別ナーチャリング</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季節・タイミング別企画配信</a:t>
            </a:r>
          </a:p>
        </p:txBody>
      </p:sp>
      <p:cxnSp>
        <p:nvCxnSpPr>
          <p:cNvPr id="127" name="直線矢印コネクタ 126">
            <a:extLst>
              <a:ext uri="{FF2B5EF4-FFF2-40B4-BE49-F238E27FC236}">
                <a16:creationId xmlns:a16="http://schemas.microsoft.com/office/drawing/2014/main" id="{82C1A774-7713-D5A5-03F8-DCE7AD58DB1B}"/>
              </a:ext>
            </a:extLst>
          </p:cNvPr>
          <p:cNvCxnSpPr>
            <a:cxnSpLocks/>
            <a:stCxn id="125" idx="3"/>
            <a:endCxn id="126" idx="1"/>
          </p:cNvCxnSpPr>
          <p:nvPr/>
        </p:nvCxnSpPr>
        <p:spPr>
          <a:xfrm>
            <a:off x="5330438" y="5472372"/>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8" name="Shape 17">
            <a:extLst>
              <a:ext uri="{FF2B5EF4-FFF2-40B4-BE49-F238E27FC236}">
                <a16:creationId xmlns:a16="http://schemas.microsoft.com/office/drawing/2014/main" id="{CC857E24-C3F9-53FF-5D44-B2CE0DE30602}"/>
              </a:ext>
            </a:extLst>
          </p:cNvPr>
          <p:cNvSpPr/>
          <p:nvPr/>
        </p:nvSpPr>
        <p:spPr>
          <a:xfrm>
            <a:off x="3566951" y="5847515"/>
            <a:ext cx="1763487" cy="466492"/>
          </a:xfrm>
          <a:prstGeom prst="rect">
            <a:avLst/>
          </a:prstGeom>
          <a:solidFill>
            <a:srgbClr val="F2F2F2"/>
          </a:solidFill>
          <a:ln w="12700">
            <a:solidFill>
              <a:srgbClr val="CCCCCC"/>
            </a:solidFill>
            <a:prstDash val="solid"/>
          </a:ln>
        </p:spPr>
        <p:txBody>
          <a:bodyPr/>
          <a:lstStyle/>
          <a:p>
            <a:pPr>
              <a:lnSpc>
                <a:spcPct val="135000"/>
              </a:lnSpc>
            </a:pP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LINE</a:t>
            </a: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移行キャンペーン</a:t>
            </a:r>
          </a:p>
          <a:p>
            <a:pPr>
              <a:lnSpc>
                <a:spcPct val="135000"/>
              </a:lnSpc>
            </a:pP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a:t>
            </a: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特典訴求で友だち追加促進</a:t>
            </a: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a:t>
            </a:r>
            <a:endPar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endParaRPr>
          </a:p>
        </p:txBody>
      </p:sp>
      <p:sp>
        <p:nvSpPr>
          <p:cNvPr id="129" name="Shape 18">
            <a:extLst>
              <a:ext uri="{FF2B5EF4-FFF2-40B4-BE49-F238E27FC236}">
                <a16:creationId xmlns:a16="http://schemas.microsoft.com/office/drawing/2014/main" id="{496CBE75-90FF-44E1-05AA-F85C409960A4}"/>
              </a:ext>
            </a:extLst>
          </p:cNvPr>
          <p:cNvSpPr/>
          <p:nvPr/>
        </p:nvSpPr>
        <p:spPr>
          <a:xfrm>
            <a:off x="5616079" y="5847515"/>
            <a:ext cx="1763486" cy="466492"/>
          </a:xfrm>
          <a:prstGeom prst="rect">
            <a:avLst/>
          </a:prstGeom>
          <a:solidFill>
            <a:srgbClr val="F2F2F2"/>
          </a:solidFill>
          <a:ln w="12700">
            <a:solidFill>
              <a:srgbClr val="CCCCCC"/>
            </a:solidFill>
            <a:prstDash val="solid"/>
          </a:ln>
        </p:spPr>
        <p:txBody>
          <a:bodyPr/>
          <a:lstStyle/>
          <a:p>
            <a:pPr>
              <a:lnSpc>
                <a:spcPct val="135000"/>
              </a:lnSpc>
            </a:pP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LINEで継続・紹介を促進</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紹介キャンペーン</a:t>
            </a: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,LTV</a:t>
            </a: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最大化</a:t>
            </a:r>
          </a:p>
        </p:txBody>
      </p:sp>
      <p:cxnSp>
        <p:nvCxnSpPr>
          <p:cNvPr id="130" name="直線矢印コネクタ 129">
            <a:extLst>
              <a:ext uri="{FF2B5EF4-FFF2-40B4-BE49-F238E27FC236}">
                <a16:creationId xmlns:a16="http://schemas.microsoft.com/office/drawing/2014/main" id="{D05BCA3B-7E23-AB71-18F0-5A49C04E309D}"/>
              </a:ext>
            </a:extLst>
          </p:cNvPr>
          <p:cNvCxnSpPr>
            <a:cxnSpLocks/>
            <a:stCxn id="128" idx="3"/>
            <a:endCxn id="129" idx="1"/>
          </p:cNvCxnSpPr>
          <p:nvPr/>
        </p:nvCxnSpPr>
        <p:spPr>
          <a:xfrm>
            <a:off x="5330438" y="6080761"/>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31" name="TextBox 130"/>
          <p:cNvSpPr txBox="1"/>
          <p:nvPr/>
        </p:nvSpPr>
        <p:spPr>
          <a:xfrm>
            <a:off x="350000" y="6379200"/>
            <a:ext cx="9200000" cy="180000"/>
          </a:xfrm>
          <a:prstGeom prst="rect">
            <a:avLst/>
          </a:prstGeom>
          <a:noFill/>
        </p:spPr>
        <p:txBody>
          <a:bodyPr wrap="square">
            <a:spAutoFit/>
          </a:bodyPr>
          <a:lstStyle/>
          <a:p>
            <a:r>
              <a:rPr sz="900">
                <a:solidFill>
                  <a:srgbClr val="555555"/>
                </a:solidFill>
                <a:latin typeface="メイリオ"/>
                <a:ea typeface="メイリオ"/>
              </a:rPr>
              <a:t>※ 各割合は社内想定の上限目安であり、保証値ではありません。参考：LINEヤフー社公開値では、メッセージは受信当日中に約8割が開封されます。</a:t>
            </a:r>
          </a:p>
        </p:txBody>
      </p:sp>
    </p:spTree>
    <p:extLst>
      <p:ext uri="{BB962C8B-B14F-4D97-AF65-F5344CB8AC3E}">
        <p14:creationId xmlns:p14="http://schemas.microsoft.com/office/powerpoint/2010/main" val="2070007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692180-D336-F255-C39D-17584774E386}"/>
            </a:ext>
          </a:extLst>
        </p:cNvPr>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LINE公式アカウントを検討する背景｜市場データ</a:t>
            </a:r>
          </a:p>
        </p:txBody>
      </p:sp>
      <p:sp>
        <p:nvSpPr>
          <p:cNvPr id="3" name="TextBox 2"/>
          <p:cNvSpPr txBox="1"/>
          <p:nvPr/>
        </p:nvSpPr>
        <p:spPr>
          <a:xfrm>
            <a:off x="432000" y="738286"/>
            <a:ext cx="9036000" cy="503428"/>
          </a:xfrm>
          <a:prstGeom prst="rect">
            <a:avLst/>
          </a:prstGeom>
          <a:noFill/>
        </p:spPr>
        <p:txBody>
          <a:bodyPr wrap="square" lIns="0" tIns="21600" rIns="0" bIns="21600" anchor="ctr">
            <a:spAutoFit/>
          </a:bodyPr>
          <a:lstStyle/>
          <a:p>
            <a:pPr algn="l">
              <a:lnSpc>
                <a:spcPct val="128000"/>
              </a:lnSpc>
            </a:pPr>
            <a:r>
              <a:rPr sz="1200" dirty="0">
                <a:solidFill>
                  <a:srgbClr val="333333"/>
                </a:solidFill>
                <a:latin typeface="メイリオ"/>
                <a:ea typeface="メイリオ"/>
                <a:cs typeface="メイリオ"/>
              </a:rPr>
              <a:t>ニーズ全体図。出生数は8年で27.7%減った。それなのに学習塾市場は伸びている。</a:t>
            </a:r>
          </a:p>
          <a:p>
            <a:pPr algn="l">
              <a:lnSpc>
                <a:spcPct val="128000"/>
              </a:lnSpc>
            </a:pPr>
            <a:r>
              <a:rPr sz="1200" dirty="0" err="1">
                <a:solidFill>
                  <a:srgbClr val="333333"/>
                </a:solidFill>
                <a:latin typeface="メイリオ"/>
                <a:ea typeface="メイリオ"/>
                <a:cs typeface="メイリオ"/>
              </a:rPr>
              <a:t>より少ない子どもから、より多くの売上を取る競争になっている</a:t>
            </a:r>
            <a:r>
              <a:rPr sz="1200" dirty="0">
                <a:solidFill>
                  <a:srgbClr val="333333"/>
                </a:solidFill>
                <a:latin typeface="メイリオ"/>
                <a:ea typeface="メイリオ"/>
                <a:cs typeface="メイリオ"/>
              </a:rPr>
              <a:t>。</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32000" y="1620000"/>
            <a:ext cx="2942400" cy="1655999"/>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32000" y="1728000"/>
            <a:ext cx="2942400" cy="324000"/>
          </a:xfrm>
          <a:prstGeom prst="rect">
            <a:avLst/>
          </a:prstGeom>
          <a:noFill/>
        </p:spPr>
        <p:txBody>
          <a:bodyPr wrap="square" lIns="50400" tIns="21600" rIns="50400" bIns="21600" anchor="ctr">
            <a:spAutoFit/>
          </a:bodyPr>
          <a:lstStyle/>
          <a:p>
            <a:pPr algn="ctr">
              <a:lnSpc>
                <a:spcPct val="120000"/>
              </a:lnSpc>
            </a:pPr>
            <a:r>
              <a:rPr sz="1100" b="1">
                <a:solidFill>
                  <a:srgbClr val="1F285A"/>
                </a:solidFill>
                <a:latin typeface="メイリオ"/>
                <a:ea typeface="メイリオ"/>
                <a:cs typeface="メイリオ"/>
              </a:rPr>
              <a:t>出生数（2015→2023）</a:t>
            </a:r>
          </a:p>
        </p:txBody>
      </p:sp>
      <p:sp>
        <p:nvSpPr>
          <p:cNvPr id="7" name="TextBox 6"/>
          <p:cNvSpPr txBox="1"/>
          <p:nvPr/>
        </p:nvSpPr>
        <p:spPr>
          <a:xfrm>
            <a:off x="432000" y="2088000"/>
            <a:ext cx="2942400" cy="576000"/>
          </a:xfrm>
          <a:prstGeom prst="rect">
            <a:avLst/>
          </a:prstGeom>
          <a:noFill/>
        </p:spPr>
        <p:txBody>
          <a:bodyPr wrap="square" lIns="50400" tIns="21600" rIns="50400" bIns="21600" anchor="ctr">
            <a:spAutoFit/>
          </a:bodyPr>
          <a:lstStyle/>
          <a:p>
            <a:pPr algn="ctr"/>
            <a:r>
              <a:rPr sz="3000" b="1">
                <a:solidFill>
                  <a:srgbClr val="1F285A"/>
                </a:solidFill>
                <a:latin typeface="メイリオ"/>
                <a:ea typeface="メイリオ"/>
                <a:cs typeface="メイリオ"/>
              </a:rPr>
              <a:t>▲27.7%</a:t>
            </a:r>
          </a:p>
        </p:txBody>
      </p:sp>
      <p:sp>
        <p:nvSpPr>
          <p:cNvPr id="8" name="TextBox 7"/>
          <p:cNvSpPr txBox="1"/>
          <p:nvPr/>
        </p:nvSpPr>
        <p:spPr>
          <a:xfrm>
            <a:off x="432000" y="2700000"/>
            <a:ext cx="2942400" cy="468000"/>
          </a:xfrm>
          <a:prstGeom prst="rect">
            <a:avLst/>
          </a:prstGeom>
          <a:noFill/>
        </p:spPr>
        <p:txBody>
          <a:bodyPr wrap="square" lIns="50400" tIns="21600" rIns="50400" bIns="21600" anchor="ctr">
            <a:spAutoFit/>
          </a:bodyPr>
          <a:lstStyle/>
          <a:p>
            <a:pPr algn="ctr">
              <a:lnSpc>
                <a:spcPct val="120000"/>
              </a:lnSpc>
            </a:pPr>
            <a:r>
              <a:rPr sz="1150">
                <a:solidFill>
                  <a:srgbClr val="333333"/>
                </a:solidFill>
                <a:latin typeface="メイリオ"/>
                <a:ea typeface="メイリオ"/>
                <a:cs typeface="メイリオ"/>
              </a:rPr>
              <a:t>1,005,677人 → 727,277人</a:t>
            </a:r>
          </a:p>
        </p:txBody>
      </p:sp>
      <p:sp>
        <p:nvSpPr>
          <p:cNvPr id="9" name="Rounded Rectangle 8"/>
          <p:cNvSpPr/>
          <p:nvPr/>
        </p:nvSpPr>
        <p:spPr>
          <a:xfrm>
            <a:off x="3482400" y="1620000"/>
            <a:ext cx="2942400" cy="1655999"/>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482400" y="1728000"/>
            <a:ext cx="2942400" cy="324000"/>
          </a:xfrm>
          <a:prstGeom prst="rect">
            <a:avLst/>
          </a:prstGeom>
          <a:noFill/>
        </p:spPr>
        <p:txBody>
          <a:bodyPr wrap="square" lIns="50400" tIns="21600" rIns="50400" bIns="21600" anchor="ctr">
            <a:spAutoFit/>
          </a:bodyPr>
          <a:lstStyle/>
          <a:p>
            <a:pPr algn="ctr">
              <a:lnSpc>
                <a:spcPct val="120000"/>
              </a:lnSpc>
            </a:pPr>
            <a:r>
              <a:rPr sz="1100" b="1">
                <a:solidFill>
                  <a:srgbClr val="1F285A"/>
                </a:solidFill>
                <a:latin typeface="メイリオ"/>
                <a:ea typeface="メイリオ"/>
                <a:cs typeface="メイリオ"/>
              </a:rPr>
              <a:t>学習塾 市場規模（2020→2024）</a:t>
            </a:r>
          </a:p>
        </p:txBody>
      </p:sp>
      <p:sp>
        <p:nvSpPr>
          <p:cNvPr id="11" name="TextBox 10"/>
          <p:cNvSpPr txBox="1"/>
          <p:nvPr/>
        </p:nvSpPr>
        <p:spPr>
          <a:xfrm>
            <a:off x="3482400" y="2088000"/>
            <a:ext cx="2942400" cy="576000"/>
          </a:xfrm>
          <a:prstGeom prst="rect">
            <a:avLst/>
          </a:prstGeom>
          <a:noFill/>
        </p:spPr>
        <p:txBody>
          <a:bodyPr wrap="square" lIns="50400" tIns="21600" rIns="50400" bIns="21600" anchor="ctr">
            <a:spAutoFit/>
          </a:bodyPr>
          <a:lstStyle/>
          <a:p>
            <a:pPr algn="ctr"/>
            <a:r>
              <a:rPr sz="3000" b="1">
                <a:solidFill>
                  <a:srgbClr val="1F285A"/>
                </a:solidFill>
                <a:latin typeface="メイリオ"/>
                <a:ea typeface="メイリオ"/>
                <a:cs typeface="メイリオ"/>
              </a:rPr>
              <a:t>+13.5%</a:t>
            </a:r>
          </a:p>
        </p:txBody>
      </p:sp>
      <p:sp>
        <p:nvSpPr>
          <p:cNvPr id="12" name="TextBox 11"/>
          <p:cNvSpPr txBox="1"/>
          <p:nvPr/>
        </p:nvSpPr>
        <p:spPr>
          <a:xfrm>
            <a:off x="3482400" y="2700000"/>
            <a:ext cx="2942400" cy="468000"/>
          </a:xfrm>
          <a:prstGeom prst="rect">
            <a:avLst/>
          </a:prstGeom>
          <a:noFill/>
        </p:spPr>
        <p:txBody>
          <a:bodyPr wrap="square" lIns="50400" tIns="21600" rIns="50400" bIns="21600" anchor="ctr">
            <a:spAutoFit/>
          </a:bodyPr>
          <a:lstStyle/>
          <a:p>
            <a:pPr algn="ctr">
              <a:lnSpc>
                <a:spcPct val="120000"/>
              </a:lnSpc>
            </a:pPr>
            <a:r>
              <a:rPr sz="1150">
                <a:solidFill>
                  <a:srgbClr val="333333"/>
                </a:solidFill>
                <a:latin typeface="メイリオ"/>
                <a:ea typeface="メイリオ"/>
                <a:cs typeface="メイリオ"/>
              </a:rPr>
              <a:t>4,374億円 → 4,965億円</a:t>
            </a:r>
          </a:p>
        </p:txBody>
      </p:sp>
      <p:sp>
        <p:nvSpPr>
          <p:cNvPr id="13" name="Rounded Rectangle 12"/>
          <p:cNvSpPr/>
          <p:nvPr/>
        </p:nvSpPr>
        <p:spPr>
          <a:xfrm>
            <a:off x="6532800" y="1620000"/>
            <a:ext cx="2942400" cy="1655999"/>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532800" y="1728000"/>
            <a:ext cx="2942400" cy="324000"/>
          </a:xfrm>
          <a:prstGeom prst="rect">
            <a:avLst/>
          </a:prstGeom>
          <a:noFill/>
        </p:spPr>
        <p:txBody>
          <a:bodyPr wrap="square" lIns="50400" tIns="21600" rIns="50400" bIns="21600" anchor="ctr">
            <a:spAutoFit/>
          </a:bodyPr>
          <a:lstStyle/>
          <a:p>
            <a:pPr algn="ctr">
              <a:lnSpc>
                <a:spcPct val="120000"/>
              </a:lnSpc>
            </a:pPr>
            <a:r>
              <a:rPr sz="1100" b="1">
                <a:solidFill>
                  <a:srgbClr val="1F285A"/>
                </a:solidFill>
                <a:latin typeface="メイリオ"/>
                <a:ea typeface="メイリオ"/>
                <a:cs typeface="メイリオ"/>
              </a:rPr>
              <a:t>小学校 児童数（2015→2024）</a:t>
            </a:r>
          </a:p>
        </p:txBody>
      </p:sp>
      <p:sp>
        <p:nvSpPr>
          <p:cNvPr id="15" name="TextBox 14"/>
          <p:cNvSpPr txBox="1"/>
          <p:nvPr/>
        </p:nvSpPr>
        <p:spPr>
          <a:xfrm>
            <a:off x="6532800" y="2088000"/>
            <a:ext cx="2942400" cy="576000"/>
          </a:xfrm>
          <a:prstGeom prst="rect">
            <a:avLst/>
          </a:prstGeom>
          <a:noFill/>
        </p:spPr>
        <p:txBody>
          <a:bodyPr wrap="square" lIns="50400" tIns="21600" rIns="50400" bIns="21600" anchor="ctr">
            <a:spAutoFit/>
          </a:bodyPr>
          <a:lstStyle/>
          <a:p>
            <a:pPr algn="ctr"/>
            <a:r>
              <a:rPr sz="3000" b="1">
                <a:solidFill>
                  <a:srgbClr val="1F285A"/>
                </a:solidFill>
                <a:latin typeface="メイリオ"/>
                <a:ea typeface="メイリオ"/>
                <a:cs typeface="メイリオ"/>
              </a:rPr>
              <a:t>▲9.7%</a:t>
            </a:r>
          </a:p>
        </p:txBody>
      </p:sp>
      <p:sp>
        <p:nvSpPr>
          <p:cNvPr id="16" name="TextBox 15"/>
          <p:cNvSpPr txBox="1"/>
          <p:nvPr/>
        </p:nvSpPr>
        <p:spPr>
          <a:xfrm>
            <a:off x="6532800" y="2700000"/>
            <a:ext cx="2942400" cy="468000"/>
          </a:xfrm>
          <a:prstGeom prst="rect">
            <a:avLst/>
          </a:prstGeom>
          <a:noFill/>
        </p:spPr>
        <p:txBody>
          <a:bodyPr wrap="square" lIns="50400" tIns="21600" rIns="50400" bIns="21600" anchor="ctr">
            <a:spAutoFit/>
          </a:bodyPr>
          <a:lstStyle/>
          <a:p>
            <a:pPr algn="ctr">
              <a:lnSpc>
                <a:spcPct val="120000"/>
              </a:lnSpc>
            </a:pPr>
            <a:r>
              <a:rPr sz="1150">
                <a:solidFill>
                  <a:srgbClr val="333333"/>
                </a:solidFill>
                <a:latin typeface="メイリオ"/>
                <a:ea typeface="メイリオ"/>
                <a:cs typeface="メイリオ"/>
              </a:rPr>
              <a:t>654.3万人 → 591.0万人</a:t>
            </a:r>
          </a:p>
        </p:txBody>
      </p:sp>
      <p:sp>
        <p:nvSpPr>
          <p:cNvPr id="17" name="Rounded Rectangle 16"/>
          <p:cNvSpPr/>
          <p:nvPr/>
        </p:nvSpPr>
        <p:spPr>
          <a:xfrm>
            <a:off x="432000" y="3420000"/>
            <a:ext cx="9043200" cy="612000"/>
          </a:xfrm>
          <a:prstGeom prst="roundRect">
            <a:avLst>
              <a:gd name="adj" fmla="val 6000"/>
            </a:avLst>
          </a:prstGeom>
          <a:solidFill>
            <a:srgbClr val="E4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40000" y="3420000"/>
            <a:ext cx="8827200" cy="612000"/>
          </a:xfrm>
          <a:prstGeom prst="rect">
            <a:avLst/>
          </a:prstGeom>
          <a:noFill/>
        </p:spPr>
        <p:txBody>
          <a:bodyPr wrap="square" lIns="50400" tIns="21600" rIns="50400" bIns="21600" anchor="ctr">
            <a:spAutoFit/>
          </a:bodyPr>
          <a:lstStyle/>
          <a:p>
            <a:pPr algn="l">
              <a:lnSpc>
                <a:spcPct val="130000"/>
              </a:lnSpc>
            </a:pPr>
            <a:r>
              <a:rPr sz="1500" b="1">
                <a:solidFill>
                  <a:srgbClr val="002060"/>
                </a:solidFill>
                <a:latin typeface="メイリオ"/>
                <a:ea typeface="メイリオ"/>
                <a:cs typeface="メイリオ"/>
              </a:rPr>
              <a:t>母数は減り続ける。競争密度が上がるのはこれから。いま必要なのは、取りこぼしを拾う設計。</a:t>
            </a:r>
          </a:p>
        </p:txBody>
      </p:sp>
      <p:sp>
        <p:nvSpPr>
          <p:cNvPr id="19" name="Rounded Rectangle 18"/>
          <p:cNvSpPr/>
          <p:nvPr/>
        </p:nvSpPr>
        <p:spPr>
          <a:xfrm>
            <a:off x="432000" y="4176000"/>
            <a:ext cx="9043200" cy="900000"/>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40000" y="4230000"/>
            <a:ext cx="8827200" cy="792000"/>
          </a:xfrm>
          <a:prstGeom prst="rect">
            <a:avLst/>
          </a:prstGeom>
          <a:noFill/>
        </p:spPr>
        <p:txBody>
          <a:bodyPr wrap="square" lIns="50400" tIns="21600" rIns="50400" bIns="21600" anchor="t">
            <a:spAutoFit/>
          </a:bodyPr>
          <a:lstStyle/>
          <a:p>
            <a:pPr algn="l">
              <a:spcAft>
                <a:spcPts val="400"/>
              </a:spcAft>
            </a:pPr>
            <a:r>
              <a:rPr sz="1050" b="1">
                <a:solidFill>
                  <a:srgbClr val="C00000"/>
                </a:solidFill>
                <a:latin typeface="メイリオ"/>
                <a:ea typeface="メイリオ"/>
                <a:cs typeface="メイリオ"/>
              </a:rPr>
              <a:t>市場規模は「定義」で約2倍変わる</a:t>
            </a:r>
          </a:p>
          <a:p>
            <a:pPr algn="l">
              <a:lnSpc>
                <a:spcPct val="125000"/>
              </a:lnSpc>
              <a:spcAft>
                <a:spcPts val="200"/>
              </a:spcAft>
            </a:pPr>
            <a:r>
              <a:rPr sz="900">
                <a:solidFill>
                  <a:srgbClr val="333333"/>
                </a:solidFill>
                <a:latin typeface="メイリオ"/>
                <a:ea typeface="メイリオ"/>
                <a:cs typeface="メイリオ"/>
              </a:rPr>
              <a:t>経産省「特定サービス産業動態統計」4,965億円＝受講生500人以上の主要事業者のみ（市場の約4〜5割）。個人塾・中小は含まない。</a:t>
            </a:r>
          </a:p>
          <a:p>
            <a:pPr algn="l">
              <a:lnSpc>
                <a:spcPct val="125000"/>
              </a:lnSpc>
            </a:pPr>
            <a:r>
              <a:rPr sz="900">
                <a:solidFill>
                  <a:srgbClr val="333333"/>
                </a:solidFill>
                <a:latin typeface="メイリオ"/>
                <a:ea typeface="メイリオ"/>
                <a:cs typeface="メイリオ"/>
              </a:rPr>
              <a:t>矢野経済研究所の全体推計＝9,870億円（2023年度）。個人経営の補習塾・中小予備校まで含むため約2倍。どちらも正しく、定義が違うだけ。</a:t>
            </a:r>
          </a:p>
        </p:txBody>
      </p:sp>
      <p:sp>
        <p:nvSpPr>
          <p:cNvPr id="21" name="TextBox 20"/>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750">
                <a:solidFill>
                  <a:srgbClr val="7F7F7F"/>
                </a:solidFill>
                <a:latin typeface="メイリオ"/>
                <a:ea typeface="メイリオ"/>
                <a:cs typeface="メイリオ"/>
              </a:rPr>
              <a:t>出典｜厚生労働省 人口動態統計（確定数）／経済産業省 特定サービス産業動態統計（2025年3月公表・2024年確報）／文部科学省 学校基本調査（令和6年度確報）／矢野経済研究所「教育産業市場に関する調査」2024年</a:t>
            </a:r>
          </a:p>
        </p:txBody>
      </p:sp>
    </p:spTree>
    <p:extLst>
      <p:ext uri="{BB962C8B-B14F-4D97-AF65-F5344CB8AC3E}">
        <p14:creationId xmlns:p14="http://schemas.microsoft.com/office/powerpoint/2010/main" val="6762304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2A4235-DDB6-F649-58D2-961B2D0F3AC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D2809366-14CD-B7C0-993B-02E77316592B}"/>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14AF9D62-76E2-92FA-477E-9FC9FEFA77D6}"/>
              </a:ext>
            </a:extLst>
          </p:cNvPr>
          <p:cNvSpPr/>
          <p:nvPr/>
        </p:nvSpPr>
        <p:spPr>
          <a:xfrm>
            <a:off x="3629577" y="3038203"/>
            <a:ext cx="2646878"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配信の考え方</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3647864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758B38-C7A2-1CE4-FDFD-8D6A744BB635}"/>
            </a:ext>
          </a:extLst>
        </p:cNvPr>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前後検索｜誰が調べているか</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a:solidFill>
                  <a:srgbClr val="333333"/>
                </a:solidFill>
                <a:latin typeface="メイリオ"/>
                <a:ea typeface="メイリオ"/>
                <a:cs typeface="メイリオ"/>
              </a:rPr>
              <a:t>塾を調べているのは40代の母親。選ぶときに一番困っているのは、料金ではなく</a:t>
            </a:r>
          </a:p>
          <a:p>
            <a:pPr algn="l">
              <a:lnSpc>
                <a:spcPct val="128000"/>
              </a:lnSpc>
            </a:pPr>
            <a:r>
              <a:rPr sz="1200">
                <a:solidFill>
                  <a:srgbClr val="333333"/>
                </a:solidFill>
                <a:latin typeface="メイリオ"/>
                <a:ea typeface="メイリオ"/>
                <a:cs typeface="メイリオ"/>
              </a:rPr>
              <a:t>「うちの子に合う塾が分からない」（63.5%）。払う気はある。合うか分からないから決められない。</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32000" y="1619999"/>
            <a:ext cx="4176000" cy="3367589"/>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57999" y="1692000"/>
            <a:ext cx="3960000" cy="288000"/>
          </a:xfrm>
          <a:prstGeom prst="rect">
            <a:avLst/>
          </a:prstGeom>
          <a:noFill/>
        </p:spPr>
        <p:txBody>
          <a:bodyPr wrap="square" lIns="50400" tIns="21600" rIns="50400" bIns="21600" anchor="ctr">
            <a:spAutoFit/>
          </a:bodyPr>
          <a:lstStyle/>
          <a:p>
            <a:pPr algn="l"/>
            <a:r>
              <a:rPr sz="1150" b="1">
                <a:solidFill>
                  <a:srgbClr val="1F285A"/>
                </a:solidFill>
                <a:latin typeface="メイリオ"/>
                <a:ea typeface="メイリオ"/>
                <a:cs typeface="メイリオ"/>
              </a:rPr>
              <a:t>誰が調べているか（LINEヤフー前後検索・実測）</a:t>
            </a:r>
          </a:p>
        </p:txBody>
      </p:sp>
      <p:sp>
        <p:nvSpPr>
          <p:cNvPr id="7" name="Rounded Rectangle 6"/>
          <p:cNvSpPr/>
          <p:nvPr/>
        </p:nvSpPr>
        <p:spPr>
          <a:xfrm>
            <a:off x="557999" y="2051999"/>
            <a:ext cx="900000" cy="552496"/>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8" name="TextBox 7"/>
          <p:cNvSpPr txBox="1"/>
          <p:nvPr/>
        </p:nvSpPr>
        <p:spPr>
          <a:xfrm>
            <a:off x="566235" y="2254458"/>
            <a:ext cx="900000" cy="197510"/>
          </a:xfrm>
          <a:prstGeom prst="rect">
            <a:avLst/>
          </a:prstGeom>
          <a:noFill/>
        </p:spPr>
        <p:txBody>
          <a:bodyPr wrap="square" lIns="50400" tIns="21600" rIns="50400" bIns="21600" anchor="ctr">
            <a:spAutoFit/>
          </a:bodyPr>
          <a:lstStyle/>
          <a:p>
            <a:pPr algn="ctr"/>
            <a:r>
              <a:rPr sz="1000" b="1" dirty="0" err="1">
                <a:solidFill>
                  <a:srgbClr val="FFFFFF"/>
                </a:solidFill>
                <a:latin typeface="メイリオ"/>
                <a:ea typeface="メイリオ"/>
                <a:cs typeface="メイリオ"/>
              </a:rPr>
              <a:t>性別</a:t>
            </a:r>
            <a:endParaRPr sz="1000" b="1" dirty="0">
              <a:solidFill>
                <a:srgbClr val="FFFFFF"/>
              </a:solidFill>
              <a:latin typeface="メイリオ"/>
              <a:ea typeface="メイリオ"/>
              <a:cs typeface="メイリオ"/>
            </a:endParaRPr>
          </a:p>
        </p:txBody>
      </p:sp>
      <p:sp>
        <p:nvSpPr>
          <p:cNvPr id="9" name="TextBox 8"/>
          <p:cNvSpPr txBox="1"/>
          <p:nvPr/>
        </p:nvSpPr>
        <p:spPr>
          <a:xfrm>
            <a:off x="1530000" y="2034167"/>
            <a:ext cx="1080000" cy="536064"/>
          </a:xfrm>
          <a:prstGeom prst="rect">
            <a:avLst/>
          </a:prstGeom>
          <a:noFill/>
        </p:spPr>
        <p:txBody>
          <a:bodyPr wrap="square" lIns="50400" tIns="21600" rIns="50400" bIns="21600" anchor="ctr">
            <a:spAutoFit/>
          </a:bodyPr>
          <a:lstStyle/>
          <a:p>
            <a:pPr algn="ctr"/>
            <a:r>
              <a:rPr sz="1600" b="1" dirty="0" err="1">
                <a:solidFill>
                  <a:srgbClr val="1F285A"/>
                </a:solidFill>
                <a:latin typeface="メイリオ"/>
                <a:ea typeface="メイリオ"/>
                <a:cs typeface="メイリオ"/>
              </a:rPr>
              <a:t>女性</a:t>
            </a:r>
            <a:r>
              <a:rPr sz="1600" b="1" dirty="0">
                <a:solidFill>
                  <a:srgbClr val="1F285A"/>
                </a:solidFill>
                <a:latin typeface="メイリオ"/>
                <a:ea typeface="メイリオ"/>
                <a:cs typeface="メイリオ"/>
              </a:rPr>
              <a:t> 67.4%</a:t>
            </a:r>
          </a:p>
        </p:txBody>
      </p:sp>
      <p:sp>
        <p:nvSpPr>
          <p:cNvPr id="10" name="TextBox 9"/>
          <p:cNvSpPr txBox="1"/>
          <p:nvPr/>
        </p:nvSpPr>
        <p:spPr>
          <a:xfrm>
            <a:off x="2637000" y="2168665"/>
            <a:ext cx="1835999" cy="369096"/>
          </a:xfrm>
          <a:prstGeom prst="rect">
            <a:avLst/>
          </a:prstGeom>
          <a:noFill/>
        </p:spPr>
        <p:txBody>
          <a:bodyPr wrap="square" lIns="50400" tIns="21600" rIns="50400" bIns="21600" anchor="ctr">
            <a:spAutoFit/>
          </a:bodyPr>
          <a:lstStyle/>
          <a:p>
            <a:pPr algn="l">
              <a:lnSpc>
                <a:spcPct val="120000"/>
              </a:lnSpc>
            </a:pPr>
            <a:r>
              <a:rPr sz="900" dirty="0" err="1">
                <a:solidFill>
                  <a:srgbClr val="333333"/>
                </a:solidFill>
                <a:latin typeface="メイリオ"/>
                <a:ea typeface="メイリオ"/>
                <a:cs typeface="メイリオ"/>
              </a:rPr>
              <a:t>起点KW「塾</a:t>
            </a:r>
            <a:r>
              <a:rPr sz="900" dirty="0">
                <a:solidFill>
                  <a:srgbClr val="333333"/>
                </a:solidFill>
                <a:latin typeface="メイリオ"/>
                <a:ea typeface="メイリオ"/>
                <a:cs typeface="メイリオ"/>
              </a:rPr>
              <a:t>」</a:t>
            </a:r>
            <a:endParaRPr lang="en-US" sz="900" dirty="0">
              <a:solidFill>
                <a:srgbClr val="333333"/>
              </a:solidFill>
              <a:latin typeface="メイリオ"/>
              <a:ea typeface="メイリオ"/>
              <a:cs typeface="メイリオ"/>
            </a:endParaRPr>
          </a:p>
          <a:p>
            <a:pPr algn="l">
              <a:lnSpc>
                <a:spcPct val="120000"/>
              </a:lnSpc>
            </a:pPr>
            <a:r>
              <a:rPr sz="900" dirty="0">
                <a:solidFill>
                  <a:srgbClr val="333333"/>
                </a:solidFill>
                <a:latin typeface="メイリオ"/>
                <a:ea typeface="メイリオ"/>
                <a:cs typeface="メイリオ"/>
              </a:rPr>
              <a:t>「塾 費用」も65.5%</a:t>
            </a:r>
          </a:p>
        </p:txBody>
      </p:sp>
      <p:sp>
        <p:nvSpPr>
          <p:cNvPr id="11" name="Rounded Rectangle 10"/>
          <p:cNvSpPr/>
          <p:nvPr/>
        </p:nvSpPr>
        <p:spPr>
          <a:xfrm>
            <a:off x="566235" y="2789377"/>
            <a:ext cx="900000" cy="552496"/>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2" name="TextBox 11"/>
          <p:cNvSpPr txBox="1"/>
          <p:nvPr/>
        </p:nvSpPr>
        <p:spPr>
          <a:xfrm>
            <a:off x="557237" y="2964370"/>
            <a:ext cx="900000" cy="197510"/>
          </a:xfrm>
          <a:prstGeom prst="rect">
            <a:avLst/>
          </a:prstGeom>
          <a:noFill/>
        </p:spPr>
        <p:txBody>
          <a:bodyPr wrap="square" lIns="50400" tIns="21600" rIns="50400" bIns="21600" anchor="ctr">
            <a:spAutoFit/>
          </a:bodyPr>
          <a:lstStyle/>
          <a:p>
            <a:pPr algn="ctr"/>
            <a:r>
              <a:rPr sz="1000" b="1" dirty="0" err="1">
                <a:solidFill>
                  <a:srgbClr val="FFFFFF"/>
                </a:solidFill>
                <a:latin typeface="メイリオ"/>
                <a:ea typeface="メイリオ"/>
                <a:cs typeface="メイリオ"/>
              </a:rPr>
              <a:t>個別クエリ</a:t>
            </a:r>
            <a:endParaRPr sz="1000" b="1" dirty="0">
              <a:solidFill>
                <a:srgbClr val="FFFFFF"/>
              </a:solidFill>
              <a:latin typeface="メイリオ"/>
              <a:ea typeface="メイリオ"/>
              <a:cs typeface="メイリオ"/>
            </a:endParaRPr>
          </a:p>
        </p:txBody>
      </p:sp>
      <p:sp>
        <p:nvSpPr>
          <p:cNvPr id="13" name="TextBox 12"/>
          <p:cNvSpPr txBox="1"/>
          <p:nvPr/>
        </p:nvSpPr>
        <p:spPr>
          <a:xfrm>
            <a:off x="1565236" y="2785546"/>
            <a:ext cx="1080000" cy="536064"/>
          </a:xfrm>
          <a:prstGeom prst="rect">
            <a:avLst/>
          </a:prstGeom>
          <a:noFill/>
        </p:spPr>
        <p:txBody>
          <a:bodyPr wrap="square" lIns="50400" tIns="21600" rIns="50400" bIns="21600" anchor="ctr">
            <a:spAutoFit/>
          </a:bodyPr>
          <a:lstStyle/>
          <a:p>
            <a:pPr algn="ctr"/>
            <a:r>
              <a:rPr sz="1600" b="1" dirty="0" err="1">
                <a:solidFill>
                  <a:srgbClr val="1F285A"/>
                </a:solidFill>
                <a:latin typeface="メイリオ"/>
                <a:ea typeface="メイリオ"/>
                <a:cs typeface="メイリオ"/>
              </a:rPr>
              <a:t>女性</a:t>
            </a:r>
            <a:r>
              <a:rPr sz="1600" b="1" dirty="0">
                <a:solidFill>
                  <a:srgbClr val="1F285A"/>
                </a:solidFill>
                <a:latin typeface="メイリオ"/>
                <a:ea typeface="メイリオ"/>
                <a:cs typeface="メイリオ"/>
              </a:rPr>
              <a:t> 86〜88%</a:t>
            </a:r>
          </a:p>
        </p:txBody>
      </p:sp>
      <p:sp>
        <p:nvSpPr>
          <p:cNvPr id="14" name="TextBox 13"/>
          <p:cNvSpPr txBox="1"/>
          <p:nvPr/>
        </p:nvSpPr>
        <p:spPr>
          <a:xfrm>
            <a:off x="2618236" y="2780764"/>
            <a:ext cx="1835999" cy="535295"/>
          </a:xfrm>
          <a:prstGeom prst="rect">
            <a:avLst/>
          </a:prstGeom>
          <a:noFill/>
        </p:spPr>
        <p:txBody>
          <a:bodyPr wrap="square" lIns="50400" tIns="21600" rIns="50400" bIns="21600" anchor="ctr">
            <a:spAutoFit/>
          </a:bodyPr>
          <a:lstStyle/>
          <a:p>
            <a:pPr algn="l">
              <a:lnSpc>
                <a:spcPct val="120000"/>
              </a:lnSpc>
            </a:pPr>
            <a:r>
              <a:rPr sz="900" dirty="0">
                <a:solidFill>
                  <a:srgbClr val="333333"/>
                </a:solidFill>
                <a:latin typeface="メイリオ"/>
                <a:ea typeface="メイリオ"/>
                <a:cs typeface="メイリオ"/>
              </a:rPr>
              <a:t>「塾 いつから通わせる」86.5%／「</a:t>
            </a:r>
            <a:r>
              <a:rPr sz="900" dirty="0" err="1">
                <a:solidFill>
                  <a:srgbClr val="333333"/>
                </a:solidFill>
                <a:latin typeface="メイリオ"/>
                <a:ea typeface="メイリオ"/>
                <a:cs typeface="メイリオ"/>
              </a:rPr>
              <a:t>高校受験</a:t>
            </a:r>
            <a:r>
              <a:rPr sz="900" dirty="0">
                <a:solidFill>
                  <a:srgbClr val="333333"/>
                </a:solidFill>
                <a:latin typeface="メイリオ"/>
                <a:ea typeface="メイリオ"/>
                <a:cs typeface="メイリオ"/>
              </a:rPr>
              <a:t> 塾 いつから」87.9%</a:t>
            </a:r>
          </a:p>
        </p:txBody>
      </p:sp>
      <p:sp>
        <p:nvSpPr>
          <p:cNvPr id="15" name="Rounded Rectangle 14"/>
          <p:cNvSpPr/>
          <p:nvPr/>
        </p:nvSpPr>
        <p:spPr>
          <a:xfrm>
            <a:off x="547200" y="3534116"/>
            <a:ext cx="900000" cy="552496"/>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6" name="TextBox 15"/>
          <p:cNvSpPr txBox="1"/>
          <p:nvPr/>
        </p:nvSpPr>
        <p:spPr>
          <a:xfrm>
            <a:off x="547200" y="3711609"/>
            <a:ext cx="900000" cy="197510"/>
          </a:xfrm>
          <a:prstGeom prst="rect">
            <a:avLst/>
          </a:prstGeom>
          <a:noFill/>
        </p:spPr>
        <p:txBody>
          <a:bodyPr wrap="square" lIns="50400" tIns="21600" rIns="50400" bIns="21600" anchor="ctr">
            <a:spAutoFit/>
          </a:bodyPr>
          <a:lstStyle/>
          <a:p>
            <a:pPr algn="ctr"/>
            <a:r>
              <a:rPr sz="1000" b="1">
                <a:solidFill>
                  <a:srgbClr val="FFFFFF"/>
                </a:solidFill>
                <a:latin typeface="メイリオ"/>
                <a:ea typeface="メイリオ"/>
                <a:cs typeface="メイリオ"/>
              </a:rPr>
              <a:t>年代</a:t>
            </a:r>
          </a:p>
        </p:txBody>
      </p:sp>
      <p:sp>
        <p:nvSpPr>
          <p:cNvPr id="17" name="TextBox 16"/>
          <p:cNvSpPr txBox="1"/>
          <p:nvPr/>
        </p:nvSpPr>
        <p:spPr>
          <a:xfrm>
            <a:off x="1519201" y="3532792"/>
            <a:ext cx="1080000" cy="536064"/>
          </a:xfrm>
          <a:prstGeom prst="rect">
            <a:avLst/>
          </a:prstGeom>
          <a:noFill/>
        </p:spPr>
        <p:txBody>
          <a:bodyPr wrap="square" lIns="50400" tIns="21600" rIns="50400" bIns="21600" anchor="ctr">
            <a:spAutoFit/>
          </a:bodyPr>
          <a:lstStyle/>
          <a:p>
            <a:pPr algn="ctr"/>
            <a:r>
              <a:rPr sz="1600" b="1" dirty="0">
                <a:solidFill>
                  <a:srgbClr val="1F285A"/>
                </a:solidFill>
                <a:latin typeface="メイリオ"/>
                <a:ea typeface="メイリオ"/>
                <a:cs typeface="メイリオ"/>
              </a:rPr>
              <a:t>40代 52.8%</a:t>
            </a:r>
          </a:p>
        </p:txBody>
      </p:sp>
      <p:sp>
        <p:nvSpPr>
          <p:cNvPr id="18" name="TextBox 17"/>
          <p:cNvSpPr txBox="1"/>
          <p:nvPr/>
        </p:nvSpPr>
        <p:spPr>
          <a:xfrm>
            <a:off x="2599201" y="3629769"/>
            <a:ext cx="1835999" cy="369096"/>
          </a:xfrm>
          <a:prstGeom prst="rect">
            <a:avLst/>
          </a:prstGeom>
          <a:noFill/>
        </p:spPr>
        <p:txBody>
          <a:bodyPr wrap="square" lIns="50400" tIns="21600" rIns="50400" bIns="21600" anchor="ctr">
            <a:spAutoFit/>
          </a:bodyPr>
          <a:lstStyle/>
          <a:p>
            <a:pPr algn="l">
              <a:lnSpc>
                <a:spcPct val="120000"/>
              </a:lnSpc>
            </a:pPr>
            <a:r>
              <a:rPr sz="900" dirty="0">
                <a:solidFill>
                  <a:srgbClr val="333333"/>
                </a:solidFill>
                <a:latin typeface="メイリオ"/>
                <a:ea typeface="メイリオ"/>
                <a:cs typeface="メイリオ"/>
              </a:rPr>
              <a:t>50代23.5%／30代11.1%</a:t>
            </a:r>
            <a:endParaRPr lang="en-US" sz="900" dirty="0">
              <a:solidFill>
                <a:srgbClr val="333333"/>
              </a:solidFill>
              <a:latin typeface="メイリオ"/>
              <a:ea typeface="メイリオ"/>
              <a:cs typeface="メイリオ"/>
            </a:endParaRPr>
          </a:p>
          <a:p>
            <a:pPr algn="l">
              <a:lnSpc>
                <a:spcPct val="120000"/>
              </a:lnSpc>
            </a:pPr>
            <a:r>
              <a:rPr sz="900" dirty="0">
                <a:solidFill>
                  <a:srgbClr val="333333"/>
                </a:solidFill>
                <a:latin typeface="メイリオ"/>
                <a:ea typeface="メイリオ"/>
                <a:cs typeface="メイリオ"/>
              </a:rPr>
              <a:t>（</a:t>
            </a:r>
            <a:r>
              <a:rPr sz="900" dirty="0" err="1">
                <a:solidFill>
                  <a:srgbClr val="333333"/>
                </a:solidFill>
                <a:latin typeface="メイリオ"/>
                <a:ea typeface="メイリオ"/>
                <a:cs typeface="メイリオ"/>
              </a:rPr>
              <a:t>同音異義語ノイズ除外後</a:t>
            </a:r>
            <a:r>
              <a:rPr sz="900" dirty="0">
                <a:solidFill>
                  <a:srgbClr val="333333"/>
                </a:solidFill>
                <a:latin typeface="メイリオ"/>
                <a:ea typeface="メイリオ"/>
                <a:cs typeface="メイリオ"/>
              </a:rPr>
              <a:t>）</a:t>
            </a:r>
          </a:p>
        </p:txBody>
      </p:sp>
      <p:sp>
        <p:nvSpPr>
          <p:cNvPr id="19" name="Rounded Rectangle 18"/>
          <p:cNvSpPr/>
          <p:nvPr/>
        </p:nvSpPr>
        <p:spPr>
          <a:xfrm>
            <a:off x="571201" y="4256255"/>
            <a:ext cx="900000" cy="552496"/>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0" name="TextBox 19"/>
          <p:cNvSpPr txBox="1"/>
          <p:nvPr/>
        </p:nvSpPr>
        <p:spPr>
          <a:xfrm>
            <a:off x="566235" y="4433748"/>
            <a:ext cx="900000" cy="197510"/>
          </a:xfrm>
          <a:prstGeom prst="rect">
            <a:avLst/>
          </a:prstGeom>
          <a:noFill/>
        </p:spPr>
        <p:txBody>
          <a:bodyPr wrap="square" lIns="50400" tIns="21600" rIns="50400" bIns="21600" anchor="ctr">
            <a:spAutoFit/>
          </a:bodyPr>
          <a:lstStyle/>
          <a:p>
            <a:pPr algn="ctr"/>
            <a:r>
              <a:rPr sz="1000" b="1" dirty="0" err="1">
                <a:solidFill>
                  <a:srgbClr val="FFFFFF"/>
                </a:solidFill>
                <a:latin typeface="メイリオ"/>
                <a:ea typeface="メイリオ"/>
                <a:cs typeface="メイリオ"/>
              </a:rPr>
              <a:t>学年別の違い</a:t>
            </a:r>
            <a:endParaRPr sz="1000" b="1" dirty="0">
              <a:solidFill>
                <a:srgbClr val="FFFFFF"/>
              </a:solidFill>
              <a:latin typeface="メイリオ"/>
              <a:ea typeface="メイリオ"/>
              <a:cs typeface="メイリオ"/>
            </a:endParaRPr>
          </a:p>
        </p:txBody>
      </p:sp>
      <p:sp>
        <p:nvSpPr>
          <p:cNvPr id="21" name="TextBox 20"/>
          <p:cNvSpPr txBox="1"/>
          <p:nvPr/>
        </p:nvSpPr>
        <p:spPr>
          <a:xfrm>
            <a:off x="1543202" y="4274695"/>
            <a:ext cx="1080000" cy="536064"/>
          </a:xfrm>
          <a:prstGeom prst="rect">
            <a:avLst/>
          </a:prstGeom>
          <a:noFill/>
        </p:spPr>
        <p:txBody>
          <a:bodyPr wrap="square" lIns="50400" tIns="21600" rIns="50400" bIns="21600" anchor="ctr">
            <a:spAutoFit/>
          </a:bodyPr>
          <a:lstStyle/>
          <a:p>
            <a:pPr algn="ctr"/>
            <a:r>
              <a:rPr sz="1600" b="1" dirty="0">
                <a:solidFill>
                  <a:srgbClr val="1F285A"/>
                </a:solidFill>
                <a:latin typeface="メイリオ"/>
                <a:ea typeface="メイリオ"/>
                <a:cs typeface="メイリオ"/>
              </a:rPr>
              <a:t>30代 22.1%</a:t>
            </a:r>
          </a:p>
        </p:txBody>
      </p:sp>
      <p:sp>
        <p:nvSpPr>
          <p:cNvPr id="22" name="TextBox 21"/>
          <p:cNvSpPr txBox="1"/>
          <p:nvPr/>
        </p:nvSpPr>
        <p:spPr>
          <a:xfrm>
            <a:off x="2650201" y="4348247"/>
            <a:ext cx="1835999" cy="369096"/>
          </a:xfrm>
          <a:prstGeom prst="rect">
            <a:avLst/>
          </a:prstGeom>
          <a:noFill/>
        </p:spPr>
        <p:txBody>
          <a:bodyPr wrap="square" lIns="50400" tIns="21600" rIns="50400" bIns="21600" anchor="ctr">
            <a:spAutoFit/>
          </a:bodyPr>
          <a:lstStyle/>
          <a:p>
            <a:pPr algn="l">
              <a:lnSpc>
                <a:spcPct val="120000"/>
              </a:lnSpc>
            </a:pPr>
            <a:r>
              <a:rPr sz="900" dirty="0">
                <a:solidFill>
                  <a:srgbClr val="333333"/>
                </a:solidFill>
                <a:latin typeface="メイリオ"/>
                <a:ea typeface="メイリオ"/>
                <a:cs typeface="メイリオ"/>
              </a:rPr>
              <a:t>「塾 費用」では30代が上昇</a:t>
            </a:r>
            <a:endParaRPr lang="en-US" sz="900" dirty="0">
              <a:solidFill>
                <a:srgbClr val="333333"/>
              </a:solidFill>
              <a:latin typeface="メイリオ"/>
              <a:ea typeface="メイリオ"/>
              <a:cs typeface="メイリオ"/>
            </a:endParaRPr>
          </a:p>
          <a:p>
            <a:pPr algn="l">
              <a:lnSpc>
                <a:spcPct val="120000"/>
              </a:lnSpc>
            </a:pPr>
            <a:r>
              <a:rPr sz="900" dirty="0">
                <a:solidFill>
                  <a:srgbClr val="333333"/>
                </a:solidFill>
                <a:latin typeface="メイリオ"/>
                <a:ea typeface="メイリオ"/>
                <a:cs typeface="メイリオ"/>
              </a:rPr>
              <a:t>＝小学生の保護者は30代</a:t>
            </a:r>
          </a:p>
        </p:txBody>
      </p:sp>
      <p:sp>
        <p:nvSpPr>
          <p:cNvPr id="24" name="Rounded Rectangle 23"/>
          <p:cNvSpPr/>
          <p:nvPr/>
        </p:nvSpPr>
        <p:spPr>
          <a:xfrm>
            <a:off x="4823999" y="1619999"/>
            <a:ext cx="4651200" cy="3367587"/>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949999" y="1692000"/>
            <a:ext cx="4392000" cy="288000"/>
          </a:xfrm>
          <a:prstGeom prst="rect">
            <a:avLst/>
          </a:prstGeom>
          <a:noFill/>
        </p:spPr>
        <p:txBody>
          <a:bodyPr wrap="square" lIns="50400" tIns="21600" rIns="50400" bIns="21600" anchor="ctr">
            <a:spAutoFit/>
          </a:bodyPr>
          <a:lstStyle/>
          <a:p>
            <a:pPr algn="l"/>
            <a:r>
              <a:rPr sz="1150" b="1">
                <a:solidFill>
                  <a:srgbClr val="1F285A"/>
                </a:solidFill>
                <a:latin typeface="メイリオ"/>
                <a:ea typeface="メイリオ"/>
                <a:cs typeface="メイリオ"/>
              </a:rPr>
              <a:t>保護者の心の声（データの翻訳）</a:t>
            </a:r>
          </a:p>
        </p:txBody>
      </p:sp>
      <p:sp>
        <p:nvSpPr>
          <p:cNvPr id="26" name="Rounded Rectangle 25"/>
          <p:cNvSpPr/>
          <p:nvPr/>
        </p:nvSpPr>
        <p:spPr>
          <a:xfrm>
            <a:off x="4949999" y="2051998"/>
            <a:ext cx="4392000" cy="512905"/>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100800" tIns="28800" rIns="72000" bIns="28800" rtlCol="0" anchor="ctr"/>
          <a:lstStyle/>
          <a:p>
            <a:pPr algn="l">
              <a:spcAft>
                <a:spcPts val="200"/>
              </a:spcAft>
            </a:pPr>
            <a:r>
              <a:rPr sz="1100" b="1" dirty="0">
                <a:solidFill>
                  <a:srgbClr val="333333"/>
                </a:solidFill>
                <a:latin typeface="メイリオ"/>
                <a:ea typeface="メイリオ"/>
                <a:cs typeface="メイリオ"/>
              </a:rPr>
              <a:t>「</a:t>
            </a:r>
            <a:r>
              <a:rPr sz="1100" b="1" dirty="0" err="1">
                <a:solidFill>
                  <a:srgbClr val="333333"/>
                </a:solidFill>
                <a:latin typeface="メイリオ"/>
                <a:ea typeface="メイリオ"/>
                <a:cs typeface="メイリオ"/>
              </a:rPr>
              <a:t>うちの子に合うのか、通ってみるまで分からない</a:t>
            </a:r>
            <a:r>
              <a:rPr sz="1100" b="1" dirty="0">
                <a:solidFill>
                  <a:srgbClr val="333333"/>
                </a:solidFill>
                <a:latin typeface="メイリオ"/>
                <a:ea typeface="メイリオ"/>
                <a:cs typeface="メイリオ"/>
              </a:rPr>
              <a:t>」</a:t>
            </a:r>
          </a:p>
          <a:p>
            <a:pPr algn="l">
              <a:lnSpc>
                <a:spcPct val="115000"/>
              </a:lnSpc>
            </a:pPr>
            <a:r>
              <a:rPr sz="900" dirty="0" err="1">
                <a:solidFill>
                  <a:srgbClr val="7F7F7F"/>
                </a:solidFill>
                <a:latin typeface="メイリオ"/>
                <a:ea typeface="メイリオ"/>
                <a:cs typeface="メイリオ"/>
              </a:rPr>
              <a:t>塾選び最大の苦労</a:t>
            </a:r>
            <a:r>
              <a:rPr sz="900" dirty="0">
                <a:solidFill>
                  <a:srgbClr val="7F7F7F"/>
                </a:solidFill>
                <a:latin typeface="メイリオ"/>
                <a:ea typeface="メイリオ"/>
                <a:cs typeface="メイリオ"/>
              </a:rPr>
              <a:t> 63.5%（塾ナラ2025・n=200）</a:t>
            </a:r>
          </a:p>
        </p:txBody>
      </p:sp>
      <p:sp>
        <p:nvSpPr>
          <p:cNvPr id="27" name="Rounded Rectangle 26"/>
          <p:cNvSpPr/>
          <p:nvPr/>
        </p:nvSpPr>
        <p:spPr>
          <a:xfrm>
            <a:off x="4942799" y="2806673"/>
            <a:ext cx="4392000" cy="512905"/>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100800" tIns="28800" rIns="72000" bIns="28800" rtlCol="0" anchor="ctr"/>
          <a:lstStyle/>
          <a:p>
            <a:pPr algn="l">
              <a:spcAft>
                <a:spcPts val="200"/>
              </a:spcAft>
            </a:pPr>
            <a:r>
              <a:rPr sz="1100" b="1" dirty="0">
                <a:solidFill>
                  <a:srgbClr val="333333"/>
                </a:solidFill>
                <a:latin typeface="メイリオ"/>
                <a:ea typeface="メイリオ"/>
                <a:cs typeface="メイリオ"/>
              </a:rPr>
              <a:t>「</a:t>
            </a:r>
            <a:r>
              <a:rPr sz="1100" b="1" dirty="0" err="1">
                <a:solidFill>
                  <a:srgbClr val="333333"/>
                </a:solidFill>
                <a:latin typeface="メイリオ"/>
                <a:ea typeface="メイリオ"/>
                <a:cs typeface="メイリオ"/>
              </a:rPr>
              <a:t>集団と個別、どっちが向いてるのか判断できない</a:t>
            </a:r>
            <a:r>
              <a:rPr sz="1100" b="1" dirty="0">
                <a:solidFill>
                  <a:srgbClr val="333333"/>
                </a:solidFill>
                <a:latin typeface="メイリオ"/>
                <a:ea typeface="メイリオ"/>
                <a:cs typeface="メイリオ"/>
              </a:rPr>
              <a:t>」</a:t>
            </a:r>
          </a:p>
          <a:p>
            <a:pPr algn="l">
              <a:lnSpc>
                <a:spcPct val="115000"/>
              </a:lnSpc>
            </a:pPr>
            <a:r>
              <a:rPr sz="900" dirty="0">
                <a:solidFill>
                  <a:srgbClr val="7F7F7F"/>
                </a:solidFill>
                <a:latin typeface="メイリオ"/>
                <a:ea typeface="メイリオ"/>
                <a:cs typeface="メイリオ"/>
              </a:rPr>
              <a:t>「情報が多すぎる」17.0%</a:t>
            </a:r>
          </a:p>
        </p:txBody>
      </p:sp>
      <p:sp>
        <p:nvSpPr>
          <p:cNvPr id="28" name="Rounded Rectangle 27"/>
          <p:cNvSpPr/>
          <p:nvPr/>
        </p:nvSpPr>
        <p:spPr>
          <a:xfrm>
            <a:off x="4942799" y="3561348"/>
            <a:ext cx="4392000" cy="512905"/>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100800" tIns="28800" rIns="72000" bIns="28800" rtlCol="0" anchor="ctr"/>
          <a:lstStyle/>
          <a:p>
            <a:pPr algn="l">
              <a:spcAft>
                <a:spcPts val="200"/>
              </a:spcAft>
            </a:pPr>
            <a:r>
              <a:rPr sz="1100" b="1" dirty="0">
                <a:solidFill>
                  <a:srgbClr val="333333"/>
                </a:solidFill>
                <a:latin typeface="メイリオ"/>
                <a:ea typeface="メイリオ"/>
                <a:cs typeface="メイリオ"/>
              </a:rPr>
              <a:t>「</a:t>
            </a:r>
            <a:r>
              <a:rPr sz="1100" b="1" dirty="0" err="1">
                <a:solidFill>
                  <a:srgbClr val="333333"/>
                </a:solidFill>
                <a:latin typeface="メイリオ"/>
                <a:ea typeface="メイリオ"/>
                <a:cs typeface="メイリオ"/>
              </a:rPr>
              <a:t>月謝の他に講習費がいくら乗るのか読めない</a:t>
            </a:r>
            <a:r>
              <a:rPr sz="1100" b="1" dirty="0">
                <a:solidFill>
                  <a:srgbClr val="333333"/>
                </a:solidFill>
                <a:latin typeface="メイリオ"/>
                <a:ea typeface="メイリオ"/>
                <a:cs typeface="メイリオ"/>
              </a:rPr>
              <a:t>」</a:t>
            </a:r>
          </a:p>
          <a:p>
            <a:pPr algn="l">
              <a:lnSpc>
                <a:spcPct val="115000"/>
              </a:lnSpc>
            </a:pPr>
            <a:r>
              <a:rPr sz="900" dirty="0">
                <a:solidFill>
                  <a:srgbClr val="7F7F7F"/>
                </a:solidFill>
                <a:latin typeface="メイリオ"/>
                <a:ea typeface="メイリオ"/>
                <a:cs typeface="メイリオ"/>
              </a:rPr>
              <a:t>費用に負担を感じる91.2%／一方で「妥当」57.7%（塾シル2026）</a:t>
            </a:r>
          </a:p>
        </p:txBody>
      </p:sp>
      <p:sp>
        <p:nvSpPr>
          <p:cNvPr id="29" name="Rounded Rectangle 28"/>
          <p:cNvSpPr/>
          <p:nvPr/>
        </p:nvSpPr>
        <p:spPr>
          <a:xfrm>
            <a:off x="4942799" y="4274467"/>
            <a:ext cx="4392000" cy="512905"/>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100800" tIns="28800" rIns="72000" bIns="28800" rtlCol="0" anchor="ctr"/>
          <a:lstStyle/>
          <a:p>
            <a:pPr algn="l">
              <a:spcAft>
                <a:spcPts val="200"/>
              </a:spcAft>
            </a:pPr>
            <a:r>
              <a:rPr sz="1100" b="1" dirty="0">
                <a:solidFill>
                  <a:srgbClr val="333333"/>
                </a:solidFill>
                <a:latin typeface="メイリオ"/>
                <a:ea typeface="メイリオ"/>
                <a:cs typeface="メイリオ"/>
              </a:rPr>
              <a:t>「集団と個別、どちらに入れたらいいのか」</a:t>
            </a:r>
          </a:p>
          <a:p>
            <a:pPr algn="l">
              <a:lnSpc>
                <a:spcPct val="115000"/>
              </a:lnSpc>
            </a:pPr>
            <a:r>
              <a:rPr sz="900" dirty="0">
                <a:solidFill>
                  <a:srgbClr val="7F7F7F"/>
                </a:solidFill>
                <a:latin typeface="メイリオ"/>
                <a:ea typeface="メイリオ"/>
                <a:cs typeface="メイリオ"/>
              </a:rPr>
              <a:t>塾を決めるのに関わる人：保護者80.5%（明光2020）</a:t>
            </a:r>
          </a:p>
        </p:txBody>
      </p:sp>
      <p:sp>
        <p:nvSpPr>
          <p:cNvPr id="30" name="Rounded Rectangle 29"/>
          <p:cNvSpPr/>
          <p:nvPr/>
        </p:nvSpPr>
        <p:spPr>
          <a:xfrm>
            <a:off x="442800" y="5316193"/>
            <a:ext cx="9043200" cy="601200"/>
          </a:xfrm>
          <a:prstGeom prst="roundRect">
            <a:avLst>
              <a:gd name="adj" fmla="val 1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0" rIns="72000" bIns="0" rtlCol="0" anchor="ctr"/>
          <a:lstStyle/>
          <a:p>
            <a:pPr algn="ctr"/>
            <a:r>
              <a:rPr sz="1400" b="1" dirty="0" err="1">
                <a:solidFill>
                  <a:srgbClr val="FFFFFF"/>
                </a:solidFill>
                <a:latin typeface="メイリオ"/>
                <a:ea typeface="メイリオ"/>
                <a:cs typeface="メイリオ"/>
              </a:rPr>
              <a:t>払う気はある。合うかどうかが分からないから決められない</a:t>
            </a:r>
            <a:r>
              <a:rPr sz="1400" b="1" dirty="0">
                <a:solidFill>
                  <a:srgbClr val="FFFFFF"/>
                </a:solidFill>
                <a:latin typeface="メイリオ"/>
                <a:ea typeface="メイリオ"/>
                <a:cs typeface="メイリオ"/>
              </a:rPr>
              <a:t>。</a:t>
            </a:r>
            <a:endParaRPr lang="en-US" sz="1400" b="1" dirty="0">
              <a:solidFill>
                <a:srgbClr val="FFFFFF"/>
              </a:solidFill>
              <a:latin typeface="メイリオ"/>
              <a:ea typeface="メイリオ"/>
              <a:cs typeface="メイリオ"/>
            </a:endParaRPr>
          </a:p>
          <a:p>
            <a:pPr algn="ctr"/>
            <a:r>
              <a:rPr sz="1400" b="1" dirty="0" err="1">
                <a:solidFill>
                  <a:srgbClr val="FFFFFF"/>
                </a:solidFill>
                <a:latin typeface="メイリオ"/>
                <a:ea typeface="メイリオ"/>
                <a:cs typeface="メイリオ"/>
              </a:rPr>
              <a:t>だから「申し込む前に、合う</a:t>
            </a:r>
            <a:r>
              <a:rPr sz="1400" b="1" dirty="0">
                <a:solidFill>
                  <a:srgbClr val="FFFFFF"/>
                </a:solidFill>
                <a:latin typeface="メイリオ"/>
                <a:ea typeface="メイリオ"/>
                <a:cs typeface="メイリオ"/>
              </a:rPr>
              <a:t>/</a:t>
            </a:r>
            <a:r>
              <a:rPr sz="1400" b="1" dirty="0" err="1">
                <a:solidFill>
                  <a:srgbClr val="FFFFFF"/>
                </a:solidFill>
                <a:latin typeface="メイリオ"/>
                <a:ea typeface="メイリオ"/>
                <a:cs typeface="メイリオ"/>
              </a:rPr>
              <a:t>合わないを見せてしまう</a:t>
            </a:r>
            <a:r>
              <a:rPr sz="1400" b="1" dirty="0">
                <a:solidFill>
                  <a:srgbClr val="FFFFFF"/>
                </a:solidFill>
                <a:latin typeface="メイリオ"/>
                <a:ea typeface="メイリオ"/>
                <a:cs typeface="メイリオ"/>
              </a:rPr>
              <a:t>」。</a:t>
            </a:r>
          </a:p>
        </p:txBody>
      </p:sp>
      <p:sp>
        <p:nvSpPr>
          <p:cNvPr id="33" name="TextBox 32"/>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800">
                <a:solidFill>
                  <a:srgbClr val="7F7F7F"/>
                </a:solidFill>
                <a:latin typeface="メイリオ"/>
                <a:ea typeface="メイリオ"/>
                <a:cs typeface="メイリオ"/>
              </a:rPr>
              <a:t>出典｜LINEヤフー前後検索（2022-05〜2023-05・実測）／塾ナラ2025（n=200）／塾シル・ユナイトプロジェクト2026（n=249）／明光ネットワークジャパン2020</a:t>
            </a:r>
          </a:p>
        </p:txBody>
      </p:sp>
      <p:sp>
        <p:nvSpPr>
          <p:cNvPr id="34" name="Pentagon 33"/>
          <p:cNvSpPr/>
          <p:nvPr/>
        </p:nvSpPr>
        <p:spPr>
          <a:xfrm>
            <a:off x="432000" y="590400"/>
            <a:ext cx="1111500" cy="180000"/>
          </a:xfrm>
          <a:prstGeom prst="homePlate">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①接触</a:t>
            </a:r>
          </a:p>
        </p:txBody>
      </p:sp>
      <p:sp>
        <p:nvSpPr>
          <p:cNvPr id="35" name="Chevron 34"/>
          <p:cNvSpPr/>
          <p:nvPr/>
        </p:nvSpPr>
        <p:spPr>
          <a:xfrm>
            <a:off x="15651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②離脱</a:t>
            </a:r>
          </a:p>
        </p:txBody>
      </p:sp>
      <p:sp>
        <p:nvSpPr>
          <p:cNvPr id="36" name="Chevron 35"/>
          <p:cNvSpPr/>
          <p:nvPr/>
        </p:nvSpPr>
        <p:spPr>
          <a:xfrm>
            <a:off x="26982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③育成</a:t>
            </a:r>
          </a:p>
        </p:txBody>
      </p:sp>
      <p:sp>
        <p:nvSpPr>
          <p:cNvPr id="37" name="Chevron 36"/>
          <p:cNvSpPr/>
          <p:nvPr/>
        </p:nvSpPr>
        <p:spPr>
          <a:xfrm>
            <a:off x="38312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④リード獲得</a:t>
            </a:r>
          </a:p>
        </p:txBody>
      </p:sp>
      <p:sp>
        <p:nvSpPr>
          <p:cNvPr id="38" name="Chevron 37"/>
          <p:cNvSpPr/>
          <p:nvPr/>
        </p:nvSpPr>
        <p:spPr>
          <a:xfrm>
            <a:off x="49644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⑤リード有効化</a:t>
            </a:r>
          </a:p>
        </p:txBody>
      </p:sp>
      <p:sp>
        <p:nvSpPr>
          <p:cNvPr id="39" name="Chevron 38"/>
          <p:cNvSpPr/>
          <p:nvPr/>
        </p:nvSpPr>
        <p:spPr>
          <a:xfrm>
            <a:off x="60975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⑥再育成</a:t>
            </a:r>
          </a:p>
        </p:txBody>
      </p:sp>
      <p:sp>
        <p:nvSpPr>
          <p:cNvPr id="40" name="Chevron 39"/>
          <p:cNvSpPr/>
          <p:nvPr/>
        </p:nvSpPr>
        <p:spPr>
          <a:xfrm>
            <a:off x="72305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⑦入会（契約）</a:t>
            </a:r>
          </a:p>
        </p:txBody>
      </p:sp>
      <p:sp>
        <p:nvSpPr>
          <p:cNvPr id="41" name="Chevron 40"/>
          <p:cNvSpPr/>
          <p:nvPr/>
        </p:nvSpPr>
        <p:spPr>
          <a:xfrm>
            <a:off x="83636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⑧紹介</a:t>
            </a:r>
          </a:p>
        </p:txBody>
      </p:sp>
    </p:spTree>
    <p:extLst>
      <p:ext uri="{BB962C8B-B14F-4D97-AF65-F5344CB8AC3E}">
        <p14:creationId xmlns:p14="http://schemas.microsoft.com/office/powerpoint/2010/main" val="11875947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CDB2C5-43E4-382E-3F0A-0B0F5E9FBB44}"/>
            </a:ext>
          </a:extLst>
        </p:cNvPr>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前後検索｜中学受験 塾</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dirty="0">
                <a:solidFill>
                  <a:srgbClr val="333333"/>
                </a:solidFill>
                <a:latin typeface="メイリオ"/>
                <a:ea typeface="メイリオ"/>
                <a:cs typeface="メイリオ"/>
              </a:rPr>
              <a:t>中学受験の保護者は、検索の前に志望校・偏差値・算数検定を調べ、当日は塾の名前に集中する。</a:t>
            </a:r>
            <a:endParaRPr lang="en-US" sz="1200" dirty="0">
              <a:solidFill>
                <a:srgbClr val="333333"/>
              </a:solidFill>
              <a:latin typeface="メイリオ"/>
              <a:ea typeface="メイリオ"/>
              <a:cs typeface="メイリオ"/>
            </a:endParaRPr>
          </a:p>
          <a:p>
            <a:pPr algn="l">
              <a:lnSpc>
                <a:spcPct val="128000"/>
              </a:lnSpc>
            </a:pPr>
            <a:r>
              <a:rPr sz="1200" dirty="0">
                <a:solidFill>
                  <a:srgbClr val="333333"/>
                </a:solidFill>
                <a:latin typeface="メイリオ"/>
                <a:ea typeface="メイリオ"/>
                <a:cs typeface="メイリオ"/>
              </a:rPr>
              <a:t>そのあとは、入室テスト・料金・口コミで比べている。</a:t>
            </a:r>
            <a:endParaRPr lang="en-US" sz="1200" dirty="0">
              <a:solidFill>
                <a:srgbClr val="333333"/>
              </a:solidFill>
              <a:latin typeface="メイリオ"/>
              <a:ea typeface="メイリオ"/>
              <a:cs typeface="メイリオ"/>
            </a:endParaRP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Pentagon 4"/>
          <p:cNvSpPr/>
          <p:nvPr/>
        </p:nvSpPr>
        <p:spPr>
          <a:xfrm>
            <a:off x="432000" y="590400"/>
            <a:ext cx="1111500" cy="180000"/>
          </a:xfrm>
          <a:prstGeom prst="homePlate">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①接触</a:t>
            </a:r>
          </a:p>
        </p:txBody>
      </p:sp>
      <p:sp>
        <p:nvSpPr>
          <p:cNvPr id="6" name="Chevron 5"/>
          <p:cNvSpPr/>
          <p:nvPr/>
        </p:nvSpPr>
        <p:spPr>
          <a:xfrm>
            <a:off x="15651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②離脱</a:t>
            </a:r>
          </a:p>
        </p:txBody>
      </p:sp>
      <p:sp>
        <p:nvSpPr>
          <p:cNvPr id="7" name="Chevron 6"/>
          <p:cNvSpPr/>
          <p:nvPr/>
        </p:nvSpPr>
        <p:spPr>
          <a:xfrm>
            <a:off x="26982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③育成</a:t>
            </a:r>
          </a:p>
        </p:txBody>
      </p:sp>
      <p:sp>
        <p:nvSpPr>
          <p:cNvPr id="8" name="Chevron 7"/>
          <p:cNvSpPr/>
          <p:nvPr/>
        </p:nvSpPr>
        <p:spPr>
          <a:xfrm>
            <a:off x="38312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④リード獲得</a:t>
            </a:r>
          </a:p>
        </p:txBody>
      </p:sp>
      <p:sp>
        <p:nvSpPr>
          <p:cNvPr id="9" name="Chevron 8"/>
          <p:cNvSpPr/>
          <p:nvPr/>
        </p:nvSpPr>
        <p:spPr>
          <a:xfrm>
            <a:off x="49644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⑤リード有効化</a:t>
            </a:r>
          </a:p>
        </p:txBody>
      </p:sp>
      <p:sp>
        <p:nvSpPr>
          <p:cNvPr id="10" name="Chevron 9"/>
          <p:cNvSpPr/>
          <p:nvPr/>
        </p:nvSpPr>
        <p:spPr>
          <a:xfrm>
            <a:off x="60975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⑥再育成</a:t>
            </a:r>
          </a:p>
        </p:txBody>
      </p:sp>
      <p:sp>
        <p:nvSpPr>
          <p:cNvPr id="11" name="Chevron 10"/>
          <p:cNvSpPr/>
          <p:nvPr/>
        </p:nvSpPr>
        <p:spPr>
          <a:xfrm>
            <a:off x="72305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⑦入会（契約）</a:t>
            </a:r>
          </a:p>
        </p:txBody>
      </p:sp>
      <p:sp>
        <p:nvSpPr>
          <p:cNvPr id="12" name="Chevron 11"/>
          <p:cNvSpPr/>
          <p:nvPr/>
        </p:nvSpPr>
        <p:spPr>
          <a:xfrm>
            <a:off x="83636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⑧紹介</a:t>
            </a:r>
          </a:p>
        </p:txBody>
      </p:sp>
      <p:sp>
        <p:nvSpPr>
          <p:cNvPr id="24" name="Rounded Rectangle 23"/>
          <p:cNvSpPr/>
          <p:nvPr/>
        </p:nvSpPr>
        <p:spPr>
          <a:xfrm>
            <a:off x="429768" y="5870448"/>
            <a:ext cx="9043416" cy="329184"/>
          </a:xfrm>
          <a:prstGeom prst="roundRect">
            <a:avLst>
              <a:gd name="adj" fmla="val 12000"/>
            </a:avLst>
          </a:prstGeom>
          <a:solidFill>
            <a:srgbClr val="1F285A"/>
          </a:solidFill>
          <a:ln>
            <a:noFill/>
          </a:ln>
        </p:spPr>
        <p:txBody>
          <a:bodyPr wrap="square" lIns="73152" tIns="36576" rIns="73152" bIns="36576" rtlCol="0" anchor="ctr">
            <a:noAutofit/>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rPr>
              <a:t>塾の名前を調べる前（志望校・偏差値を調べる時期）に、LINEでつながっておく。</a:t>
            </a:r>
            <a:endParaRPr lang="ja-JP" altLang="en-US" sz="1200" dirty="0"/>
          </a:p>
        </p:txBody>
      </p:sp>
      <p:sp>
        <p:nvSpPr>
          <p:cNvPr id="25" name="Rectangle 24"/>
          <p:cNvSpPr/>
          <p:nvPr/>
        </p:nvSpPr>
        <p:spPr>
          <a:xfrm>
            <a:off x="429768" y="6245352"/>
            <a:ext cx="9043416" cy="274320"/>
          </a:xfrm>
          <a:prstGeom prst="rect">
            <a:avLst/>
          </a:prstGeom>
          <a:noFill/>
          <a:ln>
            <a:noFill/>
          </a:ln>
        </p:spPr>
        <p:txBody>
          <a:bodyPr wrap="square" lIns="0" tIns="0" rIns="0" bIns="0" rtlCol="0" anchor="t">
            <a:noAutofit/>
          </a:bodyPr>
          <a:lstStyle/>
          <a:p>
            <a:pPr algn="l">
              <a:buNone/>
            </a:pPr>
            <a:r>
              <a:rPr lang="ja-JP" altLang="en-US" sz="750" b="0" dirty="0">
                <a:solidFill>
                  <a:srgbClr val="7F7F7F"/>
                </a:solidFill>
                <a:latin typeface="メイリオ" panose="020B0604030504040204" pitchFamily="50" charset="-128"/>
                <a:ea typeface="メイリオ" panose="020B0604030504040204" pitchFamily="50" charset="-128"/>
              </a:rPr>
              <a:t>出典｜LINEヤフー前後検索（2026年10月取得）。横軸＝起点の検索の前後15日、縦軸＝検索した人数（UU）。色はDYMの分類（薄い文字は分類の対象外）。配信の中身はP31・P38</a:t>
            </a:r>
            <a:endParaRPr lang="ja-JP" altLang="en-US" sz="750" dirty="0"/>
          </a:p>
        </p:txBody>
      </p:sp>
      <p:sp>
        <p:nvSpPr>
          <p:cNvPr id="26" name="Rectangle 25"/>
          <p:cNvSpPr/>
          <p:nvPr/>
        </p:nvSpPr>
        <p:spPr>
          <a:xfrm>
            <a:off x="429768" y="1463040"/>
            <a:ext cx="9043416" cy="256032"/>
          </a:xfrm>
          <a:prstGeom prst="rect">
            <a:avLst/>
          </a:prstGeom>
          <a:solidFill>
            <a:srgbClr val="1F285A"/>
          </a:solidFill>
          <a:ln>
            <a:noFill/>
          </a:ln>
        </p:spPr>
        <p:txBody>
          <a:bodyPr wrap="square" lIns="45720" tIns="0" rIns="45720" bIns="0" rtlCol="0" anchor="ctr">
            <a:noAutofit/>
          </a:bodyPr>
          <a:lstStyle/>
          <a:p>
            <a:pPr algn="ctr">
              <a:buNone/>
            </a:pPr>
            <a:r>
              <a:rPr lang="ja-JP" altLang="en-US" sz="1250" b="1" dirty="0">
                <a:solidFill>
                  <a:srgbClr val="FFFFFF"/>
                </a:solidFill>
                <a:latin typeface="メイリオ" panose="020B0604030504040204" pitchFamily="50" charset="-128"/>
                <a:ea typeface="メイリオ" panose="020B0604030504040204" pitchFamily="50" charset="-128"/>
              </a:rPr>
              <a:t>「中学受験 塾」の検索前後（LINEヤフー前後検索・実データ）</a:t>
            </a:r>
            <a:endParaRPr lang="ja-JP" altLang="en-US" sz="1250" dirty="0"/>
          </a:p>
        </p:txBody>
      </p:sp>
      <p:pic>
        <p:nvPicPr>
          <p:cNvPr id="27" name="前後検索_中学受験 塾"/>
          <p:cNvPicPr>
            <a:picLocks noChangeAspect="1"/>
          </p:cNvPicPr>
          <p:nvPr/>
        </p:nvPicPr>
        <p:blipFill>
          <a:blip r:embed="rId2"/>
          <a:stretch>
            <a:fillRect/>
          </a:stretch>
        </p:blipFill>
        <p:spPr>
          <a:xfrm>
            <a:off x="429768" y="1792224"/>
            <a:ext cx="5641848" cy="3292018"/>
          </a:xfrm>
          <a:prstGeom prst="rect">
            <a:avLst/>
          </a:prstGeom>
          <a:ln w="9525">
            <a:solidFill>
              <a:srgbClr val="C6CADD"/>
            </a:solidFill>
          </a:ln>
        </p:spPr>
      </p:pic>
      <p:sp>
        <p:nvSpPr>
          <p:cNvPr id="28" name="Rectangle 27"/>
          <p:cNvSpPr/>
          <p:nvPr/>
        </p:nvSpPr>
        <p:spPr>
          <a:xfrm>
            <a:off x="6181344" y="1792224"/>
            <a:ext cx="3291840" cy="3292018"/>
          </a:xfrm>
          <a:prstGeom prst="rect">
            <a:avLst/>
          </a:prstGeom>
          <a:solidFill>
            <a:srgbClr val="F4F7FF"/>
          </a:solidFill>
          <a:ln w="9525">
            <a:solidFill>
              <a:srgbClr val="D9D9D9"/>
            </a:solidFill>
          </a:ln>
        </p:spPr>
        <p:txBody>
          <a:bodyPr wrap="square" lIns="91440" tIns="45720" rIns="73152" bIns="45720" rtlCol="0" anchor="ctr">
            <a:noAutofit/>
          </a:bodyPr>
          <a:lstStyle/>
          <a:p>
            <a:pPr algn="l">
              <a:lnSpc>
                <a:spcPct val="105000"/>
              </a:lnSpc>
              <a:buNone/>
            </a:pPr>
            <a:r>
              <a:rPr lang="ja-JP" altLang="en-US" sz="1200" b="1" dirty="0">
                <a:solidFill>
                  <a:srgbClr val="3467B2"/>
                </a:solidFill>
                <a:latin typeface="メイリオ" panose="020B0604030504040204" pitchFamily="50" charset="-128"/>
                <a:ea typeface="メイリオ" panose="020B0604030504040204" pitchFamily="50" charset="-128"/>
              </a:rPr>
              <a:t>① 志望校・偏差値</a:t>
            </a:r>
            <a:endParaRPr lang="ja-JP" altLang="en-US" sz="1350" dirty="0"/>
          </a:p>
          <a:p>
            <a:pPr algn="l">
              <a:lnSpc>
                <a:spcPct val="105000"/>
              </a:lnSpc>
              <a:buNone/>
            </a:pPr>
            <a:r>
              <a:rPr lang="ja-JP" altLang="en-US" sz="1000" b="0" dirty="0">
                <a:solidFill>
                  <a:srgbClr val="333333"/>
                </a:solidFill>
                <a:latin typeface="メイリオ" panose="020B0604030504040204" pitchFamily="50" charset="-128"/>
                <a:ea typeface="メイリオ" panose="020B0604030504040204" pitchFamily="50" charset="-128"/>
              </a:rPr>
              <a:t>私立中学 偏差値ランキング／海城中学・女子学院／栄東中学校 入試／中学受験 偏差値40</a:t>
            </a:r>
            <a:endParaRPr lang="en-US" altLang="ja-JP" sz="1000" b="0" dirty="0">
              <a:solidFill>
                <a:srgbClr val="333333"/>
              </a:solidFill>
              <a:latin typeface="メイリオ" panose="020B0604030504040204" pitchFamily="50" charset="-128"/>
              <a:ea typeface="メイリオ" panose="020B0604030504040204" pitchFamily="50" charset="-128"/>
            </a:endParaRPr>
          </a:p>
          <a:p>
            <a:pPr algn="l">
              <a:lnSpc>
                <a:spcPct val="105000"/>
              </a:lnSpc>
              <a:buNone/>
            </a:pPr>
            <a:endParaRPr lang="ja-JP" altLang="en-US" sz="600" dirty="0"/>
          </a:p>
          <a:p>
            <a:pPr algn="l">
              <a:lnSpc>
                <a:spcPct val="105000"/>
              </a:lnSpc>
              <a:buNone/>
            </a:pPr>
            <a:r>
              <a:rPr lang="ja-JP" altLang="en-US" sz="1200" b="1" dirty="0">
                <a:solidFill>
                  <a:srgbClr val="8E4EC6"/>
                </a:solidFill>
                <a:latin typeface="メイリオ" panose="020B0604030504040204" pitchFamily="50" charset="-128"/>
                <a:ea typeface="メイリオ" panose="020B0604030504040204" pitchFamily="50" charset="-128"/>
              </a:rPr>
              <a:t>② 検定・勉強法</a:t>
            </a:r>
            <a:endParaRPr lang="ja-JP" altLang="en-US" sz="1350" dirty="0"/>
          </a:p>
          <a:p>
            <a:pPr algn="l">
              <a:lnSpc>
                <a:spcPct val="105000"/>
              </a:lnSpc>
              <a:buNone/>
            </a:pPr>
            <a:r>
              <a:rPr lang="ja-JP" altLang="en-US" sz="1000" b="0" dirty="0">
                <a:solidFill>
                  <a:srgbClr val="333333"/>
                </a:solidFill>
                <a:latin typeface="メイリオ" panose="020B0604030504040204" pitchFamily="50" charset="-128"/>
                <a:ea typeface="メイリオ" panose="020B0604030504040204" pitchFamily="50" charset="-128"/>
              </a:rPr>
              <a:t>算数検定／予習シリーズ／中学受験 社会 勉強方法／中学受験 親の関わり方</a:t>
            </a:r>
            <a:endParaRPr lang="en-US" altLang="ja-JP" sz="1000" b="0" dirty="0">
              <a:solidFill>
                <a:srgbClr val="333333"/>
              </a:solidFill>
              <a:latin typeface="メイリオ" panose="020B0604030504040204" pitchFamily="50" charset="-128"/>
              <a:ea typeface="メイリオ" panose="020B0604030504040204" pitchFamily="50" charset="-128"/>
            </a:endParaRPr>
          </a:p>
          <a:p>
            <a:pPr algn="l">
              <a:lnSpc>
                <a:spcPct val="105000"/>
              </a:lnSpc>
              <a:buNone/>
            </a:pPr>
            <a:endParaRPr lang="ja-JP" altLang="en-US" sz="800" dirty="0"/>
          </a:p>
          <a:p>
            <a:pPr algn="l">
              <a:lnSpc>
                <a:spcPct val="105000"/>
              </a:lnSpc>
              <a:buNone/>
            </a:pPr>
            <a:r>
              <a:rPr lang="ja-JP" altLang="en-US" sz="1200" b="1" dirty="0">
                <a:solidFill>
                  <a:srgbClr val="C2185B"/>
                </a:solidFill>
                <a:latin typeface="メイリオ" panose="020B0604030504040204" pitchFamily="50" charset="-128"/>
                <a:ea typeface="メイリオ" panose="020B0604030504040204" pitchFamily="50" charset="-128"/>
              </a:rPr>
              <a:t>③ 塾選び・費用・時期</a:t>
            </a:r>
            <a:endParaRPr lang="ja-JP" altLang="en-US" sz="1350" dirty="0"/>
          </a:p>
          <a:p>
            <a:pPr algn="l">
              <a:lnSpc>
                <a:spcPct val="105000"/>
              </a:lnSpc>
              <a:buNone/>
            </a:pPr>
            <a:r>
              <a:rPr lang="ja-JP" altLang="en-US" sz="1000" b="0" dirty="0">
                <a:solidFill>
                  <a:srgbClr val="333333"/>
                </a:solidFill>
                <a:latin typeface="メイリオ" panose="020B0604030504040204" pitchFamily="50" charset="-128"/>
                <a:ea typeface="メイリオ" panose="020B0604030504040204" pitchFamily="50" charset="-128"/>
              </a:rPr>
              <a:t>中学受験 塾選び／塾 ランキング／個別指導のみ／塾 費用／4年生から始める</a:t>
            </a:r>
            <a:endParaRPr lang="en-US" altLang="ja-JP" sz="1000" b="0" dirty="0">
              <a:solidFill>
                <a:srgbClr val="333333"/>
              </a:solidFill>
              <a:latin typeface="メイリオ" panose="020B0604030504040204" pitchFamily="50" charset="-128"/>
              <a:ea typeface="メイリオ" panose="020B0604030504040204" pitchFamily="50" charset="-128"/>
            </a:endParaRPr>
          </a:p>
          <a:p>
            <a:pPr algn="l">
              <a:lnSpc>
                <a:spcPct val="105000"/>
              </a:lnSpc>
              <a:buNone/>
            </a:pPr>
            <a:endParaRPr lang="ja-JP" altLang="en-US" sz="800" dirty="0"/>
          </a:p>
          <a:p>
            <a:pPr algn="l">
              <a:lnSpc>
                <a:spcPct val="105000"/>
              </a:lnSpc>
              <a:buNone/>
            </a:pPr>
            <a:r>
              <a:rPr lang="ja-JP" altLang="en-US" sz="1200" b="1" dirty="0">
                <a:solidFill>
                  <a:srgbClr val="00897B"/>
                </a:solidFill>
                <a:latin typeface="メイリオ" panose="020B0604030504040204" pitchFamily="50" charset="-128"/>
                <a:ea typeface="メイリオ" panose="020B0604030504040204" pitchFamily="50" charset="-128"/>
              </a:rPr>
              <a:t>④ 塾名・料金・口コミ</a:t>
            </a:r>
            <a:endParaRPr lang="ja-JP" altLang="en-US" sz="1350" dirty="0"/>
          </a:p>
          <a:p>
            <a:pPr algn="l">
              <a:lnSpc>
                <a:spcPct val="105000"/>
              </a:lnSpc>
              <a:buNone/>
            </a:pPr>
            <a:r>
              <a:rPr lang="ja-JP" altLang="en-US" sz="1000" b="0" dirty="0">
                <a:solidFill>
                  <a:srgbClr val="333333"/>
                </a:solidFill>
                <a:latin typeface="メイリオ" panose="020B0604030504040204" pitchFamily="50" charset="-128"/>
                <a:ea typeface="メイリオ" panose="020B0604030504040204" pitchFamily="50" charset="-128"/>
              </a:rPr>
              <a:t>日能研・早稲田アカデミー・サピックス／サピックス 入室テスト／日能研 費用／明光義塾 口コミ</a:t>
            </a:r>
            <a:endParaRPr lang="ja-JP" altLang="en-US" sz="1350" dirty="0"/>
          </a:p>
        </p:txBody>
      </p:sp>
      <p:sp>
        <p:nvSpPr>
          <p:cNvPr id="29" name="Rounded Rectangle 28"/>
          <p:cNvSpPr/>
          <p:nvPr/>
        </p:nvSpPr>
        <p:spPr>
          <a:xfrm>
            <a:off x="429768" y="5157394"/>
            <a:ext cx="960120" cy="658368"/>
          </a:xfrm>
          <a:prstGeom prst="roundRect">
            <a:avLst>
              <a:gd name="adj" fmla="val 8000"/>
            </a:avLst>
          </a:prstGeom>
          <a:solidFill>
            <a:srgbClr val="1F285A"/>
          </a:solidFill>
          <a:ln>
            <a:noFill/>
          </a:ln>
        </p:spPr>
        <p:txBody>
          <a:bodyPr wrap="square" lIns="36576" tIns="0" rIns="36576" bIns="0" rtlCol="0" anchor="ctr">
            <a:noAutofit/>
          </a:bodyPr>
          <a:lstStyle/>
          <a:p>
            <a:pPr algn="ctr">
              <a:lnSpc>
                <a:spcPct val="105000"/>
              </a:lnSpc>
              <a:buNone/>
            </a:pPr>
            <a:r>
              <a:rPr lang="ja-JP" altLang="en-US" sz="1000" b="1" dirty="0">
                <a:solidFill>
                  <a:srgbClr val="FFFFFF"/>
                </a:solidFill>
                <a:latin typeface="メイリオ" panose="020B0604030504040204" pitchFamily="50" charset="-128"/>
                <a:ea typeface="メイリオ" panose="020B0604030504040204" pitchFamily="50" charset="-128"/>
              </a:rPr>
              <a:t>この流れで</a:t>
            </a:r>
            <a:endParaRPr lang="ja-JP" altLang="en-US" sz="1000" dirty="0"/>
          </a:p>
          <a:p>
            <a:pPr algn="ctr">
              <a:lnSpc>
                <a:spcPct val="105000"/>
              </a:lnSpc>
              <a:buNone/>
            </a:pPr>
            <a:r>
              <a:rPr lang="ja-JP" altLang="en-US" sz="1000" b="1" dirty="0">
                <a:solidFill>
                  <a:srgbClr val="FFFFFF"/>
                </a:solidFill>
                <a:latin typeface="メイリオ" panose="020B0604030504040204" pitchFamily="50" charset="-128"/>
                <a:ea typeface="メイリオ" panose="020B0604030504040204" pitchFamily="50" charset="-128"/>
              </a:rPr>
              <a:t>配信すること</a:t>
            </a:r>
            <a:endParaRPr lang="ja-JP" altLang="en-US" sz="1000" dirty="0"/>
          </a:p>
        </p:txBody>
      </p:sp>
      <p:sp>
        <p:nvSpPr>
          <p:cNvPr id="30" name="Rectangle 29"/>
          <p:cNvSpPr/>
          <p:nvPr/>
        </p:nvSpPr>
        <p:spPr>
          <a:xfrm>
            <a:off x="1463040" y="5157394"/>
            <a:ext cx="2621280" cy="658368"/>
          </a:xfrm>
          <a:prstGeom prst="rect">
            <a:avLst/>
          </a:prstGeom>
          <a:solidFill>
            <a:srgbClr val="FFFFFF"/>
          </a:solidFill>
          <a:ln w="9525">
            <a:solidFill>
              <a:srgbClr val="D9D9D9"/>
            </a:solidFill>
          </a:ln>
        </p:spPr>
        <p:txBody>
          <a:bodyPr wrap="square" lIns="73152" tIns="27432" rIns="54864" bIns="27432" rtlCol="0" anchor="ctr">
            <a:noAutofit/>
          </a:bodyPr>
          <a:lstStyle/>
          <a:p>
            <a:pPr algn="l">
              <a:lnSpc>
                <a:spcPct val="105000"/>
              </a:lnSpc>
              <a:buNone/>
            </a:pPr>
            <a:r>
              <a:rPr lang="ja-JP" altLang="en-US" sz="950" b="1" dirty="0">
                <a:solidFill>
                  <a:srgbClr val="1F285A"/>
                </a:solidFill>
                <a:latin typeface="メイリオ" panose="020B0604030504040204" pitchFamily="50" charset="-128"/>
                <a:ea typeface="メイリオ" panose="020B0604030504040204" pitchFamily="50" charset="-128"/>
              </a:rPr>
              <a:t>追加直後｜あいさつ＋30秒診断</a:t>
            </a:r>
            <a:endParaRPr lang="ja-JP" altLang="en-US" sz="1200" dirty="0"/>
          </a:p>
          <a:p>
            <a:pPr algn="l">
              <a:lnSpc>
                <a:spcPct val="105000"/>
              </a:lnSpc>
              <a:buNone/>
            </a:pPr>
            <a:r>
              <a:rPr lang="ja-JP" altLang="en-US" sz="900" b="0" dirty="0">
                <a:solidFill>
                  <a:srgbClr val="333333"/>
                </a:solidFill>
                <a:latin typeface="メイリオ" panose="020B0604030504040204" pitchFamily="50" charset="-128"/>
                <a:ea typeface="メイリオ" panose="020B0604030504040204" pitchFamily="50" charset="-128"/>
              </a:rPr>
              <a:t>志望校・偏差値を調べている → 学年と志望を聞き、入試までの逆算を届ける</a:t>
            </a:r>
            <a:endParaRPr lang="ja-JP" altLang="en-US" sz="1200" dirty="0"/>
          </a:p>
        </p:txBody>
      </p:sp>
      <p:sp>
        <p:nvSpPr>
          <p:cNvPr id="31" name="Rectangle 30"/>
          <p:cNvSpPr/>
          <p:nvPr/>
        </p:nvSpPr>
        <p:spPr>
          <a:xfrm>
            <a:off x="4157472" y="5157394"/>
            <a:ext cx="2621280" cy="658368"/>
          </a:xfrm>
          <a:prstGeom prst="rect">
            <a:avLst/>
          </a:prstGeom>
          <a:solidFill>
            <a:srgbClr val="FFFFFF"/>
          </a:solidFill>
          <a:ln w="9525">
            <a:solidFill>
              <a:srgbClr val="D9D9D9"/>
            </a:solidFill>
          </a:ln>
        </p:spPr>
        <p:txBody>
          <a:bodyPr wrap="square" lIns="73152" tIns="27432" rIns="54864" bIns="27432" rtlCol="0" anchor="ctr">
            <a:noAutofit/>
          </a:bodyPr>
          <a:lstStyle/>
          <a:p>
            <a:pPr algn="l">
              <a:lnSpc>
                <a:spcPct val="105000"/>
              </a:lnSpc>
              <a:buNone/>
            </a:pPr>
            <a:r>
              <a:rPr lang="ja-JP" altLang="en-US" sz="950" b="1" dirty="0">
                <a:solidFill>
                  <a:srgbClr val="1F285A"/>
                </a:solidFill>
                <a:latin typeface="メイリオ" panose="020B0604030504040204" pitchFamily="50" charset="-128"/>
                <a:ea typeface="メイリオ" panose="020B0604030504040204" pitchFamily="50" charset="-128"/>
              </a:rPr>
              <a:t>5日後｜月謝＋講習費の年間の目安</a:t>
            </a:r>
            <a:endParaRPr lang="ja-JP" altLang="en-US" sz="1200" dirty="0"/>
          </a:p>
          <a:p>
            <a:pPr algn="l">
              <a:lnSpc>
                <a:spcPct val="105000"/>
              </a:lnSpc>
              <a:buNone/>
            </a:pPr>
            <a:r>
              <a:rPr lang="ja-JP" altLang="en-US" sz="900" b="0" dirty="0">
                <a:solidFill>
                  <a:srgbClr val="333333"/>
                </a:solidFill>
                <a:latin typeface="メイリオ" panose="020B0604030504040204" pitchFamily="50" charset="-128"/>
                <a:ea typeface="メイリオ" panose="020B0604030504040204" pitchFamily="50" charset="-128"/>
              </a:rPr>
              <a:t>塾選び・費用・いつからを比べている → 費用の目安と始める時期を先に出す</a:t>
            </a:r>
            <a:endParaRPr lang="ja-JP" altLang="en-US" sz="1200" dirty="0"/>
          </a:p>
        </p:txBody>
      </p:sp>
      <p:sp>
        <p:nvSpPr>
          <p:cNvPr id="32" name="Rectangle 31"/>
          <p:cNvSpPr/>
          <p:nvPr/>
        </p:nvSpPr>
        <p:spPr>
          <a:xfrm>
            <a:off x="6851904" y="5157394"/>
            <a:ext cx="2621280" cy="658368"/>
          </a:xfrm>
          <a:prstGeom prst="rect">
            <a:avLst/>
          </a:prstGeom>
          <a:solidFill>
            <a:srgbClr val="FFFFFF"/>
          </a:solidFill>
          <a:ln w="9525">
            <a:solidFill>
              <a:srgbClr val="D9D9D9"/>
            </a:solidFill>
          </a:ln>
        </p:spPr>
        <p:txBody>
          <a:bodyPr wrap="square" lIns="73152" tIns="27432" rIns="54864" bIns="27432" rtlCol="0" anchor="ctr">
            <a:noAutofit/>
          </a:bodyPr>
          <a:lstStyle/>
          <a:p>
            <a:pPr algn="l">
              <a:lnSpc>
                <a:spcPct val="105000"/>
              </a:lnSpc>
              <a:buNone/>
            </a:pPr>
            <a:r>
              <a:rPr lang="ja-JP" altLang="en-US" sz="950" b="1" dirty="0">
                <a:solidFill>
                  <a:srgbClr val="1F285A"/>
                </a:solidFill>
                <a:latin typeface="メイリオ" panose="020B0604030504040204" pitchFamily="50" charset="-128"/>
                <a:ea typeface="メイリオ" panose="020B0604030504040204" pitchFamily="50" charset="-128"/>
              </a:rPr>
              <a:t>7日後｜事例＋体験のご案内①</a:t>
            </a:r>
            <a:endParaRPr lang="ja-JP" altLang="en-US" sz="1200" dirty="0"/>
          </a:p>
          <a:p>
            <a:pPr algn="l">
              <a:lnSpc>
                <a:spcPct val="105000"/>
              </a:lnSpc>
              <a:buNone/>
            </a:pPr>
            <a:r>
              <a:rPr lang="ja-JP" altLang="en-US" sz="900" b="0" dirty="0">
                <a:solidFill>
                  <a:srgbClr val="333333"/>
                </a:solidFill>
                <a:latin typeface="メイリオ" panose="020B0604030504040204" pitchFamily="50" charset="-128"/>
                <a:ea typeface="メイリオ" panose="020B0604030504040204" pitchFamily="50" charset="-128"/>
              </a:rPr>
              <a:t>入室テスト・口コミで比べている → 同じタイプの子の事例と、体験授業の案内</a:t>
            </a:r>
            <a:endParaRPr lang="ja-JP" altLang="en-US" sz="1200" dirty="0"/>
          </a:p>
        </p:txBody>
      </p:sp>
    </p:spTree>
    <p:extLst>
      <p:ext uri="{BB962C8B-B14F-4D97-AF65-F5344CB8AC3E}">
        <p14:creationId xmlns:p14="http://schemas.microsoft.com/office/powerpoint/2010/main" val="25730800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CDB2C5-43E4-382E-3F0A-0B0F5E9FBB44}"/>
            </a:ext>
          </a:extLst>
        </p:cNvPr>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前後検索｜中高一貫 塾</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dirty="0">
                <a:solidFill>
                  <a:srgbClr val="333333"/>
                </a:solidFill>
                <a:latin typeface="メイリオ"/>
                <a:ea typeface="メイリオ"/>
                <a:cs typeface="メイリオ"/>
              </a:rPr>
              <a:t>中高一貫の保護者は、都立中高一貫校・中等教育学校の名前と入試日程を、15日前から調べている。</a:t>
            </a:r>
            <a:endParaRPr lang="en-US" sz="1200" dirty="0">
              <a:solidFill>
                <a:srgbClr val="333333"/>
              </a:solidFill>
              <a:latin typeface="メイリオ"/>
              <a:ea typeface="メイリオ"/>
              <a:cs typeface="メイリオ"/>
            </a:endParaRPr>
          </a:p>
          <a:p>
            <a:pPr algn="l">
              <a:lnSpc>
                <a:spcPct val="128000"/>
              </a:lnSpc>
            </a:pPr>
            <a:r>
              <a:rPr sz="1200" dirty="0">
                <a:solidFill>
                  <a:srgbClr val="333333"/>
                </a:solidFill>
                <a:latin typeface="メイリオ"/>
                <a:ea typeface="メイリオ"/>
                <a:cs typeface="メイリオ"/>
              </a:rPr>
              <a:t>塾の名前（ena・栄光ゼミナール・日能研）は当日に集中し、そのあとは料金・合格実績で比べている。</a:t>
            </a:r>
            <a:endParaRPr lang="en-US" sz="1200" dirty="0">
              <a:solidFill>
                <a:srgbClr val="333333"/>
              </a:solidFill>
              <a:latin typeface="メイリオ"/>
              <a:ea typeface="メイリオ"/>
              <a:cs typeface="メイリオ"/>
            </a:endParaRP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Pentagon 4"/>
          <p:cNvSpPr/>
          <p:nvPr/>
        </p:nvSpPr>
        <p:spPr>
          <a:xfrm>
            <a:off x="432000" y="590400"/>
            <a:ext cx="1111500" cy="180000"/>
          </a:xfrm>
          <a:prstGeom prst="homePlate">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①接触</a:t>
            </a:r>
          </a:p>
        </p:txBody>
      </p:sp>
      <p:sp>
        <p:nvSpPr>
          <p:cNvPr id="6" name="Chevron 5"/>
          <p:cNvSpPr/>
          <p:nvPr/>
        </p:nvSpPr>
        <p:spPr>
          <a:xfrm>
            <a:off x="15651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②離脱</a:t>
            </a:r>
          </a:p>
        </p:txBody>
      </p:sp>
      <p:sp>
        <p:nvSpPr>
          <p:cNvPr id="7" name="Chevron 6"/>
          <p:cNvSpPr/>
          <p:nvPr/>
        </p:nvSpPr>
        <p:spPr>
          <a:xfrm>
            <a:off x="26982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③育成</a:t>
            </a:r>
          </a:p>
        </p:txBody>
      </p:sp>
      <p:sp>
        <p:nvSpPr>
          <p:cNvPr id="8" name="Chevron 7"/>
          <p:cNvSpPr/>
          <p:nvPr/>
        </p:nvSpPr>
        <p:spPr>
          <a:xfrm>
            <a:off x="38312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④リード獲得</a:t>
            </a:r>
          </a:p>
        </p:txBody>
      </p:sp>
      <p:sp>
        <p:nvSpPr>
          <p:cNvPr id="9" name="Chevron 8"/>
          <p:cNvSpPr/>
          <p:nvPr/>
        </p:nvSpPr>
        <p:spPr>
          <a:xfrm>
            <a:off x="49644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⑤リード有効化</a:t>
            </a:r>
          </a:p>
        </p:txBody>
      </p:sp>
      <p:sp>
        <p:nvSpPr>
          <p:cNvPr id="10" name="Chevron 9"/>
          <p:cNvSpPr/>
          <p:nvPr/>
        </p:nvSpPr>
        <p:spPr>
          <a:xfrm>
            <a:off x="60975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⑥再育成</a:t>
            </a:r>
          </a:p>
        </p:txBody>
      </p:sp>
      <p:sp>
        <p:nvSpPr>
          <p:cNvPr id="11" name="Chevron 10"/>
          <p:cNvSpPr/>
          <p:nvPr/>
        </p:nvSpPr>
        <p:spPr>
          <a:xfrm>
            <a:off x="72305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⑦入会（契約）</a:t>
            </a:r>
          </a:p>
        </p:txBody>
      </p:sp>
      <p:sp>
        <p:nvSpPr>
          <p:cNvPr id="12" name="Chevron 11"/>
          <p:cNvSpPr/>
          <p:nvPr/>
        </p:nvSpPr>
        <p:spPr>
          <a:xfrm>
            <a:off x="83636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⑧紹介</a:t>
            </a:r>
          </a:p>
        </p:txBody>
      </p:sp>
      <p:sp>
        <p:nvSpPr>
          <p:cNvPr id="24" name="Rounded Rectangle 23"/>
          <p:cNvSpPr/>
          <p:nvPr/>
        </p:nvSpPr>
        <p:spPr>
          <a:xfrm>
            <a:off x="429768" y="5870448"/>
            <a:ext cx="9043416" cy="329184"/>
          </a:xfrm>
          <a:prstGeom prst="roundRect">
            <a:avLst>
              <a:gd name="adj" fmla="val 12000"/>
            </a:avLst>
          </a:prstGeom>
          <a:solidFill>
            <a:srgbClr val="1F285A"/>
          </a:solidFill>
          <a:ln>
            <a:noFill/>
          </a:ln>
        </p:spPr>
        <p:txBody>
          <a:bodyPr wrap="square" lIns="73152" tIns="36576" rIns="73152" bIns="36576" rtlCol="0" anchor="ctr">
            <a:noAutofit/>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rPr>
              <a:t>学校名と日程を調べ始める15日前から、志望校の情報でつながる。</a:t>
            </a:r>
            <a:endParaRPr lang="ja-JP" altLang="en-US" sz="1200" dirty="0"/>
          </a:p>
        </p:txBody>
      </p:sp>
      <p:sp>
        <p:nvSpPr>
          <p:cNvPr id="25" name="Rectangle 24"/>
          <p:cNvSpPr/>
          <p:nvPr/>
        </p:nvSpPr>
        <p:spPr>
          <a:xfrm>
            <a:off x="429768" y="6245352"/>
            <a:ext cx="9043416" cy="274320"/>
          </a:xfrm>
          <a:prstGeom prst="rect">
            <a:avLst/>
          </a:prstGeom>
          <a:noFill/>
          <a:ln>
            <a:noFill/>
          </a:ln>
        </p:spPr>
        <p:txBody>
          <a:bodyPr wrap="square" lIns="0" tIns="0" rIns="0" bIns="0" rtlCol="0" anchor="t">
            <a:noAutofit/>
          </a:bodyPr>
          <a:lstStyle/>
          <a:p>
            <a:pPr algn="l">
              <a:buNone/>
            </a:pPr>
            <a:r>
              <a:rPr lang="ja-JP" altLang="en-US" sz="750" b="0" dirty="0">
                <a:solidFill>
                  <a:srgbClr val="7F7F7F"/>
                </a:solidFill>
                <a:latin typeface="メイリオ" panose="020B0604030504040204" pitchFamily="50" charset="-128"/>
                <a:ea typeface="メイリオ" panose="020B0604030504040204" pitchFamily="50" charset="-128"/>
              </a:rPr>
              <a:t>出典｜LINEヤフー前後検索（2026年10月取得）。横軸＝起点の検索の前後15日、縦軸＝検索した人数（UU）。色はDYMの分類（薄い文字は分類の対象外）。配信の中身はP31・P38</a:t>
            </a:r>
            <a:endParaRPr lang="ja-JP" altLang="en-US" sz="750" dirty="0"/>
          </a:p>
        </p:txBody>
      </p:sp>
      <p:sp>
        <p:nvSpPr>
          <p:cNvPr id="26" name="Rectangle 25"/>
          <p:cNvSpPr/>
          <p:nvPr/>
        </p:nvSpPr>
        <p:spPr>
          <a:xfrm>
            <a:off x="429768" y="1463040"/>
            <a:ext cx="9043416" cy="256032"/>
          </a:xfrm>
          <a:prstGeom prst="rect">
            <a:avLst/>
          </a:prstGeom>
          <a:solidFill>
            <a:srgbClr val="1F285A"/>
          </a:solidFill>
          <a:ln>
            <a:noFill/>
          </a:ln>
        </p:spPr>
        <p:txBody>
          <a:bodyPr wrap="square" lIns="45720" tIns="0" rIns="45720" bIns="0" rtlCol="0" anchor="ctr">
            <a:noAutofit/>
          </a:bodyPr>
          <a:lstStyle/>
          <a:p>
            <a:pPr algn="ctr">
              <a:buNone/>
            </a:pPr>
            <a:r>
              <a:rPr lang="ja-JP" altLang="en-US" sz="1250" b="1" dirty="0">
                <a:solidFill>
                  <a:srgbClr val="FFFFFF"/>
                </a:solidFill>
                <a:latin typeface="メイリオ" panose="020B0604030504040204" pitchFamily="50" charset="-128"/>
                <a:ea typeface="メイリオ" panose="020B0604030504040204" pitchFamily="50" charset="-128"/>
              </a:rPr>
              <a:t>「中高一貫 塾」の検索前後（LINEヤフー前後検索・実データ）</a:t>
            </a:r>
            <a:endParaRPr lang="ja-JP" altLang="en-US" sz="1250" dirty="0"/>
          </a:p>
        </p:txBody>
      </p:sp>
      <p:pic>
        <p:nvPicPr>
          <p:cNvPr id="27" name="前後検索_中高一貫 塾"/>
          <p:cNvPicPr>
            <a:picLocks noChangeAspect="1"/>
          </p:cNvPicPr>
          <p:nvPr/>
        </p:nvPicPr>
        <p:blipFill>
          <a:blip r:embed="rId2"/>
          <a:stretch>
            <a:fillRect/>
          </a:stretch>
        </p:blipFill>
        <p:spPr>
          <a:xfrm>
            <a:off x="429768" y="1792224"/>
            <a:ext cx="5641848" cy="3292018"/>
          </a:xfrm>
          <a:prstGeom prst="rect">
            <a:avLst/>
          </a:prstGeom>
          <a:ln w="9525">
            <a:solidFill>
              <a:srgbClr val="C6CADD"/>
            </a:solidFill>
          </a:ln>
        </p:spPr>
      </p:pic>
      <p:sp>
        <p:nvSpPr>
          <p:cNvPr id="28" name="Rectangle 27"/>
          <p:cNvSpPr/>
          <p:nvPr/>
        </p:nvSpPr>
        <p:spPr>
          <a:xfrm>
            <a:off x="6181344" y="1792224"/>
            <a:ext cx="3291840" cy="3292018"/>
          </a:xfrm>
          <a:prstGeom prst="rect">
            <a:avLst/>
          </a:prstGeom>
          <a:solidFill>
            <a:srgbClr val="F4F7FF"/>
          </a:solidFill>
          <a:ln w="9525">
            <a:solidFill>
              <a:srgbClr val="D9D9D9"/>
            </a:solidFill>
          </a:ln>
        </p:spPr>
        <p:txBody>
          <a:bodyPr wrap="square" lIns="91440" tIns="45720" rIns="73152" bIns="45720" rtlCol="0" anchor="ctr">
            <a:noAutofit/>
          </a:bodyPr>
          <a:lstStyle/>
          <a:p>
            <a:pPr algn="l">
              <a:lnSpc>
                <a:spcPct val="105000"/>
              </a:lnSpc>
              <a:buNone/>
            </a:pPr>
            <a:r>
              <a:rPr lang="ja-JP" altLang="en-US" sz="1200" b="1" dirty="0">
                <a:solidFill>
                  <a:srgbClr val="3467B2"/>
                </a:solidFill>
                <a:latin typeface="メイリオ" panose="020B0604030504040204" pitchFamily="50" charset="-128"/>
                <a:ea typeface="メイリオ" panose="020B0604030504040204" pitchFamily="50" charset="-128"/>
              </a:rPr>
              <a:t>① 志望校・偏差値</a:t>
            </a:r>
            <a:endParaRPr lang="ja-JP" altLang="en-US" sz="1350" dirty="0"/>
          </a:p>
          <a:p>
            <a:pPr algn="l">
              <a:lnSpc>
                <a:spcPct val="105000"/>
              </a:lnSpc>
              <a:buNone/>
            </a:pPr>
            <a:r>
              <a:rPr lang="ja-JP" altLang="en-US" sz="1000" b="0" dirty="0">
                <a:solidFill>
                  <a:srgbClr val="333333"/>
                </a:solidFill>
                <a:latin typeface="メイリオ" panose="020B0604030504040204" pitchFamily="50" charset="-128"/>
                <a:ea typeface="メイリオ" panose="020B0604030504040204" pitchFamily="50" charset="-128"/>
              </a:rPr>
              <a:t>都立中高一貫校／立川国際・三鷹・九段中等教育学校／都立高校 入試日程／都立推薦 日程</a:t>
            </a:r>
            <a:endParaRPr lang="en-US" altLang="ja-JP" sz="1000" b="0" dirty="0">
              <a:solidFill>
                <a:srgbClr val="333333"/>
              </a:solidFill>
              <a:latin typeface="メイリオ" panose="020B0604030504040204" pitchFamily="50" charset="-128"/>
              <a:ea typeface="メイリオ" panose="020B0604030504040204" pitchFamily="50" charset="-128"/>
            </a:endParaRPr>
          </a:p>
          <a:p>
            <a:pPr algn="l">
              <a:lnSpc>
                <a:spcPct val="105000"/>
              </a:lnSpc>
              <a:buNone/>
            </a:pPr>
            <a:endParaRPr lang="ja-JP" altLang="en-US" sz="800" dirty="0"/>
          </a:p>
          <a:p>
            <a:pPr algn="l">
              <a:lnSpc>
                <a:spcPct val="105000"/>
              </a:lnSpc>
              <a:buNone/>
            </a:pPr>
            <a:r>
              <a:rPr lang="ja-JP" altLang="en-US" sz="1200" b="1" dirty="0">
                <a:solidFill>
                  <a:srgbClr val="8E4EC6"/>
                </a:solidFill>
                <a:latin typeface="メイリオ" panose="020B0604030504040204" pitchFamily="50" charset="-128"/>
                <a:ea typeface="メイリオ" panose="020B0604030504040204" pitchFamily="50" charset="-128"/>
              </a:rPr>
              <a:t>② 検定・勉強法</a:t>
            </a:r>
            <a:endParaRPr lang="ja-JP" altLang="en-US" sz="1350" dirty="0"/>
          </a:p>
          <a:p>
            <a:pPr algn="l">
              <a:lnSpc>
                <a:spcPct val="105000"/>
              </a:lnSpc>
              <a:buNone/>
            </a:pPr>
            <a:r>
              <a:rPr lang="ja-JP" altLang="en-US" sz="1000" b="0" dirty="0">
                <a:solidFill>
                  <a:srgbClr val="333333"/>
                </a:solidFill>
                <a:latin typeface="メイリオ" panose="020B0604030504040204" pitchFamily="50" charset="-128"/>
                <a:ea typeface="メイリオ" panose="020B0604030504040204" pitchFamily="50" charset="-128"/>
              </a:rPr>
              <a:t>声の教育社（過去問）／四谷大塚 予習シリーズ</a:t>
            </a:r>
            <a:endParaRPr lang="en-US" altLang="ja-JP" sz="1000" b="0" dirty="0">
              <a:solidFill>
                <a:srgbClr val="333333"/>
              </a:solidFill>
              <a:latin typeface="メイリオ" panose="020B0604030504040204" pitchFamily="50" charset="-128"/>
              <a:ea typeface="メイリオ" panose="020B0604030504040204" pitchFamily="50" charset="-128"/>
            </a:endParaRPr>
          </a:p>
          <a:p>
            <a:pPr algn="l">
              <a:lnSpc>
                <a:spcPct val="105000"/>
              </a:lnSpc>
              <a:buNone/>
            </a:pPr>
            <a:endParaRPr lang="ja-JP" altLang="en-US" sz="800" dirty="0"/>
          </a:p>
          <a:p>
            <a:pPr algn="l">
              <a:lnSpc>
                <a:spcPct val="105000"/>
              </a:lnSpc>
              <a:buNone/>
            </a:pPr>
            <a:r>
              <a:rPr lang="ja-JP" altLang="en-US" sz="1200" b="1" dirty="0">
                <a:solidFill>
                  <a:srgbClr val="C2185B"/>
                </a:solidFill>
                <a:latin typeface="メイリオ" panose="020B0604030504040204" pitchFamily="50" charset="-128"/>
                <a:ea typeface="メイリオ" panose="020B0604030504040204" pitchFamily="50" charset="-128"/>
              </a:rPr>
              <a:t>③ 塾選び・費用・時期</a:t>
            </a:r>
            <a:endParaRPr lang="ja-JP" altLang="en-US" sz="1350" dirty="0"/>
          </a:p>
          <a:p>
            <a:pPr algn="l">
              <a:lnSpc>
                <a:spcPct val="105000"/>
              </a:lnSpc>
              <a:buNone/>
            </a:pPr>
            <a:r>
              <a:rPr lang="ja-JP" altLang="en-US" sz="1000" b="0" dirty="0">
                <a:solidFill>
                  <a:srgbClr val="333333"/>
                </a:solidFill>
                <a:latin typeface="メイリオ" panose="020B0604030504040204" pitchFamily="50" charset="-128"/>
                <a:ea typeface="メイリオ" panose="020B0604030504040204" pitchFamily="50" charset="-128"/>
              </a:rPr>
              <a:t>中学受験 塾選び／中学受験 塾 費用／中学受験 全落ち／中高一貫 塾</a:t>
            </a:r>
            <a:endParaRPr lang="en-US" altLang="ja-JP" sz="1000" b="0" dirty="0">
              <a:solidFill>
                <a:srgbClr val="333333"/>
              </a:solidFill>
              <a:latin typeface="メイリオ" panose="020B0604030504040204" pitchFamily="50" charset="-128"/>
              <a:ea typeface="メイリオ" panose="020B0604030504040204" pitchFamily="50" charset="-128"/>
            </a:endParaRPr>
          </a:p>
          <a:p>
            <a:pPr algn="l">
              <a:lnSpc>
                <a:spcPct val="105000"/>
              </a:lnSpc>
              <a:buNone/>
            </a:pPr>
            <a:endParaRPr lang="ja-JP" altLang="en-US" sz="800" dirty="0"/>
          </a:p>
          <a:p>
            <a:pPr algn="l">
              <a:lnSpc>
                <a:spcPct val="105000"/>
              </a:lnSpc>
              <a:buNone/>
            </a:pPr>
            <a:r>
              <a:rPr lang="ja-JP" altLang="en-US" sz="1200" b="1" dirty="0">
                <a:solidFill>
                  <a:srgbClr val="00897B"/>
                </a:solidFill>
                <a:latin typeface="メイリオ" panose="020B0604030504040204" pitchFamily="50" charset="-128"/>
                <a:ea typeface="メイリオ" panose="020B0604030504040204" pitchFamily="50" charset="-128"/>
              </a:rPr>
              <a:t>④ 塾名・料金・口コミ</a:t>
            </a:r>
            <a:endParaRPr lang="ja-JP" altLang="en-US" sz="1350" dirty="0"/>
          </a:p>
          <a:p>
            <a:pPr algn="l">
              <a:lnSpc>
                <a:spcPct val="105000"/>
              </a:lnSpc>
              <a:buNone/>
            </a:pPr>
            <a:r>
              <a:rPr lang="ja-JP" altLang="en-US" sz="1000" b="0" dirty="0">
                <a:solidFill>
                  <a:srgbClr val="333333"/>
                </a:solidFill>
                <a:latin typeface="メイリオ" panose="020B0604030504040204" pitchFamily="50" charset="-128"/>
                <a:ea typeface="メイリオ" panose="020B0604030504040204" pitchFamily="50" charset="-128"/>
              </a:rPr>
              <a:t>ena・栄光ゼミナール・日能研／栄光ゼミナール 料金／早稲田アカデミー 合格実績／森塾 口コミ</a:t>
            </a:r>
            <a:endParaRPr lang="ja-JP" altLang="en-US" sz="1350" dirty="0"/>
          </a:p>
        </p:txBody>
      </p:sp>
      <p:sp>
        <p:nvSpPr>
          <p:cNvPr id="29" name="Rounded Rectangle 28"/>
          <p:cNvSpPr/>
          <p:nvPr/>
        </p:nvSpPr>
        <p:spPr>
          <a:xfrm>
            <a:off x="429768" y="5157394"/>
            <a:ext cx="960120" cy="658368"/>
          </a:xfrm>
          <a:prstGeom prst="roundRect">
            <a:avLst>
              <a:gd name="adj" fmla="val 8000"/>
            </a:avLst>
          </a:prstGeom>
          <a:solidFill>
            <a:srgbClr val="1F285A"/>
          </a:solidFill>
          <a:ln>
            <a:noFill/>
          </a:ln>
        </p:spPr>
        <p:txBody>
          <a:bodyPr wrap="square" lIns="36576" tIns="0" rIns="36576" bIns="0" rtlCol="0" anchor="ctr">
            <a:noAutofit/>
          </a:bodyPr>
          <a:lstStyle/>
          <a:p>
            <a:pPr algn="ctr">
              <a:lnSpc>
                <a:spcPct val="105000"/>
              </a:lnSpc>
              <a:buNone/>
            </a:pPr>
            <a:r>
              <a:rPr lang="ja-JP" altLang="en-US" sz="1000" b="1" dirty="0">
                <a:solidFill>
                  <a:srgbClr val="FFFFFF"/>
                </a:solidFill>
                <a:latin typeface="メイリオ" panose="020B0604030504040204" pitchFamily="50" charset="-128"/>
                <a:ea typeface="メイリオ" panose="020B0604030504040204" pitchFamily="50" charset="-128"/>
              </a:rPr>
              <a:t>この流れで</a:t>
            </a:r>
            <a:endParaRPr lang="ja-JP" altLang="en-US" sz="1000" dirty="0"/>
          </a:p>
          <a:p>
            <a:pPr algn="ctr">
              <a:lnSpc>
                <a:spcPct val="105000"/>
              </a:lnSpc>
              <a:buNone/>
            </a:pPr>
            <a:r>
              <a:rPr lang="ja-JP" altLang="en-US" sz="1000" b="1" dirty="0">
                <a:solidFill>
                  <a:srgbClr val="FFFFFF"/>
                </a:solidFill>
                <a:latin typeface="メイリオ" panose="020B0604030504040204" pitchFamily="50" charset="-128"/>
                <a:ea typeface="メイリオ" panose="020B0604030504040204" pitchFamily="50" charset="-128"/>
              </a:rPr>
              <a:t>配信すること</a:t>
            </a:r>
            <a:endParaRPr lang="ja-JP" altLang="en-US" sz="1000" dirty="0"/>
          </a:p>
        </p:txBody>
      </p:sp>
      <p:sp>
        <p:nvSpPr>
          <p:cNvPr id="30" name="Rectangle 29"/>
          <p:cNvSpPr/>
          <p:nvPr/>
        </p:nvSpPr>
        <p:spPr>
          <a:xfrm>
            <a:off x="1463040" y="5157394"/>
            <a:ext cx="2621280" cy="658368"/>
          </a:xfrm>
          <a:prstGeom prst="rect">
            <a:avLst/>
          </a:prstGeom>
          <a:solidFill>
            <a:srgbClr val="FFFFFF"/>
          </a:solidFill>
          <a:ln w="9525">
            <a:solidFill>
              <a:srgbClr val="D9D9D9"/>
            </a:solidFill>
          </a:ln>
        </p:spPr>
        <p:txBody>
          <a:bodyPr wrap="square" lIns="73152" tIns="27432" rIns="54864" bIns="27432" rtlCol="0" anchor="ctr">
            <a:noAutofit/>
          </a:bodyPr>
          <a:lstStyle/>
          <a:p>
            <a:pPr algn="l">
              <a:lnSpc>
                <a:spcPct val="105000"/>
              </a:lnSpc>
              <a:buNone/>
            </a:pPr>
            <a:r>
              <a:rPr lang="ja-JP" altLang="en-US" sz="950" b="1" dirty="0">
                <a:solidFill>
                  <a:srgbClr val="1F285A"/>
                </a:solidFill>
                <a:latin typeface="メイリオ" panose="020B0604030504040204" pitchFamily="50" charset="-128"/>
                <a:ea typeface="メイリオ" panose="020B0604030504040204" pitchFamily="50" charset="-128"/>
              </a:rPr>
              <a:t>追加直後｜あいさつ＋30秒診断</a:t>
            </a:r>
            <a:endParaRPr lang="ja-JP" altLang="en-US" sz="1200" dirty="0"/>
          </a:p>
          <a:p>
            <a:pPr algn="l">
              <a:lnSpc>
                <a:spcPct val="105000"/>
              </a:lnSpc>
              <a:buNone/>
            </a:pPr>
            <a:r>
              <a:rPr lang="ja-JP" altLang="en-US" sz="900" b="0" dirty="0">
                <a:solidFill>
                  <a:srgbClr val="333333"/>
                </a:solidFill>
                <a:latin typeface="メイリオ" panose="020B0604030504040204" pitchFamily="50" charset="-128"/>
                <a:ea typeface="メイリオ" panose="020B0604030504040204" pitchFamily="50" charset="-128"/>
              </a:rPr>
              <a:t>学校名・入試日程を調べている → 志望校を聞き、入試までの逆算を届ける</a:t>
            </a:r>
            <a:endParaRPr lang="ja-JP" altLang="en-US" sz="1200" dirty="0"/>
          </a:p>
        </p:txBody>
      </p:sp>
      <p:sp>
        <p:nvSpPr>
          <p:cNvPr id="31" name="Rectangle 30"/>
          <p:cNvSpPr/>
          <p:nvPr/>
        </p:nvSpPr>
        <p:spPr>
          <a:xfrm>
            <a:off x="4157472" y="5157394"/>
            <a:ext cx="2621280" cy="658368"/>
          </a:xfrm>
          <a:prstGeom prst="rect">
            <a:avLst/>
          </a:prstGeom>
          <a:solidFill>
            <a:srgbClr val="FFFFFF"/>
          </a:solidFill>
          <a:ln w="9525">
            <a:solidFill>
              <a:srgbClr val="D9D9D9"/>
            </a:solidFill>
          </a:ln>
        </p:spPr>
        <p:txBody>
          <a:bodyPr wrap="square" lIns="73152" tIns="27432" rIns="54864" bIns="27432" rtlCol="0" anchor="ctr">
            <a:noAutofit/>
          </a:bodyPr>
          <a:lstStyle/>
          <a:p>
            <a:pPr algn="l">
              <a:lnSpc>
                <a:spcPct val="105000"/>
              </a:lnSpc>
              <a:buNone/>
            </a:pPr>
            <a:r>
              <a:rPr lang="ja-JP" altLang="en-US" sz="950" b="1" dirty="0">
                <a:solidFill>
                  <a:srgbClr val="1F285A"/>
                </a:solidFill>
                <a:latin typeface="メイリオ" panose="020B0604030504040204" pitchFamily="50" charset="-128"/>
                <a:ea typeface="メイリオ" panose="020B0604030504040204" pitchFamily="50" charset="-128"/>
              </a:rPr>
              <a:t>5日後｜月謝＋講習費の年間の目安</a:t>
            </a:r>
            <a:endParaRPr lang="ja-JP" altLang="en-US" sz="1200" dirty="0"/>
          </a:p>
          <a:p>
            <a:pPr algn="l">
              <a:lnSpc>
                <a:spcPct val="105000"/>
              </a:lnSpc>
              <a:buNone/>
            </a:pPr>
            <a:r>
              <a:rPr lang="ja-JP" altLang="en-US" sz="900" b="0" dirty="0">
                <a:solidFill>
                  <a:srgbClr val="333333"/>
                </a:solidFill>
                <a:latin typeface="メイリオ" panose="020B0604030504040204" pitchFamily="50" charset="-128"/>
                <a:ea typeface="メイリオ" panose="020B0604030504040204" pitchFamily="50" charset="-128"/>
              </a:rPr>
              <a:t>塾の費用・全落ちを心配している → 年間の費用の目安と、準備の進め方</a:t>
            </a:r>
            <a:endParaRPr lang="ja-JP" altLang="en-US" sz="1200" dirty="0"/>
          </a:p>
        </p:txBody>
      </p:sp>
      <p:sp>
        <p:nvSpPr>
          <p:cNvPr id="32" name="Rectangle 31"/>
          <p:cNvSpPr/>
          <p:nvPr/>
        </p:nvSpPr>
        <p:spPr>
          <a:xfrm>
            <a:off x="6851904" y="5157394"/>
            <a:ext cx="2621280" cy="658368"/>
          </a:xfrm>
          <a:prstGeom prst="rect">
            <a:avLst/>
          </a:prstGeom>
          <a:solidFill>
            <a:srgbClr val="FFFFFF"/>
          </a:solidFill>
          <a:ln w="9525">
            <a:solidFill>
              <a:srgbClr val="D9D9D9"/>
            </a:solidFill>
          </a:ln>
        </p:spPr>
        <p:txBody>
          <a:bodyPr wrap="square" lIns="73152" tIns="27432" rIns="54864" bIns="27432" rtlCol="0" anchor="ctr">
            <a:noAutofit/>
          </a:bodyPr>
          <a:lstStyle/>
          <a:p>
            <a:pPr algn="l">
              <a:lnSpc>
                <a:spcPct val="105000"/>
              </a:lnSpc>
              <a:buNone/>
            </a:pPr>
            <a:r>
              <a:rPr lang="ja-JP" altLang="en-US" sz="950" b="1" dirty="0">
                <a:solidFill>
                  <a:srgbClr val="1F285A"/>
                </a:solidFill>
                <a:latin typeface="メイリオ" panose="020B0604030504040204" pitchFamily="50" charset="-128"/>
                <a:ea typeface="メイリオ" panose="020B0604030504040204" pitchFamily="50" charset="-128"/>
              </a:rPr>
              <a:t>7日後｜事例＋体験のご案内①</a:t>
            </a:r>
            <a:endParaRPr lang="ja-JP" altLang="en-US" sz="1200" dirty="0"/>
          </a:p>
          <a:p>
            <a:pPr algn="l">
              <a:lnSpc>
                <a:spcPct val="105000"/>
              </a:lnSpc>
              <a:buNone/>
            </a:pPr>
            <a:r>
              <a:rPr lang="ja-JP" altLang="en-US" sz="900" b="0" dirty="0">
                <a:solidFill>
                  <a:srgbClr val="333333"/>
                </a:solidFill>
                <a:latin typeface="メイリオ" panose="020B0604030504040204" pitchFamily="50" charset="-128"/>
                <a:ea typeface="メイリオ" panose="020B0604030504040204" pitchFamily="50" charset="-128"/>
              </a:rPr>
              <a:t>料金・合格実績で比べている → 同じ志望の子の事例と、体験授業の案内</a:t>
            </a:r>
            <a:endParaRPr lang="ja-JP" altLang="en-US" sz="1200" dirty="0"/>
          </a:p>
        </p:txBody>
      </p:sp>
    </p:spTree>
    <p:extLst>
      <p:ext uri="{BB962C8B-B14F-4D97-AF65-F5344CB8AC3E}">
        <p14:creationId xmlns:p14="http://schemas.microsoft.com/office/powerpoint/2010/main" val="34152053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CDB2C5-43E4-382E-3F0A-0B0F5E9FBB44}"/>
            </a:ext>
          </a:extLst>
        </p:cNvPr>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前後検索｜高校受験 塾</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dirty="0">
                <a:solidFill>
                  <a:srgbClr val="333333"/>
                </a:solidFill>
                <a:latin typeface="メイリオ"/>
                <a:ea typeface="メイリオ"/>
                <a:cs typeface="メイリオ"/>
              </a:rPr>
              <a:t>高校受験の保護者は、当日に「塾 いつから・費用・ランキング・勉強方法」をまとめて調べている。</a:t>
            </a:r>
            <a:endParaRPr lang="en-US" sz="1200" dirty="0">
              <a:solidFill>
                <a:srgbClr val="333333"/>
              </a:solidFill>
              <a:latin typeface="メイリオ"/>
              <a:ea typeface="メイリオ"/>
              <a:cs typeface="メイリオ"/>
            </a:endParaRPr>
          </a:p>
          <a:p>
            <a:pPr algn="l">
              <a:lnSpc>
                <a:spcPct val="128000"/>
              </a:lnSpc>
            </a:pPr>
            <a:r>
              <a:rPr sz="1200" dirty="0">
                <a:solidFill>
                  <a:srgbClr val="333333"/>
                </a:solidFill>
                <a:latin typeface="メイリオ"/>
                <a:ea typeface="メイリオ"/>
                <a:cs typeface="メイリオ"/>
              </a:rPr>
              <a:t>その前は志望校の偏差値、そのあとは塾の名前と料金で比べている。</a:t>
            </a:r>
            <a:endParaRPr lang="en-US" sz="1200" dirty="0">
              <a:solidFill>
                <a:srgbClr val="333333"/>
              </a:solidFill>
              <a:latin typeface="メイリオ"/>
              <a:ea typeface="メイリオ"/>
              <a:cs typeface="メイリオ"/>
            </a:endParaRP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Pentagon 4"/>
          <p:cNvSpPr/>
          <p:nvPr/>
        </p:nvSpPr>
        <p:spPr>
          <a:xfrm>
            <a:off x="432000" y="590400"/>
            <a:ext cx="1111500" cy="180000"/>
          </a:xfrm>
          <a:prstGeom prst="homePlate">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①接触</a:t>
            </a:r>
          </a:p>
        </p:txBody>
      </p:sp>
      <p:sp>
        <p:nvSpPr>
          <p:cNvPr id="6" name="Chevron 5"/>
          <p:cNvSpPr/>
          <p:nvPr/>
        </p:nvSpPr>
        <p:spPr>
          <a:xfrm>
            <a:off x="15651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②離脱</a:t>
            </a:r>
          </a:p>
        </p:txBody>
      </p:sp>
      <p:sp>
        <p:nvSpPr>
          <p:cNvPr id="7" name="Chevron 6"/>
          <p:cNvSpPr/>
          <p:nvPr/>
        </p:nvSpPr>
        <p:spPr>
          <a:xfrm>
            <a:off x="26982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③育成</a:t>
            </a:r>
          </a:p>
        </p:txBody>
      </p:sp>
      <p:sp>
        <p:nvSpPr>
          <p:cNvPr id="8" name="Chevron 7"/>
          <p:cNvSpPr/>
          <p:nvPr/>
        </p:nvSpPr>
        <p:spPr>
          <a:xfrm>
            <a:off x="38312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④リード獲得</a:t>
            </a:r>
          </a:p>
        </p:txBody>
      </p:sp>
      <p:sp>
        <p:nvSpPr>
          <p:cNvPr id="9" name="Chevron 8"/>
          <p:cNvSpPr/>
          <p:nvPr/>
        </p:nvSpPr>
        <p:spPr>
          <a:xfrm>
            <a:off x="49644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⑤リード有効化</a:t>
            </a:r>
          </a:p>
        </p:txBody>
      </p:sp>
      <p:sp>
        <p:nvSpPr>
          <p:cNvPr id="10" name="Chevron 9"/>
          <p:cNvSpPr/>
          <p:nvPr/>
        </p:nvSpPr>
        <p:spPr>
          <a:xfrm>
            <a:off x="60975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⑥再育成</a:t>
            </a:r>
          </a:p>
        </p:txBody>
      </p:sp>
      <p:sp>
        <p:nvSpPr>
          <p:cNvPr id="11" name="Chevron 10"/>
          <p:cNvSpPr/>
          <p:nvPr/>
        </p:nvSpPr>
        <p:spPr>
          <a:xfrm>
            <a:off x="72305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⑦入会（契約）</a:t>
            </a:r>
          </a:p>
        </p:txBody>
      </p:sp>
      <p:sp>
        <p:nvSpPr>
          <p:cNvPr id="12" name="Chevron 11"/>
          <p:cNvSpPr/>
          <p:nvPr/>
        </p:nvSpPr>
        <p:spPr>
          <a:xfrm>
            <a:off x="83636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⑧紹介</a:t>
            </a:r>
          </a:p>
        </p:txBody>
      </p:sp>
      <p:sp>
        <p:nvSpPr>
          <p:cNvPr id="24" name="Rounded Rectangle 23"/>
          <p:cNvSpPr/>
          <p:nvPr/>
        </p:nvSpPr>
        <p:spPr>
          <a:xfrm>
            <a:off x="429768" y="5870448"/>
            <a:ext cx="9043416" cy="329184"/>
          </a:xfrm>
          <a:prstGeom prst="roundRect">
            <a:avLst>
              <a:gd name="adj" fmla="val 12000"/>
            </a:avLst>
          </a:prstGeom>
          <a:solidFill>
            <a:srgbClr val="1F285A"/>
          </a:solidFill>
          <a:ln>
            <a:noFill/>
          </a:ln>
        </p:spPr>
        <p:txBody>
          <a:bodyPr wrap="square" lIns="73152" tIns="36576" rIns="73152" bIns="36576" rtlCol="0" anchor="ctr">
            <a:noAutofit/>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rPr>
              <a:t>「いつから・費用」を調べる当日に、その答えをLINEで先に届ける。</a:t>
            </a:r>
            <a:endParaRPr lang="ja-JP" altLang="en-US" sz="1200" dirty="0"/>
          </a:p>
        </p:txBody>
      </p:sp>
      <p:sp>
        <p:nvSpPr>
          <p:cNvPr id="25" name="Rectangle 24"/>
          <p:cNvSpPr/>
          <p:nvPr/>
        </p:nvSpPr>
        <p:spPr>
          <a:xfrm>
            <a:off x="429768" y="6245352"/>
            <a:ext cx="9043416" cy="274320"/>
          </a:xfrm>
          <a:prstGeom prst="rect">
            <a:avLst/>
          </a:prstGeom>
          <a:noFill/>
          <a:ln>
            <a:noFill/>
          </a:ln>
        </p:spPr>
        <p:txBody>
          <a:bodyPr wrap="square" lIns="0" tIns="0" rIns="0" bIns="0" rtlCol="0" anchor="t">
            <a:noAutofit/>
          </a:bodyPr>
          <a:lstStyle/>
          <a:p>
            <a:pPr algn="l">
              <a:buNone/>
            </a:pPr>
            <a:r>
              <a:rPr lang="ja-JP" altLang="en-US" sz="750" b="0" dirty="0">
                <a:solidFill>
                  <a:srgbClr val="7F7F7F"/>
                </a:solidFill>
                <a:latin typeface="メイリオ" panose="020B0604030504040204" pitchFamily="50" charset="-128"/>
                <a:ea typeface="メイリオ" panose="020B0604030504040204" pitchFamily="50" charset="-128"/>
              </a:rPr>
              <a:t>出典｜LINEヤフー前後検索（2026年10月取得）。横軸＝起点の検索の前後15日、縦軸＝検索した人数（UU）。色はDYMの分類（薄い文字は分類の対象外）。配信の中身はP31・P38</a:t>
            </a:r>
            <a:endParaRPr lang="ja-JP" altLang="en-US" sz="750" dirty="0"/>
          </a:p>
        </p:txBody>
      </p:sp>
      <p:sp>
        <p:nvSpPr>
          <p:cNvPr id="26" name="Rectangle 25"/>
          <p:cNvSpPr/>
          <p:nvPr/>
        </p:nvSpPr>
        <p:spPr>
          <a:xfrm>
            <a:off x="429768" y="1463040"/>
            <a:ext cx="9043416" cy="256032"/>
          </a:xfrm>
          <a:prstGeom prst="rect">
            <a:avLst/>
          </a:prstGeom>
          <a:solidFill>
            <a:srgbClr val="1F285A"/>
          </a:solidFill>
          <a:ln>
            <a:noFill/>
          </a:ln>
        </p:spPr>
        <p:txBody>
          <a:bodyPr wrap="square" lIns="45720" tIns="0" rIns="45720" bIns="0" rtlCol="0" anchor="ctr">
            <a:noAutofit/>
          </a:bodyPr>
          <a:lstStyle/>
          <a:p>
            <a:pPr algn="ctr">
              <a:buNone/>
            </a:pPr>
            <a:r>
              <a:rPr lang="ja-JP" altLang="en-US" sz="1250" b="1" dirty="0">
                <a:solidFill>
                  <a:srgbClr val="FFFFFF"/>
                </a:solidFill>
                <a:latin typeface="メイリオ" panose="020B0604030504040204" pitchFamily="50" charset="-128"/>
                <a:ea typeface="メイリオ" panose="020B0604030504040204" pitchFamily="50" charset="-128"/>
              </a:rPr>
              <a:t>「高校受験 塾」の検索前後（LINEヤフー前後検索・実データ）</a:t>
            </a:r>
            <a:endParaRPr lang="ja-JP" altLang="en-US" sz="1250" dirty="0"/>
          </a:p>
        </p:txBody>
      </p:sp>
      <p:pic>
        <p:nvPicPr>
          <p:cNvPr id="27" name="前後検索_高校受験 塾"/>
          <p:cNvPicPr>
            <a:picLocks noChangeAspect="1"/>
          </p:cNvPicPr>
          <p:nvPr/>
        </p:nvPicPr>
        <p:blipFill>
          <a:blip r:embed="rId2"/>
          <a:stretch>
            <a:fillRect/>
          </a:stretch>
        </p:blipFill>
        <p:spPr>
          <a:xfrm>
            <a:off x="429768" y="1792224"/>
            <a:ext cx="5641848" cy="3292018"/>
          </a:xfrm>
          <a:prstGeom prst="rect">
            <a:avLst/>
          </a:prstGeom>
          <a:ln w="9525">
            <a:solidFill>
              <a:srgbClr val="C6CADD"/>
            </a:solidFill>
          </a:ln>
        </p:spPr>
      </p:pic>
      <p:sp>
        <p:nvSpPr>
          <p:cNvPr id="28" name="Rectangle 27"/>
          <p:cNvSpPr/>
          <p:nvPr/>
        </p:nvSpPr>
        <p:spPr>
          <a:xfrm>
            <a:off x="6181344" y="1792224"/>
            <a:ext cx="3291840" cy="3292018"/>
          </a:xfrm>
          <a:prstGeom prst="rect">
            <a:avLst/>
          </a:prstGeom>
          <a:solidFill>
            <a:srgbClr val="F4F7FF"/>
          </a:solidFill>
          <a:ln w="9525">
            <a:solidFill>
              <a:srgbClr val="D9D9D9"/>
            </a:solidFill>
          </a:ln>
        </p:spPr>
        <p:txBody>
          <a:bodyPr wrap="square" lIns="91440" tIns="45720" rIns="73152" bIns="45720" rtlCol="0" anchor="ctr">
            <a:noAutofit/>
          </a:bodyPr>
          <a:lstStyle/>
          <a:p>
            <a:pPr algn="l">
              <a:lnSpc>
                <a:spcPct val="105000"/>
              </a:lnSpc>
              <a:buNone/>
            </a:pPr>
            <a:r>
              <a:rPr lang="ja-JP" altLang="en-US" sz="1050" b="1" dirty="0">
                <a:solidFill>
                  <a:srgbClr val="3467B2"/>
                </a:solidFill>
                <a:latin typeface="メイリオ" panose="020B0604030504040204" pitchFamily="50" charset="-128"/>
                <a:ea typeface="メイリオ" panose="020B0604030504040204" pitchFamily="50" charset="-128"/>
              </a:rPr>
              <a:t>① 志望校・偏差値</a:t>
            </a:r>
            <a:endParaRPr lang="ja-JP" altLang="en-US" sz="1200" dirty="0"/>
          </a:p>
          <a:p>
            <a:pPr algn="l">
              <a:lnSpc>
                <a:spcPct val="105000"/>
              </a:lnSpc>
              <a:buNone/>
            </a:pPr>
            <a:r>
              <a:rPr lang="ja-JP" altLang="en-US" sz="900" b="0" dirty="0">
                <a:solidFill>
                  <a:srgbClr val="333333"/>
                </a:solidFill>
                <a:latin typeface="メイリオ" panose="020B0604030504040204" pitchFamily="50" charset="-128"/>
                <a:ea typeface="メイリオ" panose="020B0604030504040204" pitchFamily="50" charset="-128"/>
              </a:rPr>
              <a:t>都立高校／高校受験 偏差値／東京都 高校 偏差値／都立高校 入試</a:t>
            </a:r>
            <a:endParaRPr lang="en-US" altLang="ja-JP" sz="900" b="0" dirty="0">
              <a:solidFill>
                <a:srgbClr val="333333"/>
              </a:solidFill>
              <a:latin typeface="メイリオ" panose="020B0604030504040204" pitchFamily="50" charset="-128"/>
              <a:ea typeface="メイリオ" panose="020B0604030504040204" pitchFamily="50" charset="-128"/>
            </a:endParaRPr>
          </a:p>
          <a:p>
            <a:pPr algn="l">
              <a:lnSpc>
                <a:spcPct val="105000"/>
              </a:lnSpc>
              <a:buNone/>
            </a:pPr>
            <a:endParaRPr lang="ja-JP" altLang="en-US" sz="800" dirty="0"/>
          </a:p>
          <a:p>
            <a:pPr algn="l">
              <a:lnSpc>
                <a:spcPct val="105000"/>
              </a:lnSpc>
              <a:buNone/>
            </a:pPr>
            <a:r>
              <a:rPr lang="ja-JP" altLang="en-US" sz="1050" b="1" dirty="0">
                <a:solidFill>
                  <a:srgbClr val="8E4EC6"/>
                </a:solidFill>
                <a:latin typeface="メイリオ" panose="020B0604030504040204" pitchFamily="50" charset="-128"/>
                <a:ea typeface="メイリオ" panose="020B0604030504040204" pitchFamily="50" charset="-128"/>
              </a:rPr>
              <a:t>② 検定・勉強法</a:t>
            </a:r>
            <a:endParaRPr lang="ja-JP" altLang="en-US" sz="1200" dirty="0"/>
          </a:p>
          <a:p>
            <a:pPr algn="l">
              <a:lnSpc>
                <a:spcPct val="105000"/>
              </a:lnSpc>
              <a:buNone/>
            </a:pPr>
            <a:r>
              <a:rPr lang="ja-JP" altLang="en-US" sz="900" b="0" dirty="0">
                <a:solidFill>
                  <a:srgbClr val="333333"/>
                </a:solidFill>
                <a:latin typeface="メイリオ" panose="020B0604030504040204" pitchFamily="50" charset="-128"/>
                <a:ea typeface="メイリオ" panose="020B0604030504040204" pitchFamily="50" charset="-128"/>
              </a:rPr>
              <a:t>高校受験 勉強方法／数検3級／高校受験 塾なし／中学 英語</a:t>
            </a:r>
            <a:endParaRPr lang="en-US" altLang="ja-JP" sz="900" b="0" dirty="0">
              <a:solidFill>
                <a:srgbClr val="333333"/>
              </a:solidFill>
              <a:latin typeface="メイリオ" panose="020B0604030504040204" pitchFamily="50" charset="-128"/>
              <a:ea typeface="メイリオ" panose="020B0604030504040204" pitchFamily="50" charset="-128"/>
            </a:endParaRPr>
          </a:p>
          <a:p>
            <a:pPr algn="l">
              <a:lnSpc>
                <a:spcPct val="105000"/>
              </a:lnSpc>
              <a:buNone/>
            </a:pPr>
            <a:endParaRPr lang="ja-JP" altLang="en-US" sz="800" dirty="0"/>
          </a:p>
          <a:p>
            <a:pPr algn="l">
              <a:lnSpc>
                <a:spcPct val="105000"/>
              </a:lnSpc>
              <a:buNone/>
            </a:pPr>
            <a:r>
              <a:rPr lang="ja-JP" altLang="en-US" sz="1050" b="1" dirty="0">
                <a:solidFill>
                  <a:srgbClr val="C2185B"/>
                </a:solidFill>
                <a:latin typeface="メイリオ" panose="020B0604030504040204" pitchFamily="50" charset="-128"/>
                <a:ea typeface="メイリオ" panose="020B0604030504040204" pitchFamily="50" charset="-128"/>
              </a:rPr>
              <a:t>③ 塾選び・費用・時期</a:t>
            </a:r>
            <a:endParaRPr lang="ja-JP" altLang="en-US" sz="1200" dirty="0"/>
          </a:p>
          <a:p>
            <a:pPr algn="l">
              <a:lnSpc>
                <a:spcPct val="105000"/>
              </a:lnSpc>
              <a:buNone/>
            </a:pPr>
            <a:r>
              <a:rPr lang="ja-JP" altLang="en-US" sz="900" b="0" dirty="0">
                <a:solidFill>
                  <a:srgbClr val="333333"/>
                </a:solidFill>
                <a:latin typeface="メイリオ" panose="020B0604030504040204" pitchFamily="50" charset="-128"/>
                <a:ea typeface="メイリオ" panose="020B0604030504040204" pitchFamily="50" charset="-128"/>
              </a:rPr>
              <a:t>高校受験 塾 いつから／塾 費用／塾 ランキング／中学受験 高校受験 どっち／オンライン 塾</a:t>
            </a:r>
            <a:endParaRPr lang="en-US" altLang="ja-JP" sz="900" b="0" dirty="0">
              <a:solidFill>
                <a:srgbClr val="333333"/>
              </a:solidFill>
              <a:latin typeface="メイリオ" panose="020B0604030504040204" pitchFamily="50" charset="-128"/>
              <a:ea typeface="メイリオ" panose="020B0604030504040204" pitchFamily="50" charset="-128"/>
            </a:endParaRPr>
          </a:p>
          <a:p>
            <a:pPr algn="l">
              <a:lnSpc>
                <a:spcPct val="105000"/>
              </a:lnSpc>
              <a:buNone/>
            </a:pPr>
            <a:endParaRPr lang="ja-JP" altLang="en-US" sz="800" dirty="0"/>
          </a:p>
          <a:p>
            <a:pPr algn="l">
              <a:lnSpc>
                <a:spcPct val="105000"/>
              </a:lnSpc>
              <a:buNone/>
            </a:pPr>
            <a:r>
              <a:rPr lang="ja-JP" altLang="en-US" sz="1050" b="1" dirty="0">
                <a:solidFill>
                  <a:srgbClr val="00897B"/>
                </a:solidFill>
                <a:latin typeface="メイリオ" panose="020B0604030504040204" pitchFamily="50" charset="-128"/>
                <a:ea typeface="メイリオ" panose="020B0604030504040204" pitchFamily="50" charset="-128"/>
              </a:rPr>
              <a:t>④ 塾名・料金・口コミ</a:t>
            </a:r>
            <a:endParaRPr lang="ja-JP" altLang="en-US" sz="1200" dirty="0"/>
          </a:p>
          <a:p>
            <a:pPr algn="l">
              <a:lnSpc>
                <a:spcPct val="105000"/>
              </a:lnSpc>
              <a:buNone/>
            </a:pPr>
            <a:r>
              <a:rPr lang="ja-JP" altLang="en-US" sz="900" b="0" dirty="0">
                <a:solidFill>
                  <a:srgbClr val="333333"/>
                </a:solidFill>
                <a:latin typeface="メイリオ" panose="020B0604030504040204" pitchFamily="50" charset="-128"/>
                <a:ea typeface="メイリオ" panose="020B0604030504040204" pitchFamily="50" charset="-128"/>
              </a:rPr>
              <a:t>早稲田アカデミー・栄光ゼミナール・臨海セミナー／早稲アカ 個別 料金／臨海セミナー 口コミ</a:t>
            </a:r>
            <a:endParaRPr lang="ja-JP" altLang="en-US" sz="1200" dirty="0"/>
          </a:p>
        </p:txBody>
      </p:sp>
      <p:sp>
        <p:nvSpPr>
          <p:cNvPr id="29" name="Rounded Rectangle 28"/>
          <p:cNvSpPr/>
          <p:nvPr/>
        </p:nvSpPr>
        <p:spPr>
          <a:xfrm>
            <a:off x="429768" y="5157394"/>
            <a:ext cx="960120" cy="658368"/>
          </a:xfrm>
          <a:prstGeom prst="roundRect">
            <a:avLst>
              <a:gd name="adj" fmla="val 8000"/>
            </a:avLst>
          </a:prstGeom>
          <a:solidFill>
            <a:srgbClr val="1F285A"/>
          </a:solidFill>
          <a:ln>
            <a:noFill/>
          </a:ln>
        </p:spPr>
        <p:txBody>
          <a:bodyPr wrap="square" lIns="36576" tIns="0" rIns="36576" bIns="0" rtlCol="0" anchor="ctr">
            <a:noAutofit/>
          </a:bodyPr>
          <a:lstStyle/>
          <a:p>
            <a:pPr algn="ctr">
              <a:lnSpc>
                <a:spcPct val="105000"/>
              </a:lnSpc>
              <a:buNone/>
            </a:pPr>
            <a:r>
              <a:rPr lang="ja-JP" altLang="en-US" sz="1000" b="1" dirty="0">
                <a:solidFill>
                  <a:srgbClr val="FFFFFF"/>
                </a:solidFill>
                <a:latin typeface="メイリオ" panose="020B0604030504040204" pitchFamily="50" charset="-128"/>
                <a:ea typeface="メイリオ" panose="020B0604030504040204" pitchFamily="50" charset="-128"/>
              </a:rPr>
              <a:t>この流れで</a:t>
            </a:r>
            <a:endParaRPr lang="ja-JP" altLang="en-US" sz="1000" dirty="0"/>
          </a:p>
          <a:p>
            <a:pPr algn="ctr">
              <a:lnSpc>
                <a:spcPct val="105000"/>
              </a:lnSpc>
              <a:buNone/>
            </a:pPr>
            <a:r>
              <a:rPr lang="ja-JP" altLang="en-US" sz="1000" b="1" dirty="0">
                <a:solidFill>
                  <a:srgbClr val="FFFFFF"/>
                </a:solidFill>
                <a:latin typeface="メイリオ" panose="020B0604030504040204" pitchFamily="50" charset="-128"/>
                <a:ea typeface="メイリオ" panose="020B0604030504040204" pitchFamily="50" charset="-128"/>
              </a:rPr>
              <a:t>配信すること</a:t>
            </a:r>
            <a:endParaRPr lang="ja-JP" altLang="en-US" sz="1000" dirty="0"/>
          </a:p>
        </p:txBody>
      </p:sp>
      <p:sp>
        <p:nvSpPr>
          <p:cNvPr id="30" name="Rectangle 29"/>
          <p:cNvSpPr/>
          <p:nvPr/>
        </p:nvSpPr>
        <p:spPr>
          <a:xfrm>
            <a:off x="1463040" y="5157394"/>
            <a:ext cx="2621280" cy="658368"/>
          </a:xfrm>
          <a:prstGeom prst="rect">
            <a:avLst/>
          </a:prstGeom>
          <a:solidFill>
            <a:srgbClr val="FFFFFF"/>
          </a:solidFill>
          <a:ln w="9525">
            <a:solidFill>
              <a:srgbClr val="D9D9D9"/>
            </a:solidFill>
          </a:ln>
        </p:spPr>
        <p:txBody>
          <a:bodyPr wrap="square" lIns="73152" tIns="27432" rIns="54864" bIns="27432" rtlCol="0" anchor="ctr">
            <a:noAutofit/>
          </a:bodyPr>
          <a:lstStyle/>
          <a:p>
            <a:pPr algn="l">
              <a:lnSpc>
                <a:spcPct val="105000"/>
              </a:lnSpc>
              <a:buNone/>
            </a:pPr>
            <a:r>
              <a:rPr lang="ja-JP" altLang="en-US" sz="950" b="1" dirty="0">
                <a:solidFill>
                  <a:srgbClr val="1F285A"/>
                </a:solidFill>
                <a:latin typeface="メイリオ" panose="020B0604030504040204" pitchFamily="50" charset="-128"/>
                <a:ea typeface="メイリオ" panose="020B0604030504040204" pitchFamily="50" charset="-128"/>
              </a:rPr>
              <a:t>3日後｜家でできる勉強のコツ</a:t>
            </a:r>
            <a:endParaRPr lang="ja-JP" altLang="en-US" sz="1200" dirty="0"/>
          </a:p>
          <a:p>
            <a:pPr algn="l">
              <a:lnSpc>
                <a:spcPct val="105000"/>
              </a:lnSpc>
              <a:buNone/>
            </a:pPr>
            <a:r>
              <a:rPr lang="ja-JP" altLang="en-US" sz="900" b="0" dirty="0">
                <a:solidFill>
                  <a:srgbClr val="333333"/>
                </a:solidFill>
                <a:latin typeface="メイリオ" panose="020B0604030504040204" pitchFamily="50" charset="-128"/>
                <a:ea typeface="メイリオ" panose="020B0604030504040204" pitchFamily="50" charset="-128"/>
              </a:rPr>
              <a:t>勉強方法・塾なしで迷っている → 売り込まずに、家でできる勉強のコツ</a:t>
            </a:r>
            <a:endParaRPr lang="ja-JP" altLang="en-US" sz="1200" dirty="0"/>
          </a:p>
        </p:txBody>
      </p:sp>
      <p:sp>
        <p:nvSpPr>
          <p:cNvPr id="31" name="Rectangle 30"/>
          <p:cNvSpPr/>
          <p:nvPr/>
        </p:nvSpPr>
        <p:spPr>
          <a:xfrm>
            <a:off x="4157472" y="5157394"/>
            <a:ext cx="2621280" cy="658368"/>
          </a:xfrm>
          <a:prstGeom prst="rect">
            <a:avLst/>
          </a:prstGeom>
          <a:solidFill>
            <a:srgbClr val="FFFFFF"/>
          </a:solidFill>
          <a:ln w="9525">
            <a:solidFill>
              <a:srgbClr val="D9D9D9"/>
            </a:solidFill>
          </a:ln>
        </p:spPr>
        <p:txBody>
          <a:bodyPr wrap="square" lIns="73152" tIns="27432" rIns="54864" bIns="27432" rtlCol="0" anchor="ctr">
            <a:noAutofit/>
          </a:bodyPr>
          <a:lstStyle/>
          <a:p>
            <a:pPr algn="l">
              <a:lnSpc>
                <a:spcPct val="105000"/>
              </a:lnSpc>
              <a:buNone/>
            </a:pPr>
            <a:r>
              <a:rPr lang="ja-JP" altLang="en-US" sz="950" b="1" dirty="0">
                <a:solidFill>
                  <a:srgbClr val="1F285A"/>
                </a:solidFill>
                <a:latin typeface="メイリオ" panose="020B0604030504040204" pitchFamily="50" charset="-128"/>
                <a:ea typeface="メイリオ" panose="020B0604030504040204" pitchFamily="50" charset="-128"/>
              </a:rPr>
              <a:t>5日後｜月謝＋講習費の年間の目安</a:t>
            </a:r>
            <a:endParaRPr lang="ja-JP" altLang="en-US" sz="1200" dirty="0"/>
          </a:p>
          <a:p>
            <a:pPr algn="l">
              <a:lnSpc>
                <a:spcPct val="105000"/>
              </a:lnSpc>
              <a:buNone/>
            </a:pPr>
            <a:r>
              <a:rPr lang="ja-JP" altLang="en-US" sz="900" b="0" dirty="0">
                <a:solidFill>
                  <a:srgbClr val="333333"/>
                </a:solidFill>
                <a:latin typeface="メイリオ" panose="020B0604030504040204" pitchFamily="50" charset="-128"/>
                <a:ea typeface="メイリオ" panose="020B0604030504040204" pitchFamily="50" charset="-128"/>
              </a:rPr>
              <a:t>いつから・費用を調べている → 年間の費用の目安と、始める時期</a:t>
            </a:r>
            <a:endParaRPr lang="ja-JP" altLang="en-US" sz="1200" dirty="0"/>
          </a:p>
        </p:txBody>
      </p:sp>
      <p:sp>
        <p:nvSpPr>
          <p:cNvPr id="32" name="Rectangle 31"/>
          <p:cNvSpPr/>
          <p:nvPr/>
        </p:nvSpPr>
        <p:spPr>
          <a:xfrm>
            <a:off x="6851904" y="5157394"/>
            <a:ext cx="2621280" cy="658368"/>
          </a:xfrm>
          <a:prstGeom prst="rect">
            <a:avLst/>
          </a:prstGeom>
          <a:solidFill>
            <a:srgbClr val="FFFFFF"/>
          </a:solidFill>
          <a:ln w="9525">
            <a:solidFill>
              <a:srgbClr val="D9D9D9"/>
            </a:solidFill>
          </a:ln>
        </p:spPr>
        <p:txBody>
          <a:bodyPr wrap="square" lIns="73152" tIns="27432" rIns="54864" bIns="27432" rtlCol="0" anchor="ctr">
            <a:noAutofit/>
          </a:bodyPr>
          <a:lstStyle/>
          <a:p>
            <a:pPr algn="l">
              <a:lnSpc>
                <a:spcPct val="105000"/>
              </a:lnSpc>
              <a:buNone/>
            </a:pPr>
            <a:r>
              <a:rPr lang="ja-JP" altLang="en-US" sz="950" b="1" dirty="0">
                <a:solidFill>
                  <a:srgbClr val="1F285A"/>
                </a:solidFill>
                <a:latin typeface="メイリオ" panose="020B0604030504040204" pitchFamily="50" charset="-128"/>
                <a:ea typeface="メイリオ" panose="020B0604030504040204" pitchFamily="50" charset="-128"/>
              </a:rPr>
              <a:t>14日後｜テストから逆算＋体験のご案内②</a:t>
            </a:r>
            <a:endParaRPr lang="ja-JP" altLang="en-US" sz="1200" dirty="0"/>
          </a:p>
          <a:p>
            <a:pPr algn="l">
              <a:lnSpc>
                <a:spcPct val="105000"/>
              </a:lnSpc>
              <a:buNone/>
            </a:pPr>
            <a:r>
              <a:rPr lang="ja-JP" altLang="en-US" sz="900" b="0" dirty="0">
                <a:solidFill>
                  <a:srgbClr val="333333"/>
                </a:solidFill>
                <a:latin typeface="メイリオ" panose="020B0604030504040204" pitchFamily="50" charset="-128"/>
                <a:ea typeface="メイリオ" panose="020B0604030504040204" pitchFamily="50" charset="-128"/>
              </a:rPr>
              <a:t>塾の名前・料金で比べている → 次の定期テストから逆算した体験授業の案内</a:t>
            </a:r>
            <a:endParaRPr lang="ja-JP" altLang="en-US" sz="1200" dirty="0"/>
          </a:p>
        </p:txBody>
      </p:sp>
    </p:spTree>
    <p:extLst>
      <p:ext uri="{BB962C8B-B14F-4D97-AF65-F5344CB8AC3E}">
        <p14:creationId xmlns:p14="http://schemas.microsoft.com/office/powerpoint/2010/main" val="12053643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CDB2C5-43E4-382E-3F0A-0B0F5E9FBB44}"/>
            </a:ext>
          </a:extLst>
        </p:cNvPr>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前後検索｜英語 塾</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dirty="0">
                <a:solidFill>
                  <a:srgbClr val="333333"/>
                </a:solidFill>
                <a:latin typeface="メイリオ"/>
                <a:ea typeface="メイリオ"/>
                <a:cs typeface="メイリオ"/>
              </a:rPr>
              <a:t>英語の保護者は、塾より先に英検（日程・級・合格発表）を調べている。</a:t>
            </a:r>
            <a:endParaRPr lang="en-US" sz="1200" dirty="0">
              <a:solidFill>
                <a:srgbClr val="333333"/>
              </a:solidFill>
              <a:latin typeface="メイリオ"/>
              <a:ea typeface="メイリオ"/>
              <a:cs typeface="メイリオ"/>
            </a:endParaRPr>
          </a:p>
          <a:p>
            <a:pPr algn="l">
              <a:lnSpc>
                <a:spcPct val="128000"/>
              </a:lnSpc>
            </a:pPr>
            <a:r>
              <a:rPr sz="1200" dirty="0">
                <a:solidFill>
                  <a:srgbClr val="333333"/>
                </a:solidFill>
                <a:latin typeface="メイリオ"/>
                <a:ea typeface="メイリオ"/>
                <a:cs typeface="メイリオ"/>
              </a:rPr>
              <a:t>当日は英語塾・個別指導塾の名前、そのあとは料金・口コミで比べている。</a:t>
            </a:r>
            <a:endParaRPr lang="en-US" sz="1200" dirty="0">
              <a:solidFill>
                <a:srgbClr val="333333"/>
              </a:solidFill>
              <a:latin typeface="メイリオ"/>
              <a:ea typeface="メイリオ"/>
              <a:cs typeface="メイリオ"/>
            </a:endParaRP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Pentagon 4"/>
          <p:cNvSpPr/>
          <p:nvPr/>
        </p:nvSpPr>
        <p:spPr>
          <a:xfrm>
            <a:off x="432000" y="590400"/>
            <a:ext cx="1111500" cy="180000"/>
          </a:xfrm>
          <a:prstGeom prst="homePlate">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①接触</a:t>
            </a:r>
          </a:p>
        </p:txBody>
      </p:sp>
      <p:sp>
        <p:nvSpPr>
          <p:cNvPr id="6" name="Chevron 5"/>
          <p:cNvSpPr/>
          <p:nvPr/>
        </p:nvSpPr>
        <p:spPr>
          <a:xfrm>
            <a:off x="15651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②離脱</a:t>
            </a:r>
          </a:p>
        </p:txBody>
      </p:sp>
      <p:sp>
        <p:nvSpPr>
          <p:cNvPr id="7" name="Chevron 6"/>
          <p:cNvSpPr/>
          <p:nvPr/>
        </p:nvSpPr>
        <p:spPr>
          <a:xfrm>
            <a:off x="26982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③育成</a:t>
            </a:r>
          </a:p>
        </p:txBody>
      </p:sp>
      <p:sp>
        <p:nvSpPr>
          <p:cNvPr id="8" name="Chevron 7"/>
          <p:cNvSpPr/>
          <p:nvPr/>
        </p:nvSpPr>
        <p:spPr>
          <a:xfrm>
            <a:off x="38312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④リード獲得</a:t>
            </a:r>
          </a:p>
        </p:txBody>
      </p:sp>
      <p:sp>
        <p:nvSpPr>
          <p:cNvPr id="9" name="Chevron 8"/>
          <p:cNvSpPr/>
          <p:nvPr/>
        </p:nvSpPr>
        <p:spPr>
          <a:xfrm>
            <a:off x="49644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⑤リード有効化</a:t>
            </a:r>
          </a:p>
        </p:txBody>
      </p:sp>
      <p:sp>
        <p:nvSpPr>
          <p:cNvPr id="10" name="Chevron 9"/>
          <p:cNvSpPr/>
          <p:nvPr/>
        </p:nvSpPr>
        <p:spPr>
          <a:xfrm>
            <a:off x="60975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⑥再育成</a:t>
            </a:r>
          </a:p>
        </p:txBody>
      </p:sp>
      <p:sp>
        <p:nvSpPr>
          <p:cNvPr id="11" name="Chevron 10"/>
          <p:cNvSpPr/>
          <p:nvPr/>
        </p:nvSpPr>
        <p:spPr>
          <a:xfrm>
            <a:off x="72305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⑦入会（契約）</a:t>
            </a:r>
          </a:p>
        </p:txBody>
      </p:sp>
      <p:sp>
        <p:nvSpPr>
          <p:cNvPr id="12" name="Chevron 11"/>
          <p:cNvSpPr/>
          <p:nvPr/>
        </p:nvSpPr>
        <p:spPr>
          <a:xfrm>
            <a:off x="83636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⑧紹介</a:t>
            </a:r>
          </a:p>
        </p:txBody>
      </p:sp>
      <p:sp>
        <p:nvSpPr>
          <p:cNvPr id="24" name="Rounded Rectangle 23"/>
          <p:cNvSpPr/>
          <p:nvPr/>
        </p:nvSpPr>
        <p:spPr>
          <a:xfrm>
            <a:off x="429768" y="5870448"/>
            <a:ext cx="9043416" cy="329184"/>
          </a:xfrm>
          <a:prstGeom prst="roundRect">
            <a:avLst>
              <a:gd name="adj" fmla="val 12000"/>
            </a:avLst>
          </a:prstGeom>
          <a:solidFill>
            <a:srgbClr val="1F285A"/>
          </a:solidFill>
          <a:ln>
            <a:noFill/>
          </a:ln>
        </p:spPr>
        <p:txBody>
          <a:bodyPr wrap="square" lIns="73152" tIns="36576" rIns="73152" bIns="36576" rtlCol="0" anchor="ctr">
            <a:noAutofit/>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rPr>
              <a:t>英検の日程を調べるタイミングで、英検の情報からつながる。</a:t>
            </a:r>
            <a:endParaRPr lang="ja-JP" altLang="en-US" sz="1200" dirty="0"/>
          </a:p>
        </p:txBody>
      </p:sp>
      <p:sp>
        <p:nvSpPr>
          <p:cNvPr id="25" name="Rectangle 24"/>
          <p:cNvSpPr/>
          <p:nvPr/>
        </p:nvSpPr>
        <p:spPr>
          <a:xfrm>
            <a:off x="429768" y="6245352"/>
            <a:ext cx="9043416" cy="274320"/>
          </a:xfrm>
          <a:prstGeom prst="rect">
            <a:avLst/>
          </a:prstGeom>
          <a:noFill/>
          <a:ln>
            <a:noFill/>
          </a:ln>
        </p:spPr>
        <p:txBody>
          <a:bodyPr wrap="square" lIns="0" tIns="0" rIns="0" bIns="0" rtlCol="0" anchor="t">
            <a:noAutofit/>
          </a:bodyPr>
          <a:lstStyle/>
          <a:p>
            <a:pPr algn="l">
              <a:buNone/>
            </a:pPr>
            <a:r>
              <a:rPr lang="ja-JP" altLang="en-US" sz="750" b="0" dirty="0">
                <a:solidFill>
                  <a:srgbClr val="7F7F7F"/>
                </a:solidFill>
                <a:latin typeface="メイリオ" panose="020B0604030504040204" pitchFamily="50" charset="-128"/>
                <a:ea typeface="メイリオ" panose="020B0604030504040204" pitchFamily="50" charset="-128"/>
              </a:rPr>
              <a:t>出典｜LINEヤフー前後検索（2026年10月取得）。横軸＝起点の検索の前後15日、縦軸＝検索した人数（UU）。色はDYMの分類（薄い文字は分類の対象外）。配信の中身はP31・P38</a:t>
            </a:r>
            <a:endParaRPr lang="ja-JP" altLang="en-US" sz="750" dirty="0"/>
          </a:p>
        </p:txBody>
      </p:sp>
      <p:sp>
        <p:nvSpPr>
          <p:cNvPr id="26" name="Rectangle 25"/>
          <p:cNvSpPr/>
          <p:nvPr/>
        </p:nvSpPr>
        <p:spPr>
          <a:xfrm>
            <a:off x="429768" y="1463040"/>
            <a:ext cx="9043416" cy="256032"/>
          </a:xfrm>
          <a:prstGeom prst="rect">
            <a:avLst/>
          </a:prstGeom>
          <a:solidFill>
            <a:srgbClr val="1F285A"/>
          </a:solidFill>
          <a:ln>
            <a:noFill/>
          </a:ln>
        </p:spPr>
        <p:txBody>
          <a:bodyPr wrap="square" lIns="45720" tIns="0" rIns="45720" bIns="0" rtlCol="0" anchor="ctr">
            <a:noAutofit/>
          </a:bodyPr>
          <a:lstStyle/>
          <a:p>
            <a:pPr algn="ctr">
              <a:buNone/>
            </a:pPr>
            <a:r>
              <a:rPr lang="ja-JP" altLang="en-US" sz="1250" b="1" dirty="0">
                <a:solidFill>
                  <a:srgbClr val="FFFFFF"/>
                </a:solidFill>
                <a:latin typeface="メイリオ" panose="020B0604030504040204" pitchFamily="50" charset="-128"/>
                <a:ea typeface="メイリオ" panose="020B0604030504040204" pitchFamily="50" charset="-128"/>
              </a:rPr>
              <a:t>「英語 塾」の検索前後（LINEヤフー前後検索・実データ）</a:t>
            </a:r>
            <a:endParaRPr lang="ja-JP" altLang="en-US" sz="1250" dirty="0"/>
          </a:p>
        </p:txBody>
      </p:sp>
      <p:pic>
        <p:nvPicPr>
          <p:cNvPr id="27" name="前後検索_英語 塾"/>
          <p:cNvPicPr>
            <a:picLocks noChangeAspect="1"/>
          </p:cNvPicPr>
          <p:nvPr/>
        </p:nvPicPr>
        <p:blipFill>
          <a:blip r:embed="rId2"/>
          <a:stretch>
            <a:fillRect/>
          </a:stretch>
        </p:blipFill>
        <p:spPr>
          <a:xfrm>
            <a:off x="429768" y="1792224"/>
            <a:ext cx="5641848" cy="3292018"/>
          </a:xfrm>
          <a:prstGeom prst="rect">
            <a:avLst/>
          </a:prstGeom>
          <a:ln w="9525">
            <a:solidFill>
              <a:srgbClr val="C6CADD"/>
            </a:solidFill>
          </a:ln>
        </p:spPr>
      </p:pic>
      <p:sp>
        <p:nvSpPr>
          <p:cNvPr id="28" name="Rectangle 27"/>
          <p:cNvSpPr/>
          <p:nvPr/>
        </p:nvSpPr>
        <p:spPr>
          <a:xfrm>
            <a:off x="6181344" y="1792224"/>
            <a:ext cx="3291840" cy="3292018"/>
          </a:xfrm>
          <a:prstGeom prst="rect">
            <a:avLst/>
          </a:prstGeom>
          <a:solidFill>
            <a:srgbClr val="F4F7FF"/>
          </a:solidFill>
          <a:ln w="9525">
            <a:solidFill>
              <a:srgbClr val="D9D9D9"/>
            </a:solidFill>
          </a:ln>
        </p:spPr>
        <p:txBody>
          <a:bodyPr wrap="square" lIns="91440" tIns="45720" rIns="73152" bIns="45720" rtlCol="0" anchor="ctr">
            <a:noAutofit/>
          </a:bodyPr>
          <a:lstStyle/>
          <a:p>
            <a:pPr algn="l">
              <a:lnSpc>
                <a:spcPct val="105000"/>
              </a:lnSpc>
              <a:buNone/>
            </a:pPr>
            <a:r>
              <a:rPr lang="ja-JP" altLang="en-US" sz="1250" b="1" dirty="0">
                <a:solidFill>
                  <a:srgbClr val="3467B2"/>
                </a:solidFill>
                <a:latin typeface="メイリオ" panose="020B0604030504040204" pitchFamily="50" charset="-128"/>
                <a:ea typeface="メイリオ" panose="020B0604030504040204" pitchFamily="50" charset="-128"/>
              </a:rPr>
              <a:t>① 志望校・偏差値</a:t>
            </a:r>
            <a:endParaRPr lang="ja-JP" altLang="en-US" sz="1450" dirty="0"/>
          </a:p>
          <a:p>
            <a:pPr algn="l">
              <a:lnSpc>
                <a:spcPct val="105000"/>
              </a:lnSpc>
              <a:buNone/>
            </a:pPr>
            <a:r>
              <a:rPr lang="ja-JP" altLang="en-US" sz="1100" b="0" dirty="0">
                <a:solidFill>
                  <a:srgbClr val="333333"/>
                </a:solidFill>
                <a:latin typeface="メイリオ" panose="020B0604030504040204" pitchFamily="50" charset="-128"/>
                <a:ea typeface="メイリオ" panose="020B0604030504040204" pitchFamily="50" charset="-128"/>
              </a:rPr>
              <a:t>中高一貫校／大学受験／開成高校／高校受験</a:t>
            </a:r>
            <a:endParaRPr lang="en-US" altLang="ja-JP" sz="1100" b="0" dirty="0">
              <a:solidFill>
                <a:srgbClr val="333333"/>
              </a:solidFill>
              <a:latin typeface="メイリオ" panose="020B0604030504040204" pitchFamily="50" charset="-128"/>
              <a:ea typeface="メイリオ" panose="020B0604030504040204" pitchFamily="50" charset="-128"/>
            </a:endParaRPr>
          </a:p>
          <a:p>
            <a:pPr algn="l">
              <a:lnSpc>
                <a:spcPct val="105000"/>
              </a:lnSpc>
              <a:buNone/>
            </a:pPr>
            <a:endParaRPr lang="ja-JP" altLang="en-US" sz="800" dirty="0"/>
          </a:p>
          <a:p>
            <a:pPr algn="l">
              <a:lnSpc>
                <a:spcPct val="105000"/>
              </a:lnSpc>
              <a:buNone/>
            </a:pPr>
            <a:r>
              <a:rPr lang="ja-JP" altLang="en-US" sz="1250" b="1" dirty="0">
                <a:solidFill>
                  <a:srgbClr val="8E4EC6"/>
                </a:solidFill>
                <a:latin typeface="メイリオ" panose="020B0604030504040204" pitchFamily="50" charset="-128"/>
                <a:ea typeface="メイリオ" panose="020B0604030504040204" pitchFamily="50" charset="-128"/>
              </a:rPr>
              <a:t>② 検定・勉強法</a:t>
            </a:r>
            <a:endParaRPr lang="ja-JP" altLang="en-US" sz="1450" dirty="0"/>
          </a:p>
          <a:p>
            <a:pPr algn="l">
              <a:lnSpc>
                <a:spcPct val="105000"/>
              </a:lnSpc>
              <a:buNone/>
            </a:pPr>
            <a:r>
              <a:rPr lang="ja-JP" altLang="en-US" sz="1100" b="0" dirty="0">
                <a:solidFill>
                  <a:srgbClr val="333333"/>
                </a:solidFill>
                <a:latin typeface="メイリオ" panose="020B0604030504040204" pitchFamily="50" charset="-128"/>
                <a:ea typeface="メイリオ" panose="020B0604030504040204" pitchFamily="50" charset="-128"/>
              </a:rPr>
              <a:t>英検 日程／英検3級・2級・準1級／英検 合格発表／漢検／スタディサプリ／英単語</a:t>
            </a:r>
            <a:endParaRPr lang="en-US" altLang="ja-JP" sz="1100" b="0" dirty="0">
              <a:solidFill>
                <a:srgbClr val="333333"/>
              </a:solidFill>
              <a:latin typeface="メイリオ" panose="020B0604030504040204" pitchFamily="50" charset="-128"/>
              <a:ea typeface="メイリオ" panose="020B0604030504040204" pitchFamily="50" charset="-128"/>
            </a:endParaRPr>
          </a:p>
          <a:p>
            <a:pPr algn="l">
              <a:lnSpc>
                <a:spcPct val="105000"/>
              </a:lnSpc>
              <a:buNone/>
            </a:pPr>
            <a:endParaRPr lang="ja-JP" altLang="en-US" sz="800" dirty="0"/>
          </a:p>
          <a:p>
            <a:pPr algn="l">
              <a:lnSpc>
                <a:spcPct val="105000"/>
              </a:lnSpc>
              <a:buNone/>
            </a:pPr>
            <a:r>
              <a:rPr lang="ja-JP" altLang="en-US" sz="1250" b="1" dirty="0">
                <a:solidFill>
                  <a:srgbClr val="C2185B"/>
                </a:solidFill>
                <a:latin typeface="メイリオ" panose="020B0604030504040204" pitchFamily="50" charset="-128"/>
                <a:ea typeface="メイリオ" panose="020B0604030504040204" pitchFamily="50" charset="-128"/>
              </a:rPr>
              <a:t>③ 塾選び・費用・時期</a:t>
            </a:r>
            <a:endParaRPr lang="ja-JP" altLang="en-US" sz="1450" dirty="0"/>
          </a:p>
          <a:p>
            <a:pPr algn="l">
              <a:lnSpc>
                <a:spcPct val="105000"/>
              </a:lnSpc>
              <a:buNone/>
            </a:pPr>
            <a:r>
              <a:rPr lang="ja-JP" altLang="en-US" sz="1100" b="0" dirty="0">
                <a:solidFill>
                  <a:srgbClr val="333333"/>
                </a:solidFill>
                <a:latin typeface="メイリオ" panose="020B0604030504040204" pitchFamily="50" charset="-128"/>
                <a:ea typeface="メイリオ" panose="020B0604030504040204" pitchFamily="50" charset="-128"/>
              </a:rPr>
              <a:t>個別指導塾／英語塾 中高一貫校／高校受験 塾／小学生 英語 塾</a:t>
            </a:r>
            <a:endParaRPr lang="en-US" altLang="ja-JP" sz="1100" b="0" dirty="0">
              <a:solidFill>
                <a:srgbClr val="333333"/>
              </a:solidFill>
              <a:latin typeface="メイリオ" panose="020B0604030504040204" pitchFamily="50" charset="-128"/>
              <a:ea typeface="メイリオ" panose="020B0604030504040204" pitchFamily="50" charset="-128"/>
            </a:endParaRPr>
          </a:p>
          <a:p>
            <a:pPr algn="l">
              <a:lnSpc>
                <a:spcPct val="105000"/>
              </a:lnSpc>
              <a:buNone/>
            </a:pPr>
            <a:endParaRPr lang="ja-JP" altLang="en-US" sz="800" dirty="0"/>
          </a:p>
          <a:p>
            <a:pPr algn="l">
              <a:lnSpc>
                <a:spcPct val="105000"/>
              </a:lnSpc>
              <a:buNone/>
            </a:pPr>
            <a:r>
              <a:rPr lang="ja-JP" altLang="en-US" sz="1250" b="1" dirty="0">
                <a:solidFill>
                  <a:srgbClr val="00897B"/>
                </a:solidFill>
                <a:latin typeface="メイリオ" panose="020B0604030504040204" pitchFamily="50" charset="-128"/>
                <a:ea typeface="メイリオ" panose="020B0604030504040204" pitchFamily="50" charset="-128"/>
              </a:rPr>
              <a:t>④ 塾名・料金・口コミ</a:t>
            </a:r>
            <a:endParaRPr lang="ja-JP" altLang="en-US" sz="1450" dirty="0"/>
          </a:p>
          <a:p>
            <a:pPr algn="l">
              <a:lnSpc>
                <a:spcPct val="105000"/>
              </a:lnSpc>
              <a:buNone/>
            </a:pPr>
            <a:r>
              <a:rPr lang="ja-JP" altLang="en-US" sz="1100" b="0" dirty="0">
                <a:solidFill>
                  <a:srgbClr val="333333"/>
                </a:solidFill>
                <a:latin typeface="メイリオ" panose="020B0604030504040204" pitchFamily="50" charset="-128"/>
                <a:ea typeface="メイリオ" panose="020B0604030504040204" pitchFamily="50" charset="-128"/>
              </a:rPr>
              <a:t>武田塾・明光義塾・森塾／英検アカデミー 料金・口コミ／武田塾 料金</a:t>
            </a:r>
            <a:endParaRPr lang="ja-JP" altLang="en-US" sz="1450" dirty="0"/>
          </a:p>
        </p:txBody>
      </p:sp>
      <p:sp>
        <p:nvSpPr>
          <p:cNvPr id="29" name="Rounded Rectangle 28"/>
          <p:cNvSpPr/>
          <p:nvPr/>
        </p:nvSpPr>
        <p:spPr>
          <a:xfrm>
            <a:off x="429768" y="5157394"/>
            <a:ext cx="960120" cy="658368"/>
          </a:xfrm>
          <a:prstGeom prst="roundRect">
            <a:avLst>
              <a:gd name="adj" fmla="val 8000"/>
            </a:avLst>
          </a:prstGeom>
          <a:solidFill>
            <a:srgbClr val="1F285A"/>
          </a:solidFill>
          <a:ln>
            <a:noFill/>
          </a:ln>
        </p:spPr>
        <p:txBody>
          <a:bodyPr wrap="square" lIns="36576" tIns="0" rIns="36576" bIns="0" rtlCol="0" anchor="ctr">
            <a:noAutofit/>
          </a:bodyPr>
          <a:lstStyle/>
          <a:p>
            <a:pPr algn="ctr">
              <a:lnSpc>
                <a:spcPct val="105000"/>
              </a:lnSpc>
              <a:buNone/>
            </a:pPr>
            <a:r>
              <a:rPr lang="ja-JP" altLang="en-US" sz="1000" b="1" dirty="0">
                <a:solidFill>
                  <a:srgbClr val="FFFFFF"/>
                </a:solidFill>
                <a:latin typeface="メイリオ" panose="020B0604030504040204" pitchFamily="50" charset="-128"/>
                <a:ea typeface="メイリオ" panose="020B0604030504040204" pitchFamily="50" charset="-128"/>
              </a:rPr>
              <a:t>この流れで</a:t>
            </a:r>
            <a:endParaRPr lang="ja-JP" altLang="en-US" sz="1000" dirty="0"/>
          </a:p>
          <a:p>
            <a:pPr algn="ctr">
              <a:lnSpc>
                <a:spcPct val="105000"/>
              </a:lnSpc>
              <a:buNone/>
            </a:pPr>
            <a:r>
              <a:rPr lang="ja-JP" altLang="en-US" sz="1000" b="1" dirty="0">
                <a:solidFill>
                  <a:srgbClr val="FFFFFF"/>
                </a:solidFill>
                <a:latin typeface="メイリオ" panose="020B0604030504040204" pitchFamily="50" charset="-128"/>
                <a:ea typeface="メイリオ" panose="020B0604030504040204" pitchFamily="50" charset="-128"/>
              </a:rPr>
              <a:t>配信すること</a:t>
            </a:r>
            <a:endParaRPr lang="ja-JP" altLang="en-US" sz="1000" dirty="0"/>
          </a:p>
        </p:txBody>
      </p:sp>
      <p:sp>
        <p:nvSpPr>
          <p:cNvPr id="30" name="Rectangle 29"/>
          <p:cNvSpPr/>
          <p:nvPr/>
        </p:nvSpPr>
        <p:spPr>
          <a:xfrm>
            <a:off x="1463040" y="5157394"/>
            <a:ext cx="2621280" cy="658368"/>
          </a:xfrm>
          <a:prstGeom prst="rect">
            <a:avLst/>
          </a:prstGeom>
          <a:solidFill>
            <a:srgbClr val="FFFFFF"/>
          </a:solidFill>
          <a:ln w="9525">
            <a:solidFill>
              <a:srgbClr val="D9D9D9"/>
            </a:solidFill>
          </a:ln>
        </p:spPr>
        <p:txBody>
          <a:bodyPr wrap="square" lIns="73152" tIns="27432" rIns="54864" bIns="27432" rtlCol="0" anchor="ctr">
            <a:noAutofit/>
          </a:bodyPr>
          <a:lstStyle/>
          <a:p>
            <a:pPr algn="l">
              <a:lnSpc>
                <a:spcPct val="105000"/>
              </a:lnSpc>
              <a:buNone/>
            </a:pPr>
            <a:r>
              <a:rPr lang="ja-JP" altLang="en-US" sz="950" b="1" dirty="0">
                <a:solidFill>
                  <a:srgbClr val="1F285A"/>
                </a:solidFill>
                <a:latin typeface="メイリオ" panose="020B0604030504040204" pitchFamily="50" charset="-128"/>
                <a:ea typeface="メイリオ" panose="020B0604030504040204" pitchFamily="50" charset="-128"/>
              </a:rPr>
              <a:t>追加直後｜あいさつ＋30秒診断</a:t>
            </a:r>
            <a:endParaRPr lang="ja-JP" altLang="en-US" sz="1200" dirty="0"/>
          </a:p>
          <a:p>
            <a:pPr algn="l">
              <a:lnSpc>
                <a:spcPct val="105000"/>
              </a:lnSpc>
              <a:buNone/>
            </a:pPr>
            <a:r>
              <a:rPr lang="ja-JP" altLang="en-US" sz="900" b="0" dirty="0">
                <a:solidFill>
                  <a:srgbClr val="333333"/>
                </a:solidFill>
                <a:latin typeface="メイリオ" panose="020B0604030504040204" pitchFamily="50" charset="-128"/>
                <a:ea typeface="メイリオ" panose="020B0604030504040204" pitchFamily="50" charset="-128"/>
              </a:rPr>
              <a:t>英検の日程・級を調べている → 学年と目指す級を聞き、次の英検までの逆算を届ける</a:t>
            </a:r>
            <a:endParaRPr lang="ja-JP" altLang="en-US" sz="1200" dirty="0"/>
          </a:p>
        </p:txBody>
      </p:sp>
      <p:sp>
        <p:nvSpPr>
          <p:cNvPr id="31" name="Rectangle 30"/>
          <p:cNvSpPr/>
          <p:nvPr/>
        </p:nvSpPr>
        <p:spPr>
          <a:xfrm>
            <a:off x="4157472" y="5157394"/>
            <a:ext cx="2621280" cy="658368"/>
          </a:xfrm>
          <a:prstGeom prst="rect">
            <a:avLst/>
          </a:prstGeom>
          <a:solidFill>
            <a:srgbClr val="FFFFFF"/>
          </a:solidFill>
          <a:ln w="9525">
            <a:solidFill>
              <a:srgbClr val="D9D9D9"/>
            </a:solidFill>
          </a:ln>
        </p:spPr>
        <p:txBody>
          <a:bodyPr wrap="square" lIns="73152" tIns="27432" rIns="54864" bIns="27432" rtlCol="0" anchor="ctr">
            <a:noAutofit/>
          </a:bodyPr>
          <a:lstStyle/>
          <a:p>
            <a:pPr algn="l">
              <a:lnSpc>
                <a:spcPct val="105000"/>
              </a:lnSpc>
              <a:buNone/>
            </a:pPr>
            <a:r>
              <a:rPr lang="ja-JP" altLang="en-US" sz="950" b="1" dirty="0">
                <a:solidFill>
                  <a:srgbClr val="1F285A"/>
                </a:solidFill>
                <a:latin typeface="メイリオ" panose="020B0604030504040204" pitchFamily="50" charset="-128"/>
                <a:ea typeface="メイリオ" panose="020B0604030504040204" pitchFamily="50" charset="-128"/>
              </a:rPr>
              <a:t>3日後｜家でできる勉強のコツ</a:t>
            </a:r>
            <a:endParaRPr lang="ja-JP" altLang="en-US" sz="1200" dirty="0"/>
          </a:p>
          <a:p>
            <a:pPr algn="l">
              <a:lnSpc>
                <a:spcPct val="105000"/>
              </a:lnSpc>
              <a:buNone/>
            </a:pPr>
            <a:r>
              <a:rPr lang="ja-JP" altLang="en-US" sz="900" b="0" dirty="0">
                <a:solidFill>
                  <a:srgbClr val="333333"/>
                </a:solidFill>
                <a:latin typeface="メイリオ" panose="020B0604030504040204" pitchFamily="50" charset="-128"/>
                <a:ea typeface="メイリオ" panose="020B0604030504040204" pitchFamily="50" charset="-128"/>
              </a:rPr>
              <a:t>英単語・勉強法を調べている → 家でできる英語の勉強のコツ</a:t>
            </a:r>
            <a:endParaRPr lang="ja-JP" altLang="en-US" sz="1200" dirty="0"/>
          </a:p>
        </p:txBody>
      </p:sp>
      <p:sp>
        <p:nvSpPr>
          <p:cNvPr id="32" name="Rectangle 31"/>
          <p:cNvSpPr/>
          <p:nvPr/>
        </p:nvSpPr>
        <p:spPr>
          <a:xfrm>
            <a:off x="6851904" y="5157394"/>
            <a:ext cx="2621280" cy="658368"/>
          </a:xfrm>
          <a:prstGeom prst="rect">
            <a:avLst/>
          </a:prstGeom>
          <a:solidFill>
            <a:srgbClr val="FFFFFF"/>
          </a:solidFill>
          <a:ln w="9525">
            <a:solidFill>
              <a:srgbClr val="D9D9D9"/>
            </a:solidFill>
          </a:ln>
        </p:spPr>
        <p:txBody>
          <a:bodyPr wrap="square" lIns="73152" tIns="27432" rIns="54864" bIns="27432" rtlCol="0" anchor="ctr">
            <a:noAutofit/>
          </a:bodyPr>
          <a:lstStyle/>
          <a:p>
            <a:pPr algn="l">
              <a:lnSpc>
                <a:spcPct val="105000"/>
              </a:lnSpc>
              <a:buNone/>
            </a:pPr>
            <a:r>
              <a:rPr lang="ja-JP" altLang="en-US" sz="950" b="1" dirty="0">
                <a:solidFill>
                  <a:srgbClr val="1F285A"/>
                </a:solidFill>
                <a:latin typeface="メイリオ" panose="020B0604030504040204" pitchFamily="50" charset="-128"/>
                <a:ea typeface="メイリオ" panose="020B0604030504040204" pitchFamily="50" charset="-128"/>
              </a:rPr>
              <a:t>7日後｜事例＋体験のご案内①</a:t>
            </a:r>
            <a:endParaRPr lang="ja-JP" altLang="en-US" sz="1200" dirty="0"/>
          </a:p>
          <a:p>
            <a:pPr algn="l">
              <a:lnSpc>
                <a:spcPct val="105000"/>
              </a:lnSpc>
              <a:buNone/>
            </a:pPr>
            <a:r>
              <a:rPr lang="ja-JP" altLang="en-US" sz="900" b="0" dirty="0">
                <a:solidFill>
                  <a:srgbClr val="333333"/>
                </a:solidFill>
                <a:latin typeface="メイリオ" panose="020B0604030504040204" pitchFamily="50" charset="-128"/>
                <a:ea typeface="メイリオ" panose="020B0604030504040204" pitchFamily="50" charset="-128"/>
              </a:rPr>
              <a:t>料金・口コミで比べている → 同じ級を目指した子の事例と、体験授業の案内</a:t>
            </a:r>
            <a:endParaRPr lang="ja-JP" altLang="en-US" sz="1200" dirty="0"/>
          </a:p>
        </p:txBody>
      </p:sp>
    </p:spTree>
    <p:extLst>
      <p:ext uri="{BB962C8B-B14F-4D97-AF65-F5344CB8AC3E}">
        <p14:creationId xmlns:p14="http://schemas.microsoft.com/office/powerpoint/2010/main" val="30556975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37598A-7489-8F6D-91D8-19CE7F507B2C}"/>
            </a:ext>
          </a:extLst>
        </p:cNvPr>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ニーズ調査（シーズナリティ）</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dirty="0">
                <a:solidFill>
                  <a:srgbClr val="333333"/>
                </a:solidFill>
                <a:latin typeface="メイリオ"/>
                <a:ea typeface="メイリオ"/>
                <a:cs typeface="メイリオ"/>
              </a:rPr>
              <a:t>「塾」の検索が一番多いのは2月上旬。「夏期講習」は7月中旬で、冬期・春期の3〜5倍。</a:t>
            </a:r>
          </a:p>
          <a:p>
            <a:pPr algn="l">
              <a:lnSpc>
                <a:spcPct val="128000"/>
              </a:lnSpc>
            </a:pPr>
            <a:r>
              <a:rPr sz="1200" dirty="0">
                <a:solidFill>
                  <a:srgbClr val="333333"/>
                </a:solidFill>
                <a:latin typeface="メイリオ"/>
                <a:ea typeface="メイリオ"/>
                <a:cs typeface="メイリオ"/>
              </a:rPr>
              <a:t>検索の山の前から、LINEでつながっておく。</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900">
                <a:solidFill>
                  <a:srgbClr val="7F7F7F"/>
                </a:solidFill>
                <a:latin typeface="メイリオ"/>
                <a:ea typeface="メイリオ"/>
                <a:cs typeface="メイリオ"/>
              </a:rPr>
              <a:t>出典｜Googleトレンド（日本・2026年年初来・週次）※相対値。スケールの違うKWは別のグラフにしている</a:t>
            </a:r>
          </a:p>
        </p:txBody>
      </p:sp>
      <p:sp>
        <p:nvSpPr>
          <p:cNvPr id="25" name="Pentagon 24"/>
          <p:cNvSpPr/>
          <p:nvPr/>
        </p:nvSpPr>
        <p:spPr>
          <a:xfrm>
            <a:off x="432000" y="590400"/>
            <a:ext cx="1111500" cy="180000"/>
          </a:xfrm>
          <a:prstGeom prst="homePlat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①接触</a:t>
            </a:r>
          </a:p>
        </p:txBody>
      </p:sp>
      <p:sp>
        <p:nvSpPr>
          <p:cNvPr id="26" name="Chevron 25"/>
          <p:cNvSpPr/>
          <p:nvPr/>
        </p:nvSpPr>
        <p:spPr>
          <a:xfrm>
            <a:off x="15651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②離脱</a:t>
            </a:r>
          </a:p>
        </p:txBody>
      </p:sp>
      <p:sp>
        <p:nvSpPr>
          <p:cNvPr id="27" name="Chevron 26"/>
          <p:cNvSpPr/>
          <p:nvPr/>
        </p:nvSpPr>
        <p:spPr>
          <a:xfrm>
            <a:off x="26982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③育成</a:t>
            </a:r>
          </a:p>
        </p:txBody>
      </p:sp>
      <p:sp>
        <p:nvSpPr>
          <p:cNvPr id="28" name="Chevron 27"/>
          <p:cNvSpPr/>
          <p:nvPr/>
        </p:nvSpPr>
        <p:spPr>
          <a:xfrm>
            <a:off x="38312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④リード獲得</a:t>
            </a:r>
          </a:p>
        </p:txBody>
      </p:sp>
      <p:sp>
        <p:nvSpPr>
          <p:cNvPr id="29" name="Chevron 28"/>
          <p:cNvSpPr/>
          <p:nvPr/>
        </p:nvSpPr>
        <p:spPr>
          <a:xfrm>
            <a:off x="49644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⑤リード有効化</a:t>
            </a:r>
          </a:p>
        </p:txBody>
      </p:sp>
      <p:sp>
        <p:nvSpPr>
          <p:cNvPr id="30" name="Chevron 29"/>
          <p:cNvSpPr/>
          <p:nvPr/>
        </p:nvSpPr>
        <p:spPr>
          <a:xfrm>
            <a:off x="60975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⑥再育成</a:t>
            </a:r>
          </a:p>
        </p:txBody>
      </p:sp>
      <p:sp>
        <p:nvSpPr>
          <p:cNvPr id="31" name="Chevron 30"/>
          <p:cNvSpPr/>
          <p:nvPr/>
        </p:nvSpPr>
        <p:spPr>
          <a:xfrm>
            <a:off x="72305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⑦入会（契約）</a:t>
            </a:r>
          </a:p>
        </p:txBody>
      </p:sp>
      <p:sp>
        <p:nvSpPr>
          <p:cNvPr id="32" name="Chevron 31"/>
          <p:cNvSpPr/>
          <p:nvPr/>
        </p:nvSpPr>
        <p:spPr>
          <a:xfrm>
            <a:off x="83636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⑧紹介</a:t>
            </a:r>
          </a:p>
        </p:txBody>
      </p:sp>
      <p:pic>
        <p:nvPicPr>
          <p:cNvPr id="33" name="Picture 32" descr="juku_v2_trend_juku.png"/>
          <p:cNvPicPr>
            <a:picLocks noChangeAspect="1"/>
          </p:cNvPicPr>
          <p:nvPr/>
        </p:nvPicPr>
        <p:blipFill>
          <a:blip r:embed="rId3"/>
          <a:stretch>
            <a:fillRect/>
          </a:stretch>
        </p:blipFill>
        <p:spPr>
          <a:xfrm>
            <a:off x="432000" y="1512000"/>
            <a:ext cx="4464000" cy="1667868"/>
          </a:xfrm>
          <a:prstGeom prst="rect">
            <a:avLst/>
          </a:prstGeom>
        </p:spPr>
      </p:pic>
      <p:pic>
        <p:nvPicPr>
          <p:cNvPr id="34" name="Picture 33" descr="juku_v2_trend_koushuu.png"/>
          <p:cNvPicPr>
            <a:picLocks noChangeAspect="1"/>
          </p:cNvPicPr>
          <p:nvPr/>
        </p:nvPicPr>
        <p:blipFill>
          <a:blip r:embed="rId4"/>
          <a:stretch>
            <a:fillRect/>
          </a:stretch>
        </p:blipFill>
        <p:spPr>
          <a:xfrm>
            <a:off x="5011200" y="1512000"/>
            <a:ext cx="4464000" cy="1667868"/>
          </a:xfrm>
          <a:prstGeom prst="rect">
            <a:avLst/>
          </a:prstGeom>
        </p:spPr>
      </p:pic>
      <p:pic>
        <p:nvPicPr>
          <p:cNvPr id="35" name="Picture 34" descr="juku_v2_trend_juken.png"/>
          <p:cNvPicPr>
            <a:picLocks noChangeAspect="1"/>
          </p:cNvPicPr>
          <p:nvPr/>
        </p:nvPicPr>
        <p:blipFill>
          <a:blip r:embed="rId5"/>
          <a:stretch>
            <a:fillRect/>
          </a:stretch>
        </p:blipFill>
        <p:spPr>
          <a:xfrm>
            <a:off x="432000" y="3311999"/>
            <a:ext cx="4464000" cy="1520703"/>
          </a:xfrm>
          <a:prstGeom prst="rect">
            <a:avLst/>
          </a:prstGeom>
        </p:spPr>
      </p:pic>
      <p:sp>
        <p:nvSpPr>
          <p:cNvPr id="36" name="Rounded Rectangle 35"/>
          <p:cNvSpPr/>
          <p:nvPr/>
        </p:nvSpPr>
        <p:spPr>
          <a:xfrm>
            <a:off x="5011200" y="3366000"/>
            <a:ext cx="4464000" cy="1404000"/>
          </a:xfrm>
          <a:prstGeom prst="roundRect">
            <a:avLst>
              <a:gd name="adj" fmla="val 8000"/>
            </a:avLst>
          </a:prstGeom>
          <a:solidFill>
            <a:srgbClr val="F4F7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37" name="Rectangle 36"/>
          <p:cNvSpPr/>
          <p:nvPr/>
        </p:nvSpPr>
        <p:spPr>
          <a:xfrm>
            <a:off x="5148000" y="3420000"/>
            <a:ext cx="4212000" cy="133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50" b="1" dirty="0" err="1">
                <a:solidFill>
                  <a:srgbClr val="002060"/>
                </a:solidFill>
                <a:latin typeface="メイリオ"/>
                <a:ea typeface="メイリオ"/>
                <a:cs typeface="メイリオ"/>
              </a:rPr>
              <a:t>読み取れること</a:t>
            </a:r>
            <a:endParaRPr sz="1150" b="1" dirty="0">
              <a:solidFill>
                <a:srgbClr val="002060"/>
              </a:solidFill>
              <a:latin typeface="メイリオ"/>
              <a:ea typeface="メイリオ"/>
              <a:cs typeface="メイリオ"/>
            </a:endParaRPr>
          </a:p>
          <a:p>
            <a:pPr algn="l"/>
            <a:r>
              <a:rPr sz="1100" b="0" dirty="0">
                <a:solidFill>
                  <a:srgbClr val="333333"/>
                </a:solidFill>
                <a:latin typeface="メイリオ"/>
                <a:ea typeface="メイリオ"/>
                <a:cs typeface="メイリオ"/>
              </a:rPr>
              <a:t>・「塾」は2月上旬が山。ただし年間を通して大きくは落ちない</a:t>
            </a:r>
          </a:p>
          <a:p>
            <a:pPr algn="l"/>
            <a:r>
              <a:rPr sz="1100" b="0" dirty="0">
                <a:solidFill>
                  <a:srgbClr val="333333"/>
                </a:solidFill>
                <a:latin typeface="メイリオ"/>
                <a:ea typeface="メイリオ"/>
                <a:cs typeface="メイリオ"/>
              </a:rPr>
              <a:t>・講習は夏が圧倒的。冬期・春期の3〜5倍</a:t>
            </a:r>
          </a:p>
          <a:p>
            <a:pPr algn="l"/>
            <a:r>
              <a:rPr sz="1100" b="0" dirty="0">
                <a:solidFill>
                  <a:srgbClr val="333333"/>
                </a:solidFill>
                <a:latin typeface="メイリオ"/>
                <a:ea typeface="メイリオ"/>
                <a:cs typeface="メイリオ"/>
              </a:rPr>
              <a:t>・受験の検索は1月中旬〜2月上旬に集中</a:t>
            </a:r>
          </a:p>
          <a:p>
            <a:pPr algn="l"/>
            <a:r>
              <a:rPr sz="1100" b="1" dirty="0">
                <a:solidFill>
                  <a:srgbClr val="1F285A"/>
                </a:solidFill>
                <a:latin typeface="メイリオ"/>
                <a:ea typeface="メイリオ"/>
                <a:cs typeface="メイリオ"/>
              </a:rPr>
              <a:t>→ </a:t>
            </a:r>
            <a:r>
              <a:rPr sz="1100" b="1" dirty="0" err="1">
                <a:solidFill>
                  <a:srgbClr val="1F285A"/>
                </a:solidFill>
                <a:latin typeface="メイリオ"/>
                <a:ea typeface="メイリオ"/>
                <a:cs typeface="メイリオ"/>
              </a:rPr>
              <a:t>山の時期だけ広告を増やすより</a:t>
            </a:r>
            <a:r>
              <a:rPr sz="1100" b="1" dirty="0">
                <a:solidFill>
                  <a:srgbClr val="1F285A"/>
                </a:solidFill>
                <a:latin typeface="メイリオ"/>
                <a:ea typeface="メイリオ"/>
                <a:cs typeface="メイリオ"/>
              </a:rPr>
              <a:t>、</a:t>
            </a:r>
          </a:p>
          <a:p>
            <a:pPr algn="l"/>
            <a:r>
              <a:rPr sz="1100" b="1" dirty="0">
                <a:solidFill>
                  <a:srgbClr val="1F285A"/>
                </a:solidFill>
                <a:latin typeface="メイリオ"/>
                <a:ea typeface="メイリオ"/>
                <a:cs typeface="メイリオ"/>
              </a:rPr>
              <a:t>　 </a:t>
            </a:r>
            <a:r>
              <a:rPr sz="1100" b="1" dirty="0" err="1">
                <a:solidFill>
                  <a:srgbClr val="1F285A"/>
                </a:solidFill>
                <a:latin typeface="メイリオ"/>
                <a:ea typeface="メイリオ"/>
                <a:cs typeface="メイリオ"/>
              </a:rPr>
              <a:t>山の前からLINEで接点を持っておく</a:t>
            </a:r>
            <a:endParaRPr sz="1100" b="1" dirty="0">
              <a:solidFill>
                <a:srgbClr val="1F285A"/>
              </a:solidFill>
              <a:latin typeface="メイリオ"/>
              <a:ea typeface="メイリオ"/>
              <a:cs typeface="メイリオ"/>
            </a:endParaRPr>
          </a:p>
        </p:txBody>
      </p:sp>
      <p:sp>
        <p:nvSpPr>
          <p:cNvPr id="38" name="Rounded Rectangle 37"/>
          <p:cNvSpPr/>
          <p:nvPr/>
        </p:nvSpPr>
        <p:spPr>
          <a:xfrm>
            <a:off x="432000" y="5076000"/>
            <a:ext cx="9043200" cy="396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550" b="1">
                <a:solidFill>
                  <a:srgbClr val="FFFFFF"/>
                </a:solidFill>
                <a:latin typeface="メイリオ"/>
                <a:ea typeface="メイリオ"/>
                <a:cs typeface="メイリオ"/>
              </a:rPr>
              <a:t>検索の山の前から、LINEでつながっておく。</a:t>
            </a:r>
          </a:p>
        </p:txBody>
      </p:sp>
    </p:spTree>
    <p:extLst>
      <p:ext uri="{BB962C8B-B14F-4D97-AF65-F5344CB8AC3E}">
        <p14:creationId xmlns:p14="http://schemas.microsoft.com/office/powerpoint/2010/main" val="6538660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5F09D0-C3F8-FF51-9B68-5792A11B6744}"/>
            </a:ext>
          </a:extLst>
        </p:cNvPr>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検索データからわかる「すべきこと」</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a:solidFill>
                  <a:srgbClr val="333333"/>
                </a:solidFill>
                <a:latin typeface="メイリオ"/>
                <a:ea typeface="メイリオ"/>
                <a:cs typeface="メイリオ"/>
              </a:rPr>
              <a:t>P7〜P12のデータを、すべきことに置き換える。</a:t>
            </a:r>
          </a:p>
          <a:p>
            <a:pPr algn="l">
              <a:lnSpc>
                <a:spcPct val="128000"/>
              </a:lnSpc>
            </a:pPr>
            <a:r>
              <a:rPr sz="1200">
                <a:solidFill>
                  <a:srgbClr val="333333"/>
                </a:solidFill>
                <a:latin typeface="メイリオ"/>
                <a:ea typeface="メイリオ"/>
                <a:cs typeface="メイリオ"/>
              </a:rPr>
              <a:t>塾名を調べる前の保護者と先につながり、申し込む前に「合う・合わない」を見せる。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Pentagon 4"/>
          <p:cNvSpPr/>
          <p:nvPr/>
        </p:nvSpPr>
        <p:spPr>
          <a:xfrm>
            <a:off x="432000" y="590400"/>
            <a:ext cx="1111500" cy="180000"/>
          </a:xfrm>
          <a:prstGeom prst="homePlat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①接触</a:t>
            </a:r>
          </a:p>
        </p:txBody>
      </p:sp>
      <p:sp>
        <p:nvSpPr>
          <p:cNvPr id="6" name="Chevron 5"/>
          <p:cNvSpPr/>
          <p:nvPr/>
        </p:nvSpPr>
        <p:spPr>
          <a:xfrm>
            <a:off x="15651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②離脱</a:t>
            </a:r>
          </a:p>
        </p:txBody>
      </p:sp>
      <p:sp>
        <p:nvSpPr>
          <p:cNvPr id="7" name="Chevron 6"/>
          <p:cNvSpPr/>
          <p:nvPr/>
        </p:nvSpPr>
        <p:spPr>
          <a:xfrm>
            <a:off x="26982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③育成</a:t>
            </a:r>
          </a:p>
        </p:txBody>
      </p:sp>
      <p:sp>
        <p:nvSpPr>
          <p:cNvPr id="8" name="Chevron 7"/>
          <p:cNvSpPr/>
          <p:nvPr/>
        </p:nvSpPr>
        <p:spPr>
          <a:xfrm>
            <a:off x="3831299"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④リード獲得</a:t>
            </a:r>
          </a:p>
        </p:txBody>
      </p:sp>
      <p:sp>
        <p:nvSpPr>
          <p:cNvPr id="9" name="Chevron 8"/>
          <p:cNvSpPr/>
          <p:nvPr/>
        </p:nvSpPr>
        <p:spPr>
          <a:xfrm>
            <a:off x="49644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⑤リード有効化</a:t>
            </a:r>
          </a:p>
        </p:txBody>
      </p:sp>
      <p:sp>
        <p:nvSpPr>
          <p:cNvPr id="10" name="Chevron 9"/>
          <p:cNvSpPr/>
          <p:nvPr/>
        </p:nvSpPr>
        <p:spPr>
          <a:xfrm>
            <a:off x="60975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⑥再育成</a:t>
            </a:r>
          </a:p>
        </p:txBody>
      </p:sp>
      <p:sp>
        <p:nvSpPr>
          <p:cNvPr id="11" name="Chevron 10"/>
          <p:cNvSpPr/>
          <p:nvPr/>
        </p:nvSpPr>
        <p:spPr>
          <a:xfrm>
            <a:off x="72305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⑦入会（契約）</a:t>
            </a:r>
          </a:p>
        </p:txBody>
      </p:sp>
      <p:sp>
        <p:nvSpPr>
          <p:cNvPr id="12" name="Chevron 11"/>
          <p:cNvSpPr/>
          <p:nvPr/>
        </p:nvSpPr>
        <p:spPr>
          <a:xfrm>
            <a:off x="83636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⑧紹介</a:t>
            </a:r>
          </a:p>
        </p:txBody>
      </p:sp>
      <p:sp>
        <p:nvSpPr>
          <p:cNvPr id="13" name="Rounded Rectangle 12"/>
          <p:cNvSpPr/>
          <p:nvPr/>
        </p:nvSpPr>
        <p:spPr>
          <a:xfrm>
            <a:off x="432000" y="1512000"/>
            <a:ext cx="3060000" cy="251999"/>
          </a:xfrm>
          <a:prstGeom prst="roundRect">
            <a:avLst>
              <a:gd name="adj" fmla="val 20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00" b="1">
                <a:solidFill>
                  <a:srgbClr val="333333"/>
                </a:solidFill>
                <a:latin typeface="メイリオ"/>
                <a:ea typeface="メイリオ"/>
                <a:cs typeface="メイリオ"/>
              </a:rPr>
              <a:t>データ（事実）</a:t>
            </a:r>
          </a:p>
        </p:txBody>
      </p:sp>
      <p:sp>
        <p:nvSpPr>
          <p:cNvPr id="14" name="Rounded Rectangle 13"/>
          <p:cNvSpPr/>
          <p:nvPr/>
        </p:nvSpPr>
        <p:spPr>
          <a:xfrm>
            <a:off x="3671999" y="1512000"/>
            <a:ext cx="2951999" cy="251999"/>
          </a:xfrm>
          <a:prstGeom prst="roundRect">
            <a:avLst>
              <a:gd name="adj" fmla="val 20000"/>
            </a:avLst>
          </a:prstGeom>
          <a:solidFill>
            <a:srgbClr val="E4E9F2"/>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00" b="1">
                <a:solidFill>
                  <a:srgbClr val="333333"/>
                </a:solidFill>
                <a:latin typeface="メイリオ"/>
                <a:ea typeface="メイリオ"/>
                <a:cs typeface="メイリオ"/>
              </a:rPr>
              <a:t>すべきこと</a:t>
            </a:r>
          </a:p>
        </p:txBody>
      </p:sp>
      <p:sp>
        <p:nvSpPr>
          <p:cNvPr id="15" name="Rounded Rectangle 14"/>
          <p:cNvSpPr/>
          <p:nvPr/>
        </p:nvSpPr>
        <p:spPr>
          <a:xfrm>
            <a:off x="6803999" y="1512000"/>
            <a:ext cx="2671200" cy="251999"/>
          </a:xfrm>
          <a:prstGeom prst="roundRect">
            <a:avLst>
              <a:gd name="adj" fmla="val 2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00" b="1">
                <a:solidFill>
                  <a:srgbClr val="FFFFFF"/>
                </a:solidFill>
                <a:latin typeface="メイリオ"/>
                <a:ea typeface="メイリオ"/>
                <a:cs typeface="メイリオ"/>
              </a:rPr>
              <a:t>LINE施策</a:t>
            </a:r>
          </a:p>
        </p:txBody>
      </p:sp>
      <p:sp>
        <p:nvSpPr>
          <p:cNvPr id="16" name="Rounded Rectangle 15"/>
          <p:cNvSpPr/>
          <p:nvPr/>
        </p:nvSpPr>
        <p:spPr>
          <a:xfrm>
            <a:off x="432000" y="1854000"/>
            <a:ext cx="3060000" cy="72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250" b="0">
                <a:solidFill>
                  <a:srgbClr val="333333"/>
                </a:solidFill>
                <a:latin typeface="メイリオ"/>
                <a:ea typeface="メイリオ"/>
                <a:cs typeface="メイリオ"/>
              </a:rPr>
              <a:t>サイトに来た保護者の多くは、名前を残さず帰っている</a:t>
            </a:r>
          </a:p>
        </p:txBody>
      </p:sp>
      <p:sp>
        <p:nvSpPr>
          <p:cNvPr id="17" name="Rounded Rectangle 16"/>
          <p:cNvSpPr/>
          <p:nvPr/>
        </p:nvSpPr>
        <p:spPr>
          <a:xfrm>
            <a:off x="3671999" y="1854000"/>
            <a:ext cx="2951999" cy="720000"/>
          </a:xfrm>
          <a:prstGeom prst="roundRect">
            <a:avLst>
              <a:gd name="adj" fmla="val 8000"/>
            </a:avLst>
          </a:prstGeom>
          <a:solidFill>
            <a:srgbClr val="FFFF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100" b="1">
                <a:solidFill>
                  <a:srgbClr val="333333"/>
                </a:solidFill>
                <a:latin typeface="メイリオ"/>
                <a:ea typeface="メイリオ"/>
                <a:cs typeface="メイリオ"/>
              </a:rPr>
              <a:t>塾名を調べる前の保護者と、先につながる</a:t>
            </a:r>
          </a:p>
        </p:txBody>
      </p:sp>
      <p:sp>
        <p:nvSpPr>
          <p:cNvPr id="18" name="Rounded Rectangle 17"/>
          <p:cNvSpPr/>
          <p:nvPr/>
        </p:nvSpPr>
        <p:spPr>
          <a:xfrm>
            <a:off x="6803999" y="1854000"/>
            <a:ext cx="2671200" cy="720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300" b="1">
                <a:solidFill>
                  <a:srgbClr val="FFFFFF"/>
                </a:solidFill>
                <a:latin typeface="メイリオ"/>
                <a:ea typeface="メイリオ"/>
                <a:cs typeface="メイリオ"/>
              </a:rPr>
              <a:t>サイトの離脱防止からLINEへ</a:t>
            </a:r>
          </a:p>
        </p:txBody>
      </p:sp>
      <p:cxnSp>
        <p:nvCxnSpPr>
          <p:cNvPr id="19" name="Connector 18"/>
          <p:cNvCxnSpPr/>
          <p:nvPr/>
        </p:nvCxnSpPr>
        <p:spPr>
          <a:xfrm>
            <a:off x="3510000" y="2214000"/>
            <a:ext cx="143999"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642000" y="2214000"/>
            <a:ext cx="143999"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432000" y="2700000"/>
            <a:ext cx="3060000" cy="72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250" b="0">
                <a:solidFill>
                  <a:srgbClr val="333333"/>
                </a:solidFill>
                <a:latin typeface="メイリオ"/>
                <a:ea typeface="メイリオ"/>
                <a:cs typeface="メイリオ"/>
              </a:rPr>
              <a:t>塾名を調べる前から、保護者は調べ始めている（P8〜P11）</a:t>
            </a:r>
          </a:p>
        </p:txBody>
      </p:sp>
      <p:sp>
        <p:nvSpPr>
          <p:cNvPr id="22" name="Rounded Rectangle 21"/>
          <p:cNvSpPr/>
          <p:nvPr/>
        </p:nvSpPr>
        <p:spPr>
          <a:xfrm>
            <a:off x="3671999" y="2700000"/>
            <a:ext cx="2951999" cy="720000"/>
          </a:xfrm>
          <a:prstGeom prst="roundRect">
            <a:avLst>
              <a:gd name="adj" fmla="val 8000"/>
            </a:avLst>
          </a:prstGeom>
          <a:solidFill>
            <a:srgbClr val="FFFF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100" b="1">
                <a:solidFill>
                  <a:srgbClr val="333333"/>
                </a:solidFill>
                <a:latin typeface="メイリオ"/>
                <a:ea typeface="メイリオ"/>
                <a:cs typeface="メイリオ"/>
              </a:rPr>
              <a:t>比べている間、役に立つ情報を届け続ける</a:t>
            </a:r>
          </a:p>
        </p:txBody>
      </p:sp>
      <p:sp>
        <p:nvSpPr>
          <p:cNvPr id="23" name="Rounded Rectangle 22"/>
          <p:cNvSpPr/>
          <p:nvPr/>
        </p:nvSpPr>
        <p:spPr>
          <a:xfrm>
            <a:off x="6803999" y="2700000"/>
            <a:ext cx="2671200" cy="720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300" b="1">
                <a:solidFill>
                  <a:srgbClr val="FFFFFF"/>
                </a:solidFill>
                <a:latin typeface="メイリオ"/>
                <a:ea typeface="メイリオ"/>
                <a:cs typeface="メイリオ"/>
              </a:rPr>
              <a:t>14日間の配信</a:t>
            </a:r>
          </a:p>
        </p:txBody>
      </p:sp>
      <p:cxnSp>
        <p:nvCxnSpPr>
          <p:cNvPr id="24" name="Connector 23"/>
          <p:cNvCxnSpPr/>
          <p:nvPr/>
        </p:nvCxnSpPr>
        <p:spPr>
          <a:xfrm>
            <a:off x="3510000" y="3060000"/>
            <a:ext cx="143999"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6642000" y="3060000"/>
            <a:ext cx="143999"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432000" y="3546000"/>
            <a:ext cx="3060000" cy="72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250" b="0">
                <a:solidFill>
                  <a:srgbClr val="333333"/>
                </a:solidFill>
                <a:latin typeface="メイリオ"/>
                <a:ea typeface="メイリオ"/>
                <a:cs typeface="メイリオ"/>
              </a:rPr>
              <a:t>一番の悩みは「うちの子に合うか分からない」63.5%（P7）</a:t>
            </a:r>
          </a:p>
        </p:txBody>
      </p:sp>
      <p:sp>
        <p:nvSpPr>
          <p:cNvPr id="27" name="Rounded Rectangle 26"/>
          <p:cNvSpPr/>
          <p:nvPr/>
        </p:nvSpPr>
        <p:spPr>
          <a:xfrm>
            <a:off x="3671999" y="3546000"/>
            <a:ext cx="2951999" cy="720000"/>
          </a:xfrm>
          <a:prstGeom prst="roundRect">
            <a:avLst>
              <a:gd name="adj" fmla="val 8000"/>
            </a:avLst>
          </a:prstGeom>
          <a:solidFill>
            <a:srgbClr val="FFFF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100" b="1">
                <a:solidFill>
                  <a:srgbClr val="333333"/>
                </a:solidFill>
                <a:latin typeface="メイリオ"/>
                <a:ea typeface="メイリオ"/>
                <a:cs typeface="メイリオ"/>
              </a:rPr>
              <a:t>申し込む前に「合う・合わない」を見せる</a:t>
            </a:r>
          </a:p>
        </p:txBody>
      </p:sp>
      <p:sp>
        <p:nvSpPr>
          <p:cNvPr id="28" name="Rounded Rectangle 27"/>
          <p:cNvSpPr/>
          <p:nvPr/>
        </p:nvSpPr>
        <p:spPr>
          <a:xfrm>
            <a:off x="6803999" y="3546000"/>
            <a:ext cx="2671200" cy="720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300" b="1">
                <a:solidFill>
                  <a:srgbClr val="FFFFFF"/>
                </a:solidFill>
                <a:latin typeface="メイリオ"/>
                <a:ea typeface="メイリオ"/>
                <a:cs typeface="メイリオ"/>
              </a:rPr>
              <a:t>30秒ぴったり診断</a:t>
            </a:r>
          </a:p>
        </p:txBody>
      </p:sp>
      <p:cxnSp>
        <p:nvCxnSpPr>
          <p:cNvPr id="29" name="Connector 28"/>
          <p:cNvCxnSpPr/>
          <p:nvPr/>
        </p:nvCxnSpPr>
        <p:spPr>
          <a:xfrm>
            <a:off x="3510000" y="3906000"/>
            <a:ext cx="143999"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6642000" y="3906000"/>
            <a:ext cx="143999"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432000" y="4392000"/>
            <a:ext cx="3060000" cy="72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250" b="0">
                <a:solidFill>
                  <a:srgbClr val="333333"/>
                </a:solidFill>
                <a:latin typeface="メイリオ"/>
                <a:ea typeface="メイリオ"/>
                <a:cs typeface="メイリオ"/>
              </a:rPr>
              <a:t>検索の山は2月と7月（P12）</a:t>
            </a:r>
          </a:p>
        </p:txBody>
      </p:sp>
      <p:sp>
        <p:nvSpPr>
          <p:cNvPr id="32" name="Rounded Rectangle 31"/>
          <p:cNvSpPr/>
          <p:nvPr/>
        </p:nvSpPr>
        <p:spPr>
          <a:xfrm>
            <a:off x="3671999" y="4392000"/>
            <a:ext cx="2951999" cy="720000"/>
          </a:xfrm>
          <a:prstGeom prst="roundRect">
            <a:avLst>
              <a:gd name="adj" fmla="val 8000"/>
            </a:avLst>
          </a:prstGeom>
          <a:solidFill>
            <a:srgbClr val="FFFF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100" b="1" dirty="0" err="1">
                <a:solidFill>
                  <a:srgbClr val="333333"/>
                </a:solidFill>
                <a:latin typeface="メイリオ"/>
                <a:ea typeface="メイリオ"/>
                <a:cs typeface="メイリオ"/>
              </a:rPr>
              <a:t>山の前から接点を持っておく</a:t>
            </a:r>
            <a:endParaRPr sz="1100" b="1" dirty="0">
              <a:solidFill>
                <a:srgbClr val="333333"/>
              </a:solidFill>
              <a:latin typeface="メイリオ"/>
              <a:ea typeface="メイリオ"/>
              <a:cs typeface="メイリオ"/>
            </a:endParaRPr>
          </a:p>
        </p:txBody>
      </p:sp>
      <p:sp>
        <p:nvSpPr>
          <p:cNvPr id="33" name="Rounded Rectangle 32"/>
          <p:cNvSpPr/>
          <p:nvPr/>
        </p:nvSpPr>
        <p:spPr>
          <a:xfrm>
            <a:off x="6803999" y="4392000"/>
            <a:ext cx="2671200" cy="720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300" b="1">
                <a:solidFill>
                  <a:srgbClr val="FFFFFF"/>
                </a:solidFill>
                <a:latin typeface="メイリオ"/>
                <a:ea typeface="メイリオ"/>
                <a:cs typeface="メイリオ"/>
              </a:rPr>
              <a:t>時期に合わせた企画配信</a:t>
            </a:r>
          </a:p>
        </p:txBody>
      </p:sp>
      <p:cxnSp>
        <p:nvCxnSpPr>
          <p:cNvPr id="34" name="Connector 33"/>
          <p:cNvCxnSpPr/>
          <p:nvPr/>
        </p:nvCxnSpPr>
        <p:spPr>
          <a:xfrm>
            <a:off x="3510000" y="4752000"/>
            <a:ext cx="143999"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6642000" y="4752000"/>
            <a:ext cx="143999"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432000" y="5292000"/>
            <a:ext cx="9043200" cy="468000"/>
          </a:xfrm>
          <a:prstGeom prst="roundRect">
            <a:avLst>
              <a:gd name="adj" fmla="val 8000"/>
            </a:avLst>
          </a:prstGeom>
          <a:solidFill>
            <a:srgbClr val="E4E9F2"/>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500" b="1">
                <a:solidFill>
                  <a:srgbClr val="333333"/>
                </a:solidFill>
                <a:latin typeface="メイリオ"/>
                <a:ea typeface="メイリオ"/>
                <a:cs typeface="メイリオ"/>
              </a:rPr>
              <a:t>診断と資料をきっかけにLINEの友だちになってもらい、比べている間ずっと情報を届ける。</a:t>
            </a:r>
          </a:p>
        </p:txBody>
      </p:sp>
    </p:spTree>
    <p:extLst>
      <p:ext uri="{BB962C8B-B14F-4D97-AF65-F5344CB8AC3E}">
        <p14:creationId xmlns:p14="http://schemas.microsoft.com/office/powerpoint/2010/main" val="17728060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73B14C-0AEA-B93E-0808-EE37D50F60C4}"/>
            </a:ext>
          </a:extLst>
        </p:cNvPr>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現状分析｜各社LINEの今</a:t>
            </a:r>
          </a:p>
        </p:txBody>
      </p:sp>
      <p:sp>
        <p:nvSpPr>
          <p:cNvPr id="3" name="TextBox 2"/>
          <p:cNvSpPr txBox="1"/>
          <p:nvPr/>
        </p:nvSpPr>
        <p:spPr>
          <a:xfrm>
            <a:off x="432000" y="630000"/>
            <a:ext cx="9036000" cy="720000"/>
          </a:xfrm>
          <a:prstGeom prst="rect">
            <a:avLst/>
          </a:prstGeom>
          <a:noFill/>
        </p:spPr>
        <p:txBody>
          <a:bodyPr wrap="square" lIns="0" tIns="21600" rIns="0" bIns="21600" anchor="ctr">
            <a:spAutoFit/>
          </a:bodyPr>
          <a:lstStyle/>
          <a:p>
            <a:pPr algn="l">
              <a:lnSpc>
                <a:spcPct val="128000"/>
              </a:lnSpc>
            </a:pPr>
            <a:r>
              <a:rPr sz="1250" dirty="0" err="1">
                <a:solidFill>
                  <a:srgbClr val="333333"/>
                </a:solidFill>
                <a:latin typeface="メイリオ"/>
                <a:ea typeface="メイリオ"/>
                <a:cs typeface="メイリオ"/>
              </a:rPr>
              <a:t>大手・中堅の塾は、LINEで保護者の迷いにどこまで応えているか。</a:t>
            </a:r>
          </a:p>
          <a:p>
            <a:pPr algn="l">
              <a:lnSpc>
                <a:spcPct val="128000"/>
              </a:lnSpc>
            </a:pPr>
            <a:r>
              <a:rPr sz="1250" dirty="0" err="1">
                <a:solidFill>
                  <a:srgbClr val="333333"/>
                </a:solidFill>
                <a:latin typeface="メイリオ"/>
                <a:ea typeface="メイリオ"/>
                <a:cs typeface="メイリオ"/>
              </a:rPr>
              <a:t>大手2社（個別教室のトライ・明光義塾）と中堅2社（森塾・ナビ個別指導学院）を実際に確認した。</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750">
                <a:solidFill>
                  <a:srgbClr val="7F7F7F"/>
                </a:solidFill>
                <a:latin typeface="メイリオ"/>
                <a:ea typeface="メイリオ"/>
                <a:cs typeface="メイリオ"/>
              </a:rPr>
              <a:t>出典｜各社LINE公式アカウント（page.line.me・実測）・公式サイト・LINEヤフー for Business 導入事例（明光ネットワークジャパン 2024）2026-09-25取得。「確認できず」＝公開情報で確認できなかったもの</a:t>
            </a:r>
          </a:p>
        </p:txBody>
      </p:sp>
      <p:sp>
        <p:nvSpPr>
          <p:cNvPr id="68" name="Rectangle 67"/>
          <p:cNvSpPr/>
          <p:nvPr/>
        </p:nvSpPr>
        <p:spPr>
          <a:xfrm>
            <a:off x="1835999" y="1494000"/>
            <a:ext cx="1526400" cy="413999"/>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950" b="1">
                <a:solidFill>
                  <a:srgbClr val="FFFFFF"/>
                </a:solidFill>
                <a:latin typeface="メイリオ"/>
                <a:ea typeface="メイリオ"/>
                <a:cs typeface="メイリオ"/>
              </a:rPr>
              <a:t>本部アカウント</a:t>
            </a:r>
          </a:p>
          <a:p>
            <a:pPr algn="ctr"/>
            <a:r>
              <a:rPr sz="950" b="1">
                <a:solidFill>
                  <a:srgbClr val="FFFFFF"/>
                </a:solidFill>
                <a:latin typeface="メイリオ"/>
                <a:ea typeface="メイリオ"/>
                <a:cs typeface="メイリオ"/>
              </a:rPr>
              <a:t>（友だち数）</a:t>
            </a:r>
          </a:p>
        </p:txBody>
      </p:sp>
      <p:sp>
        <p:nvSpPr>
          <p:cNvPr id="69" name="Rectangle 68"/>
          <p:cNvSpPr/>
          <p:nvPr/>
        </p:nvSpPr>
        <p:spPr>
          <a:xfrm>
            <a:off x="3383999" y="1494000"/>
            <a:ext cx="1022400" cy="413999"/>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950" b="1">
                <a:solidFill>
                  <a:srgbClr val="FFFFFF"/>
                </a:solidFill>
                <a:latin typeface="メイリオ"/>
                <a:ea typeface="メイリオ"/>
                <a:cs typeface="メイリオ"/>
              </a:rPr>
              <a:t>教室別の</a:t>
            </a:r>
          </a:p>
          <a:p>
            <a:pPr algn="ctr"/>
            <a:r>
              <a:rPr sz="950" b="1">
                <a:solidFill>
                  <a:srgbClr val="FFFFFF"/>
                </a:solidFill>
                <a:latin typeface="メイリオ"/>
                <a:ea typeface="メイリオ"/>
                <a:cs typeface="メイリオ"/>
              </a:rPr>
              <a:t>アカウント</a:t>
            </a:r>
          </a:p>
        </p:txBody>
      </p:sp>
      <p:sp>
        <p:nvSpPr>
          <p:cNvPr id="70" name="Rectangle 69"/>
          <p:cNvSpPr/>
          <p:nvPr/>
        </p:nvSpPr>
        <p:spPr>
          <a:xfrm>
            <a:off x="4428000" y="1494000"/>
            <a:ext cx="806399" cy="413999"/>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150" b="1">
                <a:solidFill>
                  <a:srgbClr val="FFFFFF"/>
                </a:solidFill>
                <a:latin typeface="メイリオ"/>
                <a:ea typeface="メイリオ"/>
                <a:cs typeface="メイリオ"/>
              </a:rPr>
              <a:t>誰向け</a:t>
            </a:r>
          </a:p>
        </p:txBody>
      </p:sp>
      <p:sp>
        <p:nvSpPr>
          <p:cNvPr id="71" name="Rectangle 70"/>
          <p:cNvSpPr/>
          <p:nvPr/>
        </p:nvSpPr>
        <p:spPr>
          <a:xfrm>
            <a:off x="5255999" y="1494000"/>
            <a:ext cx="1382400" cy="413999"/>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150" b="1">
                <a:solidFill>
                  <a:srgbClr val="FFFFFF"/>
                </a:solidFill>
                <a:latin typeface="メイリオ"/>
                <a:ea typeface="メイリオ"/>
                <a:cs typeface="メイリオ"/>
              </a:rPr>
              <a:t>診断</a:t>
            </a:r>
          </a:p>
        </p:txBody>
      </p:sp>
      <p:sp>
        <p:nvSpPr>
          <p:cNvPr id="72" name="Rectangle 71"/>
          <p:cNvSpPr/>
          <p:nvPr/>
        </p:nvSpPr>
        <p:spPr>
          <a:xfrm>
            <a:off x="6659999" y="1494000"/>
            <a:ext cx="1454400" cy="413999"/>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950" b="1">
                <a:solidFill>
                  <a:srgbClr val="FFFFFF"/>
                </a:solidFill>
                <a:latin typeface="メイリオ"/>
                <a:ea typeface="メイリオ"/>
                <a:cs typeface="メイリオ"/>
              </a:rPr>
              <a:t>LINEで資料請求</a:t>
            </a:r>
          </a:p>
          <a:p>
            <a:pPr algn="ctr"/>
            <a:r>
              <a:rPr sz="950" b="1">
                <a:solidFill>
                  <a:srgbClr val="FFFFFF"/>
                </a:solidFill>
                <a:latin typeface="メイリオ"/>
                <a:ea typeface="メイリオ"/>
                <a:cs typeface="メイリオ"/>
              </a:rPr>
              <a:t>・体験予約</a:t>
            </a:r>
          </a:p>
        </p:txBody>
      </p:sp>
      <p:sp>
        <p:nvSpPr>
          <p:cNvPr id="73" name="Rectangle 72"/>
          <p:cNvSpPr/>
          <p:nvPr/>
        </p:nvSpPr>
        <p:spPr>
          <a:xfrm>
            <a:off x="8135999" y="1494000"/>
            <a:ext cx="1317600" cy="413999"/>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150" b="1">
                <a:solidFill>
                  <a:srgbClr val="FFFFFF"/>
                </a:solidFill>
                <a:latin typeface="メイリオ"/>
                <a:ea typeface="メイリオ"/>
                <a:cs typeface="メイリオ"/>
              </a:rPr>
              <a:t>チャット相談</a:t>
            </a:r>
          </a:p>
        </p:txBody>
      </p:sp>
      <p:sp>
        <p:nvSpPr>
          <p:cNvPr id="74" name="Rectangle 73"/>
          <p:cNvSpPr/>
          <p:nvPr/>
        </p:nvSpPr>
        <p:spPr>
          <a:xfrm>
            <a:off x="432000" y="1936800"/>
            <a:ext cx="1382400" cy="673200"/>
          </a:xfrm>
          <a:prstGeom prst="rect">
            <a:avLst/>
          </a:prstGeom>
          <a:solidFill>
            <a:srgbClr val="F4F7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000" b="1">
                <a:solidFill>
                  <a:srgbClr val="7F7F7F"/>
                </a:solidFill>
                <a:latin typeface="メイリオ"/>
                <a:ea typeface="メイリオ"/>
                <a:cs typeface="メイリオ"/>
              </a:rPr>
              <a:t>大手</a:t>
            </a:r>
          </a:p>
          <a:p>
            <a:pPr algn="ctr"/>
            <a:r>
              <a:rPr sz="1200" b="1">
                <a:solidFill>
                  <a:srgbClr val="1F285A"/>
                </a:solidFill>
                <a:latin typeface="メイリオ"/>
                <a:ea typeface="メイリオ"/>
                <a:cs typeface="メイリオ"/>
              </a:rPr>
              <a:t>明光義塾</a:t>
            </a:r>
          </a:p>
        </p:txBody>
      </p:sp>
      <p:sp>
        <p:nvSpPr>
          <p:cNvPr id="75" name="Rectangle 74"/>
          <p:cNvSpPr/>
          <p:nvPr/>
        </p:nvSpPr>
        <p:spPr>
          <a:xfrm>
            <a:off x="1835999" y="1936800"/>
            <a:ext cx="1526400" cy="673200"/>
          </a:xfrm>
          <a:prstGeom prst="rect">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050" b="1">
                <a:solidFill>
                  <a:srgbClr val="333333"/>
                </a:solidFill>
                <a:latin typeface="メイリオ"/>
                <a:ea typeface="メイリオ"/>
                <a:cs typeface="メイリオ"/>
              </a:rPr>
              <a:t>明光義塾</a:t>
            </a:r>
          </a:p>
          <a:p>
            <a:pPr algn="ctr"/>
            <a:r>
              <a:rPr sz="950" b="0">
                <a:solidFill>
                  <a:srgbClr val="333333"/>
                </a:solidFill>
                <a:latin typeface="メイリオ"/>
                <a:ea typeface="メイリオ"/>
                <a:cs typeface="メイリオ"/>
              </a:rPr>
              <a:t>308,344人</a:t>
            </a:r>
          </a:p>
        </p:txBody>
      </p:sp>
      <p:sp>
        <p:nvSpPr>
          <p:cNvPr id="76" name="Rectangle 75"/>
          <p:cNvSpPr/>
          <p:nvPr/>
        </p:nvSpPr>
        <p:spPr>
          <a:xfrm>
            <a:off x="3383999" y="1936800"/>
            <a:ext cx="1022400" cy="673200"/>
          </a:xfrm>
          <a:prstGeom prst="rect">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150" b="1">
                <a:solidFill>
                  <a:srgbClr val="00897B"/>
                </a:solidFill>
                <a:latin typeface="メイリオ"/>
                <a:ea typeface="メイリオ"/>
                <a:cs typeface="メイリオ"/>
              </a:rPr>
              <a:t>あり（多数）</a:t>
            </a:r>
          </a:p>
          <a:p>
            <a:pPr algn="ctr"/>
            <a:r>
              <a:rPr sz="1000" b="0">
                <a:solidFill>
                  <a:srgbClr val="333333"/>
                </a:solidFill>
                <a:latin typeface="メイリオ"/>
                <a:ea typeface="メイリオ"/>
                <a:cs typeface="メイリオ"/>
              </a:rPr>
              <a:t>例：623人</a:t>
            </a:r>
          </a:p>
        </p:txBody>
      </p:sp>
      <p:sp>
        <p:nvSpPr>
          <p:cNvPr id="77" name="Rectangle 76"/>
          <p:cNvSpPr/>
          <p:nvPr/>
        </p:nvSpPr>
        <p:spPr>
          <a:xfrm>
            <a:off x="4428000" y="1936800"/>
            <a:ext cx="806399" cy="673200"/>
          </a:xfrm>
          <a:prstGeom prst="rect">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100" b="1">
                <a:solidFill>
                  <a:srgbClr val="00897B"/>
                </a:solidFill>
                <a:latin typeface="メイリオ"/>
                <a:ea typeface="メイリオ"/>
                <a:cs typeface="メイリオ"/>
              </a:rPr>
              <a:t>保護者</a:t>
            </a:r>
          </a:p>
        </p:txBody>
      </p:sp>
      <p:sp>
        <p:nvSpPr>
          <p:cNvPr id="78" name="Rectangle 77"/>
          <p:cNvSpPr/>
          <p:nvPr/>
        </p:nvSpPr>
        <p:spPr>
          <a:xfrm>
            <a:off x="5255999" y="1936800"/>
            <a:ext cx="1382400" cy="673200"/>
          </a:xfrm>
          <a:prstGeom prst="rect">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000" b="1">
                <a:solidFill>
                  <a:srgbClr val="00897B"/>
                </a:solidFill>
                <a:latin typeface="メイリオ"/>
                <a:ea typeface="メイリオ"/>
                <a:cs typeface="メイリオ"/>
              </a:rPr>
              <a:t>あり</a:t>
            </a:r>
          </a:p>
          <a:p>
            <a:pPr algn="ctr"/>
            <a:r>
              <a:rPr sz="900" b="0">
                <a:solidFill>
                  <a:srgbClr val="333333"/>
                </a:solidFill>
                <a:latin typeface="メイリオ"/>
                <a:ea typeface="メイリオ"/>
                <a:cs typeface="メイリオ"/>
              </a:rPr>
              <a:t>タイプ別の勉強法・相性チェック</a:t>
            </a:r>
          </a:p>
        </p:txBody>
      </p:sp>
      <p:sp>
        <p:nvSpPr>
          <p:cNvPr id="79" name="Rectangle 78"/>
          <p:cNvSpPr/>
          <p:nvPr/>
        </p:nvSpPr>
        <p:spPr>
          <a:xfrm>
            <a:off x="6659999" y="1936800"/>
            <a:ext cx="1454400" cy="673200"/>
          </a:xfrm>
          <a:prstGeom prst="rect">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950" b="1">
                <a:solidFill>
                  <a:srgbClr val="00897B"/>
                </a:solidFill>
                <a:latin typeface="メイリオ"/>
                <a:ea typeface="メイリオ"/>
                <a:cs typeface="メイリオ"/>
              </a:rPr>
              <a:t>あり</a:t>
            </a:r>
          </a:p>
          <a:p>
            <a:pPr algn="ctr"/>
            <a:r>
              <a:rPr sz="850" b="0">
                <a:solidFill>
                  <a:srgbClr val="7F7F7F"/>
                </a:solidFill>
                <a:latin typeface="メイリオ"/>
                <a:ea typeface="メイリオ"/>
                <a:cs typeface="メイリオ"/>
              </a:rPr>
              <a:t>（体験予約はLINEの中で）</a:t>
            </a:r>
          </a:p>
        </p:txBody>
      </p:sp>
      <p:sp>
        <p:nvSpPr>
          <p:cNvPr id="80" name="Rectangle 79"/>
          <p:cNvSpPr/>
          <p:nvPr/>
        </p:nvSpPr>
        <p:spPr>
          <a:xfrm>
            <a:off x="8135999" y="1936800"/>
            <a:ext cx="1317600" cy="673200"/>
          </a:xfrm>
          <a:prstGeom prst="rect">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150" b="1">
                <a:solidFill>
                  <a:srgbClr val="00897B"/>
                </a:solidFill>
                <a:latin typeface="メイリオ"/>
                <a:ea typeface="メイリオ"/>
                <a:cs typeface="メイリオ"/>
              </a:rPr>
              <a:t>あり</a:t>
            </a:r>
          </a:p>
          <a:p>
            <a:pPr algn="ctr"/>
            <a:r>
              <a:rPr sz="1000" b="0">
                <a:solidFill>
                  <a:srgbClr val="333333"/>
                </a:solidFill>
                <a:latin typeface="メイリオ"/>
                <a:ea typeface="メイリオ"/>
                <a:cs typeface="メイリオ"/>
              </a:rPr>
              <a:t>AIが回答</a:t>
            </a:r>
          </a:p>
        </p:txBody>
      </p:sp>
      <p:sp>
        <p:nvSpPr>
          <p:cNvPr id="81" name="Rectangle 80"/>
          <p:cNvSpPr/>
          <p:nvPr/>
        </p:nvSpPr>
        <p:spPr>
          <a:xfrm>
            <a:off x="432000" y="2638800"/>
            <a:ext cx="1382400" cy="673200"/>
          </a:xfrm>
          <a:prstGeom prst="rect">
            <a:avLst/>
          </a:prstGeom>
          <a:solidFill>
            <a:srgbClr val="F4F7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000" b="1">
                <a:solidFill>
                  <a:srgbClr val="7F7F7F"/>
                </a:solidFill>
                <a:latin typeface="メイリオ"/>
                <a:ea typeface="メイリオ"/>
                <a:cs typeface="メイリオ"/>
              </a:rPr>
              <a:t>大手</a:t>
            </a:r>
          </a:p>
          <a:p>
            <a:pPr algn="ctr"/>
            <a:r>
              <a:rPr sz="1200" b="1">
                <a:solidFill>
                  <a:srgbClr val="1F285A"/>
                </a:solidFill>
                <a:latin typeface="メイリオ"/>
                <a:ea typeface="メイリオ"/>
                <a:cs typeface="メイリオ"/>
              </a:rPr>
              <a:t>個別教室のトライ</a:t>
            </a:r>
          </a:p>
        </p:txBody>
      </p:sp>
      <p:sp>
        <p:nvSpPr>
          <p:cNvPr id="82" name="Rectangle 81"/>
          <p:cNvSpPr/>
          <p:nvPr/>
        </p:nvSpPr>
        <p:spPr>
          <a:xfrm>
            <a:off x="1835999" y="2638800"/>
            <a:ext cx="1526400" cy="673200"/>
          </a:xfrm>
          <a:prstGeom prst="rect">
            <a:avLst/>
          </a:prstGeom>
          <a:solidFill>
            <a:srgbClr val="F7F9FC"/>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050" b="1">
                <a:solidFill>
                  <a:srgbClr val="333333"/>
                </a:solidFill>
                <a:latin typeface="メイリオ"/>
                <a:ea typeface="メイリオ"/>
                <a:cs typeface="メイリオ"/>
              </a:rPr>
              <a:t>トライさん</a:t>
            </a:r>
          </a:p>
          <a:p>
            <a:pPr algn="ctr"/>
            <a:r>
              <a:rPr sz="950" b="0">
                <a:solidFill>
                  <a:srgbClr val="333333"/>
                </a:solidFill>
                <a:latin typeface="メイリオ"/>
                <a:ea typeface="メイリオ"/>
                <a:cs typeface="メイリオ"/>
              </a:rPr>
              <a:t>120,131人</a:t>
            </a:r>
          </a:p>
        </p:txBody>
      </p:sp>
      <p:sp>
        <p:nvSpPr>
          <p:cNvPr id="83" name="Rectangle 82"/>
          <p:cNvSpPr/>
          <p:nvPr/>
        </p:nvSpPr>
        <p:spPr>
          <a:xfrm>
            <a:off x="3383999" y="2638800"/>
            <a:ext cx="1022400" cy="673200"/>
          </a:xfrm>
          <a:prstGeom prst="rect">
            <a:avLst/>
          </a:prstGeom>
          <a:solidFill>
            <a:srgbClr val="F7F9FC"/>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150" b="1">
                <a:solidFill>
                  <a:srgbClr val="7F7F7F"/>
                </a:solidFill>
                <a:latin typeface="メイリオ"/>
                <a:ea typeface="メイリオ"/>
                <a:cs typeface="メイリオ"/>
              </a:rPr>
              <a:t>確認できず</a:t>
            </a:r>
          </a:p>
        </p:txBody>
      </p:sp>
      <p:sp>
        <p:nvSpPr>
          <p:cNvPr id="84" name="Rectangle 83"/>
          <p:cNvSpPr/>
          <p:nvPr/>
        </p:nvSpPr>
        <p:spPr>
          <a:xfrm>
            <a:off x="4428000" y="2638800"/>
            <a:ext cx="806399" cy="673200"/>
          </a:xfrm>
          <a:prstGeom prst="rect">
            <a:avLst/>
          </a:prstGeom>
          <a:solidFill>
            <a:srgbClr val="F7F9FC"/>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150" b="1">
                <a:solidFill>
                  <a:srgbClr val="333333"/>
                </a:solidFill>
                <a:latin typeface="メイリオ"/>
                <a:ea typeface="メイリオ"/>
                <a:cs typeface="メイリオ"/>
              </a:rPr>
              <a:t>生徒</a:t>
            </a:r>
          </a:p>
          <a:p>
            <a:pPr algn="ctr"/>
            <a:r>
              <a:rPr sz="1000" b="0">
                <a:solidFill>
                  <a:srgbClr val="333333"/>
                </a:solidFill>
                <a:latin typeface="メイリオ"/>
                <a:ea typeface="メイリオ"/>
                <a:cs typeface="メイリオ"/>
              </a:rPr>
              <a:t>（中高生）</a:t>
            </a:r>
          </a:p>
        </p:txBody>
      </p:sp>
      <p:sp>
        <p:nvSpPr>
          <p:cNvPr id="85" name="Rectangle 84"/>
          <p:cNvSpPr/>
          <p:nvPr/>
        </p:nvSpPr>
        <p:spPr>
          <a:xfrm>
            <a:off x="5255999" y="2638800"/>
            <a:ext cx="1382400" cy="673200"/>
          </a:xfrm>
          <a:prstGeom prst="rect">
            <a:avLst/>
          </a:prstGeom>
          <a:solidFill>
            <a:srgbClr val="F7F9FC"/>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000" b="1">
                <a:solidFill>
                  <a:srgbClr val="333333"/>
                </a:solidFill>
                <a:latin typeface="メイリオ"/>
                <a:ea typeface="メイリオ"/>
                <a:cs typeface="メイリオ"/>
              </a:rPr>
              <a:t>Webの性格診断あり</a:t>
            </a:r>
          </a:p>
          <a:p>
            <a:pPr algn="ctr"/>
            <a:r>
              <a:rPr sz="900" b="0">
                <a:solidFill>
                  <a:srgbClr val="333333"/>
                </a:solidFill>
                <a:latin typeface="メイリオ"/>
                <a:ea typeface="メイリオ"/>
                <a:cs typeface="メイリオ"/>
              </a:rPr>
              <a:t>LINEでは確認できず</a:t>
            </a:r>
          </a:p>
        </p:txBody>
      </p:sp>
      <p:sp>
        <p:nvSpPr>
          <p:cNvPr id="86" name="Rectangle 85"/>
          <p:cNvSpPr/>
          <p:nvPr/>
        </p:nvSpPr>
        <p:spPr>
          <a:xfrm>
            <a:off x="6659999" y="2638800"/>
            <a:ext cx="1454400" cy="673200"/>
          </a:xfrm>
          <a:prstGeom prst="rect">
            <a:avLst/>
          </a:prstGeom>
          <a:solidFill>
            <a:srgbClr val="F7F9FC"/>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950" b="1">
                <a:solidFill>
                  <a:srgbClr val="7F7F7F"/>
                </a:solidFill>
                <a:latin typeface="メイリオ"/>
                <a:ea typeface="メイリオ"/>
                <a:cs typeface="メイリオ"/>
              </a:rPr>
              <a:t>確認できず</a:t>
            </a:r>
          </a:p>
          <a:p>
            <a:pPr algn="ctr"/>
            <a:r>
              <a:rPr sz="850" b="0">
                <a:solidFill>
                  <a:srgbClr val="7F7F7F"/>
                </a:solidFill>
                <a:latin typeface="メイリオ"/>
                <a:ea typeface="メイリオ"/>
                <a:cs typeface="メイリオ"/>
              </a:rPr>
              <a:t>（Webフォーム）</a:t>
            </a:r>
          </a:p>
        </p:txBody>
      </p:sp>
      <p:sp>
        <p:nvSpPr>
          <p:cNvPr id="87" name="Rectangle 86"/>
          <p:cNvSpPr/>
          <p:nvPr/>
        </p:nvSpPr>
        <p:spPr>
          <a:xfrm>
            <a:off x="8135999" y="2638800"/>
            <a:ext cx="1317600" cy="673200"/>
          </a:xfrm>
          <a:prstGeom prst="rect">
            <a:avLst/>
          </a:prstGeom>
          <a:solidFill>
            <a:srgbClr val="F7F9FC"/>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150" b="1">
                <a:solidFill>
                  <a:srgbClr val="00897B"/>
                </a:solidFill>
                <a:latin typeface="メイリオ"/>
                <a:ea typeface="メイリオ"/>
                <a:cs typeface="メイリオ"/>
              </a:rPr>
              <a:t>あり</a:t>
            </a:r>
          </a:p>
          <a:p>
            <a:pPr algn="ctr"/>
            <a:r>
              <a:rPr sz="1000" b="0">
                <a:solidFill>
                  <a:srgbClr val="333333"/>
                </a:solidFill>
                <a:latin typeface="メイリオ"/>
                <a:ea typeface="メイリオ"/>
                <a:cs typeface="メイリオ"/>
              </a:rPr>
              <a:t>LINE相談窓口</a:t>
            </a:r>
          </a:p>
        </p:txBody>
      </p:sp>
      <p:sp>
        <p:nvSpPr>
          <p:cNvPr id="88" name="Rectangle 87"/>
          <p:cNvSpPr/>
          <p:nvPr/>
        </p:nvSpPr>
        <p:spPr>
          <a:xfrm>
            <a:off x="432000" y="3340800"/>
            <a:ext cx="1382400" cy="673200"/>
          </a:xfrm>
          <a:prstGeom prst="rect">
            <a:avLst/>
          </a:prstGeom>
          <a:solidFill>
            <a:srgbClr val="F4F7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000" b="1">
                <a:solidFill>
                  <a:srgbClr val="7F7F7F"/>
                </a:solidFill>
                <a:latin typeface="メイリオ"/>
                <a:ea typeface="メイリオ"/>
                <a:cs typeface="メイリオ"/>
              </a:rPr>
              <a:t>中堅</a:t>
            </a:r>
          </a:p>
          <a:p>
            <a:pPr algn="ctr"/>
            <a:r>
              <a:rPr sz="1200" b="1">
                <a:solidFill>
                  <a:srgbClr val="1F285A"/>
                </a:solidFill>
                <a:latin typeface="メイリオ"/>
                <a:ea typeface="メイリオ"/>
                <a:cs typeface="メイリオ"/>
              </a:rPr>
              <a:t>森塾</a:t>
            </a:r>
          </a:p>
        </p:txBody>
      </p:sp>
      <p:sp>
        <p:nvSpPr>
          <p:cNvPr id="89" name="Rectangle 88"/>
          <p:cNvSpPr/>
          <p:nvPr/>
        </p:nvSpPr>
        <p:spPr>
          <a:xfrm>
            <a:off x="1835999" y="3340800"/>
            <a:ext cx="1526400" cy="673200"/>
          </a:xfrm>
          <a:prstGeom prst="rect">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050" b="1">
                <a:solidFill>
                  <a:srgbClr val="333333"/>
                </a:solidFill>
                <a:latin typeface="メイリオ"/>
                <a:ea typeface="メイリオ"/>
                <a:cs typeface="メイリオ"/>
              </a:rPr>
              <a:t>運営会社名義</a:t>
            </a:r>
          </a:p>
          <a:p>
            <a:pPr algn="ctr"/>
            <a:r>
              <a:rPr sz="950" b="0">
                <a:solidFill>
                  <a:srgbClr val="333333"/>
                </a:solidFill>
                <a:latin typeface="メイリオ"/>
                <a:ea typeface="メイリオ"/>
                <a:cs typeface="メイリオ"/>
              </a:rPr>
              <a:t>（スプリックス）</a:t>
            </a:r>
          </a:p>
          <a:p>
            <a:pPr algn="ctr"/>
            <a:r>
              <a:rPr sz="950" b="0">
                <a:solidFill>
                  <a:srgbClr val="333333"/>
                </a:solidFill>
                <a:latin typeface="メイリオ"/>
                <a:ea typeface="メイリオ"/>
                <a:cs typeface="メイリオ"/>
              </a:rPr>
              <a:t>2,043,233人</a:t>
            </a:r>
          </a:p>
        </p:txBody>
      </p:sp>
      <p:sp>
        <p:nvSpPr>
          <p:cNvPr id="90" name="Rectangle 89"/>
          <p:cNvSpPr/>
          <p:nvPr/>
        </p:nvSpPr>
        <p:spPr>
          <a:xfrm>
            <a:off x="3383999" y="3340800"/>
            <a:ext cx="1022400" cy="673200"/>
          </a:xfrm>
          <a:prstGeom prst="rect">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150" b="1">
                <a:solidFill>
                  <a:srgbClr val="7F7F7F"/>
                </a:solidFill>
                <a:latin typeface="メイリオ"/>
                <a:ea typeface="メイリオ"/>
                <a:cs typeface="メイリオ"/>
              </a:rPr>
              <a:t>見つからず</a:t>
            </a:r>
          </a:p>
        </p:txBody>
      </p:sp>
      <p:sp>
        <p:nvSpPr>
          <p:cNvPr id="91" name="Rectangle 90"/>
          <p:cNvSpPr/>
          <p:nvPr/>
        </p:nvSpPr>
        <p:spPr>
          <a:xfrm>
            <a:off x="4428000" y="3340800"/>
            <a:ext cx="806399" cy="673200"/>
          </a:xfrm>
          <a:prstGeom prst="rect">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100" b="1">
                <a:solidFill>
                  <a:srgbClr val="7F7F7F"/>
                </a:solidFill>
                <a:latin typeface="メイリオ"/>
                <a:ea typeface="メイリオ"/>
                <a:cs typeface="メイリオ"/>
              </a:rPr>
              <a:t>確認できず</a:t>
            </a:r>
          </a:p>
        </p:txBody>
      </p:sp>
      <p:sp>
        <p:nvSpPr>
          <p:cNvPr id="92" name="Rectangle 91"/>
          <p:cNvSpPr/>
          <p:nvPr/>
        </p:nvSpPr>
        <p:spPr>
          <a:xfrm>
            <a:off x="5255999" y="3340800"/>
            <a:ext cx="1382400" cy="673200"/>
          </a:xfrm>
          <a:prstGeom prst="rect">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150" b="1">
                <a:solidFill>
                  <a:srgbClr val="7F7F7F"/>
                </a:solidFill>
                <a:latin typeface="メイリオ"/>
                <a:ea typeface="メイリオ"/>
                <a:cs typeface="メイリオ"/>
              </a:rPr>
              <a:t>確認できず</a:t>
            </a:r>
          </a:p>
        </p:txBody>
      </p:sp>
      <p:sp>
        <p:nvSpPr>
          <p:cNvPr id="93" name="Rectangle 92"/>
          <p:cNvSpPr/>
          <p:nvPr/>
        </p:nvSpPr>
        <p:spPr>
          <a:xfrm>
            <a:off x="6659999" y="3340800"/>
            <a:ext cx="1454400" cy="673200"/>
          </a:xfrm>
          <a:prstGeom prst="rect">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950" b="1">
                <a:solidFill>
                  <a:srgbClr val="7F7F7F"/>
                </a:solidFill>
                <a:latin typeface="メイリオ"/>
                <a:ea typeface="メイリオ"/>
                <a:cs typeface="メイリオ"/>
              </a:rPr>
              <a:t>サイトに記載なし</a:t>
            </a:r>
          </a:p>
          <a:p>
            <a:pPr algn="ctr"/>
            <a:r>
              <a:rPr sz="850" b="0">
                <a:solidFill>
                  <a:srgbClr val="7F7F7F"/>
                </a:solidFill>
                <a:latin typeface="メイリオ"/>
                <a:ea typeface="メイリオ"/>
                <a:cs typeface="メイリオ"/>
              </a:rPr>
              <a:t>（Webフォームのみ）</a:t>
            </a:r>
          </a:p>
        </p:txBody>
      </p:sp>
      <p:sp>
        <p:nvSpPr>
          <p:cNvPr id="94" name="Rectangle 93"/>
          <p:cNvSpPr/>
          <p:nvPr/>
        </p:nvSpPr>
        <p:spPr>
          <a:xfrm>
            <a:off x="8135999" y="3340800"/>
            <a:ext cx="1317600" cy="673200"/>
          </a:xfrm>
          <a:prstGeom prst="rect">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150" b="1">
                <a:solidFill>
                  <a:srgbClr val="7F7F7F"/>
                </a:solidFill>
                <a:latin typeface="メイリオ"/>
                <a:ea typeface="メイリオ"/>
                <a:cs typeface="メイリオ"/>
              </a:rPr>
              <a:t>確認できず</a:t>
            </a:r>
          </a:p>
        </p:txBody>
      </p:sp>
      <p:sp>
        <p:nvSpPr>
          <p:cNvPr id="95" name="Rectangle 94"/>
          <p:cNvSpPr/>
          <p:nvPr/>
        </p:nvSpPr>
        <p:spPr>
          <a:xfrm>
            <a:off x="432000" y="4042800"/>
            <a:ext cx="1382400" cy="673200"/>
          </a:xfrm>
          <a:prstGeom prst="rect">
            <a:avLst/>
          </a:prstGeom>
          <a:solidFill>
            <a:srgbClr val="F4F7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000" b="1">
                <a:solidFill>
                  <a:srgbClr val="7F7F7F"/>
                </a:solidFill>
                <a:latin typeface="メイリオ"/>
                <a:ea typeface="メイリオ"/>
                <a:cs typeface="メイリオ"/>
              </a:rPr>
              <a:t>中堅</a:t>
            </a:r>
          </a:p>
          <a:p>
            <a:pPr algn="ctr"/>
            <a:r>
              <a:rPr sz="1200" b="1">
                <a:solidFill>
                  <a:srgbClr val="1F285A"/>
                </a:solidFill>
                <a:latin typeface="メイリオ"/>
                <a:ea typeface="メイリオ"/>
                <a:cs typeface="メイリオ"/>
              </a:rPr>
              <a:t>ナビ個別指導学院</a:t>
            </a:r>
          </a:p>
        </p:txBody>
      </p:sp>
      <p:sp>
        <p:nvSpPr>
          <p:cNvPr id="96" name="Rectangle 95"/>
          <p:cNvSpPr/>
          <p:nvPr/>
        </p:nvSpPr>
        <p:spPr>
          <a:xfrm>
            <a:off x="1835999" y="4042800"/>
            <a:ext cx="1526400" cy="673200"/>
          </a:xfrm>
          <a:prstGeom prst="rect">
            <a:avLst/>
          </a:prstGeom>
          <a:solidFill>
            <a:srgbClr val="F7F9FC"/>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150" b="1">
                <a:solidFill>
                  <a:srgbClr val="7F7F7F"/>
                </a:solidFill>
                <a:latin typeface="メイリオ"/>
                <a:ea typeface="メイリオ"/>
                <a:cs typeface="メイリオ"/>
              </a:rPr>
              <a:t>見つからず</a:t>
            </a:r>
          </a:p>
        </p:txBody>
      </p:sp>
      <p:sp>
        <p:nvSpPr>
          <p:cNvPr id="97" name="Rectangle 96"/>
          <p:cNvSpPr/>
          <p:nvPr/>
        </p:nvSpPr>
        <p:spPr>
          <a:xfrm>
            <a:off x="3383999" y="4042800"/>
            <a:ext cx="1022400" cy="673200"/>
          </a:xfrm>
          <a:prstGeom prst="rect">
            <a:avLst/>
          </a:prstGeom>
          <a:solidFill>
            <a:srgbClr val="F7F9FC"/>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150" b="1">
                <a:solidFill>
                  <a:srgbClr val="7F7F7F"/>
                </a:solidFill>
                <a:latin typeface="メイリオ"/>
                <a:ea typeface="メイリオ"/>
                <a:cs typeface="メイリオ"/>
              </a:rPr>
              <a:t>見つからず</a:t>
            </a:r>
          </a:p>
        </p:txBody>
      </p:sp>
      <p:sp>
        <p:nvSpPr>
          <p:cNvPr id="98" name="Rectangle 97"/>
          <p:cNvSpPr/>
          <p:nvPr/>
        </p:nvSpPr>
        <p:spPr>
          <a:xfrm>
            <a:off x="4428000" y="4042800"/>
            <a:ext cx="806399" cy="673200"/>
          </a:xfrm>
          <a:prstGeom prst="rect">
            <a:avLst/>
          </a:prstGeom>
          <a:solidFill>
            <a:srgbClr val="F7F9FC"/>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100" b="1">
                <a:solidFill>
                  <a:srgbClr val="7F7F7F"/>
                </a:solidFill>
                <a:latin typeface="メイリオ"/>
                <a:ea typeface="メイリオ"/>
                <a:cs typeface="メイリオ"/>
              </a:rPr>
              <a:t>―</a:t>
            </a:r>
          </a:p>
        </p:txBody>
      </p:sp>
      <p:sp>
        <p:nvSpPr>
          <p:cNvPr id="99" name="Rectangle 98"/>
          <p:cNvSpPr/>
          <p:nvPr/>
        </p:nvSpPr>
        <p:spPr>
          <a:xfrm>
            <a:off x="5255999" y="4042800"/>
            <a:ext cx="1382400" cy="673200"/>
          </a:xfrm>
          <a:prstGeom prst="rect">
            <a:avLst/>
          </a:prstGeom>
          <a:solidFill>
            <a:srgbClr val="F7F9FC"/>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150" b="1">
                <a:solidFill>
                  <a:srgbClr val="7F7F7F"/>
                </a:solidFill>
                <a:latin typeface="メイリオ"/>
                <a:ea typeface="メイリオ"/>
                <a:cs typeface="メイリオ"/>
              </a:rPr>
              <a:t>―</a:t>
            </a:r>
          </a:p>
        </p:txBody>
      </p:sp>
      <p:sp>
        <p:nvSpPr>
          <p:cNvPr id="100" name="Rectangle 99"/>
          <p:cNvSpPr/>
          <p:nvPr/>
        </p:nvSpPr>
        <p:spPr>
          <a:xfrm>
            <a:off x="6659999" y="4042800"/>
            <a:ext cx="1454400" cy="673200"/>
          </a:xfrm>
          <a:prstGeom prst="rect">
            <a:avLst/>
          </a:prstGeom>
          <a:solidFill>
            <a:srgbClr val="F7F9FC"/>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950" b="1">
                <a:solidFill>
                  <a:srgbClr val="7F7F7F"/>
                </a:solidFill>
                <a:latin typeface="メイリオ"/>
                <a:ea typeface="メイリオ"/>
                <a:cs typeface="メイリオ"/>
              </a:rPr>
              <a:t>サイトに記載なし</a:t>
            </a:r>
          </a:p>
          <a:p>
            <a:pPr algn="ctr"/>
            <a:r>
              <a:rPr sz="850" b="0">
                <a:solidFill>
                  <a:srgbClr val="7F7F7F"/>
                </a:solidFill>
                <a:latin typeface="メイリオ"/>
                <a:ea typeface="メイリオ"/>
                <a:cs typeface="メイリオ"/>
              </a:rPr>
              <a:t>（Webフォームのみ）</a:t>
            </a:r>
          </a:p>
        </p:txBody>
      </p:sp>
      <p:sp>
        <p:nvSpPr>
          <p:cNvPr id="101" name="Rectangle 100"/>
          <p:cNvSpPr/>
          <p:nvPr/>
        </p:nvSpPr>
        <p:spPr>
          <a:xfrm>
            <a:off x="8135999" y="4042800"/>
            <a:ext cx="1317600" cy="673200"/>
          </a:xfrm>
          <a:prstGeom prst="rect">
            <a:avLst/>
          </a:prstGeom>
          <a:solidFill>
            <a:srgbClr val="F7F9FC"/>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150" b="1">
                <a:solidFill>
                  <a:srgbClr val="7F7F7F"/>
                </a:solidFill>
                <a:latin typeface="メイリオ"/>
                <a:ea typeface="メイリオ"/>
                <a:cs typeface="メイリオ"/>
              </a:rPr>
              <a:t>―</a:t>
            </a:r>
          </a:p>
        </p:txBody>
      </p:sp>
      <p:sp>
        <p:nvSpPr>
          <p:cNvPr id="102" name="Rounded Rectangle 101"/>
          <p:cNvSpPr/>
          <p:nvPr/>
        </p:nvSpPr>
        <p:spPr>
          <a:xfrm>
            <a:off x="432000" y="4788000"/>
            <a:ext cx="4428000" cy="990000"/>
          </a:xfrm>
          <a:prstGeom prst="roundRect">
            <a:avLst>
              <a:gd name="adj" fmla="val 8000"/>
            </a:avLst>
          </a:prstGeom>
          <a:solidFill>
            <a:srgbClr val="F4F7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t"/>
          <a:lstStyle/>
          <a:p>
            <a:pPr algn="l"/>
            <a:r>
              <a:rPr sz="1050" b="1">
                <a:solidFill>
                  <a:srgbClr val="1F285A"/>
                </a:solidFill>
                <a:latin typeface="メイリオ"/>
                <a:ea typeface="メイリオ"/>
                <a:cs typeface="メイリオ"/>
              </a:rPr>
              <a:t>明光義塾はLINEで成果を出している（公式事例・P15）</a:t>
            </a:r>
          </a:p>
          <a:p>
            <a:pPr algn="l"/>
            <a:r>
              <a:rPr sz="950" b="0">
                <a:solidFill>
                  <a:srgbClr val="333333"/>
                </a:solidFill>
                <a:latin typeface="メイリオ"/>
                <a:ea typeface="メイリオ"/>
                <a:cs typeface="メイリオ"/>
              </a:rPr>
              <a:t>・サイトの離脱時ポップアップから友だち追加</a:t>
            </a:r>
          </a:p>
          <a:p>
            <a:pPr algn="l"/>
            <a:r>
              <a:rPr sz="950" b="0">
                <a:solidFill>
                  <a:srgbClr val="333333"/>
                </a:solidFill>
                <a:latin typeface="メイリオ"/>
                <a:ea typeface="メイリオ"/>
                <a:cs typeface="メイリオ"/>
              </a:rPr>
              <a:t>・約5カ月で約20万人の友だち（うち約15万人はスタンプの二次拡散）</a:t>
            </a:r>
          </a:p>
          <a:p>
            <a:pPr algn="l"/>
            <a:r>
              <a:rPr sz="950" b="0">
                <a:solidFill>
                  <a:srgbClr val="333333"/>
                </a:solidFill>
                <a:latin typeface="メイリオ"/>
                <a:ea typeface="メイリオ"/>
                <a:cs typeface="メイリオ"/>
              </a:rPr>
              <a:t>・資料請求が前年比120％ほど（2023年6〜7月）</a:t>
            </a:r>
          </a:p>
        </p:txBody>
      </p:sp>
      <p:sp>
        <p:nvSpPr>
          <p:cNvPr id="103" name="Rounded Rectangle 102"/>
          <p:cNvSpPr/>
          <p:nvPr/>
        </p:nvSpPr>
        <p:spPr>
          <a:xfrm>
            <a:off x="5047200" y="4788000"/>
            <a:ext cx="4428000" cy="990000"/>
          </a:xfrm>
          <a:prstGeom prst="roundRect">
            <a:avLst>
              <a:gd name="adj" fmla="val 8000"/>
            </a:avLst>
          </a:prstGeom>
          <a:solidFill>
            <a:srgbClr val="E4E9F2"/>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t"/>
          <a:lstStyle/>
          <a:p>
            <a:pPr algn="l"/>
            <a:r>
              <a:rPr sz="1050" b="1">
                <a:solidFill>
                  <a:srgbClr val="333333"/>
                </a:solidFill>
                <a:latin typeface="メイリオ"/>
                <a:ea typeface="メイリオ"/>
                <a:cs typeface="メイリオ"/>
              </a:rPr>
              <a:t>差がつくところ</a:t>
            </a:r>
          </a:p>
          <a:p>
            <a:pPr algn="l"/>
            <a:r>
              <a:rPr sz="950" b="0">
                <a:solidFill>
                  <a:srgbClr val="333333"/>
                </a:solidFill>
                <a:latin typeface="メイリオ"/>
                <a:ea typeface="メイリオ"/>
                <a:cs typeface="メイリオ"/>
              </a:rPr>
              <a:t>・保護者向けに「診断 → 体験予約」をLINEの中で</a:t>
            </a:r>
          </a:p>
          <a:p>
            <a:pPr algn="l"/>
            <a:r>
              <a:rPr sz="950" b="0">
                <a:solidFill>
                  <a:srgbClr val="333333"/>
                </a:solidFill>
                <a:latin typeface="メイリオ"/>
                <a:ea typeface="メイリオ"/>
                <a:cs typeface="メイリオ"/>
              </a:rPr>
              <a:t>　つないでいるのは、確認した4社では明光義塾だけ</a:t>
            </a:r>
          </a:p>
          <a:p>
            <a:pPr algn="l"/>
            <a:r>
              <a:rPr sz="950" b="0">
                <a:solidFill>
                  <a:srgbClr val="333333"/>
                </a:solidFill>
                <a:latin typeface="メイリオ"/>
                <a:ea typeface="メイリオ"/>
                <a:cs typeface="メイリオ"/>
              </a:rPr>
              <a:t>・トライは生徒向け。森塾・ナビは公式サイトにLINEの導線がない</a:t>
            </a:r>
          </a:p>
        </p:txBody>
      </p:sp>
      <p:sp>
        <p:nvSpPr>
          <p:cNvPr id="104" name="Rounded Rectangle 103"/>
          <p:cNvSpPr/>
          <p:nvPr/>
        </p:nvSpPr>
        <p:spPr>
          <a:xfrm>
            <a:off x="432000" y="5850000"/>
            <a:ext cx="9043200" cy="342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300" b="1">
                <a:solidFill>
                  <a:srgbClr val="FFFFFF"/>
                </a:solidFill>
                <a:latin typeface="メイリオ"/>
                <a:ea typeface="メイリオ"/>
                <a:cs typeface="メイリオ"/>
              </a:rPr>
              <a:t>保護者向けに、診断から体験予約までをLINEでつないでいる塾は、まだ少ない。</a:t>
            </a:r>
          </a:p>
        </p:txBody>
      </p:sp>
    </p:spTree>
    <p:extLst>
      <p:ext uri="{BB962C8B-B14F-4D97-AF65-F5344CB8AC3E}">
        <p14:creationId xmlns:p14="http://schemas.microsoft.com/office/powerpoint/2010/main" val="4069324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73B14C-0AEA-B93E-0808-EE37D50F60C4}"/>
            </a:ext>
          </a:extLst>
        </p:cNvPr>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運用の参考事例｜明光義塾</a:t>
            </a:r>
          </a:p>
        </p:txBody>
      </p:sp>
      <p:sp>
        <p:nvSpPr>
          <p:cNvPr id="3" name="TextBox 2"/>
          <p:cNvSpPr txBox="1"/>
          <p:nvPr/>
        </p:nvSpPr>
        <p:spPr>
          <a:xfrm>
            <a:off x="432000" y="630000"/>
            <a:ext cx="9036000" cy="720000"/>
          </a:xfrm>
          <a:prstGeom prst="rect">
            <a:avLst/>
          </a:prstGeom>
          <a:noFill/>
        </p:spPr>
        <p:txBody>
          <a:bodyPr wrap="square" lIns="0" tIns="21600" rIns="0" bIns="21600" anchor="ctr">
            <a:spAutoFit/>
          </a:bodyPr>
          <a:lstStyle/>
          <a:p>
            <a:pPr algn="l">
              <a:lnSpc>
                <a:spcPct val="128000"/>
              </a:lnSpc>
            </a:pPr>
            <a:r>
              <a:rPr sz="1200" dirty="0" err="1">
                <a:solidFill>
                  <a:srgbClr val="333333"/>
                </a:solidFill>
                <a:latin typeface="メイリオ"/>
                <a:ea typeface="メイリオ"/>
                <a:cs typeface="メイリオ"/>
              </a:rPr>
              <a:t>LINEで資料請求を伸ばした塾の事例です（LINEヤフー公式の導入事例）。</a:t>
            </a:r>
          </a:p>
          <a:p>
            <a:pPr algn="l">
              <a:lnSpc>
                <a:spcPct val="128000"/>
              </a:lnSpc>
            </a:pPr>
            <a:r>
              <a:rPr sz="1200" dirty="0" err="1">
                <a:solidFill>
                  <a:srgbClr val="333333"/>
                </a:solidFill>
                <a:latin typeface="メイリオ"/>
                <a:ea typeface="メイリオ"/>
                <a:cs typeface="メイリオ"/>
              </a:rPr>
              <a:t>「塾はすぐには申し込まれない」前提で、サイトから友だちになってもらい、比べている間をLINEで支えています。</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900">
                <a:solidFill>
                  <a:srgbClr val="7F7F7F"/>
                </a:solidFill>
                <a:latin typeface="メイリオ"/>
                <a:ea typeface="メイリオ"/>
                <a:cs typeface="メイリオ"/>
              </a:rPr>
              <a:t>出典｜LINEヤフー for Business 導入事例 明光義塾（2024年4月5日）。友だち数：page.line.me（2026-09-25実測）</a:t>
            </a:r>
          </a:p>
        </p:txBody>
      </p:sp>
      <p:sp>
        <p:nvSpPr>
          <p:cNvPr id="104" name="Rounded Rectangle 103"/>
          <p:cNvSpPr/>
          <p:nvPr/>
        </p:nvSpPr>
        <p:spPr>
          <a:xfrm>
            <a:off x="432000" y="5850000"/>
            <a:ext cx="9043200" cy="342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300" b="1">
                <a:solidFill>
                  <a:srgbClr val="FFFFFF"/>
                </a:solidFill>
                <a:latin typeface="メイリオ"/>
                <a:ea typeface="メイリオ"/>
                <a:cs typeface="メイリオ"/>
              </a:rPr>
              <a:t>大手でも、やっていることは「友だちになってもらい、比べている間をLINEで支える」こと。</a:t>
            </a:r>
          </a:p>
        </p:txBody>
      </p:sp>
      <p:sp>
        <p:nvSpPr>
          <p:cNvPr id="105" name="Rounded Rectangle 104"/>
          <p:cNvSpPr/>
          <p:nvPr/>
        </p:nvSpPr>
        <p:spPr>
          <a:xfrm>
            <a:off x="429768" y="1508760"/>
            <a:ext cx="2880360" cy="960120"/>
          </a:xfrm>
          <a:prstGeom prst="roundRect">
            <a:avLst>
              <a:gd name="adj" fmla="val 6000"/>
            </a:avLst>
          </a:prstGeom>
          <a:solidFill>
            <a:srgbClr val="F4F7FF"/>
          </a:solidFill>
          <a:ln w="9525">
            <a:solidFill>
              <a:srgbClr val="D9D9D9"/>
            </a:solidFill>
          </a:ln>
        </p:spPr>
        <p:txBody>
          <a:bodyPr wrap="square" lIns="73152" tIns="36576" rIns="73152" bIns="36576" rtlCol="0" anchor="ctr">
            <a:noAutofit/>
          </a:bodyPr>
          <a:lstStyle/>
          <a:p>
            <a:pPr algn="ctr">
              <a:lnSpc>
                <a:spcPct val="100000"/>
              </a:lnSpc>
              <a:buNone/>
            </a:pPr>
            <a:r>
              <a:rPr lang="ja-JP" altLang="en-US" sz="1000" b="1" dirty="0">
                <a:solidFill>
                  <a:srgbClr val="1F285A"/>
                </a:solidFill>
                <a:latin typeface="メイリオ" panose="020B0604030504040204" pitchFamily="50" charset="-128"/>
                <a:ea typeface="メイリオ" panose="020B0604030504040204" pitchFamily="50" charset="-128"/>
              </a:rPr>
              <a:t>友だち数</a:t>
            </a:r>
            <a:endParaRPr lang="ja-JP" altLang="en-US" sz="1200" dirty="0"/>
          </a:p>
          <a:p>
            <a:pPr algn="ctr">
              <a:lnSpc>
                <a:spcPct val="100000"/>
              </a:lnSpc>
              <a:buNone/>
            </a:pPr>
            <a:r>
              <a:rPr lang="ja-JP" altLang="en-US" sz="2000" b="1" dirty="0">
                <a:solidFill>
                  <a:srgbClr val="1F285A"/>
                </a:solidFill>
                <a:latin typeface="メイリオ" panose="020B0604030504040204" pitchFamily="50" charset="-128"/>
                <a:ea typeface="メイリオ" panose="020B0604030504040204" pitchFamily="50" charset="-128"/>
              </a:rPr>
              <a:t>30.8万人</a:t>
            </a:r>
            <a:endParaRPr lang="ja-JP" altLang="en-US" sz="1200" dirty="0"/>
          </a:p>
          <a:p>
            <a:pPr algn="ctr">
              <a:lnSpc>
                <a:spcPct val="100000"/>
              </a:lnSpc>
              <a:buNone/>
            </a:pPr>
            <a:r>
              <a:rPr lang="ja-JP" altLang="en-US" sz="850" b="0" dirty="0">
                <a:solidFill>
                  <a:srgbClr val="595959"/>
                </a:solidFill>
                <a:latin typeface="メイリオ" panose="020B0604030504040204" pitchFamily="50" charset="-128"/>
                <a:ea typeface="メイリオ" panose="020B0604030504040204" pitchFamily="50" charset="-128"/>
              </a:rPr>
              <a:t>2026年9月の実測</a:t>
            </a:r>
            <a:endParaRPr lang="ja-JP" altLang="en-US" sz="1200" dirty="0"/>
          </a:p>
        </p:txBody>
      </p:sp>
      <p:sp>
        <p:nvSpPr>
          <p:cNvPr id="106" name="Rounded Rectangle 105"/>
          <p:cNvSpPr/>
          <p:nvPr/>
        </p:nvSpPr>
        <p:spPr>
          <a:xfrm>
            <a:off x="3511296" y="1508760"/>
            <a:ext cx="2880360" cy="960120"/>
          </a:xfrm>
          <a:prstGeom prst="roundRect">
            <a:avLst>
              <a:gd name="adj" fmla="val 6000"/>
            </a:avLst>
          </a:prstGeom>
          <a:solidFill>
            <a:srgbClr val="F4F7FF"/>
          </a:solidFill>
          <a:ln w="9525">
            <a:solidFill>
              <a:srgbClr val="D9D9D9"/>
            </a:solidFill>
          </a:ln>
        </p:spPr>
        <p:txBody>
          <a:bodyPr wrap="square" lIns="73152" tIns="36576" rIns="73152" bIns="36576" rtlCol="0" anchor="ctr">
            <a:noAutofit/>
          </a:bodyPr>
          <a:lstStyle/>
          <a:p>
            <a:pPr algn="ctr">
              <a:lnSpc>
                <a:spcPct val="100000"/>
              </a:lnSpc>
              <a:buNone/>
            </a:pPr>
            <a:r>
              <a:rPr lang="ja-JP" altLang="en-US" sz="1000" b="1" dirty="0">
                <a:solidFill>
                  <a:srgbClr val="1F285A"/>
                </a:solidFill>
                <a:latin typeface="メイリオ" panose="020B0604030504040204" pitchFamily="50" charset="-128"/>
                <a:ea typeface="メイリオ" panose="020B0604030504040204" pitchFamily="50" charset="-128"/>
              </a:rPr>
              <a:t>スタンプ施策の約5か月</a:t>
            </a:r>
            <a:endParaRPr lang="ja-JP" altLang="en-US" sz="1200" dirty="0"/>
          </a:p>
          <a:p>
            <a:pPr algn="ctr">
              <a:lnSpc>
                <a:spcPct val="100000"/>
              </a:lnSpc>
              <a:buNone/>
            </a:pPr>
            <a:r>
              <a:rPr lang="ja-JP" altLang="en-US" sz="2000" b="1" dirty="0">
                <a:solidFill>
                  <a:srgbClr val="1F285A"/>
                </a:solidFill>
                <a:latin typeface="メイリオ" panose="020B0604030504040204" pitchFamily="50" charset="-128"/>
                <a:ea typeface="メイリオ" panose="020B0604030504040204" pitchFamily="50" charset="-128"/>
              </a:rPr>
              <a:t>約20万人増</a:t>
            </a:r>
            <a:endParaRPr lang="ja-JP" altLang="en-US" sz="1200" dirty="0"/>
          </a:p>
          <a:p>
            <a:pPr algn="ctr">
              <a:lnSpc>
                <a:spcPct val="100000"/>
              </a:lnSpc>
              <a:buNone/>
            </a:pPr>
            <a:r>
              <a:rPr lang="ja-JP" altLang="en-US" sz="850" b="0" dirty="0">
                <a:solidFill>
                  <a:srgbClr val="595959"/>
                </a:solidFill>
                <a:latin typeface="メイリオ" panose="020B0604030504040204" pitchFamily="50" charset="-128"/>
                <a:ea typeface="メイリオ" panose="020B0604030504040204" pitchFamily="50" charset="-128"/>
              </a:rPr>
              <a:t>うち約15万人は友だちからの広がり</a:t>
            </a:r>
            <a:endParaRPr lang="ja-JP" altLang="en-US" sz="1200" dirty="0"/>
          </a:p>
        </p:txBody>
      </p:sp>
      <p:sp>
        <p:nvSpPr>
          <p:cNvPr id="107" name="Rounded Rectangle 106"/>
          <p:cNvSpPr/>
          <p:nvPr/>
        </p:nvSpPr>
        <p:spPr>
          <a:xfrm>
            <a:off x="6592824" y="1508760"/>
            <a:ext cx="2880360" cy="960120"/>
          </a:xfrm>
          <a:prstGeom prst="roundRect">
            <a:avLst>
              <a:gd name="adj" fmla="val 6000"/>
            </a:avLst>
          </a:prstGeom>
          <a:solidFill>
            <a:srgbClr val="F4F7FF"/>
          </a:solidFill>
          <a:ln w="9525">
            <a:solidFill>
              <a:srgbClr val="D9D9D9"/>
            </a:solidFill>
          </a:ln>
        </p:spPr>
        <p:txBody>
          <a:bodyPr wrap="square" lIns="73152" tIns="36576" rIns="73152" bIns="36576" rtlCol="0" anchor="ctr">
            <a:noAutofit/>
          </a:bodyPr>
          <a:lstStyle/>
          <a:p>
            <a:pPr algn="ctr">
              <a:lnSpc>
                <a:spcPct val="100000"/>
              </a:lnSpc>
              <a:buNone/>
            </a:pPr>
            <a:r>
              <a:rPr lang="ja-JP" altLang="en-US" sz="1000" b="1" dirty="0">
                <a:solidFill>
                  <a:srgbClr val="1F285A"/>
                </a:solidFill>
                <a:latin typeface="メイリオ" panose="020B0604030504040204" pitchFamily="50" charset="-128"/>
                <a:ea typeface="メイリオ" panose="020B0604030504040204" pitchFamily="50" charset="-128"/>
              </a:rPr>
              <a:t>資料請求（2023年6〜7月）</a:t>
            </a:r>
            <a:endParaRPr lang="ja-JP" altLang="en-US" sz="1200" dirty="0"/>
          </a:p>
          <a:p>
            <a:pPr algn="ctr">
              <a:lnSpc>
                <a:spcPct val="100000"/>
              </a:lnSpc>
              <a:buNone/>
            </a:pPr>
            <a:r>
              <a:rPr lang="ja-JP" altLang="en-US" sz="2000" b="1" dirty="0">
                <a:solidFill>
                  <a:srgbClr val="1F285A"/>
                </a:solidFill>
                <a:latin typeface="メイリオ" panose="020B0604030504040204" pitchFamily="50" charset="-128"/>
                <a:ea typeface="メイリオ" panose="020B0604030504040204" pitchFamily="50" charset="-128"/>
              </a:rPr>
              <a:t>前年比 約120%</a:t>
            </a:r>
            <a:endParaRPr lang="ja-JP" altLang="en-US" sz="1200" dirty="0"/>
          </a:p>
          <a:p>
            <a:pPr algn="ctr">
              <a:lnSpc>
                <a:spcPct val="100000"/>
              </a:lnSpc>
              <a:buNone/>
            </a:pPr>
            <a:r>
              <a:rPr lang="ja-JP" altLang="en-US" sz="850" b="0" dirty="0">
                <a:solidFill>
                  <a:srgbClr val="595959"/>
                </a:solidFill>
                <a:latin typeface="メイリオ" panose="020B0604030504040204" pitchFamily="50" charset="-128"/>
                <a:ea typeface="メイリオ" panose="020B0604030504040204" pitchFamily="50" charset="-128"/>
              </a:rPr>
              <a:t>スタンプ施策の後半2か月</a:t>
            </a:r>
            <a:endParaRPr lang="ja-JP" altLang="en-US" sz="1200" dirty="0"/>
          </a:p>
        </p:txBody>
      </p:sp>
      <p:sp>
        <p:nvSpPr>
          <p:cNvPr id="108" name="Rectangle 107"/>
          <p:cNvSpPr/>
          <p:nvPr/>
        </p:nvSpPr>
        <p:spPr>
          <a:xfrm>
            <a:off x="429768" y="2606040"/>
            <a:ext cx="9043416" cy="640080"/>
          </a:xfrm>
          <a:prstGeom prst="rect">
            <a:avLst/>
          </a:prstGeom>
          <a:solidFill>
            <a:srgbClr val="FFFFFF"/>
          </a:solidFill>
          <a:ln w="9525">
            <a:solidFill>
              <a:srgbClr val="D9D9D9"/>
            </a:solidFill>
          </a:ln>
        </p:spPr>
        <p:txBody>
          <a:bodyPr wrap="square" lIns="128016" tIns="45720" rIns="128016" bIns="45720" rtlCol="0" anchor="ctr">
            <a:noAutofit/>
          </a:bodyPr>
          <a:lstStyle/>
          <a:p>
            <a:pPr algn="l">
              <a:lnSpc>
                <a:spcPct val="105000"/>
              </a:lnSpc>
              <a:buNone/>
            </a:pPr>
            <a:r>
              <a:rPr lang="ja-JP" altLang="en-US" sz="1000" b="0" dirty="0">
                <a:solidFill>
                  <a:srgbClr val="333333"/>
                </a:solidFill>
                <a:latin typeface="メイリオ" panose="020B0604030504040204" pitchFamily="50" charset="-128"/>
                <a:ea typeface="メイリオ" panose="020B0604030504040204" pitchFamily="50" charset="-128"/>
              </a:rPr>
              <a:t>「学習塾は他塾と念入りに比較検討されるお客さまが多く、</a:t>
            </a:r>
            <a:br>
              <a:rPr lang="ja-JP" altLang="en-US" sz="1000" b="0" dirty="0">
                <a:solidFill>
                  <a:srgbClr val="333333"/>
                </a:solidFill>
                <a:latin typeface="メイリオ" panose="020B0604030504040204" pitchFamily="50" charset="-128"/>
                <a:ea typeface="メイリオ" panose="020B0604030504040204" pitchFamily="50" charset="-128"/>
              </a:rPr>
            </a:br>
            <a:r>
              <a:rPr lang="ja-JP" altLang="en-US" sz="1000" b="0" dirty="0">
                <a:solidFill>
                  <a:srgbClr val="333333"/>
                </a:solidFill>
                <a:latin typeface="メイリオ" panose="020B0604030504040204" pitchFamily="50" charset="-128"/>
                <a:ea typeface="メイリオ" panose="020B0604030504040204" pitchFamily="50" charset="-128"/>
              </a:rPr>
              <a:t>Webサイトを訪れてすぐに資料請求や体験授業の申し込みなどのCV（コンバージョン）につながるケースはそこまで多くありません」</a:t>
            </a:r>
            <a:endParaRPr lang="ja-JP" altLang="en-US" sz="1000" dirty="0"/>
          </a:p>
          <a:p>
            <a:pPr algn="l">
              <a:lnSpc>
                <a:spcPct val="105000"/>
              </a:lnSpc>
              <a:buNone/>
            </a:pPr>
            <a:r>
              <a:rPr lang="ja-JP" altLang="en-US" sz="900" b="0" dirty="0">
                <a:solidFill>
                  <a:srgbClr val="595959"/>
                </a:solidFill>
                <a:latin typeface="メイリオ" panose="020B0604030504040204" pitchFamily="50" charset="-128"/>
                <a:ea typeface="メイリオ" panose="020B0604030504040204" pitchFamily="50" charset="-128"/>
              </a:rPr>
              <a:t>― 明光ネットワークジャパン ご担当者（公式事例より）</a:t>
            </a:r>
            <a:endParaRPr lang="ja-JP" altLang="en-US" sz="1000" dirty="0"/>
          </a:p>
        </p:txBody>
      </p:sp>
      <p:sp>
        <p:nvSpPr>
          <p:cNvPr id="109" name="Rectangle 108"/>
          <p:cNvSpPr/>
          <p:nvPr/>
        </p:nvSpPr>
        <p:spPr>
          <a:xfrm>
            <a:off x="429768" y="3383280"/>
            <a:ext cx="9043416" cy="274320"/>
          </a:xfrm>
          <a:prstGeom prst="rect">
            <a:avLst/>
          </a:prstGeom>
          <a:noFill/>
          <a:ln>
            <a:noFill/>
          </a:ln>
        </p:spPr>
        <p:txBody>
          <a:bodyPr wrap="square" lIns="0" tIns="0" rIns="0" bIns="0" rtlCol="0" anchor="ctr">
            <a:noAutofit/>
          </a:bodyPr>
          <a:lstStyle/>
          <a:p>
            <a:pPr algn="l">
              <a:buNone/>
            </a:pPr>
            <a:r>
              <a:rPr lang="ja-JP" altLang="en-US" sz="1300" b="1" dirty="0">
                <a:solidFill>
                  <a:srgbClr val="1F285A"/>
                </a:solidFill>
                <a:latin typeface="メイリオ" panose="020B0604030504040204" pitchFamily="50" charset="-128"/>
                <a:ea typeface="メイリオ" panose="020B0604030504040204" pitchFamily="50" charset="-128"/>
              </a:rPr>
              <a:t>公式事例（2023年）の施策の流れ</a:t>
            </a:r>
            <a:endParaRPr lang="ja-JP" altLang="en-US" sz="1300" dirty="0"/>
          </a:p>
        </p:txBody>
      </p:sp>
      <p:sp>
        <p:nvSpPr>
          <p:cNvPr id="110" name="Rectangle 109"/>
          <p:cNvSpPr/>
          <p:nvPr/>
        </p:nvSpPr>
        <p:spPr>
          <a:xfrm>
            <a:off x="429768" y="3950208"/>
            <a:ext cx="2178558" cy="822960"/>
          </a:xfrm>
          <a:prstGeom prst="rect">
            <a:avLst/>
          </a:prstGeom>
          <a:solidFill>
            <a:srgbClr val="FFFFFF"/>
          </a:solidFill>
          <a:ln w="9525">
            <a:solidFill>
              <a:srgbClr val="D9D9D9"/>
            </a:solidFill>
          </a:ln>
        </p:spPr>
        <p:txBody>
          <a:bodyPr wrap="square" lIns="36576" tIns="36576" rIns="36576" bIns="36576" rtlCol="0" anchor="ctr">
            <a:noAutofit/>
          </a:bodyPr>
          <a:lstStyle/>
          <a:p>
            <a:pPr algn="ctr">
              <a:lnSpc>
                <a:spcPct val="105000"/>
              </a:lnSpc>
              <a:buNone/>
            </a:pPr>
            <a:r>
              <a:rPr lang="ja-JP" altLang="en-US" sz="1150" b="0" dirty="0">
                <a:solidFill>
                  <a:srgbClr val="333333"/>
                </a:solidFill>
                <a:latin typeface="メイリオ" panose="020B0604030504040204" pitchFamily="50" charset="-128"/>
                <a:ea typeface="メイリオ" panose="020B0604030504040204" pitchFamily="50" charset="-128"/>
              </a:rPr>
              <a:t>初回訪問時・離脱時の</a:t>
            </a:r>
            <a:endParaRPr lang="ja-JP" altLang="en-US" sz="1150" dirty="0"/>
          </a:p>
          <a:p>
            <a:pPr algn="ctr">
              <a:lnSpc>
                <a:spcPct val="105000"/>
              </a:lnSpc>
              <a:buNone/>
            </a:pPr>
            <a:r>
              <a:rPr lang="ja-JP" altLang="en-US" sz="1150" b="0" dirty="0">
                <a:solidFill>
                  <a:srgbClr val="333333"/>
                </a:solidFill>
                <a:latin typeface="メイリオ" panose="020B0604030504040204" pitchFamily="50" charset="-128"/>
                <a:ea typeface="メイリオ" panose="020B0604030504040204" pitchFamily="50" charset="-128"/>
              </a:rPr>
              <a:t>ポップアップから</a:t>
            </a:r>
            <a:endParaRPr lang="ja-JP" altLang="en-US" sz="1150" dirty="0"/>
          </a:p>
          <a:p>
            <a:pPr algn="ctr">
              <a:lnSpc>
                <a:spcPct val="105000"/>
              </a:lnSpc>
              <a:buNone/>
            </a:pPr>
            <a:r>
              <a:rPr lang="ja-JP" altLang="en-US" sz="1150" b="0" dirty="0">
                <a:solidFill>
                  <a:srgbClr val="333333"/>
                </a:solidFill>
                <a:latin typeface="メイリオ" panose="020B0604030504040204" pitchFamily="50" charset="-128"/>
                <a:ea typeface="メイリオ" panose="020B0604030504040204" pitchFamily="50" charset="-128"/>
              </a:rPr>
              <a:t>友だち追加</a:t>
            </a:r>
            <a:endParaRPr lang="ja-JP" altLang="en-US" sz="1150" dirty="0"/>
          </a:p>
        </p:txBody>
      </p:sp>
      <p:sp>
        <p:nvSpPr>
          <p:cNvPr id="111" name="Rounded Rectangle 110"/>
          <p:cNvSpPr/>
          <p:nvPr/>
        </p:nvSpPr>
        <p:spPr>
          <a:xfrm>
            <a:off x="429768" y="3694176"/>
            <a:ext cx="2178558" cy="256032"/>
          </a:xfrm>
          <a:prstGeom prst="roundRect">
            <a:avLst>
              <a:gd name="adj" fmla="val 20000"/>
            </a:avLst>
          </a:prstGeom>
          <a:solidFill>
            <a:srgbClr val="1F285A"/>
          </a:solidFill>
          <a:ln>
            <a:noFill/>
          </a:ln>
        </p:spPr>
        <p:txBody>
          <a:bodyPr wrap="square" lIns="36576" tIns="0" rIns="36576" bIns="0" rtlCol="0" anchor="ctr">
            <a:noAutofit/>
          </a:bodyPr>
          <a:lstStyle/>
          <a:p>
            <a:pPr algn="ctr">
              <a:buNone/>
            </a:pPr>
            <a:r>
              <a:rPr lang="ja-JP" altLang="en-US" sz="1100" b="1" dirty="0">
                <a:solidFill>
                  <a:srgbClr val="FFFFFF"/>
                </a:solidFill>
                <a:latin typeface="メイリオ" panose="020B0604030504040204" pitchFamily="50" charset="-128"/>
                <a:ea typeface="メイリオ" panose="020B0604030504040204" pitchFamily="50" charset="-128"/>
              </a:rPr>
              <a:t>1　サイトで</a:t>
            </a:r>
            <a:endParaRPr lang="ja-JP" altLang="en-US" sz="1100" dirty="0"/>
          </a:p>
        </p:txBody>
      </p:sp>
      <p:sp>
        <p:nvSpPr>
          <p:cNvPr id="112" name="Rectangle 111"/>
          <p:cNvSpPr/>
          <p:nvPr/>
        </p:nvSpPr>
        <p:spPr>
          <a:xfrm>
            <a:off x="2718054" y="3950208"/>
            <a:ext cx="2178558" cy="822960"/>
          </a:xfrm>
          <a:prstGeom prst="rect">
            <a:avLst/>
          </a:prstGeom>
          <a:solidFill>
            <a:srgbClr val="FFFFFF"/>
          </a:solidFill>
          <a:ln w="9525">
            <a:solidFill>
              <a:srgbClr val="D9D9D9"/>
            </a:solidFill>
          </a:ln>
        </p:spPr>
        <p:txBody>
          <a:bodyPr wrap="square" lIns="36576" tIns="36576" rIns="36576" bIns="36576" rtlCol="0" anchor="ctr">
            <a:noAutofit/>
          </a:bodyPr>
          <a:lstStyle/>
          <a:p>
            <a:pPr algn="ctr">
              <a:lnSpc>
                <a:spcPct val="105000"/>
              </a:lnSpc>
              <a:buNone/>
            </a:pPr>
            <a:r>
              <a:rPr lang="ja-JP" altLang="en-US" sz="1150" b="0" dirty="0">
                <a:solidFill>
                  <a:srgbClr val="333333"/>
                </a:solidFill>
                <a:latin typeface="メイリオ" panose="020B0604030504040204" pitchFamily="50" charset="-128"/>
                <a:ea typeface="メイリオ" panose="020B0604030504040204" pitchFamily="50" charset="-128"/>
              </a:rPr>
              <a:t>チャットと配信で</a:t>
            </a:r>
            <a:endParaRPr lang="ja-JP" altLang="en-US" sz="1150" dirty="0"/>
          </a:p>
          <a:p>
            <a:pPr algn="ctr">
              <a:lnSpc>
                <a:spcPct val="105000"/>
              </a:lnSpc>
              <a:buNone/>
            </a:pPr>
            <a:r>
              <a:rPr lang="ja-JP" altLang="en-US" sz="1150" b="0" dirty="0">
                <a:solidFill>
                  <a:srgbClr val="333333"/>
                </a:solidFill>
                <a:latin typeface="メイリオ" panose="020B0604030504040204" pitchFamily="50" charset="-128"/>
                <a:ea typeface="メイリオ" panose="020B0604030504040204" pitchFamily="50" charset="-128"/>
              </a:rPr>
              <a:t>良さ・他塾との違いを</a:t>
            </a:r>
            <a:endParaRPr lang="ja-JP" altLang="en-US" sz="1150" dirty="0"/>
          </a:p>
          <a:p>
            <a:pPr algn="ctr">
              <a:lnSpc>
                <a:spcPct val="105000"/>
              </a:lnSpc>
              <a:buNone/>
            </a:pPr>
            <a:r>
              <a:rPr lang="ja-JP" altLang="en-US" sz="1150" b="0" dirty="0">
                <a:solidFill>
                  <a:srgbClr val="333333"/>
                </a:solidFill>
                <a:latin typeface="メイリオ" panose="020B0604030504040204" pitchFamily="50" charset="-128"/>
                <a:ea typeface="メイリオ" panose="020B0604030504040204" pitchFamily="50" charset="-128"/>
              </a:rPr>
              <a:t>じっくり伝える</a:t>
            </a:r>
            <a:endParaRPr lang="ja-JP" altLang="en-US" sz="1150" dirty="0"/>
          </a:p>
        </p:txBody>
      </p:sp>
      <p:sp>
        <p:nvSpPr>
          <p:cNvPr id="113" name="Rounded Rectangle 112"/>
          <p:cNvSpPr/>
          <p:nvPr/>
        </p:nvSpPr>
        <p:spPr>
          <a:xfrm>
            <a:off x="2718054" y="3694176"/>
            <a:ext cx="2178558" cy="256032"/>
          </a:xfrm>
          <a:prstGeom prst="roundRect">
            <a:avLst>
              <a:gd name="adj" fmla="val 20000"/>
            </a:avLst>
          </a:prstGeom>
          <a:solidFill>
            <a:srgbClr val="1F285A"/>
          </a:solidFill>
          <a:ln>
            <a:noFill/>
          </a:ln>
        </p:spPr>
        <p:txBody>
          <a:bodyPr wrap="square" lIns="36576" tIns="0" rIns="36576" bIns="0" rtlCol="0" anchor="ctr">
            <a:noAutofit/>
          </a:bodyPr>
          <a:lstStyle/>
          <a:p>
            <a:pPr algn="ctr">
              <a:buNone/>
            </a:pPr>
            <a:r>
              <a:rPr lang="ja-JP" altLang="en-US" sz="1100" b="1" dirty="0">
                <a:solidFill>
                  <a:srgbClr val="FFFFFF"/>
                </a:solidFill>
                <a:latin typeface="メイリオ" panose="020B0604030504040204" pitchFamily="50" charset="-128"/>
                <a:ea typeface="メイリオ" panose="020B0604030504040204" pitchFamily="50" charset="-128"/>
              </a:rPr>
              <a:t>2　追加のあと</a:t>
            </a:r>
            <a:endParaRPr lang="ja-JP" altLang="en-US" sz="1100" dirty="0"/>
          </a:p>
        </p:txBody>
      </p:sp>
      <p:sp>
        <p:nvSpPr>
          <p:cNvPr id="114" name="Rectangle 113"/>
          <p:cNvSpPr/>
          <p:nvPr/>
        </p:nvSpPr>
        <p:spPr>
          <a:xfrm>
            <a:off x="5006340" y="3950208"/>
            <a:ext cx="2178558" cy="822960"/>
          </a:xfrm>
          <a:prstGeom prst="rect">
            <a:avLst/>
          </a:prstGeom>
          <a:solidFill>
            <a:srgbClr val="FFFFFF"/>
          </a:solidFill>
          <a:ln w="9525">
            <a:solidFill>
              <a:srgbClr val="D9D9D9"/>
            </a:solidFill>
          </a:ln>
        </p:spPr>
        <p:txBody>
          <a:bodyPr wrap="square" lIns="36576" tIns="36576" rIns="36576" bIns="36576" rtlCol="0" anchor="ctr">
            <a:noAutofit/>
          </a:bodyPr>
          <a:lstStyle/>
          <a:p>
            <a:pPr algn="ctr">
              <a:lnSpc>
                <a:spcPct val="105000"/>
              </a:lnSpc>
              <a:buNone/>
            </a:pPr>
            <a:r>
              <a:rPr lang="ja-JP" altLang="en-US" sz="1150" b="0" dirty="0">
                <a:solidFill>
                  <a:srgbClr val="333333"/>
                </a:solidFill>
                <a:latin typeface="メイリオ" panose="020B0604030504040204" pitchFamily="50" charset="-128"/>
                <a:ea typeface="メイリオ" panose="020B0604030504040204" pitchFamily="50" charset="-128"/>
              </a:rPr>
              <a:t>タップで答えるアンケートに</a:t>
            </a:r>
            <a:endParaRPr lang="ja-JP" altLang="en-US" sz="1150" dirty="0"/>
          </a:p>
          <a:p>
            <a:pPr algn="ctr">
              <a:lnSpc>
                <a:spcPct val="105000"/>
              </a:lnSpc>
              <a:buNone/>
            </a:pPr>
            <a:r>
              <a:rPr lang="ja-JP" altLang="en-US" sz="1150" b="0" dirty="0">
                <a:solidFill>
                  <a:srgbClr val="333333"/>
                </a:solidFill>
                <a:latin typeface="メイリオ" panose="020B0604030504040204" pitchFamily="50" charset="-128"/>
                <a:ea typeface="メイリオ" panose="020B0604030504040204" pitchFamily="50" charset="-128"/>
              </a:rPr>
              <a:t>答えるとスタンプを配布</a:t>
            </a:r>
            <a:endParaRPr lang="ja-JP" altLang="en-US" sz="1150" dirty="0"/>
          </a:p>
          <a:p>
            <a:pPr algn="ctr">
              <a:lnSpc>
                <a:spcPct val="105000"/>
              </a:lnSpc>
              <a:buNone/>
            </a:pPr>
            <a:r>
              <a:rPr lang="ja-JP" altLang="en-US" sz="1150" b="0" dirty="0">
                <a:solidFill>
                  <a:srgbClr val="333333"/>
                </a:solidFill>
                <a:latin typeface="メイリオ" panose="020B0604030504040204" pitchFamily="50" charset="-128"/>
                <a:ea typeface="メイリオ" panose="020B0604030504040204" pitchFamily="50" charset="-128"/>
              </a:rPr>
              <a:t>→ 友だちから広がる</a:t>
            </a:r>
            <a:endParaRPr lang="ja-JP" altLang="en-US" sz="1150" dirty="0"/>
          </a:p>
        </p:txBody>
      </p:sp>
      <p:sp>
        <p:nvSpPr>
          <p:cNvPr id="115" name="Rounded Rectangle 114"/>
          <p:cNvSpPr/>
          <p:nvPr/>
        </p:nvSpPr>
        <p:spPr>
          <a:xfrm>
            <a:off x="5006340" y="3694176"/>
            <a:ext cx="2178558" cy="256032"/>
          </a:xfrm>
          <a:prstGeom prst="roundRect">
            <a:avLst>
              <a:gd name="adj" fmla="val 20000"/>
            </a:avLst>
          </a:prstGeom>
          <a:solidFill>
            <a:srgbClr val="1F285A"/>
          </a:solidFill>
          <a:ln>
            <a:noFill/>
          </a:ln>
        </p:spPr>
        <p:txBody>
          <a:bodyPr wrap="square" lIns="36576" tIns="0" rIns="36576" bIns="0" rtlCol="0" anchor="ctr">
            <a:noAutofit/>
          </a:bodyPr>
          <a:lstStyle/>
          <a:p>
            <a:pPr algn="ctr">
              <a:buNone/>
            </a:pPr>
            <a:r>
              <a:rPr lang="ja-JP" altLang="en-US" sz="1100" b="1" dirty="0">
                <a:solidFill>
                  <a:srgbClr val="FFFFFF"/>
                </a:solidFill>
                <a:latin typeface="メイリオ" panose="020B0604030504040204" pitchFamily="50" charset="-128"/>
                <a:ea typeface="メイリオ" panose="020B0604030504040204" pitchFamily="50" charset="-128"/>
              </a:rPr>
              <a:t>3　スタンプで</a:t>
            </a:r>
            <a:endParaRPr lang="ja-JP" altLang="en-US" sz="1100" dirty="0"/>
          </a:p>
        </p:txBody>
      </p:sp>
      <p:sp>
        <p:nvSpPr>
          <p:cNvPr id="116" name="Rectangle 115"/>
          <p:cNvSpPr/>
          <p:nvPr/>
        </p:nvSpPr>
        <p:spPr>
          <a:xfrm>
            <a:off x="7294626" y="3950208"/>
            <a:ext cx="2178558" cy="822960"/>
          </a:xfrm>
          <a:prstGeom prst="rect">
            <a:avLst/>
          </a:prstGeom>
          <a:solidFill>
            <a:srgbClr val="FFFFFF"/>
          </a:solidFill>
          <a:ln w="9525">
            <a:solidFill>
              <a:srgbClr val="D9D9D9"/>
            </a:solidFill>
          </a:ln>
        </p:spPr>
        <p:txBody>
          <a:bodyPr wrap="square" lIns="36576" tIns="36576" rIns="36576" bIns="36576" rtlCol="0" anchor="ctr">
            <a:noAutofit/>
          </a:bodyPr>
          <a:lstStyle/>
          <a:p>
            <a:pPr algn="ctr">
              <a:lnSpc>
                <a:spcPct val="105000"/>
              </a:lnSpc>
              <a:buNone/>
            </a:pPr>
            <a:r>
              <a:rPr lang="ja-JP" altLang="en-US" sz="1150" b="0" dirty="0">
                <a:solidFill>
                  <a:srgbClr val="333333"/>
                </a:solidFill>
                <a:latin typeface="メイリオ" panose="020B0604030504040204" pitchFamily="50" charset="-128"/>
                <a:ea typeface="メイリオ" panose="020B0604030504040204" pitchFamily="50" charset="-128"/>
              </a:rPr>
              <a:t>回答をもとに、</a:t>
            </a:r>
            <a:endParaRPr lang="ja-JP" altLang="en-US" sz="1150" dirty="0"/>
          </a:p>
          <a:p>
            <a:pPr algn="ctr">
              <a:lnSpc>
                <a:spcPct val="105000"/>
              </a:lnSpc>
              <a:buNone/>
            </a:pPr>
            <a:r>
              <a:rPr lang="ja-JP" altLang="en-US" sz="1150" b="0" dirty="0">
                <a:solidFill>
                  <a:srgbClr val="333333"/>
                </a:solidFill>
                <a:latin typeface="メイリオ" panose="020B0604030504040204" pitchFamily="50" charset="-128"/>
                <a:ea typeface="メイリオ" panose="020B0604030504040204" pitchFamily="50" charset="-128"/>
              </a:rPr>
              <a:t>まだ塾に通っていない</a:t>
            </a:r>
            <a:endParaRPr lang="ja-JP" altLang="en-US" sz="1150" dirty="0"/>
          </a:p>
          <a:p>
            <a:pPr algn="ctr">
              <a:lnSpc>
                <a:spcPct val="105000"/>
              </a:lnSpc>
              <a:buNone/>
            </a:pPr>
            <a:r>
              <a:rPr lang="ja-JP" altLang="en-US" sz="1150" b="0" dirty="0">
                <a:solidFill>
                  <a:srgbClr val="333333"/>
                </a:solidFill>
                <a:latin typeface="メイリオ" panose="020B0604030504040204" pitchFamily="50" charset="-128"/>
                <a:ea typeface="メイリオ" panose="020B0604030504040204" pitchFamily="50" charset="-128"/>
              </a:rPr>
              <a:t>お子さま・保護者に絞る</a:t>
            </a:r>
            <a:endParaRPr lang="ja-JP" altLang="en-US" sz="1150" dirty="0"/>
          </a:p>
        </p:txBody>
      </p:sp>
      <p:sp>
        <p:nvSpPr>
          <p:cNvPr id="117" name="Rounded Rectangle 116"/>
          <p:cNvSpPr/>
          <p:nvPr/>
        </p:nvSpPr>
        <p:spPr>
          <a:xfrm>
            <a:off x="7294626" y="3694176"/>
            <a:ext cx="2178558" cy="256032"/>
          </a:xfrm>
          <a:prstGeom prst="roundRect">
            <a:avLst>
              <a:gd name="adj" fmla="val 20000"/>
            </a:avLst>
          </a:prstGeom>
          <a:solidFill>
            <a:srgbClr val="1F285A"/>
          </a:solidFill>
          <a:ln>
            <a:noFill/>
          </a:ln>
        </p:spPr>
        <p:txBody>
          <a:bodyPr wrap="square" lIns="36576" tIns="0" rIns="36576" bIns="0" rtlCol="0" anchor="ctr">
            <a:noAutofit/>
          </a:bodyPr>
          <a:lstStyle/>
          <a:p>
            <a:pPr algn="ctr">
              <a:buNone/>
            </a:pPr>
            <a:r>
              <a:rPr lang="ja-JP" altLang="en-US" sz="1100" b="1" dirty="0">
                <a:solidFill>
                  <a:srgbClr val="FFFFFF"/>
                </a:solidFill>
                <a:latin typeface="メイリオ" panose="020B0604030504040204" pitchFamily="50" charset="-128"/>
                <a:ea typeface="メイリオ" panose="020B0604030504040204" pitchFamily="50" charset="-128"/>
              </a:rPr>
              <a:t>4　配信で</a:t>
            </a:r>
            <a:endParaRPr lang="ja-JP" altLang="en-US" sz="1100" dirty="0"/>
          </a:p>
        </p:txBody>
      </p:sp>
      <p:sp>
        <p:nvSpPr>
          <p:cNvPr id="118" name="Rectangle 117"/>
          <p:cNvSpPr/>
          <p:nvPr/>
        </p:nvSpPr>
        <p:spPr>
          <a:xfrm>
            <a:off x="429768" y="4892040"/>
            <a:ext cx="9043416" cy="457200"/>
          </a:xfrm>
          <a:prstGeom prst="rect">
            <a:avLst/>
          </a:prstGeom>
          <a:noFill/>
          <a:ln>
            <a:noFill/>
          </a:ln>
        </p:spPr>
        <p:txBody>
          <a:bodyPr wrap="square" lIns="0" tIns="0" rIns="0" bIns="0" rtlCol="0" anchor="ctr">
            <a:noAutofit/>
          </a:bodyPr>
          <a:lstStyle/>
          <a:p>
            <a:pPr algn="l">
              <a:lnSpc>
                <a:spcPct val="100000"/>
              </a:lnSpc>
              <a:buNone/>
            </a:pPr>
            <a:r>
              <a:rPr lang="ja-JP" altLang="en-US" sz="900" b="0" dirty="0">
                <a:solidFill>
                  <a:srgbClr val="595959"/>
                </a:solidFill>
                <a:latin typeface="メイリオ" panose="020B0604030504040204" pitchFamily="50" charset="-128"/>
                <a:ea typeface="メイリオ" panose="020B0604030504040204" pitchFamily="50" charset="-128"/>
              </a:rPr>
              <a:t>※ スタンプの広がりで友だちになり、アンケートに答えていない方には、後日クイズ形式の配信で回答を促し、55%が反応。</a:t>
            </a:r>
            <a:endParaRPr lang="ja-JP" altLang="en-US" sz="900" dirty="0"/>
          </a:p>
          <a:p>
            <a:pPr algn="l">
              <a:lnSpc>
                <a:spcPct val="100000"/>
              </a:lnSpc>
              <a:buNone/>
            </a:pPr>
            <a:r>
              <a:rPr lang="ja-JP" altLang="en-US" sz="900" b="0" dirty="0">
                <a:solidFill>
                  <a:srgbClr val="595959"/>
                </a:solidFill>
                <a:latin typeface="メイリオ" panose="020B0604030504040204" pitchFamily="50" charset="-128"/>
                <a:ea typeface="メイリオ" panose="020B0604030504040204" pitchFamily="50" charset="-128"/>
              </a:rPr>
              <a:t>※ 友だちが増えても、ブロック率は施策前とほぼ同じ。友だち集めにはLINE広告（友だち追加）も使用。チャットの接客は「ジールス」（株式会社Zeals）。</a:t>
            </a:r>
            <a:endParaRPr lang="ja-JP" altLang="en-US" sz="900" dirty="0"/>
          </a:p>
        </p:txBody>
      </p:sp>
    </p:spTree>
    <p:extLst>
      <p:ext uri="{BB962C8B-B14F-4D97-AF65-F5344CB8AC3E}">
        <p14:creationId xmlns:p14="http://schemas.microsoft.com/office/powerpoint/2010/main" val="18647475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73B14C-0AEA-B93E-0808-EE37D50F60C4}"/>
            </a:ext>
          </a:extLst>
        </p:cNvPr>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明光義塾の実際の画面</a:t>
            </a:r>
          </a:p>
        </p:txBody>
      </p:sp>
      <p:sp>
        <p:nvSpPr>
          <p:cNvPr id="3" name="TextBox 2"/>
          <p:cNvSpPr txBox="1"/>
          <p:nvPr/>
        </p:nvSpPr>
        <p:spPr>
          <a:xfrm>
            <a:off x="432000" y="630000"/>
            <a:ext cx="9036000" cy="720000"/>
          </a:xfrm>
          <a:prstGeom prst="rect">
            <a:avLst/>
          </a:prstGeom>
          <a:noFill/>
        </p:spPr>
        <p:txBody>
          <a:bodyPr wrap="square" lIns="0" tIns="21600" rIns="0" bIns="21600" anchor="ctr">
            <a:spAutoFit/>
          </a:bodyPr>
          <a:lstStyle/>
          <a:p>
            <a:pPr algn="l">
              <a:lnSpc>
                <a:spcPct val="128000"/>
              </a:lnSpc>
            </a:pPr>
            <a:r>
              <a:rPr sz="1250" dirty="0" err="1">
                <a:solidFill>
                  <a:srgbClr val="333333"/>
                </a:solidFill>
                <a:latin typeface="メイリオ"/>
                <a:ea typeface="メイリオ"/>
                <a:cs typeface="メイリオ"/>
              </a:rPr>
              <a:t>友だち追加の直後に、30秒の相性チェックと「このままLINEで無料体験の予約」を案内しています。</a:t>
            </a:r>
          </a:p>
          <a:p>
            <a:pPr algn="l">
              <a:lnSpc>
                <a:spcPct val="128000"/>
              </a:lnSpc>
            </a:pPr>
            <a:r>
              <a:rPr sz="1250" dirty="0" err="1">
                <a:solidFill>
                  <a:srgbClr val="333333"/>
                </a:solidFill>
                <a:latin typeface="メイリオ"/>
                <a:ea typeface="メイリオ"/>
                <a:cs typeface="メイリオ"/>
              </a:rPr>
              <a:t>リッチメニューの一番大きい枠は「授業料シミュレーション」です。</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900">
                <a:solidFill>
                  <a:srgbClr val="7F7F7F"/>
                </a:solidFill>
                <a:latin typeface="メイリオ"/>
                <a:ea typeface="メイリオ"/>
                <a:cs typeface="メイリオ"/>
              </a:rPr>
              <a:t>画面：明光義塾 LINE公式アカウント（2026-10-19 弊社で友だち追加して確認）</a:t>
            </a:r>
          </a:p>
        </p:txBody>
      </p:sp>
      <p:sp>
        <p:nvSpPr>
          <p:cNvPr id="68" name="Rounded Rectangle 67"/>
          <p:cNvSpPr/>
          <p:nvPr/>
        </p:nvSpPr>
        <p:spPr>
          <a:xfrm>
            <a:off x="429768" y="1481328"/>
            <a:ext cx="2743200" cy="274320"/>
          </a:xfrm>
          <a:prstGeom prst="roundRect">
            <a:avLst>
              <a:gd name="adj" fmla="val 20000"/>
            </a:avLst>
          </a:prstGeom>
          <a:solidFill>
            <a:srgbClr val="1F285A"/>
          </a:solidFill>
          <a:ln>
            <a:noFill/>
          </a:ln>
        </p:spPr>
        <p:txBody>
          <a:bodyPr wrap="square" lIns="36576" tIns="0" rIns="36576" bIns="0" rtlCol="0" anchor="ctr">
            <a:noAutofit/>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rPr>
              <a:t>1　あいさつ＋相性チェック</a:t>
            </a:r>
            <a:endParaRPr lang="ja-JP" altLang="en-US" sz="1200" dirty="0"/>
          </a:p>
        </p:txBody>
      </p:sp>
      <p:pic>
        <p:nvPicPr>
          <p:cNvPr id="69" name="明光義塾_あいさつ＋相性チェック"/>
          <p:cNvPicPr>
            <a:picLocks noChangeAspect="1"/>
          </p:cNvPicPr>
          <p:nvPr/>
        </p:nvPicPr>
        <p:blipFill>
          <a:blip r:embed="rId2"/>
          <a:stretch>
            <a:fillRect/>
          </a:stretch>
        </p:blipFill>
        <p:spPr>
          <a:xfrm>
            <a:off x="935964" y="1847088"/>
            <a:ext cx="1730806" cy="3749039"/>
          </a:xfrm>
          <a:prstGeom prst="rect">
            <a:avLst/>
          </a:prstGeom>
          <a:ln w="9525">
            <a:solidFill>
              <a:srgbClr val="C6CADD"/>
            </a:solidFill>
          </a:ln>
        </p:spPr>
      </p:pic>
      <p:sp>
        <p:nvSpPr>
          <p:cNvPr id="70" name="Rectangle 69"/>
          <p:cNvSpPr/>
          <p:nvPr/>
        </p:nvSpPr>
        <p:spPr>
          <a:xfrm>
            <a:off x="429768" y="5669280"/>
            <a:ext cx="2743200" cy="457200"/>
          </a:xfrm>
          <a:prstGeom prst="rect">
            <a:avLst/>
          </a:prstGeom>
          <a:noFill/>
          <a:ln>
            <a:noFill/>
          </a:ln>
        </p:spPr>
        <p:txBody>
          <a:bodyPr wrap="square" lIns="0" tIns="0" rIns="0" bIns="0" rtlCol="0" anchor="t">
            <a:noAutofit/>
          </a:bodyPr>
          <a:lstStyle/>
          <a:p>
            <a:pPr algn="ctr">
              <a:lnSpc>
                <a:spcPct val="105000"/>
              </a:lnSpc>
              <a:buNone/>
            </a:pPr>
            <a:r>
              <a:rPr lang="ja-JP" altLang="en-US" sz="1050" b="0" dirty="0">
                <a:solidFill>
                  <a:srgbClr val="333333"/>
                </a:solidFill>
                <a:latin typeface="メイリオ" panose="020B0604030504040204" pitchFamily="50" charset="-128"/>
                <a:ea typeface="メイリオ" panose="020B0604030504040204" pitchFamily="50" charset="-128"/>
              </a:rPr>
              <a:t>友だち追加の直後に</a:t>
            </a:r>
            <a:endParaRPr lang="ja-JP" altLang="en-US" sz="1050" dirty="0"/>
          </a:p>
          <a:p>
            <a:pPr algn="ctr">
              <a:lnSpc>
                <a:spcPct val="105000"/>
              </a:lnSpc>
              <a:buNone/>
            </a:pPr>
            <a:r>
              <a:rPr lang="ja-JP" altLang="en-US" sz="1050" b="0" dirty="0">
                <a:solidFill>
                  <a:srgbClr val="333333"/>
                </a:solidFill>
                <a:latin typeface="メイリオ" panose="020B0604030504040204" pitchFamily="50" charset="-128"/>
                <a:ea typeface="メイリオ" panose="020B0604030504040204" pitchFamily="50" charset="-128"/>
              </a:rPr>
              <a:t>30秒の相性チェック（全5問）</a:t>
            </a:r>
            <a:endParaRPr lang="ja-JP" altLang="en-US" sz="1050" dirty="0"/>
          </a:p>
        </p:txBody>
      </p:sp>
      <p:sp>
        <p:nvSpPr>
          <p:cNvPr id="71" name="Rounded Rectangle 70"/>
          <p:cNvSpPr/>
          <p:nvPr/>
        </p:nvSpPr>
        <p:spPr>
          <a:xfrm>
            <a:off x="3579876" y="1481328"/>
            <a:ext cx="2743200" cy="274320"/>
          </a:xfrm>
          <a:prstGeom prst="roundRect">
            <a:avLst>
              <a:gd name="adj" fmla="val 20000"/>
            </a:avLst>
          </a:prstGeom>
          <a:solidFill>
            <a:srgbClr val="1F285A"/>
          </a:solidFill>
          <a:ln>
            <a:noFill/>
          </a:ln>
        </p:spPr>
        <p:txBody>
          <a:bodyPr wrap="square" lIns="36576" tIns="0" rIns="36576" bIns="0" rtlCol="0" anchor="ctr">
            <a:noAutofit/>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rPr>
              <a:t>2　LINEの中で体験予約</a:t>
            </a:r>
            <a:endParaRPr lang="ja-JP" altLang="en-US" sz="1200" dirty="0"/>
          </a:p>
        </p:txBody>
      </p:sp>
      <p:pic>
        <p:nvPicPr>
          <p:cNvPr id="72" name="明光義塾_LINEの中で体験予約"/>
          <p:cNvPicPr>
            <a:picLocks noChangeAspect="1"/>
          </p:cNvPicPr>
          <p:nvPr/>
        </p:nvPicPr>
        <p:blipFill>
          <a:blip r:embed="rId3"/>
          <a:stretch>
            <a:fillRect/>
          </a:stretch>
        </p:blipFill>
        <p:spPr>
          <a:xfrm>
            <a:off x="4086072" y="1847088"/>
            <a:ext cx="1730806" cy="3749039"/>
          </a:xfrm>
          <a:prstGeom prst="rect">
            <a:avLst/>
          </a:prstGeom>
          <a:ln w="9525">
            <a:solidFill>
              <a:srgbClr val="C6CADD"/>
            </a:solidFill>
          </a:ln>
        </p:spPr>
      </p:pic>
      <p:sp>
        <p:nvSpPr>
          <p:cNvPr id="73" name="Rectangle 72"/>
          <p:cNvSpPr/>
          <p:nvPr/>
        </p:nvSpPr>
        <p:spPr>
          <a:xfrm>
            <a:off x="3579876" y="5669280"/>
            <a:ext cx="2743200" cy="457200"/>
          </a:xfrm>
          <a:prstGeom prst="rect">
            <a:avLst/>
          </a:prstGeom>
          <a:noFill/>
          <a:ln>
            <a:noFill/>
          </a:ln>
        </p:spPr>
        <p:txBody>
          <a:bodyPr wrap="square" lIns="0" tIns="0" rIns="0" bIns="0" rtlCol="0" anchor="t">
            <a:noAutofit/>
          </a:bodyPr>
          <a:lstStyle/>
          <a:p>
            <a:pPr algn="ctr">
              <a:lnSpc>
                <a:spcPct val="105000"/>
              </a:lnSpc>
              <a:buNone/>
            </a:pPr>
            <a:r>
              <a:rPr lang="ja-JP" altLang="en-US" sz="1050" b="0" dirty="0">
                <a:solidFill>
                  <a:srgbClr val="333333"/>
                </a:solidFill>
                <a:latin typeface="メイリオ" panose="020B0604030504040204" pitchFamily="50" charset="-128"/>
                <a:ea typeface="メイリオ" panose="020B0604030504040204" pitchFamily="50" charset="-128"/>
              </a:rPr>
              <a:t>「このままLINEで無料体験の予約」</a:t>
            </a:r>
            <a:endParaRPr lang="ja-JP" altLang="en-US" sz="1050" dirty="0"/>
          </a:p>
          <a:p>
            <a:pPr algn="ctr">
              <a:lnSpc>
                <a:spcPct val="105000"/>
              </a:lnSpc>
              <a:buNone/>
            </a:pPr>
            <a:r>
              <a:rPr lang="ja-JP" altLang="en-US" sz="1050" b="0" dirty="0">
                <a:solidFill>
                  <a:srgbClr val="333333"/>
                </a:solidFill>
                <a:latin typeface="メイリオ" panose="020B0604030504040204" pitchFamily="50" charset="-128"/>
                <a:ea typeface="メイリオ" panose="020B0604030504040204" pitchFamily="50" charset="-128"/>
              </a:rPr>
              <a:t>60秒・トークの中で入力（全7問）</a:t>
            </a:r>
            <a:endParaRPr lang="ja-JP" altLang="en-US" sz="1050" dirty="0"/>
          </a:p>
        </p:txBody>
      </p:sp>
      <p:sp>
        <p:nvSpPr>
          <p:cNvPr id="74" name="Rounded Rectangle 73"/>
          <p:cNvSpPr/>
          <p:nvPr/>
        </p:nvSpPr>
        <p:spPr>
          <a:xfrm>
            <a:off x="6729984" y="1481328"/>
            <a:ext cx="2743200" cy="274320"/>
          </a:xfrm>
          <a:prstGeom prst="roundRect">
            <a:avLst>
              <a:gd name="adj" fmla="val 20000"/>
            </a:avLst>
          </a:prstGeom>
          <a:solidFill>
            <a:srgbClr val="1F285A"/>
          </a:solidFill>
          <a:ln>
            <a:noFill/>
          </a:ln>
        </p:spPr>
        <p:txBody>
          <a:bodyPr wrap="square" lIns="36576" tIns="0" rIns="36576" bIns="0" rtlCol="0" anchor="ctr">
            <a:noAutofit/>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rPr>
              <a:t>3　リッチメニュー</a:t>
            </a:r>
            <a:endParaRPr lang="ja-JP" altLang="en-US" sz="1200" dirty="0"/>
          </a:p>
        </p:txBody>
      </p:sp>
      <p:pic>
        <p:nvPicPr>
          <p:cNvPr id="75" name="明光義塾_リッチメニュー"/>
          <p:cNvPicPr>
            <a:picLocks noChangeAspect="1"/>
          </p:cNvPicPr>
          <p:nvPr/>
        </p:nvPicPr>
        <p:blipFill>
          <a:blip r:embed="rId4"/>
          <a:stretch>
            <a:fillRect/>
          </a:stretch>
        </p:blipFill>
        <p:spPr>
          <a:xfrm>
            <a:off x="7236180" y="1847088"/>
            <a:ext cx="1730806" cy="3749039"/>
          </a:xfrm>
          <a:prstGeom prst="rect">
            <a:avLst/>
          </a:prstGeom>
          <a:ln w="9525">
            <a:solidFill>
              <a:srgbClr val="C6CADD"/>
            </a:solidFill>
          </a:ln>
        </p:spPr>
      </p:pic>
      <p:sp>
        <p:nvSpPr>
          <p:cNvPr id="76" name="Rectangle 75"/>
          <p:cNvSpPr/>
          <p:nvPr/>
        </p:nvSpPr>
        <p:spPr>
          <a:xfrm>
            <a:off x="6729984" y="5669280"/>
            <a:ext cx="2743200" cy="457200"/>
          </a:xfrm>
          <a:prstGeom prst="rect">
            <a:avLst/>
          </a:prstGeom>
          <a:noFill/>
          <a:ln>
            <a:noFill/>
          </a:ln>
        </p:spPr>
        <p:txBody>
          <a:bodyPr wrap="square" lIns="0" tIns="0" rIns="0" bIns="0" rtlCol="0" anchor="t">
            <a:noAutofit/>
          </a:bodyPr>
          <a:lstStyle/>
          <a:p>
            <a:pPr algn="ctr">
              <a:lnSpc>
                <a:spcPct val="105000"/>
              </a:lnSpc>
              <a:buNone/>
            </a:pPr>
            <a:r>
              <a:rPr lang="ja-JP" altLang="en-US" sz="1050" b="0" dirty="0">
                <a:solidFill>
                  <a:srgbClr val="333333"/>
                </a:solidFill>
                <a:latin typeface="メイリオ" panose="020B0604030504040204" pitchFamily="50" charset="-128"/>
                <a:ea typeface="メイリオ" panose="020B0604030504040204" pitchFamily="50" charset="-128"/>
              </a:rPr>
              <a:t>一番大きい枠に</a:t>
            </a:r>
            <a:endParaRPr lang="ja-JP" altLang="en-US" sz="1050" dirty="0"/>
          </a:p>
          <a:p>
            <a:pPr algn="ctr">
              <a:lnSpc>
                <a:spcPct val="105000"/>
              </a:lnSpc>
              <a:buNone/>
            </a:pPr>
            <a:r>
              <a:rPr lang="ja-JP" altLang="en-US" sz="1050" b="0" dirty="0">
                <a:solidFill>
                  <a:srgbClr val="333333"/>
                </a:solidFill>
                <a:latin typeface="メイリオ" panose="020B0604030504040204" pitchFamily="50" charset="-128"/>
                <a:ea typeface="メイリオ" panose="020B0604030504040204" pitchFamily="50" charset="-128"/>
              </a:rPr>
              <a:t>授業料シミュレーション</a:t>
            </a:r>
            <a:endParaRPr lang="ja-JP" altLang="en-US" sz="1050" dirty="0"/>
          </a:p>
        </p:txBody>
      </p:sp>
    </p:spTree>
    <p:extLst>
      <p:ext uri="{BB962C8B-B14F-4D97-AF65-F5344CB8AC3E}">
        <p14:creationId xmlns:p14="http://schemas.microsoft.com/office/powerpoint/2010/main" val="22780903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73B14C-0AEA-B93E-0808-EE37D50F60C4}"/>
            </a:ext>
          </a:extLst>
        </p:cNvPr>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明光義塾のステップ配信（公式事例の画面）</a:t>
            </a:r>
          </a:p>
        </p:txBody>
      </p:sp>
      <p:sp>
        <p:nvSpPr>
          <p:cNvPr id="3" name="TextBox 2"/>
          <p:cNvSpPr txBox="1"/>
          <p:nvPr/>
        </p:nvSpPr>
        <p:spPr>
          <a:xfrm>
            <a:off x="432000" y="630000"/>
            <a:ext cx="9036000" cy="720000"/>
          </a:xfrm>
          <a:prstGeom prst="rect">
            <a:avLst/>
          </a:prstGeom>
          <a:noFill/>
        </p:spPr>
        <p:txBody>
          <a:bodyPr wrap="square" lIns="0" tIns="21600" rIns="0" bIns="21600" anchor="ctr">
            <a:spAutoFit/>
          </a:bodyPr>
          <a:lstStyle/>
          <a:p>
            <a:pPr algn="l">
              <a:lnSpc>
                <a:spcPct val="128000"/>
              </a:lnSpc>
            </a:pPr>
            <a:r>
              <a:rPr sz="1200" dirty="0" err="1">
                <a:solidFill>
                  <a:srgbClr val="333333"/>
                </a:solidFill>
                <a:latin typeface="メイリオ"/>
                <a:ea typeface="メイリオ"/>
                <a:cs typeface="メイリオ"/>
              </a:rPr>
              <a:t>友だち追加のあと、相手に合わせた配信が自動で届きます（2023年の公式事例の画面）。</a:t>
            </a:r>
          </a:p>
          <a:p>
            <a:pPr algn="l">
              <a:lnSpc>
                <a:spcPct val="128000"/>
              </a:lnSpc>
            </a:pPr>
            <a:r>
              <a:rPr sz="1200" dirty="0" err="1">
                <a:solidFill>
                  <a:srgbClr val="333333"/>
                </a:solidFill>
                <a:latin typeface="メイリオ"/>
                <a:ea typeface="メイリオ"/>
                <a:cs typeface="メイリオ"/>
              </a:rPr>
              <a:t>答えていない方にはクイズで回答を促し、塾に通っていない方には迷い具合に合わせて3つの行動を案内しています。</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800">
                <a:solidFill>
                  <a:srgbClr val="7F7F7F"/>
                </a:solidFill>
                <a:latin typeface="メイリオ"/>
                <a:ea typeface="メイリオ"/>
                <a:cs typeface="メイリオ"/>
              </a:rPr>
              <a:t>画面：LINEヤフー for Business 導入事例 明光義塾（2024年4月5日）掲載の図版（2023年の施策時のもの）。55%は同事例の記載。画面の中のボタンの色は明光義塾のもの</a:t>
            </a:r>
          </a:p>
        </p:txBody>
      </p:sp>
      <p:sp>
        <p:nvSpPr>
          <p:cNvPr id="104" name="Rounded Rectangle 103"/>
          <p:cNvSpPr/>
          <p:nvPr/>
        </p:nvSpPr>
        <p:spPr>
          <a:xfrm>
            <a:off x="432000" y="5850000"/>
            <a:ext cx="9043200" cy="342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300" b="1">
                <a:solidFill>
                  <a:srgbClr val="FFFFFF"/>
                </a:solidFill>
                <a:latin typeface="メイリオ"/>
                <a:ea typeface="メイリオ"/>
                <a:cs typeface="メイリオ"/>
              </a:rPr>
              <a:t>答えやすい形で聞き、迷い具合に合わせて次の一歩を選べるようにしている。</a:t>
            </a:r>
          </a:p>
        </p:txBody>
      </p:sp>
      <p:sp>
        <p:nvSpPr>
          <p:cNvPr id="105" name="Rounded Rectangle 104"/>
          <p:cNvSpPr/>
          <p:nvPr/>
        </p:nvSpPr>
        <p:spPr>
          <a:xfrm>
            <a:off x="429768" y="1481328"/>
            <a:ext cx="4425696" cy="274320"/>
          </a:xfrm>
          <a:prstGeom prst="roundRect">
            <a:avLst>
              <a:gd name="adj" fmla="val 20000"/>
            </a:avLst>
          </a:prstGeom>
          <a:solidFill>
            <a:srgbClr val="1F285A"/>
          </a:solidFill>
          <a:ln>
            <a:noFill/>
          </a:ln>
        </p:spPr>
        <p:txBody>
          <a:bodyPr wrap="square" lIns="36576" tIns="0" rIns="36576" bIns="0" rtlCol="0" anchor="ctr">
            <a:noAutofit/>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rPr>
              <a:t>1　アンケートに答えていない方へ</a:t>
            </a:r>
            <a:endParaRPr lang="ja-JP" altLang="en-US" sz="1200" dirty="0"/>
          </a:p>
        </p:txBody>
      </p:sp>
      <p:pic>
        <p:nvPicPr>
          <p:cNvPr id="106" name="明光義塾_ステップ配信_1"/>
          <p:cNvPicPr>
            <a:picLocks noChangeAspect="1"/>
          </p:cNvPicPr>
          <p:nvPr/>
        </p:nvPicPr>
        <p:blipFill>
          <a:blip r:embed="rId2"/>
          <a:stretch>
            <a:fillRect/>
          </a:stretch>
        </p:blipFill>
        <p:spPr>
          <a:xfrm>
            <a:off x="465459" y="1865376"/>
            <a:ext cx="4354313" cy="2606040"/>
          </a:xfrm>
          <a:prstGeom prst="rect">
            <a:avLst/>
          </a:prstGeom>
          <a:ln w="9525">
            <a:solidFill>
              <a:srgbClr val="C6CADD"/>
            </a:solidFill>
          </a:ln>
        </p:spPr>
      </p:pic>
      <p:sp>
        <p:nvSpPr>
          <p:cNvPr id="107" name="Rectangle 106"/>
          <p:cNvSpPr/>
          <p:nvPr/>
        </p:nvSpPr>
        <p:spPr>
          <a:xfrm>
            <a:off x="429768" y="4562856"/>
            <a:ext cx="4425696" cy="1005840"/>
          </a:xfrm>
          <a:prstGeom prst="rect">
            <a:avLst/>
          </a:prstGeom>
          <a:solidFill>
            <a:srgbClr val="F4F7FF"/>
          </a:solidFill>
          <a:ln w="9525">
            <a:solidFill>
              <a:srgbClr val="D9D9D9"/>
            </a:solidFill>
          </a:ln>
        </p:spPr>
        <p:txBody>
          <a:bodyPr wrap="square" lIns="109728" tIns="54864" rIns="91440" bIns="54864" rtlCol="0" anchor="ctr">
            <a:noAutofit/>
          </a:bodyPr>
          <a:lstStyle/>
          <a:p>
            <a:pPr algn="l">
              <a:lnSpc>
                <a:spcPct val="110000"/>
              </a:lnSpc>
              <a:buNone/>
            </a:pPr>
            <a:r>
              <a:rPr lang="ja-JP" altLang="en-US" sz="1000" b="0" dirty="0">
                <a:solidFill>
                  <a:srgbClr val="333333"/>
                </a:solidFill>
                <a:latin typeface="メイリオ" panose="020B0604030504040204" pitchFamily="50" charset="-128"/>
                <a:ea typeface="メイリオ" panose="020B0604030504040204" pitchFamily="50" charset="-128"/>
              </a:rPr>
              <a:t>クイズ「サボローを探せ！」の答えを見るボタンが</a:t>
            </a:r>
            <a:endParaRPr lang="ja-JP" altLang="en-US" sz="1000" dirty="0"/>
          </a:p>
          <a:p>
            <a:pPr algn="l">
              <a:lnSpc>
                <a:spcPct val="110000"/>
              </a:lnSpc>
              <a:buNone/>
            </a:pPr>
            <a:r>
              <a:rPr lang="ja-JP" altLang="en-US" sz="1000" b="0" dirty="0">
                <a:solidFill>
                  <a:srgbClr val="333333"/>
                </a:solidFill>
                <a:latin typeface="メイリオ" panose="020B0604030504040204" pitchFamily="50" charset="-128"/>
                <a:ea typeface="メイリオ" panose="020B0604030504040204" pitchFamily="50" charset="-128"/>
              </a:rPr>
              <a:t>「保護者の方／生徒の方／その他の方」。</a:t>
            </a:r>
            <a:endParaRPr lang="ja-JP" altLang="en-US" sz="1000" dirty="0"/>
          </a:p>
          <a:p>
            <a:pPr algn="l">
              <a:lnSpc>
                <a:spcPct val="110000"/>
              </a:lnSpc>
              <a:buNone/>
            </a:pPr>
            <a:r>
              <a:rPr lang="ja-JP" altLang="en-US" sz="1000" b="0" dirty="0">
                <a:solidFill>
                  <a:srgbClr val="333333"/>
                </a:solidFill>
                <a:latin typeface="メイリオ" panose="020B0604030504040204" pitchFamily="50" charset="-128"/>
                <a:ea typeface="メイリオ" panose="020B0604030504040204" pitchFamily="50" charset="-128"/>
              </a:rPr>
              <a:t>楽しみながら答えてもらい、誰なのかが分かる。</a:t>
            </a:r>
            <a:endParaRPr lang="ja-JP" altLang="en-US" sz="1000" dirty="0"/>
          </a:p>
          <a:p>
            <a:pPr algn="l">
              <a:lnSpc>
                <a:spcPct val="110000"/>
              </a:lnSpc>
              <a:buNone/>
            </a:pPr>
            <a:r>
              <a:rPr lang="ja-JP" altLang="en-US" sz="1000" b="0" dirty="0">
                <a:solidFill>
                  <a:srgbClr val="333333"/>
                </a:solidFill>
                <a:latin typeface="メイリオ" panose="020B0604030504040204" pitchFamily="50" charset="-128"/>
                <a:ea typeface="メイリオ" panose="020B0604030504040204" pitchFamily="50" charset="-128"/>
              </a:rPr>
              <a:t>配信した方の55%が反応。</a:t>
            </a:r>
            <a:endParaRPr lang="ja-JP" altLang="en-US" sz="1000" dirty="0"/>
          </a:p>
        </p:txBody>
      </p:sp>
      <p:sp>
        <p:nvSpPr>
          <p:cNvPr id="108" name="Rounded Rectangle 107"/>
          <p:cNvSpPr/>
          <p:nvPr/>
        </p:nvSpPr>
        <p:spPr>
          <a:xfrm>
            <a:off x="5047488" y="1481328"/>
            <a:ext cx="4425696" cy="274320"/>
          </a:xfrm>
          <a:prstGeom prst="roundRect">
            <a:avLst>
              <a:gd name="adj" fmla="val 20000"/>
            </a:avLst>
          </a:prstGeom>
          <a:solidFill>
            <a:srgbClr val="1F285A"/>
          </a:solidFill>
          <a:ln>
            <a:noFill/>
          </a:ln>
        </p:spPr>
        <p:txBody>
          <a:bodyPr wrap="square" lIns="36576" tIns="0" rIns="36576" bIns="0" rtlCol="0" anchor="ctr">
            <a:noAutofit/>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rPr>
              <a:t>2　塾に通っていない方へ</a:t>
            </a:r>
            <a:endParaRPr lang="ja-JP" altLang="en-US" sz="1200" dirty="0"/>
          </a:p>
        </p:txBody>
      </p:sp>
      <p:pic>
        <p:nvPicPr>
          <p:cNvPr id="109" name="明光義塾_ステップ配信_2"/>
          <p:cNvPicPr>
            <a:picLocks noChangeAspect="1"/>
          </p:cNvPicPr>
          <p:nvPr/>
        </p:nvPicPr>
        <p:blipFill>
          <a:blip r:embed="rId3"/>
          <a:stretch>
            <a:fillRect/>
          </a:stretch>
        </p:blipFill>
        <p:spPr>
          <a:xfrm>
            <a:off x="5445183" y="1865376"/>
            <a:ext cx="3630304" cy="2606040"/>
          </a:xfrm>
          <a:prstGeom prst="rect">
            <a:avLst/>
          </a:prstGeom>
          <a:ln w="9525">
            <a:solidFill>
              <a:srgbClr val="C6CADD"/>
            </a:solidFill>
          </a:ln>
        </p:spPr>
      </p:pic>
      <p:sp>
        <p:nvSpPr>
          <p:cNvPr id="110" name="Rectangle 109"/>
          <p:cNvSpPr/>
          <p:nvPr/>
        </p:nvSpPr>
        <p:spPr>
          <a:xfrm>
            <a:off x="5047488" y="4562856"/>
            <a:ext cx="4425696" cy="1005840"/>
          </a:xfrm>
          <a:prstGeom prst="rect">
            <a:avLst/>
          </a:prstGeom>
          <a:solidFill>
            <a:srgbClr val="F4F7FF"/>
          </a:solidFill>
          <a:ln w="9525">
            <a:solidFill>
              <a:srgbClr val="D9D9D9"/>
            </a:solidFill>
          </a:ln>
        </p:spPr>
        <p:txBody>
          <a:bodyPr wrap="square" lIns="109728" tIns="54864" rIns="91440" bIns="54864" rtlCol="0" anchor="ctr">
            <a:noAutofit/>
          </a:bodyPr>
          <a:lstStyle/>
          <a:p>
            <a:pPr algn="l">
              <a:lnSpc>
                <a:spcPct val="110000"/>
              </a:lnSpc>
              <a:buNone/>
            </a:pPr>
            <a:r>
              <a:rPr lang="ja-JP" altLang="en-US" sz="1000" b="0" dirty="0">
                <a:solidFill>
                  <a:srgbClr val="333333"/>
                </a:solidFill>
                <a:latin typeface="メイリオ" panose="020B0604030504040204" pitchFamily="50" charset="-128"/>
                <a:ea typeface="メイリオ" panose="020B0604030504040204" pitchFamily="50" charset="-128"/>
              </a:rPr>
              <a:t>「先ほどは友だち登録していただき…」から始まる。</a:t>
            </a:r>
            <a:endParaRPr lang="ja-JP" altLang="en-US" sz="1000" dirty="0"/>
          </a:p>
          <a:p>
            <a:pPr algn="l">
              <a:lnSpc>
                <a:spcPct val="110000"/>
              </a:lnSpc>
              <a:buNone/>
            </a:pPr>
            <a:r>
              <a:rPr lang="ja-JP" altLang="en-US" sz="1000" b="0" dirty="0">
                <a:solidFill>
                  <a:srgbClr val="333333"/>
                </a:solidFill>
                <a:latin typeface="メイリオ" panose="020B0604030504040204" pitchFamily="50" charset="-128"/>
                <a:ea typeface="メイリオ" panose="020B0604030504040204" pitchFamily="50" charset="-128"/>
              </a:rPr>
              <a:t>ボタンは迷い具合で3つ：</a:t>
            </a:r>
            <a:endParaRPr lang="ja-JP" altLang="en-US" sz="1000" dirty="0"/>
          </a:p>
          <a:p>
            <a:pPr algn="l">
              <a:lnSpc>
                <a:spcPct val="110000"/>
              </a:lnSpc>
              <a:buNone/>
            </a:pPr>
            <a:r>
              <a:rPr lang="ja-JP" altLang="en-US" sz="1000" b="0" dirty="0">
                <a:solidFill>
                  <a:srgbClr val="333333"/>
                </a:solidFill>
                <a:latin typeface="メイリオ" panose="020B0604030504040204" pitchFamily="50" charset="-128"/>
                <a:ea typeface="メイリオ" panose="020B0604030504040204" pitchFamily="50" charset="-128"/>
              </a:rPr>
              <a:t>授業を受けてみたい→無料体験／雰囲気を知りたい→</a:t>
            </a:r>
            <a:endParaRPr lang="ja-JP" altLang="en-US" sz="1000" dirty="0"/>
          </a:p>
          <a:p>
            <a:pPr algn="l">
              <a:lnSpc>
                <a:spcPct val="110000"/>
              </a:lnSpc>
              <a:buNone/>
            </a:pPr>
            <a:r>
              <a:rPr lang="ja-JP" altLang="en-US" sz="1000" b="0" dirty="0">
                <a:solidFill>
                  <a:srgbClr val="333333"/>
                </a:solidFill>
                <a:latin typeface="メイリオ" panose="020B0604030504040204" pitchFamily="50" charset="-128"/>
                <a:ea typeface="メイリオ" panose="020B0604030504040204" pitchFamily="50" charset="-128"/>
              </a:rPr>
              <a:t>教室見学／一度検討したい→資料請求。</a:t>
            </a:r>
            <a:endParaRPr lang="ja-JP" altLang="en-US" sz="1000" dirty="0"/>
          </a:p>
        </p:txBody>
      </p:sp>
    </p:spTree>
    <p:extLst>
      <p:ext uri="{BB962C8B-B14F-4D97-AF65-F5344CB8AC3E}">
        <p14:creationId xmlns:p14="http://schemas.microsoft.com/office/powerpoint/2010/main" val="32047602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7E587B-DB18-248C-DB39-A170420D4342}"/>
            </a:ext>
          </a:extLst>
        </p:cNvPr>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現状分析｜LINEでできること</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a:solidFill>
                  <a:srgbClr val="333333"/>
                </a:solidFill>
                <a:latin typeface="メイリオ"/>
                <a:ea typeface="メイリオ"/>
                <a:cs typeface="メイリオ"/>
              </a:rPr>
              <a:t>保護者の「迷っている期間」に、LINEでできることは4つ。</a:t>
            </a:r>
          </a:p>
          <a:p>
            <a:pPr algn="l">
              <a:lnSpc>
                <a:spcPct val="128000"/>
              </a:lnSpc>
            </a:pPr>
            <a:r>
              <a:rPr sz="1200">
                <a:solidFill>
                  <a:srgbClr val="333333"/>
                </a:solidFill>
                <a:latin typeface="メイリオ"/>
                <a:ea typeface="メイリオ"/>
                <a:cs typeface="メイリオ"/>
              </a:rPr>
              <a:t>授業の質や合格実績はLINEではつくれない。つくれるのは、接点と、体験・入会までの流れ。</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Pentagon 4"/>
          <p:cNvSpPr/>
          <p:nvPr/>
        </p:nvSpPr>
        <p:spPr>
          <a:xfrm>
            <a:off x="432000" y="590400"/>
            <a:ext cx="1111500" cy="180000"/>
          </a:xfrm>
          <a:prstGeom prst="homePlate">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①接触</a:t>
            </a:r>
          </a:p>
        </p:txBody>
      </p:sp>
      <p:sp>
        <p:nvSpPr>
          <p:cNvPr id="6" name="Chevron 5"/>
          <p:cNvSpPr/>
          <p:nvPr/>
        </p:nvSpPr>
        <p:spPr>
          <a:xfrm>
            <a:off x="15651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②離脱</a:t>
            </a:r>
          </a:p>
        </p:txBody>
      </p:sp>
      <p:sp>
        <p:nvSpPr>
          <p:cNvPr id="7" name="Chevron 6"/>
          <p:cNvSpPr/>
          <p:nvPr/>
        </p:nvSpPr>
        <p:spPr>
          <a:xfrm>
            <a:off x="26982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③育成</a:t>
            </a:r>
          </a:p>
        </p:txBody>
      </p:sp>
      <p:sp>
        <p:nvSpPr>
          <p:cNvPr id="8" name="Chevron 7"/>
          <p:cNvSpPr/>
          <p:nvPr/>
        </p:nvSpPr>
        <p:spPr>
          <a:xfrm>
            <a:off x="38312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④リード獲得</a:t>
            </a:r>
          </a:p>
        </p:txBody>
      </p:sp>
      <p:sp>
        <p:nvSpPr>
          <p:cNvPr id="9" name="Chevron 8"/>
          <p:cNvSpPr/>
          <p:nvPr/>
        </p:nvSpPr>
        <p:spPr>
          <a:xfrm>
            <a:off x="49644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⑤リード有効化</a:t>
            </a:r>
          </a:p>
        </p:txBody>
      </p:sp>
      <p:sp>
        <p:nvSpPr>
          <p:cNvPr id="10" name="Chevron 9"/>
          <p:cNvSpPr/>
          <p:nvPr/>
        </p:nvSpPr>
        <p:spPr>
          <a:xfrm>
            <a:off x="60975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⑥再育成</a:t>
            </a:r>
          </a:p>
        </p:txBody>
      </p:sp>
      <p:sp>
        <p:nvSpPr>
          <p:cNvPr id="11" name="Chevron 10"/>
          <p:cNvSpPr/>
          <p:nvPr/>
        </p:nvSpPr>
        <p:spPr>
          <a:xfrm>
            <a:off x="72305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⑦入会（契約）</a:t>
            </a:r>
          </a:p>
        </p:txBody>
      </p:sp>
      <p:sp>
        <p:nvSpPr>
          <p:cNvPr id="12" name="Chevron 11"/>
          <p:cNvSpPr/>
          <p:nvPr/>
        </p:nvSpPr>
        <p:spPr>
          <a:xfrm>
            <a:off x="83636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⑧紹介</a:t>
            </a:r>
          </a:p>
        </p:txBody>
      </p:sp>
      <p:sp>
        <p:nvSpPr>
          <p:cNvPr id="13" name="Rounded Rectangle 12"/>
          <p:cNvSpPr/>
          <p:nvPr/>
        </p:nvSpPr>
        <p:spPr>
          <a:xfrm>
            <a:off x="4125600" y="1800000"/>
            <a:ext cx="1655999" cy="3024000"/>
          </a:xfrm>
          <a:prstGeom prst="roundRect">
            <a:avLst>
              <a:gd name="adj" fmla="val 10000"/>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14" name="Rectangle 13"/>
          <p:cNvSpPr/>
          <p:nvPr/>
        </p:nvSpPr>
        <p:spPr>
          <a:xfrm>
            <a:off x="4215600" y="1998000"/>
            <a:ext cx="1475999" cy="2664000"/>
          </a:xfrm>
          <a:prstGeom prst="rect">
            <a:avLst/>
          </a:prstGeom>
          <a:solidFill>
            <a:srgbClr val="C9D6E8"/>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15" name="Rectangle 14"/>
          <p:cNvSpPr/>
          <p:nvPr/>
        </p:nvSpPr>
        <p:spPr>
          <a:xfrm>
            <a:off x="4215600" y="1998000"/>
            <a:ext cx="1475999" cy="216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800" b="1">
                <a:solidFill>
                  <a:srgbClr val="333333"/>
                </a:solidFill>
                <a:latin typeface="メイリオ"/>
                <a:ea typeface="メイリオ"/>
                <a:cs typeface="メイリオ"/>
              </a:rPr>
              <a:t>‹  ◯◯塾 △△教室</a:t>
            </a:r>
          </a:p>
        </p:txBody>
      </p:sp>
      <p:sp>
        <p:nvSpPr>
          <p:cNvPr id="16" name="Rounded Rectangle 15"/>
          <p:cNvSpPr/>
          <p:nvPr/>
        </p:nvSpPr>
        <p:spPr>
          <a:xfrm>
            <a:off x="4269600" y="2340000"/>
            <a:ext cx="1332000" cy="4680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t"/>
          <a:lstStyle/>
          <a:p>
            <a:pPr algn="l"/>
            <a:r>
              <a:rPr sz="750" b="0">
                <a:solidFill>
                  <a:srgbClr val="333333"/>
                </a:solidFill>
                <a:latin typeface="メイリオ"/>
                <a:ea typeface="メイリオ"/>
                <a:cs typeface="メイリオ"/>
              </a:rPr>
              <a:t>30秒で、お子さまに</a:t>
            </a:r>
          </a:p>
          <a:p>
            <a:pPr algn="l"/>
            <a:r>
              <a:rPr sz="750" b="0">
                <a:solidFill>
                  <a:srgbClr val="333333"/>
                </a:solidFill>
                <a:latin typeface="メイリオ"/>
                <a:ea typeface="メイリオ"/>
                <a:cs typeface="メイリオ"/>
              </a:rPr>
              <a:t>合う学び方が分かります</a:t>
            </a:r>
          </a:p>
        </p:txBody>
      </p:sp>
      <p:sp>
        <p:nvSpPr>
          <p:cNvPr id="17" name="Rounded Rectangle 16"/>
          <p:cNvSpPr/>
          <p:nvPr/>
        </p:nvSpPr>
        <p:spPr>
          <a:xfrm>
            <a:off x="4287600" y="2898000"/>
            <a:ext cx="1259999" cy="216000"/>
          </a:xfrm>
          <a:prstGeom prst="roundRect">
            <a:avLst>
              <a:gd name="adj" fmla="val 30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800" b="1">
                <a:solidFill>
                  <a:srgbClr val="FFFFFF"/>
                </a:solidFill>
                <a:latin typeface="メイリオ"/>
                <a:ea typeface="メイリオ"/>
                <a:cs typeface="メイリオ"/>
              </a:rPr>
              <a:t>診断をはじめる</a:t>
            </a:r>
          </a:p>
        </p:txBody>
      </p:sp>
      <p:sp>
        <p:nvSpPr>
          <p:cNvPr id="18" name="Rounded Rectangle 17"/>
          <p:cNvSpPr/>
          <p:nvPr/>
        </p:nvSpPr>
        <p:spPr>
          <a:xfrm>
            <a:off x="4269600" y="3221999"/>
            <a:ext cx="1332000" cy="3960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t"/>
          <a:lstStyle/>
          <a:p>
            <a:pPr algn="l"/>
            <a:r>
              <a:rPr sz="750" b="0">
                <a:solidFill>
                  <a:srgbClr val="333333"/>
                </a:solidFill>
                <a:latin typeface="メイリオ"/>
                <a:ea typeface="メイリオ"/>
                <a:cs typeface="メイリオ"/>
              </a:rPr>
              <a:t>コースと料金の資料を</a:t>
            </a:r>
          </a:p>
          <a:p>
            <a:pPr algn="l"/>
            <a:r>
              <a:rPr sz="750" b="0">
                <a:solidFill>
                  <a:srgbClr val="333333"/>
                </a:solidFill>
                <a:latin typeface="メイリオ"/>
                <a:ea typeface="メイリオ"/>
                <a:cs typeface="メイリオ"/>
              </a:rPr>
              <a:t>お送りしました</a:t>
            </a:r>
          </a:p>
        </p:txBody>
      </p:sp>
      <p:sp>
        <p:nvSpPr>
          <p:cNvPr id="19" name="Rounded Rectangle 18"/>
          <p:cNvSpPr/>
          <p:nvPr/>
        </p:nvSpPr>
        <p:spPr>
          <a:xfrm>
            <a:off x="4269600" y="3690000"/>
            <a:ext cx="1332000" cy="3960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t"/>
          <a:lstStyle/>
          <a:p>
            <a:pPr algn="l"/>
            <a:r>
              <a:rPr sz="750" b="0">
                <a:solidFill>
                  <a:srgbClr val="333333"/>
                </a:solidFill>
                <a:latin typeface="メイリオ"/>
                <a:ea typeface="メイリオ"/>
                <a:cs typeface="メイリオ"/>
              </a:rPr>
              <a:t>明日17時、体験授業で</a:t>
            </a:r>
          </a:p>
          <a:p>
            <a:pPr algn="l"/>
            <a:r>
              <a:rPr sz="750" b="0">
                <a:solidFill>
                  <a:srgbClr val="333333"/>
                </a:solidFill>
                <a:latin typeface="メイリオ"/>
                <a:ea typeface="メイリオ"/>
                <a:cs typeface="メイリオ"/>
              </a:rPr>
              <a:t>お待ちしています</a:t>
            </a:r>
          </a:p>
        </p:txBody>
      </p:sp>
      <p:sp>
        <p:nvSpPr>
          <p:cNvPr id="20" name="Rounded Rectangle 19"/>
          <p:cNvSpPr/>
          <p:nvPr/>
        </p:nvSpPr>
        <p:spPr>
          <a:xfrm>
            <a:off x="432000" y="1548000"/>
            <a:ext cx="2951999" cy="1655999"/>
          </a:xfrm>
          <a:prstGeom prst="roundRect">
            <a:avLst>
              <a:gd name="adj" fmla="val 10000"/>
            </a:avLst>
          </a:prstGeom>
          <a:solidFill>
            <a:srgbClr val="FFFFFF"/>
          </a:solidFill>
          <a:ln w="1905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21" name="Rounded Rectangle 20"/>
          <p:cNvSpPr/>
          <p:nvPr/>
        </p:nvSpPr>
        <p:spPr>
          <a:xfrm>
            <a:off x="432000" y="1548000"/>
            <a:ext cx="2951999" cy="360000"/>
          </a:xfrm>
          <a:prstGeom prst="roundRect">
            <a:avLst>
              <a:gd name="adj" fmla="val 15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350" b="1">
                <a:solidFill>
                  <a:srgbClr val="FFFFFF"/>
                </a:solidFill>
                <a:latin typeface="メイリオ"/>
                <a:ea typeface="メイリオ"/>
                <a:cs typeface="メイリオ"/>
              </a:rPr>
              <a:t>① タイプ別の診断</a:t>
            </a:r>
          </a:p>
        </p:txBody>
      </p:sp>
      <p:sp>
        <p:nvSpPr>
          <p:cNvPr id="22" name="Rectangle 21"/>
          <p:cNvSpPr/>
          <p:nvPr/>
        </p:nvSpPr>
        <p:spPr>
          <a:xfrm>
            <a:off x="557999" y="1998000"/>
            <a:ext cx="2700000" cy="72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400" b="0">
                <a:solidFill>
                  <a:srgbClr val="333333"/>
                </a:solidFill>
                <a:latin typeface="メイリオ"/>
                <a:ea typeface="メイリオ"/>
                <a:cs typeface="メイリオ"/>
              </a:rPr>
              <a:t>「うちの子に合うのはどれ？」に、申し込む前に答える</a:t>
            </a:r>
          </a:p>
        </p:txBody>
      </p:sp>
      <p:sp>
        <p:nvSpPr>
          <p:cNvPr id="23" name="Rounded Rectangle 22"/>
          <p:cNvSpPr/>
          <p:nvPr/>
        </p:nvSpPr>
        <p:spPr>
          <a:xfrm>
            <a:off x="557999" y="2808000"/>
            <a:ext cx="2700000" cy="251999"/>
          </a:xfrm>
          <a:prstGeom prst="roundRect">
            <a:avLst>
              <a:gd name="adj" fmla="val 2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50" b="1">
                <a:solidFill>
                  <a:srgbClr val="1F285A"/>
                </a:solidFill>
                <a:latin typeface="メイリオ"/>
                <a:ea typeface="メイリオ"/>
                <a:cs typeface="メイリオ"/>
              </a:rPr>
              <a:t>④リード獲得</a:t>
            </a:r>
          </a:p>
        </p:txBody>
      </p:sp>
      <p:sp>
        <p:nvSpPr>
          <p:cNvPr id="24" name="Rounded Rectangle 23"/>
          <p:cNvSpPr/>
          <p:nvPr/>
        </p:nvSpPr>
        <p:spPr>
          <a:xfrm>
            <a:off x="6516000" y="1548000"/>
            <a:ext cx="2951999" cy="1655999"/>
          </a:xfrm>
          <a:prstGeom prst="roundRect">
            <a:avLst>
              <a:gd name="adj" fmla="val 10000"/>
            </a:avLst>
          </a:prstGeom>
          <a:solidFill>
            <a:srgbClr val="FFFFFF"/>
          </a:solidFill>
          <a:ln w="1905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25" name="Rounded Rectangle 24"/>
          <p:cNvSpPr/>
          <p:nvPr/>
        </p:nvSpPr>
        <p:spPr>
          <a:xfrm>
            <a:off x="6516000" y="1548000"/>
            <a:ext cx="2951999" cy="360000"/>
          </a:xfrm>
          <a:prstGeom prst="roundRect">
            <a:avLst>
              <a:gd name="adj" fmla="val 15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350" b="1">
                <a:solidFill>
                  <a:srgbClr val="FFFFFF"/>
                </a:solidFill>
                <a:latin typeface="メイリオ"/>
                <a:ea typeface="メイリオ"/>
                <a:cs typeface="メイリオ"/>
              </a:rPr>
              <a:t>② LINEで資料請求</a:t>
            </a:r>
          </a:p>
        </p:txBody>
      </p:sp>
      <p:sp>
        <p:nvSpPr>
          <p:cNvPr id="26" name="Rectangle 25"/>
          <p:cNvSpPr/>
          <p:nvPr/>
        </p:nvSpPr>
        <p:spPr>
          <a:xfrm>
            <a:off x="6642000" y="1998000"/>
            <a:ext cx="2700000" cy="72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400" b="0">
                <a:solidFill>
                  <a:srgbClr val="333333"/>
                </a:solidFill>
                <a:latin typeface="メイリオ"/>
                <a:ea typeface="メイリオ"/>
                <a:cs typeface="メイリオ"/>
              </a:rPr>
              <a:t>電話も来店もなしで、コースと料金の資料が届く</a:t>
            </a:r>
          </a:p>
        </p:txBody>
      </p:sp>
      <p:sp>
        <p:nvSpPr>
          <p:cNvPr id="27" name="Rounded Rectangle 26"/>
          <p:cNvSpPr/>
          <p:nvPr/>
        </p:nvSpPr>
        <p:spPr>
          <a:xfrm>
            <a:off x="6642000" y="2808000"/>
            <a:ext cx="2700000" cy="251999"/>
          </a:xfrm>
          <a:prstGeom prst="roundRect">
            <a:avLst>
              <a:gd name="adj" fmla="val 2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50" b="1">
                <a:solidFill>
                  <a:srgbClr val="1F285A"/>
                </a:solidFill>
                <a:latin typeface="メイリオ"/>
                <a:ea typeface="メイリオ"/>
                <a:cs typeface="メイリオ"/>
              </a:rPr>
              <a:t>④リード獲得（CV①）</a:t>
            </a:r>
          </a:p>
        </p:txBody>
      </p:sp>
      <p:sp>
        <p:nvSpPr>
          <p:cNvPr id="28" name="Rounded Rectangle 27"/>
          <p:cNvSpPr/>
          <p:nvPr/>
        </p:nvSpPr>
        <p:spPr>
          <a:xfrm>
            <a:off x="432000" y="3708000"/>
            <a:ext cx="2951999" cy="1655999"/>
          </a:xfrm>
          <a:prstGeom prst="roundRect">
            <a:avLst>
              <a:gd name="adj" fmla="val 10000"/>
            </a:avLst>
          </a:prstGeom>
          <a:solidFill>
            <a:srgbClr val="FFFFFF"/>
          </a:solidFill>
          <a:ln w="1905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29" name="Rounded Rectangle 28"/>
          <p:cNvSpPr/>
          <p:nvPr/>
        </p:nvSpPr>
        <p:spPr>
          <a:xfrm>
            <a:off x="432000" y="3708000"/>
            <a:ext cx="2951999" cy="360000"/>
          </a:xfrm>
          <a:prstGeom prst="roundRect">
            <a:avLst>
              <a:gd name="adj" fmla="val 15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350" b="1">
                <a:solidFill>
                  <a:srgbClr val="FFFFFF"/>
                </a:solidFill>
                <a:latin typeface="メイリオ"/>
                <a:ea typeface="メイリオ"/>
                <a:cs typeface="メイリオ"/>
              </a:rPr>
              <a:t>③ 14日間の配信</a:t>
            </a:r>
          </a:p>
        </p:txBody>
      </p:sp>
      <p:sp>
        <p:nvSpPr>
          <p:cNvPr id="30" name="Rectangle 29"/>
          <p:cNvSpPr/>
          <p:nvPr/>
        </p:nvSpPr>
        <p:spPr>
          <a:xfrm>
            <a:off x="557999" y="4158000"/>
            <a:ext cx="2700000" cy="72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400" b="0">
                <a:solidFill>
                  <a:srgbClr val="333333"/>
                </a:solidFill>
                <a:latin typeface="メイリオ"/>
                <a:ea typeface="メイリオ"/>
                <a:cs typeface="メイリオ"/>
              </a:rPr>
              <a:t>迷っている間に役立つ情報を届けて、体験へ</a:t>
            </a:r>
          </a:p>
        </p:txBody>
      </p:sp>
      <p:sp>
        <p:nvSpPr>
          <p:cNvPr id="31" name="Rounded Rectangle 30"/>
          <p:cNvSpPr/>
          <p:nvPr/>
        </p:nvSpPr>
        <p:spPr>
          <a:xfrm>
            <a:off x="557999" y="4968000"/>
            <a:ext cx="2700000" cy="251999"/>
          </a:xfrm>
          <a:prstGeom prst="roundRect">
            <a:avLst>
              <a:gd name="adj" fmla="val 2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50" b="1">
                <a:solidFill>
                  <a:srgbClr val="1F285A"/>
                </a:solidFill>
                <a:latin typeface="メイリオ"/>
                <a:ea typeface="メイリオ"/>
                <a:cs typeface="メイリオ"/>
              </a:rPr>
              <a:t>③育成・⑤リード有効化</a:t>
            </a:r>
          </a:p>
        </p:txBody>
      </p:sp>
      <p:sp>
        <p:nvSpPr>
          <p:cNvPr id="32" name="Rounded Rectangle 31"/>
          <p:cNvSpPr/>
          <p:nvPr/>
        </p:nvSpPr>
        <p:spPr>
          <a:xfrm>
            <a:off x="6516000" y="3708000"/>
            <a:ext cx="2951999" cy="1655999"/>
          </a:xfrm>
          <a:prstGeom prst="roundRect">
            <a:avLst>
              <a:gd name="adj" fmla="val 10000"/>
            </a:avLst>
          </a:prstGeom>
          <a:solidFill>
            <a:srgbClr val="FFFFFF"/>
          </a:solidFill>
          <a:ln w="1905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33" name="Rounded Rectangle 32"/>
          <p:cNvSpPr/>
          <p:nvPr/>
        </p:nvSpPr>
        <p:spPr>
          <a:xfrm>
            <a:off x="6516000" y="3708000"/>
            <a:ext cx="2951999" cy="360000"/>
          </a:xfrm>
          <a:prstGeom prst="roundRect">
            <a:avLst>
              <a:gd name="adj" fmla="val 15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350" b="1">
                <a:solidFill>
                  <a:srgbClr val="FFFFFF"/>
                </a:solidFill>
                <a:latin typeface="メイリオ"/>
                <a:ea typeface="メイリオ"/>
                <a:cs typeface="メイリオ"/>
              </a:rPr>
              <a:t>④ 体験前のリマインド</a:t>
            </a:r>
          </a:p>
        </p:txBody>
      </p:sp>
      <p:sp>
        <p:nvSpPr>
          <p:cNvPr id="34" name="Rectangle 33"/>
          <p:cNvSpPr/>
          <p:nvPr/>
        </p:nvSpPr>
        <p:spPr>
          <a:xfrm>
            <a:off x="6642000" y="4158000"/>
            <a:ext cx="2700000" cy="72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400" b="0">
                <a:solidFill>
                  <a:srgbClr val="333333"/>
                </a:solidFill>
                <a:latin typeface="メイリオ"/>
                <a:ea typeface="メイリオ"/>
                <a:cs typeface="メイリオ"/>
              </a:rPr>
              <a:t>日時・持ち物・変更方法を前日に届けて、来てもらう</a:t>
            </a:r>
          </a:p>
        </p:txBody>
      </p:sp>
      <p:sp>
        <p:nvSpPr>
          <p:cNvPr id="35" name="Rounded Rectangle 34"/>
          <p:cNvSpPr/>
          <p:nvPr/>
        </p:nvSpPr>
        <p:spPr>
          <a:xfrm>
            <a:off x="6642000" y="4968000"/>
            <a:ext cx="2700000" cy="251999"/>
          </a:xfrm>
          <a:prstGeom prst="roundRect">
            <a:avLst>
              <a:gd name="adj" fmla="val 2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50" b="1">
                <a:solidFill>
                  <a:srgbClr val="1F285A"/>
                </a:solidFill>
                <a:latin typeface="メイリオ"/>
                <a:ea typeface="メイリオ"/>
                <a:cs typeface="メイリオ"/>
              </a:rPr>
              <a:t>⑤リード有効化 → ⑦入会</a:t>
            </a:r>
          </a:p>
        </p:txBody>
      </p:sp>
      <p:cxnSp>
        <p:nvCxnSpPr>
          <p:cNvPr id="36" name="Connector 35"/>
          <p:cNvCxnSpPr/>
          <p:nvPr/>
        </p:nvCxnSpPr>
        <p:spPr>
          <a:xfrm>
            <a:off x="3401999" y="2376000"/>
            <a:ext cx="705601" cy="360000"/>
          </a:xfrm>
          <a:prstGeom prst="line">
            <a:avLst/>
          </a:prstGeom>
          <a:ln w="22225">
            <a:solidFill>
              <a:srgbClr val="8EA9DB"/>
            </a:solidFill>
            <a:tailEnd type="triangle"/>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a:off x="5799600" y="2376000"/>
            <a:ext cx="698400" cy="360000"/>
          </a:xfrm>
          <a:prstGeom prst="line">
            <a:avLst/>
          </a:prstGeom>
          <a:ln w="22225">
            <a:solidFill>
              <a:srgbClr val="8EA9DB"/>
            </a:solidFill>
            <a:tailEnd type="triangle"/>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3401999" y="4176000"/>
            <a:ext cx="705601" cy="360000"/>
          </a:xfrm>
          <a:prstGeom prst="line">
            <a:avLst/>
          </a:prstGeom>
          <a:ln w="22225">
            <a:solidFill>
              <a:srgbClr val="8EA9DB"/>
            </a:solidFill>
            <a:tailEnd type="triangle"/>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5799600" y="4176000"/>
            <a:ext cx="698400" cy="360000"/>
          </a:xfrm>
          <a:prstGeom prst="line">
            <a:avLst/>
          </a:prstGeom>
          <a:ln w="22225">
            <a:solidFill>
              <a:srgbClr val="8EA9DB"/>
            </a:solidFill>
            <a:tailEnd type="triangle"/>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432000" y="5526000"/>
            <a:ext cx="9043200" cy="360000"/>
          </a:xfrm>
          <a:prstGeom prst="roundRect">
            <a:avLst>
              <a:gd name="adj" fmla="val 8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50" b="0">
                <a:solidFill>
                  <a:srgbClr val="7F7F7F"/>
                </a:solidFill>
                <a:latin typeface="メイリオ"/>
                <a:ea typeface="メイリオ"/>
                <a:cs typeface="メイリオ"/>
              </a:rPr>
              <a:t>LINEではできないこと：授業の質を上げる／合格実績をつくる／講師を採用・育成する</a:t>
            </a:r>
          </a:p>
        </p:txBody>
      </p:sp>
    </p:spTree>
    <p:extLst>
      <p:ext uri="{BB962C8B-B14F-4D97-AF65-F5344CB8AC3E}">
        <p14:creationId xmlns:p14="http://schemas.microsoft.com/office/powerpoint/2010/main" val="4664780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CDB2C5-43E4-382E-3F0A-0B0F5E9FBB44}"/>
            </a:ext>
          </a:extLst>
        </p:cNvPr>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全体設計想定</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dirty="0">
                <a:solidFill>
                  <a:srgbClr val="333333"/>
                </a:solidFill>
                <a:latin typeface="メイリオ"/>
                <a:ea typeface="メイリオ"/>
                <a:cs typeface="メイリオ"/>
              </a:rPr>
              <a:t>軽い申し込み（資料請求）で先につながり、体験予約、入会へ進んでもらう。</a:t>
            </a:r>
            <a:endParaRPr lang="en-US" sz="1200" dirty="0">
              <a:solidFill>
                <a:srgbClr val="333333"/>
              </a:solidFill>
              <a:latin typeface="メイリオ"/>
              <a:ea typeface="メイリオ"/>
              <a:cs typeface="メイリオ"/>
            </a:endParaRPr>
          </a:p>
          <a:p>
            <a:pPr algn="l">
              <a:lnSpc>
                <a:spcPct val="128000"/>
              </a:lnSpc>
            </a:pPr>
            <a:r>
              <a:rPr sz="1200" dirty="0">
                <a:solidFill>
                  <a:srgbClr val="333333"/>
                </a:solidFill>
                <a:latin typeface="メイリオ"/>
                <a:ea typeface="メイリオ"/>
                <a:cs typeface="メイリオ"/>
              </a:rPr>
              <a:t>入会は教室で行うため、LINEで計測するのは資料請求（CV①）と体験予約（CV②）の2つ。</a:t>
            </a:r>
            <a:endParaRPr lang="en-US" sz="1200" dirty="0">
              <a:solidFill>
                <a:srgbClr val="333333"/>
              </a:solidFill>
              <a:latin typeface="メイリオ"/>
              <a:ea typeface="メイリオ"/>
              <a:cs typeface="メイリオ"/>
            </a:endParaRP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Pentagon 4"/>
          <p:cNvSpPr/>
          <p:nvPr/>
        </p:nvSpPr>
        <p:spPr>
          <a:xfrm>
            <a:off x="432000" y="590400"/>
            <a:ext cx="1111500" cy="180000"/>
          </a:xfrm>
          <a:prstGeom prst="homePlate">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①接触</a:t>
            </a:r>
          </a:p>
        </p:txBody>
      </p:sp>
      <p:sp>
        <p:nvSpPr>
          <p:cNvPr id="6" name="Chevron 5"/>
          <p:cNvSpPr/>
          <p:nvPr/>
        </p:nvSpPr>
        <p:spPr>
          <a:xfrm>
            <a:off x="15651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②離脱</a:t>
            </a:r>
          </a:p>
        </p:txBody>
      </p:sp>
      <p:sp>
        <p:nvSpPr>
          <p:cNvPr id="7" name="Chevron 6"/>
          <p:cNvSpPr/>
          <p:nvPr/>
        </p:nvSpPr>
        <p:spPr>
          <a:xfrm>
            <a:off x="26982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③育成</a:t>
            </a:r>
          </a:p>
        </p:txBody>
      </p:sp>
      <p:sp>
        <p:nvSpPr>
          <p:cNvPr id="8" name="Chevron 7"/>
          <p:cNvSpPr/>
          <p:nvPr/>
        </p:nvSpPr>
        <p:spPr>
          <a:xfrm>
            <a:off x="38312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④リード獲得</a:t>
            </a:r>
          </a:p>
        </p:txBody>
      </p:sp>
      <p:sp>
        <p:nvSpPr>
          <p:cNvPr id="9" name="Chevron 8"/>
          <p:cNvSpPr/>
          <p:nvPr/>
        </p:nvSpPr>
        <p:spPr>
          <a:xfrm>
            <a:off x="49644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⑤リード有効化</a:t>
            </a:r>
          </a:p>
        </p:txBody>
      </p:sp>
      <p:sp>
        <p:nvSpPr>
          <p:cNvPr id="10" name="Chevron 9"/>
          <p:cNvSpPr/>
          <p:nvPr/>
        </p:nvSpPr>
        <p:spPr>
          <a:xfrm>
            <a:off x="60975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⑥再育成</a:t>
            </a:r>
          </a:p>
        </p:txBody>
      </p:sp>
      <p:sp>
        <p:nvSpPr>
          <p:cNvPr id="11" name="Chevron 10"/>
          <p:cNvSpPr/>
          <p:nvPr/>
        </p:nvSpPr>
        <p:spPr>
          <a:xfrm>
            <a:off x="72305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⑦入会（契約）</a:t>
            </a:r>
          </a:p>
        </p:txBody>
      </p:sp>
      <p:sp>
        <p:nvSpPr>
          <p:cNvPr id="12" name="Chevron 11"/>
          <p:cNvSpPr/>
          <p:nvPr/>
        </p:nvSpPr>
        <p:spPr>
          <a:xfrm>
            <a:off x="83636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⑧紹介</a:t>
            </a:r>
          </a:p>
        </p:txBody>
      </p:sp>
      <p:sp>
        <p:nvSpPr>
          <p:cNvPr id="13" name="Pentagon 12"/>
          <p:cNvSpPr/>
          <p:nvPr/>
        </p:nvSpPr>
        <p:spPr>
          <a:xfrm>
            <a:off x="432000" y="1584000"/>
            <a:ext cx="1254857" cy="360000"/>
          </a:xfrm>
          <a:prstGeom prst="homePlat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28800" rIns="108000" bIns="28800" rtlCol="0" anchor="ctr"/>
          <a:lstStyle/>
          <a:p>
            <a:pPr algn="ctr"/>
            <a:r>
              <a:rPr sz="950" b="1">
                <a:solidFill>
                  <a:srgbClr val="FFFFFF"/>
                </a:solidFill>
                <a:latin typeface="メイリオ"/>
                <a:ea typeface="メイリオ"/>
                <a:cs typeface="メイリオ"/>
              </a:rPr>
              <a:t>①接触</a:t>
            </a:r>
          </a:p>
        </p:txBody>
      </p:sp>
      <p:sp>
        <p:nvSpPr>
          <p:cNvPr id="14" name="Rounded Rectangle 13"/>
          <p:cNvSpPr/>
          <p:nvPr/>
        </p:nvSpPr>
        <p:spPr>
          <a:xfrm>
            <a:off x="450000" y="2015999"/>
            <a:ext cx="1218857" cy="864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100" b="0">
                <a:solidFill>
                  <a:srgbClr val="333333"/>
                </a:solidFill>
                <a:latin typeface="メイリオ"/>
                <a:ea typeface="メイリオ"/>
                <a:cs typeface="メイリオ"/>
              </a:rPr>
              <a:t>広告・チラシ</a:t>
            </a:r>
          </a:p>
          <a:p>
            <a:pPr algn="ctr"/>
            <a:r>
              <a:rPr sz="1100" b="0">
                <a:solidFill>
                  <a:srgbClr val="333333"/>
                </a:solidFill>
                <a:latin typeface="メイリオ"/>
                <a:ea typeface="メイリオ"/>
                <a:cs typeface="メイリオ"/>
              </a:rPr>
              <a:t>・口コミ</a:t>
            </a:r>
          </a:p>
        </p:txBody>
      </p:sp>
      <p:sp>
        <p:nvSpPr>
          <p:cNvPr id="15" name="Chevron 14"/>
          <p:cNvSpPr/>
          <p:nvPr/>
        </p:nvSpPr>
        <p:spPr>
          <a:xfrm>
            <a:off x="1730057" y="1584000"/>
            <a:ext cx="1254857" cy="36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28800" rIns="108000" bIns="28800" rtlCol="0" anchor="ctr"/>
          <a:lstStyle/>
          <a:p>
            <a:pPr algn="ctr"/>
            <a:r>
              <a:rPr sz="950" b="1">
                <a:solidFill>
                  <a:srgbClr val="FFFFFF"/>
                </a:solidFill>
                <a:latin typeface="メイリオ"/>
                <a:ea typeface="メイリオ"/>
                <a:cs typeface="メイリオ"/>
              </a:rPr>
              <a:t>②離脱</a:t>
            </a:r>
          </a:p>
        </p:txBody>
      </p:sp>
      <p:sp>
        <p:nvSpPr>
          <p:cNvPr id="16" name="Rounded Rectangle 15"/>
          <p:cNvSpPr/>
          <p:nvPr/>
        </p:nvSpPr>
        <p:spPr>
          <a:xfrm>
            <a:off x="1748057" y="2015999"/>
            <a:ext cx="1218857" cy="864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100" b="0">
                <a:solidFill>
                  <a:srgbClr val="333333"/>
                </a:solidFill>
                <a:latin typeface="メイリオ"/>
                <a:ea typeface="メイリオ"/>
                <a:cs typeface="メイリオ"/>
              </a:rPr>
              <a:t>帰る保護者を</a:t>
            </a:r>
          </a:p>
          <a:p>
            <a:pPr algn="ctr"/>
            <a:r>
              <a:rPr sz="1100" b="0">
                <a:solidFill>
                  <a:srgbClr val="333333"/>
                </a:solidFill>
                <a:latin typeface="メイリオ"/>
                <a:ea typeface="メイリオ"/>
                <a:cs typeface="メイリオ"/>
              </a:rPr>
              <a:t>離脱防止でLINEへ</a:t>
            </a:r>
          </a:p>
        </p:txBody>
      </p:sp>
      <p:sp>
        <p:nvSpPr>
          <p:cNvPr id="17" name="Chevron 16"/>
          <p:cNvSpPr/>
          <p:nvPr/>
        </p:nvSpPr>
        <p:spPr>
          <a:xfrm>
            <a:off x="3028114" y="1584000"/>
            <a:ext cx="1254857" cy="36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28800" rIns="108000" bIns="28800" rtlCol="0" anchor="ctr"/>
          <a:lstStyle/>
          <a:p>
            <a:pPr algn="ctr"/>
            <a:r>
              <a:rPr sz="950" b="1">
                <a:solidFill>
                  <a:srgbClr val="FFFFFF"/>
                </a:solidFill>
                <a:latin typeface="メイリオ"/>
                <a:ea typeface="メイリオ"/>
                <a:cs typeface="メイリオ"/>
              </a:rPr>
              <a:t>③育成</a:t>
            </a:r>
          </a:p>
        </p:txBody>
      </p:sp>
      <p:sp>
        <p:nvSpPr>
          <p:cNvPr id="18" name="Rounded Rectangle 17"/>
          <p:cNvSpPr/>
          <p:nvPr/>
        </p:nvSpPr>
        <p:spPr>
          <a:xfrm>
            <a:off x="3046114" y="2015999"/>
            <a:ext cx="1218857" cy="864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100" b="0">
                <a:solidFill>
                  <a:srgbClr val="333333"/>
                </a:solidFill>
                <a:latin typeface="メイリオ"/>
                <a:ea typeface="メイリオ"/>
                <a:cs typeface="メイリオ"/>
              </a:rPr>
              <a:t>比べている間</a:t>
            </a:r>
          </a:p>
          <a:p>
            <a:pPr algn="ctr"/>
            <a:r>
              <a:rPr sz="1100" b="0">
                <a:solidFill>
                  <a:srgbClr val="333333"/>
                </a:solidFill>
                <a:latin typeface="メイリオ"/>
                <a:ea typeface="メイリオ"/>
                <a:cs typeface="メイリオ"/>
              </a:rPr>
              <a:t>情報を届ける</a:t>
            </a:r>
          </a:p>
        </p:txBody>
      </p:sp>
      <p:sp>
        <p:nvSpPr>
          <p:cNvPr id="19" name="Chevron 18"/>
          <p:cNvSpPr/>
          <p:nvPr/>
        </p:nvSpPr>
        <p:spPr>
          <a:xfrm>
            <a:off x="4326171" y="1584000"/>
            <a:ext cx="1254857" cy="36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28800" rIns="108000" bIns="28800" rtlCol="0" anchor="ctr"/>
          <a:lstStyle/>
          <a:p>
            <a:pPr algn="ctr"/>
            <a:r>
              <a:rPr sz="950" b="1">
                <a:solidFill>
                  <a:srgbClr val="FFFFFF"/>
                </a:solidFill>
                <a:latin typeface="メイリオ"/>
                <a:ea typeface="メイリオ"/>
                <a:cs typeface="メイリオ"/>
              </a:rPr>
              <a:t>④リード獲得</a:t>
            </a:r>
          </a:p>
        </p:txBody>
      </p:sp>
      <p:sp>
        <p:nvSpPr>
          <p:cNvPr id="20" name="Rounded Rectangle 19"/>
          <p:cNvSpPr/>
          <p:nvPr/>
        </p:nvSpPr>
        <p:spPr>
          <a:xfrm>
            <a:off x="4344171" y="2015999"/>
            <a:ext cx="1218857" cy="864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100" b="0">
                <a:solidFill>
                  <a:srgbClr val="333333"/>
                </a:solidFill>
                <a:latin typeface="メイリオ"/>
                <a:ea typeface="メイリオ"/>
                <a:cs typeface="メイリオ"/>
              </a:rPr>
              <a:t>30秒診断 →</a:t>
            </a:r>
          </a:p>
          <a:p>
            <a:pPr algn="ctr"/>
            <a:r>
              <a:rPr sz="1100" b="0">
                <a:solidFill>
                  <a:srgbClr val="333333"/>
                </a:solidFill>
                <a:latin typeface="メイリオ"/>
                <a:ea typeface="メイリオ"/>
                <a:cs typeface="メイリオ"/>
              </a:rPr>
              <a:t>資料をLINEで</a:t>
            </a:r>
          </a:p>
        </p:txBody>
      </p:sp>
      <p:sp>
        <p:nvSpPr>
          <p:cNvPr id="21" name="Chevron 20"/>
          <p:cNvSpPr/>
          <p:nvPr/>
        </p:nvSpPr>
        <p:spPr>
          <a:xfrm>
            <a:off x="5624228" y="1584000"/>
            <a:ext cx="1254857" cy="36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28800" rIns="108000" bIns="28800" rtlCol="0" anchor="ctr"/>
          <a:lstStyle/>
          <a:p>
            <a:pPr algn="ctr"/>
            <a:r>
              <a:rPr sz="950" b="1">
                <a:solidFill>
                  <a:srgbClr val="FFFFFF"/>
                </a:solidFill>
                <a:latin typeface="メイリオ"/>
                <a:ea typeface="メイリオ"/>
                <a:cs typeface="メイリオ"/>
              </a:rPr>
              <a:t>⑤リード有効化</a:t>
            </a:r>
          </a:p>
        </p:txBody>
      </p:sp>
      <p:sp>
        <p:nvSpPr>
          <p:cNvPr id="22" name="Rounded Rectangle 21"/>
          <p:cNvSpPr/>
          <p:nvPr/>
        </p:nvSpPr>
        <p:spPr>
          <a:xfrm>
            <a:off x="5642228" y="2015999"/>
            <a:ext cx="1218857" cy="864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100" b="0">
                <a:solidFill>
                  <a:srgbClr val="333333"/>
                </a:solidFill>
                <a:latin typeface="メイリオ"/>
                <a:ea typeface="メイリオ"/>
                <a:cs typeface="メイリオ"/>
              </a:rPr>
              <a:t>資料を読む人へ</a:t>
            </a:r>
          </a:p>
          <a:p>
            <a:pPr algn="ctr"/>
            <a:r>
              <a:rPr sz="1100" b="0">
                <a:solidFill>
                  <a:srgbClr val="333333"/>
                </a:solidFill>
                <a:latin typeface="メイリオ"/>
                <a:ea typeface="メイリオ"/>
                <a:cs typeface="メイリオ"/>
              </a:rPr>
              <a:t>追いの配信→体験予約</a:t>
            </a:r>
          </a:p>
        </p:txBody>
      </p:sp>
      <p:sp>
        <p:nvSpPr>
          <p:cNvPr id="23" name="Chevron 22"/>
          <p:cNvSpPr/>
          <p:nvPr/>
        </p:nvSpPr>
        <p:spPr>
          <a:xfrm>
            <a:off x="6922285" y="1584000"/>
            <a:ext cx="1254857" cy="36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28800" rIns="108000" bIns="28800" rtlCol="0" anchor="ctr"/>
          <a:lstStyle/>
          <a:p>
            <a:pPr algn="ctr"/>
            <a:r>
              <a:rPr sz="950" b="1">
                <a:solidFill>
                  <a:srgbClr val="FFFFFF"/>
                </a:solidFill>
                <a:latin typeface="メイリオ"/>
                <a:ea typeface="メイリオ"/>
                <a:cs typeface="メイリオ"/>
              </a:rPr>
              <a:t>⑥再育成</a:t>
            </a:r>
          </a:p>
        </p:txBody>
      </p:sp>
      <p:sp>
        <p:nvSpPr>
          <p:cNvPr id="24" name="Rounded Rectangle 23"/>
          <p:cNvSpPr/>
          <p:nvPr/>
        </p:nvSpPr>
        <p:spPr>
          <a:xfrm>
            <a:off x="6940285" y="2015999"/>
            <a:ext cx="1218857" cy="864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100" b="0">
                <a:solidFill>
                  <a:srgbClr val="333333"/>
                </a:solidFill>
                <a:latin typeface="メイリオ"/>
                <a:ea typeface="メイリオ"/>
                <a:cs typeface="メイリオ"/>
              </a:rPr>
              <a:t>体験に来なかった・</a:t>
            </a:r>
          </a:p>
          <a:p>
            <a:pPr algn="ctr"/>
            <a:r>
              <a:rPr sz="1100" b="0">
                <a:solidFill>
                  <a:srgbClr val="333333"/>
                </a:solidFill>
                <a:latin typeface="メイリオ"/>
                <a:ea typeface="メイリオ"/>
                <a:cs typeface="メイリオ"/>
              </a:rPr>
              <a:t>入会しなかった人へ</a:t>
            </a:r>
          </a:p>
        </p:txBody>
      </p:sp>
      <p:sp>
        <p:nvSpPr>
          <p:cNvPr id="25" name="Chevron 24"/>
          <p:cNvSpPr/>
          <p:nvPr/>
        </p:nvSpPr>
        <p:spPr>
          <a:xfrm>
            <a:off x="8220342" y="1584000"/>
            <a:ext cx="1254857" cy="36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28800" rIns="108000" bIns="28800" rtlCol="0" anchor="ctr"/>
          <a:lstStyle/>
          <a:p>
            <a:pPr algn="ctr"/>
            <a:r>
              <a:rPr sz="950" b="1">
                <a:solidFill>
                  <a:srgbClr val="FFFFFF"/>
                </a:solidFill>
                <a:latin typeface="メイリオ"/>
                <a:ea typeface="メイリオ"/>
                <a:cs typeface="メイリオ"/>
              </a:rPr>
              <a:t>⑦入会（契約）</a:t>
            </a:r>
          </a:p>
        </p:txBody>
      </p:sp>
      <p:sp>
        <p:nvSpPr>
          <p:cNvPr id="26" name="Rounded Rectangle 25"/>
          <p:cNvSpPr/>
          <p:nvPr/>
        </p:nvSpPr>
        <p:spPr>
          <a:xfrm>
            <a:off x="8238342" y="2015999"/>
            <a:ext cx="1218857" cy="864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100" b="0">
                <a:solidFill>
                  <a:srgbClr val="333333"/>
                </a:solidFill>
                <a:latin typeface="メイリオ"/>
                <a:ea typeface="メイリオ"/>
                <a:cs typeface="メイリオ"/>
              </a:rPr>
              <a:t>教室で入会</a:t>
            </a:r>
          </a:p>
          <a:p>
            <a:pPr algn="ctr"/>
            <a:r>
              <a:rPr sz="1100" b="0">
                <a:solidFill>
                  <a:srgbClr val="333333"/>
                </a:solidFill>
                <a:latin typeface="メイリオ"/>
                <a:ea typeface="メイリオ"/>
                <a:cs typeface="メイリオ"/>
              </a:rPr>
              <a:t>（LINEでは計測しない）</a:t>
            </a:r>
          </a:p>
        </p:txBody>
      </p:sp>
      <p:cxnSp>
        <p:nvCxnSpPr>
          <p:cNvPr id="27" name="Connector 26"/>
          <p:cNvCxnSpPr/>
          <p:nvPr/>
        </p:nvCxnSpPr>
        <p:spPr>
          <a:xfrm>
            <a:off x="4953600" y="2862000"/>
            <a:ext cx="0" cy="342000"/>
          </a:xfrm>
          <a:prstGeom prst="line">
            <a:avLst/>
          </a:prstGeom>
          <a:ln w="25400">
            <a:solidFill>
              <a:srgbClr val="00897B"/>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4344171" y="3204000"/>
            <a:ext cx="1218857" cy="432000"/>
          </a:xfrm>
          <a:prstGeom prst="roundRect">
            <a:avLst>
              <a:gd name="adj" fmla="val 20000"/>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000" b="1">
                <a:solidFill>
                  <a:srgbClr val="FFFFFF"/>
                </a:solidFill>
                <a:latin typeface="メイリオ"/>
                <a:ea typeface="メイリオ"/>
                <a:cs typeface="メイリオ"/>
              </a:rPr>
              <a:t>CV①</a:t>
            </a:r>
          </a:p>
          <a:p>
            <a:pPr algn="ctr"/>
            <a:r>
              <a:rPr sz="1000" b="1">
                <a:solidFill>
                  <a:srgbClr val="FFFFFF"/>
                </a:solidFill>
                <a:latin typeface="メイリオ"/>
                <a:ea typeface="メイリオ"/>
                <a:cs typeface="メイリオ"/>
              </a:rPr>
              <a:t>資料請求</a:t>
            </a:r>
          </a:p>
        </p:txBody>
      </p:sp>
      <p:cxnSp>
        <p:nvCxnSpPr>
          <p:cNvPr id="29" name="Connector 28"/>
          <p:cNvCxnSpPr/>
          <p:nvPr/>
        </p:nvCxnSpPr>
        <p:spPr>
          <a:xfrm>
            <a:off x="6251657" y="2862000"/>
            <a:ext cx="0" cy="342000"/>
          </a:xfrm>
          <a:prstGeom prst="line">
            <a:avLst/>
          </a:prstGeom>
          <a:ln w="25400">
            <a:solidFill>
              <a:srgbClr val="00897B"/>
            </a:solidFill>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642228" y="3204000"/>
            <a:ext cx="1218857" cy="432000"/>
          </a:xfrm>
          <a:prstGeom prst="roundRect">
            <a:avLst>
              <a:gd name="adj" fmla="val 20000"/>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000" b="1">
                <a:solidFill>
                  <a:srgbClr val="FFFFFF"/>
                </a:solidFill>
                <a:latin typeface="メイリオ"/>
                <a:ea typeface="メイリオ"/>
                <a:cs typeface="メイリオ"/>
              </a:rPr>
              <a:t>CV②</a:t>
            </a:r>
          </a:p>
          <a:p>
            <a:pPr algn="ctr"/>
            <a:r>
              <a:rPr sz="1000" b="1">
                <a:solidFill>
                  <a:srgbClr val="FFFFFF"/>
                </a:solidFill>
                <a:latin typeface="メイリオ"/>
                <a:ea typeface="メイリオ"/>
                <a:cs typeface="メイリオ"/>
              </a:rPr>
              <a:t>体験予約</a:t>
            </a:r>
          </a:p>
        </p:txBody>
      </p:sp>
      <p:cxnSp>
        <p:nvCxnSpPr>
          <p:cNvPr id="31" name="Connector 30"/>
          <p:cNvCxnSpPr/>
          <p:nvPr/>
        </p:nvCxnSpPr>
        <p:spPr>
          <a:xfrm>
            <a:off x="8847771" y="2862000"/>
            <a:ext cx="0" cy="342000"/>
          </a:xfrm>
          <a:prstGeom prst="line">
            <a:avLst/>
          </a:prstGeom>
          <a:ln w="25400">
            <a:solidFill>
              <a:srgbClr val="1F285A"/>
            </a:solidFill>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8238342" y="3204000"/>
            <a:ext cx="1218857" cy="432000"/>
          </a:xfrm>
          <a:prstGeom prst="roundRect">
            <a:avLst>
              <a:gd name="adj" fmla="val 2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000" b="1">
                <a:solidFill>
                  <a:srgbClr val="FFFFFF"/>
                </a:solidFill>
                <a:latin typeface="メイリオ"/>
                <a:ea typeface="メイリオ"/>
                <a:cs typeface="メイリオ"/>
              </a:rPr>
              <a:t>入会</a:t>
            </a:r>
          </a:p>
          <a:p>
            <a:pPr algn="ctr"/>
            <a:r>
              <a:rPr sz="1000" b="1">
                <a:solidFill>
                  <a:srgbClr val="FFFFFF"/>
                </a:solidFill>
                <a:latin typeface="メイリオ"/>
                <a:ea typeface="メイリオ"/>
                <a:cs typeface="メイリオ"/>
              </a:rPr>
              <a:t>（契約）</a:t>
            </a:r>
          </a:p>
        </p:txBody>
      </p:sp>
      <p:sp>
        <p:nvSpPr>
          <p:cNvPr id="33" name="Rectangle 32"/>
          <p:cNvSpPr/>
          <p:nvPr/>
        </p:nvSpPr>
        <p:spPr>
          <a:xfrm>
            <a:off x="4218171" y="3643199"/>
            <a:ext cx="2768914" cy="16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ctr"/>
            <a:r>
              <a:rPr sz="850" b="1">
                <a:solidFill>
                  <a:srgbClr val="1F285A"/>
                </a:solidFill>
                <a:latin typeface="メイリオ"/>
                <a:ea typeface="メイリオ"/>
                <a:cs typeface="メイリオ"/>
              </a:rPr>
              <a:t>↑ この間に「読んで・比べて・迷う」期間がある ↑</a:t>
            </a:r>
          </a:p>
        </p:txBody>
      </p:sp>
      <p:sp>
        <p:nvSpPr>
          <p:cNvPr id="34" name="Rounded Rectangle 33"/>
          <p:cNvSpPr/>
          <p:nvPr/>
        </p:nvSpPr>
        <p:spPr>
          <a:xfrm>
            <a:off x="432000" y="3816000"/>
            <a:ext cx="9043200" cy="1475999"/>
          </a:xfrm>
          <a:prstGeom prst="roundRect">
            <a:avLst>
              <a:gd name="adj" fmla="val 8000"/>
            </a:avLst>
          </a:prstGeom>
          <a:solidFill>
            <a:srgbClr val="F4F7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35" name="Rectangle 34"/>
          <p:cNvSpPr/>
          <p:nvPr/>
        </p:nvSpPr>
        <p:spPr>
          <a:xfrm>
            <a:off x="576000" y="3870000"/>
            <a:ext cx="8748000" cy="288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400" b="1">
                <a:solidFill>
                  <a:srgbClr val="002060"/>
                </a:solidFill>
                <a:latin typeface="メイリオ"/>
                <a:ea typeface="メイリオ"/>
                <a:cs typeface="メイリオ"/>
              </a:rPr>
              <a:t>CVを2段に分ける理由</a:t>
            </a:r>
          </a:p>
        </p:txBody>
      </p:sp>
      <p:sp>
        <p:nvSpPr>
          <p:cNvPr id="36" name="Rectangle 35"/>
          <p:cNvSpPr/>
          <p:nvPr/>
        </p:nvSpPr>
        <p:spPr>
          <a:xfrm>
            <a:off x="576000" y="4212000"/>
            <a:ext cx="4248000" cy="108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400" b="1">
                <a:solidFill>
                  <a:srgbClr val="00897B"/>
                </a:solidFill>
                <a:latin typeface="メイリオ"/>
                <a:ea typeface="メイリオ"/>
                <a:cs typeface="メイリオ"/>
              </a:rPr>
              <a:t>CV① 資料請求（軽い）</a:t>
            </a:r>
          </a:p>
          <a:p>
            <a:pPr algn="l"/>
            <a:r>
              <a:rPr sz="1250" b="0">
                <a:solidFill>
                  <a:srgbClr val="333333"/>
                </a:solidFill>
                <a:latin typeface="メイリオ"/>
                <a:ea typeface="メイリオ"/>
                <a:cs typeface="メイリオ"/>
              </a:rPr>
              <a:t>・まだ決めていない保護者でも、気軽に申し込める</a:t>
            </a:r>
          </a:p>
          <a:p>
            <a:pPr algn="l"/>
            <a:r>
              <a:rPr sz="1250" b="0">
                <a:solidFill>
                  <a:srgbClr val="333333"/>
                </a:solidFill>
                <a:latin typeface="メイリオ"/>
                <a:ea typeface="メイリオ"/>
                <a:cs typeface="メイリオ"/>
              </a:rPr>
              <a:t>・学年や悩みが分かり、その後の配信を合わせられる</a:t>
            </a:r>
          </a:p>
        </p:txBody>
      </p:sp>
      <p:sp>
        <p:nvSpPr>
          <p:cNvPr id="37" name="Rectangle 36"/>
          <p:cNvSpPr/>
          <p:nvPr/>
        </p:nvSpPr>
        <p:spPr>
          <a:xfrm>
            <a:off x="5004000" y="4212000"/>
            <a:ext cx="4320000" cy="108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450" b="1">
                <a:solidFill>
                  <a:srgbClr val="00897B"/>
                </a:solidFill>
                <a:latin typeface="メイリオ"/>
                <a:ea typeface="メイリオ"/>
                <a:cs typeface="メイリオ"/>
              </a:rPr>
              <a:t>CV② 体験予約（重い）</a:t>
            </a:r>
          </a:p>
          <a:p>
            <a:pPr algn="l"/>
            <a:r>
              <a:rPr sz="1350" b="0">
                <a:solidFill>
                  <a:srgbClr val="333333"/>
                </a:solidFill>
                <a:latin typeface="メイリオ"/>
                <a:ea typeface="メイリオ"/>
                <a:cs typeface="メイリオ"/>
              </a:rPr>
              <a:t>・資料を読んで「合いそう」と思った保護者が進む</a:t>
            </a:r>
          </a:p>
          <a:p>
            <a:pPr algn="l"/>
            <a:r>
              <a:rPr sz="1350" b="0">
                <a:solidFill>
                  <a:srgbClr val="333333"/>
                </a:solidFill>
                <a:latin typeface="メイリオ"/>
                <a:ea typeface="メイリオ"/>
                <a:cs typeface="メイリオ"/>
              </a:rPr>
              <a:t>・体験に来てもらえれば、入会は教室で決まる</a:t>
            </a:r>
          </a:p>
        </p:txBody>
      </p:sp>
      <p:sp>
        <p:nvSpPr>
          <p:cNvPr id="38" name="Rounded Rectangle 37"/>
          <p:cNvSpPr/>
          <p:nvPr/>
        </p:nvSpPr>
        <p:spPr>
          <a:xfrm>
            <a:off x="432000" y="5436000"/>
            <a:ext cx="9043200" cy="468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700" b="1">
                <a:solidFill>
                  <a:srgbClr val="FFFFFF"/>
                </a:solidFill>
                <a:latin typeface="メイリオ"/>
                <a:ea typeface="メイリオ"/>
                <a:cs typeface="メイリオ"/>
              </a:rPr>
              <a:t>いきなり体験を迫らず、資料請求 → 体験予約 → 入会の順に進んでもらう。</a:t>
            </a:r>
          </a:p>
        </p:txBody>
      </p:sp>
    </p:spTree>
    <p:extLst>
      <p:ext uri="{BB962C8B-B14F-4D97-AF65-F5344CB8AC3E}">
        <p14:creationId xmlns:p14="http://schemas.microsoft.com/office/powerpoint/2010/main" val="32250749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D501E-4538-865B-06FF-B4530B24F06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3D3533E4-0377-76E5-495C-9BA89161C5A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602C552F-05B3-B0A8-5D9C-EEE4787A9537}"/>
              </a:ext>
            </a:extLst>
          </p:cNvPr>
          <p:cNvSpPr/>
          <p:nvPr/>
        </p:nvSpPr>
        <p:spPr>
          <a:xfrm>
            <a:off x="2193285" y="3038203"/>
            <a:ext cx="551946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施策の詳細（配信の効率化）</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1128037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73B14C-0AEA-B93E-0808-EE37D50F60C4}"/>
            </a:ext>
          </a:extLst>
        </p:cNvPr>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明光義塾の型を分解すると、3つの仕組み</a:t>
            </a:r>
          </a:p>
        </p:txBody>
      </p:sp>
      <p:sp>
        <p:nvSpPr>
          <p:cNvPr id="3" name="TextBox 2"/>
          <p:cNvSpPr txBox="1"/>
          <p:nvPr/>
        </p:nvSpPr>
        <p:spPr>
          <a:xfrm>
            <a:off x="432000" y="630000"/>
            <a:ext cx="9036000" cy="720000"/>
          </a:xfrm>
          <a:prstGeom prst="rect">
            <a:avLst/>
          </a:prstGeom>
          <a:noFill/>
        </p:spPr>
        <p:txBody>
          <a:bodyPr wrap="square" lIns="0" tIns="21600" rIns="0" bIns="21600" anchor="ctr">
            <a:spAutoFit/>
          </a:bodyPr>
          <a:lstStyle/>
          <a:p>
            <a:pPr algn="l">
              <a:lnSpc>
                <a:spcPct val="128000"/>
              </a:lnSpc>
            </a:pPr>
            <a:r>
              <a:rPr sz="1200" dirty="0" err="1">
                <a:solidFill>
                  <a:srgbClr val="333333"/>
                </a:solidFill>
                <a:latin typeface="メイリオ"/>
                <a:ea typeface="メイリオ"/>
                <a:cs typeface="メイリオ"/>
              </a:rPr>
              <a:t>公式事例（2023年）と実際の画面（2026年10月）から読み取れる仕組みは3つです。</a:t>
            </a:r>
          </a:p>
          <a:p>
            <a:pPr algn="l">
              <a:lnSpc>
                <a:spcPct val="128000"/>
              </a:lnSpc>
            </a:pPr>
            <a:r>
              <a:rPr sz="1200" dirty="0" err="1">
                <a:solidFill>
                  <a:srgbClr val="333333"/>
                </a:solidFill>
                <a:latin typeface="メイリオ"/>
                <a:ea typeface="メイリオ"/>
                <a:cs typeface="メイリオ"/>
              </a:rPr>
              <a:t>この型を、このあとの入口（P25）・診断（P28）・配信の出し分け（P30）・ステップ配信（P31）に取り入れます。</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900">
                <a:solidFill>
                  <a:srgbClr val="7F7F7F"/>
                </a:solidFill>
                <a:latin typeface="メイリオ"/>
                <a:ea typeface="メイリオ"/>
                <a:cs typeface="メイリオ"/>
              </a:rPr>
              <a:t>※ 出典：LINEヤフー for Business 導入事例（2024年4月5日）・明光義塾 LINE公式アカウント（2026-10-19 弊社確認）。実際の画面はP16。</a:t>
            </a:r>
          </a:p>
        </p:txBody>
      </p:sp>
      <p:sp>
        <p:nvSpPr>
          <p:cNvPr id="104" name="Rounded Rectangle 103"/>
          <p:cNvSpPr/>
          <p:nvPr/>
        </p:nvSpPr>
        <p:spPr>
          <a:xfrm>
            <a:off x="432000" y="5850000"/>
            <a:ext cx="9043200" cy="342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50" b="1">
                <a:solidFill>
                  <a:srgbClr val="FFFFFF"/>
                </a:solidFill>
                <a:latin typeface="メイリオ"/>
                <a:ea typeface="メイリオ"/>
                <a:cs typeface="メイリオ"/>
              </a:rPr>
              <a:t>友だちになってもらい、答えてもらい、合う方に届ける。この時期に資料請求は前年比 約120%（公式事例）。</a:t>
            </a:r>
          </a:p>
        </p:txBody>
      </p:sp>
      <p:sp>
        <p:nvSpPr>
          <p:cNvPr id="105" name="Rounded Rectangle 104"/>
          <p:cNvSpPr/>
          <p:nvPr/>
        </p:nvSpPr>
        <p:spPr>
          <a:xfrm>
            <a:off x="429768" y="1508760"/>
            <a:ext cx="2880360" cy="310896"/>
          </a:xfrm>
          <a:prstGeom prst="roundRect">
            <a:avLst>
              <a:gd name="adj" fmla="val 20000"/>
            </a:avLst>
          </a:prstGeom>
          <a:solidFill>
            <a:srgbClr val="1F285A"/>
          </a:solidFill>
          <a:ln>
            <a:noFill/>
          </a:ln>
        </p:spPr>
        <p:txBody>
          <a:bodyPr wrap="square" lIns="36576" tIns="0" rIns="36576" bIns="0" rtlCol="0" anchor="ctr">
            <a:noAutofit/>
          </a:bodyPr>
          <a:lstStyle/>
          <a:p>
            <a:pPr algn="ctr">
              <a:buNone/>
            </a:pPr>
            <a:r>
              <a:rPr lang="ja-JP" altLang="en-US" sz="1250" b="1" dirty="0">
                <a:solidFill>
                  <a:srgbClr val="FFFFFF"/>
                </a:solidFill>
                <a:latin typeface="メイリオ" panose="020B0604030504040204" pitchFamily="50" charset="-128"/>
                <a:ea typeface="メイリオ" panose="020B0604030504040204" pitchFamily="50" charset="-128"/>
              </a:rPr>
              <a:t>① サイトから、LINEの友だちに</a:t>
            </a:r>
            <a:endParaRPr lang="ja-JP" altLang="en-US" sz="1250" dirty="0"/>
          </a:p>
        </p:txBody>
      </p:sp>
      <p:sp>
        <p:nvSpPr>
          <p:cNvPr id="106" name="Rounded Rectangle 105"/>
          <p:cNvSpPr/>
          <p:nvPr/>
        </p:nvSpPr>
        <p:spPr>
          <a:xfrm>
            <a:off x="429768" y="1911095"/>
            <a:ext cx="2880360" cy="1600200"/>
          </a:xfrm>
          <a:prstGeom prst="roundRect">
            <a:avLst>
              <a:gd name="adj" fmla="val 5000"/>
            </a:avLst>
          </a:prstGeom>
          <a:solidFill>
            <a:srgbClr val="F4F7FF"/>
          </a:solidFill>
          <a:ln w="9525">
            <a:solidFill>
              <a:srgbClr val="D9D9D9"/>
            </a:solidFill>
          </a:ln>
        </p:spPr>
        <p:txBody>
          <a:bodyPr wrap="square" lIns="109728" tIns="91440" rIns="91440" bIns="54864" rtlCol="0" anchor="t">
            <a:noAutofit/>
          </a:bodyPr>
          <a:lstStyle/>
          <a:p>
            <a:pPr algn="l">
              <a:lnSpc>
                <a:spcPct val="110000"/>
              </a:lnSpc>
              <a:spcAft>
                <a:spcPts val="600"/>
              </a:spcAft>
              <a:buNone/>
            </a:pPr>
            <a:r>
              <a:rPr lang="ja-JP" altLang="en-US" sz="1100" b="0" dirty="0">
                <a:solidFill>
                  <a:srgbClr val="333333"/>
                </a:solidFill>
                <a:latin typeface="メイリオ" panose="020B0604030504040204" pitchFamily="50" charset="-128"/>
                <a:ea typeface="メイリオ" panose="020B0604030504040204" pitchFamily="50" charset="-128"/>
              </a:rPr>
              <a:t>サイトの初回訪問時・離脱時に、ポップアップで友だち追加を案内。</a:t>
            </a:r>
            <a:endParaRPr lang="ja-JP" altLang="en-US" sz="1100" dirty="0"/>
          </a:p>
          <a:p>
            <a:pPr algn="l">
              <a:lnSpc>
                <a:spcPct val="110000"/>
              </a:lnSpc>
              <a:spcAft>
                <a:spcPts val="600"/>
              </a:spcAft>
              <a:buNone/>
            </a:pPr>
            <a:r>
              <a:rPr lang="ja-JP" altLang="en-US" sz="1100" b="0" dirty="0">
                <a:solidFill>
                  <a:srgbClr val="333333"/>
                </a:solidFill>
                <a:latin typeface="メイリオ" panose="020B0604030504040204" pitchFamily="50" charset="-128"/>
                <a:ea typeface="メイリオ" panose="020B0604030504040204" pitchFamily="50" charset="-128"/>
              </a:rPr>
              <a:t>2023年は、スタンプの無料配布で、友だちから友だちへ広げた。</a:t>
            </a:r>
            <a:endParaRPr lang="ja-JP" altLang="en-US" sz="1100" dirty="0"/>
          </a:p>
        </p:txBody>
      </p:sp>
      <p:sp>
        <p:nvSpPr>
          <p:cNvPr id="107" name="Rounded Rectangle 106"/>
          <p:cNvSpPr/>
          <p:nvPr/>
        </p:nvSpPr>
        <p:spPr>
          <a:xfrm>
            <a:off x="429768" y="3621024"/>
            <a:ext cx="2880360" cy="914400"/>
          </a:xfrm>
          <a:prstGeom prst="roundRect">
            <a:avLst>
              <a:gd name="adj" fmla="val 5000"/>
            </a:avLst>
          </a:prstGeom>
          <a:solidFill>
            <a:srgbClr val="FFFFFF"/>
          </a:solidFill>
          <a:ln w="9525">
            <a:solidFill>
              <a:srgbClr val="D9D9D9"/>
            </a:solidFill>
          </a:ln>
        </p:spPr>
        <p:txBody>
          <a:bodyPr wrap="square" lIns="91440" tIns="73152" rIns="73152" bIns="36576" rtlCol="0" anchor="t">
            <a:noAutofit/>
          </a:bodyPr>
          <a:lstStyle/>
          <a:p>
            <a:pPr algn="l">
              <a:lnSpc>
                <a:spcPct val="105000"/>
              </a:lnSpc>
              <a:buNone/>
            </a:pPr>
            <a:r>
              <a:rPr lang="ja-JP" altLang="en-US" sz="1050" b="1" dirty="0">
                <a:solidFill>
                  <a:srgbClr val="1F285A"/>
                </a:solidFill>
                <a:latin typeface="メイリオ" panose="020B0604030504040204" pitchFamily="50" charset="-128"/>
                <a:ea typeface="メイリオ" panose="020B0604030504040204" pitchFamily="50" charset="-128"/>
              </a:rPr>
              <a:t>実際の例</a:t>
            </a:r>
            <a:endParaRPr lang="ja-JP" altLang="en-US" sz="1100" dirty="0"/>
          </a:p>
          <a:p>
            <a:pPr algn="l">
              <a:lnSpc>
                <a:spcPct val="105000"/>
              </a:lnSpc>
              <a:buNone/>
            </a:pPr>
            <a:r>
              <a:rPr lang="ja-JP" altLang="en-US" sz="1100" b="0" dirty="0">
                <a:solidFill>
                  <a:srgbClr val="333333"/>
                </a:solidFill>
                <a:latin typeface="メイリオ" panose="020B0604030504040204" pitchFamily="50" charset="-128"/>
                <a:ea typeface="メイリオ" panose="020B0604030504040204" pitchFamily="50" charset="-128"/>
              </a:rPr>
              <a:t>約5か月で友だち約20万人増</a:t>
            </a:r>
            <a:endParaRPr lang="ja-JP" altLang="en-US" sz="1100" dirty="0"/>
          </a:p>
          <a:p>
            <a:pPr algn="l">
              <a:lnSpc>
                <a:spcPct val="105000"/>
              </a:lnSpc>
              <a:buNone/>
            </a:pPr>
            <a:r>
              <a:rPr lang="ja-JP" altLang="en-US" sz="1100" b="0" dirty="0">
                <a:solidFill>
                  <a:srgbClr val="333333"/>
                </a:solidFill>
                <a:latin typeface="メイリオ" panose="020B0604030504040204" pitchFamily="50" charset="-128"/>
                <a:ea typeface="メイリオ" panose="020B0604030504040204" pitchFamily="50" charset="-128"/>
              </a:rPr>
              <a:t>うち約15万人は友だちからの広がり</a:t>
            </a:r>
            <a:endParaRPr lang="ja-JP" altLang="en-US" sz="1100" dirty="0"/>
          </a:p>
        </p:txBody>
      </p:sp>
      <p:sp>
        <p:nvSpPr>
          <p:cNvPr id="108" name="Rounded Rectangle 107"/>
          <p:cNvSpPr/>
          <p:nvPr/>
        </p:nvSpPr>
        <p:spPr>
          <a:xfrm>
            <a:off x="3511296" y="1508760"/>
            <a:ext cx="2880360" cy="310896"/>
          </a:xfrm>
          <a:prstGeom prst="roundRect">
            <a:avLst>
              <a:gd name="adj" fmla="val 20000"/>
            </a:avLst>
          </a:prstGeom>
          <a:solidFill>
            <a:srgbClr val="1F285A"/>
          </a:solidFill>
          <a:ln>
            <a:noFill/>
          </a:ln>
        </p:spPr>
        <p:txBody>
          <a:bodyPr wrap="square" lIns="36576" tIns="0" rIns="36576" bIns="0" rtlCol="0" anchor="ctr">
            <a:noAutofit/>
          </a:bodyPr>
          <a:lstStyle/>
          <a:p>
            <a:pPr algn="ctr">
              <a:buNone/>
            </a:pPr>
            <a:r>
              <a:rPr lang="ja-JP" altLang="en-US" sz="1250" b="1" dirty="0">
                <a:solidFill>
                  <a:srgbClr val="FFFFFF"/>
                </a:solidFill>
                <a:latin typeface="メイリオ" panose="020B0604030504040204" pitchFamily="50" charset="-128"/>
                <a:ea typeface="メイリオ" panose="020B0604030504040204" pitchFamily="50" charset="-128"/>
              </a:rPr>
              <a:t>② 追加の直後に、診断と予約の案内</a:t>
            </a:r>
            <a:endParaRPr lang="ja-JP" altLang="en-US" sz="1250" dirty="0"/>
          </a:p>
        </p:txBody>
      </p:sp>
      <p:sp>
        <p:nvSpPr>
          <p:cNvPr id="109" name="Rounded Rectangle 108"/>
          <p:cNvSpPr/>
          <p:nvPr/>
        </p:nvSpPr>
        <p:spPr>
          <a:xfrm>
            <a:off x="3511296" y="1911095"/>
            <a:ext cx="2880360" cy="1600200"/>
          </a:xfrm>
          <a:prstGeom prst="roundRect">
            <a:avLst>
              <a:gd name="adj" fmla="val 5000"/>
            </a:avLst>
          </a:prstGeom>
          <a:solidFill>
            <a:srgbClr val="F4F7FF"/>
          </a:solidFill>
          <a:ln w="9525">
            <a:solidFill>
              <a:srgbClr val="D9D9D9"/>
            </a:solidFill>
          </a:ln>
        </p:spPr>
        <p:txBody>
          <a:bodyPr wrap="square" lIns="109728" tIns="91440" rIns="91440" bIns="54864" rtlCol="0" anchor="t">
            <a:noAutofit/>
          </a:bodyPr>
          <a:lstStyle/>
          <a:p>
            <a:pPr algn="l">
              <a:lnSpc>
                <a:spcPct val="110000"/>
              </a:lnSpc>
              <a:spcAft>
                <a:spcPts val="600"/>
              </a:spcAft>
              <a:buNone/>
            </a:pPr>
            <a:r>
              <a:rPr lang="ja-JP" altLang="en-US" sz="1100" b="0" dirty="0">
                <a:solidFill>
                  <a:srgbClr val="333333"/>
                </a:solidFill>
                <a:latin typeface="メイリオ" panose="020B0604030504040204" pitchFamily="50" charset="-128"/>
                <a:ea typeface="メイリオ" panose="020B0604030504040204" pitchFamily="50" charset="-128"/>
              </a:rPr>
              <a:t>友だち追加の直後に、30秒の相性チェック（ボタンで答える5問）。</a:t>
            </a:r>
            <a:endParaRPr lang="ja-JP" altLang="en-US" sz="1100" dirty="0"/>
          </a:p>
          <a:p>
            <a:pPr algn="l">
              <a:lnSpc>
                <a:spcPct val="110000"/>
              </a:lnSpc>
              <a:spcAft>
                <a:spcPts val="600"/>
              </a:spcAft>
              <a:buNone/>
            </a:pPr>
            <a:r>
              <a:rPr lang="ja-JP" altLang="en-US" sz="1100" b="0" dirty="0">
                <a:solidFill>
                  <a:srgbClr val="333333"/>
                </a:solidFill>
                <a:latin typeface="メイリオ" panose="020B0604030504040204" pitchFamily="50" charset="-128"/>
                <a:ea typeface="メイリオ" panose="020B0604030504040204" pitchFamily="50" charset="-128"/>
              </a:rPr>
              <a:t>あわせて「このままLINEで無料体験の予約」も案内。予約はトークの中で入力できる。</a:t>
            </a:r>
            <a:endParaRPr lang="ja-JP" altLang="en-US" sz="1100" dirty="0"/>
          </a:p>
        </p:txBody>
      </p:sp>
      <p:sp>
        <p:nvSpPr>
          <p:cNvPr id="110" name="Rounded Rectangle 109"/>
          <p:cNvSpPr/>
          <p:nvPr/>
        </p:nvSpPr>
        <p:spPr>
          <a:xfrm>
            <a:off x="3511296" y="3621024"/>
            <a:ext cx="2880360" cy="914400"/>
          </a:xfrm>
          <a:prstGeom prst="roundRect">
            <a:avLst>
              <a:gd name="adj" fmla="val 5000"/>
            </a:avLst>
          </a:prstGeom>
          <a:solidFill>
            <a:srgbClr val="FFFFFF"/>
          </a:solidFill>
          <a:ln w="9525">
            <a:solidFill>
              <a:srgbClr val="D9D9D9"/>
            </a:solidFill>
          </a:ln>
        </p:spPr>
        <p:txBody>
          <a:bodyPr wrap="square" lIns="91440" tIns="73152" rIns="73152" bIns="36576" rtlCol="0" anchor="t">
            <a:noAutofit/>
          </a:bodyPr>
          <a:lstStyle/>
          <a:p>
            <a:pPr algn="l">
              <a:lnSpc>
                <a:spcPct val="105000"/>
              </a:lnSpc>
              <a:buNone/>
            </a:pPr>
            <a:r>
              <a:rPr lang="ja-JP" altLang="en-US" sz="1050" b="1" dirty="0">
                <a:solidFill>
                  <a:srgbClr val="1F285A"/>
                </a:solidFill>
                <a:latin typeface="メイリオ" panose="020B0604030504040204" pitchFamily="50" charset="-128"/>
                <a:ea typeface="メイリオ" panose="020B0604030504040204" pitchFamily="50" charset="-128"/>
              </a:rPr>
              <a:t>実際の例</a:t>
            </a:r>
            <a:endParaRPr lang="ja-JP" altLang="en-US" sz="1100" dirty="0"/>
          </a:p>
          <a:p>
            <a:pPr algn="l">
              <a:lnSpc>
                <a:spcPct val="105000"/>
              </a:lnSpc>
              <a:buNone/>
            </a:pPr>
            <a:r>
              <a:rPr lang="ja-JP" altLang="en-US" sz="1100" b="0" dirty="0">
                <a:solidFill>
                  <a:srgbClr val="333333"/>
                </a:solidFill>
                <a:latin typeface="メイリオ" panose="020B0604030504040204" pitchFamily="50" charset="-128"/>
                <a:ea typeface="メイリオ" panose="020B0604030504040204" pitchFamily="50" charset="-128"/>
              </a:rPr>
              <a:t>相性チェック 全5問</a:t>
            </a:r>
            <a:endParaRPr lang="ja-JP" altLang="en-US" sz="1100" dirty="0"/>
          </a:p>
          <a:p>
            <a:pPr algn="l">
              <a:lnSpc>
                <a:spcPct val="105000"/>
              </a:lnSpc>
              <a:buNone/>
            </a:pPr>
            <a:r>
              <a:rPr lang="ja-JP" altLang="en-US" sz="1100" b="0" dirty="0">
                <a:solidFill>
                  <a:srgbClr val="333333"/>
                </a:solidFill>
                <a:latin typeface="メイリオ" panose="020B0604030504040204" pitchFamily="50" charset="-128"/>
                <a:ea typeface="メイリオ" panose="020B0604030504040204" pitchFamily="50" charset="-128"/>
              </a:rPr>
              <a:t>体験予約 60秒・全7問</a:t>
            </a:r>
            <a:endParaRPr lang="ja-JP" altLang="en-US" sz="1100" dirty="0"/>
          </a:p>
        </p:txBody>
      </p:sp>
      <p:sp>
        <p:nvSpPr>
          <p:cNvPr id="111" name="Rounded Rectangle 110"/>
          <p:cNvSpPr/>
          <p:nvPr/>
        </p:nvSpPr>
        <p:spPr>
          <a:xfrm>
            <a:off x="6592824" y="1508760"/>
            <a:ext cx="2880360" cy="310896"/>
          </a:xfrm>
          <a:prstGeom prst="roundRect">
            <a:avLst>
              <a:gd name="adj" fmla="val 20000"/>
            </a:avLst>
          </a:prstGeom>
          <a:solidFill>
            <a:srgbClr val="1F285A"/>
          </a:solidFill>
          <a:ln>
            <a:noFill/>
          </a:ln>
        </p:spPr>
        <p:txBody>
          <a:bodyPr wrap="square" lIns="36576" tIns="0" rIns="36576" bIns="0" rtlCol="0" anchor="ctr">
            <a:noAutofit/>
          </a:bodyPr>
          <a:lstStyle/>
          <a:p>
            <a:pPr algn="ctr">
              <a:buNone/>
            </a:pPr>
            <a:r>
              <a:rPr lang="ja-JP" altLang="en-US" sz="1250" b="1" dirty="0">
                <a:solidFill>
                  <a:srgbClr val="FFFFFF"/>
                </a:solidFill>
                <a:latin typeface="メイリオ" panose="020B0604030504040204" pitchFamily="50" charset="-128"/>
                <a:ea typeface="メイリオ" panose="020B0604030504040204" pitchFamily="50" charset="-128"/>
              </a:rPr>
              <a:t>③ 答えをもとに、配信の相手を絞る</a:t>
            </a:r>
            <a:endParaRPr lang="ja-JP" altLang="en-US" sz="1250" dirty="0"/>
          </a:p>
        </p:txBody>
      </p:sp>
      <p:sp>
        <p:nvSpPr>
          <p:cNvPr id="112" name="Rounded Rectangle 111"/>
          <p:cNvSpPr/>
          <p:nvPr/>
        </p:nvSpPr>
        <p:spPr>
          <a:xfrm>
            <a:off x="6592824" y="1911095"/>
            <a:ext cx="2880360" cy="1600200"/>
          </a:xfrm>
          <a:prstGeom prst="roundRect">
            <a:avLst>
              <a:gd name="adj" fmla="val 5000"/>
            </a:avLst>
          </a:prstGeom>
          <a:solidFill>
            <a:srgbClr val="F4F7FF"/>
          </a:solidFill>
          <a:ln w="9525">
            <a:solidFill>
              <a:srgbClr val="D9D9D9"/>
            </a:solidFill>
          </a:ln>
        </p:spPr>
        <p:txBody>
          <a:bodyPr wrap="square" lIns="109728" tIns="91440" rIns="91440" bIns="54864" rtlCol="0" anchor="t">
            <a:noAutofit/>
          </a:bodyPr>
          <a:lstStyle/>
          <a:p>
            <a:pPr algn="l">
              <a:lnSpc>
                <a:spcPct val="110000"/>
              </a:lnSpc>
              <a:spcAft>
                <a:spcPts val="600"/>
              </a:spcAft>
              <a:buNone/>
            </a:pPr>
            <a:r>
              <a:rPr lang="ja-JP" altLang="en-US" sz="1100" b="0" dirty="0">
                <a:solidFill>
                  <a:srgbClr val="333333"/>
                </a:solidFill>
                <a:latin typeface="メイリオ" panose="020B0604030504040204" pitchFamily="50" charset="-128"/>
                <a:ea typeface="メイリオ" panose="020B0604030504040204" pitchFamily="50" charset="-128"/>
              </a:rPr>
              <a:t>2023年は、アンケートで保護者か生徒か、塾に通っているかを聞いた。</a:t>
            </a:r>
            <a:endParaRPr lang="ja-JP" altLang="en-US" sz="1100" dirty="0"/>
          </a:p>
          <a:p>
            <a:pPr algn="l">
              <a:lnSpc>
                <a:spcPct val="110000"/>
              </a:lnSpc>
              <a:spcAft>
                <a:spcPts val="600"/>
              </a:spcAft>
              <a:buNone/>
            </a:pPr>
            <a:r>
              <a:rPr lang="ja-JP" altLang="en-US" sz="1100" b="0" dirty="0">
                <a:solidFill>
                  <a:srgbClr val="333333"/>
                </a:solidFill>
                <a:latin typeface="メイリオ" panose="020B0604030504040204" pitchFamily="50" charset="-128"/>
                <a:ea typeface="メイリオ" panose="020B0604030504040204" pitchFamily="50" charset="-128"/>
              </a:rPr>
              <a:t>「まだ塾に通っていない」お子さま・保護者に絞って配信した。</a:t>
            </a:r>
            <a:endParaRPr lang="ja-JP" altLang="en-US" sz="1100" dirty="0"/>
          </a:p>
        </p:txBody>
      </p:sp>
      <p:sp>
        <p:nvSpPr>
          <p:cNvPr id="113" name="Rounded Rectangle 112"/>
          <p:cNvSpPr/>
          <p:nvPr/>
        </p:nvSpPr>
        <p:spPr>
          <a:xfrm>
            <a:off x="6592824" y="3621024"/>
            <a:ext cx="2880360" cy="914400"/>
          </a:xfrm>
          <a:prstGeom prst="roundRect">
            <a:avLst>
              <a:gd name="adj" fmla="val 5000"/>
            </a:avLst>
          </a:prstGeom>
          <a:solidFill>
            <a:srgbClr val="FFFFFF"/>
          </a:solidFill>
          <a:ln w="9525">
            <a:solidFill>
              <a:srgbClr val="D9D9D9"/>
            </a:solidFill>
          </a:ln>
        </p:spPr>
        <p:txBody>
          <a:bodyPr wrap="square" lIns="91440" tIns="73152" rIns="73152" bIns="36576" rtlCol="0" anchor="t">
            <a:noAutofit/>
          </a:bodyPr>
          <a:lstStyle/>
          <a:p>
            <a:pPr algn="l">
              <a:lnSpc>
                <a:spcPct val="105000"/>
              </a:lnSpc>
              <a:buNone/>
            </a:pPr>
            <a:r>
              <a:rPr lang="ja-JP" altLang="en-US" sz="1050" b="1" dirty="0">
                <a:solidFill>
                  <a:srgbClr val="1F285A"/>
                </a:solidFill>
                <a:latin typeface="メイリオ" panose="020B0604030504040204" pitchFamily="50" charset="-128"/>
                <a:ea typeface="メイリオ" panose="020B0604030504040204" pitchFamily="50" charset="-128"/>
              </a:rPr>
              <a:t>実際の例</a:t>
            </a:r>
            <a:endParaRPr lang="ja-JP" altLang="en-US" sz="1100" dirty="0"/>
          </a:p>
          <a:p>
            <a:pPr algn="l">
              <a:lnSpc>
                <a:spcPct val="105000"/>
              </a:lnSpc>
              <a:buNone/>
            </a:pPr>
            <a:r>
              <a:rPr lang="ja-JP" altLang="en-US" sz="1100" b="0" dirty="0">
                <a:solidFill>
                  <a:srgbClr val="333333"/>
                </a:solidFill>
                <a:latin typeface="メイリオ" panose="020B0604030504040204" pitchFamily="50" charset="-128"/>
                <a:ea typeface="メイリオ" panose="020B0604030504040204" pitchFamily="50" charset="-128"/>
              </a:rPr>
              <a:t>答えていない方にクイズ形式の配信</a:t>
            </a:r>
            <a:endParaRPr lang="ja-JP" altLang="en-US" sz="1100" dirty="0"/>
          </a:p>
          <a:p>
            <a:pPr algn="l">
              <a:lnSpc>
                <a:spcPct val="105000"/>
              </a:lnSpc>
              <a:buNone/>
            </a:pPr>
            <a:r>
              <a:rPr lang="ja-JP" altLang="en-US" sz="1100" b="0" dirty="0">
                <a:solidFill>
                  <a:srgbClr val="333333"/>
                </a:solidFill>
                <a:latin typeface="メイリオ" panose="020B0604030504040204" pitchFamily="50" charset="-128"/>
                <a:ea typeface="メイリオ" panose="020B0604030504040204" pitchFamily="50" charset="-128"/>
              </a:rPr>
              <a:t>→ 配信した方の55%が反応（P17）</a:t>
            </a:r>
            <a:endParaRPr lang="ja-JP" altLang="en-US" sz="1100" dirty="0"/>
          </a:p>
        </p:txBody>
      </p:sp>
    </p:spTree>
    <p:extLst>
      <p:ext uri="{BB962C8B-B14F-4D97-AF65-F5344CB8AC3E}">
        <p14:creationId xmlns:p14="http://schemas.microsoft.com/office/powerpoint/2010/main" val="15375234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63900D-063E-F973-5EF2-005AE1CA2159}"/>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758DBC2-018A-378B-99F0-43DAFE20DF5C}"/>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a:solidFill>
                  <a:srgbClr val="323366"/>
                </a:solidFill>
                <a:latin typeface="メイリオ" panose="020B0604030504040204" pitchFamily="50" charset="-128"/>
                <a:ea typeface="メイリオ" panose="020B0604030504040204" pitchFamily="50" charset="-128"/>
                <a:cs typeface="Meiryo"/>
                <a:sym typeface="Meiryo"/>
              </a:rPr>
              <a:t>施策の考え方</a:t>
            </a:r>
            <a:endPar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3" name="正方形/長方形 2">
            <a:extLst>
              <a:ext uri="{FF2B5EF4-FFF2-40B4-BE49-F238E27FC236}">
                <a16:creationId xmlns:a16="http://schemas.microsoft.com/office/drawing/2014/main" id="{294458F3-B182-EFAE-9BE8-8E76712736E7}"/>
              </a:ext>
            </a:extLst>
          </p:cNvPr>
          <p:cNvSpPr/>
          <p:nvPr/>
        </p:nvSpPr>
        <p:spPr>
          <a:xfrm>
            <a:off x="175475" y="1823735"/>
            <a:ext cx="4721072" cy="469533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EDB57FCC-E034-81EB-B2ED-2EB62032A504}"/>
              </a:ext>
            </a:extLst>
          </p:cNvPr>
          <p:cNvSpPr/>
          <p:nvPr/>
        </p:nvSpPr>
        <p:spPr>
          <a:xfrm>
            <a:off x="4994298" y="1823734"/>
            <a:ext cx="4721072" cy="469533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3C363108-225C-23EE-472E-1E1A14DA49E4}"/>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700" dirty="0">
                <a:latin typeface="メイリオ" panose="020B0604030504040204" pitchFamily="50" charset="-128"/>
                <a:ea typeface="メイリオ" panose="020B0604030504040204" pitchFamily="50" charset="-128"/>
              </a:rPr>
              <a:t>LINEOA</a:t>
            </a:r>
            <a:r>
              <a:rPr kumimoji="1" lang="ja-JP" altLang="en-US" sz="1700" dirty="0">
                <a:latin typeface="メイリオ" panose="020B0604030504040204" pitchFamily="50" charset="-128"/>
                <a:ea typeface="メイリオ" panose="020B0604030504040204" pitchFamily="50" charset="-128"/>
              </a:rPr>
              <a:t>施策</a:t>
            </a:r>
          </a:p>
        </p:txBody>
      </p:sp>
      <p:sp>
        <p:nvSpPr>
          <p:cNvPr id="10" name="Google Shape;752;p28">
            <a:extLst>
              <a:ext uri="{FF2B5EF4-FFF2-40B4-BE49-F238E27FC236}">
                <a16:creationId xmlns:a16="http://schemas.microsoft.com/office/drawing/2014/main" id="{9A39965E-24C8-AD90-0D9E-A9BC47D02016}"/>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WEB</a:t>
            </a:r>
            <a:r>
              <a:rPr lang="ja-JP" altLang="en-US" sz="1600" b="1" dirty="0">
                <a:latin typeface="メイリオ" panose="020B0604030504040204" pitchFamily="50" charset="-128"/>
                <a:ea typeface="メイリオ" panose="020B0604030504040204" pitchFamily="50" charset="-128"/>
                <a:cs typeface="Meiryo"/>
                <a:sym typeface="Meiryo"/>
              </a:rPr>
              <a:t>上で何らかの成果地点（</a:t>
            </a:r>
            <a:r>
              <a:rPr lang="en-US" altLang="ja-JP" sz="1600" b="1" dirty="0">
                <a:latin typeface="メイリオ" panose="020B0604030504040204" pitchFamily="50" charset="-128"/>
                <a:ea typeface="メイリオ" panose="020B0604030504040204" pitchFamily="50" charset="-128"/>
                <a:cs typeface="Meiryo"/>
                <a:sym typeface="Meiryo"/>
              </a:rPr>
              <a:t>mcv</a:t>
            </a:r>
            <a:r>
              <a:rPr lang="ja-JP" altLang="en-US" sz="1600" b="1" dirty="0">
                <a:latin typeface="メイリオ" panose="020B0604030504040204" pitchFamily="50" charset="-128"/>
                <a:ea typeface="メイリオ" panose="020B0604030504040204" pitchFamily="50" charset="-128"/>
                <a:cs typeface="Meiryo"/>
                <a:sym typeface="Meiryo"/>
              </a:rPr>
              <a:t>、</a:t>
            </a:r>
            <a:r>
              <a:rPr lang="en-US" altLang="ja-JP" sz="1600" b="1" dirty="0">
                <a:latin typeface="メイリオ" panose="020B0604030504040204" pitchFamily="50" charset="-128"/>
                <a:ea typeface="メイリオ" panose="020B0604030504040204" pitchFamily="50" charset="-128"/>
                <a:cs typeface="Meiryo"/>
                <a:sym typeface="Meiryo"/>
              </a:rPr>
              <a:t>CV</a:t>
            </a:r>
            <a:r>
              <a:rPr lang="ja-JP" altLang="en-US" sz="1600" b="1" dirty="0">
                <a:latin typeface="メイリオ" panose="020B0604030504040204" pitchFamily="50" charset="-128"/>
                <a:ea typeface="メイリオ" panose="020B0604030504040204" pitchFamily="50" charset="-128"/>
                <a:cs typeface="Meiryo"/>
                <a:sym typeface="Meiryo"/>
              </a:rPr>
              <a:t>）に到達しリード獲得できているか、</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ja-JP" altLang="en-US" sz="1600" b="1" dirty="0">
                <a:latin typeface="メイリオ" panose="020B0604030504040204" pitchFamily="50" charset="-128"/>
                <a:ea typeface="メイリオ" panose="020B0604030504040204" pitchFamily="50" charset="-128"/>
                <a:cs typeface="Meiryo"/>
                <a:sym typeface="Meiryo"/>
              </a:rPr>
              <a:t>を軸に配信戦略を組み立てることで、ユーザーアクティブ率を保った状態で運用。</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62" name="正方形/長方形 61">
            <a:extLst>
              <a:ext uri="{FF2B5EF4-FFF2-40B4-BE49-F238E27FC236}">
                <a16:creationId xmlns:a16="http://schemas.microsoft.com/office/drawing/2014/main" id="{EDC00F02-3FEF-F2A7-D36C-00239CB92DE5}"/>
              </a:ext>
            </a:extLst>
          </p:cNvPr>
          <p:cNvSpPr/>
          <p:nvPr/>
        </p:nvSpPr>
        <p:spPr>
          <a:xfrm>
            <a:off x="175475" y="1503248"/>
            <a:ext cx="4721072" cy="297266"/>
          </a:xfrm>
          <a:prstGeom prst="rect">
            <a:avLst/>
          </a:prstGeom>
          <a:solidFill>
            <a:schemeClr val="tx1">
              <a:lumMod val="50000"/>
              <a:lumOff val="50000"/>
              <a:alpha val="8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latin typeface="メイリオ" panose="020B0604030504040204" pitchFamily="50" charset="-128"/>
                <a:ea typeface="メイリオ" panose="020B0604030504040204" pitchFamily="50" charset="-128"/>
              </a:rPr>
              <a:t>施策パターン①</a:t>
            </a:r>
          </a:p>
        </p:txBody>
      </p:sp>
      <p:sp>
        <p:nvSpPr>
          <p:cNvPr id="66" name="正方形/長方形 65">
            <a:extLst>
              <a:ext uri="{FF2B5EF4-FFF2-40B4-BE49-F238E27FC236}">
                <a16:creationId xmlns:a16="http://schemas.microsoft.com/office/drawing/2014/main" id="{3B6038D6-0E00-CDB9-8318-C7D05A37E8F2}"/>
              </a:ext>
            </a:extLst>
          </p:cNvPr>
          <p:cNvSpPr/>
          <p:nvPr/>
        </p:nvSpPr>
        <p:spPr>
          <a:xfrm>
            <a:off x="4994298" y="1503247"/>
            <a:ext cx="4721072" cy="297266"/>
          </a:xfrm>
          <a:prstGeom prst="rect">
            <a:avLst/>
          </a:prstGeom>
          <a:solidFill>
            <a:schemeClr val="tx1">
              <a:lumMod val="50000"/>
              <a:lumOff val="50000"/>
              <a:alpha val="8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dirty="0">
                <a:latin typeface="メイリオ" panose="020B0604030504040204" pitchFamily="50" charset="-128"/>
                <a:ea typeface="メイリオ" panose="020B0604030504040204" pitchFamily="50" charset="-128"/>
              </a:rPr>
              <a:t>施策パターン②</a:t>
            </a:r>
          </a:p>
        </p:txBody>
      </p:sp>
      <p:sp>
        <p:nvSpPr>
          <p:cNvPr id="29" name="テキスト ボックス 28">
            <a:extLst>
              <a:ext uri="{FF2B5EF4-FFF2-40B4-BE49-F238E27FC236}">
                <a16:creationId xmlns:a16="http://schemas.microsoft.com/office/drawing/2014/main" id="{95738B1D-B1C9-DA32-166A-EEB5583118B2}"/>
              </a:ext>
            </a:extLst>
          </p:cNvPr>
          <p:cNvSpPr txBox="1"/>
          <p:nvPr/>
        </p:nvSpPr>
        <p:spPr>
          <a:xfrm>
            <a:off x="422129" y="1984604"/>
            <a:ext cx="1868111" cy="261610"/>
          </a:xfrm>
          <a:prstGeom prst="rect">
            <a:avLst/>
          </a:prstGeom>
          <a:solidFill>
            <a:srgbClr val="1F285A"/>
          </a:solidFill>
          <a:ln>
            <a:noFill/>
          </a:ln>
        </p:spPr>
        <p:txBody>
          <a:bodyPr wrap="square">
            <a:spAutoFit/>
          </a:bodyPr>
          <a:lstStyle/>
          <a:p>
            <a:pPr>
              <a:buNone/>
            </a:pPr>
            <a:r>
              <a:rPr lang="ja-JP" altLang="ja-JP" sz="1100" b="1" dirty="0">
                <a:solidFill>
                  <a:srgbClr val="FFFFFF"/>
                </a:solidFill>
                <a:latin typeface="メイリオ" panose="020B0604030504040204" pitchFamily="50" charset="-128"/>
                <a:ea typeface="メイリオ" panose="020B0604030504040204" pitchFamily="50" charset="-128"/>
              </a:rPr>
              <a:t>① </a:t>
            </a:r>
            <a:r>
              <a:rPr lang="ja-JP" altLang="en-US" sz="1100" b="1" dirty="0">
                <a:solidFill>
                  <a:srgbClr val="FFFFFF"/>
                </a:solidFill>
                <a:latin typeface="メイリオ" panose="020B0604030504040204" pitchFamily="50" charset="-128"/>
                <a:ea typeface="メイリオ" panose="020B0604030504040204" pitchFamily="50" charset="-128"/>
              </a:rPr>
              <a:t>広告</a:t>
            </a:r>
            <a:r>
              <a:rPr lang="ja-JP" altLang="ja-JP" sz="1100" b="1" dirty="0">
                <a:solidFill>
                  <a:srgbClr val="FFFFFF"/>
                </a:solidFill>
                <a:latin typeface="メイリオ" panose="020B0604030504040204" pitchFamily="50" charset="-128"/>
                <a:ea typeface="メイリオ" panose="020B0604030504040204" pitchFamily="50" charset="-128"/>
              </a:rPr>
              <a:t>接触</a:t>
            </a:r>
            <a:r>
              <a:rPr lang="ja-JP" altLang="ja-JP" sz="1050" b="1" dirty="0">
                <a:solidFill>
                  <a:srgbClr val="FFFFFF"/>
                </a:solidFill>
                <a:latin typeface="メイリオ" panose="020B0604030504040204" pitchFamily="50" charset="-128"/>
                <a:ea typeface="メイリオ" panose="020B0604030504040204" pitchFamily="50" charset="-128"/>
              </a:rPr>
              <a:t>（認知・流入）</a:t>
            </a:r>
            <a:endParaRPr lang="en-US" altLang="ja-JP" sz="1100" b="1" dirty="0">
              <a:solidFill>
                <a:srgbClr val="FFFFFF"/>
              </a:solidFill>
              <a:latin typeface="メイリオ" panose="020B0604030504040204" pitchFamily="50" charset="-128"/>
              <a:ea typeface="メイリオ" panose="020B0604030504040204" pitchFamily="50" charset="-128"/>
            </a:endParaRPr>
          </a:p>
        </p:txBody>
      </p:sp>
      <p:sp>
        <p:nvSpPr>
          <p:cNvPr id="30" name="テキスト ボックス 29">
            <a:extLst>
              <a:ext uri="{FF2B5EF4-FFF2-40B4-BE49-F238E27FC236}">
                <a16:creationId xmlns:a16="http://schemas.microsoft.com/office/drawing/2014/main" id="{F7EABE5F-0E64-28C9-8263-322940EADD4B}"/>
              </a:ext>
            </a:extLst>
          </p:cNvPr>
          <p:cNvSpPr txBox="1"/>
          <p:nvPr/>
        </p:nvSpPr>
        <p:spPr>
          <a:xfrm>
            <a:off x="422129" y="2507075"/>
            <a:ext cx="1868111" cy="261610"/>
          </a:xfrm>
          <a:prstGeom prst="rect">
            <a:avLst/>
          </a:prstGeom>
          <a:solidFill>
            <a:srgbClr val="1F285A"/>
          </a:solidFill>
          <a:ln>
            <a:noFill/>
          </a:ln>
        </p:spPr>
        <p:txBody>
          <a:bodyPr wrap="square">
            <a:spAutoFit/>
          </a:bodyPr>
          <a:lstStyle/>
          <a:p>
            <a:pPr>
              <a:buNone/>
            </a:pPr>
            <a:r>
              <a:rPr lang="ja-JP" altLang="ja-JP" sz="1100" b="1" dirty="0">
                <a:solidFill>
                  <a:srgbClr val="FFFFFF"/>
                </a:solidFill>
                <a:latin typeface="メイリオ" panose="020B0604030504040204" pitchFamily="50" charset="-128"/>
                <a:ea typeface="メイリオ" panose="020B0604030504040204" pitchFamily="50" charset="-128"/>
              </a:rPr>
              <a:t>② サイト離脱</a:t>
            </a:r>
            <a:r>
              <a:rPr lang="ja-JP" altLang="en-US" sz="1050" b="1" dirty="0">
                <a:solidFill>
                  <a:srgbClr val="FFFFFF"/>
                </a:solidFill>
                <a:latin typeface="メイリオ" panose="020B0604030504040204" pitchFamily="50" charset="-128"/>
                <a:ea typeface="メイリオ" panose="020B0604030504040204" pitchFamily="50" charset="-128"/>
              </a:rPr>
              <a:t>（対策）</a:t>
            </a:r>
            <a:endParaRPr lang="en-US" altLang="ja-JP" sz="1100" b="1" dirty="0">
              <a:solidFill>
                <a:srgbClr val="FFFFFF"/>
              </a:solidFill>
              <a:latin typeface="メイリオ" panose="020B0604030504040204" pitchFamily="50" charset="-128"/>
              <a:ea typeface="メイリオ" panose="020B0604030504040204" pitchFamily="50" charset="-128"/>
            </a:endParaRPr>
          </a:p>
        </p:txBody>
      </p:sp>
      <p:sp>
        <p:nvSpPr>
          <p:cNvPr id="31" name="テキスト ボックス 30">
            <a:extLst>
              <a:ext uri="{FF2B5EF4-FFF2-40B4-BE49-F238E27FC236}">
                <a16:creationId xmlns:a16="http://schemas.microsoft.com/office/drawing/2014/main" id="{A12C45A1-12E4-9259-6A85-AEA2AB71D7BB}"/>
              </a:ext>
            </a:extLst>
          </p:cNvPr>
          <p:cNvSpPr txBox="1"/>
          <p:nvPr/>
        </p:nvSpPr>
        <p:spPr>
          <a:xfrm>
            <a:off x="422129" y="3029546"/>
            <a:ext cx="1868111" cy="261610"/>
          </a:xfrm>
          <a:prstGeom prst="rect">
            <a:avLst/>
          </a:prstGeom>
          <a:solidFill>
            <a:srgbClr val="1F285A"/>
          </a:solidFill>
          <a:ln>
            <a:noFill/>
          </a:ln>
        </p:spPr>
        <p:txBody>
          <a:bodyPr wrap="square">
            <a:spAutoFit/>
          </a:bodyPr>
          <a:lstStyle/>
          <a:p>
            <a:pPr>
              <a:buNone/>
            </a:pPr>
            <a:r>
              <a:rPr lang="ja-JP" altLang="ja-JP" sz="1100" b="1" dirty="0">
                <a:solidFill>
                  <a:srgbClr val="FFFFFF"/>
                </a:solidFill>
                <a:latin typeface="メイリオ" panose="020B0604030504040204" pitchFamily="50" charset="-128"/>
                <a:ea typeface="メイリオ" panose="020B0604030504040204" pitchFamily="50" charset="-128"/>
              </a:rPr>
              <a:t>③ 育成</a:t>
            </a:r>
            <a:r>
              <a:rPr lang="ja-JP" altLang="ja-JP" sz="1050" b="1" dirty="0">
                <a:solidFill>
                  <a:srgbClr val="FFFFFF"/>
                </a:solidFill>
                <a:latin typeface="メイリオ" panose="020B0604030504040204" pitchFamily="50" charset="-128"/>
                <a:ea typeface="メイリオ" panose="020B0604030504040204" pitchFamily="50" charset="-128"/>
              </a:rPr>
              <a:t>（興味</a:t>
            </a:r>
            <a:r>
              <a:rPr lang="ja-JP" altLang="en-US" sz="1050" b="1" dirty="0">
                <a:solidFill>
                  <a:srgbClr val="FFFFFF"/>
                </a:solidFill>
                <a:latin typeface="メイリオ" panose="020B0604030504040204" pitchFamily="50" charset="-128"/>
                <a:ea typeface="メイリオ" panose="020B0604030504040204" pitchFamily="50" charset="-128"/>
              </a:rPr>
              <a:t>喚起</a:t>
            </a:r>
            <a:r>
              <a:rPr lang="ja-JP" altLang="ja-JP" sz="1050" b="1" dirty="0">
                <a:solidFill>
                  <a:srgbClr val="FFFFFF"/>
                </a:solidFill>
                <a:latin typeface="メイリオ" panose="020B0604030504040204" pitchFamily="50" charset="-128"/>
                <a:ea typeface="メイリオ" panose="020B0604030504040204" pitchFamily="50" charset="-128"/>
              </a:rPr>
              <a:t>）</a:t>
            </a:r>
            <a:endParaRPr lang="en-US" altLang="ja-JP" sz="1100" b="1" dirty="0">
              <a:solidFill>
                <a:srgbClr val="FFFFFF"/>
              </a:solidFill>
              <a:latin typeface="メイリオ" panose="020B0604030504040204" pitchFamily="50" charset="-128"/>
              <a:ea typeface="メイリオ" panose="020B0604030504040204" pitchFamily="50" charset="-128"/>
            </a:endParaRPr>
          </a:p>
        </p:txBody>
      </p:sp>
      <p:sp>
        <p:nvSpPr>
          <p:cNvPr id="33" name="テキスト ボックス 32">
            <a:extLst>
              <a:ext uri="{FF2B5EF4-FFF2-40B4-BE49-F238E27FC236}">
                <a16:creationId xmlns:a16="http://schemas.microsoft.com/office/drawing/2014/main" id="{128706D3-5B0C-1F73-557E-CB982B55D10F}"/>
              </a:ext>
            </a:extLst>
          </p:cNvPr>
          <p:cNvSpPr txBox="1"/>
          <p:nvPr/>
        </p:nvSpPr>
        <p:spPr>
          <a:xfrm>
            <a:off x="422129" y="3552018"/>
            <a:ext cx="1868111" cy="261610"/>
          </a:xfrm>
          <a:prstGeom prst="rect">
            <a:avLst/>
          </a:prstGeom>
          <a:solidFill>
            <a:srgbClr val="1F285A"/>
          </a:solidFill>
          <a:ln>
            <a:noFill/>
          </a:ln>
        </p:spPr>
        <p:txBody>
          <a:bodyPr wrap="square">
            <a:spAutoFit/>
          </a:bodyPr>
          <a:lstStyle/>
          <a:p>
            <a:pPr>
              <a:buNone/>
            </a:pPr>
            <a:r>
              <a:rPr lang="ja-JP" altLang="en-US" sz="1100" b="1" dirty="0">
                <a:solidFill>
                  <a:srgbClr val="FFFFFF"/>
                </a:solidFill>
                <a:latin typeface="メイリオ" panose="020B0604030504040204" pitchFamily="50" charset="-128"/>
                <a:ea typeface="メイリオ" panose="020B0604030504040204" pitchFamily="50" charset="-128"/>
              </a:rPr>
              <a:t>④体験予約(LINE)</a:t>
            </a:r>
          </a:p>
        </p:txBody>
      </p:sp>
      <p:pic>
        <p:nvPicPr>
          <p:cNvPr id="53" name="図 52">
            <a:extLst>
              <a:ext uri="{FF2B5EF4-FFF2-40B4-BE49-F238E27FC236}">
                <a16:creationId xmlns:a16="http://schemas.microsoft.com/office/drawing/2014/main" id="{EA1649D4-69AF-0DA4-C778-D98D940AEC00}"/>
              </a:ext>
            </a:extLst>
          </p:cNvPr>
          <p:cNvPicPr>
            <a:picLocks noChangeAspect="1"/>
          </p:cNvPicPr>
          <p:nvPr/>
        </p:nvPicPr>
        <p:blipFill>
          <a:blip r:embed="rId2"/>
          <a:stretch>
            <a:fillRect/>
          </a:stretch>
        </p:blipFill>
        <p:spPr>
          <a:xfrm>
            <a:off x="1802674" y="3028773"/>
            <a:ext cx="481489" cy="448956"/>
          </a:xfrm>
          <a:prstGeom prst="rect">
            <a:avLst/>
          </a:prstGeom>
        </p:spPr>
      </p:pic>
      <p:sp>
        <p:nvSpPr>
          <p:cNvPr id="85" name="テキスト ボックス 84">
            <a:extLst>
              <a:ext uri="{FF2B5EF4-FFF2-40B4-BE49-F238E27FC236}">
                <a16:creationId xmlns:a16="http://schemas.microsoft.com/office/drawing/2014/main" id="{5E6F539F-D2FB-C3FF-CADC-41A4B9393233}"/>
              </a:ext>
            </a:extLst>
          </p:cNvPr>
          <p:cNvSpPr txBox="1"/>
          <p:nvPr/>
        </p:nvSpPr>
        <p:spPr>
          <a:xfrm>
            <a:off x="5143201" y="1982693"/>
            <a:ext cx="1868111" cy="261610"/>
          </a:xfrm>
          <a:prstGeom prst="rect">
            <a:avLst/>
          </a:prstGeom>
          <a:solidFill>
            <a:srgbClr val="1F285A"/>
          </a:solidFill>
          <a:ln>
            <a:noFill/>
          </a:ln>
        </p:spPr>
        <p:txBody>
          <a:bodyPr wrap="square">
            <a:spAutoFit/>
          </a:bodyPr>
          <a:lstStyle/>
          <a:p>
            <a:pPr>
              <a:buNone/>
            </a:pPr>
            <a:r>
              <a:rPr lang="ja-JP" altLang="ja-JP" sz="1100" b="1" dirty="0">
                <a:solidFill>
                  <a:srgbClr val="FFFFFF"/>
                </a:solidFill>
                <a:latin typeface="メイリオ" panose="020B0604030504040204" pitchFamily="50" charset="-128"/>
                <a:ea typeface="メイリオ" panose="020B0604030504040204" pitchFamily="50" charset="-128"/>
              </a:rPr>
              <a:t>① </a:t>
            </a:r>
            <a:r>
              <a:rPr lang="ja-JP" altLang="en-US" sz="1100" b="1" dirty="0">
                <a:solidFill>
                  <a:srgbClr val="FFFFFF"/>
                </a:solidFill>
                <a:latin typeface="メイリオ" panose="020B0604030504040204" pitchFamily="50" charset="-128"/>
                <a:ea typeface="メイリオ" panose="020B0604030504040204" pitchFamily="50" charset="-128"/>
              </a:rPr>
              <a:t>広告</a:t>
            </a:r>
            <a:r>
              <a:rPr lang="ja-JP" altLang="ja-JP" sz="1100" b="1" dirty="0">
                <a:solidFill>
                  <a:srgbClr val="FFFFFF"/>
                </a:solidFill>
                <a:latin typeface="メイリオ" panose="020B0604030504040204" pitchFamily="50" charset="-128"/>
                <a:ea typeface="メイリオ" panose="020B0604030504040204" pitchFamily="50" charset="-128"/>
              </a:rPr>
              <a:t>接触</a:t>
            </a:r>
            <a:r>
              <a:rPr lang="ja-JP" altLang="ja-JP" sz="1050" b="1" dirty="0">
                <a:solidFill>
                  <a:srgbClr val="FFFFFF"/>
                </a:solidFill>
                <a:latin typeface="メイリオ" panose="020B0604030504040204" pitchFamily="50" charset="-128"/>
                <a:ea typeface="メイリオ" panose="020B0604030504040204" pitchFamily="50" charset="-128"/>
              </a:rPr>
              <a:t>（認知・流入）</a:t>
            </a:r>
            <a:endParaRPr lang="en-US" altLang="ja-JP" sz="1100" b="1" dirty="0">
              <a:solidFill>
                <a:srgbClr val="FFFFFF"/>
              </a:solidFill>
              <a:latin typeface="メイリオ" panose="020B0604030504040204" pitchFamily="50" charset="-128"/>
              <a:ea typeface="メイリオ" panose="020B0604030504040204" pitchFamily="50" charset="-128"/>
            </a:endParaRPr>
          </a:p>
        </p:txBody>
      </p:sp>
      <p:sp>
        <p:nvSpPr>
          <p:cNvPr id="87" name="テキスト ボックス 86">
            <a:extLst>
              <a:ext uri="{FF2B5EF4-FFF2-40B4-BE49-F238E27FC236}">
                <a16:creationId xmlns:a16="http://schemas.microsoft.com/office/drawing/2014/main" id="{6B5C1DBC-53A4-6C17-453F-7392109F4349}"/>
              </a:ext>
            </a:extLst>
          </p:cNvPr>
          <p:cNvSpPr txBox="1"/>
          <p:nvPr/>
        </p:nvSpPr>
        <p:spPr>
          <a:xfrm>
            <a:off x="5143201" y="2505164"/>
            <a:ext cx="1868111" cy="261610"/>
          </a:xfrm>
          <a:prstGeom prst="rect">
            <a:avLst/>
          </a:prstGeom>
          <a:solidFill>
            <a:srgbClr val="1F285A"/>
          </a:solidFill>
          <a:ln>
            <a:noFill/>
          </a:ln>
        </p:spPr>
        <p:txBody>
          <a:bodyPr wrap="square">
            <a:spAutoFit/>
          </a:bodyPr>
          <a:lstStyle/>
          <a:p>
            <a:pPr>
              <a:buNone/>
            </a:pPr>
            <a:r>
              <a:rPr lang="ja-JP" altLang="ja-JP" sz="1100" b="1" dirty="0">
                <a:solidFill>
                  <a:srgbClr val="FFFFFF"/>
                </a:solidFill>
                <a:latin typeface="メイリオ" panose="020B0604030504040204" pitchFamily="50" charset="-128"/>
                <a:ea typeface="メイリオ" panose="020B0604030504040204" pitchFamily="50" charset="-128"/>
              </a:rPr>
              <a:t>② サイト離脱</a:t>
            </a:r>
            <a:r>
              <a:rPr lang="ja-JP" altLang="en-US" sz="1050" b="1" dirty="0">
                <a:solidFill>
                  <a:srgbClr val="FFFFFF"/>
                </a:solidFill>
                <a:latin typeface="メイリオ" panose="020B0604030504040204" pitchFamily="50" charset="-128"/>
                <a:ea typeface="メイリオ" panose="020B0604030504040204" pitchFamily="50" charset="-128"/>
              </a:rPr>
              <a:t>（対策）</a:t>
            </a:r>
            <a:endParaRPr lang="en-US" altLang="ja-JP" sz="1100" b="1" dirty="0">
              <a:solidFill>
                <a:srgbClr val="FFFFFF"/>
              </a:solidFill>
              <a:latin typeface="メイリオ" panose="020B0604030504040204" pitchFamily="50" charset="-128"/>
              <a:ea typeface="メイリオ" panose="020B0604030504040204" pitchFamily="50" charset="-128"/>
            </a:endParaRPr>
          </a:p>
        </p:txBody>
      </p:sp>
      <p:sp>
        <p:nvSpPr>
          <p:cNvPr id="89" name="テキスト ボックス 88">
            <a:extLst>
              <a:ext uri="{FF2B5EF4-FFF2-40B4-BE49-F238E27FC236}">
                <a16:creationId xmlns:a16="http://schemas.microsoft.com/office/drawing/2014/main" id="{DCFBD929-A905-61D5-CE80-44ED20F86966}"/>
              </a:ext>
            </a:extLst>
          </p:cNvPr>
          <p:cNvSpPr txBox="1"/>
          <p:nvPr/>
        </p:nvSpPr>
        <p:spPr>
          <a:xfrm>
            <a:off x="5143201" y="3027635"/>
            <a:ext cx="1868111" cy="261610"/>
          </a:xfrm>
          <a:prstGeom prst="rect">
            <a:avLst/>
          </a:prstGeom>
          <a:solidFill>
            <a:srgbClr val="1F285A"/>
          </a:solidFill>
          <a:ln>
            <a:noFill/>
          </a:ln>
        </p:spPr>
        <p:txBody>
          <a:bodyPr wrap="square">
            <a:spAutoFit/>
          </a:bodyPr>
          <a:lstStyle/>
          <a:p>
            <a:pPr>
              <a:buNone/>
            </a:pPr>
            <a:r>
              <a:rPr lang="ja-JP" altLang="ja-JP" sz="1100" b="1" dirty="0">
                <a:solidFill>
                  <a:srgbClr val="FFFFFF"/>
                </a:solidFill>
                <a:latin typeface="メイリオ" panose="020B0604030504040204" pitchFamily="50" charset="-128"/>
                <a:ea typeface="メイリオ" panose="020B0604030504040204" pitchFamily="50" charset="-128"/>
              </a:rPr>
              <a:t>③ 育成</a:t>
            </a:r>
            <a:r>
              <a:rPr lang="ja-JP" altLang="ja-JP" sz="1050" b="1" dirty="0">
                <a:solidFill>
                  <a:srgbClr val="FFFFFF"/>
                </a:solidFill>
                <a:latin typeface="メイリオ" panose="020B0604030504040204" pitchFamily="50" charset="-128"/>
                <a:ea typeface="メイリオ" panose="020B0604030504040204" pitchFamily="50" charset="-128"/>
              </a:rPr>
              <a:t>（興味</a:t>
            </a:r>
            <a:r>
              <a:rPr lang="ja-JP" altLang="en-US" sz="1050" b="1" dirty="0">
                <a:solidFill>
                  <a:srgbClr val="FFFFFF"/>
                </a:solidFill>
                <a:latin typeface="メイリオ" panose="020B0604030504040204" pitchFamily="50" charset="-128"/>
                <a:ea typeface="メイリオ" panose="020B0604030504040204" pitchFamily="50" charset="-128"/>
              </a:rPr>
              <a:t>喚起</a:t>
            </a:r>
            <a:r>
              <a:rPr lang="ja-JP" altLang="ja-JP" sz="1050" b="1" dirty="0">
                <a:solidFill>
                  <a:srgbClr val="FFFFFF"/>
                </a:solidFill>
                <a:latin typeface="メイリオ" panose="020B0604030504040204" pitchFamily="50" charset="-128"/>
                <a:ea typeface="メイリオ" panose="020B0604030504040204" pitchFamily="50" charset="-128"/>
              </a:rPr>
              <a:t>）</a:t>
            </a:r>
            <a:endParaRPr lang="en-US" altLang="ja-JP" sz="1100" b="1" dirty="0">
              <a:solidFill>
                <a:srgbClr val="FFFFFF"/>
              </a:solidFill>
              <a:latin typeface="メイリオ" panose="020B0604030504040204" pitchFamily="50" charset="-128"/>
              <a:ea typeface="メイリオ" panose="020B0604030504040204" pitchFamily="50" charset="-128"/>
            </a:endParaRPr>
          </a:p>
        </p:txBody>
      </p:sp>
      <p:sp>
        <p:nvSpPr>
          <p:cNvPr id="91" name="テキスト ボックス 90">
            <a:extLst>
              <a:ext uri="{FF2B5EF4-FFF2-40B4-BE49-F238E27FC236}">
                <a16:creationId xmlns:a16="http://schemas.microsoft.com/office/drawing/2014/main" id="{4888F6B2-E8F3-6E3F-0048-663B63086746}"/>
              </a:ext>
            </a:extLst>
          </p:cNvPr>
          <p:cNvSpPr txBox="1"/>
          <p:nvPr/>
        </p:nvSpPr>
        <p:spPr>
          <a:xfrm>
            <a:off x="5143201" y="3550107"/>
            <a:ext cx="1868111" cy="261610"/>
          </a:xfrm>
          <a:prstGeom prst="rect">
            <a:avLst/>
          </a:prstGeom>
          <a:solidFill>
            <a:srgbClr val="1F285A"/>
          </a:solidFill>
          <a:ln>
            <a:noFill/>
          </a:ln>
        </p:spPr>
        <p:txBody>
          <a:bodyPr wrap="square">
            <a:spAutoFit/>
          </a:bodyPr>
          <a:lstStyle/>
          <a:p>
            <a:pPr>
              <a:buNone/>
            </a:pPr>
            <a:r>
              <a:rPr lang="ja-JP" altLang="en-US" sz="1100" b="1" dirty="0">
                <a:solidFill>
                  <a:srgbClr val="FFFFFF"/>
                </a:solidFill>
                <a:latin typeface="メイリオ" panose="020B0604030504040204" pitchFamily="50" charset="-128"/>
                <a:ea typeface="メイリオ" panose="020B0604030504040204" pitchFamily="50" charset="-128"/>
              </a:rPr>
              <a:t>④体験予約(WEB)</a:t>
            </a:r>
          </a:p>
        </p:txBody>
      </p:sp>
      <p:sp>
        <p:nvSpPr>
          <p:cNvPr id="102" name="正方形/長方形 101">
            <a:extLst>
              <a:ext uri="{FF2B5EF4-FFF2-40B4-BE49-F238E27FC236}">
                <a16:creationId xmlns:a16="http://schemas.microsoft.com/office/drawing/2014/main" id="{9EE14D7E-45A2-36AE-530E-59E20992B5AF}"/>
              </a:ext>
            </a:extLst>
          </p:cNvPr>
          <p:cNvSpPr/>
          <p:nvPr/>
        </p:nvSpPr>
        <p:spPr>
          <a:xfrm>
            <a:off x="2263414" y="3027635"/>
            <a:ext cx="2439215" cy="2666753"/>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1" name="図 100">
            <a:extLst>
              <a:ext uri="{FF2B5EF4-FFF2-40B4-BE49-F238E27FC236}">
                <a16:creationId xmlns:a16="http://schemas.microsoft.com/office/drawing/2014/main" id="{DA7B3CB5-C4B3-1D97-3F10-262CAC6E015A}"/>
              </a:ext>
            </a:extLst>
          </p:cNvPr>
          <p:cNvPicPr>
            <a:picLocks noChangeAspect="1"/>
          </p:cNvPicPr>
          <p:nvPr/>
        </p:nvPicPr>
        <p:blipFill>
          <a:blip r:embed="rId2"/>
          <a:stretch>
            <a:fillRect/>
          </a:stretch>
        </p:blipFill>
        <p:spPr>
          <a:xfrm>
            <a:off x="6529823" y="3550106"/>
            <a:ext cx="481489" cy="448956"/>
          </a:xfrm>
          <a:prstGeom prst="rect">
            <a:avLst/>
          </a:prstGeom>
        </p:spPr>
      </p:pic>
      <p:sp>
        <p:nvSpPr>
          <p:cNvPr id="104" name="正方形/長方形 103">
            <a:extLst>
              <a:ext uri="{FF2B5EF4-FFF2-40B4-BE49-F238E27FC236}">
                <a16:creationId xmlns:a16="http://schemas.microsoft.com/office/drawing/2014/main" id="{FEDCBEDF-3AA0-5304-246A-9DE0FEF053CC}"/>
              </a:ext>
            </a:extLst>
          </p:cNvPr>
          <p:cNvSpPr/>
          <p:nvPr/>
        </p:nvSpPr>
        <p:spPr>
          <a:xfrm>
            <a:off x="7408576" y="3814955"/>
            <a:ext cx="2439215" cy="2666753"/>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0" name="テキスト ボックス 109">
            <a:extLst>
              <a:ext uri="{FF2B5EF4-FFF2-40B4-BE49-F238E27FC236}">
                <a16:creationId xmlns:a16="http://schemas.microsoft.com/office/drawing/2014/main" id="{07D590B7-DD52-A9BA-474C-C49C3CD21DB2}"/>
              </a:ext>
            </a:extLst>
          </p:cNvPr>
          <p:cNvSpPr txBox="1"/>
          <p:nvPr/>
        </p:nvSpPr>
        <p:spPr>
          <a:xfrm>
            <a:off x="2354400" y="2848236"/>
            <a:ext cx="2348229" cy="261610"/>
          </a:xfrm>
          <a:prstGeom prst="rect">
            <a:avLst/>
          </a:prstGeom>
          <a:noFill/>
        </p:spPr>
        <p:txBody>
          <a:bodyPr wrap="square">
            <a:spAutoFit/>
          </a:bodyPr>
          <a:lstStyle/>
          <a:p>
            <a:pPr algn="ctr"/>
            <a:r>
              <a:rPr lang="en-US" altLang="ja-JP" sz="1050" b="1" dirty="0">
                <a:solidFill>
                  <a:srgbClr val="FF0000"/>
                </a:solidFill>
                <a:latin typeface="メイリオ" panose="020B0604030504040204" pitchFamily="50" charset="-128"/>
                <a:ea typeface="メイリオ" panose="020B0604030504040204" pitchFamily="50" charset="-128"/>
                <a:sym typeface="Meiryo"/>
              </a:rPr>
              <a:t>[LINEで30秒ぴったり診断] から</a:t>
            </a:r>
            <a:endParaRPr lang="ja-JP" altLang="en-US" sz="1100" dirty="0">
              <a:solidFill>
                <a:srgbClr val="FF0000"/>
              </a:solidFill>
            </a:endParaRPr>
          </a:p>
        </p:txBody>
      </p:sp>
      <p:sp>
        <p:nvSpPr>
          <p:cNvPr id="112" name="テキスト ボックス 111">
            <a:extLst>
              <a:ext uri="{FF2B5EF4-FFF2-40B4-BE49-F238E27FC236}">
                <a16:creationId xmlns:a16="http://schemas.microsoft.com/office/drawing/2014/main" id="{F0F00B34-5F05-6BF2-F97F-09EC9D503507}"/>
              </a:ext>
            </a:extLst>
          </p:cNvPr>
          <p:cNvSpPr txBox="1"/>
          <p:nvPr/>
        </p:nvSpPr>
        <p:spPr>
          <a:xfrm>
            <a:off x="7586643" y="3643779"/>
            <a:ext cx="2234109" cy="261610"/>
          </a:xfrm>
          <a:prstGeom prst="rect">
            <a:avLst/>
          </a:prstGeom>
          <a:noFill/>
        </p:spPr>
        <p:txBody>
          <a:bodyPr wrap="square">
            <a:spAutoFit/>
          </a:bodyPr>
          <a:lstStyle/>
          <a:p>
            <a:pPr algn="ctr"/>
            <a:r>
              <a:rPr lang="ja-JP" altLang="en-US" sz="1050" b="1" dirty="0">
                <a:solidFill>
                  <a:srgbClr val="FF0000"/>
                </a:solidFill>
                <a:latin typeface="メイリオ" panose="020B0604030504040204" pitchFamily="50" charset="-128"/>
                <a:ea typeface="メイリオ" panose="020B0604030504040204" pitchFamily="50" charset="-128"/>
                <a:sym typeface="Meiryo"/>
              </a:rPr>
              <a:t>体験予約/見学予約 から</a:t>
            </a:r>
            <a:endParaRPr lang="ja-JP" altLang="en-US" sz="1100" dirty="0">
              <a:solidFill>
                <a:srgbClr val="FF0000"/>
              </a:solidFill>
            </a:endParaRPr>
          </a:p>
        </p:txBody>
      </p:sp>
      <p:sp>
        <p:nvSpPr>
          <p:cNvPr id="113" name="TextBox 112"/>
          <p:cNvSpPr txBox="1"/>
          <p:nvPr/>
        </p:nvSpPr>
        <p:spPr>
          <a:xfrm>
            <a:off x="2354400" y="3117600"/>
            <a:ext cx="2260800" cy="251999"/>
          </a:xfrm>
          <a:prstGeom prst="rect">
            <a:avLst/>
          </a:prstGeom>
          <a:noFill/>
        </p:spPr>
        <p:txBody>
          <a:bodyPr wrap="square" lIns="28800" tIns="10800" rIns="28800" bIns="10800">
            <a:spAutoFit/>
          </a:bodyPr>
          <a:lstStyle/>
          <a:p>
            <a:r>
              <a:rPr sz="1200" b="1">
                <a:solidFill>
                  <a:srgbClr val="1F2A5C"/>
                </a:solidFill>
                <a:latin typeface="メイリオ"/>
                <a:ea typeface="メイリオ"/>
              </a:rPr>
              <a:t>こんな企業・状況に向く</a:t>
            </a:r>
          </a:p>
        </p:txBody>
      </p:sp>
      <p:sp>
        <p:nvSpPr>
          <p:cNvPr id="114" name="TextBox 113"/>
          <p:cNvSpPr txBox="1"/>
          <p:nvPr/>
        </p:nvSpPr>
        <p:spPr>
          <a:xfrm>
            <a:off x="2354400" y="3405600"/>
            <a:ext cx="2260800" cy="760475"/>
          </a:xfrm>
          <a:prstGeom prst="rect">
            <a:avLst/>
          </a:prstGeom>
          <a:noFill/>
        </p:spPr>
        <p:txBody>
          <a:bodyPr wrap="square" lIns="28800" tIns="10800" rIns="28800" bIns="10800">
            <a:spAutoFit/>
          </a:bodyPr>
          <a:lstStyle/>
          <a:p>
            <a:r>
              <a:rPr sz="1200" b="0" dirty="0">
                <a:solidFill>
                  <a:srgbClr val="1C2233"/>
                </a:solidFill>
                <a:latin typeface="メイリオ"/>
                <a:ea typeface="メイリオ"/>
              </a:rPr>
              <a:t>✓ </a:t>
            </a:r>
            <a:r>
              <a:rPr sz="1200" b="0" dirty="0" err="1">
                <a:solidFill>
                  <a:srgbClr val="1C2233"/>
                </a:solidFill>
                <a:latin typeface="メイリオ"/>
                <a:ea typeface="メイリオ"/>
              </a:rPr>
              <a:t>Web予約の完了率が低い</a:t>
            </a:r>
            <a:endParaRPr sz="1200" b="0" dirty="0">
              <a:solidFill>
                <a:srgbClr val="1C2233"/>
              </a:solidFill>
              <a:latin typeface="メイリオ"/>
            </a:endParaRPr>
          </a:p>
          <a:p>
            <a:r>
              <a:rPr sz="1200" b="0" dirty="0">
                <a:solidFill>
                  <a:srgbClr val="1C2233"/>
                </a:solidFill>
                <a:latin typeface="メイリオ"/>
                <a:ea typeface="メイリオ"/>
              </a:rPr>
              <a:t>✓ </a:t>
            </a:r>
            <a:r>
              <a:rPr sz="1200" b="0" dirty="0" err="1">
                <a:solidFill>
                  <a:srgbClr val="1C2233"/>
                </a:solidFill>
                <a:latin typeface="メイリオ"/>
                <a:ea typeface="メイリオ"/>
              </a:rPr>
              <a:t>検討初期の迷い層を逃す</a:t>
            </a:r>
            <a:endParaRPr sz="1200" b="0" dirty="0">
              <a:solidFill>
                <a:srgbClr val="1C2233"/>
              </a:solidFill>
              <a:latin typeface="メイリオ"/>
            </a:endParaRPr>
          </a:p>
          <a:p>
            <a:r>
              <a:rPr sz="1200" b="0" dirty="0">
                <a:solidFill>
                  <a:srgbClr val="1C2233"/>
                </a:solidFill>
                <a:latin typeface="メイリオ"/>
                <a:ea typeface="メイリオ"/>
              </a:rPr>
              <a:t>✓ </a:t>
            </a:r>
            <a:r>
              <a:rPr sz="1200" b="0" dirty="0" err="1">
                <a:solidFill>
                  <a:srgbClr val="1C2233"/>
                </a:solidFill>
                <a:latin typeface="メイリオ"/>
                <a:ea typeface="メイリオ"/>
              </a:rPr>
              <a:t>電話折返しの工数が重い</a:t>
            </a:r>
            <a:endParaRPr sz="1200" b="0" dirty="0">
              <a:solidFill>
                <a:srgbClr val="1C2233"/>
              </a:solidFill>
              <a:latin typeface="メイリオ"/>
            </a:endParaRPr>
          </a:p>
          <a:p>
            <a:r>
              <a:rPr sz="1200" b="0" dirty="0">
                <a:solidFill>
                  <a:srgbClr val="1C2233"/>
                </a:solidFill>
                <a:latin typeface="メイリオ"/>
                <a:ea typeface="メイリオ"/>
              </a:rPr>
              <a:t>✓ </a:t>
            </a:r>
            <a:r>
              <a:rPr sz="1200" b="0" dirty="0" err="1">
                <a:solidFill>
                  <a:srgbClr val="1C2233"/>
                </a:solidFill>
                <a:latin typeface="メイリオ"/>
                <a:ea typeface="メイリオ"/>
              </a:rPr>
              <a:t>予約までLINEで完結したい</a:t>
            </a:r>
            <a:endParaRPr sz="1200" b="0" dirty="0">
              <a:solidFill>
                <a:srgbClr val="1C2233"/>
              </a:solidFill>
              <a:latin typeface="メイリオ"/>
            </a:endParaRPr>
          </a:p>
        </p:txBody>
      </p:sp>
      <p:sp>
        <p:nvSpPr>
          <p:cNvPr id="115" name="TextBox 114"/>
          <p:cNvSpPr txBox="1"/>
          <p:nvPr/>
        </p:nvSpPr>
        <p:spPr>
          <a:xfrm>
            <a:off x="7463604" y="3898024"/>
            <a:ext cx="2260800" cy="251999"/>
          </a:xfrm>
          <a:prstGeom prst="rect">
            <a:avLst/>
          </a:prstGeom>
          <a:noFill/>
        </p:spPr>
        <p:txBody>
          <a:bodyPr wrap="square" lIns="28800" tIns="10800" rIns="28800" bIns="10800">
            <a:spAutoFit/>
          </a:bodyPr>
          <a:lstStyle/>
          <a:p>
            <a:r>
              <a:rPr sz="1200" b="1">
                <a:solidFill>
                  <a:srgbClr val="1F2A5C"/>
                </a:solidFill>
                <a:latin typeface="メイリオ"/>
                <a:ea typeface="メイリオ"/>
              </a:rPr>
              <a:t>こんな企業・状況に向く</a:t>
            </a:r>
          </a:p>
        </p:txBody>
      </p:sp>
      <p:sp>
        <p:nvSpPr>
          <p:cNvPr id="116" name="TextBox 115"/>
          <p:cNvSpPr txBox="1"/>
          <p:nvPr/>
        </p:nvSpPr>
        <p:spPr>
          <a:xfrm>
            <a:off x="7497067" y="4193638"/>
            <a:ext cx="2260800" cy="2160000"/>
          </a:xfrm>
          <a:prstGeom prst="rect">
            <a:avLst/>
          </a:prstGeom>
          <a:noFill/>
        </p:spPr>
        <p:txBody>
          <a:bodyPr wrap="square" lIns="28800" tIns="10800" rIns="28800" bIns="10800">
            <a:spAutoFit/>
          </a:bodyPr>
          <a:lstStyle/>
          <a:p>
            <a:r>
              <a:rPr sz="1200" b="0" dirty="0">
                <a:solidFill>
                  <a:srgbClr val="1C2233"/>
                </a:solidFill>
                <a:latin typeface="メイリオ"/>
                <a:ea typeface="メイリオ"/>
              </a:rPr>
              <a:t>✓ </a:t>
            </a:r>
            <a:r>
              <a:rPr sz="1200" b="0" dirty="0" err="1">
                <a:solidFill>
                  <a:srgbClr val="1C2233"/>
                </a:solidFill>
                <a:latin typeface="メイリオ"/>
                <a:ea typeface="メイリオ"/>
              </a:rPr>
              <a:t>Web予約は既に回っている</a:t>
            </a:r>
            <a:endParaRPr sz="1200" b="0" dirty="0">
              <a:solidFill>
                <a:srgbClr val="1C2233"/>
              </a:solidFill>
              <a:latin typeface="メイリオ"/>
            </a:endParaRPr>
          </a:p>
          <a:p>
            <a:r>
              <a:rPr sz="1200" b="0" dirty="0">
                <a:solidFill>
                  <a:srgbClr val="1C2233"/>
                </a:solidFill>
                <a:latin typeface="メイリオ"/>
                <a:ea typeface="メイリオ"/>
              </a:rPr>
              <a:t>✓ </a:t>
            </a:r>
            <a:r>
              <a:rPr sz="1200" b="0" dirty="0" err="1">
                <a:solidFill>
                  <a:srgbClr val="1C2233"/>
                </a:solidFill>
                <a:latin typeface="メイリオ"/>
                <a:ea typeface="メイリオ"/>
              </a:rPr>
              <a:t>体験の無断欠席が課題</a:t>
            </a:r>
            <a:endParaRPr sz="1200" b="0" dirty="0">
              <a:solidFill>
                <a:srgbClr val="1C2233"/>
              </a:solidFill>
              <a:latin typeface="メイリオ"/>
            </a:endParaRPr>
          </a:p>
          <a:p>
            <a:r>
              <a:rPr sz="1200" b="0" dirty="0">
                <a:solidFill>
                  <a:srgbClr val="1C2233"/>
                </a:solidFill>
                <a:latin typeface="メイリオ"/>
                <a:ea typeface="メイリオ"/>
              </a:rPr>
              <a:t>✓ </a:t>
            </a:r>
            <a:r>
              <a:rPr sz="1200" b="0" dirty="0" err="1">
                <a:solidFill>
                  <a:srgbClr val="1C2233"/>
                </a:solidFill>
                <a:latin typeface="メイリオ"/>
                <a:ea typeface="メイリオ"/>
              </a:rPr>
              <a:t>通知メッセを使いたい</a:t>
            </a:r>
            <a:endParaRPr sz="1200" b="0" dirty="0">
              <a:solidFill>
                <a:srgbClr val="1C2233"/>
              </a:solidFill>
              <a:latin typeface="メイリオ"/>
            </a:endParaRPr>
          </a:p>
          <a:p>
            <a:r>
              <a:rPr sz="1200" b="0" dirty="0">
                <a:solidFill>
                  <a:srgbClr val="1C2233"/>
                </a:solidFill>
                <a:latin typeface="メイリオ"/>
                <a:ea typeface="メイリオ"/>
              </a:rPr>
              <a:t>✓ </a:t>
            </a:r>
            <a:r>
              <a:rPr sz="1200" b="0" dirty="0" err="1">
                <a:solidFill>
                  <a:srgbClr val="1C2233"/>
                </a:solidFill>
                <a:latin typeface="メイリオ"/>
                <a:ea typeface="メイリオ"/>
              </a:rPr>
              <a:t>入会後もLINEを活用したい</a:t>
            </a:r>
            <a:endParaRPr sz="1200" b="0" dirty="0">
              <a:solidFill>
                <a:srgbClr val="1C2233"/>
              </a:solidFill>
              <a:latin typeface="メイリオ"/>
            </a:endParaRPr>
          </a:p>
        </p:txBody>
      </p:sp>
      <p:sp>
        <p:nvSpPr>
          <p:cNvPr id="41" name="テキスト ボックス 40">
            <a:extLst>
              <a:ext uri="{FF2B5EF4-FFF2-40B4-BE49-F238E27FC236}">
                <a16:creationId xmlns:a16="http://schemas.microsoft.com/office/drawing/2014/main" id="{A23A1E86-15BD-39B1-3D44-14FF135EC4BD}"/>
              </a:ext>
            </a:extLst>
          </p:cNvPr>
          <p:cNvSpPr txBox="1"/>
          <p:nvPr/>
        </p:nvSpPr>
        <p:spPr>
          <a:xfrm>
            <a:off x="422129" y="4306903"/>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⑤ 体験授業</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45" name="テキスト ボックス 44">
            <a:extLst>
              <a:ext uri="{FF2B5EF4-FFF2-40B4-BE49-F238E27FC236}">
                <a16:creationId xmlns:a16="http://schemas.microsoft.com/office/drawing/2014/main" id="{AE507E2D-17AC-0380-DFCC-8C7DCC0E7673}"/>
              </a:ext>
            </a:extLst>
          </p:cNvPr>
          <p:cNvSpPr txBox="1"/>
          <p:nvPr/>
        </p:nvSpPr>
        <p:spPr>
          <a:xfrm>
            <a:off x="422129" y="5363159"/>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⑦ご入会</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48" name="テキスト ボックス 47">
            <a:extLst>
              <a:ext uri="{FF2B5EF4-FFF2-40B4-BE49-F238E27FC236}">
                <a16:creationId xmlns:a16="http://schemas.microsoft.com/office/drawing/2014/main" id="{7DDCEAFE-B7CC-0549-5F5E-BBC095E50653}"/>
              </a:ext>
            </a:extLst>
          </p:cNvPr>
          <p:cNvSpPr txBox="1"/>
          <p:nvPr/>
        </p:nvSpPr>
        <p:spPr>
          <a:xfrm>
            <a:off x="422129" y="4835031"/>
            <a:ext cx="2352196" cy="261610"/>
          </a:xfrm>
          <a:prstGeom prst="rect">
            <a:avLst/>
          </a:prstGeom>
          <a:solidFill>
            <a:schemeClr val="accent1"/>
          </a:solidFill>
        </p:spPr>
        <p:txBody>
          <a:bodyPr wrap="square">
            <a:spAutoFit/>
          </a:bodyPr>
          <a:lstStyle/>
          <a:p>
            <a:r>
              <a:rPr lang="ja-JP" altLang="en-US" sz="1100" b="1" dirty="0">
                <a:solidFill>
                  <a:schemeClr val="bg1"/>
                </a:solidFill>
                <a:latin typeface="メイリオ" panose="020B0604030504040204" pitchFamily="50" charset="-128"/>
                <a:ea typeface="メイリオ" panose="020B0604030504040204" pitchFamily="50" charset="-128"/>
              </a:rPr>
              <a:t>⑥ </a:t>
            </a:r>
            <a:r>
              <a:rPr lang="ja-JP" altLang="en-US" sz="1100" b="1" dirty="0">
                <a:solidFill>
                  <a:schemeClr val="bg1"/>
                </a:solidFill>
                <a:latin typeface="メイリオ"/>
                <a:ea typeface="メイリオ"/>
              </a:rPr>
              <a:t>比較・検討</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51" name="テキスト ボックス 50">
            <a:extLst>
              <a:ext uri="{FF2B5EF4-FFF2-40B4-BE49-F238E27FC236}">
                <a16:creationId xmlns:a16="http://schemas.microsoft.com/office/drawing/2014/main" id="{EE21130C-0D35-6976-246C-68BD7C0F13D8}"/>
              </a:ext>
            </a:extLst>
          </p:cNvPr>
          <p:cNvSpPr txBox="1"/>
          <p:nvPr/>
        </p:nvSpPr>
        <p:spPr>
          <a:xfrm>
            <a:off x="422129" y="5891287"/>
            <a:ext cx="2352196" cy="430887"/>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⑧継続・講習/友だち紹介</a:t>
            </a:r>
            <a:endParaRPr lang="en-US" altLang="ja-JP" sz="1100" b="1" dirty="0">
              <a:solidFill>
                <a:schemeClr val="bg1"/>
              </a:solidFill>
              <a:latin typeface="メイリオ" panose="020B0604030504040204" pitchFamily="50" charset="-128"/>
              <a:ea typeface="メイリオ" panose="020B0604030504040204" pitchFamily="50" charset="-128"/>
            </a:endParaRPr>
          </a:p>
          <a:p>
            <a:pPr>
              <a:buNone/>
            </a:pPr>
            <a:r>
              <a:rPr lang="ja-JP" altLang="en-US" sz="1100" b="1" dirty="0">
                <a:solidFill>
                  <a:schemeClr val="bg1"/>
                </a:solidFill>
                <a:latin typeface="メイリオ" panose="020B0604030504040204" pitchFamily="50" charset="-128"/>
                <a:ea typeface="メイリオ" panose="020B0604030504040204" pitchFamily="50" charset="-128"/>
              </a:rPr>
              <a:t>　退塾防止・再入塾 等</a:t>
            </a:r>
            <a:endParaRPr lang="en-US" altLang="ja-JP" sz="1100" b="1" dirty="0">
              <a:solidFill>
                <a:schemeClr val="bg1"/>
              </a:solidFill>
              <a:latin typeface="メイリオ" panose="020B0604030504040204" pitchFamily="50" charset="-128"/>
              <a:ea typeface="メイリオ" panose="020B0604030504040204" pitchFamily="50" charset="-128"/>
            </a:endParaRPr>
          </a:p>
        </p:txBody>
      </p:sp>
      <p:sp>
        <p:nvSpPr>
          <p:cNvPr id="93" name="テキスト ボックス 92">
            <a:extLst>
              <a:ext uri="{FF2B5EF4-FFF2-40B4-BE49-F238E27FC236}">
                <a16:creationId xmlns:a16="http://schemas.microsoft.com/office/drawing/2014/main" id="{DCD3DD5B-BCF3-9B15-3A1E-D1002CBD5B53}"/>
              </a:ext>
            </a:extLst>
          </p:cNvPr>
          <p:cNvSpPr txBox="1"/>
          <p:nvPr/>
        </p:nvSpPr>
        <p:spPr>
          <a:xfrm>
            <a:off x="5143201" y="4304992"/>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⑤ 体験授業</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95" name="テキスト ボックス 94">
            <a:extLst>
              <a:ext uri="{FF2B5EF4-FFF2-40B4-BE49-F238E27FC236}">
                <a16:creationId xmlns:a16="http://schemas.microsoft.com/office/drawing/2014/main" id="{6C217945-7DF3-ECB7-9797-4D70FDBD7415}"/>
              </a:ext>
            </a:extLst>
          </p:cNvPr>
          <p:cNvSpPr txBox="1"/>
          <p:nvPr/>
        </p:nvSpPr>
        <p:spPr>
          <a:xfrm>
            <a:off x="5143201" y="5361248"/>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⑦ご入会</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97" name="テキスト ボックス 96">
            <a:extLst>
              <a:ext uri="{FF2B5EF4-FFF2-40B4-BE49-F238E27FC236}">
                <a16:creationId xmlns:a16="http://schemas.microsoft.com/office/drawing/2014/main" id="{E6682A8D-8C54-2B25-5F3D-FC5AB6C50174}"/>
              </a:ext>
            </a:extLst>
          </p:cNvPr>
          <p:cNvSpPr txBox="1"/>
          <p:nvPr/>
        </p:nvSpPr>
        <p:spPr>
          <a:xfrm>
            <a:off x="5143201" y="4833120"/>
            <a:ext cx="2352196" cy="261610"/>
          </a:xfrm>
          <a:prstGeom prst="rect">
            <a:avLst/>
          </a:prstGeom>
          <a:solidFill>
            <a:schemeClr val="accent1"/>
          </a:solidFill>
        </p:spPr>
        <p:txBody>
          <a:bodyPr wrap="square">
            <a:spAutoFit/>
          </a:bodyPr>
          <a:lstStyle/>
          <a:p>
            <a:r>
              <a:rPr lang="ja-JP" altLang="en-US" sz="1100" b="1" dirty="0">
                <a:solidFill>
                  <a:schemeClr val="bg1"/>
                </a:solidFill>
                <a:latin typeface="メイリオ" panose="020B0604030504040204" pitchFamily="50" charset="-128"/>
                <a:ea typeface="メイリオ" panose="020B0604030504040204" pitchFamily="50" charset="-128"/>
              </a:rPr>
              <a:t>⑥ </a:t>
            </a:r>
            <a:r>
              <a:rPr lang="ja-JP" altLang="en-US" sz="1100" b="1" dirty="0">
                <a:solidFill>
                  <a:schemeClr val="bg1"/>
                </a:solidFill>
                <a:latin typeface="メイリオ"/>
                <a:ea typeface="メイリオ"/>
              </a:rPr>
              <a:t>比較・検討</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99" name="テキスト ボックス 98">
            <a:extLst>
              <a:ext uri="{FF2B5EF4-FFF2-40B4-BE49-F238E27FC236}">
                <a16:creationId xmlns:a16="http://schemas.microsoft.com/office/drawing/2014/main" id="{152C39F9-321A-C345-6065-160FF4B875C5}"/>
              </a:ext>
            </a:extLst>
          </p:cNvPr>
          <p:cNvSpPr txBox="1"/>
          <p:nvPr/>
        </p:nvSpPr>
        <p:spPr>
          <a:xfrm>
            <a:off x="5143201" y="5889376"/>
            <a:ext cx="2352196" cy="430887"/>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⑧継続・講習/友だち紹介</a:t>
            </a:r>
            <a:endParaRPr lang="en-US" altLang="ja-JP" sz="1100" b="1" dirty="0">
              <a:solidFill>
                <a:schemeClr val="bg1"/>
              </a:solidFill>
              <a:latin typeface="メイリオ" panose="020B0604030504040204" pitchFamily="50" charset="-128"/>
              <a:ea typeface="メイリオ" panose="020B0604030504040204" pitchFamily="50" charset="-128"/>
            </a:endParaRPr>
          </a:p>
          <a:p>
            <a:pPr>
              <a:buNone/>
            </a:pPr>
            <a:r>
              <a:rPr lang="ja-JP" altLang="en-US" sz="1100" b="1" dirty="0">
                <a:solidFill>
                  <a:schemeClr val="bg1"/>
                </a:solidFill>
                <a:latin typeface="メイリオ" panose="020B0604030504040204" pitchFamily="50" charset="-128"/>
                <a:ea typeface="メイリオ" panose="020B0604030504040204" pitchFamily="50" charset="-128"/>
              </a:rPr>
              <a:t>　退塾防止・再入塾 等</a:t>
            </a:r>
            <a:endParaRPr lang="en-US" altLang="ja-JP" sz="1100" b="1" dirty="0">
              <a:solidFill>
                <a:schemeClr val="bg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2993589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1E2D0F-DE07-83AE-E053-ED6184F31BC2}"/>
            </a:ext>
          </a:extLst>
        </p:cNvPr>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導線</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dirty="0" err="1">
                <a:solidFill>
                  <a:srgbClr val="333333"/>
                </a:solidFill>
                <a:latin typeface="メイリオ"/>
                <a:ea typeface="メイリオ"/>
                <a:cs typeface="メイリオ"/>
              </a:rPr>
              <a:t>電話や資料請求フォームに「ハードルが高い」と感じる保護者がいる。</a:t>
            </a:r>
            <a:endParaRPr lang="en-US" sz="1200" dirty="0">
              <a:solidFill>
                <a:srgbClr val="333333"/>
              </a:solidFill>
              <a:latin typeface="メイリオ"/>
              <a:ea typeface="メイリオ"/>
              <a:cs typeface="メイリオ"/>
            </a:endParaRPr>
          </a:p>
          <a:p>
            <a:pPr algn="l">
              <a:lnSpc>
                <a:spcPct val="128000"/>
              </a:lnSpc>
            </a:pPr>
            <a:r>
              <a:rPr sz="1200" dirty="0" err="1">
                <a:solidFill>
                  <a:srgbClr val="333333"/>
                </a:solidFill>
                <a:latin typeface="メイリオ"/>
                <a:ea typeface="メイリオ"/>
                <a:cs typeface="メイリオ"/>
              </a:rPr>
              <a:t>LINEなら、名前も電話番号も入れずに始められる。</a:t>
            </a:r>
            <a:endParaRPr lang="en-US" sz="1200" dirty="0">
              <a:solidFill>
                <a:srgbClr val="333333"/>
              </a:solidFill>
              <a:latin typeface="メイリオ"/>
              <a:ea typeface="メイリオ"/>
              <a:cs typeface="メイリオ"/>
            </a:endParaRP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900">
                <a:solidFill>
                  <a:srgbClr val="7F7F7F"/>
                </a:solidFill>
                <a:latin typeface="メイリオ"/>
                <a:ea typeface="メイリオ"/>
                <a:cs typeface="メイリオ"/>
              </a:rPr>
              <a:t>※離脱防止ポップアップはSitelead等（別途費用）</a:t>
            </a:r>
          </a:p>
        </p:txBody>
      </p:sp>
      <p:sp>
        <p:nvSpPr>
          <p:cNvPr id="31" name="Pentagon 30"/>
          <p:cNvSpPr/>
          <p:nvPr/>
        </p:nvSpPr>
        <p:spPr>
          <a:xfrm>
            <a:off x="432000" y="590400"/>
            <a:ext cx="1111500" cy="180000"/>
          </a:xfrm>
          <a:prstGeom prst="homePlate">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①接触</a:t>
            </a:r>
          </a:p>
        </p:txBody>
      </p:sp>
      <p:sp>
        <p:nvSpPr>
          <p:cNvPr id="32" name="Chevron 31"/>
          <p:cNvSpPr/>
          <p:nvPr/>
        </p:nvSpPr>
        <p:spPr>
          <a:xfrm>
            <a:off x="15651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②離脱</a:t>
            </a:r>
          </a:p>
        </p:txBody>
      </p:sp>
      <p:sp>
        <p:nvSpPr>
          <p:cNvPr id="33" name="Chevron 32"/>
          <p:cNvSpPr/>
          <p:nvPr/>
        </p:nvSpPr>
        <p:spPr>
          <a:xfrm>
            <a:off x="26982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③育成</a:t>
            </a:r>
          </a:p>
        </p:txBody>
      </p:sp>
      <p:sp>
        <p:nvSpPr>
          <p:cNvPr id="34" name="Chevron 33"/>
          <p:cNvSpPr/>
          <p:nvPr/>
        </p:nvSpPr>
        <p:spPr>
          <a:xfrm>
            <a:off x="3831299"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④リード獲得</a:t>
            </a:r>
          </a:p>
        </p:txBody>
      </p:sp>
      <p:sp>
        <p:nvSpPr>
          <p:cNvPr id="35" name="Chevron 34"/>
          <p:cNvSpPr/>
          <p:nvPr/>
        </p:nvSpPr>
        <p:spPr>
          <a:xfrm>
            <a:off x="49644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⑤リード有効化</a:t>
            </a:r>
          </a:p>
        </p:txBody>
      </p:sp>
      <p:sp>
        <p:nvSpPr>
          <p:cNvPr id="36" name="Chevron 35"/>
          <p:cNvSpPr/>
          <p:nvPr/>
        </p:nvSpPr>
        <p:spPr>
          <a:xfrm>
            <a:off x="60975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⑥再育成</a:t>
            </a:r>
          </a:p>
        </p:txBody>
      </p:sp>
      <p:sp>
        <p:nvSpPr>
          <p:cNvPr id="37" name="Chevron 36"/>
          <p:cNvSpPr/>
          <p:nvPr/>
        </p:nvSpPr>
        <p:spPr>
          <a:xfrm>
            <a:off x="7230599"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⑦入会（契約）</a:t>
            </a:r>
          </a:p>
        </p:txBody>
      </p:sp>
      <p:sp>
        <p:nvSpPr>
          <p:cNvPr id="38" name="Chevron 37"/>
          <p:cNvSpPr/>
          <p:nvPr/>
        </p:nvSpPr>
        <p:spPr>
          <a:xfrm>
            <a:off x="83636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⑧紹介</a:t>
            </a:r>
          </a:p>
        </p:txBody>
      </p:sp>
      <p:sp>
        <p:nvSpPr>
          <p:cNvPr id="39" name="Rounded Rectangle 38"/>
          <p:cNvSpPr/>
          <p:nvPr/>
        </p:nvSpPr>
        <p:spPr>
          <a:xfrm>
            <a:off x="432000" y="1800000"/>
            <a:ext cx="1152000" cy="864000"/>
          </a:xfrm>
          <a:prstGeom prst="roundRect">
            <a:avLst>
              <a:gd name="adj" fmla="val 8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50" b="1">
                <a:solidFill>
                  <a:srgbClr val="333333"/>
                </a:solidFill>
                <a:latin typeface="メイリオ"/>
                <a:ea typeface="メイリオ"/>
                <a:cs typeface="メイリオ"/>
              </a:rPr>
              <a:t>サイトから</a:t>
            </a:r>
          </a:p>
          <a:p>
            <a:pPr algn="ctr"/>
            <a:r>
              <a:rPr sz="1150" b="1">
                <a:solidFill>
                  <a:srgbClr val="333333"/>
                </a:solidFill>
                <a:latin typeface="メイリオ"/>
                <a:ea typeface="メイリオ"/>
                <a:cs typeface="メイリオ"/>
              </a:rPr>
              <a:t>帰ろうとする</a:t>
            </a:r>
          </a:p>
        </p:txBody>
      </p:sp>
      <p:cxnSp>
        <p:nvCxnSpPr>
          <p:cNvPr id="40" name="Connector 39"/>
          <p:cNvCxnSpPr/>
          <p:nvPr/>
        </p:nvCxnSpPr>
        <p:spPr>
          <a:xfrm>
            <a:off x="1594800" y="2232000"/>
            <a:ext cx="140400"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41" name="Rounded Rectangle 40"/>
          <p:cNvSpPr/>
          <p:nvPr/>
        </p:nvSpPr>
        <p:spPr>
          <a:xfrm>
            <a:off x="1746000" y="1800000"/>
            <a:ext cx="1152000" cy="864000"/>
          </a:xfrm>
          <a:prstGeom prst="roundRect">
            <a:avLst>
              <a:gd name="adj" fmla="val 8000"/>
            </a:avLst>
          </a:prstGeom>
          <a:solidFill>
            <a:srgbClr val="FFFFFF"/>
          </a:solidFill>
          <a:ln w="1905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50" b="1">
                <a:solidFill>
                  <a:srgbClr val="1F285A"/>
                </a:solidFill>
                <a:latin typeface="メイリオ"/>
                <a:ea typeface="メイリオ"/>
                <a:cs typeface="メイリオ"/>
              </a:rPr>
              <a:t>離脱防止</a:t>
            </a:r>
          </a:p>
          <a:p>
            <a:pPr algn="ctr"/>
            <a:r>
              <a:rPr sz="1150" b="1">
                <a:solidFill>
                  <a:srgbClr val="1F285A"/>
                </a:solidFill>
                <a:latin typeface="メイリオ"/>
                <a:ea typeface="メイリオ"/>
                <a:cs typeface="メイリオ"/>
              </a:rPr>
              <a:t>ポップアップ</a:t>
            </a:r>
          </a:p>
        </p:txBody>
      </p:sp>
      <p:cxnSp>
        <p:nvCxnSpPr>
          <p:cNvPr id="42" name="Connector 41"/>
          <p:cNvCxnSpPr/>
          <p:nvPr/>
        </p:nvCxnSpPr>
        <p:spPr>
          <a:xfrm>
            <a:off x="2908800" y="2232000"/>
            <a:ext cx="140400"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3060000" y="1800000"/>
            <a:ext cx="1152000" cy="864000"/>
          </a:xfrm>
          <a:prstGeom prst="roundRect">
            <a:avLst>
              <a:gd name="adj" fmla="val 8000"/>
            </a:avLst>
          </a:prstGeom>
          <a:solidFill>
            <a:srgbClr val="FFFFFF"/>
          </a:solidFill>
          <a:ln w="1905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50" b="1">
                <a:solidFill>
                  <a:srgbClr val="1F285A"/>
                </a:solidFill>
                <a:latin typeface="メイリオ"/>
                <a:ea typeface="メイリオ"/>
                <a:cs typeface="メイリオ"/>
              </a:rPr>
              <a:t>LINE</a:t>
            </a:r>
          </a:p>
          <a:p>
            <a:pPr algn="ctr"/>
            <a:r>
              <a:rPr sz="1150" b="1">
                <a:solidFill>
                  <a:srgbClr val="1F285A"/>
                </a:solidFill>
                <a:latin typeface="メイリオ"/>
                <a:ea typeface="メイリオ"/>
                <a:cs typeface="メイリオ"/>
              </a:rPr>
              <a:t>友だち追加</a:t>
            </a:r>
          </a:p>
        </p:txBody>
      </p:sp>
      <p:cxnSp>
        <p:nvCxnSpPr>
          <p:cNvPr id="44" name="Connector 43"/>
          <p:cNvCxnSpPr/>
          <p:nvPr/>
        </p:nvCxnSpPr>
        <p:spPr>
          <a:xfrm>
            <a:off x="4222799" y="2232000"/>
            <a:ext cx="140401"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45" name="Rounded Rectangle 44"/>
          <p:cNvSpPr/>
          <p:nvPr/>
        </p:nvSpPr>
        <p:spPr>
          <a:xfrm>
            <a:off x="4374000" y="1800000"/>
            <a:ext cx="1152000" cy="864000"/>
          </a:xfrm>
          <a:prstGeom prst="roundRect">
            <a:avLst>
              <a:gd name="adj" fmla="val 8000"/>
            </a:avLst>
          </a:prstGeom>
          <a:solidFill>
            <a:srgbClr val="FFFFFF"/>
          </a:solidFill>
          <a:ln w="1905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50" b="1">
                <a:solidFill>
                  <a:srgbClr val="1F285A"/>
                </a:solidFill>
                <a:latin typeface="メイリオ"/>
                <a:ea typeface="メイリオ"/>
                <a:cs typeface="メイリオ"/>
              </a:rPr>
              <a:t>30秒</a:t>
            </a:r>
          </a:p>
          <a:p>
            <a:pPr algn="ctr"/>
            <a:r>
              <a:rPr sz="1150" b="1">
                <a:solidFill>
                  <a:srgbClr val="1F285A"/>
                </a:solidFill>
                <a:latin typeface="メイリオ"/>
                <a:ea typeface="メイリオ"/>
                <a:cs typeface="メイリオ"/>
              </a:rPr>
              <a:t>診断</a:t>
            </a:r>
          </a:p>
        </p:txBody>
      </p:sp>
      <p:cxnSp>
        <p:nvCxnSpPr>
          <p:cNvPr id="46" name="Connector 45"/>
          <p:cNvCxnSpPr/>
          <p:nvPr/>
        </p:nvCxnSpPr>
        <p:spPr>
          <a:xfrm>
            <a:off x="5536800" y="2232000"/>
            <a:ext cx="140400"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47" name="Rounded Rectangle 46"/>
          <p:cNvSpPr/>
          <p:nvPr/>
        </p:nvSpPr>
        <p:spPr>
          <a:xfrm>
            <a:off x="5688000" y="1800000"/>
            <a:ext cx="1152000" cy="864000"/>
          </a:xfrm>
          <a:prstGeom prst="roundRect">
            <a:avLst>
              <a:gd name="adj" fmla="val 8000"/>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50" b="1">
                <a:solidFill>
                  <a:srgbClr val="FFFFFF"/>
                </a:solidFill>
                <a:latin typeface="メイリオ"/>
                <a:ea typeface="メイリオ"/>
                <a:cs typeface="メイリオ"/>
              </a:rPr>
              <a:t>資料請求</a:t>
            </a:r>
          </a:p>
          <a:p>
            <a:pPr algn="ctr"/>
            <a:r>
              <a:rPr sz="1150" b="1">
                <a:solidFill>
                  <a:srgbClr val="FFFFFF"/>
                </a:solidFill>
                <a:latin typeface="メイリオ"/>
                <a:ea typeface="メイリオ"/>
                <a:cs typeface="メイリオ"/>
              </a:rPr>
              <a:t>（CV①）</a:t>
            </a:r>
          </a:p>
        </p:txBody>
      </p:sp>
      <p:cxnSp>
        <p:nvCxnSpPr>
          <p:cNvPr id="48" name="Connector 47"/>
          <p:cNvCxnSpPr/>
          <p:nvPr/>
        </p:nvCxnSpPr>
        <p:spPr>
          <a:xfrm>
            <a:off x="6850800" y="2232000"/>
            <a:ext cx="140399"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49" name="Rounded Rectangle 48"/>
          <p:cNvSpPr/>
          <p:nvPr/>
        </p:nvSpPr>
        <p:spPr>
          <a:xfrm>
            <a:off x="7002000" y="1800000"/>
            <a:ext cx="1152000" cy="864000"/>
          </a:xfrm>
          <a:prstGeom prst="roundRect">
            <a:avLst>
              <a:gd name="adj" fmla="val 8000"/>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50" b="1">
                <a:solidFill>
                  <a:srgbClr val="FFFFFF"/>
                </a:solidFill>
                <a:latin typeface="メイリオ"/>
                <a:ea typeface="メイリオ"/>
                <a:cs typeface="メイリオ"/>
              </a:rPr>
              <a:t>体験予約</a:t>
            </a:r>
          </a:p>
          <a:p>
            <a:pPr algn="ctr"/>
            <a:r>
              <a:rPr sz="1150" b="1">
                <a:solidFill>
                  <a:srgbClr val="FFFFFF"/>
                </a:solidFill>
                <a:latin typeface="メイリオ"/>
                <a:ea typeface="メイリオ"/>
                <a:cs typeface="メイリオ"/>
              </a:rPr>
              <a:t>（CV②）</a:t>
            </a:r>
          </a:p>
        </p:txBody>
      </p:sp>
      <p:cxnSp>
        <p:nvCxnSpPr>
          <p:cNvPr id="50" name="Connector 49"/>
          <p:cNvCxnSpPr/>
          <p:nvPr/>
        </p:nvCxnSpPr>
        <p:spPr>
          <a:xfrm>
            <a:off x="8164800" y="2232000"/>
            <a:ext cx="140399"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51" name="Rounded Rectangle 50"/>
          <p:cNvSpPr/>
          <p:nvPr/>
        </p:nvSpPr>
        <p:spPr>
          <a:xfrm>
            <a:off x="8316000" y="1800000"/>
            <a:ext cx="1152000" cy="864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50" b="1">
                <a:solidFill>
                  <a:srgbClr val="FFFFFF"/>
                </a:solidFill>
                <a:latin typeface="メイリオ"/>
                <a:ea typeface="メイリオ"/>
                <a:cs typeface="メイリオ"/>
              </a:rPr>
              <a:t>入会</a:t>
            </a:r>
          </a:p>
          <a:p>
            <a:pPr algn="ctr"/>
            <a:r>
              <a:rPr sz="1150" b="1">
                <a:solidFill>
                  <a:srgbClr val="FFFFFF"/>
                </a:solidFill>
                <a:latin typeface="メイリオ"/>
                <a:ea typeface="メイリオ"/>
                <a:cs typeface="メイリオ"/>
              </a:rPr>
              <a:t>（契約）</a:t>
            </a:r>
          </a:p>
        </p:txBody>
      </p:sp>
      <p:sp>
        <p:nvSpPr>
          <p:cNvPr id="52" name="Rectangle 51"/>
          <p:cNvSpPr/>
          <p:nvPr/>
        </p:nvSpPr>
        <p:spPr>
          <a:xfrm>
            <a:off x="1746000" y="2736000"/>
            <a:ext cx="1152000" cy="50399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ctr"/>
            <a:r>
              <a:rPr sz="1000" b="0">
                <a:solidFill>
                  <a:srgbClr val="7F7F7F"/>
                </a:solidFill>
                <a:latin typeface="メイリオ"/>
                <a:ea typeface="メイリオ"/>
                <a:cs typeface="メイリオ"/>
              </a:rPr>
              <a:t>「まだ決めなくて</a:t>
            </a:r>
          </a:p>
          <a:p>
            <a:pPr algn="ctr"/>
            <a:r>
              <a:rPr sz="1000" b="0">
                <a:solidFill>
                  <a:srgbClr val="7F7F7F"/>
                </a:solidFill>
                <a:latin typeface="メイリオ"/>
                <a:ea typeface="メイリオ"/>
                <a:cs typeface="メイリオ"/>
              </a:rPr>
              <a:t>大丈夫です」</a:t>
            </a:r>
          </a:p>
        </p:txBody>
      </p:sp>
      <p:sp>
        <p:nvSpPr>
          <p:cNvPr id="53" name="Rectangle 52"/>
          <p:cNvSpPr/>
          <p:nvPr/>
        </p:nvSpPr>
        <p:spPr>
          <a:xfrm>
            <a:off x="3060000" y="2736000"/>
            <a:ext cx="1152000" cy="50399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ctr"/>
            <a:r>
              <a:rPr sz="1000" b="0">
                <a:solidFill>
                  <a:srgbClr val="7F7F7F"/>
                </a:solidFill>
                <a:latin typeface="メイリオ"/>
                <a:ea typeface="メイリオ"/>
                <a:cs typeface="メイリオ"/>
              </a:rPr>
              <a:t>名前・電話番号</a:t>
            </a:r>
          </a:p>
          <a:p>
            <a:pPr algn="ctr"/>
            <a:r>
              <a:rPr sz="1000" b="0">
                <a:solidFill>
                  <a:srgbClr val="7F7F7F"/>
                </a:solidFill>
                <a:latin typeface="メイリオ"/>
                <a:ea typeface="メイリオ"/>
                <a:cs typeface="メイリオ"/>
              </a:rPr>
              <a:t>は不要</a:t>
            </a:r>
          </a:p>
        </p:txBody>
      </p:sp>
      <p:sp>
        <p:nvSpPr>
          <p:cNvPr id="54" name="Rectangle 53"/>
          <p:cNvSpPr/>
          <p:nvPr/>
        </p:nvSpPr>
        <p:spPr>
          <a:xfrm>
            <a:off x="4374000" y="2736000"/>
            <a:ext cx="1152000" cy="50399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ctr"/>
            <a:r>
              <a:rPr sz="1000" b="0">
                <a:solidFill>
                  <a:srgbClr val="7F7F7F"/>
                </a:solidFill>
                <a:latin typeface="メイリオ"/>
                <a:ea typeface="メイリオ"/>
                <a:cs typeface="メイリオ"/>
              </a:rPr>
              <a:t>学年・悩み・性格</a:t>
            </a:r>
          </a:p>
          <a:p>
            <a:pPr algn="ctr"/>
            <a:r>
              <a:rPr sz="1000" b="0">
                <a:solidFill>
                  <a:srgbClr val="7F7F7F"/>
                </a:solidFill>
                <a:latin typeface="メイリオ"/>
                <a:ea typeface="メイリオ"/>
                <a:cs typeface="メイリオ"/>
              </a:rPr>
              <a:t>いつから</a:t>
            </a:r>
          </a:p>
        </p:txBody>
      </p:sp>
      <p:sp>
        <p:nvSpPr>
          <p:cNvPr id="55" name="Rectangle 54"/>
          <p:cNvSpPr/>
          <p:nvPr/>
        </p:nvSpPr>
        <p:spPr>
          <a:xfrm>
            <a:off x="5688000" y="2736000"/>
            <a:ext cx="1152000" cy="50399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ctr"/>
            <a:r>
              <a:rPr sz="1000" b="0">
                <a:solidFill>
                  <a:srgbClr val="7F7F7F"/>
                </a:solidFill>
                <a:latin typeface="メイリオ"/>
                <a:ea typeface="メイリオ"/>
                <a:cs typeface="メイリオ"/>
              </a:rPr>
              <a:t>コース・料金の</a:t>
            </a:r>
          </a:p>
          <a:p>
            <a:pPr algn="ctr"/>
            <a:r>
              <a:rPr sz="1000" b="0">
                <a:solidFill>
                  <a:srgbClr val="7F7F7F"/>
                </a:solidFill>
                <a:latin typeface="メイリオ"/>
                <a:ea typeface="メイリオ"/>
                <a:cs typeface="メイリオ"/>
              </a:rPr>
              <a:t>資料が届く</a:t>
            </a:r>
          </a:p>
        </p:txBody>
      </p:sp>
      <p:sp>
        <p:nvSpPr>
          <p:cNvPr id="56" name="Rectangle 55"/>
          <p:cNvSpPr/>
          <p:nvPr/>
        </p:nvSpPr>
        <p:spPr>
          <a:xfrm>
            <a:off x="7002000" y="2736000"/>
            <a:ext cx="1152000" cy="50399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ctr"/>
            <a:r>
              <a:rPr sz="1000" b="0">
                <a:solidFill>
                  <a:srgbClr val="7F7F7F"/>
                </a:solidFill>
                <a:latin typeface="メイリオ"/>
                <a:ea typeface="メイリオ"/>
                <a:cs typeface="メイリオ"/>
              </a:rPr>
              <a:t>LINEで日時を</a:t>
            </a:r>
          </a:p>
          <a:p>
            <a:pPr algn="ctr"/>
            <a:r>
              <a:rPr sz="1000" b="0">
                <a:solidFill>
                  <a:srgbClr val="7F7F7F"/>
                </a:solidFill>
                <a:latin typeface="メイリオ"/>
                <a:ea typeface="メイリオ"/>
                <a:cs typeface="メイリオ"/>
              </a:rPr>
              <a:t>選ぶだけ</a:t>
            </a:r>
          </a:p>
        </p:txBody>
      </p:sp>
      <p:sp>
        <p:nvSpPr>
          <p:cNvPr id="57" name="Rectangle 56"/>
          <p:cNvSpPr/>
          <p:nvPr/>
        </p:nvSpPr>
        <p:spPr>
          <a:xfrm>
            <a:off x="8316000" y="2736000"/>
            <a:ext cx="1152000" cy="50399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ctr"/>
            <a:r>
              <a:rPr sz="1000" b="0">
                <a:solidFill>
                  <a:srgbClr val="7F7F7F"/>
                </a:solidFill>
                <a:latin typeface="メイリオ"/>
                <a:ea typeface="メイリオ"/>
                <a:cs typeface="メイリオ"/>
              </a:rPr>
              <a:t>教室で</a:t>
            </a:r>
          </a:p>
          <a:p>
            <a:pPr algn="ctr"/>
            <a:r>
              <a:rPr sz="1000" b="0">
                <a:solidFill>
                  <a:srgbClr val="7F7F7F"/>
                </a:solidFill>
                <a:latin typeface="メイリオ"/>
                <a:ea typeface="メイリオ"/>
                <a:cs typeface="メイリオ"/>
              </a:rPr>
              <a:t>入会手続き</a:t>
            </a:r>
          </a:p>
        </p:txBody>
      </p:sp>
      <p:sp>
        <p:nvSpPr>
          <p:cNvPr id="58" name="Rounded Rectangle 57"/>
          <p:cNvSpPr/>
          <p:nvPr/>
        </p:nvSpPr>
        <p:spPr>
          <a:xfrm>
            <a:off x="432000" y="3456000"/>
            <a:ext cx="4428000" cy="1655999"/>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59" name="Rectangle 58"/>
          <p:cNvSpPr/>
          <p:nvPr/>
        </p:nvSpPr>
        <p:spPr>
          <a:xfrm>
            <a:off x="576000" y="3510000"/>
            <a:ext cx="4176000" cy="1584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450" b="1">
                <a:solidFill>
                  <a:srgbClr val="7F7F7F"/>
                </a:solidFill>
                <a:latin typeface="メイリオ"/>
                <a:ea typeface="メイリオ"/>
                <a:cs typeface="メイリオ"/>
              </a:rPr>
              <a:t>いま</a:t>
            </a:r>
          </a:p>
          <a:p>
            <a:pPr algn="l"/>
            <a:r>
              <a:rPr sz="1250" b="0">
                <a:solidFill>
                  <a:srgbClr val="333333"/>
                </a:solidFill>
                <a:latin typeface="メイリオ"/>
                <a:ea typeface="メイリオ"/>
                <a:cs typeface="メイリオ"/>
              </a:rPr>
              <a:t>サイト → 資料請求フォーム／電話 → 体験</a:t>
            </a:r>
          </a:p>
          <a:p>
            <a:pPr algn="l"/>
            <a:r>
              <a:rPr sz="1250" b="0">
                <a:solidFill>
                  <a:srgbClr val="333333"/>
                </a:solidFill>
                <a:latin typeface="メイリオ"/>
                <a:ea typeface="メイリオ"/>
                <a:cs typeface="メイリオ"/>
              </a:rPr>
              <a:t>・フォームに名前・住所・電話番号を入れる</a:t>
            </a:r>
          </a:p>
          <a:p>
            <a:pPr algn="l"/>
            <a:r>
              <a:rPr sz="1250" b="0">
                <a:solidFill>
                  <a:srgbClr val="333333"/>
                </a:solidFill>
                <a:latin typeface="メイリオ"/>
                <a:ea typeface="メイリオ"/>
                <a:cs typeface="メイリオ"/>
              </a:rPr>
              <a:t>・電話がかかってくるかもしれない</a:t>
            </a:r>
          </a:p>
          <a:p>
            <a:pPr algn="l"/>
            <a:r>
              <a:rPr sz="1250" b="1">
                <a:solidFill>
                  <a:srgbClr val="C00000"/>
                </a:solidFill>
                <a:latin typeface="メイリオ"/>
                <a:ea typeface="メイリオ"/>
                <a:cs typeface="メイリオ"/>
              </a:rPr>
              <a:t>→ 決めていない保護者は、ここで帰る</a:t>
            </a:r>
          </a:p>
        </p:txBody>
      </p:sp>
      <p:sp>
        <p:nvSpPr>
          <p:cNvPr id="60" name="Rounded Rectangle 59"/>
          <p:cNvSpPr/>
          <p:nvPr/>
        </p:nvSpPr>
        <p:spPr>
          <a:xfrm>
            <a:off x="5047200" y="3456000"/>
            <a:ext cx="4428000" cy="1655999"/>
          </a:xfrm>
          <a:prstGeom prst="roundRect">
            <a:avLst>
              <a:gd name="adj" fmla="val 8000"/>
            </a:avLst>
          </a:prstGeom>
          <a:solidFill>
            <a:srgbClr val="F4F7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61" name="Rectangle 60"/>
          <p:cNvSpPr/>
          <p:nvPr/>
        </p:nvSpPr>
        <p:spPr>
          <a:xfrm>
            <a:off x="5184000" y="3510000"/>
            <a:ext cx="4176000" cy="1584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450" b="1">
                <a:solidFill>
                  <a:srgbClr val="1F285A"/>
                </a:solidFill>
                <a:latin typeface="メイリオ"/>
                <a:ea typeface="メイリオ"/>
                <a:cs typeface="メイリオ"/>
              </a:rPr>
              <a:t>LINEを入れると</a:t>
            </a:r>
          </a:p>
          <a:p>
            <a:pPr algn="l"/>
            <a:r>
              <a:rPr sz="1250" b="0">
                <a:solidFill>
                  <a:srgbClr val="333333"/>
                </a:solidFill>
                <a:latin typeface="メイリオ"/>
                <a:ea typeface="メイリオ"/>
                <a:cs typeface="メイリオ"/>
              </a:rPr>
              <a:t>サイト → LINE → 診断 → 資料 → 体験</a:t>
            </a:r>
          </a:p>
          <a:p>
            <a:pPr algn="l"/>
            <a:r>
              <a:rPr sz="1250" b="0">
                <a:solidFill>
                  <a:srgbClr val="333333"/>
                </a:solidFill>
                <a:latin typeface="メイリオ"/>
                <a:ea typeface="メイリオ"/>
                <a:cs typeface="メイリオ"/>
              </a:rPr>
              <a:t>・タップ1回で友だち追加。入力はいらない</a:t>
            </a:r>
          </a:p>
          <a:p>
            <a:pPr algn="l"/>
            <a:r>
              <a:rPr sz="1250" b="0">
                <a:solidFill>
                  <a:srgbClr val="333333"/>
                </a:solidFill>
                <a:latin typeface="メイリオ"/>
                <a:ea typeface="メイリオ"/>
                <a:cs typeface="メイリオ"/>
              </a:rPr>
              <a:t>・資料を読んでから、体験を決められる</a:t>
            </a:r>
          </a:p>
          <a:p>
            <a:pPr algn="l"/>
            <a:r>
              <a:rPr sz="1250" b="1">
                <a:solidFill>
                  <a:srgbClr val="1F285A"/>
                </a:solidFill>
                <a:latin typeface="メイリオ"/>
                <a:ea typeface="メイリオ"/>
                <a:cs typeface="メイリオ"/>
              </a:rPr>
              <a:t>→ 決めていない保護者とも、つながっておける</a:t>
            </a:r>
          </a:p>
        </p:txBody>
      </p:sp>
      <p:sp>
        <p:nvSpPr>
          <p:cNvPr id="62" name="Rounded Rectangle 61"/>
          <p:cNvSpPr/>
          <p:nvPr/>
        </p:nvSpPr>
        <p:spPr>
          <a:xfrm>
            <a:off x="432000" y="5256000"/>
            <a:ext cx="9043200" cy="396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500" b="1">
                <a:solidFill>
                  <a:srgbClr val="FFFFFF"/>
                </a:solidFill>
                <a:latin typeface="メイリオ"/>
                <a:ea typeface="メイリオ"/>
                <a:cs typeface="メイリオ"/>
              </a:rPr>
              <a:t>入口の敷居を下げて、決めていない保護者ともつながる。</a:t>
            </a:r>
          </a:p>
        </p:txBody>
      </p:sp>
    </p:spTree>
    <p:extLst>
      <p:ext uri="{BB962C8B-B14F-4D97-AF65-F5344CB8AC3E}">
        <p14:creationId xmlns:p14="http://schemas.microsoft.com/office/powerpoint/2010/main" val="22997255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F6AB4E-6E86-5642-81B1-3703D9B31A83}"/>
            </a:ext>
          </a:extLst>
        </p:cNvPr>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施策全体像</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a:solidFill>
                  <a:srgbClr val="333333"/>
                </a:solidFill>
                <a:latin typeface="メイリオ"/>
                <a:ea typeface="メイリオ"/>
                <a:cs typeface="メイリオ"/>
              </a:rPr>
              <a:t>初めの1〜2ヶ月でつくるのは、診断・リッチメニュー・14日間の配信。</a:t>
            </a:r>
          </a:p>
          <a:p>
            <a:pPr algn="l">
              <a:lnSpc>
                <a:spcPct val="128000"/>
              </a:lnSpc>
            </a:pPr>
            <a:r>
              <a:rPr sz="1200">
                <a:solidFill>
                  <a:srgbClr val="333333"/>
                </a:solidFill>
                <a:latin typeface="メイリオ"/>
                <a:ea typeface="メイリオ"/>
                <a:cs typeface="メイリオ"/>
              </a:rPr>
              <a:t>あとは毎月、企画配信と出し分け配信を回す。</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Pentagon 4"/>
          <p:cNvSpPr/>
          <p:nvPr/>
        </p:nvSpPr>
        <p:spPr>
          <a:xfrm>
            <a:off x="432000" y="590400"/>
            <a:ext cx="1111500" cy="180000"/>
          </a:xfrm>
          <a:prstGeom prst="homePlate">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①接触</a:t>
            </a:r>
          </a:p>
        </p:txBody>
      </p:sp>
      <p:sp>
        <p:nvSpPr>
          <p:cNvPr id="6" name="Chevron 5"/>
          <p:cNvSpPr/>
          <p:nvPr/>
        </p:nvSpPr>
        <p:spPr>
          <a:xfrm>
            <a:off x="15651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②離脱</a:t>
            </a:r>
          </a:p>
        </p:txBody>
      </p:sp>
      <p:sp>
        <p:nvSpPr>
          <p:cNvPr id="7" name="Chevron 6"/>
          <p:cNvSpPr/>
          <p:nvPr/>
        </p:nvSpPr>
        <p:spPr>
          <a:xfrm>
            <a:off x="26982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③育成</a:t>
            </a:r>
          </a:p>
        </p:txBody>
      </p:sp>
      <p:sp>
        <p:nvSpPr>
          <p:cNvPr id="8" name="Chevron 7"/>
          <p:cNvSpPr/>
          <p:nvPr/>
        </p:nvSpPr>
        <p:spPr>
          <a:xfrm>
            <a:off x="38312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④リード獲得</a:t>
            </a:r>
          </a:p>
        </p:txBody>
      </p:sp>
      <p:sp>
        <p:nvSpPr>
          <p:cNvPr id="9" name="Chevron 8"/>
          <p:cNvSpPr/>
          <p:nvPr/>
        </p:nvSpPr>
        <p:spPr>
          <a:xfrm>
            <a:off x="49644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⑤リード有効化</a:t>
            </a:r>
          </a:p>
        </p:txBody>
      </p:sp>
      <p:sp>
        <p:nvSpPr>
          <p:cNvPr id="10" name="Chevron 9"/>
          <p:cNvSpPr/>
          <p:nvPr/>
        </p:nvSpPr>
        <p:spPr>
          <a:xfrm>
            <a:off x="60975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⑥再育成</a:t>
            </a:r>
          </a:p>
        </p:txBody>
      </p:sp>
      <p:sp>
        <p:nvSpPr>
          <p:cNvPr id="11" name="Chevron 10"/>
          <p:cNvSpPr/>
          <p:nvPr/>
        </p:nvSpPr>
        <p:spPr>
          <a:xfrm>
            <a:off x="72305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⑦入会（契約）</a:t>
            </a:r>
          </a:p>
        </p:txBody>
      </p:sp>
      <p:sp>
        <p:nvSpPr>
          <p:cNvPr id="12" name="Chevron 11"/>
          <p:cNvSpPr/>
          <p:nvPr/>
        </p:nvSpPr>
        <p:spPr>
          <a:xfrm>
            <a:off x="83636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⑧紹介</a:t>
            </a:r>
          </a:p>
        </p:txBody>
      </p:sp>
      <p:sp>
        <p:nvSpPr>
          <p:cNvPr id="13" name="Rounded Rectangle 12"/>
          <p:cNvSpPr/>
          <p:nvPr/>
        </p:nvSpPr>
        <p:spPr>
          <a:xfrm>
            <a:off x="432000" y="1512000"/>
            <a:ext cx="4428000" cy="288000"/>
          </a:xfrm>
          <a:prstGeom prst="roundRect">
            <a:avLst>
              <a:gd name="adj" fmla="val 15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00" b="1">
                <a:solidFill>
                  <a:srgbClr val="FFFFFF"/>
                </a:solidFill>
                <a:latin typeface="メイリオ"/>
                <a:ea typeface="メイリオ"/>
                <a:cs typeface="メイリオ"/>
              </a:rPr>
              <a:t>初めにつくるもの（1〜2ヶ月）</a:t>
            </a:r>
          </a:p>
        </p:txBody>
      </p:sp>
      <p:sp>
        <p:nvSpPr>
          <p:cNvPr id="14" name="Rounded Rectangle 13"/>
          <p:cNvSpPr/>
          <p:nvPr/>
        </p:nvSpPr>
        <p:spPr>
          <a:xfrm>
            <a:off x="432000" y="1872000"/>
            <a:ext cx="4428000" cy="36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050" b="0">
                <a:solidFill>
                  <a:srgbClr val="333333"/>
                </a:solidFill>
                <a:latin typeface="メイリオ"/>
                <a:ea typeface="メイリオ"/>
                <a:cs typeface="メイリオ"/>
              </a:rPr>
              <a:t>LINE公式アカウントの設定（未開設の場合）</a:t>
            </a:r>
          </a:p>
        </p:txBody>
      </p:sp>
      <p:sp>
        <p:nvSpPr>
          <p:cNvPr id="15" name="Rounded Rectangle 14"/>
          <p:cNvSpPr/>
          <p:nvPr/>
        </p:nvSpPr>
        <p:spPr>
          <a:xfrm>
            <a:off x="4068000" y="1944000"/>
            <a:ext cx="720000" cy="216000"/>
          </a:xfrm>
          <a:prstGeom prst="roundRect">
            <a:avLst>
              <a:gd name="adj" fmla="val 3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00" b="1">
                <a:solidFill>
                  <a:srgbClr val="1F285A"/>
                </a:solidFill>
                <a:latin typeface="メイリオ"/>
                <a:ea typeface="メイリオ"/>
                <a:cs typeface="メイリオ"/>
              </a:rPr>
              <a:t>①</a:t>
            </a:r>
          </a:p>
        </p:txBody>
      </p:sp>
      <p:sp>
        <p:nvSpPr>
          <p:cNvPr id="16" name="Rounded Rectangle 15"/>
          <p:cNvSpPr/>
          <p:nvPr/>
        </p:nvSpPr>
        <p:spPr>
          <a:xfrm>
            <a:off x="432000" y="2296800"/>
            <a:ext cx="4428000" cy="36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050" b="0">
                <a:solidFill>
                  <a:srgbClr val="333333"/>
                </a:solidFill>
                <a:latin typeface="メイリオ"/>
                <a:ea typeface="メイリオ"/>
                <a:cs typeface="メイリオ"/>
              </a:rPr>
              <a:t>サイトの離脱防止ポップアップ</a:t>
            </a:r>
          </a:p>
        </p:txBody>
      </p:sp>
      <p:sp>
        <p:nvSpPr>
          <p:cNvPr id="17" name="Rounded Rectangle 16"/>
          <p:cNvSpPr/>
          <p:nvPr/>
        </p:nvSpPr>
        <p:spPr>
          <a:xfrm>
            <a:off x="4068000" y="2368800"/>
            <a:ext cx="720000" cy="216000"/>
          </a:xfrm>
          <a:prstGeom prst="roundRect">
            <a:avLst>
              <a:gd name="adj" fmla="val 3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00" b="1">
                <a:solidFill>
                  <a:srgbClr val="1F285A"/>
                </a:solidFill>
                <a:latin typeface="メイリオ"/>
                <a:ea typeface="メイリオ"/>
                <a:cs typeface="メイリオ"/>
              </a:rPr>
              <a:t>②</a:t>
            </a:r>
          </a:p>
        </p:txBody>
      </p:sp>
      <p:sp>
        <p:nvSpPr>
          <p:cNvPr id="18" name="Rounded Rectangle 17"/>
          <p:cNvSpPr/>
          <p:nvPr/>
        </p:nvSpPr>
        <p:spPr>
          <a:xfrm>
            <a:off x="432000" y="2721600"/>
            <a:ext cx="4428000" cy="36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050" b="0">
                <a:solidFill>
                  <a:srgbClr val="333333"/>
                </a:solidFill>
                <a:latin typeface="メイリオ"/>
                <a:ea typeface="メイリオ"/>
                <a:cs typeface="メイリオ"/>
              </a:rPr>
              <a:t>あいさつメッセージ</a:t>
            </a:r>
          </a:p>
        </p:txBody>
      </p:sp>
      <p:sp>
        <p:nvSpPr>
          <p:cNvPr id="19" name="Rounded Rectangle 18"/>
          <p:cNvSpPr/>
          <p:nvPr/>
        </p:nvSpPr>
        <p:spPr>
          <a:xfrm>
            <a:off x="4068000" y="2793600"/>
            <a:ext cx="720000" cy="216000"/>
          </a:xfrm>
          <a:prstGeom prst="roundRect">
            <a:avLst>
              <a:gd name="adj" fmla="val 3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00" b="1">
                <a:solidFill>
                  <a:srgbClr val="1F285A"/>
                </a:solidFill>
                <a:latin typeface="メイリオ"/>
                <a:ea typeface="メイリオ"/>
                <a:cs typeface="メイリオ"/>
              </a:rPr>
              <a:t>④</a:t>
            </a:r>
          </a:p>
        </p:txBody>
      </p:sp>
      <p:sp>
        <p:nvSpPr>
          <p:cNvPr id="20" name="Rounded Rectangle 19"/>
          <p:cNvSpPr/>
          <p:nvPr/>
        </p:nvSpPr>
        <p:spPr>
          <a:xfrm>
            <a:off x="432000" y="3146400"/>
            <a:ext cx="4428000" cy="36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050" b="0">
                <a:solidFill>
                  <a:srgbClr val="333333"/>
                </a:solidFill>
                <a:latin typeface="メイリオ"/>
                <a:ea typeface="メイリオ"/>
                <a:cs typeface="メイリオ"/>
              </a:rPr>
              <a:t>30秒ぴったり診断（4問）</a:t>
            </a:r>
          </a:p>
        </p:txBody>
      </p:sp>
      <p:sp>
        <p:nvSpPr>
          <p:cNvPr id="21" name="Rounded Rectangle 20"/>
          <p:cNvSpPr/>
          <p:nvPr/>
        </p:nvSpPr>
        <p:spPr>
          <a:xfrm>
            <a:off x="4068000" y="3218400"/>
            <a:ext cx="720000" cy="216000"/>
          </a:xfrm>
          <a:prstGeom prst="roundRect">
            <a:avLst>
              <a:gd name="adj" fmla="val 3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00" b="1">
                <a:solidFill>
                  <a:srgbClr val="1F285A"/>
                </a:solidFill>
                <a:latin typeface="メイリオ"/>
                <a:ea typeface="メイリオ"/>
                <a:cs typeface="メイリオ"/>
              </a:rPr>
              <a:t>④</a:t>
            </a:r>
          </a:p>
        </p:txBody>
      </p:sp>
      <p:sp>
        <p:nvSpPr>
          <p:cNvPr id="22" name="Rounded Rectangle 21"/>
          <p:cNvSpPr/>
          <p:nvPr/>
        </p:nvSpPr>
        <p:spPr>
          <a:xfrm>
            <a:off x="432000" y="3571200"/>
            <a:ext cx="4428000" cy="36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050" b="0">
                <a:solidFill>
                  <a:srgbClr val="333333"/>
                </a:solidFill>
                <a:latin typeface="メイリオ"/>
                <a:ea typeface="メイリオ"/>
                <a:cs typeface="メイリオ"/>
              </a:rPr>
              <a:t>LINEで資料請求の仕組み</a:t>
            </a:r>
          </a:p>
        </p:txBody>
      </p:sp>
      <p:sp>
        <p:nvSpPr>
          <p:cNvPr id="23" name="Rounded Rectangle 22"/>
          <p:cNvSpPr/>
          <p:nvPr/>
        </p:nvSpPr>
        <p:spPr>
          <a:xfrm>
            <a:off x="4068000" y="3643199"/>
            <a:ext cx="720000" cy="216000"/>
          </a:xfrm>
          <a:prstGeom prst="roundRect">
            <a:avLst>
              <a:gd name="adj" fmla="val 3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00" b="1">
                <a:solidFill>
                  <a:srgbClr val="1F285A"/>
                </a:solidFill>
                <a:latin typeface="メイリオ"/>
                <a:ea typeface="メイリオ"/>
                <a:cs typeface="メイリオ"/>
              </a:rPr>
              <a:t>④</a:t>
            </a:r>
          </a:p>
        </p:txBody>
      </p:sp>
      <p:sp>
        <p:nvSpPr>
          <p:cNvPr id="24" name="Rounded Rectangle 23"/>
          <p:cNvSpPr/>
          <p:nvPr/>
        </p:nvSpPr>
        <p:spPr>
          <a:xfrm>
            <a:off x="432000" y="3996000"/>
            <a:ext cx="4428000" cy="36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050" b="0">
                <a:solidFill>
                  <a:srgbClr val="333333"/>
                </a:solidFill>
                <a:latin typeface="メイリオ"/>
                <a:ea typeface="メイリオ"/>
                <a:cs typeface="メイリオ"/>
              </a:rPr>
              <a:t>リッチメニュー（2タブ）</a:t>
            </a:r>
          </a:p>
        </p:txBody>
      </p:sp>
      <p:sp>
        <p:nvSpPr>
          <p:cNvPr id="25" name="Rounded Rectangle 24"/>
          <p:cNvSpPr/>
          <p:nvPr/>
        </p:nvSpPr>
        <p:spPr>
          <a:xfrm>
            <a:off x="4068000" y="4067999"/>
            <a:ext cx="720000" cy="216000"/>
          </a:xfrm>
          <a:prstGeom prst="roundRect">
            <a:avLst>
              <a:gd name="adj" fmla="val 3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00" b="1">
                <a:solidFill>
                  <a:srgbClr val="1F285A"/>
                </a:solidFill>
                <a:latin typeface="メイリオ"/>
                <a:ea typeface="メイリオ"/>
                <a:cs typeface="メイリオ"/>
              </a:rPr>
              <a:t>全体</a:t>
            </a:r>
          </a:p>
        </p:txBody>
      </p:sp>
      <p:sp>
        <p:nvSpPr>
          <p:cNvPr id="26" name="Rounded Rectangle 25"/>
          <p:cNvSpPr/>
          <p:nvPr/>
        </p:nvSpPr>
        <p:spPr>
          <a:xfrm>
            <a:off x="432000" y="4420800"/>
            <a:ext cx="4428000" cy="36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050" b="0">
                <a:solidFill>
                  <a:srgbClr val="333333"/>
                </a:solidFill>
                <a:latin typeface="メイリオ"/>
                <a:ea typeface="メイリオ"/>
                <a:cs typeface="メイリオ"/>
              </a:rPr>
              <a:t>14日間の配信（未入会の保護者向け）</a:t>
            </a:r>
          </a:p>
        </p:txBody>
      </p:sp>
      <p:sp>
        <p:nvSpPr>
          <p:cNvPr id="27" name="Rounded Rectangle 26"/>
          <p:cNvSpPr/>
          <p:nvPr/>
        </p:nvSpPr>
        <p:spPr>
          <a:xfrm>
            <a:off x="4068000" y="4492800"/>
            <a:ext cx="720000" cy="216000"/>
          </a:xfrm>
          <a:prstGeom prst="roundRect">
            <a:avLst>
              <a:gd name="adj" fmla="val 3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00" b="1">
                <a:solidFill>
                  <a:srgbClr val="1F285A"/>
                </a:solidFill>
                <a:latin typeface="メイリオ"/>
                <a:ea typeface="メイリオ"/>
                <a:cs typeface="メイリオ"/>
              </a:rPr>
              <a:t>③⑤</a:t>
            </a:r>
          </a:p>
        </p:txBody>
      </p:sp>
      <p:sp>
        <p:nvSpPr>
          <p:cNvPr id="28" name="Rounded Rectangle 27"/>
          <p:cNvSpPr/>
          <p:nvPr/>
        </p:nvSpPr>
        <p:spPr>
          <a:xfrm>
            <a:off x="432000" y="4845600"/>
            <a:ext cx="4428000" cy="36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050" b="0">
                <a:solidFill>
                  <a:srgbClr val="333333"/>
                </a:solidFill>
                <a:latin typeface="メイリオ"/>
                <a:ea typeface="メイリオ"/>
                <a:cs typeface="メイリオ"/>
              </a:rPr>
              <a:t>キーワード自動応答（料金・体験・持ち物）</a:t>
            </a:r>
          </a:p>
        </p:txBody>
      </p:sp>
      <p:sp>
        <p:nvSpPr>
          <p:cNvPr id="29" name="Rounded Rectangle 28"/>
          <p:cNvSpPr/>
          <p:nvPr/>
        </p:nvSpPr>
        <p:spPr>
          <a:xfrm>
            <a:off x="4068000" y="4917600"/>
            <a:ext cx="720000" cy="216000"/>
          </a:xfrm>
          <a:prstGeom prst="roundRect">
            <a:avLst>
              <a:gd name="adj" fmla="val 3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00" b="1">
                <a:solidFill>
                  <a:srgbClr val="1F285A"/>
                </a:solidFill>
                <a:latin typeface="メイリオ"/>
                <a:ea typeface="メイリオ"/>
                <a:cs typeface="メイリオ"/>
              </a:rPr>
              <a:t>⑤</a:t>
            </a:r>
          </a:p>
        </p:txBody>
      </p:sp>
      <p:sp>
        <p:nvSpPr>
          <p:cNvPr id="30" name="Rounded Rectangle 29"/>
          <p:cNvSpPr/>
          <p:nvPr/>
        </p:nvSpPr>
        <p:spPr>
          <a:xfrm>
            <a:off x="5047200" y="1512000"/>
            <a:ext cx="4428000" cy="288000"/>
          </a:xfrm>
          <a:prstGeom prst="roundRect">
            <a:avLst>
              <a:gd name="adj" fmla="val 15000"/>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00" b="1">
                <a:solidFill>
                  <a:srgbClr val="FFFFFF"/>
                </a:solidFill>
                <a:latin typeface="メイリオ"/>
                <a:ea typeface="メイリオ"/>
                <a:cs typeface="メイリオ"/>
              </a:rPr>
              <a:t>毎月まわすもの</a:t>
            </a:r>
          </a:p>
        </p:txBody>
      </p:sp>
      <p:sp>
        <p:nvSpPr>
          <p:cNvPr id="31" name="Rounded Rectangle 30"/>
          <p:cNvSpPr/>
          <p:nvPr/>
        </p:nvSpPr>
        <p:spPr>
          <a:xfrm>
            <a:off x="5047200" y="1872000"/>
            <a:ext cx="4428000" cy="36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050" b="0">
                <a:solidFill>
                  <a:srgbClr val="333333"/>
                </a:solidFill>
                <a:latin typeface="メイリオ"/>
                <a:ea typeface="メイリオ"/>
                <a:cs typeface="メイリオ"/>
              </a:rPr>
              <a:t>企画配信（月1〜2本・年間カレンダーに沿って）</a:t>
            </a:r>
          </a:p>
        </p:txBody>
      </p:sp>
      <p:sp>
        <p:nvSpPr>
          <p:cNvPr id="32" name="Rounded Rectangle 31"/>
          <p:cNvSpPr/>
          <p:nvPr/>
        </p:nvSpPr>
        <p:spPr>
          <a:xfrm>
            <a:off x="8676000" y="1944000"/>
            <a:ext cx="720000" cy="216000"/>
          </a:xfrm>
          <a:prstGeom prst="roundRect">
            <a:avLst>
              <a:gd name="adj" fmla="val 3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00" b="1">
                <a:solidFill>
                  <a:srgbClr val="1F285A"/>
                </a:solidFill>
                <a:latin typeface="メイリオ"/>
                <a:ea typeface="メイリオ"/>
                <a:cs typeface="メイリオ"/>
              </a:rPr>
              <a:t>③</a:t>
            </a:r>
          </a:p>
        </p:txBody>
      </p:sp>
      <p:sp>
        <p:nvSpPr>
          <p:cNvPr id="33" name="Rounded Rectangle 32"/>
          <p:cNvSpPr/>
          <p:nvPr/>
        </p:nvSpPr>
        <p:spPr>
          <a:xfrm>
            <a:off x="5047200" y="2296800"/>
            <a:ext cx="4428000" cy="36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050" b="0">
                <a:solidFill>
                  <a:srgbClr val="333333"/>
                </a:solidFill>
                <a:latin typeface="メイリオ"/>
                <a:ea typeface="メイリオ"/>
                <a:cs typeface="メイリオ"/>
              </a:rPr>
              <a:t>診断結果に合わせた出し分け配信</a:t>
            </a:r>
          </a:p>
        </p:txBody>
      </p:sp>
      <p:sp>
        <p:nvSpPr>
          <p:cNvPr id="34" name="Rounded Rectangle 33"/>
          <p:cNvSpPr/>
          <p:nvPr/>
        </p:nvSpPr>
        <p:spPr>
          <a:xfrm>
            <a:off x="8676000" y="2368800"/>
            <a:ext cx="720000" cy="216000"/>
          </a:xfrm>
          <a:prstGeom prst="roundRect">
            <a:avLst>
              <a:gd name="adj" fmla="val 3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00" b="1">
                <a:solidFill>
                  <a:srgbClr val="1F285A"/>
                </a:solidFill>
                <a:latin typeface="メイリオ"/>
                <a:ea typeface="メイリオ"/>
                <a:cs typeface="メイリオ"/>
              </a:rPr>
              <a:t>⑤⑥</a:t>
            </a:r>
          </a:p>
        </p:txBody>
      </p:sp>
      <p:sp>
        <p:nvSpPr>
          <p:cNvPr id="35" name="Rounded Rectangle 34"/>
          <p:cNvSpPr/>
          <p:nvPr/>
        </p:nvSpPr>
        <p:spPr>
          <a:xfrm>
            <a:off x="5047200" y="2721600"/>
            <a:ext cx="4428000" cy="36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050" b="0">
                <a:solidFill>
                  <a:srgbClr val="333333"/>
                </a:solidFill>
                <a:latin typeface="メイリオ"/>
                <a:ea typeface="メイリオ"/>
                <a:cs typeface="メイリオ"/>
              </a:rPr>
              <a:t>体験予約者への前日リマインド（自動）</a:t>
            </a:r>
          </a:p>
        </p:txBody>
      </p:sp>
      <p:sp>
        <p:nvSpPr>
          <p:cNvPr id="36" name="Rounded Rectangle 35"/>
          <p:cNvSpPr/>
          <p:nvPr/>
        </p:nvSpPr>
        <p:spPr>
          <a:xfrm>
            <a:off x="8676000" y="2793600"/>
            <a:ext cx="720000" cy="216000"/>
          </a:xfrm>
          <a:prstGeom prst="roundRect">
            <a:avLst>
              <a:gd name="adj" fmla="val 3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00" b="1">
                <a:solidFill>
                  <a:srgbClr val="1F285A"/>
                </a:solidFill>
                <a:latin typeface="メイリオ"/>
                <a:ea typeface="メイリオ"/>
                <a:cs typeface="メイリオ"/>
              </a:rPr>
              <a:t>⑤⑦</a:t>
            </a:r>
          </a:p>
        </p:txBody>
      </p:sp>
      <p:sp>
        <p:nvSpPr>
          <p:cNvPr id="37" name="Rounded Rectangle 36"/>
          <p:cNvSpPr/>
          <p:nvPr/>
        </p:nvSpPr>
        <p:spPr>
          <a:xfrm>
            <a:off x="5047200" y="3146400"/>
            <a:ext cx="4428000" cy="36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050" b="0">
                <a:solidFill>
                  <a:srgbClr val="333333"/>
                </a:solidFill>
                <a:latin typeface="メイリオ"/>
                <a:ea typeface="メイリオ"/>
                <a:cs typeface="メイリオ"/>
              </a:rPr>
              <a:t>過去に問い合わせた保護者への再案内</a:t>
            </a:r>
          </a:p>
        </p:txBody>
      </p:sp>
      <p:sp>
        <p:nvSpPr>
          <p:cNvPr id="38" name="Rounded Rectangle 37"/>
          <p:cNvSpPr/>
          <p:nvPr/>
        </p:nvSpPr>
        <p:spPr>
          <a:xfrm>
            <a:off x="8676000" y="3218400"/>
            <a:ext cx="720000" cy="216000"/>
          </a:xfrm>
          <a:prstGeom prst="roundRect">
            <a:avLst>
              <a:gd name="adj" fmla="val 3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00" b="1">
                <a:solidFill>
                  <a:srgbClr val="1F285A"/>
                </a:solidFill>
                <a:latin typeface="メイリオ"/>
                <a:ea typeface="メイリオ"/>
                <a:cs typeface="メイリオ"/>
              </a:rPr>
              <a:t>⑥</a:t>
            </a:r>
          </a:p>
        </p:txBody>
      </p:sp>
      <p:sp>
        <p:nvSpPr>
          <p:cNvPr id="39" name="Rounded Rectangle 38"/>
          <p:cNvSpPr/>
          <p:nvPr/>
        </p:nvSpPr>
        <p:spPr>
          <a:xfrm>
            <a:off x="5047200" y="3571200"/>
            <a:ext cx="4428000" cy="36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050" b="0">
                <a:solidFill>
                  <a:srgbClr val="333333"/>
                </a:solidFill>
                <a:latin typeface="メイリオ"/>
                <a:ea typeface="メイリオ"/>
                <a:cs typeface="メイリオ"/>
              </a:rPr>
              <a:t>月次レポートと定例会</a:t>
            </a:r>
          </a:p>
        </p:txBody>
      </p:sp>
      <p:sp>
        <p:nvSpPr>
          <p:cNvPr id="40" name="Rounded Rectangle 39"/>
          <p:cNvSpPr/>
          <p:nvPr/>
        </p:nvSpPr>
        <p:spPr>
          <a:xfrm>
            <a:off x="8676000" y="3643199"/>
            <a:ext cx="720000" cy="216000"/>
          </a:xfrm>
          <a:prstGeom prst="roundRect">
            <a:avLst>
              <a:gd name="adj" fmla="val 3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00" b="1">
                <a:solidFill>
                  <a:srgbClr val="1F285A"/>
                </a:solidFill>
                <a:latin typeface="メイリオ"/>
                <a:ea typeface="メイリオ"/>
                <a:cs typeface="メイリオ"/>
              </a:rPr>
              <a:t>全体</a:t>
            </a:r>
          </a:p>
        </p:txBody>
      </p:sp>
      <p:sp>
        <p:nvSpPr>
          <p:cNvPr id="41" name="Rounded Rectangle 40"/>
          <p:cNvSpPr/>
          <p:nvPr/>
        </p:nvSpPr>
        <p:spPr>
          <a:xfrm>
            <a:off x="5047200" y="4068000"/>
            <a:ext cx="4428000" cy="1188000"/>
          </a:xfrm>
          <a:prstGeom prst="roundRect">
            <a:avLst>
              <a:gd name="adj" fmla="val 8000"/>
            </a:avLst>
          </a:prstGeom>
          <a:solidFill>
            <a:srgbClr val="E4E9F2"/>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00" b="1">
                <a:solidFill>
                  <a:srgbClr val="333333"/>
                </a:solidFill>
                <a:latin typeface="メイリオ"/>
                <a:ea typeface="メイリオ"/>
                <a:cs typeface="メイリオ"/>
              </a:rPr>
              <a:t>作り込むのは、診断・リッチメニュー・14日間の配信の3つ。</a:t>
            </a:r>
          </a:p>
          <a:p>
            <a:pPr algn="ctr"/>
            <a:r>
              <a:rPr sz="1100" b="0">
                <a:solidFill>
                  <a:srgbClr val="333333"/>
                </a:solidFill>
                <a:latin typeface="メイリオ"/>
                <a:ea typeface="メイリオ"/>
                <a:cs typeface="メイリオ"/>
              </a:rPr>
              <a:t>ここが弱いと、あとの配信が全部弱くなる。</a:t>
            </a:r>
          </a:p>
        </p:txBody>
      </p:sp>
      <p:sp>
        <p:nvSpPr>
          <p:cNvPr id="42" name="Rectangle 41"/>
          <p:cNvSpPr/>
          <p:nvPr/>
        </p:nvSpPr>
        <p:spPr>
          <a:xfrm>
            <a:off x="432000" y="5328000"/>
            <a:ext cx="904320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900" b="0">
                <a:solidFill>
                  <a:srgbClr val="7F7F7F"/>
                </a:solidFill>
                <a:latin typeface="メイリオ"/>
                <a:ea typeface="メイリオ"/>
                <a:cs typeface="メイリオ"/>
              </a:rPr>
              <a:t>右の丸は、8フェーズのどこに効くか（番号）</a:t>
            </a:r>
          </a:p>
        </p:txBody>
      </p:sp>
    </p:spTree>
    <p:extLst>
      <p:ext uri="{BB962C8B-B14F-4D97-AF65-F5344CB8AC3E}">
        <p14:creationId xmlns:p14="http://schemas.microsoft.com/office/powerpoint/2010/main" val="42248704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61590B-7660-E16F-AF1F-C1B09199CC7C}"/>
            </a:ext>
          </a:extLst>
        </p:cNvPr>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構築①｜友だち追加の入口</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a:solidFill>
                  <a:srgbClr val="333333"/>
                </a:solidFill>
                <a:latin typeface="メイリオ"/>
                <a:ea typeface="メイリオ"/>
                <a:cs typeface="メイリオ"/>
              </a:rPr>
              <a:t>決断を迫らず、「資料と診断を受け取るだけ」でつながる入口をつくる。</a:t>
            </a:r>
          </a:p>
          <a:p>
            <a:pPr algn="l">
              <a:lnSpc>
                <a:spcPct val="128000"/>
              </a:lnSpc>
            </a:pPr>
            <a:r>
              <a:rPr sz="1200">
                <a:solidFill>
                  <a:srgbClr val="333333"/>
                </a:solidFill>
                <a:latin typeface="メイリオ"/>
                <a:ea typeface="メイリオ"/>
                <a:cs typeface="メイリオ"/>
              </a:rPr>
              <a:t>ボタンは「今すぐ体験」ではなく「受け取る」。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750">
                <a:solidFill>
                  <a:srgbClr val="7F7F7F"/>
                </a:solidFill>
                <a:latin typeface="メイリオ"/>
                <a:ea typeface="メイリオ"/>
                <a:cs typeface="メイリオ"/>
              </a:rPr>
              <a:t>※ボタン文言の言い換えはDYM見解。離脱防止ポップアップはSitelead等（別途費用）。明光義塾も、サイトの初回訪問時・離脱時のポップアップで友だちを集めていた（公式事例・P15）</a:t>
            </a:r>
          </a:p>
        </p:txBody>
      </p:sp>
      <p:sp>
        <p:nvSpPr>
          <p:cNvPr id="18" name="Pentagon 17"/>
          <p:cNvSpPr/>
          <p:nvPr/>
        </p:nvSpPr>
        <p:spPr>
          <a:xfrm>
            <a:off x="432000" y="590400"/>
            <a:ext cx="1111500" cy="180000"/>
          </a:xfrm>
          <a:prstGeom prst="homePlat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①接触</a:t>
            </a:r>
          </a:p>
        </p:txBody>
      </p:sp>
      <p:sp>
        <p:nvSpPr>
          <p:cNvPr id="19" name="Chevron 18"/>
          <p:cNvSpPr/>
          <p:nvPr/>
        </p:nvSpPr>
        <p:spPr>
          <a:xfrm>
            <a:off x="15651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②離脱</a:t>
            </a:r>
          </a:p>
        </p:txBody>
      </p:sp>
      <p:sp>
        <p:nvSpPr>
          <p:cNvPr id="20" name="Chevron 19"/>
          <p:cNvSpPr/>
          <p:nvPr/>
        </p:nvSpPr>
        <p:spPr>
          <a:xfrm>
            <a:off x="26982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③育成</a:t>
            </a:r>
          </a:p>
        </p:txBody>
      </p:sp>
      <p:sp>
        <p:nvSpPr>
          <p:cNvPr id="21" name="Chevron 20"/>
          <p:cNvSpPr/>
          <p:nvPr/>
        </p:nvSpPr>
        <p:spPr>
          <a:xfrm>
            <a:off x="3831299"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④リード獲得</a:t>
            </a:r>
          </a:p>
        </p:txBody>
      </p:sp>
      <p:sp>
        <p:nvSpPr>
          <p:cNvPr id="22" name="Chevron 21"/>
          <p:cNvSpPr/>
          <p:nvPr/>
        </p:nvSpPr>
        <p:spPr>
          <a:xfrm>
            <a:off x="49644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⑤リード有効化</a:t>
            </a:r>
          </a:p>
        </p:txBody>
      </p:sp>
      <p:sp>
        <p:nvSpPr>
          <p:cNvPr id="23" name="Chevron 22"/>
          <p:cNvSpPr/>
          <p:nvPr/>
        </p:nvSpPr>
        <p:spPr>
          <a:xfrm>
            <a:off x="60975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⑥再育成</a:t>
            </a:r>
          </a:p>
        </p:txBody>
      </p:sp>
      <p:sp>
        <p:nvSpPr>
          <p:cNvPr id="24" name="Chevron 23"/>
          <p:cNvSpPr/>
          <p:nvPr/>
        </p:nvSpPr>
        <p:spPr>
          <a:xfrm>
            <a:off x="72305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⑦入会（契約）</a:t>
            </a:r>
          </a:p>
        </p:txBody>
      </p:sp>
      <p:sp>
        <p:nvSpPr>
          <p:cNvPr id="25" name="Chevron 24"/>
          <p:cNvSpPr/>
          <p:nvPr/>
        </p:nvSpPr>
        <p:spPr>
          <a:xfrm>
            <a:off x="83636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⑧紹介</a:t>
            </a:r>
          </a:p>
        </p:txBody>
      </p:sp>
      <p:sp>
        <p:nvSpPr>
          <p:cNvPr id="26" name="Rounded Rectangle 25"/>
          <p:cNvSpPr/>
          <p:nvPr/>
        </p:nvSpPr>
        <p:spPr>
          <a:xfrm>
            <a:off x="432000" y="1494000"/>
            <a:ext cx="2882399" cy="99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27" name="Rounded Rectangle 26"/>
          <p:cNvSpPr/>
          <p:nvPr/>
        </p:nvSpPr>
        <p:spPr>
          <a:xfrm>
            <a:off x="432000" y="1494000"/>
            <a:ext cx="2882399" cy="223200"/>
          </a:xfrm>
          <a:prstGeom prst="roundRect">
            <a:avLst>
              <a:gd name="adj" fmla="val 20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333333"/>
                </a:solidFill>
                <a:latin typeface="メイリオ"/>
                <a:ea typeface="メイリオ"/>
                <a:cs typeface="メイリオ"/>
              </a:rPr>
              <a:t>データ（事実）</a:t>
            </a:r>
          </a:p>
        </p:txBody>
      </p:sp>
      <p:sp>
        <p:nvSpPr>
          <p:cNvPr id="28" name="Rectangle 27"/>
          <p:cNvSpPr/>
          <p:nvPr/>
        </p:nvSpPr>
        <p:spPr>
          <a:xfrm>
            <a:off x="522000"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000" b="0">
                <a:solidFill>
                  <a:srgbClr val="333333"/>
                </a:solidFill>
                <a:latin typeface="メイリオ"/>
                <a:ea typeface="メイリオ"/>
                <a:cs typeface="メイリオ"/>
              </a:rPr>
              <a:t>サイトに来た保護者の多くは、名前を残さず帰る</a:t>
            </a:r>
          </a:p>
          <a:p>
            <a:pPr algn="l"/>
            <a:r>
              <a:rPr sz="1000" b="0">
                <a:solidFill>
                  <a:srgbClr val="333333"/>
                </a:solidFill>
                <a:latin typeface="メイリオ"/>
                <a:ea typeface="メイリオ"/>
                <a:cs typeface="メイリオ"/>
              </a:rPr>
              <a:t>一番の悩みは「合うか分からない」63.5%（P7）</a:t>
            </a:r>
          </a:p>
        </p:txBody>
      </p:sp>
      <p:cxnSp>
        <p:nvCxnSpPr>
          <p:cNvPr id="29" name="Connector 28"/>
          <p:cNvCxnSpPr/>
          <p:nvPr/>
        </p:nvCxnSpPr>
        <p:spPr>
          <a:xfrm>
            <a:off x="3343199" y="1989000"/>
            <a:ext cx="140400"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3512399" y="1494000"/>
            <a:ext cx="2882399" cy="99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31" name="Rounded Rectangle 30"/>
          <p:cNvSpPr/>
          <p:nvPr/>
        </p:nvSpPr>
        <p:spPr>
          <a:xfrm>
            <a:off x="3512399" y="1494000"/>
            <a:ext cx="2882399" cy="223200"/>
          </a:xfrm>
          <a:prstGeom prst="roundRect">
            <a:avLst>
              <a:gd name="adj" fmla="val 20000"/>
            </a:avLst>
          </a:prstGeom>
          <a:solidFill>
            <a:srgbClr val="E4E9F2"/>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333333"/>
                </a:solidFill>
                <a:latin typeface="メイリオ"/>
                <a:ea typeface="メイリオ"/>
                <a:cs typeface="メイリオ"/>
              </a:rPr>
              <a:t>すべきこと</a:t>
            </a:r>
          </a:p>
        </p:txBody>
      </p:sp>
      <p:sp>
        <p:nvSpPr>
          <p:cNvPr id="32" name="Rectangle 31"/>
          <p:cNvSpPr/>
          <p:nvPr/>
        </p:nvSpPr>
        <p:spPr>
          <a:xfrm>
            <a:off x="3602399"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000" b="0">
                <a:solidFill>
                  <a:srgbClr val="333333"/>
                </a:solidFill>
                <a:latin typeface="メイリオ"/>
                <a:ea typeface="メイリオ"/>
                <a:cs typeface="メイリオ"/>
              </a:rPr>
              <a:t>決めていない保護者でも、</a:t>
            </a:r>
          </a:p>
          <a:p>
            <a:pPr algn="l"/>
            <a:r>
              <a:rPr sz="1000" b="0">
                <a:solidFill>
                  <a:srgbClr val="333333"/>
                </a:solidFill>
                <a:latin typeface="メイリオ"/>
                <a:ea typeface="メイリオ"/>
                <a:cs typeface="メイリオ"/>
              </a:rPr>
              <a:t>気軽につながれる入口をつくる</a:t>
            </a:r>
          </a:p>
        </p:txBody>
      </p:sp>
      <p:cxnSp>
        <p:nvCxnSpPr>
          <p:cNvPr id="33" name="Connector 32"/>
          <p:cNvCxnSpPr/>
          <p:nvPr/>
        </p:nvCxnSpPr>
        <p:spPr>
          <a:xfrm>
            <a:off x="6423599" y="1989000"/>
            <a:ext cx="140401"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6592800" y="1494000"/>
            <a:ext cx="2882399" cy="990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35" name="Rounded Rectangle 34"/>
          <p:cNvSpPr/>
          <p:nvPr/>
        </p:nvSpPr>
        <p:spPr>
          <a:xfrm>
            <a:off x="6592800" y="1494000"/>
            <a:ext cx="2882399" cy="223200"/>
          </a:xfrm>
          <a:prstGeom prst="roundRect">
            <a:avLst>
              <a:gd name="adj" fmla="val 2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FFFFFF"/>
                </a:solidFill>
                <a:latin typeface="メイリオ"/>
                <a:ea typeface="メイリオ"/>
                <a:cs typeface="メイリオ"/>
              </a:rPr>
              <a:t>LINE施策</a:t>
            </a:r>
          </a:p>
        </p:txBody>
      </p:sp>
      <p:sp>
        <p:nvSpPr>
          <p:cNvPr id="36" name="Rectangle 35"/>
          <p:cNvSpPr/>
          <p:nvPr/>
        </p:nvSpPr>
        <p:spPr>
          <a:xfrm>
            <a:off x="6682800"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000" b="0">
                <a:solidFill>
                  <a:srgbClr val="FFFFFF"/>
                </a:solidFill>
                <a:latin typeface="メイリオ"/>
                <a:ea typeface="メイリオ"/>
                <a:cs typeface="メイリオ"/>
              </a:rPr>
              <a:t>入口は3つ：</a:t>
            </a:r>
          </a:p>
          <a:p>
            <a:pPr algn="l"/>
            <a:r>
              <a:rPr sz="1000" b="0">
                <a:solidFill>
                  <a:srgbClr val="FFFFFF"/>
                </a:solidFill>
                <a:latin typeface="メイリオ"/>
                <a:ea typeface="メイリオ"/>
                <a:cs typeface="メイリオ"/>
              </a:rPr>
              <a:t>離脱防止ポップアップ／チラシ・教室のQR／友だちからの紹介</a:t>
            </a:r>
          </a:p>
        </p:txBody>
      </p:sp>
      <p:sp>
        <p:nvSpPr>
          <p:cNvPr id="37" name="Rectangle 36"/>
          <p:cNvSpPr/>
          <p:nvPr/>
        </p:nvSpPr>
        <p:spPr>
          <a:xfrm>
            <a:off x="432000" y="2610000"/>
            <a:ext cx="450000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50" b="1">
                <a:solidFill>
                  <a:srgbClr val="002060"/>
                </a:solidFill>
                <a:latin typeface="メイリオ"/>
                <a:ea typeface="メイリオ"/>
                <a:cs typeface="メイリオ"/>
              </a:rPr>
              <a:t>入口は3つ</a:t>
            </a:r>
          </a:p>
        </p:txBody>
      </p:sp>
      <p:sp>
        <p:nvSpPr>
          <p:cNvPr id="38" name="Rounded Rectangle 37"/>
          <p:cNvSpPr/>
          <p:nvPr/>
        </p:nvSpPr>
        <p:spPr>
          <a:xfrm>
            <a:off x="432000" y="2862000"/>
            <a:ext cx="4500000" cy="702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300" b="1">
                <a:solidFill>
                  <a:srgbClr val="1F285A"/>
                </a:solidFill>
                <a:latin typeface="メイリオ"/>
                <a:ea typeface="メイリオ"/>
                <a:cs typeface="メイリオ"/>
              </a:rPr>
              <a:t>サイトの離脱防止ポップアップ</a:t>
            </a:r>
          </a:p>
          <a:p>
            <a:pPr algn="l"/>
            <a:r>
              <a:rPr sz="1200" b="0">
                <a:solidFill>
                  <a:srgbClr val="333333"/>
                </a:solidFill>
                <a:latin typeface="メイリオ"/>
                <a:ea typeface="メイリオ"/>
                <a:cs typeface="メイリオ"/>
              </a:rPr>
              <a:t>帰ろうとした瞬間に表示。広告費を足さずにつながれる</a:t>
            </a:r>
          </a:p>
        </p:txBody>
      </p:sp>
      <p:sp>
        <p:nvSpPr>
          <p:cNvPr id="39" name="Rounded Rectangle 38"/>
          <p:cNvSpPr/>
          <p:nvPr/>
        </p:nvSpPr>
        <p:spPr>
          <a:xfrm>
            <a:off x="432000" y="3654000"/>
            <a:ext cx="4500000" cy="702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300" b="1">
                <a:solidFill>
                  <a:srgbClr val="1F285A"/>
                </a:solidFill>
                <a:latin typeface="メイリオ"/>
                <a:ea typeface="メイリオ"/>
                <a:cs typeface="メイリオ"/>
              </a:rPr>
              <a:t>チラシ・教室掲示のQR</a:t>
            </a:r>
          </a:p>
          <a:p>
            <a:pPr algn="l"/>
            <a:r>
              <a:rPr sz="1200" b="0">
                <a:solidFill>
                  <a:srgbClr val="333333"/>
                </a:solidFill>
                <a:latin typeface="メイリオ"/>
                <a:ea typeface="メイリオ"/>
                <a:cs typeface="メイリオ"/>
              </a:rPr>
              <a:t>今あるチラシにQRを1つ足すだけ</a:t>
            </a:r>
          </a:p>
        </p:txBody>
      </p:sp>
      <p:sp>
        <p:nvSpPr>
          <p:cNvPr id="40" name="Rounded Rectangle 39"/>
          <p:cNvSpPr/>
          <p:nvPr/>
        </p:nvSpPr>
        <p:spPr>
          <a:xfrm>
            <a:off x="432000" y="4446000"/>
            <a:ext cx="4500000" cy="702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300" b="1">
                <a:solidFill>
                  <a:srgbClr val="1F285A"/>
                </a:solidFill>
                <a:latin typeface="メイリオ"/>
                <a:ea typeface="メイリオ"/>
                <a:cs typeface="メイリオ"/>
              </a:rPr>
              <a:t>友だちからの紹介（入会前）</a:t>
            </a:r>
          </a:p>
          <a:p>
            <a:pPr algn="l"/>
            <a:r>
              <a:rPr sz="1200" b="0">
                <a:solidFill>
                  <a:srgbClr val="333333"/>
                </a:solidFill>
                <a:latin typeface="メイリオ"/>
                <a:ea typeface="メイリオ"/>
                <a:cs typeface="メイリオ"/>
              </a:rPr>
              <a:t>「一緒に体験しよう」をLINEで送ってもらう（P26）</a:t>
            </a:r>
          </a:p>
        </p:txBody>
      </p:sp>
      <p:sp>
        <p:nvSpPr>
          <p:cNvPr id="41" name="Rectangle 40"/>
          <p:cNvSpPr/>
          <p:nvPr/>
        </p:nvSpPr>
        <p:spPr>
          <a:xfrm>
            <a:off x="5148000" y="2610000"/>
            <a:ext cx="432000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50" b="1">
                <a:solidFill>
                  <a:srgbClr val="002060"/>
                </a:solidFill>
                <a:latin typeface="メイリオ"/>
                <a:ea typeface="メイリオ"/>
                <a:cs typeface="メイリオ"/>
              </a:rPr>
              <a:t>離脱防止ポップアップの実文</a:t>
            </a:r>
          </a:p>
        </p:txBody>
      </p:sp>
      <p:sp>
        <p:nvSpPr>
          <p:cNvPr id="42" name="Rounded Rectangle 41"/>
          <p:cNvSpPr/>
          <p:nvPr/>
        </p:nvSpPr>
        <p:spPr>
          <a:xfrm>
            <a:off x="5148000" y="2862000"/>
            <a:ext cx="4320000" cy="2286000"/>
          </a:xfrm>
          <a:prstGeom prst="roundRect">
            <a:avLst>
              <a:gd name="adj" fmla="val 8000"/>
            </a:avLst>
          </a:prstGeom>
          <a:solidFill>
            <a:srgbClr val="FFFFFF"/>
          </a:solidFill>
          <a:ln w="1587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43" name="Rectangle 42"/>
          <p:cNvSpPr/>
          <p:nvPr/>
        </p:nvSpPr>
        <p:spPr>
          <a:xfrm>
            <a:off x="5328000" y="2951999"/>
            <a:ext cx="3960000" cy="1548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400" b="1">
                <a:solidFill>
                  <a:srgbClr val="002060"/>
                </a:solidFill>
                <a:latin typeface="メイリオ"/>
                <a:ea typeface="メイリオ"/>
                <a:cs typeface="メイリオ"/>
              </a:rPr>
              <a:t>まだ、塾を決めなくて大丈夫です。</a:t>
            </a:r>
          </a:p>
          <a:p>
            <a:pPr algn="l"/>
            <a:r>
              <a:rPr sz="1050" b="0">
                <a:solidFill>
                  <a:srgbClr val="333333"/>
                </a:solidFill>
                <a:latin typeface="メイリオ"/>
                <a:ea typeface="メイリオ"/>
                <a:cs typeface="メイリオ"/>
              </a:rPr>
              <a:t>30秒の診断で、お子さまに合う学び方（集団／個別／映像）と、</a:t>
            </a:r>
          </a:p>
          <a:p>
            <a:pPr algn="l"/>
            <a:r>
              <a:rPr sz="1050" b="0">
                <a:solidFill>
                  <a:srgbClr val="333333"/>
                </a:solidFill>
                <a:latin typeface="メイリオ"/>
                <a:ea typeface="メイリオ"/>
                <a:cs typeface="メイリオ"/>
              </a:rPr>
              <a:t>コース・料金の資料をLINEでお届けします。</a:t>
            </a:r>
          </a:p>
        </p:txBody>
      </p:sp>
      <p:sp>
        <p:nvSpPr>
          <p:cNvPr id="44" name="Rounded Rectangle 43"/>
          <p:cNvSpPr/>
          <p:nvPr/>
        </p:nvSpPr>
        <p:spPr>
          <a:xfrm>
            <a:off x="5688000" y="4176000"/>
            <a:ext cx="3240000" cy="396000"/>
          </a:xfrm>
          <a:prstGeom prst="roundRect">
            <a:avLst>
              <a:gd name="adj" fmla="val 40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00" b="1">
                <a:solidFill>
                  <a:srgbClr val="FFFFFF"/>
                </a:solidFill>
                <a:latin typeface="メイリオ"/>
                <a:ea typeface="メイリオ"/>
                <a:cs typeface="メイリオ"/>
              </a:rPr>
              <a:t>LINEで資料と診断を受け取る</a:t>
            </a:r>
          </a:p>
        </p:txBody>
      </p:sp>
      <p:sp>
        <p:nvSpPr>
          <p:cNvPr id="45" name="Rectangle 44"/>
          <p:cNvSpPr/>
          <p:nvPr/>
        </p:nvSpPr>
        <p:spPr>
          <a:xfrm>
            <a:off x="5328000" y="4644000"/>
            <a:ext cx="396000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ctr"/>
            <a:r>
              <a:rPr sz="950" b="0">
                <a:solidFill>
                  <a:srgbClr val="7F7F7F"/>
                </a:solidFill>
                <a:latin typeface="メイリオ"/>
                <a:ea typeface="メイリオ"/>
                <a:cs typeface="メイリオ"/>
              </a:rPr>
              <a:t>※お名前・お電話番号は不要です</a:t>
            </a:r>
          </a:p>
        </p:txBody>
      </p:sp>
    </p:spTree>
    <p:extLst>
      <p:ext uri="{BB962C8B-B14F-4D97-AF65-F5344CB8AC3E}">
        <p14:creationId xmlns:p14="http://schemas.microsoft.com/office/powerpoint/2010/main" val="42609803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63900D-063E-F973-5EF2-005AE1CA2159}"/>
            </a:ext>
          </a:extLst>
        </p:cNvPr>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構築①｜つづき：友だちと一緒に</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dirty="0">
                <a:solidFill>
                  <a:srgbClr val="333333"/>
                </a:solidFill>
                <a:latin typeface="メイリオ"/>
                <a:ea typeface="メイリオ"/>
                <a:cs typeface="メイリオ"/>
              </a:rPr>
              <a:t>「友だちと一緒なら行ってみたい」を、体験予約のきっかけにする。</a:t>
            </a:r>
            <a:endParaRPr lang="en-US" sz="1200" dirty="0">
              <a:solidFill>
                <a:srgbClr val="333333"/>
              </a:solidFill>
              <a:latin typeface="メイリオ"/>
              <a:ea typeface="メイリオ"/>
              <a:cs typeface="メイリオ"/>
            </a:endParaRPr>
          </a:p>
          <a:p>
            <a:pPr algn="l">
              <a:lnSpc>
                <a:spcPct val="128000"/>
              </a:lnSpc>
            </a:pPr>
            <a:r>
              <a:rPr sz="1200" dirty="0">
                <a:solidFill>
                  <a:srgbClr val="333333"/>
                </a:solidFill>
                <a:latin typeface="メイリオ"/>
                <a:ea typeface="メイリオ"/>
                <a:cs typeface="メイリオ"/>
              </a:rPr>
              <a:t>保護者どうしの「どこの塾に行ってる？」を、LINEでつなぐ。</a:t>
            </a:r>
            <a:endParaRPr lang="en-US" sz="1200" dirty="0">
              <a:solidFill>
                <a:srgbClr val="333333"/>
              </a:solidFill>
              <a:latin typeface="メイリオ"/>
              <a:ea typeface="メイリオ"/>
              <a:cs typeface="メイリオ"/>
            </a:endParaRP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900">
                <a:solidFill>
                  <a:srgbClr val="7F7F7F"/>
                </a:solidFill>
                <a:latin typeface="メイリオ"/>
                <a:ea typeface="メイリオ"/>
                <a:cs typeface="メイリオ"/>
              </a:rPr>
              <a:t>出典｜POPER「Comiru」保護者と学習塾の意識調査 2022年（保護者300人）。特典の中身は塾ごとに決める</a:t>
            </a:r>
          </a:p>
        </p:txBody>
      </p:sp>
      <p:sp>
        <p:nvSpPr>
          <p:cNvPr id="17" name="Pentagon 16"/>
          <p:cNvSpPr/>
          <p:nvPr/>
        </p:nvSpPr>
        <p:spPr>
          <a:xfrm>
            <a:off x="432000" y="590400"/>
            <a:ext cx="1111500" cy="180000"/>
          </a:xfrm>
          <a:prstGeom prst="homePlat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①接触</a:t>
            </a:r>
          </a:p>
        </p:txBody>
      </p:sp>
      <p:sp>
        <p:nvSpPr>
          <p:cNvPr id="18" name="Chevron 17"/>
          <p:cNvSpPr/>
          <p:nvPr/>
        </p:nvSpPr>
        <p:spPr>
          <a:xfrm>
            <a:off x="15651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②離脱</a:t>
            </a:r>
          </a:p>
        </p:txBody>
      </p:sp>
      <p:sp>
        <p:nvSpPr>
          <p:cNvPr id="19" name="Chevron 18"/>
          <p:cNvSpPr/>
          <p:nvPr/>
        </p:nvSpPr>
        <p:spPr>
          <a:xfrm>
            <a:off x="26982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③育成</a:t>
            </a:r>
          </a:p>
        </p:txBody>
      </p:sp>
      <p:sp>
        <p:nvSpPr>
          <p:cNvPr id="20" name="Chevron 19"/>
          <p:cNvSpPr/>
          <p:nvPr/>
        </p:nvSpPr>
        <p:spPr>
          <a:xfrm>
            <a:off x="3831299"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④リード獲得</a:t>
            </a:r>
          </a:p>
        </p:txBody>
      </p:sp>
      <p:sp>
        <p:nvSpPr>
          <p:cNvPr id="21" name="Chevron 20"/>
          <p:cNvSpPr/>
          <p:nvPr/>
        </p:nvSpPr>
        <p:spPr>
          <a:xfrm>
            <a:off x="49644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⑤リード有効化</a:t>
            </a:r>
          </a:p>
        </p:txBody>
      </p:sp>
      <p:sp>
        <p:nvSpPr>
          <p:cNvPr id="22" name="Chevron 21"/>
          <p:cNvSpPr/>
          <p:nvPr/>
        </p:nvSpPr>
        <p:spPr>
          <a:xfrm>
            <a:off x="60975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⑥再育成</a:t>
            </a:r>
          </a:p>
        </p:txBody>
      </p:sp>
      <p:sp>
        <p:nvSpPr>
          <p:cNvPr id="23" name="Chevron 22"/>
          <p:cNvSpPr/>
          <p:nvPr/>
        </p:nvSpPr>
        <p:spPr>
          <a:xfrm>
            <a:off x="72305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⑦入会（契約）</a:t>
            </a:r>
          </a:p>
        </p:txBody>
      </p:sp>
      <p:sp>
        <p:nvSpPr>
          <p:cNvPr id="24" name="Chevron 23"/>
          <p:cNvSpPr/>
          <p:nvPr/>
        </p:nvSpPr>
        <p:spPr>
          <a:xfrm>
            <a:off x="83636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⑧紹介</a:t>
            </a:r>
          </a:p>
        </p:txBody>
      </p:sp>
      <p:sp>
        <p:nvSpPr>
          <p:cNvPr id="25" name="Rounded Rectangle 24"/>
          <p:cNvSpPr/>
          <p:nvPr/>
        </p:nvSpPr>
        <p:spPr>
          <a:xfrm>
            <a:off x="432000" y="1494000"/>
            <a:ext cx="2882399" cy="99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26" name="Rounded Rectangle 25"/>
          <p:cNvSpPr/>
          <p:nvPr/>
        </p:nvSpPr>
        <p:spPr>
          <a:xfrm>
            <a:off x="432000" y="1494000"/>
            <a:ext cx="2882399" cy="223200"/>
          </a:xfrm>
          <a:prstGeom prst="roundRect">
            <a:avLst>
              <a:gd name="adj" fmla="val 20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333333"/>
                </a:solidFill>
                <a:latin typeface="メイリオ"/>
                <a:ea typeface="メイリオ"/>
                <a:cs typeface="メイリオ"/>
              </a:rPr>
              <a:t>データ（事実）</a:t>
            </a:r>
          </a:p>
        </p:txBody>
      </p:sp>
      <p:sp>
        <p:nvSpPr>
          <p:cNvPr id="27" name="Rectangle 26"/>
          <p:cNvSpPr/>
          <p:nvPr/>
        </p:nvSpPr>
        <p:spPr>
          <a:xfrm>
            <a:off x="522000"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50" b="0">
                <a:solidFill>
                  <a:srgbClr val="333333"/>
                </a:solidFill>
                <a:latin typeface="メイリオ"/>
                <a:ea typeface="メイリオ"/>
                <a:cs typeface="メイリオ"/>
              </a:rPr>
              <a:t>塾を知ったきっかけの1位は</a:t>
            </a:r>
          </a:p>
          <a:p>
            <a:pPr algn="l"/>
            <a:r>
              <a:rPr sz="1150" b="0">
                <a:solidFill>
                  <a:srgbClr val="333333"/>
                </a:solidFill>
                <a:latin typeface="メイリオ"/>
                <a:ea typeface="メイリオ"/>
                <a:cs typeface="メイリオ"/>
              </a:rPr>
              <a:t>「知人・友人の口コミ」47.0%</a:t>
            </a:r>
          </a:p>
        </p:txBody>
      </p:sp>
      <p:cxnSp>
        <p:nvCxnSpPr>
          <p:cNvPr id="28" name="Connector 27"/>
          <p:cNvCxnSpPr/>
          <p:nvPr/>
        </p:nvCxnSpPr>
        <p:spPr>
          <a:xfrm>
            <a:off x="3343199" y="1989000"/>
            <a:ext cx="140400"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3512399" y="1494000"/>
            <a:ext cx="2882399" cy="99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30" name="Rounded Rectangle 29"/>
          <p:cNvSpPr/>
          <p:nvPr/>
        </p:nvSpPr>
        <p:spPr>
          <a:xfrm>
            <a:off x="3512399" y="1494000"/>
            <a:ext cx="2882399" cy="223200"/>
          </a:xfrm>
          <a:prstGeom prst="roundRect">
            <a:avLst>
              <a:gd name="adj" fmla="val 20000"/>
            </a:avLst>
          </a:prstGeom>
          <a:solidFill>
            <a:srgbClr val="E4E9F2"/>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333333"/>
                </a:solidFill>
                <a:latin typeface="メイリオ"/>
                <a:ea typeface="メイリオ"/>
                <a:cs typeface="メイリオ"/>
              </a:rPr>
              <a:t>すべきこと</a:t>
            </a:r>
          </a:p>
        </p:txBody>
      </p:sp>
      <p:sp>
        <p:nvSpPr>
          <p:cNvPr id="31" name="Rectangle 30"/>
          <p:cNvSpPr/>
          <p:nvPr/>
        </p:nvSpPr>
        <p:spPr>
          <a:xfrm>
            <a:off x="3602399"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50" b="0">
                <a:solidFill>
                  <a:srgbClr val="333333"/>
                </a:solidFill>
                <a:latin typeface="メイリオ"/>
                <a:ea typeface="メイリオ"/>
                <a:cs typeface="メイリオ"/>
              </a:rPr>
              <a:t>友だちとの会話を、</a:t>
            </a:r>
          </a:p>
          <a:p>
            <a:pPr algn="l"/>
            <a:r>
              <a:rPr sz="1150" b="0">
                <a:solidFill>
                  <a:srgbClr val="333333"/>
                </a:solidFill>
                <a:latin typeface="メイリオ"/>
                <a:ea typeface="メイリオ"/>
                <a:cs typeface="メイリオ"/>
              </a:rPr>
              <a:t>体験予約のきっかけにする</a:t>
            </a:r>
          </a:p>
        </p:txBody>
      </p:sp>
      <p:cxnSp>
        <p:nvCxnSpPr>
          <p:cNvPr id="32" name="Connector 31"/>
          <p:cNvCxnSpPr/>
          <p:nvPr/>
        </p:nvCxnSpPr>
        <p:spPr>
          <a:xfrm>
            <a:off x="6423599" y="1989000"/>
            <a:ext cx="140401"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6592800" y="1494000"/>
            <a:ext cx="2882399" cy="990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34" name="Rounded Rectangle 33"/>
          <p:cNvSpPr/>
          <p:nvPr/>
        </p:nvSpPr>
        <p:spPr>
          <a:xfrm>
            <a:off x="6592800" y="1494000"/>
            <a:ext cx="2882399" cy="223200"/>
          </a:xfrm>
          <a:prstGeom prst="roundRect">
            <a:avLst>
              <a:gd name="adj" fmla="val 2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FFFFFF"/>
                </a:solidFill>
                <a:latin typeface="メイリオ"/>
                <a:ea typeface="メイリオ"/>
                <a:cs typeface="メイリオ"/>
              </a:rPr>
              <a:t>LINE施策</a:t>
            </a:r>
          </a:p>
        </p:txBody>
      </p:sp>
      <p:sp>
        <p:nvSpPr>
          <p:cNvPr id="35" name="Rectangle 34"/>
          <p:cNvSpPr/>
          <p:nvPr/>
        </p:nvSpPr>
        <p:spPr>
          <a:xfrm>
            <a:off x="6682800"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50" b="0">
                <a:solidFill>
                  <a:srgbClr val="FFFFFF"/>
                </a:solidFill>
                <a:latin typeface="メイリオ"/>
                <a:ea typeface="メイリオ"/>
                <a:cs typeface="メイリオ"/>
              </a:rPr>
              <a:t>友だちと一緒の体験枠をLINEで予約</a:t>
            </a:r>
          </a:p>
          <a:p>
            <a:pPr algn="l"/>
            <a:r>
              <a:rPr sz="1150" b="0">
                <a:solidFill>
                  <a:srgbClr val="FFFFFF"/>
                </a:solidFill>
                <a:latin typeface="メイリオ"/>
                <a:ea typeface="メイリオ"/>
                <a:cs typeface="メイリオ"/>
              </a:rPr>
              <a:t>LINEの転送だけで紹介できる</a:t>
            </a:r>
          </a:p>
        </p:txBody>
      </p:sp>
      <p:sp>
        <p:nvSpPr>
          <p:cNvPr id="36" name="Rectangle 35"/>
          <p:cNvSpPr/>
          <p:nvPr/>
        </p:nvSpPr>
        <p:spPr>
          <a:xfrm>
            <a:off x="432000" y="2610000"/>
            <a:ext cx="450000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50" b="1">
                <a:solidFill>
                  <a:srgbClr val="002060"/>
                </a:solidFill>
                <a:latin typeface="メイリオ"/>
                <a:ea typeface="メイリオ"/>
                <a:cs typeface="メイリオ"/>
              </a:rPr>
              <a:t>友だちと一緒に通うメリット（保護者に伝えること）</a:t>
            </a:r>
          </a:p>
        </p:txBody>
      </p:sp>
      <p:sp>
        <p:nvSpPr>
          <p:cNvPr id="37" name="Rounded Rectangle 36"/>
          <p:cNvSpPr/>
          <p:nvPr/>
        </p:nvSpPr>
        <p:spPr>
          <a:xfrm>
            <a:off x="432000" y="2862000"/>
            <a:ext cx="684000" cy="702000"/>
          </a:xfrm>
          <a:prstGeom prst="roundRect">
            <a:avLst>
              <a:gd name="adj" fmla="val 8000"/>
            </a:avLst>
          </a:prstGeom>
          <a:solidFill>
            <a:srgbClr val="F4F7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800" b="0">
                <a:solidFill>
                  <a:srgbClr val="333333"/>
                </a:solidFill>
                <a:latin typeface="メイリオ"/>
                <a:ea typeface="メイリオ"/>
                <a:cs typeface="メイリオ"/>
              </a:rPr>
              <a:t>📚</a:t>
            </a:r>
          </a:p>
        </p:txBody>
      </p:sp>
      <p:sp>
        <p:nvSpPr>
          <p:cNvPr id="38" name="Rounded Rectangle 37"/>
          <p:cNvSpPr/>
          <p:nvPr/>
        </p:nvSpPr>
        <p:spPr>
          <a:xfrm>
            <a:off x="1188000" y="2862000"/>
            <a:ext cx="3744000" cy="702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400" b="1">
                <a:solidFill>
                  <a:srgbClr val="1F285A"/>
                </a:solidFill>
                <a:latin typeface="メイリオ"/>
                <a:ea typeface="メイリオ"/>
                <a:cs typeface="メイリオ"/>
              </a:rPr>
              <a:t>通う習慣がつきやすい</a:t>
            </a:r>
          </a:p>
          <a:p>
            <a:pPr algn="l"/>
            <a:r>
              <a:rPr sz="1200" b="0">
                <a:solidFill>
                  <a:srgbClr val="333333"/>
                </a:solidFill>
                <a:latin typeface="メイリオ"/>
                <a:ea typeface="メイリオ"/>
                <a:cs typeface="メイリオ"/>
              </a:rPr>
              <a:t>一緒に行く友だちがいると、休みにくくなる</a:t>
            </a:r>
          </a:p>
        </p:txBody>
      </p:sp>
      <p:sp>
        <p:nvSpPr>
          <p:cNvPr id="39" name="Rounded Rectangle 38"/>
          <p:cNvSpPr/>
          <p:nvPr/>
        </p:nvSpPr>
        <p:spPr>
          <a:xfrm>
            <a:off x="432000" y="3654000"/>
            <a:ext cx="684000" cy="702000"/>
          </a:xfrm>
          <a:prstGeom prst="roundRect">
            <a:avLst>
              <a:gd name="adj" fmla="val 8000"/>
            </a:avLst>
          </a:prstGeom>
          <a:solidFill>
            <a:srgbClr val="F4F7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800" b="0">
                <a:solidFill>
                  <a:srgbClr val="333333"/>
                </a:solidFill>
                <a:latin typeface="メイリオ"/>
                <a:ea typeface="メイリオ"/>
                <a:cs typeface="メイリオ"/>
              </a:rPr>
              <a:t>💪</a:t>
            </a:r>
          </a:p>
        </p:txBody>
      </p:sp>
      <p:sp>
        <p:nvSpPr>
          <p:cNvPr id="40" name="Rounded Rectangle 39"/>
          <p:cNvSpPr/>
          <p:nvPr/>
        </p:nvSpPr>
        <p:spPr>
          <a:xfrm>
            <a:off x="1188000" y="3654000"/>
            <a:ext cx="3744000" cy="702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400" b="1">
                <a:solidFill>
                  <a:srgbClr val="1F285A"/>
                </a:solidFill>
                <a:latin typeface="メイリオ"/>
                <a:ea typeface="メイリオ"/>
                <a:cs typeface="メイリオ"/>
              </a:rPr>
              <a:t>励まし合える</a:t>
            </a:r>
          </a:p>
          <a:p>
            <a:pPr algn="l"/>
            <a:r>
              <a:rPr sz="1200" b="0">
                <a:solidFill>
                  <a:srgbClr val="333333"/>
                </a:solidFill>
                <a:latin typeface="メイリオ"/>
                <a:ea typeface="メイリオ"/>
                <a:cs typeface="メイリオ"/>
              </a:rPr>
              <a:t>テスト前も「一緒に頑張ろう」がある</a:t>
            </a:r>
          </a:p>
        </p:txBody>
      </p:sp>
      <p:sp>
        <p:nvSpPr>
          <p:cNvPr id="41" name="Rounded Rectangle 40"/>
          <p:cNvSpPr/>
          <p:nvPr/>
        </p:nvSpPr>
        <p:spPr>
          <a:xfrm>
            <a:off x="432000" y="4446000"/>
            <a:ext cx="684000" cy="702000"/>
          </a:xfrm>
          <a:prstGeom prst="roundRect">
            <a:avLst>
              <a:gd name="adj" fmla="val 8000"/>
            </a:avLst>
          </a:prstGeom>
          <a:solidFill>
            <a:srgbClr val="F4F7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800" b="0">
                <a:solidFill>
                  <a:srgbClr val="333333"/>
                </a:solidFill>
                <a:latin typeface="メイリオ"/>
                <a:ea typeface="メイリオ"/>
                <a:cs typeface="メイリオ"/>
              </a:rPr>
              <a:t>🚗</a:t>
            </a:r>
          </a:p>
        </p:txBody>
      </p:sp>
      <p:sp>
        <p:nvSpPr>
          <p:cNvPr id="42" name="Rounded Rectangle 41"/>
          <p:cNvSpPr/>
          <p:nvPr/>
        </p:nvSpPr>
        <p:spPr>
          <a:xfrm>
            <a:off x="1188000" y="4446000"/>
            <a:ext cx="3744000" cy="702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400" b="1">
                <a:solidFill>
                  <a:srgbClr val="1F285A"/>
                </a:solidFill>
                <a:latin typeface="メイリオ"/>
                <a:ea typeface="メイリオ"/>
                <a:cs typeface="メイリオ"/>
              </a:rPr>
              <a:t>送り迎えを分担できる</a:t>
            </a:r>
          </a:p>
          <a:p>
            <a:pPr algn="l"/>
            <a:r>
              <a:rPr sz="1200" b="0">
                <a:solidFill>
                  <a:srgbClr val="333333"/>
                </a:solidFill>
                <a:latin typeface="メイリオ"/>
                <a:ea typeface="メイリオ"/>
                <a:cs typeface="メイリオ"/>
              </a:rPr>
              <a:t>保護者どうしで助け合える</a:t>
            </a:r>
          </a:p>
        </p:txBody>
      </p:sp>
      <p:sp>
        <p:nvSpPr>
          <p:cNvPr id="43" name="Rectangle 42"/>
          <p:cNvSpPr/>
          <p:nvPr/>
        </p:nvSpPr>
        <p:spPr>
          <a:xfrm>
            <a:off x="5148000" y="2610000"/>
            <a:ext cx="432000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50" b="1">
                <a:solidFill>
                  <a:srgbClr val="002060"/>
                </a:solidFill>
                <a:latin typeface="メイリオ"/>
                <a:ea typeface="メイリオ"/>
                <a:cs typeface="メイリオ"/>
              </a:rPr>
              <a:t>LINEでの仕組み</a:t>
            </a:r>
          </a:p>
        </p:txBody>
      </p:sp>
      <p:sp>
        <p:nvSpPr>
          <p:cNvPr id="44" name="Rounded Rectangle 43"/>
          <p:cNvSpPr/>
          <p:nvPr/>
        </p:nvSpPr>
        <p:spPr>
          <a:xfrm>
            <a:off x="5148000" y="2844000"/>
            <a:ext cx="1728000" cy="3060000"/>
          </a:xfrm>
          <a:prstGeom prst="roundRect">
            <a:avLst>
              <a:gd name="adj" fmla="val 10000"/>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45" name="Rectangle 44"/>
          <p:cNvSpPr/>
          <p:nvPr/>
        </p:nvSpPr>
        <p:spPr>
          <a:xfrm>
            <a:off x="5238000" y="3042000"/>
            <a:ext cx="1548000" cy="2700000"/>
          </a:xfrm>
          <a:prstGeom prst="rect">
            <a:avLst/>
          </a:prstGeom>
          <a:solidFill>
            <a:srgbClr val="C9D6E8"/>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46" name="Rectangle 45"/>
          <p:cNvSpPr/>
          <p:nvPr/>
        </p:nvSpPr>
        <p:spPr>
          <a:xfrm>
            <a:off x="5238000" y="3042000"/>
            <a:ext cx="1548000" cy="216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800" b="1">
                <a:solidFill>
                  <a:srgbClr val="333333"/>
                </a:solidFill>
                <a:latin typeface="メイリオ"/>
                <a:ea typeface="メイリオ"/>
                <a:cs typeface="メイリオ"/>
              </a:rPr>
              <a:t>‹  ◯◯塾 △△教室</a:t>
            </a:r>
          </a:p>
        </p:txBody>
      </p:sp>
      <p:sp>
        <p:nvSpPr>
          <p:cNvPr id="47" name="Rounded Rectangle 46"/>
          <p:cNvSpPr/>
          <p:nvPr/>
        </p:nvSpPr>
        <p:spPr>
          <a:xfrm>
            <a:off x="5310000" y="3402000"/>
            <a:ext cx="1368000" cy="7200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t"/>
          <a:lstStyle/>
          <a:p>
            <a:pPr algn="l"/>
            <a:r>
              <a:rPr sz="800" b="0">
                <a:solidFill>
                  <a:srgbClr val="333333"/>
                </a:solidFill>
                <a:latin typeface="メイリオ"/>
                <a:ea typeface="メイリオ"/>
                <a:cs typeface="メイリオ"/>
              </a:rPr>
              <a:t>お友だちと一緒の</a:t>
            </a:r>
          </a:p>
          <a:p>
            <a:pPr algn="l"/>
            <a:r>
              <a:rPr sz="800" b="0">
                <a:solidFill>
                  <a:srgbClr val="333333"/>
                </a:solidFill>
                <a:latin typeface="メイリオ"/>
                <a:ea typeface="メイリオ"/>
                <a:cs typeface="メイリオ"/>
              </a:rPr>
              <a:t>体験授業も受け付けて</a:t>
            </a:r>
          </a:p>
          <a:p>
            <a:pPr algn="l"/>
            <a:r>
              <a:rPr sz="800" b="0">
                <a:solidFill>
                  <a:srgbClr val="333333"/>
                </a:solidFill>
                <a:latin typeface="メイリオ"/>
                <a:ea typeface="メイリオ"/>
                <a:cs typeface="メイリオ"/>
              </a:rPr>
              <a:t>います😊 2人とも</a:t>
            </a:r>
          </a:p>
          <a:p>
            <a:pPr algn="l"/>
            <a:r>
              <a:rPr sz="800" b="0">
                <a:solidFill>
                  <a:srgbClr val="333333"/>
                </a:solidFill>
                <a:latin typeface="メイリオ"/>
                <a:ea typeface="メイリオ"/>
                <a:cs typeface="メイリオ"/>
              </a:rPr>
              <a:t>特典があります</a:t>
            </a:r>
          </a:p>
        </p:txBody>
      </p:sp>
      <p:sp>
        <p:nvSpPr>
          <p:cNvPr id="48" name="Rounded Rectangle 47"/>
          <p:cNvSpPr/>
          <p:nvPr/>
        </p:nvSpPr>
        <p:spPr>
          <a:xfrm>
            <a:off x="5310000" y="4194000"/>
            <a:ext cx="1368000" cy="234000"/>
          </a:xfrm>
          <a:prstGeom prst="roundRect">
            <a:avLst>
              <a:gd name="adj" fmla="val 30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800" b="1">
                <a:solidFill>
                  <a:srgbClr val="FFFFFF"/>
                </a:solidFill>
                <a:latin typeface="メイリオ"/>
                <a:ea typeface="メイリオ"/>
                <a:cs typeface="メイリオ"/>
              </a:rPr>
              <a:t>一緒に体験を予約</a:t>
            </a:r>
          </a:p>
        </p:txBody>
      </p:sp>
      <p:sp>
        <p:nvSpPr>
          <p:cNvPr id="49" name="Rounded Rectangle 48"/>
          <p:cNvSpPr/>
          <p:nvPr/>
        </p:nvSpPr>
        <p:spPr>
          <a:xfrm>
            <a:off x="5310000" y="4482000"/>
            <a:ext cx="1368000" cy="234000"/>
          </a:xfrm>
          <a:prstGeom prst="roundRect">
            <a:avLst>
              <a:gd name="adj" fmla="val 30000"/>
            </a:avLst>
          </a:prstGeom>
          <a:solidFill>
            <a:srgbClr val="FFFFFF"/>
          </a:solidFill>
          <a:ln w="1270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800" b="1">
                <a:solidFill>
                  <a:srgbClr val="06C755"/>
                </a:solidFill>
                <a:latin typeface="メイリオ"/>
                <a:ea typeface="メイリオ"/>
                <a:cs typeface="メイリオ"/>
              </a:rPr>
              <a:t>友だちに送る</a:t>
            </a:r>
          </a:p>
        </p:txBody>
      </p:sp>
      <p:sp>
        <p:nvSpPr>
          <p:cNvPr id="50" name="Oval 49"/>
          <p:cNvSpPr/>
          <p:nvPr/>
        </p:nvSpPr>
        <p:spPr>
          <a:xfrm>
            <a:off x="7056000" y="3024000"/>
            <a:ext cx="360000" cy="360000"/>
          </a:xfrm>
          <a:prstGeom prst="ellips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00" b="1">
                <a:solidFill>
                  <a:srgbClr val="FFFFFF"/>
                </a:solidFill>
                <a:latin typeface="メイリオ"/>
                <a:ea typeface="メイリオ"/>
                <a:cs typeface="メイリオ"/>
              </a:rPr>
              <a:t>1</a:t>
            </a:r>
          </a:p>
        </p:txBody>
      </p:sp>
      <p:sp>
        <p:nvSpPr>
          <p:cNvPr id="51" name="Rectangle 50"/>
          <p:cNvSpPr/>
          <p:nvPr/>
        </p:nvSpPr>
        <p:spPr>
          <a:xfrm>
            <a:off x="7488000" y="2934000"/>
            <a:ext cx="2015999" cy="61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00" b="1">
                <a:solidFill>
                  <a:srgbClr val="1F285A"/>
                </a:solidFill>
                <a:latin typeface="メイリオ"/>
                <a:ea typeface="メイリオ"/>
                <a:cs typeface="メイリオ"/>
              </a:rPr>
              <a:t>友だちと一緒の体験枠を用意</a:t>
            </a:r>
          </a:p>
          <a:p>
            <a:pPr algn="l"/>
            <a:r>
              <a:rPr sz="950" b="0">
                <a:solidFill>
                  <a:srgbClr val="333333"/>
                </a:solidFill>
                <a:latin typeface="メイリオ"/>
                <a:ea typeface="メイリオ"/>
                <a:cs typeface="メイリオ"/>
              </a:rPr>
              <a:t>LINEで2人分をまとめて予約できる</a:t>
            </a:r>
          </a:p>
        </p:txBody>
      </p:sp>
      <p:sp>
        <p:nvSpPr>
          <p:cNvPr id="52" name="Oval 51"/>
          <p:cNvSpPr/>
          <p:nvPr/>
        </p:nvSpPr>
        <p:spPr>
          <a:xfrm>
            <a:off x="7056000" y="3816000"/>
            <a:ext cx="360000" cy="360000"/>
          </a:xfrm>
          <a:prstGeom prst="ellips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00" b="1">
                <a:solidFill>
                  <a:srgbClr val="FFFFFF"/>
                </a:solidFill>
                <a:latin typeface="メイリオ"/>
                <a:ea typeface="メイリオ"/>
                <a:cs typeface="メイリオ"/>
              </a:rPr>
              <a:t>2</a:t>
            </a:r>
          </a:p>
        </p:txBody>
      </p:sp>
      <p:sp>
        <p:nvSpPr>
          <p:cNvPr id="53" name="Rectangle 52"/>
          <p:cNvSpPr/>
          <p:nvPr/>
        </p:nvSpPr>
        <p:spPr>
          <a:xfrm>
            <a:off x="7488000" y="3726000"/>
            <a:ext cx="2015999" cy="61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00" b="1">
                <a:solidFill>
                  <a:srgbClr val="1F285A"/>
                </a:solidFill>
                <a:latin typeface="メイリオ"/>
                <a:ea typeface="メイリオ"/>
                <a:cs typeface="メイリオ"/>
              </a:rPr>
              <a:t>2人とも特典</a:t>
            </a:r>
          </a:p>
          <a:p>
            <a:pPr algn="l"/>
            <a:r>
              <a:rPr sz="950" b="0">
                <a:solidFill>
                  <a:srgbClr val="333333"/>
                </a:solidFill>
                <a:latin typeface="メイリオ"/>
                <a:ea typeface="メイリオ"/>
                <a:cs typeface="メイリオ"/>
              </a:rPr>
              <a:t>例：体験後の学習相談、教材プレゼント</a:t>
            </a:r>
          </a:p>
        </p:txBody>
      </p:sp>
      <p:sp>
        <p:nvSpPr>
          <p:cNvPr id="54" name="Oval 53"/>
          <p:cNvSpPr/>
          <p:nvPr/>
        </p:nvSpPr>
        <p:spPr>
          <a:xfrm>
            <a:off x="7056000" y="4608000"/>
            <a:ext cx="360000" cy="360000"/>
          </a:xfrm>
          <a:prstGeom prst="ellips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00" b="1">
                <a:solidFill>
                  <a:srgbClr val="FFFFFF"/>
                </a:solidFill>
                <a:latin typeface="メイリオ"/>
                <a:ea typeface="メイリオ"/>
                <a:cs typeface="メイリオ"/>
              </a:rPr>
              <a:t>3</a:t>
            </a:r>
          </a:p>
        </p:txBody>
      </p:sp>
      <p:sp>
        <p:nvSpPr>
          <p:cNvPr id="55" name="Rectangle 54"/>
          <p:cNvSpPr/>
          <p:nvPr/>
        </p:nvSpPr>
        <p:spPr>
          <a:xfrm>
            <a:off x="7488000" y="4518000"/>
            <a:ext cx="2015999" cy="61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00" b="1">
                <a:solidFill>
                  <a:srgbClr val="1F285A"/>
                </a:solidFill>
                <a:latin typeface="メイリオ"/>
                <a:ea typeface="メイリオ"/>
                <a:cs typeface="メイリオ"/>
              </a:rPr>
              <a:t>LINEの転送で紹介</a:t>
            </a:r>
          </a:p>
          <a:p>
            <a:pPr algn="l"/>
            <a:r>
              <a:rPr sz="950" b="0">
                <a:solidFill>
                  <a:srgbClr val="333333"/>
                </a:solidFill>
                <a:latin typeface="メイリオ"/>
                <a:ea typeface="メイリオ"/>
                <a:cs typeface="メイリオ"/>
              </a:rPr>
              <a:t>トークを友だちの保護者に送るだけ</a:t>
            </a:r>
          </a:p>
        </p:txBody>
      </p:sp>
    </p:spTree>
    <p:extLst>
      <p:ext uri="{BB962C8B-B14F-4D97-AF65-F5344CB8AC3E}">
        <p14:creationId xmlns:p14="http://schemas.microsoft.com/office/powerpoint/2010/main" val="22993589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5A5A4-75AD-516A-9D25-18F8EF002C9C}"/>
            </a:ext>
          </a:extLst>
        </p:cNvPr>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構築②｜あいさつメッセージ</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dirty="0">
                <a:solidFill>
                  <a:srgbClr val="333333"/>
                </a:solidFill>
                <a:latin typeface="メイリオ"/>
                <a:ea typeface="メイリオ"/>
                <a:cs typeface="メイリオ"/>
              </a:rPr>
              <a:t>友だち追加の直後は、一番メッセージが読まれるタイミング。</a:t>
            </a:r>
            <a:endParaRPr lang="en-US" sz="1200" dirty="0">
              <a:solidFill>
                <a:srgbClr val="333333"/>
              </a:solidFill>
              <a:latin typeface="メイリオ"/>
              <a:ea typeface="メイリオ"/>
              <a:cs typeface="メイリオ"/>
            </a:endParaRPr>
          </a:p>
          <a:p>
            <a:pPr algn="l">
              <a:lnSpc>
                <a:spcPct val="128000"/>
              </a:lnSpc>
            </a:pPr>
            <a:r>
              <a:rPr sz="1200" dirty="0">
                <a:solidFill>
                  <a:srgbClr val="333333"/>
                </a:solidFill>
                <a:latin typeface="メイリオ"/>
                <a:ea typeface="メイリオ"/>
                <a:cs typeface="メイリオ"/>
              </a:rPr>
              <a:t>最初の1通で安心できることを先に伝え、診断へ進んでもらう。</a:t>
            </a:r>
            <a:endParaRPr lang="en-US" sz="1200" dirty="0">
              <a:solidFill>
                <a:srgbClr val="333333"/>
              </a:solidFill>
              <a:latin typeface="メイリオ"/>
              <a:ea typeface="メイリオ"/>
              <a:cs typeface="メイリオ"/>
            </a:endParaRP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900">
                <a:solidFill>
                  <a:srgbClr val="7F7F7F"/>
                </a:solidFill>
                <a:latin typeface="メイリオ"/>
                <a:ea typeface="メイリオ"/>
                <a:cs typeface="メイリオ"/>
              </a:rPr>
              <a:t>※文面の教室長名・対応時間・配信頻度は、貴社の運用に合わせて調整します</a:t>
            </a:r>
          </a:p>
        </p:txBody>
      </p:sp>
      <p:sp>
        <p:nvSpPr>
          <p:cNvPr id="22" name="Pentagon 21"/>
          <p:cNvSpPr/>
          <p:nvPr/>
        </p:nvSpPr>
        <p:spPr>
          <a:xfrm>
            <a:off x="432000" y="590400"/>
            <a:ext cx="1111500" cy="180000"/>
          </a:xfrm>
          <a:prstGeom prst="homePlate">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①接触</a:t>
            </a:r>
          </a:p>
        </p:txBody>
      </p:sp>
      <p:sp>
        <p:nvSpPr>
          <p:cNvPr id="23" name="Chevron 22"/>
          <p:cNvSpPr/>
          <p:nvPr/>
        </p:nvSpPr>
        <p:spPr>
          <a:xfrm>
            <a:off x="15651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②離脱</a:t>
            </a:r>
          </a:p>
        </p:txBody>
      </p:sp>
      <p:sp>
        <p:nvSpPr>
          <p:cNvPr id="24" name="Chevron 23"/>
          <p:cNvSpPr/>
          <p:nvPr/>
        </p:nvSpPr>
        <p:spPr>
          <a:xfrm>
            <a:off x="26982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③育成</a:t>
            </a:r>
          </a:p>
        </p:txBody>
      </p:sp>
      <p:sp>
        <p:nvSpPr>
          <p:cNvPr id="25" name="Chevron 24"/>
          <p:cNvSpPr/>
          <p:nvPr/>
        </p:nvSpPr>
        <p:spPr>
          <a:xfrm>
            <a:off x="3831299"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④リード獲得</a:t>
            </a:r>
          </a:p>
        </p:txBody>
      </p:sp>
      <p:sp>
        <p:nvSpPr>
          <p:cNvPr id="26" name="Chevron 25"/>
          <p:cNvSpPr/>
          <p:nvPr/>
        </p:nvSpPr>
        <p:spPr>
          <a:xfrm>
            <a:off x="49644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⑤リード有効化</a:t>
            </a:r>
          </a:p>
        </p:txBody>
      </p:sp>
      <p:sp>
        <p:nvSpPr>
          <p:cNvPr id="27" name="Chevron 26"/>
          <p:cNvSpPr/>
          <p:nvPr/>
        </p:nvSpPr>
        <p:spPr>
          <a:xfrm>
            <a:off x="60975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⑥再育成</a:t>
            </a:r>
          </a:p>
        </p:txBody>
      </p:sp>
      <p:sp>
        <p:nvSpPr>
          <p:cNvPr id="28" name="Chevron 27"/>
          <p:cNvSpPr/>
          <p:nvPr/>
        </p:nvSpPr>
        <p:spPr>
          <a:xfrm>
            <a:off x="72305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⑦入会（契約）</a:t>
            </a:r>
          </a:p>
        </p:txBody>
      </p:sp>
      <p:sp>
        <p:nvSpPr>
          <p:cNvPr id="29" name="Chevron 28"/>
          <p:cNvSpPr/>
          <p:nvPr/>
        </p:nvSpPr>
        <p:spPr>
          <a:xfrm>
            <a:off x="83636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⑧紹介</a:t>
            </a:r>
          </a:p>
        </p:txBody>
      </p:sp>
      <p:sp>
        <p:nvSpPr>
          <p:cNvPr id="30" name="Rounded Rectangle 29"/>
          <p:cNvSpPr/>
          <p:nvPr/>
        </p:nvSpPr>
        <p:spPr>
          <a:xfrm>
            <a:off x="432000" y="1494000"/>
            <a:ext cx="2882399" cy="99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31" name="Rounded Rectangle 30"/>
          <p:cNvSpPr/>
          <p:nvPr/>
        </p:nvSpPr>
        <p:spPr>
          <a:xfrm>
            <a:off x="432000" y="1494000"/>
            <a:ext cx="2882399" cy="223200"/>
          </a:xfrm>
          <a:prstGeom prst="roundRect">
            <a:avLst>
              <a:gd name="adj" fmla="val 20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333333"/>
                </a:solidFill>
                <a:latin typeface="メイリオ"/>
                <a:ea typeface="メイリオ"/>
                <a:cs typeface="メイリオ"/>
              </a:rPr>
              <a:t>データ（事実）</a:t>
            </a:r>
          </a:p>
        </p:txBody>
      </p:sp>
      <p:sp>
        <p:nvSpPr>
          <p:cNvPr id="32" name="Rectangle 31"/>
          <p:cNvSpPr/>
          <p:nvPr/>
        </p:nvSpPr>
        <p:spPr>
          <a:xfrm>
            <a:off x="522000"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200" b="0">
                <a:solidFill>
                  <a:srgbClr val="333333"/>
                </a:solidFill>
                <a:latin typeface="メイリオ"/>
                <a:ea typeface="メイリオ"/>
                <a:cs typeface="メイリオ"/>
              </a:rPr>
              <a:t>友だち追加の直後は、</a:t>
            </a:r>
          </a:p>
          <a:p>
            <a:pPr algn="l"/>
            <a:r>
              <a:rPr sz="1200" b="0">
                <a:solidFill>
                  <a:srgbClr val="333333"/>
                </a:solidFill>
                <a:latin typeface="メイリオ"/>
                <a:ea typeface="メイリオ"/>
                <a:cs typeface="メイリオ"/>
              </a:rPr>
              <a:t>一番メッセージが読まれる</a:t>
            </a:r>
          </a:p>
        </p:txBody>
      </p:sp>
      <p:cxnSp>
        <p:nvCxnSpPr>
          <p:cNvPr id="33" name="Connector 32"/>
          <p:cNvCxnSpPr/>
          <p:nvPr/>
        </p:nvCxnSpPr>
        <p:spPr>
          <a:xfrm>
            <a:off x="3343199" y="1989000"/>
            <a:ext cx="140400"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3512399" y="1494000"/>
            <a:ext cx="2882399" cy="99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35" name="Rounded Rectangle 34"/>
          <p:cNvSpPr/>
          <p:nvPr/>
        </p:nvSpPr>
        <p:spPr>
          <a:xfrm>
            <a:off x="3512399" y="1494000"/>
            <a:ext cx="2882399" cy="223200"/>
          </a:xfrm>
          <a:prstGeom prst="roundRect">
            <a:avLst>
              <a:gd name="adj" fmla="val 20000"/>
            </a:avLst>
          </a:prstGeom>
          <a:solidFill>
            <a:srgbClr val="E4E9F2"/>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333333"/>
                </a:solidFill>
                <a:latin typeface="メイリオ"/>
                <a:ea typeface="メイリオ"/>
                <a:cs typeface="メイリオ"/>
              </a:rPr>
              <a:t>すべきこと</a:t>
            </a:r>
          </a:p>
        </p:txBody>
      </p:sp>
      <p:sp>
        <p:nvSpPr>
          <p:cNvPr id="36" name="Rectangle 35"/>
          <p:cNvSpPr/>
          <p:nvPr/>
        </p:nvSpPr>
        <p:spPr>
          <a:xfrm>
            <a:off x="3602399"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200" b="0">
                <a:solidFill>
                  <a:srgbClr val="333333"/>
                </a:solidFill>
                <a:latin typeface="メイリオ"/>
                <a:ea typeface="メイリオ"/>
                <a:cs typeface="メイリオ"/>
              </a:rPr>
              <a:t>安心できることを先に伝えて、</a:t>
            </a:r>
          </a:p>
          <a:p>
            <a:pPr algn="l"/>
            <a:r>
              <a:rPr sz="1200" b="0">
                <a:solidFill>
                  <a:srgbClr val="333333"/>
                </a:solidFill>
                <a:latin typeface="メイリオ"/>
                <a:ea typeface="メイリオ"/>
                <a:cs typeface="メイリオ"/>
              </a:rPr>
              <a:t>診断へ進んでもらう</a:t>
            </a:r>
          </a:p>
        </p:txBody>
      </p:sp>
      <p:cxnSp>
        <p:nvCxnSpPr>
          <p:cNvPr id="37" name="Connector 36"/>
          <p:cNvCxnSpPr/>
          <p:nvPr/>
        </p:nvCxnSpPr>
        <p:spPr>
          <a:xfrm>
            <a:off x="6423599" y="1989000"/>
            <a:ext cx="140401"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6592800" y="1494000"/>
            <a:ext cx="2882399" cy="990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39" name="Rounded Rectangle 38"/>
          <p:cNvSpPr/>
          <p:nvPr/>
        </p:nvSpPr>
        <p:spPr>
          <a:xfrm>
            <a:off x="6592800" y="1494000"/>
            <a:ext cx="2882399" cy="223200"/>
          </a:xfrm>
          <a:prstGeom prst="roundRect">
            <a:avLst>
              <a:gd name="adj" fmla="val 2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FFFFFF"/>
                </a:solidFill>
                <a:latin typeface="メイリオ"/>
                <a:ea typeface="メイリオ"/>
                <a:cs typeface="メイリオ"/>
              </a:rPr>
              <a:t>LINE施策</a:t>
            </a:r>
          </a:p>
        </p:txBody>
      </p:sp>
      <p:sp>
        <p:nvSpPr>
          <p:cNvPr id="40" name="Rectangle 39"/>
          <p:cNvSpPr/>
          <p:nvPr/>
        </p:nvSpPr>
        <p:spPr>
          <a:xfrm>
            <a:off x="6682800"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200" b="0">
                <a:solidFill>
                  <a:srgbClr val="FFFFFF"/>
                </a:solidFill>
                <a:latin typeface="メイリオ"/>
                <a:ea typeface="メイリオ"/>
                <a:cs typeface="メイリオ"/>
              </a:rPr>
              <a:t>あいさつメッセージの</a:t>
            </a:r>
          </a:p>
          <a:p>
            <a:pPr algn="l"/>
            <a:r>
              <a:rPr sz="1200" b="0">
                <a:solidFill>
                  <a:srgbClr val="FFFFFF"/>
                </a:solidFill>
                <a:latin typeface="メイリオ"/>
                <a:ea typeface="メイリオ"/>
                <a:cs typeface="メイリオ"/>
              </a:rPr>
              <a:t>組み立てを決めておく</a:t>
            </a:r>
          </a:p>
        </p:txBody>
      </p:sp>
      <p:sp>
        <p:nvSpPr>
          <p:cNvPr id="41" name="Rectangle 40"/>
          <p:cNvSpPr/>
          <p:nvPr/>
        </p:nvSpPr>
        <p:spPr>
          <a:xfrm>
            <a:off x="432000" y="2610000"/>
            <a:ext cx="468000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50" b="1">
                <a:solidFill>
                  <a:srgbClr val="002060"/>
                </a:solidFill>
                <a:latin typeface="メイリオ"/>
                <a:ea typeface="メイリオ"/>
                <a:cs typeface="メイリオ"/>
              </a:rPr>
              <a:t>メッセージの組み立て</a:t>
            </a:r>
          </a:p>
        </p:txBody>
      </p:sp>
      <p:sp>
        <p:nvSpPr>
          <p:cNvPr id="42" name="Oval 41"/>
          <p:cNvSpPr/>
          <p:nvPr/>
        </p:nvSpPr>
        <p:spPr>
          <a:xfrm>
            <a:off x="432000" y="2951999"/>
            <a:ext cx="324000" cy="324000"/>
          </a:xfrm>
          <a:prstGeom prst="ellips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00" b="1">
                <a:solidFill>
                  <a:srgbClr val="FFFFFF"/>
                </a:solidFill>
                <a:latin typeface="メイリオ"/>
                <a:ea typeface="メイリオ"/>
                <a:cs typeface="メイリオ"/>
              </a:rPr>
              <a:t>1</a:t>
            </a:r>
          </a:p>
        </p:txBody>
      </p:sp>
      <p:sp>
        <p:nvSpPr>
          <p:cNvPr id="43" name="Rounded Rectangle 42"/>
          <p:cNvSpPr/>
          <p:nvPr/>
        </p:nvSpPr>
        <p:spPr>
          <a:xfrm>
            <a:off x="827999" y="2862000"/>
            <a:ext cx="4104000" cy="5112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100" b="1">
                <a:solidFill>
                  <a:srgbClr val="1F285A"/>
                </a:solidFill>
                <a:latin typeface="メイリオ"/>
                <a:ea typeface="メイリオ"/>
                <a:cs typeface="メイリオ"/>
              </a:rPr>
              <a:t>教室長の名前を出す</a:t>
            </a:r>
          </a:p>
          <a:p>
            <a:pPr algn="l"/>
            <a:r>
              <a:rPr sz="950" b="0">
                <a:solidFill>
                  <a:srgbClr val="333333"/>
                </a:solidFill>
                <a:latin typeface="メイリオ"/>
                <a:ea typeface="メイリオ"/>
                <a:cs typeface="メイリオ"/>
              </a:rPr>
              <a:t>人の顔が見えると安心できる</a:t>
            </a:r>
          </a:p>
        </p:txBody>
      </p:sp>
      <p:sp>
        <p:nvSpPr>
          <p:cNvPr id="44" name="Oval 43"/>
          <p:cNvSpPr/>
          <p:nvPr/>
        </p:nvSpPr>
        <p:spPr>
          <a:xfrm>
            <a:off x="432000" y="3535200"/>
            <a:ext cx="324000" cy="324000"/>
          </a:xfrm>
          <a:prstGeom prst="ellips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00" b="1">
                <a:solidFill>
                  <a:srgbClr val="FFFFFF"/>
                </a:solidFill>
                <a:latin typeface="メイリオ"/>
                <a:ea typeface="メイリオ"/>
                <a:cs typeface="メイリオ"/>
              </a:rPr>
              <a:t>2</a:t>
            </a:r>
          </a:p>
        </p:txBody>
      </p:sp>
      <p:sp>
        <p:nvSpPr>
          <p:cNvPr id="45" name="Rounded Rectangle 44"/>
          <p:cNvSpPr/>
          <p:nvPr/>
        </p:nvSpPr>
        <p:spPr>
          <a:xfrm>
            <a:off x="827999" y="3445200"/>
            <a:ext cx="4104000" cy="5112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100" b="1">
                <a:solidFill>
                  <a:srgbClr val="1F285A"/>
                </a:solidFill>
                <a:latin typeface="メイリオ"/>
                <a:ea typeface="メイリオ"/>
                <a:cs typeface="メイリオ"/>
              </a:rPr>
              <a:t>返信できる時間を書く</a:t>
            </a:r>
          </a:p>
          <a:p>
            <a:pPr algn="l"/>
            <a:r>
              <a:rPr sz="950" b="0">
                <a:solidFill>
                  <a:srgbClr val="333333"/>
                </a:solidFill>
                <a:latin typeface="メイリオ"/>
                <a:ea typeface="メイリオ"/>
                <a:cs typeface="メイリオ"/>
              </a:rPr>
              <a:t>例：平日14〜21時</a:t>
            </a:r>
          </a:p>
        </p:txBody>
      </p:sp>
      <p:sp>
        <p:nvSpPr>
          <p:cNvPr id="46" name="Oval 45"/>
          <p:cNvSpPr/>
          <p:nvPr/>
        </p:nvSpPr>
        <p:spPr>
          <a:xfrm>
            <a:off x="432000" y="4118400"/>
            <a:ext cx="324000" cy="324000"/>
          </a:xfrm>
          <a:prstGeom prst="ellips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00" b="1">
                <a:solidFill>
                  <a:srgbClr val="FFFFFF"/>
                </a:solidFill>
                <a:latin typeface="メイリオ"/>
                <a:ea typeface="メイリオ"/>
                <a:cs typeface="メイリオ"/>
              </a:rPr>
              <a:t>3</a:t>
            </a:r>
          </a:p>
        </p:txBody>
      </p:sp>
      <p:sp>
        <p:nvSpPr>
          <p:cNvPr id="47" name="Rounded Rectangle 46"/>
          <p:cNvSpPr/>
          <p:nvPr/>
        </p:nvSpPr>
        <p:spPr>
          <a:xfrm>
            <a:off x="827999" y="4028400"/>
            <a:ext cx="4104000" cy="5112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100" b="1">
                <a:solidFill>
                  <a:srgbClr val="1F285A"/>
                </a:solidFill>
                <a:latin typeface="メイリオ"/>
                <a:ea typeface="メイリオ"/>
                <a:cs typeface="メイリオ"/>
              </a:rPr>
              <a:t>届く頻度を書く</a:t>
            </a:r>
          </a:p>
          <a:p>
            <a:pPr algn="l"/>
            <a:r>
              <a:rPr sz="950" b="0">
                <a:solidFill>
                  <a:srgbClr val="333333"/>
                </a:solidFill>
                <a:latin typeface="メイリオ"/>
                <a:ea typeface="メイリオ"/>
                <a:cs typeface="メイリオ"/>
              </a:rPr>
              <a:t>例：週1回</a:t>
            </a:r>
          </a:p>
        </p:txBody>
      </p:sp>
      <p:sp>
        <p:nvSpPr>
          <p:cNvPr id="48" name="Oval 47"/>
          <p:cNvSpPr/>
          <p:nvPr/>
        </p:nvSpPr>
        <p:spPr>
          <a:xfrm>
            <a:off x="432000" y="4701600"/>
            <a:ext cx="324000" cy="324000"/>
          </a:xfrm>
          <a:prstGeom prst="ellips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00" b="1">
                <a:solidFill>
                  <a:srgbClr val="FFFFFF"/>
                </a:solidFill>
                <a:latin typeface="メイリオ"/>
                <a:ea typeface="メイリオ"/>
                <a:cs typeface="メイリオ"/>
              </a:rPr>
              <a:t>4</a:t>
            </a:r>
          </a:p>
        </p:txBody>
      </p:sp>
      <p:sp>
        <p:nvSpPr>
          <p:cNvPr id="49" name="Rounded Rectangle 48"/>
          <p:cNvSpPr/>
          <p:nvPr/>
        </p:nvSpPr>
        <p:spPr>
          <a:xfrm>
            <a:off x="827999" y="4611600"/>
            <a:ext cx="4104000" cy="5112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100" b="1">
                <a:solidFill>
                  <a:srgbClr val="1F285A"/>
                </a:solidFill>
                <a:latin typeface="メイリオ"/>
                <a:ea typeface="メイリオ"/>
                <a:cs typeface="メイリオ"/>
              </a:rPr>
              <a:t>営業のお電話はしないと書く</a:t>
            </a:r>
          </a:p>
          <a:p>
            <a:pPr algn="l"/>
            <a:r>
              <a:rPr sz="950" b="0">
                <a:solidFill>
                  <a:srgbClr val="333333"/>
                </a:solidFill>
                <a:latin typeface="メイリオ"/>
                <a:ea typeface="メイリオ"/>
                <a:cs typeface="メイリオ"/>
              </a:rPr>
              <a:t>連絡先を渡す不安をなくす</a:t>
            </a:r>
          </a:p>
        </p:txBody>
      </p:sp>
      <p:sp>
        <p:nvSpPr>
          <p:cNvPr id="50" name="Oval 49"/>
          <p:cNvSpPr/>
          <p:nvPr/>
        </p:nvSpPr>
        <p:spPr>
          <a:xfrm>
            <a:off x="432000" y="5284800"/>
            <a:ext cx="324000" cy="324000"/>
          </a:xfrm>
          <a:prstGeom prst="ellips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00" b="1">
                <a:solidFill>
                  <a:srgbClr val="FFFFFF"/>
                </a:solidFill>
                <a:latin typeface="メイリオ"/>
                <a:ea typeface="メイリオ"/>
                <a:cs typeface="メイリオ"/>
              </a:rPr>
              <a:t>5</a:t>
            </a:r>
          </a:p>
        </p:txBody>
      </p:sp>
      <p:sp>
        <p:nvSpPr>
          <p:cNvPr id="51" name="Rounded Rectangle 50"/>
          <p:cNvSpPr/>
          <p:nvPr/>
        </p:nvSpPr>
        <p:spPr>
          <a:xfrm>
            <a:off x="827999" y="5194800"/>
            <a:ext cx="4104000" cy="5112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100" b="1">
                <a:solidFill>
                  <a:srgbClr val="1F285A"/>
                </a:solidFill>
                <a:latin typeface="メイリオ"/>
                <a:ea typeface="メイリオ"/>
                <a:cs typeface="メイリオ"/>
              </a:rPr>
              <a:t>30秒診断へのボタン</a:t>
            </a:r>
          </a:p>
          <a:p>
            <a:pPr algn="l"/>
            <a:r>
              <a:rPr sz="950" b="0">
                <a:solidFill>
                  <a:srgbClr val="333333"/>
                </a:solidFill>
                <a:latin typeface="メイリオ"/>
                <a:ea typeface="メイリオ"/>
                <a:cs typeface="メイリオ"/>
              </a:rPr>
              <a:t>そのまま診断へ進める</a:t>
            </a:r>
          </a:p>
        </p:txBody>
      </p:sp>
      <p:sp>
        <p:nvSpPr>
          <p:cNvPr id="52" name="Rounded Rectangle 51"/>
          <p:cNvSpPr/>
          <p:nvPr/>
        </p:nvSpPr>
        <p:spPr>
          <a:xfrm>
            <a:off x="6048000" y="2610000"/>
            <a:ext cx="2592000" cy="3456000"/>
          </a:xfrm>
          <a:prstGeom prst="roundRect">
            <a:avLst>
              <a:gd name="adj" fmla="val 10000"/>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53" name="Rectangle 52"/>
          <p:cNvSpPr/>
          <p:nvPr/>
        </p:nvSpPr>
        <p:spPr>
          <a:xfrm>
            <a:off x="6138000" y="2808000"/>
            <a:ext cx="2412000" cy="3096000"/>
          </a:xfrm>
          <a:prstGeom prst="rect">
            <a:avLst/>
          </a:prstGeom>
          <a:solidFill>
            <a:srgbClr val="C9D6E8"/>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54" name="Rectangle 53"/>
          <p:cNvSpPr/>
          <p:nvPr/>
        </p:nvSpPr>
        <p:spPr>
          <a:xfrm>
            <a:off x="6138000" y="2808000"/>
            <a:ext cx="2412000" cy="216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800" b="1">
                <a:solidFill>
                  <a:srgbClr val="333333"/>
                </a:solidFill>
                <a:latin typeface="メイリオ"/>
                <a:ea typeface="メイリオ"/>
                <a:cs typeface="メイリオ"/>
              </a:rPr>
              <a:t>‹  ◯◯塾 △△教室</a:t>
            </a:r>
          </a:p>
        </p:txBody>
      </p:sp>
      <p:sp>
        <p:nvSpPr>
          <p:cNvPr id="55" name="Rounded Rectangle 54"/>
          <p:cNvSpPr/>
          <p:nvPr/>
        </p:nvSpPr>
        <p:spPr>
          <a:xfrm>
            <a:off x="6228000" y="3150000"/>
            <a:ext cx="2088000" cy="22680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t"/>
          <a:lstStyle/>
          <a:p>
            <a:pPr algn="l"/>
            <a:r>
              <a:rPr sz="800" b="0">
                <a:solidFill>
                  <a:srgbClr val="333333"/>
                </a:solidFill>
                <a:latin typeface="メイリオ"/>
                <a:ea typeface="メイリオ"/>
                <a:cs typeface="メイリオ"/>
              </a:rPr>
              <a:t>はじめまして、◯◯塾 △△教室の</a:t>
            </a:r>
          </a:p>
          <a:p>
            <a:pPr algn="l"/>
            <a:r>
              <a:rPr sz="800" b="0">
                <a:solidFill>
                  <a:srgbClr val="333333"/>
                </a:solidFill>
                <a:latin typeface="メイリオ"/>
                <a:ea typeface="メイリオ"/>
                <a:cs typeface="メイリオ"/>
              </a:rPr>
              <a:t>教室長、佐藤です😊</a:t>
            </a:r>
          </a:p>
          <a:p>
            <a:pPr algn="l"/>
            <a:r>
              <a:rPr sz="800" b="0">
                <a:solidFill>
                  <a:srgbClr val="333333"/>
                </a:solidFill>
                <a:latin typeface="メイリオ"/>
                <a:ea typeface="メイリオ"/>
                <a:cs typeface="メイリオ"/>
              </a:rPr>
              <a:t>友だち追加ありがとうございます。</a:t>
            </a:r>
          </a:p>
          <a:p>
            <a:pPr algn="l"/>
            <a:endParaRPr sz="800" b="0">
              <a:solidFill>
                <a:srgbClr val="333333"/>
              </a:solidFill>
              <a:latin typeface="メイリオ"/>
              <a:ea typeface="メイリオ"/>
              <a:cs typeface="メイリオ"/>
            </a:endParaRPr>
          </a:p>
          <a:p>
            <a:pPr algn="l"/>
            <a:r>
              <a:rPr sz="800" b="0">
                <a:solidFill>
                  <a:srgbClr val="333333"/>
                </a:solidFill>
                <a:latin typeface="メイリオ"/>
                <a:ea typeface="メイリオ"/>
                <a:cs typeface="メイリオ"/>
              </a:rPr>
              <a:t>このLINEでは、お子さまの勉強に</a:t>
            </a:r>
          </a:p>
          <a:p>
            <a:pPr algn="l"/>
            <a:r>
              <a:rPr sz="800" b="0">
                <a:solidFill>
                  <a:srgbClr val="333333"/>
                </a:solidFill>
                <a:latin typeface="メイリオ"/>
                <a:ea typeface="メイリオ"/>
                <a:cs typeface="メイリオ"/>
              </a:rPr>
              <a:t>役立つ情報を週1回お届けします。</a:t>
            </a:r>
          </a:p>
          <a:p>
            <a:pPr algn="l"/>
            <a:r>
              <a:rPr sz="800" b="0">
                <a:solidFill>
                  <a:srgbClr val="333333"/>
                </a:solidFill>
                <a:latin typeface="メイリオ"/>
                <a:ea typeface="メイリオ"/>
                <a:cs typeface="メイリオ"/>
              </a:rPr>
              <a:t>営業のお電話は一切しません。</a:t>
            </a:r>
          </a:p>
          <a:p>
            <a:pPr algn="l"/>
            <a:r>
              <a:rPr sz="800" b="0">
                <a:solidFill>
                  <a:srgbClr val="333333"/>
                </a:solidFill>
                <a:latin typeface="メイリオ"/>
                <a:ea typeface="メイリオ"/>
                <a:cs typeface="メイリオ"/>
              </a:rPr>
              <a:t>ご質問は、平日14〜21時に</a:t>
            </a:r>
          </a:p>
          <a:p>
            <a:pPr algn="l"/>
            <a:r>
              <a:rPr sz="800" b="0">
                <a:solidFill>
                  <a:srgbClr val="333333"/>
                </a:solidFill>
                <a:latin typeface="メイリオ"/>
                <a:ea typeface="メイリオ"/>
                <a:cs typeface="メイリオ"/>
              </a:rPr>
              <a:t>このトークでお返事します。</a:t>
            </a:r>
          </a:p>
          <a:p>
            <a:pPr algn="l"/>
            <a:endParaRPr sz="800" b="0">
              <a:solidFill>
                <a:srgbClr val="333333"/>
              </a:solidFill>
              <a:latin typeface="メイリオ"/>
              <a:ea typeface="メイリオ"/>
              <a:cs typeface="メイリオ"/>
            </a:endParaRPr>
          </a:p>
          <a:p>
            <a:pPr algn="l"/>
            <a:r>
              <a:rPr sz="800" b="0">
                <a:solidFill>
                  <a:srgbClr val="333333"/>
                </a:solidFill>
                <a:latin typeface="メイリオ"/>
                <a:ea typeface="メイリオ"/>
                <a:cs typeface="メイリオ"/>
              </a:rPr>
              <a:t>まずは30秒の診断で、お子さまに</a:t>
            </a:r>
          </a:p>
          <a:p>
            <a:pPr algn="l"/>
            <a:r>
              <a:rPr sz="800" b="0">
                <a:solidFill>
                  <a:srgbClr val="333333"/>
                </a:solidFill>
                <a:latin typeface="メイリオ"/>
                <a:ea typeface="メイリオ"/>
                <a:cs typeface="メイリオ"/>
              </a:rPr>
              <a:t>合う学び方とコース・料金の資料を</a:t>
            </a:r>
          </a:p>
          <a:p>
            <a:pPr algn="l"/>
            <a:r>
              <a:rPr sz="800" b="0">
                <a:solidFill>
                  <a:srgbClr val="333333"/>
                </a:solidFill>
                <a:latin typeface="メイリオ"/>
                <a:ea typeface="メイリオ"/>
                <a:cs typeface="メイリオ"/>
              </a:rPr>
              <a:t>お受け取りください👇</a:t>
            </a:r>
          </a:p>
        </p:txBody>
      </p:sp>
      <p:sp>
        <p:nvSpPr>
          <p:cNvPr id="56" name="Rounded Rectangle 55"/>
          <p:cNvSpPr/>
          <p:nvPr/>
        </p:nvSpPr>
        <p:spPr>
          <a:xfrm>
            <a:off x="6228000" y="5490000"/>
            <a:ext cx="2088000" cy="270000"/>
          </a:xfrm>
          <a:prstGeom prst="roundRect">
            <a:avLst>
              <a:gd name="adj" fmla="val 30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00" b="1">
                <a:solidFill>
                  <a:srgbClr val="FFFFFF"/>
                </a:solidFill>
                <a:latin typeface="メイリオ"/>
                <a:ea typeface="メイリオ"/>
                <a:cs typeface="メイリオ"/>
              </a:rPr>
              <a:t>30秒診断をはじめる</a:t>
            </a:r>
          </a:p>
        </p:txBody>
      </p:sp>
    </p:spTree>
    <p:extLst>
      <p:ext uri="{BB962C8B-B14F-4D97-AF65-F5344CB8AC3E}">
        <p14:creationId xmlns:p14="http://schemas.microsoft.com/office/powerpoint/2010/main" val="9709585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EBFBA-F50F-49FF-6262-A65BC71D24BA}"/>
            </a:ext>
          </a:extLst>
        </p:cNvPr>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構築③｜30秒ぴったり診断</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dirty="0">
                <a:solidFill>
                  <a:srgbClr val="333333"/>
                </a:solidFill>
                <a:latin typeface="メイリオ"/>
                <a:ea typeface="メイリオ"/>
                <a:cs typeface="メイリオ"/>
              </a:rPr>
              <a:t>申し込む前に「集団・個別・映像のどれが合うか」を見せて、納得してから体験へ。</a:t>
            </a:r>
            <a:endParaRPr lang="en-US" sz="1200" dirty="0">
              <a:solidFill>
                <a:srgbClr val="333333"/>
              </a:solidFill>
              <a:latin typeface="メイリオ"/>
              <a:ea typeface="メイリオ"/>
              <a:cs typeface="メイリオ"/>
            </a:endParaRPr>
          </a:p>
          <a:p>
            <a:pPr algn="l">
              <a:lnSpc>
                <a:spcPct val="128000"/>
              </a:lnSpc>
            </a:pPr>
            <a:r>
              <a:rPr sz="1200" dirty="0">
                <a:solidFill>
                  <a:srgbClr val="333333"/>
                </a:solidFill>
                <a:latin typeface="メイリオ"/>
                <a:ea typeface="メイリオ"/>
                <a:cs typeface="メイリオ"/>
              </a:rPr>
              <a:t>4問すべて選択式。回答はそのまま配信の出し分けに使う。</a:t>
            </a:r>
            <a:endParaRPr lang="en-US" sz="1200" dirty="0">
              <a:solidFill>
                <a:srgbClr val="333333"/>
              </a:solidFill>
              <a:latin typeface="メイリオ"/>
              <a:ea typeface="メイリオ"/>
              <a:cs typeface="メイリオ"/>
            </a:endParaRP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900">
                <a:solidFill>
                  <a:srgbClr val="7F7F7F"/>
                </a:solidFill>
                <a:latin typeface="メイリオ"/>
                <a:ea typeface="メイリオ"/>
                <a:cs typeface="メイリオ"/>
              </a:rPr>
              <a:t>※明光義塾は、相性チェック（5問）と合わせて、LINEの中での体験予約も案内している（P16）。競合の診断（トライの性格別学習法診断など）はP14を参照</a:t>
            </a:r>
          </a:p>
        </p:txBody>
      </p:sp>
      <p:sp>
        <p:nvSpPr>
          <p:cNvPr id="32" name="Pentagon 31"/>
          <p:cNvSpPr/>
          <p:nvPr/>
        </p:nvSpPr>
        <p:spPr>
          <a:xfrm>
            <a:off x="432000" y="590400"/>
            <a:ext cx="1111500" cy="180000"/>
          </a:xfrm>
          <a:prstGeom prst="homePlate">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①接触</a:t>
            </a:r>
          </a:p>
        </p:txBody>
      </p:sp>
      <p:sp>
        <p:nvSpPr>
          <p:cNvPr id="33" name="Chevron 32"/>
          <p:cNvSpPr/>
          <p:nvPr/>
        </p:nvSpPr>
        <p:spPr>
          <a:xfrm>
            <a:off x="15651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②離脱</a:t>
            </a:r>
          </a:p>
        </p:txBody>
      </p:sp>
      <p:sp>
        <p:nvSpPr>
          <p:cNvPr id="34" name="Chevron 33"/>
          <p:cNvSpPr/>
          <p:nvPr/>
        </p:nvSpPr>
        <p:spPr>
          <a:xfrm>
            <a:off x="26982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③育成</a:t>
            </a:r>
          </a:p>
        </p:txBody>
      </p:sp>
      <p:sp>
        <p:nvSpPr>
          <p:cNvPr id="35" name="Chevron 34"/>
          <p:cNvSpPr/>
          <p:nvPr/>
        </p:nvSpPr>
        <p:spPr>
          <a:xfrm>
            <a:off x="3831299"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④リード獲得</a:t>
            </a:r>
          </a:p>
        </p:txBody>
      </p:sp>
      <p:sp>
        <p:nvSpPr>
          <p:cNvPr id="36" name="Chevron 35"/>
          <p:cNvSpPr/>
          <p:nvPr/>
        </p:nvSpPr>
        <p:spPr>
          <a:xfrm>
            <a:off x="49644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⑤リード有効化</a:t>
            </a:r>
          </a:p>
        </p:txBody>
      </p:sp>
      <p:sp>
        <p:nvSpPr>
          <p:cNvPr id="37" name="Chevron 36"/>
          <p:cNvSpPr/>
          <p:nvPr/>
        </p:nvSpPr>
        <p:spPr>
          <a:xfrm>
            <a:off x="60975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⑥再育成</a:t>
            </a:r>
          </a:p>
        </p:txBody>
      </p:sp>
      <p:sp>
        <p:nvSpPr>
          <p:cNvPr id="38" name="Chevron 37"/>
          <p:cNvSpPr/>
          <p:nvPr/>
        </p:nvSpPr>
        <p:spPr>
          <a:xfrm>
            <a:off x="72305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⑦入会（契約）</a:t>
            </a:r>
          </a:p>
        </p:txBody>
      </p:sp>
      <p:sp>
        <p:nvSpPr>
          <p:cNvPr id="39" name="Chevron 38"/>
          <p:cNvSpPr/>
          <p:nvPr/>
        </p:nvSpPr>
        <p:spPr>
          <a:xfrm>
            <a:off x="83636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⑧紹介</a:t>
            </a:r>
          </a:p>
        </p:txBody>
      </p:sp>
      <p:sp>
        <p:nvSpPr>
          <p:cNvPr id="40" name="Rounded Rectangle 39"/>
          <p:cNvSpPr/>
          <p:nvPr/>
        </p:nvSpPr>
        <p:spPr>
          <a:xfrm>
            <a:off x="432000" y="1494000"/>
            <a:ext cx="2882399" cy="99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41" name="Rounded Rectangle 40"/>
          <p:cNvSpPr/>
          <p:nvPr/>
        </p:nvSpPr>
        <p:spPr>
          <a:xfrm>
            <a:off x="432000" y="1494000"/>
            <a:ext cx="2882399" cy="223200"/>
          </a:xfrm>
          <a:prstGeom prst="roundRect">
            <a:avLst>
              <a:gd name="adj" fmla="val 20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333333"/>
                </a:solidFill>
                <a:latin typeface="メイリオ"/>
                <a:ea typeface="メイリオ"/>
                <a:cs typeface="メイリオ"/>
              </a:rPr>
              <a:t>データ（事実）</a:t>
            </a:r>
          </a:p>
        </p:txBody>
      </p:sp>
      <p:sp>
        <p:nvSpPr>
          <p:cNvPr id="42" name="Rectangle 41"/>
          <p:cNvSpPr/>
          <p:nvPr/>
        </p:nvSpPr>
        <p:spPr>
          <a:xfrm>
            <a:off x="522000"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000" b="0">
                <a:solidFill>
                  <a:srgbClr val="333333"/>
                </a:solidFill>
                <a:latin typeface="メイリオ"/>
                <a:ea typeface="メイリオ"/>
                <a:cs typeface="メイリオ"/>
              </a:rPr>
              <a:t>塾選びで一番困ったこと</a:t>
            </a:r>
          </a:p>
          <a:p>
            <a:pPr algn="l"/>
            <a:r>
              <a:rPr sz="1000" b="0">
                <a:solidFill>
                  <a:srgbClr val="333333"/>
                </a:solidFill>
                <a:latin typeface="メイリオ"/>
                <a:ea typeface="メイリオ"/>
                <a:cs typeface="メイリオ"/>
              </a:rPr>
              <a:t>「うちの子に合う塾が分からない」63.5%</a:t>
            </a:r>
          </a:p>
        </p:txBody>
      </p:sp>
      <p:cxnSp>
        <p:nvCxnSpPr>
          <p:cNvPr id="43" name="Connector 42"/>
          <p:cNvCxnSpPr/>
          <p:nvPr/>
        </p:nvCxnSpPr>
        <p:spPr>
          <a:xfrm>
            <a:off x="3343199" y="1989000"/>
            <a:ext cx="140400"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3512399" y="1494000"/>
            <a:ext cx="2882399" cy="99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45" name="Rounded Rectangle 44"/>
          <p:cNvSpPr/>
          <p:nvPr/>
        </p:nvSpPr>
        <p:spPr>
          <a:xfrm>
            <a:off x="3512399" y="1494000"/>
            <a:ext cx="2882399" cy="223200"/>
          </a:xfrm>
          <a:prstGeom prst="roundRect">
            <a:avLst>
              <a:gd name="adj" fmla="val 20000"/>
            </a:avLst>
          </a:prstGeom>
          <a:solidFill>
            <a:srgbClr val="E4E9F2"/>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333333"/>
                </a:solidFill>
                <a:latin typeface="メイリオ"/>
                <a:ea typeface="メイリオ"/>
                <a:cs typeface="メイリオ"/>
              </a:rPr>
              <a:t>すべきこと</a:t>
            </a:r>
          </a:p>
        </p:txBody>
      </p:sp>
      <p:sp>
        <p:nvSpPr>
          <p:cNvPr id="46" name="Rectangle 45"/>
          <p:cNvSpPr/>
          <p:nvPr/>
        </p:nvSpPr>
        <p:spPr>
          <a:xfrm>
            <a:off x="3602399"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000" b="0">
                <a:solidFill>
                  <a:srgbClr val="333333"/>
                </a:solidFill>
                <a:latin typeface="メイリオ"/>
                <a:ea typeface="メイリオ"/>
                <a:cs typeface="メイリオ"/>
              </a:rPr>
              <a:t>申し込む前に、</a:t>
            </a:r>
          </a:p>
          <a:p>
            <a:pPr algn="l"/>
            <a:r>
              <a:rPr sz="1000" b="0">
                <a:solidFill>
                  <a:srgbClr val="333333"/>
                </a:solidFill>
                <a:latin typeface="メイリオ"/>
                <a:ea typeface="メイリオ"/>
                <a:cs typeface="メイリオ"/>
              </a:rPr>
              <a:t>「合う・合わない」を見せる</a:t>
            </a:r>
          </a:p>
        </p:txBody>
      </p:sp>
      <p:cxnSp>
        <p:nvCxnSpPr>
          <p:cNvPr id="47" name="Connector 46"/>
          <p:cNvCxnSpPr/>
          <p:nvPr/>
        </p:nvCxnSpPr>
        <p:spPr>
          <a:xfrm>
            <a:off x="6423599" y="1989000"/>
            <a:ext cx="140401"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48" name="Rounded Rectangle 47"/>
          <p:cNvSpPr/>
          <p:nvPr/>
        </p:nvSpPr>
        <p:spPr>
          <a:xfrm>
            <a:off x="6592800" y="1494000"/>
            <a:ext cx="2882399" cy="990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49" name="Rounded Rectangle 48"/>
          <p:cNvSpPr/>
          <p:nvPr/>
        </p:nvSpPr>
        <p:spPr>
          <a:xfrm>
            <a:off x="6592800" y="1494000"/>
            <a:ext cx="2882399" cy="223200"/>
          </a:xfrm>
          <a:prstGeom prst="roundRect">
            <a:avLst>
              <a:gd name="adj" fmla="val 2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FFFFFF"/>
                </a:solidFill>
                <a:latin typeface="メイリオ"/>
                <a:ea typeface="メイリオ"/>
                <a:cs typeface="メイリオ"/>
              </a:rPr>
              <a:t>LINE施策</a:t>
            </a:r>
          </a:p>
        </p:txBody>
      </p:sp>
      <p:sp>
        <p:nvSpPr>
          <p:cNvPr id="50" name="Rectangle 49"/>
          <p:cNvSpPr/>
          <p:nvPr/>
        </p:nvSpPr>
        <p:spPr>
          <a:xfrm>
            <a:off x="6682800"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000" b="0">
                <a:solidFill>
                  <a:srgbClr val="FFFFFF"/>
                </a:solidFill>
                <a:latin typeface="メイリオ"/>
                <a:ea typeface="メイリオ"/>
                <a:cs typeface="メイリオ"/>
              </a:rPr>
              <a:t>30秒診断 → 資料請求（CV①）</a:t>
            </a:r>
          </a:p>
          <a:p>
            <a:pPr algn="l"/>
            <a:r>
              <a:rPr sz="1000" b="0">
                <a:solidFill>
                  <a:srgbClr val="FFFFFF"/>
                </a:solidFill>
                <a:latin typeface="メイリオ"/>
                <a:ea typeface="メイリオ"/>
                <a:cs typeface="メイリオ"/>
              </a:rPr>
              <a:t>→ 体験予約（CV②）</a:t>
            </a:r>
          </a:p>
        </p:txBody>
      </p:sp>
      <p:sp>
        <p:nvSpPr>
          <p:cNvPr id="51" name="Rounded Rectangle 50"/>
          <p:cNvSpPr/>
          <p:nvPr/>
        </p:nvSpPr>
        <p:spPr>
          <a:xfrm>
            <a:off x="432000" y="2628000"/>
            <a:ext cx="4752000" cy="666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050" b="1">
                <a:solidFill>
                  <a:srgbClr val="1F285A"/>
                </a:solidFill>
                <a:latin typeface="メイリオ"/>
                <a:ea typeface="メイリオ"/>
                <a:cs typeface="メイリオ"/>
              </a:rPr>
              <a:t>Q1 お子さまの学年は？</a:t>
            </a:r>
          </a:p>
          <a:p>
            <a:pPr algn="l"/>
            <a:r>
              <a:rPr sz="900" b="0">
                <a:solidFill>
                  <a:srgbClr val="333333"/>
                </a:solidFill>
                <a:latin typeface="メイリオ"/>
                <a:ea typeface="メイリオ"/>
                <a:cs typeface="メイリオ"/>
              </a:rPr>
              <a:t>小1〜4／小5・6／中1・2／中3／高1・2／高3</a:t>
            </a:r>
          </a:p>
        </p:txBody>
      </p:sp>
      <p:sp>
        <p:nvSpPr>
          <p:cNvPr id="52" name="Rounded Rectangle 51"/>
          <p:cNvSpPr/>
          <p:nvPr/>
        </p:nvSpPr>
        <p:spPr>
          <a:xfrm>
            <a:off x="5256000" y="2826000"/>
            <a:ext cx="648000" cy="270000"/>
          </a:xfrm>
          <a:prstGeom prst="roundRect">
            <a:avLst>
              <a:gd name="adj" fmla="val 3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00" b="1">
                <a:solidFill>
                  <a:srgbClr val="1F285A"/>
                </a:solidFill>
                <a:latin typeface="メイリオ"/>
                <a:ea typeface="メイリオ"/>
                <a:cs typeface="メイリオ"/>
              </a:rPr>
              <a:t>学年</a:t>
            </a:r>
          </a:p>
        </p:txBody>
      </p:sp>
      <p:sp>
        <p:nvSpPr>
          <p:cNvPr id="53" name="Rounded Rectangle 52"/>
          <p:cNvSpPr/>
          <p:nvPr/>
        </p:nvSpPr>
        <p:spPr>
          <a:xfrm>
            <a:off x="432000" y="3384000"/>
            <a:ext cx="4752000" cy="666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050" b="1">
                <a:solidFill>
                  <a:srgbClr val="1F285A"/>
                </a:solidFill>
                <a:latin typeface="メイリオ"/>
                <a:ea typeface="メイリオ"/>
                <a:cs typeface="メイリオ"/>
              </a:rPr>
              <a:t>Q2 いちばん近いお悩みは？</a:t>
            </a:r>
          </a:p>
          <a:p>
            <a:pPr algn="l"/>
            <a:r>
              <a:rPr sz="900" b="0">
                <a:solidFill>
                  <a:srgbClr val="333333"/>
                </a:solidFill>
                <a:latin typeface="メイリオ"/>
                <a:ea typeface="メイリオ"/>
                <a:cs typeface="メイリオ"/>
              </a:rPr>
              <a:t>成績が下がってきた／やる気が出ない／受験対策を始めたい／授業についていけない</a:t>
            </a:r>
          </a:p>
        </p:txBody>
      </p:sp>
      <p:sp>
        <p:nvSpPr>
          <p:cNvPr id="54" name="Rounded Rectangle 53"/>
          <p:cNvSpPr/>
          <p:nvPr/>
        </p:nvSpPr>
        <p:spPr>
          <a:xfrm>
            <a:off x="5256000" y="3582000"/>
            <a:ext cx="648000" cy="270000"/>
          </a:xfrm>
          <a:prstGeom prst="roundRect">
            <a:avLst>
              <a:gd name="adj" fmla="val 3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00" b="1">
                <a:solidFill>
                  <a:srgbClr val="1F285A"/>
                </a:solidFill>
                <a:latin typeface="メイリオ"/>
                <a:ea typeface="メイリオ"/>
                <a:cs typeface="メイリオ"/>
              </a:rPr>
              <a:t>悩み</a:t>
            </a:r>
          </a:p>
        </p:txBody>
      </p:sp>
      <p:sp>
        <p:nvSpPr>
          <p:cNvPr id="55" name="Rounded Rectangle 54"/>
          <p:cNvSpPr/>
          <p:nvPr/>
        </p:nvSpPr>
        <p:spPr>
          <a:xfrm>
            <a:off x="432000" y="4140000"/>
            <a:ext cx="4752000" cy="666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050" b="1">
                <a:solidFill>
                  <a:srgbClr val="1F285A"/>
                </a:solidFill>
                <a:latin typeface="メイリオ"/>
                <a:ea typeface="メイリオ"/>
                <a:cs typeface="メイリオ"/>
              </a:rPr>
              <a:t>Q3 お子さまの性格に近いのは？</a:t>
            </a:r>
          </a:p>
          <a:p>
            <a:pPr algn="l"/>
            <a:r>
              <a:rPr sz="900" b="0">
                <a:solidFill>
                  <a:srgbClr val="333333"/>
                </a:solidFill>
                <a:latin typeface="メイリオ"/>
                <a:ea typeface="メイリオ"/>
                <a:cs typeface="メイリオ"/>
              </a:rPr>
              <a:t>競争があると燃える／マイペースにコツコツ／質問するのが苦手／集中が続かない</a:t>
            </a:r>
          </a:p>
        </p:txBody>
      </p:sp>
      <p:sp>
        <p:nvSpPr>
          <p:cNvPr id="56" name="Rounded Rectangle 55"/>
          <p:cNvSpPr/>
          <p:nvPr/>
        </p:nvSpPr>
        <p:spPr>
          <a:xfrm>
            <a:off x="5256000" y="4338000"/>
            <a:ext cx="648000" cy="270000"/>
          </a:xfrm>
          <a:prstGeom prst="roundRect">
            <a:avLst>
              <a:gd name="adj" fmla="val 3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00" b="1">
                <a:solidFill>
                  <a:srgbClr val="1F285A"/>
                </a:solidFill>
                <a:latin typeface="メイリオ"/>
                <a:ea typeface="メイリオ"/>
                <a:cs typeface="メイリオ"/>
              </a:rPr>
              <a:t>性格</a:t>
            </a:r>
          </a:p>
        </p:txBody>
      </p:sp>
      <p:sp>
        <p:nvSpPr>
          <p:cNvPr id="57" name="Rounded Rectangle 56"/>
          <p:cNvSpPr/>
          <p:nvPr/>
        </p:nvSpPr>
        <p:spPr>
          <a:xfrm>
            <a:off x="432000" y="4896000"/>
            <a:ext cx="4752000" cy="666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050" b="1">
                <a:solidFill>
                  <a:srgbClr val="1F285A"/>
                </a:solidFill>
                <a:latin typeface="メイリオ"/>
                <a:ea typeface="メイリオ"/>
                <a:cs typeface="メイリオ"/>
              </a:rPr>
              <a:t>Q4 塾はいつから？</a:t>
            </a:r>
          </a:p>
          <a:p>
            <a:pPr algn="l"/>
            <a:r>
              <a:rPr sz="900" b="0">
                <a:solidFill>
                  <a:srgbClr val="333333"/>
                </a:solidFill>
                <a:latin typeface="メイリオ"/>
                <a:ea typeface="メイリオ"/>
                <a:cs typeface="メイリオ"/>
              </a:rPr>
              <a:t>今すぐ／今学期中に／次の学年から／情報収集だけ</a:t>
            </a:r>
          </a:p>
        </p:txBody>
      </p:sp>
      <p:sp>
        <p:nvSpPr>
          <p:cNvPr id="58" name="Rounded Rectangle 57"/>
          <p:cNvSpPr/>
          <p:nvPr/>
        </p:nvSpPr>
        <p:spPr>
          <a:xfrm>
            <a:off x="5256000" y="5094000"/>
            <a:ext cx="648000" cy="270000"/>
          </a:xfrm>
          <a:prstGeom prst="roundRect">
            <a:avLst>
              <a:gd name="adj" fmla="val 3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00" b="1">
                <a:solidFill>
                  <a:srgbClr val="1F285A"/>
                </a:solidFill>
                <a:latin typeface="メイリオ"/>
                <a:ea typeface="メイリオ"/>
                <a:cs typeface="メイリオ"/>
              </a:rPr>
              <a:t>時期</a:t>
            </a:r>
          </a:p>
        </p:txBody>
      </p:sp>
      <p:sp>
        <p:nvSpPr>
          <p:cNvPr id="59" name="Rectangle 58"/>
          <p:cNvSpPr/>
          <p:nvPr/>
        </p:nvSpPr>
        <p:spPr>
          <a:xfrm>
            <a:off x="6192000" y="2610000"/>
            <a:ext cx="324000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50" b="1">
                <a:solidFill>
                  <a:srgbClr val="002060"/>
                </a:solidFill>
                <a:latin typeface="メイリオ"/>
                <a:ea typeface="メイリオ"/>
                <a:cs typeface="メイリオ"/>
              </a:rPr>
              <a:t>診断結果の流れ</a:t>
            </a:r>
          </a:p>
        </p:txBody>
      </p:sp>
      <p:sp>
        <p:nvSpPr>
          <p:cNvPr id="60" name="Rounded Rectangle 59"/>
          <p:cNvSpPr/>
          <p:nvPr/>
        </p:nvSpPr>
        <p:spPr>
          <a:xfrm>
            <a:off x="6192000" y="2862000"/>
            <a:ext cx="3276000" cy="486000"/>
          </a:xfrm>
          <a:prstGeom prst="roundRect">
            <a:avLst>
              <a:gd name="adj" fmla="val 8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50" b="1">
                <a:solidFill>
                  <a:srgbClr val="333333"/>
                </a:solidFill>
                <a:latin typeface="メイリオ"/>
                <a:ea typeface="メイリオ"/>
                <a:cs typeface="メイリオ"/>
              </a:rPr>
              <a:t>共感</a:t>
            </a:r>
          </a:p>
          <a:p>
            <a:pPr algn="ctr"/>
            <a:r>
              <a:rPr sz="900" b="0">
                <a:solidFill>
                  <a:srgbClr val="333333"/>
                </a:solidFill>
                <a:latin typeface="メイリオ"/>
                <a:ea typeface="メイリオ"/>
                <a:cs typeface="メイリオ"/>
              </a:rPr>
              <a:t>「◯◯タイプのお子さまは、こんな所でつまずきやすい」</a:t>
            </a:r>
          </a:p>
        </p:txBody>
      </p:sp>
      <p:cxnSp>
        <p:nvCxnSpPr>
          <p:cNvPr id="61" name="Connector 60"/>
          <p:cNvCxnSpPr/>
          <p:nvPr/>
        </p:nvCxnSpPr>
        <p:spPr>
          <a:xfrm>
            <a:off x="7830000" y="3351600"/>
            <a:ext cx="0" cy="86400"/>
          </a:xfrm>
          <a:prstGeom prst="line">
            <a:avLst/>
          </a:prstGeom>
          <a:ln w="2222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62" name="Rounded Rectangle 61"/>
          <p:cNvSpPr/>
          <p:nvPr/>
        </p:nvSpPr>
        <p:spPr>
          <a:xfrm>
            <a:off x="6192000" y="3445200"/>
            <a:ext cx="3276000" cy="486000"/>
          </a:xfrm>
          <a:prstGeom prst="roundRect">
            <a:avLst>
              <a:gd name="adj" fmla="val 8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50" b="1">
                <a:solidFill>
                  <a:srgbClr val="333333"/>
                </a:solidFill>
                <a:latin typeface="メイリオ"/>
                <a:ea typeface="メイリオ"/>
                <a:cs typeface="メイリオ"/>
              </a:rPr>
              <a:t>合う学び方</a:t>
            </a:r>
          </a:p>
          <a:p>
            <a:pPr algn="ctr"/>
            <a:r>
              <a:rPr sz="900" b="0">
                <a:solidFill>
                  <a:srgbClr val="333333"/>
                </a:solidFill>
                <a:latin typeface="メイリオ"/>
                <a:ea typeface="メイリオ"/>
                <a:cs typeface="メイリオ"/>
              </a:rPr>
              <a:t>集団／個別／映像のどれが合うか</a:t>
            </a:r>
          </a:p>
        </p:txBody>
      </p:sp>
      <p:cxnSp>
        <p:nvCxnSpPr>
          <p:cNvPr id="63" name="Connector 62"/>
          <p:cNvCxnSpPr/>
          <p:nvPr/>
        </p:nvCxnSpPr>
        <p:spPr>
          <a:xfrm>
            <a:off x="7830000" y="3934800"/>
            <a:ext cx="0" cy="86400"/>
          </a:xfrm>
          <a:prstGeom prst="line">
            <a:avLst/>
          </a:prstGeom>
          <a:ln w="2222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64" name="Rounded Rectangle 63"/>
          <p:cNvSpPr/>
          <p:nvPr/>
        </p:nvSpPr>
        <p:spPr>
          <a:xfrm>
            <a:off x="6192000" y="4028400"/>
            <a:ext cx="3276000" cy="486000"/>
          </a:xfrm>
          <a:prstGeom prst="roundRect">
            <a:avLst>
              <a:gd name="adj" fmla="val 8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50" b="1">
                <a:solidFill>
                  <a:srgbClr val="333333"/>
                </a:solidFill>
                <a:latin typeface="メイリオ"/>
                <a:ea typeface="メイリオ"/>
                <a:cs typeface="メイリオ"/>
              </a:rPr>
              <a:t>同じタイプの事例</a:t>
            </a:r>
          </a:p>
          <a:p>
            <a:pPr algn="ctr"/>
            <a:r>
              <a:rPr sz="900" b="0">
                <a:solidFill>
                  <a:srgbClr val="333333"/>
                </a:solidFill>
                <a:latin typeface="メイリオ"/>
                <a:ea typeface="メイリオ"/>
                <a:cs typeface="メイリオ"/>
              </a:rPr>
              <a:t>同じ悩みだった子の変化</a:t>
            </a:r>
          </a:p>
        </p:txBody>
      </p:sp>
      <p:cxnSp>
        <p:nvCxnSpPr>
          <p:cNvPr id="65" name="Connector 64"/>
          <p:cNvCxnSpPr/>
          <p:nvPr/>
        </p:nvCxnSpPr>
        <p:spPr>
          <a:xfrm>
            <a:off x="7830000" y="4518000"/>
            <a:ext cx="0" cy="86400"/>
          </a:xfrm>
          <a:prstGeom prst="line">
            <a:avLst/>
          </a:prstGeom>
          <a:ln w="2222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66" name="Rounded Rectangle 65"/>
          <p:cNvSpPr/>
          <p:nvPr/>
        </p:nvSpPr>
        <p:spPr>
          <a:xfrm>
            <a:off x="6192000" y="4611600"/>
            <a:ext cx="3276000" cy="486000"/>
          </a:xfrm>
          <a:prstGeom prst="roundRect">
            <a:avLst>
              <a:gd name="adj" fmla="val 8000"/>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50" b="1">
                <a:solidFill>
                  <a:srgbClr val="FFFFFF"/>
                </a:solidFill>
                <a:latin typeface="メイリオ"/>
                <a:ea typeface="メイリオ"/>
                <a:cs typeface="メイリオ"/>
              </a:rPr>
              <a:t>資料を受け取る</a:t>
            </a:r>
          </a:p>
          <a:p>
            <a:pPr algn="ctr"/>
            <a:r>
              <a:rPr sz="900" b="0">
                <a:solidFill>
                  <a:srgbClr val="FFFFFF"/>
                </a:solidFill>
                <a:latin typeface="メイリオ"/>
                <a:ea typeface="メイリオ"/>
                <a:cs typeface="メイリオ"/>
              </a:rPr>
              <a:t>CV① 資料請求</a:t>
            </a:r>
          </a:p>
        </p:txBody>
      </p:sp>
      <p:cxnSp>
        <p:nvCxnSpPr>
          <p:cNvPr id="67" name="Connector 66"/>
          <p:cNvCxnSpPr/>
          <p:nvPr/>
        </p:nvCxnSpPr>
        <p:spPr>
          <a:xfrm>
            <a:off x="7830000" y="5101200"/>
            <a:ext cx="0" cy="86400"/>
          </a:xfrm>
          <a:prstGeom prst="line">
            <a:avLst/>
          </a:prstGeom>
          <a:ln w="2222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68" name="Rounded Rectangle 67"/>
          <p:cNvSpPr/>
          <p:nvPr/>
        </p:nvSpPr>
        <p:spPr>
          <a:xfrm>
            <a:off x="6192000" y="5194800"/>
            <a:ext cx="3276000" cy="486000"/>
          </a:xfrm>
          <a:prstGeom prst="roundRect">
            <a:avLst>
              <a:gd name="adj" fmla="val 8000"/>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50" b="1">
                <a:solidFill>
                  <a:srgbClr val="FFFFFF"/>
                </a:solidFill>
                <a:latin typeface="メイリオ"/>
                <a:ea typeface="メイリオ"/>
                <a:cs typeface="メイリオ"/>
              </a:rPr>
              <a:t>無料体験を予約する</a:t>
            </a:r>
          </a:p>
          <a:p>
            <a:pPr algn="ctr"/>
            <a:r>
              <a:rPr sz="900" b="0">
                <a:solidFill>
                  <a:srgbClr val="FFFFFF"/>
                </a:solidFill>
                <a:latin typeface="メイリオ"/>
                <a:ea typeface="メイリオ"/>
                <a:cs typeface="メイリオ"/>
              </a:rPr>
              <a:t>CV② 体験予約（LINEの中で受付）</a:t>
            </a:r>
          </a:p>
        </p:txBody>
      </p:sp>
    </p:spTree>
    <p:extLst>
      <p:ext uri="{BB962C8B-B14F-4D97-AF65-F5344CB8AC3E}">
        <p14:creationId xmlns:p14="http://schemas.microsoft.com/office/powerpoint/2010/main" val="125110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C68898-91A3-9BC1-3966-7771C36E7509}"/>
            </a:ext>
          </a:extLst>
        </p:cNvPr>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構築④｜リッチメニュー</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dirty="0" err="1">
                <a:solidFill>
                  <a:srgbClr val="333333"/>
                </a:solidFill>
                <a:latin typeface="メイリオ"/>
                <a:ea typeface="メイリオ"/>
                <a:cs typeface="メイリオ"/>
              </a:rPr>
              <a:t>スマホの親指が一番届きやすいのは、画面の右下。</a:t>
            </a:r>
            <a:endParaRPr lang="en-US" sz="1200" dirty="0">
              <a:solidFill>
                <a:srgbClr val="333333"/>
              </a:solidFill>
              <a:latin typeface="メイリオ"/>
              <a:ea typeface="メイリオ"/>
              <a:cs typeface="メイリオ"/>
            </a:endParaRPr>
          </a:p>
          <a:p>
            <a:pPr algn="l">
              <a:lnSpc>
                <a:spcPct val="128000"/>
              </a:lnSpc>
            </a:pPr>
            <a:r>
              <a:rPr sz="1200" dirty="0" err="1">
                <a:solidFill>
                  <a:srgbClr val="333333"/>
                </a:solidFill>
                <a:latin typeface="メイリオ"/>
                <a:ea typeface="メイリオ"/>
                <a:cs typeface="メイリオ"/>
              </a:rPr>
              <a:t>一番押してほしい行動（無料体験・教室見学の予約）を右下に置く。</a:t>
            </a:r>
            <a:endParaRPr lang="en-US" sz="1200" dirty="0">
              <a:solidFill>
                <a:srgbClr val="333333"/>
              </a:solidFill>
              <a:latin typeface="メイリオ"/>
              <a:ea typeface="メイリオ"/>
              <a:cs typeface="メイリオ"/>
            </a:endParaRP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800">
                <a:solidFill>
                  <a:srgbClr val="7F7F7F"/>
                </a:solidFill>
                <a:latin typeface="メイリオ"/>
                <a:ea typeface="メイリオ"/>
                <a:cs typeface="メイリオ"/>
              </a:rPr>
              <a:t>※体験予約済みの方には、タブ②（体験当日の流れ・アクセス・日程変更など）を出し分ける。明光義塾は、一番大きい枠に「授業料シミュレーション」を置いている（P16）</a:t>
            </a:r>
          </a:p>
        </p:txBody>
      </p:sp>
      <p:sp>
        <p:nvSpPr>
          <p:cNvPr id="46" name="Pentagon 45"/>
          <p:cNvSpPr/>
          <p:nvPr/>
        </p:nvSpPr>
        <p:spPr>
          <a:xfrm>
            <a:off x="432000" y="590400"/>
            <a:ext cx="1111500" cy="180000"/>
          </a:xfrm>
          <a:prstGeom prst="homePlate">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①接触</a:t>
            </a:r>
          </a:p>
        </p:txBody>
      </p:sp>
      <p:sp>
        <p:nvSpPr>
          <p:cNvPr id="47" name="Chevron 46"/>
          <p:cNvSpPr/>
          <p:nvPr/>
        </p:nvSpPr>
        <p:spPr>
          <a:xfrm>
            <a:off x="15651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②離脱</a:t>
            </a:r>
          </a:p>
        </p:txBody>
      </p:sp>
      <p:sp>
        <p:nvSpPr>
          <p:cNvPr id="48" name="Chevron 47"/>
          <p:cNvSpPr/>
          <p:nvPr/>
        </p:nvSpPr>
        <p:spPr>
          <a:xfrm>
            <a:off x="26982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③育成</a:t>
            </a:r>
          </a:p>
        </p:txBody>
      </p:sp>
      <p:sp>
        <p:nvSpPr>
          <p:cNvPr id="49" name="Chevron 48"/>
          <p:cNvSpPr/>
          <p:nvPr/>
        </p:nvSpPr>
        <p:spPr>
          <a:xfrm>
            <a:off x="38312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④リード獲得</a:t>
            </a:r>
          </a:p>
        </p:txBody>
      </p:sp>
      <p:sp>
        <p:nvSpPr>
          <p:cNvPr id="50" name="Chevron 49"/>
          <p:cNvSpPr/>
          <p:nvPr/>
        </p:nvSpPr>
        <p:spPr>
          <a:xfrm>
            <a:off x="49644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⑤リード有効化</a:t>
            </a:r>
          </a:p>
        </p:txBody>
      </p:sp>
      <p:sp>
        <p:nvSpPr>
          <p:cNvPr id="51" name="Chevron 50"/>
          <p:cNvSpPr/>
          <p:nvPr/>
        </p:nvSpPr>
        <p:spPr>
          <a:xfrm>
            <a:off x="60975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⑥再育成</a:t>
            </a:r>
          </a:p>
        </p:txBody>
      </p:sp>
      <p:sp>
        <p:nvSpPr>
          <p:cNvPr id="52" name="Chevron 51"/>
          <p:cNvSpPr/>
          <p:nvPr/>
        </p:nvSpPr>
        <p:spPr>
          <a:xfrm>
            <a:off x="72305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⑦入会（契約）</a:t>
            </a:r>
          </a:p>
        </p:txBody>
      </p:sp>
      <p:sp>
        <p:nvSpPr>
          <p:cNvPr id="53" name="Chevron 52"/>
          <p:cNvSpPr/>
          <p:nvPr/>
        </p:nvSpPr>
        <p:spPr>
          <a:xfrm>
            <a:off x="83636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⑧紹介</a:t>
            </a:r>
          </a:p>
        </p:txBody>
      </p:sp>
      <p:sp>
        <p:nvSpPr>
          <p:cNvPr id="54" name="Rounded Rectangle 53"/>
          <p:cNvSpPr/>
          <p:nvPr/>
        </p:nvSpPr>
        <p:spPr>
          <a:xfrm>
            <a:off x="432000" y="1494000"/>
            <a:ext cx="2882399" cy="99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55" name="Rounded Rectangle 54"/>
          <p:cNvSpPr/>
          <p:nvPr/>
        </p:nvSpPr>
        <p:spPr>
          <a:xfrm>
            <a:off x="432000" y="1494000"/>
            <a:ext cx="2882399" cy="223200"/>
          </a:xfrm>
          <a:prstGeom prst="roundRect">
            <a:avLst>
              <a:gd name="adj" fmla="val 20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333333"/>
                </a:solidFill>
                <a:latin typeface="メイリオ"/>
                <a:ea typeface="メイリオ"/>
                <a:cs typeface="メイリオ"/>
              </a:rPr>
              <a:t>データ（事実）</a:t>
            </a:r>
          </a:p>
        </p:txBody>
      </p:sp>
      <p:sp>
        <p:nvSpPr>
          <p:cNvPr id="56" name="Rectangle 55"/>
          <p:cNvSpPr/>
          <p:nvPr/>
        </p:nvSpPr>
        <p:spPr>
          <a:xfrm>
            <a:off x="522000"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000" b="0">
                <a:solidFill>
                  <a:srgbClr val="333333"/>
                </a:solidFill>
                <a:latin typeface="メイリオ"/>
                <a:ea typeface="メイリオ"/>
                <a:cs typeface="メイリオ"/>
              </a:rPr>
              <a:t>スマホを片手で持つと、</a:t>
            </a:r>
          </a:p>
          <a:p>
            <a:pPr algn="l"/>
            <a:r>
              <a:rPr sz="1000" b="0">
                <a:solidFill>
                  <a:srgbClr val="333333"/>
                </a:solidFill>
                <a:latin typeface="メイリオ"/>
                <a:ea typeface="メイリオ"/>
                <a:cs typeface="メイリオ"/>
              </a:rPr>
              <a:t>親指が一番届くのは右下</a:t>
            </a:r>
          </a:p>
        </p:txBody>
      </p:sp>
      <p:cxnSp>
        <p:nvCxnSpPr>
          <p:cNvPr id="57" name="Connector 56"/>
          <p:cNvCxnSpPr/>
          <p:nvPr/>
        </p:nvCxnSpPr>
        <p:spPr>
          <a:xfrm>
            <a:off x="3343199" y="1989000"/>
            <a:ext cx="140400"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58" name="Rounded Rectangle 57"/>
          <p:cNvSpPr/>
          <p:nvPr/>
        </p:nvSpPr>
        <p:spPr>
          <a:xfrm>
            <a:off x="3512399" y="1494000"/>
            <a:ext cx="2882399" cy="99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59" name="Rounded Rectangle 58"/>
          <p:cNvSpPr/>
          <p:nvPr/>
        </p:nvSpPr>
        <p:spPr>
          <a:xfrm>
            <a:off x="3512399" y="1494000"/>
            <a:ext cx="2882399" cy="223200"/>
          </a:xfrm>
          <a:prstGeom prst="roundRect">
            <a:avLst>
              <a:gd name="adj" fmla="val 20000"/>
            </a:avLst>
          </a:prstGeom>
          <a:solidFill>
            <a:srgbClr val="E4E9F2"/>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333333"/>
                </a:solidFill>
                <a:latin typeface="メイリオ"/>
                <a:ea typeface="メイリオ"/>
                <a:cs typeface="メイリオ"/>
              </a:rPr>
              <a:t>すべきこと</a:t>
            </a:r>
          </a:p>
        </p:txBody>
      </p:sp>
      <p:sp>
        <p:nvSpPr>
          <p:cNvPr id="60" name="Rectangle 59"/>
          <p:cNvSpPr/>
          <p:nvPr/>
        </p:nvSpPr>
        <p:spPr>
          <a:xfrm>
            <a:off x="3602399"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000" b="0">
                <a:solidFill>
                  <a:srgbClr val="333333"/>
                </a:solidFill>
                <a:latin typeface="メイリオ"/>
                <a:ea typeface="メイリオ"/>
                <a:cs typeface="メイリオ"/>
              </a:rPr>
              <a:t>一番押してほしい行動を、</a:t>
            </a:r>
          </a:p>
          <a:p>
            <a:pPr algn="l"/>
            <a:r>
              <a:rPr sz="1000" b="0">
                <a:solidFill>
                  <a:srgbClr val="333333"/>
                </a:solidFill>
                <a:latin typeface="メイリオ"/>
                <a:ea typeface="メイリオ"/>
                <a:cs typeface="メイリオ"/>
              </a:rPr>
              <a:t>右下に置く</a:t>
            </a:r>
          </a:p>
        </p:txBody>
      </p:sp>
      <p:cxnSp>
        <p:nvCxnSpPr>
          <p:cNvPr id="61" name="Connector 60"/>
          <p:cNvCxnSpPr/>
          <p:nvPr/>
        </p:nvCxnSpPr>
        <p:spPr>
          <a:xfrm>
            <a:off x="6423599" y="1989000"/>
            <a:ext cx="140401"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62" name="Rounded Rectangle 61"/>
          <p:cNvSpPr/>
          <p:nvPr/>
        </p:nvSpPr>
        <p:spPr>
          <a:xfrm>
            <a:off x="6592800" y="1494000"/>
            <a:ext cx="2882399" cy="990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63" name="Rounded Rectangle 62"/>
          <p:cNvSpPr/>
          <p:nvPr/>
        </p:nvSpPr>
        <p:spPr>
          <a:xfrm>
            <a:off x="6592800" y="1494000"/>
            <a:ext cx="2882399" cy="223200"/>
          </a:xfrm>
          <a:prstGeom prst="roundRect">
            <a:avLst>
              <a:gd name="adj" fmla="val 2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FFFFFF"/>
                </a:solidFill>
                <a:latin typeface="メイリオ"/>
                <a:ea typeface="メイリオ"/>
                <a:cs typeface="メイリオ"/>
              </a:rPr>
              <a:t>LINE施策</a:t>
            </a:r>
          </a:p>
        </p:txBody>
      </p:sp>
      <p:sp>
        <p:nvSpPr>
          <p:cNvPr id="64" name="Rectangle 63"/>
          <p:cNvSpPr/>
          <p:nvPr/>
        </p:nvSpPr>
        <p:spPr>
          <a:xfrm>
            <a:off x="6682800"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000" b="0">
                <a:solidFill>
                  <a:srgbClr val="FFFFFF"/>
                </a:solidFill>
                <a:latin typeface="メイリオ"/>
                <a:ea typeface="メイリオ"/>
                <a:cs typeface="メイリオ"/>
              </a:rPr>
              <a:t>右下＝無料体験・教室見学の予約</a:t>
            </a:r>
          </a:p>
          <a:p>
            <a:pPr algn="l"/>
            <a:r>
              <a:rPr sz="1000" b="0">
                <a:solidFill>
                  <a:srgbClr val="FFFFFF"/>
                </a:solidFill>
                <a:latin typeface="メイリオ"/>
                <a:ea typeface="メイリオ"/>
                <a:cs typeface="メイリオ"/>
              </a:rPr>
              <a:t>（体験予約済みの方は日程の確認・変更）</a:t>
            </a:r>
          </a:p>
        </p:txBody>
      </p:sp>
      <p:sp>
        <p:nvSpPr>
          <p:cNvPr id="65" name="Rounded Rectangle 64"/>
          <p:cNvSpPr/>
          <p:nvPr/>
        </p:nvSpPr>
        <p:spPr>
          <a:xfrm>
            <a:off x="432000" y="2592000"/>
            <a:ext cx="2880000" cy="3564000"/>
          </a:xfrm>
          <a:prstGeom prst="roundRect">
            <a:avLst>
              <a:gd name="adj" fmla="val 10000"/>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66" name="Rectangle 65"/>
          <p:cNvSpPr/>
          <p:nvPr/>
        </p:nvSpPr>
        <p:spPr>
          <a:xfrm>
            <a:off x="522000" y="2790000"/>
            <a:ext cx="2700000" cy="3204000"/>
          </a:xfrm>
          <a:prstGeom prst="rect">
            <a:avLst/>
          </a:prstGeom>
          <a:solidFill>
            <a:srgbClr val="C9D6E8"/>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67" name="Rectangle 66"/>
          <p:cNvSpPr/>
          <p:nvPr/>
        </p:nvSpPr>
        <p:spPr>
          <a:xfrm>
            <a:off x="522000" y="2790000"/>
            <a:ext cx="2700000" cy="216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800" b="1">
                <a:solidFill>
                  <a:srgbClr val="333333"/>
                </a:solidFill>
                <a:latin typeface="メイリオ"/>
                <a:ea typeface="メイリオ"/>
                <a:cs typeface="メイリオ"/>
              </a:rPr>
              <a:t>‹  ◯◯塾 △△教室</a:t>
            </a:r>
          </a:p>
        </p:txBody>
      </p:sp>
      <p:sp>
        <p:nvSpPr>
          <p:cNvPr id="68" name="Rounded Rectangle 67"/>
          <p:cNvSpPr/>
          <p:nvPr/>
        </p:nvSpPr>
        <p:spPr>
          <a:xfrm>
            <a:off x="612000" y="3150000"/>
            <a:ext cx="2268000" cy="4320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t"/>
          <a:lstStyle/>
          <a:p>
            <a:pPr algn="l"/>
            <a:r>
              <a:rPr sz="800" b="0">
                <a:solidFill>
                  <a:srgbClr val="333333"/>
                </a:solidFill>
                <a:latin typeface="メイリオ"/>
                <a:ea typeface="メイリオ"/>
                <a:cs typeface="メイリオ"/>
              </a:rPr>
              <a:t>診断結果とコース・料金の</a:t>
            </a:r>
          </a:p>
          <a:p>
            <a:pPr algn="l"/>
            <a:r>
              <a:rPr sz="800" b="0">
                <a:solidFill>
                  <a:srgbClr val="333333"/>
                </a:solidFill>
                <a:latin typeface="メイリオ"/>
                <a:ea typeface="メイリオ"/>
                <a:cs typeface="メイリオ"/>
              </a:rPr>
              <a:t>資料をお送りしました📄</a:t>
            </a:r>
          </a:p>
        </p:txBody>
      </p:sp>
      <p:sp>
        <p:nvSpPr>
          <p:cNvPr id="69" name="Rectangle 68"/>
          <p:cNvSpPr/>
          <p:nvPr/>
        </p:nvSpPr>
        <p:spPr>
          <a:xfrm>
            <a:off x="522000" y="4409999"/>
            <a:ext cx="900000" cy="792000"/>
          </a:xfrm>
          <a:prstGeom prst="rect">
            <a:avLst/>
          </a:prstGeom>
          <a:solidFill>
            <a:srgbClr val="FFFFFF"/>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450" b="0">
                <a:solidFill>
                  <a:srgbClr val="333333"/>
                </a:solidFill>
                <a:latin typeface="メイリオ"/>
                <a:ea typeface="メイリオ"/>
                <a:cs typeface="メイリオ"/>
              </a:rPr>
              <a:t>🎯</a:t>
            </a:r>
          </a:p>
          <a:p>
            <a:pPr algn="ctr"/>
            <a:r>
              <a:rPr sz="900" b="1">
                <a:solidFill>
                  <a:srgbClr val="1F285A"/>
                </a:solidFill>
                <a:latin typeface="メイリオ"/>
                <a:ea typeface="メイリオ"/>
                <a:cs typeface="メイリオ"/>
              </a:rPr>
              <a:t>30秒</a:t>
            </a:r>
          </a:p>
          <a:p>
            <a:pPr algn="ctr"/>
            <a:r>
              <a:rPr sz="900" b="1">
                <a:solidFill>
                  <a:srgbClr val="1F285A"/>
                </a:solidFill>
                <a:latin typeface="メイリオ"/>
                <a:ea typeface="メイリオ"/>
                <a:cs typeface="メイリオ"/>
              </a:rPr>
              <a:t>ぴったり診断</a:t>
            </a:r>
          </a:p>
        </p:txBody>
      </p:sp>
      <p:sp>
        <p:nvSpPr>
          <p:cNvPr id="70" name="Rectangle 69"/>
          <p:cNvSpPr/>
          <p:nvPr/>
        </p:nvSpPr>
        <p:spPr>
          <a:xfrm>
            <a:off x="1422000" y="4409999"/>
            <a:ext cx="900000" cy="792000"/>
          </a:xfrm>
          <a:prstGeom prst="rect">
            <a:avLst/>
          </a:prstGeom>
          <a:solidFill>
            <a:srgbClr val="FFFFFF"/>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450" b="0">
                <a:solidFill>
                  <a:srgbClr val="333333"/>
                </a:solidFill>
                <a:latin typeface="メイリオ"/>
                <a:ea typeface="メイリオ"/>
                <a:cs typeface="メイリオ"/>
              </a:rPr>
              <a:t>💰</a:t>
            </a:r>
          </a:p>
          <a:p>
            <a:pPr algn="ctr"/>
            <a:r>
              <a:rPr sz="900" b="1">
                <a:solidFill>
                  <a:srgbClr val="1F285A"/>
                </a:solidFill>
                <a:latin typeface="メイリオ"/>
                <a:ea typeface="メイリオ"/>
                <a:cs typeface="メイリオ"/>
              </a:rPr>
              <a:t>コース・料金</a:t>
            </a:r>
          </a:p>
        </p:txBody>
      </p:sp>
      <p:sp>
        <p:nvSpPr>
          <p:cNvPr id="71" name="Rectangle 70"/>
          <p:cNvSpPr/>
          <p:nvPr/>
        </p:nvSpPr>
        <p:spPr>
          <a:xfrm>
            <a:off x="2322000" y="4409999"/>
            <a:ext cx="900000" cy="792000"/>
          </a:xfrm>
          <a:prstGeom prst="rect">
            <a:avLst/>
          </a:prstGeom>
          <a:solidFill>
            <a:srgbClr val="FFFFFF"/>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450" b="0">
                <a:solidFill>
                  <a:srgbClr val="333333"/>
                </a:solidFill>
                <a:latin typeface="メイリオ"/>
                <a:ea typeface="メイリオ"/>
                <a:cs typeface="メイリオ"/>
              </a:rPr>
              <a:t>🏫</a:t>
            </a:r>
          </a:p>
          <a:p>
            <a:pPr algn="ctr"/>
            <a:r>
              <a:rPr sz="900" b="1">
                <a:solidFill>
                  <a:srgbClr val="1F285A"/>
                </a:solidFill>
                <a:latin typeface="メイリオ"/>
                <a:ea typeface="メイリオ"/>
                <a:cs typeface="メイリオ"/>
              </a:rPr>
              <a:t>教室・講師</a:t>
            </a:r>
          </a:p>
          <a:p>
            <a:pPr algn="ctr"/>
            <a:r>
              <a:rPr sz="900" b="1">
                <a:solidFill>
                  <a:srgbClr val="1F285A"/>
                </a:solidFill>
                <a:latin typeface="メイリオ"/>
                <a:ea typeface="メイリオ"/>
                <a:cs typeface="メイリオ"/>
              </a:rPr>
              <a:t>紹介</a:t>
            </a:r>
          </a:p>
        </p:txBody>
      </p:sp>
      <p:sp>
        <p:nvSpPr>
          <p:cNvPr id="72" name="Rectangle 71"/>
          <p:cNvSpPr/>
          <p:nvPr/>
        </p:nvSpPr>
        <p:spPr>
          <a:xfrm>
            <a:off x="522000" y="5202000"/>
            <a:ext cx="900000" cy="792000"/>
          </a:xfrm>
          <a:prstGeom prst="rect">
            <a:avLst/>
          </a:prstGeom>
          <a:solidFill>
            <a:srgbClr val="FFFFFF"/>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450" b="0">
                <a:solidFill>
                  <a:srgbClr val="333333"/>
                </a:solidFill>
                <a:latin typeface="メイリオ"/>
                <a:ea typeface="メイリオ"/>
                <a:cs typeface="メイリオ"/>
              </a:rPr>
              <a:t>📄</a:t>
            </a:r>
          </a:p>
          <a:p>
            <a:pPr algn="ctr"/>
            <a:r>
              <a:rPr sz="900" b="1">
                <a:solidFill>
                  <a:srgbClr val="1F285A"/>
                </a:solidFill>
                <a:latin typeface="メイリオ"/>
                <a:ea typeface="メイリオ"/>
                <a:cs typeface="メイリオ"/>
              </a:rPr>
              <a:t>資料を</a:t>
            </a:r>
          </a:p>
          <a:p>
            <a:pPr algn="ctr"/>
            <a:r>
              <a:rPr sz="900" b="1">
                <a:solidFill>
                  <a:srgbClr val="1F285A"/>
                </a:solidFill>
                <a:latin typeface="メイリオ"/>
                <a:ea typeface="メイリオ"/>
                <a:cs typeface="メイリオ"/>
              </a:rPr>
              <a:t>受け取る</a:t>
            </a:r>
          </a:p>
        </p:txBody>
      </p:sp>
      <p:sp>
        <p:nvSpPr>
          <p:cNvPr id="73" name="Rectangle 72"/>
          <p:cNvSpPr/>
          <p:nvPr/>
        </p:nvSpPr>
        <p:spPr>
          <a:xfrm>
            <a:off x="1422000" y="5202000"/>
            <a:ext cx="900000" cy="792000"/>
          </a:xfrm>
          <a:prstGeom prst="rect">
            <a:avLst/>
          </a:prstGeom>
          <a:solidFill>
            <a:srgbClr val="FFFFFF"/>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450" b="0">
                <a:solidFill>
                  <a:srgbClr val="333333"/>
                </a:solidFill>
                <a:latin typeface="メイリオ"/>
                <a:ea typeface="メイリオ"/>
                <a:cs typeface="メイリオ"/>
              </a:rPr>
              <a:t>👫</a:t>
            </a:r>
          </a:p>
          <a:p>
            <a:pPr algn="ctr"/>
            <a:r>
              <a:rPr sz="900" b="1">
                <a:solidFill>
                  <a:srgbClr val="1F285A"/>
                </a:solidFill>
                <a:latin typeface="メイリオ"/>
                <a:ea typeface="メイリオ"/>
                <a:cs typeface="メイリオ"/>
              </a:rPr>
              <a:t>友だちと</a:t>
            </a:r>
          </a:p>
          <a:p>
            <a:pPr algn="ctr"/>
            <a:r>
              <a:rPr sz="900" b="1">
                <a:solidFill>
                  <a:srgbClr val="1F285A"/>
                </a:solidFill>
                <a:latin typeface="メイリオ"/>
                <a:ea typeface="メイリオ"/>
                <a:cs typeface="メイリオ"/>
              </a:rPr>
              <a:t>一緒に体験</a:t>
            </a:r>
          </a:p>
        </p:txBody>
      </p:sp>
      <p:sp>
        <p:nvSpPr>
          <p:cNvPr id="74" name="Rectangle 73"/>
          <p:cNvSpPr/>
          <p:nvPr/>
        </p:nvSpPr>
        <p:spPr>
          <a:xfrm>
            <a:off x="2322000" y="5202000"/>
            <a:ext cx="900000" cy="792000"/>
          </a:xfrm>
          <a:prstGeom prst="rect">
            <a:avLst/>
          </a:prstGeom>
          <a:solidFill>
            <a:srgbClr val="C00000"/>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450" b="0">
                <a:solidFill>
                  <a:srgbClr val="333333"/>
                </a:solidFill>
                <a:latin typeface="メイリオ"/>
                <a:ea typeface="メイリオ"/>
                <a:cs typeface="メイリオ"/>
              </a:rPr>
              <a:t>📅</a:t>
            </a:r>
          </a:p>
          <a:p>
            <a:pPr algn="ctr"/>
            <a:r>
              <a:rPr sz="900" b="1">
                <a:solidFill>
                  <a:srgbClr val="FFFFFF"/>
                </a:solidFill>
                <a:latin typeface="メイリオ"/>
                <a:ea typeface="メイリオ"/>
                <a:cs typeface="メイリオ"/>
              </a:rPr>
              <a:t>無料体験・</a:t>
            </a:r>
          </a:p>
          <a:p>
            <a:pPr algn="ctr"/>
            <a:r>
              <a:rPr sz="900" b="1">
                <a:solidFill>
                  <a:srgbClr val="FFFFFF"/>
                </a:solidFill>
                <a:latin typeface="メイリオ"/>
                <a:ea typeface="メイリオ"/>
                <a:cs typeface="メイリオ"/>
              </a:rPr>
              <a:t>教室見学の予約</a:t>
            </a:r>
          </a:p>
        </p:txBody>
      </p:sp>
      <p:sp>
        <p:nvSpPr>
          <p:cNvPr id="75" name="Rounded Rectangle 74"/>
          <p:cNvSpPr/>
          <p:nvPr/>
        </p:nvSpPr>
        <p:spPr>
          <a:xfrm>
            <a:off x="1602000" y="4139999"/>
            <a:ext cx="1620000" cy="216000"/>
          </a:xfrm>
          <a:prstGeom prst="roundRect">
            <a:avLst>
              <a:gd name="adj" fmla="val 3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800" b="1">
                <a:solidFill>
                  <a:srgbClr val="FFFFFF"/>
                </a:solidFill>
                <a:latin typeface="メイリオ"/>
                <a:ea typeface="メイリオ"/>
                <a:cs typeface="メイリオ"/>
              </a:rPr>
              <a:t>右下＝一番押しやすい ↘</a:t>
            </a:r>
          </a:p>
        </p:txBody>
      </p:sp>
      <p:sp>
        <p:nvSpPr>
          <p:cNvPr id="76" name="Rectangle 75"/>
          <p:cNvSpPr/>
          <p:nvPr/>
        </p:nvSpPr>
        <p:spPr>
          <a:xfrm>
            <a:off x="3671999" y="2610000"/>
            <a:ext cx="576000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50" b="1">
                <a:solidFill>
                  <a:srgbClr val="002060"/>
                </a:solidFill>
                <a:latin typeface="メイリオ"/>
                <a:ea typeface="メイリオ"/>
                <a:cs typeface="メイリオ"/>
              </a:rPr>
              <a:t>ボタンの並び（タブ① はじめての方）</a:t>
            </a:r>
          </a:p>
        </p:txBody>
      </p:sp>
      <p:sp>
        <p:nvSpPr>
          <p:cNvPr id="77" name="Rectangle 76"/>
          <p:cNvSpPr/>
          <p:nvPr/>
        </p:nvSpPr>
        <p:spPr>
          <a:xfrm>
            <a:off x="3671999" y="2862000"/>
            <a:ext cx="1890000" cy="503999"/>
          </a:xfrm>
          <a:prstGeom prst="rect">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1F285A"/>
                </a:solidFill>
                <a:latin typeface="メイリオ"/>
                <a:ea typeface="メイリオ"/>
                <a:cs typeface="メイリオ"/>
              </a:rPr>
              <a:t>🎯 30秒ぴったり診断</a:t>
            </a:r>
          </a:p>
        </p:txBody>
      </p:sp>
      <p:sp>
        <p:nvSpPr>
          <p:cNvPr id="78" name="Rectangle 77"/>
          <p:cNvSpPr/>
          <p:nvPr/>
        </p:nvSpPr>
        <p:spPr>
          <a:xfrm>
            <a:off x="5616000" y="2862000"/>
            <a:ext cx="1890000" cy="503999"/>
          </a:xfrm>
          <a:prstGeom prst="rect">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1F285A"/>
                </a:solidFill>
                <a:latin typeface="メイリオ"/>
                <a:ea typeface="メイリオ"/>
                <a:cs typeface="メイリオ"/>
              </a:rPr>
              <a:t>💰 コース・料金</a:t>
            </a:r>
          </a:p>
        </p:txBody>
      </p:sp>
      <p:sp>
        <p:nvSpPr>
          <p:cNvPr id="79" name="Rectangle 78"/>
          <p:cNvSpPr/>
          <p:nvPr/>
        </p:nvSpPr>
        <p:spPr>
          <a:xfrm>
            <a:off x="7560000" y="2862000"/>
            <a:ext cx="1890000" cy="503999"/>
          </a:xfrm>
          <a:prstGeom prst="rect">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1F285A"/>
                </a:solidFill>
                <a:latin typeface="メイリオ"/>
                <a:ea typeface="メイリオ"/>
                <a:cs typeface="メイリオ"/>
              </a:rPr>
              <a:t>🏫 教室・講師紹介</a:t>
            </a:r>
          </a:p>
        </p:txBody>
      </p:sp>
      <p:sp>
        <p:nvSpPr>
          <p:cNvPr id="80" name="Rectangle 79"/>
          <p:cNvSpPr/>
          <p:nvPr/>
        </p:nvSpPr>
        <p:spPr>
          <a:xfrm>
            <a:off x="3671999" y="3420000"/>
            <a:ext cx="1890000" cy="503999"/>
          </a:xfrm>
          <a:prstGeom prst="rect">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1F285A"/>
                </a:solidFill>
                <a:latin typeface="メイリオ"/>
                <a:ea typeface="メイリオ"/>
                <a:cs typeface="メイリオ"/>
              </a:rPr>
              <a:t>📄 資料を受け取る（CV①）</a:t>
            </a:r>
          </a:p>
        </p:txBody>
      </p:sp>
      <p:sp>
        <p:nvSpPr>
          <p:cNvPr id="81" name="Rectangle 80"/>
          <p:cNvSpPr/>
          <p:nvPr/>
        </p:nvSpPr>
        <p:spPr>
          <a:xfrm>
            <a:off x="5616000" y="3420000"/>
            <a:ext cx="1890000" cy="503999"/>
          </a:xfrm>
          <a:prstGeom prst="rect">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1F285A"/>
                </a:solidFill>
                <a:latin typeface="メイリオ"/>
                <a:ea typeface="メイリオ"/>
                <a:cs typeface="メイリオ"/>
              </a:rPr>
              <a:t>👫 友だちと一緒に体験</a:t>
            </a:r>
          </a:p>
        </p:txBody>
      </p:sp>
      <p:sp>
        <p:nvSpPr>
          <p:cNvPr id="82" name="Rectangle 81"/>
          <p:cNvSpPr/>
          <p:nvPr/>
        </p:nvSpPr>
        <p:spPr>
          <a:xfrm>
            <a:off x="7560000" y="3420000"/>
            <a:ext cx="1890000" cy="503999"/>
          </a:xfrm>
          <a:prstGeom prst="rect">
            <a:avLst/>
          </a:prstGeom>
          <a:solidFill>
            <a:srgbClr val="C00000"/>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FFFFFF"/>
                </a:solidFill>
                <a:latin typeface="メイリオ"/>
                <a:ea typeface="メイリオ"/>
                <a:cs typeface="メイリオ"/>
              </a:rPr>
              <a:t>📅 無料体験・教室見学の予約（CV②）</a:t>
            </a:r>
          </a:p>
        </p:txBody>
      </p:sp>
      <p:sp>
        <p:nvSpPr>
          <p:cNvPr id="83" name="Rectangle 82"/>
          <p:cNvSpPr/>
          <p:nvPr/>
        </p:nvSpPr>
        <p:spPr>
          <a:xfrm>
            <a:off x="3671999" y="4068000"/>
            <a:ext cx="576000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50" b="1">
                <a:solidFill>
                  <a:srgbClr val="002060"/>
                </a:solidFill>
                <a:latin typeface="メイリオ"/>
                <a:ea typeface="メイリオ"/>
                <a:cs typeface="メイリオ"/>
              </a:rPr>
              <a:t>置き方の考え方</a:t>
            </a:r>
          </a:p>
        </p:txBody>
      </p:sp>
      <p:sp>
        <p:nvSpPr>
          <p:cNvPr id="84" name="Rectangle 83"/>
          <p:cNvSpPr/>
          <p:nvPr/>
        </p:nvSpPr>
        <p:spPr>
          <a:xfrm>
            <a:off x="3671999" y="4302000"/>
            <a:ext cx="5796000" cy="1224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00" b="0">
                <a:solidFill>
                  <a:srgbClr val="333333"/>
                </a:solidFill>
                <a:latin typeface="メイリオ"/>
                <a:ea typeface="メイリオ"/>
                <a:cs typeface="メイリオ"/>
              </a:rPr>
              <a:t>・右下：一番押してほしい行動。体験・見学の予約（CV②）</a:t>
            </a:r>
          </a:p>
          <a:p>
            <a:pPr algn="l"/>
            <a:r>
              <a:rPr sz="1100" b="0">
                <a:solidFill>
                  <a:srgbClr val="333333"/>
                </a:solidFill>
                <a:latin typeface="メイリオ"/>
                <a:ea typeface="メイリオ"/>
                <a:cs typeface="メイリオ"/>
              </a:rPr>
              <a:t>・左下：資料を受け取る（CV①）。体験はまだ早い保護者の受け皿</a:t>
            </a:r>
          </a:p>
          <a:p>
            <a:pPr algn="l"/>
            <a:r>
              <a:rPr sz="1100" b="0">
                <a:solidFill>
                  <a:srgbClr val="333333"/>
                </a:solidFill>
                <a:latin typeface="メイリオ"/>
                <a:ea typeface="メイリオ"/>
                <a:cs typeface="メイリオ"/>
              </a:rPr>
              <a:t>・上段：比べるときに見たい情報（診断・料金・教室）</a:t>
            </a:r>
          </a:p>
          <a:p>
            <a:pPr algn="l"/>
            <a:r>
              <a:rPr sz="1100" b="0">
                <a:solidFill>
                  <a:srgbClr val="333333"/>
                </a:solidFill>
                <a:latin typeface="メイリオ"/>
                <a:ea typeface="メイリオ"/>
                <a:cs typeface="メイリオ"/>
              </a:rPr>
              <a:t>・体験予約済みの方には、タブ②に切り替えて右下を「日程の確認・変更」にする</a:t>
            </a:r>
          </a:p>
        </p:txBody>
      </p:sp>
      <p:sp>
        <p:nvSpPr>
          <p:cNvPr id="85" name="Rounded Rectangle 84"/>
          <p:cNvSpPr/>
          <p:nvPr/>
        </p:nvSpPr>
        <p:spPr>
          <a:xfrm>
            <a:off x="3671999" y="5580000"/>
            <a:ext cx="5796000" cy="432000"/>
          </a:xfrm>
          <a:prstGeom prst="roundRect">
            <a:avLst>
              <a:gd name="adj" fmla="val 8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950" b="0">
                <a:solidFill>
                  <a:srgbClr val="1F285A"/>
                </a:solidFill>
                <a:latin typeface="メイリオ"/>
                <a:ea typeface="メイリオ"/>
                <a:cs typeface="メイリオ"/>
              </a:rPr>
              <a:t>タブ②（体験予約済みの方）：体験当日の流れ／アクセス・持ち物／担当講師の紹介／保護者の声／LINEで質問／日程の確認・変更（右下）</a:t>
            </a:r>
          </a:p>
        </p:txBody>
      </p:sp>
    </p:spTree>
    <p:extLst>
      <p:ext uri="{BB962C8B-B14F-4D97-AF65-F5344CB8AC3E}">
        <p14:creationId xmlns:p14="http://schemas.microsoft.com/office/powerpoint/2010/main" val="20342701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DE6EC7-8BED-7DDA-23DD-316D74FFBA19}"/>
            </a:ext>
          </a:extLst>
        </p:cNvPr>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構築⑤｜配信の出し分け</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dirty="0" err="1">
                <a:solidFill>
                  <a:srgbClr val="333333"/>
                </a:solidFill>
                <a:latin typeface="メイリオ"/>
                <a:ea typeface="メイリオ"/>
                <a:cs typeface="メイリオ"/>
              </a:rPr>
              <a:t>同じ内容を全員に送ると、合わない人にはブロックされる。</a:t>
            </a:r>
            <a:endParaRPr lang="en-US" sz="1200" dirty="0">
              <a:solidFill>
                <a:srgbClr val="333333"/>
              </a:solidFill>
              <a:latin typeface="メイリオ"/>
              <a:ea typeface="メイリオ"/>
              <a:cs typeface="メイリオ"/>
            </a:endParaRPr>
          </a:p>
          <a:p>
            <a:pPr algn="l">
              <a:lnSpc>
                <a:spcPct val="128000"/>
              </a:lnSpc>
            </a:pPr>
            <a:r>
              <a:rPr sz="1200" dirty="0" err="1">
                <a:solidFill>
                  <a:srgbClr val="333333"/>
                </a:solidFill>
                <a:latin typeface="メイリオ"/>
                <a:ea typeface="メイリオ"/>
                <a:cs typeface="メイリオ"/>
              </a:rPr>
              <a:t>診断の回答と、LINEでの行動で、保護者ごとに「うちの子の話」になる配信にする。</a:t>
            </a:r>
            <a:endParaRPr lang="en-US" sz="1200" dirty="0">
              <a:solidFill>
                <a:srgbClr val="333333"/>
              </a:solidFill>
              <a:latin typeface="メイリオ"/>
              <a:ea typeface="メイリオ"/>
              <a:cs typeface="メイリオ"/>
            </a:endParaRP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Pentagon 4"/>
          <p:cNvSpPr/>
          <p:nvPr/>
        </p:nvSpPr>
        <p:spPr>
          <a:xfrm>
            <a:off x="432000" y="590400"/>
            <a:ext cx="1111500" cy="180000"/>
          </a:xfrm>
          <a:prstGeom prst="homePlate">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①接触</a:t>
            </a:r>
          </a:p>
        </p:txBody>
      </p:sp>
      <p:sp>
        <p:nvSpPr>
          <p:cNvPr id="6" name="Chevron 5"/>
          <p:cNvSpPr/>
          <p:nvPr/>
        </p:nvSpPr>
        <p:spPr>
          <a:xfrm>
            <a:off x="15651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②離脱</a:t>
            </a:r>
          </a:p>
        </p:txBody>
      </p:sp>
      <p:sp>
        <p:nvSpPr>
          <p:cNvPr id="7" name="Chevron 6"/>
          <p:cNvSpPr/>
          <p:nvPr/>
        </p:nvSpPr>
        <p:spPr>
          <a:xfrm>
            <a:off x="26982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③育成</a:t>
            </a:r>
          </a:p>
        </p:txBody>
      </p:sp>
      <p:sp>
        <p:nvSpPr>
          <p:cNvPr id="8" name="Chevron 7"/>
          <p:cNvSpPr/>
          <p:nvPr/>
        </p:nvSpPr>
        <p:spPr>
          <a:xfrm>
            <a:off x="38312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④リード獲得</a:t>
            </a:r>
          </a:p>
        </p:txBody>
      </p:sp>
      <p:sp>
        <p:nvSpPr>
          <p:cNvPr id="9" name="Chevron 8"/>
          <p:cNvSpPr/>
          <p:nvPr/>
        </p:nvSpPr>
        <p:spPr>
          <a:xfrm>
            <a:off x="49644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⑤リード有効化</a:t>
            </a:r>
          </a:p>
        </p:txBody>
      </p:sp>
      <p:sp>
        <p:nvSpPr>
          <p:cNvPr id="10" name="Chevron 9"/>
          <p:cNvSpPr/>
          <p:nvPr/>
        </p:nvSpPr>
        <p:spPr>
          <a:xfrm>
            <a:off x="60975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⑥再育成</a:t>
            </a:r>
          </a:p>
        </p:txBody>
      </p:sp>
      <p:sp>
        <p:nvSpPr>
          <p:cNvPr id="11" name="Chevron 10"/>
          <p:cNvSpPr/>
          <p:nvPr/>
        </p:nvSpPr>
        <p:spPr>
          <a:xfrm>
            <a:off x="72305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⑦入会（契約）</a:t>
            </a:r>
          </a:p>
        </p:txBody>
      </p:sp>
      <p:sp>
        <p:nvSpPr>
          <p:cNvPr id="12" name="Chevron 11"/>
          <p:cNvSpPr/>
          <p:nvPr/>
        </p:nvSpPr>
        <p:spPr>
          <a:xfrm>
            <a:off x="83636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⑧紹介</a:t>
            </a:r>
          </a:p>
        </p:txBody>
      </p:sp>
      <p:sp>
        <p:nvSpPr>
          <p:cNvPr id="13" name="Rounded Rectangle 12"/>
          <p:cNvSpPr/>
          <p:nvPr/>
        </p:nvSpPr>
        <p:spPr>
          <a:xfrm>
            <a:off x="432000" y="1494000"/>
            <a:ext cx="2882399" cy="99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14" name="Rounded Rectangle 13"/>
          <p:cNvSpPr/>
          <p:nvPr/>
        </p:nvSpPr>
        <p:spPr>
          <a:xfrm>
            <a:off x="432000" y="1494000"/>
            <a:ext cx="2882399" cy="223200"/>
          </a:xfrm>
          <a:prstGeom prst="roundRect">
            <a:avLst>
              <a:gd name="adj" fmla="val 20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333333"/>
                </a:solidFill>
                <a:latin typeface="メイリオ"/>
                <a:ea typeface="メイリオ"/>
                <a:cs typeface="メイリオ"/>
              </a:rPr>
              <a:t>データ（事実）</a:t>
            </a:r>
          </a:p>
        </p:txBody>
      </p:sp>
      <p:sp>
        <p:nvSpPr>
          <p:cNvPr id="15" name="Rectangle 14"/>
          <p:cNvSpPr/>
          <p:nvPr/>
        </p:nvSpPr>
        <p:spPr>
          <a:xfrm>
            <a:off x="522000"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200" b="0">
                <a:solidFill>
                  <a:srgbClr val="333333"/>
                </a:solidFill>
                <a:latin typeface="メイリオ"/>
                <a:ea typeface="メイリオ"/>
                <a:cs typeface="メイリオ"/>
              </a:rPr>
              <a:t>同じ内容を全員に送ると、</a:t>
            </a:r>
          </a:p>
          <a:p>
            <a:pPr algn="l"/>
            <a:r>
              <a:rPr sz="1200" b="0">
                <a:solidFill>
                  <a:srgbClr val="333333"/>
                </a:solidFill>
                <a:latin typeface="メイリオ"/>
                <a:ea typeface="メイリオ"/>
                <a:cs typeface="メイリオ"/>
              </a:rPr>
              <a:t>合わない人にはブロックされる</a:t>
            </a:r>
          </a:p>
        </p:txBody>
      </p:sp>
      <p:cxnSp>
        <p:nvCxnSpPr>
          <p:cNvPr id="16" name="Connector 15"/>
          <p:cNvCxnSpPr/>
          <p:nvPr/>
        </p:nvCxnSpPr>
        <p:spPr>
          <a:xfrm>
            <a:off x="3343199" y="1989000"/>
            <a:ext cx="140400"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3512399" y="1494000"/>
            <a:ext cx="2882399" cy="99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18" name="Rounded Rectangle 17"/>
          <p:cNvSpPr/>
          <p:nvPr/>
        </p:nvSpPr>
        <p:spPr>
          <a:xfrm>
            <a:off x="3512399" y="1494000"/>
            <a:ext cx="2882399" cy="223200"/>
          </a:xfrm>
          <a:prstGeom prst="roundRect">
            <a:avLst>
              <a:gd name="adj" fmla="val 20000"/>
            </a:avLst>
          </a:prstGeom>
          <a:solidFill>
            <a:srgbClr val="E4E9F2"/>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333333"/>
                </a:solidFill>
                <a:latin typeface="メイリオ"/>
                <a:ea typeface="メイリオ"/>
                <a:cs typeface="メイリオ"/>
              </a:rPr>
              <a:t>すべきこと</a:t>
            </a:r>
          </a:p>
        </p:txBody>
      </p:sp>
      <p:sp>
        <p:nvSpPr>
          <p:cNvPr id="19" name="Rectangle 18"/>
          <p:cNvSpPr/>
          <p:nvPr/>
        </p:nvSpPr>
        <p:spPr>
          <a:xfrm>
            <a:off x="3602399"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200" b="0">
                <a:solidFill>
                  <a:srgbClr val="333333"/>
                </a:solidFill>
                <a:latin typeface="メイリオ"/>
                <a:ea typeface="メイリオ"/>
                <a:cs typeface="メイリオ"/>
              </a:rPr>
              <a:t>保護者ごとに、</a:t>
            </a:r>
          </a:p>
          <a:p>
            <a:pPr algn="l"/>
            <a:r>
              <a:rPr sz="1200" b="0">
                <a:solidFill>
                  <a:srgbClr val="333333"/>
                </a:solidFill>
                <a:latin typeface="メイリオ"/>
                <a:ea typeface="メイリオ"/>
                <a:cs typeface="メイリオ"/>
              </a:rPr>
              <a:t>「うちの子の話」になる配信にする</a:t>
            </a:r>
          </a:p>
        </p:txBody>
      </p:sp>
      <p:cxnSp>
        <p:nvCxnSpPr>
          <p:cNvPr id="20" name="Connector 19"/>
          <p:cNvCxnSpPr/>
          <p:nvPr/>
        </p:nvCxnSpPr>
        <p:spPr>
          <a:xfrm>
            <a:off x="6423599" y="1989000"/>
            <a:ext cx="140401"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6592800" y="1494000"/>
            <a:ext cx="2882399" cy="990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22" name="Rounded Rectangle 21"/>
          <p:cNvSpPr/>
          <p:nvPr/>
        </p:nvSpPr>
        <p:spPr>
          <a:xfrm>
            <a:off x="6592800" y="1494000"/>
            <a:ext cx="2882399" cy="223200"/>
          </a:xfrm>
          <a:prstGeom prst="roundRect">
            <a:avLst>
              <a:gd name="adj" fmla="val 2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FFFFFF"/>
                </a:solidFill>
                <a:latin typeface="メイリオ"/>
                <a:ea typeface="メイリオ"/>
                <a:cs typeface="メイリオ"/>
              </a:rPr>
              <a:t>LINE施策</a:t>
            </a:r>
          </a:p>
        </p:txBody>
      </p:sp>
      <p:sp>
        <p:nvSpPr>
          <p:cNvPr id="23" name="Rectangle 22"/>
          <p:cNvSpPr/>
          <p:nvPr/>
        </p:nvSpPr>
        <p:spPr>
          <a:xfrm>
            <a:off x="6682800"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200" b="0">
                <a:solidFill>
                  <a:srgbClr val="FFFFFF"/>
                </a:solidFill>
                <a:latin typeface="メイリオ"/>
                <a:ea typeface="メイリオ"/>
                <a:cs typeface="メイリオ"/>
              </a:rPr>
              <a:t>診断タグ＋行動タグで</a:t>
            </a:r>
          </a:p>
          <a:p>
            <a:pPr algn="l"/>
            <a:r>
              <a:rPr sz="1200" b="0">
                <a:solidFill>
                  <a:srgbClr val="FFFFFF"/>
                </a:solidFill>
                <a:latin typeface="メイリオ"/>
                <a:ea typeface="メイリオ"/>
                <a:cs typeface="メイリオ"/>
              </a:rPr>
              <a:t>配信を出し分ける</a:t>
            </a:r>
          </a:p>
        </p:txBody>
      </p:sp>
      <p:sp>
        <p:nvSpPr>
          <p:cNvPr id="24" name="Rounded Rectangle 23"/>
          <p:cNvSpPr/>
          <p:nvPr/>
        </p:nvSpPr>
        <p:spPr>
          <a:xfrm>
            <a:off x="432000" y="2628000"/>
            <a:ext cx="2908800" cy="288000"/>
          </a:xfrm>
          <a:prstGeom prst="roundRect">
            <a:avLst>
              <a:gd name="adj" fmla="val 15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00" b="1">
                <a:solidFill>
                  <a:srgbClr val="FFFFFF"/>
                </a:solidFill>
                <a:latin typeface="メイリオ"/>
                <a:ea typeface="メイリオ"/>
                <a:cs typeface="メイリオ"/>
              </a:rPr>
              <a:t>① 診断タグ（友だち追加の直後）</a:t>
            </a:r>
          </a:p>
        </p:txBody>
      </p:sp>
      <p:sp>
        <p:nvSpPr>
          <p:cNvPr id="25" name="Rounded Rectangle 24"/>
          <p:cNvSpPr/>
          <p:nvPr/>
        </p:nvSpPr>
        <p:spPr>
          <a:xfrm>
            <a:off x="432000" y="2988000"/>
            <a:ext cx="2908800" cy="378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250" b="0">
                <a:solidFill>
                  <a:srgbClr val="333333"/>
                </a:solidFill>
                <a:latin typeface="メイリオ"/>
                <a:ea typeface="メイリオ"/>
                <a:cs typeface="メイリオ"/>
              </a:rPr>
              <a:t>学年</a:t>
            </a:r>
          </a:p>
        </p:txBody>
      </p:sp>
      <p:sp>
        <p:nvSpPr>
          <p:cNvPr id="26" name="Rounded Rectangle 25"/>
          <p:cNvSpPr/>
          <p:nvPr/>
        </p:nvSpPr>
        <p:spPr>
          <a:xfrm>
            <a:off x="432000" y="3438000"/>
            <a:ext cx="2908800" cy="378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250" b="0">
                <a:solidFill>
                  <a:srgbClr val="333333"/>
                </a:solidFill>
                <a:latin typeface="メイリオ"/>
                <a:ea typeface="メイリオ"/>
                <a:cs typeface="メイリオ"/>
              </a:rPr>
              <a:t>悩み</a:t>
            </a:r>
          </a:p>
        </p:txBody>
      </p:sp>
      <p:sp>
        <p:nvSpPr>
          <p:cNvPr id="27" name="Rounded Rectangle 26"/>
          <p:cNvSpPr/>
          <p:nvPr/>
        </p:nvSpPr>
        <p:spPr>
          <a:xfrm>
            <a:off x="432000" y="3888000"/>
            <a:ext cx="2908800" cy="378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250" b="0">
                <a:solidFill>
                  <a:srgbClr val="333333"/>
                </a:solidFill>
                <a:latin typeface="メイリオ"/>
                <a:ea typeface="メイリオ"/>
                <a:cs typeface="メイリオ"/>
              </a:rPr>
              <a:t>性格（集団／個別の判定）</a:t>
            </a:r>
          </a:p>
        </p:txBody>
      </p:sp>
      <p:sp>
        <p:nvSpPr>
          <p:cNvPr id="28" name="Rounded Rectangle 27"/>
          <p:cNvSpPr/>
          <p:nvPr/>
        </p:nvSpPr>
        <p:spPr>
          <a:xfrm>
            <a:off x="432000" y="4338000"/>
            <a:ext cx="2908800" cy="378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250" b="0">
                <a:solidFill>
                  <a:srgbClr val="333333"/>
                </a:solidFill>
                <a:latin typeface="メイリオ"/>
                <a:ea typeface="メイリオ"/>
                <a:cs typeface="メイリオ"/>
              </a:rPr>
              <a:t>いつから（温度）</a:t>
            </a:r>
          </a:p>
        </p:txBody>
      </p:sp>
      <p:sp>
        <p:nvSpPr>
          <p:cNvPr id="29" name="Rounded Rectangle 28"/>
          <p:cNvSpPr/>
          <p:nvPr/>
        </p:nvSpPr>
        <p:spPr>
          <a:xfrm>
            <a:off x="3499199" y="2628000"/>
            <a:ext cx="2908800" cy="288000"/>
          </a:xfrm>
          <a:prstGeom prst="roundRect">
            <a:avLst>
              <a:gd name="adj" fmla="val 15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00" b="1">
                <a:solidFill>
                  <a:srgbClr val="FFFFFF"/>
                </a:solidFill>
                <a:latin typeface="メイリオ"/>
                <a:ea typeface="メイリオ"/>
                <a:cs typeface="メイリオ"/>
              </a:rPr>
              <a:t>② 行動タグ（LINEでの行動）</a:t>
            </a:r>
          </a:p>
        </p:txBody>
      </p:sp>
      <p:sp>
        <p:nvSpPr>
          <p:cNvPr id="30" name="Rounded Rectangle 29"/>
          <p:cNvSpPr/>
          <p:nvPr/>
        </p:nvSpPr>
        <p:spPr>
          <a:xfrm>
            <a:off x="3499199" y="2988000"/>
            <a:ext cx="2908800" cy="378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250" b="0">
                <a:solidFill>
                  <a:srgbClr val="333333"/>
                </a:solidFill>
                <a:latin typeface="メイリオ"/>
                <a:ea typeface="メイリオ"/>
                <a:cs typeface="メイリオ"/>
              </a:rPr>
              <a:t>どのボタンを押したか</a:t>
            </a:r>
          </a:p>
        </p:txBody>
      </p:sp>
      <p:sp>
        <p:nvSpPr>
          <p:cNvPr id="31" name="Rounded Rectangle 30"/>
          <p:cNvSpPr/>
          <p:nvPr/>
        </p:nvSpPr>
        <p:spPr>
          <a:xfrm>
            <a:off x="3499199" y="3438000"/>
            <a:ext cx="2908800" cy="378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250" b="0">
                <a:solidFill>
                  <a:srgbClr val="333333"/>
                </a:solidFill>
                <a:latin typeface="メイリオ"/>
                <a:ea typeface="メイリオ"/>
                <a:cs typeface="メイリオ"/>
              </a:rPr>
              <a:t>資料請求したか</a:t>
            </a:r>
          </a:p>
        </p:txBody>
      </p:sp>
      <p:sp>
        <p:nvSpPr>
          <p:cNvPr id="32" name="Rounded Rectangle 31"/>
          <p:cNvSpPr/>
          <p:nvPr/>
        </p:nvSpPr>
        <p:spPr>
          <a:xfrm>
            <a:off x="3499199" y="3888000"/>
            <a:ext cx="2908800" cy="378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250" b="0">
                <a:solidFill>
                  <a:srgbClr val="333333"/>
                </a:solidFill>
                <a:latin typeface="メイリオ"/>
                <a:ea typeface="メイリオ"/>
                <a:cs typeface="メイリオ"/>
              </a:rPr>
              <a:t>体験予約したか・来たか</a:t>
            </a:r>
          </a:p>
        </p:txBody>
      </p:sp>
      <p:sp>
        <p:nvSpPr>
          <p:cNvPr id="33" name="Rounded Rectangle 32"/>
          <p:cNvSpPr/>
          <p:nvPr/>
        </p:nvSpPr>
        <p:spPr>
          <a:xfrm>
            <a:off x="3499199" y="4338000"/>
            <a:ext cx="2908800" cy="378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250" b="0">
                <a:solidFill>
                  <a:srgbClr val="333333"/>
                </a:solidFill>
                <a:latin typeface="メイリオ"/>
                <a:ea typeface="メイリオ"/>
                <a:cs typeface="メイリオ"/>
              </a:rPr>
              <a:t>配信を開いているか</a:t>
            </a:r>
          </a:p>
        </p:txBody>
      </p:sp>
      <p:sp>
        <p:nvSpPr>
          <p:cNvPr id="34" name="Rounded Rectangle 33"/>
          <p:cNvSpPr/>
          <p:nvPr/>
        </p:nvSpPr>
        <p:spPr>
          <a:xfrm>
            <a:off x="6566399" y="2628000"/>
            <a:ext cx="2908800" cy="288000"/>
          </a:xfrm>
          <a:prstGeom prst="roundRect">
            <a:avLst>
              <a:gd name="adj" fmla="val 15000"/>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00" b="1">
                <a:solidFill>
                  <a:srgbClr val="FFFFFF"/>
                </a:solidFill>
                <a:latin typeface="メイリオ"/>
                <a:ea typeface="メイリオ"/>
                <a:cs typeface="メイリオ"/>
              </a:rPr>
              <a:t>何ができるようになるか</a:t>
            </a:r>
          </a:p>
        </p:txBody>
      </p:sp>
      <p:sp>
        <p:nvSpPr>
          <p:cNvPr id="35" name="Rounded Rectangle 34"/>
          <p:cNvSpPr/>
          <p:nvPr/>
        </p:nvSpPr>
        <p:spPr>
          <a:xfrm>
            <a:off x="6566399" y="2988000"/>
            <a:ext cx="2908800" cy="378000"/>
          </a:xfrm>
          <a:prstGeom prst="roundRect">
            <a:avLst>
              <a:gd name="adj" fmla="val 8000"/>
            </a:avLst>
          </a:prstGeom>
          <a:solidFill>
            <a:srgbClr val="F4F7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950" b="0">
                <a:solidFill>
                  <a:srgbClr val="333333"/>
                </a:solidFill>
                <a:latin typeface="メイリオ"/>
                <a:ea typeface="メイリオ"/>
                <a:cs typeface="メイリオ"/>
              </a:rPr>
              <a:t>中3で「受験対策」→ 高校受験の情報を中心に</a:t>
            </a:r>
          </a:p>
        </p:txBody>
      </p:sp>
      <p:sp>
        <p:nvSpPr>
          <p:cNvPr id="36" name="Rounded Rectangle 35"/>
          <p:cNvSpPr/>
          <p:nvPr/>
        </p:nvSpPr>
        <p:spPr>
          <a:xfrm>
            <a:off x="6566399" y="3438000"/>
            <a:ext cx="2908800" cy="378000"/>
          </a:xfrm>
          <a:prstGeom prst="roundRect">
            <a:avLst>
              <a:gd name="adj" fmla="val 8000"/>
            </a:avLst>
          </a:prstGeom>
          <a:solidFill>
            <a:srgbClr val="F4F7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950" b="0">
                <a:solidFill>
                  <a:srgbClr val="333333"/>
                </a:solidFill>
                <a:latin typeface="メイリオ"/>
                <a:ea typeface="メイリオ"/>
                <a:cs typeface="メイリオ"/>
              </a:rPr>
              <a:t>「質問するのが苦手」→ 個別指導の事例を中心に</a:t>
            </a:r>
          </a:p>
        </p:txBody>
      </p:sp>
      <p:sp>
        <p:nvSpPr>
          <p:cNvPr id="37" name="Rounded Rectangle 36"/>
          <p:cNvSpPr/>
          <p:nvPr/>
        </p:nvSpPr>
        <p:spPr>
          <a:xfrm>
            <a:off x="6566399" y="3888000"/>
            <a:ext cx="2908800" cy="378000"/>
          </a:xfrm>
          <a:prstGeom prst="roundRect">
            <a:avLst>
              <a:gd name="adj" fmla="val 8000"/>
            </a:avLst>
          </a:prstGeom>
          <a:solidFill>
            <a:srgbClr val="F4F7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950" b="0">
                <a:solidFill>
                  <a:srgbClr val="333333"/>
                </a:solidFill>
                <a:latin typeface="メイリオ"/>
                <a:ea typeface="メイリオ"/>
                <a:cs typeface="メイリオ"/>
              </a:rPr>
              <a:t>資料請求したが予約なし → 体験の案内を追加で</a:t>
            </a:r>
          </a:p>
        </p:txBody>
      </p:sp>
      <p:sp>
        <p:nvSpPr>
          <p:cNvPr id="38" name="Rounded Rectangle 37"/>
          <p:cNvSpPr/>
          <p:nvPr/>
        </p:nvSpPr>
        <p:spPr>
          <a:xfrm>
            <a:off x="6566399" y="4338000"/>
            <a:ext cx="2908800" cy="378000"/>
          </a:xfrm>
          <a:prstGeom prst="roundRect">
            <a:avLst>
              <a:gd name="adj" fmla="val 8000"/>
            </a:avLst>
          </a:prstGeom>
          <a:solidFill>
            <a:srgbClr val="F4F7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950" b="0">
                <a:solidFill>
                  <a:srgbClr val="333333"/>
                </a:solidFill>
                <a:latin typeface="メイリオ"/>
                <a:ea typeface="メイリオ"/>
                <a:cs typeface="メイリオ"/>
              </a:rPr>
              <a:t>「情報収集だけ」→ 売り込みは控えて週1の情報だけ</a:t>
            </a:r>
          </a:p>
        </p:txBody>
      </p:sp>
      <p:sp>
        <p:nvSpPr>
          <p:cNvPr id="39" name="TextBox 44"/>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900">
                <a:solidFill>
                  <a:srgbClr val="7F7F7F"/>
                </a:solidFill>
                <a:latin typeface="メイリオ"/>
                <a:ea typeface="メイリオ"/>
                <a:cs typeface="メイリオ"/>
              </a:rPr>
              <a:t>※明光義塾は、アンケートの回答をもとに「まだ塾に通っていない」お子さま・保護者に絞って配信していた（公式事例・P15）</a:t>
            </a:r>
          </a:p>
        </p:txBody>
      </p:sp>
    </p:spTree>
    <p:extLst>
      <p:ext uri="{BB962C8B-B14F-4D97-AF65-F5344CB8AC3E}">
        <p14:creationId xmlns:p14="http://schemas.microsoft.com/office/powerpoint/2010/main" val="133544877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FC836A-F13C-1973-53EF-92ADF9F85FF4}"/>
            </a:ext>
          </a:extLst>
        </p:cNvPr>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ステップ配信｜14日間の配信</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a:solidFill>
                  <a:srgbClr val="333333"/>
                </a:solidFill>
                <a:latin typeface="メイリオ"/>
                <a:ea typeface="メイリオ"/>
                <a:cs typeface="メイリオ"/>
              </a:rPr>
              <a:t>比べている間は、売り込みではなく役に立つ情報を届け、体験予約に進んでもらう。</a:t>
            </a:r>
          </a:p>
          <a:p>
            <a:pPr algn="l">
              <a:lnSpc>
                <a:spcPct val="128000"/>
              </a:lnSpc>
            </a:pPr>
            <a:r>
              <a:rPr sz="1200">
                <a:solidFill>
                  <a:srgbClr val="333333"/>
                </a:solidFill>
                <a:latin typeface="メイリオ"/>
                <a:ea typeface="メイリオ"/>
                <a:cs typeface="メイリオ"/>
              </a:rPr>
              <a:t>14日のうち、体験の案内は2通だけ（7日後・14日後）。</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900">
                <a:solidFill>
                  <a:srgbClr val="7F7F7F"/>
                </a:solidFill>
                <a:latin typeface="メイリオ"/>
                <a:ea typeface="メイリオ"/>
                <a:cs typeface="メイリオ"/>
              </a:rPr>
              <a:t>※前後検索（P8〜P11）：比べている間は、塾の費用・いつから・口コミを調べている。配信の中身をこれに合わせる。明光義塾のステップ配信の例はP17</a:t>
            </a:r>
          </a:p>
        </p:txBody>
      </p:sp>
      <p:sp>
        <p:nvSpPr>
          <p:cNvPr id="11" name="Pentagon 10"/>
          <p:cNvSpPr/>
          <p:nvPr/>
        </p:nvSpPr>
        <p:spPr>
          <a:xfrm>
            <a:off x="432000" y="590400"/>
            <a:ext cx="1111500" cy="180000"/>
          </a:xfrm>
          <a:prstGeom prst="homePlate">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①接触</a:t>
            </a:r>
          </a:p>
        </p:txBody>
      </p:sp>
      <p:sp>
        <p:nvSpPr>
          <p:cNvPr id="12" name="Chevron 11"/>
          <p:cNvSpPr/>
          <p:nvPr/>
        </p:nvSpPr>
        <p:spPr>
          <a:xfrm>
            <a:off x="15651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②離脱</a:t>
            </a:r>
          </a:p>
        </p:txBody>
      </p:sp>
      <p:sp>
        <p:nvSpPr>
          <p:cNvPr id="13" name="Chevron 12"/>
          <p:cNvSpPr/>
          <p:nvPr/>
        </p:nvSpPr>
        <p:spPr>
          <a:xfrm>
            <a:off x="26982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③育成</a:t>
            </a:r>
          </a:p>
        </p:txBody>
      </p:sp>
      <p:sp>
        <p:nvSpPr>
          <p:cNvPr id="14" name="Chevron 13"/>
          <p:cNvSpPr/>
          <p:nvPr/>
        </p:nvSpPr>
        <p:spPr>
          <a:xfrm>
            <a:off x="38312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④リード獲得</a:t>
            </a:r>
          </a:p>
        </p:txBody>
      </p:sp>
      <p:sp>
        <p:nvSpPr>
          <p:cNvPr id="15" name="Chevron 14"/>
          <p:cNvSpPr/>
          <p:nvPr/>
        </p:nvSpPr>
        <p:spPr>
          <a:xfrm>
            <a:off x="49644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⑤リード有効化</a:t>
            </a:r>
          </a:p>
        </p:txBody>
      </p:sp>
      <p:sp>
        <p:nvSpPr>
          <p:cNvPr id="16" name="Chevron 15"/>
          <p:cNvSpPr/>
          <p:nvPr/>
        </p:nvSpPr>
        <p:spPr>
          <a:xfrm>
            <a:off x="60975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⑥再育成</a:t>
            </a:r>
          </a:p>
        </p:txBody>
      </p:sp>
      <p:sp>
        <p:nvSpPr>
          <p:cNvPr id="17" name="Chevron 16"/>
          <p:cNvSpPr/>
          <p:nvPr/>
        </p:nvSpPr>
        <p:spPr>
          <a:xfrm>
            <a:off x="72305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⑦入会（契約）</a:t>
            </a:r>
          </a:p>
        </p:txBody>
      </p:sp>
      <p:sp>
        <p:nvSpPr>
          <p:cNvPr id="18" name="Chevron 17"/>
          <p:cNvSpPr/>
          <p:nvPr/>
        </p:nvSpPr>
        <p:spPr>
          <a:xfrm>
            <a:off x="83636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⑧紹介</a:t>
            </a:r>
          </a:p>
        </p:txBody>
      </p:sp>
      <p:sp>
        <p:nvSpPr>
          <p:cNvPr id="19" name="Rounded Rectangle 18"/>
          <p:cNvSpPr/>
          <p:nvPr/>
        </p:nvSpPr>
        <p:spPr>
          <a:xfrm>
            <a:off x="432000" y="1494000"/>
            <a:ext cx="2882399" cy="99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20" name="Rounded Rectangle 19"/>
          <p:cNvSpPr/>
          <p:nvPr/>
        </p:nvSpPr>
        <p:spPr>
          <a:xfrm>
            <a:off x="432000" y="1494000"/>
            <a:ext cx="2882399" cy="223200"/>
          </a:xfrm>
          <a:prstGeom prst="roundRect">
            <a:avLst>
              <a:gd name="adj" fmla="val 20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333333"/>
                </a:solidFill>
                <a:latin typeface="メイリオ"/>
                <a:ea typeface="メイリオ"/>
                <a:cs typeface="メイリオ"/>
              </a:rPr>
              <a:t>データ（事実）</a:t>
            </a:r>
          </a:p>
        </p:txBody>
      </p:sp>
      <p:sp>
        <p:nvSpPr>
          <p:cNvPr id="21" name="Rectangle 20"/>
          <p:cNvSpPr/>
          <p:nvPr/>
        </p:nvSpPr>
        <p:spPr>
          <a:xfrm>
            <a:off x="522000"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000" b="0">
                <a:solidFill>
                  <a:srgbClr val="333333"/>
                </a:solidFill>
                <a:latin typeface="メイリオ"/>
                <a:ea typeface="メイリオ"/>
                <a:cs typeface="メイリオ"/>
              </a:rPr>
              <a:t>保護者は比べている間に、</a:t>
            </a:r>
          </a:p>
          <a:p>
            <a:pPr algn="l"/>
            <a:r>
              <a:rPr sz="1000" b="0">
                <a:solidFill>
                  <a:srgbClr val="333333"/>
                </a:solidFill>
                <a:latin typeface="メイリオ"/>
                <a:ea typeface="メイリオ"/>
                <a:cs typeface="メイリオ"/>
              </a:rPr>
              <a:t>費用・時期・口コミを調べている</a:t>
            </a:r>
          </a:p>
          <a:p>
            <a:pPr algn="l"/>
            <a:r>
              <a:rPr sz="1000" b="0">
                <a:solidFill>
                  <a:srgbClr val="333333"/>
                </a:solidFill>
                <a:latin typeface="メイリオ"/>
                <a:ea typeface="メイリオ"/>
                <a:cs typeface="メイリオ"/>
              </a:rPr>
              <a:t>（前後検索・P8〜P11）</a:t>
            </a:r>
          </a:p>
        </p:txBody>
      </p:sp>
      <p:cxnSp>
        <p:nvCxnSpPr>
          <p:cNvPr id="22" name="Connector 21"/>
          <p:cNvCxnSpPr/>
          <p:nvPr/>
        </p:nvCxnSpPr>
        <p:spPr>
          <a:xfrm>
            <a:off x="3343199" y="1989000"/>
            <a:ext cx="140400"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3512399" y="1494000"/>
            <a:ext cx="2882399" cy="99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24" name="Rounded Rectangle 23"/>
          <p:cNvSpPr/>
          <p:nvPr/>
        </p:nvSpPr>
        <p:spPr>
          <a:xfrm>
            <a:off x="3512399" y="1494000"/>
            <a:ext cx="2882399" cy="223200"/>
          </a:xfrm>
          <a:prstGeom prst="roundRect">
            <a:avLst>
              <a:gd name="adj" fmla="val 20000"/>
            </a:avLst>
          </a:prstGeom>
          <a:solidFill>
            <a:srgbClr val="E4E9F2"/>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333333"/>
                </a:solidFill>
                <a:latin typeface="メイリオ"/>
                <a:ea typeface="メイリオ"/>
                <a:cs typeface="メイリオ"/>
              </a:rPr>
              <a:t>すべきこと</a:t>
            </a:r>
          </a:p>
        </p:txBody>
      </p:sp>
      <p:sp>
        <p:nvSpPr>
          <p:cNvPr id="25" name="Rectangle 24"/>
          <p:cNvSpPr/>
          <p:nvPr/>
        </p:nvSpPr>
        <p:spPr>
          <a:xfrm>
            <a:off x="3602399"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000" b="0">
                <a:solidFill>
                  <a:srgbClr val="333333"/>
                </a:solidFill>
                <a:latin typeface="メイリオ"/>
                <a:ea typeface="メイリオ"/>
                <a:cs typeface="メイリオ"/>
              </a:rPr>
              <a:t>売り込みより先に、</a:t>
            </a:r>
          </a:p>
          <a:p>
            <a:pPr algn="l"/>
            <a:r>
              <a:rPr sz="1000" b="0">
                <a:solidFill>
                  <a:srgbClr val="333333"/>
                </a:solidFill>
                <a:latin typeface="メイリオ"/>
                <a:ea typeface="メイリオ"/>
                <a:cs typeface="メイリオ"/>
              </a:rPr>
              <a:t>役に立つ情報を届ける</a:t>
            </a:r>
          </a:p>
        </p:txBody>
      </p:sp>
      <p:cxnSp>
        <p:nvCxnSpPr>
          <p:cNvPr id="26" name="Connector 25"/>
          <p:cNvCxnSpPr/>
          <p:nvPr/>
        </p:nvCxnSpPr>
        <p:spPr>
          <a:xfrm>
            <a:off x="6423599" y="1989000"/>
            <a:ext cx="140401"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6592800" y="1494000"/>
            <a:ext cx="2882399" cy="990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28" name="Rounded Rectangle 27"/>
          <p:cNvSpPr/>
          <p:nvPr/>
        </p:nvSpPr>
        <p:spPr>
          <a:xfrm>
            <a:off x="6592800" y="1494000"/>
            <a:ext cx="2882399" cy="223200"/>
          </a:xfrm>
          <a:prstGeom prst="roundRect">
            <a:avLst>
              <a:gd name="adj" fmla="val 2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FFFFFF"/>
                </a:solidFill>
                <a:latin typeface="メイリオ"/>
                <a:ea typeface="メイリオ"/>
                <a:cs typeface="メイリオ"/>
              </a:rPr>
              <a:t>LINE施策</a:t>
            </a:r>
          </a:p>
        </p:txBody>
      </p:sp>
      <p:sp>
        <p:nvSpPr>
          <p:cNvPr id="29" name="Rectangle 28"/>
          <p:cNvSpPr/>
          <p:nvPr/>
        </p:nvSpPr>
        <p:spPr>
          <a:xfrm>
            <a:off x="6682800"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000" b="0">
                <a:solidFill>
                  <a:srgbClr val="FFFFFF"/>
                </a:solidFill>
                <a:latin typeface="メイリオ"/>
                <a:ea typeface="メイリオ"/>
                <a:cs typeface="メイリオ"/>
              </a:rPr>
              <a:t>未入会の保護者向けに</a:t>
            </a:r>
          </a:p>
          <a:p>
            <a:pPr algn="l"/>
            <a:r>
              <a:rPr sz="1000" b="0">
                <a:solidFill>
                  <a:srgbClr val="FFFFFF"/>
                </a:solidFill>
                <a:latin typeface="メイリオ"/>
                <a:ea typeface="メイリオ"/>
                <a:cs typeface="メイリオ"/>
              </a:rPr>
              <a:t>14日間の配信を自動で送る</a:t>
            </a:r>
          </a:p>
        </p:txBody>
      </p:sp>
      <p:cxnSp>
        <p:nvCxnSpPr>
          <p:cNvPr id="30" name="Connector 29"/>
          <p:cNvCxnSpPr/>
          <p:nvPr/>
        </p:nvCxnSpPr>
        <p:spPr>
          <a:xfrm>
            <a:off x="576000" y="2951999"/>
            <a:ext cx="8748000" cy="0"/>
          </a:xfrm>
          <a:prstGeom prst="line">
            <a:avLst/>
          </a:prstGeom>
          <a:ln w="38100">
            <a:solidFill>
              <a:srgbClr val="1F285A"/>
            </a:solidFill>
          </a:ln>
        </p:spPr>
        <p:style>
          <a:lnRef idx="2">
            <a:schemeClr val="accent1"/>
          </a:lnRef>
          <a:fillRef idx="0">
            <a:schemeClr val="accent1"/>
          </a:fillRef>
          <a:effectRef idx="1">
            <a:schemeClr val="accent1"/>
          </a:effectRef>
          <a:fontRef idx="minor">
            <a:schemeClr val="tx1"/>
          </a:fontRef>
        </p:style>
      </p:cxnSp>
      <p:sp>
        <p:nvSpPr>
          <p:cNvPr id="31" name="Oval 30"/>
          <p:cNvSpPr/>
          <p:nvPr/>
        </p:nvSpPr>
        <p:spPr>
          <a:xfrm>
            <a:off x="1059599" y="2826000"/>
            <a:ext cx="251999" cy="251999"/>
          </a:xfrm>
          <a:prstGeom prst="ellips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32" name="Rectangle 31"/>
          <p:cNvSpPr/>
          <p:nvPr/>
        </p:nvSpPr>
        <p:spPr>
          <a:xfrm>
            <a:off x="432000" y="2556000"/>
            <a:ext cx="1507200" cy="234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ctr"/>
            <a:r>
              <a:rPr sz="1100" b="1">
                <a:solidFill>
                  <a:srgbClr val="1F285A"/>
                </a:solidFill>
                <a:latin typeface="メイリオ"/>
                <a:ea typeface="メイリオ"/>
                <a:cs typeface="メイリオ"/>
              </a:rPr>
              <a:t>登録した日</a:t>
            </a:r>
          </a:p>
        </p:txBody>
      </p:sp>
      <p:sp>
        <p:nvSpPr>
          <p:cNvPr id="33" name="Rounded Rectangle 32"/>
          <p:cNvSpPr/>
          <p:nvPr/>
        </p:nvSpPr>
        <p:spPr>
          <a:xfrm>
            <a:off x="468000" y="3186000"/>
            <a:ext cx="1435200" cy="360000"/>
          </a:xfrm>
          <a:prstGeom prst="roundRect">
            <a:avLst>
              <a:gd name="adj" fmla="val 15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50" b="1">
                <a:solidFill>
                  <a:srgbClr val="333333"/>
                </a:solidFill>
                <a:latin typeface="メイリオ"/>
                <a:ea typeface="メイリオ"/>
                <a:cs typeface="メイリオ"/>
              </a:rPr>
              <a:t>友だち追加の直後</a:t>
            </a:r>
          </a:p>
        </p:txBody>
      </p:sp>
      <p:sp>
        <p:nvSpPr>
          <p:cNvPr id="34" name="Rounded Rectangle 33"/>
          <p:cNvSpPr/>
          <p:nvPr/>
        </p:nvSpPr>
        <p:spPr>
          <a:xfrm>
            <a:off x="468000" y="3600000"/>
            <a:ext cx="1435200" cy="1080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333333"/>
                </a:solidFill>
                <a:latin typeface="メイリオ"/>
                <a:ea typeface="メイリオ"/>
                <a:cs typeface="メイリオ"/>
              </a:rPr>
              <a:t>あいさつ＋30秒診断</a:t>
            </a:r>
          </a:p>
        </p:txBody>
      </p:sp>
      <p:sp>
        <p:nvSpPr>
          <p:cNvPr id="35" name="Oval 34"/>
          <p:cNvSpPr/>
          <p:nvPr/>
        </p:nvSpPr>
        <p:spPr>
          <a:xfrm>
            <a:off x="2566800" y="2826000"/>
            <a:ext cx="251999" cy="251999"/>
          </a:xfrm>
          <a:prstGeom prst="ellips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36" name="Rectangle 35"/>
          <p:cNvSpPr/>
          <p:nvPr/>
        </p:nvSpPr>
        <p:spPr>
          <a:xfrm>
            <a:off x="1939200" y="2556000"/>
            <a:ext cx="1507200" cy="234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ctr"/>
            <a:r>
              <a:rPr sz="1100" b="1">
                <a:solidFill>
                  <a:srgbClr val="1F285A"/>
                </a:solidFill>
                <a:latin typeface="メイリオ"/>
                <a:ea typeface="メイリオ"/>
                <a:cs typeface="メイリオ"/>
              </a:rPr>
              <a:t>3日後</a:t>
            </a:r>
          </a:p>
        </p:txBody>
      </p:sp>
      <p:sp>
        <p:nvSpPr>
          <p:cNvPr id="37" name="Rounded Rectangle 36"/>
          <p:cNvSpPr/>
          <p:nvPr/>
        </p:nvSpPr>
        <p:spPr>
          <a:xfrm>
            <a:off x="1975200" y="3186000"/>
            <a:ext cx="1435200" cy="360000"/>
          </a:xfrm>
          <a:prstGeom prst="roundRect">
            <a:avLst>
              <a:gd name="adj" fmla="val 15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50" b="1">
                <a:solidFill>
                  <a:srgbClr val="333333"/>
                </a:solidFill>
                <a:latin typeface="メイリオ"/>
                <a:ea typeface="メイリオ"/>
                <a:cs typeface="メイリオ"/>
              </a:rPr>
              <a:t>比べ始めたころ</a:t>
            </a:r>
          </a:p>
        </p:txBody>
      </p:sp>
      <p:sp>
        <p:nvSpPr>
          <p:cNvPr id="38" name="Rounded Rectangle 37"/>
          <p:cNvSpPr/>
          <p:nvPr/>
        </p:nvSpPr>
        <p:spPr>
          <a:xfrm>
            <a:off x="1975200" y="3600000"/>
            <a:ext cx="1435200" cy="1080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333333"/>
                </a:solidFill>
                <a:latin typeface="メイリオ"/>
                <a:ea typeface="メイリオ"/>
                <a:cs typeface="メイリオ"/>
              </a:rPr>
              <a:t>家でできる勉強のコツ</a:t>
            </a:r>
          </a:p>
        </p:txBody>
      </p:sp>
      <p:sp>
        <p:nvSpPr>
          <p:cNvPr id="39" name="Oval 38"/>
          <p:cNvSpPr/>
          <p:nvPr/>
        </p:nvSpPr>
        <p:spPr>
          <a:xfrm>
            <a:off x="4074000" y="2826000"/>
            <a:ext cx="251999" cy="251999"/>
          </a:xfrm>
          <a:prstGeom prst="ellips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40" name="Rectangle 39"/>
          <p:cNvSpPr/>
          <p:nvPr/>
        </p:nvSpPr>
        <p:spPr>
          <a:xfrm>
            <a:off x="3446399" y="2556000"/>
            <a:ext cx="1507200" cy="234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ctr"/>
            <a:r>
              <a:rPr sz="1100" b="1">
                <a:solidFill>
                  <a:srgbClr val="1F285A"/>
                </a:solidFill>
                <a:latin typeface="メイリオ"/>
                <a:ea typeface="メイリオ"/>
                <a:cs typeface="メイリオ"/>
              </a:rPr>
              <a:t>5日後</a:t>
            </a:r>
          </a:p>
        </p:txBody>
      </p:sp>
      <p:sp>
        <p:nvSpPr>
          <p:cNvPr id="41" name="Rounded Rectangle 40"/>
          <p:cNvSpPr/>
          <p:nvPr/>
        </p:nvSpPr>
        <p:spPr>
          <a:xfrm>
            <a:off x="3482399" y="3186000"/>
            <a:ext cx="1435200" cy="360000"/>
          </a:xfrm>
          <a:prstGeom prst="roundRect">
            <a:avLst>
              <a:gd name="adj" fmla="val 15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50" b="1">
                <a:solidFill>
                  <a:srgbClr val="333333"/>
                </a:solidFill>
                <a:latin typeface="メイリオ"/>
                <a:ea typeface="メイリオ"/>
                <a:cs typeface="メイリオ"/>
              </a:rPr>
              <a:t>費用が気になるころ</a:t>
            </a:r>
          </a:p>
        </p:txBody>
      </p:sp>
      <p:sp>
        <p:nvSpPr>
          <p:cNvPr id="42" name="Rounded Rectangle 41"/>
          <p:cNvSpPr/>
          <p:nvPr/>
        </p:nvSpPr>
        <p:spPr>
          <a:xfrm>
            <a:off x="3482399" y="3600000"/>
            <a:ext cx="1435200" cy="1080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333333"/>
                </a:solidFill>
                <a:latin typeface="メイリオ"/>
                <a:ea typeface="メイリオ"/>
                <a:cs typeface="メイリオ"/>
              </a:rPr>
              <a:t>月謝＋講習費の年間の目安</a:t>
            </a:r>
          </a:p>
        </p:txBody>
      </p:sp>
      <p:sp>
        <p:nvSpPr>
          <p:cNvPr id="43" name="Oval 42"/>
          <p:cNvSpPr/>
          <p:nvPr/>
        </p:nvSpPr>
        <p:spPr>
          <a:xfrm>
            <a:off x="5581200" y="2826000"/>
            <a:ext cx="251999" cy="251999"/>
          </a:xfrm>
          <a:prstGeom prst="ellipse">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44" name="Rectangle 43"/>
          <p:cNvSpPr/>
          <p:nvPr/>
        </p:nvSpPr>
        <p:spPr>
          <a:xfrm>
            <a:off x="4953599" y="2556000"/>
            <a:ext cx="1507200" cy="234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ctr"/>
            <a:r>
              <a:rPr sz="1100" b="1">
                <a:solidFill>
                  <a:srgbClr val="00897B"/>
                </a:solidFill>
                <a:latin typeface="メイリオ"/>
                <a:ea typeface="メイリオ"/>
                <a:cs typeface="メイリオ"/>
              </a:rPr>
              <a:t>7日後</a:t>
            </a:r>
          </a:p>
        </p:txBody>
      </p:sp>
      <p:sp>
        <p:nvSpPr>
          <p:cNvPr id="45" name="Rounded Rectangle 44"/>
          <p:cNvSpPr/>
          <p:nvPr/>
        </p:nvSpPr>
        <p:spPr>
          <a:xfrm>
            <a:off x="4989599" y="3186000"/>
            <a:ext cx="1435200" cy="360000"/>
          </a:xfrm>
          <a:prstGeom prst="roundRect">
            <a:avLst>
              <a:gd name="adj" fmla="val 15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50" b="1">
                <a:solidFill>
                  <a:srgbClr val="333333"/>
                </a:solidFill>
                <a:latin typeface="メイリオ"/>
                <a:ea typeface="メイリオ"/>
                <a:cs typeface="メイリオ"/>
              </a:rPr>
              <a:t>候補を絞るころ</a:t>
            </a:r>
          </a:p>
        </p:txBody>
      </p:sp>
      <p:sp>
        <p:nvSpPr>
          <p:cNvPr id="46" name="Rounded Rectangle 45"/>
          <p:cNvSpPr/>
          <p:nvPr/>
        </p:nvSpPr>
        <p:spPr>
          <a:xfrm>
            <a:off x="4989599" y="3600000"/>
            <a:ext cx="1435200" cy="1080000"/>
          </a:xfrm>
          <a:prstGeom prst="roundRect">
            <a:avLst>
              <a:gd name="adj" fmla="val 8000"/>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FFFFFF"/>
                </a:solidFill>
                <a:latin typeface="メイリオ"/>
                <a:ea typeface="メイリオ"/>
                <a:cs typeface="メイリオ"/>
              </a:rPr>
              <a:t>同じタイプの子の事例＋体験のご案内①</a:t>
            </a:r>
          </a:p>
        </p:txBody>
      </p:sp>
      <p:sp>
        <p:nvSpPr>
          <p:cNvPr id="47" name="Oval 46"/>
          <p:cNvSpPr/>
          <p:nvPr/>
        </p:nvSpPr>
        <p:spPr>
          <a:xfrm>
            <a:off x="7088399" y="2826000"/>
            <a:ext cx="251999" cy="251999"/>
          </a:xfrm>
          <a:prstGeom prst="ellips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48" name="Rectangle 47"/>
          <p:cNvSpPr/>
          <p:nvPr/>
        </p:nvSpPr>
        <p:spPr>
          <a:xfrm>
            <a:off x="6460800" y="2556000"/>
            <a:ext cx="1507200" cy="234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ctr"/>
            <a:r>
              <a:rPr sz="1100" b="1">
                <a:solidFill>
                  <a:srgbClr val="1F285A"/>
                </a:solidFill>
                <a:latin typeface="メイリオ"/>
                <a:ea typeface="メイリオ"/>
                <a:cs typeface="メイリオ"/>
              </a:rPr>
              <a:t>10日後</a:t>
            </a:r>
          </a:p>
        </p:txBody>
      </p:sp>
      <p:sp>
        <p:nvSpPr>
          <p:cNvPr id="49" name="Rounded Rectangle 48"/>
          <p:cNvSpPr/>
          <p:nvPr/>
        </p:nvSpPr>
        <p:spPr>
          <a:xfrm>
            <a:off x="6496800" y="3186000"/>
            <a:ext cx="1435200" cy="360000"/>
          </a:xfrm>
          <a:prstGeom prst="roundRect">
            <a:avLst>
              <a:gd name="adj" fmla="val 15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50" b="1">
                <a:solidFill>
                  <a:srgbClr val="333333"/>
                </a:solidFill>
                <a:latin typeface="メイリオ"/>
                <a:ea typeface="メイリオ"/>
                <a:cs typeface="メイリオ"/>
              </a:rPr>
              <a:t>まだ予約していない人</a:t>
            </a:r>
          </a:p>
        </p:txBody>
      </p:sp>
      <p:sp>
        <p:nvSpPr>
          <p:cNvPr id="50" name="Rounded Rectangle 49"/>
          <p:cNvSpPr/>
          <p:nvPr/>
        </p:nvSpPr>
        <p:spPr>
          <a:xfrm>
            <a:off x="6496800" y="3600000"/>
            <a:ext cx="1435200" cy="1080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333333"/>
                </a:solidFill>
                <a:latin typeface="メイリオ"/>
                <a:ea typeface="メイリオ"/>
                <a:cs typeface="メイリオ"/>
              </a:rPr>
              <a:t>よくある質問（断ってもいい？総額は？）</a:t>
            </a:r>
          </a:p>
        </p:txBody>
      </p:sp>
      <p:sp>
        <p:nvSpPr>
          <p:cNvPr id="51" name="Oval 50"/>
          <p:cNvSpPr/>
          <p:nvPr/>
        </p:nvSpPr>
        <p:spPr>
          <a:xfrm>
            <a:off x="8595600" y="2826000"/>
            <a:ext cx="251999" cy="251999"/>
          </a:xfrm>
          <a:prstGeom prst="ellipse">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52" name="Rectangle 51"/>
          <p:cNvSpPr/>
          <p:nvPr/>
        </p:nvSpPr>
        <p:spPr>
          <a:xfrm>
            <a:off x="7968000" y="2556000"/>
            <a:ext cx="1507200" cy="234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ctr"/>
            <a:r>
              <a:rPr sz="1100" b="1">
                <a:solidFill>
                  <a:srgbClr val="00897B"/>
                </a:solidFill>
                <a:latin typeface="メイリオ"/>
                <a:ea typeface="メイリオ"/>
                <a:cs typeface="メイリオ"/>
              </a:rPr>
              <a:t>14日後</a:t>
            </a:r>
          </a:p>
        </p:txBody>
      </p:sp>
      <p:sp>
        <p:nvSpPr>
          <p:cNvPr id="53" name="Rounded Rectangle 52"/>
          <p:cNvSpPr/>
          <p:nvPr/>
        </p:nvSpPr>
        <p:spPr>
          <a:xfrm>
            <a:off x="8004000" y="3186000"/>
            <a:ext cx="1435200" cy="360000"/>
          </a:xfrm>
          <a:prstGeom prst="roundRect">
            <a:avLst>
              <a:gd name="adj" fmla="val 15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50" b="1">
                <a:solidFill>
                  <a:srgbClr val="333333"/>
                </a:solidFill>
                <a:latin typeface="メイリオ"/>
                <a:ea typeface="メイリオ"/>
                <a:cs typeface="メイリオ"/>
              </a:rPr>
              <a:t>決めるころ</a:t>
            </a:r>
          </a:p>
        </p:txBody>
      </p:sp>
      <p:sp>
        <p:nvSpPr>
          <p:cNvPr id="54" name="Rounded Rectangle 53"/>
          <p:cNvSpPr/>
          <p:nvPr/>
        </p:nvSpPr>
        <p:spPr>
          <a:xfrm>
            <a:off x="8004000" y="3600000"/>
            <a:ext cx="1435200" cy="1080000"/>
          </a:xfrm>
          <a:prstGeom prst="roundRect">
            <a:avLst>
              <a:gd name="adj" fmla="val 8000"/>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FFFFFF"/>
                </a:solidFill>
                <a:latin typeface="メイリオ"/>
                <a:ea typeface="メイリオ"/>
                <a:cs typeface="メイリオ"/>
              </a:rPr>
              <a:t>次の定期テストからの逆算＋体験のご案内②</a:t>
            </a:r>
          </a:p>
        </p:txBody>
      </p:sp>
      <p:sp>
        <p:nvSpPr>
          <p:cNvPr id="55" name="Rounded Rectangle 54"/>
          <p:cNvSpPr/>
          <p:nvPr/>
        </p:nvSpPr>
        <p:spPr>
          <a:xfrm>
            <a:off x="432000" y="4860000"/>
            <a:ext cx="4428000" cy="827999"/>
          </a:xfrm>
          <a:prstGeom prst="roundRect">
            <a:avLst>
              <a:gd name="adj" fmla="val 8000"/>
            </a:avLst>
          </a:prstGeom>
          <a:solidFill>
            <a:srgbClr val="F4F7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50" b="1">
                <a:solidFill>
                  <a:srgbClr val="00897B"/>
                </a:solidFill>
                <a:latin typeface="メイリオ"/>
                <a:ea typeface="メイリオ"/>
                <a:cs typeface="メイリオ"/>
              </a:rPr>
              <a:t>体験予約した人</a:t>
            </a:r>
          </a:p>
          <a:p>
            <a:pPr algn="ctr"/>
            <a:r>
              <a:rPr sz="1100" b="0">
                <a:solidFill>
                  <a:srgbClr val="333333"/>
                </a:solidFill>
                <a:latin typeface="メイリオ"/>
                <a:ea typeface="メイリオ"/>
                <a:cs typeface="メイリオ"/>
              </a:rPr>
              <a:t>→ 前日リマインドへ（P33）</a:t>
            </a:r>
          </a:p>
        </p:txBody>
      </p:sp>
      <p:sp>
        <p:nvSpPr>
          <p:cNvPr id="56" name="Rounded Rectangle 55"/>
          <p:cNvSpPr/>
          <p:nvPr/>
        </p:nvSpPr>
        <p:spPr>
          <a:xfrm>
            <a:off x="5047200" y="4860000"/>
            <a:ext cx="4428000" cy="827999"/>
          </a:xfrm>
          <a:prstGeom prst="roundRect">
            <a:avLst>
              <a:gd name="adj" fmla="val 8000"/>
            </a:avLst>
          </a:prstGeom>
          <a:solidFill>
            <a:srgbClr val="F4F7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50" b="1">
                <a:solidFill>
                  <a:srgbClr val="1F285A"/>
                </a:solidFill>
                <a:latin typeface="メイリオ"/>
                <a:ea typeface="メイリオ"/>
                <a:cs typeface="メイリオ"/>
              </a:rPr>
              <a:t>予約しなかった人</a:t>
            </a:r>
          </a:p>
          <a:p>
            <a:pPr algn="ctr"/>
            <a:r>
              <a:rPr sz="1100" b="0">
                <a:solidFill>
                  <a:srgbClr val="333333"/>
                </a:solidFill>
                <a:latin typeface="メイリオ"/>
                <a:ea typeface="メイリオ"/>
                <a:cs typeface="メイリオ"/>
              </a:rPr>
              <a:t>→ 週1回の配信へ合流し、講習の時期に再案内（⑥再育成）</a:t>
            </a:r>
          </a:p>
        </p:txBody>
      </p:sp>
    </p:spTree>
    <p:extLst>
      <p:ext uri="{BB962C8B-B14F-4D97-AF65-F5344CB8AC3E}">
        <p14:creationId xmlns:p14="http://schemas.microsoft.com/office/powerpoint/2010/main" val="1738656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67DEB-0D7B-8670-6390-E396B1D536B5}"/>
            </a:ext>
          </a:extLst>
        </p:cNvPr>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ステップ配信｜場面ごとのメッセージ（実文面）</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a:solidFill>
                  <a:srgbClr val="333333"/>
                </a:solidFill>
                <a:latin typeface="メイリオ"/>
                <a:ea typeface="メイリオ"/>
                <a:cs typeface="メイリオ"/>
              </a:rPr>
              <a:t>メッセージごとに「いつ・どの場面で送るか」を決めておく。</a:t>
            </a:r>
          </a:p>
          <a:p>
            <a:pPr algn="l">
              <a:lnSpc>
                <a:spcPct val="128000"/>
              </a:lnSpc>
            </a:pPr>
            <a:r>
              <a:rPr sz="1200">
                <a:solidFill>
                  <a:srgbClr val="333333"/>
                </a:solidFill>
                <a:latin typeface="メイリオ"/>
                <a:ea typeface="メイリオ"/>
                <a:cs typeface="メイリオ"/>
              </a:rPr>
              <a:t>通知の冒頭（最初の15文字ほど）で開かれるかが決まるので、冒頭も1通ずつ決める。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900">
                <a:solidFill>
                  <a:srgbClr val="7F7F7F"/>
                </a:solidFill>
                <a:latin typeface="メイリオ"/>
                <a:ea typeface="メイリオ"/>
                <a:cs typeface="メイリオ"/>
              </a:rPr>
              <a:t>※事例の数字は、貴社の実績（学年・期間・通った回数）に合わせて作成します。体験予約の前日のメッセージはP33</a:t>
            </a:r>
          </a:p>
        </p:txBody>
      </p:sp>
      <p:sp>
        <p:nvSpPr>
          <p:cNvPr id="15" name="Pentagon 14"/>
          <p:cNvSpPr/>
          <p:nvPr/>
        </p:nvSpPr>
        <p:spPr>
          <a:xfrm>
            <a:off x="432000" y="590400"/>
            <a:ext cx="1111500" cy="180000"/>
          </a:xfrm>
          <a:prstGeom prst="homePlate">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①接触</a:t>
            </a:r>
          </a:p>
        </p:txBody>
      </p:sp>
      <p:sp>
        <p:nvSpPr>
          <p:cNvPr id="16" name="Chevron 15"/>
          <p:cNvSpPr/>
          <p:nvPr/>
        </p:nvSpPr>
        <p:spPr>
          <a:xfrm>
            <a:off x="15651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②離脱</a:t>
            </a:r>
          </a:p>
        </p:txBody>
      </p:sp>
      <p:sp>
        <p:nvSpPr>
          <p:cNvPr id="17" name="Chevron 16"/>
          <p:cNvSpPr/>
          <p:nvPr/>
        </p:nvSpPr>
        <p:spPr>
          <a:xfrm>
            <a:off x="26982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③育成</a:t>
            </a:r>
          </a:p>
        </p:txBody>
      </p:sp>
      <p:sp>
        <p:nvSpPr>
          <p:cNvPr id="18" name="Chevron 17"/>
          <p:cNvSpPr/>
          <p:nvPr/>
        </p:nvSpPr>
        <p:spPr>
          <a:xfrm>
            <a:off x="38312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④リード獲得</a:t>
            </a:r>
          </a:p>
        </p:txBody>
      </p:sp>
      <p:sp>
        <p:nvSpPr>
          <p:cNvPr id="19" name="Chevron 18"/>
          <p:cNvSpPr/>
          <p:nvPr/>
        </p:nvSpPr>
        <p:spPr>
          <a:xfrm>
            <a:off x="49644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⑤リード有効化</a:t>
            </a:r>
          </a:p>
        </p:txBody>
      </p:sp>
      <p:sp>
        <p:nvSpPr>
          <p:cNvPr id="20" name="Chevron 19"/>
          <p:cNvSpPr/>
          <p:nvPr/>
        </p:nvSpPr>
        <p:spPr>
          <a:xfrm>
            <a:off x="60975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⑥再育成</a:t>
            </a:r>
          </a:p>
        </p:txBody>
      </p:sp>
      <p:sp>
        <p:nvSpPr>
          <p:cNvPr id="21" name="Chevron 20"/>
          <p:cNvSpPr/>
          <p:nvPr/>
        </p:nvSpPr>
        <p:spPr>
          <a:xfrm>
            <a:off x="72305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⑦入会（契約）</a:t>
            </a:r>
          </a:p>
        </p:txBody>
      </p:sp>
      <p:sp>
        <p:nvSpPr>
          <p:cNvPr id="22" name="Chevron 21"/>
          <p:cNvSpPr/>
          <p:nvPr/>
        </p:nvSpPr>
        <p:spPr>
          <a:xfrm>
            <a:off x="83636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⑧紹介</a:t>
            </a:r>
          </a:p>
        </p:txBody>
      </p:sp>
      <p:sp>
        <p:nvSpPr>
          <p:cNvPr id="23" name="Rounded Rectangle 22"/>
          <p:cNvSpPr/>
          <p:nvPr/>
        </p:nvSpPr>
        <p:spPr>
          <a:xfrm>
            <a:off x="432000" y="1494000"/>
            <a:ext cx="2908800" cy="432000"/>
          </a:xfrm>
          <a:prstGeom prst="roundRect">
            <a:avLst>
              <a:gd name="adj" fmla="val 12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00" b="1">
                <a:solidFill>
                  <a:srgbClr val="FFFFFF"/>
                </a:solidFill>
                <a:latin typeface="メイリオ"/>
                <a:ea typeface="メイリオ"/>
                <a:cs typeface="メイリオ"/>
              </a:rPr>
              <a:t>【登録から3日後】</a:t>
            </a:r>
          </a:p>
          <a:p>
            <a:pPr algn="ctr"/>
            <a:r>
              <a:rPr sz="1000" b="0">
                <a:solidFill>
                  <a:srgbClr val="FFFFFF"/>
                </a:solidFill>
                <a:latin typeface="メイリオ"/>
                <a:ea typeface="メイリオ"/>
                <a:cs typeface="メイリオ"/>
              </a:rPr>
              <a:t>比べ始めたころ</a:t>
            </a:r>
          </a:p>
        </p:txBody>
      </p:sp>
      <p:sp>
        <p:nvSpPr>
          <p:cNvPr id="24" name="Rounded Rectangle 23"/>
          <p:cNvSpPr/>
          <p:nvPr/>
        </p:nvSpPr>
        <p:spPr>
          <a:xfrm>
            <a:off x="432000" y="1980000"/>
            <a:ext cx="2908800" cy="270000"/>
          </a:xfrm>
          <a:prstGeom prst="roundRect">
            <a:avLst>
              <a:gd name="adj" fmla="val 15000"/>
            </a:avLst>
          </a:prstGeom>
          <a:solidFill>
            <a:srgbClr val="E4E9F2"/>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950" b="1">
                <a:solidFill>
                  <a:srgbClr val="333333"/>
                </a:solidFill>
                <a:latin typeface="メイリオ"/>
                <a:ea typeface="メイリオ"/>
                <a:cs typeface="メイリオ"/>
              </a:rPr>
              <a:t>通知の冒頭：テスト後、9割のご家庭がしない事</a:t>
            </a:r>
          </a:p>
        </p:txBody>
      </p:sp>
      <p:sp>
        <p:nvSpPr>
          <p:cNvPr id="25" name="Rectangle 24"/>
          <p:cNvSpPr/>
          <p:nvPr/>
        </p:nvSpPr>
        <p:spPr>
          <a:xfrm>
            <a:off x="432000" y="2304000"/>
            <a:ext cx="2908800" cy="3851999"/>
          </a:xfrm>
          <a:prstGeom prst="rect">
            <a:avLst/>
          </a:prstGeom>
          <a:solidFill>
            <a:srgbClr val="C9D6E8"/>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26" name="Rounded Rectangle 25"/>
          <p:cNvSpPr/>
          <p:nvPr/>
        </p:nvSpPr>
        <p:spPr>
          <a:xfrm>
            <a:off x="540000" y="2394000"/>
            <a:ext cx="2664000" cy="19800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t"/>
          <a:lstStyle/>
          <a:p>
            <a:pPr algn="l"/>
            <a:r>
              <a:rPr sz="850" b="0">
                <a:solidFill>
                  <a:srgbClr val="333333"/>
                </a:solidFill>
                <a:latin typeface="メイリオ"/>
                <a:ea typeface="メイリオ"/>
                <a:cs typeface="メイリオ"/>
              </a:rPr>
              <a:t>◯◯塾の佐藤です📚</a:t>
            </a:r>
          </a:p>
          <a:p>
            <a:pPr algn="l"/>
            <a:r>
              <a:rPr sz="850" b="0">
                <a:solidFill>
                  <a:srgbClr val="333333"/>
                </a:solidFill>
                <a:latin typeface="メイリオ"/>
                <a:ea typeface="メイリオ"/>
                <a:cs typeface="メイリオ"/>
              </a:rPr>
              <a:t>塾を探す前に、今日からできることを1つ</a:t>
            </a:r>
          </a:p>
          <a:p>
            <a:pPr algn="l"/>
            <a:r>
              <a:rPr sz="850" b="0">
                <a:solidFill>
                  <a:srgbClr val="333333"/>
                </a:solidFill>
                <a:latin typeface="メイリオ"/>
                <a:ea typeface="メイリオ"/>
                <a:cs typeface="メイリオ"/>
              </a:rPr>
              <a:t>だけ。</a:t>
            </a:r>
          </a:p>
          <a:p>
            <a:pPr algn="l"/>
            <a:endParaRPr sz="850" b="0">
              <a:solidFill>
                <a:srgbClr val="333333"/>
              </a:solidFill>
              <a:latin typeface="メイリオ"/>
              <a:ea typeface="メイリオ"/>
              <a:cs typeface="メイリオ"/>
            </a:endParaRPr>
          </a:p>
          <a:p>
            <a:pPr algn="l"/>
            <a:r>
              <a:rPr sz="850" b="0">
                <a:solidFill>
                  <a:srgbClr val="333333"/>
                </a:solidFill>
                <a:latin typeface="メイリオ"/>
                <a:ea typeface="メイリオ"/>
                <a:cs typeface="メイリオ"/>
              </a:rPr>
              <a:t>伸びる子の家庭は、テスト返却の日に</a:t>
            </a:r>
          </a:p>
          <a:p>
            <a:pPr algn="l"/>
            <a:r>
              <a:rPr sz="850" b="0">
                <a:solidFill>
                  <a:srgbClr val="333333"/>
                </a:solidFill>
                <a:latin typeface="メイリオ"/>
                <a:ea typeface="メイリオ"/>
                <a:cs typeface="メイリオ"/>
              </a:rPr>
              <a:t>これをやっています👇</a:t>
            </a:r>
          </a:p>
          <a:p>
            <a:pPr algn="l"/>
            <a:r>
              <a:rPr sz="850" b="0">
                <a:solidFill>
                  <a:srgbClr val="333333"/>
                </a:solidFill>
                <a:latin typeface="メイリオ"/>
                <a:ea typeface="メイリオ"/>
                <a:cs typeface="メイリオ"/>
              </a:rPr>
              <a:t>✅ 間違いを「ケアレスミス」と</a:t>
            </a:r>
          </a:p>
          <a:p>
            <a:pPr algn="l"/>
            <a:r>
              <a:rPr sz="850" b="0">
                <a:solidFill>
                  <a:srgbClr val="333333"/>
                </a:solidFill>
                <a:latin typeface="メイリオ"/>
                <a:ea typeface="メイリオ"/>
                <a:cs typeface="メイリオ"/>
              </a:rPr>
              <a:t>　「わからなかった」に仕分け</a:t>
            </a:r>
          </a:p>
          <a:p>
            <a:pPr algn="l"/>
            <a:r>
              <a:rPr sz="850" b="0">
                <a:solidFill>
                  <a:srgbClr val="333333"/>
                </a:solidFill>
                <a:latin typeface="メイリオ"/>
                <a:ea typeface="メイリオ"/>
                <a:cs typeface="メイリオ"/>
              </a:rPr>
              <a:t>✅ 「わからなかった」だけ付箋</a:t>
            </a:r>
          </a:p>
          <a:p>
            <a:pPr algn="l"/>
            <a:r>
              <a:rPr sz="850" b="0">
                <a:solidFill>
                  <a:srgbClr val="333333"/>
                </a:solidFill>
                <a:latin typeface="メイリオ"/>
                <a:ea typeface="メイリオ"/>
                <a:cs typeface="メイリオ"/>
              </a:rPr>
              <a:t>✅ 週末に付箋の問題だけ解き直す</a:t>
            </a:r>
          </a:p>
          <a:p>
            <a:pPr algn="l"/>
            <a:endParaRPr sz="850" b="0">
              <a:solidFill>
                <a:srgbClr val="333333"/>
              </a:solidFill>
              <a:latin typeface="メイリオ"/>
              <a:ea typeface="メイリオ"/>
              <a:cs typeface="メイリオ"/>
            </a:endParaRPr>
          </a:p>
          <a:p>
            <a:pPr algn="l"/>
            <a:r>
              <a:rPr sz="850" b="0">
                <a:solidFill>
                  <a:srgbClr val="333333"/>
                </a:solidFill>
                <a:latin typeface="メイリオ"/>
                <a:ea typeface="メイリオ"/>
                <a:cs typeface="メイリオ"/>
              </a:rPr>
              <a:t>塾はその先、「付箋が多すぎて手に負えな</a:t>
            </a:r>
          </a:p>
          <a:p>
            <a:pPr algn="l"/>
            <a:r>
              <a:rPr sz="850" b="0">
                <a:solidFill>
                  <a:srgbClr val="333333"/>
                </a:solidFill>
                <a:latin typeface="メイリオ"/>
                <a:ea typeface="メイリオ"/>
                <a:cs typeface="メイリオ"/>
              </a:rPr>
              <a:t>い」ときの選択肢で大丈夫です😊</a:t>
            </a:r>
          </a:p>
        </p:txBody>
      </p:sp>
      <p:sp>
        <p:nvSpPr>
          <p:cNvPr id="27" name="Rounded Rectangle 26"/>
          <p:cNvSpPr/>
          <p:nvPr/>
        </p:nvSpPr>
        <p:spPr>
          <a:xfrm>
            <a:off x="3499199" y="1494000"/>
            <a:ext cx="2908800" cy="432000"/>
          </a:xfrm>
          <a:prstGeom prst="roundRect">
            <a:avLst>
              <a:gd name="adj" fmla="val 12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00" b="1">
                <a:solidFill>
                  <a:srgbClr val="FFFFFF"/>
                </a:solidFill>
                <a:latin typeface="メイリオ"/>
                <a:ea typeface="メイリオ"/>
                <a:cs typeface="メイリオ"/>
              </a:rPr>
              <a:t>【登録から7日後】</a:t>
            </a:r>
          </a:p>
          <a:p>
            <a:pPr algn="ctr"/>
            <a:r>
              <a:rPr sz="1000" b="0">
                <a:solidFill>
                  <a:srgbClr val="FFFFFF"/>
                </a:solidFill>
                <a:latin typeface="メイリオ"/>
                <a:ea typeface="メイリオ"/>
                <a:cs typeface="メイリオ"/>
              </a:rPr>
              <a:t>候補を絞るころ</a:t>
            </a:r>
          </a:p>
        </p:txBody>
      </p:sp>
      <p:sp>
        <p:nvSpPr>
          <p:cNvPr id="28" name="Rounded Rectangle 27"/>
          <p:cNvSpPr/>
          <p:nvPr/>
        </p:nvSpPr>
        <p:spPr>
          <a:xfrm>
            <a:off x="3499199" y="1980000"/>
            <a:ext cx="2908800" cy="270000"/>
          </a:xfrm>
          <a:prstGeom prst="roundRect">
            <a:avLst>
              <a:gd name="adj" fmla="val 15000"/>
            </a:avLst>
          </a:prstGeom>
          <a:solidFill>
            <a:srgbClr val="E4E9F2"/>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950" b="1">
                <a:solidFill>
                  <a:srgbClr val="333333"/>
                </a:solidFill>
                <a:latin typeface="メイリオ"/>
                <a:ea typeface="メイリオ"/>
                <a:cs typeface="メイリオ"/>
              </a:rPr>
              <a:t>通知の冒頭：同じ悩みだった◯年生の話</a:t>
            </a:r>
          </a:p>
        </p:txBody>
      </p:sp>
      <p:sp>
        <p:nvSpPr>
          <p:cNvPr id="29" name="Rectangle 28"/>
          <p:cNvSpPr/>
          <p:nvPr/>
        </p:nvSpPr>
        <p:spPr>
          <a:xfrm>
            <a:off x="3499199" y="2304000"/>
            <a:ext cx="2908800" cy="3851999"/>
          </a:xfrm>
          <a:prstGeom prst="rect">
            <a:avLst/>
          </a:prstGeom>
          <a:solidFill>
            <a:srgbClr val="C9D6E8"/>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30" name="Rounded Rectangle 29"/>
          <p:cNvSpPr/>
          <p:nvPr/>
        </p:nvSpPr>
        <p:spPr>
          <a:xfrm>
            <a:off x="3607200" y="2394000"/>
            <a:ext cx="2664000" cy="16920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t"/>
          <a:lstStyle/>
          <a:p>
            <a:pPr algn="l"/>
            <a:r>
              <a:rPr sz="850" b="0">
                <a:solidFill>
                  <a:srgbClr val="333333"/>
                </a:solidFill>
                <a:latin typeface="メイリオ"/>
                <a:ea typeface="メイリオ"/>
                <a:cs typeface="メイリオ"/>
              </a:rPr>
              <a:t>◯◯塾の佐藤です。</a:t>
            </a:r>
          </a:p>
          <a:p>
            <a:pPr algn="l"/>
            <a:r>
              <a:rPr sz="850" b="0">
                <a:solidFill>
                  <a:srgbClr val="333333"/>
                </a:solidFill>
                <a:latin typeface="メイリオ"/>
                <a:ea typeface="メイリオ"/>
                <a:cs typeface="メイリオ"/>
              </a:rPr>
              <a:t>診断で「◯◯タイプ」だったお子さまと</a:t>
            </a:r>
          </a:p>
          <a:p>
            <a:pPr algn="l"/>
            <a:r>
              <a:rPr sz="850" b="0">
                <a:solidFill>
                  <a:srgbClr val="333333"/>
                </a:solidFill>
                <a:latin typeface="メイリオ"/>
                <a:ea typeface="メイリオ"/>
                <a:cs typeface="メイリオ"/>
              </a:rPr>
              <a:t>同じタイプの、中2のAさんのお話です。</a:t>
            </a:r>
          </a:p>
          <a:p>
            <a:pPr algn="l"/>
            <a:endParaRPr sz="850" b="0">
              <a:solidFill>
                <a:srgbClr val="333333"/>
              </a:solidFill>
              <a:latin typeface="メイリオ"/>
              <a:ea typeface="メイリオ"/>
              <a:cs typeface="メイリオ"/>
            </a:endParaRPr>
          </a:p>
          <a:p>
            <a:pPr algn="l"/>
            <a:r>
              <a:rPr sz="850" b="0">
                <a:solidFill>
                  <a:srgbClr val="333333"/>
                </a:solidFill>
                <a:latin typeface="メイリオ"/>
                <a:ea typeface="メイリオ"/>
                <a:cs typeface="メイリオ"/>
              </a:rPr>
              <a:t>入塾前は「授業についていけない」が</a:t>
            </a:r>
          </a:p>
          <a:p>
            <a:pPr algn="l"/>
            <a:r>
              <a:rPr sz="850" b="0">
                <a:solidFill>
                  <a:srgbClr val="333333"/>
                </a:solidFill>
                <a:latin typeface="メイリオ"/>
                <a:ea typeface="メイリオ"/>
                <a:cs typeface="メイリオ"/>
              </a:rPr>
              <a:t>悩みでしたが、分からない所まで戻った</a:t>
            </a:r>
          </a:p>
          <a:p>
            <a:pPr algn="l"/>
            <a:r>
              <a:rPr sz="850" b="0">
                <a:solidFill>
                  <a:srgbClr val="333333"/>
                </a:solidFill>
                <a:latin typeface="メイリオ"/>
                <a:ea typeface="メイリオ"/>
                <a:cs typeface="メイリオ"/>
              </a:rPr>
              <a:t>ことで、3ヶ月後の定期テストで</a:t>
            </a:r>
          </a:p>
          <a:p>
            <a:pPr algn="l"/>
            <a:r>
              <a:rPr sz="850" b="0">
                <a:solidFill>
                  <a:srgbClr val="333333"/>
                </a:solidFill>
                <a:latin typeface="メイリオ"/>
                <a:ea typeface="メイリオ"/>
                <a:cs typeface="メイリオ"/>
              </a:rPr>
              <a:t>数学が◯点→◯点に。</a:t>
            </a:r>
          </a:p>
          <a:p>
            <a:pPr algn="l"/>
            <a:endParaRPr sz="850" b="0">
              <a:solidFill>
                <a:srgbClr val="333333"/>
              </a:solidFill>
              <a:latin typeface="メイリオ"/>
              <a:ea typeface="メイリオ"/>
              <a:cs typeface="メイリオ"/>
            </a:endParaRPr>
          </a:p>
          <a:p>
            <a:pPr algn="l"/>
            <a:r>
              <a:rPr sz="850" b="0">
                <a:solidFill>
                  <a:srgbClr val="333333"/>
                </a:solidFill>
                <a:latin typeface="メイリオ"/>
                <a:ea typeface="メイリオ"/>
                <a:cs typeface="メイリオ"/>
              </a:rPr>
              <a:t>お子さまに合うかどうかは、</a:t>
            </a:r>
          </a:p>
          <a:p>
            <a:pPr algn="l"/>
            <a:r>
              <a:rPr sz="850" b="0">
                <a:solidFill>
                  <a:srgbClr val="333333"/>
                </a:solidFill>
                <a:latin typeface="メイリオ"/>
                <a:ea typeface="メイリオ"/>
                <a:cs typeface="メイリオ"/>
              </a:rPr>
              <a:t>体験で確かめられます。</a:t>
            </a:r>
          </a:p>
        </p:txBody>
      </p:sp>
      <p:sp>
        <p:nvSpPr>
          <p:cNvPr id="31" name="Rounded Rectangle 30"/>
          <p:cNvSpPr/>
          <p:nvPr/>
        </p:nvSpPr>
        <p:spPr>
          <a:xfrm>
            <a:off x="3607200" y="4158000"/>
            <a:ext cx="2664000" cy="270000"/>
          </a:xfrm>
          <a:prstGeom prst="roundRect">
            <a:avLst>
              <a:gd name="adj" fmla="val 30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00" b="1">
                <a:solidFill>
                  <a:srgbClr val="FFFFFF"/>
                </a:solidFill>
                <a:latin typeface="メイリオ"/>
                <a:ea typeface="メイリオ"/>
                <a:cs typeface="メイリオ"/>
              </a:rPr>
              <a:t>▶ 無料体験の空き枠を見る</a:t>
            </a:r>
          </a:p>
        </p:txBody>
      </p:sp>
      <p:sp>
        <p:nvSpPr>
          <p:cNvPr id="32" name="Rounded Rectangle 31"/>
          <p:cNvSpPr/>
          <p:nvPr/>
        </p:nvSpPr>
        <p:spPr>
          <a:xfrm>
            <a:off x="6566399" y="1494000"/>
            <a:ext cx="2908800" cy="432000"/>
          </a:xfrm>
          <a:prstGeom prst="roundRect">
            <a:avLst>
              <a:gd name="adj" fmla="val 12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00" b="1">
                <a:solidFill>
                  <a:srgbClr val="FFFFFF"/>
                </a:solidFill>
                <a:latin typeface="メイリオ"/>
                <a:ea typeface="メイリオ"/>
                <a:cs typeface="メイリオ"/>
              </a:rPr>
              <a:t>【登録から14日後】</a:t>
            </a:r>
          </a:p>
          <a:p>
            <a:pPr algn="ctr"/>
            <a:r>
              <a:rPr sz="1000" b="0">
                <a:solidFill>
                  <a:srgbClr val="FFFFFF"/>
                </a:solidFill>
                <a:latin typeface="メイリオ"/>
                <a:ea typeface="メイリオ"/>
                <a:cs typeface="メイリオ"/>
              </a:rPr>
              <a:t>決めるころ</a:t>
            </a:r>
          </a:p>
        </p:txBody>
      </p:sp>
      <p:sp>
        <p:nvSpPr>
          <p:cNvPr id="33" name="Rounded Rectangle 32"/>
          <p:cNvSpPr/>
          <p:nvPr/>
        </p:nvSpPr>
        <p:spPr>
          <a:xfrm>
            <a:off x="6566399" y="1980000"/>
            <a:ext cx="2908800" cy="270000"/>
          </a:xfrm>
          <a:prstGeom prst="roundRect">
            <a:avLst>
              <a:gd name="adj" fmla="val 15000"/>
            </a:avLst>
          </a:prstGeom>
          <a:solidFill>
            <a:srgbClr val="E4E9F2"/>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950" b="1">
                <a:solidFill>
                  <a:srgbClr val="333333"/>
                </a:solidFill>
                <a:latin typeface="メイリオ"/>
                <a:ea typeface="メイリオ"/>
                <a:cs typeface="メイリオ"/>
              </a:rPr>
              <a:t>通知の冒頭：次のテストまで、あと◯日です</a:t>
            </a:r>
          </a:p>
        </p:txBody>
      </p:sp>
      <p:sp>
        <p:nvSpPr>
          <p:cNvPr id="34" name="Rectangle 33"/>
          <p:cNvSpPr/>
          <p:nvPr/>
        </p:nvSpPr>
        <p:spPr>
          <a:xfrm>
            <a:off x="6566399" y="2304000"/>
            <a:ext cx="2908800" cy="3851999"/>
          </a:xfrm>
          <a:prstGeom prst="rect">
            <a:avLst/>
          </a:prstGeom>
          <a:solidFill>
            <a:srgbClr val="C9D6E8"/>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35" name="Rounded Rectangle 34"/>
          <p:cNvSpPr/>
          <p:nvPr/>
        </p:nvSpPr>
        <p:spPr>
          <a:xfrm>
            <a:off x="6674400" y="2394000"/>
            <a:ext cx="2664000" cy="16920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t"/>
          <a:lstStyle/>
          <a:p>
            <a:pPr algn="l"/>
            <a:r>
              <a:rPr sz="850" b="0">
                <a:solidFill>
                  <a:srgbClr val="333333"/>
                </a:solidFill>
                <a:latin typeface="メイリオ"/>
                <a:ea typeface="メイリオ"/>
                <a:cs typeface="メイリオ"/>
              </a:rPr>
              <a:t>◯◯塾の佐藤です。</a:t>
            </a:r>
          </a:p>
          <a:p>
            <a:pPr algn="l"/>
            <a:r>
              <a:rPr sz="850" b="0">
                <a:solidFill>
                  <a:srgbClr val="333333"/>
                </a:solidFill>
                <a:latin typeface="メイリオ"/>
                <a:ea typeface="メイリオ"/>
                <a:cs typeface="メイリオ"/>
              </a:rPr>
              <a:t>次の定期テストまで、あと約◯日。</a:t>
            </a:r>
          </a:p>
          <a:p>
            <a:pPr algn="l"/>
            <a:endParaRPr sz="850" b="0">
              <a:solidFill>
                <a:srgbClr val="333333"/>
              </a:solidFill>
              <a:latin typeface="メイリオ"/>
              <a:ea typeface="メイリオ"/>
              <a:cs typeface="メイリオ"/>
            </a:endParaRPr>
          </a:p>
          <a:p>
            <a:pPr algn="l"/>
            <a:r>
              <a:rPr sz="850" b="0">
                <a:solidFill>
                  <a:srgbClr val="333333"/>
                </a:solidFill>
                <a:latin typeface="メイリオ"/>
                <a:ea typeface="メイリオ"/>
                <a:cs typeface="メイリオ"/>
              </a:rPr>
              <a:t>入塾手続きから授業開始まで約1週間、</a:t>
            </a:r>
          </a:p>
          <a:p>
            <a:pPr algn="l"/>
            <a:r>
              <a:rPr sz="850" b="0">
                <a:solidFill>
                  <a:srgbClr val="333333"/>
                </a:solidFill>
                <a:latin typeface="メイリオ"/>
                <a:ea typeface="メイリオ"/>
                <a:cs typeface="メイリオ"/>
              </a:rPr>
              <a:t>テスト対策には3週間ほどかかるため、</a:t>
            </a:r>
          </a:p>
          <a:p>
            <a:pPr algn="l"/>
            <a:r>
              <a:rPr sz="850" b="0">
                <a:solidFill>
                  <a:srgbClr val="333333"/>
                </a:solidFill>
                <a:latin typeface="メイリオ"/>
                <a:ea typeface="メイリオ"/>
                <a:cs typeface="メイリオ"/>
              </a:rPr>
              <a:t>ご検討中なら今週がひとつの分かれ目</a:t>
            </a:r>
          </a:p>
          <a:p>
            <a:pPr algn="l"/>
            <a:r>
              <a:rPr sz="850" b="0">
                <a:solidFill>
                  <a:srgbClr val="333333"/>
                </a:solidFill>
                <a:latin typeface="メイリオ"/>
                <a:ea typeface="メイリオ"/>
                <a:cs typeface="メイリオ"/>
              </a:rPr>
              <a:t>です。</a:t>
            </a:r>
          </a:p>
          <a:p>
            <a:pPr algn="l"/>
            <a:endParaRPr sz="850" b="0">
              <a:solidFill>
                <a:srgbClr val="333333"/>
              </a:solidFill>
              <a:latin typeface="メイリオ"/>
              <a:ea typeface="メイリオ"/>
              <a:cs typeface="メイリオ"/>
            </a:endParaRPr>
          </a:p>
          <a:p>
            <a:pPr algn="l"/>
            <a:r>
              <a:rPr sz="850" b="0">
                <a:solidFill>
                  <a:srgbClr val="333333"/>
                </a:solidFill>
                <a:latin typeface="メイリオ"/>
                <a:ea typeface="メイリオ"/>
                <a:cs typeface="メイリオ"/>
              </a:rPr>
              <a:t>「まだ迷っている」段階でも大丈夫。</a:t>
            </a:r>
          </a:p>
          <a:p>
            <a:pPr algn="l"/>
            <a:r>
              <a:rPr sz="850" b="0">
                <a:solidFill>
                  <a:srgbClr val="333333"/>
                </a:solidFill>
                <a:latin typeface="メイリオ"/>
                <a:ea typeface="メイリオ"/>
                <a:cs typeface="メイリオ"/>
              </a:rPr>
              <a:t>体験だけ受けて、テスト後にゆっくり</a:t>
            </a:r>
          </a:p>
          <a:p>
            <a:pPr algn="l"/>
            <a:r>
              <a:rPr sz="850" b="0">
                <a:solidFill>
                  <a:srgbClr val="333333"/>
                </a:solidFill>
                <a:latin typeface="メイリオ"/>
                <a:ea typeface="メイリオ"/>
                <a:cs typeface="メイリオ"/>
              </a:rPr>
              <a:t>決めたご家庭も多いです😊</a:t>
            </a:r>
          </a:p>
        </p:txBody>
      </p:sp>
      <p:sp>
        <p:nvSpPr>
          <p:cNvPr id="36" name="Rounded Rectangle 35"/>
          <p:cNvSpPr/>
          <p:nvPr/>
        </p:nvSpPr>
        <p:spPr>
          <a:xfrm>
            <a:off x="6674400" y="4158000"/>
            <a:ext cx="2664000" cy="270000"/>
          </a:xfrm>
          <a:prstGeom prst="roundRect">
            <a:avLst>
              <a:gd name="adj" fmla="val 30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00" b="1">
                <a:solidFill>
                  <a:srgbClr val="FFFFFF"/>
                </a:solidFill>
                <a:latin typeface="メイリオ"/>
                <a:ea typeface="メイリオ"/>
                <a:cs typeface="メイリオ"/>
              </a:rPr>
              <a:t>▶ 今週の体験枠を見る</a:t>
            </a:r>
          </a:p>
        </p:txBody>
      </p:sp>
    </p:spTree>
    <p:extLst>
      <p:ext uri="{BB962C8B-B14F-4D97-AF65-F5344CB8AC3E}">
        <p14:creationId xmlns:p14="http://schemas.microsoft.com/office/powerpoint/2010/main" val="10655606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D1AF94-39A6-ED70-5918-C4DFB0937C84}"/>
            </a:ext>
          </a:extLst>
        </p:cNvPr>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ステップ配信｜体験予約から入会まで</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a:solidFill>
                  <a:srgbClr val="333333"/>
                </a:solidFill>
                <a:latin typeface="メイリオ"/>
                <a:ea typeface="メイリオ"/>
                <a:cs typeface="メイリオ"/>
              </a:rPr>
              <a:t>体験を予約しても、当日来ない人がいる。理由の多くは「忘れた」「持ち物が不安」「変更の仕方が分からない」。</a:t>
            </a:r>
          </a:p>
          <a:p>
            <a:pPr algn="l">
              <a:lnSpc>
                <a:spcPct val="128000"/>
              </a:lnSpc>
            </a:pPr>
            <a:r>
              <a:rPr sz="1200">
                <a:solidFill>
                  <a:srgbClr val="333333"/>
                </a:solidFill>
                <a:latin typeface="メイリオ"/>
                <a:ea typeface="メイリオ"/>
                <a:cs typeface="メイリオ"/>
              </a:rPr>
              <a:t>前日までに先回りして、体験に来てもらい、入会につなげる。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900">
                <a:solidFill>
                  <a:srgbClr val="7F7F7F"/>
                </a:solidFill>
                <a:latin typeface="メイリオ"/>
                <a:ea typeface="メイリオ"/>
                <a:cs typeface="メイリオ"/>
              </a:rPr>
              <a:t>※体験に来ない割合・改善の幅は、貴社の実績をもとに確認します</a:t>
            </a:r>
          </a:p>
        </p:txBody>
      </p:sp>
      <p:sp>
        <p:nvSpPr>
          <p:cNvPr id="32" name="Pentagon 31"/>
          <p:cNvSpPr/>
          <p:nvPr/>
        </p:nvSpPr>
        <p:spPr>
          <a:xfrm>
            <a:off x="432000" y="590400"/>
            <a:ext cx="1111500" cy="180000"/>
          </a:xfrm>
          <a:prstGeom prst="homePlate">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①接触</a:t>
            </a:r>
          </a:p>
        </p:txBody>
      </p:sp>
      <p:sp>
        <p:nvSpPr>
          <p:cNvPr id="33" name="Chevron 32"/>
          <p:cNvSpPr/>
          <p:nvPr/>
        </p:nvSpPr>
        <p:spPr>
          <a:xfrm>
            <a:off x="15651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②離脱</a:t>
            </a:r>
          </a:p>
        </p:txBody>
      </p:sp>
      <p:sp>
        <p:nvSpPr>
          <p:cNvPr id="34" name="Chevron 33"/>
          <p:cNvSpPr/>
          <p:nvPr/>
        </p:nvSpPr>
        <p:spPr>
          <a:xfrm>
            <a:off x="26982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③育成</a:t>
            </a:r>
          </a:p>
        </p:txBody>
      </p:sp>
      <p:sp>
        <p:nvSpPr>
          <p:cNvPr id="35" name="Chevron 34"/>
          <p:cNvSpPr/>
          <p:nvPr/>
        </p:nvSpPr>
        <p:spPr>
          <a:xfrm>
            <a:off x="38312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④リード獲得</a:t>
            </a:r>
          </a:p>
        </p:txBody>
      </p:sp>
      <p:sp>
        <p:nvSpPr>
          <p:cNvPr id="36" name="Chevron 35"/>
          <p:cNvSpPr/>
          <p:nvPr/>
        </p:nvSpPr>
        <p:spPr>
          <a:xfrm>
            <a:off x="49644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⑤リード有効化</a:t>
            </a:r>
          </a:p>
        </p:txBody>
      </p:sp>
      <p:sp>
        <p:nvSpPr>
          <p:cNvPr id="37" name="Chevron 36"/>
          <p:cNvSpPr/>
          <p:nvPr/>
        </p:nvSpPr>
        <p:spPr>
          <a:xfrm>
            <a:off x="60975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⑥再育成</a:t>
            </a:r>
          </a:p>
        </p:txBody>
      </p:sp>
      <p:sp>
        <p:nvSpPr>
          <p:cNvPr id="38" name="Chevron 37"/>
          <p:cNvSpPr/>
          <p:nvPr/>
        </p:nvSpPr>
        <p:spPr>
          <a:xfrm>
            <a:off x="7230599"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⑦入会（契約）</a:t>
            </a:r>
          </a:p>
        </p:txBody>
      </p:sp>
      <p:sp>
        <p:nvSpPr>
          <p:cNvPr id="39" name="Chevron 38"/>
          <p:cNvSpPr/>
          <p:nvPr/>
        </p:nvSpPr>
        <p:spPr>
          <a:xfrm>
            <a:off x="83636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⑧紹介</a:t>
            </a:r>
          </a:p>
        </p:txBody>
      </p:sp>
      <p:sp>
        <p:nvSpPr>
          <p:cNvPr id="40" name="Rounded Rectangle 39"/>
          <p:cNvSpPr/>
          <p:nvPr/>
        </p:nvSpPr>
        <p:spPr>
          <a:xfrm>
            <a:off x="432000" y="1494000"/>
            <a:ext cx="2882399" cy="99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41" name="Rounded Rectangle 40"/>
          <p:cNvSpPr/>
          <p:nvPr/>
        </p:nvSpPr>
        <p:spPr>
          <a:xfrm>
            <a:off x="432000" y="1494000"/>
            <a:ext cx="2882399" cy="223200"/>
          </a:xfrm>
          <a:prstGeom prst="roundRect">
            <a:avLst>
              <a:gd name="adj" fmla="val 20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333333"/>
                </a:solidFill>
                <a:latin typeface="メイリオ"/>
                <a:ea typeface="メイリオ"/>
                <a:cs typeface="メイリオ"/>
              </a:rPr>
              <a:t>データ（事実）</a:t>
            </a:r>
          </a:p>
        </p:txBody>
      </p:sp>
      <p:sp>
        <p:nvSpPr>
          <p:cNvPr id="42" name="Rectangle 41"/>
          <p:cNvSpPr/>
          <p:nvPr/>
        </p:nvSpPr>
        <p:spPr>
          <a:xfrm>
            <a:off x="522000"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000" b="0">
                <a:solidFill>
                  <a:srgbClr val="333333"/>
                </a:solidFill>
                <a:latin typeface="メイリオ"/>
                <a:ea typeface="メイリオ"/>
                <a:cs typeface="メイリオ"/>
              </a:rPr>
              <a:t>体験を予約しても、</a:t>
            </a:r>
          </a:p>
          <a:p>
            <a:pPr algn="l"/>
            <a:r>
              <a:rPr sz="1000" b="0">
                <a:solidFill>
                  <a:srgbClr val="333333"/>
                </a:solidFill>
                <a:latin typeface="メイリオ"/>
                <a:ea typeface="メイリオ"/>
                <a:cs typeface="メイリオ"/>
              </a:rPr>
              <a:t>当日来ない人がいる</a:t>
            </a:r>
          </a:p>
          <a:p>
            <a:pPr algn="l"/>
            <a:r>
              <a:rPr sz="1000" b="0">
                <a:solidFill>
                  <a:srgbClr val="333333"/>
                </a:solidFill>
                <a:latin typeface="メイリオ"/>
                <a:ea typeface="メイリオ"/>
                <a:cs typeface="メイリオ"/>
              </a:rPr>
              <a:t>（割合は貴社の実績で確定）</a:t>
            </a:r>
          </a:p>
        </p:txBody>
      </p:sp>
      <p:cxnSp>
        <p:nvCxnSpPr>
          <p:cNvPr id="43" name="Connector 42"/>
          <p:cNvCxnSpPr/>
          <p:nvPr/>
        </p:nvCxnSpPr>
        <p:spPr>
          <a:xfrm>
            <a:off x="3343199" y="1989000"/>
            <a:ext cx="140400"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3512399" y="1494000"/>
            <a:ext cx="2882399" cy="99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45" name="Rounded Rectangle 44"/>
          <p:cNvSpPr/>
          <p:nvPr/>
        </p:nvSpPr>
        <p:spPr>
          <a:xfrm>
            <a:off x="3512399" y="1494000"/>
            <a:ext cx="2882399" cy="223200"/>
          </a:xfrm>
          <a:prstGeom prst="roundRect">
            <a:avLst>
              <a:gd name="adj" fmla="val 20000"/>
            </a:avLst>
          </a:prstGeom>
          <a:solidFill>
            <a:srgbClr val="E4E9F2"/>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333333"/>
                </a:solidFill>
                <a:latin typeface="メイリオ"/>
                <a:ea typeface="メイリオ"/>
                <a:cs typeface="メイリオ"/>
              </a:rPr>
              <a:t>すべきこと</a:t>
            </a:r>
          </a:p>
        </p:txBody>
      </p:sp>
      <p:sp>
        <p:nvSpPr>
          <p:cNvPr id="46" name="Rectangle 45"/>
          <p:cNvSpPr/>
          <p:nvPr/>
        </p:nvSpPr>
        <p:spPr>
          <a:xfrm>
            <a:off x="3602399"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000" b="0">
                <a:solidFill>
                  <a:srgbClr val="333333"/>
                </a:solidFill>
                <a:latin typeface="メイリオ"/>
                <a:ea typeface="メイリオ"/>
                <a:cs typeface="メイリオ"/>
              </a:rPr>
              <a:t>来ない理由を、</a:t>
            </a:r>
          </a:p>
          <a:p>
            <a:pPr algn="l"/>
            <a:r>
              <a:rPr sz="1000" b="0">
                <a:solidFill>
                  <a:srgbClr val="333333"/>
                </a:solidFill>
                <a:latin typeface="メイリオ"/>
                <a:ea typeface="メイリオ"/>
                <a:cs typeface="メイリオ"/>
              </a:rPr>
              <a:t>前日までに先回りしてなくす</a:t>
            </a:r>
          </a:p>
        </p:txBody>
      </p:sp>
      <p:cxnSp>
        <p:nvCxnSpPr>
          <p:cNvPr id="47" name="Connector 46"/>
          <p:cNvCxnSpPr/>
          <p:nvPr/>
        </p:nvCxnSpPr>
        <p:spPr>
          <a:xfrm>
            <a:off x="6423599" y="1989000"/>
            <a:ext cx="140401"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48" name="Rounded Rectangle 47"/>
          <p:cNvSpPr/>
          <p:nvPr/>
        </p:nvSpPr>
        <p:spPr>
          <a:xfrm>
            <a:off x="6592800" y="1494000"/>
            <a:ext cx="2882399" cy="990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49" name="Rounded Rectangle 48"/>
          <p:cNvSpPr/>
          <p:nvPr/>
        </p:nvSpPr>
        <p:spPr>
          <a:xfrm>
            <a:off x="6592800" y="1494000"/>
            <a:ext cx="2882399" cy="223200"/>
          </a:xfrm>
          <a:prstGeom prst="roundRect">
            <a:avLst>
              <a:gd name="adj" fmla="val 2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FFFFFF"/>
                </a:solidFill>
                <a:latin typeface="メイリオ"/>
                <a:ea typeface="メイリオ"/>
                <a:cs typeface="メイリオ"/>
              </a:rPr>
              <a:t>LINE施策</a:t>
            </a:r>
          </a:p>
        </p:txBody>
      </p:sp>
      <p:sp>
        <p:nvSpPr>
          <p:cNvPr id="50" name="Rectangle 49"/>
          <p:cNvSpPr/>
          <p:nvPr/>
        </p:nvSpPr>
        <p:spPr>
          <a:xfrm>
            <a:off x="6682800"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000" b="0">
                <a:solidFill>
                  <a:srgbClr val="FFFFFF"/>
                </a:solidFill>
                <a:latin typeface="メイリオ"/>
                <a:ea typeface="メイリオ"/>
                <a:cs typeface="メイリオ"/>
              </a:rPr>
              <a:t>予約の直後から翌日まで、</a:t>
            </a:r>
          </a:p>
          <a:p>
            <a:pPr algn="l"/>
            <a:r>
              <a:rPr sz="1000" b="0">
                <a:solidFill>
                  <a:srgbClr val="FFFFFF"/>
                </a:solidFill>
                <a:latin typeface="メイリオ"/>
                <a:ea typeface="メイリオ"/>
                <a:cs typeface="メイリオ"/>
              </a:rPr>
              <a:t>LINEで5回自動で届ける</a:t>
            </a:r>
          </a:p>
        </p:txBody>
      </p:sp>
      <p:cxnSp>
        <p:nvCxnSpPr>
          <p:cNvPr id="51" name="Connector 50"/>
          <p:cNvCxnSpPr/>
          <p:nvPr/>
        </p:nvCxnSpPr>
        <p:spPr>
          <a:xfrm>
            <a:off x="576000" y="2880000"/>
            <a:ext cx="8748000" cy="0"/>
          </a:xfrm>
          <a:prstGeom prst="line">
            <a:avLst/>
          </a:prstGeom>
          <a:ln w="38100">
            <a:solidFill>
              <a:srgbClr val="1F285A"/>
            </a:solidFill>
          </a:ln>
        </p:spPr>
        <p:style>
          <a:lnRef idx="2">
            <a:schemeClr val="accent1"/>
          </a:lnRef>
          <a:fillRef idx="0">
            <a:schemeClr val="accent1"/>
          </a:fillRef>
          <a:effectRef idx="1">
            <a:schemeClr val="accent1"/>
          </a:effectRef>
          <a:fontRef idx="minor">
            <a:schemeClr val="tx1"/>
          </a:fontRef>
        </p:style>
      </p:cxnSp>
      <p:sp>
        <p:nvSpPr>
          <p:cNvPr id="52" name="Oval 51"/>
          <p:cNvSpPr/>
          <p:nvPr/>
        </p:nvSpPr>
        <p:spPr>
          <a:xfrm>
            <a:off x="1210319" y="2754000"/>
            <a:ext cx="251999" cy="251999"/>
          </a:xfrm>
          <a:prstGeom prst="ellips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53" name="Rectangle 52"/>
          <p:cNvSpPr/>
          <p:nvPr/>
        </p:nvSpPr>
        <p:spPr>
          <a:xfrm>
            <a:off x="432000" y="2520000"/>
            <a:ext cx="180864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ctr"/>
            <a:r>
              <a:rPr sz="1050" b="1">
                <a:solidFill>
                  <a:srgbClr val="1F285A"/>
                </a:solidFill>
                <a:latin typeface="メイリオ"/>
                <a:ea typeface="メイリオ"/>
                <a:cs typeface="メイリオ"/>
              </a:rPr>
              <a:t>予約した直後</a:t>
            </a:r>
          </a:p>
        </p:txBody>
      </p:sp>
      <p:sp>
        <p:nvSpPr>
          <p:cNvPr id="54" name="Rounded Rectangle 53"/>
          <p:cNvSpPr/>
          <p:nvPr/>
        </p:nvSpPr>
        <p:spPr>
          <a:xfrm>
            <a:off x="485999" y="3096000"/>
            <a:ext cx="1700640" cy="540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00" b="1">
                <a:solidFill>
                  <a:srgbClr val="1F285A"/>
                </a:solidFill>
                <a:latin typeface="メイリオ"/>
                <a:ea typeface="メイリオ"/>
                <a:cs typeface="メイリオ"/>
              </a:rPr>
              <a:t>予約内容の確認</a:t>
            </a:r>
          </a:p>
          <a:p>
            <a:pPr algn="ctr"/>
            <a:r>
              <a:rPr sz="1000" b="0">
                <a:solidFill>
                  <a:srgbClr val="333333"/>
                </a:solidFill>
                <a:latin typeface="メイリオ"/>
                <a:ea typeface="メイリオ"/>
                <a:cs typeface="メイリオ"/>
              </a:rPr>
              <a:t>カレンダー登録</a:t>
            </a:r>
          </a:p>
        </p:txBody>
      </p:sp>
      <p:sp>
        <p:nvSpPr>
          <p:cNvPr id="55" name="Oval 54"/>
          <p:cNvSpPr/>
          <p:nvPr/>
        </p:nvSpPr>
        <p:spPr>
          <a:xfrm>
            <a:off x="3018960" y="2754000"/>
            <a:ext cx="251999" cy="251999"/>
          </a:xfrm>
          <a:prstGeom prst="ellips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56" name="Rectangle 55"/>
          <p:cNvSpPr/>
          <p:nvPr/>
        </p:nvSpPr>
        <p:spPr>
          <a:xfrm>
            <a:off x="2240640" y="2520000"/>
            <a:ext cx="180864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ctr"/>
            <a:r>
              <a:rPr sz="1050" b="1">
                <a:solidFill>
                  <a:srgbClr val="1F285A"/>
                </a:solidFill>
                <a:latin typeface="メイリオ"/>
                <a:ea typeface="メイリオ"/>
                <a:cs typeface="メイリオ"/>
              </a:rPr>
              <a:t>2日前</a:t>
            </a:r>
          </a:p>
        </p:txBody>
      </p:sp>
      <p:sp>
        <p:nvSpPr>
          <p:cNvPr id="57" name="Rounded Rectangle 56"/>
          <p:cNvSpPr/>
          <p:nvPr/>
        </p:nvSpPr>
        <p:spPr>
          <a:xfrm>
            <a:off x="2294640" y="3096000"/>
            <a:ext cx="1700640" cy="540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00" b="1">
                <a:solidFill>
                  <a:srgbClr val="1F285A"/>
                </a:solidFill>
                <a:latin typeface="メイリオ"/>
                <a:ea typeface="メイリオ"/>
                <a:cs typeface="メイリオ"/>
              </a:rPr>
              <a:t>担当講師の紹介</a:t>
            </a:r>
          </a:p>
          <a:p>
            <a:pPr algn="ctr"/>
            <a:r>
              <a:rPr sz="1000" b="0">
                <a:solidFill>
                  <a:srgbClr val="333333"/>
                </a:solidFill>
                <a:latin typeface="メイリオ"/>
                <a:ea typeface="メイリオ"/>
                <a:cs typeface="メイリオ"/>
              </a:rPr>
              <a:t>顔写真とひとこと</a:t>
            </a:r>
          </a:p>
        </p:txBody>
      </p:sp>
      <p:sp>
        <p:nvSpPr>
          <p:cNvPr id="58" name="Oval 57"/>
          <p:cNvSpPr/>
          <p:nvPr/>
        </p:nvSpPr>
        <p:spPr>
          <a:xfrm>
            <a:off x="4827600" y="2754000"/>
            <a:ext cx="251999" cy="251999"/>
          </a:xfrm>
          <a:prstGeom prst="ellips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59" name="Rectangle 58"/>
          <p:cNvSpPr/>
          <p:nvPr/>
        </p:nvSpPr>
        <p:spPr>
          <a:xfrm>
            <a:off x="4049279" y="2520000"/>
            <a:ext cx="180864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ctr"/>
            <a:r>
              <a:rPr sz="1050" b="1">
                <a:solidFill>
                  <a:srgbClr val="1F285A"/>
                </a:solidFill>
                <a:latin typeface="メイリオ"/>
                <a:ea typeface="メイリオ"/>
                <a:cs typeface="メイリオ"/>
              </a:rPr>
              <a:t>前日</a:t>
            </a:r>
          </a:p>
        </p:txBody>
      </p:sp>
      <p:sp>
        <p:nvSpPr>
          <p:cNvPr id="60" name="Rounded Rectangle 59"/>
          <p:cNvSpPr/>
          <p:nvPr/>
        </p:nvSpPr>
        <p:spPr>
          <a:xfrm>
            <a:off x="4103280" y="3096000"/>
            <a:ext cx="1700640" cy="540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00" b="1">
                <a:solidFill>
                  <a:srgbClr val="1F285A"/>
                </a:solidFill>
                <a:latin typeface="メイリオ"/>
                <a:ea typeface="メイリオ"/>
                <a:cs typeface="メイリオ"/>
              </a:rPr>
              <a:t>持ち物・アクセス</a:t>
            </a:r>
          </a:p>
          <a:p>
            <a:pPr algn="ctr"/>
            <a:r>
              <a:rPr sz="1000" b="0">
                <a:solidFill>
                  <a:srgbClr val="333333"/>
                </a:solidFill>
                <a:latin typeface="メイリオ"/>
                <a:ea typeface="メイリオ"/>
                <a:cs typeface="メイリオ"/>
              </a:rPr>
              <a:t>日程の変更方法</a:t>
            </a:r>
          </a:p>
        </p:txBody>
      </p:sp>
      <p:sp>
        <p:nvSpPr>
          <p:cNvPr id="61" name="Oval 60"/>
          <p:cNvSpPr/>
          <p:nvPr/>
        </p:nvSpPr>
        <p:spPr>
          <a:xfrm>
            <a:off x="6636239" y="2754000"/>
            <a:ext cx="251999" cy="251999"/>
          </a:xfrm>
          <a:prstGeom prst="ellips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62" name="Rectangle 61"/>
          <p:cNvSpPr/>
          <p:nvPr/>
        </p:nvSpPr>
        <p:spPr>
          <a:xfrm>
            <a:off x="5857919" y="2520000"/>
            <a:ext cx="180864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ctr"/>
            <a:r>
              <a:rPr sz="1050" b="1">
                <a:solidFill>
                  <a:srgbClr val="1F285A"/>
                </a:solidFill>
                <a:latin typeface="メイリオ"/>
                <a:ea typeface="メイリオ"/>
                <a:cs typeface="メイリオ"/>
              </a:rPr>
              <a:t>当日2時間前</a:t>
            </a:r>
          </a:p>
        </p:txBody>
      </p:sp>
      <p:sp>
        <p:nvSpPr>
          <p:cNvPr id="63" name="Rounded Rectangle 62"/>
          <p:cNvSpPr/>
          <p:nvPr/>
        </p:nvSpPr>
        <p:spPr>
          <a:xfrm>
            <a:off x="5911919" y="3096000"/>
            <a:ext cx="1700640" cy="540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00" b="1">
                <a:solidFill>
                  <a:srgbClr val="1F285A"/>
                </a:solidFill>
                <a:latin typeface="メイリオ"/>
                <a:ea typeface="メイリオ"/>
                <a:cs typeface="メイリオ"/>
              </a:rPr>
              <a:t>「お待ちしています」</a:t>
            </a:r>
          </a:p>
          <a:p>
            <a:pPr algn="ctr"/>
            <a:r>
              <a:rPr sz="1000" b="0">
                <a:solidFill>
                  <a:srgbClr val="333333"/>
                </a:solidFill>
                <a:latin typeface="メイリオ"/>
                <a:ea typeface="メイリオ"/>
                <a:cs typeface="メイリオ"/>
              </a:rPr>
              <a:t>短い一言</a:t>
            </a:r>
          </a:p>
        </p:txBody>
      </p:sp>
      <p:sp>
        <p:nvSpPr>
          <p:cNvPr id="64" name="Oval 63"/>
          <p:cNvSpPr/>
          <p:nvPr/>
        </p:nvSpPr>
        <p:spPr>
          <a:xfrm>
            <a:off x="8444880" y="2754000"/>
            <a:ext cx="251999" cy="251999"/>
          </a:xfrm>
          <a:prstGeom prst="ellipse">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65" name="Rectangle 64"/>
          <p:cNvSpPr/>
          <p:nvPr/>
        </p:nvSpPr>
        <p:spPr>
          <a:xfrm>
            <a:off x="7666560" y="2520000"/>
            <a:ext cx="180864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ctr"/>
            <a:r>
              <a:rPr sz="1050" b="1">
                <a:solidFill>
                  <a:srgbClr val="00897B"/>
                </a:solidFill>
                <a:latin typeface="メイリオ"/>
                <a:ea typeface="メイリオ"/>
                <a:cs typeface="メイリオ"/>
              </a:rPr>
              <a:t>翌日</a:t>
            </a:r>
          </a:p>
        </p:txBody>
      </p:sp>
      <p:sp>
        <p:nvSpPr>
          <p:cNvPr id="66" name="Rounded Rectangle 65"/>
          <p:cNvSpPr/>
          <p:nvPr/>
        </p:nvSpPr>
        <p:spPr>
          <a:xfrm>
            <a:off x="7720559" y="3096000"/>
            <a:ext cx="1700640" cy="540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00" b="1">
                <a:solidFill>
                  <a:srgbClr val="1F285A"/>
                </a:solidFill>
                <a:latin typeface="メイリオ"/>
                <a:ea typeface="メイリオ"/>
                <a:cs typeface="メイリオ"/>
              </a:rPr>
              <a:t>お礼＋診断結果</a:t>
            </a:r>
          </a:p>
          <a:p>
            <a:pPr algn="ctr"/>
            <a:r>
              <a:rPr sz="1000" b="0">
                <a:solidFill>
                  <a:srgbClr val="333333"/>
                </a:solidFill>
                <a:latin typeface="メイリオ"/>
                <a:ea typeface="メイリオ"/>
                <a:cs typeface="メイリオ"/>
              </a:rPr>
              <a:t>入会のご相談はこちら</a:t>
            </a:r>
          </a:p>
        </p:txBody>
      </p:sp>
      <p:sp>
        <p:nvSpPr>
          <p:cNvPr id="67" name="Rectangle 66"/>
          <p:cNvSpPr/>
          <p:nvPr/>
        </p:nvSpPr>
        <p:spPr>
          <a:xfrm>
            <a:off x="432000" y="3761999"/>
            <a:ext cx="432000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50" b="1">
                <a:solidFill>
                  <a:srgbClr val="002060"/>
                </a:solidFill>
                <a:latin typeface="メイリオ"/>
                <a:ea typeface="メイリオ"/>
                <a:cs typeface="メイリオ"/>
              </a:rPr>
              <a:t>前日のメッセージ（実文）</a:t>
            </a:r>
          </a:p>
        </p:txBody>
      </p:sp>
      <p:sp>
        <p:nvSpPr>
          <p:cNvPr id="68" name="Rectangle 67"/>
          <p:cNvSpPr/>
          <p:nvPr/>
        </p:nvSpPr>
        <p:spPr>
          <a:xfrm>
            <a:off x="432000" y="3996000"/>
            <a:ext cx="5040000" cy="2124000"/>
          </a:xfrm>
          <a:prstGeom prst="rect">
            <a:avLst/>
          </a:prstGeom>
          <a:solidFill>
            <a:srgbClr val="C9D6E8"/>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69" name="Rounded Rectangle 68"/>
          <p:cNvSpPr/>
          <p:nvPr/>
        </p:nvSpPr>
        <p:spPr>
          <a:xfrm>
            <a:off x="540000" y="4068000"/>
            <a:ext cx="4824000" cy="19800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t"/>
          <a:lstStyle/>
          <a:p>
            <a:pPr algn="l"/>
            <a:r>
              <a:rPr sz="950" b="0">
                <a:solidFill>
                  <a:srgbClr val="333333"/>
                </a:solidFill>
                <a:latin typeface="メイリオ"/>
                <a:ea typeface="メイリオ"/>
                <a:cs typeface="メイリオ"/>
              </a:rPr>
              <a:t>【明日◯時〜】体験授業のご確認です😊</a:t>
            </a:r>
          </a:p>
          <a:p>
            <a:pPr algn="l"/>
            <a:r>
              <a:rPr sz="950" b="0">
                <a:solidFill>
                  <a:srgbClr val="333333"/>
                </a:solidFill>
                <a:latin typeface="メイリオ"/>
                <a:ea typeface="メイリオ"/>
                <a:cs typeface="メイリオ"/>
              </a:rPr>
              <a:t>◯◯塾 △△教室（地図はこちら▼）</a:t>
            </a:r>
          </a:p>
          <a:p>
            <a:pPr algn="l"/>
            <a:r>
              <a:rPr sz="950" b="0">
                <a:solidFill>
                  <a:srgbClr val="333333"/>
                </a:solidFill>
                <a:latin typeface="メイリオ"/>
                <a:ea typeface="メイリオ"/>
                <a:cs typeface="メイリオ"/>
              </a:rPr>
              <a:t>✏️ 持ち物：筆記用具だけでOK（教材はご用意します）</a:t>
            </a:r>
          </a:p>
          <a:p>
            <a:pPr algn="l"/>
            <a:r>
              <a:rPr sz="950" b="0">
                <a:solidFill>
                  <a:srgbClr val="333333"/>
                </a:solidFill>
                <a:latin typeface="メイリオ"/>
                <a:ea typeface="メイリオ"/>
                <a:cs typeface="メイリオ"/>
              </a:rPr>
              <a:t>🚲 駐輪場：教室裏にあります</a:t>
            </a:r>
          </a:p>
          <a:p>
            <a:pPr algn="l"/>
            <a:r>
              <a:rPr sz="950" b="0">
                <a:solidFill>
                  <a:srgbClr val="333333"/>
                </a:solidFill>
                <a:latin typeface="メイリオ"/>
                <a:ea typeface="メイリオ"/>
                <a:cs typeface="メイリオ"/>
              </a:rPr>
              <a:t>👪 保護者さまは「見学」でも「面談だけ」でも大丈夫です</a:t>
            </a:r>
          </a:p>
          <a:p>
            <a:pPr algn="l"/>
            <a:endParaRPr sz="950" b="0">
              <a:solidFill>
                <a:srgbClr val="333333"/>
              </a:solidFill>
              <a:latin typeface="メイリオ"/>
              <a:ea typeface="メイリオ"/>
              <a:cs typeface="メイリオ"/>
            </a:endParaRPr>
          </a:p>
          <a:p>
            <a:pPr algn="l"/>
            <a:r>
              <a:rPr sz="950" b="0">
                <a:solidFill>
                  <a:srgbClr val="333333"/>
                </a:solidFill>
                <a:latin typeface="メイリオ"/>
                <a:ea typeface="メイリオ"/>
                <a:cs typeface="メイリオ"/>
              </a:rPr>
              <a:t>ご都合が変わったら、このトークに「変更」と送って</a:t>
            </a:r>
          </a:p>
          <a:p>
            <a:pPr algn="l"/>
            <a:r>
              <a:rPr sz="950" b="0">
                <a:solidFill>
                  <a:srgbClr val="333333"/>
                </a:solidFill>
                <a:latin typeface="メイリオ"/>
                <a:ea typeface="メイリオ"/>
                <a:cs typeface="メイリオ"/>
              </a:rPr>
              <a:t>ください。別の日程をご案内します。</a:t>
            </a:r>
          </a:p>
          <a:p>
            <a:pPr algn="l"/>
            <a:r>
              <a:rPr sz="950" b="0">
                <a:solidFill>
                  <a:srgbClr val="333333"/>
                </a:solidFill>
                <a:latin typeface="メイリオ"/>
                <a:ea typeface="メイリオ"/>
                <a:cs typeface="メイリオ"/>
              </a:rPr>
              <a:t>（キャンセル料はありません）</a:t>
            </a:r>
          </a:p>
        </p:txBody>
      </p:sp>
      <p:sp>
        <p:nvSpPr>
          <p:cNvPr id="70" name="Rounded Rectangle 69"/>
          <p:cNvSpPr/>
          <p:nvPr/>
        </p:nvSpPr>
        <p:spPr>
          <a:xfrm>
            <a:off x="5652000" y="3996000"/>
            <a:ext cx="3823199" cy="1007999"/>
          </a:xfrm>
          <a:prstGeom prst="roundRect">
            <a:avLst>
              <a:gd name="adj" fmla="val 8000"/>
            </a:avLst>
          </a:prstGeom>
          <a:solidFill>
            <a:srgbClr val="E4E9F2"/>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300" b="1">
                <a:solidFill>
                  <a:srgbClr val="333333"/>
                </a:solidFill>
                <a:latin typeface="メイリオ"/>
                <a:ea typeface="メイリオ"/>
                <a:cs typeface="メイリオ"/>
              </a:rPr>
              <a:t>「キャンセル料はありません」を必ず書く</a:t>
            </a:r>
          </a:p>
          <a:p>
            <a:pPr algn="l"/>
            <a:r>
              <a:rPr sz="1200" b="0">
                <a:solidFill>
                  <a:srgbClr val="333333"/>
                </a:solidFill>
                <a:latin typeface="メイリオ"/>
                <a:ea typeface="メイリオ"/>
                <a:cs typeface="メイリオ"/>
              </a:rPr>
              <a:t>変更・キャンセルの自由を先に伝えたほうが、</a:t>
            </a:r>
          </a:p>
          <a:p>
            <a:pPr algn="l"/>
            <a:r>
              <a:rPr sz="1200" b="0">
                <a:solidFill>
                  <a:srgbClr val="333333"/>
                </a:solidFill>
                <a:latin typeface="メイリオ"/>
                <a:ea typeface="メイリオ"/>
                <a:cs typeface="メイリオ"/>
              </a:rPr>
              <a:t>体験に来てもらいやすい</a:t>
            </a:r>
          </a:p>
        </p:txBody>
      </p:sp>
      <p:sp>
        <p:nvSpPr>
          <p:cNvPr id="71" name="Rounded Rectangle 70"/>
          <p:cNvSpPr/>
          <p:nvPr/>
        </p:nvSpPr>
        <p:spPr>
          <a:xfrm>
            <a:off x="5652000" y="5112000"/>
            <a:ext cx="3823199" cy="1007999"/>
          </a:xfrm>
          <a:prstGeom prst="roundRect">
            <a:avLst>
              <a:gd name="adj" fmla="val 8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300" b="1">
                <a:solidFill>
                  <a:srgbClr val="1F285A"/>
                </a:solidFill>
                <a:latin typeface="メイリオ"/>
                <a:ea typeface="メイリオ"/>
                <a:cs typeface="メイリオ"/>
              </a:rPr>
              <a:t>翌日のメッセージで入会へ</a:t>
            </a:r>
          </a:p>
          <a:p>
            <a:pPr algn="l"/>
            <a:r>
              <a:rPr sz="1200" b="0">
                <a:solidFill>
                  <a:srgbClr val="333333"/>
                </a:solidFill>
                <a:latin typeface="メイリオ"/>
                <a:ea typeface="メイリオ"/>
                <a:cs typeface="メイリオ"/>
              </a:rPr>
              <a:t>お礼と診断結果を送り、入会の相談は</a:t>
            </a:r>
          </a:p>
          <a:p>
            <a:pPr algn="l"/>
            <a:r>
              <a:rPr sz="1200" b="0">
                <a:solidFill>
                  <a:srgbClr val="333333"/>
                </a:solidFill>
                <a:latin typeface="メイリオ"/>
                <a:ea typeface="メイリオ"/>
                <a:cs typeface="メイリオ"/>
              </a:rPr>
              <a:t>LINEで受け付けて教室へつなぐ</a:t>
            </a:r>
          </a:p>
        </p:txBody>
      </p:sp>
    </p:spTree>
    <p:extLst>
      <p:ext uri="{BB962C8B-B14F-4D97-AF65-F5344CB8AC3E}">
        <p14:creationId xmlns:p14="http://schemas.microsoft.com/office/powerpoint/2010/main" val="295715877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45F51C-1549-19C8-A509-C77C3C8B926D}"/>
            </a:ext>
          </a:extLst>
        </p:cNvPr>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具体企画の構成｜過去に問い合わせた保護者へ</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a:solidFill>
                  <a:srgbClr val="333333"/>
                </a:solidFill>
                <a:latin typeface="メイリオ"/>
                <a:ea typeface="メイリオ"/>
                <a:cs typeface="メイリオ"/>
              </a:rPr>
              <a:t>塾には、資料請求や体験だけで止まった保護者の連絡先が残っている。</a:t>
            </a:r>
          </a:p>
          <a:p>
            <a:pPr algn="l">
              <a:lnSpc>
                <a:spcPct val="128000"/>
              </a:lnSpc>
            </a:pPr>
            <a:r>
              <a:rPr sz="1200">
                <a:solidFill>
                  <a:srgbClr val="333333"/>
                </a:solidFill>
                <a:latin typeface="メイリオ"/>
                <a:ea typeface="メイリオ"/>
                <a:cs typeface="メイリオ"/>
              </a:rPr>
              <a:t>講習の時期に合わせて、もう一度声をかける。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900">
                <a:solidFill>
                  <a:srgbClr val="7F7F7F"/>
                </a:solidFill>
                <a:latin typeface="メイリオ"/>
                <a:ea typeface="メイリオ"/>
                <a:cs typeface="メイリオ"/>
              </a:rPr>
              <a:t>通知メッセージは別途費用。利用条件・単価はLINEヤフーの規定で変わるため、要件定義の際に最新の条件を確認します</a:t>
            </a:r>
          </a:p>
        </p:txBody>
      </p:sp>
      <p:sp>
        <p:nvSpPr>
          <p:cNvPr id="28" name="Pentagon 27"/>
          <p:cNvSpPr/>
          <p:nvPr/>
        </p:nvSpPr>
        <p:spPr>
          <a:xfrm>
            <a:off x="432000" y="590400"/>
            <a:ext cx="1111500" cy="180000"/>
          </a:xfrm>
          <a:prstGeom prst="homePlate">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①接触</a:t>
            </a:r>
          </a:p>
        </p:txBody>
      </p:sp>
      <p:sp>
        <p:nvSpPr>
          <p:cNvPr id="29" name="Chevron 28"/>
          <p:cNvSpPr/>
          <p:nvPr/>
        </p:nvSpPr>
        <p:spPr>
          <a:xfrm>
            <a:off x="15651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②離脱</a:t>
            </a:r>
          </a:p>
        </p:txBody>
      </p:sp>
      <p:sp>
        <p:nvSpPr>
          <p:cNvPr id="30" name="Chevron 29"/>
          <p:cNvSpPr/>
          <p:nvPr/>
        </p:nvSpPr>
        <p:spPr>
          <a:xfrm>
            <a:off x="26982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③育成</a:t>
            </a:r>
          </a:p>
        </p:txBody>
      </p:sp>
      <p:sp>
        <p:nvSpPr>
          <p:cNvPr id="31" name="Chevron 30"/>
          <p:cNvSpPr/>
          <p:nvPr/>
        </p:nvSpPr>
        <p:spPr>
          <a:xfrm>
            <a:off x="38312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④リード獲得</a:t>
            </a:r>
          </a:p>
        </p:txBody>
      </p:sp>
      <p:sp>
        <p:nvSpPr>
          <p:cNvPr id="32" name="Chevron 31"/>
          <p:cNvSpPr/>
          <p:nvPr/>
        </p:nvSpPr>
        <p:spPr>
          <a:xfrm>
            <a:off x="49644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⑤リード有効化</a:t>
            </a:r>
          </a:p>
        </p:txBody>
      </p:sp>
      <p:sp>
        <p:nvSpPr>
          <p:cNvPr id="33" name="Chevron 32"/>
          <p:cNvSpPr/>
          <p:nvPr/>
        </p:nvSpPr>
        <p:spPr>
          <a:xfrm>
            <a:off x="60975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⑥再育成</a:t>
            </a:r>
          </a:p>
        </p:txBody>
      </p:sp>
      <p:sp>
        <p:nvSpPr>
          <p:cNvPr id="34" name="Chevron 33"/>
          <p:cNvSpPr/>
          <p:nvPr/>
        </p:nvSpPr>
        <p:spPr>
          <a:xfrm>
            <a:off x="72305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⑦入会（契約）</a:t>
            </a:r>
          </a:p>
        </p:txBody>
      </p:sp>
      <p:sp>
        <p:nvSpPr>
          <p:cNvPr id="35" name="Chevron 34"/>
          <p:cNvSpPr/>
          <p:nvPr/>
        </p:nvSpPr>
        <p:spPr>
          <a:xfrm>
            <a:off x="83636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⑧紹介</a:t>
            </a:r>
          </a:p>
        </p:txBody>
      </p:sp>
      <p:sp>
        <p:nvSpPr>
          <p:cNvPr id="36" name="Rounded Rectangle 35"/>
          <p:cNvSpPr/>
          <p:nvPr/>
        </p:nvSpPr>
        <p:spPr>
          <a:xfrm>
            <a:off x="432000" y="1494000"/>
            <a:ext cx="2882399" cy="99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37" name="Rounded Rectangle 36"/>
          <p:cNvSpPr/>
          <p:nvPr/>
        </p:nvSpPr>
        <p:spPr>
          <a:xfrm>
            <a:off x="432000" y="1494000"/>
            <a:ext cx="2882399" cy="223200"/>
          </a:xfrm>
          <a:prstGeom prst="roundRect">
            <a:avLst>
              <a:gd name="adj" fmla="val 20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333333"/>
                </a:solidFill>
                <a:latin typeface="メイリオ"/>
                <a:ea typeface="メイリオ"/>
                <a:cs typeface="メイリオ"/>
              </a:rPr>
              <a:t>データ（事実）</a:t>
            </a:r>
          </a:p>
        </p:txBody>
      </p:sp>
      <p:sp>
        <p:nvSpPr>
          <p:cNvPr id="38" name="Rectangle 37"/>
          <p:cNvSpPr/>
          <p:nvPr/>
        </p:nvSpPr>
        <p:spPr>
          <a:xfrm>
            <a:off x="522000"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200" b="0">
                <a:solidFill>
                  <a:srgbClr val="333333"/>
                </a:solidFill>
                <a:latin typeface="メイリオ"/>
                <a:ea typeface="メイリオ"/>
                <a:cs typeface="メイリオ"/>
              </a:rPr>
              <a:t>資料請求や体験だけで止まった</a:t>
            </a:r>
          </a:p>
          <a:p>
            <a:pPr algn="l"/>
            <a:r>
              <a:rPr sz="1200" b="0">
                <a:solidFill>
                  <a:srgbClr val="333333"/>
                </a:solidFill>
                <a:latin typeface="メイリオ"/>
                <a:ea typeface="メイリオ"/>
                <a:cs typeface="メイリオ"/>
              </a:rPr>
              <a:t>保護者の電話番号が残っている</a:t>
            </a:r>
          </a:p>
        </p:txBody>
      </p:sp>
      <p:cxnSp>
        <p:nvCxnSpPr>
          <p:cNvPr id="39" name="Connector 38"/>
          <p:cNvCxnSpPr/>
          <p:nvPr/>
        </p:nvCxnSpPr>
        <p:spPr>
          <a:xfrm>
            <a:off x="3343199" y="1989000"/>
            <a:ext cx="140400"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3512399" y="1494000"/>
            <a:ext cx="2882399" cy="99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41" name="Rounded Rectangle 40"/>
          <p:cNvSpPr/>
          <p:nvPr/>
        </p:nvSpPr>
        <p:spPr>
          <a:xfrm>
            <a:off x="3512399" y="1494000"/>
            <a:ext cx="2882399" cy="223200"/>
          </a:xfrm>
          <a:prstGeom prst="roundRect">
            <a:avLst>
              <a:gd name="adj" fmla="val 20000"/>
            </a:avLst>
          </a:prstGeom>
          <a:solidFill>
            <a:srgbClr val="E4E9F2"/>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333333"/>
                </a:solidFill>
                <a:latin typeface="メイリオ"/>
                <a:ea typeface="メイリオ"/>
                <a:cs typeface="メイリオ"/>
              </a:rPr>
              <a:t>すべきこと</a:t>
            </a:r>
          </a:p>
        </p:txBody>
      </p:sp>
      <p:sp>
        <p:nvSpPr>
          <p:cNvPr id="42" name="Rectangle 41"/>
          <p:cNvSpPr/>
          <p:nvPr/>
        </p:nvSpPr>
        <p:spPr>
          <a:xfrm>
            <a:off x="3602399"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200" b="0">
                <a:solidFill>
                  <a:srgbClr val="333333"/>
                </a:solidFill>
                <a:latin typeface="メイリオ"/>
                <a:ea typeface="メイリオ"/>
                <a:cs typeface="メイリオ"/>
              </a:rPr>
              <a:t>講習の時期に合わせて、</a:t>
            </a:r>
          </a:p>
          <a:p>
            <a:pPr algn="l"/>
            <a:r>
              <a:rPr sz="1200" b="0">
                <a:solidFill>
                  <a:srgbClr val="333333"/>
                </a:solidFill>
                <a:latin typeface="メイリオ"/>
                <a:ea typeface="メイリオ"/>
                <a:cs typeface="メイリオ"/>
              </a:rPr>
              <a:t>もう一度声をかける</a:t>
            </a:r>
          </a:p>
        </p:txBody>
      </p:sp>
      <p:cxnSp>
        <p:nvCxnSpPr>
          <p:cNvPr id="43" name="Connector 42"/>
          <p:cNvCxnSpPr/>
          <p:nvPr/>
        </p:nvCxnSpPr>
        <p:spPr>
          <a:xfrm>
            <a:off x="6423599" y="1989000"/>
            <a:ext cx="140401"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6592800" y="1494000"/>
            <a:ext cx="2882399" cy="990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45" name="Rounded Rectangle 44"/>
          <p:cNvSpPr/>
          <p:nvPr/>
        </p:nvSpPr>
        <p:spPr>
          <a:xfrm>
            <a:off x="6592800" y="1494000"/>
            <a:ext cx="2882399" cy="223200"/>
          </a:xfrm>
          <a:prstGeom prst="roundRect">
            <a:avLst>
              <a:gd name="adj" fmla="val 2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FFFFFF"/>
                </a:solidFill>
                <a:latin typeface="メイリオ"/>
                <a:ea typeface="メイリオ"/>
                <a:cs typeface="メイリオ"/>
              </a:rPr>
              <a:t>LINE施策</a:t>
            </a:r>
          </a:p>
        </p:txBody>
      </p:sp>
      <p:sp>
        <p:nvSpPr>
          <p:cNvPr id="46" name="Rectangle 45"/>
          <p:cNvSpPr/>
          <p:nvPr/>
        </p:nvSpPr>
        <p:spPr>
          <a:xfrm>
            <a:off x="6682800"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200" b="0">
                <a:solidFill>
                  <a:srgbClr val="FFFFFF"/>
                </a:solidFill>
                <a:latin typeface="メイリオ"/>
                <a:ea typeface="メイリオ"/>
                <a:cs typeface="メイリオ"/>
              </a:rPr>
              <a:t>通知メッセージ（電話番号で</a:t>
            </a:r>
          </a:p>
          <a:p>
            <a:pPr algn="l"/>
            <a:r>
              <a:rPr sz="1200" b="0">
                <a:solidFill>
                  <a:srgbClr val="FFFFFF"/>
                </a:solidFill>
                <a:latin typeface="メイリオ"/>
                <a:ea typeface="メイリオ"/>
                <a:cs typeface="メイリオ"/>
              </a:rPr>
              <a:t>LINEに届く機能）で再案内</a:t>
            </a:r>
          </a:p>
        </p:txBody>
      </p:sp>
      <p:sp>
        <p:nvSpPr>
          <p:cNvPr id="47" name="Rounded Rectangle 46"/>
          <p:cNvSpPr/>
          <p:nvPr/>
        </p:nvSpPr>
        <p:spPr>
          <a:xfrm>
            <a:off x="432000" y="2664000"/>
            <a:ext cx="4428000" cy="720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300" b="1">
                <a:solidFill>
                  <a:srgbClr val="1F285A"/>
                </a:solidFill>
                <a:latin typeface="メイリオ"/>
                <a:ea typeface="メイリオ"/>
                <a:cs typeface="メイリオ"/>
              </a:rPr>
              <a:t>資料請求だけで止まっている保護者</a:t>
            </a:r>
          </a:p>
          <a:p>
            <a:pPr algn="l"/>
            <a:r>
              <a:rPr sz="1200" b="0">
                <a:solidFill>
                  <a:srgbClr val="333333"/>
                </a:solidFill>
                <a:latin typeface="メイリオ"/>
                <a:ea typeface="メイリオ"/>
                <a:cs typeface="メイリオ"/>
              </a:rPr>
              <a:t>資料は読んだが、体験に進まなかった</a:t>
            </a:r>
          </a:p>
        </p:txBody>
      </p:sp>
      <p:sp>
        <p:nvSpPr>
          <p:cNvPr id="48" name="Rounded Rectangle 47"/>
          <p:cNvSpPr/>
          <p:nvPr/>
        </p:nvSpPr>
        <p:spPr>
          <a:xfrm>
            <a:off x="432000" y="3491999"/>
            <a:ext cx="4428000" cy="720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300" b="1">
                <a:solidFill>
                  <a:srgbClr val="1F285A"/>
                </a:solidFill>
                <a:latin typeface="メイリオ"/>
                <a:ea typeface="メイリオ"/>
                <a:cs typeface="メイリオ"/>
              </a:rPr>
              <a:t>体験に来たが、入会しなかった保護者</a:t>
            </a:r>
          </a:p>
          <a:p>
            <a:pPr algn="l"/>
            <a:r>
              <a:rPr sz="1200" b="0">
                <a:solidFill>
                  <a:srgbClr val="333333"/>
                </a:solidFill>
                <a:latin typeface="メイリオ"/>
                <a:ea typeface="メイリオ"/>
                <a:cs typeface="メイリオ"/>
              </a:rPr>
              <a:t>時期が合わなかった・迷っていた</a:t>
            </a:r>
          </a:p>
        </p:txBody>
      </p:sp>
      <p:sp>
        <p:nvSpPr>
          <p:cNvPr id="49" name="Rectangle 48"/>
          <p:cNvSpPr/>
          <p:nvPr/>
        </p:nvSpPr>
        <p:spPr>
          <a:xfrm>
            <a:off x="5047200" y="2628000"/>
            <a:ext cx="442800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50" b="1">
                <a:solidFill>
                  <a:srgbClr val="002060"/>
                </a:solidFill>
                <a:latin typeface="メイリオ"/>
                <a:ea typeface="メイリオ"/>
                <a:cs typeface="メイリオ"/>
              </a:rPr>
              <a:t>送るタイミング</a:t>
            </a:r>
          </a:p>
        </p:txBody>
      </p:sp>
      <p:sp>
        <p:nvSpPr>
          <p:cNvPr id="50" name="Rounded Rectangle 49"/>
          <p:cNvSpPr/>
          <p:nvPr/>
        </p:nvSpPr>
        <p:spPr>
          <a:xfrm>
            <a:off x="5047200" y="2880000"/>
            <a:ext cx="1404000" cy="432000"/>
          </a:xfrm>
          <a:prstGeom prst="roundRect">
            <a:avLst>
              <a:gd name="adj" fmla="val 8000"/>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300" b="1">
                <a:solidFill>
                  <a:srgbClr val="FFFFFF"/>
                </a:solidFill>
                <a:latin typeface="メイリオ"/>
                <a:ea typeface="メイリオ"/>
                <a:cs typeface="メイリオ"/>
              </a:rPr>
              <a:t>夏期講習の前</a:t>
            </a:r>
          </a:p>
        </p:txBody>
      </p:sp>
      <p:sp>
        <p:nvSpPr>
          <p:cNvPr id="51" name="Rounded Rectangle 50"/>
          <p:cNvSpPr/>
          <p:nvPr/>
        </p:nvSpPr>
        <p:spPr>
          <a:xfrm>
            <a:off x="6559200" y="2880000"/>
            <a:ext cx="1404000" cy="432000"/>
          </a:xfrm>
          <a:prstGeom prst="roundRect">
            <a:avLst>
              <a:gd name="adj" fmla="val 8000"/>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300" b="1">
                <a:solidFill>
                  <a:srgbClr val="FFFFFF"/>
                </a:solidFill>
                <a:latin typeface="メイリオ"/>
                <a:ea typeface="メイリオ"/>
                <a:cs typeface="メイリオ"/>
              </a:rPr>
              <a:t>冬期講習の前</a:t>
            </a:r>
          </a:p>
        </p:txBody>
      </p:sp>
      <p:sp>
        <p:nvSpPr>
          <p:cNvPr id="52" name="Rounded Rectangle 51"/>
          <p:cNvSpPr/>
          <p:nvPr/>
        </p:nvSpPr>
        <p:spPr>
          <a:xfrm>
            <a:off x="8071200" y="2880000"/>
            <a:ext cx="1404000" cy="432000"/>
          </a:xfrm>
          <a:prstGeom prst="roundRect">
            <a:avLst>
              <a:gd name="adj" fmla="val 8000"/>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300" b="1">
                <a:solidFill>
                  <a:srgbClr val="FFFFFF"/>
                </a:solidFill>
                <a:latin typeface="メイリオ"/>
                <a:ea typeface="メイリオ"/>
                <a:cs typeface="メイリオ"/>
              </a:rPr>
              <a:t>新学年の前</a:t>
            </a:r>
          </a:p>
        </p:txBody>
      </p:sp>
      <p:sp>
        <p:nvSpPr>
          <p:cNvPr id="53" name="Rounded Rectangle 52"/>
          <p:cNvSpPr/>
          <p:nvPr/>
        </p:nvSpPr>
        <p:spPr>
          <a:xfrm>
            <a:off x="5047200" y="3456000"/>
            <a:ext cx="4428000" cy="756000"/>
          </a:xfrm>
          <a:prstGeom prst="roundRect">
            <a:avLst>
              <a:gd name="adj" fmla="val 8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100" b="0">
                <a:solidFill>
                  <a:srgbClr val="333333"/>
                </a:solidFill>
                <a:latin typeface="メイリオ"/>
                <a:ea typeface="メイリオ"/>
                <a:cs typeface="メイリオ"/>
              </a:rPr>
              <a:t>例：「夏期講習のご案内です。以前いただいた資料請求の</a:t>
            </a:r>
          </a:p>
          <a:p>
            <a:pPr algn="l"/>
            <a:r>
              <a:rPr sz="1100" b="0">
                <a:solidFill>
                  <a:srgbClr val="333333"/>
                </a:solidFill>
                <a:latin typeface="メイリオ"/>
                <a:ea typeface="メイリオ"/>
                <a:cs typeface="メイリオ"/>
              </a:rPr>
              <a:t>内容をもとに、お子さまの学年に合うコースをお送りします」</a:t>
            </a:r>
          </a:p>
        </p:txBody>
      </p:sp>
      <p:sp>
        <p:nvSpPr>
          <p:cNvPr id="54" name="Rounded Rectangle 53"/>
          <p:cNvSpPr/>
          <p:nvPr/>
        </p:nvSpPr>
        <p:spPr>
          <a:xfrm>
            <a:off x="432000" y="4428000"/>
            <a:ext cx="9043200" cy="864000"/>
          </a:xfrm>
          <a:prstGeom prst="roundRect">
            <a:avLst>
              <a:gd name="adj" fmla="val 8000"/>
            </a:avLst>
          </a:prstGeom>
          <a:solidFill>
            <a:srgbClr val="F4F7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300" b="1">
                <a:solidFill>
                  <a:srgbClr val="1F285A"/>
                </a:solidFill>
                <a:latin typeface="メイリオ"/>
                <a:ea typeface="メイリオ"/>
                <a:cs typeface="メイリオ"/>
              </a:rPr>
              <a:t>注意すること</a:t>
            </a:r>
          </a:p>
          <a:p>
            <a:pPr algn="l"/>
            <a:r>
              <a:rPr sz="1200" b="0">
                <a:solidFill>
                  <a:srgbClr val="333333"/>
                </a:solidFill>
                <a:latin typeface="メイリオ"/>
                <a:ea typeface="メイリオ"/>
                <a:cs typeface="メイリオ"/>
              </a:rPr>
              <a:t>・関係がはっきりしている相手だけに送る（資料請求・体験をした保護者）</a:t>
            </a:r>
          </a:p>
          <a:p>
            <a:pPr algn="l"/>
            <a:r>
              <a:rPr sz="1200" b="0">
                <a:solidFill>
                  <a:srgbClr val="333333"/>
                </a:solidFill>
                <a:latin typeface="メイリオ"/>
                <a:ea typeface="メイリオ"/>
                <a:cs typeface="メイリオ"/>
              </a:rPr>
              <a:t>・「知らないのに届いた」と思われない文面にする（いつ・何で接点があったかを書く）</a:t>
            </a:r>
          </a:p>
        </p:txBody>
      </p:sp>
    </p:spTree>
    <p:extLst>
      <p:ext uri="{BB962C8B-B14F-4D97-AF65-F5344CB8AC3E}">
        <p14:creationId xmlns:p14="http://schemas.microsoft.com/office/powerpoint/2010/main" val="7743960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01E7E9-7412-46E6-C9BD-3E3A30E4E192}"/>
            </a:ext>
          </a:extLst>
        </p:cNvPr>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年間の配信カレンダー</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a:solidFill>
                  <a:srgbClr val="333333"/>
                </a:solidFill>
                <a:latin typeface="メイリオ"/>
                <a:ea typeface="メイリオ"/>
                <a:cs typeface="メイリオ"/>
              </a:rPr>
              <a:t>検索の山（2月・7月）の前から、その時期に保護者が考えていることを届ける。</a:t>
            </a:r>
          </a:p>
          <a:p>
            <a:pPr algn="l">
              <a:lnSpc>
                <a:spcPct val="128000"/>
              </a:lnSpc>
            </a:pPr>
            <a:r>
              <a:rPr sz="1200">
                <a:solidFill>
                  <a:srgbClr val="333333"/>
                </a:solidFill>
                <a:latin typeface="メイリオ"/>
                <a:ea typeface="メイリオ"/>
                <a:cs typeface="メイリオ"/>
              </a:rPr>
              <a:t>企画配信は月1〜2本。</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32000" y="1638000"/>
            <a:ext cx="9043200" cy="522000"/>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6" name="Rounded Rectangle 5"/>
          <p:cNvSpPr/>
          <p:nvPr/>
        </p:nvSpPr>
        <p:spPr>
          <a:xfrm>
            <a:off x="432000" y="1638000"/>
            <a:ext cx="936000" cy="522000"/>
          </a:xfrm>
          <a:prstGeom prst="roundRect">
            <a:avLst>
              <a:gd name="adj" fmla="val 6000"/>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r>
              <a:rPr sz="1400" b="1">
                <a:solidFill>
                  <a:srgbClr val="FFFFFF"/>
                </a:solidFill>
                <a:latin typeface="メイリオ"/>
                <a:ea typeface="メイリオ"/>
                <a:cs typeface="メイリオ"/>
              </a:rPr>
              <a:t>1月</a:t>
            </a:r>
          </a:p>
        </p:txBody>
      </p:sp>
      <p:sp>
        <p:nvSpPr>
          <p:cNvPr id="7" name="TextBox 6"/>
          <p:cNvSpPr txBox="1"/>
          <p:nvPr/>
        </p:nvSpPr>
        <p:spPr>
          <a:xfrm>
            <a:off x="1475999" y="1784279"/>
            <a:ext cx="1944000" cy="229442"/>
          </a:xfrm>
          <a:prstGeom prst="rect">
            <a:avLst/>
          </a:prstGeom>
          <a:noFill/>
        </p:spPr>
        <p:txBody>
          <a:bodyPr wrap="square" lIns="50400" tIns="21600" rIns="50400" bIns="21600" anchor="ctr">
            <a:spAutoFit/>
          </a:bodyPr>
          <a:lstStyle/>
          <a:p>
            <a:pPr algn="l">
              <a:lnSpc>
                <a:spcPct val="120000"/>
              </a:lnSpc>
            </a:pPr>
            <a:r>
              <a:rPr sz="1050" b="1">
                <a:solidFill>
                  <a:srgbClr val="333333"/>
                </a:solidFill>
                <a:latin typeface="メイリオ"/>
                <a:ea typeface="メイリオ"/>
                <a:cs typeface="メイリオ"/>
              </a:rPr>
              <a:t>新学年の準備が動き出す</a:t>
            </a:r>
          </a:p>
        </p:txBody>
      </p:sp>
      <p:sp>
        <p:nvSpPr>
          <p:cNvPr id="8" name="TextBox 7"/>
          <p:cNvSpPr txBox="1"/>
          <p:nvPr/>
        </p:nvSpPr>
        <p:spPr>
          <a:xfrm>
            <a:off x="3491999" y="1785818"/>
            <a:ext cx="2951999" cy="226364"/>
          </a:xfrm>
          <a:prstGeom prst="rect">
            <a:avLst/>
          </a:prstGeom>
          <a:noFill/>
        </p:spPr>
        <p:txBody>
          <a:bodyPr wrap="square" lIns="50400" tIns="21600" rIns="50400" bIns="21600" anchor="ctr">
            <a:spAutoFit/>
          </a:bodyPr>
          <a:lstStyle/>
          <a:p>
            <a:pPr algn="l">
              <a:lnSpc>
                <a:spcPct val="125000"/>
              </a:lnSpc>
            </a:pPr>
            <a:r>
              <a:rPr sz="1000">
                <a:solidFill>
                  <a:srgbClr val="7F7F7F"/>
                </a:solidFill>
                <a:latin typeface="メイリオ"/>
                <a:ea typeface="メイリオ"/>
                <a:cs typeface="メイリオ"/>
              </a:rPr>
              <a:t>「塾」の検索は2月上旬が山</a:t>
            </a:r>
          </a:p>
        </p:txBody>
      </p:sp>
      <p:sp>
        <p:nvSpPr>
          <p:cNvPr id="9" name="TextBox 8"/>
          <p:cNvSpPr txBox="1"/>
          <p:nvPr/>
        </p:nvSpPr>
        <p:spPr>
          <a:xfrm>
            <a:off x="6552000" y="1785818"/>
            <a:ext cx="2880000" cy="226364"/>
          </a:xfrm>
          <a:prstGeom prst="rect">
            <a:avLst/>
          </a:prstGeom>
          <a:noFill/>
        </p:spPr>
        <p:txBody>
          <a:bodyPr wrap="square" lIns="50400" tIns="21600" rIns="50400" bIns="21600" anchor="ctr">
            <a:spAutoFit/>
          </a:bodyPr>
          <a:lstStyle/>
          <a:p>
            <a:pPr algn="l">
              <a:lnSpc>
                <a:spcPct val="125000"/>
              </a:lnSpc>
            </a:pPr>
            <a:r>
              <a:rPr sz="1000">
                <a:solidFill>
                  <a:srgbClr val="333333"/>
                </a:solidFill>
                <a:latin typeface="メイリオ"/>
                <a:ea typeface="メイリオ"/>
                <a:cs typeface="メイリオ"/>
              </a:rPr>
              <a:t>小5・中2の保護者へ「次学年で変わること」</a:t>
            </a:r>
          </a:p>
        </p:txBody>
      </p:sp>
      <p:sp>
        <p:nvSpPr>
          <p:cNvPr id="10" name="Rounded Rectangle 9"/>
          <p:cNvSpPr/>
          <p:nvPr/>
        </p:nvSpPr>
        <p:spPr>
          <a:xfrm>
            <a:off x="432000" y="2221200"/>
            <a:ext cx="9043200" cy="522000"/>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1" name="Rounded Rectangle 10"/>
          <p:cNvSpPr/>
          <p:nvPr/>
        </p:nvSpPr>
        <p:spPr>
          <a:xfrm>
            <a:off x="432000" y="2221200"/>
            <a:ext cx="936000" cy="522000"/>
          </a:xfrm>
          <a:prstGeom prst="roundRect">
            <a:avLst>
              <a:gd name="adj" fmla="val 6000"/>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r>
              <a:rPr sz="1400" b="1">
                <a:solidFill>
                  <a:srgbClr val="FFFFFF"/>
                </a:solidFill>
                <a:latin typeface="メイリオ"/>
                <a:ea typeface="メイリオ"/>
                <a:cs typeface="メイリオ"/>
              </a:rPr>
              <a:t>2-3月</a:t>
            </a:r>
          </a:p>
        </p:txBody>
      </p:sp>
      <p:sp>
        <p:nvSpPr>
          <p:cNvPr id="12" name="TextBox 11"/>
          <p:cNvSpPr txBox="1"/>
          <p:nvPr/>
        </p:nvSpPr>
        <p:spPr>
          <a:xfrm>
            <a:off x="1475999" y="2367479"/>
            <a:ext cx="1944000" cy="229442"/>
          </a:xfrm>
          <a:prstGeom prst="rect">
            <a:avLst/>
          </a:prstGeom>
          <a:noFill/>
        </p:spPr>
        <p:txBody>
          <a:bodyPr wrap="square" lIns="50400" tIns="21600" rIns="50400" bIns="21600" anchor="ctr">
            <a:spAutoFit/>
          </a:bodyPr>
          <a:lstStyle/>
          <a:p>
            <a:pPr algn="l">
              <a:lnSpc>
                <a:spcPct val="120000"/>
              </a:lnSpc>
            </a:pPr>
            <a:r>
              <a:rPr sz="1050" b="1">
                <a:solidFill>
                  <a:srgbClr val="333333"/>
                </a:solidFill>
                <a:latin typeface="メイリオ"/>
                <a:ea typeface="メイリオ"/>
                <a:cs typeface="メイリオ"/>
              </a:rPr>
              <a:t>入会の最大期／春期講習</a:t>
            </a:r>
          </a:p>
        </p:txBody>
      </p:sp>
      <p:sp>
        <p:nvSpPr>
          <p:cNvPr id="13" name="TextBox 12"/>
          <p:cNvSpPr txBox="1"/>
          <p:nvPr/>
        </p:nvSpPr>
        <p:spPr>
          <a:xfrm>
            <a:off x="3491999" y="2369018"/>
            <a:ext cx="2951999" cy="226364"/>
          </a:xfrm>
          <a:prstGeom prst="rect">
            <a:avLst/>
          </a:prstGeom>
          <a:noFill/>
        </p:spPr>
        <p:txBody>
          <a:bodyPr wrap="square" lIns="50400" tIns="21600" rIns="50400" bIns="21600" anchor="ctr">
            <a:spAutoFit/>
          </a:bodyPr>
          <a:lstStyle/>
          <a:p>
            <a:pPr algn="l">
              <a:lnSpc>
                <a:spcPct val="125000"/>
              </a:lnSpc>
            </a:pPr>
            <a:r>
              <a:rPr sz="1000">
                <a:solidFill>
                  <a:srgbClr val="7F7F7F"/>
                </a:solidFill>
                <a:latin typeface="メイリオ"/>
                <a:ea typeface="メイリオ"/>
                <a:cs typeface="メイリオ"/>
              </a:rPr>
              <a:t>受験3種のピークも1月中旬〜2月上旬</a:t>
            </a:r>
          </a:p>
        </p:txBody>
      </p:sp>
      <p:sp>
        <p:nvSpPr>
          <p:cNvPr id="14" name="TextBox 13"/>
          <p:cNvSpPr txBox="1"/>
          <p:nvPr/>
        </p:nvSpPr>
        <p:spPr>
          <a:xfrm>
            <a:off x="6552000" y="2369018"/>
            <a:ext cx="2880000" cy="226364"/>
          </a:xfrm>
          <a:prstGeom prst="rect">
            <a:avLst/>
          </a:prstGeom>
          <a:noFill/>
        </p:spPr>
        <p:txBody>
          <a:bodyPr wrap="square" lIns="50400" tIns="21600" rIns="50400" bIns="21600" anchor="ctr">
            <a:spAutoFit/>
          </a:bodyPr>
          <a:lstStyle/>
          <a:p>
            <a:pPr algn="l">
              <a:lnSpc>
                <a:spcPct val="125000"/>
              </a:lnSpc>
            </a:pPr>
            <a:r>
              <a:rPr sz="1000">
                <a:solidFill>
                  <a:srgbClr val="333333"/>
                </a:solidFill>
                <a:latin typeface="メイリオ"/>
                <a:ea typeface="メイリオ"/>
                <a:cs typeface="メイリオ"/>
              </a:rPr>
              <a:t>新学年スタート応援。春期講習は夏の1/3規模</a:t>
            </a:r>
          </a:p>
        </p:txBody>
      </p:sp>
      <p:sp>
        <p:nvSpPr>
          <p:cNvPr id="15" name="Rounded Rectangle 14"/>
          <p:cNvSpPr/>
          <p:nvPr/>
        </p:nvSpPr>
        <p:spPr>
          <a:xfrm>
            <a:off x="432000" y="2804400"/>
            <a:ext cx="9043200" cy="522000"/>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6" name="Rounded Rectangle 15"/>
          <p:cNvSpPr/>
          <p:nvPr/>
        </p:nvSpPr>
        <p:spPr>
          <a:xfrm>
            <a:off x="432000" y="2804400"/>
            <a:ext cx="936000" cy="52200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r>
              <a:rPr sz="1400" b="1">
                <a:solidFill>
                  <a:srgbClr val="FFFFFF"/>
                </a:solidFill>
                <a:latin typeface="メイリオ"/>
                <a:ea typeface="メイリオ"/>
                <a:cs typeface="メイリオ"/>
              </a:rPr>
              <a:t>4-5月</a:t>
            </a:r>
          </a:p>
        </p:txBody>
      </p:sp>
      <p:sp>
        <p:nvSpPr>
          <p:cNvPr id="17" name="TextBox 16"/>
          <p:cNvSpPr txBox="1"/>
          <p:nvPr/>
        </p:nvSpPr>
        <p:spPr>
          <a:xfrm>
            <a:off x="1475999" y="2950679"/>
            <a:ext cx="1944000" cy="229442"/>
          </a:xfrm>
          <a:prstGeom prst="rect">
            <a:avLst/>
          </a:prstGeom>
          <a:noFill/>
        </p:spPr>
        <p:txBody>
          <a:bodyPr wrap="square" lIns="50400" tIns="21600" rIns="50400" bIns="21600" anchor="ctr">
            <a:spAutoFit/>
          </a:bodyPr>
          <a:lstStyle/>
          <a:p>
            <a:pPr algn="l">
              <a:lnSpc>
                <a:spcPct val="120000"/>
              </a:lnSpc>
            </a:pPr>
            <a:r>
              <a:rPr sz="1050" b="1">
                <a:solidFill>
                  <a:srgbClr val="333333"/>
                </a:solidFill>
                <a:latin typeface="メイリオ"/>
                <a:ea typeface="メイリオ"/>
                <a:cs typeface="メイリオ"/>
              </a:rPr>
              <a:t>最初の定期テスト</a:t>
            </a:r>
          </a:p>
        </p:txBody>
      </p:sp>
      <p:sp>
        <p:nvSpPr>
          <p:cNvPr id="18" name="TextBox 17"/>
          <p:cNvSpPr txBox="1"/>
          <p:nvPr/>
        </p:nvSpPr>
        <p:spPr>
          <a:xfrm>
            <a:off x="3491999" y="2952218"/>
            <a:ext cx="2951999" cy="226364"/>
          </a:xfrm>
          <a:prstGeom prst="rect">
            <a:avLst/>
          </a:prstGeom>
          <a:noFill/>
        </p:spPr>
        <p:txBody>
          <a:bodyPr wrap="square" lIns="50400" tIns="21600" rIns="50400" bIns="21600" anchor="ctr">
            <a:spAutoFit/>
          </a:bodyPr>
          <a:lstStyle/>
          <a:p>
            <a:pPr algn="l">
              <a:lnSpc>
                <a:spcPct val="125000"/>
              </a:lnSpc>
            </a:pPr>
            <a:r>
              <a:rPr sz="1000">
                <a:solidFill>
                  <a:srgbClr val="7F7F7F"/>
                </a:solidFill>
                <a:latin typeface="メイリオ"/>
                <a:ea typeface="メイリオ"/>
                <a:cs typeface="メイリオ"/>
              </a:rPr>
              <a:t>中間テストで成績不安が顕在化</a:t>
            </a:r>
          </a:p>
        </p:txBody>
      </p:sp>
      <p:sp>
        <p:nvSpPr>
          <p:cNvPr id="19" name="TextBox 18"/>
          <p:cNvSpPr txBox="1"/>
          <p:nvPr/>
        </p:nvSpPr>
        <p:spPr>
          <a:xfrm>
            <a:off x="6552000" y="2856037"/>
            <a:ext cx="2880000" cy="418725"/>
          </a:xfrm>
          <a:prstGeom prst="rect">
            <a:avLst/>
          </a:prstGeom>
          <a:noFill/>
        </p:spPr>
        <p:txBody>
          <a:bodyPr wrap="square" lIns="50400" tIns="21600" rIns="50400" bIns="21600" anchor="ctr">
            <a:spAutoFit/>
          </a:bodyPr>
          <a:lstStyle/>
          <a:p>
            <a:pPr algn="l">
              <a:lnSpc>
                <a:spcPct val="125000"/>
              </a:lnSpc>
            </a:pPr>
            <a:r>
              <a:rPr sz="1000">
                <a:solidFill>
                  <a:srgbClr val="333333"/>
                </a:solidFill>
                <a:latin typeface="メイリオ"/>
                <a:ea typeface="メイリオ"/>
                <a:cs typeface="メイリオ"/>
              </a:rPr>
              <a:t>「テスト後、9割の家庭がしない事」（P32）</a:t>
            </a:r>
          </a:p>
        </p:txBody>
      </p:sp>
      <p:sp>
        <p:nvSpPr>
          <p:cNvPr id="20" name="Rounded Rectangle 19"/>
          <p:cNvSpPr/>
          <p:nvPr/>
        </p:nvSpPr>
        <p:spPr>
          <a:xfrm>
            <a:off x="432000" y="3387600"/>
            <a:ext cx="9043200" cy="522000"/>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1" name="Rounded Rectangle 20"/>
          <p:cNvSpPr/>
          <p:nvPr/>
        </p:nvSpPr>
        <p:spPr>
          <a:xfrm>
            <a:off x="432000" y="3387600"/>
            <a:ext cx="936000" cy="522000"/>
          </a:xfrm>
          <a:prstGeom prst="roundRect">
            <a:avLst>
              <a:gd name="adj" fmla="val 6000"/>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r>
              <a:rPr sz="1400" b="1">
                <a:solidFill>
                  <a:srgbClr val="FFFFFF"/>
                </a:solidFill>
                <a:latin typeface="メイリオ"/>
                <a:ea typeface="メイリオ"/>
                <a:cs typeface="メイリオ"/>
              </a:rPr>
              <a:t>6月</a:t>
            </a:r>
          </a:p>
        </p:txBody>
      </p:sp>
      <p:sp>
        <p:nvSpPr>
          <p:cNvPr id="22" name="TextBox 21"/>
          <p:cNvSpPr txBox="1"/>
          <p:nvPr/>
        </p:nvSpPr>
        <p:spPr>
          <a:xfrm>
            <a:off x="1475999" y="3533879"/>
            <a:ext cx="1944000" cy="229442"/>
          </a:xfrm>
          <a:prstGeom prst="rect">
            <a:avLst/>
          </a:prstGeom>
          <a:noFill/>
        </p:spPr>
        <p:txBody>
          <a:bodyPr wrap="square" lIns="50400" tIns="21600" rIns="50400" bIns="21600" anchor="ctr">
            <a:spAutoFit/>
          </a:bodyPr>
          <a:lstStyle/>
          <a:p>
            <a:pPr algn="l">
              <a:lnSpc>
                <a:spcPct val="120000"/>
              </a:lnSpc>
            </a:pPr>
            <a:r>
              <a:rPr sz="1050" b="1">
                <a:solidFill>
                  <a:srgbClr val="333333"/>
                </a:solidFill>
                <a:latin typeface="メイリオ"/>
                <a:ea typeface="メイリオ"/>
                <a:cs typeface="メイリオ"/>
              </a:rPr>
              <a:t>夏期講習の配信の準備</a:t>
            </a:r>
          </a:p>
        </p:txBody>
      </p:sp>
      <p:sp>
        <p:nvSpPr>
          <p:cNvPr id="23" name="TextBox 22"/>
          <p:cNvSpPr txBox="1"/>
          <p:nvPr/>
        </p:nvSpPr>
        <p:spPr>
          <a:xfrm>
            <a:off x="3491999" y="3535418"/>
            <a:ext cx="2951999" cy="226364"/>
          </a:xfrm>
          <a:prstGeom prst="rect">
            <a:avLst/>
          </a:prstGeom>
          <a:noFill/>
        </p:spPr>
        <p:txBody>
          <a:bodyPr wrap="square" lIns="50400" tIns="21600" rIns="50400" bIns="21600" anchor="ctr">
            <a:spAutoFit/>
          </a:bodyPr>
          <a:lstStyle/>
          <a:p>
            <a:pPr algn="l">
              <a:lnSpc>
                <a:spcPct val="125000"/>
              </a:lnSpc>
            </a:pPr>
            <a:r>
              <a:rPr sz="1000">
                <a:solidFill>
                  <a:srgbClr val="7F7F7F"/>
                </a:solidFill>
                <a:latin typeface="メイリオ"/>
                <a:ea typeface="メイリオ"/>
                <a:cs typeface="メイリオ"/>
              </a:rPr>
              <a:t>夏期講習の検索は7月中旬が山</a:t>
            </a:r>
          </a:p>
        </p:txBody>
      </p:sp>
      <p:sp>
        <p:nvSpPr>
          <p:cNvPr id="24" name="TextBox 23"/>
          <p:cNvSpPr txBox="1"/>
          <p:nvPr/>
        </p:nvSpPr>
        <p:spPr>
          <a:xfrm>
            <a:off x="6552000" y="3535418"/>
            <a:ext cx="2880000" cy="226364"/>
          </a:xfrm>
          <a:prstGeom prst="rect">
            <a:avLst/>
          </a:prstGeom>
          <a:noFill/>
        </p:spPr>
        <p:txBody>
          <a:bodyPr wrap="square" lIns="50400" tIns="21600" rIns="50400" bIns="21600" anchor="ctr">
            <a:spAutoFit/>
          </a:bodyPr>
          <a:lstStyle/>
          <a:p>
            <a:pPr algn="l">
              <a:lnSpc>
                <a:spcPct val="125000"/>
              </a:lnSpc>
            </a:pPr>
            <a:r>
              <a:rPr sz="1000">
                <a:solidFill>
                  <a:srgbClr val="333333"/>
                </a:solidFill>
                <a:latin typeface="メイリオ"/>
                <a:ea typeface="メイリオ"/>
                <a:cs typeface="メイリオ"/>
              </a:rPr>
              <a:t>年間最大の商戦。ここを外すと1年が変わる</a:t>
            </a:r>
          </a:p>
        </p:txBody>
      </p:sp>
      <p:sp>
        <p:nvSpPr>
          <p:cNvPr id="25" name="Rounded Rectangle 24"/>
          <p:cNvSpPr/>
          <p:nvPr/>
        </p:nvSpPr>
        <p:spPr>
          <a:xfrm>
            <a:off x="432000" y="3970800"/>
            <a:ext cx="9043200" cy="522000"/>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6" name="Rounded Rectangle 25"/>
          <p:cNvSpPr/>
          <p:nvPr/>
        </p:nvSpPr>
        <p:spPr>
          <a:xfrm>
            <a:off x="432000" y="3970800"/>
            <a:ext cx="936000" cy="522000"/>
          </a:xfrm>
          <a:prstGeom prst="roundRect">
            <a:avLst>
              <a:gd name="adj" fmla="val 6000"/>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r>
              <a:rPr sz="1400" b="1">
                <a:solidFill>
                  <a:srgbClr val="FFFFFF"/>
                </a:solidFill>
                <a:latin typeface="メイリオ"/>
                <a:ea typeface="メイリオ"/>
                <a:cs typeface="メイリオ"/>
              </a:rPr>
              <a:t>7-8月</a:t>
            </a:r>
          </a:p>
        </p:txBody>
      </p:sp>
      <p:sp>
        <p:nvSpPr>
          <p:cNvPr id="27" name="TextBox 26"/>
          <p:cNvSpPr txBox="1"/>
          <p:nvPr/>
        </p:nvSpPr>
        <p:spPr>
          <a:xfrm>
            <a:off x="1475999" y="4117079"/>
            <a:ext cx="1944000" cy="229442"/>
          </a:xfrm>
          <a:prstGeom prst="rect">
            <a:avLst/>
          </a:prstGeom>
          <a:noFill/>
        </p:spPr>
        <p:txBody>
          <a:bodyPr wrap="square" lIns="50400" tIns="21600" rIns="50400" bIns="21600" anchor="ctr">
            <a:spAutoFit/>
          </a:bodyPr>
          <a:lstStyle/>
          <a:p>
            <a:pPr algn="l">
              <a:lnSpc>
                <a:spcPct val="120000"/>
              </a:lnSpc>
            </a:pPr>
            <a:r>
              <a:rPr sz="1050" b="1">
                <a:solidFill>
                  <a:srgbClr val="333333"/>
                </a:solidFill>
                <a:latin typeface="メイリオ"/>
                <a:ea typeface="メイリオ"/>
                <a:cs typeface="メイリオ"/>
              </a:rPr>
              <a:t>夏期講習ピーク</a:t>
            </a:r>
          </a:p>
        </p:txBody>
      </p:sp>
      <p:sp>
        <p:nvSpPr>
          <p:cNvPr id="28" name="TextBox 27"/>
          <p:cNvSpPr txBox="1"/>
          <p:nvPr/>
        </p:nvSpPr>
        <p:spPr>
          <a:xfrm>
            <a:off x="3491999" y="4118618"/>
            <a:ext cx="2951999" cy="226364"/>
          </a:xfrm>
          <a:prstGeom prst="rect">
            <a:avLst/>
          </a:prstGeom>
          <a:noFill/>
        </p:spPr>
        <p:txBody>
          <a:bodyPr wrap="square" lIns="50400" tIns="21600" rIns="50400" bIns="21600" anchor="ctr">
            <a:spAutoFit/>
          </a:bodyPr>
          <a:lstStyle/>
          <a:p>
            <a:pPr algn="l">
              <a:lnSpc>
                <a:spcPct val="125000"/>
              </a:lnSpc>
            </a:pPr>
            <a:r>
              <a:rPr sz="1000">
                <a:solidFill>
                  <a:srgbClr val="7F7F7F"/>
                </a:solidFill>
                <a:latin typeface="メイリオ"/>
                <a:ea typeface="メイリオ"/>
                <a:cs typeface="メイリオ"/>
              </a:rPr>
              <a:t>冬期・春期の3〜5倍の規模</a:t>
            </a:r>
          </a:p>
        </p:txBody>
      </p:sp>
      <p:sp>
        <p:nvSpPr>
          <p:cNvPr id="29" name="TextBox 28"/>
          <p:cNvSpPr txBox="1"/>
          <p:nvPr/>
        </p:nvSpPr>
        <p:spPr>
          <a:xfrm>
            <a:off x="6552000" y="4118618"/>
            <a:ext cx="2880000" cy="226364"/>
          </a:xfrm>
          <a:prstGeom prst="rect">
            <a:avLst/>
          </a:prstGeom>
          <a:noFill/>
        </p:spPr>
        <p:txBody>
          <a:bodyPr wrap="square" lIns="50400" tIns="21600" rIns="50400" bIns="21600" anchor="ctr">
            <a:spAutoFit/>
          </a:bodyPr>
          <a:lstStyle/>
          <a:p>
            <a:pPr algn="l">
              <a:lnSpc>
                <a:spcPct val="125000"/>
              </a:lnSpc>
            </a:pPr>
            <a:r>
              <a:rPr sz="1000">
                <a:solidFill>
                  <a:srgbClr val="333333"/>
                </a:solidFill>
                <a:latin typeface="メイリオ"/>
                <a:ea typeface="メイリオ"/>
                <a:cs typeface="メイリオ"/>
              </a:rPr>
              <a:t>夏の学習計画・自由研究・受験生の夏</a:t>
            </a:r>
          </a:p>
        </p:txBody>
      </p:sp>
      <p:sp>
        <p:nvSpPr>
          <p:cNvPr id="30" name="Rounded Rectangle 29"/>
          <p:cNvSpPr/>
          <p:nvPr/>
        </p:nvSpPr>
        <p:spPr>
          <a:xfrm>
            <a:off x="432000" y="4554000"/>
            <a:ext cx="9043200" cy="522000"/>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31" name="Rounded Rectangle 30"/>
          <p:cNvSpPr/>
          <p:nvPr/>
        </p:nvSpPr>
        <p:spPr>
          <a:xfrm>
            <a:off x="432000" y="4554000"/>
            <a:ext cx="936000" cy="52200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r>
              <a:rPr sz="1400" b="1">
                <a:solidFill>
                  <a:srgbClr val="FFFFFF"/>
                </a:solidFill>
                <a:latin typeface="メイリオ"/>
                <a:ea typeface="メイリオ"/>
                <a:cs typeface="メイリオ"/>
              </a:rPr>
              <a:t>9-10月</a:t>
            </a:r>
          </a:p>
        </p:txBody>
      </p:sp>
      <p:sp>
        <p:nvSpPr>
          <p:cNvPr id="32" name="TextBox 31"/>
          <p:cNvSpPr txBox="1"/>
          <p:nvPr/>
        </p:nvSpPr>
        <p:spPr>
          <a:xfrm>
            <a:off x="1475999" y="4700279"/>
            <a:ext cx="1944000" cy="229442"/>
          </a:xfrm>
          <a:prstGeom prst="rect">
            <a:avLst/>
          </a:prstGeom>
          <a:noFill/>
        </p:spPr>
        <p:txBody>
          <a:bodyPr wrap="square" lIns="50400" tIns="21600" rIns="50400" bIns="21600" anchor="ctr">
            <a:spAutoFit/>
          </a:bodyPr>
          <a:lstStyle/>
          <a:p>
            <a:pPr algn="l">
              <a:lnSpc>
                <a:spcPct val="120000"/>
              </a:lnSpc>
            </a:pPr>
            <a:r>
              <a:rPr sz="1050" b="1">
                <a:solidFill>
                  <a:srgbClr val="333333"/>
                </a:solidFill>
                <a:latin typeface="メイリオ"/>
                <a:ea typeface="メイリオ"/>
                <a:cs typeface="メイリオ"/>
              </a:rPr>
              <a:t>2学期の定期テスト</a:t>
            </a:r>
          </a:p>
        </p:txBody>
      </p:sp>
      <p:sp>
        <p:nvSpPr>
          <p:cNvPr id="33" name="TextBox 32"/>
          <p:cNvSpPr txBox="1"/>
          <p:nvPr/>
        </p:nvSpPr>
        <p:spPr>
          <a:xfrm>
            <a:off x="3491999" y="4701818"/>
            <a:ext cx="2951999" cy="226364"/>
          </a:xfrm>
          <a:prstGeom prst="rect">
            <a:avLst/>
          </a:prstGeom>
          <a:noFill/>
        </p:spPr>
        <p:txBody>
          <a:bodyPr wrap="square" lIns="50400" tIns="21600" rIns="50400" bIns="21600" anchor="ctr">
            <a:spAutoFit/>
          </a:bodyPr>
          <a:lstStyle/>
          <a:p>
            <a:pPr algn="l">
              <a:lnSpc>
                <a:spcPct val="125000"/>
              </a:lnSpc>
            </a:pPr>
            <a:r>
              <a:rPr sz="1000">
                <a:solidFill>
                  <a:srgbClr val="7F7F7F"/>
                </a:solidFill>
                <a:latin typeface="メイリオ"/>
                <a:ea typeface="メイリオ"/>
                <a:cs typeface="メイリオ"/>
              </a:rPr>
              <a:t>中間・期末テストで成績の不安が出やすい</a:t>
            </a:r>
          </a:p>
        </p:txBody>
      </p:sp>
      <p:sp>
        <p:nvSpPr>
          <p:cNvPr id="34" name="TextBox 33"/>
          <p:cNvSpPr txBox="1"/>
          <p:nvPr/>
        </p:nvSpPr>
        <p:spPr>
          <a:xfrm>
            <a:off x="6552000" y="4701818"/>
            <a:ext cx="2880000" cy="226364"/>
          </a:xfrm>
          <a:prstGeom prst="rect">
            <a:avLst/>
          </a:prstGeom>
          <a:noFill/>
        </p:spPr>
        <p:txBody>
          <a:bodyPr wrap="square" lIns="50400" tIns="21600" rIns="50400" bIns="21600" anchor="ctr">
            <a:spAutoFit/>
          </a:bodyPr>
          <a:lstStyle/>
          <a:p>
            <a:pPr algn="l">
              <a:lnSpc>
                <a:spcPct val="125000"/>
              </a:lnSpc>
            </a:pPr>
            <a:r>
              <a:rPr sz="1000">
                <a:solidFill>
                  <a:srgbClr val="333333"/>
                </a:solidFill>
                <a:latin typeface="メイリオ"/>
                <a:ea typeface="メイリオ"/>
                <a:cs typeface="メイリオ"/>
              </a:rPr>
              <a:t>テスト返却週に「点数の見方」を配信</a:t>
            </a:r>
          </a:p>
        </p:txBody>
      </p:sp>
      <p:sp>
        <p:nvSpPr>
          <p:cNvPr id="35" name="Rounded Rectangle 34"/>
          <p:cNvSpPr/>
          <p:nvPr/>
        </p:nvSpPr>
        <p:spPr>
          <a:xfrm>
            <a:off x="432000" y="5137200"/>
            <a:ext cx="9043200" cy="522000"/>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36" name="Rounded Rectangle 35"/>
          <p:cNvSpPr/>
          <p:nvPr/>
        </p:nvSpPr>
        <p:spPr>
          <a:xfrm>
            <a:off x="432000" y="5137200"/>
            <a:ext cx="936000" cy="52200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r>
              <a:rPr sz="1400" b="1">
                <a:solidFill>
                  <a:srgbClr val="FFFFFF"/>
                </a:solidFill>
                <a:latin typeface="メイリオ"/>
                <a:ea typeface="メイリオ"/>
                <a:cs typeface="メイリオ"/>
              </a:rPr>
              <a:t>11-12月</a:t>
            </a:r>
          </a:p>
        </p:txBody>
      </p:sp>
      <p:sp>
        <p:nvSpPr>
          <p:cNvPr id="37" name="TextBox 36"/>
          <p:cNvSpPr txBox="1"/>
          <p:nvPr/>
        </p:nvSpPr>
        <p:spPr>
          <a:xfrm>
            <a:off x="1475999" y="5283479"/>
            <a:ext cx="1944000" cy="229442"/>
          </a:xfrm>
          <a:prstGeom prst="rect">
            <a:avLst/>
          </a:prstGeom>
          <a:noFill/>
        </p:spPr>
        <p:txBody>
          <a:bodyPr wrap="square" lIns="50400" tIns="21600" rIns="50400" bIns="21600" anchor="ctr">
            <a:spAutoFit/>
          </a:bodyPr>
          <a:lstStyle/>
          <a:p>
            <a:pPr algn="l">
              <a:lnSpc>
                <a:spcPct val="120000"/>
              </a:lnSpc>
            </a:pPr>
            <a:r>
              <a:rPr sz="1050" b="1">
                <a:solidFill>
                  <a:srgbClr val="333333"/>
                </a:solidFill>
                <a:latin typeface="メイリオ"/>
                <a:ea typeface="メイリオ"/>
                <a:cs typeface="メイリオ"/>
              </a:rPr>
              <a:t>冬期講習・受験直前</a:t>
            </a:r>
          </a:p>
        </p:txBody>
      </p:sp>
      <p:sp>
        <p:nvSpPr>
          <p:cNvPr id="38" name="TextBox 37"/>
          <p:cNvSpPr txBox="1"/>
          <p:nvPr/>
        </p:nvSpPr>
        <p:spPr>
          <a:xfrm>
            <a:off x="3491999" y="5285018"/>
            <a:ext cx="2951999" cy="226364"/>
          </a:xfrm>
          <a:prstGeom prst="rect">
            <a:avLst/>
          </a:prstGeom>
          <a:noFill/>
        </p:spPr>
        <p:txBody>
          <a:bodyPr wrap="square" lIns="50400" tIns="21600" rIns="50400" bIns="21600" anchor="ctr">
            <a:spAutoFit/>
          </a:bodyPr>
          <a:lstStyle/>
          <a:p>
            <a:pPr algn="l">
              <a:lnSpc>
                <a:spcPct val="125000"/>
              </a:lnSpc>
            </a:pPr>
            <a:r>
              <a:rPr sz="1000">
                <a:solidFill>
                  <a:srgbClr val="7F7F7F"/>
                </a:solidFill>
                <a:latin typeface="メイリオ"/>
                <a:ea typeface="メイリオ"/>
                <a:cs typeface="メイリオ"/>
              </a:rPr>
              <a:t>冬期講習は12月下旬がピーク</a:t>
            </a:r>
          </a:p>
        </p:txBody>
      </p:sp>
      <p:sp>
        <p:nvSpPr>
          <p:cNvPr id="39" name="TextBox 38"/>
          <p:cNvSpPr txBox="1"/>
          <p:nvPr/>
        </p:nvSpPr>
        <p:spPr>
          <a:xfrm>
            <a:off x="6552000" y="5285018"/>
            <a:ext cx="2880000" cy="226364"/>
          </a:xfrm>
          <a:prstGeom prst="rect">
            <a:avLst/>
          </a:prstGeom>
          <a:noFill/>
        </p:spPr>
        <p:txBody>
          <a:bodyPr wrap="square" lIns="50400" tIns="21600" rIns="50400" bIns="21600" anchor="ctr">
            <a:spAutoFit/>
          </a:bodyPr>
          <a:lstStyle/>
          <a:p>
            <a:pPr algn="l">
              <a:lnSpc>
                <a:spcPct val="125000"/>
              </a:lnSpc>
            </a:pPr>
            <a:r>
              <a:rPr sz="1000">
                <a:solidFill>
                  <a:srgbClr val="333333"/>
                </a:solidFill>
                <a:latin typeface="メイリオ"/>
                <a:ea typeface="メイリオ"/>
                <a:cs typeface="メイリオ"/>
              </a:rPr>
              <a:t>受験生は直前期、非受験生は「来年こそ」</a:t>
            </a:r>
          </a:p>
        </p:txBody>
      </p:sp>
      <p:sp>
        <p:nvSpPr>
          <p:cNvPr id="40" name="TextBox 39"/>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900">
                <a:solidFill>
                  <a:srgbClr val="7F7F7F"/>
                </a:solidFill>
                <a:latin typeface="メイリオ"/>
                <a:ea typeface="メイリオ"/>
                <a:cs typeface="メイリオ"/>
              </a:rPr>
              <a:t>出典｜Googleトレンド（日本・2026年年初来・週次）。各月の内容はDYM見解</a:t>
            </a:r>
          </a:p>
        </p:txBody>
      </p:sp>
      <p:sp>
        <p:nvSpPr>
          <p:cNvPr id="41" name="Pentagon 40"/>
          <p:cNvSpPr/>
          <p:nvPr/>
        </p:nvSpPr>
        <p:spPr>
          <a:xfrm>
            <a:off x="432000" y="590400"/>
            <a:ext cx="1111500" cy="180000"/>
          </a:xfrm>
          <a:prstGeom prst="homePlat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①接触</a:t>
            </a:r>
          </a:p>
        </p:txBody>
      </p:sp>
      <p:sp>
        <p:nvSpPr>
          <p:cNvPr id="42" name="Chevron 41"/>
          <p:cNvSpPr/>
          <p:nvPr/>
        </p:nvSpPr>
        <p:spPr>
          <a:xfrm>
            <a:off x="15651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②離脱</a:t>
            </a:r>
          </a:p>
        </p:txBody>
      </p:sp>
      <p:sp>
        <p:nvSpPr>
          <p:cNvPr id="43" name="Chevron 42"/>
          <p:cNvSpPr/>
          <p:nvPr/>
        </p:nvSpPr>
        <p:spPr>
          <a:xfrm>
            <a:off x="26982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③育成</a:t>
            </a:r>
          </a:p>
        </p:txBody>
      </p:sp>
      <p:sp>
        <p:nvSpPr>
          <p:cNvPr id="44" name="Chevron 43"/>
          <p:cNvSpPr/>
          <p:nvPr/>
        </p:nvSpPr>
        <p:spPr>
          <a:xfrm>
            <a:off x="38312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④リード獲得</a:t>
            </a:r>
          </a:p>
        </p:txBody>
      </p:sp>
      <p:sp>
        <p:nvSpPr>
          <p:cNvPr id="45" name="Chevron 44"/>
          <p:cNvSpPr/>
          <p:nvPr/>
        </p:nvSpPr>
        <p:spPr>
          <a:xfrm>
            <a:off x="49644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⑤リード有効化</a:t>
            </a:r>
          </a:p>
        </p:txBody>
      </p:sp>
      <p:sp>
        <p:nvSpPr>
          <p:cNvPr id="46" name="Chevron 45"/>
          <p:cNvSpPr/>
          <p:nvPr/>
        </p:nvSpPr>
        <p:spPr>
          <a:xfrm>
            <a:off x="60975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⑥再育成</a:t>
            </a:r>
          </a:p>
        </p:txBody>
      </p:sp>
      <p:sp>
        <p:nvSpPr>
          <p:cNvPr id="47" name="Chevron 46"/>
          <p:cNvSpPr/>
          <p:nvPr/>
        </p:nvSpPr>
        <p:spPr>
          <a:xfrm>
            <a:off x="72305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⑦入会（契約）</a:t>
            </a:r>
          </a:p>
        </p:txBody>
      </p:sp>
      <p:sp>
        <p:nvSpPr>
          <p:cNvPr id="48" name="Chevron 47"/>
          <p:cNvSpPr/>
          <p:nvPr/>
        </p:nvSpPr>
        <p:spPr>
          <a:xfrm>
            <a:off x="83636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⑧紹介</a:t>
            </a:r>
          </a:p>
        </p:txBody>
      </p:sp>
    </p:spTree>
    <p:extLst>
      <p:ext uri="{BB962C8B-B14F-4D97-AF65-F5344CB8AC3E}">
        <p14:creationId xmlns:p14="http://schemas.microsoft.com/office/powerpoint/2010/main" val="27568268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033825-9171-A79A-31F7-FBB36FFE7BAB}"/>
            </a:ext>
          </a:extLst>
        </p:cNvPr>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具体企画の構成｜第2の提案軸：友だちと一緒に</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dirty="0">
                <a:solidFill>
                  <a:srgbClr val="333333"/>
                </a:solidFill>
                <a:latin typeface="メイリオ"/>
                <a:ea typeface="メイリオ"/>
                <a:cs typeface="メイリオ"/>
              </a:rPr>
              <a:t>塾を知ったきっかけの1位は「知人・友人の口コミ」47.0%。塾の公式サイトより多い。</a:t>
            </a:r>
            <a:endParaRPr lang="en-US" sz="1200" dirty="0">
              <a:solidFill>
                <a:srgbClr val="333333"/>
              </a:solidFill>
              <a:latin typeface="メイリオ"/>
              <a:ea typeface="メイリオ"/>
              <a:cs typeface="メイリオ"/>
            </a:endParaRPr>
          </a:p>
          <a:p>
            <a:pPr algn="l">
              <a:lnSpc>
                <a:spcPct val="128000"/>
              </a:lnSpc>
            </a:pPr>
            <a:r>
              <a:rPr sz="1200" dirty="0">
                <a:solidFill>
                  <a:srgbClr val="333333"/>
                </a:solidFill>
                <a:latin typeface="メイリオ"/>
                <a:ea typeface="メイリオ"/>
                <a:cs typeface="メイリオ"/>
              </a:rPr>
              <a:t>保護者どうしの「どこの塾に行ってる？」を、LINEの友だち追加につなげる。</a:t>
            </a:r>
            <a:endParaRPr lang="en-US" sz="1200" dirty="0">
              <a:solidFill>
                <a:srgbClr val="333333"/>
              </a:solidFill>
              <a:latin typeface="メイリオ"/>
              <a:ea typeface="メイリオ"/>
              <a:cs typeface="メイリオ"/>
            </a:endParaRP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900">
                <a:solidFill>
                  <a:srgbClr val="7F7F7F"/>
                </a:solidFill>
                <a:latin typeface="メイリオ"/>
                <a:ea typeface="メイリオ"/>
                <a:cs typeface="メイリオ"/>
              </a:rPr>
              <a:t>出典｜POPER「Comiru」保護者と学習塾の意識調査 2022年（保護者300人）</a:t>
            </a:r>
          </a:p>
        </p:txBody>
      </p:sp>
      <p:sp>
        <p:nvSpPr>
          <p:cNvPr id="24" name="Pentagon 23"/>
          <p:cNvSpPr/>
          <p:nvPr/>
        </p:nvSpPr>
        <p:spPr>
          <a:xfrm>
            <a:off x="432000" y="590400"/>
            <a:ext cx="1111500" cy="180000"/>
          </a:xfrm>
          <a:prstGeom prst="homePlat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①接触</a:t>
            </a:r>
          </a:p>
        </p:txBody>
      </p:sp>
      <p:sp>
        <p:nvSpPr>
          <p:cNvPr id="25" name="Chevron 24"/>
          <p:cNvSpPr/>
          <p:nvPr/>
        </p:nvSpPr>
        <p:spPr>
          <a:xfrm>
            <a:off x="15651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②離脱</a:t>
            </a:r>
          </a:p>
        </p:txBody>
      </p:sp>
      <p:sp>
        <p:nvSpPr>
          <p:cNvPr id="26" name="Chevron 25"/>
          <p:cNvSpPr/>
          <p:nvPr/>
        </p:nvSpPr>
        <p:spPr>
          <a:xfrm>
            <a:off x="26982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③育成</a:t>
            </a:r>
          </a:p>
        </p:txBody>
      </p:sp>
      <p:sp>
        <p:nvSpPr>
          <p:cNvPr id="27" name="Chevron 26"/>
          <p:cNvSpPr/>
          <p:nvPr/>
        </p:nvSpPr>
        <p:spPr>
          <a:xfrm>
            <a:off x="3831299"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④リード獲得</a:t>
            </a:r>
          </a:p>
        </p:txBody>
      </p:sp>
      <p:sp>
        <p:nvSpPr>
          <p:cNvPr id="28" name="Chevron 27"/>
          <p:cNvSpPr/>
          <p:nvPr/>
        </p:nvSpPr>
        <p:spPr>
          <a:xfrm>
            <a:off x="49644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⑤リード有効化</a:t>
            </a:r>
          </a:p>
        </p:txBody>
      </p:sp>
      <p:sp>
        <p:nvSpPr>
          <p:cNvPr id="29" name="Chevron 28"/>
          <p:cNvSpPr/>
          <p:nvPr/>
        </p:nvSpPr>
        <p:spPr>
          <a:xfrm>
            <a:off x="60975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⑥再育成</a:t>
            </a:r>
          </a:p>
        </p:txBody>
      </p:sp>
      <p:sp>
        <p:nvSpPr>
          <p:cNvPr id="30" name="Chevron 29"/>
          <p:cNvSpPr/>
          <p:nvPr/>
        </p:nvSpPr>
        <p:spPr>
          <a:xfrm>
            <a:off x="72305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⑦入会（契約）</a:t>
            </a:r>
          </a:p>
        </p:txBody>
      </p:sp>
      <p:sp>
        <p:nvSpPr>
          <p:cNvPr id="31" name="Chevron 30"/>
          <p:cNvSpPr/>
          <p:nvPr/>
        </p:nvSpPr>
        <p:spPr>
          <a:xfrm>
            <a:off x="83636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⑧紹介</a:t>
            </a:r>
          </a:p>
        </p:txBody>
      </p:sp>
      <p:sp>
        <p:nvSpPr>
          <p:cNvPr id="32" name="Rounded Rectangle 31"/>
          <p:cNvSpPr/>
          <p:nvPr/>
        </p:nvSpPr>
        <p:spPr>
          <a:xfrm>
            <a:off x="432000" y="1494000"/>
            <a:ext cx="2882399" cy="99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33" name="Rounded Rectangle 32"/>
          <p:cNvSpPr/>
          <p:nvPr/>
        </p:nvSpPr>
        <p:spPr>
          <a:xfrm>
            <a:off x="432000" y="1494000"/>
            <a:ext cx="2882399" cy="223200"/>
          </a:xfrm>
          <a:prstGeom prst="roundRect">
            <a:avLst>
              <a:gd name="adj" fmla="val 20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333333"/>
                </a:solidFill>
                <a:latin typeface="メイリオ"/>
                <a:ea typeface="メイリオ"/>
                <a:cs typeface="メイリオ"/>
              </a:rPr>
              <a:t>データ（事実）</a:t>
            </a:r>
          </a:p>
        </p:txBody>
      </p:sp>
      <p:sp>
        <p:nvSpPr>
          <p:cNvPr id="34" name="Rectangle 33"/>
          <p:cNvSpPr/>
          <p:nvPr/>
        </p:nvSpPr>
        <p:spPr>
          <a:xfrm>
            <a:off x="522000"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000" b="0">
                <a:solidFill>
                  <a:srgbClr val="333333"/>
                </a:solidFill>
                <a:latin typeface="メイリオ"/>
                <a:ea typeface="メイリオ"/>
                <a:cs typeface="メイリオ"/>
              </a:rPr>
              <a:t>塾を知ったきっかけ</a:t>
            </a:r>
          </a:p>
          <a:p>
            <a:pPr algn="l"/>
            <a:r>
              <a:rPr sz="1000" b="0">
                <a:solidFill>
                  <a:srgbClr val="333333"/>
                </a:solidFill>
                <a:latin typeface="メイリオ"/>
                <a:ea typeface="メイリオ"/>
                <a:cs typeface="メイリオ"/>
              </a:rPr>
              <a:t>1位「知人・友人の口コミ」47.0%</a:t>
            </a:r>
          </a:p>
          <a:p>
            <a:pPr algn="l"/>
            <a:r>
              <a:rPr sz="1000" b="0">
                <a:solidFill>
                  <a:srgbClr val="333333"/>
                </a:solidFill>
                <a:latin typeface="メイリオ"/>
                <a:ea typeface="メイリオ"/>
                <a:cs typeface="メイリオ"/>
              </a:rPr>
              <a:t>2位「インターネット上の口コミ」28.3%</a:t>
            </a:r>
          </a:p>
        </p:txBody>
      </p:sp>
      <p:cxnSp>
        <p:nvCxnSpPr>
          <p:cNvPr id="35" name="Connector 34"/>
          <p:cNvCxnSpPr/>
          <p:nvPr/>
        </p:nvCxnSpPr>
        <p:spPr>
          <a:xfrm>
            <a:off x="3343199" y="1989000"/>
            <a:ext cx="140400"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3512399" y="1494000"/>
            <a:ext cx="2882399" cy="99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37" name="Rounded Rectangle 36"/>
          <p:cNvSpPr/>
          <p:nvPr/>
        </p:nvSpPr>
        <p:spPr>
          <a:xfrm>
            <a:off x="3512399" y="1494000"/>
            <a:ext cx="2882399" cy="223200"/>
          </a:xfrm>
          <a:prstGeom prst="roundRect">
            <a:avLst>
              <a:gd name="adj" fmla="val 20000"/>
            </a:avLst>
          </a:prstGeom>
          <a:solidFill>
            <a:srgbClr val="E4E9F2"/>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333333"/>
                </a:solidFill>
                <a:latin typeface="メイリオ"/>
                <a:ea typeface="メイリオ"/>
                <a:cs typeface="メイリオ"/>
              </a:rPr>
              <a:t>すべきこと</a:t>
            </a:r>
          </a:p>
        </p:txBody>
      </p:sp>
      <p:sp>
        <p:nvSpPr>
          <p:cNvPr id="38" name="Rectangle 37"/>
          <p:cNvSpPr/>
          <p:nvPr/>
        </p:nvSpPr>
        <p:spPr>
          <a:xfrm>
            <a:off x="3602399"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000" b="0">
                <a:solidFill>
                  <a:srgbClr val="333333"/>
                </a:solidFill>
                <a:latin typeface="メイリオ"/>
                <a:ea typeface="メイリオ"/>
                <a:cs typeface="メイリオ"/>
              </a:rPr>
              <a:t>保護者どうしの会話を、</a:t>
            </a:r>
          </a:p>
          <a:p>
            <a:pPr algn="l"/>
            <a:r>
              <a:rPr sz="1000" b="0">
                <a:solidFill>
                  <a:srgbClr val="333333"/>
                </a:solidFill>
                <a:latin typeface="メイリオ"/>
                <a:ea typeface="メイリオ"/>
                <a:cs typeface="メイリオ"/>
              </a:rPr>
              <a:t>LINEの友だち追加につなげる</a:t>
            </a:r>
          </a:p>
        </p:txBody>
      </p:sp>
      <p:cxnSp>
        <p:nvCxnSpPr>
          <p:cNvPr id="39" name="Connector 38"/>
          <p:cNvCxnSpPr/>
          <p:nvPr/>
        </p:nvCxnSpPr>
        <p:spPr>
          <a:xfrm>
            <a:off x="6423599" y="1989000"/>
            <a:ext cx="140401"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6592800" y="1494000"/>
            <a:ext cx="2882399" cy="990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41" name="Rounded Rectangle 40"/>
          <p:cNvSpPr/>
          <p:nvPr/>
        </p:nvSpPr>
        <p:spPr>
          <a:xfrm>
            <a:off x="6592800" y="1494000"/>
            <a:ext cx="2882399" cy="223200"/>
          </a:xfrm>
          <a:prstGeom prst="roundRect">
            <a:avLst>
              <a:gd name="adj" fmla="val 2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FFFFFF"/>
                </a:solidFill>
                <a:latin typeface="メイリオ"/>
                <a:ea typeface="メイリオ"/>
                <a:cs typeface="メイリオ"/>
              </a:rPr>
              <a:t>LINE施策</a:t>
            </a:r>
          </a:p>
        </p:txBody>
      </p:sp>
      <p:sp>
        <p:nvSpPr>
          <p:cNvPr id="42" name="Rectangle 41"/>
          <p:cNvSpPr/>
          <p:nvPr/>
        </p:nvSpPr>
        <p:spPr>
          <a:xfrm>
            <a:off x="6682800"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000" b="0">
                <a:solidFill>
                  <a:srgbClr val="FFFFFF"/>
                </a:solidFill>
                <a:latin typeface="メイリオ"/>
                <a:ea typeface="メイリオ"/>
                <a:cs typeface="メイリオ"/>
              </a:rPr>
              <a:t>友だちと一緒の体験枠／</a:t>
            </a:r>
          </a:p>
          <a:p>
            <a:pPr algn="l"/>
            <a:r>
              <a:rPr sz="1000" b="0">
                <a:solidFill>
                  <a:srgbClr val="FFFFFF"/>
                </a:solidFill>
                <a:latin typeface="メイリオ"/>
                <a:ea typeface="メイリオ"/>
                <a:cs typeface="メイリオ"/>
              </a:rPr>
              <a:t>診断結果を友だちに送れる</a:t>
            </a:r>
          </a:p>
        </p:txBody>
      </p:sp>
      <p:sp>
        <p:nvSpPr>
          <p:cNvPr id="43" name="Rectangle 42"/>
          <p:cNvSpPr/>
          <p:nvPr/>
        </p:nvSpPr>
        <p:spPr>
          <a:xfrm>
            <a:off x="432000" y="2628000"/>
            <a:ext cx="442800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50" b="1">
                <a:solidFill>
                  <a:srgbClr val="002060"/>
                </a:solidFill>
                <a:latin typeface="メイリオ"/>
                <a:ea typeface="メイリオ"/>
                <a:cs typeface="メイリオ"/>
              </a:rPr>
              <a:t>塾を知ったきっかけ（上位2つ）</a:t>
            </a:r>
          </a:p>
        </p:txBody>
      </p:sp>
      <p:sp>
        <p:nvSpPr>
          <p:cNvPr id="44" name="Rectangle 43"/>
          <p:cNvSpPr/>
          <p:nvPr/>
        </p:nvSpPr>
        <p:spPr>
          <a:xfrm>
            <a:off x="432000" y="2987999"/>
            <a:ext cx="1728000" cy="288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000" b="1">
                <a:solidFill>
                  <a:srgbClr val="333333"/>
                </a:solidFill>
                <a:latin typeface="メイリオ"/>
                <a:ea typeface="メイリオ"/>
                <a:cs typeface="メイリオ"/>
              </a:rPr>
              <a:t>知人・友人の口コミ</a:t>
            </a:r>
          </a:p>
        </p:txBody>
      </p:sp>
      <p:sp>
        <p:nvSpPr>
          <p:cNvPr id="45" name="Rectangle 44"/>
          <p:cNvSpPr/>
          <p:nvPr/>
        </p:nvSpPr>
        <p:spPr>
          <a:xfrm>
            <a:off x="2196000" y="2951999"/>
            <a:ext cx="2368800" cy="360000"/>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46" name="Rectangle 45"/>
          <p:cNvSpPr/>
          <p:nvPr/>
        </p:nvSpPr>
        <p:spPr>
          <a:xfrm>
            <a:off x="4600800" y="2987999"/>
            <a:ext cx="648000" cy="288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00" b="1">
                <a:solidFill>
                  <a:srgbClr val="1F285A"/>
                </a:solidFill>
                <a:latin typeface="メイリオ"/>
                <a:ea typeface="メイリオ"/>
                <a:cs typeface="メイリオ"/>
              </a:rPr>
              <a:t>47.0%</a:t>
            </a:r>
          </a:p>
        </p:txBody>
      </p:sp>
      <p:sp>
        <p:nvSpPr>
          <p:cNvPr id="47" name="Rectangle 46"/>
          <p:cNvSpPr/>
          <p:nvPr/>
        </p:nvSpPr>
        <p:spPr>
          <a:xfrm>
            <a:off x="432000" y="3563999"/>
            <a:ext cx="1728000" cy="288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000" b="1">
                <a:solidFill>
                  <a:srgbClr val="333333"/>
                </a:solidFill>
                <a:latin typeface="メイリオ"/>
                <a:ea typeface="メイリオ"/>
                <a:cs typeface="メイリオ"/>
              </a:rPr>
              <a:t>インターネット上の口コミ</a:t>
            </a:r>
          </a:p>
        </p:txBody>
      </p:sp>
      <p:sp>
        <p:nvSpPr>
          <p:cNvPr id="48" name="Rectangle 47"/>
          <p:cNvSpPr/>
          <p:nvPr/>
        </p:nvSpPr>
        <p:spPr>
          <a:xfrm>
            <a:off x="2196000" y="3527999"/>
            <a:ext cx="1426320" cy="360000"/>
          </a:xfrm>
          <a:prstGeom prst="rect">
            <a:avLst/>
          </a:prstGeom>
          <a:solidFill>
            <a:srgbClr val="8EA9DB"/>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49" name="Rectangle 48"/>
          <p:cNvSpPr/>
          <p:nvPr/>
        </p:nvSpPr>
        <p:spPr>
          <a:xfrm>
            <a:off x="3658319" y="3563999"/>
            <a:ext cx="648000" cy="288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00" b="1">
                <a:solidFill>
                  <a:srgbClr val="1F285A"/>
                </a:solidFill>
                <a:latin typeface="メイリオ"/>
                <a:ea typeface="メイリオ"/>
                <a:cs typeface="メイリオ"/>
              </a:rPr>
              <a:t>28.3%</a:t>
            </a:r>
          </a:p>
        </p:txBody>
      </p:sp>
      <p:sp>
        <p:nvSpPr>
          <p:cNvPr id="50" name="Rectangle 49"/>
          <p:cNvSpPr/>
          <p:nvPr/>
        </p:nvSpPr>
        <p:spPr>
          <a:xfrm>
            <a:off x="5047200" y="2628000"/>
            <a:ext cx="442800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50" b="1">
                <a:solidFill>
                  <a:srgbClr val="002060"/>
                </a:solidFill>
                <a:latin typeface="メイリオ"/>
                <a:ea typeface="メイリオ"/>
                <a:cs typeface="メイリオ"/>
              </a:rPr>
              <a:t>LINEでの仕掛け（入会前）</a:t>
            </a:r>
          </a:p>
        </p:txBody>
      </p:sp>
      <p:sp>
        <p:nvSpPr>
          <p:cNvPr id="51" name="Rounded Rectangle 50"/>
          <p:cNvSpPr/>
          <p:nvPr/>
        </p:nvSpPr>
        <p:spPr>
          <a:xfrm>
            <a:off x="5047200" y="2880000"/>
            <a:ext cx="4428000" cy="576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300" b="1">
                <a:solidFill>
                  <a:srgbClr val="1F285A"/>
                </a:solidFill>
                <a:latin typeface="メイリオ"/>
                <a:ea typeface="メイリオ"/>
                <a:cs typeface="メイリオ"/>
              </a:rPr>
              <a:t>友だちと一緒の体験枠</a:t>
            </a:r>
          </a:p>
          <a:p>
            <a:pPr algn="l"/>
            <a:r>
              <a:rPr sz="1100" b="0">
                <a:solidFill>
                  <a:srgbClr val="333333"/>
                </a:solidFill>
                <a:latin typeface="メイリオ"/>
                <a:ea typeface="メイリオ"/>
                <a:cs typeface="メイリオ"/>
              </a:rPr>
              <a:t>2人まとめてLINEで予約（P26）</a:t>
            </a:r>
          </a:p>
        </p:txBody>
      </p:sp>
      <p:sp>
        <p:nvSpPr>
          <p:cNvPr id="52" name="Rounded Rectangle 51"/>
          <p:cNvSpPr/>
          <p:nvPr/>
        </p:nvSpPr>
        <p:spPr>
          <a:xfrm>
            <a:off x="5047200" y="3546000"/>
            <a:ext cx="4428000" cy="576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300" b="1">
                <a:solidFill>
                  <a:srgbClr val="1F285A"/>
                </a:solidFill>
                <a:latin typeface="メイリオ"/>
                <a:ea typeface="メイリオ"/>
                <a:cs typeface="メイリオ"/>
              </a:rPr>
              <a:t>診断結果を友だちに送れる</a:t>
            </a:r>
          </a:p>
          <a:p>
            <a:pPr algn="l"/>
            <a:r>
              <a:rPr sz="1100" b="0">
                <a:solidFill>
                  <a:srgbClr val="333333"/>
                </a:solidFill>
                <a:latin typeface="メイリオ"/>
                <a:ea typeface="メイリオ"/>
                <a:cs typeface="メイリオ"/>
              </a:rPr>
              <a:t>「うちはこのタイプだった」を共有しやすく</a:t>
            </a:r>
          </a:p>
        </p:txBody>
      </p:sp>
      <p:sp>
        <p:nvSpPr>
          <p:cNvPr id="53" name="Rounded Rectangle 52"/>
          <p:cNvSpPr/>
          <p:nvPr/>
        </p:nvSpPr>
        <p:spPr>
          <a:xfrm>
            <a:off x="5047200" y="4212000"/>
            <a:ext cx="4428000" cy="576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300" b="1">
                <a:solidFill>
                  <a:srgbClr val="1F285A"/>
                </a:solidFill>
                <a:latin typeface="メイリオ"/>
                <a:ea typeface="メイリオ"/>
                <a:cs typeface="メイリオ"/>
              </a:rPr>
              <a:t>体験に来た保護者へ案内</a:t>
            </a:r>
          </a:p>
          <a:p>
            <a:pPr algn="l"/>
            <a:r>
              <a:rPr sz="1100" b="0">
                <a:solidFill>
                  <a:srgbClr val="333333"/>
                </a:solidFill>
                <a:latin typeface="メイリオ"/>
                <a:ea typeface="メイリオ"/>
                <a:cs typeface="メイリオ"/>
              </a:rPr>
              <a:t>「お友達も一緒にどうぞ」を翌日のメッセージで</a:t>
            </a:r>
          </a:p>
        </p:txBody>
      </p:sp>
      <p:sp>
        <p:nvSpPr>
          <p:cNvPr id="54" name="Rounded Rectangle 53"/>
          <p:cNvSpPr/>
          <p:nvPr/>
        </p:nvSpPr>
        <p:spPr>
          <a:xfrm>
            <a:off x="432000" y="5004000"/>
            <a:ext cx="9043200" cy="432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500" b="1">
                <a:solidFill>
                  <a:srgbClr val="FFFFFF"/>
                </a:solidFill>
                <a:latin typeface="メイリオ"/>
                <a:ea typeface="メイリオ"/>
                <a:cs typeface="メイリオ"/>
              </a:rPr>
              <a:t>口コミで選ばれる業界だから、口コミが生まれる場所にLINEの入口を置く。</a:t>
            </a:r>
          </a:p>
        </p:txBody>
      </p:sp>
    </p:spTree>
    <p:extLst>
      <p:ext uri="{BB962C8B-B14F-4D97-AF65-F5344CB8AC3E}">
        <p14:creationId xmlns:p14="http://schemas.microsoft.com/office/powerpoint/2010/main" val="218530597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A8E8E-25CB-4B86-C4F6-E5A7023586F7}"/>
            </a:ext>
          </a:extLst>
        </p:cNvPr>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施策の設計図①　友だち追加の動線</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a:solidFill>
                  <a:srgbClr val="333333"/>
                </a:solidFill>
                <a:latin typeface="メイリオ"/>
                <a:ea typeface="メイリオ"/>
                <a:cs typeface="メイリオ"/>
              </a:rPr>
              <a:t>どこで、何を訴求して、LINEの友だちになってもらうか。1教室あたり月250人を置いた。</a:t>
            </a:r>
          </a:p>
          <a:p>
            <a:pPr algn="l">
              <a:lnSpc>
                <a:spcPct val="128000"/>
              </a:lnSpc>
            </a:pPr>
            <a:r>
              <a:rPr sz="1200">
                <a:solidFill>
                  <a:srgbClr val="333333"/>
                </a:solidFill>
                <a:latin typeface="メイリオ"/>
                <a:ea typeface="メイリオ"/>
                <a:cs typeface="メイリオ"/>
              </a:rPr>
              <a:t>一番大きいのは、サイトから帰ろうとする保護者を拾う離脱防止ポップアップ。</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900">
                <a:solidFill>
                  <a:srgbClr val="7F7F7F"/>
                </a:solidFill>
                <a:latin typeface="メイリオ"/>
                <a:ea typeface="メイリオ"/>
                <a:cs typeface="メイリオ"/>
              </a:rPr>
              <a:t>※友だち追加数は1教室あたりのモデル値（例）。費用は月額・初期とも税抜。離脱防止ポップアップはSitelead等</a:t>
            </a:r>
          </a:p>
        </p:txBody>
      </p:sp>
      <p:sp>
        <p:nvSpPr>
          <p:cNvPr id="24" name="Pentagon 23"/>
          <p:cNvSpPr/>
          <p:nvPr/>
        </p:nvSpPr>
        <p:spPr>
          <a:xfrm>
            <a:off x="432000" y="590400"/>
            <a:ext cx="1111500" cy="180000"/>
          </a:xfrm>
          <a:prstGeom prst="homePlat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①接触</a:t>
            </a:r>
          </a:p>
        </p:txBody>
      </p:sp>
      <p:sp>
        <p:nvSpPr>
          <p:cNvPr id="25" name="Chevron 24"/>
          <p:cNvSpPr/>
          <p:nvPr/>
        </p:nvSpPr>
        <p:spPr>
          <a:xfrm>
            <a:off x="15651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②離脱</a:t>
            </a:r>
          </a:p>
        </p:txBody>
      </p:sp>
      <p:sp>
        <p:nvSpPr>
          <p:cNvPr id="26" name="Chevron 25"/>
          <p:cNvSpPr/>
          <p:nvPr/>
        </p:nvSpPr>
        <p:spPr>
          <a:xfrm>
            <a:off x="26982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③育成</a:t>
            </a:r>
          </a:p>
        </p:txBody>
      </p:sp>
      <p:sp>
        <p:nvSpPr>
          <p:cNvPr id="27" name="Chevron 26"/>
          <p:cNvSpPr/>
          <p:nvPr/>
        </p:nvSpPr>
        <p:spPr>
          <a:xfrm>
            <a:off x="3831299"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④リード獲得</a:t>
            </a:r>
          </a:p>
        </p:txBody>
      </p:sp>
      <p:sp>
        <p:nvSpPr>
          <p:cNvPr id="28" name="Chevron 27"/>
          <p:cNvSpPr/>
          <p:nvPr/>
        </p:nvSpPr>
        <p:spPr>
          <a:xfrm>
            <a:off x="49644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⑤リード有効化</a:t>
            </a:r>
          </a:p>
        </p:txBody>
      </p:sp>
      <p:sp>
        <p:nvSpPr>
          <p:cNvPr id="29" name="Chevron 28"/>
          <p:cNvSpPr/>
          <p:nvPr/>
        </p:nvSpPr>
        <p:spPr>
          <a:xfrm>
            <a:off x="60975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⑥再育成</a:t>
            </a:r>
          </a:p>
        </p:txBody>
      </p:sp>
      <p:sp>
        <p:nvSpPr>
          <p:cNvPr id="30" name="Chevron 29"/>
          <p:cNvSpPr/>
          <p:nvPr/>
        </p:nvSpPr>
        <p:spPr>
          <a:xfrm>
            <a:off x="72305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⑦入会（契約）</a:t>
            </a:r>
          </a:p>
        </p:txBody>
      </p:sp>
      <p:sp>
        <p:nvSpPr>
          <p:cNvPr id="31" name="Chevron 30"/>
          <p:cNvSpPr/>
          <p:nvPr/>
        </p:nvSpPr>
        <p:spPr>
          <a:xfrm>
            <a:off x="83636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⑧紹介</a:t>
            </a:r>
          </a:p>
        </p:txBody>
      </p:sp>
      <p:sp>
        <p:nvSpPr>
          <p:cNvPr id="32" name="Rectangle 31"/>
          <p:cNvSpPr/>
          <p:nvPr/>
        </p:nvSpPr>
        <p:spPr>
          <a:xfrm>
            <a:off x="432000" y="1494000"/>
            <a:ext cx="1612799" cy="216000"/>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1050" b="1">
                <a:solidFill>
                  <a:srgbClr val="333333"/>
                </a:solidFill>
                <a:latin typeface="メイリオ"/>
                <a:ea typeface="メイリオ"/>
                <a:cs typeface="メイリオ"/>
              </a:rPr>
              <a:t>箇所</a:t>
            </a:r>
          </a:p>
        </p:txBody>
      </p:sp>
      <p:sp>
        <p:nvSpPr>
          <p:cNvPr id="33" name="Rectangle 32"/>
          <p:cNvSpPr/>
          <p:nvPr/>
        </p:nvSpPr>
        <p:spPr>
          <a:xfrm>
            <a:off x="2088000" y="1494000"/>
            <a:ext cx="3556800" cy="216000"/>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1050" b="1">
                <a:solidFill>
                  <a:srgbClr val="333333"/>
                </a:solidFill>
                <a:latin typeface="メイリオ"/>
                <a:ea typeface="メイリオ"/>
                <a:cs typeface="メイリオ"/>
              </a:rPr>
              <a:t>訴求</a:t>
            </a:r>
          </a:p>
        </p:txBody>
      </p:sp>
      <p:sp>
        <p:nvSpPr>
          <p:cNvPr id="34" name="Rectangle 33"/>
          <p:cNvSpPr/>
          <p:nvPr/>
        </p:nvSpPr>
        <p:spPr>
          <a:xfrm>
            <a:off x="5688000" y="1494000"/>
            <a:ext cx="1324800" cy="216000"/>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1050" b="1">
                <a:solidFill>
                  <a:srgbClr val="333333"/>
                </a:solidFill>
                <a:latin typeface="メイリオ"/>
                <a:ea typeface="メイリオ"/>
                <a:cs typeface="メイリオ"/>
              </a:rPr>
              <a:t>LINE追加</a:t>
            </a:r>
          </a:p>
        </p:txBody>
      </p:sp>
      <p:sp>
        <p:nvSpPr>
          <p:cNvPr id="35" name="Rectangle 34"/>
          <p:cNvSpPr/>
          <p:nvPr/>
        </p:nvSpPr>
        <p:spPr>
          <a:xfrm>
            <a:off x="7056000" y="1494000"/>
            <a:ext cx="1180800" cy="216000"/>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1050" b="1">
                <a:solidFill>
                  <a:srgbClr val="333333"/>
                </a:solidFill>
                <a:latin typeface="メイリオ"/>
                <a:ea typeface="メイリオ"/>
                <a:cs typeface="メイリオ"/>
              </a:rPr>
              <a:t>費用（月）</a:t>
            </a:r>
          </a:p>
        </p:txBody>
      </p:sp>
      <p:sp>
        <p:nvSpPr>
          <p:cNvPr id="36" name="Rectangle 35"/>
          <p:cNvSpPr/>
          <p:nvPr/>
        </p:nvSpPr>
        <p:spPr>
          <a:xfrm>
            <a:off x="8280000" y="1494000"/>
            <a:ext cx="1152000" cy="216000"/>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1050" b="1">
                <a:solidFill>
                  <a:srgbClr val="333333"/>
                </a:solidFill>
                <a:latin typeface="メイリオ"/>
                <a:ea typeface="メイリオ"/>
                <a:cs typeface="メイリオ"/>
              </a:rPr>
              <a:t>初期費用</a:t>
            </a:r>
          </a:p>
        </p:txBody>
      </p:sp>
      <p:sp>
        <p:nvSpPr>
          <p:cNvPr id="37" name="Rectangle 36"/>
          <p:cNvSpPr/>
          <p:nvPr/>
        </p:nvSpPr>
        <p:spPr>
          <a:xfrm>
            <a:off x="432000" y="1745999"/>
            <a:ext cx="1601999" cy="5760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43200" tIns="28800" rIns="43200" bIns="28800" rtlCol="0" anchor="ctr"/>
          <a:lstStyle/>
          <a:p>
            <a:pPr algn="l"/>
            <a:r>
              <a:rPr sz="1350" b="1">
                <a:solidFill>
                  <a:srgbClr val="333333"/>
                </a:solidFill>
                <a:latin typeface="メイリオ"/>
                <a:ea typeface="メイリオ"/>
                <a:cs typeface="メイリオ"/>
              </a:rPr>
              <a:t>00 離脱防止</a:t>
            </a:r>
          </a:p>
          <a:p>
            <a:pPr algn="l"/>
            <a:r>
              <a:rPr sz="1150" b="1">
                <a:solidFill>
                  <a:srgbClr val="333333"/>
                </a:solidFill>
                <a:latin typeface="メイリオ"/>
                <a:ea typeface="メイリオ"/>
                <a:cs typeface="メイリオ"/>
              </a:rPr>
              <a:t>ポップアップ</a:t>
            </a:r>
          </a:p>
        </p:txBody>
      </p:sp>
      <p:cxnSp>
        <p:nvCxnSpPr>
          <p:cNvPr id="38" name="Connector 37"/>
          <p:cNvCxnSpPr/>
          <p:nvPr/>
        </p:nvCxnSpPr>
        <p:spPr>
          <a:xfrm>
            <a:off x="2030400" y="2033999"/>
            <a:ext cx="61199"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2088000" y="1745999"/>
            <a:ext cx="3546000" cy="5760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43200" tIns="28800" rIns="43200" bIns="28800" rtlCol="0" anchor="ctr"/>
          <a:lstStyle/>
          <a:p>
            <a:pPr algn="l"/>
            <a:r>
              <a:rPr sz="1350" b="0">
                <a:solidFill>
                  <a:srgbClr val="333333"/>
                </a:solidFill>
                <a:latin typeface="メイリオ"/>
                <a:ea typeface="メイリオ"/>
                <a:cs typeface="メイリオ"/>
              </a:rPr>
              <a:t>「まだ決めなくて大丈夫です」</a:t>
            </a:r>
          </a:p>
          <a:p>
            <a:pPr algn="l"/>
            <a:r>
              <a:rPr sz="1150" b="0">
                <a:solidFill>
                  <a:srgbClr val="7F7F7F"/>
                </a:solidFill>
                <a:latin typeface="メイリオ"/>
                <a:ea typeface="メイリオ"/>
                <a:cs typeface="メイリオ"/>
              </a:rPr>
              <a:t>30秒診断と資料をLINEで。営業電話なし</a:t>
            </a:r>
          </a:p>
        </p:txBody>
      </p:sp>
      <p:cxnSp>
        <p:nvCxnSpPr>
          <p:cNvPr id="40" name="Connector 39"/>
          <p:cNvCxnSpPr/>
          <p:nvPr/>
        </p:nvCxnSpPr>
        <p:spPr>
          <a:xfrm>
            <a:off x="5630400" y="2033999"/>
            <a:ext cx="61200"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41" name="Rectangle 40"/>
          <p:cNvSpPr/>
          <p:nvPr/>
        </p:nvSpPr>
        <p:spPr>
          <a:xfrm>
            <a:off x="5688000" y="1745999"/>
            <a:ext cx="1314000" cy="576000"/>
          </a:xfrm>
          <a:prstGeom prst="rect">
            <a:avLst/>
          </a:prstGeom>
          <a:solidFill>
            <a:srgbClr val="06C755"/>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43200" tIns="28800" rIns="43200" bIns="28800" rtlCol="0" anchor="ctr"/>
          <a:lstStyle/>
          <a:p>
            <a:pPr algn="ctr"/>
            <a:r>
              <a:rPr sz="1700" b="1">
                <a:solidFill>
                  <a:srgbClr val="FFFFFF"/>
                </a:solidFill>
                <a:latin typeface="メイリオ"/>
                <a:ea typeface="メイリオ"/>
                <a:cs typeface="メイリオ"/>
              </a:rPr>
              <a:t>200人/月</a:t>
            </a:r>
          </a:p>
        </p:txBody>
      </p:sp>
      <p:sp>
        <p:nvSpPr>
          <p:cNvPr id="42" name="Rectangle 41"/>
          <p:cNvSpPr/>
          <p:nvPr/>
        </p:nvSpPr>
        <p:spPr>
          <a:xfrm>
            <a:off x="7056000" y="1745999"/>
            <a:ext cx="1170000" cy="5760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43200" tIns="28800" rIns="43200" bIns="28800" rtlCol="0" anchor="ctr"/>
          <a:lstStyle/>
          <a:p>
            <a:pPr algn="ctr"/>
            <a:r>
              <a:rPr sz="1500" b="0">
                <a:solidFill>
                  <a:srgbClr val="333333"/>
                </a:solidFill>
                <a:latin typeface="メイリオ"/>
                <a:ea typeface="メイリオ"/>
                <a:cs typeface="メイリオ"/>
              </a:rPr>
              <a:t>3万円</a:t>
            </a:r>
          </a:p>
        </p:txBody>
      </p:sp>
      <p:sp>
        <p:nvSpPr>
          <p:cNvPr id="43" name="Rectangle 42"/>
          <p:cNvSpPr/>
          <p:nvPr/>
        </p:nvSpPr>
        <p:spPr>
          <a:xfrm>
            <a:off x="8280000" y="1745999"/>
            <a:ext cx="1141200" cy="5760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43200" tIns="28800" rIns="43200" bIns="28800" rtlCol="0" anchor="ctr"/>
          <a:lstStyle/>
          <a:p>
            <a:pPr algn="ctr"/>
            <a:r>
              <a:rPr sz="1500" b="0">
                <a:solidFill>
                  <a:srgbClr val="333333"/>
                </a:solidFill>
                <a:latin typeface="メイリオ"/>
                <a:ea typeface="メイリオ"/>
                <a:cs typeface="メイリオ"/>
              </a:rPr>
              <a:t>1.5万円</a:t>
            </a:r>
          </a:p>
        </p:txBody>
      </p:sp>
      <p:sp>
        <p:nvSpPr>
          <p:cNvPr id="44" name="Rectangle 43"/>
          <p:cNvSpPr/>
          <p:nvPr/>
        </p:nvSpPr>
        <p:spPr>
          <a:xfrm>
            <a:off x="432000" y="2365200"/>
            <a:ext cx="1601999" cy="5760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43200" tIns="28800" rIns="43200" bIns="28800" rtlCol="0" anchor="ctr"/>
          <a:lstStyle/>
          <a:p>
            <a:pPr algn="l"/>
            <a:r>
              <a:rPr sz="1350" b="1">
                <a:solidFill>
                  <a:srgbClr val="333333"/>
                </a:solidFill>
                <a:latin typeface="メイリオ"/>
                <a:ea typeface="メイリオ"/>
                <a:cs typeface="メイリオ"/>
              </a:rPr>
              <a:t>01 完了画面</a:t>
            </a:r>
          </a:p>
          <a:p>
            <a:pPr algn="l"/>
            <a:r>
              <a:rPr sz="1150" b="1">
                <a:solidFill>
                  <a:srgbClr val="333333"/>
                </a:solidFill>
                <a:latin typeface="メイリオ"/>
                <a:ea typeface="メイリオ"/>
                <a:cs typeface="メイリオ"/>
              </a:rPr>
              <a:t>からの誘導</a:t>
            </a:r>
          </a:p>
        </p:txBody>
      </p:sp>
      <p:cxnSp>
        <p:nvCxnSpPr>
          <p:cNvPr id="45" name="Connector 44"/>
          <p:cNvCxnSpPr/>
          <p:nvPr/>
        </p:nvCxnSpPr>
        <p:spPr>
          <a:xfrm>
            <a:off x="2030400" y="2653199"/>
            <a:ext cx="61199"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46" name="Rectangle 45"/>
          <p:cNvSpPr/>
          <p:nvPr/>
        </p:nvSpPr>
        <p:spPr>
          <a:xfrm>
            <a:off x="2088000" y="2365200"/>
            <a:ext cx="3546000" cy="5760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43200" tIns="28800" rIns="43200" bIns="28800" rtlCol="0" anchor="ctr"/>
          <a:lstStyle/>
          <a:p>
            <a:pPr algn="l"/>
            <a:r>
              <a:rPr sz="1350" b="0">
                <a:solidFill>
                  <a:srgbClr val="333333"/>
                </a:solidFill>
                <a:latin typeface="メイリオ"/>
                <a:ea typeface="メイリオ"/>
                <a:cs typeface="メイリオ"/>
              </a:rPr>
              <a:t>資料請求・体験予約の完了画面で</a:t>
            </a:r>
          </a:p>
          <a:p>
            <a:pPr algn="l"/>
            <a:r>
              <a:rPr sz="1150" b="0">
                <a:solidFill>
                  <a:srgbClr val="7F7F7F"/>
                </a:solidFill>
                <a:latin typeface="メイリオ"/>
                <a:ea typeface="メイリオ"/>
                <a:cs typeface="メイリオ"/>
              </a:rPr>
              <a:t>「日程の確認・変更はLINEで」</a:t>
            </a:r>
          </a:p>
        </p:txBody>
      </p:sp>
      <p:cxnSp>
        <p:nvCxnSpPr>
          <p:cNvPr id="47" name="Connector 46"/>
          <p:cNvCxnSpPr/>
          <p:nvPr/>
        </p:nvCxnSpPr>
        <p:spPr>
          <a:xfrm>
            <a:off x="5630400" y="2653199"/>
            <a:ext cx="61200"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48" name="Rectangle 47"/>
          <p:cNvSpPr/>
          <p:nvPr/>
        </p:nvSpPr>
        <p:spPr>
          <a:xfrm>
            <a:off x="5688000" y="2365200"/>
            <a:ext cx="1314000" cy="576000"/>
          </a:xfrm>
          <a:prstGeom prst="rect">
            <a:avLst/>
          </a:prstGeom>
          <a:solidFill>
            <a:srgbClr val="06C755"/>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43200" tIns="28800" rIns="43200" bIns="28800" rtlCol="0" anchor="ctr"/>
          <a:lstStyle/>
          <a:p>
            <a:pPr algn="ctr"/>
            <a:r>
              <a:rPr sz="1700" b="1">
                <a:solidFill>
                  <a:srgbClr val="FFFFFF"/>
                </a:solidFill>
                <a:latin typeface="メイリオ"/>
                <a:ea typeface="メイリオ"/>
                <a:cs typeface="メイリオ"/>
              </a:rPr>
              <a:t>30人/月</a:t>
            </a:r>
          </a:p>
        </p:txBody>
      </p:sp>
      <p:sp>
        <p:nvSpPr>
          <p:cNvPr id="49" name="Rectangle 48"/>
          <p:cNvSpPr/>
          <p:nvPr/>
        </p:nvSpPr>
        <p:spPr>
          <a:xfrm>
            <a:off x="7056000" y="2365200"/>
            <a:ext cx="1170000" cy="5760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43200" tIns="28800" rIns="43200" bIns="28800" rtlCol="0" anchor="ctr"/>
          <a:lstStyle/>
          <a:p>
            <a:pPr algn="ctr"/>
            <a:r>
              <a:rPr sz="1500" b="0">
                <a:solidFill>
                  <a:srgbClr val="333333"/>
                </a:solidFill>
                <a:latin typeface="メイリオ"/>
                <a:ea typeface="メイリオ"/>
                <a:cs typeface="メイリオ"/>
              </a:rPr>
              <a:t>5万円</a:t>
            </a:r>
          </a:p>
        </p:txBody>
      </p:sp>
      <p:sp>
        <p:nvSpPr>
          <p:cNvPr id="50" name="Rectangle 49"/>
          <p:cNvSpPr/>
          <p:nvPr/>
        </p:nvSpPr>
        <p:spPr>
          <a:xfrm>
            <a:off x="8280000" y="2365200"/>
            <a:ext cx="1141200" cy="5760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43200" tIns="28800" rIns="43200" bIns="28800" rtlCol="0" anchor="ctr"/>
          <a:lstStyle/>
          <a:p>
            <a:pPr algn="ctr"/>
            <a:r>
              <a:rPr sz="1500" b="0">
                <a:solidFill>
                  <a:srgbClr val="333333"/>
                </a:solidFill>
                <a:latin typeface="メイリオ"/>
                <a:ea typeface="メイリオ"/>
                <a:cs typeface="メイリオ"/>
              </a:rPr>
              <a:t>10万円</a:t>
            </a:r>
          </a:p>
        </p:txBody>
      </p:sp>
      <p:sp>
        <p:nvSpPr>
          <p:cNvPr id="51" name="Rectangle 50"/>
          <p:cNvSpPr/>
          <p:nvPr/>
        </p:nvSpPr>
        <p:spPr>
          <a:xfrm>
            <a:off x="432000" y="2984399"/>
            <a:ext cx="1601999" cy="5760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43200" tIns="28800" rIns="43200" bIns="28800" rtlCol="0" anchor="ctr"/>
          <a:lstStyle/>
          <a:p>
            <a:pPr algn="l"/>
            <a:r>
              <a:rPr sz="1350" b="1">
                <a:solidFill>
                  <a:srgbClr val="333333"/>
                </a:solidFill>
                <a:latin typeface="メイリオ"/>
                <a:ea typeface="メイリオ"/>
                <a:cs typeface="メイリオ"/>
              </a:rPr>
              <a:t>02 チラシ・</a:t>
            </a:r>
          </a:p>
          <a:p>
            <a:pPr algn="l"/>
            <a:r>
              <a:rPr sz="1150" b="1">
                <a:solidFill>
                  <a:srgbClr val="333333"/>
                </a:solidFill>
                <a:latin typeface="メイリオ"/>
                <a:ea typeface="メイリオ"/>
                <a:cs typeface="メイリオ"/>
              </a:rPr>
              <a:t>教室のQR</a:t>
            </a:r>
          </a:p>
        </p:txBody>
      </p:sp>
      <p:cxnSp>
        <p:nvCxnSpPr>
          <p:cNvPr id="52" name="Connector 51"/>
          <p:cNvCxnSpPr/>
          <p:nvPr/>
        </p:nvCxnSpPr>
        <p:spPr>
          <a:xfrm>
            <a:off x="2030400" y="3272400"/>
            <a:ext cx="61199"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53" name="Rectangle 52"/>
          <p:cNvSpPr/>
          <p:nvPr/>
        </p:nvSpPr>
        <p:spPr>
          <a:xfrm>
            <a:off x="2088000" y="2984399"/>
            <a:ext cx="3546000" cy="5760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43200" tIns="28800" rIns="43200" bIns="28800" rtlCol="0" anchor="ctr"/>
          <a:lstStyle/>
          <a:p>
            <a:pPr algn="l"/>
            <a:r>
              <a:rPr sz="1350" b="0">
                <a:solidFill>
                  <a:srgbClr val="333333"/>
                </a:solidFill>
                <a:latin typeface="メイリオ"/>
                <a:ea typeface="メイリオ"/>
                <a:cs typeface="メイリオ"/>
              </a:rPr>
              <a:t>LINE限定</a:t>
            </a:r>
          </a:p>
          <a:p>
            <a:pPr algn="l"/>
            <a:r>
              <a:rPr sz="1150" b="0">
                <a:solidFill>
                  <a:srgbClr val="7F7F7F"/>
                </a:solidFill>
                <a:latin typeface="メイリオ"/>
                <a:ea typeface="メイリオ"/>
                <a:cs typeface="メイリオ"/>
              </a:rPr>
              <a:t>「学年別テスト対策プリント」プレゼント</a:t>
            </a:r>
          </a:p>
        </p:txBody>
      </p:sp>
      <p:cxnSp>
        <p:nvCxnSpPr>
          <p:cNvPr id="54" name="Connector 53"/>
          <p:cNvCxnSpPr/>
          <p:nvPr/>
        </p:nvCxnSpPr>
        <p:spPr>
          <a:xfrm>
            <a:off x="5630400" y="3272400"/>
            <a:ext cx="61200"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55" name="Rectangle 54"/>
          <p:cNvSpPr/>
          <p:nvPr/>
        </p:nvSpPr>
        <p:spPr>
          <a:xfrm>
            <a:off x="5688000" y="2984399"/>
            <a:ext cx="1314000" cy="576000"/>
          </a:xfrm>
          <a:prstGeom prst="rect">
            <a:avLst/>
          </a:prstGeom>
          <a:solidFill>
            <a:srgbClr val="06C755"/>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43200" tIns="28800" rIns="43200" bIns="28800" rtlCol="0" anchor="ctr"/>
          <a:lstStyle/>
          <a:p>
            <a:pPr algn="ctr"/>
            <a:r>
              <a:rPr sz="1700" b="1">
                <a:solidFill>
                  <a:srgbClr val="FFFFFF"/>
                </a:solidFill>
                <a:latin typeface="メイリオ"/>
                <a:ea typeface="メイリオ"/>
                <a:cs typeface="メイリオ"/>
              </a:rPr>
              <a:t>20人/月</a:t>
            </a:r>
          </a:p>
        </p:txBody>
      </p:sp>
      <p:sp>
        <p:nvSpPr>
          <p:cNvPr id="56" name="Rectangle 55"/>
          <p:cNvSpPr/>
          <p:nvPr/>
        </p:nvSpPr>
        <p:spPr>
          <a:xfrm>
            <a:off x="7056000" y="2984399"/>
            <a:ext cx="1170000" cy="5760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43200" tIns="28800" rIns="43200" bIns="28800" rtlCol="0" anchor="ctr"/>
          <a:lstStyle/>
          <a:p>
            <a:pPr algn="ctr"/>
            <a:r>
              <a:rPr sz="1500" b="0">
                <a:solidFill>
                  <a:srgbClr val="333333"/>
                </a:solidFill>
                <a:latin typeface="メイリオ"/>
                <a:ea typeface="メイリオ"/>
                <a:cs typeface="メイリオ"/>
              </a:rPr>
              <a:t>費用内</a:t>
            </a:r>
          </a:p>
        </p:txBody>
      </p:sp>
      <p:sp>
        <p:nvSpPr>
          <p:cNvPr id="57" name="Rectangle 56"/>
          <p:cNvSpPr/>
          <p:nvPr/>
        </p:nvSpPr>
        <p:spPr>
          <a:xfrm>
            <a:off x="8280000" y="2984399"/>
            <a:ext cx="1141200" cy="5760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43200" tIns="28800" rIns="43200" bIns="28800" rtlCol="0" anchor="ctr"/>
          <a:lstStyle/>
          <a:p>
            <a:pPr algn="ctr"/>
            <a:r>
              <a:rPr sz="1500" b="0">
                <a:solidFill>
                  <a:srgbClr val="333333"/>
                </a:solidFill>
                <a:latin typeface="メイリオ"/>
                <a:ea typeface="メイリオ"/>
                <a:cs typeface="メイリオ"/>
              </a:rPr>
              <a:t>費用内</a:t>
            </a:r>
          </a:p>
        </p:txBody>
      </p:sp>
      <p:sp>
        <p:nvSpPr>
          <p:cNvPr id="58" name="Rounded Rectangle 57"/>
          <p:cNvSpPr/>
          <p:nvPr/>
        </p:nvSpPr>
        <p:spPr>
          <a:xfrm>
            <a:off x="432000" y="3636000"/>
            <a:ext cx="9043200" cy="360000"/>
          </a:xfrm>
          <a:prstGeom prst="roundRect">
            <a:avLst>
              <a:gd name="adj" fmla="val 20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500" b="1">
                <a:solidFill>
                  <a:srgbClr val="FFFFFF"/>
                </a:solidFill>
                <a:latin typeface="メイリオ"/>
                <a:ea typeface="メイリオ"/>
                <a:cs typeface="メイリオ"/>
              </a:rPr>
              <a:t>新しい友だち　合計 月250人（1教室あたり）</a:t>
            </a:r>
          </a:p>
        </p:txBody>
      </p:sp>
      <p:sp>
        <p:nvSpPr>
          <p:cNvPr id="59" name="Rectangle 58"/>
          <p:cNvSpPr/>
          <p:nvPr/>
        </p:nvSpPr>
        <p:spPr>
          <a:xfrm>
            <a:off x="432000" y="4068000"/>
            <a:ext cx="9000000" cy="25199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300" b="1">
                <a:solidFill>
                  <a:srgbClr val="002060"/>
                </a:solidFill>
                <a:latin typeface="メイリオ"/>
                <a:ea typeface="メイリオ"/>
                <a:cs typeface="メイリオ"/>
              </a:rPr>
              <a:t>それぞれの訴求（実文）</a:t>
            </a:r>
          </a:p>
        </p:txBody>
      </p:sp>
      <p:sp>
        <p:nvSpPr>
          <p:cNvPr id="60" name="Rounded Rectangle 59"/>
          <p:cNvSpPr/>
          <p:nvPr/>
        </p:nvSpPr>
        <p:spPr>
          <a:xfrm>
            <a:off x="432000" y="4338000"/>
            <a:ext cx="2908800" cy="1835999"/>
          </a:xfrm>
          <a:prstGeom prst="roundRect">
            <a:avLst>
              <a:gd name="adj" fmla="val 8000"/>
            </a:avLst>
          </a:prstGeom>
          <a:solidFill>
            <a:srgbClr val="FFFFFF"/>
          </a:solidFill>
          <a:ln w="1587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61" name="Rectangle 60"/>
          <p:cNvSpPr/>
          <p:nvPr/>
        </p:nvSpPr>
        <p:spPr>
          <a:xfrm>
            <a:off x="540000" y="4374000"/>
            <a:ext cx="270000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00" b="1">
                <a:solidFill>
                  <a:srgbClr val="7F7F7F"/>
                </a:solidFill>
                <a:latin typeface="メイリオ"/>
                <a:ea typeface="メイリオ"/>
                <a:cs typeface="メイリオ"/>
              </a:rPr>
              <a:t>00 離脱防止ポップアップ</a:t>
            </a:r>
          </a:p>
        </p:txBody>
      </p:sp>
      <p:sp>
        <p:nvSpPr>
          <p:cNvPr id="62" name="Rectangle 61"/>
          <p:cNvSpPr/>
          <p:nvPr/>
        </p:nvSpPr>
        <p:spPr>
          <a:xfrm>
            <a:off x="540000" y="4608000"/>
            <a:ext cx="2700000" cy="93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200" b="1">
                <a:solidFill>
                  <a:srgbClr val="002060"/>
                </a:solidFill>
                <a:latin typeface="メイリオ"/>
                <a:ea typeface="メイリオ"/>
                <a:cs typeface="メイリオ"/>
              </a:rPr>
              <a:t>まだ、塾を決めなくて大丈夫です。</a:t>
            </a:r>
          </a:p>
          <a:p>
            <a:pPr algn="l"/>
            <a:r>
              <a:rPr sz="1150" b="0">
                <a:solidFill>
                  <a:srgbClr val="333333"/>
                </a:solidFill>
                <a:latin typeface="メイリオ"/>
                <a:ea typeface="メイリオ"/>
                <a:cs typeface="メイリオ"/>
              </a:rPr>
              <a:t>30秒の診断で、お子さまに合う学び方と</a:t>
            </a:r>
          </a:p>
          <a:p>
            <a:pPr algn="l"/>
            <a:r>
              <a:rPr sz="1150" b="0">
                <a:solidFill>
                  <a:srgbClr val="333333"/>
                </a:solidFill>
                <a:latin typeface="メイリオ"/>
                <a:ea typeface="メイリオ"/>
                <a:cs typeface="メイリオ"/>
              </a:rPr>
              <a:t>コース・料金の資料をLINEでお届けします。</a:t>
            </a:r>
          </a:p>
        </p:txBody>
      </p:sp>
      <p:sp>
        <p:nvSpPr>
          <p:cNvPr id="63" name="Rounded Rectangle 62"/>
          <p:cNvSpPr/>
          <p:nvPr/>
        </p:nvSpPr>
        <p:spPr>
          <a:xfrm>
            <a:off x="647999" y="5706000"/>
            <a:ext cx="2484000" cy="360000"/>
          </a:xfrm>
          <a:prstGeom prst="roundRect">
            <a:avLst>
              <a:gd name="adj" fmla="val 40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00" b="1">
                <a:solidFill>
                  <a:srgbClr val="FFFFFF"/>
                </a:solidFill>
                <a:latin typeface="メイリオ"/>
                <a:ea typeface="メイリオ"/>
                <a:cs typeface="メイリオ"/>
              </a:rPr>
              <a:t>LINEで資料と診断を受け取る</a:t>
            </a:r>
          </a:p>
        </p:txBody>
      </p:sp>
      <p:sp>
        <p:nvSpPr>
          <p:cNvPr id="64" name="Rounded Rectangle 63"/>
          <p:cNvSpPr/>
          <p:nvPr/>
        </p:nvSpPr>
        <p:spPr>
          <a:xfrm>
            <a:off x="3499199" y="4338000"/>
            <a:ext cx="2908800" cy="1835999"/>
          </a:xfrm>
          <a:prstGeom prst="roundRect">
            <a:avLst>
              <a:gd name="adj" fmla="val 8000"/>
            </a:avLst>
          </a:prstGeom>
          <a:solidFill>
            <a:srgbClr val="FFFFFF"/>
          </a:solidFill>
          <a:ln w="1587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65" name="Rectangle 64"/>
          <p:cNvSpPr/>
          <p:nvPr/>
        </p:nvSpPr>
        <p:spPr>
          <a:xfrm>
            <a:off x="3607200" y="4374000"/>
            <a:ext cx="270000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00" b="1">
                <a:solidFill>
                  <a:srgbClr val="7F7F7F"/>
                </a:solidFill>
                <a:latin typeface="メイリオ"/>
                <a:ea typeface="メイリオ"/>
                <a:cs typeface="メイリオ"/>
              </a:rPr>
              <a:t>01 完了画面</a:t>
            </a:r>
          </a:p>
        </p:txBody>
      </p:sp>
      <p:sp>
        <p:nvSpPr>
          <p:cNvPr id="66" name="Rectangle 65"/>
          <p:cNvSpPr/>
          <p:nvPr/>
        </p:nvSpPr>
        <p:spPr>
          <a:xfrm>
            <a:off x="3607200" y="4608000"/>
            <a:ext cx="2700000" cy="93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200" b="1">
                <a:solidFill>
                  <a:srgbClr val="002060"/>
                </a:solidFill>
                <a:latin typeface="メイリオ"/>
                <a:ea typeface="メイリオ"/>
                <a:cs typeface="メイリオ"/>
              </a:rPr>
              <a:t>資料請求ありがとうございます。</a:t>
            </a:r>
          </a:p>
          <a:p>
            <a:pPr algn="l"/>
            <a:r>
              <a:rPr sz="1150" b="0">
                <a:solidFill>
                  <a:srgbClr val="333333"/>
                </a:solidFill>
                <a:latin typeface="メイリオ"/>
                <a:ea typeface="メイリオ"/>
                <a:cs typeface="メイリオ"/>
              </a:rPr>
              <a:t>体験の日程の確認・変更は、</a:t>
            </a:r>
          </a:p>
          <a:p>
            <a:pPr algn="l"/>
            <a:r>
              <a:rPr sz="1150" b="0">
                <a:solidFill>
                  <a:srgbClr val="333333"/>
                </a:solidFill>
                <a:latin typeface="メイリオ"/>
                <a:ea typeface="メイリオ"/>
                <a:cs typeface="メイリオ"/>
              </a:rPr>
              <a:t>LINEからいつでもできます。</a:t>
            </a:r>
          </a:p>
        </p:txBody>
      </p:sp>
      <p:sp>
        <p:nvSpPr>
          <p:cNvPr id="67" name="Rounded Rectangle 66"/>
          <p:cNvSpPr/>
          <p:nvPr/>
        </p:nvSpPr>
        <p:spPr>
          <a:xfrm>
            <a:off x="3715199" y="5706000"/>
            <a:ext cx="2484000" cy="360000"/>
          </a:xfrm>
          <a:prstGeom prst="roundRect">
            <a:avLst>
              <a:gd name="adj" fmla="val 40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00" b="1">
                <a:solidFill>
                  <a:srgbClr val="FFFFFF"/>
                </a:solidFill>
                <a:latin typeface="メイリオ"/>
                <a:ea typeface="メイリオ"/>
                <a:cs typeface="メイリオ"/>
              </a:rPr>
              <a:t>LINEで友だち追加</a:t>
            </a:r>
          </a:p>
        </p:txBody>
      </p:sp>
      <p:sp>
        <p:nvSpPr>
          <p:cNvPr id="68" name="Rounded Rectangle 67"/>
          <p:cNvSpPr/>
          <p:nvPr/>
        </p:nvSpPr>
        <p:spPr>
          <a:xfrm>
            <a:off x="6566399" y="4338000"/>
            <a:ext cx="2908800" cy="1835999"/>
          </a:xfrm>
          <a:prstGeom prst="roundRect">
            <a:avLst>
              <a:gd name="adj" fmla="val 8000"/>
            </a:avLst>
          </a:prstGeom>
          <a:solidFill>
            <a:srgbClr val="FFFFFF"/>
          </a:solidFill>
          <a:ln w="1587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69" name="Rectangle 68"/>
          <p:cNvSpPr/>
          <p:nvPr/>
        </p:nvSpPr>
        <p:spPr>
          <a:xfrm>
            <a:off x="6674400" y="4374000"/>
            <a:ext cx="270000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00" b="1">
                <a:solidFill>
                  <a:srgbClr val="7F7F7F"/>
                </a:solidFill>
                <a:latin typeface="メイリオ"/>
                <a:ea typeface="メイリオ"/>
                <a:cs typeface="メイリオ"/>
              </a:rPr>
              <a:t>02 チラシ・教室のQR</a:t>
            </a:r>
          </a:p>
        </p:txBody>
      </p:sp>
      <p:sp>
        <p:nvSpPr>
          <p:cNvPr id="70" name="Rectangle 69"/>
          <p:cNvSpPr/>
          <p:nvPr/>
        </p:nvSpPr>
        <p:spPr>
          <a:xfrm>
            <a:off x="6674400" y="4608000"/>
            <a:ext cx="2700000" cy="93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200" b="1">
                <a:solidFill>
                  <a:srgbClr val="002060"/>
                </a:solidFill>
                <a:latin typeface="メイリオ"/>
                <a:ea typeface="メイリオ"/>
                <a:cs typeface="メイリオ"/>
              </a:rPr>
              <a:t>LINEの友だち限定</a:t>
            </a:r>
          </a:p>
          <a:p>
            <a:pPr algn="l"/>
            <a:r>
              <a:rPr sz="1150" b="0">
                <a:solidFill>
                  <a:srgbClr val="333333"/>
                </a:solidFill>
                <a:latin typeface="メイリオ"/>
                <a:ea typeface="メイリオ"/>
                <a:cs typeface="メイリオ"/>
              </a:rPr>
              <a:t>学年別「テスト対策プリント」を</a:t>
            </a:r>
          </a:p>
          <a:p>
            <a:pPr algn="l"/>
            <a:r>
              <a:rPr sz="1150" b="0">
                <a:solidFill>
                  <a:srgbClr val="333333"/>
                </a:solidFill>
                <a:latin typeface="メイリオ"/>
                <a:ea typeface="メイリオ"/>
                <a:cs typeface="メイリオ"/>
              </a:rPr>
              <a:t>プレゼントしています。</a:t>
            </a:r>
          </a:p>
        </p:txBody>
      </p:sp>
      <p:sp>
        <p:nvSpPr>
          <p:cNvPr id="71" name="Rounded Rectangle 70"/>
          <p:cNvSpPr/>
          <p:nvPr/>
        </p:nvSpPr>
        <p:spPr>
          <a:xfrm>
            <a:off x="6782400" y="5706000"/>
            <a:ext cx="2484000" cy="360000"/>
          </a:xfrm>
          <a:prstGeom prst="roundRect">
            <a:avLst>
              <a:gd name="adj" fmla="val 40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00" b="1">
                <a:solidFill>
                  <a:srgbClr val="FFFFFF"/>
                </a:solidFill>
                <a:latin typeface="メイリオ"/>
                <a:ea typeface="メイリオ"/>
                <a:cs typeface="メイリオ"/>
              </a:rPr>
              <a:t>QRから受け取る</a:t>
            </a:r>
          </a:p>
        </p:txBody>
      </p:sp>
    </p:spTree>
    <p:extLst>
      <p:ext uri="{BB962C8B-B14F-4D97-AF65-F5344CB8AC3E}">
        <p14:creationId xmlns:p14="http://schemas.microsoft.com/office/powerpoint/2010/main" val="268777913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6" name="Google Shape;752;p28">
            <a:extLst>
              <a:ext uri="{FF2B5EF4-FFF2-40B4-BE49-F238E27FC236}">
                <a16:creationId xmlns:a16="http://schemas.microsoft.com/office/drawing/2014/main" id="{0308A94D-067F-5D10-BF02-6777DD32E821}"/>
              </a:ext>
            </a:extLst>
          </p:cNvPr>
          <p:cNvSpPr txBox="1"/>
          <p:nvPr/>
        </p:nvSpPr>
        <p:spPr>
          <a:xfrm>
            <a:off x="548883" y="138137"/>
            <a:ext cx="6516000"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rgbClr val="002060"/>
                </a:solidFill>
                <a:latin typeface="メイリオ"/>
                <a:ea typeface="メイリオ"/>
                <a:cs typeface="Meiryo"/>
                <a:sym typeface="Meiryo"/>
              </a:rPr>
              <a:t>施策の設計図②　効率改善（ステップ配信・企画配信）</a:t>
            </a:r>
            <a:endParaRPr lang="en-US" altLang="ja-JP" sz="1600" b="1" dirty="0">
              <a:solidFill>
                <a:schemeClr val="tx1">
                  <a:lumMod val="50000"/>
                  <a:lumOff val="50000"/>
                </a:schemeClr>
              </a:solidFill>
              <a:latin typeface="メイリオ"/>
              <a:ea typeface="メイリオ"/>
              <a:cs typeface="Meiryo"/>
              <a:sym typeface="Meiryo"/>
            </a:endParaRPr>
          </a:p>
        </p:txBody>
      </p:sp>
      <p:sp>
        <p:nvSpPr>
          <p:cNvPr id="8" name="Pentagon 7"/>
          <p:cNvSpPr/>
          <p:nvPr/>
        </p:nvSpPr>
        <p:spPr>
          <a:xfrm>
            <a:off x="432000" y="590400"/>
            <a:ext cx="1111500" cy="180000"/>
          </a:xfrm>
          <a:prstGeom prst="homePlate">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①接触</a:t>
            </a:r>
          </a:p>
        </p:txBody>
      </p:sp>
      <p:sp>
        <p:nvSpPr>
          <p:cNvPr id="9" name="Chevron 8"/>
          <p:cNvSpPr/>
          <p:nvPr/>
        </p:nvSpPr>
        <p:spPr>
          <a:xfrm>
            <a:off x="15651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②離脱</a:t>
            </a:r>
          </a:p>
        </p:txBody>
      </p:sp>
      <p:sp>
        <p:nvSpPr>
          <p:cNvPr id="10" name="Chevron 9"/>
          <p:cNvSpPr/>
          <p:nvPr/>
        </p:nvSpPr>
        <p:spPr>
          <a:xfrm>
            <a:off x="26982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③育成</a:t>
            </a:r>
          </a:p>
        </p:txBody>
      </p:sp>
      <p:sp>
        <p:nvSpPr>
          <p:cNvPr id="11" name="Chevron 10"/>
          <p:cNvSpPr/>
          <p:nvPr/>
        </p:nvSpPr>
        <p:spPr>
          <a:xfrm>
            <a:off x="3831299"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④リード獲得</a:t>
            </a:r>
          </a:p>
        </p:txBody>
      </p:sp>
      <p:sp>
        <p:nvSpPr>
          <p:cNvPr id="12" name="Chevron 11"/>
          <p:cNvSpPr/>
          <p:nvPr/>
        </p:nvSpPr>
        <p:spPr>
          <a:xfrm>
            <a:off x="49644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⑤リード有効化</a:t>
            </a:r>
          </a:p>
        </p:txBody>
      </p:sp>
      <p:sp>
        <p:nvSpPr>
          <p:cNvPr id="13" name="Chevron 12"/>
          <p:cNvSpPr/>
          <p:nvPr/>
        </p:nvSpPr>
        <p:spPr>
          <a:xfrm>
            <a:off x="60975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⑥再育成</a:t>
            </a:r>
          </a:p>
        </p:txBody>
      </p:sp>
      <p:sp>
        <p:nvSpPr>
          <p:cNvPr id="14" name="Chevron 13"/>
          <p:cNvSpPr/>
          <p:nvPr/>
        </p:nvSpPr>
        <p:spPr>
          <a:xfrm>
            <a:off x="72305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⑦入会（契約）</a:t>
            </a:r>
          </a:p>
        </p:txBody>
      </p:sp>
      <p:sp>
        <p:nvSpPr>
          <p:cNvPr id="15" name="Chevron 14"/>
          <p:cNvSpPr/>
          <p:nvPr/>
        </p:nvSpPr>
        <p:spPr>
          <a:xfrm>
            <a:off x="83636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⑧紹介</a:t>
            </a:r>
          </a:p>
        </p:txBody>
      </p:sp>
      <p:sp>
        <p:nvSpPr>
          <p:cNvPr id="16" name="Rectangle 15"/>
          <p:cNvSpPr/>
          <p:nvPr/>
        </p:nvSpPr>
        <p:spPr>
          <a:xfrm>
            <a:off x="432000" y="792000"/>
            <a:ext cx="9036000" cy="57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l"/>
            <a:r>
              <a:rPr sz="1200" b="0">
                <a:solidFill>
                  <a:srgbClr val="333333"/>
                </a:solidFill>
                <a:latin typeface="メイリオ"/>
                <a:ea typeface="メイリオ"/>
                <a:cs typeface="メイリオ"/>
              </a:rPr>
              <a:t>友だち追加から14日間はステップ配信で、その後は時期に合わせた企画配信で、</a:t>
            </a:r>
          </a:p>
          <a:p>
            <a:pPr algn="l"/>
            <a:r>
              <a:rPr sz="1200" b="0">
                <a:solidFill>
                  <a:srgbClr val="333333"/>
                </a:solidFill>
                <a:latin typeface="メイリオ"/>
                <a:ea typeface="メイリオ"/>
                <a:cs typeface="メイリオ"/>
              </a:rPr>
              <a:t>資料請求（CV①）と体験予約（CV②）を取る。</a:t>
            </a:r>
          </a:p>
        </p:txBody>
      </p:sp>
      <p:cxnSp>
        <p:nvCxnSpPr>
          <p:cNvPr id="17" name="Connector 16"/>
          <p:cNvCxnSpPr/>
          <p:nvPr/>
        </p:nvCxnSpPr>
        <p:spPr>
          <a:xfrm>
            <a:off x="0" y="1389600"/>
            <a:ext cx="9907200" cy="0"/>
          </a:xfrm>
          <a:prstGeom prst="line">
            <a:avLst/>
          </a:prstGeom>
          <a:ln>
            <a:solidFill>
              <a:srgbClr val="D9D9D9"/>
            </a:solidFill>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432000" y="6246000"/>
            <a:ext cx="9043200" cy="324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750" b="0">
                <a:solidFill>
                  <a:srgbClr val="7F7F7F"/>
                </a:solidFill>
                <a:latin typeface="メイリオ"/>
                <a:ea typeface="メイリオ"/>
                <a:cs typeface="メイリオ"/>
              </a:rPr>
              <a:t>※10教室のモデル値（例）。新しい友だちは1教室あたり月250人（P37）×10教室。開封率・クリック率＝DYM SIMの係数（ステップ配信 72.5%×12%／企画配信 78%×10%）。CVR＝0.3〜1.0%。件数は整数（端数は四捨五入）</a:t>
            </a:r>
          </a:p>
        </p:txBody>
      </p:sp>
      <p:sp>
        <p:nvSpPr>
          <p:cNvPr id="19" name="Rectangle 18"/>
          <p:cNvSpPr/>
          <p:nvPr/>
        </p:nvSpPr>
        <p:spPr>
          <a:xfrm>
            <a:off x="432000" y="1475999"/>
            <a:ext cx="9043200" cy="223200"/>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28800" rIns="108000" bIns="28800" rtlCol="0" anchor="ctr"/>
          <a:lstStyle/>
          <a:p>
            <a:pPr algn="l"/>
            <a:r>
              <a:rPr sz="1200" b="1">
                <a:solidFill>
                  <a:srgbClr val="FFFFFF"/>
                </a:solidFill>
                <a:latin typeface="メイリオ"/>
                <a:ea typeface="メイリオ"/>
                <a:cs typeface="メイリオ"/>
              </a:rPr>
              <a:t>[ステップ配信]　友だち追加から14日間・自動（新しい友だち 月2,500人＝10教室）</a:t>
            </a:r>
          </a:p>
        </p:txBody>
      </p:sp>
      <p:sp>
        <p:nvSpPr>
          <p:cNvPr id="20" name="Rectangle 19"/>
          <p:cNvSpPr/>
          <p:nvPr/>
        </p:nvSpPr>
        <p:spPr>
          <a:xfrm>
            <a:off x="432000" y="1720800"/>
            <a:ext cx="964799" cy="216000"/>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1050" b="1">
                <a:solidFill>
                  <a:srgbClr val="333333"/>
                </a:solidFill>
                <a:latin typeface="メイリオ"/>
                <a:ea typeface="メイリオ"/>
                <a:cs typeface="メイリオ"/>
              </a:rPr>
              <a:t>タイミング</a:t>
            </a:r>
          </a:p>
        </p:txBody>
      </p:sp>
      <p:sp>
        <p:nvSpPr>
          <p:cNvPr id="21" name="Rectangle 20"/>
          <p:cNvSpPr/>
          <p:nvPr/>
        </p:nvSpPr>
        <p:spPr>
          <a:xfrm>
            <a:off x="1440000" y="1720800"/>
            <a:ext cx="1576800" cy="216000"/>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1050" b="1">
                <a:solidFill>
                  <a:srgbClr val="333333"/>
                </a:solidFill>
                <a:latin typeface="メイリオ"/>
                <a:ea typeface="メイリオ"/>
                <a:cs typeface="メイリオ"/>
              </a:rPr>
              <a:t>対象（想定数）</a:t>
            </a:r>
          </a:p>
        </p:txBody>
      </p:sp>
      <p:sp>
        <p:nvSpPr>
          <p:cNvPr id="22" name="Rectangle 21"/>
          <p:cNvSpPr/>
          <p:nvPr/>
        </p:nvSpPr>
        <p:spPr>
          <a:xfrm>
            <a:off x="3060000" y="1720800"/>
            <a:ext cx="2548800" cy="216000"/>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1050" b="1">
                <a:solidFill>
                  <a:srgbClr val="333333"/>
                </a:solidFill>
                <a:latin typeface="メイリオ"/>
                <a:ea typeface="メイリオ"/>
                <a:cs typeface="メイリオ"/>
              </a:rPr>
              <a:t>訴求</a:t>
            </a:r>
          </a:p>
        </p:txBody>
      </p:sp>
      <p:sp>
        <p:nvSpPr>
          <p:cNvPr id="23" name="Rectangle 22"/>
          <p:cNvSpPr/>
          <p:nvPr/>
        </p:nvSpPr>
        <p:spPr>
          <a:xfrm>
            <a:off x="5652000" y="1720800"/>
            <a:ext cx="1900800" cy="216000"/>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1050" b="1">
                <a:solidFill>
                  <a:srgbClr val="333333"/>
                </a:solidFill>
                <a:latin typeface="メイリオ"/>
                <a:ea typeface="メイリオ"/>
                <a:cs typeface="メイリオ"/>
              </a:rPr>
              <a:t>開封率×クリック率×CVR</a:t>
            </a:r>
          </a:p>
        </p:txBody>
      </p:sp>
      <p:sp>
        <p:nvSpPr>
          <p:cNvPr id="24" name="Rectangle 23"/>
          <p:cNvSpPr/>
          <p:nvPr/>
        </p:nvSpPr>
        <p:spPr>
          <a:xfrm>
            <a:off x="7596000" y="1720800"/>
            <a:ext cx="1144800" cy="216000"/>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1050" b="1">
                <a:solidFill>
                  <a:srgbClr val="333333"/>
                </a:solidFill>
                <a:latin typeface="メイリオ"/>
                <a:ea typeface="メイリオ"/>
                <a:cs typeface="メイリオ"/>
              </a:rPr>
              <a:t>件数</a:t>
            </a:r>
          </a:p>
        </p:txBody>
      </p:sp>
      <p:sp>
        <p:nvSpPr>
          <p:cNvPr id="25" name="Rectangle 24"/>
          <p:cNvSpPr/>
          <p:nvPr/>
        </p:nvSpPr>
        <p:spPr>
          <a:xfrm>
            <a:off x="8784000" y="1720800"/>
            <a:ext cx="647999" cy="216000"/>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1050" b="1">
                <a:solidFill>
                  <a:srgbClr val="333333"/>
                </a:solidFill>
                <a:latin typeface="メイリオ"/>
                <a:ea typeface="メイリオ"/>
                <a:cs typeface="メイリオ"/>
              </a:rPr>
              <a:t>費用</a:t>
            </a:r>
          </a:p>
        </p:txBody>
      </p:sp>
      <p:sp>
        <p:nvSpPr>
          <p:cNvPr id="26" name="Rectangle 25"/>
          <p:cNvSpPr/>
          <p:nvPr/>
        </p:nvSpPr>
        <p:spPr>
          <a:xfrm>
            <a:off x="432000" y="1954800"/>
            <a:ext cx="964799"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300" b="1">
                <a:solidFill>
                  <a:srgbClr val="333333"/>
                </a:solidFill>
                <a:latin typeface="メイリオ"/>
                <a:ea typeface="メイリオ"/>
                <a:cs typeface="メイリオ"/>
              </a:rPr>
              <a:t>0日後</a:t>
            </a:r>
          </a:p>
        </p:txBody>
      </p:sp>
      <p:sp>
        <p:nvSpPr>
          <p:cNvPr id="27" name="Rectangle 26"/>
          <p:cNvSpPr/>
          <p:nvPr/>
        </p:nvSpPr>
        <p:spPr>
          <a:xfrm>
            <a:off x="1440000" y="1954800"/>
            <a:ext cx="1576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l"/>
            <a:r>
              <a:rPr sz="1150" b="0">
                <a:solidFill>
                  <a:srgbClr val="333333"/>
                </a:solidFill>
                <a:latin typeface="メイリオ"/>
                <a:ea typeface="メイリオ"/>
                <a:cs typeface="メイリオ"/>
              </a:rPr>
              <a:t>友だち追加者全員</a:t>
            </a:r>
          </a:p>
          <a:p>
            <a:pPr algn="l"/>
            <a:r>
              <a:rPr sz="950" b="0">
                <a:solidFill>
                  <a:srgbClr val="7F7F7F"/>
                </a:solidFill>
                <a:latin typeface="メイリオ"/>
                <a:ea typeface="メイリオ"/>
                <a:cs typeface="メイリオ"/>
              </a:rPr>
              <a:t>2,500人</a:t>
            </a:r>
          </a:p>
        </p:txBody>
      </p:sp>
      <p:cxnSp>
        <p:nvCxnSpPr>
          <p:cNvPr id="28" name="Connector 27"/>
          <p:cNvCxnSpPr/>
          <p:nvPr/>
        </p:nvCxnSpPr>
        <p:spPr>
          <a:xfrm>
            <a:off x="3013199" y="2129400"/>
            <a:ext cx="50401"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3060000" y="1954800"/>
            <a:ext cx="2548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l"/>
            <a:r>
              <a:rPr sz="1150" b="0">
                <a:solidFill>
                  <a:srgbClr val="333333"/>
                </a:solidFill>
                <a:latin typeface="メイリオ"/>
                <a:ea typeface="メイリオ"/>
                <a:cs typeface="メイリオ"/>
              </a:rPr>
              <a:t>あいさつ＋診断 → 資料を受け取る</a:t>
            </a:r>
          </a:p>
        </p:txBody>
      </p:sp>
      <p:cxnSp>
        <p:nvCxnSpPr>
          <p:cNvPr id="30" name="Connector 29"/>
          <p:cNvCxnSpPr/>
          <p:nvPr/>
        </p:nvCxnSpPr>
        <p:spPr>
          <a:xfrm>
            <a:off x="5605199" y="2129400"/>
            <a:ext cx="50401"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5652000" y="1954800"/>
            <a:ext cx="1900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200" b="0">
                <a:solidFill>
                  <a:srgbClr val="333333"/>
                </a:solidFill>
                <a:latin typeface="メイリオ"/>
                <a:ea typeface="メイリオ"/>
                <a:cs typeface="メイリオ"/>
              </a:rPr>
              <a:t>100% × 12% × 1.0%</a:t>
            </a:r>
          </a:p>
        </p:txBody>
      </p:sp>
      <p:cxnSp>
        <p:nvCxnSpPr>
          <p:cNvPr id="32" name="Connector 31"/>
          <p:cNvCxnSpPr/>
          <p:nvPr/>
        </p:nvCxnSpPr>
        <p:spPr>
          <a:xfrm>
            <a:off x="7549200" y="2129400"/>
            <a:ext cx="50400"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7596000" y="1954800"/>
            <a:ext cx="1144800" cy="349200"/>
          </a:xfrm>
          <a:prstGeom prst="rect">
            <a:avLst/>
          </a:prstGeom>
          <a:solidFill>
            <a:srgbClr val="00897B"/>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150" b="1">
                <a:solidFill>
                  <a:srgbClr val="FFFFFF"/>
                </a:solidFill>
                <a:latin typeface="メイリオ"/>
                <a:ea typeface="メイリオ"/>
                <a:cs typeface="メイリオ"/>
              </a:rPr>
              <a:t>3件</a:t>
            </a:r>
          </a:p>
          <a:p>
            <a:pPr algn="ctr"/>
            <a:r>
              <a:rPr sz="950" b="0">
                <a:solidFill>
                  <a:srgbClr val="FFFFFF"/>
                </a:solidFill>
                <a:latin typeface="メイリオ"/>
                <a:ea typeface="メイリオ"/>
                <a:cs typeface="メイリオ"/>
              </a:rPr>
              <a:t>CV① 資料請求</a:t>
            </a:r>
          </a:p>
        </p:txBody>
      </p:sp>
      <p:sp>
        <p:nvSpPr>
          <p:cNvPr id="34" name="Rectangle 33"/>
          <p:cNvSpPr/>
          <p:nvPr/>
        </p:nvSpPr>
        <p:spPr>
          <a:xfrm>
            <a:off x="8784000" y="1954800"/>
            <a:ext cx="647999"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400" b="0">
                <a:solidFill>
                  <a:srgbClr val="333333"/>
                </a:solidFill>
                <a:latin typeface="メイリオ"/>
                <a:ea typeface="メイリオ"/>
                <a:cs typeface="メイリオ"/>
              </a:rPr>
              <a:t>費用内</a:t>
            </a:r>
          </a:p>
        </p:txBody>
      </p:sp>
      <p:sp>
        <p:nvSpPr>
          <p:cNvPr id="35" name="Rectangle 34"/>
          <p:cNvSpPr/>
          <p:nvPr/>
        </p:nvSpPr>
        <p:spPr>
          <a:xfrm>
            <a:off x="432000" y="2325600"/>
            <a:ext cx="964799"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300" b="1">
                <a:solidFill>
                  <a:srgbClr val="333333"/>
                </a:solidFill>
                <a:latin typeface="メイリオ"/>
                <a:ea typeface="メイリオ"/>
                <a:cs typeface="メイリオ"/>
              </a:rPr>
              <a:t>3日後</a:t>
            </a:r>
          </a:p>
        </p:txBody>
      </p:sp>
      <p:sp>
        <p:nvSpPr>
          <p:cNvPr id="36" name="Rectangle 35"/>
          <p:cNvSpPr/>
          <p:nvPr/>
        </p:nvSpPr>
        <p:spPr>
          <a:xfrm>
            <a:off x="1440000" y="2325600"/>
            <a:ext cx="1576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l"/>
            <a:r>
              <a:rPr sz="1150" b="0">
                <a:solidFill>
                  <a:srgbClr val="333333"/>
                </a:solidFill>
                <a:latin typeface="メイリオ"/>
                <a:ea typeface="メイリオ"/>
                <a:cs typeface="メイリオ"/>
              </a:rPr>
              <a:t>全員</a:t>
            </a:r>
          </a:p>
          <a:p>
            <a:pPr algn="l"/>
            <a:r>
              <a:rPr sz="950" b="0">
                <a:solidFill>
                  <a:srgbClr val="7F7F7F"/>
                </a:solidFill>
                <a:latin typeface="メイリオ"/>
                <a:ea typeface="メイリオ"/>
                <a:cs typeface="メイリオ"/>
              </a:rPr>
              <a:t>2,500人</a:t>
            </a:r>
          </a:p>
        </p:txBody>
      </p:sp>
      <p:cxnSp>
        <p:nvCxnSpPr>
          <p:cNvPr id="37" name="Connector 36"/>
          <p:cNvCxnSpPr/>
          <p:nvPr/>
        </p:nvCxnSpPr>
        <p:spPr>
          <a:xfrm>
            <a:off x="3013199" y="2500200"/>
            <a:ext cx="50401"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38" name="Rectangle 37"/>
          <p:cNvSpPr/>
          <p:nvPr/>
        </p:nvSpPr>
        <p:spPr>
          <a:xfrm>
            <a:off x="3060000" y="2325600"/>
            <a:ext cx="2548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l"/>
            <a:r>
              <a:rPr sz="1150" b="0">
                <a:solidFill>
                  <a:srgbClr val="333333"/>
                </a:solidFill>
                <a:latin typeface="メイリオ"/>
                <a:ea typeface="メイリオ"/>
                <a:cs typeface="メイリオ"/>
              </a:rPr>
              <a:t>家でできる勉強のコツ</a:t>
            </a:r>
          </a:p>
        </p:txBody>
      </p:sp>
      <p:cxnSp>
        <p:nvCxnSpPr>
          <p:cNvPr id="39" name="Connector 38"/>
          <p:cNvCxnSpPr/>
          <p:nvPr/>
        </p:nvCxnSpPr>
        <p:spPr>
          <a:xfrm>
            <a:off x="5605199" y="2500200"/>
            <a:ext cx="50401"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40" name="Rectangle 39"/>
          <p:cNvSpPr/>
          <p:nvPr/>
        </p:nvSpPr>
        <p:spPr>
          <a:xfrm>
            <a:off x="5652000" y="2325600"/>
            <a:ext cx="1900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200" b="0">
                <a:solidFill>
                  <a:srgbClr val="333333"/>
                </a:solidFill>
                <a:latin typeface="メイリオ"/>
                <a:ea typeface="メイリオ"/>
                <a:cs typeface="メイリオ"/>
              </a:rPr>
              <a:t>72.5% × 12%</a:t>
            </a:r>
          </a:p>
        </p:txBody>
      </p:sp>
      <p:cxnSp>
        <p:nvCxnSpPr>
          <p:cNvPr id="41" name="Connector 40"/>
          <p:cNvCxnSpPr/>
          <p:nvPr/>
        </p:nvCxnSpPr>
        <p:spPr>
          <a:xfrm>
            <a:off x="7549200" y="2500200"/>
            <a:ext cx="50400"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42" name="Rectangle 41"/>
          <p:cNvSpPr/>
          <p:nvPr/>
        </p:nvSpPr>
        <p:spPr>
          <a:xfrm>
            <a:off x="7596000" y="2325600"/>
            <a:ext cx="1144800" cy="349200"/>
          </a:xfrm>
          <a:prstGeom prst="rect">
            <a:avLst/>
          </a:prstGeom>
          <a:solidFill>
            <a:srgbClr val="F2F2F2"/>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150" b="1">
                <a:solidFill>
                  <a:srgbClr val="7F7F7F"/>
                </a:solidFill>
                <a:latin typeface="メイリオ"/>
                <a:ea typeface="メイリオ"/>
                <a:cs typeface="メイリオ"/>
              </a:rPr>
              <a:t>CVは狙わない</a:t>
            </a:r>
          </a:p>
          <a:p>
            <a:pPr algn="ctr"/>
            <a:r>
              <a:rPr sz="950" b="0">
                <a:solidFill>
                  <a:srgbClr val="7F7F7F"/>
                </a:solidFill>
                <a:latin typeface="メイリオ"/>
                <a:ea typeface="メイリオ"/>
                <a:cs typeface="メイリオ"/>
              </a:rPr>
              <a:t>信頼づくり</a:t>
            </a:r>
          </a:p>
        </p:txBody>
      </p:sp>
      <p:sp>
        <p:nvSpPr>
          <p:cNvPr id="43" name="Rectangle 42"/>
          <p:cNvSpPr/>
          <p:nvPr/>
        </p:nvSpPr>
        <p:spPr>
          <a:xfrm>
            <a:off x="8784000" y="2325600"/>
            <a:ext cx="647999"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400" b="0">
                <a:solidFill>
                  <a:srgbClr val="333333"/>
                </a:solidFill>
                <a:latin typeface="メイリオ"/>
                <a:ea typeface="メイリオ"/>
                <a:cs typeface="メイリオ"/>
              </a:rPr>
              <a:t>費用内</a:t>
            </a:r>
          </a:p>
        </p:txBody>
      </p:sp>
      <p:sp>
        <p:nvSpPr>
          <p:cNvPr id="44" name="Rectangle 43"/>
          <p:cNvSpPr/>
          <p:nvPr/>
        </p:nvSpPr>
        <p:spPr>
          <a:xfrm>
            <a:off x="432000" y="2696400"/>
            <a:ext cx="964799"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300" b="1">
                <a:solidFill>
                  <a:srgbClr val="333333"/>
                </a:solidFill>
                <a:latin typeface="メイリオ"/>
                <a:ea typeface="メイリオ"/>
                <a:cs typeface="メイリオ"/>
              </a:rPr>
              <a:t>5日後</a:t>
            </a:r>
          </a:p>
        </p:txBody>
      </p:sp>
      <p:sp>
        <p:nvSpPr>
          <p:cNvPr id="45" name="Rectangle 44"/>
          <p:cNvSpPr/>
          <p:nvPr/>
        </p:nvSpPr>
        <p:spPr>
          <a:xfrm>
            <a:off x="1440000" y="2696400"/>
            <a:ext cx="1576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l"/>
            <a:r>
              <a:rPr sz="1150" b="0">
                <a:solidFill>
                  <a:srgbClr val="333333"/>
                </a:solidFill>
                <a:latin typeface="メイリオ"/>
                <a:ea typeface="メイリオ"/>
                <a:cs typeface="メイリオ"/>
              </a:rPr>
              <a:t>資料未請求の人</a:t>
            </a:r>
          </a:p>
          <a:p>
            <a:pPr algn="l"/>
            <a:r>
              <a:rPr sz="950" b="0">
                <a:solidFill>
                  <a:srgbClr val="7F7F7F"/>
                </a:solidFill>
                <a:latin typeface="メイリオ"/>
                <a:ea typeface="メイリオ"/>
                <a:cs typeface="メイリオ"/>
              </a:rPr>
              <a:t>約2,500人</a:t>
            </a:r>
          </a:p>
        </p:txBody>
      </p:sp>
      <p:cxnSp>
        <p:nvCxnSpPr>
          <p:cNvPr id="46" name="Connector 45"/>
          <p:cNvCxnSpPr/>
          <p:nvPr/>
        </p:nvCxnSpPr>
        <p:spPr>
          <a:xfrm>
            <a:off x="3013199" y="2871000"/>
            <a:ext cx="50401"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47" name="Rectangle 46"/>
          <p:cNvSpPr/>
          <p:nvPr/>
        </p:nvSpPr>
        <p:spPr>
          <a:xfrm>
            <a:off x="3060000" y="2696400"/>
            <a:ext cx="2548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l"/>
            <a:r>
              <a:rPr sz="1150" b="0">
                <a:solidFill>
                  <a:srgbClr val="333333"/>
                </a:solidFill>
                <a:latin typeface="メイリオ"/>
                <a:ea typeface="メイリオ"/>
                <a:cs typeface="メイリオ"/>
              </a:rPr>
              <a:t>月謝＋講習費の年間の目安</a:t>
            </a:r>
          </a:p>
        </p:txBody>
      </p:sp>
      <p:cxnSp>
        <p:nvCxnSpPr>
          <p:cNvPr id="48" name="Connector 47"/>
          <p:cNvCxnSpPr/>
          <p:nvPr/>
        </p:nvCxnSpPr>
        <p:spPr>
          <a:xfrm>
            <a:off x="5605199" y="2871000"/>
            <a:ext cx="50401"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49" name="Rectangle 48"/>
          <p:cNvSpPr/>
          <p:nvPr/>
        </p:nvSpPr>
        <p:spPr>
          <a:xfrm>
            <a:off x="5652000" y="2696400"/>
            <a:ext cx="1900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200" b="0">
                <a:solidFill>
                  <a:srgbClr val="333333"/>
                </a:solidFill>
                <a:latin typeface="メイリオ"/>
                <a:ea typeface="メイリオ"/>
                <a:cs typeface="メイリオ"/>
              </a:rPr>
              <a:t>72.5% × 12% × 1.0%</a:t>
            </a:r>
          </a:p>
        </p:txBody>
      </p:sp>
      <p:cxnSp>
        <p:nvCxnSpPr>
          <p:cNvPr id="50" name="Connector 49"/>
          <p:cNvCxnSpPr/>
          <p:nvPr/>
        </p:nvCxnSpPr>
        <p:spPr>
          <a:xfrm>
            <a:off x="7549200" y="2871000"/>
            <a:ext cx="50400"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51" name="Rectangle 50"/>
          <p:cNvSpPr/>
          <p:nvPr/>
        </p:nvSpPr>
        <p:spPr>
          <a:xfrm>
            <a:off x="7596000" y="2696400"/>
            <a:ext cx="1144800" cy="349200"/>
          </a:xfrm>
          <a:prstGeom prst="rect">
            <a:avLst/>
          </a:prstGeom>
          <a:solidFill>
            <a:srgbClr val="00897B"/>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150" b="1">
                <a:solidFill>
                  <a:srgbClr val="FFFFFF"/>
                </a:solidFill>
                <a:latin typeface="メイリオ"/>
                <a:ea typeface="メイリオ"/>
                <a:cs typeface="メイリオ"/>
              </a:rPr>
              <a:t>2件</a:t>
            </a:r>
          </a:p>
          <a:p>
            <a:pPr algn="ctr"/>
            <a:r>
              <a:rPr sz="950" b="0">
                <a:solidFill>
                  <a:srgbClr val="FFFFFF"/>
                </a:solidFill>
                <a:latin typeface="メイリオ"/>
                <a:ea typeface="メイリオ"/>
                <a:cs typeface="メイリオ"/>
              </a:rPr>
              <a:t>CV① 資料請求</a:t>
            </a:r>
          </a:p>
        </p:txBody>
      </p:sp>
      <p:sp>
        <p:nvSpPr>
          <p:cNvPr id="52" name="Rectangle 51"/>
          <p:cNvSpPr/>
          <p:nvPr/>
        </p:nvSpPr>
        <p:spPr>
          <a:xfrm>
            <a:off x="8784000" y="2696400"/>
            <a:ext cx="647999"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400" b="0">
                <a:solidFill>
                  <a:srgbClr val="333333"/>
                </a:solidFill>
                <a:latin typeface="メイリオ"/>
                <a:ea typeface="メイリオ"/>
                <a:cs typeface="メイリオ"/>
              </a:rPr>
              <a:t>費用内</a:t>
            </a:r>
          </a:p>
        </p:txBody>
      </p:sp>
      <p:sp>
        <p:nvSpPr>
          <p:cNvPr id="53" name="Rectangle 52"/>
          <p:cNvSpPr/>
          <p:nvPr/>
        </p:nvSpPr>
        <p:spPr>
          <a:xfrm>
            <a:off x="432000" y="3067200"/>
            <a:ext cx="964799"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300" b="1">
                <a:solidFill>
                  <a:srgbClr val="333333"/>
                </a:solidFill>
                <a:latin typeface="メイリオ"/>
                <a:ea typeface="メイリオ"/>
                <a:cs typeface="メイリオ"/>
              </a:rPr>
              <a:t>7日後</a:t>
            </a:r>
          </a:p>
        </p:txBody>
      </p:sp>
      <p:sp>
        <p:nvSpPr>
          <p:cNvPr id="54" name="Rectangle 53"/>
          <p:cNvSpPr/>
          <p:nvPr/>
        </p:nvSpPr>
        <p:spPr>
          <a:xfrm>
            <a:off x="1440000" y="3067200"/>
            <a:ext cx="1576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l"/>
            <a:r>
              <a:rPr sz="1150" b="0">
                <a:solidFill>
                  <a:srgbClr val="333333"/>
                </a:solidFill>
                <a:latin typeface="メイリオ"/>
                <a:ea typeface="メイリオ"/>
                <a:cs typeface="メイリオ"/>
              </a:rPr>
              <a:t>全員</a:t>
            </a:r>
          </a:p>
          <a:p>
            <a:pPr algn="l"/>
            <a:r>
              <a:rPr sz="950" b="0">
                <a:solidFill>
                  <a:srgbClr val="7F7F7F"/>
                </a:solidFill>
                <a:latin typeface="メイリオ"/>
                <a:ea typeface="メイリオ"/>
                <a:cs typeface="メイリオ"/>
              </a:rPr>
              <a:t>2,500人</a:t>
            </a:r>
          </a:p>
        </p:txBody>
      </p:sp>
      <p:cxnSp>
        <p:nvCxnSpPr>
          <p:cNvPr id="55" name="Connector 54"/>
          <p:cNvCxnSpPr/>
          <p:nvPr/>
        </p:nvCxnSpPr>
        <p:spPr>
          <a:xfrm>
            <a:off x="3013199" y="3241799"/>
            <a:ext cx="50401"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56" name="Rectangle 55"/>
          <p:cNvSpPr/>
          <p:nvPr/>
        </p:nvSpPr>
        <p:spPr>
          <a:xfrm>
            <a:off x="3060000" y="3067200"/>
            <a:ext cx="2548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l"/>
            <a:r>
              <a:rPr sz="1150" b="0">
                <a:solidFill>
                  <a:srgbClr val="333333"/>
                </a:solidFill>
                <a:latin typeface="メイリオ"/>
                <a:ea typeface="メイリオ"/>
                <a:cs typeface="メイリオ"/>
              </a:rPr>
              <a:t>事例＋体験のご案内①</a:t>
            </a:r>
          </a:p>
        </p:txBody>
      </p:sp>
      <p:cxnSp>
        <p:nvCxnSpPr>
          <p:cNvPr id="57" name="Connector 56"/>
          <p:cNvCxnSpPr/>
          <p:nvPr/>
        </p:nvCxnSpPr>
        <p:spPr>
          <a:xfrm>
            <a:off x="5605199" y="3241799"/>
            <a:ext cx="50401"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58" name="Rectangle 57"/>
          <p:cNvSpPr/>
          <p:nvPr/>
        </p:nvSpPr>
        <p:spPr>
          <a:xfrm>
            <a:off x="5652000" y="3067200"/>
            <a:ext cx="1900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200" b="0">
                <a:solidFill>
                  <a:srgbClr val="333333"/>
                </a:solidFill>
                <a:latin typeface="メイリオ"/>
                <a:ea typeface="メイリオ"/>
                <a:cs typeface="メイリオ"/>
              </a:rPr>
              <a:t>72.5% × 12% × 0.8%</a:t>
            </a:r>
          </a:p>
        </p:txBody>
      </p:sp>
      <p:cxnSp>
        <p:nvCxnSpPr>
          <p:cNvPr id="59" name="Connector 58"/>
          <p:cNvCxnSpPr/>
          <p:nvPr/>
        </p:nvCxnSpPr>
        <p:spPr>
          <a:xfrm>
            <a:off x="7549200" y="3241799"/>
            <a:ext cx="50400"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60" name="Rectangle 59"/>
          <p:cNvSpPr/>
          <p:nvPr/>
        </p:nvSpPr>
        <p:spPr>
          <a:xfrm>
            <a:off x="7596000" y="3067200"/>
            <a:ext cx="1144800" cy="349200"/>
          </a:xfrm>
          <a:prstGeom prst="rect">
            <a:avLst/>
          </a:prstGeom>
          <a:solidFill>
            <a:srgbClr val="00897B"/>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150" b="1">
                <a:solidFill>
                  <a:srgbClr val="FFFFFF"/>
                </a:solidFill>
                <a:latin typeface="メイリオ"/>
                <a:ea typeface="メイリオ"/>
                <a:cs typeface="メイリオ"/>
              </a:rPr>
              <a:t>2件</a:t>
            </a:r>
          </a:p>
          <a:p>
            <a:pPr algn="ctr"/>
            <a:r>
              <a:rPr sz="950" b="0">
                <a:solidFill>
                  <a:srgbClr val="FFFFFF"/>
                </a:solidFill>
                <a:latin typeface="メイリオ"/>
                <a:ea typeface="メイリオ"/>
                <a:cs typeface="メイリオ"/>
              </a:rPr>
              <a:t>CV② 体験予約</a:t>
            </a:r>
          </a:p>
        </p:txBody>
      </p:sp>
      <p:sp>
        <p:nvSpPr>
          <p:cNvPr id="61" name="Rectangle 60"/>
          <p:cNvSpPr/>
          <p:nvPr/>
        </p:nvSpPr>
        <p:spPr>
          <a:xfrm>
            <a:off x="8784000" y="3067200"/>
            <a:ext cx="647999"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400" b="0">
                <a:solidFill>
                  <a:srgbClr val="333333"/>
                </a:solidFill>
                <a:latin typeface="メイリオ"/>
                <a:ea typeface="メイリオ"/>
                <a:cs typeface="メイリオ"/>
              </a:rPr>
              <a:t>費用内</a:t>
            </a:r>
          </a:p>
        </p:txBody>
      </p:sp>
      <p:sp>
        <p:nvSpPr>
          <p:cNvPr id="62" name="Rectangle 61"/>
          <p:cNvSpPr/>
          <p:nvPr/>
        </p:nvSpPr>
        <p:spPr>
          <a:xfrm>
            <a:off x="432000" y="3438000"/>
            <a:ext cx="964799"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300" b="1">
                <a:solidFill>
                  <a:srgbClr val="333333"/>
                </a:solidFill>
                <a:latin typeface="メイリオ"/>
                <a:ea typeface="メイリオ"/>
                <a:cs typeface="メイリオ"/>
              </a:rPr>
              <a:t>14日後</a:t>
            </a:r>
          </a:p>
        </p:txBody>
      </p:sp>
      <p:sp>
        <p:nvSpPr>
          <p:cNvPr id="63" name="Rectangle 62"/>
          <p:cNvSpPr/>
          <p:nvPr/>
        </p:nvSpPr>
        <p:spPr>
          <a:xfrm>
            <a:off x="1440000" y="3438000"/>
            <a:ext cx="1576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l"/>
            <a:r>
              <a:rPr sz="1150" b="0">
                <a:solidFill>
                  <a:srgbClr val="333333"/>
                </a:solidFill>
                <a:latin typeface="メイリオ"/>
                <a:ea typeface="メイリオ"/>
                <a:cs typeface="メイリオ"/>
              </a:rPr>
              <a:t>体験未予約の人</a:t>
            </a:r>
          </a:p>
          <a:p>
            <a:pPr algn="l"/>
            <a:r>
              <a:rPr sz="950" b="0">
                <a:solidFill>
                  <a:srgbClr val="7F7F7F"/>
                </a:solidFill>
                <a:latin typeface="メイリオ"/>
                <a:ea typeface="メイリオ"/>
                <a:cs typeface="メイリオ"/>
              </a:rPr>
              <a:t>約2,500人</a:t>
            </a:r>
          </a:p>
        </p:txBody>
      </p:sp>
      <p:cxnSp>
        <p:nvCxnSpPr>
          <p:cNvPr id="64" name="Connector 63"/>
          <p:cNvCxnSpPr/>
          <p:nvPr/>
        </p:nvCxnSpPr>
        <p:spPr>
          <a:xfrm>
            <a:off x="3013199" y="3612600"/>
            <a:ext cx="50401"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65" name="Rectangle 64"/>
          <p:cNvSpPr/>
          <p:nvPr/>
        </p:nvSpPr>
        <p:spPr>
          <a:xfrm>
            <a:off x="3060000" y="3438000"/>
            <a:ext cx="2548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l"/>
            <a:r>
              <a:rPr sz="1150" b="0">
                <a:solidFill>
                  <a:srgbClr val="333333"/>
                </a:solidFill>
                <a:latin typeface="メイリオ"/>
                <a:ea typeface="メイリオ"/>
                <a:cs typeface="メイリオ"/>
              </a:rPr>
              <a:t>テストから逆算＋体験の案内②</a:t>
            </a:r>
          </a:p>
        </p:txBody>
      </p:sp>
      <p:cxnSp>
        <p:nvCxnSpPr>
          <p:cNvPr id="66" name="Connector 65"/>
          <p:cNvCxnSpPr/>
          <p:nvPr/>
        </p:nvCxnSpPr>
        <p:spPr>
          <a:xfrm>
            <a:off x="5605199" y="3612600"/>
            <a:ext cx="50401"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67" name="Rectangle 66"/>
          <p:cNvSpPr/>
          <p:nvPr/>
        </p:nvSpPr>
        <p:spPr>
          <a:xfrm>
            <a:off x="5652000" y="3438000"/>
            <a:ext cx="1900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200" b="0">
                <a:solidFill>
                  <a:srgbClr val="333333"/>
                </a:solidFill>
                <a:latin typeface="メイリオ"/>
                <a:ea typeface="メイリオ"/>
                <a:cs typeface="メイリオ"/>
              </a:rPr>
              <a:t>72.5% × 12% × 1.0%</a:t>
            </a:r>
          </a:p>
        </p:txBody>
      </p:sp>
      <p:cxnSp>
        <p:nvCxnSpPr>
          <p:cNvPr id="68" name="Connector 67"/>
          <p:cNvCxnSpPr/>
          <p:nvPr/>
        </p:nvCxnSpPr>
        <p:spPr>
          <a:xfrm>
            <a:off x="7549200" y="3612600"/>
            <a:ext cx="50400"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69" name="Rectangle 68"/>
          <p:cNvSpPr/>
          <p:nvPr/>
        </p:nvSpPr>
        <p:spPr>
          <a:xfrm>
            <a:off x="7596000" y="3438000"/>
            <a:ext cx="1144800" cy="349200"/>
          </a:xfrm>
          <a:prstGeom prst="rect">
            <a:avLst/>
          </a:prstGeom>
          <a:solidFill>
            <a:srgbClr val="00897B"/>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150" b="1">
                <a:solidFill>
                  <a:srgbClr val="FFFFFF"/>
                </a:solidFill>
                <a:latin typeface="メイリオ"/>
                <a:ea typeface="メイリオ"/>
                <a:cs typeface="メイリオ"/>
              </a:rPr>
              <a:t>2件</a:t>
            </a:r>
          </a:p>
          <a:p>
            <a:pPr algn="ctr"/>
            <a:r>
              <a:rPr sz="950" b="0">
                <a:solidFill>
                  <a:srgbClr val="FFFFFF"/>
                </a:solidFill>
                <a:latin typeface="メイリオ"/>
                <a:ea typeface="メイリオ"/>
                <a:cs typeface="メイリオ"/>
              </a:rPr>
              <a:t>CV② 体験予約</a:t>
            </a:r>
          </a:p>
        </p:txBody>
      </p:sp>
      <p:sp>
        <p:nvSpPr>
          <p:cNvPr id="70" name="Rectangle 69"/>
          <p:cNvSpPr/>
          <p:nvPr/>
        </p:nvSpPr>
        <p:spPr>
          <a:xfrm>
            <a:off x="8784000" y="3438000"/>
            <a:ext cx="647999"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400" b="0">
                <a:solidFill>
                  <a:srgbClr val="333333"/>
                </a:solidFill>
                <a:latin typeface="メイリオ"/>
                <a:ea typeface="メイリオ"/>
                <a:cs typeface="メイリオ"/>
              </a:rPr>
              <a:t>費用内</a:t>
            </a:r>
          </a:p>
        </p:txBody>
      </p:sp>
      <p:sp>
        <p:nvSpPr>
          <p:cNvPr id="71" name="Rectangle 70"/>
          <p:cNvSpPr/>
          <p:nvPr/>
        </p:nvSpPr>
        <p:spPr>
          <a:xfrm>
            <a:off x="432000" y="3834000"/>
            <a:ext cx="9043200" cy="223200"/>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28800" rIns="108000" bIns="28800" rtlCol="0" anchor="ctr"/>
          <a:lstStyle/>
          <a:p>
            <a:pPr algn="l"/>
            <a:r>
              <a:rPr sz="1200" b="1">
                <a:solidFill>
                  <a:srgbClr val="FFFFFF"/>
                </a:solidFill>
                <a:latin typeface="メイリオ"/>
                <a:ea typeface="メイリオ"/>
                <a:cs typeface="メイリオ"/>
              </a:rPr>
              <a:t>[企画配信]　月1〜2本（友だち 累計約10,000人・ブロックを除いて約6,800人）</a:t>
            </a:r>
          </a:p>
        </p:txBody>
      </p:sp>
      <p:sp>
        <p:nvSpPr>
          <p:cNvPr id="72" name="Rectangle 71"/>
          <p:cNvSpPr/>
          <p:nvPr/>
        </p:nvSpPr>
        <p:spPr>
          <a:xfrm>
            <a:off x="432000" y="4078800"/>
            <a:ext cx="964799" cy="216000"/>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1050" b="1">
                <a:solidFill>
                  <a:srgbClr val="333333"/>
                </a:solidFill>
                <a:latin typeface="メイリオ"/>
                <a:ea typeface="メイリオ"/>
                <a:cs typeface="メイリオ"/>
              </a:rPr>
              <a:t>タイミング</a:t>
            </a:r>
          </a:p>
        </p:txBody>
      </p:sp>
      <p:sp>
        <p:nvSpPr>
          <p:cNvPr id="73" name="Rectangle 72"/>
          <p:cNvSpPr/>
          <p:nvPr/>
        </p:nvSpPr>
        <p:spPr>
          <a:xfrm>
            <a:off x="1440000" y="4078800"/>
            <a:ext cx="1576800" cy="216000"/>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1050" b="1">
                <a:solidFill>
                  <a:srgbClr val="333333"/>
                </a:solidFill>
                <a:latin typeface="メイリオ"/>
                <a:ea typeface="メイリオ"/>
                <a:cs typeface="メイリオ"/>
              </a:rPr>
              <a:t>対象（想定数）</a:t>
            </a:r>
          </a:p>
        </p:txBody>
      </p:sp>
      <p:sp>
        <p:nvSpPr>
          <p:cNvPr id="74" name="Rectangle 73"/>
          <p:cNvSpPr/>
          <p:nvPr/>
        </p:nvSpPr>
        <p:spPr>
          <a:xfrm>
            <a:off x="3060000" y="4078800"/>
            <a:ext cx="2548800" cy="216000"/>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1050" b="1">
                <a:solidFill>
                  <a:srgbClr val="333333"/>
                </a:solidFill>
                <a:latin typeface="メイリオ"/>
                <a:ea typeface="メイリオ"/>
                <a:cs typeface="メイリオ"/>
              </a:rPr>
              <a:t>訴求</a:t>
            </a:r>
          </a:p>
        </p:txBody>
      </p:sp>
      <p:sp>
        <p:nvSpPr>
          <p:cNvPr id="75" name="Rectangle 74"/>
          <p:cNvSpPr/>
          <p:nvPr/>
        </p:nvSpPr>
        <p:spPr>
          <a:xfrm>
            <a:off x="5652000" y="4078800"/>
            <a:ext cx="1900800" cy="216000"/>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1050" b="1">
                <a:solidFill>
                  <a:srgbClr val="333333"/>
                </a:solidFill>
                <a:latin typeface="メイリオ"/>
                <a:ea typeface="メイリオ"/>
                <a:cs typeface="メイリオ"/>
              </a:rPr>
              <a:t>開封率×クリック率×CVR</a:t>
            </a:r>
          </a:p>
        </p:txBody>
      </p:sp>
      <p:sp>
        <p:nvSpPr>
          <p:cNvPr id="76" name="Rectangle 75"/>
          <p:cNvSpPr/>
          <p:nvPr/>
        </p:nvSpPr>
        <p:spPr>
          <a:xfrm>
            <a:off x="7596000" y="4078800"/>
            <a:ext cx="1144800" cy="216000"/>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1050" b="1">
                <a:solidFill>
                  <a:srgbClr val="333333"/>
                </a:solidFill>
                <a:latin typeface="メイリオ"/>
                <a:ea typeface="メイリオ"/>
                <a:cs typeface="メイリオ"/>
              </a:rPr>
              <a:t>件数</a:t>
            </a:r>
          </a:p>
        </p:txBody>
      </p:sp>
      <p:sp>
        <p:nvSpPr>
          <p:cNvPr id="77" name="Rectangle 76"/>
          <p:cNvSpPr/>
          <p:nvPr/>
        </p:nvSpPr>
        <p:spPr>
          <a:xfrm>
            <a:off x="8784000" y="4078800"/>
            <a:ext cx="647999" cy="216000"/>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1050" b="1">
                <a:solidFill>
                  <a:srgbClr val="333333"/>
                </a:solidFill>
                <a:latin typeface="メイリオ"/>
                <a:ea typeface="メイリオ"/>
                <a:cs typeface="メイリオ"/>
              </a:rPr>
              <a:t>費用</a:t>
            </a:r>
          </a:p>
        </p:txBody>
      </p:sp>
      <p:sp>
        <p:nvSpPr>
          <p:cNvPr id="78" name="Rectangle 77"/>
          <p:cNvSpPr/>
          <p:nvPr/>
        </p:nvSpPr>
        <p:spPr>
          <a:xfrm>
            <a:off x="432000" y="4312800"/>
            <a:ext cx="964799"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300" b="1">
                <a:solidFill>
                  <a:srgbClr val="333333"/>
                </a:solidFill>
                <a:latin typeface="メイリオ"/>
                <a:ea typeface="メイリオ"/>
                <a:cs typeface="メイリオ"/>
              </a:rPr>
              <a:t>講習の前</a:t>
            </a:r>
          </a:p>
        </p:txBody>
      </p:sp>
      <p:sp>
        <p:nvSpPr>
          <p:cNvPr id="79" name="Rectangle 78"/>
          <p:cNvSpPr/>
          <p:nvPr/>
        </p:nvSpPr>
        <p:spPr>
          <a:xfrm>
            <a:off x="1440000" y="4312800"/>
            <a:ext cx="1576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l"/>
            <a:r>
              <a:rPr sz="1150" b="0">
                <a:solidFill>
                  <a:srgbClr val="333333"/>
                </a:solidFill>
                <a:latin typeface="メイリオ"/>
                <a:ea typeface="メイリオ"/>
                <a:cs typeface="メイリオ"/>
              </a:rPr>
              <a:t>友だち全体</a:t>
            </a:r>
          </a:p>
          <a:p>
            <a:pPr algn="l"/>
            <a:r>
              <a:rPr sz="950" b="0">
                <a:solidFill>
                  <a:srgbClr val="7F7F7F"/>
                </a:solidFill>
                <a:latin typeface="メイリオ"/>
                <a:ea typeface="メイリオ"/>
                <a:cs typeface="メイリオ"/>
              </a:rPr>
              <a:t>約6,800人</a:t>
            </a:r>
          </a:p>
        </p:txBody>
      </p:sp>
      <p:cxnSp>
        <p:nvCxnSpPr>
          <p:cNvPr id="80" name="Connector 79"/>
          <p:cNvCxnSpPr/>
          <p:nvPr/>
        </p:nvCxnSpPr>
        <p:spPr>
          <a:xfrm>
            <a:off x="3013199" y="4487400"/>
            <a:ext cx="50401"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81" name="Rectangle 80"/>
          <p:cNvSpPr/>
          <p:nvPr/>
        </p:nvSpPr>
        <p:spPr>
          <a:xfrm>
            <a:off x="3060000" y="4312800"/>
            <a:ext cx="2548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l"/>
            <a:r>
              <a:rPr sz="1150" b="0">
                <a:solidFill>
                  <a:srgbClr val="333333"/>
                </a:solidFill>
                <a:latin typeface="メイリオ"/>
                <a:ea typeface="メイリオ"/>
                <a:cs typeface="メイリオ"/>
              </a:rPr>
              <a:t>講習・新学年の先行案内</a:t>
            </a:r>
          </a:p>
        </p:txBody>
      </p:sp>
      <p:cxnSp>
        <p:nvCxnSpPr>
          <p:cNvPr id="82" name="Connector 81"/>
          <p:cNvCxnSpPr/>
          <p:nvPr/>
        </p:nvCxnSpPr>
        <p:spPr>
          <a:xfrm>
            <a:off x="5605199" y="4487400"/>
            <a:ext cx="50401"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83" name="Rectangle 82"/>
          <p:cNvSpPr/>
          <p:nvPr/>
        </p:nvSpPr>
        <p:spPr>
          <a:xfrm>
            <a:off x="5652000" y="4312800"/>
            <a:ext cx="1900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200" b="0">
                <a:solidFill>
                  <a:srgbClr val="333333"/>
                </a:solidFill>
                <a:latin typeface="メイリオ"/>
                <a:ea typeface="メイリオ"/>
                <a:cs typeface="メイリオ"/>
              </a:rPr>
              <a:t>78% × 10% × 1.0%</a:t>
            </a:r>
          </a:p>
        </p:txBody>
      </p:sp>
      <p:cxnSp>
        <p:nvCxnSpPr>
          <p:cNvPr id="84" name="Connector 83"/>
          <p:cNvCxnSpPr/>
          <p:nvPr/>
        </p:nvCxnSpPr>
        <p:spPr>
          <a:xfrm>
            <a:off x="7549200" y="4487400"/>
            <a:ext cx="50400"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85" name="Rectangle 84"/>
          <p:cNvSpPr/>
          <p:nvPr/>
        </p:nvSpPr>
        <p:spPr>
          <a:xfrm>
            <a:off x="7596000" y="4312800"/>
            <a:ext cx="1144800" cy="349200"/>
          </a:xfrm>
          <a:prstGeom prst="rect">
            <a:avLst/>
          </a:prstGeom>
          <a:solidFill>
            <a:srgbClr val="00897B"/>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150" b="1">
                <a:solidFill>
                  <a:srgbClr val="FFFFFF"/>
                </a:solidFill>
                <a:latin typeface="メイリオ"/>
                <a:ea typeface="メイリオ"/>
                <a:cs typeface="メイリオ"/>
              </a:rPr>
              <a:t>5件</a:t>
            </a:r>
          </a:p>
          <a:p>
            <a:pPr algn="ctr"/>
            <a:r>
              <a:rPr sz="950" b="0">
                <a:solidFill>
                  <a:srgbClr val="FFFFFF"/>
                </a:solidFill>
                <a:latin typeface="メイリオ"/>
                <a:ea typeface="メイリオ"/>
                <a:cs typeface="メイリオ"/>
              </a:rPr>
              <a:t>CV② 体験・講習</a:t>
            </a:r>
          </a:p>
        </p:txBody>
      </p:sp>
      <p:sp>
        <p:nvSpPr>
          <p:cNvPr id="86" name="Rectangle 85"/>
          <p:cNvSpPr/>
          <p:nvPr/>
        </p:nvSpPr>
        <p:spPr>
          <a:xfrm>
            <a:off x="8784000" y="4312800"/>
            <a:ext cx="647999"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400" b="0">
                <a:solidFill>
                  <a:srgbClr val="333333"/>
                </a:solidFill>
                <a:latin typeface="メイリオ"/>
                <a:ea typeface="メイリオ"/>
                <a:cs typeface="メイリオ"/>
              </a:rPr>
              <a:t>費用内</a:t>
            </a:r>
          </a:p>
        </p:txBody>
      </p:sp>
      <p:sp>
        <p:nvSpPr>
          <p:cNvPr id="87" name="Rectangle 86"/>
          <p:cNvSpPr/>
          <p:nvPr/>
        </p:nvSpPr>
        <p:spPr>
          <a:xfrm>
            <a:off x="432000" y="4683600"/>
            <a:ext cx="964799"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300" b="1">
                <a:solidFill>
                  <a:srgbClr val="333333"/>
                </a:solidFill>
                <a:latin typeface="メイリオ"/>
                <a:ea typeface="メイリオ"/>
                <a:cs typeface="メイリオ"/>
              </a:rPr>
              <a:t>テストの前</a:t>
            </a:r>
          </a:p>
        </p:txBody>
      </p:sp>
      <p:sp>
        <p:nvSpPr>
          <p:cNvPr id="88" name="Rectangle 87"/>
          <p:cNvSpPr/>
          <p:nvPr/>
        </p:nvSpPr>
        <p:spPr>
          <a:xfrm>
            <a:off x="1440000" y="4683600"/>
            <a:ext cx="1576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l"/>
            <a:r>
              <a:rPr sz="1150" b="0">
                <a:solidFill>
                  <a:srgbClr val="333333"/>
                </a:solidFill>
                <a:latin typeface="メイリオ"/>
                <a:ea typeface="メイリオ"/>
                <a:cs typeface="メイリオ"/>
              </a:rPr>
              <a:t>中学生の保護者</a:t>
            </a:r>
          </a:p>
          <a:p>
            <a:pPr algn="l"/>
            <a:r>
              <a:rPr sz="950" b="0">
                <a:solidFill>
                  <a:srgbClr val="7F7F7F"/>
                </a:solidFill>
                <a:latin typeface="メイリオ"/>
                <a:ea typeface="メイリオ"/>
                <a:cs typeface="メイリオ"/>
              </a:rPr>
              <a:t>約2,700人</a:t>
            </a:r>
          </a:p>
        </p:txBody>
      </p:sp>
      <p:cxnSp>
        <p:nvCxnSpPr>
          <p:cNvPr id="89" name="Connector 88"/>
          <p:cNvCxnSpPr/>
          <p:nvPr/>
        </p:nvCxnSpPr>
        <p:spPr>
          <a:xfrm>
            <a:off x="3013199" y="4858200"/>
            <a:ext cx="50401"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90" name="Rectangle 89"/>
          <p:cNvSpPr/>
          <p:nvPr/>
        </p:nvSpPr>
        <p:spPr>
          <a:xfrm>
            <a:off x="3060000" y="4683600"/>
            <a:ext cx="2548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l"/>
            <a:r>
              <a:rPr sz="1150" b="0">
                <a:solidFill>
                  <a:srgbClr val="333333"/>
                </a:solidFill>
                <a:latin typeface="メイリオ"/>
                <a:ea typeface="メイリオ"/>
                <a:cs typeface="メイリオ"/>
              </a:rPr>
              <a:t>テスト対策講座・見直しポイント</a:t>
            </a:r>
          </a:p>
        </p:txBody>
      </p:sp>
      <p:cxnSp>
        <p:nvCxnSpPr>
          <p:cNvPr id="91" name="Connector 90"/>
          <p:cNvCxnSpPr/>
          <p:nvPr/>
        </p:nvCxnSpPr>
        <p:spPr>
          <a:xfrm>
            <a:off x="5605199" y="4858200"/>
            <a:ext cx="50401"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92" name="Rectangle 91"/>
          <p:cNvSpPr/>
          <p:nvPr/>
        </p:nvSpPr>
        <p:spPr>
          <a:xfrm>
            <a:off x="5652000" y="4683600"/>
            <a:ext cx="1900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200" b="0">
                <a:solidFill>
                  <a:srgbClr val="333333"/>
                </a:solidFill>
                <a:latin typeface="メイリオ"/>
                <a:ea typeface="メイリオ"/>
                <a:cs typeface="メイリオ"/>
              </a:rPr>
              <a:t>78% × 10% × 0.5%</a:t>
            </a:r>
          </a:p>
        </p:txBody>
      </p:sp>
      <p:cxnSp>
        <p:nvCxnSpPr>
          <p:cNvPr id="93" name="Connector 92"/>
          <p:cNvCxnSpPr/>
          <p:nvPr/>
        </p:nvCxnSpPr>
        <p:spPr>
          <a:xfrm>
            <a:off x="7549200" y="4858200"/>
            <a:ext cx="50400"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94" name="Rectangle 93"/>
          <p:cNvSpPr/>
          <p:nvPr/>
        </p:nvSpPr>
        <p:spPr>
          <a:xfrm>
            <a:off x="7596000" y="4683600"/>
            <a:ext cx="1144800" cy="349200"/>
          </a:xfrm>
          <a:prstGeom prst="rect">
            <a:avLst/>
          </a:prstGeom>
          <a:solidFill>
            <a:srgbClr val="00897B"/>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150" b="1">
                <a:solidFill>
                  <a:srgbClr val="FFFFFF"/>
                </a:solidFill>
                <a:latin typeface="メイリオ"/>
                <a:ea typeface="メイリオ"/>
                <a:cs typeface="メイリオ"/>
              </a:rPr>
              <a:t>1件</a:t>
            </a:r>
          </a:p>
          <a:p>
            <a:pPr algn="ctr"/>
            <a:r>
              <a:rPr sz="950" b="0">
                <a:solidFill>
                  <a:srgbClr val="FFFFFF"/>
                </a:solidFill>
                <a:latin typeface="メイリオ"/>
                <a:ea typeface="メイリオ"/>
                <a:cs typeface="メイリオ"/>
              </a:rPr>
              <a:t>CV② 体験予約</a:t>
            </a:r>
          </a:p>
        </p:txBody>
      </p:sp>
      <p:sp>
        <p:nvSpPr>
          <p:cNvPr id="95" name="Rectangle 94"/>
          <p:cNvSpPr/>
          <p:nvPr/>
        </p:nvSpPr>
        <p:spPr>
          <a:xfrm>
            <a:off x="8784000" y="4683600"/>
            <a:ext cx="647999"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400" b="0">
                <a:solidFill>
                  <a:srgbClr val="333333"/>
                </a:solidFill>
                <a:latin typeface="メイリオ"/>
                <a:ea typeface="メイリオ"/>
                <a:cs typeface="メイリオ"/>
              </a:rPr>
              <a:t>費用内</a:t>
            </a:r>
          </a:p>
        </p:txBody>
      </p:sp>
      <p:sp>
        <p:nvSpPr>
          <p:cNvPr id="96" name="Rectangle 95"/>
          <p:cNvSpPr/>
          <p:nvPr/>
        </p:nvSpPr>
        <p:spPr>
          <a:xfrm>
            <a:off x="432000" y="5054400"/>
            <a:ext cx="964799"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300" b="1">
                <a:solidFill>
                  <a:srgbClr val="333333"/>
                </a:solidFill>
                <a:latin typeface="メイリオ"/>
                <a:ea typeface="メイリオ"/>
                <a:cs typeface="メイリオ"/>
              </a:rPr>
              <a:t>資料請求後</a:t>
            </a:r>
          </a:p>
        </p:txBody>
      </p:sp>
      <p:sp>
        <p:nvSpPr>
          <p:cNvPr id="97" name="Rectangle 96"/>
          <p:cNvSpPr/>
          <p:nvPr/>
        </p:nvSpPr>
        <p:spPr>
          <a:xfrm>
            <a:off x="1440000" y="5054400"/>
            <a:ext cx="1576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l"/>
            <a:r>
              <a:rPr sz="1150" b="0">
                <a:solidFill>
                  <a:srgbClr val="333333"/>
                </a:solidFill>
                <a:latin typeface="メイリオ"/>
                <a:ea typeface="メイリオ"/>
                <a:cs typeface="メイリオ"/>
              </a:rPr>
              <a:t>資料を請求した人</a:t>
            </a:r>
          </a:p>
          <a:p>
            <a:pPr algn="l"/>
            <a:r>
              <a:rPr sz="950" b="0">
                <a:solidFill>
                  <a:srgbClr val="7F7F7F"/>
                </a:solidFill>
                <a:latin typeface="メイリオ"/>
                <a:ea typeface="メイリオ"/>
                <a:cs typeface="メイリオ"/>
              </a:rPr>
              <a:t>（件数は実績で）</a:t>
            </a:r>
          </a:p>
        </p:txBody>
      </p:sp>
      <p:cxnSp>
        <p:nvCxnSpPr>
          <p:cNvPr id="98" name="Connector 97"/>
          <p:cNvCxnSpPr/>
          <p:nvPr/>
        </p:nvCxnSpPr>
        <p:spPr>
          <a:xfrm>
            <a:off x="3013199" y="5229000"/>
            <a:ext cx="50401"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99" name="Rectangle 98"/>
          <p:cNvSpPr/>
          <p:nvPr/>
        </p:nvSpPr>
        <p:spPr>
          <a:xfrm>
            <a:off x="3060000" y="5054400"/>
            <a:ext cx="2548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l"/>
            <a:r>
              <a:rPr sz="1150" b="0">
                <a:solidFill>
                  <a:srgbClr val="333333"/>
                </a:solidFill>
                <a:latin typeface="メイリオ"/>
                <a:ea typeface="メイリオ"/>
                <a:cs typeface="メイリオ"/>
              </a:rPr>
              <a:t>事例・費用のQ&amp;A・教室紹介</a:t>
            </a:r>
          </a:p>
        </p:txBody>
      </p:sp>
      <p:cxnSp>
        <p:nvCxnSpPr>
          <p:cNvPr id="100" name="Connector 99"/>
          <p:cNvCxnSpPr/>
          <p:nvPr/>
        </p:nvCxnSpPr>
        <p:spPr>
          <a:xfrm>
            <a:off x="5605199" y="5229000"/>
            <a:ext cx="50401"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101" name="Rectangle 100"/>
          <p:cNvSpPr/>
          <p:nvPr/>
        </p:nvSpPr>
        <p:spPr>
          <a:xfrm>
            <a:off x="5652000" y="5054400"/>
            <a:ext cx="1900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200" b="0">
                <a:solidFill>
                  <a:srgbClr val="333333"/>
                </a:solidFill>
                <a:latin typeface="メイリオ"/>
                <a:ea typeface="メイリオ"/>
                <a:cs typeface="メイリオ"/>
              </a:rPr>
              <a:t>78% × 10% × 1.0%</a:t>
            </a:r>
          </a:p>
        </p:txBody>
      </p:sp>
      <p:cxnSp>
        <p:nvCxnSpPr>
          <p:cNvPr id="102" name="Connector 101"/>
          <p:cNvCxnSpPr/>
          <p:nvPr/>
        </p:nvCxnSpPr>
        <p:spPr>
          <a:xfrm>
            <a:off x="7549200" y="5229000"/>
            <a:ext cx="50400"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103" name="Rectangle 102"/>
          <p:cNvSpPr/>
          <p:nvPr/>
        </p:nvSpPr>
        <p:spPr>
          <a:xfrm>
            <a:off x="7596000" y="5054400"/>
            <a:ext cx="1144800" cy="349200"/>
          </a:xfrm>
          <a:prstGeom prst="rect">
            <a:avLst/>
          </a:prstGeom>
          <a:solidFill>
            <a:srgbClr val="F2F2F2"/>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150" b="1">
                <a:solidFill>
                  <a:srgbClr val="7F7F7F"/>
                </a:solidFill>
                <a:latin typeface="メイリオ"/>
                <a:ea typeface="メイリオ"/>
                <a:cs typeface="メイリオ"/>
              </a:rPr>
              <a:t>実績で計算</a:t>
            </a:r>
          </a:p>
          <a:p>
            <a:pPr algn="ctr"/>
            <a:r>
              <a:rPr sz="950" b="0">
                <a:solidFill>
                  <a:srgbClr val="7F7F7F"/>
                </a:solidFill>
                <a:latin typeface="メイリオ"/>
                <a:ea typeface="メイリオ"/>
                <a:cs typeface="メイリオ"/>
              </a:rPr>
              <a:t>CV② 体験予約</a:t>
            </a:r>
          </a:p>
        </p:txBody>
      </p:sp>
      <p:sp>
        <p:nvSpPr>
          <p:cNvPr id="104" name="Rectangle 103"/>
          <p:cNvSpPr/>
          <p:nvPr/>
        </p:nvSpPr>
        <p:spPr>
          <a:xfrm>
            <a:off x="8784000" y="5054400"/>
            <a:ext cx="647999"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400" b="0">
                <a:solidFill>
                  <a:srgbClr val="333333"/>
                </a:solidFill>
                <a:latin typeface="メイリオ"/>
                <a:ea typeface="メイリオ"/>
                <a:cs typeface="メイリオ"/>
              </a:rPr>
              <a:t>費用内</a:t>
            </a:r>
          </a:p>
        </p:txBody>
      </p:sp>
      <p:sp>
        <p:nvSpPr>
          <p:cNvPr id="105" name="Rectangle 104"/>
          <p:cNvSpPr/>
          <p:nvPr/>
        </p:nvSpPr>
        <p:spPr>
          <a:xfrm>
            <a:off x="432000" y="5425200"/>
            <a:ext cx="964799"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300" b="1">
                <a:solidFill>
                  <a:srgbClr val="333333"/>
                </a:solidFill>
                <a:latin typeface="メイリオ"/>
                <a:ea typeface="メイリオ"/>
                <a:cs typeface="メイリオ"/>
              </a:rPr>
              <a:t>講習の時期</a:t>
            </a:r>
          </a:p>
        </p:txBody>
      </p:sp>
      <p:sp>
        <p:nvSpPr>
          <p:cNvPr id="106" name="Rectangle 105"/>
          <p:cNvSpPr/>
          <p:nvPr/>
        </p:nvSpPr>
        <p:spPr>
          <a:xfrm>
            <a:off x="1440000" y="5425200"/>
            <a:ext cx="1576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l"/>
            <a:r>
              <a:rPr sz="1150" b="0">
                <a:solidFill>
                  <a:srgbClr val="333333"/>
                </a:solidFill>
                <a:latin typeface="メイリオ"/>
                <a:ea typeface="メイリオ"/>
                <a:cs typeface="メイリオ"/>
              </a:rPr>
              <a:t>体験・入会に</a:t>
            </a:r>
          </a:p>
          <a:p>
            <a:pPr algn="l"/>
            <a:r>
              <a:rPr sz="950" b="0">
                <a:solidFill>
                  <a:srgbClr val="7F7F7F"/>
                </a:solidFill>
                <a:latin typeface="メイリオ"/>
                <a:ea typeface="メイリオ"/>
                <a:cs typeface="メイリオ"/>
              </a:rPr>
              <a:t>至らなかった人</a:t>
            </a:r>
          </a:p>
        </p:txBody>
      </p:sp>
      <p:cxnSp>
        <p:nvCxnSpPr>
          <p:cNvPr id="107" name="Connector 106"/>
          <p:cNvCxnSpPr/>
          <p:nvPr/>
        </p:nvCxnSpPr>
        <p:spPr>
          <a:xfrm>
            <a:off x="3013199" y="5599800"/>
            <a:ext cx="50401"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108" name="Rectangle 107"/>
          <p:cNvSpPr/>
          <p:nvPr/>
        </p:nvSpPr>
        <p:spPr>
          <a:xfrm>
            <a:off x="3060000" y="5425200"/>
            <a:ext cx="2548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l"/>
            <a:r>
              <a:rPr sz="1150" b="0">
                <a:solidFill>
                  <a:srgbClr val="333333"/>
                </a:solidFill>
                <a:latin typeface="メイリオ"/>
                <a:ea typeface="メイリオ"/>
                <a:cs typeface="メイリオ"/>
              </a:rPr>
              <a:t>講習のご案内（通知メッセージ）</a:t>
            </a:r>
          </a:p>
        </p:txBody>
      </p:sp>
      <p:cxnSp>
        <p:nvCxnSpPr>
          <p:cNvPr id="109" name="Connector 108"/>
          <p:cNvCxnSpPr/>
          <p:nvPr/>
        </p:nvCxnSpPr>
        <p:spPr>
          <a:xfrm>
            <a:off x="5605199" y="5599800"/>
            <a:ext cx="50401"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110" name="Rectangle 109"/>
          <p:cNvSpPr/>
          <p:nvPr/>
        </p:nvSpPr>
        <p:spPr>
          <a:xfrm>
            <a:off x="5652000" y="5425200"/>
            <a:ext cx="1900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200" b="0">
                <a:solidFill>
                  <a:srgbClr val="333333"/>
                </a:solidFill>
                <a:latin typeface="メイリオ"/>
                <a:ea typeface="メイリオ"/>
                <a:cs typeface="メイリオ"/>
              </a:rPr>
              <a:t>通知メッセージ</a:t>
            </a:r>
          </a:p>
        </p:txBody>
      </p:sp>
      <p:cxnSp>
        <p:nvCxnSpPr>
          <p:cNvPr id="111" name="Connector 110"/>
          <p:cNvCxnSpPr/>
          <p:nvPr/>
        </p:nvCxnSpPr>
        <p:spPr>
          <a:xfrm>
            <a:off x="7549200" y="5599800"/>
            <a:ext cx="50400"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112" name="Rectangle 111"/>
          <p:cNvSpPr/>
          <p:nvPr/>
        </p:nvSpPr>
        <p:spPr>
          <a:xfrm>
            <a:off x="7596000" y="5425200"/>
            <a:ext cx="1144800" cy="349200"/>
          </a:xfrm>
          <a:prstGeom prst="rect">
            <a:avLst/>
          </a:prstGeom>
          <a:solidFill>
            <a:srgbClr val="F2F2F2"/>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150" b="1">
                <a:solidFill>
                  <a:srgbClr val="7F7F7F"/>
                </a:solidFill>
                <a:latin typeface="メイリオ"/>
                <a:ea typeface="メイリオ"/>
                <a:cs typeface="メイリオ"/>
              </a:rPr>
              <a:t>実績で計算</a:t>
            </a:r>
          </a:p>
          <a:p>
            <a:pPr algn="ctr"/>
            <a:r>
              <a:rPr sz="950" b="0">
                <a:solidFill>
                  <a:srgbClr val="7F7F7F"/>
                </a:solidFill>
                <a:latin typeface="メイリオ"/>
                <a:ea typeface="メイリオ"/>
                <a:cs typeface="メイリオ"/>
              </a:rPr>
              <a:t>別途費用</a:t>
            </a:r>
          </a:p>
        </p:txBody>
      </p:sp>
      <p:sp>
        <p:nvSpPr>
          <p:cNvPr id="113" name="Rectangle 112"/>
          <p:cNvSpPr/>
          <p:nvPr/>
        </p:nvSpPr>
        <p:spPr>
          <a:xfrm>
            <a:off x="8784000" y="5425200"/>
            <a:ext cx="647999"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400" b="0">
                <a:solidFill>
                  <a:srgbClr val="333333"/>
                </a:solidFill>
                <a:latin typeface="メイリオ"/>
                <a:ea typeface="メイリオ"/>
                <a:cs typeface="メイリオ"/>
              </a:rPr>
              <a:t>別途</a:t>
            </a:r>
          </a:p>
        </p:txBody>
      </p:sp>
      <p:sp>
        <p:nvSpPr>
          <p:cNvPr id="114" name="Rounded Rectangle 113"/>
          <p:cNvSpPr/>
          <p:nvPr/>
        </p:nvSpPr>
        <p:spPr>
          <a:xfrm>
            <a:off x="432000" y="5813999"/>
            <a:ext cx="9043200" cy="396000"/>
          </a:xfrm>
          <a:prstGeom prst="roundRect">
            <a:avLst>
              <a:gd name="adj" fmla="val 8000"/>
            </a:avLst>
          </a:prstGeom>
          <a:solidFill>
            <a:srgbClr val="E4E9F2"/>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50" b="1">
                <a:solidFill>
                  <a:srgbClr val="333333"/>
                </a:solidFill>
                <a:latin typeface="メイリオ"/>
                <a:ea typeface="メイリオ"/>
                <a:cs typeface="メイリオ"/>
              </a:rPr>
              <a:t>10教室で月に 資料請求 約5件・体験予約 約10件　→　100教室なら 資料請求 約50件・体験予約 約100件</a:t>
            </a:r>
          </a:p>
        </p:txBody>
      </p:sp>
      <p:sp>
        <p:nvSpPr>
          <p:cNvPr id="115" name="Rectangle 114"/>
          <p:cNvSpPr/>
          <p:nvPr/>
        </p:nvSpPr>
        <p:spPr>
          <a:xfrm>
            <a:off x="9216000" y="6580800"/>
            <a:ext cx="576000" cy="25199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r"/>
            <a:fld id="{8C1D2E3F-4A5B-4C6D-9E7F-000000000001}" type="slidenum">
              <a:rPr sz="1200" b="1">
                <a:solidFill>
                  <a:srgbClr val="FFFFFF"/>
                </a:solidFill>
                <a:latin typeface="メイリオ"/>
                <a:ea typeface="メイリオ"/>
                <a:cs typeface="メイリオ"/>
              </a:rPr>
              <a:t>38</a:t>
            </a:fld>
            <a:endParaRPr sz="1200" b="1">
              <a:solidFill>
                <a:srgbClr val="FFFFFF"/>
              </a:solidFill>
              <a:latin typeface="メイリオ"/>
              <a:ea typeface="メイリオ"/>
              <a:cs typeface="メイリオ"/>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5303208C-F2F3-3716-B706-B8EDA63E975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Meiryo"/>
                <a:sym typeface="Meiryo"/>
              </a:rPr>
              <a:t>施策の設計図③　満足度改善（保護者）</a:t>
            </a:r>
            <a:endParaRPr sz="1600" b="1" dirty="0">
              <a:solidFill>
                <a:srgbClr val="002060"/>
              </a:solidFill>
              <a:latin typeface="メイリオ"/>
              <a:ea typeface="メイリオ"/>
              <a:cs typeface="Meiryo"/>
              <a:sym typeface="Meiryo"/>
            </a:endParaRPr>
          </a:p>
        </p:txBody>
      </p:sp>
      <p:sp>
        <p:nvSpPr>
          <p:cNvPr id="46" name="Pentagon 45"/>
          <p:cNvSpPr/>
          <p:nvPr/>
        </p:nvSpPr>
        <p:spPr>
          <a:xfrm>
            <a:off x="432000" y="590400"/>
            <a:ext cx="1111500" cy="180000"/>
          </a:xfrm>
          <a:prstGeom prst="homePlate">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①接触</a:t>
            </a:r>
          </a:p>
        </p:txBody>
      </p:sp>
      <p:sp>
        <p:nvSpPr>
          <p:cNvPr id="47" name="Chevron 46"/>
          <p:cNvSpPr/>
          <p:nvPr/>
        </p:nvSpPr>
        <p:spPr>
          <a:xfrm>
            <a:off x="15651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②離脱</a:t>
            </a:r>
          </a:p>
        </p:txBody>
      </p:sp>
      <p:sp>
        <p:nvSpPr>
          <p:cNvPr id="48" name="Chevron 47"/>
          <p:cNvSpPr/>
          <p:nvPr/>
        </p:nvSpPr>
        <p:spPr>
          <a:xfrm>
            <a:off x="26982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③育成</a:t>
            </a:r>
          </a:p>
        </p:txBody>
      </p:sp>
      <p:sp>
        <p:nvSpPr>
          <p:cNvPr id="49" name="Chevron 48"/>
          <p:cNvSpPr/>
          <p:nvPr/>
        </p:nvSpPr>
        <p:spPr>
          <a:xfrm>
            <a:off x="38312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④リード獲得</a:t>
            </a:r>
          </a:p>
        </p:txBody>
      </p:sp>
      <p:sp>
        <p:nvSpPr>
          <p:cNvPr id="50" name="Chevron 49"/>
          <p:cNvSpPr/>
          <p:nvPr/>
        </p:nvSpPr>
        <p:spPr>
          <a:xfrm>
            <a:off x="49644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⑤リード有効化</a:t>
            </a:r>
          </a:p>
        </p:txBody>
      </p:sp>
      <p:sp>
        <p:nvSpPr>
          <p:cNvPr id="51" name="Chevron 50"/>
          <p:cNvSpPr/>
          <p:nvPr/>
        </p:nvSpPr>
        <p:spPr>
          <a:xfrm>
            <a:off x="60975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⑥再育成</a:t>
            </a:r>
          </a:p>
        </p:txBody>
      </p:sp>
      <p:sp>
        <p:nvSpPr>
          <p:cNvPr id="52" name="Chevron 51"/>
          <p:cNvSpPr/>
          <p:nvPr/>
        </p:nvSpPr>
        <p:spPr>
          <a:xfrm>
            <a:off x="72305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⑦入会（契約）</a:t>
            </a:r>
          </a:p>
        </p:txBody>
      </p:sp>
      <p:sp>
        <p:nvSpPr>
          <p:cNvPr id="53" name="Chevron 52"/>
          <p:cNvSpPr/>
          <p:nvPr/>
        </p:nvSpPr>
        <p:spPr>
          <a:xfrm>
            <a:off x="83636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⑧紹介</a:t>
            </a:r>
          </a:p>
        </p:txBody>
      </p:sp>
      <p:sp>
        <p:nvSpPr>
          <p:cNvPr id="54" name="Rectangle 53"/>
          <p:cNvSpPr/>
          <p:nvPr/>
        </p:nvSpPr>
        <p:spPr>
          <a:xfrm>
            <a:off x="432000" y="792000"/>
            <a:ext cx="9036000" cy="57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l"/>
            <a:r>
              <a:rPr sz="1200" b="0">
                <a:solidFill>
                  <a:srgbClr val="333333"/>
                </a:solidFill>
                <a:latin typeface="メイリオ"/>
                <a:ea typeface="メイリオ"/>
                <a:cs typeface="メイリオ"/>
              </a:rPr>
              <a:t>保護者の疑問に、待たせずに答える。</a:t>
            </a:r>
          </a:p>
          <a:p>
            <a:pPr algn="l"/>
            <a:r>
              <a:rPr sz="1200" b="0">
                <a:solidFill>
                  <a:srgbClr val="333333"/>
                </a:solidFill>
                <a:latin typeface="メイリオ"/>
                <a:ea typeface="メイリオ"/>
                <a:cs typeface="メイリオ"/>
              </a:rPr>
              <a:t>すぐ答えられることは自動で、相談ごとは人が答える。押してほしいボタンは右下に置く。</a:t>
            </a:r>
          </a:p>
        </p:txBody>
      </p:sp>
      <p:cxnSp>
        <p:nvCxnSpPr>
          <p:cNvPr id="55" name="Connector 54"/>
          <p:cNvCxnSpPr/>
          <p:nvPr/>
        </p:nvCxnSpPr>
        <p:spPr>
          <a:xfrm>
            <a:off x="0" y="1389600"/>
            <a:ext cx="9907200" cy="0"/>
          </a:xfrm>
          <a:prstGeom prst="line">
            <a:avLst/>
          </a:prstGeom>
          <a:ln>
            <a:solidFill>
              <a:srgbClr val="D9D9D9"/>
            </a:solidFill>
          </a:ln>
        </p:spPr>
        <p:style>
          <a:lnRef idx="2">
            <a:schemeClr val="accent1"/>
          </a:lnRef>
          <a:fillRef idx="0">
            <a:schemeClr val="accent1"/>
          </a:fillRef>
          <a:effectRef idx="1">
            <a:schemeClr val="accent1"/>
          </a:effectRef>
          <a:fontRef idx="minor">
            <a:schemeClr val="tx1"/>
          </a:fontRef>
        </p:style>
      </p:cxnSp>
      <p:sp>
        <p:nvSpPr>
          <p:cNvPr id="56" name="Rectangle 55"/>
          <p:cNvSpPr/>
          <p:nvPr/>
        </p:nvSpPr>
        <p:spPr>
          <a:xfrm>
            <a:off x="432000" y="6246000"/>
            <a:ext cx="9043200" cy="324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900" b="0">
                <a:solidFill>
                  <a:srgbClr val="7F7F7F"/>
                </a:solidFill>
                <a:latin typeface="メイリオ"/>
                <a:ea typeface="メイリオ"/>
                <a:cs typeface="メイリオ"/>
              </a:rPr>
              <a:t>※有人対応の時間帯（平日14〜21時）は例。教室の運用に合わせて決める</a:t>
            </a:r>
          </a:p>
        </p:txBody>
      </p:sp>
      <p:sp>
        <p:nvSpPr>
          <p:cNvPr id="57" name="Rectangle 56"/>
          <p:cNvSpPr/>
          <p:nvPr/>
        </p:nvSpPr>
        <p:spPr>
          <a:xfrm>
            <a:off x="432000" y="1512000"/>
            <a:ext cx="1224000" cy="648000"/>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1250" b="1">
                <a:solidFill>
                  <a:srgbClr val="FFFFFF"/>
                </a:solidFill>
                <a:latin typeface="メイリオ"/>
                <a:ea typeface="メイリオ"/>
                <a:cs typeface="メイリオ"/>
              </a:rPr>
              <a:t>[QA自動化]</a:t>
            </a:r>
          </a:p>
        </p:txBody>
      </p:sp>
      <p:sp>
        <p:nvSpPr>
          <p:cNvPr id="58" name="Rectangle 57"/>
          <p:cNvSpPr/>
          <p:nvPr/>
        </p:nvSpPr>
        <p:spPr>
          <a:xfrm>
            <a:off x="1692000" y="1512000"/>
            <a:ext cx="4068000" cy="6480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400" b="0">
                <a:solidFill>
                  <a:srgbClr val="333333"/>
                </a:solidFill>
                <a:latin typeface="メイリオ"/>
                <a:ea typeface="メイリオ"/>
                <a:cs typeface="メイリオ"/>
              </a:rPr>
              <a:t>料金・コース・対象学年・駐車場などは、キーワード自動応答ですぐ答える</a:t>
            </a:r>
          </a:p>
        </p:txBody>
      </p:sp>
      <p:sp>
        <p:nvSpPr>
          <p:cNvPr id="59" name="Rectangle 58"/>
          <p:cNvSpPr/>
          <p:nvPr/>
        </p:nvSpPr>
        <p:spPr>
          <a:xfrm>
            <a:off x="5796000" y="1512000"/>
            <a:ext cx="827999" cy="648000"/>
          </a:xfrm>
          <a:prstGeom prst="rect">
            <a:avLst/>
          </a:prstGeom>
          <a:solidFill>
            <a:srgbClr val="F4F7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300" b="1">
                <a:solidFill>
                  <a:srgbClr val="1F285A"/>
                </a:solidFill>
                <a:latin typeface="メイリオ"/>
                <a:ea typeface="メイリオ"/>
                <a:cs typeface="メイリオ"/>
              </a:rPr>
              <a:t>費用内</a:t>
            </a:r>
          </a:p>
        </p:txBody>
      </p:sp>
      <p:sp>
        <p:nvSpPr>
          <p:cNvPr id="60" name="Rectangle 59"/>
          <p:cNvSpPr/>
          <p:nvPr/>
        </p:nvSpPr>
        <p:spPr>
          <a:xfrm>
            <a:off x="432000" y="2232000"/>
            <a:ext cx="1224000" cy="648000"/>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1250" b="1">
                <a:solidFill>
                  <a:srgbClr val="FFFFFF"/>
                </a:solidFill>
                <a:latin typeface="メイリオ"/>
                <a:ea typeface="メイリオ"/>
                <a:cs typeface="メイリオ"/>
              </a:rPr>
              <a:t>[個別チャット]</a:t>
            </a:r>
          </a:p>
        </p:txBody>
      </p:sp>
      <p:sp>
        <p:nvSpPr>
          <p:cNvPr id="61" name="Rectangle 60"/>
          <p:cNvSpPr/>
          <p:nvPr/>
        </p:nvSpPr>
        <p:spPr>
          <a:xfrm>
            <a:off x="1692000" y="2232000"/>
            <a:ext cx="4068000" cy="6480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400" b="0">
                <a:solidFill>
                  <a:srgbClr val="333333"/>
                </a:solidFill>
                <a:latin typeface="メイリオ"/>
                <a:ea typeface="メイリオ"/>
                <a:cs typeface="メイリオ"/>
              </a:rPr>
              <a:t>志望校の相談や日程の調整は、平日14〜21時に教室スタッフが1対1で対応</a:t>
            </a:r>
          </a:p>
        </p:txBody>
      </p:sp>
      <p:sp>
        <p:nvSpPr>
          <p:cNvPr id="62" name="Rectangle 61"/>
          <p:cNvSpPr/>
          <p:nvPr/>
        </p:nvSpPr>
        <p:spPr>
          <a:xfrm>
            <a:off x="5796000" y="2232000"/>
            <a:ext cx="827999" cy="648000"/>
          </a:xfrm>
          <a:prstGeom prst="rect">
            <a:avLst/>
          </a:prstGeom>
          <a:solidFill>
            <a:srgbClr val="F4F7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300" b="1">
                <a:solidFill>
                  <a:srgbClr val="1F285A"/>
                </a:solidFill>
                <a:latin typeface="メイリオ"/>
                <a:ea typeface="メイリオ"/>
                <a:cs typeface="メイリオ"/>
              </a:rPr>
              <a:t>費用内</a:t>
            </a:r>
          </a:p>
        </p:txBody>
      </p:sp>
      <p:sp>
        <p:nvSpPr>
          <p:cNvPr id="63" name="Rectangle 62"/>
          <p:cNvSpPr/>
          <p:nvPr/>
        </p:nvSpPr>
        <p:spPr>
          <a:xfrm>
            <a:off x="432000" y="2951999"/>
            <a:ext cx="1224000" cy="648000"/>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1250" b="1">
                <a:solidFill>
                  <a:srgbClr val="FFFFFF"/>
                </a:solidFill>
                <a:latin typeface="メイリオ"/>
                <a:ea typeface="メイリオ"/>
                <a:cs typeface="メイリオ"/>
              </a:rPr>
              <a:t>[その他]</a:t>
            </a:r>
          </a:p>
        </p:txBody>
      </p:sp>
      <p:sp>
        <p:nvSpPr>
          <p:cNvPr id="64" name="Rectangle 63"/>
          <p:cNvSpPr/>
          <p:nvPr/>
        </p:nvSpPr>
        <p:spPr>
          <a:xfrm>
            <a:off x="1692000" y="2951999"/>
            <a:ext cx="4068000" cy="6480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400" b="0">
                <a:solidFill>
                  <a:srgbClr val="333333"/>
                </a:solidFill>
                <a:latin typeface="メイリオ"/>
                <a:ea typeface="メイリオ"/>
                <a:cs typeface="メイリオ"/>
              </a:rPr>
              <a:t>リッチメニューの右下に「無料体験・教室見学の予約」を常に置く</a:t>
            </a:r>
          </a:p>
        </p:txBody>
      </p:sp>
      <p:sp>
        <p:nvSpPr>
          <p:cNvPr id="65" name="Rectangle 64"/>
          <p:cNvSpPr/>
          <p:nvPr/>
        </p:nvSpPr>
        <p:spPr>
          <a:xfrm>
            <a:off x="5796000" y="2951999"/>
            <a:ext cx="827999" cy="648000"/>
          </a:xfrm>
          <a:prstGeom prst="rect">
            <a:avLst/>
          </a:prstGeom>
          <a:solidFill>
            <a:srgbClr val="F4F7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300" b="1">
                <a:solidFill>
                  <a:srgbClr val="1F285A"/>
                </a:solidFill>
                <a:latin typeface="メイリオ"/>
                <a:ea typeface="メイリオ"/>
                <a:cs typeface="メイリオ"/>
              </a:rPr>
              <a:t>費用内</a:t>
            </a:r>
          </a:p>
        </p:txBody>
      </p:sp>
      <p:sp>
        <p:nvSpPr>
          <p:cNvPr id="66" name="Rounded Rectangle 65"/>
          <p:cNvSpPr/>
          <p:nvPr/>
        </p:nvSpPr>
        <p:spPr>
          <a:xfrm>
            <a:off x="6840000" y="1475999"/>
            <a:ext cx="2628000" cy="4716000"/>
          </a:xfrm>
          <a:prstGeom prst="roundRect">
            <a:avLst>
              <a:gd name="adj" fmla="val 10000"/>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67" name="Rectangle 66"/>
          <p:cNvSpPr/>
          <p:nvPr/>
        </p:nvSpPr>
        <p:spPr>
          <a:xfrm>
            <a:off x="6930000" y="1673999"/>
            <a:ext cx="2448000" cy="4356000"/>
          </a:xfrm>
          <a:prstGeom prst="rect">
            <a:avLst/>
          </a:prstGeom>
          <a:solidFill>
            <a:srgbClr val="C9D6E8"/>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68" name="Rectangle 67"/>
          <p:cNvSpPr/>
          <p:nvPr/>
        </p:nvSpPr>
        <p:spPr>
          <a:xfrm>
            <a:off x="6930000" y="1673999"/>
            <a:ext cx="2448000" cy="216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800" b="1">
                <a:solidFill>
                  <a:srgbClr val="333333"/>
                </a:solidFill>
                <a:latin typeface="メイリオ"/>
                <a:ea typeface="メイリオ"/>
                <a:cs typeface="メイリオ"/>
              </a:rPr>
              <a:t>‹  ◯◯塾 △△教室</a:t>
            </a:r>
          </a:p>
        </p:txBody>
      </p:sp>
      <p:sp>
        <p:nvSpPr>
          <p:cNvPr id="69" name="Rounded Rectangle 68"/>
          <p:cNvSpPr/>
          <p:nvPr/>
        </p:nvSpPr>
        <p:spPr>
          <a:xfrm>
            <a:off x="8082000" y="2033999"/>
            <a:ext cx="1188000" cy="288000"/>
          </a:xfrm>
          <a:prstGeom prst="roundRect">
            <a:avLst>
              <a:gd name="adj" fmla="val 30000"/>
            </a:avLst>
          </a:prstGeom>
          <a:solidFill>
            <a:srgbClr val="A6E3A1"/>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00" b="0">
                <a:solidFill>
                  <a:srgbClr val="333333"/>
                </a:solidFill>
                <a:latin typeface="メイリオ"/>
                <a:ea typeface="メイリオ"/>
                <a:cs typeface="メイリオ"/>
              </a:rPr>
              <a:t>料金はいくら？</a:t>
            </a:r>
          </a:p>
        </p:txBody>
      </p:sp>
      <p:sp>
        <p:nvSpPr>
          <p:cNvPr id="70" name="Rounded Rectangle 69"/>
          <p:cNvSpPr/>
          <p:nvPr/>
        </p:nvSpPr>
        <p:spPr>
          <a:xfrm>
            <a:off x="7020000" y="2394000"/>
            <a:ext cx="2015999" cy="9360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t"/>
          <a:lstStyle/>
          <a:p>
            <a:pPr algn="l"/>
            <a:r>
              <a:rPr sz="950" b="0">
                <a:solidFill>
                  <a:srgbClr val="333333"/>
                </a:solidFill>
                <a:latin typeface="メイリオ"/>
                <a:ea typeface="メイリオ"/>
                <a:cs typeface="メイリオ"/>
              </a:rPr>
              <a:t>（自動応答）</a:t>
            </a:r>
          </a:p>
          <a:p>
            <a:pPr algn="l"/>
            <a:r>
              <a:rPr sz="950" b="0">
                <a:solidFill>
                  <a:srgbClr val="333333"/>
                </a:solidFill>
                <a:latin typeface="メイリオ"/>
                <a:ea typeface="メイリオ"/>
                <a:cs typeface="メイリオ"/>
              </a:rPr>
              <a:t>コース別の月謝の目安です👇</a:t>
            </a:r>
          </a:p>
          <a:p>
            <a:pPr algn="l"/>
            <a:r>
              <a:rPr sz="950" b="0">
                <a:solidFill>
                  <a:srgbClr val="333333"/>
                </a:solidFill>
                <a:latin typeface="メイリオ"/>
                <a:ea typeface="メイリオ"/>
                <a:cs typeface="メイリオ"/>
              </a:rPr>
              <a:t>・小学生　◯◯円〜</a:t>
            </a:r>
          </a:p>
          <a:p>
            <a:pPr algn="l"/>
            <a:r>
              <a:rPr sz="950" b="0">
                <a:solidFill>
                  <a:srgbClr val="333333"/>
                </a:solidFill>
                <a:latin typeface="メイリオ"/>
                <a:ea typeface="メイリオ"/>
                <a:cs typeface="メイリオ"/>
              </a:rPr>
              <a:t>・中学生　◯◯円〜</a:t>
            </a:r>
          </a:p>
          <a:p>
            <a:pPr algn="l"/>
            <a:r>
              <a:rPr sz="950" b="0">
                <a:solidFill>
                  <a:srgbClr val="333333"/>
                </a:solidFill>
                <a:latin typeface="メイリオ"/>
                <a:ea typeface="メイリオ"/>
                <a:cs typeface="メイリオ"/>
              </a:rPr>
              <a:t>講習費を含めた年間の目安は</a:t>
            </a:r>
          </a:p>
          <a:p>
            <a:pPr algn="l"/>
            <a:r>
              <a:rPr sz="950" b="0">
                <a:solidFill>
                  <a:srgbClr val="333333"/>
                </a:solidFill>
                <a:latin typeface="メイリオ"/>
                <a:ea typeface="メイリオ"/>
                <a:cs typeface="メイリオ"/>
              </a:rPr>
              <a:t>こちら▶</a:t>
            </a:r>
          </a:p>
        </p:txBody>
      </p:sp>
      <p:sp>
        <p:nvSpPr>
          <p:cNvPr id="71" name="Rounded Rectangle 70"/>
          <p:cNvSpPr/>
          <p:nvPr/>
        </p:nvSpPr>
        <p:spPr>
          <a:xfrm>
            <a:off x="7974000" y="3401999"/>
            <a:ext cx="1296000" cy="288000"/>
          </a:xfrm>
          <a:prstGeom prst="roundRect">
            <a:avLst>
              <a:gd name="adj" fmla="val 30000"/>
            </a:avLst>
          </a:prstGeom>
          <a:solidFill>
            <a:srgbClr val="A6E3A1"/>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00" b="0">
                <a:solidFill>
                  <a:srgbClr val="333333"/>
                </a:solidFill>
                <a:latin typeface="メイリオ"/>
                <a:ea typeface="メイリオ"/>
                <a:cs typeface="メイリオ"/>
              </a:rPr>
              <a:t>志望校の相談をしたい</a:t>
            </a:r>
          </a:p>
        </p:txBody>
      </p:sp>
      <p:sp>
        <p:nvSpPr>
          <p:cNvPr id="72" name="Rounded Rectangle 71"/>
          <p:cNvSpPr/>
          <p:nvPr/>
        </p:nvSpPr>
        <p:spPr>
          <a:xfrm>
            <a:off x="7020000" y="3761999"/>
            <a:ext cx="2015999" cy="6840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t"/>
          <a:lstStyle/>
          <a:p>
            <a:pPr algn="l"/>
            <a:r>
              <a:rPr sz="950" b="0">
                <a:solidFill>
                  <a:srgbClr val="333333"/>
                </a:solidFill>
                <a:latin typeface="メイリオ"/>
                <a:ea typeface="メイリオ"/>
                <a:cs typeface="メイリオ"/>
              </a:rPr>
              <a:t>（教室長の佐藤です）</a:t>
            </a:r>
          </a:p>
          <a:p>
            <a:pPr algn="l"/>
            <a:r>
              <a:rPr sz="950" b="0">
                <a:solidFill>
                  <a:srgbClr val="333333"/>
                </a:solidFill>
                <a:latin typeface="メイリオ"/>
                <a:ea typeface="メイリオ"/>
                <a:cs typeface="メイリオ"/>
              </a:rPr>
              <a:t>ご相談ありがとうございます。</a:t>
            </a:r>
          </a:p>
          <a:p>
            <a:pPr algn="l"/>
            <a:r>
              <a:rPr sz="950" b="0">
                <a:solidFill>
                  <a:srgbClr val="333333"/>
                </a:solidFill>
                <a:latin typeface="メイリオ"/>
                <a:ea typeface="メイリオ"/>
                <a:cs typeface="メイリオ"/>
              </a:rPr>
              <a:t>お子さまの学年を教えて</a:t>
            </a:r>
          </a:p>
          <a:p>
            <a:pPr algn="l"/>
            <a:r>
              <a:rPr sz="950" b="0">
                <a:solidFill>
                  <a:srgbClr val="333333"/>
                </a:solidFill>
                <a:latin typeface="メイリオ"/>
                <a:ea typeface="メイリオ"/>
                <a:cs typeface="メイリオ"/>
              </a:rPr>
              <a:t>いただけますか？</a:t>
            </a:r>
          </a:p>
        </p:txBody>
      </p:sp>
      <p:sp>
        <p:nvSpPr>
          <p:cNvPr id="73" name="Rectangle 72"/>
          <p:cNvSpPr/>
          <p:nvPr/>
        </p:nvSpPr>
        <p:spPr>
          <a:xfrm>
            <a:off x="6930000" y="4806000"/>
            <a:ext cx="816000" cy="612000"/>
          </a:xfrm>
          <a:prstGeom prst="rect">
            <a:avLst/>
          </a:prstGeom>
          <a:solidFill>
            <a:srgbClr val="FFFFFF"/>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800" b="1">
                <a:solidFill>
                  <a:srgbClr val="1F285A"/>
                </a:solidFill>
                <a:latin typeface="メイリオ"/>
                <a:ea typeface="メイリオ"/>
                <a:cs typeface="メイリオ"/>
              </a:rPr>
              <a:t>30秒診断</a:t>
            </a:r>
          </a:p>
        </p:txBody>
      </p:sp>
      <p:sp>
        <p:nvSpPr>
          <p:cNvPr id="74" name="Rectangle 73"/>
          <p:cNvSpPr/>
          <p:nvPr/>
        </p:nvSpPr>
        <p:spPr>
          <a:xfrm>
            <a:off x="7746000" y="4806000"/>
            <a:ext cx="816000" cy="612000"/>
          </a:xfrm>
          <a:prstGeom prst="rect">
            <a:avLst/>
          </a:prstGeom>
          <a:solidFill>
            <a:srgbClr val="FFFFFF"/>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800" b="1">
                <a:solidFill>
                  <a:srgbClr val="1F285A"/>
                </a:solidFill>
                <a:latin typeface="メイリオ"/>
                <a:ea typeface="メイリオ"/>
                <a:cs typeface="メイリオ"/>
              </a:rPr>
              <a:t>コース・料金</a:t>
            </a:r>
          </a:p>
        </p:txBody>
      </p:sp>
      <p:sp>
        <p:nvSpPr>
          <p:cNvPr id="75" name="Rectangle 74"/>
          <p:cNvSpPr/>
          <p:nvPr/>
        </p:nvSpPr>
        <p:spPr>
          <a:xfrm>
            <a:off x="8562000" y="4806000"/>
            <a:ext cx="816000" cy="612000"/>
          </a:xfrm>
          <a:prstGeom prst="rect">
            <a:avLst/>
          </a:prstGeom>
          <a:solidFill>
            <a:srgbClr val="FFFFFF"/>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800" b="1">
                <a:solidFill>
                  <a:srgbClr val="1F285A"/>
                </a:solidFill>
                <a:latin typeface="メイリオ"/>
                <a:ea typeface="メイリオ"/>
                <a:cs typeface="メイリオ"/>
              </a:rPr>
              <a:t>教室・講師</a:t>
            </a:r>
          </a:p>
        </p:txBody>
      </p:sp>
      <p:sp>
        <p:nvSpPr>
          <p:cNvPr id="76" name="Rectangle 75"/>
          <p:cNvSpPr/>
          <p:nvPr/>
        </p:nvSpPr>
        <p:spPr>
          <a:xfrm>
            <a:off x="6930000" y="5418000"/>
            <a:ext cx="816000" cy="612000"/>
          </a:xfrm>
          <a:prstGeom prst="rect">
            <a:avLst/>
          </a:prstGeom>
          <a:solidFill>
            <a:srgbClr val="FFFFFF"/>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800" b="1">
                <a:solidFill>
                  <a:srgbClr val="1F285A"/>
                </a:solidFill>
                <a:latin typeface="メイリオ"/>
                <a:ea typeface="メイリオ"/>
                <a:cs typeface="メイリオ"/>
              </a:rPr>
              <a:t>資料を受け取る</a:t>
            </a:r>
          </a:p>
        </p:txBody>
      </p:sp>
      <p:sp>
        <p:nvSpPr>
          <p:cNvPr id="77" name="Rectangle 76"/>
          <p:cNvSpPr/>
          <p:nvPr/>
        </p:nvSpPr>
        <p:spPr>
          <a:xfrm>
            <a:off x="7746000" y="5418000"/>
            <a:ext cx="816000" cy="612000"/>
          </a:xfrm>
          <a:prstGeom prst="rect">
            <a:avLst/>
          </a:prstGeom>
          <a:solidFill>
            <a:srgbClr val="FFFFFF"/>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800" b="1">
                <a:solidFill>
                  <a:srgbClr val="1F285A"/>
                </a:solidFill>
                <a:latin typeface="メイリオ"/>
                <a:ea typeface="メイリオ"/>
                <a:cs typeface="メイリオ"/>
              </a:rPr>
              <a:t>友だちと体験</a:t>
            </a:r>
          </a:p>
        </p:txBody>
      </p:sp>
      <p:sp>
        <p:nvSpPr>
          <p:cNvPr id="78" name="Rectangle 77"/>
          <p:cNvSpPr/>
          <p:nvPr/>
        </p:nvSpPr>
        <p:spPr>
          <a:xfrm>
            <a:off x="8562000" y="5418000"/>
            <a:ext cx="816000" cy="612000"/>
          </a:xfrm>
          <a:prstGeom prst="rect">
            <a:avLst/>
          </a:prstGeom>
          <a:solidFill>
            <a:srgbClr val="C00000"/>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800" b="1">
                <a:solidFill>
                  <a:srgbClr val="FFFFFF"/>
                </a:solidFill>
                <a:latin typeface="メイリオ"/>
                <a:ea typeface="メイリオ"/>
                <a:cs typeface="メイリオ"/>
              </a:rPr>
              <a:t>無料体験・</a:t>
            </a:r>
          </a:p>
          <a:p>
            <a:pPr algn="ctr"/>
            <a:r>
              <a:rPr sz="800" b="1">
                <a:solidFill>
                  <a:srgbClr val="FFFFFF"/>
                </a:solidFill>
                <a:latin typeface="メイリオ"/>
                <a:ea typeface="メイリオ"/>
                <a:cs typeface="メイリオ"/>
              </a:rPr>
              <a:t>見学の予約</a:t>
            </a:r>
          </a:p>
        </p:txBody>
      </p:sp>
      <p:sp>
        <p:nvSpPr>
          <p:cNvPr id="79" name="Rounded Rectangle 78"/>
          <p:cNvSpPr/>
          <p:nvPr/>
        </p:nvSpPr>
        <p:spPr>
          <a:xfrm>
            <a:off x="432000" y="3744000"/>
            <a:ext cx="6192000" cy="1548000"/>
          </a:xfrm>
          <a:prstGeom prst="roundRect">
            <a:avLst>
              <a:gd name="adj" fmla="val 8000"/>
            </a:avLst>
          </a:prstGeom>
          <a:solidFill>
            <a:srgbClr val="F4F7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80" name="Rectangle 79"/>
          <p:cNvSpPr/>
          <p:nvPr/>
        </p:nvSpPr>
        <p:spPr>
          <a:xfrm>
            <a:off x="576000" y="3816000"/>
            <a:ext cx="5940000" cy="144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450" b="1">
                <a:solidFill>
                  <a:srgbClr val="1F285A"/>
                </a:solidFill>
                <a:latin typeface="メイリオ"/>
                <a:ea typeface="メイリオ"/>
                <a:cs typeface="メイリオ"/>
              </a:rPr>
              <a:t>保護者にとって良くなること</a:t>
            </a:r>
          </a:p>
          <a:p>
            <a:pPr algn="l"/>
            <a:r>
              <a:rPr sz="1350" b="0">
                <a:solidFill>
                  <a:srgbClr val="333333"/>
                </a:solidFill>
                <a:latin typeface="メイリオ"/>
                <a:ea typeface="メイリオ"/>
                <a:cs typeface="メイリオ"/>
              </a:rPr>
              <a:t>・夜や休みの日でも、料金やコースがすぐ分かる</a:t>
            </a:r>
          </a:p>
          <a:p>
            <a:pPr algn="l"/>
            <a:r>
              <a:rPr sz="1350" b="0">
                <a:solidFill>
                  <a:srgbClr val="333333"/>
                </a:solidFill>
                <a:latin typeface="メイリオ"/>
                <a:ea typeface="メイリオ"/>
                <a:cs typeface="メイリオ"/>
              </a:rPr>
              <a:t>・電話をしなくても、LINEで気軽に相談できる</a:t>
            </a:r>
          </a:p>
          <a:p>
            <a:pPr algn="l"/>
            <a:r>
              <a:rPr sz="1350" b="0">
                <a:solidFill>
                  <a:srgbClr val="333333"/>
                </a:solidFill>
                <a:latin typeface="メイリオ"/>
                <a:ea typeface="メイリオ"/>
                <a:cs typeface="メイリオ"/>
              </a:rPr>
              <a:t>・体験の予約が、画面の右下からすぐできる</a:t>
            </a:r>
          </a:p>
        </p:txBody>
      </p:sp>
      <p:sp>
        <p:nvSpPr>
          <p:cNvPr id="81" name="Rounded Rectangle 80"/>
          <p:cNvSpPr/>
          <p:nvPr/>
        </p:nvSpPr>
        <p:spPr>
          <a:xfrm>
            <a:off x="432000" y="5436000"/>
            <a:ext cx="6192000" cy="720000"/>
          </a:xfrm>
          <a:prstGeom prst="roundRect">
            <a:avLst>
              <a:gd name="adj" fmla="val 8000"/>
            </a:avLst>
          </a:prstGeom>
          <a:solidFill>
            <a:srgbClr val="E4E9F2"/>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500" b="1">
                <a:solidFill>
                  <a:srgbClr val="333333"/>
                </a:solidFill>
                <a:latin typeface="メイリオ"/>
                <a:ea typeface="メイリオ"/>
                <a:cs typeface="メイリオ"/>
              </a:rPr>
              <a:t>すぐ答える仕組みが、</a:t>
            </a:r>
          </a:p>
          <a:p>
            <a:pPr algn="ctr"/>
            <a:r>
              <a:rPr sz="1500" b="1">
                <a:solidFill>
                  <a:srgbClr val="333333"/>
                </a:solidFill>
                <a:latin typeface="メイリオ"/>
                <a:ea typeface="メイリオ"/>
                <a:cs typeface="メイリオ"/>
              </a:rPr>
              <a:t>資料請求・体験予約の取りこぼしを減らす。</a:t>
            </a:r>
          </a:p>
        </p:txBody>
      </p:sp>
      <p:sp>
        <p:nvSpPr>
          <p:cNvPr id="82" name="Rectangle 81"/>
          <p:cNvSpPr/>
          <p:nvPr/>
        </p:nvSpPr>
        <p:spPr>
          <a:xfrm>
            <a:off x="9216000" y="6580800"/>
            <a:ext cx="576000" cy="25199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r"/>
            <a:fld id="{8C1D2E3F-4A5B-4C6D-9E7F-000000000002}" type="slidenum">
              <a:rPr sz="1200" b="1">
                <a:solidFill>
                  <a:srgbClr val="FFFFFF"/>
                </a:solidFill>
                <a:latin typeface="メイリオ"/>
                <a:ea typeface="メイリオ"/>
                <a:cs typeface="メイリオ"/>
              </a:rPr>
              <a:t>39</a:t>
            </a:fld>
            <a:endParaRPr sz="1200" b="1">
              <a:solidFill>
                <a:srgbClr val="FFFFFF"/>
              </a:solidFill>
              <a:latin typeface="メイリオ"/>
              <a:ea typeface="メイリオ"/>
              <a:cs typeface="メイリオ"/>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施策の設計図④　効率改善（教室・運用側）</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a:solidFill>
                  <a:srgbClr val="333333"/>
                </a:solidFill>
                <a:latin typeface="メイリオ"/>
                <a:ea typeface="メイリオ"/>
                <a:cs typeface="メイリオ"/>
              </a:rPr>
              <a:t>教室の手間を増やさずに回す。予約の受付・日程変更・持ち物の案内は、LINEで自動にする。</a:t>
            </a:r>
          </a:p>
          <a:p>
            <a:pPr algn="l">
              <a:lnSpc>
                <a:spcPct val="128000"/>
              </a:lnSpc>
            </a:pPr>
            <a:r>
              <a:rPr sz="1200">
                <a:solidFill>
                  <a:srgbClr val="333333"/>
                </a:solidFill>
                <a:latin typeface="メイリオ"/>
                <a:ea typeface="メイリオ"/>
                <a:cs typeface="メイリオ"/>
              </a:rPr>
              <a:t>LINE経由の資料請求・体験予約の数も、計測できるようにする。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900">
                <a:solidFill>
                  <a:srgbClr val="7F7F7F"/>
                </a:solidFill>
                <a:latin typeface="メイリオ"/>
                <a:ea typeface="メイリオ"/>
                <a:cs typeface="メイリオ"/>
              </a:rPr>
              <a:t>※GA4のパラメータ（utm）でLINE経由の流入と資料請求・体験予約を計測。費用は月額費用内</a:t>
            </a:r>
          </a:p>
        </p:txBody>
      </p:sp>
      <p:sp>
        <p:nvSpPr>
          <p:cNvPr id="32" name="Pentagon 31"/>
          <p:cNvSpPr/>
          <p:nvPr/>
        </p:nvSpPr>
        <p:spPr>
          <a:xfrm>
            <a:off x="432000" y="590400"/>
            <a:ext cx="1111500" cy="180000"/>
          </a:xfrm>
          <a:prstGeom prst="homePlate">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①接触</a:t>
            </a:r>
          </a:p>
        </p:txBody>
      </p:sp>
      <p:sp>
        <p:nvSpPr>
          <p:cNvPr id="33" name="Chevron 32"/>
          <p:cNvSpPr/>
          <p:nvPr/>
        </p:nvSpPr>
        <p:spPr>
          <a:xfrm>
            <a:off x="15651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②離脱</a:t>
            </a:r>
          </a:p>
        </p:txBody>
      </p:sp>
      <p:sp>
        <p:nvSpPr>
          <p:cNvPr id="34" name="Chevron 33"/>
          <p:cNvSpPr/>
          <p:nvPr/>
        </p:nvSpPr>
        <p:spPr>
          <a:xfrm>
            <a:off x="26982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③育成</a:t>
            </a:r>
          </a:p>
        </p:txBody>
      </p:sp>
      <p:sp>
        <p:nvSpPr>
          <p:cNvPr id="35" name="Chevron 34"/>
          <p:cNvSpPr/>
          <p:nvPr/>
        </p:nvSpPr>
        <p:spPr>
          <a:xfrm>
            <a:off x="38312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④リード獲得</a:t>
            </a:r>
          </a:p>
        </p:txBody>
      </p:sp>
      <p:sp>
        <p:nvSpPr>
          <p:cNvPr id="36" name="Chevron 35"/>
          <p:cNvSpPr/>
          <p:nvPr/>
        </p:nvSpPr>
        <p:spPr>
          <a:xfrm>
            <a:off x="49644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⑤リード有効化</a:t>
            </a:r>
          </a:p>
        </p:txBody>
      </p:sp>
      <p:sp>
        <p:nvSpPr>
          <p:cNvPr id="37" name="Chevron 36"/>
          <p:cNvSpPr/>
          <p:nvPr/>
        </p:nvSpPr>
        <p:spPr>
          <a:xfrm>
            <a:off x="60975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⑥再育成</a:t>
            </a:r>
          </a:p>
        </p:txBody>
      </p:sp>
      <p:sp>
        <p:nvSpPr>
          <p:cNvPr id="38" name="Chevron 37"/>
          <p:cNvSpPr/>
          <p:nvPr/>
        </p:nvSpPr>
        <p:spPr>
          <a:xfrm>
            <a:off x="7230599"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⑦入会（契約）</a:t>
            </a:r>
          </a:p>
        </p:txBody>
      </p:sp>
      <p:sp>
        <p:nvSpPr>
          <p:cNvPr id="39" name="Chevron 38"/>
          <p:cNvSpPr/>
          <p:nvPr/>
        </p:nvSpPr>
        <p:spPr>
          <a:xfrm>
            <a:off x="83636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⑧紹介</a:t>
            </a:r>
          </a:p>
        </p:txBody>
      </p:sp>
      <p:sp>
        <p:nvSpPr>
          <p:cNvPr id="40" name="Rectangle 39"/>
          <p:cNvSpPr/>
          <p:nvPr/>
        </p:nvSpPr>
        <p:spPr>
          <a:xfrm>
            <a:off x="432000" y="1512000"/>
            <a:ext cx="1224000" cy="558000"/>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550" b="1">
                <a:solidFill>
                  <a:srgbClr val="FFFFFF"/>
                </a:solidFill>
                <a:latin typeface="メイリオ"/>
                <a:ea typeface="メイリオ"/>
                <a:cs typeface="メイリオ"/>
              </a:rPr>
              <a:t>[自動応答]</a:t>
            </a:r>
          </a:p>
        </p:txBody>
      </p:sp>
      <p:sp>
        <p:nvSpPr>
          <p:cNvPr id="41" name="Rectangle 40"/>
          <p:cNvSpPr/>
          <p:nvPr/>
        </p:nvSpPr>
        <p:spPr>
          <a:xfrm>
            <a:off x="1692000" y="1512000"/>
            <a:ext cx="6948000" cy="5580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450" b="0">
                <a:solidFill>
                  <a:srgbClr val="333333"/>
                </a:solidFill>
                <a:latin typeface="メイリオ"/>
                <a:ea typeface="メイリオ"/>
                <a:cs typeface="メイリオ"/>
              </a:rPr>
              <a:t>体験予約の受付・日程の変更・持ち物の案内を、24時間自動で受け付ける</a:t>
            </a:r>
          </a:p>
        </p:txBody>
      </p:sp>
      <p:sp>
        <p:nvSpPr>
          <p:cNvPr id="42" name="Rectangle 41"/>
          <p:cNvSpPr/>
          <p:nvPr/>
        </p:nvSpPr>
        <p:spPr>
          <a:xfrm>
            <a:off x="8676000" y="1512000"/>
            <a:ext cx="799200" cy="558000"/>
          </a:xfrm>
          <a:prstGeom prst="rect">
            <a:avLst/>
          </a:prstGeom>
          <a:solidFill>
            <a:srgbClr val="F4F7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300" b="1">
                <a:solidFill>
                  <a:srgbClr val="1F285A"/>
                </a:solidFill>
                <a:latin typeface="メイリオ"/>
                <a:ea typeface="メイリオ"/>
                <a:cs typeface="メイリオ"/>
              </a:rPr>
              <a:t>費用内</a:t>
            </a:r>
          </a:p>
        </p:txBody>
      </p:sp>
      <p:sp>
        <p:nvSpPr>
          <p:cNvPr id="43" name="Rectangle 42"/>
          <p:cNvSpPr/>
          <p:nvPr/>
        </p:nvSpPr>
        <p:spPr>
          <a:xfrm>
            <a:off x="432000" y="2142000"/>
            <a:ext cx="1224000" cy="558000"/>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550" b="1">
                <a:solidFill>
                  <a:srgbClr val="FFFFFF"/>
                </a:solidFill>
                <a:latin typeface="メイリオ"/>
                <a:ea typeface="メイリオ"/>
                <a:cs typeface="メイリオ"/>
              </a:rPr>
              <a:t>[その他]</a:t>
            </a:r>
          </a:p>
        </p:txBody>
      </p:sp>
      <p:sp>
        <p:nvSpPr>
          <p:cNvPr id="44" name="Rectangle 43"/>
          <p:cNvSpPr/>
          <p:nvPr/>
        </p:nvSpPr>
        <p:spPr>
          <a:xfrm>
            <a:off x="1692000" y="2142000"/>
            <a:ext cx="6948000" cy="5580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450" b="0">
                <a:solidFill>
                  <a:srgbClr val="333333"/>
                </a:solidFill>
                <a:latin typeface="メイリオ"/>
                <a:ea typeface="メイリオ"/>
                <a:cs typeface="メイリオ"/>
              </a:rPr>
              <a:t>GA4のパラメータで、LINE経由の資料請求・体験予約の数を計測する</a:t>
            </a:r>
          </a:p>
        </p:txBody>
      </p:sp>
      <p:sp>
        <p:nvSpPr>
          <p:cNvPr id="45" name="Rectangle 44"/>
          <p:cNvSpPr/>
          <p:nvPr/>
        </p:nvSpPr>
        <p:spPr>
          <a:xfrm>
            <a:off x="8676000" y="2142000"/>
            <a:ext cx="799200" cy="558000"/>
          </a:xfrm>
          <a:prstGeom prst="rect">
            <a:avLst/>
          </a:prstGeom>
          <a:solidFill>
            <a:srgbClr val="F4F7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300" b="1">
                <a:solidFill>
                  <a:srgbClr val="1F285A"/>
                </a:solidFill>
                <a:latin typeface="メイリオ"/>
                <a:ea typeface="メイリオ"/>
                <a:cs typeface="メイリオ"/>
              </a:rPr>
              <a:t>費用内</a:t>
            </a:r>
          </a:p>
        </p:txBody>
      </p:sp>
      <p:sp>
        <p:nvSpPr>
          <p:cNvPr id="46" name="Rectangle 45"/>
          <p:cNvSpPr/>
          <p:nvPr/>
        </p:nvSpPr>
        <p:spPr>
          <a:xfrm>
            <a:off x="432000" y="2826000"/>
            <a:ext cx="9000000" cy="25199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300" b="1">
                <a:solidFill>
                  <a:srgbClr val="002060"/>
                </a:solidFill>
                <a:latin typeface="メイリオ"/>
                <a:ea typeface="メイリオ"/>
                <a:cs typeface="メイリオ"/>
              </a:rPr>
              <a:t>[自動応答]　体験予約の流れ（教室は当日迎えるだけ）</a:t>
            </a:r>
          </a:p>
        </p:txBody>
      </p:sp>
      <p:sp>
        <p:nvSpPr>
          <p:cNvPr id="47" name="Rounded Rectangle 46"/>
          <p:cNvSpPr/>
          <p:nvPr/>
        </p:nvSpPr>
        <p:spPr>
          <a:xfrm>
            <a:off x="432000" y="3096000"/>
            <a:ext cx="1332000" cy="827999"/>
          </a:xfrm>
          <a:prstGeom prst="roundRect">
            <a:avLst>
              <a:gd name="adj" fmla="val 8000"/>
            </a:avLst>
          </a:prstGeom>
          <a:solidFill>
            <a:srgbClr val="FFFFFF"/>
          </a:solidFill>
          <a:ln w="1905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00" b="1">
                <a:solidFill>
                  <a:srgbClr val="1F285A"/>
                </a:solidFill>
                <a:latin typeface="メイリオ"/>
                <a:ea typeface="メイリオ"/>
                <a:cs typeface="メイリオ"/>
              </a:rPr>
              <a:t>LINEで</a:t>
            </a:r>
          </a:p>
          <a:p>
            <a:pPr algn="ctr"/>
            <a:r>
              <a:rPr sz="1200" b="1">
                <a:solidFill>
                  <a:srgbClr val="1F285A"/>
                </a:solidFill>
                <a:latin typeface="メイリオ"/>
                <a:ea typeface="メイリオ"/>
                <a:cs typeface="メイリオ"/>
              </a:rPr>
              <a:t>「体験予約」</a:t>
            </a:r>
          </a:p>
        </p:txBody>
      </p:sp>
      <p:cxnSp>
        <p:nvCxnSpPr>
          <p:cNvPr id="48" name="Connector 47"/>
          <p:cNvCxnSpPr/>
          <p:nvPr/>
        </p:nvCxnSpPr>
        <p:spPr>
          <a:xfrm>
            <a:off x="1778400" y="3510000"/>
            <a:ext cx="181440"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49" name="Rounded Rectangle 48"/>
          <p:cNvSpPr/>
          <p:nvPr/>
        </p:nvSpPr>
        <p:spPr>
          <a:xfrm>
            <a:off x="1974240" y="3096000"/>
            <a:ext cx="1332000" cy="827999"/>
          </a:xfrm>
          <a:prstGeom prst="roundRect">
            <a:avLst>
              <a:gd name="adj" fmla="val 8000"/>
            </a:avLst>
          </a:prstGeom>
          <a:solidFill>
            <a:srgbClr val="FFFFFF"/>
          </a:solidFill>
          <a:ln w="1905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00" b="1">
                <a:solidFill>
                  <a:srgbClr val="1F285A"/>
                </a:solidFill>
                <a:latin typeface="メイリオ"/>
                <a:ea typeface="メイリオ"/>
                <a:cs typeface="メイリオ"/>
              </a:rPr>
              <a:t>日時を選ぶ</a:t>
            </a:r>
          </a:p>
          <a:p>
            <a:pPr algn="ctr"/>
            <a:r>
              <a:rPr sz="1200" b="1">
                <a:solidFill>
                  <a:srgbClr val="1F285A"/>
                </a:solidFill>
                <a:latin typeface="メイリオ"/>
                <a:ea typeface="メイリオ"/>
                <a:cs typeface="メイリオ"/>
              </a:rPr>
              <a:t>（空き枠）</a:t>
            </a:r>
          </a:p>
        </p:txBody>
      </p:sp>
      <p:cxnSp>
        <p:nvCxnSpPr>
          <p:cNvPr id="50" name="Connector 49"/>
          <p:cNvCxnSpPr/>
          <p:nvPr/>
        </p:nvCxnSpPr>
        <p:spPr>
          <a:xfrm>
            <a:off x="3320640" y="3510000"/>
            <a:ext cx="181440"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51" name="Rounded Rectangle 50"/>
          <p:cNvSpPr/>
          <p:nvPr/>
        </p:nvSpPr>
        <p:spPr>
          <a:xfrm>
            <a:off x="3516479" y="3096000"/>
            <a:ext cx="1332000" cy="827999"/>
          </a:xfrm>
          <a:prstGeom prst="roundRect">
            <a:avLst>
              <a:gd name="adj" fmla="val 8000"/>
            </a:avLst>
          </a:prstGeom>
          <a:solidFill>
            <a:srgbClr val="FFFFFF"/>
          </a:solidFill>
          <a:ln w="1905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00" b="1">
                <a:solidFill>
                  <a:srgbClr val="1F285A"/>
                </a:solidFill>
                <a:latin typeface="メイリオ"/>
                <a:ea typeface="メイリオ"/>
                <a:cs typeface="メイリオ"/>
              </a:rPr>
              <a:t>予約完了を</a:t>
            </a:r>
          </a:p>
          <a:p>
            <a:pPr algn="ctr"/>
            <a:r>
              <a:rPr sz="1200" b="1">
                <a:solidFill>
                  <a:srgbClr val="1F285A"/>
                </a:solidFill>
                <a:latin typeface="メイリオ"/>
                <a:ea typeface="メイリオ"/>
                <a:cs typeface="メイリオ"/>
              </a:rPr>
              <a:t>自動で送る</a:t>
            </a:r>
          </a:p>
        </p:txBody>
      </p:sp>
      <p:cxnSp>
        <p:nvCxnSpPr>
          <p:cNvPr id="52" name="Connector 51"/>
          <p:cNvCxnSpPr/>
          <p:nvPr/>
        </p:nvCxnSpPr>
        <p:spPr>
          <a:xfrm>
            <a:off x="4862880" y="3510000"/>
            <a:ext cx="181440"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53" name="Rounded Rectangle 52"/>
          <p:cNvSpPr/>
          <p:nvPr/>
        </p:nvSpPr>
        <p:spPr>
          <a:xfrm>
            <a:off x="5058720" y="3096000"/>
            <a:ext cx="1332000" cy="827999"/>
          </a:xfrm>
          <a:prstGeom prst="roundRect">
            <a:avLst>
              <a:gd name="adj" fmla="val 8000"/>
            </a:avLst>
          </a:prstGeom>
          <a:solidFill>
            <a:srgbClr val="FFFFFF"/>
          </a:solidFill>
          <a:ln w="1905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00" b="1">
                <a:solidFill>
                  <a:srgbClr val="1F285A"/>
                </a:solidFill>
                <a:latin typeface="メイリオ"/>
                <a:ea typeface="メイリオ"/>
                <a:cs typeface="メイリオ"/>
              </a:rPr>
              <a:t>前日に</a:t>
            </a:r>
          </a:p>
          <a:p>
            <a:pPr algn="ctr"/>
            <a:r>
              <a:rPr sz="1200" b="1">
                <a:solidFill>
                  <a:srgbClr val="1F285A"/>
                </a:solidFill>
                <a:latin typeface="メイリオ"/>
                <a:ea typeface="メイリオ"/>
                <a:cs typeface="メイリオ"/>
              </a:rPr>
              <a:t>持ち物・地図</a:t>
            </a:r>
          </a:p>
        </p:txBody>
      </p:sp>
      <p:cxnSp>
        <p:nvCxnSpPr>
          <p:cNvPr id="54" name="Connector 53"/>
          <p:cNvCxnSpPr/>
          <p:nvPr/>
        </p:nvCxnSpPr>
        <p:spPr>
          <a:xfrm>
            <a:off x="6405119" y="3510000"/>
            <a:ext cx="181441"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55" name="Rounded Rectangle 54"/>
          <p:cNvSpPr/>
          <p:nvPr/>
        </p:nvSpPr>
        <p:spPr>
          <a:xfrm>
            <a:off x="6600959" y="3096000"/>
            <a:ext cx="1332000" cy="827999"/>
          </a:xfrm>
          <a:prstGeom prst="roundRect">
            <a:avLst>
              <a:gd name="adj" fmla="val 8000"/>
            </a:avLst>
          </a:prstGeom>
          <a:solidFill>
            <a:srgbClr val="FFFFFF"/>
          </a:solidFill>
          <a:ln w="1905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00" b="1">
                <a:solidFill>
                  <a:srgbClr val="1F285A"/>
                </a:solidFill>
                <a:latin typeface="メイリオ"/>
                <a:ea typeface="メイリオ"/>
                <a:cs typeface="メイリオ"/>
              </a:rPr>
              <a:t>変更は</a:t>
            </a:r>
          </a:p>
          <a:p>
            <a:pPr algn="ctr"/>
            <a:r>
              <a:rPr sz="1200" b="1">
                <a:solidFill>
                  <a:srgbClr val="1F285A"/>
                </a:solidFill>
                <a:latin typeface="メイリオ"/>
                <a:ea typeface="メイリオ"/>
                <a:cs typeface="メイリオ"/>
              </a:rPr>
              <a:t>「変更」と送る</a:t>
            </a:r>
          </a:p>
        </p:txBody>
      </p:sp>
      <p:cxnSp>
        <p:nvCxnSpPr>
          <p:cNvPr id="56" name="Connector 55"/>
          <p:cNvCxnSpPr/>
          <p:nvPr/>
        </p:nvCxnSpPr>
        <p:spPr>
          <a:xfrm>
            <a:off x="7947359" y="3510000"/>
            <a:ext cx="181440"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57" name="Rounded Rectangle 56"/>
          <p:cNvSpPr/>
          <p:nvPr/>
        </p:nvSpPr>
        <p:spPr>
          <a:xfrm>
            <a:off x="8143199" y="3096000"/>
            <a:ext cx="1332000" cy="827999"/>
          </a:xfrm>
          <a:prstGeom prst="roundRect">
            <a:avLst>
              <a:gd name="adj" fmla="val 8000"/>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00" b="1">
                <a:solidFill>
                  <a:srgbClr val="FFFFFF"/>
                </a:solidFill>
                <a:latin typeface="メイリオ"/>
                <a:ea typeface="メイリオ"/>
                <a:cs typeface="メイリオ"/>
              </a:rPr>
              <a:t>教室は</a:t>
            </a:r>
          </a:p>
          <a:p>
            <a:pPr algn="ctr"/>
            <a:r>
              <a:rPr sz="1200" b="1">
                <a:solidFill>
                  <a:srgbClr val="FFFFFF"/>
                </a:solidFill>
                <a:latin typeface="メイリオ"/>
                <a:ea typeface="メイリオ"/>
                <a:cs typeface="メイリオ"/>
              </a:rPr>
              <a:t>迎えるだけ</a:t>
            </a:r>
          </a:p>
        </p:txBody>
      </p:sp>
      <p:sp>
        <p:nvSpPr>
          <p:cNvPr id="58" name="Rectangle 57"/>
          <p:cNvSpPr/>
          <p:nvPr/>
        </p:nvSpPr>
        <p:spPr>
          <a:xfrm>
            <a:off x="432000" y="4086000"/>
            <a:ext cx="9000000" cy="25199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300" b="1">
                <a:solidFill>
                  <a:srgbClr val="002060"/>
                </a:solidFill>
                <a:latin typeface="メイリオ"/>
                <a:ea typeface="メイリオ"/>
                <a:cs typeface="メイリオ"/>
              </a:rPr>
              <a:t>[その他]　LINE経由の成果を数える</a:t>
            </a:r>
          </a:p>
        </p:txBody>
      </p:sp>
      <p:sp>
        <p:nvSpPr>
          <p:cNvPr id="59" name="Rounded Rectangle 58"/>
          <p:cNvSpPr/>
          <p:nvPr/>
        </p:nvSpPr>
        <p:spPr>
          <a:xfrm>
            <a:off x="432000" y="4356000"/>
            <a:ext cx="1620000" cy="827999"/>
          </a:xfrm>
          <a:prstGeom prst="roundRect">
            <a:avLst>
              <a:gd name="adj" fmla="val 8000"/>
            </a:avLst>
          </a:prstGeom>
          <a:solidFill>
            <a:srgbClr val="FFFFFF"/>
          </a:solidFill>
          <a:ln w="1905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50" b="1">
                <a:solidFill>
                  <a:srgbClr val="1F285A"/>
                </a:solidFill>
                <a:latin typeface="メイリオ"/>
                <a:ea typeface="メイリオ"/>
                <a:cs typeface="メイリオ"/>
              </a:rPr>
              <a:t>LINEの配信</a:t>
            </a:r>
          </a:p>
          <a:p>
            <a:pPr algn="ctr"/>
            <a:r>
              <a:rPr sz="1100" b="0">
                <a:solidFill>
                  <a:srgbClr val="7F7F7F"/>
                </a:solidFill>
                <a:latin typeface="メイリオ"/>
                <a:ea typeface="メイリオ"/>
                <a:cs typeface="メイリオ"/>
              </a:rPr>
              <a:t>リンクに目印を付ける</a:t>
            </a:r>
          </a:p>
        </p:txBody>
      </p:sp>
      <p:cxnSp>
        <p:nvCxnSpPr>
          <p:cNvPr id="60" name="Connector 59"/>
          <p:cNvCxnSpPr/>
          <p:nvPr/>
        </p:nvCxnSpPr>
        <p:spPr>
          <a:xfrm>
            <a:off x="2066400" y="4770000"/>
            <a:ext cx="207000"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61" name="Rounded Rectangle 60"/>
          <p:cNvSpPr/>
          <p:nvPr/>
        </p:nvSpPr>
        <p:spPr>
          <a:xfrm>
            <a:off x="2287800" y="4356000"/>
            <a:ext cx="1620000" cy="827999"/>
          </a:xfrm>
          <a:prstGeom prst="roundRect">
            <a:avLst>
              <a:gd name="adj" fmla="val 8000"/>
            </a:avLst>
          </a:prstGeom>
          <a:solidFill>
            <a:srgbClr val="FFFFFF"/>
          </a:solidFill>
          <a:ln w="1905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50" b="1">
                <a:solidFill>
                  <a:srgbClr val="1F285A"/>
                </a:solidFill>
                <a:latin typeface="メイリオ"/>
                <a:ea typeface="メイリオ"/>
                <a:cs typeface="メイリオ"/>
              </a:rPr>
              <a:t>サイト</a:t>
            </a:r>
          </a:p>
          <a:p>
            <a:pPr algn="ctr"/>
            <a:r>
              <a:rPr sz="1100" b="0">
                <a:solidFill>
                  <a:srgbClr val="7F7F7F"/>
                </a:solidFill>
                <a:latin typeface="メイリオ"/>
                <a:ea typeface="メイリオ"/>
                <a:cs typeface="メイリオ"/>
              </a:rPr>
              <a:t>GA4で見分ける</a:t>
            </a:r>
          </a:p>
        </p:txBody>
      </p:sp>
      <p:cxnSp>
        <p:nvCxnSpPr>
          <p:cNvPr id="62" name="Connector 61"/>
          <p:cNvCxnSpPr/>
          <p:nvPr/>
        </p:nvCxnSpPr>
        <p:spPr>
          <a:xfrm>
            <a:off x="3922200" y="4770000"/>
            <a:ext cx="207000"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63" name="Rounded Rectangle 62"/>
          <p:cNvSpPr/>
          <p:nvPr/>
        </p:nvSpPr>
        <p:spPr>
          <a:xfrm>
            <a:off x="4143600" y="4356000"/>
            <a:ext cx="1620000" cy="827999"/>
          </a:xfrm>
          <a:prstGeom prst="roundRect">
            <a:avLst>
              <a:gd name="adj" fmla="val 8000"/>
            </a:avLst>
          </a:prstGeom>
          <a:solidFill>
            <a:srgbClr val="FFFFFF"/>
          </a:solidFill>
          <a:ln w="1905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50" b="1">
                <a:solidFill>
                  <a:srgbClr val="00897B"/>
                </a:solidFill>
                <a:latin typeface="メイリオ"/>
                <a:ea typeface="メイリオ"/>
                <a:cs typeface="メイリオ"/>
              </a:rPr>
              <a:t>資料請求（CV①）</a:t>
            </a:r>
          </a:p>
          <a:p>
            <a:pPr algn="ctr"/>
            <a:r>
              <a:rPr sz="1100" b="0">
                <a:solidFill>
                  <a:srgbClr val="7F7F7F"/>
                </a:solidFill>
                <a:latin typeface="メイリオ"/>
                <a:ea typeface="メイリオ"/>
                <a:cs typeface="メイリオ"/>
              </a:rPr>
              <a:t>件数を計測</a:t>
            </a:r>
          </a:p>
        </p:txBody>
      </p:sp>
      <p:cxnSp>
        <p:nvCxnSpPr>
          <p:cNvPr id="64" name="Connector 63"/>
          <p:cNvCxnSpPr/>
          <p:nvPr/>
        </p:nvCxnSpPr>
        <p:spPr>
          <a:xfrm>
            <a:off x="5777999" y="4770000"/>
            <a:ext cx="207001"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65" name="Rounded Rectangle 64"/>
          <p:cNvSpPr/>
          <p:nvPr/>
        </p:nvSpPr>
        <p:spPr>
          <a:xfrm>
            <a:off x="5999400" y="4356000"/>
            <a:ext cx="1620000" cy="827999"/>
          </a:xfrm>
          <a:prstGeom prst="roundRect">
            <a:avLst>
              <a:gd name="adj" fmla="val 8000"/>
            </a:avLst>
          </a:prstGeom>
          <a:solidFill>
            <a:srgbClr val="FFFFFF"/>
          </a:solidFill>
          <a:ln w="1905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50" b="1">
                <a:solidFill>
                  <a:srgbClr val="00897B"/>
                </a:solidFill>
                <a:latin typeface="メイリオ"/>
                <a:ea typeface="メイリオ"/>
                <a:cs typeface="メイリオ"/>
              </a:rPr>
              <a:t>体験予約（CV②）</a:t>
            </a:r>
          </a:p>
          <a:p>
            <a:pPr algn="ctr"/>
            <a:r>
              <a:rPr sz="1100" b="0">
                <a:solidFill>
                  <a:srgbClr val="7F7F7F"/>
                </a:solidFill>
                <a:latin typeface="メイリオ"/>
                <a:ea typeface="メイリオ"/>
                <a:cs typeface="メイリオ"/>
              </a:rPr>
              <a:t>件数を計測</a:t>
            </a:r>
          </a:p>
        </p:txBody>
      </p:sp>
      <p:cxnSp>
        <p:nvCxnSpPr>
          <p:cNvPr id="66" name="Connector 65"/>
          <p:cNvCxnSpPr/>
          <p:nvPr/>
        </p:nvCxnSpPr>
        <p:spPr>
          <a:xfrm>
            <a:off x="7633799" y="4770000"/>
            <a:ext cx="207001"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67" name="Rounded Rectangle 66"/>
          <p:cNvSpPr/>
          <p:nvPr/>
        </p:nvSpPr>
        <p:spPr>
          <a:xfrm>
            <a:off x="7855200" y="4356000"/>
            <a:ext cx="1620000" cy="827999"/>
          </a:xfrm>
          <a:prstGeom prst="roundRect">
            <a:avLst>
              <a:gd name="adj" fmla="val 8000"/>
            </a:avLst>
          </a:prstGeom>
          <a:solidFill>
            <a:srgbClr val="FFFFFF"/>
          </a:solidFill>
          <a:ln w="1905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50" b="1">
                <a:solidFill>
                  <a:srgbClr val="1F285A"/>
                </a:solidFill>
                <a:latin typeface="メイリオ"/>
                <a:ea typeface="メイリオ"/>
                <a:cs typeface="メイリオ"/>
              </a:rPr>
              <a:t>月次レポート</a:t>
            </a:r>
          </a:p>
          <a:p>
            <a:pPr algn="ctr"/>
            <a:r>
              <a:rPr sz="1100" b="0">
                <a:solidFill>
                  <a:srgbClr val="7F7F7F"/>
                </a:solidFill>
                <a:latin typeface="メイリオ"/>
                <a:ea typeface="メイリオ"/>
                <a:cs typeface="メイリオ"/>
              </a:rPr>
              <a:t>定例会で共有</a:t>
            </a:r>
          </a:p>
        </p:txBody>
      </p:sp>
      <p:sp>
        <p:nvSpPr>
          <p:cNvPr id="68" name="Rounded Rectangle 67"/>
          <p:cNvSpPr/>
          <p:nvPr/>
        </p:nvSpPr>
        <p:spPr>
          <a:xfrm>
            <a:off x="432000" y="5436000"/>
            <a:ext cx="9043200" cy="684000"/>
          </a:xfrm>
          <a:prstGeom prst="roundRect">
            <a:avLst>
              <a:gd name="adj" fmla="val 8000"/>
            </a:avLst>
          </a:prstGeom>
          <a:solidFill>
            <a:srgbClr val="E4E9F2"/>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500" b="1">
                <a:solidFill>
                  <a:srgbClr val="333333"/>
                </a:solidFill>
                <a:latin typeface="メイリオ"/>
                <a:ea typeface="メイリオ"/>
                <a:cs typeface="メイリオ"/>
              </a:rPr>
              <a:t>教室の手間を増やさずに、LINE経由の成果が毎月数字で見える。</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3F5926-064C-E9E2-1BF7-7405461E3900}"/>
            </a:ext>
          </a:extLst>
        </p:cNvPr>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成果の見方</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a:solidFill>
                  <a:srgbClr val="333333"/>
                </a:solidFill>
                <a:latin typeface="メイリオ"/>
                <a:ea typeface="メイリオ"/>
                <a:cs typeface="メイリオ"/>
              </a:rPr>
              <a:t>友だちの数は成果にしない。見るのは、資料請求・体験予約・入会の3つ。</a:t>
            </a:r>
          </a:p>
          <a:p>
            <a:pPr algn="l">
              <a:lnSpc>
                <a:spcPct val="128000"/>
              </a:lnSpc>
            </a:pPr>
            <a:r>
              <a:rPr sz="1200">
                <a:solidFill>
                  <a:srgbClr val="333333"/>
                </a:solidFill>
                <a:latin typeface="メイリオ"/>
                <a:ea typeface="メイリオ"/>
                <a:cs typeface="メイリオ"/>
              </a:rPr>
              <a:t>入会は教室で決まるので、3ヶ月ごとに教室から報告をもらって確認する。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900">
                <a:solidFill>
                  <a:srgbClr val="7F7F7F"/>
                </a:solidFill>
                <a:latin typeface="メイリオ"/>
                <a:ea typeface="メイリオ"/>
                <a:cs typeface="メイリオ"/>
              </a:rPr>
              <a:t>レポートは月次の定例会で共有（費用内）</a:t>
            </a:r>
          </a:p>
        </p:txBody>
      </p:sp>
      <p:sp>
        <p:nvSpPr>
          <p:cNvPr id="13" name="Pentagon 12"/>
          <p:cNvSpPr/>
          <p:nvPr/>
        </p:nvSpPr>
        <p:spPr>
          <a:xfrm>
            <a:off x="432000" y="590400"/>
            <a:ext cx="1111500" cy="180000"/>
          </a:xfrm>
          <a:prstGeom prst="homePlate">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①接触</a:t>
            </a:r>
          </a:p>
        </p:txBody>
      </p:sp>
      <p:sp>
        <p:nvSpPr>
          <p:cNvPr id="14" name="Chevron 13"/>
          <p:cNvSpPr/>
          <p:nvPr/>
        </p:nvSpPr>
        <p:spPr>
          <a:xfrm>
            <a:off x="15651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②離脱</a:t>
            </a:r>
          </a:p>
        </p:txBody>
      </p:sp>
      <p:sp>
        <p:nvSpPr>
          <p:cNvPr id="15" name="Chevron 14"/>
          <p:cNvSpPr/>
          <p:nvPr/>
        </p:nvSpPr>
        <p:spPr>
          <a:xfrm>
            <a:off x="26982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③育成</a:t>
            </a:r>
          </a:p>
        </p:txBody>
      </p:sp>
      <p:sp>
        <p:nvSpPr>
          <p:cNvPr id="16" name="Chevron 15"/>
          <p:cNvSpPr/>
          <p:nvPr/>
        </p:nvSpPr>
        <p:spPr>
          <a:xfrm>
            <a:off x="38312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④リード獲得</a:t>
            </a:r>
          </a:p>
        </p:txBody>
      </p:sp>
      <p:sp>
        <p:nvSpPr>
          <p:cNvPr id="17" name="Chevron 16"/>
          <p:cNvSpPr/>
          <p:nvPr/>
        </p:nvSpPr>
        <p:spPr>
          <a:xfrm>
            <a:off x="49644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⑤リード有効化</a:t>
            </a:r>
          </a:p>
        </p:txBody>
      </p:sp>
      <p:sp>
        <p:nvSpPr>
          <p:cNvPr id="18" name="Chevron 17"/>
          <p:cNvSpPr/>
          <p:nvPr/>
        </p:nvSpPr>
        <p:spPr>
          <a:xfrm>
            <a:off x="60975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⑥再育成</a:t>
            </a:r>
          </a:p>
        </p:txBody>
      </p:sp>
      <p:sp>
        <p:nvSpPr>
          <p:cNvPr id="19" name="Chevron 18"/>
          <p:cNvSpPr/>
          <p:nvPr/>
        </p:nvSpPr>
        <p:spPr>
          <a:xfrm>
            <a:off x="72305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⑦入会（契約）</a:t>
            </a:r>
          </a:p>
        </p:txBody>
      </p:sp>
      <p:sp>
        <p:nvSpPr>
          <p:cNvPr id="20" name="Chevron 19"/>
          <p:cNvSpPr/>
          <p:nvPr/>
        </p:nvSpPr>
        <p:spPr>
          <a:xfrm>
            <a:off x="83636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⑧紹介</a:t>
            </a:r>
          </a:p>
        </p:txBody>
      </p:sp>
      <p:sp>
        <p:nvSpPr>
          <p:cNvPr id="21" name="Rounded Rectangle 20"/>
          <p:cNvSpPr/>
          <p:nvPr/>
        </p:nvSpPr>
        <p:spPr>
          <a:xfrm>
            <a:off x="432000" y="1548000"/>
            <a:ext cx="4428000" cy="324000"/>
          </a:xfrm>
          <a:prstGeom prst="roundRect">
            <a:avLst>
              <a:gd name="adj" fmla="val 15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00" b="1">
                <a:solidFill>
                  <a:srgbClr val="FFFFFF"/>
                </a:solidFill>
                <a:latin typeface="メイリオ"/>
                <a:ea typeface="メイリオ"/>
                <a:cs typeface="メイリオ"/>
              </a:rPr>
              <a:t>毎月見る</a:t>
            </a:r>
          </a:p>
        </p:txBody>
      </p:sp>
      <p:sp>
        <p:nvSpPr>
          <p:cNvPr id="22" name="Rounded Rectangle 21"/>
          <p:cNvSpPr/>
          <p:nvPr/>
        </p:nvSpPr>
        <p:spPr>
          <a:xfrm>
            <a:off x="432000" y="1944000"/>
            <a:ext cx="4428000" cy="396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300" b="0">
                <a:solidFill>
                  <a:srgbClr val="333333"/>
                </a:solidFill>
                <a:latin typeface="メイリオ"/>
                <a:ea typeface="メイリオ"/>
                <a:cs typeface="メイリオ"/>
              </a:rPr>
              <a:t>友だち追加数</a:t>
            </a:r>
          </a:p>
        </p:txBody>
      </p:sp>
      <p:sp>
        <p:nvSpPr>
          <p:cNvPr id="23" name="Rounded Rectangle 22"/>
          <p:cNvSpPr/>
          <p:nvPr/>
        </p:nvSpPr>
        <p:spPr>
          <a:xfrm>
            <a:off x="432000" y="2412000"/>
            <a:ext cx="4428000" cy="396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300" b="0">
                <a:solidFill>
                  <a:srgbClr val="333333"/>
                </a:solidFill>
                <a:latin typeface="メイリオ"/>
                <a:ea typeface="メイリオ"/>
                <a:cs typeface="メイリオ"/>
              </a:rPr>
              <a:t>診断の回答数</a:t>
            </a:r>
          </a:p>
        </p:txBody>
      </p:sp>
      <p:sp>
        <p:nvSpPr>
          <p:cNvPr id="24" name="Rounded Rectangle 23"/>
          <p:cNvSpPr/>
          <p:nvPr/>
        </p:nvSpPr>
        <p:spPr>
          <a:xfrm>
            <a:off x="432000" y="2880000"/>
            <a:ext cx="4428000" cy="396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300" b="0">
                <a:solidFill>
                  <a:srgbClr val="333333"/>
                </a:solidFill>
                <a:latin typeface="メイリオ"/>
                <a:ea typeface="メイリオ"/>
                <a:cs typeface="メイリオ"/>
              </a:rPr>
              <a:t>資料請求数（CV①）</a:t>
            </a:r>
          </a:p>
        </p:txBody>
      </p:sp>
      <p:sp>
        <p:nvSpPr>
          <p:cNvPr id="25" name="Rounded Rectangle 24"/>
          <p:cNvSpPr/>
          <p:nvPr/>
        </p:nvSpPr>
        <p:spPr>
          <a:xfrm>
            <a:off x="432000" y="3348000"/>
            <a:ext cx="4428000" cy="396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300" b="0">
                <a:solidFill>
                  <a:srgbClr val="333333"/>
                </a:solidFill>
                <a:latin typeface="メイリオ"/>
                <a:ea typeface="メイリオ"/>
                <a:cs typeface="メイリオ"/>
              </a:rPr>
              <a:t>体験予約数（CV②）</a:t>
            </a:r>
          </a:p>
        </p:txBody>
      </p:sp>
      <p:sp>
        <p:nvSpPr>
          <p:cNvPr id="26" name="Rounded Rectangle 25"/>
          <p:cNvSpPr/>
          <p:nvPr/>
        </p:nvSpPr>
        <p:spPr>
          <a:xfrm>
            <a:off x="432000" y="3816000"/>
            <a:ext cx="4428000" cy="396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300" b="0">
                <a:solidFill>
                  <a:srgbClr val="333333"/>
                </a:solidFill>
                <a:latin typeface="メイリオ"/>
                <a:ea typeface="メイリオ"/>
                <a:cs typeface="メイリオ"/>
              </a:rPr>
              <a:t>体験に来た数</a:t>
            </a:r>
          </a:p>
        </p:txBody>
      </p:sp>
      <p:sp>
        <p:nvSpPr>
          <p:cNvPr id="27" name="Rounded Rectangle 26"/>
          <p:cNvSpPr/>
          <p:nvPr/>
        </p:nvSpPr>
        <p:spPr>
          <a:xfrm>
            <a:off x="432000" y="4284000"/>
            <a:ext cx="4428000" cy="396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300" b="0">
                <a:solidFill>
                  <a:srgbClr val="333333"/>
                </a:solidFill>
                <a:latin typeface="メイリオ"/>
                <a:ea typeface="メイリオ"/>
                <a:cs typeface="メイリオ"/>
              </a:rPr>
              <a:t>ブロック率</a:t>
            </a:r>
          </a:p>
        </p:txBody>
      </p:sp>
      <p:sp>
        <p:nvSpPr>
          <p:cNvPr id="28" name="Rounded Rectangle 27"/>
          <p:cNvSpPr/>
          <p:nvPr/>
        </p:nvSpPr>
        <p:spPr>
          <a:xfrm>
            <a:off x="5047200" y="1548000"/>
            <a:ext cx="4428000" cy="324000"/>
          </a:xfrm>
          <a:prstGeom prst="roundRect">
            <a:avLst>
              <a:gd name="adj" fmla="val 15000"/>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00" b="1">
                <a:solidFill>
                  <a:srgbClr val="FFFFFF"/>
                </a:solidFill>
                <a:latin typeface="メイリオ"/>
                <a:ea typeface="メイリオ"/>
                <a:cs typeface="メイリオ"/>
              </a:rPr>
              <a:t>3ヶ月ごとに見る</a:t>
            </a:r>
          </a:p>
        </p:txBody>
      </p:sp>
      <p:sp>
        <p:nvSpPr>
          <p:cNvPr id="29" name="Rounded Rectangle 28"/>
          <p:cNvSpPr/>
          <p:nvPr/>
        </p:nvSpPr>
        <p:spPr>
          <a:xfrm>
            <a:off x="5047200" y="1944000"/>
            <a:ext cx="4428000" cy="396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300" b="0">
                <a:solidFill>
                  <a:srgbClr val="333333"/>
                </a:solidFill>
                <a:latin typeface="メイリオ"/>
                <a:ea typeface="メイリオ"/>
                <a:cs typeface="メイリオ"/>
              </a:rPr>
              <a:t>入会数（教室から報告をもらう）</a:t>
            </a:r>
          </a:p>
        </p:txBody>
      </p:sp>
      <p:sp>
        <p:nvSpPr>
          <p:cNvPr id="30" name="Rounded Rectangle 29"/>
          <p:cNvSpPr/>
          <p:nvPr/>
        </p:nvSpPr>
        <p:spPr>
          <a:xfrm>
            <a:off x="5047200" y="2412000"/>
            <a:ext cx="4428000" cy="396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300" b="0">
                <a:solidFill>
                  <a:srgbClr val="333333"/>
                </a:solidFill>
                <a:latin typeface="メイリオ"/>
                <a:ea typeface="メイリオ"/>
                <a:cs typeface="メイリオ"/>
              </a:rPr>
              <a:t>体験 → 入会の割合</a:t>
            </a:r>
          </a:p>
        </p:txBody>
      </p:sp>
      <p:sp>
        <p:nvSpPr>
          <p:cNvPr id="31" name="Rounded Rectangle 30"/>
          <p:cNvSpPr/>
          <p:nvPr/>
        </p:nvSpPr>
        <p:spPr>
          <a:xfrm>
            <a:off x="5047200" y="2880000"/>
            <a:ext cx="4428000" cy="396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300" b="0">
                <a:solidFill>
                  <a:srgbClr val="333333"/>
                </a:solidFill>
                <a:latin typeface="メイリオ"/>
                <a:ea typeface="メイリオ"/>
                <a:cs typeface="メイリオ"/>
              </a:rPr>
              <a:t>資料請求 → 体験予約の割合</a:t>
            </a:r>
          </a:p>
        </p:txBody>
      </p:sp>
      <p:sp>
        <p:nvSpPr>
          <p:cNvPr id="32" name="Rounded Rectangle 31"/>
          <p:cNvSpPr/>
          <p:nvPr/>
        </p:nvSpPr>
        <p:spPr>
          <a:xfrm>
            <a:off x="432000" y="4896000"/>
            <a:ext cx="9043200" cy="468000"/>
          </a:xfrm>
          <a:prstGeom prst="roundRect">
            <a:avLst>
              <a:gd name="adj" fmla="val 8000"/>
            </a:avLst>
          </a:prstGeom>
          <a:solidFill>
            <a:srgbClr val="E4E9F2"/>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500" b="1">
                <a:solidFill>
                  <a:srgbClr val="333333"/>
                </a:solidFill>
                <a:latin typeface="メイリオ"/>
                <a:ea typeface="メイリオ"/>
                <a:cs typeface="メイリオ"/>
              </a:rPr>
              <a:t>友だちの数ではなく、資料請求・体験予約・入会で見る。</a:t>
            </a:r>
          </a:p>
        </p:txBody>
      </p:sp>
    </p:spTree>
    <p:extLst>
      <p:ext uri="{BB962C8B-B14F-4D97-AF65-F5344CB8AC3E}">
        <p14:creationId xmlns:p14="http://schemas.microsoft.com/office/powerpoint/2010/main" val="355619672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1A257E-053E-E603-90CB-9BDC893E2AF6}"/>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93E008DC-B597-D6BE-17A5-E0E8A30F3CE2}"/>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9C67BF09-6100-F781-92A9-1D3AD767C055}"/>
              </a:ext>
            </a:extLst>
          </p:cNvPr>
          <p:cNvSpPr/>
          <p:nvPr/>
        </p:nvSpPr>
        <p:spPr>
          <a:xfrm>
            <a:off x="3424390" y="3038203"/>
            <a:ext cx="3057247"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具体プラン提示</a:t>
            </a:r>
            <a:endParaRPr lang="en-US" altLang="ja-I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76331967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CDB2C5-43E4-382E-3F0A-0B0F5E9FBB44}"/>
            </a:ext>
          </a:extLst>
        </p:cNvPr>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改善したいフロー｜8フェーズのうち最大の課題</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dirty="0">
                <a:solidFill>
                  <a:srgbClr val="333333"/>
                </a:solidFill>
                <a:latin typeface="メイリオ"/>
                <a:ea typeface="メイリオ"/>
                <a:cs typeface="メイリオ"/>
              </a:rPr>
              <a:t>入会までの8フェーズのうち、保護者が一番離れているのはどこか。</a:t>
            </a:r>
            <a:endParaRPr lang="en-US" sz="1200" dirty="0">
              <a:solidFill>
                <a:srgbClr val="333333"/>
              </a:solidFill>
              <a:latin typeface="メイリオ"/>
              <a:ea typeface="メイリオ"/>
              <a:cs typeface="メイリオ"/>
            </a:endParaRPr>
          </a:p>
          <a:p>
            <a:pPr algn="l">
              <a:lnSpc>
                <a:spcPct val="128000"/>
              </a:lnSpc>
            </a:pPr>
            <a:r>
              <a:rPr sz="1200" dirty="0">
                <a:solidFill>
                  <a:srgbClr val="333333"/>
                </a:solidFill>
                <a:latin typeface="メイリオ"/>
                <a:ea typeface="メイリオ"/>
                <a:cs typeface="メイリオ"/>
              </a:rPr>
              <a:t>塾では、資料請求から体験予約までの間（⑤リード有効化）が最大の課題になりやすいと考えています（仮説）。</a:t>
            </a:r>
            <a:endParaRPr lang="en-US" sz="1200" dirty="0">
              <a:solidFill>
                <a:srgbClr val="333333"/>
              </a:solidFill>
              <a:latin typeface="メイリオ"/>
              <a:ea typeface="メイリオ"/>
              <a:cs typeface="メイリオ"/>
            </a:endParaRP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Pentagon 4"/>
          <p:cNvSpPr/>
          <p:nvPr/>
        </p:nvSpPr>
        <p:spPr>
          <a:xfrm>
            <a:off x="432000" y="590400"/>
            <a:ext cx="1111500" cy="180000"/>
          </a:xfrm>
          <a:prstGeom prst="homePlate">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①接触</a:t>
            </a:r>
          </a:p>
        </p:txBody>
      </p:sp>
      <p:sp>
        <p:nvSpPr>
          <p:cNvPr id="6" name="Chevron 5"/>
          <p:cNvSpPr/>
          <p:nvPr/>
        </p:nvSpPr>
        <p:spPr>
          <a:xfrm>
            <a:off x="15651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②離脱</a:t>
            </a:r>
          </a:p>
        </p:txBody>
      </p:sp>
      <p:sp>
        <p:nvSpPr>
          <p:cNvPr id="7" name="Chevron 6"/>
          <p:cNvSpPr/>
          <p:nvPr/>
        </p:nvSpPr>
        <p:spPr>
          <a:xfrm>
            <a:off x="26982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③育成</a:t>
            </a:r>
          </a:p>
        </p:txBody>
      </p:sp>
      <p:sp>
        <p:nvSpPr>
          <p:cNvPr id="8" name="Chevron 7"/>
          <p:cNvSpPr/>
          <p:nvPr/>
        </p:nvSpPr>
        <p:spPr>
          <a:xfrm>
            <a:off x="38312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④リード獲得</a:t>
            </a:r>
          </a:p>
        </p:txBody>
      </p:sp>
      <p:sp>
        <p:nvSpPr>
          <p:cNvPr id="9" name="Chevron 8"/>
          <p:cNvSpPr/>
          <p:nvPr/>
        </p:nvSpPr>
        <p:spPr>
          <a:xfrm>
            <a:off x="49644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⑤リード有効化</a:t>
            </a:r>
          </a:p>
        </p:txBody>
      </p:sp>
      <p:sp>
        <p:nvSpPr>
          <p:cNvPr id="10" name="Chevron 9"/>
          <p:cNvSpPr/>
          <p:nvPr/>
        </p:nvSpPr>
        <p:spPr>
          <a:xfrm>
            <a:off x="60975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⑥再育成</a:t>
            </a:r>
          </a:p>
        </p:txBody>
      </p:sp>
      <p:sp>
        <p:nvSpPr>
          <p:cNvPr id="11" name="Chevron 10"/>
          <p:cNvSpPr/>
          <p:nvPr/>
        </p:nvSpPr>
        <p:spPr>
          <a:xfrm>
            <a:off x="72305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⑦入会（契約）</a:t>
            </a:r>
          </a:p>
        </p:txBody>
      </p:sp>
      <p:sp>
        <p:nvSpPr>
          <p:cNvPr id="12" name="Chevron 11"/>
          <p:cNvSpPr/>
          <p:nvPr/>
        </p:nvSpPr>
        <p:spPr>
          <a:xfrm>
            <a:off x="83636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⑧紹介</a:t>
            </a:r>
          </a:p>
        </p:txBody>
      </p:sp>
      <p:sp>
        <p:nvSpPr>
          <p:cNvPr id="13" name="Rectangle 12"/>
          <p:cNvSpPr/>
          <p:nvPr/>
        </p:nvSpPr>
        <p:spPr>
          <a:xfrm>
            <a:off x="429768" y="1600200"/>
            <a:ext cx="1106424" cy="384048"/>
          </a:xfrm>
          <a:prstGeom prst="homePlate">
            <a:avLst/>
          </a:prstGeom>
          <a:solidFill>
            <a:srgbClr val="EEEEEE"/>
          </a:solidFill>
          <a:ln>
            <a:noFill/>
          </a:ln>
        </p:spPr>
        <p:txBody>
          <a:bodyPr wrap="square" lIns="91440" tIns="18288" rIns="18288" bIns="18288" rtlCol="0" anchor="ctr">
            <a:noAutofit/>
          </a:bodyPr>
          <a:lstStyle/>
          <a:p>
            <a:pPr algn="ctr">
              <a:buNone/>
            </a:pPr>
            <a:r>
              <a:rPr lang="ja-JP" altLang="en-US" sz="1000" b="1" dirty="0">
                <a:solidFill>
                  <a:srgbClr val="A6A6A6"/>
                </a:solidFill>
                <a:latin typeface="メイリオ" panose="020B0604030504040204" pitchFamily="50" charset="-128"/>
                <a:ea typeface="メイリオ" panose="020B0604030504040204" pitchFamily="50" charset="-128"/>
              </a:rPr>
              <a:t>①接触</a:t>
            </a:r>
            <a:endParaRPr lang="ja-JP" altLang="en-US" sz="1000" dirty="0"/>
          </a:p>
        </p:txBody>
      </p:sp>
      <p:sp>
        <p:nvSpPr>
          <p:cNvPr id="14" name="Rectangle 13"/>
          <p:cNvSpPr/>
          <p:nvPr/>
        </p:nvSpPr>
        <p:spPr>
          <a:xfrm>
            <a:off x="1560195" y="1600200"/>
            <a:ext cx="1106424" cy="384048"/>
          </a:xfrm>
          <a:prstGeom prst="chevron">
            <a:avLst/>
          </a:prstGeom>
          <a:solidFill>
            <a:srgbClr val="C9D3E6"/>
          </a:solidFill>
          <a:ln>
            <a:noFill/>
          </a:ln>
        </p:spPr>
        <p:txBody>
          <a:bodyPr wrap="square" lIns="91440" tIns="18288" rIns="18288" bIns="18288" rtlCol="0" anchor="ctr">
            <a:noAutofit/>
          </a:bodyPr>
          <a:lstStyle/>
          <a:p>
            <a:pPr algn="ctr">
              <a:buNone/>
            </a:pPr>
            <a:r>
              <a:rPr lang="ja-JP" altLang="en-US" sz="1000" b="1" dirty="0">
                <a:solidFill>
                  <a:srgbClr val="1F285A"/>
                </a:solidFill>
                <a:latin typeface="メイリオ" panose="020B0604030504040204" pitchFamily="50" charset="-128"/>
                <a:ea typeface="メイリオ" panose="020B0604030504040204" pitchFamily="50" charset="-128"/>
              </a:rPr>
              <a:t>②離脱</a:t>
            </a:r>
            <a:endParaRPr lang="ja-JP" altLang="en-US" sz="1000" dirty="0"/>
          </a:p>
        </p:txBody>
      </p:sp>
      <p:sp>
        <p:nvSpPr>
          <p:cNvPr id="15" name="Rectangle 14"/>
          <p:cNvSpPr/>
          <p:nvPr/>
        </p:nvSpPr>
        <p:spPr>
          <a:xfrm>
            <a:off x="2690622" y="1600200"/>
            <a:ext cx="1106424" cy="384048"/>
          </a:xfrm>
          <a:prstGeom prst="chevron">
            <a:avLst/>
          </a:prstGeom>
          <a:solidFill>
            <a:srgbClr val="EEEEEE"/>
          </a:solidFill>
          <a:ln>
            <a:noFill/>
          </a:ln>
        </p:spPr>
        <p:txBody>
          <a:bodyPr wrap="square" lIns="91440" tIns="18288" rIns="18288" bIns="18288" rtlCol="0" anchor="ctr">
            <a:noAutofit/>
          </a:bodyPr>
          <a:lstStyle/>
          <a:p>
            <a:pPr algn="ctr">
              <a:buNone/>
            </a:pPr>
            <a:r>
              <a:rPr lang="ja-JP" altLang="en-US" sz="1000" b="1" dirty="0">
                <a:solidFill>
                  <a:srgbClr val="A6A6A6"/>
                </a:solidFill>
                <a:latin typeface="メイリオ" panose="020B0604030504040204" pitchFamily="50" charset="-128"/>
                <a:ea typeface="メイリオ" panose="020B0604030504040204" pitchFamily="50" charset="-128"/>
              </a:rPr>
              <a:t>③育成</a:t>
            </a:r>
            <a:endParaRPr lang="ja-JP" altLang="en-US" sz="1000" dirty="0"/>
          </a:p>
        </p:txBody>
      </p:sp>
      <p:sp>
        <p:nvSpPr>
          <p:cNvPr id="16" name="Rectangle 15"/>
          <p:cNvSpPr/>
          <p:nvPr/>
        </p:nvSpPr>
        <p:spPr>
          <a:xfrm>
            <a:off x="3821049" y="1600200"/>
            <a:ext cx="1106424" cy="384048"/>
          </a:xfrm>
          <a:prstGeom prst="chevron">
            <a:avLst/>
          </a:prstGeom>
          <a:solidFill>
            <a:srgbClr val="EEEEEE"/>
          </a:solidFill>
          <a:ln>
            <a:noFill/>
          </a:ln>
        </p:spPr>
        <p:txBody>
          <a:bodyPr wrap="square" lIns="91440" tIns="18288" rIns="18288" bIns="18288" rtlCol="0" anchor="ctr">
            <a:noAutofit/>
          </a:bodyPr>
          <a:lstStyle/>
          <a:p>
            <a:pPr algn="ctr">
              <a:buNone/>
            </a:pPr>
            <a:r>
              <a:rPr lang="ja-JP" altLang="en-US" sz="1000" b="1" dirty="0">
                <a:solidFill>
                  <a:srgbClr val="A6A6A6"/>
                </a:solidFill>
                <a:latin typeface="メイリオ" panose="020B0604030504040204" pitchFamily="50" charset="-128"/>
                <a:ea typeface="メイリオ" panose="020B0604030504040204" pitchFamily="50" charset="-128"/>
              </a:rPr>
              <a:t>④リード獲得</a:t>
            </a:r>
            <a:endParaRPr lang="ja-JP" altLang="en-US" sz="1000" dirty="0"/>
          </a:p>
        </p:txBody>
      </p:sp>
      <p:sp>
        <p:nvSpPr>
          <p:cNvPr id="17" name="Rectangle 16"/>
          <p:cNvSpPr/>
          <p:nvPr/>
        </p:nvSpPr>
        <p:spPr>
          <a:xfrm>
            <a:off x="4951476" y="1600200"/>
            <a:ext cx="1106424" cy="384048"/>
          </a:xfrm>
          <a:prstGeom prst="chevron">
            <a:avLst/>
          </a:prstGeom>
          <a:solidFill>
            <a:srgbClr val="1F285A"/>
          </a:solidFill>
          <a:ln>
            <a:noFill/>
          </a:ln>
        </p:spPr>
        <p:txBody>
          <a:bodyPr wrap="square" lIns="91440" tIns="18288" rIns="18288" bIns="18288" rtlCol="0" anchor="ctr">
            <a:noAutofit/>
          </a:bodyPr>
          <a:lstStyle/>
          <a:p>
            <a:pPr algn="ctr">
              <a:buNone/>
            </a:pPr>
            <a:r>
              <a:rPr lang="ja-JP" altLang="en-US" sz="1000" b="1" dirty="0">
                <a:solidFill>
                  <a:srgbClr val="FFFFFF"/>
                </a:solidFill>
                <a:latin typeface="メイリオ" panose="020B0604030504040204" pitchFamily="50" charset="-128"/>
                <a:ea typeface="メイリオ" panose="020B0604030504040204" pitchFamily="50" charset="-128"/>
              </a:rPr>
              <a:t>⑤リード有効化</a:t>
            </a:r>
            <a:endParaRPr lang="ja-JP" altLang="en-US" sz="1000" dirty="0"/>
          </a:p>
        </p:txBody>
      </p:sp>
      <p:sp>
        <p:nvSpPr>
          <p:cNvPr id="18" name="Rectangle 17"/>
          <p:cNvSpPr/>
          <p:nvPr/>
        </p:nvSpPr>
        <p:spPr>
          <a:xfrm>
            <a:off x="6081903" y="1600200"/>
            <a:ext cx="1106424" cy="384048"/>
          </a:xfrm>
          <a:prstGeom prst="chevron">
            <a:avLst/>
          </a:prstGeom>
          <a:solidFill>
            <a:srgbClr val="C9D3E6"/>
          </a:solidFill>
          <a:ln>
            <a:noFill/>
          </a:ln>
        </p:spPr>
        <p:txBody>
          <a:bodyPr wrap="square" lIns="91440" tIns="18288" rIns="18288" bIns="18288" rtlCol="0" anchor="ctr">
            <a:noAutofit/>
          </a:bodyPr>
          <a:lstStyle/>
          <a:p>
            <a:pPr algn="ctr">
              <a:buNone/>
            </a:pPr>
            <a:r>
              <a:rPr lang="ja-JP" altLang="en-US" sz="1000" b="1" dirty="0">
                <a:solidFill>
                  <a:srgbClr val="1F285A"/>
                </a:solidFill>
                <a:latin typeface="メイリオ" panose="020B0604030504040204" pitchFamily="50" charset="-128"/>
                <a:ea typeface="メイリオ" panose="020B0604030504040204" pitchFamily="50" charset="-128"/>
              </a:rPr>
              <a:t>⑥再育成</a:t>
            </a:r>
            <a:endParaRPr lang="ja-JP" altLang="en-US" sz="1000" dirty="0"/>
          </a:p>
        </p:txBody>
      </p:sp>
      <p:sp>
        <p:nvSpPr>
          <p:cNvPr id="19" name="Rectangle 18"/>
          <p:cNvSpPr/>
          <p:nvPr/>
        </p:nvSpPr>
        <p:spPr>
          <a:xfrm>
            <a:off x="7212330" y="1600200"/>
            <a:ext cx="1106424" cy="384048"/>
          </a:xfrm>
          <a:prstGeom prst="chevron">
            <a:avLst/>
          </a:prstGeom>
          <a:solidFill>
            <a:srgbClr val="EEEEEE"/>
          </a:solidFill>
          <a:ln>
            <a:noFill/>
          </a:ln>
        </p:spPr>
        <p:txBody>
          <a:bodyPr wrap="square" lIns="91440" tIns="18288" rIns="18288" bIns="18288" rtlCol="0" anchor="ctr">
            <a:noAutofit/>
          </a:bodyPr>
          <a:lstStyle/>
          <a:p>
            <a:pPr algn="ctr">
              <a:buNone/>
            </a:pPr>
            <a:r>
              <a:rPr lang="ja-JP" altLang="en-US" sz="1000" b="1" dirty="0">
                <a:solidFill>
                  <a:srgbClr val="A6A6A6"/>
                </a:solidFill>
                <a:latin typeface="メイリオ" panose="020B0604030504040204" pitchFamily="50" charset="-128"/>
                <a:ea typeface="メイリオ" panose="020B0604030504040204" pitchFamily="50" charset="-128"/>
              </a:rPr>
              <a:t>⑦入会（契約）</a:t>
            </a:r>
            <a:endParaRPr lang="ja-JP" altLang="en-US" sz="1000" dirty="0"/>
          </a:p>
        </p:txBody>
      </p:sp>
      <p:sp>
        <p:nvSpPr>
          <p:cNvPr id="20" name="Rectangle 19"/>
          <p:cNvSpPr/>
          <p:nvPr/>
        </p:nvSpPr>
        <p:spPr>
          <a:xfrm>
            <a:off x="8342757" y="1600200"/>
            <a:ext cx="1106424" cy="384048"/>
          </a:xfrm>
          <a:prstGeom prst="chevron">
            <a:avLst/>
          </a:prstGeom>
          <a:solidFill>
            <a:srgbClr val="EEEEEE"/>
          </a:solidFill>
          <a:ln>
            <a:noFill/>
          </a:ln>
        </p:spPr>
        <p:txBody>
          <a:bodyPr wrap="square" lIns="91440" tIns="18288" rIns="18288" bIns="18288" rtlCol="0" anchor="ctr">
            <a:noAutofit/>
          </a:bodyPr>
          <a:lstStyle/>
          <a:p>
            <a:pPr algn="ctr">
              <a:buNone/>
            </a:pPr>
            <a:r>
              <a:rPr lang="ja-JP" altLang="en-US" sz="1000" b="1" dirty="0">
                <a:solidFill>
                  <a:srgbClr val="A6A6A6"/>
                </a:solidFill>
                <a:latin typeface="メイリオ" panose="020B0604030504040204" pitchFamily="50" charset="-128"/>
                <a:ea typeface="メイリオ" panose="020B0604030504040204" pitchFamily="50" charset="-128"/>
              </a:rPr>
              <a:t>⑧紹介</a:t>
            </a:r>
            <a:endParaRPr lang="ja-JP" altLang="en-US" sz="1000" dirty="0"/>
          </a:p>
        </p:txBody>
      </p:sp>
      <p:sp>
        <p:nvSpPr>
          <p:cNvPr id="21" name="Rounded Rectangle 20"/>
          <p:cNvSpPr/>
          <p:nvPr/>
        </p:nvSpPr>
        <p:spPr>
          <a:xfrm>
            <a:off x="4773168" y="2057400"/>
            <a:ext cx="1463040" cy="274320"/>
          </a:xfrm>
          <a:prstGeom prst="roundRect">
            <a:avLst/>
          </a:prstGeom>
          <a:solidFill>
            <a:srgbClr val="C00000"/>
          </a:solidFill>
          <a:ln>
            <a:noFill/>
          </a:ln>
        </p:spPr>
        <p:txBody>
          <a:bodyPr wrap="square" lIns="18288" tIns="0" rIns="18288" bIns="0" rtlCol="0" anchor="ctr">
            <a:noAutofit/>
          </a:bodyPr>
          <a:lstStyle/>
          <a:p>
            <a:pPr algn="ctr">
              <a:buNone/>
            </a:pPr>
            <a:r>
              <a:rPr lang="ja-JP" altLang="en-US" sz="1100" b="1" dirty="0">
                <a:solidFill>
                  <a:srgbClr val="FFFFFF"/>
                </a:solidFill>
                <a:latin typeface="メイリオ" panose="020B0604030504040204" pitchFamily="50" charset="-128"/>
                <a:ea typeface="メイリオ" panose="020B0604030504040204" pitchFamily="50" charset="-128"/>
              </a:rPr>
              <a:t>最大の課題（仮説）</a:t>
            </a:r>
            <a:endParaRPr lang="ja-JP" altLang="en-US" sz="1100" dirty="0"/>
          </a:p>
        </p:txBody>
      </p:sp>
      <p:sp>
        <p:nvSpPr>
          <p:cNvPr id="22" name="Rounded Rectangle 21"/>
          <p:cNvSpPr/>
          <p:nvPr/>
        </p:nvSpPr>
        <p:spPr>
          <a:xfrm>
            <a:off x="429768" y="2514600"/>
            <a:ext cx="2880360" cy="2606040"/>
          </a:xfrm>
          <a:prstGeom prst="roundRect">
            <a:avLst>
              <a:gd name="adj" fmla="val 5000"/>
            </a:avLst>
          </a:prstGeom>
          <a:solidFill>
            <a:srgbClr val="FFFFFF"/>
          </a:solidFill>
          <a:ln w="9525">
            <a:solidFill>
              <a:srgbClr val="D9D9D9"/>
            </a:solidFill>
          </a:ln>
        </p:spPr>
        <p:txBody>
          <a:bodyPr wrap="square" lIns="73152" tIns="36576" rIns="73152" bIns="36576" rtlCol="0" anchor="ctr">
            <a:noAutofit/>
          </a:bodyPr>
          <a:lstStyle/>
          <a:p>
            <a:pPr algn="l">
              <a:buNone/>
            </a:pPr>
            <a:endParaRPr lang="ja-JP" altLang="en-US" sz="1200" dirty="0"/>
          </a:p>
        </p:txBody>
      </p:sp>
      <p:sp>
        <p:nvSpPr>
          <p:cNvPr id="23" name="Rounded Rectangle 22"/>
          <p:cNvSpPr/>
          <p:nvPr/>
        </p:nvSpPr>
        <p:spPr>
          <a:xfrm>
            <a:off x="429768" y="2514600"/>
            <a:ext cx="2880360" cy="411480"/>
          </a:xfrm>
          <a:prstGeom prst="roundRect">
            <a:avLst>
              <a:gd name="adj" fmla="val 12000"/>
            </a:avLst>
          </a:prstGeom>
          <a:solidFill>
            <a:srgbClr val="C9D3E6"/>
          </a:solidFill>
          <a:ln>
            <a:noFill/>
          </a:ln>
        </p:spPr>
        <p:txBody>
          <a:bodyPr wrap="square" lIns="73152" tIns="36576" rIns="73152" bIns="36576" rtlCol="0" anchor="ctr">
            <a:noAutofit/>
          </a:bodyPr>
          <a:lstStyle/>
          <a:p>
            <a:pPr algn="ctr">
              <a:buNone/>
            </a:pPr>
            <a:r>
              <a:rPr lang="ja-JP" altLang="en-US" sz="1550" b="1" dirty="0">
                <a:solidFill>
                  <a:srgbClr val="1F285A"/>
                </a:solidFill>
                <a:latin typeface="メイリオ" panose="020B0604030504040204" pitchFamily="50" charset="-128"/>
                <a:ea typeface="メイリオ" panose="020B0604030504040204" pitchFamily="50" charset="-128"/>
              </a:rPr>
              <a:t>② 離脱</a:t>
            </a:r>
            <a:endParaRPr lang="ja-JP" altLang="en-US" sz="1550" dirty="0"/>
          </a:p>
        </p:txBody>
      </p:sp>
      <p:sp>
        <p:nvSpPr>
          <p:cNvPr id="24" name="Rectangle 23"/>
          <p:cNvSpPr/>
          <p:nvPr/>
        </p:nvSpPr>
        <p:spPr>
          <a:xfrm>
            <a:off x="566928" y="3017520"/>
            <a:ext cx="2606040" cy="1097280"/>
          </a:xfrm>
          <a:prstGeom prst="rect">
            <a:avLst/>
          </a:prstGeom>
          <a:noFill/>
          <a:ln>
            <a:noFill/>
          </a:ln>
        </p:spPr>
        <p:txBody>
          <a:bodyPr wrap="square" lIns="0" tIns="0" rIns="0" bIns="0" rtlCol="0" anchor="t">
            <a:noAutofit/>
          </a:bodyPr>
          <a:lstStyle/>
          <a:p>
            <a:pPr algn="l">
              <a:lnSpc>
                <a:spcPct val="115000"/>
              </a:lnSpc>
              <a:buNone/>
            </a:pPr>
            <a:r>
              <a:rPr lang="ja-JP" altLang="en-US" sz="1000" b="1" dirty="0">
                <a:solidFill>
                  <a:srgbClr val="7F7F7F"/>
                </a:solidFill>
                <a:latin typeface="メイリオ" panose="020B0604030504040204" pitchFamily="50" charset="-128"/>
                <a:ea typeface="メイリオ" panose="020B0604030504040204" pitchFamily="50" charset="-128"/>
              </a:rPr>
              <a:t>起きていること</a:t>
            </a:r>
            <a:endParaRPr lang="ja-JP" altLang="en-US" sz="1250" dirty="0"/>
          </a:p>
          <a:p>
            <a:pPr algn="l">
              <a:lnSpc>
                <a:spcPct val="115000"/>
              </a:lnSpc>
              <a:buNone/>
            </a:pPr>
            <a:r>
              <a:rPr lang="ja-JP" altLang="en-US" sz="1250" b="0" dirty="0">
                <a:solidFill>
                  <a:srgbClr val="333333"/>
                </a:solidFill>
                <a:latin typeface="メイリオ" panose="020B0604030504040204" pitchFamily="50" charset="-128"/>
                <a:ea typeface="メイリオ" panose="020B0604030504040204" pitchFamily="50" charset="-128"/>
              </a:rPr>
              <a:t>サイトに来た保護者の多くが、名前を残さずに帰っている。</a:t>
            </a:r>
            <a:endParaRPr lang="ja-JP" altLang="en-US" sz="1250" dirty="0"/>
          </a:p>
        </p:txBody>
      </p:sp>
      <p:sp>
        <p:nvSpPr>
          <p:cNvPr id="25" name="Rectangle 24"/>
          <p:cNvSpPr/>
          <p:nvPr/>
        </p:nvSpPr>
        <p:spPr>
          <a:xfrm>
            <a:off x="566928" y="4160520"/>
            <a:ext cx="2606040" cy="868680"/>
          </a:xfrm>
          <a:prstGeom prst="rect">
            <a:avLst/>
          </a:prstGeom>
          <a:noFill/>
          <a:ln>
            <a:noFill/>
          </a:ln>
        </p:spPr>
        <p:txBody>
          <a:bodyPr wrap="square" lIns="0" tIns="0" rIns="0" bIns="0" rtlCol="0" anchor="t">
            <a:noAutofit/>
          </a:bodyPr>
          <a:lstStyle/>
          <a:p>
            <a:pPr algn="l">
              <a:lnSpc>
                <a:spcPct val="115000"/>
              </a:lnSpc>
              <a:buNone/>
            </a:pPr>
            <a:r>
              <a:rPr lang="ja-JP" altLang="en-US" sz="1000" b="1" dirty="0">
                <a:solidFill>
                  <a:srgbClr val="7F7F7F"/>
                </a:solidFill>
                <a:latin typeface="メイリオ" panose="020B0604030504040204" pitchFamily="50" charset="-128"/>
                <a:ea typeface="メイリオ" panose="020B0604030504040204" pitchFamily="50" charset="-128"/>
              </a:rPr>
              <a:t>LINEでの打ち手</a:t>
            </a:r>
            <a:endParaRPr lang="ja-JP" altLang="en-US" sz="1250" dirty="0"/>
          </a:p>
          <a:p>
            <a:pPr algn="l">
              <a:lnSpc>
                <a:spcPct val="115000"/>
              </a:lnSpc>
              <a:buNone/>
            </a:pPr>
            <a:r>
              <a:rPr lang="ja-JP" altLang="en-US" sz="1250" b="1" dirty="0">
                <a:solidFill>
                  <a:srgbClr val="1F285A"/>
                </a:solidFill>
                <a:latin typeface="メイリオ" panose="020B0604030504040204" pitchFamily="50" charset="-128"/>
                <a:ea typeface="メイリオ" panose="020B0604030504040204" pitchFamily="50" charset="-128"/>
              </a:rPr>
              <a:t>離脱防止ポップアップで、帰る前にLINEの友だちになってもらう。</a:t>
            </a:r>
            <a:endParaRPr lang="ja-JP" altLang="en-US" sz="1250" dirty="0"/>
          </a:p>
        </p:txBody>
      </p:sp>
      <p:sp>
        <p:nvSpPr>
          <p:cNvPr id="26" name="Rounded Rectangle 25"/>
          <p:cNvSpPr/>
          <p:nvPr/>
        </p:nvSpPr>
        <p:spPr>
          <a:xfrm>
            <a:off x="3511296" y="2514600"/>
            <a:ext cx="2880360" cy="2606040"/>
          </a:xfrm>
          <a:prstGeom prst="roundRect">
            <a:avLst>
              <a:gd name="adj" fmla="val 5000"/>
            </a:avLst>
          </a:prstGeom>
          <a:solidFill>
            <a:srgbClr val="FFFFFF"/>
          </a:solidFill>
          <a:ln w="28575">
            <a:solidFill>
              <a:srgbClr val="1F285A"/>
            </a:solidFill>
          </a:ln>
        </p:spPr>
        <p:txBody>
          <a:bodyPr wrap="square" lIns="73152" tIns="36576" rIns="73152" bIns="36576" rtlCol="0" anchor="ctr">
            <a:noAutofit/>
          </a:bodyPr>
          <a:lstStyle/>
          <a:p>
            <a:pPr algn="l">
              <a:buNone/>
            </a:pPr>
            <a:endParaRPr lang="ja-JP" altLang="en-US" sz="1200" dirty="0"/>
          </a:p>
        </p:txBody>
      </p:sp>
      <p:sp>
        <p:nvSpPr>
          <p:cNvPr id="27" name="Rounded Rectangle 26"/>
          <p:cNvSpPr/>
          <p:nvPr/>
        </p:nvSpPr>
        <p:spPr>
          <a:xfrm>
            <a:off x="3511296" y="2514600"/>
            <a:ext cx="2880360" cy="411480"/>
          </a:xfrm>
          <a:prstGeom prst="roundRect">
            <a:avLst>
              <a:gd name="adj" fmla="val 12000"/>
            </a:avLst>
          </a:prstGeom>
          <a:solidFill>
            <a:srgbClr val="1F285A"/>
          </a:solidFill>
          <a:ln>
            <a:noFill/>
          </a:ln>
        </p:spPr>
        <p:txBody>
          <a:bodyPr wrap="square" lIns="73152" tIns="36576" rIns="73152" bIns="36576" rtlCol="0" anchor="ctr">
            <a:noAutofit/>
          </a:bodyPr>
          <a:lstStyle/>
          <a:p>
            <a:pPr algn="ctr">
              <a:buNone/>
            </a:pPr>
            <a:r>
              <a:rPr lang="ja-JP" altLang="en-US" sz="1550" b="1" dirty="0">
                <a:solidFill>
                  <a:srgbClr val="FFFFFF"/>
                </a:solidFill>
                <a:latin typeface="メイリオ" panose="020B0604030504040204" pitchFamily="50" charset="-128"/>
                <a:ea typeface="メイリオ" panose="020B0604030504040204" pitchFamily="50" charset="-128"/>
              </a:rPr>
              <a:t>⑤ リード有効化</a:t>
            </a:r>
            <a:endParaRPr lang="ja-JP" altLang="en-US" sz="1550" dirty="0"/>
          </a:p>
        </p:txBody>
      </p:sp>
      <p:sp>
        <p:nvSpPr>
          <p:cNvPr id="28" name="Rectangle 27"/>
          <p:cNvSpPr/>
          <p:nvPr/>
        </p:nvSpPr>
        <p:spPr>
          <a:xfrm>
            <a:off x="3648456" y="3017520"/>
            <a:ext cx="2606040" cy="1097280"/>
          </a:xfrm>
          <a:prstGeom prst="rect">
            <a:avLst/>
          </a:prstGeom>
          <a:noFill/>
          <a:ln>
            <a:noFill/>
          </a:ln>
        </p:spPr>
        <p:txBody>
          <a:bodyPr wrap="square" lIns="0" tIns="0" rIns="0" bIns="0" rtlCol="0" anchor="t">
            <a:noAutofit/>
          </a:bodyPr>
          <a:lstStyle/>
          <a:p>
            <a:pPr algn="l">
              <a:lnSpc>
                <a:spcPct val="115000"/>
              </a:lnSpc>
              <a:buNone/>
            </a:pPr>
            <a:r>
              <a:rPr lang="ja-JP" altLang="en-US" sz="1000" b="1" dirty="0">
                <a:solidFill>
                  <a:srgbClr val="7F7F7F"/>
                </a:solidFill>
                <a:latin typeface="メイリオ" panose="020B0604030504040204" pitchFamily="50" charset="-128"/>
                <a:ea typeface="メイリオ" panose="020B0604030504040204" pitchFamily="50" charset="-128"/>
              </a:rPr>
              <a:t>起きていること</a:t>
            </a:r>
            <a:endParaRPr lang="ja-JP" altLang="en-US" sz="1250" dirty="0"/>
          </a:p>
          <a:p>
            <a:pPr algn="l">
              <a:lnSpc>
                <a:spcPct val="115000"/>
              </a:lnSpc>
              <a:buNone/>
            </a:pPr>
            <a:r>
              <a:rPr lang="ja-JP" altLang="en-US" sz="1250" b="0" dirty="0">
                <a:solidFill>
                  <a:srgbClr val="333333"/>
                </a:solidFill>
                <a:latin typeface="メイリオ" panose="020B0604030504040204" pitchFamily="50" charset="-128"/>
                <a:ea typeface="メイリオ" panose="020B0604030504040204" pitchFamily="50" charset="-128"/>
              </a:rPr>
              <a:t>資料請求のあと、体験予約までの間に「読んで・比べて・迷う」期間があり、ここで他の塾に流れる。</a:t>
            </a:r>
            <a:endParaRPr lang="ja-JP" altLang="en-US" sz="1250" dirty="0"/>
          </a:p>
        </p:txBody>
      </p:sp>
      <p:sp>
        <p:nvSpPr>
          <p:cNvPr id="29" name="Rectangle 28"/>
          <p:cNvSpPr/>
          <p:nvPr/>
        </p:nvSpPr>
        <p:spPr>
          <a:xfrm>
            <a:off x="3648456" y="4160520"/>
            <a:ext cx="2606040" cy="868680"/>
          </a:xfrm>
          <a:prstGeom prst="rect">
            <a:avLst/>
          </a:prstGeom>
          <a:noFill/>
          <a:ln>
            <a:noFill/>
          </a:ln>
        </p:spPr>
        <p:txBody>
          <a:bodyPr wrap="square" lIns="0" tIns="0" rIns="0" bIns="0" rtlCol="0" anchor="t">
            <a:noAutofit/>
          </a:bodyPr>
          <a:lstStyle/>
          <a:p>
            <a:pPr algn="l">
              <a:lnSpc>
                <a:spcPct val="115000"/>
              </a:lnSpc>
              <a:buNone/>
            </a:pPr>
            <a:r>
              <a:rPr lang="ja-JP" altLang="en-US" sz="1000" b="1" dirty="0">
                <a:solidFill>
                  <a:srgbClr val="7F7F7F"/>
                </a:solidFill>
                <a:latin typeface="メイリオ" panose="020B0604030504040204" pitchFamily="50" charset="-128"/>
                <a:ea typeface="メイリオ" panose="020B0604030504040204" pitchFamily="50" charset="-128"/>
              </a:rPr>
              <a:t>LINEでの打ち手</a:t>
            </a:r>
            <a:endParaRPr lang="ja-JP" altLang="en-US" sz="1250" dirty="0"/>
          </a:p>
          <a:p>
            <a:pPr algn="l">
              <a:lnSpc>
                <a:spcPct val="115000"/>
              </a:lnSpc>
              <a:buNone/>
            </a:pPr>
            <a:r>
              <a:rPr lang="ja-JP" altLang="en-US" sz="1250" b="1" dirty="0">
                <a:solidFill>
                  <a:srgbClr val="1F285A"/>
                </a:solidFill>
                <a:latin typeface="メイリオ" panose="020B0604030504040204" pitchFamily="50" charset="-128"/>
                <a:ea typeface="メイリオ" panose="020B0604030504040204" pitchFamily="50" charset="-128"/>
              </a:rPr>
              <a:t>迷っている間も配信を届け続け、体験予約につなげる。</a:t>
            </a:r>
            <a:endParaRPr lang="ja-JP" altLang="en-US" sz="1250" dirty="0"/>
          </a:p>
        </p:txBody>
      </p:sp>
      <p:sp>
        <p:nvSpPr>
          <p:cNvPr id="30" name="Rounded Rectangle 29"/>
          <p:cNvSpPr/>
          <p:nvPr/>
        </p:nvSpPr>
        <p:spPr>
          <a:xfrm>
            <a:off x="6592824" y="2514600"/>
            <a:ext cx="2880360" cy="2606040"/>
          </a:xfrm>
          <a:prstGeom prst="roundRect">
            <a:avLst>
              <a:gd name="adj" fmla="val 5000"/>
            </a:avLst>
          </a:prstGeom>
          <a:solidFill>
            <a:srgbClr val="FFFFFF"/>
          </a:solidFill>
          <a:ln w="9525">
            <a:solidFill>
              <a:srgbClr val="D9D9D9"/>
            </a:solidFill>
          </a:ln>
        </p:spPr>
        <p:txBody>
          <a:bodyPr wrap="square" lIns="73152" tIns="36576" rIns="73152" bIns="36576" rtlCol="0" anchor="ctr">
            <a:noAutofit/>
          </a:bodyPr>
          <a:lstStyle/>
          <a:p>
            <a:pPr algn="l">
              <a:buNone/>
            </a:pPr>
            <a:endParaRPr lang="ja-JP" altLang="en-US" sz="1200" dirty="0"/>
          </a:p>
        </p:txBody>
      </p:sp>
      <p:sp>
        <p:nvSpPr>
          <p:cNvPr id="31" name="Rounded Rectangle 30"/>
          <p:cNvSpPr/>
          <p:nvPr/>
        </p:nvSpPr>
        <p:spPr>
          <a:xfrm>
            <a:off x="6592824" y="2514600"/>
            <a:ext cx="2880360" cy="411480"/>
          </a:xfrm>
          <a:prstGeom prst="roundRect">
            <a:avLst>
              <a:gd name="adj" fmla="val 12000"/>
            </a:avLst>
          </a:prstGeom>
          <a:solidFill>
            <a:srgbClr val="C9D3E6"/>
          </a:solidFill>
          <a:ln>
            <a:noFill/>
          </a:ln>
        </p:spPr>
        <p:txBody>
          <a:bodyPr wrap="square" lIns="73152" tIns="36576" rIns="73152" bIns="36576" rtlCol="0" anchor="ctr">
            <a:noAutofit/>
          </a:bodyPr>
          <a:lstStyle/>
          <a:p>
            <a:pPr algn="ctr">
              <a:buNone/>
            </a:pPr>
            <a:r>
              <a:rPr lang="ja-JP" altLang="en-US" sz="1550" b="1" dirty="0">
                <a:solidFill>
                  <a:srgbClr val="1F285A"/>
                </a:solidFill>
                <a:latin typeface="メイリオ" panose="020B0604030504040204" pitchFamily="50" charset="-128"/>
                <a:ea typeface="メイリオ" panose="020B0604030504040204" pitchFamily="50" charset="-128"/>
              </a:rPr>
              <a:t>⑥ 再育成</a:t>
            </a:r>
            <a:endParaRPr lang="ja-JP" altLang="en-US" sz="1550" dirty="0"/>
          </a:p>
        </p:txBody>
      </p:sp>
      <p:sp>
        <p:nvSpPr>
          <p:cNvPr id="32" name="Rectangle 31"/>
          <p:cNvSpPr/>
          <p:nvPr/>
        </p:nvSpPr>
        <p:spPr>
          <a:xfrm>
            <a:off x="6729984" y="3017520"/>
            <a:ext cx="2606040" cy="1097280"/>
          </a:xfrm>
          <a:prstGeom prst="rect">
            <a:avLst/>
          </a:prstGeom>
          <a:noFill/>
          <a:ln>
            <a:noFill/>
          </a:ln>
        </p:spPr>
        <p:txBody>
          <a:bodyPr wrap="square" lIns="0" tIns="0" rIns="0" bIns="0" rtlCol="0" anchor="t">
            <a:noAutofit/>
          </a:bodyPr>
          <a:lstStyle/>
          <a:p>
            <a:pPr algn="l">
              <a:lnSpc>
                <a:spcPct val="115000"/>
              </a:lnSpc>
              <a:buNone/>
            </a:pPr>
            <a:r>
              <a:rPr lang="ja-JP" altLang="en-US" sz="1000" b="1" dirty="0">
                <a:solidFill>
                  <a:srgbClr val="7F7F7F"/>
                </a:solidFill>
                <a:latin typeface="メイリオ" panose="020B0604030504040204" pitchFamily="50" charset="-128"/>
                <a:ea typeface="メイリオ" panose="020B0604030504040204" pitchFamily="50" charset="-128"/>
              </a:rPr>
              <a:t>起きていること</a:t>
            </a:r>
            <a:endParaRPr lang="ja-JP" altLang="en-US" sz="1250" dirty="0"/>
          </a:p>
          <a:p>
            <a:pPr algn="l">
              <a:lnSpc>
                <a:spcPct val="115000"/>
              </a:lnSpc>
              <a:buNone/>
            </a:pPr>
            <a:r>
              <a:rPr lang="ja-JP" altLang="en-US" sz="1250" b="0" dirty="0">
                <a:solidFill>
                  <a:srgbClr val="333333"/>
                </a:solidFill>
                <a:latin typeface="メイリオ" panose="020B0604030504040204" pitchFamily="50" charset="-128"/>
                <a:ea typeface="メイリオ" panose="020B0604030504040204" pitchFamily="50" charset="-128"/>
              </a:rPr>
              <a:t>体験に来なかった・入会しなかった保護者との接点が、そこで切れる。</a:t>
            </a:r>
            <a:endParaRPr lang="ja-JP" altLang="en-US" sz="1250" dirty="0"/>
          </a:p>
        </p:txBody>
      </p:sp>
      <p:sp>
        <p:nvSpPr>
          <p:cNvPr id="33" name="Rectangle 32"/>
          <p:cNvSpPr/>
          <p:nvPr/>
        </p:nvSpPr>
        <p:spPr>
          <a:xfrm>
            <a:off x="6729984" y="4160520"/>
            <a:ext cx="2606040" cy="868680"/>
          </a:xfrm>
          <a:prstGeom prst="rect">
            <a:avLst/>
          </a:prstGeom>
          <a:noFill/>
          <a:ln>
            <a:noFill/>
          </a:ln>
        </p:spPr>
        <p:txBody>
          <a:bodyPr wrap="square" lIns="0" tIns="0" rIns="0" bIns="0" rtlCol="0" anchor="t">
            <a:noAutofit/>
          </a:bodyPr>
          <a:lstStyle/>
          <a:p>
            <a:pPr algn="l">
              <a:lnSpc>
                <a:spcPct val="115000"/>
              </a:lnSpc>
              <a:buNone/>
            </a:pPr>
            <a:r>
              <a:rPr lang="ja-JP" altLang="en-US" sz="1000" b="1" dirty="0">
                <a:solidFill>
                  <a:srgbClr val="7F7F7F"/>
                </a:solidFill>
                <a:latin typeface="メイリオ" panose="020B0604030504040204" pitchFamily="50" charset="-128"/>
                <a:ea typeface="メイリオ" panose="020B0604030504040204" pitchFamily="50" charset="-128"/>
              </a:rPr>
              <a:t>LINEでの打ち手</a:t>
            </a:r>
            <a:endParaRPr lang="ja-JP" altLang="en-US" sz="1250" dirty="0"/>
          </a:p>
          <a:p>
            <a:pPr algn="l">
              <a:lnSpc>
                <a:spcPct val="115000"/>
              </a:lnSpc>
              <a:buNone/>
            </a:pPr>
            <a:r>
              <a:rPr lang="ja-JP" altLang="en-US" sz="1250" b="1" dirty="0">
                <a:solidFill>
                  <a:srgbClr val="1F285A"/>
                </a:solidFill>
                <a:latin typeface="メイリオ" panose="020B0604030504040204" pitchFamily="50" charset="-128"/>
                <a:ea typeface="メイリオ" panose="020B0604030504040204" pitchFamily="50" charset="-128"/>
              </a:rPr>
              <a:t>時期に合わせた企画配信で、もう一度ご案内する。</a:t>
            </a:r>
            <a:endParaRPr lang="ja-JP" altLang="en-US" sz="1250" dirty="0"/>
          </a:p>
        </p:txBody>
      </p:sp>
      <p:sp>
        <p:nvSpPr>
          <p:cNvPr id="34" name="Rounded Rectangle 33"/>
          <p:cNvSpPr/>
          <p:nvPr/>
        </p:nvSpPr>
        <p:spPr>
          <a:xfrm>
            <a:off x="429768" y="5394960"/>
            <a:ext cx="9043416" cy="457200"/>
          </a:xfrm>
          <a:prstGeom prst="roundRect">
            <a:avLst/>
          </a:prstGeom>
          <a:solidFill>
            <a:srgbClr val="1F285A"/>
          </a:solidFill>
          <a:ln>
            <a:noFill/>
          </a:ln>
        </p:spPr>
        <p:txBody>
          <a:bodyPr wrap="square" lIns="73152" tIns="36576" rIns="73152" bIns="36576" rtlCol="0" anchor="ctr">
            <a:noAutofit/>
          </a:bodyPr>
          <a:lstStyle/>
          <a:p>
            <a:pPr algn="ctr">
              <a:buNone/>
            </a:pPr>
            <a:r>
              <a:rPr lang="ja-JP" altLang="en-US" sz="1550" b="1" dirty="0">
                <a:solidFill>
                  <a:srgbClr val="FFFFFF"/>
                </a:solidFill>
                <a:latin typeface="メイリオ" panose="020B0604030504040204" pitchFamily="50" charset="-128"/>
                <a:ea typeface="メイリオ" panose="020B0604030504040204" pitchFamily="50" charset="-128"/>
              </a:rPr>
              <a:t>本日、貴塾で一番改善したいフェーズを確認し、そこに合わせてプランをご提案します。</a:t>
            </a:r>
            <a:endParaRPr lang="ja-JP" altLang="en-US" sz="1550" dirty="0"/>
          </a:p>
        </p:txBody>
      </p:sp>
    </p:spTree>
    <p:extLst>
      <p:ext uri="{BB962C8B-B14F-4D97-AF65-F5344CB8AC3E}">
        <p14:creationId xmlns:p14="http://schemas.microsoft.com/office/powerpoint/2010/main" val="157294285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CDB2C5-43E4-382E-3F0A-0B0F5E9FBB44}"/>
            </a:ext>
          </a:extLst>
        </p:cNvPr>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ご提供プラン</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dirty="0">
                <a:solidFill>
                  <a:srgbClr val="333333"/>
                </a:solidFill>
                <a:latin typeface="メイリオ"/>
                <a:ea typeface="メイリオ"/>
                <a:cs typeface="メイリオ"/>
              </a:rPr>
              <a:t>ご予算と最大の課題に合わせて、3つのプランからお選びいただけます。</a:t>
            </a:r>
            <a:endParaRPr lang="en-US" sz="1200" dirty="0">
              <a:solidFill>
                <a:srgbClr val="333333"/>
              </a:solidFill>
              <a:latin typeface="メイリオ"/>
              <a:ea typeface="メイリオ"/>
              <a:cs typeface="メイリオ"/>
            </a:endParaRPr>
          </a:p>
          <a:p>
            <a:pPr algn="l">
              <a:lnSpc>
                <a:spcPct val="128000"/>
              </a:lnSpc>
            </a:pPr>
            <a:r>
              <a:rPr sz="1200" dirty="0">
                <a:solidFill>
                  <a:srgbClr val="333333"/>
                </a:solidFill>
                <a:latin typeface="メイリオ"/>
                <a:ea typeface="メイリオ"/>
                <a:cs typeface="メイリオ"/>
              </a:rPr>
              <a:t>いずれも6か月〜の契約・税抜。開発やツール導入の場合は別途費用が発生します。</a:t>
            </a:r>
            <a:endParaRPr lang="en-US" sz="1200" dirty="0">
              <a:solidFill>
                <a:srgbClr val="333333"/>
              </a:solidFill>
              <a:latin typeface="メイリオ"/>
              <a:ea typeface="メイリオ"/>
              <a:cs typeface="メイリオ"/>
            </a:endParaRP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Pentagon 4"/>
          <p:cNvSpPr/>
          <p:nvPr/>
        </p:nvSpPr>
        <p:spPr>
          <a:xfrm>
            <a:off x="432000" y="590400"/>
            <a:ext cx="1111500" cy="180000"/>
          </a:xfrm>
          <a:prstGeom prst="homePlate">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①接触</a:t>
            </a:r>
          </a:p>
        </p:txBody>
      </p:sp>
      <p:sp>
        <p:nvSpPr>
          <p:cNvPr id="6" name="Chevron 5"/>
          <p:cNvSpPr/>
          <p:nvPr/>
        </p:nvSpPr>
        <p:spPr>
          <a:xfrm>
            <a:off x="15651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②離脱</a:t>
            </a:r>
          </a:p>
        </p:txBody>
      </p:sp>
      <p:sp>
        <p:nvSpPr>
          <p:cNvPr id="7" name="Chevron 6"/>
          <p:cNvSpPr/>
          <p:nvPr/>
        </p:nvSpPr>
        <p:spPr>
          <a:xfrm>
            <a:off x="26982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③育成</a:t>
            </a:r>
          </a:p>
        </p:txBody>
      </p:sp>
      <p:sp>
        <p:nvSpPr>
          <p:cNvPr id="8" name="Chevron 7"/>
          <p:cNvSpPr/>
          <p:nvPr/>
        </p:nvSpPr>
        <p:spPr>
          <a:xfrm>
            <a:off x="38312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④リード獲得</a:t>
            </a:r>
          </a:p>
        </p:txBody>
      </p:sp>
      <p:sp>
        <p:nvSpPr>
          <p:cNvPr id="9" name="Chevron 8"/>
          <p:cNvSpPr/>
          <p:nvPr/>
        </p:nvSpPr>
        <p:spPr>
          <a:xfrm>
            <a:off x="49644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⑤リード有効化</a:t>
            </a:r>
          </a:p>
        </p:txBody>
      </p:sp>
      <p:sp>
        <p:nvSpPr>
          <p:cNvPr id="10" name="Chevron 9"/>
          <p:cNvSpPr/>
          <p:nvPr/>
        </p:nvSpPr>
        <p:spPr>
          <a:xfrm>
            <a:off x="60975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⑥再育成</a:t>
            </a:r>
          </a:p>
        </p:txBody>
      </p:sp>
      <p:sp>
        <p:nvSpPr>
          <p:cNvPr id="11" name="Chevron 10"/>
          <p:cNvSpPr/>
          <p:nvPr/>
        </p:nvSpPr>
        <p:spPr>
          <a:xfrm>
            <a:off x="72305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⑦入会（契約）</a:t>
            </a:r>
          </a:p>
        </p:txBody>
      </p:sp>
      <p:sp>
        <p:nvSpPr>
          <p:cNvPr id="12" name="Chevron 11"/>
          <p:cNvSpPr/>
          <p:nvPr/>
        </p:nvSpPr>
        <p:spPr>
          <a:xfrm>
            <a:off x="83636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⑧紹介</a:t>
            </a:r>
          </a:p>
        </p:txBody>
      </p:sp>
      <p:sp>
        <p:nvSpPr>
          <p:cNvPr id="13" name="Rounded Rectangle 12"/>
          <p:cNvSpPr/>
          <p:nvPr/>
        </p:nvSpPr>
        <p:spPr>
          <a:xfrm>
            <a:off x="429768" y="1600200"/>
            <a:ext cx="2880360" cy="868680"/>
          </a:xfrm>
          <a:prstGeom prst="roundRect">
            <a:avLst>
              <a:gd name="adj" fmla="val 10000"/>
            </a:avLst>
          </a:prstGeom>
          <a:solidFill>
            <a:srgbClr val="1F285A"/>
          </a:solidFill>
          <a:ln>
            <a:noFill/>
          </a:ln>
        </p:spPr>
        <p:txBody>
          <a:bodyPr wrap="square" lIns="54864" tIns="18288" rIns="54864" bIns="36576" rtlCol="0" anchor="ctr">
            <a:noAutofit/>
          </a:bodyPr>
          <a:lstStyle/>
          <a:p>
            <a:pPr algn="ctr">
              <a:lnSpc>
                <a:spcPct val="100000"/>
              </a:lnSpc>
              <a:buNone/>
            </a:pPr>
            <a:r>
              <a:rPr lang="ja-JP" altLang="en-US" sz="2200" b="1" dirty="0">
                <a:solidFill>
                  <a:srgbClr val="FFFFFF"/>
                </a:solidFill>
                <a:latin typeface="メイリオ" panose="020B0604030504040204" pitchFamily="50" charset="-128"/>
                <a:ea typeface="メイリオ" panose="020B0604030504040204" pitchFamily="50" charset="-128"/>
              </a:rPr>
              <a:t>プラン①</a:t>
            </a:r>
            <a:endParaRPr lang="ja-JP" altLang="en-US" sz="2200" dirty="0"/>
          </a:p>
          <a:p>
            <a:pPr algn="ctr">
              <a:lnSpc>
                <a:spcPct val="100000"/>
              </a:lnSpc>
              <a:buNone/>
            </a:pPr>
            <a:r>
              <a:rPr lang="ja-JP" altLang="en-US" sz="1150" b="0" dirty="0">
                <a:solidFill>
                  <a:srgbClr val="FFFFFF"/>
                </a:solidFill>
                <a:latin typeface="メイリオ" panose="020B0604030504040204" pitchFamily="50" charset="-128"/>
                <a:ea typeface="メイリオ" panose="020B0604030504040204" pitchFamily="50" charset="-128"/>
              </a:rPr>
              <a:t>構築から配信の運用まで</a:t>
            </a:r>
            <a:endParaRPr lang="ja-JP" altLang="en-US" sz="2200" dirty="0"/>
          </a:p>
        </p:txBody>
      </p:sp>
      <p:sp>
        <p:nvSpPr>
          <p:cNvPr id="14" name="Rounded Rectangle 13"/>
          <p:cNvSpPr/>
          <p:nvPr/>
        </p:nvSpPr>
        <p:spPr>
          <a:xfrm>
            <a:off x="429768" y="2560320"/>
            <a:ext cx="2880360" cy="2377440"/>
          </a:xfrm>
          <a:prstGeom prst="roundRect">
            <a:avLst>
              <a:gd name="adj" fmla="val 5000"/>
            </a:avLst>
          </a:prstGeom>
          <a:solidFill>
            <a:srgbClr val="FFFFFF"/>
          </a:solidFill>
          <a:ln w="9525">
            <a:solidFill>
              <a:srgbClr val="D9D9D9"/>
            </a:solidFill>
          </a:ln>
        </p:spPr>
        <p:txBody>
          <a:bodyPr wrap="square" lIns="73152" tIns="36576" rIns="73152" bIns="36576" rtlCol="0" anchor="ctr">
            <a:noAutofit/>
          </a:bodyPr>
          <a:lstStyle/>
          <a:p>
            <a:pPr algn="l">
              <a:buNone/>
            </a:pPr>
            <a:endParaRPr lang="ja-JP" altLang="en-US" sz="1200" dirty="0"/>
          </a:p>
        </p:txBody>
      </p:sp>
      <p:sp>
        <p:nvSpPr>
          <p:cNvPr id="15" name="Rectangle 14"/>
          <p:cNvSpPr/>
          <p:nvPr/>
        </p:nvSpPr>
        <p:spPr>
          <a:xfrm>
            <a:off x="594359" y="2743200"/>
            <a:ext cx="2587752" cy="2103120"/>
          </a:xfrm>
          <a:prstGeom prst="rect">
            <a:avLst/>
          </a:prstGeom>
          <a:noFill/>
          <a:ln>
            <a:noFill/>
          </a:ln>
        </p:spPr>
        <p:txBody>
          <a:bodyPr wrap="square" lIns="0" tIns="0" rIns="0" bIns="0" rtlCol="0" anchor="t">
            <a:noAutofit/>
          </a:bodyPr>
          <a:lstStyle/>
          <a:p>
            <a:pPr marL="146304" indent="-146304" algn="l">
              <a:lnSpc>
                <a:spcPct val="115000"/>
              </a:lnSpc>
              <a:spcAft>
                <a:spcPts val="600"/>
              </a:spcAft>
              <a:buNone/>
            </a:pPr>
            <a:r>
              <a:rPr lang="ja-JP" altLang="en-US" sz="1300" b="0" dirty="0">
                <a:solidFill>
                  <a:srgbClr val="333333"/>
                </a:solidFill>
                <a:latin typeface="メイリオ" panose="020B0604030504040204" pitchFamily="50" charset="-128"/>
                <a:ea typeface="メイリオ" panose="020B0604030504040204" pitchFamily="50" charset="-128"/>
              </a:rPr>
              <a:t>・初期構築</a:t>
            </a:r>
            <a:endParaRPr lang="ja-JP" altLang="en-US" sz="1300" dirty="0"/>
          </a:p>
          <a:p>
            <a:pPr marL="146304" indent="-146304" algn="l">
              <a:lnSpc>
                <a:spcPct val="115000"/>
              </a:lnSpc>
              <a:spcAft>
                <a:spcPts val="600"/>
              </a:spcAft>
              <a:buNone/>
            </a:pPr>
            <a:r>
              <a:rPr lang="ja-JP" altLang="en-US" sz="1300" b="0" dirty="0">
                <a:solidFill>
                  <a:srgbClr val="333333"/>
                </a:solidFill>
                <a:latin typeface="メイリオ" panose="020B0604030504040204" pitchFamily="50" charset="-128"/>
                <a:ea typeface="メイリオ" panose="020B0604030504040204" pitchFamily="50" charset="-128"/>
              </a:rPr>
              <a:t>・企画投稿 月4〜5本（週1回）</a:t>
            </a:r>
            <a:endParaRPr lang="ja-JP" altLang="en-US" sz="1300" dirty="0"/>
          </a:p>
          <a:p>
            <a:pPr marL="146304" indent="-146304" algn="l">
              <a:lnSpc>
                <a:spcPct val="115000"/>
              </a:lnSpc>
              <a:spcAft>
                <a:spcPts val="600"/>
              </a:spcAft>
              <a:buNone/>
            </a:pPr>
            <a:r>
              <a:rPr lang="ja-JP" altLang="en-US" sz="1300" b="0" dirty="0">
                <a:solidFill>
                  <a:srgbClr val="333333"/>
                </a:solidFill>
                <a:latin typeface="メイリオ" panose="020B0604030504040204" pitchFamily="50" charset="-128"/>
                <a:ea typeface="メイリオ" panose="020B0604030504040204" pitchFamily="50" charset="-128"/>
              </a:rPr>
              <a:t>・ステップ配信 10通</a:t>
            </a:r>
            <a:endParaRPr lang="ja-JP" altLang="en-US" sz="1300" dirty="0"/>
          </a:p>
          <a:p>
            <a:pPr marL="146304" indent="-146304" algn="l">
              <a:lnSpc>
                <a:spcPct val="115000"/>
              </a:lnSpc>
              <a:spcAft>
                <a:spcPts val="600"/>
              </a:spcAft>
              <a:buNone/>
            </a:pPr>
            <a:r>
              <a:rPr lang="ja-JP" altLang="en-US" sz="1300" b="0" dirty="0">
                <a:solidFill>
                  <a:srgbClr val="333333"/>
                </a:solidFill>
                <a:latin typeface="メイリオ" panose="020B0604030504040204" pitchFamily="50" charset="-128"/>
                <a:ea typeface="メイリオ" panose="020B0604030504040204" pitchFamily="50" charset="-128"/>
              </a:rPr>
              <a:t>・API連携なども含めて、ここまで対応できます</a:t>
            </a:r>
            <a:endParaRPr lang="ja-JP" altLang="en-US" sz="1300" dirty="0"/>
          </a:p>
        </p:txBody>
      </p:sp>
      <p:sp>
        <p:nvSpPr>
          <p:cNvPr id="16" name="Rounded Rectangle 15"/>
          <p:cNvSpPr/>
          <p:nvPr/>
        </p:nvSpPr>
        <p:spPr>
          <a:xfrm>
            <a:off x="429768" y="5029200"/>
            <a:ext cx="2880360" cy="777240"/>
          </a:xfrm>
          <a:prstGeom prst="roundRect">
            <a:avLst>
              <a:gd name="adj" fmla="val 12000"/>
            </a:avLst>
          </a:prstGeom>
          <a:solidFill>
            <a:srgbClr val="F4F7FF"/>
          </a:solidFill>
          <a:ln w="9525">
            <a:solidFill>
              <a:srgbClr val="D9D9D9"/>
            </a:solidFill>
          </a:ln>
        </p:spPr>
        <p:txBody>
          <a:bodyPr wrap="square" lIns="36576" tIns="18288" rIns="36576" bIns="18288" rtlCol="0" anchor="ctr">
            <a:noAutofit/>
          </a:bodyPr>
          <a:lstStyle/>
          <a:p>
            <a:pPr algn="ctr">
              <a:lnSpc>
                <a:spcPct val="105000"/>
              </a:lnSpc>
              <a:buNone/>
            </a:pPr>
            <a:r>
              <a:rPr lang="ja-JP" altLang="en-US" sz="1700" b="1" dirty="0">
                <a:solidFill>
                  <a:srgbClr val="1F285A"/>
                </a:solidFill>
                <a:latin typeface="メイリオ" panose="020B0604030504040204" pitchFamily="50" charset="-128"/>
                <a:ea typeface="メイリオ" panose="020B0604030504040204" pitchFamily="50" charset="-128"/>
              </a:rPr>
              <a:t>月額 30万円〜</a:t>
            </a:r>
            <a:endParaRPr lang="ja-JP" altLang="en-US" sz="1700" dirty="0"/>
          </a:p>
          <a:p>
            <a:pPr algn="ctr">
              <a:lnSpc>
                <a:spcPct val="105000"/>
              </a:lnSpc>
              <a:buNone/>
            </a:pPr>
            <a:r>
              <a:rPr lang="ja-JP" altLang="en-US" sz="1150" b="0" dirty="0">
                <a:solidFill>
                  <a:srgbClr val="1F285A"/>
                </a:solidFill>
                <a:latin typeface="メイリオ" panose="020B0604030504040204" pitchFamily="50" charset="-128"/>
                <a:ea typeface="メイリオ" panose="020B0604030504040204" pitchFamily="50" charset="-128"/>
              </a:rPr>
              <a:t>初期費用 10万円〜</a:t>
            </a:r>
            <a:endParaRPr lang="ja-JP" altLang="en-US" sz="1700" dirty="0"/>
          </a:p>
        </p:txBody>
      </p:sp>
      <p:sp>
        <p:nvSpPr>
          <p:cNvPr id="17" name="Rounded Rectangle 16"/>
          <p:cNvSpPr/>
          <p:nvPr/>
        </p:nvSpPr>
        <p:spPr>
          <a:xfrm>
            <a:off x="3511296" y="1600200"/>
            <a:ext cx="2880360" cy="868680"/>
          </a:xfrm>
          <a:prstGeom prst="roundRect">
            <a:avLst>
              <a:gd name="adj" fmla="val 10000"/>
            </a:avLst>
          </a:prstGeom>
          <a:solidFill>
            <a:srgbClr val="3E5B9A"/>
          </a:solidFill>
          <a:ln>
            <a:noFill/>
          </a:ln>
        </p:spPr>
        <p:txBody>
          <a:bodyPr wrap="square" lIns="54864" tIns="18288" rIns="54864" bIns="36576" rtlCol="0" anchor="ctr">
            <a:noAutofit/>
          </a:bodyPr>
          <a:lstStyle/>
          <a:p>
            <a:pPr algn="ctr">
              <a:lnSpc>
                <a:spcPct val="100000"/>
              </a:lnSpc>
              <a:buNone/>
            </a:pPr>
            <a:r>
              <a:rPr lang="ja-JP" altLang="en-US" sz="2200" b="1" dirty="0">
                <a:solidFill>
                  <a:srgbClr val="FFFFFF"/>
                </a:solidFill>
                <a:latin typeface="メイリオ" panose="020B0604030504040204" pitchFamily="50" charset="-128"/>
                <a:ea typeface="メイリオ" panose="020B0604030504040204" pitchFamily="50" charset="-128"/>
              </a:rPr>
              <a:t>プラン②</a:t>
            </a:r>
            <a:endParaRPr lang="ja-JP" altLang="en-US" sz="2200" dirty="0"/>
          </a:p>
          <a:p>
            <a:pPr algn="ctr">
              <a:lnSpc>
                <a:spcPct val="100000"/>
              </a:lnSpc>
              <a:buNone/>
            </a:pPr>
            <a:r>
              <a:rPr lang="ja-JP" altLang="en-US" sz="1150" b="0" dirty="0">
                <a:solidFill>
                  <a:srgbClr val="FFFFFF"/>
                </a:solidFill>
                <a:latin typeface="メイリオ" panose="020B0604030504040204" pitchFamily="50" charset="-128"/>
                <a:ea typeface="メイリオ" panose="020B0604030504040204" pitchFamily="50" charset="-128"/>
              </a:rPr>
              <a:t>構築＋新しい友だちを増やす</a:t>
            </a:r>
            <a:endParaRPr lang="ja-JP" altLang="en-US" sz="2200" dirty="0"/>
          </a:p>
        </p:txBody>
      </p:sp>
      <p:sp>
        <p:nvSpPr>
          <p:cNvPr id="18" name="Rounded Rectangle 17"/>
          <p:cNvSpPr/>
          <p:nvPr/>
        </p:nvSpPr>
        <p:spPr>
          <a:xfrm>
            <a:off x="3511296" y="2560320"/>
            <a:ext cx="2880360" cy="2377440"/>
          </a:xfrm>
          <a:prstGeom prst="roundRect">
            <a:avLst>
              <a:gd name="adj" fmla="val 5000"/>
            </a:avLst>
          </a:prstGeom>
          <a:solidFill>
            <a:srgbClr val="FFFFFF"/>
          </a:solidFill>
          <a:ln w="9525">
            <a:solidFill>
              <a:srgbClr val="D9D9D9"/>
            </a:solidFill>
          </a:ln>
        </p:spPr>
        <p:txBody>
          <a:bodyPr wrap="square" lIns="73152" tIns="36576" rIns="73152" bIns="36576" rtlCol="0" anchor="ctr">
            <a:noAutofit/>
          </a:bodyPr>
          <a:lstStyle/>
          <a:p>
            <a:pPr algn="l">
              <a:buNone/>
            </a:pPr>
            <a:endParaRPr lang="ja-JP" altLang="en-US" sz="1200" dirty="0"/>
          </a:p>
        </p:txBody>
      </p:sp>
      <p:sp>
        <p:nvSpPr>
          <p:cNvPr id="19" name="Rectangle 18"/>
          <p:cNvSpPr/>
          <p:nvPr/>
        </p:nvSpPr>
        <p:spPr>
          <a:xfrm>
            <a:off x="3675887" y="2743200"/>
            <a:ext cx="2587752" cy="2103120"/>
          </a:xfrm>
          <a:prstGeom prst="rect">
            <a:avLst/>
          </a:prstGeom>
          <a:noFill/>
          <a:ln>
            <a:noFill/>
          </a:ln>
        </p:spPr>
        <p:txBody>
          <a:bodyPr wrap="square" lIns="0" tIns="0" rIns="0" bIns="0" rtlCol="0" anchor="t">
            <a:noAutofit/>
          </a:bodyPr>
          <a:lstStyle/>
          <a:p>
            <a:pPr marL="146304" indent="-146304" algn="l">
              <a:lnSpc>
                <a:spcPct val="115000"/>
              </a:lnSpc>
              <a:spcAft>
                <a:spcPts val="600"/>
              </a:spcAft>
              <a:buNone/>
            </a:pPr>
            <a:r>
              <a:rPr lang="ja-JP" altLang="en-US" sz="1400" b="0" dirty="0">
                <a:solidFill>
                  <a:srgbClr val="333333"/>
                </a:solidFill>
                <a:latin typeface="メイリオ" panose="020B0604030504040204" pitchFamily="50" charset="-128"/>
                <a:ea typeface="メイリオ" panose="020B0604030504040204" pitchFamily="50" charset="-128"/>
              </a:rPr>
              <a:t>・初期構築</a:t>
            </a:r>
            <a:endParaRPr lang="ja-JP" altLang="en-US" sz="1400" dirty="0"/>
          </a:p>
          <a:p>
            <a:pPr marL="146304" indent="-146304" algn="l">
              <a:lnSpc>
                <a:spcPct val="115000"/>
              </a:lnSpc>
              <a:spcAft>
                <a:spcPts val="600"/>
              </a:spcAft>
              <a:buNone/>
            </a:pPr>
            <a:r>
              <a:rPr lang="ja-JP" altLang="en-US" sz="1400" b="0" dirty="0">
                <a:solidFill>
                  <a:srgbClr val="333333"/>
                </a:solidFill>
                <a:latin typeface="メイリオ" panose="020B0604030504040204" pitchFamily="50" charset="-128"/>
                <a:ea typeface="メイリオ" panose="020B0604030504040204" pitchFamily="50" charset="-128"/>
              </a:rPr>
              <a:t>・企画投稿 月1〜2本</a:t>
            </a:r>
            <a:endParaRPr lang="ja-JP" altLang="en-US" sz="1400" dirty="0"/>
          </a:p>
          <a:p>
            <a:pPr marL="146304" indent="-146304" algn="l">
              <a:lnSpc>
                <a:spcPct val="115000"/>
              </a:lnSpc>
              <a:spcAft>
                <a:spcPts val="600"/>
              </a:spcAft>
              <a:buNone/>
            </a:pPr>
            <a:r>
              <a:rPr lang="ja-JP" altLang="en-US" sz="1400" b="0" dirty="0">
                <a:solidFill>
                  <a:srgbClr val="333333"/>
                </a:solidFill>
                <a:latin typeface="メイリオ" panose="020B0604030504040204" pitchFamily="50" charset="-128"/>
                <a:ea typeface="メイリオ" panose="020B0604030504040204" pitchFamily="50" charset="-128"/>
              </a:rPr>
              <a:t>・新しい友だちを増やすツール・機能の導入</a:t>
            </a:r>
            <a:endParaRPr lang="ja-JP" altLang="en-US" sz="1400" dirty="0"/>
          </a:p>
          <a:p>
            <a:pPr marL="146304" indent="-146304" algn="l">
              <a:lnSpc>
                <a:spcPct val="115000"/>
              </a:lnSpc>
              <a:spcAft>
                <a:spcPts val="600"/>
              </a:spcAft>
              <a:buNone/>
            </a:pPr>
            <a:r>
              <a:rPr lang="ja-JP" altLang="en-US" sz="1200" b="0" dirty="0">
                <a:solidFill>
                  <a:srgbClr val="7F7F7F"/>
                </a:solidFill>
                <a:latin typeface="メイリオ" panose="020B0604030504040204" pitchFamily="50" charset="-128"/>
                <a:ea typeface="メイリオ" panose="020B0604030504040204" pitchFamily="50" charset="-128"/>
              </a:rPr>
              <a:t>・例：離脱防止ポップアップ</a:t>
            </a:r>
            <a:endParaRPr lang="ja-JP" altLang="en-US" sz="1400" dirty="0"/>
          </a:p>
        </p:txBody>
      </p:sp>
      <p:sp>
        <p:nvSpPr>
          <p:cNvPr id="20" name="Rounded Rectangle 19"/>
          <p:cNvSpPr/>
          <p:nvPr/>
        </p:nvSpPr>
        <p:spPr>
          <a:xfrm>
            <a:off x="3511296" y="5029200"/>
            <a:ext cx="2880360" cy="777240"/>
          </a:xfrm>
          <a:prstGeom prst="roundRect">
            <a:avLst>
              <a:gd name="adj" fmla="val 12000"/>
            </a:avLst>
          </a:prstGeom>
          <a:solidFill>
            <a:srgbClr val="F4F7FF"/>
          </a:solidFill>
          <a:ln w="9525">
            <a:solidFill>
              <a:srgbClr val="D9D9D9"/>
            </a:solidFill>
          </a:ln>
        </p:spPr>
        <p:txBody>
          <a:bodyPr wrap="square" lIns="36576" tIns="18288" rIns="36576" bIns="18288" rtlCol="0" anchor="ctr">
            <a:noAutofit/>
          </a:bodyPr>
          <a:lstStyle/>
          <a:p>
            <a:pPr algn="ctr">
              <a:lnSpc>
                <a:spcPct val="105000"/>
              </a:lnSpc>
              <a:buNone/>
            </a:pPr>
            <a:r>
              <a:rPr lang="ja-JP" altLang="en-US" sz="1700" b="1" dirty="0">
                <a:solidFill>
                  <a:srgbClr val="1F285A"/>
                </a:solidFill>
                <a:latin typeface="メイリオ" panose="020B0604030504040204" pitchFamily="50" charset="-128"/>
                <a:ea typeface="メイリオ" panose="020B0604030504040204" pitchFamily="50" charset="-128"/>
              </a:rPr>
              <a:t>月額 5万円〜</a:t>
            </a:r>
            <a:endParaRPr lang="ja-JP" altLang="en-US" sz="1700" dirty="0"/>
          </a:p>
          <a:p>
            <a:pPr algn="ctr">
              <a:lnSpc>
                <a:spcPct val="105000"/>
              </a:lnSpc>
              <a:buNone/>
            </a:pPr>
            <a:r>
              <a:rPr lang="ja-JP" altLang="en-US" sz="1150" b="0" dirty="0">
                <a:solidFill>
                  <a:srgbClr val="1F285A"/>
                </a:solidFill>
                <a:latin typeface="メイリオ" panose="020B0604030504040204" pitchFamily="50" charset="-128"/>
                <a:ea typeface="メイリオ" panose="020B0604030504040204" pitchFamily="50" charset="-128"/>
              </a:rPr>
              <a:t>初期費用 5万円〜</a:t>
            </a:r>
            <a:endParaRPr lang="ja-JP" altLang="en-US" sz="1700" dirty="0"/>
          </a:p>
        </p:txBody>
      </p:sp>
      <p:sp>
        <p:nvSpPr>
          <p:cNvPr id="21" name="Rounded Rectangle 20"/>
          <p:cNvSpPr/>
          <p:nvPr/>
        </p:nvSpPr>
        <p:spPr>
          <a:xfrm>
            <a:off x="6592824" y="1600200"/>
            <a:ext cx="2880360" cy="868680"/>
          </a:xfrm>
          <a:prstGeom prst="roundRect">
            <a:avLst>
              <a:gd name="adj" fmla="val 10000"/>
            </a:avLst>
          </a:prstGeom>
          <a:solidFill>
            <a:srgbClr val="C9D3E6"/>
          </a:solidFill>
          <a:ln>
            <a:noFill/>
          </a:ln>
        </p:spPr>
        <p:txBody>
          <a:bodyPr wrap="square" lIns="54864" tIns="18288" rIns="54864" bIns="36576" rtlCol="0" anchor="ctr">
            <a:noAutofit/>
          </a:bodyPr>
          <a:lstStyle/>
          <a:p>
            <a:pPr algn="ctr">
              <a:lnSpc>
                <a:spcPct val="100000"/>
              </a:lnSpc>
              <a:buNone/>
            </a:pPr>
            <a:r>
              <a:rPr lang="ja-JP" altLang="en-US" sz="2200" b="1" dirty="0">
                <a:solidFill>
                  <a:srgbClr val="1F285A"/>
                </a:solidFill>
                <a:latin typeface="メイリオ" panose="020B0604030504040204" pitchFamily="50" charset="-128"/>
                <a:ea typeface="メイリオ" panose="020B0604030504040204" pitchFamily="50" charset="-128"/>
              </a:rPr>
              <a:t>プラン③</a:t>
            </a:r>
            <a:endParaRPr lang="ja-JP" altLang="en-US" sz="2200" dirty="0"/>
          </a:p>
          <a:p>
            <a:pPr algn="ctr">
              <a:lnSpc>
                <a:spcPct val="100000"/>
              </a:lnSpc>
              <a:buNone/>
            </a:pPr>
            <a:r>
              <a:rPr lang="ja-JP" altLang="en-US" sz="1150" b="0" dirty="0">
                <a:solidFill>
                  <a:srgbClr val="1F285A"/>
                </a:solidFill>
                <a:latin typeface="メイリオ" panose="020B0604030504040204" pitchFamily="50" charset="-128"/>
                <a:ea typeface="メイリオ" panose="020B0604030504040204" pitchFamily="50" charset="-128"/>
              </a:rPr>
              <a:t>ツールの導入を支援</a:t>
            </a:r>
            <a:endParaRPr lang="ja-JP" altLang="en-US" sz="2200" dirty="0"/>
          </a:p>
        </p:txBody>
      </p:sp>
      <p:sp>
        <p:nvSpPr>
          <p:cNvPr id="22" name="Rounded Rectangle 21"/>
          <p:cNvSpPr/>
          <p:nvPr/>
        </p:nvSpPr>
        <p:spPr>
          <a:xfrm>
            <a:off x="6592824" y="2560320"/>
            <a:ext cx="2880360" cy="2377440"/>
          </a:xfrm>
          <a:prstGeom prst="roundRect">
            <a:avLst>
              <a:gd name="adj" fmla="val 5000"/>
            </a:avLst>
          </a:prstGeom>
          <a:solidFill>
            <a:srgbClr val="FFFFFF"/>
          </a:solidFill>
          <a:ln w="9525">
            <a:solidFill>
              <a:srgbClr val="D9D9D9"/>
            </a:solidFill>
          </a:ln>
        </p:spPr>
        <p:txBody>
          <a:bodyPr wrap="square" lIns="73152" tIns="36576" rIns="73152" bIns="36576" rtlCol="0" anchor="ctr">
            <a:noAutofit/>
          </a:bodyPr>
          <a:lstStyle/>
          <a:p>
            <a:pPr algn="l">
              <a:buNone/>
            </a:pPr>
            <a:endParaRPr lang="ja-JP" altLang="en-US" sz="1200" dirty="0"/>
          </a:p>
        </p:txBody>
      </p:sp>
      <p:sp>
        <p:nvSpPr>
          <p:cNvPr id="23" name="Rectangle 22"/>
          <p:cNvSpPr/>
          <p:nvPr/>
        </p:nvSpPr>
        <p:spPr>
          <a:xfrm>
            <a:off x="6757416" y="2743200"/>
            <a:ext cx="2587752" cy="2103120"/>
          </a:xfrm>
          <a:prstGeom prst="rect">
            <a:avLst/>
          </a:prstGeom>
          <a:noFill/>
          <a:ln>
            <a:noFill/>
          </a:ln>
        </p:spPr>
        <p:txBody>
          <a:bodyPr wrap="square" lIns="0" tIns="0" rIns="0" bIns="0" rtlCol="0" anchor="t">
            <a:noAutofit/>
          </a:bodyPr>
          <a:lstStyle/>
          <a:p>
            <a:pPr marL="146304" indent="-146304" algn="l">
              <a:lnSpc>
                <a:spcPct val="115000"/>
              </a:lnSpc>
              <a:spcAft>
                <a:spcPts val="600"/>
              </a:spcAft>
              <a:buNone/>
            </a:pPr>
            <a:r>
              <a:rPr lang="ja-JP" altLang="en-US" sz="1400" b="0" dirty="0">
                <a:solidFill>
                  <a:srgbClr val="333333"/>
                </a:solidFill>
                <a:latin typeface="メイリオ" panose="020B0604030504040204" pitchFamily="50" charset="-128"/>
                <a:ea typeface="メイリオ" panose="020B0604030504040204" pitchFamily="50" charset="-128"/>
              </a:rPr>
              <a:t>・ツールの導入支援</a:t>
            </a:r>
            <a:endParaRPr lang="ja-JP" altLang="en-US" sz="1400" dirty="0"/>
          </a:p>
          <a:p>
            <a:pPr marL="146304" indent="-146304" algn="l">
              <a:lnSpc>
                <a:spcPct val="115000"/>
              </a:lnSpc>
              <a:spcAft>
                <a:spcPts val="600"/>
              </a:spcAft>
              <a:buNone/>
            </a:pPr>
            <a:r>
              <a:rPr lang="ja-JP" altLang="en-US" sz="1200" b="0" dirty="0">
                <a:solidFill>
                  <a:srgbClr val="7F7F7F"/>
                </a:solidFill>
                <a:latin typeface="メイリオ" panose="020B0604030504040204" pitchFamily="50" charset="-128"/>
                <a:ea typeface="メイリオ" panose="020B0604030504040204" pitchFamily="50" charset="-128"/>
              </a:rPr>
              <a:t>・例：サンクスLINE誘導のみ（申し込み完了画面からLINEへ）</a:t>
            </a:r>
            <a:endParaRPr lang="ja-JP" altLang="en-US" sz="1400" dirty="0"/>
          </a:p>
          <a:p>
            <a:pPr marL="146304" indent="-146304" algn="l">
              <a:lnSpc>
                <a:spcPct val="115000"/>
              </a:lnSpc>
              <a:spcAft>
                <a:spcPts val="600"/>
              </a:spcAft>
              <a:buNone/>
            </a:pPr>
            <a:r>
              <a:rPr lang="ja-JP" altLang="en-US" sz="1400" b="0" dirty="0">
                <a:solidFill>
                  <a:srgbClr val="333333"/>
                </a:solidFill>
                <a:latin typeface="メイリオ" panose="020B0604030504040204" pitchFamily="50" charset="-128"/>
                <a:ea typeface="メイリオ" panose="020B0604030504040204" pitchFamily="50" charset="-128"/>
              </a:rPr>
              <a:t>・初期構築</a:t>
            </a:r>
            <a:endParaRPr lang="ja-JP" altLang="en-US" sz="1400" dirty="0"/>
          </a:p>
        </p:txBody>
      </p:sp>
      <p:sp>
        <p:nvSpPr>
          <p:cNvPr id="24" name="Rounded Rectangle 23"/>
          <p:cNvSpPr/>
          <p:nvPr/>
        </p:nvSpPr>
        <p:spPr>
          <a:xfrm>
            <a:off x="6592824" y="5029200"/>
            <a:ext cx="2880360" cy="777240"/>
          </a:xfrm>
          <a:prstGeom prst="roundRect">
            <a:avLst>
              <a:gd name="adj" fmla="val 12000"/>
            </a:avLst>
          </a:prstGeom>
          <a:solidFill>
            <a:srgbClr val="F4F7FF"/>
          </a:solidFill>
          <a:ln w="9525">
            <a:solidFill>
              <a:srgbClr val="D9D9D9"/>
            </a:solidFill>
          </a:ln>
        </p:spPr>
        <p:txBody>
          <a:bodyPr wrap="square" lIns="36576" tIns="18288" rIns="36576" bIns="18288" rtlCol="0" anchor="ctr">
            <a:noAutofit/>
          </a:bodyPr>
          <a:lstStyle/>
          <a:p>
            <a:pPr algn="ctr">
              <a:lnSpc>
                <a:spcPct val="105000"/>
              </a:lnSpc>
              <a:buNone/>
            </a:pPr>
            <a:r>
              <a:rPr lang="ja-JP" altLang="en-US" sz="1700" b="1" dirty="0">
                <a:solidFill>
                  <a:srgbClr val="1F285A"/>
                </a:solidFill>
                <a:latin typeface="メイリオ" panose="020B0604030504040204" pitchFamily="50" charset="-128"/>
                <a:ea typeface="メイリオ" panose="020B0604030504040204" pitchFamily="50" charset="-128"/>
              </a:rPr>
              <a:t>月額 0円〜</a:t>
            </a:r>
            <a:endParaRPr lang="ja-JP" altLang="en-US" sz="1700" dirty="0"/>
          </a:p>
          <a:p>
            <a:pPr algn="ctr">
              <a:lnSpc>
                <a:spcPct val="105000"/>
              </a:lnSpc>
              <a:buNone/>
            </a:pPr>
            <a:r>
              <a:rPr lang="ja-JP" altLang="en-US" sz="1150" b="0" dirty="0">
                <a:solidFill>
                  <a:srgbClr val="1F285A"/>
                </a:solidFill>
                <a:latin typeface="メイリオ" panose="020B0604030504040204" pitchFamily="50" charset="-128"/>
                <a:ea typeface="メイリオ" panose="020B0604030504040204" pitchFamily="50" charset="-128"/>
              </a:rPr>
              <a:t>初期費用 10万円〜</a:t>
            </a:r>
            <a:endParaRPr lang="ja-JP" altLang="en-US" sz="1700" dirty="0"/>
          </a:p>
        </p:txBody>
      </p:sp>
    </p:spTree>
    <p:extLst>
      <p:ext uri="{BB962C8B-B14F-4D97-AF65-F5344CB8AC3E}">
        <p14:creationId xmlns:p14="http://schemas.microsoft.com/office/powerpoint/2010/main" val="321104687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2CDB2C5-43E4-382E-3F0A-0B0F5E9FBB44}"/>
            </a:ext>
          </a:extLst>
        </p:cNvPr>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ご提供プラン</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dirty="0">
                <a:solidFill>
                  <a:srgbClr val="333333"/>
                </a:solidFill>
                <a:latin typeface="メイリオ"/>
                <a:ea typeface="メイリオ"/>
                <a:cs typeface="メイリオ"/>
              </a:rPr>
              <a:t>ご予算と最大の課題に合わせて、3つのプランからお選びいただけます。</a:t>
            </a:r>
            <a:endParaRPr lang="en-US" sz="1200" dirty="0">
              <a:solidFill>
                <a:srgbClr val="333333"/>
              </a:solidFill>
              <a:latin typeface="メイリオ"/>
              <a:ea typeface="メイリオ"/>
              <a:cs typeface="メイリオ"/>
            </a:endParaRPr>
          </a:p>
          <a:p>
            <a:pPr algn="l">
              <a:lnSpc>
                <a:spcPct val="128000"/>
              </a:lnSpc>
            </a:pPr>
            <a:r>
              <a:rPr sz="1200" dirty="0">
                <a:solidFill>
                  <a:srgbClr val="333333"/>
                </a:solidFill>
                <a:latin typeface="メイリオ"/>
                <a:ea typeface="メイリオ"/>
                <a:cs typeface="メイリオ"/>
              </a:rPr>
              <a:t>いずれも6か月〜の契約・税抜。開発やツール導入の場合は別途費用が発生します。</a:t>
            </a:r>
            <a:endParaRPr lang="en-US" sz="1200" dirty="0">
              <a:solidFill>
                <a:srgbClr val="333333"/>
              </a:solidFill>
              <a:latin typeface="メイリオ"/>
              <a:ea typeface="メイリオ"/>
              <a:cs typeface="メイリオ"/>
            </a:endParaRP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Pentagon 4"/>
          <p:cNvSpPr/>
          <p:nvPr/>
        </p:nvSpPr>
        <p:spPr>
          <a:xfrm>
            <a:off x="432000" y="590400"/>
            <a:ext cx="1111500" cy="180000"/>
          </a:xfrm>
          <a:prstGeom prst="homePlate">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①接触</a:t>
            </a:r>
          </a:p>
        </p:txBody>
      </p:sp>
      <p:sp>
        <p:nvSpPr>
          <p:cNvPr id="6" name="Chevron 5"/>
          <p:cNvSpPr/>
          <p:nvPr/>
        </p:nvSpPr>
        <p:spPr>
          <a:xfrm>
            <a:off x="15651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②離脱</a:t>
            </a:r>
          </a:p>
        </p:txBody>
      </p:sp>
      <p:sp>
        <p:nvSpPr>
          <p:cNvPr id="7" name="Chevron 6"/>
          <p:cNvSpPr/>
          <p:nvPr/>
        </p:nvSpPr>
        <p:spPr>
          <a:xfrm>
            <a:off x="26982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③育成</a:t>
            </a:r>
          </a:p>
        </p:txBody>
      </p:sp>
      <p:sp>
        <p:nvSpPr>
          <p:cNvPr id="8" name="Chevron 7"/>
          <p:cNvSpPr/>
          <p:nvPr/>
        </p:nvSpPr>
        <p:spPr>
          <a:xfrm>
            <a:off x="38312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④リード獲得</a:t>
            </a:r>
          </a:p>
        </p:txBody>
      </p:sp>
      <p:sp>
        <p:nvSpPr>
          <p:cNvPr id="9" name="Chevron 8"/>
          <p:cNvSpPr/>
          <p:nvPr/>
        </p:nvSpPr>
        <p:spPr>
          <a:xfrm>
            <a:off x="49644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⑤リード有効化</a:t>
            </a:r>
          </a:p>
        </p:txBody>
      </p:sp>
      <p:sp>
        <p:nvSpPr>
          <p:cNvPr id="10" name="Chevron 9"/>
          <p:cNvSpPr/>
          <p:nvPr/>
        </p:nvSpPr>
        <p:spPr>
          <a:xfrm>
            <a:off x="60975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⑥再育成</a:t>
            </a:r>
          </a:p>
        </p:txBody>
      </p:sp>
      <p:sp>
        <p:nvSpPr>
          <p:cNvPr id="11" name="Chevron 10"/>
          <p:cNvSpPr/>
          <p:nvPr/>
        </p:nvSpPr>
        <p:spPr>
          <a:xfrm>
            <a:off x="72305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⑦入会（契約）</a:t>
            </a:r>
          </a:p>
        </p:txBody>
      </p:sp>
      <p:sp>
        <p:nvSpPr>
          <p:cNvPr id="12" name="Chevron 11"/>
          <p:cNvSpPr/>
          <p:nvPr/>
        </p:nvSpPr>
        <p:spPr>
          <a:xfrm>
            <a:off x="83636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⑧紹介</a:t>
            </a:r>
          </a:p>
        </p:txBody>
      </p:sp>
      <p:sp>
        <p:nvSpPr>
          <p:cNvPr id="13" name="Rounded Rectangle 12"/>
          <p:cNvSpPr/>
          <p:nvPr/>
        </p:nvSpPr>
        <p:spPr>
          <a:xfrm>
            <a:off x="429768" y="1600200"/>
            <a:ext cx="2880360" cy="868680"/>
          </a:xfrm>
          <a:prstGeom prst="roundRect">
            <a:avLst>
              <a:gd name="adj" fmla="val 10000"/>
            </a:avLst>
          </a:prstGeom>
          <a:solidFill>
            <a:srgbClr val="1F285A"/>
          </a:solidFill>
          <a:ln>
            <a:noFill/>
          </a:ln>
        </p:spPr>
        <p:txBody>
          <a:bodyPr wrap="square" lIns="54864" tIns="18288" rIns="54864" bIns="36576" rtlCol="0" anchor="ctr">
            <a:noAutofit/>
          </a:bodyPr>
          <a:lstStyle/>
          <a:p>
            <a:pPr algn="ctr">
              <a:lnSpc>
                <a:spcPct val="100000"/>
              </a:lnSpc>
              <a:buNone/>
            </a:pPr>
            <a:r>
              <a:rPr lang="ja-JP" altLang="en-US" sz="2200" b="1" dirty="0">
                <a:solidFill>
                  <a:srgbClr val="FFFFFF"/>
                </a:solidFill>
                <a:latin typeface="メイリオ" panose="020B0604030504040204" pitchFamily="50" charset="-128"/>
                <a:ea typeface="メイリオ" panose="020B0604030504040204" pitchFamily="50" charset="-128"/>
              </a:rPr>
              <a:t>プラン①</a:t>
            </a:r>
            <a:endParaRPr lang="ja-JP" altLang="en-US" sz="2200" dirty="0"/>
          </a:p>
          <a:p>
            <a:pPr algn="ctr">
              <a:lnSpc>
                <a:spcPct val="100000"/>
              </a:lnSpc>
              <a:buNone/>
            </a:pPr>
            <a:r>
              <a:rPr lang="ja-JP" altLang="en-US" sz="1150" b="0" dirty="0">
                <a:solidFill>
                  <a:srgbClr val="FFFFFF"/>
                </a:solidFill>
                <a:latin typeface="メイリオ" panose="020B0604030504040204" pitchFamily="50" charset="-128"/>
                <a:ea typeface="メイリオ" panose="020B0604030504040204" pitchFamily="50" charset="-128"/>
              </a:rPr>
              <a:t>最適運用プラン（開発を含む）</a:t>
            </a:r>
            <a:endParaRPr lang="ja-JP" altLang="en-US" sz="2200" dirty="0"/>
          </a:p>
        </p:txBody>
      </p:sp>
      <p:sp>
        <p:nvSpPr>
          <p:cNvPr id="14" name="Rounded Rectangle 13"/>
          <p:cNvSpPr/>
          <p:nvPr/>
        </p:nvSpPr>
        <p:spPr>
          <a:xfrm>
            <a:off x="429768" y="2560320"/>
            <a:ext cx="2880360" cy="2377440"/>
          </a:xfrm>
          <a:prstGeom prst="roundRect">
            <a:avLst>
              <a:gd name="adj" fmla="val 5000"/>
            </a:avLst>
          </a:prstGeom>
          <a:solidFill>
            <a:srgbClr val="FFFFFF"/>
          </a:solidFill>
          <a:ln w="9525">
            <a:solidFill>
              <a:srgbClr val="D9D9D9"/>
            </a:solidFill>
          </a:ln>
        </p:spPr>
        <p:txBody>
          <a:bodyPr wrap="square" lIns="73152" tIns="36576" rIns="73152" bIns="36576" rtlCol="0" anchor="ctr">
            <a:noAutofit/>
          </a:bodyPr>
          <a:lstStyle/>
          <a:p>
            <a:pPr algn="l">
              <a:buNone/>
            </a:pPr>
            <a:endParaRPr lang="ja-JP" altLang="en-US" sz="1200" dirty="0"/>
          </a:p>
        </p:txBody>
      </p:sp>
      <p:sp>
        <p:nvSpPr>
          <p:cNvPr id="15" name="Rectangle 14"/>
          <p:cNvSpPr/>
          <p:nvPr/>
        </p:nvSpPr>
        <p:spPr>
          <a:xfrm>
            <a:off x="594359" y="2743200"/>
            <a:ext cx="2587752" cy="2103120"/>
          </a:xfrm>
          <a:prstGeom prst="rect">
            <a:avLst/>
          </a:prstGeom>
          <a:noFill/>
          <a:ln>
            <a:noFill/>
          </a:ln>
        </p:spPr>
        <p:txBody>
          <a:bodyPr wrap="square" lIns="0" tIns="0" rIns="0" bIns="0" rtlCol="0" anchor="t">
            <a:noAutofit/>
          </a:bodyPr>
          <a:lstStyle/>
          <a:p>
            <a:pPr marL="146304" indent="-146304" algn="l">
              <a:lnSpc>
                <a:spcPct val="115000"/>
              </a:lnSpc>
              <a:spcAft>
                <a:spcPts val="600"/>
              </a:spcAft>
              <a:buNone/>
            </a:pPr>
            <a:r>
              <a:rPr lang="ja-JP" altLang="en-US" sz="1300" b="0" dirty="0">
                <a:solidFill>
                  <a:srgbClr val="333333"/>
                </a:solidFill>
                <a:latin typeface="メイリオ" panose="020B0604030504040204" pitchFamily="50" charset="-128"/>
                <a:ea typeface="メイリオ" panose="020B0604030504040204" pitchFamily="50" charset="-128"/>
              </a:rPr>
              <a:t>・開発を含むプラン</a:t>
            </a:r>
            <a:endParaRPr lang="ja-JP" altLang="en-US" sz="1300" dirty="0"/>
          </a:p>
          <a:p>
            <a:pPr marL="146304" indent="-146304" algn="l">
              <a:lnSpc>
                <a:spcPct val="115000"/>
              </a:lnSpc>
              <a:spcAft>
                <a:spcPts val="600"/>
              </a:spcAft>
              <a:buNone/>
            </a:pPr>
            <a:r>
              <a:rPr lang="ja-JP" altLang="en-US" sz="1300" b="0" dirty="0">
                <a:solidFill>
                  <a:srgbClr val="333333"/>
                </a:solidFill>
                <a:latin typeface="メイリオ" panose="020B0604030504040204" pitchFamily="50" charset="-128"/>
                <a:ea typeface="メイリオ" panose="020B0604030504040204" pitchFamily="50" charset="-128"/>
              </a:rPr>
              <a:t>・Hachidoriなどのツールと連携</a:t>
            </a:r>
            <a:endParaRPr lang="ja-JP" altLang="en-US" sz="1300" dirty="0"/>
          </a:p>
          <a:p>
            <a:pPr marL="146304" indent="-146304" algn="l">
              <a:lnSpc>
                <a:spcPct val="115000"/>
              </a:lnSpc>
              <a:spcAft>
                <a:spcPts val="600"/>
              </a:spcAft>
              <a:buNone/>
            </a:pPr>
            <a:r>
              <a:rPr lang="ja-JP" altLang="en-US" sz="1300" b="0" dirty="0">
                <a:solidFill>
                  <a:srgbClr val="333333"/>
                </a:solidFill>
                <a:latin typeface="メイリオ" panose="020B0604030504040204" pitchFamily="50" charset="-128"/>
                <a:ea typeface="メイリオ" panose="020B0604030504040204" pitchFamily="50" charset="-128"/>
              </a:rPr>
              <a:t>・貴塾に合わせた最適な運用</a:t>
            </a:r>
            <a:endParaRPr lang="ja-JP" altLang="en-US" sz="1300" dirty="0"/>
          </a:p>
        </p:txBody>
      </p:sp>
      <p:sp>
        <p:nvSpPr>
          <p:cNvPr id="16" name="Rounded Rectangle 15"/>
          <p:cNvSpPr/>
          <p:nvPr/>
        </p:nvSpPr>
        <p:spPr>
          <a:xfrm>
            <a:off x="429768" y="5029200"/>
            <a:ext cx="2880360" cy="777240"/>
          </a:xfrm>
          <a:prstGeom prst="roundRect">
            <a:avLst>
              <a:gd name="adj" fmla="val 12000"/>
            </a:avLst>
          </a:prstGeom>
          <a:solidFill>
            <a:srgbClr val="F4F7FF"/>
          </a:solidFill>
          <a:ln w="9525">
            <a:solidFill>
              <a:srgbClr val="D9D9D9"/>
            </a:solidFill>
          </a:ln>
        </p:spPr>
        <p:txBody>
          <a:bodyPr wrap="square" lIns="36576" tIns="18288" rIns="36576" bIns="18288" rtlCol="0" anchor="ctr">
            <a:noAutofit/>
          </a:bodyPr>
          <a:lstStyle/>
          <a:p>
            <a:pPr algn="ctr">
              <a:lnSpc>
                <a:spcPct val="105000"/>
              </a:lnSpc>
              <a:buNone/>
            </a:pPr>
            <a:r>
              <a:rPr lang="ja-JP" altLang="en-US" sz="1700" b="1" dirty="0">
                <a:solidFill>
                  <a:srgbClr val="1F285A"/>
                </a:solidFill>
                <a:latin typeface="メイリオ" panose="020B0604030504040204" pitchFamily="50" charset="-128"/>
                <a:ea typeface="メイリオ" panose="020B0604030504040204" pitchFamily="50" charset="-128"/>
              </a:rPr>
              <a:t>月額 50万円〜</a:t>
            </a:r>
            <a:endParaRPr lang="ja-JP" altLang="en-US" sz="1700" dirty="0"/>
          </a:p>
          <a:p>
            <a:pPr algn="ctr">
              <a:lnSpc>
                <a:spcPct val="105000"/>
              </a:lnSpc>
              <a:buNone/>
            </a:pPr>
            <a:r>
              <a:rPr lang="ja-JP" altLang="en-US" sz="1150" b="0" dirty="0">
                <a:solidFill>
                  <a:srgbClr val="1F285A"/>
                </a:solidFill>
                <a:latin typeface="メイリオ" panose="020B0604030504040204" pitchFamily="50" charset="-128"/>
                <a:ea typeface="メイリオ" panose="020B0604030504040204" pitchFamily="50" charset="-128"/>
              </a:rPr>
              <a:t>初期費用 30万円〜</a:t>
            </a:r>
            <a:endParaRPr lang="ja-JP" altLang="en-US" sz="1700" dirty="0"/>
          </a:p>
        </p:txBody>
      </p:sp>
      <p:sp>
        <p:nvSpPr>
          <p:cNvPr id="17" name="Rounded Rectangle 16"/>
          <p:cNvSpPr/>
          <p:nvPr/>
        </p:nvSpPr>
        <p:spPr>
          <a:xfrm>
            <a:off x="3511296" y="1600200"/>
            <a:ext cx="2880360" cy="868680"/>
          </a:xfrm>
          <a:prstGeom prst="roundRect">
            <a:avLst>
              <a:gd name="adj" fmla="val 10000"/>
            </a:avLst>
          </a:prstGeom>
          <a:solidFill>
            <a:srgbClr val="3E5B9A"/>
          </a:solidFill>
          <a:ln>
            <a:noFill/>
          </a:ln>
        </p:spPr>
        <p:txBody>
          <a:bodyPr wrap="square" lIns="54864" tIns="18288" rIns="54864" bIns="36576" rtlCol="0" anchor="ctr">
            <a:noAutofit/>
          </a:bodyPr>
          <a:lstStyle/>
          <a:p>
            <a:pPr algn="ctr">
              <a:lnSpc>
                <a:spcPct val="100000"/>
              </a:lnSpc>
              <a:buNone/>
            </a:pPr>
            <a:r>
              <a:rPr lang="ja-JP" altLang="en-US" sz="2200" b="1" dirty="0">
                <a:solidFill>
                  <a:srgbClr val="FFFFFF"/>
                </a:solidFill>
                <a:latin typeface="メイリオ" panose="020B0604030504040204" pitchFamily="50" charset="-128"/>
                <a:ea typeface="メイリオ" panose="020B0604030504040204" pitchFamily="50" charset="-128"/>
              </a:rPr>
              <a:t>プラン②</a:t>
            </a:r>
            <a:endParaRPr lang="ja-JP" altLang="en-US" sz="2200" dirty="0"/>
          </a:p>
          <a:p>
            <a:pPr algn="ctr">
              <a:lnSpc>
                <a:spcPct val="100000"/>
              </a:lnSpc>
              <a:buNone/>
            </a:pPr>
            <a:r>
              <a:rPr lang="ja-JP" altLang="en-US" sz="1150" b="0" dirty="0">
                <a:solidFill>
                  <a:srgbClr val="FFFFFF"/>
                </a:solidFill>
                <a:latin typeface="メイリオ" panose="020B0604030504040204" pitchFamily="50" charset="-128"/>
                <a:ea typeface="メイリオ" panose="020B0604030504040204" pitchFamily="50" charset="-128"/>
              </a:rPr>
              <a:t>構築から配信の運用まで</a:t>
            </a:r>
            <a:endParaRPr lang="ja-JP" altLang="en-US" sz="2200" dirty="0"/>
          </a:p>
        </p:txBody>
      </p:sp>
      <p:sp>
        <p:nvSpPr>
          <p:cNvPr id="18" name="Rounded Rectangle 17"/>
          <p:cNvSpPr/>
          <p:nvPr/>
        </p:nvSpPr>
        <p:spPr>
          <a:xfrm>
            <a:off x="3511296" y="2560320"/>
            <a:ext cx="2880360" cy="2377440"/>
          </a:xfrm>
          <a:prstGeom prst="roundRect">
            <a:avLst>
              <a:gd name="adj" fmla="val 5000"/>
            </a:avLst>
          </a:prstGeom>
          <a:solidFill>
            <a:srgbClr val="FFFFFF"/>
          </a:solidFill>
          <a:ln w="9525">
            <a:solidFill>
              <a:srgbClr val="D9D9D9"/>
            </a:solidFill>
          </a:ln>
        </p:spPr>
        <p:txBody>
          <a:bodyPr wrap="square" lIns="73152" tIns="36576" rIns="73152" bIns="36576" rtlCol="0" anchor="ctr">
            <a:noAutofit/>
          </a:bodyPr>
          <a:lstStyle/>
          <a:p>
            <a:pPr algn="l">
              <a:buNone/>
            </a:pPr>
            <a:endParaRPr lang="ja-JP" altLang="en-US" sz="1200" dirty="0"/>
          </a:p>
        </p:txBody>
      </p:sp>
      <p:sp>
        <p:nvSpPr>
          <p:cNvPr id="19" name="Rectangle 18"/>
          <p:cNvSpPr/>
          <p:nvPr/>
        </p:nvSpPr>
        <p:spPr>
          <a:xfrm>
            <a:off x="3675887" y="2743200"/>
            <a:ext cx="2587752" cy="2103120"/>
          </a:xfrm>
          <a:prstGeom prst="rect">
            <a:avLst/>
          </a:prstGeom>
          <a:noFill/>
          <a:ln>
            <a:noFill/>
          </a:ln>
        </p:spPr>
        <p:txBody>
          <a:bodyPr wrap="square" lIns="0" tIns="0" rIns="0" bIns="0" rtlCol="0" anchor="t">
            <a:noAutofit/>
          </a:bodyPr>
          <a:lstStyle/>
          <a:p>
            <a:pPr marL="146304" indent="-146304" algn="l">
              <a:lnSpc>
                <a:spcPct val="115000"/>
              </a:lnSpc>
              <a:spcAft>
                <a:spcPts val="600"/>
              </a:spcAft>
              <a:buNone/>
            </a:pPr>
            <a:r>
              <a:rPr lang="ja-JP" altLang="en-US" sz="1300" b="0" dirty="0">
                <a:solidFill>
                  <a:srgbClr val="333333"/>
                </a:solidFill>
                <a:latin typeface="メイリオ" panose="020B0604030504040204" pitchFamily="50" charset="-128"/>
                <a:ea typeface="メイリオ" panose="020B0604030504040204" pitchFamily="50" charset="-128"/>
              </a:rPr>
              <a:t>・初期構築</a:t>
            </a:r>
            <a:endParaRPr lang="ja-JP" altLang="en-US" sz="1300" dirty="0"/>
          </a:p>
          <a:p>
            <a:pPr marL="146304" indent="-146304" algn="l">
              <a:lnSpc>
                <a:spcPct val="115000"/>
              </a:lnSpc>
              <a:spcAft>
                <a:spcPts val="600"/>
              </a:spcAft>
              <a:buNone/>
            </a:pPr>
            <a:r>
              <a:rPr lang="ja-JP" altLang="en-US" sz="1300" b="0" dirty="0">
                <a:solidFill>
                  <a:srgbClr val="333333"/>
                </a:solidFill>
                <a:latin typeface="メイリオ" panose="020B0604030504040204" pitchFamily="50" charset="-128"/>
                <a:ea typeface="メイリオ" panose="020B0604030504040204" pitchFamily="50" charset="-128"/>
              </a:rPr>
              <a:t>・企画投稿 月4〜5本（週1回）</a:t>
            </a:r>
            <a:endParaRPr lang="ja-JP" altLang="en-US" sz="1300" dirty="0"/>
          </a:p>
          <a:p>
            <a:pPr marL="146304" indent="-146304" algn="l">
              <a:lnSpc>
                <a:spcPct val="115000"/>
              </a:lnSpc>
              <a:spcAft>
                <a:spcPts val="600"/>
              </a:spcAft>
              <a:buNone/>
            </a:pPr>
            <a:r>
              <a:rPr lang="ja-JP" altLang="en-US" sz="1300" b="0" dirty="0">
                <a:solidFill>
                  <a:srgbClr val="333333"/>
                </a:solidFill>
                <a:latin typeface="メイリオ" panose="020B0604030504040204" pitchFamily="50" charset="-128"/>
                <a:ea typeface="メイリオ" panose="020B0604030504040204" pitchFamily="50" charset="-128"/>
              </a:rPr>
              <a:t>・ステップ配信 10通</a:t>
            </a:r>
            <a:endParaRPr lang="ja-JP" altLang="en-US" sz="1300" dirty="0"/>
          </a:p>
        </p:txBody>
      </p:sp>
      <p:sp>
        <p:nvSpPr>
          <p:cNvPr id="20" name="Rounded Rectangle 19"/>
          <p:cNvSpPr/>
          <p:nvPr/>
        </p:nvSpPr>
        <p:spPr>
          <a:xfrm>
            <a:off x="3511296" y="5029200"/>
            <a:ext cx="2880360" cy="777240"/>
          </a:xfrm>
          <a:prstGeom prst="roundRect">
            <a:avLst>
              <a:gd name="adj" fmla="val 12000"/>
            </a:avLst>
          </a:prstGeom>
          <a:solidFill>
            <a:srgbClr val="F4F7FF"/>
          </a:solidFill>
          <a:ln w="9525">
            <a:solidFill>
              <a:srgbClr val="D9D9D9"/>
            </a:solidFill>
          </a:ln>
        </p:spPr>
        <p:txBody>
          <a:bodyPr wrap="square" lIns="36576" tIns="18288" rIns="36576" bIns="18288" rtlCol="0" anchor="ctr">
            <a:noAutofit/>
          </a:bodyPr>
          <a:lstStyle/>
          <a:p>
            <a:pPr algn="ctr">
              <a:lnSpc>
                <a:spcPct val="105000"/>
              </a:lnSpc>
              <a:buNone/>
            </a:pPr>
            <a:r>
              <a:rPr lang="ja-JP" altLang="en-US" sz="1700" b="1" dirty="0">
                <a:solidFill>
                  <a:srgbClr val="1F285A"/>
                </a:solidFill>
                <a:latin typeface="メイリオ" panose="020B0604030504040204" pitchFamily="50" charset="-128"/>
                <a:ea typeface="メイリオ" panose="020B0604030504040204" pitchFamily="50" charset="-128"/>
              </a:rPr>
              <a:t>月額 30万円〜</a:t>
            </a:r>
            <a:endParaRPr lang="ja-JP" altLang="en-US" sz="1700" dirty="0"/>
          </a:p>
          <a:p>
            <a:pPr algn="ctr">
              <a:lnSpc>
                <a:spcPct val="105000"/>
              </a:lnSpc>
              <a:buNone/>
            </a:pPr>
            <a:r>
              <a:rPr lang="ja-JP" altLang="en-US" sz="1150" b="0" dirty="0">
                <a:solidFill>
                  <a:srgbClr val="1F285A"/>
                </a:solidFill>
                <a:latin typeface="メイリオ" panose="020B0604030504040204" pitchFamily="50" charset="-128"/>
                <a:ea typeface="メイリオ" panose="020B0604030504040204" pitchFamily="50" charset="-128"/>
              </a:rPr>
              <a:t>初期費用 10万円〜</a:t>
            </a:r>
            <a:endParaRPr lang="ja-JP" altLang="en-US" sz="1700" dirty="0"/>
          </a:p>
        </p:txBody>
      </p:sp>
      <p:sp>
        <p:nvSpPr>
          <p:cNvPr id="21" name="Rounded Rectangle 20"/>
          <p:cNvSpPr/>
          <p:nvPr/>
        </p:nvSpPr>
        <p:spPr>
          <a:xfrm>
            <a:off x="6592824" y="1600200"/>
            <a:ext cx="2880360" cy="868680"/>
          </a:xfrm>
          <a:prstGeom prst="roundRect">
            <a:avLst>
              <a:gd name="adj" fmla="val 10000"/>
            </a:avLst>
          </a:prstGeom>
          <a:solidFill>
            <a:srgbClr val="C9D3E6"/>
          </a:solidFill>
          <a:ln>
            <a:noFill/>
          </a:ln>
        </p:spPr>
        <p:txBody>
          <a:bodyPr wrap="square" lIns="54864" tIns="18288" rIns="54864" bIns="36576" rtlCol="0" anchor="ctr">
            <a:noAutofit/>
          </a:bodyPr>
          <a:lstStyle/>
          <a:p>
            <a:pPr algn="ctr">
              <a:lnSpc>
                <a:spcPct val="100000"/>
              </a:lnSpc>
              <a:buNone/>
            </a:pPr>
            <a:r>
              <a:rPr lang="ja-JP" altLang="en-US" sz="2200" b="1" dirty="0">
                <a:solidFill>
                  <a:srgbClr val="1F285A"/>
                </a:solidFill>
                <a:latin typeface="メイリオ" panose="020B0604030504040204" pitchFamily="50" charset="-128"/>
                <a:ea typeface="メイリオ" panose="020B0604030504040204" pitchFamily="50" charset="-128"/>
              </a:rPr>
              <a:t>プラン③</a:t>
            </a:r>
            <a:endParaRPr lang="ja-JP" altLang="en-US" sz="2200" dirty="0"/>
          </a:p>
          <a:p>
            <a:pPr algn="ctr">
              <a:lnSpc>
                <a:spcPct val="100000"/>
              </a:lnSpc>
              <a:buNone/>
            </a:pPr>
            <a:r>
              <a:rPr lang="ja-JP" altLang="en-US" sz="1150" b="0" dirty="0">
                <a:solidFill>
                  <a:srgbClr val="1F285A"/>
                </a:solidFill>
                <a:latin typeface="メイリオ" panose="020B0604030504040204" pitchFamily="50" charset="-128"/>
                <a:ea typeface="メイリオ" panose="020B0604030504040204" pitchFamily="50" charset="-128"/>
              </a:rPr>
              <a:t>サンクスLINE誘導のみ</a:t>
            </a:r>
            <a:endParaRPr lang="ja-JP" altLang="en-US" sz="2200" dirty="0"/>
          </a:p>
        </p:txBody>
      </p:sp>
      <p:sp>
        <p:nvSpPr>
          <p:cNvPr id="22" name="Rounded Rectangle 21"/>
          <p:cNvSpPr/>
          <p:nvPr/>
        </p:nvSpPr>
        <p:spPr>
          <a:xfrm>
            <a:off x="6592824" y="2560320"/>
            <a:ext cx="2880360" cy="2377440"/>
          </a:xfrm>
          <a:prstGeom prst="roundRect">
            <a:avLst>
              <a:gd name="adj" fmla="val 5000"/>
            </a:avLst>
          </a:prstGeom>
          <a:solidFill>
            <a:srgbClr val="FFFFFF"/>
          </a:solidFill>
          <a:ln w="9525">
            <a:solidFill>
              <a:srgbClr val="D9D9D9"/>
            </a:solidFill>
          </a:ln>
        </p:spPr>
        <p:txBody>
          <a:bodyPr wrap="square" lIns="73152" tIns="36576" rIns="73152" bIns="36576" rtlCol="0" anchor="ctr">
            <a:noAutofit/>
          </a:bodyPr>
          <a:lstStyle/>
          <a:p>
            <a:pPr algn="l">
              <a:buNone/>
            </a:pPr>
            <a:endParaRPr lang="ja-JP" altLang="en-US" sz="1200" dirty="0"/>
          </a:p>
        </p:txBody>
      </p:sp>
      <p:sp>
        <p:nvSpPr>
          <p:cNvPr id="23" name="Rectangle 22"/>
          <p:cNvSpPr/>
          <p:nvPr/>
        </p:nvSpPr>
        <p:spPr>
          <a:xfrm>
            <a:off x="6757416" y="2743200"/>
            <a:ext cx="2587752" cy="2103120"/>
          </a:xfrm>
          <a:prstGeom prst="rect">
            <a:avLst/>
          </a:prstGeom>
          <a:noFill/>
          <a:ln>
            <a:noFill/>
          </a:ln>
        </p:spPr>
        <p:txBody>
          <a:bodyPr wrap="square" lIns="0" tIns="0" rIns="0" bIns="0" rtlCol="0" anchor="t">
            <a:noAutofit/>
          </a:bodyPr>
          <a:lstStyle/>
          <a:p>
            <a:pPr marL="146304" indent="-146304" algn="l">
              <a:lnSpc>
                <a:spcPct val="115000"/>
              </a:lnSpc>
              <a:spcAft>
                <a:spcPts val="600"/>
              </a:spcAft>
              <a:buNone/>
            </a:pPr>
            <a:r>
              <a:rPr lang="ja-JP" altLang="en-US" sz="1300" b="0" dirty="0">
                <a:solidFill>
                  <a:srgbClr val="333333"/>
                </a:solidFill>
                <a:latin typeface="メイリオ" panose="020B0604030504040204" pitchFamily="50" charset="-128"/>
                <a:ea typeface="メイリオ" panose="020B0604030504040204" pitchFamily="50" charset="-128"/>
              </a:rPr>
              <a:t>・サンクスLINE誘導のみ</a:t>
            </a:r>
            <a:endParaRPr lang="ja-JP" altLang="en-US" sz="1300" dirty="0"/>
          </a:p>
          <a:p>
            <a:pPr marL="146304" indent="-146304" algn="l">
              <a:lnSpc>
                <a:spcPct val="115000"/>
              </a:lnSpc>
              <a:spcAft>
                <a:spcPts val="600"/>
              </a:spcAft>
              <a:buNone/>
            </a:pPr>
            <a:r>
              <a:rPr lang="ja-JP" altLang="en-US" sz="1100" b="0" dirty="0">
                <a:solidFill>
                  <a:srgbClr val="7F7F7F"/>
                </a:solidFill>
                <a:latin typeface="メイリオ" panose="020B0604030504040204" pitchFamily="50" charset="-128"/>
                <a:ea typeface="メイリオ" panose="020B0604030504040204" pitchFamily="50" charset="-128"/>
              </a:rPr>
              <a:t>・例：申し込み完了画面からLINEへ</a:t>
            </a:r>
            <a:endParaRPr lang="ja-JP" altLang="en-US" sz="1300" dirty="0"/>
          </a:p>
          <a:p>
            <a:pPr marL="146304" indent="-146304" algn="l">
              <a:lnSpc>
                <a:spcPct val="115000"/>
              </a:lnSpc>
              <a:spcAft>
                <a:spcPts val="600"/>
              </a:spcAft>
              <a:buNone/>
            </a:pPr>
            <a:r>
              <a:rPr lang="ja-JP" altLang="en-US" sz="1300" b="0" dirty="0">
                <a:solidFill>
                  <a:srgbClr val="333333"/>
                </a:solidFill>
                <a:latin typeface="メイリオ" panose="020B0604030504040204" pitchFamily="50" charset="-128"/>
                <a:ea typeface="メイリオ" panose="020B0604030504040204" pitchFamily="50" charset="-128"/>
              </a:rPr>
              <a:t>・初期構築</a:t>
            </a:r>
            <a:endParaRPr lang="ja-JP" altLang="en-US" sz="1300" dirty="0"/>
          </a:p>
        </p:txBody>
      </p:sp>
      <p:sp>
        <p:nvSpPr>
          <p:cNvPr id="24" name="Rounded Rectangle 23"/>
          <p:cNvSpPr/>
          <p:nvPr/>
        </p:nvSpPr>
        <p:spPr>
          <a:xfrm>
            <a:off x="6592824" y="5029200"/>
            <a:ext cx="2880360" cy="777240"/>
          </a:xfrm>
          <a:prstGeom prst="roundRect">
            <a:avLst>
              <a:gd name="adj" fmla="val 12000"/>
            </a:avLst>
          </a:prstGeom>
          <a:solidFill>
            <a:srgbClr val="F4F7FF"/>
          </a:solidFill>
          <a:ln w="9525">
            <a:solidFill>
              <a:srgbClr val="D9D9D9"/>
            </a:solidFill>
          </a:ln>
        </p:spPr>
        <p:txBody>
          <a:bodyPr wrap="square" lIns="36576" tIns="18288" rIns="36576" bIns="18288" rtlCol="0" anchor="ctr">
            <a:noAutofit/>
          </a:bodyPr>
          <a:lstStyle/>
          <a:p>
            <a:pPr algn="ctr">
              <a:lnSpc>
                <a:spcPct val="105000"/>
              </a:lnSpc>
              <a:buNone/>
            </a:pPr>
            <a:r>
              <a:rPr lang="ja-JP" altLang="en-US" sz="1700" b="1" dirty="0">
                <a:solidFill>
                  <a:srgbClr val="1F285A"/>
                </a:solidFill>
                <a:latin typeface="メイリオ" panose="020B0604030504040204" pitchFamily="50" charset="-128"/>
                <a:ea typeface="メイリオ" panose="020B0604030504040204" pitchFamily="50" charset="-128"/>
              </a:rPr>
              <a:t>月額 0円〜</a:t>
            </a:r>
            <a:endParaRPr lang="ja-JP" altLang="en-US" sz="1700" dirty="0"/>
          </a:p>
          <a:p>
            <a:pPr algn="ctr">
              <a:lnSpc>
                <a:spcPct val="105000"/>
              </a:lnSpc>
              <a:buNone/>
            </a:pPr>
            <a:r>
              <a:rPr lang="ja-JP" altLang="en-US" sz="1150" b="0" dirty="0">
                <a:solidFill>
                  <a:srgbClr val="1F285A"/>
                </a:solidFill>
                <a:latin typeface="メイリオ" panose="020B0604030504040204" pitchFamily="50" charset="-128"/>
                <a:ea typeface="メイリオ" panose="020B0604030504040204" pitchFamily="50" charset="-128"/>
              </a:rPr>
              <a:t>初期費用 10万円〜</a:t>
            </a:r>
            <a:endParaRPr lang="ja-JP" altLang="en-US" sz="1700" dirty="0"/>
          </a:p>
        </p:txBody>
      </p:sp>
    </p:spTree>
    <p:extLst>
      <p:ext uri="{BB962C8B-B14F-4D97-AF65-F5344CB8AC3E}">
        <p14:creationId xmlns:p14="http://schemas.microsoft.com/office/powerpoint/2010/main" val="385159430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F4B6A2-11F2-64AD-4DDE-1248419C631A}"/>
            </a:ext>
          </a:extLst>
        </p:cNvPr>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導入スケジュール</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a:solidFill>
                  <a:srgbClr val="333333"/>
                </a:solidFill>
                <a:latin typeface="メイリオ"/>
                <a:ea typeface="メイリオ"/>
                <a:cs typeface="メイリオ"/>
              </a:rPr>
              <a:t>次の商戦から逆算して着手する。構築に約1.5ヶ月。そこから14日ステップが一周して、ようやく数字が動き出す。</a:t>
            </a:r>
          </a:p>
          <a:p>
            <a:pPr algn="l">
              <a:lnSpc>
                <a:spcPct val="128000"/>
              </a:lnSpc>
            </a:pPr>
            <a:r>
              <a:rPr sz="1200">
                <a:solidFill>
                  <a:srgbClr val="333333"/>
                </a:solidFill>
                <a:latin typeface="メイリオ"/>
                <a:ea typeface="メイリオ"/>
                <a:cs typeface="メイリオ"/>
              </a:rPr>
              <a:t>2月の入会期なら12月着手、夏期講習なら5月着手が目安。</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Chevron 4"/>
          <p:cNvSpPr/>
          <p:nvPr/>
        </p:nvSpPr>
        <p:spPr>
          <a:xfrm>
            <a:off x="432000" y="1655999"/>
            <a:ext cx="2179800" cy="54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80000" tIns="0" rIns="72000" bIns="0" rtlCol="0" anchor="ctr"/>
          <a:lstStyle/>
          <a:p>
            <a:pPr algn="ctr">
              <a:spcAft>
                <a:spcPts val="200"/>
              </a:spcAft>
            </a:pPr>
            <a:r>
              <a:rPr sz="1000" b="1">
                <a:solidFill>
                  <a:srgbClr val="FFFFFF"/>
                </a:solidFill>
                <a:latin typeface="メイリオ"/>
                <a:ea typeface="メイリオ"/>
                <a:cs typeface="メイリオ"/>
              </a:rPr>
              <a:t>Phase 1</a:t>
            </a:r>
          </a:p>
          <a:p>
            <a:pPr algn="ctr">
              <a:lnSpc>
                <a:spcPct val="115000"/>
              </a:lnSpc>
            </a:pPr>
            <a:r>
              <a:rPr sz="1150" b="1">
                <a:solidFill>
                  <a:srgbClr val="FFFFFF"/>
                </a:solidFill>
                <a:latin typeface="メイリオ"/>
                <a:ea typeface="メイリオ"/>
                <a:cs typeface="メイリオ"/>
              </a:rPr>
              <a:t>要件定義・設計</a:t>
            </a:r>
          </a:p>
        </p:txBody>
      </p:sp>
      <p:sp>
        <p:nvSpPr>
          <p:cNvPr id="6" name="TextBox 5"/>
          <p:cNvSpPr txBox="1"/>
          <p:nvPr/>
        </p:nvSpPr>
        <p:spPr>
          <a:xfrm>
            <a:off x="432000" y="2250000"/>
            <a:ext cx="2179800" cy="216000"/>
          </a:xfrm>
          <a:prstGeom prst="rect">
            <a:avLst/>
          </a:prstGeom>
          <a:noFill/>
        </p:spPr>
        <p:txBody>
          <a:bodyPr wrap="square" lIns="50400" tIns="21600" rIns="50400" bIns="21600" anchor="ctr">
            <a:spAutoFit/>
          </a:bodyPr>
          <a:lstStyle/>
          <a:p>
            <a:pPr algn="ctr"/>
            <a:r>
              <a:rPr sz="1000" b="1">
                <a:solidFill>
                  <a:srgbClr val="1F285A"/>
                </a:solidFill>
                <a:latin typeface="メイリオ"/>
                <a:ea typeface="メイリオ"/>
                <a:cs typeface="メイリオ"/>
              </a:rPr>
              <a:t>2週間</a:t>
            </a:r>
          </a:p>
        </p:txBody>
      </p:sp>
      <p:sp>
        <p:nvSpPr>
          <p:cNvPr id="7" name="Rounded Rectangle 6"/>
          <p:cNvSpPr/>
          <p:nvPr/>
        </p:nvSpPr>
        <p:spPr>
          <a:xfrm>
            <a:off x="432000" y="2501999"/>
            <a:ext cx="2179800" cy="1872000"/>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0000" y="2574000"/>
            <a:ext cx="1963800" cy="1728000"/>
          </a:xfrm>
          <a:prstGeom prst="rect">
            <a:avLst/>
          </a:prstGeom>
          <a:noFill/>
        </p:spPr>
        <p:txBody>
          <a:bodyPr wrap="square" lIns="50400" tIns="21600" rIns="50400" bIns="21600" anchor="t">
            <a:spAutoFit/>
          </a:bodyPr>
          <a:lstStyle/>
          <a:p>
            <a:pPr algn="l">
              <a:lnSpc>
                <a:spcPct val="130000"/>
              </a:lnSpc>
              <a:spcAft>
                <a:spcPts val="500"/>
              </a:spcAft>
            </a:pPr>
            <a:r>
              <a:rPr sz="850">
                <a:solidFill>
                  <a:srgbClr val="333333"/>
                </a:solidFill>
                <a:latin typeface="メイリオ"/>
                <a:ea typeface="メイリオ"/>
                <a:cs typeface="メイリオ"/>
              </a:rPr>
              <a:t>・現状ヒアリング（月謝・広告実績・資料請求と体験予約の件数）</a:t>
            </a:r>
          </a:p>
          <a:p>
            <a:pPr algn="l">
              <a:lnSpc>
                <a:spcPct val="130000"/>
              </a:lnSpc>
              <a:spcAft>
                <a:spcPts val="500"/>
              </a:spcAft>
            </a:pPr>
            <a:r>
              <a:rPr sz="850">
                <a:solidFill>
                  <a:srgbClr val="333333"/>
                </a:solidFill>
                <a:latin typeface="メイリオ"/>
                <a:ea typeface="メイリオ"/>
                <a:cs typeface="メイリオ"/>
              </a:rPr>
              <a:t>・CV（資料請求・体験予約）とタグ設計の確定</a:t>
            </a:r>
          </a:p>
          <a:p>
            <a:pPr algn="l">
              <a:lnSpc>
                <a:spcPct val="130000"/>
              </a:lnSpc>
              <a:spcAft>
                <a:spcPts val="500"/>
              </a:spcAft>
            </a:pPr>
            <a:r>
              <a:rPr sz="850">
                <a:solidFill>
                  <a:srgbClr val="333333"/>
                </a:solidFill>
                <a:latin typeface="メイリオ"/>
                <a:ea typeface="メイリオ"/>
                <a:cs typeface="メイリオ"/>
              </a:rPr>
              <a:t>・LINEで資料請求の仕組みの決定</a:t>
            </a:r>
          </a:p>
          <a:p>
            <a:pPr algn="l">
              <a:lnSpc>
                <a:spcPct val="130000"/>
              </a:lnSpc>
              <a:spcAft>
                <a:spcPts val="500"/>
              </a:spcAft>
            </a:pPr>
            <a:r>
              <a:rPr sz="850">
                <a:solidFill>
                  <a:srgbClr val="333333"/>
                </a:solidFill>
                <a:latin typeface="メイリオ"/>
                <a:ea typeface="メイリオ"/>
                <a:cs typeface="メイリオ"/>
              </a:rPr>
              <a:t>・配信ツールの選定（Lstep / Hachidori）</a:t>
            </a:r>
          </a:p>
        </p:txBody>
      </p:sp>
      <p:sp>
        <p:nvSpPr>
          <p:cNvPr id="9" name="Chevron 8"/>
          <p:cNvSpPr/>
          <p:nvPr/>
        </p:nvSpPr>
        <p:spPr>
          <a:xfrm>
            <a:off x="2719800" y="1655999"/>
            <a:ext cx="2179800" cy="54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80000" tIns="0" rIns="72000" bIns="0" rtlCol="0" anchor="ctr"/>
          <a:lstStyle/>
          <a:p>
            <a:pPr algn="ctr">
              <a:spcAft>
                <a:spcPts val="200"/>
              </a:spcAft>
            </a:pPr>
            <a:r>
              <a:rPr sz="1000" b="1">
                <a:solidFill>
                  <a:srgbClr val="FFFFFF"/>
                </a:solidFill>
                <a:latin typeface="メイリオ"/>
                <a:ea typeface="メイリオ"/>
                <a:cs typeface="メイリオ"/>
              </a:rPr>
              <a:t>Phase 2</a:t>
            </a:r>
          </a:p>
          <a:p>
            <a:pPr algn="ctr">
              <a:lnSpc>
                <a:spcPct val="115000"/>
              </a:lnSpc>
            </a:pPr>
            <a:r>
              <a:rPr sz="1150" b="1">
                <a:solidFill>
                  <a:srgbClr val="FFFFFF"/>
                </a:solidFill>
                <a:latin typeface="メイリオ"/>
                <a:ea typeface="メイリオ"/>
                <a:cs typeface="メイリオ"/>
              </a:rPr>
              <a:t>構築・制作</a:t>
            </a:r>
          </a:p>
        </p:txBody>
      </p:sp>
      <p:sp>
        <p:nvSpPr>
          <p:cNvPr id="10" name="TextBox 9"/>
          <p:cNvSpPr txBox="1"/>
          <p:nvPr/>
        </p:nvSpPr>
        <p:spPr>
          <a:xfrm>
            <a:off x="2719800" y="2250000"/>
            <a:ext cx="2179800" cy="216000"/>
          </a:xfrm>
          <a:prstGeom prst="rect">
            <a:avLst/>
          </a:prstGeom>
          <a:noFill/>
        </p:spPr>
        <p:txBody>
          <a:bodyPr wrap="square" lIns="50400" tIns="21600" rIns="50400" bIns="21600" anchor="ctr">
            <a:spAutoFit/>
          </a:bodyPr>
          <a:lstStyle/>
          <a:p>
            <a:pPr algn="ctr"/>
            <a:r>
              <a:rPr sz="1000" b="1">
                <a:solidFill>
                  <a:srgbClr val="1F285A"/>
                </a:solidFill>
                <a:latin typeface="メイリオ"/>
                <a:ea typeface="メイリオ"/>
                <a:cs typeface="メイリオ"/>
              </a:rPr>
              <a:t>3〜4週間</a:t>
            </a:r>
          </a:p>
        </p:txBody>
      </p:sp>
      <p:sp>
        <p:nvSpPr>
          <p:cNvPr id="11" name="Rounded Rectangle 10"/>
          <p:cNvSpPr/>
          <p:nvPr/>
        </p:nvSpPr>
        <p:spPr>
          <a:xfrm>
            <a:off x="2719800" y="2501999"/>
            <a:ext cx="2179800" cy="1872000"/>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827800" y="2574000"/>
            <a:ext cx="1963800" cy="1728000"/>
          </a:xfrm>
          <a:prstGeom prst="rect">
            <a:avLst/>
          </a:prstGeom>
          <a:noFill/>
        </p:spPr>
        <p:txBody>
          <a:bodyPr wrap="square" lIns="50400" tIns="21600" rIns="50400" bIns="21600" anchor="t">
            <a:spAutoFit/>
          </a:bodyPr>
          <a:lstStyle/>
          <a:p>
            <a:pPr algn="l">
              <a:lnSpc>
                <a:spcPct val="130000"/>
              </a:lnSpc>
              <a:spcAft>
                <a:spcPts val="500"/>
              </a:spcAft>
            </a:pPr>
            <a:r>
              <a:rPr sz="850">
                <a:solidFill>
                  <a:srgbClr val="333333"/>
                </a:solidFill>
                <a:latin typeface="メイリオ"/>
                <a:ea typeface="メイリオ"/>
                <a:cs typeface="メイリオ"/>
              </a:rPr>
              <a:t>・アカウント開設・プロフィール（未開設の場合）</a:t>
            </a:r>
          </a:p>
          <a:p>
            <a:pPr algn="l">
              <a:lnSpc>
                <a:spcPct val="130000"/>
              </a:lnSpc>
              <a:spcAft>
                <a:spcPts val="500"/>
              </a:spcAft>
            </a:pPr>
            <a:r>
              <a:rPr sz="850">
                <a:solidFill>
                  <a:srgbClr val="333333"/>
                </a:solidFill>
                <a:latin typeface="メイリオ"/>
                <a:ea typeface="メイリオ"/>
                <a:cs typeface="メイリオ"/>
              </a:rPr>
              <a:t>・30秒診断（4問）の設計と実装</a:t>
            </a:r>
          </a:p>
          <a:p>
            <a:pPr algn="l">
              <a:lnSpc>
                <a:spcPct val="130000"/>
              </a:lnSpc>
              <a:spcAft>
                <a:spcPts val="500"/>
              </a:spcAft>
            </a:pPr>
            <a:r>
              <a:rPr sz="850">
                <a:solidFill>
                  <a:srgbClr val="333333"/>
                </a:solidFill>
                <a:latin typeface="メイリオ"/>
                <a:ea typeface="メイリオ"/>
                <a:cs typeface="メイリオ"/>
              </a:rPr>
              <a:t>・リッチメニュー3タブ×6枠の制作</a:t>
            </a:r>
          </a:p>
          <a:p>
            <a:pPr algn="l">
              <a:lnSpc>
                <a:spcPct val="130000"/>
              </a:lnSpc>
              <a:spcAft>
                <a:spcPts val="500"/>
              </a:spcAft>
            </a:pPr>
            <a:r>
              <a:rPr sz="850">
                <a:solidFill>
                  <a:srgbClr val="333333"/>
                </a:solidFill>
                <a:latin typeface="メイリオ"/>
                <a:ea typeface="メイリオ"/>
                <a:cs typeface="メイリオ"/>
              </a:rPr>
              <a:t>・14日ステップ（14通）の原稿・実装</a:t>
            </a:r>
          </a:p>
          <a:p>
            <a:pPr algn="l">
              <a:lnSpc>
                <a:spcPct val="130000"/>
              </a:lnSpc>
              <a:spcAft>
                <a:spcPts val="500"/>
              </a:spcAft>
            </a:pPr>
            <a:r>
              <a:rPr sz="850">
                <a:solidFill>
                  <a:srgbClr val="333333"/>
                </a:solidFill>
                <a:latin typeface="メイリオ"/>
                <a:ea typeface="メイリオ"/>
                <a:cs typeface="メイリオ"/>
              </a:rPr>
              <a:t>・LP離脱防止の設置</a:t>
            </a:r>
          </a:p>
        </p:txBody>
      </p:sp>
      <p:sp>
        <p:nvSpPr>
          <p:cNvPr id="13" name="Chevron 12"/>
          <p:cNvSpPr/>
          <p:nvPr/>
        </p:nvSpPr>
        <p:spPr>
          <a:xfrm>
            <a:off x="5007600" y="1655999"/>
            <a:ext cx="2179800" cy="540000"/>
          </a:xfrm>
          <a:prstGeom prst="chevron">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wrap="square" lIns="180000" tIns="0" rIns="72000" bIns="0" rtlCol="0" anchor="ctr"/>
          <a:lstStyle/>
          <a:p>
            <a:pPr algn="ctr">
              <a:spcAft>
                <a:spcPts val="200"/>
              </a:spcAft>
            </a:pPr>
            <a:r>
              <a:rPr sz="1000" b="1">
                <a:solidFill>
                  <a:srgbClr val="FFFFFF"/>
                </a:solidFill>
                <a:latin typeface="メイリオ"/>
                <a:ea typeface="メイリオ"/>
                <a:cs typeface="メイリオ"/>
              </a:rPr>
              <a:t>Phase 3</a:t>
            </a:r>
          </a:p>
          <a:p>
            <a:pPr algn="ctr">
              <a:lnSpc>
                <a:spcPct val="115000"/>
              </a:lnSpc>
            </a:pPr>
            <a:r>
              <a:rPr sz="1150" b="1">
                <a:solidFill>
                  <a:srgbClr val="FFFFFF"/>
                </a:solidFill>
                <a:latin typeface="メイリオ"/>
                <a:ea typeface="メイリオ"/>
                <a:cs typeface="メイリオ"/>
              </a:rPr>
              <a:t>テスト配信・調整</a:t>
            </a:r>
          </a:p>
        </p:txBody>
      </p:sp>
      <p:sp>
        <p:nvSpPr>
          <p:cNvPr id="14" name="TextBox 13"/>
          <p:cNvSpPr txBox="1"/>
          <p:nvPr/>
        </p:nvSpPr>
        <p:spPr>
          <a:xfrm>
            <a:off x="5007600" y="2250000"/>
            <a:ext cx="2179800" cy="216000"/>
          </a:xfrm>
          <a:prstGeom prst="rect">
            <a:avLst/>
          </a:prstGeom>
          <a:noFill/>
        </p:spPr>
        <p:txBody>
          <a:bodyPr wrap="square" lIns="50400" tIns="21600" rIns="50400" bIns="21600" anchor="ctr">
            <a:spAutoFit/>
          </a:bodyPr>
          <a:lstStyle/>
          <a:p>
            <a:pPr algn="ctr"/>
            <a:r>
              <a:rPr sz="1000" b="1">
                <a:solidFill>
                  <a:srgbClr val="1F285A"/>
                </a:solidFill>
                <a:latin typeface="メイリオ"/>
                <a:ea typeface="メイリオ"/>
                <a:cs typeface="メイリオ"/>
              </a:rPr>
              <a:t>1〜2週間</a:t>
            </a:r>
          </a:p>
        </p:txBody>
      </p:sp>
      <p:sp>
        <p:nvSpPr>
          <p:cNvPr id="15" name="Rounded Rectangle 14"/>
          <p:cNvSpPr/>
          <p:nvPr/>
        </p:nvSpPr>
        <p:spPr>
          <a:xfrm>
            <a:off x="5007600" y="2501999"/>
            <a:ext cx="2179800" cy="1872000"/>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115600" y="2574000"/>
            <a:ext cx="1963800" cy="1728000"/>
          </a:xfrm>
          <a:prstGeom prst="rect">
            <a:avLst/>
          </a:prstGeom>
          <a:noFill/>
        </p:spPr>
        <p:txBody>
          <a:bodyPr wrap="square" lIns="50400" tIns="21600" rIns="50400" bIns="21600" anchor="t">
            <a:spAutoFit/>
          </a:bodyPr>
          <a:lstStyle/>
          <a:p>
            <a:pPr algn="l">
              <a:lnSpc>
                <a:spcPct val="130000"/>
              </a:lnSpc>
              <a:spcAft>
                <a:spcPts val="500"/>
              </a:spcAft>
            </a:pPr>
            <a:r>
              <a:rPr sz="850">
                <a:solidFill>
                  <a:srgbClr val="333333"/>
                </a:solidFill>
                <a:latin typeface="メイリオ"/>
                <a:ea typeface="メイリオ"/>
                <a:cs typeface="メイリオ"/>
              </a:rPr>
              <a:t>・社内テスト配信（文面・分岐の確認）</a:t>
            </a:r>
          </a:p>
          <a:p>
            <a:pPr algn="l">
              <a:lnSpc>
                <a:spcPct val="130000"/>
              </a:lnSpc>
              <a:spcAft>
                <a:spcPts val="500"/>
              </a:spcAft>
            </a:pPr>
            <a:r>
              <a:rPr sz="850">
                <a:solidFill>
                  <a:srgbClr val="333333"/>
                </a:solidFill>
                <a:latin typeface="メイリオ"/>
                <a:ea typeface="メイリオ"/>
                <a:cs typeface="メイリオ"/>
              </a:rPr>
              <a:t>・表現の確認（成果の断定・最上級表現がないか）</a:t>
            </a:r>
          </a:p>
          <a:p>
            <a:pPr algn="l">
              <a:lnSpc>
                <a:spcPct val="130000"/>
              </a:lnSpc>
              <a:spcAft>
                <a:spcPts val="500"/>
              </a:spcAft>
            </a:pPr>
            <a:r>
              <a:rPr sz="850">
                <a:solidFill>
                  <a:srgbClr val="333333"/>
                </a:solidFill>
                <a:latin typeface="メイリオ"/>
                <a:ea typeface="メイリオ"/>
                <a:cs typeface="メイリオ"/>
              </a:rPr>
              <a:t>・教室スタッフへの運用説明</a:t>
            </a:r>
          </a:p>
        </p:txBody>
      </p:sp>
      <p:sp>
        <p:nvSpPr>
          <p:cNvPr id="17" name="Chevron 16"/>
          <p:cNvSpPr/>
          <p:nvPr/>
        </p:nvSpPr>
        <p:spPr>
          <a:xfrm>
            <a:off x="7295400" y="1655999"/>
            <a:ext cx="2179800" cy="540000"/>
          </a:xfrm>
          <a:prstGeom prst="chevron">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wrap="square" lIns="180000" tIns="0" rIns="72000" bIns="0" rtlCol="0" anchor="ctr"/>
          <a:lstStyle/>
          <a:p>
            <a:pPr algn="ctr">
              <a:spcAft>
                <a:spcPts val="200"/>
              </a:spcAft>
            </a:pPr>
            <a:r>
              <a:rPr sz="1000" b="1">
                <a:solidFill>
                  <a:srgbClr val="FFFFFF"/>
                </a:solidFill>
                <a:latin typeface="メイリオ"/>
                <a:ea typeface="メイリオ"/>
                <a:cs typeface="メイリオ"/>
              </a:rPr>
              <a:t>Phase 4</a:t>
            </a:r>
          </a:p>
          <a:p>
            <a:pPr algn="ctr">
              <a:lnSpc>
                <a:spcPct val="115000"/>
              </a:lnSpc>
            </a:pPr>
            <a:r>
              <a:rPr sz="1150" b="1">
                <a:solidFill>
                  <a:srgbClr val="FFFFFF"/>
                </a:solidFill>
                <a:latin typeface="メイリオ"/>
                <a:ea typeface="メイリオ"/>
                <a:cs typeface="メイリオ"/>
              </a:rPr>
              <a:t>本格運用・改善</a:t>
            </a:r>
          </a:p>
        </p:txBody>
      </p:sp>
      <p:sp>
        <p:nvSpPr>
          <p:cNvPr id="18" name="TextBox 17"/>
          <p:cNvSpPr txBox="1"/>
          <p:nvPr/>
        </p:nvSpPr>
        <p:spPr>
          <a:xfrm>
            <a:off x="7295400" y="2250000"/>
            <a:ext cx="2179800" cy="216000"/>
          </a:xfrm>
          <a:prstGeom prst="rect">
            <a:avLst/>
          </a:prstGeom>
          <a:noFill/>
        </p:spPr>
        <p:txBody>
          <a:bodyPr wrap="square" lIns="50400" tIns="21600" rIns="50400" bIns="21600" anchor="ctr">
            <a:spAutoFit/>
          </a:bodyPr>
          <a:lstStyle/>
          <a:p>
            <a:pPr algn="ctr"/>
            <a:r>
              <a:rPr sz="1000" b="1">
                <a:solidFill>
                  <a:srgbClr val="1F285A"/>
                </a:solidFill>
                <a:latin typeface="メイリオ"/>
                <a:ea typeface="メイリオ"/>
                <a:cs typeface="メイリオ"/>
              </a:rPr>
              <a:t>継続</a:t>
            </a:r>
          </a:p>
        </p:txBody>
      </p:sp>
      <p:sp>
        <p:nvSpPr>
          <p:cNvPr id="19" name="Rounded Rectangle 18"/>
          <p:cNvSpPr/>
          <p:nvPr/>
        </p:nvSpPr>
        <p:spPr>
          <a:xfrm>
            <a:off x="7295400" y="2501999"/>
            <a:ext cx="2179800" cy="1872000"/>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403400" y="2574000"/>
            <a:ext cx="1963800" cy="1728000"/>
          </a:xfrm>
          <a:prstGeom prst="rect">
            <a:avLst/>
          </a:prstGeom>
          <a:noFill/>
        </p:spPr>
        <p:txBody>
          <a:bodyPr wrap="square" lIns="50400" tIns="21600" rIns="50400" bIns="21600" anchor="t">
            <a:spAutoFit/>
          </a:bodyPr>
          <a:lstStyle/>
          <a:p>
            <a:pPr algn="l">
              <a:lnSpc>
                <a:spcPct val="130000"/>
              </a:lnSpc>
              <a:spcAft>
                <a:spcPts val="500"/>
              </a:spcAft>
            </a:pPr>
            <a:r>
              <a:rPr sz="850">
                <a:solidFill>
                  <a:srgbClr val="333333"/>
                </a:solidFill>
                <a:latin typeface="メイリオ"/>
                <a:ea typeface="メイリオ"/>
                <a:cs typeface="メイリオ"/>
              </a:rPr>
              <a:t>・企画配信（月1〜2本）</a:t>
            </a:r>
          </a:p>
          <a:p>
            <a:pPr algn="l">
              <a:lnSpc>
                <a:spcPct val="130000"/>
              </a:lnSpc>
              <a:spcAft>
                <a:spcPts val="500"/>
              </a:spcAft>
            </a:pPr>
            <a:r>
              <a:rPr sz="850">
                <a:solidFill>
                  <a:srgbClr val="333333"/>
                </a:solidFill>
                <a:latin typeface="メイリオ"/>
                <a:ea typeface="メイリオ"/>
                <a:cs typeface="メイリオ"/>
              </a:rPr>
              <a:t>・出し分け配信・前日リマインドの稼働</a:t>
            </a:r>
          </a:p>
          <a:p>
            <a:pPr algn="l">
              <a:lnSpc>
                <a:spcPct val="130000"/>
              </a:lnSpc>
              <a:spcAft>
                <a:spcPts val="500"/>
              </a:spcAft>
            </a:pPr>
            <a:r>
              <a:rPr sz="850">
                <a:solidFill>
                  <a:srgbClr val="333333"/>
                </a:solidFill>
                <a:latin typeface="メイリオ"/>
                <a:ea typeface="メイリオ"/>
                <a:cs typeface="メイリオ"/>
              </a:rPr>
              <a:t>・月次レポート＋定例会</a:t>
            </a:r>
          </a:p>
          <a:p>
            <a:pPr algn="l">
              <a:lnSpc>
                <a:spcPct val="130000"/>
              </a:lnSpc>
              <a:spcAft>
                <a:spcPts val="500"/>
              </a:spcAft>
            </a:pPr>
            <a:r>
              <a:rPr sz="850">
                <a:solidFill>
                  <a:srgbClr val="333333"/>
                </a:solidFill>
                <a:latin typeface="メイリオ"/>
                <a:ea typeface="メイリオ"/>
                <a:cs typeface="メイリオ"/>
              </a:rPr>
              <a:t>・3ヶ月ごとに体験→入会の割合を確認</a:t>
            </a:r>
          </a:p>
        </p:txBody>
      </p:sp>
      <p:sp>
        <p:nvSpPr>
          <p:cNvPr id="21" name="TextBox 20"/>
          <p:cNvSpPr txBox="1"/>
          <p:nvPr/>
        </p:nvSpPr>
        <p:spPr>
          <a:xfrm>
            <a:off x="432000" y="4536000"/>
            <a:ext cx="9043200" cy="234000"/>
          </a:xfrm>
          <a:prstGeom prst="rect">
            <a:avLst/>
          </a:prstGeom>
          <a:noFill/>
        </p:spPr>
        <p:txBody>
          <a:bodyPr wrap="square" lIns="50400" tIns="21600" rIns="50400" bIns="21600" anchor="ctr">
            <a:spAutoFit/>
          </a:bodyPr>
          <a:lstStyle/>
          <a:p>
            <a:pPr algn="l"/>
            <a:r>
              <a:rPr sz="1200" b="1">
                <a:solidFill>
                  <a:srgbClr val="1F285A"/>
                </a:solidFill>
                <a:latin typeface="メイリオ"/>
                <a:ea typeface="メイリオ"/>
                <a:cs typeface="メイリオ"/>
              </a:rPr>
              <a:t>逆算のしかた（検索の山から）</a:t>
            </a:r>
          </a:p>
        </p:txBody>
      </p:sp>
      <p:sp>
        <p:nvSpPr>
          <p:cNvPr id="22" name="Rounded Rectangle 21"/>
          <p:cNvSpPr/>
          <p:nvPr/>
        </p:nvSpPr>
        <p:spPr>
          <a:xfrm>
            <a:off x="432000" y="4823999"/>
            <a:ext cx="9043200" cy="432000"/>
          </a:xfrm>
          <a:prstGeom prst="roundRect">
            <a:avLst>
              <a:gd name="adj" fmla="val 6000"/>
            </a:avLst>
          </a:prstGeom>
          <a:solidFill>
            <a:srgbClr val="E4E9F2"/>
          </a:solidFill>
          <a:ln>
            <a:noFill/>
          </a:ln>
          <a:effectLst/>
        </p:spPr>
        <p:style>
          <a:lnRef idx="1">
            <a:schemeClr val="accent1"/>
          </a:lnRef>
          <a:fillRef idx="3">
            <a:schemeClr val="accent1"/>
          </a:fillRef>
          <a:effectRef idx="2">
            <a:schemeClr val="accent1"/>
          </a:effectRef>
          <a:fontRef idx="minor">
            <a:schemeClr val="lt1"/>
          </a:fontRef>
        </p:style>
        <p:txBody>
          <a:bodyPr wrap="square" lIns="144000" tIns="0" rIns="108000" bIns="0" rtlCol="0" anchor="ctr"/>
          <a:lstStyle/>
          <a:p>
            <a:pPr algn="l">
              <a:lnSpc>
                <a:spcPct val="120000"/>
              </a:lnSpc>
            </a:pPr>
            <a:r>
              <a:rPr sz="1300" b="1">
                <a:solidFill>
                  <a:srgbClr val="1F285A"/>
                </a:solidFill>
                <a:latin typeface="メイリオ"/>
                <a:ea typeface="メイリオ"/>
                <a:cs typeface="メイリオ"/>
              </a:rPr>
              <a:t>2〜3月の入会期を取りにいく　→　</a:t>
            </a:r>
            <a:r>
              <a:rPr sz="1200">
                <a:solidFill>
                  <a:srgbClr val="333333"/>
                </a:solidFill>
                <a:latin typeface="メイリオ"/>
                <a:ea typeface="メイリオ"/>
                <a:cs typeface="メイリオ"/>
              </a:rPr>
              <a:t>12月着手 → 1月中旬に配信開始</a:t>
            </a:r>
          </a:p>
        </p:txBody>
      </p:sp>
      <p:sp>
        <p:nvSpPr>
          <p:cNvPr id="23" name="Rounded Rectangle 22"/>
          <p:cNvSpPr/>
          <p:nvPr/>
        </p:nvSpPr>
        <p:spPr>
          <a:xfrm>
            <a:off x="432000" y="5309999"/>
            <a:ext cx="9043200" cy="432000"/>
          </a:xfrm>
          <a:prstGeom prst="roundRect">
            <a:avLst>
              <a:gd name="adj" fmla="val 6000"/>
            </a:avLst>
          </a:prstGeom>
          <a:solidFill>
            <a:srgbClr val="E4E9F2"/>
          </a:solidFill>
          <a:ln>
            <a:noFill/>
          </a:ln>
          <a:effectLst/>
        </p:spPr>
        <p:style>
          <a:lnRef idx="1">
            <a:schemeClr val="accent1"/>
          </a:lnRef>
          <a:fillRef idx="3">
            <a:schemeClr val="accent1"/>
          </a:fillRef>
          <a:effectRef idx="2">
            <a:schemeClr val="accent1"/>
          </a:effectRef>
          <a:fontRef idx="minor">
            <a:schemeClr val="lt1"/>
          </a:fontRef>
        </p:style>
        <p:txBody>
          <a:bodyPr wrap="square" lIns="144000" tIns="0" rIns="108000" bIns="0" rtlCol="0" anchor="ctr"/>
          <a:lstStyle/>
          <a:p>
            <a:pPr algn="l">
              <a:lnSpc>
                <a:spcPct val="120000"/>
              </a:lnSpc>
            </a:pPr>
            <a:r>
              <a:rPr sz="1300" b="1">
                <a:solidFill>
                  <a:srgbClr val="1F285A"/>
                </a:solidFill>
                <a:latin typeface="メイリオ"/>
                <a:ea typeface="メイリオ"/>
                <a:cs typeface="メイリオ"/>
              </a:rPr>
              <a:t>7〜8月の夏期講習を取りにいく　→　</a:t>
            </a:r>
            <a:r>
              <a:rPr sz="1200">
                <a:solidFill>
                  <a:srgbClr val="333333"/>
                </a:solidFill>
                <a:latin typeface="メイリオ"/>
                <a:ea typeface="メイリオ"/>
                <a:cs typeface="メイリオ"/>
              </a:rPr>
              <a:t>5月着手 → 6月中旬に配信開始</a:t>
            </a:r>
          </a:p>
        </p:txBody>
      </p:sp>
      <p:sp>
        <p:nvSpPr>
          <p:cNvPr id="24" name="TextBox 23"/>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900">
                <a:solidFill>
                  <a:srgbClr val="7F7F7F"/>
                </a:solidFill>
                <a:latin typeface="メイリオ"/>
                <a:ea typeface="メイリオ"/>
                <a:cs typeface="メイリオ"/>
              </a:rPr>
              <a:t>構築に約1.5ヶ月。14日間の配信が一周してから数字が動き出す</a:t>
            </a:r>
          </a:p>
        </p:txBody>
      </p:sp>
      <p:sp>
        <p:nvSpPr>
          <p:cNvPr id="25" name="Pentagon 24"/>
          <p:cNvSpPr/>
          <p:nvPr/>
        </p:nvSpPr>
        <p:spPr>
          <a:xfrm>
            <a:off x="432000" y="590400"/>
            <a:ext cx="1111500" cy="180000"/>
          </a:xfrm>
          <a:prstGeom prst="homePlate">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①接触</a:t>
            </a:r>
          </a:p>
        </p:txBody>
      </p:sp>
      <p:sp>
        <p:nvSpPr>
          <p:cNvPr id="26" name="Chevron 25"/>
          <p:cNvSpPr/>
          <p:nvPr/>
        </p:nvSpPr>
        <p:spPr>
          <a:xfrm>
            <a:off x="15651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②離脱</a:t>
            </a:r>
          </a:p>
        </p:txBody>
      </p:sp>
      <p:sp>
        <p:nvSpPr>
          <p:cNvPr id="27" name="Chevron 26"/>
          <p:cNvSpPr/>
          <p:nvPr/>
        </p:nvSpPr>
        <p:spPr>
          <a:xfrm>
            <a:off x="26982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③育成</a:t>
            </a:r>
          </a:p>
        </p:txBody>
      </p:sp>
      <p:sp>
        <p:nvSpPr>
          <p:cNvPr id="28" name="Chevron 27"/>
          <p:cNvSpPr/>
          <p:nvPr/>
        </p:nvSpPr>
        <p:spPr>
          <a:xfrm>
            <a:off x="38312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④リード獲得</a:t>
            </a:r>
          </a:p>
        </p:txBody>
      </p:sp>
      <p:sp>
        <p:nvSpPr>
          <p:cNvPr id="29" name="Chevron 28"/>
          <p:cNvSpPr/>
          <p:nvPr/>
        </p:nvSpPr>
        <p:spPr>
          <a:xfrm>
            <a:off x="49644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⑤リード有効化</a:t>
            </a:r>
          </a:p>
        </p:txBody>
      </p:sp>
      <p:sp>
        <p:nvSpPr>
          <p:cNvPr id="30" name="Chevron 29"/>
          <p:cNvSpPr/>
          <p:nvPr/>
        </p:nvSpPr>
        <p:spPr>
          <a:xfrm>
            <a:off x="60975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⑥再育成</a:t>
            </a:r>
          </a:p>
        </p:txBody>
      </p:sp>
      <p:sp>
        <p:nvSpPr>
          <p:cNvPr id="31" name="Chevron 30"/>
          <p:cNvSpPr/>
          <p:nvPr/>
        </p:nvSpPr>
        <p:spPr>
          <a:xfrm>
            <a:off x="72305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⑦入会（契約）</a:t>
            </a:r>
          </a:p>
        </p:txBody>
      </p:sp>
      <p:sp>
        <p:nvSpPr>
          <p:cNvPr id="32" name="Chevron 31"/>
          <p:cNvSpPr/>
          <p:nvPr/>
        </p:nvSpPr>
        <p:spPr>
          <a:xfrm>
            <a:off x="83636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⑧紹介</a:t>
            </a:r>
          </a:p>
        </p:txBody>
      </p:sp>
    </p:spTree>
    <p:extLst>
      <p:ext uri="{BB962C8B-B14F-4D97-AF65-F5344CB8AC3E}">
        <p14:creationId xmlns:p14="http://schemas.microsoft.com/office/powerpoint/2010/main" val="384554320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CBDC7-BB8D-566B-5273-6DCD8BE0326A}"/>
            </a:ext>
          </a:extLst>
        </p:cNvPr>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体制</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a:solidFill>
                  <a:srgbClr val="333333"/>
                </a:solidFill>
                <a:latin typeface="メイリオ"/>
                <a:ea typeface="メイリオ"/>
                <a:cs typeface="メイリオ"/>
              </a:rPr>
              <a:t>誰が何をやるか。配信の実務（原稿・制作・設定・分析）は弊社が持ちます。</a:t>
            </a:r>
          </a:p>
          <a:p>
            <a:pPr algn="l">
              <a:lnSpc>
                <a:spcPct val="128000"/>
              </a:lnSpc>
            </a:pPr>
            <a:r>
              <a:rPr sz="1200">
                <a:solidFill>
                  <a:srgbClr val="333333"/>
                </a:solidFill>
                <a:latin typeface="メイリオ"/>
                <a:ea typeface="メイリオ"/>
                <a:cs typeface="メイリオ"/>
              </a:rPr>
              <a:t>貴社にお願いするのは、教室の情報と、月1回の定例会だけです。</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32000" y="1655999"/>
            <a:ext cx="2179800" cy="1655999"/>
          </a:xfrm>
          <a:prstGeom prst="roundRect">
            <a:avLst>
              <a:gd name="adj" fmla="val 6000"/>
            </a:avLst>
          </a:prstGeom>
          <a:solidFill>
            <a:srgbClr val="FFFFFF"/>
          </a:solidFill>
          <a:ln w="15875">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432000" y="1655999"/>
            <a:ext cx="2179800" cy="36000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0" rIns="28800" bIns="0" rtlCol="0" anchor="ctr"/>
          <a:lstStyle/>
          <a:p>
            <a:pPr algn="ctr"/>
            <a:r>
              <a:rPr sz="1300" b="1">
                <a:solidFill>
                  <a:srgbClr val="FFFFFF"/>
                </a:solidFill>
                <a:latin typeface="メイリオ"/>
                <a:ea typeface="メイリオ"/>
                <a:cs typeface="メイリオ"/>
              </a:rPr>
              <a:t>DYM｜運用統括</a:t>
            </a:r>
          </a:p>
        </p:txBody>
      </p:sp>
      <p:sp>
        <p:nvSpPr>
          <p:cNvPr id="7" name="TextBox 6"/>
          <p:cNvSpPr txBox="1"/>
          <p:nvPr/>
        </p:nvSpPr>
        <p:spPr>
          <a:xfrm>
            <a:off x="540000" y="2106000"/>
            <a:ext cx="1963800" cy="786133"/>
          </a:xfrm>
          <a:prstGeom prst="rect">
            <a:avLst/>
          </a:prstGeom>
          <a:noFill/>
        </p:spPr>
        <p:txBody>
          <a:bodyPr wrap="square" lIns="50400" tIns="21600" rIns="50400" bIns="21600" anchor="t">
            <a:spAutoFit/>
          </a:bodyPr>
          <a:lstStyle/>
          <a:p>
            <a:pPr algn="l">
              <a:lnSpc>
                <a:spcPct val="130000"/>
              </a:lnSpc>
              <a:spcAft>
                <a:spcPts val="600"/>
              </a:spcAft>
            </a:pPr>
            <a:r>
              <a:rPr sz="1000">
                <a:solidFill>
                  <a:srgbClr val="333333"/>
                </a:solidFill>
                <a:latin typeface="メイリオ"/>
                <a:ea typeface="メイリオ"/>
                <a:cs typeface="メイリオ"/>
              </a:rPr>
              <a:t>・全体設計・KPI管理</a:t>
            </a:r>
          </a:p>
          <a:p>
            <a:pPr algn="l">
              <a:lnSpc>
                <a:spcPct val="130000"/>
              </a:lnSpc>
              <a:spcAft>
                <a:spcPts val="600"/>
              </a:spcAft>
            </a:pPr>
            <a:r>
              <a:rPr sz="1000">
                <a:solidFill>
                  <a:srgbClr val="333333"/>
                </a:solidFill>
                <a:latin typeface="メイリオ"/>
                <a:ea typeface="メイリオ"/>
                <a:cs typeface="メイリオ"/>
              </a:rPr>
              <a:t>・月次レポートと改善提案</a:t>
            </a:r>
          </a:p>
          <a:p>
            <a:pPr algn="l">
              <a:lnSpc>
                <a:spcPct val="130000"/>
              </a:lnSpc>
              <a:spcAft>
                <a:spcPts val="600"/>
              </a:spcAft>
            </a:pPr>
            <a:r>
              <a:rPr sz="1000">
                <a:solidFill>
                  <a:srgbClr val="333333"/>
                </a:solidFill>
                <a:latin typeface="メイリオ"/>
                <a:ea typeface="メイリオ"/>
                <a:cs typeface="メイリオ"/>
              </a:rPr>
              <a:t>・定例会の進行</a:t>
            </a:r>
          </a:p>
        </p:txBody>
      </p:sp>
      <p:sp>
        <p:nvSpPr>
          <p:cNvPr id="8" name="Rounded Rectangle 7"/>
          <p:cNvSpPr/>
          <p:nvPr/>
        </p:nvSpPr>
        <p:spPr>
          <a:xfrm>
            <a:off x="2719800" y="1655999"/>
            <a:ext cx="2179800" cy="1655999"/>
          </a:xfrm>
          <a:prstGeom prst="roundRect">
            <a:avLst>
              <a:gd name="adj" fmla="val 6000"/>
            </a:avLst>
          </a:prstGeom>
          <a:solidFill>
            <a:srgbClr val="FFFFFF"/>
          </a:solidFill>
          <a:ln w="15875">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2719800" y="1655999"/>
            <a:ext cx="2179800" cy="36000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0" rIns="28800" bIns="0" rtlCol="0" anchor="ctr"/>
          <a:lstStyle/>
          <a:p>
            <a:pPr algn="ctr"/>
            <a:r>
              <a:rPr sz="1300" b="1">
                <a:solidFill>
                  <a:srgbClr val="FFFFFF"/>
                </a:solidFill>
                <a:latin typeface="メイリオ"/>
                <a:ea typeface="メイリオ"/>
                <a:cs typeface="メイリオ"/>
              </a:rPr>
              <a:t>DYM｜配信担当</a:t>
            </a:r>
          </a:p>
        </p:txBody>
      </p:sp>
      <p:sp>
        <p:nvSpPr>
          <p:cNvPr id="10" name="TextBox 9"/>
          <p:cNvSpPr txBox="1"/>
          <p:nvPr/>
        </p:nvSpPr>
        <p:spPr>
          <a:xfrm>
            <a:off x="2827800" y="2106000"/>
            <a:ext cx="1963800" cy="786133"/>
          </a:xfrm>
          <a:prstGeom prst="rect">
            <a:avLst/>
          </a:prstGeom>
          <a:noFill/>
        </p:spPr>
        <p:txBody>
          <a:bodyPr wrap="square" lIns="50400" tIns="21600" rIns="50400" bIns="21600" anchor="t">
            <a:spAutoFit/>
          </a:bodyPr>
          <a:lstStyle/>
          <a:p>
            <a:pPr algn="l">
              <a:lnSpc>
                <a:spcPct val="130000"/>
              </a:lnSpc>
              <a:spcAft>
                <a:spcPts val="600"/>
              </a:spcAft>
            </a:pPr>
            <a:r>
              <a:rPr sz="1000">
                <a:solidFill>
                  <a:srgbClr val="333333"/>
                </a:solidFill>
                <a:latin typeface="メイリオ"/>
                <a:ea typeface="メイリオ"/>
                <a:cs typeface="メイリオ"/>
              </a:rPr>
              <a:t>・配信原稿の作成</a:t>
            </a:r>
          </a:p>
          <a:p>
            <a:pPr algn="l">
              <a:lnSpc>
                <a:spcPct val="130000"/>
              </a:lnSpc>
              <a:spcAft>
                <a:spcPts val="600"/>
              </a:spcAft>
            </a:pPr>
            <a:r>
              <a:rPr sz="1000">
                <a:solidFill>
                  <a:srgbClr val="333333"/>
                </a:solidFill>
                <a:latin typeface="メイリオ"/>
                <a:ea typeface="メイリオ"/>
                <a:cs typeface="メイリオ"/>
              </a:rPr>
              <a:t>・セグメント・ステップの設定</a:t>
            </a:r>
          </a:p>
          <a:p>
            <a:pPr algn="l">
              <a:lnSpc>
                <a:spcPct val="130000"/>
              </a:lnSpc>
              <a:spcAft>
                <a:spcPts val="600"/>
              </a:spcAft>
            </a:pPr>
            <a:r>
              <a:rPr sz="1000">
                <a:solidFill>
                  <a:srgbClr val="333333"/>
                </a:solidFill>
                <a:latin typeface="メイリオ"/>
                <a:ea typeface="メイリオ"/>
                <a:cs typeface="メイリオ"/>
              </a:rPr>
              <a:t>・前日リマインドの管理</a:t>
            </a:r>
          </a:p>
        </p:txBody>
      </p:sp>
      <p:sp>
        <p:nvSpPr>
          <p:cNvPr id="11" name="Rounded Rectangle 10"/>
          <p:cNvSpPr/>
          <p:nvPr/>
        </p:nvSpPr>
        <p:spPr>
          <a:xfrm>
            <a:off x="5007600" y="1655999"/>
            <a:ext cx="2179800" cy="1655999"/>
          </a:xfrm>
          <a:prstGeom prst="roundRect">
            <a:avLst>
              <a:gd name="adj" fmla="val 6000"/>
            </a:avLst>
          </a:prstGeom>
          <a:solidFill>
            <a:srgbClr val="FFFFFF"/>
          </a:solidFill>
          <a:ln w="15875">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5007600" y="1655999"/>
            <a:ext cx="2179800" cy="36000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0" rIns="28800" bIns="0" rtlCol="0" anchor="ctr"/>
          <a:lstStyle/>
          <a:p>
            <a:pPr algn="ctr"/>
            <a:r>
              <a:rPr sz="1300" b="1">
                <a:solidFill>
                  <a:srgbClr val="FFFFFF"/>
                </a:solidFill>
                <a:latin typeface="メイリオ"/>
                <a:ea typeface="メイリオ"/>
                <a:cs typeface="メイリオ"/>
              </a:rPr>
              <a:t>DYM｜クリエイティブ</a:t>
            </a:r>
          </a:p>
        </p:txBody>
      </p:sp>
      <p:sp>
        <p:nvSpPr>
          <p:cNvPr id="13" name="TextBox 12"/>
          <p:cNvSpPr txBox="1"/>
          <p:nvPr/>
        </p:nvSpPr>
        <p:spPr>
          <a:xfrm>
            <a:off x="5115600" y="2106000"/>
            <a:ext cx="1963800" cy="786133"/>
          </a:xfrm>
          <a:prstGeom prst="rect">
            <a:avLst/>
          </a:prstGeom>
          <a:noFill/>
        </p:spPr>
        <p:txBody>
          <a:bodyPr wrap="square" lIns="50400" tIns="21600" rIns="50400" bIns="21600" anchor="t">
            <a:spAutoFit/>
          </a:bodyPr>
          <a:lstStyle/>
          <a:p>
            <a:pPr algn="l">
              <a:lnSpc>
                <a:spcPct val="130000"/>
              </a:lnSpc>
              <a:spcAft>
                <a:spcPts val="600"/>
              </a:spcAft>
            </a:pPr>
            <a:r>
              <a:rPr sz="1000">
                <a:solidFill>
                  <a:srgbClr val="333333"/>
                </a:solidFill>
                <a:latin typeface="メイリオ"/>
                <a:ea typeface="メイリオ"/>
                <a:cs typeface="メイリオ"/>
              </a:rPr>
              <a:t>・リッチメニュー制作</a:t>
            </a:r>
          </a:p>
          <a:p>
            <a:pPr algn="l">
              <a:lnSpc>
                <a:spcPct val="130000"/>
              </a:lnSpc>
              <a:spcAft>
                <a:spcPts val="600"/>
              </a:spcAft>
            </a:pPr>
            <a:r>
              <a:rPr sz="1000">
                <a:solidFill>
                  <a:srgbClr val="333333"/>
                </a:solidFill>
                <a:latin typeface="メイリオ"/>
                <a:ea typeface="メイリオ"/>
                <a:cs typeface="メイリオ"/>
              </a:rPr>
              <a:t>・配信画像・バナー</a:t>
            </a:r>
          </a:p>
          <a:p>
            <a:pPr algn="l">
              <a:lnSpc>
                <a:spcPct val="130000"/>
              </a:lnSpc>
              <a:spcAft>
                <a:spcPts val="600"/>
              </a:spcAft>
            </a:pPr>
            <a:r>
              <a:rPr sz="1000">
                <a:solidFill>
                  <a:srgbClr val="333333"/>
                </a:solidFill>
                <a:latin typeface="メイリオ"/>
                <a:ea typeface="メイリオ"/>
                <a:cs typeface="メイリオ"/>
              </a:rPr>
              <a:t>・LP離脱防止の設置</a:t>
            </a:r>
          </a:p>
        </p:txBody>
      </p:sp>
      <p:sp>
        <p:nvSpPr>
          <p:cNvPr id="14" name="Rounded Rectangle 13"/>
          <p:cNvSpPr/>
          <p:nvPr/>
        </p:nvSpPr>
        <p:spPr>
          <a:xfrm>
            <a:off x="7295400" y="1655999"/>
            <a:ext cx="2179800" cy="1655999"/>
          </a:xfrm>
          <a:prstGeom prst="roundRect">
            <a:avLst>
              <a:gd name="adj" fmla="val 6000"/>
            </a:avLst>
          </a:prstGeom>
          <a:solidFill>
            <a:srgbClr val="FFFFFF"/>
          </a:solidFill>
          <a:ln w="1587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7295400" y="1655999"/>
            <a:ext cx="2179800" cy="360000"/>
          </a:xfrm>
          <a:prstGeom prst="roundRect">
            <a:avLst>
              <a:gd name="adj" fmla="val 6000"/>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0" rIns="28800" bIns="0" rtlCol="0" anchor="ctr"/>
          <a:lstStyle/>
          <a:p>
            <a:pPr algn="ctr"/>
            <a:r>
              <a:rPr sz="1300" b="1">
                <a:solidFill>
                  <a:srgbClr val="FFFFFF"/>
                </a:solidFill>
                <a:latin typeface="メイリオ"/>
                <a:ea typeface="メイリオ"/>
                <a:cs typeface="メイリオ"/>
              </a:rPr>
              <a:t>貴社｜教室</a:t>
            </a:r>
          </a:p>
        </p:txBody>
      </p:sp>
      <p:sp>
        <p:nvSpPr>
          <p:cNvPr id="16" name="TextBox 15"/>
          <p:cNvSpPr txBox="1"/>
          <p:nvPr/>
        </p:nvSpPr>
        <p:spPr>
          <a:xfrm>
            <a:off x="7403400" y="2106000"/>
            <a:ext cx="2064600" cy="786133"/>
          </a:xfrm>
          <a:prstGeom prst="rect">
            <a:avLst/>
          </a:prstGeom>
          <a:noFill/>
        </p:spPr>
        <p:txBody>
          <a:bodyPr wrap="square" lIns="50400" tIns="21600" rIns="50400" bIns="21600" anchor="t">
            <a:spAutoFit/>
          </a:bodyPr>
          <a:lstStyle/>
          <a:p>
            <a:pPr algn="l">
              <a:lnSpc>
                <a:spcPct val="130000"/>
              </a:lnSpc>
              <a:spcAft>
                <a:spcPts val="600"/>
              </a:spcAft>
            </a:pPr>
            <a:r>
              <a:rPr sz="1000" dirty="0">
                <a:solidFill>
                  <a:srgbClr val="333333"/>
                </a:solidFill>
                <a:latin typeface="メイリオ"/>
                <a:ea typeface="メイリオ"/>
                <a:cs typeface="メイリオ"/>
              </a:rPr>
              <a:t>・</a:t>
            </a:r>
            <a:r>
              <a:rPr sz="1000" dirty="0" err="1">
                <a:solidFill>
                  <a:srgbClr val="333333"/>
                </a:solidFill>
                <a:latin typeface="メイリオ"/>
                <a:ea typeface="メイリオ"/>
                <a:cs typeface="メイリオ"/>
              </a:rPr>
              <a:t>教室の情報提供（実績・講師</a:t>
            </a:r>
            <a:r>
              <a:rPr sz="1000" dirty="0">
                <a:solidFill>
                  <a:srgbClr val="333333"/>
                </a:solidFill>
                <a:latin typeface="メイリオ"/>
                <a:ea typeface="メイリオ"/>
                <a:cs typeface="メイリオ"/>
              </a:rPr>
              <a:t>）</a:t>
            </a:r>
          </a:p>
          <a:p>
            <a:pPr algn="l">
              <a:lnSpc>
                <a:spcPct val="130000"/>
              </a:lnSpc>
              <a:spcAft>
                <a:spcPts val="600"/>
              </a:spcAft>
            </a:pPr>
            <a:r>
              <a:rPr sz="1000" dirty="0">
                <a:solidFill>
                  <a:srgbClr val="333333"/>
                </a:solidFill>
                <a:latin typeface="メイリオ"/>
                <a:ea typeface="メイリオ"/>
                <a:cs typeface="メイリオ"/>
              </a:rPr>
              <a:t>・</a:t>
            </a:r>
            <a:r>
              <a:rPr sz="1000" dirty="0" err="1">
                <a:solidFill>
                  <a:srgbClr val="333333"/>
                </a:solidFill>
                <a:latin typeface="メイリオ"/>
                <a:ea typeface="メイリオ"/>
                <a:cs typeface="メイリオ"/>
              </a:rPr>
              <a:t>体験・面談の実施</a:t>
            </a:r>
            <a:endParaRPr sz="1000" dirty="0">
              <a:solidFill>
                <a:srgbClr val="333333"/>
              </a:solidFill>
              <a:latin typeface="メイリオ"/>
              <a:ea typeface="メイリオ"/>
              <a:cs typeface="メイリオ"/>
            </a:endParaRPr>
          </a:p>
          <a:p>
            <a:pPr algn="l">
              <a:lnSpc>
                <a:spcPct val="130000"/>
              </a:lnSpc>
              <a:spcAft>
                <a:spcPts val="600"/>
              </a:spcAft>
            </a:pPr>
            <a:r>
              <a:rPr sz="1000" dirty="0">
                <a:solidFill>
                  <a:srgbClr val="333333"/>
                </a:solidFill>
                <a:latin typeface="メイリオ"/>
                <a:ea typeface="メイリオ"/>
                <a:cs typeface="メイリオ"/>
              </a:rPr>
              <a:t>・月1回の定例会にご参加</a:t>
            </a:r>
          </a:p>
        </p:txBody>
      </p:sp>
      <p:sp>
        <p:nvSpPr>
          <p:cNvPr id="17" name="TextBox 16"/>
          <p:cNvSpPr txBox="1"/>
          <p:nvPr/>
        </p:nvSpPr>
        <p:spPr>
          <a:xfrm>
            <a:off x="432000" y="3456000"/>
            <a:ext cx="9043200" cy="234000"/>
          </a:xfrm>
          <a:prstGeom prst="rect">
            <a:avLst/>
          </a:prstGeom>
          <a:noFill/>
        </p:spPr>
        <p:txBody>
          <a:bodyPr wrap="square" lIns="50400" tIns="21600" rIns="50400" bIns="21600" anchor="ctr">
            <a:spAutoFit/>
          </a:bodyPr>
          <a:lstStyle/>
          <a:p>
            <a:pPr algn="l"/>
            <a:r>
              <a:rPr sz="1200" b="1">
                <a:solidFill>
                  <a:srgbClr val="1F285A"/>
                </a:solidFill>
                <a:latin typeface="メイリオ"/>
                <a:ea typeface="メイリオ"/>
                <a:cs typeface="メイリオ"/>
              </a:rPr>
              <a:t>進め方のリズム</a:t>
            </a:r>
          </a:p>
        </p:txBody>
      </p:sp>
      <p:sp>
        <p:nvSpPr>
          <p:cNvPr id="18" name="Rounded Rectangle 17"/>
          <p:cNvSpPr/>
          <p:nvPr/>
        </p:nvSpPr>
        <p:spPr>
          <a:xfrm>
            <a:off x="432000" y="3743999"/>
            <a:ext cx="9043200" cy="432000"/>
          </a:xfrm>
          <a:prstGeom prst="roundRect">
            <a:avLst>
              <a:gd name="adj" fmla="val 6000"/>
            </a:avLst>
          </a:prstGeom>
          <a:solidFill>
            <a:srgbClr val="F4F7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503999" y="3815999"/>
            <a:ext cx="936000" cy="28800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r>
              <a:rPr sz="1200" b="1">
                <a:solidFill>
                  <a:srgbClr val="FFFFFF"/>
                </a:solidFill>
                <a:latin typeface="メイリオ"/>
                <a:ea typeface="メイリオ"/>
                <a:cs typeface="メイリオ"/>
              </a:rPr>
              <a:t>毎月</a:t>
            </a:r>
          </a:p>
        </p:txBody>
      </p:sp>
      <p:sp>
        <p:nvSpPr>
          <p:cNvPr id="20" name="TextBox 19"/>
          <p:cNvSpPr txBox="1"/>
          <p:nvPr/>
        </p:nvSpPr>
        <p:spPr>
          <a:xfrm>
            <a:off x="1584000" y="3743999"/>
            <a:ext cx="7776000" cy="432000"/>
          </a:xfrm>
          <a:prstGeom prst="rect">
            <a:avLst/>
          </a:prstGeom>
          <a:noFill/>
        </p:spPr>
        <p:txBody>
          <a:bodyPr wrap="square" lIns="50400" tIns="21600" rIns="50400" bIns="21600" anchor="ctr">
            <a:spAutoFit/>
          </a:bodyPr>
          <a:lstStyle/>
          <a:p>
            <a:pPr algn="l">
              <a:lnSpc>
                <a:spcPct val="120000"/>
              </a:lnSpc>
            </a:pPr>
            <a:r>
              <a:rPr sz="1200">
                <a:solidFill>
                  <a:srgbClr val="333333"/>
                </a:solidFill>
                <a:latin typeface="メイリオ"/>
                <a:ea typeface="メイリオ"/>
                <a:cs typeface="メイリオ"/>
              </a:rPr>
              <a:t>配信企画の提案（弊社）→ 貴社confirm → 配信 → レポート</a:t>
            </a:r>
          </a:p>
        </p:txBody>
      </p:sp>
      <p:sp>
        <p:nvSpPr>
          <p:cNvPr id="21" name="Rounded Rectangle 20"/>
          <p:cNvSpPr/>
          <p:nvPr/>
        </p:nvSpPr>
        <p:spPr>
          <a:xfrm>
            <a:off x="432000" y="4229999"/>
            <a:ext cx="9043200" cy="432000"/>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503999" y="4301999"/>
            <a:ext cx="936000" cy="28800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r>
              <a:rPr sz="1200" b="1">
                <a:solidFill>
                  <a:srgbClr val="FFFFFF"/>
                </a:solidFill>
                <a:latin typeface="メイリオ"/>
                <a:ea typeface="メイリオ"/>
                <a:cs typeface="メイリオ"/>
              </a:rPr>
              <a:t>毎月</a:t>
            </a:r>
          </a:p>
        </p:txBody>
      </p:sp>
      <p:sp>
        <p:nvSpPr>
          <p:cNvPr id="23" name="TextBox 22"/>
          <p:cNvSpPr txBox="1"/>
          <p:nvPr/>
        </p:nvSpPr>
        <p:spPr>
          <a:xfrm>
            <a:off x="1584000" y="4229999"/>
            <a:ext cx="7776000" cy="432000"/>
          </a:xfrm>
          <a:prstGeom prst="rect">
            <a:avLst/>
          </a:prstGeom>
          <a:noFill/>
        </p:spPr>
        <p:txBody>
          <a:bodyPr wrap="square" lIns="50400" tIns="21600" rIns="50400" bIns="21600" anchor="ctr">
            <a:spAutoFit/>
          </a:bodyPr>
          <a:lstStyle/>
          <a:p>
            <a:pPr algn="l">
              <a:lnSpc>
                <a:spcPct val="120000"/>
              </a:lnSpc>
            </a:pPr>
            <a:r>
              <a:rPr sz="1200">
                <a:solidFill>
                  <a:srgbClr val="333333"/>
                </a:solidFill>
                <a:latin typeface="メイリオ"/>
                <a:ea typeface="メイリオ"/>
                <a:cs typeface="メイリオ"/>
              </a:rPr>
              <a:t>定例会（30〜60分）：先月の数字の振り返りと翌月の企画</a:t>
            </a:r>
          </a:p>
        </p:txBody>
      </p:sp>
      <p:sp>
        <p:nvSpPr>
          <p:cNvPr id="24" name="Rounded Rectangle 23"/>
          <p:cNvSpPr/>
          <p:nvPr/>
        </p:nvSpPr>
        <p:spPr>
          <a:xfrm>
            <a:off x="432000" y="4715999"/>
            <a:ext cx="9043200" cy="432000"/>
          </a:xfrm>
          <a:prstGeom prst="roundRect">
            <a:avLst>
              <a:gd name="adj" fmla="val 6000"/>
            </a:avLst>
          </a:prstGeom>
          <a:solidFill>
            <a:srgbClr val="F4F7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503999" y="4787999"/>
            <a:ext cx="936000" cy="28800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r>
              <a:rPr sz="1200" b="1">
                <a:solidFill>
                  <a:srgbClr val="FFFFFF"/>
                </a:solidFill>
                <a:latin typeface="メイリオ"/>
                <a:ea typeface="メイリオ"/>
                <a:cs typeface="メイリオ"/>
              </a:rPr>
              <a:t>四半期</a:t>
            </a:r>
          </a:p>
        </p:txBody>
      </p:sp>
      <p:sp>
        <p:nvSpPr>
          <p:cNvPr id="26" name="TextBox 25"/>
          <p:cNvSpPr txBox="1"/>
          <p:nvPr/>
        </p:nvSpPr>
        <p:spPr>
          <a:xfrm>
            <a:off x="1584000" y="4715999"/>
            <a:ext cx="7776000" cy="432000"/>
          </a:xfrm>
          <a:prstGeom prst="rect">
            <a:avLst/>
          </a:prstGeom>
          <a:noFill/>
        </p:spPr>
        <p:txBody>
          <a:bodyPr wrap="square" lIns="50400" tIns="21600" rIns="50400" bIns="21600" anchor="ctr">
            <a:spAutoFit/>
          </a:bodyPr>
          <a:lstStyle/>
          <a:p>
            <a:pPr algn="l">
              <a:lnSpc>
                <a:spcPct val="120000"/>
              </a:lnSpc>
            </a:pPr>
            <a:r>
              <a:rPr sz="1200">
                <a:solidFill>
                  <a:srgbClr val="333333"/>
                </a:solidFill>
                <a:latin typeface="メイリオ"/>
                <a:ea typeface="メイリオ"/>
                <a:cs typeface="メイリオ"/>
              </a:rPr>
              <a:t>体験→入会の割合の確認と、施策の組み替え</a:t>
            </a:r>
          </a:p>
        </p:txBody>
      </p:sp>
      <p:sp>
        <p:nvSpPr>
          <p:cNvPr id="27" name="Rounded Rectangle 26"/>
          <p:cNvSpPr/>
          <p:nvPr/>
        </p:nvSpPr>
        <p:spPr>
          <a:xfrm>
            <a:off x="432000" y="5202000"/>
            <a:ext cx="9043200" cy="432000"/>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503999" y="5273999"/>
            <a:ext cx="936000" cy="28800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r>
              <a:rPr sz="1200" b="1">
                <a:solidFill>
                  <a:srgbClr val="FFFFFF"/>
                </a:solidFill>
                <a:latin typeface="メイリオ"/>
                <a:ea typeface="メイリオ"/>
                <a:cs typeface="メイリオ"/>
              </a:rPr>
              <a:t>随時</a:t>
            </a:r>
          </a:p>
        </p:txBody>
      </p:sp>
      <p:sp>
        <p:nvSpPr>
          <p:cNvPr id="29" name="TextBox 28"/>
          <p:cNvSpPr txBox="1"/>
          <p:nvPr/>
        </p:nvSpPr>
        <p:spPr>
          <a:xfrm>
            <a:off x="1584000" y="5202000"/>
            <a:ext cx="7776000" cy="432000"/>
          </a:xfrm>
          <a:prstGeom prst="rect">
            <a:avLst/>
          </a:prstGeom>
          <a:noFill/>
        </p:spPr>
        <p:txBody>
          <a:bodyPr wrap="square" lIns="50400" tIns="21600" rIns="50400" bIns="21600" anchor="ctr">
            <a:spAutoFit/>
          </a:bodyPr>
          <a:lstStyle/>
          <a:p>
            <a:pPr algn="l">
              <a:lnSpc>
                <a:spcPct val="120000"/>
              </a:lnSpc>
            </a:pPr>
            <a:r>
              <a:rPr sz="1200">
                <a:solidFill>
                  <a:srgbClr val="333333"/>
                </a:solidFill>
                <a:latin typeface="メイリオ"/>
                <a:ea typeface="メイリオ"/>
                <a:cs typeface="メイリオ"/>
              </a:rPr>
              <a:t>LINEトークで質問・相談（専用グループ）</a:t>
            </a:r>
          </a:p>
        </p:txBody>
      </p:sp>
      <p:sp>
        <p:nvSpPr>
          <p:cNvPr id="30" name="Rounded Rectangle 29"/>
          <p:cNvSpPr/>
          <p:nvPr/>
        </p:nvSpPr>
        <p:spPr>
          <a:xfrm>
            <a:off x="432000" y="5723999"/>
            <a:ext cx="9043200" cy="309600"/>
          </a:xfrm>
          <a:prstGeom prst="roundRect">
            <a:avLst>
              <a:gd name="adj" fmla="val 1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0" rIns="72000" bIns="0" rtlCol="0" anchor="ctr"/>
          <a:lstStyle/>
          <a:p>
            <a:pPr algn="ctr"/>
            <a:r>
              <a:rPr sz="1400" b="1">
                <a:solidFill>
                  <a:srgbClr val="FFFFFF"/>
                </a:solidFill>
                <a:latin typeface="メイリオ"/>
                <a:ea typeface="メイリオ"/>
                <a:cs typeface="メイリオ"/>
              </a:rPr>
              <a:t>貴社の負担は「教室の情報」と「月1回の定例会」だけ。配信の実務は弊社が持ちます。</a:t>
            </a:r>
          </a:p>
        </p:txBody>
      </p:sp>
      <p:sp>
        <p:nvSpPr>
          <p:cNvPr id="31" name="TextBox 30"/>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900">
                <a:solidFill>
                  <a:srgbClr val="7F7F7F"/>
                </a:solidFill>
                <a:latin typeface="メイリオ"/>
                <a:ea typeface="メイリオ"/>
                <a:cs typeface="メイリオ"/>
              </a:rPr>
              <a:t>体制の人数・担当者名は契約時に確定します。定例会はオンライン可</a:t>
            </a:r>
          </a:p>
        </p:txBody>
      </p:sp>
      <p:sp>
        <p:nvSpPr>
          <p:cNvPr id="32" name="Pentagon 31"/>
          <p:cNvSpPr/>
          <p:nvPr/>
        </p:nvSpPr>
        <p:spPr>
          <a:xfrm>
            <a:off x="432000" y="590400"/>
            <a:ext cx="1111500" cy="180000"/>
          </a:xfrm>
          <a:prstGeom prst="homePlate">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①接触</a:t>
            </a:r>
          </a:p>
        </p:txBody>
      </p:sp>
      <p:sp>
        <p:nvSpPr>
          <p:cNvPr id="33" name="Chevron 32"/>
          <p:cNvSpPr/>
          <p:nvPr/>
        </p:nvSpPr>
        <p:spPr>
          <a:xfrm>
            <a:off x="15651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②離脱</a:t>
            </a:r>
          </a:p>
        </p:txBody>
      </p:sp>
      <p:sp>
        <p:nvSpPr>
          <p:cNvPr id="34" name="Chevron 33"/>
          <p:cNvSpPr/>
          <p:nvPr/>
        </p:nvSpPr>
        <p:spPr>
          <a:xfrm>
            <a:off x="26982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③育成</a:t>
            </a:r>
          </a:p>
        </p:txBody>
      </p:sp>
      <p:sp>
        <p:nvSpPr>
          <p:cNvPr id="35" name="Chevron 34"/>
          <p:cNvSpPr/>
          <p:nvPr/>
        </p:nvSpPr>
        <p:spPr>
          <a:xfrm>
            <a:off x="38312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④リード獲得</a:t>
            </a:r>
          </a:p>
        </p:txBody>
      </p:sp>
      <p:sp>
        <p:nvSpPr>
          <p:cNvPr id="36" name="Chevron 35"/>
          <p:cNvSpPr/>
          <p:nvPr/>
        </p:nvSpPr>
        <p:spPr>
          <a:xfrm>
            <a:off x="49644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⑤リード有効化</a:t>
            </a:r>
          </a:p>
        </p:txBody>
      </p:sp>
      <p:sp>
        <p:nvSpPr>
          <p:cNvPr id="37" name="Chevron 36"/>
          <p:cNvSpPr/>
          <p:nvPr/>
        </p:nvSpPr>
        <p:spPr>
          <a:xfrm>
            <a:off x="60975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⑥再育成</a:t>
            </a:r>
          </a:p>
        </p:txBody>
      </p:sp>
      <p:sp>
        <p:nvSpPr>
          <p:cNvPr id="38" name="Chevron 37"/>
          <p:cNvSpPr/>
          <p:nvPr/>
        </p:nvSpPr>
        <p:spPr>
          <a:xfrm>
            <a:off x="72305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⑦入会（契約）</a:t>
            </a:r>
          </a:p>
        </p:txBody>
      </p:sp>
      <p:sp>
        <p:nvSpPr>
          <p:cNvPr id="39" name="Chevron 38"/>
          <p:cNvSpPr/>
          <p:nvPr/>
        </p:nvSpPr>
        <p:spPr>
          <a:xfrm>
            <a:off x="83636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⑧紹介</a:t>
            </a:r>
          </a:p>
        </p:txBody>
      </p:sp>
    </p:spTree>
    <p:extLst>
      <p:ext uri="{BB962C8B-B14F-4D97-AF65-F5344CB8AC3E}">
        <p14:creationId xmlns:p14="http://schemas.microsoft.com/office/powerpoint/2010/main" val="148277907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F6F07D-57DB-D005-AEF4-0353E12BFBBB}"/>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9E70BA7A-C846-DB25-5226-608EE498C23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C580AE1A-1ED9-8A39-74F0-21E10C52709E}"/>
              </a:ext>
            </a:extLst>
          </p:cNvPr>
          <p:cNvSpPr/>
          <p:nvPr/>
        </p:nvSpPr>
        <p:spPr>
          <a:xfrm>
            <a:off x="3424389" y="3038203"/>
            <a:ext cx="3057247" cy="892552"/>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ご提案にあたり</a:t>
            </a:r>
            <a:endParaRPr lang="en-US" altLang="ja-JP"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（施策紹介・企画案）</a:t>
            </a:r>
            <a:endParaRPr lang="en-US" altLang="ja-I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26381273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C912E4CC-70AD-5529-2A5A-4FA0D1C97A2B}"/>
              </a:ext>
            </a:extLst>
          </p:cNvPr>
          <p:cNvSpPr txBox="1"/>
          <p:nvPr/>
        </p:nvSpPr>
        <p:spPr>
          <a:xfrm>
            <a:off x="548883" y="138137"/>
            <a:ext cx="6276325" cy="338514"/>
          </a:xfrm>
          <a:prstGeom prst="rect">
            <a:avLst/>
          </a:prstGeom>
          <a:noFill/>
          <a:ln>
            <a:noFill/>
          </a:ln>
        </p:spPr>
        <p:txBody>
          <a:bodyPr spcFirstLastPara="1" wrap="square" lIns="36000" tIns="10800" rIns="36000" bIns="10800" anchor="ctr" anchorCtr="0">
            <a:spAutoFit/>
          </a:bodyPr>
          <a:lstStyle/>
          <a:p>
            <a:pPr lvl="0" algn="l">
              <a:lnSpc>
                <a:spcPct val="115000"/>
              </a:lnSpc>
            </a:pPr>
            <a:r>
              <a:rPr sz="1600" b="1">
                <a:solidFill>
                  <a:srgbClr val="323366"/>
                </a:solidFill>
                <a:latin typeface="メイリオ"/>
                <a:ea typeface="メイリオ"/>
                <a:cs typeface="メイリオ"/>
              </a:rPr>
              <a:t>具体施策｜18の施策をジャーニー上に配置</a:t>
            </a:r>
          </a:p>
        </p:txBody>
      </p:sp>
      <p:sp>
        <p:nvSpPr>
          <p:cNvPr id="9" name="正方形/長方形 8">
            <a:extLst>
              <a:ext uri="{FF2B5EF4-FFF2-40B4-BE49-F238E27FC236}">
                <a16:creationId xmlns:a16="http://schemas.microsoft.com/office/drawing/2014/main" id="{BD73628C-261B-9AE4-0B66-12C6BEDE3EDD}"/>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700">
                <a:latin typeface="メイリオ" panose="020B0604030504040204" pitchFamily="50" charset="-128"/>
                <a:ea typeface="メイリオ" panose="020B0604030504040204" pitchFamily="50" charset="-128"/>
              </a:rPr>
              <a:t>集客動線</a:t>
            </a:r>
            <a:endParaRPr kumimoji="1" lang="ja-JP" altLang="en-US" sz="1700" dirty="0">
              <a:latin typeface="メイリオ" panose="020B0604030504040204" pitchFamily="50" charset="-128"/>
              <a:ea typeface="メイリオ" panose="020B0604030504040204" pitchFamily="50" charset="-128"/>
            </a:endParaRPr>
          </a:p>
        </p:txBody>
      </p:sp>
      <p:sp>
        <p:nvSpPr>
          <p:cNvPr id="3" name="Google Shape;752;p28">
            <a:extLst>
              <a:ext uri="{FF2B5EF4-FFF2-40B4-BE49-F238E27FC236}">
                <a16:creationId xmlns:a16="http://schemas.microsoft.com/office/drawing/2014/main" id="{AF6C2475-3BD5-7DF2-52BD-C0F30E8072CF}"/>
              </a:ext>
            </a:extLst>
          </p:cNvPr>
          <p:cNvSpPr txBox="1"/>
          <p:nvPr/>
        </p:nvSpPr>
        <p:spPr>
          <a:xfrm>
            <a:off x="1988819" y="736332"/>
            <a:ext cx="7774305" cy="584735"/>
          </a:xfrm>
          <a:prstGeom prst="rect">
            <a:avLst/>
          </a:prstGeom>
          <a:noFill/>
          <a:ln>
            <a:noFill/>
          </a:ln>
        </p:spPr>
        <p:txBody>
          <a:bodyPr spcFirstLastPara="1" wrap="square" lIns="0" tIns="10800" rIns="0" bIns="10800" anchor="ctr" anchorCtr="0">
            <a:spAutoFit/>
          </a:bodyPr>
          <a:lstStyle/>
          <a:p>
            <a:pPr algn="l">
              <a:lnSpc>
                <a:spcPct val="115000"/>
              </a:lnSpc>
            </a:pPr>
            <a:r>
              <a:rPr sz="1300" b="1">
                <a:solidFill>
                  <a:srgbClr val="002060"/>
                </a:solidFill>
                <a:latin typeface="メイリオ"/>
                <a:ea typeface="メイリオ"/>
                <a:cs typeface="メイリオ"/>
              </a:rPr>
              <a:t>18の具体施策が、ジャーニーのどのフェーズで効くかを1枚に置きました。</a:t>
            </a:r>
            <a:endParaRPr lang="en-US" altLang="ja-JP" sz="1600" b="1" dirty="0">
              <a:latin typeface="メイリオ" panose="020B0604030504040204" pitchFamily="50" charset="-128"/>
              <a:ea typeface="メイリオ" panose="020B0604030504040204" pitchFamily="50" charset="-128"/>
              <a:cs typeface="Meiryo"/>
              <a:sym typeface="Meiryo"/>
            </a:endParaRPr>
          </a:p>
          <a:p>
            <a:pPr algn="l">
              <a:lnSpc>
                <a:spcPct val="115000"/>
              </a:lnSpc>
            </a:pPr>
            <a:r>
              <a:rPr sz="1300" b="1">
                <a:solidFill>
                  <a:srgbClr val="C00000"/>
                </a:solidFill>
                <a:latin typeface="メイリオ"/>
                <a:ea typeface="メイリオ"/>
                <a:cs typeface="メイリオ"/>
              </a:rPr>
              <a:t>追加までが6施策、追加後が12施策。後半のほうが厚い構成です。</a:t>
            </a:r>
          </a:p>
        </p:txBody>
      </p:sp>
      <p:cxnSp>
        <p:nvCxnSpPr>
          <p:cNvPr id="2" name="直線コネクタ 1">
            <a:extLst>
              <a:ext uri="{FF2B5EF4-FFF2-40B4-BE49-F238E27FC236}">
                <a16:creationId xmlns:a16="http://schemas.microsoft.com/office/drawing/2014/main" id="{8D0721AE-E7E5-698E-E773-F2614C0DBB07}"/>
              </a:ext>
            </a:extLst>
          </p:cNvPr>
          <p:cNvCxnSpPr>
            <a:cxnSpLocks/>
          </p:cNvCxnSpPr>
          <p:nvPr/>
        </p:nvCxnSpPr>
        <p:spPr>
          <a:xfrm>
            <a:off x="315939" y="2178817"/>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5" name="直線コネクタ 4">
            <a:extLst>
              <a:ext uri="{FF2B5EF4-FFF2-40B4-BE49-F238E27FC236}">
                <a16:creationId xmlns:a16="http://schemas.microsoft.com/office/drawing/2014/main" id="{3BFFC88E-A589-D631-D366-94F280EFF67D}"/>
              </a:ext>
            </a:extLst>
          </p:cNvPr>
          <p:cNvCxnSpPr>
            <a:cxnSpLocks/>
          </p:cNvCxnSpPr>
          <p:nvPr/>
        </p:nvCxnSpPr>
        <p:spPr>
          <a:xfrm>
            <a:off x="1265077" y="2190680"/>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6" name="直線コネクタ 5">
            <a:extLst>
              <a:ext uri="{FF2B5EF4-FFF2-40B4-BE49-F238E27FC236}">
                <a16:creationId xmlns:a16="http://schemas.microsoft.com/office/drawing/2014/main" id="{D90E23BB-3076-5B7D-82F3-8433A2B09D1F}"/>
              </a:ext>
            </a:extLst>
          </p:cNvPr>
          <p:cNvCxnSpPr>
            <a:cxnSpLocks/>
          </p:cNvCxnSpPr>
          <p:nvPr/>
        </p:nvCxnSpPr>
        <p:spPr>
          <a:xfrm>
            <a:off x="2202413" y="2188038"/>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線コネクタ 6">
            <a:extLst>
              <a:ext uri="{FF2B5EF4-FFF2-40B4-BE49-F238E27FC236}">
                <a16:creationId xmlns:a16="http://schemas.microsoft.com/office/drawing/2014/main" id="{3A68BF14-4E95-B76C-1300-FF13B29BADF0}"/>
              </a:ext>
            </a:extLst>
          </p:cNvPr>
          <p:cNvCxnSpPr>
            <a:cxnSpLocks/>
          </p:cNvCxnSpPr>
          <p:nvPr/>
        </p:nvCxnSpPr>
        <p:spPr>
          <a:xfrm>
            <a:off x="3136468" y="2207356"/>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8" name="直線コネクタ 7">
            <a:extLst>
              <a:ext uri="{FF2B5EF4-FFF2-40B4-BE49-F238E27FC236}">
                <a16:creationId xmlns:a16="http://schemas.microsoft.com/office/drawing/2014/main" id="{6558815C-4A36-8DFA-3258-ADAC642B44B6}"/>
              </a:ext>
            </a:extLst>
          </p:cNvPr>
          <p:cNvCxnSpPr>
            <a:cxnSpLocks/>
          </p:cNvCxnSpPr>
          <p:nvPr/>
        </p:nvCxnSpPr>
        <p:spPr>
          <a:xfrm>
            <a:off x="3541980" y="2217939"/>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0" name="直線コネクタ 9">
            <a:extLst>
              <a:ext uri="{FF2B5EF4-FFF2-40B4-BE49-F238E27FC236}">
                <a16:creationId xmlns:a16="http://schemas.microsoft.com/office/drawing/2014/main" id="{9B24DBF0-6A3A-0783-C6E3-74B28D837D9E}"/>
              </a:ext>
            </a:extLst>
          </p:cNvPr>
          <p:cNvCxnSpPr>
            <a:cxnSpLocks/>
          </p:cNvCxnSpPr>
          <p:nvPr/>
        </p:nvCxnSpPr>
        <p:spPr>
          <a:xfrm>
            <a:off x="4833781" y="2229802"/>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D9F92929-7F37-647E-2D3E-0EB84FFB20D1}"/>
              </a:ext>
            </a:extLst>
          </p:cNvPr>
          <p:cNvCxnSpPr>
            <a:cxnSpLocks/>
          </p:cNvCxnSpPr>
          <p:nvPr/>
        </p:nvCxnSpPr>
        <p:spPr>
          <a:xfrm>
            <a:off x="6125582" y="2227160"/>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2" name="直線コネクタ 11">
            <a:extLst>
              <a:ext uri="{FF2B5EF4-FFF2-40B4-BE49-F238E27FC236}">
                <a16:creationId xmlns:a16="http://schemas.microsoft.com/office/drawing/2014/main" id="{A53FD7B1-4120-4E04-0DDF-B4B54EDB9BFD}"/>
              </a:ext>
            </a:extLst>
          </p:cNvPr>
          <p:cNvCxnSpPr>
            <a:cxnSpLocks/>
          </p:cNvCxnSpPr>
          <p:nvPr/>
        </p:nvCxnSpPr>
        <p:spPr>
          <a:xfrm>
            <a:off x="7417384" y="2217938"/>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sp>
        <p:nvSpPr>
          <p:cNvPr id="14" name="テキスト ボックス 13">
            <a:extLst>
              <a:ext uri="{FF2B5EF4-FFF2-40B4-BE49-F238E27FC236}">
                <a16:creationId xmlns:a16="http://schemas.microsoft.com/office/drawing/2014/main" id="{ABDE72C7-C765-8BB2-E494-8277E0D528BC}"/>
              </a:ext>
            </a:extLst>
          </p:cNvPr>
          <p:cNvSpPr txBox="1"/>
          <p:nvPr/>
        </p:nvSpPr>
        <p:spPr>
          <a:xfrm>
            <a:off x="3542139" y="212416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15" name="テキスト ボックス 14">
            <a:extLst>
              <a:ext uri="{FF2B5EF4-FFF2-40B4-BE49-F238E27FC236}">
                <a16:creationId xmlns:a16="http://schemas.microsoft.com/office/drawing/2014/main" id="{96BDDC66-06A4-F147-F6D6-595BB801B1D3}"/>
              </a:ext>
            </a:extLst>
          </p:cNvPr>
          <p:cNvSpPr txBox="1"/>
          <p:nvPr/>
        </p:nvSpPr>
        <p:spPr>
          <a:xfrm>
            <a:off x="6119413" y="253332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⑦マネタイズ</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成約</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購入</a:t>
            </a:r>
            <a:r>
              <a:rPr lang="en-US" altLang="ja-JP" sz="10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16" name="テキスト ボックス 15">
            <a:extLst>
              <a:ext uri="{FF2B5EF4-FFF2-40B4-BE49-F238E27FC236}">
                <a16:creationId xmlns:a16="http://schemas.microsoft.com/office/drawing/2014/main" id="{375707FE-6207-A0AF-61A0-E9AABECDAC37}"/>
              </a:ext>
            </a:extLst>
          </p:cNvPr>
          <p:cNvSpPr txBox="1"/>
          <p:nvPr/>
        </p:nvSpPr>
        <p:spPr>
          <a:xfrm>
            <a:off x="4830776" y="232874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300" b="1" dirty="0">
                <a:latin typeface="メイリオ" panose="020B0604030504040204" pitchFamily="50" charset="-128"/>
                <a:ea typeface="メイリオ" panose="020B0604030504040204" pitchFamily="50" charset="-128"/>
              </a:rPr>
              <a:t>⑥ 有効リードの再育成</a:t>
            </a:r>
            <a:endParaRPr lang="ja-JP" altLang="ja-JP" sz="1300" b="1" dirty="0">
              <a:latin typeface="メイリオ" panose="020B0604030504040204" pitchFamily="50" charset="-128"/>
              <a:ea typeface="メイリオ" panose="020B0604030504040204" pitchFamily="50" charset="-128"/>
            </a:endParaRPr>
          </a:p>
        </p:txBody>
      </p:sp>
      <p:sp>
        <p:nvSpPr>
          <p:cNvPr id="17" name="テキスト ボックス 16">
            <a:extLst>
              <a:ext uri="{FF2B5EF4-FFF2-40B4-BE49-F238E27FC236}">
                <a16:creationId xmlns:a16="http://schemas.microsoft.com/office/drawing/2014/main" id="{49AFAACD-69A5-DAB7-2AB7-5204509E5CCB}"/>
              </a:ext>
            </a:extLst>
          </p:cNvPr>
          <p:cNvSpPr txBox="1"/>
          <p:nvPr/>
        </p:nvSpPr>
        <p:spPr>
          <a:xfrm>
            <a:off x="7408050" y="273790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a:t>
            </a:r>
            <a:r>
              <a:rPr lang="en-US" altLang="ja-JP" sz="1100" b="1" dirty="0">
                <a:latin typeface="メイリオ" panose="020B0604030504040204" pitchFamily="50" charset="-128"/>
                <a:ea typeface="メイリオ" panose="020B0604030504040204" pitchFamily="50" charset="-128"/>
              </a:rPr>
              <a:t>LTV</a:t>
            </a:r>
            <a:r>
              <a:rPr lang="ja-JP" altLang="en-US" sz="1100" b="1" dirty="0">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18" name="テキスト ボックス 17">
            <a:extLst>
              <a:ext uri="{FF2B5EF4-FFF2-40B4-BE49-F238E27FC236}">
                <a16:creationId xmlns:a16="http://schemas.microsoft.com/office/drawing/2014/main" id="{8B260C5F-25D5-8ED9-9E9C-2E4B97F7FE0C}"/>
              </a:ext>
            </a:extLst>
          </p:cNvPr>
          <p:cNvSpPr txBox="1"/>
          <p:nvPr/>
        </p:nvSpPr>
        <p:spPr>
          <a:xfrm>
            <a:off x="334303" y="213025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19" name="テキスト ボックス 18">
            <a:extLst>
              <a:ext uri="{FF2B5EF4-FFF2-40B4-BE49-F238E27FC236}">
                <a16:creationId xmlns:a16="http://schemas.microsoft.com/office/drawing/2014/main" id="{D76A6924-9615-4D2D-207A-2C463DAF53AF}"/>
              </a:ext>
            </a:extLst>
          </p:cNvPr>
          <p:cNvSpPr txBox="1"/>
          <p:nvPr/>
        </p:nvSpPr>
        <p:spPr>
          <a:xfrm>
            <a:off x="1268358" y="234091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20" name="テキスト ボックス 19">
            <a:extLst>
              <a:ext uri="{FF2B5EF4-FFF2-40B4-BE49-F238E27FC236}">
                <a16:creationId xmlns:a16="http://schemas.microsoft.com/office/drawing/2014/main" id="{8C64E429-AF18-081D-2A8E-EDCE056C0C0B}"/>
              </a:ext>
            </a:extLst>
          </p:cNvPr>
          <p:cNvSpPr txBox="1"/>
          <p:nvPr/>
        </p:nvSpPr>
        <p:spPr>
          <a:xfrm>
            <a:off x="2202413" y="253502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21" name="テキスト ボックス 20">
            <a:extLst>
              <a:ext uri="{FF2B5EF4-FFF2-40B4-BE49-F238E27FC236}">
                <a16:creationId xmlns:a16="http://schemas.microsoft.com/office/drawing/2014/main" id="{7B99F819-3A4C-8D01-87D3-59398A0C3663}"/>
              </a:ext>
            </a:extLst>
          </p:cNvPr>
          <p:cNvSpPr txBox="1"/>
          <p:nvPr/>
        </p:nvSpPr>
        <p:spPr>
          <a:xfrm>
            <a:off x="3136468" y="273137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22" name="コネクタ: カギ線 21">
            <a:extLst>
              <a:ext uri="{FF2B5EF4-FFF2-40B4-BE49-F238E27FC236}">
                <a16:creationId xmlns:a16="http://schemas.microsoft.com/office/drawing/2014/main" id="{89810CF4-19DD-8F80-464F-FE8E1D250689}"/>
              </a:ext>
            </a:extLst>
          </p:cNvPr>
          <p:cNvCxnSpPr>
            <a:cxnSpLocks/>
            <a:stCxn id="21" idx="0"/>
            <a:endCxn id="14" idx="2"/>
          </p:cNvCxnSpPr>
          <p:nvPr/>
        </p:nvCxnSpPr>
        <p:spPr>
          <a:xfrm rot="5400000" flipH="1" flipV="1">
            <a:off x="4282287" y="2494423"/>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9" name="正方形/長方形 28">
            <a:extLst>
              <a:ext uri="{FF2B5EF4-FFF2-40B4-BE49-F238E27FC236}">
                <a16:creationId xmlns:a16="http://schemas.microsoft.com/office/drawing/2014/main" id="{2AFCBDA6-2140-B4C1-A45D-7A34BC218997}"/>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0" name="直線矢印コネクタ 29">
            <a:extLst>
              <a:ext uri="{FF2B5EF4-FFF2-40B4-BE49-F238E27FC236}">
                <a16:creationId xmlns:a16="http://schemas.microsoft.com/office/drawing/2014/main" id="{852097C2-692E-64D7-A5ED-5C35A2EFC975}"/>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31" name="テキスト ボックス 30">
            <a:extLst>
              <a:ext uri="{FF2B5EF4-FFF2-40B4-BE49-F238E27FC236}">
                <a16:creationId xmlns:a16="http://schemas.microsoft.com/office/drawing/2014/main" id="{9F2742C3-41F6-3CC5-6355-EC9495CFE608}"/>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Meiryo"/>
                <a:sym typeface="Meiryo"/>
              </a:rPr>
              <a:t>カスタマージャーニーマップ</a:t>
            </a:r>
            <a:endParaRPr lang="ja-JP" altLang="en-US" sz="1050" dirty="0"/>
          </a:p>
        </p:txBody>
      </p:sp>
      <p:sp>
        <p:nvSpPr>
          <p:cNvPr id="32" name="Rectangle 31"/>
          <p:cNvSpPr/>
          <p:nvPr/>
        </p:nvSpPr>
        <p:spPr>
          <a:xfrm>
            <a:off x="316800" y="3463199"/>
            <a:ext cx="9273600" cy="2448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316800" y="3463199"/>
            <a:ext cx="9273600" cy="244800"/>
          </a:xfrm>
          <a:prstGeom prst="rect">
            <a:avLst/>
          </a:prstGeom>
          <a:noFill/>
        </p:spPr>
        <p:txBody>
          <a:bodyPr wrap="square" lIns="0" tIns="10800" rIns="0" bIns="10800" anchor="ctr">
            <a:spAutoFit/>
          </a:bodyPr>
          <a:lstStyle/>
          <a:p>
            <a:pPr algn="ctr">
              <a:lnSpc>
                <a:spcPct val="115000"/>
              </a:lnSpc>
            </a:pPr>
            <a:r>
              <a:rPr sz="1200" b="1">
                <a:solidFill>
                  <a:srgbClr val="FFFFFF"/>
                </a:solidFill>
                <a:latin typeface="メイリオ"/>
                <a:ea typeface="メイリオ"/>
                <a:cs typeface="メイリオ"/>
              </a:rPr>
              <a:t>どう友だち追加させるか？　（① 〜 ④）</a:t>
            </a:r>
          </a:p>
        </p:txBody>
      </p:sp>
      <p:sp>
        <p:nvSpPr>
          <p:cNvPr id="34" name="Rounded Rectangle 33"/>
          <p:cNvSpPr/>
          <p:nvPr/>
        </p:nvSpPr>
        <p:spPr>
          <a:xfrm>
            <a:off x="396000" y="37584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46400" y="37584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① </a:t>
            </a:r>
            <a:r>
              <a:rPr sz="1100" b="1">
                <a:solidFill>
                  <a:srgbClr val="1A1A2E"/>
                </a:solidFill>
                <a:latin typeface="メイリオ"/>
                <a:ea typeface="メイリオ"/>
                <a:cs typeface="メイリオ"/>
              </a:rPr>
              <a:t>LINE広告（CPF）</a:t>
            </a:r>
          </a:p>
        </p:txBody>
      </p:sp>
      <p:sp>
        <p:nvSpPr>
          <p:cNvPr id="36" name="Rounded Rectangle 35"/>
          <p:cNvSpPr/>
          <p:nvPr/>
        </p:nvSpPr>
        <p:spPr>
          <a:xfrm>
            <a:off x="2743199" y="37584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793599" y="37584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② </a:t>
            </a:r>
            <a:r>
              <a:rPr sz="1100" b="1">
                <a:solidFill>
                  <a:srgbClr val="1A1A2E"/>
                </a:solidFill>
                <a:latin typeface="メイリオ"/>
                <a:ea typeface="メイリオ"/>
                <a:cs typeface="メイリオ"/>
              </a:rPr>
              <a:t>離脱防止ポップアップ</a:t>
            </a:r>
          </a:p>
        </p:txBody>
      </p:sp>
      <p:sp>
        <p:nvSpPr>
          <p:cNvPr id="38" name="Rounded Rectangle 37"/>
          <p:cNvSpPr/>
          <p:nvPr/>
        </p:nvSpPr>
        <p:spPr>
          <a:xfrm>
            <a:off x="5090400" y="37584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140800" y="37584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③ </a:t>
            </a:r>
            <a:r>
              <a:rPr sz="1100" b="1">
                <a:solidFill>
                  <a:srgbClr val="1A1A2E"/>
                </a:solidFill>
                <a:latin typeface="メイリオ"/>
                <a:ea typeface="メイリオ"/>
                <a:cs typeface="メイリオ"/>
              </a:rPr>
              <a:t>無料特典の配布</a:t>
            </a:r>
          </a:p>
        </p:txBody>
      </p:sp>
      <p:sp>
        <p:nvSpPr>
          <p:cNvPr id="40" name="Rounded Rectangle 39"/>
          <p:cNvSpPr/>
          <p:nvPr/>
        </p:nvSpPr>
        <p:spPr>
          <a:xfrm>
            <a:off x="396000" y="4096799"/>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46400" y="4096799"/>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③ </a:t>
            </a:r>
            <a:r>
              <a:rPr sz="1100" b="1">
                <a:solidFill>
                  <a:srgbClr val="1A1A2E"/>
                </a:solidFill>
                <a:latin typeface="メイリオ"/>
                <a:ea typeface="メイリオ"/>
                <a:cs typeface="メイリオ"/>
              </a:rPr>
              <a:t>〇〇タイプ診断</a:t>
            </a:r>
          </a:p>
        </p:txBody>
      </p:sp>
      <p:sp>
        <p:nvSpPr>
          <p:cNvPr id="42" name="Rounded Rectangle 41"/>
          <p:cNvSpPr/>
          <p:nvPr/>
        </p:nvSpPr>
        <p:spPr>
          <a:xfrm>
            <a:off x="2743199" y="4096799"/>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2793599" y="4096799"/>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④ </a:t>
            </a:r>
            <a:r>
              <a:rPr sz="1100" b="1">
                <a:solidFill>
                  <a:srgbClr val="1A1A2E"/>
                </a:solidFill>
                <a:latin typeface="メイリオ"/>
                <a:ea typeface="メイリオ"/>
                <a:cs typeface="メイリオ"/>
              </a:rPr>
              <a:t>LINE登録をCVゴールに</a:t>
            </a:r>
          </a:p>
        </p:txBody>
      </p:sp>
      <p:sp>
        <p:nvSpPr>
          <p:cNvPr id="44" name="Rounded Rectangle 43"/>
          <p:cNvSpPr/>
          <p:nvPr/>
        </p:nvSpPr>
        <p:spPr>
          <a:xfrm>
            <a:off x="5090400" y="4096799"/>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5140800" y="4096799"/>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④ </a:t>
            </a:r>
            <a:r>
              <a:rPr sz="1100" b="1">
                <a:solidFill>
                  <a:srgbClr val="1A1A2E"/>
                </a:solidFill>
                <a:latin typeface="メイリオ"/>
                <a:ea typeface="メイリオ"/>
                <a:cs typeface="メイリオ"/>
              </a:rPr>
              <a:t>サンクスLINE誘導</a:t>
            </a:r>
          </a:p>
        </p:txBody>
      </p:sp>
      <p:sp>
        <p:nvSpPr>
          <p:cNvPr id="46" name="TextBox 45"/>
          <p:cNvSpPr txBox="1"/>
          <p:nvPr/>
        </p:nvSpPr>
        <p:spPr>
          <a:xfrm>
            <a:off x="7462200" y="3758399"/>
            <a:ext cx="2232000" cy="676800"/>
          </a:xfrm>
          <a:prstGeom prst="rect">
            <a:avLst/>
          </a:prstGeom>
          <a:noFill/>
        </p:spPr>
        <p:txBody>
          <a:bodyPr wrap="square" lIns="0" tIns="10800" rIns="0" bIns="10800" anchor="ctr">
            <a:spAutoFit/>
          </a:bodyPr>
          <a:lstStyle/>
          <a:p>
            <a:pPr algn="l">
              <a:lnSpc>
                <a:spcPct val="115000"/>
              </a:lnSpc>
            </a:pPr>
            <a:r>
              <a:rPr sz="1100" b="1" dirty="0">
                <a:solidFill>
                  <a:srgbClr val="002060"/>
                </a:solidFill>
                <a:latin typeface="メイリオ"/>
                <a:ea typeface="メイリオ"/>
                <a:cs typeface="メイリオ"/>
              </a:rPr>
              <a:t>入口は1つに絞らない。</a:t>
            </a:r>
          </a:p>
          <a:p>
            <a:pPr algn="l">
              <a:lnSpc>
                <a:spcPct val="115000"/>
              </a:lnSpc>
            </a:pPr>
            <a:r>
              <a:rPr sz="1100" b="0" dirty="0">
                <a:solidFill>
                  <a:srgbClr val="1A1A2E"/>
                </a:solidFill>
                <a:latin typeface="メイリオ"/>
                <a:ea typeface="メイリオ"/>
                <a:cs typeface="メイリオ"/>
              </a:rPr>
              <a:t>4フェーズすべてに受け皿を</a:t>
            </a:r>
          </a:p>
          <a:p>
            <a:pPr algn="l">
              <a:lnSpc>
                <a:spcPct val="115000"/>
              </a:lnSpc>
            </a:pPr>
            <a:r>
              <a:rPr sz="1100" b="0" dirty="0" err="1">
                <a:solidFill>
                  <a:srgbClr val="1A1A2E"/>
                </a:solidFill>
                <a:latin typeface="メイリオ"/>
                <a:ea typeface="メイリオ"/>
                <a:cs typeface="メイリオ"/>
              </a:rPr>
              <a:t>置くことで取りこぼしが減る</a:t>
            </a:r>
            <a:r>
              <a:rPr sz="1100" b="0" dirty="0">
                <a:solidFill>
                  <a:srgbClr val="1A1A2E"/>
                </a:solidFill>
                <a:latin typeface="メイリオ"/>
                <a:ea typeface="メイリオ"/>
                <a:cs typeface="メイリオ"/>
              </a:rPr>
              <a:t>。</a:t>
            </a:r>
          </a:p>
        </p:txBody>
      </p:sp>
      <p:sp>
        <p:nvSpPr>
          <p:cNvPr id="47" name="Rectangle 46"/>
          <p:cNvSpPr/>
          <p:nvPr/>
        </p:nvSpPr>
        <p:spPr>
          <a:xfrm>
            <a:off x="316800" y="4590000"/>
            <a:ext cx="9273600" cy="2448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316800" y="4590000"/>
            <a:ext cx="9273600" cy="244800"/>
          </a:xfrm>
          <a:prstGeom prst="rect">
            <a:avLst/>
          </a:prstGeom>
          <a:noFill/>
        </p:spPr>
        <p:txBody>
          <a:bodyPr wrap="square" lIns="0" tIns="10800" rIns="0" bIns="10800" anchor="ctr">
            <a:spAutoFit/>
          </a:bodyPr>
          <a:lstStyle/>
          <a:p>
            <a:pPr algn="ctr">
              <a:lnSpc>
                <a:spcPct val="115000"/>
              </a:lnSpc>
            </a:pPr>
            <a:r>
              <a:rPr sz="1200" b="1">
                <a:solidFill>
                  <a:srgbClr val="FFFFFF"/>
                </a:solidFill>
                <a:latin typeface="メイリオ"/>
                <a:ea typeface="メイリオ"/>
                <a:cs typeface="メイリオ"/>
              </a:rPr>
              <a:t>どう友だちをアクションに結びつけるか？　（⑤ 〜 ⑧）</a:t>
            </a:r>
          </a:p>
        </p:txBody>
      </p:sp>
      <p:sp>
        <p:nvSpPr>
          <p:cNvPr id="49" name="Rounded Rectangle 48"/>
          <p:cNvSpPr/>
          <p:nvPr/>
        </p:nvSpPr>
        <p:spPr>
          <a:xfrm>
            <a:off x="396000" y="48852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446400" y="48852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⑤ </a:t>
            </a:r>
            <a:r>
              <a:rPr sz="1100" b="1">
                <a:solidFill>
                  <a:srgbClr val="1A1A2E"/>
                </a:solidFill>
                <a:latin typeface="メイリオ"/>
                <a:ea typeface="メイリオ"/>
                <a:cs typeface="メイリオ"/>
              </a:rPr>
              <a:t>KW自動応答</a:t>
            </a:r>
          </a:p>
        </p:txBody>
      </p:sp>
      <p:sp>
        <p:nvSpPr>
          <p:cNvPr id="51" name="Rounded Rectangle 50"/>
          <p:cNvSpPr/>
          <p:nvPr/>
        </p:nvSpPr>
        <p:spPr>
          <a:xfrm>
            <a:off x="2743199" y="48852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2793599" y="48852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⑤ </a:t>
            </a:r>
            <a:r>
              <a:rPr sz="1100" b="1">
                <a:solidFill>
                  <a:srgbClr val="1A1A2E"/>
                </a:solidFill>
                <a:latin typeface="メイリオ"/>
                <a:ea typeface="メイリオ"/>
                <a:cs typeface="メイリオ"/>
              </a:rPr>
              <a:t>日程調整の自動化</a:t>
            </a:r>
          </a:p>
        </p:txBody>
      </p:sp>
      <p:sp>
        <p:nvSpPr>
          <p:cNvPr id="53" name="Rounded Rectangle 52"/>
          <p:cNvSpPr/>
          <p:nvPr/>
        </p:nvSpPr>
        <p:spPr>
          <a:xfrm>
            <a:off x="5090400" y="48852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5140800" y="48852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⑤ </a:t>
            </a:r>
            <a:r>
              <a:rPr sz="1100" b="1">
                <a:solidFill>
                  <a:srgbClr val="1A1A2E"/>
                </a:solidFill>
                <a:latin typeface="メイリオ"/>
                <a:ea typeface="メイリオ"/>
                <a:cs typeface="メイリオ"/>
              </a:rPr>
              <a:t>ホットリード検知</a:t>
            </a:r>
          </a:p>
        </p:txBody>
      </p:sp>
      <p:sp>
        <p:nvSpPr>
          <p:cNvPr id="55" name="Rounded Rectangle 54"/>
          <p:cNvSpPr/>
          <p:nvPr/>
        </p:nvSpPr>
        <p:spPr>
          <a:xfrm>
            <a:off x="7437600" y="48852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7488000" y="48852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⑥ </a:t>
            </a:r>
            <a:r>
              <a:rPr sz="1100" b="1">
                <a:solidFill>
                  <a:srgbClr val="1A1A2E"/>
                </a:solidFill>
                <a:latin typeface="メイリオ"/>
                <a:ea typeface="メイリオ"/>
                <a:cs typeface="メイリオ"/>
              </a:rPr>
              <a:t>失注リストへ再接触</a:t>
            </a:r>
          </a:p>
        </p:txBody>
      </p:sp>
      <p:sp>
        <p:nvSpPr>
          <p:cNvPr id="57" name="Rounded Rectangle 56"/>
          <p:cNvSpPr/>
          <p:nvPr/>
        </p:nvSpPr>
        <p:spPr>
          <a:xfrm>
            <a:off x="396000" y="52236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446400" y="52236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⑥ </a:t>
            </a:r>
            <a:r>
              <a:rPr sz="1100" b="1">
                <a:solidFill>
                  <a:srgbClr val="1A1A2E"/>
                </a:solidFill>
                <a:latin typeface="メイリオ"/>
                <a:ea typeface="メイリオ"/>
                <a:cs typeface="メイリオ"/>
              </a:rPr>
              <a:t>モーメント配信</a:t>
            </a:r>
          </a:p>
        </p:txBody>
      </p:sp>
      <p:sp>
        <p:nvSpPr>
          <p:cNvPr id="59" name="Rounded Rectangle 58"/>
          <p:cNvSpPr/>
          <p:nvPr/>
        </p:nvSpPr>
        <p:spPr>
          <a:xfrm>
            <a:off x="2743199" y="52236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2793599" y="52236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⑥ </a:t>
            </a:r>
            <a:r>
              <a:rPr sz="1100" b="1">
                <a:solidFill>
                  <a:srgbClr val="1A1A2E"/>
                </a:solidFill>
                <a:latin typeface="メイリオ"/>
                <a:ea typeface="メイリオ"/>
                <a:cs typeface="メイリオ"/>
              </a:rPr>
              <a:t>通知メッセでリスト活性化</a:t>
            </a:r>
          </a:p>
        </p:txBody>
      </p:sp>
      <p:sp>
        <p:nvSpPr>
          <p:cNvPr id="61" name="Rounded Rectangle 60"/>
          <p:cNvSpPr/>
          <p:nvPr/>
        </p:nvSpPr>
        <p:spPr>
          <a:xfrm>
            <a:off x="5090400" y="52236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5140800" y="52236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⑥ </a:t>
            </a:r>
            <a:r>
              <a:rPr sz="1100" b="1">
                <a:solidFill>
                  <a:srgbClr val="1A1A2E"/>
                </a:solidFill>
                <a:latin typeface="メイリオ"/>
                <a:ea typeface="メイリオ"/>
                <a:cs typeface="メイリオ"/>
              </a:rPr>
              <a:t>カゴ落ちリマインド</a:t>
            </a:r>
          </a:p>
        </p:txBody>
      </p:sp>
      <p:sp>
        <p:nvSpPr>
          <p:cNvPr id="63" name="Rounded Rectangle 62"/>
          <p:cNvSpPr/>
          <p:nvPr/>
        </p:nvSpPr>
        <p:spPr>
          <a:xfrm>
            <a:off x="7437600" y="52236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7488000" y="52236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⑦ </a:t>
            </a:r>
            <a:r>
              <a:rPr sz="1100" b="1">
                <a:solidFill>
                  <a:srgbClr val="1A1A2E"/>
                </a:solidFill>
                <a:latin typeface="メイリオ"/>
                <a:ea typeface="メイリオ"/>
                <a:cs typeface="メイリオ"/>
              </a:rPr>
              <a:t>BOT×有人の切替</a:t>
            </a:r>
          </a:p>
        </p:txBody>
      </p:sp>
      <p:sp>
        <p:nvSpPr>
          <p:cNvPr id="65" name="Rounded Rectangle 64"/>
          <p:cNvSpPr/>
          <p:nvPr/>
        </p:nvSpPr>
        <p:spPr>
          <a:xfrm>
            <a:off x="396000" y="55620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446400" y="55620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⑧ </a:t>
            </a:r>
            <a:r>
              <a:rPr sz="1100" b="1">
                <a:solidFill>
                  <a:srgbClr val="1A1A2E"/>
                </a:solidFill>
                <a:latin typeface="メイリオ"/>
                <a:ea typeface="メイリオ"/>
                <a:cs typeface="メイリオ"/>
              </a:rPr>
              <a:t>アフターフォロー</a:t>
            </a:r>
          </a:p>
        </p:txBody>
      </p:sp>
      <p:sp>
        <p:nvSpPr>
          <p:cNvPr id="67" name="Rounded Rectangle 66"/>
          <p:cNvSpPr/>
          <p:nvPr/>
        </p:nvSpPr>
        <p:spPr>
          <a:xfrm>
            <a:off x="2743199" y="55620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2793599" y="55620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⑧ </a:t>
            </a:r>
            <a:r>
              <a:rPr sz="1100" b="1">
                <a:solidFill>
                  <a:srgbClr val="1A1A2E"/>
                </a:solidFill>
                <a:latin typeface="メイリオ"/>
                <a:ea typeface="メイリオ"/>
                <a:cs typeface="メイリオ"/>
              </a:rPr>
              <a:t>記念日配信</a:t>
            </a:r>
          </a:p>
        </p:txBody>
      </p:sp>
      <p:sp>
        <p:nvSpPr>
          <p:cNvPr id="69" name="Rounded Rectangle 68"/>
          <p:cNvSpPr/>
          <p:nvPr/>
        </p:nvSpPr>
        <p:spPr>
          <a:xfrm>
            <a:off x="5090400" y="55620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5140800" y="55620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⑧ </a:t>
            </a:r>
            <a:r>
              <a:rPr sz="1100" b="1">
                <a:solidFill>
                  <a:srgbClr val="1A1A2E"/>
                </a:solidFill>
                <a:latin typeface="メイリオ"/>
                <a:ea typeface="メイリオ"/>
                <a:cs typeface="メイリオ"/>
              </a:rPr>
              <a:t>利用状況連動アップセル</a:t>
            </a:r>
          </a:p>
        </p:txBody>
      </p:sp>
      <p:sp>
        <p:nvSpPr>
          <p:cNvPr id="71" name="Rounded Rectangle 70"/>
          <p:cNvSpPr/>
          <p:nvPr/>
        </p:nvSpPr>
        <p:spPr>
          <a:xfrm>
            <a:off x="7437600" y="55620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7488000" y="55620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⑧ </a:t>
            </a:r>
            <a:r>
              <a:rPr sz="1100" b="1">
                <a:solidFill>
                  <a:srgbClr val="1A1A2E"/>
                </a:solidFill>
                <a:latin typeface="メイリオ"/>
                <a:ea typeface="メイリオ"/>
                <a:cs typeface="メイリオ"/>
              </a:rPr>
              <a:t>関連商材クロスセル</a:t>
            </a:r>
          </a:p>
        </p:txBody>
      </p:sp>
      <p:sp>
        <p:nvSpPr>
          <p:cNvPr id="73" name="TextBox 72"/>
          <p:cNvSpPr txBox="1"/>
          <p:nvPr/>
        </p:nvSpPr>
        <p:spPr>
          <a:xfrm>
            <a:off x="316800" y="5983200"/>
            <a:ext cx="9273600" cy="324000"/>
          </a:xfrm>
          <a:prstGeom prst="rect">
            <a:avLst/>
          </a:prstGeom>
          <a:noFill/>
        </p:spPr>
        <p:txBody>
          <a:bodyPr wrap="square" lIns="0" tIns="10800" rIns="0" bIns="10800" anchor="ctr">
            <a:spAutoFit/>
          </a:bodyPr>
          <a:lstStyle/>
          <a:p>
            <a:pPr algn="ctr">
              <a:lnSpc>
                <a:spcPct val="115000"/>
              </a:lnSpc>
            </a:pPr>
            <a:r>
              <a:rPr sz="1400" b="1">
                <a:solidFill>
                  <a:srgbClr val="C00000"/>
                </a:solidFill>
                <a:latin typeface="メイリオ"/>
                <a:ea typeface="メイリオ"/>
                <a:cs typeface="メイリオ"/>
              </a:rPr>
              <a:t>施策は獲得より後ろに多い。増やすことより、増えた友だちをどう扱うかで差がつく。</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53F5926-064C-E9E2-1BF7-7405461E3900}"/>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036CA518-3F59-3390-7B5A-E644AD768AD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具体施策</a:t>
            </a:r>
          </a:p>
        </p:txBody>
      </p:sp>
      <p:sp>
        <p:nvSpPr>
          <p:cNvPr id="2" name="Google Shape;752;p28">
            <a:extLst>
              <a:ext uri="{FF2B5EF4-FFF2-40B4-BE49-F238E27FC236}">
                <a16:creationId xmlns:a16="http://schemas.microsoft.com/office/drawing/2014/main" id="{19E80E8E-60A7-3A23-9CC8-7604796F1C0C}"/>
              </a:ext>
            </a:extLst>
          </p:cNvPr>
          <p:cNvSpPr txBox="1"/>
          <p:nvPr/>
        </p:nvSpPr>
        <p:spPr>
          <a:xfrm>
            <a:off x="309397" y="778217"/>
            <a:ext cx="9330992"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想定：低ハードルの</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CV</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地点を設定してリード情報を大量獲得する動線構築</a:t>
            </a:r>
          </a:p>
        </p:txBody>
      </p:sp>
      <p:sp>
        <p:nvSpPr>
          <p:cNvPr id="245" name="Shape 8">
            <a:extLst>
              <a:ext uri="{FF2B5EF4-FFF2-40B4-BE49-F238E27FC236}">
                <a16:creationId xmlns:a16="http://schemas.microsoft.com/office/drawing/2014/main" id="{50B34EBB-32AA-4AD8-2936-6751081DDE7C}"/>
              </a:ext>
            </a:extLst>
          </p:cNvPr>
          <p:cNvSpPr/>
          <p:nvPr/>
        </p:nvSpPr>
        <p:spPr>
          <a:xfrm>
            <a:off x="603747" y="1309908"/>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47" name="Text 9">
            <a:extLst>
              <a:ext uri="{FF2B5EF4-FFF2-40B4-BE49-F238E27FC236}">
                <a16:creationId xmlns:a16="http://schemas.microsoft.com/office/drawing/2014/main" id="{6B824CCD-B508-0A92-337C-8E55E54ECCC6}"/>
              </a:ext>
            </a:extLst>
          </p:cNvPr>
          <p:cNvSpPr/>
          <p:nvPr/>
        </p:nvSpPr>
        <p:spPr>
          <a:xfrm>
            <a:off x="731763" y="1294892"/>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パターン A　入口設計</a:t>
            </a:r>
            <a:endParaRPr lang="en-US" sz="1000" dirty="0">
              <a:latin typeface="メイリオ" panose="020B0604030504040204" pitchFamily="50" charset="-128"/>
              <a:ea typeface="メイリオ" panose="020B0604030504040204" pitchFamily="50" charset="-128"/>
            </a:endParaRPr>
          </a:p>
        </p:txBody>
      </p:sp>
      <p:sp>
        <p:nvSpPr>
          <p:cNvPr id="249" name="Text 10">
            <a:extLst>
              <a:ext uri="{FF2B5EF4-FFF2-40B4-BE49-F238E27FC236}">
                <a16:creationId xmlns:a16="http://schemas.microsoft.com/office/drawing/2014/main" id="{84F4A405-7F45-B583-37DE-94237EEF3D61}"/>
              </a:ext>
            </a:extLst>
          </p:cNvPr>
          <p:cNvSpPr/>
          <p:nvPr/>
        </p:nvSpPr>
        <p:spPr>
          <a:xfrm>
            <a:off x="2679778" y="1294892"/>
            <a:ext cx="2178492" cy="182880"/>
          </a:xfrm>
          <a:prstGeom prst="rect">
            <a:avLst/>
          </a:prstGeom>
          <a:noFill/>
          <a:ln/>
        </p:spPr>
        <p:txBody>
          <a:bodyPr wrap="square" lIns="0" tIns="0" rIns="0" bIns="0" rtlCol="0" anchor="ctr"/>
          <a:lstStyle/>
          <a:p>
            <a:pPr marL="0" indent="0">
              <a:buNone/>
            </a:pPr>
            <a:r>
              <a:rPr lang="en-US" sz="900" i="1" dirty="0">
                <a:solidFill>
                  <a:srgbClr val="CADCF2"/>
                </a:solidFill>
                <a:latin typeface="メイリオ" panose="020B0604030504040204" pitchFamily="50" charset="-128"/>
                <a:ea typeface="メイリオ" panose="020B0604030504040204" pitchFamily="50" charset="-128"/>
                <a:cs typeface="Calibri" pitchFamily="34" charset="-120"/>
              </a:rPr>
              <a:t>LINE登録をCVゴールに変える</a:t>
            </a:r>
            <a:endParaRPr lang="en-US" sz="700" dirty="0">
              <a:latin typeface="メイリオ" panose="020B0604030504040204" pitchFamily="50" charset="-128"/>
              <a:ea typeface="メイリオ" panose="020B0604030504040204" pitchFamily="50" charset="-128"/>
            </a:endParaRPr>
          </a:p>
        </p:txBody>
      </p:sp>
      <p:sp>
        <p:nvSpPr>
          <p:cNvPr id="251" name="Shape 11">
            <a:extLst>
              <a:ext uri="{FF2B5EF4-FFF2-40B4-BE49-F238E27FC236}">
                <a16:creationId xmlns:a16="http://schemas.microsoft.com/office/drawing/2014/main" id="{E03D806A-5D1C-D296-4B14-ED4D280CB458}"/>
              </a:ext>
            </a:extLst>
          </p:cNvPr>
          <p:cNvSpPr/>
          <p:nvPr/>
        </p:nvSpPr>
        <p:spPr>
          <a:xfrm>
            <a:off x="5047731" y="1309908"/>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53" name="Text 12">
            <a:extLst>
              <a:ext uri="{FF2B5EF4-FFF2-40B4-BE49-F238E27FC236}">
                <a16:creationId xmlns:a16="http://schemas.microsoft.com/office/drawing/2014/main" id="{4B548AFE-3848-314C-CA69-8B8E255E25A3}"/>
              </a:ext>
            </a:extLst>
          </p:cNvPr>
          <p:cNvSpPr/>
          <p:nvPr/>
        </p:nvSpPr>
        <p:spPr>
          <a:xfrm>
            <a:off x="5175747" y="1294892"/>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パターン B　特典訴求</a:t>
            </a:r>
            <a:endParaRPr lang="en-US" sz="1000" dirty="0">
              <a:latin typeface="メイリオ" panose="020B0604030504040204" pitchFamily="50" charset="-128"/>
              <a:ea typeface="メイリオ" panose="020B0604030504040204" pitchFamily="50" charset="-128"/>
            </a:endParaRPr>
          </a:p>
        </p:txBody>
      </p:sp>
      <p:sp>
        <p:nvSpPr>
          <p:cNvPr id="255" name="Text 13">
            <a:extLst>
              <a:ext uri="{FF2B5EF4-FFF2-40B4-BE49-F238E27FC236}">
                <a16:creationId xmlns:a16="http://schemas.microsoft.com/office/drawing/2014/main" id="{F7BBED76-5EF3-CF1C-3E94-BFDDA81FC4CB}"/>
              </a:ext>
            </a:extLst>
          </p:cNvPr>
          <p:cNvSpPr/>
          <p:nvPr/>
        </p:nvSpPr>
        <p:spPr>
          <a:xfrm>
            <a:off x="7123762" y="1294892"/>
            <a:ext cx="2178492" cy="182880"/>
          </a:xfrm>
          <a:prstGeom prst="rect">
            <a:avLst/>
          </a:prstGeom>
          <a:noFill/>
          <a:ln/>
        </p:spPr>
        <p:txBody>
          <a:bodyPr wrap="square" lIns="0" tIns="0" rIns="0" bIns="0" rtlCol="0" anchor="ctr"/>
          <a:lstStyle/>
          <a:p>
            <a:pPr marL="0" indent="0">
              <a:buNone/>
            </a:pPr>
            <a:r>
              <a:rPr lang="en-US" sz="900" i="1" dirty="0">
                <a:solidFill>
                  <a:srgbClr val="CADCF2"/>
                </a:solidFill>
                <a:latin typeface="メイリオ" panose="020B0604030504040204" pitchFamily="50" charset="-128"/>
                <a:ea typeface="メイリオ" panose="020B0604030504040204" pitchFamily="50" charset="-128"/>
                <a:cs typeface="Calibri" pitchFamily="34" charset="-120"/>
              </a:rPr>
              <a:t>もらえる理由を先に見せる</a:t>
            </a:r>
            <a:endParaRPr lang="en-US" sz="700" dirty="0">
              <a:latin typeface="メイリオ" panose="020B0604030504040204" pitchFamily="50" charset="-128"/>
              <a:ea typeface="メイリオ" panose="020B0604030504040204" pitchFamily="50" charset="-128"/>
            </a:endParaRPr>
          </a:p>
        </p:txBody>
      </p:sp>
      <p:sp>
        <p:nvSpPr>
          <p:cNvPr id="257" name="Shape 15">
            <a:extLst>
              <a:ext uri="{FF2B5EF4-FFF2-40B4-BE49-F238E27FC236}">
                <a16:creationId xmlns:a16="http://schemas.microsoft.com/office/drawing/2014/main" id="{3C3A65BE-9DC3-733C-E32C-C6463CB1B2D8}"/>
              </a:ext>
            </a:extLst>
          </p:cNvPr>
          <p:cNvSpPr/>
          <p:nvPr/>
        </p:nvSpPr>
        <p:spPr>
          <a:xfrm>
            <a:off x="603747" y="156077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61" name="Shape 17">
            <a:extLst>
              <a:ext uri="{FF2B5EF4-FFF2-40B4-BE49-F238E27FC236}">
                <a16:creationId xmlns:a16="http://schemas.microsoft.com/office/drawing/2014/main" id="{3CF94F6C-2ADA-3F87-0FEF-DBA69394A376}"/>
              </a:ext>
            </a:extLst>
          </p:cNvPr>
          <p:cNvSpPr/>
          <p:nvPr/>
        </p:nvSpPr>
        <p:spPr>
          <a:xfrm>
            <a:off x="713475" y="165221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63" name="Text 18">
            <a:extLst>
              <a:ext uri="{FF2B5EF4-FFF2-40B4-BE49-F238E27FC236}">
                <a16:creationId xmlns:a16="http://schemas.microsoft.com/office/drawing/2014/main" id="{103195C8-2651-E639-EA61-8D610F734E60}"/>
              </a:ext>
            </a:extLst>
          </p:cNvPr>
          <p:cNvSpPr/>
          <p:nvPr/>
        </p:nvSpPr>
        <p:spPr>
          <a:xfrm>
            <a:off x="713475" y="1675046"/>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267" name="Text 20">
            <a:extLst>
              <a:ext uri="{FF2B5EF4-FFF2-40B4-BE49-F238E27FC236}">
                <a16:creationId xmlns:a16="http://schemas.microsoft.com/office/drawing/2014/main" id="{5FD52149-2769-6790-5E24-12A543DB12BE}"/>
              </a:ext>
            </a:extLst>
          </p:cNvPr>
          <p:cNvSpPr/>
          <p:nvPr/>
        </p:nvSpPr>
        <p:spPr>
          <a:xfrm>
            <a:off x="1060947" y="1675046"/>
            <a:ext cx="859536" cy="201168"/>
          </a:xfrm>
          <a:prstGeom prst="rect">
            <a:avLst/>
          </a:prstGeom>
          <a:no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SEO・広告流入</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269" name="Text 21">
            <a:extLst>
              <a:ext uri="{FF2B5EF4-FFF2-40B4-BE49-F238E27FC236}">
                <a16:creationId xmlns:a16="http://schemas.microsoft.com/office/drawing/2014/main" id="{CD72F40E-8420-7001-60D2-BE4609277B4B}"/>
              </a:ext>
            </a:extLst>
          </p:cNvPr>
          <p:cNvSpPr/>
          <p:nvPr/>
        </p:nvSpPr>
        <p:spPr>
          <a:xfrm>
            <a:off x="1975347" y="1675046"/>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「資料・診断」をLINE登録特典に設定</a:t>
            </a:r>
            <a:endParaRPr lang="en-US" sz="1000" dirty="0">
              <a:latin typeface="メイリオ" panose="020B0604030504040204" pitchFamily="50" charset="-128"/>
              <a:ea typeface="メイリオ" panose="020B0604030504040204" pitchFamily="50" charset="-128"/>
            </a:endParaRPr>
          </a:p>
        </p:txBody>
      </p:sp>
      <p:sp>
        <p:nvSpPr>
          <p:cNvPr id="271" name="Text 22">
            <a:extLst>
              <a:ext uri="{FF2B5EF4-FFF2-40B4-BE49-F238E27FC236}">
                <a16:creationId xmlns:a16="http://schemas.microsoft.com/office/drawing/2014/main" id="{9E779F3B-EE90-9E2A-0F05-BE0AF6DB44A6}"/>
              </a:ext>
            </a:extLst>
          </p:cNvPr>
          <p:cNvSpPr/>
          <p:nvPr/>
        </p:nvSpPr>
        <p:spPr>
          <a:xfrm>
            <a:off x="713475" y="2106046"/>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フォーム入力より低ハードルなLINE登録をCV地点に変更。「まず資料だけ」「30秒診断」など登録理由を明確にし、友だち追加率を0.8〜1.0%前後に改善する。</a:t>
            </a:r>
            <a:endParaRPr lang="en-US" sz="600" dirty="0">
              <a:latin typeface="メイリオ" panose="020B0604030504040204" pitchFamily="50" charset="-128"/>
              <a:ea typeface="メイリオ" panose="020B0604030504040204" pitchFamily="50" charset="-128"/>
            </a:endParaRPr>
          </a:p>
        </p:txBody>
      </p:sp>
      <p:sp>
        <p:nvSpPr>
          <p:cNvPr id="273" name="Shape 23">
            <a:extLst>
              <a:ext uri="{FF2B5EF4-FFF2-40B4-BE49-F238E27FC236}">
                <a16:creationId xmlns:a16="http://schemas.microsoft.com/office/drawing/2014/main" id="{675C0BB0-8300-FD46-0D46-92211B03501E}"/>
              </a:ext>
            </a:extLst>
          </p:cNvPr>
          <p:cNvSpPr/>
          <p:nvPr/>
        </p:nvSpPr>
        <p:spPr>
          <a:xfrm>
            <a:off x="695187" y="2621391"/>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275" name="Text 24">
            <a:extLst>
              <a:ext uri="{FF2B5EF4-FFF2-40B4-BE49-F238E27FC236}">
                <a16:creationId xmlns:a16="http://schemas.microsoft.com/office/drawing/2014/main" id="{656BBEFB-D770-4F75-DBE8-633CD2956F1D}"/>
              </a:ext>
            </a:extLst>
          </p:cNvPr>
          <p:cNvSpPr/>
          <p:nvPr/>
        </p:nvSpPr>
        <p:spPr>
          <a:xfrm>
            <a:off x="695187"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LP閲覧</a:t>
            </a:r>
            <a:endParaRPr lang="en-US" sz="700" dirty="0">
              <a:latin typeface="メイリオ" panose="020B0604030504040204" pitchFamily="50" charset="-128"/>
              <a:ea typeface="メイリオ" panose="020B0604030504040204" pitchFamily="50" charset="-128"/>
            </a:endParaRPr>
          </a:p>
        </p:txBody>
      </p:sp>
      <p:sp>
        <p:nvSpPr>
          <p:cNvPr id="277" name="Shape 25">
            <a:extLst>
              <a:ext uri="{FF2B5EF4-FFF2-40B4-BE49-F238E27FC236}">
                <a16:creationId xmlns:a16="http://schemas.microsoft.com/office/drawing/2014/main" id="{F4B93B37-4B61-4E52-FE2D-5809A86D42AD}"/>
              </a:ext>
            </a:extLst>
          </p:cNvPr>
          <p:cNvSpPr/>
          <p:nvPr/>
        </p:nvSpPr>
        <p:spPr>
          <a:xfrm>
            <a:off x="1969251"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79" name="Text 26">
            <a:extLst>
              <a:ext uri="{FF2B5EF4-FFF2-40B4-BE49-F238E27FC236}">
                <a16:creationId xmlns:a16="http://schemas.microsoft.com/office/drawing/2014/main" id="{61F60C63-C90B-8878-87EB-125EC950C1B5}"/>
              </a:ext>
            </a:extLst>
          </p:cNvPr>
          <p:cNvSpPr/>
          <p:nvPr/>
        </p:nvSpPr>
        <p:spPr>
          <a:xfrm>
            <a:off x="1969251"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81" name="Shape 27">
            <a:extLst>
              <a:ext uri="{FF2B5EF4-FFF2-40B4-BE49-F238E27FC236}">
                <a16:creationId xmlns:a16="http://schemas.microsoft.com/office/drawing/2014/main" id="{C645E261-F348-F246-EC19-FD2061AD3056}"/>
              </a:ext>
            </a:extLst>
          </p:cNvPr>
          <p:cNvSpPr/>
          <p:nvPr/>
        </p:nvSpPr>
        <p:spPr>
          <a:xfrm>
            <a:off x="2060691" y="2621391"/>
            <a:ext cx="1274064" cy="329184"/>
          </a:xfrm>
          <a:prstGeom prst="roundRect">
            <a:avLst>
              <a:gd name="adj" fmla="val 16667"/>
            </a:avLst>
          </a:prstGeom>
          <a:solidFill>
            <a:schemeClr val="tx1"/>
          </a:solidFill>
          <a:ln w="12700">
            <a:noFill/>
            <a:prstDash val="solid"/>
          </a:ln>
        </p:spPr>
        <p:txBody>
          <a:bodyPr/>
          <a:lstStyle/>
          <a:p>
            <a:endParaRPr lang="ja-JP" altLang="en-US" sz="800">
              <a:latin typeface="メイリオ" panose="020B0604030504040204" pitchFamily="50" charset="-128"/>
              <a:ea typeface="メイリオ" panose="020B0604030504040204" pitchFamily="50" charset="-128"/>
            </a:endParaRPr>
          </a:p>
        </p:txBody>
      </p:sp>
      <p:sp>
        <p:nvSpPr>
          <p:cNvPr id="283" name="Text 28">
            <a:extLst>
              <a:ext uri="{FF2B5EF4-FFF2-40B4-BE49-F238E27FC236}">
                <a16:creationId xmlns:a16="http://schemas.microsoft.com/office/drawing/2014/main" id="{2CB542A9-044C-66B0-BB16-9144232C75A6}"/>
              </a:ext>
            </a:extLst>
          </p:cNvPr>
          <p:cNvSpPr/>
          <p:nvPr/>
        </p:nvSpPr>
        <p:spPr>
          <a:xfrm>
            <a:off x="2060691"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登録特典訴求</a:t>
            </a:r>
            <a:endParaRPr lang="en-US" sz="700" dirty="0">
              <a:latin typeface="メイリオ" panose="020B0604030504040204" pitchFamily="50" charset="-128"/>
              <a:ea typeface="メイリオ" panose="020B0604030504040204" pitchFamily="50" charset="-128"/>
            </a:endParaRPr>
          </a:p>
        </p:txBody>
      </p:sp>
      <p:sp>
        <p:nvSpPr>
          <p:cNvPr id="285" name="Shape 29">
            <a:extLst>
              <a:ext uri="{FF2B5EF4-FFF2-40B4-BE49-F238E27FC236}">
                <a16:creationId xmlns:a16="http://schemas.microsoft.com/office/drawing/2014/main" id="{2C761D6B-768E-B3F9-32B2-443E96E0F616}"/>
              </a:ext>
            </a:extLst>
          </p:cNvPr>
          <p:cNvSpPr/>
          <p:nvPr/>
        </p:nvSpPr>
        <p:spPr>
          <a:xfrm>
            <a:off x="3334755"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87" name="Text 30">
            <a:extLst>
              <a:ext uri="{FF2B5EF4-FFF2-40B4-BE49-F238E27FC236}">
                <a16:creationId xmlns:a16="http://schemas.microsoft.com/office/drawing/2014/main" id="{AF64CF89-0BBE-D590-0A33-9D0B3155D051}"/>
              </a:ext>
            </a:extLst>
          </p:cNvPr>
          <p:cNvSpPr/>
          <p:nvPr/>
        </p:nvSpPr>
        <p:spPr>
          <a:xfrm>
            <a:off x="3334755"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89" name="Shape 31">
            <a:extLst>
              <a:ext uri="{FF2B5EF4-FFF2-40B4-BE49-F238E27FC236}">
                <a16:creationId xmlns:a16="http://schemas.microsoft.com/office/drawing/2014/main" id="{A59F8ABE-3E84-32A7-F100-7F2C83484C81}"/>
              </a:ext>
            </a:extLst>
          </p:cNvPr>
          <p:cNvSpPr/>
          <p:nvPr/>
        </p:nvSpPr>
        <p:spPr>
          <a:xfrm>
            <a:off x="3426195" y="2621391"/>
            <a:ext cx="1274064" cy="329184"/>
          </a:xfrm>
          <a:prstGeom prst="roundRect">
            <a:avLst>
              <a:gd name="adj" fmla="val 16667"/>
            </a:avLst>
          </a:prstGeom>
          <a:solidFill>
            <a:schemeClr val="tx1"/>
          </a:solidFill>
          <a:ln w="12700">
            <a:noFill/>
            <a:prstDash val="solid"/>
          </a:ln>
        </p:spPr>
        <p:txBody>
          <a:bodyPr/>
          <a:lstStyle/>
          <a:p>
            <a:endParaRPr lang="ja-JP" altLang="en-US" sz="800">
              <a:latin typeface="メイリオ" panose="020B0604030504040204" pitchFamily="50" charset="-128"/>
              <a:ea typeface="メイリオ" panose="020B0604030504040204" pitchFamily="50" charset="-128"/>
            </a:endParaRPr>
          </a:p>
        </p:txBody>
      </p:sp>
      <p:sp>
        <p:nvSpPr>
          <p:cNvPr id="291" name="Text 32">
            <a:extLst>
              <a:ext uri="{FF2B5EF4-FFF2-40B4-BE49-F238E27FC236}">
                <a16:creationId xmlns:a16="http://schemas.microsoft.com/office/drawing/2014/main" id="{DFCEB467-89AA-CC7A-AE80-E30F3A21DA5C}"/>
              </a:ext>
            </a:extLst>
          </p:cNvPr>
          <p:cNvSpPr/>
          <p:nvPr/>
        </p:nvSpPr>
        <p:spPr>
          <a:xfrm>
            <a:off x="3426195"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友だち追加</a:t>
            </a:r>
            <a:endParaRPr lang="en-US" sz="700" dirty="0">
              <a:latin typeface="メイリオ" panose="020B0604030504040204" pitchFamily="50" charset="-128"/>
              <a:ea typeface="メイリオ" panose="020B0604030504040204" pitchFamily="50" charset="-128"/>
            </a:endParaRPr>
          </a:p>
        </p:txBody>
      </p:sp>
      <p:sp>
        <p:nvSpPr>
          <p:cNvPr id="293" name="Shape 33">
            <a:extLst>
              <a:ext uri="{FF2B5EF4-FFF2-40B4-BE49-F238E27FC236}">
                <a16:creationId xmlns:a16="http://schemas.microsoft.com/office/drawing/2014/main" id="{1BECB815-6070-49FB-327C-8C81ADE9C9A4}"/>
              </a:ext>
            </a:extLst>
          </p:cNvPr>
          <p:cNvSpPr/>
          <p:nvPr/>
        </p:nvSpPr>
        <p:spPr>
          <a:xfrm>
            <a:off x="578878" y="3096060"/>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97" name="Shape 35">
            <a:extLst>
              <a:ext uri="{FF2B5EF4-FFF2-40B4-BE49-F238E27FC236}">
                <a16:creationId xmlns:a16="http://schemas.microsoft.com/office/drawing/2014/main" id="{8975206F-9C1B-B632-6774-C18FE5D889D0}"/>
              </a:ext>
            </a:extLst>
          </p:cNvPr>
          <p:cNvSpPr/>
          <p:nvPr/>
        </p:nvSpPr>
        <p:spPr>
          <a:xfrm>
            <a:off x="713475" y="3199663"/>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99" name="Text 36">
            <a:extLst>
              <a:ext uri="{FF2B5EF4-FFF2-40B4-BE49-F238E27FC236}">
                <a16:creationId xmlns:a16="http://schemas.microsoft.com/office/drawing/2014/main" id="{8BA14BF1-A613-57E7-03CB-725B3C62074A}"/>
              </a:ext>
            </a:extLst>
          </p:cNvPr>
          <p:cNvSpPr/>
          <p:nvPr/>
        </p:nvSpPr>
        <p:spPr>
          <a:xfrm>
            <a:off x="713475" y="3217623"/>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303" name="Text 38">
            <a:extLst>
              <a:ext uri="{FF2B5EF4-FFF2-40B4-BE49-F238E27FC236}">
                <a16:creationId xmlns:a16="http://schemas.microsoft.com/office/drawing/2014/main" id="{4C39AC04-3638-D60D-DAEF-A34EE2A29086}"/>
              </a:ext>
            </a:extLst>
          </p:cNvPr>
          <p:cNvSpPr/>
          <p:nvPr/>
        </p:nvSpPr>
        <p:spPr>
          <a:xfrm>
            <a:off x="1060947" y="3217623"/>
            <a:ext cx="859536" cy="201168"/>
          </a:xfrm>
          <a:prstGeom prst="rect">
            <a:avLst/>
          </a:prstGeom>
          <a:noFill/>
          <a:ln/>
        </p:spPr>
        <p:txBody>
          <a:bodyPr wrap="square" lIns="0" tIns="0" rIns="0" bIns="0" rtlCol="0" anchor="ctr"/>
          <a:lstStyle/>
          <a:p>
            <a:pPr marL="0" indent="0" algn="ctr">
              <a:buNone/>
            </a:pPr>
            <a:r>
              <a:rPr lang="en-US" sz="1100" b="1" dirty="0">
                <a:solidFill>
                  <a:srgbClr val="FDFDFD"/>
                </a:solidFill>
                <a:latin typeface="メイリオ" panose="020B0604030504040204" pitchFamily="50" charset="-128"/>
                <a:ea typeface="メイリオ" panose="020B0604030504040204" pitchFamily="50" charset="-128"/>
                <a:cs typeface="Calibri" pitchFamily="34" charset="-120"/>
              </a:rPr>
              <a:t>離脱防止</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05" name="Text 39">
            <a:extLst>
              <a:ext uri="{FF2B5EF4-FFF2-40B4-BE49-F238E27FC236}">
                <a16:creationId xmlns:a16="http://schemas.microsoft.com/office/drawing/2014/main" id="{65FFEC87-48E1-7E1B-7864-8D4BE90902D9}"/>
              </a:ext>
            </a:extLst>
          </p:cNvPr>
          <p:cNvSpPr/>
          <p:nvPr/>
        </p:nvSpPr>
        <p:spPr>
          <a:xfrm>
            <a:off x="1975347" y="3217623"/>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サイト滞在ユーザーへのポップアップ表示</a:t>
            </a:r>
            <a:endParaRPr lang="en-US" sz="1000" dirty="0">
              <a:latin typeface="メイリオ" panose="020B0604030504040204" pitchFamily="50" charset="-128"/>
              <a:ea typeface="メイリオ" panose="020B0604030504040204" pitchFamily="50" charset="-128"/>
            </a:endParaRPr>
          </a:p>
        </p:txBody>
      </p:sp>
      <p:sp>
        <p:nvSpPr>
          <p:cNvPr id="307" name="Text 40">
            <a:extLst>
              <a:ext uri="{FF2B5EF4-FFF2-40B4-BE49-F238E27FC236}">
                <a16:creationId xmlns:a16="http://schemas.microsoft.com/office/drawing/2014/main" id="{4D4E02D9-8D3A-B52C-98F8-C4162B5CCBF1}"/>
              </a:ext>
            </a:extLst>
          </p:cNvPr>
          <p:cNvSpPr/>
          <p:nvPr/>
        </p:nvSpPr>
        <p:spPr>
          <a:xfrm>
            <a:off x="713475" y="3643349"/>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一定時間閲覧・離脱意図を検知した際にLINE追加バナーを表示。「今すぐ問い合わせ」より「無料で資料受け取る」のCTAがCVRを向上させる。</a:t>
            </a:r>
            <a:endParaRPr lang="en-US" sz="600" dirty="0">
              <a:latin typeface="メイリオ" panose="020B0604030504040204" pitchFamily="50" charset="-128"/>
              <a:ea typeface="メイリオ" panose="020B0604030504040204" pitchFamily="50" charset="-128"/>
            </a:endParaRPr>
          </a:p>
        </p:txBody>
      </p:sp>
      <p:sp>
        <p:nvSpPr>
          <p:cNvPr id="309" name="Shape 41">
            <a:extLst>
              <a:ext uri="{FF2B5EF4-FFF2-40B4-BE49-F238E27FC236}">
                <a16:creationId xmlns:a16="http://schemas.microsoft.com/office/drawing/2014/main" id="{4ACBB8E7-2F20-7BE2-4CE1-5E63FB2D2A19}"/>
              </a:ext>
            </a:extLst>
          </p:cNvPr>
          <p:cNvSpPr/>
          <p:nvPr/>
        </p:nvSpPr>
        <p:spPr>
          <a:xfrm>
            <a:off x="695187"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11" name="Text 42">
            <a:extLst>
              <a:ext uri="{FF2B5EF4-FFF2-40B4-BE49-F238E27FC236}">
                <a16:creationId xmlns:a16="http://schemas.microsoft.com/office/drawing/2014/main" id="{801F8A22-4494-B935-6101-F68A1F96B362}"/>
              </a:ext>
            </a:extLst>
          </p:cNvPr>
          <p:cNvSpPr/>
          <p:nvPr/>
        </p:nvSpPr>
        <p:spPr>
          <a:xfrm>
            <a:off x="695187"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離脱検知</a:t>
            </a:r>
            <a:endParaRPr lang="en-US" sz="700" dirty="0">
              <a:latin typeface="メイリオ" panose="020B0604030504040204" pitchFamily="50" charset="-128"/>
              <a:ea typeface="メイリオ" panose="020B0604030504040204" pitchFamily="50" charset="-128"/>
            </a:endParaRPr>
          </a:p>
        </p:txBody>
      </p:sp>
      <p:sp>
        <p:nvSpPr>
          <p:cNvPr id="313" name="Shape 43">
            <a:extLst>
              <a:ext uri="{FF2B5EF4-FFF2-40B4-BE49-F238E27FC236}">
                <a16:creationId xmlns:a16="http://schemas.microsoft.com/office/drawing/2014/main" id="{5A6F984C-63AF-ACD2-BF62-D30F1D25838C}"/>
              </a:ext>
            </a:extLst>
          </p:cNvPr>
          <p:cNvSpPr/>
          <p:nvPr/>
        </p:nvSpPr>
        <p:spPr>
          <a:xfrm>
            <a:off x="1969251"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15" name="Text 44">
            <a:extLst>
              <a:ext uri="{FF2B5EF4-FFF2-40B4-BE49-F238E27FC236}">
                <a16:creationId xmlns:a16="http://schemas.microsoft.com/office/drawing/2014/main" id="{898D2A9B-2C91-5C0E-E0D1-08EC04B5B101}"/>
              </a:ext>
            </a:extLst>
          </p:cNvPr>
          <p:cNvSpPr/>
          <p:nvPr/>
        </p:nvSpPr>
        <p:spPr>
          <a:xfrm>
            <a:off x="1969251"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17" name="Shape 45">
            <a:extLst>
              <a:ext uri="{FF2B5EF4-FFF2-40B4-BE49-F238E27FC236}">
                <a16:creationId xmlns:a16="http://schemas.microsoft.com/office/drawing/2014/main" id="{73ECF984-984E-E268-3600-20C40EDFB08B}"/>
              </a:ext>
            </a:extLst>
          </p:cNvPr>
          <p:cNvSpPr/>
          <p:nvPr/>
        </p:nvSpPr>
        <p:spPr>
          <a:xfrm>
            <a:off x="2060691"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19" name="Text 46">
            <a:extLst>
              <a:ext uri="{FF2B5EF4-FFF2-40B4-BE49-F238E27FC236}">
                <a16:creationId xmlns:a16="http://schemas.microsoft.com/office/drawing/2014/main" id="{CF65025C-BF9E-DD3E-F624-8D11792E90C8}"/>
              </a:ext>
            </a:extLst>
          </p:cNvPr>
          <p:cNvSpPr/>
          <p:nvPr/>
        </p:nvSpPr>
        <p:spPr>
          <a:xfrm>
            <a:off x="2060691" y="4158910"/>
            <a:ext cx="1274064" cy="329184"/>
          </a:xfrm>
          <a:prstGeom prst="rect">
            <a:avLst/>
          </a:prstGeom>
          <a:noFill/>
          <a:ln/>
        </p:spPr>
        <p:txBody>
          <a:bodyPr wrap="square" lIns="0" tIns="0" rIns="0" bIns="0" rtlCol="0" anchor="ctr"/>
          <a:lstStyle/>
          <a:p>
            <a:pPr marL="0" indent="0" algn="ctr">
              <a:lnSpc>
                <a:spcPct val="115000"/>
              </a:lnSpc>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ポップアップ表示</a:t>
            </a:r>
            <a:endParaRPr lang="en-US" sz="700" dirty="0">
              <a:latin typeface="メイリオ" panose="020B0604030504040204" pitchFamily="50" charset="-128"/>
              <a:ea typeface="メイリオ" panose="020B0604030504040204" pitchFamily="50" charset="-128"/>
            </a:endParaRPr>
          </a:p>
        </p:txBody>
      </p:sp>
      <p:sp>
        <p:nvSpPr>
          <p:cNvPr id="321" name="Shape 47">
            <a:extLst>
              <a:ext uri="{FF2B5EF4-FFF2-40B4-BE49-F238E27FC236}">
                <a16:creationId xmlns:a16="http://schemas.microsoft.com/office/drawing/2014/main" id="{D4367962-B456-5285-6F36-9C11FF008F9C}"/>
              </a:ext>
            </a:extLst>
          </p:cNvPr>
          <p:cNvSpPr/>
          <p:nvPr/>
        </p:nvSpPr>
        <p:spPr>
          <a:xfrm>
            <a:off x="3334755"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23" name="Text 48">
            <a:extLst>
              <a:ext uri="{FF2B5EF4-FFF2-40B4-BE49-F238E27FC236}">
                <a16:creationId xmlns:a16="http://schemas.microsoft.com/office/drawing/2014/main" id="{A419A458-B799-4951-9FF6-942FE396F15A}"/>
              </a:ext>
            </a:extLst>
          </p:cNvPr>
          <p:cNvSpPr/>
          <p:nvPr/>
        </p:nvSpPr>
        <p:spPr>
          <a:xfrm>
            <a:off x="3334755"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25" name="Shape 49">
            <a:extLst>
              <a:ext uri="{FF2B5EF4-FFF2-40B4-BE49-F238E27FC236}">
                <a16:creationId xmlns:a16="http://schemas.microsoft.com/office/drawing/2014/main" id="{6D1A4CA3-33E1-E41B-7C83-F990FB5BE3FD}"/>
              </a:ext>
            </a:extLst>
          </p:cNvPr>
          <p:cNvSpPr/>
          <p:nvPr/>
        </p:nvSpPr>
        <p:spPr>
          <a:xfrm>
            <a:off x="3426195"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27" name="Text 50">
            <a:extLst>
              <a:ext uri="{FF2B5EF4-FFF2-40B4-BE49-F238E27FC236}">
                <a16:creationId xmlns:a16="http://schemas.microsoft.com/office/drawing/2014/main" id="{C59264FC-5AE8-9BB2-623A-9DEF6D9D796C}"/>
              </a:ext>
            </a:extLst>
          </p:cNvPr>
          <p:cNvSpPr/>
          <p:nvPr/>
        </p:nvSpPr>
        <p:spPr>
          <a:xfrm>
            <a:off x="3426195"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LINE追加</a:t>
            </a:r>
            <a:endParaRPr lang="en-US" sz="700" dirty="0">
              <a:latin typeface="メイリオ" panose="020B0604030504040204" pitchFamily="50" charset="-128"/>
              <a:ea typeface="メイリオ" panose="020B0604030504040204" pitchFamily="50" charset="-128"/>
            </a:endParaRPr>
          </a:p>
        </p:txBody>
      </p:sp>
      <p:sp>
        <p:nvSpPr>
          <p:cNvPr id="329" name="Shape 51">
            <a:extLst>
              <a:ext uri="{FF2B5EF4-FFF2-40B4-BE49-F238E27FC236}">
                <a16:creationId xmlns:a16="http://schemas.microsoft.com/office/drawing/2014/main" id="{6D963E5B-1138-2B0E-0167-B5B9BF716186}"/>
              </a:ext>
            </a:extLst>
          </p:cNvPr>
          <p:cNvSpPr/>
          <p:nvPr/>
        </p:nvSpPr>
        <p:spPr>
          <a:xfrm>
            <a:off x="603747" y="4656247"/>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3" name="Shape 53">
            <a:extLst>
              <a:ext uri="{FF2B5EF4-FFF2-40B4-BE49-F238E27FC236}">
                <a16:creationId xmlns:a16="http://schemas.microsoft.com/office/drawing/2014/main" id="{2F6F51E4-22ED-423C-D348-1FBBE8111C30}"/>
              </a:ext>
            </a:extLst>
          </p:cNvPr>
          <p:cNvSpPr/>
          <p:nvPr/>
        </p:nvSpPr>
        <p:spPr>
          <a:xfrm>
            <a:off x="713475" y="4747687"/>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5" name="Text 54">
            <a:extLst>
              <a:ext uri="{FF2B5EF4-FFF2-40B4-BE49-F238E27FC236}">
                <a16:creationId xmlns:a16="http://schemas.microsoft.com/office/drawing/2014/main" id="{89F3FA46-BAFD-DBEA-D8E2-4D32A77DBE47}"/>
              </a:ext>
            </a:extLst>
          </p:cNvPr>
          <p:cNvSpPr/>
          <p:nvPr/>
        </p:nvSpPr>
        <p:spPr>
          <a:xfrm>
            <a:off x="713475" y="4765128"/>
            <a:ext cx="274320" cy="274320"/>
          </a:xfrm>
          <a:prstGeom prst="rect">
            <a:avLst/>
          </a:prstGeom>
          <a:noFill/>
          <a:ln>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339" name="Text 56">
            <a:extLst>
              <a:ext uri="{FF2B5EF4-FFF2-40B4-BE49-F238E27FC236}">
                <a16:creationId xmlns:a16="http://schemas.microsoft.com/office/drawing/2014/main" id="{18FC6107-EEDB-D5C0-0493-D5024B31930A}"/>
              </a:ext>
            </a:extLst>
          </p:cNvPr>
          <p:cNvSpPr/>
          <p:nvPr/>
        </p:nvSpPr>
        <p:spPr>
          <a:xfrm>
            <a:off x="1060947" y="4765128"/>
            <a:ext cx="859536" cy="201168"/>
          </a:xfrm>
          <a:prstGeom prst="rect">
            <a:avLst/>
          </a:prstGeom>
          <a:noFill/>
          <a:ln/>
        </p:spPr>
        <p:txBody>
          <a:bodyPr wrap="square" lIns="0" tIns="0" rIns="0" bIns="0" rtlCol="0" anchor="ctr"/>
          <a:lstStyle/>
          <a:p>
            <a:pPr marL="0" indent="0" algn="ctr">
              <a:buNone/>
            </a:pPr>
            <a:r>
              <a:rPr lang="en-US" sz="1100" b="1" dirty="0">
                <a:solidFill>
                  <a:srgbClr val="FDFDFD"/>
                </a:solidFill>
                <a:latin typeface="メイリオ" panose="020B0604030504040204" pitchFamily="50" charset="-128"/>
                <a:ea typeface="メイリオ" panose="020B0604030504040204" pitchFamily="50" charset="-128"/>
                <a:cs typeface="Calibri" pitchFamily="34" charset="-120"/>
              </a:rPr>
              <a:t>LINE広告</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41" name="Text 57">
            <a:extLst>
              <a:ext uri="{FF2B5EF4-FFF2-40B4-BE49-F238E27FC236}">
                <a16:creationId xmlns:a16="http://schemas.microsoft.com/office/drawing/2014/main" id="{C7099D20-6647-411E-495C-A262E2099219}"/>
              </a:ext>
            </a:extLst>
          </p:cNvPr>
          <p:cNvSpPr/>
          <p:nvPr/>
        </p:nvSpPr>
        <p:spPr>
          <a:xfrm>
            <a:off x="1975347" y="4765128"/>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LINE広告（CPF）で友だち追加を直接獲得</a:t>
            </a:r>
            <a:endParaRPr lang="en-US" sz="1000" dirty="0">
              <a:latin typeface="メイリオ" panose="020B0604030504040204" pitchFamily="50" charset="-128"/>
              <a:ea typeface="メイリオ" panose="020B0604030504040204" pitchFamily="50" charset="-128"/>
            </a:endParaRPr>
          </a:p>
        </p:txBody>
      </p:sp>
      <p:sp>
        <p:nvSpPr>
          <p:cNvPr id="343" name="Text 58">
            <a:extLst>
              <a:ext uri="{FF2B5EF4-FFF2-40B4-BE49-F238E27FC236}">
                <a16:creationId xmlns:a16="http://schemas.microsoft.com/office/drawing/2014/main" id="{E2CBABF1-E10B-8655-69E8-9A7C51A6D9E3}"/>
              </a:ext>
            </a:extLst>
          </p:cNvPr>
          <p:cNvSpPr/>
          <p:nvPr/>
        </p:nvSpPr>
        <p:spPr>
          <a:xfrm>
            <a:off x="713475" y="5182003"/>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LINEのタイムラインに広告を配信し、タップするだけで友だち追加が完了するCPFを活用。フォーム入力ゼロで大量リストを獲得できる。</a:t>
            </a:r>
            <a:endParaRPr lang="en-US" sz="600" dirty="0">
              <a:latin typeface="メイリオ" panose="020B0604030504040204" pitchFamily="50" charset="-128"/>
              <a:ea typeface="メイリオ" panose="020B0604030504040204" pitchFamily="50" charset="-128"/>
            </a:endParaRPr>
          </a:p>
        </p:txBody>
      </p:sp>
      <p:sp>
        <p:nvSpPr>
          <p:cNvPr id="345" name="Shape 59">
            <a:extLst>
              <a:ext uri="{FF2B5EF4-FFF2-40B4-BE49-F238E27FC236}">
                <a16:creationId xmlns:a16="http://schemas.microsoft.com/office/drawing/2014/main" id="{F7FA16E9-28E9-5FAA-0B5A-2DEB195507E8}"/>
              </a:ext>
            </a:extLst>
          </p:cNvPr>
          <p:cNvSpPr/>
          <p:nvPr/>
        </p:nvSpPr>
        <p:spPr>
          <a:xfrm>
            <a:off x="695187"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47" name="Text 60">
            <a:extLst>
              <a:ext uri="{FF2B5EF4-FFF2-40B4-BE49-F238E27FC236}">
                <a16:creationId xmlns:a16="http://schemas.microsoft.com/office/drawing/2014/main" id="{E2B42AA0-132E-2BD1-9170-8FB822F9DD8D}"/>
              </a:ext>
            </a:extLst>
          </p:cNvPr>
          <p:cNvSpPr/>
          <p:nvPr/>
        </p:nvSpPr>
        <p:spPr>
          <a:xfrm>
            <a:off x="695187"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LINE広告配信</a:t>
            </a:r>
            <a:endParaRPr lang="en-US" sz="700" dirty="0">
              <a:latin typeface="メイリオ" panose="020B0604030504040204" pitchFamily="50" charset="-128"/>
              <a:ea typeface="メイリオ" panose="020B0604030504040204" pitchFamily="50" charset="-128"/>
            </a:endParaRPr>
          </a:p>
        </p:txBody>
      </p:sp>
      <p:sp>
        <p:nvSpPr>
          <p:cNvPr id="349" name="Shape 61">
            <a:extLst>
              <a:ext uri="{FF2B5EF4-FFF2-40B4-BE49-F238E27FC236}">
                <a16:creationId xmlns:a16="http://schemas.microsoft.com/office/drawing/2014/main" id="{2D2F38BD-F703-1322-C0EB-FF7E51A439E3}"/>
              </a:ext>
            </a:extLst>
          </p:cNvPr>
          <p:cNvSpPr/>
          <p:nvPr/>
        </p:nvSpPr>
        <p:spPr>
          <a:xfrm>
            <a:off x="1969251" y="583217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1" name="Text 62">
            <a:extLst>
              <a:ext uri="{FF2B5EF4-FFF2-40B4-BE49-F238E27FC236}">
                <a16:creationId xmlns:a16="http://schemas.microsoft.com/office/drawing/2014/main" id="{C2B3A8C9-C9C1-FA05-756B-E4822346E20D}"/>
              </a:ext>
            </a:extLst>
          </p:cNvPr>
          <p:cNvSpPr/>
          <p:nvPr/>
        </p:nvSpPr>
        <p:spPr>
          <a:xfrm>
            <a:off x="1969251" y="5832174"/>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53" name="Shape 63">
            <a:extLst>
              <a:ext uri="{FF2B5EF4-FFF2-40B4-BE49-F238E27FC236}">
                <a16:creationId xmlns:a16="http://schemas.microsoft.com/office/drawing/2014/main" id="{BD3E93B4-E548-6909-FB3B-06C1E8639169}"/>
              </a:ext>
            </a:extLst>
          </p:cNvPr>
          <p:cNvSpPr/>
          <p:nvPr/>
        </p:nvSpPr>
        <p:spPr>
          <a:xfrm>
            <a:off x="2060691"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55" name="Text 64">
            <a:extLst>
              <a:ext uri="{FF2B5EF4-FFF2-40B4-BE49-F238E27FC236}">
                <a16:creationId xmlns:a16="http://schemas.microsoft.com/office/drawing/2014/main" id="{A6256185-6AD4-3A20-1F48-E2EF9D4891CE}"/>
              </a:ext>
            </a:extLst>
          </p:cNvPr>
          <p:cNvSpPr/>
          <p:nvPr/>
        </p:nvSpPr>
        <p:spPr>
          <a:xfrm>
            <a:off x="2060691"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タップ1回</a:t>
            </a:r>
            <a:endParaRPr lang="en-US" sz="700" dirty="0">
              <a:latin typeface="メイリオ" panose="020B0604030504040204" pitchFamily="50" charset="-128"/>
              <a:ea typeface="メイリオ" panose="020B0604030504040204" pitchFamily="50" charset="-128"/>
            </a:endParaRPr>
          </a:p>
        </p:txBody>
      </p:sp>
      <p:sp>
        <p:nvSpPr>
          <p:cNvPr id="357" name="Shape 65">
            <a:extLst>
              <a:ext uri="{FF2B5EF4-FFF2-40B4-BE49-F238E27FC236}">
                <a16:creationId xmlns:a16="http://schemas.microsoft.com/office/drawing/2014/main" id="{3BF64739-BCDC-698F-EF0E-28E1322565B2}"/>
              </a:ext>
            </a:extLst>
          </p:cNvPr>
          <p:cNvSpPr/>
          <p:nvPr/>
        </p:nvSpPr>
        <p:spPr>
          <a:xfrm>
            <a:off x="3334755" y="583217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9" name="Text 66">
            <a:extLst>
              <a:ext uri="{FF2B5EF4-FFF2-40B4-BE49-F238E27FC236}">
                <a16:creationId xmlns:a16="http://schemas.microsoft.com/office/drawing/2014/main" id="{DC3E4D69-6A59-7489-79CB-99F94D990D7A}"/>
              </a:ext>
            </a:extLst>
          </p:cNvPr>
          <p:cNvSpPr/>
          <p:nvPr/>
        </p:nvSpPr>
        <p:spPr>
          <a:xfrm>
            <a:off x="3334755" y="5832174"/>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61" name="Shape 67">
            <a:extLst>
              <a:ext uri="{FF2B5EF4-FFF2-40B4-BE49-F238E27FC236}">
                <a16:creationId xmlns:a16="http://schemas.microsoft.com/office/drawing/2014/main" id="{9ADB30CA-F6EE-C089-A57A-6F22275FEAB4}"/>
              </a:ext>
            </a:extLst>
          </p:cNvPr>
          <p:cNvSpPr/>
          <p:nvPr/>
        </p:nvSpPr>
        <p:spPr>
          <a:xfrm>
            <a:off x="3426195"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63" name="Text 68">
            <a:extLst>
              <a:ext uri="{FF2B5EF4-FFF2-40B4-BE49-F238E27FC236}">
                <a16:creationId xmlns:a16="http://schemas.microsoft.com/office/drawing/2014/main" id="{98B08C9C-D511-6B94-9B7A-44C6A5439875}"/>
              </a:ext>
            </a:extLst>
          </p:cNvPr>
          <p:cNvSpPr/>
          <p:nvPr/>
        </p:nvSpPr>
        <p:spPr>
          <a:xfrm>
            <a:off x="3426195"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友だち追加完了</a:t>
            </a:r>
            <a:endParaRPr lang="en-US" sz="700" dirty="0">
              <a:latin typeface="メイリオ" panose="020B0604030504040204" pitchFamily="50" charset="-128"/>
              <a:ea typeface="メイリオ" panose="020B0604030504040204" pitchFamily="50" charset="-128"/>
            </a:endParaRPr>
          </a:p>
        </p:txBody>
      </p:sp>
      <p:sp>
        <p:nvSpPr>
          <p:cNvPr id="365" name="Shape 69">
            <a:extLst>
              <a:ext uri="{FF2B5EF4-FFF2-40B4-BE49-F238E27FC236}">
                <a16:creationId xmlns:a16="http://schemas.microsoft.com/office/drawing/2014/main" id="{D6B35E10-B1AC-F1BF-E6B4-49DBF665E15B}"/>
              </a:ext>
            </a:extLst>
          </p:cNvPr>
          <p:cNvSpPr/>
          <p:nvPr/>
        </p:nvSpPr>
        <p:spPr>
          <a:xfrm>
            <a:off x="5047731" y="1562816"/>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69" name="Shape 71">
            <a:extLst>
              <a:ext uri="{FF2B5EF4-FFF2-40B4-BE49-F238E27FC236}">
                <a16:creationId xmlns:a16="http://schemas.microsoft.com/office/drawing/2014/main" id="{68234D9A-1E80-F88C-68E3-9B0BD913573C}"/>
              </a:ext>
            </a:extLst>
          </p:cNvPr>
          <p:cNvSpPr/>
          <p:nvPr/>
        </p:nvSpPr>
        <p:spPr>
          <a:xfrm>
            <a:off x="5157459" y="1654256"/>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71" name="Text 72">
            <a:extLst>
              <a:ext uri="{FF2B5EF4-FFF2-40B4-BE49-F238E27FC236}">
                <a16:creationId xmlns:a16="http://schemas.microsoft.com/office/drawing/2014/main" id="{552F05CD-97BD-C4BE-A13E-740BB4C11A0B}"/>
              </a:ext>
            </a:extLst>
          </p:cNvPr>
          <p:cNvSpPr/>
          <p:nvPr/>
        </p:nvSpPr>
        <p:spPr>
          <a:xfrm>
            <a:off x="5157459" y="1672216"/>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375" name="Text 74">
            <a:extLst>
              <a:ext uri="{FF2B5EF4-FFF2-40B4-BE49-F238E27FC236}">
                <a16:creationId xmlns:a16="http://schemas.microsoft.com/office/drawing/2014/main" id="{DF4277DC-C449-82E4-95E9-6A760DB1A9BE}"/>
              </a:ext>
            </a:extLst>
          </p:cNvPr>
          <p:cNvSpPr/>
          <p:nvPr/>
        </p:nvSpPr>
        <p:spPr>
          <a:xfrm>
            <a:off x="5514089" y="1672216"/>
            <a:ext cx="899146" cy="214480"/>
          </a:xfrm>
          <a:prstGeom prst="rect">
            <a:avLst/>
          </a:prstGeom>
          <a:noFill/>
          <a:ln/>
        </p:spPr>
        <p:txBody>
          <a:bodyPr wrap="square" lIns="0" tIns="0" rIns="0" bIns="0" rtlCol="0" anchor="ctr"/>
          <a:lstStyle/>
          <a:p>
            <a:pPr marL="0" indent="0" algn="ctr">
              <a:buNone/>
            </a:pPr>
            <a:r>
              <a:rPr lang="en-US" sz="1100" b="1" dirty="0">
                <a:solidFill>
                  <a:srgbClr val="FDFDFD"/>
                </a:solidFill>
                <a:latin typeface="メイリオ" panose="020B0604030504040204" pitchFamily="50" charset="-128"/>
                <a:ea typeface="メイリオ" panose="020B0604030504040204" pitchFamily="50" charset="-128"/>
                <a:cs typeface="Calibri" pitchFamily="34" charset="-120"/>
              </a:rPr>
              <a:t>無料特典</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77" name="Text 75">
            <a:extLst>
              <a:ext uri="{FF2B5EF4-FFF2-40B4-BE49-F238E27FC236}">
                <a16:creationId xmlns:a16="http://schemas.microsoft.com/office/drawing/2014/main" id="{26E53970-4631-F503-9567-2A93A8696D8A}"/>
              </a:ext>
            </a:extLst>
          </p:cNvPr>
          <p:cNvSpPr/>
          <p:nvPr/>
        </p:nvSpPr>
        <p:spPr>
          <a:xfrm>
            <a:off x="6419331" y="1672216"/>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業界特化の無料チェックリスト・資料を配布</a:t>
            </a:r>
            <a:endParaRPr lang="en-US" sz="1000" dirty="0">
              <a:latin typeface="メイリオ" panose="020B0604030504040204" pitchFamily="50" charset="-128"/>
              <a:ea typeface="メイリオ" panose="020B0604030504040204" pitchFamily="50" charset="-128"/>
            </a:endParaRPr>
          </a:p>
        </p:txBody>
      </p:sp>
      <p:sp>
        <p:nvSpPr>
          <p:cNvPr id="379" name="Text 76">
            <a:extLst>
              <a:ext uri="{FF2B5EF4-FFF2-40B4-BE49-F238E27FC236}">
                <a16:creationId xmlns:a16="http://schemas.microsoft.com/office/drawing/2014/main" id="{2D8E133D-EC4C-5575-4BD8-86BE9F65DDF1}"/>
              </a:ext>
            </a:extLst>
          </p:cNvPr>
          <p:cNvSpPr/>
          <p:nvPr/>
        </p:nvSpPr>
        <p:spPr>
          <a:xfrm>
            <a:off x="5157459" y="2106046"/>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「登録するだけでもらえる」特典を用意することで登録動機を明確化。業界固有の課題解決系コンテンツ（チェックシート・業界レポート等）が最もCV率が高い。</a:t>
            </a:r>
            <a:endParaRPr lang="en-US" sz="600" dirty="0">
              <a:latin typeface="メイリオ" panose="020B0604030504040204" pitchFamily="50" charset="-128"/>
              <a:ea typeface="メイリオ" panose="020B0604030504040204" pitchFamily="50" charset="-128"/>
            </a:endParaRPr>
          </a:p>
        </p:txBody>
      </p:sp>
      <p:sp>
        <p:nvSpPr>
          <p:cNvPr id="381" name="Shape 77">
            <a:extLst>
              <a:ext uri="{FF2B5EF4-FFF2-40B4-BE49-F238E27FC236}">
                <a16:creationId xmlns:a16="http://schemas.microsoft.com/office/drawing/2014/main" id="{31E10F06-F863-67FA-6DAC-010C215B84E8}"/>
              </a:ext>
            </a:extLst>
          </p:cNvPr>
          <p:cNvSpPr/>
          <p:nvPr/>
        </p:nvSpPr>
        <p:spPr>
          <a:xfrm>
            <a:off x="5139171" y="2621391"/>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83" name="Text 78">
            <a:extLst>
              <a:ext uri="{FF2B5EF4-FFF2-40B4-BE49-F238E27FC236}">
                <a16:creationId xmlns:a16="http://schemas.microsoft.com/office/drawing/2014/main" id="{6C9F3ABA-2FF8-FD90-4A48-758E002398FB}"/>
              </a:ext>
            </a:extLst>
          </p:cNvPr>
          <p:cNvSpPr/>
          <p:nvPr/>
        </p:nvSpPr>
        <p:spPr>
          <a:xfrm>
            <a:off x="5139171"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特典を訴求</a:t>
            </a:r>
            <a:endParaRPr lang="en-US" sz="700" dirty="0">
              <a:latin typeface="メイリオ" panose="020B0604030504040204" pitchFamily="50" charset="-128"/>
              <a:ea typeface="メイリオ" panose="020B0604030504040204" pitchFamily="50" charset="-128"/>
            </a:endParaRPr>
          </a:p>
        </p:txBody>
      </p:sp>
      <p:sp>
        <p:nvSpPr>
          <p:cNvPr id="385" name="Shape 79">
            <a:extLst>
              <a:ext uri="{FF2B5EF4-FFF2-40B4-BE49-F238E27FC236}">
                <a16:creationId xmlns:a16="http://schemas.microsoft.com/office/drawing/2014/main" id="{E72C78D1-0BB9-916F-36B5-7479F8CE5D3C}"/>
              </a:ext>
            </a:extLst>
          </p:cNvPr>
          <p:cNvSpPr/>
          <p:nvPr/>
        </p:nvSpPr>
        <p:spPr>
          <a:xfrm>
            <a:off x="6413235"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87" name="Text 80">
            <a:extLst>
              <a:ext uri="{FF2B5EF4-FFF2-40B4-BE49-F238E27FC236}">
                <a16:creationId xmlns:a16="http://schemas.microsoft.com/office/drawing/2014/main" id="{BC0BBF5B-BAF8-E70E-8B07-996AA9432035}"/>
              </a:ext>
            </a:extLst>
          </p:cNvPr>
          <p:cNvSpPr/>
          <p:nvPr/>
        </p:nvSpPr>
        <p:spPr>
          <a:xfrm>
            <a:off x="6413235"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89" name="Shape 81">
            <a:extLst>
              <a:ext uri="{FF2B5EF4-FFF2-40B4-BE49-F238E27FC236}">
                <a16:creationId xmlns:a16="http://schemas.microsoft.com/office/drawing/2014/main" id="{408D8BF9-9A64-3437-189F-7AB6EF573C7B}"/>
              </a:ext>
            </a:extLst>
          </p:cNvPr>
          <p:cNvSpPr/>
          <p:nvPr/>
        </p:nvSpPr>
        <p:spPr>
          <a:xfrm>
            <a:off x="6504675" y="2621391"/>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91" name="Text 82">
            <a:extLst>
              <a:ext uri="{FF2B5EF4-FFF2-40B4-BE49-F238E27FC236}">
                <a16:creationId xmlns:a16="http://schemas.microsoft.com/office/drawing/2014/main" id="{143086EA-358A-8358-5A98-D73784BCDE63}"/>
              </a:ext>
            </a:extLst>
          </p:cNvPr>
          <p:cNvSpPr/>
          <p:nvPr/>
        </p:nvSpPr>
        <p:spPr>
          <a:xfrm>
            <a:off x="6504675"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LINE登録</a:t>
            </a:r>
            <a:endParaRPr lang="en-US" sz="700" dirty="0">
              <a:latin typeface="メイリオ" panose="020B0604030504040204" pitchFamily="50" charset="-128"/>
              <a:ea typeface="メイリオ" panose="020B0604030504040204" pitchFamily="50" charset="-128"/>
            </a:endParaRPr>
          </a:p>
        </p:txBody>
      </p:sp>
      <p:sp>
        <p:nvSpPr>
          <p:cNvPr id="393" name="Shape 83">
            <a:extLst>
              <a:ext uri="{FF2B5EF4-FFF2-40B4-BE49-F238E27FC236}">
                <a16:creationId xmlns:a16="http://schemas.microsoft.com/office/drawing/2014/main" id="{735AC242-9C22-523C-8493-ED1444186A4A}"/>
              </a:ext>
            </a:extLst>
          </p:cNvPr>
          <p:cNvSpPr/>
          <p:nvPr/>
        </p:nvSpPr>
        <p:spPr>
          <a:xfrm>
            <a:off x="7778739"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95" name="Text 84">
            <a:extLst>
              <a:ext uri="{FF2B5EF4-FFF2-40B4-BE49-F238E27FC236}">
                <a16:creationId xmlns:a16="http://schemas.microsoft.com/office/drawing/2014/main" id="{5CA0A665-628D-A550-FA00-F6977D3E7726}"/>
              </a:ext>
            </a:extLst>
          </p:cNvPr>
          <p:cNvSpPr/>
          <p:nvPr/>
        </p:nvSpPr>
        <p:spPr>
          <a:xfrm>
            <a:off x="7778739"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97" name="Shape 85">
            <a:extLst>
              <a:ext uri="{FF2B5EF4-FFF2-40B4-BE49-F238E27FC236}">
                <a16:creationId xmlns:a16="http://schemas.microsoft.com/office/drawing/2014/main" id="{C421B86C-B079-C4D9-00AC-3FDB83FD4088}"/>
              </a:ext>
            </a:extLst>
          </p:cNvPr>
          <p:cNvSpPr/>
          <p:nvPr/>
        </p:nvSpPr>
        <p:spPr>
          <a:xfrm>
            <a:off x="7870179" y="2621391"/>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99" name="Text 86">
            <a:extLst>
              <a:ext uri="{FF2B5EF4-FFF2-40B4-BE49-F238E27FC236}">
                <a16:creationId xmlns:a16="http://schemas.microsoft.com/office/drawing/2014/main" id="{C9D03C7D-B81E-970A-1517-18C66C14BA76}"/>
              </a:ext>
            </a:extLst>
          </p:cNvPr>
          <p:cNvSpPr/>
          <p:nvPr/>
        </p:nvSpPr>
        <p:spPr>
          <a:xfrm>
            <a:off x="7870179"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即時受け取り</a:t>
            </a:r>
            <a:endParaRPr lang="en-US" sz="700" dirty="0">
              <a:latin typeface="メイリオ" panose="020B0604030504040204" pitchFamily="50" charset="-128"/>
              <a:ea typeface="メイリオ" panose="020B0604030504040204" pitchFamily="50" charset="-128"/>
            </a:endParaRPr>
          </a:p>
        </p:txBody>
      </p:sp>
      <p:sp>
        <p:nvSpPr>
          <p:cNvPr id="401" name="Shape 87">
            <a:extLst>
              <a:ext uri="{FF2B5EF4-FFF2-40B4-BE49-F238E27FC236}">
                <a16:creationId xmlns:a16="http://schemas.microsoft.com/office/drawing/2014/main" id="{5F9AA049-EA0A-0919-98F9-2182FAADD0F3}"/>
              </a:ext>
            </a:extLst>
          </p:cNvPr>
          <p:cNvSpPr/>
          <p:nvPr/>
        </p:nvSpPr>
        <p:spPr>
          <a:xfrm>
            <a:off x="5047731" y="3109414"/>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5" name="Shape 89">
            <a:extLst>
              <a:ext uri="{FF2B5EF4-FFF2-40B4-BE49-F238E27FC236}">
                <a16:creationId xmlns:a16="http://schemas.microsoft.com/office/drawing/2014/main" id="{994EA064-C509-0D34-2927-FD8920D66D38}"/>
              </a:ext>
            </a:extLst>
          </p:cNvPr>
          <p:cNvSpPr/>
          <p:nvPr/>
        </p:nvSpPr>
        <p:spPr>
          <a:xfrm>
            <a:off x="5157459" y="3200854"/>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7" name="Text 90">
            <a:extLst>
              <a:ext uri="{FF2B5EF4-FFF2-40B4-BE49-F238E27FC236}">
                <a16:creationId xmlns:a16="http://schemas.microsoft.com/office/drawing/2014/main" id="{81BA2858-4DF2-33F8-E6B3-E47B08169C58}"/>
              </a:ext>
            </a:extLst>
          </p:cNvPr>
          <p:cNvSpPr/>
          <p:nvPr/>
        </p:nvSpPr>
        <p:spPr>
          <a:xfrm>
            <a:off x="5157459" y="3218704"/>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413" name="Text 93">
            <a:extLst>
              <a:ext uri="{FF2B5EF4-FFF2-40B4-BE49-F238E27FC236}">
                <a16:creationId xmlns:a16="http://schemas.microsoft.com/office/drawing/2014/main" id="{7C039DD3-77AB-DC72-1BF7-6F43484A6F48}"/>
              </a:ext>
            </a:extLst>
          </p:cNvPr>
          <p:cNvSpPr/>
          <p:nvPr/>
        </p:nvSpPr>
        <p:spPr>
          <a:xfrm>
            <a:off x="6419331" y="3218704"/>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「〇〇診断」でゲーム感覚の登録動線を設計</a:t>
            </a:r>
            <a:endParaRPr lang="en-US" sz="1000" dirty="0">
              <a:latin typeface="メイリオ" panose="020B0604030504040204" pitchFamily="50" charset="-128"/>
              <a:ea typeface="メイリオ" panose="020B0604030504040204" pitchFamily="50" charset="-128"/>
            </a:endParaRPr>
          </a:p>
        </p:txBody>
      </p:sp>
      <p:sp>
        <p:nvSpPr>
          <p:cNvPr id="415" name="Text 94">
            <a:extLst>
              <a:ext uri="{FF2B5EF4-FFF2-40B4-BE49-F238E27FC236}">
                <a16:creationId xmlns:a16="http://schemas.microsoft.com/office/drawing/2014/main" id="{DC0D3973-D909-3E0E-0185-8C5F00160F49}"/>
              </a:ext>
            </a:extLst>
          </p:cNvPr>
          <p:cNvSpPr/>
          <p:nvPr/>
        </p:nvSpPr>
        <p:spPr>
          <a:xfrm>
            <a:off x="5157459" y="3609802"/>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「あなたの〇〇タイプ診断」など自分に関係する情報を得られる診断コンテンツをLINE登録の特典に設定。結果表示→そのまま育成配信へ移行。</a:t>
            </a:r>
            <a:endParaRPr lang="en-US" sz="600" dirty="0">
              <a:latin typeface="メイリオ" panose="020B0604030504040204" pitchFamily="50" charset="-128"/>
              <a:ea typeface="メイリオ" panose="020B0604030504040204" pitchFamily="50" charset="-128"/>
            </a:endParaRPr>
          </a:p>
        </p:txBody>
      </p:sp>
      <p:sp>
        <p:nvSpPr>
          <p:cNvPr id="417" name="Shape 95">
            <a:extLst>
              <a:ext uri="{FF2B5EF4-FFF2-40B4-BE49-F238E27FC236}">
                <a16:creationId xmlns:a16="http://schemas.microsoft.com/office/drawing/2014/main" id="{A539ABF7-93E6-0B97-E682-67036D8B4469}"/>
              </a:ext>
            </a:extLst>
          </p:cNvPr>
          <p:cNvSpPr/>
          <p:nvPr/>
        </p:nvSpPr>
        <p:spPr>
          <a:xfrm>
            <a:off x="5139171" y="4158910"/>
            <a:ext cx="1274064" cy="329184"/>
          </a:xfrm>
          <a:prstGeom prst="roundRect">
            <a:avLst>
              <a:gd name="adj" fmla="val 16667"/>
            </a:avLst>
          </a:prstGeom>
          <a:solidFill>
            <a:srgbClr val="1F5FA6"/>
          </a:solidFill>
          <a:ln w="12700">
            <a:solidFill>
              <a:srgbClr val="1F5FA6"/>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19" name="Text 96">
            <a:extLst>
              <a:ext uri="{FF2B5EF4-FFF2-40B4-BE49-F238E27FC236}">
                <a16:creationId xmlns:a16="http://schemas.microsoft.com/office/drawing/2014/main" id="{872D0829-AC14-447F-7459-990C0436BD6F}"/>
              </a:ext>
            </a:extLst>
          </p:cNvPr>
          <p:cNvSpPr/>
          <p:nvPr/>
        </p:nvSpPr>
        <p:spPr>
          <a:xfrm>
            <a:off x="5139171" y="4158910"/>
            <a:ext cx="1274064" cy="329184"/>
          </a:xfrm>
          <a:prstGeom prst="rect">
            <a:avLst/>
          </a:prstGeom>
          <a:solidFill>
            <a:schemeClr val="tx1"/>
          </a:solidFill>
          <a:ln>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診断スタート</a:t>
            </a:r>
            <a:endParaRPr lang="en-US" sz="700" dirty="0">
              <a:latin typeface="メイリオ" panose="020B0604030504040204" pitchFamily="50" charset="-128"/>
              <a:ea typeface="メイリオ" panose="020B0604030504040204" pitchFamily="50" charset="-128"/>
            </a:endParaRPr>
          </a:p>
        </p:txBody>
      </p:sp>
      <p:sp>
        <p:nvSpPr>
          <p:cNvPr id="421" name="Shape 97">
            <a:extLst>
              <a:ext uri="{FF2B5EF4-FFF2-40B4-BE49-F238E27FC236}">
                <a16:creationId xmlns:a16="http://schemas.microsoft.com/office/drawing/2014/main" id="{277FEA39-DF85-2BC7-8790-281873782510}"/>
              </a:ext>
            </a:extLst>
          </p:cNvPr>
          <p:cNvSpPr/>
          <p:nvPr/>
        </p:nvSpPr>
        <p:spPr>
          <a:xfrm>
            <a:off x="6413235"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3" name="Text 98">
            <a:extLst>
              <a:ext uri="{FF2B5EF4-FFF2-40B4-BE49-F238E27FC236}">
                <a16:creationId xmlns:a16="http://schemas.microsoft.com/office/drawing/2014/main" id="{CCEC2CA7-1DA7-3457-DB53-866B5464808A}"/>
              </a:ext>
            </a:extLst>
          </p:cNvPr>
          <p:cNvSpPr/>
          <p:nvPr/>
        </p:nvSpPr>
        <p:spPr>
          <a:xfrm>
            <a:off x="6413235"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25" name="Shape 99">
            <a:extLst>
              <a:ext uri="{FF2B5EF4-FFF2-40B4-BE49-F238E27FC236}">
                <a16:creationId xmlns:a16="http://schemas.microsoft.com/office/drawing/2014/main" id="{BEE40DCA-8F8C-5FB8-E003-26C56815916C}"/>
              </a:ext>
            </a:extLst>
          </p:cNvPr>
          <p:cNvSpPr/>
          <p:nvPr/>
        </p:nvSpPr>
        <p:spPr>
          <a:xfrm>
            <a:off x="6504675" y="4158910"/>
            <a:ext cx="1274064" cy="329184"/>
          </a:xfrm>
          <a:prstGeom prst="roundRect">
            <a:avLst>
              <a:gd name="adj" fmla="val 16667"/>
            </a:avLst>
          </a:prstGeom>
          <a:solidFill>
            <a:srgbClr val="1F5FA6"/>
          </a:solidFill>
          <a:ln w="12700">
            <a:solidFill>
              <a:srgbClr val="1F5FA6"/>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7" name="Text 100">
            <a:extLst>
              <a:ext uri="{FF2B5EF4-FFF2-40B4-BE49-F238E27FC236}">
                <a16:creationId xmlns:a16="http://schemas.microsoft.com/office/drawing/2014/main" id="{00D1855F-45CE-D188-2C64-7750B7F10335}"/>
              </a:ext>
            </a:extLst>
          </p:cNvPr>
          <p:cNvSpPr/>
          <p:nvPr/>
        </p:nvSpPr>
        <p:spPr>
          <a:xfrm>
            <a:off x="6504675" y="4158910"/>
            <a:ext cx="1274064" cy="329184"/>
          </a:xfrm>
          <a:prstGeom prst="rect">
            <a:avLst/>
          </a:prstGeom>
          <a:solidFill>
            <a:schemeClr val="tx1"/>
          </a:solidFill>
          <a:ln>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LINE登録</a:t>
            </a:r>
            <a:endParaRPr lang="en-US" sz="700" dirty="0">
              <a:latin typeface="メイリオ" panose="020B0604030504040204" pitchFamily="50" charset="-128"/>
              <a:ea typeface="メイリオ" panose="020B0604030504040204" pitchFamily="50" charset="-128"/>
            </a:endParaRPr>
          </a:p>
        </p:txBody>
      </p:sp>
      <p:sp>
        <p:nvSpPr>
          <p:cNvPr id="429" name="Shape 101">
            <a:extLst>
              <a:ext uri="{FF2B5EF4-FFF2-40B4-BE49-F238E27FC236}">
                <a16:creationId xmlns:a16="http://schemas.microsoft.com/office/drawing/2014/main" id="{BC3DBCCE-C415-FFB9-0EF0-ED016BFACE66}"/>
              </a:ext>
            </a:extLst>
          </p:cNvPr>
          <p:cNvSpPr/>
          <p:nvPr/>
        </p:nvSpPr>
        <p:spPr>
          <a:xfrm>
            <a:off x="7778739"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31" name="Text 102">
            <a:extLst>
              <a:ext uri="{FF2B5EF4-FFF2-40B4-BE49-F238E27FC236}">
                <a16:creationId xmlns:a16="http://schemas.microsoft.com/office/drawing/2014/main" id="{87E68EDD-1B05-C39E-A803-3CD6952C46E3}"/>
              </a:ext>
            </a:extLst>
          </p:cNvPr>
          <p:cNvSpPr/>
          <p:nvPr/>
        </p:nvSpPr>
        <p:spPr>
          <a:xfrm>
            <a:off x="7778739"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33" name="Shape 103">
            <a:extLst>
              <a:ext uri="{FF2B5EF4-FFF2-40B4-BE49-F238E27FC236}">
                <a16:creationId xmlns:a16="http://schemas.microsoft.com/office/drawing/2014/main" id="{75540B87-5EA1-8B70-BE9E-D7CD43DE2F0B}"/>
              </a:ext>
            </a:extLst>
          </p:cNvPr>
          <p:cNvSpPr/>
          <p:nvPr/>
        </p:nvSpPr>
        <p:spPr>
          <a:xfrm>
            <a:off x="7870179"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35" name="Text 104">
            <a:extLst>
              <a:ext uri="{FF2B5EF4-FFF2-40B4-BE49-F238E27FC236}">
                <a16:creationId xmlns:a16="http://schemas.microsoft.com/office/drawing/2014/main" id="{D38E76BC-A277-7B9A-A14E-8E7F032F5CF9}"/>
              </a:ext>
            </a:extLst>
          </p:cNvPr>
          <p:cNvSpPr/>
          <p:nvPr/>
        </p:nvSpPr>
        <p:spPr>
          <a:xfrm>
            <a:off x="7870179"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結果＋ナーチャ</a:t>
            </a:r>
            <a:endParaRPr lang="en-US" sz="700" dirty="0">
              <a:latin typeface="メイリオ" panose="020B0604030504040204" pitchFamily="50" charset="-128"/>
              <a:ea typeface="メイリオ" panose="020B0604030504040204" pitchFamily="50" charset="-128"/>
            </a:endParaRPr>
          </a:p>
        </p:txBody>
      </p:sp>
      <p:sp>
        <p:nvSpPr>
          <p:cNvPr id="437" name="Shape 105">
            <a:extLst>
              <a:ext uri="{FF2B5EF4-FFF2-40B4-BE49-F238E27FC236}">
                <a16:creationId xmlns:a16="http://schemas.microsoft.com/office/drawing/2014/main" id="{7E7D236C-E62B-82AE-1904-7E878C11F436}"/>
              </a:ext>
            </a:extLst>
          </p:cNvPr>
          <p:cNvSpPr/>
          <p:nvPr/>
        </p:nvSpPr>
        <p:spPr>
          <a:xfrm>
            <a:off x="5047731" y="465815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1" name="Shape 107">
            <a:extLst>
              <a:ext uri="{FF2B5EF4-FFF2-40B4-BE49-F238E27FC236}">
                <a16:creationId xmlns:a16="http://schemas.microsoft.com/office/drawing/2014/main" id="{11FB9564-FEC8-56EC-F099-43F051A24D1D}"/>
              </a:ext>
            </a:extLst>
          </p:cNvPr>
          <p:cNvSpPr/>
          <p:nvPr/>
        </p:nvSpPr>
        <p:spPr>
          <a:xfrm>
            <a:off x="5157459" y="474959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3" name="Text 108">
            <a:extLst>
              <a:ext uri="{FF2B5EF4-FFF2-40B4-BE49-F238E27FC236}">
                <a16:creationId xmlns:a16="http://schemas.microsoft.com/office/drawing/2014/main" id="{F6040C66-355F-8C90-5BE2-53D9C4A42B57}"/>
              </a:ext>
            </a:extLst>
          </p:cNvPr>
          <p:cNvSpPr/>
          <p:nvPr/>
        </p:nvSpPr>
        <p:spPr>
          <a:xfrm>
            <a:off x="5157459" y="4767552"/>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449" name="Text 111">
            <a:extLst>
              <a:ext uri="{FF2B5EF4-FFF2-40B4-BE49-F238E27FC236}">
                <a16:creationId xmlns:a16="http://schemas.microsoft.com/office/drawing/2014/main" id="{4EB6017D-3A77-E9F5-F635-7B6DB13B4131}"/>
              </a:ext>
            </a:extLst>
          </p:cNvPr>
          <p:cNvSpPr/>
          <p:nvPr/>
        </p:nvSpPr>
        <p:spPr>
          <a:xfrm>
            <a:off x="6419331" y="4767552"/>
            <a:ext cx="2798064" cy="256032"/>
          </a:xfrm>
          <a:prstGeom prst="rect">
            <a:avLst/>
          </a:prstGeom>
          <a:noFill/>
          <a:ln/>
        </p:spPr>
        <p:txBody>
          <a:bodyPr wrap="square" lIns="0" tIns="0" rIns="0" bIns="0" rtlCol="0" anchor="ctr"/>
          <a:lstStyle/>
          <a:p>
            <a:pPr marL="0" indent="0">
              <a:buNone/>
            </a:pPr>
            <a:r>
              <a:rPr lang="en-US" sz="1000" b="1" dirty="0" err="1">
                <a:solidFill>
                  <a:srgbClr val="1A1A2E"/>
                </a:solidFill>
                <a:latin typeface="メイリオ" panose="020B0604030504040204" pitchFamily="50" charset="-128"/>
                <a:ea typeface="メイリオ" panose="020B0604030504040204" pitchFamily="50" charset="-128"/>
                <a:cs typeface="Calibri" pitchFamily="34" charset="-120"/>
              </a:rPr>
              <a:t>WEBフォームCV後サンクスページでLINE誘導</a:t>
            </a:r>
            <a:endParaRPr lang="en-US" sz="1000" dirty="0">
              <a:latin typeface="メイリオ" panose="020B0604030504040204" pitchFamily="50" charset="-128"/>
              <a:ea typeface="メイリオ" panose="020B0604030504040204" pitchFamily="50" charset="-128"/>
            </a:endParaRPr>
          </a:p>
        </p:txBody>
      </p:sp>
      <p:sp>
        <p:nvSpPr>
          <p:cNvPr id="451" name="Text 112">
            <a:extLst>
              <a:ext uri="{FF2B5EF4-FFF2-40B4-BE49-F238E27FC236}">
                <a16:creationId xmlns:a16="http://schemas.microsoft.com/office/drawing/2014/main" id="{A63DAD2F-DDAE-6E26-0FE7-A71DCF606881}"/>
              </a:ext>
            </a:extLst>
          </p:cNvPr>
          <p:cNvSpPr/>
          <p:nvPr/>
        </p:nvSpPr>
        <p:spPr>
          <a:xfrm>
            <a:off x="5157459" y="5163094"/>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問い合わせや申込のサンクスページ上にLINE追加QRコードを設置。「手続き状況・キャンペーン情報をLINEでお知らせします」という理由付けで登録率を高める。</a:t>
            </a:r>
            <a:endParaRPr lang="en-US" sz="600" dirty="0">
              <a:latin typeface="メイリオ" panose="020B0604030504040204" pitchFamily="50" charset="-128"/>
              <a:ea typeface="メイリオ" panose="020B0604030504040204" pitchFamily="50" charset="-128"/>
            </a:endParaRPr>
          </a:p>
        </p:txBody>
      </p:sp>
      <p:sp>
        <p:nvSpPr>
          <p:cNvPr id="453" name="Shape 113">
            <a:extLst>
              <a:ext uri="{FF2B5EF4-FFF2-40B4-BE49-F238E27FC236}">
                <a16:creationId xmlns:a16="http://schemas.microsoft.com/office/drawing/2014/main" id="{1A747923-8770-D6A4-F82F-4A2F7CF2E59A}"/>
              </a:ext>
            </a:extLst>
          </p:cNvPr>
          <p:cNvSpPr/>
          <p:nvPr/>
        </p:nvSpPr>
        <p:spPr>
          <a:xfrm>
            <a:off x="5139171"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55" name="Text 114">
            <a:extLst>
              <a:ext uri="{FF2B5EF4-FFF2-40B4-BE49-F238E27FC236}">
                <a16:creationId xmlns:a16="http://schemas.microsoft.com/office/drawing/2014/main" id="{C1269C45-D060-14BD-4EA5-EEA9971F9196}"/>
              </a:ext>
            </a:extLst>
          </p:cNvPr>
          <p:cNvSpPr/>
          <p:nvPr/>
        </p:nvSpPr>
        <p:spPr>
          <a:xfrm>
            <a:off x="5139171"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WEBフォームCV</a:t>
            </a:r>
            <a:endParaRPr lang="en-US" sz="700" dirty="0">
              <a:latin typeface="メイリオ" panose="020B0604030504040204" pitchFamily="50" charset="-128"/>
              <a:ea typeface="メイリオ" panose="020B0604030504040204" pitchFamily="50" charset="-128"/>
            </a:endParaRPr>
          </a:p>
        </p:txBody>
      </p:sp>
      <p:sp>
        <p:nvSpPr>
          <p:cNvPr id="457" name="Shape 115">
            <a:extLst>
              <a:ext uri="{FF2B5EF4-FFF2-40B4-BE49-F238E27FC236}">
                <a16:creationId xmlns:a16="http://schemas.microsoft.com/office/drawing/2014/main" id="{FCD11C9D-95DC-CE32-D1D6-7DA9E01A8070}"/>
              </a:ext>
            </a:extLst>
          </p:cNvPr>
          <p:cNvSpPr/>
          <p:nvPr/>
        </p:nvSpPr>
        <p:spPr>
          <a:xfrm>
            <a:off x="6413235" y="5807651"/>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59" name="Text 116">
            <a:extLst>
              <a:ext uri="{FF2B5EF4-FFF2-40B4-BE49-F238E27FC236}">
                <a16:creationId xmlns:a16="http://schemas.microsoft.com/office/drawing/2014/main" id="{0CA15731-A766-6C2F-3E49-8EB2B66C2373}"/>
              </a:ext>
            </a:extLst>
          </p:cNvPr>
          <p:cNvSpPr/>
          <p:nvPr/>
        </p:nvSpPr>
        <p:spPr>
          <a:xfrm>
            <a:off x="6413235" y="5807651"/>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61" name="Shape 117">
            <a:extLst>
              <a:ext uri="{FF2B5EF4-FFF2-40B4-BE49-F238E27FC236}">
                <a16:creationId xmlns:a16="http://schemas.microsoft.com/office/drawing/2014/main" id="{06D1EAE5-1FBE-2FD3-053D-8C52C5C51D7E}"/>
              </a:ext>
            </a:extLst>
          </p:cNvPr>
          <p:cNvSpPr/>
          <p:nvPr/>
        </p:nvSpPr>
        <p:spPr>
          <a:xfrm>
            <a:off x="6504675"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63" name="Text 118">
            <a:extLst>
              <a:ext uri="{FF2B5EF4-FFF2-40B4-BE49-F238E27FC236}">
                <a16:creationId xmlns:a16="http://schemas.microsoft.com/office/drawing/2014/main" id="{6E95A348-95C2-C3E1-0F40-D8D0B9C5F18E}"/>
              </a:ext>
            </a:extLst>
          </p:cNvPr>
          <p:cNvSpPr/>
          <p:nvPr/>
        </p:nvSpPr>
        <p:spPr>
          <a:xfrm>
            <a:off x="6504675"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サンクスページ</a:t>
            </a:r>
            <a:endParaRPr lang="en-US" sz="700" dirty="0">
              <a:latin typeface="メイリオ" panose="020B0604030504040204" pitchFamily="50" charset="-128"/>
              <a:ea typeface="メイリオ" panose="020B0604030504040204" pitchFamily="50" charset="-128"/>
            </a:endParaRPr>
          </a:p>
        </p:txBody>
      </p:sp>
      <p:sp>
        <p:nvSpPr>
          <p:cNvPr id="465" name="Shape 119">
            <a:extLst>
              <a:ext uri="{FF2B5EF4-FFF2-40B4-BE49-F238E27FC236}">
                <a16:creationId xmlns:a16="http://schemas.microsoft.com/office/drawing/2014/main" id="{052DAA84-9922-E532-C742-794FAF42CC11}"/>
              </a:ext>
            </a:extLst>
          </p:cNvPr>
          <p:cNvSpPr/>
          <p:nvPr/>
        </p:nvSpPr>
        <p:spPr>
          <a:xfrm>
            <a:off x="7778739" y="5807651"/>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67" name="Text 120">
            <a:extLst>
              <a:ext uri="{FF2B5EF4-FFF2-40B4-BE49-F238E27FC236}">
                <a16:creationId xmlns:a16="http://schemas.microsoft.com/office/drawing/2014/main" id="{6BC630B4-8A8E-3272-A831-973D660DF9AA}"/>
              </a:ext>
            </a:extLst>
          </p:cNvPr>
          <p:cNvSpPr/>
          <p:nvPr/>
        </p:nvSpPr>
        <p:spPr>
          <a:xfrm>
            <a:off x="7778739" y="5807651"/>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69" name="Shape 121">
            <a:extLst>
              <a:ext uri="{FF2B5EF4-FFF2-40B4-BE49-F238E27FC236}">
                <a16:creationId xmlns:a16="http://schemas.microsoft.com/office/drawing/2014/main" id="{255DDAF0-4E72-66D8-778E-24CDC5A34141}"/>
              </a:ext>
            </a:extLst>
          </p:cNvPr>
          <p:cNvSpPr/>
          <p:nvPr/>
        </p:nvSpPr>
        <p:spPr>
          <a:xfrm>
            <a:off x="7870179"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71" name="Text 122">
            <a:extLst>
              <a:ext uri="{FF2B5EF4-FFF2-40B4-BE49-F238E27FC236}">
                <a16:creationId xmlns:a16="http://schemas.microsoft.com/office/drawing/2014/main" id="{BC85E7AC-9264-BDB0-801D-8FD55C9ABAC6}"/>
              </a:ext>
            </a:extLst>
          </p:cNvPr>
          <p:cNvSpPr/>
          <p:nvPr/>
        </p:nvSpPr>
        <p:spPr>
          <a:xfrm>
            <a:off x="7870179"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LINE友だち追加</a:t>
            </a:r>
            <a:endParaRPr lang="en-US" sz="700" dirty="0">
              <a:latin typeface="メイリオ" panose="020B0604030504040204" pitchFamily="50" charset="-128"/>
              <a:ea typeface="メイリオ" panose="020B0604030504040204" pitchFamily="50" charset="-128"/>
            </a:endParaRPr>
          </a:p>
        </p:txBody>
      </p:sp>
      <p:sp>
        <p:nvSpPr>
          <p:cNvPr id="5" name="Shape 19">
            <a:extLst>
              <a:ext uri="{FF2B5EF4-FFF2-40B4-BE49-F238E27FC236}">
                <a16:creationId xmlns:a16="http://schemas.microsoft.com/office/drawing/2014/main" id="{779670CC-3A4B-99AD-47F8-99C1DC7CC783}"/>
              </a:ext>
            </a:extLst>
          </p:cNvPr>
          <p:cNvSpPr/>
          <p:nvPr/>
        </p:nvSpPr>
        <p:spPr>
          <a:xfrm>
            <a:off x="1060947" y="1615636"/>
            <a:ext cx="859536" cy="282151"/>
          </a:xfrm>
          <a:prstGeom prst="roundRect">
            <a:avLst>
              <a:gd name="adj" fmla="val 18182"/>
            </a:avLst>
          </a:prstGeom>
          <a:solidFill>
            <a:schemeClr val="tx2"/>
          </a:solidFill>
          <a:ln w="12700">
            <a:solidFill>
              <a:srgbClr val="D8D8E2"/>
            </a:solidFill>
            <a:prstDash val="solid"/>
          </a:ln>
        </p:spPr>
        <p:txBody>
          <a:bodyPr/>
          <a:lstStyle/>
          <a:p>
            <a:endParaRPr lang="ja-JP" altLang="en-US" sz="1600">
              <a:solidFill>
                <a:srgbClr val="FDFDFD"/>
              </a:solidFill>
              <a:latin typeface="メイリオ" panose="020B0604030504040204" pitchFamily="50" charset="-128"/>
              <a:ea typeface="メイリオ" panose="020B0604030504040204" pitchFamily="50" charset="-128"/>
            </a:endParaRPr>
          </a:p>
        </p:txBody>
      </p:sp>
      <p:sp>
        <p:nvSpPr>
          <p:cNvPr id="7" name="Text 20">
            <a:extLst>
              <a:ext uri="{FF2B5EF4-FFF2-40B4-BE49-F238E27FC236}">
                <a16:creationId xmlns:a16="http://schemas.microsoft.com/office/drawing/2014/main" id="{1DB2C24D-FB84-85D3-0975-0F08103A2C4E}"/>
              </a:ext>
            </a:extLst>
          </p:cNvPr>
          <p:cNvSpPr/>
          <p:nvPr/>
        </p:nvSpPr>
        <p:spPr>
          <a:xfrm>
            <a:off x="1060947" y="1637651"/>
            <a:ext cx="859536" cy="281683"/>
          </a:xfrm>
          <a:prstGeom prst="rect">
            <a:avLst/>
          </a:prstGeom>
          <a:noFill/>
          <a:ln/>
        </p:spPr>
        <p:txBody>
          <a:bodyPr wrap="square" lIns="0" tIns="0" rIns="0" bIns="0" rtlCol="0" anchor="ctr"/>
          <a:lstStyle/>
          <a:p>
            <a:pPr algn="ctr"/>
            <a:r>
              <a:rPr lang="ja-JP" altLang="en-US" sz="900" b="1" dirty="0">
                <a:solidFill>
                  <a:srgbClr val="FDFDFD"/>
                </a:solidFill>
                <a:latin typeface="メイリオ"/>
                <a:ea typeface="メイリオ"/>
              </a:rPr>
              <a:t>流入</a:t>
            </a:r>
            <a:r>
              <a:rPr lang="en-US" altLang="ja-JP" sz="900" b="1" dirty="0">
                <a:solidFill>
                  <a:srgbClr val="FDFDFD"/>
                </a:solidFill>
                <a:latin typeface="メイリオ"/>
                <a:ea typeface="メイリオ"/>
              </a:rPr>
              <a:t>/</a:t>
            </a:r>
            <a:r>
              <a:rPr lang="ja-JP" altLang="en-US" sz="900" b="1" dirty="0">
                <a:solidFill>
                  <a:srgbClr val="FDFDFD"/>
                </a:solidFill>
                <a:latin typeface="メイリオ"/>
                <a:ea typeface="メイリオ"/>
              </a:rPr>
              <a:t>集客</a:t>
            </a:r>
            <a:endParaRPr lang="en-US" altLang="ja-JP" sz="900" b="1" dirty="0">
              <a:solidFill>
                <a:srgbClr val="FDFDFD"/>
              </a:solidFill>
              <a:latin typeface="メイリオ" panose="020B0604030504040204" pitchFamily="50" charset="-128"/>
            </a:endParaRPr>
          </a:p>
          <a:p>
            <a:pPr algn="ctr"/>
            <a:r>
              <a:rPr lang="ja-JP" altLang="en-US" sz="900" b="1" dirty="0">
                <a:solidFill>
                  <a:srgbClr val="FDFDFD"/>
                </a:solidFill>
                <a:latin typeface="メイリオ"/>
                <a:ea typeface="メイリオ"/>
              </a:rPr>
              <a:t>チャネル</a:t>
            </a:r>
            <a:endParaRPr lang="en-US" altLang="ja-JP" sz="400" b="1" dirty="0">
              <a:solidFill>
                <a:srgbClr val="FDFDFD"/>
              </a:solidFill>
              <a:latin typeface="メイリオ" panose="020B0604030504040204" pitchFamily="50" charset="-128"/>
            </a:endParaRPr>
          </a:p>
        </p:txBody>
      </p:sp>
      <p:sp>
        <p:nvSpPr>
          <p:cNvPr id="9" name="Shape 37">
            <a:extLst>
              <a:ext uri="{FF2B5EF4-FFF2-40B4-BE49-F238E27FC236}">
                <a16:creationId xmlns:a16="http://schemas.microsoft.com/office/drawing/2014/main" id="{5F39079C-5F31-C56D-AD14-1DC3C7AEDE30}"/>
              </a:ext>
            </a:extLst>
          </p:cNvPr>
          <p:cNvSpPr/>
          <p:nvPr/>
        </p:nvSpPr>
        <p:spPr>
          <a:xfrm>
            <a:off x="1060947" y="3244070"/>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11" name="Text 38">
            <a:extLst>
              <a:ext uri="{FF2B5EF4-FFF2-40B4-BE49-F238E27FC236}">
                <a16:creationId xmlns:a16="http://schemas.microsoft.com/office/drawing/2014/main" id="{9FE95EAB-22DB-4E55-885E-2DC8280EB9CD}"/>
              </a:ext>
            </a:extLst>
          </p:cNvPr>
          <p:cNvSpPr/>
          <p:nvPr/>
        </p:nvSpPr>
        <p:spPr>
          <a:xfrm>
            <a:off x="1060947" y="3217623"/>
            <a:ext cx="859536" cy="201168"/>
          </a:xfrm>
          <a:prstGeom prst="rect">
            <a:avLst/>
          </a:prstGeom>
          <a:solidFill>
            <a:schemeClr val="tx2"/>
          </a:solidFill>
          <a:ln/>
        </p:spPr>
        <p:txBody>
          <a:bodyPr wrap="square" lIns="0" tIns="0" rIns="0" bIns="0" rtlCol="0" anchor="ctr"/>
          <a:lstStyle/>
          <a:p>
            <a:pPr marL="0" indent="0" algn="ctr">
              <a:buNone/>
            </a:pPr>
            <a:r>
              <a:rPr lang="ja-JP" altLang="en-US" sz="900" b="1" dirty="0">
                <a:solidFill>
                  <a:srgbClr val="FDFDFD"/>
                </a:solidFill>
                <a:latin typeface="メイリオ" panose="020B0604030504040204" pitchFamily="50" charset="-128"/>
                <a:ea typeface="メイリオ" panose="020B0604030504040204" pitchFamily="50" charset="-128"/>
              </a:rPr>
              <a:t>離脱防止</a:t>
            </a:r>
            <a:endParaRPr lang="en-US" sz="700" b="1" dirty="0">
              <a:solidFill>
                <a:srgbClr val="FDFDFD"/>
              </a:solidFill>
              <a:latin typeface="メイリオ" panose="020B0604030504040204" pitchFamily="50" charset="-128"/>
              <a:ea typeface="メイリオ" panose="020B0604030504040204" pitchFamily="50" charset="-128"/>
            </a:endParaRPr>
          </a:p>
        </p:txBody>
      </p:sp>
      <p:sp>
        <p:nvSpPr>
          <p:cNvPr id="13" name="Shape 55">
            <a:extLst>
              <a:ext uri="{FF2B5EF4-FFF2-40B4-BE49-F238E27FC236}">
                <a16:creationId xmlns:a16="http://schemas.microsoft.com/office/drawing/2014/main" id="{356ADFC3-885B-BB77-EA21-6C4F3B80B276}"/>
              </a:ext>
            </a:extLst>
          </p:cNvPr>
          <p:cNvSpPr/>
          <p:nvPr/>
        </p:nvSpPr>
        <p:spPr>
          <a:xfrm>
            <a:off x="1060947" y="4792094"/>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1600">
              <a:solidFill>
                <a:srgbClr val="FDFDFD"/>
              </a:solidFill>
              <a:latin typeface="メイリオ" panose="020B0604030504040204" pitchFamily="50" charset="-128"/>
              <a:ea typeface="メイリオ" panose="020B0604030504040204" pitchFamily="50" charset="-128"/>
            </a:endParaRPr>
          </a:p>
        </p:txBody>
      </p:sp>
      <p:sp>
        <p:nvSpPr>
          <p:cNvPr id="19" name="Text 92">
            <a:extLst>
              <a:ext uri="{FF2B5EF4-FFF2-40B4-BE49-F238E27FC236}">
                <a16:creationId xmlns:a16="http://schemas.microsoft.com/office/drawing/2014/main" id="{859EC5EC-52A5-A121-F295-214BCB4D4C62}"/>
              </a:ext>
            </a:extLst>
          </p:cNvPr>
          <p:cNvSpPr/>
          <p:nvPr/>
        </p:nvSpPr>
        <p:spPr>
          <a:xfrm>
            <a:off x="5514089" y="3245261"/>
            <a:ext cx="899146" cy="214480"/>
          </a:xfrm>
          <a:prstGeom prst="rect">
            <a:avLst/>
          </a:prstGeom>
          <a:noFill/>
          <a:ln/>
        </p:spPr>
        <p:txBody>
          <a:bodyPr wrap="square" lIns="0" tIns="0" rIns="0" bIns="0" rtlCol="0" anchor="ctr"/>
          <a:lstStyle/>
          <a:p>
            <a:pPr marL="0" indent="0" algn="ctr">
              <a:buNone/>
            </a:pPr>
            <a:endParaRPr lang="en-US" sz="500" dirty="0">
              <a:latin typeface="メイリオ" panose="020B0604030504040204" pitchFamily="50" charset="-128"/>
              <a:ea typeface="メイリオ" panose="020B0604030504040204" pitchFamily="50" charset="-128"/>
            </a:endParaRPr>
          </a:p>
        </p:txBody>
      </p:sp>
      <p:sp>
        <p:nvSpPr>
          <p:cNvPr id="21" name="Shape 109">
            <a:extLst>
              <a:ext uri="{FF2B5EF4-FFF2-40B4-BE49-F238E27FC236}">
                <a16:creationId xmlns:a16="http://schemas.microsoft.com/office/drawing/2014/main" id="{911D55AD-ECC0-DC10-3F42-35787A02D284}"/>
              </a:ext>
            </a:extLst>
          </p:cNvPr>
          <p:cNvSpPr/>
          <p:nvPr/>
        </p:nvSpPr>
        <p:spPr>
          <a:xfrm>
            <a:off x="5514089" y="4721862"/>
            <a:ext cx="901097" cy="306738"/>
          </a:xfrm>
          <a:prstGeom prst="roundRect">
            <a:avLst>
              <a:gd name="adj" fmla="val 18182"/>
            </a:avLst>
          </a:prstGeom>
          <a:solidFill>
            <a:srgbClr val="173559"/>
          </a:solidFill>
          <a:ln w="12700">
            <a:solidFill>
              <a:srgbClr val="D8D8E2"/>
            </a:solidFill>
            <a:prstDash val="solid"/>
          </a:ln>
        </p:spPr>
        <p:txBody>
          <a:bodyPr/>
          <a:lstStyle/>
          <a:p>
            <a:pPr algn="ctr"/>
            <a:r>
              <a:rPr lang="ja-JP" altLang="en-US" sz="800" b="1" dirty="0">
                <a:solidFill>
                  <a:srgbClr val="FDFDFD"/>
                </a:solidFill>
                <a:latin typeface="メイリオ" panose="020B0604030504040204" pitchFamily="50" charset="-128"/>
                <a:ea typeface="メイリオ" panose="020B0604030504040204" pitchFamily="50" charset="-128"/>
              </a:rPr>
              <a:t>サンクス</a:t>
            </a:r>
            <a:endParaRPr lang="en-US" altLang="ja-JP" sz="800" b="1" dirty="0">
              <a:solidFill>
                <a:srgbClr val="FDFDFD"/>
              </a:solidFill>
              <a:latin typeface="メイリオ" panose="020B0604030504040204" pitchFamily="50" charset="-128"/>
              <a:ea typeface="メイリオ" panose="020B0604030504040204" pitchFamily="50" charset="-128"/>
            </a:endParaRPr>
          </a:p>
          <a:p>
            <a:pPr algn="ctr"/>
            <a:r>
              <a:rPr lang="en-US" altLang="ja-JP" sz="800" b="1" dirty="0">
                <a:solidFill>
                  <a:srgbClr val="FDFDFD"/>
                </a:solidFill>
                <a:latin typeface="メイリオ" panose="020B0604030504040204" pitchFamily="50" charset="-128"/>
                <a:ea typeface="メイリオ" panose="020B0604030504040204" pitchFamily="50" charset="-128"/>
              </a:rPr>
              <a:t>LINE</a:t>
            </a:r>
            <a:r>
              <a:rPr lang="ja-JP" altLang="en-US" sz="800" b="1" dirty="0">
                <a:solidFill>
                  <a:srgbClr val="FDFDFD"/>
                </a:solidFill>
                <a:latin typeface="メイリオ" panose="020B0604030504040204" pitchFamily="50" charset="-128"/>
                <a:ea typeface="メイリオ" panose="020B0604030504040204" pitchFamily="50" charset="-128"/>
              </a:rPr>
              <a:t>誘導</a:t>
            </a:r>
          </a:p>
        </p:txBody>
      </p:sp>
      <p:sp>
        <p:nvSpPr>
          <p:cNvPr id="25" name="Text 110">
            <a:extLst>
              <a:ext uri="{FF2B5EF4-FFF2-40B4-BE49-F238E27FC236}">
                <a16:creationId xmlns:a16="http://schemas.microsoft.com/office/drawing/2014/main" id="{E8EED7F4-BAE1-D41E-67C4-68F570C48388}"/>
              </a:ext>
            </a:extLst>
          </p:cNvPr>
          <p:cNvSpPr/>
          <p:nvPr/>
        </p:nvSpPr>
        <p:spPr>
          <a:xfrm>
            <a:off x="5514089" y="3218704"/>
            <a:ext cx="899146" cy="183942"/>
          </a:xfrm>
          <a:prstGeom prst="rect">
            <a:avLst/>
          </a:prstGeom>
          <a:solidFill>
            <a:schemeClr val="tx2"/>
          </a:solidFill>
          <a:ln/>
        </p:spPr>
        <p:txBody>
          <a:bodyPr wrap="square" lIns="0" tIns="0" rIns="0" bIns="0" rtlCol="0" anchor="ctr"/>
          <a:lstStyle/>
          <a:p>
            <a:pPr marL="0" indent="0" algn="ctr">
              <a:buNone/>
            </a:pPr>
            <a:r>
              <a:rPr lang="ja-JP" altLang="en-US" sz="900" b="1" dirty="0">
                <a:solidFill>
                  <a:srgbClr val="FDFDFD"/>
                </a:solidFill>
                <a:latin typeface="メイリオ" panose="020B0604030504040204" pitchFamily="50" charset="-128"/>
                <a:ea typeface="メイリオ" panose="020B0604030504040204" pitchFamily="50" charset="-128"/>
              </a:rPr>
              <a:t>診断コンテンツ</a:t>
            </a:r>
            <a:endParaRPr lang="en-US" sz="700" b="1" dirty="0">
              <a:solidFill>
                <a:srgbClr val="FDFDFD"/>
              </a:solidFill>
              <a:latin typeface="メイリオ" panose="020B0604030504040204" pitchFamily="50" charset="-128"/>
              <a:ea typeface="メイリオ" panose="020B0604030504040204" pitchFamily="50" charset="-128"/>
            </a:endParaRPr>
          </a:p>
        </p:txBody>
      </p:sp>
      <p:sp>
        <p:nvSpPr>
          <p:cNvPr id="27" name="Text 110">
            <a:extLst>
              <a:ext uri="{FF2B5EF4-FFF2-40B4-BE49-F238E27FC236}">
                <a16:creationId xmlns:a16="http://schemas.microsoft.com/office/drawing/2014/main" id="{28C48291-9255-498E-EA09-1FE91DCD196F}"/>
              </a:ext>
            </a:extLst>
          </p:cNvPr>
          <p:cNvSpPr/>
          <p:nvPr/>
        </p:nvSpPr>
        <p:spPr>
          <a:xfrm>
            <a:off x="1060947" y="4765128"/>
            <a:ext cx="859536" cy="164776"/>
          </a:xfrm>
          <a:prstGeom prst="rect">
            <a:avLst/>
          </a:prstGeom>
          <a:solidFill>
            <a:schemeClr val="tx2"/>
          </a:solidFill>
          <a:ln/>
        </p:spPr>
        <p:txBody>
          <a:bodyPr wrap="square" lIns="0" tIns="0" rIns="0" bIns="0" rtlCol="0" anchor="ctr"/>
          <a:lstStyle/>
          <a:p>
            <a:pPr marL="0" indent="0" algn="ctr">
              <a:buNone/>
            </a:pPr>
            <a:r>
              <a:rPr lang="en-US" altLang="ja-JP" sz="1000" b="1" dirty="0">
                <a:solidFill>
                  <a:srgbClr val="FDFDFD"/>
                </a:solidFill>
                <a:latin typeface="メイリオ" panose="020B0604030504040204" pitchFamily="50" charset="-128"/>
                <a:ea typeface="メイリオ" panose="020B0604030504040204" pitchFamily="50" charset="-128"/>
                <a:cs typeface="Calibri" pitchFamily="34" charset="-120"/>
              </a:rPr>
              <a:t>LINE</a:t>
            </a:r>
            <a:r>
              <a:rPr lang="ja-JP" altLang="en-US" sz="1000" b="1" dirty="0">
                <a:solidFill>
                  <a:srgbClr val="FDFDFD"/>
                </a:solidFill>
                <a:latin typeface="メイリオ" panose="020B0604030504040204" pitchFamily="50" charset="-128"/>
                <a:ea typeface="メイリオ" panose="020B0604030504040204" pitchFamily="50" charset="-128"/>
                <a:cs typeface="Calibri" pitchFamily="34" charset="-120"/>
              </a:rPr>
              <a:t>広告</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1" name="Text 74">
            <a:extLst>
              <a:ext uri="{FF2B5EF4-FFF2-40B4-BE49-F238E27FC236}">
                <a16:creationId xmlns:a16="http://schemas.microsoft.com/office/drawing/2014/main" id="{A540ADCF-43EA-1930-0DAD-09ED3B6411D9}"/>
              </a:ext>
            </a:extLst>
          </p:cNvPr>
          <p:cNvSpPr/>
          <p:nvPr/>
        </p:nvSpPr>
        <p:spPr>
          <a:xfrm>
            <a:off x="5514089" y="1672216"/>
            <a:ext cx="899146" cy="214480"/>
          </a:xfrm>
          <a:prstGeom prst="rect">
            <a:avLst/>
          </a:prstGeom>
          <a:solidFill>
            <a:schemeClr val="tx2"/>
          </a:solidFill>
          <a:ln/>
        </p:spPr>
        <p:txBody>
          <a:bodyPr wrap="square" lIns="0" tIns="0" rIns="0" bIns="0" rtlCol="0" anchor="ctr"/>
          <a:lstStyle/>
          <a:p>
            <a:pPr marL="0" indent="0" algn="ctr">
              <a:buNone/>
            </a:pPr>
            <a:r>
              <a:rPr lang="ja-JP" altLang="en-US" sz="900" b="1" dirty="0">
                <a:solidFill>
                  <a:srgbClr val="FDFDFD"/>
                </a:solidFill>
                <a:latin typeface="メイリオ" panose="020B0604030504040204" pitchFamily="50" charset="-128"/>
                <a:ea typeface="メイリオ" panose="020B0604030504040204" pitchFamily="50" charset="-128"/>
              </a:rPr>
              <a:t>無料特典</a:t>
            </a:r>
            <a:endParaRPr lang="en-US" sz="700" b="1" dirty="0">
              <a:solidFill>
                <a:srgbClr val="FDFDFD"/>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55619672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780F9E9-3239-4F30-04FA-62A41B30208F}"/>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470640CA-DB77-D06C-8E9B-5D428526E6D0}"/>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具体施策</a:t>
            </a:r>
          </a:p>
        </p:txBody>
      </p:sp>
      <p:sp>
        <p:nvSpPr>
          <p:cNvPr id="2" name="Google Shape;752;p28">
            <a:extLst>
              <a:ext uri="{FF2B5EF4-FFF2-40B4-BE49-F238E27FC236}">
                <a16:creationId xmlns:a16="http://schemas.microsoft.com/office/drawing/2014/main" id="{5C5AA372-6333-C3A6-0175-98D1ECE0C2E1}"/>
              </a:ext>
            </a:extLst>
          </p:cNvPr>
          <p:cNvSpPr txBox="1"/>
          <p:nvPr/>
        </p:nvSpPr>
        <p:spPr>
          <a:xfrm>
            <a:off x="309397" y="778217"/>
            <a:ext cx="9330992"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想定：過去の保有リストに対して、再度</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CV</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を促す動線を設計</a:t>
            </a:r>
            <a:r>
              <a:rPr lang="ja-JP" altLang="en-US" sz="1200" b="1" dirty="0">
                <a:solidFill>
                  <a:srgbClr val="FF0000"/>
                </a:solidFill>
                <a:latin typeface="メイリオ" panose="020B0604030504040204" pitchFamily="50" charset="-128"/>
                <a:ea typeface="メイリオ" panose="020B0604030504040204" pitchFamily="50" charset="-128"/>
                <a:cs typeface="Meiryo"/>
                <a:sym typeface="Meiryo"/>
              </a:rPr>
              <a:t>（未アクションユーザーの再アクション）</a:t>
            </a:r>
            <a:endPar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endParaRPr>
          </a:p>
        </p:txBody>
      </p:sp>
      <p:sp>
        <p:nvSpPr>
          <p:cNvPr id="247" name="Shape 8">
            <a:extLst>
              <a:ext uri="{FF2B5EF4-FFF2-40B4-BE49-F238E27FC236}">
                <a16:creationId xmlns:a16="http://schemas.microsoft.com/office/drawing/2014/main" id="{0799E4C9-4772-6D53-7617-85D7F0745D89}"/>
              </a:ext>
            </a:extLst>
          </p:cNvPr>
          <p:cNvSpPr/>
          <p:nvPr/>
        </p:nvSpPr>
        <p:spPr>
          <a:xfrm>
            <a:off x="603747" y="1293577"/>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49" name="Text 9">
            <a:extLst>
              <a:ext uri="{FF2B5EF4-FFF2-40B4-BE49-F238E27FC236}">
                <a16:creationId xmlns:a16="http://schemas.microsoft.com/office/drawing/2014/main" id="{503999D2-F9B7-AB8E-4554-F51FB54870FC}"/>
              </a:ext>
            </a:extLst>
          </p:cNvPr>
          <p:cNvSpPr/>
          <p:nvPr/>
        </p:nvSpPr>
        <p:spPr>
          <a:xfrm>
            <a:off x="731763" y="1294892"/>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パターン A　タイミング設計</a:t>
            </a:r>
            <a:endParaRPr lang="en-US" sz="1000" dirty="0">
              <a:latin typeface="メイリオ" panose="020B0604030504040204" pitchFamily="50" charset="-128"/>
              <a:ea typeface="メイリオ" panose="020B0604030504040204" pitchFamily="50" charset="-128"/>
            </a:endParaRPr>
          </a:p>
        </p:txBody>
      </p:sp>
      <p:sp>
        <p:nvSpPr>
          <p:cNvPr id="251" name="Text 10">
            <a:extLst>
              <a:ext uri="{FF2B5EF4-FFF2-40B4-BE49-F238E27FC236}">
                <a16:creationId xmlns:a16="http://schemas.microsoft.com/office/drawing/2014/main" id="{7868CE86-40F0-7280-8274-0AE354E0F621}"/>
              </a:ext>
            </a:extLst>
          </p:cNvPr>
          <p:cNvSpPr/>
          <p:nvPr/>
        </p:nvSpPr>
        <p:spPr>
          <a:xfrm>
            <a:off x="3214016" y="1294892"/>
            <a:ext cx="1669123" cy="182880"/>
          </a:xfrm>
          <a:prstGeom prst="rect">
            <a:avLst/>
          </a:prstGeom>
          <a:noFill/>
          <a:ln/>
        </p:spPr>
        <p:txBody>
          <a:bodyPr wrap="square" lIns="0" tIns="0" rIns="0" bIns="0" rtlCol="0" anchor="ctr"/>
          <a:lstStyle/>
          <a:p>
            <a:pPr marL="0" indent="0">
              <a:buNone/>
            </a:pPr>
            <a:r>
              <a:rPr lang="en-US" sz="900" i="1" dirty="0">
                <a:solidFill>
                  <a:srgbClr val="CADCF2"/>
                </a:solidFill>
                <a:latin typeface="メイリオ" panose="020B0604030504040204" pitchFamily="50" charset="-128"/>
                <a:ea typeface="メイリオ" panose="020B0604030504040204" pitchFamily="50" charset="-128"/>
                <a:cs typeface="Calibri" pitchFamily="34" charset="-120"/>
              </a:rPr>
              <a:t>「今動きやすい理由」を作って再接触</a:t>
            </a:r>
            <a:endParaRPr lang="en-US" sz="700" dirty="0">
              <a:latin typeface="メイリオ" panose="020B0604030504040204" pitchFamily="50" charset="-128"/>
              <a:ea typeface="メイリオ" panose="020B0604030504040204" pitchFamily="50" charset="-128"/>
            </a:endParaRPr>
          </a:p>
        </p:txBody>
      </p:sp>
      <p:sp>
        <p:nvSpPr>
          <p:cNvPr id="253" name="Shape 11">
            <a:extLst>
              <a:ext uri="{FF2B5EF4-FFF2-40B4-BE49-F238E27FC236}">
                <a16:creationId xmlns:a16="http://schemas.microsoft.com/office/drawing/2014/main" id="{5A6F33C8-39E2-1FDF-60C3-CAE6BB50B2E0}"/>
              </a:ext>
            </a:extLst>
          </p:cNvPr>
          <p:cNvSpPr/>
          <p:nvPr/>
        </p:nvSpPr>
        <p:spPr>
          <a:xfrm>
            <a:off x="5047731" y="1293577"/>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55" name="Text 12">
            <a:extLst>
              <a:ext uri="{FF2B5EF4-FFF2-40B4-BE49-F238E27FC236}">
                <a16:creationId xmlns:a16="http://schemas.microsoft.com/office/drawing/2014/main" id="{E483BA7C-D180-763E-0C14-8368B0CD432E}"/>
              </a:ext>
            </a:extLst>
          </p:cNvPr>
          <p:cNvSpPr/>
          <p:nvPr/>
        </p:nvSpPr>
        <p:spPr>
          <a:xfrm>
            <a:off x="5175747" y="1294892"/>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パターン B　再接触設計</a:t>
            </a:r>
            <a:endParaRPr lang="en-US" sz="1000" dirty="0">
              <a:latin typeface="メイリオ" panose="020B0604030504040204" pitchFamily="50" charset="-128"/>
              <a:ea typeface="メイリオ" panose="020B0604030504040204" pitchFamily="50" charset="-128"/>
            </a:endParaRPr>
          </a:p>
        </p:txBody>
      </p:sp>
      <p:sp>
        <p:nvSpPr>
          <p:cNvPr id="257" name="Text 13">
            <a:extLst>
              <a:ext uri="{FF2B5EF4-FFF2-40B4-BE49-F238E27FC236}">
                <a16:creationId xmlns:a16="http://schemas.microsoft.com/office/drawing/2014/main" id="{FDF61AEE-BD8E-57C5-25B1-5985C67AE181}"/>
              </a:ext>
            </a:extLst>
          </p:cNvPr>
          <p:cNvSpPr/>
          <p:nvPr/>
        </p:nvSpPr>
        <p:spPr>
          <a:xfrm>
            <a:off x="7658000" y="1294892"/>
            <a:ext cx="1669123" cy="182880"/>
          </a:xfrm>
          <a:prstGeom prst="rect">
            <a:avLst/>
          </a:prstGeom>
          <a:noFill/>
          <a:ln/>
        </p:spPr>
        <p:txBody>
          <a:bodyPr wrap="square" lIns="0" tIns="0" rIns="0" bIns="0" rtlCol="0" anchor="ctr"/>
          <a:lstStyle/>
          <a:p>
            <a:pPr marL="0" indent="0">
              <a:buNone/>
            </a:pPr>
            <a:r>
              <a:rPr lang="ja-JP" altLang="en-US" sz="900" i="1" dirty="0">
                <a:solidFill>
                  <a:srgbClr val="CADCF2"/>
                </a:solidFill>
                <a:latin typeface="メイリオ" panose="020B0604030504040204" pitchFamily="50" charset="-128"/>
                <a:ea typeface="メイリオ" panose="020B0604030504040204" pitchFamily="50" charset="-128"/>
                <a:cs typeface="Calibri" pitchFamily="34" charset="-120"/>
              </a:rPr>
              <a:t>休眠</a:t>
            </a:r>
            <a:r>
              <a:rPr lang="en-US" sz="900" i="1" dirty="0" err="1">
                <a:solidFill>
                  <a:srgbClr val="CADCF2"/>
                </a:solidFill>
                <a:latin typeface="メイリオ" panose="020B0604030504040204" pitchFamily="50" charset="-128"/>
                <a:ea typeface="メイリオ" panose="020B0604030504040204" pitchFamily="50" charset="-128"/>
                <a:cs typeface="Calibri" pitchFamily="34" charset="-120"/>
              </a:rPr>
              <a:t>ユーザーを起こす動線</a:t>
            </a:r>
            <a:endParaRPr lang="en-US" sz="700" dirty="0">
              <a:latin typeface="メイリオ" panose="020B0604030504040204" pitchFamily="50" charset="-128"/>
              <a:ea typeface="メイリオ" panose="020B0604030504040204" pitchFamily="50" charset="-128"/>
            </a:endParaRPr>
          </a:p>
        </p:txBody>
      </p:sp>
      <p:sp>
        <p:nvSpPr>
          <p:cNvPr id="259" name="Shape 15">
            <a:extLst>
              <a:ext uri="{FF2B5EF4-FFF2-40B4-BE49-F238E27FC236}">
                <a16:creationId xmlns:a16="http://schemas.microsoft.com/office/drawing/2014/main" id="{4CD9286D-9F08-88C6-E014-06303CCE918A}"/>
              </a:ext>
            </a:extLst>
          </p:cNvPr>
          <p:cNvSpPr/>
          <p:nvPr/>
        </p:nvSpPr>
        <p:spPr>
          <a:xfrm>
            <a:off x="603747" y="1570409"/>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63" name="Shape 17">
            <a:extLst>
              <a:ext uri="{FF2B5EF4-FFF2-40B4-BE49-F238E27FC236}">
                <a16:creationId xmlns:a16="http://schemas.microsoft.com/office/drawing/2014/main" id="{89F06007-1636-DBF8-2A66-6F5D4D265EED}"/>
              </a:ext>
            </a:extLst>
          </p:cNvPr>
          <p:cNvSpPr/>
          <p:nvPr/>
        </p:nvSpPr>
        <p:spPr>
          <a:xfrm>
            <a:off x="713475" y="1661849"/>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65" name="Text 18">
            <a:extLst>
              <a:ext uri="{FF2B5EF4-FFF2-40B4-BE49-F238E27FC236}">
                <a16:creationId xmlns:a16="http://schemas.microsoft.com/office/drawing/2014/main" id="{38635304-800A-B1D2-8097-4F4856E2C577}"/>
              </a:ext>
            </a:extLst>
          </p:cNvPr>
          <p:cNvSpPr/>
          <p:nvPr/>
        </p:nvSpPr>
        <p:spPr>
          <a:xfrm>
            <a:off x="713475" y="1675046"/>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267" name="Shape 19">
            <a:extLst>
              <a:ext uri="{FF2B5EF4-FFF2-40B4-BE49-F238E27FC236}">
                <a16:creationId xmlns:a16="http://schemas.microsoft.com/office/drawing/2014/main" id="{4D46F564-C151-62CF-8B30-E68A1621865C}"/>
              </a:ext>
            </a:extLst>
          </p:cNvPr>
          <p:cNvSpPr/>
          <p:nvPr/>
        </p:nvSpPr>
        <p:spPr>
          <a:xfrm>
            <a:off x="1060947" y="1689281"/>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1600">
              <a:solidFill>
                <a:srgbClr val="FDFDFD"/>
              </a:solidFill>
              <a:latin typeface="メイリオ" panose="020B0604030504040204" pitchFamily="50" charset="-128"/>
              <a:ea typeface="メイリオ" panose="020B0604030504040204" pitchFamily="50" charset="-128"/>
            </a:endParaRPr>
          </a:p>
        </p:txBody>
      </p:sp>
      <p:sp>
        <p:nvSpPr>
          <p:cNvPr id="269" name="Text 20">
            <a:extLst>
              <a:ext uri="{FF2B5EF4-FFF2-40B4-BE49-F238E27FC236}">
                <a16:creationId xmlns:a16="http://schemas.microsoft.com/office/drawing/2014/main" id="{D9E0431F-47A8-8AC8-E983-9F1E51409534}"/>
              </a:ext>
            </a:extLst>
          </p:cNvPr>
          <p:cNvSpPr/>
          <p:nvPr/>
        </p:nvSpPr>
        <p:spPr>
          <a:xfrm>
            <a:off x="1060947" y="1675046"/>
            <a:ext cx="859536" cy="201168"/>
          </a:xfrm>
          <a:prstGeom prst="rect">
            <a:avLst/>
          </a:prstGeom>
          <a:noFill/>
          <a:ln/>
        </p:spPr>
        <p:txBody>
          <a:bodyPr wrap="square" lIns="0" tIns="0" rIns="0" bIns="0" rtlCol="0" anchor="ctr"/>
          <a:lstStyle/>
          <a:p>
            <a:pPr algn="ctr"/>
            <a:r>
              <a:rPr lang="en-US" altLang="ja-JP" sz="1100" b="1" dirty="0" err="1">
                <a:solidFill>
                  <a:srgbClr val="FDFDFD"/>
                </a:solidFill>
                <a:latin typeface="メイリオ" panose="020B0604030504040204" pitchFamily="50" charset="-128"/>
                <a:ea typeface="メイリオ" panose="020B0604030504040204" pitchFamily="50" charset="-128"/>
                <a:cs typeface="Calibri" pitchFamily="34" charset="-120"/>
              </a:rPr>
              <a:t>リスト活性化</a:t>
            </a:r>
            <a:endParaRPr lang="en-US" altLang="ja-JP" sz="700" dirty="0">
              <a:solidFill>
                <a:srgbClr val="FDFDFD"/>
              </a:solidFill>
              <a:latin typeface="メイリオ" panose="020B0604030504040204" pitchFamily="50" charset="-128"/>
              <a:ea typeface="メイリオ" panose="020B0604030504040204" pitchFamily="50" charset="-128"/>
            </a:endParaRPr>
          </a:p>
        </p:txBody>
      </p:sp>
      <p:sp>
        <p:nvSpPr>
          <p:cNvPr id="271" name="Text 21">
            <a:extLst>
              <a:ext uri="{FF2B5EF4-FFF2-40B4-BE49-F238E27FC236}">
                <a16:creationId xmlns:a16="http://schemas.microsoft.com/office/drawing/2014/main" id="{0A469BFD-45E9-8234-0B4E-FCBD032981EA}"/>
              </a:ext>
            </a:extLst>
          </p:cNvPr>
          <p:cNvSpPr/>
          <p:nvPr/>
        </p:nvSpPr>
        <p:spPr>
          <a:xfrm>
            <a:off x="1975347" y="1675046"/>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通知メッセで保有リストを一括再接触</a:t>
            </a:r>
            <a:endParaRPr lang="en-US" sz="1000" dirty="0">
              <a:latin typeface="メイリオ" panose="020B0604030504040204" pitchFamily="50" charset="-128"/>
              <a:ea typeface="メイリオ" panose="020B0604030504040204" pitchFamily="50" charset="-128"/>
            </a:endParaRPr>
          </a:p>
        </p:txBody>
      </p:sp>
      <p:sp>
        <p:nvSpPr>
          <p:cNvPr id="273" name="Text 22">
            <a:extLst>
              <a:ext uri="{FF2B5EF4-FFF2-40B4-BE49-F238E27FC236}">
                <a16:creationId xmlns:a16="http://schemas.microsoft.com/office/drawing/2014/main" id="{EFC13B7C-7CC2-B883-A014-EB9039ADFA69}"/>
              </a:ext>
            </a:extLst>
          </p:cNvPr>
          <p:cNvSpPr/>
          <p:nvPr/>
        </p:nvSpPr>
        <p:spPr>
          <a:xfrm>
            <a:off x="713475" y="2106046"/>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メルマガ・テレマの既存リストにLINE移行キャンペーンを配信。「LINE登録でXXXプレゼント」などの特典で現役のLINEリストに転換し、再ナーチャリングを開始する。</a:t>
            </a:r>
            <a:endParaRPr lang="en-US" sz="600" dirty="0">
              <a:latin typeface="メイリオ" panose="020B0604030504040204" pitchFamily="50" charset="-128"/>
              <a:ea typeface="メイリオ" panose="020B0604030504040204" pitchFamily="50" charset="-128"/>
            </a:endParaRPr>
          </a:p>
        </p:txBody>
      </p:sp>
      <p:sp>
        <p:nvSpPr>
          <p:cNvPr id="275" name="Shape 23">
            <a:extLst>
              <a:ext uri="{FF2B5EF4-FFF2-40B4-BE49-F238E27FC236}">
                <a16:creationId xmlns:a16="http://schemas.microsoft.com/office/drawing/2014/main" id="{08872876-56FF-B053-724C-EA829FBD2859}"/>
              </a:ext>
            </a:extLst>
          </p:cNvPr>
          <p:cNvSpPr/>
          <p:nvPr/>
        </p:nvSpPr>
        <p:spPr>
          <a:xfrm>
            <a:off x="695187" y="2621391"/>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77" name="Text 24">
            <a:extLst>
              <a:ext uri="{FF2B5EF4-FFF2-40B4-BE49-F238E27FC236}">
                <a16:creationId xmlns:a16="http://schemas.microsoft.com/office/drawing/2014/main" id="{AD668F19-8AF9-40E5-B252-5466AAC211D4}"/>
              </a:ext>
            </a:extLst>
          </p:cNvPr>
          <p:cNvSpPr/>
          <p:nvPr/>
        </p:nvSpPr>
        <p:spPr>
          <a:xfrm>
            <a:off x="695187"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既存リスト</a:t>
            </a:r>
            <a:endParaRPr lang="en-US" sz="700" dirty="0">
              <a:latin typeface="メイリオ" panose="020B0604030504040204" pitchFamily="50" charset="-128"/>
              <a:ea typeface="メイリオ" panose="020B0604030504040204" pitchFamily="50" charset="-128"/>
            </a:endParaRPr>
          </a:p>
        </p:txBody>
      </p:sp>
      <p:sp>
        <p:nvSpPr>
          <p:cNvPr id="279" name="Shape 25">
            <a:extLst>
              <a:ext uri="{FF2B5EF4-FFF2-40B4-BE49-F238E27FC236}">
                <a16:creationId xmlns:a16="http://schemas.microsoft.com/office/drawing/2014/main" id="{53FD5EF2-15D7-6676-A293-790E6A49DF58}"/>
              </a:ext>
            </a:extLst>
          </p:cNvPr>
          <p:cNvSpPr/>
          <p:nvPr/>
        </p:nvSpPr>
        <p:spPr>
          <a:xfrm>
            <a:off x="1969251"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81" name="Text 26">
            <a:extLst>
              <a:ext uri="{FF2B5EF4-FFF2-40B4-BE49-F238E27FC236}">
                <a16:creationId xmlns:a16="http://schemas.microsoft.com/office/drawing/2014/main" id="{F355D7F8-8131-3548-836D-B163B9DE9373}"/>
              </a:ext>
            </a:extLst>
          </p:cNvPr>
          <p:cNvSpPr/>
          <p:nvPr/>
        </p:nvSpPr>
        <p:spPr>
          <a:xfrm>
            <a:off x="1969251"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83" name="Shape 27">
            <a:extLst>
              <a:ext uri="{FF2B5EF4-FFF2-40B4-BE49-F238E27FC236}">
                <a16:creationId xmlns:a16="http://schemas.microsoft.com/office/drawing/2014/main" id="{29B4E427-F660-12E7-1167-8F6AE81B2CFA}"/>
              </a:ext>
            </a:extLst>
          </p:cNvPr>
          <p:cNvSpPr/>
          <p:nvPr/>
        </p:nvSpPr>
        <p:spPr>
          <a:xfrm>
            <a:off x="2060691" y="2621391"/>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85" name="Text 28">
            <a:extLst>
              <a:ext uri="{FF2B5EF4-FFF2-40B4-BE49-F238E27FC236}">
                <a16:creationId xmlns:a16="http://schemas.microsoft.com/office/drawing/2014/main" id="{D066DD46-5262-0D07-EB4C-1D98EB173D07}"/>
              </a:ext>
            </a:extLst>
          </p:cNvPr>
          <p:cNvSpPr/>
          <p:nvPr/>
        </p:nvSpPr>
        <p:spPr>
          <a:xfrm>
            <a:off x="2060691"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LINE移行配信</a:t>
            </a:r>
            <a:endParaRPr lang="en-US" sz="600" dirty="0">
              <a:latin typeface="メイリオ" panose="020B0604030504040204" pitchFamily="50" charset="-128"/>
              <a:ea typeface="メイリオ" panose="020B0604030504040204" pitchFamily="50" charset="-128"/>
            </a:endParaRPr>
          </a:p>
        </p:txBody>
      </p:sp>
      <p:sp>
        <p:nvSpPr>
          <p:cNvPr id="287" name="Shape 29">
            <a:extLst>
              <a:ext uri="{FF2B5EF4-FFF2-40B4-BE49-F238E27FC236}">
                <a16:creationId xmlns:a16="http://schemas.microsoft.com/office/drawing/2014/main" id="{FD6D25F1-7F51-6F80-08D2-5C57CC0EE5FD}"/>
              </a:ext>
            </a:extLst>
          </p:cNvPr>
          <p:cNvSpPr/>
          <p:nvPr/>
        </p:nvSpPr>
        <p:spPr>
          <a:xfrm>
            <a:off x="3334755"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89" name="Text 30">
            <a:extLst>
              <a:ext uri="{FF2B5EF4-FFF2-40B4-BE49-F238E27FC236}">
                <a16:creationId xmlns:a16="http://schemas.microsoft.com/office/drawing/2014/main" id="{445D1811-574B-7D5D-C8F7-69A8E5E9C21D}"/>
              </a:ext>
            </a:extLst>
          </p:cNvPr>
          <p:cNvSpPr/>
          <p:nvPr/>
        </p:nvSpPr>
        <p:spPr>
          <a:xfrm>
            <a:off x="3334755"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91" name="Shape 31">
            <a:extLst>
              <a:ext uri="{FF2B5EF4-FFF2-40B4-BE49-F238E27FC236}">
                <a16:creationId xmlns:a16="http://schemas.microsoft.com/office/drawing/2014/main" id="{3ECC5DD0-1593-14F4-CE83-E996526D1F30}"/>
              </a:ext>
            </a:extLst>
          </p:cNvPr>
          <p:cNvSpPr/>
          <p:nvPr/>
        </p:nvSpPr>
        <p:spPr>
          <a:xfrm>
            <a:off x="3426195" y="2621391"/>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a:solidFill>
                  <a:srgbClr val="FFFFFF"/>
                </a:solidFill>
                <a:latin typeface="メイリオ" panose="020B0604030504040204" pitchFamily="50" charset="-128"/>
                <a:ea typeface="メイリオ" panose="020B0604030504040204" pitchFamily="50" charset="-128"/>
                <a:cs typeface="Calibri" pitchFamily="34" charset="-120"/>
              </a:rPr>
              <a:t>再ナーチャ開始</a:t>
            </a:r>
            <a:endParaRPr lang="en-US" altLang="ja-JP" sz="700" dirty="0">
              <a:latin typeface="メイリオ" panose="020B0604030504040204" pitchFamily="50" charset="-128"/>
              <a:ea typeface="メイリオ" panose="020B0604030504040204" pitchFamily="50" charset="-128"/>
            </a:endParaRPr>
          </a:p>
        </p:txBody>
      </p:sp>
      <p:sp>
        <p:nvSpPr>
          <p:cNvPr id="295" name="Shape 33">
            <a:extLst>
              <a:ext uri="{FF2B5EF4-FFF2-40B4-BE49-F238E27FC236}">
                <a16:creationId xmlns:a16="http://schemas.microsoft.com/office/drawing/2014/main" id="{82289F46-2DD5-5C3A-3C48-00C24CA11CB0}"/>
              </a:ext>
            </a:extLst>
          </p:cNvPr>
          <p:cNvSpPr/>
          <p:nvPr/>
        </p:nvSpPr>
        <p:spPr>
          <a:xfrm>
            <a:off x="603747" y="3117039"/>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99" name="Shape 35">
            <a:extLst>
              <a:ext uri="{FF2B5EF4-FFF2-40B4-BE49-F238E27FC236}">
                <a16:creationId xmlns:a16="http://schemas.microsoft.com/office/drawing/2014/main" id="{24455EB4-1D48-DB00-C3B3-680CAE5E3D80}"/>
              </a:ext>
            </a:extLst>
          </p:cNvPr>
          <p:cNvSpPr/>
          <p:nvPr/>
        </p:nvSpPr>
        <p:spPr>
          <a:xfrm>
            <a:off x="713475" y="3208479"/>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01" name="Text 36">
            <a:extLst>
              <a:ext uri="{FF2B5EF4-FFF2-40B4-BE49-F238E27FC236}">
                <a16:creationId xmlns:a16="http://schemas.microsoft.com/office/drawing/2014/main" id="{CB2D1291-F43D-C666-8910-F82EACBD2188}"/>
              </a:ext>
            </a:extLst>
          </p:cNvPr>
          <p:cNvSpPr/>
          <p:nvPr/>
        </p:nvSpPr>
        <p:spPr>
          <a:xfrm>
            <a:off x="713475" y="3217623"/>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303" name="Shape 37">
            <a:extLst>
              <a:ext uri="{FF2B5EF4-FFF2-40B4-BE49-F238E27FC236}">
                <a16:creationId xmlns:a16="http://schemas.microsoft.com/office/drawing/2014/main" id="{1F29E0C9-C40D-4D78-5118-4ECCEB313DBE}"/>
              </a:ext>
            </a:extLst>
          </p:cNvPr>
          <p:cNvSpPr/>
          <p:nvPr/>
        </p:nvSpPr>
        <p:spPr>
          <a:xfrm>
            <a:off x="1060947" y="3235911"/>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05" name="Text 38">
            <a:extLst>
              <a:ext uri="{FF2B5EF4-FFF2-40B4-BE49-F238E27FC236}">
                <a16:creationId xmlns:a16="http://schemas.microsoft.com/office/drawing/2014/main" id="{1FD30953-D12F-98F2-00A8-937392AB3DC2}"/>
              </a:ext>
            </a:extLst>
          </p:cNvPr>
          <p:cNvSpPr/>
          <p:nvPr/>
        </p:nvSpPr>
        <p:spPr>
          <a:xfrm>
            <a:off x="1060947" y="3217623"/>
            <a:ext cx="859536" cy="201168"/>
          </a:xfrm>
          <a:prstGeom prst="rect">
            <a:avLst/>
          </a:prstGeom>
          <a:solidFill>
            <a:schemeClr val="tx2"/>
          </a:solid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モーメント活用</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07" name="Text 39">
            <a:extLst>
              <a:ext uri="{FF2B5EF4-FFF2-40B4-BE49-F238E27FC236}">
                <a16:creationId xmlns:a16="http://schemas.microsoft.com/office/drawing/2014/main" id="{6A195358-D025-E7FE-2931-51A26C3E1674}"/>
              </a:ext>
            </a:extLst>
          </p:cNvPr>
          <p:cNvSpPr/>
          <p:nvPr/>
        </p:nvSpPr>
        <p:spPr>
          <a:xfrm>
            <a:off x="1975347" y="3217623"/>
            <a:ext cx="2907792"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季節・業界イベントに合わせた限定配信でCV喚起</a:t>
            </a:r>
            <a:endParaRPr lang="en-US" sz="1000" dirty="0">
              <a:latin typeface="メイリオ" panose="020B0604030504040204" pitchFamily="50" charset="-128"/>
              <a:ea typeface="メイリオ" panose="020B0604030504040204" pitchFamily="50" charset="-128"/>
            </a:endParaRPr>
          </a:p>
        </p:txBody>
      </p:sp>
      <p:sp>
        <p:nvSpPr>
          <p:cNvPr id="309" name="Text 40">
            <a:extLst>
              <a:ext uri="{FF2B5EF4-FFF2-40B4-BE49-F238E27FC236}">
                <a16:creationId xmlns:a16="http://schemas.microsoft.com/office/drawing/2014/main" id="{E5DC2BC8-3C7E-A26E-2F0A-55D95A140AE0}"/>
              </a:ext>
            </a:extLst>
          </p:cNvPr>
          <p:cNvSpPr/>
          <p:nvPr/>
        </p:nvSpPr>
        <p:spPr>
          <a:xfrm>
            <a:off x="713475" y="3643349"/>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「年末特別キャンペーン」「繁忙期前のご案内」など、ユーザーが動きやすいタイミングに合わせて配信。「今だから」という理由付けが未アクション層の行動を促す。</a:t>
            </a:r>
            <a:endParaRPr lang="en-US" sz="600" dirty="0">
              <a:latin typeface="メイリオ" panose="020B0604030504040204" pitchFamily="50" charset="-128"/>
              <a:ea typeface="メイリオ" panose="020B0604030504040204" pitchFamily="50" charset="-128"/>
            </a:endParaRPr>
          </a:p>
        </p:txBody>
      </p:sp>
      <p:sp>
        <p:nvSpPr>
          <p:cNvPr id="311" name="Shape 41">
            <a:extLst>
              <a:ext uri="{FF2B5EF4-FFF2-40B4-BE49-F238E27FC236}">
                <a16:creationId xmlns:a16="http://schemas.microsoft.com/office/drawing/2014/main" id="{0070C0BA-3D13-97EE-26A8-CE149AA4A04E}"/>
              </a:ext>
            </a:extLst>
          </p:cNvPr>
          <p:cNvSpPr/>
          <p:nvPr/>
        </p:nvSpPr>
        <p:spPr>
          <a:xfrm>
            <a:off x="695187" y="4158910"/>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13" name="Text 42">
            <a:extLst>
              <a:ext uri="{FF2B5EF4-FFF2-40B4-BE49-F238E27FC236}">
                <a16:creationId xmlns:a16="http://schemas.microsoft.com/office/drawing/2014/main" id="{768D77C7-92A2-948E-DE3D-509594621085}"/>
              </a:ext>
            </a:extLst>
          </p:cNvPr>
          <p:cNvSpPr/>
          <p:nvPr/>
        </p:nvSpPr>
        <p:spPr>
          <a:xfrm>
            <a:off x="695187"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イベント前3週</a:t>
            </a:r>
            <a:endParaRPr lang="en-US" sz="700" dirty="0">
              <a:latin typeface="メイリオ" panose="020B0604030504040204" pitchFamily="50" charset="-128"/>
              <a:ea typeface="メイリオ" panose="020B0604030504040204" pitchFamily="50" charset="-128"/>
            </a:endParaRPr>
          </a:p>
        </p:txBody>
      </p:sp>
      <p:sp>
        <p:nvSpPr>
          <p:cNvPr id="315" name="Shape 43">
            <a:extLst>
              <a:ext uri="{FF2B5EF4-FFF2-40B4-BE49-F238E27FC236}">
                <a16:creationId xmlns:a16="http://schemas.microsoft.com/office/drawing/2014/main" id="{8F66DE4C-D7A8-1BDB-39CF-66DEBA652EAD}"/>
              </a:ext>
            </a:extLst>
          </p:cNvPr>
          <p:cNvSpPr/>
          <p:nvPr/>
        </p:nvSpPr>
        <p:spPr>
          <a:xfrm>
            <a:off x="1969251"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17" name="Text 44">
            <a:extLst>
              <a:ext uri="{FF2B5EF4-FFF2-40B4-BE49-F238E27FC236}">
                <a16:creationId xmlns:a16="http://schemas.microsoft.com/office/drawing/2014/main" id="{2305B67B-4CE8-2127-6CE4-351EB11A2BDC}"/>
              </a:ext>
            </a:extLst>
          </p:cNvPr>
          <p:cNvSpPr/>
          <p:nvPr/>
        </p:nvSpPr>
        <p:spPr>
          <a:xfrm>
            <a:off x="1969251"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19" name="Shape 45">
            <a:extLst>
              <a:ext uri="{FF2B5EF4-FFF2-40B4-BE49-F238E27FC236}">
                <a16:creationId xmlns:a16="http://schemas.microsoft.com/office/drawing/2014/main" id="{28045CD1-3B2D-EC7B-E972-FDF6398513D4}"/>
              </a:ext>
            </a:extLst>
          </p:cNvPr>
          <p:cNvSpPr/>
          <p:nvPr/>
        </p:nvSpPr>
        <p:spPr>
          <a:xfrm>
            <a:off x="2060691" y="4158910"/>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100" b="1">
                <a:solidFill>
                  <a:srgbClr val="FFFFFF"/>
                </a:solidFill>
                <a:latin typeface="メイリオ" panose="020B0604030504040204" pitchFamily="50" charset="-128"/>
                <a:ea typeface="メイリオ" panose="020B0604030504040204" pitchFamily="50" charset="-128"/>
                <a:cs typeface="Calibri" pitchFamily="34" charset="-120"/>
              </a:rPr>
              <a:t>限定オファー配信</a:t>
            </a:r>
            <a:endParaRPr lang="en-US" altLang="ja-JP" sz="700" dirty="0">
              <a:latin typeface="メイリオ" panose="020B0604030504040204" pitchFamily="50" charset="-128"/>
              <a:ea typeface="メイリオ" panose="020B0604030504040204" pitchFamily="50" charset="-128"/>
            </a:endParaRPr>
          </a:p>
        </p:txBody>
      </p:sp>
      <p:sp>
        <p:nvSpPr>
          <p:cNvPr id="323" name="Shape 47">
            <a:extLst>
              <a:ext uri="{FF2B5EF4-FFF2-40B4-BE49-F238E27FC236}">
                <a16:creationId xmlns:a16="http://schemas.microsoft.com/office/drawing/2014/main" id="{91BB8E57-FE8E-A082-C6EE-88B56532C6FC}"/>
              </a:ext>
            </a:extLst>
          </p:cNvPr>
          <p:cNvSpPr/>
          <p:nvPr/>
        </p:nvSpPr>
        <p:spPr>
          <a:xfrm>
            <a:off x="3334755"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25" name="Text 48">
            <a:extLst>
              <a:ext uri="{FF2B5EF4-FFF2-40B4-BE49-F238E27FC236}">
                <a16:creationId xmlns:a16="http://schemas.microsoft.com/office/drawing/2014/main" id="{56A5766B-A3BD-2EE9-DB90-A95ABA8474AA}"/>
              </a:ext>
            </a:extLst>
          </p:cNvPr>
          <p:cNvSpPr/>
          <p:nvPr/>
        </p:nvSpPr>
        <p:spPr>
          <a:xfrm>
            <a:off x="3334755"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27" name="Shape 49">
            <a:extLst>
              <a:ext uri="{FF2B5EF4-FFF2-40B4-BE49-F238E27FC236}">
                <a16:creationId xmlns:a16="http://schemas.microsoft.com/office/drawing/2014/main" id="{D9B75229-E701-C66D-A2EB-914F33FC7A38}"/>
              </a:ext>
            </a:extLst>
          </p:cNvPr>
          <p:cNvSpPr/>
          <p:nvPr/>
        </p:nvSpPr>
        <p:spPr>
          <a:xfrm>
            <a:off x="3426195" y="4158910"/>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CV獲得</a:t>
            </a:r>
            <a:endParaRPr lang="en-US" altLang="ja-JP" sz="700" dirty="0">
              <a:latin typeface="メイリオ" panose="020B0604030504040204" pitchFamily="50" charset="-128"/>
              <a:ea typeface="メイリオ" panose="020B0604030504040204" pitchFamily="50" charset="-128"/>
            </a:endParaRPr>
          </a:p>
        </p:txBody>
      </p:sp>
      <p:sp>
        <p:nvSpPr>
          <p:cNvPr id="331" name="Shape 51">
            <a:extLst>
              <a:ext uri="{FF2B5EF4-FFF2-40B4-BE49-F238E27FC236}">
                <a16:creationId xmlns:a16="http://schemas.microsoft.com/office/drawing/2014/main" id="{22A4D85B-1CBD-0995-DA90-60C14D83ECE6}"/>
              </a:ext>
            </a:extLst>
          </p:cNvPr>
          <p:cNvSpPr/>
          <p:nvPr/>
        </p:nvSpPr>
        <p:spPr>
          <a:xfrm>
            <a:off x="603747" y="4665236"/>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5" name="Shape 53">
            <a:extLst>
              <a:ext uri="{FF2B5EF4-FFF2-40B4-BE49-F238E27FC236}">
                <a16:creationId xmlns:a16="http://schemas.microsoft.com/office/drawing/2014/main" id="{0EFDA52C-6BD8-EC2C-8042-989867BEE007}"/>
              </a:ext>
            </a:extLst>
          </p:cNvPr>
          <p:cNvSpPr/>
          <p:nvPr/>
        </p:nvSpPr>
        <p:spPr>
          <a:xfrm>
            <a:off x="713475" y="4756676"/>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7" name="Text 54">
            <a:extLst>
              <a:ext uri="{FF2B5EF4-FFF2-40B4-BE49-F238E27FC236}">
                <a16:creationId xmlns:a16="http://schemas.microsoft.com/office/drawing/2014/main" id="{1A38F7F4-D85C-3C2E-52E8-1DA18687D157}"/>
              </a:ext>
            </a:extLst>
          </p:cNvPr>
          <p:cNvSpPr/>
          <p:nvPr/>
        </p:nvSpPr>
        <p:spPr>
          <a:xfrm>
            <a:off x="713475" y="4765128"/>
            <a:ext cx="274320" cy="274320"/>
          </a:xfrm>
          <a:prstGeom prst="rect">
            <a:avLst/>
          </a:prstGeom>
          <a:noFill/>
          <a:ln>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339" name="Shape 55">
            <a:extLst>
              <a:ext uri="{FF2B5EF4-FFF2-40B4-BE49-F238E27FC236}">
                <a16:creationId xmlns:a16="http://schemas.microsoft.com/office/drawing/2014/main" id="{67EE7C45-7156-71ED-275F-D3D0B62D6390}"/>
              </a:ext>
            </a:extLst>
          </p:cNvPr>
          <p:cNvSpPr/>
          <p:nvPr/>
        </p:nvSpPr>
        <p:spPr>
          <a:xfrm>
            <a:off x="1060947" y="4729244"/>
            <a:ext cx="859536" cy="256032"/>
          </a:xfrm>
          <a:prstGeom prst="roundRect">
            <a:avLst>
              <a:gd name="adj" fmla="val 18182"/>
            </a:avLst>
          </a:prstGeom>
          <a:solidFill>
            <a:schemeClr val="tx2"/>
          </a:solidFill>
          <a:ln w="12700">
            <a:solidFill>
              <a:srgbClr val="D8D8E2"/>
            </a:solidFill>
            <a:prstDash val="solid"/>
          </a:ln>
        </p:spPr>
        <p:txBody>
          <a:bodyPr/>
          <a:lstStyle/>
          <a:p>
            <a:r>
              <a:rPr lang="ja-JP" altLang="en-US" sz="700" b="1" dirty="0">
                <a:solidFill>
                  <a:srgbClr val="FDFDFD"/>
                </a:solidFill>
                <a:latin typeface="メイリオ" panose="020B0604030504040204" pitchFamily="50" charset="-128"/>
                <a:ea typeface="メイリオ" panose="020B0604030504040204" pitchFamily="50" charset="-128"/>
              </a:rPr>
              <a:t>再スクリーニング</a:t>
            </a:r>
          </a:p>
        </p:txBody>
      </p:sp>
      <p:sp>
        <p:nvSpPr>
          <p:cNvPr id="343" name="Text 57">
            <a:extLst>
              <a:ext uri="{FF2B5EF4-FFF2-40B4-BE49-F238E27FC236}">
                <a16:creationId xmlns:a16="http://schemas.microsoft.com/office/drawing/2014/main" id="{3D038977-48FB-088C-1A4C-879420FF6CE5}"/>
              </a:ext>
            </a:extLst>
          </p:cNvPr>
          <p:cNvSpPr/>
          <p:nvPr/>
        </p:nvSpPr>
        <p:spPr>
          <a:xfrm>
            <a:off x="1975347" y="4765128"/>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現在の状況確認アンケートで温度感を再把握</a:t>
            </a:r>
            <a:endParaRPr lang="en-US" sz="1000" dirty="0">
              <a:latin typeface="メイリオ" panose="020B0604030504040204" pitchFamily="50" charset="-128"/>
              <a:ea typeface="メイリオ" panose="020B0604030504040204" pitchFamily="50" charset="-128"/>
            </a:endParaRPr>
          </a:p>
        </p:txBody>
      </p:sp>
      <p:sp>
        <p:nvSpPr>
          <p:cNvPr id="345" name="Text 58">
            <a:extLst>
              <a:ext uri="{FF2B5EF4-FFF2-40B4-BE49-F238E27FC236}">
                <a16:creationId xmlns:a16="http://schemas.microsoft.com/office/drawing/2014/main" id="{1DCE3801-724B-70B8-6043-4AE707933047}"/>
              </a:ext>
            </a:extLst>
          </p:cNvPr>
          <p:cNvSpPr/>
          <p:nvPr/>
        </p:nvSpPr>
        <p:spPr>
          <a:xfrm>
            <a:off x="713475" y="5182003"/>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「現在の状況を教えてください（3問）」を配信。「検討中」「他社比較中」「まだ先」に応じてシナリオを分岐させ、各層に最適なコンテンツを配信する。</a:t>
            </a:r>
            <a:endParaRPr lang="en-US" sz="600" dirty="0">
              <a:latin typeface="メイリオ" panose="020B0604030504040204" pitchFamily="50" charset="-128"/>
              <a:ea typeface="メイリオ" panose="020B0604030504040204" pitchFamily="50" charset="-128"/>
            </a:endParaRPr>
          </a:p>
        </p:txBody>
      </p:sp>
      <p:sp>
        <p:nvSpPr>
          <p:cNvPr id="347" name="Shape 59">
            <a:extLst>
              <a:ext uri="{FF2B5EF4-FFF2-40B4-BE49-F238E27FC236}">
                <a16:creationId xmlns:a16="http://schemas.microsoft.com/office/drawing/2014/main" id="{153BB988-9655-425D-2D4F-44E89C57F2F5}"/>
              </a:ext>
            </a:extLst>
          </p:cNvPr>
          <p:cNvSpPr/>
          <p:nvPr/>
        </p:nvSpPr>
        <p:spPr>
          <a:xfrm>
            <a:off x="695187" y="5676275"/>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49" name="Text 60">
            <a:extLst>
              <a:ext uri="{FF2B5EF4-FFF2-40B4-BE49-F238E27FC236}">
                <a16:creationId xmlns:a16="http://schemas.microsoft.com/office/drawing/2014/main" id="{CD7CE35E-3AD0-5FAC-435B-4694E9133E17}"/>
              </a:ext>
            </a:extLst>
          </p:cNvPr>
          <p:cNvSpPr/>
          <p:nvPr/>
        </p:nvSpPr>
        <p:spPr>
          <a:xfrm>
            <a:off x="695187"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3問配信</a:t>
            </a:r>
            <a:endParaRPr lang="en-US" sz="700" dirty="0">
              <a:latin typeface="メイリオ" panose="020B0604030504040204" pitchFamily="50" charset="-128"/>
              <a:ea typeface="メイリオ" panose="020B0604030504040204" pitchFamily="50" charset="-128"/>
            </a:endParaRPr>
          </a:p>
        </p:txBody>
      </p:sp>
      <p:sp>
        <p:nvSpPr>
          <p:cNvPr id="351" name="Shape 61">
            <a:extLst>
              <a:ext uri="{FF2B5EF4-FFF2-40B4-BE49-F238E27FC236}">
                <a16:creationId xmlns:a16="http://schemas.microsoft.com/office/drawing/2014/main" id="{DFAA349E-29DE-1759-4B7A-492F6D87018D}"/>
              </a:ext>
            </a:extLst>
          </p:cNvPr>
          <p:cNvSpPr/>
          <p:nvPr/>
        </p:nvSpPr>
        <p:spPr>
          <a:xfrm>
            <a:off x="1969251" y="583217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3" name="Text 62">
            <a:extLst>
              <a:ext uri="{FF2B5EF4-FFF2-40B4-BE49-F238E27FC236}">
                <a16:creationId xmlns:a16="http://schemas.microsoft.com/office/drawing/2014/main" id="{B5184D6B-2A05-C57D-1F26-E41EB297B5B8}"/>
              </a:ext>
            </a:extLst>
          </p:cNvPr>
          <p:cNvSpPr/>
          <p:nvPr/>
        </p:nvSpPr>
        <p:spPr>
          <a:xfrm>
            <a:off x="1969251" y="5832174"/>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55" name="Shape 63">
            <a:extLst>
              <a:ext uri="{FF2B5EF4-FFF2-40B4-BE49-F238E27FC236}">
                <a16:creationId xmlns:a16="http://schemas.microsoft.com/office/drawing/2014/main" id="{1D19C5F8-3384-B358-0F6D-32AC93A34F7A}"/>
              </a:ext>
            </a:extLst>
          </p:cNvPr>
          <p:cNvSpPr/>
          <p:nvPr/>
        </p:nvSpPr>
        <p:spPr>
          <a:xfrm>
            <a:off x="2060691" y="5676275"/>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7" name="Text 64">
            <a:extLst>
              <a:ext uri="{FF2B5EF4-FFF2-40B4-BE49-F238E27FC236}">
                <a16:creationId xmlns:a16="http://schemas.microsoft.com/office/drawing/2014/main" id="{AA99E733-4810-E0D8-954C-794B120B1798}"/>
              </a:ext>
            </a:extLst>
          </p:cNvPr>
          <p:cNvSpPr/>
          <p:nvPr/>
        </p:nvSpPr>
        <p:spPr>
          <a:xfrm>
            <a:off x="2060691"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状況把握</a:t>
            </a:r>
            <a:endParaRPr lang="en-US" sz="700" dirty="0">
              <a:latin typeface="メイリオ" panose="020B0604030504040204" pitchFamily="50" charset="-128"/>
              <a:ea typeface="メイリオ" panose="020B0604030504040204" pitchFamily="50" charset="-128"/>
            </a:endParaRPr>
          </a:p>
        </p:txBody>
      </p:sp>
      <p:sp>
        <p:nvSpPr>
          <p:cNvPr id="359" name="Shape 65">
            <a:extLst>
              <a:ext uri="{FF2B5EF4-FFF2-40B4-BE49-F238E27FC236}">
                <a16:creationId xmlns:a16="http://schemas.microsoft.com/office/drawing/2014/main" id="{E098D67B-D4FA-1F81-743A-A0EF2B8E894C}"/>
              </a:ext>
            </a:extLst>
          </p:cNvPr>
          <p:cNvSpPr/>
          <p:nvPr/>
        </p:nvSpPr>
        <p:spPr>
          <a:xfrm>
            <a:off x="3334755" y="583217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61" name="Text 66">
            <a:extLst>
              <a:ext uri="{FF2B5EF4-FFF2-40B4-BE49-F238E27FC236}">
                <a16:creationId xmlns:a16="http://schemas.microsoft.com/office/drawing/2014/main" id="{3A788ABA-1FAA-0E0C-477B-176A52F30D82}"/>
              </a:ext>
            </a:extLst>
          </p:cNvPr>
          <p:cNvSpPr/>
          <p:nvPr/>
        </p:nvSpPr>
        <p:spPr>
          <a:xfrm>
            <a:off x="3334755" y="5832174"/>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63" name="Shape 67">
            <a:extLst>
              <a:ext uri="{FF2B5EF4-FFF2-40B4-BE49-F238E27FC236}">
                <a16:creationId xmlns:a16="http://schemas.microsoft.com/office/drawing/2014/main" id="{2C82253D-F8B8-D14C-4626-9B78723DE539}"/>
              </a:ext>
            </a:extLst>
          </p:cNvPr>
          <p:cNvSpPr/>
          <p:nvPr/>
        </p:nvSpPr>
        <p:spPr>
          <a:xfrm>
            <a:off x="3426195" y="5676275"/>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65" name="Text 68">
            <a:extLst>
              <a:ext uri="{FF2B5EF4-FFF2-40B4-BE49-F238E27FC236}">
                <a16:creationId xmlns:a16="http://schemas.microsoft.com/office/drawing/2014/main" id="{5DD03071-2AEB-1384-0051-084B996E481D}"/>
              </a:ext>
            </a:extLst>
          </p:cNvPr>
          <p:cNvSpPr/>
          <p:nvPr/>
        </p:nvSpPr>
        <p:spPr>
          <a:xfrm>
            <a:off x="3426195"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シナリオ分岐</a:t>
            </a:r>
            <a:endParaRPr lang="en-US" sz="700" dirty="0">
              <a:latin typeface="メイリオ" panose="020B0604030504040204" pitchFamily="50" charset="-128"/>
              <a:ea typeface="メイリオ" panose="020B0604030504040204" pitchFamily="50" charset="-128"/>
            </a:endParaRPr>
          </a:p>
        </p:txBody>
      </p:sp>
      <p:sp>
        <p:nvSpPr>
          <p:cNvPr id="367" name="Shape 69">
            <a:extLst>
              <a:ext uri="{FF2B5EF4-FFF2-40B4-BE49-F238E27FC236}">
                <a16:creationId xmlns:a16="http://schemas.microsoft.com/office/drawing/2014/main" id="{F329F47A-44ED-4B04-F04D-56BC913CF99F}"/>
              </a:ext>
            </a:extLst>
          </p:cNvPr>
          <p:cNvSpPr/>
          <p:nvPr/>
        </p:nvSpPr>
        <p:spPr>
          <a:xfrm>
            <a:off x="5047731" y="157163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71" name="Shape 71">
            <a:extLst>
              <a:ext uri="{FF2B5EF4-FFF2-40B4-BE49-F238E27FC236}">
                <a16:creationId xmlns:a16="http://schemas.microsoft.com/office/drawing/2014/main" id="{BA1D3F46-451A-2E85-599A-900433C193B8}"/>
              </a:ext>
            </a:extLst>
          </p:cNvPr>
          <p:cNvSpPr/>
          <p:nvPr/>
        </p:nvSpPr>
        <p:spPr>
          <a:xfrm>
            <a:off x="5157459" y="166307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73" name="Text 72">
            <a:extLst>
              <a:ext uri="{FF2B5EF4-FFF2-40B4-BE49-F238E27FC236}">
                <a16:creationId xmlns:a16="http://schemas.microsoft.com/office/drawing/2014/main" id="{8BCF6B4A-374A-B6D9-3EF4-5AE1A778DE73}"/>
              </a:ext>
            </a:extLst>
          </p:cNvPr>
          <p:cNvSpPr/>
          <p:nvPr/>
        </p:nvSpPr>
        <p:spPr>
          <a:xfrm>
            <a:off x="5157459" y="1672216"/>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375" name="Shape 73">
            <a:extLst>
              <a:ext uri="{FF2B5EF4-FFF2-40B4-BE49-F238E27FC236}">
                <a16:creationId xmlns:a16="http://schemas.microsoft.com/office/drawing/2014/main" id="{9F918316-F2DF-A22A-C6CB-01F22910720D}"/>
              </a:ext>
            </a:extLst>
          </p:cNvPr>
          <p:cNvSpPr/>
          <p:nvPr/>
        </p:nvSpPr>
        <p:spPr>
          <a:xfrm>
            <a:off x="5504931" y="1690504"/>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77" name="Text 74">
            <a:extLst>
              <a:ext uri="{FF2B5EF4-FFF2-40B4-BE49-F238E27FC236}">
                <a16:creationId xmlns:a16="http://schemas.microsoft.com/office/drawing/2014/main" id="{1C57608E-D0D9-DD5B-8ED8-37BB302AB673}"/>
              </a:ext>
            </a:extLst>
          </p:cNvPr>
          <p:cNvSpPr/>
          <p:nvPr/>
        </p:nvSpPr>
        <p:spPr>
          <a:xfrm>
            <a:off x="5504931" y="1672216"/>
            <a:ext cx="859536" cy="201168"/>
          </a:xfrm>
          <a:prstGeom prst="rect">
            <a:avLst/>
          </a:prstGeom>
          <a:solidFill>
            <a:schemeClr val="tx2"/>
          </a:solid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失注リスト</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79" name="Text 75">
            <a:extLst>
              <a:ext uri="{FF2B5EF4-FFF2-40B4-BE49-F238E27FC236}">
                <a16:creationId xmlns:a16="http://schemas.microsoft.com/office/drawing/2014/main" id="{2DAFDF0B-346B-15F4-BEBF-857C67E91ED9}"/>
              </a:ext>
            </a:extLst>
          </p:cNvPr>
          <p:cNvSpPr/>
          <p:nvPr/>
        </p:nvSpPr>
        <p:spPr>
          <a:xfrm>
            <a:off x="6419331" y="1672216"/>
            <a:ext cx="3017520" cy="256032"/>
          </a:xfrm>
          <a:prstGeom prst="rect">
            <a:avLst/>
          </a:prstGeom>
          <a:noFill/>
          <a:ln/>
        </p:spPr>
        <p:txBody>
          <a:bodyPr wrap="square" lIns="0" tIns="0" rIns="0" bIns="0" rtlCol="0" anchor="ctr"/>
          <a:lstStyle/>
          <a:p>
            <a:pPr marL="0" indent="0">
              <a:buNone/>
            </a:pPr>
            <a:r>
              <a:rPr lang="en-US" sz="1100" b="1" dirty="0" err="1">
                <a:solidFill>
                  <a:srgbClr val="1A1A2E"/>
                </a:solidFill>
                <a:latin typeface="メイリオ" panose="020B0604030504040204" pitchFamily="50" charset="-128"/>
                <a:ea typeface="メイリオ" panose="020B0604030504040204" pitchFamily="50" charset="-128"/>
                <a:cs typeface="Calibri" pitchFamily="34" charset="-120"/>
              </a:rPr>
              <a:t>失注・辞退ユーザーへ「その後</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どう</a:t>
            </a:r>
            <a:r>
              <a:rPr lang="en-US" sz="1100" b="1" dirty="0" err="1">
                <a:solidFill>
                  <a:srgbClr val="1A1A2E"/>
                </a:solidFill>
                <a:latin typeface="メイリオ" panose="020B0604030504040204" pitchFamily="50" charset="-128"/>
                <a:ea typeface="メイリオ" panose="020B0604030504040204" pitchFamily="50" charset="-128"/>
                <a:cs typeface="Calibri" pitchFamily="34" charset="-120"/>
              </a:rPr>
              <a:t>ですか</a:t>
            </a: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？」配信</a:t>
            </a:r>
            <a:endParaRPr lang="en-US" sz="1000" dirty="0">
              <a:latin typeface="メイリオ" panose="020B0604030504040204" pitchFamily="50" charset="-128"/>
              <a:ea typeface="メイリオ" panose="020B0604030504040204" pitchFamily="50" charset="-128"/>
            </a:endParaRPr>
          </a:p>
        </p:txBody>
      </p:sp>
      <p:sp>
        <p:nvSpPr>
          <p:cNvPr id="381" name="Text 76">
            <a:extLst>
              <a:ext uri="{FF2B5EF4-FFF2-40B4-BE49-F238E27FC236}">
                <a16:creationId xmlns:a16="http://schemas.microsoft.com/office/drawing/2014/main" id="{0AF5CE2E-2255-A788-F029-07167611F1A8}"/>
              </a:ext>
            </a:extLst>
          </p:cNvPr>
          <p:cNvSpPr/>
          <p:nvPr/>
        </p:nvSpPr>
        <p:spPr>
          <a:xfrm>
            <a:off x="5157459" y="2106046"/>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過去に問い合わせしたが未申込の層に、3〜6ヶ月後を目安に再接触。「新しいプランができました」「条件が改善されました」という切り口が再CVに有効。</a:t>
            </a:r>
            <a:endParaRPr lang="en-US" sz="600" dirty="0">
              <a:latin typeface="メイリオ" panose="020B0604030504040204" pitchFamily="50" charset="-128"/>
              <a:ea typeface="メイリオ" panose="020B0604030504040204" pitchFamily="50" charset="-128"/>
            </a:endParaRPr>
          </a:p>
        </p:txBody>
      </p:sp>
      <p:sp>
        <p:nvSpPr>
          <p:cNvPr id="383" name="Shape 77">
            <a:extLst>
              <a:ext uri="{FF2B5EF4-FFF2-40B4-BE49-F238E27FC236}">
                <a16:creationId xmlns:a16="http://schemas.microsoft.com/office/drawing/2014/main" id="{4E4B79B4-719F-E82E-34BC-1FDB6969E4DA}"/>
              </a:ext>
            </a:extLst>
          </p:cNvPr>
          <p:cNvSpPr/>
          <p:nvPr/>
        </p:nvSpPr>
        <p:spPr>
          <a:xfrm>
            <a:off x="5139171" y="2621391"/>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85" name="Text 78">
            <a:extLst>
              <a:ext uri="{FF2B5EF4-FFF2-40B4-BE49-F238E27FC236}">
                <a16:creationId xmlns:a16="http://schemas.microsoft.com/office/drawing/2014/main" id="{5AD0E7CC-7987-CDC0-51C0-C45C57A162F8}"/>
              </a:ext>
            </a:extLst>
          </p:cNvPr>
          <p:cNvSpPr/>
          <p:nvPr/>
        </p:nvSpPr>
        <p:spPr>
          <a:xfrm>
            <a:off x="5139171"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失注後3〜6ヶ月</a:t>
            </a:r>
            <a:endParaRPr lang="en-US" sz="700" dirty="0">
              <a:latin typeface="メイリオ" panose="020B0604030504040204" pitchFamily="50" charset="-128"/>
              <a:ea typeface="メイリオ" panose="020B0604030504040204" pitchFamily="50" charset="-128"/>
            </a:endParaRPr>
          </a:p>
        </p:txBody>
      </p:sp>
      <p:sp>
        <p:nvSpPr>
          <p:cNvPr id="387" name="Shape 79">
            <a:extLst>
              <a:ext uri="{FF2B5EF4-FFF2-40B4-BE49-F238E27FC236}">
                <a16:creationId xmlns:a16="http://schemas.microsoft.com/office/drawing/2014/main" id="{F0421E50-A8C1-66B8-6E6F-D74D7601A19C}"/>
              </a:ext>
            </a:extLst>
          </p:cNvPr>
          <p:cNvSpPr/>
          <p:nvPr/>
        </p:nvSpPr>
        <p:spPr>
          <a:xfrm>
            <a:off x="6413235"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89" name="Text 80">
            <a:extLst>
              <a:ext uri="{FF2B5EF4-FFF2-40B4-BE49-F238E27FC236}">
                <a16:creationId xmlns:a16="http://schemas.microsoft.com/office/drawing/2014/main" id="{65A5B5BF-4145-BBC7-EEE4-1712EFD3CF93}"/>
              </a:ext>
            </a:extLst>
          </p:cNvPr>
          <p:cNvSpPr/>
          <p:nvPr/>
        </p:nvSpPr>
        <p:spPr>
          <a:xfrm>
            <a:off x="6413235"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91" name="Shape 81">
            <a:extLst>
              <a:ext uri="{FF2B5EF4-FFF2-40B4-BE49-F238E27FC236}">
                <a16:creationId xmlns:a16="http://schemas.microsoft.com/office/drawing/2014/main" id="{9EA3BBF7-3315-16D0-DC9B-BE1C67242EA7}"/>
              </a:ext>
            </a:extLst>
          </p:cNvPr>
          <p:cNvSpPr/>
          <p:nvPr/>
        </p:nvSpPr>
        <p:spPr>
          <a:xfrm>
            <a:off x="6504675" y="2621391"/>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状況再確認配信</a:t>
            </a:r>
            <a:endParaRPr lang="en-US" altLang="ja-JP" sz="700" dirty="0">
              <a:latin typeface="メイリオ" panose="020B0604030504040204" pitchFamily="50" charset="-128"/>
              <a:ea typeface="メイリオ" panose="020B0604030504040204" pitchFamily="50" charset="-128"/>
            </a:endParaRPr>
          </a:p>
        </p:txBody>
      </p:sp>
      <p:sp>
        <p:nvSpPr>
          <p:cNvPr id="395" name="Shape 83">
            <a:extLst>
              <a:ext uri="{FF2B5EF4-FFF2-40B4-BE49-F238E27FC236}">
                <a16:creationId xmlns:a16="http://schemas.microsoft.com/office/drawing/2014/main" id="{DC049964-E96C-C1BF-7C7A-F15300037114}"/>
              </a:ext>
            </a:extLst>
          </p:cNvPr>
          <p:cNvSpPr/>
          <p:nvPr/>
        </p:nvSpPr>
        <p:spPr>
          <a:xfrm>
            <a:off x="7778739"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97" name="Text 84">
            <a:extLst>
              <a:ext uri="{FF2B5EF4-FFF2-40B4-BE49-F238E27FC236}">
                <a16:creationId xmlns:a16="http://schemas.microsoft.com/office/drawing/2014/main" id="{51EFCC51-0F78-4F8D-C532-B98FB0AF559F}"/>
              </a:ext>
            </a:extLst>
          </p:cNvPr>
          <p:cNvSpPr/>
          <p:nvPr/>
        </p:nvSpPr>
        <p:spPr>
          <a:xfrm>
            <a:off x="7778739"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99" name="Shape 85">
            <a:extLst>
              <a:ext uri="{FF2B5EF4-FFF2-40B4-BE49-F238E27FC236}">
                <a16:creationId xmlns:a16="http://schemas.microsoft.com/office/drawing/2014/main" id="{58F818F9-0832-56EA-F61B-C4AA37B01F57}"/>
              </a:ext>
            </a:extLst>
          </p:cNvPr>
          <p:cNvSpPr/>
          <p:nvPr/>
        </p:nvSpPr>
        <p:spPr>
          <a:xfrm>
            <a:off x="7870179" y="2621391"/>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1" name="Text 86">
            <a:extLst>
              <a:ext uri="{FF2B5EF4-FFF2-40B4-BE49-F238E27FC236}">
                <a16:creationId xmlns:a16="http://schemas.microsoft.com/office/drawing/2014/main" id="{9B117C4F-B6A8-E365-C69E-36D76F40D869}"/>
              </a:ext>
            </a:extLst>
          </p:cNvPr>
          <p:cNvSpPr/>
          <p:nvPr/>
        </p:nvSpPr>
        <p:spPr>
          <a:xfrm>
            <a:off x="7870179"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再CV誘導</a:t>
            </a:r>
            <a:endParaRPr lang="en-US" sz="700" dirty="0">
              <a:latin typeface="メイリオ" panose="020B0604030504040204" pitchFamily="50" charset="-128"/>
              <a:ea typeface="メイリオ" panose="020B0604030504040204" pitchFamily="50" charset="-128"/>
            </a:endParaRPr>
          </a:p>
        </p:txBody>
      </p:sp>
      <p:sp>
        <p:nvSpPr>
          <p:cNvPr id="403" name="Shape 87">
            <a:extLst>
              <a:ext uri="{FF2B5EF4-FFF2-40B4-BE49-F238E27FC236}">
                <a16:creationId xmlns:a16="http://schemas.microsoft.com/office/drawing/2014/main" id="{5F6AFF3E-D4D9-71AD-93DC-B81C9B4D82B7}"/>
              </a:ext>
            </a:extLst>
          </p:cNvPr>
          <p:cNvSpPr/>
          <p:nvPr/>
        </p:nvSpPr>
        <p:spPr>
          <a:xfrm>
            <a:off x="5047731" y="311507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7" name="Shape 89">
            <a:extLst>
              <a:ext uri="{FF2B5EF4-FFF2-40B4-BE49-F238E27FC236}">
                <a16:creationId xmlns:a16="http://schemas.microsoft.com/office/drawing/2014/main" id="{D1B45F88-544D-FBED-408C-8209CA691AC8}"/>
              </a:ext>
            </a:extLst>
          </p:cNvPr>
          <p:cNvSpPr/>
          <p:nvPr/>
        </p:nvSpPr>
        <p:spPr>
          <a:xfrm>
            <a:off x="5157459" y="320651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9" name="Text 90">
            <a:extLst>
              <a:ext uri="{FF2B5EF4-FFF2-40B4-BE49-F238E27FC236}">
                <a16:creationId xmlns:a16="http://schemas.microsoft.com/office/drawing/2014/main" id="{592A9BD1-F0B8-60E4-8129-402CDDB4073D}"/>
              </a:ext>
            </a:extLst>
          </p:cNvPr>
          <p:cNvSpPr/>
          <p:nvPr/>
        </p:nvSpPr>
        <p:spPr>
          <a:xfrm>
            <a:off x="5157459" y="3218704"/>
            <a:ext cx="274320" cy="274320"/>
          </a:xfrm>
          <a:prstGeom prst="rect">
            <a:avLst/>
          </a:prstGeom>
          <a:noFill/>
          <a:ln>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413" name="Text 92">
            <a:extLst>
              <a:ext uri="{FF2B5EF4-FFF2-40B4-BE49-F238E27FC236}">
                <a16:creationId xmlns:a16="http://schemas.microsoft.com/office/drawing/2014/main" id="{1B276E55-4348-C44C-DC53-C0E12FAE38EA}"/>
              </a:ext>
            </a:extLst>
          </p:cNvPr>
          <p:cNvSpPr/>
          <p:nvPr/>
        </p:nvSpPr>
        <p:spPr>
          <a:xfrm>
            <a:off x="5504931" y="3233944"/>
            <a:ext cx="859536" cy="201168"/>
          </a:xfrm>
          <a:prstGeom prst="rect">
            <a:avLst/>
          </a:prstGeom>
          <a:noFill/>
          <a:ln/>
        </p:spPr>
        <p:txBody>
          <a:bodyPr wrap="square" lIns="0" tIns="0" rIns="0" bIns="0" rtlCol="0" anchor="ctr"/>
          <a:lstStyle/>
          <a:p>
            <a:pPr marL="0" indent="0" algn="ctr">
              <a:buNone/>
            </a:pPr>
            <a:endParaRPr lang="en-US" sz="500" dirty="0">
              <a:latin typeface="メイリオ" panose="020B0604030504040204" pitchFamily="50" charset="-128"/>
              <a:ea typeface="メイリオ" panose="020B0604030504040204" pitchFamily="50" charset="-128"/>
            </a:endParaRPr>
          </a:p>
        </p:txBody>
      </p:sp>
      <p:sp>
        <p:nvSpPr>
          <p:cNvPr id="415" name="Text 93">
            <a:extLst>
              <a:ext uri="{FF2B5EF4-FFF2-40B4-BE49-F238E27FC236}">
                <a16:creationId xmlns:a16="http://schemas.microsoft.com/office/drawing/2014/main" id="{80CB45ED-8383-FD42-4282-965B68B36BF6}"/>
              </a:ext>
            </a:extLst>
          </p:cNvPr>
          <p:cNvSpPr/>
          <p:nvPr/>
        </p:nvSpPr>
        <p:spPr>
          <a:xfrm>
            <a:off x="6419331" y="3218704"/>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カゴ落ち・問い合わせのみ層へのリマインド配信</a:t>
            </a:r>
            <a:endParaRPr lang="en-US" sz="1000" dirty="0">
              <a:latin typeface="メイリオ" panose="020B0604030504040204" pitchFamily="50" charset="-128"/>
              <a:ea typeface="メイリオ" panose="020B0604030504040204" pitchFamily="50" charset="-128"/>
            </a:endParaRPr>
          </a:p>
        </p:txBody>
      </p:sp>
      <p:sp>
        <p:nvSpPr>
          <p:cNvPr id="417" name="Text 94">
            <a:extLst>
              <a:ext uri="{FF2B5EF4-FFF2-40B4-BE49-F238E27FC236}">
                <a16:creationId xmlns:a16="http://schemas.microsoft.com/office/drawing/2014/main" id="{AEF4A7E3-C254-08CE-C1D1-259691AA1AE0}"/>
              </a:ext>
            </a:extLst>
          </p:cNvPr>
          <p:cNvSpPr/>
          <p:nvPr/>
        </p:nvSpPr>
        <p:spPr>
          <a:xfrm>
            <a:off x="5157459" y="3609802"/>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資料請求・問い合わせのみで申込に至っていない層に特化したステップ配信を設計。「無料相談受付中」「今月末で受付終了」等のCTAで背中を押す。</a:t>
            </a:r>
            <a:endParaRPr lang="en-US" sz="600" dirty="0">
              <a:latin typeface="メイリオ" panose="020B0604030504040204" pitchFamily="50" charset="-128"/>
              <a:ea typeface="メイリオ" panose="020B0604030504040204" pitchFamily="50" charset="-128"/>
            </a:endParaRPr>
          </a:p>
        </p:txBody>
      </p:sp>
      <p:sp>
        <p:nvSpPr>
          <p:cNvPr id="419" name="Shape 95">
            <a:extLst>
              <a:ext uri="{FF2B5EF4-FFF2-40B4-BE49-F238E27FC236}">
                <a16:creationId xmlns:a16="http://schemas.microsoft.com/office/drawing/2014/main" id="{620086D7-B11A-B51E-6EBE-09AABF87761F}"/>
              </a:ext>
            </a:extLst>
          </p:cNvPr>
          <p:cNvSpPr/>
          <p:nvPr/>
        </p:nvSpPr>
        <p:spPr>
          <a:xfrm>
            <a:off x="5139171" y="4158910"/>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1" name="Text 96">
            <a:extLst>
              <a:ext uri="{FF2B5EF4-FFF2-40B4-BE49-F238E27FC236}">
                <a16:creationId xmlns:a16="http://schemas.microsoft.com/office/drawing/2014/main" id="{0A5E544F-BFBF-5FCC-DE72-1F0EA2CD109F}"/>
              </a:ext>
            </a:extLst>
          </p:cNvPr>
          <p:cNvSpPr/>
          <p:nvPr/>
        </p:nvSpPr>
        <p:spPr>
          <a:xfrm>
            <a:off x="5139171"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行動履歴取得</a:t>
            </a:r>
            <a:endParaRPr lang="en-US" sz="700" dirty="0">
              <a:latin typeface="メイリオ" panose="020B0604030504040204" pitchFamily="50" charset="-128"/>
              <a:ea typeface="メイリオ" panose="020B0604030504040204" pitchFamily="50" charset="-128"/>
            </a:endParaRPr>
          </a:p>
        </p:txBody>
      </p:sp>
      <p:sp>
        <p:nvSpPr>
          <p:cNvPr id="423" name="Shape 97">
            <a:extLst>
              <a:ext uri="{FF2B5EF4-FFF2-40B4-BE49-F238E27FC236}">
                <a16:creationId xmlns:a16="http://schemas.microsoft.com/office/drawing/2014/main" id="{437F2371-56CA-9C8D-898A-5718BBBC16BD}"/>
              </a:ext>
            </a:extLst>
          </p:cNvPr>
          <p:cNvSpPr/>
          <p:nvPr/>
        </p:nvSpPr>
        <p:spPr>
          <a:xfrm>
            <a:off x="6413235"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5" name="Text 98">
            <a:extLst>
              <a:ext uri="{FF2B5EF4-FFF2-40B4-BE49-F238E27FC236}">
                <a16:creationId xmlns:a16="http://schemas.microsoft.com/office/drawing/2014/main" id="{F6BB9355-F36A-724C-0AF5-0A7D58041D0E}"/>
              </a:ext>
            </a:extLst>
          </p:cNvPr>
          <p:cNvSpPr/>
          <p:nvPr/>
        </p:nvSpPr>
        <p:spPr>
          <a:xfrm>
            <a:off x="6413235"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27" name="Shape 99">
            <a:extLst>
              <a:ext uri="{FF2B5EF4-FFF2-40B4-BE49-F238E27FC236}">
                <a16:creationId xmlns:a16="http://schemas.microsoft.com/office/drawing/2014/main" id="{A92E3EF4-24A4-2366-71A1-E5DDC1CAC6F2}"/>
              </a:ext>
            </a:extLst>
          </p:cNvPr>
          <p:cNvSpPr/>
          <p:nvPr/>
        </p:nvSpPr>
        <p:spPr>
          <a:xfrm>
            <a:off x="6504675" y="4158910"/>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9" name="Text 100">
            <a:extLst>
              <a:ext uri="{FF2B5EF4-FFF2-40B4-BE49-F238E27FC236}">
                <a16:creationId xmlns:a16="http://schemas.microsoft.com/office/drawing/2014/main" id="{0D73681F-6C0D-7920-A565-AF64BA896102}"/>
              </a:ext>
            </a:extLst>
          </p:cNvPr>
          <p:cNvSpPr/>
          <p:nvPr/>
        </p:nvSpPr>
        <p:spPr>
          <a:xfrm>
            <a:off x="6504675"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リマインド配信</a:t>
            </a:r>
            <a:endParaRPr lang="en-US" sz="700" dirty="0">
              <a:latin typeface="メイリオ" panose="020B0604030504040204" pitchFamily="50" charset="-128"/>
              <a:ea typeface="メイリオ" panose="020B0604030504040204" pitchFamily="50" charset="-128"/>
            </a:endParaRPr>
          </a:p>
        </p:txBody>
      </p:sp>
      <p:sp>
        <p:nvSpPr>
          <p:cNvPr id="431" name="Shape 101">
            <a:extLst>
              <a:ext uri="{FF2B5EF4-FFF2-40B4-BE49-F238E27FC236}">
                <a16:creationId xmlns:a16="http://schemas.microsoft.com/office/drawing/2014/main" id="{3B3A64CC-6A13-370D-9373-AD0FB06E375E}"/>
              </a:ext>
            </a:extLst>
          </p:cNvPr>
          <p:cNvSpPr/>
          <p:nvPr/>
        </p:nvSpPr>
        <p:spPr>
          <a:xfrm>
            <a:off x="7778739"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33" name="Text 102">
            <a:extLst>
              <a:ext uri="{FF2B5EF4-FFF2-40B4-BE49-F238E27FC236}">
                <a16:creationId xmlns:a16="http://schemas.microsoft.com/office/drawing/2014/main" id="{4F5D5A55-D409-4FDA-49E0-1758FEAFEE48}"/>
              </a:ext>
            </a:extLst>
          </p:cNvPr>
          <p:cNvSpPr/>
          <p:nvPr/>
        </p:nvSpPr>
        <p:spPr>
          <a:xfrm>
            <a:off x="7778739"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35" name="Shape 103">
            <a:extLst>
              <a:ext uri="{FF2B5EF4-FFF2-40B4-BE49-F238E27FC236}">
                <a16:creationId xmlns:a16="http://schemas.microsoft.com/office/drawing/2014/main" id="{E0FBF11F-8E0A-C526-CF1A-16BB189BC592}"/>
              </a:ext>
            </a:extLst>
          </p:cNvPr>
          <p:cNvSpPr/>
          <p:nvPr/>
        </p:nvSpPr>
        <p:spPr>
          <a:xfrm>
            <a:off x="7870179" y="4158910"/>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37" name="Text 104">
            <a:extLst>
              <a:ext uri="{FF2B5EF4-FFF2-40B4-BE49-F238E27FC236}">
                <a16:creationId xmlns:a16="http://schemas.microsoft.com/office/drawing/2014/main" id="{35AF2962-900D-E7A7-6796-0642679811B9}"/>
              </a:ext>
            </a:extLst>
          </p:cNvPr>
          <p:cNvSpPr/>
          <p:nvPr/>
        </p:nvSpPr>
        <p:spPr>
          <a:xfrm>
            <a:off x="7870179"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最終CVオファー</a:t>
            </a:r>
            <a:endParaRPr lang="en-US" sz="700" dirty="0">
              <a:latin typeface="メイリオ" panose="020B0604030504040204" pitchFamily="50" charset="-128"/>
              <a:ea typeface="メイリオ" panose="020B0604030504040204" pitchFamily="50" charset="-128"/>
            </a:endParaRPr>
          </a:p>
        </p:txBody>
      </p:sp>
      <p:sp>
        <p:nvSpPr>
          <p:cNvPr id="439" name="Shape 105">
            <a:extLst>
              <a:ext uri="{FF2B5EF4-FFF2-40B4-BE49-F238E27FC236}">
                <a16:creationId xmlns:a16="http://schemas.microsoft.com/office/drawing/2014/main" id="{991461E6-A613-71C0-FEED-105A9B53A82F}"/>
              </a:ext>
            </a:extLst>
          </p:cNvPr>
          <p:cNvSpPr/>
          <p:nvPr/>
        </p:nvSpPr>
        <p:spPr>
          <a:xfrm>
            <a:off x="5047731" y="4666968"/>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3" name="Shape 107">
            <a:extLst>
              <a:ext uri="{FF2B5EF4-FFF2-40B4-BE49-F238E27FC236}">
                <a16:creationId xmlns:a16="http://schemas.microsoft.com/office/drawing/2014/main" id="{B151BD68-31EC-2062-2399-27CE0A52BCDA}"/>
              </a:ext>
            </a:extLst>
          </p:cNvPr>
          <p:cNvSpPr/>
          <p:nvPr/>
        </p:nvSpPr>
        <p:spPr>
          <a:xfrm>
            <a:off x="5157459" y="4758408"/>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5" name="Text 108">
            <a:extLst>
              <a:ext uri="{FF2B5EF4-FFF2-40B4-BE49-F238E27FC236}">
                <a16:creationId xmlns:a16="http://schemas.microsoft.com/office/drawing/2014/main" id="{2838910A-123C-E9FE-5AF1-45001B06EE8A}"/>
              </a:ext>
            </a:extLst>
          </p:cNvPr>
          <p:cNvSpPr/>
          <p:nvPr/>
        </p:nvSpPr>
        <p:spPr>
          <a:xfrm>
            <a:off x="5157459" y="4767552"/>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447" name="Shape 109">
            <a:extLst>
              <a:ext uri="{FF2B5EF4-FFF2-40B4-BE49-F238E27FC236}">
                <a16:creationId xmlns:a16="http://schemas.microsoft.com/office/drawing/2014/main" id="{7AACC6BD-1A7A-0ECC-2C70-E171A4B73D2E}"/>
              </a:ext>
            </a:extLst>
          </p:cNvPr>
          <p:cNvSpPr/>
          <p:nvPr/>
        </p:nvSpPr>
        <p:spPr>
          <a:xfrm>
            <a:off x="5504931" y="4785840"/>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9" name="Text 110">
            <a:extLst>
              <a:ext uri="{FF2B5EF4-FFF2-40B4-BE49-F238E27FC236}">
                <a16:creationId xmlns:a16="http://schemas.microsoft.com/office/drawing/2014/main" id="{5D30EE12-A5B1-F69B-1B36-9BA013EE1870}"/>
              </a:ext>
            </a:extLst>
          </p:cNvPr>
          <p:cNvSpPr/>
          <p:nvPr/>
        </p:nvSpPr>
        <p:spPr>
          <a:xfrm>
            <a:off x="5504931" y="4767552"/>
            <a:ext cx="859536" cy="217724"/>
          </a:xfrm>
          <a:prstGeom prst="rect">
            <a:avLst/>
          </a:prstGeom>
          <a:solidFill>
            <a:schemeClr val="tx2"/>
          </a:solidFill>
          <a:ln/>
        </p:spPr>
        <p:txBody>
          <a:bodyPr wrap="square" lIns="0" tIns="0" rIns="0" bIns="0" rtlCol="0" anchor="ctr"/>
          <a:lstStyle/>
          <a:p>
            <a:pPr marL="0" indent="0" algn="ctr">
              <a:buNone/>
            </a:pPr>
            <a:r>
              <a:rPr lang="en-US" sz="1000" b="1" dirty="0">
                <a:solidFill>
                  <a:srgbClr val="FDFDFD"/>
                </a:solidFill>
                <a:latin typeface="メイリオ" panose="020B0604030504040204" pitchFamily="50" charset="-128"/>
                <a:ea typeface="メイリオ" panose="020B0604030504040204" pitchFamily="50" charset="-128"/>
                <a:cs typeface="Calibri" pitchFamily="34" charset="-120"/>
              </a:rPr>
              <a:t>長期離脱層</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451" name="Text 111">
            <a:extLst>
              <a:ext uri="{FF2B5EF4-FFF2-40B4-BE49-F238E27FC236}">
                <a16:creationId xmlns:a16="http://schemas.microsoft.com/office/drawing/2014/main" id="{11D406F6-8148-4982-8BAD-ED92DE292139}"/>
              </a:ext>
            </a:extLst>
          </p:cNvPr>
          <p:cNvSpPr/>
          <p:nvPr/>
        </p:nvSpPr>
        <p:spPr>
          <a:xfrm>
            <a:off x="6419331" y="4767552"/>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「ご無沙汰ユーザー」へ限定特典で関係再構築</a:t>
            </a:r>
            <a:endParaRPr lang="en-US" sz="1000" dirty="0">
              <a:latin typeface="メイリオ" panose="020B0604030504040204" pitchFamily="50" charset="-128"/>
              <a:ea typeface="メイリオ" panose="020B0604030504040204" pitchFamily="50" charset="-128"/>
            </a:endParaRPr>
          </a:p>
        </p:txBody>
      </p:sp>
      <p:sp>
        <p:nvSpPr>
          <p:cNvPr id="453" name="Text 112">
            <a:extLst>
              <a:ext uri="{FF2B5EF4-FFF2-40B4-BE49-F238E27FC236}">
                <a16:creationId xmlns:a16="http://schemas.microsoft.com/office/drawing/2014/main" id="{508C543F-C9AB-A60B-8018-61A15273F0DE}"/>
              </a:ext>
            </a:extLst>
          </p:cNvPr>
          <p:cNvSpPr/>
          <p:nvPr/>
        </p:nvSpPr>
        <p:spPr>
          <a:xfrm>
            <a:off x="5157459" y="5163094"/>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6ヶ月以上アクションがないユーザーに「久しぶりにご連絡します」という自然なトーンで接触。業界ニュース・役立つコンテンツから入り、関係を再構築してからCVを狙う。</a:t>
            </a:r>
            <a:endParaRPr lang="en-US" sz="600" dirty="0">
              <a:latin typeface="メイリオ" panose="020B0604030504040204" pitchFamily="50" charset="-128"/>
              <a:ea typeface="メイリオ" panose="020B0604030504040204" pitchFamily="50" charset="-128"/>
            </a:endParaRPr>
          </a:p>
        </p:txBody>
      </p:sp>
      <p:sp>
        <p:nvSpPr>
          <p:cNvPr id="455" name="Shape 113">
            <a:extLst>
              <a:ext uri="{FF2B5EF4-FFF2-40B4-BE49-F238E27FC236}">
                <a16:creationId xmlns:a16="http://schemas.microsoft.com/office/drawing/2014/main" id="{0D84DDA0-BF3C-451C-FA1C-5C4E0CC796E5}"/>
              </a:ext>
            </a:extLst>
          </p:cNvPr>
          <p:cNvSpPr/>
          <p:nvPr/>
        </p:nvSpPr>
        <p:spPr>
          <a:xfrm>
            <a:off x="5139171" y="5676275"/>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57" name="Text 114">
            <a:extLst>
              <a:ext uri="{FF2B5EF4-FFF2-40B4-BE49-F238E27FC236}">
                <a16:creationId xmlns:a16="http://schemas.microsoft.com/office/drawing/2014/main" id="{A87F45F7-ABD3-CEBF-4AF2-8CB3A30A3DC0}"/>
              </a:ext>
            </a:extLst>
          </p:cNvPr>
          <p:cNvSpPr/>
          <p:nvPr/>
        </p:nvSpPr>
        <p:spPr>
          <a:xfrm>
            <a:off x="5139171"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コンテンツ接触</a:t>
            </a:r>
            <a:endParaRPr lang="en-US" sz="700" dirty="0">
              <a:latin typeface="メイリオ" panose="020B0604030504040204" pitchFamily="50" charset="-128"/>
              <a:ea typeface="メイリオ" panose="020B0604030504040204" pitchFamily="50" charset="-128"/>
            </a:endParaRPr>
          </a:p>
        </p:txBody>
      </p:sp>
      <p:sp>
        <p:nvSpPr>
          <p:cNvPr id="459" name="Shape 115">
            <a:extLst>
              <a:ext uri="{FF2B5EF4-FFF2-40B4-BE49-F238E27FC236}">
                <a16:creationId xmlns:a16="http://schemas.microsoft.com/office/drawing/2014/main" id="{21CA3B89-DC5E-AD89-5676-C5B918F75004}"/>
              </a:ext>
            </a:extLst>
          </p:cNvPr>
          <p:cNvSpPr/>
          <p:nvPr/>
        </p:nvSpPr>
        <p:spPr>
          <a:xfrm>
            <a:off x="6413235" y="5807651"/>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61" name="Text 116">
            <a:extLst>
              <a:ext uri="{FF2B5EF4-FFF2-40B4-BE49-F238E27FC236}">
                <a16:creationId xmlns:a16="http://schemas.microsoft.com/office/drawing/2014/main" id="{2B5EBEB8-BD89-88B8-B0AF-DB4EF15161B3}"/>
              </a:ext>
            </a:extLst>
          </p:cNvPr>
          <p:cNvSpPr/>
          <p:nvPr/>
        </p:nvSpPr>
        <p:spPr>
          <a:xfrm>
            <a:off x="6413235" y="5807651"/>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63" name="Shape 117">
            <a:extLst>
              <a:ext uri="{FF2B5EF4-FFF2-40B4-BE49-F238E27FC236}">
                <a16:creationId xmlns:a16="http://schemas.microsoft.com/office/drawing/2014/main" id="{D5BA2610-8ECE-0E46-5DE9-D84256F4ABB7}"/>
              </a:ext>
            </a:extLst>
          </p:cNvPr>
          <p:cNvSpPr/>
          <p:nvPr/>
        </p:nvSpPr>
        <p:spPr>
          <a:xfrm>
            <a:off x="6504675" y="5676275"/>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00" b="1">
                <a:solidFill>
                  <a:srgbClr val="FFFFFF"/>
                </a:solidFill>
                <a:latin typeface="メイリオ" panose="020B0604030504040204" pitchFamily="50" charset="-128"/>
                <a:ea typeface="メイリオ" panose="020B0604030504040204" pitchFamily="50" charset="-128"/>
                <a:cs typeface="Calibri" pitchFamily="34" charset="-120"/>
              </a:rPr>
              <a:t>関係再構築</a:t>
            </a:r>
            <a:endParaRPr lang="en-US" altLang="ja-JP" sz="700" dirty="0">
              <a:latin typeface="メイリオ" panose="020B0604030504040204" pitchFamily="50" charset="-128"/>
              <a:ea typeface="メイリオ" panose="020B0604030504040204" pitchFamily="50" charset="-128"/>
            </a:endParaRPr>
          </a:p>
        </p:txBody>
      </p:sp>
      <p:sp>
        <p:nvSpPr>
          <p:cNvPr id="467" name="Shape 119">
            <a:extLst>
              <a:ext uri="{FF2B5EF4-FFF2-40B4-BE49-F238E27FC236}">
                <a16:creationId xmlns:a16="http://schemas.microsoft.com/office/drawing/2014/main" id="{ECDAE41D-74EE-70DA-6BA7-EFBBEFFC654B}"/>
              </a:ext>
            </a:extLst>
          </p:cNvPr>
          <p:cNvSpPr/>
          <p:nvPr/>
        </p:nvSpPr>
        <p:spPr>
          <a:xfrm>
            <a:off x="7778739" y="5807651"/>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69" name="Text 120">
            <a:extLst>
              <a:ext uri="{FF2B5EF4-FFF2-40B4-BE49-F238E27FC236}">
                <a16:creationId xmlns:a16="http://schemas.microsoft.com/office/drawing/2014/main" id="{CB14E44B-796A-6A2D-D1B3-013FACC24DEC}"/>
              </a:ext>
            </a:extLst>
          </p:cNvPr>
          <p:cNvSpPr/>
          <p:nvPr/>
        </p:nvSpPr>
        <p:spPr>
          <a:xfrm>
            <a:off x="7778739" y="5807651"/>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71" name="Shape 121">
            <a:extLst>
              <a:ext uri="{FF2B5EF4-FFF2-40B4-BE49-F238E27FC236}">
                <a16:creationId xmlns:a16="http://schemas.microsoft.com/office/drawing/2014/main" id="{75D4D855-A0E2-F793-0792-F5696FFF8659}"/>
              </a:ext>
            </a:extLst>
          </p:cNvPr>
          <p:cNvSpPr/>
          <p:nvPr/>
        </p:nvSpPr>
        <p:spPr>
          <a:xfrm>
            <a:off x="7870179" y="5676275"/>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73" name="Text 122">
            <a:extLst>
              <a:ext uri="{FF2B5EF4-FFF2-40B4-BE49-F238E27FC236}">
                <a16:creationId xmlns:a16="http://schemas.microsoft.com/office/drawing/2014/main" id="{B61DFFD1-F302-D0F1-D19E-8923951471AC}"/>
              </a:ext>
            </a:extLst>
          </p:cNvPr>
          <p:cNvSpPr/>
          <p:nvPr/>
        </p:nvSpPr>
        <p:spPr>
          <a:xfrm>
            <a:off x="7870179"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CV誘導</a:t>
            </a:r>
            <a:endParaRPr lang="en-US" sz="700" dirty="0">
              <a:latin typeface="メイリオ" panose="020B0604030504040204" pitchFamily="50" charset="-128"/>
              <a:ea typeface="メイリオ" panose="020B0604030504040204" pitchFamily="50" charset="-128"/>
            </a:endParaRPr>
          </a:p>
        </p:txBody>
      </p:sp>
      <p:sp>
        <p:nvSpPr>
          <p:cNvPr id="9" name="Text 110">
            <a:extLst>
              <a:ext uri="{FF2B5EF4-FFF2-40B4-BE49-F238E27FC236}">
                <a16:creationId xmlns:a16="http://schemas.microsoft.com/office/drawing/2014/main" id="{D50F457C-0303-AF4A-FC6E-E83638F895A9}"/>
              </a:ext>
            </a:extLst>
          </p:cNvPr>
          <p:cNvSpPr/>
          <p:nvPr/>
        </p:nvSpPr>
        <p:spPr>
          <a:xfrm>
            <a:off x="5504931" y="3218704"/>
            <a:ext cx="859536" cy="201168"/>
          </a:xfrm>
          <a:prstGeom prst="rect">
            <a:avLst/>
          </a:prstGeom>
          <a:solidFill>
            <a:schemeClr val="tx2"/>
          </a:solidFill>
          <a:ln/>
        </p:spPr>
        <p:txBody>
          <a:bodyPr wrap="square" lIns="0" tIns="0" rIns="0" bIns="0" rtlCol="0" anchor="ctr"/>
          <a:lstStyle/>
          <a:p>
            <a:pPr marL="0" indent="0" algn="ctr">
              <a:buNone/>
            </a:pPr>
            <a:r>
              <a:rPr lang="ja-JP" altLang="en-US" sz="900" b="1" dirty="0">
                <a:solidFill>
                  <a:srgbClr val="FDFDFD"/>
                </a:solidFill>
                <a:latin typeface="メイリオ" panose="020B0604030504040204" pitchFamily="50" charset="-128"/>
                <a:ea typeface="メイリオ" panose="020B0604030504040204" pitchFamily="50" charset="-128"/>
              </a:rPr>
              <a:t>購入検討層</a:t>
            </a:r>
            <a:endParaRPr lang="en-US" sz="700" b="1" dirty="0">
              <a:solidFill>
                <a:srgbClr val="FDFDFD"/>
              </a:solidFill>
              <a:latin typeface="メイリオ" panose="020B0604030504040204" pitchFamily="50" charset="-128"/>
              <a:ea typeface="メイリオ" panose="020B0604030504040204" pitchFamily="50" charset="-128"/>
            </a:endParaRPr>
          </a:p>
        </p:txBody>
      </p:sp>
      <p:sp>
        <p:nvSpPr>
          <p:cNvPr id="15" name="Text 38">
            <a:extLst>
              <a:ext uri="{FF2B5EF4-FFF2-40B4-BE49-F238E27FC236}">
                <a16:creationId xmlns:a16="http://schemas.microsoft.com/office/drawing/2014/main" id="{3534AFB2-278D-FF29-BCC6-4EA3CABA4614}"/>
              </a:ext>
            </a:extLst>
          </p:cNvPr>
          <p:cNvSpPr/>
          <p:nvPr/>
        </p:nvSpPr>
        <p:spPr>
          <a:xfrm>
            <a:off x="1060947" y="1675046"/>
            <a:ext cx="859536" cy="190604"/>
          </a:xfrm>
          <a:prstGeom prst="rect">
            <a:avLst/>
          </a:prstGeom>
          <a:solidFill>
            <a:schemeClr val="tx2"/>
          </a:solidFill>
          <a:ln/>
        </p:spPr>
        <p:txBody>
          <a:bodyPr wrap="square" lIns="0" tIns="0" rIns="0" bIns="0" rtlCol="0" anchor="ctr"/>
          <a:lstStyle/>
          <a:p>
            <a:pPr marL="0" indent="0" algn="ctr">
              <a:buNone/>
            </a:pPr>
            <a:r>
              <a:rPr lang="ja-JP" altLang="en-US" sz="900" b="1" dirty="0">
                <a:solidFill>
                  <a:srgbClr val="FDFDFD"/>
                </a:solidFill>
                <a:latin typeface="メイリオ" panose="020B0604030504040204" pitchFamily="50" charset="-128"/>
                <a:ea typeface="メイリオ" panose="020B0604030504040204" pitchFamily="50" charset="-128"/>
                <a:cs typeface="Calibri" pitchFamily="34" charset="-120"/>
              </a:rPr>
              <a:t>リスト活性化</a:t>
            </a:r>
            <a:endParaRPr lang="en-US" sz="700" dirty="0">
              <a:solidFill>
                <a:srgbClr val="FDFDFD"/>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01254505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8F4B6A2-11F2-64AD-4DDE-1248419C631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811AA335-9B44-6B58-2534-BB048200CAD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具体施策</a:t>
            </a:r>
          </a:p>
        </p:txBody>
      </p:sp>
      <p:sp>
        <p:nvSpPr>
          <p:cNvPr id="2" name="Google Shape;752;p28">
            <a:extLst>
              <a:ext uri="{FF2B5EF4-FFF2-40B4-BE49-F238E27FC236}">
                <a16:creationId xmlns:a16="http://schemas.microsoft.com/office/drawing/2014/main" id="{72627B2D-8393-455B-0855-0EB48BEF4480}"/>
              </a:ext>
            </a:extLst>
          </p:cNvPr>
          <p:cNvSpPr txBox="1"/>
          <p:nvPr/>
        </p:nvSpPr>
        <p:spPr>
          <a:xfrm>
            <a:off x="309397" y="778217"/>
            <a:ext cx="9330992"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想定：リピート、クロスセルを計画的に実施</a:t>
            </a:r>
          </a:p>
        </p:txBody>
      </p:sp>
      <p:sp>
        <p:nvSpPr>
          <p:cNvPr id="243" name="Shape 8">
            <a:extLst>
              <a:ext uri="{FF2B5EF4-FFF2-40B4-BE49-F238E27FC236}">
                <a16:creationId xmlns:a16="http://schemas.microsoft.com/office/drawing/2014/main" id="{25BEC70F-1CF8-F07A-EA93-FC6E8D940E95}"/>
              </a:ext>
            </a:extLst>
          </p:cNvPr>
          <p:cNvSpPr/>
          <p:nvPr/>
        </p:nvSpPr>
        <p:spPr>
          <a:xfrm>
            <a:off x="622035" y="1306641"/>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45" name="Text 9">
            <a:extLst>
              <a:ext uri="{FF2B5EF4-FFF2-40B4-BE49-F238E27FC236}">
                <a16:creationId xmlns:a16="http://schemas.microsoft.com/office/drawing/2014/main" id="{15FC7E1F-9877-CB06-F5F1-37331233B89F}"/>
              </a:ext>
            </a:extLst>
          </p:cNvPr>
          <p:cNvSpPr/>
          <p:nvPr/>
        </p:nvSpPr>
        <p:spPr>
          <a:xfrm>
            <a:off x="750051" y="1294892"/>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リピート施策</a:t>
            </a:r>
            <a:endParaRPr lang="en-US" sz="1000" dirty="0">
              <a:latin typeface="メイリオ" panose="020B0604030504040204" pitchFamily="50" charset="-128"/>
              <a:ea typeface="メイリオ" panose="020B0604030504040204" pitchFamily="50" charset="-128"/>
            </a:endParaRPr>
          </a:p>
        </p:txBody>
      </p:sp>
      <p:sp>
        <p:nvSpPr>
          <p:cNvPr id="247" name="Text 10">
            <a:extLst>
              <a:ext uri="{FF2B5EF4-FFF2-40B4-BE49-F238E27FC236}">
                <a16:creationId xmlns:a16="http://schemas.microsoft.com/office/drawing/2014/main" id="{04713F76-50FA-FA3F-D4BD-08DC408EA176}"/>
              </a:ext>
            </a:extLst>
          </p:cNvPr>
          <p:cNvSpPr/>
          <p:nvPr/>
        </p:nvSpPr>
        <p:spPr>
          <a:xfrm>
            <a:off x="2541313" y="1294892"/>
            <a:ext cx="2177234" cy="182880"/>
          </a:xfrm>
          <a:prstGeom prst="rect">
            <a:avLst/>
          </a:prstGeom>
          <a:noFill/>
          <a:ln/>
        </p:spPr>
        <p:txBody>
          <a:bodyPr wrap="square" lIns="0" tIns="0" rIns="0" bIns="0" rtlCol="0" anchor="ctr"/>
          <a:lstStyle/>
          <a:p>
            <a:pPr marL="0" indent="0">
              <a:buNone/>
            </a:pPr>
            <a:r>
              <a:rPr lang="en-US" sz="900" i="1" dirty="0">
                <a:solidFill>
                  <a:srgbClr val="CADCF2"/>
                </a:solidFill>
                <a:latin typeface="メイリオ" panose="020B0604030504040204" pitchFamily="50" charset="-128"/>
                <a:ea typeface="メイリオ" panose="020B0604030504040204" pitchFamily="50" charset="-128"/>
                <a:cs typeface="Calibri" pitchFamily="34" charset="-120"/>
              </a:rPr>
              <a:t>既存顧客を繰り返しCVさせる設計</a:t>
            </a:r>
            <a:endParaRPr lang="en-US" sz="700" dirty="0">
              <a:latin typeface="メイリオ" panose="020B0604030504040204" pitchFamily="50" charset="-128"/>
              <a:ea typeface="メイリオ" panose="020B0604030504040204" pitchFamily="50" charset="-128"/>
            </a:endParaRPr>
          </a:p>
        </p:txBody>
      </p:sp>
      <p:sp>
        <p:nvSpPr>
          <p:cNvPr id="249" name="Shape 11">
            <a:extLst>
              <a:ext uri="{FF2B5EF4-FFF2-40B4-BE49-F238E27FC236}">
                <a16:creationId xmlns:a16="http://schemas.microsoft.com/office/drawing/2014/main" id="{8636F3C8-63E7-CBB8-3872-E6B2584513F2}"/>
              </a:ext>
            </a:extLst>
          </p:cNvPr>
          <p:cNvSpPr/>
          <p:nvPr/>
        </p:nvSpPr>
        <p:spPr>
          <a:xfrm>
            <a:off x="5066019" y="1306641"/>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51" name="Text 12">
            <a:extLst>
              <a:ext uri="{FF2B5EF4-FFF2-40B4-BE49-F238E27FC236}">
                <a16:creationId xmlns:a16="http://schemas.microsoft.com/office/drawing/2014/main" id="{6615CF57-D24E-7288-7AB0-1DF692D04526}"/>
              </a:ext>
            </a:extLst>
          </p:cNvPr>
          <p:cNvSpPr/>
          <p:nvPr/>
        </p:nvSpPr>
        <p:spPr>
          <a:xfrm>
            <a:off x="5194035" y="1294892"/>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クロスセル施策</a:t>
            </a:r>
            <a:endParaRPr lang="en-US" sz="1000" dirty="0">
              <a:latin typeface="メイリオ" panose="020B0604030504040204" pitchFamily="50" charset="-128"/>
              <a:ea typeface="メイリオ" panose="020B0604030504040204" pitchFamily="50" charset="-128"/>
            </a:endParaRPr>
          </a:p>
        </p:txBody>
      </p:sp>
      <p:sp>
        <p:nvSpPr>
          <p:cNvPr id="253" name="Text 13">
            <a:extLst>
              <a:ext uri="{FF2B5EF4-FFF2-40B4-BE49-F238E27FC236}">
                <a16:creationId xmlns:a16="http://schemas.microsoft.com/office/drawing/2014/main" id="{7C345B51-6053-1E03-9823-0F386006D466}"/>
              </a:ext>
            </a:extLst>
          </p:cNvPr>
          <p:cNvSpPr/>
          <p:nvPr/>
        </p:nvSpPr>
        <p:spPr>
          <a:xfrm>
            <a:off x="6985297" y="1294892"/>
            <a:ext cx="2177234" cy="182880"/>
          </a:xfrm>
          <a:prstGeom prst="rect">
            <a:avLst/>
          </a:prstGeom>
          <a:noFill/>
          <a:ln/>
        </p:spPr>
        <p:txBody>
          <a:bodyPr wrap="square" lIns="0" tIns="0" rIns="0" bIns="0" rtlCol="0" anchor="ctr"/>
          <a:lstStyle/>
          <a:p>
            <a:pPr marL="0" indent="0">
              <a:buNone/>
            </a:pPr>
            <a:r>
              <a:rPr lang="en-US" sz="900" i="1" dirty="0">
                <a:solidFill>
                  <a:srgbClr val="CADCF2"/>
                </a:solidFill>
                <a:latin typeface="メイリオ" panose="020B0604030504040204" pitchFamily="50" charset="-128"/>
                <a:ea typeface="メイリオ" panose="020B0604030504040204" pitchFamily="50" charset="-128"/>
                <a:cs typeface="Calibri" pitchFamily="34" charset="-120"/>
              </a:rPr>
              <a:t>関連サービス・上位プランへの誘導設計</a:t>
            </a:r>
            <a:endParaRPr lang="en-US" sz="700" dirty="0">
              <a:latin typeface="メイリオ" panose="020B0604030504040204" pitchFamily="50" charset="-128"/>
              <a:ea typeface="メイリオ" panose="020B0604030504040204" pitchFamily="50" charset="-128"/>
            </a:endParaRPr>
          </a:p>
        </p:txBody>
      </p:sp>
      <p:sp>
        <p:nvSpPr>
          <p:cNvPr id="255" name="Shape 15">
            <a:extLst>
              <a:ext uri="{FF2B5EF4-FFF2-40B4-BE49-F238E27FC236}">
                <a16:creationId xmlns:a16="http://schemas.microsoft.com/office/drawing/2014/main" id="{2BEE7A23-A38F-24B6-8785-FB455AC73808}"/>
              </a:ext>
            </a:extLst>
          </p:cNvPr>
          <p:cNvSpPr/>
          <p:nvPr/>
        </p:nvSpPr>
        <p:spPr>
          <a:xfrm>
            <a:off x="622035" y="157446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59" name="Shape 17">
            <a:extLst>
              <a:ext uri="{FF2B5EF4-FFF2-40B4-BE49-F238E27FC236}">
                <a16:creationId xmlns:a16="http://schemas.microsoft.com/office/drawing/2014/main" id="{6EA2FE60-CA64-D4E8-A942-9C618AC68B86}"/>
              </a:ext>
            </a:extLst>
          </p:cNvPr>
          <p:cNvSpPr/>
          <p:nvPr/>
        </p:nvSpPr>
        <p:spPr>
          <a:xfrm>
            <a:off x="731763" y="166590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61" name="Text 18">
            <a:extLst>
              <a:ext uri="{FF2B5EF4-FFF2-40B4-BE49-F238E27FC236}">
                <a16:creationId xmlns:a16="http://schemas.microsoft.com/office/drawing/2014/main" id="{E856EF37-698D-F191-3067-928FC0AFC456}"/>
              </a:ext>
            </a:extLst>
          </p:cNvPr>
          <p:cNvSpPr/>
          <p:nvPr/>
        </p:nvSpPr>
        <p:spPr>
          <a:xfrm>
            <a:off x="731763" y="1675046"/>
            <a:ext cx="274320" cy="274320"/>
          </a:xfrm>
          <a:prstGeom prst="rect">
            <a:avLst/>
          </a:prstGeom>
          <a:noFill/>
          <a:ln>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263" name="Shape 19">
            <a:extLst>
              <a:ext uri="{FF2B5EF4-FFF2-40B4-BE49-F238E27FC236}">
                <a16:creationId xmlns:a16="http://schemas.microsoft.com/office/drawing/2014/main" id="{C3D7846E-19C7-41FD-05BA-E1F3CF32FFFD}"/>
              </a:ext>
            </a:extLst>
          </p:cNvPr>
          <p:cNvSpPr/>
          <p:nvPr/>
        </p:nvSpPr>
        <p:spPr>
          <a:xfrm>
            <a:off x="1039813" y="1693334"/>
            <a:ext cx="880670" cy="246248"/>
          </a:xfrm>
          <a:prstGeom prst="roundRect">
            <a:avLst>
              <a:gd name="adj" fmla="val 18182"/>
            </a:avLst>
          </a:prstGeom>
          <a:solidFill>
            <a:schemeClr val="tx2"/>
          </a:solidFill>
          <a:ln w="12700">
            <a:solidFill>
              <a:srgbClr val="D8D8E2"/>
            </a:solidFill>
            <a:prstDash val="solid"/>
          </a:ln>
        </p:spPr>
        <p:txBody>
          <a:bodyPr/>
          <a:lstStyle/>
          <a:p>
            <a:r>
              <a:rPr lang="ja-JP" altLang="en-US" sz="700" b="1" dirty="0">
                <a:solidFill>
                  <a:srgbClr val="FDFDFD"/>
                </a:solidFill>
                <a:latin typeface="メイリオ" panose="020B0604030504040204" pitchFamily="50" charset="-128"/>
                <a:ea typeface="メイリオ" panose="020B0604030504040204" pitchFamily="50" charset="-128"/>
              </a:rPr>
              <a:t>アフターフォロー</a:t>
            </a:r>
          </a:p>
        </p:txBody>
      </p:sp>
      <p:sp>
        <p:nvSpPr>
          <p:cNvPr id="267" name="Text 21">
            <a:extLst>
              <a:ext uri="{FF2B5EF4-FFF2-40B4-BE49-F238E27FC236}">
                <a16:creationId xmlns:a16="http://schemas.microsoft.com/office/drawing/2014/main" id="{FCE3B029-FE9D-7576-7B05-2585AB5A66B1}"/>
              </a:ext>
            </a:extLst>
          </p:cNvPr>
          <p:cNvSpPr/>
          <p:nvPr/>
        </p:nvSpPr>
        <p:spPr>
          <a:xfrm>
            <a:off x="1993635" y="1675046"/>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購入・利用完了後の自動フォローアップ配信</a:t>
            </a:r>
            <a:endParaRPr lang="en-US" sz="1000" dirty="0">
              <a:latin typeface="メイリオ" panose="020B0604030504040204" pitchFamily="50" charset="-128"/>
              <a:ea typeface="メイリオ" panose="020B0604030504040204" pitchFamily="50" charset="-128"/>
            </a:endParaRPr>
          </a:p>
        </p:txBody>
      </p:sp>
      <p:sp>
        <p:nvSpPr>
          <p:cNvPr id="269" name="Text 22">
            <a:extLst>
              <a:ext uri="{FF2B5EF4-FFF2-40B4-BE49-F238E27FC236}">
                <a16:creationId xmlns:a16="http://schemas.microsoft.com/office/drawing/2014/main" id="{C1ECFC15-9129-ED3B-D3EF-84A237B9E067}"/>
              </a:ext>
            </a:extLst>
          </p:cNvPr>
          <p:cNvSpPr/>
          <p:nvPr/>
        </p:nvSpPr>
        <p:spPr>
          <a:xfrm>
            <a:off x="731763" y="2106046"/>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サービス利用後30日・3ヶ月・6ヶ月のタイミングで自動配信。「その後いかがですか？」「定期メンテナンスのご案内」など適切なタイミングで次回利用を自然に促す。</a:t>
            </a:r>
            <a:endParaRPr lang="en-US" sz="600" dirty="0">
              <a:latin typeface="メイリオ" panose="020B0604030504040204" pitchFamily="50" charset="-128"/>
              <a:ea typeface="メイリオ" panose="020B0604030504040204" pitchFamily="50" charset="-128"/>
            </a:endParaRPr>
          </a:p>
        </p:txBody>
      </p:sp>
      <p:sp>
        <p:nvSpPr>
          <p:cNvPr id="271" name="Shape 23">
            <a:extLst>
              <a:ext uri="{FF2B5EF4-FFF2-40B4-BE49-F238E27FC236}">
                <a16:creationId xmlns:a16="http://schemas.microsoft.com/office/drawing/2014/main" id="{02AAD0EA-81DD-0BAE-0FBC-DF75C0098CFF}"/>
              </a:ext>
            </a:extLst>
          </p:cNvPr>
          <p:cNvSpPr/>
          <p:nvPr/>
        </p:nvSpPr>
        <p:spPr>
          <a:xfrm>
            <a:off x="713475" y="2621391"/>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a:solidFill>
                  <a:srgbClr val="FFFFFF"/>
                </a:solidFill>
                <a:latin typeface="メイリオ" panose="020B0604030504040204" pitchFamily="50" charset="-128"/>
                <a:ea typeface="メイリオ" panose="020B0604030504040204" pitchFamily="50" charset="-128"/>
                <a:cs typeface="Calibri" pitchFamily="34" charset="-120"/>
              </a:rPr>
              <a:t>購入完了</a:t>
            </a:r>
            <a:endParaRPr lang="en-US" altLang="ja-JP" sz="700" dirty="0">
              <a:latin typeface="メイリオ" panose="020B0604030504040204" pitchFamily="50" charset="-128"/>
              <a:ea typeface="メイリオ" panose="020B0604030504040204" pitchFamily="50" charset="-128"/>
            </a:endParaRPr>
          </a:p>
        </p:txBody>
      </p:sp>
      <p:sp>
        <p:nvSpPr>
          <p:cNvPr id="275" name="Shape 25">
            <a:extLst>
              <a:ext uri="{FF2B5EF4-FFF2-40B4-BE49-F238E27FC236}">
                <a16:creationId xmlns:a16="http://schemas.microsoft.com/office/drawing/2014/main" id="{597E6017-68DF-6125-D04E-EBE42E4AC1C8}"/>
              </a:ext>
            </a:extLst>
          </p:cNvPr>
          <p:cNvSpPr/>
          <p:nvPr/>
        </p:nvSpPr>
        <p:spPr>
          <a:xfrm>
            <a:off x="1987539"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77" name="Text 26">
            <a:extLst>
              <a:ext uri="{FF2B5EF4-FFF2-40B4-BE49-F238E27FC236}">
                <a16:creationId xmlns:a16="http://schemas.microsoft.com/office/drawing/2014/main" id="{A0AA9CE1-6CB6-6DB8-F485-AA5FC31BD9AB}"/>
              </a:ext>
            </a:extLst>
          </p:cNvPr>
          <p:cNvSpPr/>
          <p:nvPr/>
        </p:nvSpPr>
        <p:spPr>
          <a:xfrm>
            <a:off x="1987539"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79" name="Shape 27">
            <a:extLst>
              <a:ext uri="{FF2B5EF4-FFF2-40B4-BE49-F238E27FC236}">
                <a16:creationId xmlns:a16="http://schemas.microsoft.com/office/drawing/2014/main" id="{0033C6EE-6DB2-CF55-B4C7-D25DA14E4D93}"/>
              </a:ext>
            </a:extLst>
          </p:cNvPr>
          <p:cNvSpPr/>
          <p:nvPr/>
        </p:nvSpPr>
        <p:spPr>
          <a:xfrm>
            <a:off x="2078979" y="2621391"/>
            <a:ext cx="1274064" cy="329184"/>
          </a:xfrm>
          <a:prstGeom prst="roundRect">
            <a:avLst>
              <a:gd name="adj" fmla="val 16667"/>
            </a:avLst>
          </a:prstGeom>
          <a:solidFill>
            <a:schemeClr val="tx1"/>
          </a:solidFill>
          <a:ln w="12700">
            <a:noFill/>
            <a:prstDash val="solid"/>
          </a:ln>
        </p:spPr>
        <p:txBody>
          <a:bodyPr/>
          <a:lstStyle/>
          <a:p>
            <a:endParaRPr lang="ja-JP" altLang="en-US" sz="700" dirty="0">
              <a:latin typeface="メイリオ" panose="020B0604030504040204" pitchFamily="50" charset="-128"/>
              <a:ea typeface="メイリオ" panose="020B0604030504040204" pitchFamily="50" charset="-128"/>
            </a:endParaRPr>
          </a:p>
        </p:txBody>
      </p:sp>
      <p:sp>
        <p:nvSpPr>
          <p:cNvPr id="281" name="Text 28">
            <a:extLst>
              <a:ext uri="{FF2B5EF4-FFF2-40B4-BE49-F238E27FC236}">
                <a16:creationId xmlns:a16="http://schemas.microsoft.com/office/drawing/2014/main" id="{7A443300-A185-ED88-10AA-DFD63178035A}"/>
              </a:ext>
            </a:extLst>
          </p:cNvPr>
          <p:cNvSpPr/>
          <p:nvPr/>
        </p:nvSpPr>
        <p:spPr>
          <a:xfrm>
            <a:off x="2078979"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30日/3ヶ月/6ヶ月</a:t>
            </a:r>
            <a:endParaRPr lang="en-US" sz="700" dirty="0">
              <a:latin typeface="メイリオ" panose="020B0604030504040204" pitchFamily="50" charset="-128"/>
              <a:ea typeface="メイリオ" panose="020B0604030504040204" pitchFamily="50" charset="-128"/>
            </a:endParaRPr>
          </a:p>
        </p:txBody>
      </p:sp>
      <p:sp>
        <p:nvSpPr>
          <p:cNvPr id="283" name="Shape 29">
            <a:extLst>
              <a:ext uri="{FF2B5EF4-FFF2-40B4-BE49-F238E27FC236}">
                <a16:creationId xmlns:a16="http://schemas.microsoft.com/office/drawing/2014/main" id="{A8CDF565-4E56-34DE-F4B7-83C324AB1111}"/>
              </a:ext>
            </a:extLst>
          </p:cNvPr>
          <p:cNvSpPr/>
          <p:nvPr/>
        </p:nvSpPr>
        <p:spPr>
          <a:xfrm>
            <a:off x="3353043"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85" name="Text 30">
            <a:extLst>
              <a:ext uri="{FF2B5EF4-FFF2-40B4-BE49-F238E27FC236}">
                <a16:creationId xmlns:a16="http://schemas.microsoft.com/office/drawing/2014/main" id="{C7552AF9-D505-7C0D-70BF-ACE641907EEA}"/>
              </a:ext>
            </a:extLst>
          </p:cNvPr>
          <p:cNvSpPr/>
          <p:nvPr/>
        </p:nvSpPr>
        <p:spPr>
          <a:xfrm>
            <a:off x="3353043"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87" name="Shape 31">
            <a:extLst>
              <a:ext uri="{FF2B5EF4-FFF2-40B4-BE49-F238E27FC236}">
                <a16:creationId xmlns:a16="http://schemas.microsoft.com/office/drawing/2014/main" id="{41993352-6267-4FE7-B0F8-37A18FC55C5D}"/>
              </a:ext>
            </a:extLst>
          </p:cNvPr>
          <p:cNvSpPr/>
          <p:nvPr/>
        </p:nvSpPr>
        <p:spPr>
          <a:xfrm>
            <a:off x="3444483" y="2621391"/>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289" name="Text 32">
            <a:extLst>
              <a:ext uri="{FF2B5EF4-FFF2-40B4-BE49-F238E27FC236}">
                <a16:creationId xmlns:a16="http://schemas.microsoft.com/office/drawing/2014/main" id="{56896933-7E6D-6A12-EEAF-C1E0A07B9A27}"/>
              </a:ext>
            </a:extLst>
          </p:cNvPr>
          <p:cNvSpPr/>
          <p:nvPr/>
        </p:nvSpPr>
        <p:spPr>
          <a:xfrm>
            <a:off x="3444483"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自動リマインド</a:t>
            </a:r>
            <a:endParaRPr lang="en-US" sz="700" dirty="0">
              <a:latin typeface="メイリオ" panose="020B0604030504040204" pitchFamily="50" charset="-128"/>
              <a:ea typeface="メイリオ" panose="020B0604030504040204" pitchFamily="50" charset="-128"/>
            </a:endParaRPr>
          </a:p>
        </p:txBody>
      </p:sp>
      <p:sp>
        <p:nvSpPr>
          <p:cNvPr id="291" name="Shape 33">
            <a:extLst>
              <a:ext uri="{FF2B5EF4-FFF2-40B4-BE49-F238E27FC236}">
                <a16:creationId xmlns:a16="http://schemas.microsoft.com/office/drawing/2014/main" id="{F55E1F0E-CE1E-4788-56E8-EEC6BC428B40}"/>
              </a:ext>
            </a:extLst>
          </p:cNvPr>
          <p:cNvSpPr/>
          <p:nvPr/>
        </p:nvSpPr>
        <p:spPr>
          <a:xfrm>
            <a:off x="622035" y="3117039"/>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95" name="Shape 35">
            <a:extLst>
              <a:ext uri="{FF2B5EF4-FFF2-40B4-BE49-F238E27FC236}">
                <a16:creationId xmlns:a16="http://schemas.microsoft.com/office/drawing/2014/main" id="{A12EE24B-120D-6CFC-50B3-086F27872223}"/>
              </a:ext>
            </a:extLst>
          </p:cNvPr>
          <p:cNvSpPr/>
          <p:nvPr/>
        </p:nvSpPr>
        <p:spPr>
          <a:xfrm>
            <a:off x="731763" y="3208479"/>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97" name="Text 36">
            <a:extLst>
              <a:ext uri="{FF2B5EF4-FFF2-40B4-BE49-F238E27FC236}">
                <a16:creationId xmlns:a16="http://schemas.microsoft.com/office/drawing/2014/main" id="{751A7A54-3F2B-726E-0209-EC76E1460C60}"/>
              </a:ext>
            </a:extLst>
          </p:cNvPr>
          <p:cNvSpPr/>
          <p:nvPr/>
        </p:nvSpPr>
        <p:spPr>
          <a:xfrm>
            <a:off x="731763" y="3217623"/>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301" name="Text 38">
            <a:extLst>
              <a:ext uri="{FF2B5EF4-FFF2-40B4-BE49-F238E27FC236}">
                <a16:creationId xmlns:a16="http://schemas.microsoft.com/office/drawing/2014/main" id="{38E18943-F8B5-9629-4062-419A919A3557}"/>
              </a:ext>
            </a:extLst>
          </p:cNvPr>
          <p:cNvSpPr/>
          <p:nvPr/>
        </p:nvSpPr>
        <p:spPr>
          <a:xfrm>
            <a:off x="1037770" y="3231978"/>
            <a:ext cx="882713" cy="241677"/>
          </a:xfrm>
          <a:prstGeom prst="rect">
            <a:avLst/>
          </a:prstGeom>
          <a:solidFill>
            <a:schemeClr val="tx2"/>
          </a:solid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記念日配信</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03" name="Text 39">
            <a:extLst>
              <a:ext uri="{FF2B5EF4-FFF2-40B4-BE49-F238E27FC236}">
                <a16:creationId xmlns:a16="http://schemas.microsoft.com/office/drawing/2014/main" id="{3E303003-51EC-7FC3-DE76-F0E6D2EAB3EE}"/>
              </a:ext>
            </a:extLst>
          </p:cNvPr>
          <p:cNvSpPr/>
          <p:nvPr/>
        </p:nvSpPr>
        <p:spPr>
          <a:xfrm>
            <a:off x="1993635" y="3217623"/>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誕生日・契約記念日に特別オファーを自動配信</a:t>
            </a:r>
            <a:endParaRPr lang="en-US" sz="1000" dirty="0">
              <a:latin typeface="メイリオ" panose="020B0604030504040204" pitchFamily="50" charset="-128"/>
              <a:ea typeface="メイリオ" panose="020B0604030504040204" pitchFamily="50" charset="-128"/>
            </a:endParaRPr>
          </a:p>
        </p:txBody>
      </p:sp>
      <p:sp>
        <p:nvSpPr>
          <p:cNvPr id="305" name="Text 40">
            <a:extLst>
              <a:ext uri="{FF2B5EF4-FFF2-40B4-BE49-F238E27FC236}">
                <a16:creationId xmlns:a16="http://schemas.microsoft.com/office/drawing/2014/main" id="{30181338-1CDB-632A-4D21-1980958DAE90}"/>
              </a:ext>
            </a:extLst>
          </p:cNvPr>
          <p:cNvSpPr/>
          <p:nvPr/>
        </p:nvSpPr>
        <p:spPr>
          <a:xfrm>
            <a:off x="731763" y="3643349"/>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誕生日や初回購入日を記念日として登録し、該当日に特別クーポン・優待を自動配信。「あなただけへの特別オファー」感が再購入率を高める。</a:t>
            </a:r>
            <a:endParaRPr lang="en-US" sz="600" dirty="0">
              <a:latin typeface="メイリオ" panose="020B0604030504040204" pitchFamily="50" charset="-128"/>
              <a:ea typeface="メイリオ" panose="020B0604030504040204" pitchFamily="50" charset="-128"/>
            </a:endParaRPr>
          </a:p>
        </p:txBody>
      </p:sp>
      <p:sp>
        <p:nvSpPr>
          <p:cNvPr id="307" name="Shape 41">
            <a:extLst>
              <a:ext uri="{FF2B5EF4-FFF2-40B4-BE49-F238E27FC236}">
                <a16:creationId xmlns:a16="http://schemas.microsoft.com/office/drawing/2014/main" id="{9C3ADD4D-62FF-6E75-0C94-EBA797742E61}"/>
              </a:ext>
            </a:extLst>
          </p:cNvPr>
          <p:cNvSpPr/>
          <p:nvPr/>
        </p:nvSpPr>
        <p:spPr>
          <a:xfrm>
            <a:off x="713475"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09" name="Text 42">
            <a:extLst>
              <a:ext uri="{FF2B5EF4-FFF2-40B4-BE49-F238E27FC236}">
                <a16:creationId xmlns:a16="http://schemas.microsoft.com/office/drawing/2014/main" id="{A3F87B85-6E13-9A64-8ED1-AC226457C436}"/>
              </a:ext>
            </a:extLst>
          </p:cNvPr>
          <p:cNvSpPr/>
          <p:nvPr/>
        </p:nvSpPr>
        <p:spPr>
          <a:xfrm>
            <a:off x="713475"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記念日タグ設定</a:t>
            </a:r>
            <a:endParaRPr lang="en-US" sz="700" dirty="0">
              <a:latin typeface="メイリオ" panose="020B0604030504040204" pitchFamily="50" charset="-128"/>
              <a:ea typeface="メイリオ" panose="020B0604030504040204" pitchFamily="50" charset="-128"/>
            </a:endParaRPr>
          </a:p>
        </p:txBody>
      </p:sp>
      <p:sp>
        <p:nvSpPr>
          <p:cNvPr id="311" name="Shape 43">
            <a:extLst>
              <a:ext uri="{FF2B5EF4-FFF2-40B4-BE49-F238E27FC236}">
                <a16:creationId xmlns:a16="http://schemas.microsoft.com/office/drawing/2014/main" id="{0A895F50-3F88-98A2-89D0-3ACC9E308C89}"/>
              </a:ext>
            </a:extLst>
          </p:cNvPr>
          <p:cNvSpPr/>
          <p:nvPr/>
        </p:nvSpPr>
        <p:spPr>
          <a:xfrm>
            <a:off x="1987539"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13" name="Text 44">
            <a:extLst>
              <a:ext uri="{FF2B5EF4-FFF2-40B4-BE49-F238E27FC236}">
                <a16:creationId xmlns:a16="http://schemas.microsoft.com/office/drawing/2014/main" id="{84141BF0-6600-94F4-8298-8914165AE119}"/>
              </a:ext>
            </a:extLst>
          </p:cNvPr>
          <p:cNvSpPr/>
          <p:nvPr/>
        </p:nvSpPr>
        <p:spPr>
          <a:xfrm>
            <a:off x="1987539"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15" name="Shape 45">
            <a:extLst>
              <a:ext uri="{FF2B5EF4-FFF2-40B4-BE49-F238E27FC236}">
                <a16:creationId xmlns:a16="http://schemas.microsoft.com/office/drawing/2014/main" id="{D6D24DD8-6D7D-257C-F532-6ED722A69206}"/>
              </a:ext>
            </a:extLst>
          </p:cNvPr>
          <p:cNvSpPr/>
          <p:nvPr/>
        </p:nvSpPr>
        <p:spPr>
          <a:xfrm>
            <a:off x="2078979"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17" name="Text 46">
            <a:extLst>
              <a:ext uri="{FF2B5EF4-FFF2-40B4-BE49-F238E27FC236}">
                <a16:creationId xmlns:a16="http://schemas.microsoft.com/office/drawing/2014/main" id="{7BD3B483-4A49-A931-5EB8-12119ED715C2}"/>
              </a:ext>
            </a:extLst>
          </p:cNvPr>
          <p:cNvSpPr/>
          <p:nvPr/>
        </p:nvSpPr>
        <p:spPr>
          <a:xfrm>
            <a:off x="2078979" y="4158910"/>
            <a:ext cx="1274064" cy="329184"/>
          </a:xfrm>
          <a:prstGeom prst="rect">
            <a:avLst/>
          </a:prstGeom>
          <a:noFill/>
          <a:ln/>
        </p:spPr>
        <p:txBody>
          <a:bodyPr wrap="square" lIns="0" tIns="0" rIns="0" bIns="0" rtlCol="0" anchor="ctr"/>
          <a:lstStyle/>
          <a:p>
            <a:pPr marL="0" indent="0" algn="ctr">
              <a:lnSpc>
                <a:spcPct val="115000"/>
              </a:lnSpc>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特別オファー配信</a:t>
            </a:r>
            <a:endParaRPr lang="en-US" sz="700" dirty="0">
              <a:latin typeface="メイリオ" panose="020B0604030504040204" pitchFamily="50" charset="-128"/>
              <a:ea typeface="メイリオ" panose="020B0604030504040204" pitchFamily="50" charset="-128"/>
            </a:endParaRPr>
          </a:p>
        </p:txBody>
      </p:sp>
      <p:sp>
        <p:nvSpPr>
          <p:cNvPr id="319" name="Shape 47">
            <a:extLst>
              <a:ext uri="{FF2B5EF4-FFF2-40B4-BE49-F238E27FC236}">
                <a16:creationId xmlns:a16="http://schemas.microsoft.com/office/drawing/2014/main" id="{1A3ED534-DB25-D7E2-0DDC-342462B34810}"/>
              </a:ext>
            </a:extLst>
          </p:cNvPr>
          <p:cNvSpPr/>
          <p:nvPr/>
        </p:nvSpPr>
        <p:spPr>
          <a:xfrm>
            <a:off x="3353043"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21" name="Text 48">
            <a:extLst>
              <a:ext uri="{FF2B5EF4-FFF2-40B4-BE49-F238E27FC236}">
                <a16:creationId xmlns:a16="http://schemas.microsoft.com/office/drawing/2014/main" id="{0A78ED48-FFFC-A962-F364-19738CBAA8ED}"/>
              </a:ext>
            </a:extLst>
          </p:cNvPr>
          <p:cNvSpPr/>
          <p:nvPr/>
        </p:nvSpPr>
        <p:spPr>
          <a:xfrm>
            <a:off x="3353043"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23" name="Shape 49">
            <a:extLst>
              <a:ext uri="{FF2B5EF4-FFF2-40B4-BE49-F238E27FC236}">
                <a16:creationId xmlns:a16="http://schemas.microsoft.com/office/drawing/2014/main" id="{A71799E1-6D37-9019-F683-E28EDFCD59C9}"/>
              </a:ext>
            </a:extLst>
          </p:cNvPr>
          <p:cNvSpPr/>
          <p:nvPr/>
        </p:nvSpPr>
        <p:spPr>
          <a:xfrm>
            <a:off x="3444483"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25" name="Text 50">
            <a:extLst>
              <a:ext uri="{FF2B5EF4-FFF2-40B4-BE49-F238E27FC236}">
                <a16:creationId xmlns:a16="http://schemas.microsoft.com/office/drawing/2014/main" id="{95527DCC-1F43-8A3D-2A58-DC34D3444C39}"/>
              </a:ext>
            </a:extLst>
          </p:cNvPr>
          <p:cNvSpPr/>
          <p:nvPr/>
        </p:nvSpPr>
        <p:spPr>
          <a:xfrm>
            <a:off x="3444483"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再購入CV</a:t>
            </a:r>
            <a:endParaRPr lang="en-US" sz="700" dirty="0">
              <a:latin typeface="メイリオ" panose="020B0604030504040204" pitchFamily="50" charset="-128"/>
              <a:ea typeface="メイリオ" panose="020B0604030504040204" pitchFamily="50" charset="-128"/>
            </a:endParaRPr>
          </a:p>
        </p:txBody>
      </p:sp>
      <p:sp>
        <p:nvSpPr>
          <p:cNvPr id="327" name="Shape 51">
            <a:extLst>
              <a:ext uri="{FF2B5EF4-FFF2-40B4-BE49-F238E27FC236}">
                <a16:creationId xmlns:a16="http://schemas.microsoft.com/office/drawing/2014/main" id="{BB7FE265-C435-3F11-D327-2005EB3B7D4C}"/>
              </a:ext>
            </a:extLst>
          </p:cNvPr>
          <p:cNvSpPr/>
          <p:nvPr/>
        </p:nvSpPr>
        <p:spPr>
          <a:xfrm>
            <a:off x="622035" y="469832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1" name="Shape 53">
            <a:extLst>
              <a:ext uri="{FF2B5EF4-FFF2-40B4-BE49-F238E27FC236}">
                <a16:creationId xmlns:a16="http://schemas.microsoft.com/office/drawing/2014/main" id="{F32B0A21-54EF-8445-6E6B-BBF9705C30E4}"/>
              </a:ext>
            </a:extLst>
          </p:cNvPr>
          <p:cNvSpPr/>
          <p:nvPr/>
        </p:nvSpPr>
        <p:spPr>
          <a:xfrm>
            <a:off x="731763" y="4755984"/>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3" name="Text 54">
            <a:extLst>
              <a:ext uri="{FF2B5EF4-FFF2-40B4-BE49-F238E27FC236}">
                <a16:creationId xmlns:a16="http://schemas.microsoft.com/office/drawing/2014/main" id="{4F222B19-A9AA-8B90-A278-F2067EC7FD8D}"/>
              </a:ext>
            </a:extLst>
          </p:cNvPr>
          <p:cNvSpPr/>
          <p:nvPr/>
        </p:nvSpPr>
        <p:spPr>
          <a:xfrm>
            <a:off x="731763" y="4765128"/>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335" name="Shape 55">
            <a:extLst>
              <a:ext uri="{FF2B5EF4-FFF2-40B4-BE49-F238E27FC236}">
                <a16:creationId xmlns:a16="http://schemas.microsoft.com/office/drawing/2014/main" id="{ABF7DB2E-403A-46F2-A837-399B3FE97C5E}"/>
              </a:ext>
            </a:extLst>
          </p:cNvPr>
          <p:cNvSpPr/>
          <p:nvPr/>
        </p:nvSpPr>
        <p:spPr>
          <a:xfrm>
            <a:off x="1037770" y="4765128"/>
            <a:ext cx="882713" cy="206647"/>
          </a:xfrm>
          <a:prstGeom prst="roundRect">
            <a:avLst>
              <a:gd name="adj" fmla="val 18182"/>
            </a:avLst>
          </a:prstGeom>
          <a:solidFill>
            <a:schemeClr val="tx2"/>
          </a:solidFill>
          <a:ln w="12700">
            <a:solidFill>
              <a:srgbClr val="D8D8E2"/>
            </a:solidFill>
            <a:prstDash val="solid"/>
          </a:ln>
        </p:spPr>
        <p:txBody>
          <a:bodyPr/>
          <a:lstStyle/>
          <a:p>
            <a:r>
              <a:rPr lang="ja-JP" altLang="en-US" sz="700" b="1" dirty="0">
                <a:solidFill>
                  <a:srgbClr val="FDFDFD"/>
                </a:solidFill>
                <a:latin typeface="メイリオ" panose="020B0604030504040204" pitchFamily="50" charset="-128"/>
                <a:ea typeface="メイリオ" panose="020B0604030504040204" pitchFamily="50" charset="-128"/>
              </a:rPr>
              <a:t>紹介キャンペーン</a:t>
            </a:r>
          </a:p>
        </p:txBody>
      </p:sp>
      <p:sp>
        <p:nvSpPr>
          <p:cNvPr id="339" name="Text 57">
            <a:extLst>
              <a:ext uri="{FF2B5EF4-FFF2-40B4-BE49-F238E27FC236}">
                <a16:creationId xmlns:a16="http://schemas.microsoft.com/office/drawing/2014/main" id="{863EF515-E441-C008-46FD-E8772A47BE9A}"/>
              </a:ext>
            </a:extLst>
          </p:cNvPr>
          <p:cNvSpPr/>
          <p:nvPr/>
        </p:nvSpPr>
        <p:spPr>
          <a:xfrm>
            <a:off x="1993635" y="4765128"/>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友人紹介制度をLINEで完結させる仕組みを設計</a:t>
            </a:r>
            <a:endParaRPr lang="en-US" sz="1000" dirty="0">
              <a:latin typeface="メイリオ" panose="020B0604030504040204" pitchFamily="50" charset="-128"/>
              <a:ea typeface="メイリオ" panose="020B0604030504040204" pitchFamily="50" charset="-128"/>
            </a:endParaRPr>
          </a:p>
        </p:txBody>
      </p:sp>
      <p:sp>
        <p:nvSpPr>
          <p:cNvPr id="341" name="Text 58">
            <a:extLst>
              <a:ext uri="{FF2B5EF4-FFF2-40B4-BE49-F238E27FC236}">
                <a16:creationId xmlns:a16="http://schemas.microsoft.com/office/drawing/2014/main" id="{8F06CA0B-814F-E8C0-33FE-0B48BBED0532}"/>
              </a:ext>
            </a:extLst>
          </p:cNvPr>
          <p:cNvSpPr/>
          <p:nvPr/>
        </p:nvSpPr>
        <p:spPr>
          <a:xfrm>
            <a:off x="731763" y="5182003"/>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「友人を紹介してくれたらXXXをプレゼント」をLINEで告知・管理。満足度が高い時期（利用直後・成果確認後）に訴求することで紹介件数が最大化する。</a:t>
            </a:r>
            <a:endParaRPr lang="en-US" sz="600" dirty="0">
              <a:latin typeface="メイリオ" panose="020B0604030504040204" pitchFamily="50" charset="-128"/>
              <a:ea typeface="メイリオ" panose="020B0604030504040204" pitchFamily="50" charset="-128"/>
            </a:endParaRPr>
          </a:p>
        </p:txBody>
      </p:sp>
      <p:sp>
        <p:nvSpPr>
          <p:cNvPr id="343" name="Shape 59">
            <a:extLst>
              <a:ext uri="{FF2B5EF4-FFF2-40B4-BE49-F238E27FC236}">
                <a16:creationId xmlns:a16="http://schemas.microsoft.com/office/drawing/2014/main" id="{F9FC2AD5-120F-E447-D301-5476F135AF0B}"/>
              </a:ext>
            </a:extLst>
          </p:cNvPr>
          <p:cNvSpPr/>
          <p:nvPr/>
        </p:nvSpPr>
        <p:spPr>
          <a:xfrm>
            <a:off x="713475"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45" name="Text 60">
            <a:extLst>
              <a:ext uri="{FF2B5EF4-FFF2-40B4-BE49-F238E27FC236}">
                <a16:creationId xmlns:a16="http://schemas.microsoft.com/office/drawing/2014/main" id="{FB0832F3-E1A0-CA4E-156B-CE6E264BF982}"/>
              </a:ext>
            </a:extLst>
          </p:cNvPr>
          <p:cNvSpPr/>
          <p:nvPr/>
        </p:nvSpPr>
        <p:spPr>
          <a:xfrm>
            <a:off x="713475"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利用後3ヶ月</a:t>
            </a:r>
            <a:endParaRPr lang="en-US" sz="700" dirty="0">
              <a:latin typeface="メイリオ" panose="020B0604030504040204" pitchFamily="50" charset="-128"/>
              <a:ea typeface="メイリオ" panose="020B0604030504040204" pitchFamily="50" charset="-128"/>
            </a:endParaRPr>
          </a:p>
        </p:txBody>
      </p:sp>
      <p:sp>
        <p:nvSpPr>
          <p:cNvPr id="347" name="Shape 61">
            <a:extLst>
              <a:ext uri="{FF2B5EF4-FFF2-40B4-BE49-F238E27FC236}">
                <a16:creationId xmlns:a16="http://schemas.microsoft.com/office/drawing/2014/main" id="{E24615D6-1A79-B0F4-BB14-14E2183880AC}"/>
              </a:ext>
            </a:extLst>
          </p:cNvPr>
          <p:cNvSpPr/>
          <p:nvPr/>
        </p:nvSpPr>
        <p:spPr>
          <a:xfrm>
            <a:off x="1987539" y="583217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49" name="Text 62">
            <a:extLst>
              <a:ext uri="{FF2B5EF4-FFF2-40B4-BE49-F238E27FC236}">
                <a16:creationId xmlns:a16="http://schemas.microsoft.com/office/drawing/2014/main" id="{64603FC2-C317-4C97-5288-F270620ED7B9}"/>
              </a:ext>
            </a:extLst>
          </p:cNvPr>
          <p:cNvSpPr/>
          <p:nvPr/>
        </p:nvSpPr>
        <p:spPr>
          <a:xfrm>
            <a:off x="1987539" y="5832174"/>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51" name="Shape 63">
            <a:extLst>
              <a:ext uri="{FF2B5EF4-FFF2-40B4-BE49-F238E27FC236}">
                <a16:creationId xmlns:a16="http://schemas.microsoft.com/office/drawing/2014/main" id="{C477B16C-33E8-F120-9A1F-AFC395AE6E3D}"/>
              </a:ext>
            </a:extLst>
          </p:cNvPr>
          <p:cNvSpPr/>
          <p:nvPr/>
        </p:nvSpPr>
        <p:spPr>
          <a:xfrm>
            <a:off x="2078979" y="5676275"/>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3" name="Text 64">
            <a:extLst>
              <a:ext uri="{FF2B5EF4-FFF2-40B4-BE49-F238E27FC236}">
                <a16:creationId xmlns:a16="http://schemas.microsoft.com/office/drawing/2014/main" id="{2A73DA5C-F06B-A590-9987-5306E6C59DCE}"/>
              </a:ext>
            </a:extLst>
          </p:cNvPr>
          <p:cNvSpPr/>
          <p:nvPr/>
        </p:nvSpPr>
        <p:spPr>
          <a:xfrm>
            <a:off x="2078979"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紹介特典訴求</a:t>
            </a:r>
            <a:endParaRPr lang="en-US" sz="700" dirty="0">
              <a:latin typeface="メイリオ" panose="020B0604030504040204" pitchFamily="50" charset="-128"/>
              <a:ea typeface="メイリオ" panose="020B0604030504040204" pitchFamily="50" charset="-128"/>
            </a:endParaRPr>
          </a:p>
        </p:txBody>
      </p:sp>
      <p:sp>
        <p:nvSpPr>
          <p:cNvPr id="355" name="Shape 65">
            <a:extLst>
              <a:ext uri="{FF2B5EF4-FFF2-40B4-BE49-F238E27FC236}">
                <a16:creationId xmlns:a16="http://schemas.microsoft.com/office/drawing/2014/main" id="{4B5406BB-D5C2-0D61-B213-493260EC338A}"/>
              </a:ext>
            </a:extLst>
          </p:cNvPr>
          <p:cNvSpPr/>
          <p:nvPr/>
        </p:nvSpPr>
        <p:spPr>
          <a:xfrm>
            <a:off x="3353043" y="583217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7" name="Text 66">
            <a:extLst>
              <a:ext uri="{FF2B5EF4-FFF2-40B4-BE49-F238E27FC236}">
                <a16:creationId xmlns:a16="http://schemas.microsoft.com/office/drawing/2014/main" id="{E443F4FD-BC95-5CA8-315B-21521441E367}"/>
              </a:ext>
            </a:extLst>
          </p:cNvPr>
          <p:cNvSpPr/>
          <p:nvPr/>
        </p:nvSpPr>
        <p:spPr>
          <a:xfrm>
            <a:off x="3353043" y="5832174"/>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59" name="Shape 67">
            <a:extLst>
              <a:ext uri="{FF2B5EF4-FFF2-40B4-BE49-F238E27FC236}">
                <a16:creationId xmlns:a16="http://schemas.microsoft.com/office/drawing/2014/main" id="{DA4B236A-3702-649B-9446-3AB64493F09A}"/>
              </a:ext>
            </a:extLst>
          </p:cNvPr>
          <p:cNvSpPr/>
          <p:nvPr/>
        </p:nvSpPr>
        <p:spPr>
          <a:xfrm>
            <a:off x="3444483" y="5676275"/>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00" b="1" dirty="0" err="1">
                <a:solidFill>
                  <a:srgbClr val="FFFFFF"/>
                </a:solidFill>
                <a:latin typeface="メイリオ" panose="020B0604030504040204" pitchFamily="50" charset="-128"/>
                <a:ea typeface="メイリオ" panose="020B0604030504040204" pitchFamily="50" charset="-128"/>
                <a:cs typeface="Calibri" pitchFamily="34" charset="-120"/>
              </a:rPr>
              <a:t>紹介→新規CV</a:t>
            </a:r>
            <a:endParaRPr lang="en-US" altLang="ja-JP" sz="700" dirty="0">
              <a:latin typeface="メイリオ" panose="020B0604030504040204" pitchFamily="50" charset="-128"/>
              <a:ea typeface="メイリオ" panose="020B0604030504040204" pitchFamily="50" charset="-128"/>
            </a:endParaRPr>
          </a:p>
        </p:txBody>
      </p:sp>
      <p:sp>
        <p:nvSpPr>
          <p:cNvPr id="363" name="Shape 69">
            <a:extLst>
              <a:ext uri="{FF2B5EF4-FFF2-40B4-BE49-F238E27FC236}">
                <a16:creationId xmlns:a16="http://schemas.microsoft.com/office/drawing/2014/main" id="{11D208CF-F0AA-77FB-68F5-7FA3663557BE}"/>
              </a:ext>
            </a:extLst>
          </p:cNvPr>
          <p:cNvSpPr/>
          <p:nvPr/>
        </p:nvSpPr>
        <p:spPr>
          <a:xfrm>
            <a:off x="5066019" y="157163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67" name="Shape 71">
            <a:extLst>
              <a:ext uri="{FF2B5EF4-FFF2-40B4-BE49-F238E27FC236}">
                <a16:creationId xmlns:a16="http://schemas.microsoft.com/office/drawing/2014/main" id="{BA65DAD3-3E2D-0363-0ABA-819311B17A9B}"/>
              </a:ext>
            </a:extLst>
          </p:cNvPr>
          <p:cNvSpPr/>
          <p:nvPr/>
        </p:nvSpPr>
        <p:spPr>
          <a:xfrm>
            <a:off x="5175747" y="166307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69" name="Text 72">
            <a:extLst>
              <a:ext uri="{FF2B5EF4-FFF2-40B4-BE49-F238E27FC236}">
                <a16:creationId xmlns:a16="http://schemas.microsoft.com/office/drawing/2014/main" id="{772DDEC2-C488-7293-86EB-F96BAAD7EA90}"/>
              </a:ext>
            </a:extLst>
          </p:cNvPr>
          <p:cNvSpPr/>
          <p:nvPr/>
        </p:nvSpPr>
        <p:spPr>
          <a:xfrm>
            <a:off x="5175747" y="1672216"/>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371" name="Shape 73">
            <a:extLst>
              <a:ext uri="{FF2B5EF4-FFF2-40B4-BE49-F238E27FC236}">
                <a16:creationId xmlns:a16="http://schemas.microsoft.com/office/drawing/2014/main" id="{595BE68E-4F81-E693-447A-8BD486204CD6}"/>
              </a:ext>
            </a:extLst>
          </p:cNvPr>
          <p:cNvSpPr/>
          <p:nvPr/>
        </p:nvSpPr>
        <p:spPr>
          <a:xfrm>
            <a:off x="5523219" y="1690504"/>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373" name="Text 74">
            <a:extLst>
              <a:ext uri="{FF2B5EF4-FFF2-40B4-BE49-F238E27FC236}">
                <a16:creationId xmlns:a16="http://schemas.microsoft.com/office/drawing/2014/main" id="{DE0C1BD7-D498-BF93-A12E-93FC8F3EFEEB}"/>
              </a:ext>
            </a:extLst>
          </p:cNvPr>
          <p:cNvSpPr/>
          <p:nvPr/>
        </p:nvSpPr>
        <p:spPr>
          <a:xfrm>
            <a:off x="5523219" y="1672216"/>
            <a:ext cx="859536" cy="201168"/>
          </a:xfrm>
          <a:prstGeom prst="rect">
            <a:avLst/>
          </a:prstGeom>
          <a:solidFill>
            <a:schemeClr val="tx2"/>
          </a:solid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利用状況連動</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75" name="Text 75">
            <a:extLst>
              <a:ext uri="{FF2B5EF4-FFF2-40B4-BE49-F238E27FC236}">
                <a16:creationId xmlns:a16="http://schemas.microsoft.com/office/drawing/2014/main" id="{828F19F3-3156-29E9-3072-E1DED5F92BA0}"/>
              </a:ext>
            </a:extLst>
          </p:cNvPr>
          <p:cNvSpPr/>
          <p:nvPr/>
        </p:nvSpPr>
        <p:spPr>
          <a:xfrm>
            <a:off x="6437619" y="1672216"/>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利用量・頻度に応じたアップグレード提案</a:t>
            </a:r>
            <a:endParaRPr lang="en-US" sz="1000" dirty="0">
              <a:latin typeface="メイリオ" panose="020B0604030504040204" pitchFamily="50" charset="-128"/>
              <a:ea typeface="メイリオ" panose="020B0604030504040204" pitchFamily="50" charset="-128"/>
            </a:endParaRPr>
          </a:p>
        </p:txBody>
      </p:sp>
      <p:sp>
        <p:nvSpPr>
          <p:cNvPr id="377" name="Text 76">
            <a:extLst>
              <a:ext uri="{FF2B5EF4-FFF2-40B4-BE49-F238E27FC236}">
                <a16:creationId xmlns:a16="http://schemas.microsoft.com/office/drawing/2014/main" id="{74CEEBF9-FB5E-B42A-5BBB-7613F874DD22}"/>
              </a:ext>
            </a:extLst>
          </p:cNvPr>
          <p:cNvSpPr/>
          <p:nvPr/>
        </p:nvSpPr>
        <p:spPr>
          <a:xfrm>
            <a:off x="5175747" y="2106046"/>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利用状況タグを活用して「よく使っている層」に上位プランの提案を自動配信。「今のプランより月1,000円で〇〇が使い放題に」という具体的メリット提示がCVRを高める。</a:t>
            </a:r>
            <a:endParaRPr lang="en-US" sz="600" dirty="0">
              <a:latin typeface="メイリオ" panose="020B0604030504040204" pitchFamily="50" charset="-128"/>
              <a:ea typeface="メイリオ" panose="020B0604030504040204" pitchFamily="50" charset="-128"/>
            </a:endParaRPr>
          </a:p>
        </p:txBody>
      </p:sp>
      <p:sp>
        <p:nvSpPr>
          <p:cNvPr id="379" name="Shape 77">
            <a:extLst>
              <a:ext uri="{FF2B5EF4-FFF2-40B4-BE49-F238E27FC236}">
                <a16:creationId xmlns:a16="http://schemas.microsoft.com/office/drawing/2014/main" id="{EB3AEAB9-3091-B770-5C73-60F2CC509D9D}"/>
              </a:ext>
            </a:extLst>
          </p:cNvPr>
          <p:cNvSpPr/>
          <p:nvPr/>
        </p:nvSpPr>
        <p:spPr>
          <a:xfrm>
            <a:off x="5157459" y="2621391"/>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81" name="Text 78">
            <a:extLst>
              <a:ext uri="{FF2B5EF4-FFF2-40B4-BE49-F238E27FC236}">
                <a16:creationId xmlns:a16="http://schemas.microsoft.com/office/drawing/2014/main" id="{16B65D6F-FEB1-6B8D-4243-6E6A8950251C}"/>
              </a:ext>
            </a:extLst>
          </p:cNvPr>
          <p:cNvSpPr/>
          <p:nvPr/>
        </p:nvSpPr>
        <p:spPr>
          <a:xfrm>
            <a:off x="5157459"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利用量タグ付与</a:t>
            </a:r>
            <a:endParaRPr lang="en-US" sz="700" dirty="0">
              <a:latin typeface="メイリオ" panose="020B0604030504040204" pitchFamily="50" charset="-128"/>
              <a:ea typeface="メイリオ" panose="020B0604030504040204" pitchFamily="50" charset="-128"/>
            </a:endParaRPr>
          </a:p>
        </p:txBody>
      </p:sp>
      <p:sp>
        <p:nvSpPr>
          <p:cNvPr id="383" name="Shape 79">
            <a:extLst>
              <a:ext uri="{FF2B5EF4-FFF2-40B4-BE49-F238E27FC236}">
                <a16:creationId xmlns:a16="http://schemas.microsoft.com/office/drawing/2014/main" id="{ACEF9838-1EE3-1464-24F9-5960C72ACE63}"/>
              </a:ext>
            </a:extLst>
          </p:cNvPr>
          <p:cNvSpPr/>
          <p:nvPr/>
        </p:nvSpPr>
        <p:spPr>
          <a:xfrm>
            <a:off x="6431523"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85" name="Text 80">
            <a:extLst>
              <a:ext uri="{FF2B5EF4-FFF2-40B4-BE49-F238E27FC236}">
                <a16:creationId xmlns:a16="http://schemas.microsoft.com/office/drawing/2014/main" id="{69501D59-8F67-4ADD-2B3A-62D69E08E6AD}"/>
              </a:ext>
            </a:extLst>
          </p:cNvPr>
          <p:cNvSpPr/>
          <p:nvPr/>
        </p:nvSpPr>
        <p:spPr>
          <a:xfrm>
            <a:off x="6431523"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87" name="Shape 81">
            <a:extLst>
              <a:ext uri="{FF2B5EF4-FFF2-40B4-BE49-F238E27FC236}">
                <a16:creationId xmlns:a16="http://schemas.microsoft.com/office/drawing/2014/main" id="{24E5901A-0626-345C-7E4E-690DFA9947EE}"/>
              </a:ext>
            </a:extLst>
          </p:cNvPr>
          <p:cNvSpPr/>
          <p:nvPr/>
        </p:nvSpPr>
        <p:spPr>
          <a:xfrm>
            <a:off x="6522963" y="2621391"/>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a:solidFill>
                  <a:srgbClr val="FFFFFF"/>
                </a:solidFill>
                <a:latin typeface="メイリオ" panose="020B0604030504040204" pitchFamily="50" charset="-128"/>
                <a:ea typeface="メイリオ" panose="020B0604030504040204" pitchFamily="50" charset="-128"/>
                <a:cs typeface="Calibri" pitchFamily="34" charset="-120"/>
              </a:rPr>
              <a:t>アップグレード提案</a:t>
            </a:r>
            <a:endParaRPr lang="en-US" altLang="ja-JP" sz="700" dirty="0">
              <a:latin typeface="メイリオ" panose="020B0604030504040204" pitchFamily="50" charset="-128"/>
              <a:ea typeface="メイリオ" panose="020B0604030504040204" pitchFamily="50" charset="-128"/>
            </a:endParaRPr>
          </a:p>
        </p:txBody>
      </p:sp>
      <p:sp>
        <p:nvSpPr>
          <p:cNvPr id="391" name="Shape 83">
            <a:extLst>
              <a:ext uri="{FF2B5EF4-FFF2-40B4-BE49-F238E27FC236}">
                <a16:creationId xmlns:a16="http://schemas.microsoft.com/office/drawing/2014/main" id="{DBA87A6B-3A5A-5BB5-800C-AD29E3A38E51}"/>
              </a:ext>
            </a:extLst>
          </p:cNvPr>
          <p:cNvSpPr/>
          <p:nvPr/>
        </p:nvSpPr>
        <p:spPr>
          <a:xfrm>
            <a:off x="7797027"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93" name="Text 84">
            <a:extLst>
              <a:ext uri="{FF2B5EF4-FFF2-40B4-BE49-F238E27FC236}">
                <a16:creationId xmlns:a16="http://schemas.microsoft.com/office/drawing/2014/main" id="{5F05F5BA-6ADB-F29A-796A-6AE1FAE69215}"/>
              </a:ext>
            </a:extLst>
          </p:cNvPr>
          <p:cNvSpPr/>
          <p:nvPr/>
        </p:nvSpPr>
        <p:spPr>
          <a:xfrm>
            <a:off x="7797027"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95" name="Shape 85">
            <a:extLst>
              <a:ext uri="{FF2B5EF4-FFF2-40B4-BE49-F238E27FC236}">
                <a16:creationId xmlns:a16="http://schemas.microsoft.com/office/drawing/2014/main" id="{B5E69B07-FB02-4F49-A566-CE157E614F49}"/>
              </a:ext>
            </a:extLst>
          </p:cNvPr>
          <p:cNvSpPr/>
          <p:nvPr/>
        </p:nvSpPr>
        <p:spPr>
          <a:xfrm>
            <a:off x="7888467" y="2621391"/>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a:solidFill>
                  <a:srgbClr val="FFFFFF"/>
                </a:solidFill>
                <a:latin typeface="メイリオ" panose="020B0604030504040204" pitchFamily="50" charset="-128"/>
                <a:ea typeface="メイリオ" panose="020B0604030504040204" pitchFamily="50" charset="-128"/>
                <a:cs typeface="Calibri" pitchFamily="34" charset="-120"/>
              </a:rPr>
              <a:t>プラン変更CV</a:t>
            </a:r>
            <a:endParaRPr lang="en-US" altLang="ja-JP" sz="700" dirty="0">
              <a:latin typeface="メイリオ" panose="020B0604030504040204" pitchFamily="50" charset="-128"/>
              <a:ea typeface="メイリオ" panose="020B0604030504040204" pitchFamily="50" charset="-128"/>
            </a:endParaRPr>
          </a:p>
        </p:txBody>
      </p:sp>
      <p:sp>
        <p:nvSpPr>
          <p:cNvPr id="399" name="Shape 87">
            <a:extLst>
              <a:ext uri="{FF2B5EF4-FFF2-40B4-BE49-F238E27FC236}">
                <a16:creationId xmlns:a16="http://schemas.microsoft.com/office/drawing/2014/main" id="{BF4F34D9-E34A-88AA-21A2-8773568F5586}"/>
              </a:ext>
            </a:extLst>
          </p:cNvPr>
          <p:cNvSpPr/>
          <p:nvPr/>
        </p:nvSpPr>
        <p:spPr>
          <a:xfrm>
            <a:off x="5066019" y="3118120"/>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3" name="Shape 89">
            <a:extLst>
              <a:ext uri="{FF2B5EF4-FFF2-40B4-BE49-F238E27FC236}">
                <a16:creationId xmlns:a16="http://schemas.microsoft.com/office/drawing/2014/main" id="{EFE5E9D0-3F2E-411E-681C-D9CBD3BA1795}"/>
              </a:ext>
            </a:extLst>
          </p:cNvPr>
          <p:cNvSpPr/>
          <p:nvPr/>
        </p:nvSpPr>
        <p:spPr>
          <a:xfrm>
            <a:off x="5175747" y="3209560"/>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5" name="Text 90">
            <a:extLst>
              <a:ext uri="{FF2B5EF4-FFF2-40B4-BE49-F238E27FC236}">
                <a16:creationId xmlns:a16="http://schemas.microsoft.com/office/drawing/2014/main" id="{5A2E3029-A975-C95C-7E57-D4269143AA55}"/>
              </a:ext>
            </a:extLst>
          </p:cNvPr>
          <p:cNvSpPr/>
          <p:nvPr/>
        </p:nvSpPr>
        <p:spPr>
          <a:xfrm>
            <a:off x="5175747" y="3218704"/>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407" name="Shape 91">
            <a:extLst>
              <a:ext uri="{FF2B5EF4-FFF2-40B4-BE49-F238E27FC236}">
                <a16:creationId xmlns:a16="http://schemas.microsoft.com/office/drawing/2014/main" id="{0B44982A-093D-F4A4-8627-DD2BEB875FCE}"/>
              </a:ext>
            </a:extLst>
          </p:cNvPr>
          <p:cNvSpPr/>
          <p:nvPr/>
        </p:nvSpPr>
        <p:spPr>
          <a:xfrm>
            <a:off x="5523219" y="3236992"/>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409" name="Text 92">
            <a:extLst>
              <a:ext uri="{FF2B5EF4-FFF2-40B4-BE49-F238E27FC236}">
                <a16:creationId xmlns:a16="http://schemas.microsoft.com/office/drawing/2014/main" id="{8E58A804-D262-6223-9739-795C7490802F}"/>
              </a:ext>
            </a:extLst>
          </p:cNvPr>
          <p:cNvSpPr/>
          <p:nvPr/>
        </p:nvSpPr>
        <p:spPr>
          <a:xfrm>
            <a:off x="5523219" y="3218704"/>
            <a:ext cx="859536" cy="189246"/>
          </a:xfrm>
          <a:prstGeom prst="rect">
            <a:avLst/>
          </a:prstGeom>
          <a:solidFill>
            <a:schemeClr val="tx2"/>
          </a:solid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関連商材</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411" name="Text 93">
            <a:extLst>
              <a:ext uri="{FF2B5EF4-FFF2-40B4-BE49-F238E27FC236}">
                <a16:creationId xmlns:a16="http://schemas.microsoft.com/office/drawing/2014/main" id="{2820774A-8461-0C15-3354-D17D2A38ACE9}"/>
              </a:ext>
            </a:extLst>
          </p:cNvPr>
          <p:cNvSpPr/>
          <p:nvPr/>
        </p:nvSpPr>
        <p:spPr>
          <a:xfrm>
            <a:off x="6437619" y="3218704"/>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購入・利用カテゴリに紐づくクロスセル配信</a:t>
            </a:r>
            <a:endParaRPr lang="en-US" sz="1000" dirty="0">
              <a:latin typeface="メイリオ" panose="020B0604030504040204" pitchFamily="50" charset="-128"/>
              <a:ea typeface="メイリオ" panose="020B0604030504040204" pitchFamily="50" charset="-128"/>
            </a:endParaRPr>
          </a:p>
        </p:txBody>
      </p:sp>
      <p:sp>
        <p:nvSpPr>
          <p:cNvPr id="413" name="Text 94">
            <a:extLst>
              <a:ext uri="{FF2B5EF4-FFF2-40B4-BE49-F238E27FC236}">
                <a16:creationId xmlns:a16="http://schemas.microsoft.com/office/drawing/2014/main" id="{66C6D264-EC5E-9BD7-A6C4-38CC9629CE29}"/>
              </a:ext>
            </a:extLst>
          </p:cNvPr>
          <p:cNvSpPr/>
          <p:nvPr/>
        </p:nvSpPr>
        <p:spPr>
          <a:xfrm>
            <a:off x="5175747" y="3609802"/>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「Aサービスをご利用中の方向け：Bサービスとの組み合わせで効果UP」という形で関連商材を案内。タグセグメントで対象を絞ることで過剰アプローチを防ぐ。</a:t>
            </a:r>
            <a:endParaRPr lang="en-US" sz="600" dirty="0">
              <a:latin typeface="メイリオ" panose="020B0604030504040204" pitchFamily="50" charset="-128"/>
              <a:ea typeface="メイリオ" panose="020B0604030504040204" pitchFamily="50" charset="-128"/>
            </a:endParaRPr>
          </a:p>
        </p:txBody>
      </p:sp>
      <p:sp>
        <p:nvSpPr>
          <p:cNvPr id="415" name="Shape 95">
            <a:extLst>
              <a:ext uri="{FF2B5EF4-FFF2-40B4-BE49-F238E27FC236}">
                <a16:creationId xmlns:a16="http://schemas.microsoft.com/office/drawing/2014/main" id="{3620767E-5C81-82F3-ACE8-BEF5B040FA3C}"/>
              </a:ext>
            </a:extLst>
          </p:cNvPr>
          <p:cNvSpPr/>
          <p:nvPr/>
        </p:nvSpPr>
        <p:spPr>
          <a:xfrm>
            <a:off x="5157459"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17" name="Text 96">
            <a:extLst>
              <a:ext uri="{FF2B5EF4-FFF2-40B4-BE49-F238E27FC236}">
                <a16:creationId xmlns:a16="http://schemas.microsoft.com/office/drawing/2014/main" id="{9AA7117C-343C-4068-D766-8BFDA27C8DE4}"/>
              </a:ext>
            </a:extLst>
          </p:cNvPr>
          <p:cNvSpPr/>
          <p:nvPr/>
        </p:nvSpPr>
        <p:spPr>
          <a:xfrm>
            <a:off x="5157459"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購入カテゴリ特定</a:t>
            </a:r>
            <a:endParaRPr lang="en-US" sz="700" dirty="0">
              <a:latin typeface="メイリオ" panose="020B0604030504040204" pitchFamily="50" charset="-128"/>
              <a:ea typeface="メイリオ" panose="020B0604030504040204" pitchFamily="50" charset="-128"/>
            </a:endParaRPr>
          </a:p>
        </p:txBody>
      </p:sp>
      <p:sp>
        <p:nvSpPr>
          <p:cNvPr id="419" name="Shape 97">
            <a:extLst>
              <a:ext uri="{FF2B5EF4-FFF2-40B4-BE49-F238E27FC236}">
                <a16:creationId xmlns:a16="http://schemas.microsoft.com/office/drawing/2014/main" id="{0EBCC7F5-0E29-C4A8-94D8-A7D7ECC5F89A}"/>
              </a:ext>
            </a:extLst>
          </p:cNvPr>
          <p:cNvSpPr/>
          <p:nvPr/>
        </p:nvSpPr>
        <p:spPr>
          <a:xfrm>
            <a:off x="6431523"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1" name="Text 98">
            <a:extLst>
              <a:ext uri="{FF2B5EF4-FFF2-40B4-BE49-F238E27FC236}">
                <a16:creationId xmlns:a16="http://schemas.microsoft.com/office/drawing/2014/main" id="{BD96E4BA-ADE4-8898-880F-1EAA79A8DF2D}"/>
              </a:ext>
            </a:extLst>
          </p:cNvPr>
          <p:cNvSpPr/>
          <p:nvPr/>
        </p:nvSpPr>
        <p:spPr>
          <a:xfrm>
            <a:off x="6431523"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23" name="Shape 99">
            <a:extLst>
              <a:ext uri="{FF2B5EF4-FFF2-40B4-BE49-F238E27FC236}">
                <a16:creationId xmlns:a16="http://schemas.microsoft.com/office/drawing/2014/main" id="{E126C166-BD13-9190-0FE0-63914F4AD447}"/>
              </a:ext>
            </a:extLst>
          </p:cNvPr>
          <p:cNvSpPr/>
          <p:nvPr/>
        </p:nvSpPr>
        <p:spPr>
          <a:xfrm>
            <a:off x="6522963" y="4158910"/>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a:solidFill>
                  <a:srgbClr val="FFFFFF"/>
                </a:solidFill>
                <a:latin typeface="メイリオ" panose="020B0604030504040204" pitchFamily="50" charset="-128"/>
                <a:ea typeface="メイリオ" panose="020B0604030504040204" pitchFamily="50" charset="-128"/>
                <a:cs typeface="Calibri" pitchFamily="34" charset="-120"/>
              </a:rPr>
              <a:t>関連商材案内</a:t>
            </a:r>
            <a:endParaRPr lang="en-US" altLang="ja-JP" sz="700" dirty="0">
              <a:latin typeface="メイリオ" panose="020B0604030504040204" pitchFamily="50" charset="-128"/>
              <a:ea typeface="メイリオ" panose="020B0604030504040204" pitchFamily="50" charset="-128"/>
            </a:endParaRPr>
          </a:p>
        </p:txBody>
      </p:sp>
      <p:sp>
        <p:nvSpPr>
          <p:cNvPr id="427" name="Shape 101">
            <a:extLst>
              <a:ext uri="{FF2B5EF4-FFF2-40B4-BE49-F238E27FC236}">
                <a16:creationId xmlns:a16="http://schemas.microsoft.com/office/drawing/2014/main" id="{EE014BEF-08EA-D95F-B260-566E9689AFE2}"/>
              </a:ext>
            </a:extLst>
          </p:cNvPr>
          <p:cNvSpPr/>
          <p:nvPr/>
        </p:nvSpPr>
        <p:spPr>
          <a:xfrm>
            <a:off x="7797027"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9" name="Text 102">
            <a:extLst>
              <a:ext uri="{FF2B5EF4-FFF2-40B4-BE49-F238E27FC236}">
                <a16:creationId xmlns:a16="http://schemas.microsoft.com/office/drawing/2014/main" id="{6D8C6BF2-428E-B744-84F1-70D22F6EC306}"/>
              </a:ext>
            </a:extLst>
          </p:cNvPr>
          <p:cNvSpPr/>
          <p:nvPr/>
        </p:nvSpPr>
        <p:spPr>
          <a:xfrm>
            <a:off x="7797027"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31" name="Shape 103">
            <a:extLst>
              <a:ext uri="{FF2B5EF4-FFF2-40B4-BE49-F238E27FC236}">
                <a16:creationId xmlns:a16="http://schemas.microsoft.com/office/drawing/2014/main" id="{EB1CED23-229B-155C-8DA1-725B58167B0D}"/>
              </a:ext>
            </a:extLst>
          </p:cNvPr>
          <p:cNvSpPr/>
          <p:nvPr/>
        </p:nvSpPr>
        <p:spPr>
          <a:xfrm>
            <a:off x="7888467"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33" name="Text 104">
            <a:extLst>
              <a:ext uri="{FF2B5EF4-FFF2-40B4-BE49-F238E27FC236}">
                <a16:creationId xmlns:a16="http://schemas.microsoft.com/office/drawing/2014/main" id="{B0BD8085-260F-767B-600D-29C4EFE91EF6}"/>
              </a:ext>
            </a:extLst>
          </p:cNvPr>
          <p:cNvSpPr/>
          <p:nvPr/>
        </p:nvSpPr>
        <p:spPr>
          <a:xfrm>
            <a:off x="7888467"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クロスセルCV</a:t>
            </a:r>
            <a:endParaRPr lang="en-US" sz="700" dirty="0">
              <a:latin typeface="メイリオ" panose="020B0604030504040204" pitchFamily="50" charset="-128"/>
              <a:ea typeface="メイリオ" panose="020B0604030504040204" pitchFamily="50" charset="-128"/>
            </a:endParaRPr>
          </a:p>
        </p:txBody>
      </p:sp>
      <p:sp>
        <p:nvSpPr>
          <p:cNvPr id="435" name="Shape 105">
            <a:extLst>
              <a:ext uri="{FF2B5EF4-FFF2-40B4-BE49-F238E27FC236}">
                <a16:creationId xmlns:a16="http://schemas.microsoft.com/office/drawing/2014/main" id="{2B58AD02-89B6-782E-1247-733846A3BEB6}"/>
              </a:ext>
            </a:extLst>
          </p:cNvPr>
          <p:cNvSpPr/>
          <p:nvPr/>
        </p:nvSpPr>
        <p:spPr>
          <a:xfrm>
            <a:off x="5066019" y="4666968"/>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39" name="Shape 107">
            <a:extLst>
              <a:ext uri="{FF2B5EF4-FFF2-40B4-BE49-F238E27FC236}">
                <a16:creationId xmlns:a16="http://schemas.microsoft.com/office/drawing/2014/main" id="{A1CF4B93-1F7F-95B1-9748-9AE48BB0A67D}"/>
              </a:ext>
            </a:extLst>
          </p:cNvPr>
          <p:cNvSpPr/>
          <p:nvPr/>
        </p:nvSpPr>
        <p:spPr>
          <a:xfrm>
            <a:off x="5175747" y="4758408"/>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1" name="Text 108">
            <a:extLst>
              <a:ext uri="{FF2B5EF4-FFF2-40B4-BE49-F238E27FC236}">
                <a16:creationId xmlns:a16="http://schemas.microsoft.com/office/drawing/2014/main" id="{699242CC-C724-22FB-181E-24FA20BE103C}"/>
              </a:ext>
            </a:extLst>
          </p:cNvPr>
          <p:cNvSpPr/>
          <p:nvPr/>
        </p:nvSpPr>
        <p:spPr>
          <a:xfrm>
            <a:off x="5175747" y="4767552"/>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443" name="Shape 109">
            <a:extLst>
              <a:ext uri="{FF2B5EF4-FFF2-40B4-BE49-F238E27FC236}">
                <a16:creationId xmlns:a16="http://schemas.microsoft.com/office/drawing/2014/main" id="{5C0B9632-0D33-3A4F-852D-28C99ACB77A6}"/>
              </a:ext>
            </a:extLst>
          </p:cNvPr>
          <p:cNvSpPr/>
          <p:nvPr/>
        </p:nvSpPr>
        <p:spPr>
          <a:xfrm>
            <a:off x="5523219" y="4785840"/>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445" name="Text 110">
            <a:extLst>
              <a:ext uri="{FF2B5EF4-FFF2-40B4-BE49-F238E27FC236}">
                <a16:creationId xmlns:a16="http://schemas.microsoft.com/office/drawing/2014/main" id="{B910E2C6-1CCA-1DB7-F916-05CAB4560F12}"/>
              </a:ext>
            </a:extLst>
          </p:cNvPr>
          <p:cNvSpPr/>
          <p:nvPr/>
        </p:nvSpPr>
        <p:spPr>
          <a:xfrm>
            <a:off x="5523219" y="4767551"/>
            <a:ext cx="859536" cy="204224"/>
          </a:xfrm>
          <a:prstGeom prst="rect">
            <a:avLst/>
          </a:prstGeom>
          <a:solidFill>
            <a:schemeClr val="tx2"/>
          </a:solidFill>
          <a:ln/>
        </p:spPr>
        <p:txBody>
          <a:bodyPr wrap="square" lIns="0" tIns="0" rIns="0" bIns="0" rtlCol="0" anchor="ctr"/>
          <a:lstStyle/>
          <a:p>
            <a:pPr marL="0" indent="0" algn="ctr">
              <a:buNone/>
            </a:pPr>
            <a:r>
              <a:rPr lang="en-US" sz="1000" b="1" dirty="0">
                <a:solidFill>
                  <a:srgbClr val="FDFDFD"/>
                </a:solidFill>
                <a:latin typeface="メイリオ" panose="020B0604030504040204" pitchFamily="50" charset="-128"/>
                <a:ea typeface="メイリオ" panose="020B0604030504040204" pitchFamily="50" charset="-128"/>
                <a:cs typeface="Calibri" pitchFamily="34" charset="-120"/>
              </a:rPr>
              <a:t>季節連動</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447" name="Text 111">
            <a:extLst>
              <a:ext uri="{FF2B5EF4-FFF2-40B4-BE49-F238E27FC236}">
                <a16:creationId xmlns:a16="http://schemas.microsoft.com/office/drawing/2014/main" id="{418968BF-D240-4525-61FD-34A2CD92F77A}"/>
              </a:ext>
            </a:extLst>
          </p:cNvPr>
          <p:cNvSpPr/>
          <p:nvPr/>
        </p:nvSpPr>
        <p:spPr>
          <a:xfrm>
            <a:off x="6437619" y="4767552"/>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季節・繁忙期に合わせた関連サービス案内</a:t>
            </a:r>
            <a:endParaRPr lang="en-US" sz="1000" dirty="0">
              <a:latin typeface="メイリオ" panose="020B0604030504040204" pitchFamily="50" charset="-128"/>
              <a:ea typeface="メイリオ" panose="020B0604030504040204" pitchFamily="50" charset="-128"/>
            </a:endParaRPr>
          </a:p>
        </p:txBody>
      </p:sp>
      <p:sp>
        <p:nvSpPr>
          <p:cNvPr id="449" name="Text 112">
            <a:extLst>
              <a:ext uri="{FF2B5EF4-FFF2-40B4-BE49-F238E27FC236}">
                <a16:creationId xmlns:a16="http://schemas.microsoft.com/office/drawing/2014/main" id="{DB9225A3-0B40-6631-04BA-B036BA78DD18}"/>
              </a:ext>
            </a:extLst>
          </p:cNvPr>
          <p:cNvSpPr/>
          <p:nvPr/>
        </p:nvSpPr>
        <p:spPr>
          <a:xfrm>
            <a:off x="5175747" y="5163094"/>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ユーザーが次のニーズを感じる前に関連サービスを先出しする。「春のXXXに向けて、ご準備はお済みですか？」という形でシーズン2〜3週前に配信するとCVRが高い。</a:t>
            </a:r>
            <a:endParaRPr lang="en-US" sz="600" dirty="0">
              <a:latin typeface="メイリオ" panose="020B0604030504040204" pitchFamily="50" charset="-128"/>
              <a:ea typeface="メイリオ" panose="020B0604030504040204" pitchFamily="50" charset="-128"/>
            </a:endParaRPr>
          </a:p>
        </p:txBody>
      </p:sp>
      <p:sp>
        <p:nvSpPr>
          <p:cNvPr id="451" name="Shape 113">
            <a:extLst>
              <a:ext uri="{FF2B5EF4-FFF2-40B4-BE49-F238E27FC236}">
                <a16:creationId xmlns:a16="http://schemas.microsoft.com/office/drawing/2014/main" id="{2E10B183-2361-FE23-322F-7D503F80197A}"/>
              </a:ext>
            </a:extLst>
          </p:cNvPr>
          <p:cNvSpPr/>
          <p:nvPr/>
        </p:nvSpPr>
        <p:spPr>
          <a:xfrm>
            <a:off x="5157459" y="5676275"/>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53" name="Text 114">
            <a:extLst>
              <a:ext uri="{FF2B5EF4-FFF2-40B4-BE49-F238E27FC236}">
                <a16:creationId xmlns:a16="http://schemas.microsoft.com/office/drawing/2014/main" id="{E3F71D55-3A7F-7216-A68B-E9D41C4251F7}"/>
              </a:ext>
            </a:extLst>
          </p:cNvPr>
          <p:cNvSpPr/>
          <p:nvPr/>
        </p:nvSpPr>
        <p:spPr>
          <a:xfrm>
            <a:off x="5157459"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シーズン2〜3週前</a:t>
            </a:r>
            <a:endParaRPr lang="en-US" sz="700" dirty="0">
              <a:latin typeface="メイリオ" panose="020B0604030504040204" pitchFamily="50" charset="-128"/>
              <a:ea typeface="メイリオ" panose="020B0604030504040204" pitchFamily="50" charset="-128"/>
            </a:endParaRPr>
          </a:p>
        </p:txBody>
      </p:sp>
      <p:sp>
        <p:nvSpPr>
          <p:cNvPr id="455" name="Shape 115">
            <a:extLst>
              <a:ext uri="{FF2B5EF4-FFF2-40B4-BE49-F238E27FC236}">
                <a16:creationId xmlns:a16="http://schemas.microsoft.com/office/drawing/2014/main" id="{4DD46369-30C8-F75A-A124-3FEDB935C4A0}"/>
              </a:ext>
            </a:extLst>
          </p:cNvPr>
          <p:cNvSpPr/>
          <p:nvPr/>
        </p:nvSpPr>
        <p:spPr>
          <a:xfrm>
            <a:off x="6431523" y="5807651"/>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57" name="Text 116">
            <a:extLst>
              <a:ext uri="{FF2B5EF4-FFF2-40B4-BE49-F238E27FC236}">
                <a16:creationId xmlns:a16="http://schemas.microsoft.com/office/drawing/2014/main" id="{4A907B15-7708-47C9-7642-BA0B05630DEF}"/>
              </a:ext>
            </a:extLst>
          </p:cNvPr>
          <p:cNvSpPr/>
          <p:nvPr/>
        </p:nvSpPr>
        <p:spPr>
          <a:xfrm>
            <a:off x="6431523" y="5807651"/>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59" name="Shape 117">
            <a:extLst>
              <a:ext uri="{FF2B5EF4-FFF2-40B4-BE49-F238E27FC236}">
                <a16:creationId xmlns:a16="http://schemas.microsoft.com/office/drawing/2014/main" id="{33185618-A887-525D-081A-03DCDB2AC769}"/>
              </a:ext>
            </a:extLst>
          </p:cNvPr>
          <p:cNvSpPr/>
          <p:nvPr/>
        </p:nvSpPr>
        <p:spPr>
          <a:xfrm>
            <a:off x="6522963"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61" name="Text 118">
            <a:extLst>
              <a:ext uri="{FF2B5EF4-FFF2-40B4-BE49-F238E27FC236}">
                <a16:creationId xmlns:a16="http://schemas.microsoft.com/office/drawing/2014/main" id="{A758DBE7-E957-396E-311E-D9582502DB4F}"/>
              </a:ext>
            </a:extLst>
          </p:cNvPr>
          <p:cNvSpPr/>
          <p:nvPr/>
        </p:nvSpPr>
        <p:spPr>
          <a:xfrm>
            <a:off x="6522963"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関連サービス先出し</a:t>
            </a:r>
            <a:endParaRPr lang="en-US" sz="700" dirty="0">
              <a:latin typeface="メイリオ" panose="020B0604030504040204" pitchFamily="50" charset="-128"/>
              <a:ea typeface="メイリオ" panose="020B0604030504040204" pitchFamily="50" charset="-128"/>
            </a:endParaRPr>
          </a:p>
        </p:txBody>
      </p:sp>
      <p:sp>
        <p:nvSpPr>
          <p:cNvPr id="463" name="Shape 119">
            <a:extLst>
              <a:ext uri="{FF2B5EF4-FFF2-40B4-BE49-F238E27FC236}">
                <a16:creationId xmlns:a16="http://schemas.microsoft.com/office/drawing/2014/main" id="{BF462C74-804E-9C1C-C821-FF72072655B2}"/>
              </a:ext>
            </a:extLst>
          </p:cNvPr>
          <p:cNvSpPr/>
          <p:nvPr/>
        </p:nvSpPr>
        <p:spPr>
          <a:xfrm>
            <a:off x="7797027" y="5807651"/>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65" name="Text 120">
            <a:extLst>
              <a:ext uri="{FF2B5EF4-FFF2-40B4-BE49-F238E27FC236}">
                <a16:creationId xmlns:a16="http://schemas.microsoft.com/office/drawing/2014/main" id="{BB683829-0CAA-9EF6-F72B-0FA8AE6169AD}"/>
              </a:ext>
            </a:extLst>
          </p:cNvPr>
          <p:cNvSpPr/>
          <p:nvPr/>
        </p:nvSpPr>
        <p:spPr>
          <a:xfrm>
            <a:off x="7797027" y="5807651"/>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67" name="Shape 121">
            <a:extLst>
              <a:ext uri="{FF2B5EF4-FFF2-40B4-BE49-F238E27FC236}">
                <a16:creationId xmlns:a16="http://schemas.microsoft.com/office/drawing/2014/main" id="{EE617E52-3088-925B-672C-E8F15869002F}"/>
              </a:ext>
            </a:extLst>
          </p:cNvPr>
          <p:cNvSpPr/>
          <p:nvPr/>
        </p:nvSpPr>
        <p:spPr>
          <a:xfrm>
            <a:off x="7888467"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69" name="Text 122">
            <a:extLst>
              <a:ext uri="{FF2B5EF4-FFF2-40B4-BE49-F238E27FC236}">
                <a16:creationId xmlns:a16="http://schemas.microsoft.com/office/drawing/2014/main" id="{571C1378-34E0-DF83-9B00-2BE63986DA83}"/>
              </a:ext>
            </a:extLst>
          </p:cNvPr>
          <p:cNvSpPr/>
          <p:nvPr/>
        </p:nvSpPr>
        <p:spPr>
          <a:xfrm>
            <a:off x="7888467"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CV獲得</a:t>
            </a:r>
            <a:endParaRPr lang="en-US" sz="7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84554320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D9CBDC7-BB8D-566B-5273-6DCD8BE0326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1F5D35F1-C5E4-FAC8-AB97-4C02D6883A95}"/>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具体施策</a:t>
            </a:r>
          </a:p>
        </p:txBody>
      </p:sp>
      <p:sp>
        <p:nvSpPr>
          <p:cNvPr id="2" name="Google Shape;752;p28">
            <a:extLst>
              <a:ext uri="{FF2B5EF4-FFF2-40B4-BE49-F238E27FC236}">
                <a16:creationId xmlns:a16="http://schemas.microsoft.com/office/drawing/2014/main" id="{53CF23F6-F858-EAD5-4A2E-672EF61A2882}"/>
              </a:ext>
            </a:extLst>
          </p:cNvPr>
          <p:cNvSpPr txBox="1"/>
          <p:nvPr/>
        </p:nvSpPr>
        <p:spPr>
          <a:xfrm>
            <a:off x="309397" y="778217"/>
            <a:ext cx="9461620"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想定：チャットやり取りを簡略化・自動化する事で、利便性を下げず営業トスアップ、</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CV</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に繋げる</a:t>
            </a:r>
          </a:p>
        </p:txBody>
      </p:sp>
      <p:sp>
        <p:nvSpPr>
          <p:cNvPr id="481" name="Shape 8">
            <a:extLst>
              <a:ext uri="{FF2B5EF4-FFF2-40B4-BE49-F238E27FC236}">
                <a16:creationId xmlns:a16="http://schemas.microsoft.com/office/drawing/2014/main" id="{40D8E928-F46D-96F7-0405-13E012EFA7B2}"/>
              </a:ext>
            </a:extLst>
          </p:cNvPr>
          <p:cNvSpPr/>
          <p:nvPr/>
        </p:nvSpPr>
        <p:spPr>
          <a:xfrm>
            <a:off x="622035" y="1279901"/>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483" name="Text 9">
            <a:extLst>
              <a:ext uri="{FF2B5EF4-FFF2-40B4-BE49-F238E27FC236}">
                <a16:creationId xmlns:a16="http://schemas.microsoft.com/office/drawing/2014/main" id="{211C6D19-0C27-C77A-DDEA-DCD4258F1B5D}"/>
              </a:ext>
            </a:extLst>
          </p:cNvPr>
          <p:cNvSpPr/>
          <p:nvPr/>
        </p:nvSpPr>
        <p:spPr>
          <a:xfrm>
            <a:off x="750051" y="1262926"/>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自動化施策</a:t>
            </a:r>
            <a:endParaRPr lang="en-US" sz="1100" dirty="0">
              <a:latin typeface="メイリオ" panose="020B0604030504040204" pitchFamily="50" charset="-128"/>
              <a:ea typeface="メイリオ" panose="020B0604030504040204" pitchFamily="50" charset="-128"/>
            </a:endParaRPr>
          </a:p>
        </p:txBody>
      </p:sp>
      <p:sp>
        <p:nvSpPr>
          <p:cNvPr id="485" name="Text 10">
            <a:extLst>
              <a:ext uri="{FF2B5EF4-FFF2-40B4-BE49-F238E27FC236}">
                <a16:creationId xmlns:a16="http://schemas.microsoft.com/office/drawing/2014/main" id="{DA951D4A-E1CE-ACE1-3BD6-706CA24B5611}"/>
              </a:ext>
            </a:extLst>
          </p:cNvPr>
          <p:cNvSpPr/>
          <p:nvPr/>
        </p:nvSpPr>
        <p:spPr>
          <a:xfrm>
            <a:off x="2430690" y="1326857"/>
            <a:ext cx="2361009" cy="182880"/>
          </a:xfrm>
          <a:prstGeom prst="rect">
            <a:avLst/>
          </a:prstGeom>
          <a:noFill/>
          <a:ln/>
        </p:spPr>
        <p:txBody>
          <a:bodyPr wrap="square" lIns="0" tIns="0" rIns="0" bIns="0" rtlCol="0" anchor="ctr"/>
          <a:lstStyle/>
          <a:p>
            <a:pPr marL="0" indent="0">
              <a:buNone/>
            </a:pPr>
            <a:r>
              <a:rPr lang="en-US" sz="900" i="1" dirty="0">
                <a:solidFill>
                  <a:srgbClr val="CADCF2"/>
                </a:solidFill>
                <a:latin typeface="メイリオ" panose="020B0604030504040204" pitchFamily="50" charset="-128"/>
                <a:ea typeface="メイリオ" panose="020B0604030504040204" pitchFamily="50" charset="-128"/>
                <a:cs typeface="Calibri" pitchFamily="34" charset="-120"/>
              </a:rPr>
              <a:t>よくある問い合わせを人手ゼロで対応する</a:t>
            </a:r>
            <a:endParaRPr lang="en-US" sz="900" dirty="0">
              <a:latin typeface="メイリオ" panose="020B0604030504040204" pitchFamily="50" charset="-128"/>
              <a:ea typeface="メイリオ" panose="020B0604030504040204" pitchFamily="50" charset="-128"/>
            </a:endParaRPr>
          </a:p>
        </p:txBody>
      </p:sp>
      <p:sp>
        <p:nvSpPr>
          <p:cNvPr id="487" name="Shape 11">
            <a:extLst>
              <a:ext uri="{FF2B5EF4-FFF2-40B4-BE49-F238E27FC236}">
                <a16:creationId xmlns:a16="http://schemas.microsoft.com/office/drawing/2014/main" id="{63FB878D-F961-067F-8450-B9BA5EA58307}"/>
              </a:ext>
            </a:extLst>
          </p:cNvPr>
          <p:cNvSpPr/>
          <p:nvPr/>
        </p:nvSpPr>
        <p:spPr>
          <a:xfrm>
            <a:off x="5066019" y="1279901"/>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489" name="Text 12">
            <a:extLst>
              <a:ext uri="{FF2B5EF4-FFF2-40B4-BE49-F238E27FC236}">
                <a16:creationId xmlns:a16="http://schemas.microsoft.com/office/drawing/2014/main" id="{F847FC9F-9261-C712-24D2-50358A98E369}"/>
              </a:ext>
            </a:extLst>
          </p:cNvPr>
          <p:cNvSpPr/>
          <p:nvPr/>
        </p:nvSpPr>
        <p:spPr>
          <a:xfrm>
            <a:off x="5194035" y="1262926"/>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トスアップ施策</a:t>
            </a:r>
            <a:endParaRPr lang="en-US" sz="1100" dirty="0">
              <a:latin typeface="メイリオ" panose="020B0604030504040204" pitchFamily="50" charset="-128"/>
              <a:ea typeface="メイリオ" panose="020B0604030504040204" pitchFamily="50" charset="-128"/>
            </a:endParaRPr>
          </a:p>
        </p:txBody>
      </p:sp>
      <p:sp>
        <p:nvSpPr>
          <p:cNvPr id="491" name="Text 13">
            <a:extLst>
              <a:ext uri="{FF2B5EF4-FFF2-40B4-BE49-F238E27FC236}">
                <a16:creationId xmlns:a16="http://schemas.microsoft.com/office/drawing/2014/main" id="{BAB90F2A-13E5-1033-2A8F-C414B5648062}"/>
              </a:ext>
            </a:extLst>
          </p:cNvPr>
          <p:cNvSpPr/>
          <p:nvPr/>
        </p:nvSpPr>
        <p:spPr>
          <a:xfrm>
            <a:off x="6600354" y="1326857"/>
            <a:ext cx="2635329" cy="219533"/>
          </a:xfrm>
          <a:prstGeom prst="rect">
            <a:avLst/>
          </a:prstGeom>
          <a:noFill/>
          <a:ln/>
        </p:spPr>
        <p:txBody>
          <a:bodyPr wrap="square" lIns="0" tIns="0" rIns="0" bIns="0" rtlCol="0" anchor="ctr"/>
          <a:lstStyle/>
          <a:p>
            <a:pPr marL="0" indent="0">
              <a:buNone/>
            </a:pPr>
            <a:r>
              <a:rPr lang="en-US" sz="900" i="1" dirty="0">
                <a:solidFill>
                  <a:srgbClr val="CADCF2"/>
                </a:solidFill>
                <a:latin typeface="メイリオ" panose="020B0604030504040204" pitchFamily="50" charset="-128"/>
                <a:ea typeface="メイリオ" panose="020B0604030504040204" pitchFamily="50" charset="-128"/>
                <a:cs typeface="Calibri" pitchFamily="34" charset="-120"/>
              </a:rPr>
              <a:t>温度感が高まったユーザーを営業に自動連携する</a:t>
            </a:r>
            <a:endParaRPr lang="en-US" sz="900" dirty="0">
              <a:latin typeface="メイリオ" panose="020B0604030504040204" pitchFamily="50" charset="-128"/>
              <a:ea typeface="メイリオ" panose="020B0604030504040204" pitchFamily="50" charset="-128"/>
            </a:endParaRPr>
          </a:p>
        </p:txBody>
      </p:sp>
      <p:sp>
        <p:nvSpPr>
          <p:cNvPr id="493" name="Shape 15">
            <a:extLst>
              <a:ext uri="{FF2B5EF4-FFF2-40B4-BE49-F238E27FC236}">
                <a16:creationId xmlns:a16="http://schemas.microsoft.com/office/drawing/2014/main" id="{7E3C711F-E58C-C906-0A6A-BB593A1E2C84}"/>
              </a:ext>
            </a:extLst>
          </p:cNvPr>
          <p:cNvSpPr/>
          <p:nvPr/>
        </p:nvSpPr>
        <p:spPr>
          <a:xfrm>
            <a:off x="622035" y="1623387"/>
            <a:ext cx="4279392" cy="1446419"/>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497" name="Shape 17">
            <a:extLst>
              <a:ext uri="{FF2B5EF4-FFF2-40B4-BE49-F238E27FC236}">
                <a16:creationId xmlns:a16="http://schemas.microsoft.com/office/drawing/2014/main" id="{C3F3A0E1-065D-A29B-1DB2-A3E74C471585}"/>
              </a:ext>
            </a:extLst>
          </p:cNvPr>
          <p:cNvSpPr/>
          <p:nvPr/>
        </p:nvSpPr>
        <p:spPr>
          <a:xfrm>
            <a:off x="731763" y="1658715"/>
            <a:ext cx="274320" cy="339004"/>
          </a:xfrm>
          <a:prstGeom prst="ellipse">
            <a:avLst/>
          </a:prstGeom>
          <a:solidFill>
            <a:schemeClr val="tx1"/>
          </a:solidFill>
          <a:ln w="12700">
            <a:no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499" name="Text 18">
            <a:extLst>
              <a:ext uri="{FF2B5EF4-FFF2-40B4-BE49-F238E27FC236}">
                <a16:creationId xmlns:a16="http://schemas.microsoft.com/office/drawing/2014/main" id="{F9CB141F-8399-5788-B588-7FE43F1079D4}"/>
              </a:ext>
            </a:extLst>
          </p:cNvPr>
          <p:cNvSpPr/>
          <p:nvPr/>
        </p:nvSpPr>
        <p:spPr>
          <a:xfrm>
            <a:off x="731763" y="1658715"/>
            <a:ext cx="274320" cy="339004"/>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1050" dirty="0">
              <a:latin typeface="メイリオ" panose="020B0604030504040204" pitchFamily="50" charset="-128"/>
              <a:ea typeface="メイリオ" panose="020B0604030504040204" pitchFamily="50" charset="-128"/>
            </a:endParaRPr>
          </a:p>
        </p:txBody>
      </p:sp>
      <p:sp>
        <p:nvSpPr>
          <p:cNvPr id="501" name="Shape 19">
            <a:extLst>
              <a:ext uri="{FF2B5EF4-FFF2-40B4-BE49-F238E27FC236}">
                <a16:creationId xmlns:a16="http://schemas.microsoft.com/office/drawing/2014/main" id="{3481035F-3DCB-6282-CAE4-A507C103A500}"/>
              </a:ext>
            </a:extLst>
          </p:cNvPr>
          <p:cNvSpPr/>
          <p:nvPr/>
        </p:nvSpPr>
        <p:spPr>
          <a:xfrm>
            <a:off x="999987" y="1703397"/>
            <a:ext cx="938784" cy="238470"/>
          </a:xfrm>
          <a:prstGeom prst="roundRect">
            <a:avLst>
              <a:gd name="adj" fmla="val 18182"/>
            </a:avLst>
          </a:prstGeom>
          <a:solidFill>
            <a:schemeClr val="tx2"/>
          </a:solidFill>
          <a:ln w="12700">
            <a:solidFill>
              <a:srgbClr val="D8D8E2"/>
            </a:solidFill>
            <a:prstDash val="solid"/>
          </a:ln>
        </p:spPr>
        <p:txBody>
          <a:bodyPr/>
          <a:lstStyle/>
          <a:p>
            <a:endParaRPr lang="ja-JP" altLang="en-US" sz="900">
              <a:solidFill>
                <a:srgbClr val="FDFDFD"/>
              </a:solidFill>
              <a:latin typeface="メイリオ" panose="020B0604030504040204" pitchFamily="50" charset="-128"/>
              <a:ea typeface="メイリオ" panose="020B0604030504040204" pitchFamily="50" charset="-128"/>
            </a:endParaRPr>
          </a:p>
        </p:txBody>
      </p:sp>
      <p:sp>
        <p:nvSpPr>
          <p:cNvPr id="503" name="Text 20">
            <a:extLst>
              <a:ext uri="{FF2B5EF4-FFF2-40B4-BE49-F238E27FC236}">
                <a16:creationId xmlns:a16="http://schemas.microsoft.com/office/drawing/2014/main" id="{0C55A5FC-8367-FE85-5883-A028AB70B62A}"/>
              </a:ext>
            </a:extLst>
          </p:cNvPr>
          <p:cNvSpPr/>
          <p:nvPr/>
        </p:nvSpPr>
        <p:spPr>
          <a:xfrm>
            <a:off x="999987" y="1703396"/>
            <a:ext cx="938784" cy="276035"/>
          </a:xfrm>
          <a:prstGeom prst="rect">
            <a:avLst/>
          </a:prstGeom>
          <a:no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KW自動応答</a:t>
            </a:r>
            <a:endParaRPr lang="en-US" sz="900" dirty="0">
              <a:solidFill>
                <a:srgbClr val="FDFDFD"/>
              </a:solidFill>
              <a:latin typeface="メイリオ" panose="020B0604030504040204" pitchFamily="50" charset="-128"/>
              <a:ea typeface="メイリオ" panose="020B0604030504040204" pitchFamily="50" charset="-128"/>
            </a:endParaRPr>
          </a:p>
        </p:txBody>
      </p:sp>
      <p:sp>
        <p:nvSpPr>
          <p:cNvPr id="505" name="Text 21">
            <a:extLst>
              <a:ext uri="{FF2B5EF4-FFF2-40B4-BE49-F238E27FC236}">
                <a16:creationId xmlns:a16="http://schemas.microsoft.com/office/drawing/2014/main" id="{8A25C9DA-C365-44B1-C918-421BC16A0936}"/>
              </a:ext>
            </a:extLst>
          </p:cNvPr>
          <p:cNvSpPr/>
          <p:nvPr/>
        </p:nvSpPr>
        <p:spPr>
          <a:xfrm>
            <a:off x="1993635" y="1663027"/>
            <a:ext cx="2798064" cy="316404"/>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頻出ワードへの自動返答でFAQを即解消</a:t>
            </a:r>
            <a:endParaRPr lang="en-US" sz="1100" dirty="0">
              <a:latin typeface="メイリオ" panose="020B0604030504040204" pitchFamily="50" charset="-128"/>
              <a:ea typeface="メイリオ" panose="020B0604030504040204" pitchFamily="50" charset="-128"/>
            </a:endParaRPr>
          </a:p>
        </p:txBody>
      </p:sp>
      <p:sp>
        <p:nvSpPr>
          <p:cNvPr id="507" name="Text 22">
            <a:extLst>
              <a:ext uri="{FF2B5EF4-FFF2-40B4-BE49-F238E27FC236}">
                <a16:creationId xmlns:a16="http://schemas.microsoft.com/office/drawing/2014/main" id="{B693EEEC-7F00-EA99-5A34-4E9A268BE1A5}"/>
              </a:ext>
            </a:extLst>
          </p:cNvPr>
          <p:cNvSpPr/>
          <p:nvPr/>
        </p:nvSpPr>
        <p:spPr>
          <a:xfrm>
            <a:off x="731763" y="2106046"/>
            <a:ext cx="4059936" cy="384205"/>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「料金は？」「予約したい」などの頻出キーワードをLINEに登録し自動返答。スタッフ対応ゼロで24時間365日対応が可能になり、問い合わせコストを大幅削減できる。</a:t>
            </a:r>
            <a:endParaRPr lang="en-US" sz="1000" dirty="0">
              <a:latin typeface="メイリオ" panose="020B0604030504040204" pitchFamily="50" charset="-128"/>
              <a:ea typeface="メイリオ" panose="020B0604030504040204" pitchFamily="50" charset="-128"/>
            </a:endParaRPr>
          </a:p>
        </p:txBody>
      </p:sp>
      <p:sp>
        <p:nvSpPr>
          <p:cNvPr id="509" name="Shape 23">
            <a:extLst>
              <a:ext uri="{FF2B5EF4-FFF2-40B4-BE49-F238E27FC236}">
                <a16:creationId xmlns:a16="http://schemas.microsoft.com/office/drawing/2014/main" id="{A2D2CDF0-CB49-AE15-936A-5D4CF22FFF73}"/>
              </a:ext>
            </a:extLst>
          </p:cNvPr>
          <p:cNvSpPr/>
          <p:nvPr/>
        </p:nvSpPr>
        <p:spPr>
          <a:xfrm>
            <a:off x="713475" y="2621391"/>
            <a:ext cx="1274064" cy="406805"/>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a:solidFill>
                  <a:srgbClr val="FFFFFF"/>
                </a:solidFill>
                <a:latin typeface="メイリオ" panose="020B0604030504040204" pitchFamily="50" charset="-128"/>
                <a:ea typeface="メイリオ" panose="020B0604030504040204" pitchFamily="50" charset="-128"/>
                <a:cs typeface="Calibri" pitchFamily="34" charset="-120"/>
              </a:rPr>
              <a:t>KW受信</a:t>
            </a:r>
            <a:endParaRPr lang="en-US" altLang="ja-JP" sz="1050" dirty="0">
              <a:latin typeface="メイリオ" panose="020B0604030504040204" pitchFamily="50" charset="-128"/>
              <a:ea typeface="メイリオ" panose="020B0604030504040204" pitchFamily="50" charset="-128"/>
            </a:endParaRPr>
          </a:p>
        </p:txBody>
      </p:sp>
      <p:sp>
        <p:nvSpPr>
          <p:cNvPr id="513" name="Shape 25">
            <a:extLst>
              <a:ext uri="{FF2B5EF4-FFF2-40B4-BE49-F238E27FC236}">
                <a16:creationId xmlns:a16="http://schemas.microsoft.com/office/drawing/2014/main" id="{E2556D42-A97F-4FB8-9798-9FA17D54E059}"/>
              </a:ext>
            </a:extLst>
          </p:cNvPr>
          <p:cNvSpPr/>
          <p:nvPr/>
        </p:nvSpPr>
        <p:spPr>
          <a:xfrm>
            <a:off x="1987539" y="2755954"/>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515" name="Text 26">
            <a:extLst>
              <a:ext uri="{FF2B5EF4-FFF2-40B4-BE49-F238E27FC236}">
                <a16:creationId xmlns:a16="http://schemas.microsoft.com/office/drawing/2014/main" id="{C1C6DA5E-79AC-68C0-42C1-CAA0B39FA416}"/>
              </a:ext>
            </a:extLst>
          </p:cNvPr>
          <p:cNvSpPr/>
          <p:nvPr/>
        </p:nvSpPr>
        <p:spPr>
          <a:xfrm>
            <a:off x="1987539" y="2755954"/>
            <a:ext cx="91440" cy="180802"/>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1000" dirty="0">
              <a:latin typeface="メイリオ" panose="020B0604030504040204" pitchFamily="50" charset="-128"/>
              <a:ea typeface="メイリオ" panose="020B0604030504040204" pitchFamily="50" charset="-128"/>
            </a:endParaRPr>
          </a:p>
        </p:txBody>
      </p:sp>
      <p:sp>
        <p:nvSpPr>
          <p:cNvPr id="517" name="Shape 27">
            <a:extLst>
              <a:ext uri="{FF2B5EF4-FFF2-40B4-BE49-F238E27FC236}">
                <a16:creationId xmlns:a16="http://schemas.microsoft.com/office/drawing/2014/main" id="{A8D5B9DB-4355-49CF-1630-7986C6276E29}"/>
              </a:ext>
            </a:extLst>
          </p:cNvPr>
          <p:cNvSpPr/>
          <p:nvPr/>
        </p:nvSpPr>
        <p:spPr>
          <a:xfrm>
            <a:off x="2078979" y="2621391"/>
            <a:ext cx="1274064" cy="406805"/>
          </a:xfrm>
          <a:prstGeom prst="roundRect">
            <a:avLst>
              <a:gd name="adj" fmla="val 16667"/>
            </a:avLst>
          </a:prstGeom>
          <a:solidFill>
            <a:schemeClr val="tx1"/>
          </a:solidFill>
          <a:ln w="12700">
            <a:no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519" name="Text 28">
            <a:extLst>
              <a:ext uri="{FF2B5EF4-FFF2-40B4-BE49-F238E27FC236}">
                <a16:creationId xmlns:a16="http://schemas.microsoft.com/office/drawing/2014/main" id="{F85272E7-370C-6676-96F2-02AE710242A4}"/>
              </a:ext>
            </a:extLst>
          </p:cNvPr>
          <p:cNvSpPr/>
          <p:nvPr/>
        </p:nvSpPr>
        <p:spPr>
          <a:xfrm>
            <a:off x="2078979" y="2621391"/>
            <a:ext cx="1274064" cy="406805"/>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自動返答</a:t>
            </a:r>
            <a:endParaRPr lang="en-US" sz="1050" dirty="0">
              <a:latin typeface="メイリオ" panose="020B0604030504040204" pitchFamily="50" charset="-128"/>
              <a:ea typeface="メイリオ" panose="020B0604030504040204" pitchFamily="50" charset="-128"/>
            </a:endParaRPr>
          </a:p>
        </p:txBody>
      </p:sp>
      <p:sp>
        <p:nvSpPr>
          <p:cNvPr id="521" name="Shape 29">
            <a:extLst>
              <a:ext uri="{FF2B5EF4-FFF2-40B4-BE49-F238E27FC236}">
                <a16:creationId xmlns:a16="http://schemas.microsoft.com/office/drawing/2014/main" id="{F507953E-977B-FFA6-1D19-EA7E8F6B3BEA}"/>
              </a:ext>
            </a:extLst>
          </p:cNvPr>
          <p:cNvSpPr/>
          <p:nvPr/>
        </p:nvSpPr>
        <p:spPr>
          <a:xfrm>
            <a:off x="3353043" y="2755954"/>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523" name="Text 30">
            <a:extLst>
              <a:ext uri="{FF2B5EF4-FFF2-40B4-BE49-F238E27FC236}">
                <a16:creationId xmlns:a16="http://schemas.microsoft.com/office/drawing/2014/main" id="{65A59212-B09E-F4BC-9E5F-C2F671474A3C}"/>
              </a:ext>
            </a:extLst>
          </p:cNvPr>
          <p:cNvSpPr/>
          <p:nvPr/>
        </p:nvSpPr>
        <p:spPr>
          <a:xfrm>
            <a:off x="3353043" y="2755954"/>
            <a:ext cx="91440" cy="180802"/>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1000" dirty="0">
              <a:latin typeface="メイリオ" panose="020B0604030504040204" pitchFamily="50" charset="-128"/>
              <a:ea typeface="メイリオ" panose="020B0604030504040204" pitchFamily="50" charset="-128"/>
            </a:endParaRPr>
          </a:p>
        </p:txBody>
      </p:sp>
      <p:sp>
        <p:nvSpPr>
          <p:cNvPr id="525" name="Shape 31">
            <a:extLst>
              <a:ext uri="{FF2B5EF4-FFF2-40B4-BE49-F238E27FC236}">
                <a16:creationId xmlns:a16="http://schemas.microsoft.com/office/drawing/2014/main" id="{CAEC6CDB-23CB-5A93-4438-A59C2BFFFACF}"/>
              </a:ext>
            </a:extLst>
          </p:cNvPr>
          <p:cNvSpPr/>
          <p:nvPr/>
        </p:nvSpPr>
        <p:spPr>
          <a:xfrm>
            <a:off x="3444483" y="2621391"/>
            <a:ext cx="1274064" cy="406805"/>
          </a:xfrm>
          <a:prstGeom prst="roundRect">
            <a:avLst>
              <a:gd name="adj" fmla="val 16667"/>
            </a:avLst>
          </a:prstGeom>
          <a:solidFill>
            <a:schemeClr val="tx1"/>
          </a:solidFill>
          <a:ln w="12700">
            <a:solidFill>
              <a:srgbClr val="4A2080"/>
            </a:solidFill>
            <a:prstDash val="solid"/>
          </a:ln>
        </p:spPr>
        <p:txBody>
          <a:bodyPr anchor="ctr"/>
          <a:lstStyle/>
          <a:p>
            <a:pPr algn="ctr">
              <a:lnSpc>
                <a:spcPct val="115000"/>
              </a:lnSpc>
            </a:pP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疑問即解消</a:t>
            </a:r>
            <a:endParaRPr lang="en-US" altLang="ja-JP" sz="1050" dirty="0">
              <a:latin typeface="メイリオ" panose="020B0604030504040204" pitchFamily="50" charset="-128"/>
              <a:ea typeface="メイリオ" panose="020B0604030504040204" pitchFamily="50" charset="-128"/>
            </a:endParaRPr>
          </a:p>
        </p:txBody>
      </p:sp>
      <p:sp>
        <p:nvSpPr>
          <p:cNvPr id="529" name="Shape 33">
            <a:extLst>
              <a:ext uri="{FF2B5EF4-FFF2-40B4-BE49-F238E27FC236}">
                <a16:creationId xmlns:a16="http://schemas.microsoft.com/office/drawing/2014/main" id="{F248F8B6-9A86-ABF2-E2D6-E7CF006E3C5F}"/>
              </a:ext>
            </a:extLst>
          </p:cNvPr>
          <p:cNvSpPr/>
          <p:nvPr/>
        </p:nvSpPr>
        <p:spPr>
          <a:xfrm>
            <a:off x="622035" y="3160341"/>
            <a:ext cx="4279392" cy="1446419"/>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533" name="Shape 35">
            <a:extLst>
              <a:ext uri="{FF2B5EF4-FFF2-40B4-BE49-F238E27FC236}">
                <a16:creationId xmlns:a16="http://schemas.microsoft.com/office/drawing/2014/main" id="{44F07E0D-5DE6-3E4A-4251-8215FFA1B921}"/>
              </a:ext>
            </a:extLst>
          </p:cNvPr>
          <p:cNvSpPr/>
          <p:nvPr/>
        </p:nvSpPr>
        <p:spPr>
          <a:xfrm>
            <a:off x="725667" y="3207928"/>
            <a:ext cx="274320" cy="339004"/>
          </a:xfrm>
          <a:prstGeom prst="ellipse">
            <a:avLst/>
          </a:prstGeom>
          <a:solidFill>
            <a:schemeClr val="tx1"/>
          </a:solidFill>
          <a:ln w="12700">
            <a:no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535" name="Text 36">
            <a:extLst>
              <a:ext uri="{FF2B5EF4-FFF2-40B4-BE49-F238E27FC236}">
                <a16:creationId xmlns:a16="http://schemas.microsoft.com/office/drawing/2014/main" id="{2C4560AC-AA6D-E576-2CBD-46E3A388A446}"/>
              </a:ext>
            </a:extLst>
          </p:cNvPr>
          <p:cNvSpPr/>
          <p:nvPr/>
        </p:nvSpPr>
        <p:spPr>
          <a:xfrm>
            <a:off x="725667" y="3207928"/>
            <a:ext cx="274320" cy="339004"/>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1050" dirty="0">
              <a:latin typeface="メイリオ" panose="020B0604030504040204" pitchFamily="50" charset="-128"/>
              <a:ea typeface="メイリオ" panose="020B0604030504040204" pitchFamily="50" charset="-128"/>
            </a:endParaRPr>
          </a:p>
        </p:txBody>
      </p:sp>
      <p:sp>
        <p:nvSpPr>
          <p:cNvPr id="537" name="Shape 37">
            <a:extLst>
              <a:ext uri="{FF2B5EF4-FFF2-40B4-BE49-F238E27FC236}">
                <a16:creationId xmlns:a16="http://schemas.microsoft.com/office/drawing/2014/main" id="{EE277A39-0DD5-47B3-B211-B3AD8641BF28}"/>
              </a:ext>
            </a:extLst>
          </p:cNvPr>
          <p:cNvSpPr/>
          <p:nvPr/>
        </p:nvSpPr>
        <p:spPr>
          <a:xfrm>
            <a:off x="999987" y="3230566"/>
            <a:ext cx="947928" cy="248603"/>
          </a:xfrm>
          <a:prstGeom prst="roundRect">
            <a:avLst>
              <a:gd name="adj" fmla="val 18182"/>
            </a:avLst>
          </a:prstGeom>
          <a:solidFill>
            <a:schemeClr val="tx2"/>
          </a:solidFill>
          <a:ln w="12700">
            <a:solidFill>
              <a:srgbClr val="D8D8E2"/>
            </a:solidFill>
            <a:prstDash val="solid"/>
          </a:ln>
        </p:spPr>
        <p:txBody>
          <a:bodyPr/>
          <a:lstStyle/>
          <a:p>
            <a:endParaRPr lang="ja-JP" altLang="en-US" sz="900">
              <a:solidFill>
                <a:srgbClr val="FDFDFD"/>
              </a:solidFill>
              <a:latin typeface="メイリオ" panose="020B0604030504040204" pitchFamily="50" charset="-128"/>
              <a:ea typeface="メイリオ" panose="020B0604030504040204" pitchFamily="50" charset="-128"/>
            </a:endParaRPr>
          </a:p>
        </p:txBody>
      </p:sp>
      <p:sp>
        <p:nvSpPr>
          <p:cNvPr id="539" name="Text 38">
            <a:extLst>
              <a:ext uri="{FF2B5EF4-FFF2-40B4-BE49-F238E27FC236}">
                <a16:creationId xmlns:a16="http://schemas.microsoft.com/office/drawing/2014/main" id="{C4B5340D-36BF-DDE8-20C8-687DA330872F}"/>
              </a:ext>
            </a:extLst>
          </p:cNvPr>
          <p:cNvSpPr/>
          <p:nvPr/>
        </p:nvSpPr>
        <p:spPr>
          <a:xfrm>
            <a:off x="1097523" y="3245973"/>
            <a:ext cx="859536" cy="248603"/>
          </a:xfrm>
          <a:prstGeom prst="rect">
            <a:avLst/>
          </a:prstGeom>
          <a:no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日程調整自動化</a:t>
            </a:r>
            <a:endParaRPr lang="en-US" sz="900" dirty="0">
              <a:solidFill>
                <a:srgbClr val="FDFDFD"/>
              </a:solidFill>
              <a:latin typeface="メイリオ" panose="020B0604030504040204" pitchFamily="50" charset="-128"/>
              <a:ea typeface="メイリオ" panose="020B0604030504040204" pitchFamily="50" charset="-128"/>
            </a:endParaRPr>
          </a:p>
        </p:txBody>
      </p:sp>
      <p:sp>
        <p:nvSpPr>
          <p:cNvPr id="541" name="Text 39">
            <a:extLst>
              <a:ext uri="{FF2B5EF4-FFF2-40B4-BE49-F238E27FC236}">
                <a16:creationId xmlns:a16="http://schemas.microsoft.com/office/drawing/2014/main" id="{0DC216C4-D41D-ED06-86B7-5AC5FCBFEB41}"/>
              </a:ext>
            </a:extLst>
          </p:cNvPr>
          <p:cNvSpPr/>
          <p:nvPr/>
        </p:nvSpPr>
        <p:spPr>
          <a:xfrm>
            <a:off x="2011923" y="3205604"/>
            <a:ext cx="2798064" cy="316404"/>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面談・予約の日程調整をLINEで完結させる</a:t>
            </a:r>
            <a:endParaRPr lang="en-US" sz="1100" dirty="0">
              <a:latin typeface="メイリオ" panose="020B0604030504040204" pitchFamily="50" charset="-128"/>
              <a:ea typeface="メイリオ" panose="020B0604030504040204" pitchFamily="50" charset="-128"/>
            </a:endParaRPr>
          </a:p>
        </p:txBody>
      </p:sp>
      <p:sp>
        <p:nvSpPr>
          <p:cNvPr id="543" name="Text 40">
            <a:extLst>
              <a:ext uri="{FF2B5EF4-FFF2-40B4-BE49-F238E27FC236}">
                <a16:creationId xmlns:a16="http://schemas.microsoft.com/office/drawing/2014/main" id="{DFBBA734-BAAC-1419-468E-1E9B8278BC26}"/>
              </a:ext>
            </a:extLst>
          </p:cNvPr>
          <p:cNvSpPr/>
          <p:nvPr/>
        </p:nvSpPr>
        <p:spPr>
          <a:xfrm>
            <a:off x="731763" y="3643349"/>
            <a:ext cx="4059936" cy="384205"/>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「面談を希望する」と入力したユーザーに日程候補を自動提示→選択→確定までLINE内で完結。電話折り返し・メール往復ゼロで商談設定工数を大幅削減できる。</a:t>
            </a:r>
            <a:endParaRPr lang="en-US" sz="1000" dirty="0">
              <a:latin typeface="メイリオ" panose="020B0604030504040204" pitchFamily="50" charset="-128"/>
              <a:ea typeface="メイリオ" panose="020B0604030504040204" pitchFamily="50" charset="-128"/>
            </a:endParaRPr>
          </a:p>
        </p:txBody>
      </p:sp>
      <p:sp>
        <p:nvSpPr>
          <p:cNvPr id="545" name="Shape 41">
            <a:extLst>
              <a:ext uri="{FF2B5EF4-FFF2-40B4-BE49-F238E27FC236}">
                <a16:creationId xmlns:a16="http://schemas.microsoft.com/office/drawing/2014/main" id="{FE670AD2-A079-0197-8810-8F9B34E3CABD}"/>
              </a:ext>
            </a:extLst>
          </p:cNvPr>
          <p:cNvSpPr/>
          <p:nvPr/>
        </p:nvSpPr>
        <p:spPr>
          <a:xfrm>
            <a:off x="713475" y="4158910"/>
            <a:ext cx="1274064" cy="406805"/>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a:solidFill>
                  <a:srgbClr val="FFFFFF"/>
                </a:solidFill>
                <a:latin typeface="メイリオ" panose="020B0604030504040204" pitchFamily="50" charset="-128"/>
                <a:ea typeface="メイリオ" panose="020B0604030504040204" pitchFamily="50" charset="-128"/>
                <a:cs typeface="Calibri" pitchFamily="34" charset="-120"/>
              </a:rPr>
              <a:t>希望入力</a:t>
            </a:r>
            <a:endParaRPr lang="en-US" altLang="ja-JP" sz="1050" dirty="0">
              <a:latin typeface="メイリオ" panose="020B0604030504040204" pitchFamily="50" charset="-128"/>
              <a:ea typeface="メイリオ" panose="020B0604030504040204" pitchFamily="50" charset="-128"/>
            </a:endParaRPr>
          </a:p>
        </p:txBody>
      </p:sp>
      <p:sp>
        <p:nvSpPr>
          <p:cNvPr id="549" name="Shape 43">
            <a:extLst>
              <a:ext uri="{FF2B5EF4-FFF2-40B4-BE49-F238E27FC236}">
                <a16:creationId xmlns:a16="http://schemas.microsoft.com/office/drawing/2014/main" id="{9DCF792D-C31C-B1B0-89D3-34127B875145}"/>
              </a:ext>
            </a:extLst>
          </p:cNvPr>
          <p:cNvSpPr/>
          <p:nvPr/>
        </p:nvSpPr>
        <p:spPr>
          <a:xfrm>
            <a:off x="1987539" y="4293473"/>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551" name="Text 44">
            <a:extLst>
              <a:ext uri="{FF2B5EF4-FFF2-40B4-BE49-F238E27FC236}">
                <a16:creationId xmlns:a16="http://schemas.microsoft.com/office/drawing/2014/main" id="{30983E3A-6EDF-B882-D614-D35301C1A700}"/>
              </a:ext>
            </a:extLst>
          </p:cNvPr>
          <p:cNvSpPr/>
          <p:nvPr/>
        </p:nvSpPr>
        <p:spPr>
          <a:xfrm>
            <a:off x="1987539" y="4293473"/>
            <a:ext cx="91440" cy="180802"/>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1000" dirty="0">
              <a:latin typeface="メイリオ" panose="020B0604030504040204" pitchFamily="50" charset="-128"/>
              <a:ea typeface="メイリオ" panose="020B0604030504040204" pitchFamily="50" charset="-128"/>
            </a:endParaRPr>
          </a:p>
        </p:txBody>
      </p:sp>
      <p:sp>
        <p:nvSpPr>
          <p:cNvPr id="553" name="Shape 45">
            <a:extLst>
              <a:ext uri="{FF2B5EF4-FFF2-40B4-BE49-F238E27FC236}">
                <a16:creationId xmlns:a16="http://schemas.microsoft.com/office/drawing/2014/main" id="{209054EF-CC06-6B5D-0FD0-5D15A5DB252B}"/>
              </a:ext>
            </a:extLst>
          </p:cNvPr>
          <p:cNvSpPr/>
          <p:nvPr/>
        </p:nvSpPr>
        <p:spPr>
          <a:xfrm>
            <a:off x="2078979" y="4158910"/>
            <a:ext cx="1274064" cy="406805"/>
          </a:xfrm>
          <a:prstGeom prst="roundRect">
            <a:avLst>
              <a:gd name="adj" fmla="val 16667"/>
            </a:avLst>
          </a:prstGeom>
          <a:solidFill>
            <a:schemeClr val="tx1"/>
          </a:solidFill>
          <a:ln w="12700">
            <a:no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555" name="Text 46">
            <a:extLst>
              <a:ext uri="{FF2B5EF4-FFF2-40B4-BE49-F238E27FC236}">
                <a16:creationId xmlns:a16="http://schemas.microsoft.com/office/drawing/2014/main" id="{5BE3AFBB-71C6-1263-E9E2-A276B8A0D061}"/>
              </a:ext>
            </a:extLst>
          </p:cNvPr>
          <p:cNvSpPr/>
          <p:nvPr/>
        </p:nvSpPr>
        <p:spPr>
          <a:xfrm>
            <a:off x="2078979" y="4158910"/>
            <a:ext cx="1274064" cy="406805"/>
          </a:xfrm>
          <a:prstGeom prst="rect">
            <a:avLst/>
          </a:prstGeom>
          <a:noFill/>
          <a:ln>
            <a:noFill/>
          </a:ln>
        </p:spPr>
        <p:txBody>
          <a:bodyPr wrap="square" lIns="0" tIns="0" rIns="0" bIns="0" rtlCol="0" anchor="ctr"/>
          <a:lstStyle/>
          <a:p>
            <a:pPr marL="0" indent="0" algn="ctr">
              <a:lnSpc>
                <a:spcPct val="115000"/>
              </a:lnSpc>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日程自動提示</a:t>
            </a:r>
            <a:endParaRPr lang="en-US" sz="1100" dirty="0">
              <a:latin typeface="メイリオ" panose="020B0604030504040204" pitchFamily="50" charset="-128"/>
              <a:ea typeface="メイリオ" panose="020B0604030504040204" pitchFamily="50" charset="-128"/>
            </a:endParaRPr>
          </a:p>
        </p:txBody>
      </p:sp>
      <p:sp>
        <p:nvSpPr>
          <p:cNvPr id="557" name="Shape 47">
            <a:extLst>
              <a:ext uri="{FF2B5EF4-FFF2-40B4-BE49-F238E27FC236}">
                <a16:creationId xmlns:a16="http://schemas.microsoft.com/office/drawing/2014/main" id="{A9232A71-6BB9-1F02-D8A6-0D588E915F91}"/>
              </a:ext>
            </a:extLst>
          </p:cNvPr>
          <p:cNvSpPr/>
          <p:nvPr/>
        </p:nvSpPr>
        <p:spPr>
          <a:xfrm>
            <a:off x="3353043" y="4293473"/>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559" name="Text 48">
            <a:extLst>
              <a:ext uri="{FF2B5EF4-FFF2-40B4-BE49-F238E27FC236}">
                <a16:creationId xmlns:a16="http://schemas.microsoft.com/office/drawing/2014/main" id="{C5C94F94-3800-196D-F055-BE367B6C3823}"/>
              </a:ext>
            </a:extLst>
          </p:cNvPr>
          <p:cNvSpPr/>
          <p:nvPr/>
        </p:nvSpPr>
        <p:spPr>
          <a:xfrm>
            <a:off x="3353043" y="4293473"/>
            <a:ext cx="91440" cy="180802"/>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1000" dirty="0">
              <a:latin typeface="メイリオ" panose="020B0604030504040204" pitchFamily="50" charset="-128"/>
              <a:ea typeface="メイリオ" panose="020B0604030504040204" pitchFamily="50" charset="-128"/>
            </a:endParaRPr>
          </a:p>
        </p:txBody>
      </p:sp>
      <p:sp>
        <p:nvSpPr>
          <p:cNvPr id="561" name="Shape 49">
            <a:extLst>
              <a:ext uri="{FF2B5EF4-FFF2-40B4-BE49-F238E27FC236}">
                <a16:creationId xmlns:a16="http://schemas.microsoft.com/office/drawing/2014/main" id="{27FD51EA-7B61-DE39-7567-087D884D2689}"/>
              </a:ext>
            </a:extLst>
          </p:cNvPr>
          <p:cNvSpPr/>
          <p:nvPr/>
        </p:nvSpPr>
        <p:spPr>
          <a:xfrm>
            <a:off x="3444483" y="4158910"/>
            <a:ext cx="1274064" cy="406805"/>
          </a:xfrm>
          <a:prstGeom prst="roundRect">
            <a:avLst>
              <a:gd name="adj" fmla="val 16667"/>
            </a:avLst>
          </a:prstGeom>
          <a:solidFill>
            <a:schemeClr val="tx1"/>
          </a:solidFill>
          <a:ln w="12700">
            <a:no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563" name="Text 50">
            <a:extLst>
              <a:ext uri="{FF2B5EF4-FFF2-40B4-BE49-F238E27FC236}">
                <a16:creationId xmlns:a16="http://schemas.microsoft.com/office/drawing/2014/main" id="{8F32671E-225E-D073-04DF-BE2045451A90}"/>
              </a:ext>
            </a:extLst>
          </p:cNvPr>
          <p:cNvSpPr/>
          <p:nvPr/>
        </p:nvSpPr>
        <p:spPr>
          <a:xfrm>
            <a:off x="3444483" y="4158910"/>
            <a:ext cx="1274064" cy="406805"/>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確定完了</a:t>
            </a:r>
            <a:endParaRPr lang="en-US" sz="1050" dirty="0">
              <a:latin typeface="メイリオ" panose="020B0604030504040204" pitchFamily="50" charset="-128"/>
              <a:ea typeface="メイリオ" panose="020B0604030504040204" pitchFamily="50" charset="-128"/>
            </a:endParaRPr>
          </a:p>
        </p:txBody>
      </p:sp>
      <p:sp>
        <p:nvSpPr>
          <p:cNvPr id="565" name="Shape 51">
            <a:extLst>
              <a:ext uri="{FF2B5EF4-FFF2-40B4-BE49-F238E27FC236}">
                <a16:creationId xmlns:a16="http://schemas.microsoft.com/office/drawing/2014/main" id="{BD20E957-9831-52B2-3945-EA8265886264}"/>
              </a:ext>
            </a:extLst>
          </p:cNvPr>
          <p:cNvSpPr/>
          <p:nvPr/>
        </p:nvSpPr>
        <p:spPr>
          <a:xfrm>
            <a:off x="622035" y="4709813"/>
            <a:ext cx="4279392" cy="1446419"/>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569" name="Shape 53">
            <a:extLst>
              <a:ext uri="{FF2B5EF4-FFF2-40B4-BE49-F238E27FC236}">
                <a16:creationId xmlns:a16="http://schemas.microsoft.com/office/drawing/2014/main" id="{000D987C-780E-251D-7A2E-453B098046FA}"/>
              </a:ext>
            </a:extLst>
          </p:cNvPr>
          <p:cNvSpPr/>
          <p:nvPr/>
        </p:nvSpPr>
        <p:spPr>
          <a:xfrm>
            <a:off x="725667" y="4751221"/>
            <a:ext cx="274320" cy="339004"/>
          </a:xfrm>
          <a:prstGeom prst="ellipse">
            <a:avLst/>
          </a:prstGeom>
          <a:solidFill>
            <a:schemeClr val="tx1"/>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571" name="Text 54">
            <a:extLst>
              <a:ext uri="{FF2B5EF4-FFF2-40B4-BE49-F238E27FC236}">
                <a16:creationId xmlns:a16="http://schemas.microsoft.com/office/drawing/2014/main" id="{D7EBC11B-EE52-5F8C-3A09-E5EFC16DAD14}"/>
              </a:ext>
            </a:extLst>
          </p:cNvPr>
          <p:cNvSpPr/>
          <p:nvPr/>
        </p:nvSpPr>
        <p:spPr>
          <a:xfrm>
            <a:off x="725667" y="4751221"/>
            <a:ext cx="274320" cy="339004"/>
          </a:xfrm>
          <a:prstGeom prst="rect">
            <a:avLst/>
          </a:prstGeom>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1100" dirty="0">
              <a:latin typeface="メイリオ" panose="020B0604030504040204" pitchFamily="50" charset="-128"/>
              <a:ea typeface="メイリオ" panose="020B0604030504040204" pitchFamily="50" charset="-128"/>
            </a:endParaRPr>
          </a:p>
        </p:txBody>
      </p:sp>
      <p:sp>
        <p:nvSpPr>
          <p:cNvPr id="573" name="Shape 55">
            <a:extLst>
              <a:ext uri="{FF2B5EF4-FFF2-40B4-BE49-F238E27FC236}">
                <a16:creationId xmlns:a16="http://schemas.microsoft.com/office/drawing/2014/main" id="{CE118FE4-70B1-ABC1-CFCE-B2C7803700D6}"/>
              </a:ext>
            </a:extLst>
          </p:cNvPr>
          <p:cNvSpPr/>
          <p:nvPr/>
        </p:nvSpPr>
        <p:spPr>
          <a:xfrm>
            <a:off x="999987" y="4795902"/>
            <a:ext cx="957072" cy="230221"/>
          </a:xfrm>
          <a:prstGeom prst="roundRect">
            <a:avLst>
              <a:gd name="adj" fmla="val 18182"/>
            </a:avLst>
          </a:prstGeom>
          <a:solidFill>
            <a:schemeClr val="tx2"/>
          </a:solidFill>
          <a:ln w="12700">
            <a:solidFill>
              <a:srgbClr val="D8D8E2"/>
            </a:solidFill>
            <a:prstDash val="solid"/>
          </a:ln>
        </p:spPr>
        <p:txBody>
          <a:bodyPr/>
          <a:lstStyle/>
          <a:p>
            <a:endParaRPr lang="ja-JP" altLang="en-US" sz="1000">
              <a:solidFill>
                <a:srgbClr val="FDFDFD"/>
              </a:solidFill>
              <a:latin typeface="メイリオ" panose="020B0604030504040204" pitchFamily="50" charset="-128"/>
              <a:ea typeface="メイリオ" panose="020B0604030504040204" pitchFamily="50" charset="-128"/>
            </a:endParaRPr>
          </a:p>
        </p:txBody>
      </p:sp>
      <p:sp>
        <p:nvSpPr>
          <p:cNvPr id="575" name="Text 56">
            <a:extLst>
              <a:ext uri="{FF2B5EF4-FFF2-40B4-BE49-F238E27FC236}">
                <a16:creationId xmlns:a16="http://schemas.microsoft.com/office/drawing/2014/main" id="{7B3D7BAA-5B14-06C5-CCFD-B1B2ED14D54C}"/>
              </a:ext>
            </a:extLst>
          </p:cNvPr>
          <p:cNvSpPr/>
          <p:nvPr/>
        </p:nvSpPr>
        <p:spPr>
          <a:xfrm>
            <a:off x="1079235" y="4788631"/>
            <a:ext cx="859536" cy="255874"/>
          </a:xfrm>
          <a:prstGeom prst="rect">
            <a:avLst/>
          </a:prstGeom>
          <a:noFill/>
          <a:ln/>
        </p:spPr>
        <p:txBody>
          <a:bodyPr wrap="square" lIns="0" tIns="0" rIns="0" bIns="0" rtlCol="0" anchor="ctr"/>
          <a:lstStyle/>
          <a:p>
            <a:pPr marL="0" indent="0" algn="ctr">
              <a:buNone/>
            </a:pPr>
            <a:r>
              <a:rPr lang="en-US" sz="1000" b="1" dirty="0">
                <a:solidFill>
                  <a:srgbClr val="FDFDFD"/>
                </a:solidFill>
                <a:latin typeface="メイリオ" panose="020B0604030504040204" pitchFamily="50" charset="-128"/>
                <a:ea typeface="メイリオ" panose="020B0604030504040204" pitchFamily="50" charset="-128"/>
                <a:cs typeface="Calibri" pitchFamily="34" charset="-120"/>
              </a:rPr>
              <a:t>Q&amp;A自動対応</a:t>
            </a:r>
            <a:endParaRPr lang="en-US" sz="1000" dirty="0">
              <a:solidFill>
                <a:srgbClr val="FDFDFD"/>
              </a:solidFill>
              <a:latin typeface="メイリオ" panose="020B0604030504040204" pitchFamily="50" charset="-128"/>
              <a:ea typeface="メイリオ" panose="020B0604030504040204" pitchFamily="50" charset="-128"/>
            </a:endParaRPr>
          </a:p>
        </p:txBody>
      </p:sp>
      <p:sp>
        <p:nvSpPr>
          <p:cNvPr id="577" name="Text 57">
            <a:extLst>
              <a:ext uri="{FF2B5EF4-FFF2-40B4-BE49-F238E27FC236}">
                <a16:creationId xmlns:a16="http://schemas.microsoft.com/office/drawing/2014/main" id="{3B6EAD0F-BD63-287A-3804-2B841A85C33B}"/>
              </a:ext>
            </a:extLst>
          </p:cNvPr>
          <p:cNvSpPr/>
          <p:nvPr/>
        </p:nvSpPr>
        <p:spPr>
          <a:xfrm>
            <a:off x="2030211" y="4755532"/>
            <a:ext cx="2798064" cy="316404"/>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よくある質問の回答をメニュー選択式で自動配信</a:t>
            </a:r>
            <a:endParaRPr lang="en-US" sz="1100" dirty="0">
              <a:latin typeface="メイリオ" panose="020B0604030504040204" pitchFamily="50" charset="-128"/>
              <a:ea typeface="メイリオ" panose="020B0604030504040204" pitchFamily="50" charset="-128"/>
            </a:endParaRPr>
          </a:p>
        </p:txBody>
      </p:sp>
      <p:sp>
        <p:nvSpPr>
          <p:cNvPr id="579" name="Text 58">
            <a:extLst>
              <a:ext uri="{FF2B5EF4-FFF2-40B4-BE49-F238E27FC236}">
                <a16:creationId xmlns:a16="http://schemas.microsoft.com/office/drawing/2014/main" id="{57A957C0-047C-B1C9-3EBB-B3B3F767873F}"/>
              </a:ext>
            </a:extLst>
          </p:cNvPr>
          <p:cNvSpPr/>
          <p:nvPr/>
        </p:nvSpPr>
        <p:spPr>
          <a:xfrm>
            <a:off x="731763" y="5182003"/>
            <a:ext cx="4059936" cy="384205"/>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リッチメニューに「よくある質問」「料金を知りたい」「事例を見たい」等のボタンを設置し、タップするだけで回答が届く設計にする。スタッフが答える前に自己解決を促す。</a:t>
            </a:r>
            <a:endParaRPr lang="en-US" sz="1000" dirty="0">
              <a:latin typeface="メイリオ" panose="020B0604030504040204" pitchFamily="50" charset="-128"/>
              <a:ea typeface="メイリオ" panose="020B0604030504040204" pitchFamily="50" charset="-128"/>
            </a:endParaRPr>
          </a:p>
        </p:txBody>
      </p:sp>
      <p:sp>
        <p:nvSpPr>
          <p:cNvPr id="581" name="Shape 59">
            <a:extLst>
              <a:ext uri="{FF2B5EF4-FFF2-40B4-BE49-F238E27FC236}">
                <a16:creationId xmlns:a16="http://schemas.microsoft.com/office/drawing/2014/main" id="{9A61C22E-A4B2-9E05-F598-E9C4F0164BD1}"/>
              </a:ext>
            </a:extLst>
          </p:cNvPr>
          <p:cNvSpPr/>
          <p:nvPr/>
        </p:nvSpPr>
        <p:spPr>
          <a:xfrm>
            <a:off x="713475" y="5676275"/>
            <a:ext cx="1274064" cy="406805"/>
          </a:xfrm>
          <a:prstGeom prst="roundRect">
            <a:avLst>
              <a:gd name="adj" fmla="val 16667"/>
            </a:avLst>
          </a:prstGeom>
          <a:solidFill>
            <a:schemeClr val="tx1"/>
          </a:solidFill>
          <a:ln w="12700">
            <a:noFill/>
            <a:prstDash val="solid"/>
          </a:ln>
        </p:spPr>
        <p:txBody>
          <a:bodyPr/>
          <a:lstStyle/>
          <a:p>
            <a:endParaRPr lang="ja-JP" altLang="en-US" sz="2000">
              <a:latin typeface="メイリオ" panose="020B0604030504040204" pitchFamily="50" charset="-128"/>
              <a:ea typeface="メイリオ" panose="020B0604030504040204" pitchFamily="50" charset="-128"/>
            </a:endParaRPr>
          </a:p>
        </p:txBody>
      </p:sp>
      <p:sp>
        <p:nvSpPr>
          <p:cNvPr id="583" name="Text 60">
            <a:extLst>
              <a:ext uri="{FF2B5EF4-FFF2-40B4-BE49-F238E27FC236}">
                <a16:creationId xmlns:a16="http://schemas.microsoft.com/office/drawing/2014/main" id="{A8DD111B-2CD0-0C8C-5FFD-F634D3033930}"/>
              </a:ext>
            </a:extLst>
          </p:cNvPr>
          <p:cNvSpPr/>
          <p:nvPr/>
        </p:nvSpPr>
        <p:spPr>
          <a:xfrm>
            <a:off x="713475" y="5676275"/>
            <a:ext cx="1274064" cy="406805"/>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メニューをタップ</a:t>
            </a:r>
            <a:endParaRPr lang="en-US" sz="1000" dirty="0">
              <a:latin typeface="メイリオ" panose="020B0604030504040204" pitchFamily="50" charset="-128"/>
              <a:ea typeface="メイリオ" panose="020B0604030504040204" pitchFamily="50" charset="-128"/>
            </a:endParaRPr>
          </a:p>
        </p:txBody>
      </p:sp>
      <p:sp>
        <p:nvSpPr>
          <p:cNvPr id="589" name="Shape 63">
            <a:extLst>
              <a:ext uri="{FF2B5EF4-FFF2-40B4-BE49-F238E27FC236}">
                <a16:creationId xmlns:a16="http://schemas.microsoft.com/office/drawing/2014/main" id="{E77A650E-654A-EC81-6A3F-240D6A4404F3}"/>
              </a:ext>
            </a:extLst>
          </p:cNvPr>
          <p:cNvSpPr/>
          <p:nvPr/>
        </p:nvSpPr>
        <p:spPr>
          <a:xfrm>
            <a:off x="2078979" y="5676275"/>
            <a:ext cx="1274064" cy="406805"/>
          </a:xfrm>
          <a:prstGeom prst="roundRect">
            <a:avLst>
              <a:gd name="adj" fmla="val 16667"/>
            </a:avLst>
          </a:prstGeom>
          <a:solidFill>
            <a:schemeClr val="tx1"/>
          </a:solidFill>
          <a:ln w="12700">
            <a:noFill/>
            <a:prstDash val="solid"/>
          </a:ln>
        </p:spPr>
        <p:txBody>
          <a:bodyPr/>
          <a:lstStyle/>
          <a:p>
            <a:endParaRPr lang="ja-JP" altLang="en-US" sz="2000">
              <a:latin typeface="メイリオ" panose="020B0604030504040204" pitchFamily="50" charset="-128"/>
              <a:ea typeface="メイリオ" panose="020B0604030504040204" pitchFamily="50" charset="-128"/>
            </a:endParaRPr>
          </a:p>
        </p:txBody>
      </p:sp>
      <p:sp>
        <p:nvSpPr>
          <p:cNvPr id="591" name="Text 64">
            <a:extLst>
              <a:ext uri="{FF2B5EF4-FFF2-40B4-BE49-F238E27FC236}">
                <a16:creationId xmlns:a16="http://schemas.microsoft.com/office/drawing/2014/main" id="{515BC9A2-B5AE-4A2B-32CA-BEE70A5B85EE}"/>
              </a:ext>
            </a:extLst>
          </p:cNvPr>
          <p:cNvSpPr/>
          <p:nvPr/>
        </p:nvSpPr>
        <p:spPr>
          <a:xfrm>
            <a:off x="2078979" y="5676275"/>
            <a:ext cx="1274064" cy="406805"/>
          </a:xfrm>
          <a:prstGeom prst="rect">
            <a:avLst/>
          </a:prstGeom>
          <a:noFill/>
          <a:ln>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自動回答配信</a:t>
            </a:r>
            <a:endParaRPr lang="en-US" sz="1000" dirty="0">
              <a:latin typeface="メイリオ" panose="020B0604030504040204" pitchFamily="50" charset="-128"/>
              <a:ea typeface="メイリオ" panose="020B0604030504040204" pitchFamily="50" charset="-128"/>
            </a:endParaRPr>
          </a:p>
        </p:txBody>
      </p:sp>
      <p:sp>
        <p:nvSpPr>
          <p:cNvPr id="597" name="Shape 67">
            <a:extLst>
              <a:ext uri="{FF2B5EF4-FFF2-40B4-BE49-F238E27FC236}">
                <a16:creationId xmlns:a16="http://schemas.microsoft.com/office/drawing/2014/main" id="{0EEFD0FA-7548-0ECC-E0D4-F44B04D48FB8}"/>
              </a:ext>
            </a:extLst>
          </p:cNvPr>
          <p:cNvSpPr/>
          <p:nvPr/>
        </p:nvSpPr>
        <p:spPr>
          <a:xfrm>
            <a:off x="3444483" y="5676275"/>
            <a:ext cx="1274064" cy="406805"/>
          </a:xfrm>
          <a:prstGeom prst="roundRect">
            <a:avLst>
              <a:gd name="adj" fmla="val 16667"/>
            </a:avLst>
          </a:prstGeom>
          <a:solidFill>
            <a:schemeClr val="tx1"/>
          </a:solidFill>
          <a:ln w="12700">
            <a:solidFill>
              <a:srgbClr val="4A2080"/>
            </a:solidFill>
            <a:prstDash val="solid"/>
          </a:ln>
        </p:spPr>
        <p:txBody>
          <a:bodyPr anchor="ctr"/>
          <a:lstStyle/>
          <a:p>
            <a:pPr algn="ctr">
              <a:lnSpc>
                <a:spcPct val="115000"/>
              </a:lnSpc>
            </a:pPr>
            <a:r>
              <a:rPr lang="en-US" altLang="ja-JP" sz="1000" b="1">
                <a:solidFill>
                  <a:srgbClr val="FFFFFF"/>
                </a:solidFill>
                <a:latin typeface="メイリオ" panose="020B0604030504040204" pitchFamily="50" charset="-128"/>
                <a:ea typeface="メイリオ" panose="020B0604030504040204" pitchFamily="50" charset="-128"/>
                <a:cs typeface="Calibri" pitchFamily="34" charset="-120"/>
              </a:rPr>
              <a:t>自己解決完了</a:t>
            </a:r>
            <a:endParaRPr lang="en-US" altLang="ja-JP" sz="1000" dirty="0">
              <a:latin typeface="メイリオ" panose="020B0604030504040204" pitchFamily="50" charset="-128"/>
              <a:ea typeface="メイリオ" panose="020B0604030504040204" pitchFamily="50" charset="-128"/>
            </a:endParaRPr>
          </a:p>
        </p:txBody>
      </p:sp>
      <p:sp>
        <p:nvSpPr>
          <p:cNvPr id="601" name="Shape 69">
            <a:extLst>
              <a:ext uri="{FF2B5EF4-FFF2-40B4-BE49-F238E27FC236}">
                <a16:creationId xmlns:a16="http://schemas.microsoft.com/office/drawing/2014/main" id="{BB58A48E-96E7-063D-EB59-D048E2A09397}"/>
              </a:ext>
            </a:extLst>
          </p:cNvPr>
          <p:cNvSpPr/>
          <p:nvPr/>
        </p:nvSpPr>
        <p:spPr>
          <a:xfrm>
            <a:off x="5066019" y="1623387"/>
            <a:ext cx="4279392" cy="1446419"/>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05" name="Shape 71">
            <a:extLst>
              <a:ext uri="{FF2B5EF4-FFF2-40B4-BE49-F238E27FC236}">
                <a16:creationId xmlns:a16="http://schemas.microsoft.com/office/drawing/2014/main" id="{CEEFFC68-843C-CB8F-F3EE-D5F381F99FB3}"/>
              </a:ext>
            </a:extLst>
          </p:cNvPr>
          <p:cNvSpPr/>
          <p:nvPr/>
        </p:nvSpPr>
        <p:spPr>
          <a:xfrm>
            <a:off x="5175747" y="1658715"/>
            <a:ext cx="274320" cy="339004"/>
          </a:xfrm>
          <a:prstGeom prst="ellipse">
            <a:avLst/>
          </a:prstGeom>
          <a:solidFill>
            <a:schemeClr val="tx1"/>
          </a:solidFill>
          <a:ln w="12700">
            <a:no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07" name="Text 72">
            <a:extLst>
              <a:ext uri="{FF2B5EF4-FFF2-40B4-BE49-F238E27FC236}">
                <a16:creationId xmlns:a16="http://schemas.microsoft.com/office/drawing/2014/main" id="{BA1AC9FB-2A36-A56E-5C44-D0E3ACC9A307}"/>
              </a:ext>
            </a:extLst>
          </p:cNvPr>
          <p:cNvSpPr/>
          <p:nvPr/>
        </p:nvSpPr>
        <p:spPr>
          <a:xfrm>
            <a:off x="5175747" y="1658715"/>
            <a:ext cx="274320" cy="339004"/>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1050" dirty="0">
              <a:latin typeface="メイリオ" panose="020B0604030504040204" pitchFamily="50" charset="-128"/>
              <a:ea typeface="メイリオ" panose="020B0604030504040204" pitchFamily="50" charset="-128"/>
            </a:endParaRPr>
          </a:p>
        </p:txBody>
      </p:sp>
      <p:sp>
        <p:nvSpPr>
          <p:cNvPr id="609" name="Shape 73">
            <a:extLst>
              <a:ext uri="{FF2B5EF4-FFF2-40B4-BE49-F238E27FC236}">
                <a16:creationId xmlns:a16="http://schemas.microsoft.com/office/drawing/2014/main" id="{DA9D4DB3-FD3E-CC23-5F93-7DD0F2C4A66E}"/>
              </a:ext>
            </a:extLst>
          </p:cNvPr>
          <p:cNvSpPr/>
          <p:nvPr/>
        </p:nvSpPr>
        <p:spPr>
          <a:xfrm>
            <a:off x="5523219" y="1703396"/>
            <a:ext cx="859536" cy="248603"/>
          </a:xfrm>
          <a:prstGeom prst="roundRect">
            <a:avLst>
              <a:gd name="adj" fmla="val 18182"/>
            </a:avLst>
          </a:prstGeom>
          <a:solidFill>
            <a:srgbClr val="F7F7F9"/>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11" name="Text 74">
            <a:extLst>
              <a:ext uri="{FF2B5EF4-FFF2-40B4-BE49-F238E27FC236}">
                <a16:creationId xmlns:a16="http://schemas.microsoft.com/office/drawing/2014/main" id="{388F5303-8FCA-86F2-09F0-93CE3D368104}"/>
              </a:ext>
            </a:extLst>
          </p:cNvPr>
          <p:cNvSpPr/>
          <p:nvPr/>
        </p:nvSpPr>
        <p:spPr>
          <a:xfrm>
            <a:off x="5450067" y="1694906"/>
            <a:ext cx="932688" cy="257094"/>
          </a:xfrm>
          <a:prstGeom prst="rect">
            <a:avLst/>
          </a:prstGeom>
          <a:solidFill>
            <a:schemeClr val="tx2"/>
          </a:solid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ホットリード検知</a:t>
            </a:r>
            <a:endParaRPr lang="en-US" sz="900" dirty="0">
              <a:solidFill>
                <a:srgbClr val="FDFDFD"/>
              </a:solidFill>
              <a:latin typeface="メイリオ" panose="020B0604030504040204" pitchFamily="50" charset="-128"/>
              <a:ea typeface="メイリオ" panose="020B0604030504040204" pitchFamily="50" charset="-128"/>
            </a:endParaRPr>
          </a:p>
        </p:txBody>
      </p:sp>
      <p:sp>
        <p:nvSpPr>
          <p:cNvPr id="613" name="Text 75">
            <a:extLst>
              <a:ext uri="{FF2B5EF4-FFF2-40B4-BE49-F238E27FC236}">
                <a16:creationId xmlns:a16="http://schemas.microsoft.com/office/drawing/2014/main" id="{FC4B8845-D876-501A-B76E-902595F69EEE}"/>
              </a:ext>
            </a:extLst>
          </p:cNvPr>
          <p:cNvSpPr/>
          <p:nvPr/>
        </p:nvSpPr>
        <p:spPr>
          <a:xfrm>
            <a:off x="6437619" y="1663027"/>
            <a:ext cx="2980944" cy="316404"/>
          </a:xfrm>
          <a:prstGeom prst="rect">
            <a:avLst/>
          </a:prstGeom>
          <a:noFill/>
          <a:ln/>
        </p:spPr>
        <p:txBody>
          <a:bodyPr wrap="square" lIns="0" tIns="0" rIns="0" bIns="0" rtlCol="0" anchor="ctr"/>
          <a:lstStyle/>
          <a:p>
            <a:pPr marL="0" indent="0">
              <a:buNone/>
            </a:pPr>
            <a:r>
              <a:rPr lang="en-US" sz="1100" b="1" dirty="0" err="1">
                <a:solidFill>
                  <a:srgbClr val="1A1A2E"/>
                </a:solidFill>
                <a:latin typeface="メイリオ" panose="020B0604030504040204" pitchFamily="50" charset="-128"/>
                <a:ea typeface="メイリオ" panose="020B0604030504040204" pitchFamily="50" charset="-128"/>
                <a:cs typeface="Calibri" pitchFamily="34" charset="-120"/>
              </a:rPr>
              <a:t>高スコアユーザーを自動で</a:t>
            </a:r>
            <a:endParaRPr lang="en-US" sz="1100" b="1" dirty="0">
              <a:solidFill>
                <a:srgbClr val="1A1A2E"/>
              </a:solidFill>
              <a:latin typeface="メイリオ" panose="020B0604030504040204" pitchFamily="50" charset="-128"/>
              <a:ea typeface="メイリオ" panose="020B0604030504040204" pitchFamily="50" charset="-128"/>
              <a:cs typeface="Calibri" pitchFamily="34" charset="-120"/>
            </a:endParaRPr>
          </a:p>
          <a:p>
            <a:pPr marL="0" indent="0">
              <a:buNone/>
            </a:pPr>
            <a:r>
              <a:rPr lang="en-US" sz="1100" b="1" dirty="0" err="1">
                <a:solidFill>
                  <a:srgbClr val="1A1A2E"/>
                </a:solidFill>
                <a:latin typeface="メイリオ" panose="020B0604030504040204" pitchFamily="50" charset="-128"/>
                <a:ea typeface="メイリオ" panose="020B0604030504040204" pitchFamily="50" charset="-128"/>
                <a:cs typeface="Calibri" pitchFamily="34" charset="-120"/>
              </a:rPr>
              <a:t>スタッフにアラート通知</a:t>
            </a:r>
            <a:endParaRPr lang="en-US" sz="1100" dirty="0">
              <a:latin typeface="メイリオ" panose="020B0604030504040204" pitchFamily="50" charset="-128"/>
              <a:ea typeface="メイリオ" panose="020B0604030504040204" pitchFamily="50" charset="-128"/>
            </a:endParaRPr>
          </a:p>
        </p:txBody>
      </p:sp>
      <p:sp>
        <p:nvSpPr>
          <p:cNvPr id="615" name="Text 76">
            <a:extLst>
              <a:ext uri="{FF2B5EF4-FFF2-40B4-BE49-F238E27FC236}">
                <a16:creationId xmlns:a16="http://schemas.microsoft.com/office/drawing/2014/main" id="{41A00D6D-FDD2-F734-B47F-D5335D94AED4}"/>
              </a:ext>
            </a:extLst>
          </p:cNvPr>
          <p:cNvSpPr/>
          <p:nvPr/>
        </p:nvSpPr>
        <p:spPr>
          <a:xfrm>
            <a:off x="5175747" y="2106046"/>
            <a:ext cx="4059936" cy="384205"/>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アンケート回答・特定コンテンツのクリック・複数回のサイト訪問など、CVに近いアクションを検知した際に営業担当へ自動アラート。商談タイミングを逃さない。</a:t>
            </a:r>
            <a:endParaRPr lang="en-US" sz="1000" dirty="0">
              <a:latin typeface="メイリオ" panose="020B0604030504040204" pitchFamily="50" charset="-128"/>
              <a:ea typeface="メイリオ" panose="020B0604030504040204" pitchFamily="50" charset="-128"/>
            </a:endParaRPr>
          </a:p>
        </p:txBody>
      </p:sp>
      <p:sp>
        <p:nvSpPr>
          <p:cNvPr id="617" name="Shape 77">
            <a:extLst>
              <a:ext uri="{FF2B5EF4-FFF2-40B4-BE49-F238E27FC236}">
                <a16:creationId xmlns:a16="http://schemas.microsoft.com/office/drawing/2014/main" id="{AAC1844B-8885-A3DF-88B2-F8DB39D7D842}"/>
              </a:ext>
            </a:extLst>
          </p:cNvPr>
          <p:cNvSpPr/>
          <p:nvPr/>
        </p:nvSpPr>
        <p:spPr>
          <a:xfrm>
            <a:off x="5157459" y="2621391"/>
            <a:ext cx="1274064" cy="406805"/>
          </a:xfrm>
          <a:prstGeom prst="roundRect">
            <a:avLst>
              <a:gd name="adj" fmla="val 16667"/>
            </a:avLst>
          </a:prstGeom>
          <a:solidFill>
            <a:schemeClr val="tx1"/>
          </a:solidFill>
          <a:ln w="12700">
            <a:no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619" name="Text 78">
            <a:extLst>
              <a:ext uri="{FF2B5EF4-FFF2-40B4-BE49-F238E27FC236}">
                <a16:creationId xmlns:a16="http://schemas.microsoft.com/office/drawing/2014/main" id="{E6B184D6-84E5-DB05-766A-D1E68B869F8D}"/>
              </a:ext>
            </a:extLst>
          </p:cNvPr>
          <p:cNvSpPr/>
          <p:nvPr/>
        </p:nvSpPr>
        <p:spPr>
          <a:xfrm>
            <a:off x="5157459" y="2621391"/>
            <a:ext cx="1274064" cy="406805"/>
          </a:xfrm>
          <a:prstGeom prst="rect">
            <a:avLst/>
          </a:prstGeom>
          <a:noFill/>
          <a:ln/>
        </p:spPr>
        <p:txBody>
          <a:bodyPr wrap="square" lIns="0" tIns="0" rIns="0" bIns="0" rtlCol="0" anchor="ctr"/>
          <a:lstStyle/>
          <a:p>
            <a:pPr marL="0" indent="0" algn="ctr">
              <a:lnSpc>
                <a:spcPct val="115000"/>
              </a:lnSpc>
              <a:buNone/>
            </a:pPr>
            <a:r>
              <a:rPr lang="en-US" sz="1050" b="1" dirty="0" err="1">
                <a:solidFill>
                  <a:srgbClr val="FFFFFF"/>
                </a:solidFill>
                <a:latin typeface="メイリオ" panose="020B0604030504040204" pitchFamily="50" charset="-128"/>
                <a:ea typeface="メイリオ" panose="020B0604030504040204" pitchFamily="50" charset="-128"/>
                <a:cs typeface="Calibri" pitchFamily="34" charset="-120"/>
              </a:rPr>
              <a:t>行動スコア計測</a:t>
            </a:r>
            <a:endParaRPr lang="en-US" sz="1050" dirty="0">
              <a:latin typeface="メイリオ" panose="020B0604030504040204" pitchFamily="50" charset="-128"/>
              <a:ea typeface="メイリオ" panose="020B0604030504040204" pitchFamily="50" charset="-128"/>
            </a:endParaRPr>
          </a:p>
        </p:txBody>
      </p:sp>
      <p:sp>
        <p:nvSpPr>
          <p:cNvPr id="621" name="Shape 79">
            <a:extLst>
              <a:ext uri="{FF2B5EF4-FFF2-40B4-BE49-F238E27FC236}">
                <a16:creationId xmlns:a16="http://schemas.microsoft.com/office/drawing/2014/main" id="{1CC3FE20-C3AA-8956-0689-74FD2017633E}"/>
              </a:ext>
            </a:extLst>
          </p:cNvPr>
          <p:cNvSpPr/>
          <p:nvPr/>
        </p:nvSpPr>
        <p:spPr>
          <a:xfrm>
            <a:off x="6431523" y="2755954"/>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623" name="Text 80">
            <a:extLst>
              <a:ext uri="{FF2B5EF4-FFF2-40B4-BE49-F238E27FC236}">
                <a16:creationId xmlns:a16="http://schemas.microsoft.com/office/drawing/2014/main" id="{9AC9454B-847A-EEEC-85FF-D2119E030598}"/>
              </a:ext>
            </a:extLst>
          </p:cNvPr>
          <p:cNvSpPr/>
          <p:nvPr/>
        </p:nvSpPr>
        <p:spPr>
          <a:xfrm>
            <a:off x="6431523" y="2755954"/>
            <a:ext cx="91440" cy="180802"/>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1000" dirty="0">
              <a:latin typeface="メイリオ" panose="020B0604030504040204" pitchFamily="50" charset="-128"/>
              <a:ea typeface="メイリオ" panose="020B0604030504040204" pitchFamily="50" charset="-128"/>
            </a:endParaRPr>
          </a:p>
        </p:txBody>
      </p:sp>
      <p:sp>
        <p:nvSpPr>
          <p:cNvPr id="625" name="Shape 81">
            <a:extLst>
              <a:ext uri="{FF2B5EF4-FFF2-40B4-BE49-F238E27FC236}">
                <a16:creationId xmlns:a16="http://schemas.microsoft.com/office/drawing/2014/main" id="{60491B0C-3EEB-681C-1D47-8D098E8FA7D8}"/>
              </a:ext>
            </a:extLst>
          </p:cNvPr>
          <p:cNvSpPr/>
          <p:nvPr/>
        </p:nvSpPr>
        <p:spPr>
          <a:xfrm>
            <a:off x="6522963" y="2621391"/>
            <a:ext cx="1274064" cy="406805"/>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閾値超えで検知</a:t>
            </a:r>
            <a:endParaRPr lang="en-US" altLang="ja-JP" sz="1050" dirty="0">
              <a:latin typeface="メイリオ" panose="020B0604030504040204" pitchFamily="50" charset="-128"/>
              <a:ea typeface="メイリオ" panose="020B0604030504040204" pitchFamily="50" charset="-128"/>
            </a:endParaRPr>
          </a:p>
        </p:txBody>
      </p:sp>
      <p:sp>
        <p:nvSpPr>
          <p:cNvPr id="629" name="Shape 83">
            <a:extLst>
              <a:ext uri="{FF2B5EF4-FFF2-40B4-BE49-F238E27FC236}">
                <a16:creationId xmlns:a16="http://schemas.microsoft.com/office/drawing/2014/main" id="{4B84A085-A08B-402E-675A-39F203C58877}"/>
              </a:ext>
            </a:extLst>
          </p:cNvPr>
          <p:cNvSpPr/>
          <p:nvPr/>
        </p:nvSpPr>
        <p:spPr>
          <a:xfrm>
            <a:off x="7797027" y="2755954"/>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631" name="Text 84">
            <a:extLst>
              <a:ext uri="{FF2B5EF4-FFF2-40B4-BE49-F238E27FC236}">
                <a16:creationId xmlns:a16="http://schemas.microsoft.com/office/drawing/2014/main" id="{73ACF39F-9B9B-5BCF-7511-91DAC982D28F}"/>
              </a:ext>
            </a:extLst>
          </p:cNvPr>
          <p:cNvSpPr/>
          <p:nvPr/>
        </p:nvSpPr>
        <p:spPr>
          <a:xfrm>
            <a:off x="7797027" y="2755954"/>
            <a:ext cx="91440" cy="180802"/>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1000" dirty="0">
              <a:latin typeface="メイリオ" panose="020B0604030504040204" pitchFamily="50" charset="-128"/>
              <a:ea typeface="メイリオ" panose="020B0604030504040204" pitchFamily="50" charset="-128"/>
            </a:endParaRPr>
          </a:p>
        </p:txBody>
      </p:sp>
      <p:sp>
        <p:nvSpPr>
          <p:cNvPr id="633" name="Shape 85">
            <a:extLst>
              <a:ext uri="{FF2B5EF4-FFF2-40B4-BE49-F238E27FC236}">
                <a16:creationId xmlns:a16="http://schemas.microsoft.com/office/drawing/2014/main" id="{260C63D6-01F1-691F-333C-A703B453DFD3}"/>
              </a:ext>
            </a:extLst>
          </p:cNvPr>
          <p:cNvSpPr/>
          <p:nvPr/>
        </p:nvSpPr>
        <p:spPr>
          <a:xfrm>
            <a:off x="7888467" y="2621391"/>
            <a:ext cx="1274064" cy="406805"/>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スタッフに</a:t>
            </a:r>
            <a:endParaRPr lang="en-US" altLang="ja-JP" sz="1050" b="1" dirty="0">
              <a:solidFill>
                <a:srgbClr val="FFFFFF"/>
              </a:solidFill>
              <a:latin typeface="メイリオ" panose="020B0604030504040204" pitchFamily="50" charset="-128"/>
              <a:ea typeface="メイリオ" panose="020B0604030504040204" pitchFamily="50" charset="-128"/>
              <a:cs typeface="Calibri" pitchFamily="34" charset="-120"/>
            </a:endParaRPr>
          </a:p>
          <a:p>
            <a:pPr algn="ctr">
              <a:lnSpc>
                <a:spcPct val="115000"/>
              </a:lnSpc>
            </a:pP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アラート</a:t>
            </a:r>
            <a:endParaRPr lang="en-US" altLang="ja-JP" sz="1050" dirty="0">
              <a:latin typeface="メイリオ" panose="020B0604030504040204" pitchFamily="50" charset="-128"/>
              <a:ea typeface="メイリオ" panose="020B0604030504040204" pitchFamily="50" charset="-128"/>
            </a:endParaRPr>
          </a:p>
        </p:txBody>
      </p:sp>
      <p:sp>
        <p:nvSpPr>
          <p:cNvPr id="637" name="Shape 87">
            <a:extLst>
              <a:ext uri="{FF2B5EF4-FFF2-40B4-BE49-F238E27FC236}">
                <a16:creationId xmlns:a16="http://schemas.microsoft.com/office/drawing/2014/main" id="{784BB10F-3251-36CA-8B39-87931A158145}"/>
              </a:ext>
            </a:extLst>
          </p:cNvPr>
          <p:cNvSpPr/>
          <p:nvPr/>
        </p:nvSpPr>
        <p:spPr>
          <a:xfrm>
            <a:off x="5066019" y="3160341"/>
            <a:ext cx="4279392" cy="1446419"/>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41" name="Shape 89">
            <a:extLst>
              <a:ext uri="{FF2B5EF4-FFF2-40B4-BE49-F238E27FC236}">
                <a16:creationId xmlns:a16="http://schemas.microsoft.com/office/drawing/2014/main" id="{00DC0A3B-4000-F47D-3213-A4E96634D97B}"/>
              </a:ext>
            </a:extLst>
          </p:cNvPr>
          <p:cNvSpPr/>
          <p:nvPr/>
        </p:nvSpPr>
        <p:spPr>
          <a:xfrm>
            <a:off x="5194035" y="3202373"/>
            <a:ext cx="274320" cy="339004"/>
          </a:xfrm>
          <a:prstGeom prst="ellipse">
            <a:avLst/>
          </a:prstGeom>
          <a:solidFill>
            <a:schemeClr val="tx1"/>
          </a:solidFill>
          <a:ln w="12700">
            <a:no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43" name="Text 90">
            <a:extLst>
              <a:ext uri="{FF2B5EF4-FFF2-40B4-BE49-F238E27FC236}">
                <a16:creationId xmlns:a16="http://schemas.microsoft.com/office/drawing/2014/main" id="{B83E96EB-4D94-8784-7634-300FB4B3D87E}"/>
              </a:ext>
            </a:extLst>
          </p:cNvPr>
          <p:cNvSpPr/>
          <p:nvPr/>
        </p:nvSpPr>
        <p:spPr>
          <a:xfrm>
            <a:off x="5194035" y="3202373"/>
            <a:ext cx="274320" cy="339004"/>
          </a:xfrm>
          <a:prstGeom prst="rect">
            <a:avLst/>
          </a:prstGeom>
          <a:noFill/>
          <a:ln>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1050" dirty="0">
              <a:latin typeface="メイリオ" panose="020B0604030504040204" pitchFamily="50" charset="-128"/>
              <a:ea typeface="メイリオ" panose="020B0604030504040204" pitchFamily="50" charset="-128"/>
            </a:endParaRPr>
          </a:p>
        </p:txBody>
      </p:sp>
      <p:sp>
        <p:nvSpPr>
          <p:cNvPr id="645" name="Shape 91">
            <a:extLst>
              <a:ext uri="{FF2B5EF4-FFF2-40B4-BE49-F238E27FC236}">
                <a16:creationId xmlns:a16="http://schemas.microsoft.com/office/drawing/2014/main" id="{46886788-FBC0-BB7D-8B57-0602CB1FB3B4}"/>
              </a:ext>
            </a:extLst>
          </p:cNvPr>
          <p:cNvSpPr/>
          <p:nvPr/>
        </p:nvSpPr>
        <p:spPr>
          <a:xfrm>
            <a:off x="5541507" y="3247054"/>
            <a:ext cx="859536" cy="248603"/>
          </a:xfrm>
          <a:prstGeom prst="roundRect">
            <a:avLst>
              <a:gd name="adj" fmla="val 18182"/>
            </a:avLst>
          </a:prstGeom>
          <a:solidFill>
            <a:srgbClr val="F7F7F9"/>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47" name="Text 92">
            <a:extLst>
              <a:ext uri="{FF2B5EF4-FFF2-40B4-BE49-F238E27FC236}">
                <a16:creationId xmlns:a16="http://schemas.microsoft.com/office/drawing/2014/main" id="{FAEBC937-35CD-96F3-EB63-7A55072A57D0}"/>
              </a:ext>
            </a:extLst>
          </p:cNvPr>
          <p:cNvSpPr/>
          <p:nvPr/>
        </p:nvSpPr>
        <p:spPr>
          <a:xfrm>
            <a:off x="5486643" y="3247054"/>
            <a:ext cx="859536" cy="248603"/>
          </a:xfrm>
          <a:prstGeom prst="rect">
            <a:avLst/>
          </a:prstGeom>
          <a:solidFill>
            <a:schemeClr val="tx2"/>
          </a:solid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BOT×有人切替</a:t>
            </a:r>
            <a:endParaRPr lang="en-US" sz="900" dirty="0">
              <a:solidFill>
                <a:srgbClr val="FDFDFD"/>
              </a:solidFill>
              <a:latin typeface="メイリオ" panose="020B0604030504040204" pitchFamily="50" charset="-128"/>
              <a:ea typeface="メイリオ" panose="020B0604030504040204" pitchFamily="50" charset="-128"/>
            </a:endParaRPr>
          </a:p>
        </p:txBody>
      </p:sp>
      <p:sp>
        <p:nvSpPr>
          <p:cNvPr id="649" name="Text 93">
            <a:extLst>
              <a:ext uri="{FF2B5EF4-FFF2-40B4-BE49-F238E27FC236}">
                <a16:creationId xmlns:a16="http://schemas.microsoft.com/office/drawing/2014/main" id="{67BE3A5A-F652-950D-998F-E17F2540B5B5}"/>
              </a:ext>
            </a:extLst>
          </p:cNvPr>
          <p:cNvSpPr/>
          <p:nvPr/>
        </p:nvSpPr>
        <p:spPr>
          <a:xfrm>
            <a:off x="6455907" y="3206685"/>
            <a:ext cx="2798064" cy="316404"/>
          </a:xfrm>
          <a:prstGeom prst="rect">
            <a:avLst/>
          </a:prstGeom>
          <a:noFill/>
          <a:ln/>
        </p:spPr>
        <p:txBody>
          <a:bodyPr wrap="square" lIns="0" tIns="0" rIns="0" bIns="0" rtlCol="0" anchor="ctr"/>
          <a:lstStyle/>
          <a:p>
            <a:pPr marL="0" indent="0">
              <a:buNone/>
            </a:pPr>
            <a:r>
              <a:rPr lang="en-US" sz="1100" b="1" dirty="0" err="1">
                <a:solidFill>
                  <a:srgbClr val="1A1A2E"/>
                </a:solidFill>
                <a:latin typeface="メイリオ" panose="020B0604030504040204" pitchFamily="50" charset="-128"/>
                <a:ea typeface="メイリオ" panose="020B0604030504040204" pitchFamily="50" charset="-128"/>
                <a:cs typeface="Calibri" pitchFamily="34" charset="-120"/>
              </a:rPr>
              <a:t>BOT初期対応</a:t>
            </a:r>
            <a:endParaRPr lang="en-US" sz="1100" b="1" dirty="0">
              <a:solidFill>
                <a:srgbClr val="1A1A2E"/>
              </a:solidFill>
              <a:latin typeface="メイリオ" panose="020B0604030504040204" pitchFamily="50" charset="-128"/>
              <a:ea typeface="メイリオ" panose="020B0604030504040204" pitchFamily="50" charset="-128"/>
              <a:cs typeface="Calibri" pitchFamily="34" charset="-120"/>
            </a:endParaRPr>
          </a:p>
          <a:p>
            <a:pPr marL="0" indent="0">
              <a:buNone/>
            </a:pP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　</a:t>
            </a: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→温度感に応じて人に切り替える</a:t>
            </a:r>
            <a:endParaRPr lang="en-US" sz="1100" dirty="0">
              <a:latin typeface="メイリオ" panose="020B0604030504040204" pitchFamily="50" charset="-128"/>
              <a:ea typeface="メイリオ" panose="020B0604030504040204" pitchFamily="50" charset="-128"/>
            </a:endParaRPr>
          </a:p>
        </p:txBody>
      </p:sp>
      <p:sp>
        <p:nvSpPr>
          <p:cNvPr id="651" name="Text 94">
            <a:extLst>
              <a:ext uri="{FF2B5EF4-FFF2-40B4-BE49-F238E27FC236}">
                <a16:creationId xmlns:a16="http://schemas.microsoft.com/office/drawing/2014/main" id="{AFBBE4E7-B1A7-4292-09B1-18137ED8D42D}"/>
              </a:ext>
            </a:extLst>
          </p:cNvPr>
          <p:cNvSpPr/>
          <p:nvPr/>
        </p:nvSpPr>
        <p:spPr>
          <a:xfrm>
            <a:off x="5175747" y="3609802"/>
            <a:ext cx="4059936" cy="384205"/>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最初の問い合わせはBOTで自動対応しつつ、「今すぐ相談したい」「詳しく聞きたい」等のキーワードや返信内容に応じてスタッフのチャット対応に切り替える二段構えの設計。</a:t>
            </a:r>
            <a:endParaRPr lang="en-US" sz="1000" dirty="0">
              <a:latin typeface="メイリオ" panose="020B0604030504040204" pitchFamily="50" charset="-128"/>
              <a:ea typeface="メイリオ" panose="020B0604030504040204" pitchFamily="50" charset="-128"/>
            </a:endParaRPr>
          </a:p>
        </p:txBody>
      </p:sp>
      <p:sp>
        <p:nvSpPr>
          <p:cNvPr id="653" name="Shape 95">
            <a:extLst>
              <a:ext uri="{FF2B5EF4-FFF2-40B4-BE49-F238E27FC236}">
                <a16:creationId xmlns:a16="http://schemas.microsoft.com/office/drawing/2014/main" id="{39FA8CE3-0F53-8CA9-1EA5-539561B76F93}"/>
              </a:ext>
            </a:extLst>
          </p:cNvPr>
          <p:cNvSpPr/>
          <p:nvPr/>
        </p:nvSpPr>
        <p:spPr>
          <a:xfrm>
            <a:off x="5157459" y="4158910"/>
            <a:ext cx="1274064" cy="406805"/>
          </a:xfrm>
          <a:prstGeom prst="roundRect">
            <a:avLst>
              <a:gd name="adj" fmla="val 16667"/>
            </a:avLst>
          </a:prstGeom>
          <a:solidFill>
            <a:schemeClr val="tx1"/>
          </a:solidFill>
          <a:ln w="12700">
            <a:no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655" name="Text 96">
            <a:extLst>
              <a:ext uri="{FF2B5EF4-FFF2-40B4-BE49-F238E27FC236}">
                <a16:creationId xmlns:a16="http://schemas.microsoft.com/office/drawing/2014/main" id="{E655B7A0-C9A5-CF91-16E4-1895DE139666}"/>
              </a:ext>
            </a:extLst>
          </p:cNvPr>
          <p:cNvSpPr/>
          <p:nvPr/>
        </p:nvSpPr>
        <p:spPr>
          <a:xfrm>
            <a:off x="5157459" y="4158910"/>
            <a:ext cx="1274064" cy="406805"/>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BOT自動対応</a:t>
            </a:r>
            <a:endParaRPr lang="en-US" sz="1050" dirty="0">
              <a:latin typeface="メイリオ" panose="020B0604030504040204" pitchFamily="50" charset="-128"/>
              <a:ea typeface="メイリオ" panose="020B0604030504040204" pitchFamily="50" charset="-128"/>
            </a:endParaRPr>
          </a:p>
        </p:txBody>
      </p:sp>
      <p:sp>
        <p:nvSpPr>
          <p:cNvPr id="657" name="Shape 97">
            <a:extLst>
              <a:ext uri="{FF2B5EF4-FFF2-40B4-BE49-F238E27FC236}">
                <a16:creationId xmlns:a16="http://schemas.microsoft.com/office/drawing/2014/main" id="{1626AF9B-240E-5BE3-7DCD-12861D786B24}"/>
              </a:ext>
            </a:extLst>
          </p:cNvPr>
          <p:cNvSpPr/>
          <p:nvPr/>
        </p:nvSpPr>
        <p:spPr>
          <a:xfrm>
            <a:off x="6431523" y="4293473"/>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659" name="Text 98">
            <a:extLst>
              <a:ext uri="{FF2B5EF4-FFF2-40B4-BE49-F238E27FC236}">
                <a16:creationId xmlns:a16="http://schemas.microsoft.com/office/drawing/2014/main" id="{42A3A949-F941-32D9-7509-689D4FFFDFB7}"/>
              </a:ext>
            </a:extLst>
          </p:cNvPr>
          <p:cNvSpPr/>
          <p:nvPr/>
        </p:nvSpPr>
        <p:spPr>
          <a:xfrm>
            <a:off x="6431523" y="4293473"/>
            <a:ext cx="91440" cy="180802"/>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1000" dirty="0">
              <a:latin typeface="メイリオ" panose="020B0604030504040204" pitchFamily="50" charset="-128"/>
              <a:ea typeface="メイリオ" panose="020B0604030504040204" pitchFamily="50" charset="-128"/>
            </a:endParaRPr>
          </a:p>
        </p:txBody>
      </p:sp>
      <p:sp>
        <p:nvSpPr>
          <p:cNvPr id="661" name="Shape 99">
            <a:extLst>
              <a:ext uri="{FF2B5EF4-FFF2-40B4-BE49-F238E27FC236}">
                <a16:creationId xmlns:a16="http://schemas.microsoft.com/office/drawing/2014/main" id="{6DE99E7F-7471-D525-A123-D720FA6FA9B5}"/>
              </a:ext>
            </a:extLst>
          </p:cNvPr>
          <p:cNvSpPr/>
          <p:nvPr/>
        </p:nvSpPr>
        <p:spPr>
          <a:xfrm>
            <a:off x="6522963" y="4158910"/>
            <a:ext cx="1274064" cy="406805"/>
          </a:xfrm>
          <a:prstGeom prst="roundRect">
            <a:avLst>
              <a:gd name="adj" fmla="val 16667"/>
            </a:avLst>
          </a:prstGeom>
          <a:solidFill>
            <a:schemeClr val="tx1"/>
          </a:solidFill>
          <a:ln w="12700">
            <a:no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663" name="Text 100">
            <a:extLst>
              <a:ext uri="{FF2B5EF4-FFF2-40B4-BE49-F238E27FC236}">
                <a16:creationId xmlns:a16="http://schemas.microsoft.com/office/drawing/2014/main" id="{9B9F0FB1-A7C2-521A-B063-2941776A633E}"/>
              </a:ext>
            </a:extLst>
          </p:cNvPr>
          <p:cNvSpPr/>
          <p:nvPr/>
        </p:nvSpPr>
        <p:spPr>
          <a:xfrm>
            <a:off x="6522963" y="4158910"/>
            <a:ext cx="1274064" cy="406805"/>
          </a:xfrm>
          <a:prstGeom prst="rect">
            <a:avLst/>
          </a:prstGeom>
          <a:noFill/>
          <a:ln>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温度感判定</a:t>
            </a:r>
            <a:endParaRPr lang="en-US" sz="1050" dirty="0">
              <a:latin typeface="メイリオ" panose="020B0604030504040204" pitchFamily="50" charset="-128"/>
              <a:ea typeface="メイリオ" panose="020B0604030504040204" pitchFamily="50" charset="-128"/>
            </a:endParaRPr>
          </a:p>
        </p:txBody>
      </p:sp>
      <p:sp>
        <p:nvSpPr>
          <p:cNvPr id="665" name="Shape 101">
            <a:extLst>
              <a:ext uri="{FF2B5EF4-FFF2-40B4-BE49-F238E27FC236}">
                <a16:creationId xmlns:a16="http://schemas.microsoft.com/office/drawing/2014/main" id="{9339D2EE-CDD4-3AA6-FBFA-6A18F1CC0246}"/>
              </a:ext>
            </a:extLst>
          </p:cNvPr>
          <p:cNvSpPr/>
          <p:nvPr/>
        </p:nvSpPr>
        <p:spPr>
          <a:xfrm>
            <a:off x="7797027" y="4293473"/>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667" name="Text 102">
            <a:extLst>
              <a:ext uri="{FF2B5EF4-FFF2-40B4-BE49-F238E27FC236}">
                <a16:creationId xmlns:a16="http://schemas.microsoft.com/office/drawing/2014/main" id="{851DC5F9-D2E2-AB8D-5270-F12410849762}"/>
              </a:ext>
            </a:extLst>
          </p:cNvPr>
          <p:cNvSpPr/>
          <p:nvPr/>
        </p:nvSpPr>
        <p:spPr>
          <a:xfrm>
            <a:off x="7797027" y="4293473"/>
            <a:ext cx="91440" cy="180802"/>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1000" dirty="0">
              <a:latin typeface="メイリオ" panose="020B0604030504040204" pitchFamily="50" charset="-128"/>
              <a:ea typeface="メイリオ" panose="020B0604030504040204" pitchFamily="50" charset="-128"/>
            </a:endParaRPr>
          </a:p>
        </p:txBody>
      </p:sp>
      <p:sp>
        <p:nvSpPr>
          <p:cNvPr id="669" name="Shape 103">
            <a:extLst>
              <a:ext uri="{FF2B5EF4-FFF2-40B4-BE49-F238E27FC236}">
                <a16:creationId xmlns:a16="http://schemas.microsoft.com/office/drawing/2014/main" id="{CA3E34EC-809E-1460-AF84-01892AC164A2}"/>
              </a:ext>
            </a:extLst>
          </p:cNvPr>
          <p:cNvSpPr/>
          <p:nvPr/>
        </p:nvSpPr>
        <p:spPr>
          <a:xfrm>
            <a:off x="7888467" y="4158910"/>
            <a:ext cx="1274064" cy="406805"/>
          </a:xfrm>
          <a:prstGeom prst="roundRect">
            <a:avLst>
              <a:gd name="adj" fmla="val 16667"/>
            </a:avLst>
          </a:prstGeom>
          <a:solidFill>
            <a:schemeClr val="tx1"/>
          </a:solidFill>
          <a:ln w="12700">
            <a:no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671" name="Text 104">
            <a:extLst>
              <a:ext uri="{FF2B5EF4-FFF2-40B4-BE49-F238E27FC236}">
                <a16:creationId xmlns:a16="http://schemas.microsoft.com/office/drawing/2014/main" id="{92D817DE-E3E0-0210-118B-E88552E70384}"/>
              </a:ext>
            </a:extLst>
          </p:cNvPr>
          <p:cNvSpPr/>
          <p:nvPr/>
        </p:nvSpPr>
        <p:spPr>
          <a:xfrm>
            <a:off x="7888467" y="4158910"/>
            <a:ext cx="1274064" cy="406805"/>
          </a:xfrm>
          <a:prstGeom prst="rect">
            <a:avLst/>
          </a:prstGeom>
          <a:noFill/>
          <a:ln>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有人チャット切替</a:t>
            </a:r>
            <a:endParaRPr lang="en-US" sz="1050" dirty="0">
              <a:latin typeface="メイリオ" panose="020B0604030504040204" pitchFamily="50" charset="-128"/>
              <a:ea typeface="メイリオ" panose="020B0604030504040204" pitchFamily="50" charset="-128"/>
            </a:endParaRPr>
          </a:p>
        </p:txBody>
      </p:sp>
      <p:sp>
        <p:nvSpPr>
          <p:cNvPr id="673" name="Shape 105">
            <a:extLst>
              <a:ext uri="{FF2B5EF4-FFF2-40B4-BE49-F238E27FC236}">
                <a16:creationId xmlns:a16="http://schemas.microsoft.com/office/drawing/2014/main" id="{81CD6781-0482-CB41-CA37-3520B7496A5A}"/>
              </a:ext>
            </a:extLst>
          </p:cNvPr>
          <p:cNvSpPr/>
          <p:nvPr/>
        </p:nvSpPr>
        <p:spPr>
          <a:xfrm>
            <a:off x="5066019" y="4709813"/>
            <a:ext cx="4279392" cy="1446419"/>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77" name="Shape 107">
            <a:extLst>
              <a:ext uri="{FF2B5EF4-FFF2-40B4-BE49-F238E27FC236}">
                <a16:creationId xmlns:a16="http://schemas.microsoft.com/office/drawing/2014/main" id="{A81AEAB6-AD7E-F31B-0ADE-5C7B295D5EA4}"/>
              </a:ext>
            </a:extLst>
          </p:cNvPr>
          <p:cNvSpPr/>
          <p:nvPr/>
        </p:nvSpPr>
        <p:spPr>
          <a:xfrm>
            <a:off x="5169651" y="4751221"/>
            <a:ext cx="274320" cy="339004"/>
          </a:xfrm>
          <a:prstGeom prst="ellipse">
            <a:avLst/>
          </a:prstGeom>
          <a:solidFill>
            <a:schemeClr val="tx1"/>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679" name="Text 108">
            <a:extLst>
              <a:ext uri="{FF2B5EF4-FFF2-40B4-BE49-F238E27FC236}">
                <a16:creationId xmlns:a16="http://schemas.microsoft.com/office/drawing/2014/main" id="{64AA460F-920B-4702-F2D6-9DC6134F10FA}"/>
              </a:ext>
            </a:extLst>
          </p:cNvPr>
          <p:cNvSpPr/>
          <p:nvPr/>
        </p:nvSpPr>
        <p:spPr>
          <a:xfrm>
            <a:off x="5169651" y="4751221"/>
            <a:ext cx="274320" cy="339004"/>
          </a:xfrm>
          <a:prstGeom prst="rect">
            <a:avLst/>
          </a:prstGeom>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1100" dirty="0">
              <a:latin typeface="メイリオ" panose="020B0604030504040204" pitchFamily="50" charset="-128"/>
              <a:ea typeface="メイリオ" panose="020B0604030504040204" pitchFamily="50" charset="-128"/>
            </a:endParaRPr>
          </a:p>
        </p:txBody>
      </p:sp>
      <p:sp>
        <p:nvSpPr>
          <p:cNvPr id="681" name="Shape 109">
            <a:extLst>
              <a:ext uri="{FF2B5EF4-FFF2-40B4-BE49-F238E27FC236}">
                <a16:creationId xmlns:a16="http://schemas.microsoft.com/office/drawing/2014/main" id="{A7159021-040A-B966-0BEA-A487B1880278}"/>
              </a:ext>
            </a:extLst>
          </p:cNvPr>
          <p:cNvSpPr/>
          <p:nvPr/>
        </p:nvSpPr>
        <p:spPr>
          <a:xfrm>
            <a:off x="5517123" y="4795902"/>
            <a:ext cx="859536" cy="248603"/>
          </a:xfrm>
          <a:prstGeom prst="roundRect">
            <a:avLst>
              <a:gd name="adj" fmla="val 18182"/>
            </a:avLst>
          </a:prstGeom>
          <a:solidFill>
            <a:srgbClr val="F7F7F9"/>
          </a:solidFill>
          <a:ln w="12700">
            <a:solidFill>
              <a:srgbClr val="D8D8E2"/>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683" name="Text 110">
            <a:extLst>
              <a:ext uri="{FF2B5EF4-FFF2-40B4-BE49-F238E27FC236}">
                <a16:creationId xmlns:a16="http://schemas.microsoft.com/office/drawing/2014/main" id="{54E3A1A7-41A3-D934-7220-35DFA71C0D16}"/>
              </a:ext>
            </a:extLst>
          </p:cNvPr>
          <p:cNvSpPr/>
          <p:nvPr/>
        </p:nvSpPr>
        <p:spPr>
          <a:xfrm>
            <a:off x="5486643" y="4795902"/>
            <a:ext cx="890016" cy="248603"/>
          </a:xfrm>
          <a:prstGeom prst="rect">
            <a:avLst/>
          </a:prstGeom>
          <a:solidFill>
            <a:schemeClr val="tx2"/>
          </a:solidFill>
          <a:ln/>
        </p:spPr>
        <p:txBody>
          <a:bodyPr wrap="square" lIns="0" tIns="0" rIns="0" bIns="0" rtlCol="0" anchor="ctr"/>
          <a:lstStyle/>
          <a:p>
            <a:pPr marL="0" indent="0" algn="ctr">
              <a:buNone/>
            </a:pPr>
            <a:r>
              <a:rPr lang="en-US" sz="1000" b="1" dirty="0">
                <a:solidFill>
                  <a:srgbClr val="FDFDFD"/>
                </a:solidFill>
                <a:latin typeface="メイリオ" panose="020B0604030504040204" pitchFamily="50" charset="-128"/>
                <a:ea typeface="メイリオ" panose="020B0604030504040204" pitchFamily="50" charset="-128"/>
                <a:cs typeface="Calibri" pitchFamily="34" charset="-120"/>
              </a:rPr>
              <a:t>CV前プッシュ</a:t>
            </a:r>
            <a:endParaRPr lang="en-US" sz="1000" dirty="0">
              <a:solidFill>
                <a:srgbClr val="FDFDFD"/>
              </a:solidFill>
              <a:latin typeface="メイリオ" panose="020B0604030504040204" pitchFamily="50" charset="-128"/>
              <a:ea typeface="メイリオ" panose="020B0604030504040204" pitchFamily="50" charset="-128"/>
            </a:endParaRPr>
          </a:p>
        </p:txBody>
      </p:sp>
      <p:sp>
        <p:nvSpPr>
          <p:cNvPr id="685" name="Text 111">
            <a:extLst>
              <a:ext uri="{FF2B5EF4-FFF2-40B4-BE49-F238E27FC236}">
                <a16:creationId xmlns:a16="http://schemas.microsoft.com/office/drawing/2014/main" id="{F45F7554-888D-796D-0EEB-97F748D6AF65}"/>
              </a:ext>
            </a:extLst>
          </p:cNvPr>
          <p:cNvSpPr/>
          <p:nvPr/>
        </p:nvSpPr>
        <p:spPr>
          <a:xfrm>
            <a:off x="6431523" y="4755533"/>
            <a:ext cx="3054724" cy="316404"/>
          </a:xfrm>
          <a:prstGeom prst="rect">
            <a:avLst/>
          </a:prstGeom>
          <a:noFill/>
          <a:ln/>
        </p:spPr>
        <p:txBody>
          <a:bodyPr wrap="square" lIns="0" tIns="0" rIns="0" bIns="0" rtlCol="0" anchor="ctr"/>
          <a:lstStyle/>
          <a:p>
            <a:pPr marL="0" indent="0">
              <a:buNone/>
            </a:pPr>
            <a:r>
              <a:rPr lang="en-US" sz="1100" b="1" dirty="0" err="1">
                <a:solidFill>
                  <a:srgbClr val="1A1A2E"/>
                </a:solidFill>
                <a:latin typeface="メイリオ" panose="020B0604030504040204" pitchFamily="50" charset="-128"/>
                <a:ea typeface="メイリオ" panose="020B0604030504040204" pitchFamily="50" charset="-128"/>
                <a:cs typeface="Calibri" pitchFamily="34" charset="-120"/>
              </a:rPr>
              <a:t>購入・申込前</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の検討</a:t>
            </a:r>
            <a:r>
              <a:rPr lang="en-US" sz="1100" b="1" dirty="0" err="1">
                <a:solidFill>
                  <a:srgbClr val="1A1A2E"/>
                </a:solidFill>
                <a:latin typeface="メイリオ" panose="020B0604030504040204" pitchFamily="50" charset="-128"/>
                <a:ea typeface="メイリオ" panose="020B0604030504040204" pitchFamily="50" charset="-128"/>
                <a:cs typeface="Calibri" pitchFamily="34" charset="-120"/>
              </a:rPr>
              <a:t>ユーザーへ自動フォロ</a:t>
            </a: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ー</a:t>
            </a:r>
            <a:endParaRPr lang="en-US" sz="1100" dirty="0">
              <a:latin typeface="メイリオ" panose="020B0604030504040204" pitchFamily="50" charset="-128"/>
              <a:ea typeface="メイリオ" panose="020B0604030504040204" pitchFamily="50" charset="-128"/>
            </a:endParaRPr>
          </a:p>
        </p:txBody>
      </p:sp>
      <p:sp>
        <p:nvSpPr>
          <p:cNvPr id="687" name="Text 112">
            <a:extLst>
              <a:ext uri="{FF2B5EF4-FFF2-40B4-BE49-F238E27FC236}">
                <a16:creationId xmlns:a16="http://schemas.microsoft.com/office/drawing/2014/main" id="{70BE181D-BA19-893E-1406-EC150E011C61}"/>
              </a:ext>
            </a:extLst>
          </p:cNvPr>
          <p:cNvSpPr/>
          <p:nvPr/>
        </p:nvSpPr>
        <p:spPr>
          <a:xfrm>
            <a:off x="5175747" y="5163094"/>
            <a:ext cx="4059936" cy="384205"/>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特定LPを複数回閲覧・カートに入れたまま未購入等をトリガーに「ご不明な点はありますか？」とLINEから自動チャット誘導し、最後の一押しをする。</a:t>
            </a:r>
            <a:endParaRPr lang="en-US" sz="1000" dirty="0">
              <a:latin typeface="メイリオ" panose="020B0604030504040204" pitchFamily="50" charset="-128"/>
              <a:ea typeface="メイリオ" panose="020B0604030504040204" pitchFamily="50" charset="-128"/>
            </a:endParaRPr>
          </a:p>
        </p:txBody>
      </p:sp>
      <p:sp>
        <p:nvSpPr>
          <p:cNvPr id="689" name="Shape 113">
            <a:extLst>
              <a:ext uri="{FF2B5EF4-FFF2-40B4-BE49-F238E27FC236}">
                <a16:creationId xmlns:a16="http://schemas.microsoft.com/office/drawing/2014/main" id="{ECAFE45D-D34B-EFFC-7D25-B08BEE20AEF6}"/>
              </a:ext>
            </a:extLst>
          </p:cNvPr>
          <p:cNvSpPr/>
          <p:nvPr/>
        </p:nvSpPr>
        <p:spPr>
          <a:xfrm>
            <a:off x="5157459" y="5676275"/>
            <a:ext cx="1274064" cy="406805"/>
          </a:xfrm>
          <a:prstGeom prst="roundRect">
            <a:avLst>
              <a:gd name="adj" fmla="val 16667"/>
            </a:avLst>
          </a:prstGeom>
          <a:solidFill>
            <a:schemeClr val="tx1"/>
          </a:solidFill>
          <a:ln w="12700">
            <a:no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691" name="Text 114">
            <a:extLst>
              <a:ext uri="{FF2B5EF4-FFF2-40B4-BE49-F238E27FC236}">
                <a16:creationId xmlns:a16="http://schemas.microsoft.com/office/drawing/2014/main" id="{6B779C85-BD07-0168-5453-28C423513F9D}"/>
              </a:ext>
            </a:extLst>
          </p:cNvPr>
          <p:cNvSpPr/>
          <p:nvPr/>
        </p:nvSpPr>
        <p:spPr>
          <a:xfrm>
            <a:off x="5157459" y="5676275"/>
            <a:ext cx="1274064" cy="406805"/>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行動トリガー検知</a:t>
            </a:r>
            <a:endParaRPr lang="en-US" sz="1000" dirty="0">
              <a:latin typeface="メイリオ" panose="020B0604030504040204" pitchFamily="50" charset="-128"/>
              <a:ea typeface="メイリオ" panose="020B0604030504040204" pitchFamily="50" charset="-128"/>
            </a:endParaRPr>
          </a:p>
        </p:txBody>
      </p:sp>
      <p:sp>
        <p:nvSpPr>
          <p:cNvPr id="697" name="Shape 117">
            <a:extLst>
              <a:ext uri="{FF2B5EF4-FFF2-40B4-BE49-F238E27FC236}">
                <a16:creationId xmlns:a16="http://schemas.microsoft.com/office/drawing/2014/main" id="{74895763-F19D-BB26-23E9-71C875568975}"/>
              </a:ext>
            </a:extLst>
          </p:cNvPr>
          <p:cNvSpPr/>
          <p:nvPr/>
        </p:nvSpPr>
        <p:spPr>
          <a:xfrm>
            <a:off x="6522963" y="5676275"/>
            <a:ext cx="1274064" cy="406805"/>
          </a:xfrm>
          <a:prstGeom prst="roundRect">
            <a:avLst>
              <a:gd name="adj" fmla="val 16667"/>
            </a:avLst>
          </a:prstGeom>
          <a:solidFill>
            <a:schemeClr val="tx1"/>
          </a:solidFill>
          <a:ln w="12700">
            <a:noFill/>
            <a:prstDash val="solid"/>
          </a:ln>
        </p:spPr>
        <p:txBody>
          <a:bodyPr/>
          <a:lstStyle/>
          <a:p>
            <a:endParaRPr lang="ja-JP" altLang="en-US" sz="2000">
              <a:latin typeface="メイリオ" panose="020B0604030504040204" pitchFamily="50" charset="-128"/>
              <a:ea typeface="メイリオ" panose="020B0604030504040204" pitchFamily="50" charset="-128"/>
            </a:endParaRPr>
          </a:p>
        </p:txBody>
      </p:sp>
      <p:sp>
        <p:nvSpPr>
          <p:cNvPr id="699" name="Text 118">
            <a:extLst>
              <a:ext uri="{FF2B5EF4-FFF2-40B4-BE49-F238E27FC236}">
                <a16:creationId xmlns:a16="http://schemas.microsoft.com/office/drawing/2014/main" id="{503535A8-3E13-EB09-4892-4EF8B4B48074}"/>
              </a:ext>
            </a:extLst>
          </p:cNvPr>
          <p:cNvSpPr/>
          <p:nvPr/>
        </p:nvSpPr>
        <p:spPr>
          <a:xfrm>
            <a:off x="6522963" y="5676275"/>
            <a:ext cx="1274064" cy="406805"/>
          </a:xfrm>
          <a:prstGeom prst="rect">
            <a:avLst/>
          </a:prstGeom>
          <a:noFill/>
          <a:ln>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自動チャット誘導</a:t>
            </a:r>
            <a:endParaRPr lang="en-US" sz="1000" dirty="0">
              <a:latin typeface="メイリオ" panose="020B0604030504040204" pitchFamily="50" charset="-128"/>
              <a:ea typeface="メイリオ" panose="020B0604030504040204" pitchFamily="50" charset="-128"/>
            </a:endParaRPr>
          </a:p>
        </p:txBody>
      </p:sp>
      <p:sp>
        <p:nvSpPr>
          <p:cNvPr id="705" name="Shape 121">
            <a:extLst>
              <a:ext uri="{FF2B5EF4-FFF2-40B4-BE49-F238E27FC236}">
                <a16:creationId xmlns:a16="http://schemas.microsoft.com/office/drawing/2014/main" id="{AC9980DB-B831-BCAA-8D60-562EB65D4D3A}"/>
              </a:ext>
            </a:extLst>
          </p:cNvPr>
          <p:cNvSpPr/>
          <p:nvPr/>
        </p:nvSpPr>
        <p:spPr>
          <a:xfrm>
            <a:off x="7888467" y="5676275"/>
            <a:ext cx="1274064" cy="406805"/>
          </a:xfrm>
          <a:prstGeom prst="roundRect">
            <a:avLst>
              <a:gd name="adj" fmla="val 16667"/>
            </a:avLst>
          </a:prstGeom>
          <a:solidFill>
            <a:schemeClr val="tx1"/>
          </a:solidFill>
          <a:ln w="12700">
            <a:no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707" name="Text 122">
            <a:extLst>
              <a:ext uri="{FF2B5EF4-FFF2-40B4-BE49-F238E27FC236}">
                <a16:creationId xmlns:a16="http://schemas.microsoft.com/office/drawing/2014/main" id="{22E49EBC-D7D9-221D-5A31-6BDEA690B75F}"/>
              </a:ext>
            </a:extLst>
          </p:cNvPr>
          <p:cNvSpPr/>
          <p:nvPr/>
        </p:nvSpPr>
        <p:spPr>
          <a:xfrm>
            <a:off x="7888467" y="5676275"/>
            <a:ext cx="1274064" cy="406805"/>
          </a:xfrm>
          <a:prstGeom prst="rect">
            <a:avLst/>
          </a:prstGeom>
          <a:noFill/>
          <a:ln>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最終CV押し</a:t>
            </a:r>
            <a:endParaRPr lang="en-US" sz="1000" dirty="0">
              <a:latin typeface="メイリオ" panose="020B0604030504040204" pitchFamily="50" charset="-128"/>
              <a:ea typeface="メイリオ" panose="020B0604030504040204" pitchFamily="50" charset="-128"/>
            </a:endParaRPr>
          </a:p>
        </p:txBody>
      </p:sp>
      <p:sp>
        <p:nvSpPr>
          <p:cNvPr id="12" name="Shape 43">
            <a:extLst>
              <a:ext uri="{FF2B5EF4-FFF2-40B4-BE49-F238E27FC236}">
                <a16:creationId xmlns:a16="http://schemas.microsoft.com/office/drawing/2014/main" id="{015046B1-422B-D143-D42E-FFCB6E50BDFD}"/>
              </a:ext>
            </a:extLst>
          </p:cNvPr>
          <p:cNvSpPr/>
          <p:nvPr/>
        </p:nvSpPr>
        <p:spPr>
          <a:xfrm>
            <a:off x="1987539" y="5832174"/>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14" name="Text 44">
            <a:extLst>
              <a:ext uri="{FF2B5EF4-FFF2-40B4-BE49-F238E27FC236}">
                <a16:creationId xmlns:a16="http://schemas.microsoft.com/office/drawing/2014/main" id="{E10F9D9D-B8B4-2619-0D78-A8518E7D27D9}"/>
              </a:ext>
            </a:extLst>
          </p:cNvPr>
          <p:cNvSpPr/>
          <p:nvPr/>
        </p:nvSpPr>
        <p:spPr>
          <a:xfrm>
            <a:off x="1987539" y="5832174"/>
            <a:ext cx="91440" cy="180802"/>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900" dirty="0">
              <a:latin typeface="メイリオ" panose="020B0604030504040204" pitchFamily="50" charset="-128"/>
              <a:ea typeface="メイリオ" panose="020B0604030504040204" pitchFamily="50" charset="-128"/>
            </a:endParaRPr>
          </a:p>
        </p:txBody>
      </p:sp>
      <p:sp>
        <p:nvSpPr>
          <p:cNvPr id="16" name="Shape 47">
            <a:extLst>
              <a:ext uri="{FF2B5EF4-FFF2-40B4-BE49-F238E27FC236}">
                <a16:creationId xmlns:a16="http://schemas.microsoft.com/office/drawing/2014/main" id="{C0AA6635-6DF6-2127-AAD7-0D9D5EB088C1}"/>
              </a:ext>
            </a:extLst>
          </p:cNvPr>
          <p:cNvSpPr/>
          <p:nvPr/>
        </p:nvSpPr>
        <p:spPr>
          <a:xfrm>
            <a:off x="3353043" y="5832174"/>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18" name="Text 48">
            <a:extLst>
              <a:ext uri="{FF2B5EF4-FFF2-40B4-BE49-F238E27FC236}">
                <a16:creationId xmlns:a16="http://schemas.microsoft.com/office/drawing/2014/main" id="{497710E5-220F-C545-E364-574BD79A0BE8}"/>
              </a:ext>
            </a:extLst>
          </p:cNvPr>
          <p:cNvSpPr/>
          <p:nvPr/>
        </p:nvSpPr>
        <p:spPr>
          <a:xfrm>
            <a:off x="3353043" y="5832174"/>
            <a:ext cx="91440" cy="180802"/>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900" dirty="0">
              <a:latin typeface="メイリオ" panose="020B0604030504040204" pitchFamily="50" charset="-128"/>
              <a:ea typeface="メイリオ" panose="020B0604030504040204" pitchFamily="50" charset="-128"/>
            </a:endParaRPr>
          </a:p>
        </p:txBody>
      </p:sp>
      <p:sp>
        <p:nvSpPr>
          <p:cNvPr id="20" name="Shape 43">
            <a:extLst>
              <a:ext uri="{FF2B5EF4-FFF2-40B4-BE49-F238E27FC236}">
                <a16:creationId xmlns:a16="http://schemas.microsoft.com/office/drawing/2014/main" id="{06C06D8C-BAFC-2894-2CA3-9E087FEEA2E3}"/>
              </a:ext>
            </a:extLst>
          </p:cNvPr>
          <p:cNvSpPr/>
          <p:nvPr/>
        </p:nvSpPr>
        <p:spPr>
          <a:xfrm>
            <a:off x="6431523" y="5807651"/>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22" name="Text 44">
            <a:extLst>
              <a:ext uri="{FF2B5EF4-FFF2-40B4-BE49-F238E27FC236}">
                <a16:creationId xmlns:a16="http://schemas.microsoft.com/office/drawing/2014/main" id="{008286C9-78EA-C479-FFCF-2F148042A721}"/>
              </a:ext>
            </a:extLst>
          </p:cNvPr>
          <p:cNvSpPr/>
          <p:nvPr/>
        </p:nvSpPr>
        <p:spPr>
          <a:xfrm>
            <a:off x="6431523" y="5807651"/>
            <a:ext cx="91440" cy="180802"/>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900" dirty="0">
              <a:latin typeface="メイリオ" panose="020B0604030504040204" pitchFamily="50" charset="-128"/>
              <a:ea typeface="メイリオ" panose="020B0604030504040204" pitchFamily="50" charset="-128"/>
            </a:endParaRPr>
          </a:p>
        </p:txBody>
      </p:sp>
      <p:sp>
        <p:nvSpPr>
          <p:cNvPr id="24" name="Shape 47">
            <a:extLst>
              <a:ext uri="{FF2B5EF4-FFF2-40B4-BE49-F238E27FC236}">
                <a16:creationId xmlns:a16="http://schemas.microsoft.com/office/drawing/2014/main" id="{E3694C2E-3C58-CF49-66A0-6BD648B3759E}"/>
              </a:ext>
            </a:extLst>
          </p:cNvPr>
          <p:cNvSpPr/>
          <p:nvPr/>
        </p:nvSpPr>
        <p:spPr>
          <a:xfrm>
            <a:off x="7797027" y="5807651"/>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26" name="Text 48">
            <a:extLst>
              <a:ext uri="{FF2B5EF4-FFF2-40B4-BE49-F238E27FC236}">
                <a16:creationId xmlns:a16="http://schemas.microsoft.com/office/drawing/2014/main" id="{EC1D5F75-6D8E-B3B8-DD9E-954F37F1B769}"/>
              </a:ext>
            </a:extLst>
          </p:cNvPr>
          <p:cNvSpPr/>
          <p:nvPr/>
        </p:nvSpPr>
        <p:spPr>
          <a:xfrm>
            <a:off x="7797027" y="5807651"/>
            <a:ext cx="91440" cy="180802"/>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9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48277907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F4070-0F2B-474C-0AD3-89D288BF8607}"/>
            </a:ext>
          </a:extLst>
        </p:cNvPr>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企画のご参考</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a:solidFill>
                  <a:srgbClr val="333333"/>
                </a:solidFill>
                <a:latin typeface="メイリオ"/>
                <a:ea typeface="メイリオ"/>
                <a:cs typeface="メイリオ"/>
              </a:rPr>
              <a:t>他塾がやっていない企画（ご参考）。他塾がまだやっていない企画の例。</a:t>
            </a:r>
          </a:p>
          <a:p>
            <a:pPr algn="l">
              <a:lnSpc>
                <a:spcPct val="128000"/>
              </a:lnSpc>
            </a:pPr>
            <a:r>
              <a:rPr sz="1200">
                <a:solidFill>
                  <a:srgbClr val="333333"/>
                </a:solidFill>
                <a:latin typeface="メイリオ"/>
                <a:ea typeface="メイリオ"/>
                <a:cs typeface="メイリオ"/>
              </a:rPr>
              <a:t>以下は地域で最初の1社になれる企画案です。優先度はDYM見解。</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32000" y="1655999"/>
            <a:ext cx="9043200" cy="684000"/>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03999" y="1781999"/>
            <a:ext cx="432000" cy="432000"/>
          </a:xfrm>
          <a:prstGeom prst="roundRect">
            <a:avLst>
              <a:gd name="adj" fmla="val 6000"/>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a:solidFill>
                  <a:srgbClr val="FFFFFF"/>
                </a:solidFill>
                <a:latin typeface="メイリオ"/>
                <a:ea typeface="メイリオ"/>
                <a:cs typeface="メイリオ"/>
              </a:rPr>
              <a:t>◎</a:t>
            </a:r>
          </a:p>
        </p:txBody>
      </p:sp>
      <p:sp>
        <p:nvSpPr>
          <p:cNvPr id="7" name="TextBox 6"/>
          <p:cNvSpPr txBox="1"/>
          <p:nvPr/>
        </p:nvSpPr>
        <p:spPr>
          <a:xfrm>
            <a:off x="1044000" y="1728000"/>
            <a:ext cx="2664000" cy="540000"/>
          </a:xfrm>
          <a:prstGeom prst="rect">
            <a:avLst/>
          </a:prstGeom>
          <a:noFill/>
        </p:spPr>
        <p:txBody>
          <a:bodyPr wrap="square" lIns="50400" tIns="21600" rIns="50400" bIns="21600" anchor="ctr">
            <a:spAutoFit/>
          </a:bodyPr>
          <a:lstStyle/>
          <a:p>
            <a:pPr algn="l">
              <a:lnSpc>
                <a:spcPct val="120000"/>
              </a:lnSpc>
            </a:pPr>
            <a:r>
              <a:rPr sz="1100" b="1">
                <a:solidFill>
                  <a:srgbClr val="333333"/>
                </a:solidFill>
                <a:latin typeface="メイリオ"/>
                <a:ea typeface="メイリオ"/>
                <a:cs typeface="メイリオ"/>
              </a:rPr>
              <a:t>学年別・逆算カレンダー配信</a:t>
            </a:r>
          </a:p>
        </p:txBody>
      </p:sp>
      <p:sp>
        <p:nvSpPr>
          <p:cNvPr id="8" name="TextBox 7"/>
          <p:cNvSpPr txBox="1"/>
          <p:nvPr/>
        </p:nvSpPr>
        <p:spPr>
          <a:xfrm>
            <a:off x="3780000" y="1728000"/>
            <a:ext cx="5616000" cy="540000"/>
          </a:xfrm>
          <a:prstGeom prst="rect">
            <a:avLst/>
          </a:prstGeom>
          <a:noFill/>
        </p:spPr>
        <p:txBody>
          <a:bodyPr wrap="square" lIns="50400" tIns="21600" rIns="50400" bIns="21600" anchor="ctr">
            <a:spAutoFit/>
          </a:bodyPr>
          <a:lstStyle/>
          <a:p>
            <a:pPr algn="l">
              <a:lnSpc>
                <a:spcPct val="130000"/>
              </a:lnSpc>
            </a:pPr>
            <a:r>
              <a:rPr sz="950">
                <a:solidFill>
                  <a:srgbClr val="333333"/>
                </a:solidFill>
                <a:latin typeface="メイリオ"/>
                <a:ea typeface="メイリオ"/>
                <a:cs typeface="メイリオ"/>
              </a:rPr>
              <a:t>小3〜中2の保護者へ、学年ごとに「この時期にやるべきこと」を毎月配信。入塾学年の山（中受小4／他小5-6）の1学年前から接点を持つ</a:t>
            </a:r>
          </a:p>
        </p:txBody>
      </p:sp>
      <p:sp>
        <p:nvSpPr>
          <p:cNvPr id="9" name="Rounded Rectangle 8"/>
          <p:cNvSpPr/>
          <p:nvPr/>
        </p:nvSpPr>
        <p:spPr>
          <a:xfrm>
            <a:off x="432000" y="2430000"/>
            <a:ext cx="9043200" cy="684000"/>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503999" y="2556000"/>
            <a:ext cx="432000" cy="432000"/>
          </a:xfrm>
          <a:prstGeom prst="roundRect">
            <a:avLst>
              <a:gd name="adj" fmla="val 6000"/>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a:solidFill>
                  <a:srgbClr val="FFFFFF"/>
                </a:solidFill>
                <a:latin typeface="メイリオ"/>
                <a:ea typeface="メイリオ"/>
                <a:cs typeface="メイリオ"/>
              </a:rPr>
              <a:t>◎</a:t>
            </a:r>
          </a:p>
        </p:txBody>
      </p:sp>
      <p:sp>
        <p:nvSpPr>
          <p:cNvPr id="11" name="TextBox 10"/>
          <p:cNvSpPr txBox="1"/>
          <p:nvPr/>
        </p:nvSpPr>
        <p:spPr>
          <a:xfrm>
            <a:off x="1044000" y="2502000"/>
            <a:ext cx="2664000" cy="540000"/>
          </a:xfrm>
          <a:prstGeom prst="rect">
            <a:avLst/>
          </a:prstGeom>
          <a:noFill/>
        </p:spPr>
        <p:txBody>
          <a:bodyPr wrap="square" lIns="50400" tIns="21600" rIns="50400" bIns="21600" anchor="ctr">
            <a:spAutoFit/>
          </a:bodyPr>
          <a:lstStyle/>
          <a:p>
            <a:pPr algn="l">
              <a:lnSpc>
                <a:spcPct val="120000"/>
              </a:lnSpc>
            </a:pPr>
            <a:r>
              <a:rPr sz="1100" b="1">
                <a:solidFill>
                  <a:srgbClr val="333333"/>
                </a:solidFill>
                <a:latin typeface="メイリオ"/>
                <a:ea typeface="メイリオ"/>
                <a:cs typeface="メイリオ"/>
              </a:rPr>
              <a:t>テスト返却週のピンポイント配信</a:t>
            </a:r>
          </a:p>
        </p:txBody>
      </p:sp>
      <p:sp>
        <p:nvSpPr>
          <p:cNvPr id="12" name="TextBox 11"/>
          <p:cNvSpPr txBox="1"/>
          <p:nvPr/>
        </p:nvSpPr>
        <p:spPr>
          <a:xfrm>
            <a:off x="3780000" y="2502000"/>
            <a:ext cx="5616000" cy="540000"/>
          </a:xfrm>
          <a:prstGeom prst="rect">
            <a:avLst/>
          </a:prstGeom>
          <a:noFill/>
        </p:spPr>
        <p:txBody>
          <a:bodyPr wrap="square" lIns="50400" tIns="21600" rIns="50400" bIns="21600" anchor="ctr">
            <a:spAutoFit/>
          </a:bodyPr>
          <a:lstStyle/>
          <a:p>
            <a:pPr algn="l">
              <a:lnSpc>
                <a:spcPct val="130000"/>
              </a:lnSpc>
            </a:pPr>
            <a:r>
              <a:rPr sz="950">
                <a:solidFill>
                  <a:srgbClr val="333333"/>
                </a:solidFill>
                <a:latin typeface="メイリオ"/>
                <a:ea typeface="メイリオ"/>
                <a:cs typeface="メイリオ"/>
              </a:rPr>
              <a:t>定期テストの返却時期に合わせて「点数の見方」を配信。中学生の入塾きっかけ1位は「成績が不安」52.4%</a:t>
            </a:r>
          </a:p>
        </p:txBody>
      </p:sp>
      <p:sp>
        <p:nvSpPr>
          <p:cNvPr id="17" name="Rounded Rectangle 16"/>
          <p:cNvSpPr/>
          <p:nvPr/>
        </p:nvSpPr>
        <p:spPr>
          <a:xfrm>
            <a:off x="432000" y="3203999"/>
            <a:ext cx="9043200" cy="684000"/>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503999" y="3329999"/>
            <a:ext cx="432000" cy="43200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a:solidFill>
                  <a:srgbClr val="FFFFFF"/>
                </a:solidFill>
                <a:latin typeface="メイリオ"/>
                <a:ea typeface="メイリオ"/>
                <a:cs typeface="メイリオ"/>
              </a:rPr>
              <a:t>○</a:t>
            </a:r>
          </a:p>
        </p:txBody>
      </p:sp>
      <p:sp>
        <p:nvSpPr>
          <p:cNvPr id="19" name="TextBox 18"/>
          <p:cNvSpPr txBox="1"/>
          <p:nvPr/>
        </p:nvSpPr>
        <p:spPr>
          <a:xfrm>
            <a:off x="1044000" y="3275999"/>
            <a:ext cx="2664000" cy="540000"/>
          </a:xfrm>
          <a:prstGeom prst="rect">
            <a:avLst/>
          </a:prstGeom>
          <a:noFill/>
        </p:spPr>
        <p:txBody>
          <a:bodyPr wrap="square" lIns="50400" tIns="21600" rIns="50400" bIns="21600" anchor="ctr">
            <a:spAutoFit/>
          </a:bodyPr>
          <a:lstStyle/>
          <a:p>
            <a:pPr algn="l">
              <a:lnSpc>
                <a:spcPct val="120000"/>
              </a:lnSpc>
            </a:pPr>
            <a:r>
              <a:rPr sz="1100" b="1">
                <a:solidFill>
                  <a:srgbClr val="333333"/>
                </a:solidFill>
                <a:latin typeface="メイリオ"/>
                <a:ea typeface="メイリオ"/>
                <a:cs typeface="メイリオ"/>
              </a:rPr>
              <a:t>保護者向け「進路のきほん」ミニ講座</a:t>
            </a:r>
          </a:p>
        </p:txBody>
      </p:sp>
      <p:sp>
        <p:nvSpPr>
          <p:cNvPr id="20" name="TextBox 19"/>
          <p:cNvSpPr txBox="1"/>
          <p:nvPr/>
        </p:nvSpPr>
        <p:spPr>
          <a:xfrm>
            <a:off x="3780000" y="3275999"/>
            <a:ext cx="5616000" cy="540000"/>
          </a:xfrm>
          <a:prstGeom prst="rect">
            <a:avLst/>
          </a:prstGeom>
          <a:noFill/>
        </p:spPr>
        <p:txBody>
          <a:bodyPr wrap="square" lIns="50400" tIns="21600" rIns="50400" bIns="21600" anchor="ctr">
            <a:spAutoFit/>
          </a:bodyPr>
          <a:lstStyle/>
          <a:p>
            <a:pPr algn="l">
              <a:lnSpc>
                <a:spcPct val="130000"/>
              </a:lnSpc>
            </a:pPr>
            <a:r>
              <a:rPr sz="950">
                <a:solidFill>
                  <a:srgbClr val="333333"/>
                </a:solidFill>
                <a:latin typeface="メイリオ"/>
                <a:ea typeface="メイリオ"/>
                <a:cs typeface="メイリオ"/>
              </a:rPr>
              <a:t>LINEで完結する3分×5回の配信講座。決定関与は保護者80.5%。保護者自身の知識不足を埋める</a:t>
            </a:r>
          </a:p>
        </p:txBody>
      </p:sp>
      <p:sp>
        <p:nvSpPr>
          <p:cNvPr id="21" name="Rounded Rectangle 20"/>
          <p:cNvSpPr/>
          <p:nvPr/>
        </p:nvSpPr>
        <p:spPr>
          <a:xfrm>
            <a:off x="432000" y="3978000"/>
            <a:ext cx="9043200" cy="684000"/>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503999" y="4104000"/>
            <a:ext cx="432000" cy="432000"/>
          </a:xfrm>
          <a:prstGeom prst="roundRect">
            <a:avLst>
              <a:gd name="adj" fmla="val 6000"/>
            </a:avLst>
          </a:prstGeom>
          <a:solidFill>
            <a:srgbClr val="7F7F7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a:solidFill>
                  <a:srgbClr val="FFFFFF"/>
                </a:solidFill>
                <a:latin typeface="メイリオ"/>
                <a:ea typeface="メイリオ"/>
                <a:cs typeface="メイリオ"/>
              </a:rPr>
              <a:t>△</a:t>
            </a:r>
          </a:p>
        </p:txBody>
      </p:sp>
      <p:sp>
        <p:nvSpPr>
          <p:cNvPr id="23" name="TextBox 22"/>
          <p:cNvSpPr txBox="1"/>
          <p:nvPr/>
        </p:nvSpPr>
        <p:spPr>
          <a:xfrm>
            <a:off x="1044000" y="4049999"/>
            <a:ext cx="2664000" cy="540000"/>
          </a:xfrm>
          <a:prstGeom prst="rect">
            <a:avLst/>
          </a:prstGeom>
          <a:noFill/>
        </p:spPr>
        <p:txBody>
          <a:bodyPr wrap="square" lIns="50400" tIns="21600" rIns="50400" bIns="21600" anchor="ctr">
            <a:spAutoFit/>
          </a:bodyPr>
          <a:lstStyle/>
          <a:p>
            <a:pPr algn="l">
              <a:lnSpc>
                <a:spcPct val="120000"/>
              </a:lnSpc>
            </a:pPr>
            <a:r>
              <a:rPr sz="1100" b="1">
                <a:solidFill>
                  <a:srgbClr val="333333"/>
                </a:solidFill>
                <a:latin typeface="メイリオ"/>
                <a:ea typeface="メイリオ"/>
                <a:cs typeface="メイリオ"/>
              </a:rPr>
              <a:t>AIによる学習相談ボット</a:t>
            </a:r>
          </a:p>
        </p:txBody>
      </p:sp>
      <p:sp>
        <p:nvSpPr>
          <p:cNvPr id="24" name="TextBox 23"/>
          <p:cNvSpPr txBox="1"/>
          <p:nvPr/>
        </p:nvSpPr>
        <p:spPr>
          <a:xfrm>
            <a:off x="3780000" y="4049999"/>
            <a:ext cx="5616000" cy="540000"/>
          </a:xfrm>
          <a:prstGeom prst="rect">
            <a:avLst/>
          </a:prstGeom>
          <a:noFill/>
        </p:spPr>
        <p:txBody>
          <a:bodyPr wrap="square" lIns="50400" tIns="21600" rIns="50400" bIns="21600" anchor="ctr">
            <a:spAutoFit/>
          </a:bodyPr>
          <a:lstStyle/>
          <a:p>
            <a:pPr algn="l">
              <a:lnSpc>
                <a:spcPct val="130000"/>
              </a:lnSpc>
            </a:pPr>
            <a:r>
              <a:rPr sz="950">
                <a:solidFill>
                  <a:srgbClr val="333333"/>
                </a:solidFill>
                <a:latin typeface="メイリオ"/>
                <a:ea typeface="メイリオ"/>
                <a:cs typeface="メイリオ"/>
              </a:rPr>
              <a:t>24時間の質問対応。ただし塾は「先生」で選ばれる業界なので、有人対応の価値を下げないよう設計が要る</a:t>
            </a:r>
          </a:p>
        </p:txBody>
      </p:sp>
      <p:sp>
        <p:nvSpPr>
          <p:cNvPr id="25" name="Rounded Rectangle 24"/>
          <p:cNvSpPr/>
          <p:nvPr/>
        </p:nvSpPr>
        <p:spPr>
          <a:xfrm>
            <a:off x="432000" y="5580000"/>
            <a:ext cx="9043200" cy="360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76000" y="5598000"/>
            <a:ext cx="8755200" cy="324000"/>
          </a:xfrm>
          <a:prstGeom prst="rect">
            <a:avLst/>
          </a:prstGeom>
          <a:noFill/>
        </p:spPr>
        <p:txBody>
          <a:bodyPr wrap="square" lIns="50400" tIns="21600" rIns="50400" bIns="21600" anchor="ctr">
            <a:spAutoFit/>
          </a:bodyPr>
          <a:lstStyle/>
          <a:p>
            <a:pPr algn="ctr"/>
            <a:r>
              <a:rPr sz="1150">
                <a:solidFill>
                  <a:srgbClr val="333333"/>
                </a:solidFill>
                <a:latin typeface="メイリオ"/>
                <a:ea typeface="メイリオ"/>
                <a:cs typeface="メイリオ"/>
              </a:rPr>
              <a:t>◎＝根拠データあり・すぐ実行できる　／　○＝条件付きで有効　／　△＝この業界では優先度低（DYM見解）</a:t>
            </a:r>
          </a:p>
        </p:txBody>
      </p:sp>
      <p:sp>
        <p:nvSpPr>
          <p:cNvPr id="27" name="TextBox 26"/>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900">
                <a:solidFill>
                  <a:srgbClr val="7F7F7F"/>
                </a:solidFill>
                <a:latin typeface="メイリオ"/>
                <a:ea typeface="メイリオ"/>
                <a:cs typeface="メイリオ"/>
              </a:rPr>
              <a:t>優先度の判定はDYM見解。根拠は巻末の出典一覧を参照</a:t>
            </a:r>
          </a:p>
        </p:txBody>
      </p:sp>
      <p:sp>
        <p:nvSpPr>
          <p:cNvPr id="28" name="Pentagon 27"/>
          <p:cNvSpPr/>
          <p:nvPr/>
        </p:nvSpPr>
        <p:spPr>
          <a:xfrm>
            <a:off x="432000" y="590400"/>
            <a:ext cx="1111500" cy="180000"/>
          </a:xfrm>
          <a:prstGeom prst="homePlate">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①接触</a:t>
            </a:r>
          </a:p>
        </p:txBody>
      </p:sp>
      <p:sp>
        <p:nvSpPr>
          <p:cNvPr id="29" name="Chevron 28"/>
          <p:cNvSpPr/>
          <p:nvPr/>
        </p:nvSpPr>
        <p:spPr>
          <a:xfrm>
            <a:off x="15651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②離脱</a:t>
            </a:r>
          </a:p>
        </p:txBody>
      </p:sp>
      <p:sp>
        <p:nvSpPr>
          <p:cNvPr id="30" name="Chevron 29"/>
          <p:cNvSpPr/>
          <p:nvPr/>
        </p:nvSpPr>
        <p:spPr>
          <a:xfrm>
            <a:off x="26982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③育成</a:t>
            </a:r>
          </a:p>
        </p:txBody>
      </p:sp>
      <p:sp>
        <p:nvSpPr>
          <p:cNvPr id="31" name="Chevron 30"/>
          <p:cNvSpPr/>
          <p:nvPr/>
        </p:nvSpPr>
        <p:spPr>
          <a:xfrm>
            <a:off x="38312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④リード獲得</a:t>
            </a:r>
          </a:p>
        </p:txBody>
      </p:sp>
      <p:sp>
        <p:nvSpPr>
          <p:cNvPr id="32" name="Chevron 31"/>
          <p:cNvSpPr/>
          <p:nvPr/>
        </p:nvSpPr>
        <p:spPr>
          <a:xfrm>
            <a:off x="49644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⑤リード有効化</a:t>
            </a:r>
          </a:p>
        </p:txBody>
      </p:sp>
      <p:sp>
        <p:nvSpPr>
          <p:cNvPr id="33" name="Chevron 32"/>
          <p:cNvSpPr/>
          <p:nvPr/>
        </p:nvSpPr>
        <p:spPr>
          <a:xfrm>
            <a:off x="60975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⑥再育成</a:t>
            </a:r>
          </a:p>
        </p:txBody>
      </p:sp>
      <p:sp>
        <p:nvSpPr>
          <p:cNvPr id="34" name="Chevron 33"/>
          <p:cNvSpPr/>
          <p:nvPr/>
        </p:nvSpPr>
        <p:spPr>
          <a:xfrm>
            <a:off x="72305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⑦入会（契約）</a:t>
            </a:r>
          </a:p>
        </p:txBody>
      </p:sp>
      <p:sp>
        <p:nvSpPr>
          <p:cNvPr id="35" name="Chevron 34"/>
          <p:cNvSpPr/>
          <p:nvPr/>
        </p:nvSpPr>
        <p:spPr>
          <a:xfrm>
            <a:off x="83636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⑧紹介</a:t>
            </a:r>
          </a:p>
        </p:txBody>
      </p:sp>
    </p:spTree>
    <p:extLst>
      <p:ext uri="{BB962C8B-B14F-4D97-AF65-F5344CB8AC3E}">
        <p14:creationId xmlns:p14="http://schemas.microsoft.com/office/powerpoint/2010/main" val="90106357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3AE1A8-B06F-74B4-1E2A-7416EDA4E827}"/>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この資料の出典</a:t>
            </a:r>
          </a:p>
        </p:txBody>
      </p:sp>
      <p:sp>
        <p:nvSpPr>
          <p:cNvPr id="3" name="TextBox 2"/>
          <p:cNvSpPr txBox="1"/>
          <p:nvPr/>
        </p:nvSpPr>
        <p:spPr>
          <a:xfrm>
            <a:off x="432000" y="630000"/>
            <a:ext cx="9036000" cy="720000"/>
          </a:xfrm>
          <a:prstGeom prst="rect">
            <a:avLst/>
          </a:prstGeom>
          <a:noFill/>
        </p:spPr>
        <p:txBody>
          <a:bodyPr wrap="square" lIns="0" tIns="21600" rIns="0" bIns="21600" anchor="ctr">
            <a:spAutoFit/>
          </a:bodyPr>
          <a:lstStyle/>
          <a:p>
            <a:pPr algn="l">
              <a:lnSpc>
                <a:spcPct val="128000"/>
              </a:lnSpc>
            </a:pPr>
            <a:r>
              <a:rPr sz="1250">
                <a:solidFill>
                  <a:srgbClr val="333333"/>
                </a:solidFill>
                <a:latin typeface="メイリオ"/>
                <a:ea typeface="メイリオ"/>
                <a:cs typeface="メイリオ"/>
              </a:rPr>
              <a:t>この資料で使った数値の出所を、すべて並べます。</a:t>
            </a:r>
          </a:p>
          <a:p>
            <a:pPr algn="l">
              <a:lnSpc>
                <a:spcPct val="128000"/>
              </a:lnSpc>
            </a:pPr>
            <a:r>
              <a:rPr sz="1250">
                <a:solidFill>
                  <a:srgbClr val="333333"/>
                </a:solidFill>
                <a:latin typeface="メイリオ"/>
                <a:ea typeface="メイリオ"/>
                <a:cs typeface="メイリオ"/>
              </a:rPr>
              <a:t>出典のない数値は書いていません。</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900">
                <a:solidFill>
                  <a:srgbClr val="7F7F7F"/>
                </a:solidFill>
                <a:latin typeface="メイリオ"/>
                <a:ea typeface="メイリオ"/>
                <a:cs typeface="メイリオ"/>
              </a:rPr>
              <a:t>業界指標／自社実績／業界推計値／モデル値は、ラベルを分けて表記している</a:t>
            </a:r>
          </a:p>
        </p:txBody>
      </p:sp>
      <p:sp>
        <p:nvSpPr>
          <p:cNvPr id="13" name="Rectangle 12"/>
          <p:cNvSpPr/>
          <p:nvPr/>
        </p:nvSpPr>
        <p:spPr>
          <a:xfrm>
            <a:off x="432000" y="1512000"/>
            <a:ext cx="1296000" cy="251999"/>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50" b="1">
                <a:solidFill>
                  <a:srgbClr val="FFFFFF"/>
                </a:solidFill>
                <a:latin typeface="メイリオ"/>
                <a:ea typeface="メイリオ"/>
                <a:cs typeface="メイリオ"/>
              </a:rPr>
              <a:t>ページ</a:t>
            </a:r>
          </a:p>
        </p:txBody>
      </p:sp>
      <p:sp>
        <p:nvSpPr>
          <p:cNvPr id="14" name="Rectangle 13"/>
          <p:cNvSpPr/>
          <p:nvPr/>
        </p:nvSpPr>
        <p:spPr>
          <a:xfrm>
            <a:off x="1764000" y="1512000"/>
            <a:ext cx="7711200" cy="251999"/>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50" b="1">
                <a:solidFill>
                  <a:srgbClr val="FFFFFF"/>
                </a:solidFill>
                <a:latin typeface="メイリオ"/>
                <a:ea typeface="メイリオ"/>
                <a:cs typeface="メイリオ"/>
              </a:rPr>
              <a:t>出典</a:t>
            </a:r>
          </a:p>
        </p:txBody>
      </p:sp>
      <p:sp>
        <p:nvSpPr>
          <p:cNvPr id="15" name="Rectangle 14"/>
          <p:cNvSpPr/>
          <p:nvPr/>
        </p:nvSpPr>
        <p:spPr>
          <a:xfrm>
            <a:off x="432000" y="1800000"/>
            <a:ext cx="1296000" cy="316800"/>
          </a:xfrm>
          <a:prstGeom prst="rect">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1F285A"/>
                </a:solidFill>
                <a:latin typeface="メイリオ"/>
                <a:ea typeface="メイリオ"/>
                <a:cs typeface="メイリオ"/>
              </a:rPr>
              <a:t>P5</a:t>
            </a:r>
          </a:p>
        </p:txBody>
      </p:sp>
      <p:sp>
        <p:nvSpPr>
          <p:cNvPr id="16" name="Rectangle 15"/>
          <p:cNvSpPr/>
          <p:nvPr/>
        </p:nvSpPr>
        <p:spPr>
          <a:xfrm>
            <a:off x="1764000" y="1800000"/>
            <a:ext cx="7711200" cy="316800"/>
          </a:xfrm>
          <a:prstGeom prst="rect">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950" b="0">
                <a:solidFill>
                  <a:srgbClr val="333333"/>
                </a:solidFill>
                <a:latin typeface="メイリオ"/>
                <a:ea typeface="メイリオ"/>
                <a:cs typeface="メイリオ"/>
              </a:rPr>
              <a:t>厚労省 人口動態統計／経産省 特定サービス産業動態統計／文科省 学校基本調査／矢野経済研究所 2024</a:t>
            </a:r>
          </a:p>
        </p:txBody>
      </p:sp>
      <p:sp>
        <p:nvSpPr>
          <p:cNvPr id="19" name="Rectangle 18"/>
          <p:cNvSpPr/>
          <p:nvPr/>
        </p:nvSpPr>
        <p:spPr>
          <a:xfrm>
            <a:off x="432000" y="2142000"/>
            <a:ext cx="1296000" cy="316800"/>
          </a:xfrm>
          <a:prstGeom prst="rect">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1F285A"/>
                </a:solidFill>
                <a:latin typeface="メイリオ"/>
                <a:ea typeface="メイリオ"/>
                <a:cs typeface="メイリオ"/>
              </a:rPr>
              <a:t>P7</a:t>
            </a:r>
          </a:p>
        </p:txBody>
      </p:sp>
      <p:sp>
        <p:nvSpPr>
          <p:cNvPr id="20" name="Rectangle 19"/>
          <p:cNvSpPr/>
          <p:nvPr/>
        </p:nvSpPr>
        <p:spPr>
          <a:xfrm>
            <a:off x="1764000" y="2142000"/>
            <a:ext cx="7711200" cy="316800"/>
          </a:xfrm>
          <a:prstGeom prst="rect">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950" b="0">
                <a:solidFill>
                  <a:srgbClr val="333333"/>
                </a:solidFill>
                <a:latin typeface="メイリオ"/>
                <a:ea typeface="メイリオ"/>
                <a:cs typeface="メイリオ"/>
              </a:rPr>
              <a:t>LINEヤフー前後検索（実測）／塾ナラ 2025 n=200／塾シル・ユナイトプロジェクト 2026 n=249／明光ネットワークジャパン 2020</a:t>
            </a:r>
          </a:p>
        </p:txBody>
      </p:sp>
      <p:sp>
        <p:nvSpPr>
          <p:cNvPr id="21" name="Rectangle 20"/>
          <p:cNvSpPr/>
          <p:nvPr/>
        </p:nvSpPr>
        <p:spPr>
          <a:xfrm>
            <a:off x="432000" y="2484000"/>
            <a:ext cx="1296000" cy="316800"/>
          </a:xfrm>
          <a:prstGeom prst="rect">
            <a:avLst/>
          </a:prstGeom>
          <a:solidFill>
            <a:srgbClr val="F4F7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1F285A"/>
                </a:solidFill>
                <a:latin typeface="メイリオ"/>
                <a:ea typeface="メイリオ"/>
                <a:cs typeface="メイリオ"/>
              </a:rPr>
              <a:t>P8〜P11・P13・P31</a:t>
            </a:r>
          </a:p>
        </p:txBody>
      </p:sp>
      <p:sp>
        <p:nvSpPr>
          <p:cNvPr id="22" name="Rectangle 21"/>
          <p:cNvSpPr/>
          <p:nvPr/>
        </p:nvSpPr>
        <p:spPr>
          <a:xfrm>
            <a:off x="1764000" y="2484000"/>
            <a:ext cx="7711200" cy="316800"/>
          </a:xfrm>
          <a:prstGeom prst="rect">
            <a:avLst/>
          </a:prstGeom>
          <a:solidFill>
            <a:srgbClr val="F4F7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950" b="0">
                <a:solidFill>
                  <a:srgbClr val="333333"/>
                </a:solidFill>
                <a:latin typeface="メイリオ"/>
                <a:ea typeface="メイリオ"/>
                <a:cs typeface="メイリオ"/>
              </a:rPr>
              <a:t>LINEヤフー前後検索（2026年10月取得）起点KW：中学受験 塾／中高一貫 塾／高校受験 塾／英語 塾</a:t>
            </a:r>
          </a:p>
        </p:txBody>
      </p:sp>
      <p:sp>
        <p:nvSpPr>
          <p:cNvPr id="23" name="Rectangle 22"/>
          <p:cNvSpPr/>
          <p:nvPr/>
        </p:nvSpPr>
        <p:spPr>
          <a:xfrm>
            <a:off x="432000" y="2826000"/>
            <a:ext cx="1296000" cy="316800"/>
          </a:xfrm>
          <a:prstGeom prst="rect">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1F285A"/>
                </a:solidFill>
                <a:latin typeface="メイリオ"/>
                <a:ea typeface="メイリオ"/>
                <a:cs typeface="メイリオ"/>
              </a:rPr>
              <a:t>P12・P35</a:t>
            </a:r>
          </a:p>
        </p:txBody>
      </p:sp>
      <p:sp>
        <p:nvSpPr>
          <p:cNvPr id="24" name="Rectangle 23"/>
          <p:cNvSpPr/>
          <p:nvPr/>
        </p:nvSpPr>
        <p:spPr>
          <a:xfrm>
            <a:off x="1764000" y="2826000"/>
            <a:ext cx="7711200" cy="316800"/>
          </a:xfrm>
          <a:prstGeom prst="rect">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950" b="0">
                <a:solidFill>
                  <a:srgbClr val="333333"/>
                </a:solidFill>
                <a:latin typeface="メイリオ"/>
                <a:ea typeface="メイリオ"/>
                <a:cs typeface="メイリオ"/>
              </a:rPr>
              <a:t>Googleトレンド 日本 2026年年初来（実測）</a:t>
            </a:r>
          </a:p>
        </p:txBody>
      </p:sp>
      <p:sp>
        <p:nvSpPr>
          <p:cNvPr id="25" name="Rectangle 24"/>
          <p:cNvSpPr/>
          <p:nvPr/>
        </p:nvSpPr>
        <p:spPr>
          <a:xfrm>
            <a:off x="432000" y="3168000"/>
            <a:ext cx="1296000" cy="316800"/>
          </a:xfrm>
          <a:prstGeom prst="rect">
            <a:avLst/>
          </a:prstGeom>
          <a:solidFill>
            <a:srgbClr val="F4F7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1F285A"/>
                </a:solidFill>
                <a:latin typeface="メイリオ"/>
                <a:ea typeface="メイリオ"/>
                <a:cs typeface="メイリオ"/>
              </a:rPr>
              <a:t>P14</a:t>
            </a:r>
          </a:p>
        </p:txBody>
      </p:sp>
      <p:sp>
        <p:nvSpPr>
          <p:cNvPr id="26" name="Rectangle 25"/>
          <p:cNvSpPr/>
          <p:nvPr/>
        </p:nvSpPr>
        <p:spPr>
          <a:xfrm>
            <a:off x="1764000" y="3168000"/>
            <a:ext cx="7711200" cy="316800"/>
          </a:xfrm>
          <a:prstGeom prst="rect">
            <a:avLst/>
          </a:prstGeom>
          <a:solidFill>
            <a:srgbClr val="F4F7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950" b="0">
                <a:solidFill>
                  <a:srgbClr val="333333"/>
                </a:solidFill>
                <a:latin typeface="メイリオ"/>
                <a:ea typeface="メイリオ"/>
                <a:cs typeface="メイリオ"/>
              </a:rPr>
              <a:t>各社LINE公式アカウント（page.line.me）・公式サイト 2026-09-25取得</a:t>
            </a:r>
          </a:p>
        </p:txBody>
      </p:sp>
      <p:sp>
        <p:nvSpPr>
          <p:cNvPr id="27" name="Rectangle 26"/>
          <p:cNvSpPr/>
          <p:nvPr/>
        </p:nvSpPr>
        <p:spPr>
          <a:xfrm>
            <a:off x="432000" y="3851998"/>
            <a:ext cx="1296000" cy="316800"/>
          </a:xfrm>
          <a:prstGeom prst="rect">
            <a:avLst/>
          </a:prstGeom>
          <a:solidFill>
            <a:srgbClr val="F4F7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1F285A"/>
                </a:solidFill>
                <a:latin typeface="メイリオ"/>
                <a:ea typeface="メイリオ"/>
                <a:cs typeface="メイリオ"/>
              </a:rPr>
              <a:t>P26・P36</a:t>
            </a:r>
          </a:p>
        </p:txBody>
      </p:sp>
      <p:sp>
        <p:nvSpPr>
          <p:cNvPr id="28" name="Rectangle 27"/>
          <p:cNvSpPr/>
          <p:nvPr/>
        </p:nvSpPr>
        <p:spPr>
          <a:xfrm>
            <a:off x="1764000" y="3851998"/>
            <a:ext cx="7711200" cy="316800"/>
          </a:xfrm>
          <a:prstGeom prst="rect">
            <a:avLst/>
          </a:prstGeom>
          <a:solidFill>
            <a:srgbClr val="F4F7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950" b="0">
                <a:solidFill>
                  <a:srgbClr val="333333"/>
                </a:solidFill>
                <a:latin typeface="メイリオ"/>
                <a:ea typeface="メイリオ"/>
                <a:cs typeface="メイリオ"/>
              </a:rPr>
              <a:t>POPER「Comiru」保護者と学習塾の意識調査 2022年 n=300</a:t>
            </a:r>
          </a:p>
        </p:txBody>
      </p:sp>
      <p:sp>
        <p:nvSpPr>
          <p:cNvPr id="29" name="Rectangle 28"/>
          <p:cNvSpPr/>
          <p:nvPr/>
        </p:nvSpPr>
        <p:spPr>
          <a:xfrm>
            <a:off x="432000" y="4193998"/>
            <a:ext cx="1296000" cy="316800"/>
          </a:xfrm>
          <a:prstGeom prst="rect">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1F285A"/>
                </a:solidFill>
                <a:latin typeface="メイリオ"/>
                <a:ea typeface="メイリオ"/>
                <a:cs typeface="メイリオ"/>
              </a:rPr>
              <a:t>P54</a:t>
            </a:r>
          </a:p>
        </p:txBody>
      </p:sp>
      <p:sp>
        <p:nvSpPr>
          <p:cNvPr id="30" name="Rectangle 29"/>
          <p:cNvSpPr/>
          <p:nvPr/>
        </p:nvSpPr>
        <p:spPr>
          <a:xfrm>
            <a:off x="1764000" y="4193998"/>
            <a:ext cx="7711200" cy="316800"/>
          </a:xfrm>
          <a:prstGeom prst="rect">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950" b="0">
                <a:solidFill>
                  <a:srgbClr val="333333"/>
                </a:solidFill>
                <a:latin typeface="メイリオ"/>
                <a:ea typeface="メイリオ"/>
                <a:cs typeface="メイリオ"/>
              </a:rPr>
              <a:t>オリコンME 2025 学習塾 利用実態データ／インタースペース「ママスタ」2021年 n=1,037</a:t>
            </a:r>
          </a:p>
        </p:txBody>
      </p:sp>
      <p:sp>
        <p:nvSpPr>
          <p:cNvPr id="34" name="Rectangle 27"/>
          <p:cNvSpPr/>
          <p:nvPr/>
        </p:nvSpPr>
        <p:spPr>
          <a:xfrm>
            <a:off x="1764000" y="3509999"/>
            <a:ext cx="7711200" cy="316800"/>
          </a:xfrm>
          <a:prstGeom prst="rect">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950" b="0">
                <a:solidFill>
                  <a:srgbClr val="333333"/>
                </a:solidFill>
                <a:latin typeface="メイリオ"/>
                <a:ea typeface="メイリオ"/>
                <a:cs typeface="メイリオ"/>
              </a:rPr>
              <a:t>LINEヤフー for Business 導入事例 明光義塾（2024年4月5日・掲載の図版を含む）／明光義塾 LINE公式アカウント（2026-10-19 弊社確認）</a:t>
            </a:r>
          </a:p>
        </p:txBody>
      </p:sp>
      <p:sp>
        <p:nvSpPr>
          <p:cNvPr id="33" name="Rectangle 26"/>
          <p:cNvSpPr/>
          <p:nvPr/>
        </p:nvSpPr>
        <p:spPr>
          <a:xfrm>
            <a:off x="432000" y="3509999"/>
            <a:ext cx="1296000" cy="316800"/>
          </a:xfrm>
          <a:prstGeom prst="rect">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1F285A"/>
                </a:solidFill>
                <a:latin typeface="メイリオ"/>
                <a:ea typeface="メイリオ"/>
                <a:cs typeface="メイリオ"/>
              </a:rPr>
              <a:t>P15〜P17・P21</a:t>
            </a:r>
          </a:p>
        </p:txBody>
      </p:sp>
      <p:sp>
        <p:nvSpPr>
          <p:cNvPr id="31" name="Rounded Rectangle 30"/>
          <p:cNvSpPr/>
          <p:nvPr/>
        </p:nvSpPr>
        <p:spPr>
          <a:xfrm>
            <a:off x="432000" y="4644000"/>
            <a:ext cx="9043200" cy="1080000"/>
          </a:xfrm>
          <a:prstGeom prst="roundRect">
            <a:avLst>
              <a:gd name="adj" fmla="val 8000"/>
            </a:avLst>
          </a:prstGeom>
          <a:solidFill>
            <a:srgbClr val="F4F7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t"/>
          <a:lstStyle/>
          <a:p>
            <a:pPr algn="l"/>
            <a:r>
              <a:rPr sz="1300" b="1">
                <a:solidFill>
                  <a:srgbClr val="1F285A"/>
                </a:solidFill>
                <a:latin typeface="メイリオ"/>
                <a:ea typeface="メイリオ"/>
                <a:cs typeface="メイリオ"/>
              </a:rPr>
              <a:t>LINEヤフー公式データ</a:t>
            </a:r>
          </a:p>
          <a:p>
            <a:pPr algn="l"/>
            <a:r>
              <a:rPr sz="1150" b="0">
                <a:solidFill>
                  <a:srgbClr val="333333"/>
                </a:solidFill>
                <a:latin typeface="メイリオ"/>
                <a:ea typeface="メイリオ"/>
                <a:cs typeface="メイリオ"/>
              </a:rPr>
              <a:t>・LINE 国内月間利用者数：1億人突破（2025年12月末時点）</a:t>
            </a:r>
          </a:p>
          <a:p>
            <a:pPr algn="l"/>
            <a:r>
              <a:rPr sz="1150" b="0">
                <a:solidFill>
                  <a:srgbClr val="333333"/>
                </a:solidFill>
                <a:latin typeface="メイリオ"/>
                <a:ea typeface="メイリオ"/>
                <a:cs typeface="メイリオ"/>
              </a:rPr>
              <a:t>・メッセージの開封：受信直後 約2割／3〜6時間で約5割／当日中に約8割</a:t>
            </a:r>
          </a:p>
        </p:txBody>
      </p:sp>
    </p:spTree>
    <p:extLst>
      <p:ext uri="{BB962C8B-B14F-4D97-AF65-F5344CB8AC3E}">
        <p14:creationId xmlns:p14="http://schemas.microsoft.com/office/powerpoint/2010/main" val="193266448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18"/>
          <p:cNvSpPr>
            <a:spLocks noChangeArrowheads="1"/>
          </p:cNvSpPr>
          <p:nvPr/>
        </p:nvSpPr>
        <p:spPr bwMode="auto">
          <a:xfrm>
            <a:off x="1649030" y="5820984"/>
            <a:ext cx="6192837" cy="373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lvl="1" fontAlgn="base">
              <a:spcBef>
                <a:spcPct val="20000"/>
              </a:spcBef>
              <a:spcAft>
                <a:spcPct val="0"/>
              </a:spcAft>
              <a:defRPr/>
            </a:pPr>
            <a:r>
              <a:rPr lang="ja-JP" altLang="en-US" sz="831" b="1" dirty="0">
                <a:solidFill>
                  <a:prstClr val="black"/>
                </a:solidFill>
                <a:latin typeface="メイリオ"/>
                <a:ea typeface="メイリオ"/>
                <a:cs typeface="メイリオ"/>
              </a:rPr>
              <a:t>株式会社</a:t>
            </a:r>
            <a:r>
              <a:rPr lang="en-US" altLang="ja-JP" sz="831" b="1" dirty="0">
                <a:solidFill>
                  <a:prstClr val="black"/>
                </a:solidFill>
                <a:latin typeface="メイリオ"/>
                <a:ea typeface="メイリオ"/>
                <a:cs typeface="メイリオ"/>
              </a:rPr>
              <a:t>DYM</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141-0032</a:t>
            </a:r>
            <a:r>
              <a:rPr lang="ja-JP" altLang="en-US" sz="831" b="1" dirty="0">
                <a:solidFill>
                  <a:prstClr val="black"/>
                </a:solidFill>
                <a:latin typeface="メイリオ"/>
                <a:ea typeface="メイリオ"/>
                <a:cs typeface="メイリオ"/>
              </a:rPr>
              <a:t>　東京都品川区大崎</a:t>
            </a:r>
            <a:r>
              <a:rPr lang="en-US" altLang="ja-JP" sz="831" b="1" dirty="0">
                <a:solidFill>
                  <a:prstClr val="black"/>
                </a:solidFill>
                <a:latin typeface="メイリオ"/>
                <a:ea typeface="メイリオ"/>
                <a:cs typeface="メイリオ"/>
              </a:rPr>
              <a:t>1-11-2</a:t>
            </a:r>
            <a:r>
              <a:rPr lang="ja-JP" altLang="en-US" sz="831" b="1" dirty="0">
                <a:solidFill>
                  <a:prstClr val="black"/>
                </a:solidFill>
                <a:latin typeface="メイリオ"/>
                <a:ea typeface="メイリオ"/>
                <a:cs typeface="メイリオ"/>
              </a:rPr>
              <a:t>　ゲートシティ大崎イーストタワー</a:t>
            </a:r>
            <a:r>
              <a:rPr lang="en-US" altLang="ja-JP" sz="831" b="1" dirty="0">
                <a:solidFill>
                  <a:prstClr val="black"/>
                </a:solidFill>
                <a:latin typeface="メイリオ"/>
                <a:ea typeface="メイリオ"/>
                <a:cs typeface="メイリオ"/>
              </a:rPr>
              <a:t>10</a:t>
            </a:r>
            <a:r>
              <a:rPr lang="ja-JP" altLang="en-US" sz="831" b="1" dirty="0">
                <a:solidFill>
                  <a:prstClr val="black"/>
                </a:solidFill>
                <a:latin typeface="メイリオ"/>
                <a:ea typeface="メイリオ"/>
                <a:cs typeface="メイリオ"/>
              </a:rPr>
              <a:t>階</a:t>
            </a:r>
            <a:endParaRPr lang="en-US" altLang="ja-JP" sz="831" b="1" dirty="0">
              <a:solidFill>
                <a:prstClr val="black"/>
              </a:solidFill>
              <a:latin typeface="メイリオ"/>
              <a:ea typeface="メイリオ"/>
              <a:cs typeface="メイリオ"/>
            </a:endParaRPr>
          </a:p>
          <a:p>
            <a:pPr marL="0" lvl="1" fontAlgn="base">
              <a:spcBef>
                <a:spcPct val="20000"/>
              </a:spcBef>
              <a:spcAft>
                <a:spcPct val="0"/>
              </a:spcAft>
              <a:defRPr/>
            </a:pPr>
            <a:r>
              <a:rPr lang="en-US" altLang="ja-JP" sz="831" b="1" dirty="0">
                <a:solidFill>
                  <a:prstClr val="black"/>
                </a:solidFill>
                <a:latin typeface="メイリオ"/>
                <a:ea typeface="メイリオ"/>
                <a:cs typeface="メイリオ"/>
              </a:rPr>
              <a:t>TEL: 03-5745-0200</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FAX: 03-3779-8720 </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http://dym.asia   </a:t>
            </a:r>
            <a:r>
              <a:rPr lang="ja-JP" altLang="en-US" sz="831" b="1" dirty="0">
                <a:solidFill>
                  <a:prstClr val="black"/>
                </a:solidFill>
                <a:latin typeface="メイリオ"/>
                <a:ea typeface="メイリオ"/>
                <a:cs typeface="メイリオ"/>
              </a:rPr>
              <a:t>代表取締役　水谷佑毅</a:t>
            </a:r>
          </a:p>
        </p:txBody>
      </p:sp>
      <p:pic>
        <p:nvPicPr>
          <p:cNvPr id="24" name="図 1"/>
          <p:cNvPicPr>
            <a:picLocks noChangeAspect="1"/>
          </p:cNvPicPr>
          <p:nvPr/>
        </p:nvPicPr>
        <p:blipFill rotWithShape="1">
          <a:blip r:embed="rId3" cstate="email">
            <a:extLst>
              <a:ext uri="{28A0092B-C50C-407E-A947-70E740481C1C}">
                <a14:useLocalDpi xmlns:a14="http://schemas.microsoft.com/office/drawing/2010/main"/>
              </a:ext>
            </a:extLst>
          </a:blip>
          <a:srcRect l="-1647" r="-11171"/>
          <a:stretch/>
        </p:blipFill>
        <p:spPr bwMode="auto">
          <a:xfrm>
            <a:off x="543897" y="5895365"/>
            <a:ext cx="1100981" cy="2248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テキスト ボックス 2"/>
          <p:cNvSpPr txBox="1"/>
          <p:nvPr/>
        </p:nvSpPr>
        <p:spPr>
          <a:xfrm>
            <a:off x="5070232" y="5597769"/>
            <a:ext cx="184731" cy="369332"/>
          </a:xfrm>
          <a:prstGeom prst="rect">
            <a:avLst/>
          </a:prstGeom>
          <a:noFill/>
        </p:spPr>
        <p:txBody>
          <a:bodyPr wrap="none" rtlCol="0">
            <a:spAutoFit/>
          </a:bodyPr>
          <a:lstStyle/>
          <a:p>
            <a:pPr fontAlgn="base">
              <a:spcBef>
                <a:spcPct val="0"/>
              </a:spcBef>
              <a:spcAft>
                <a:spcPct val="0"/>
              </a:spcAft>
              <a:defRPr/>
            </a:pPr>
            <a:endParaRPr lang="ja-JP" altLang="en-US">
              <a:solidFill>
                <a:prstClr val="black"/>
              </a:solidFill>
              <a:latin typeface="Arial" pitchFamily="34" charset="0"/>
              <a:ea typeface="ＭＳ Ｐゴシック" pitchFamily="50" charset="-128"/>
            </a:endParaRPr>
          </a:p>
        </p:txBody>
      </p:sp>
      <p:sp>
        <p:nvSpPr>
          <p:cNvPr id="18" name="正方形/長方形 17"/>
          <p:cNvSpPr/>
          <p:nvPr/>
        </p:nvSpPr>
        <p:spPr>
          <a:xfrm>
            <a:off x="2170038" y="989684"/>
            <a:ext cx="5565924" cy="369332"/>
          </a:xfrm>
          <a:prstGeom prst="rect">
            <a:avLst/>
          </a:prstGeom>
        </p:spPr>
        <p:txBody>
          <a:bodyPr wrap="square">
            <a:spAutoFit/>
          </a:bodyPr>
          <a:lstStyle/>
          <a:p>
            <a:pPr algn="ctr" fontAlgn="base">
              <a:spcBef>
                <a:spcPct val="20000"/>
              </a:spcBef>
              <a:spcAft>
                <a:spcPct val="0"/>
              </a:spcAft>
              <a:defRPr/>
            </a:pPr>
            <a:r>
              <a:rPr lang="ja-JP" altLang="en-US" b="1" dirty="0">
                <a:solidFill>
                  <a:prstClr val="black"/>
                </a:solidFill>
                <a:latin typeface="メイリオ" charset="0"/>
                <a:ea typeface="メイリオ" charset="0"/>
                <a:cs typeface="メイリオ" charset="0"/>
              </a:rPr>
              <a:t>貴社の明るい未来に必ず貢献致します。</a:t>
            </a:r>
          </a:p>
        </p:txBody>
      </p:sp>
      <p:sp>
        <p:nvSpPr>
          <p:cNvPr id="14" name="正方形/長方形 13"/>
          <p:cNvSpPr/>
          <p:nvPr/>
        </p:nvSpPr>
        <p:spPr>
          <a:xfrm>
            <a:off x="382695" y="2698377"/>
            <a:ext cx="598220" cy="205890"/>
          </a:xfrm>
          <a:prstGeom prst="rect">
            <a:avLst/>
          </a:prstGeom>
        </p:spPr>
        <p:txBody>
          <a:bodyPr wrap="square">
            <a:spAutoFit/>
          </a:bodyPr>
          <a:lstStyle/>
          <a:p>
            <a:pPr algn="ctr" fontAlgn="base">
              <a:spcBef>
                <a:spcPct val="20000"/>
              </a:spcBef>
              <a:spcAft>
                <a:spcPct val="0"/>
              </a:spcAft>
              <a:defRPr/>
            </a:pPr>
            <a:r>
              <a:rPr lang="ja-JP" altLang="en-US" sz="738">
                <a:solidFill>
                  <a:srgbClr val="FFFFFF"/>
                </a:solidFill>
                <a:latin typeface="メイリオ" charset="0"/>
                <a:ea typeface="メイリオ" charset="0"/>
                <a:cs typeface="メイリオ" charset="0"/>
              </a:rPr>
              <a:t>本社</a:t>
            </a:r>
          </a:p>
        </p:txBody>
      </p:sp>
      <p:sp>
        <p:nvSpPr>
          <p:cNvPr id="15" name="正方形/長方形 14"/>
          <p:cNvSpPr/>
          <p:nvPr/>
        </p:nvSpPr>
        <p:spPr>
          <a:xfrm>
            <a:off x="368300" y="2355213"/>
            <a:ext cx="756684" cy="215444"/>
          </a:xfrm>
          <a:prstGeom prst="rect">
            <a:avLst/>
          </a:prstGeom>
        </p:spPr>
        <p:txBody>
          <a:bodyPr wrap="square">
            <a:spAutoFit/>
          </a:bodyPr>
          <a:lstStyle/>
          <a:p>
            <a:pPr algn="ctr" fontAlgn="base">
              <a:spcBef>
                <a:spcPct val="20000"/>
              </a:spcBef>
              <a:spcAft>
                <a:spcPct val="0"/>
              </a:spcAft>
              <a:defRPr/>
            </a:pPr>
            <a:r>
              <a:rPr lang="ja-JP" altLang="en-US" sz="800" dirty="0">
                <a:solidFill>
                  <a:srgbClr val="FFFFFF"/>
                </a:solidFill>
                <a:latin typeface="メイリオ" charset="0"/>
                <a:ea typeface="メイリオ" charset="0"/>
                <a:cs typeface="メイリオ" charset="0"/>
              </a:rPr>
              <a:t>本社</a:t>
            </a:r>
          </a:p>
        </p:txBody>
      </p:sp>
      <p:grpSp>
        <p:nvGrpSpPr>
          <p:cNvPr id="22" name="グループ化 21">
            <a:extLst>
              <a:ext uri="{FF2B5EF4-FFF2-40B4-BE49-F238E27FC236}">
                <a16:creationId xmlns:a16="http://schemas.microsoft.com/office/drawing/2014/main" id="{05A1AABC-CDB8-5B83-4CFD-649967A361BF}"/>
              </a:ext>
            </a:extLst>
          </p:cNvPr>
          <p:cNvGrpSpPr/>
          <p:nvPr/>
        </p:nvGrpSpPr>
        <p:grpSpPr>
          <a:xfrm>
            <a:off x="381002" y="1772817"/>
            <a:ext cx="9143999" cy="3314853"/>
            <a:chOff x="1" y="1772816"/>
            <a:chExt cx="9143999" cy="3314853"/>
          </a:xfrm>
        </p:grpSpPr>
        <p:pic>
          <p:nvPicPr>
            <p:cNvPr id="21" name="図 20" descr="ポーズをとる男性グループ&#10;&#10;自動的に生成された説明">
              <a:extLst>
                <a:ext uri="{FF2B5EF4-FFF2-40B4-BE49-F238E27FC236}">
                  <a16:creationId xmlns:a16="http://schemas.microsoft.com/office/drawing/2014/main" id="{4927F40E-D146-C638-5583-C9DC2984722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642" r="4076"/>
            <a:stretch/>
          </p:blipFill>
          <p:spPr>
            <a:xfrm>
              <a:off x="6973793" y="3518745"/>
              <a:ext cx="2170207" cy="1567781"/>
            </a:xfrm>
            <a:prstGeom prst="rect">
              <a:avLst/>
            </a:prstGeom>
          </p:spPr>
        </p:pic>
        <p:pic>
          <p:nvPicPr>
            <p:cNvPr id="16" name="図 15" descr="白いシャツを着ている男性&#10;&#10;中程度の精度で自動的に生成された説明">
              <a:extLst>
                <a:ext uri="{FF2B5EF4-FFF2-40B4-BE49-F238E27FC236}">
                  <a16:creationId xmlns:a16="http://schemas.microsoft.com/office/drawing/2014/main" id="{2ECDFCA7-8611-D865-F999-FDCD0EC2126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83808" y="3519888"/>
              <a:ext cx="1989985" cy="1567781"/>
            </a:xfrm>
            <a:prstGeom prst="rect">
              <a:avLst/>
            </a:prstGeom>
          </p:spPr>
        </p:pic>
        <p:pic>
          <p:nvPicPr>
            <p:cNvPr id="10" name="図 9" descr="スーツを着た男性たち&#10;&#10;自動的に生成された説明">
              <a:extLst>
                <a:ext uri="{FF2B5EF4-FFF2-40B4-BE49-F238E27FC236}">
                  <a16:creationId xmlns:a16="http://schemas.microsoft.com/office/drawing/2014/main" id="{9D3AD52A-1514-4350-FFDD-09984B3666E2}"/>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0703" r="10363"/>
            <a:stretch/>
          </p:blipFill>
          <p:spPr>
            <a:xfrm>
              <a:off x="7299681" y="1773979"/>
              <a:ext cx="1842624" cy="1745909"/>
            </a:xfrm>
            <a:prstGeom prst="rect">
              <a:avLst/>
            </a:prstGeom>
          </p:spPr>
        </p:pic>
        <p:pic>
          <p:nvPicPr>
            <p:cNvPr id="7" name="図 6" descr="講堂にいる人たち&#10;&#10;中程度の精度で自動的に生成された説明">
              <a:extLst>
                <a:ext uri="{FF2B5EF4-FFF2-40B4-BE49-F238E27FC236}">
                  <a16:creationId xmlns:a16="http://schemas.microsoft.com/office/drawing/2014/main" id="{B1CA0DFF-0DAF-D5BD-8D9F-8AFB103E2698}"/>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512" t="12879" r="2477"/>
            <a:stretch/>
          </p:blipFill>
          <p:spPr>
            <a:xfrm>
              <a:off x="1" y="1772816"/>
              <a:ext cx="5089778" cy="3314853"/>
            </a:xfrm>
            <a:prstGeom prst="rect">
              <a:avLst/>
            </a:prstGeom>
          </p:spPr>
        </p:pic>
        <p:pic>
          <p:nvPicPr>
            <p:cNvPr id="11" name="図 10" descr="スーツを着た男性グループの写真&#10;&#10;低い精度で自動的に生成された説明">
              <a:extLst>
                <a:ext uri="{FF2B5EF4-FFF2-40B4-BE49-F238E27FC236}">
                  <a16:creationId xmlns:a16="http://schemas.microsoft.com/office/drawing/2014/main" id="{FEFAFF33-EFBF-C67E-586A-08D93AF295F8}"/>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8595" r="6763"/>
            <a:stretch/>
          </p:blipFill>
          <p:spPr>
            <a:xfrm>
              <a:off x="5089779" y="1772836"/>
              <a:ext cx="2215315" cy="1745909"/>
            </a:xfrm>
            <a:prstGeom prst="rect">
              <a:avLst/>
            </a:prstGeom>
          </p:spPr>
        </p:pic>
      </p:grpSp>
      <p:sp>
        <p:nvSpPr>
          <p:cNvPr id="6" name="正方形/長方形 5">
            <a:extLst>
              <a:ext uri="{FF2B5EF4-FFF2-40B4-BE49-F238E27FC236}">
                <a16:creationId xmlns:a16="http://schemas.microsoft.com/office/drawing/2014/main" id="{238B92EF-519D-929F-4345-5BAC445EF234}"/>
              </a:ext>
            </a:extLst>
          </p:cNvPr>
          <p:cNvSpPr/>
          <p:nvPr/>
        </p:nvSpPr>
        <p:spPr>
          <a:xfrm>
            <a:off x="128016" y="6620256"/>
            <a:ext cx="2852928" cy="237744"/>
          </a:xfrm>
          <a:prstGeom prst="rect">
            <a:avLst/>
          </a:prstGeom>
          <a:solidFill>
            <a:srgbClr val="191F54"/>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正方形/長方形 1">
            <a:extLst>
              <a:ext uri="{FF2B5EF4-FFF2-40B4-BE49-F238E27FC236}">
                <a16:creationId xmlns:a16="http://schemas.microsoft.com/office/drawing/2014/main" id="{A949B271-D24D-666E-90F2-EA616E1EABC2}"/>
              </a:ext>
            </a:extLst>
          </p:cNvPr>
          <p:cNvSpPr/>
          <p:nvPr/>
        </p:nvSpPr>
        <p:spPr>
          <a:xfrm>
            <a:off x="368300" y="0"/>
            <a:ext cx="9537700" cy="514974"/>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185355464"/>
      </p:ext>
    </p:extLst>
  </p:cSld>
  <p:clrMapOvr>
    <a:masterClrMapping/>
  </p:clrMapOvr>
  <p:transition spd="slow"/>
</p:sld>
</file>

<file path=ppt/theme/theme1.xml><?xml version="1.0" encoding="utf-8"?>
<a:theme xmlns:a="http://schemas.openxmlformats.org/drawingml/2006/main" name="テーマ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テーマ1" id="{8EA1701B-0E00-4167-9612-575199E01EDB}" vid="{8EF6575E-BB77-44AE-AF00-801DE4CAFB82}"/>
    </a:ext>
  </a:extLst>
</a:theme>
</file>

<file path=ppt/theme/theme2.xml><?xml version="1.0" encoding="utf-8"?>
<a:theme xmlns:a="http://schemas.openxmlformats.org/drawingml/2006/main" name="DYMJAP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141730</TotalTime>
  <Words>8958</Words>
  <Application>Microsoft Office PowerPoint</Application>
  <PresentationFormat>A4 210 x 297 mm</PresentationFormat>
  <Paragraphs>2049</Paragraphs>
  <Slides>56</Slides>
  <Notes>11</Notes>
  <HiddenSlides>5</HiddenSlides>
  <MMClips>0</MMClips>
  <ScaleCrop>false</ScaleCrop>
  <HeadingPairs>
    <vt:vector size="6" baseType="variant">
      <vt:variant>
        <vt:lpstr>使用されているフォント</vt:lpstr>
      </vt:variant>
      <vt:variant>
        <vt:i4>5</vt:i4>
      </vt:variant>
      <vt:variant>
        <vt:lpstr>テーマ</vt:lpstr>
      </vt:variant>
      <vt:variant>
        <vt:i4>2</vt:i4>
      </vt:variant>
      <vt:variant>
        <vt:lpstr>スライド タイトル</vt:lpstr>
      </vt:variant>
      <vt:variant>
        <vt:i4>56</vt:i4>
      </vt:variant>
    </vt:vector>
  </HeadingPairs>
  <TitlesOfParts>
    <vt:vector size="63" baseType="lpstr">
      <vt:lpstr>ＭＳ Ｐゴシック</vt:lpstr>
      <vt:lpstr>Meiryo</vt:lpstr>
      <vt:lpstr>Arial</vt:lpstr>
      <vt:lpstr>Calibri</vt:lpstr>
      <vt:lpstr>Century Gothic</vt:lpstr>
      <vt:lpstr>テーマ1</vt:lpstr>
      <vt:lpstr>DYMJAPAN</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中村 駿</dc:creator>
  <cp:lastModifiedBy>殿村 亮太</cp:lastModifiedBy>
  <cp:revision>1924</cp:revision>
  <cp:lastPrinted>2022-11-01T11:38:14Z</cp:lastPrinted>
  <dcterms:created xsi:type="dcterms:W3CDTF">2015-09-04T09:21:15Z</dcterms:created>
  <dcterms:modified xsi:type="dcterms:W3CDTF">2026-10-21T07:29:34Z</dcterms:modified>
</cp:coreProperties>
</file>