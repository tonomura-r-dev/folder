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0"/>
  </p:notesMasterIdLst>
  <p:handoutMasterIdLst>
    <p:handoutMasterId r:id="rId41"/>
  </p:handoutMasterIdLst>
  <p:sldIdLst>
    <p:sldId id="2363" r:id="rId3"/>
    <p:sldId id="2736" r:id="rId4"/>
    <p:sldId id="2935" r:id="rId5"/>
    <p:sldId id="2989" r:id="rId6"/>
    <p:sldId id="2990" r:id="rId7"/>
    <p:sldId id="2991" r:id="rId8"/>
    <p:sldId id="2992" r:id="rId9"/>
    <p:sldId id="2993" r:id="rId10"/>
    <p:sldId id="2994" r:id="rId11"/>
    <p:sldId id="2995" r:id="rId12"/>
    <p:sldId id="2956" r:id="rId13"/>
    <p:sldId id="2988" r:id="rId14"/>
    <p:sldId id="2762" r:id="rId15"/>
    <p:sldId id="2962" r:id="rId16"/>
    <p:sldId id="2937" r:id="rId17"/>
    <p:sldId id="2996" r:id="rId18"/>
    <p:sldId id="2997" r:id="rId19"/>
    <p:sldId id="2954" r:id="rId20"/>
    <p:sldId id="2998" r:id="rId21"/>
    <p:sldId id="2966" r:id="rId22"/>
    <p:sldId id="2999" r:id="rId23"/>
    <p:sldId id="3000" r:id="rId24"/>
    <p:sldId id="3001" r:id="rId25"/>
    <p:sldId id="2955" r:id="rId26"/>
    <p:sldId id="2953" r:id="rId27"/>
    <p:sldId id="3002" r:id="rId28"/>
    <p:sldId id="3003" r:id="rId29"/>
    <p:sldId id="3004" r:id="rId30"/>
    <p:sldId id="3005" r:id="rId31"/>
    <p:sldId id="3006" r:id="rId32"/>
    <p:sldId id="2967" r:id="rId33"/>
    <p:sldId id="3008" r:id="rId34"/>
    <p:sldId id="3007" r:id="rId35"/>
    <p:sldId id="2908" r:id="rId36"/>
    <p:sldId id="2939" r:id="rId37"/>
    <p:sldId id="2942" r:id="rId38"/>
    <p:sldId id="1169" r:id="rId3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37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6.jpe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2696718" y="4341752"/>
            <a:ext cx="4460159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120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検討背景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458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応募は「とりあえず」・3つの壁・検索の心理・できること／できないこと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ニーズ調査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シーズナリティ（派遣3月・バイト4月）・前後検索（派遣／単発バイト）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全体設計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ジャーニー8フェーズ・対策領域・どこでLINEに繋ぐか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構築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04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施策展開図・友だち追加の動線・あいさつ・希望条件5問・リッチメニュー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配信設計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0212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7日ステップ・実文面・契約満了前の声かけ・年間カレンダー・通知メッセージ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歩留まり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面接・職場見学の実施率を上げる打ち手・時間帯のずれ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5302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22000" y="5360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2000" y="5360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0" y="5302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成果と費用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8000" y="5302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効果測定・費用プラン・次回の試算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6246000"/>
            <a:ext cx="9043200" cy="28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★ 本丸は「5 配信設計」。広告費を増やさずに、同じ人に何度も応募してもらいます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8883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検討背景｜応募は「決断」ではなく「とりあえず」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512000"/>
            <a:ext cx="4392000" cy="3168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512000"/>
            <a:ext cx="4392000" cy="3168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2000" y="4878000"/>
            <a:ext cx="9043200" cy="6840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59583"/>
            <a:ext cx="8755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 新しい応募を増やす提案ではありません。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 一度来た人が、次の仕事探しで戻ってくる仕組みをつくる提案です。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567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2000" y="5710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応募のたびに、ゼロから買い直している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触れるのは、応募したあとと、次に探すときの2か所。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・同じ職種・エリアで他社と競り合う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172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548000"/>
            <a:ext cx="3016800" cy="237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★ここが本丸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04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・そのとき、接点が残っていない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・次の応募も広告から買い直す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4104000"/>
            <a:ext cx="9043200" cy="8593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②③を潰すと、広告費は据え置きのまま、1人あたりの応募回数が増える。</a:t>
            </a: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そして応募が増えると、応募CPAが下がる。＝ 同じ予算で勝てる範囲が広がる。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前後検索で見ると、応募の前は「探す」、後は「続けられるか」「バレないか」。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つまり応募した時点では、まだ不安が片づいていない。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4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応募は終点ではない。応募したあとに「続けられるか」を調べている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55200"/>
            <a:ext cx="9331200" cy="583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先に線を引きます。変えられないことを明らかにしたうえで、変えられる場所に絞ります。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384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・求人の質と量（仕入れ）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・時給・給与などの条件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・雇用情勢そのものの動き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384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・条件に合う新着だけを届ける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・契約満了の前に、次の仕事を案内する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・閑散期に友だちを貯め、繁忙期の応募につなぐ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2000" y="5170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求人と条件は変えられない。変えられるのは、戻ってきてもらう仕組みだけ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両方とも12月が最も少ない（派遣88.4／バイト88.0）。競合が動かない月に友だちを貯める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山の直前に動くのでは遅い。谷で貯めて、山で刈る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応募と同時に先の不安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応募した日に、もう次の不安が始まっている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他社分析①｜主要エージェントのLINE運用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他社分析②｜運用の型は3つに分かれる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同じLINEでも、追加直後の設計がまったく違う。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外部登録型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62000"/>
            <a:ext cx="2800800" cy="612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連携・会員登録フォームへ誘導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会員基盤があるから成立する。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規模が前提の型。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分岐提示型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5200" y="1962000"/>
            <a:ext cx="2800800" cy="61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200" y="2124731"/>
            <a:ext cx="2800800" cy="28653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2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カウンセリング前／済みで2択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2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状態で分けるのは上手いが、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あいさつで何も起こしていない。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2400" y="1548000"/>
            <a:ext cx="3016800" cy="33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LINE内完結型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400" y="1962000"/>
            <a:ext cx="2800800" cy="612000"/>
          </a:xfrm>
          <a:prstGeom prst="rect">
            <a:avLst/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04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UZUZ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4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その場で質問に答えさせる</a:t>
            </a:r>
            <a:endParaRPr sz="1400" b="1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04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属性が取れる。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出し分けの前提がここで作られる。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07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511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規模で勝てなくても、設計で差がつく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出典｜各社のLINE公式アカウントに実際に友だち追加して確認（2026年9月12日）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全体設計｜働きたい人のカスタマージャーニー8フェーズ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73628C-261B-9AE4-0B66-12C6BEDE3EDD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集客動線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山は④応募ではなく⑧契約満了からの再応募。ここが本提案の主戦場です。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5BF9CF-DABE-18D1-6B28-2A955BBABF7C}"/>
              </a:ext>
            </a:extLst>
          </p:cNvPr>
          <p:cNvSpPr/>
          <p:nvPr/>
        </p:nvSpPr>
        <p:spPr>
          <a:xfrm>
            <a:off x="0" y="577940"/>
            <a:ext cx="9906000" cy="8127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21066C-FFDA-B384-2E51-56A4C461EF38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B9AF0-6B1E-A342-438B-2E30C285E29D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F4F417D4-4BDF-E609-F703-DA8A26BF0E5F}"/>
              </a:ext>
            </a:extLst>
          </p:cNvPr>
          <p:cNvSpPr txBox="1"/>
          <p:nvPr/>
        </p:nvSpPr>
        <p:spPr>
          <a:xfrm>
            <a:off x="548883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具体企画のブレスト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C44F8-D6E0-1CF5-E49B-2A3195EB74D7}"/>
              </a:ext>
            </a:extLst>
          </p:cNvPr>
          <p:cNvSpPr txBox="1"/>
          <p:nvPr/>
        </p:nvSpPr>
        <p:spPr>
          <a:xfrm>
            <a:off x="1010194" y="1886552"/>
            <a:ext cx="4963884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・ステップ配信案（前後クエリと連動）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・企画投稿案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・通知メッセ利用シーン想定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---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・飛び道具提案（奇抜な企画軸で）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・LINEOA実績（LY公式ならOK）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00B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電話番号あてに届く。友だちでなくてもよい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構築｜応募直後の希望条件（5問）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〜1,200円　B) 〜1,500円　C) 〜1,800円　D) それ以上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土日のみ　D) 週1〜2日だけ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「今日から働ける」求人の対象を決める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最重要CTA。常に左上に置く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構築｜友だち追加後15日でアクティブ率が落ちる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Q5（働き方）の回答で走らせ方を変えます。「単発・日払い」はステップに入れず新着のみ。契約満了の声かけは、就業開始日から逆算して自動で送ります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「契約期間内 辞める」は前後検索で確実に立っている。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就業開始日から逆算して自動で送る。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B77D6B5-FA2F-ED51-FB47-E8DC14B8ADE5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配信設計｜すぐ動かない人の診断と追客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A8DDF192-E20B-6A12-DAA4-2904850388D2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14日で動かなかった人は、売り込まずに診断でつなぎます。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結果の4タイプで、その後の配信の強さを変えます。</a:t>
            </a: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1CF158-D3B8-740E-7BB9-7BA2711D5A86}"/>
              </a:ext>
            </a:extLst>
          </p:cNvPr>
          <p:cNvSpPr/>
          <p:nvPr/>
        </p:nvSpPr>
        <p:spPr>
          <a:xfrm>
            <a:off x="430467" y="2806337"/>
            <a:ext cx="39978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診断設問（4問・各5択）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D0D52073-224A-0961-D46B-A0D0A35577C1}"/>
              </a:ext>
            </a:extLst>
          </p:cNvPr>
          <p:cNvSpPr/>
          <p:nvPr/>
        </p:nvSpPr>
        <p:spPr>
          <a:xfrm>
            <a:off x="404949" y="314466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5D645B7-F48E-7853-EBC0-8E0C5EF81708}"/>
              </a:ext>
            </a:extLst>
          </p:cNvPr>
          <p:cNvSpPr/>
          <p:nvPr/>
        </p:nvSpPr>
        <p:spPr>
          <a:xfrm>
            <a:off x="559121" y="314466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  「仕事のことを考えると、日曜の夜に憂鬱になりますか？」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Shape 6">
            <a:extLst>
              <a:ext uri="{FF2B5EF4-FFF2-40B4-BE49-F238E27FC236}">
                <a16:creationId xmlns:a16="http://schemas.microsoft.com/office/drawing/2014/main" id="{6791C392-1A7B-7AE0-A33F-16F51A18C75D}"/>
              </a:ext>
            </a:extLst>
          </p:cNvPr>
          <p:cNvSpPr/>
          <p:nvPr/>
        </p:nvSpPr>
        <p:spPr>
          <a:xfrm>
            <a:off x="404949" y="351042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67E7D97-92DF-6373-F0A3-CF953F46FBAE}"/>
              </a:ext>
            </a:extLst>
          </p:cNvPr>
          <p:cNvSpPr/>
          <p:nvPr/>
        </p:nvSpPr>
        <p:spPr>
          <a:xfrm>
            <a:off x="559121" y="351042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  「給与明細を見て『こんなものか』と思ったことがありますか？」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1EEAB261-7048-6C4C-10D7-6CA60C396F31}"/>
              </a:ext>
            </a:extLst>
          </p:cNvPr>
          <p:cNvSpPr/>
          <p:nvPr/>
        </p:nvSpPr>
        <p:spPr>
          <a:xfrm>
            <a:off x="404949" y="387618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D0B754F8-CEA6-0F61-4B75-EC0D7AB0BBDC}"/>
              </a:ext>
            </a:extLst>
          </p:cNvPr>
          <p:cNvSpPr/>
          <p:nvPr/>
        </p:nvSpPr>
        <p:spPr>
          <a:xfrm>
            <a:off x="559121" y="387618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  「5年後、今の会社にいる自分の姿が想像できますか？」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FF427501-423E-6CDF-014B-ED232F961BFB}"/>
              </a:ext>
            </a:extLst>
          </p:cNvPr>
          <p:cNvSpPr/>
          <p:nvPr/>
        </p:nvSpPr>
        <p:spPr>
          <a:xfrm>
            <a:off x="404949" y="424194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DB910A08-DF58-32FA-2432-5C0AF3C83C53}"/>
              </a:ext>
            </a:extLst>
          </p:cNvPr>
          <p:cNvSpPr/>
          <p:nvPr/>
        </p:nvSpPr>
        <p:spPr>
          <a:xfrm>
            <a:off x="559121" y="424194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  「上司・同僚と話す際に本音を言えていると感じますか？」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9C9DDEC-B91F-B9F3-D8EE-6DA3BF2758CE}"/>
              </a:ext>
            </a:extLst>
          </p:cNvPr>
          <p:cNvSpPr/>
          <p:nvPr/>
        </p:nvSpPr>
        <p:spPr>
          <a:xfrm>
            <a:off x="5177853" y="281080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診断結果 4パターン＋追客方針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7D9279AB-DA4C-865E-1BFC-B99D3C6C3C3F}"/>
              </a:ext>
            </a:extLst>
          </p:cNvPr>
          <p:cNvSpPr/>
          <p:nvPr/>
        </p:nvSpPr>
        <p:spPr>
          <a:xfrm>
            <a:off x="5177853" y="31491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FE25EE99-D7D8-85CF-09FC-6465111BFB2C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2BB4149-C773-D448-ED22-0664FCDF9177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即転職型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95E60EE8-0A0B-1609-55AE-E84B1C214243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72D5F163-FCBF-2136-41BC-77594BF1877E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高スコア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10AA3820-1E64-09EE-B24B-B91B9B0E3954}"/>
              </a:ext>
            </a:extLst>
          </p:cNvPr>
          <p:cNvSpPr/>
          <p:nvPr/>
        </p:nvSpPr>
        <p:spPr>
          <a:xfrm>
            <a:off x="7207821" y="32405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05A5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ホットリスト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DDA72DF-D996-0751-2316-45B75A6606C6}"/>
              </a:ext>
            </a:extLst>
          </p:cNvPr>
          <p:cNvSpPr/>
          <p:nvPr/>
        </p:nvSpPr>
        <p:spPr>
          <a:xfrm>
            <a:off x="5251005" y="34966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夜間・土日の面談枠をすぐに案内。急かす言葉は使わない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011CB3D1-C7A5-7956-3BAA-69C2CB905B6A}"/>
              </a:ext>
            </a:extLst>
          </p:cNvPr>
          <p:cNvSpPr/>
          <p:nvPr/>
        </p:nvSpPr>
        <p:spPr>
          <a:xfrm>
            <a:off x="5177853" y="38349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Shape 21">
            <a:extLst>
              <a:ext uri="{FF2B5EF4-FFF2-40B4-BE49-F238E27FC236}">
                <a16:creationId xmlns:a16="http://schemas.microsoft.com/office/drawing/2014/main" id="{4C69AF05-15A8-3F8C-8F51-AD3439C14622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FF31A922-59CE-9653-E310-5F8646A1A6DD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慎重検討型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BF532CBE-24FC-8551-A3EA-4F3D1688FA51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6B81A3BF-2D14-0A6E-58E2-41F6C95FFF9D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中高スコア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A7F23C91-1AC9-92C8-0444-0C2A7B7900FB}"/>
              </a:ext>
            </a:extLst>
          </p:cNvPr>
          <p:cNvSpPr/>
          <p:nvPr/>
        </p:nvSpPr>
        <p:spPr>
          <a:xfrm>
            <a:off x="7207821" y="39263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8A83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ウォームリスト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901DF11-6A92-B335-2D97-90FF2A2F3B7E}"/>
              </a:ext>
            </a:extLst>
          </p:cNvPr>
          <p:cNvSpPr/>
          <p:nvPr/>
        </p:nvSpPr>
        <p:spPr>
          <a:xfrm>
            <a:off x="5251005" y="41824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転職成功事例・年収比較データを週1配信。3〜4週間かけて温める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20D444BB-26DB-74C1-2095-C4CECE5DD870}"/>
              </a:ext>
            </a:extLst>
          </p:cNvPr>
          <p:cNvSpPr/>
          <p:nvPr/>
        </p:nvSpPr>
        <p:spPr>
          <a:xfrm>
            <a:off x="5177853" y="45207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B7739C89-3CB4-FFD4-5878-8E37F4F17031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86C5CCD4-DADF-8B0D-5331-4D81B5C903BC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情報収集型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Shape 30">
            <a:extLst>
              <a:ext uri="{FF2B5EF4-FFF2-40B4-BE49-F238E27FC236}">
                <a16:creationId xmlns:a16="http://schemas.microsoft.com/office/drawing/2014/main" id="{4F2323BE-47BE-D53C-98B3-4B403E562891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5812A64F-2CCF-7FF6-0B3F-E39A36A21562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0F8F83C-84BB-D4BE-225A-E9D41ECDEA76}"/>
              </a:ext>
            </a:extLst>
          </p:cNvPr>
          <p:cNvSpPr/>
          <p:nvPr/>
        </p:nvSpPr>
        <p:spPr>
          <a:xfrm>
            <a:off x="7207821" y="46121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ミドルリスト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88DC7D4E-3340-9B35-991E-96ED00531893}"/>
              </a:ext>
            </a:extLst>
          </p:cNvPr>
          <p:cNvSpPr/>
          <p:nvPr/>
        </p:nvSpPr>
        <p:spPr>
          <a:xfrm>
            <a:off x="5251005" y="48682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業界動向・スキルアップ情報を提供。半年スパンで関係構築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966CBC37-CF13-58B0-5CD8-1E77836F7F29}"/>
              </a:ext>
            </a:extLst>
          </p:cNvPr>
          <p:cNvSpPr/>
          <p:nvPr/>
        </p:nvSpPr>
        <p:spPr>
          <a:xfrm>
            <a:off x="5177853" y="52065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2" name="Shape 35">
            <a:extLst>
              <a:ext uri="{FF2B5EF4-FFF2-40B4-BE49-F238E27FC236}">
                <a16:creationId xmlns:a16="http://schemas.microsoft.com/office/drawing/2014/main" id="{100CDE3F-E390-202C-287F-515D436D1ADB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D886FBA-D1FA-1F1D-4774-F731872AEE33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現状維持型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0A8BE876-C3E9-5C00-CA0A-659FF0188ECF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BB5CADDA-DE23-AF11-67EE-438A0E4F573B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DEDD963-E8C1-C16E-2022-546114A75A76}"/>
              </a:ext>
            </a:extLst>
          </p:cNvPr>
          <p:cNvSpPr/>
          <p:nvPr/>
        </p:nvSpPr>
        <p:spPr>
          <a:xfrm>
            <a:off x="7207821" y="52979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コールドリスト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7" name="Text 40">
            <a:extLst>
              <a:ext uri="{FF2B5EF4-FFF2-40B4-BE49-F238E27FC236}">
                <a16:creationId xmlns:a16="http://schemas.microsoft.com/office/drawing/2014/main" id="{00198631-8657-65B3-0A0A-7C5220C5C5A7}"/>
              </a:ext>
            </a:extLst>
          </p:cNvPr>
          <p:cNvSpPr/>
          <p:nvPr/>
        </p:nvSpPr>
        <p:spPr>
          <a:xfrm>
            <a:off x="5251005" y="55540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無理にアプローチせず月1配信。「環境変化」で再燃を待つ長期戦略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EED969DB-6090-3801-B39E-93C24360A11A}"/>
              </a:ext>
            </a:extLst>
          </p:cNvPr>
          <p:cNvSpPr/>
          <p:nvPr/>
        </p:nvSpPr>
        <p:spPr>
          <a:xfrm>
            <a:off x="775063" y="2010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4BD93F70-A1A4-6B20-298D-BE3F4D258BE9}"/>
              </a:ext>
            </a:extLst>
          </p:cNvPr>
          <p:cNvSpPr/>
          <p:nvPr/>
        </p:nvSpPr>
        <p:spPr>
          <a:xfrm>
            <a:off x="957943" y="2010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目的：14日ステップで動かなかった人に、答えやすい診断を送り、配信の強さを決める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C8374B-5F7F-A61F-169C-C54DCD7D51C0}"/>
              </a:ext>
            </a:extLst>
          </p:cNvPr>
          <p:cNvSpPr/>
          <p:nvPr/>
        </p:nvSpPr>
        <p:spPr>
          <a:xfrm>
            <a:off x="195943" y="1649952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E7D10-E257-A9D8-F6D6-AF0A9A41DDC4}"/>
              </a:ext>
            </a:extLst>
          </p:cNvPr>
          <p:cNvSpPr txBox="1"/>
          <p:nvPr/>
        </p:nvSpPr>
        <p:spPr>
          <a:xfrm>
            <a:off x="3872439" y="1317985"/>
            <a:ext cx="5767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売り込みを嫌う人でも、診断なら答えてもらえる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1E96465-A2D8-BAD2-908E-13EA6B2BA2F0}"/>
              </a:ext>
            </a:extLst>
          </p:cNvPr>
          <p:cNvSpPr/>
          <p:nvPr/>
        </p:nvSpPr>
        <p:spPr>
          <a:xfrm>
            <a:off x="4769313" y="3151795"/>
            <a:ext cx="375557" cy="53024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73E9D-47C1-7D4E-1D0D-EC3756179319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競合が動かない12月に友だちを貯め、3月は派遣、4月はバイトの応募へつなぎます。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派遣の山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競合が動かないので、友だちを最も安く貯められる。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休眠リストの掘り起こし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友だちでなくても届く。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次の希望を聞き、条件に合う新着を案内する。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通知メッセージは別途費用（初期10万円／月額8万円〜＋通数単価7円）。電話番号ベースの配信のため、事前に利用規約の確認が必要です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応募CPAは、広告費ではなく「戻ってきた人の数」で決まる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リピート応募率・応募CPA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構造で示す。約束しない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0000"/>
                </a:solidFill>
                <a:latin typeface="Meiryo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成果｜何人多く決まれば、元が取れるか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貴社の数字がなくても、これだけは計算できます。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84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1857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貴社の1成約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857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理論年収 450万円 × 手数料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3999" y="1584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135万円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520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2793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LINE運用費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793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月額（プランにより変動）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2520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30万円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9043200" cy="810000"/>
          </a:xfrm>
          <a:prstGeom prst="rect">
            <a:avLst/>
          </a:prstGeom>
          <a:solidFill>
            <a:srgbClr val="FDF1E9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000" y="3729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回収に必要な成約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729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30万円 ÷ 135万円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99" y="3456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0.22件／月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solidFill>
            <a:srgbClr val="EEF2F9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4ヶ月に1人 多く決まれば、それで元が取れる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人材紹介は1件が重い。だから、必要な増分は小さい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業界水準｜手数料率は理論年収の30〜35%（業界水準）。理論年収450万は説明のための例です。貴社の平均年収・手数料率でお出し直しします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11AA335-9B44-6B58-2534-BB048200CAD7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具体施策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72627B2D-8393-455B-0855-0EB48BEF4480}"/>
              </a:ext>
            </a:extLst>
          </p:cNvPr>
          <p:cNvSpPr txBox="1"/>
          <p:nvPr/>
        </p:nvSpPr>
        <p:spPr>
          <a:xfrm>
            <a:off x="309397" y="778217"/>
            <a:ext cx="93309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想定：リピート、クロスセルを計画的に実施</a:t>
            </a:r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25BEC70F-1CF8-F07A-EA93-FC6E8D940E95}"/>
              </a:ext>
            </a:extLst>
          </p:cNvPr>
          <p:cNvSpPr/>
          <p:nvPr/>
        </p:nvSpPr>
        <p:spPr>
          <a:xfrm>
            <a:off x="622035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5" name="Text 9">
            <a:extLst>
              <a:ext uri="{FF2B5EF4-FFF2-40B4-BE49-F238E27FC236}">
                <a16:creationId xmlns:a16="http://schemas.microsoft.com/office/drawing/2014/main" id="{15FC7E1F-9877-CB06-F5F1-37331233B89F}"/>
              </a:ext>
            </a:extLst>
          </p:cNvPr>
          <p:cNvSpPr/>
          <p:nvPr/>
        </p:nvSpPr>
        <p:spPr>
          <a:xfrm>
            <a:off x="750051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リピート施策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7" name="Text 10">
            <a:extLst>
              <a:ext uri="{FF2B5EF4-FFF2-40B4-BE49-F238E27FC236}">
                <a16:creationId xmlns:a16="http://schemas.microsoft.com/office/drawing/2014/main" id="{04713F76-50FA-FA3F-D4BD-08DC408EA176}"/>
              </a:ext>
            </a:extLst>
          </p:cNvPr>
          <p:cNvSpPr/>
          <p:nvPr/>
        </p:nvSpPr>
        <p:spPr>
          <a:xfrm>
            <a:off x="2541313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既存顧客を繰り返しCVさせる設計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9" name="Shape 11">
            <a:extLst>
              <a:ext uri="{FF2B5EF4-FFF2-40B4-BE49-F238E27FC236}">
                <a16:creationId xmlns:a16="http://schemas.microsoft.com/office/drawing/2014/main" id="{8636F3C8-63E7-CBB8-3872-E6B2584513F2}"/>
              </a:ext>
            </a:extLst>
          </p:cNvPr>
          <p:cNvSpPr/>
          <p:nvPr/>
        </p:nvSpPr>
        <p:spPr>
          <a:xfrm>
            <a:off x="5066019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1" name="Text 12">
            <a:extLst>
              <a:ext uri="{FF2B5EF4-FFF2-40B4-BE49-F238E27FC236}">
                <a16:creationId xmlns:a16="http://schemas.microsoft.com/office/drawing/2014/main" id="{6615CF57-D24E-7288-7AB0-1DF692D04526}"/>
              </a:ext>
            </a:extLst>
          </p:cNvPr>
          <p:cNvSpPr/>
          <p:nvPr/>
        </p:nvSpPr>
        <p:spPr>
          <a:xfrm>
            <a:off x="5194035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7C345B51-6053-1E03-9823-0F386006D466}"/>
              </a:ext>
            </a:extLst>
          </p:cNvPr>
          <p:cNvSpPr/>
          <p:nvPr/>
        </p:nvSpPr>
        <p:spPr>
          <a:xfrm>
            <a:off x="6985297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関連サービス・上位プランへの誘導設計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Shape 15">
            <a:extLst>
              <a:ext uri="{FF2B5EF4-FFF2-40B4-BE49-F238E27FC236}">
                <a16:creationId xmlns:a16="http://schemas.microsoft.com/office/drawing/2014/main" id="{2BEE7A23-A38F-24B6-8785-FB455AC73808}"/>
              </a:ext>
            </a:extLst>
          </p:cNvPr>
          <p:cNvSpPr/>
          <p:nvPr/>
        </p:nvSpPr>
        <p:spPr>
          <a:xfrm>
            <a:off x="622035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9" name="Shape 17">
            <a:extLst>
              <a:ext uri="{FF2B5EF4-FFF2-40B4-BE49-F238E27FC236}">
                <a16:creationId xmlns:a16="http://schemas.microsoft.com/office/drawing/2014/main" id="{6EA2FE60-CA64-D4E8-A942-9C618AC68B8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1" name="Text 18">
            <a:extLst>
              <a:ext uri="{FF2B5EF4-FFF2-40B4-BE49-F238E27FC236}">
                <a16:creationId xmlns:a16="http://schemas.microsoft.com/office/drawing/2014/main" id="{E856EF37-698D-F191-3067-928FC0AFC45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3" name="Shape 19">
            <a:extLst>
              <a:ext uri="{FF2B5EF4-FFF2-40B4-BE49-F238E27FC236}">
                <a16:creationId xmlns:a16="http://schemas.microsoft.com/office/drawing/2014/main" id="{C3D7846E-19C7-41FD-05BA-E1F3CF32FFFD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B823E9DA-260C-1603-CA04-ED130644314C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アフターフォロー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Text 21">
            <a:extLst>
              <a:ext uri="{FF2B5EF4-FFF2-40B4-BE49-F238E27FC236}">
                <a16:creationId xmlns:a16="http://schemas.microsoft.com/office/drawing/2014/main" id="{FCE3B029-FE9D-7576-7B05-2585AB5A66B1}"/>
              </a:ext>
            </a:extLst>
          </p:cNvPr>
          <p:cNvSpPr/>
          <p:nvPr/>
        </p:nvSpPr>
        <p:spPr>
          <a:xfrm>
            <a:off x="1993635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購入・利用完了後の自動フォローアップ配信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22">
            <a:extLst>
              <a:ext uri="{FF2B5EF4-FFF2-40B4-BE49-F238E27FC236}">
                <a16:creationId xmlns:a16="http://schemas.microsoft.com/office/drawing/2014/main" id="{C1ECFC15-9129-ED3B-D3EF-84A237B9E067}"/>
              </a:ext>
            </a:extLst>
          </p:cNvPr>
          <p:cNvSpPr/>
          <p:nvPr/>
        </p:nvSpPr>
        <p:spPr>
          <a:xfrm>
            <a:off x="731763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サービス利用後30日・3ヶ月・6ヶ月のタイミングで自動配信。「その後いかがですか？」「定期メンテナンスのご案内」など適切なタイミングで次回利用を自然に促す。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Shape 23">
            <a:extLst>
              <a:ext uri="{FF2B5EF4-FFF2-40B4-BE49-F238E27FC236}">
                <a16:creationId xmlns:a16="http://schemas.microsoft.com/office/drawing/2014/main" id="{02AAD0EA-81DD-0BAE-0FBC-DF75C0098CFF}"/>
              </a:ext>
            </a:extLst>
          </p:cNvPr>
          <p:cNvSpPr/>
          <p:nvPr/>
        </p:nvSpPr>
        <p:spPr>
          <a:xfrm>
            <a:off x="713475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購入完了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597E6017-68DF-6125-D04E-EBE42E4AC1C8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26">
            <a:extLst>
              <a:ext uri="{FF2B5EF4-FFF2-40B4-BE49-F238E27FC236}">
                <a16:creationId xmlns:a16="http://schemas.microsoft.com/office/drawing/2014/main" id="{A0AA9CE1-6CB6-6DB8-F485-AA5FC31BD9AB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Shape 27">
            <a:extLst>
              <a:ext uri="{FF2B5EF4-FFF2-40B4-BE49-F238E27FC236}">
                <a16:creationId xmlns:a16="http://schemas.microsoft.com/office/drawing/2014/main" id="{0033C6EE-6DB2-CF55-B4C7-D25DA14E4D93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Text 28">
            <a:extLst>
              <a:ext uri="{FF2B5EF4-FFF2-40B4-BE49-F238E27FC236}">
                <a16:creationId xmlns:a16="http://schemas.microsoft.com/office/drawing/2014/main" id="{7A443300-A185-ED88-10AA-DFD63178035A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30日/3ヶ月/6ヶ月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29">
            <a:extLst>
              <a:ext uri="{FF2B5EF4-FFF2-40B4-BE49-F238E27FC236}">
                <a16:creationId xmlns:a16="http://schemas.microsoft.com/office/drawing/2014/main" id="{A8CDF565-4E56-34DE-F4B7-83C324AB1111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30">
            <a:extLst>
              <a:ext uri="{FF2B5EF4-FFF2-40B4-BE49-F238E27FC236}">
                <a16:creationId xmlns:a16="http://schemas.microsoft.com/office/drawing/2014/main" id="{C7552AF9-D505-7C0D-70BF-ACE641907EEA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Shape 31">
            <a:extLst>
              <a:ext uri="{FF2B5EF4-FFF2-40B4-BE49-F238E27FC236}">
                <a16:creationId xmlns:a16="http://schemas.microsoft.com/office/drawing/2014/main" id="{41993352-6267-4FE7-B0F8-37A18FC55C5D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32">
            <a:extLst>
              <a:ext uri="{FF2B5EF4-FFF2-40B4-BE49-F238E27FC236}">
                <a16:creationId xmlns:a16="http://schemas.microsoft.com/office/drawing/2014/main" id="{56896933-7E6D-6A12-EEAF-C1E0A07B9A27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自動リマインド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Shape 33">
            <a:extLst>
              <a:ext uri="{FF2B5EF4-FFF2-40B4-BE49-F238E27FC236}">
                <a16:creationId xmlns:a16="http://schemas.microsoft.com/office/drawing/2014/main" id="{F55E1F0E-CE1E-4788-56E8-EEC6BC428B40}"/>
              </a:ext>
            </a:extLst>
          </p:cNvPr>
          <p:cNvSpPr/>
          <p:nvPr/>
        </p:nvSpPr>
        <p:spPr>
          <a:xfrm>
            <a:off x="622035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35">
            <a:extLst>
              <a:ext uri="{FF2B5EF4-FFF2-40B4-BE49-F238E27FC236}">
                <a16:creationId xmlns:a16="http://schemas.microsoft.com/office/drawing/2014/main" id="{A12EE24B-120D-6CFC-50B3-086F27872223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751A7A54-3F2B-726E-0209-EC76E1460C60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Shape 37">
            <a:extLst>
              <a:ext uri="{FF2B5EF4-FFF2-40B4-BE49-F238E27FC236}">
                <a16:creationId xmlns:a16="http://schemas.microsoft.com/office/drawing/2014/main" id="{8370F2F6-B57B-6CE2-C1D8-99B62C8BD5CA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38">
            <a:extLst>
              <a:ext uri="{FF2B5EF4-FFF2-40B4-BE49-F238E27FC236}">
                <a16:creationId xmlns:a16="http://schemas.microsoft.com/office/drawing/2014/main" id="{38E18943-F8B5-9629-4062-419A919A3557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記念日配信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39">
            <a:extLst>
              <a:ext uri="{FF2B5EF4-FFF2-40B4-BE49-F238E27FC236}">
                <a16:creationId xmlns:a16="http://schemas.microsoft.com/office/drawing/2014/main" id="{3E303003-51EC-7FC3-DE76-F0E6D2EAB3EE}"/>
              </a:ext>
            </a:extLst>
          </p:cNvPr>
          <p:cNvSpPr/>
          <p:nvPr/>
        </p:nvSpPr>
        <p:spPr>
          <a:xfrm>
            <a:off x="1993635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誕生日・契約記念日に特別オファーを自動配信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Text 40">
            <a:extLst>
              <a:ext uri="{FF2B5EF4-FFF2-40B4-BE49-F238E27FC236}">
                <a16:creationId xmlns:a16="http://schemas.microsoft.com/office/drawing/2014/main" id="{30181338-1CDB-632A-4D21-1980958DAE90}"/>
              </a:ext>
            </a:extLst>
          </p:cNvPr>
          <p:cNvSpPr/>
          <p:nvPr/>
        </p:nvSpPr>
        <p:spPr>
          <a:xfrm>
            <a:off x="731763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誕生日や初回購入日を記念日として登録し、該当日に特別クーポン・優待を自動配信。「あなただけへの特別オファー」感が再購入率を高める。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41">
            <a:extLst>
              <a:ext uri="{FF2B5EF4-FFF2-40B4-BE49-F238E27FC236}">
                <a16:creationId xmlns:a16="http://schemas.microsoft.com/office/drawing/2014/main" id="{9C3ADD4D-62FF-6E75-0C94-EBA797742E61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42">
            <a:extLst>
              <a:ext uri="{FF2B5EF4-FFF2-40B4-BE49-F238E27FC236}">
                <a16:creationId xmlns:a16="http://schemas.microsoft.com/office/drawing/2014/main" id="{A3F87B85-6E13-9A64-8ED1-AC226457C436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記念日タグ設定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Shape 43">
            <a:extLst>
              <a:ext uri="{FF2B5EF4-FFF2-40B4-BE49-F238E27FC236}">
                <a16:creationId xmlns:a16="http://schemas.microsoft.com/office/drawing/2014/main" id="{0A895F50-3F88-98A2-89D0-3ACC9E308C8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84141BF0-6600-94F4-8298-8914165AE11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45">
            <a:extLst>
              <a:ext uri="{FF2B5EF4-FFF2-40B4-BE49-F238E27FC236}">
                <a16:creationId xmlns:a16="http://schemas.microsoft.com/office/drawing/2014/main" id="{D6D24DD8-6D7D-257C-F532-6ED722A69206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Text 46">
            <a:extLst>
              <a:ext uri="{FF2B5EF4-FFF2-40B4-BE49-F238E27FC236}">
                <a16:creationId xmlns:a16="http://schemas.microsoft.com/office/drawing/2014/main" id="{7BD3B483-4A49-A931-5EB8-12119ED715C2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特別オファー配信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9" name="Shape 47">
            <a:extLst>
              <a:ext uri="{FF2B5EF4-FFF2-40B4-BE49-F238E27FC236}">
                <a16:creationId xmlns:a16="http://schemas.microsoft.com/office/drawing/2014/main" id="{1A3ED534-DB25-D7E2-0DDC-342462B34810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0A78ED48-FFFC-A962-F364-19738CBAA8ED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3" name="Shape 49">
            <a:extLst>
              <a:ext uri="{FF2B5EF4-FFF2-40B4-BE49-F238E27FC236}">
                <a16:creationId xmlns:a16="http://schemas.microsoft.com/office/drawing/2014/main" id="{A71799E1-6D37-9019-F683-E28EDFCD59C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5527DCC-1F43-8A3D-2A58-DC34D3444C3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再購入CV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7" name="Shape 51">
            <a:extLst>
              <a:ext uri="{FF2B5EF4-FFF2-40B4-BE49-F238E27FC236}">
                <a16:creationId xmlns:a16="http://schemas.microsoft.com/office/drawing/2014/main" id="{BB7FE265-C435-3F11-D327-2005EB3B7D4C}"/>
              </a:ext>
            </a:extLst>
          </p:cNvPr>
          <p:cNvSpPr/>
          <p:nvPr/>
        </p:nvSpPr>
        <p:spPr>
          <a:xfrm>
            <a:off x="622035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Shape 53">
            <a:extLst>
              <a:ext uri="{FF2B5EF4-FFF2-40B4-BE49-F238E27FC236}">
                <a16:creationId xmlns:a16="http://schemas.microsoft.com/office/drawing/2014/main" id="{F32B0A21-54EF-8445-6E6B-BBF9705C30E4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3" name="Text 54">
            <a:extLst>
              <a:ext uri="{FF2B5EF4-FFF2-40B4-BE49-F238E27FC236}">
                <a16:creationId xmlns:a16="http://schemas.microsoft.com/office/drawing/2014/main" id="{4F222B19-A9AA-8B90-A278-F2067EC7FD8D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5" name="Shape 55">
            <a:extLst>
              <a:ext uri="{FF2B5EF4-FFF2-40B4-BE49-F238E27FC236}">
                <a16:creationId xmlns:a16="http://schemas.microsoft.com/office/drawing/2014/main" id="{ABF7DB2E-403A-46F2-A837-399B3FE97C5E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8DC1BB15-70BD-88F4-1430-70391985EBFC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紹介キャンペーン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9" name="Text 57">
            <a:extLst>
              <a:ext uri="{FF2B5EF4-FFF2-40B4-BE49-F238E27FC236}">
                <a16:creationId xmlns:a16="http://schemas.microsoft.com/office/drawing/2014/main" id="{863EF515-E441-C008-46FD-E8772A47BE9A}"/>
              </a:ext>
            </a:extLst>
          </p:cNvPr>
          <p:cNvSpPr/>
          <p:nvPr/>
        </p:nvSpPr>
        <p:spPr>
          <a:xfrm>
            <a:off x="1993635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友人紹介制度をLINEで完結させる仕組みを設計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8F06CA0B-814F-E8C0-33FE-0B48BBED0532}"/>
              </a:ext>
            </a:extLst>
          </p:cNvPr>
          <p:cNvSpPr/>
          <p:nvPr/>
        </p:nvSpPr>
        <p:spPr>
          <a:xfrm>
            <a:off x="731763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「友人を紹介してくれたらXXXをプレゼント」をLINEで告知・管理。満足度が高い時期（利用直後・成果確認後）に訴求することで紹介件数が最大化する。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3" name="Shape 59">
            <a:extLst>
              <a:ext uri="{FF2B5EF4-FFF2-40B4-BE49-F238E27FC236}">
                <a16:creationId xmlns:a16="http://schemas.microsoft.com/office/drawing/2014/main" id="{F9FC2AD5-120F-E447-D301-5476F135AF0B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5" name="Text 60">
            <a:extLst>
              <a:ext uri="{FF2B5EF4-FFF2-40B4-BE49-F238E27FC236}">
                <a16:creationId xmlns:a16="http://schemas.microsoft.com/office/drawing/2014/main" id="{FB0832F3-E1A0-CA4E-156B-CE6E264BF982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利用後3ヶ月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Shape 61">
            <a:extLst>
              <a:ext uri="{FF2B5EF4-FFF2-40B4-BE49-F238E27FC236}">
                <a16:creationId xmlns:a16="http://schemas.microsoft.com/office/drawing/2014/main" id="{E24615D6-1A79-B0F4-BB14-14E2183880AC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64603FC2-C317-4C97-5288-F270620ED7B9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1" name="Shape 63">
            <a:extLst>
              <a:ext uri="{FF2B5EF4-FFF2-40B4-BE49-F238E27FC236}">
                <a16:creationId xmlns:a16="http://schemas.microsoft.com/office/drawing/2014/main" id="{C477B16C-33E8-F120-9A1F-AFC395AE6E3D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2A73DA5C-F06B-A590-9987-5306E6C59DCE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紹介特典訴求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5" name="Shape 65">
            <a:extLst>
              <a:ext uri="{FF2B5EF4-FFF2-40B4-BE49-F238E27FC236}">
                <a16:creationId xmlns:a16="http://schemas.microsoft.com/office/drawing/2014/main" id="{4B5406BB-D5C2-0D61-B213-493260EC338A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7" name="Text 66">
            <a:extLst>
              <a:ext uri="{FF2B5EF4-FFF2-40B4-BE49-F238E27FC236}">
                <a16:creationId xmlns:a16="http://schemas.microsoft.com/office/drawing/2014/main" id="{E443F4FD-BC95-5CA8-315B-21521441E367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67">
            <a:extLst>
              <a:ext uri="{FF2B5EF4-FFF2-40B4-BE49-F238E27FC236}">
                <a16:creationId xmlns:a16="http://schemas.microsoft.com/office/drawing/2014/main" id="{DA4B236A-3702-649B-9446-3AB64493F09A}"/>
              </a:ext>
            </a:extLst>
          </p:cNvPr>
          <p:cNvSpPr/>
          <p:nvPr/>
        </p:nvSpPr>
        <p:spPr>
          <a:xfrm>
            <a:off x="344448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紹介→新規CV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Shape 69">
            <a:extLst>
              <a:ext uri="{FF2B5EF4-FFF2-40B4-BE49-F238E27FC236}">
                <a16:creationId xmlns:a16="http://schemas.microsoft.com/office/drawing/2014/main" id="{11D208CF-F0AA-77FB-68F5-7FA3663557BE}"/>
              </a:ext>
            </a:extLst>
          </p:cNvPr>
          <p:cNvSpPr/>
          <p:nvPr/>
        </p:nvSpPr>
        <p:spPr>
          <a:xfrm>
            <a:off x="5066019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Shape 71">
            <a:extLst>
              <a:ext uri="{FF2B5EF4-FFF2-40B4-BE49-F238E27FC236}">
                <a16:creationId xmlns:a16="http://schemas.microsoft.com/office/drawing/2014/main" id="{BA65DAD3-3E2D-0363-0ABA-819311B17A9B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Text 72">
            <a:extLst>
              <a:ext uri="{FF2B5EF4-FFF2-40B4-BE49-F238E27FC236}">
                <a16:creationId xmlns:a16="http://schemas.microsoft.com/office/drawing/2014/main" id="{772DDEC2-C488-7293-86EB-F96BAAD7EA90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73">
            <a:extLst>
              <a:ext uri="{FF2B5EF4-FFF2-40B4-BE49-F238E27FC236}">
                <a16:creationId xmlns:a16="http://schemas.microsoft.com/office/drawing/2014/main" id="{595BE68E-4F81-E693-447A-8BD486204CD6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74">
            <a:extLst>
              <a:ext uri="{FF2B5EF4-FFF2-40B4-BE49-F238E27FC236}">
                <a16:creationId xmlns:a16="http://schemas.microsoft.com/office/drawing/2014/main" id="{DE0C1BD7-D498-BF93-A12E-93FC8F3EFEEB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828F19F3-3156-29E9-3072-E1DED5F92BA0}"/>
              </a:ext>
            </a:extLst>
          </p:cNvPr>
          <p:cNvSpPr/>
          <p:nvPr/>
        </p:nvSpPr>
        <p:spPr>
          <a:xfrm>
            <a:off x="6437619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利用量・頻度に応じたアップグレード提案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74CEEBF9-FB5E-B42A-5BBB-7613F874DD22}"/>
              </a:ext>
            </a:extLst>
          </p:cNvPr>
          <p:cNvSpPr/>
          <p:nvPr/>
        </p:nvSpPr>
        <p:spPr>
          <a:xfrm>
            <a:off x="5175747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利用状況タグを活用して「よく使っている層」に上位プランの提案を自動配信。「今のプランより月1,000円で〇〇が使い放題に」という具体的メリット提示がCVRを高める。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Shape 77">
            <a:extLst>
              <a:ext uri="{FF2B5EF4-FFF2-40B4-BE49-F238E27FC236}">
                <a16:creationId xmlns:a16="http://schemas.microsoft.com/office/drawing/2014/main" id="{EB3AEAB9-3091-B770-5C73-60F2CC509D9D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16B65D6F-FEB1-6B8D-4243-6E6A8950251C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利用量タグ付与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79">
            <a:extLst>
              <a:ext uri="{FF2B5EF4-FFF2-40B4-BE49-F238E27FC236}">
                <a16:creationId xmlns:a16="http://schemas.microsoft.com/office/drawing/2014/main" id="{ACEF9838-1EE3-1464-24F9-5960C72ACE63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69501D59-8F67-4ADD-2B3A-62D69E08E6AD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Shape 81">
            <a:extLst>
              <a:ext uri="{FF2B5EF4-FFF2-40B4-BE49-F238E27FC236}">
                <a16:creationId xmlns:a16="http://schemas.microsoft.com/office/drawing/2014/main" id="{24E5901A-0626-345C-7E4E-690DFA9947EE}"/>
              </a:ext>
            </a:extLst>
          </p:cNvPr>
          <p:cNvSpPr/>
          <p:nvPr/>
        </p:nvSpPr>
        <p:spPr>
          <a:xfrm>
            <a:off x="652296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アップグレード提案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Shape 83">
            <a:extLst>
              <a:ext uri="{FF2B5EF4-FFF2-40B4-BE49-F238E27FC236}">
                <a16:creationId xmlns:a16="http://schemas.microsoft.com/office/drawing/2014/main" id="{DBA87A6B-3A5A-5BB5-800C-AD29E3A38E51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F05F5BA-6ADB-F29A-796A-6AE1FAE69215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85">
            <a:extLst>
              <a:ext uri="{FF2B5EF4-FFF2-40B4-BE49-F238E27FC236}">
                <a16:creationId xmlns:a16="http://schemas.microsoft.com/office/drawing/2014/main" id="{B5E69B07-FB02-4F49-A566-CE157E614F49}"/>
              </a:ext>
            </a:extLst>
          </p:cNvPr>
          <p:cNvSpPr/>
          <p:nvPr/>
        </p:nvSpPr>
        <p:spPr>
          <a:xfrm>
            <a:off x="7888467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プラン変更CV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Shape 87">
            <a:extLst>
              <a:ext uri="{FF2B5EF4-FFF2-40B4-BE49-F238E27FC236}">
                <a16:creationId xmlns:a16="http://schemas.microsoft.com/office/drawing/2014/main" id="{BF4F34D9-E34A-88AA-21A2-8773568F5586}"/>
              </a:ext>
            </a:extLst>
          </p:cNvPr>
          <p:cNvSpPr/>
          <p:nvPr/>
        </p:nvSpPr>
        <p:spPr>
          <a:xfrm>
            <a:off x="5066019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89">
            <a:extLst>
              <a:ext uri="{FF2B5EF4-FFF2-40B4-BE49-F238E27FC236}">
                <a16:creationId xmlns:a16="http://schemas.microsoft.com/office/drawing/2014/main" id="{EFE5E9D0-3F2E-411E-681C-D9CBD3BA179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5A2E3029-A975-C95C-7E57-D4269143AA5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91">
            <a:extLst>
              <a:ext uri="{FF2B5EF4-FFF2-40B4-BE49-F238E27FC236}">
                <a16:creationId xmlns:a16="http://schemas.microsoft.com/office/drawing/2014/main" id="{0B44982A-093D-F4A4-8627-DD2BEB875FCE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8E58A804-D262-6223-9739-795C7490802F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1" name="Text 93">
            <a:extLst>
              <a:ext uri="{FF2B5EF4-FFF2-40B4-BE49-F238E27FC236}">
                <a16:creationId xmlns:a16="http://schemas.microsoft.com/office/drawing/2014/main" id="{2820774A-8461-0C15-3354-D17D2A38ACE9}"/>
              </a:ext>
            </a:extLst>
          </p:cNvPr>
          <p:cNvSpPr/>
          <p:nvPr/>
        </p:nvSpPr>
        <p:spPr>
          <a:xfrm>
            <a:off x="6437619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購入・利用カテゴリに紐づくクロスセル配信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3" name="Text 94">
            <a:extLst>
              <a:ext uri="{FF2B5EF4-FFF2-40B4-BE49-F238E27FC236}">
                <a16:creationId xmlns:a16="http://schemas.microsoft.com/office/drawing/2014/main" id="{66C6D264-EC5E-9BD7-A6C4-38CC9629CE29}"/>
              </a:ext>
            </a:extLst>
          </p:cNvPr>
          <p:cNvSpPr/>
          <p:nvPr/>
        </p:nvSpPr>
        <p:spPr>
          <a:xfrm>
            <a:off x="5175747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「Aサービスをご利用中の方向け：Bサービスとの組み合わせで効果UP」という形で関連商材を案内。タグセグメントで対象を絞ることで過剰アプローチを防ぐ。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5" name="Shape 95">
            <a:extLst>
              <a:ext uri="{FF2B5EF4-FFF2-40B4-BE49-F238E27FC236}">
                <a16:creationId xmlns:a16="http://schemas.microsoft.com/office/drawing/2014/main" id="{3620767E-5C81-82F3-ACE8-BEF5B040FA3C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7" name="Text 96">
            <a:extLst>
              <a:ext uri="{FF2B5EF4-FFF2-40B4-BE49-F238E27FC236}">
                <a16:creationId xmlns:a16="http://schemas.microsoft.com/office/drawing/2014/main" id="{9AA7117C-343C-4068-D766-8BFDA27C8DE4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購入カテゴリ特定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9" name="Shape 97">
            <a:extLst>
              <a:ext uri="{FF2B5EF4-FFF2-40B4-BE49-F238E27FC236}">
                <a16:creationId xmlns:a16="http://schemas.microsoft.com/office/drawing/2014/main" id="{0EBCC7F5-0E29-C4A8-94D8-A7D7ECC5F89A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1" name="Text 98">
            <a:extLst>
              <a:ext uri="{FF2B5EF4-FFF2-40B4-BE49-F238E27FC236}">
                <a16:creationId xmlns:a16="http://schemas.microsoft.com/office/drawing/2014/main" id="{BD96E4BA-ADE4-8898-880F-1EAA79A8DF2D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Shape 99">
            <a:extLst>
              <a:ext uri="{FF2B5EF4-FFF2-40B4-BE49-F238E27FC236}">
                <a16:creationId xmlns:a16="http://schemas.microsoft.com/office/drawing/2014/main" id="{E126C166-BD13-9190-0FE0-63914F4AD447}"/>
              </a:ext>
            </a:extLst>
          </p:cNvPr>
          <p:cNvSpPr/>
          <p:nvPr/>
        </p:nvSpPr>
        <p:spPr>
          <a:xfrm>
            <a:off x="652296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関連商材案内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7" name="Shape 101">
            <a:extLst>
              <a:ext uri="{FF2B5EF4-FFF2-40B4-BE49-F238E27FC236}">
                <a16:creationId xmlns:a16="http://schemas.microsoft.com/office/drawing/2014/main" id="{EE014BEF-08EA-D95F-B260-566E9689AFE2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9" name="Text 102">
            <a:extLst>
              <a:ext uri="{FF2B5EF4-FFF2-40B4-BE49-F238E27FC236}">
                <a16:creationId xmlns:a16="http://schemas.microsoft.com/office/drawing/2014/main" id="{6D8C6BF2-428E-B744-84F1-70D22F6EC306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1" name="Shape 103">
            <a:extLst>
              <a:ext uri="{FF2B5EF4-FFF2-40B4-BE49-F238E27FC236}">
                <a16:creationId xmlns:a16="http://schemas.microsoft.com/office/drawing/2014/main" id="{EB1CED23-229B-155C-8DA1-725B58167B0D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Text 104">
            <a:extLst>
              <a:ext uri="{FF2B5EF4-FFF2-40B4-BE49-F238E27FC236}">
                <a16:creationId xmlns:a16="http://schemas.microsoft.com/office/drawing/2014/main" id="{B0BD8085-260F-767B-600D-29C4EFE91EF6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5" name="Shape 105">
            <a:extLst>
              <a:ext uri="{FF2B5EF4-FFF2-40B4-BE49-F238E27FC236}">
                <a16:creationId xmlns:a16="http://schemas.microsoft.com/office/drawing/2014/main" id="{2B58AD02-89B6-782E-1247-733846A3BEB6}"/>
              </a:ext>
            </a:extLst>
          </p:cNvPr>
          <p:cNvSpPr/>
          <p:nvPr/>
        </p:nvSpPr>
        <p:spPr>
          <a:xfrm>
            <a:off x="5066019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9" name="Shape 107">
            <a:extLst>
              <a:ext uri="{FF2B5EF4-FFF2-40B4-BE49-F238E27FC236}">
                <a16:creationId xmlns:a16="http://schemas.microsoft.com/office/drawing/2014/main" id="{A1CF4B93-1F7F-95B1-9748-9AE48BB0A67D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1" name="Text 108">
            <a:extLst>
              <a:ext uri="{FF2B5EF4-FFF2-40B4-BE49-F238E27FC236}">
                <a16:creationId xmlns:a16="http://schemas.microsoft.com/office/drawing/2014/main" id="{699242CC-C724-22FB-181E-24FA20BE103C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3" name="Shape 109">
            <a:extLst>
              <a:ext uri="{FF2B5EF4-FFF2-40B4-BE49-F238E27FC236}">
                <a16:creationId xmlns:a16="http://schemas.microsoft.com/office/drawing/2014/main" id="{5C0B9632-0D33-3A4F-852D-28C99ACB77A6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5" name="Text 110">
            <a:extLst>
              <a:ext uri="{FF2B5EF4-FFF2-40B4-BE49-F238E27FC236}">
                <a16:creationId xmlns:a16="http://schemas.microsoft.com/office/drawing/2014/main" id="{B910E2C6-1CCA-1DB7-F916-05CAB4560F12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7" name="Text 111">
            <a:extLst>
              <a:ext uri="{FF2B5EF4-FFF2-40B4-BE49-F238E27FC236}">
                <a16:creationId xmlns:a16="http://schemas.microsoft.com/office/drawing/2014/main" id="{418968BF-D240-4525-61FD-34A2CD92F77A}"/>
              </a:ext>
            </a:extLst>
          </p:cNvPr>
          <p:cNvSpPr/>
          <p:nvPr/>
        </p:nvSpPr>
        <p:spPr>
          <a:xfrm>
            <a:off x="6437619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季節・繁忙期に合わせた関連サービス案内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9" name="Text 112">
            <a:extLst>
              <a:ext uri="{FF2B5EF4-FFF2-40B4-BE49-F238E27FC236}">
                <a16:creationId xmlns:a16="http://schemas.microsoft.com/office/drawing/2014/main" id="{DB9225A3-0B40-6631-04BA-B036BA78DD18}"/>
              </a:ext>
            </a:extLst>
          </p:cNvPr>
          <p:cNvSpPr/>
          <p:nvPr/>
        </p:nvSpPr>
        <p:spPr>
          <a:xfrm>
            <a:off x="5175747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ユーザーが次のニーズを感じる前に関連サービスを先出しする。「春のXXXに向けて、ご準備はお済みですか？」という形でシーズン2〜3週前に配信するとCVRが高い。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1" name="Shape 113">
            <a:extLst>
              <a:ext uri="{FF2B5EF4-FFF2-40B4-BE49-F238E27FC236}">
                <a16:creationId xmlns:a16="http://schemas.microsoft.com/office/drawing/2014/main" id="{2E10B183-2361-FE23-322F-7D503F80197A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Text 114">
            <a:extLst>
              <a:ext uri="{FF2B5EF4-FFF2-40B4-BE49-F238E27FC236}">
                <a16:creationId xmlns:a16="http://schemas.microsoft.com/office/drawing/2014/main" id="{E3F71D55-3A7F-7216-A68B-E9D41C4251F7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シーズン2〜3週前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115">
            <a:extLst>
              <a:ext uri="{FF2B5EF4-FFF2-40B4-BE49-F238E27FC236}">
                <a16:creationId xmlns:a16="http://schemas.microsoft.com/office/drawing/2014/main" id="{4DD46369-30C8-F75A-A124-3FEDB935C4A0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116">
            <a:extLst>
              <a:ext uri="{FF2B5EF4-FFF2-40B4-BE49-F238E27FC236}">
                <a16:creationId xmlns:a16="http://schemas.microsoft.com/office/drawing/2014/main" id="{4A907B15-7708-47C9-7642-BA0B05630DEF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Shape 117">
            <a:extLst>
              <a:ext uri="{FF2B5EF4-FFF2-40B4-BE49-F238E27FC236}">
                <a16:creationId xmlns:a16="http://schemas.microsoft.com/office/drawing/2014/main" id="{33185618-A887-525D-081A-03DCDB2AC769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118">
            <a:extLst>
              <a:ext uri="{FF2B5EF4-FFF2-40B4-BE49-F238E27FC236}">
                <a16:creationId xmlns:a16="http://schemas.microsoft.com/office/drawing/2014/main" id="{A758DBE7-E957-396E-311E-D9582502DB4F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関連サービス先出し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119">
            <a:extLst>
              <a:ext uri="{FF2B5EF4-FFF2-40B4-BE49-F238E27FC236}">
                <a16:creationId xmlns:a16="http://schemas.microsoft.com/office/drawing/2014/main" id="{BF462C74-804E-9C1C-C821-FF72072655B2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Text 120">
            <a:extLst>
              <a:ext uri="{FF2B5EF4-FFF2-40B4-BE49-F238E27FC236}">
                <a16:creationId xmlns:a16="http://schemas.microsoft.com/office/drawing/2014/main" id="{BB683829-0CAA-9EF6-F72B-0FA8AE6169AD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Shape 121">
            <a:extLst>
              <a:ext uri="{FF2B5EF4-FFF2-40B4-BE49-F238E27FC236}">
                <a16:creationId xmlns:a16="http://schemas.microsoft.com/office/drawing/2014/main" id="{EE617E52-3088-925B-672C-E8F15869002F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122">
            <a:extLst>
              <a:ext uri="{FF2B5EF4-FFF2-40B4-BE49-F238E27FC236}">
                <a16:creationId xmlns:a16="http://schemas.microsoft.com/office/drawing/2014/main" id="{571C1378-34E0-DF83-9B00-2BE63986DA83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CV獲得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初期10万＋月3万〜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次回、貴社の数字で試算します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いただきたいのは3つだけです。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655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763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月の応募数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2190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広告・自然流入をあわせた、応募の件数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771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879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うち面接・職場見学に来た数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306848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予約ではなく、実際に来た件数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888000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996000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月の広告費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422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応募を取るために使っている金額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この3つがあれば、応募CPAが今いくらで、いくらになるかを次回お出しします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応募→面接実施率は業界の公開データが存在しないため、貴社の実測値が唯一の基準になります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8883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施策における重要な考え方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既存友だち</a:t>
            </a:r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のメッセージ配信を拡大＆検証し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課金対効果を向上する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新規友だち</a:t>
            </a:r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の追加動線を拡大</a:t>
            </a:r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&amp;</a:t>
            </a:r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整備し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見込みの高いユーザーのリードを獲得する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842812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アカウント効果を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最大化する</a:t>
            </a:r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ためには・・・？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サイト上情報と連携させ、配信効果を数値化する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で査定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アンケ回答例→学習コンテンツ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✓学習が進行する導線設計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◯再購入・クロスセル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✓再購入時期、併売商品を設定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AA7E1F7-0824-AE94-5B85-AB7CDE6A3947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改善モデル①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CF3C4-80C9-827F-1385-EBD6AE02077C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施策内容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5064B01-7057-EF97-C2C2-7EA1400AE068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施策を通じて貴社に送ることが出来る個人情報を最大化する。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B9A59D-5D83-F4A0-8E07-0F2D6665420A}"/>
              </a:ext>
            </a:extLst>
          </p:cNvPr>
          <p:cNvSpPr txBox="1"/>
          <p:nvPr/>
        </p:nvSpPr>
        <p:spPr>
          <a:xfrm>
            <a:off x="334303" y="142540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接触（認知・流入）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40BBB-52A3-1900-D18A-8AF25E970934}"/>
              </a:ext>
            </a:extLst>
          </p:cNvPr>
          <p:cNvSpPr txBox="1"/>
          <p:nvPr/>
        </p:nvSpPr>
        <p:spPr>
          <a:xfrm>
            <a:off x="1268358" y="163606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A50DC53-429F-39BB-C171-6F57EE64F0C2}"/>
              </a:ext>
            </a:extLst>
          </p:cNvPr>
          <p:cNvSpPr txBox="1"/>
          <p:nvPr/>
        </p:nvSpPr>
        <p:spPr>
          <a:xfrm>
            <a:off x="2202413" y="183017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A2FE37DB-7FF9-8AA6-3138-A9AA0818706B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4284885" y="1729027"/>
            <a:ext cx="218990" cy="3656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AD3EC5-397C-F2E1-06DA-B35AA3F6DA3B}"/>
              </a:ext>
            </a:extLst>
          </p:cNvPr>
          <p:cNvSpPr txBox="1"/>
          <p:nvPr/>
        </p:nvSpPr>
        <p:spPr>
          <a:xfrm>
            <a:off x="3542139" y="141931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6BF7B-2A5E-9585-D6BF-4545B58F8CDA}"/>
              </a:ext>
            </a:extLst>
          </p:cNvPr>
          <p:cNvSpPr txBox="1"/>
          <p:nvPr/>
        </p:nvSpPr>
        <p:spPr>
          <a:xfrm>
            <a:off x="6119413" y="182847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F33E8B-8A1D-B1FB-4244-9F0AFB92429B}"/>
              </a:ext>
            </a:extLst>
          </p:cNvPr>
          <p:cNvSpPr txBox="1"/>
          <p:nvPr/>
        </p:nvSpPr>
        <p:spPr>
          <a:xfrm>
            <a:off x="4830776" y="162389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6C11C4-F5B8-BBD3-EE11-4BBAC85EFEF6}"/>
              </a:ext>
            </a:extLst>
          </p:cNvPr>
          <p:cNvSpPr txBox="1"/>
          <p:nvPr/>
        </p:nvSpPr>
        <p:spPr>
          <a:xfrm>
            <a:off x="7408050" y="203305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00F58B-9BD8-36E8-2837-7D435FEE306F}"/>
              </a:ext>
            </a:extLst>
          </p:cNvPr>
          <p:cNvSpPr/>
          <p:nvPr/>
        </p:nvSpPr>
        <p:spPr>
          <a:xfrm>
            <a:off x="175475" y="2510144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AA99B3-016F-5352-F0F9-97BF2EF9495B}"/>
              </a:ext>
            </a:extLst>
          </p:cNvPr>
          <p:cNvSpPr/>
          <p:nvPr/>
        </p:nvSpPr>
        <p:spPr>
          <a:xfrm>
            <a:off x="4994298" y="2510143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45185E-6C2C-A6FD-00A8-0A9C05295D96}"/>
              </a:ext>
            </a:extLst>
          </p:cNvPr>
          <p:cNvSpPr/>
          <p:nvPr/>
        </p:nvSpPr>
        <p:spPr>
          <a:xfrm>
            <a:off x="8382000" y="898654"/>
            <a:ext cx="1223554" cy="260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成果報酬：可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ACFC7-1B18-419B-64DD-5EB407E04E3D}"/>
              </a:ext>
            </a:extLst>
          </p:cNvPr>
          <p:cNvSpPr/>
          <p:nvPr/>
        </p:nvSpPr>
        <p:spPr>
          <a:xfrm>
            <a:off x="196606" y="1304119"/>
            <a:ext cx="9709394" cy="12060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08170B-2E7D-DA91-C855-5B0F96687E57}"/>
              </a:ext>
            </a:extLst>
          </p:cNvPr>
          <p:cNvSpPr txBox="1"/>
          <p:nvPr/>
        </p:nvSpPr>
        <p:spPr>
          <a:xfrm>
            <a:off x="3136468" y="2021330"/>
            <a:ext cx="1868111" cy="348203"/>
          </a:xfrm>
          <a:prstGeom prst="rect">
            <a:avLst/>
          </a:prstGeom>
          <a:solidFill>
            <a:srgbClr val="2080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④リード獲得 </a:t>
            </a:r>
            <a:r>
              <a:rPr lang="en-US" altLang="ja-JP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(web/LINE)</a:t>
            </a:r>
            <a:endParaRPr lang="ja-JP" altLang="ja-JP" sz="10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D93F268-2976-E24C-FFDF-A52C518BD95E}"/>
              </a:ext>
            </a:extLst>
          </p:cNvPr>
          <p:cNvSpPr/>
          <p:nvPr/>
        </p:nvSpPr>
        <p:spPr>
          <a:xfrm>
            <a:off x="272142" y="2590761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広告・集客の成果地点として</a:t>
            </a:r>
            <a:r>
              <a:rPr kumimoji="1"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を追加する</a:t>
            </a: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E9DDC0-6FAF-EE1E-D2F6-1599D9760DFE}"/>
              </a:ext>
            </a:extLst>
          </p:cNvPr>
          <p:cNvSpPr/>
          <p:nvPr/>
        </p:nvSpPr>
        <p:spPr>
          <a:xfrm>
            <a:off x="5084226" y="2584677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の特典・メリットを適切なタイミングで提示し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</a:p>
        </p:txBody>
      </p:sp>
      <p:sp>
        <p:nvSpPr>
          <p:cNvPr id="265" name="Shape 59">
            <a:extLst>
              <a:ext uri="{FF2B5EF4-FFF2-40B4-BE49-F238E27FC236}">
                <a16:creationId xmlns:a16="http://schemas.microsoft.com/office/drawing/2014/main" id="{2B92E1A5-40B4-D866-C1EB-8ACEB8EE470D}"/>
              </a:ext>
            </a:extLst>
          </p:cNvPr>
          <p:cNvSpPr/>
          <p:nvPr/>
        </p:nvSpPr>
        <p:spPr>
          <a:xfrm>
            <a:off x="265419" y="4842285"/>
            <a:ext cx="4541216" cy="1600804"/>
          </a:xfrm>
          <a:prstGeom prst="roundRect">
            <a:avLst>
              <a:gd name="adj" fmla="val 5263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Shape 63">
            <a:extLst>
              <a:ext uri="{FF2B5EF4-FFF2-40B4-BE49-F238E27FC236}">
                <a16:creationId xmlns:a16="http://schemas.microsoft.com/office/drawing/2014/main" id="{986279D3-31B7-AFE5-0997-A2CDC716E6CD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64">
            <a:extLst>
              <a:ext uri="{FF2B5EF4-FFF2-40B4-BE49-F238E27FC236}">
                <a16:creationId xmlns:a16="http://schemas.microsoft.com/office/drawing/2014/main" id="{314E4055-2D3D-DC19-BD60-79D095DBA6D9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Text 65">
            <a:extLst>
              <a:ext uri="{FF2B5EF4-FFF2-40B4-BE49-F238E27FC236}">
                <a16:creationId xmlns:a16="http://schemas.microsoft.com/office/drawing/2014/main" id="{2259F17B-A9B0-7F43-8907-87383FCBF6CE}"/>
              </a:ext>
            </a:extLst>
          </p:cNvPr>
          <p:cNvSpPr/>
          <p:nvPr/>
        </p:nvSpPr>
        <p:spPr>
          <a:xfrm>
            <a:off x="1545579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LINE広告（CPF）完結型 × LINE内チャットボット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3" name="Text 66">
            <a:extLst>
              <a:ext uri="{FF2B5EF4-FFF2-40B4-BE49-F238E27FC236}">
                <a16:creationId xmlns:a16="http://schemas.microsoft.com/office/drawing/2014/main" id="{98D6C858-0A51-D469-C857-32114CFA96FE}"/>
              </a:ext>
            </a:extLst>
          </p:cNvPr>
          <p:cNvSpPr/>
          <p:nvPr/>
        </p:nvSpPr>
        <p:spPr>
          <a:xfrm>
            <a:off x="356859" y="5226333"/>
            <a:ext cx="4449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広告の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を利用して、興味関心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×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商圏でのリード保有数を最大化。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LINE完結で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、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WEBに遷移させないため離脱ゼロ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でのステップ配信・有効リードの育成へ。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68">
            <a:extLst>
              <a:ext uri="{FF2B5EF4-FFF2-40B4-BE49-F238E27FC236}">
                <a16:creationId xmlns:a16="http://schemas.microsoft.com/office/drawing/2014/main" id="{CFA7D9BB-A1E1-31FD-946A-B75B944AADA7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6A020"/>
          </a:solidFill>
          <a:ln w="12700">
            <a:solidFill>
              <a:srgbClr val="E6A02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69">
            <a:extLst>
              <a:ext uri="{FF2B5EF4-FFF2-40B4-BE49-F238E27FC236}">
                <a16:creationId xmlns:a16="http://schemas.microsoft.com/office/drawing/2014/main" id="{94B27B5E-13D7-A4CA-7352-4BBEA8C99224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現場注意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02B4B046-1456-2549-8D2A-03FE8B9434D4}"/>
              </a:ext>
            </a:extLst>
          </p:cNvPr>
          <p:cNvSpPr/>
          <p:nvPr/>
        </p:nvSpPr>
        <p:spPr>
          <a:xfrm>
            <a:off x="363197" y="5687343"/>
            <a:ext cx="405359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CPFの強みを活かすならLINE内完結設計が正解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69A5DB50-D061-75F2-9683-580DA89DA5BD}"/>
              </a:ext>
            </a:extLst>
          </p:cNvPr>
          <p:cNvSpPr/>
          <p:nvPr/>
        </p:nvSpPr>
        <p:spPr>
          <a:xfrm>
            <a:off x="3568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72">
            <a:extLst>
              <a:ext uri="{FF2B5EF4-FFF2-40B4-BE49-F238E27FC236}">
                <a16:creationId xmlns:a16="http://schemas.microsoft.com/office/drawing/2014/main" id="{1E18DB25-A307-005D-2220-B5D1CB74EDB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73">
            <a:extLst>
              <a:ext uri="{FF2B5EF4-FFF2-40B4-BE49-F238E27FC236}">
                <a16:creationId xmlns:a16="http://schemas.microsoft.com/office/drawing/2014/main" id="{453E45E2-53B3-3123-A567-3CDA891BBEE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Text 74">
            <a:extLst>
              <a:ext uri="{FF2B5EF4-FFF2-40B4-BE49-F238E27FC236}">
                <a16:creationId xmlns:a16="http://schemas.microsoft.com/office/drawing/2014/main" id="{35068314-9221-6665-F236-3F5B1A8773D8}"/>
              </a:ext>
            </a:extLst>
          </p:cNvPr>
          <p:cNvSpPr/>
          <p:nvPr/>
        </p:nvSpPr>
        <p:spPr>
          <a:xfrm>
            <a:off x="6311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CPF広告タップ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75">
            <a:extLst>
              <a:ext uri="{FF2B5EF4-FFF2-40B4-BE49-F238E27FC236}">
                <a16:creationId xmlns:a16="http://schemas.microsoft.com/office/drawing/2014/main" id="{9E831384-FBA1-9ABC-D5C4-E9D07BF92DC1}"/>
              </a:ext>
            </a:extLst>
          </p:cNvPr>
          <p:cNvSpPr/>
          <p:nvPr/>
        </p:nvSpPr>
        <p:spPr>
          <a:xfrm>
            <a:off x="4117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即・友だち追加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609F64E-3A86-7ABF-C056-68CBD7347946}"/>
              </a:ext>
            </a:extLst>
          </p:cNvPr>
          <p:cNvSpPr/>
          <p:nvPr/>
        </p:nvSpPr>
        <p:spPr>
          <a:xfrm>
            <a:off x="1637019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Shape 77">
            <a:extLst>
              <a:ext uri="{FF2B5EF4-FFF2-40B4-BE49-F238E27FC236}">
                <a16:creationId xmlns:a16="http://schemas.microsoft.com/office/drawing/2014/main" id="{A42E7FC8-693A-903C-101F-881077D3912E}"/>
              </a:ext>
            </a:extLst>
          </p:cNvPr>
          <p:cNvSpPr/>
          <p:nvPr/>
        </p:nvSpPr>
        <p:spPr>
          <a:xfrm>
            <a:off x="1765035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78">
            <a:extLst>
              <a:ext uri="{FF2B5EF4-FFF2-40B4-BE49-F238E27FC236}">
                <a16:creationId xmlns:a16="http://schemas.microsoft.com/office/drawing/2014/main" id="{5D77DB8F-3255-B8FA-09A1-BA76AB1E30EC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79">
            <a:extLst>
              <a:ext uri="{FF2B5EF4-FFF2-40B4-BE49-F238E27FC236}">
                <a16:creationId xmlns:a16="http://schemas.microsoft.com/office/drawing/2014/main" id="{AE657B72-3339-BAE3-9DA8-C9C378371C9D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Text 80">
            <a:extLst>
              <a:ext uri="{FF2B5EF4-FFF2-40B4-BE49-F238E27FC236}">
                <a16:creationId xmlns:a16="http://schemas.microsoft.com/office/drawing/2014/main" id="{582D1F5A-1093-8B0B-EC93-6F3E17DF1674}"/>
              </a:ext>
            </a:extLst>
          </p:cNvPr>
          <p:cNvSpPr/>
          <p:nvPr/>
        </p:nvSpPr>
        <p:spPr>
          <a:xfrm>
            <a:off x="2041211" y="5957091"/>
            <a:ext cx="9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応答、ステップ起動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81">
            <a:extLst>
              <a:ext uri="{FF2B5EF4-FFF2-40B4-BE49-F238E27FC236}">
                <a16:creationId xmlns:a16="http://schemas.microsoft.com/office/drawing/2014/main" id="{267A8E72-34E2-AC1E-E783-02748F2A3058}"/>
              </a:ext>
            </a:extLst>
          </p:cNvPr>
          <p:cNvSpPr/>
          <p:nvPr/>
        </p:nvSpPr>
        <p:spPr>
          <a:xfrm>
            <a:off x="1819899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ステップ配信が</a:t>
            </a: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起動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82">
            <a:extLst>
              <a:ext uri="{FF2B5EF4-FFF2-40B4-BE49-F238E27FC236}">
                <a16:creationId xmlns:a16="http://schemas.microsoft.com/office/drawing/2014/main" id="{9B65E420-0374-979E-BAA2-48722980545C}"/>
              </a:ext>
            </a:extLst>
          </p:cNvPr>
          <p:cNvSpPr/>
          <p:nvPr/>
        </p:nvSpPr>
        <p:spPr>
          <a:xfrm>
            <a:off x="3045195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Shape 83">
            <a:extLst>
              <a:ext uri="{FF2B5EF4-FFF2-40B4-BE49-F238E27FC236}">
                <a16:creationId xmlns:a16="http://schemas.microsoft.com/office/drawing/2014/main" id="{7C0C6D93-01E9-C895-1E2E-400951DA4B8E}"/>
              </a:ext>
            </a:extLst>
          </p:cNvPr>
          <p:cNvSpPr/>
          <p:nvPr/>
        </p:nvSpPr>
        <p:spPr>
          <a:xfrm>
            <a:off x="3173211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84">
            <a:extLst>
              <a:ext uri="{FF2B5EF4-FFF2-40B4-BE49-F238E27FC236}">
                <a16:creationId xmlns:a16="http://schemas.microsoft.com/office/drawing/2014/main" id="{6B131D82-5FD9-9308-3AF2-032B378170E3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85">
            <a:extLst>
              <a:ext uri="{FF2B5EF4-FFF2-40B4-BE49-F238E27FC236}">
                <a16:creationId xmlns:a16="http://schemas.microsoft.com/office/drawing/2014/main" id="{A04EEFDD-332F-12BD-7677-D9DE3938B356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Text 86">
            <a:extLst>
              <a:ext uri="{FF2B5EF4-FFF2-40B4-BE49-F238E27FC236}">
                <a16:creationId xmlns:a16="http://schemas.microsoft.com/office/drawing/2014/main" id="{32928D0D-3150-AD73-9242-387FEEFEB4E7}"/>
              </a:ext>
            </a:extLst>
          </p:cNvPr>
          <p:cNvSpPr/>
          <p:nvPr/>
        </p:nvSpPr>
        <p:spPr>
          <a:xfrm>
            <a:off x="3447531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リードデータ取得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87">
            <a:extLst>
              <a:ext uri="{FF2B5EF4-FFF2-40B4-BE49-F238E27FC236}">
                <a16:creationId xmlns:a16="http://schemas.microsoft.com/office/drawing/2014/main" id="{155A8DAC-6178-45E5-B78E-ED5968433C87}"/>
              </a:ext>
            </a:extLst>
          </p:cNvPr>
          <p:cNvSpPr/>
          <p:nvPr/>
        </p:nvSpPr>
        <p:spPr>
          <a:xfrm>
            <a:off x="3228075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LINE内で完結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88">
            <a:extLst>
              <a:ext uri="{FF2B5EF4-FFF2-40B4-BE49-F238E27FC236}">
                <a16:creationId xmlns:a16="http://schemas.microsoft.com/office/drawing/2014/main" id="{65FD4E02-C70C-2DC3-6107-3854D0C99B17}"/>
              </a:ext>
            </a:extLst>
          </p:cNvPr>
          <p:cNvSpPr/>
          <p:nvPr/>
        </p:nvSpPr>
        <p:spPr>
          <a:xfrm>
            <a:off x="5099366" y="2999769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113">
            <a:extLst>
              <a:ext uri="{FF2B5EF4-FFF2-40B4-BE49-F238E27FC236}">
                <a16:creationId xmlns:a16="http://schemas.microsoft.com/office/drawing/2014/main" id="{11234610-A1AC-AA19-B005-775FD3F8A3B3}"/>
              </a:ext>
            </a:extLst>
          </p:cNvPr>
          <p:cNvSpPr/>
          <p:nvPr/>
        </p:nvSpPr>
        <p:spPr>
          <a:xfrm>
            <a:off x="5099366" y="4842285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Shape 117">
            <a:extLst>
              <a:ext uri="{FF2B5EF4-FFF2-40B4-BE49-F238E27FC236}">
                <a16:creationId xmlns:a16="http://schemas.microsoft.com/office/drawing/2014/main" id="{53B1A122-71EF-1F9B-0702-A1A1393823D4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Text 118">
            <a:extLst>
              <a:ext uri="{FF2B5EF4-FFF2-40B4-BE49-F238E27FC236}">
                <a16:creationId xmlns:a16="http://schemas.microsoft.com/office/drawing/2014/main" id="{841897D7-C412-EE47-0B0D-746DD32E330E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5" name="Text 119">
            <a:extLst>
              <a:ext uri="{FF2B5EF4-FFF2-40B4-BE49-F238E27FC236}">
                <a16:creationId xmlns:a16="http://schemas.microsoft.com/office/drawing/2014/main" id="{EBE6ADAD-9C3A-4E30-E6A7-BF0CDE4B5719}"/>
              </a:ext>
            </a:extLst>
          </p:cNvPr>
          <p:cNvSpPr/>
          <p:nvPr/>
        </p:nvSpPr>
        <p:spPr>
          <a:xfrm>
            <a:off x="6379527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短期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KW自動応答でFAQ即解消→</a:t>
            </a:r>
            <a:r>
              <a:rPr kumimoji="0" lang="en-US" altLang="ja-JP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へ誘導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Text 120">
            <a:extLst>
              <a:ext uri="{FF2B5EF4-FFF2-40B4-BE49-F238E27FC236}">
                <a16:creationId xmlns:a16="http://schemas.microsoft.com/office/drawing/2014/main" id="{9BC9F586-F4C8-69D1-0AB3-84BC5D46528A}"/>
              </a:ext>
            </a:extLst>
          </p:cNvPr>
          <p:cNvSpPr/>
          <p:nvPr/>
        </p:nvSpPr>
        <p:spPr>
          <a:xfrm>
            <a:off x="5190807" y="5226333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ステップ配信と並行して、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にて代表的な</a:t>
            </a:r>
            <a:r>
              <a:rPr kumimoji="0" lang="en-US" altLang="ja-JP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に自動返答＋CV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動線へ誘導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24時間対応で「試しに聞いてみた」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層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をそのまま申込フォームへ転換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879C697E-7DA8-CA7E-D00D-C9CADF55302E}"/>
              </a:ext>
            </a:extLst>
          </p:cNvPr>
          <p:cNvSpPr/>
          <p:nvPr/>
        </p:nvSpPr>
        <p:spPr>
          <a:xfrm>
            <a:off x="5190807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122">
            <a:extLst>
              <a:ext uri="{FF2B5EF4-FFF2-40B4-BE49-F238E27FC236}">
                <a16:creationId xmlns:a16="http://schemas.microsoft.com/office/drawing/2014/main" id="{E0FE3AAB-EEAF-8F74-4288-38540089361D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123">
            <a:extLst>
              <a:ext uri="{FF2B5EF4-FFF2-40B4-BE49-F238E27FC236}">
                <a16:creationId xmlns:a16="http://schemas.microsoft.com/office/drawing/2014/main" id="{31A73E53-E872-D735-0EE5-02CFC5ED076F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124">
            <a:extLst>
              <a:ext uri="{FF2B5EF4-FFF2-40B4-BE49-F238E27FC236}">
                <a16:creationId xmlns:a16="http://schemas.microsoft.com/office/drawing/2014/main" id="{014A61FB-ACC2-FA78-238A-10F112F08313}"/>
              </a:ext>
            </a:extLst>
          </p:cNvPr>
          <p:cNvSpPr/>
          <p:nvPr/>
        </p:nvSpPr>
        <p:spPr>
          <a:xfrm>
            <a:off x="5447079" y="5957091"/>
            <a:ext cx="102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ステップ配信・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125">
            <a:extLst>
              <a:ext uri="{FF2B5EF4-FFF2-40B4-BE49-F238E27FC236}">
                <a16:creationId xmlns:a16="http://schemas.microsoft.com/office/drawing/2014/main" id="{61B557F9-9683-D913-1D65-DD25D26B2695}"/>
              </a:ext>
            </a:extLst>
          </p:cNvPr>
          <p:cNvSpPr/>
          <p:nvPr/>
        </p:nvSpPr>
        <p:spPr>
          <a:xfrm>
            <a:off x="5245671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追加～</a:t>
            </a: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日で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F117171D-C47B-261C-85AC-F680EF28CB19}"/>
              </a:ext>
            </a:extLst>
          </p:cNvPr>
          <p:cNvSpPr/>
          <p:nvPr/>
        </p:nvSpPr>
        <p:spPr>
          <a:xfrm>
            <a:off x="6470967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Shape 127">
            <a:extLst>
              <a:ext uri="{FF2B5EF4-FFF2-40B4-BE49-F238E27FC236}">
                <a16:creationId xmlns:a16="http://schemas.microsoft.com/office/drawing/2014/main" id="{4BEE9167-F8E5-7442-64A8-E9F7D39F09D7}"/>
              </a:ext>
            </a:extLst>
          </p:cNvPr>
          <p:cNvSpPr/>
          <p:nvPr/>
        </p:nvSpPr>
        <p:spPr>
          <a:xfrm>
            <a:off x="6598983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128">
            <a:extLst>
              <a:ext uri="{FF2B5EF4-FFF2-40B4-BE49-F238E27FC236}">
                <a16:creationId xmlns:a16="http://schemas.microsoft.com/office/drawing/2014/main" id="{9C2642A1-2BDB-C49F-7691-85BD71CF126B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129">
            <a:extLst>
              <a:ext uri="{FF2B5EF4-FFF2-40B4-BE49-F238E27FC236}">
                <a16:creationId xmlns:a16="http://schemas.microsoft.com/office/drawing/2014/main" id="{B9E7F4F1-E140-0A15-9900-349580A383C4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Text 130">
            <a:extLst>
              <a:ext uri="{FF2B5EF4-FFF2-40B4-BE49-F238E27FC236}">
                <a16:creationId xmlns:a16="http://schemas.microsoft.com/office/drawing/2014/main" id="{538141D0-5353-E1AE-4CCC-4B7FBADE0E74}"/>
              </a:ext>
            </a:extLst>
          </p:cNvPr>
          <p:cNvSpPr/>
          <p:nvPr/>
        </p:nvSpPr>
        <p:spPr>
          <a:xfrm>
            <a:off x="6873303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自動即返答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9" name="Text 131">
            <a:extLst>
              <a:ext uri="{FF2B5EF4-FFF2-40B4-BE49-F238E27FC236}">
                <a16:creationId xmlns:a16="http://schemas.microsoft.com/office/drawing/2014/main" id="{507C3FBA-63F5-86D8-66C6-6318F2F8EDA2}"/>
              </a:ext>
            </a:extLst>
          </p:cNvPr>
          <p:cNvSpPr/>
          <p:nvPr/>
        </p:nvSpPr>
        <p:spPr>
          <a:xfrm>
            <a:off x="6653847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FAQ解消＋LP URL送付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Text 132">
            <a:extLst>
              <a:ext uri="{FF2B5EF4-FFF2-40B4-BE49-F238E27FC236}">
                <a16:creationId xmlns:a16="http://schemas.microsoft.com/office/drawing/2014/main" id="{6C6ED810-1D06-F9BD-D3C9-03D6BF6C14DA}"/>
              </a:ext>
            </a:extLst>
          </p:cNvPr>
          <p:cNvSpPr/>
          <p:nvPr/>
        </p:nvSpPr>
        <p:spPr>
          <a:xfrm>
            <a:off x="7879143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Shape 133">
            <a:extLst>
              <a:ext uri="{FF2B5EF4-FFF2-40B4-BE49-F238E27FC236}">
                <a16:creationId xmlns:a16="http://schemas.microsoft.com/office/drawing/2014/main" id="{032FF15A-215D-CE84-EF89-D93E09191819}"/>
              </a:ext>
            </a:extLst>
          </p:cNvPr>
          <p:cNvSpPr/>
          <p:nvPr/>
        </p:nvSpPr>
        <p:spPr>
          <a:xfrm>
            <a:off x="80071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134">
            <a:extLst>
              <a:ext uri="{FF2B5EF4-FFF2-40B4-BE49-F238E27FC236}">
                <a16:creationId xmlns:a16="http://schemas.microsoft.com/office/drawing/2014/main" id="{4111E6D0-ABE0-6AC4-2D12-6FEF3F3EFA73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7" name="Text 135">
            <a:extLst>
              <a:ext uri="{FF2B5EF4-FFF2-40B4-BE49-F238E27FC236}">
                <a16:creationId xmlns:a16="http://schemas.microsoft.com/office/drawing/2014/main" id="{CF3AE303-2971-F53C-A610-F98F99E31897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Text 136">
            <a:extLst>
              <a:ext uri="{FF2B5EF4-FFF2-40B4-BE49-F238E27FC236}">
                <a16:creationId xmlns:a16="http://schemas.microsoft.com/office/drawing/2014/main" id="{F73C430F-E961-93C3-213B-0963BAC20CD3}"/>
              </a:ext>
            </a:extLst>
          </p:cNvPr>
          <p:cNvSpPr/>
          <p:nvPr/>
        </p:nvSpPr>
        <p:spPr>
          <a:xfrm>
            <a:off x="82814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申込フォームCV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1" name="Text 137">
            <a:extLst>
              <a:ext uri="{FF2B5EF4-FFF2-40B4-BE49-F238E27FC236}">
                <a16:creationId xmlns:a16="http://schemas.microsoft.com/office/drawing/2014/main" id="{88FD7181-FD44-C0BF-B9A5-5C5C104EC047}"/>
              </a:ext>
            </a:extLst>
          </p:cNvPr>
          <p:cNvSpPr/>
          <p:nvPr/>
        </p:nvSpPr>
        <p:spPr>
          <a:xfrm>
            <a:off x="80620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24時間・スタッフ不要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36">
            <a:extLst>
              <a:ext uri="{FF2B5EF4-FFF2-40B4-BE49-F238E27FC236}">
                <a16:creationId xmlns:a16="http://schemas.microsoft.com/office/drawing/2014/main" id="{D62EC5F5-FA90-2741-4644-800F1639B9D6}"/>
              </a:ext>
            </a:extLst>
          </p:cNvPr>
          <p:cNvSpPr/>
          <p:nvPr/>
        </p:nvSpPr>
        <p:spPr>
          <a:xfrm>
            <a:off x="3568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36">
            <a:extLst>
              <a:ext uri="{FF2B5EF4-FFF2-40B4-BE49-F238E27FC236}">
                <a16:creationId xmlns:a16="http://schemas.microsoft.com/office/drawing/2014/main" id="{3ABA6325-0C4D-ADBB-5C93-9AB0A04C8F15}"/>
              </a:ext>
            </a:extLst>
          </p:cNvPr>
          <p:cNvSpPr/>
          <p:nvPr/>
        </p:nvSpPr>
        <p:spPr>
          <a:xfrm>
            <a:off x="52082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Shape 36">
            <a:extLst>
              <a:ext uri="{FF2B5EF4-FFF2-40B4-BE49-F238E27FC236}">
                <a16:creationId xmlns:a16="http://schemas.microsoft.com/office/drawing/2014/main" id="{0BB2AEB8-7FA8-EBC7-04FD-AD5A5B8538F8}"/>
              </a:ext>
            </a:extLst>
          </p:cNvPr>
          <p:cNvSpPr/>
          <p:nvPr/>
        </p:nvSpPr>
        <p:spPr>
          <a:xfrm>
            <a:off x="5207551" y="3082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38">
            <a:extLst>
              <a:ext uri="{FF2B5EF4-FFF2-40B4-BE49-F238E27FC236}">
                <a16:creationId xmlns:a16="http://schemas.microsoft.com/office/drawing/2014/main" id="{3976CA87-D608-B478-0B7F-76C239579767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39">
            <a:extLst>
              <a:ext uri="{FF2B5EF4-FFF2-40B4-BE49-F238E27FC236}">
                <a16:creationId xmlns:a16="http://schemas.microsoft.com/office/drawing/2014/main" id="{00B73596-25FE-7BEA-B356-6BA40FA3B1A1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低ハードル</a:t>
            </a:r>
            <a:r>
              <a:rPr kumimoji="0" lang="en-US" altLang="ja-JP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Text 40">
            <a:extLst>
              <a:ext uri="{FF2B5EF4-FFF2-40B4-BE49-F238E27FC236}">
                <a16:creationId xmlns:a16="http://schemas.microsoft.com/office/drawing/2014/main" id="{8E8E8572-E4BF-C131-AD4E-7DE59476C19F}"/>
              </a:ext>
            </a:extLst>
          </p:cNvPr>
          <p:cNvSpPr/>
          <p:nvPr/>
        </p:nvSpPr>
        <p:spPr>
          <a:xfrm>
            <a:off x="6396271" y="3073360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 × 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LINE登録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（サンクス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41">
            <a:extLst>
              <a:ext uri="{FF2B5EF4-FFF2-40B4-BE49-F238E27FC236}">
                <a16:creationId xmlns:a16="http://schemas.microsoft.com/office/drawing/2014/main" id="{A02D25CE-9C9B-6858-9645-3D054403B80F}"/>
              </a:ext>
            </a:extLst>
          </p:cNvPr>
          <p:cNvSpPr/>
          <p:nvPr/>
        </p:nvSpPr>
        <p:spPr>
          <a:xfrm>
            <a:off x="5207551" y="3375112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シミュレーター、簡易診断を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受け取る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簡易的な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を作成し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友だち追加そのままステップ配信へ移行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CVR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％前後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」を「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－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10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％」に引上げてリード最大化。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42">
            <a:extLst>
              <a:ext uri="{FF2B5EF4-FFF2-40B4-BE49-F238E27FC236}">
                <a16:creationId xmlns:a16="http://schemas.microsoft.com/office/drawing/2014/main" id="{A9C5DE92-D696-84FB-0338-A45B2163E84E}"/>
              </a:ext>
            </a:extLst>
          </p:cNvPr>
          <p:cNvSpPr/>
          <p:nvPr/>
        </p:nvSpPr>
        <p:spPr>
          <a:xfrm>
            <a:off x="5207551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Shape 43">
            <a:extLst>
              <a:ext uri="{FF2B5EF4-FFF2-40B4-BE49-F238E27FC236}">
                <a16:creationId xmlns:a16="http://schemas.microsoft.com/office/drawing/2014/main" id="{7A414BE8-8C56-464D-5646-C8428426E154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Text 44">
            <a:extLst>
              <a:ext uri="{FF2B5EF4-FFF2-40B4-BE49-F238E27FC236}">
                <a16:creationId xmlns:a16="http://schemas.microsoft.com/office/drawing/2014/main" id="{71F14BEE-D634-88A2-56B2-296177E648B8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45">
            <a:extLst>
              <a:ext uri="{FF2B5EF4-FFF2-40B4-BE49-F238E27FC236}">
                <a16:creationId xmlns:a16="http://schemas.microsoft.com/office/drawing/2014/main" id="{38EAA9FF-3D6F-9893-A6AC-492E1F8D9ED2}"/>
              </a:ext>
            </a:extLst>
          </p:cNvPr>
          <p:cNvSpPr/>
          <p:nvPr/>
        </p:nvSpPr>
        <p:spPr>
          <a:xfrm>
            <a:off x="5481871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超簡易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1" name="Text 46">
            <a:extLst>
              <a:ext uri="{FF2B5EF4-FFF2-40B4-BE49-F238E27FC236}">
                <a16:creationId xmlns:a16="http://schemas.microsoft.com/office/drawing/2014/main" id="{76F9D806-0316-8040-BBC1-059EC4037026}"/>
              </a:ext>
            </a:extLst>
          </p:cNvPr>
          <p:cNvSpPr/>
          <p:nvPr/>
        </p:nvSpPr>
        <p:spPr>
          <a:xfrm>
            <a:off x="5262415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リード獲得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3" name="Text 47">
            <a:extLst>
              <a:ext uri="{FF2B5EF4-FFF2-40B4-BE49-F238E27FC236}">
                <a16:creationId xmlns:a16="http://schemas.microsoft.com/office/drawing/2014/main" id="{A91D1983-BD63-6B03-7992-4EBA1D20A7ED}"/>
              </a:ext>
            </a:extLst>
          </p:cNvPr>
          <p:cNvSpPr/>
          <p:nvPr/>
        </p:nvSpPr>
        <p:spPr>
          <a:xfrm>
            <a:off x="6487711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5" name="Shape 48">
            <a:extLst>
              <a:ext uri="{FF2B5EF4-FFF2-40B4-BE49-F238E27FC236}">
                <a16:creationId xmlns:a16="http://schemas.microsoft.com/office/drawing/2014/main" id="{1B608CB6-10B1-7849-F676-C778EAF32793}"/>
              </a:ext>
            </a:extLst>
          </p:cNvPr>
          <p:cNvSpPr/>
          <p:nvPr/>
        </p:nvSpPr>
        <p:spPr>
          <a:xfrm>
            <a:off x="6615727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7" name="Shape 49">
            <a:extLst>
              <a:ext uri="{FF2B5EF4-FFF2-40B4-BE49-F238E27FC236}">
                <a16:creationId xmlns:a16="http://schemas.microsoft.com/office/drawing/2014/main" id="{C6FD4C21-79ED-9901-73BB-36FADC629074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9" name="Text 50">
            <a:extLst>
              <a:ext uri="{FF2B5EF4-FFF2-40B4-BE49-F238E27FC236}">
                <a16:creationId xmlns:a16="http://schemas.microsoft.com/office/drawing/2014/main" id="{3AF7109C-EDE8-F8BE-01DA-9C306F9D4491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6A7C6314-C31C-2B4B-7A8D-E8DECD286DE8}"/>
              </a:ext>
            </a:extLst>
          </p:cNvPr>
          <p:cNvSpPr/>
          <p:nvPr/>
        </p:nvSpPr>
        <p:spPr>
          <a:xfrm>
            <a:off x="6887872" y="410587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サンクス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誘導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3" name="Text 52">
            <a:extLst>
              <a:ext uri="{FF2B5EF4-FFF2-40B4-BE49-F238E27FC236}">
                <a16:creationId xmlns:a16="http://schemas.microsoft.com/office/drawing/2014/main" id="{0C3AD28D-E803-BC04-74B7-651CDCD70000}"/>
              </a:ext>
            </a:extLst>
          </p:cNvPr>
          <p:cNvSpPr/>
          <p:nvPr/>
        </p:nvSpPr>
        <p:spPr>
          <a:xfrm>
            <a:off x="6621208" y="4316182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上で受取</a:t>
            </a:r>
            <a:r>
              <a:rPr kumimoji="0" lang="ja-JP" altLang="en-US" sz="7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として友だちに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5" name="Text 53">
            <a:extLst>
              <a:ext uri="{FF2B5EF4-FFF2-40B4-BE49-F238E27FC236}">
                <a16:creationId xmlns:a16="http://schemas.microsoft.com/office/drawing/2014/main" id="{2FB8B884-DB13-49DB-D682-50EB7789C9A4}"/>
              </a:ext>
            </a:extLst>
          </p:cNvPr>
          <p:cNvSpPr/>
          <p:nvPr/>
        </p:nvSpPr>
        <p:spPr>
          <a:xfrm>
            <a:off x="7895887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7" name="Shape 54">
            <a:extLst>
              <a:ext uri="{FF2B5EF4-FFF2-40B4-BE49-F238E27FC236}">
                <a16:creationId xmlns:a16="http://schemas.microsoft.com/office/drawing/2014/main" id="{710A2000-BA3B-1AFB-FCE0-644E6898DD03}"/>
              </a:ext>
            </a:extLst>
          </p:cNvPr>
          <p:cNvSpPr/>
          <p:nvPr/>
        </p:nvSpPr>
        <p:spPr>
          <a:xfrm>
            <a:off x="8023903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9" name="Shape 55">
            <a:extLst>
              <a:ext uri="{FF2B5EF4-FFF2-40B4-BE49-F238E27FC236}">
                <a16:creationId xmlns:a16="http://schemas.microsoft.com/office/drawing/2014/main" id="{1037F87F-5E4D-E3F5-E197-701DC444F492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1" name="Text 56">
            <a:extLst>
              <a:ext uri="{FF2B5EF4-FFF2-40B4-BE49-F238E27FC236}">
                <a16:creationId xmlns:a16="http://schemas.microsoft.com/office/drawing/2014/main" id="{B168640B-7EB6-045C-32D4-9F60E9C4069A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3" name="Text 57">
            <a:extLst>
              <a:ext uri="{FF2B5EF4-FFF2-40B4-BE49-F238E27FC236}">
                <a16:creationId xmlns:a16="http://schemas.microsoft.com/office/drawing/2014/main" id="{E14BC7E9-3708-9505-AC4A-060665171BCD}"/>
              </a:ext>
            </a:extLst>
          </p:cNvPr>
          <p:cNvSpPr/>
          <p:nvPr/>
        </p:nvSpPr>
        <p:spPr>
          <a:xfrm>
            <a:off x="8298223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5" name="Text 58">
            <a:extLst>
              <a:ext uri="{FF2B5EF4-FFF2-40B4-BE49-F238E27FC236}">
                <a16:creationId xmlns:a16="http://schemas.microsoft.com/office/drawing/2014/main" id="{5677227D-7522-18E3-CFF0-A01DE3054B96}"/>
              </a:ext>
            </a:extLst>
          </p:cNvPr>
          <p:cNvSpPr/>
          <p:nvPr/>
        </p:nvSpPr>
        <p:spPr>
          <a:xfrm>
            <a:off x="8078767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</a:t>
            </a:r>
            <a:r>
              <a:rPr kumimoji="0" lang="ja-JP" altLang="en-US" sz="750" kern="0" dirty="0">
                <a:solidFill>
                  <a:srgbClr val="D0E8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対象に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3" name="Shape 88">
            <a:extLst>
              <a:ext uri="{FF2B5EF4-FFF2-40B4-BE49-F238E27FC236}">
                <a16:creationId xmlns:a16="http://schemas.microsoft.com/office/drawing/2014/main" id="{E0F73C02-327E-D244-0ABD-F19F91EB24DD}"/>
              </a:ext>
            </a:extLst>
          </p:cNvPr>
          <p:cNvSpPr/>
          <p:nvPr/>
        </p:nvSpPr>
        <p:spPr>
          <a:xfrm>
            <a:off x="261702" y="2995754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5" name="Shape 36">
            <a:extLst>
              <a:ext uri="{FF2B5EF4-FFF2-40B4-BE49-F238E27FC236}">
                <a16:creationId xmlns:a16="http://schemas.microsoft.com/office/drawing/2014/main" id="{845DFC42-70E6-B496-30C2-C44315D85C79}"/>
              </a:ext>
            </a:extLst>
          </p:cNvPr>
          <p:cNvSpPr/>
          <p:nvPr/>
        </p:nvSpPr>
        <p:spPr>
          <a:xfrm>
            <a:off x="369887" y="3078489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7" name="Shape 38">
            <a:extLst>
              <a:ext uri="{FF2B5EF4-FFF2-40B4-BE49-F238E27FC236}">
                <a16:creationId xmlns:a16="http://schemas.microsoft.com/office/drawing/2014/main" id="{2DBF8816-E4F7-4E6B-6AB6-19DEA2101114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9" name="Text 39">
            <a:extLst>
              <a:ext uri="{FF2B5EF4-FFF2-40B4-BE49-F238E27FC236}">
                <a16:creationId xmlns:a16="http://schemas.microsoft.com/office/drawing/2014/main" id="{27DB11BF-957B-1CEF-3AC8-18BF5DCF40D9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kumimoji="0" lang="ja-JP" altLang="en-US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地点追加</a:t>
            </a:r>
            <a:endParaRPr kumimoji="0" lang="en-US" sz="75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1" name="Text 40">
            <a:extLst>
              <a:ext uri="{FF2B5EF4-FFF2-40B4-BE49-F238E27FC236}">
                <a16:creationId xmlns:a16="http://schemas.microsoft.com/office/drawing/2014/main" id="{C23E771B-F34E-1D51-1F7F-E37507CCE586}"/>
              </a:ext>
            </a:extLst>
          </p:cNvPr>
          <p:cNvSpPr/>
          <p:nvPr/>
        </p:nvSpPr>
        <p:spPr>
          <a:xfrm>
            <a:off x="1558607" y="3069345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追加をそもそも集客成果の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地点に追加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3" name="Text 41">
            <a:extLst>
              <a:ext uri="{FF2B5EF4-FFF2-40B4-BE49-F238E27FC236}">
                <a16:creationId xmlns:a16="http://schemas.microsoft.com/office/drawing/2014/main" id="{2C88C715-1A68-D7F9-6C3C-2E4E657F87BC}"/>
              </a:ext>
            </a:extLst>
          </p:cNvPr>
          <p:cNvSpPr/>
          <p:nvPr/>
        </p:nvSpPr>
        <p:spPr>
          <a:xfrm>
            <a:off x="369887" y="3371097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メール、電話を中心とした集客動線では、個人情報としてのハードルが高いため、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lvl="0">
              <a:lnSpc>
                <a:spcPct val="135000"/>
              </a:lnSpc>
              <a:defRPr/>
            </a:pP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集客実施内でのリード獲得単価を抑制できる上、反応率が高い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を動線の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つに。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5" name="Shape 42">
            <a:extLst>
              <a:ext uri="{FF2B5EF4-FFF2-40B4-BE49-F238E27FC236}">
                <a16:creationId xmlns:a16="http://schemas.microsoft.com/office/drawing/2014/main" id="{113510A9-9BDD-9FAD-90F6-0D1EC0BCB699}"/>
              </a:ext>
            </a:extLst>
          </p:cNvPr>
          <p:cNvSpPr/>
          <p:nvPr/>
        </p:nvSpPr>
        <p:spPr>
          <a:xfrm>
            <a:off x="369887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7" name="Shape 43">
            <a:extLst>
              <a:ext uri="{FF2B5EF4-FFF2-40B4-BE49-F238E27FC236}">
                <a16:creationId xmlns:a16="http://schemas.microsoft.com/office/drawing/2014/main" id="{4E4A9CB8-BC81-64F6-260F-5F493122A66C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9" name="Text 44">
            <a:extLst>
              <a:ext uri="{FF2B5EF4-FFF2-40B4-BE49-F238E27FC236}">
                <a16:creationId xmlns:a16="http://schemas.microsoft.com/office/drawing/2014/main" id="{1140FDA8-6C5C-AE0C-F98C-11C8C0A073FE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1" name="Text 45">
            <a:extLst>
              <a:ext uri="{FF2B5EF4-FFF2-40B4-BE49-F238E27FC236}">
                <a16:creationId xmlns:a16="http://schemas.microsoft.com/office/drawing/2014/main" id="{A22E630F-5396-9B90-711A-C5DCE95E1469}"/>
              </a:ext>
            </a:extLst>
          </p:cNvPr>
          <p:cNvSpPr/>
          <p:nvPr/>
        </p:nvSpPr>
        <p:spPr>
          <a:xfrm>
            <a:off x="644207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SEO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SNS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3" name="Text 46">
            <a:extLst>
              <a:ext uri="{FF2B5EF4-FFF2-40B4-BE49-F238E27FC236}">
                <a16:creationId xmlns:a16="http://schemas.microsoft.com/office/drawing/2014/main" id="{963027FB-D92E-2D7B-6655-63BA79599E4C}"/>
              </a:ext>
            </a:extLst>
          </p:cNvPr>
          <p:cNvSpPr/>
          <p:nvPr/>
        </p:nvSpPr>
        <p:spPr>
          <a:xfrm>
            <a:off x="424751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流入チャネル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5" name="Text 47">
            <a:extLst>
              <a:ext uri="{FF2B5EF4-FFF2-40B4-BE49-F238E27FC236}">
                <a16:creationId xmlns:a16="http://schemas.microsoft.com/office/drawing/2014/main" id="{74B99422-CBF5-9B4D-0494-5C4443B23CDC}"/>
              </a:ext>
            </a:extLst>
          </p:cNvPr>
          <p:cNvSpPr/>
          <p:nvPr/>
        </p:nvSpPr>
        <p:spPr>
          <a:xfrm>
            <a:off x="1650047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7" name="Shape 48">
            <a:extLst>
              <a:ext uri="{FF2B5EF4-FFF2-40B4-BE49-F238E27FC236}">
                <a16:creationId xmlns:a16="http://schemas.microsoft.com/office/drawing/2014/main" id="{8B8CFEAA-9314-449D-1074-EF75AFDAC19A}"/>
              </a:ext>
            </a:extLst>
          </p:cNvPr>
          <p:cNvSpPr/>
          <p:nvPr/>
        </p:nvSpPr>
        <p:spPr>
          <a:xfrm>
            <a:off x="1778063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9" name="Shape 49">
            <a:extLst>
              <a:ext uri="{FF2B5EF4-FFF2-40B4-BE49-F238E27FC236}">
                <a16:creationId xmlns:a16="http://schemas.microsoft.com/office/drawing/2014/main" id="{C950146B-431E-366D-1457-E0150725DAB8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1" name="Text 50">
            <a:extLst>
              <a:ext uri="{FF2B5EF4-FFF2-40B4-BE49-F238E27FC236}">
                <a16:creationId xmlns:a16="http://schemas.microsoft.com/office/drawing/2014/main" id="{2812D2BF-5313-2DA8-B2ED-115987FDA314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3" name="Text 51">
            <a:extLst>
              <a:ext uri="{FF2B5EF4-FFF2-40B4-BE49-F238E27FC236}">
                <a16:creationId xmlns:a16="http://schemas.microsoft.com/office/drawing/2014/main" id="{61B9DBCC-02E6-6237-0DAD-ED9142171120}"/>
              </a:ext>
            </a:extLst>
          </p:cNvPr>
          <p:cNvSpPr/>
          <p:nvPr/>
        </p:nvSpPr>
        <p:spPr>
          <a:xfrm>
            <a:off x="2050208" y="41018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・ポップアップ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5" name="Text 52">
            <a:extLst>
              <a:ext uri="{FF2B5EF4-FFF2-40B4-BE49-F238E27FC236}">
                <a16:creationId xmlns:a16="http://schemas.microsoft.com/office/drawing/2014/main" id="{1CF9536A-5A56-D77B-3F08-8BACCB3B4827}"/>
              </a:ext>
            </a:extLst>
          </p:cNvPr>
          <p:cNvSpPr/>
          <p:nvPr/>
        </p:nvSpPr>
        <p:spPr>
          <a:xfrm>
            <a:off x="1783544" y="4312167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やポップアップでの動線に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7" name="Text 53">
            <a:extLst>
              <a:ext uri="{FF2B5EF4-FFF2-40B4-BE49-F238E27FC236}">
                <a16:creationId xmlns:a16="http://schemas.microsoft.com/office/drawing/2014/main" id="{6C4945AC-3CDA-2080-CEF1-36A24E6529F2}"/>
              </a:ext>
            </a:extLst>
          </p:cNvPr>
          <p:cNvSpPr/>
          <p:nvPr/>
        </p:nvSpPr>
        <p:spPr>
          <a:xfrm>
            <a:off x="3058223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9" name="Shape 54">
            <a:extLst>
              <a:ext uri="{FF2B5EF4-FFF2-40B4-BE49-F238E27FC236}">
                <a16:creationId xmlns:a16="http://schemas.microsoft.com/office/drawing/2014/main" id="{FB4A19A3-2EF9-47D2-F075-70F2D5D6B076}"/>
              </a:ext>
            </a:extLst>
          </p:cNvPr>
          <p:cNvSpPr/>
          <p:nvPr/>
        </p:nvSpPr>
        <p:spPr>
          <a:xfrm>
            <a:off x="3186239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1" name="Shape 55">
            <a:extLst>
              <a:ext uri="{FF2B5EF4-FFF2-40B4-BE49-F238E27FC236}">
                <a16:creationId xmlns:a16="http://schemas.microsoft.com/office/drawing/2014/main" id="{6B43E1E4-2A7D-AD40-67F5-6B516A71860E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3" name="Text 56">
            <a:extLst>
              <a:ext uri="{FF2B5EF4-FFF2-40B4-BE49-F238E27FC236}">
                <a16:creationId xmlns:a16="http://schemas.microsoft.com/office/drawing/2014/main" id="{2E67F49B-16BE-07E6-9262-E50D4D3A8F60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5" name="Text 57">
            <a:extLst>
              <a:ext uri="{FF2B5EF4-FFF2-40B4-BE49-F238E27FC236}">
                <a16:creationId xmlns:a16="http://schemas.microsoft.com/office/drawing/2014/main" id="{AA931AD0-7A16-05D2-D8C7-AB50301B6C53}"/>
              </a:ext>
            </a:extLst>
          </p:cNvPr>
          <p:cNvSpPr/>
          <p:nvPr/>
        </p:nvSpPr>
        <p:spPr>
          <a:xfrm>
            <a:off x="3460559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7" name="Text 58">
            <a:extLst>
              <a:ext uri="{FF2B5EF4-FFF2-40B4-BE49-F238E27FC236}">
                <a16:creationId xmlns:a16="http://schemas.microsoft.com/office/drawing/2014/main" id="{54B49D2D-4FC3-300F-AAB4-B1D6ACEDA33A}"/>
              </a:ext>
            </a:extLst>
          </p:cNvPr>
          <p:cNvSpPr/>
          <p:nvPr/>
        </p:nvSpPr>
        <p:spPr>
          <a:xfrm>
            <a:off x="3241103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--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141550</TotalTime>
  <Words>4173</Words>
  <Application>Microsoft Office PowerPoint</Application>
  <PresentationFormat>A4 210 x 297 mm</PresentationFormat>
  <Paragraphs>921</Paragraphs>
  <Slides>37</Slides>
  <Notes>3</Notes>
  <HiddenSlides>5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37</vt:i4>
      </vt:variant>
    </vt:vector>
  </HeadingPairs>
  <TitlesOfParts>
    <vt:vector size="44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1922</cp:revision>
  <cp:lastPrinted>2022-11-01T11:38:14Z</cp:lastPrinted>
  <dcterms:created xsi:type="dcterms:W3CDTF">2015-09-04T09:21:15Z</dcterms:created>
  <dcterms:modified xsi:type="dcterms:W3CDTF">2026-09-14T13:31:47Z</dcterms:modified>
</cp:coreProperties>
</file>