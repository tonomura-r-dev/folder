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01" r:id="rId2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5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4" Type="http://schemas.openxmlformats.org/officeDocument/2006/relationships/slide" Target="slides/slide23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023FD08-B3C3-42F8-A153-9D5527DEAE1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81000" y="1243080"/>
            <a:ext cx="4844520" cy="335412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680400" y="4782960"/>
            <a:ext cx="5446080" cy="391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ftr" idx="24"/>
          </p:nvPr>
        </p:nvSpPr>
        <p:spPr>
          <a:xfrm>
            <a:off x="0" y="9441720"/>
            <a:ext cx="2950200" cy="49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  <p:sp>
        <p:nvSpPr>
          <p:cNvPr id="1150" name="PlaceHolder 4"/>
          <p:cNvSpPr>
            <a:spLocks noGrp="1"/>
          </p:cNvSpPr>
          <p:nvPr>
            <p:ph type="sldNum" idx="25"/>
          </p:nvPr>
        </p:nvSpPr>
        <p:spPr>
          <a:xfrm>
            <a:off x="3855240" y="9441720"/>
            <a:ext cx="2950200" cy="49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56880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956880">
              <a:lnSpc>
                <a:spcPct val="100000"/>
              </a:lnSpc>
              <a:buNone/>
            </a:pPr>
            <a:fld id="{6BEAC167-1E56-4A89-B6CA-078D5C4214B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3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7221DD93-BA6E-44AE-9625-337799002E27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正方形/長方形 1"/>
          <p:cNvSpPr/>
          <p:nvPr/>
        </p:nvSpPr>
        <p:spPr>
          <a:xfrm>
            <a:off x="9398160" y="6591240"/>
            <a:ext cx="418680" cy="2664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B234BB70-5183-4ABD-92F4-80874DE4EEF5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" name="直線コネクタ 4"/>
          <p:cNvCxnSpPr/>
          <p:nvPr/>
        </p:nvCxnSpPr>
        <p:spPr>
          <a:xfrm>
            <a:off x="0" y="548640"/>
            <a:ext cx="9906120" cy="360"/>
          </a:xfrm>
          <a:prstGeom prst="straightConnector1">
            <a:avLst/>
          </a:prstGeom>
          <a:ln>
            <a:solidFill>
              <a:srgbClr val="191F54"/>
            </a:solidFill>
            <a:round/>
          </a:ln>
        </p:spPr>
      </p:cxnSp>
      <p:sp>
        <p:nvSpPr>
          <p:cNvPr id="12" name="正方形/長方形 6"/>
          <p:cNvSpPr/>
          <p:nvPr/>
        </p:nvSpPr>
        <p:spPr>
          <a:xfrm>
            <a:off x="0" y="0"/>
            <a:ext cx="450720" cy="548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"/>
          <p:cNvPicPr/>
          <p:nvPr/>
        </p:nvPicPr>
        <p:blipFill>
          <a:blip r:embed="rId2"/>
          <a:stretch/>
        </p:blipFill>
        <p:spPr>
          <a:xfrm>
            <a:off x="8151480" y="72360"/>
            <a:ext cx="1598400" cy="42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図 4"/>
          <p:cNvPicPr/>
          <p:nvPr/>
        </p:nvPicPr>
        <p:blipFill>
          <a:blip r:embed="rId3"/>
          <a:stretch/>
        </p:blipFill>
        <p:spPr>
          <a:xfrm>
            <a:off x="8151480" y="32400"/>
            <a:ext cx="1652760" cy="63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正方形/長方形 5"/>
          <p:cNvSpPr/>
          <p:nvPr/>
        </p:nvSpPr>
        <p:spPr>
          <a:xfrm>
            <a:off x="0" y="6552720"/>
            <a:ext cx="9905760" cy="332280"/>
          </a:xfrm>
          <a:prstGeom prst="rect">
            <a:avLst/>
          </a:prstGeom>
          <a:solidFill>
            <a:srgbClr val="191F5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" name="スライド番号プレースホルダ 1"/>
          <p:cNvSpPr/>
          <p:nvPr/>
        </p:nvSpPr>
        <p:spPr>
          <a:xfrm>
            <a:off x="7594560" y="6552720"/>
            <a:ext cx="23112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</a:pPr>
            <a:fld id="{077BD008-84D6-4C04-8004-9A059DF72521}" type="slidenum">
              <a:rPr lang="en-US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テキスト ボックス 8"/>
          <p:cNvSpPr/>
          <p:nvPr/>
        </p:nvSpPr>
        <p:spPr>
          <a:xfrm>
            <a:off x="116640" y="6598080"/>
            <a:ext cx="366588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Copyright(c) DYM Co., Ltd</a:t>
            </a:r>
            <a:r>
              <a:rPr lang="ja-JP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． </a:t>
            </a:r>
            <a:r>
              <a:rPr lang="en-US" sz="8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</a:rPr>
              <a:t>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emf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1"/>
          <p:cNvSpPr/>
          <p:nvPr/>
        </p:nvSpPr>
        <p:spPr>
          <a:xfrm>
            <a:off x="1665660" y="2937630"/>
            <a:ext cx="657396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200" b="1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メイリオ"/>
                <a:ea typeface="メイリオ"/>
              </a:rPr>
              <a:t>LINE公式アカウント活用のご提案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27" name="正方形/長方形 5"/>
          <p:cNvSpPr/>
          <p:nvPr/>
        </p:nvSpPr>
        <p:spPr>
          <a:xfrm>
            <a:off x="1336792" y="1922429"/>
            <a:ext cx="7231989" cy="10424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anchor="b">
            <a:noAutofit/>
          </a:bodyPr>
          <a:lstStyle/>
          <a:p>
            <a:pPr algn="ctr"/>
            <a:r>
              <a:rPr lang="ja-JP" sz="1600" b="0" u="none" strike="noStrike" dirty="0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</a:rPr>
              <a:t>資料請求の後もLINEでつながり、</a:t>
            </a:r>
          </a:p>
          <a:p>
            <a:pPr algn="ctr"/>
            <a:r>
              <a:rPr lang="ja-JP" sz="1600" b="0" u="none" strike="noStrike" dirty="0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</a:rPr>
              <a:t>モデルハウスへの来場につなげる</a:t>
            </a:r>
          </a:p>
        </p:txBody>
      </p:sp>
      <p:cxnSp>
        <p:nvCxnSpPr>
          <p:cNvPr id="28" name="直線コネクタ 4"/>
          <p:cNvCxnSpPr/>
          <p:nvPr/>
        </p:nvCxnSpPr>
        <p:spPr>
          <a:xfrm>
            <a:off x="1336980" y="3604491"/>
            <a:ext cx="7232040" cy="0"/>
          </a:xfrm>
          <a:prstGeom prst="straightConnector1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pic>
        <p:nvPicPr>
          <p:cNvPr id="29" name="図 8" descr="背景パターン&#10;&#10;AI 生成コンテンツは誤りを含む可能性があります。"/>
          <p:cNvPicPr/>
          <p:nvPr/>
        </p:nvPicPr>
        <p:blipFill>
          <a:blip r:embed="rId2"/>
          <a:stretch/>
        </p:blipFill>
        <p:spPr>
          <a:xfrm>
            <a:off x="0" y="0"/>
            <a:ext cx="8159400" cy="76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図 9" descr="背景パターン&#10;&#10;AI 生成コンテンツは誤りを含む可能性があります。"/>
          <p:cNvPicPr/>
          <p:nvPr/>
        </p:nvPicPr>
        <p:blipFill>
          <a:blip r:embed="rId2"/>
          <a:stretch/>
        </p:blipFill>
        <p:spPr>
          <a:xfrm>
            <a:off x="7863840" y="494280"/>
            <a:ext cx="204192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テキスト ボックス 6"/>
          <p:cNvSpPr/>
          <p:nvPr/>
        </p:nvSpPr>
        <p:spPr>
          <a:xfrm>
            <a:off x="291960" y="263520"/>
            <a:ext cx="496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</a:rPr>
              <a:t>タナカホーム株式会社 御中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正方形/長方形 18"/>
          <p:cNvSpPr/>
          <p:nvPr/>
        </p:nvSpPr>
        <p:spPr>
          <a:xfrm>
            <a:off x="1649160" y="5820840"/>
            <a:ext cx="6192360" cy="3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spcBef>
                <a:spcPts val="167"/>
              </a:spcBef>
            </a:pP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株式会社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DYM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〒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141-0032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東京都品川区大崎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1-11-2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ゲートシティ大崎イーストタワー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10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階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67"/>
              </a:spcBef>
            </a:pP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TEL: 03-5745-0200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FAX: 03-3779-8720 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　</a:t>
            </a:r>
            <a:r>
              <a:rPr lang="en-US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http://dym.asia   </a:t>
            </a:r>
            <a:r>
              <a:rPr lang="ja-JP" sz="83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代表取締役　水谷佑毅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4" name="図 1"/>
          <p:cNvPicPr/>
          <p:nvPr/>
        </p:nvPicPr>
        <p:blipFill>
          <a:blip r:embed="rId3"/>
          <a:srcRect l="-1652" r="-11179"/>
          <a:stretch/>
        </p:blipFill>
        <p:spPr>
          <a:xfrm>
            <a:off x="543960" y="5895360"/>
            <a:ext cx="110052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5" name="テキスト ボックス 2"/>
          <p:cNvSpPr/>
          <p:nvPr/>
        </p:nvSpPr>
        <p:spPr>
          <a:xfrm>
            <a:off x="5070240" y="5597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076" name="正方形/長方形 17"/>
          <p:cNvSpPr/>
          <p:nvPr/>
        </p:nvSpPr>
        <p:spPr>
          <a:xfrm>
            <a:off x="2170080" y="989640"/>
            <a:ext cx="55656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360"/>
              </a:spcBef>
            </a:pPr>
            <a:r>
              <a:rPr lang="ja-JP" sz="1800" b="1" u="none" strike="noStrike">
                <a:solidFill>
                  <a:srgbClr val="000000"/>
                </a:solidFill>
                <a:effectLst/>
                <a:uFillTx/>
                <a:latin typeface="メイリオ"/>
                <a:ea typeface="メイリオ"/>
              </a:rPr>
              <a:t>貴社の明るい未来に必ず貢献致します。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正方形/長方形 13"/>
          <p:cNvSpPr/>
          <p:nvPr/>
        </p:nvSpPr>
        <p:spPr>
          <a:xfrm>
            <a:off x="382680" y="2698200"/>
            <a:ext cx="597960" cy="20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47"/>
              </a:spcBef>
            </a:pPr>
            <a:r>
              <a:rPr lang="ja-JP" sz="740" b="0" u="none" strike="noStrike">
                <a:solidFill>
                  <a:srgbClr val="FFFFFF"/>
                </a:solidFill>
                <a:effectLst/>
                <a:uFillTx/>
                <a:latin typeface="メイリオ"/>
                <a:ea typeface="メイリオ"/>
              </a:rPr>
              <a:t>本社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正方形/長方形 14"/>
          <p:cNvSpPr/>
          <p:nvPr/>
        </p:nvSpPr>
        <p:spPr>
          <a:xfrm>
            <a:off x="368280" y="2355120"/>
            <a:ext cx="75636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59"/>
              </a:spcBef>
            </a:pPr>
            <a:r>
              <a:rPr lang="ja-JP" sz="800" b="0" u="none" strike="noStrike">
                <a:solidFill>
                  <a:srgbClr val="FFFFFF"/>
                </a:solidFill>
                <a:effectLst/>
                <a:uFillTx/>
                <a:latin typeface="メイリオ"/>
                <a:ea typeface="メイリオ"/>
              </a:rPr>
              <a:t>本社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9" name="グループ化 21"/>
          <p:cNvGrpSpPr/>
          <p:nvPr/>
        </p:nvGrpSpPr>
        <p:grpSpPr>
          <a:xfrm>
            <a:off x="380880" y="1772640"/>
            <a:ext cx="9143640" cy="3314520"/>
            <a:chOff x="380880" y="1772640"/>
            <a:chExt cx="9143640" cy="3314520"/>
          </a:xfrm>
        </p:grpSpPr>
        <p:pic>
          <p:nvPicPr>
            <p:cNvPr id="1080" name="図 20" descr="ポーズをとる男性グループ&#10;&#10;自動的に生成された説明"/>
            <p:cNvPicPr/>
            <p:nvPr/>
          </p:nvPicPr>
          <p:blipFill>
            <a:blip r:embed="rId4"/>
            <a:srcRect l="3642" r="4070"/>
            <a:stretch/>
          </p:blipFill>
          <p:spPr>
            <a:xfrm>
              <a:off x="7354800" y="3518640"/>
              <a:ext cx="2169720" cy="1567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1" name="図 15" descr="白いシャツを着ている男性&#10;&#10;中程度の精度で自動的に生成された説明"/>
            <p:cNvPicPr/>
            <p:nvPr/>
          </p:nvPicPr>
          <p:blipFill>
            <a:blip r:embed="rId5"/>
            <a:stretch/>
          </p:blipFill>
          <p:spPr>
            <a:xfrm>
              <a:off x="5364720" y="3519720"/>
              <a:ext cx="1989720" cy="1567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2" name="図 9" descr="スーツを着た男性たち&#10;&#10;自動的に生成された説明"/>
            <p:cNvPicPr/>
            <p:nvPr/>
          </p:nvPicPr>
          <p:blipFill>
            <a:blip r:embed="rId6"/>
            <a:srcRect l="10699" r="10360"/>
            <a:stretch/>
          </p:blipFill>
          <p:spPr>
            <a:xfrm>
              <a:off x="7680600" y="1774080"/>
              <a:ext cx="1842120" cy="174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3" name="図 6" descr="講堂にいる人たち&#10;&#10;中程度の精度で自動的に生成された説明"/>
            <p:cNvPicPr/>
            <p:nvPr/>
          </p:nvPicPr>
          <p:blipFill>
            <a:blip r:embed="rId7"/>
            <a:srcRect l="2513" t="12878" r="2480"/>
            <a:stretch/>
          </p:blipFill>
          <p:spPr>
            <a:xfrm>
              <a:off x="380880" y="1772640"/>
              <a:ext cx="5089320" cy="331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84" name="図 10" descr="スーツを着た男性グループの写真&#10;&#10;低い精度で自動的に生成された説明"/>
            <p:cNvPicPr/>
            <p:nvPr/>
          </p:nvPicPr>
          <p:blipFill>
            <a:blip r:embed="rId8"/>
            <a:srcRect l="8592" r="6764"/>
            <a:stretch/>
          </p:blipFill>
          <p:spPr>
            <a:xfrm>
              <a:off x="5470920" y="1773000"/>
              <a:ext cx="2215080" cy="1745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85" name="正方形/長方形 5"/>
          <p:cNvSpPr/>
          <p:nvPr/>
        </p:nvSpPr>
        <p:spPr>
          <a:xfrm>
            <a:off x="128160" y="6620400"/>
            <a:ext cx="2852640" cy="237240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6" name="正方形/長方形 1"/>
          <p:cNvSpPr/>
          <p:nvPr/>
        </p:nvSpPr>
        <p:spPr>
          <a:xfrm>
            <a:off x="368280" y="0"/>
            <a:ext cx="9537480" cy="5144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サマリー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来場数の目標（月50〜60件）に向けて、LINEで資料請求の後を追う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KEY TAKEAWAY 見出し"/>
          <p:cNvSpPr/>
          <p:nvPr/>
        </p:nvSpPr>
        <p:spPr>
          <a:xfrm>
            <a:off x="502920" y="1691640"/>
            <a:ext cx="2103120" cy="329184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KEY TAKEAWAY</a:t>
            </a:r>
            <a:endParaRPr lang="ja-JP" altLang="en-US" sz="1200" dirty="0"/>
          </a:p>
        </p:txBody>
      </p:sp>
      <p:sp>
        <p:nvSpPr>
          <p:cNvPr id="8" name="KEY TAKEAWAY"/>
          <p:cNvSpPr/>
          <p:nvPr/>
        </p:nvSpPr>
        <p:spPr>
          <a:xfrm>
            <a:off x="502920" y="2020824"/>
            <a:ext cx="8897112" cy="1325880"/>
          </a:xfrm>
          <a:prstGeom prst="rect">
            <a:avLst/>
          </a:prstGeom>
          <a:solidFill>
            <a:srgbClr val="EEF1F8"/>
          </a:solidFill>
          <a:ln w="9525">
            <a:solidFill>
              <a:srgbClr val="1F285A"/>
            </a:solidFill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lnSpc>
                <a:spcPct val="125000"/>
              </a:lnSpc>
              <a:buNone/>
            </a:pPr>
            <a:r>
              <a:rPr lang="ja-JP" altLang="en-US" sz="20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資料請求で終わらせず、LINEで来場までつなげる</a:t>
            </a:r>
            <a:endParaRPr lang="ja-JP" altLang="en-US" sz="1200" dirty="0"/>
          </a:p>
          <a:p>
            <a:pPr algn="ctr">
              <a:lnSpc>
                <a:spcPct val="125000"/>
              </a:lnSpc>
              <a:buNone/>
            </a:pPr>
            <a:r>
              <a:rPr lang="ja-JP" altLang="en-US" sz="13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離脱防止・LINE広告で友だちを集め、ステップ配信と予約のリマインドで来場を増やす</a:t>
            </a:r>
            <a:endParaRPr lang="ja-JP" altLang="en-US" sz="1200" dirty="0"/>
          </a:p>
        </p:txBody>
      </p:sp>
      <p:sp>
        <p:nvSpPr>
          <p:cNvPr id="9" name="補足ポイント"/>
          <p:cNvSpPr/>
          <p:nvPr/>
        </p:nvSpPr>
        <p:spPr>
          <a:xfrm>
            <a:off x="502920" y="3703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補足ポイント</a:t>
            </a:r>
            <a:endParaRPr lang="ja-JP" altLang="en-US" sz="1200" dirty="0"/>
          </a:p>
        </p:txBody>
      </p:sp>
      <p:sp>
        <p:nvSpPr>
          <p:cNvPr id="10" name="線1"/>
          <p:cNvSpPr/>
          <p:nvPr/>
        </p:nvSpPr>
        <p:spPr>
          <a:xfrm>
            <a:off x="502920" y="4105656"/>
            <a:ext cx="777240" cy="5029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1" name="見出し1"/>
          <p:cNvSpPr/>
          <p:nvPr/>
        </p:nvSpPr>
        <p:spPr>
          <a:xfrm>
            <a:off x="502920" y="4206240"/>
            <a:ext cx="2804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01 現状・課題</a:t>
            </a:r>
            <a:endParaRPr lang="ja-JP" altLang="en-US" sz="1200" dirty="0"/>
          </a:p>
        </p:txBody>
      </p:sp>
      <p:sp>
        <p:nvSpPr>
          <p:cNvPr id="12" name="本文1"/>
          <p:cNvSpPr/>
          <p:nvPr/>
        </p:nvSpPr>
        <p:spPr>
          <a:xfrm>
            <a:off x="502920" y="4572000"/>
            <a:ext cx="28041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45720" bIns="36576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ja-JP" altLang="en-US" sz="13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資料請求は目標のCPAで取れている。資料請求から来場予約への引き上げは月3〜4件にとどまる。</a:t>
            </a:r>
            <a:endParaRPr lang="ja-JP" altLang="en-US" sz="1200" dirty="0"/>
          </a:p>
        </p:txBody>
      </p:sp>
      <p:sp>
        <p:nvSpPr>
          <p:cNvPr id="13" name="線2"/>
          <p:cNvSpPr/>
          <p:nvPr/>
        </p:nvSpPr>
        <p:spPr>
          <a:xfrm>
            <a:off x="3549396" y="4105656"/>
            <a:ext cx="777240" cy="50292"/>
          </a:xfrm>
          <a:prstGeom prst="rect">
            <a:avLst/>
          </a:prstGeom>
          <a:solidFill>
            <a:srgbClr val="3E5C99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4" name="見出し2"/>
          <p:cNvSpPr/>
          <p:nvPr/>
        </p:nvSpPr>
        <p:spPr>
          <a:xfrm>
            <a:off x="3549396" y="4206240"/>
            <a:ext cx="2804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3E5C9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02 提案</a:t>
            </a:r>
            <a:endParaRPr lang="ja-JP" altLang="en-US" sz="1200" dirty="0"/>
          </a:p>
        </p:txBody>
      </p:sp>
      <p:sp>
        <p:nvSpPr>
          <p:cNvPr id="15" name="本文2"/>
          <p:cNvSpPr/>
          <p:nvPr/>
        </p:nvSpPr>
        <p:spPr>
          <a:xfrm>
            <a:off x="3549396" y="4572000"/>
            <a:ext cx="28041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45720" bIns="36576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ja-JP" altLang="en-US" sz="13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サイトの離脱防止・資料請求の完了ページ・LINE広告から友だちを集め、前後検索に合わせたステップ配信で来場予約まで案内する。</a:t>
            </a:r>
            <a:endParaRPr lang="ja-JP" altLang="en-US" sz="1200" dirty="0"/>
          </a:p>
        </p:txBody>
      </p:sp>
      <p:sp>
        <p:nvSpPr>
          <p:cNvPr id="16" name="線3"/>
          <p:cNvSpPr/>
          <p:nvPr/>
        </p:nvSpPr>
        <p:spPr>
          <a:xfrm>
            <a:off x="6595872" y="4105656"/>
            <a:ext cx="777240" cy="502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7" name="見出し3"/>
          <p:cNvSpPr/>
          <p:nvPr/>
        </p:nvSpPr>
        <p:spPr>
          <a:xfrm>
            <a:off x="6595872" y="4206240"/>
            <a:ext cx="2804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03 試算</a:t>
            </a:r>
            <a:endParaRPr lang="ja-JP" altLang="en-US" sz="1200" dirty="0"/>
          </a:p>
        </p:txBody>
      </p:sp>
      <p:sp>
        <p:nvSpPr>
          <p:cNvPr id="18" name="本文3"/>
          <p:cNvSpPr/>
          <p:nvPr/>
        </p:nvSpPr>
        <p:spPr>
          <a:xfrm>
            <a:off x="6595872" y="4572000"/>
            <a:ext cx="28041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45720" bIns="36576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ja-JP" altLang="en-US" sz="13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6か月目に、LINE経由の来場予約 月30件。初期31.5万円・月48万円（LINE公式アカウントの利用料を除く）。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現状：資料請求は目標どおり。来場への引き上げが足りない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資料請求のCPAは目標の3,000円以内。一方で、来場は目標に届いていない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現状 6"/>
          <p:cNvGraphicFramePr>
            <a:graphicFrameLocks noGrp="1"/>
          </p:cNvGraphicFramePr>
          <p:nvPr/>
        </p:nvGraphicFramePr>
        <p:xfrm>
          <a:off x="502920" y="1691640"/>
          <a:ext cx="8897112" cy="3218688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41071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数字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補足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資料請求のCPA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2,969円</a:t>
                      </a:r>
                      <a:endParaRPr lang="ja-JP" altLang="en-US" sz="13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目標 3,000円以内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来場数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 約30件</a:t>
                      </a:r>
                      <a:endParaRPr lang="ja-JP" altLang="en-US" sz="13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目標 月50〜60件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 → 来場予約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月3〜4件</a:t>
                      </a:r>
                      <a:endParaRPr lang="ja-JP" altLang="en-US" sz="13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今のフォロー：メール・電話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検索広告のCPA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14,796円 → 47,500円</a:t>
                      </a:r>
                      <a:endParaRPr lang="ja-JP" altLang="en-US" sz="13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前年同月との比較（CV 1件）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青森店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予約のキャンセルが多い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来場の質にも課題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注記"/>
          <p:cNvSpPr/>
          <p:nvPr/>
        </p:nvSpPr>
        <p:spPr>
          <a:xfrm>
            <a:off x="502920" y="502920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※数字は貴社よりご提供いただいた資料より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課題：資料請求の後・予約の後・検索広告の3か所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3つの課題は、どれも「資料請求の後に追う手段がない」ことにつながる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課題 6"/>
          <p:cNvGraphicFramePr>
            <a:graphicFrameLocks noGrp="1"/>
          </p:cNvGraphicFramePr>
          <p:nvPr/>
        </p:nvGraphicFramePr>
        <p:xfrm>
          <a:off x="502920" y="1691640"/>
          <a:ext cx="8897112" cy="2990088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  <a:gridCol w="354787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課題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起きていること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LINEでの打ち手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 資料請求の後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資料請求から来場予約に進む方が少ない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ステップ配信で、来場予約まで段階的に案内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 予約の後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青森店で、予約のキャンセルが多い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来場3日前・前日のリマインドで、当日まで接点を保つ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 検索広告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検索広告のCPAが上がり、12月は検討が止まりやすい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友だちに残し、検討が再開する時期に配信で呼び戻す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示唆"/>
          <p:cNvSpPr/>
          <p:nvPr/>
        </p:nvSpPr>
        <p:spPr>
          <a:xfrm>
            <a:off x="502920" y="493776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ポイントは、</a:t>
            </a: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資料請求をした方とサイトを離れた方を、LINEに残すこと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戦略：資料請求者とサイトを離れた方をLINEに集め、来場まで追う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集める・追う・来てもらうの3段階で、来場を増やす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KEY TAKEAWAY 見出し"/>
          <p:cNvSpPr/>
          <p:nvPr/>
        </p:nvSpPr>
        <p:spPr>
          <a:xfrm>
            <a:off x="502920" y="1691640"/>
            <a:ext cx="2103120" cy="329184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KEY TAKEAWAY</a:t>
            </a:r>
            <a:endParaRPr lang="ja-JP" altLang="en-US" sz="1200" dirty="0"/>
          </a:p>
        </p:txBody>
      </p:sp>
      <p:sp>
        <p:nvSpPr>
          <p:cNvPr id="8" name="KEY TAKEAWAY"/>
          <p:cNvSpPr/>
          <p:nvPr/>
        </p:nvSpPr>
        <p:spPr>
          <a:xfrm>
            <a:off x="502920" y="2020824"/>
            <a:ext cx="8897112" cy="1005840"/>
          </a:xfrm>
          <a:prstGeom prst="rect">
            <a:avLst/>
          </a:prstGeom>
          <a:solidFill>
            <a:srgbClr val="EEF1F8"/>
          </a:solidFill>
          <a:ln w="9525">
            <a:solidFill>
              <a:srgbClr val="1F285A"/>
            </a:solidFill>
          </a:ln>
        </p:spPr>
        <p:txBody>
          <a:bodyPr wrap="square" lIns="182880" tIns="73152" rIns="182880" bIns="73152" rtlCol="0" anchor="ctr">
            <a:noAutofit/>
          </a:bodyPr>
          <a:lstStyle/>
          <a:p>
            <a:pPr algn="ctr">
              <a:lnSpc>
                <a:spcPct val="125000"/>
              </a:lnSpc>
              <a:buNone/>
            </a:pPr>
            <a:r>
              <a:rPr lang="ja-JP" altLang="en-US" sz="20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LINEを、資料請求と来場の間をつなぐ場所にする</a:t>
            </a:r>
            <a:endParaRPr lang="ja-JP" altLang="en-US" sz="1200" dirty="0"/>
          </a:p>
        </p:txBody>
      </p:sp>
      <p:sp>
        <p:nvSpPr>
          <p:cNvPr id="9" name="補足ポイント"/>
          <p:cNvSpPr/>
          <p:nvPr/>
        </p:nvSpPr>
        <p:spPr>
          <a:xfrm>
            <a:off x="502920" y="33832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3つの段階</a:t>
            </a:r>
            <a:endParaRPr lang="ja-JP" altLang="en-US" sz="1200" dirty="0"/>
          </a:p>
        </p:txBody>
      </p:sp>
      <p:sp>
        <p:nvSpPr>
          <p:cNvPr id="10" name="線1"/>
          <p:cNvSpPr/>
          <p:nvPr/>
        </p:nvSpPr>
        <p:spPr>
          <a:xfrm>
            <a:off x="502920" y="3785616"/>
            <a:ext cx="777240" cy="50292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1" name="見出し1"/>
          <p:cNvSpPr/>
          <p:nvPr/>
        </p:nvSpPr>
        <p:spPr>
          <a:xfrm>
            <a:off x="502920" y="3886200"/>
            <a:ext cx="2804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01 集める</a:t>
            </a:r>
            <a:endParaRPr lang="ja-JP" altLang="en-US" sz="1200" dirty="0"/>
          </a:p>
        </p:txBody>
      </p:sp>
      <p:sp>
        <p:nvSpPr>
          <p:cNvPr id="12" name="本文1"/>
          <p:cNvSpPr/>
          <p:nvPr/>
        </p:nvSpPr>
        <p:spPr>
          <a:xfrm>
            <a:off x="502920" y="4251960"/>
            <a:ext cx="28041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45720" bIns="36576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ja-JP" altLang="en-US" sz="13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サイトを離れる方には離脱防止、資料請求をした方には完了ページ、まだ接点のない方にはLINE広告で、友だちを集める。</a:t>
            </a:r>
            <a:endParaRPr lang="ja-JP" altLang="en-US" sz="1200" dirty="0"/>
          </a:p>
        </p:txBody>
      </p:sp>
      <p:sp>
        <p:nvSpPr>
          <p:cNvPr id="13" name="線2"/>
          <p:cNvSpPr/>
          <p:nvPr/>
        </p:nvSpPr>
        <p:spPr>
          <a:xfrm>
            <a:off x="3549396" y="3785616"/>
            <a:ext cx="777240" cy="50292"/>
          </a:xfrm>
          <a:prstGeom prst="rect">
            <a:avLst/>
          </a:prstGeom>
          <a:solidFill>
            <a:srgbClr val="3E5C99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4" name="見出し2"/>
          <p:cNvSpPr/>
          <p:nvPr/>
        </p:nvSpPr>
        <p:spPr>
          <a:xfrm>
            <a:off x="3549396" y="3886200"/>
            <a:ext cx="2804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3E5C9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02 追う</a:t>
            </a:r>
            <a:endParaRPr lang="ja-JP" altLang="en-US" sz="1200" dirty="0"/>
          </a:p>
        </p:txBody>
      </p:sp>
      <p:sp>
        <p:nvSpPr>
          <p:cNvPr id="15" name="本文2"/>
          <p:cNvSpPr/>
          <p:nvPr/>
        </p:nvSpPr>
        <p:spPr>
          <a:xfrm>
            <a:off x="3549396" y="4251960"/>
            <a:ext cx="28041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45720" bIns="36576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ja-JP" altLang="en-US" sz="13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3問のアンケートで希望を聞き、前後検索の関心の順番に合わせたステップ配信で、来場予約まで案内する。</a:t>
            </a:r>
            <a:endParaRPr lang="ja-JP" altLang="en-US" sz="1200" dirty="0"/>
          </a:p>
        </p:txBody>
      </p:sp>
      <p:sp>
        <p:nvSpPr>
          <p:cNvPr id="16" name="線3"/>
          <p:cNvSpPr/>
          <p:nvPr/>
        </p:nvSpPr>
        <p:spPr>
          <a:xfrm>
            <a:off x="6595872" y="3785616"/>
            <a:ext cx="777240" cy="502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>
              <a:buNone/>
            </a:pPr>
            <a:endParaRPr lang="ja-JP" altLang="en-US" sz="1200" dirty="0"/>
          </a:p>
        </p:txBody>
      </p:sp>
      <p:sp>
        <p:nvSpPr>
          <p:cNvPr id="17" name="見出し3"/>
          <p:cNvSpPr/>
          <p:nvPr/>
        </p:nvSpPr>
        <p:spPr>
          <a:xfrm>
            <a:off x="6595872" y="3886200"/>
            <a:ext cx="2804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03 来てもらう</a:t>
            </a:r>
            <a:endParaRPr lang="ja-JP" altLang="en-US" sz="1200" dirty="0"/>
          </a:p>
        </p:txBody>
      </p:sp>
      <p:sp>
        <p:nvSpPr>
          <p:cNvPr id="18" name="本文3"/>
          <p:cNvSpPr/>
          <p:nvPr/>
        </p:nvSpPr>
        <p:spPr>
          <a:xfrm>
            <a:off x="6595872" y="4251960"/>
            <a:ext cx="28041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45720" bIns="36576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ja-JP" altLang="en-US" sz="13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来場予約の後は3日前・前日のリマインドで当日まで接点を保ち、来場後はお礼と次の案内につなげる。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前後検索：検索前は予算、当日は住まいの種類、検索後は会社と性能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住まいの検索の前後15日間で、関心はこの順番に移る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前後検索 6"/>
          <p:cNvGraphicFramePr>
            <a:graphicFrameLocks noGrp="1"/>
          </p:cNvGraphicFramePr>
          <p:nvPr/>
        </p:nvGraphicFramePr>
        <p:xfrm>
          <a:off x="502920" y="1691640"/>
          <a:ext cx="8897112" cy="3172968"/>
        </p:xfrm>
        <a:graphic>
          <a:graphicData uri="http://schemas.openxmlformats.org/drawingml/2006/table">
            <a:tbl>
              <a:tblPr/>
              <a:tblGrid>
                <a:gridCol w="1600200"/>
                <a:gridCol w="3657600"/>
                <a:gridCol w="1691640"/>
                <a:gridCol w="194767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時期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主な検索語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関心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LINEで届けること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検索前</a:t>
                      </a:r>
                      <a:b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（15日前〜前日）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家を買う タイミング／平屋 間取り 20坪／住宅ローン 年収／結婚補助金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予算・タイミング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月々の返済の目安・補助金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当日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新築一戸建て／注文住宅 相場／土地探し／建売 注文住宅 どっち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住まいの種類・相場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間取り・施工事例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検索後</a:t>
                      </a:r>
                      <a:b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（翌日〜15日後）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一条工務店／坪単価 ハウスメーカー／住宅ローン シミュレーション／断熱等級／フラット35／ゼッチ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会社・性能・ローンの比較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性能の比べ方・モデルハウスの見学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示唆"/>
          <p:cNvSpPr/>
          <p:nvPr/>
        </p:nvSpPr>
        <p:spPr>
          <a:xfrm>
            <a:off x="502920" y="5074920"/>
            <a:ext cx="8897112" cy="566928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ステップ配信は、</a:t>
            </a: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予算 → 住まいの種類 → 性能・見学</a:t>
            </a: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の順番で届ける</a:t>
            </a:r>
            <a:endParaRPr lang="ja-JP" altLang="en-US" sz="1200" dirty="0"/>
          </a:p>
        </p:txBody>
      </p:sp>
      <p:sp>
        <p:nvSpPr>
          <p:cNvPr id="9" name="注記"/>
          <p:cNvSpPr/>
          <p:nvPr/>
        </p:nvSpPr>
        <p:spPr>
          <a:xfrm>
            <a:off x="502920" y="576072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出典：LINEヤフー社提供の前後検索データ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3つの不安：お金・営業・性能を、来場の前にLINEで解く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来場をためらう理由を、配信の中身で先に解消する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不安 6"/>
          <p:cNvGraphicFramePr>
            <a:graphicFrameLocks noGrp="1"/>
          </p:cNvGraphicFramePr>
          <p:nvPr/>
        </p:nvGraphicFramePr>
        <p:xfrm>
          <a:off x="502920" y="1691640"/>
          <a:ext cx="8897111" cy="2990088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4050791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不安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具体的には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LINEでの解き方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お金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注文住宅は高そう／ローンが組めるか不安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月々の返済の目安・補助金の案内・ローンの相談をLINEで受け付け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展示場に行くと売り込まれそう／まだ決めていない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見学の流れを先に伝え、質問はLINEで気軽に受け付け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性能・比較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大手と何が違うのか／青森の冬は寒くないか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断熱・暖かさの比べ方と、施主の声（冬の光熱費など）を配信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全体像：3つの入口で集め、LINEの中で来場予約まで案内する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サイト・資料請求・LINE広告から友だちを集め、来場の後まで追う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入口</a:t>
            </a:r>
            <a:endParaRPr lang="ja-JP" altLang="en-US" sz="1200" dirty="0"/>
          </a:p>
        </p:txBody>
      </p:sp>
      <p:sp>
        <p:nvSpPr>
          <p:cNvPr id="8" name="入口1"/>
          <p:cNvSpPr/>
          <p:nvPr/>
        </p:nvSpPr>
        <p:spPr>
          <a:xfrm>
            <a:off x="502920" y="1920240"/>
            <a:ext cx="2148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1F285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サイトを離れる方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離脱防止ポップアップ</a:t>
            </a:r>
            <a:endParaRPr lang="ja-JP" altLang="en-US" sz="1200" dirty="0"/>
          </a:p>
        </p:txBody>
      </p:sp>
      <p:sp>
        <p:nvSpPr>
          <p:cNvPr id="9" name="入口2"/>
          <p:cNvSpPr/>
          <p:nvPr/>
        </p:nvSpPr>
        <p:spPr>
          <a:xfrm>
            <a:off x="502920" y="2761488"/>
            <a:ext cx="2148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1F285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資料請求をした方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完了ページのLINEボタン</a:t>
            </a:r>
            <a:endParaRPr lang="ja-JP" altLang="en-US" sz="1200" dirty="0"/>
          </a:p>
        </p:txBody>
      </p:sp>
      <p:sp>
        <p:nvSpPr>
          <p:cNvPr id="10" name="入口3"/>
          <p:cNvSpPr/>
          <p:nvPr/>
        </p:nvSpPr>
        <p:spPr>
          <a:xfrm>
            <a:off x="502920" y="3602736"/>
            <a:ext cx="21488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1F285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まだ接点のない方</a:t>
            </a:r>
            <a:endParaRPr lang="ja-JP" altLang="en-US" sz="1200" dirty="0"/>
          </a:p>
          <a:p>
            <a:pPr algn="ctr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LINE広告（友だち追加）</a:t>
            </a:r>
            <a:endParaRPr lang="ja-JP" altLang="en-US" sz="1200" dirty="0"/>
          </a:p>
        </p:txBody>
      </p:sp>
      <p:sp>
        <p:nvSpPr>
          <p:cNvPr id="11" name="矢印"/>
          <p:cNvSpPr/>
          <p:nvPr/>
        </p:nvSpPr>
        <p:spPr>
          <a:xfrm>
            <a:off x="2697480" y="27432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3063240" y="160020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LINE公式アカウント</a:t>
            </a:r>
            <a:endParaRPr lang="ja-JP" altLang="en-US" sz="1200" dirty="0"/>
          </a:p>
        </p:txBody>
      </p:sp>
      <p:sp>
        <p:nvSpPr>
          <p:cNvPr id="13" name="LINE1"/>
          <p:cNvSpPr/>
          <p:nvPr/>
        </p:nvSpPr>
        <p:spPr>
          <a:xfrm>
            <a:off x="3063240" y="1920240"/>
            <a:ext cx="2514600" cy="7315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友だち追加：あいさつ＋3問アンケート</a:t>
            </a:r>
            <a:endParaRPr lang="ja-JP" altLang="en-US" sz="1200" dirty="0"/>
          </a:p>
        </p:txBody>
      </p:sp>
      <p:sp>
        <p:nvSpPr>
          <p:cNvPr id="14" name="矢印下"/>
          <p:cNvSpPr/>
          <p:nvPr/>
        </p:nvSpPr>
        <p:spPr>
          <a:xfrm>
            <a:off x="4160520" y="2651760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8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200" dirty="0"/>
          </a:p>
        </p:txBody>
      </p:sp>
      <p:sp>
        <p:nvSpPr>
          <p:cNvPr id="15" name="LINE2"/>
          <p:cNvSpPr/>
          <p:nvPr/>
        </p:nvSpPr>
        <p:spPr>
          <a:xfrm>
            <a:off x="3063240" y="2761488"/>
            <a:ext cx="2514600" cy="7315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ステップ配信（1〜15日後）</a:t>
            </a:r>
            <a:endParaRPr lang="ja-JP" altLang="en-US" sz="1200" dirty="0"/>
          </a:p>
        </p:txBody>
      </p:sp>
      <p:sp>
        <p:nvSpPr>
          <p:cNvPr id="16" name="矢印下"/>
          <p:cNvSpPr/>
          <p:nvPr/>
        </p:nvSpPr>
        <p:spPr>
          <a:xfrm>
            <a:off x="4160520" y="3493008"/>
            <a:ext cx="32004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8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▼</a:t>
            </a:r>
            <a:endParaRPr lang="ja-JP" altLang="en-US" sz="1200" dirty="0"/>
          </a:p>
        </p:txBody>
      </p:sp>
      <p:sp>
        <p:nvSpPr>
          <p:cNvPr id="17" name="LINE3"/>
          <p:cNvSpPr/>
          <p:nvPr/>
        </p:nvSpPr>
        <p:spPr>
          <a:xfrm>
            <a:off x="3063240" y="3602736"/>
            <a:ext cx="2514600" cy="7315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来場予約：3日前・前日のリマインド</a:t>
            </a:r>
            <a:endParaRPr lang="ja-JP" altLang="en-US" sz="1200" dirty="0"/>
          </a:p>
        </p:txBody>
      </p:sp>
      <p:sp>
        <p:nvSpPr>
          <p:cNvPr id="18" name="矢印"/>
          <p:cNvSpPr/>
          <p:nvPr/>
        </p:nvSpPr>
        <p:spPr>
          <a:xfrm>
            <a:off x="5623560" y="27432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5989320" y="1600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</a:t>
            </a:r>
            <a:endParaRPr lang="ja-JP" altLang="en-US" sz="1200" dirty="0"/>
          </a:p>
        </p:txBody>
      </p:sp>
      <p:sp>
        <p:nvSpPr>
          <p:cNvPr id="20" name="来場"/>
          <p:cNvSpPr/>
          <p:nvPr/>
        </p:nvSpPr>
        <p:spPr>
          <a:xfrm>
            <a:off x="5989320" y="1920240"/>
            <a:ext cx="1554480" cy="2414016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モデルハウス</a:t>
            </a:r>
            <a:b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への来場</a:t>
            </a:r>
            <a:endParaRPr lang="ja-JP" altLang="en-US" sz="1200" dirty="0"/>
          </a:p>
          <a:p>
            <a:pPr algn="ctr">
              <a:lnSpc>
                <a:spcPct val="120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八戸・おいらせ</a:t>
            </a:r>
            <a:b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青森・弘前</a:t>
            </a:r>
            <a:endParaRPr lang="ja-JP" altLang="en-US" sz="1200" dirty="0"/>
          </a:p>
        </p:txBody>
      </p:sp>
      <p:sp>
        <p:nvSpPr>
          <p:cNvPr id="21" name="矢印"/>
          <p:cNvSpPr/>
          <p:nvPr/>
        </p:nvSpPr>
        <p:spPr>
          <a:xfrm>
            <a:off x="7589520" y="27432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▶</a:t>
            </a:r>
            <a:endParaRPr lang="ja-JP" alt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7955279" y="160020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来場の後</a:t>
            </a:r>
            <a:endParaRPr lang="ja-JP" altLang="en-US" sz="1200" dirty="0"/>
          </a:p>
        </p:txBody>
      </p:sp>
      <p:sp>
        <p:nvSpPr>
          <p:cNvPr id="23" name="来場後"/>
          <p:cNvSpPr/>
          <p:nvPr/>
        </p:nvSpPr>
        <p:spPr>
          <a:xfrm>
            <a:off x="7955279" y="1920240"/>
            <a:ext cx="1444752" cy="2414016"/>
          </a:xfrm>
          <a:prstGeom prst="rect">
            <a:avLst/>
          </a:prstGeom>
          <a:solidFill>
            <a:srgbClr val="F4F7FF"/>
          </a:solidFill>
          <a:ln w="9525">
            <a:solidFill>
              <a:srgbClr val="1F285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40000"/>
              </a:lnSpc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お礼・アンケート</a:t>
            </a:r>
            <a:endParaRPr lang="ja-JP" altLang="en-US" sz="1200" dirty="0"/>
          </a:p>
          <a:p>
            <a:pPr algn="ctr">
              <a:lnSpc>
                <a:spcPct val="140000"/>
              </a:lnSpc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ローンの事前審査の案内</a:t>
            </a:r>
            <a:endParaRPr lang="ja-JP" altLang="en-US" sz="1200" dirty="0"/>
          </a:p>
          <a:p>
            <a:pPr algn="ctr">
              <a:lnSpc>
                <a:spcPct val="140000"/>
              </a:lnSpc>
              <a:buNone/>
            </a:pP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成約へ</a:t>
            </a:r>
            <a:endParaRPr lang="ja-JP" altLang="en-US" sz="1200" dirty="0"/>
          </a:p>
        </p:txBody>
      </p:sp>
      <p:graphicFrame>
        <p:nvGraphicFramePr>
          <p:cNvPr id="24" name="KPI 23"/>
          <p:cNvGraphicFramePr>
            <a:graphicFrameLocks noGrp="1"/>
          </p:cNvGraphicFramePr>
          <p:nvPr/>
        </p:nvGraphicFramePr>
        <p:xfrm>
          <a:off x="502920" y="4754880"/>
          <a:ext cx="8897111" cy="502920"/>
        </p:xfrm>
        <a:graphic>
          <a:graphicData uri="http://schemas.openxmlformats.org/drawingml/2006/table">
            <a:tbl>
              <a:tblPr/>
              <a:tblGrid>
                <a:gridCol w="1691640"/>
                <a:gridCol w="1600200"/>
                <a:gridCol w="1600200"/>
                <a:gridCol w="1920240"/>
                <a:gridCol w="2084831"/>
              </a:tblGrid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毎月見る数字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友だち数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ブロック率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配信のクリック数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LINE経由の来場予約数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施策①集める：入口ごとに、LINEで受け取れるものを案内する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サイトを離れる方・資料請求をした方・まだ接点のない方を、それぞれの入口でLINEへ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集める 6"/>
          <p:cNvGraphicFramePr>
            <a:graphicFrameLocks noGrp="1"/>
          </p:cNvGraphicFramePr>
          <p:nvPr/>
        </p:nvGraphicFramePr>
        <p:xfrm>
          <a:off x="502920" y="1691640"/>
          <a:ext cx="8897112" cy="2990088"/>
        </p:xfrm>
        <a:graphic>
          <a:graphicData uri="http://schemas.openxmlformats.org/drawingml/2006/table">
            <a:tbl>
              <a:tblPr/>
              <a:tblGrid>
                <a:gridCol w="1600200"/>
                <a:gridCol w="2514600"/>
                <a:gridCol w="3154680"/>
                <a:gridCol w="162763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入口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案内の内容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費用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</a:t>
                      </a:r>
                      <a:b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ポップアップ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サイトを離れようとした方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資料請求をしなくても、LINEで間取り・施工事例を受け取れる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初期1.5万円</a:t>
                      </a:r>
                      <a:b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月3万円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資料請求の</a:t>
                      </a:r>
                      <a:b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完了ページ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資料請求をした方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来場予約・ご質問はLINEで受け付け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初期構築に含む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LINE広告</a:t>
                      </a:r>
                      <a:b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（友だち追加）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八戸・おいらせ・青森・弘前で住まいを検討している方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間取り・施工事例をLINEで受け取れる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広告費から</a:t>
                      </a:r>
                      <a:b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仮に月20万円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注記"/>
          <p:cNvSpPr/>
          <p:nvPr/>
        </p:nvSpPr>
        <p:spPr>
          <a:xfrm>
            <a:off x="502920" y="475488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※資料請求の完了後にLINEへ自動で案内するツール（サンクスLINE誘導）はオプション：初期15万円・月3万円〜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施策②追う：希望を聞いて配信を分け、来場当日まで接点を保つ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友だち追加の直後から来場の後まで、段階ごとに案内を変える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追う 6"/>
          <p:cNvGraphicFramePr>
            <a:graphicFrameLocks noGrp="1"/>
          </p:cNvGraphicFramePr>
          <p:nvPr/>
        </p:nvGraphicFramePr>
        <p:xfrm>
          <a:off x="502920" y="1691640"/>
          <a:ext cx="8897112" cy="3675888"/>
        </p:xfrm>
        <a:graphic>
          <a:graphicData uri="http://schemas.openxmlformats.org/drawingml/2006/table">
            <a:tbl>
              <a:tblPr/>
              <a:tblGrid>
                <a:gridCol w="1920240"/>
                <a:gridCol w="4251960"/>
                <a:gridCol w="272491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段階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やること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ねらい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友だち追加の直後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あいさつ＋3問アンケート（エリア・住まいの種類・検討の時期）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回答で配信を分ける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1〜15日後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ステップ配信（次のページ）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来場予約まで案内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来場予約の後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3日前・前日に、駐車場・当日の流れ・担当者からのあいさつ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青森店のキャンセルを減らす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来場の後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お礼・アンケート・住宅ローンの事前審査の案内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成約へつなげる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検討が長い方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施主の声（冬の光熱費など）・施工事例を定期配信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検討が再開したときに思い出してもらう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注記"/>
          <p:cNvSpPr/>
          <p:nvPr/>
        </p:nvSpPr>
        <p:spPr>
          <a:xfrm>
            <a:off x="502920" y="539496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※予約の後のリマインドは、貴社の予約管理と連携して配信（連携の方法は構築時に決定）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ステップ配信：前後検索の関心の順番に合わせて、15日間で来場予約へ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予算 → 住まいの種類 → 性能・見学の順に届け、最後に来場予約を案内する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ステップ 6"/>
          <p:cNvGraphicFramePr>
            <a:graphicFrameLocks noGrp="1"/>
          </p:cNvGraphicFramePr>
          <p:nvPr/>
        </p:nvGraphicFramePr>
        <p:xfrm>
          <a:off x="502920" y="1691640"/>
          <a:ext cx="8897112" cy="3785616"/>
        </p:xfrm>
        <a:graphic>
          <a:graphicData uri="http://schemas.openxmlformats.org/drawingml/2006/table">
            <a:tbl>
              <a:tblPr/>
              <a:tblGrid>
                <a:gridCol w="1325880"/>
                <a:gridCol w="2606040"/>
                <a:gridCol w="3200400"/>
                <a:gridCol w="176479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テーマ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前後検索の関心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あいさつ</a:t>
                      </a:r>
                      <a:b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（追加直後）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ご挨拶・3問アンケート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回答に合わせて、間取り・施工事例を案内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資料・間取りを見たい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1日後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月々いくらで建てられるか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家賃と比べた月々の返済の目安・補助金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予算・ローン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3日後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青森の冬でも暖かい家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断熱・窓の性能と、会社の比べ方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性能・会社の比較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7日後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平屋と2階建て・土地探し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平屋と2階建ての違い・エリアの土地探し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住まいの種類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10日後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モデルハウス見学の案内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見学の流れ・当日できること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見学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15日後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5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来場予約のご案内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今月の来場特典・LINEから来場予約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予約を迷っている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注記"/>
          <p:cNvSpPr/>
          <p:nvPr/>
        </p:nvSpPr>
        <p:spPr>
          <a:xfrm>
            <a:off x="502920" y="5532120"/>
            <a:ext cx="88971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※配信の時刻は20時前後を基本に、反応を見て調整。来場特典の内容は貴社と決定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試算：6か月目に、LINE経由の来場予約 月30件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友だちを増やしながら、配信のクリックから来場予約を積み上げる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試算 6"/>
          <p:cNvGraphicFramePr>
            <a:graphicFrameLocks noGrp="1"/>
          </p:cNvGraphicFramePr>
          <p:nvPr/>
        </p:nvGraphicFramePr>
        <p:xfrm>
          <a:off x="502920" y="1691640"/>
          <a:ext cx="8897112" cy="3264408"/>
        </p:xfrm>
        <a:graphic>
          <a:graphicData uri="http://schemas.openxmlformats.org/drawingml/2006/table">
            <a:tbl>
              <a:tblPr/>
              <a:tblGrid>
                <a:gridCol w="2148840"/>
                <a:gridCol w="1124712"/>
                <a:gridCol w="1124712"/>
                <a:gridCol w="1124712"/>
                <a:gridCol w="1124712"/>
                <a:gridCol w="1124712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1か月目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2か月目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3か月目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4か月目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5か月目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6か月目</a:t>
                      </a:r>
                      <a:endParaRPr lang="ja-JP" alt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友だちの増加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1,171人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1,181人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1,192人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1,203人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1,215人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1,226人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累計の友だち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1,171人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2,352人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3,544人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4,747人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5,962人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7,188人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ブロック率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32%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32%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33%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34%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35%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36%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届く友だち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801人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1,590人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2,367人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3,132人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3,882人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4,618人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配信のクリック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809回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1,606回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2,392回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2,531回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3,138回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3,732回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来場予約（LINE経由）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18件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25件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30件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0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来場予約1件あたりの費用</a:t>
                      </a:r>
                      <a:endParaRPr lang="ja-JP" altLang="en-US" sz="10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160,000円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60,000円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34,286円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26,667円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19,200円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16,000円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注記"/>
          <p:cNvSpPr/>
          <p:nvPr/>
        </p:nvSpPr>
        <p:spPr>
          <a:xfrm>
            <a:off x="502920" y="5349240"/>
            <a:ext cx="889711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※前提（仮の数字を含む）：サイトの月間UU 13,228／離脱防止＝UU×表示55%×クリック12%×追加12%／LINE広告＝仮に月20万円・友だち1人200円／ブロック率＝31.6%から月1.025倍／来場予約＝配信のクリック×0.4〜0.8%（運用が育つ想定で月ごとに上げる）／今の友だち数は含めない</a:t>
            </a:r>
            <a:b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※1件あたりの費用＝月48万円（コンサル25万円・離脱防止3万円・LINE広告20万円）÷来場予約。初期費用・LINE公式アカウントの利用料は含めない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費用：初期31.5万円・月48万円（LINE広告は広告費から配分）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LINE運用コンサルを軸に、離脱防止とLINE広告で友だちを集める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費用 6"/>
          <p:cNvGraphicFramePr>
            <a:graphicFrameLocks noGrp="1"/>
          </p:cNvGraphicFramePr>
          <p:nvPr/>
        </p:nvGraphicFramePr>
        <p:xfrm>
          <a:off x="502920" y="1691640"/>
          <a:ext cx="8897112" cy="3401568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1463040"/>
                <a:gridCol w="409651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LINE運用コンサル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30万円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25万円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初期：アカウント設計・リッチメニュー・3問アンケート・ステップ配信・予約管理との連携の構築</a:t>
                      </a:r>
                      <a:b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月額：月2〜4回の配信・数字の分析と改善・月1回の定例</a:t>
                      </a:r>
                      <a:endParaRPr lang="ja-JP" altLang="en-US" sz="10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離脱防止ポップアップ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1.5万円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3万円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サイトを離れる方に、LINEを案内</a:t>
                      </a:r>
                      <a:endParaRPr lang="ja-JP" altLang="en-US" sz="10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LINE広告（友だち追加）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—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仮に20万円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広告費からの配分（広告費は実費）</a:t>
                      </a:r>
                      <a:endParaRPr lang="ja-JP" altLang="en-US" sz="10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LINE公式アカウント利用料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—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実費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配信の数によって変わる</a:t>
                      </a:r>
                      <a:endParaRPr lang="ja-JP" altLang="en-US" sz="10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合計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31.5万円</a:t>
                      </a:r>
                      <a:endParaRPr lang="ja-JP" altLang="en-US" sz="13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48万円＋利用料</a:t>
                      </a:r>
                      <a:endParaRPr lang="ja-JP" altLang="en-US" sz="13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ja-JP" altLang="en-US" sz="10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8" name="注記"/>
          <p:cNvSpPr/>
          <p:nvPr/>
        </p:nvSpPr>
        <p:spPr>
          <a:xfrm>
            <a:off x="502920" y="5257800"/>
            <a:ext cx="8897112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※オプション：サンクスLINE誘導ツール（資料請求の完了後、LINEへ自動で案内）初期15万円・月3万円〜</a:t>
            </a:r>
            <a:b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※施策内容・配信本数・連携範囲等により、費用は個別にお見積もりいたします。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</a:rPr>
              <a:t>スケジュール：4週間を目安に構築し、運用を始める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設計・構築・配信の準備・確認の4段階で進める</a:t>
            </a:r>
            <a:endParaRPr lang="en-US" sz="1400" b="1" u="none" strike="noStrike" dirty="0">
              <a:effectLst/>
              <a:uFillTx/>
              <a:latin typeface="メイリオ"/>
            </a:endParaRPr>
          </a:p>
        </p:txBody>
      </p:sp>
      <p:graphicFrame>
        <p:nvGraphicFramePr>
          <p:cNvPr id="7" name="スケジュール 6"/>
          <p:cNvGraphicFramePr>
            <a:graphicFrameLocks noGrp="1"/>
          </p:cNvGraphicFramePr>
          <p:nvPr/>
        </p:nvGraphicFramePr>
        <p:xfrm>
          <a:off x="502920" y="1691640"/>
          <a:ext cx="8897112" cy="3310128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5696712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時期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段階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やること</a:t>
                      </a:r>
                      <a:endParaRPr lang="ja-JP" altLang="en-US" sz="115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85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1週目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設計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ヒアリング・エリアごとの配信の分け方・3問アンケート・リッチメニューの構成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2週目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構築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LINE公式アカウントの設定・アンケート・予約管理との連携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3週目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配信の準備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ステップ配信の文面・画像の作成・離脱防止ポップアップの設置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150" b="1" dirty="0">
                          <a:solidFill>
                            <a:srgbClr val="1F285A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4週目</a:t>
                      </a:r>
                      <a:endParaRPr lang="ja-JP" altLang="en-US" sz="115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200" b="1" dirty="0">
                          <a:solidFill>
                            <a:srgbClr val="C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確認・公開</a:t>
                      </a:r>
                      <a:endParaRPr lang="ja-JP" altLang="en-US" sz="12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実機での動作確認（予約・リマインド）・公開・LINE広告の配信開始</a:t>
                      </a:r>
                      <a:endParaRPr lang="ja-JP" altLang="en-US" sz="1100" dirty="0"/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143256</TotalTime>
  <Words>5897</Words>
  <Application>Microsoft Office PowerPoint</Application>
  <PresentationFormat>A4 210 x 297 mm</PresentationFormat>
  <Paragraphs>1158</Paragraphs>
  <Slides>45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45</vt:i4>
      </vt:variant>
    </vt:vector>
  </HeadingPairs>
  <TitlesOfParts>
    <vt:vector size="53" baseType="lpstr">
      <vt:lpstr>メイリオ</vt:lpstr>
      <vt:lpstr>メイリオ</vt:lpstr>
      <vt:lpstr>Arial</vt:lpstr>
      <vt:lpstr>Calibri</vt:lpstr>
      <vt:lpstr>Symbol</vt:lpstr>
      <vt:lpstr>Times New Roman</vt:lpstr>
      <vt:lpstr>Wingdings</vt:lpstr>
      <vt:lpstr>テーマ1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中村 駿</dc:creator>
  <dc:description/>
  <cp:lastModifiedBy>殿村 亮太</cp:lastModifiedBy>
  <cp:revision>1972</cp:revision>
  <cp:lastPrinted>2022-11-01T11:38:14Z</cp:lastPrinted>
  <dcterms:created xsi:type="dcterms:W3CDTF">2015-09-04T09:21:15Z</dcterms:created>
  <dcterms:modified xsi:type="dcterms:W3CDTF">2026-10-15T09:06:43Z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A4 210 x 297 mm</vt:lpwstr>
  </property>
  <property fmtid="{D5CDD505-2E9C-101B-9397-08002B2CF9AE}" pid="4" name="Slides">
    <vt:r8>46</vt:r8>
  </property>
</Properties>
</file>