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6"/>
  </p:notesMasterIdLst>
  <p:handoutMasterIdLst>
    <p:handoutMasterId r:id="rId67"/>
  </p:handoutMasterIdLst>
  <p:sldIdLst>
    <p:sldId id="2363" r:id="rId3"/>
    <p:sldId id="2971" r:id="rId4"/>
    <p:sldId id="2993" r:id="rId5"/>
    <p:sldId id="2972" r:id="rId6"/>
    <p:sldId id="3007" r:id="rId7"/>
    <p:sldId id="2994" r:id="rId8"/>
    <p:sldId id="2995" r:id="rId9"/>
    <p:sldId id="3003" r:id="rId10"/>
    <p:sldId id="3002" r:id="rId11"/>
    <p:sldId id="3001" r:id="rId12"/>
    <p:sldId id="2999" r:id="rId13"/>
    <p:sldId id="3004" r:id="rId14"/>
    <p:sldId id="2736" r:id="rId15"/>
    <p:sldId id="2987" r:id="rId16"/>
    <p:sldId id="2997" r:id="rId17"/>
    <p:sldId id="2996" r:id="rId18"/>
    <p:sldId id="2973" r:id="rId19"/>
    <p:sldId id="2977" r:id="rId20"/>
    <p:sldId id="2979" r:id="rId21"/>
    <p:sldId id="3000" r:id="rId22"/>
    <p:sldId id="3008" r:id="rId23"/>
    <p:sldId id="2908" r:id="rId24"/>
    <p:sldId id="2998" r:id="rId25"/>
    <p:sldId id="3009" r:id="rId26"/>
    <p:sldId id="2990" r:id="rId27"/>
    <p:sldId id="3005" r:id="rId28"/>
    <p:sldId id="2986" r:id="rId29"/>
    <p:sldId id="3006" r:id="rId30"/>
    <p:sldId id="2991" r:id="rId31"/>
    <p:sldId id="2737" r:id="rId32"/>
    <p:sldId id="3010" r:id="rId33"/>
    <p:sldId id="2989" r:id="rId34"/>
    <p:sldId id="2563" r:id="rId35"/>
    <p:sldId id="2959" r:id="rId36"/>
    <p:sldId id="2970" r:id="rId37"/>
    <p:sldId id="2968" r:id="rId38"/>
    <p:sldId id="2969" r:id="rId39"/>
    <p:sldId id="2639" r:id="rId40"/>
    <p:sldId id="2957" r:id="rId41"/>
    <p:sldId id="2951" r:id="rId42"/>
    <p:sldId id="2841" r:id="rId43"/>
    <p:sldId id="3012" r:id="rId44"/>
    <p:sldId id="2734" r:id="rId45"/>
    <p:sldId id="2595" r:id="rId46"/>
    <p:sldId id="2566" r:id="rId47"/>
    <p:sldId id="2915" r:id="rId48"/>
    <p:sldId id="2619" r:id="rId49"/>
    <p:sldId id="2761" r:id="rId50"/>
    <p:sldId id="2935" r:id="rId51"/>
    <p:sldId id="2919" r:id="rId52"/>
    <p:sldId id="2519" r:id="rId53"/>
    <p:sldId id="2931" r:id="rId54"/>
    <p:sldId id="2749" r:id="rId55"/>
    <p:sldId id="2950" r:id="rId56"/>
    <p:sldId id="2961" r:id="rId57"/>
    <p:sldId id="2849" r:id="rId58"/>
    <p:sldId id="2904" r:id="rId59"/>
    <p:sldId id="2905" r:id="rId60"/>
    <p:sldId id="2906" r:id="rId61"/>
    <p:sldId id="2907" r:id="rId62"/>
    <p:sldId id="2575" r:id="rId63"/>
    <p:sldId id="2910" r:id="rId64"/>
    <p:sldId id="1169" r:id="rId65"/>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59.xml"/><Relationship Id="rId62" Type="http://schemas.openxmlformats.org/officeDocument/2006/relationships/slide" Target="slides/slide60.xml"/><Relationship Id="rId63" Type="http://schemas.openxmlformats.org/officeDocument/2006/relationships/slide" Target="slides/slide61.xml"/><Relationship Id="rId64" Type="http://schemas.openxmlformats.org/officeDocument/2006/relationships/slide" Target="slides/slide62.xml"/><Relationship Id="rId65" Type="http://schemas.openxmlformats.org/officeDocument/2006/relationships/slide" Target="slides/slide63.xml"/><Relationship Id="rId66" Type="http://schemas.openxmlformats.org/officeDocument/2006/relationships/notesMaster" Target="notesMasters/notesMaster1.xml"/><Relationship Id="rId67" Type="http://schemas.openxmlformats.org/officeDocument/2006/relationships/handoutMaster" Target="handoutMasters/handout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2026/9/30</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EE297-1C60-1B47-1371-71E9182BCB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8E7FAC-7C31-2BF5-99A0-B567314FF8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9D9BB1D-280D-F986-C5BD-B8EA9C52B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845DE59-8CC7-2B95-A35B-4990F6D674F1}"/>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4875882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6E8F5-BBD3-0231-A307-D47C566A9F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2BFD107-29C2-1C0C-2391-CF3D41D4AE5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60E4A0-B5DF-7E8F-9287-E56FCAFE258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61D2291-B783-1AA7-A21C-3450133A3B7C}"/>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7729162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12A7A-9C17-F191-B8A5-07AB24256E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62CB65-47CA-40CE-B910-EFFA15F9EFB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758557-6179-7BE8-A51E-51B7EB03AE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FF1C258-C7A8-70CB-60F9-410CC674828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17588645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20</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25</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27</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29</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49</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50</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51</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52</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54</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63</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jpe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jpe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jpe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5.svg"/><Relationship Id="rId4" Type="http://schemas.openxmlformats.org/officeDocument/2006/relationships/image" Target="../media/image56.svg"/><Relationship Id="rId5" Type="http://schemas.openxmlformats.org/officeDocument/2006/relationships/image" Target="../media/image57.svg"/><Relationship Id="rId6" Type="http://schemas.openxmlformats.org/officeDocument/2006/relationships/image" Target="../media/image58.sv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emf"/><Relationship Id="rId4" Type="http://schemas.openxmlformats.org/officeDocument/2006/relationships/image" Target="../media/image74.jpeg"/><Relationship Id="rId5" Type="http://schemas.openxmlformats.org/officeDocument/2006/relationships/image" Target="../media/image75.jpeg"/><Relationship Id="rId6" Type="http://schemas.openxmlformats.org/officeDocument/2006/relationships/image" Target="../media/image76.jpeg"/><Relationship Id="rId7" Type="http://schemas.openxmlformats.org/officeDocument/2006/relationships/image" Target="../media/image77.jpeg"/><Relationship Id="rId8" Type="http://schemas.openxmlformats.org/officeDocument/2006/relationships/image" Target="../media/image7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株式会社やる気スイッチグループ 御中</a:t>
            </a:r>
          </a:p>
        </p:txBody>
      </p:sp>
      <p:pic>
        <p:nvPicPr>
          <p:cNvPr id="16" name="図 15">
            <a:extLst>
              <a:ext uri="{FF2B5EF4-FFF2-40B4-BE49-F238E27FC236}">
                <a16:creationId xmlns:a16="http://schemas.microsoft.com/office/drawing/2014/main" id="{F5FA6CC7-CA8F-92E6-C244-18831D0C0295}"/>
              </a:ext>
            </a:extLst>
          </p:cNvPr>
          <p:cNvPicPr>
            <a:picLocks noChangeAspect="1"/>
          </p:cNvPicPr>
          <p:nvPr/>
        </p:nvPicPr>
        <p:blipFill>
          <a:blip r:embed="rId3"/>
          <a:stretch>
            <a:fillRect/>
          </a:stretch>
        </p:blipFill>
        <p:spPr>
          <a:xfrm>
            <a:off x="5297860" y="3402512"/>
            <a:ext cx="1763918" cy="511042"/>
          </a:xfrm>
          <a:prstGeom prst="rect">
            <a:avLst/>
          </a:prstGeom>
        </p:spPr>
      </p:pic>
      <p:pic>
        <p:nvPicPr>
          <p:cNvPr id="18" name="図 17">
            <a:extLst>
              <a:ext uri="{FF2B5EF4-FFF2-40B4-BE49-F238E27FC236}">
                <a16:creationId xmlns:a16="http://schemas.microsoft.com/office/drawing/2014/main" id="{A18567FA-559F-28F3-12A5-872E80F869D3}"/>
              </a:ext>
            </a:extLst>
          </p:cNvPr>
          <p:cNvPicPr>
            <a:picLocks noChangeAspect="1"/>
          </p:cNvPicPr>
          <p:nvPr/>
        </p:nvPicPr>
        <p:blipFill>
          <a:blip r:embed="rId4"/>
          <a:stretch>
            <a:fillRect/>
          </a:stretch>
        </p:blipFill>
        <p:spPr>
          <a:xfrm>
            <a:off x="3099814" y="3370502"/>
            <a:ext cx="1694693" cy="575063"/>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現状把握</a:t>
            </a:r>
            <a:r>
              <a:rPr lang="en-US" altLang="ja-JP" sz="1600" b="1" dirty="0">
                <a:solidFill>
                  <a:srgbClr val="002060"/>
                </a:solidFill>
                <a:latin typeface="メイリオ"/>
                <a:ea typeface="メイリオ"/>
                <a:cs typeface="メイリオ"/>
                <a:sym typeface="Meiryo"/>
              </a:rPr>
              <a:t>【</a:t>
            </a:r>
            <a:r>
              <a:rPr lang="ja-JP" altLang="en-US" sz="1600" b="1" dirty="0">
                <a:solidFill>
                  <a:srgbClr val="002060"/>
                </a:solidFill>
                <a:latin typeface="メイリオ"/>
                <a:ea typeface="メイリオ"/>
                <a:cs typeface="メイリオ"/>
                <a:sym typeface="Meiryo"/>
              </a:rPr>
              <a:t>忍者ナイン</a:t>
            </a:r>
            <a:r>
              <a:rPr lang="en-US" altLang="ja-JP"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bg1"/>
                </a:solidFill>
                <a:latin typeface="メイリオ" panose="020B0604030504040204" pitchFamily="50" charset="-128"/>
                <a:ea typeface="メイリオ" panose="020B0604030504040204" pitchFamily="50" charset="-128"/>
                <a:cs typeface="メイリオ"/>
              </a:rPr>
              <a:t>ステータス</a:t>
            </a:r>
            <a:endParaRPr lang="ja-JP" altLang="en-US" sz="1200" b="1" dirty="0">
              <a:solidFill>
                <a:schemeClr val="bg1"/>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WEB</a:t>
            </a:r>
            <a:r>
              <a:rPr lang="ja-JP" altLang="en-US" sz="1200" dirty="0">
                <a:solidFill>
                  <a:schemeClr val="bg1"/>
                </a:solidFill>
                <a:latin typeface="メイリオ" panose="020B0604030504040204" pitchFamily="50" charset="-128"/>
                <a:ea typeface="メイリオ" panose="020B0604030504040204" pitchFamily="50" charset="-128"/>
                <a:cs typeface="メイリオ"/>
              </a:rPr>
              <a:t>サイトステータス</a:t>
            </a:r>
            <a:endParaRPr lang="ja-JP" altLang="en-US" sz="1200" dirty="0">
              <a:solidFill>
                <a:schemeClr val="bg1"/>
              </a:solidFill>
              <a:latin typeface="メイリオ"/>
              <a:ea typeface="メイリオ"/>
              <a:cs typeface="メイリオ"/>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サイト</a:t>
            </a:r>
            <a:r>
              <a:rPr lang="en-US" altLang="ja-JP" sz="1050" dirty="0">
                <a:latin typeface="メイリオ" panose="020B0604030504040204" pitchFamily="50" charset="-128"/>
                <a:ea typeface="メイリオ" panose="020B0604030504040204" pitchFamily="50" charset="-128"/>
                <a:cs typeface="メイリオ"/>
              </a:rPr>
              <a:t>CV</a:t>
            </a:r>
            <a:r>
              <a:rPr lang="ja-JP" altLang="en-US" sz="1050" dirty="0">
                <a:latin typeface="メイリオ" panose="020B0604030504040204" pitchFamily="50" charset="-128"/>
                <a:ea typeface="メイリオ" panose="020B0604030504040204" pitchFamily="50" charset="-128"/>
                <a:cs typeface="メイリオ"/>
              </a:rPr>
              <a:t>としては</a:t>
            </a:r>
            <a:r>
              <a:rPr lang="en-US" altLang="ja-JP" sz="1050" dirty="0">
                <a:latin typeface="メイリオ" panose="020B0604030504040204" pitchFamily="50" charset="-128"/>
                <a:ea typeface="メイリオ" panose="020B0604030504040204" pitchFamily="50" charset="-128"/>
                <a:cs typeface="メイリオ"/>
              </a:rPr>
              <a:t>【</a:t>
            </a:r>
            <a:r>
              <a:rPr lang="ja-JP" altLang="en-US" sz="1050" dirty="0">
                <a:latin typeface="メイリオ" panose="020B0604030504040204" pitchFamily="50" charset="-128"/>
                <a:ea typeface="メイリオ" panose="020B0604030504040204" pitchFamily="50" charset="-128"/>
                <a:cs typeface="メイリオ"/>
              </a:rPr>
              <a:t>電話</a:t>
            </a:r>
            <a:r>
              <a:rPr lang="en-US" altLang="ja-JP" sz="1050" dirty="0">
                <a:latin typeface="メイリオ" panose="020B0604030504040204" pitchFamily="50" charset="-128"/>
                <a:ea typeface="メイリオ" panose="020B0604030504040204" pitchFamily="50" charset="-128"/>
                <a:cs typeface="メイリオ"/>
              </a:rPr>
              <a:t>】</a:t>
            </a:r>
            <a:r>
              <a:rPr lang="ja-JP" altLang="en-US" sz="1050" dirty="0">
                <a:latin typeface="メイリオ" panose="020B0604030504040204" pitchFamily="50" charset="-128"/>
                <a:ea typeface="メイリオ" panose="020B0604030504040204" pitchFamily="50" charset="-128"/>
                <a:cs typeface="メイリオ"/>
              </a:rPr>
              <a:t>と</a:t>
            </a:r>
            <a:r>
              <a:rPr lang="en-US" altLang="ja-JP" sz="1050" dirty="0">
                <a:latin typeface="メイリオ" panose="020B0604030504040204" pitchFamily="50" charset="-128"/>
                <a:ea typeface="メイリオ" panose="020B0604030504040204" pitchFamily="50" charset="-128"/>
                <a:cs typeface="メイリオ"/>
              </a:rPr>
              <a:t>【</a:t>
            </a:r>
            <a:r>
              <a:rPr lang="ja-JP" altLang="en-US" sz="1050" dirty="0">
                <a:latin typeface="メイリオ" panose="020B0604030504040204" pitchFamily="50" charset="-128"/>
                <a:ea typeface="メイリオ" panose="020B0604030504040204" pitchFamily="50" charset="-128"/>
                <a:cs typeface="メイリオ"/>
              </a:rPr>
              <a:t>無料体験</a:t>
            </a:r>
            <a:r>
              <a:rPr lang="en-US" altLang="ja-JP" sz="1050" dirty="0">
                <a:latin typeface="メイリオ" panose="020B0604030504040204" pitchFamily="50" charset="-128"/>
                <a:ea typeface="メイリオ" panose="020B0604030504040204" pitchFamily="50" charset="-128"/>
                <a:cs typeface="メイリオ"/>
              </a:rPr>
              <a:t>】</a:t>
            </a:r>
            <a:r>
              <a:rPr lang="ja-JP" altLang="en-US" sz="1050" dirty="0">
                <a:latin typeface="メイリオ" panose="020B0604030504040204" pitchFamily="50" charset="-128"/>
                <a:ea typeface="メイリオ" panose="020B0604030504040204" pitchFamily="50" charset="-128"/>
                <a:cs typeface="メイリオ"/>
              </a:rPr>
              <a:t>を設置</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latin typeface="メイリオ" panose="020B0604030504040204" pitchFamily="50" charset="-128"/>
                <a:ea typeface="メイリオ" panose="020B0604030504040204" pitchFamily="50" charset="-128"/>
                <a:cs typeface="メイリオ"/>
              </a:rPr>
              <a:t>検索面</a:t>
            </a:r>
            <a:r>
              <a:rPr lang="en-US" altLang="ja-JP" sz="1050" dirty="0">
                <a:latin typeface="メイリオ" panose="020B0604030504040204" pitchFamily="50" charset="-128"/>
                <a:ea typeface="メイリオ" panose="020B0604030504040204" pitchFamily="50" charset="-128"/>
                <a:cs typeface="メイリオ"/>
              </a:rPr>
              <a:t>(SEO,AD)</a:t>
            </a:r>
            <a:r>
              <a:rPr lang="ja-JP" altLang="en-US" sz="1050" dirty="0">
                <a:latin typeface="メイリオ" panose="020B0604030504040204" pitchFamily="50" charset="-128"/>
                <a:ea typeface="メイリオ" panose="020B0604030504040204" pitchFamily="50" charset="-128"/>
                <a:cs typeface="メイリオ"/>
              </a:rPr>
              <a:t>とディスプレイがメイン流入元</a:t>
            </a:r>
            <a:endParaRPr lang="en-US" altLang="ja-JP" sz="1050" dirty="0">
              <a:latin typeface="メイリオ" panose="020B0604030504040204" pitchFamily="50" charset="-128"/>
              <a:ea typeface="メイリオ" panose="020B0604030504040204" pitchFamily="50" charset="-128"/>
              <a:cs typeface="メイリオ"/>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現状</a:t>
            </a:r>
            <a:r>
              <a:rPr lang="en-US" altLang="ja-JP" sz="1050" dirty="0">
                <a:latin typeface="メイリオ" panose="020B0604030504040204" pitchFamily="50" charset="-128"/>
                <a:ea typeface="メイリオ" panose="020B0604030504040204" pitchFamily="50" charset="-128"/>
                <a:cs typeface="メイリオ"/>
              </a:rPr>
              <a:t>LINE</a:t>
            </a:r>
            <a:r>
              <a:rPr lang="ja-JP" altLang="en-US" sz="1050" dirty="0">
                <a:latin typeface="メイリオ" panose="020B0604030504040204" pitchFamily="50" charset="-128"/>
                <a:ea typeface="メイリオ" panose="020B0604030504040204" pitchFamily="50" charset="-128"/>
                <a:cs typeface="メイリオ"/>
              </a:rPr>
              <a:t>公式アカウントの保有・運用はなし</a:t>
            </a:r>
            <a:endParaRPr lang="en-US" altLang="ja-JP" sz="1050" dirty="0">
              <a:latin typeface="メイリオ" panose="020B0604030504040204" pitchFamily="50" charset="-128"/>
              <a:ea typeface="メイリオ" panose="020B0604030504040204" pitchFamily="50" charset="-128"/>
              <a:cs typeface="メイリオ"/>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63" name="テキスト ボックス 62">
            <a:extLst>
              <a:ext uri="{FF2B5EF4-FFF2-40B4-BE49-F238E27FC236}">
                <a16:creationId xmlns:a16="http://schemas.microsoft.com/office/drawing/2014/main" id="{EB2DD2D7-F323-5565-89B7-F197B808D898}"/>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cs typeface="メイリオ"/>
              </a:rPr>
              <a:t>未保有</a:t>
            </a:r>
            <a:endParaRPr lang="en-US" altLang="ja-JP" sz="105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サイト</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　をもとにした想定数値</a:t>
            </a:r>
            <a:endParaRPr lang="ja-JP" altLang="en-US" sz="1400" dirty="0">
              <a:solidFill>
                <a:schemeClr val="bg1">
                  <a:lumMod val="65000"/>
                </a:schemeClr>
              </a:solidFill>
              <a:latin typeface="メイリオ"/>
              <a:ea typeface="メイリオ"/>
              <a:cs typeface="メイリオ"/>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広告費用</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メイン流入元</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他</a:t>
            </a:r>
            <a:r>
              <a:rPr lang="en-US" altLang="ja-JP" sz="1000" dirty="0">
                <a:solidFill>
                  <a:schemeClr val="bg1"/>
                </a:solidFill>
                <a:latin typeface="メイリオ" panose="020B0604030504040204" pitchFamily="50" charset="-128"/>
                <a:ea typeface="メイリオ" panose="020B0604030504040204" pitchFamily="50" charset="-128"/>
                <a:cs typeface="メイリオ"/>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リード保有数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a:t>
            </a: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地点</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LINE</a:t>
            </a:r>
            <a:r>
              <a:rPr lang="ja-JP" altLang="en-US" sz="1000" dirty="0">
                <a:solidFill>
                  <a:schemeClr val="bg1"/>
                </a:solidFill>
                <a:latin typeface="メイリオ" panose="020B0604030504040204" pitchFamily="50" charset="-128"/>
                <a:ea typeface="メイリオ" panose="020B0604030504040204" pitchFamily="50" charset="-128"/>
                <a:cs typeface="メイリオ"/>
              </a:rPr>
              <a:t>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4" name="テキスト ボックス 83">
            <a:extLst>
              <a:ext uri="{FF2B5EF4-FFF2-40B4-BE49-F238E27FC236}">
                <a16:creationId xmlns:a16="http://schemas.microsoft.com/office/drawing/2014/main" id="{7302A54D-423F-C71A-CF81-E2452E967C73}"/>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広告余地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友だち数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アクティブ数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ブロック率</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2" name="テキスト ボックス 91">
            <a:extLst>
              <a:ext uri="{FF2B5EF4-FFF2-40B4-BE49-F238E27FC236}">
                <a16:creationId xmlns:a16="http://schemas.microsoft.com/office/drawing/2014/main" id="{88937895-903D-2714-B911-64B989A6665C}"/>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ツール</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想定コスト</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月間投稿数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ステップ実施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プロフ動線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17,607</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7,000</a:t>
            </a:r>
            <a:endParaRPr lang="en-US" altLang="ja-JP" sz="700" b="1" dirty="0">
              <a:latin typeface="メイリオ" panose="020B0604030504040204" pitchFamily="50" charset="-128"/>
              <a:ea typeface="メイリオ" panose="020B0604030504040204" pitchFamily="50" charset="-128"/>
              <a:cs typeface="メイリオ"/>
            </a:endParaRP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cs typeface="メイリオ"/>
            </a:endParaRP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オーガニック</a:t>
            </a:r>
            <a:endParaRPr lang="en-US" altLang="ja-JP" sz="1000" b="1" dirty="0">
              <a:latin typeface="メイリオ" panose="020B0604030504040204" pitchFamily="50" charset="-128"/>
              <a:ea typeface="メイリオ" panose="020B0604030504040204" pitchFamily="50" charset="-128"/>
              <a:cs typeface="メイリオ"/>
            </a:endParaRP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cs typeface="メイリオ"/>
            </a:endParaRP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cs typeface="メイリオ"/>
            </a:endParaRP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cs typeface="メイリオ"/>
            </a:endParaRP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cs typeface="メイリオ"/>
              </a:rPr>
              <a:t>無料体験</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未設定</a:t>
            </a:r>
            <a:endParaRPr lang="en-US" altLang="ja-JP" sz="1000" b="1" dirty="0">
              <a:latin typeface="メイリオ" panose="020B0604030504040204" pitchFamily="50" charset="-128"/>
              <a:ea typeface="メイリオ" panose="020B0604030504040204" pitchFamily="50" charset="-128"/>
              <a:cs typeface="メイリオ"/>
            </a:endParaRPr>
          </a:p>
        </p:txBody>
      </p:sp>
      <p:sp>
        <p:nvSpPr>
          <p:cNvPr id="124" name="テキスト ボックス 123">
            <a:extLst>
              <a:ext uri="{FF2B5EF4-FFF2-40B4-BE49-F238E27FC236}">
                <a16:creationId xmlns:a16="http://schemas.microsoft.com/office/drawing/2014/main" id="{D32F8AF1-295B-DEF7-DF39-7ADF991996BA}"/>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有</a:t>
            </a:r>
            <a:endParaRPr lang="en-US" altLang="ja-JP" sz="1000" b="1" dirty="0">
              <a:latin typeface="メイリオ" panose="020B0604030504040204" pitchFamily="50" charset="-128"/>
              <a:ea typeface="メイリオ" panose="020B0604030504040204" pitchFamily="50" charset="-128"/>
              <a:cs typeface="メイリオ"/>
            </a:endParaRPr>
          </a:p>
        </p:txBody>
      </p:sp>
      <p:sp>
        <p:nvSpPr>
          <p:cNvPr id="169" name="テキスト ボックス 168">
            <a:extLst>
              <a:ext uri="{FF2B5EF4-FFF2-40B4-BE49-F238E27FC236}">
                <a16:creationId xmlns:a16="http://schemas.microsoft.com/office/drawing/2014/main" id="{7D910DD2-60FF-DE1D-244F-84DABD92D62C}"/>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a:t>
            </a: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77" name="テキスト ボックス 176">
            <a:extLst>
              <a:ext uri="{FF2B5EF4-FFF2-40B4-BE49-F238E27FC236}">
                <a16:creationId xmlns:a16="http://schemas.microsoft.com/office/drawing/2014/main" id="{14E58E5E-2D77-90E6-91E8-9955CA80F448}"/>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cs typeface="メイリオ"/>
              </a:rPr>
              <a:t>※</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91" name="テキスト ボックス 190">
            <a:extLst>
              <a:ext uri="{FF2B5EF4-FFF2-40B4-BE49-F238E27FC236}">
                <a16:creationId xmlns:a16="http://schemas.microsoft.com/office/drawing/2014/main" id="{18879675-133C-898A-AB5B-286927352D72}"/>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780FE50C-6BE9-89A2-9A39-FEB38C461055}"/>
              </a:ext>
            </a:extLst>
          </p:cNvPr>
          <p:cNvSpPr txBox="1"/>
          <p:nvPr/>
        </p:nvSpPr>
        <p:spPr>
          <a:xfrm>
            <a:off x="605520" y="806419"/>
            <a:ext cx="8797260" cy="461665"/>
          </a:xfrm>
          <a:prstGeom prst="rect">
            <a:avLst/>
          </a:prstGeom>
          <a:noFill/>
        </p:spPr>
        <p:txBody>
          <a:bodyPr wrap="square">
            <a:spAutoFit/>
          </a:bodyPr>
          <a:lstStyle/>
          <a:p>
            <a:pPr algn="ctr"/>
            <a:r>
              <a:rPr lang="en-US" altLang="ja-JP"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AD</a:t>
            </a:r>
            <a:r>
              <a:rPr lang="ja-JP" altLang="en-US"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で</a:t>
            </a:r>
            <a:r>
              <a:rPr lang="en-US" altLang="ja-JP"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3%</a:t>
            </a:r>
            <a:r>
              <a:rPr lang="ja-JP" altLang="en-US"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、通常で</a:t>
            </a:r>
            <a:r>
              <a:rPr lang="en-US" altLang="ja-JP"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0.7%</a:t>
            </a:r>
            <a:r>
              <a:rPr lang="ja-JP" altLang="en-US"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前後の体験申込</a:t>
            </a:r>
            <a:r>
              <a:rPr lang="en-US" altLang="ja-JP"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CVR</a:t>
            </a:r>
            <a:r>
              <a:rPr lang="ja-JP" altLang="en-US"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が参考数値、</a:t>
            </a:r>
            <a:endParaRPr lang="en-US" altLang="ja-JP"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endParaRPr>
          </a:p>
          <a:p>
            <a:pPr algn="ctr"/>
            <a:r>
              <a:rPr lang="ja-JP" altLang="en-US"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更に</a:t>
            </a:r>
            <a:r>
              <a:rPr lang="en-US" altLang="ja-JP"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LINE</a:t>
            </a:r>
            <a:r>
              <a:rPr lang="ja-JP" altLang="en-US"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施策を導入していくことで、</a:t>
            </a:r>
            <a:r>
              <a:rPr lang="ja-JP" altLang="en-US" sz="1200" b="1" dirty="0">
                <a:solidFill>
                  <a:srgbClr val="FF0000"/>
                </a:solidFill>
                <a:latin typeface="メイリオ" panose="020B0604030504040204" pitchFamily="34" charset="-128"/>
                <a:ea typeface="メイリオ" panose="020B0604030504040204" pitchFamily="34" charset="-128"/>
                <a:cs typeface="メイリオ"/>
              </a:rPr>
              <a:t>離脱アクションの削減 </a:t>
            </a:r>
            <a:r>
              <a:rPr lang="en-US" altLang="ja-JP" sz="1200" b="1" dirty="0">
                <a:solidFill>
                  <a:srgbClr val="FF0000"/>
                </a:solidFill>
                <a:latin typeface="メイリオ" panose="020B0604030504040204" pitchFamily="34" charset="-128"/>
                <a:ea typeface="メイリオ" panose="020B0604030504040204" pitchFamily="34" charset="-128"/>
                <a:cs typeface="メイリオ"/>
              </a:rPr>
              <a:t>/ </a:t>
            </a:r>
            <a:r>
              <a:rPr lang="ja-JP" altLang="en-US" sz="1200" b="1" dirty="0">
                <a:solidFill>
                  <a:srgbClr val="FF0000"/>
                </a:solidFill>
                <a:latin typeface="メイリオ" panose="020B0604030504040204" pitchFamily="34" charset="-128"/>
                <a:ea typeface="メイリオ" panose="020B0604030504040204" pitchFamily="34" charset="-128"/>
                <a:cs typeface="メイリオ"/>
              </a:rPr>
              <a:t>引上げの増加 を図る</a:t>
            </a:r>
            <a:endParaRPr lang="ja-JP" altLang="en-US" sz="1400" dirty="0">
              <a:latin typeface="メイリオ"/>
              <a:ea typeface="メイリオ"/>
              <a:cs typeface="メイリオ"/>
            </a:endParaRPr>
          </a:p>
        </p:txBody>
      </p:sp>
      <p:pic>
        <p:nvPicPr>
          <p:cNvPr id="11" name="図 10">
            <a:extLst>
              <a:ext uri="{FF2B5EF4-FFF2-40B4-BE49-F238E27FC236}">
                <a16:creationId xmlns:a16="http://schemas.microsoft.com/office/drawing/2014/main" id="{CF50BD48-FC75-6DA2-1A57-02F2D17728F6}"/>
              </a:ext>
            </a:extLst>
          </p:cNvPr>
          <p:cNvPicPr>
            <a:picLocks noChangeAspect="1"/>
          </p:cNvPicPr>
          <p:nvPr/>
        </p:nvPicPr>
        <p:blipFill>
          <a:blip r:embed="rId4"/>
          <a:stretch>
            <a:fillRect/>
          </a:stretch>
        </p:blipFill>
        <p:spPr>
          <a:xfrm>
            <a:off x="495219" y="2017307"/>
            <a:ext cx="1575169" cy="3199306"/>
          </a:xfrm>
          <a:prstGeom prst="rect">
            <a:avLst/>
          </a:prstGeom>
        </p:spPr>
      </p:pic>
      <p:sp>
        <p:nvSpPr>
          <p:cNvPr id="15" name="テキスト ボックス 14">
            <a:extLst>
              <a:ext uri="{FF2B5EF4-FFF2-40B4-BE49-F238E27FC236}">
                <a16:creationId xmlns:a16="http://schemas.microsoft.com/office/drawing/2014/main" id="{721AAE50-63B8-A073-1228-D24794D0EE6B}"/>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17" name="テキスト ボックス 16">
            <a:extLst>
              <a:ext uri="{FF2B5EF4-FFF2-40B4-BE49-F238E27FC236}">
                <a16:creationId xmlns:a16="http://schemas.microsoft.com/office/drawing/2014/main" id="{FD3AAEC4-2DF3-24CA-07F4-78FF480D3C0B}"/>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1D9925E0-24D6-764D-FC59-198A43FE162D}"/>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850E5-D5A1-CFDF-111D-4022C3ACFF30}"/>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E31A894-E8DC-C040-E38B-038A8EF528E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AD68C335-D806-837C-26CA-E0BD169C64B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9F2C0452-B9E6-F1EE-DD53-83755CCCC88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AD2E002-BC79-F49E-26BC-844143DB1CB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現状把握</a:t>
            </a:r>
            <a:r>
              <a:rPr lang="en-US" altLang="ja-JP" sz="1600" b="1" dirty="0">
                <a:solidFill>
                  <a:srgbClr val="002060"/>
                </a:solidFill>
                <a:latin typeface="メイリオ"/>
                <a:ea typeface="メイリオ"/>
                <a:cs typeface="メイリオ"/>
                <a:sym typeface="Meiryo"/>
              </a:rPr>
              <a:t>【</a:t>
            </a:r>
            <a:r>
              <a:rPr lang="ja-JP" altLang="en-US" sz="1600" b="1" dirty="0">
                <a:solidFill>
                  <a:srgbClr val="002060"/>
                </a:solidFill>
                <a:latin typeface="メイリオ"/>
                <a:ea typeface="メイリオ"/>
                <a:cs typeface="メイリオ"/>
                <a:sym typeface="Meiryo"/>
              </a:rPr>
              <a:t>チャイルドアイズ</a:t>
            </a:r>
            <a:r>
              <a:rPr lang="en-US" altLang="ja-JP"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29" name="テキスト ボックス 28">
            <a:extLst>
              <a:ext uri="{FF2B5EF4-FFF2-40B4-BE49-F238E27FC236}">
                <a16:creationId xmlns:a16="http://schemas.microsoft.com/office/drawing/2014/main" id="{6DA3B365-02D9-8B5B-1299-3D8406BB3D5C}"/>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bg1"/>
                </a:solidFill>
                <a:latin typeface="メイリオ" panose="020B0604030504040204" pitchFamily="50" charset="-128"/>
                <a:ea typeface="メイリオ" panose="020B0604030504040204" pitchFamily="50" charset="-128"/>
                <a:cs typeface="メイリオ"/>
              </a:rPr>
              <a:t>ステータス</a:t>
            </a:r>
            <a:endParaRPr lang="ja-JP" altLang="en-US" sz="1200" b="1" dirty="0">
              <a:solidFill>
                <a:schemeClr val="bg1"/>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F8313A60-EA49-F9B7-6C41-949A968F0600}"/>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WEB</a:t>
            </a:r>
            <a:r>
              <a:rPr lang="ja-JP" altLang="en-US" sz="1200" dirty="0">
                <a:solidFill>
                  <a:schemeClr val="bg1"/>
                </a:solidFill>
                <a:latin typeface="メイリオ" panose="020B0604030504040204" pitchFamily="50" charset="-128"/>
                <a:ea typeface="メイリオ" panose="020B0604030504040204" pitchFamily="50" charset="-128"/>
                <a:cs typeface="メイリオ"/>
              </a:rPr>
              <a:t>サイトステータス</a:t>
            </a:r>
            <a:endParaRPr lang="ja-JP" altLang="en-US" sz="1200" dirty="0">
              <a:solidFill>
                <a:schemeClr val="bg1"/>
              </a:solidFill>
              <a:latin typeface="メイリオ"/>
              <a:ea typeface="メイリオ"/>
              <a:cs typeface="メイリオ"/>
            </a:endParaRPr>
          </a:p>
        </p:txBody>
      </p:sp>
      <p:sp>
        <p:nvSpPr>
          <p:cNvPr id="43" name="テキスト ボックス 42">
            <a:extLst>
              <a:ext uri="{FF2B5EF4-FFF2-40B4-BE49-F238E27FC236}">
                <a16:creationId xmlns:a16="http://schemas.microsoft.com/office/drawing/2014/main" id="{6B7452FF-3064-3C53-0009-2FF21E2A20E3}"/>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サイト</a:t>
            </a:r>
            <a:r>
              <a:rPr lang="en-US" altLang="ja-JP" sz="1050" dirty="0">
                <a:latin typeface="メイリオ" panose="020B0604030504040204" pitchFamily="50" charset="-128"/>
                <a:ea typeface="メイリオ" panose="020B0604030504040204" pitchFamily="50" charset="-128"/>
                <a:cs typeface="メイリオ"/>
              </a:rPr>
              <a:t>CV</a:t>
            </a:r>
            <a:r>
              <a:rPr lang="ja-JP" altLang="en-US" sz="1050" dirty="0">
                <a:latin typeface="メイリオ" panose="020B0604030504040204" pitchFamily="50" charset="-128"/>
                <a:ea typeface="メイリオ" panose="020B0604030504040204" pitchFamily="50" charset="-128"/>
                <a:cs typeface="メイリオ"/>
              </a:rPr>
              <a:t>としては</a:t>
            </a:r>
            <a:r>
              <a:rPr lang="en-US" altLang="ja-JP" sz="1050" dirty="0">
                <a:latin typeface="メイリオ" panose="020B0604030504040204" pitchFamily="50" charset="-128"/>
                <a:ea typeface="メイリオ" panose="020B0604030504040204" pitchFamily="50" charset="-128"/>
                <a:cs typeface="メイリオ"/>
              </a:rPr>
              <a:t>【</a:t>
            </a:r>
            <a:r>
              <a:rPr lang="ja-JP" altLang="en-US" sz="1050" dirty="0">
                <a:latin typeface="メイリオ" panose="020B0604030504040204" pitchFamily="50" charset="-128"/>
                <a:ea typeface="メイリオ" panose="020B0604030504040204" pitchFamily="50" charset="-128"/>
                <a:cs typeface="メイリオ"/>
              </a:rPr>
              <a:t>電話</a:t>
            </a:r>
            <a:r>
              <a:rPr lang="en-US" altLang="ja-JP" sz="1050" dirty="0">
                <a:latin typeface="メイリオ" panose="020B0604030504040204" pitchFamily="50" charset="-128"/>
                <a:ea typeface="メイリオ" panose="020B0604030504040204" pitchFamily="50" charset="-128"/>
                <a:cs typeface="メイリオ"/>
              </a:rPr>
              <a:t>】</a:t>
            </a:r>
            <a:r>
              <a:rPr lang="ja-JP" altLang="en-US" sz="1050" dirty="0">
                <a:latin typeface="メイリオ" panose="020B0604030504040204" pitchFamily="50" charset="-128"/>
                <a:ea typeface="メイリオ" panose="020B0604030504040204" pitchFamily="50" charset="-128"/>
                <a:cs typeface="メイリオ"/>
              </a:rPr>
              <a:t>と</a:t>
            </a:r>
            <a:r>
              <a:rPr lang="en-US" altLang="ja-JP" sz="1050" dirty="0">
                <a:latin typeface="メイリオ" panose="020B0604030504040204" pitchFamily="50" charset="-128"/>
                <a:ea typeface="メイリオ" panose="020B0604030504040204" pitchFamily="50" charset="-128"/>
                <a:cs typeface="メイリオ"/>
              </a:rPr>
              <a:t>【</a:t>
            </a:r>
            <a:r>
              <a:rPr lang="ja-JP" altLang="en-US" sz="1050" dirty="0">
                <a:latin typeface="メイリオ" panose="020B0604030504040204" pitchFamily="50" charset="-128"/>
                <a:ea typeface="メイリオ" panose="020B0604030504040204" pitchFamily="50" charset="-128"/>
                <a:cs typeface="メイリオ"/>
              </a:rPr>
              <a:t>無料体験</a:t>
            </a:r>
            <a:r>
              <a:rPr lang="en-US" altLang="ja-JP" sz="1050" dirty="0">
                <a:latin typeface="メイリオ" panose="020B0604030504040204" pitchFamily="50" charset="-128"/>
                <a:ea typeface="メイリオ" panose="020B0604030504040204" pitchFamily="50" charset="-128"/>
                <a:cs typeface="メイリオ"/>
              </a:rPr>
              <a:t>】</a:t>
            </a:r>
            <a:r>
              <a:rPr lang="ja-JP" altLang="en-US" sz="1050" dirty="0">
                <a:latin typeface="メイリオ" panose="020B0604030504040204" pitchFamily="50" charset="-128"/>
                <a:ea typeface="メイリオ" panose="020B0604030504040204" pitchFamily="50" charset="-128"/>
                <a:cs typeface="メイリオ"/>
              </a:rPr>
              <a:t>を設置</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latin typeface="メイリオ" panose="020B0604030504040204" pitchFamily="50" charset="-128"/>
                <a:ea typeface="メイリオ" panose="020B0604030504040204" pitchFamily="50" charset="-128"/>
                <a:cs typeface="メイリオ"/>
              </a:rPr>
              <a:t>検索面</a:t>
            </a:r>
            <a:r>
              <a:rPr lang="en-US" altLang="ja-JP" sz="1050" dirty="0">
                <a:latin typeface="メイリオ" panose="020B0604030504040204" pitchFamily="50" charset="-128"/>
                <a:ea typeface="メイリオ" panose="020B0604030504040204" pitchFamily="50" charset="-128"/>
                <a:cs typeface="メイリオ"/>
              </a:rPr>
              <a:t>(SEO,AD)</a:t>
            </a:r>
            <a:r>
              <a:rPr lang="ja-JP" altLang="en-US" sz="1050" dirty="0">
                <a:latin typeface="メイリオ" panose="020B0604030504040204" pitchFamily="50" charset="-128"/>
                <a:ea typeface="メイリオ" panose="020B0604030504040204" pitchFamily="50" charset="-128"/>
                <a:cs typeface="メイリオ"/>
              </a:rPr>
              <a:t>とディスプレイがメイン流入元</a:t>
            </a:r>
            <a:endParaRPr lang="en-US" altLang="ja-JP" sz="1050" dirty="0">
              <a:latin typeface="メイリオ" panose="020B0604030504040204" pitchFamily="50" charset="-128"/>
              <a:ea typeface="メイリオ" panose="020B0604030504040204" pitchFamily="50" charset="-128"/>
              <a:cs typeface="メイリオ"/>
            </a:endParaRPr>
          </a:p>
        </p:txBody>
      </p:sp>
      <p:sp>
        <p:nvSpPr>
          <p:cNvPr id="53" name="テキスト ボックス 52">
            <a:extLst>
              <a:ext uri="{FF2B5EF4-FFF2-40B4-BE49-F238E27FC236}">
                <a16:creationId xmlns:a16="http://schemas.microsoft.com/office/drawing/2014/main" id="{4DE653A3-6A01-144F-1BF8-1590962028E3}"/>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現状</a:t>
            </a:r>
            <a:r>
              <a:rPr lang="en-US" altLang="ja-JP" sz="1050" dirty="0">
                <a:latin typeface="メイリオ" panose="020B0604030504040204" pitchFamily="50" charset="-128"/>
                <a:ea typeface="メイリオ" panose="020B0604030504040204" pitchFamily="50" charset="-128"/>
                <a:cs typeface="メイリオ"/>
              </a:rPr>
              <a:t>LINE</a:t>
            </a:r>
            <a:r>
              <a:rPr lang="ja-JP" altLang="en-US" sz="1050" dirty="0">
                <a:latin typeface="メイリオ" panose="020B0604030504040204" pitchFamily="50" charset="-128"/>
                <a:ea typeface="メイリオ" panose="020B0604030504040204" pitchFamily="50" charset="-128"/>
                <a:cs typeface="メイリオ"/>
              </a:rPr>
              <a:t>公式アカウントの保有・運用はなし</a:t>
            </a:r>
            <a:endParaRPr lang="en-US" altLang="ja-JP" sz="1050" dirty="0">
              <a:latin typeface="メイリオ" panose="020B0604030504040204" pitchFamily="50" charset="-128"/>
              <a:ea typeface="メイリオ" panose="020B0604030504040204" pitchFamily="50" charset="-128"/>
              <a:cs typeface="メイリオ"/>
            </a:endParaRPr>
          </a:p>
        </p:txBody>
      </p:sp>
      <p:pic>
        <p:nvPicPr>
          <p:cNvPr id="55" name="図 54">
            <a:extLst>
              <a:ext uri="{FF2B5EF4-FFF2-40B4-BE49-F238E27FC236}">
                <a16:creationId xmlns:a16="http://schemas.microsoft.com/office/drawing/2014/main" id="{4BC7545E-7F3F-B8DD-FAA4-D802246C1236}"/>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4FD3FA7D-7FF2-4236-7135-48E5D06D806B}"/>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63" name="テキスト ボックス 62">
            <a:extLst>
              <a:ext uri="{FF2B5EF4-FFF2-40B4-BE49-F238E27FC236}">
                <a16:creationId xmlns:a16="http://schemas.microsoft.com/office/drawing/2014/main" id="{641B3AFA-24D2-E56E-9A38-AC3FAFF26FEF}"/>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cs typeface="メイリオ"/>
              </a:rPr>
              <a:t>未保有</a:t>
            </a:r>
            <a:endParaRPr lang="en-US" altLang="ja-JP" sz="105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65" name="テキスト ボックス 64">
            <a:extLst>
              <a:ext uri="{FF2B5EF4-FFF2-40B4-BE49-F238E27FC236}">
                <a16:creationId xmlns:a16="http://schemas.microsoft.com/office/drawing/2014/main" id="{CB47911B-0E60-1A54-28E3-4822D0F71546}"/>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サイト</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67" name="テキスト ボックス 66">
            <a:extLst>
              <a:ext uri="{FF2B5EF4-FFF2-40B4-BE49-F238E27FC236}">
                <a16:creationId xmlns:a16="http://schemas.microsoft.com/office/drawing/2014/main" id="{786D7DA7-503E-05B5-F9CB-0A21161B6913}"/>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　をもとにした想定数値</a:t>
            </a:r>
            <a:endParaRPr lang="ja-JP" altLang="en-US" sz="1400" dirty="0">
              <a:solidFill>
                <a:schemeClr val="bg1">
                  <a:lumMod val="65000"/>
                </a:schemeClr>
              </a:solidFill>
              <a:latin typeface="メイリオ"/>
              <a:ea typeface="メイリオ"/>
              <a:cs typeface="メイリオ"/>
            </a:endParaRPr>
          </a:p>
        </p:txBody>
      </p:sp>
      <p:sp>
        <p:nvSpPr>
          <p:cNvPr id="69" name="テキスト ボックス 68">
            <a:extLst>
              <a:ext uri="{FF2B5EF4-FFF2-40B4-BE49-F238E27FC236}">
                <a16:creationId xmlns:a16="http://schemas.microsoft.com/office/drawing/2014/main" id="{EA788168-7029-078F-5BD8-F04485F4755A}"/>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71" name="テキスト ボックス 70">
            <a:extLst>
              <a:ext uri="{FF2B5EF4-FFF2-40B4-BE49-F238E27FC236}">
                <a16:creationId xmlns:a16="http://schemas.microsoft.com/office/drawing/2014/main" id="{43A76DAB-1A67-A2FA-CB9F-4E749C2AE08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広告費用</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09C9ADFA-9068-E4AF-1EEA-6AA96D14B0E4}"/>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メイン流入元</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5" name="テキスト ボックス 74">
            <a:extLst>
              <a:ext uri="{FF2B5EF4-FFF2-40B4-BE49-F238E27FC236}">
                <a16:creationId xmlns:a16="http://schemas.microsoft.com/office/drawing/2014/main" id="{D9941BFF-1B46-CD45-ED5A-61E32CC889F8}"/>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他</a:t>
            </a:r>
            <a:r>
              <a:rPr lang="en-US" altLang="ja-JP" sz="1000" dirty="0">
                <a:solidFill>
                  <a:schemeClr val="bg1"/>
                </a:solidFill>
                <a:latin typeface="メイリオ" panose="020B0604030504040204" pitchFamily="50" charset="-128"/>
                <a:ea typeface="メイリオ" panose="020B0604030504040204" pitchFamily="50" charset="-128"/>
                <a:cs typeface="メイリオ"/>
              </a:rPr>
              <a:t>SNS</a:t>
            </a:r>
          </a:p>
        </p:txBody>
      </p:sp>
      <p:sp>
        <p:nvSpPr>
          <p:cNvPr id="76" name="テキスト ボックス 75">
            <a:extLst>
              <a:ext uri="{FF2B5EF4-FFF2-40B4-BE49-F238E27FC236}">
                <a16:creationId xmlns:a16="http://schemas.microsoft.com/office/drawing/2014/main" id="{621AF139-DB4F-043A-C841-17CB34ABE979}"/>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リード保有数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8" name="テキスト ボックス 77">
            <a:extLst>
              <a:ext uri="{FF2B5EF4-FFF2-40B4-BE49-F238E27FC236}">
                <a16:creationId xmlns:a16="http://schemas.microsoft.com/office/drawing/2014/main" id="{7B5121E5-ADDA-2445-CD99-AF7C9748F0F2}"/>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a:t>
            </a: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9295423F-6886-C0F9-07E8-99E65DA2F185}"/>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地点</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テキスト ボックス 81">
            <a:extLst>
              <a:ext uri="{FF2B5EF4-FFF2-40B4-BE49-F238E27FC236}">
                <a16:creationId xmlns:a16="http://schemas.microsoft.com/office/drawing/2014/main" id="{BC9F693C-CE4E-77C8-8651-DCFDCF1173A3}"/>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LINE</a:t>
            </a:r>
            <a:r>
              <a:rPr lang="ja-JP" altLang="en-US" sz="1000" dirty="0">
                <a:solidFill>
                  <a:schemeClr val="bg1"/>
                </a:solidFill>
                <a:latin typeface="メイリオ" panose="020B0604030504040204" pitchFamily="50" charset="-128"/>
                <a:ea typeface="メイリオ" panose="020B0604030504040204" pitchFamily="50" charset="-128"/>
                <a:cs typeface="メイリオ"/>
              </a:rPr>
              <a:t>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4" name="テキスト ボックス 83">
            <a:extLst>
              <a:ext uri="{FF2B5EF4-FFF2-40B4-BE49-F238E27FC236}">
                <a16:creationId xmlns:a16="http://schemas.microsoft.com/office/drawing/2014/main" id="{429EF141-B4B6-BD86-F207-AB9F39A6D6CC}"/>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広告余地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テキスト ボックス 85">
            <a:extLst>
              <a:ext uri="{FF2B5EF4-FFF2-40B4-BE49-F238E27FC236}">
                <a16:creationId xmlns:a16="http://schemas.microsoft.com/office/drawing/2014/main" id="{7C5532CE-88A1-7418-788B-354213D6977B}"/>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友だち数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8" name="テキスト ボックス 87">
            <a:extLst>
              <a:ext uri="{FF2B5EF4-FFF2-40B4-BE49-F238E27FC236}">
                <a16:creationId xmlns:a16="http://schemas.microsoft.com/office/drawing/2014/main" id="{4E2A999C-E78C-D828-F3B4-8B46E6CFAC5C}"/>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アクティブ数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0" name="テキスト ボックス 89">
            <a:extLst>
              <a:ext uri="{FF2B5EF4-FFF2-40B4-BE49-F238E27FC236}">
                <a16:creationId xmlns:a16="http://schemas.microsoft.com/office/drawing/2014/main" id="{50BA19F4-53F1-C97B-0713-EC49522B21E8}"/>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ブロック率</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2" name="テキスト ボックス 91">
            <a:extLst>
              <a:ext uri="{FF2B5EF4-FFF2-40B4-BE49-F238E27FC236}">
                <a16:creationId xmlns:a16="http://schemas.microsoft.com/office/drawing/2014/main" id="{0D3F17B7-BE54-FFAB-DA5A-705404A9C08A}"/>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B0DD1EFF-563A-1CD9-9989-968BFFEBCC2C}"/>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ツール</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6" name="テキスト ボックス 95">
            <a:extLst>
              <a:ext uri="{FF2B5EF4-FFF2-40B4-BE49-F238E27FC236}">
                <a16:creationId xmlns:a16="http://schemas.microsoft.com/office/drawing/2014/main" id="{CDF3ACE8-A29C-0869-5155-3A40D885312A}"/>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想定コスト</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8" name="テキスト ボックス 97">
            <a:extLst>
              <a:ext uri="{FF2B5EF4-FFF2-40B4-BE49-F238E27FC236}">
                <a16:creationId xmlns:a16="http://schemas.microsoft.com/office/drawing/2014/main" id="{052C94FD-2F48-FE18-F017-6E76C0BDD2F3}"/>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月間投稿数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0" name="テキスト ボックス 99">
            <a:extLst>
              <a:ext uri="{FF2B5EF4-FFF2-40B4-BE49-F238E27FC236}">
                <a16:creationId xmlns:a16="http://schemas.microsoft.com/office/drawing/2014/main" id="{FEDAB5C8-D777-7083-1B4C-F755ADE9FC2B}"/>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ステップ実施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2" name="テキスト ボックス 101">
            <a:extLst>
              <a:ext uri="{FF2B5EF4-FFF2-40B4-BE49-F238E27FC236}">
                <a16:creationId xmlns:a16="http://schemas.microsoft.com/office/drawing/2014/main" id="{F4164EE0-C2B2-E301-5AC9-2CA1B7015DD6}"/>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4" name="テキスト ボックス 103">
            <a:extLst>
              <a:ext uri="{FF2B5EF4-FFF2-40B4-BE49-F238E27FC236}">
                <a16:creationId xmlns:a16="http://schemas.microsoft.com/office/drawing/2014/main" id="{86F2BB75-D087-3536-A5EC-03D24451492A}"/>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プロフ動線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6" name="テキスト ボックス 105">
            <a:extLst>
              <a:ext uri="{FF2B5EF4-FFF2-40B4-BE49-F238E27FC236}">
                <a16:creationId xmlns:a16="http://schemas.microsoft.com/office/drawing/2014/main" id="{B6ADA316-97DB-19DE-5310-2D4AFF7C5555}"/>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18,784</a:t>
            </a:r>
          </a:p>
        </p:txBody>
      </p:sp>
      <p:sp>
        <p:nvSpPr>
          <p:cNvPr id="108" name="テキスト ボックス 107">
            <a:extLst>
              <a:ext uri="{FF2B5EF4-FFF2-40B4-BE49-F238E27FC236}">
                <a16:creationId xmlns:a16="http://schemas.microsoft.com/office/drawing/2014/main" id="{47F3F567-C41D-6459-A492-84B20AAA216D}"/>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4,500</a:t>
            </a:r>
            <a:endParaRPr lang="en-US" altLang="ja-JP" sz="700" b="1" dirty="0">
              <a:latin typeface="メイリオ" panose="020B0604030504040204" pitchFamily="50" charset="-128"/>
              <a:ea typeface="メイリオ" panose="020B0604030504040204" pitchFamily="50" charset="-128"/>
              <a:cs typeface="メイリオ"/>
            </a:endParaRPr>
          </a:p>
        </p:txBody>
      </p:sp>
      <p:sp>
        <p:nvSpPr>
          <p:cNvPr id="110" name="テキスト ボックス 109">
            <a:extLst>
              <a:ext uri="{FF2B5EF4-FFF2-40B4-BE49-F238E27FC236}">
                <a16:creationId xmlns:a16="http://schemas.microsoft.com/office/drawing/2014/main" id="{EA12EB97-C2CF-9EF7-68AC-1F725E44C0C6}"/>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cs typeface="メイリオ"/>
            </a:endParaRPr>
          </a:p>
        </p:txBody>
      </p:sp>
      <p:sp>
        <p:nvSpPr>
          <p:cNvPr id="112" name="テキスト ボックス 111">
            <a:extLst>
              <a:ext uri="{FF2B5EF4-FFF2-40B4-BE49-F238E27FC236}">
                <a16:creationId xmlns:a16="http://schemas.microsoft.com/office/drawing/2014/main" id="{C7BA49E9-9AD1-C8F1-045C-F99303CC534D}"/>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オーガニック</a:t>
            </a:r>
            <a:endParaRPr lang="en-US" altLang="ja-JP" sz="1000" b="1" dirty="0">
              <a:latin typeface="メイリオ" panose="020B0604030504040204" pitchFamily="50" charset="-128"/>
              <a:ea typeface="メイリオ" panose="020B0604030504040204" pitchFamily="50" charset="-128"/>
              <a:cs typeface="メイリオ"/>
            </a:endParaRPr>
          </a:p>
        </p:txBody>
      </p:sp>
      <p:sp>
        <p:nvSpPr>
          <p:cNvPr id="114" name="テキスト ボックス 113">
            <a:extLst>
              <a:ext uri="{FF2B5EF4-FFF2-40B4-BE49-F238E27FC236}">
                <a16:creationId xmlns:a16="http://schemas.microsoft.com/office/drawing/2014/main" id="{7BE2FF98-F2E6-8CBD-5248-49871F114542}"/>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cs typeface="メイリオ"/>
            </a:endParaRPr>
          </a:p>
        </p:txBody>
      </p:sp>
      <p:sp>
        <p:nvSpPr>
          <p:cNvPr id="116" name="テキスト ボックス 115">
            <a:extLst>
              <a:ext uri="{FF2B5EF4-FFF2-40B4-BE49-F238E27FC236}">
                <a16:creationId xmlns:a16="http://schemas.microsoft.com/office/drawing/2014/main" id="{914EF112-00D2-D47D-0B61-A93CBE8BB645}"/>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cs typeface="メイリオ"/>
            </a:endParaRPr>
          </a:p>
        </p:txBody>
      </p:sp>
      <p:sp>
        <p:nvSpPr>
          <p:cNvPr id="118" name="テキスト ボックス 117">
            <a:extLst>
              <a:ext uri="{FF2B5EF4-FFF2-40B4-BE49-F238E27FC236}">
                <a16:creationId xmlns:a16="http://schemas.microsoft.com/office/drawing/2014/main" id="{986694EA-BD3A-DAC6-4DEE-7D91F77FBE22}"/>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cs typeface="メイリオ"/>
            </a:endParaRPr>
          </a:p>
        </p:txBody>
      </p:sp>
      <p:sp>
        <p:nvSpPr>
          <p:cNvPr id="120" name="テキスト ボックス 119">
            <a:extLst>
              <a:ext uri="{FF2B5EF4-FFF2-40B4-BE49-F238E27FC236}">
                <a16:creationId xmlns:a16="http://schemas.microsoft.com/office/drawing/2014/main" id="{55C2042F-3220-C5D3-61DE-7D9D40613A6E}"/>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cs typeface="メイリオ"/>
              </a:rPr>
              <a:t>無料体験</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122" name="テキスト ボックス 121">
            <a:extLst>
              <a:ext uri="{FF2B5EF4-FFF2-40B4-BE49-F238E27FC236}">
                <a16:creationId xmlns:a16="http://schemas.microsoft.com/office/drawing/2014/main" id="{153D3F2B-14F9-70C0-50BC-B7CB286E2D8F}"/>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未設定</a:t>
            </a:r>
            <a:endParaRPr lang="en-US" altLang="ja-JP" sz="1000" b="1" dirty="0">
              <a:latin typeface="メイリオ" panose="020B0604030504040204" pitchFamily="50" charset="-128"/>
              <a:ea typeface="メイリオ" panose="020B0604030504040204" pitchFamily="50" charset="-128"/>
              <a:cs typeface="メイリオ"/>
            </a:endParaRPr>
          </a:p>
        </p:txBody>
      </p:sp>
      <p:sp>
        <p:nvSpPr>
          <p:cNvPr id="124" name="テキスト ボックス 123">
            <a:extLst>
              <a:ext uri="{FF2B5EF4-FFF2-40B4-BE49-F238E27FC236}">
                <a16:creationId xmlns:a16="http://schemas.microsoft.com/office/drawing/2014/main" id="{2263D4CF-8260-F1E1-BCF7-ED72C65AF07F}"/>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有</a:t>
            </a:r>
            <a:endParaRPr lang="en-US" altLang="ja-JP" sz="1000" b="1" dirty="0">
              <a:latin typeface="メイリオ" panose="020B0604030504040204" pitchFamily="50" charset="-128"/>
              <a:ea typeface="メイリオ" panose="020B0604030504040204" pitchFamily="50" charset="-128"/>
              <a:cs typeface="メイリオ"/>
            </a:endParaRPr>
          </a:p>
        </p:txBody>
      </p:sp>
      <p:sp>
        <p:nvSpPr>
          <p:cNvPr id="169" name="テキスト ボックス 168">
            <a:extLst>
              <a:ext uri="{FF2B5EF4-FFF2-40B4-BE49-F238E27FC236}">
                <a16:creationId xmlns:a16="http://schemas.microsoft.com/office/drawing/2014/main" id="{32CFABB8-ADE8-1D5B-7822-D8BF0BA34FC4}"/>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a:t>
            </a:r>
          </a:p>
        </p:txBody>
      </p:sp>
      <p:sp>
        <p:nvSpPr>
          <p:cNvPr id="171" name="テキスト ボックス 170">
            <a:extLst>
              <a:ext uri="{FF2B5EF4-FFF2-40B4-BE49-F238E27FC236}">
                <a16:creationId xmlns:a16="http://schemas.microsoft.com/office/drawing/2014/main" id="{CEE5E6FB-FD31-4BA0-5DD6-0E11BBB49851}"/>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73" name="テキスト ボックス 172">
            <a:extLst>
              <a:ext uri="{FF2B5EF4-FFF2-40B4-BE49-F238E27FC236}">
                <a16:creationId xmlns:a16="http://schemas.microsoft.com/office/drawing/2014/main" id="{E91D57C9-6375-8F5E-0D71-3230B0BA0AC3}"/>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75" name="テキスト ボックス 174">
            <a:extLst>
              <a:ext uri="{FF2B5EF4-FFF2-40B4-BE49-F238E27FC236}">
                <a16:creationId xmlns:a16="http://schemas.microsoft.com/office/drawing/2014/main" id="{50103491-D71F-7EB5-8BE0-3BC70A0F52D1}"/>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77" name="テキスト ボックス 176">
            <a:extLst>
              <a:ext uri="{FF2B5EF4-FFF2-40B4-BE49-F238E27FC236}">
                <a16:creationId xmlns:a16="http://schemas.microsoft.com/office/drawing/2014/main" id="{03486B97-EFB2-9F95-C428-B571949EB1AE}"/>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cs typeface="メイリオ"/>
              </a:rPr>
              <a:t>※</a:t>
            </a:r>
          </a:p>
        </p:txBody>
      </p:sp>
      <p:sp>
        <p:nvSpPr>
          <p:cNvPr id="179" name="テキスト ボックス 178">
            <a:extLst>
              <a:ext uri="{FF2B5EF4-FFF2-40B4-BE49-F238E27FC236}">
                <a16:creationId xmlns:a16="http://schemas.microsoft.com/office/drawing/2014/main" id="{83060EE7-F85C-FEB9-6E07-AD89C879B907}"/>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1" name="テキスト ボックス 180">
            <a:extLst>
              <a:ext uri="{FF2B5EF4-FFF2-40B4-BE49-F238E27FC236}">
                <a16:creationId xmlns:a16="http://schemas.microsoft.com/office/drawing/2014/main" id="{6E50A20F-2BFB-3695-700C-44F0937245E4}"/>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3" name="テキスト ボックス 182">
            <a:extLst>
              <a:ext uri="{FF2B5EF4-FFF2-40B4-BE49-F238E27FC236}">
                <a16:creationId xmlns:a16="http://schemas.microsoft.com/office/drawing/2014/main" id="{343ADE76-581F-E366-449C-C73F90D92979}"/>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5" name="テキスト ボックス 184">
            <a:extLst>
              <a:ext uri="{FF2B5EF4-FFF2-40B4-BE49-F238E27FC236}">
                <a16:creationId xmlns:a16="http://schemas.microsoft.com/office/drawing/2014/main" id="{15C10191-5CA8-D3BE-7847-7FA57C28C1F2}"/>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7" name="テキスト ボックス 186">
            <a:extLst>
              <a:ext uri="{FF2B5EF4-FFF2-40B4-BE49-F238E27FC236}">
                <a16:creationId xmlns:a16="http://schemas.microsoft.com/office/drawing/2014/main" id="{51BEBC5F-1121-B8DC-54E2-DC8DC1020DB7}"/>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9" name="テキスト ボックス 188">
            <a:extLst>
              <a:ext uri="{FF2B5EF4-FFF2-40B4-BE49-F238E27FC236}">
                <a16:creationId xmlns:a16="http://schemas.microsoft.com/office/drawing/2014/main" id="{73338154-D562-06D1-6113-0A579EACBBE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91" name="テキスト ボックス 190">
            <a:extLst>
              <a:ext uri="{FF2B5EF4-FFF2-40B4-BE49-F238E27FC236}">
                <a16:creationId xmlns:a16="http://schemas.microsoft.com/office/drawing/2014/main" id="{429FE883-F81A-EC4E-0F0F-55845FDE0805}"/>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cs typeface="メイリオ"/>
              </a:rPr>
              <a:t>※</a:t>
            </a:r>
          </a:p>
        </p:txBody>
      </p:sp>
      <p:sp>
        <p:nvSpPr>
          <p:cNvPr id="15" name="テキスト ボックス 14">
            <a:extLst>
              <a:ext uri="{FF2B5EF4-FFF2-40B4-BE49-F238E27FC236}">
                <a16:creationId xmlns:a16="http://schemas.microsoft.com/office/drawing/2014/main" id="{D8447831-C297-CBA7-F3CA-5D43B36CC58C}"/>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17" name="テキスト ボックス 16">
            <a:extLst>
              <a:ext uri="{FF2B5EF4-FFF2-40B4-BE49-F238E27FC236}">
                <a16:creationId xmlns:a16="http://schemas.microsoft.com/office/drawing/2014/main" id="{37017496-6CD7-3CFD-646C-633B200B3E59}"/>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1D0E746B-15F9-EC55-3FD1-F7330033C14B}"/>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pic>
        <p:nvPicPr>
          <p:cNvPr id="6" name="図 5">
            <a:extLst>
              <a:ext uri="{FF2B5EF4-FFF2-40B4-BE49-F238E27FC236}">
                <a16:creationId xmlns:a16="http://schemas.microsoft.com/office/drawing/2014/main" id="{3446BF02-9F13-C513-57CD-571CF79F7E70}"/>
              </a:ext>
            </a:extLst>
          </p:cNvPr>
          <p:cNvPicPr>
            <a:picLocks noChangeAspect="1"/>
          </p:cNvPicPr>
          <p:nvPr/>
        </p:nvPicPr>
        <p:blipFill>
          <a:blip r:embed="rId4"/>
          <a:stretch>
            <a:fillRect/>
          </a:stretch>
        </p:blipFill>
        <p:spPr>
          <a:xfrm>
            <a:off x="495313" y="2013910"/>
            <a:ext cx="1589341" cy="3228091"/>
          </a:xfrm>
          <a:prstGeom prst="rect">
            <a:avLst/>
          </a:prstGeom>
        </p:spPr>
      </p:pic>
      <p:sp>
        <p:nvSpPr>
          <p:cNvPr id="8" name="テキスト ボックス 7">
            <a:extLst>
              <a:ext uri="{FF2B5EF4-FFF2-40B4-BE49-F238E27FC236}">
                <a16:creationId xmlns:a16="http://schemas.microsoft.com/office/drawing/2014/main" id="{BBD7CF6B-43AB-A34E-F20C-7D5A5292AEF4}"/>
              </a:ext>
            </a:extLst>
          </p:cNvPr>
          <p:cNvSpPr txBox="1"/>
          <p:nvPr/>
        </p:nvSpPr>
        <p:spPr>
          <a:xfrm>
            <a:off x="605520" y="806419"/>
            <a:ext cx="8797260" cy="461665"/>
          </a:xfrm>
          <a:prstGeom prst="rect">
            <a:avLst/>
          </a:prstGeom>
          <a:noFill/>
        </p:spPr>
        <p:txBody>
          <a:bodyPr wrap="square">
            <a:spAutoFit/>
          </a:bodyPr>
          <a:lstStyle/>
          <a:p>
            <a:pPr algn="ctr"/>
            <a:r>
              <a:rPr lang="en-US" altLang="ja-JP"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AD</a:t>
            </a:r>
            <a:r>
              <a:rPr lang="ja-JP" altLang="en-US"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で</a:t>
            </a:r>
            <a:r>
              <a:rPr lang="en-US" altLang="ja-JP"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3%</a:t>
            </a:r>
            <a:r>
              <a:rPr lang="ja-JP" altLang="en-US"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、通常で</a:t>
            </a:r>
            <a:r>
              <a:rPr lang="en-US" altLang="ja-JP"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0.7%</a:t>
            </a:r>
            <a:r>
              <a:rPr lang="ja-JP" altLang="en-US"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前後の体験申込</a:t>
            </a:r>
            <a:r>
              <a:rPr lang="en-US" altLang="ja-JP"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CVR</a:t>
            </a:r>
            <a:r>
              <a:rPr lang="ja-JP" altLang="en-US"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が参考数値、</a:t>
            </a:r>
            <a:endParaRPr lang="en-US" altLang="ja-JP"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endParaRPr>
          </a:p>
          <a:p>
            <a:pPr algn="ctr"/>
            <a:r>
              <a:rPr lang="ja-JP" altLang="en-US"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更に</a:t>
            </a:r>
            <a:r>
              <a:rPr lang="en-US" altLang="ja-JP"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LINE</a:t>
            </a:r>
            <a:r>
              <a:rPr lang="ja-JP" altLang="en-US" sz="12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施策を導入していくことで、</a:t>
            </a:r>
            <a:r>
              <a:rPr lang="ja-JP" altLang="en-US" sz="1200" b="1" dirty="0">
                <a:solidFill>
                  <a:srgbClr val="FF0000"/>
                </a:solidFill>
                <a:latin typeface="メイリオ" panose="020B0604030504040204" pitchFamily="34" charset="-128"/>
                <a:ea typeface="メイリオ" panose="020B0604030504040204" pitchFamily="34" charset="-128"/>
                <a:cs typeface="メイリオ"/>
              </a:rPr>
              <a:t>離脱アクションの削減 </a:t>
            </a:r>
            <a:r>
              <a:rPr lang="en-US" altLang="ja-JP" sz="1200" b="1" dirty="0">
                <a:solidFill>
                  <a:srgbClr val="FF0000"/>
                </a:solidFill>
                <a:latin typeface="メイリオ" panose="020B0604030504040204" pitchFamily="34" charset="-128"/>
                <a:ea typeface="メイリオ" panose="020B0604030504040204" pitchFamily="34" charset="-128"/>
                <a:cs typeface="メイリオ"/>
              </a:rPr>
              <a:t>/ </a:t>
            </a:r>
            <a:r>
              <a:rPr lang="ja-JP" altLang="en-US" sz="1200" b="1" dirty="0">
                <a:solidFill>
                  <a:srgbClr val="FF0000"/>
                </a:solidFill>
                <a:latin typeface="メイリオ" panose="020B0604030504040204" pitchFamily="34" charset="-128"/>
                <a:ea typeface="メイリオ" panose="020B0604030504040204" pitchFamily="34" charset="-128"/>
                <a:cs typeface="メイリオ"/>
              </a:rPr>
              <a:t>引上げの増加 を図る</a:t>
            </a:r>
            <a:endParaRPr lang="ja-JP" altLang="en-US" sz="1400" dirty="0">
              <a:latin typeface="メイリオ"/>
              <a:ea typeface="メイリオ"/>
              <a:cs typeface="メイリオ"/>
            </a:endParaRPr>
          </a:p>
        </p:txBody>
      </p:sp>
    </p:spTree>
    <p:extLst>
      <p:ext uri="{BB962C8B-B14F-4D97-AF65-F5344CB8AC3E}">
        <p14:creationId xmlns:p14="http://schemas.microsoft.com/office/powerpoint/2010/main" val="335005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r>
              <a:rPr lang="en-US" altLang="ja-JP" sz="1200" b="1" dirty="0">
                <a:solidFill>
                  <a:srgbClr val="002060"/>
                </a:solidFill>
                <a:latin typeface="メイリオ"/>
                <a:ea typeface="メイリオ"/>
                <a:cs typeface="メイリオ"/>
                <a:sym typeface="Meiryo"/>
              </a:rPr>
              <a:t>【</a:t>
            </a:r>
            <a:r>
              <a:rPr lang="ja-JP" altLang="en-US" sz="1200" b="1" dirty="0">
                <a:solidFill>
                  <a:srgbClr val="002060"/>
                </a:solidFill>
                <a:latin typeface="メイリオ"/>
                <a:ea typeface="メイリオ"/>
                <a:cs typeface="メイリオ"/>
                <a:sym typeface="Meiryo"/>
              </a:rPr>
              <a:t>共通 </a:t>
            </a:r>
            <a:r>
              <a:rPr lang="en-US" altLang="ja-JP" sz="1200" b="1" dirty="0">
                <a:solidFill>
                  <a:srgbClr val="002060"/>
                </a:solidFill>
                <a:latin typeface="メイリオ"/>
                <a:ea typeface="メイリオ"/>
                <a:cs typeface="メイリオ"/>
                <a:sym typeface="Meiryo"/>
              </a:rPr>
              <a:t>-</a:t>
            </a:r>
            <a:r>
              <a:rPr lang="ja-JP" altLang="en-US" sz="1200" b="1" dirty="0">
                <a:solidFill>
                  <a:srgbClr val="002060"/>
                </a:solidFill>
                <a:latin typeface="メイリオ"/>
                <a:ea typeface="メイリオ"/>
                <a:cs typeface="メイリオ"/>
                <a:sym typeface="Meiryo"/>
              </a:rPr>
              <a:t> 忍者ナイン チャイルドアイズ</a:t>
            </a:r>
            <a:r>
              <a:rPr lang="en-US" altLang="ja-JP" sz="1200" b="1" dirty="0">
                <a:solidFill>
                  <a:srgbClr val="002060"/>
                </a:solidFill>
                <a:latin typeface="メイリオ"/>
                <a:ea typeface="メイリオ"/>
                <a:cs typeface="メイリオ"/>
                <a:sym typeface="Meiryo"/>
              </a:rPr>
              <a:t> - 】</a:t>
            </a:r>
            <a:endParaRPr lang="en-US" altLang="ja-JP"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03689A4E-877A-1305-D91C-502200DDD5CA}"/>
              </a:ext>
            </a:extLst>
          </p:cNvPr>
          <p:cNvSpPr txBox="1"/>
          <p:nvPr/>
        </p:nvSpPr>
        <p:spPr>
          <a:xfrm>
            <a:off x="7408050" y="2633400"/>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⑧</a:t>
            </a:r>
            <a:r>
              <a:rPr lang="en-US" altLang="ja-JP" sz="1100" b="1" dirty="0">
                <a:latin typeface="メイリオ" panose="020B0604030504040204" pitchFamily="50" charset="-128"/>
                <a:ea typeface="メイリオ" panose="020B0604030504040204" pitchFamily="50" charset="-128"/>
                <a:cs typeface="メイリオ"/>
              </a:rPr>
              <a:t>LTV</a:t>
            </a:r>
            <a:r>
              <a:rPr lang="ja-JP" altLang="en-US" sz="1100" b="1" dirty="0">
                <a:latin typeface="メイリオ" panose="020B0604030504040204" pitchFamily="50" charset="-128"/>
                <a:ea typeface="メイリオ" panose="020B0604030504040204" pitchFamily="50" charset="-128"/>
                <a:cs typeface="メイリオ"/>
              </a:rPr>
              <a:t>最大化・紹介</a:t>
            </a:r>
            <a:endParaRPr lang="en-US" altLang="ja-JP" sz="1100" b="1" dirty="0">
              <a:latin typeface="メイリオ" panose="020B0604030504040204" pitchFamily="50" charset="-128"/>
              <a:ea typeface="メイリオ" panose="020B0604030504040204" pitchFamily="50" charset="-128"/>
              <a:cs typeface="メイリオ"/>
            </a:endParaRPr>
          </a:p>
          <a:p>
            <a:pPr>
              <a:buNone/>
            </a:pPr>
            <a:endParaRPr lang="ja-JP" altLang="ja-JP" sz="900" b="1"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6B79D75E-D645-6E3E-B433-8F68BE5185B7}"/>
              </a:ext>
            </a:extLst>
          </p:cNvPr>
          <p:cNvSpPr txBox="1"/>
          <p:nvPr/>
        </p:nvSpPr>
        <p:spPr>
          <a:xfrm>
            <a:off x="334303" y="2025747"/>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D26B3D93-E4B8-A140-7F64-AEE99515674C}"/>
              </a:ext>
            </a:extLst>
          </p:cNvPr>
          <p:cNvSpPr txBox="1"/>
          <p:nvPr/>
        </p:nvSpPr>
        <p:spPr>
          <a:xfrm>
            <a:off x="1268358" y="223640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② サイト離脱</a:t>
            </a:r>
            <a:r>
              <a:rPr lang="ja-JP" altLang="en-US" sz="1100" b="1" dirty="0">
                <a:latin typeface="メイリオ" panose="020B0604030504040204" pitchFamily="50" charset="-128"/>
                <a:ea typeface="メイリオ" panose="020B0604030504040204" pitchFamily="50" charset="-128"/>
                <a:cs typeface="メイリオ"/>
              </a:rPr>
              <a:t>（対策）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8" name="正方形/長方形 27">
            <a:extLst>
              <a:ext uri="{FF2B5EF4-FFF2-40B4-BE49-F238E27FC236}">
                <a16:creationId xmlns:a16="http://schemas.microsoft.com/office/drawing/2014/main" id="{985D0F3D-E958-2764-0030-33A43FBBB844}"/>
              </a:ext>
            </a:extLst>
          </p:cNvPr>
          <p:cNvSpPr/>
          <p:nvPr/>
        </p:nvSpPr>
        <p:spPr>
          <a:xfrm>
            <a:off x="334303" y="3184429"/>
            <a:ext cx="9425943" cy="266492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832206"/>
            <a:ext cx="2757865"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無料体験予約</a:t>
            </a:r>
            <a:endParaRPr lang="en-US" altLang="ja-JP"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4" name="テキスト ボックス 33">
            <a:extLst>
              <a:ext uri="{FF2B5EF4-FFF2-40B4-BE49-F238E27FC236}">
                <a16:creationId xmlns:a16="http://schemas.microsoft.com/office/drawing/2014/main" id="{6EF69A8A-6EFE-81B5-27C6-31715CCA0A13}"/>
              </a:ext>
            </a:extLst>
          </p:cNvPr>
          <p:cNvSpPr txBox="1"/>
          <p:nvPr/>
        </p:nvSpPr>
        <p:spPr>
          <a:xfrm>
            <a:off x="4830777" y="4178949"/>
            <a:ext cx="2352196"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来場</a:t>
            </a:r>
            <a:endParaRPr lang="en-US" altLang="ja-JP"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7" y="4526876"/>
            <a:ext cx="2352195" cy="276999"/>
          </a:xfrm>
          <a:prstGeom prst="rect">
            <a:avLst/>
          </a:prstGeom>
          <a:solidFill>
            <a:srgbClr val="FF0000"/>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入会（有料会員化）</a:t>
            </a:r>
            <a:endParaRPr lang="en-US" altLang="ja-JP"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6" y="3441166"/>
            <a:ext cx="2157994" cy="253916"/>
          </a:xfrm>
          <a:prstGeom prst="rect">
            <a:avLst/>
          </a:prstGeom>
          <a:noFill/>
        </p:spPr>
        <p:txBody>
          <a:bodyPr wrap="square">
            <a:spAutoFit/>
          </a:bodyPr>
          <a:lstStyle/>
          <a:p>
            <a:pPr algn="ctr"/>
            <a:r>
              <a:rPr lang="en-US" altLang="ja-JP" sz="1050" dirty="0">
                <a:latin typeface="メイリオ" panose="020B0604030504040204" pitchFamily="50" charset="-128"/>
                <a:ea typeface="メイリオ" panose="020B0604030504040204" pitchFamily="50" charset="-128"/>
                <a:cs typeface="メイリオ"/>
              </a:rPr>
              <a:t>&lt;</a:t>
            </a:r>
            <a:r>
              <a:rPr lang="ja-JP" altLang="en-US" sz="1050" dirty="0">
                <a:latin typeface="メイリオ" panose="020B0604030504040204" pitchFamily="50" charset="-128"/>
                <a:ea typeface="メイリオ" panose="020B0604030504040204" pitchFamily="50" charset="-128"/>
                <a:cs typeface="メイリオ"/>
              </a:rPr>
              <a:t>貴社のユーザー動線イメージ</a:t>
            </a:r>
            <a:r>
              <a:rPr lang="en-US" altLang="ja-JP" sz="1050" dirty="0">
                <a:latin typeface="メイリオ" panose="020B0604030504040204" pitchFamily="50" charset="-128"/>
                <a:ea typeface="メイリオ" panose="020B0604030504040204" pitchFamily="50" charset="-128"/>
                <a:cs typeface="メイリオ"/>
              </a:rPr>
              <a:t>&gt;</a:t>
            </a:r>
            <a:endParaRPr lang="ja-JP" altLang="en-US" sz="105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5D74B0A9-936D-80CB-D756-D20982A19D5A}"/>
              </a:ext>
            </a:extLst>
          </p:cNvPr>
          <p:cNvSpPr txBox="1"/>
          <p:nvPr/>
        </p:nvSpPr>
        <p:spPr>
          <a:xfrm>
            <a:off x="605949" y="768699"/>
            <a:ext cx="8797260" cy="523220"/>
          </a:xfrm>
          <a:prstGeom prst="rect">
            <a:avLst/>
          </a:prstGeom>
          <a:noFill/>
        </p:spPr>
        <p:txBody>
          <a:bodyPr wrap="square">
            <a:spAutoFit/>
          </a:bodyPr>
          <a:lstStyle/>
          <a:p>
            <a:pPr algn="ctr"/>
            <a:r>
              <a:rPr lang="ja-JP" altLang="en-US" sz="14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入会数の拡大にあたっては</a:t>
            </a: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①無料体験予約の最大化</a:t>
            </a:r>
            <a:r>
              <a:rPr lang="ja-JP" altLang="en-US" sz="14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を行うことが重要</a:t>
            </a:r>
            <a:endParaRPr lang="en-US" altLang="ja-JP" sz="1400" dirty="0">
              <a:solidFill>
                <a:schemeClr val="tx1">
                  <a:lumMod val="50000"/>
                  <a:lumOff val="50000"/>
                </a:schemeClr>
              </a:solidFill>
              <a:latin typeface="メイリオ" panose="020B0604030504040204" pitchFamily="34" charset="-128"/>
              <a:ea typeface="メイリオ" panose="020B0604030504040204" pitchFamily="34" charset="-128"/>
              <a:cs typeface="メイリオ"/>
            </a:endParaRPr>
          </a:p>
          <a:p>
            <a:pPr algn="ctr"/>
            <a:r>
              <a:rPr lang="ja-JP" altLang="en-US" sz="14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また</a:t>
            </a: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②来場及び入会への誘導強化（有効率の改善）</a:t>
            </a:r>
            <a:r>
              <a:rPr lang="ja-JP" altLang="en-US" sz="14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を行う必要もある</a:t>
            </a:r>
            <a:endParaRPr lang="en-US" altLang="ja-JP" sz="1400" dirty="0">
              <a:solidFill>
                <a:schemeClr val="tx1">
                  <a:lumMod val="50000"/>
                  <a:lumOff val="50000"/>
                </a:schemeClr>
              </a:solidFill>
              <a:latin typeface="メイリオ" panose="020B0604030504040204" pitchFamily="34" charset="-128"/>
              <a:ea typeface="メイリオ" panose="020B0604030504040204" pitchFamily="34" charset="-128"/>
              <a:cs typeface="メイリオ"/>
            </a:endParaRPr>
          </a:p>
        </p:txBody>
      </p:sp>
      <p:sp>
        <p:nvSpPr>
          <p:cNvPr id="23" name="テキスト ボックス 22">
            <a:extLst>
              <a:ext uri="{FF2B5EF4-FFF2-40B4-BE49-F238E27FC236}">
                <a16:creationId xmlns:a16="http://schemas.microsoft.com/office/drawing/2014/main" id="{5F1C16D1-2056-4E4E-4E76-CCFC2471EFC6}"/>
              </a:ext>
            </a:extLst>
          </p:cNvPr>
          <p:cNvSpPr txBox="1"/>
          <p:nvPr/>
        </p:nvSpPr>
        <p:spPr>
          <a:xfrm>
            <a:off x="7408051" y="4873981"/>
            <a:ext cx="2352195" cy="276999"/>
          </a:xfrm>
          <a:prstGeom prst="rect">
            <a:avLst/>
          </a:prstGeom>
          <a:solidFill>
            <a:schemeClr val="tx1">
              <a:lumMod val="50000"/>
              <a:lumOff val="50000"/>
            </a:schemeClr>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継続</a:t>
            </a:r>
            <a:endParaRPr lang="en-US" altLang="ja-JP"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E0409053-B1D2-9FAA-482E-614CCD2E8297}"/>
              </a:ext>
            </a:extLst>
          </p:cNvPr>
          <p:cNvSpPr txBox="1"/>
          <p:nvPr/>
        </p:nvSpPr>
        <p:spPr>
          <a:xfrm>
            <a:off x="7408050" y="5216548"/>
            <a:ext cx="2352195" cy="276999"/>
          </a:xfrm>
          <a:prstGeom prst="rect">
            <a:avLst/>
          </a:prstGeom>
          <a:solidFill>
            <a:schemeClr val="tx1">
              <a:lumMod val="50000"/>
              <a:lumOff val="50000"/>
            </a:schemeClr>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a:t>
            </a:r>
            <a:r>
              <a:rPr lang="ja-JP" altLang="en-US" sz="1200" dirty="0">
                <a:solidFill>
                  <a:schemeClr val="bg1"/>
                </a:solidFill>
                <a:latin typeface="メイリオ" panose="020B0604030504040204" pitchFamily="50" charset="-128"/>
                <a:ea typeface="メイリオ" panose="020B0604030504040204" pitchFamily="50" charset="-128"/>
                <a:cs typeface="メイリオ"/>
              </a:rPr>
              <a:t>他サービスの紹介</a:t>
            </a:r>
            <a:r>
              <a:rPr lang="en-US" altLang="ja-JP" sz="1200" dirty="0">
                <a:solidFill>
                  <a:schemeClr val="bg1"/>
                </a:solidFill>
                <a:latin typeface="メイリオ" panose="020B0604030504040204" pitchFamily="50" charset="-128"/>
                <a:ea typeface="メイリオ" panose="020B0604030504040204" pitchFamily="50" charset="-128"/>
                <a:cs typeface="メイリオ"/>
              </a:rPr>
              <a:t>)</a:t>
            </a:r>
          </a:p>
        </p:txBody>
      </p:sp>
      <p:cxnSp>
        <p:nvCxnSpPr>
          <p:cNvPr id="22" name="コネクタ: カギ線 21">
            <a:extLst>
              <a:ext uri="{FF2B5EF4-FFF2-40B4-BE49-F238E27FC236}">
                <a16:creationId xmlns:a16="http://schemas.microsoft.com/office/drawing/2014/main" id="{4CF79249-8FFF-EDBE-79D1-696A739C3207}"/>
              </a:ext>
            </a:extLst>
          </p:cNvPr>
          <p:cNvCxnSpPr>
            <a:cxnSpLocks/>
            <a:stCxn id="32" idx="2"/>
            <a:endCxn id="34" idx="1"/>
          </p:cNvCxnSpPr>
          <p:nvPr/>
        </p:nvCxnSpPr>
        <p:spPr>
          <a:xfrm rot="16200000" flipH="1">
            <a:off x="4568968" y="4055640"/>
            <a:ext cx="208244" cy="315374"/>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CBA42435-77B9-8F10-5F69-E8B6EB26472C}"/>
              </a:ext>
            </a:extLst>
          </p:cNvPr>
          <p:cNvCxnSpPr>
            <a:cxnSpLocks/>
            <a:stCxn id="34" idx="2"/>
            <a:endCxn id="36" idx="1"/>
          </p:cNvCxnSpPr>
          <p:nvPr/>
        </p:nvCxnSpPr>
        <p:spPr>
          <a:xfrm rot="16200000" flipH="1">
            <a:off x="5958432" y="4504391"/>
            <a:ext cx="209428" cy="112542"/>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a16:creationId xmlns:a16="http://schemas.microsoft.com/office/drawing/2014/main" id="{3C1D6754-7C46-5825-A516-18CBAE22FDE9}"/>
              </a:ext>
            </a:extLst>
          </p:cNvPr>
          <p:cNvSpPr txBox="1"/>
          <p:nvPr/>
        </p:nvSpPr>
        <p:spPr>
          <a:xfrm>
            <a:off x="328349" y="382737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（広告・</a:t>
            </a:r>
            <a:r>
              <a:rPr lang="en-US" altLang="ja-JP" sz="1100" b="1" dirty="0">
                <a:latin typeface="メイリオ" panose="020B0604030504040204" pitchFamily="50" charset="-128"/>
                <a:ea typeface="メイリオ" panose="020B0604030504040204" pitchFamily="50" charset="-128"/>
                <a:cs typeface="メイリオ"/>
              </a:rPr>
              <a:t>SEO</a:t>
            </a:r>
            <a:r>
              <a:rPr lang="ja-JP" altLang="en-US" sz="11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43" name="テキスト ボックス 42">
            <a:extLst>
              <a:ext uri="{FF2B5EF4-FFF2-40B4-BE49-F238E27FC236}">
                <a16:creationId xmlns:a16="http://schemas.microsoft.com/office/drawing/2014/main" id="{567FE63D-B0BB-1B5F-664B-09DD6B6984F7}"/>
              </a:ext>
            </a:extLst>
          </p:cNvPr>
          <p:cNvSpPr txBox="1"/>
          <p:nvPr/>
        </p:nvSpPr>
        <p:spPr>
          <a:xfrm>
            <a:off x="328348" y="412694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貴社他サービスからの紹介</a:t>
            </a:r>
            <a:endParaRPr lang="ja-JP" altLang="ja-JP" sz="1100" b="1" dirty="0">
              <a:latin typeface="メイリオ" panose="020B0604030504040204" pitchFamily="50" charset="-128"/>
              <a:ea typeface="メイリオ" panose="020B0604030504040204" pitchFamily="50" charset="-128"/>
              <a:cs typeface="メイリオ"/>
            </a:endParaRPr>
          </a:p>
        </p:txBody>
      </p:sp>
      <p:cxnSp>
        <p:nvCxnSpPr>
          <p:cNvPr id="44" name="コネクタ: カギ線 43">
            <a:extLst>
              <a:ext uri="{FF2B5EF4-FFF2-40B4-BE49-F238E27FC236}">
                <a16:creationId xmlns:a16="http://schemas.microsoft.com/office/drawing/2014/main" id="{49EFBAB0-BCDF-630C-31F0-B7E739627F12}"/>
              </a:ext>
            </a:extLst>
          </p:cNvPr>
          <p:cNvCxnSpPr>
            <a:cxnSpLocks/>
            <a:stCxn id="39" idx="3"/>
            <a:endCxn id="32" idx="1"/>
          </p:cNvCxnSpPr>
          <p:nvPr/>
        </p:nvCxnSpPr>
        <p:spPr>
          <a:xfrm>
            <a:off x="2196460" y="3958178"/>
            <a:ext cx="940010" cy="12528"/>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D1AA445-8212-7660-79B6-1F56575E958B}"/>
              </a:ext>
            </a:extLst>
          </p:cNvPr>
          <p:cNvCxnSpPr>
            <a:cxnSpLocks/>
            <a:stCxn id="43" idx="3"/>
            <a:endCxn id="32" idx="1"/>
          </p:cNvCxnSpPr>
          <p:nvPr/>
        </p:nvCxnSpPr>
        <p:spPr>
          <a:xfrm flipV="1">
            <a:off x="2196459" y="3970706"/>
            <a:ext cx="940011" cy="287042"/>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3D5EBB5F-0314-5C1C-6914-43812C697BBA}"/>
              </a:ext>
            </a:extLst>
          </p:cNvPr>
          <p:cNvSpPr txBox="1"/>
          <p:nvPr/>
        </p:nvSpPr>
        <p:spPr>
          <a:xfrm>
            <a:off x="2397925" y="3832206"/>
            <a:ext cx="538152" cy="338554"/>
          </a:xfrm>
          <a:prstGeom prst="rect">
            <a:avLst/>
          </a:prstGeom>
          <a:solidFill>
            <a:schemeClr val="accent1">
              <a:lumMod val="40000"/>
              <a:lumOff val="60000"/>
            </a:schemeClr>
          </a:solidFill>
        </p:spPr>
        <p:txBody>
          <a:bodyPr wrap="square">
            <a:spAutoFit/>
          </a:bodyPr>
          <a:lstStyle/>
          <a:p>
            <a:pPr algn="ctr"/>
            <a:r>
              <a:rPr lang="ja-JP" altLang="en-US" sz="800" dirty="0">
                <a:solidFill>
                  <a:schemeClr val="bg1"/>
                </a:solidFill>
                <a:latin typeface="メイリオ" panose="020B0604030504040204" pitchFamily="50" charset="-128"/>
                <a:ea typeface="メイリオ" panose="020B0604030504040204" pitchFamily="50" charset="-128"/>
                <a:cs typeface="メイリオ"/>
              </a:rPr>
              <a:t>電話</a:t>
            </a:r>
            <a:endParaRPr lang="en-US" altLang="ja-JP" sz="800" dirty="0">
              <a:solidFill>
                <a:schemeClr val="bg1"/>
              </a:solidFill>
              <a:latin typeface="メイリオ" panose="020B0604030504040204" pitchFamily="50" charset="-128"/>
              <a:ea typeface="メイリオ" panose="020B0604030504040204" pitchFamily="50" charset="-128"/>
              <a:cs typeface="メイリオ"/>
            </a:endParaRPr>
          </a:p>
          <a:p>
            <a:pPr algn="ctr"/>
            <a:r>
              <a:rPr lang="en-US" altLang="ja-JP" sz="800" dirty="0">
                <a:solidFill>
                  <a:schemeClr val="bg1"/>
                </a:solidFill>
                <a:latin typeface="メイリオ" panose="020B0604030504040204" pitchFamily="50" charset="-128"/>
                <a:ea typeface="メイリオ" panose="020B0604030504040204" pitchFamily="50" charset="-128"/>
                <a:cs typeface="メイリオ"/>
              </a:rPr>
              <a:t>WEB</a:t>
            </a: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72000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242000"/>
            <a:ext cx="8805672" cy="553998"/>
          </a:xfrm>
          <a:prstGeom prst="rect">
            <a:avLst/>
          </a:prstGeom>
          <a:noFill/>
        </p:spPr>
        <p:txBody>
          <a:bodyPr wrap="square">
            <a:spAutoFit/>
          </a:bodyPr>
          <a:lstStyle/>
          <a:p>
            <a:pPr algn="ctr"/>
            <a:r>
              <a:rPr sz="3000" b="1" dirty="0" err="1">
                <a:solidFill>
                  <a:srgbClr val="BF4E0E"/>
                </a:solidFill>
                <a:latin typeface="メイリオ"/>
                <a:ea typeface="メイリオ"/>
                <a:cs typeface="メイリオ"/>
              </a:rPr>
              <a:t>LINEは、CVの先まで追いきれる</a:t>
            </a:r>
            <a:r>
              <a:rPr lang="ja-JP" altLang="en-US" sz="3000" b="1" dirty="0">
                <a:solidFill>
                  <a:srgbClr val="BF4E0E"/>
                </a:solidFill>
                <a:latin typeface="メイリオ"/>
                <a:ea typeface="メイリオ"/>
                <a:cs typeface="メイリオ"/>
              </a:rPr>
              <a:t>。</a:t>
            </a:r>
            <a:endParaRPr sz="3000" b="1" dirty="0">
              <a:solidFill>
                <a:srgbClr val="BF4E0E"/>
              </a:solidFill>
              <a:latin typeface="メイリオ"/>
              <a:ea typeface="メイリオ"/>
              <a:cs typeface="メイリオ"/>
            </a:endParaRPr>
          </a:p>
        </p:txBody>
      </p:sp>
      <p:sp>
        <p:nvSpPr>
          <p:cNvPr id="5" name="TextBox 4"/>
          <p:cNvSpPr txBox="1"/>
          <p:nvPr/>
        </p:nvSpPr>
        <p:spPr>
          <a:xfrm>
            <a:off x="548640" y="1908000"/>
            <a:ext cx="8805672" cy="523220"/>
          </a:xfrm>
          <a:prstGeom prst="rect">
            <a:avLst/>
          </a:prstGeom>
          <a:noFill/>
        </p:spPr>
        <p:txBody>
          <a:bodyPr wrap="square">
            <a:spAutoFit/>
          </a:bodyPr>
          <a:lstStyle/>
          <a:p>
            <a:pPr algn="ctr"/>
            <a:r>
              <a:rPr sz="1400" b="0" dirty="0" err="1">
                <a:solidFill>
                  <a:srgbClr val="333333"/>
                </a:solidFill>
                <a:latin typeface="メイリオ"/>
                <a:ea typeface="メイリオ"/>
                <a:cs typeface="メイリオ"/>
              </a:rPr>
              <a:t>一度つながれば、接点を持ち続けられる。情報を渡し続けられる。</a:t>
            </a:r>
          </a:p>
          <a:p>
            <a:pPr algn="ctr"/>
            <a:r>
              <a:rPr sz="1400" b="0" dirty="0" err="1">
                <a:solidFill>
                  <a:srgbClr val="333333"/>
                </a:solidFill>
                <a:latin typeface="メイリオ"/>
                <a:ea typeface="メイリオ"/>
                <a:cs typeface="メイリオ"/>
              </a:rPr>
              <a:t>体験予約で終わらず、来場</a:t>
            </a:r>
            <a:r>
              <a:rPr sz="1400" b="0" dirty="0">
                <a:solidFill>
                  <a:srgbClr val="333333"/>
                </a:solidFill>
                <a:latin typeface="メイリオ"/>
                <a:ea typeface="メイリオ"/>
                <a:cs typeface="メイリオ"/>
              </a:rPr>
              <a:t> → </a:t>
            </a:r>
            <a:r>
              <a:rPr sz="1400" b="0" dirty="0" err="1">
                <a:solidFill>
                  <a:srgbClr val="333333"/>
                </a:solidFill>
                <a:latin typeface="メイリオ"/>
                <a:ea typeface="メイリオ"/>
                <a:cs typeface="メイリオ"/>
              </a:rPr>
              <a:t>入会</a:t>
            </a:r>
            <a:r>
              <a:rPr sz="1400" b="0" dirty="0">
                <a:solidFill>
                  <a:srgbClr val="333333"/>
                </a:solidFill>
                <a:latin typeface="メイリオ"/>
                <a:ea typeface="メイリオ"/>
                <a:cs typeface="メイリオ"/>
              </a:rPr>
              <a:t> → </a:t>
            </a:r>
            <a:r>
              <a:rPr sz="1400" b="0" dirty="0" err="1">
                <a:solidFill>
                  <a:srgbClr val="333333"/>
                </a:solidFill>
                <a:latin typeface="メイリオ"/>
                <a:ea typeface="メイリオ"/>
                <a:cs typeface="メイリオ"/>
              </a:rPr>
              <a:t>継続まで並走できる</a:t>
            </a:r>
            <a:r>
              <a:rPr sz="1400" b="0" dirty="0">
                <a:solidFill>
                  <a:srgbClr val="333333"/>
                </a:solidFill>
                <a:latin typeface="メイリオ"/>
                <a:ea typeface="メイリオ"/>
                <a:cs typeface="メイリオ"/>
              </a:rPr>
              <a:t>——</a:t>
            </a:r>
            <a:r>
              <a:rPr sz="1400" b="0" dirty="0" err="1">
                <a:solidFill>
                  <a:srgbClr val="333333"/>
                </a:solidFill>
                <a:latin typeface="メイリオ"/>
                <a:ea typeface="メイリオ"/>
                <a:cs typeface="メイリオ"/>
              </a:rPr>
              <a:t>これがLINE最大の魅力</a:t>
            </a:r>
            <a:endParaRPr sz="1400" b="0" dirty="0">
              <a:solidFill>
                <a:srgbClr val="333333"/>
              </a:solidFill>
              <a:latin typeface="メイリオ"/>
              <a:ea typeface="メイリオ"/>
              <a:cs typeface="メイリオ"/>
            </a:endParaRPr>
          </a:p>
        </p:txBody>
      </p:sp>
      <p:sp>
        <p:nvSpPr>
          <p:cNvPr id="6" name="TextBox 5"/>
          <p:cNvSpPr txBox="1"/>
          <p:nvPr/>
        </p:nvSpPr>
        <p:spPr>
          <a:xfrm>
            <a:off x="251999" y="2690640"/>
            <a:ext cx="1278000" cy="365760"/>
          </a:xfrm>
          <a:prstGeom prst="rect">
            <a:avLst/>
          </a:prstGeom>
          <a:noFill/>
        </p:spPr>
        <p:txBody>
          <a:bodyPr wrap="square">
            <a:spAutoFit/>
          </a:bodyPr>
          <a:lstStyle/>
          <a:p>
            <a:pPr algn="l"/>
            <a:r>
              <a:rPr sz="1100" b="1">
                <a:solidFill>
                  <a:srgbClr val="333333"/>
                </a:solidFill>
                <a:latin typeface="メイリオ"/>
                <a:ea typeface="メイリオ"/>
                <a:cs typeface="メイリオ"/>
              </a:rPr>
              <a:t>広告・</a:t>
            </a:r>
          </a:p>
          <a:p>
            <a:pPr algn="l"/>
            <a:r>
              <a:rPr sz="1100" b="1">
                <a:solidFill>
                  <a:srgbClr val="333333"/>
                </a:solidFill>
                <a:latin typeface="メイリオ"/>
                <a:ea typeface="メイリオ"/>
                <a:cs typeface="メイリオ"/>
              </a:rPr>
              <a:t>アフィリエイト</a:t>
            </a:r>
          </a:p>
        </p:txBody>
      </p:sp>
      <p:sp>
        <p:nvSpPr>
          <p:cNvPr id="7" name="Rounded Rectangle 6"/>
          <p:cNvSpPr/>
          <p:nvPr/>
        </p:nvSpPr>
        <p:spPr>
          <a:xfrm>
            <a:off x="1554480" y="2644920"/>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333333"/>
                </a:solidFill>
                <a:latin typeface="メイリオ"/>
                <a:ea typeface="メイリオ"/>
                <a:cs typeface="メイリオ"/>
              </a:rPr>
              <a:t>接触</a:t>
            </a:r>
          </a:p>
        </p:txBody>
      </p:sp>
      <p:sp>
        <p:nvSpPr>
          <p:cNvPr id="8" name="TextBox 7"/>
          <p:cNvSpPr txBox="1"/>
          <p:nvPr/>
        </p:nvSpPr>
        <p:spPr>
          <a:xfrm>
            <a:off x="2907792" y="271807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9" name="Rounded Rectangle 8"/>
          <p:cNvSpPr/>
          <p:nvPr/>
        </p:nvSpPr>
        <p:spPr>
          <a:xfrm>
            <a:off x="3218688" y="2644920"/>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333333"/>
                </a:solidFill>
                <a:latin typeface="メイリオ"/>
                <a:ea typeface="メイリオ"/>
                <a:cs typeface="メイリオ"/>
              </a:rPr>
              <a:t>体験予約（CV）</a:t>
            </a:r>
          </a:p>
        </p:txBody>
      </p:sp>
      <p:sp>
        <p:nvSpPr>
          <p:cNvPr id="10" name="TextBox 9"/>
          <p:cNvSpPr txBox="1"/>
          <p:nvPr/>
        </p:nvSpPr>
        <p:spPr>
          <a:xfrm>
            <a:off x="5166360" y="2708928"/>
            <a:ext cx="3108960" cy="307777"/>
          </a:xfrm>
          <a:prstGeom prst="rect">
            <a:avLst/>
          </a:prstGeom>
          <a:noFill/>
        </p:spPr>
        <p:txBody>
          <a:bodyPr wrap="square">
            <a:spAutoFit/>
          </a:bodyPr>
          <a:lstStyle/>
          <a:p>
            <a:pPr algn="l"/>
            <a:r>
              <a:rPr sz="1400" b="1">
                <a:solidFill>
                  <a:srgbClr val="C00000"/>
                </a:solidFill>
                <a:latin typeface="メイリオ"/>
                <a:ea typeface="メイリオ"/>
                <a:cs typeface="メイリオ"/>
              </a:rPr>
              <a:t>✕ ここで接点が途切れる</a:t>
            </a:r>
          </a:p>
        </p:txBody>
      </p:sp>
      <p:sp>
        <p:nvSpPr>
          <p:cNvPr id="11" name="TextBox 10"/>
          <p:cNvSpPr txBox="1"/>
          <p:nvPr/>
        </p:nvSpPr>
        <p:spPr>
          <a:xfrm>
            <a:off x="640080" y="3412080"/>
            <a:ext cx="822960" cy="365760"/>
          </a:xfrm>
          <a:prstGeom prst="rect">
            <a:avLst/>
          </a:prstGeom>
          <a:noFill/>
        </p:spPr>
        <p:txBody>
          <a:bodyPr wrap="square">
            <a:spAutoFit/>
          </a:bodyPr>
          <a:lstStyle/>
          <a:p>
            <a:pPr algn="l"/>
            <a:r>
              <a:rPr sz="1400" b="1">
                <a:solidFill>
                  <a:srgbClr val="1F285A"/>
                </a:solidFill>
                <a:latin typeface="メイリオ"/>
                <a:ea typeface="メイリオ"/>
                <a:cs typeface="メイリオ"/>
              </a:rPr>
              <a:t>LINE</a:t>
            </a:r>
          </a:p>
        </p:txBody>
      </p:sp>
      <p:sp>
        <p:nvSpPr>
          <p:cNvPr id="12" name="Rounded Rectangle 11"/>
          <p:cNvSpPr/>
          <p:nvPr/>
        </p:nvSpPr>
        <p:spPr>
          <a:xfrm>
            <a:off x="1554480" y="3366360"/>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接触</a:t>
            </a:r>
          </a:p>
        </p:txBody>
      </p:sp>
      <p:sp>
        <p:nvSpPr>
          <p:cNvPr id="13" name="TextBox 12"/>
          <p:cNvSpPr txBox="1"/>
          <p:nvPr/>
        </p:nvSpPr>
        <p:spPr>
          <a:xfrm>
            <a:off x="2907792"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4" name="Rounded Rectangle 13"/>
          <p:cNvSpPr/>
          <p:nvPr/>
        </p:nvSpPr>
        <p:spPr>
          <a:xfrm>
            <a:off x="3218688" y="3366360"/>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体験予約（CV）</a:t>
            </a:r>
          </a:p>
        </p:txBody>
      </p:sp>
      <p:sp>
        <p:nvSpPr>
          <p:cNvPr id="15" name="TextBox 14"/>
          <p:cNvSpPr txBox="1"/>
          <p:nvPr/>
        </p:nvSpPr>
        <p:spPr>
          <a:xfrm>
            <a:off x="4983480"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6" name="Rounded Rectangle 15"/>
          <p:cNvSpPr/>
          <p:nvPr/>
        </p:nvSpPr>
        <p:spPr>
          <a:xfrm>
            <a:off x="5294376" y="3366360"/>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来場</a:t>
            </a:r>
          </a:p>
        </p:txBody>
      </p:sp>
      <p:sp>
        <p:nvSpPr>
          <p:cNvPr id="17" name="TextBox 16"/>
          <p:cNvSpPr txBox="1"/>
          <p:nvPr/>
        </p:nvSpPr>
        <p:spPr>
          <a:xfrm>
            <a:off x="6419088"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8" name="Rounded Rectangle 17"/>
          <p:cNvSpPr/>
          <p:nvPr/>
        </p:nvSpPr>
        <p:spPr>
          <a:xfrm>
            <a:off x="6729984" y="3366360"/>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FFFFFF"/>
                </a:solidFill>
                <a:latin typeface="メイリオ"/>
                <a:ea typeface="メイリオ"/>
                <a:cs typeface="メイリオ"/>
              </a:rPr>
              <a:t>入会</a:t>
            </a:r>
          </a:p>
        </p:txBody>
      </p:sp>
      <p:sp>
        <p:nvSpPr>
          <p:cNvPr id="19" name="TextBox 18"/>
          <p:cNvSpPr txBox="1"/>
          <p:nvPr/>
        </p:nvSpPr>
        <p:spPr>
          <a:xfrm>
            <a:off x="7854696"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20" name="Rounded Rectangle 19"/>
          <p:cNvSpPr/>
          <p:nvPr/>
        </p:nvSpPr>
        <p:spPr>
          <a:xfrm>
            <a:off x="8165592" y="3366360"/>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継続・紹介</a:t>
            </a:r>
          </a:p>
        </p:txBody>
      </p:sp>
      <p:sp>
        <p:nvSpPr>
          <p:cNvPr id="21" name="Rounded Rectangle 20"/>
          <p:cNvSpPr/>
          <p:nvPr/>
        </p:nvSpPr>
        <p:spPr>
          <a:xfrm>
            <a:off x="1555200" y="4050000"/>
            <a:ext cx="3401999" cy="846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1600" rIns="72000" bIns="21600" rtlCol="0" anchor="ctr"/>
          <a:lstStyle/>
          <a:p>
            <a:pPr algn="ctr">
              <a:spcAft>
                <a:spcPts val="300"/>
              </a:spcAft>
            </a:pPr>
            <a:r>
              <a:rPr sz="1400" b="1" dirty="0">
                <a:solidFill>
                  <a:srgbClr val="1F285A"/>
                </a:solidFill>
                <a:latin typeface="メイリオ"/>
                <a:ea typeface="メイリオ"/>
                <a:cs typeface="メイリオ"/>
              </a:rPr>
              <a:t>① </a:t>
            </a:r>
            <a:r>
              <a:rPr sz="1400" b="1" dirty="0" err="1">
                <a:solidFill>
                  <a:srgbClr val="1F285A"/>
                </a:solidFill>
                <a:latin typeface="メイリオ"/>
                <a:ea typeface="メイリオ"/>
                <a:cs typeface="メイリオ"/>
              </a:rPr>
              <a:t>CPAの改善</a:t>
            </a:r>
            <a:endParaRPr sz="1400" b="1" dirty="0">
              <a:solidFill>
                <a:srgbClr val="1F285A"/>
              </a:solidFill>
              <a:latin typeface="メイリオ"/>
              <a:ea typeface="メイリオ"/>
              <a:cs typeface="メイリオ"/>
            </a:endParaRPr>
          </a:p>
          <a:p>
            <a:pPr algn="ctr">
              <a:lnSpc>
                <a:spcPct val="120000"/>
              </a:lnSpc>
            </a:pPr>
            <a:r>
              <a:rPr sz="1150" dirty="0" err="1">
                <a:solidFill>
                  <a:srgbClr val="333333"/>
                </a:solidFill>
                <a:latin typeface="メイリオ"/>
                <a:ea typeface="メイリオ"/>
                <a:cs typeface="メイリオ"/>
              </a:rPr>
              <a:t>LPで離脱した</a:t>
            </a:r>
            <a:r>
              <a:rPr lang="ja-JP" altLang="en-US" sz="1150" dirty="0">
                <a:solidFill>
                  <a:srgbClr val="333333"/>
                </a:solidFill>
                <a:latin typeface="メイリオ"/>
                <a:ea typeface="メイリオ"/>
                <a:cs typeface="メイリオ"/>
              </a:rPr>
              <a:t>層</a:t>
            </a:r>
            <a:r>
              <a:rPr sz="1150" dirty="0" err="1">
                <a:solidFill>
                  <a:srgbClr val="333333"/>
                </a:solidFill>
                <a:latin typeface="メイリオ"/>
                <a:ea typeface="メイリオ"/>
                <a:cs typeface="メイリオ"/>
              </a:rPr>
              <a:t>をLINEで回収し</a:t>
            </a:r>
            <a:r>
              <a:rPr sz="1150" dirty="0">
                <a:solidFill>
                  <a:srgbClr val="333333"/>
                </a:solidFill>
                <a:latin typeface="メイリオ"/>
                <a:ea typeface="メイリオ"/>
                <a:cs typeface="メイリオ"/>
              </a:rPr>
              <a:t>、</a:t>
            </a:r>
          </a:p>
          <a:p>
            <a:pPr algn="ctr">
              <a:lnSpc>
                <a:spcPct val="120000"/>
              </a:lnSpc>
            </a:pPr>
            <a:r>
              <a:rPr sz="1150" dirty="0" err="1">
                <a:solidFill>
                  <a:srgbClr val="333333"/>
                </a:solidFill>
                <a:latin typeface="メイリオ"/>
                <a:ea typeface="メイリオ"/>
                <a:cs typeface="メイリオ"/>
              </a:rPr>
              <a:t>同じ広告費で体験予約を増やす</a:t>
            </a:r>
            <a:endParaRPr sz="1150" dirty="0">
              <a:solidFill>
                <a:srgbClr val="333333"/>
              </a:solidFill>
              <a:latin typeface="メイリオ"/>
              <a:ea typeface="メイリオ"/>
              <a:cs typeface="メイリオ"/>
            </a:endParaRPr>
          </a:p>
        </p:txBody>
      </p:sp>
      <p:sp>
        <p:nvSpPr>
          <p:cNvPr id="22" name="Rounded Rectangle 21"/>
          <p:cNvSpPr/>
          <p:nvPr/>
        </p:nvSpPr>
        <p:spPr>
          <a:xfrm>
            <a:off x="5166000" y="4050000"/>
            <a:ext cx="4233600" cy="846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1600" rIns="72000" bIns="21600" rtlCol="0" anchor="ctr"/>
          <a:lstStyle/>
          <a:p>
            <a:pPr algn="ctr">
              <a:spcAft>
                <a:spcPts val="300"/>
              </a:spcAft>
            </a:pPr>
            <a:r>
              <a:rPr sz="1400" b="1" dirty="0">
                <a:solidFill>
                  <a:srgbClr val="1F285A"/>
                </a:solidFill>
                <a:latin typeface="メイリオ"/>
                <a:ea typeface="メイリオ"/>
                <a:cs typeface="メイリオ"/>
              </a:rPr>
              <a:t>② </a:t>
            </a:r>
            <a:r>
              <a:rPr sz="1400" b="1" dirty="0" err="1">
                <a:solidFill>
                  <a:srgbClr val="1F285A"/>
                </a:solidFill>
                <a:latin typeface="メイリオ"/>
                <a:ea typeface="メイリオ"/>
                <a:cs typeface="メイリオ"/>
              </a:rPr>
              <a:t>CPOの改善</a:t>
            </a:r>
            <a:endParaRPr sz="1400" b="1" dirty="0">
              <a:solidFill>
                <a:srgbClr val="1F285A"/>
              </a:solidFill>
              <a:latin typeface="メイリオ"/>
              <a:ea typeface="メイリオ"/>
              <a:cs typeface="メイリオ"/>
            </a:endParaRPr>
          </a:p>
          <a:p>
            <a:pPr algn="ctr">
              <a:lnSpc>
                <a:spcPct val="120000"/>
              </a:lnSpc>
            </a:pPr>
            <a:r>
              <a:rPr sz="1150" dirty="0" err="1">
                <a:solidFill>
                  <a:srgbClr val="333333"/>
                </a:solidFill>
                <a:latin typeface="メイリオ"/>
                <a:ea typeface="メイリオ"/>
                <a:cs typeface="メイリオ"/>
              </a:rPr>
              <a:t>体験予約から来場・入会までLINEで後押し</a:t>
            </a:r>
            <a:endParaRPr sz="1150" dirty="0">
              <a:solidFill>
                <a:srgbClr val="333333"/>
              </a:solidFill>
              <a:latin typeface="メイリオ"/>
              <a:ea typeface="メイリオ"/>
              <a:cs typeface="メイリオ"/>
            </a:endParaRPr>
          </a:p>
          <a:p>
            <a:pPr algn="ctr">
              <a:lnSpc>
                <a:spcPct val="120000"/>
              </a:lnSpc>
            </a:pPr>
            <a:r>
              <a:rPr lang="ja-JP" altLang="en-US" sz="1150" dirty="0">
                <a:solidFill>
                  <a:srgbClr val="333333"/>
                </a:solidFill>
                <a:latin typeface="メイリオ"/>
                <a:ea typeface="メイリオ"/>
                <a:cs typeface="メイリオ"/>
              </a:rPr>
              <a:t>⇒</a:t>
            </a:r>
            <a:r>
              <a:rPr sz="1150" dirty="0" err="1">
                <a:solidFill>
                  <a:srgbClr val="333333"/>
                </a:solidFill>
                <a:latin typeface="メイリオ"/>
                <a:ea typeface="メイリオ"/>
                <a:cs typeface="メイリオ"/>
              </a:rPr>
              <a:t>入会率を上げる</a:t>
            </a:r>
            <a:endParaRPr sz="1150" dirty="0">
              <a:solidFill>
                <a:srgbClr val="333333"/>
              </a:solidFill>
              <a:latin typeface="メイリオ"/>
              <a:ea typeface="メイリオ"/>
              <a:cs typeface="メイリオ"/>
            </a:endParaRPr>
          </a:p>
        </p:txBody>
      </p:sp>
      <p:sp>
        <p:nvSpPr>
          <p:cNvPr id="23" name="Down Arrow 22"/>
          <p:cNvSpPr/>
          <p:nvPr/>
        </p:nvSpPr>
        <p:spPr>
          <a:xfrm>
            <a:off x="3040200" y="4950000"/>
            <a:ext cx="432000" cy="216000"/>
          </a:xfrm>
          <a:prstGeom prst="down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メイリオ"/>
              <a:ea typeface="メイリオ"/>
              <a:cs typeface="メイリオ"/>
            </a:endParaRPr>
          </a:p>
        </p:txBody>
      </p:sp>
      <p:sp>
        <p:nvSpPr>
          <p:cNvPr id="24" name="Down Arrow 23"/>
          <p:cNvSpPr/>
          <p:nvPr/>
        </p:nvSpPr>
        <p:spPr>
          <a:xfrm>
            <a:off x="7066800" y="4950000"/>
            <a:ext cx="432000" cy="216000"/>
          </a:xfrm>
          <a:prstGeom prst="down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メイリオ"/>
              <a:ea typeface="メイリオ"/>
              <a:cs typeface="メイリオ"/>
            </a:endParaRPr>
          </a:p>
        </p:txBody>
      </p:sp>
      <p:sp>
        <p:nvSpPr>
          <p:cNvPr id="25" name="Rounded Rectangle 24"/>
          <p:cNvSpPr/>
          <p:nvPr/>
        </p:nvSpPr>
        <p:spPr>
          <a:xfrm>
            <a:off x="547200" y="5220000"/>
            <a:ext cx="8852400" cy="48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500" b="1">
                <a:solidFill>
                  <a:srgbClr val="FFFFFF"/>
                </a:solidFill>
                <a:latin typeface="メイリオ"/>
                <a:ea typeface="メイリオ"/>
                <a:cs typeface="メイリオ"/>
              </a:rPr>
              <a:t>①＋②で、許容CPAを引き上げられる ＝ 広告費を増やしても採算が合う</a:t>
            </a:r>
          </a:p>
        </p:txBody>
      </p:sp>
      <p:sp>
        <p:nvSpPr>
          <p:cNvPr id="26" name="TextBox 25"/>
          <p:cNvSpPr txBox="1"/>
          <p:nvPr/>
        </p:nvSpPr>
        <p:spPr>
          <a:xfrm>
            <a:off x="547200" y="5760000"/>
            <a:ext cx="8852400" cy="324000"/>
          </a:xfrm>
          <a:prstGeom prst="rect">
            <a:avLst/>
          </a:prstGeom>
          <a:noFill/>
        </p:spPr>
        <p:txBody>
          <a:bodyPr wrap="square" lIns="0" tIns="21600" rIns="0" bIns="21600" anchor="ctr">
            <a:spAutoFit/>
          </a:bodyPr>
          <a:lstStyle/>
          <a:p>
            <a:pPr algn="ctr"/>
            <a:r>
              <a:rPr sz="1000">
                <a:solidFill>
                  <a:srgbClr val="7F7F7F"/>
                </a:solidFill>
                <a:latin typeface="メイリオ"/>
                <a:ea typeface="メイリオ"/>
                <a:cs typeface="メイリオ"/>
              </a:rPr>
              <a:t>※許容CPA＝入会1件にかけられる費用（許容CPO）×入会率。入会率が上がるほど、体験予約1件にかけられる広告費が増える</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28982883-62D2-1FB6-448E-4DBFD3487BB8}"/>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市場分析（全体）</a:t>
            </a:r>
            <a:endParaRPr lang="en-US" altLang="ja-JP" sz="1600" b="1" dirty="0">
              <a:solidFill>
                <a:srgbClr val="002060"/>
              </a:solidFill>
              <a:latin typeface="メイリオ"/>
              <a:ea typeface="メイリオ"/>
              <a:cs typeface="メイリオ"/>
              <a:sym typeface="Meiryo"/>
            </a:endParaRPr>
          </a:p>
        </p:txBody>
      </p:sp>
      <p:sp>
        <p:nvSpPr>
          <p:cNvPr id="5" name="Text 7">
            <a:extLst>
              <a:ext uri="{FF2B5EF4-FFF2-40B4-BE49-F238E27FC236}">
                <a16:creationId xmlns:a16="http://schemas.microsoft.com/office/drawing/2014/main" id="{B2A895AE-F6EA-11C0-FE80-47B95B614699}"/>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lang="en-US" altLang="ja-JP" sz="1700" dirty="0">
                <a:solidFill>
                  <a:schemeClr val="tx1"/>
                </a:solidFill>
                <a:latin typeface="メイリオ"/>
                <a:ea typeface="メイリオ"/>
                <a:cs typeface="メイリオ"/>
              </a:rPr>
              <a:t>習い事は「3〜5歳」で始める家庭が最も多く、</a:t>
            </a:r>
          </a:p>
          <a:p>
            <a:pPr algn="ctr"/>
            <a:r>
              <a:rPr lang="en-US" altLang="ja-JP" sz="1700" dirty="0">
                <a:solidFill>
                  <a:schemeClr val="tx1"/>
                </a:solidFill>
                <a:latin typeface="メイリオ"/>
                <a:ea typeface="メイリオ"/>
                <a:cs typeface="メイリオ"/>
              </a:rPr>
              <a:t>未就学児の保護者の87.5%が「させたい」と考え</a:t>
            </a:r>
            <a:r>
              <a:rPr lang="ja-JP" altLang="en-US" sz="1700" dirty="0">
                <a:solidFill>
                  <a:schemeClr val="tx1"/>
                </a:solidFill>
                <a:latin typeface="メイリオ"/>
                <a:ea typeface="メイリオ"/>
                <a:cs typeface="メイリオ"/>
              </a:rPr>
              <a:t>る</a:t>
            </a:r>
            <a:endParaRPr lang="en-US" altLang="ja-JP" sz="1700" dirty="0">
              <a:solidFill>
                <a:schemeClr val="tx1"/>
              </a:solidFill>
              <a:latin typeface="メイリオ"/>
              <a:ea typeface="メイリオ"/>
              <a:cs typeface="メイリオ"/>
            </a:endParaRPr>
          </a:p>
        </p:txBody>
      </p:sp>
      <p:sp>
        <p:nvSpPr>
          <p:cNvPr id="24" name="Rounded Rectangle 2">
            <a:extLst>
              <a:ext uri="{FF2B5EF4-FFF2-40B4-BE49-F238E27FC236}">
                <a16:creationId xmlns:a16="http://schemas.microsoft.com/office/drawing/2014/main" id="{17E8DBF9-A9D2-B706-F31D-87C825EC47BB}"/>
              </a:ext>
            </a:extLst>
          </p:cNvPr>
          <p:cNvSpPr/>
          <p:nvPr/>
        </p:nvSpPr>
        <p:spPr>
          <a:xfrm>
            <a:off x="385572" y="1638300"/>
            <a:ext cx="2148840" cy="1188720"/>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cs typeface="メイリオ"/>
              </a:rPr>
              <a:t>46%</a:t>
            </a:r>
          </a:p>
          <a:p>
            <a:pPr algn="ctr"/>
            <a:r>
              <a:rPr sz="1100">
                <a:solidFill>
                  <a:srgbClr val="FFFFFF"/>
                </a:solidFill>
                <a:latin typeface="メイリオ" panose="020B0604030504040204" pitchFamily="50" charset="-128"/>
                <a:ea typeface="メイリオ" panose="020B0604030504040204" pitchFamily="50" charset="-128"/>
                <a:cs typeface="メイリオ"/>
              </a:rPr>
              <a:t>習い事の開始年齢
「3〜5歳」が最多</a:t>
            </a:r>
          </a:p>
        </p:txBody>
      </p:sp>
      <p:sp>
        <p:nvSpPr>
          <p:cNvPr id="25" name="Rounded Rectangle 3">
            <a:extLst>
              <a:ext uri="{FF2B5EF4-FFF2-40B4-BE49-F238E27FC236}">
                <a16:creationId xmlns:a16="http://schemas.microsoft.com/office/drawing/2014/main" id="{26FA1AA9-A712-DE17-BB8B-F8F64E490409}"/>
              </a:ext>
            </a:extLst>
          </p:cNvPr>
          <p:cNvSpPr/>
          <p:nvPr/>
        </p:nvSpPr>
        <p:spPr>
          <a:xfrm>
            <a:off x="2671572" y="1638300"/>
            <a:ext cx="2148840" cy="1188720"/>
          </a:xfrm>
          <a:prstGeom prst="round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sz="2400" b="1" dirty="0">
                <a:solidFill>
                  <a:srgbClr val="FFFFFF"/>
                </a:solidFill>
                <a:latin typeface="メイリオ" panose="020B0604030504040204" pitchFamily="50" charset="-128"/>
                <a:ea typeface="メイリオ" panose="020B0604030504040204" pitchFamily="50" charset="-128"/>
                <a:cs typeface="メイリオ"/>
              </a:rPr>
              <a:t>10,146円</a:t>
            </a:r>
          </a:p>
          <a:p>
            <a:pPr algn="ctr"/>
            <a:r>
              <a:rPr sz="1100" dirty="0">
                <a:solidFill>
                  <a:srgbClr val="FFFFFF"/>
                </a:solidFill>
                <a:latin typeface="メイリオ" panose="020B0604030504040204" pitchFamily="50" charset="-128"/>
                <a:ea typeface="メイリオ" panose="020B0604030504040204" pitchFamily="50" charset="-128"/>
                <a:cs typeface="メイリオ"/>
              </a:rPr>
              <a:t>4〜6歳の
</a:t>
            </a:r>
            <a:r>
              <a:rPr sz="1100" dirty="0" err="1">
                <a:solidFill>
                  <a:srgbClr val="FFFFFF"/>
                </a:solidFill>
                <a:latin typeface="メイリオ" panose="020B0604030504040204" pitchFamily="50" charset="-128"/>
                <a:ea typeface="メイリオ" panose="020B0604030504040204" pitchFamily="50" charset="-128"/>
                <a:cs typeface="メイリオ"/>
              </a:rPr>
              <a:t>月謝合計平均</a:t>
            </a:r>
            <a:endParaRPr sz="1100" dirty="0">
              <a:solidFill>
                <a:srgbClr val="FFFFFF"/>
              </a:solidFill>
              <a:latin typeface="メイリオ" panose="020B0604030504040204" pitchFamily="50" charset="-128"/>
              <a:ea typeface="メイリオ" panose="020B0604030504040204" pitchFamily="50" charset="-128"/>
              <a:cs typeface="メイリオ"/>
            </a:endParaRPr>
          </a:p>
        </p:txBody>
      </p:sp>
      <p:sp>
        <p:nvSpPr>
          <p:cNvPr id="26" name="Rounded Rectangle 4">
            <a:extLst>
              <a:ext uri="{FF2B5EF4-FFF2-40B4-BE49-F238E27FC236}">
                <a16:creationId xmlns:a16="http://schemas.microsoft.com/office/drawing/2014/main" id="{1902E2F6-AC7A-D576-8415-3C855D5947A9}"/>
              </a:ext>
            </a:extLst>
          </p:cNvPr>
          <p:cNvSpPr/>
          <p:nvPr/>
        </p:nvSpPr>
        <p:spPr>
          <a:xfrm>
            <a:off x="4957572" y="1638300"/>
            <a:ext cx="2148840" cy="1188720"/>
          </a:xfrm>
          <a:prstGeom prst="round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cs typeface="メイリオ"/>
              </a:rPr>
              <a:t>58%</a:t>
            </a:r>
          </a:p>
          <a:p>
            <a:pPr algn="ctr"/>
            <a:r>
              <a:rPr sz="1100">
                <a:solidFill>
                  <a:srgbClr val="FFFFFF"/>
                </a:solidFill>
                <a:latin typeface="メイリオ" panose="020B0604030504040204" pitchFamily="50" charset="-128"/>
                <a:ea typeface="メイリオ" panose="020B0604030504040204" pitchFamily="50" charset="-128"/>
                <a:cs typeface="メイリオ"/>
              </a:rPr>
              <a:t>習い事「1つ」
のみの家庭</a:t>
            </a:r>
          </a:p>
        </p:txBody>
      </p:sp>
      <p:sp>
        <p:nvSpPr>
          <p:cNvPr id="27" name="Rounded Rectangle 5">
            <a:extLst>
              <a:ext uri="{FF2B5EF4-FFF2-40B4-BE49-F238E27FC236}">
                <a16:creationId xmlns:a16="http://schemas.microsoft.com/office/drawing/2014/main" id="{8A74C4D5-CD3A-115D-11F4-4692E83BC2E3}"/>
              </a:ext>
            </a:extLst>
          </p:cNvPr>
          <p:cNvSpPr/>
          <p:nvPr/>
        </p:nvSpPr>
        <p:spPr>
          <a:xfrm>
            <a:off x="7243572" y="1638300"/>
            <a:ext cx="2148840" cy="1188720"/>
          </a:xfrm>
          <a:prstGeom prst="round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sz="2800" b="1" dirty="0">
                <a:solidFill>
                  <a:srgbClr val="FFFFFF"/>
                </a:solidFill>
                <a:latin typeface="メイリオ" panose="020B0604030504040204" pitchFamily="50" charset="-128"/>
                <a:ea typeface="メイリオ" panose="020B0604030504040204" pitchFamily="50" charset="-128"/>
                <a:cs typeface="メイリオ"/>
              </a:rPr>
              <a:t>87.5%</a:t>
            </a:r>
          </a:p>
          <a:p>
            <a:pPr algn="ctr"/>
            <a:r>
              <a:rPr sz="1100" dirty="0" err="1">
                <a:solidFill>
                  <a:srgbClr val="FFFFFF"/>
                </a:solidFill>
                <a:latin typeface="メイリオ" panose="020B0604030504040204" pitchFamily="50" charset="-128"/>
                <a:ea typeface="メイリオ" panose="020B0604030504040204" pitchFamily="50" charset="-128"/>
                <a:cs typeface="メイリオ"/>
              </a:rPr>
              <a:t>未就学児の保護者で</a:t>
            </a:r>
            <a:r>
              <a:rPr sz="1100" dirty="0">
                <a:solidFill>
                  <a:srgbClr val="FFFFFF"/>
                </a:solidFill>
                <a:latin typeface="メイリオ" panose="020B0604030504040204" pitchFamily="50" charset="-128"/>
                <a:ea typeface="メイリオ" panose="020B0604030504040204" pitchFamily="50" charset="-128"/>
                <a:cs typeface="メイリオ"/>
              </a:rPr>
              <a:t>
「</a:t>
            </a:r>
            <a:r>
              <a:rPr sz="1100" dirty="0" err="1">
                <a:solidFill>
                  <a:srgbClr val="FFFFFF"/>
                </a:solidFill>
                <a:latin typeface="メイリオ" panose="020B0604030504040204" pitchFamily="50" charset="-128"/>
                <a:ea typeface="メイリオ" panose="020B0604030504040204" pitchFamily="50" charset="-128"/>
                <a:cs typeface="メイリオ"/>
              </a:rPr>
              <a:t>させたい」意向</a:t>
            </a:r>
            <a:endParaRPr sz="1100" dirty="0">
              <a:solidFill>
                <a:srgbClr val="FFFFFF"/>
              </a:solidFill>
              <a:latin typeface="メイリオ" panose="020B0604030504040204" pitchFamily="50" charset="-128"/>
              <a:ea typeface="メイリオ" panose="020B0604030504040204" pitchFamily="50" charset="-128"/>
              <a:cs typeface="メイリオ"/>
            </a:endParaRPr>
          </a:p>
        </p:txBody>
      </p:sp>
      <p:sp>
        <p:nvSpPr>
          <p:cNvPr id="28" name="TextBox 6">
            <a:extLst>
              <a:ext uri="{FF2B5EF4-FFF2-40B4-BE49-F238E27FC236}">
                <a16:creationId xmlns:a16="http://schemas.microsoft.com/office/drawing/2014/main" id="{F32BB577-D373-15FE-EDE1-B4346239EA20}"/>
              </a:ext>
            </a:extLst>
          </p:cNvPr>
          <p:cNvSpPr txBox="1"/>
          <p:nvPr/>
        </p:nvSpPr>
        <p:spPr>
          <a:xfrm>
            <a:off x="38557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l"/>
            <a:r>
              <a:rPr sz="1300" b="1">
                <a:solidFill>
                  <a:srgbClr val="1F2A5C"/>
                </a:solidFill>
                <a:latin typeface="メイリオ" panose="020B0604030504040204" pitchFamily="50" charset="-128"/>
                <a:ea typeface="メイリオ" panose="020B0604030504040204" pitchFamily="50" charset="-128"/>
                <a:cs typeface="メイリオ"/>
              </a:rPr>
              <a:t>習い事に感じる不安・負担（複数回答）</a:t>
            </a:r>
          </a:p>
        </p:txBody>
      </p:sp>
      <p:pic>
        <p:nvPicPr>
          <p:cNvPr id="29" name="table">
            <a:extLst>
              <a:ext uri="{FF2B5EF4-FFF2-40B4-BE49-F238E27FC236}">
                <a16:creationId xmlns:a16="http://schemas.microsoft.com/office/drawing/2014/main" id="{BD797D6C-2540-BB18-804E-B927E9995453}"/>
              </a:ext>
            </a:extLst>
          </p:cNvPr>
          <p:cNvPicPr>
            <a:picLocks noChangeAspect="1"/>
          </p:cNvPicPr>
          <p:nvPr/>
        </p:nvPicPr>
        <p:blipFill>
          <a:blip r:embed="rId3"/>
          <a:stretch>
            <a:fillRect/>
          </a:stretch>
        </p:blipFill>
        <p:spPr>
          <a:xfrm>
            <a:off x="385572" y="3294380"/>
            <a:ext cx="4389120" cy="1645920"/>
          </a:xfrm>
          <a:prstGeom prst="rect">
            <a:avLst/>
          </a:prstGeom>
        </p:spPr>
      </p:pic>
      <p:sp>
        <p:nvSpPr>
          <p:cNvPr id="30" name="TextBox 8">
            <a:extLst>
              <a:ext uri="{FF2B5EF4-FFF2-40B4-BE49-F238E27FC236}">
                <a16:creationId xmlns:a16="http://schemas.microsoft.com/office/drawing/2014/main" id="{58C905AF-32AC-8815-5B3D-86FCD1554DDB}"/>
              </a:ext>
            </a:extLst>
          </p:cNvPr>
          <p:cNvSpPr txBox="1"/>
          <p:nvPr/>
        </p:nvSpPr>
        <p:spPr>
          <a:xfrm>
            <a:off x="504901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l"/>
            <a:r>
              <a:rPr sz="1300" b="1">
                <a:solidFill>
                  <a:srgbClr val="1F2A5C"/>
                </a:solidFill>
                <a:latin typeface="メイリオ" panose="020B0604030504040204" pitchFamily="50" charset="-128"/>
                <a:ea typeface="メイリオ" panose="020B0604030504040204" pitchFamily="50" charset="-128"/>
                <a:cs typeface="メイリオ"/>
              </a:rPr>
              <a:t>人気の習い事ジャンル</a:t>
            </a:r>
          </a:p>
        </p:txBody>
      </p:sp>
      <p:pic>
        <p:nvPicPr>
          <p:cNvPr id="31" name="table">
            <a:extLst>
              <a:ext uri="{FF2B5EF4-FFF2-40B4-BE49-F238E27FC236}">
                <a16:creationId xmlns:a16="http://schemas.microsoft.com/office/drawing/2014/main" id="{C0285BDD-3E26-1AD3-3CCE-07800130DEB4}"/>
              </a:ext>
            </a:extLst>
          </p:cNvPr>
          <p:cNvPicPr>
            <a:picLocks noChangeAspect="1"/>
          </p:cNvPicPr>
          <p:nvPr/>
        </p:nvPicPr>
        <p:blipFill>
          <a:blip r:embed="rId4"/>
          <a:stretch>
            <a:fillRect/>
          </a:stretch>
        </p:blipFill>
        <p:spPr>
          <a:xfrm>
            <a:off x="5049012" y="3294380"/>
            <a:ext cx="4389120" cy="1645920"/>
          </a:xfrm>
          <a:prstGeom prst="rect">
            <a:avLst/>
          </a:prstGeom>
        </p:spPr>
      </p:pic>
      <p:sp>
        <p:nvSpPr>
          <p:cNvPr id="32" name="TextBox 10">
            <a:extLst>
              <a:ext uri="{FF2B5EF4-FFF2-40B4-BE49-F238E27FC236}">
                <a16:creationId xmlns:a16="http://schemas.microsoft.com/office/drawing/2014/main" id="{4883E9C1-EC1E-8047-ABFB-F3D3B5F83C40}"/>
              </a:ext>
            </a:extLst>
          </p:cNvPr>
          <p:cNvSpPr txBox="1"/>
          <p:nvPr/>
        </p:nvSpPr>
        <p:spPr>
          <a:xfrm>
            <a:off x="385572" y="5214620"/>
            <a:ext cx="9052560" cy="558614"/>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l">
              <a:lnSpc>
                <a:spcPct val="130000"/>
              </a:lnSpc>
            </a:pPr>
            <a:r>
              <a:rPr sz="1200" b="0" dirty="0">
                <a:solidFill>
                  <a:srgbClr val="5A6378"/>
                </a:solidFill>
                <a:latin typeface="メイリオ" panose="020B0604030504040204" pitchFamily="50" charset="-128"/>
                <a:ea typeface="メイリオ" panose="020B0604030504040204" pitchFamily="50" charset="-128"/>
                <a:cs typeface="メイリオ"/>
              </a:rPr>
              <a:t>※学年が上がるほど通塾頻度も増加する傾向。未就園児は「0（実施なし）」</a:t>
            </a:r>
            <a:r>
              <a:rPr sz="1200" b="0" dirty="0" err="1">
                <a:solidFill>
                  <a:srgbClr val="5A6378"/>
                </a:solidFill>
                <a:latin typeface="メイリオ" panose="020B0604030504040204" pitchFamily="50" charset="-128"/>
                <a:ea typeface="メイリオ" panose="020B0604030504040204" pitchFamily="50" charset="-128"/>
                <a:cs typeface="メイリオ"/>
              </a:rPr>
              <a:t>が中心だが</a:t>
            </a:r>
            <a:r>
              <a:rPr sz="1200" b="0" dirty="0">
                <a:solidFill>
                  <a:srgbClr val="5A6378"/>
                </a:solidFill>
                <a:latin typeface="メイリオ" panose="020B0604030504040204" pitchFamily="50" charset="-128"/>
                <a:ea typeface="メイリオ" panose="020B0604030504040204" pitchFamily="50" charset="-128"/>
                <a:cs typeface="メイリオ"/>
              </a:rPr>
              <a:t>、</a:t>
            </a:r>
            <a:endParaRPr lang="en-US" sz="1200" b="0" dirty="0">
              <a:solidFill>
                <a:srgbClr val="5A6378"/>
              </a:solidFill>
              <a:latin typeface="メイリオ" panose="020B0604030504040204" pitchFamily="50" charset="-128"/>
              <a:ea typeface="メイリオ" panose="020B0604030504040204" pitchFamily="50" charset="-128"/>
              <a:cs typeface="メイリオ"/>
            </a:endParaRPr>
          </a:p>
          <a:p>
            <a:pPr algn="l">
              <a:lnSpc>
                <a:spcPct val="130000"/>
              </a:lnSpc>
            </a:pPr>
            <a:r>
              <a:rPr lang="ja-JP" altLang="en-US" sz="1200" dirty="0">
                <a:solidFill>
                  <a:srgbClr val="5A6378"/>
                </a:solidFill>
                <a:latin typeface="メイリオ" panose="020B0604030504040204" pitchFamily="50" charset="-128"/>
                <a:ea typeface="メイリオ" panose="020B0604030504040204" pitchFamily="50" charset="-128"/>
                <a:cs typeface="メイリオ"/>
              </a:rPr>
              <a:t>　</a:t>
            </a:r>
            <a:r>
              <a:rPr sz="1200" b="0" dirty="0">
                <a:solidFill>
                  <a:srgbClr val="5A6378"/>
                </a:solidFill>
                <a:latin typeface="メイリオ" panose="020B0604030504040204" pitchFamily="50" charset="-128"/>
                <a:ea typeface="メイリオ" panose="020B0604030504040204" pitchFamily="50" charset="-128"/>
                <a:cs typeface="メイリオ"/>
              </a:rPr>
              <a:t>小5・小6では「週6日以上」が主流となり、学年進行とともに習い事への時間投資が拡大する</a:t>
            </a:r>
          </a:p>
        </p:txBody>
      </p:sp>
      <p:sp>
        <p:nvSpPr>
          <p:cNvPr id="33" name="TextBox 11">
            <a:extLst>
              <a:ext uri="{FF2B5EF4-FFF2-40B4-BE49-F238E27FC236}">
                <a16:creationId xmlns:a16="http://schemas.microsoft.com/office/drawing/2014/main" id="{657E3036-6E38-E46C-8530-E7FFD3221E4C}"/>
              </a:ext>
            </a:extLst>
          </p:cNvPr>
          <p:cNvSpPr txBox="1"/>
          <p:nvPr/>
        </p:nvSpPr>
        <p:spPr>
          <a:xfrm>
            <a:off x="385572" y="5900420"/>
            <a:ext cx="9052560" cy="399725"/>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l">
              <a:lnSpc>
                <a:spcPct val="120000"/>
              </a:lnSpc>
            </a:pPr>
            <a:r>
              <a:rPr sz="850" b="0" dirty="0" err="1">
                <a:solidFill>
                  <a:srgbClr val="9AA1AE"/>
                </a:solidFill>
                <a:latin typeface="メイリオ" panose="020B0604030504040204" pitchFamily="50" charset="-128"/>
                <a:ea typeface="メイリオ" panose="020B0604030504040204" pitchFamily="50" charset="-128"/>
                <a:cs typeface="メイリオ"/>
              </a:rPr>
              <a:t>出典</a:t>
            </a:r>
            <a:r>
              <a:rPr sz="850" b="0" dirty="0">
                <a:solidFill>
                  <a:srgbClr val="9AA1AE"/>
                </a:solidFill>
                <a:latin typeface="メイリオ" panose="020B0604030504040204" pitchFamily="50" charset="-128"/>
                <a:ea typeface="メイリオ" panose="020B0604030504040204" pitchFamily="50" charset="-128"/>
                <a:cs typeface="メイリオ"/>
              </a:rPr>
              <a:t>：①np-labo.com（2023年10月, N=300）　②統計データ（4〜6歳 回答者数103）　③マイナビウーマン（2022年8月, N=300）</a:t>
            </a:r>
          </a:p>
          <a:p>
            <a:pPr algn="l">
              <a:lnSpc>
                <a:spcPct val="120000"/>
              </a:lnSpc>
            </a:pPr>
            <a:r>
              <a:rPr sz="850" b="0" dirty="0">
                <a:solidFill>
                  <a:srgbClr val="9AA1AE"/>
                </a:solidFill>
                <a:latin typeface="メイリオ" panose="020B0604030504040204" pitchFamily="50" charset="-128"/>
                <a:ea typeface="メイリオ" panose="020B0604030504040204" pitchFamily="50" charset="-128"/>
                <a:cs typeface="メイリオ"/>
              </a:rPr>
              <a:t>④babytech.jp「未就学児の習い事事情2025」（N=1,436）　⑤PR </a:t>
            </a:r>
            <a:r>
              <a:rPr sz="850" b="0" dirty="0" err="1">
                <a:solidFill>
                  <a:srgbClr val="9AA1AE"/>
                </a:solidFill>
                <a:latin typeface="メイリオ" panose="020B0604030504040204" pitchFamily="50" charset="-128"/>
                <a:ea typeface="メイリオ" panose="020B0604030504040204" pitchFamily="50" charset="-128"/>
                <a:cs typeface="メイリオ"/>
              </a:rPr>
              <a:t>TIMES（学年別</a:t>
            </a:r>
            <a:r>
              <a:rPr sz="850" b="0" dirty="0">
                <a:solidFill>
                  <a:srgbClr val="9AA1AE"/>
                </a:solidFill>
                <a:latin typeface="メイリオ" panose="020B0604030504040204" pitchFamily="50" charset="-128"/>
                <a:ea typeface="メイリオ" panose="020B0604030504040204" pitchFamily="50" charset="-128"/>
                <a:cs typeface="メイリオ"/>
              </a:rPr>
              <a:t> </a:t>
            </a:r>
            <a:r>
              <a:rPr sz="850" b="0" dirty="0" err="1">
                <a:solidFill>
                  <a:srgbClr val="9AA1AE"/>
                </a:solidFill>
                <a:latin typeface="メイリオ" panose="020B0604030504040204" pitchFamily="50" charset="-128"/>
                <a:ea typeface="メイリオ" panose="020B0604030504040204" pitchFamily="50" charset="-128"/>
                <a:cs typeface="メイリオ"/>
              </a:rPr>
              <a:t>週あたり実施日数</a:t>
            </a:r>
            <a:r>
              <a:rPr sz="850" b="0" dirty="0">
                <a:solidFill>
                  <a:srgbClr val="9AA1AE"/>
                </a:solidFill>
                <a:latin typeface="メイリオ" panose="020B0604030504040204" pitchFamily="50" charset="-128"/>
                <a:ea typeface="メイリオ" panose="020B0604030504040204" pitchFamily="50" charset="-128"/>
                <a:cs typeface="メイリオ"/>
              </a:rPr>
              <a:t>）</a:t>
            </a:r>
          </a:p>
        </p:txBody>
      </p:sp>
    </p:spTree>
    <p:extLst>
      <p:ext uri="{BB962C8B-B14F-4D97-AF65-F5344CB8AC3E}">
        <p14:creationId xmlns:p14="http://schemas.microsoft.com/office/powerpoint/2010/main" val="20531706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AFCDA-60C5-9365-6004-8403C246AD9F}"/>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B2DB17C1-927F-1EC4-4371-E831F96525CB}"/>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前後検索「子ども 習い事」</a:t>
            </a:r>
          </a:p>
        </p:txBody>
      </p:sp>
      <p:sp>
        <p:nvSpPr>
          <p:cNvPr id="5" name="Text 7">
            <a:extLst>
              <a:ext uri="{FF2B5EF4-FFF2-40B4-BE49-F238E27FC236}">
                <a16:creationId xmlns:a16="http://schemas.microsoft.com/office/drawing/2014/main" id="{2CA316B7-4505-4337-6433-44B8AC8C958C}"/>
              </a:ext>
            </a:extLst>
          </p:cNvPr>
          <p:cNvSpPr txBox="1"/>
          <p:nvPr/>
        </p:nvSpPr>
        <p:spPr>
          <a:xfrm>
            <a:off x="385572" y="648000"/>
            <a:ext cx="9134856" cy="666000"/>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lang="en-US" altLang="ja-JP" sz="1400" dirty="0">
                <a:solidFill>
                  <a:schemeClr val="tx1"/>
                </a:solidFill>
                <a:latin typeface="メイリオ" panose="020B0604030504040204" pitchFamily="50" charset="-128"/>
                <a:ea typeface="メイリオ" panose="020B0604030504040204" pitchFamily="50" charset="-128"/>
                <a:cs typeface="メイリオ"/>
              </a:rPr>
              <a:t>「子ども 習い事」の検索前後15日間。友だち追加の機会は、比較が集中する検索当日〜翌日</a:t>
            </a:r>
          </a:p>
        </p:txBody>
      </p:sp>
      <p:pic>
        <p:nvPicPr>
          <p:cNvPr id="46" name="Picture 45" descr="image.png"/>
          <p:cNvPicPr>
            <a:picLocks noChangeAspect="1"/>
          </p:cNvPicPr>
          <p:nvPr/>
        </p:nvPicPr>
        <p:blipFill>
          <a:blip r:embed="rId3"/>
          <a:stretch>
            <a:fillRect/>
          </a:stretch>
        </p:blipFill>
        <p:spPr>
          <a:xfrm>
            <a:off x="432000" y="1458000"/>
            <a:ext cx="5112000" cy="2981524"/>
          </a:xfrm>
          <a:prstGeom prst="rect">
            <a:avLst/>
          </a:prstGeom>
        </p:spPr>
      </p:pic>
      <p:sp>
        <p:nvSpPr>
          <p:cNvPr id="47" name="Rectangle 46"/>
          <p:cNvSpPr/>
          <p:nvPr/>
        </p:nvSpPr>
        <p:spPr>
          <a:xfrm>
            <a:off x="3050829" y="1458000"/>
            <a:ext cx="611155" cy="2945524"/>
          </a:xfrm>
          <a:prstGeom prst="rect">
            <a:avLst/>
          </a:prstGeom>
          <a:solidFill>
            <a:srgbClr val="06C75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メイリオ"/>
              <a:ea typeface="メイリオ"/>
              <a:cs typeface="メイリオ"/>
            </a:endParaRPr>
          </a:p>
        </p:txBody>
      </p:sp>
      <p:sp>
        <p:nvSpPr>
          <p:cNvPr id="48" name="Rectangle 47"/>
          <p:cNvSpPr/>
          <p:nvPr/>
        </p:nvSpPr>
        <p:spPr>
          <a:xfrm>
            <a:off x="2888406" y="4457524"/>
            <a:ext cx="936000" cy="223200"/>
          </a:xfrm>
          <a:prstGeom prst="rect">
            <a:avLst/>
          </a:prstGeom>
          <a:solidFill>
            <a:srgbClr val="C6EFCE"/>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950" b="1">
                <a:solidFill>
                  <a:srgbClr val="00873C"/>
                </a:solidFill>
                <a:latin typeface="メイリオ"/>
                <a:ea typeface="メイリオ"/>
                <a:cs typeface="メイリオ"/>
              </a:rPr>
              <a:t>LINE追加</a:t>
            </a:r>
          </a:p>
        </p:txBody>
      </p:sp>
      <p:sp>
        <p:nvSpPr>
          <p:cNvPr id="49" name="Rounded Rectangle 48"/>
          <p:cNvSpPr/>
          <p:nvPr/>
        </p:nvSpPr>
        <p:spPr>
          <a:xfrm>
            <a:off x="5724000" y="1458000"/>
            <a:ext cx="1857600" cy="223200"/>
          </a:xfrm>
          <a:prstGeom prst="roundRect">
            <a:avLst>
              <a:gd name="adj" fmla="val 8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950" b="1">
                <a:solidFill>
                  <a:srgbClr val="2B5797"/>
                </a:solidFill>
                <a:latin typeface="メイリオ"/>
                <a:ea typeface="メイリオ"/>
                <a:cs typeface="メイリオ"/>
              </a:rPr>
              <a:t>習い事の比較・検討</a:t>
            </a:r>
          </a:p>
        </p:txBody>
      </p:sp>
      <p:sp>
        <p:nvSpPr>
          <p:cNvPr id="50" name="Rounded Rectangle 49"/>
          <p:cNvSpPr/>
          <p:nvPr/>
        </p:nvSpPr>
        <p:spPr>
          <a:xfrm>
            <a:off x="7617600" y="1458000"/>
            <a:ext cx="1857600" cy="223200"/>
          </a:xfrm>
          <a:prstGeom prst="roundRect">
            <a:avLst>
              <a:gd name="adj" fmla="val 8000"/>
            </a:avLst>
          </a:prstGeom>
          <a:solidFill>
            <a:srgbClr val="FBE0CF"/>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950" b="1">
                <a:solidFill>
                  <a:srgbClr val="C0561A"/>
                </a:solidFill>
                <a:latin typeface="メイリオ"/>
                <a:ea typeface="メイリオ"/>
                <a:cs typeface="メイリオ"/>
              </a:rPr>
              <a:t>子育て・学び</a:t>
            </a:r>
          </a:p>
        </p:txBody>
      </p:sp>
      <p:sp>
        <p:nvSpPr>
          <p:cNvPr id="51" name="Rounded Rectangle 50"/>
          <p:cNvSpPr/>
          <p:nvPr/>
        </p:nvSpPr>
        <p:spPr>
          <a:xfrm>
            <a:off x="5724000" y="1717199"/>
            <a:ext cx="1857600" cy="223200"/>
          </a:xfrm>
          <a:prstGeom prst="roundRect">
            <a:avLst>
              <a:gd name="adj" fmla="val 8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950" b="1">
                <a:solidFill>
                  <a:srgbClr val="7440A8"/>
                </a:solidFill>
                <a:latin typeface="メイリオ"/>
                <a:ea typeface="メイリオ"/>
                <a:cs typeface="メイリオ"/>
              </a:rPr>
              <a:t>家族のお出かけ・楽しみ</a:t>
            </a:r>
          </a:p>
        </p:txBody>
      </p:sp>
      <p:sp>
        <p:nvSpPr>
          <p:cNvPr id="52" name="TextBox 51"/>
          <p:cNvSpPr txBox="1"/>
          <p:nvPr/>
        </p:nvSpPr>
        <p:spPr>
          <a:xfrm>
            <a:off x="7653599" y="1717199"/>
            <a:ext cx="1821599" cy="223200"/>
          </a:xfrm>
          <a:prstGeom prst="rect">
            <a:avLst/>
          </a:prstGeom>
          <a:noFill/>
        </p:spPr>
        <p:txBody>
          <a:bodyPr wrap="square" lIns="0" tIns="21600" rIns="0" bIns="21600" anchor="ctr">
            <a:spAutoFit/>
          </a:bodyPr>
          <a:lstStyle/>
          <a:p>
            <a:pPr algn="l"/>
            <a:r>
              <a:rPr sz="900">
                <a:solidFill>
                  <a:srgbClr val="7F7F7F"/>
                </a:solidFill>
                <a:latin typeface="メイリオ"/>
                <a:ea typeface="メイリオ"/>
                <a:cs typeface="メイリオ"/>
              </a:rPr>
              <a:t>色なし：その他</a:t>
            </a:r>
          </a:p>
        </p:txBody>
      </p:sp>
      <p:sp>
        <p:nvSpPr>
          <p:cNvPr id="53" name="Rounded Rectangle 52"/>
          <p:cNvSpPr/>
          <p:nvPr/>
        </p:nvSpPr>
        <p:spPr>
          <a:xfrm>
            <a:off x="5724000" y="2052000"/>
            <a:ext cx="3751200" cy="2232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50" b="1">
                <a:solidFill>
                  <a:srgbClr val="333333"/>
                </a:solidFill>
                <a:latin typeface="メイリオ"/>
                <a:ea typeface="メイリオ"/>
                <a:cs typeface="メイリオ"/>
              </a:rPr>
              <a:t>LINE追加率を上げるコンテンツ（検索当日〜翌日）</a:t>
            </a:r>
          </a:p>
        </p:txBody>
      </p:sp>
      <p:sp>
        <p:nvSpPr>
          <p:cNvPr id="54" name="Rounded Rectangle 53"/>
          <p:cNvSpPr/>
          <p:nvPr/>
        </p:nvSpPr>
        <p:spPr>
          <a:xfrm>
            <a:off x="5724000" y="2322000"/>
            <a:ext cx="1839600" cy="917999"/>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00" b="0">
                <a:solidFill>
                  <a:srgbClr val="FFFFFF"/>
                </a:solidFill>
                <a:latin typeface="メイリオ"/>
                <a:ea typeface="メイリオ"/>
                <a:cs typeface="メイリオ"/>
              </a:rPr>
              <a:t>離脱防止で…</a:t>
            </a:r>
          </a:p>
          <a:p>
            <a:pPr algn="ctr">
              <a:lnSpc>
                <a:spcPct val="115000"/>
              </a:lnSpc>
            </a:pPr>
            <a:r>
              <a:rPr sz="1100" b="1">
                <a:solidFill>
                  <a:srgbClr val="FFFFFF"/>
                </a:solidFill>
                <a:latin typeface="メイリオ"/>
                <a:ea typeface="メイリオ"/>
                <a:cs typeface="メイリオ"/>
              </a:rPr>
              <a:t>「習い事ランキング」</a:t>
            </a:r>
          </a:p>
          <a:p>
            <a:pPr algn="ctr">
              <a:lnSpc>
                <a:spcPct val="115000"/>
              </a:lnSpc>
            </a:pPr>
            <a:r>
              <a:rPr sz="1050" b="1">
                <a:solidFill>
                  <a:srgbClr val="FFFFFF"/>
                </a:solidFill>
                <a:latin typeface="メイリオ"/>
                <a:ea typeface="メイリオ"/>
                <a:cs typeface="メイリオ"/>
              </a:rPr>
              <a:t>をLINEで見られます</a:t>
            </a:r>
          </a:p>
        </p:txBody>
      </p:sp>
      <p:sp>
        <p:nvSpPr>
          <p:cNvPr id="55" name="Rounded Rectangle 54"/>
          <p:cNvSpPr/>
          <p:nvPr/>
        </p:nvSpPr>
        <p:spPr>
          <a:xfrm>
            <a:off x="7635600" y="2322000"/>
            <a:ext cx="1839600" cy="917999"/>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00" b="0">
                <a:solidFill>
                  <a:srgbClr val="FFFFFF"/>
                </a:solidFill>
                <a:latin typeface="メイリオ"/>
                <a:ea typeface="メイリオ"/>
                <a:cs typeface="メイリオ"/>
              </a:rPr>
              <a:t>この機会に</a:t>
            </a:r>
          </a:p>
          <a:p>
            <a:pPr algn="ctr">
              <a:lnSpc>
                <a:spcPct val="115000"/>
              </a:lnSpc>
            </a:pPr>
            <a:r>
              <a:rPr sz="1100" b="1">
                <a:solidFill>
                  <a:srgbClr val="FFFFFF"/>
                </a:solidFill>
                <a:latin typeface="メイリオ"/>
                <a:ea typeface="メイリオ"/>
                <a:cs typeface="メイリオ"/>
              </a:rPr>
              <a:t>LINEで30秒</a:t>
            </a:r>
          </a:p>
          <a:p>
            <a:pPr algn="ctr">
              <a:lnSpc>
                <a:spcPct val="115000"/>
              </a:lnSpc>
            </a:pPr>
            <a:r>
              <a:rPr sz="1050" b="1">
                <a:solidFill>
                  <a:srgbClr val="FFFFFF"/>
                </a:solidFill>
                <a:latin typeface="メイリオ"/>
                <a:ea typeface="メイリオ"/>
                <a:cs typeface="メイリオ"/>
              </a:rPr>
              <a:t>適性診断しませんか？</a:t>
            </a:r>
          </a:p>
        </p:txBody>
      </p:sp>
      <p:sp>
        <p:nvSpPr>
          <p:cNvPr id="56" name="Rounded Rectangle 55"/>
          <p:cNvSpPr/>
          <p:nvPr/>
        </p:nvSpPr>
        <p:spPr>
          <a:xfrm>
            <a:off x="5724000" y="3276000"/>
            <a:ext cx="1839600" cy="702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00" b="1">
                <a:solidFill>
                  <a:srgbClr val="1F285A"/>
                </a:solidFill>
                <a:latin typeface="メイリオ"/>
                <a:ea typeface="メイリオ"/>
                <a:cs typeface="メイリオ"/>
              </a:rPr>
              <a:t>当日の検索は「ランキング」</a:t>
            </a:r>
          </a:p>
          <a:p>
            <a:pPr algn="ctr">
              <a:lnSpc>
                <a:spcPct val="115000"/>
              </a:lnSpc>
            </a:pPr>
            <a:r>
              <a:rPr sz="1000" b="0">
                <a:solidFill>
                  <a:srgbClr val="1F285A"/>
                </a:solidFill>
                <a:latin typeface="メイリオ"/>
                <a:ea typeface="メイリオ"/>
                <a:cs typeface="メイリオ"/>
              </a:rPr>
              <a:t>その場で比べる材料を示す</a:t>
            </a:r>
          </a:p>
        </p:txBody>
      </p:sp>
      <p:sp>
        <p:nvSpPr>
          <p:cNvPr id="57" name="Rounded Rectangle 56"/>
          <p:cNvSpPr/>
          <p:nvPr/>
        </p:nvSpPr>
        <p:spPr>
          <a:xfrm>
            <a:off x="7635600" y="3276000"/>
            <a:ext cx="1839600" cy="702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00" b="1">
                <a:solidFill>
                  <a:srgbClr val="1F285A"/>
                </a:solidFill>
                <a:latin typeface="メイリオ"/>
                <a:ea typeface="メイリオ"/>
                <a:cs typeface="メイリオ"/>
              </a:rPr>
              <a:t>電話なし・すぐ結果がわかる</a:t>
            </a:r>
          </a:p>
          <a:p>
            <a:pPr algn="ctr">
              <a:lnSpc>
                <a:spcPct val="115000"/>
              </a:lnSpc>
            </a:pPr>
            <a:r>
              <a:rPr sz="1000" b="0">
                <a:solidFill>
                  <a:srgbClr val="1F285A"/>
                </a:solidFill>
                <a:latin typeface="メイリオ"/>
                <a:ea typeface="メイリオ"/>
                <a:cs typeface="メイリオ"/>
              </a:rPr>
              <a:t>保護者の方も気軽に登録</a:t>
            </a:r>
          </a:p>
        </p:txBody>
      </p:sp>
      <p:cxnSp>
        <p:nvCxnSpPr>
          <p:cNvPr id="58" name="Connector 57"/>
          <p:cNvCxnSpPr/>
          <p:nvPr/>
        </p:nvCxnSpPr>
        <p:spPr>
          <a:xfrm flipV="1">
            <a:off x="3356406" y="2772000"/>
            <a:ext cx="2331594" cy="685106"/>
          </a:xfrm>
          <a:prstGeom prst="line">
            <a:avLst/>
          </a:prstGeom>
          <a:ln w="19050">
            <a:solidFill>
              <a:srgbClr val="4472C4"/>
            </a:solidFill>
            <a:tailEnd type="triangle"/>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432000" y="4745524"/>
            <a:ext cx="9043200" cy="2232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50" b="1">
                <a:solidFill>
                  <a:srgbClr val="333333"/>
                </a:solidFill>
                <a:latin typeface="メイリオ"/>
                <a:ea typeface="メイリオ"/>
                <a:cs typeface="メイリオ"/>
              </a:rPr>
              <a:t>登録後に体験予約へつなげるコンテンツ（翌日〜14日・「習い事」の検索後に多い「評判」「月謝」の確認に合わせる）</a:t>
            </a:r>
          </a:p>
        </p:txBody>
      </p:sp>
      <p:sp>
        <p:nvSpPr>
          <p:cNvPr id="60" name="Rounded Rectangle 59"/>
          <p:cNvSpPr/>
          <p:nvPr/>
        </p:nvSpPr>
        <p:spPr>
          <a:xfrm>
            <a:off x="432000" y="5015524"/>
            <a:ext cx="1230171" cy="1176475"/>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100" b="1">
                <a:solidFill>
                  <a:srgbClr val="FFFFFF"/>
                </a:solidFill>
                <a:latin typeface="メイリオ"/>
                <a:ea typeface="メイリオ"/>
                <a:cs typeface="メイリオ"/>
              </a:rPr>
              <a:t>1日目</a:t>
            </a:r>
          </a:p>
          <a:p>
            <a:pPr algn="ctr">
              <a:lnSpc>
                <a:spcPct val="115000"/>
              </a:lnSpc>
            </a:pPr>
            <a:r>
              <a:rPr sz="1050" b="1">
                <a:solidFill>
                  <a:srgbClr val="FFFFFF"/>
                </a:solidFill>
                <a:latin typeface="メイリオ"/>
                <a:ea typeface="メイリオ"/>
                <a:cs typeface="メイリオ"/>
              </a:rPr>
              <a:t>診断リマインド</a:t>
            </a:r>
          </a:p>
          <a:p>
            <a:pPr algn="ctr">
              <a:lnSpc>
                <a:spcPct val="115000"/>
              </a:lnSpc>
            </a:pPr>
            <a:r>
              <a:rPr sz="950" b="0">
                <a:solidFill>
                  <a:srgbClr val="FFFFFF"/>
                </a:solidFill>
                <a:latin typeface="メイリオ"/>
                <a:ea typeface="メイリオ"/>
                <a:cs typeface="メイリオ"/>
              </a:rPr>
              <a:t>まだの方へ</a:t>
            </a:r>
          </a:p>
        </p:txBody>
      </p:sp>
      <p:sp>
        <p:nvSpPr>
          <p:cNvPr id="61" name="Rounded Rectangle 60"/>
          <p:cNvSpPr/>
          <p:nvPr/>
        </p:nvSpPr>
        <p:spPr>
          <a:xfrm>
            <a:off x="1734171" y="5015524"/>
            <a:ext cx="1230171" cy="1176475"/>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100" b="1">
                <a:solidFill>
                  <a:srgbClr val="FFFFFF"/>
                </a:solidFill>
                <a:latin typeface="メイリオ"/>
                <a:ea typeface="メイリオ"/>
                <a:cs typeface="メイリオ"/>
              </a:rPr>
              <a:t>2日目</a:t>
            </a:r>
          </a:p>
          <a:p>
            <a:pPr algn="ctr">
              <a:lnSpc>
                <a:spcPct val="115000"/>
              </a:lnSpc>
            </a:pPr>
            <a:r>
              <a:rPr sz="1050" b="1">
                <a:solidFill>
                  <a:srgbClr val="FFFFFF"/>
                </a:solidFill>
                <a:latin typeface="メイリオ"/>
                <a:ea typeface="メイリオ"/>
                <a:cs typeface="メイリオ"/>
              </a:rPr>
              <a:t>診断結果</a:t>
            </a:r>
          </a:p>
          <a:p>
            <a:pPr algn="ctr">
              <a:lnSpc>
                <a:spcPct val="115000"/>
              </a:lnSpc>
            </a:pPr>
            <a:r>
              <a:rPr sz="950" b="0">
                <a:solidFill>
                  <a:srgbClr val="FFFFFF"/>
                </a:solidFill>
                <a:latin typeface="メイリオ"/>
                <a:ea typeface="メイリオ"/>
                <a:cs typeface="メイリオ"/>
              </a:rPr>
              <a:t>タイプ別おすすめ</a:t>
            </a:r>
          </a:p>
        </p:txBody>
      </p:sp>
      <p:sp>
        <p:nvSpPr>
          <p:cNvPr id="62" name="Rounded Rectangle 61"/>
          <p:cNvSpPr/>
          <p:nvPr/>
        </p:nvSpPr>
        <p:spPr>
          <a:xfrm>
            <a:off x="3036342" y="5015524"/>
            <a:ext cx="1230171" cy="1176475"/>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100" b="1">
                <a:solidFill>
                  <a:srgbClr val="FFFFFF"/>
                </a:solidFill>
                <a:latin typeface="メイリオ"/>
                <a:ea typeface="メイリオ"/>
                <a:cs typeface="メイリオ"/>
              </a:rPr>
              <a:t>4日目</a:t>
            </a:r>
          </a:p>
          <a:p>
            <a:pPr algn="ctr">
              <a:lnSpc>
                <a:spcPct val="115000"/>
              </a:lnSpc>
            </a:pPr>
            <a:r>
              <a:rPr sz="1050" b="1">
                <a:solidFill>
                  <a:srgbClr val="FFFFFF"/>
                </a:solidFill>
                <a:latin typeface="メイリオ"/>
                <a:ea typeface="メイリオ"/>
                <a:cs typeface="メイリオ"/>
              </a:rPr>
              <a:t>在籍生の声</a:t>
            </a:r>
          </a:p>
          <a:p>
            <a:pPr algn="ctr">
              <a:lnSpc>
                <a:spcPct val="115000"/>
              </a:lnSpc>
            </a:pPr>
            <a:r>
              <a:rPr sz="950" b="0">
                <a:solidFill>
                  <a:srgbClr val="FFFFFF"/>
                </a:solidFill>
                <a:latin typeface="メイリオ"/>
                <a:ea typeface="メイリオ"/>
                <a:cs typeface="メイリオ"/>
              </a:rPr>
              <a:t>成長エピソード</a:t>
            </a:r>
          </a:p>
        </p:txBody>
      </p:sp>
      <p:sp>
        <p:nvSpPr>
          <p:cNvPr id="63" name="Rounded Rectangle 62"/>
          <p:cNvSpPr/>
          <p:nvPr/>
        </p:nvSpPr>
        <p:spPr>
          <a:xfrm>
            <a:off x="4338514" y="5015524"/>
            <a:ext cx="1230171" cy="1176475"/>
          </a:xfrm>
          <a:prstGeom prst="roundRect">
            <a:avLst>
              <a:gd name="adj" fmla="val 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100" b="1">
                <a:solidFill>
                  <a:srgbClr val="FFFFFF"/>
                </a:solidFill>
                <a:latin typeface="メイリオ"/>
                <a:ea typeface="メイリオ"/>
                <a:cs typeface="メイリオ"/>
              </a:rPr>
              <a:t>6日目</a:t>
            </a:r>
          </a:p>
          <a:p>
            <a:pPr algn="ctr">
              <a:lnSpc>
                <a:spcPct val="115000"/>
              </a:lnSpc>
            </a:pPr>
            <a:r>
              <a:rPr sz="1050" b="1">
                <a:solidFill>
                  <a:srgbClr val="FFFFFF"/>
                </a:solidFill>
                <a:latin typeface="メイリオ"/>
                <a:ea typeface="メイリオ"/>
                <a:cs typeface="メイリオ"/>
              </a:rPr>
              <a:t>体験のご案内①</a:t>
            </a:r>
          </a:p>
          <a:p>
            <a:pPr algn="ctr">
              <a:lnSpc>
                <a:spcPct val="115000"/>
              </a:lnSpc>
            </a:pPr>
            <a:r>
              <a:rPr sz="950" b="0">
                <a:solidFill>
                  <a:srgbClr val="FFFFFF"/>
                </a:solidFill>
                <a:latin typeface="メイリオ"/>
                <a:ea typeface="メイリオ"/>
                <a:cs typeface="メイリオ"/>
              </a:rPr>
              <a:t>（CV）</a:t>
            </a:r>
          </a:p>
        </p:txBody>
      </p:sp>
      <p:sp>
        <p:nvSpPr>
          <p:cNvPr id="64" name="Rounded Rectangle 63"/>
          <p:cNvSpPr/>
          <p:nvPr/>
        </p:nvSpPr>
        <p:spPr>
          <a:xfrm>
            <a:off x="5640685" y="5015524"/>
            <a:ext cx="1230171" cy="1176475"/>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100" b="1">
                <a:solidFill>
                  <a:srgbClr val="FFFFFF"/>
                </a:solidFill>
                <a:latin typeface="メイリオ"/>
                <a:ea typeface="メイリオ"/>
                <a:cs typeface="メイリオ"/>
              </a:rPr>
              <a:t>9日目</a:t>
            </a:r>
          </a:p>
          <a:p>
            <a:pPr algn="ctr">
              <a:lnSpc>
                <a:spcPct val="115000"/>
              </a:lnSpc>
            </a:pPr>
            <a:r>
              <a:rPr sz="1050" b="1">
                <a:solidFill>
                  <a:srgbClr val="FFFFFF"/>
                </a:solidFill>
                <a:latin typeface="メイリオ"/>
                <a:ea typeface="メイリオ"/>
                <a:cs typeface="メイリオ"/>
              </a:rPr>
              <a:t>伸びる力</a:t>
            </a:r>
          </a:p>
          <a:p>
            <a:pPr algn="ctr">
              <a:lnSpc>
                <a:spcPct val="115000"/>
              </a:lnSpc>
            </a:pPr>
            <a:r>
              <a:rPr sz="950" b="0">
                <a:solidFill>
                  <a:srgbClr val="FFFFFF"/>
                </a:solidFill>
                <a:latin typeface="メイリオ"/>
                <a:ea typeface="メイリオ"/>
                <a:cs typeface="メイリオ"/>
              </a:rPr>
              <a:t>非認知能力・知育</a:t>
            </a:r>
          </a:p>
        </p:txBody>
      </p:sp>
      <p:sp>
        <p:nvSpPr>
          <p:cNvPr id="65" name="Rounded Rectangle 64"/>
          <p:cNvSpPr/>
          <p:nvPr/>
        </p:nvSpPr>
        <p:spPr>
          <a:xfrm>
            <a:off x="6942857" y="5015524"/>
            <a:ext cx="1230171" cy="1176475"/>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100" b="1">
                <a:solidFill>
                  <a:srgbClr val="FFFFFF"/>
                </a:solidFill>
                <a:latin typeface="メイリオ"/>
                <a:ea typeface="メイリオ"/>
                <a:cs typeface="メイリオ"/>
              </a:rPr>
              <a:t>12日目</a:t>
            </a:r>
          </a:p>
          <a:p>
            <a:pPr algn="ctr">
              <a:lnSpc>
                <a:spcPct val="115000"/>
              </a:lnSpc>
            </a:pPr>
            <a:r>
              <a:rPr sz="1050" b="1">
                <a:solidFill>
                  <a:srgbClr val="FFFFFF"/>
                </a:solidFill>
                <a:latin typeface="メイリオ"/>
                <a:ea typeface="メイリオ"/>
                <a:cs typeface="メイリオ"/>
              </a:rPr>
              <a:t>よくある疑問</a:t>
            </a:r>
          </a:p>
          <a:p>
            <a:pPr algn="ctr">
              <a:lnSpc>
                <a:spcPct val="115000"/>
              </a:lnSpc>
            </a:pPr>
            <a:r>
              <a:rPr sz="950" b="0">
                <a:solidFill>
                  <a:srgbClr val="FFFFFF"/>
                </a:solidFill>
                <a:latin typeface="メイリオ"/>
                <a:ea typeface="メイリオ"/>
                <a:cs typeface="メイリオ"/>
              </a:rPr>
              <a:t>月謝・送迎・振替</a:t>
            </a:r>
          </a:p>
        </p:txBody>
      </p:sp>
      <p:sp>
        <p:nvSpPr>
          <p:cNvPr id="66" name="Rounded Rectangle 65"/>
          <p:cNvSpPr/>
          <p:nvPr/>
        </p:nvSpPr>
        <p:spPr>
          <a:xfrm>
            <a:off x="8245028" y="5015524"/>
            <a:ext cx="1230171" cy="1176475"/>
          </a:xfrm>
          <a:prstGeom prst="roundRect">
            <a:avLst>
              <a:gd name="adj" fmla="val 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100" b="1">
                <a:solidFill>
                  <a:srgbClr val="FFFFFF"/>
                </a:solidFill>
                <a:latin typeface="メイリオ"/>
                <a:ea typeface="メイリオ"/>
                <a:cs typeface="メイリオ"/>
              </a:rPr>
              <a:t>14日目</a:t>
            </a:r>
          </a:p>
          <a:p>
            <a:pPr algn="ctr">
              <a:lnSpc>
                <a:spcPct val="115000"/>
              </a:lnSpc>
            </a:pPr>
            <a:r>
              <a:rPr sz="1050" b="1">
                <a:solidFill>
                  <a:srgbClr val="FFFFFF"/>
                </a:solidFill>
                <a:latin typeface="メイリオ"/>
                <a:ea typeface="メイリオ"/>
                <a:cs typeface="メイリオ"/>
              </a:rPr>
              <a:t>体験のご案内②</a:t>
            </a:r>
          </a:p>
          <a:p>
            <a:pPr algn="ctr">
              <a:lnSpc>
                <a:spcPct val="115000"/>
              </a:lnSpc>
            </a:pPr>
            <a:r>
              <a:rPr sz="950" b="0">
                <a:solidFill>
                  <a:srgbClr val="FFFFFF"/>
                </a:solidFill>
                <a:latin typeface="メイリオ"/>
                <a:ea typeface="メイリオ"/>
                <a:cs typeface="メイリオ"/>
              </a:rPr>
              <a:t>（CV）</a:t>
            </a:r>
          </a:p>
        </p:txBody>
      </p:sp>
      <p:cxnSp>
        <p:nvCxnSpPr>
          <p:cNvPr id="67" name="Connector 66"/>
          <p:cNvCxnSpPr/>
          <p:nvPr/>
        </p:nvCxnSpPr>
        <p:spPr>
          <a:xfrm>
            <a:off x="4573005" y="4313865"/>
            <a:ext cx="314145" cy="413659"/>
          </a:xfrm>
          <a:prstGeom prst="line">
            <a:avLst/>
          </a:prstGeom>
          <a:ln w="19050">
            <a:solidFill>
              <a:srgbClr val="4472C4"/>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432000" y="6282000"/>
            <a:ext cx="7200000" cy="180000"/>
          </a:xfrm>
          <a:prstGeom prst="rect">
            <a:avLst/>
          </a:prstGeom>
          <a:noFill/>
        </p:spPr>
        <p:txBody>
          <a:bodyPr wrap="square" lIns="0" tIns="21600" rIns="0" bIns="21600" anchor="ctr">
            <a:spAutoFit/>
          </a:bodyPr>
          <a:lstStyle/>
          <a:p>
            <a:pPr algn="l"/>
            <a:r>
              <a:rPr sz="800">
                <a:solidFill>
                  <a:srgbClr val="7F7F7F"/>
                </a:solidFill>
                <a:latin typeface="メイリオ"/>
                <a:ea typeface="メイリオ"/>
                <a:cs typeface="メイリオ"/>
              </a:rPr>
              <a:t>出典：LINEヤフー社提供の前後検索データ（検索起点：「子ども 習い事」）</a:t>
            </a:r>
          </a:p>
        </p:txBody>
      </p:sp>
    </p:spTree>
    <p:extLst>
      <p:ext uri="{BB962C8B-B14F-4D97-AF65-F5344CB8AC3E}">
        <p14:creationId xmlns:p14="http://schemas.microsoft.com/office/powerpoint/2010/main" val="14393306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A4403-1A8A-B352-52D7-3C459B4E9FF3}"/>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3FF53609-3AE6-15F7-F91A-8F9748838B2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前後検索「習い事」</a:t>
            </a:r>
          </a:p>
        </p:txBody>
      </p:sp>
      <p:sp>
        <p:nvSpPr>
          <p:cNvPr id="5" name="Text 7">
            <a:extLst>
              <a:ext uri="{FF2B5EF4-FFF2-40B4-BE49-F238E27FC236}">
                <a16:creationId xmlns:a16="http://schemas.microsoft.com/office/drawing/2014/main" id="{BD6FF840-BD2A-C9D2-6742-4C0E533AE4B4}"/>
              </a:ext>
            </a:extLst>
          </p:cNvPr>
          <p:cNvSpPr txBox="1"/>
          <p:nvPr/>
        </p:nvSpPr>
        <p:spPr>
          <a:xfrm>
            <a:off x="385572" y="648000"/>
            <a:ext cx="9134856" cy="666000"/>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indent="0" algn="ctr">
              <a:buNone/>
            </a:pPr>
            <a:r>
              <a:rPr lang="en-US" altLang="ja-JP" sz="1400" dirty="0">
                <a:solidFill>
                  <a:schemeClr val="tx1"/>
                </a:solidFill>
                <a:latin typeface="メイリオ" panose="020B0604030504040204" pitchFamily="50" charset="-128"/>
                <a:ea typeface="メイリオ" panose="020B0604030504040204" pitchFamily="50" charset="-128"/>
                <a:cs typeface="メイリオ"/>
              </a:rPr>
              <a:t>「</a:t>
            </a:r>
            <a:r>
              <a:rPr lang="en-US" altLang="ja-JP" sz="1400" dirty="0" err="1">
                <a:solidFill>
                  <a:schemeClr val="tx1"/>
                </a:solidFill>
                <a:latin typeface="メイリオ" panose="020B0604030504040204" pitchFamily="50" charset="-128"/>
                <a:ea typeface="メイリオ" panose="020B0604030504040204" pitchFamily="50" charset="-128"/>
                <a:cs typeface="メイリオ"/>
              </a:rPr>
              <a:t>習い事」で探す保護者の動き方には、一定の型が</a:t>
            </a:r>
            <a:r>
              <a:rPr lang="ja-JP" altLang="en-US" sz="1400" dirty="0">
                <a:solidFill>
                  <a:schemeClr val="tx1"/>
                </a:solidFill>
                <a:latin typeface="メイリオ" panose="020B0604030504040204" pitchFamily="50" charset="-128"/>
                <a:ea typeface="メイリオ" panose="020B0604030504040204" pitchFamily="50" charset="-128"/>
                <a:cs typeface="メイリオ"/>
              </a:rPr>
              <a:t>存在</a:t>
            </a:r>
            <a:endParaRPr lang="en-US" altLang="ja-JP" sz="14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6" name="Rounded Rectangle 45"/>
          <p:cNvSpPr/>
          <p:nvPr/>
        </p:nvSpPr>
        <p:spPr>
          <a:xfrm>
            <a:off x="432000" y="1584000"/>
            <a:ext cx="1848000" cy="223200"/>
          </a:xfrm>
          <a:prstGeom prst="roundRect">
            <a:avLst>
              <a:gd name="adj" fmla="val 8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00" b="1">
                <a:solidFill>
                  <a:srgbClr val="2B5797"/>
                </a:solidFill>
                <a:latin typeface="メイリオ"/>
                <a:ea typeface="メイリオ"/>
                <a:cs typeface="メイリオ"/>
              </a:rPr>
              <a:t>習い事の比較・検討</a:t>
            </a:r>
          </a:p>
        </p:txBody>
      </p:sp>
      <p:sp>
        <p:nvSpPr>
          <p:cNvPr id="47" name="Rounded Rectangle 46"/>
          <p:cNvSpPr/>
          <p:nvPr/>
        </p:nvSpPr>
        <p:spPr>
          <a:xfrm>
            <a:off x="2352000" y="1584000"/>
            <a:ext cx="1848000" cy="223200"/>
          </a:xfrm>
          <a:prstGeom prst="roundRect">
            <a:avLst>
              <a:gd name="adj" fmla="val 8000"/>
            </a:avLst>
          </a:prstGeom>
          <a:solidFill>
            <a:srgbClr val="FBE0CF"/>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00" b="1">
                <a:solidFill>
                  <a:srgbClr val="C0561A"/>
                </a:solidFill>
                <a:latin typeface="メイリオ"/>
                <a:ea typeface="メイリオ"/>
                <a:cs typeface="メイリオ"/>
              </a:rPr>
              <a:t>子育て・学び</a:t>
            </a:r>
          </a:p>
        </p:txBody>
      </p:sp>
      <p:sp>
        <p:nvSpPr>
          <p:cNvPr id="48" name="Rounded Rectangle 47"/>
          <p:cNvSpPr/>
          <p:nvPr/>
        </p:nvSpPr>
        <p:spPr>
          <a:xfrm>
            <a:off x="4272000" y="1584000"/>
            <a:ext cx="1848000" cy="223200"/>
          </a:xfrm>
          <a:prstGeom prst="roundRect">
            <a:avLst>
              <a:gd name="adj" fmla="val 8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00" b="1">
                <a:solidFill>
                  <a:srgbClr val="7440A8"/>
                </a:solidFill>
                <a:latin typeface="メイリオ"/>
                <a:ea typeface="メイリオ"/>
                <a:cs typeface="メイリオ"/>
              </a:rPr>
              <a:t>家族のお出かけ・楽しみ</a:t>
            </a:r>
          </a:p>
        </p:txBody>
      </p:sp>
      <p:pic>
        <p:nvPicPr>
          <p:cNvPr id="49" name="Picture 48" descr="image.png"/>
          <p:cNvPicPr>
            <a:picLocks noChangeAspect="1"/>
          </p:cNvPicPr>
          <p:nvPr/>
        </p:nvPicPr>
        <p:blipFill>
          <a:blip r:embed="rId3"/>
          <a:stretch>
            <a:fillRect/>
          </a:stretch>
        </p:blipFill>
        <p:spPr>
          <a:xfrm>
            <a:off x="432000" y="1861200"/>
            <a:ext cx="5688000" cy="3317470"/>
          </a:xfrm>
          <a:prstGeom prst="rect">
            <a:avLst/>
          </a:prstGeom>
        </p:spPr>
      </p:pic>
      <p:sp>
        <p:nvSpPr>
          <p:cNvPr id="50" name="Rectangle 49"/>
          <p:cNvSpPr/>
          <p:nvPr/>
        </p:nvSpPr>
        <p:spPr>
          <a:xfrm>
            <a:off x="3358618" y="1861200"/>
            <a:ext cx="676840" cy="3281470"/>
          </a:xfrm>
          <a:prstGeom prst="rect">
            <a:avLst/>
          </a:prstGeom>
          <a:solidFill>
            <a:srgbClr val="06C75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メイリオ"/>
              <a:ea typeface="メイリオ"/>
              <a:cs typeface="メイリオ"/>
            </a:endParaRPr>
          </a:p>
        </p:txBody>
      </p:sp>
      <p:sp>
        <p:nvSpPr>
          <p:cNvPr id="51" name="Rectangle 50"/>
          <p:cNvSpPr/>
          <p:nvPr/>
        </p:nvSpPr>
        <p:spPr>
          <a:xfrm>
            <a:off x="3229039" y="5196670"/>
            <a:ext cx="936000" cy="223200"/>
          </a:xfrm>
          <a:prstGeom prst="rect">
            <a:avLst/>
          </a:prstGeom>
          <a:solidFill>
            <a:srgbClr val="C6EFCE"/>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950" b="1">
                <a:solidFill>
                  <a:srgbClr val="00873C"/>
                </a:solidFill>
                <a:latin typeface="メイリオ"/>
                <a:ea typeface="メイリオ"/>
                <a:cs typeface="メイリオ"/>
              </a:rPr>
              <a:t>LINE追加</a:t>
            </a:r>
          </a:p>
        </p:txBody>
      </p:sp>
      <p:sp>
        <p:nvSpPr>
          <p:cNvPr id="52" name="TextBox 51"/>
          <p:cNvSpPr txBox="1"/>
          <p:nvPr/>
        </p:nvSpPr>
        <p:spPr>
          <a:xfrm>
            <a:off x="4140000" y="5214670"/>
            <a:ext cx="1980000" cy="180000"/>
          </a:xfrm>
          <a:prstGeom prst="rect">
            <a:avLst/>
          </a:prstGeom>
          <a:noFill/>
        </p:spPr>
        <p:txBody>
          <a:bodyPr wrap="square" lIns="0" tIns="21600" rIns="0" bIns="21600" anchor="ctr">
            <a:spAutoFit/>
          </a:bodyPr>
          <a:lstStyle/>
          <a:p>
            <a:pPr algn="r"/>
            <a:r>
              <a:rPr sz="850">
                <a:solidFill>
                  <a:srgbClr val="7F7F7F"/>
                </a:solidFill>
                <a:latin typeface="メイリオ"/>
                <a:ea typeface="メイリオ"/>
                <a:cs typeface="メイリオ"/>
              </a:rPr>
              <a:t>色なし：大人の習い事・趣味、その他</a:t>
            </a:r>
          </a:p>
        </p:txBody>
      </p:sp>
      <p:sp>
        <p:nvSpPr>
          <p:cNvPr id="53" name="Rounded Rectangle 52"/>
          <p:cNvSpPr/>
          <p:nvPr/>
        </p:nvSpPr>
        <p:spPr>
          <a:xfrm>
            <a:off x="6228000" y="1584000"/>
            <a:ext cx="32472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25999" tIns="90000" rIns="108000" bIns="54000" rtlCol="0" anchor="t"/>
          <a:lstStyle/>
          <a:p>
            <a:pPr algn="l">
              <a:spcAft>
                <a:spcPts val="500"/>
              </a:spcAft>
            </a:pPr>
            <a:r>
              <a:rPr sz="1200" b="1">
                <a:solidFill>
                  <a:srgbClr val="1F285A"/>
                </a:solidFill>
                <a:latin typeface="メイリオ"/>
                <a:ea typeface="メイリオ"/>
                <a:cs typeface="メイリオ"/>
              </a:rPr>
              <a:t>検索前（〜前日）：子どもの悩み・習い事の効果</a:t>
            </a:r>
          </a:p>
          <a:p>
            <a:pPr algn="l">
              <a:lnSpc>
                <a:spcPct val="125000"/>
              </a:lnSpc>
              <a:spcAft>
                <a:spcPts val="200"/>
              </a:spcAft>
            </a:pPr>
            <a:r>
              <a:rPr sz="1050">
                <a:solidFill>
                  <a:srgbClr val="333333"/>
                </a:solidFill>
                <a:latin typeface="メイリオ"/>
                <a:ea typeface="メイリオ"/>
                <a:cs typeface="メイリオ"/>
              </a:rPr>
              <a:t>療育／集団行動が苦手な子供／子供 イライラする／9歳の壁／そろばん 効果</a:t>
            </a:r>
          </a:p>
        </p:txBody>
      </p:sp>
      <p:sp>
        <p:nvSpPr>
          <p:cNvPr id="54" name="Rounded Rectangle 53"/>
          <p:cNvSpPr/>
          <p:nvPr/>
        </p:nvSpPr>
        <p:spPr>
          <a:xfrm>
            <a:off x="6228000" y="2808000"/>
            <a:ext cx="3247200" cy="115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125999" tIns="90000" rIns="108000" bIns="54000" rtlCol="0" anchor="t"/>
          <a:lstStyle/>
          <a:p>
            <a:pPr algn="l">
              <a:spcAft>
                <a:spcPts val="500"/>
              </a:spcAft>
            </a:pPr>
            <a:r>
              <a:rPr sz="1200" b="1">
                <a:solidFill>
                  <a:srgbClr val="ED7D31"/>
                </a:solidFill>
                <a:latin typeface="メイリオ"/>
                <a:ea typeface="メイリオ"/>
                <a:cs typeface="メイリオ"/>
              </a:rPr>
              <a:t>検索当日：習い事の種類・ランキング</a:t>
            </a:r>
          </a:p>
          <a:p>
            <a:pPr algn="l">
              <a:lnSpc>
                <a:spcPct val="125000"/>
              </a:lnSpc>
              <a:spcAft>
                <a:spcPts val="200"/>
              </a:spcAft>
            </a:pPr>
            <a:r>
              <a:rPr sz="1050">
                <a:solidFill>
                  <a:srgbClr val="333333"/>
                </a:solidFill>
                <a:latin typeface="メイリオ"/>
                <a:ea typeface="メイリオ"/>
                <a:cs typeface="メイリオ"/>
              </a:rPr>
              <a:t>習い事 ランキング／子供の習い事／体操教室／そろばん／スポーツ 習い事</a:t>
            </a:r>
          </a:p>
        </p:txBody>
      </p:sp>
      <p:sp>
        <p:nvSpPr>
          <p:cNvPr id="55" name="Rounded Rectangle 54"/>
          <p:cNvSpPr/>
          <p:nvPr/>
        </p:nvSpPr>
        <p:spPr>
          <a:xfrm>
            <a:off x="6228000" y="4031999"/>
            <a:ext cx="32472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25999" tIns="90000" rIns="108000" bIns="54000" rtlCol="0" anchor="t"/>
          <a:lstStyle/>
          <a:p>
            <a:pPr algn="l">
              <a:spcAft>
                <a:spcPts val="500"/>
              </a:spcAft>
            </a:pPr>
            <a:r>
              <a:rPr sz="1200" b="1">
                <a:solidFill>
                  <a:srgbClr val="1F285A"/>
                </a:solidFill>
                <a:latin typeface="メイリオ"/>
                <a:ea typeface="メイリオ"/>
                <a:cs typeface="メイリオ"/>
              </a:rPr>
              <a:t>検索後（翌日〜15日）：教室名・評判・月謝の確認</a:t>
            </a:r>
          </a:p>
          <a:p>
            <a:pPr algn="l">
              <a:lnSpc>
                <a:spcPct val="125000"/>
              </a:lnSpc>
              <a:spcAft>
                <a:spcPts val="200"/>
              </a:spcAft>
            </a:pPr>
            <a:r>
              <a:rPr sz="1050">
                <a:solidFill>
                  <a:srgbClr val="333333"/>
                </a:solidFill>
                <a:latin typeface="メイリオ"/>
                <a:ea typeface="メイリオ"/>
                <a:cs typeface="メイリオ"/>
              </a:rPr>
              <a:t>忍者ナイン 評判／くもん 月謝／小学生 習い事 いくつ／幼児教室／小学校一年生</a:t>
            </a:r>
          </a:p>
        </p:txBody>
      </p:sp>
      <p:sp>
        <p:nvSpPr>
          <p:cNvPr id="56" name="Rounded Rectangle 55"/>
          <p:cNvSpPr/>
          <p:nvPr/>
        </p:nvSpPr>
        <p:spPr>
          <a:xfrm>
            <a:off x="432000" y="5526000"/>
            <a:ext cx="9043200" cy="468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400" b="1" dirty="0" err="1">
                <a:solidFill>
                  <a:srgbClr val="FFFFFF"/>
                </a:solidFill>
                <a:latin typeface="メイリオ"/>
                <a:ea typeface="メイリオ"/>
                <a:cs typeface="メイリオ"/>
              </a:rPr>
              <a:t>登録した後の配信</a:t>
            </a:r>
            <a:r>
              <a:rPr lang="ja-JP" altLang="en-US" sz="1400" b="1" dirty="0">
                <a:solidFill>
                  <a:srgbClr val="FFFFFF"/>
                </a:solidFill>
                <a:latin typeface="メイリオ"/>
                <a:ea typeface="メイリオ"/>
                <a:cs typeface="メイリオ"/>
              </a:rPr>
              <a:t>に</a:t>
            </a:r>
            <a:r>
              <a:rPr sz="1400" b="1" dirty="0" err="1">
                <a:solidFill>
                  <a:srgbClr val="FFFFFF"/>
                </a:solidFill>
                <a:latin typeface="メイリオ"/>
                <a:ea typeface="メイリオ"/>
                <a:cs typeface="メイリオ"/>
              </a:rPr>
              <a:t>は「子どもの悩み</a:t>
            </a:r>
            <a:r>
              <a:rPr sz="1400" b="1" dirty="0">
                <a:solidFill>
                  <a:srgbClr val="FFFFFF"/>
                </a:solidFill>
                <a:latin typeface="メイリオ"/>
                <a:ea typeface="メイリオ"/>
                <a:cs typeface="メイリオ"/>
              </a:rPr>
              <a:t> → </a:t>
            </a:r>
            <a:r>
              <a:rPr sz="1400" b="1" dirty="0" err="1">
                <a:solidFill>
                  <a:srgbClr val="FFFFFF"/>
                </a:solidFill>
                <a:latin typeface="メイリオ"/>
                <a:ea typeface="メイリオ"/>
                <a:cs typeface="メイリオ"/>
              </a:rPr>
              <a:t>習い事の比べ方</a:t>
            </a:r>
            <a:r>
              <a:rPr sz="1400" b="1" dirty="0">
                <a:solidFill>
                  <a:srgbClr val="FFFFFF"/>
                </a:solidFill>
                <a:latin typeface="メイリオ"/>
                <a:ea typeface="メイリオ"/>
                <a:cs typeface="メイリオ"/>
              </a:rPr>
              <a:t> → </a:t>
            </a:r>
            <a:r>
              <a:rPr sz="1400" b="1" dirty="0" err="1">
                <a:solidFill>
                  <a:srgbClr val="FFFFFF"/>
                </a:solidFill>
                <a:latin typeface="メイリオ"/>
                <a:ea typeface="メイリオ"/>
                <a:cs typeface="メイリオ"/>
              </a:rPr>
              <a:t>評判・月謝」の順番が最適</a:t>
            </a:r>
            <a:endParaRPr sz="1400" b="1" dirty="0">
              <a:solidFill>
                <a:srgbClr val="FFFFFF"/>
              </a:solidFill>
              <a:latin typeface="メイリオ"/>
              <a:ea typeface="メイリオ"/>
              <a:cs typeface="メイリオ"/>
            </a:endParaRPr>
          </a:p>
        </p:txBody>
      </p:sp>
      <p:sp>
        <p:nvSpPr>
          <p:cNvPr id="57" name="TextBox 56"/>
          <p:cNvSpPr txBox="1"/>
          <p:nvPr/>
        </p:nvSpPr>
        <p:spPr>
          <a:xfrm>
            <a:off x="432000" y="6282000"/>
            <a:ext cx="7200000" cy="180000"/>
          </a:xfrm>
          <a:prstGeom prst="rect">
            <a:avLst/>
          </a:prstGeom>
          <a:noFill/>
        </p:spPr>
        <p:txBody>
          <a:bodyPr wrap="square" lIns="0" tIns="21600" rIns="0" bIns="21600" anchor="ctr">
            <a:spAutoFit/>
          </a:bodyPr>
          <a:lstStyle/>
          <a:p>
            <a:pPr algn="l"/>
            <a:r>
              <a:rPr sz="800">
                <a:solidFill>
                  <a:srgbClr val="7F7F7F"/>
                </a:solidFill>
                <a:latin typeface="メイリオ"/>
                <a:ea typeface="メイリオ"/>
                <a:cs typeface="メイリオ"/>
              </a:rPr>
              <a:t>出典：LINEヤフー社提供の前後検索データ（検索起点：「習い事」）</a:t>
            </a:r>
          </a:p>
        </p:txBody>
      </p:sp>
    </p:spTree>
    <p:extLst>
      <p:ext uri="{BB962C8B-B14F-4D97-AF65-F5344CB8AC3E}">
        <p14:creationId xmlns:p14="http://schemas.microsoft.com/office/powerpoint/2010/main" val="3154136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C179E5F-42D4-89F9-9472-648B520C621A}"/>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前後検索のまとめ（項目別）</a:t>
            </a:r>
          </a:p>
        </p:txBody>
      </p:sp>
      <p:sp>
        <p:nvSpPr>
          <p:cNvPr id="5" name="Text 7">
            <a:extLst>
              <a:ext uri="{FF2B5EF4-FFF2-40B4-BE49-F238E27FC236}">
                <a16:creationId xmlns:a16="http://schemas.microsoft.com/office/drawing/2014/main" id="{3A699E6E-FDC6-D14D-24A9-A9C2E09A8B68}"/>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indent="0" algn="ctr">
              <a:buNone/>
            </a:pPr>
            <a:r>
              <a:rPr lang="ja-JP" altLang="en-US" sz="1400" b="1" dirty="0">
                <a:solidFill>
                  <a:schemeClr val="tx1"/>
                </a:solidFill>
                <a:latin typeface="メイリオ" pitchFamily="34" charset="0"/>
                <a:ea typeface="メイリオ" pitchFamily="34" charset="-122"/>
                <a:cs typeface="メイリオ" pitchFamily="34" charset="-120"/>
              </a:rPr>
              <a:t>習い事の比較は検索の当日から後まで続き、その前後に子育て・家族のお出かけへの関心</a:t>
            </a:r>
          </a:p>
          <a:p>
            <a:pPr marL="0" indent="0" algn="ctr">
              <a:buNone/>
            </a:pPr>
            <a:r>
              <a:rPr lang="ja-JP" altLang="en-US" sz="1400" b="1" dirty="0">
                <a:solidFill>
                  <a:schemeClr val="tx1"/>
                </a:solidFill>
                <a:latin typeface="メイリオ" pitchFamily="34" charset="0"/>
                <a:ea typeface="メイリオ" pitchFamily="34" charset="-122"/>
                <a:cs typeface="メイリオ" pitchFamily="34" charset="-120"/>
              </a:rPr>
              <a:t>項目ごとに、LINEでの打ち手を用意</a:t>
            </a:r>
            <a:r>
              <a:rPr lang="ja-JP" altLang="en-US" b="1" dirty="0">
                <a:solidFill>
                  <a:schemeClr val="tx1"/>
                </a:solidFill>
                <a:latin typeface="メイリオ" pitchFamily="34" charset="0"/>
                <a:ea typeface="メイリオ" pitchFamily="34" charset="-122"/>
                <a:cs typeface="メイリオ" pitchFamily="34" charset="-120"/>
              </a:rPr>
              <a:t>する</a:t>
            </a:r>
            <a:endParaRPr lang="ja-JP" altLang="en-US" sz="1400" b="1" dirty="0">
              <a:solidFill>
                <a:schemeClr val="tx1"/>
              </a:solidFill>
              <a:latin typeface="メイリオ" pitchFamily="34" charset="0"/>
              <a:ea typeface="メイリオ" pitchFamily="34" charset="-122"/>
              <a:cs typeface="メイリオ" pitchFamily="34" charset="-120"/>
            </a:endParaRPr>
          </a:p>
        </p:txBody>
      </p:sp>
      <p:sp>
        <p:nvSpPr>
          <p:cNvPr id="46" name="Rounded Rectangle 45"/>
          <p:cNvSpPr/>
          <p:nvPr/>
        </p:nvSpPr>
        <p:spPr>
          <a:xfrm>
            <a:off x="1763999" y="1530000"/>
            <a:ext cx="19620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250" b="1">
                <a:solidFill>
                  <a:srgbClr val="FFFFFF"/>
                </a:solidFill>
                <a:latin typeface="メイリオ"/>
                <a:ea typeface="メイリオ"/>
                <a:cs typeface="メイリオ"/>
              </a:rPr>
              <a:t>検索前（-15〜-1日）</a:t>
            </a:r>
          </a:p>
        </p:txBody>
      </p:sp>
      <p:sp>
        <p:nvSpPr>
          <p:cNvPr id="47" name="Rounded Rectangle 46"/>
          <p:cNvSpPr/>
          <p:nvPr/>
        </p:nvSpPr>
        <p:spPr>
          <a:xfrm>
            <a:off x="3761999" y="1530000"/>
            <a:ext cx="19620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250" b="1">
                <a:solidFill>
                  <a:srgbClr val="FFFFFF"/>
                </a:solidFill>
                <a:latin typeface="メイリオ"/>
                <a:ea typeface="メイリオ"/>
                <a:cs typeface="メイリオ"/>
              </a:rPr>
              <a:t>検索当日</a:t>
            </a:r>
          </a:p>
        </p:txBody>
      </p:sp>
      <p:sp>
        <p:nvSpPr>
          <p:cNvPr id="48" name="Rounded Rectangle 47"/>
          <p:cNvSpPr/>
          <p:nvPr/>
        </p:nvSpPr>
        <p:spPr>
          <a:xfrm>
            <a:off x="5759999" y="1530000"/>
            <a:ext cx="19620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250" b="1">
                <a:solidFill>
                  <a:srgbClr val="FFFFFF"/>
                </a:solidFill>
                <a:latin typeface="メイリオ"/>
                <a:ea typeface="メイリオ"/>
                <a:cs typeface="メイリオ"/>
              </a:rPr>
              <a:t>検索後（+1〜15日）</a:t>
            </a:r>
          </a:p>
        </p:txBody>
      </p:sp>
      <p:sp>
        <p:nvSpPr>
          <p:cNvPr id="49" name="Rounded Rectangle 48"/>
          <p:cNvSpPr/>
          <p:nvPr/>
        </p:nvSpPr>
        <p:spPr>
          <a:xfrm>
            <a:off x="7758000" y="1530000"/>
            <a:ext cx="1807199" cy="342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250" b="1">
                <a:solidFill>
                  <a:srgbClr val="FFFFFF"/>
                </a:solidFill>
                <a:latin typeface="メイリオ"/>
                <a:ea typeface="メイリオ"/>
                <a:cs typeface="メイリオ"/>
              </a:rPr>
              <a:t>LINEでの打ち手</a:t>
            </a:r>
          </a:p>
        </p:txBody>
      </p:sp>
      <p:sp>
        <p:nvSpPr>
          <p:cNvPr id="50" name="Rounded Rectangle 49"/>
          <p:cNvSpPr/>
          <p:nvPr/>
        </p:nvSpPr>
        <p:spPr>
          <a:xfrm>
            <a:off x="432000" y="1908000"/>
            <a:ext cx="1296000" cy="1242000"/>
          </a:xfrm>
          <a:prstGeom prst="roundRect">
            <a:avLst>
              <a:gd name="adj" fmla="val 6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lnSpc>
                <a:spcPct val="115000"/>
              </a:lnSpc>
            </a:pPr>
            <a:r>
              <a:rPr sz="1450" b="1">
                <a:solidFill>
                  <a:srgbClr val="FFFFFF"/>
                </a:solidFill>
                <a:latin typeface="メイリオ"/>
                <a:ea typeface="メイリオ"/>
                <a:cs typeface="メイリオ"/>
              </a:rPr>
              <a:t>習い事の</a:t>
            </a:r>
          </a:p>
          <a:p>
            <a:pPr algn="ctr">
              <a:lnSpc>
                <a:spcPct val="115000"/>
              </a:lnSpc>
            </a:pPr>
            <a:r>
              <a:rPr sz="1450" b="1">
                <a:solidFill>
                  <a:srgbClr val="FFFFFF"/>
                </a:solidFill>
                <a:latin typeface="メイリオ"/>
                <a:ea typeface="メイリオ"/>
                <a:cs typeface="メイリオ"/>
              </a:rPr>
              <a:t>比較・検討</a:t>
            </a:r>
          </a:p>
        </p:txBody>
      </p:sp>
      <p:sp>
        <p:nvSpPr>
          <p:cNvPr id="51" name="Rounded Rectangle 50"/>
          <p:cNvSpPr/>
          <p:nvPr/>
        </p:nvSpPr>
        <p:spPr>
          <a:xfrm>
            <a:off x="1763999" y="1908000"/>
            <a:ext cx="1962000" cy="1242000"/>
          </a:xfrm>
          <a:prstGeom prst="roundRect">
            <a:avLst>
              <a:gd name="adj" fmla="val 4000"/>
            </a:avLst>
          </a:prstGeom>
          <a:solidFill>
            <a:srgbClr val="E7EEF8"/>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「公文式教室」</a:t>
            </a:r>
          </a:p>
          <a:p>
            <a:pPr algn="ctr">
              <a:spcAft>
                <a:spcPts val="100"/>
              </a:spcAft>
            </a:pPr>
            <a:r>
              <a:rPr sz="1250">
                <a:solidFill>
                  <a:srgbClr val="333333"/>
                </a:solidFill>
                <a:latin typeface="メイリオ"/>
                <a:ea typeface="メイリオ"/>
                <a:cs typeface="メイリオ"/>
              </a:rPr>
              <a:t>「ピアノ 習い事」</a:t>
            </a:r>
          </a:p>
          <a:p>
            <a:pPr algn="ctr">
              <a:spcAft>
                <a:spcPts val="100"/>
              </a:spcAft>
            </a:pPr>
            <a:r>
              <a:rPr sz="1250">
                <a:solidFill>
                  <a:srgbClr val="333333"/>
                </a:solidFill>
                <a:latin typeface="メイリオ"/>
                <a:ea typeface="メイリオ"/>
                <a:cs typeface="メイリオ"/>
              </a:rPr>
              <a:t>「そろばん 効果」</a:t>
            </a:r>
          </a:p>
          <a:p>
            <a:pPr algn="ctr">
              <a:spcAft>
                <a:spcPts val="100"/>
              </a:spcAft>
            </a:pPr>
            <a:r>
              <a:rPr sz="1250">
                <a:solidFill>
                  <a:srgbClr val="333333"/>
                </a:solidFill>
                <a:latin typeface="メイリオ"/>
                <a:ea typeface="メイリオ"/>
                <a:cs typeface="メイリオ"/>
              </a:rPr>
              <a:t>「くもん 英語」</a:t>
            </a:r>
          </a:p>
        </p:txBody>
      </p:sp>
      <p:sp>
        <p:nvSpPr>
          <p:cNvPr id="52" name="Rounded Rectangle 51"/>
          <p:cNvSpPr/>
          <p:nvPr/>
        </p:nvSpPr>
        <p:spPr>
          <a:xfrm>
            <a:off x="3761999" y="1908000"/>
            <a:ext cx="1962000" cy="1242000"/>
          </a:xfrm>
          <a:prstGeom prst="roundRect">
            <a:avLst>
              <a:gd name="adj" fmla="val 4000"/>
            </a:avLst>
          </a:prstGeom>
          <a:solidFill>
            <a:srgbClr val="E7EEF8"/>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「習い事 ランキング」</a:t>
            </a:r>
          </a:p>
          <a:p>
            <a:pPr algn="ctr">
              <a:spcAft>
                <a:spcPts val="100"/>
              </a:spcAft>
            </a:pPr>
            <a:r>
              <a:rPr sz="1250">
                <a:solidFill>
                  <a:srgbClr val="333333"/>
                </a:solidFill>
                <a:latin typeface="メイリオ"/>
                <a:ea typeface="メイリオ"/>
                <a:cs typeface="メイリオ"/>
              </a:rPr>
              <a:t>「ヤマハ音楽教室」</a:t>
            </a:r>
          </a:p>
          <a:p>
            <a:pPr algn="ctr">
              <a:spcAft>
                <a:spcPts val="100"/>
              </a:spcAft>
            </a:pPr>
            <a:r>
              <a:rPr sz="1250">
                <a:solidFill>
                  <a:srgbClr val="333333"/>
                </a:solidFill>
                <a:latin typeface="メイリオ"/>
                <a:ea typeface="メイリオ"/>
                <a:cs typeface="メイリオ"/>
              </a:rPr>
              <a:t>「そろばん」</a:t>
            </a:r>
          </a:p>
          <a:p>
            <a:pPr algn="ctr">
              <a:spcAft>
                <a:spcPts val="100"/>
              </a:spcAft>
            </a:pPr>
            <a:r>
              <a:rPr sz="1250">
                <a:solidFill>
                  <a:srgbClr val="333333"/>
                </a:solidFill>
                <a:latin typeface="メイリオ"/>
                <a:ea typeface="メイリオ"/>
                <a:cs typeface="メイリオ"/>
              </a:rPr>
              <a:t>「体操教室」</a:t>
            </a:r>
          </a:p>
        </p:txBody>
      </p:sp>
      <p:sp>
        <p:nvSpPr>
          <p:cNvPr id="53" name="Rounded Rectangle 52"/>
          <p:cNvSpPr/>
          <p:nvPr/>
        </p:nvSpPr>
        <p:spPr>
          <a:xfrm>
            <a:off x="5759999" y="1908000"/>
            <a:ext cx="1962000" cy="1242000"/>
          </a:xfrm>
          <a:prstGeom prst="roundRect">
            <a:avLst>
              <a:gd name="adj" fmla="val 4000"/>
            </a:avLst>
          </a:prstGeom>
          <a:solidFill>
            <a:srgbClr val="E7EEF8"/>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「忍者ナイン 評判」</a:t>
            </a:r>
          </a:p>
          <a:p>
            <a:pPr algn="ctr">
              <a:spcAft>
                <a:spcPts val="100"/>
              </a:spcAft>
            </a:pPr>
            <a:r>
              <a:rPr sz="1250">
                <a:solidFill>
                  <a:srgbClr val="333333"/>
                </a:solidFill>
                <a:latin typeface="メイリオ"/>
                <a:ea typeface="メイリオ"/>
                <a:cs typeface="メイリオ"/>
              </a:rPr>
              <a:t>「くもん 月謝」</a:t>
            </a:r>
          </a:p>
          <a:p>
            <a:pPr algn="ctr">
              <a:spcAft>
                <a:spcPts val="100"/>
              </a:spcAft>
            </a:pPr>
            <a:r>
              <a:rPr sz="1250">
                <a:solidFill>
                  <a:srgbClr val="333333"/>
                </a:solidFill>
                <a:latin typeface="メイリオ"/>
                <a:ea typeface="メイリオ"/>
                <a:cs typeface="メイリオ"/>
              </a:rPr>
              <a:t>「小学生 習い事 いくつ」</a:t>
            </a:r>
          </a:p>
          <a:p>
            <a:pPr algn="ctr">
              <a:spcAft>
                <a:spcPts val="100"/>
              </a:spcAft>
            </a:pPr>
            <a:r>
              <a:rPr sz="1250">
                <a:solidFill>
                  <a:srgbClr val="333333"/>
                </a:solidFill>
                <a:latin typeface="メイリオ"/>
                <a:ea typeface="メイリオ"/>
                <a:cs typeface="メイリオ"/>
              </a:rPr>
              <a:t>「幼児教室」</a:t>
            </a:r>
          </a:p>
        </p:txBody>
      </p:sp>
      <p:sp>
        <p:nvSpPr>
          <p:cNvPr id="54" name="Rounded Rectangle 53"/>
          <p:cNvSpPr/>
          <p:nvPr/>
        </p:nvSpPr>
        <p:spPr>
          <a:xfrm>
            <a:off x="7758000" y="1908000"/>
            <a:ext cx="1807199" cy="1242000"/>
          </a:xfrm>
          <a:prstGeom prst="roundRect">
            <a:avLst>
              <a:gd name="adj" fmla="val 6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108000" tIns="21600" rIns="90000" bIns="21600" rtlCol="0" anchor="ctr"/>
          <a:lstStyle/>
          <a:p>
            <a:pPr algn="l">
              <a:lnSpc>
                <a:spcPct val="125000"/>
              </a:lnSpc>
            </a:pPr>
            <a:r>
              <a:rPr sz="1250" b="1">
                <a:solidFill>
                  <a:srgbClr val="0B7A3B"/>
                </a:solidFill>
                <a:latin typeface="メイリオ"/>
                <a:ea typeface="メイリオ"/>
                <a:cs typeface="メイリオ"/>
              </a:rPr>
              <a:t>比較の最中に友だち追加。評判・月謝の疑問にお答えし、体験予約へ</a:t>
            </a:r>
          </a:p>
        </p:txBody>
      </p:sp>
      <p:sp>
        <p:nvSpPr>
          <p:cNvPr id="55" name="Rounded Rectangle 54"/>
          <p:cNvSpPr/>
          <p:nvPr/>
        </p:nvSpPr>
        <p:spPr>
          <a:xfrm>
            <a:off x="432000" y="3193200"/>
            <a:ext cx="1296000" cy="1242000"/>
          </a:xfrm>
          <a:prstGeom prst="roundRect">
            <a:avLst>
              <a:gd name="adj" fmla="val 6000"/>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lnSpc>
                <a:spcPct val="115000"/>
              </a:lnSpc>
            </a:pPr>
            <a:r>
              <a:rPr sz="1450" b="1">
                <a:solidFill>
                  <a:srgbClr val="FFFFFF"/>
                </a:solidFill>
                <a:latin typeface="メイリオ"/>
                <a:ea typeface="メイリオ"/>
                <a:cs typeface="メイリオ"/>
              </a:rPr>
              <a:t>子育て・</a:t>
            </a:r>
          </a:p>
          <a:p>
            <a:pPr algn="ctr">
              <a:lnSpc>
                <a:spcPct val="115000"/>
              </a:lnSpc>
            </a:pPr>
            <a:r>
              <a:rPr sz="1450" b="1">
                <a:solidFill>
                  <a:srgbClr val="FFFFFF"/>
                </a:solidFill>
                <a:latin typeface="メイリオ"/>
                <a:ea typeface="メイリオ"/>
                <a:cs typeface="メイリオ"/>
              </a:rPr>
              <a:t>学び</a:t>
            </a:r>
          </a:p>
        </p:txBody>
      </p:sp>
      <p:sp>
        <p:nvSpPr>
          <p:cNvPr id="56" name="Rounded Rectangle 55"/>
          <p:cNvSpPr/>
          <p:nvPr/>
        </p:nvSpPr>
        <p:spPr>
          <a:xfrm>
            <a:off x="1763999" y="3193200"/>
            <a:ext cx="1962000" cy="1242000"/>
          </a:xfrm>
          <a:prstGeom prst="roundRect">
            <a:avLst>
              <a:gd name="adj" fmla="val 4000"/>
            </a:avLst>
          </a:prstGeom>
          <a:solidFill>
            <a:srgbClr val="FBEBDD"/>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「こどもちゃれんじ」</a:t>
            </a:r>
          </a:p>
          <a:p>
            <a:pPr algn="ctr">
              <a:spcAft>
                <a:spcPts val="100"/>
              </a:spcAft>
            </a:pPr>
            <a:r>
              <a:rPr sz="1250">
                <a:solidFill>
                  <a:srgbClr val="333333"/>
                </a:solidFill>
                <a:latin typeface="メイリオ"/>
                <a:ea typeface="メイリオ"/>
                <a:cs typeface="メイリオ"/>
              </a:rPr>
              <a:t>「スマイルゼミ」</a:t>
            </a:r>
          </a:p>
          <a:p>
            <a:pPr algn="ctr">
              <a:spcAft>
                <a:spcPts val="100"/>
              </a:spcAft>
            </a:pPr>
            <a:r>
              <a:rPr sz="1250">
                <a:solidFill>
                  <a:srgbClr val="333333"/>
                </a:solidFill>
                <a:latin typeface="メイリオ"/>
                <a:ea typeface="メイリオ"/>
                <a:cs typeface="メイリオ"/>
              </a:rPr>
              <a:t>「子供 イライラする」</a:t>
            </a:r>
          </a:p>
          <a:p>
            <a:pPr algn="ctr">
              <a:spcAft>
                <a:spcPts val="100"/>
              </a:spcAft>
            </a:pPr>
            <a:r>
              <a:rPr sz="1250">
                <a:solidFill>
                  <a:srgbClr val="333333"/>
                </a:solidFill>
                <a:latin typeface="メイリオ"/>
                <a:ea typeface="メイリオ"/>
                <a:cs typeface="メイリオ"/>
              </a:rPr>
              <a:t>「9歳の壁」</a:t>
            </a:r>
          </a:p>
        </p:txBody>
      </p:sp>
      <p:sp>
        <p:nvSpPr>
          <p:cNvPr id="57" name="Rounded Rectangle 56"/>
          <p:cNvSpPr/>
          <p:nvPr/>
        </p:nvSpPr>
        <p:spPr>
          <a:xfrm>
            <a:off x="3761999" y="3193200"/>
            <a:ext cx="1962000" cy="1242000"/>
          </a:xfrm>
          <a:prstGeom prst="roundRect">
            <a:avLst>
              <a:gd name="adj" fmla="val 4000"/>
            </a:avLst>
          </a:prstGeom>
          <a:solidFill>
            <a:srgbClr val="FBEBDD"/>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「rsウイルス」</a:t>
            </a:r>
          </a:p>
        </p:txBody>
      </p:sp>
      <p:sp>
        <p:nvSpPr>
          <p:cNvPr id="58" name="Rounded Rectangle 57"/>
          <p:cNvSpPr/>
          <p:nvPr/>
        </p:nvSpPr>
        <p:spPr>
          <a:xfrm>
            <a:off x="5759999" y="3193200"/>
            <a:ext cx="1962000" cy="1242000"/>
          </a:xfrm>
          <a:prstGeom prst="roundRect">
            <a:avLst>
              <a:gd name="adj" fmla="val 4000"/>
            </a:avLst>
          </a:prstGeom>
          <a:solidFill>
            <a:srgbClr val="FBEBDD"/>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「小学校受験」</a:t>
            </a:r>
          </a:p>
          <a:p>
            <a:pPr algn="ctr">
              <a:spcAft>
                <a:spcPts val="100"/>
              </a:spcAft>
            </a:pPr>
            <a:r>
              <a:rPr sz="1250">
                <a:solidFill>
                  <a:srgbClr val="333333"/>
                </a:solidFill>
                <a:latin typeface="メイリオ"/>
                <a:ea typeface="メイリオ"/>
                <a:cs typeface="メイリオ"/>
              </a:rPr>
              <a:t>「小学校一年生」</a:t>
            </a:r>
          </a:p>
          <a:p>
            <a:pPr algn="ctr">
              <a:spcAft>
                <a:spcPts val="100"/>
              </a:spcAft>
            </a:pPr>
            <a:r>
              <a:rPr sz="1250">
                <a:solidFill>
                  <a:srgbClr val="333333"/>
                </a:solidFill>
                <a:latin typeface="メイリオ"/>
                <a:ea typeface="メイリオ"/>
                <a:cs typeface="メイリオ"/>
              </a:rPr>
              <a:t>「ポピー 教材」</a:t>
            </a:r>
          </a:p>
          <a:p>
            <a:pPr algn="ctr">
              <a:spcAft>
                <a:spcPts val="100"/>
              </a:spcAft>
            </a:pPr>
            <a:r>
              <a:rPr sz="1250">
                <a:solidFill>
                  <a:srgbClr val="333333"/>
                </a:solidFill>
                <a:latin typeface="メイリオ"/>
                <a:ea typeface="メイリオ"/>
                <a:cs typeface="メイリオ"/>
              </a:rPr>
              <a:t>「児童手当」</a:t>
            </a:r>
          </a:p>
        </p:txBody>
      </p:sp>
      <p:sp>
        <p:nvSpPr>
          <p:cNvPr id="59" name="Rounded Rectangle 58"/>
          <p:cNvSpPr/>
          <p:nvPr/>
        </p:nvSpPr>
        <p:spPr>
          <a:xfrm>
            <a:off x="7758000" y="3193200"/>
            <a:ext cx="1807199" cy="1242000"/>
          </a:xfrm>
          <a:prstGeom prst="roundRect">
            <a:avLst>
              <a:gd name="adj" fmla="val 6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108000" tIns="21600" rIns="90000" bIns="21600" rtlCol="0" anchor="ctr"/>
          <a:lstStyle/>
          <a:p>
            <a:pPr algn="l">
              <a:lnSpc>
                <a:spcPct val="125000"/>
              </a:lnSpc>
            </a:pPr>
            <a:r>
              <a:rPr sz="1250" b="1">
                <a:solidFill>
                  <a:srgbClr val="0B7A3B"/>
                </a:solidFill>
                <a:latin typeface="メイリオ"/>
                <a:ea typeface="メイリオ"/>
                <a:cs typeface="メイリオ"/>
              </a:rPr>
              <a:t>子どもの成長・悩みに寄り添う情報をお届けし、接点を保つ</a:t>
            </a:r>
          </a:p>
        </p:txBody>
      </p:sp>
      <p:sp>
        <p:nvSpPr>
          <p:cNvPr id="60" name="Rounded Rectangle 59"/>
          <p:cNvSpPr/>
          <p:nvPr/>
        </p:nvSpPr>
        <p:spPr>
          <a:xfrm>
            <a:off x="432000" y="4478400"/>
            <a:ext cx="1296000" cy="1242000"/>
          </a:xfrm>
          <a:prstGeom prst="roundRect">
            <a:avLst>
              <a:gd name="adj" fmla="val 6000"/>
            </a:avLst>
          </a:prstGeom>
          <a:solidFill>
            <a:srgbClr val="8E4EC6"/>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lnSpc>
                <a:spcPct val="115000"/>
              </a:lnSpc>
            </a:pPr>
            <a:r>
              <a:rPr sz="1450" b="1">
                <a:solidFill>
                  <a:srgbClr val="FFFFFF"/>
                </a:solidFill>
                <a:latin typeface="メイリオ"/>
                <a:ea typeface="メイリオ"/>
                <a:cs typeface="メイリオ"/>
              </a:rPr>
              <a:t>家族の</a:t>
            </a:r>
          </a:p>
          <a:p>
            <a:pPr algn="ctr">
              <a:lnSpc>
                <a:spcPct val="115000"/>
              </a:lnSpc>
            </a:pPr>
            <a:r>
              <a:rPr sz="1450" b="1">
                <a:solidFill>
                  <a:srgbClr val="FFFFFF"/>
                </a:solidFill>
                <a:latin typeface="メイリオ"/>
                <a:ea typeface="メイリオ"/>
                <a:cs typeface="メイリオ"/>
              </a:rPr>
              <a:t>お出かけ・</a:t>
            </a:r>
          </a:p>
          <a:p>
            <a:pPr algn="ctr">
              <a:lnSpc>
                <a:spcPct val="115000"/>
              </a:lnSpc>
            </a:pPr>
            <a:r>
              <a:rPr sz="1450" b="1">
                <a:solidFill>
                  <a:srgbClr val="FFFFFF"/>
                </a:solidFill>
                <a:latin typeface="メイリオ"/>
                <a:ea typeface="メイリオ"/>
                <a:cs typeface="メイリオ"/>
              </a:rPr>
              <a:t>楽しみ</a:t>
            </a:r>
          </a:p>
        </p:txBody>
      </p:sp>
      <p:sp>
        <p:nvSpPr>
          <p:cNvPr id="61" name="Rounded Rectangle 60"/>
          <p:cNvSpPr/>
          <p:nvPr/>
        </p:nvSpPr>
        <p:spPr>
          <a:xfrm>
            <a:off x="1763999" y="4478400"/>
            <a:ext cx="1962000" cy="1242000"/>
          </a:xfrm>
          <a:prstGeom prst="roundRect">
            <a:avLst>
              <a:gd name="adj" fmla="val 4000"/>
            </a:avLst>
          </a:prstGeom>
          <a:solidFill>
            <a:srgbClr val="F1E9F8"/>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「キッザニア」</a:t>
            </a:r>
          </a:p>
          <a:p>
            <a:pPr algn="ctr">
              <a:spcAft>
                <a:spcPts val="100"/>
              </a:spcAft>
            </a:pPr>
            <a:r>
              <a:rPr sz="1250">
                <a:solidFill>
                  <a:srgbClr val="333333"/>
                </a:solidFill>
                <a:latin typeface="メイリオ"/>
                <a:ea typeface="メイリオ"/>
                <a:cs typeface="メイリオ"/>
              </a:rPr>
              <a:t>「スタジオアリス」</a:t>
            </a:r>
          </a:p>
          <a:p>
            <a:pPr algn="ctr">
              <a:spcAft>
                <a:spcPts val="100"/>
              </a:spcAft>
            </a:pPr>
            <a:r>
              <a:rPr sz="1250">
                <a:solidFill>
                  <a:srgbClr val="333333"/>
                </a:solidFill>
                <a:latin typeface="メイリオ"/>
                <a:ea typeface="メイリオ"/>
                <a:cs typeface="メイリオ"/>
              </a:rPr>
              <a:t>「夏休み 子供 過ごし方」</a:t>
            </a:r>
          </a:p>
        </p:txBody>
      </p:sp>
      <p:sp>
        <p:nvSpPr>
          <p:cNvPr id="62" name="Rounded Rectangle 61"/>
          <p:cNvSpPr/>
          <p:nvPr/>
        </p:nvSpPr>
        <p:spPr>
          <a:xfrm>
            <a:off x="3761999" y="4478400"/>
            <a:ext cx="1962000" cy="1242000"/>
          </a:xfrm>
          <a:prstGeom prst="roundRect">
            <a:avLst>
              <a:gd name="adj" fmla="val 4000"/>
            </a:avLst>
          </a:prstGeom>
          <a:solidFill>
            <a:srgbClr val="F1E9F8"/>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a:t>
            </a:r>
          </a:p>
        </p:txBody>
      </p:sp>
      <p:sp>
        <p:nvSpPr>
          <p:cNvPr id="63" name="Rounded Rectangle 62"/>
          <p:cNvSpPr/>
          <p:nvPr/>
        </p:nvSpPr>
        <p:spPr>
          <a:xfrm>
            <a:off x="5759999" y="4478400"/>
            <a:ext cx="1962000" cy="1242000"/>
          </a:xfrm>
          <a:prstGeom prst="roundRect">
            <a:avLst>
              <a:gd name="adj" fmla="val 4000"/>
            </a:avLst>
          </a:prstGeom>
          <a:solidFill>
            <a:srgbClr val="F1E9F8"/>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「ポケモンセンター」</a:t>
            </a:r>
          </a:p>
          <a:p>
            <a:pPr algn="ctr">
              <a:spcAft>
                <a:spcPts val="100"/>
              </a:spcAft>
            </a:pPr>
            <a:r>
              <a:rPr sz="1250">
                <a:solidFill>
                  <a:srgbClr val="333333"/>
                </a:solidFill>
                <a:latin typeface="メイリオ"/>
                <a:ea typeface="メイリオ"/>
                <a:cs typeface="メイリオ"/>
              </a:rPr>
              <a:t>「七五三」</a:t>
            </a:r>
          </a:p>
          <a:p>
            <a:pPr algn="ctr">
              <a:spcAft>
                <a:spcPts val="100"/>
              </a:spcAft>
            </a:pPr>
            <a:r>
              <a:rPr sz="1250">
                <a:solidFill>
                  <a:srgbClr val="333333"/>
                </a:solidFill>
                <a:latin typeface="メイリオ"/>
                <a:ea typeface="メイリオ"/>
                <a:cs typeface="メイリオ"/>
              </a:rPr>
              <a:t>「ハーモニーランド」</a:t>
            </a:r>
          </a:p>
        </p:txBody>
      </p:sp>
      <p:sp>
        <p:nvSpPr>
          <p:cNvPr id="64" name="Rounded Rectangle 63"/>
          <p:cNvSpPr/>
          <p:nvPr/>
        </p:nvSpPr>
        <p:spPr>
          <a:xfrm>
            <a:off x="7758000" y="4478400"/>
            <a:ext cx="1807199" cy="1242000"/>
          </a:xfrm>
          <a:prstGeom prst="roundRect">
            <a:avLst>
              <a:gd name="adj" fmla="val 6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108000" tIns="21600" rIns="90000" bIns="21600" rtlCol="0" anchor="ctr"/>
          <a:lstStyle/>
          <a:p>
            <a:pPr algn="l">
              <a:lnSpc>
                <a:spcPct val="125000"/>
              </a:lnSpc>
            </a:pPr>
            <a:r>
              <a:rPr sz="1250" b="1">
                <a:solidFill>
                  <a:srgbClr val="0B7A3B"/>
                </a:solidFill>
                <a:latin typeface="メイリオ"/>
                <a:ea typeface="メイリオ"/>
                <a:cs typeface="メイリオ"/>
              </a:rPr>
              <a:t>季節の行事（七五三・夏休みなど）に合わせた企画配信</a:t>
            </a:r>
          </a:p>
        </p:txBody>
      </p:sp>
      <p:sp>
        <p:nvSpPr>
          <p:cNvPr id="65" name="TextBox 64"/>
          <p:cNvSpPr txBox="1"/>
          <p:nvPr/>
        </p:nvSpPr>
        <p:spPr>
          <a:xfrm>
            <a:off x="432000" y="5806800"/>
            <a:ext cx="1296000" cy="342000"/>
          </a:xfrm>
          <a:prstGeom prst="rect">
            <a:avLst/>
          </a:prstGeom>
          <a:noFill/>
        </p:spPr>
        <p:txBody>
          <a:bodyPr wrap="square" lIns="0" tIns="21600" rIns="0" bIns="21600" anchor="ctr">
            <a:spAutoFit/>
          </a:bodyPr>
          <a:lstStyle/>
          <a:p>
            <a:pPr algn="ctr"/>
            <a:r>
              <a:rPr sz="1200" b="1">
                <a:solidFill>
                  <a:srgbClr val="1F285A"/>
                </a:solidFill>
                <a:latin typeface="メイリオ"/>
                <a:ea typeface="メイリオ"/>
                <a:cs typeface="メイリオ"/>
              </a:rPr>
              <a:t>LINEへの動線</a:t>
            </a:r>
          </a:p>
        </p:txBody>
      </p:sp>
      <p:sp>
        <p:nvSpPr>
          <p:cNvPr id="66" name="Rounded Rectangle 65"/>
          <p:cNvSpPr/>
          <p:nvPr/>
        </p:nvSpPr>
        <p:spPr>
          <a:xfrm>
            <a:off x="1763999" y="5806800"/>
            <a:ext cx="19620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300" b="1">
                <a:solidFill>
                  <a:srgbClr val="FFFFFF"/>
                </a:solidFill>
                <a:latin typeface="メイリオ"/>
                <a:ea typeface="メイリオ"/>
                <a:cs typeface="メイリオ"/>
              </a:rPr>
              <a:t>離脱防止バナーの掲載</a:t>
            </a:r>
          </a:p>
        </p:txBody>
      </p:sp>
      <p:sp>
        <p:nvSpPr>
          <p:cNvPr id="67" name="Rounded Rectangle 66"/>
          <p:cNvSpPr/>
          <p:nvPr/>
        </p:nvSpPr>
        <p:spPr>
          <a:xfrm>
            <a:off x="3761999" y="5806800"/>
            <a:ext cx="1962000" cy="342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300" b="1">
                <a:solidFill>
                  <a:srgbClr val="FFFFFF"/>
                </a:solidFill>
                <a:latin typeface="メイリオ"/>
                <a:ea typeface="メイリオ"/>
                <a:cs typeface="メイリオ"/>
              </a:rPr>
              <a:t>LINE友だち追加</a:t>
            </a:r>
          </a:p>
        </p:txBody>
      </p:sp>
      <p:sp>
        <p:nvSpPr>
          <p:cNvPr id="68" name="Rounded Rectangle 67"/>
          <p:cNvSpPr/>
          <p:nvPr/>
        </p:nvSpPr>
        <p:spPr>
          <a:xfrm>
            <a:off x="5759999" y="5806800"/>
            <a:ext cx="1962000" cy="342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300" b="1">
                <a:solidFill>
                  <a:srgbClr val="FFFFFF"/>
                </a:solidFill>
                <a:latin typeface="メイリオ"/>
                <a:ea typeface="メイリオ"/>
                <a:cs typeface="メイリオ"/>
              </a:rPr>
              <a:t>LINE施策（投稿）</a:t>
            </a:r>
          </a:p>
        </p:txBody>
      </p:sp>
      <p:sp>
        <p:nvSpPr>
          <p:cNvPr id="69" name="TextBox 68"/>
          <p:cNvSpPr txBox="1"/>
          <p:nvPr/>
        </p:nvSpPr>
        <p:spPr>
          <a:xfrm>
            <a:off x="432000" y="6202800"/>
            <a:ext cx="9043200" cy="180000"/>
          </a:xfrm>
          <a:prstGeom prst="rect">
            <a:avLst/>
          </a:prstGeom>
          <a:noFill/>
        </p:spPr>
        <p:txBody>
          <a:bodyPr wrap="square" lIns="0" tIns="21600" rIns="0" bIns="21600" anchor="ctr">
            <a:spAutoFit/>
          </a:bodyPr>
          <a:lstStyle/>
          <a:p>
            <a:pPr algn="l"/>
            <a:r>
              <a:rPr sz="800">
                <a:solidFill>
                  <a:srgbClr val="7F7F7F"/>
                </a:solidFill>
                <a:latin typeface="メイリオ"/>
                <a:ea typeface="メイリオ"/>
                <a:cs typeface="メイリオ"/>
              </a:rPr>
              <a:t>出典：LINEヤフー社提供の前後検索データ（検索起点：「子ども 習い事」「習い事」）</a:t>
            </a:r>
          </a:p>
        </p:txBody>
      </p:sp>
    </p:spTree>
    <p:extLst>
      <p:ext uri="{BB962C8B-B14F-4D97-AF65-F5344CB8AC3E}">
        <p14:creationId xmlns:p14="http://schemas.microsoft.com/office/powerpoint/2010/main" val="9951958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メイリオ"/>
                <a:ea typeface="メイリオ"/>
                <a:cs typeface="メイリオ"/>
                <a:sym typeface="Meiryo"/>
              </a:rPr>
              <a:t>競合分析【忍者ナイン】</a:t>
            </a:r>
            <a:endParaRPr lang="en-US" altLang="ja-JP" sz="1600" b="1" dirty="0">
              <a:solidFill>
                <a:srgbClr val="002060"/>
              </a:solidFill>
              <a:latin typeface="メイリオ"/>
              <a:ea typeface="メイリオ"/>
              <a:cs typeface="メイリオ"/>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indent="0" algn="ctr">
              <a:buNone/>
            </a:pPr>
            <a:r>
              <a:rPr lang="ja-JP" altLang="en-US" b="0" dirty="0">
                <a:solidFill>
                  <a:srgbClr val="333333"/>
                </a:solidFill>
                <a:latin typeface="メイリオ" panose="020B0604030504040204" pitchFamily="50" charset="-128"/>
                <a:ea typeface="メイリオ" panose="020B0604030504040204" pitchFamily="50" charset="-128"/>
                <a:cs typeface="メイリオ" pitchFamily="34" charset="-120"/>
              </a:rPr>
              <a:t>主要競合5社中、LINE公式アカウントを運用しているのは1社のみ</a:t>
            </a:r>
            <a:endParaRPr lang="en-US" altLang="ja-JP" b="0" dirty="0">
              <a:solidFill>
                <a:srgbClr val="333333"/>
              </a:solidFill>
              <a:latin typeface="メイリオ" panose="020B0604030504040204" pitchFamily="50" charset="-128"/>
              <a:ea typeface="メイリオ" panose="020B0604030504040204" pitchFamily="50" charset="-128"/>
              <a:cs typeface="メイリオ" pitchFamily="34" charset="-120"/>
            </a:endParaRPr>
          </a:p>
          <a:p>
            <a:pPr marL="0" indent="0" algn="ctr">
              <a:buNone/>
            </a:pPr>
            <a:r>
              <a:rPr lang="ja-JP" altLang="en-US" b="0" dirty="0">
                <a:solidFill>
                  <a:srgbClr val="333333"/>
                </a:solidFill>
                <a:latin typeface="メイリオ" panose="020B0604030504040204" pitchFamily="50" charset="-128"/>
                <a:ea typeface="メイリオ" panose="020B0604030504040204" pitchFamily="50" charset="-128"/>
                <a:cs typeface="メイリオ" pitchFamily="34" charset="-120"/>
              </a:rPr>
              <a:t>多くの競合がLINEに未着手のため、先行者優位を取りやすい</a:t>
            </a:r>
            <a:endParaRPr lang="en-US" altLang="ja-JP" sz="1800" b="1" dirty="0">
              <a:solidFill>
                <a:schemeClr val="tx1"/>
              </a:solidFill>
              <a:latin typeface="メイリオ" panose="020B0604030504040204" pitchFamily="50" charset="-128"/>
              <a:ea typeface="メイリオ" panose="020B0604030504040204" pitchFamily="50" charset="-128"/>
              <a:cs typeface="メイリオ"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201898837"/>
              </p:ext>
            </p:extLst>
          </p:nvPr>
        </p:nvGraphicFramePr>
        <p:xfrm>
          <a:off x="384048" y="1600199"/>
          <a:ext cx="9134854" cy="3192348"/>
        </p:xfrm>
        <a:graphic>
          <a:graphicData uri="http://schemas.openxmlformats.org/drawingml/2006/table">
            <a:tbl>
              <a:tblPr firstRow="1" bandRow="1">
                <a:tableStyleId>{5C22544A-7EE6-4342-B048-85BDC9FD1C3A}</a:tableStyleId>
              </a:tblPr>
              <a:tblGrid>
                <a:gridCol w="2298767">
                  <a:extLst>
                    <a:ext uri="{9D8B030D-6E8A-4147-A177-3AD203B41FA5}">
                      <a16:colId xmlns:a16="http://schemas.microsoft.com/office/drawing/2014/main" val="20000"/>
                    </a:ext>
                  </a:extLst>
                </a:gridCol>
                <a:gridCol w="2027208">
                  <a:extLst>
                    <a:ext uri="{9D8B030D-6E8A-4147-A177-3AD203B41FA5}">
                      <a16:colId xmlns:a16="http://schemas.microsoft.com/office/drawing/2014/main" val="20001"/>
                    </a:ext>
                  </a:extLst>
                </a:gridCol>
                <a:gridCol w="2311879">
                  <a:extLst>
                    <a:ext uri="{9D8B030D-6E8A-4147-A177-3AD203B41FA5}">
                      <a16:colId xmlns:a16="http://schemas.microsoft.com/office/drawing/2014/main" val="20002"/>
                    </a:ext>
                  </a:extLst>
                </a:gridCol>
                <a:gridCol w="2497000">
                  <a:extLst>
                    <a:ext uri="{9D8B030D-6E8A-4147-A177-3AD203B41FA5}">
                      <a16:colId xmlns:a16="http://schemas.microsoft.com/office/drawing/2014/main" val="20003"/>
                    </a:ext>
                  </a:extLst>
                </a:gridCol>
              </a:tblGrid>
              <a:tr h="478047">
                <a:tc>
                  <a:txBody>
                    <a:bodyPr/>
                    <a:lstStyle/>
                    <a:p>
                      <a:r>
                        <a:rPr sz="1100" b="1">
                          <a:solidFill>
                            <a:srgbClr val="FFFFFF"/>
                          </a:solidFill>
                          <a:latin typeface="メイリオ"/>
                          <a:ea typeface="メイリオ"/>
                          <a:cs typeface="メイリオ"/>
                        </a:rPr>
                        <a:t>競合</a:t>
                      </a:r>
                    </a:p>
                  </a:txBody>
                  <a:tcPr>
                    <a:solidFill>
                      <a:srgbClr val="1F2A5C"/>
                    </a:solidFill>
                  </a:tcPr>
                </a:tc>
                <a:tc>
                  <a:txBody>
                    <a:bodyPr/>
                    <a:lstStyle/>
                    <a:p>
                      <a:r>
                        <a:rPr sz="1100" b="1" dirty="0" err="1">
                          <a:solidFill>
                            <a:srgbClr val="FFFFFF"/>
                          </a:solidFill>
                          <a:latin typeface="メイリオ"/>
                          <a:ea typeface="メイリオ"/>
                          <a:cs typeface="メイリオ"/>
                        </a:rPr>
                        <a:t>LINE公式アカウント</a:t>
                      </a:r>
                      <a:endParaRPr sz="1100" b="1" dirty="0">
                        <a:solidFill>
                          <a:srgbClr val="FFFFFF"/>
                        </a:solidFill>
                        <a:latin typeface="メイリオ"/>
                        <a:ea typeface="メイリオ"/>
                        <a:cs typeface="メイリオ"/>
                      </a:endParaRPr>
                    </a:p>
                  </a:txBody>
                  <a:tcPr>
                    <a:solidFill>
                      <a:srgbClr val="1F2A5C"/>
                    </a:solidFill>
                  </a:tcPr>
                </a:tc>
                <a:tc>
                  <a:txBody>
                    <a:bodyPr/>
                    <a:lstStyle/>
                    <a:p>
                      <a:r>
                        <a:rPr sz="1100" b="1" dirty="0" err="1">
                          <a:solidFill>
                            <a:srgbClr val="FFFFFF"/>
                          </a:solidFill>
                          <a:latin typeface="メイリオ"/>
                          <a:ea typeface="メイリオ"/>
                          <a:cs typeface="メイリオ"/>
                        </a:rPr>
                        <a:t>訴求</a:t>
                      </a:r>
                      <a:endParaRPr sz="1100" b="1" dirty="0">
                        <a:solidFill>
                          <a:srgbClr val="FFFFFF"/>
                        </a:solidFill>
                        <a:latin typeface="メイリオ"/>
                        <a:ea typeface="メイリオ"/>
                        <a:cs typeface="メイリオ"/>
                      </a:endParaRPr>
                    </a:p>
                  </a:txBody>
                  <a:tcPr>
                    <a:solidFill>
                      <a:srgbClr val="1F2A5C"/>
                    </a:solidFill>
                  </a:tcPr>
                </a:tc>
                <a:tc>
                  <a:txBody>
                    <a:bodyPr/>
                    <a:lstStyle/>
                    <a:p>
                      <a:r>
                        <a:rPr sz="1100" b="1" dirty="0" err="1">
                          <a:solidFill>
                            <a:srgbClr val="FFFFFF"/>
                          </a:solidFill>
                          <a:latin typeface="メイリオ"/>
                          <a:ea typeface="メイリオ"/>
                          <a:cs typeface="メイリオ"/>
                        </a:rPr>
                        <a:t>忍者ナインとの比較</a:t>
                      </a:r>
                      <a:endParaRPr sz="1100" b="1" dirty="0">
                        <a:solidFill>
                          <a:srgbClr val="FFFFFF"/>
                        </a:solidFill>
                        <a:latin typeface="メイリオ"/>
                        <a:ea typeface="メイリオ"/>
                        <a:cs typeface="メイリオ"/>
                      </a:endParaRPr>
                    </a:p>
                  </a:txBody>
                  <a:tcPr>
                    <a:solidFill>
                      <a:srgbClr val="1F2A5C"/>
                    </a:solidFill>
                  </a:tcPr>
                </a:tc>
                <a:extLst>
                  <a:ext uri="{0D108BD9-81ED-4DB2-BD59-A6C34878D82A}">
                    <a16:rowId xmlns:a16="http://schemas.microsoft.com/office/drawing/2014/main" val="10000"/>
                  </a:ext>
                </a:extLst>
              </a:tr>
              <a:tr h="478047">
                <a:tc>
                  <a:txBody>
                    <a:bodyPr/>
                    <a:lstStyle/>
                    <a:p>
                      <a:r>
                        <a:rPr sz="1200" b="0" dirty="0" err="1">
                          <a:solidFill>
                            <a:srgbClr val="333333"/>
                          </a:solidFill>
                          <a:latin typeface="メイリオ"/>
                          <a:ea typeface="メイリオ"/>
                          <a:cs typeface="メイリオ"/>
                        </a:rPr>
                        <a:t>biima</a:t>
                      </a:r>
                      <a:r>
                        <a:rPr sz="1200" b="0" dirty="0">
                          <a:solidFill>
                            <a:srgbClr val="333333"/>
                          </a:solidFill>
                          <a:latin typeface="メイリオ"/>
                          <a:ea typeface="メイリオ"/>
                          <a:cs typeface="メイリオ"/>
                        </a:rPr>
                        <a:t> sports</a:t>
                      </a:r>
                    </a:p>
                  </a:txBody>
                  <a:tcPr>
                    <a:solidFill>
                      <a:srgbClr val="FFFFFF"/>
                    </a:solidFill>
                  </a:tcPr>
                </a:tc>
                <a:tc>
                  <a:txBody>
                    <a:bodyPr/>
                    <a:lstStyle/>
                    <a:p>
                      <a:r>
                        <a:rPr sz="1200" b="0">
                          <a:solidFill>
                            <a:srgbClr val="333333"/>
                          </a:solidFill>
                          <a:latin typeface="メイリオ"/>
                          <a:ea typeface="メイリオ"/>
                          <a:cs typeface="メイリオ"/>
                        </a:rPr>
                        <a:t>なし</a:t>
                      </a:r>
                    </a:p>
                  </a:txBody>
                  <a:tcPr>
                    <a:solidFill>
                      <a:srgbClr val="FFFFFF"/>
                    </a:solidFill>
                  </a:tcPr>
                </a:tc>
                <a:tc>
                  <a:txBody>
                    <a:bodyPr/>
                    <a:lstStyle/>
                    <a:p>
                      <a:r>
                        <a:rPr sz="1200" b="0">
                          <a:solidFill>
                            <a:srgbClr val="333333"/>
                          </a:solidFill>
                          <a:latin typeface="メイリオ"/>
                          <a:ea typeface="メイリオ"/>
                          <a:cs typeface="メイリオ"/>
                        </a:rPr>
                        <a:t>非認知能力×複合種目</a:t>
                      </a:r>
                    </a:p>
                  </a:txBody>
                  <a:tcPr>
                    <a:solidFill>
                      <a:srgbClr val="FFFFFF"/>
                    </a:solidFill>
                  </a:tcPr>
                </a:tc>
                <a:tc>
                  <a:txBody>
                    <a:bodyPr/>
                    <a:lstStyle/>
                    <a:p>
                      <a:r>
                        <a:rPr sz="1200" b="0" dirty="0" err="1">
                          <a:solidFill>
                            <a:srgbClr val="333333"/>
                          </a:solidFill>
                          <a:latin typeface="メイリオ"/>
                          <a:ea typeface="メイリオ"/>
                          <a:cs typeface="メイリオ"/>
                        </a:rPr>
                        <a:t>最も近いポジションだが</a:t>
                      </a:r>
                      <a:r>
                        <a:rPr lang="ja-JP" altLang="en-US" sz="1200" b="0" dirty="0">
                          <a:solidFill>
                            <a:srgbClr val="333333"/>
                          </a:solidFill>
                          <a:latin typeface="メイリオ"/>
                          <a:ea typeface="メイリオ"/>
                          <a:cs typeface="メイリオ"/>
                        </a:rPr>
                        <a:t>、</a:t>
                      </a:r>
                      <a:endParaRPr lang="en-US" sz="1200" b="0" dirty="0">
                        <a:solidFill>
                          <a:srgbClr val="333333"/>
                        </a:solidFill>
                        <a:latin typeface="メイリオ"/>
                        <a:ea typeface="メイリオ"/>
                        <a:cs typeface="メイリオ"/>
                      </a:endParaRPr>
                    </a:p>
                    <a:p>
                      <a:r>
                        <a:rPr sz="1200" b="0" dirty="0" err="1">
                          <a:solidFill>
                            <a:srgbClr val="333333"/>
                          </a:solidFill>
                          <a:latin typeface="メイリオ"/>
                          <a:ea typeface="メイリオ"/>
                          <a:cs typeface="メイリオ"/>
                        </a:rPr>
                        <a:t>LINE未活用</a:t>
                      </a:r>
                      <a:r>
                        <a:rPr sz="1200" b="0" dirty="0">
                          <a:solidFill>
                            <a:srgbClr val="333333"/>
                          </a:solidFill>
                          <a:latin typeface="メイリオ"/>
                          <a:ea typeface="メイリオ"/>
                          <a:cs typeface="メイリオ"/>
                        </a:rPr>
                        <a:t>。</a:t>
                      </a:r>
                      <a:endParaRPr lang="en-US" sz="1200" b="0" dirty="0">
                        <a:solidFill>
                          <a:srgbClr val="333333"/>
                        </a:solidFill>
                        <a:latin typeface="メイリオ"/>
                        <a:ea typeface="メイリオ"/>
                        <a:cs typeface="メイリオ"/>
                      </a:endParaRPr>
                    </a:p>
                    <a:p>
                      <a:r>
                        <a:rPr sz="1200" b="0" dirty="0" err="1">
                          <a:solidFill>
                            <a:srgbClr val="333333"/>
                          </a:solidFill>
                          <a:latin typeface="メイリオ"/>
                          <a:ea typeface="メイリオ"/>
                          <a:cs typeface="メイリオ"/>
                        </a:rPr>
                        <a:t>先行できる</a:t>
                      </a:r>
                      <a:endParaRPr sz="12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1"/>
                  </a:ext>
                </a:extLst>
              </a:tr>
              <a:tr h="478047">
                <a:tc>
                  <a:txBody>
                    <a:bodyPr/>
                    <a:lstStyle/>
                    <a:p>
                      <a:r>
                        <a:rPr sz="1200" b="0">
                          <a:solidFill>
                            <a:srgbClr val="333333"/>
                          </a:solidFill>
                          <a:latin typeface="メイリオ"/>
                          <a:ea typeface="メイリオ"/>
                          <a:cs typeface="メイリオ"/>
                        </a:rPr>
                        <a:t>ジャクパ</a:t>
                      </a:r>
                    </a:p>
                  </a:txBody>
                  <a:tcPr>
                    <a:solidFill>
                      <a:srgbClr val="FFFFFF"/>
                    </a:solidFill>
                  </a:tcPr>
                </a:tc>
                <a:tc>
                  <a:txBody>
                    <a:bodyPr/>
                    <a:lstStyle/>
                    <a:p>
                      <a:r>
                        <a:rPr sz="1200" b="0">
                          <a:solidFill>
                            <a:srgbClr val="333333"/>
                          </a:solidFill>
                          <a:latin typeface="メイリオ"/>
                          <a:ea typeface="メイリオ"/>
                          <a:cs typeface="メイリオ"/>
                        </a:rPr>
                        <a:t>なし</a:t>
                      </a:r>
                    </a:p>
                  </a:txBody>
                  <a:tcPr>
                    <a:solidFill>
                      <a:srgbClr val="FFFFFF"/>
                    </a:solidFill>
                  </a:tcPr>
                </a:tc>
                <a:tc>
                  <a:txBody>
                    <a:bodyPr/>
                    <a:lstStyle/>
                    <a:p>
                      <a:r>
                        <a:rPr sz="1200" b="0">
                          <a:solidFill>
                            <a:srgbClr val="333333"/>
                          </a:solidFill>
                          <a:latin typeface="メイリオ"/>
                          <a:ea typeface="メイリオ"/>
                          <a:cs typeface="メイリオ"/>
                        </a:rPr>
                        <a:t>園内開催・体操/サッカー中心</a:t>
                      </a:r>
                    </a:p>
                  </a:txBody>
                  <a:tcPr>
                    <a:solidFill>
                      <a:srgbClr val="FFFFFF"/>
                    </a:solidFill>
                  </a:tcPr>
                </a:tc>
                <a:tc>
                  <a:txBody>
                    <a:bodyPr/>
                    <a:lstStyle/>
                    <a:p>
                      <a:r>
                        <a:rPr sz="1200" b="0" dirty="0" err="1">
                          <a:solidFill>
                            <a:srgbClr val="333333"/>
                          </a:solidFill>
                          <a:latin typeface="メイリオ"/>
                          <a:ea typeface="メイリオ"/>
                          <a:cs typeface="メイリオ"/>
                        </a:rPr>
                        <a:t>低コストが強みだが</a:t>
                      </a:r>
                      <a:r>
                        <a:rPr lang="ja-JP" altLang="en-US" sz="1200" b="0" dirty="0">
                          <a:solidFill>
                            <a:srgbClr val="333333"/>
                          </a:solidFill>
                          <a:latin typeface="メイリオ"/>
                          <a:ea typeface="メイリオ"/>
                          <a:cs typeface="メイリオ"/>
                        </a:rPr>
                        <a:t>、</a:t>
                      </a:r>
                      <a:endParaRPr lang="en-US" altLang="ja-JP" sz="1200" b="0" dirty="0">
                        <a:solidFill>
                          <a:srgbClr val="333333"/>
                        </a:solidFill>
                        <a:latin typeface="メイリオ"/>
                        <a:ea typeface="メイリオ"/>
                        <a:cs typeface="メイリオ"/>
                      </a:endParaRPr>
                    </a:p>
                    <a:p>
                      <a:r>
                        <a:rPr sz="1200" b="0" dirty="0" err="1">
                          <a:solidFill>
                            <a:srgbClr val="333333"/>
                          </a:solidFill>
                          <a:latin typeface="メイリオ"/>
                          <a:ea typeface="メイリオ"/>
                          <a:cs typeface="メイリオ"/>
                        </a:rPr>
                        <a:t>デジタル接点は薄い</a:t>
                      </a:r>
                      <a:endParaRPr sz="12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2"/>
                  </a:ext>
                </a:extLst>
              </a:tr>
              <a:tr h="478047">
                <a:tc>
                  <a:txBody>
                    <a:bodyPr/>
                    <a:lstStyle/>
                    <a:p>
                      <a:r>
                        <a:rPr sz="1200" b="0" dirty="0" err="1">
                          <a:solidFill>
                            <a:srgbClr val="333333"/>
                          </a:solidFill>
                          <a:latin typeface="メイリオ"/>
                          <a:ea typeface="メイリオ"/>
                          <a:cs typeface="メイリオ"/>
                        </a:rPr>
                        <a:t>コナミスポーツクラブ</a:t>
                      </a:r>
                      <a:r>
                        <a:rPr sz="1200" b="0" dirty="0">
                          <a:solidFill>
                            <a:srgbClr val="333333"/>
                          </a:solidFill>
                          <a:latin typeface="メイリオ"/>
                          <a:ea typeface="メイリオ"/>
                          <a:cs typeface="メイリオ"/>
                        </a:rPr>
                        <a:t> </a:t>
                      </a:r>
                      <a:r>
                        <a:rPr sz="1200" b="0" dirty="0" err="1">
                          <a:solidFill>
                            <a:srgbClr val="333333"/>
                          </a:solidFill>
                          <a:latin typeface="メイリオ"/>
                          <a:ea typeface="メイリオ"/>
                          <a:cs typeface="メイリオ"/>
                        </a:rPr>
                        <a:t>運動塾</a:t>
                      </a:r>
                      <a:endParaRPr sz="1200" b="0" dirty="0">
                        <a:solidFill>
                          <a:srgbClr val="333333"/>
                        </a:solidFill>
                        <a:latin typeface="メイリオ"/>
                        <a:ea typeface="メイリオ"/>
                        <a:cs typeface="メイリオ"/>
                      </a:endParaRPr>
                    </a:p>
                  </a:txBody>
                  <a:tcPr>
                    <a:solidFill>
                      <a:srgbClr val="FFFFFF"/>
                    </a:solidFill>
                  </a:tcPr>
                </a:tc>
                <a:tc>
                  <a:txBody>
                    <a:bodyPr/>
                    <a:lstStyle/>
                    <a:p>
                      <a:r>
                        <a:rPr sz="1200" b="0" dirty="0" err="1">
                          <a:solidFill>
                            <a:srgbClr val="333333"/>
                          </a:solidFill>
                          <a:latin typeface="メイリオ"/>
                          <a:ea typeface="メイリオ"/>
                          <a:cs typeface="メイリオ"/>
                        </a:rPr>
                        <a:t>なし</a:t>
                      </a:r>
                      <a:endParaRPr sz="1200" b="0" dirty="0">
                        <a:solidFill>
                          <a:srgbClr val="333333"/>
                        </a:solidFill>
                        <a:latin typeface="メイリオ"/>
                        <a:ea typeface="メイリオ"/>
                        <a:cs typeface="メイリオ"/>
                      </a:endParaRPr>
                    </a:p>
                  </a:txBody>
                  <a:tcPr>
                    <a:solidFill>
                      <a:srgbClr val="FFFFFF"/>
                    </a:solidFill>
                  </a:tcPr>
                </a:tc>
                <a:tc>
                  <a:txBody>
                    <a:bodyPr/>
                    <a:lstStyle/>
                    <a:p>
                      <a:r>
                        <a:rPr sz="1200" b="0" dirty="0" err="1">
                          <a:solidFill>
                            <a:srgbClr val="333333"/>
                          </a:solidFill>
                          <a:latin typeface="メイリオ"/>
                          <a:ea typeface="メイリオ"/>
                          <a:cs typeface="メイリオ"/>
                        </a:rPr>
                        <a:t>大手施設・進級テスト制度</a:t>
                      </a:r>
                      <a:endParaRPr sz="1200" b="0" dirty="0">
                        <a:solidFill>
                          <a:srgbClr val="333333"/>
                        </a:solidFill>
                        <a:latin typeface="メイリオ"/>
                        <a:ea typeface="メイリオ"/>
                        <a:cs typeface="メイリオ"/>
                      </a:endParaRPr>
                    </a:p>
                  </a:txBody>
                  <a:tcPr>
                    <a:solidFill>
                      <a:srgbClr val="FFFFFF"/>
                    </a:solidFill>
                  </a:tcPr>
                </a:tc>
                <a:tc>
                  <a:txBody>
                    <a:bodyPr/>
                    <a:lstStyle/>
                    <a:p>
                      <a:r>
                        <a:rPr sz="1200" b="0" dirty="0" err="1">
                          <a:solidFill>
                            <a:srgbClr val="333333"/>
                          </a:solidFill>
                          <a:latin typeface="メイリオ"/>
                          <a:ea typeface="メイリオ"/>
                          <a:cs typeface="メイリオ"/>
                        </a:rPr>
                        <a:t>施設力はあるが</a:t>
                      </a:r>
                      <a:r>
                        <a:rPr lang="ja-JP" altLang="en-US" sz="1200" b="0" dirty="0">
                          <a:solidFill>
                            <a:srgbClr val="333333"/>
                          </a:solidFill>
                          <a:latin typeface="メイリオ"/>
                          <a:ea typeface="メイリオ"/>
                          <a:cs typeface="メイリオ"/>
                        </a:rPr>
                        <a:t>、</a:t>
                      </a:r>
                      <a:r>
                        <a:rPr sz="1200" b="0" dirty="0" err="1">
                          <a:solidFill>
                            <a:srgbClr val="333333"/>
                          </a:solidFill>
                          <a:latin typeface="メイリオ"/>
                          <a:ea typeface="メイリオ"/>
                          <a:cs typeface="メイリオ"/>
                        </a:rPr>
                        <a:t>LINE未運用</a:t>
                      </a:r>
                      <a:endParaRPr sz="12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3"/>
                  </a:ext>
                </a:extLst>
              </a:tr>
              <a:tr h="478047">
                <a:tc>
                  <a:txBody>
                    <a:bodyPr/>
                    <a:lstStyle/>
                    <a:p>
                      <a:r>
                        <a:rPr sz="1200" b="0">
                          <a:solidFill>
                            <a:srgbClr val="333333"/>
                          </a:solidFill>
                          <a:latin typeface="メイリオ"/>
                          <a:ea typeface="メイリオ"/>
                          <a:cs typeface="メイリオ"/>
                        </a:rPr>
                        <a:t>スポーツクラブ ルネサンス</a:t>
                      </a:r>
                    </a:p>
                  </a:txBody>
                  <a:tcPr>
                    <a:solidFill>
                      <a:srgbClr val="FFFFFF"/>
                    </a:solidFill>
                  </a:tcPr>
                </a:tc>
                <a:tc>
                  <a:txBody>
                    <a:bodyPr/>
                    <a:lstStyle/>
                    <a:p>
                      <a:r>
                        <a:rPr sz="1200" b="0">
                          <a:solidFill>
                            <a:srgbClr val="333333"/>
                          </a:solidFill>
                          <a:latin typeface="メイリオ"/>
                          <a:ea typeface="メイリオ"/>
                          <a:cs typeface="メイリオ"/>
                        </a:rPr>
                        <a:t>なし</a:t>
                      </a:r>
                    </a:p>
                  </a:txBody>
                  <a:tcPr>
                    <a:solidFill>
                      <a:srgbClr val="FFFFFF"/>
                    </a:solidFill>
                  </a:tcPr>
                </a:tc>
                <a:tc>
                  <a:txBody>
                    <a:bodyPr/>
                    <a:lstStyle/>
                    <a:p>
                      <a:r>
                        <a:rPr sz="1200" b="0" dirty="0" err="1">
                          <a:solidFill>
                            <a:srgbClr val="333333"/>
                          </a:solidFill>
                          <a:latin typeface="メイリオ"/>
                          <a:ea typeface="メイリオ"/>
                          <a:cs typeface="メイリオ"/>
                        </a:rPr>
                        <a:t>エンジョイ重視・生きる力</a:t>
                      </a:r>
                      <a:endParaRPr sz="1200" b="0" dirty="0">
                        <a:solidFill>
                          <a:srgbClr val="333333"/>
                        </a:solidFill>
                        <a:latin typeface="メイリオ"/>
                        <a:ea typeface="メイリオ"/>
                        <a:cs typeface="メイリオ"/>
                      </a:endParaRPr>
                    </a:p>
                  </a:txBody>
                  <a:tcPr>
                    <a:solidFill>
                      <a:srgbClr val="FFFFFF"/>
                    </a:solidFill>
                  </a:tcPr>
                </a:tc>
                <a:tc>
                  <a:txBody>
                    <a:bodyPr/>
                    <a:lstStyle/>
                    <a:p>
                      <a:r>
                        <a:rPr sz="1200" b="0" dirty="0" err="1">
                          <a:solidFill>
                            <a:srgbClr val="333333"/>
                          </a:solidFill>
                          <a:latin typeface="メイリオ"/>
                          <a:ea typeface="メイリオ"/>
                          <a:cs typeface="メイリオ"/>
                        </a:rPr>
                        <a:t>LINE未活用</a:t>
                      </a:r>
                      <a:endParaRPr sz="12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4"/>
                  </a:ext>
                </a:extLst>
              </a:tr>
              <a:tr h="478047">
                <a:tc>
                  <a:txBody>
                    <a:bodyPr/>
                    <a:lstStyle/>
                    <a:p>
                      <a:r>
                        <a:rPr sz="1200" b="0" dirty="0" err="1">
                          <a:solidFill>
                            <a:srgbClr val="1F2A5C"/>
                          </a:solidFill>
                          <a:latin typeface="メイリオ"/>
                          <a:ea typeface="メイリオ"/>
                          <a:cs typeface="メイリオ"/>
                        </a:rPr>
                        <a:t>セントラルスポーツ</a:t>
                      </a:r>
                      <a:r>
                        <a:rPr sz="1200" b="0" dirty="0">
                          <a:solidFill>
                            <a:srgbClr val="1F2A5C"/>
                          </a:solidFill>
                          <a:latin typeface="メイリオ"/>
                          <a:ea typeface="メイリオ"/>
                          <a:cs typeface="メイリオ"/>
                        </a:rPr>
                        <a:t> </a:t>
                      </a:r>
                      <a:endParaRPr lang="en-US" sz="1200" b="0" dirty="0">
                        <a:solidFill>
                          <a:srgbClr val="1F2A5C"/>
                        </a:solidFill>
                        <a:latin typeface="メイリオ"/>
                        <a:ea typeface="メイリオ"/>
                        <a:cs typeface="メイリオ"/>
                      </a:endParaRPr>
                    </a:p>
                    <a:p>
                      <a:r>
                        <a:rPr sz="1200" b="0" dirty="0" err="1">
                          <a:solidFill>
                            <a:srgbClr val="1F2A5C"/>
                          </a:solidFill>
                          <a:latin typeface="メイリオ"/>
                          <a:ea typeface="メイリオ"/>
                          <a:cs typeface="メイリオ"/>
                        </a:rPr>
                        <a:t>キッズスクール</a:t>
                      </a:r>
                      <a:endParaRPr sz="1200" b="0" dirty="0">
                        <a:solidFill>
                          <a:srgbClr val="1F2A5C"/>
                        </a:solidFill>
                        <a:latin typeface="メイリオ"/>
                        <a:ea typeface="メイリオ"/>
                        <a:cs typeface="メイリオ"/>
                      </a:endParaRPr>
                    </a:p>
                  </a:txBody>
                  <a:tcPr>
                    <a:solidFill>
                      <a:srgbClr val="FFF3E0"/>
                    </a:solidFill>
                  </a:tcPr>
                </a:tc>
                <a:tc>
                  <a:txBody>
                    <a:bodyPr/>
                    <a:lstStyle/>
                    <a:p>
                      <a:r>
                        <a:rPr sz="1200" b="1" dirty="0">
                          <a:solidFill>
                            <a:srgbClr val="1F2A5C"/>
                          </a:solidFill>
                          <a:latin typeface="メイリオ"/>
                          <a:ea typeface="メイリオ"/>
                          <a:cs typeface="メイリオ"/>
                        </a:rPr>
                        <a:t>あり（友だち82,953人）</a:t>
                      </a:r>
                    </a:p>
                  </a:txBody>
                  <a:tcPr>
                    <a:solidFill>
                      <a:srgbClr val="FFF3E0"/>
                    </a:solidFill>
                  </a:tcPr>
                </a:tc>
                <a:tc>
                  <a:txBody>
                    <a:bodyPr/>
                    <a:lstStyle/>
                    <a:p>
                      <a:r>
                        <a:rPr sz="1200" b="0">
                          <a:solidFill>
                            <a:srgbClr val="1F2A5C"/>
                          </a:solidFill>
                          <a:latin typeface="メイリオ"/>
                          <a:ea typeface="メイリオ"/>
                          <a:cs typeface="メイリオ"/>
                        </a:rPr>
                        <a:t>体育補完・進級チェック制度</a:t>
                      </a:r>
                    </a:p>
                  </a:txBody>
                  <a:tcPr>
                    <a:solidFill>
                      <a:srgbClr val="FFF3E0"/>
                    </a:solidFill>
                  </a:tcPr>
                </a:tc>
                <a:tc>
                  <a:txBody>
                    <a:bodyPr/>
                    <a:lstStyle/>
                    <a:p>
                      <a:r>
                        <a:rPr sz="1200" b="0" dirty="0" err="1">
                          <a:solidFill>
                            <a:srgbClr val="1F2A5C"/>
                          </a:solidFill>
                          <a:latin typeface="メイリオ"/>
                          <a:ea typeface="メイリオ"/>
                          <a:cs typeface="メイリオ"/>
                        </a:rPr>
                        <a:t>業界内で唯一LINEを大規模運用</a:t>
                      </a:r>
                      <a:r>
                        <a:rPr sz="1200" b="0" dirty="0">
                          <a:solidFill>
                            <a:srgbClr val="1F2A5C"/>
                          </a:solidFill>
                          <a:latin typeface="メイリオ"/>
                          <a:ea typeface="メイリオ"/>
                          <a:cs typeface="メイリオ"/>
                        </a:rPr>
                        <a:t>。</a:t>
                      </a:r>
                      <a:endParaRPr lang="en-US" sz="1200" b="0" dirty="0">
                        <a:solidFill>
                          <a:srgbClr val="1F2A5C"/>
                        </a:solidFill>
                        <a:latin typeface="メイリオ"/>
                        <a:ea typeface="メイリオ"/>
                        <a:cs typeface="メイリオ"/>
                      </a:endParaRPr>
                    </a:p>
                    <a:p>
                      <a:r>
                        <a:rPr sz="1200" b="0" dirty="0" err="1">
                          <a:solidFill>
                            <a:srgbClr val="1F2A5C"/>
                          </a:solidFill>
                          <a:latin typeface="メイリオ"/>
                          <a:ea typeface="メイリオ"/>
                          <a:cs typeface="メイリオ"/>
                        </a:rPr>
                        <a:t>水準のベンチマーク</a:t>
                      </a:r>
                      <a:endParaRPr sz="1200" b="0" dirty="0">
                        <a:solidFill>
                          <a:srgbClr val="1F2A5C"/>
                        </a:solidFill>
                        <a:latin typeface="メイリオ"/>
                        <a:ea typeface="メイリオ"/>
                        <a:cs typeface="メイリオ"/>
                      </a:endParaRPr>
                    </a:p>
                  </a:txBody>
                  <a:tcPr>
                    <a:solidFill>
                      <a:srgbClr val="FFF3E0"/>
                    </a:solidFill>
                  </a:tcPr>
                </a:tc>
                <a:extLst>
                  <a:ext uri="{0D108BD9-81ED-4DB2-BD59-A6C34878D82A}">
                    <a16:rowId xmlns:a16="http://schemas.microsoft.com/office/drawing/2014/main" val="10005"/>
                  </a:ext>
                </a:extLst>
              </a:tr>
            </a:tbl>
          </a:graphicData>
        </a:graphic>
      </p:graphicFrame>
      <p:sp>
        <p:nvSpPr>
          <p:cNvPr id="47" name="TextBox 46"/>
          <p:cNvSpPr txBox="1"/>
          <p:nvPr/>
        </p:nvSpPr>
        <p:spPr>
          <a:xfrm>
            <a:off x="384048" y="5006659"/>
            <a:ext cx="9134856" cy="584775"/>
          </a:xfrm>
          <a:prstGeom prst="rect">
            <a:avLst/>
          </a:prstGeom>
          <a:noFill/>
        </p:spPr>
        <p:txBody>
          <a:bodyPr wrap="square">
            <a:spAutoFit/>
          </a:bodyPr>
          <a:lstStyle/>
          <a:p>
            <a:r>
              <a:rPr sz="1600" b="1" dirty="0" err="1">
                <a:solidFill>
                  <a:srgbClr val="BF4E0E"/>
                </a:solidFill>
                <a:latin typeface="メイリオ"/>
                <a:ea typeface="メイリオ"/>
                <a:cs typeface="メイリオ"/>
              </a:rPr>
              <a:t>競合の大半が未着手</a:t>
            </a:r>
            <a:endParaRPr lang="en-US" sz="1600" b="1" dirty="0">
              <a:solidFill>
                <a:srgbClr val="BF4E0E"/>
              </a:solidFill>
              <a:latin typeface="メイリオ"/>
              <a:ea typeface="メイリオ"/>
              <a:cs typeface="メイリオ"/>
            </a:endParaRPr>
          </a:p>
          <a:p>
            <a:r>
              <a:rPr lang="ja-JP" altLang="en-US" sz="1600" b="1" dirty="0">
                <a:solidFill>
                  <a:srgbClr val="BF4E0E"/>
                </a:solidFill>
                <a:latin typeface="メイリオ"/>
                <a:ea typeface="メイリオ"/>
                <a:cs typeface="メイリオ"/>
              </a:rPr>
              <a:t>　⇒</a:t>
            </a:r>
            <a:r>
              <a:rPr sz="1600" b="1" dirty="0" err="1">
                <a:solidFill>
                  <a:srgbClr val="BF4E0E"/>
                </a:solidFill>
                <a:latin typeface="メイリオ"/>
                <a:ea typeface="メイリオ"/>
                <a:cs typeface="メイリオ"/>
              </a:rPr>
              <a:t>LINE運用を始めるだけで業界内の先行者</a:t>
            </a:r>
            <a:r>
              <a:rPr lang="ja-JP" altLang="en-US" sz="1600" b="1" dirty="0">
                <a:solidFill>
                  <a:srgbClr val="BF4E0E"/>
                </a:solidFill>
                <a:latin typeface="メイリオ"/>
                <a:ea typeface="メイリオ"/>
                <a:cs typeface="メイリオ"/>
              </a:rPr>
              <a:t>へ</a:t>
            </a:r>
            <a:endParaRPr sz="1600" b="1" dirty="0">
              <a:solidFill>
                <a:srgbClr val="BF4E0E"/>
              </a:solidFill>
              <a:latin typeface="メイリオ"/>
              <a:ea typeface="メイリオ"/>
              <a:cs typeface="メイリオ"/>
            </a:endParaRP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メイリオ"/>
                <a:ea typeface="メイリオ"/>
                <a:cs typeface="メイリオ"/>
              </a:rPr>
              <a:t>出典：弊社調べ（page.line.me実地確認・2026年9月）／各社公式サイト確認。LINE友だち数は確認時点の実数</a:t>
            </a:r>
          </a:p>
        </p:txBody>
      </p:sp>
    </p:spTree>
    <p:extLst>
      <p:ext uri="{BB962C8B-B14F-4D97-AF65-F5344CB8AC3E}">
        <p14:creationId xmlns:p14="http://schemas.microsoft.com/office/powerpoint/2010/main" val="14057960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メイリオ"/>
                <a:ea typeface="メイリオ"/>
                <a:cs typeface="メイリオ"/>
                <a:sym typeface="Meiryo"/>
              </a:rPr>
              <a:t>競合分析【チャイルドアイズ】</a:t>
            </a:r>
            <a:endParaRPr lang="en-US" altLang="ja-JP" sz="1600" b="1" dirty="0">
              <a:solidFill>
                <a:srgbClr val="002060"/>
              </a:solidFill>
              <a:latin typeface="メイリオ"/>
              <a:ea typeface="メイリオ"/>
              <a:cs typeface="メイリオ"/>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indent="0" algn="ctr">
              <a:buNone/>
            </a:pPr>
            <a:r>
              <a:rPr lang="ja-JP" altLang="en-US" b="0" dirty="0">
                <a:solidFill>
                  <a:srgbClr val="333333"/>
                </a:solidFill>
                <a:latin typeface="メイリオ" panose="020B0604030504040204" pitchFamily="50" charset="-128"/>
                <a:ea typeface="メイリオ" panose="020B0604030504040204" pitchFamily="50" charset="-128"/>
                <a:cs typeface="メイリオ" pitchFamily="34" charset="-120"/>
              </a:rPr>
              <a:t>直接競合4社中、LINE公式アカウントを運用しているのは2社</a:t>
            </a:r>
            <a:endParaRPr lang="en-US" altLang="ja-JP" b="0" dirty="0">
              <a:solidFill>
                <a:srgbClr val="333333"/>
              </a:solidFill>
              <a:latin typeface="メイリオ" panose="020B0604030504040204" pitchFamily="50" charset="-128"/>
              <a:ea typeface="メイリオ" panose="020B0604030504040204" pitchFamily="50" charset="-128"/>
              <a:cs typeface="メイリオ" pitchFamily="34" charset="-120"/>
            </a:endParaRPr>
          </a:p>
          <a:p>
            <a:pPr marL="0" indent="0" algn="ctr">
              <a:buNone/>
            </a:pPr>
            <a:r>
              <a:rPr lang="ja-JP" altLang="en-US" b="0" dirty="0">
                <a:solidFill>
                  <a:srgbClr val="333333"/>
                </a:solidFill>
                <a:latin typeface="メイリオ" panose="020B0604030504040204" pitchFamily="50" charset="-128"/>
                <a:ea typeface="メイリオ" panose="020B0604030504040204" pitchFamily="50" charset="-128"/>
                <a:cs typeface="メイリオ" pitchFamily="34" charset="-120"/>
              </a:rPr>
              <a:t>知育→受験の2段構成という同じ設計で、すでに先行されて</a:t>
            </a:r>
            <a:r>
              <a:rPr lang="ja-JP" altLang="en-US" dirty="0">
                <a:solidFill>
                  <a:srgbClr val="333333"/>
                </a:solidFill>
                <a:latin typeface="メイリオ" panose="020B0604030504040204" pitchFamily="50" charset="-128"/>
                <a:ea typeface="メイリオ" panose="020B0604030504040204" pitchFamily="50" charset="-128"/>
                <a:cs typeface="メイリオ" pitchFamily="34" charset="-120"/>
              </a:rPr>
              <a:t>いる</a:t>
            </a:r>
            <a:endParaRPr lang="en-US" altLang="ja-JP" sz="1800" b="1" dirty="0">
              <a:solidFill>
                <a:schemeClr val="tx1"/>
              </a:solidFill>
              <a:latin typeface="メイリオ" panose="020B0604030504040204" pitchFamily="50" charset="-128"/>
              <a:ea typeface="メイリオ" panose="020B0604030504040204" pitchFamily="50" charset="-128"/>
              <a:cs typeface="メイリオ"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2833546804"/>
              </p:ext>
            </p:extLst>
          </p:nvPr>
        </p:nvGraphicFramePr>
        <p:xfrm>
          <a:off x="384048" y="1600200"/>
          <a:ext cx="9134854" cy="2480095"/>
        </p:xfrm>
        <a:graphic>
          <a:graphicData uri="http://schemas.openxmlformats.org/drawingml/2006/table">
            <a:tbl>
              <a:tblPr firstRow="1" bandRow="1">
                <a:tableStyleId>{5C22544A-7EE6-4342-B048-85BDC9FD1C3A}</a:tableStyleId>
              </a:tblPr>
              <a:tblGrid>
                <a:gridCol w="1979590">
                  <a:extLst>
                    <a:ext uri="{9D8B030D-6E8A-4147-A177-3AD203B41FA5}">
                      <a16:colId xmlns:a16="http://schemas.microsoft.com/office/drawing/2014/main" val="20000"/>
                    </a:ext>
                  </a:extLst>
                </a:gridCol>
                <a:gridCol w="1871932">
                  <a:extLst>
                    <a:ext uri="{9D8B030D-6E8A-4147-A177-3AD203B41FA5}">
                      <a16:colId xmlns:a16="http://schemas.microsoft.com/office/drawing/2014/main" val="20001"/>
                    </a:ext>
                  </a:extLst>
                </a:gridCol>
                <a:gridCol w="2355011">
                  <a:extLst>
                    <a:ext uri="{9D8B030D-6E8A-4147-A177-3AD203B41FA5}">
                      <a16:colId xmlns:a16="http://schemas.microsoft.com/office/drawing/2014/main" val="20002"/>
                    </a:ext>
                  </a:extLst>
                </a:gridCol>
                <a:gridCol w="2928321">
                  <a:extLst>
                    <a:ext uri="{9D8B030D-6E8A-4147-A177-3AD203B41FA5}">
                      <a16:colId xmlns:a16="http://schemas.microsoft.com/office/drawing/2014/main" val="20003"/>
                    </a:ext>
                  </a:extLst>
                </a:gridCol>
              </a:tblGrid>
              <a:tr h="496019">
                <a:tc>
                  <a:txBody>
                    <a:bodyPr/>
                    <a:lstStyle/>
                    <a:p>
                      <a:r>
                        <a:rPr sz="1100" b="1">
                          <a:solidFill>
                            <a:srgbClr val="FFFFFF"/>
                          </a:solidFill>
                          <a:latin typeface="メイリオ"/>
                          <a:ea typeface="メイリオ"/>
                          <a:cs typeface="メイリオ"/>
                        </a:rPr>
                        <a:t>競合</a:t>
                      </a:r>
                    </a:p>
                  </a:txBody>
                  <a:tcPr>
                    <a:solidFill>
                      <a:srgbClr val="1F2A5C"/>
                    </a:solidFill>
                  </a:tcPr>
                </a:tc>
                <a:tc>
                  <a:txBody>
                    <a:bodyPr/>
                    <a:lstStyle/>
                    <a:p>
                      <a:r>
                        <a:rPr sz="1100" b="1">
                          <a:solidFill>
                            <a:srgbClr val="FFFFFF"/>
                          </a:solidFill>
                          <a:latin typeface="メイリオ"/>
                          <a:ea typeface="メイリオ"/>
                          <a:cs typeface="メイリオ"/>
                        </a:rPr>
                        <a:t>LINE公式アカウント</a:t>
                      </a:r>
                    </a:p>
                  </a:txBody>
                  <a:tcPr>
                    <a:solidFill>
                      <a:srgbClr val="1F2A5C"/>
                    </a:solidFill>
                  </a:tcPr>
                </a:tc>
                <a:tc>
                  <a:txBody>
                    <a:bodyPr/>
                    <a:lstStyle/>
                    <a:p>
                      <a:r>
                        <a:rPr sz="1100" b="1">
                          <a:solidFill>
                            <a:srgbClr val="FFFFFF"/>
                          </a:solidFill>
                          <a:latin typeface="メイリオ"/>
                          <a:ea typeface="メイリオ"/>
                          <a:cs typeface="メイリオ"/>
                        </a:rPr>
                        <a:t>訴求</a:t>
                      </a:r>
                    </a:p>
                  </a:txBody>
                  <a:tcPr>
                    <a:solidFill>
                      <a:srgbClr val="1F2A5C"/>
                    </a:solidFill>
                  </a:tcPr>
                </a:tc>
                <a:tc>
                  <a:txBody>
                    <a:bodyPr/>
                    <a:lstStyle/>
                    <a:p>
                      <a:r>
                        <a:rPr sz="1100" b="1" dirty="0" err="1">
                          <a:solidFill>
                            <a:srgbClr val="FFFFFF"/>
                          </a:solidFill>
                          <a:latin typeface="メイリオ"/>
                          <a:ea typeface="メイリオ"/>
                          <a:cs typeface="メイリオ"/>
                        </a:rPr>
                        <a:t>チャイルドアイズとの比較</a:t>
                      </a:r>
                      <a:endParaRPr sz="1100" b="1" dirty="0">
                        <a:solidFill>
                          <a:srgbClr val="FFFFFF"/>
                        </a:solidFill>
                        <a:latin typeface="メイリオ"/>
                        <a:ea typeface="メイリオ"/>
                        <a:cs typeface="メイリオ"/>
                      </a:endParaRPr>
                    </a:p>
                  </a:txBody>
                  <a:tcPr>
                    <a:solidFill>
                      <a:srgbClr val="1F2A5C"/>
                    </a:solidFill>
                  </a:tcPr>
                </a:tc>
                <a:extLst>
                  <a:ext uri="{0D108BD9-81ED-4DB2-BD59-A6C34878D82A}">
                    <a16:rowId xmlns:a16="http://schemas.microsoft.com/office/drawing/2014/main" val="10000"/>
                  </a:ext>
                </a:extLst>
              </a:tr>
              <a:tr h="496019">
                <a:tc>
                  <a:txBody>
                    <a:bodyPr/>
                    <a:lstStyle/>
                    <a:p>
                      <a:r>
                        <a:rPr sz="1200" b="0" dirty="0" err="1">
                          <a:solidFill>
                            <a:srgbClr val="333333"/>
                          </a:solidFill>
                          <a:latin typeface="メイリオ"/>
                          <a:ea typeface="メイリオ"/>
                          <a:cs typeface="メイリオ"/>
                        </a:rPr>
                        <a:t>ベビーパーク</a:t>
                      </a:r>
                      <a:endParaRPr lang="en-US" sz="1200" b="0" dirty="0">
                        <a:solidFill>
                          <a:srgbClr val="333333"/>
                        </a:solidFill>
                        <a:latin typeface="メイリオ"/>
                        <a:ea typeface="メイリオ"/>
                        <a:cs typeface="メイリオ"/>
                      </a:endParaRPr>
                    </a:p>
                    <a:p>
                      <a:r>
                        <a:rPr lang="ja-JP" altLang="en-US" sz="1200" b="0" dirty="0">
                          <a:solidFill>
                            <a:srgbClr val="333333"/>
                          </a:solidFill>
                          <a:latin typeface="メイリオ"/>
                          <a:ea typeface="メイリオ"/>
                          <a:cs typeface="メイリオ"/>
                        </a:rPr>
                        <a:t>キ</a:t>
                      </a:r>
                      <a:r>
                        <a:rPr sz="1200" b="0" dirty="0" err="1">
                          <a:solidFill>
                            <a:srgbClr val="333333"/>
                          </a:solidFill>
                          <a:latin typeface="メイリオ"/>
                          <a:ea typeface="メイリオ"/>
                          <a:cs typeface="メイリオ"/>
                        </a:rPr>
                        <a:t>ッズアカデミ</a:t>
                      </a:r>
                      <a:r>
                        <a:rPr sz="1200" b="0" dirty="0">
                          <a:solidFill>
                            <a:srgbClr val="333333"/>
                          </a:solidFill>
                          <a:latin typeface="メイリオ"/>
                          <a:ea typeface="メイリオ"/>
                          <a:cs typeface="メイリオ"/>
                        </a:rPr>
                        <a:t>ー</a:t>
                      </a:r>
                    </a:p>
                  </a:txBody>
                  <a:tcPr>
                    <a:solidFill>
                      <a:srgbClr val="FFFFFF"/>
                    </a:solidFill>
                  </a:tcPr>
                </a:tc>
                <a:tc>
                  <a:txBody>
                    <a:bodyPr/>
                    <a:lstStyle/>
                    <a:p>
                      <a:r>
                        <a:rPr sz="1200" b="0" dirty="0" err="1">
                          <a:solidFill>
                            <a:srgbClr val="333333"/>
                          </a:solidFill>
                          <a:latin typeface="メイリオ"/>
                          <a:ea typeface="メイリオ"/>
                          <a:cs typeface="メイリオ"/>
                        </a:rPr>
                        <a:t>なし</a:t>
                      </a:r>
                      <a:endParaRPr sz="1200" b="0" dirty="0">
                        <a:solidFill>
                          <a:srgbClr val="333333"/>
                        </a:solidFill>
                        <a:latin typeface="メイリオ"/>
                        <a:ea typeface="メイリオ"/>
                        <a:cs typeface="メイリオ"/>
                      </a:endParaRPr>
                    </a:p>
                  </a:txBody>
                  <a:tcPr>
                    <a:solidFill>
                      <a:srgbClr val="FFFFFF"/>
                    </a:solidFill>
                  </a:tcPr>
                </a:tc>
                <a:tc>
                  <a:txBody>
                    <a:bodyPr/>
                    <a:lstStyle/>
                    <a:p>
                      <a:r>
                        <a:rPr sz="1200" b="0" dirty="0">
                          <a:solidFill>
                            <a:srgbClr val="333333"/>
                          </a:solidFill>
                          <a:latin typeface="メイリオ"/>
                          <a:ea typeface="メイリオ"/>
                          <a:cs typeface="メイリオ"/>
                        </a:rPr>
                        <a:t>知育特化・超早期（0歳〜）</a:t>
                      </a:r>
                    </a:p>
                  </a:txBody>
                  <a:tcPr>
                    <a:solidFill>
                      <a:srgbClr val="FFFFFF"/>
                    </a:solidFill>
                  </a:tcPr>
                </a:tc>
                <a:tc>
                  <a:txBody>
                    <a:bodyPr/>
                    <a:lstStyle/>
                    <a:p>
                      <a:r>
                        <a:rPr sz="1200" b="0">
                          <a:solidFill>
                            <a:srgbClr val="333333"/>
                          </a:solidFill>
                          <a:latin typeface="メイリオ"/>
                          <a:ea typeface="メイリオ"/>
                          <a:cs typeface="メイリオ"/>
                        </a:rPr>
                        <a:t>LINE未活用。早期囲い込みは強い</a:t>
                      </a:r>
                    </a:p>
                  </a:txBody>
                  <a:tcPr>
                    <a:solidFill>
                      <a:srgbClr val="FFFFFF"/>
                    </a:solidFill>
                  </a:tcPr>
                </a:tc>
                <a:extLst>
                  <a:ext uri="{0D108BD9-81ED-4DB2-BD59-A6C34878D82A}">
                    <a16:rowId xmlns:a16="http://schemas.microsoft.com/office/drawing/2014/main" val="10001"/>
                  </a:ext>
                </a:extLst>
              </a:tr>
              <a:tr h="496019">
                <a:tc>
                  <a:txBody>
                    <a:bodyPr/>
                    <a:lstStyle/>
                    <a:p>
                      <a:r>
                        <a:rPr sz="1200" b="0">
                          <a:solidFill>
                            <a:srgbClr val="333333"/>
                          </a:solidFill>
                          <a:latin typeface="メイリオ"/>
                          <a:ea typeface="メイリオ"/>
                          <a:cs typeface="メイリオ"/>
                        </a:rPr>
                        <a:t>伸芽会</a:t>
                      </a:r>
                    </a:p>
                  </a:txBody>
                  <a:tcPr>
                    <a:solidFill>
                      <a:srgbClr val="FFFFFF"/>
                    </a:solidFill>
                  </a:tcPr>
                </a:tc>
                <a:tc>
                  <a:txBody>
                    <a:bodyPr/>
                    <a:lstStyle/>
                    <a:p>
                      <a:r>
                        <a:rPr sz="1200" b="0">
                          <a:solidFill>
                            <a:srgbClr val="333333"/>
                          </a:solidFill>
                          <a:latin typeface="メイリオ"/>
                          <a:ea typeface="メイリオ"/>
                          <a:cs typeface="メイリオ"/>
                        </a:rPr>
                        <a:t>なし</a:t>
                      </a:r>
                    </a:p>
                  </a:txBody>
                  <a:tcPr>
                    <a:solidFill>
                      <a:srgbClr val="FFFFFF"/>
                    </a:solidFill>
                  </a:tcPr>
                </a:tc>
                <a:tc>
                  <a:txBody>
                    <a:bodyPr/>
                    <a:lstStyle/>
                    <a:p>
                      <a:r>
                        <a:rPr sz="1200" b="0" dirty="0" err="1">
                          <a:solidFill>
                            <a:srgbClr val="333333"/>
                          </a:solidFill>
                          <a:latin typeface="メイリオ"/>
                          <a:ea typeface="メイリオ"/>
                          <a:cs typeface="メイリオ"/>
                        </a:rPr>
                        <a:t>受験対策特化・名門校実績</a:t>
                      </a:r>
                      <a:endParaRPr sz="1200" b="0" dirty="0">
                        <a:solidFill>
                          <a:srgbClr val="333333"/>
                        </a:solidFill>
                        <a:latin typeface="メイリオ"/>
                        <a:ea typeface="メイリオ"/>
                        <a:cs typeface="メイリオ"/>
                      </a:endParaRPr>
                    </a:p>
                  </a:txBody>
                  <a:tcPr>
                    <a:solidFill>
                      <a:srgbClr val="FFFFFF"/>
                    </a:solidFill>
                  </a:tcPr>
                </a:tc>
                <a:tc>
                  <a:txBody>
                    <a:bodyPr/>
                    <a:lstStyle/>
                    <a:p>
                      <a:r>
                        <a:rPr sz="1200" b="0" dirty="0" err="1">
                          <a:solidFill>
                            <a:srgbClr val="333333"/>
                          </a:solidFill>
                          <a:latin typeface="メイリオ"/>
                          <a:ea typeface="メイリオ"/>
                          <a:cs typeface="メイリオ"/>
                        </a:rPr>
                        <a:t>LINE未活用。ブランド力で先行</a:t>
                      </a:r>
                      <a:endParaRPr sz="12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2"/>
                  </a:ext>
                </a:extLst>
              </a:tr>
              <a:tr h="496019">
                <a:tc>
                  <a:txBody>
                    <a:bodyPr/>
                    <a:lstStyle/>
                    <a:p>
                      <a:r>
                        <a:rPr sz="1200" b="0">
                          <a:solidFill>
                            <a:srgbClr val="1F2A5C"/>
                          </a:solidFill>
                          <a:latin typeface="メイリオ"/>
                          <a:ea typeface="メイリオ"/>
                          <a:cs typeface="メイリオ"/>
                        </a:rPr>
                        <a:t>理英会</a:t>
                      </a:r>
                    </a:p>
                  </a:txBody>
                  <a:tcPr>
                    <a:solidFill>
                      <a:srgbClr val="FFF3E0"/>
                    </a:solidFill>
                  </a:tcPr>
                </a:tc>
                <a:tc>
                  <a:txBody>
                    <a:bodyPr/>
                    <a:lstStyle/>
                    <a:p>
                      <a:r>
                        <a:rPr sz="1200" b="1">
                          <a:solidFill>
                            <a:srgbClr val="1F2A5C"/>
                          </a:solidFill>
                          <a:latin typeface="メイリオ"/>
                          <a:ea typeface="メイリオ"/>
                          <a:cs typeface="メイリオ"/>
                        </a:rPr>
                        <a:t>あり（友だち4,475人）</a:t>
                      </a:r>
                    </a:p>
                  </a:txBody>
                  <a:tcPr>
                    <a:solidFill>
                      <a:srgbClr val="FFF3E0"/>
                    </a:solidFill>
                  </a:tcPr>
                </a:tc>
                <a:tc>
                  <a:txBody>
                    <a:bodyPr/>
                    <a:lstStyle/>
                    <a:p>
                      <a:r>
                        <a:rPr sz="1200" b="0">
                          <a:solidFill>
                            <a:srgbClr val="1F2A5C"/>
                          </a:solidFill>
                          <a:latin typeface="メイリオ"/>
                          <a:ea typeface="メイリオ"/>
                          <a:cs typeface="メイリオ"/>
                        </a:rPr>
                        <a:t>受験ノウハウ配信・体験会案内</a:t>
                      </a:r>
                    </a:p>
                  </a:txBody>
                  <a:tcPr>
                    <a:solidFill>
                      <a:srgbClr val="FFF3E0"/>
                    </a:solidFill>
                  </a:tcPr>
                </a:tc>
                <a:tc>
                  <a:txBody>
                    <a:bodyPr/>
                    <a:lstStyle/>
                    <a:p>
                      <a:r>
                        <a:rPr sz="1200" b="0" dirty="0">
                          <a:solidFill>
                            <a:srgbClr val="1F2A5C"/>
                          </a:solidFill>
                          <a:latin typeface="メイリオ"/>
                          <a:ea typeface="メイリオ"/>
                          <a:cs typeface="メイリオ"/>
                        </a:rPr>
                        <a:t>知育→受験の2段構成が最も近い競合。すでに先行</a:t>
                      </a:r>
                    </a:p>
                  </a:txBody>
                  <a:tcPr>
                    <a:solidFill>
                      <a:srgbClr val="FFF3E0"/>
                    </a:solidFill>
                  </a:tcPr>
                </a:tc>
                <a:extLst>
                  <a:ext uri="{0D108BD9-81ED-4DB2-BD59-A6C34878D82A}">
                    <a16:rowId xmlns:a16="http://schemas.microsoft.com/office/drawing/2014/main" val="10003"/>
                  </a:ext>
                </a:extLst>
              </a:tr>
              <a:tr h="496019">
                <a:tc>
                  <a:txBody>
                    <a:bodyPr/>
                    <a:lstStyle/>
                    <a:p>
                      <a:r>
                        <a:rPr sz="1200" b="0">
                          <a:solidFill>
                            <a:srgbClr val="1F2A5C"/>
                          </a:solidFill>
                          <a:latin typeface="メイリオ"/>
                          <a:ea typeface="メイリオ"/>
                          <a:cs typeface="メイリオ"/>
                        </a:rPr>
                        <a:t>どんちゃか幼児教室</a:t>
                      </a:r>
                    </a:p>
                  </a:txBody>
                  <a:tcPr>
                    <a:solidFill>
                      <a:srgbClr val="FFF3E0"/>
                    </a:solidFill>
                  </a:tcPr>
                </a:tc>
                <a:tc>
                  <a:txBody>
                    <a:bodyPr/>
                    <a:lstStyle/>
                    <a:p>
                      <a:r>
                        <a:rPr sz="1200" b="1">
                          <a:solidFill>
                            <a:srgbClr val="1F2A5C"/>
                          </a:solidFill>
                          <a:latin typeface="メイリオ"/>
                          <a:ea typeface="メイリオ"/>
                          <a:cs typeface="メイリオ"/>
                        </a:rPr>
                        <a:t>あり（友だち2,550人）</a:t>
                      </a:r>
                    </a:p>
                  </a:txBody>
                  <a:tcPr>
                    <a:solidFill>
                      <a:srgbClr val="FFF3E0"/>
                    </a:solidFill>
                  </a:tcPr>
                </a:tc>
                <a:tc>
                  <a:txBody>
                    <a:bodyPr/>
                    <a:lstStyle/>
                    <a:p>
                      <a:r>
                        <a:rPr sz="1200" b="0" dirty="0" err="1">
                          <a:solidFill>
                            <a:srgbClr val="1F2A5C"/>
                          </a:solidFill>
                          <a:latin typeface="メイリオ"/>
                          <a:ea typeface="メイリオ"/>
                          <a:cs typeface="メイリオ"/>
                        </a:rPr>
                        <a:t>育児コラム・季節講習案内</a:t>
                      </a:r>
                      <a:endParaRPr sz="1200" b="0" dirty="0">
                        <a:solidFill>
                          <a:srgbClr val="1F2A5C"/>
                        </a:solidFill>
                        <a:latin typeface="メイリオ"/>
                        <a:ea typeface="メイリオ"/>
                        <a:cs typeface="メイリオ"/>
                      </a:endParaRPr>
                    </a:p>
                  </a:txBody>
                  <a:tcPr>
                    <a:solidFill>
                      <a:srgbClr val="FFF3E0"/>
                    </a:solidFill>
                  </a:tcPr>
                </a:tc>
                <a:tc>
                  <a:txBody>
                    <a:bodyPr/>
                    <a:lstStyle/>
                    <a:p>
                      <a:r>
                        <a:rPr sz="1200" b="0" dirty="0" err="1">
                          <a:solidFill>
                            <a:srgbClr val="1F2A5C"/>
                          </a:solidFill>
                          <a:latin typeface="メイリオ"/>
                          <a:ea typeface="メイリオ"/>
                          <a:cs typeface="メイリオ"/>
                        </a:rPr>
                        <a:t>理英会と同一グループ</a:t>
                      </a:r>
                      <a:endParaRPr lang="en-US" sz="1200" b="0" dirty="0">
                        <a:solidFill>
                          <a:srgbClr val="1F2A5C"/>
                        </a:solidFill>
                        <a:latin typeface="メイリオ"/>
                        <a:ea typeface="メイリオ"/>
                        <a:cs typeface="メイリオ"/>
                      </a:endParaRPr>
                    </a:p>
                    <a:p>
                      <a:r>
                        <a:rPr sz="1200" b="0" dirty="0" err="1">
                          <a:solidFill>
                            <a:srgbClr val="1F2A5C"/>
                          </a:solidFill>
                          <a:latin typeface="メイリオ"/>
                          <a:ea typeface="メイリオ"/>
                          <a:cs typeface="メイリオ"/>
                        </a:rPr>
                        <a:t>乳幼児期の入口として運用</a:t>
                      </a:r>
                      <a:endParaRPr lang="en-US" sz="1200" b="0" dirty="0">
                        <a:solidFill>
                          <a:srgbClr val="1F2A5C"/>
                        </a:solidFill>
                        <a:latin typeface="メイリオ"/>
                        <a:ea typeface="メイリオ"/>
                        <a:cs typeface="メイリオ"/>
                      </a:endParaRPr>
                    </a:p>
                  </a:txBody>
                  <a:tcPr>
                    <a:solidFill>
                      <a:srgbClr val="FFF3E0"/>
                    </a:solidFill>
                  </a:tcPr>
                </a:tc>
                <a:extLst>
                  <a:ext uri="{0D108BD9-81ED-4DB2-BD59-A6C34878D82A}">
                    <a16:rowId xmlns:a16="http://schemas.microsoft.com/office/drawing/2014/main" val="10004"/>
                  </a:ext>
                </a:extLst>
              </a:tr>
            </a:tbl>
          </a:graphicData>
        </a:graphic>
      </p:graphicFrame>
      <p:sp>
        <p:nvSpPr>
          <p:cNvPr id="47" name="TextBox 46"/>
          <p:cNvSpPr txBox="1"/>
          <p:nvPr/>
        </p:nvSpPr>
        <p:spPr>
          <a:xfrm>
            <a:off x="384048" y="4525417"/>
            <a:ext cx="9134856" cy="584775"/>
          </a:xfrm>
          <a:prstGeom prst="rect">
            <a:avLst/>
          </a:prstGeom>
          <a:noFill/>
        </p:spPr>
        <p:txBody>
          <a:bodyPr wrap="square">
            <a:spAutoFit/>
          </a:bodyPr>
          <a:lstStyle/>
          <a:p>
            <a:r>
              <a:rPr sz="1600" b="1" dirty="0" err="1">
                <a:solidFill>
                  <a:srgbClr val="BF4E0E"/>
                </a:solidFill>
                <a:latin typeface="メイリオ"/>
                <a:ea typeface="メイリオ"/>
                <a:cs typeface="メイリオ"/>
              </a:rPr>
              <a:t>理英会・どんちゃかに対しては、同じ「知育→受験」という設計を武器に</a:t>
            </a:r>
            <a:endParaRPr lang="en-US" sz="1600" b="1" dirty="0">
              <a:solidFill>
                <a:srgbClr val="BF4E0E"/>
              </a:solidFill>
              <a:latin typeface="メイリオ"/>
              <a:ea typeface="メイリオ"/>
              <a:cs typeface="メイリオ"/>
            </a:endParaRPr>
          </a:p>
          <a:p>
            <a:r>
              <a:rPr sz="1600" b="1" dirty="0" err="1">
                <a:solidFill>
                  <a:srgbClr val="BF4E0E"/>
                </a:solidFill>
                <a:latin typeface="メイリオ"/>
                <a:ea typeface="メイリオ"/>
                <a:cs typeface="メイリオ"/>
              </a:rPr>
              <a:t>チャイルドアイズならではの強みをLINEの訴求・動線でより磨き込むことが差別化の鍵</a:t>
            </a:r>
            <a:endParaRPr sz="1600" b="1" dirty="0">
              <a:solidFill>
                <a:srgbClr val="BF4E0E"/>
              </a:solidFill>
              <a:latin typeface="メイリオ"/>
              <a:ea typeface="メイリオ"/>
              <a:cs typeface="メイリオ"/>
            </a:endParaRP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メイリオ"/>
                <a:ea typeface="メイリオ"/>
                <a:cs typeface="メイリオ"/>
              </a:rPr>
              <a:t>出典：弊社調べ（page.line.me実地確認・2026年9月）／各社公式サイト確認。LINE友だち数は確認時点の実数</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前提整理</a:t>
            </a:r>
            <a:endParaRPr sz="1600" b="1" dirty="0">
              <a:solidFill>
                <a:srgbClr val="002060"/>
              </a:solidFill>
              <a:latin typeface="メイリオ"/>
              <a:ea typeface="メイリオ"/>
              <a:cs typeface="メイリオ"/>
              <a:sym typeface="Meiryo"/>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ご提案にお持ちしているのは費用感の算出ではなく施策方針</a:t>
            </a:r>
            <a:endPar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endParaRPr>
          </a:p>
          <a:p>
            <a:pPr algn="ct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施策切り出しでのご依頼、複数機能の導入による調整もご相談可能</a:t>
            </a:r>
            <a:endPar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endParaRPr>
          </a:p>
        </p:txBody>
      </p:sp>
      <p:sp>
        <p:nvSpPr>
          <p:cNvPr id="79" name="Rounded Rectangle 78"/>
          <p:cNvSpPr/>
          <p:nvPr/>
        </p:nvSpPr>
        <p:spPr>
          <a:xfrm>
            <a:off x="432000" y="1639800"/>
            <a:ext cx="3096000" cy="360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400" b="1">
                <a:solidFill>
                  <a:srgbClr val="FFFFFF"/>
                </a:solidFill>
                <a:latin typeface="メイリオ"/>
                <a:ea typeface="メイリオ"/>
                <a:cs typeface="メイリオ"/>
              </a:rPr>
              <a:t>1　対象範囲（4つの領域）</a:t>
            </a:r>
          </a:p>
        </p:txBody>
      </p:sp>
      <p:sp>
        <p:nvSpPr>
          <p:cNvPr id="80" name="Rounded Rectangle 79"/>
          <p:cNvSpPr/>
          <p:nvPr/>
        </p:nvSpPr>
        <p:spPr>
          <a:xfrm>
            <a:off x="432000" y="2071799"/>
            <a:ext cx="2152800" cy="90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200"/>
              </a:spcAft>
            </a:pPr>
            <a:r>
              <a:rPr sz="1600" b="1">
                <a:solidFill>
                  <a:srgbClr val="FFFFFF"/>
                </a:solidFill>
                <a:latin typeface="メイリオ"/>
                <a:ea typeface="メイリオ"/>
                <a:cs typeface="メイリオ"/>
              </a:rPr>
              <a:t>①</a:t>
            </a:r>
          </a:p>
          <a:p>
            <a:pPr algn="ctr"/>
            <a:r>
              <a:rPr sz="1600" b="1">
                <a:solidFill>
                  <a:srgbClr val="FFFFFF"/>
                </a:solidFill>
                <a:latin typeface="メイリオ"/>
                <a:ea typeface="メイリオ"/>
                <a:cs typeface="メイリオ"/>
              </a:rPr>
              <a:t>友だち追加</a:t>
            </a:r>
          </a:p>
        </p:txBody>
      </p:sp>
      <p:sp>
        <p:nvSpPr>
          <p:cNvPr id="81" name="Rounded Rectangle 80"/>
          <p:cNvSpPr/>
          <p:nvPr/>
        </p:nvSpPr>
        <p:spPr>
          <a:xfrm>
            <a:off x="2728800" y="2071799"/>
            <a:ext cx="2152800" cy="90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200"/>
              </a:spcAft>
            </a:pPr>
            <a:r>
              <a:rPr sz="1600" b="1">
                <a:solidFill>
                  <a:srgbClr val="FFFFFF"/>
                </a:solidFill>
                <a:latin typeface="メイリオ"/>
                <a:ea typeface="メイリオ"/>
                <a:cs typeface="メイリオ"/>
              </a:rPr>
              <a:t>②</a:t>
            </a:r>
          </a:p>
          <a:p>
            <a:pPr algn="ctr"/>
            <a:r>
              <a:rPr sz="1600" b="1">
                <a:solidFill>
                  <a:srgbClr val="FFFFFF"/>
                </a:solidFill>
                <a:latin typeface="メイリオ"/>
                <a:ea typeface="メイリオ"/>
                <a:cs typeface="メイリオ"/>
              </a:rPr>
              <a:t>配信の効率改善</a:t>
            </a:r>
          </a:p>
        </p:txBody>
      </p:sp>
      <p:sp>
        <p:nvSpPr>
          <p:cNvPr id="82" name="Rounded Rectangle 81"/>
          <p:cNvSpPr/>
          <p:nvPr/>
        </p:nvSpPr>
        <p:spPr>
          <a:xfrm>
            <a:off x="5025600" y="2071799"/>
            <a:ext cx="2152800" cy="90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200"/>
              </a:spcAft>
            </a:pPr>
            <a:r>
              <a:rPr sz="1600" b="1">
                <a:solidFill>
                  <a:srgbClr val="FFFFFF"/>
                </a:solidFill>
                <a:latin typeface="メイリオ"/>
                <a:ea typeface="メイリオ"/>
                <a:cs typeface="メイリオ"/>
              </a:rPr>
              <a:t>③</a:t>
            </a:r>
          </a:p>
          <a:p>
            <a:pPr algn="ctr"/>
            <a:r>
              <a:rPr sz="1600" b="1">
                <a:solidFill>
                  <a:srgbClr val="FFFFFF"/>
                </a:solidFill>
                <a:latin typeface="メイリオ"/>
                <a:ea typeface="メイリオ"/>
                <a:cs typeface="メイリオ"/>
              </a:rPr>
              <a:t>ユーザー満足度改善</a:t>
            </a:r>
          </a:p>
        </p:txBody>
      </p:sp>
      <p:sp>
        <p:nvSpPr>
          <p:cNvPr id="83" name="Rounded Rectangle 82"/>
          <p:cNvSpPr/>
          <p:nvPr/>
        </p:nvSpPr>
        <p:spPr>
          <a:xfrm>
            <a:off x="7322400" y="2071799"/>
            <a:ext cx="2152800" cy="90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200"/>
              </a:spcAft>
            </a:pPr>
            <a:r>
              <a:rPr sz="1600" b="1">
                <a:solidFill>
                  <a:srgbClr val="FFFFFF"/>
                </a:solidFill>
                <a:latin typeface="メイリオ"/>
                <a:ea typeface="メイリオ"/>
                <a:cs typeface="メイリオ"/>
              </a:rPr>
              <a:t>④</a:t>
            </a:r>
          </a:p>
          <a:p>
            <a:pPr algn="ctr"/>
            <a:r>
              <a:rPr sz="1600" b="1">
                <a:solidFill>
                  <a:srgbClr val="FFFFFF"/>
                </a:solidFill>
                <a:latin typeface="メイリオ"/>
                <a:ea typeface="メイリオ"/>
                <a:cs typeface="メイリオ"/>
              </a:rPr>
              <a:t>管理側の業務効率化</a:t>
            </a:r>
          </a:p>
        </p:txBody>
      </p:sp>
      <p:sp>
        <p:nvSpPr>
          <p:cNvPr id="84" name="TextBox 83"/>
          <p:cNvSpPr txBox="1"/>
          <p:nvPr/>
        </p:nvSpPr>
        <p:spPr>
          <a:xfrm>
            <a:off x="432000" y="3040266"/>
            <a:ext cx="9043200" cy="259065"/>
          </a:xfrm>
          <a:prstGeom prst="rect">
            <a:avLst/>
          </a:prstGeom>
          <a:noFill/>
        </p:spPr>
        <p:txBody>
          <a:bodyPr wrap="square" lIns="0" tIns="21600" rIns="0" bIns="21600" anchor="ctr">
            <a:spAutoFit/>
          </a:bodyPr>
          <a:lstStyle/>
          <a:p>
            <a:pPr algn="ctr"/>
            <a:r>
              <a:rPr sz="1400" dirty="0">
                <a:solidFill>
                  <a:srgbClr val="333333"/>
                </a:solidFill>
                <a:latin typeface="メイリオ"/>
                <a:ea typeface="メイリオ"/>
                <a:cs typeface="メイリオ"/>
              </a:rPr>
              <a:t>LINE公式アカウントの4つの領域を対象に、施策を設計</a:t>
            </a:r>
          </a:p>
        </p:txBody>
      </p:sp>
      <p:sp>
        <p:nvSpPr>
          <p:cNvPr id="85" name="Rounded Rectangle 84"/>
          <p:cNvSpPr/>
          <p:nvPr/>
        </p:nvSpPr>
        <p:spPr>
          <a:xfrm>
            <a:off x="432000" y="3475800"/>
            <a:ext cx="2918400" cy="360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400" b="1">
                <a:solidFill>
                  <a:srgbClr val="FFFFFF"/>
                </a:solidFill>
                <a:latin typeface="メイリオ"/>
                <a:ea typeface="メイリオ"/>
                <a:cs typeface="メイリオ"/>
              </a:rPr>
              <a:t>2　想定UU規模</a:t>
            </a:r>
          </a:p>
        </p:txBody>
      </p:sp>
      <p:sp>
        <p:nvSpPr>
          <p:cNvPr id="86" name="Rounded Rectangle 85"/>
          <p:cNvSpPr/>
          <p:nvPr/>
        </p:nvSpPr>
        <p:spPr>
          <a:xfrm>
            <a:off x="432000" y="3871800"/>
            <a:ext cx="2918400" cy="2160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44000" tIns="21600" rIns="125999" bIns="21600" rtlCol="0" anchor="ctr"/>
          <a:lstStyle/>
          <a:p>
            <a:pPr algn="l">
              <a:lnSpc>
                <a:spcPct val="135000"/>
              </a:lnSpc>
              <a:spcAft>
                <a:spcPts val="1000"/>
              </a:spcAft>
            </a:pPr>
            <a:r>
              <a:rPr sz="1400" dirty="0">
                <a:solidFill>
                  <a:srgbClr val="333333"/>
                </a:solidFill>
                <a:latin typeface="メイリオ"/>
                <a:ea typeface="メイリオ"/>
                <a:cs typeface="メイリオ"/>
              </a:rPr>
              <a:t>・</a:t>
            </a:r>
            <a:r>
              <a:rPr sz="1400" dirty="0" err="1">
                <a:solidFill>
                  <a:srgbClr val="333333"/>
                </a:solidFill>
                <a:latin typeface="メイリオ"/>
                <a:ea typeface="メイリオ"/>
                <a:cs typeface="メイリオ"/>
              </a:rPr>
              <a:t>友だち数は、導入できる動線の本数と整備の進み具合</a:t>
            </a:r>
            <a:r>
              <a:rPr lang="ja-JP" altLang="en-US" sz="1400" dirty="0">
                <a:solidFill>
                  <a:srgbClr val="333333"/>
                </a:solidFill>
                <a:latin typeface="メイリオ"/>
                <a:ea typeface="メイリオ"/>
                <a:cs typeface="メイリオ"/>
              </a:rPr>
              <a:t>により変動する</a:t>
            </a:r>
            <a:endParaRPr sz="1400" dirty="0">
              <a:solidFill>
                <a:srgbClr val="333333"/>
              </a:solidFill>
              <a:latin typeface="メイリオ"/>
              <a:ea typeface="メイリオ"/>
              <a:cs typeface="メイリオ"/>
            </a:endParaRPr>
          </a:p>
          <a:p>
            <a:pPr algn="l">
              <a:lnSpc>
                <a:spcPct val="135000"/>
              </a:lnSpc>
              <a:spcAft>
                <a:spcPts val="1000"/>
              </a:spcAft>
            </a:pPr>
            <a:r>
              <a:rPr sz="1400" dirty="0">
                <a:solidFill>
                  <a:srgbClr val="333333"/>
                </a:solidFill>
                <a:latin typeface="メイリオ"/>
                <a:ea typeface="メイリオ"/>
                <a:cs typeface="メイリオ"/>
              </a:rPr>
              <a:t>・</a:t>
            </a:r>
            <a:r>
              <a:rPr sz="1400" dirty="0" err="1">
                <a:solidFill>
                  <a:srgbClr val="333333"/>
                </a:solidFill>
                <a:latin typeface="メイリオ"/>
                <a:ea typeface="メイリオ"/>
                <a:cs typeface="メイリオ"/>
              </a:rPr>
              <a:t>数値はレンジの中間を基準にした試算例</a:t>
            </a:r>
            <a:endParaRPr sz="1400" dirty="0">
              <a:solidFill>
                <a:srgbClr val="333333"/>
              </a:solidFill>
              <a:latin typeface="メイリオ"/>
              <a:ea typeface="メイリオ"/>
              <a:cs typeface="メイリオ"/>
            </a:endParaRPr>
          </a:p>
        </p:txBody>
      </p:sp>
      <p:sp>
        <p:nvSpPr>
          <p:cNvPr id="87" name="Rounded Rectangle 86"/>
          <p:cNvSpPr/>
          <p:nvPr/>
        </p:nvSpPr>
        <p:spPr>
          <a:xfrm>
            <a:off x="3494400" y="3475800"/>
            <a:ext cx="2918400" cy="360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400" b="1">
                <a:solidFill>
                  <a:srgbClr val="FFFFFF"/>
                </a:solidFill>
                <a:latin typeface="メイリオ"/>
                <a:ea typeface="メイリオ"/>
                <a:cs typeface="メイリオ"/>
              </a:rPr>
              <a:t>3　数値の位置づけ</a:t>
            </a:r>
          </a:p>
        </p:txBody>
      </p:sp>
      <p:sp>
        <p:nvSpPr>
          <p:cNvPr id="88" name="Rounded Rectangle 87"/>
          <p:cNvSpPr/>
          <p:nvPr/>
        </p:nvSpPr>
        <p:spPr>
          <a:xfrm>
            <a:off x="3494400" y="3871800"/>
            <a:ext cx="2918400" cy="2160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44000" tIns="21600" rIns="125999" bIns="21600" rtlCol="0" anchor="ctr"/>
          <a:lstStyle/>
          <a:p>
            <a:pPr algn="l">
              <a:lnSpc>
                <a:spcPct val="135000"/>
              </a:lnSpc>
              <a:spcAft>
                <a:spcPts val="1000"/>
              </a:spcAft>
            </a:pPr>
            <a:r>
              <a:rPr sz="1400" dirty="0">
                <a:solidFill>
                  <a:srgbClr val="333333"/>
                </a:solidFill>
                <a:latin typeface="メイリオ"/>
                <a:ea typeface="メイリオ"/>
                <a:cs typeface="メイリオ"/>
              </a:rPr>
              <a:t>・</a:t>
            </a:r>
            <a:r>
              <a:rPr sz="1400" dirty="0" err="1">
                <a:solidFill>
                  <a:srgbClr val="333333"/>
                </a:solidFill>
                <a:latin typeface="メイリオ"/>
                <a:ea typeface="メイリオ"/>
                <a:cs typeface="メイリオ"/>
              </a:rPr>
              <a:t>開封率・クリック率・CVR・獲得件数は、業界一般値・弊社実績にもとづく数値</a:t>
            </a:r>
            <a:endParaRPr sz="1400" dirty="0">
              <a:solidFill>
                <a:srgbClr val="333333"/>
              </a:solidFill>
              <a:latin typeface="メイリオ"/>
              <a:ea typeface="メイリオ"/>
              <a:cs typeface="メイリオ"/>
            </a:endParaRPr>
          </a:p>
          <a:p>
            <a:pPr algn="l">
              <a:lnSpc>
                <a:spcPct val="135000"/>
              </a:lnSpc>
              <a:spcAft>
                <a:spcPts val="1000"/>
              </a:spcAft>
            </a:pPr>
            <a:r>
              <a:rPr sz="1400" dirty="0">
                <a:solidFill>
                  <a:srgbClr val="333333"/>
                </a:solidFill>
                <a:latin typeface="メイリオ"/>
                <a:ea typeface="メイリオ"/>
                <a:cs typeface="メイリオ"/>
              </a:rPr>
              <a:t>・</a:t>
            </a:r>
            <a:r>
              <a:rPr sz="1400" dirty="0" err="1">
                <a:solidFill>
                  <a:srgbClr val="333333"/>
                </a:solidFill>
                <a:latin typeface="メイリオ"/>
                <a:ea typeface="メイリオ"/>
                <a:cs typeface="メイリオ"/>
              </a:rPr>
              <a:t>実装できる範囲に合わせ、すり合わせのうえ精緻化</a:t>
            </a:r>
            <a:endParaRPr sz="1400" dirty="0">
              <a:solidFill>
                <a:srgbClr val="333333"/>
              </a:solidFill>
              <a:latin typeface="メイリオ"/>
              <a:ea typeface="メイリオ"/>
              <a:cs typeface="メイリオ"/>
            </a:endParaRPr>
          </a:p>
        </p:txBody>
      </p:sp>
      <p:sp>
        <p:nvSpPr>
          <p:cNvPr id="89" name="Rounded Rectangle 88"/>
          <p:cNvSpPr/>
          <p:nvPr/>
        </p:nvSpPr>
        <p:spPr>
          <a:xfrm>
            <a:off x="6556800" y="3475800"/>
            <a:ext cx="2918400" cy="360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400" b="1">
                <a:solidFill>
                  <a:srgbClr val="FFFFFF"/>
                </a:solidFill>
                <a:latin typeface="メイリオ"/>
                <a:ea typeface="メイリオ"/>
                <a:cs typeface="メイリオ"/>
              </a:rPr>
              <a:t>4　費用について</a:t>
            </a:r>
          </a:p>
        </p:txBody>
      </p:sp>
      <p:sp>
        <p:nvSpPr>
          <p:cNvPr id="90" name="Rounded Rectangle 89"/>
          <p:cNvSpPr/>
          <p:nvPr/>
        </p:nvSpPr>
        <p:spPr>
          <a:xfrm>
            <a:off x="6556800" y="3871800"/>
            <a:ext cx="2918400" cy="2160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44000" tIns="21600" rIns="125999" bIns="21600" rtlCol="0" anchor="ctr"/>
          <a:lstStyle/>
          <a:p>
            <a:pPr algn="l">
              <a:lnSpc>
                <a:spcPct val="135000"/>
              </a:lnSpc>
              <a:spcAft>
                <a:spcPts val="1000"/>
              </a:spcAft>
            </a:pPr>
            <a:r>
              <a:rPr sz="1400" dirty="0">
                <a:solidFill>
                  <a:srgbClr val="333333"/>
                </a:solidFill>
                <a:latin typeface="メイリオ"/>
                <a:ea typeface="メイリオ"/>
                <a:cs typeface="メイリオ"/>
              </a:rPr>
              <a:t>・</a:t>
            </a:r>
            <a:r>
              <a:rPr sz="1400" dirty="0" err="1">
                <a:solidFill>
                  <a:srgbClr val="333333"/>
                </a:solidFill>
                <a:latin typeface="メイリオ"/>
                <a:ea typeface="メイリオ"/>
                <a:cs typeface="メイリオ"/>
              </a:rPr>
              <a:t>記載の費用（初期費用・月額費用）は前提の参考値</a:t>
            </a:r>
            <a:endParaRPr sz="1400" dirty="0">
              <a:solidFill>
                <a:srgbClr val="333333"/>
              </a:solidFill>
              <a:latin typeface="メイリオ"/>
              <a:ea typeface="メイリオ"/>
              <a:cs typeface="メイリオ"/>
            </a:endParaRPr>
          </a:p>
          <a:p>
            <a:pPr algn="l">
              <a:lnSpc>
                <a:spcPct val="135000"/>
              </a:lnSpc>
              <a:spcAft>
                <a:spcPts val="1000"/>
              </a:spcAft>
            </a:pPr>
            <a:r>
              <a:rPr sz="1400" dirty="0">
                <a:solidFill>
                  <a:srgbClr val="333333"/>
                </a:solidFill>
                <a:latin typeface="メイリオ"/>
                <a:ea typeface="メイリオ"/>
                <a:cs typeface="メイリオ"/>
              </a:rPr>
              <a:t>・</a:t>
            </a:r>
            <a:r>
              <a:rPr sz="1400" dirty="0" err="1">
                <a:solidFill>
                  <a:srgbClr val="333333"/>
                </a:solidFill>
                <a:latin typeface="メイリオ"/>
                <a:ea typeface="メイリオ"/>
                <a:cs typeface="メイリオ"/>
              </a:rPr>
              <a:t>施策の範囲が決まったのち、別途お見積りをご案内</a:t>
            </a:r>
            <a:endParaRPr sz="1400" dirty="0">
              <a:solidFill>
                <a:srgbClr val="333333"/>
              </a:solidFill>
              <a:latin typeface="メイリオ"/>
              <a:ea typeface="メイリオ"/>
              <a:cs typeface="メイリオ"/>
            </a:endParaRPr>
          </a:p>
        </p:txBody>
      </p:sp>
    </p:spTree>
    <p:extLst>
      <p:ext uri="{BB962C8B-B14F-4D97-AF65-F5344CB8AC3E}">
        <p14:creationId xmlns:p14="http://schemas.microsoft.com/office/powerpoint/2010/main" val="19855447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1</a:t>
            </a: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メイリオ" pitchFamily="34" charset="-120"/>
              </a:rPr>
              <a:t>友だち追加</a:t>
            </a:r>
            <a:endParaRPr lang="en-US" sz="1700" dirty="0">
              <a:latin typeface="メイリオ" panose="020B0604030504040204" pitchFamily="50" charset="-128"/>
              <a:ea typeface="メイリオ" panose="020B0604030504040204" pitchFamily="50" charset="-128"/>
              <a:cs typeface="メイリオ"/>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200" b="1" dirty="0">
                <a:solidFill>
                  <a:srgbClr val="06C755"/>
                </a:solidFill>
                <a:latin typeface="メイリオ" panose="020B0604030504040204" pitchFamily="50" charset="-128"/>
                <a:ea typeface="メイリオ" panose="020B0604030504040204" pitchFamily="50" charset="-128"/>
                <a:cs typeface="メイリオ" pitchFamily="34" charset="-120"/>
              </a:rPr>
              <a:t>接点を増やし母数を拡大</a:t>
            </a:r>
            <a:endParaRPr lang="en-US" sz="1200" dirty="0">
              <a:latin typeface="メイリオ" panose="020B0604030504040204" pitchFamily="50" charset="-128"/>
              <a:ea typeface="メイリオ" panose="020B0604030504040204" pitchFamily="50" charset="-128"/>
              <a:cs typeface="メイリオ"/>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616121"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メイリオ" pitchFamily="34" charset="-120"/>
              </a:rPr>
              <a:t>店頭・Web・同梱物など複数の接点から</a:t>
            </a:r>
            <a:r>
              <a:rPr lang="en-US" sz="1400" dirty="0">
                <a:solidFill>
                  <a:srgbClr val="1F2937"/>
                </a:solidFill>
                <a:latin typeface="メイリオ" panose="020B0604030504040204" pitchFamily="50" charset="-128"/>
                <a:ea typeface="メイリオ" panose="020B0604030504040204" pitchFamily="50" charset="-128"/>
                <a:cs typeface="メイリオ" pitchFamily="34" charset="-120"/>
              </a:rPr>
              <a:t>、</a:t>
            </a: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メイリオ" pitchFamily="34" charset="-120"/>
              </a:rPr>
              <a:t>訴求とセットでLINE友だち登録へ誘導</a:t>
            </a:r>
            <a:endParaRPr lang="en-US" sz="1400" dirty="0">
              <a:latin typeface="メイリオ" panose="020B0604030504040204" pitchFamily="50" charset="-128"/>
              <a:ea typeface="メイリオ" panose="020B0604030504040204" pitchFamily="50" charset="-128"/>
              <a:cs typeface="メイリオ"/>
            </a:endParaRP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2</a:t>
            </a: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メイリオ" pitchFamily="34" charset="-120"/>
              </a:rPr>
              <a:t>効率改善（配信）</a:t>
            </a:r>
            <a:endParaRPr lang="en-US" sz="1700" dirty="0">
              <a:latin typeface="メイリオ" panose="020B0604030504040204" pitchFamily="50" charset="-128"/>
              <a:ea typeface="メイリオ" panose="020B0604030504040204" pitchFamily="50" charset="-128"/>
              <a:cs typeface="メイリオ"/>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200" b="1" dirty="0">
                <a:solidFill>
                  <a:schemeClr val="accent5"/>
                </a:solidFill>
                <a:latin typeface="メイリオ" panose="020B0604030504040204" pitchFamily="50" charset="-128"/>
                <a:ea typeface="メイリオ" panose="020B0604030504040204" pitchFamily="50" charset="-128"/>
                <a:cs typeface="メイリオ" pitchFamily="34" charset="-120"/>
              </a:rPr>
              <a:t>ステップ配信・企画配信の設計</a:t>
            </a:r>
            <a:endParaRPr lang="en-US" sz="1200" dirty="0">
              <a:solidFill>
                <a:schemeClr val="accent5"/>
              </a:solidFill>
              <a:latin typeface="メイリオ" panose="020B0604030504040204" pitchFamily="50" charset="-128"/>
              <a:ea typeface="メイリオ" panose="020B0604030504040204" pitchFamily="50" charset="-128"/>
              <a:cs typeface="メイリオ"/>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メイリオ" pitchFamily="34" charset="-120"/>
              </a:rPr>
              <a:t>登録後の自動ステップ配信と</a:t>
            </a:r>
            <a:r>
              <a:rPr lang="en-US" sz="1400" dirty="0">
                <a:solidFill>
                  <a:srgbClr val="1F2937"/>
                </a:solidFill>
                <a:latin typeface="メイリオ" panose="020B0604030504040204" pitchFamily="50" charset="-128"/>
                <a:ea typeface="メイリオ" panose="020B0604030504040204" pitchFamily="50" charset="-128"/>
                <a:cs typeface="メイリオ" pitchFamily="34" charset="-120"/>
              </a:rPr>
              <a:t>、</a:t>
            </a: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メイリオ" pitchFamily="34" charset="-120"/>
              </a:rPr>
              <a:t>セグメント別の企画配信で、開封〜CV</a:t>
            </a:r>
            <a:endParaRPr lang="en-US" sz="1400" dirty="0">
              <a:solidFill>
                <a:srgbClr val="1F2937"/>
              </a:solidFill>
              <a:latin typeface="メイリオ" panose="020B0604030504040204" pitchFamily="50" charset="-128"/>
              <a:ea typeface="メイリオ" panose="020B0604030504040204" pitchFamily="50" charset="-128"/>
              <a:cs typeface="メイリオ" pitchFamily="34" charset="-120"/>
            </a:endParaRP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メイリオ" pitchFamily="34" charset="-120"/>
              </a:rPr>
              <a:t>までの導線を最適化</a:t>
            </a:r>
            <a:endParaRPr lang="en-US" sz="1400" dirty="0">
              <a:latin typeface="メイリオ" panose="020B0604030504040204" pitchFamily="50" charset="-128"/>
              <a:ea typeface="メイリオ" panose="020B0604030504040204" pitchFamily="50" charset="-128"/>
              <a:cs typeface="メイリオ"/>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3</a:t>
            </a: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メイリオ" pitchFamily="34" charset="-120"/>
              </a:rPr>
              <a:t>満足度改善（ユーザー）</a:t>
            </a:r>
            <a:endParaRPr lang="en-US" sz="1700" dirty="0">
              <a:latin typeface="メイリオ" panose="020B0604030504040204" pitchFamily="50" charset="-128"/>
              <a:ea typeface="メイリオ" panose="020B0604030504040204" pitchFamily="50" charset="-128"/>
              <a:cs typeface="メイリオ"/>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200" b="1" dirty="0">
                <a:solidFill>
                  <a:schemeClr val="accent1"/>
                </a:solidFill>
                <a:latin typeface="メイリオ" panose="020B0604030504040204" pitchFamily="50" charset="-128"/>
                <a:ea typeface="メイリオ" panose="020B0604030504040204" pitchFamily="50" charset="-128"/>
                <a:cs typeface="メイリオ" pitchFamily="34" charset="-120"/>
              </a:rPr>
              <a:t>QA自動化・個別対応の強化</a:t>
            </a:r>
            <a:endParaRPr lang="en-US" sz="1200" dirty="0">
              <a:solidFill>
                <a:schemeClr val="accent1"/>
              </a:solidFill>
              <a:latin typeface="メイリオ" panose="020B0604030504040204" pitchFamily="50" charset="-128"/>
              <a:ea typeface="メイリオ" panose="020B0604030504040204" pitchFamily="50" charset="-128"/>
              <a:cs typeface="メイリオ"/>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メイリオ" pitchFamily="34" charset="-120"/>
              </a:rPr>
              <a:t>よくある質問への自動応答と、必要な場面での個別チャット対応でユーザー体験を</a:t>
            </a:r>
            <a:endParaRPr lang="en-US" sz="1400" dirty="0">
              <a:solidFill>
                <a:srgbClr val="1F2937"/>
              </a:solidFill>
              <a:latin typeface="メイリオ" panose="020B0604030504040204" pitchFamily="50" charset="-128"/>
              <a:ea typeface="メイリオ" panose="020B0604030504040204" pitchFamily="50" charset="-128"/>
              <a:cs typeface="メイリオ" pitchFamily="34" charset="-120"/>
            </a:endParaRP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メイリオ" pitchFamily="34" charset="-120"/>
              </a:rPr>
              <a:t>向上</a:t>
            </a:r>
            <a:endParaRPr lang="en-US" sz="1400" dirty="0">
              <a:latin typeface="メイリオ" panose="020B0604030504040204" pitchFamily="50" charset="-128"/>
              <a:ea typeface="メイリオ" panose="020B0604030504040204" pitchFamily="50" charset="-128"/>
              <a:cs typeface="メイリオ"/>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4</a:t>
            </a: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メイリオ" pitchFamily="34" charset="-120"/>
              </a:rPr>
              <a:t>効率改善（管理側）</a:t>
            </a:r>
            <a:endParaRPr lang="en-US" sz="1700" dirty="0">
              <a:latin typeface="メイリオ" panose="020B0604030504040204" pitchFamily="50" charset="-128"/>
              <a:ea typeface="メイリオ" panose="020B0604030504040204" pitchFamily="50" charset="-128"/>
              <a:cs typeface="メイリオ"/>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200" b="1" dirty="0">
                <a:solidFill>
                  <a:srgbClr val="2C5364"/>
                </a:solidFill>
                <a:latin typeface="メイリオ" panose="020B0604030504040204" pitchFamily="50" charset="-128"/>
                <a:ea typeface="メイリオ" panose="020B0604030504040204" pitchFamily="50" charset="-128"/>
                <a:cs typeface="メイリオ" pitchFamily="34" charset="-120"/>
              </a:rPr>
              <a:t>自動応答・運用負荷の軽減</a:t>
            </a:r>
            <a:endParaRPr lang="en-US" sz="1200" dirty="0">
              <a:latin typeface="メイリオ" panose="020B0604030504040204" pitchFamily="50" charset="-128"/>
              <a:ea typeface="メイリオ" panose="020B0604030504040204" pitchFamily="50" charset="-128"/>
              <a:cs typeface="メイリオ"/>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メイリオ" pitchFamily="34" charset="-120"/>
              </a:rPr>
              <a:t>自動応答の仕組み化や運用フローの整備により、管理側の対応工数を削減</a:t>
            </a:r>
            <a:endParaRPr lang="en-US" sz="1400" dirty="0">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DYM</a:t>
            </a: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では基本的に①②の施策を中心に展開させていただきながら、</a:t>
            </a:r>
            <a:endPar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endParaRPr>
          </a:p>
          <a:p>
            <a:pPr algn="ct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事業会社ならではの③④におけるノウハウ共有等が可能</a:t>
            </a:r>
            <a:endPar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endParaRPr>
          </a:p>
        </p:txBody>
      </p:sp>
    </p:spTree>
    <p:extLst>
      <p:ext uri="{BB962C8B-B14F-4D97-AF65-F5344CB8AC3E}">
        <p14:creationId xmlns:p14="http://schemas.microsoft.com/office/powerpoint/2010/main" val="37975529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LINE運用ツール</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の選定</a:t>
            </a:r>
            <a:endParaRPr lang="ja-JP"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600" b="1" dirty="0">
                <a:solidFill>
                  <a:srgbClr val="FFFFFF"/>
                </a:solidFill>
                <a:latin typeface="メイリオ" panose="020B0604030504040204" pitchFamily="50" charset="-128"/>
                <a:ea typeface="メイリオ" panose="020B0604030504040204" pitchFamily="50" charset="-128"/>
                <a:cs typeface="メイリオ"/>
              </a:rPr>
              <a:t>なし </a:t>
            </a:r>
            <a:r>
              <a:rPr lang="en-US" altLang="ja-JP" sz="1050" dirty="0">
                <a:solidFill>
                  <a:srgbClr val="FFFFFF"/>
                </a:solidFill>
                <a:latin typeface="メイリオ" panose="020B0604030504040204" pitchFamily="50" charset="-128"/>
                <a:ea typeface="メイリオ" panose="020B0604030504040204" pitchFamily="50" charset="-128"/>
                <a:cs typeface="メイリオ"/>
              </a:rPr>
              <a:t>※OAM</a:t>
            </a:r>
            <a:r>
              <a:rPr lang="ja-JP" altLang="en-US" sz="1050" dirty="0">
                <a:solidFill>
                  <a:srgbClr val="FFFFFF"/>
                </a:solidFill>
                <a:latin typeface="メイリオ" panose="020B0604030504040204" pitchFamily="50" charset="-128"/>
                <a:ea typeface="メイリオ" panose="020B0604030504040204" pitchFamily="50" charset="-128"/>
                <a:cs typeface="メイリオ"/>
              </a:rPr>
              <a:t>にて運用する</a:t>
            </a:r>
            <a:endParaRPr lang="ja-JP" sz="1600" dirty="0">
              <a:solidFill>
                <a:srgbClr val="FFFFFF"/>
              </a:solidFill>
              <a:latin typeface="メイリオ" panose="020B0604030504040204" pitchFamily="50" charset="-128"/>
              <a:ea typeface="メイリオ" panose="020B0604030504040204" pitchFamily="50" charset="-128"/>
              <a:cs typeface="メイリオ"/>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600" b="1" dirty="0">
                <a:solidFill>
                  <a:srgbClr val="FFFFFF"/>
                </a:solidFill>
                <a:latin typeface="メイリオ" panose="020B0604030504040204" pitchFamily="50" charset="-128"/>
                <a:ea typeface="メイリオ" panose="020B0604030504040204" pitchFamily="50" charset="-128"/>
                <a:cs typeface="メイリオ"/>
              </a:rPr>
              <a:t>あり</a:t>
            </a:r>
            <a:r>
              <a:rPr lang="ja-JP" altLang="en-US" sz="1600" dirty="0">
                <a:solidFill>
                  <a:srgbClr val="FFFFFF"/>
                </a:solidFill>
                <a:latin typeface="メイリオ" panose="020B0604030504040204" pitchFamily="50" charset="-128"/>
                <a:ea typeface="メイリオ" panose="020B0604030504040204" pitchFamily="50" charset="-128"/>
                <a:cs typeface="メイリオ"/>
              </a:rPr>
              <a:t> </a:t>
            </a:r>
            <a:r>
              <a:rPr lang="en-US" altLang="ja-JP" sz="1200" dirty="0">
                <a:solidFill>
                  <a:srgbClr val="FFFFFF"/>
                </a:solidFill>
                <a:latin typeface="メイリオ" panose="020B0604030504040204" pitchFamily="50" charset="-128"/>
                <a:ea typeface="メイリオ" panose="020B0604030504040204" pitchFamily="50" charset="-128"/>
                <a:cs typeface="メイリオ"/>
              </a:rPr>
              <a:t>※</a:t>
            </a:r>
            <a:r>
              <a:rPr lang="en-US" altLang="ja-JP" sz="1200" dirty="0" err="1">
                <a:solidFill>
                  <a:srgbClr val="FFFFFF"/>
                </a:solidFill>
                <a:latin typeface="メイリオ" panose="020B0604030504040204" pitchFamily="50" charset="-128"/>
                <a:ea typeface="メイリオ" panose="020B0604030504040204" pitchFamily="50" charset="-128"/>
                <a:cs typeface="メイリオ"/>
              </a:rPr>
              <a:t>Lstep</a:t>
            </a:r>
            <a:r>
              <a:rPr lang="ja-JP" altLang="en-US" sz="1200" dirty="0">
                <a:solidFill>
                  <a:srgbClr val="FFFFFF"/>
                </a:solidFill>
                <a:latin typeface="メイリオ" panose="020B0604030504040204" pitchFamily="50" charset="-128"/>
                <a:ea typeface="メイリオ" panose="020B0604030504040204" pitchFamily="50" charset="-128"/>
                <a:cs typeface="メイリオ"/>
              </a:rPr>
              <a:t>など汎用的なもの</a:t>
            </a:r>
            <a:endParaRPr lang="ja-JP" sz="1600" dirty="0">
              <a:solidFill>
                <a:srgbClr val="FFFFFF"/>
              </a:solidFill>
              <a:latin typeface="メイリオ" panose="020B0604030504040204" pitchFamily="50" charset="-128"/>
              <a:ea typeface="メイリオ" panose="020B0604030504040204" pitchFamily="50" charset="-128"/>
              <a:cs typeface="メイリオ"/>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1244600"/>
          </a:xfrm>
          <a:prstGeom prst="rect">
            <a:avLst/>
          </a:prstGeom>
          <a:solidFill>
            <a:srgbClr val="F0F2F7"/>
          </a:solidFill>
          <a:ln>
            <a:noFill/>
          </a:ln>
        </p:spPr>
        <p:txBody>
          <a:bodyPr wrap="square" lIns="177800" tIns="127000" rIns="177800" bIns="127000" anchor="t"/>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結論・推奨</a:t>
            </a:r>
          </a:p>
          <a:p>
            <a:pPr>
              <a:spcBef>
                <a:spcPts val="200"/>
              </a:spcBef>
              <a:buNone/>
            </a:pPr>
            <a:r>
              <a:rPr lang="ja-JP" sz="1400" dirty="0">
                <a:solidFill>
                  <a:srgbClr val="333333"/>
                </a:solidFill>
                <a:latin typeface="メイリオ" panose="020B0604030504040204" pitchFamily="50" charset="-128"/>
                <a:ea typeface="メイリオ" panose="020B0604030504040204" pitchFamily="50" charset="-128"/>
                <a:cs typeface="メイリオ"/>
              </a:rPr>
              <a:t>API連携の有無が今後のデータ活用</a:t>
            </a:r>
            <a:r>
              <a:rPr lang="ja-JP" altLang="en-US" sz="1400" dirty="0">
                <a:solidFill>
                  <a:srgbClr val="333333"/>
                </a:solidFill>
                <a:latin typeface="メイリオ" panose="020B0604030504040204" pitchFamily="50" charset="-128"/>
                <a:ea typeface="メイリオ" panose="020B0604030504040204" pitchFamily="50" charset="-128"/>
                <a:cs typeface="メイリオ"/>
              </a:rPr>
              <a:t>や、詳細なセグメント設定</a:t>
            </a:r>
            <a:r>
              <a:rPr lang="ja-JP" sz="1400" dirty="0">
                <a:solidFill>
                  <a:srgbClr val="333333"/>
                </a:solidFill>
                <a:latin typeface="メイリオ" panose="020B0604030504040204" pitchFamily="50" charset="-128"/>
                <a:ea typeface="メイリオ" panose="020B0604030504040204" pitchFamily="50" charset="-128"/>
                <a:cs typeface="メイリオ"/>
              </a:rPr>
              <a:t>を左右する</a:t>
            </a:r>
            <a:endParaRPr lang="en-US" altLang="ja-JP" sz="1400" dirty="0">
              <a:solidFill>
                <a:srgbClr val="333333"/>
              </a:solidFill>
              <a:latin typeface="メイリオ" panose="020B0604030504040204" pitchFamily="50" charset="-128"/>
              <a:ea typeface="メイリオ" panose="020B0604030504040204" pitchFamily="50" charset="-128"/>
              <a:cs typeface="メイリオ"/>
            </a:endParaRPr>
          </a:p>
          <a:p>
            <a:pPr>
              <a:spcBef>
                <a:spcPts val="200"/>
              </a:spcBef>
              <a:buNone/>
            </a:pPr>
            <a:r>
              <a:rPr lang="ja-JP" altLang="en-US" sz="1400" dirty="0">
                <a:solidFill>
                  <a:srgbClr val="333333"/>
                </a:solidFill>
                <a:latin typeface="メイリオ" panose="020B0604030504040204" pitchFamily="50" charset="-128"/>
                <a:ea typeface="メイリオ" panose="020B0604030504040204" pitchFamily="50" charset="-128"/>
                <a:cs typeface="メイリオ"/>
              </a:rPr>
              <a:t>ユーザーアンケートを活用して、利用ステータスやユーザー情報の回収→配信に活用といった</a:t>
            </a:r>
            <a:endParaRPr lang="en-US" altLang="ja-JP" sz="1400" dirty="0">
              <a:solidFill>
                <a:srgbClr val="333333"/>
              </a:solidFill>
              <a:latin typeface="メイリオ" panose="020B0604030504040204" pitchFamily="50" charset="-128"/>
              <a:ea typeface="メイリオ" panose="020B0604030504040204" pitchFamily="50" charset="-128"/>
              <a:cs typeface="メイリオ"/>
            </a:endParaRPr>
          </a:p>
          <a:p>
            <a:pPr>
              <a:spcBef>
                <a:spcPts val="200"/>
              </a:spcBef>
              <a:buNone/>
            </a:pPr>
            <a:r>
              <a:rPr lang="ja-JP" altLang="en-US" sz="1400" dirty="0">
                <a:solidFill>
                  <a:srgbClr val="333333"/>
                </a:solidFill>
                <a:latin typeface="メイリオ" panose="020B0604030504040204" pitchFamily="50" charset="-128"/>
                <a:ea typeface="メイリオ" panose="020B0604030504040204" pitchFamily="50" charset="-128"/>
                <a:cs typeface="メイリオ"/>
              </a:rPr>
              <a:t>フローを踏むのが最適</a:t>
            </a:r>
            <a:endParaRPr lang="ja-JP" sz="14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特徴</a:t>
            </a:r>
          </a:p>
          <a:p>
            <a:pPr>
              <a:spcBef>
                <a:spcPts val="200"/>
              </a:spcBef>
              <a:buClr>
                <a:srgbClr val="1F2A5C"/>
              </a:buClr>
            </a:pPr>
            <a:r>
              <a:rPr lang="ja-JP" altLang="en-US" sz="1400" dirty="0">
                <a:solidFill>
                  <a:srgbClr val="333333"/>
                </a:solidFill>
                <a:latin typeface="メイリオ" panose="020B0604030504040204" pitchFamily="50" charset="-128"/>
                <a:ea typeface="メイリオ" panose="020B0604030504040204" pitchFamily="50" charset="-128"/>
                <a:cs typeface="メイリオ"/>
              </a:rPr>
              <a:t>コストが最小限に抑えられる</a:t>
            </a:r>
            <a:endParaRPr lang="en-US" altLang="ja-JP" sz="1400" dirty="0">
              <a:solidFill>
                <a:srgbClr val="333333"/>
              </a:solidFill>
              <a:latin typeface="メイリオ" panose="020B0604030504040204" pitchFamily="50" charset="-128"/>
              <a:ea typeface="メイリオ" panose="020B0604030504040204" pitchFamily="50" charset="-128"/>
              <a:cs typeface="メイリオ"/>
            </a:endParaRPr>
          </a:p>
          <a:p>
            <a:pPr>
              <a:spcBef>
                <a:spcPts val="200"/>
              </a:spcBef>
              <a:buClr>
                <a:srgbClr val="1F2A5C"/>
              </a:buClr>
            </a:pPr>
            <a:endParaRPr lang="en-US" altLang="ja-JP" sz="1400" b="1" dirty="0">
              <a:solidFill>
                <a:srgbClr val="333333"/>
              </a:solidFill>
              <a:latin typeface="メイリオ" panose="020B0604030504040204" pitchFamily="50" charset="-128"/>
              <a:ea typeface="メイリオ" panose="020B0604030504040204" pitchFamily="50" charset="-128"/>
              <a:cs typeface="メイリオ"/>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400" b="1" dirty="0">
                <a:solidFill>
                  <a:srgbClr val="00B050"/>
                </a:solidFill>
                <a:latin typeface="メイリオ" panose="020B0604030504040204" pitchFamily="50" charset="-128"/>
                <a:ea typeface="メイリオ" panose="020B0604030504040204" pitchFamily="50" charset="-128"/>
                <a:cs typeface="メイリオ"/>
              </a:rPr>
              <a:t>特徴</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cs typeface="メイリオ"/>
              </a:rPr>
              <a:t>API連携を前提としたステップ配信に強み</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cs typeface="メイリオ"/>
              </a:rPr>
              <a:t>セグメント配信・タグ管理も柔軟に設計可能</a:t>
            </a:r>
          </a:p>
          <a:p>
            <a:pPr>
              <a:spcBef>
                <a:spcPts val="600"/>
              </a:spcBef>
              <a:buNone/>
            </a:pPr>
            <a:endParaRPr lang="ja-JP" sz="14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400" b="1" dirty="0">
                <a:solidFill>
                  <a:srgbClr val="1F2A5C"/>
                </a:solidFill>
                <a:latin typeface="メイリオ" panose="020B0604030504040204" pitchFamily="50" charset="-128"/>
                <a:ea typeface="メイリオ" panose="020B0604030504040204" pitchFamily="50" charset="-128"/>
                <a:cs typeface="メイリオ"/>
              </a:rPr>
              <a:t>メリット</a:t>
            </a:r>
          </a:p>
          <a:p>
            <a:pPr>
              <a:spcBef>
                <a:spcPts val="200"/>
              </a:spcBef>
              <a:buClr>
                <a:srgbClr val="1F2A5C"/>
              </a:buClr>
            </a:pPr>
            <a:r>
              <a:rPr lang="ja-JP" sz="1400" dirty="0">
                <a:solidFill>
                  <a:srgbClr val="333333"/>
                </a:solidFill>
                <a:latin typeface="メイリオ" panose="020B0604030504040204" pitchFamily="50" charset="-128"/>
                <a:ea typeface="メイリオ" panose="020B0604030504040204" pitchFamily="50" charset="-128"/>
                <a:cs typeface="メイリオ"/>
              </a:rPr>
              <a:t>顧客情報を活かしたセグメント配信が可能</a:t>
            </a:r>
            <a:endParaRPr lang="en-US" altLang="ja-JP" sz="1400" dirty="0">
              <a:solidFill>
                <a:srgbClr val="333333"/>
              </a:solidFill>
              <a:latin typeface="メイリオ" panose="020B0604030504040204" pitchFamily="50" charset="-128"/>
              <a:ea typeface="メイリオ" panose="020B0604030504040204" pitchFamily="50" charset="-128"/>
              <a:cs typeface="メイリオ"/>
            </a:endParaRPr>
          </a:p>
          <a:p>
            <a:pPr>
              <a:spcBef>
                <a:spcPts val="200"/>
              </a:spcBef>
              <a:buClr>
                <a:srgbClr val="1F2A5C"/>
              </a:buClr>
            </a:pPr>
            <a:r>
              <a:rPr lang="ja-JP" altLang="en-US" sz="1400" dirty="0">
                <a:solidFill>
                  <a:srgbClr val="333333"/>
                </a:solidFill>
                <a:latin typeface="メイリオ" panose="020B0604030504040204" pitchFamily="50" charset="-128"/>
                <a:ea typeface="メイリオ" panose="020B0604030504040204" pitchFamily="50" charset="-128"/>
                <a:cs typeface="メイリオ"/>
              </a:rPr>
              <a:t>画一的な管理であれば導入が可能</a:t>
            </a:r>
            <a:endParaRPr lang="ja-JP" sz="14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400" b="1" dirty="0">
                <a:solidFill>
                  <a:srgbClr val="00B050"/>
                </a:solidFill>
                <a:latin typeface="メイリオ" panose="020B0604030504040204" pitchFamily="50" charset="-128"/>
                <a:ea typeface="メイリオ" panose="020B0604030504040204" pitchFamily="50" charset="-128"/>
                <a:cs typeface="メイリオ"/>
              </a:rPr>
              <a:t>メリット</a:t>
            </a:r>
            <a:endParaRPr lang="en-US" altLang="ja-JP" sz="1400" dirty="0">
              <a:solidFill>
                <a:srgbClr val="333333"/>
              </a:solidFill>
              <a:latin typeface="メイリオ" panose="020B0604030504040204" pitchFamily="50" charset="-128"/>
              <a:ea typeface="メイリオ" panose="020B0604030504040204" pitchFamily="50" charset="-128"/>
              <a:cs typeface="メイリオ"/>
            </a:endParaRP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cs typeface="メイリオ"/>
              </a:rPr>
              <a:t>経過日数・タグ条件を組み合わせた配信設計が可能</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cs typeface="メイリオ"/>
              </a:rPr>
              <a:t>API連携により外部データとの連携もしやすい</a:t>
            </a:r>
          </a:p>
          <a:p>
            <a:pPr>
              <a:spcBef>
                <a:spcPts val="600"/>
              </a:spcBef>
              <a:buNone/>
            </a:pPr>
            <a:endParaRPr lang="ja-JP" sz="14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400" b="1" dirty="0">
                <a:solidFill>
                  <a:srgbClr val="1F2A5C"/>
                </a:solidFill>
                <a:latin typeface="メイリオ" panose="020B0604030504040204" pitchFamily="50" charset="-128"/>
                <a:ea typeface="メイリオ" panose="020B0604030504040204" pitchFamily="50" charset="-128"/>
                <a:cs typeface="メイリオ"/>
              </a:rPr>
              <a:t>デメリット</a:t>
            </a:r>
          </a:p>
          <a:p>
            <a:pPr>
              <a:spcBef>
                <a:spcPts val="200"/>
              </a:spcBef>
              <a:buClr>
                <a:srgbClr val="1F2A5C"/>
              </a:buClr>
            </a:pPr>
            <a:r>
              <a:rPr lang="ja-JP" sz="1400" dirty="0">
                <a:solidFill>
                  <a:srgbClr val="333333"/>
                </a:solidFill>
                <a:latin typeface="メイリオ" panose="020B0604030504040204" pitchFamily="50" charset="-128"/>
                <a:ea typeface="メイリオ" panose="020B0604030504040204" pitchFamily="50" charset="-128"/>
                <a:cs typeface="メイリオ"/>
              </a:rPr>
              <a:t>現状LINEとAPI連携ができておらず、</a:t>
            </a:r>
            <a:endParaRPr lang="en-US" altLang="ja-JP" sz="1400" dirty="0">
              <a:solidFill>
                <a:srgbClr val="333333"/>
              </a:solidFill>
              <a:latin typeface="メイリオ" panose="020B0604030504040204" pitchFamily="50" charset="-128"/>
              <a:ea typeface="メイリオ" panose="020B0604030504040204" pitchFamily="50" charset="-128"/>
              <a:cs typeface="メイリオ"/>
            </a:endParaRPr>
          </a:p>
          <a:p>
            <a:pPr>
              <a:spcBef>
                <a:spcPts val="200"/>
              </a:spcBef>
              <a:buClr>
                <a:srgbClr val="1F2A5C"/>
              </a:buClr>
            </a:pPr>
            <a:r>
              <a:rPr lang="ja-JP" sz="1400" dirty="0">
                <a:solidFill>
                  <a:srgbClr val="333333"/>
                </a:solidFill>
                <a:latin typeface="メイリオ" panose="020B0604030504040204" pitchFamily="50" charset="-128"/>
                <a:ea typeface="メイリオ" panose="020B0604030504040204" pitchFamily="50" charset="-128"/>
                <a:cs typeface="メイリオ"/>
              </a:rPr>
              <a:t>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400" b="1" dirty="0">
                <a:solidFill>
                  <a:srgbClr val="00B050"/>
                </a:solidFill>
                <a:latin typeface="メイリオ" panose="020B0604030504040204" pitchFamily="50" charset="-128"/>
                <a:ea typeface="メイリオ" panose="020B0604030504040204" pitchFamily="50" charset="-128"/>
                <a:cs typeface="メイリオ"/>
              </a:rPr>
              <a:t>デメリット</a:t>
            </a:r>
            <a:endParaRPr lang="en-US" altLang="ja-JP" sz="1400" dirty="0">
              <a:solidFill>
                <a:srgbClr val="333333"/>
              </a:solidFill>
              <a:latin typeface="メイリオ" panose="020B0604030504040204" pitchFamily="50" charset="-128"/>
              <a:ea typeface="メイリオ" panose="020B0604030504040204" pitchFamily="50" charset="-128"/>
              <a:cs typeface="メイリオ"/>
            </a:endParaRP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cs typeface="メイリオ"/>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000">
              <a:latin typeface="メイリオ" panose="020B0604030504040204" pitchFamily="50" charset="-128"/>
              <a:ea typeface="メイリオ" panose="020B0604030504040204" pitchFamily="50" charset="-128"/>
              <a:cs typeface="メイリオ"/>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&gt;</a:t>
            </a:r>
            <a:endParaRPr lang="ja-JP" altLang="en-US" sz="1400" dirty="0">
              <a:solidFill>
                <a:schemeClr val="tx1">
                  <a:lumMod val="50000"/>
                  <a:lumOff val="50000"/>
                </a:schemeClr>
              </a:solidFill>
              <a:latin typeface="メイリオ"/>
              <a:ea typeface="メイリオ"/>
              <a:cs typeface="メイリオ"/>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&gt;</a:t>
            </a:r>
            <a:endParaRPr lang="ja-JP" altLang="en-US" sz="1400" dirty="0">
              <a:solidFill>
                <a:schemeClr val="tx1">
                  <a:lumMod val="50000"/>
                  <a:lumOff val="50000"/>
                </a:schemeClr>
              </a:solidFill>
              <a:latin typeface="メイリオ"/>
              <a:ea typeface="メイリオ"/>
              <a:cs typeface="メイリオ"/>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HP</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LP</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各種</a:t>
            </a: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SNS</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LINE_CPF</a:t>
            </a: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cs typeface="メイリオ"/>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cs typeface="メイリオ"/>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cs typeface="メイリオ"/>
              </a:rPr>
              <a:t>(</a:t>
            </a:r>
            <a:r>
              <a:rPr lang="ja-JP" altLang="en-US" sz="1000" b="1" dirty="0">
                <a:solidFill>
                  <a:schemeClr val="bg1"/>
                </a:solidFill>
                <a:latin typeface="メイリオ" panose="020B0604030504040204" pitchFamily="50" charset="-128"/>
                <a:ea typeface="メイリオ" panose="020B0604030504040204" pitchFamily="50" charset="-128"/>
                <a:cs typeface="メイリオ"/>
              </a:rPr>
              <a:t>離脱防止バナー</a:t>
            </a:r>
            <a:r>
              <a:rPr lang="en-US" altLang="ja-JP" sz="1000" b="1" dirty="0">
                <a:solidFill>
                  <a:schemeClr val="bg1"/>
                </a:solidFill>
                <a:latin typeface="メイリオ" panose="020B0604030504040204" pitchFamily="50" charset="-128"/>
                <a:ea typeface="メイリオ" panose="020B0604030504040204" pitchFamily="50" charset="-128"/>
                <a:cs typeface="メイリオ"/>
              </a:rPr>
              <a:t>)</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GA</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Call Plus</a:t>
            </a:r>
            <a:endParaRPr kumimoji="1" lang="ja-JP" altLang="en-US"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Chat Plus</a:t>
            </a:r>
            <a:endParaRPr kumimoji="1" lang="ja-JP" altLang="en-US"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en-US" altLang="ja-JP" sz="1000" dirty="0" err="1">
                <a:solidFill>
                  <a:schemeClr val="bg1"/>
                </a:solidFill>
                <a:latin typeface="メイリオ" panose="020B0604030504040204" pitchFamily="50" charset="-128"/>
                <a:ea typeface="メイリオ" panose="020B0604030504040204" pitchFamily="50" charset="-128"/>
                <a:cs typeface="メイリオ"/>
              </a:rPr>
              <a:t>OptionAPI</a:t>
            </a: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endParaRPr kumimoji="1" lang="ja-JP" altLang="en-US"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cs typeface="メイリオ"/>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ログイン </a:t>
            </a:r>
            <a:r>
              <a:rPr lang="en-US" altLang="ja-JP" sz="600" dirty="0">
                <a:solidFill>
                  <a:srgbClr val="FF0000"/>
                </a:solidFill>
                <a:latin typeface="メイリオ" panose="020B0604030504040204" pitchFamily="50" charset="-128"/>
                <a:ea typeface="メイリオ" panose="020B0604030504040204" pitchFamily="50" charset="-128"/>
                <a:cs typeface="メイリオ"/>
              </a:rPr>
              <a:t>※</a:t>
            </a:r>
            <a:r>
              <a:rPr lang="ja-JP" altLang="en-US" sz="600" dirty="0">
                <a:solidFill>
                  <a:srgbClr val="FF0000"/>
                </a:solidFill>
                <a:latin typeface="メイリオ" panose="020B0604030504040204" pitchFamily="50" charset="-128"/>
                <a:ea typeface="メイリオ" panose="020B0604030504040204" pitchFamily="50" charset="-128"/>
                <a:cs typeface="メイリオ"/>
              </a:rPr>
              <a:t>別途費用</a:t>
            </a:r>
            <a:endParaRPr lang="en-US" altLang="ja-JP" sz="7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連携 </a:t>
            </a:r>
            <a:r>
              <a:rPr lang="en-US" altLang="ja-JP" sz="700" dirty="0">
                <a:solidFill>
                  <a:srgbClr val="FF0000"/>
                </a:solidFill>
                <a:latin typeface="メイリオ" panose="020B0604030504040204" pitchFamily="50" charset="-128"/>
                <a:ea typeface="メイリオ" panose="020B0604030504040204" pitchFamily="50" charset="-128"/>
                <a:cs typeface="メイリオ"/>
              </a:rPr>
              <a:t>※</a:t>
            </a:r>
            <a:r>
              <a:rPr lang="ja-JP" altLang="en-US" sz="700" dirty="0">
                <a:solidFill>
                  <a:srgbClr val="FF0000"/>
                </a:solidFill>
                <a:latin typeface="メイリオ" panose="020B0604030504040204" pitchFamily="50" charset="-128"/>
                <a:ea typeface="メイリオ" panose="020B0604030504040204" pitchFamily="50" charset="-128"/>
                <a:cs typeface="メイリオ"/>
              </a:rPr>
              <a:t>別途費用</a:t>
            </a:r>
            <a:endParaRPr lang="en-US" altLang="ja-JP" sz="7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cs typeface="メイリオ"/>
              </a:rPr>
              <a:t>QA</a:t>
            </a:r>
            <a:r>
              <a:rPr lang="ja-JP" altLang="en-US" sz="1000" b="1">
                <a:solidFill>
                  <a:schemeClr val="bg1"/>
                </a:solidFill>
                <a:latin typeface="メイリオ" panose="020B0604030504040204" pitchFamily="50" charset="-128"/>
                <a:ea typeface="メイリオ" panose="020B0604030504040204" pitchFamily="50" charset="-128"/>
                <a:cs typeface="メイリオ"/>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1to1</a:t>
            </a: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cs typeface="メイリオ"/>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cs typeface="メイリオ"/>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LINE</a:t>
            </a: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実反響</a:t>
            </a:r>
            <a:r>
              <a:rPr lang="en-US" altLang="ja-JP" sz="1000" b="1" dirty="0">
                <a:solidFill>
                  <a:schemeClr val="bg1"/>
                </a:solidFill>
                <a:latin typeface="メイリオ" panose="020B0604030504040204" pitchFamily="50" charset="-128"/>
                <a:ea typeface="メイリオ" panose="020B0604030504040204" pitchFamily="50" charset="-128"/>
                <a:cs typeface="メイリオ"/>
              </a:rPr>
              <a:t>(</a:t>
            </a:r>
            <a:r>
              <a:rPr lang="ja-JP" altLang="en-US" sz="1000" b="1" dirty="0">
                <a:solidFill>
                  <a:schemeClr val="bg1"/>
                </a:solidFill>
                <a:latin typeface="メイリオ" panose="020B0604030504040204" pitchFamily="50" charset="-128"/>
                <a:ea typeface="メイリオ" panose="020B0604030504040204" pitchFamily="50" charset="-128"/>
                <a:cs typeface="メイリオ"/>
              </a:rPr>
              <a:t>購入</a:t>
            </a:r>
            <a:r>
              <a:rPr lang="en-US" altLang="ja-JP" sz="1000" b="1" dirty="0">
                <a:solidFill>
                  <a:schemeClr val="bg1"/>
                </a:solidFill>
                <a:latin typeface="メイリオ" panose="020B0604030504040204" pitchFamily="50" charset="-128"/>
                <a:ea typeface="メイリオ" panose="020B0604030504040204" pitchFamily="50" charset="-128"/>
                <a:cs typeface="メイリオ"/>
              </a:rPr>
              <a:t>)</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クー</a:t>
            </a:r>
            <a:r>
              <a:rPr lang="ja-JP" altLang="en-US" sz="1000" b="1" dirty="0">
                <a:solidFill>
                  <a:schemeClr val="bg1"/>
                </a:solidFill>
                <a:latin typeface="メイリオ" panose="020B0604030504040204" pitchFamily="50" charset="-128"/>
                <a:ea typeface="メイリオ" panose="020B0604030504040204" pitchFamily="50" charset="-128"/>
                <a:cs typeface="メイリオ"/>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1to1</a:t>
            </a: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cs typeface="メイリオ"/>
              </a:rPr>
              <a:t>自動化</a:t>
            </a:r>
            <a:r>
              <a:rPr lang="en-US" altLang="ja-JP" sz="1000" b="1" dirty="0">
                <a:solidFill>
                  <a:srgbClr val="00B050"/>
                </a:solidFill>
                <a:latin typeface="メイリオ" panose="020B0604030504040204" pitchFamily="50" charset="-128"/>
                <a:ea typeface="メイリオ" panose="020B0604030504040204" pitchFamily="50" charset="-128"/>
                <a:cs typeface="メイリオ"/>
              </a:rPr>
              <a:t>(</a:t>
            </a:r>
            <a:r>
              <a:rPr lang="ja-JP" altLang="en-US" sz="1000" b="1" dirty="0">
                <a:solidFill>
                  <a:srgbClr val="00B050"/>
                </a:solidFill>
                <a:latin typeface="メイリオ" panose="020B0604030504040204" pitchFamily="50" charset="-128"/>
                <a:ea typeface="メイリオ" panose="020B0604030504040204" pitchFamily="50" charset="-128"/>
                <a:cs typeface="メイリオ"/>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cs typeface="メイリオ"/>
              </a:rPr>
              <a:t>)</a:t>
            </a:r>
            <a:r>
              <a:rPr lang="ja-JP" altLang="en-US" sz="1000" b="1" dirty="0">
                <a:solidFill>
                  <a:srgbClr val="00B050"/>
                </a:solidFill>
                <a:latin typeface="メイリオ" panose="020B0604030504040204" pitchFamily="50" charset="-128"/>
                <a:ea typeface="メイリオ" panose="020B0604030504040204" pitchFamily="50" charset="-128"/>
                <a:cs typeface="メイリオ"/>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導入期間の長期化に伴い、カバー範囲を広げながら</a:t>
            </a:r>
            <a:r>
              <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a:t>
            </a: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新規獲得</a:t>
            </a:r>
            <a:r>
              <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】【CV</a:t>
            </a: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質改善</a:t>
            </a:r>
            <a:r>
              <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a:t>
            </a: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リピート率改善</a:t>
            </a:r>
            <a:r>
              <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a:t>
            </a:r>
          </a:p>
          <a:p>
            <a:pPr algn="ct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など新規・既存の両面から最適な施策をご提供することが可能</a:t>
            </a:r>
            <a:endPar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endParaRPr>
          </a:p>
        </p:txBody>
      </p:sp>
    </p:spTree>
    <p:extLst>
      <p:ext uri="{BB962C8B-B14F-4D97-AF65-F5344CB8AC3E}">
        <p14:creationId xmlns:p14="http://schemas.microsoft.com/office/powerpoint/2010/main" val="5073350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業界平均値</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200" b="1" dirty="0">
                <a:latin typeface="メイリオ" panose="020B0604030504040204" pitchFamily="50" charset="-128"/>
                <a:ea typeface="メイリオ" panose="020B0604030504040204" pitchFamily="50" charset="-128"/>
                <a:cs typeface="メイリオ"/>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200" dirty="0">
                <a:latin typeface="メイリオ" panose="020B0604030504040204" pitchFamily="50" charset="-128"/>
                <a:ea typeface="メイリオ" panose="020B0604030504040204" pitchFamily="50" charset="-128"/>
                <a:cs typeface="メイリオ"/>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cs typeface="メイリオ"/>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cs typeface="メイリオ"/>
              </a:rPr>
              <a:t>CV</a:t>
            </a:r>
            <a:r>
              <a:rPr kumimoji="1" lang="ja-JP" altLang="en-US" sz="1100" b="1" dirty="0">
                <a:solidFill>
                  <a:srgbClr val="FF0000"/>
                </a:solidFill>
                <a:latin typeface="メイリオ" panose="020B0604030504040204" pitchFamily="50" charset="-128"/>
                <a:ea typeface="メイリオ" panose="020B0604030504040204" pitchFamily="50" charset="-128"/>
                <a:cs typeface="メイリオ"/>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FF0000"/>
                </a:solidFill>
                <a:latin typeface="メイリオ" panose="020B0604030504040204" pitchFamily="50" charset="-128"/>
                <a:ea typeface="メイリオ" panose="020B0604030504040204" pitchFamily="50" charset="-128"/>
                <a:cs typeface="メイリオ"/>
              </a:rPr>
              <a:t>※</a:t>
            </a:r>
            <a:r>
              <a:rPr lang="ja-JP" altLang="en-US" sz="1000" dirty="0">
                <a:solidFill>
                  <a:srgbClr val="FF0000"/>
                </a:solidFill>
                <a:latin typeface="メイリオ" panose="020B0604030504040204" pitchFamily="50" charset="-128"/>
                <a:ea typeface="メイリオ" panose="020B0604030504040204" pitchFamily="50" charset="-128"/>
                <a:cs typeface="メイリオ"/>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cs typeface="メイリオ"/>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cs typeface="メイリオ"/>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cs typeface="メイリオ"/>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cs typeface="メイリオ"/>
              </a:rPr>
              <a:t>３</a:t>
            </a:r>
            <a:r>
              <a:rPr kumimoji="1" lang="ja-JP" altLang="en-US" sz="2400" b="1" dirty="0">
                <a:solidFill>
                  <a:srgbClr val="FF0000"/>
                </a:solidFill>
                <a:latin typeface="メイリオ" panose="020B0604030504040204" pitchFamily="50" charset="-128"/>
                <a:ea typeface="メイリオ" panose="020B0604030504040204" pitchFamily="50" charset="-128"/>
                <a:cs typeface="メイリオ"/>
              </a:rPr>
              <a:t>％</a:t>
            </a:r>
            <a:endParaRPr lang="ja-JP" altLang="en-US" sz="2400" dirty="0">
              <a:solidFill>
                <a:srgbClr val="FF0000"/>
              </a:solidFill>
              <a:latin typeface="メイリオ"/>
              <a:ea typeface="メイリオ"/>
              <a:cs typeface="メイリオ"/>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cs typeface="メイリオ"/>
              </a:rPr>
              <a:t>1.5</a:t>
            </a:r>
            <a:r>
              <a:rPr kumimoji="1" lang="ja-JP" altLang="en-US" sz="2400" b="1" dirty="0">
                <a:solidFill>
                  <a:srgbClr val="FF0000"/>
                </a:solidFill>
                <a:latin typeface="メイリオ" panose="020B0604030504040204" pitchFamily="50" charset="-128"/>
                <a:ea typeface="メイリオ" panose="020B0604030504040204" pitchFamily="50" charset="-128"/>
                <a:cs typeface="メイリオ"/>
              </a:rPr>
              <a:t>％</a:t>
            </a:r>
            <a:endParaRPr lang="ja-JP" altLang="en-US" sz="2400" dirty="0">
              <a:solidFill>
                <a:srgbClr val="FF0000"/>
              </a:solidFill>
              <a:latin typeface="メイリオ"/>
              <a:ea typeface="メイリオ"/>
              <a:cs typeface="メイリオ"/>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FF0000"/>
                </a:solidFill>
                <a:latin typeface="メイリオ" panose="020B0604030504040204" pitchFamily="50" charset="-128"/>
                <a:ea typeface="メイリオ" panose="020B0604030504040204" pitchFamily="50" charset="-128"/>
                <a:cs typeface="メイリオ"/>
              </a:rPr>
              <a:t>％</a:t>
            </a:r>
            <a:endParaRPr lang="ja-JP" altLang="en-US" sz="2400" dirty="0">
              <a:solidFill>
                <a:srgbClr val="FF0000"/>
              </a:solidFill>
              <a:latin typeface="メイリオ"/>
              <a:ea typeface="メイリオ"/>
              <a:cs typeface="メイリオ"/>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FF0000"/>
                </a:solidFill>
                <a:latin typeface="メイリオ" panose="020B0604030504040204" pitchFamily="50" charset="-128"/>
                <a:ea typeface="メイリオ" panose="020B0604030504040204" pitchFamily="50" charset="-128"/>
                <a:cs typeface="メイリオ"/>
              </a:rPr>
              <a:t>％</a:t>
            </a:r>
            <a:endParaRPr lang="ja-JP" altLang="en-US" sz="2400" dirty="0">
              <a:solidFill>
                <a:srgbClr val="FF0000"/>
              </a:solidFill>
              <a:latin typeface="メイリオ"/>
              <a:ea typeface="メイリオ"/>
              <a:cs typeface="メイリオ"/>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FF0000"/>
                </a:solidFill>
                <a:latin typeface="メイリオ" panose="020B0604030504040204" pitchFamily="50" charset="-128"/>
                <a:ea typeface="メイリオ" panose="020B0604030504040204" pitchFamily="50" charset="-128"/>
                <a:cs typeface="メイリオ"/>
              </a:rPr>
              <a:t>％</a:t>
            </a:r>
            <a:endParaRPr lang="ja-JP" altLang="en-US" sz="2400" dirty="0">
              <a:solidFill>
                <a:srgbClr val="FF0000"/>
              </a:solidFill>
              <a:latin typeface="メイリオ"/>
              <a:ea typeface="メイリオ"/>
              <a:cs typeface="メイリオ"/>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cs typeface="メイリオ"/>
              </a:rPr>
              <a:t>2</a:t>
            </a:r>
            <a:r>
              <a:rPr kumimoji="1" lang="ja-JP" altLang="en-US" sz="2400" b="1" dirty="0">
                <a:solidFill>
                  <a:srgbClr val="FF0000"/>
                </a:solidFill>
                <a:latin typeface="メイリオ" panose="020B0604030504040204" pitchFamily="50" charset="-128"/>
                <a:ea typeface="メイリオ" panose="020B0604030504040204" pitchFamily="50" charset="-128"/>
                <a:cs typeface="メイリオ"/>
              </a:rPr>
              <a:t>％</a:t>
            </a:r>
            <a:endParaRPr lang="ja-JP" altLang="en-US" sz="2400" dirty="0">
              <a:solidFill>
                <a:srgbClr val="FF0000"/>
              </a:solidFill>
              <a:latin typeface="メイリオ"/>
              <a:ea typeface="メイリオ"/>
              <a:cs typeface="メイリオ"/>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公式</a:t>
            </a:r>
            <a:r>
              <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LINE</a:t>
            </a: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の友だち追加ユーザーが成果地点（</a:t>
            </a:r>
            <a:r>
              <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CV</a:t>
            </a: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a:t>
            </a:r>
            <a:r>
              <a:rPr lang="ja-JP" altLang="en-US" sz="800" b="1" dirty="0">
                <a:solidFill>
                  <a:srgbClr val="FF0000"/>
                </a:solidFill>
                <a:latin typeface="メイリオ" panose="020B0604030504040204" pitchFamily="34" charset="-128"/>
                <a:ea typeface="メイリオ" panose="020B0604030504040204" pitchFamily="34" charset="-128"/>
                <a:cs typeface="メイリオ"/>
              </a:rPr>
              <a:t> </a:t>
            </a:r>
            <a:r>
              <a:rPr lang="en-US" altLang="ja-JP" sz="800" b="1" dirty="0">
                <a:solidFill>
                  <a:srgbClr val="FF0000"/>
                </a:solidFill>
                <a:latin typeface="メイリオ" panose="020B0604030504040204" pitchFamily="34" charset="-128"/>
                <a:ea typeface="メイリオ" panose="020B0604030504040204" pitchFamily="34" charset="-128"/>
                <a:cs typeface="メイリオ"/>
              </a:rPr>
              <a:t>※</a:t>
            </a:r>
            <a:r>
              <a:rPr lang="ja-JP" altLang="en-US" sz="800" b="1" dirty="0">
                <a:solidFill>
                  <a:srgbClr val="FF0000"/>
                </a:solidFill>
                <a:latin typeface="メイリオ" panose="020B0604030504040204" pitchFamily="34" charset="-128"/>
                <a:ea typeface="メイリオ" panose="020B0604030504040204" pitchFamily="34" charset="-128"/>
                <a:cs typeface="メイリオ"/>
              </a:rPr>
              <a:t>業界業態・地点により変動   </a:t>
            </a: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に到達する割合は</a:t>
            </a:r>
            <a:endPar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endParaRPr>
          </a:p>
          <a:p>
            <a:pPr algn="ct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通算で３</a:t>
            </a:r>
            <a:r>
              <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a:t>
            </a: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前後と言われており、</a:t>
            </a:r>
            <a:r>
              <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LINE</a:t>
            </a: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動線を最適化することはマーケティングにおける重要度が高い。</a:t>
            </a:r>
            <a:endParaRPr lang="en-US" altLang="ja-JP" sz="1400" b="1" dirty="0">
              <a:solidFill>
                <a:srgbClr val="FF0000"/>
              </a:solidFill>
              <a:latin typeface="メイリオ" panose="020B0604030504040204" pitchFamily="34" charset="-128"/>
              <a:ea typeface="メイリオ" panose="020B0604030504040204" pitchFamily="34" charset="-128"/>
              <a:cs typeface="メイリオ"/>
            </a:endParaRPr>
          </a:p>
        </p:txBody>
      </p:sp>
    </p:spTree>
    <p:extLst>
      <p:ext uri="{BB962C8B-B14F-4D97-AF65-F5344CB8AC3E}">
        <p14:creationId xmlns:p14="http://schemas.microsoft.com/office/powerpoint/2010/main" val="36518251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dirty="0">
              <a:latin typeface="メイリオ" panose="020B0604030504040204" pitchFamily="50" charset="-128"/>
              <a:ea typeface="メイリオ" panose="020B0604030504040204" pitchFamily="50" charset="-128"/>
              <a:cs typeface="メイリオ"/>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また、学習コンテンツの展開でサービス理解度を引き上げ、来店意欲</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ea typeface="メイリオ"/>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6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①離脱ユーザーの再育成による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②体験予約のみユーザーの削減 → 来店・契約サポート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想定の費用対効果（</a:t>
            </a:r>
            <a:r>
              <a:rPr lang="en-US" altLang="ja-JP" sz="1600" b="1" dirty="0">
                <a:solidFill>
                  <a:srgbClr val="002060"/>
                </a:solidFill>
                <a:latin typeface="メイリオ"/>
                <a:ea typeface="メイリオ"/>
                <a:cs typeface="メイリオ"/>
                <a:sym typeface="Meiryo"/>
              </a:rPr>
              <a:t>1</a:t>
            </a:r>
            <a:r>
              <a:rPr lang="ja-JP" altLang="en-US" sz="1600" b="1" dirty="0">
                <a:solidFill>
                  <a:srgbClr val="002060"/>
                </a:solidFill>
                <a:latin typeface="メイリオ"/>
                <a:ea typeface="メイリオ"/>
                <a:cs typeface="メイリオ"/>
                <a:sym typeface="Meiryo"/>
              </a:rPr>
              <a:t>アカウントあたり）</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cs typeface="メイリオ"/>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cs typeface="メイリオ"/>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cs typeface="メイリオ"/>
              </a:rPr>
              <a:t>¥120,000</a:t>
            </a:r>
            <a:endParaRPr kumimoji="1" lang="ja-JP" altLang="en-US" sz="14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solidFill>
                <a:latin typeface="メイリオ" panose="020B0604030504040204" pitchFamily="50" charset="-128"/>
                <a:ea typeface="メイリオ" panose="020B0604030504040204" pitchFamily="50" charset="-128"/>
                <a:cs typeface="メイリオ"/>
              </a:rPr>
              <a:t>固定： </a:t>
            </a:r>
            <a:r>
              <a:rPr lang="en-US" altLang="ja-JP" sz="1400" dirty="0">
                <a:solidFill>
                  <a:schemeClr val="tx1"/>
                </a:solidFill>
                <a:latin typeface="メイリオ" panose="020B0604030504040204" pitchFamily="50" charset="-128"/>
                <a:ea typeface="メイリオ" panose="020B0604030504040204" pitchFamily="50" charset="-128"/>
                <a:cs typeface="メイリオ"/>
              </a:rPr>
              <a:t>¥40,000</a:t>
            </a:r>
            <a:r>
              <a:rPr lang="en-US" altLang="ja-JP" sz="1000" dirty="0">
                <a:solidFill>
                  <a:schemeClr val="tx1"/>
                </a:solidFill>
                <a:latin typeface="メイリオ" panose="020B0604030504040204" pitchFamily="50" charset="-128"/>
                <a:ea typeface="メイリオ" panose="020B0604030504040204" pitchFamily="50" charset="-128"/>
                <a:cs typeface="メイリオ"/>
              </a:rPr>
              <a:t>(</a:t>
            </a:r>
            <a:r>
              <a:rPr lang="ja-JP" altLang="en-US" sz="1000" dirty="0">
                <a:solidFill>
                  <a:schemeClr val="tx1"/>
                </a:solidFill>
                <a:latin typeface="メイリオ" panose="020B0604030504040204" pitchFamily="50" charset="-128"/>
                <a:ea typeface="メイリオ" panose="020B0604030504040204" pitchFamily="50" charset="-128"/>
                <a:cs typeface="メイリオ"/>
              </a:rPr>
              <a:t>初動</a:t>
            </a:r>
            <a:r>
              <a:rPr lang="en-US" altLang="ja-JP" sz="1000" dirty="0">
                <a:solidFill>
                  <a:schemeClr val="tx1"/>
                </a:solidFill>
                <a:latin typeface="メイリオ" panose="020B0604030504040204" pitchFamily="50" charset="-128"/>
                <a:ea typeface="メイリオ" panose="020B0604030504040204" pitchFamily="50" charset="-128"/>
                <a:cs typeface="メイリオ"/>
              </a:rPr>
              <a:t>3</a:t>
            </a:r>
            <a:r>
              <a:rPr lang="ja-JP" altLang="en-US" sz="1000" dirty="0">
                <a:solidFill>
                  <a:schemeClr val="tx1"/>
                </a:solidFill>
                <a:latin typeface="メイリオ" panose="020B0604030504040204" pitchFamily="50" charset="-128"/>
                <a:ea typeface="メイリオ" panose="020B0604030504040204" pitchFamily="50" charset="-128"/>
                <a:cs typeface="メイリオ"/>
              </a:rPr>
              <a:t>か月は</a:t>
            </a:r>
            <a:r>
              <a:rPr lang="en-US" altLang="ja-JP" sz="1000" dirty="0">
                <a:solidFill>
                  <a:schemeClr val="tx1"/>
                </a:solidFill>
                <a:latin typeface="メイリオ" panose="020B0604030504040204" pitchFamily="50" charset="-128"/>
                <a:ea typeface="メイリオ" panose="020B0604030504040204" pitchFamily="50" charset="-128"/>
                <a:cs typeface="メイリオ"/>
              </a:rPr>
              <a:t>\20,000)</a:t>
            </a:r>
            <a:endParaRPr lang="en-US" altLang="ja-JP" sz="14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400" dirty="0">
                <a:solidFill>
                  <a:schemeClr val="tx1"/>
                </a:solidFill>
                <a:latin typeface="メイリオ" panose="020B0604030504040204" pitchFamily="50" charset="-128"/>
                <a:ea typeface="メイリオ" panose="020B0604030504040204" pitchFamily="50" charset="-128"/>
                <a:cs typeface="メイリオ"/>
              </a:rPr>
              <a:t>＋ 成果：単価 ¥2,000</a:t>
            </a:r>
            <a:endParaRPr lang="en-US" altLang="ja-JP" sz="14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 コンサル費（入会案内）： ¥50,000</a:t>
            </a:r>
            <a:endParaRPr lang="ja-JP" altLang="en-US" sz="14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cs typeface="メイリオ"/>
              </a:rPr>
              <a:t>6</a:t>
            </a:r>
            <a:r>
              <a:rPr kumimoji="1" lang="ja-JP" altLang="en-US" sz="1200" dirty="0">
                <a:solidFill>
                  <a:schemeClr val="bg1"/>
                </a:solidFill>
                <a:latin typeface="メイリオ" panose="020B0604030504040204" pitchFamily="50" charset="-128"/>
                <a:ea typeface="メイリオ" panose="020B0604030504040204" pitchFamily="50" charset="-128"/>
                <a:cs typeface="メイリオ"/>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cs typeface="メイリオ"/>
              </a:rPr>
              <a:t>&lt;</a:t>
            </a:r>
            <a:r>
              <a:rPr kumimoji="1" lang="ja-JP" altLang="en-US" sz="1200" dirty="0">
                <a:solidFill>
                  <a:schemeClr val="tx1"/>
                </a:solidFill>
                <a:latin typeface="メイリオ" panose="020B0604030504040204" pitchFamily="50" charset="-128"/>
                <a:ea typeface="メイリオ" panose="020B0604030504040204" pitchFamily="50" charset="-128"/>
                <a:cs typeface="メイリオ"/>
              </a:rPr>
              <a:t>実施内容</a:t>
            </a:r>
            <a:r>
              <a:rPr kumimoji="1" lang="en-US" altLang="ja-JP" sz="1200" dirty="0">
                <a:solidFill>
                  <a:schemeClr val="tx1"/>
                </a:solidFill>
                <a:latin typeface="メイリオ" panose="020B0604030504040204" pitchFamily="50" charset="-128"/>
                <a:ea typeface="メイリオ" panose="020B0604030504040204" pitchFamily="50" charset="-128"/>
                <a:cs typeface="メイリオ"/>
              </a:rPr>
              <a:t>&gt;</a:t>
            </a:r>
            <a:endParaRPr kumimoji="1" lang="ja-JP" altLang="en-US"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cs typeface="メイリオ"/>
              </a:rPr>
              <a:t>&lt;</a:t>
            </a:r>
            <a:r>
              <a:rPr kumimoji="1" lang="ja-JP" altLang="en-US" sz="1200" dirty="0">
                <a:solidFill>
                  <a:schemeClr val="tx1"/>
                </a:solidFill>
                <a:latin typeface="メイリオ" panose="020B0604030504040204" pitchFamily="50" charset="-128"/>
                <a:ea typeface="メイリオ" panose="020B0604030504040204" pitchFamily="50" charset="-128"/>
                <a:cs typeface="メイリオ"/>
              </a:rPr>
              <a:t>実施内容</a:t>
            </a:r>
            <a:r>
              <a:rPr kumimoji="1" lang="en-US" altLang="ja-JP" sz="1200" dirty="0">
                <a:solidFill>
                  <a:schemeClr val="tx1"/>
                </a:solidFill>
                <a:latin typeface="メイリオ" panose="020B0604030504040204" pitchFamily="50" charset="-128"/>
                <a:ea typeface="メイリオ" panose="020B0604030504040204" pitchFamily="50" charset="-128"/>
                <a:cs typeface="メイリオ"/>
              </a:rPr>
              <a:t>&gt;</a:t>
            </a:r>
            <a:endParaRPr kumimoji="1" lang="ja-JP" altLang="en-US"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cs typeface="メイリオ"/>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2</a:t>
            </a:r>
            <a:r>
              <a:rPr lang="en-US" altLang="ja-JP" sz="1000" dirty="0">
                <a:solidFill>
                  <a:schemeClr val="tx1"/>
                </a:solidFill>
                <a:latin typeface="メイリオ" panose="020B0604030504040204" pitchFamily="50" charset="-128"/>
                <a:ea typeface="メイリオ" panose="020B0604030504040204" pitchFamily="50" charset="-128"/>
                <a:cs typeface="メイリオ"/>
              </a:rPr>
              <a:t>-3</a:t>
            </a: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cs typeface="メイリオ"/>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cs typeface="メイリオ"/>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1</a:t>
            </a: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cs typeface="メイリオ"/>
              </a:rPr>
              <a:t>※</a:t>
            </a:r>
            <a:r>
              <a:rPr lang="ja-JP" altLang="en-US" sz="1000" dirty="0">
                <a:solidFill>
                  <a:schemeClr val="tx1"/>
                </a:solidFill>
                <a:latin typeface="メイリオ" panose="020B0604030504040204" pitchFamily="50" charset="-128"/>
                <a:ea typeface="メイリオ" panose="020B0604030504040204" pitchFamily="50" charset="-128"/>
                <a:cs typeface="メイリオ"/>
              </a:rPr>
              <a:t>固定プランのみ実施</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cs typeface="メイリオ"/>
              </a:rPr>
              <a:t>ステップ配信</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5-10</a:t>
            </a: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本程度</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2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9" name="図 8">
            <a:extLst>
              <a:ext uri="{FF2B5EF4-FFF2-40B4-BE49-F238E27FC236}">
                <a16:creationId xmlns:a16="http://schemas.microsoft.com/office/drawing/2014/main" id="{302B5E53-DD1F-7344-CD05-98B03E0E16A4}"/>
              </a:ext>
            </a:extLst>
          </p:cNvPr>
          <p:cNvPicPr>
            <a:picLocks noChangeAspect="1"/>
          </p:cNvPicPr>
          <p:nvPr/>
        </p:nvPicPr>
        <p:blipFill>
          <a:blip r:embed="rId3"/>
          <a:stretch>
            <a:fillRect/>
          </a:stretch>
        </p:blipFill>
        <p:spPr>
          <a:xfrm>
            <a:off x="4313434" y="6065356"/>
            <a:ext cx="913375" cy="353208"/>
          </a:xfrm>
          <a:prstGeom prst="rect">
            <a:avLst/>
          </a:prstGeom>
        </p:spPr>
      </p:pic>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挨拶メッセ</a:t>
            </a:r>
            <a:endParaRPr kumimoji="1" lang="ja-JP" altLang="en-US"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2</a:t>
            </a: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回</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cs typeface="メイリオ"/>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cs typeface="メイリオ"/>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構築</a:t>
            </a: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×10</a:t>
            </a:r>
            <a:endParaRPr kumimoji="1"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ツール契約</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cs typeface="メイリオ"/>
              </a:rPr>
              <a:t>代行</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cs typeface="メイリオ"/>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cs typeface="メイリオ"/>
              </a:rPr>
              <a:t>約1,100人</a:t>
            </a:r>
            <a:endParaRPr kumimoji="1" lang="ja-JP" altLang="en-US" sz="12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cs typeface="メイリオ"/>
              </a:rPr>
              <a:t>78%</a:t>
            </a:r>
            <a:endParaRPr kumimoji="1" lang="ja-JP" altLang="en-US" sz="12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cs typeface="メイリオ"/>
              </a:rPr>
              <a:t>約620件/月</a:t>
            </a:r>
            <a:endParaRPr kumimoji="1" lang="ja-JP" altLang="en-US" sz="12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cs typeface="メイリオ"/>
              </a:rPr>
              <a:t>12〜13件/月</a:t>
            </a:r>
            <a:endParaRPr kumimoji="1" lang="ja-JP" altLang="en-US" sz="12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8130449" y="3866031"/>
            <a:ext cx="1414960" cy="276999"/>
          </a:xfrm>
          <a:prstGeom prst="rect">
            <a:avLst/>
          </a:prstGeom>
          <a:noFill/>
        </p:spPr>
        <p:txBody>
          <a:bodyPr wrap="square">
            <a:spAutoFit/>
          </a:bodyPr>
          <a:lstStyle/>
          <a:p>
            <a:pPr algn="ctr"/>
            <a:r>
              <a:rPr lang="ja-JP" altLang="en-US" sz="1200" b="1" dirty="0">
                <a:latin typeface="メイリオ" panose="020B0604030504040204" pitchFamily="50" charset="-128"/>
                <a:ea typeface="メイリオ" panose="020B0604030504040204" pitchFamily="50" charset="-128"/>
                <a:cs typeface="メイリオ"/>
              </a:rPr>
              <a:t>（CVR：約2%／半年累計44件）</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49DD51C1-FCAA-0EB3-1ED3-B50C2E0837D1}"/>
              </a:ext>
            </a:extLst>
          </p:cNvPr>
          <p:cNvSpPr/>
          <p:nvPr/>
        </p:nvSpPr>
        <p:spPr>
          <a:xfrm>
            <a:off x="3408319" y="5611884"/>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cs typeface="メイリオ"/>
              </a:rPr>
              <a:t>連携</a:t>
            </a:r>
          </a:p>
        </p:txBody>
      </p:sp>
      <p:sp>
        <p:nvSpPr>
          <p:cNvPr id="36" name="正方形/長方形 35">
            <a:extLst>
              <a:ext uri="{FF2B5EF4-FFF2-40B4-BE49-F238E27FC236}">
                <a16:creationId xmlns:a16="http://schemas.microsoft.com/office/drawing/2014/main" id="{4742D744-393C-4F54-8842-2CCE1D93DD52}"/>
              </a:ext>
            </a:extLst>
          </p:cNvPr>
          <p:cNvSpPr/>
          <p:nvPr/>
        </p:nvSpPr>
        <p:spPr>
          <a:xfrm>
            <a:off x="4657463"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別途開発</a:t>
            </a: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導入期間の長期化に伴い、カバー範囲を広げながら</a:t>
            </a:r>
            <a:r>
              <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a:t>
            </a: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新規獲得</a:t>
            </a:r>
            <a:r>
              <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】【CV</a:t>
            </a: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質改善</a:t>
            </a:r>
            <a:r>
              <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a:t>
            </a: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リピート率改善</a:t>
            </a:r>
            <a:r>
              <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a:t>
            </a:r>
          </a:p>
          <a:p>
            <a:pPr algn="ct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など新規・既存の両面から最適な施策をご提供することが可能</a:t>
            </a:r>
            <a:endParaRPr lang="en-US" altLang="ja-JP"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endParaRPr>
          </a:p>
        </p:txBody>
      </p:sp>
      <p:sp>
        <p:nvSpPr>
          <p:cNvPr id="6" name="正方形/長方形 85">
            <a:extLst>
              <a:ext uri="{FF2B5EF4-FFF2-40B4-BE49-F238E27FC236}">
                <a16:creationId xmlns:a16="http://schemas.microsoft.com/office/drawing/2014/main" id="{38F3E569-103C-B3AD-15E9-E0BB6026E36F}"/>
              </a:ext>
            </a:extLst>
          </p:cNvPr>
          <p:cNvSpPr/>
          <p:nvPr/>
        </p:nvSpPr>
        <p:spPr>
          <a:xfrm>
            <a:off x="6886308" y="4410000"/>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cs typeface="メイリオ"/>
              </a:rPr>
              <a:t>CPA</a:t>
            </a:r>
          </a:p>
        </p:txBody>
      </p:sp>
      <p:sp>
        <p:nvSpPr>
          <p:cNvPr id="13" name="テキスト ボックス 26">
            <a:extLst>
              <a:ext uri="{FF2B5EF4-FFF2-40B4-BE49-F238E27FC236}">
                <a16:creationId xmlns:a16="http://schemas.microsoft.com/office/drawing/2014/main" id="{8AD9CF0C-6AE4-2654-E1CB-1BB84E7C6E83}"/>
              </a:ext>
            </a:extLst>
          </p:cNvPr>
          <p:cNvSpPr txBox="1"/>
          <p:nvPr/>
        </p:nvSpPr>
        <p:spPr>
          <a:xfrm>
            <a:off x="8082000" y="4446000"/>
            <a:ext cx="1710000" cy="276999"/>
          </a:xfrm>
          <a:prstGeom prst="rect">
            <a:avLst/>
          </a:prstGeom>
          <a:noFill/>
        </p:spPr>
        <p:txBody>
          <a:bodyPr wrap="square">
            <a:spAutoFit/>
          </a:bodyPr>
          <a:lstStyle/>
          <a:p>
            <a:pPr algn="ctr"/>
            <a:r>
              <a:rPr lang="en-US" altLang="ja-JP" sz="1100" b="1" dirty="0">
                <a:solidFill>
                  <a:srgbClr val="1F285A"/>
                </a:solidFill>
                <a:latin typeface="メイリオ" panose="020B0604030504040204" pitchFamily="50" charset="-128"/>
                <a:ea typeface="メイリオ" panose="020B0604030504040204" pitchFamily="50" charset="-128"/>
                <a:cs typeface="メイリオ"/>
              </a:rPr>
              <a:t>5,077〜5,333円</a:t>
            </a:r>
          </a:p>
        </p:txBody>
      </p:sp>
      <p:sp>
        <p:nvSpPr>
          <p:cNvPr id="20" name="正方形/長方形 85">
            <a:extLst>
              <a:ext uri="{FF2B5EF4-FFF2-40B4-BE49-F238E27FC236}">
                <a16:creationId xmlns:a16="http://schemas.microsoft.com/office/drawing/2014/main" id="{38F3E569-103C-B3AD-15E9-E0BB6026E36F}"/>
              </a:ext>
            </a:extLst>
          </p:cNvPr>
          <p:cNvSpPr/>
          <p:nvPr/>
        </p:nvSpPr>
        <p:spPr>
          <a:xfrm>
            <a:off x="6886308" y="4834800"/>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cs typeface="メイリオ"/>
              </a:rPr>
              <a:t>CPO</a:t>
            </a:r>
          </a:p>
        </p:txBody>
      </p:sp>
      <p:sp>
        <p:nvSpPr>
          <p:cNvPr id="24" name="テキスト ボックス 26">
            <a:extLst>
              <a:ext uri="{FF2B5EF4-FFF2-40B4-BE49-F238E27FC236}">
                <a16:creationId xmlns:a16="http://schemas.microsoft.com/office/drawing/2014/main" id="{8AD9CF0C-6AE4-2654-E1CB-1BB84E7C6E83}"/>
              </a:ext>
            </a:extLst>
          </p:cNvPr>
          <p:cNvSpPr txBox="1"/>
          <p:nvPr/>
        </p:nvSpPr>
        <p:spPr>
          <a:xfrm>
            <a:off x="8082000" y="4870800"/>
            <a:ext cx="1710000" cy="276999"/>
          </a:xfrm>
          <a:prstGeom prst="rect">
            <a:avLst/>
          </a:prstGeom>
          <a:noFill/>
        </p:spPr>
        <p:txBody>
          <a:bodyPr wrap="square">
            <a:spAutoFit/>
          </a:bodyPr>
          <a:lstStyle/>
          <a:p>
            <a:pPr algn="ctr"/>
            <a:r>
              <a:rPr lang="en-US" altLang="ja-JP" sz="1100" b="1" dirty="0">
                <a:solidFill>
                  <a:srgbClr val="1F285A"/>
                </a:solidFill>
                <a:latin typeface="メイリオ" panose="020B0604030504040204" pitchFamily="50" charset="-128"/>
                <a:ea typeface="メイリオ" panose="020B0604030504040204" pitchFamily="50" charset="-128"/>
                <a:cs typeface="メイリオ"/>
              </a:rPr>
              <a:t>23,200〜38,000円</a:t>
            </a:r>
          </a:p>
        </p:txBody>
      </p:sp>
      <p:sp>
        <p:nvSpPr>
          <p:cNvPr id="87" name="TextBox 86"/>
          <p:cNvSpPr txBox="1"/>
          <p:nvPr/>
        </p:nvSpPr>
        <p:spPr>
          <a:xfrm>
            <a:off x="6840000" y="5292000"/>
            <a:ext cx="2880000" cy="216000"/>
          </a:xfrm>
          <a:prstGeom prst="rect">
            <a:avLst/>
          </a:prstGeom>
          <a:noFill/>
        </p:spPr>
        <p:txBody>
          <a:bodyPr wrap="square" lIns="0" tIns="21600" rIns="0" bIns="21600" anchor="t">
            <a:spAutoFit/>
          </a:bodyPr>
          <a:lstStyle/>
          <a:p>
            <a:pPr algn="l"/>
            <a:r>
              <a:rPr sz="900">
                <a:solidFill>
                  <a:srgbClr val="7F7F7F"/>
                </a:solidFill>
                <a:latin typeface="メイリオ"/>
                <a:ea typeface="メイリオ"/>
                <a:cs typeface="メイリオ"/>
              </a:rPr>
              <a:t>※6か月目の1か月分。月ごとの推移は次ページ</a:t>
            </a:r>
          </a:p>
        </p:txBody>
      </p:sp>
    </p:spTree>
    <p:extLst>
      <p:ext uri="{BB962C8B-B14F-4D97-AF65-F5344CB8AC3E}">
        <p14:creationId xmlns:p14="http://schemas.microsoft.com/office/powerpoint/2010/main" val="26585262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想定の費用対効果（CPA・CPOの推移）</a:t>
            </a: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運用が育つにつれて体験予約・入会が増え、6か月目のCPA・CPOは1か月目より大きく下がる</a:t>
            </a:r>
          </a:p>
          <a:p>
            <a:pPr algn="ct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（4か月目は固定費が上がるため、一時的に上がる）</a:t>
            </a:r>
          </a:p>
        </p:txBody>
      </p:sp>
      <p:sp>
        <p:nvSpPr>
          <p:cNvPr id="46" name="Rounded Rectangle 45"/>
          <p:cNvSpPr/>
          <p:nvPr/>
        </p:nvSpPr>
        <p:spPr>
          <a:xfrm>
            <a:off x="432000" y="1565999"/>
            <a:ext cx="1800000" cy="28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200" b="1">
                <a:solidFill>
                  <a:srgbClr val="FFFFFF"/>
                </a:solidFill>
                <a:latin typeface="メイリオ"/>
                <a:ea typeface="メイリオ"/>
                <a:cs typeface="メイリオ"/>
              </a:rPr>
              <a:t>忍者ナイン</a:t>
            </a:r>
          </a:p>
        </p:txBody>
      </p:sp>
      <p:graphicFrame>
        <p:nvGraphicFramePr>
          <p:cNvPr id="47" name="Table 46"/>
          <p:cNvGraphicFramePr>
            <a:graphicFrameLocks noGrp="1"/>
          </p:cNvGraphicFramePr>
          <p:nvPr/>
        </p:nvGraphicFramePr>
        <p:xfrm>
          <a:off x="432000" y="1908000"/>
          <a:ext cx="9043200" cy="1517760"/>
        </p:xfrm>
        <a:graphic>
          <a:graphicData uri="http://schemas.openxmlformats.org/drawingml/2006/table">
            <a:tbl>
              <a:tblPr firstRow="1" bandRow="1">
                <a:tableStyleId>{5C22544A-7EE6-4342-B048-85BDC9FD1C3A}</a:tableStyleId>
              </a:tblPr>
              <a:tblGrid>
                <a:gridCol w="2023200">
                  <a:extLst>
                    <a:ext uri="{9D8B030D-6E8A-4147-A177-3AD203B41FA5}">
                      <a16:colId xmlns:a16="http://schemas.microsoft.com/office/drawing/2014/main" val="20000"/>
                    </a:ext>
                  </a:extLst>
                </a:gridCol>
                <a:gridCol w="1170000">
                  <a:extLst>
                    <a:ext uri="{9D8B030D-6E8A-4147-A177-3AD203B41FA5}">
                      <a16:colId xmlns:a16="http://schemas.microsoft.com/office/drawing/2014/main" val="20001"/>
                    </a:ext>
                  </a:extLst>
                </a:gridCol>
                <a:gridCol w="1170000">
                  <a:extLst>
                    <a:ext uri="{9D8B030D-6E8A-4147-A177-3AD203B41FA5}">
                      <a16:colId xmlns:a16="http://schemas.microsoft.com/office/drawing/2014/main" val="20002"/>
                    </a:ext>
                  </a:extLst>
                </a:gridCol>
                <a:gridCol w="1170000">
                  <a:extLst>
                    <a:ext uri="{9D8B030D-6E8A-4147-A177-3AD203B41FA5}">
                      <a16:colId xmlns:a16="http://schemas.microsoft.com/office/drawing/2014/main" val="20003"/>
                    </a:ext>
                  </a:extLst>
                </a:gridCol>
                <a:gridCol w="1170000">
                  <a:extLst>
                    <a:ext uri="{9D8B030D-6E8A-4147-A177-3AD203B41FA5}">
                      <a16:colId xmlns:a16="http://schemas.microsoft.com/office/drawing/2014/main" val="20004"/>
                    </a:ext>
                  </a:extLst>
                </a:gridCol>
                <a:gridCol w="1170000">
                  <a:extLst>
                    <a:ext uri="{9D8B030D-6E8A-4147-A177-3AD203B41FA5}">
                      <a16:colId xmlns:a16="http://schemas.microsoft.com/office/drawing/2014/main" val="20005"/>
                    </a:ext>
                  </a:extLst>
                </a:gridCol>
                <a:gridCol w="1170000">
                  <a:extLst>
                    <a:ext uri="{9D8B030D-6E8A-4147-A177-3AD203B41FA5}">
                      <a16:colId xmlns:a16="http://schemas.microsoft.com/office/drawing/2014/main" val="20006"/>
                    </a:ext>
                  </a:extLst>
                </a:gridCol>
              </a:tblGrid>
              <a:tr h="288000">
                <a:tc>
                  <a:txBody>
                    <a:bodyPr/>
                    <a:lstStyle/>
                    <a:p>
                      <a:pPr algn="ctr"/>
                      <a:endParaRPr>
                        <a:latin typeface="メイリオ"/>
                        <a:ea typeface="メイリオ"/>
                        <a:cs typeface="メイリオ"/>
                      </a:endParaRPr>
                    </a:p>
                  </a:txBody>
                  <a:tcPr anchor="ctr">
                    <a:solidFill>
                      <a:srgbClr val="1F285A"/>
                    </a:solidFill>
                  </a:tcPr>
                </a:tc>
                <a:tc>
                  <a:txBody>
                    <a:bodyPr/>
                    <a:lstStyle/>
                    <a:p>
                      <a:pPr algn="ctr"/>
                      <a:r>
                        <a:rPr sz="1100" b="1">
                          <a:solidFill>
                            <a:srgbClr val="FFFFFF"/>
                          </a:solidFill>
                          <a:latin typeface="メイリオ"/>
                          <a:ea typeface="メイリオ"/>
                          <a:cs typeface="メイリオ"/>
                        </a:rPr>
                        <a:t>1か月目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2か月目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3か月目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4か月目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5か月目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6か月目</a:t>
                      </a:r>
                    </a:p>
                  </a:txBody>
                  <a:tcPr anchor="ctr">
                    <a:solidFill>
                      <a:srgbClr val="1F285A"/>
                    </a:solidFill>
                  </a:tcPr>
                </a:tc>
                <a:extLst>
                  <a:ext uri="{0D108BD9-81ED-4DB2-BD59-A6C34878D82A}">
                    <a16:rowId xmlns:a16="http://schemas.microsoft.com/office/drawing/2014/main" val="10000"/>
                  </a:ext>
                </a:extLst>
              </a:tr>
              <a:tr h="288000">
                <a:tc>
                  <a:txBody>
                    <a:bodyPr/>
                    <a:lstStyle/>
                    <a:p>
                      <a:pPr algn="l"/>
                      <a:r>
                        <a:rPr sz="1100" b="0">
                          <a:solidFill>
                            <a:srgbClr val="333333"/>
                          </a:solidFill>
                          <a:latin typeface="メイリオ"/>
                          <a:ea typeface="メイリオ"/>
                          <a:cs typeface="メイリオ"/>
                        </a:rPr>
                        <a:t>体験予約</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4件</a:t>
                      </a:r>
                    </a:p>
                  </a:txBody>
                  <a:tcPr anchor="ctr">
                    <a:solidFill>
                      <a:srgbClr val="FFFFFF"/>
                    </a:solidFill>
                  </a:tcPr>
                </a:tc>
                <a:tc>
                  <a:txBody>
                    <a:bodyPr/>
                    <a:lstStyle/>
                    <a:p>
                      <a:pPr algn="r"/>
                      <a:r>
                        <a:rPr sz="1100" b="0">
                          <a:solidFill>
                            <a:srgbClr val="333333"/>
                          </a:solidFill>
                          <a:latin typeface="メイリオ"/>
                          <a:ea typeface="メイリオ"/>
                          <a:cs typeface="メイリオ"/>
                        </a:rPr>
                        <a:t>6件</a:t>
                      </a:r>
                    </a:p>
                  </a:txBody>
                  <a:tcPr anchor="ctr">
                    <a:solidFill>
                      <a:srgbClr val="FFFFFF"/>
                    </a:solidFill>
                  </a:tcPr>
                </a:tc>
                <a:tc>
                  <a:txBody>
                    <a:bodyPr/>
                    <a:lstStyle/>
                    <a:p>
                      <a:pPr algn="r"/>
                      <a:r>
                        <a:rPr sz="1100" b="0">
                          <a:solidFill>
                            <a:srgbClr val="333333"/>
                          </a:solidFill>
                          <a:latin typeface="メイリオ"/>
                          <a:ea typeface="メイリオ"/>
                          <a:cs typeface="メイリオ"/>
                        </a:rPr>
                        <a:t>8件</a:t>
                      </a:r>
                    </a:p>
                  </a:txBody>
                  <a:tcPr anchor="ctr">
                    <a:solidFill>
                      <a:srgbClr val="FFFFFF"/>
                    </a:solidFill>
                  </a:tcPr>
                </a:tc>
                <a:tc>
                  <a:txBody>
                    <a:bodyPr/>
                    <a:lstStyle/>
                    <a:p>
                      <a:pPr algn="r"/>
                      <a:r>
                        <a:rPr sz="1100" b="0">
                          <a:solidFill>
                            <a:srgbClr val="333333"/>
                          </a:solidFill>
                          <a:latin typeface="メイリオ"/>
                          <a:ea typeface="メイリオ"/>
                          <a:cs typeface="メイリオ"/>
                        </a:rPr>
                        <a:t>11件</a:t>
                      </a:r>
                    </a:p>
                  </a:txBody>
                  <a:tcPr anchor="ctr">
                    <a:solidFill>
                      <a:srgbClr val="FFFFFF"/>
                    </a:solidFill>
                  </a:tcPr>
                </a:tc>
                <a:tc>
                  <a:txBody>
                    <a:bodyPr/>
                    <a:lstStyle/>
                    <a:p>
                      <a:pPr algn="r"/>
                      <a:r>
                        <a:rPr sz="1100" b="0">
                          <a:solidFill>
                            <a:srgbClr val="333333"/>
                          </a:solidFill>
                          <a:latin typeface="メイリオ"/>
                          <a:ea typeface="メイリオ"/>
                          <a:cs typeface="メイリオ"/>
                        </a:rPr>
                        <a:t>13件</a:t>
                      </a:r>
                    </a:p>
                  </a:txBody>
                  <a:tcPr anchor="ctr">
                    <a:solidFill>
                      <a:srgbClr val="FFFFFF"/>
                    </a:solidFill>
                  </a:tcPr>
                </a:tc>
                <a:extLst>
                  <a:ext uri="{0D108BD9-81ED-4DB2-BD59-A6C34878D82A}">
                    <a16:rowId xmlns:a16="http://schemas.microsoft.com/office/drawing/2014/main" val="10001"/>
                  </a:ext>
                </a:extLst>
              </a:tr>
              <a:tr h="288000">
                <a:tc>
                  <a:txBody>
                    <a:bodyPr/>
                    <a:lstStyle/>
                    <a:p>
                      <a:pPr algn="l"/>
                      <a:r>
                        <a:rPr sz="1100" b="1">
                          <a:solidFill>
                            <a:srgbClr val="333333"/>
                          </a:solidFill>
                          <a:latin typeface="メイリオ"/>
                          <a:ea typeface="メイリオ"/>
                          <a:cs typeface="メイリオ"/>
                        </a:rPr>
                        <a:t>CPA（体験予約1件）</a:t>
                      </a:r>
                    </a:p>
                  </a:txBody>
                  <a:tcPr anchor="ctr">
                    <a:solidFill>
                      <a:srgbClr val="F4F7FF"/>
                    </a:solidFill>
                  </a:tcPr>
                </a:tc>
                <a:tc>
                  <a:txBody>
                    <a:bodyPr/>
                    <a:lstStyle/>
                    <a:p>
                      <a:pPr algn="r"/>
                      <a:r>
                        <a:rPr sz="1100" b="1">
                          <a:solidFill>
                            <a:srgbClr val="333333"/>
                          </a:solidFill>
                          <a:latin typeface="メイリオ"/>
                          <a:ea typeface="メイリオ"/>
                          <a:cs typeface="メイリオ"/>
                        </a:rPr>
                        <a:t>12,000円</a:t>
                      </a:r>
                    </a:p>
                  </a:txBody>
                  <a:tcPr anchor="ctr">
                    <a:solidFill>
                      <a:srgbClr val="F4F7FF"/>
                    </a:solidFill>
                  </a:tcPr>
                </a:tc>
                <a:tc>
                  <a:txBody>
                    <a:bodyP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a:lstStyle/>
                    <a:p>
                      <a:pPr algn="r"/>
                      <a:r>
                        <a:rPr sz="1100" b="1">
                          <a:solidFill>
                            <a:srgbClr val="333333"/>
                          </a:solidFill>
                          <a:latin typeface="メイリオ"/>
                          <a:ea typeface="メイリオ"/>
                          <a:cs typeface="メイリオ"/>
                        </a:rPr>
                        <a:t>5,333円</a:t>
                      </a:r>
                    </a:p>
                  </a:txBody>
                  <a:tcPr anchor="ctr">
                    <a:solidFill>
                      <a:srgbClr val="F4F7FF"/>
                    </a:solidFill>
                  </a:tcPr>
                </a:tc>
                <a:tc>
                  <a:txBody>
                    <a:bodyP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a:lstStyle/>
                    <a:p>
                      <a:pPr algn="r"/>
                      <a:r>
                        <a:rPr sz="1100" b="1">
                          <a:solidFill>
                            <a:srgbClr val="333333"/>
                          </a:solidFill>
                          <a:latin typeface="メイリオ"/>
                          <a:ea typeface="メイリオ"/>
                          <a:cs typeface="メイリオ"/>
                        </a:rPr>
                        <a:t>5,636円</a:t>
                      </a:r>
                    </a:p>
                  </a:txBody>
                  <a:tcPr anchor="ctr">
                    <a:solidFill>
                      <a:srgbClr val="F4F7FF"/>
                    </a:solidFill>
                  </a:tcPr>
                </a:tc>
                <a:tc>
                  <a:txBody>
                    <a:bodyPr/>
                    <a:lstStyle/>
                    <a:p>
                      <a:pPr algn="r"/>
                      <a:r>
                        <a:rPr sz="1100" b="1">
                          <a:solidFill>
                            <a:srgbClr val="333333"/>
                          </a:solidFill>
                          <a:latin typeface="メイリオ"/>
                          <a:ea typeface="メイリオ"/>
                          <a:cs typeface="メイリオ"/>
                        </a:rPr>
                        <a:t>5,077円</a:t>
                      </a:r>
                    </a:p>
                  </a:txBody>
                  <a:tcPr anchor="ctr">
                    <a:solidFill>
                      <a:srgbClr val="F4F7FF"/>
                    </a:solidFill>
                  </a:tcPr>
                </a:tc>
                <a:extLst>
                  <a:ext uri="{0D108BD9-81ED-4DB2-BD59-A6C34878D82A}">
                    <a16:rowId xmlns:a16="http://schemas.microsoft.com/office/drawing/2014/main" val="10002"/>
                  </a:ext>
                </a:extLst>
              </a:tr>
              <a:tr h="288000">
                <a:tc>
                  <a:txBody>
                    <a:bodyPr/>
                    <a:lstStyle/>
                    <a:p>
                      <a:pPr algn="l"/>
                      <a:r>
                        <a:rPr sz="1100" b="0">
                          <a:solidFill>
                            <a:srgbClr val="333333"/>
                          </a:solidFill>
                          <a:latin typeface="メイリオ"/>
                          <a:ea typeface="メイリオ"/>
                          <a:cs typeface="メイリオ"/>
                        </a:rPr>
                        <a:t>入会</a:t>
                      </a:r>
                    </a:p>
                  </a:txBody>
                  <a:tcPr anchor="ctr">
                    <a:solidFill>
                      <a:srgbClr val="FFFFFF"/>
                    </a:solidFill>
                  </a:tcPr>
                </a:tc>
                <a:tc>
                  <a:txBody>
                    <a:bodyPr/>
                    <a:lstStyle/>
                    <a:p>
                      <a:pPr algn="r"/>
                      <a:r>
                        <a:rPr sz="1100" b="0">
                          <a:solidFill>
                            <a:srgbClr val="333333"/>
                          </a:solidFill>
                          <a:latin typeface="メイリオ"/>
                          <a:ea typeface="メイリオ"/>
                          <a:cs typeface="メイリオ"/>
                        </a:rPr>
                        <a:t>1件</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3件</a:t>
                      </a:r>
                    </a:p>
                  </a:txBody>
                  <a:tcPr anchor="ctr">
                    <a:solidFill>
                      <a:srgbClr val="FFFFFF"/>
                    </a:solidFill>
                  </a:tcPr>
                </a:tc>
                <a:tc>
                  <a:txBody>
                    <a:bodyPr/>
                    <a:lstStyle/>
                    <a:p>
                      <a:pPr algn="r"/>
                      <a:r>
                        <a:rPr sz="1100" b="0">
                          <a:solidFill>
                            <a:srgbClr val="333333"/>
                          </a:solidFill>
                          <a:latin typeface="メイリオ"/>
                          <a:ea typeface="メイリオ"/>
                          <a:cs typeface="メイリオ"/>
                        </a:rPr>
                        <a:t>4件</a:t>
                      </a:r>
                    </a:p>
                  </a:txBody>
                  <a:tcPr anchor="ctr">
                    <a:solidFill>
                      <a:srgbClr val="FFFFFF"/>
                    </a:solidFill>
                  </a:tcPr>
                </a:tc>
                <a:tc>
                  <a:txBody>
                    <a:bodyPr/>
                    <a:lstStyle/>
                    <a:p>
                      <a:pPr algn="r"/>
                      <a:r>
                        <a:rPr sz="1100" b="0">
                          <a:solidFill>
                            <a:srgbClr val="333333"/>
                          </a:solidFill>
                          <a:latin typeface="メイリオ"/>
                          <a:ea typeface="メイリオ"/>
                          <a:cs typeface="メイリオ"/>
                        </a:rPr>
                        <a:t>5件</a:t>
                      </a:r>
                    </a:p>
                  </a:txBody>
                  <a:tcPr anchor="ctr">
                    <a:solidFill>
                      <a:srgbClr val="FFFFFF"/>
                    </a:solidFill>
                  </a:tcPr>
                </a:tc>
                <a:extLst>
                  <a:ext uri="{0D108BD9-81ED-4DB2-BD59-A6C34878D82A}">
                    <a16:rowId xmlns:a16="http://schemas.microsoft.com/office/drawing/2014/main" val="10003"/>
                  </a:ext>
                </a:extLst>
              </a:tr>
              <a:tr h="288000">
                <a:tc>
                  <a:txBody>
                    <a:bodyPr/>
                    <a:lstStyle/>
                    <a:p>
                      <a:pPr algn="l"/>
                      <a:r>
                        <a:rPr sz="1100" b="1">
                          <a:solidFill>
                            <a:srgbClr val="333333"/>
                          </a:solidFill>
                          <a:latin typeface="メイリオ"/>
                          <a:ea typeface="メイリオ"/>
                          <a:cs typeface="メイリオ"/>
                        </a:rPr>
                        <a:t>CPO（入会1件）</a:t>
                      </a:r>
                    </a:p>
                  </a:txBody>
                  <a:tcPr anchor="ctr">
                    <a:solidFill>
                      <a:srgbClr val="F4F7FF"/>
                    </a:solidFill>
                  </a:tcPr>
                </a:tc>
                <a:tc>
                  <a:txBody>
                    <a:bodyPr/>
                    <a:lstStyle/>
                    <a:p>
                      <a:pPr algn="r"/>
                      <a:r>
                        <a:rPr sz="1100" b="1">
                          <a:solidFill>
                            <a:srgbClr val="333333"/>
                          </a:solidFill>
                          <a:latin typeface="メイリオ"/>
                          <a:ea typeface="メイリオ"/>
                          <a:cs typeface="メイリオ"/>
                        </a:rPr>
                        <a:t>74,000円</a:t>
                      </a:r>
                    </a:p>
                  </a:txBody>
                  <a:tcPr anchor="ctr">
                    <a:solidFill>
                      <a:srgbClr val="F4F7FF"/>
                    </a:solidFill>
                  </a:tcPr>
                </a:tc>
                <a:tc>
                  <a:txBody>
                    <a:bodyPr/>
                    <a:lstStyle/>
                    <a:p>
                      <a:pPr algn="r"/>
                      <a:r>
                        <a:rPr sz="1100" b="1">
                          <a:solidFill>
                            <a:srgbClr val="333333"/>
                          </a:solidFill>
                          <a:latin typeface="メイリオ"/>
                          <a:ea typeface="メイリオ"/>
                          <a:cs typeface="メイリオ"/>
                        </a:rPr>
                        <a:t>39,000円</a:t>
                      </a:r>
                    </a:p>
                  </a:txBody>
                  <a:tcPr anchor="ctr">
                    <a:solidFill>
                      <a:srgbClr val="F4F7FF"/>
                    </a:solidFill>
                  </a:tcPr>
                </a:tc>
                <a:tc>
                  <a:txBody>
                    <a:bodyPr/>
                    <a:lstStyle/>
                    <a:p>
                      <a:pPr algn="r"/>
                      <a:r>
                        <a:rPr sz="1100" b="1">
                          <a:solidFill>
                            <a:srgbClr val="333333"/>
                          </a:solidFill>
                          <a:latin typeface="メイリオ"/>
                          <a:ea typeface="メイリオ"/>
                          <a:cs typeface="メイリオ"/>
                        </a:rPr>
                        <a:t>41,000円</a:t>
                      </a:r>
                    </a:p>
                  </a:txBody>
                  <a:tcPr anchor="ctr">
                    <a:solidFill>
                      <a:srgbClr val="F4F7FF"/>
                    </a:solidFill>
                  </a:tcPr>
                </a:tc>
                <a:tc>
                  <a:txBody>
                    <a:bodyPr/>
                    <a:lstStyle/>
                    <a:p>
                      <a:pPr algn="r"/>
                      <a:r>
                        <a:rPr sz="1100" b="1">
                          <a:solidFill>
                            <a:srgbClr val="333333"/>
                          </a:solidFill>
                          <a:latin typeface="メイリオ"/>
                          <a:ea typeface="メイリオ"/>
                          <a:cs typeface="メイリオ"/>
                        </a:rPr>
                        <a:t>35,333円</a:t>
                      </a:r>
                    </a:p>
                  </a:txBody>
                  <a:tcPr anchor="ctr">
                    <a:solidFill>
                      <a:srgbClr val="F4F7FF"/>
                    </a:solidFill>
                  </a:tcPr>
                </a:tc>
                <a:tc>
                  <a:txBody>
                    <a:bodyPr/>
                    <a:lstStyle/>
                    <a:p>
                      <a:pPr algn="r"/>
                      <a:r>
                        <a:rPr sz="1100" b="1">
                          <a:solidFill>
                            <a:srgbClr val="333333"/>
                          </a:solidFill>
                          <a:latin typeface="メイリオ"/>
                          <a:ea typeface="メイリオ"/>
                          <a:cs typeface="メイリオ"/>
                        </a:rPr>
                        <a:t>28,000円</a:t>
                      </a:r>
                    </a:p>
                  </a:txBody>
                  <a:tcPr anchor="ctr">
                    <a:solidFill>
                      <a:srgbClr val="F4F7FF"/>
                    </a:solidFill>
                  </a:tcPr>
                </a:tc>
                <a:tc>
                  <a:txBody>
                    <a:bodyPr/>
                    <a:lstStyle/>
                    <a:p>
                      <a:pPr algn="r"/>
                      <a:r>
                        <a:rPr sz="1100" b="1">
                          <a:solidFill>
                            <a:srgbClr val="333333"/>
                          </a:solidFill>
                          <a:latin typeface="メイリオ"/>
                          <a:ea typeface="メイリオ"/>
                          <a:cs typeface="メイリオ"/>
                        </a:rPr>
                        <a:t>23,200円</a:t>
                      </a:r>
                    </a:p>
                  </a:txBody>
                  <a:tcPr anchor="ctr">
                    <a:solidFill>
                      <a:srgbClr val="F4F7FF"/>
                    </a:solidFill>
                  </a:tcPr>
                </a:tc>
                <a:extLst>
                  <a:ext uri="{0D108BD9-81ED-4DB2-BD59-A6C34878D82A}">
                    <a16:rowId xmlns:a16="http://schemas.microsoft.com/office/drawing/2014/main" val="10004"/>
                  </a:ext>
                </a:extLst>
              </a:tr>
            </a:tbl>
          </a:graphicData>
        </a:graphic>
      </p:graphicFrame>
      <p:sp>
        <p:nvSpPr>
          <p:cNvPr id="48" name="Rounded Rectangle 47"/>
          <p:cNvSpPr/>
          <p:nvPr/>
        </p:nvSpPr>
        <p:spPr>
          <a:xfrm>
            <a:off x="432000" y="3636000"/>
            <a:ext cx="1800000" cy="28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200" b="1">
                <a:solidFill>
                  <a:srgbClr val="FFFFFF"/>
                </a:solidFill>
                <a:latin typeface="メイリオ"/>
                <a:ea typeface="メイリオ"/>
                <a:cs typeface="メイリオ"/>
              </a:rPr>
              <a:t>チャイルドアイズ</a:t>
            </a:r>
          </a:p>
        </p:txBody>
      </p:sp>
      <p:graphicFrame>
        <p:nvGraphicFramePr>
          <p:cNvPr id="49" name="Table 48"/>
          <p:cNvGraphicFramePr>
            <a:graphicFrameLocks noGrp="1"/>
          </p:cNvGraphicFramePr>
          <p:nvPr/>
        </p:nvGraphicFramePr>
        <p:xfrm>
          <a:off x="432000" y="3977999"/>
          <a:ext cx="9043200" cy="1517760"/>
        </p:xfrm>
        <a:graphic>
          <a:graphicData uri="http://schemas.openxmlformats.org/drawingml/2006/table">
            <a:tbl>
              <a:tblPr firstRow="1" bandRow="1">
                <a:tableStyleId>{5C22544A-7EE6-4342-B048-85BDC9FD1C3A}</a:tableStyleId>
              </a:tblPr>
              <a:tblGrid>
                <a:gridCol w="2023200">
                  <a:extLst>
                    <a:ext uri="{9D8B030D-6E8A-4147-A177-3AD203B41FA5}">
                      <a16:colId xmlns:a16="http://schemas.microsoft.com/office/drawing/2014/main" val="20000"/>
                    </a:ext>
                  </a:extLst>
                </a:gridCol>
                <a:gridCol w="1170000">
                  <a:extLst>
                    <a:ext uri="{9D8B030D-6E8A-4147-A177-3AD203B41FA5}">
                      <a16:colId xmlns:a16="http://schemas.microsoft.com/office/drawing/2014/main" val="20001"/>
                    </a:ext>
                  </a:extLst>
                </a:gridCol>
                <a:gridCol w="1170000">
                  <a:extLst>
                    <a:ext uri="{9D8B030D-6E8A-4147-A177-3AD203B41FA5}">
                      <a16:colId xmlns:a16="http://schemas.microsoft.com/office/drawing/2014/main" val="20002"/>
                    </a:ext>
                  </a:extLst>
                </a:gridCol>
                <a:gridCol w="1170000">
                  <a:extLst>
                    <a:ext uri="{9D8B030D-6E8A-4147-A177-3AD203B41FA5}">
                      <a16:colId xmlns:a16="http://schemas.microsoft.com/office/drawing/2014/main" val="20003"/>
                    </a:ext>
                  </a:extLst>
                </a:gridCol>
                <a:gridCol w="1170000">
                  <a:extLst>
                    <a:ext uri="{9D8B030D-6E8A-4147-A177-3AD203B41FA5}">
                      <a16:colId xmlns:a16="http://schemas.microsoft.com/office/drawing/2014/main" val="20004"/>
                    </a:ext>
                  </a:extLst>
                </a:gridCol>
                <a:gridCol w="1170000">
                  <a:extLst>
                    <a:ext uri="{9D8B030D-6E8A-4147-A177-3AD203B41FA5}">
                      <a16:colId xmlns:a16="http://schemas.microsoft.com/office/drawing/2014/main" val="20005"/>
                    </a:ext>
                  </a:extLst>
                </a:gridCol>
                <a:gridCol w="1170000">
                  <a:extLst>
                    <a:ext uri="{9D8B030D-6E8A-4147-A177-3AD203B41FA5}">
                      <a16:colId xmlns:a16="http://schemas.microsoft.com/office/drawing/2014/main" val="20006"/>
                    </a:ext>
                  </a:extLst>
                </a:gridCol>
              </a:tblGrid>
              <a:tr h="288000">
                <a:tc>
                  <a:txBody>
                    <a:bodyPr/>
                    <a:lstStyle/>
                    <a:p>
                      <a:pPr algn="ctr"/>
                      <a:endParaRPr>
                        <a:latin typeface="メイリオ"/>
                        <a:ea typeface="メイリオ"/>
                        <a:cs typeface="メイリオ"/>
                      </a:endParaRPr>
                    </a:p>
                  </a:txBody>
                  <a:tcPr anchor="ctr">
                    <a:solidFill>
                      <a:srgbClr val="1F285A"/>
                    </a:solidFill>
                  </a:tcPr>
                </a:tc>
                <a:tc>
                  <a:txBody>
                    <a:bodyPr/>
                    <a:lstStyle/>
                    <a:p>
                      <a:pPr algn="ctr"/>
                      <a:r>
                        <a:rPr sz="1100" b="1">
                          <a:solidFill>
                            <a:srgbClr val="FFFFFF"/>
                          </a:solidFill>
                          <a:latin typeface="メイリオ"/>
                          <a:ea typeface="メイリオ"/>
                          <a:cs typeface="メイリオ"/>
                        </a:rPr>
                        <a:t>1か月目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2か月目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3か月目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4か月目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5か月目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6か月目</a:t>
                      </a:r>
                    </a:p>
                  </a:txBody>
                  <a:tcPr anchor="ctr">
                    <a:solidFill>
                      <a:srgbClr val="1F285A"/>
                    </a:solidFill>
                  </a:tcPr>
                </a:tc>
                <a:extLst>
                  <a:ext uri="{0D108BD9-81ED-4DB2-BD59-A6C34878D82A}">
                    <a16:rowId xmlns:a16="http://schemas.microsoft.com/office/drawing/2014/main" val="10000"/>
                  </a:ext>
                </a:extLst>
              </a:tr>
              <a:tr h="288000">
                <a:tc>
                  <a:txBody>
                    <a:bodyPr/>
                    <a:lstStyle/>
                    <a:p>
                      <a:pPr algn="l"/>
                      <a:r>
                        <a:rPr sz="1100" b="0">
                          <a:solidFill>
                            <a:srgbClr val="333333"/>
                          </a:solidFill>
                          <a:latin typeface="メイリオ"/>
                          <a:ea typeface="メイリオ"/>
                          <a:cs typeface="メイリオ"/>
                        </a:rPr>
                        <a:t>体験予約</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4件</a:t>
                      </a:r>
                    </a:p>
                  </a:txBody>
                  <a:tcPr anchor="ctr">
                    <a:solidFill>
                      <a:srgbClr val="FFFFFF"/>
                    </a:solidFill>
                  </a:tcPr>
                </a:tc>
                <a:tc>
                  <a:txBody>
                    <a:bodyPr/>
                    <a:lstStyle/>
                    <a:p>
                      <a:pPr algn="r"/>
                      <a:r>
                        <a:rPr sz="1100" b="0">
                          <a:solidFill>
                            <a:srgbClr val="333333"/>
                          </a:solidFill>
                          <a:latin typeface="メイリオ"/>
                          <a:ea typeface="メイリオ"/>
                          <a:cs typeface="メイリオ"/>
                        </a:rPr>
                        <a:t>7件</a:t>
                      </a:r>
                    </a:p>
                  </a:txBody>
                  <a:tcPr anchor="ctr">
                    <a:solidFill>
                      <a:srgbClr val="FFFFFF"/>
                    </a:solidFill>
                  </a:tcPr>
                </a:tc>
                <a:tc>
                  <a:txBody>
                    <a:bodyPr/>
                    <a:lstStyle/>
                    <a:p>
                      <a:pPr algn="r"/>
                      <a:r>
                        <a:rPr sz="1100" b="0">
                          <a:solidFill>
                            <a:srgbClr val="333333"/>
                          </a:solidFill>
                          <a:latin typeface="メイリオ"/>
                          <a:ea typeface="メイリオ"/>
                          <a:cs typeface="メイリオ"/>
                        </a:rPr>
                        <a:t>9件</a:t>
                      </a:r>
                    </a:p>
                  </a:txBody>
                  <a:tcPr anchor="ctr">
                    <a:solidFill>
                      <a:srgbClr val="FFFFFF"/>
                    </a:solidFill>
                  </a:tcPr>
                </a:tc>
                <a:tc>
                  <a:txBody>
                    <a:bodyPr/>
                    <a:lstStyle/>
                    <a:p>
                      <a:pPr algn="r"/>
                      <a:r>
                        <a:rPr sz="1100" b="0">
                          <a:solidFill>
                            <a:srgbClr val="333333"/>
                          </a:solidFill>
                          <a:latin typeface="メイリオ"/>
                          <a:ea typeface="メイリオ"/>
                          <a:cs typeface="メイリオ"/>
                        </a:rPr>
                        <a:t>10件</a:t>
                      </a:r>
                    </a:p>
                  </a:txBody>
                  <a:tcPr anchor="ctr">
                    <a:solidFill>
                      <a:srgbClr val="FFFFFF"/>
                    </a:solidFill>
                  </a:tcPr>
                </a:tc>
                <a:tc>
                  <a:txBody>
                    <a:bodyPr/>
                    <a:lstStyle/>
                    <a:p>
                      <a:pPr algn="r"/>
                      <a:r>
                        <a:rPr sz="1100" b="0">
                          <a:solidFill>
                            <a:srgbClr val="333333"/>
                          </a:solidFill>
                          <a:latin typeface="メイリオ"/>
                          <a:ea typeface="メイリオ"/>
                          <a:cs typeface="メイリオ"/>
                        </a:rPr>
                        <a:t>12件</a:t>
                      </a:r>
                    </a:p>
                  </a:txBody>
                  <a:tcPr anchor="ctr">
                    <a:solidFill>
                      <a:srgbClr val="FFFFFF"/>
                    </a:solidFill>
                  </a:tcPr>
                </a:tc>
                <a:extLst>
                  <a:ext uri="{0D108BD9-81ED-4DB2-BD59-A6C34878D82A}">
                    <a16:rowId xmlns:a16="http://schemas.microsoft.com/office/drawing/2014/main" val="10001"/>
                  </a:ext>
                </a:extLst>
              </a:tr>
              <a:tr h="288000">
                <a:tc>
                  <a:txBody>
                    <a:bodyPr/>
                    <a:lstStyle/>
                    <a:p>
                      <a:pPr algn="l"/>
                      <a:r>
                        <a:rPr sz="1100" b="1">
                          <a:solidFill>
                            <a:srgbClr val="333333"/>
                          </a:solidFill>
                          <a:latin typeface="メイリオ"/>
                          <a:ea typeface="メイリオ"/>
                          <a:cs typeface="メイリオ"/>
                        </a:rPr>
                        <a:t>CPA（体験予約1件）</a:t>
                      </a:r>
                    </a:p>
                  </a:txBody>
                  <a:tcPr anchor="ctr">
                    <a:solidFill>
                      <a:srgbClr val="F4F7FF"/>
                    </a:solidFill>
                  </a:tcPr>
                </a:tc>
                <a:tc>
                  <a:txBody>
                    <a:bodyPr/>
                    <a:lstStyle/>
                    <a:p>
                      <a:pPr algn="r"/>
                      <a:r>
                        <a:rPr sz="1100" b="1">
                          <a:solidFill>
                            <a:srgbClr val="333333"/>
                          </a:solidFill>
                          <a:latin typeface="メイリオ"/>
                          <a:ea typeface="メイリオ"/>
                          <a:cs typeface="メイリオ"/>
                        </a:rPr>
                        <a:t>12,000円</a:t>
                      </a:r>
                    </a:p>
                  </a:txBody>
                  <a:tcPr anchor="ctr">
                    <a:solidFill>
                      <a:srgbClr val="F4F7FF"/>
                    </a:solidFill>
                  </a:tcPr>
                </a:tc>
                <a:tc>
                  <a:txBody>
                    <a:bodyP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a:lstStyle/>
                    <a:p>
                      <a:pPr algn="r"/>
                      <a:r>
                        <a:rPr sz="1100" b="1">
                          <a:solidFill>
                            <a:srgbClr val="333333"/>
                          </a:solidFill>
                          <a:latin typeface="メイリオ"/>
                          <a:ea typeface="メイリオ"/>
                          <a:cs typeface="メイリオ"/>
                        </a:rPr>
                        <a:t>4,857円</a:t>
                      </a:r>
                    </a:p>
                  </a:txBody>
                  <a:tcPr anchor="ctr">
                    <a:solidFill>
                      <a:srgbClr val="F4F7FF"/>
                    </a:solidFill>
                  </a:tcPr>
                </a:tc>
                <a:tc>
                  <a:txBody>
                    <a:bodyPr/>
                    <a:lstStyle/>
                    <a:p>
                      <a:pPr algn="r"/>
                      <a:r>
                        <a:rPr sz="1100" b="1">
                          <a:solidFill>
                            <a:srgbClr val="333333"/>
                          </a:solidFill>
                          <a:latin typeface="メイリオ"/>
                          <a:ea typeface="メイリオ"/>
                          <a:cs typeface="メイリオ"/>
                        </a:rPr>
                        <a:t>6,444円</a:t>
                      </a:r>
                    </a:p>
                  </a:txBody>
                  <a:tcPr anchor="ctr">
                    <a:solidFill>
                      <a:srgbClr val="F4F7FF"/>
                    </a:solidFill>
                  </a:tcPr>
                </a:tc>
                <a:tc>
                  <a:txBody>
                    <a:bodyPr/>
                    <a:lstStyle/>
                    <a:p>
                      <a:pPr algn="r"/>
                      <a:r>
                        <a:rPr sz="1100" b="1">
                          <a:solidFill>
                            <a:srgbClr val="333333"/>
                          </a:solidFill>
                          <a:latin typeface="メイリオ"/>
                          <a:ea typeface="メイリオ"/>
                          <a:cs typeface="メイリオ"/>
                        </a:rPr>
                        <a:t>6,000円</a:t>
                      </a:r>
                    </a:p>
                  </a:txBody>
                  <a:tcPr anchor="ctr">
                    <a:solidFill>
                      <a:srgbClr val="F4F7FF"/>
                    </a:solidFill>
                  </a:tcPr>
                </a:tc>
                <a:tc>
                  <a:txBody>
                    <a:bodyPr/>
                    <a:lstStyle/>
                    <a:p>
                      <a:pPr algn="r"/>
                      <a:r>
                        <a:rPr sz="1100" b="1">
                          <a:solidFill>
                            <a:srgbClr val="333333"/>
                          </a:solidFill>
                          <a:latin typeface="メイリオ"/>
                          <a:ea typeface="メイリオ"/>
                          <a:cs typeface="メイリオ"/>
                        </a:rPr>
                        <a:t>5,333円</a:t>
                      </a:r>
                    </a:p>
                  </a:txBody>
                  <a:tcPr anchor="ctr">
                    <a:solidFill>
                      <a:srgbClr val="F4F7FF"/>
                    </a:solidFill>
                  </a:tcPr>
                </a:tc>
                <a:extLst>
                  <a:ext uri="{0D108BD9-81ED-4DB2-BD59-A6C34878D82A}">
                    <a16:rowId xmlns:a16="http://schemas.microsoft.com/office/drawing/2014/main" val="10002"/>
                  </a:ext>
                </a:extLst>
              </a:tr>
              <a:tr h="288000">
                <a:tc>
                  <a:txBody>
                    <a:bodyPr/>
                    <a:lstStyle/>
                    <a:p>
                      <a:pPr algn="l"/>
                      <a:r>
                        <a:rPr sz="1100" b="0">
                          <a:solidFill>
                            <a:srgbClr val="333333"/>
                          </a:solidFill>
                          <a:latin typeface="メイリオ"/>
                          <a:ea typeface="メイリオ"/>
                          <a:cs typeface="メイリオ"/>
                        </a:rPr>
                        <a:t>入会</a:t>
                      </a:r>
                    </a:p>
                  </a:txBody>
                  <a:tcPr anchor="ctr">
                    <a:solidFill>
                      <a:srgbClr val="FFFFFF"/>
                    </a:solidFill>
                  </a:tcPr>
                </a:tc>
                <a:tc>
                  <a:txBody>
                    <a:bodyPr/>
                    <a:lstStyle/>
                    <a:p>
                      <a:pPr algn="r"/>
                      <a:r>
                        <a:rPr sz="1100" b="0">
                          <a:solidFill>
                            <a:srgbClr val="333333"/>
                          </a:solidFill>
                          <a:latin typeface="メイリオ"/>
                          <a:ea typeface="メイリオ"/>
                          <a:cs typeface="メイリオ"/>
                        </a:rPr>
                        <a:t>1件</a:t>
                      </a:r>
                    </a:p>
                  </a:txBody>
                  <a:tcPr anchor="ctr">
                    <a:solidFill>
                      <a:srgbClr val="FFFFFF"/>
                    </a:solidFill>
                  </a:tcPr>
                </a:tc>
                <a:tc>
                  <a:txBody>
                    <a:bodyPr/>
                    <a:lstStyle/>
                    <a:p>
                      <a:pPr algn="r"/>
                      <a:r>
                        <a:rPr sz="1100" b="0">
                          <a:solidFill>
                            <a:srgbClr val="333333"/>
                          </a:solidFill>
                          <a:latin typeface="メイリオ"/>
                          <a:ea typeface="メイリオ"/>
                          <a:cs typeface="メイリオ"/>
                        </a:rPr>
                        <a:t>1件</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3件</a:t>
                      </a:r>
                    </a:p>
                  </a:txBody>
                  <a:tcPr anchor="ctr">
                    <a:solidFill>
                      <a:srgbClr val="FFFFFF"/>
                    </a:solidFill>
                  </a:tcPr>
                </a:tc>
                <a:extLst>
                  <a:ext uri="{0D108BD9-81ED-4DB2-BD59-A6C34878D82A}">
                    <a16:rowId xmlns:a16="http://schemas.microsoft.com/office/drawing/2014/main" val="10003"/>
                  </a:ext>
                </a:extLst>
              </a:tr>
              <a:tr h="288000">
                <a:tc>
                  <a:txBody>
                    <a:bodyPr/>
                    <a:lstStyle/>
                    <a:p>
                      <a:pPr algn="l"/>
                      <a:r>
                        <a:rPr sz="1100" b="1">
                          <a:solidFill>
                            <a:srgbClr val="333333"/>
                          </a:solidFill>
                          <a:latin typeface="メイリオ"/>
                          <a:ea typeface="メイリオ"/>
                          <a:cs typeface="メイリオ"/>
                        </a:rPr>
                        <a:t>CPO（入会1件）</a:t>
                      </a:r>
                    </a:p>
                  </a:txBody>
                  <a:tcPr anchor="ctr">
                    <a:solidFill>
                      <a:srgbClr val="F4F7FF"/>
                    </a:solidFill>
                  </a:tcPr>
                </a:tc>
                <a:tc>
                  <a:txBody>
                    <a:bodyPr/>
                    <a:lstStyle/>
                    <a:p>
                      <a:pPr algn="r"/>
                      <a:r>
                        <a:rPr sz="1100" b="1">
                          <a:solidFill>
                            <a:srgbClr val="333333"/>
                          </a:solidFill>
                          <a:latin typeface="メイリオ"/>
                          <a:ea typeface="メイリオ"/>
                          <a:cs typeface="メイリオ"/>
                        </a:rPr>
                        <a:t>74,000円</a:t>
                      </a:r>
                    </a:p>
                  </a:txBody>
                  <a:tcPr anchor="ctr">
                    <a:solidFill>
                      <a:srgbClr val="F4F7FF"/>
                    </a:solidFill>
                  </a:tcPr>
                </a:tc>
                <a:tc>
                  <a:txBody>
                    <a:bodyPr/>
                    <a:lstStyle/>
                    <a:p>
                      <a:pPr algn="r"/>
                      <a:r>
                        <a:rPr sz="1100" b="1">
                          <a:solidFill>
                            <a:srgbClr val="333333"/>
                          </a:solidFill>
                          <a:latin typeface="メイリオ"/>
                          <a:ea typeface="メイリオ"/>
                          <a:cs typeface="メイリオ"/>
                        </a:rPr>
                        <a:t>78,000円</a:t>
                      </a:r>
                    </a:p>
                  </a:txBody>
                  <a:tcPr anchor="ctr">
                    <a:solidFill>
                      <a:srgbClr val="F4F7FF"/>
                    </a:solidFill>
                  </a:tcPr>
                </a:tc>
                <a:tc>
                  <a:txBody>
                    <a:bodyPr/>
                    <a:lstStyle/>
                    <a:p>
                      <a:pPr algn="r"/>
                      <a:r>
                        <a:rPr sz="1100" b="1">
                          <a:solidFill>
                            <a:srgbClr val="333333"/>
                          </a:solidFill>
                          <a:latin typeface="メイリオ"/>
                          <a:ea typeface="メイリオ"/>
                          <a:cs typeface="メイリオ"/>
                        </a:rPr>
                        <a:t>42,000円</a:t>
                      </a:r>
                    </a:p>
                  </a:txBody>
                  <a:tcPr anchor="ctr">
                    <a:solidFill>
                      <a:srgbClr val="F4F7FF"/>
                    </a:solidFill>
                  </a:tcPr>
                </a:tc>
                <a:tc>
                  <a:txBody>
                    <a:bodyPr/>
                    <a:lstStyle/>
                    <a:p>
                      <a:pPr algn="r"/>
                      <a:r>
                        <a:rPr sz="1100" b="1">
                          <a:solidFill>
                            <a:srgbClr val="333333"/>
                          </a:solidFill>
                          <a:latin typeface="メイリオ"/>
                          <a:ea typeface="メイリオ"/>
                          <a:cs typeface="メイリオ"/>
                        </a:rPr>
                        <a:t>54,000円</a:t>
                      </a:r>
                    </a:p>
                  </a:txBody>
                  <a:tcPr anchor="ctr">
                    <a:solidFill>
                      <a:srgbClr val="F4F7FF"/>
                    </a:solidFill>
                  </a:tcPr>
                </a:tc>
                <a:tc>
                  <a:txBody>
                    <a:bodyPr/>
                    <a:lstStyle/>
                    <a:p>
                      <a:pPr algn="r"/>
                      <a:r>
                        <a:rPr sz="1100" b="1">
                          <a:solidFill>
                            <a:srgbClr val="333333"/>
                          </a:solidFill>
                          <a:latin typeface="メイリオ"/>
                          <a:ea typeface="メイリオ"/>
                          <a:cs typeface="メイリオ"/>
                        </a:rPr>
                        <a:t>55,000円</a:t>
                      </a:r>
                    </a:p>
                  </a:txBody>
                  <a:tcPr anchor="ctr">
                    <a:solidFill>
                      <a:srgbClr val="F4F7FF"/>
                    </a:solidFill>
                  </a:tcPr>
                </a:tc>
                <a:tc>
                  <a:txBody>
                    <a:bodyPr/>
                    <a:lstStyle/>
                    <a:p>
                      <a:pPr algn="r"/>
                      <a:r>
                        <a:rPr sz="1100" b="1">
                          <a:solidFill>
                            <a:srgbClr val="333333"/>
                          </a:solidFill>
                          <a:latin typeface="メイリオ"/>
                          <a:ea typeface="メイリオ"/>
                          <a:cs typeface="メイリオ"/>
                        </a:rPr>
                        <a:t>38,000円</a:t>
                      </a:r>
                    </a:p>
                  </a:txBody>
                  <a:tcPr anchor="ctr">
                    <a:solidFill>
                      <a:srgbClr val="F4F7FF"/>
                    </a:solidFill>
                  </a:tcPr>
                </a:tc>
                <a:extLst>
                  <a:ext uri="{0D108BD9-81ED-4DB2-BD59-A6C34878D82A}">
                    <a16:rowId xmlns:a16="http://schemas.microsoft.com/office/drawing/2014/main" val="10004"/>
                  </a:ext>
                </a:extLst>
              </a:tr>
            </a:tbl>
          </a:graphicData>
        </a:graphic>
      </p:graphicFrame>
      <p:sp>
        <p:nvSpPr>
          <p:cNvPr id="50" name="TextBox 49"/>
          <p:cNvSpPr txBox="1"/>
          <p:nvPr/>
        </p:nvSpPr>
        <p:spPr>
          <a:xfrm>
            <a:off x="432000" y="5724000"/>
            <a:ext cx="9043200" cy="503999"/>
          </a:xfrm>
          <a:prstGeom prst="rect">
            <a:avLst/>
          </a:prstGeom>
          <a:noFill/>
        </p:spPr>
        <p:txBody>
          <a:bodyPr wrap="square" lIns="0" tIns="21600" rIns="0" bIns="21600" anchor="t">
            <a:spAutoFit/>
          </a:bodyPr>
          <a:lstStyle/>
          <a:p>
            <a:pPr algn="l">
              <a:lnSpc>
                <a:spcPct val="120000"/>
              </a:lnSpc>
            </a:pPr>
            <a:r>
              <a:rPr sz="900">
                <a:solidFill>
                  <a:srgbClr val="7F7F7F"/>
                </a:solidFill>
                <a:latin typeface="メイリオ"/>
                <a:ea typeface="メイリオ"/>
                <a:cs typeface="メイリオ"/>
              </a:rPr>
              <a:t>※CPA＝（固定費＋成果報酬 体験予約1件2,000円）÷体験予約。CPO＝（固定費＋成果報酬＋入会案内のコンサル費 50,000円）÷入会。初期費用は含まない。固定費は1〜3か月目20,000円、4か月目から40,000円。入会＝体験予約×入会引き上げ率（忍者ナイン40%・チャイルドアイズ25%）。各月の入会は整数にし、6か月の合計（17件・11件）に合わせている。サンクスLINE誘導（オプション）の費用は含まな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アカウント効果を</a:t>
            </a:r>
            <a:r>
              <a:rPr lang="ja-JP" altLang="en-US" sz="2400" b="1" dirty="0">
                <a:latin typeface="メイリオ" panose="020B0604030504040204" pitchFamily="50" charset="-128"/>
                <a:ea typeface="メイリオ" panose="020B0604030504040204" pitchFamily="50" charset="-128"/>
                <a:cs typeface="メイリオ"/>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施策の詳細（既存の効率化）</a:t>
            </a:r>
          </a:p>
        </p:txBody>
      </p:sp>
    </p:spTree>
    <p:extLst>
      <p:ext uri="{BB962C8B-B14F-4D97-AF65-F5344CB8AC3E}">
        <p14:creationId xmlns:p14="http://schemas.microsoft.com/office/powerpoint/2010/main" val="1724011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想定動線（既存の効率化）</a:t>
            </a: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000">
              <a:latin typeface="メイリオ" panose="020B0604030504040204" pitchFamily="50" charset="-128"/>
              <a:ea typeface="メイリオ" panose="020B0604030504040204" pitchFamily="50" charset="-128"/>
              <a:cs typeface="メイリオ"/>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&gt;</a:t>
            </a:r>
            <a:endParaRPr lang="ja-JP" altLang="en-US" sz="1400" dirty="0">
              <a:solidFill>
                <a:schemeClr val="tx1">
                  <a:lumMod val="50000"/>
                  <a:lumOff val="50000"/>
                </a:schemeClr>
              </a:solidFill>
              <a:latin typeface="メイリオ"/>
              <a:ea typeface="メイリオ"/>
              <a:cs typeface="メイリオ"/>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&gt;</a:t>
            </a:r>
            <a:endParaRPr lang="ja-JP" altLang="en-US" sz="1400" dirty="0">
              <a:solidFill>
                <a:schemeClr val="tx1">
                  <a:lumMod val="50000"/>
                  <a:lumOff val="50000"/>
                </a:schemeClr>
              </a:solidFill>
              <a:latin typeface="メイリオ"/>
              <a:ea typeface="メイリオ"/>
              <a:cs typeface="メイリオ"/>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HP</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LP</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各種</a:t>
            </a: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SNS</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LINE_CPF</a:t>
            </a: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cs typeface="メイリオ"/>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cs typeface="メイリオ"/>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cs typeface="メイリオ"/>
              </a:rPr>
              <a:t>(</a:t>
            </a:r>
            <a:r>
              <a:rPr lang="ja-JP" altLang="en-US" sz="1000" b="1" dirty="0">
                <a:solidFill>
                  <a:schemeClr val="bg1"/>
                </a:solidFill>
                <a:latin typeface="メイリオ" panose="020B0604030504040204" pitchFamily="50" charset="-128"/>
                <a:ea typeface="メイリオ" panose="020B0604030504040204" pitchFamily="50" charset="-128"/>
                <a:cs typeface="メイリオ"/>
              </a:rPr>
              <a:t>離脱防止バナー</a:t>
            </a:r>
            <a:r>
              <a:rPr lang="en-US" altLang="ja-JP" sz="1000" b="1" dirty="0">
                <a:solidFill>
                  <a:schemeClr val="bg1"/>
                </a:solidFill>
                <a:latin typeface="メイリオ" panose="020B0604030504040204" pitchFamily="50" charset="-128"/>
                <a:ea typeface="メイリオ" panose="020B0604030504040204" pitchFamily="50" charset="-128"/>
                <a:cs typeface="メイリオ"/>
              </a:rPr>
              <a:t>)</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GA</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Call Plus</a:t>
            </a:r>
            <a:endParaRPr kumimoji="1" lang="ja-JP" altLang="en-US"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Chat Plus</a:t>
            </a:r>
            <a:endParaRPr kumimoji="1" lang="ja-JP" altLang="en-US"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en-US" altLang="ja-JP" sz="1000" dirty="0" err="1">
                <a:solidFill>
                  <a:schemeClr val="bg1"/>
                </a:solidFill>
                <a:latin typeface="メイリオ" panose="020B0604030504040204" pitchFamily="50" charset="-128"/>
                <a:ea typeface="メイリオ" panose="020B0604030504040204" pitchFamily="50" charset="-128"/>
                <a:cs typeface="メイリオ"/>
              </a:rPr>
              <a:t>OptionAPI</a:t>
            </a: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endParaRPr kumimoji="1" lang="ja-JP" altLang="en-US"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cs typeface="メイリオ"/>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ログイン </a:t>
            </a:r>
            <a:r>
              <a:rPr lang="en-US" altLang="ja-JP" sz="600" dirty="0">
                <a:solidFill>
                  <a:srgbClr val="FF0000"/>
                </a:solidFill>
                <a:latin typeface="メイリオ" panose="020B0604030504040204" pitchFamily="50" charset="-128"/>
                <a:ea typeface="メイリオ" panose="020B0604030504040204" pitchFamily="50" charset="-128"/>
                <a:cs typeface="メイリオ"/>
              </a:rPr>
              <a:t>※</a:t>
            </a:r>
            <a:r>
              <a:rPr lang="ja-JP" altLang="en-US" sz="600" dirty="0">
                <a:solidFill>
                  <a:srgbClr val="FF0000"/>
                </a:solidFill>
                <a:latin typeface="メイリオ" panose="020B0604030504040204" pitchFamily="50" charset="-128"/>
                <a:ea typeface="メイリオ" panose="020B0604030504040204" pitchFamily="50" charset="-128"/>
                <a:cs typeface="メイリオ"/>
              </a:rPr>
              <a:t>別途費用</a:t>
            </a:r>
            <a:endParaRPr lang="en-US" altLang="ja-JP" sz="7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連携 </a:t>
            </a:r>
            <a:r>
              <a:rPr lang="en-US" altLang="ja-JP" sz="700" dirty="0">
                <a:solidFill>
                  <a:srgbClr val="FF0000"/>
                </a:solidFill>
                <a:latin typeface="メイリオ" panose="020B0604030504040204" pitchFamily="50" charset="-128"/>
                <a:ea typeface="メイリオ" panose="020B0604030504040204" pitchFamily="50" charset="-128"/>
                <a:cs typeface="メイリオ"/>
              </a:rPr>
              <a:t>※</a:t>
            </a:r>
            <a:r>
              <a:rPr lang="ja-JP" altLang="en-US" sz="700" dirty="0">
                <a:solidFill>
                  <a:srgbClr val="FF0000"/>
                </a:solidFill>
                <a:latin typeface="メイリオ" panose="020B0604030504040204" pitchFamily="50" charset="-128"/>
                <a:ea typeface="メイリオ" panose="020B0604030504040204" pitchFamily="50" charset="-128"/>
                <a:cs typeface="メイリオ"/>
              </a:rPr>
              <a:t>別途費用</a:t>
            </a:r>
            <a:endParaRPr lang="en-US" altLang="ja-JP" sz="7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cs typeface="メイリオ"/>
              </a:rPr>
              <a:t>QA</a:t>
            </a:r>
            <a:r>
              <a:rPr lang="ja-JP" altLang="en-US" sz="1000" b="1">
                <a:solidFill>
                  <a:schemeClr val="bg1"/>
                </a:solidFill>
                <a:latin typeface="メイリオ" panose="020B0604030504040204" pitchFamily="50" charset="-128"/>
                <a:ea typeface="メイリオ" panose="020B0604030504040204" pitchFamily="50" charset="-128"/>
                <a:cs typeface="メイリオ"/>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1to1</a:t>
            </a: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cs typeface="メイリオ"/>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cs typeface="メイリオ"/>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LINE</a:t>
            </a: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実反響</a:t>
            </a:r>
            <a:r>
              <a:rPr lang="en-US" altLang="ja-JP" sz="1000" b="1" dirty="0">
                <a:solidFill>
                  <a:schemeClr val="bg1"/>
                </a:solidFill>
                <a:latin typeface="メイリオ" panose="020B0604030504040204" pitchFamily="50" charset="-128"/>
                <a:ea typeface="メイリオ" panose="020B0604030504040204" pitchFamily="50" charset="-128"/>
                <a:cs typeface="メイリオ"/>
              </a:rPr>
              <a:t>(</a:t>
            </a:r>
            <a:r>
              <a:rPr lang="ja-JP" altLang="en-US" sz="1000" b="1" dirty="0">
                <a:solidFill>
                  <a:schemeClr val="bg1"/>
                </a:solidFill>
                <a:latin typeface="メイリオ" panose="020B0604030504040204" pitchFamily="50" charset="-128"/>
                <a:ea typeface="メイリオ" panose="020B0604030504040204" pitchFamily="50" charset="-128"/>
                <a:cs typeface="メイリオ"/>
              </a:rPr>
              <a:t>購入</a:t>
            </a:r>
            <a:r>
              <a:rPr lang="en-US" altLang="ja-JP" sz="1000" b="1" dirty="0">
                <a:solidFill>
                  <a:schemeClr val="bg1"/>
                </a:solidFill>
                <a:latin typeface="メイリオ" panose="020B0604030504040204" pitchFamily="50" charset="-128"/>
                <a:ea typeface="メイリオ" panose="020B0604030504040204" pitchFamily="50" charset="-128"/>
                <a:cs typeface="メイリオ"/>
              </a:rPr>
              <a:t>)</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クー</a:t>
            </a:r>
            <a:r>
              <a:rPr lang="ja-JP" altLang="en-US" sz="1000" b="1" dirty="0">
                <a:solidFill>
                  <a:schemeClr val="bg1"/>
                </a:solidFill>
                <a:latin typeface="メイリオ" panose="020B0604030504040204" pitchFamily="50" charset="-128"/>
                <a:ea typeface="メイリオ" panose="020B0604030504040204" pitchFamily="50" charset="-128"/>
                <a:cs typeface="メイリオ"/>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1to1</a:t>
            </a: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rgbClr val="D9D9D9"/>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cs typeface="メイリオ"/>
              </a:rPr>
              <a:t>自動化</a:t>
            </a:r>
            <a:r>
              <a:rPr lang="en-US" altLang="ja-JP" sz="1000" b="1" dirty="0">
                <a:solidFill>
                  <a:srgbClr val="00B050"/>
                </a:solidFill>
                <a:latin typeface="メイリオ" panose="020B0604030504040204" pitchFamily="50" charset="-128"/>
                <a:ea typeface="メイリオ" panose="020B0604030504040204" pitchFamily="50" charset="-128"/>
                <a:cs typeface="メイリオ"/>
              </a:rPr>
              <a:t>(</a:t>
            </a:r>
            <a:r>
              <a:rPr lang="ja-JP" altLang="en-US" sz="1000" b="1" dirty="0">
                <a:solidFill>
                  <a:srgbClr val="00B050"/>
                </a:solidFill>
                <a:latin typeface="メイリオ" panose="020B0604030504040204" pitchFamily="50" charset="-128"/>
                <a:ea typeface="メイリオ" panose="020B0604030504040204" pitchFamily="50" charset="-128"/>
                <a:cs typeface="メイリオ"/>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cs typeface="メイリオ"/>
              </a:rPr>
              <a:t>)</a:t>
            </a:r>
            <a:r>
              <a:rPr lang="ja-JP" altLang="en-US" sz="1000" b="1" dirty="0">
                <a:solidFill>
                  <a:srgbClr val="00B050"/>
                </a:solidFill>
                <a:latin typeface="メイリオ" panose="020B0604030504040204" pitchFamily="50" charset="-128"/>
                <a:ea typeface="メイリオ" panose="020B0604030504040204" pitchFamily="50" charset="-128"/>
                <a:cs typeface="メイリオ"/>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このパートでは、友だち追加後の配信と、ユーザー対応・管理側の効率化をご説明。</a:t>
            </a:r>
          </a:p>
          <a:p>
            <a:pPr algn="ct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（薄く表示している部分は、新規友だち獲得のパートでご説明）</a:t>
            </a:r>
          </a:p>
        </p:txBody>
      </p:sp>
      <p:sp>
        <p:nvSpPr>
          <p:cNvPr id="71" name="Rectangle 70"/>
          <p:cNvSpPr/>
          <p:nvPr/>
        </p:nvSpPr>
        <p:spPr>
          <a:xfrm>
            <a:off x="468000" y="1890000"/>
            <a:ext cx="3150000" cy="2142000"/>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メイリオ"/>
              <a:ea typeface="メイリオ"/>
              <a:cs typeface="メイリオ"/>
            </a:endParaRPr>
          </a:p>
        </p:txBody>
      </p:sp>
      <p:sp>
        <p:nvSpPr>
          <p:cNvPr id="72" name="Rectangle 71"/>
          <p:cNvSpPr/>
          <p:nvPr/>
        </p:nvSpPr>
        <p:spPr>
          <a:xfrm>
            <a:off x="558000" y="5813999"/>
            <a:ext cx="2628000" cy="594000"/>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メイリオ"/>
              <a:ea typeface="メイリオ"/>
              <a:cs typeface="メイリオ"/>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メイリオ"/>
                <a:ea typeface="メイリオ"/>
                <a:cs typeface="メイリオ"/>
                <a:sym typeface="Meiryo"/>
              </a:rPr>
              <a:t>実施施策【忍者ナイン】</a:t>
            </a:r>
            <a:endParaRPr sz="1600" b="1" dirty="0">
              <a:solidFill>
                <a:srgbClr val="002060"/>
              </a:solidFill>
              <a:latin typeface="メイリオ"/>
              <a:ea typeface="メイリオ"/>
              <a:cs typeface="メイリオ"/>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marL="0" marR="0" lvl="0" indent="0" algn="l" defTabSz="914400" rtl="0" eaLnBrk="1" fontAlgn="auto" latinLnBrk="0" hangingPunct="1">
              <a:lnSpc>
                <a:spcPct val="100000"/>
              </a:lnSpc>
              <a:spcBef>
                <a:spcPts val="0"/>
              </a:spcBef>
              <a:spcAft>
                <a:spcPts val="0"/>
              </a:spcAft>
              <a:buClrTx/>
              <a:buSzTx/>
              <a:buFontTx/>
              <a:buNone/>
              <a:tabLst/>
              <a:defRPr>
                <a:latin typeface="メイリオ"/>
                <a:ea typeface="メイリオ"/>
                <a:cs typeface="メイリオ"/>
              </a:defRPr>
            </a:pPr>
            <a:r>
              <a:rPr kumimoji="1" lang="zh-CN" altLang="en-US" sz="120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rPr>
              <a:t>友だち追加後14日間で、診断結果をもとに内容を出し分けながら体験予約への案内を行う</a:t>
            </a:r>
            <a:endParaRPr kumimoji="1" lang="en-US" altLang="zh-CN" sz="120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endParaRPr>
          </a:p>
          <a:p>
            <a:pPr marL="0" marR="0" lvl="0" indent="0" algn="l" defTabSz="914400" rtl="0" eaLnBrk="1" fontAlgn="auto" latinLnBrk="0" hangingPunct="1">
              <a:lnSpc>
                <a:spcPct val="100000"/>
              </a:lnSpc>
              <a:spcBef>
                <a:spcPts val="0"/>
              </a:spcBef>
              <a:spcAft>
                <a:spcPts val="0"/>
              </a:spcAft>
              <a:buClrTx/>
              <a:buSzTx/>
              <a:buFontTx/>
              <a:buNone/>
              <a:tabLst/>
              <a:defRPr>
                <a:latin typeface="メイリオ"/>
                <a:ea typeface="メイリオ"/>
                <a:cs typeface="メイリオ"/>
              </a:defRPr>
            </a:pPr>
            <a:r>
              <a:rPr kumimoji="1" lang="zh-CN" altLang="en-US" sz="120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rPr>
              <a:t>（未予約者には再アプローチ、体験予約完了者は別シナリオへ分岐）</a:t>
            </a:r>
            <a:endParaRPr kumimoji="1" lang="en-US" sz="140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cs typeface="メイリオ"/>
            </a:endParaRPr>
          </a:p>
        </p:txBody>
      </p:sp>
      <p:graphicFrame>
        <p:nvGraphicFramePr>
          <p:cNvPr id="46" name="Table 45"/>
          <p:cNvGraphicFramePr>
            <a:graphicFrameLocks noGrp="1"/>
          </p:cNvGraphicFramePr>
          <p:nvPr>
            <p:extLst>
              <p:ext uri="{D42A27DB-BD31-4B8C-83A1-F6EECF244321}">
                <p14:modId xmlns:p14="http://schemas.microsoft.com/office/powerpoint/2010/main" val="849747981"/>
              </p:ext>
            </p:extLst>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メイリオ"/>
                          <a:ea typeface="メイリオ"/>
                          <a:cs typeface="メイリオ"/>
                        </a:rPr>
                        <a:t>Day</a:t>
                      </a:r>
                    </a:p>
                  </a:txBody>
                  <a:tcPr>
                    <a:solidFill>
                      <a:srgbClr val="1F2A5C"/>
                    </a:solidFill>
                  </a:tcPr>
                </a:tc>
                <a:tc>
                  <a:txBody>
                    <a:bodyPr/>
                    <a:lstStyle/>
                    <a:p>
                      <a:r>
                        <a:rPr sz="1100" b="1">
                          <a:solidFill>
                            <a:srgbClr val="FFFFFF"/>
                          </a:solidFill>
                          <a:latin typeface="メイリオ"/>
                          <a:ea typeface="メイリオ"/>
                          <a:cs typeface="メイリオ"/>
                        </a:rPr>
                        <a:t>対象</a:t>
                      </a:r>
                    </a:p>
                  </a:txBody>
                  <a:tcPr>
                    <a:solidFill>
                      <a:srgbClr val="1F2A5C"/>
                    </a:solidFill>
                  </a:tcPr>
                </a:tc>
                <a:tc>
                  <a:txBody>
                    <a:bodyPr/>
                    <a:lstStyle/>
                    <a:p>
                      <a:r>
                        <a:rPr sz="1100" b="1">
                          <a:solidFill>
                            <a:srgbClr val="FFFFFF"/>
                          </a:solidFill>
                          <a:latin typeface="メイリオ"/>
                          <a:ea typeface="メイリオ"/>
                          <a:cs typeface="メイリオ"/>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メイリオ"/>
                          <a:ea typeface="メイリオ"/>
                          <a:cs typeface="メイリオ"/>
                        </a:rPr>
                        <a:t>0日後</a:t>
                      </a:r>
                    </a:p>
                  </a:txBody>
                  <a:tcPr>
                    <a:solidFill>
                      <a:srgbClr val="FFFFFF"/>
                    </a:solidFill>
                  </a:tcPr>
                </a:tc>
                <a:tc>
                  <a:txBody>
                    <a:bodyPr/>
                    <a:lstStyle/>
                    <a:p>
                      <a:r>
                        <a:rPr sz="1400" b="0" dirty="0" err="1">
                          <a:solidFill>
                            <a:srgbClr val="333333"/>
                          </a:solidFill>
                          <a:latin typeface="メイリオ"/>
                          <a:ea typeface="メイリオ"/>
                          <a:cs typeface="メイリオ"/>
                        </a:rPr>
                        <a:t>全員</a:t>
                      </a:r>
                      <a:endParaRPr sz="1400" b="0" dirty="0">
                        <a:solidFill>
                          <a:srgbClr val="333333"/>
                        </a:solidFill>
                        <a:latin typeface="メイリオ"/>
                        <a:ea typeface="メイリオ"/>
                        <a:cs typeface="メイリオ"/>
                      </a:endParaRPr>
                    </a:p>
                  </a:txBody>
                  <a:tcPr>
                    <a:solidFill>
                      <a:srgbClr val="FFFFFF"/>
                    </a:solidFill>
                  </a:tcPr>
                </a:tc>
                <a:tc>
                  <a:txBody>
                    <a:bodyPr/>
                    <a:lstStyle/>
                    <a:p>
                      <a:r>
                        <a:rPr sz="1400" b="0">
                          <a:solidFill>
                            <a:srgbClr val="333333"/>
                          </a:solidFill>
                          <a:latin typeface="メイリオ"/>
                          <a:ea typeface="メイリオ"/>
                          <a:cs typeface="メイリオ"/>
                        </a:rPr>
                        <a:t>あいさつ＋30秒スポーツ適性診断への案内</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メイリオ"/>
                          <a:ea typeface="メイリオ"/>
                          <a:cs typeface="メイリオ"/>
                        </a:rPr>
                        <a:t>1日後</a:t>
                      </a:r>
                    </a:p>
                  </a:txBody>
                  <a:tcPr>
                    <a:solidFill>
                      <a:srgbClr val="FFFFFF"/>
                    </a:solidFill>
                  </a:tcPr>
                </a:tc>
                <a:tc>
                  <a:txBody>
                    <a:bodyPr/>
                    <a:lstStyle/>
                    <a:p>
                      <a:r>
                        <a:rPr sz="1400" b="0" dirty="0" err="1">
                          <a:solidFill>
                            <a:srgbClr val="333333"/>
                          </a:solidFill>
                          <a:latin typeface="メイリオ"/>
                          <a:ea typeface="メイリオ"/>
                          <a:cs typeface="メイリオ"/>
                        </a:rPr>
                        <a:t>診断未回答者</a:t>
                      </a:r>
                      <a:endParaRPr sz="1400" b="0" dirty="0">
                        <a:solidFill>
                          <a:srgbClr val="333333"/>
                        </a:solidFill>
                        <a:latin typeface="メイリオ"/>
                        <a:ea typeface="メイリオ"/>
                        <a:cs typeface="メイリオ"/>
                      </a:endParaRPr>
                    </a:p>
                  </a:txBody>
                  <a:tcPr>
                    <a:solidFill>
                      <a:srgbClr val="FFFFFF"/>
                    </a:solidFill>
                  </a:tcPr>
                </a:tc>
                <a:tc>
                  <a:txBody>
                    <a:bodyPr/>
                    <a:lstStyle/>
                    <a:p>
                      <a:r>
                        <a:rPr sz="1400" b="0" dirty="0" err="1">
                          <a:solidFill>
                            <a:srgbClr val="333333"/>
                          </a:solidFill>
                          <a:latin typeface="メイリオ"/>
                          <a:ea typeface="メイリオ"/>
                          <a:cs typeface="メイリオ"/>
                        </a:rPr>
                        <a:t>診断リマインド</a:t>
                      </a:r>
                      <a:endParaRPr sz="14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メイリオ"/>
                          <a:ea typeface="メイリオ"/>
                          <a:cs typeface="メイリオ"/>
                        </a:rPr>
                        <a:t>2日後</a:t>
                      </a:r>
                    </a:p>
                  </a:txBody>
                  <a:tcPr>
                    <a:solidFill>
                      <a:srgbClr val="FFFFFF"/>
                    </a:solidFill>
                  </a:tcPr>
                </a:tc>
                <a:tc>
                  <a:txBody>
                    <a:bodyPr/>
                    <a:lstStyle/>
                    <a:p>
                      <a:r>
                        <a:rPr sz="1400" b="0" dirty="0" err="1">
                          <a:solidFill>
                            <a:srgbClr val="333333"/>
                          </a:solidFill>
                          <a:latin typeface="メイリオ"/>
                          <a:ea typeface="メイリオ"/>
                          <a:cs typeface="メイリオ"/>
                        </a:rPr>
                        <a:t>診断回答者</a:t>
                      </a:r>
                      <a:endParaRPr sz="1400" b="0" dirty="0">
                        <a:solidFill>
                          <a:srgbClr val="333333"/>
                        </a:solidFill>
                        <a:latin typeface="メイリオ"/>
                        <a:ea typeface="メイリオ"/>
                        <a:cs typeface="メイリオ"/>
                      </a:endParaRPr>
                    </a:p>
                  </a:txBody>
                  <a:tcPr>
                    <a:solidFill>
                      <a:srgbClr val="FFFFFF"/>
                    </a:solidFill>
                  </a:tcPr>
                </a:tc>
                <a:tc>
                  <a:txBody>
                    <a:bodyPr/>
                    <a:lstStyle/>
                    <a:p>
                      <a:r>
                        <a:rPr sz="1400" b="0" dirty="0" err="1">
                          <a:solidFill>
                            <a:srgbClr val="333333"/>
                          </a:solidFill>
                          <a:latin typeface="メイリオ"/>
                          <a:ea typeface="メイリオ"/>
                          <a:cs typeface="メイリオ"/>
                        </a:rPr>
                        <a:t>診断結果配信＋タイプ別おすすめ種目紹介</a:t>
                      </a:r>
                      <a:endParaRPr sz="14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メイリオ"/>
                          <a:ea typeface="メイリオ"/>
                          <a:cs typeface="メイリオ"/>
                        </a:rPr>
                        <a:t>4日後</a:t>
                      </a:r>
                    </a:p>
                  </a:txBody>
                  <a:tcPr>
                    <a:solidFill>
                      <a:srgbClr val="FFFFFF"/>
                    </a:solidFill>
                  </a:tcPr>
                </a:tc>
                <a:tc>
                  <a:txBody>
                    <a:bodyPr/>
                    <a:lstStyle/>
                    <a:p>
                      <a:r>
                        <a:rPr sz="1400" b="0">
                          <a:solidFill>
                            <a:srgbClr val="333333"/>
                          </a:solidFill>
                          <a:latin typeface="メイリオ"/>
                          <a:ea typeface="メイリオ"/>
                          <a:cs typeface="メイリオ"/>
                        </a:rPr>
                        <a:t>同上</a:t>
                      </a:r>
                    </a:p>
                  </a:txBody>
                  <a:tcPr>
                    <a:solidFill>
                      <a:srgbClr val="FFFFFF"/>
                    </a:solidFill>
                  </a:tcPr>
                </a:tc>
                <a:tc>
                  <a:txBody>
                    <a:bodyPr/>
                    <a:lstStyle/>
                    <a:p>
                      <a:r>
                        <a:rPr sz="1400" b="0" dirty="0" err="1">
                          <a:solidFill>
                            <a:srgbClr val="333333"/>
                          </a:solidFill>
                          <a:latin typeface="メイリオ"/>
                          <a:ea typeface="メイリオ"/>
                          <a:cs typeface="メイリオ"/>
                        </a:rPr>
                        <a:t>同タイプの在籍生の声・成長エピソード</a:t>
                      </a:r>
                      <a:endParaRPr sz="14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メイリオ"/>
                          <a:ea typeface="メイリオ"/>
                          <a:cs typeface="メイリオ"/>
                        </a:rPr>
                        <a:t>6日後</a:t>
                      </a:r>
                    </a:p>
                  </a:txBody>
                  <a:tcPr>
                    <a:solidFill>
                      <a:srgbClr val="FFFFFF"/>
                    </a:solidFill>
                  </a:tcPr>
                </a:tc>
                <a:tc>
                  <a:txBody>
                    <a:bodyPr/>
                    <a:lstStyle/>
                    <a:p>
                      <a:r>
                        <a:rPr sz="1400" b="0">
                          <a:solidFill>
                            <a:srgbClr val="333333"/>
                          </a:solidFill>
                          <a:latin typeface="メイリオ"/>
                          <a:ea typeface="メイリオ"/>
                          <a:cs typeface="メイリオ"/>
                        </a:rPr>
                        <a:t>同上</a:t>
                      </a:r>
                    </a:p>
                  </a:txBody>
                  <a:tcPr>
                    <a:solidFill>
                      <a:srgbClr val="FFFFFF"/>
                    </a:solidFill>
                  </a:tcPr>
                </a:tc>
                <a:tc>
                  <a:txBody>
                    <a:bodyPr/>
                    <a:lstStyle/>
                    <a:p>
                      <a:r>
                        <a:rPr sz="1400" b="0" dirty="0" err="1">
                          <a:solidFill>
                            <a:srgbClr val="333333"/>
                          </a:solidFill>
                          <a:latin typeface="メイリオ"/>
                          <a:ea typeface="メイリオ"/>
                          <a:cs typeface="メイリオ"/>
                        </a:rPr>
                        <a:t>体験予約への案内</a:t>
                      </a:r>
                      <a:endParaRPr sz="14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メイリオ"/>
                          <a:ea typeface="メイリオ"/>
                          <a:cs typeface="メイリオ"/>
                        </a:rPr>
                        <a:t>9日後</a:t>
                      </a:r>
                    </a:p>
                  </a:txBody>
                  <a:tcPr>
                    <a:solidFill>
                      <a:srgbClr val="FFFFFF"/>
                    </a:solidFill>
                  </a:tcPr>
                </a:tc>
                <a:tc>
                  <a:txBody>
                    <a:bodyPr/>
                    <a:lstStyle/>
                    <a:p>
                      <a:r>
                        <a:rPr sz="1400" b="0">
                          <a:solidFill>
                            <a:srgbClr val="333333"/>
                          </a:solidFill>
                          <a:latin typeface="メイリオ"/>
                          <a:ea typeface="メイリオ"/>
                          <a:cs typeface="メイリオ"/>
                        </a:rPr>
                        <a:t>未予約者</a:t>
                      </a:r>
                    </a:p>
                  </a:txBody>
                  <a:tcPr>
                    <a:solidFill>
                      <a:srgbClr val="FFFFFF"/>
                    </a:solidFill>
                  </a:tcPr>
                </a:tc>
                <a:tc>
                  <a:txBody>
                    <a:bodyPr/>
                    <a:lstStyle/>
                    <a:p>
                      <a:r>
                        <a:rPr sz="1400" b="0" dirty="0">
                          <a:solidFill>
                            <a:srgbClr val="333333"/>
                          </a:solidFill>
                          <a:latin typeface="メイリオ"/>
                          <a:ea typeface="メイリオ"/>
                          <a:cs typeface="メイリオ"/>
                        </a:rPr>
                        <a:t>「</a:t>
                      </a:r>
                      <a:r>
                        <a:rPr sz="1400" b="0" dirty="0" err="1">
                          <a:solidFill>
                            <a:srgbClr val="333333"/>
                          </a:solidFill>
                          <a:latin typeface="メイリオ"/>
                          <a:ea typeface="メイリオ"/>
                          <a:cs typeface="メイリオ"/>
                        </a:rPr>
                        <a:t>非認知能力」訴求コンテンツ</a:t>
                      </a:r>
                      <a:endParaRPr sz="14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メイリオ"/>
                          <a:ea typeface="メイリオ"/>
                          <a:cs typeface="メイリオ"/>
                        </a:rPr>
                        <a:t>12日後</a:t>
                      </a:r>
                    </a:p>
                  </a:txBody>
                  <a:tcPr>
                    <a:solidFill>
                      <a:srgbClr val="FFFFFF"/>
                    </a:solidFill>
                  </a:tcPr>
                </a:tc>
                <a:tc>
                  <a:txBody>
                    <a:bodyPr/>
                    <a:lstStyle/>
                    <a:p>
                      <a:r>
                        <a:rPr sz="1400" b="0">
                          <a:solidFill>
                            <a:srgbClr val="333333"/>
                          </a:solidFill>
                          <a:latin typeface="メイリオ"/>
                          <a:ea typeface="メイリオ"/>
                          <a:cs typeface="メイリオ"/>
                        </a:rPr>
                        <a:t>未予約者</a:t>
                      </a:r>
                    </a:p>
                  </a:txBody>
                  <a:tcPr>
                    <a:solidFill>
                      <a:srgbClr val="FFFFFF"/>
                    </a:solidFill>
                  </a:tcPr>
                </a:tc>
                <a:tc>
                  <a:txBody>
                    <a:bodyPr/>
                    <a:lstStyle/>
                    <a:p>
                      <a:r>
                        <a:rPr sz="1400" b="0" dirty="0" err="1">
                          <a:solidFill>
                            <a:srgbClr val="333333"/>
                          </a:solidFill>
                          <a:latin typeface="メイリオ"/>
                          <a:ea typeface="メイリオ"/>
                          <a:cs typeface="メイリオ"/>
                        </a:rPr>
                        <a:t>保護者の疑問Q&amp;A（月謝・送迎・振替等</a:t>
                      </a:r>
                      <a:r>
                        <a:rPr sz="1400" b="0" dirty="0">
                          <a:solidFill>
                            <a:srgbClr val="333333"/>
                          </a:solidFill>
                          <a:latin typeface="メイリオ"/>
                          <a:ea typeface="メイリオ"/>
                          <a:cs typeface="メイリオ"/>
                        </a:rPr>
                        <a:t>）</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メイリオ"/>
                          <a:ea typeface="メイリオ"/>
                          <a:cs typeface="メイリオ"/>
                        </a:rPr>
                        <a:t>14日後</a:t>
                      </a:r>
                    </a:p>
                  </a:txBody>
                  <a:tcPr>
                    <a:solidFill>
                      <a:srgbClr val="FFFFFF"/>
                    </a:solidFill>
                  </a:tcPr>
                </a:tc>
                <a:tc>
                  <a:txBody>
                    <a:bodyPr/>
                    <a:lstStyle/>
                    <a:p>
                      <a:r>
                        <a:rPr sz="1400" b="0">
                          <a:solidFill>
                            <a:srgbClr val="333333"/>
                          </a:solidFill>
                          <a:latin typeface="メイリオ"/>
                          <a:ea typeface="メイリオ"/>
                          <a:cs typeface="メイリオ"/>
                        </a:rPr>
                        <a:t>未予約者</a:t>
                      </a:r>
                    </a:p>
                  </a:txBody>
                  <a:tcPr>
                    <a:solidFill>
                      <a:srgbClr val="FFFFFF"/>
                    </a:solidFill>
                  </a:tcPr>
                </a:tc>
                <a:tc>
                  <a:txBody>
                    <a:bodyPr/>
                    <a:lstStyle/>
                    <a:p>
                      <a:r>
                        <a:rPr sz="1400" b="0" dirty="0" err="1">
                          <a:solidFill>
                            <a:srgbClr val="333333"/>
                          </a:solidFill>
                          <a:latin typeface="メイリオ"/>
                          <a:ea typeface="メイリオ"/>
                          <a:cs typeface="メイリオ"/>
                        </a:rPr>
                        <a:t>体験予約の最終案内</a:t>
                      </a:r>
                      <a:endParaRPr sz="14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738664"/>
          </a:xfrm>
          <a:prstGeom prst="rect">
            <a:avLst/>
          </a:prstGeom>
          <a:noFill/>
        </p:spPr>
        <p:txBody>
          <a:bodyPr wrap="square">
            <a:spAutoFit/>
          </a:bodyPr>
          <a:lstStyle/>
          <a:p>
            <a:r>
              <a:rPr sz="1400" b="1" dirty="0">
                <a:solidFill>
                  <a:srgbClr val="BF4E0E"/>
                </a:solidFill>
                <a:latin typeface="メイリオ"/>
                <a:ea typeface="メイリオ"/>
                <a:cs typeface="メイリオ"/>
              </a:rPr>
              <a:t>体験予約44件（6ヶ月累計）× 入会引き上げ率40% ＝ 入会17件として算出</a:t>
            </a:r>
          </a:p>
          <a:p>
            <a:r>
              <a:rPr sz="1400" b="1" dirty="0" err="1">
                <a:solidFill>
                  <a:srgbClr val="BF4E0E"/>
                </a:solidFill>
                <a:latin typeface="メイリオ"/>
                <a:ea typeface="メイリオ"/>
                <a:cs typeface="メイリオ"/>
              </a:rPr>
              <a:t>予約で止めず、入会までLINEで追いきる</a:t>
            </a:r>
            <a:endParaRPr lang="en-US" sz="1400" b="1" dirty="0">
              <a:solidFill>
                <a:srgbClr val="BF4E0E"/>
              </a:solidFill>
              <a:latin typeface="メイリオ"/>
              <a:ea typeface="メイリオ"/>
              <a:cs typeface="メイリオ"/>
            </a:endParaRPr>
          </a:p>
          <a:p>
            <a:r>
              <a:rPr sz="1400" b="1" dirty="0">
                <a:solidFill>
                  <a:srgbClr val="BF4E0E"/>
                </a:solidFill>
                <a:latin typeface="メイリオ"/>
                <a:ea typeface="メイリオ"/>
                <a:cs typeface="メイリオ"/>
              </a:rPr>
              <a:t>（</a:t>
            </a:r>
            <a:r>
              <a:rPr sz="1400" b="1" dirty="0" err="1">
                <a:solidFill>
                  <a:srgbClr val="BF4E0E"/>
                </a:solidFill>
                <a:latin typeface="メイリオ"/>
                <a:ea typeface="メイリオ"/>
                <a:cs typeface="メイリオ"/>
              </a:rPr>
              <a:t>体験前リマインド→当日案内→体験後フォロ</a:t>
            </a:r>
            <a:r>
              <a:rPr sz="1400" b="1" dirty="0">
                <a:solidFill>
                  <a:srgbClr val="BF4E0E"/>
                </a:solidFill>
                <a:latin typeface="メイリオ"/>
                <a:ea typeface="メイリオ"/>
                <a:cs typeface="メイリオ"/>
              </a:rPr>
              <a:t>ー→</a:t>
            </a:r>
            <a:r>
              <a:rPr sz="1400" b="1" dirty="0" err="1">
                <a:solidFill>
                  <a:srgbClr val="BF4E0E"/>
                </a:solidFill>
                <a:latin typeface="メイリオ"/>
                <a:ea typeface="メイリオ"/>
                <a:cs typeface="メイリオ"/>
              </a:rPr>
              <a:t>入会のご案内を別シナリオで配信</a:t>
            </a:r>
            <a:r>
              <a:rPr sz="1400" b="1" dirty="0">
                <a:solidFill>
                  <a:srgbClr val="BF4E0E"/>
                </a:solidFill>
                <a:latin typeface="メイリオ"/>
                <a:ea typeface="メイリオ"/>
                <a:cs typeface="メイリオ"/>
              </a:rPr>
              <a:t>）</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メイリオ"/>
                <a:ea typeface="メイリオ"/>
                <a:cs typeface="メイリオ"/>
              </a:rPr>
              <a:t>出典：Googleトレンド「習い事」／前後検索KW「習い事」／競合調査(biima sports)</a:t>
            </a:r>
          </a:p>
        </p:txBody>
      </p:sp>
    </p:spTree>
    <p:extLst>
      <p:ext uri="{BB962C8B-B14F-4D97-AF65-F5344CB8AC3E}">
        <p14:creationId xmlns:p14="http://schemas.microsoft.com/office/powerpoint/2010/main" val="14519451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メイリオ"/>
                <a:ea typeface="メイリオ"/>
                <a:cs typeface="メイリオ"/>
                <a:sym typeface="Meiryo"/>
              </a:rPr>
              <a:t>実施施策【チャイルドアイズ】</a:t>
            </a:r>
            <a:endParaRPr sz="1600" b="1" dirty="0">
              <a:solidFill>
                <a:srgbClr val="002060"/>
              </a:solidFill>
              <a:latin typeface="メイリオ"/>
              <a:ea typeface="メイリオ"/>
              <a:cs typeface="メイリオ"/>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marL="0" marR="0" lvl="0" indent="0" algn="l" defTabSz="914400" rtl="0" eaLnBrk="1" fontAlgn="auto" latinLnBrk="0" hangingPunct="1">
              <a:lnSpc>
                <a:spcPct val="100000"/>
              </a:lnSpc>
              <a:spcBef>
                <a:spcPts val="0"/>
              </a:spcBef>
              <a:spcAft>
                <a:spcPts val="0"/>
              </a:spcAft>
              <a:buClrTx/>
              <a:buSzTx/>
              <a:buFontTx/>
              <a:buNone/>
              <a:tabLst/>
              <a:defRPr>
                <a:latin typeface="メイリオ"/>
                <a:ea typeface="メイリオ"/>
                <a:cs typeface="メイリオ"/>
              </a:defRPr>
            </a:pPr>
            <a:r>
              <a:rPr kumimoji="1" lang="zh-CN" altLang="en-US" sz="120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rPr>
              <a:t>友だち追加後14日間で、診断結果をもとに内容を出し分けながら体験予約への案内を行う</a:t>
            </a:r>
            <a:endParaRPr kumimoji="1" lang="en-US" altLang="zh-CN" sz="120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endParaRPr>
          </a:p>
          <a:p>
            <a:pPr marL="0" marR="0" lvl="0" indent="0" algn="l" defTabSz="914400" rtl="0" eaLnBrk="1" fontAlgn="auto" latinLnBrk="0" hangingPunct="1">
              <a:lnSpc>
                <a:spcPct val="100000"/>
              </a:lnSpc>
              <a:spcBef>
                <a:spcPts val="0"/>
              </a:spcBef>
              <a:spcAft>
                <a:spcPts val="0"/>
              </a:spcAft>
              <a:buClrTx/>
              <a:buSzTx/>
              <a:buFontTx/>
              <a:buNone/>
              <a:tabLst/>
              <a:defRPr>
                <a:latin typeface="メイリオ"/>
                <a:ea typeface="メイリオ"/>
                <a:cs typeface="メイリオ"/>
              </a:defRPr>
            </a:pPr>
            <a:r>
              <a:rPr kumimoji="1" lang="zh-CN" altLang="en-US" sz="120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rPr>
              <a:t>（未予約者には再アプローチ、体験予約完了者は別シナリオへ分岐）</a:t>
            </a:r>
            <a:endParaRPr kumimoji="1" lang="en-US" sz="140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cs typeface="メイリオ"/>
            </a:endParaRPr>
          </a:p>
        </p:txBody>
      </p:sp>
      <p:graphicFrame>
        <p:nvGraphicFramePr>
          <p:cNvPr id="46" name="Table 45"/>
          <p:cNvGraphicFramePr>
            <a:graphicFrameLocks noGrp="1"/>
          </p:cNvGraphicFramePr>
          <p:nvPr>
            <p:extLst>
              <p:ext uri="{D42A27DB-BD31-4B8C-83A1-F6EECF244321}">
                <p14:modId xmlns:p14="http://schemas.microsoft.com/office/powerpoint/2010/main" val="239461261"/>
              </p:ext>
            </p:extLst>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メイリオ"/>
                          <a:ea typeface="メイリオ"/>
                          <a:cs typeface="メイリオ"/>
                        </a:rPr>
                        <a:t>Day</a:t>
                      </a:r>
                    </a:p>
                  </a:txBody>
                  <a:tcPr>
                    <a:solidFill>
                      <a:srgbClr val="1F2A5C"/>
                    </a:solidFill>
                  </a:tcPr>
                </a:tc>
                <a:tc>
                  <a:txBody>
                    <a:bodyPr/>
                    <a:lstStyle/>
                    <a:p>
                      <a:r>
                        <a:rPr sz="1100" b="1">
                          <a:solidFill>
                            <a:srgbClr val="FFFFFF"/>
                          </a:solidFill>
                          <a:latin typeface="メイリオ"/>
                          <a:ea typeface="メイリオ"/>
                          <a:cs typeface="メイリオ"/>
                        </a:rPr>
                        <a:t>対象</a:t>
                      </a:r>
                    </a:p>
                  </a:txBody>
                  <a:tcPr>
                    <a:solidFill>
                      <a:srgbClr val="1F2A5C"/>
                    </a:solidFill>
                  </a:tcPr>
                </a:tc>
                <a:tc>
                  <a:txBody>
                    <a:bodyPr/>
                    <a:lstStyle/>
                    <a:p>
                      <a:r>
                        <a:rPr sz="1100" b="1">
                          <a:solidFill>
                            <a:srgbClr val="FFFFFF"/>
                          </a:solidFill>
                          <a:latin typeface="メイリオ"/>
                          <a:ea typeface="メイリオ"/>
                          <a:cs typeface="メイリオ"/>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メイリオ"/>
                          <a:ea typeface="メイリオ"/>
                          <a:cs typeface="メイリオ"/>
                        </a:rPr>
                        <a:t>0日後</a:t>
                      </a:r>
                    </a:p>
                  </a:txBody>
                  <a:tcPr>
                    <a:solidFill>
                      <a:srgbClr val="FFFFFF"/>
                    </a:solidFill>
                  </a:tcPr>
                </a:tc>
                <a:tc>
                  <a:txBody>
                    <a:bodyPr/>
                    <a:lstStyle/>
                    <a:p>
                      <a:r>
                        <a:rPr sz="1400" b="0">
                          <a:solidFill>
                            <a:srgbClr val="333333"/>
                          </a:solidFill>
                          <a:latin typeface="メイリオ"/>
                          <a:ea typeface="メイリオ"/>
                          <a:cs typeface="メイリオ"/>
                        </a:rPr>
                        <a:t>全員</a:t>
                      </a:r>
                    </a:p>
                  </a:txBody>
                  <a:tcPr>
                    <a:solidFill>
                      <a:srgbClr val="FFFFFF"/>
                    </a:solidFill>
                  </a:tcPr>
                </a:tc>
                <a:tc>
                  <a:txBody>
                    <a:bodyPr/>
                    <a:lstStyle/>
                    <a:p>
                      <a:r>
                        <a:rPr sz="1400" b="0">
                          <a:solidFill>
                            <a:srgbClr val="333333"/>
                          </a:solidFill>
                          <a:latin typeface="メイリオ"/>
                          <a:ea typeface="メイリオ"/>
                          <a:cs typeface="メイリオ"/>
                        </a:rPr>
                        <a:t>あいさつ＋知育タイプ診断（3問）への案内</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メイリオ"/>
                          <a:ea typeface="メイリオ"/>
                          <a:cs typeface="メイリオ"/>
                        </a:rPr>
                        <a:t>1日後</a:t>
                      </a:r>
                    </a:p>
                  </a:txBody>
                  <a:tcPr>
                    <a:solidFill>
                      <a:srgbClr val="FFFFFF"/>
                    </a:solidFill>
                  </a:tcPr>
                </a:tc>
                <a:tc>
                  <a:txBody>
                    <a:bodyPr/>
                    <a:lstStyle/>
                    <a:p>
                      <a:r>
                        <a:rPr sz="1400" b="0">
                          <a:solidFill>
                            <a:srgbClr val="333333"/>
                          </a:solidFill>
                          <a:latin typeface="メイリオ"/>
                          <a:ea typeface="メイリオ"/>
                          <a:cs typeface="メイリオ"/>
                        </a:rPr>
                        <a:t>診断未回答者</a:t>
                      </a:r>
                    </a:p>
                  </a:txBody>
                  <a:tcPr>
                    <a:solidFill>
                      <a:srgbClr val="FFFFFF"/>
                    </a:solidFill>
                  </a:tcPr>
                </a:tc>
                <a:tc>
                  <a:txBody>
                    <a:bodyPr/>
                    <a:lstStyle/>
                    <a:p>
                      <a:r>
                        <a:rPr sz="1400" b="0">
                          <a:solidFill>
                            <a:srgbClr val="333333"/>
                          </a:solidFill>
                          <a:latin typeface="メイリオ"/>
                          <a:ea typeface="メイリオ"/>
                          <a:cs typeface="メイリオ"/>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メイリオ"/>
                          <a:ea typeface="メイリオ"/>
                          <a:cs typeface="メイリオ"/>
                        </a:rPr>
                        <a:t>2日後</a:t>
                      </a:r>
                    </a:p>
                  </a:txBody>
                  <a:tcPr>
                    <a:solidFill>
                      <a:srgbClr val="FFFFFF"/>
                    </a:solidFill>
                  </a:tcPr>
                </a:tc>
                <a:tc>
                  <a:txBody>
                    <a:bodyPr/>
                    <a:lstStyle/>
                    <a:p>
                      <a:r>
                        <a:rPr sz="1400" b="0" dirty="0" err="1">
                          <a:solidFill>
                            <a:srgbClr val="333333"/>
                          </a:solidFill>
                          <a:latin typeface="メイリオ"/>
                          <a:ea typeface="メイリオ"/>
                          <a:cs typeface="メイリオ"/>
                        </a:rPr>
                        <a:t>診断回答者</a:t>
                      </a:r>
                      <a:endParaRPr sz="1400" b="0" dirty="0">
                        <a:solidFill>
                          <a:srgbClr val="333333"/>
                        </a:solidFill>
                        <a:latin typeface="メイリオ"/>
                        <a:ea typeface="メイリオ"/>
                        <a:cs typeface="メイリオ"/>
                      </a:endParaRPr>
                    </a:p>
                  </a:txBody>
                  <a:tcPr>
                    <a:solidFill>
                      <a:srgbClr val="FFFFFF"/>
                    </a:solidFill>
                  </a:tcPr>
                </a:tc>
                <a:tc>
                  <a:txBody>
                    <a:bodyPr/>
                    <a:lstStyle/>
                    <a:p>
                      <a:r>
                        <a:rPr sz="1400" b="0">
                          <a:solidFill>
                            <a:srgbClr val="333333"/>
                          </a:solidFill>
                          <a:latin typeface="メイリオ"/>
                          <a:ea typeface="メイリオ"/>
                          <a:cs typeface="メイリオ"/>
                        </a:rPr>
                        <a:t>診断結果配信＋タイプ別学習アプローチ紹介</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メイリオ"/>
                          <a:ea typeface="メイリオ"/>
                          <a:cs typeface="メイリオ"/>
                        </a:rPr>
                        <a:t>4日後</a:t>
                      </a:r>
                    </a:p>
                  </a:txBody>
                  <a:tcPr>
                    <a:solidFill>
                      <a:srgbClr val="FFFFFF"/>
                    </a:solidFill>
                  </a:tcPr>
                </a:tc>
                <a:tc>
                  <a:txBody>
                    <a:bodyPr/>
                    <a:lstStyle/>
                    <a:p>
                      <a:r>
                        <a:rPr sz="1400" b="0">
                          <a:solidFill>
                            <a:srgbClr val="333333"/>
                          </a:solidFill>
                          <a:latin typeface="メイリオ"/>
                          <a:ea typeface="メイリオ"/>
                          <a:cs typeface="メイリオ"/>
                        </a:rPr>
                        <a:t>同上</a:t>
                      </a:r>
                    </a:p>
                  </a:txBody>
                  <a:tcPr>
                    <a:solidFill>
                      <a:srgbClr val="FFFFFF"/>
                    </a:solidFill>
                  </a:tcPr>
                </a:tc>
                <a:tc>
                  <a:txBody>
                    <a:bodyPr/>
                    <a:lstStyle/>
                    <a:p>
                      <a:r>
                        <a:rPr sz="1400" b="0" dirty="0" err="1">
                          <a:solidFill>
                            <a:srgbClr val="333333"/>
                          </a:solidFill>
                          <a:latin typeface="メイリオ"/>
                          <a:ea typeface="メイリオ"/>
                          <a:cs typeface="メイリオ"/>
                        </a:rPr>
                        <a:t>同タイプの卒業生・在籍生の声</a:t>
                      </a:r>
                      <a:endParaRPr sz="14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メイリオ"/>
                          <a:ea typeface="メイリオ"/>
                          <a:cs typeface="メイリオ"/>
                        </a:rPr>
                        <a:t>6日後</a:t>
                      </a:r>
                    </a:p>
                  </a:txBody>
                  <a:tcPr>
                    <a:solidFill>
                      <a:srgbClr val="FFFFFF"/>
                    </a:solidFill>
                  </a:tcPr>
                </a:tc>
                <a:tc>
                  <a:txBody>
                    <a:bodyPr/>
                    <a:lstStyle/>
                    <a:p>
                      <a:r>
                        <a:rPr sz="1400" b="0">
                          <a:solidFill>
                            <a:srgbClr val="333333"/>
                          </a:solidFill>
                          <a:latin typeface="メイリオ"/>
                          <a:ea typeface="メイリオ"/>
                          <a:cs typeface="メイリオ"/>
                        </a:rPr>
                        <a:t>同上</a:t>
                      </a:r>
                    </a:p>
                  </a:txBody>
                  <a:tcPr>
                    <a:solidFill>
                      <a:srgbClr val="FFFFFF"/>
                    </a:solidFill>
                  </a:tcPr>
                </a:tc>
                <a:tc>
                  <a:txBody>
                    <a:bodyPr/>
                    <a:lstStyle/>
                    <a:p>
                      <a:r>
                        <a:rPr sz="1400" b="0" dirty="0" err="1">
                          <a:solidFill>
                            <a:srgbClr val="333333"/>
                          </a:solidFill>
                          <a:latin typeface="メイリオ"/>
                          <a:ea typeface="メイリオ"/>
                          <a:cs typeface="メイリオ"/>
                        </a:rPr>
                        <a:t>体験予約への案内</a:t>
                      </a:r>
                      <a:endParaRPr sz="14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dirty="0">
                          <a:solidFill>
                            <a:srgbClr val="333333"/>
                          </a:solidFill>
                          <a:latin typeface="メイリオ"/>
                          <a:ea typeface="メイリオ"/>
                          <a:cs typeface="メイリオ"/>
                        </a:rPr>
                        <a:t>9日後</a:t>
                      </a:r>
                    </a:p>
                  </a:txBody>
                  <a:tcPr>
                    <a:solidFill>
                      <a:srgbClr val="FFFFFF"/>
                    </a:solidFill>
                  </a:tcPr>
                </a:tc>
                <a:tc>
                  <a:txBody>
                    <a:bodyPr/>
                    <a:lstStyle/>
                    <a:p>
                      <a:r>
                        <a:rPr sz="1400" b="0">
                          <a:solidFill>
                            <a:srgbClr val="333333"/>
                          </a:solidFill>
                          <a:latin typeface="メイリオ"/>
                          <a:ea typeface="メイリオ"/>
                          <a:cs typeface="メイリオ"/>
                        </a:rPr>
                        <a:t>未予約者</a:t>
                      </a:r>
                    </a:p>
                  </a:txBody>
                  <a:tcPr>
                    <a:solidFill>
                      <a:srgbClr val="FFFFFF"/>
                    </a:solidFill>
                  </a:tcPr>
                </a:tc>
                <a:tc>
                  <a:txBody>
                    <a:bodyPr/>
                    <a:lstStyle/>
                    <a:p>
                      <a:r>
                        <a:rPr sz="1400" b="0" dirty="0">
                          <a:solidFill>
                            <a:srgbClr val="333333"/>
                          </a:solidFill>
                          <a:latin typeface="メイリオ"/>
                          <a:ea typeface="メイリオ"/>
                          <a:cs typeface="メイリオ"/>
                        </a:rPr>
                        <a:t>「知育→受験」の2段階設計を訴求</a:t>
                      </a: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メイリオ"/>
                          <a:ea typeface="メイリオ"/>
                          <a:cs typeface="メイリオ"/>
                        </a:rPr>
                        <a:t>12日後</a:t>
                      </a:r>
                    </a:p>
                  </a:txBody>
                  <a:tcPr>
                    <a:solidFill>
                      <a:srgbClr val="FFFFFF"/>
                    </a:solidFill>
                  </a:tcPr>
                </a:tc>
                <a:tc>
                  <a:txBody>
                    <a:bodyPr/>
                    <a:lstStyle/>
                    <a:p>
                      <a:r>
                        <a:rPr sz="1400" b="0">
                          <a:solidFill>
                            <a:srgbClr val="333333"/>
                          </a:solidFill>
                          <a:latin typeface="メイリオ"/>
                          <a:ea typeface="メイリオ"/>
                          <a:cs typeface="メイリオ"/>
                        </a:rPr>
                        <a:t>未予約者</a:t>
                      </a:r>
                    </a:p>
                  </a:txBody>
                  <a:tcPr>
                    <a:solidFill>
                      <a:srgbClr val="FFFFFF"/>
                    </a:solidFill>
                  </a:tcPr>
                </a:tc>
                <a:tc>
                  <a:txBody>
                    <a:bodyPr/>
                    <a:lstStyle/>
                    <a:p>
                      <a:r>
                        <a:rPr sz="1400" b="0" dirty="0" err="1">
                          <a:solidFill>
                            <a:srgbClr val="333333"/>
                          </a:solidFill>
                          <a:latin typeface="メイリオ"/>
                          <a:ea typeface="メイリオ"/>
                          <a:cs typeface="メイリオ"/>
                        </a:rPr>
                        <a:t>保護者の疑問Q&amp;A（費用・年齢・通塾頻度等</a:t>
                      </a:r>
                      <a:r>
                        <a:rPr sz="1400" b="0" dirty="0">
                          <a:solidFill>
                            <a:srgbClr val="333333"/>
                          </a:solidFill>
                          <a:latin typeface="メイリオ"/>
                          <a:ea typeface="メイリオ"/>
                          <a:cs typeface="メイリオ"/>
                        </a:rPr>
                        <a:t>）</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メイリオ"/>
                          <a:ea typeface="メイリオ"/>
                          <a:cs typeface="メイリオ"/>
                        </a:rPr>
                        <a:t>14日後</a:t>
                      </a:r>
                    </a:p>
                  </a:txBody>
                  <a:tcPr>
                    <a:solidFill>
                      <a:srgbClr val="FFFFFF"/>
                    </a:solidFill>
                  </a:tcPr>
                </a:tc>
                <a:tc>
                  <a:txBody>
                    <a:bodyPr/>
                    <a:lstStyle/>
                    <a:p>
                      <a:r>
                        <a:rPr sz="1400" b="0">
                          <a:solidFill>
                            <a:srgbClr val="333333"/>
                          </a:solidFill>
                          <a:latin typeface="メイリオ"/>
                          <a:ea typeface="メイリオ"/>
                          <a:cs typeface="メイリオ"/>
                        </a:rPr>
                        <a:t>未予約者</a:t>
                      </a:r>
                    </a:p>
                  </a:txBody>
                  <a:tcPr>
                    <a:solidFill>
                      <a:srgbClr val="FFFFFF"/>
                    </a:solidFill>
                  </a:tcPr>
                </a:tc>
                <a:tc>
                  <a:txBody>
                    <a:bodyPr/>
                    <a:lstStyle/>
                    <a:p>
                      <a:r>
                        <a:rPr sz="1400" b="0" dirty="0" err="1">
                          <a:solidFill>
                            <a:srgbClr val="333333"/>
                          </a:solidFill>
                          <a:latin typeface="メイリオ"/>
                          <a:ea typeface="メイリオ"/>
                          <a:cs typeface="メイリオ"/>
                        </a:rPr>
                        <a:t>体験予約の最終案内</a:t>
                      </a:r>
                      <a:endParaRPr sz="14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738664"/>
          </a:xfrm>
          <a:prstGeom prst="rect">
            <a:avLst/>
          </a:prstGeom>
          <a:noFill/>
        </p:spPr>
        <p:txBody>
          <a:bodyPr wrap="square">
            <a:spAutoFit/>
          </a:bodyPr>
          <a:lstStyle/>
          <a:p>
            <a:r>
              <a:rPr sz="1400" b="1" dirty="0">
                <a:solidFill>
                  <a:srgbClr val="BF4E0E"/>
                </a:solidFill>
                <a:latin typeface="メイリオ"/>
                <a:ea typeface="メイリオ"/>
                <a:cs typeface="メイリオ"/>
              </a:rPr>
              <a:t>体験予約44件（6ヶ月累計）× 入会引き上げ率25% ＝ 入会11件として算出</a:t>
            </a:r>
          </a:p>
          <a:p>
            <a:r>
              <a:rPr sz="1400" b="1" dirty="0" err="1">
                <a:solidFill>
                  <a:srgbClr val="BF4E0E"/>
                </a:solidFill>
                <a:latin typeface="メイリオ"/>
                <a:ea typeface="メイリオ"/>
                <a:cs typeface="メイリオ"/>
              </a:rPr>
              <a:t>予約で止めず、入会までLINEで追いきる</a:t>
            </a:r>
            <a:endParaRPr lang="en-US" sz="1400" b="1" dirty="0">
              <a:solidFill>
                <a:srgbClr val="BF4E0E"/>
              </a:solidFill>
              <a:latin typeface="メイリオ"/>
              <a:ea typeface="メイリオ"/>
              <a:cs typeface="メイリオ"/>
            </a:endParaRPr>
          </a:p>
          <a:p>
            <a:r>
              <a:rPr sz="1400" b="1" dirty="0">
                <a:solidFill>
                  <a:srgbClr val="BF4E0E"/>
                </a:solidFill>
                <a:latin typeface="メイリオ"/>
                <a:ea typeface="メイリオ"/>
                <a:cs typeface="メイリオ"/>
              </a:rPr>
              <a:t>（</a:t>
            </a:r>
            <a:r>
              <a:rPr sz="1400" b="1" dirty="0" err="1">
                <a:solidFill>
                  <a:srgbClr val="BF4E0E"/>
                </a:solidFill>
                <a:latin typeface="メイリオ"/>
                <a:ea typeface="メイリオ"/>
                <a:cs typeface="メイリオ"/>
              </a:rPr>
              <a:t>体験前リマインド→当日案内→体験後フォロ</a:t>
            </a:r>
            <a:r>
              <a:rPr sz="1400" b="1" dirty="0">
                <a:solidFill>
                  <a:srgbClr val="BF4E0E"/>
                </a:solidFill>
                <a:latin typeface="メイリオ"/>
                <a:ea typeface="メイリオ"/>
                <a:cs typeface="メイリオ"/>
              </a:rPr>
              <a:t>ー→</a:t>
            </a:r>
            <a:r>
              <a:rPr sz="1400" b="1" dirty="0" err="1">
                <a:solidFill>
                  <a:srgbClr val="BF4E0E"/>
                </a:solidFill>
                <a:latin typeface="メイリオ"/>
                <a:ea typeface="メイリオ"/>
                <a:cs typeface="メイリオ"/>
              </a:rPr>
              <a:t>入会のご案内を別シナリオで配信</a:t>
            </a:r>
            <a:r>
              <a:rPr sz="1400" b="1" dirty="0">
                <a:solidFill>
                  <a:srgbClr val="BF4E0E"/>
                </a:solidFill>
                <a:latin typeface="メイリオ"/>
                <a:ea typeface="メイリオ"/>
                <a:cs typeface="メイリオ"/>
              </a:rPr>
              <a:t>）</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メイリオ"/>
                <a:ea typeface="メイリオ"/>
                <a:cs typeface="メイリオ"/>
              </a:rPr>
              <a:t>出典：Googleトレンド「受験」／前後検索KW「幼児教室」／競合調査(理英会／どんちゃか)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メイリオ"/>
                <a:ea typeface="メイリオ"/>
                <a:cs typeface="メイリオ"/>
                <a:sym typeface="Meiryo"/>
              </a:rPr>
              <a:t>想定企画【忍者ナイン】</a:t>
            </a:r>
            <a:endParaRPr sz="1600" b="1" dirty="0">
              <a:solidFill>
                <a:srgbClr val="002060"/>
              </a:solidFill>
              <a:latin typeface="メイリオ"/>
              <a:ea typeface="メイリオ"/>
              <a:cs typeface="メイリオ"/>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メイリオ"/>
                <a:ea typeface="メイリオ"/>
                <a:cs typeface="メイリオ"/>
              </a:rPr>
              <a:t>年間を通じて、新規獲得・友だち増加・満足度向上を狙う企画投稿を月別に配置する</a:t>
            </a:r>
            <a:endParaRPr sz="1400" b="0" i="0" dirty="0">
              <a:solidFill>
                <a:srgbClr val="333333"/>
              </a:solidFill>
              <a:latin typeface="メイリオ"/>
              <a:ea typeface="メイリオ"/>
              <a:cs typeface="メイリオ"/>
            </a:endParaRPr>
          </a:p>
        </p:txBody>
      </p:sp>
      <p:graphicFrame>
        <p:nvGraphicFramePr>
          <p:cNvPr id="46" name="Table 45"/>
          <p:cNvGraphicFramePr>
            <a:graphicFrameLocks noGrp="1"/>
          </p:cNvGraphicFramePr>
          <p:nvPr>
            <p:extLst>
              <p:ext uri="{D42A27DB-BD31-4B8C-83A1-F6EECF244321}">
                <p14:modId xmlns:p14="http://schemas.microsoft.com/office/powerpoint/2010/main" val="87126696"/>
              </p:ext>
            </p:extLst>
          </p:nvPr>
        </p:nvGraphicFramePr>
        <p:xfrm>
          <a:off x="457200" y="1371600"/>
          <a:ext cx="8988551" cy="411480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メイリオ"/>
                          <a:ea typeface="メイリオ"/>
                          <a:cs typeface="メイリオ"/>
                        </a:rPr>
                        <a:t>時期</a:t>
                      </a:r>
                    </a:p>
                  </a:txBody>
                  <a:tcPr>
                    <a:solidFill>
                      <a:srgbClr val="1F2A5C"/>
                    </a:solidFill>
                  </a:tcPr>
                </a:tc>
                <a:tc>
                  <a:txBody>
                    <a:bodyPr/>
                    <a:lstStyle/>
                    <a:p>
                      <a:r>
                        <a:rPr sz="1100" b="1">
                          <a:solidFill>
                            <a:srgbClr val="FFFFFF"/>
                          </a:solidFill>
                          <a:latin typeface="メイリオ"/>
                          <a:ea typeface="メイリオ"/>
                          <a:cs typeface="メイリオ"/>
                        </a:rPr>
                        <a:t>企画</a:t>
                      </a:r>
                    </a:p>
                  </a:txBody>
                  <a:tcPr>
                    <a:solidFill>
                      <a:srgbClr val="1F2A5C"/>
                    </a:solidFill>
                  </a:tcPr>
                </a:tc>
                <a:tc>
                  <a:txBody>
                    <a:bodyPr/>
                    <a:lstStyle/>
                    <a:p>
                      <a:r>
                        <a:rPr sz="1100" b="1">
                          <a:solidFill>
                            <a:srgbClr val="FFFFFF"/>
                          </a:solidFill>
                          <a:latin typeface="メイリオ"/>
                          <a:ea typeface="メイリオ"/>
                          <a:cs typeface="メイリオ"/>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メイリオ"/>
                          <a:ea typeface="メイリオ"/>
                          <a:cs typeface="メイリオ"/>
                        </a:rPr>
                        <a:t>1-3月</a:t>
                      </a:r>
                    </a:p>
                  </a:txBody>
                  <a:tcPr>
                    <a:solidFill>
                      <a:srgbClr val="FFFFFF"/>
                    </a:solidFill>
                  </a:tcPr>
                </a:tc>
                <a:tc>
                  <a:txBody>
                    <a:bodyPr/>
                    <a:lstStyle/>
                    <a:p>
                      <a:r>
                        <a:rPr sz="1400" b="0">
                          <a:solidFill>
                            <a:srgbClr val="333333"/>
                          </a:solidFill>
                          <a:latin typeface="メイリオ"/>
                          <a:ea typeface="メイリオ"/>
                          <a:cs typeface="メイリオ"/>
                        </a:rPr>
                        <a:t>新学年スタート訴求</a:t>
                      </a:r>
                    </a:p>
                  </a:txBody>
                  <a:tcPr>
                    <a:solidFill>
                      <a:srgbClr val="FFFFFF"/>
                    </a:solidFill>
                  </a:tcPr>
                </a:tc>
                <a:tc>
                  <a:txBody>
                    <a:bodyPr/>
                    <a:lstStyle/>
                    <a:p>
                      <a:r>
                        <a:rPr sz="1400" b="0">
                          <a:solidFill>
                            <a:srgbClr val="333333"/>
                          </a:solidFill>
                          <a:latin typeface="メイリオ"/>
                          <a:ea typeface="メイリオ"/>
                          <a:cs typeface="メイリオ"/>
                        </a:rPr>
                        <a:t>新学年に合わせた習い事検討層への訴求</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メイリオ"/>
                          <a:ea typeface="メイリオ"/>
                          <a:cs typeface="メイリオ"/>
                        </a:rPr>
                        <a:t>1-3月</a:t>
                      </a:r>
                    </a:p>
                  </a:txBody>
                  <a:tcPr>
                    <a:solidFill>
                      <a:srgbClr val="FFFFFF"/>
                    </a:solidFill>
                  </a:tcPr>
                </a:tc>
                <a:tc>
                  <a:txBody>
                    <a:bodyPr/>
                    <a:lstStyle/>
                    <a:p>
                      <a:r>
                        <a:rPr sz="1400" b="0">
                          <a:solidFill>
                            <a:srgbClr val="333333"/>
                          </a:solidFill>
                          <a:latin typeface="メイリオ"/>
                          <a:ea typeface="メイリオ"/>
                          <a:cs typeface="メイリオ"/>
                        </a:rPr>
                        <a:t>入会金半額キャンペーン</a:t>
                      </a:r>
                    </a:p>
                  </a:txBody>
                  <a:tcPr>
                    <a:solidFill>
                      <a:srgbClr val="FFFFFF"/>
                    </a:solidFill>
                  </a:tcPr>
                </a:tc>
                <a:tc>
                  <a:txBody>
                    <a:bodyPr/>
                    <a:lstStyle/>
                    <a:p>
                      <a:r>
                        <a:rPr sz="1400" b="0">
                          <a:solidFill>
                            <a:srgbClr val="333333"/>
                          </a:solidFill>
                          <a:latin typeface="メイリオ"/>
                          <a:ea typeface="メイリオ"/>
                          <a:cs typeface="メイリオ"/>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メイリオ"/>
                          <a:ea typeface="メイリオ"/>
                          <a:cs typeface="メイリオ"/>
                        </a:rPr>
                        <a:t>4-5月</a:t>
                      </a:r>
                    </a:p>
                  </a:txBody>
                  <a:tcPr>
                    <a:solidFill>
                      <a:srgbClr val="FFFFFF"/>
                    </a:solidFill>
                  </a:tcPr>
                </a:tc>
                <a:tc>
                  <a:txBody>
                    <a:bodyPr/>
                    <a:lstStyle/>
                    <a:p>
                      <a:r>
                        <a:rPr sz="1400" b="0">
                          <a:solidFill>
                            <a:srgbClr val="333333"/>
                          </a:solidFill>
                          <a:latin typeface="メイリオ"/>
                          <a:ea typeface="メイリオ"/>
                          <a:cs typeface="メイリオ"/>
                        </a:rPr>
                        <a:t>お友だち紹介キャンペーン強化</a:t>
                      </a:r>
                    </a:p>
                  </a:txBody>
                  <a:tcPr>
                    <a:solidFill>
                      <a:srgbClr val="FFFFFF"/>
                    </a:solidFill>
                  </a:tcPr>
                </a:tc>
                <a:tc>
                  <a:txBody>
                    <a:bodyPr/>
                    <a:lstStyle/>
                    <a:p>
                      <a:r>
                        <a:rPr sz="1400" b="0">
                          <a:solidFill>
                            <a:srgbClr val="333333"/>
                          </a:solidFill>
                          <a:latin typeface="メイリオ"/>
                          <a:ea typeface="メイリオ"/>
                          <a:cs typeface="メイリオ"/>
                        </a:rPr>
                        <a:t>在籍生からの紹介を促進</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メイリオ"/>
                          <a:ea typeface="メイリオ"/>
                          <a:cs typeface="メイリオ"/>
                        </a:rPr>
                        <a:t>6月</a:t>
                      </a:r>
                    </a:p>
                  </a:txBody>
                  <a:tcPr>
                    <a:solidFill>
                      <a:srgbClr val="FFFFFF"/>
                    </a:solidFill>
                  </a:tcPr>
                </a:tc>
                <a:tc>
                  <a:txBody>
                    <a:bodyPr/>
                    <a:lstStyle/>
                    <a:p>
                      <a:r>
                        <a:rPr sz="1400" b="0" dirty="0" err="1">
                          <a:solidFill>
                            <a:srgbClr val="333333"/>
                          </a:solidFill>
                          <a:latin typeface="メイリオ"/>
                          <a:ea typeface="メイリオ"/>
                          <a:cs typeface="メイリオ"/>
                        </a:rPr>
                        <a:t>LINEリサーチでニーズ収集</a:t>
                      </a:r>
                      <a:endParaRPr sz="1400" b="0" dirty="0">
                        <a:solidFill>
                          <a:srgbClr val="333333"/>
                        </a:solidFill>
                        <a:latin typeface="メイリオ"/>
                        <a:ea typeface="メイリオ"/>
                        <a:cs typeface="メイリオ"/>
                      </a:endParaRPr>
                    </a:p>
                  </a:txBody>
                  <a:tcPr>
                    <a:solidFill>
                      <a:srgbClr val="FFFFFF"/>
                    </a:solidFill>
                  </a:tcPr>
                </a:tc>
                <a:tc>
                  <a:txBody>
                    <a:bodyPr/>
                    <a:lstStyle/>
                    <a:p>
                      <a:r>
                        <a:rPr sz="1400" b="0">
                          <a:solidFill>
                            <a:srgbClr val="333333"/>
                          </a:solidFill>
                          <a:latin typeface="メイリオ"/>
                          <a:ea typeface="メイリオ"/>
                          <a:cs typeface="メイリオ"/>
                        </a:rPr>
                        <a:t>簡易アンケートで次の企画のネタを収集</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メイリオ"/>
                          <a:ea typeface="メイリオ"/>
                          <a:cs typeface="メイリオ"/>
                        </a:rPr>
                        <a:t>7-8月</a:t>
                      </a:r>
                    </a:p>
                  </a:txBody>
                  <a:tcPr>
                    <a:solidFill>
                      <a:srgbClr val="FFFFFF"/>
                    </a:solidFill>
                  </a:tcPr>
                </a:tc>
                <a:tc>
                  <a:txBody>
                    <a:bodyPr/>
                    <a:lstStyle/>
                    <a:p>
                      <a:r>
                        <a:rPr sz="1400" b="0">
                          <a:solidFill>
                            <a:srgbClr val="333333"/>
                          </a:solidFill>
                          <a:latin typeface="メイリオ"/>
                          <a:ea typeface="メイリオ"/>
                          <a:cs typeface="メイリオ"/>
                        </a:rPr>
                        <a:t>複合種目デー投稿</a:t>
                      </a:r>
                    </a:p>
                  </a:txBody>
                  <a:tcPr>
                    <a:solidFill>
                      <a:srgbClr val="FFFFFF"/>
                    </a:solidFill>
                  </a:tcPr>
                </a:tc>
                <a:tc>
                  <a:txBody>
                    <a:bodyPr/>
                    <a:lstStyle/>
                    <a:p>
                      <a:r>
                        <a:rPr sz="1400" b="0">
                          <a:solidFill>
                            <a:srgbClr val="333333"/>
                          </a:solidFill>
                          <a:latin typeface="メイリオ"/>
                          <a:ea typeface="メイリオ"/>
                          <a:cs typeface="メイリオ"/>
                        </a:rPr>
                        <a:t>月替わりで種目を変える強みを可視化</a:t>
                      </a: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メイリオ"/>
                          <a:ea typeface="メイリオ"/>
                          <a:cs typeface="メイリオ"/>
                        </a:rPr>
                        <a:t>8月</a:t>
                      </a:r>
                    </a:p>
                  </a:txBody>
                  <a:tcPr>
                    <a:solidFill>
                      <a:srgbClr val="FFFFFF"/>
                    </a:solidFill>
                  </a:tcPr>
                </a:tc>
                <a:tc>
                  <a:txBody>
                    <a:bodyPr/>
                    <a:lstStyle/>
                    <a:p>
                      <a:r>
                        <a:rPr sz="1400" b="0" dirty="0" err="1">
                          <a:solidFill>
                            <a:srgbClr val="333333"/>
                          </a:solidFill>
                          <a:latin typeface="メイリオ"/>
                          <a:ea typeface="メイリオ"/>
                          <a:cs typeface="メイリオ"/>
                        </a:rPr>
                        <a:t>短期集中イベント＋先着特典</a:t>
                      </a:r>
                      <a:endParaRPr sz="1400" b="0" dirty="0">
                        <a:solidFill>
                          <a:srgbClr val="333333"/>
                        </a:solidFill>
                        <a:latin typeface="メイリオ"/>
                        <a:ea typeface="メイリオ"/>
                        <a:cs typeface="メイリオ"/>
                      </a:endParaRPr>
                    </a:p>
                  </a:txBody>
                  <a:tcPr>
                    <a:solidFill>
                      <a:srgbClr val="FFFFFF"/>
                    </a:solidFill>
                  </a:tcPr>
                </a:tc>
                <a:tc>
                  <a:txBody>
                    <a:bodyPr/>
                    <a:lstStyle/>
                    <a:p>
                      <a:r>
                        <a:rPr sz="1400" b="0" dirty="0" err="1">
                          <a:solidFill>
                            <a:srgbClr val="333333"/>
                          </a:solidFill>
                          <a:latin typeface="メイリオ"/>
                          <a:ea typeface="メイリオ"/>
                          <a:cs typeface="メイリオ"/>
                        </a:rPr>
                        <a:t>夏休み短期教室の告知</a:t>
                      </a:r>
                      <a:endParaRPr sz="14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メイリオ"/>
                          <a:ea typeface="メイリオ"/>
                          <a:cs typeface="メイリオ"/>
                        </a:rPr>
                        <a:t>9-10月</a:t>
                      </a:r>
                    </a:p>
                  </a:txBody>
                  <a:tcPr>
                    <a:solidFill>
                      <a:srgbClr val="FFFFFF"/>
                    </a:solidFill>
                  </a:tcPr>
                </a:tc>
                <a:tc>
                  <a:txBody>
                    <a:bodyPr/>
                    <a:lstStyle/>
                    <a:p>
                      <a:r>
                        <a:rPr sz="1400" b="0">
                          <a:solidFill>
                            <a:srgbClr val="333333"/>
                          </a:solidFill>
                          <a:latin typeface="メイリオ"/>
                          <a:ea typeface="メイリオ"/>
                          <a:cs typeface="メイリオ"/>
                        </a:rPr>
                        <a:t>運動会シーズン訴求</a:t>
                      </a:r>
                    </a:p>
                  </a:txBody>
                  <a:tcPr>
                    <a:solidFill>
                      <a:srgbClr val="FFFFFF"/>
                    </a:solidFill>
                  </a:tcPr>
                </a:tc>
                <a:tc>
                  <a:txBody>
                    <a:bodyPr/>
                    <a:lstStyle/>
                    <a:p>
                      <a:r>
                        <a:rPr sz="1400" b="0" dirty="0" err="1">
                          <a:solidFill>
                            <a:srgbClr val="333333"/>
                          </a:solidFill>
                          <a:latin typeface="メイリオ"/>
                          <a:ea typeface="メイリオ"/>
                          <a:cs typeface="メイリオ"/>
                        </a:rPr>
                        <a:t>運動会に向けた訴求コンテンツ</a:t>
                      </a:r>
                      <a:endParaRPr sz="14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メイリオ"/>
                          <a:ea typeface="メイリオ"/>
                          <a:cs typeface="メイリオ"/>
                        </a:rPr>
                        <a:t>9-10月</a:t>
                      </a:r>
                    </a:p>
                  </a:txBody>
                  <a:tcPr>
                    <a:solidFill>
                      <a:srgbClr val="FFFFFF"/>
                    </a:solidFill>
                  </a:tcPr>
                </a:tc>
                <a:tc>
                  <a:txBody>
                    <a:bodyPr/>
                    <a:lstStyle/>
                    <a:p>
                      <a:r>
                        <a:rPr sz="1400" b="0">
                          <a:solidFill>
                            <a:srgbClr val="333333"/>
                          </a:solidFill>
                          <a:latin typeface="メイリオ"/>
                          <a:ea typeface="メイリオ"/>
                          <a:cs typeface="メイリオ"/>
                        </a:rPr>
                        <a:t>運動能力の見える化企画</a:t>
                      </a:r>
                    </a:p>
                  </a:txBody>
                  <a:tcPr>
                    <a:solidFill>
                      <a:srgbClr val="FFFFFF"/>
                    </a:solidFill>
                  </a:tcPr>
                </a:tc>
                <a:tc>
                  <a:txBody>
                    <a:bodyPr/>
                    <a:lstStyle/>
                    <a:p>
                      <a:r>
                        <a:rPr sz="1400" b="0" dirty="0" err="1">
                          <a:solidFill>
                            <a:srgbClr val="333333"/>
                          </a:solidFill>
                          <a:latin typeface="メイリオ"/>
                          <a:ea typeface="メイリオ"/>
                          <a:cs typeface="メイリオ"/>
                        </a:rPr>
                        <a:t>入会時と現在の適性診断結果を比較</a:t>
                      </a:r>
                      <a:endParaRPr sz="14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8"/>
                  </a:ext>
                </a:extLst>
              </a:tr>
              <a:tr h="411480">
                <a:tc>
                  <a:txBody>
                    <a:bodyPr/>
                    <a:lstStyle/>
                    <a:p>
                      <a:r>
                        <a:rPr sz="1400" b="0">
                          <a:solidFill>
                            <a:srgbClr val="333333"/>
                          </a:solidFill>
                          <a:latin typeface="メイリオ"/>
                          <a:ea typeface="メイリオ"/>
                          <a:cs typeface="メイリオ"/>
                        </a:rPr>
                        <a:t>11-12月</a:t>
                      </a:r>
                    </a:p>
                  </a:txBody>
                  <a:tcPr>
                    <a:solidFill>
                      <a:srgbClr val="FFFFFF"/>
                    </a:solidFill>
                  </a:tcPr>
                </a:tc>
                <a:tc>
                  <a:txBody>
                    <a:bodyPr/>
                    <a:lstStyle/>
                    <a:p>
                      <a:r>
                        <a:rPr sz="1400" b="0">
                          <a:solidFill>
                            <a:srgbClr val="333333"/>
                          </a:solidFill>
                          <a:latin typeface="メイリオ"/>
                          <a:ea typeface="メイリオ"/>
                          <a:cs typeface="メイリオ"/>
                        </a:rPr>
                        <a:t>短期集中イベント＋先着特典</a:t>
                      </a:r>
                    </a:p>
                  </a:txBody>
                  <a:tcPr>
                    <a:solidFill>
                      <a:srgbClr val="FFFFFF"/>
                    </a:solidFill>
                  </a:tcPr>
                </a:tc>
                <a:tc>
                  <a:txBody>
                    <a:bodyPr/>
                    <a:lstStyle/>
                    <a:p>
                      <a:r>
                        <a:rPr sz="1400" b="0" dirty="0" err="1">
                          <a:solidFill>
                            <a:srgbClr val="333333"/>
                          </a:solidFill>
                          <a:latin typeface="メイリオ"/>
                          <a:ea typeface="メイリオ"/>
                          <a:cs typeface="メイリオ"/>
                        </a:rPr>
                        <a:t>冬休み短期教室の告知</a:t>
                      </a:r>
                      <a:endParaRPr sz="14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メイリオ"/>
                <a:ea typeface="メイリオ"/>
                <a:cs typeface="メイリオ"/>
              </a:rPr>
              <a:t>出典：GoogleトレンドKW「習い事」「運動会」／競合調査（biima sports）</a:t>
            </a:r>
          </a:p>
        </p:txBody>
      </p:sp>
    </p:spTree>
    <p:extLst>
      <p:ext uri="{BB962C8B-B14F-4D97-AF65-F5344CB8AC3E}">
        <p14:creationId xmlns:p14="http://schemas.microsoft.com/office/powerpoint/2010/main" val="1269822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メイリオ"/>
                <a:ea typeface="メイリオ"/>
                <a:cs typeface="メイリオ"/>
                <a:sym typeface="Meiryo"/>
              </a:rPr>
              <a:t>想定企画【チャイルドアイズ】</a:t>
            </a:r>
            <a:endParaRPr sz="1600" b="1" dirty="0">
              <a:solidFill>
                <a:srgbClr val="002060"/>
              </a:solidFill>
              <a:latin typeface="メイリオ"/>
              <a:ea typeface="メイリオ"/>
              <a:cs typeface="メイリオ"/>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メイリオ"/>
                <a:ea typeface="メイリオ"/>
                <a:cs typeface="メイリオ"/>
              </a:rPr>
              <a:t>年間を通じて、新規獲得・友だち増加・満足度向上を狙う企画投稿を月別に配置する</a:t>
            </a:r>
            <a:endParaRPr sz="1400" b="0" i="0" dirty="0">
              <a:solidFill>
                <a:srgbClr val="333333"/>
              </a:solidFill>
              <a:latin typeface="メイリオ"/>
              <a:ea typeface="メイリオ"/>
              <a:cs typeface="メイリオ"/>
            </a:endParaRPr>
          </a:p>
        </p:txBody>
      </p:sp>
      <p:graphicFrame>
        <p:nvGraphicFramePr>
          <p:cNvPr id="46" name="Table 45"/>
          <p:cNvGraphicFramePr>
            <a:graphicFrameLocks noGrp="1"/>
          </p:cNvGraphicFramePr>
          <p:nvPr>
            <p:extLst>
              <p:ext uri="{D42A27DB-BD31-4B8C-83A1-F6EECF244321}">
                <p14:modId xmlns:p14="http://schemas.microsoft.com/office/powerpoint/2010/main" val="2733379206"/>
              </p:ext>
            </p:extLst>
          </p:nvPr>
        </p:nvGraphicFramePr>
        <p:xfrm>
          <a:off x="457200" y="1371600"/>
          <a:ext cx="8988551" cy="2987040"/>
        </p:xfrm>
        <a:graphic>
          <a:graphicData uri="http://schemas.openxmlformats.org/drawingml/2006/table">
            <a:tbl>
              <a:tblPr firstRow="1" bandRow="1">
                <a:tableStyleId>{5C22544A-7EE6-4342-B048-85BDC9FD1C3A}</a:tableStyleId>
              </a:tblPr>
              <a:tblGrid>
                <a:gridCol w="1345721">
                  <a:extLst>
                    <a:ext uri="{9D8B030D-6E8A-4147-A177-3AD203B41FA5}">
                      <a16:colId xmlns:a16="http://schemas.microsoft.com/office/drawing/2014/main" val="20000"/>
                    </a:ext>
                  </a:extLst>
                </a:gridCol>
                <a:gridCol w="2898475">
                  <a:extLst>
                    <a:ext uri="{9D8B030D-6E8A-4147-A177-3AD203B41FA5}">
                      <a16:colId xmlns:a16="http://schemas.microsoft.com/office/drawing/2014/main" val="20001"/>
                    </a:ext>
                  </a:extLst>
                </a:gridCol>
                <a:gridCol w="4744355">
                  <a:extLst>
                    <a:ext uri="{9D8B030D-6E8A-4147-A177-3AD203B41FA5}">
                      <a16:colId xmlns:a16="http://schemas.microsoft.com/office/drawing/2014/main" val="20002"/>
                    </a:ext>
                  </a:extLst>
                </a:gridCol>
              </a:tblGrid>
              <a:tr h="411480">
                <a:tc>
                  <a:txBody>
                    <a:bodyPr/>
                    <a:lstStyle/>
                    <a:p>
                      <a:r>
                        <a:rPr sz="1100" b="1">
                          <a:solidFill>
                            <a:srgbClr val="FFFFFF"/>
                          </a:solidFill>
                          <a:latin typeface="メイリオ"/>
                          <a:ea typeface="メイリオ"/>
                          <a:cs typeface="メイリオ"/>
                        </a:rPr>
                        <a:t>時期</a:t>
                      </a:r>
                    </a:p>
                  </a:txBody>
                  <a:tcPr>
                    <a:solidFill>
                      <a:srgbClr val="1F2A5C"/>
                    </a:solidFill>
                  </a:tcPr>
                </a:tc>
                <a:tc>
                  <a:txBody>
                    <a:bodyPr/>
                    <a:lstStyle/>
                    <a:p>
                      <a:r>
                        <a:rPr sz="1100" b="1">
                          <a:solidFill>
                            <a:srgbClr val="FFFFFF"/>
                          </a:solidFill>
                          <a:latin typeface="メイリオ"/>
                          <a:ea typeface="メイリオ"/>
                          <a:cs typeface="メイリオ"/>
                        </a:rPr>
                        <a:t>企画</a:t>
                      </a:r>
                    </a:p>
                  </a:txBody>
                  <a:tcPr>
                    <a:solidFill>
                      <a:srgbClr val="1F2A5C"/>
                    </a:solidFill>
                  </a:tcPr>
                </a:tc>
                <a:tc>
                  <a:txBody>
                    <a:bodyPr/>
                    <a:lstStyle/>
                    <a:p>
                      <a:r>
                        <a:rPr sz="1100" b="1">
                          <a:solidFill>
                            <a:srgbClr val="FFFFFF"/>
                          </a:solidFill>
                          <a:latin typeface="メイリオ"/>
                          <a:ea typeface="メイリオ"/>
                          <a:cs typeface="メイリオ"/>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メイリオ"/>
                          <a:ea typeface="メイリオ"/>
                          <a:cs typeface="メイリオ"/>
                        </a:rPr>
                        <a:t>1-2月</a:t>
                      </a:r>
                    </a:p>
                  </a:txBody>
                  <a:tcPr>
                    <a:solidFill>
                      <a:srgbClr val="FFFFFF"/>
                    </a:solidFill>
                  </a:tcPr>
                </a:tc>
                <a:tc>
                  <a:txBody>
                    <a:bodyPr/>
                    <a:lstStyle/>
                    <a:p>
                      <a:r>
                        <a:rPr sz="1400" b="0">
                          <a:solidFill>
                            <a:srgbClr val="333333"/>
                          </a:solidFill>
                          <a:latin typeface="メイリオ"/>
                          <a:ea typeface="メイリオ"/>
                          <a:cs typeface="メイリオ"/>
                        </a:rPr>
                        <a:t>合格実績・成長エピソード配信</a:t>
                      </a:r>
                    </a:p>
                  </a:txBody>
                  <a:tcPr>
                    <a:solidFill>
                      <a:srgbClr val="FFFFFF"/>
                    </a:solidFill>
                  </a:tcPr>
                </a:tc>
                <a:tc>
                  <a:txBody>
                    <a:bodyPr/>
                    <a:lstStyle/>
                    <a:p>
                      <a:r>
                        <a:rPr sz="1400" b="0">
                          <a:solidFill>
                            <a:srgbClr val="333333"/>
                          </a:solidFill>
                          <a:latin typeface="メイリオ"/>
                          <a:ea typeface="メイリオ"/>
                          <a:cs typeface="メイリオ"/>
                        </a:rPr>
                        <a:t>受験シーズン直後に卒業生実績を配信</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メイリオ"/>
                          <a:ea typeface="メイリオ"/>
                          <a:cs typeface="メイリオ"/>
                        </a:rPr>
                        <a:t>2-3月</a:t>
                      </a:r>
                    </a:p>
                  </a:txBody>
                  <a:tcPr>
                    <a:solidFill>
                      <a:srgbClr val="FFFFFF"/>
                    </a:solidFill>
                  </a:tcPr>
                </a:tc>
                <a:tc>
                  <a:txBody>
                    <a:bodyPr/>
                    <a:lstStyle/>
                    <a:p>
                      <a:r>
                        <a:rPr sz="1400" b="0">
                          <a:solidFill>
                            <a:srgbClr val="333333"/>
                          </a:solidFill>
                          <a:latin typeface="メイリオ"/>
                          <a:ea typeface="メイリオ"/>
                          <a:cs typeface="メイリオ"/>
                        </a:rPr>
                        <a:t>入会金半額キャンペーン</a:t>
                      </a:r>
                    </a:p>
                  </a:txBody>
                  <a:tcPr>
                    <a:solidFill>
                      <a:srgbClr val="FFFFFF"/>
                    </a:solidFill>
                  </a:tcPr>
                </a:tc>
                <a:tc>
                  <a:txBody>
                    <a:bodyPr/>
                    <a:lstStyle/>
                    <a:p>
                      <a:r>
                        <a:rPr sz="1400" b="0">
                          <a:solidFill>
                            <a:srgbClr val="333333"/>
                          </a:solidFill>
                          <a:latin typeface="メイリオ"/>
                          <a:ea typeface="メイリオ"/>
                          <a:cs typeface="メイリオ"/>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メイリオ"/>
                          <a:ea typeface="メイリオ"/>
                          <a:cs typeface="メイリオ"/>
                        </a:rPr>
                        <a:t>4月</a:t>
                      </a:r>
                    </a:p>
                  </a:txBody>
                  <a:tcPr>
                    <a:solidFill>
                      <a:srgbClr val="FFFFFF"/>
                    </a:solidFill>
                  </a:tcPr>
                </a:tc>
                <a:tc>
                  <a:txBody>
                    <a:bodyPr/>
                    <a:lstStyle/>
                    <a:p>
                      <a:r>
                        <a:rPr sz="1400" b="0" dirty="0" err="1">
                          <a:solidFill>
                            <a:srgbClr val="333333"/>
                          </a:solidFill>
                          <a:latin typeface="メイリオ"/>
                          <a:ea typeface="メイリオ"/>
                          <a:cs typeface="メイリオ"/>
                        </a:rPr>
                        <a:t>ショップカード機能の継続特典</a:t>
                      </a:r>
                      <a:endParaRPr lang="en-US" sz="1400" b="0" dirty="0">
                        <a:solidFill>
                          <a:srgbClr val="333333"/>
                        </a:solidFill>
                        <a:latin typeface="メイリオ"/>
                        <a:ea typeface="メイリオ"/>
                        <a:cs typeface="メイリオ"/>
                      </a:endParaRPr>
                    </a:p>
                    <a:p>
                      <a:r>
                        <a:rPr sz="1400" b="0" dirty="0" err="1">
                          <a:solidFill>
                            <a:srgbClr val="333333"/>
                          </a:solidFill>
                          <a:latin typeface="メイリオ"/>
                          <a:ea typeface="メイリオ"/>
                          <a:cs typeface="メイリオ"/>
                        </a:rPr>
                        <a:t>スタート告知</a:t>
                      </a:r>
                      <a:endParaRPr sz="1400" b="0" dirty="0">
                        <a:solidFill>
                          <a:srgbClr val="333333"/>
                        </a:solidFill>
                        <a:latin typeface="メイリオ"/>
                        <a:ea typeface="メイリオ"/>
                        <a:cs typeface="メイリオ"/>
                      </a:endParaRPr>
                    </a:p>
                  </a:txBody>
                  <a:tcPr>
                    <a:solidFill>
                      <a:srgbClr val="FFFFFF"/>
                    </a:solidFill>
                  </a:tcPr>
                </a:tc>
                <a:tc>
                  <a:txBody>
                    <a:bodyPr/>
                    <a:lstStyle/>
                    <a:p>
                      <a:r>
                        <a:rPr sz="1400" b="0">
                          <a:solidFill>
                            <a:srgbClr val="333333"/>
                          </a:solidFill>
                          <a:latin typeface="メイリオ"/>
                          <a:ea typeface="メイリオ"/>
                          <a:cs typeface="メイリオ"/>
                        </a:rPr>
                        <a:t>継続来塾のインセンティブ設計</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メイリオ"/>
                          <a:ea typeface="メイリオ"/>
                          <a:cs typeface="メイリオ"/>
                        </a:rPr>
                        <a:t>5-6月</a:t>
                      </a:r>
                    </a:p>
                  </a:txBody>
                  <a:tcPr>
                    <a:solidFill>
                      <a:srgbClr val="FFFFFF"/>
                    </a:solidFill>
                  </a:tcPr>
                </a:tc>
                <a:tc>
                  <a:txBody>
                    <a:bodyPr/>
                    <a:lstStyle/>
                    <a:p>
                      <a:r>
                        <a:rPr sz="1400" b="0">
                          <a:solidFill>
                            <a:srgbClr val="333333"/>
                          </a:solidFill>
                          <a:latin typeface="メイリオ"/>
                          <a:ea typeface="メイリオ"/>
                          <a:cs typeface="メイリオ"/>
                        </a:rPr>
                        <a:t>無料ペーパー教材プレゼント企画</a:t>
                      </a:r>
                    </a:p>
                  </a:txBody>
                  <a:tcPr>
                    <a:solidFill>
                      <a:srgbClr val="FFFFFF"/>
                    </a:solidFill>
                  </a:tcPr>
                </a:tc>
                <a:tc>
                  <a:txBody>
                    <a:bodyPr/>
                    <a:lstStyle/>
                    <a:p>
                      <a:r>
                        <a:rPr sz="1400" b="0">
                          <a:solidFill>
                            <a:srgbClr val="333333"/>
                          </a:solidFill>
                          <a:latin typeface="メイリオ"/>
                          <a:ea typeface="メイリオ"/>
                          <a:cs typeface="メイリオ"/>
                        </a:rPr>
                        <a:t>友だち限定の知育プリント配布</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メイリオ"/>
                          <a:ea typeface="メイリオ"/>
                          <a:cs typeface="メイリオ"/>
                        </a:rPr>
                        <a:t>7-8月</a:t>
                      </a:r>
                    </a:p>
                  </a:txBody>
                  <a:tcPr>
                    <a:solidFill>
                      <a:srgbClr val="FFFFFF"/>
                    </a:solidFill>
                  </a:tcPr>
                </a:tc>
                <a:tc>
                  <a:txBody>
                    <a:bodyPr/>
                    <a:lstStyle/>
                    <a:p>
                      <a:r>
                        <a:rPr sz="1400" b="0">
                          <a:solidFill>
                            <a:srgbClr val="333333"/>
                          </a:solidFill>
                          <a:latin typeface="メイリオ"/>
                          <a:ea typeface="メイリオ"/>
                          <a:cs typeface="メイリオ"/>
                        </a:rPr>
                        <a:t>保護者向け合格戦略セミナー案内</a:t>
                      </a:r>
                    </a:p>
                  </a:txBody>
                  <a:tcPr>
                    <a:solidFill>
                      <a:srgbClr val="FFFFFF"/>
                    </a:solidFill>
                  </a:tcPr>
                </a:tc>
                <a:tc>
                  <a:txBody>
                    <a:bodyPr/>
                    <a:lstStyle/>
                    <a:p>
                      <a:r>
                        <a:rPr sz="1400" b="0" dirty="0" err="1">
                          <a:solidFill>
                            <a:srgbClr val="333333"/>
                          </a:solidFill>
                          <a:latin typeface="メイリオ"/>
                          <a:ea typeface="メイリオ"/>
                          <a:cs typeface="メイリオ"/>
                        </a:rPr>
                        <a:t>受験直前期の相談会導線</a:t>
                      </a:r>
                      <a:endParaRPr sz="14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dirty="0">
                          <a:solidFill>
                            <a:srgbClr val="333333"/>
                          </a:solidFill>
                          <a:latin typeface="メイリオ"/>
                          <a:ea typeface="メイリオ"/>
                          <a:cs typeface="メイリオ"/>
                        </a:rPr>
                        <a:t>9-11月</a:t>
                      </a:r>
                    </a:p>
                  </a:txBody>
                  <a:tcPr>
                    <a:solidFill>
                      <a:srgbClr val="FFFFFF"/>
                    </a:solidFill>
                  </a:tcPr>
                </a:tc>
                <a:tc>
                  <a:txBody>
                    <a:bodyPr/>
                    <a:lstStyle/>
                    <a:p>
                      <a:r>
                        <a:rPr sz="1400" b="0">
                          <a:solidFill>
                            <a:srgbClr val="333333"/>
                          </a:solidFill>
                          <a:latin typeface="メイリオ"/>
                          <a:ea typeface="メイリオ"/>
                          <a:cs typeface="メイリオ"/>
                        </a:rPr>
                        <a:t>お友だち紹介キャンペーン強化</a:t>
                      </a:r>
                    </a:p>
                  </a:txBody>
                  <a:tcPr>
                    <a:solidFill>
                      <a:srgbClr val="FFFFFF"/>
                    </a:solidFill>
                  </a:tcPr>
                </a:tc>
                <a:tc>
                  <a:txBody>
                    <a:bodyPr/>
                    <a:lstStyle/>
                    <a:p>
                      <a:r>
                        <a:rPr sz="1400" b="0" dirty="0" err="1">
                          <a:solidFill>
                            <a:srgbClr val="333333"/>
                          </a:solidFill>
                          <a:latin typeface="メイリオ"/>
                          <a:ea typeface="メイリオ"/>
                          <a:cs typeface="メイリオ"/>
                        </a:rPr>
                        <a:t>受験本番に向け母数を増やす</a:t>
                      </a:r>
                      <a:endParaRPr sz="1400" b="0" dirty="0">
                        <a:solidFill>
                          <a:srgbClr val="333333"/>
                        </a:solidFill>
                        <a:latin typeface="メイリオ"/>
                        <a:ea typeface="メイリオ"/>
                        <a:cs typeface="メイリオ"/>
                      </a:endParaRPr>
                    </a:p>
                  </a:txBody>
                  <a:tcPr>
                    <a:solidFill>
                      <a:srgbClr val="FFFFFF"/>
                    </a:solidFill>
                  </a:tcPr>
                </a:tc>
                <a:extLst>
                  <a:ext uri="{0D108BD9-81ED-4DB2-BD59-A6C34878D82A}">
                    <a16:rowId xmlns:a16="http://schemas.microsoft.com/office/drawing/2014/main" val="10006"/>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メイリオ"/>
                <a:ea typeface="メイリオ"/>
                <a:cs typeface="メイリオ"/>
              </a:rPr>
              <a:t>出典：GoogleトレンドKW「受験」／競合調査（理英会／どんちゃか）</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その他（コンサルに含む）</a:t>
            </a:r>
            <a:endParaRPr sz="1600" b="1" dirty="0">
              <a:solidFill>
                <a:srgbClr val="002060"/>
              </a:solidFill>
              <a:latin typeface="メイリオ"/>
              <a:ea typeface="メイリオ"/>
              <a:cs typeface="メイリオ"/>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marL="0" marR="0" lvl="0" indent="0" algn="l" defTabSz="914400" rtl="0" eaLnBrk="1" fontAlgn="auto" latinLnBrk="0" hangingPunct="1">
              <a:lnSpc>
                <a:spcPct val="100000"/>
              </a:lnSpc>
              <a:spcBef>
                <a:spcPts val="0"/>
              </a:spcBef>
              <a:spcAft>
                <a:spcPts val="0"/>
              </a:spcAft>
              <a:buClrTx/>
              <a:buSzTx/>
              <a:buFontTx/>
              <a:buNone/>
              <a:tabLst/>
              <a:defRPr>
                <a:latin typeface="メイリオ"/>
                <a:ea typeface="メイリオ"/>
                <a:cs typeface="メイリオ"/>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cs typeface="メイリオ"/>
              </a:rPr>
              <a:t>ユーザー対応の質を高める</a:t>
            </a:r>
            <a:r>
              <a:rPr kumimoji="1" lang="en-US" altLang="zh-CN"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cs typeface="メイリオ"/>
              </a:rPr>
              <a:t>3</a:t>
            </a: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cs typeface="メイリオ"/>
              </a:rPr>
              <a:t>つの施策カテゴリ（診断コンテンツ・複数サービスを前提に整理）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cs typeface="メイリオ"/>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marL="0" marR="0" lvl="0" indent="0" algn="ctr" defTabSz="914400" rtl="0" eaLnBrk="1" fontAlgn="auto" latinLnBrk="0" hangingPunct="1">
              <a:lnSpc>
                <a:spcPct val="100000"/>
              </a:lnSpc>
              <a:spcBef>
                <a:spcPts val="0"/>
              </a:spcBef>
              <a:spcAft>
                <a:spcPts val="0"/>
              </a:spcAft>
              <a:buClrTx/>
              <a:buSzTx/>
              <a:buFontTx/>
              <a:buNone/>
              <a:tabLst/>
              <a:defRPr>
                <a:latin typeface="メイリオ"/>
                <a:ea typeface="メイリオ"/>
                <a:cs typeface="メイリオ"/>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rPr>
              <a:t>QA</a:t>
            </a: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latin typeface="メイリオ"/>
                <a:ea typeface="メイリオ"/>
                <a:cs typeface="メイリオ"/>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cs typeface="メイリオ"/>
              </a:rPr>
              <a:t>・よくある質問（月謝・送迎・振替など）にLINEで自動回答</a:t>
            </a:r>
          </a:p>
          <a:p>
            <a:pPr marL="0" marR="0" lvl="0" indent="0" algn="l" defTabSz="914400" rtl="0" eaLnBrk="1" fontAlgn="auto" latinLnBrk="0" hangingPunct="1">
              <a:lnSpc>
                <a:spcPct val="100000"/>
              </a:lnSpc>
              <a:spcBef>
                <a:spcPts val="0"/>
              </a:spcBef>
              <a:spcAft>
                <a:spcPts val="1000"/>
              </a:spcAft>
              <a:buClrTx/>
              <a:buSzTx/>
              <a:buFontTx/>
              <a:buNone/>
              <a:tabLst/>
              <a:defRPr>
                <a:latin typeface="メイリオ"/>
                <a:ea typeface="メイリオ"/>
                <a:cs typeface="メイリオ"/>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cs typeface="メイリオ"/>
              </a:rPr>
              <a:t>・営業時間外の疑問も解消し、体験予約前の離脱を防ぐ</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marL="0" marR="0" lvl="0" indent="0" algn="ctr" defTabSz="914400" rtl="0" eaLnBrk="1" fontAlgn="auto" latinLnBrk="0" hangingPunct="1">
              <a:lnSpc>
                <a:spcPct val="100000"/>
              </a:lnSpc>
              <a:spcBef>
                <a:spcPts val="0"/>
              </a:spcBef>
              <a:spcAft>
                <a:spcPts val="0"/>
              </a:spcAft>
              <a:buClrTx/>
              <a:buSzTx/>
              <a:buFontTx/>
              <a:buNone/>
              <a:tabLst/>
              <a:defRPr>
                <a:latin typeface="メイリオ"/>
                <a:ea typeface="メイリオ"/>
                <a:cs typeface="メイリオ"/>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latin typeface="メイリオ"/>
                <a:ea typeface="メイリオ"/>
                <a:cs typeface="メイリオ"/>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cs typeface="メイリオ"/>
              </a:rPr>
              <a:t>・入会手続きなど個別のご相談は有人チャットで対応</a:t>
            </a:r>
          </a:p>
          <a:p>
            <a:pPr marL="0" marR="0" lvl="0" indent="0" algn="l" defTabSz="914400" rtl="0" eaLnBrk="1" fontAlgn="auto" latinLnBrk="0" hangingPunct="1">
              <a:lnSpc>
                <a:spcPct val="100000"/>
              </a:lnSpc>
              <a:spcBef>
                <a:spcPts val="0"/>
              </a:spcBef>
              <a:spcAft>
                <a:spcPts val="1000"/>
              </a:spcAft>
              <a:buClrTx/>
              <a:buSzTx/>
              <a:buFontTx/>
              <a:buNone/>
              <a:tabLst/>
              <a:defRPr>
                <a:latin typeface="メイリオ"/>
                <a:ea typeface="メイリオ"/>
                <a:cs typeface="メイリオ"/>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cs typeface="メイリオ"/>
              </a:rPr>
              <a:t>・タグ管理で、入会検討中の方のお問い合わせを優先</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marL="0" marR="0" lvl="0" indent="0" algn="ctr" defTabSz="914400" rtl="0" eaLnBrk="1" fontAlgn="auto" latinLnBrk="0" hangingPunct="1">
              <a:lnSpc>
                <a:spcPct val="100000"/>
              </a:lnSpc>
              <a:spcBef>
                <a:spcPts val="0"/>
              </a:spcBef>
              <a:spcAft>
                <a:spcPts val="0"/>
              </a:spcAft>
              <a:buClrTx/>
              <a:buSzTx/>
              <a:buFontTx/>
              <a:buNone/>
              <a:tabLst/>
              <a:defRPr>
                <a:latin typeface="メイリオ"/>
                <a:ea typeface="メイリオ"/>
                <a:cs typeface="メイリオ"/>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latin typeface="メイリオ"/>
                <a:ea typeface="メイリオ"/>
                <a:cs typeface="メイリオ"/>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cs typeface="メイリオ"/>
              </a:rPr>
              <a:t>・保護者アンケートをLINEリサーチ機能で実施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cs typeface="メイリオ"/>
            </a:endParaRPr>
          </a:p>
          <a:p>
            <a:pPr marL="0" marR="0" lvl="0" indent="0" algn="l" defTabSz="914400" rtl="0" eaLnBrk="1" fontAlgn="auto" latinLnBrk="0" hangingPunct="1">
              <a:lnSpc>
                <a:spcPct val="100000"/>
              </a:lnSpc>
              <a:spcBef>
                <a:spcPts val="0"/>
              </a:spcBef>
              <a:spcAft>
                <a:spcPts val="1000"/>
              </a:spcAft>
              <a:buClrTx/>
              <a:buSzTx/>
              <a:buFontTx/>
              <a:buNone/>
              <a:tabLst/>
              <a:defRPr>
                <a:latin typeface="メイリオ"/>
                <a:ea typeface="メイリオ"/>
                <a:cs typeface="メイリオ"/>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cs typeface="メイリオ"/>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その他（コンサルに含む）　　</a:t>
            </a:r>
            <a:r>
              <a:rPr lang="en-US" altLang="ja-JP" sz="1600" b="1" dirty="0">
                <a:solidFill>
                  <a:srgbClr val="002060"/>
                </a:solidFill>
                <a:latin typeface="メイリオ"/>
                <a:ea typeface="メイリオ"/>
                <a:cs typeface="メイリオ"/>
                <a:sym typeface="Meiryo"/>
              </a:rPr>
              <a:t>※</a:t>
            </a:r>
            <a:r>
              <a:rPr lang="ja-JP" altLang="en-US" sz="1600" b="1" dirty="0">
                <a:solidFill>
                  <a:srgbClr val="002060"/>
                </a:solidFill>
                <a:latin typeface="メイリオ"/>
                <a:ea typeface="メイリオ"/>
                <a:cs typeface="メイリオ"/>
                <a:sym typeface="Meiryo"/>
              </a:rPr>
              <a:t>工数削減施策</a:t>
            </a:r>
            <a:endParaRPr sz="1600" b="1" dirty="0">
              <a:solidFill>
                <a:srgbClr val="002060"/>
              </a:solidFill>
              <a:latin typeface="メイリオ"/>
              <a:ea typeface="メイリオ"/>
              <a:cs typeface="メイリオ"/>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cs typeface="メイリオ"/>
              </a:rPr>
              <a:t>自動応答</a:t>
            </a:r>
            <a:endParaRPr lang="en-US" sz="1400" b="0" strike="noStrike" spc="-1">
              <a:solidFill>
                <a:srgbClr val="FFFFFF"/>
              </a:solidFill>
              <a:latin typeface="メイリオ" panose="020B0604030504040204" pitchFamily="50" charset="-128"/>
              <a:ea typeface="メイリオ" panose="020B0604030504040204" pitchFamily="50" charset="-128"/>
              <a:cs typeface="メイリオ"/>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cs typeface="メイリオ"/>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cs typeface="メイリオ"/>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cs typeface="メイリオ"/>
              </a:rPr>
              <a:t>・複数エリア（17アカウント）共通のFAQ対応を効率化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cs typeface="メイリオ"/>
              </a:rPr>
              <a:t>その他</a:t>
            </a:r>
            <a:endParaRPr lang="en-US" sz="1400" b="0" strike="noStrike" spc="-1">
              <a:solidFill>
                <a:srgbClr val="FFFFFF"/>
              </a:solidFill>
              <a:latin typeface="メイリオ" panose="020B0604030504040204" pitchFamily="50" charset="-128"/>
              <a:ea typeface="メイリオ" panose="020B0604030504040204" pitchFamily="50" charset="-128"/>
              <a:cs typeface="メイリオ"/>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cs typeface="メイリオ"/>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cs typeface="メイリオ"/>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cs typeface="メイリオ"/>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893779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想定動線（新規友だち獲得）</a:t>
            </a: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000">
              <a:latin typeface="メイリオ" panose="020B0604030504040204" pitchFamily="50" charset="-128"/>
              <a:ea typeface="メイリオ" panose="020B0604030504040204" pitchFamily="50" charset="-128"/>
              <a:cs typeface="メイリオ"/>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&gt;</a:t>
            </a:r>
            <a:endParaRPr lang="ja-JP" altLang="en-US" sz="1400" dirty="0">
              <a:solidFill>
                <a:schemeClr val="tx1">
                  <a:lumMod val="50000"/>
                  <a:lumOff val="50000"/>
                </a:schemeClr>
              </a:solidFill>
              <a:latin typeface="メイリオ"/>
              <a:ea typeface="メイリオ"/>
              <a:cs typeface="メイリオ"/>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&gt;</a:t>
            </a:r>
            <a:endParaRPr lang="ja-JP" altLang="en-US" sz="1400" dirty="0">
              <a:solidFill>
                <a:schemeClr val="tx1">
                  <a:lumMod val="50000"/>
                  <a:lumOff val="50000"/>
                </a:schemeClr>
              </a:solidFill>
              <a:latin typeface="メイリオ"/>
              <a:ea typeface="メイリオ"/>
              <a:cs typeface="メイリオ"/>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HP</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LP</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各種</a:t>
            </a: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SNS</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LINE_CPF</a:t>
            </a: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cs typeface="メイリオ"/>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cs typeface="メイリオ"/>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cs typeface="メイリオ"/>
              </a:rPr>
              <a:t>(</a:t>
            </a:r>
            <a:r>
              <a:rPr lang="ja-JP" altLang="en-US" sz="1000" b="1" dirty="0">
                <a:solidFill>
                  <a:schemeClr val="bg1"/>
                </a:solidFill>
                <a:latin typeface="メイリオ" panose="020B0604030504040204" pitchFamily="50" charset="-128"/>
                <a:ea typeface="メイリオ" panose="020B0604030504040204" pitchFamily="50" charset="-128"/>
                <a:cs typeface="メイリオ"/>
              </a:rPr>
              <a:t>離脱防止バナー</a:t>
            </a:r>
            <a:r>
              <a:rPr lang="en-US" altLang="ja-JP" sz="1000" b="1" dirty="0">
                <a:solidFill>
                  <a:schemeClr val="bg1"/>
                </a:solidFill>
                <a:latin typeface="メイリオ" panose="020B0604030504040204" pitchFamily="50" charset="-128"/>
                <a:ea typeface="メイリオ" panose="020B0604030504040204" pitchFamily="50" charset="-128"/>
                <a:cs typeface="メイリオ"/>
              </a:rPr>
              <a:t>)</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GA</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Call Plus</a:t>
            </a:r>
            <a:endParaRPr kumimoji="1" lang="ja-JP" altLang="en-US"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Chat Plus</a:t>
            </a:r>
            <a:endParaRPr kumimoji="1" lang="ja-JP" altLang="en-US"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en-US" altLang="ja-JP" sz="1000" dirty="0" err="1">
                <a:solidFill>
                  <a:schemeClr val="bg1"/>
                </a:solidFill>
                <a:latin typeface="メイリオ" panose="020B0604030504040204" pitchFamily="50" charset="-128"/>
                <a:ea typeface="メイリオ" panose="020B0604030504040204" pitchFamily="50" charset="-128"/>
                <a:cs typeface="メイリオ"/>
              </a:rPr>
              <a:t>OptionAPI</a:t>
            </a: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endParaRPr kumimoji="1" lang="ja-JP" altLang="en-US"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cs typeface="メイリオ"/>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ログイン </a:t>
            </a:r>
            <a:r>
              <a:rPr lang="en-US" altLang="ja-JP" sz="600" dirty="0">
                <a:solidFill>
                  <a:srgbClr val="FF0000"/>
                </a:solidFill>
                <a:latin typeface="メイリオ" panose="020B0604030504040204" pitchFamily="50" charset="-128"/>
                <a:ea typeface="メイリオ" panose="020B0604030504040204" pitchFamily="50" charset="-128"/>
                <a:cs typeface="メイリオ"/>
              </a:rPr>
              <a:t>※</a:t>
            </a:r>
            <a:r>
              <a:rPr lang="ja-JP" altLang="en-US" sz="600" dirty="0">
                <a:solidFill>
                  <a:srgbClr val="FF0000"/>
                </a:solidFill>
                <a:latin typeface="メイリオ" panose="020B0604030504040204" pitchFamily="50" charset="-128"/>
                <a:ea typeface="メイリオ" panose="020B0604030504040204" pitchFamily="50" charset="-128"/>
                <a:cs typeface="メイリオ"/>
              </a:rPr>
              <a:t>別途費用</a:t>
            </a:r>
            <a:endParaRPr lang="en-US" altLang="ja-JP" sz="7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連携 </a:t>
            </a:r>
            <a:r>
              <a:rPr lang="en-US" altLang="ja-JP" sz="700" dirty="0">
                <a:solidFill>
                  <a:srgbClr val="FF0000"/>
                </a:solidFill>
                <a:latin typeface="メイリオ" panose="020B0604030504040204" pitchFamily="50" charset="-128"/>
                <a:ea typeface="メイリオ" panose="020B0604030504040204" pitchFamily="50" charset="-128"/>
                <a:cs typeface="メイリオ"/>
              </a:rPr>
              <a:t>※</a:t>
            </a:r>
            <a:r>
              <a:rPr lang="ja-JP" altLang="en-US" sz="700" dirty="0">
                <a:solidFill>
                  <a:srgbClr val="FF0000"/>
                </a:solidFill>
                <a:latin typeface="メイリオ" panose="020B0604030504040204" pitchFamily="50" charset="-128"/>
                <a:ea typeface="メイリオ" panose="020B0604030504040204" pitchFamily="50" charset="-128"/>
                <a:cs typeface="メイリオ"/>
              </a:rPr>
              <a:t>別途費用</a:t>
            </a:r>
            <a:endParaRPr lang="en-US" altLang="ja-JP" sz="7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cs typeface="メイリオ"/>
              </a:rPr>
              <a:t>QA</a:t>
            </a:r>
            <a:r>
              <a:rPr lang="ja-JP" altLang="en-US" sz="1000" b="1">
                <a:solidFill>
                  <a:schemeClr val="bg1"/>
                </a:solidFill>
                <a:latin typeface="メイリオ" panose="020B0604030504040204" pitchFamily="50" charset="-128"/>
                <a:ea typeface="メイリオ" panose="020B0604030504040204" pitchFamily="50" charset="-128"/>
                <a:cs typeface="メイリオ"/>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1to1</a:t>
            </a: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cs typeface="メイリオ"/>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rgbClr val="D9D9D9"/>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cs typeface="メイリオ"/>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LINE</a:t>
            </a: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実反響</a:t>
            </a:r>
            <a:r>
              <a:rPr lang="en-US" altLang="ja-JP" sz="1000" b="1" dirty="0">
                <a:solidFill>
                  <a:schemeClr val="bg1"/>
                </a:solidFill>
                <a:latin typeface="メイリオ" panose="020B0604030504040204" pitchFamily="50" charset="-128"/>
                <a:ea typeface="メイリオ" panose="020B0604030504040204" pitchFamily="50" charset="-128"/>
                <a:cs typeface="メイリオ"/>
              </a:rPr>
              <a:t>(</a:t>
            </a:r>
            <a:r>
              <a:rPr lang="ja-JP" altLang="en-US" sz="1000" b="1" dirty="0">
                <a:solidFill>
                  <a:schemeClr val="bg1"/>
                </a:solidFill>
                <a:latin typeface="メイリオ" panose="020B0604030504040204" pitchFamily="50" charset="-128"/>
                <a:ea typeface="メイリオ" panose="020B0604030504040204" pitchFamily="50" charset="-128"/>
                <a:cs typeface="メイリオ"/>
              </a:rPr>
              <a:t>購入</a:t>
            </a:r>
            <a:r>
              <a:rPr lang="en-US" altLang="ja-JP" sz="1000" b="1" dirty="0">
                <a:solidFill>
                  <a:schemeClr val="bg1"/>
                </a:solidFill>
                <a:latin typeface="メイリオ" panose="020B0604030504040204" pitchFamily="50" charset="-128"/>
                <a:ea typeface="メイリオ" panose="020B0604030504040204" pitchFamily="50" charset="-128"/>
                <a:cs typeface="メイリオ"/>
              </a:rPr>
              <a:t>)</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クー</a:t>
            </a:r>
            <a:r>
              <a:rPr lang="ja-JP" altLang="en-US" sz="1000" b="1" dirty="0">
                <a:solidFill>
                  <a:schemeClr val="bg1"/>
                </a:solidFill>
                <a:latin typeface="メイリオ" panose="020B0604030504040204" pitchFamily="50" charset="-128"/>
                <a:ea typeface="メイリオ" panose="020B0604030504040204" pitchFamily="50" charset="-128"/>
                <a:cs typeface="メイリオ"/>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cs typeface="メイリオ"/>
              </a:rPr>
              <a:t>1to1</a:t>
            </a:r>
            <a:r>
              <a:rPr kumimoji="1" lang="ja-JP" altLang="en-US" sz="1000" b="1" dirty="0">
                <a:solidFill>
                  <a:schemeClr val="bg1"/>
                </a:solidFill>
                <a:latin typeface="メイリオ" panose="020B0604030504040204" pitchFamily="50" charset="-128"/>
                <a:ea typeface="メイリオ" panose="020B0604030504040204" pitchFamily="50" charset="-128"/>
                <a:cs typeface="メイリオ"/>
              </a:rPr>
              <a:t>チャット機能</a:t>
            </a:r>
          </a:p>
        </p:txBody>
      </p: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cs typeface="メイリオ"/>
              </a:rPr>
              <a:t>自動化</a:t>
            </a:r>
            <a:r>
              <a:rPr lang="en-US" altLang="ja-JP" sz="1000" b="1" dirty="0">
                <a:solidFill>
                  <a:srgbClr val="00B050"/>
                </a:solidFill>
                <a:latin typeface="メイリオ" panose="020B0604030504040204" pitchFamily="50" charset="-128"/>
                <a:ea typeface="メイリオ" panose="020B0604030504040204" pitchFamily="50" charset="-128"/>
                <a:cs typeface="メイリオ"/>
              </a:rPr>
              <a:t>(</a:t>
            </a:r>
            <a:r>
              <a:rPr lang="ja-JP" altLang="en-US" sz="1000" b="1" dirty="0">
                <a:solidFill>
                  <a:srgbClr val="00B050"/>
                </a:solidFill>
                <a:latin typeface="メイリオ" panose="020B0604030504040204" pitchFamily="50" charset="-128"/>
                <a:ea typeface="メイリオ" panose="020B0604030504040204" pitchFamily="50" charset="-128"/>
                <a:cs typeface="メイリオ"/>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cs typeface="メイリオ"/>
              </a:rPr>
              <a:t>)</a:t>
            </a:r>
            <a:r>
              <a:rPr lang="ja-JP" altLang="en-US" sz="1000" b="1" dirty="0">
                <a:solidFill>
                  <a:srgbClr val="00B050"/>
                </a:solidFill>
                <a:latin typeface="メイリオ" panose="020B0604030504040204" pitchFamily="50" charset="-128"/>
                <a:ea typeface="メイリオ" panose="020B0604030504040204" pitchFamily="50" charset="-128"/>
                <a:cs typeface="メイリオ"/>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このパートでは、友だち追加までの動線（離脱防止バナー・サンクスLINE誘導など）をご説明。</a:t>
            </a:r>
          </a:p>
          <a:p>
            <a:pPr algn="ct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（薄く表示している部分は、既存の効率化のパートでご説明）</a:t>
            </a:r>
          </a:p>
        </p:txBody>
      </p:sp>
      <p:sp>
        <p:nvSpPr>
          <p:cNvPr id="71" name="Rectangle 70"/>
          <p:cNvSpPr/>
          <p:nvPr/>
        </p:nvSpPr>
        <p:spPr>
          <a:xfrm>
            <a:off x="5238000" y="1530000"/>
            <a:ext cx="4428000" cy="2520000"/>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メイリオ"/>
              <a:ea typeface="メイリオ"/>
              <a:cs typeface="メイリオ"/>
            </a:endParaRPr>
          </a:p>
        </p:txBody>
      </p:sp>
      <p:sp>
        <p:nvSpPr>
          <p:cNvPr id="72" name="Rectangle 71"/>
          <p:cNvSpPr/>
          <p:nvPr/>
        </p:nvSpPr>
        <p:spPr>
          <a:xfrm>
            <a:off x="3726000" y="2718000"/>
            <a:ext cx="1494000" cy="1332000"/>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メイリオ"/>
              <a:ea typeface="メイリオ"/>
              <a:cs typeface="メイリオ"/>
            </a:endParaRPr>
          </a:p>
        </p:txBody>
      </p:sp>
      <p:sp>
        <p:nvSpPr>
          <p:cNvPr id="73" name="Rectangle 72"/>
          <p:cNvSpPr/>
          <p:nvPr/>
        </p:nvSpPr>
        <p:spPr>
          <a:xfrm>
            <a:off x="3581999" y="4446000"/>
            <a:ext cx="6083999" cy="2015999"/>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メイリオ"/>
              <a:ea typeface="メイリオ"/>
              <a:cs typeface="メイリオ"/>
            </a:endParaRPr>
          </a:p>
        </p:txBody>
      </p:sp>
      <p:sp>
        <p:nvSpPr>
          <p:cNvPr id="74" name="Rectangle 73"/>
          <p:cNvSpPr/>
          <p:nvPr/>
        </p:nvSpPr>
        <p:spPr>
          <a:xfrm>
            <a:off x="558000" y="4644000"/>
            <a:ext cx="1655999" cy="1152000"/>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メイリオ"/>
              <a:ea typeface="メイリオ"/>
              <a:cs typeface="メイリオ"/>
            </a:endParaRP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cs typeface="メイリオ"/>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cs typeface="メイリオ"/>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cs typeface="メイリオ"/>
              </a:rPr>
              <a:t>料金プラン診断コンテンツ</a:t>
            </a:r>
            <a:endParaRPr lang="en-US" sz="1200" b="0" strike="noStrike" spc="-1">
              <a:solidFill>
                <a:srgbClr val="000000"/>
              </a:solidFill>
              <a:latin typeface="メイリオ" panose="020B0604030504040204" pitchFamily="50" charset="-128"/>
              <a:ea typeface="メイリオ" panose="020B0604030504040204" pitchFamily="50" charset="-128"/>
              <a:cs typeface="メイリオ"/>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endParaRPr lang="en-US" sz="2400" b="0" strike="noStrike" spc="-1">
              <a:solidFill>
                <a:schemeClr val="lt1"/>
              </a:solidFill>
              <a:latin typeface="メイリオ" panose="020B0604030504040204" pitchFamily="50" charset="-128"/>
              <a:ea typeface="メイリオ" panose="020B0604030504040204" pitchFamily="50" charset="-128"/>
              <a:cs typeface="メイリオ"/>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cs typeface="メイリオ"/>
              </a:rPr>
              <a:t>診断結果をLINEで送付</a:t>
            </a:r>
            <a:endParaRPr lang="en-US" sz="1200" b="0" strike="noStrike" spc="-1">
              <a:solidFill>
                <a:srgbClr val="000000"/>
              </a:solidFill>
              <a:latin typeface="メイリオ" panose="020B0604030504040204" pitchFamily="50" charset="-128"/>
              <a:ea typeface="メイリオ" panose="020B0604030504040204" pitchFamily="50" charset="-128"/>
              <a:cs typeface="メイリオ"/>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endParaRPr lang="en-US" sz="2400" b="0" strike="noStrike" spc="-1">
              <a:solidFill>
                <a:schemeClr val="lt1"/>
              </a:solidFill>
              <a:latin typeface="メイリオ" panose="020B0604030504040204" pitchFamily="50" charset="-128"/>
              <a:ea typeface="メイリオ" panose="020B0604030504040204" pitchFamily="50" charset="-128"/>
              <a:cs typeface="メイリオ"/>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cs typeface="メイリオ"/>
              </a:rPr>
              <a:t>LINE</a:t>
            </a:r>
            <a:r>
              <a:rPr lang="zh-CN" sz="1200" b="1" strike="noStrike" spc="-1">
                <a:solidFill>
                  <a:srgbClr val="FFFFFF"/>
                </a:solidFill>
                <a:latin typeface="メイリオ" panose="020B0604030504040204" pitchFamily="50" charset="-128"/>
                <a:ea typeface="メイリオ" panose="020B0604030504040204" pitchFamily="50" charset="-128"/>
                <a:cs typeface="メイリオ"/>
              </a:rPr>
              <a:t>追加</a:t>
            </a:r>
            <a:endParaRPr lang="en-US" sz="1200" b="0" strike="noStrike" spc="-1">
              <a:solidFill>
                <a:srgbClr val="FFFFFF"/>
              </a:solidFill>
              <a:latin typeface="メイリオ" panose="020B0604030504040204" pitchFamily="50" charset="-128"/>
              <a:ea typeface="メイリオ" panose="020B0604030504040204" pitchFamily="50" charset="-128"/>
              <a:cs typeface="メイリオ"/>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cs typeface="メイリオ"/>
              </a:rPr>
              <a:t>会員・保護者向けマイページ登録案内</a:t>
            </a:r>
            <a:endParaRPr lang="en-US" sz="1200" b="0" strike="noStrike" spc="-1">
              <a:solidFill>
                <a:srgbClr val="000000"/>
              </a:solidFill>
              <a:latin typeface="メイリオ" panose="020B0604030504040204" pitchFamily="50" charset="-128"/>
              <a:ea typeface="メイリオ" panose="020B0604030504040204" pitchFamily="50" charset="-128"/>
              <a:cs typeface="メイリオ"/>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endParaRPr lang="en-US" sz="2400" b="0" strike="noStrike" spc="-1">
              <a:solidFill>
                <a:schemeClr val="lt1"/>
              </a:solidFill>
              <a:latin typeface="メイリオ" panose="020B0604030504040204" pitchFamily="50" charset="-128"/>
              <a:ea typeface="メイリオ" panose="020B0604030504040204" pitchFamily="50" charset="-128"/>
              <a:cs typeface="メイリオ"/>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cs typeface="メイリオ"/>
              </a:rPr>
              <a:t>料金確定通知もLINEで受け取れる</a:t>
            </a:r>
            <a:endParaRPr lang="en-US" sz="1200" b="0" strike="noStrike" spc="-1">
              <a:solidFill>
                <a:srgbClr val="000000"/>
              </a:solidFill>
              <a:latin typeface="メイリオ" panose="020B0604030504040204" pitchFamily="50" charset="-128"/>
              <a:ea typeface="メイリオ" panose="020B0604030504040204" pitchFamily="50" charset="-128"/>
              <a:cs typeface="メイリオ"/>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endParaRPr lang="en-US" sz="2400" b="0" strike="noStrike" spc="-1">
              <a:solidFill>
                <a:schemeClr val="lt1"/>
              </a:solidFill>
              <a:latin typeface="メイリオ" panose="020B0604030504040204" pitchFamily="50" charset="-128"/>
              <a:ea typeface="メイリオ" panose="020B0604030504040204" pitchFamily="50" charset="-128"/>
              <a:cs typeface="メイリオ"/>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cs typeface="メイリオ"/>
              </a:rPr>
              <a:t>LINE</a:t>
            </a:r>
            <a:r>
              <a:rPr lang="zh-CN" sz="1200" b="1" strike="noStrike" spc="-1">
                <a:solidFill>
                  <a:srgbClr val="FFFFFF"/>
                </a:solidFill>
                <a:latin typeface="メイリオ" panose="020B0604030504040204" pitchFamily="50" charset="-128"/>
                <a:ea typeface="メイリオ" panose="020B0604030504040204" pitchFamily="50" charset="-128"/>
                <a:cs typeface="メイリオ"/>
              </a:rPr>
              <a:t>追加</a:t>
            </a:r>
            <a:endParaRPr lang="en-US" sz="1200" b="0" strike="noStrike" spc="-1">
              <a:solidFill>
                <a:srgbClr val="FFFFFF"/>
              </a:solidFill>
              <a:latin typeface="メイリオ" panose="020B0604030504040204" pitchFamily="50" charset="-128"/>
              <a:ea typeface="メイリオ" panose="020B0604030504040204" pitchFamily="50" charset="-128"/>
              <a:cs typeface="メイリオ"/>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r>
              <a:rPr lang="en-US" sz="1200" b="0" strike="noStrike" spc="-1" dirty="0" err="1">
                <a:solidFill>
                  <a:srgbClr val="333333"/>
                </a:solidFill>
                <a:latin typeface="メイリオ" panose="020B0604030504040204" pitchFamily="50" charset="-128"/>
                <a:ea typeface="メイリオ" panose="020B0604030504040204" pitchFamily="50" charset="-128"/>
                <a:cs typeface="メイリオ"/>
              </a:rPr>
              <a:t>地域別・体験レッスン</a:t>
            </a:r>
            <a:r>
              <a:rPr lang="ja-JP" altLang="en-US" sz="1200" b="0" strike="noStrike" spc="-1" dirty="0">
                <a:solidFill>
                  <a:srgbClr val="333333"/>
                </a:solidFill>
                <a:latin typeface="メイリオ" panose="020B0604030504040204" pitchFamily="50" charset="-128"/>
                <a:ea typeface="メイリオ" panose="020B0604030504040204" pitchFamily="50" charset="-128"/>
                <a:cs typeface="メイリオ"/>
              </a:rPr>
              <a:t>の</a:t>
            </a:r>
            <a:endParaRPr lang="en-US" altLang="ja-JP" sz="1200" b="0" strike="noStrike" spc="-1" dirty="0">
              <a:solidFill>
                <a:srgbClr val="333333"/>
              </a:solidFill>
              <a:latin typeface="メイリオ" panose="020B0604030504040204" pitchFamily="50" charset="-128"/>
              <a:ea typeface="メイリオ" panose="020B0604030504040204" pitchFamily="50" charset="-128"/>
              <a:cs typeface="メイリオ"/>
            </a:endParaRPr>
          </a:p>
          <a:p>
            <a:pPr algn="ctr">
              <a:lnSpc>
                <a:spcPct val="100000"/>
              </a:lnSpc>
            </a:pPr>
            <a:r>
              <a:rPr lang="en-US" sz="1200" b="0" strike="noStrike" spc="-1" dirty="0" err="1">
                <a:solidFill>
                  <a:srgbClr val="333333"/>
                </a:solidFill>
                <a:latin typeface="メイリオ" panose="020B0604030504040204" pitchFamily="50" charset="-128"/>
                <a:ea typeface="メイリオ" panose="020B0604030504040204" pitchFamily="50" charset="-128"/>
                <a:cs typeface="メイリオ"/>
              </a:rPr>
              <a:t>WEB申込キャンペーン</a:t>
            </a:r>
            <a:endParaRPr lang="en-US" sz="1200" b="0" strike="noStrike" spc="-1" dirty="0">
              <a:solidFill>
                <a:srgbClr val="000000"/>
              </a:solidFill>
              <a:latin typeface="メイリオ" panose="020B0604030504040204" pitchFamily="50" charset="-128"/>
              <a:ea typeface="メイリオ" panose="020B0604030504040204" pitchFamily="50" charset="-128"/>
              <a:cs typeface="メイリオ"/>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endParaRPr lang="en-US" sz="2400" b="0" strike="noStrike" spc="-1">
              <a:solidFill>
                <a:schemeClr val="lt1"/>
              </a:solidFill>
              <a:latin typeface="メイリオ" panose="020B0604030504040204" pitchFamily="50" charset="-128"/>
              <a:ea typeface="メイリオ" panose="020B0604030504040204" pitchFamily="50" charset="-128"/>
              <a:cs typeface="メイリオ"/>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cs typeface="メイリオ"/>
              </a:rPr>
              <a:t>申込完了特典をLINEでお届け</a:t>
            </a:r>
            <a:endParaRPr lang="en-US" sz="1200" b="0" strike="noStrike" spc="-1">
              <a:solidFill>
                <a:srgbClr val="000000"/>
              </a:solidFill>
              <a:latin typeface="メイリオ" panose="020B0604030504040204" pitchFamily="50" charset="-128"/>
              <a:ea typeface="メイリオ" panose="020B0604030504040204" pitchFamily="50" charset="-128"/>
              <a:cs typeface="メイリオ"/>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endParaRPr lang="en-US" sz="2400" b="0" strike="noStrike" spc="-1">
              <a:solidFill>
                <a:schemeClr val="lt1"/>
              </a:solidFill>
              <a:latin typeface="メイリオ" panose="020B0604030504040204" pitchFamily="50" charset="-128"/>
              <a:ea typeface="メイリオ" panose="020B0604030504040204" pitchFamily="50" charset="-128"/>
              <a:cs typeface="メイリオ"/>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cs typeface="メイリオ"/>
              </a:rPr>
              <a:t>LINE</a:t>
            </a:r>
            <a:r>
              <a:rPr lang="zh-CN" sz="1200" b="1" strike="noStrike" spc="-1">
                <a:solidFill>
                  <a:srgbClr val="FFFFFF"/>
                </a:solidFill>
                <a:latin typeface="メイリオ" panose="020B0604030504040204" pitchFamily="50" charset="-128"/>
                <a:ea typeface="メイリオ" panose="020B0604030504040204" pitchFamily="50" charset="-128"/>
                <a:cs typeface="メイリオ"/>
              </a:rPr>
              <a:t>追加</a:t>
            </a:r>
            <a:endParaRPr lang="en-US" sz="1200" b="0" strike="noStrike" spc="-1">
              <a:solidFill>
                <a:srgbClr val="FFFFFF"/>
              </a:solidFill>
              <a:latin typeface="メイリオ" panose="020B0604030504040204" pitchFamily="50" charset="-128"/>
              <a:ea typeface="メイリオ" panose="020B0604030504040204" pitchFamily="50" charset="-128"/>
              <a:cs typeface="メイリオ"/>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cs typeface="メイリオ"/>
              </a:rPr>
              <a:t>※「料金プラン診断」はサイト上に簡易診断フォームを設置し、結果をLINEで送付する動線を想定（要開発）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7346628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離脱防止バナー</a:t>
            </a:r>
            <a:endParaRPr lang="en-US" altLang="ja-JP" sz="2000" b="1" dirty="0">
              <a:solidFill>
                <a:srgbClr val="002060"/>
              </a:solidFill>
              <a:latin typeface="メイリオ"/>
              <a:ea typeface="メイリオ"/>
              <a:cs typeface="メイリオ"/>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2000" b="1" dirty="0">
              <a:solidFill>
                <a:srgbClr val="002060"/>
              </a:solidFill>
              <a:latin typeface="メイリオ"/>
              <a:ea typeface="メイリオ"/>
              <a:cs typeface="メイリオ"/>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サンクス</a:t>
            </a: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誘導</a:t>
            </a:r>
            <a:endParaRPr lang="en-US" altLang="ja-JP" sz="2000" b="1" dirty="0">
              <a:solidFill>
                <a:srgbClr val="002060"/>
              </a:solidFill>
              <a:latin typeface="メイリオ"/>
              <a:ea typeface="メイリオ"/>
              <a:cs typeface="メイリオ"/>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事例：車買取</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興味はあるが利用まで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至らなかったユーザーを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友だちとして囲い込む。</a:t>
            </a:r>
            <a:endParaRPr lang="en-US" altLang="ja-JP" sz="1400" dirty="0">
              <a:latin typeface="メイリオ"/>
              <a:ea typeface="メイリオ"/>
              <a:cs typeface="メイリオ"/>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メイリオ"/>
                <a:ea typeface="メイリオ"/>
                <a:cs typeface="メイリオ"/>
                <a:sym typeface="Meiryo"/>
              </a:rPr>
              <a:t>CPF</a:t>
            </a:r>
            <a:r>
              <a:rPr lang="ja-JP" altLang="en-US" sz="1400" dirty="0">
                <a:latin typeface="メイリオ"/>
                <a:ea typeface="メイリオ"/>
                <a:cs typeface="メイリオ"/>
                <a:sym typeface="Meiryo"/>
              </a:rPr>
              <a:t>約</a:t>
            </a:r>
            <a:r>
              <a:rPr lang="en-US" altLang="ja-JP" sz="1400" dirty="0">
                <a:latin typeface="メイリオ"/>
                <a:ea typeface="メイリオ"/>
                <a:cs typeface="メイリオ"/>
                <a:sym typeface="Meiryo"/>
              </a:rPr>
              <a:t>100-200</a:t>
            </a:r>
            <a:r>
              <a:rPr lang="ja-JP" altLang="en-US" sz="1400" dirty="0">
                <a:latin typeface="メイリオ"/>
                <a:ea typeface="メイリオ"/>
                <a:cs typeface="メイリオ"/>
                <a:sym typeface="Meiryo"/>
              </a:rPr>
              <a:t>円台。</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かなり安価かつ成果報酬で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友だちを増やす広告。</a:t>
            </a:r>
            <a:endParaRPr lang="en-US" altLang="ja-JP" sz="1400" dirty="0">
              <a:latin typeface="メイリオ"/>
              <a:ea typeface="メイリオ"/>
              <a:cs typeface="メイリオ"/>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事例：アパレル</a:t>
            </a:r>
            <a:endParaRPr lang="en-US" altLang="ja-JP" sz="1400" dirty="0">
              <a:solidFill>
                <a:schemeClr val="tx1">
                  <a:lumMod val="50000"/>
                  <a:lumOff val="50000"/>
                </a:schemeClr>
              </a:solidFill>
              <a:latin typeface="メイリオ"/>
              <a:ea typeface="メイリオ"/>
              <a:cs typeface="メイリオ"/>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1</a:t>
            </a:r>
            <a:r>
              <a:rPr lang="ja-JP" altLang="en-US" sz="1200" dirty="0">
                <a:solidFill>
                  <a:schemeClr val="tx1">
                    <a:lumMod val="50000"/>
                    <a:lumOff val="50000"/>
                  </a:schemeClr>
                </a:solidFill>
                <a:latin typeface="メイリオ"/>
                <a:ea typeface="メイリオ"/>
                <a:cs typeface="メイリオ"/>
                <a:sym typeface="Meiryo"/>
              </a:rPr>
              <a:t>人あたり</a:t>
            </a:r>
            <a:r>
              <a:rPr lang="en-US" altLang="ja-JP" sz="1200" dirty="0">
                <a:solidFill>
                  <a:schemeClr val="tx1">
                    <a:lumMod val="50000"/>
                    <a:lumOff val="50000"/>
                  </a:schemeClr>
                </a:solidFill>
                <a:latin typeface="メイリオ"/>
                <a:ea typeface="メイリオ"/>
                <a:cs typeface="メイリオ"/>
                <a:sym typeface="Meiryo"/>
              </a:rPr>
              <a:t>50</a:t>
            </a:r>
            <a:r>
              <a:rPr lang="ja-JP" altLang="en-US" sz="1200" dirty="0">
                <a:solidFill>
                  <a:schemeClr val="tx1">
                    <a:lumMod val="50000"/>
                    <a:lumOff val="50000"/>
                  </a:schemeClr>
                </a:solidFill>
                <a:latin typeface="メイリオ"/>
                <a:ea typeface="メイリオ"/>
                <a:cs typeface="メイリオ"/>
                <a:sym typeface="Meiryo"/>
              </a:rPr>
              <a:t>円で友だち獲得</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経由の購入</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サンクスページに到達した</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ユーザーを自動で</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に誘導。</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友だち追加、追客に活用可能。</a:t>
            </a:r>
            <a:endParaRPr lang="en-US" altLang="ja-JP" sz="1400" dirty="0">
              <a:latin typeface="メイリオ"/>
              <a:ea typeface="メイリオ"/>
              <a:cs typeface="メイリオ"/>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事例：美容医療</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LP</a:t>
            </a:r>
            <a:r>
              <a:rPr lang="ja-JP" altLang="en-US" sz="1200" dirty="0">
                <a:solidFill>
                  <a:schemeClr val="tx1">
                    <a:lumMod val="50000"/>
                    <a:lumOff val="50000"/>
                  </a:schemeClr>
                </a:solidFill>
                <a:latin typeface="メイリオ"/>
                <a:ea typeface="メイリオ"/>
                <a:cs typeface="メイリオ"/>
                <a:sym typeface="Meiryo"/>
              </a:rPr>
              <a:t>離脱ユーザーに対して</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誘導を実施。</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追加から</a:t>
            </a:r>
            <a:r>
              <a:rPr lang="en-US" altLang="ja-JP" sz="1200" dirty="0">
                <a:solidFill>
                  <a:schemeClr val="tx1">
                    <a:lumMod val="50000"/>
                    <a:lumOff val="50000"/>
                  </a:schemeClr>
                </a:solidFill>
                <a:latin typeface="メイリオ"/>
                <a:ea typeface="メイリオ"/>
                <a:cs typeface="メイリオ"/>
                <a:sym typeface="Meiryo"/>
              </a:rPr>
              <a:t>20</a:t>
            </a:r>
            <a:r>
              <a:rPr lang="ja-JP" altLang="en-US" sz="1200" dirty="0">
                <a:solidFill>
                  <a:schemeClr val="tx1">
                    <a:lumMod val="50000"/>
                    <a:lumOff val="50000"/>
                  </a:schemeClr>
                </a:solidFill>
                <a:latin typeface="メイリオ"/>
                <a:ea typeface="メイリオ"/>
                <a:cs typeface="メイリオ"/>
                <a:sym typeface="Meiryo"/>
              </a:rPr>
              <a:t>％が</a:t>
            </a:r>
            <a:r>
              <a:rPr lang="en-US" altLang="ja-JP" sz="1200" dirty="0">
                <a:solidFill>
                  <a:schemeClr val="tx1">
                    <a:lumMod val="50000"/>
                    <a:lumOff val="50000"/>
                  </a:schemeClr>
                </a:solidFill>
                <a:latin typeface="メイリオ"/>
                <a:ea typeface="メイリオ"/>
                <a:cs typeface="メイリオ"/>
                <a:sym typeface="Meiryo"/>
              </a:rPr>
              <a:t>CV</a:t>
            </a:r>
          </a:p>
          <a:p>
            <a:pPr lvl="0">
              <a:buClr>
                <a:schemeClr val="dk1"/>
              </a:buClr>
              <a:buSzPts val="1500"/>
            </a:pP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導入後友だち増加数が</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倍に。</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実反響率も</a:t>
            </a:r>
            <a:r>
              <a:rPr lang="en-US" altLang="ja-JP" sz="1200" dirty="0">
                <a:solidFill>
                  <a:schemeClr val="tx1">
                    <a:lumMod val="50000"/>
                    <a:lumOff val="50000"/>
                  </a:schemeClr>
                </a:solidFill>
                <a:latin typeface="メイリオ"/>
                <a:ea typeface="メイリオ"/>
                <a:cs typeface="メイリオ"/>
                <a:sym typeface="Meiryo"/>
              </a:rPr>
              <a:t>40%</a:t>
            </a:r>
            <a:r>
              <a:rPr lang="ja-JP" altLang="en-US" sz="1200" dirty="0">
                <a:solidFill>
                  <a:schemeClr val="tx1">
                    <a:lumMod val="50000"/>
                    <a:lumOff val="50000"/>
                  </a:schemeClr>
                </a:solidFill>
                <a:latin typeface="メイリオ"/>
                <a:ea typeface="メイリオ"/>
                <a:cs typeface="メイリオ"/>
                <a:sym typeface="Meiryo"/>
              </a:rPr>
              <a:t>程度改善。</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通知メッセージ</a:t>
            </a:r>
            <a:endParaRPr lang="en-US" altLang="ja-JP" sz="2000" b="1" dirty="0">
              <a:solidFill>
                <a:srgbClr val="002060"/>
              </a:solidFill>
              <a:latin typeface="メイリオ"/>
              <a:ea typeface="メイリオ"/>
              <a:cs typeface="メイリオ"/>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友だちではないユーザーに</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対して予約完了通知などを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送り友だちを増やす。</a:t>
            </a:r>
            <a:endParaRPr lang="en-US" altLang="ja-JP" sz="1400" dirty="0">
              <a:latin typeface="メイリオ"/>
              <a:ea typeface="メイリオ"/>
              <a:cs typeface="メイリオ"/>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事例：宅配ピザ</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通知メッセージ導入４ヶ月で</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友だち数</a:t>
            </a:r>
            <a:r>
              <a:rPr lang="en-US" altLang="ja-JP" sz="1200" dirty="0">
                <a:solidFill>
                  <a:schemeClr val="tx1">
                    <a:lumMod val="50000"/>
                    <a:lumOff val="50000"/>
                  </a:schemeClr>
                </a:solidFill>
                <a:latin typeface="メイリオ"/>
                <a:ea typeface="メイリオ"/>
                <a:cs typeface="メイリオ"/>
                <a:sym typeface="Meiryo"/>
              </a:rPr>
              <a:t>2</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メイリオ"/>
                <a:ea typeface="メイリオ"/>
                <a:cs typeface="メイリオ"/>
                <a:sym typeface="Meiryo"/>
              </a:rPr>
              <a:t>準顕在（獲得見込みが高い）層の</a:t>
            </a:r>
            <a:r>
              <a:rPr lang="ja-JP" altLang="en-US" sz="1600" b="1" dirty="0">
                <a:latin typeface="メイリオ"/>
                <a:ea typeface="メイリオ"/>
                <a:cs typeface="メイリオ"/>
                <a:sym typeface="Meiryo"/>
              </a:rPr>
              <a:t>独自獲得手法が豊富</a:t>
            </a:r>
            <a:r>
              <a:rPr lang="ja-JP" altLang="en-US" sz="1600" dirty="0">
                <a:latin typeface="メイリオ"/>
                <a:ea typeface="メイリオ"/>
                <a:cs typeface="メイリオ"/>
                <a:sym typeface="Meiryo"/>
              </a:rPr>
              <a:t>で、尚且つ</a:t>
            </a:r>
            <a:r>
              <a:rPr lang="ja-JP" altLang="en-US" sz="1600" b="1" dirty="0">
                <a:latin typeface="メイリオ"/>
                <a:ea typeface="メイリオ"/>
                <a:cs typeface="メイリオ"/>
                <a:sym typeface="Meiryo"/>
              </a:rPr>
              <a:t>利用に至るまでナーチャリングが可能</a:t>
            </a:r>
            <a:endParaRPr lang="en-US" altLang="ja-JP" sz="1600" b="1" dirty="0">
              <a:latin typeface="メイリオ"/>
              <a:ea typeface="メイリオ"/>
              <a:cs typeface="メイリオ"/>
              <a:sym typeface="Meiryo"/>
            </a:endParaRPr>
          </a:p>
          <a:p>
            <a:pPr lvl="0" algn="ctr">
              <a:buClr>
                <a:schemeClr val="dk1"/>
              </a:buClr>
              <a:buSzPts val="1500"/>
            </a:pPr>
            <a:r>
              <a:rPr lang="en-US" altLang="ja-JP" sz="1100" dirty="0">
                <a:solidFill>
                  <a:srgbClr val="FF0000"/>
                </a:solidFill>
                <a:latin typeface="メイリオ"/>
                <a:ea typeface="メイリオ"/>
                <a:cs typeface="メイリオ"/>
                <a:sym typeface="Meiryo"/>
              </a:rPr>
              <a:t>※</a:t>
            </a:r>
            <a:r>
              <a:rPr lang="ja-JP" altLang="en-US" sz="1100" dirty="0">
                <a:solidFill>
                  <a:srgbClr val="FF0000"/>
                </a:solidFill>
                <a:latin typeface="メイリオ"/>
                <a:ea typeface="メイリオ"/>
                <a:cs typeface="メイリオ"/>
                <a:sym typeface="Meiryo"/>
              </a:rPr>
              <a:t>実施想定の友だち追加動線に★を記載</a:t>
            </a:r>
            <a:endParaRPr lang="en-US" altLang="ja-JP" sz="1600" dirty="0">
              <a:solidFill>
                <a:srgbClr val="FF0000"/>
              </a:solidFill>
              <a:latin typeface="メイリオ"/>
              <a:ea typeface="メイリオ"/>
              <a:cs typeface="メイリオ"/>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Tree>
    <p:extLst>
      <p:ext uri="{BB962C8B-B14F-4D97-AF65-F5344CB8AC3E}">
        <p14:creationId xmlns:p14="http://schemas.microsoft.com/office/powerpoint/2010/main" val="30001345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メイリオ"/>
                <a:ea typeface="メイリオ"/>
                <a:cs typeface="メイリオ"/>
                <a:sym typeface="Meiryo"/>
              </a:rPr>
              <a:t>LINE</a:t>
            </a:r>
            <a:r>
              <a:rPr lang="ja-JP" altLang="en-US" sz="1050" dirty="0">
                <a:solidFill>
                  <a:srgbClr val="FF0000"/>
                </a:solidFill>
                <a:latin typeface="メイリオ"/>
                <a:ea typeface="メイリオ"/>
                <a:cs typeface="メイリオ"/>
                <a:sym typeface="Meiryo"/>
              </a:rPr>
              <a:t>以外の注力動線への誘導も同バナーから実施可能</a:t>
            </a:r>
            <a:endParaRPr lang="ja-JP" altLang="en-US" sz="1050" dirty="0">
              <a:solidFill>
                <a:srgbClr val="FF0000"/>
              </a:solidFill>
              <a:latin typeface="メイリオ"/>
              <a:ea typeface="メイリオ"/>
              <a:cs typeface="メイリオ"/>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メイリオ"/>
                <a:ea typeface="メイリオ"/>
                <a:cs typeface="メイリオ"/>
                <a:sym typeface="Meiryo"/>
              </a:rPr>
              <a:t>LINE</a:t>
            </a:r>
            <a:r>
              <a:rPr lang="ja-JP" altLang="en-US" sz="1050" dirty="0">
                <a:solidFill>
                  <a:srgbClr val="FF0000"/>
                </a:solidFill>
                <a:latin typeface="メイリオ"/>
                <a:ea typeface="メイリオ"/>
                <a:cs typeface="メイリオ"/>
                <a:sym typeface="Meiryo"/>
              </a:rPr>
              <a:t>以外の注力動線への誘導も同バナーから実施可能</a:t>
            </a:r>
            <a:endParaRPr lang="ja-JP" altLang="en-US" sz="1050" dirty="0">
              <a:solidFill>
                <a:srgbClr val="FF0000"/>
              </a:solidFill>
              <a:latin typeface="メイリオ"/>
              <a:ea typeface="メイリオ"/>
              <a:cs typeface="メイリオ"/>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に友だち登録、ステータス通知を行うことができる機能</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メイリオ"/>
                <a:ea typeface="メイリオ"/>
                <a:cs typeface="メイリオ"/>
                <a:sym typeface="Meiryo"/>
              </a:rPr>
              <a:t>+</a:t>
            </a:r>
            <a:r>
              <a:rPr lang="ja-JP" altLang="en-US" sz="1050" b="1" dirty="0">
                <a:solidFill>
                  <a:srgbClr val="FFFF00"/>
                </a:solidFill>
                <a:latin typeface="メイリオ"/>
                <a:ea typeface="メイリオ"/>
                <a:cs typeface="メイリオ"/>
                <a:sym typeface="Meiryo"/>
              </a:rPr>
              <a:t>通数単価：</a:t>
            </a:r>
            <a:r>
              <a:rPr lang="en-US" altLang="ja-JP" sz="1050" b="1" dirty="0">
                <a:solidFill>
                  <a:srgbClr val="FFFF00"/>
                </a:solidFill>
                <a:latin typeface="メイリオ"/>
                <a:ea typeface="メイリオ"/>
                <a:cs typeface="メイリオ"/>
                <a:sym typeface="Meiryo"/>
              </a:rPr>
              <a:t>7</a:t>
            </a:r>
            <a:r>
              <a:rPr lang="ja-JP" altLang="en-US" sz="1050" b="1" dirty="0">
                <a:solidFill>
                  <a:srgbClr val="FFFF00"/>
                </a:solidFill>
                <a:latin typeface="メイリオ"/>
                <a:ea typeface="メイリオ"/>
                <a:cs typeface="メイリオ"/>
                <a:sym typeface="Meiryo"/>
              </a:rPr>
              <a:t>円</a:t>
            </a:r>
            <a:endParaRPr sz="1050" b="1" i="0" u="none" strike="noStrike" cap="none" dirty="0">
              <a:solidFill>
                <a:srgbClr val="FFFF00"/>
              </a:solidFill>
              <a:latin typeface="メイリオ"/>
              <a:ea typeface="メイリオ"/>
              <a:cs typeface="メイリオ"/>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cs typeface="メイリオ"/>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やまや（</a:t>
            </a:r>
            <a:r>
              <a:rPr kumimoji="1" lang="en-US" altLang="ja-JP" sz="1100" dirty="0">
                <a:solidFill>
                  <a:schemeClr val="tx1"/>
                </a:solidFill>
                <a:latin typeface="メイリオ" panose="020B0604030504040204" pitchFamily="50" charset="-128"/>
                <a:ea typeface="メイリオ" panose="020B0604030504040204" pitchFamily="50" charset="-128"/>
                <a:cs typeface="メイリオ"/>
              </a:rPr>
              <a:t>EC</a:t>
            </a: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メイリオ"/>
              </a:rPr>
              <a:t>Sales Partner、Tech Partner限定公開のAPIを使用した機能</a:t>
            </a:r>
            <a:r>
              <a:rPr lang="ja-JP" altLang="en-US" sz="900" dirty="0">
                <a:solidFill>
                  <a:srgbClr val="FF0000"/>
                </a:solidFill>
                <a:latin typeface="メイリオ" panose="020B0604030504040204" pitchFamily="50" charset="-128"/>
                <a:ea typeface="メイリオ" panose="020B0604030504040204" pitchFamily="50" charset="-128"/>
                <a:cs typeface="メイリオ"/>
              </a:rPr>
              <a:t/>
            </a:r>
            <a:r>
              <a:rPr lang="en-US" altLang="ja-JP" sz="900" dirty="0">
                <a:solidFill>
                  <a:srgbClr val="FF0000"/>
                </a:solidFill>
                <a:latin typeface="メイリオ" panose="020B0604030504040204" pitchFamily="50" charset="-128"/>
                <a:ea typeface="メイリオ" panose="020B0604030504040204" pitchFamily="50" charset="-128"/>
                <a:cs typeface="メイリオ"/>
              </a:rPr>
              <a:t/>
            </a:r>
            <a:r>
              <a:rPr lang="ja-JP" altLang="en-US" sz="900" dirty="0">
                <a:solidFill>
                  <a:srgbClr val="FF0000"/>
                </a:solidFill>
                <a:latin typeface="メイリオ" panose="020B0604030504040204" pitchFamily="50" charset="-128"/>
                <a:ea typeface="メイリオ" panose="020B0604030504040204" pitchFamily="50" charset="-128"/>
                <a:cs typeface="メイリオ"/>
              </a:rPr>
              <a:t/>
            </a:r>
            <a:r>
              <a:rPr lang="en-US" altLang="ja-JP" sz="900" dirty="0">
                <a:solidFill>
                  <a:srgbClr val="FF0000"/>
                </a:solidFill>
                <a:latin typeface="メイリオ" panose="020B0604030504040204" pitchFamily="50" charset="-128"/>
                <a:ea typeface="メイリオ" panose="020B0604030504040204" pitchFamily="50" charset="-128"/>
                <a:cs typeface="メイリオ"/>
              </a:rPr>
              <a:t/>
            </a:r>
            <a:r>
              <a:rPr lang="ja-JP" altLang="en-US" sz="900" dirty="0">
                <a:solidFill>
                  <a:srgbClr val="FF0000"/>
                </a:solidFill>
                <a:latin typeface="メイリオ" panose="020B0604030504040204" pitchFamily="50" charset="-128"/>
                <a:ea typeface="メイリオ" panose="020B0604030504040204" pitchFamily="50" charset="-128"/>
                <a:cs typeface="メイリオ"/>
              </a:rPr>
              <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cs typeface="メイリオ"/>
              </a:rPr>
              <a:t>料金プランにより通数単価・利用可能な機能が異なる</a:t>
            </a:r>
          </a:p>
        </p:txBody>
      </p:sp>
    </p:spTree>
    <p:extLst>
      <p:ext uri="{BB962C8B-B14F-4D97-AF65-F5344CB8AC3E}">
        <p14:creationId xmlns:p14="http://schemas.microsoft.com/office/powerpoint/2010/main" val="37310312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に友だち登録、ステータス通知を行うことができる機能</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メイリオ"/>
                <a:ea typeface="メイリオ"/>
                <a:cs typeface="メイリオ"/>
                <a:sym typeface="Meiryo"/>
              </a:rPr>
              <a:t>+</a:t>
            </a:r>
            <a:r>
              <a:rPr lang="ja-JP" altLang="en-US" sz="1050" b="1" dirty="0">
                <a:solidFill>
                  <a:srgbClr val="FFFF00"/>
                </a:solidFill>
                <a:latin typeface="メイリオ"/>
                <a:ea typeface="メイリオ"/>
                <a:cs typeface="メイリオ"/>
                <a:sym typeface="Meiryo"/>
              </a:rPr>
              <a:t>通数単価：</a:t>
            </a:r>
            <a:r>
              <a:rPr lang="en-US" altLang="ja-JP" sz="1050" b="1" dirty="0">
                <a:solidFill>
                  <a:srgbClr val="FFFF00"/>
                </a:solidFill>
                <a:latin typeface="メイリオ"/>
                <a:ea typeface="メイリオ"/>
                <a:cs typeface="メイリオ"/>
                <a:sym typeface="Meiryo"/>
              </a:rPr>
              <a:t>7</a:t>
            </a:r>
            <a:r>
              <a:rPr lang="ja-JP" altLang="en-US" sz="1050" b="1" dirty="0">
                <a:solidFill>
                  <a:srgbClr val="FFFF00"/>
                </a:solidFill>
                <a:latin typeface="メイリオ"/>
                <a:ea typeface="メイリオ"/>
                <a:cs typeface="メイリオ"/>
                <a:sym typeface="Meiryo"/>
              </a:rPr>
              <a:t>円</a:t>
            </a:r>
            <a:endParaRPr sz="1050" b="1" i="0" u="none" strike="noStrike" cap="none" dirty="0">
              <a:solidFill>
                <a:srgbClr val="FFFF00"/>
              </a:solidFill>
              <a:latin typeface="メイリオ"/>
              <a:ea typeface="メイリオ"/>
              <a:cs typeface="メイリオ"/>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メイリオ"/>
              </a:rPr>
              <a:t>Sales Partner、Tech Partner限定公開のAPIを使用した機能</a:t>
            </a:r>
            <a:r>
              <a:rPr lang="ja-JP" altLang="en-US" sz="900" dirty="0">
                <a:solidFill>
                  <a:srgbClr val="FF0000"/>
                </a:solidFill>
                <a:latin typeface="メイリオ" panose="020B0604030504040204" pitchFamily="50" charset="-128"/>
                <a:ea typeface="メイリオ" panose="020B0604030504040204" pitchFamily="50" charset="-128"/>
                <a:cs typeface="メイリオ"/>
              </a:rPr>
              <a:t/>
            </a:r>
            <a:r>
              <a:rPr lang="en-US" altLang="ja-JP" sz="900" dirty="0">
                <a:solidFill>
                  <a:srgbClr val="FF0000"/>
                </a:solidFill>
                <a:latin typeface="メイリオ" panose="020B0604030504040204" pitchFamily="50" charset="-128"/>
                <a:ea typeface="メイリオ" panose="020B0604030504040204" pitchFamily="50" charset="-128"/>
                <a:cs typeface="メイリオ"/>
              </a:rPr>
              <a:t/>
            </a:r>
            <a:r>
              <a:rPr lang="ja-JP" altLang="en-US" sz="900" dirty="0">
                <a:solidFill>
                  <a:srgbClr val="FF0000"/>
                </a:solidFill>
                <a:latin typeface="メイリオ" panose="020B0604030504040204" pitchFamily="50" charset="-128"/>
                <a:ea typeface="メイリオ" panose="020B0604030504040204" pitchFamily="50" charset="-128"/>
                <a:cs typeface="メイリオ"/>
              </a:rPr>
              <a:t/>
            </a:r>
            <a:r>
              <a:rPr lang="en-US" altLang="ja-JP" sz="900" dirty="0">
                <a:solidFill>
                  <a:srgbClr val="FF0000"/>
                </a:solidFill>
                <a:latin typeface="メイリオ" panose="020B0604030504040204" pitchFamily="50" charset="-128"/>
                <a:ea typeface="メイリオ" panose="020B0604030504040204" pitchFamily="50" charset="-128"/>
                <a:cs typeface="メイリオ"/>
              </a:rPr>
              <a:t/>
            </a:r>
            <a:r>
              <a:rPr lang="ja-JP" altLang="en-US" sz="900" dirty="0">
                <a:solidFill>
                  <a:srgbClr val="FF0000"/>
                </a:solidFill>
                <a:latin typeface="メイリオ" panose="020B0604030504040204" pitchFamily="50" charset="-128"/>
                <a:ea typeface="メイリオ" panose="020B0604030504040204" pitchFamily="50" charset="-128"/>
                <a:cs typeface="メイリオ"/>
              </a:rPr>
              <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cs typeface="メイリオ"/>
              </a:rPr>
              <a:t>料金プランにより通数単価・利用可能な機能が異なる</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メイリオ"/>
                <a:ea typeface="メイリオ"/>
                <a:cs typeface="メイリオ"/>
                <a:sym typeface="Meiryo"/>
              </a:rPr>
              <a:t>利用可能なシーン一例</a:t>
            </a:r>
            <a:endParaRPr sz="900" i="0" u="none" strike="noStrike" cap="none" dirty="0">
              <a:solidFill>
                <a:srgbClr val="FFFF00"/>
              </a:solidFill>
              <a:latin typeface="メイリオ"/>
              <a:ea typeface="メイリオ"/>
              <a:cs typeface="メイリオ"/>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非</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既存の</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Y</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M</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ツ</a:t>
            </a:r>
            <a:endParaRPr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｜ルで</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L</a:t>
            </a:r>
            <a:b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b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I</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N</a:t>
            </a:r>
            <a:br>
              <a:rPr lang="en-US" altLang="ja-JP" sz="1100" b="1" dirty="0">
                <a:solidFill>
                  <a:schemeClr val="tx1"/>
                </a:solidFill>
                <a:latin typeface="メイリオ" panose="020B0604030504040204" pitchFamily="50" charset="-128"/>
                <a:ea typeface="メイリオ" panose="020B0604030504040204" pitchFamily="50" charset="-128"/>
                <a:cs typeface="メイリオ"/>
              </a:rPr>
            </a:br>
            <a:r>
              <a:rPr lang="en-US" altLang="ja-JP" sz="1100" b="1" dirty="0">
                <a:solidFill>
                  <a:schemeClr val="tx1"/>
                </a:solidFill>
                <a:latin typeface="メイリオ" panose="020B0604030504040204" pitchFamily="50" charset="-128"/>
                <a:ea typeface="メイリオ" panose="020B0604030504040204" pitchFamily="50" charset="-128"/>
                <a:cs typeface="メイリオ"/>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動線</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に</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友だち</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登録ページ</a:t>
            </a:r>
            <a:r>
              <a:rPr lang="ja-JP" altLang="en-US" sz="1100" dirty="0">
                <a:latin typeface="メイリオ" panose="020B0604030504040204" pitchFamily="50" charset="-128"/>
                <a:ea typeface="メイリオ" panose="020B0604030504040204" pitchFamily="50" charset="-128"/>
                <a:cs typeface="メイリオ"/>
              </a:rPr>
              <a:t>へ遷移する。</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トーク</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画面</a:t>
            </a:r>
            <a:r>
              <a:rPr lang="ja-JP" altLang="en-US" sz="1100" dirty="0">
                <a:latin typeface="メイリオ" panose="020B0604030504040204" pitchFamily="50" charset="-128"/>
                <a:ea typeface="メイリオ" panose="020B0604030504040204" pitchFamily="50" charset="-128"/>
                <a:cs typeface="メイリオ"/>
              </a:rPr>
              <a:t>へ遷移する。</a:t>
            </a:r>
            <a:endParaRPr lang="en-US" altLang="ja-JP" sz="1100" dirty="0">
              <a:latin typeface="メイリオ" panose="020B0604030504040204" pitchFamily="50" charset="-128"/>
              <a:ea typeface="メイリオ" panose="020B0604030504040204" pitchFamily="50" charset="-128"/>
              <a:cs typeface="メイリオ"/>
            </a:endParaRPr>
          </a:p>
          <a:p>
            <a:r>
              <a:rPr kumimoji="1" lang="en-US" altLang="ja-JP" sz="1000" dirty="0">
                <a:solidFill>
                  <a:srgbClr val="FF0000"/>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000" dirty="0">
                <a:solidFill>
                  <a:srgbClr val="FF0000"/>
                </a:solidFill>
                <a:latin typeface="メイリオ" panose="020B0604030504040204" pitchFamily="50" charset="-128"/>
                <a:ea typeface="メイリオ" panose="020B0604030504040204" pitchFamily="50" charset="-128"/>
                <a:cs typeface="メイリオ"/>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a:t>
            </a:r>
            <a:endParaRPr lang="en-US" altLang="ja-JP" sz="1100" b="1" dirty="0">
              <a:latin typeface="メイリオ" panose="020B0604030504040204" pitchFamily="50" charset="-128"/>
              <a:ea typeface="メイリオ" panose="020B0604030504040204" pitchFamily="50" charset="-128"/>
              <a:cs typeface="メイリオ"/>
            </a:endParaRPr>
          </a:p>
          <a:p>
            <a:r>
              <a:rPr kumimoji="1" lang="ja-JP" altLang="en-US" sz="1100" b="1" dirty="0">
                <a:latin typeface="メイリオ" panose="020B0604030504040204" pitchFamily="50" charset="-128"/>
                <a:ea typeface="メイリオ" panose="020B0604030504040204" pitchFamily="50" charset="-128"/>
                <a:cs typeface="メイリオ"/>
              </a:rPr>
              <a:t>配信セグメントに利用可</a:t>
            </a:r>
            <a:endParaRPr kumimoji="1" lang="ja-JP" altLang="en-US" sz="11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cs typeface="メイリオ"/>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cs typeface="メイリオ"/>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メイリオ"/>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cs typeface="メイリオ"/>
              </a:rPr>
              <a:t>CV</a:t>
            </a:r>
            <a:endParaRPr kumimoji="1" lang="ja-JP" altLang="en-US" sz="1100" b="1" dirty="0">
              <a:latin typeface="メイリオ" panose="020B0604030504040204" pitchFamily="50" charset="-128"/>
              <a:ea typeface="メイリオ" panose="020B0604030504040204" pitchFamily="50" charset="-128"/>
              <a:cs typeface="メイリオ"/>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サンクス</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LINE</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cs typeface="メイリオ"/>
              </a:rPr>
              <a:t>友だち追加後</a:t>
            </a:r>
            <a:endParaRPr lang="ja-JP" altLang="en-US" sz="1100" dirty="0">
              <a:solidFill>
                <a:srgbClr val="00C057"/>
              </a:solidFill>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830997"/>
          </a:xfrm>
          <a:prstGeom prst="rect">
            <a:avLst/>
          </a:prstGeom>
        </p:spPr>
        <p:txBody>
          <a:bodyPr wrap="square">
            <a:spAutoFit/>
          </a:bodyPr>
          <a:lstStyle/>
          <a:p>
            <a:pPr lvl="0" algn="ctr">
              <a:buClr>
                <a:schemeClr val="dk1"/>
              </a:buClr>
              <a:buSzPts val="1500"/>
            </a:pPr>
            <a:r>
              <a:rPr lang="ja-JP" altLang="en-US" sz="1600" dirty="0">
                <a:latin typeface="メイリオ"/>
                <a:ea typeface="メイリオ"/>
                <a:cs typeface="メイリオ"/>
                <a:sym typeface="Meiryo"/>
              </a:rPr>
              <a:t>サンクス到達時の</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動線が弊社開発により可能に。</a:t>
            </a:r>
          </a:p>
          <a:p>
            <a:pPr lvl="0" algn="ctr">
              <a:buClr>
                <a:schemeClr val="dk1"/>
              </a:buClr>
              <a:buSzPts val="1500"/>
            </a:pPr>
            <a:r>
              <a:rPr lang="ja-JP" altLang="en-US" sz="1600" dirty="0">
                <a:latin typeface="メイリオ"/>
                <a:ea typeface="メイリオ"/>
                <a:cs typeface="メイリオ"/>
                <a:sym typeface="Meiryo"/>
              </a:rPr>
              <a:t>体験予約の後も来場・入会まで追えるため、</a:t>
            </a:r>
            <a:endParaRPr lang="en-US" altLang="ja-JP" sz="1600" dirty="0">
              <a:latin typeface="メイリオ"/>
              <a:ea typeface="メイリオ"/>
              <a:cs typeface="メイリオ"/>
              <a:sym typeface="Meiryo"/>
            </a:endParaRPr>
          </a:p>
          <a:p>
            <a:pPr lvl="0" algn="ctr">
              <a:buClr>
                <a:schemeClr val="dk1"/>
              </a:buClr>
              <a:buSzPts val="1500"/>
            </a:pPr>
            <a:r>
              <a:rPr lang="en-US" altLang="ja-JP" sz="1600" dirty="0">
                <a:latin typeface="メイリオ"/>
                <a:ea typeface="メイリオ"/>
                <a:cs typeface="メイリオ"/>
                <a:sym typeface="Meiryo"/>
              </a:rPr>
              <a:t>CPOの改善に最適なオプション</a:t>
            </a:r>
            <a:r>
              <a:rPr lang="ja-JP" altLang="en-US" sz="1600" dirty="0">
                <a:latin typeface="メイリオ"/>
                <a:ea typeface="メイリオ"/>
                <a:cs typeface="メイリオ"/>
                <a:sym typeface="Meiryo"/>
              </a:rPr>
              <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603120"/>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FF0000"/>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初期：15万円</a:t>
            </a:r>
            <a:endParaRPr sz="1400" b="1" i="0" u="none" strike="noStrike" cap="none" dirty="0">
              <a:solidFill>
                <a:schemeClr val="lt1"/>
              </a:solidFill>
              <a:latin typeface="メイリオ"/>
              <a:ea typeface="メイリオ"/>
              <a:cs typeface="メイリオ"/>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月額5万円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メイリオ"/>
                <a:ea typeface="メイリオ"/>
                <a:cs typeface="メイリオ"/>
                <a:sym typeface="Meiryo"/>
              </a:rPr>
              <a:t>+</a:t>
            </a:r>
            <a:r>
              <a:rPr lang="ja-JP" altLang="en-US" sz="1050" b="1" dirty="0">
                <a:solidFill>
                  <a:srgbClr val="FFFF00"/>
                </a:solidFill>
                <a:latin typeface="メイリオ"/>
                <a:ea typeface="メイリオ"/>
                <a:cs typeface="メイリオ"/>
                <a:sym typeface="Meiryo"/>
              </a:rPr>
              <a:t>設定地点追加</a:t>
            </a:r>
            <a:endParaRPr sz="1050" b="1" i="0" u="none" strike="noStrike" cap="none" dirty="0">
              <a:solidFill>
                <a:srgbClr val="FFFF00"/>
              </a:solidFill>
              <a:latin typeface="メイリオ"/>
              <a:ea typeface="メイリオ"/>
              <a:cs typeface="メイリオ"/>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cs typeface="メイリオ"/>
              </a:rPr>
              <a:t>高開封率のLINEに誘導</a:t>
            </a:r>
            <a:r>
              <a:rPr lang="ja-JP" altLang="en-US" sz="1200" dirty="0">
                <a:latin typeface="メイリオ" panose="020B0604030504040204" pitchFamily="50" charset="-128"/>
                <a:ea typeface="メイリオ" panose="020B0604030504040204" pitchFamily="50" charset="-128"/>
                <a:cs typeface="メイリオ"/>
              </a:rPr>
              <a:t>して</a:t>
            </a:r>
            <a:r>
              <a:rPr lang="ja-JP" altLang="ja-JP" sz="1200" dirty="0">
                <a:latin typeface="メイリオ" panose="020B0604030504040204" pitchFamily="50" charset="-128"/>
                <a:ea typeface="メイリオ" panose="020B0604030504040204" pitchFamily="50" charset="-128"/>
                <a:cs typeface="メイリオ"/>
              </a:rPr>
              <a:t>反響→実売上への引上げ率、リピート率改善。</a:t>
            </a:r>
            <a:endParaRPr lang="en-US" altLang="ja-JP" sz="1200" dirty="0">
              <a:latin typeface="メイリオ" panose="020B0604030504040204" pitchFamily="50" charset="-128"/>
              <a:ea typeface="メイリオ" panose="020B0604030504040204" pitchFamily="50" charset="-128"/>
              <a:cs typeface="メイリオ"/>
            </a:endParaRPr>
          </a:p>
          <a:p>
            <a:pPr algn="ctr"/>
            <a:r>
              <a:rPr lang="ja-JP" altLang="ja-JP" sz="1200" dirty="0">
                <a:latin typeface="メイリオ" panose="020B0604030504040204" pitchFamily="50" charset="-128"/>
                <a:ea typeface="メイリオ" panose="020B0604030504040204" pitchFamily="50" charset="-128"/>
                <a:cs typeface="メイリオ"/>
              </a:rPr>
              <a:t> </a:t>
            </a:r>
            <a:r>
              <a:rPr lang="ja-JP" altLang="ja-JP" sz="1200" b="1" dirty="0">
                <a:solidFill>
                  <a:srgbClr val="FF0000"/>
                </a:solidFill>
                <a:latin typeface="メイリオ" panose="020B0604030504040204" pitchFamily="50" charset="-128"/>
                <a:ea typeface="メイリオ" panose="020B0604030504040204" pitchFamily="50" charset="-128"/>
                <a:cs typeface="メイリオ"/>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cs typeface="メイリオ"/>
              </a:rPr>
              <a:t>。</a:t>
            </a:r>
            <a:endParaRPr lang="ja-JP" altLang="en-US"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9490901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サービス内容</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400" b="1" dirty="0">
                <a:latin typeface="メイリオ" panose="020B0604030504040204" pitchFamily="50" charset="-128"/>
                <a:ea typeface="メイリオ" panose="020B0604030504040204" pitchFamily="50" charset="-128"/>
                <a:cs typeface="メイリオ"/>
                <a:sym typeface="Meiryo"/>
              </a:rPr>
              <a:t>成果報酬型：成果件数に応じた費用で、リスクを抑えて運用を始められる</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628000"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DYMプラン（成果報酬型）</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保護者ユーザーのカスタマージャーニー（8フェーズ）</a:t>
            </a:r>
            <a:endParaRPr lang="en-US" sz="1300" dirty="0">
              <a:latin typeface="メイリオ" panose="020B0604030504040204" pitchFamily="50" charset="-128"/>
              <a:ea typeface="メイリオ" panose="020B0604030504040204" pitchFamily="50" charset="-128"/>
              <a:cs typeface="メイリオ"/>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接触〜入会・継続までの動線設計</a:t>
            </a:r>
            <a:endParaRPr lang="en-US" sz="10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02</a:t>
            </a:r>
            <a:endParaRPr lang="en-US" sz="1300" dirty="0">
              <a:latin typeface="メイリオ" panose="020B0604030504040204" pitchFamily="50" charset="-128"/>
              <a:ea typeface="メイリオ" panose="020B0604030504040204" pitchFamily="50" charset="-128"/>
              <a:cs typeface="メイリオ"/>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a:t>
            </a:r>
            <a:endParaRPr lang="en-US" sz="1300" dirty="0">
              <a:latin typeface="メイリオ" panose="020B0604030504040204" pitchFamily="50" charset="-128"/>
              <a:ea typeface="メイリオ" panose="020B0604030504040204" pitchFamily="50" charset="-128"/>
              <a:cs typeface="メイリオ"/>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友だち追加直後〜成約誘導まで</a:t>
            </a:r>
            <a:endParaRPr lang="en-US" sz="1000" dirty="0">
              <a:latin typeface="メイリオ" panose="020B0604030504040204" pitchFamily="50" charset="-128"/>
              <a:ea typeface="メイリオ" panose="020B0604030504040204" pitchFamily="50" charset="-128"/>
              <a:cs typeface="メイリオ"/>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03</a:t>
            </a:r>
            <a:endParaRPr lang="en-US" sz="1300" dirty="0">
              <a:latin typeface="メイリオ" panose="020B0604030504040204" pitchFamily="50" charset="-128"/>
              <a:ea typeface="メイリオ" panose="020B0604030504040204" pitchFamily="50" charset="-128"/>
              <a:cs typeface="メイリオ"/>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04</a:t>
            </a:r>
            <a:endParaRPr lang="en-US" sz="1300" dirty="0">
              <a:latin typeface="メイリオ" panose="020B0604030504040204" pitchFamily="50" charset="-128"/>
              <a:ea typeface="メイリオ" panose="020B0604030504040204" pitchFamily="50" charset="-128"/>
              <a:cs typeface="メイリオ"/>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セグメント設定</a:t>
            </a:r>
            <a:endParaRPr lang="en-US" sz="1300" dirty="0">
              <a:latin typeface="メイリオ" panose="020B0604030504040204" pitchFamily="50" charset="-128"/>
              <a:ea typeface="メイリオ" panose="020B0604030504040204" pitchFamily="50" charset="-128"/>
              <a:cs typeface="メイリオ"/>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endParaRPr lang="en-US" sz="1000" dirty="0">
              <a:latin typeface="メイリオ" panose="020B0604030504040204" pitchFamily="50" charset="-128"/>
              <a:ea typeface="メイリオ" panose="020B0604030504040204" pitchFamily="50" charset="-128"/>
              <a:cs typeface="メイリオ"/>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a:latin typeface="メイリオ" panose="020B0604030504040204" pitchFamily="50" charset="-128"/>
                <a:ea typeface="メイリオ" panose="020B0604030504040204" pitchFamily="50" charset="-128"/>
                <a:cs typeface="メイリオ"/>
              </a:rPr>
              <a:t>WEB</a:t>
            </a:r>
            <a:r>
              <a:rPr lang="ja-JP" altLang="en-US" sz="1000" dirty="0">
                <a:latin typeface="メイリオ" panose="020B0604030504040204" pitchFamily="50" charset="-128"/>
                <a:ea typeface="メイリオ" panose="020B0604030504040204" pitchFamily="50" charset="-128"/>
                <a:cs typeface="メイリオ"/>
              </a:rPr>
              <a:t>サイトアクション、</a:t>
            </a:r>
            <a:r>
              <a:rPr lang="en-US" altLang="ja-JP" sz="1000" dirty="0">
                <a:latin typeface="メイリオ" panose="020B0604030504040204" pitchFamily="50" charset="-128"/>
                <a:ea typeface="メイリオ" panose="020B0604030504040204" pitchFamily="50" charset="-128"/>
                <a:cs typeface="メイリオ"/>
              </a:rPr>
              <a:t>LINE</a:t>
            </a:r>
            <a:r>
              <a:rPr lang="ja-JP" altLang="en-US" sz="1000" dirty="0">
                <a:latin typeface="メイリオ" panose="020B0604030504040204" pitchFamily="50" charset="-128"/>
                <a:ea typeface="メイリオ" panose="020B0604030504040204" pitchFamily="50" charset="-128"/>
                <a:cs typeface="メイリオ"/>
              </a:rPr>
              <a:t>上アクションのスコアリング 等を活用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sz="1300" dirty="0">
              <a:latin typeface="メイリオ" panose="020B0604030504040204" pitchFamily="50" charset="-128"/>
              <a:ea typeface="メイリオ" panose="020B0604030504040204" pitchFamily="50" charset="-128"/>
              <a:cs typeface="メイリオ"/>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06</a:t>
            </a:r>
            <a:endParaRPr lang="en-US" sz="1300" dirty="0">
              <a:latin typeface="メイリオ" panose="020B0604030504040204" pitchFamily="50" charset="-128"/>
              <a:ea typeface="メイリオ" panose="020B0604030504040204" pitchFamily="50" charset="-128"/>
              <a:cs typeface="メイリオ"/>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季節・時期ごとの企画配信</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メイリオ"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したキャンペーン案</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07</a:t>
            </a:r>
            <a:endParaRPr lang="en-US" sz="1300" dirty="0">
              <a:latin typeface="メイリオ" panose="020B0604030504040204" pitchFamily="50" charset="-128"/>
              <a:ea typeface="メイリオ" panose="020B0604030504040204" pitchFamily="50" charset="-128"/>
              <a:cs typeface="メイリオ"/>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各種設定の更新・改善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000" dirty="0">
                <a:latin typeface="メイリオ" panose="020B0604030504040204" pitchFamily="50" charset="-128"/>
                <a:ea typeface="メイリオ" panose="020B0604030504040204" pitchFamily="50" charset="-128"/>
                <a:cs typeface="メイリオ"/>
              </a:rPr>
              <a:t>あいさつメッセージ、リッチメニュー、</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の改修（</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は別途費用）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初期費用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月額費用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altLang="ja-JP" sz="1400" dirty="0">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cs typeface="メイリオ"/>
              </a:rPr>
              <a:t>～　　　 の修正・調整も</a:t>
            </a:r>
            <a:endParaRPr lang="en-US" altLang="ja-JP" sz="1400" b="1" dirty="0">
              <a:latin typeface="メイリオ" panose="020B0604030504040204" pitchFamily="50" charset="-128"/>
              <a:ea typeface="メイリオ" panose="020B0604030504040204" pitchFamily="50" charset="-128"/>
              <a:cs typeface="メイリオ"/>
            </a:endParaRPr>
          </a:p>
          <a:p>
            <a:endParaRPr kumimoji="1" lang="en-US" altLang="ja-JP" sz="1400" b="1" dirty="0">
              <a:latin typeface="メイリオ" panose="020B0604030504040204" pitchFamily="50" charset="-128"/>
              <a:ea typeface="メイリオ" panose="020B0604030504040204" pitchFamily="50" charset="-128"/>
              <a:cs typeface="メイリオ"/>
            </a:endParaRPr>
          </a:p>
          <a:p>
            <a:r>
              <a:rPr lang="ja-JP" altLang="en-US" sz="1400" b="1" dirty="0">
                <a:latin typeface="メイリオ" panose="020B0604030504040204" pitchFamily="50" charset="-128"/>
                <a:ea typeface="メイリオ" panose="020B0604030504040204" pitchFamily="50" charset="-128"/>
                <a:cs typeface="メイリオ"/>
              </a:rPr>
              <a:t>月次対応内に含む</a:t>
            </a:r>
            <a:endParaRPr kumimoji="1" lang="en-US" altLang="ja-JP" sz="1400"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3693530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cs typeface="メイリオ"/>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736333"/>
            <a:ext cx="627632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LINEOA</a:t>
            </a:r>
            <a:r>
              <a:rPr lang="ja-JP" altLang="en-US" sz="1600" b="1" dirty="0">
                <a:latin typeface="メイリオ" panose="020B0604030504040204" pitchFamily="50" charset="-128"/>
                <a:ea typeface="メイリオ" panose="020B0604030504040204" pitchFamily="50" charset="-128"/>
                <a:cs typeface="メイリオ"/>
                <a:sym typeface="Meiryo"/>
              </a:rPr>
              <a:t>の運用業務・</a:t>
            </a:r>
            <a:r>
              <a:rPr lang="en-US" altLang="ja-JP" sz="1600" b="1" dirty="0">
                <a:latin typeface="メイリオ" panose="020B0604030504040204" pitchFamily="50" charset="-128"/>
                <a:ea typeface="メイリオ" panose="020B0604030504040204" pitchFamily="50" charset="-128"/>
                <a:cs typeface="メイリオ"/>
                <a:sym typeface="Meiryo"/>
              </a:rPr>
              <a:t>CR</a:t>
            </a:r>
            <a:r>
              <a:rPr lang="ja-JP" altLang="en-US" sz="1600" b="1" dirty="0">
                <a:latin typeface="メイリオ" panose="020B0604030504040204" pitchFamily="50" charset="-128"/>
                <a:ea typeface="メイリオ" panose="020B0604030504040204" pitchFamily="50" charset="-128"/>
                <a:cs typeface="メイリオ"/>
                <a:sym typeface="Meiryo"/>
              </a:rPr>
              <a:t>制作業務を一部抽出してご依頼いただくことも可能</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&gt;</a:t>
            </a:r>
            <a:endParaRPr lang="ja-JP" altLang="en-US" sz="1050" dirty="0">
              <a:solidFill>
                <a:schemeClr val="tx1">
                  <a:lumMod val="65000"/>
                  <a:lumOff val="35000"/>
                </a:schemeClr>
              </a:solidFill>
              <a:latin typeface="メイリオ"/>
              <a:ea typeface="メイリオ"/>
              <a:cs typeface="メイリオ"/>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¥200,000~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cs typeface="メイリオ"/>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cs typeface="メイリオ"/>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cs typeface="メイリオ"/>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cs typeface="メイリオ"/>
                <a:sym typeface="Meiryo"/>
              </a:rPr>
              <a:t>貴社リソースの状況に応じて都度発注でのご依頼も各単価で対応可能</a:t>
            </a:r>
            <a:endParaRPr lang="ja-JP" altLang="en-US" sz="1400" dirty="0">
              <a:latin typeface="メイリオ"/>
              <a:ea typeface="メイリオ"/>
              <a:cs typeface="メイリオ"/>
            </a:endParaRPr>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880881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【オプション】CPO改善のご提案｜サンクスLINE誘導</a:t>
            </a: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体験予約の完了画面からLINEへつなげ、来場・入会までを後押し</a:t>
            </a:r>
          </a:p>
          <a:p>
            <a:pPr algn="ctr"/>
            <a:r>
              <a:rPr lang="ja-JP" altLang="en-US" sz="14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入会率が上がるほど、入会1件あたりの費用（CPO）が下がる</a:t>
            </a:r>
          </a:p>
        </p:txBody>
      </p:sp>
      <p:sp>
        <p:nvSpPr>
          <p:cNvPr id="46" name="Rounded Rectangle 45"/>
          <p:cNvSpPr/>
          <p:nvPr/>
        </p:nvSpPr>
        <p:spPr>
          <a:xfrm>
            <a:off x="432000" y="2071800"/>
            <a:ext cx="1548000" cy="900000"/>
          </a:xfrm>
          <a:prstGeom prst="roundRect">
            <a:avLst>
              <a:gd name="adj" fmla="val 10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54000" tIns="18000" rIns="54000" bIns="18000" rtlCol="0" anchor="ctr"/>
          <a:lstStyle/>
          <a:p>
            <a:pPr algn="ctr">
              <a:lnSpc>
                <a:spcPct val="120000"/>
              </a:lnSpc>
            </a:pPr>
            <a:r>
              <a:rPr sz="1300" b="1">
                <a:solidFill>
                  <a:srgbClr val="1F285A"/>
                </a:solidFill>
                <a:latin typeface="メイリオ"/>
                <a:ea typeface="メイリオ"/>
                <a:cs typeface="メイリオ"/>
              </a:rPr>
              <a:t>体験予約</a:t>
            </a:r>
          </a:p>
          <a:p>
            <a:pPr algn="ctr">
              <a:lnSpc>
                <a:spcPct val="120000"/>
              </a:lnSpc>
            </a:pPr>
            <a:r>
              <a:rPr sz="1100" b="0">
                <a:solidFill>
                  <a:srgbClr val="1F285A"/>
                </a:solidFill>
                <a:latin typeface="メイリオ"/>
                <a:ea typeface="メイリオ"/>
                <a:cs typeface="メイリオ"/>
              </a:rPr>
              <a:t>フォーム</a:t>
            </a:r>
          </a:p>
        </p:txBody>
      </p:sp>
      <p:sp>
        <p:nvSpPr>
          <p:cNvPr id="47" name="Right Arrow 46"/>
          <p:cNvSpPr/>
          <p:nvPr/>
        </p:nvSpPr>
        <p:spPr>
          <a:xfrm>
            <a:off x="2052000" y="2359800"/>
            <a:ext cx="288000" cy="324000"/>
          </a:xfrm>
          <a:prstGeom prst="right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メイリオ"/>
              <a:ea typeface="メイリオ"/>
              <a:cs typeface="メイリオ"/>
            </a:endParaRPr>
          </a:p>
        </p:txBody>
      </p:sp>
      <p:sp>
        <p:nvSpPr>
          <p:cNvPr id="48" name="Rounded Rectangle 47"/>
          <p:cNvSpPr/>
          <p:nvPr/>
        </p:nvSpPr>
        <p:spPr>
          <a:xfrm>
            <a:off x="2412000" y="2071800"/>
            <a:ext cx="1548000" cy="900000"/>
          </a:xfrm>
          <a:prstGeom prst="roundRect">
            <a:avLst>
              <a:gd name="adj" fmla="val 10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54000" tIns="18000" rIns="54000" bIns="18000" rtlCol="0" anchor="ctr"/>
          <a:lstStyle/>
          <a:p>
            <a:pPr algn="ctr">
              <a:lnSpc>
                <a:spcPct val="120000"/>
              </a:lnSpc>
            </a:pPr>
            <a:r>
              <a:rPr sz="1300" b="1">
                <a:solidFill>
                  <a:srgbClr val="1F285A"/>
                </a:solidFill>
                <a:latin typeface="メイリオ"/>
                <a:ea typeface="メイリオ"/>
                <a:cs typeface="メイリオ"/>
              </a:rPr>
              <a:t>予約完了</a:t>
            </a:r>
          </a:p>
          <a:p>
            <a:pPr algn="ctr">
              <a:lnSpc>
                <a:spcPct val="120000"/>
              </a:lnSpc>
            </a:pPr>
            <a:r>
              <a:rPr sz="1100" b="0">
                <a:solidFill>
                  <a:srgbClr val="1F285A"/>
                </a:solidFill>
                <a:latin typeface="メイリオ"/>
                <a:ea typeface="メイリオ"/>
                <a:cs typeface="メイリオ"/>
              </a:rPr>
              <a:t>の画面</a:t>
            </a:r>
          </a:p>
        </p:txBody>
      </p:sp>
      <p:sp>
        <p:nvSpPr>
          <p:cNvPr id="49" name="Right Arrow 48"/>
          <p:cNvSpPr/>
          <p:nvPr/>
        </p:nvSpPr>
        <p:spPr>
          <a:xfrm>
            <a:off x="4031999"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メイリオ"/>
              <a:ea typeface="メイリオ"/>
              <a:cs typeface="メイリオ"/>
            </a:endParaRPr>
          </a:p>
        </p:txBody>
      </p:sp>
      <p:sp>
        <p:nvSpPr>
          <p:cNvPr id="50" name="Rounded Rectangle 49"/>
          <p:cNvSpPr/>
          <p:nvPr/>
        </p:nvSpPr>
        <p:spPr>
          <a:xfrm>
            <a:off x="4392000" y="2071800"/>
            <a:ext cx="1440000" cy="900000"/>
          </a:xfrm>
          <a:prstGeom prst="roundRect">
            <a:avLst>
              <a:gd name="adj" fmla="val 1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18000" rIns="54000" bIns="18000" rtlCol="0" anchor="ctr"/>
          <a:lstStyle/>
          <a:p>
            <a:pPr algn="ctr">
              <a:lnSpc>
                <a:spcPct val="120000"/>
              </a:lnSpc>
            </a:pPr>
            <a:r>
              <a:rPr sz="1300" b="1">
                <a:solidFill>
                  <a:srgbClr val="FFFFFF"/>
                </a:solidFill>
                <a:latin typeface="メイリオ"/>
                <a:ea typeface="メイリオ"/>
                <a:cs typeface="メイリオ"/>
              </a:rPr>
              <a:t>DYMの</a:t>
            </a:r>
          </a:p>
          <a:p>
            <a:pPr algn="ctr">
              <a:lnSpc>
                <a:spcPct val="120000"/>
              </a:lnSpc>
            </a:pPr>
            <a:r>
              <a:rPr sz="1100" b="0">
                <a:solidFill>
                  <a:srgbClr val="FFFFFF"/>
                </a:solidFill>
                <a:latin typeface="メイリオ"/>
                <a:ea typeface="メイリオ"/>
                <a:cs typeface="メイリオ"/>
              </a:rPr>
              <a:t>ツールで</a:t>
            </a:r>
          </a:p>
          <a:p>
            <a:pPr algn="ctr">
              <a:lnSpc>
                <a:spcPct val="120000"/>
              </a:lnSpc>
            </a:pPr>
            <a:r>
              <a:rPr sz="1100" b="0">
                <a:solidFill>
                  <a:srgbClr val="FFFFFF"/>
                </a:solidFill>
                <a:latin typeface="メイリオ"/>
                <a:ea typeface="メイリオ"/>
                <a:cs typeface="メイリオ"/>
              </a:rPr>
              <a:t>LINEへ</a:t>
            </a:r>
          </a:p>
        </p:txBody>
      </p:sp>
      <p:sp>
        <p:nvSpPr>
          <p:cNvPr id="51" name="Right Arrow 50"/>
          <p:cNvSpPr/>
          <p:nvPr/>
        </p:nvSpPr>
        <p:spPr>
          <a:xfrm>
            <a:off x="5903999"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メイリオ"/>
              <a:ea typeface="メイリオ"/>
              <a:cs typeface="メイリオ"/>
            </a:endParaRPr>
          </a:p>
        </p:txBody>
      </p:sp>
      <p:sp>
        <p:nvSpPr>
          <p:cNvPr id="52" name="Rounded Rectangle 51"/>
          <p:cNvSpPr/>
          <p:nvPr/>
        </p:nvSpPr>
        <p:spPr>
          <a:xfrm>
            <a:off x="6263999" y="2071800"/>
            <a:ext cx="1584000" cy="900000"/>
          </a:xfrm>
          <a:prstGeom prst="roundRect">
            <a:avLst>
              <a:gd name="adj" fmla="val 10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54000" tIns="18000" rIns="54000" bIns="18000" rtlCol="0" anchor="ctr"/>
          <a:lstStyle/>
          <a:p>
            <a:pPr algn="ctr">
              <a:lnSpc>
                <a:spcPct val="120000"/>
              </a:lnSpc>
            </a:pPr>
            <a:r>
              <a:rPr sz="1200" b="1">
                <a:solidFill>
                  <a:srgbClr val="0B7A3B"/>
                </a:solidFill>
                <a:latin typeface="メイリオ"/>
                <a:ea typeface="メイリオ"/>
                <a:cs typeface="メイリオ"/>
              </a:rPr>
              <a:t>体験前の案内</a:t>
            </a:r>
          </a:p>
          <a:p>
            <a:pPr algn="ctr">
              <a:lnSpc>
                <a:spcPct val="120000"/>
              </a:lnSpc>
            </a:pPr>
            <a:r>
              <a:rPr sz="1000" b="0">
                <a:solidFill>
                  <a:srgbClr val="0B7A3B"/>
                </a:solidFill>
                <a:latin typeface="メイリオ"/>
                <a:ea typeface="メイリオ"/>
                <a:cs typeface="メイリオ"/>
              </a:rPr>
              <a:t>体験後のフォロー</a:t>
            </a:r>
          </a:p>
        </p:txBody>
      </p:sp>
      <p:sp>
        <p:nvSpPr>
          <p:cNvPr id="53" name="Right Arrow 52"/>
          <p:cNvSpPr/>
          <p:nvPr/>
        </p:nvSpPr>
        <p:spPr>
          <a:xfrm>
            <a:off x="7920000"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メイリオ"/>
              <a:ea typeface="メイリオ"/>
              <a:cs typeface="メイリオ"/>
            </a:endParaRPr>
          </a:p>
        </p:txBody>
      </p:sp>
      <p:sp>
        <p:nvSpPr>
          <p:cNvPr id="54" name="Rounded Rectangle 53"/>
          <p:cNvSpPr/>
          <p:nvPr/>
        </p:nvSpPr>
        <p:spPr>
          <a:xfrm>
            <a:off x="8280000" y="2071800"/>
            <a:ext cx="1195200" cy="900000"/>
          </a:xfrm>
          <a:prstGeom prst="roundRect">
            <a:avLst>
              <a:gd name="adj" fmla="val 1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18000" rIns="54000" bIns="18000" rtlCol="0" anchor="ctr"/>
          <a:lstStyle/>
          <a:p>
            <a:pPr algn="ctr">
              <a:lnSpc>
                <a:spcPct val="120000"/>
              </a:lnSpc>
            </a:pPr>
            <a:r>
              <a:rPr sz="1500" b="1">
                <a:solidFill>
                  <a:srgbClr val="FFFFFF"/>
                </a:solidFill>
                <a:latin typeface="メイリオ"/>
                <a:ea typeface="メイリオ"/>
                <a:cs typeface="メイリオ"/>
              </a:rPr>
              <a:t>入会</a:t>
            </a:r>
          </a:p>
        </p:txBody>
      </p:sp>
      <p:sp>
        <p:nvSpPr>
          <p:cNvPr id="55" name="Rounded Rectangle 54"/>
          <p:cNvSpPr/>
          <p:nvPr/>
        </p:nvSpPr>
        <p:spPr>
          <a:xfrm>
            <a:off x="4320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25999" tIns="90000" rIns="108000" bIns="54000" rtlCol="0" anchor="ctr"/>
          <a:lstStyle/>
          <a:p>
            <a:pPr algn="l">
              <a:spcAft>
                <a:spcPts val="500"/>
              </a:spcAft>
            </a:pPr>
            <a:r>
              <a:rPr sz="1250" b="1">
                <a:solidFill>
                  <a:srgbClr val="1F285A"/>
                </a:solidFill>
                <a:latin typeface="メイリオ"/>
                <a:ea typeface="メイリオ"/>
                <a:cs typeface="メイリオ"/>
              </a:rPr>
              <a:t>予約の直後に案内</a:t>
            </a:r>
          </a:p>
          <a:p>
            <a:pPr algn="l">
              <a:lnSpc>
                <a:spcPct val="125000"/>
              </a:lnSpc>
              <a:spcAft>
                <a:spcPts val="200"/>
              </a:spcAft>
            </a:pPr>
            <a:r>
              <a:rPr sz="1050">
                <a:solidFill>
                  <a:srgbClr val="333333"/>
                </a:solidFill>
                <a:latin typeface="メイリオ"/>
                <a:ea typeface="メイリオ"/>
                <a:cs typeface="メイリオ"/>
              </a:rPr>
              <a:t>関心が一番高いタイミングなので、友だちになっていただきやすい</a:t>
            </a:r>
          </a:p>
        </p:txBody>
      </p:sp>
      <p:sp>
        <p:nvSpPr>
          <p:cNvPr id="56" name="Rounded Rectangle 55"/>
          <p:cNvSpPr/>
          <p:nvPr/>
        </p:nvSpPr>
        <p:spPr>
          <a:xfrm>
            <a:off x="34776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25999" tIns="90000" rIns="108000" bIns="54000" rtlCol="0" anchor="ctr"/>
          <a:lstStyle/>
          <a:p>
            <a:pPr algn="l">
              <a:spcAft>
                <a:spcPts val="500"/>
              </a:spcAft>
            </a:pPr>
            <a:r>
              <a:rPr sz="1250" b="1">
                <a:solidFill>
                  <a:srgbClr val="1F285A"/>
                </a:solidFill>
                <a:latin typeface="メイリオ"/>
                <a:ea typeface="メイリオ"/>
                <a:cs typeface="メイリオ"/>
              </a:rPr>
              <a:t>予約内容をトークに反映</a:t>
            </a:r>
          </a:p>
          <a:p>
            <a:pPr algn="l">
              <a:lnSpc>
                <a:spcPct val="125000"/>
              </a:lnSpc>
              <a:spcAft>
                <a:spcPts val="200"/>
              </a:spcAft>
            </a:pPr>
            <a:r>
              <a:rPr sz="1050">
                <a:solidFill>
                  <a:srgbClr val="333333"/>
                </a:solidFill>
                <a:latin typeface="メイリオ"/>
                <a:ea typeface="メイリオ"/>
                <a:cs typeface="メイリオ"/>
              </a:rPr>
              <a:t>体験内容に合わせて、案内を出し分ける</a:t>
            </a:r>
          </a:p>
        </p:txBody>
      </p:sp>
      <p:sp>
        <p:nvSpPr>
          <p:cNvPr id="57" name="Rounded Rectangle 56"/>
          <p:cNvSpPr/>
          <p:nvPr/>
        </p:nvSpPr>
        <p:spPr>
          <a:xfrm>
            <a:off x="65232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25999" tIns="90000" rIns="108000" bIns="54000" rtlCol="0" anchor="ctr"/>
          <a:lstStyle/>
          <a:p>
            <a:pPr algn="l">
              <a:spcAft>
                <a:spcPts val="500"/>
              </a:spcAft>
            </a:pPr>
            <a:r>
              <a:rPr sz="1250" b="1">
                <a:solidFill>
                  <a:srgbClr val="1F285A"/>
                </a:solidFill>
                <a:latin typeface="メイリオ"/>
                <a:ea typeface="メイリオ"/>
                <a:cs typeface="メイリオ"/>
              </a:rPr>
              <a:t>体験前後のフォロー</a:t>
            </a:r>
          </a:p>
          <a:p>
            <a:pPr algn="l">
              <a:lnSpc>
                <a:spcPct val="125000"/>
              </a:lnSpc>
              <a:spcAft>
                <a:spcPts val="200"/>
              </a:spcAft>
            </a:pPr>
            <a:r>
              <a:rPr sz="1050">
                <a:solidFill>
                  <a:srgbClr val="333333"/>
                </a:solidFill>
                <a:latin typeface="メイリオ"/>
                <a:ea typeface="メイリオ"/>
                <a:cs typeface="メイリオ"/>
              </a:rPr>
              <a:t>体験前の案内で来場を、体験後のフォローで入会を後押し</a:t>
            </a:r>
          </a:p>
        </p:txBody>
      </p:sp>
      <p:sp>
        <p:nvSpPr>
          <p:cNvPr id="58" name="Rounded Rectangle 57"/>
          <p:cNvSpPr/>
          <p:nvPr/>
        </p:nvSpPr>
        <p:spPr>
          <a:xfrm>
            <a:off x="432000" y="4195801"/>
            <a:ext cx="9043200" cy="468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400" b="1">
                <a:solidFill>
                  <a:srgbClr val="FFFFFF"/>
                </a:solidFill>
                <a:latin typeface="メイリオ"/>
                <a:ea typeface="メイリオ"/>
                <a:cs typeface="メイリオ"/>
              </a:rPr>
              <a:t>弊社実績：美容クリニックで、予約後の来院率が40〜50%改善</a:t>
            </a:r>
          </a:p>
        </p:txBody>
      </p:sp>
      <p:sp>
        <p:nvSpPr>
          <p:cNvPr id="59" name="Rounded Rectangle 58"/>
          <p:cNvSpPr/>
          <p:nvPr/>
        </p:nvSpPr>
        <p:spPr>
          <a:xfrm>
            <a:off x="2559600" y="4825801"/>
            <a:ext cx="2340000" cy="46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600" b="1">
                <a:solidFill>
                  <a:srgbClr val="FFFFFF"/>
                </a:solidFill>
                <a:latin typeface="メイリオ"/>
                <a:ea typeface="メイリオ"/>
                <a:cs typeface="メイリオ"/>
              </a:rPr>
              <a:t>初期 15万円</a:t>
            </a:r>
          </a:p>
        </p:txBody>
      </p:sp>
      <p:sp>
        <p:nvSpPr>
          <p:cNvPr id="60" name="Rounded Rectangle 59"/>
          <p:cNvSpPr/>
          <p:nvPr/>
        </p:nvSpPr>
        <p:spPr>
          <a:xfrm>
            <a:off x="5007600" y="4825801"/>
            <a:ext cx="2340000" cy="46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600" b="1">
                <a:solidFill>
                  <a:srgbClr val="FFFFFF"/>
                </a:solidFill>
                <a:latin typeface="メイリオ"/>
                <a:ea typeface="メイリオ"/>
                <a:cs typeface="メイリオ"/>
              </a:rPr>
              <a:t>月額 5万円</a:t>
            </a:r>
          </a:p>
        </p:txBody>
      </p:sp>
      <p:sp>
        <p:nvSpPr>
          <p:cNvPr id="61" name="TextBox 60"/>
          <p:cNvSpPr txBox="1"/>
          <p:nvPr/>
        </p:nvSpPr>
        <p:spPr>
          <a:xfrm>
            <a:off x="432000" y="5347801"/>
            <a:ext cx="9043200" cy="396000"/>
          </a:xfrm>
          <a:prstGeom prst="rect">
            <a:avLst/>
          </a:prstGeom>
          <a:noFill/>
        </p:spPr>
        <p:txBody>
          <a:bodyPr wrap="square" lIns="0" tIns="21600" rIns="0" bIns="21600" anchor="ctr">
            <a:spAutoFit/>
          </a:bodyPr>
          <a:lstStyle/>
          <a:p>
            <a:pPr algn="ctr"/>
            <a:r>
              <a:rPr sz="1000">
                <a:solidFill>
                  <a:srgbClr val="7F7F7F"/>
                </a:solidFill>
                <a:latin typeface="メイリオ"/>
                <a:ea typeface="メイリオ"/>
                <a:cs typeface="メイリオ"/>
              </a:rPr>
              <a:t>※APIツール（Lステップ等）と併用可／完了画面を増やす場合は追加費用</a:t>
            </a:r>
          </a:p>
          <a:p>
            <a:pPr algn="ctr"/>
            <a:r>
              <a:rPr sz="1000">
                <a:solidFill>
                  <a:srgbClr val="7F7F7F"/>
                </a:solidFill>
                <a:latin typeface="メイリオ"/>
                <a:ea typeface="メイリオ"/>
                <a:cs typeface="メイリオ"/>
              </a:rPr>
              <a:t>※「想定の費用対効果」には含まれない、追加のご提案</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cs typeface="メイリオ"/>
              </a:rPr>
              <a:t>WEB</a:t>
            </a:r>
            <a:r>
              <a:rPr lang="ja-JP" altLang="en-US" sz="2400" dirty="0">
                <a:solidFill>
                  <a:schemeClr val="bg1"/>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cs typeface="メイリオ"/>
              </a:rPr>
              <a:t>☑</a:t>
            </a:r>
            <a:endParaRPr lang="ja-JP" altLang="en-US" sz="3600" dirty="0">
              <a:latin typeface="メイリオ"/>
              <a:ea typeface="メイリオ"/>
              <a:cs typeface="メイリオ"/>
            </a:endParaRPr>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cs typeface="メイリオ"/>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1400" dirty="0">
                <a:solidFill>
                  <a:schemeClr val="bg1"/>
                </a:solidFill>
                <a:latin typeface="メイリオ" panose="020B0604030504040204" pitchFamily="50" charset="-128"/>
                <a:ea typeface="メイリオ" panose="020B0604030504040204" pitchFamily="50" charset="-128"/>
                <a:cs typeface="メイリオ"/>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cs typeface="メイリオ"/>
              </a:rPr>
              <a:t>効果計測</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ツールなし</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kumimoji="1" lang="ja-JP" altLang="en-US" sz="1200" b="1" dirty="0">
                <a:latin typeface="メイリオ" panose="020B0604030504040204" pitchFamily="50" charset="-128"/>
                <a:ea typeface="メイリオ" panose="020B0604030504040204" pitchFamily="50" charset="-128"/>
                <a:cs typeface="メイリオ"/>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cs typeface="メイリオ"/>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ツール有無</a:t>
            </a:r>
            <a:endParaRPr lang="en-US" altLang="ja-JP" sz="1200" b="1" dirty="0">
              <a:latin typeface="メイリオ" panose="020B0604030504040204" pitchFamily="50" charset="-128"/>
              <a:ea typeface="メイリオ" panose="020B0604030504040204" pitchFamily="50" charset="-128"/>
              <a:cs typeface="メイリオ"/>
            </a:endParaRPr>
          </a:p>
          <a:p>
            <a:pPr algn="ctr"/>
            <a:r>
              <a:rPr kumimoji="1" lang="ja-JP" altLang="en-US" sz="1200" b="1" dirty="0">
                <a:latin typeface="メイリオ" panose="020B0604030504040204" pitchFamily="50" charset="-128"/>
                <a:ea typeface="メイリオ" panose="020B0604030504040204" pitchFamily="50" charset="-128"/>
                <a:cs typeface="メイリオ"/>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cs typeface="メイリオ"/>
              </a:rPr>
              <a:t>定期投稿、シナリオ、リッチメニュー等に設定の</a:t>
            </a:r>
            <a:endParaRPr lang="en-US" altLang="ja-JP" sz="1400" dirty="0">
              <a:latin typeface="メイリオ" panose="020B0604030504040204" pitchFamily="50" charset="-128"/>
              <a:ea typeface="メイリオ" panose="020B0604030504040204" pitchFamily="50" charset="-128"/>
              <a:cs typeface="メイリオ"/>
            </a:endParaRPr>
          </a:p>
          <a:p>
            <a:r>
              <a:rPr lang="ja-JP" altLang="en-US" sz="1400" dirty="0">
                <a:latin typeface="メイリオ" panose="020B0604030504040204" pitchFamily="50" charset="-128"/>
                <a:ea typeface="メイリオ" panose="020B0604030504040204" pitchFamily="50" charset="-128"/>
                <a:cs typeface="メイリオ"/>
              </a:rPr>
              <a:t>リンクについて、</a:t>
            </a:r>
            <a:r>
              <a:rPr lang="en-US" altLang="ja-JP" sz="1400" dirty="0">
                <a:solidFill>
                  <a:srgbClr val="FF0000"/>
                </a:solidFill>
                <a:latin typeface="メイリオ" panose="020B0604030504040204" pitchFamily="50" charset="-128"/>
                <a:ea typeface="メイリオ" panose="020B0604030504040204" pitchFamily="50" charset="-128"/>
                <a:cs typeface="メイリオ"/>
              </a:rPr>
              <a:t>GA</a:t>
            </a:r>
            <a:r>
              <a:rPr lang="ja-JP" altLang="en-US" sz="1400" dirty="0" err="1">
                <a:solidFill>
                  <a:srgbClr val="FF0000"/>
                </a:solidFill>
                <a:latin typeface="メイリオ" panose="020B0604030504040204" pitchFamily="50" charset="-128"/>
                <a:ea typeface="メイリオ" panose="020B0604030504040204" pitchFamily="50" charset="-128"/>
                <a:cs typeface="メイリオ"/>
              </a:rPr>
              <a:t>、</a:t>
            </a:r>
            <a:r>
              <a:rPr lang="en-US" altLang="ja-JP" sz="1400" dirty="0">
                <a:solidFill>
                  <a:srgbClr val="FF0000"/>
                </a:solidFill>
                <a:latin typeface="メイリオ" panose="020B0604030504040204" pitchFamily="50" charset="-128"/>
                <a:ea typeface="メイリオ" panose="020B0604030504040204" pitchFamily="50" charset="-128"/>
                <a:cs typeface="メイリオ"/>
              </a:rPr>
              <a:t>MA</a:t>
            </a:r>
            <a:r>
              <a:rPr lang="ja-JP" altLang="en-US" sz="1400" dirty="0">
                <a:solidFill>
                  <a:srgbClr val="FF0000"/>
                </a:solidFill>
                <a:latin typeface="メイリオ" panose="020B0604030504040204" pitchFamily="50" charset="-128"/>
                <a:ea typeface="メイリオ" panose="020B0604030504040204" pitchFamily="50" charset="-128"/>
                <a:cs typeface="メイリオ"/>
              </a:rPr>
              <a:t>ツールでの計測可能</a:t>
            </a:r>
            <a:r>
              <a:rPr lang="ja-JP" altLang="en-US" sz="1400" dirty="0">
                <a:latin typeface="メイリオ" panose="020B0604030504040204" pitchFamily="50" charset="-128"/>
                <a:ea typeface="メイリオ" panose="020B0604030504040204" pitchFamily="50" charset="-128"/>
                <a:cs typeface="メイリオ"/>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cs typeface="メイリオ"/>
              </a:rPr>
              <a:t>DYM</a:t>
            </a:r>
            <a:endParaRPr lang="ja-JP" altLang="en-US" dirty="0">
              <a:latin typeface="メイリオ" panose="020B0604030504040204" pitchFamily="50" charset="-128"/>
              <a:ea typeface="メイリオ" panose="020B0604030504040204" pitchFamily="50" charset="-128"/>
              <a:cs typeface="メイリオ"/>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レポート（日次）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kumimoji="1"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レポート（月次）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cs typeface="メイリオ"/>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cs typeface="メイリオ"/>
            </a:endParaRPr>
          </a:p>
          <a:p>
            <a:pPr algn="ctr"/>
            <a:r>
              <a:rPr lang="ja-JP" altLang="en-US" sz="1400" dirty="0">
                <a:latin typeface="メイリオ" panose="020B0604030504040204" pitchFamily="50" charset="-128"/>
                <a:ea typeface="メイリオ" panose="020B0604030504040204" pitchFamily="50" charset="-128"/>
                <a:cs typeface="メイリオ"/>
              </a:rPr>
              <a:t>投稿別</a:t>
            </a:r>
            <a:r>
              <a:rPr lang="en-US" altLang="ja-JP" sz="1400" dirty="0">
                <a:latin typeface="メイリオ" panose="020B0604030504040204" pitchFamily="50" charset="-128"/>
                <a:ea typeface="メイリオ" panose="020B0604030504040204" pitchFamily="50" charset="-128"/>
                <a:cs typeface="メイリオ"/>
              </a:rPr>
              <a:t>×</a:t>
            </a:r>
            <a:r>
              <a:rPr lang="ja-JP" altLang="en-US" sz="1400" dirty="0">
                <a:latin typeface="メイリオ" panose="020B0604030504040204" pitchFamily="50" charset="-128"/>
                <a:ea typeface="メイリオ" panose="020B0604030504040204" pitchFamily="50" charset="-128"/>
                <a:cs typeface="メイリオ"/>
              </a:rPr>
              <a:t>セグメント別でデータ化でき、</a:t>
            </a:r>
            <a:r>
              <a:rPr lang="en-US" altLang="ja-JP" sz="1400" dirty="0">
                <a:latin typeface="メイリオ" panose="020B0604030504040204" pitchFamily="50" charset="-128"/>
                <a:ea typeface="メイリオ" panose="020B0604030504040204" pitchFamily="50" charset="-128"/>
                <a:cs typeface="メイリオ"/>
              </a:rPr>
              <a:t>AB</a:t>
            </a:r>
            <a:r>
              <a:rPr lang="ja-JP" altLang="en-US" sz="1400" dirty="0">
                <a:latin typeface="メイリオ" panose="020B0604030504040204" pitchFamily="50" charset="-128"/>
                <a:ea typeface="メイリオ" panose="020B0604030504040204" pitchFamily="50" charset="-128"/>
                <a:cs typeface="メイリオ"/>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弊社体制図</a:t>
            </a:r>
            <a:endParaRPr kumimoji="1" lang="ja-JP" altLang="en-US" sz="1600" b="1" dirty="0">
              <a:latin typeface="メイリオ" panose="020B0604030504040204" pitchFamily="50" charset="-128"/>
              <a:ea typeface="メイリオ" panose="020B0604030504040204" pitchFamily="50" charset="-128"/>
              <a:cs typeface="メイリオ"/>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メイリオ"/>
                <a:ea typeface="メイリオ"/>
                <a:cs typeface="メイリオ"/>
                <a:sym typeface="Meiryo"/>
              </a:rPr>
              <a:t>GA</a:t>
            </a:r>
            <a:r>
              <a:rPr lang="ja-JP" altLang="en-US" sz="1600" b="1" dirty="0">
                <a:solidFill>
                  <a:schemeClr val="tx1">
                    <a:lumMod val="65000"/>
                    <a:lumOff val="35000"/>
                  </a:schemeClr>
                </a:solidFill>
                <a:latin typeface="メイリオ"/>
                <a:ea typeface="メイリオ"/>
                <a:cs typeface="メイリオ"/>
                <a:sym typeface="Meiryo"/>
              </a:rPr>
              <a:t>及び</a:t>
            </a:r>
            <a:r>
              <a:rPr lang="en-US" altLang="ja-JP" sz="1600" b="1" dirty="0">
                <a:solidFill>
                  <a:schemeClr val="tx1">
                    <a:lumMod val="65000"/>
                    <a:lumOff val="35000"/>
                  </a:schemeClr>
                </a:solidFill>
                <a:latin typeface="メイリオ"/>
                <a:ea typeface="メイリオ"/>
                <a:cs typeface="メイリオ"/>
                <a:sym typeface="Meiryo"/>
              </a:rPr>
              <a:t>MA</a:t>
            </a:r>
            <a:r>
              <a:rPr lang="ja-JP" altLang="en-US" sz="1600" b="1" dirty="0">
                <a:solidFill>
                  <a:schemeClr val="tx1">
                    <a:lumMod val="65000"/>
                    <a:lumOff val="35000"/>
                  </a:schemeClr>
                </a:solidFill>
                <a:latin typeface="メイリオ"/>
                <a:ea typeface="メイリオ"/>
                <a:cs typeface="メイリオ"/>
                <a:sym typeface="Meiryo"/>
              </a:rPr>
              <a:t>ツール両面での計測ができるようパラメータ管理。</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公式アカウントの管理画面には出ない、サイト上の結果を紐づけ。</a:t>
            </a:r>
            <a:endParaRPr sz="1600" b="1" dirty="0">
              <a:solidFill>
                <a:schemeClr val="tx1">
                  <a:lumMod val="65000"/>
                  <a:lumOff val="35000"/>
                </a:schemeClr>
              </a:solidFill>
              <a:latin typeface="メイリオ"/>
              <a:ea typeface="メイリオ"/>
              <a:cs typeface="メイリオ"/>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体制図（イメージ）</a:t>
            </a:r>
            <a:endParaRPr sz="1600" b="1" dirty="0">
              <a:solidFill>
                <a:srgbClr val="002060"/>
              </a:solidFill>
              <a:latin typeface="メイリオ"/>
              <a:ea typeface="メイリオ"/>
              <a:cs typeface="メイリオ"/>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SNS運用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入稿作業</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運用サポート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cs typeface="メイリオ"/>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制作</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LINEOA運用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広告運用統括・コンサル</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　</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latin typeface="メイリオ"/>
              <a:ea typeface="メイリオ"/>
              <a:cs typeface="メイリオ"/>
            </a:endParaRPr>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35440024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a:t>
            </a:r>
            <a:r>
              <a:rPr lang="en-US" altLang="ja-JP" sz="2400" dirty="0">
                <a:latin typeface="メイリオ" panose="020B0604030504040204" pitchFamily="50" charset="-128"/>
                <a:ea typeface="メイリオ" panose="020B0604030504040204" pitchFamily="50" charset="-128"/>
                <a:cs typeface="メイリオ"/>
              </a:rPr>
              <a:t>/LINE</a:t>
            </a:r>
            <a:r>
              <a:rPr lang="ja-JP" altLang="en-US" sz="2400" dirty="0">
                <a:latin typeface="メイリオ" panose="020B0604030504040204" pitchFamily="50" charset="-128"/>
                <a:ea typeface="メイリオ" panose="020B0604030504040204" pitchFamily="50" charset="-128"/>
                <a:cs typeface="メイリオ"/>
              </a:rPr>
              <a:t>上への実装については、約</a:t>
            </a:r>
            <a:r>
              <a:rPr lang="en-US" altLang="ja-JP" sz="2400" dirty="0">
                <a:latin typeface="メイリオ" panose="020B0604030504040204" pitchFamily="50" charset="-128"/>
                <a:ea typeface="メイリオ" panose="020B0604030504040204" pitchFamily="50" charset="-128"/>
                <a:cs typeface="メイリオ"/>
              </a:rPr>
              <a:t>1</a:t>
            </a:r>
            <a:r>
              <a:rPr lang="ja-JP" altLang="en-US" sz="2400" dirty="0">
                <a:latin typeface="メイリオ" panose="020B0604030504040204" pitchFamily="50" charset="-128"/>
                <a:ea typeface="メイリオ" panose="020B0604030504040204" pitchFamily="50" charset="-128"/>
                <a:cs typeface="メイリオ"/>
              </a:rPr>
              <a:t>か月程度を頂き進行。</a:t>
            </a:r>
            <a:endParaRPr lang="ja-JP" altLang="en-US" sz="2400" dirty="0">
              <a:latin typeface="メイリオ"/>
              <a:ea typeface="メイリオ"/>
              <a:cs typeface="メイリオ"/>
            </a:endParaRPr>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貴社作業・確認にかかる時間により前後する可能性あり</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cs typeface="メイリオ"/>
              </a:rPr>
              <a:t>約</a:t>
            </a:r>
            <a:r>
              <a:rPr lang="en-US" altLang="ja-JP" sz="1200" dirty="0">
                <a:latin typeface="メイリオ" panose="020B0604030504040204" pitchFamily="50" charset="-128"/>
                <a:ea typeface="メイリオ" panose="020B0604030504040204" pitchFamily="50" charset="-128"/>
                <a:cs typeface="メイリオ"/>
              </a:rPr>
              <a:t>1</a:t>
            </a:r>
            <a:r>
              <a:rPr lang="ja-JP" altLang="en-US" sz="1200" dirty="0">
                <a:latin typeface="メイリオ" panose="020B0604030504040204" pitchFamily="50" charset="-128"/>
                <a:ea typeface="メイリオ" panose="020B0604030504040204" pitchFamily="50" charset="-128"/>
                <a:cs typeface="メイリオ"/>
              </a:rPr>
              <a:t>か月</a:t>
            </a:r>
            <a:endParaRPr lang="ja-JP" altLang="en-US" sz="1200" dirty="0">
              <a:latin typeface="メイリオ"/>
              <a:ea typeface="メイリオ"/>
              <a:cs typeface="メイリオ"/>
            </a:endParaRP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Tree>
    <p:extLst>
      <p:ext uri="{BB962C8B-B14F-4D97-AF65-F5344CB8AC3E}">
        <p14:creationId xmlns:p14="http://schemas.microsoft.com/office/powerpoint/2010/main" val="21214348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テキスト ボックス 5">
            <a:extLst>
              <a:ext uri="{FF2B5EF4-FFF2-40B4-BE49-F238E27FC236}">
                <a16:creationId xmlns:a16="http://schemas.microsoft.com/office/drawing/2014/main" id="{5596DE8E-ACCE-014A-70C9-C3E723DD7EAE}"/>
              </a:ext>
            </a:extLst>
          </p:cNvPr>
          <p:cNvSpPr txBox="1"/>
          <p:nvPr/>
        </p:nvSpPr>
        <p:spPr>
          <a:xfrm>
            <a:off x="4091225" y="3622978"/>
            <a:ext cx="1723549" cy="461665"/>
          </a:xfrm>
          <a:prstGeom prst="rect">
            <a:avLst/>
          </a:prstGeom>
          <a:noFill/>
        </p:spPr>
        <p:txBody>
          <a:bodyPr wrap="none" rtlCol="0">
            <a:spAutoFit/>
          </a:bodyPr>
          <a:lstStyle/>
          <a:p>
            <a:r>
              <a:rPr kumimoji="1" lang="ja-JP" altLang="en-US" sz="2400" dirty="0">
                <a:latin typeface="メイリオ" panose="020B0604030504040204" pitchFamily="50" charset="-128"/>
                <a:ea typeface="メイリオ" panose="020B0604030504040204" pitchFamily="50" charset="-128"/>
                <a:cs typeface="メイリオ"/>
              </a:rPr>
              <a:t>補足資料①</a:t>
            </a:r>
          </a:p>
        </p:txBody>
      </p:sp>
    </p:spTree>
    <p:extLst>
      <p:ext uri="{BB962C8B-B14F-4D97-AF65-F5344CB8AC3E}">
        <p14:creationId xmlns:p14="http://schemas.microsoft.com/office/powerpoint/2010/main" val="37095433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離脱防止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友だち追加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で学習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リード獲得・利用 の導線設計でハードルを抑えつつ運用することが可能。</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の動線での</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DYM</a:t>
            </a:r>
            <a:r>
              <a:rPr lang="ja-JP" altLang="en-US" sz="1200" dirty="0">
                <a:solidFill>
                  <a:schemeClr val="bg1"/>
                </a:solidFill>
                <a:latin typeface="メイリオ" panose="020B0604030504040204" pitchFamily="50" charset="-128"/>
                <a:ea typeface="メイリオ" panose="020B0604030504040204" pitchFamily="50" charset="-128"/>
                <a:cs typeface="メイリオ"/>
              </a:rPr>
              <a:t>施策</a:t>
            </a:r>
            <a:endParaRPr lang="ja-JP" altLang="en-US" sz="1200" dirty="0">
              <a:solidFill>
                <a:schemeClr val="bg1"/>
              </a:solidFill>
              <a:latin typeface="メイリオ"/>
              <a:ea typeface="メイリオ"/>
              <a:cs typeface="メイリオ"/>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現状施策</a:t>
            </a:r>
            <a:endParaRPr lang="ja-JP" altLang="en-US" sz="1200" dirty="0">
              <a:solidFill>
                <a:schemeClr val="bg1"/>
              </a:solidFill>
              <a:latin typeface="メイリオ"/>
              <a:ea typeface="メイリオ"/>
              <a:cs typeface="メイリオ"/>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※ID</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ミニアプリ・診断 →</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 </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特典</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 </a:t>
            </a:r>
            <a:r>
              <a:rPr kumimoji="1" lang="ja-JP" altLang="en-US" sz="1200" b="1" dirty="0">
                <a:latin typeface="メイリオ" panose="020B0604030504040204" pitchFamily="50" charset="-128"/>
                <a:ea typeface="メイリオ" panose="020B0604030504040204" pitchFamily="50" charset="-128"/>
                <a:cs typeface="メイリオ"/>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自社</a:t>
            </a:r>
            <a:r>
              <a:rPr kumimoji="1" lang="en-US" altLang="ja-JP" sz="1200" b="1" dirty="0">
                <a:latin typeface="メイリオ" panose="020B0604030504040204" pitchFamily="50" charset="-128"/>
                <a:ea typeface="メイリオ" panose="020B0604030504040204" pitchFamily="50" charset="-128"/>
                <a:cs typeface="メイリオ"/>
              </a:rPr>
              <a:t>App/</a:t>
            </a:r>
            <a:r>
              <a:rPr kumimoji="1" lang="ja-JP" altLang="en-US" sz="1200" b="1" dirty="0">
                <a:latin typeface="メイリオ" panose="020B0604030504040204" pitchFamily="50" charset="-128"/>
                <a:ea typeface="メイリオ" panose="020B0604030504040204" pitchFamily="50" charset="-128"/>
                <a:cs typeface="メイリオ"/>
              </a:rPr>
              <a:t>ネットワーク</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a:t>
            </a:r>
            <a:r>
              <a:rPr lang="en-US" altLang="ja-JP" sz="1200" b="1" dirty="0">
                <a:latin typeface="メイリオ" panose="020B0604030504040204" pitchFamily="50" charset="-128"/>
                <a:ea typeface="メイリオ" panose="020B0604030504040204" pitchFamily="50" charset="-128"/>
                <a:cs typeface="メイリオ"/>
              </a:rPr>
              <a:t>ID</a:t>
            </a:r>
            <a:r>
              <a:rPr lang="ja-JP" altLang="en-US" sz="1200" b="1" dirty="0">
                <a:latin typeface="メイリオ" panose="020B0604030504040204" pitchFamily="50" charset="-128"/>
                <a:ea typeface="メイリオ" panose="020B0604030504040204" pitchFamily="50" charset="-128"/>
                <a:cs typeface="メイリオ"/>
              </a:rPr>
              <a:t>連携等の開発）</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cs typeface="メイリオ"/>
              </a:rPr>
              <a:t>LINE</a:t>
            </a:r>
            <a:r>
              <a:rPr lang="ja-JP" altLang="en-US" sz="1200" b="1" dirty="0">
                <a:latin typeface="メイリオ" panose="020B0604030504040204" pitchFamily="50" charset="-128"/>
                <a:ea typeface="メイリオ" panose="020B0604030504040204" pitchFamily="50" charset="-128"/>
                <a:cs typeface="メイリオ"/>
              </a:rPr>
              <a:t>でログイン</a:t>
            </a:r>
          </a:p>
        </p:txBody>
      </p:sp>
    </p:spTree>
    <p:extLst>
      <p:ext uri="{BB962C8B-B14F-4D97-AF65-F5344CB8AC3E}">
        <p14:creationId xmlns:p14="http://schemas.microsoft.com/office/powerpoint/2010/main" val="42651367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法人</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が</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増加傾向</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cs typeface="メイリオ"/>
              </a:rPr>
              <a:t>開封率に関してはメールマガジンの6倍とされる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cs typeface="メイリオ"/>
                </a:rPr>
                <a:t>　　　　</a:t>
              </a:r>
              <a:r>
                <a:rPr lang="en-US" sz="1400" dirty="0" err="1">
                  <a:solidFill>
                    <a:srgbClr val="040606"/>
                  </a:solidFill>
                  <a:latin typeface="メイリオ" panose="020B0604030504040204" pitchFamily="50" charset="-128"/>
                  <a:ea typeface="メイリオ" panose="020B0604030504040204" pitchFamily="50" charset="-128"/>
                  <a:cs typeface="メイリオ"/>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cs typeface="メイリオ"/>
                </a:rPr>
                <a:t>、</a:t>
              </a:r>
              <a:r>
                <a:rPr lang="ja-JP" altLang="en-US" sz="1400" dirty="0">
                  <a:solidFill>
                    <a:srgbClr val="040606"/>
                  </a:solidFill>
                  <a:latin typeface="メイリオ" panose="020B0604030504040204" pitchFamily="50" charset="-128"/>
                  <a:ea typeface="メイリオ" panose="020B0604030504040204" pitchFamily="50" charset="-128"/>
                  <a:cs typeface="メイリオ"/>
                </a:rPr>
                <a:t>テレマーケティング </a:t>
              </a:r>
              <a:r>
                <a:rPr lang="en-US" sz="1400" dirty="0" err="1">
                  <a:solidFill>
                    <a:srgbClr val="040606"/>
                  </a:solidFill>
                  <a:latin typeface="メイリオ" panose="020B0604030504040204" pitchFamily="50" charset="-128"/>
                  <a:ea typeface="メイリオ" panose="020B0604030504040204" pitchFamily="50" charset="-128"/>
                  <a:cs typeface="メイリオ"/>
                </a:rPr>
                <a:t>が主流</a:t>
              </a:r>
              <a:endParaRPr lang="en-US" sz="1400" dirty="0">
                <a:solidFill>
                  <a:srgbClr val="040606"/>
                </a:solidFill>
                <a:latin typeface="メイリオ" panose="020B0604030504040204" pitchFamily="50" charset="-128"/>
                <a:ea typeface="メイリオ" panose="020B0604030504040204" pitchFamily="50" charset="-128"/>
                <a:cs typeface="メイリオ"/>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b="1" dirty="0">
                  <a:solidFill>
                    <a:srgbClr val="00B900"/>
                  </a:solidFill>
                  <a:latin typeface="メイリオ" panose="020B0604030504040204" pitchFamily="50" charset="-128"/>
                  <a:ea typeface="メイリオ" panose="020B0604030504040204" pitchFamily="50" charset="-128"/>
                  <a:cs typeface="メイリオ"/>
                </a:rPr>
                <a:t>LINE</a:t>
              </a:r>
              <a:r>
                <a:rPr lang="ja-JP" altLang="en-US" sz="1400" b="1" dirty="0">
                  <a:solidFill>
                    <a:srgbClr val="00B900"/>
                  </a:solidFill>
                  <a:latin typeface="メイリオ" panose="020B0604030504040204" pitchFamily="50" charset="-128"/>
                  <a:ea typeface="メイリオ" panose="020B0604030504040204" pitchFamily="50" charset="-128"/>
                  <a:cs typeface="メイリオ"/>
                </a:rPr>
                <a:t>公式アカウント</a:t>
              </a:r>
              <a:r>
                <a:rPr 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dirty="0" err="1">
                  <a:solidFill>
                    <a:srgbClr val="00B900"/>
                  </a:solidFill>
                  <a:latin typeface="メイリオ" panose="020B0604030504040204" pitchFamily="50" charset="-128"/>
                  <a:ea typeface="メイリオ" panose="020B0604030504040204" pitchFamily="50" charset="-128"/>
                  <a:cs typeface="メイリオ"/>
                </a:rPr>
                <a:t>が主流</a:t>
              </a:r>
              <a:endParaRPr lang="en-US" sz="1400" dirty="0">
                <a:solidFill>
                  <a:srgbClr val="00B900"/>
                </a:solidFill>
                <a:latin typeface="メイリオ" panose="020B0604030504040204" pitchFamily="50" charset="-128"/>
                <a:ea typeface="メイリオ" panose="020B0604030504040204" pitchFamily="50" charset="-128"/>
                <a:cs typeface="メイリオ"/>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cs typeface="メイリオ"/>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latin typeface="メイリオ"/>
              <a:ea typeface="メイリオ"/>
              <a:cs typeface="メイリオ"/>
            </a:endParaRPr>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cs typeface="メイリオ"/>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今すぐ客」以外の</a:t>
            </a:r>
            <a:r>
              <a:rPr lang="ja-JP" altLang="en-US" sz="1400" dirty="0">
                <a:solidFill>
                  <a:srgbClr val="343434"/>
                </a:solidFill>
                <a:latin typeface="メイリオ" panose="020B0604030504040204" pitchFamily="50" charset="-128"/>
                <a:ea typeface="メイリオ" panose="020B0604030504040204" pitchFamily="50" charset="-128"/>
                <a:cs typeface="メイリオ"/>
              </a:rPr>
              <a:t>約</a:t>
            </a:r>
            <a:r>
              <a:rPr lang="en-US" altLang="ja-JP" sz="1400" dirty="0">
                <a:solidFill>
                  <a:srgbClr val="343434"/>
                </a:solidFill>
                <a:latin typeface="メイリオ" panose="020B0604030504040204" pitchFamily="50" charset="-128"/>
                <a:ea typeface="メイリオ" panose="020B0604030504040204" pitchFamily="50" charset="-128"/>
                <a:cs typeface="メイリオ"/>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結果として</a:t>
            </a:r>
            <a:r>
              <a:rPr lang="ja-JP" altLang="en-US" sz="1400" dirty="0" err="1">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げ</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cs typeface="メイリオ"/>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cs typeface="メイリオ"/>
              </a:rPr>
              <a:t>9-</a:t>
            </a:r>
            <a:r>
              <a:rPr lang="en-US" sz="1554" dirty="0">
                <a:solidFill>
                  <a:srgbClr val="494848"/>
                </a:solidFill>
                <a:latin typeface="メイリオ" panose="020B0604030504040204" pitchFamily="50" charset="-128"/>
                <a:ea typeface="メイリオ" panose="020B0604030504040204" pitchFamily="50" charset="-128"/>
                <a:cs typeface="メイリオ"/>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cs typeface="メイリオ"/>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en-US" sz="1200" b="1" dirty="0" err="1">
                <a:solidFill>
                  <a:srgbClr val="494848"/>
                </a:solidFill>
                <a:latin typeface="メイリオ" panose="020B0604030504040204" pitchFamily="50" charset="-128"/>
                <a:ea typeface="メイリオ" panose="020B0604030504040204" pitchFamily="50" charset="-128"/>
                <a:cs typeface="メイリオ"/>
              </a:rPr>
              <a:t>今すぐ</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cs typeface="メイリオ"/>
              </a:rPr>
              <a:t>のは</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リスクが大きい。</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cs typeface="メイリオ"/>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将来的な顧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客」教育をLINE</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上で構築し</a:t>
            </a:r>
            <a:r>
              <a:rPr lang="en-US" sz="1200" b="1" dirty="0">
                <a:solidFill>
                  <a:srgbClr val="494848"/>
                </a:solidFill>
                <a:latin typeface="メイリオ" panose="020B0604030504040204" pitchFamily="50" charset="-128"/>
                <a:ea typeface="メイリオ" panose="020B0604030504040204" pitchFamily="50" charset="-128"/>
                <a:cs typeface="メイリオ"/>
              </a:rPr>
              <a:t>行</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う。</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cs typeface="メイリオ"/>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メイリオ"/>
                <a:ea typeface="メイリオ"/>
                <a:cs typeface="メイリオ"/>
                <a:sym typeface="Meiryo"/>
              </a:rPr>
              <a:t>WEB</a:t>
            </a:r>
            <a:r>
              <a:rPr lang="ja-JP" altLang="en-US" sz="1400" dirty="0">
                <a:latin typeface="メイリオ"/>
                <a:ea typeface="メイリオ"/>
                <a:cs typeface="メイリオ"/>
                <a:sym typeface="Meiryo"/>
              </a:rPr>
              <a:t>広告における</a:t>
            </a:r>
            <a:r>
              <a:rPr lang="ja-JP" altLang="en-US" sz="1400" b="1" dirty="0">
                <a:latin typeface="メイリオ"/>
                <a:ea typeface="メイリオ"/>
                <a:cs typeface="メイリオ"/>
                <a:sym typeface="Meiryo"/>
              </a:rPr>
              <a:t>競合性が高</a:t>
            </a:r>
            <a:r>
              <a:rPr lang="ja-JP" altLang="en-US" sz="1400" dirty="0">
                <a:latin typeface="メイリオ"/>
                <a:ea typeface="メイリオ"/>
                <a:cs typeface="メイリオ"/>
                <a:sym typeface="Meiryo"/>
              </a:rPr>
              <a:t>くなり</a:t>
            </a:r>
            <a:endParaRPr lang="en-US" altLang="ja-JP" sz="1400" dirty="0">
              <a:latin typeface="メイリオ"/>
              <a:ea typeface="メイリオ"/>
              <a:cs typeface="メイリオ"/>
              <a:sym typeface="Meiryo"/>
            </a:endParaRPr>
          </a:p>
          <a:p>
            <a:pPr algn="ctr"/>
            <a:r>
              <a:rPr lang="ja-JP" altLang="en-US" sz="1400" b="1" dirty="0">
                <a:solidFill>
                  <a:srgbClr val="FF0000"/>
                </a:solidFill>
                <a:latin typeface="メイリオ"/>
                <a:ea typeface="メイリオ"/>
                <a:cs typeface="メイリオ"/>
                <a:sym typeface="Meiryo"/>
              </a:rPr>
              <a:t>単価指標（</a:t>
            </a:r>
            <a:r>
              <a:rPr lang="en-US" altLang="ja-JP" sz="1400" b="1" dirty="0">
                <a:solidFill>
                  <a:srgbClr val="FF0000"/>
                </a:solidFill>
                <a:latin typeface="メイリオ"/>
                <a:ea typeface="メイリオ"/>
                <a:cs typeface="メイリオ"/>
                <a:sym typeface="Meiryo"/>
              </a:rPr>
              <a:t>CPC</a:t>
            </a:r>
            <a:r>
              <a:rPr lang="ja-JP" altLang="en-US" sz="1400" b="1" dirty="0">
                <a:solidFill>
                  <a:srgbClr val="FF0000"/>
                </a:solidFill>
                <a:latin typeface="メイリオ"/>
                <a:ea typeface="メイリオ"/>
                <a:cs typeface="メイリオ"/>
                <a:sym typeface="Meiryo"/>
              </a:rPr>
              <a:t>及び</a:t>
            </a:r>
            <a:r>
              <a:rPr lang="en-US" altLang="ja-JP" sz="1400" b="1" dirty="0">
                <a:solidFill>
                  <a:srgbClr val="FF0000"/>
                </a:solidFill>
                <a:latin typeface="メイリオ"/>
                <a:ea typeface="メイリオ"/>
                <a:cs typeface="メイリオ"/>
                <a:sym typeface="Meiryo"/>
              </a:rPr>
              <a:t>CPA</a:t>
            </a:r>
            <a:r>
              <a:rPr lang="ja-JP" altLang="en-US" sz="1400" b="1" dirty="0">
                <a:solidFill>
                  <a:srgbClr val="FF0000"/>
                </a:solidFill>
                <a:latin typeface="メイリオ"/>
                <a:ea typeface="メイリオ"/>
                <a:cs typeface="メイリオ"/>
                <a:sym typeface="Meiryo"/>
              </a:rPr>
              <a:t>）が高騰</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メイリオ"/>
                <a:ea typeface="メイリオ"/>
                <a:cs typeface="メイリオ"/>
                <a:sym typeface="Meiryo"/>
              </a:rPr>
              <a:t>集客施策における</a:t>
            </a:r>
            <a:r>
              <a:rPr lang="en-US" altLang="ja-JP" sz="1400" b="1" dirty="0">
                <a:latin typeface="メイリオ"/>
                <a:ea typeface="メイリオ"/>
                <a:cs typeface="メイリオ"/>
                <a:sym typeface="Meiryo"/>
              </a:rPr>
              <a:t>CVR</a:t>
            </a:r>
            <a:r>
              <a:rPr lang="ja-JP" altLang="en-US" sz="1400" b="1" dirty="0">
                <a:latin typeface="メイリオ"/>
                <a:ea typeface="メイリオ"/>
                <a:cs typeface="メイリオ"/>
                <a:sym typeface="Meiryo"/>
              </a:rPr>
              <a:t>は高くても</a:t>
            </a:r>
            <a:r>
              <a:rPr lang="en-US" altLang="ja-JP" sz="1400" b="1" dirty="0">
                <a:latin typeface="メイリオ"/>
                <a:ea typeface="メイリオ"/>
                <a:cs typeface="メイリオ"/>
                <a:sym typeface="Meiryo"/>
              </a:rPr>
              <a:t>2%</a:t>
            </a:r>
            <a:r>
              <a:rPr lang="ja-JP" altLang="en-US" sz="1400" b="1" dirty="0">
                <a:latin typeface="メイリオ"/>
                <a:ea typeface="メイリオ"/>
                <a:cs typeface="メイリオ"/>
                <a:sym typeface="Meiryo"/>
              </a:rPr>
              <a:t>程度</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a:p>
            <a:pPr algn="ctr"/>
            <a:r>
              <a:rPr lang="en-US" altLang="ja-JP" sz="1400" dirty="0">
                <a:solidFill>
                  <a:srgbClr val="FF0000"/>
                </a:solidFill>
                <a:latin typeface="メイリオ"/>
                <a:ea typeface="メイリオ"/>
                <a:cs typeface="メイリオ"/>
                <a:sym typeface="Meiryo"/>
              </a:rPr>
              <a:t>CV</a:t>
            </a:r>
            <a:r>
              <a:rPr lang="ja-JP" altLang="en-US" sz="1400" dirty="0">
                <a:solidFill>
                  <a:srgbClr val="FF0000"/>
                </a:solidFill>
                <a:latin typeface="メイリオ"/>
                <a:ea typeface="メイリオ"/>
                <a:cs typeface="メイリオ"/>
                <a:sym typeface="Meiryo"/>
              </a:rPr>
              <a:t>に至らず離脱するユーザーが大部分</a:t>
            </a:r>
            <a:r>
              <a:rPr lang="ja-JP" altLang="en-US" sz="1400" dirty="0">
                <a:latin typeface="メイリオ"/>
                <a:ea typeface="メイリオ"/>
                <a:cs typeface="メイリオ"/>
                <a:sym typeface="Meiryo"/>
              </a:rPr>
              <a:t>。</a:t>
            </a:r>
            <a:endParaRPr lang="ja-JP" altLang="en-US" sz="1400" dirty="0">
              <a:latin typeface="メイリオ"/>
              <a:ea typeface="メイリオ"/>
              <a:cs typeface="メイリオ"/>
            </a:endParaRPr>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CVR</a:t>
            </a:r>
            <a:endParaRPr lang="ja-JP" altLang="en-US" b="1" dirty="0">
              <a:latin typeface="メイリオ" panose="020B0604030504040204" pitchFamily="50" charset="-128"/>
              <a:ea typeface="メイリオ" panose="020B0604030504040204" pitchFamily="50" charset="-128"/>
              <a:cs typeface="メイリオ"/>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CPC</a:t>
            </a:r>
            <a:endParaRPr lang="ja-JP" altLang="en-US"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5621484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cs typeface="メイリオ"/>
              </a:rPr>
              <a:t>10-40</a:t>
            </a:r>
            <a:r>
              <a:rPr lang="ja-JP" altLang="en-US" sz="1400" dirty="0">
                <a:solidFill>
                  <a:srgbClr val="343434"/>
                </a:solidFill>
                <a:latin typeface="メイリオ" panose="020B0604030504040204" pitchFamily="50" charset="-128"/>
                <a:ea typeface="メイリオ" panose="020B0604030504040204" pitchFamily="50" charset="-128"/>
                <a:cs typeface="メイリオ"/>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cs typeface="メイリオ"/>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cs typeface="メイリオ"/>
              </a:rPr>
              <a:t>LINEOA</a:t>
            </a:r>
            <a:r>
              <a:rPr lang="ja-JP" altLang="en-US" sz="1400" b="1" dirty="0">
                <a:solidFill>
                  <a:srgbClr val="343434"/>
                </a:solidFill>
                <a:latin typeface="メイリオ" panose="020B0604030504040204" pitchFamily="50" charset="-128"/>
                <a:ea typeface="メイリオ" panose="020B0604030504040204" pitchFamily="50" charset="-128"/>
                <a:cs typeface="メイリオ"/>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される。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cs typeface="メイリオ"/>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cs typeface="メイリオ"/>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LINE</a:t>
            </a:r>
            <a:r>
              <a:rPr lang="ja-JP" altLang="en-US" sz="1400" dirty="0">
                <a:latin typeface="メイリオ" panose="020B0604030504040204" pitchFamily="50" charset="-128"/>
                <a:ea typeface="メイリオ" panose="020B0604030504040204" pitchFamily="50" charset="-128"/>
                <a:cs typeface="メイリオ"/>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メイリオ"/>
                <a:sym typeface="Meiryo"/>
              </a:rPr>
              <a:t>CV</a:t>
            </a:r>
            <a:r>
              <a:rPr lang="ja-JP" altLang="en-US" sz="1400" dirty="0">
                <a:latin typeface="メイリオ" panose="020B0604030504040204" pitchFamily="50" charset="-128"/>
                <a:ea typeface="メイリオ" panose="020B0604030504040204" pitchFamily="50" charset="-128"/>
                <a:cs typeface="メイリオ"/>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初期設計のみのご依頼でも、大きく数値改善できるポイントの導入支援が可能</a:t>
            </a:r>
            <a:endParaRPr lang="en-US" altLang="ja-JP" sz="1400" dirty="0">
              <a:latin typeface="メイリオ" panose="020B0604030504040204" pitchFamily="50" charset="-128"/>
              <a:ea typeface="メイリオ" panose="020B0604030504040204" pitchFamily="50" charset="-128"/>
              <a:cs typeface="メイリオ"/>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5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cs typeface="メイリオ"/>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r>
              <a:rPr kumimoji="1" lang="en-US" altLang="ja-JP" sz="1100" dirty="0">
                <a:solidFill>
                  <a:schemeClr val="tx2"/>
                </a:solidFill>
                <a:latin typeface="メイリオ" panose="020B0604030504040204" pitchFamily="50" charset="-128"/>
                <a:ea typeface="メイリオ" panose="020B0604030504040204" pitchFamily="50" charset="-128"/>
                <a:cs typeface="メイリオ"/>
              </a:rPr>
              <a:t>LINE</a:t>
            </a:r>
            <a:r>
              <a:rPr kumimoji="1" lang="ja-JP" altLang="en-US" sz="1100" dirty="0">
                <a:solidFill>
                  <a:schemeClr val="tx2"/>
                </a:solidFill>
                <a:latin typeface="メイリオ" panose="020B0604030504040204" pitchFamily="50" charset="-128"/>
                <a:ea typeface="メイリオ" panose="020B0604030504040204" pitchFamily="50" charset="-128"/>
                <a:cs typeface="メイリオ"/>
              </a:rPr>
              <a:t>施策内</a:t>
            </a: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endParaRPr kumimoji="1" lang="ja-JP" altLang="en-US" sz="1100" dirty="0">
              <a:solidFill>
                <a:schemeClr val="tx2"/>
              </a:solidFill>
              <a:latin typeface="メイリオ" panose="020B0604030504040204" pitchFamily="50" charset="-128"/>
              <a:ea typeface="メイリオ" panose="020B0604030504040204" pitchFamily="50" charset="-128"/>
              <a:cs typeface="メイリオ"/>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アクティブ数</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kumimoji="1" lang="ja-JP" altLang="en-US" sz="800" dirty="0">
                <a:latin typeface="メイリオ" panose="020B0604030504040204" pitchFamily="50" charset="-128"/>
                <a:ea typeface="メイリオ" panose="020B0604030504040204" pitchFamily="50" charset="-128"/>
                <a:cs typeface="メイリオ"/>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セグメント率</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lang="en-US" altLang="ja-JP" sz="1000" dirty="0">
                <a:latin typeface="メイリオ" panose="020B0604030504040204" pitchFamily="50" charset="-128"/>
                <a:ea typeface="メイリオ" panose="020B0604030504040204" pitchFamily="50" charset="-128"/>
                <a:cs typeface="メイリオ"/>
              </a:rPr>
              <a:t>or</a:t>
            </a:r>
          </a:p>
          <a:p>
            <a:pPr algn="ctr"/>
            <a:r>
              <a:rPr kumimoji="1" lang="ja-JP" altLang="en-US" sz="1000" b="1" dirty="0">
                <a:latin typeface="メイリオ" panose="020B0604030504040204" pitchFamily="50" charset="-128"/>
                <a:ea typeface="メイリオ" panose="020B0604030504040204" pitchFamily="50" charset="-128"/>
                <a:cs typeface="メイリオ"/>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cs typeface="メイリオ"/>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cs typeface="メイリオ"/>
              </a:rPr>
              <a:t>85 </a:t>
            </a:r>
            <a:r>
              <a:rPr lang="en-US" altLang="ja-JP" sz="1400" b="1" dirty="0">
                <a:solidFill>
                  <a:srgbClr val="FF0000"/>
                </a:solidFill>
                <a:latin typeface="メイリオ" panose="020B0604030504040204" pitchFamily="50" charset="-128"/>
                <a:ea typeface="メイリオ" panose="020B0604030504040204" pitchFamily="50" charset="-128"/>
                <a:cs typeface="メイリオ"/>
              </a:rPr>
              <a:t>%</a:t>
            </a:r>
            <a:endParaRPr kumimoji="1" lang="ja-JP" altLang="en-US" sz="14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cs typeface="メイリオ"/>
              </a:rPr>
              <a:t>12.5 </a:t>
            </a:r>
            <a:r>
              <a:rPr lang="en-US" altLang="ja-JP" sz="1400" b="1" dirty="0">
                <a:solidFill>
                  <a:srgbClr val="FF0000"/>
                </a:solidFill>
                <a:latin typeface="メイリオ" panose="020B0604030504040204" pitchFamily="50" charset="-128"/>
                <a:ea typeface="メイリオ" panose="020B0604030504040204" pitchFamily="50" charset="-128"/>
                <a:cs typeface="メイリオ"/>
              </a:rPr>
              <a:t>%</a:t>
            </a:r>
            <a:endParaRPr lang="ja-JP" altLang="en-US" sz="14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cs typeface="メイリオ"/>
              </a:rPr>
              <a:t>0.5</a:t>
            </a:r>
            <a:r>
              <a:rPr kumimoji="1" lang="en-US" altLang="ja-JP" sz="1400" b="1" dirty="0">
                <a:solidFill>
                  <a:srgbClr val="FF0000"/>
                </a:solidFill>
                <a:latin typeface="メイリオ" panose="020B0604030504040204" pitchFamily="50" charset="-128"/>
                <a:ea typeface="メイリオ" panose="020B0604030504040204" pitchFamily="50" charset="-128"/>
                <a:cs typeface="メイリオ"/>
              </a:rPr>
              <a:t> %</a:t>
            </a:r>
            <a:endParaRPr kumimoji="1" lang="ja-JP" altLang="en-US" sz="14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70 %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8.25 %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cs typeface="メイリオ"/>
              </a:rPr>
              <a:t>0.3 %</a:t>
            </a:r>
            <a:endParaRPr kumimoji="1"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cs typeface="メイリオ"/>
              </a:rPr>
              <a:t>DYM</a:t>
            </a:r>
            <a:r>
              <a:rPr kumimoji="1" lang="ja-JP" altLang="en-US" sz="1200" b="1" dirty="0">
                <a:solidFill>
                  <a:srgbClr val="FFC000"/>
                </a:solidFill>
                <a:latin typeface="メイリオ" panose="020B0604030504040204" pitchFamily="50" charset="-128"/>
                <a:ea typeface="メイリオ" panose="020B0604030504040204" pitchFamily="50" charset="-128"/>
                <a:cs typeface="メイリオ"/>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業界平均</a:t>
            </a:r>
            <a:endParaRPr lang="en-US" altLang="ja-JP" sz="1200" b="1" dirty="0">
              <a:solidFill>
                <a:schemeClr val="bg1"/>
              </a:solidFill>
              <a:latin typeface="メイリオ" panose="020B0604030504040204" pitchFamily="50" charset="-128"/>
              <a:ea typeface="メイリオ" panose="020B0604030504040204" pitchFamily="50" charset="-128"/>
              <a:cs typeface="メイリオ"/>
            </a:endParaRPr>
          </a:p>
          <a:p>
            <a:pPr algn="ctr"/>
            <a:r>
              <a:rPr lang="en-US" altLang="ja-JP" sz="8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800" b="1" dirty="0">
                <a:solidFill>
                  <a:schemeClr val="bg1"/>
                </a:solidFill>
                <a:latin typeface="メイリオ" panose="020B0604030504040204" pitchFamily="50" charset="-128"/>
                <a:ea typeface="メイリオ" panose="020B0604030504040204" pitchFamily="50" charset="-128"/>
                <a:cs typeface="メイリオ"/>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cs typeface="メイリオ"/>
              </a:rPr>
              <a:t>施策の流れ</a:t>
            </a:r>
          </a:p>
        </p:txBody>
      </p:sp>
    </p:spTree>
    <p:extLst>
      <p:ext uri="{BB962C8B-B14F-4D97-AF65-F5344CB8AC3E}">
        <p14:creationId xmlns:p14="http://schemas.microsoft.com/office/powerpoint/2010/main" val="242184237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業態平均で</a:t>
            </a:r>
            <a:r>
              <a:rPr lang="ja-JP" altLang="en-US" sz="1400" b="1" dirty="0">
                <a:solidFill>
                  <a:srgbClr val="FF0000"/>
                </a:solidFill>
                <a:latin typeface="メイリオ" panose="020B0604030504040204" pitchFamily="50" charset="-128"/>
                <a:ea typeface="メイリオ" panose="020B0604030504040204" pitchFamily="50" charset="-128"/>
                <a:cs typeface="メイリオ"/>
              </a:rPr>
              <a:t>最大３</a:t>
            </a:r>
            <a:r>
              <a:rPr lang="en-US" altLang="ja-JP" sz="1400" b="1" dirty="0">
                <a:solidFill>
                  <a:srgbClr val="FF0000"/>
                </a:solidFill>
                <a:latin typeface="メイリオ" panose="020B0604030504040204" pitchFamily="50" charset="-128"/>
                <a:ea typeface="メイリオ" panose="020B0604030504040204" pitchFamily="50" charset="-128"/>
                <a:cs typeface="メイリオ"/>
              </a:rPr>
              <a:t>%</a:t>
            </a:r>
            <a:r>
              <a:rPr lang="ja-JP" altLang="en-US" sz="1400" b="1" dirty="0">
                <a:solidFill>
                  <a:srgbClr val="FF0000"/>
                </a:solidFill>
                <a:latin typeface="メイリオ" panose="020B0604030504040204" pitchFamily="50" charset="-128"/>
                <a:ea typeface="メイリオ" panose="020B0604030504040204" pitchFamily="50" charset="-128"/>
                <a:cs typeface="メイリオ"/>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cs typeface="メイリオ"/>
              </a:rPr>
              <a:t>/</a:t>
            </a:r>
            <a:r>
              <a:rPr lang="ja-JP" altLang="en-US" sz="1400" b="1" dirty="0">
                <a:solidFill>
                  <a:srgbClr val="FF0000"/>
                </a:solidFill>
                <a:latin typeface="メイリオ" panose="020B0604030504040204" pitchFamily="50" charset="-128"/>
                <a:ea typeface="メイリオ" panose="020B0604030504040204" pitchFamily="50" charset="-128"/>
                <a:cs typeface="メイリオ"/>
              </a:rPr>
              <a:t>マネタイズ可能</a:t>
            </a:r>
            <a:r>
              <a:rPr lang="ja-JP" altLang="en-US" sz="1400" dirty="0">
                <a:solidFill>
                  <a:srgbClr val="343434"/>
                </a:solidFill>
                <a:latin typeface="メイリオ" panose="020B0604030504040204" pitchFamily="50" charset="-128"/>
                <a:ea typeface="メイリオ" panose="020B0604030504040204" pitchFamily="50" charset="-128"/>
                <a:cs typeface="メイリオ"/>
              </a:rPr>
              <a:t> とされている。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cs typeface="メイリオ"/>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cs typeface="メイリオ"/>
              </a:rPr>
              <a:t>CV</a:t>
            </a:r>
            <a:r>
              <a:rPr kumimoji="1" lang="ja-JP" altLang="en-US" sz="1100" b="1" dirty="0">
                <a:solidFill>
                  <a:srgbClr val="FF0000"/>
                </a:solidFill>
                <a:latin typeface="メイリオ" panose="020B0604030504040204" pitchFamily="50" charset="-128"/>
                <a:ea typeface="メイリオ" panose="020B0604030504040204" pitchFamily="50" charset="-128"/>
                <a:cs typeface="メイリオ"/>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FF0000"/>
                </a:solidFill>
                <a:latin typeface="メイリオ" panose="020B0604030504040204" pitchFamily="50" charset="-128"/>
                <a:ea typeface="メイリオ" panose="020B0604030504040204" pitchFamily="50" charset="-128"/>
                <a:cs typeface="メイリオ"/>
              </a:rPr>
              <a:t>※</a:t>
            </a:r>
            <a:r>
              <a:rPr lang="ja-JP" altLang="en-US" sz="1000" dirty="0">
                <a:solidFill>
                  <a:srgbClr val="FF0000"/>
                </a:solidFill>
                <a:latin typeface="メイリオ" panose="020B0604030504040204" pitchFamily="50" charset="-128"/>
                <a:ea typeface="メイリオ" panose="020B0604030504040204" pitchFamily="50" charset="-128"/>
                <a:cs typeface="メイリオ"/>
              </a:rPr>
              <a:t>平均値</a:t>
            </a:r>
            <a:endParaRPr kumimoji="1" lang="ja-JP" altLang="en-US" sz="10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cs typeface="メイリオ"/>
              </a:rPr>
              <a:t>３</a:t>
            </a:r>
            <a:r>
              <a:rPr kumimoji="1" lang="ja-JP" altLang="en-US" sz="2400" b="1" dirty="0">
                <a:solidFill>
                  <a:srgbClr val="FF0000"/>
                </a:solidFill>
                <a:latin typeface="メイリオ" panose="020B0604030504040204" pitchFamily="50" charset="-128"/>
                <a:ea typeface="メイリオ" panose="020B0604030504040204" pitchFamily="50" charset="-128"/>
                <a:cs typeface="メイリオ"/>
              </a:rPr>
              <a:t>％</a:t>
            </a:r>
            <a:endParaRPr lang="ja-JP" altLang="en-US" sz="2400" dirty="0">
              <a:solidFill>
                <a:srgbClr val="FF0000"/>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cs typeface="メイリオ"/>
              </a:rPr>
              <a:t>1.5</a:t>
            </a:r>
            <a:r>
              <a:rPr kumimoji="1" lang="ja-JP" altLang="en-US" sz="2400" b="1" dirty="0">
                <a:solidFill>
                  <a:srgbClr val="FF0000"/>
                </a:solidFill>
                <a:latin typeface="メイリオ" panose="020B0604030504040204" pitchFamily="50" charset="-128"/>
                <a:ea typeface="メイリオ" panose="020B0604030504040204" pitchFamily="50" charset="-128"/>
                <a:cs typeface="メイリオ"/>
              </a:rPr>
              <a:t>％</a:t>
            </a:r>
            <a:endParaRPr lang="ja-JP" altLang="en-US" sz="2400" dirty="0">
              <a:solidFill>
                <a:srgbClr val="FF0000"/>
              </a:solidFill>
              <a:latin typeface="メイリオ"/>
              <a:ea typeface="メイリオ"/>
              <a:cs typeface="メイリオ"/>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FF0000"/>
                </a:solidFill>
                <a:latin typeface="メイリオ" panose="020B0604030504040204" pitchFamily="50" charset="-128"/>
                <a:ea typeface="メイリオ" panose="020B0604030504040204" pitchFamily="50" charset="-128"/>
                <a:cs typeface="メイリオ"/>
              </a:rPr>
              <a:t>％</a:t>
            </a:r>
            <a:endParaRPr lang="ja-JP" altLang="en-US" sz="2400" dirty="0">
              <a:solidFill>
                <a:srgbClr val="FF0000"/>
              </a:solidFill>
              <a:latin typeface="メイリオ"/>
              <a:ea typeface="メイリオ"/>
              <a:cs typeface="メイリオ"/>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FF0000"/>
                </a:solidFill>
                <a:latin typeface="メイリオ" panose="020B0604030504040204" pitchFamily="50" charset="-128"/>
                <a:ea typeface="メイリオ" panose="020B0604030504040204" pitchFamily="50" charset="-128"/>
                <a:cs typeface="メイリオ"/>
              </a:rPr>
              <a:t>％</a:t>
            </a:r>
            <a:endParaRPr lang="ja-JP" altLang="en-US" sz="2400" dirty="0">
              <a:solidFill>
                <a:srgbClr val="FF0000"/>
              </a:solidFill>
              <a:latin typeface="メイリオ"/>
              <a:ea typeface="メイリオ"/>
              <a:cs typeface="メイリオ"/>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FF0000"/>
                </a:solidFill>
                <a:latin typeface="メイリオ" panose="020B0604030504040204" pitchFamily="50" charset="-128"/>
                <a:ea typeface="メイリオ" panose="020B0604030504040204" pitchFamily="50" charset="-128"/>
                <a:cs typeface="メイリオ"/>
              </a:rPr>
              <a:t>％</a:t>
            </a:r>
            <a:endParaRPr lang="ja-JP" altLang="en-US" sz="2400" dirty="0">
              <a:solidFill>
                <a:srgbClr val="FF0000"/>
              </a:solidFill>
              <a:latin typeface="メイリオ"/>
              <a:ea typeface="メイリオ"/>
              <a:cs typeface="メイリオ"/>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cs typeface="メイリオ"/>
              </a:rPr>
              <a:t>2</a:t>
            </a:r>
            <a:r>
              <a:rPr kumimoji="1" lang="ja-JP" altLang="en-US" sz="2400" b="1" dirty="0">
                <a:solidFill>
                  <a:srgbClr val="FF0000"/>
                </a:solidFill>
                <a:latin typeface="メイリオ" panose="020B0604030504040204" pitchFamily="50" charset="-128"/>
                <a:ea typeface="メイリオ" panose="020B0604030504040204" pitchFamily="50" charset="-128"/>
                <a:cs typeface="メイリオ"/>
              </a:rPr>
              <a:t>％</a:t>
            </a:r>
            <a:endParaRPr lang="ja-JP" altLang="en-US" sz="2400" dirty="0">
              <a:solidFill>
                <a:srgbClr val="FF0000"/>
              </a:solidFill>
              <a:latin typeface="メイリオ"/>
              <a:ea typeface="メイリオ"/>
              <a:cs typeface="メイリオ"/>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3219190" y="3038429"/>
            <a:ext cx="346761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 name="テキスト ボックス 2">
            <a:extLst>
              <a:ext uri="{FF2B5EF4-FFF2-40B4-BE49-F238E27FC236}">
                <a16:creationId xmlns:a16="http://schemas.microsoft.com/office/drawing/2014/main" id="{DC9A0B48-8F30-4D79-84B9-5021E0F3C9A5}"/>
              </a:ext>
            </a:extLst>
          </p:cNvPr>
          <p:cNvSpPr txBox="1"/>
          <p:nvPr/>
        </p:nvSpPr>
        <p:spPr>
          <a:xfrm>
            <a:off x="4091223" y="3562017"/>
            <a:ext cx="1723549" cy="461665"/>
          </a:xfrm>
          <a:prstGeom prst="rect">
            <a:avLst/>
          </a:prstGeom>
          <a:noFill/>
        </p:spPr>
        <p:txBody>
          <a:bodyPr wrap="none" rtlCol="0">
            <a:spAutoFit/>
          </a:bodyPr>
          <a:lstStyle/>
          <a:p>
            <a:r>
              <a:rPr kumimoji="1" lang="ja-JP" altLang="en-US" sz="2400" dirty="0">
                <a:latin typeface="メイリオ" panose="020B0604030504040204" pitchFamily="50" charset="-128"/>
                <a:ea typeface="メイリオ" panose="020B0604030504040204" pitchFamily="50" charset="-128"/>
                <a:cs typeface="メイリオ"/>
              </a:rPr>
              <a:t>補足資料</a:t>
            </a:r>
            <a:r>
              <a:rPr lang="ja-JP" altLang="en-US" sz="2400" dirty="0">
                <a:latin typeface="メイリオ" panose="020B0604030504040204" pitchFamily="50" charset="-128"/>
                <a:ea typeface="メイリオ" panose="020B0604030504040204" pitchFamily="50" charset="-128"/>
                <a:cs typeface="メイリオ"/>
              </a:rPr>
              <a:t>②</a:t>
            </a:r>
            <a:endParaRPr kumimoji="1" lang="ja-JP" altLang="en-US" sz="24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40006679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メイリオ"/>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メイリオ"/>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メイリオ"/>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メイリオ"/>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メイリオ"/>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メイリオ"/>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cs typeface="メイリオ"/>
              </a:rPr>
              <a:t>「</a:t>
            </a:r>
            <a:r>
              <a:rPr kumimoji="1" lang="en-US" altLang="ja-JP" sz="1400" dirty="0">
                <a:solidFill>
                  <a:srgbClr val="073763"/>
                </a:solidFill>
                <a:latin typeface="メイリオ" panose="020B0604030504040204" pitchFamily="50" charset="-128"/>
                <a:ea typeface="メイリオ" panose="020B0604030504040204" pitchFamily="50" charset="-128"/>
                <a:cs typeface="メイリオ"/>
              </a:rPr>
              <a:t>CRM</a:t>
            </a:r>
            <a:r>
              <a:rPr kumimoji="1" lang="ja-JP" altLang="en-US" sz="1400" dirty="0">
                <a:solidFill>
                  <a:srgbClr val="073763"/>
                </a:solidFill>
                <a:latin typeface="メイリオ" panose="020B0604030504040204" pitchFamily="50" charset="-128"/>
                <a:ea typeface="メイリオ" panose="020B0604030504040204" pitchFamily="50" charset="-128"/>
                <a:cs typeface="メイリオ"/>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が重要</a:t>
            </a:r>
            <a:br>
              <a:rPr lang="en-US" altLang="ja-JP" sz="1400" dirty="0">
                <a:solidFill>
                  <a:srgbClr val="073763"/>
                </a:solidFill>
                <a:latin typeface="メイリオ" panose="020B0604030504040204" pitchFamily="50" charset="-128"/>
                <a:ea typeface="メイリオ" panose="020B0604030504040204" pitchFamily="50" charset="-128"/>
                <a:cs typeface="メイリオ"/>
              </a:rPr>
            </a:br>
            <a:r>
              <a:rPr lang="ja-JP" altLang="en-US" sz="1400" b="1" dirty="0">
                <a:solidFill>
                  <a:srgbClr val="073763"/>
                </a:solidFill>
                <a:latin typeface="メイリオ" panose="020B0604030504040204" pitchFamily="50" charset="-128"/>
                <a:ea typeface="メイリオ" panose="020B0604030504040204" pitchFamily="50" charset="-128"/>
                <a:cs typeface="メイリオ"/>
              </a:rPr>
              <a:t>要件定義</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cs typeface="メイリオ"/>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a:t>
            </a:r>
            <a:r>
              <a:rPr lang="en-US" altLang="ja-JP" sz="1400" dirty="0">
                <a:latin typeface="メイリオ" panose="020B0604030504040204" pitchFamily="50" charset="-128"/>
                <a:ea typeface="メイリオ" panose="020B0604030504040204" pitchFamily="50" charset="-128"/>
                <a:cs typeface="メイリオ"/>
                <a:sym typeface="Meiryo"/>
              </a:rPr>
              <a:t>API</a:t>
            </a:r>
            <a:r>
              <a:rPr lang="ja-JP" altLang="en-US" sz="1400" dirty="0">
                <a:latin typeface="メイリオ" panose="020B0604030504040204" pitchFamily="50" charset="-128"/>
                <a:ea typeface="メイリオ" panose="020B0604030504040204" pitchFamily="50" charset="-128"/>
                <a:cs typeface="メイリオ"/>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貴社内の顧客管理（</a:t>
            </a: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）ツールとの連携の実施も可能</a:t>
            </a:r>
            <a:r>
              <a:rPr lang="ja-JP" altLang="en-US" sz="1100" dirty="0">
                <a:solidFill>
                  <a:srgbClr val="FF0000"/>
                </a:solidFill>
                <a:latin typeface="メイリオ" panose="020B0604030504040204" pitchFamily="50" charset="-128"/>
                <a:ea typeface="メイリオ" panose="020B0604030504040204" pitchFamily="50" charset="-128"/>
                <a:cs typeface="メイリオ"/>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メイリオ"/>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メイリオ"/>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メイリオ"/>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メッセ送信</a:t>
            </a:r>
          </a:p>
        </p:txBody>
      </p:sp>
    </p:spTree>
    <p:extLst>
      <p:ext uri="{BB962C8B-B14F-4D97-AF65-F5344CB8AC3E}">
        <p14:creationId xmlns:p14="http://schemas.microsoft.com/office/powerpoint/2010/main" val="9826497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 代表的な活用機能</a:t>
            </a:r>
            <a:endParaRPr sz="1600" b="1" dirty="0">
              <a:solidFill>
                <a:srgbClr val="002060"/>
              </a:solidFill>
              <a:latin typeface="メイリオ"/>
              <a:ea typeface="メイリオ"/>
              <a:cs typeface="メイリオ"/>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ミニアプリ</a:t>
            </a:r>
            <a:endParaRPr lang="en-US" altLang="ja-JP" sz="1600" b="1" dirty="0">
              <a:latin typeface="メイリオ" panose="020B0604030504040204" pitchFamily="50" charset="-128"/>
              <a:ea typeface="メイリオ" panose="020B0604030504040204" pitchFamily="50" charset="-128"/>
              <a:cs typeface="メイリオ"/>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内で活用できるミニアプリでは、ゲームや抽選といった機能を</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アプリ開発よりも大幅に格安な価格帯で利用できるサービス。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チャット</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FAQ</a:t>
            </a:r>
            <a:r>
              <a:rPr lang="ja-JP" altLang="en-US" sz="1600" b="1" dirty="0">
                <a:solidFill>
                  <a:schemeClr val="tx1">
                    <a:lumMod val="65000"/>
                    <a:lumOff val="35000"/>
                  </a:schemeClr>
                </a:solidFill>
                <a:latin typeface="メイリオ"/>
                <a:ea typeface="メイリオ"/>
                <a:cs typeface="メイリオ"/>
                <a:sym typeface="Meiryo"/>
              </a:rPr>
              <a:t>をもとにした</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による自動応答や、</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LINE】Chat</a:t>
            </a:r>
            <a:r>
              <a:rPr lang="en-US" altLang="ja-JP" sz="1600" b="1" dirty="0">
                <a:latin typeface="メイリオ" panose="020B0604030504040204" pitchFamily="50" charset="-128"/>
                <a:ea typeface="メイリオ" panose="020B0604030504040204" pitchFamily="50" charset="-128"/>
                <a:cs typeface="メイリオ"/>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ホームページから気軽にチャットで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問い合わせができるようになり</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資料請求や商品の購入に繋がる。</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公式</a:t>
            </a: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6927665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コール</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公式アカウントの有料オプション機能で、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LINE】Call</a:t>
            </a:r>
            <a:r>
              <a:rPr lang="en-US" altLang="ja-JP" sz="1600" b="1" dirty="0">
                <a:latin typeface="メイリオ" panose="020B0604030504040204" pitchFamily="50" charset="-128"/>
                <a:ea typeface="メイリオ" panose="020B0604030504040204" pitchFamily="50" charset="-128"/>
                <a:cs typeface="メイリオ"/>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さらに「</a:t>
            </a:r>
            <a:r>
              <a:rPr lang="en-US" altLang="ja-JP" sz="1600" b="1" dirty="0">
                <a:solidFill>
                  <a:schemeClr val="tx1">
                    <a:lumMod val="65000"/>
                    <a:lumOff val="35000"/>
                  </a:schemeClr>
                </a:solidFill>
                <a:latin typeface="メイリオ"/>
                <a:ea typeface="メイリオ"/>
                <a:cs typeface="メイリオ"/>
                <a:sym typeface="Meiryo"/>
              </a:rPr>
              <a:t>LINE Ai Call</a:t>
            </a:r>
            <a:r>
              <a:rPr lang="ja-JP" altLang="en-US" sz="1600" b="1" dirty="0">
                <a:solidFill>
                  <a:schemeClr val="tx1">
                    <a:lumMod val="65000"/>
                    <a:lumOff val="35000"/>
                  </a:schemeClr>
                </a:solidFill>
                <a:latin typeface="メイリオ"/>
                <a:ea typeface="メイリオ"/>
                <a:cs typeface="メイリオ"/>
                <a:sym typeface="Meiryo"/>
              </a:rPr>
              <a:t>」を活用するとユーザーの要望に対して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による自然な</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対話応答が可能に。要件に応じて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と有人オペレータの振り分け業務効率化を支援。</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でログイン</a:t>
            </a:r>
            <a:endParaRPr lang="en-US" altLang="ja-JP" sz="1600" b="1" dirty="0">
              <a:latin typeface="メイリオ" panose="020B0604030504040204" pitchFamily="50" charset="-128"/>
              <a:ea typeface="メイリオ" panose="020B0604030504040204" pitchFamily="50" charset="-128"/>
              <a:cs typeface="メイリオ"/>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でログイン」は、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上のユーザー情報を活用して</a:t>
            </a:r>
            <a:r>
              <a:rPr lang="en-US" altLang="ja-JP" sz="1600" b="1" dirty="0">
                <a:solidFill>
                  <a:schemeClr val="tx1">
                    <a:lumMod val="65000"/>
                    <a:lumOff val="35000"/>
                  </a:schemeClr>
                </a:solidFill>
                <a:latin typeface="メイリオ"/>
                <a:ea typeface="メイリオ"/>
                <a:cs typeface="メイリオ"/>
                <a:sym typeface="Meiryo"/>
              </a:rPr>
              <a:t>WEB</a:t>
            </a:r>
            <a:r>
              <a:rPr lang="ja-JP" altLang="en-US" sz="1600" b="1" dirty="0">
                <a:solidFill>
                  <a:schemeClr val="tx1">
                    <a:lumMod val="65000"/>
                    <a:lumOff val="35000"/>
                  </a:schemeClr>
                </a:solidFill>
                <a:latin typeface="メイリオ"/>
                <a:ea typeface="メイリオ"/>
                <a:cs typeface="メイリオ"/>
                <a:sym typeface="Meiryo"/>
              </a:rPr>
              <a:t>サイト登録が出来る仕組み。</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ID</a:t>
            </a:r>
            <a:r>
              <a:rPr lang="ja-JP" altLang="en-US" sz="1600" b="1" dirty="0">
                <a:solidFill>
                  <a:schemeClr val="tx1">
                    <a:lumMod val="65000"/>
                    <a:lumOff val="35000"/>
                  </a:schemeClr>
                </a:solidFill>
                <a:latin typeface="メイリオ"/>
                <a:ea typeface="メイリオ"/>
                <a:cs typeface="メイリオ"/>
                <a:sym typeface="Meiryo"/>
              </a:rPr>
              <a:t>連携を完了することにより、サービス</a:t>
            </a:r>
            <a:r>
              <a:rPr lang="en-US" altLang="ja-JP" sz="1600" b="1" dirty="0">
                <a:solidFill>
                  <a:schemeClr val="tx1">
                    <a:lumMod val="65000"/>
                    <a:lumOff val="35000"/>
                  </a:schemeClr>
                </a:solidFill>
                <a:latin typeface="メイリオ"/>
                <a:ea typeface="メイリオ"/>
                <a:cs typeface="メイリオ"/>
                <a:sym typeface="Meiryo"/>
              </a:rPr>
              <a:t>(WEB) </a:t>
            </a:r>
            <a:r>
              <a:rPr lang="ja-JP" altLang="en-US" sz="1600" b="1" dirty="0">
                <a:solidFill>
                  <a:schemeClr val="tx1">
                    <a:lumMod val="65000"/>
                    <a:lumOff val="35000"/>
                  </a:schemeClr>
                </a:solidFill>
                <a:latin typeface="メイリオ"/>
                <a:ea typeface="メイリオ"/>
                <a:cs typeface="メイリオ"/>
                <a:sym typeface="Meiryo"/>
              </a:rPr>
              <a:t>⇔ </a:t>
            </a:r>
            <a:r>
              <a:rPr lang="en-US" altLang="ja-JP" sz="1600" b="1" dirty="0">
                <a:solidFill>
                  <a:schemeClr val="tx1">
                    <a:lumMod val="65000"/>
                    <a:lumOff val="35000"/>
                  </a:schemeClr>
                </a:solidFill>
                <a:latin typeface="メイリオ"/>
                <a:ea typeface="メイリオ"/>
                <a:cs typeface="メイリオ"/>
                <a:sym typeface="Meiryo"/>
              </a:rPr>
              <a:t>LINE </a:t>
            </a:r>
            <a:r>
              <a:rPr lang="ja-JP" altLang="en-US" sz="1600" b="1" dirty="0">
                <a:solidFill>
                  <a:schemeClr val="tx1">
                    <a:lumMod val="65000"/>
                    <a:lumOff val="35000"/>
                  </a:schemeClr>
                </a:solidFill>
                <a:latin typeface="メイリオ"/>
                <a:ea typeface="メイリオ"/>
                <a:cs typeface="メイリオ"/>
                <a:sym typeface="Meiryo"/>
              </a:rPr>
              <a:t>での効果的なメッセージが可能に。</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オフライン動線</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400" b="1" dirty="0">
                <a:solidFill>
                  <a:srgbClr val="002060"/>
                </a:solidFill>
                <a:latin typeface="メイリオ"/>
                <a:ea typeface="メイリオ"/>
                <a:cs typeface="メイリオ"/>
                <a:sym typeface="Meiryo"/>
              </a:rPr>
              <a:t>ニュースリリース等</a:t>
            </a:r>
            <a:endParaRPr lang="en-US" altLang="ja-JP" sz="1400" b="1" dirty="0">
              <a:solidFill>
                <a:srgbClr val="002060"/>
              </a:solidFill>
              <a:latin typeface="メイリオ"/>
              <a:ea typeface="メイリオ"/>
              <a:cs typeface="メイリオ"/>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WEB</a:t>
            </a:r>
            <a:r>
              <a:rPr lang="ja-JP" altLang="en-US" sz="2000" b="1" dirty="0">
                <a:solidFill>
                  <a:srgbClr val="002060"/>
                </a:solidFill>
                <a:latin typeface="メイリオ"/>
                <a:ea typeface="メイリオ"/>
                <a:cs typeface="メイリオ"/>
                <a:sym typeface="Meiryo"/>
              </a:rPr>
              <a:t>サイト動線整備</a:t>
            </a:r>
            <a:endParaRPr lang="en-US" altLang="ja-JP" sz="2000" b="1" dirty="0">
              <a:solidFill>
                <a:srgbClr val="002060"/>
              </a:solidFill>
              <a:latin typeface="メイリオ"/>
              <a:ea typeface="メイリオ"/>
              <a:cs typeface="メイリオ"/>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友だち紹介</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200" b="1" dirty="0">
                <a:solidFill>
                  <a:srgbClr val="002060"/>
                </a:solidFill>
                <a:latin typeface="メイリオ"/>
                <a:ea typeface="メイリオ"/>
                <a:cs typeface="メイリオ"/>
                <a:sym typeface="Meiryo"/>
              </a:rPr>
              <a:t>（</a:t>
            </a:r>
            <a:r>
              <a:rPr lang="en-US" altLang="ja-JP" sz="1200" b="1" dirty="0">
                <a:solidFill>
                  <a:srgbClr val="002060"/>
                </a:solidFill>
                <a:latin typeface="メイリオ"/>
                <a:ea typeface="メイリオ"/>
                <a:cs typeface="メイリオ"/>
                <a:sym typeface="Meiryo"/>
              </a:rPr>
              <a:t>LINE</a:t>
            </a:r>
            <a:r>
              <a:rPr lang="ja-JP" altLang="en-US" sz="1200" b="1" dirty="0">
                <a:solidFill>
                  <a:srgbClr val="002060"/>
                </a:solidFill>
                <a:latin typeface="メイリオ"/>
                <a:ea typeface="メイリオ"/>
                <a:cs typeface="メイリオ"/>
                <a:sym typeface="Meiryo"/>
              </a:rPr>
              <a:t>ポイントコネクト）</a:t>
            </a:r>
            <a:endParaRPr lang="en-US" altLang="ja-JP" sz="1200" b="1" dirty="0">
              <a:solidFill>
                <a:srgbClr val="002060"/>
              </a:solidFill>
              <a:latin typeface="メイリオ"/>
              <a:ea typeface="メイリオ"/>
              <a:cs typeface="メイリオ"/>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ポイント</a:t>
            </a:r>
            <a:r>
              <a:rPr lang="en-US" altLang="ja-JP" sz="2000" b="1" dirty="0">
                <a:solidFill>
                  <a:srgbClr val="002060"/>
                </a:solidFill>
                <a:latin typeface="メイリオ"/>
                <a:ea typeface="メイリオ"/>
                <a:cs typeface="メイリオ"/>
                <a:sym typeface="Meiryo"/>
              </a:rPr>
              <a:t>Ads</a:t>
            </a:r>
            <a:endParaRPr lang="en-US" altLang="ja-JP" sz="1400" b="1" dirty="0">
              <a:solidFill>
                <a:srgbClr val="002060"/>
              </a:solidFill>
              <a:latin typeface="メイリオ"/>
              <a:ea typeface="メイリオ"/>
              <a:cs typeface="メイリオ"/>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スタンプ施策</a:t>
            </a:r>
            <a:endParaRPr lang="en-US" altLang="ja-JP" sz="2000" b="1" dirty="0">
              <a:solidFill>
                <a:srgbClr val="002060"/>
              </a:solidFill>
              <a:latin typeface="メイリオ"/>
              <a:ea typeface="メイリオ"/>
              <a:cs typeface="メイリオ"/>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1200" b="1" dirty="0">
              <a:solidFill>
                <a:srgbClr val="002060"/>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FF0000"/>
                </a:solidFill>
                <a:latin typeface="メイリオ"/>
                <a:ea typeface="メイリオ"/>
                <a:cs typeface="メイリオ"/>
                <a:sym typeface="Meiryo"/>
              </a:rPr>
              <a:t>無償</a:t>
            </a:r>
            <a:endParaRPr lang="ja-JP" altLang="en-US" dirty="0">
              <a:solidFill>
                <a:srgbClr val="FF0000"/>
              </a:solidFill>
              <a:latin typeface="メイリオ"/>
              <a:ea typeface="メイリオ"/>
              <a:cs typeface="メイリオ"/>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FF0000"/>
                </a:solidFill>
                <a:latin typeface="メイリオ"/>
                <a:ea typeface="メイリオ"/>
                <a:cs typeface="メイリオ"/>
                <a:sym typeface="Meiryo"/>
              </a:rPr>
              <a:t>無償</a:t>
            </a:r>
            <a:endParaRPr lang="ja-JP" altLang="en-US" dirty="0">
              <a:solidFill>
                <a:srgbClr val="FF0000"/>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メイリオ"/>
                <a:ea typeface="メイリオ"/>
                <a:cs typeface="メイリオ"/>
                <a:sym typeface="Meiryo"/>
              </a:rPr>
              <a:t>サービス停止中</a:t>
            </a:r>
            <a:endParaRPr lang="ja-JP" altLang="en-US" b="1" dirty="0">
              <a:solidFill>
                <a:schemeClr val="tx1">
                  <a:lumMod val="50000"/>
                  <a:lumOff val="50000"/>
                </a:schemeClr>
              </a:solidFill>
              <a:latin typeface="メイリオ"/>
              <a:ea typeface="メイリオ"/>
              <a:cs typeface="メイリオ"/>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メイリオ"/>
                <a:ea typeface="メイリオ"/>
                <a:cs typeface="メイリオ"/>
                <a:sym typeface="Meiryo"/>
              </a:rPr>
              <a:t>200</a:t>
            </a:r>
            <a:r>
              <a:rPr lang="ja-JP" altLang="en-US" sz="2000" b="1" dirty="0">
                <a:solidFill>
                  <a:srgbClr val="FF0000"/>
                </a:solidFill>
                <a:latin typeface="メイリオ"/>
                <a:ea typeface="メイリオ"/>
                <a:cs typeface="メイリオ"/>
                <a:sym typeface="Meiryo"/>
              </a:rPr>
              <a:t>万円</a:t>
            </a:r>
            <a:r>
              <a:rPr lang="en-US" altLang="ja-JP" sz="2000" b="1" dirty="0">
                <a:solidFill>
                  <a:srgbClr val="FF0000"/>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FF0000"/>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メイリオ"/>
                <a:ea typeface="メイリオ"/>
                <a:cs typeface="メイリオ"/>
                <a:sym typeface="Meiryo"/>
              </a:rPr>
              <a:t>200</a:t>
            </a:r>
            <a:r>
              <a:rPr lang="ja-JP" altLang="en-US" sz="2000" b="1" dirty="0">
                <a:solidFill>
                  <a:srgbClr val="FF0000"/>
                </a:solidFill>
                <a:latin typeface="メイリオ"/>
                <a:ea typeface="メイリオ"/>
                <a:cs typeface="メイリオ"/>
                <a:sym typeface="Meiryo"/>
              </a:rPr>
              <a:t>万円</a:t>
            </a:r>
            <a:r>
              <a:rPr lang="en-US" altLang="ja-JP" sz="2000" b="1" dirty="0">
                <a:solidFill>
                  <a:srgbClr val="FF0000"/>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FF0000"/>
              </a:solidFill>
              <a:latin typeface="メイリオ"/>
              <a:ea typeface="メイリオ"/>
              <a:cs typeface="メイリオ"/>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メイリオ"/>
                <a:ea typeface="メイリオ"/>
                <a:cs typeface="メイリオ"/>
                <a:sym typeface="Meiryo"/>
              </a:rPr>
              <a:t>20</a:t>
            </a:r>
            <a:r>
              <a:rPr lang="ja-JP" altLang="en-US" sz="2000" b="1" dirty="0">
                <a:solidFill>
                  <a:srgbClr val="FF0000"/>
                </a:solidFill>
                <a:latin typeface="メイリオ"/>
                <a:ea typeface="メイリオ"/>
                <a:cs typeface="メイリオ"/>
                <a:sym typeface="Meiryo"/>
              </a:rPr>
              <a:t>万円</a:t>
            </a:r>
            <a:r>
              <a:rPr lang="en-US" altLang="ja-JP" sz="2000" b="1" dirty="0">
                <a:solidFill>
                  <a:srgbClr val="FF0000"/>
                </a:solidFill>
                <a:latin typeface="メイリオ"/>
                <a:ea typeface="メイリオ"/>
                <a:cs typeface="メイリオ"/>
                <a:sym typeface="Meiryo"/>
              </a:rPr>
              <a:t>~</a:t>
            </a:r>
            <a:r>
              <a:rPr lang="ja-JP" altLang="en-US" sz="1200" dirty="0">
                <a:latin typeface="メイリオ"/>
                <a:ea typeface="メイリオ"/>
                <a:cs typeface="メイリオ"/>
                <a:sym typeface="Meiryo"/>
              </a:rPr>
              <a:t>（</a:t>
            </a:r>
            <a:r>
              <a:rPr lang="en-US" altLang="ja-JP" sz="1200" dirty="0">
                <a:latin typeface="メイリオ"/>
                <a:ea typeface="メイリオ"/>
                <a:cs typeface="メイリオ"/>
                <a:sym typeface="Meiryo"/>
              </a:rPr>
              <a:t>1</a:t>
            </a:r>
            <a:r>
              <a:rPr lang="ja-JP" altLang="en-US" sz="1200" dirty="0">
                <a:latin typeface="メイリオ"/>
                <a:ea typeface="メイリオ"/>
                <a:cs typeface="メイリオ"/>
                <a:sym typeface="Meiryo"/>
              </a:rPr>
              <a:t>ヶ月</a:t>
            </a:r>
            <a:r>
              <a:rPr lang="en-US" altLang="ja-JP" sz="1200" dirty="0">
                <a:latin typeface="メイリオ"/>
                <a:ea typeface="メイリオ"/>
                <a:cs typeface="メイリオ"/>
                <a:sym typeface="Meiryo"/>
              </a:rPr>
              <a:t>~</a:t>
            </a:r>
            <a:r>
              <a:rPr lang="ja-JP" altLang="en-US" sz="1200" dirty="0">
                <a:latin typeface="メイリオ"/>
                <a:ea typeface="メイリオ"/>
                <a:cs typeface="メイリオ"/>
                <a:sym typeface="Meiryo"/>
              </a:rPr>
              <a:t>）</a:t>
            </a:r>
            <a:endParaRPr lang="ja-JP" altLang="en-US" sz="2000" dirty="0">
              <a:solidFill>
                <a:srgbClr val="FF0000"/>
              </a:solidFill>
              <a:latin typeface="メイリオ"/>
              <a:ea typeface="メイリオ"/>
              <a:cs typeface="メイリオ"/>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各拡張施策についても</a:t>
            </a:r>
            <a:r>
              <a:rPr lang="en-US" altLang="ja-JP" sz="1600" b="1" dirty="0">
                <a:solidFill>
                  <a:schemeClr val="tx1">
                    <a:lumMod val="65000"/>
                    <a:lumOff val="35000"/>
                  </a:schemeClr>
                </a:solidFill>
                <a:latin typeface="メイリオ"/>
                <a:ea typeface="メイリオ"/>
                <a:cs typeface="メイリオ"/>
                <a:sym typeface="Meiryo"/>
              </a:rPr>
              <a:t>MIN</a:t>
            </a:r>
            <a:r>
              <a:rPr lang="ja-JP" altLang="en-US" sz="1600" b="1" dirty="0">
                <a:solidFill>
                  <a:schemeClr val="tx1">
                    <a:lumMod val="65000"/>
                    <a:lumOff val="35000"/>
                  </a:schemeClr>
                </a:solidFill>
                <a:latin typeface="メイリオ"/>
                <a:ea typeface="メイリオ"/>
                <a:cs typeface="メイリオ"/>
                <a:sym typeface="Meiryo"/>
              </a:rPr>
              <a:t>金額からの発注、動線設計が可能</a:t>
            </a:r>
            <a:endParaRPr lang="en-US" altLang="ja-JP" sz="1600" b="1" dirty="0">
              <a:solidFill>
                <a:schemeClr val="tx1">
                  <a:lumMod val="65000"/>
                  <a:lumOff val="35000"/>
                </a:schemeClr>
              </a:solidFill>
              <a:latin typeface="メイリオ"/>
              <a:ea typeface="メイリオ"/>
              <a:cs typeface="メイリオ"/>
              <a:sym typeface="Meiryo"/>
            </a:endParaRPr>
          </a:p>
          <a:p>
            <a:pPr lvl="0" algn="ctr">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広告</a:t>
            </a:r>
            <a:r>
              <a:rPr lang="ja-JP" altLang="en-US" sz="1200" b="1" dirty="0">
                <a:latin typeface="メイリオ" panose="020B0604030504040204" pitchFamily="50" charset="-128"/>
                <a:ea typeface="メイリオ" panose="020B0604030504040204" pitchFamily="50" charset="-128"/>
                <a:cs typeface="メイリオ"/>
              </a:rPr>
              <a:t>（友だち追加）</a:t>
            </a:r>
            <a:endParaRPr lang="en-US" altLang="ja-JP" sz="1200" b="1" dirty="0">
              <a:latin typeface="メイリオ" panose="020B0604030504040204" pitchFamily="50" charset="-128"/>
              <a:ea typeface="メイリオ" panose="020B0604030504040204" pitchFamily="50" charset="-128"/>
              <a:cs typeface="メイリオ"/>
            </a:endParaRPr>
          </a:p>
          <a:p>
            <a:pPr algn="ctr"/>
            <a:r>
              <a:rPr lang="en-US" altLang="ja-JP" sz="1200" b="1" dirty="0">
                <a:solidFill>
                  <a:srgbClr val="FFFF00"/>
                </a:solidFill>
                <a:latin typeface="メイリオ" panose="020B0604030504040204" pitchFamily="50" charset="-128"/>
                <a:ea typeface="メイリオ" panose="020B0604030504040204" pitchFamily="50" charset="-128"/>
                <a:cs typeface="メイリオ"/>
              </a:rPr>
              <a:t>※CPF</a:t>
            </a:r>
            <a:r>
              <a:rPr lang="ja-JP" altLang="en-US" sz="1200" b="1" dirty="0">
                <a:solidFill>
                  <a:srgbClr val="FFFF00"/>
                </a:solidFill>
                <a:latin typeface="メイリオ" panose="020B0604030504040204" pitchFamily="50" charset="-128"/>
                <a:ea typeface="メイリオ" panose="020B0604030504040204" pitchFamily="50" charset="-128"/>
                <a:cs typeface="メイリオ"/>
              </a:rPr>
              <a:t>広告</a:t>
            </a:r>
            <a:r>
              <a:rPr lang="en-US" altLang="ja-JP" sz="1200" b="1" dirty="0">
                <a:solidFill>
                  <a:srgbClr val="FFFF00"/>
                </a:solidFill>
                <a:latin typeface="メイリオ" panose="020B0604030504040204" pitchFamily="50" charset="-128"/>
                <a:ea typeface="メイリオ" panose="020B0604030504040204" pitchFamily="50" charset="-128"/>
                <a:cs typeface="メイリオ"/>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公式アカウントの友だちを増やすための広告を、</a:t>
            </a:r>
            <a:br>
              <a:rPr lang="en-US" altLang="ja-JP" sz="1600" b="1" dirty="0">
                <a:solidFill>
                  <a:schemeClr val="tx1">
                    <a:lumMod val="65000"/>
                    <a:lumOff val="35000"/>
                  </a:schemeClr>
                </a:solidFill>
                <a:latin typeface="メイリオ"/>
                <a:ea typeface="メイリオ"/>
                <a:cs typeface="メイリオ"/>
                <a:sym typeface="Meiryo"/>
              </a:rPr>
            </a:b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広告の管理画面より</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アプリ内で掲載できる機能。</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en-US" altLang="ja-JP" sz="1200" b="1" dirty="0">
                  <a:solidFill>
                    <a:srgbClr val="0070C0"/>
                  </a:solidFill>
                  <a:latin typeface="メイリオ"/>
                  <a:ea typeface="メイリオ"/>
                  <a:cs typeface="メイリオ"/>
                  <a:sym typeface="Meiryo"/>
                </a:rPr>
                <a:t>LINE</a:t>
              </a:r>
              <a:r>
                <a:rPr lang="ja-JP" altLang="en-US" sz="1200" b="1" dirty="0">
                  <a:solidFill>
                    <a:srgbClr val="0070C0"/>
                  </a:solidFill>
                  <a:latin typeface="メイリオ"/>
                  <a:ea typeface="メイリオ"/>
                  <a:cs typeface="メイリオ"/>
                  <a:sym typeface="Meiryo"/>
                </a:rPr>
                <a:t>公式アカウントまでの導線</a:t>
              </a:r>
              <a:endParaRPr lang="en-US" altLang="ja-JP" sz="1200" b="1" dirty="0">
                <a:solidFill>
                  <a:srgbClr val="0070C0"/>
                </a:solidFill>
                <a:latin typeface="メイリオ"/>
                <a:ea typeface="メイリオ"/>
                <a:cs typeface="メイリオ"/>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200" b="1" dirty="0">
                  <a:solidFill>
                    <a:srgbClr val="0070C0"/>
                  </a:solidFill>
                  <a:latin typeface="メイリオ"/>
                  <a:ea typeface="メイリオ"/>
                  <a:cs typeface="メイリオ"/>
                  <a:sym typeface="Meiryo"/>
                </a:rPr>
                <a:t>「友だち追加広告」との違い</a:t>
              </a:r>
              <a:endParaRPr lang="en-US" altLang="ja-JP" sz="1200" b="1" dirty="0">
                <a:solidFill>
                  <a:srgbClr val="0070C0"/>
                </a:solidFill>
                <a:latin typeface="メイリオ"/>
                <a:ea typeface="メイリオ"/>
                <a:cs typeface="メイリオ"/>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kumimoji="1" lang="en-US" altLang="ja-JP" sz="1200" dirty="0">
                <a:latin typeface="メイリオ" panose="020B0604030504040204" pitchFamily="50" charset="-128"/>
                <a:ea typeface="メイリオ" panose="020B0604030504040204" pitchFamily="50" charset="-128"/>
                <a:cs typeface="メイリオ"/>
              </a:rPr>
              <a:t>LINE</a:t>
            </a:r>
            <a:r>
              <a:rPr kumimoji="1" lang="ja-JP" altLang="en-US" sz="1200" dirty="0">
                <a:latin typeface="メイリオ" panose="020B0604030504040204" pitchFamily="50" charset="-128"/>
                <a:ea typeface="メイリオ" panose="020B0604030504040204" pitchFamily="50" charset="-128"/>
                <a:cs typeface="メイリオ"/>
              </a:rPr>
              <a:t>アプリ内から</a:t>
            </a:r>
            <a:br>
              <a:rPr kumimoji="1" lang="en-US" altLang="ja-JP" sz="1200" dirty="0">
                <a:latin typeface="メイリオ" panose="020B0604030504040204" pitchFamily="50" charset="-128"/>
                <a:ea typeface="メイリオ" panose="020B0604030504040204" pitchFamily="50" charset="-128"/>
                <a:cs typeface="メイリオ"/>
              </a:rPr>
            </a:br>
            <a:r>
              <a:rPr kumimoji="1" lang="ja-JP" altLang="en-US" sz="1200" dirty="0">
                <a:latin typeface="メイリオ" panose="020B0604030504040204" pitchFamily="50" charset="-128"/>
                <a:ea typeface="メイリオ" panose="020B0604030504040204" pitchFamily="50" charset="-128"/>
                <a:cs typeface="メイリオ"/>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600" b="1" dirty="0">
                <a:solidFill>
                  <a:srgbClr val="33CC33"/>
                </a:solidFill>
                <a:latin typeface="メイリオ" panose="020B0604030504040204" pitchFamily="50" charset="-128"/>
                <a:ea typeface="メイリオ" panose="020B0604030504040204" pitchFamily="50" charset="-128"/>
                <a:cs typeface="メイリオ"/>
              </a:rPr>
              <a:t>直接</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200" dirty="0">
                <a:latin typeface="メイリオ" panose="020B0604030504040204" pitchFamily="50" charset="-128"/>
                <a:ea typeface="メイリオ" panose="020B0604030504040204" pitchFamily="50" charset="-128"/>
                <a:cs typeface="メイリオ"/>
              </a:rPr>
              <a:t>誘導</a:t>
            </a:r>
            <a:endParaRPr kumimoji="1" lang="en-US" altLang="ja-JP"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7060081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latin typeface="メイリオ"/>
                <a:ea typeface="メイリオ"/>
                <a:cs typeface="メイリオ"/>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latin typeface="メイリオ"/>
                <a:ea typeface="メイリオ"/>
                <a:cs typeface="メイリオ"/>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latin typeface="メイリオ"/>
                <a:ea typeface="メイリオ"/>
                <a:cs typeface="メイリオ"/>
              </a:defRPr>
            </a:pPr>
            <a:endParaRPr lang="ja-JP" altLang="en-US">
              <a:solidFill>
                <a:prstClr val="black"/>
              </a:solidFill>
              <a:latin typeface="メイリオ" pitchFamily="34" charset="0"/>
              <a:ea typeface="メイリオ" pitchFamily="50" charset="-128"/>
              <a:cs typeface="メイリオ"/>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143185</TotalTime>
  <Words>7234</Words>
  <Application>Microsoft Office PowerPoint</Application>
  <PresentationFormat>A4 210 x 297 mm</PresentationFormat>
  <Paragraphs>1909</Paragraphs>
  <Slides>63</Slides>
  <Notes>28</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63</vt:i4>
      </vt:variant>
    </vt:vector>
  </HeadingPairs>
  <TitlesOfParts>
    <vt:vector size="70"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1958</cp:revision>
  <cp:lastPrinted>2022-11-01T11:38:14Z</cp:lastPrinted>
  <dcterms:created xsi:type="dcterms:W3CDTF">2015-09-04T09:21:15Z</dcterms:created>
  <dcterms:modified xsi:type="dcterms:W3CDTF">2026-09-30T11:45:49Z</dcterms:modified>
</cp:coreProperties>
</file>