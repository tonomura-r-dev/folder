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media/image29.svg" ContentType="image/svg+xml"/>
  <Override PartName="/ppt/media/image30.svg" ContentType="image/svg+xml"/>
  <Override PartName="/ppt/media/image31.svg" ContentType="image/svg+xml"/>
  <Override PartName="/ppt/media/image32.svg" ContentType="image/svg+xml"/>
  <Override PartName="/ppt/notesMasters/notesMaster1.xml" ContentType="application/vnd.openxmlformats-officedocument.presentationml.notesMaster+xml"/>
  <Override PartName="/ppt/notesSlides/notesSlide1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9"/>
  </p:notesMasterIdLst>
  <p:handoutMasterIdLst>
    <p:handoutMasterId r:id="rId40"/>
  </p:handoutMasterIdLst>
  <p:sldIdLst>
    <p:sldId id="2363" r:id="rId3"/>
    <p:sldId id="2989" r:id="rId45"/>
    <p:sldId id="2990" r:id="rId46"/>
    <p:sldId id="2991" r:id="rId47"/>
    <p:sldId id="2992" r:id="rId48"/>
    <p:sldId id="2993" r:id="rId49"/>
    <p:sldId id="2994" r:id="rId50"/>
    <p:sldId id="2956" r:id="rId5"/>
    <p:sldId id="2937" r:id="rId22"/>
    <p:sldId id="2995" r:id="rId51"/>
    <p:sldId id="1169" r:id="rId38"/>
    <p:sldId id="2996" r:id="rId52"/>
    <p:sldId id="2997" r:id="rId53"/>
    <p:sldId id="2998" r:id="rId54"/>
    <p:sldId id="2999" r:id="rId55"/>
    <p:sldId id="3000" r:id="rId56"/>
    <p:sldId id="3001" r:id="rId57"/>
    <p:sldId id="3002" r:id="rId58"/>
    <p:sldId id="3003" r:id="rId59"/>
    <p:sldId id="3004" r:id="rId60"/>
    <p:sldId id="3005" r:id="rId61"/>
    <p:sldId id="3006" r:id="rId62"/>
    <p:sldId id="3007" r:id="rId63"/>
    <p:sldId id="3008" r:id="rId64"/>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157" autoAdjust="0"/>
    <p:restoredTop sz="94424" autoAdjust="0"/>
  </p:normalViewPr>
  <p:slideViewPr>
    <p:cSldViewPr snapToGrid="0">
      <p:cViewPr varScale="1">
        <p:scale>
          <a:sx n="110" d="100"/>
          <a:sy n="110" d="100"/>
        </p:scale>
        <p:origin x="534" y="102"/>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5" Type="http://schemas.openxmlformats.org/officeDocument/2006/relationships/slide" Target="slides/slide3.xml"/><Relationship Id="rId22" Type="http://schemas.openxmlformats.org/officeDocument/2006/relationships/slide" Target="slides/slide20.xml"/><Relationship Id="rId38" Type="http://schemas.openxmlformats.org/officeDocument/2006/relationships/slide" Target="slides/slide36.xml"/><Relationship Id="rId39" Type="http://schemas.openxmlformats.org/officeDocument/2006/relationships/notesMaster" Target="notesMasters/notesMaster1.xml"/><Relationship Id="rId40" Type="http://schemas.openxmlformats.org/officeDocument/2006/relationships/handoutMaster" Target="handoutMasters/handout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59" Type="http://schemas.openxmlformats.org/officeDocument/2006/relationships/slide" Target="slides/slide51.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2026/7/21</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36</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3.emf"/><Relationship Id="rId4" Type="http://schemas.openxmlformats.org/officeDocument/2006/relationships/image" Target="../media/image15.jpeg"/><Relationship Id="rId5" Type="http://schemas.openxmlformats.org/officeDocument/2006/relationships/image" Target="../media/image16.jpeg"/><Relationship Id="rId6" Type="http://schemas.openxmlformats.org/officeDocument/2006/relationships/image" Target="../media/image17.jpeg"/><Relationship Id="rId7" Type="http://schemas.openxmlformats.org/officeDocument/2006/relationships/image" Target="../media/image18.jpeg"/><Relationship Id="rId8" Type="http://schemas.openxmlformats.org/officeDocument/2006/relationships/image" Target="../media/image19.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0.jpg"/><Relationship Id="rId3" Type="http://schemas.openxmlformats.org/officeDocument/2006/relationships/image" Target="../media/image21.jp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 Id="rId7" Type="http://schemas.openxmlformats.org/officeDocument/2006/relationships/image" Target="../media/image25.jpg"/><Relationship Id="rId8" Type="http://schemas.openxmlformats.org/officeDocument/2006/relationships/image" Target="../media/image26.jpg"/><Relationship Id="rId9" Type="http://schemas.openxmlformats.org/officeDocument/2006/relationships/image" Target="../media/image2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svg"/><Relationship Id="rId3" Type="http://schemas.openxmlformats.org/officeDocument/2006/relationships/image" Target="../media/image30.svg"/><Relationship Id="rId4" Type="http://schemas.openxmlformats.org/officeDocument/2006/relationships/image" Target="../media/image31.svg"/><Relationship Id="rId5" Type="http://schemas.openxmlformats.org/officeDocument/2006/relationships/image" Target="../media/image32.sv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3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9.png"/><Relationship Id="rId3" Type="http://schemas.openxmlformats.org/officeDocument/2006/relationships/image" Target="../media/image40.png"/><Relationship Id="rId4" Type="http://schemas.openxmlformats.org/officeDocument/2006/relationships/image" Target="../media/image4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3.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5.png"/><Relationship Id="rId3" Type="http://schemas.openxmlformats.org/officeDocument/2006/relationships/image" Target="../media/image46.png"/><Relationship Id="rId4" Type="http://schemas.openxmlformats.org/officeDocument/2006/relationships/image" Target="../media/image47.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09344" y="2103120"/>
            <a:ext cx="6629400" cy="868680"/>
          </a:xfrm>
          <a:prstGeom prst="rect">
            <a:avLst/>
          </a:prstGeom>
        </p:spPr>
        <p:txBody>
          <a:bodyPr wrap="square" lIns="50400" rIns="50400" tIns="21600" bIns="21600" anchor="ctr">
            <a:spAutoFit/>
          </a:bodyPr>
          <a:lstStyle/>
          <a:p>
            <a:pPr algn="ctr"/>
            <a:r>
              <a:rPr sz="1300" b="1">
                <a:solidFill>
                  <a:srgbClr val="333333"/>
                </a:solidFill>
                <a:latin typeface="メイリオ"/>
                <a:ea typeface="メイリオ"/>
                <a:cs typeface="メイリオ"/>
              </a:rPr>
              <a:t>予約から来場までをLINEでつなぎ、</a:t>
            </a:r>
          </a:p>
          <a:p>
            <a:pPr algn="ctr"/>
            <a:r>
              <a:rPr sz="1300" b="1">
                <a:solidFill>
                  <a:srgbClr val="333333"/>
                </a:solidFill>
                <a:latin typeface="メイリオ"/>
                <a:ea typeface="メイリオ"/>
                <a:cs typeface="メイリオ"/>
              </a:rPr>
              <a:t>実来場を増やす</a:t>
            </a: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1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cs typeface="メイリオ"/>
              </a:rPr>
              <a:t>株式会社くふう住まい 御中</a:t>
            </a:r>
            <a:endParaRPr lang="en-US" sz="1600" b="0" u="none" strike="noStrike">
              <a:solidFill>
                <a:srgbClr val="000000"/>
              </a:solidFill>
              <a:effectLst/>
              <a:uFillTx/>
              <a:latin typeface="メイリオ"/>
              <a:ea typeface="メイリオ"/>
              <a:cs typeface="メイリオ"/>
            </a:endParaRPr>
          </a:p>
        </p:txBody>
      </p:sp>
    </p:spTree>
    <p:extLst>
      <p:ext uri="{BB962C8B-B14F-4D97-AF65-F5344CB8AC3E}">
        <p14:creationId xmlns:p14="http://schemas.microsoft.com/office/powerpoint/2010/main" val="39445980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全体設計想定</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cs typeface="メイリオ"/>
              </a:rPr>
              <a:t>集客動線</a:t>
            </a:r>
            <a:endParaRPr kumimoji="1" lang="ja-JP" altLang="en-US" sz="1400" dirty="0">
              <a:latin typeface="メイリオ" panose="020B0604030504040204" pitchFamily="50" charset="-128"/>
              <a:ea typeface="メイリオ" panose="020B0604030504040204" pitchFamily="50" charset="-128"/>
              <a:cs typeface="メイリオ"/>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36000" tIns="14400" rIns="36000" bIns="14400" anchor="ctr" anchorCtr="0">
            <a:spAutoFit/>
          </a:bodyPr>
          <a:lstStyle/>
          <a:p>
            <a:pPr algn="l">
              <a:lnSpc>
                <a:spcPct val="120000"/>
              </a:lnSpc>
            </a:pPr>
            <a:r>
              <a:rPr sz="1300" b="1">
                <a:solidFill>
                  <a:srgbClr val="333333"/>
                </a:solidFill>
                <a:latin typeface="メイリオ"/>
                <a:ea typeface="メイリオ"/>
                <a:cs typeface="メイリオ"/>
              </a:rPr>
              <a:t>カスタマージャーニーマップにあわせてLINE投稿を配置。</a:t>
            </a:r>
            <a:endParaRPr lang="en-US" altLang="ja-JP" sz="1600" b="1" dirty="0">
              <a:latin typeface="メイリオ" panose="020B0604030504040204" pitchFamily="50" charset="-128"/>
              <a:ea typeface="メイリオ" panose="020B0604030504040204" pitchFamily="50" charset="-128"/>
              <a:cs typeface="メイリオ"/>
              <a:sym typeface="Meiryo"/>
            </a:endParaRPr>
          </a:p>
          <a:p>
            <a:pPr algn="l">
              <a:lnSpc>
                <a:spcPct val="120000"/>
              </a:lnSpc>
            </a:pPr>
            <a:r>
              <a:rPr sz="1100" b="1">
                <a:solidFill>
                  <a:srgbClr val="333333"/>
                </a:solidFill>
                <a:latin typeface="メイリオ"/>
                <a:ea typeface="メイリオ"/>
                <a:cs typeface="メイリオ"/>
              </a:rPr>
              <a:t>※CV3段＝【リード】友だち追加・予算診断／【有効リード】見学会・個別相談の予約／【マネタイズ】ご契約。</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⑤ リード有効化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⑦マネタイズ</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成約</a:t>
            </a:r>
            <a:r>
              <a:rPr lang="en-US" altLang="ja-JP" sz="1000" b="1" dirty="0">
                <a:latin typeface="メイリオ" panose="020B0604030504040204" pitchFamily="50" charset="-128"/>
                <a:ea typeface="メイリオ" panose="020B0604030504040204" pitchFamily="50" charset="-128"/>
                <a:cs typeface="メイリオ"/>
              </a:rPr>
              <a:t>/</a:t>
            </a:r>
            <a:r>
              <a:rPr lang="ja-JP" altLang="en-US" sz="1000" b="1" dirty="0">
                <a:latin typeface="メイリオ" panose="020B0604030504040204" pitchFamily="50" charset="-128"/>
                <a:ea typeface="メイリオ" panose="020B0604030504040204" pitchFamily="50" charset="-128"/>
                <a:cs typeface="メイリオ"/>
              </a:rPr>
              <a:t>購入</a:t>
            </a:r>
            <a:r>
              <a:rPr lang="en-US" altLang="ja-JP" sz="1000" b="1" dirty="0">
                <a:latin typeface="メイリオ" panose="020B0604030504040204" pitchFamily="50" charset="-128"/>
                <a:ea typeface="メイリオ" panose="020B0604030504040204" pitchFamily="50" charset="-128"/>
                <a:cs typeface="メイリオ"/>
              </a:rPr>
              <a:t>)</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⑥ 有効リードの再育成</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⑧</a:t>
            </a:r>
            <a:r>
              <a:rPr lang="en-US" altLang="ja-JP" sz="1100" b="1" dirty="0">
                <a:latin typeface="メイリオ" panose="020B0604030504040204" pitchFamily="50" charset="-128"/>
                <a:ea typeface="メイリオ" panose="020B0604030504040204" pitchFamily="50" charset="-128"/>
                <a:cs typeface="メイリオ"/>
              </a:rPr>
              <a:t>LTV</a:t>
            </a:r>
            <a:r>
              <a:rPr lang="ja-JP" altLang="en-US" sz="1100" b="1" dirty="0">
                <a:latin typeface="メイリオ" panose="020B0604030504040204" pitchFamily="50" charset="-128"/>
                <a:ea typeface="メイリオ" panose="020B0604030504040204" pitchFamily="50" charset="-128"/>
                <a:cs typeface="メイリオ"/>
              </a:rPr>
              <a:t>最大化・紹介</a:t>
            </a:r>
            <a:endParaRPr lang="en-US" altLang="ja-JP" sz="1100" b="1" dirty="0">
              <a:latin typeface="メイリオ" panose="020B0604030504040204" pitchFamily="50" charset="-128"/>
              <a:ea typeface="メイリオ" panose="020B0604030504040204" pitchFamily="50" charset="-128"/>
              <a:cs typeface="メイリオ"/>
            </a:endParaRPr>
          </a:p>
          <a:p>
            <a:pPr>
              <a:buNone/>
            </a:pPr>
            <a:endParaRPr lang="ja-JP" altLang="ja-JP" sz="900" b="1" dirty="0">
              <a:latin typeface="メイリオ" panose="020B0604030504040204" pitchFamily="50" charset="-128"/>
              <a:ea typeface="メイリオ" panose="020B0604030504040204" pitchFamily="50" charset="-128"/>
              <a:cs typeface="メイリオ"/>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② サイト離脱</a:t>
            </a:r>
            <a:r>
              <a:rPr lang="ja-JP" altLang="en-US" sz="1100" b="1" dirty="0">
                <a:latin typeface="メイリオ" panose="020B0604030504040204" pitchFamily="50" charset="-128"/>
                <a:ea typeface="メイリオ" panose="020B0604030504040204" pitchFamily="50" charset="-128"/>
                <a:cs typeface="メイリオ"/>
              </a:rPr>
              <a:t>（対策）</a:t>
            </a:r>
            <a:endParaRPr lang="ja-JP" altLang="ja-JP" sz="1100" b="1" dirty="0">
              <a:latin typeface="メイリオ" panose="020B0604030504040204" pitchFamily="50" charset="-128"/>
              <a:ea typeface="メイリオ" panose="020B0604030504040204" pitchFamily="50" charset="-128"/>
              <a:cs typeface="メイリオ"/>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cs typeface="メイリオ"/>
              </a:rPr>
              <a:t>③ 育成（興味</a:t>
            </a:r>
            <a:r>
              <a:rPr lang="ja-JP" altLang="en-US" sz="1100" b="1" dirty="0">
                <a:latin typeface="メイリオ" panose="020B0604030504040204" pitchFamily="50" charset="-128"/>
                <a:ea typeface="メイリオ" panose="020B0604030504040204" pitchFamily="50" charset="-128"/>
                <a:cs typeface="メイリオ"/>
              </a:rPr>
              <a:t>喚起</a:t>
            </a:r>
            <a:r>
              <a:rPr lang="ja-JP" altLang="ja-JP" sz="1100" b="1" dirty="0">
                <a:latin typeface="メイリオ" panose="020B0604030504040204" pitchFamily="50" charset="-128"/>
                <a:ea typeface="メイリオ" panose="020B0604030504040204" pitchFamily="50" charset="-128"/>
                <a:cs typeface="メイリオ"/>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cs typeface="メイリオ"/>
              </a:rPr>
              <a:t>④リード獲得 </a:t>
            </a:r>
            <a:r>
              <a:rPr lang="en-US" altLang="ja-JP" sz="900" b="1" dirty="0">
                <a:latin typeface="メイリオ" panose="020B0604030504040204" pitchFamily="50" charset="-128"/>
                <a:ea typeface="メイリオ" panose="020B0604030504040204" pitchFamily="50" charset="-128"/>
                <a:cs typeface="メイリオ"/>
              </a:rPr>
              <a:t>(web/LINE)</a:t>
            </a:r>
            <a:endParaRPr lang="ja-JP" altLang="ja-JP" sz="1050" b="1" dirty="0">
              <a:latin typeface="メイリオ" panose="020B0604030504040204" pitchFamily="50" charset="-128"/>
              <a:ea typeface="メイリオ" panose="020B0604030504040204" pitchFamily="50" charset="-128"/>
              <a:cs typeface="メイリオ"/>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F2ACC73-0643-27D8-F1B3-1B871FCEF141}"/>
              </a:ext>
            </a:extLst>
          </p:cNvPr>
          <p:cNvCxnSpPr>
            <a:cxnSpLocks/>
          </p:cNvCxnSpPr>
          <p:nvPr/>
        </p:nvCxnSpPr>
        <p:spPr>
          <a:xfrm>
            <a:off x="334303" y="3515795"/>
            <a:ext cx="3207836"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69C05BA8-18F6-F344-3C54-A5E03AFE2368}"/>
              </a:ext>
            </a:extLst>
          </p:cNvPr>
          <p:cNvCxnSpPr>
            <a:cxnSpLocks/>
          </p:cNvCxnSpPr>
          <p:nvPr/>
        </p:nvCxnSpPr>
        <p:spPr>
          <a:xfrm>
            <a:off x="3122098" y="4928015"/>
            <a:ext cx="6619128"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E77786FC-857A-BA29-36E6-9A41C2E99F31}"/>
              </a:ext>
            </a:extLst>
          </p:cNvPr>
          <p:cNvSpPr txBox="1"/>
          <p:nvPr/>
        </p:nvSpPr>
        <p:spPr>
          <a:xfrm>
            <a:off x="1268358" y="3383509"/>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sym typeface="Meiryo"/>
              </a:rPr>
              <a:t>WEB</a:t>
            </a:r>
            <a:r>
              <a:rPr lang="ja-JP" altLang="en-US" sz="1050" b="1" dirty="0">
                <a:latin typeface="メイリオ" panose="020B0604030504040204" pitchFamily="50" charset="-128"/>
                <a:ea typeface="メイリオ" panose="020B0604030504040204" pitchFamily="50" charset="-128"/>
                <a:cs typeface="メイリオ"/>
                <a:sym typeface="Meiryo"/>
              </a:rPr>
              <a:t>→</a:t>
            </a:r>
            <a:r>
              <a:rPr lang="en-US" altLang="ja-JP" sz="1050" b="1" dirty="0">
                <a:latin typeface="メイリオ" panose="020B0604030504040204" pitchFamily="50" charset="-128"/>
                <a:ea typeface="メイリオ" panose="020B0604030504040204" pitchFamily="50" charset="-128"/>
                <a:cs typeface="メイリオ"/>
                <a:sym typeface="Meiryo"/>
              </a:rPr>
              <a:t>LINEOA</a:t>
            </a:r>
            <a:r>
              <a:rPr lang="ja-JP" altLang="en-US" sz="1050" b="1" dirty="0">
                <a:latin typeface="メイリオ" panose="020B0604030504040204" pitchFamily="50" charset="-128"/>
                <a:ea typeface="メイリオ" panose="020B0604030504040204" pitchFamily="50" charset="-128"/>
                <a:cs typeface="メイリオ"/>
                <a:sym typeface="Meiryo"/>
              </a:rPr>
              <a:t>領域</a:t>
            </a:r>
            <a:endParaRPr lang="ja-JP" altLang="en-US" sz="1050" dirty="0">
              <a:latin typeface="メイリオ"/>
              <a:ea typeface="メイリオ"/>
              <a:cs typeface="メイリオ"/>
            </a:endParaRPr>
          </a:p>
        </p:txBody>
      </p:sp>
      <p:sp>
        <p:nvSpPr>
          <p:cNvPr id="26" name="テキスト ボックス 25">
            <a:extLst>
              <a:ext uri="{FF2B5EF4-FFF2-40B4-BE49-F238E27FC236}">
                <a16:creationId xmlns:a16="http://schemas.microsoft.com/office/drawing/2014/main" id="{5B6D9466-EC9E-4057-AB18-8974D147F3E8}"/>
              </a:ext>
            </a:extLst>
          </p:cNvPr>
          <p:cNvSpPr txBox="1"/>
          <p:nvPr/>
        </p:nvSpPr>
        <p:spPr>
          <a:xfrm>
            <a:off x="5558554" y="4804166"/>
            <a:ext cx="1581214" cy="261610"/>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sym typeface="Meiryo"/>
              </a:rPr>
              <a:t>LINEOA</a:t>
            </a:r>
            <a:r>
              <a:rPr lang="ja-JP" altLang="en-US" sz="1050" b="1" dirty="0">
                <a:latin typeface="メイリオ" panose="020B0604030504040204" pitchFamily="50" charset="-128"/>
                <a:ea typeface="メイリオ" panose="020B0604030504040204" pitchFamily="50" charset="-128"/>
                <a:cs typeface="メイリオ"/>
                <a:sym typeface="Meiryo"/>
              </a:rPr>
              <a:t>➙</a:t>
            </a:r>
            <a:r>
              <a:rPr lang="en-US" altLang="ja-JP" sz="1050" b="1" dirty="0">
                <a:latin typeface="メイリオ" panose="020B0604030504040204" pitchFamily="50" charset="-128"/>
                <a:ea typeface="メイリオ" panose="020B0604030504040204" pitchFamily="50" charset="-128"/>
                <a:cs typeface="メイリオ"/>
                <a:sym typeface="Meiryo"/>
              </a:rPr>
              <a:t>WEB</a:t>
            </a:r>
            <a:r>
              <a:rPr lang="ja-JP" altLang="en-US" sz="1050" b="1" dirty="0">
                <a:latin typeface="メイリオ" panose="020B0604030504040204" pitchFamily="50" charset="-128"/>
                <a:ea typeface="メイリオ" panose="020B0604030504040204" pitchFamily="50" charset="-128"/>
                <a:cs typeface="メイリオ"/>
                <a:sym typeface="Meiryo"/>
              </a:rPr>
              <a:t>領域</a:t>
            </a:r>
            <a:endParaRPr lang="ja-JP" altLang="en-US" sz="1050" dirty="0">
              <a:latin typeface="メイリオ"/>
              <a:ea typeface="メイリオ"/>
              <a:cs typeface="メイリオ"/>
            </a:endParaRPr>
          </a:p>
        </p:txBody>
      </p:sp>
      <p:cxnSp>
        <p:nvCxnSpPr>
          <p:cNvPr id="27" name="直線矢印コネクタ 26">
            <a:extLst>
              <a:ext uri="{FF2B5EF4-FFF2-40B4-BE49-F238E27FC236}">
                <a16:creationId xmlns:a16="http://schemas.microsoft.com/office/drawing/2014/main" id="{C2DCC080-98CE-945F-96A2-C42DE7E0C936}"/>
              </a:ext>
            </a:extLst>
          </p:cNvPr>
          <p:cNvCxnSpPr>
            <a:cxnSpLocks/>
          </p:cNvCxnSpPr>
          <p:nvPr/>
        </p:nvCxnSpPr>
        <p:spPr>
          <a:xfrm>
            <a:off x="3609975" y="3504789"/>
            <a:ext cx="2482432" cy="0"/>
          </a:xfrm>
          <a:prstGeom prst="straightConnector1">
            <a:avLst/>
          </a:prstGeom>
          <a:ln w="28575">
            <a:solidFill>
              <a:srgbClr val="04FA0A"/>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EA293A6D-CB27-A495-B2B6-10D3182B0B70}"/>
              </a:ext>
            </a:extLst>
          </p:cNvPr>
          <p:cNvSpPr txBox="1"/>
          <p:nvPr/>
        </p:nvSpPr>
        <p:spPr>
          <a:xfrm>
            <a:off x="3908480" y="3397243"/>
            <a:ext cx="1913269" cy="234537"/>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オフライン→</a:t>
            </a:r>
            <a:r>
              <a:rPr lang="en-US" altLang="ja-JP" sz="1050" b="1" dirty="0">
                <a:latin typeface="メイリオ" panose="020B0604030504040204" pitchFamily="50" charset="-128"/>
                <a:ea typeface="メイリオ" panose="020B0604030504040204" pitchFamily="50" charset="-128"/>
                <a:cs typeface="メイリオ"/>
                <a:sym typeface="Meiryo"/>
              </a:rPr>
              <a:t>LINEOA</a:t>
            </a:r>
            <a:r>
              <a:rPr lang="ja-JP" altLang="en-US" sz="1050" b="1" dirty="0">
                <a:latin typeface="メイリオ" panose="020B0604030504040204" pitchFamily="50" charset="-128"/>
                <a:ea typeface="メイリオ" panose="020B0604030504040204" pitchFamily="50" charset="-128"/>
                <a:cs typeface="メイリオ"/>
                <a:sym typeface="Meiryo"/>
              </a:rPr>
              <a:t>領域</a:t>
            </a:r>
            <a:endParaRPr lang="ja-JP" altLang="en-US" sz="1050" dirty="0">
              <a:latin typeface="メイリオ"/>
              <a:ea typeface="メイリオ"/>
              <a:cs typeface="メイリオ"/>
            </a:endParaRPr>
          </a:p>
        </p:txBody>
      </p: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カスタマージャーニーマップ</a:t>
            </a:r>
            <a:endParaRPr lang="ja-JP" altLang="en-US" sz="1050" dirty="0">
              <a:latin typeface="メイリオ"/>
              <a:ea typeface="メイリオ"/>
              <a:cs typeface="メイリオ"/>
            </a:endParaRPr>
          </a:p>
        </p:txBody>
      </p:sp>
      <p:sp>
        <p:nvSpPr>
          <p:cNvPr id="33" name="正方形/長方形 32">
            <a:extLst>
              <a:ext uri="{FF2B5EF4-FFF2-40B4-BE49-F238E27FC236}">
                <a16:creationId xmlns:a16="http://schemas.microsoft.com/office/drawing/2014/main" id="{BF6CFDE9-CDE8-1133-47F9-90F22773AF32}"/>
              </a:ext>
            </a:extLst>
          </p:cNvPr>
          <p:cNvSpPr/>
          <p:nvPr/>
        </p:nvSpPr>
        <p:spPr>
          <a:xfrm>
            <a:off x="315939" y="3613966"/>
            <a:ext cx="577646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cs typeface="メイリオ"/>
              </a:rPr>
              <a:t>どう</a:t>
            </a:r>
            <a:r>
              <a:rPr kumimoji="1" lang="ja-JP" altLang="en-US" sz="1000" dirty="0">
                <a:latin typeface="メイリオ" panose="020B0604030504040204" pitchFamily="50" charset="-128"/>
                <a:ea typeface="メイリオ" panose="020B0604030504040204" pitchFamily="50" charset="-128"/>
                <a:cs typeface="メイリオ"/>
              </a:rPr>
              <a:t>友だち追加させるか？</a:t>
            </a:r>
            <a:r>
              <a:rPr kumimoji="1" lang="ja-JP" altLang="en-US" sz="1000" dirty="0">
                <a:solidFill>
                  <a:srgbClr val="FFFF00"/>
                </a:solidFill>
                <a:latin typeface="メイリオ" panose="020B0604030504040204" pitchFamily="50" charset="-128"/>
                <a:ea typeface="メイリオ" panose="020B0604030504040204" pitchFamily="50" charset="-128"/>
                <a:cs typeface="メイリオ"/>
              </a:rPr>
              <a:t>（</a:t>
            </a:r>
            <a:r>
              <a:rPr kumimoji="1" lang="en-US" altLang="ja-JP" sz="1000" dirty="0">
                <a:solidFill>
                  <a:srgbClr val="FFFF00"/>
                </a:solidFill>
                <a:latin typeface="メイリオ" panose="020B0604030504040204" pitchFamily="50" charset="-128"/>
                <a:ea typeface="メイリオ" panose="020B0604030504040204" pitchFamily="50" charset="-128"/>
                <a:cs typeface="メイリオ"/>
              </a:rPr>
              <a:t>WEB</a:t>
            </a:r>
            <a:r>
              <a:rPr kumimoji="1" lang="ja-JP" altLang="en-US" sz="1000" dirty="0">
                <a:solidFill>
                  <a:srgbClr val="FFFF00"/>
                </a:solidFill>
                <a:latin typeface="メイリオ" panose="020B0604030504040204" pitchFamily="50" charset="-128"/>
                <a:ea typeface="メイリオ" panose="020B0604030504040204" pitchFamily="50" charset="-128"/>
                <a:cs typeface="メイリオ"/>
              </a:rPr>
              <a:t>→</a:t>
            </a:r>
            <a:r>
              <a:rPr kumimoji="1" lang="en-US" altLang="ja-JP" sz="1000" dirty="0">
                <a:solidFill>
                  <a:srgbClr val="FFFF00"/>
                </a:solidFill>
                <a:latin typeface="メイリオ" panose="020B0604030504040204" pitchFamily="50" charset="-128"/>
                <a:ea typeface="メイリオ" panose="020B0604030504040204" pitchFamily="50" charset="-128"/>
                <a:cs typeface="メイリオ"/>
              </a:rPr>
              <a:t>LINE</a:t>
            </a:r>
            <a:r>
              <a:rPr kumimoji="1" lang="ja-JP" altLang="en-US" sz="1000" dirty="0">
                <a:solidFill>
                  <a:srgbClr val="FFFF00"/>
                </a:solidFill>
                <a:latin typeface="メイリオ" panose="020B0604030504040204" pitchFamily="50" charset="-128"/>
                <a:ea typeface="メイリオ" panose="020B0604030504040204" pitchFamily="50" charset="-128"/>
                <a:cs typeface="メイリオ"/>
              </a:rPr>
              <a:t>）</a:t>
            </a:r>
          </a:p>
        </p:txBody>
      </p:sp>
      <p:sp>
        <p:nvSpPr>
          <p:cNvPr id="34" name="正方形/長方形 33">
            <a:extLst>
              <a:ext uri="{FF2B5EF4-FFF2-40B4-BE49-F238E27FC236}">
                <a16:creationId xmlns:a16="http://schemas.microsoft.com/office/drawing/2014/main" id="{39DCB4B6-9411-CC10-0D34-9F40EC11AD82}"/>
              </a:ext>
            </a:extLst>
          </p:cNvPr>
          <p:cNvSpPr/>
          <p:nvPr/>
        </p:nvSpPr>
        <p:spPr>
          <a:xfrm>
            <a:off x="3122098" y="5051222"/>
            <a:ext cx="6619128" cy="24255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latin typeface="メイリオ" panose="020B0604030504040204" pitchFamily="50" charset="-128"/>
                <a:ea typeface="メイリオ" panose="020B0604030504040204" pitchFamily="50" charset="-128"/>
                <a:cs typeface="メイリオ"/>
              </a:rPr>
              <a:t>どう</a:t>
            </a:r>
            <a:r>
              <a:rPr kumimoji="1" lang="ja-JP" altLang="en-US" sz="1000" dirty="0">
                <a:latin typeface="メイリオ" panose="020B0604030504040204" pitchFamily="50" charset="-128"/>
                <a:ea typeface="メイリオ" panose="020B0604030504040204" pitchFamily="50" charset="-128"/>
                <a:cs typeface="メイリオ"/>
              </a:rPr>
              <a:t>友だちをアクションに結びつけるか？</a:t>
            </a:r>
            <a:r>
              <a:rPr kumimoji="1" lang="ja-JP" altLang="en-US" sz="1000" dirty="0">
                <a:solidFill>
                  <a:srgbClr val="FFFF00"/>
                </a:solidFill>
                <a:latin typeface="メイリオ" panose="020B0604030504040204" pitchFamily="50" charset="-128"/>
                <a:ea typeface="メイリオ" panose="020B0604030504040204" pitchFamily="50" charset="-128"/>
                <a:cs typeface="メイリオ"/>
              </a:rPr>
              <a:t>（</a:t>
            </a:r>
            <a:r>
              <a:rPr kumimoji="1" lang="en-US" altLang="ja-JP" sz="1000" dirty="0">
                <a:solidFill>
                  <a:srgbClr val="FFFF00"/>
                </a:solidFill>
                <a:latin typeface="メイリオ" panose="020B0604030504040204" pitchFamily="50" charset="-128"/>
                <a:ea typeface="メイリオ" panose="020B0604030504040204" pitchFamily="50" charset="-128"/>
                <a:cs typeface="メイリオ"/>
              </a:rPr>
              <a:t>LINE</a:t>
            </a:r>
            <a:r>
              <a:rPr kumimoji="1" lang="ja-JP" altLang="en-US" sz="1000" dirty="0">
                <a:solidFill>
                  <a:srgbClr val="FFFF00"/>
                </a:solidFill>
                <a:latin typeface="メイリオ" panose="020B0604030504040204" pitchFamily="50" charset="-128"/>
                <a:ea typeface="メイリオ" panose="020B0604030504040204" pitchFamily="50" charset="-128"/>
                <a:cs typeface="メイリオ"/>
              </a:rPr>
              <a:t>→反響）</a:t>
            </a:r>
          </a:p>
        </p:txBody>
      </p:sp>
      <p:cxnSp>
        <p:nvCxnSpPr>
          <p:cNvPr id="35" name="直線矢印コネクタ 34">
            <a:extLst>
              <a:ext uri="{FF2B5EF4-FFF2-40B4-BE49-F238E27FC236}">
                <a16:creationId xmlns:a16="http://schemas.microsoft.com/office/drawing/2014/main" id="{B94F8848-87A6-4A24-C2DE-D4A5BD2787D7}"/>
              </a:ext>
            </a:extLst>
          </p:cNvPr>
          <p:cNvCxnSpPr>
            <a:cxnSpLocks/>
          </p:cNvCxnSpPr>
          <p:nvPr/>
        </p:nvCxnSpPr>
        <p:spPr>
          <a:xfrm>
            <a:off x="484665" y="3964795"/>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13A35DD7-3CE1-ABA2-45A4-29A5F6D013E2}"/>
              </a:ext>
            </a:extLst>
          </p:cNvPr>
          <p:cNvSpPr txBox="1"/>
          <p:nvPr/>
        </p:nvSpPr>
        <p:spPr>
          <a:xfrm>
            <a:off x="853704" y="3860734"/>
            <a:ext cx="822746"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latin typeface="メイリオ" panose="020B0604030504040204" pitchFamily="50" charset="-128"/>
                <a:ea typeface="メイリオ" panose="020B0604030504040204" pitchFamily="50" charset="-128"/>
                <a:cs typeface="メイリオ"/>
                <a:sym typeface="Meiryo"/>
              </a:rPr>
              <a:t>CPF</a:t>
            </a:r>
            <a:r>
              <a:rPr lang="ja-JP" altLang="en-US" sz="1000" b="1" dirty="0">
                <a:latin typeface="メイリオ" panose="020B0604030504040204" pitchFamily="50" charset="-128"/>
                <a:ea typeface="メイリオ" panose="020B0604030504040204" pitchFamily="50" charset="-128"/>
                <a:cs typeface="メイリオ"/>
                <a:sym typeface="Meiryo"/>
              </a:rPr>
              <a:t>広告</a:t>
            </a:r>
            <a:endParaRPr lang="ja-JP" altLang="en-US" sz="1000" b="1" dirty="0">
              <a:latin typeface="メイリオ"/>
              <a:ea typeface="メイリオ"/>
              <a:cs typeface="メイリオ"/>
            </a:endParaRPr>
          </a:p>
        </p:txBody>
      </p:sp>
      <p:cxnSp>
        <p:nvCxnSpPr>
          <p:cNvPr id="37" name="直線矢印コネクタ 36">
            <a:extLst>
              <a:ext uri="{FF2B5EF4-FFF2-40B4-BE49-F238E27FC236}">
                <a16:creationId xmlns:a16="http://schemas.microsoft.com/office/drawing/2014/main" id="{4DD36FC2-6468-F5B5-EFB8-BBFB2CF7F452}"/>
              </a:ext>
            </a:extLst>
          </p:cNvPr>
          <p:cNvCxnSpPr>
            <a:cxnSpLocks/>
          </p:cNvCxnSpPr>
          <p:nvPr/>
        </p:nvCxnSpPr>
        <p:spPr>
          <a:xfrm>
            <a:off x="3442595" y="43324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8" name="テキスト ボックス 37">
            <a:extLst>
              <a:ext uri="{FF2B5EF4-FFF2-40B4-BE49-F238E27FC236}">
                <a16:creationId xmlns:a16="http://schemas.microsoft.com/office/drawing/2014/main" id="{52205788-B1CC-5FF9-ED78-B6DD32267E17}"/>
              </a:ext>
            </a:extLst>
          </p:cNvPr>
          <p:cNvSpPr txBox="1"/>
          <p:nvPr/>
        </p:nvSpPr>
        <p:spPr>
          <a:xfrm>
            <a:off x="3811634" y="41986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通知メッセージ</a:t>
            </a:r>
            <a:endParaRPr lang="ja-JP" altLang="en-US" sz="1000" b="1" dirty="0">
              <a:latin typeface="メイリオ"/>
              <a:ea typeface="メイリオ"/>
              <a:cs typeface="メイリオ"/>
            </a:endParaRPr>
          </a:p>
        </p:txBody>
      </p:sp>
      <p:cxnSp>
        <p:nvCxnSpPr>
          <p:cNvPr id="39" name="直線矢印コネクタ 38">
            <a:extLst>
              <a:ext uri="{FF2B5EF4-FFF2-40B4-BE49-F238E27FC236}">
                <a16:creationId xmlns:a16="http://schemas.microsoft.com/office/drawing/2014/main" id="{923E43E2-8157-8C38-4A7C-C186793E6650}"/>
              </a:ext>
            </a:extLst>
          </p:cNvPr>
          <p:cNvCxnSpPr>
            <a:cxnSpLocks/>
          </p:cNvCxnSpPr>
          <p:nvPr/>
        </p:nvCxnSpPr>
        <p:spPr>
          <a:xfrm>
            <a:off x="3442595" y="458569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0" name="テキスト ボックス 39">
            <a:extLst>
              <a:ext uri="{FF2B5EF4-FFF2-40B4-BE49-F238E27FC236}">
                <a16:creationId xmlns:a16="http://schemas.microsoft.com/office/drawing/2014/main" id="{9B46B511-7630-9D21-552D-BAD1DCEC8387}"/>
              </a:ext>
            </a:extLst>
          </p:cNvPr>
          <p:cNvSpPr txBox="1"/>
          <p:nvPr/>
        </p:nvSpPr>
        <p:spPr>
          <a:xfrm>
            <a:off x="3811634" y="4451915"/>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サンクス</a:t>
            </a:r>
            <a:r>
              <a:rPr lang="en-US" altLang="ja-JP" sz="1000" b="1" dirty="0">
                <a:latin typeface="メイリオ" panose="020B0604030504040204" pitchFamily="50" charset="-128"/>
                <a:ea typeface="メイリオ" panose="020B0604030504040204" pitchFamily="50" charset="-128"/>
                <a:cs typeface="メイリオ"/>
                <a:sym typeface="Meiryo"/>
              </a:rPr>
              <a:t>LINE</a:t>
            </a:r>
            <a:r>
              <a:rPr lang="ja-JP" altLang="en-US" sz="1000" b="1" dirty="0">
                <a:latin typeface="メイリオ" panose="020B0604030504040204" pitchFamily="50" charset="-128"/>
                <a:ea typeface="メイリオ" panose="020B0604030504040204" pitchFamily="50" charset="-128"/>
                <a:cs typeface="メイリオ"/>
                <a:sym typeface="Meiryo"/>
              </a:rPr>
              <a:t>誘導</a:t>
            </a:r>
            <a:endParaRPr lang="ja-JP" altLang="en-US" sz="1000" b="1" dirty="0">
              <a:latin typeface="メイリオ"/>
              <a:ea typeface="メイリオ"/>
              <a:cs typeface="メイリオ"/>
            </a:endParaRPr>
          </a:p>
        </p:txBody>
      </p:sp>
      <p:cxnSp>
        <p:nvCxnSpPr>
          <p:cNvPr id="41" name="直線矢印コネクタ 40">
            <a:extLst>
              <a:ext uri="{FF2B5EF4-FFF2-40B4-BE49-F238E27FC236}">
                <a16:creationId xmlns:a16="http://schemas.microsoft.com/office/drawing/2014/main" id="{64D8562C-014D-DFB4-2D01-7479448659D1}"/>
              </a:ext>
            </a:extLst>
          </p:cNvPr>
          <p:cNvCxnSpPr>
            <a:cxnSpLocks/>
          </p:cNvCxnSpPr>
          <p:nvPr/>
        </p:nvCxnSpPr>
        <p:spPr>
          <a:xfrm>
            <a:off x="1351697" y="415316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2" name="テキスト ボックス 41">
            <a:extLst>
              <a:ext uri="{FF2B5EF4-FFF2-40B4-BE49-F238E27FC236}">
                <a16:creationId xmlns:a16="http://schemas.microsoft.com/office/drawing/2014/main" id="{540E1D19-5457-9319-2789-430F63EC5A42}"/>
              </a:ext>
            </a:extLst>
          </p:cNvPr>
          <p:cNvSpPr txBox="1"/>
          <p:nvPr/>
        </p:nvSpPr>
        <p:spPr>
          <a:xfrm>
            <a:off x="1720736" y="4019384"/>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通知メッセージ</a:t>
            </a:r>
            <a:endParaRPr lang="ja-JP" altLang="en-US" sz="1000" b="1" dirty="0">
              <a:latin typeface="メイリオ"/>
              <a:ea typeface="メイリオ"/>
              <a:cs typeface="メイリオ"/>
            </a:endParaRPr>
          </a:p>
        </p:txBody>
      </p:sp>
      <p:cxnSp>
        <p:nvCxnSpPr>
          <p:cNvPr id="43" name="直線矢印コネクタ 42">
            <a:extLst>
              <a:ext uri="{FF2B5EF4-FFF2-40B4-BE49-F238E27FC236}">
                <a16:creationId xmlns:a16="http://schemas.microsoft.com/office/drawing/2014/main" id="{490155E9-25FB-3090-382A-CA0B7F87F965}"/>
              </a:ext>
            </a:extLst>
          </p:cNvPr>
          <p:cNvCxnSpPr>
            <a:cxnSpLocks/>
          </p:cNvCxnSpPr>
          <p:nvPr/>
        </p:nvCxnSpPr>
        <p:spPr>
          <a:xfrm>
            <a:off x="1351697" y="438431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4" name="テキスト ボックス 43">
            <a:extLst>
              <a:ext uri="{FF2B5EF4-FFF2-40B4-BE49-F238E27FC236}">
                <a16:creationId xmlns:a16="http://schemas.microsoft.com/office/drawing/2014/main" id="{08D35021-E114-E4DF-FF22-BF7BE0CDF4D8}"/>
              </a:ext>
            </a:extLst>
          </p:cNvPr>
          <p:cNvSpPr txBox="1"/>
          <p:nvPr/>
        </p:nvSpPr>
        <p:spPr>
          <a:xfrm>
            <a:off x="1720736" y="4250529"/>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rPr>
              <a:t>サイト動線の整備</a:t>
            </a:r>
          </a:p>
        </p:txBody>
      </p:sp>
      <p:cxnSp>
        <p:nvCxnSpPr>
          <p:cNvPr id="45" name="直線矢印コネクタ 44">
            <a:extLst>
              <a:ext uri="{FF2B5EF4-FFF2-40B4-BE49-F238E27FC236}">
                <a16:creationId xmlns:a16="http://schemas.microsoft.com/office/drawing/2014/main" id="{6840C346-E790-A413-26C5-79129D6F5FB7}"/>
              </a:ext>
            </a:extLst>
          </p:cNvPr>
          <p:cNvCxnSpPr>
            <a:cxnSpLocks/>
          </p:cNvCxnSpPr>
          <p:nvPr/>
        </p:nvCxnSpPr>
        <p:spPr>
          <a:xfrm>
            <a:off x="3900757" y="402215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715CC99E-9A08-159E-0120-31020FC33D0F}"/>
              </a:ext>
            </a:extLst>
          </p:cNvPr>
          <p:cNvSpPr txBox="1"/>
          <p:nvPr/>
        </p:nvSpPr>
        <p:spPr>
          <a:xfrm>
            <a:off x="4269796" y="388836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既存リストの活用</a:t>
            </a:r>
            <a:endParaRPr lang="en-US" altLang="ja-JP" sz="1000" b="1" dirty="0">
              <a:latin typeface="メイリオ" panose="020B0604030504040204" pitchFamily="50" charset="-128"/>
              <a:ea typeface="メイリオ" panose="020B0604030504040204" pitchFamily="50" charset="-128"/>
              <a:cs typeface="メイリオ"/>
              <a:sym typeface="Meiryo"/>
            </a:endParaRPr>
          </a:p>
        </p:txBody>
      </p:sp>
      <p:cxnSp>
        <p:nvCxnSpPr>
          <p:cNvPr id="47" name="直線矢印コネクタ 46">
            <a:extLst>
              <a:ext uri="{FF2B5EF4-FFF2-40B4-BE49-F238E27FC236}">
                <a16:creationId xmlns:a16="http://schemas.microsoft.com/office/drawing/2014/main" id="{C26FDFF8-ECDB-0D20-5A53-4F74EF6D93F8}"/>
              </a:ext>
            </a:extLst>
          </p:cNvPr>
          <p:cNvCxnSpPr>
            <a:cxnSpLocks/>
          </p:cNvCxnSpPr>
          <p:nvPr/>
        </p:nvCxnSpPr>
        <p:spPr>
          <a:xfrm>
            <a:off x="5494489" y="4328530"/>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03517788-8A00-3CE9-B8A0-DC9904CB9E29}"/>
              </a:ext>
            </a:extLst>
          </p:cNvPr>
          <p:cNvSpPr txBox="1"/>
          <p:nvPr/>
        </p:nvSpPr>
        <p:spPr>
          <a:xfrm>
            <a:off x="5863528" y="4194746"/>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通知メッセージ</a:t>
            </a:r>
            <a:endParaRPr lang="ja-JP" altLang="en-US" sz="1000" b="1" dirty="0">
              <a:latin typeface="メイリオ"/>
              <a:ea typeface="メイリオ"/>
              <a:cs typeface="メイリオ"/>
            </a:endParaRPr>
          </a:p>
        </p:txBody>
      </p:sp>
      <p:cxnSp>
        <p:nvCxnSpPr>
          <p:cNvPr id="49" name="直線矢印コネクタ 48">
            <a:extLst>
              <a:ext uri="{FF2B5EF4-FFF2-40B4-BE49-F238E27FC236}">
                <a16:creationId xmlns:a16="http://schemas.microsoft.com/office/drawing/2014/main" id="{8A08B47D-236B-D58F-E880-0E520352BC81}"/>
              </a:ext>
            </a:extLst>
          </p:cNvPr>
          <p:cNvCxnSpPr>
            <a:cxnSpLocks/>
          </p:cNvCxnSpPr>
          <p:nvPr/>
        </p:nvCxnSpPr>
        <p:spPr>
          <a:xfrm>
            <a:off x="5494489" y="4591366"/>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8376E216-AB77-BC34-74BE-9C14746155C3}"/>
              </a:ext>
            </a:extLst>
          </p:cNvPr>
          <p:cNvSpPr txBox="1"/>
          <p:nvPr/>
        </p:nvSpPr>
        <p:spPr>
          <a:xfrm>
            <a:off x="5863528" y="445758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サンクス</a:t>
            </a:r>
            <a:r>
              <a:rPr lang="en-US" altLang="ja-JP" sz="1000" b="1" dirty="0">
                <a:latin typeface="メイリオ" panose="020B0604030504040204" pitchFamily="50" charset="-128"/>
                <a:ea typeface="メイリオ" panose="020B0604030504040204" pitchFamily="50" charset="-128"/>
                <a:cs typeface="メイリオ"/>
                <a:sym typeface="Meiryo"/>
              </a:rPr>
              <a:t>LINE</a:t>
            </a:r>
            <a:r>
              <a:rPr lang="ja-JP" altLang="en-US" sz="1000" b="1" dirty="0">
                <a:latin typeface="メイリオ" panose="020B0604030504040204" pitchFamily="50" charset="-128"/>
                <a:ea typeface="メイリオ" panose="020B0604030504040204" pitchFamily="50" charset="-128"/>
                <a:cs typeface="メイリオ"/>
                <a:sym typeface="Meiryo"/>
              </a:rPr>
              <a:t>誘導</a:t>
            </a:r>
            <a:endParaRPr lang="ja-JP" altLang="en-US" sz="1000" b="1" dirty="0">
              <a:latin typeface="メイリオ"/>
              <a:ea typeface="メイリオ"/>
              <a:cs typeface="メイリオ"/>
            </a:endParaRPr>
          </a:p>
        </p:txBody>
      </p:sp>
      <p:cxnSp>
        <p:nvCxnSpPr>
          <p:cNvPr id="51" name="直線矢印コネクタ 50">
            <a:extLst>
              <a:ext uri="{FF2B5EF4-FFF2-40B4-BE49-F238E27FC236}">
                <a16:creationId xmlns:a16="http://schemas.microsoft.com/office/drawing/2014/main" id="{D6F7AD1E-A403-6C2E-4207-BA25C2D7BCC6}"/>
              </a:ext>
            </a:extLst>
          </p:cNvPr>
          <p:cNvCxnSpPr>
            <a:cxnSpLocks/>
          </p:cNvCxnSpPr>
          <p:nvPr/>
        </p:nvCxnSpPr>
        <p:spPr>
          <a:xfrm>
            <a:off x="751071" y="4630661"/>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7D798DBD-5393-6131-8034-EC789105D05B}"/>
              </a:ext>
            </a:extLst>
          </p:cNvPr>
          <p:cNvSpPr txBox="1"/>
          <p:nvPr/>
        </p:nvSpPr>
        <p:spPr>
          <a:xfrm>
            <a:off x="983946" y="4526600"/>
            <a:ext cx="1095075" cy="230832"/>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90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SNS/</a:t>
            </a:r>
            <a:r>
              <a:rPr lang="ja-JP" altLang="en-US" sz="90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メルマガ</a:t>
            </a:r>
            <a:endParaRPr lang="ja-JP" altLang="en-US" sz="900" dirty="0">
              <a:solidFill>
                <a:schemeClr val="tx1">
                  <a:lumMod val="50000"/>
                  <a:lumOff val="50000"/>
                </a:schemeClr>
              </a:solidFill>
              <a:latin typeface="メイリオ"/>
              <a:ea typeface="メイリオ"/>
              <a:cs typeface="メイリオ"/>
            </a:endParaRPr>
          </a:p>
        </p:txBody>
      </p:sp>
      <p:cxnSp>
        <p:nvCxnSpPr>
          <p:cNvPr id="53" name="直線矢印コネクタ 52">
            <a:extLst>
              <a:ext uri="{FF2B5EF4-FFF2-40B4-BE49-F238E27FC236}">
                <a16:creationId xmlns:a16="http://schemas.microsoft.com/office/drawing/2014/main" id="{527AED14-C910-4D3E-987F-EA62ABD18D90}"/>
              </a:ext>
            </a:extLst>
          </p:cNvPr>
          <p:cNvCxnSpPr>
            <a:cxnSpLocks/>
          </p:cNvCxnSpPr>
          <p:nvPr/>
        </p:nvCxnSpPr>
        <p:spPr>
          <a:xfrm>
            <a:off x="747965" y="4897406"/>
            <a:ext cx="1503674"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4" name="テキスト ボックス 53">
            <a:extLst>
              <a:ext uri="{FF2B5EF4-FFF2-40B4-BE49-F238E27FC236}">
                <a16:creationId xmlns:a16="http://schemas.microsoft.com/office/drawing/2014/main" id="{9644DD32-D05B-DE83-7791-37895274BDE9}"/>
              </a:ext>
            </a:extLst>
          </p:cNvPr>
          <p:cNvSpPr txBox="1"/>
          <p:nvPr/>
        </p:nvSpPr>
        <p:spPr>
          <a:xfrm>
            <a:off x="969834" y="4806108"/>
            <a:ext cx="1117086" cy="191105"/>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800"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店内ポップ・チラシ</a:t>
            </a:r>
            <a:endParaRPr lang="ja-JP" altLang="en-US" sz="800" dirty="0">
              <a:solidFill>
                <a:schemeClr val="tx1">
                  <a:lumMod val="50000"/>
                  <a:lumOff val="50000"/>
                </a:schemeClr>
              </a:solidFill>
              <a:latin typeface="メイリオ"/>
              <a:ea typeface="メイリオ"/>
              <a:cs typeface="メイリオ"/>
            </a:endParaRPr>
          </a:p>
        </p:txBody>
      </p:sp>
      <p:cxnSp>
        <p:nvCxnSpPr>
          <p:cNvPr id="55" name="直線矢印コネクタ 54">
            <a:extLst>
              <a:ext uri="{FF2B5EF4-FFF2-40B4-BE49-F238E27FC236}">
                <a16:creationId xmlns:a16="http://schemas.microsoft.com/office/drawing/2014/main" id="{D3D532EE-6712-DE63-E452-E8BEAA167260}"/>
              </a:ext>
            </a:extLst>
          </p:cNvPr>
          <p:cNvCxnSpPr>
            <a:cxnSpLocks/>
          </p:cNvCxnSpPr>
          <p:nvPr/>
        </p:nvCxnSpPr>
        <p:spPr>
          <a:xfrm>
            <a:off x="7259810" y="4444588"/>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6" name="テキスト ボックス 55">
            <a:extLst>
              <a:ext uri="{FF2B5EF4-FFF2-40B4-BE49-F238E27FC236}">
                <a16:creationId xmlns:a16="http://schemas.microsoft.com/office/drawing/2014/main" id="{DCDD6E46-B8C3-8536-41F9-F39EB73CBD24}"/>
              </a:ext>
            </a:extLst>
          </p:cNvPr>
          <p:cNvSpPr txBox="1"/>
          <p:nvPr/>
        </p:nvSpPr>
        <p:spPr>
          <a:xfrm>
            <a:off x="7740673" y="4310804"/>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ID</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a:t>
            </a:r>
            <a:r>
              <a:rPr lang="en-US" altLang="ja-JP" sz="1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CRM</a:t>
            </a: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連携</a:t>
            </a:r>
            <a:endParaRPr lang="ja-JP" altLang="en-US" sz="1000" b="1" dirty="0">
              <a:solidFill>
                <a:schemeClr val="tx1">
                  <a:lumMod val="50000"/>
                  <a:lumOff val="50000"/>
                </a:schemeClr>
              </a:solidFill>
              <a:latin typeface="メイリオ"/>
              <a:ea typeface="メイリオ"/>
              <a:cs typeface="メイリオ"/>
            </a:endParaRPr>
          </a:p>
        </p:txBody>
      </p:sp>
      <p:cxnSp>
        <p:nvCxnSpPr>
          <p:cNvPr id="57" name="直線矢印コネクタ 56">
            <a:extLst>
              <a:ext uri="{FF2B5EF4-FFF2-40B4-BE49-F238E27FC236}">
                <a16:creationId xmlns:a16="http://schemas.microsoft.com/office/drawing/2014/main" id="{B9C84515-E6C9-A256-421E-9C3EFEBBFF17}"/>
              </a:ext>
            </a:extLst>
          </p:cNvPr>
          <p:cNvCxnSpPr>
            <a:cxnSpLocks/>
          </p:cNvCxnSpPr>
          <p:nvPr/>
        </p:nvCxnSpPr>
        <p:spPr>
          <a:xfrm>
            <a:off x="7697737" y="5495193"/>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58" name="テキスト ボックス 57">
            <a:extLst>
              <a:ext uri="{FF2B5EF4-FFF2-40B4-BE49-F238E27FC236}">
                <a16:creationId xmlns:a16="http://schemas.microsoft.com/office/drawing/2014/main" id="{7E002B77-EFC0-55F3-D3E6-100837F9B195}"/>
              </a:ext>
            </a:extLst>
          </p:cNvPr>
          <p:cNvSpPr txBox="1"/>
          <p:nvPr/>
        </p:nvSpPr>
        <p:spPr>
          <a:xfrm>
            <a:off x="8178600" y="536140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フォロー体制</a:t>
            </a:r>
            <a:endParaRPr lang="ja-JP" altLang="en-US" sz="1000" b="1" dirty="0">
              <a:solidFill>
                <a:schemeClr val="tx1">
                  <a:lumMod val="50000"/>
                  <a:lumOff val="50000"/>
                </a:schemeClr>
              </a:solidFill>
              <a:latin typeface="メイリオ"/>
              <a:ea typeface="メイリオ"/>
              <a:cs typeface="メイリオ"/>
            </a:endParaRPr>
          </a:p>
        </p:txBody>
      </p:sp>
      <p:cxnSp>
        <p:nvCxnSpPr>
          <p:cNvPr id="67" name="直線矢印コネクタ 66">
            <a:extLst>
              <a:ext uri="{FF2B5EF4-FFF2-40B4-BE49-F238E27FC236}">
                <a16:creationId xmlns:a16="http://schemas.microsoft.com/office/drawing/2014/main" id="{03BD82C1-8BEC-3E49-C1DA-A1C214DB1C8C}"/>
              </a:ext>
            </a:extLst>
          </p:cNvPr>
          <p:cNvCxnSpPr>
            <a:cxnSpLocks/>
          </p:cNvCxnSpPr>
          <p:nvPr/>
        </p:nvCxnSpPr>
        <p:spPr>
          <a:xfrm>
            <a:off x="4519454" y="5493723"/>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81" name="テキスト ボックス 80">
            <a:extLst>
              <a:ext uri="{FF2B5EF4-FFF2-40B4-BE49-F238E27FC236}">
                <a16:creationId xmlns:a16="http://schemas.microsoft.com/office/drawing/2014/main" id="{919F797F-1B6A-876C-B468-E147B3D97E8A}"/>
              </a:ext>
            </a:extLst>
          </p:cNvPr>
          <p:cNvSpPr txBox="1"/>
          <p:nvPr/>
        </p:nvSpPr>
        <p:spPr>
          <a:xfrm>
            <a:off x="5267281" y="5359939"/>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ステップ配信</a:t>
            </a:r>
            <a:endParaRPr lang="ja-JP" altLang="en-US" sz="1000" b="1" dirty="0">
              <a:latin typeface="メイリオ"/>
              <a:ea typeface="メイリオ"/>
              <a:cs typeface="メイリオ"/>
            </a:endParaRPr>
          </a:p>
        </p:txBody>
      </p:sp>
      <p:cxnSp>
        <p:nvCxnSpPr>
          <p:cNvPr id="86" name="直線矢印コネクタ 85">
            <a:extLst>
              <a:ext uri="{FF2B5EF4-FFF2-40B4-BE49-F238E27FC236}">
                <a16:creationId xmlns:a16="http://schemas.microsoft.com/office/drawing/2014/main" id="{C96E67E6-B364-7DED-CDB8-DDCEEFB96AD2}"/>
              </a:ext>
            </a:extLst>
          </p:cNvPr>
          <p:cNvCxnSpPr>
            <a:cxnSpLocks/>
          </p:cNvCxnSpPr>
          <p:nvPr/>
        </p:nvCxnSpPr>
        <p:spPr>
          <a:xfrm>
            <a:off x="4519295" y="5766839"/>
            <a:ext cx="2982482"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1" name="テキスト ボックス 90">
            <a:extLst>
              <a:ext uri="{FF2B5EF4-FFF2-40B4-BE49-F238E27FC236}">
                <a16:creationId xmlns:a16="http://schemas.microsoft.com/office/drawing/2014/main" id="{335DB4AB-DEFA-E356-751F-7106100F929E}"/>
              </a:ext>
            </a:extLst>
          </p:cNvPr>
          <p:cNvSpPr txBox="1"/>
          <p:nvPr/>
        </p:nvSpPr>
        <p:spPr>
          <a:xfrm>
            <a:off x="5267122" y="5633055"/>
            <a:ext cx="1064989"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企画配信</a:t>
            </a:r>
            <a:endParaRPr lang="ja-JP" altLang="en-US" sz="1000" b="1" dirty="0">
              <a:latin typeface="メイリオ"/>
              <a:ea typeface="メイリオ"/>
              <a:cs typeface="メイリオ"/>
            </a:endParaRPr>
          </a:p>
        </p:txBody>
      </p:sp>
      <p:cxnSp>
        <p:nvCxnSpPr>
          <p:cNvPr id="100" name="直線矢印コネクタ 99">
            <a:extLst>
              <a:ext uri="{FF2B5EF4-FFF2-40B4-BE49-F238E27FC236}">
                <a16:creationId xmlns:a16="http://schemas.microsoft.com/office/drawing/2014/main" id="{7884810E-3E89-4CCB-C00C-B386A34717E4}"/>
              </a:ext>
            </a:extLst>
          </p:cNvPr>
          <p:cNvCxnSpPr>
            <a:cxnSpLocks/>
          </p:cNvCxnSpPr>
          <p:nvPr/>
        </p:nvCxnSpPr>
        <p:spPr>
          <a:xfrm>
            <a:off x="3798688" y="5981626"/>
            <a:ext cx="2464861"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1" name="テキスト ボックス 100">
            <a:extLst>
              <a:ext uri="{FF2B5EF4-FFF2-40B4-BE49-F238E27FC236}">
                <a16:creationId xmlns:a16="http://schemas.microsoft.com/office/drawing/2014/main" id="{6FD45AC0-2372-776F-6D16-846C0FB7AC64}"/>
              </a:ext>
            </a:extLst>
          </p:cNvPr>
          <p:cNvSpPr txBox="1"/>
          <p:nvPr/>
        </p:nvSpPr>
        <p:spPr>
          <a:xfrm>
            <a:off x="4258152" y="5863519"/>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アンケート回収</a:t>
            </a:r>
            <a:endParaRPr lang="ja-JP" altLang="en-US" sz="1000" b="1" dirty="0">
              <a:latin typeface="メイリオ"/>
              <a:ea typeface="メイリオ"/>
              <a:cs typeface="メイリオ"/>
            </a:endParaRPr>
          </a:p>
        </p:txBody>
      </p:sp>
      <p:cxnSp>
        <p:nvCxnSpPr>
          <p:cNvPr id="102" name="直線矢印コネクタ 101">
            <a:extLst>
              <a:ext uri="{FF2B5EF4-FFF2-40B4-BE49-F238E27FC236}">
                <a16:creationId xmlns:a16="http://schemas.microsoft.com/office/drawing/2014/main" id="{5BF3558A-EBED-81EE-B158-28A7CA5D6693}"/>
              </a:ext>
            </a:extLst>
          </p:cNvPr>
          <p:cNvCxnSpPr>
            <a:cxnSpLocks/>
          </p:cNvCxnSpPr>
          <p:nvPr/>
        </p:nvCxnSpPr>
        <p:spPr>
          <a:xfrm>
            <a:off x="3797428" y="6223951"/>
            <a:ext cx="2452867" cy="6111"/>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0" name="テキスト ボックス 109">
            <a:extLst>
              <a:ext uri="{FF2B5EF4-FFF2-40B4-BE49-F238E27FC236}">
                <a16:creationId xmlns:a16="http://schemas.microsoft.com/office/drawing/2014/main" id="{001266CB-AC56-8914-0ACE-8B554DB19B76}"/>
              </a:ext>
            </a:extLst>
          </p:cNvPr>
          <p:cNvSpPr txBox="1"/>
          <p:nvPr/>
        </p:nvSpPr>
        <p:spPr>
          <a:xfrm>
            <a:off x="4273398" y="6133562"/>
            <a:ext cx="1288637" cy="246221"/>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latin typeface="メイリオ" panose="020B0604030504040204" pitchFamily="50" charset="-128"/>
                <a:ea typeface="メイリオ" panose="020B0604030504040204" pitchFamily="50" charset="-128"/>
                <a:cs typeface="メイリオ"/>
                <a:sym typeface="Meiryo"/>
              </a:rPr>
              <a:t>スコアリング等</a:t>
            </a:r>
            <a:endParaRPr lang="ja-JP" altLang="en-US" sz="1000" b="1" dirty="0">
              <a:latin typeface="メイリオ"/>
              <a:ea typeface="メイリオ"/>
              <a:cs typeface="メイリオ"/>
            </a:endParaRPr>
          </a:p>
        </p:txBody>
      </p:sp>
      <p:cxnSp>
        <p:nvCxnSpPr>
          <p:cNvPr id="111" name="直線矢印コネクタ 110">
            <a:extLst>
              <a:ext uri="{FF2B5EF4-FFF2-40B4-BE49-F238E27FC236}">
                <a16:creationId xmlns:a16="http://schemas.microsoft.com/office/drawing/2014/main" id="{1B403718-ABF2-11BC-1A05-A9E208B7C0F7}"/>
              </a:ext>
            </a:extLst>
          </p:cNvPr>
          <p:cNvCxnSpPr>
            <a:cxnSpLocks/>
          </p:cNvCxnSpPr>
          <p:nvPr/>
        </p:nvCxnSpPr>
        <p:spPr>
          <a:xfrm>
            <a:off x="7118366" y="5985542"/>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6" name="テキスト ボックス 115">
            <a:extLst>
              <a:ext uri="{FF2B5EF4-FFF2-40B4-BE49-F238E27FC236}">
                <a16:creationId xmlns:a16="http://schemas.microsoft.com/office/drawing/2014/main" id="{B9061E8E-8F76-24D8-6F4C-BBBCDEB37FE0}"/>
              </a:ext>
            </a:extLst>
          </p:cNvPr>
          <p:cNvSpPr txBox="1"/>
          <p:nvPr/>
        </p:nvSpPr>
        <p:spPr>
          <a:xfrm>
            <a:off x="7397140" y="5871116"/>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リサーチ回収</a:t>
            </a:r>
            <a:endParaRPr lang="ja-JP" altLang="en-US" sz="1000" b="1" dirty="0">
              <a:solidFill>
                <a:schemeClr val="tx1">
                  <a:lumMod val="50000"/>
                  <a:lumOff val="50000"/>
                </a:schemeClr>
              </a:solidFill>
              <a:latin typeface="メイリオ"/>
              <a:ea typeface="メイリオ"/>
              <a:cs typeface="メイリオ"/>
            </a:endParaRPr>
          </a:p>
        </p:txBody>
      </p:sp>
      <p:cxnSp>
        <p:nvCxnSpPr>
          <p:cNvPr id="117" name="直線矢印コネクタ 116">
            <a:extLst>
              <a:ext uri="{FF2B5EF4-FFF2-40B4-BE49-F238E27FC236}">
                <a16:creationId xmlns:a16="http://schemas.microsoft.com/office/drawing/2014/main" id="{B31EBA12-BB45-627B-A1FD-F44E077537B1}"/>
              </a:ext>
            </a:extLst>
          </p:cNvPr>
          <p:cNvCxnSpPr>
            <a:cxnSpLocks/>
          </p:cNvCxnSpPr>
          <p:nvPr/>
        </p:nvCxnSpPr>
        <p:spPr>
          <a:xfrm>
            <a:off x="7048606" y="6243059"/>
            <a:ext cx="2037075" cy="0"/>
          </a:xfrm>
          <a:prstGeom prst="straightConnector1">
            <a:avLst/>
          </a:prstGeom>
          <a:ln>
            <a:solidFill>
              <a:schemeClr val="tx1">
                <a:lumMod val="75000"/>
                <a:lumOff val="25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8" name="テキスト ボックス 117">
            <a:extLst>
              <a:ext uri="{FF2B5EF4-FFF2-40B4-BE49-F238E27FC236}">
                <a16:creationId xmlns:a16="http://schemas.microsoft.com/office/drawing/2014/main" id="{B0C05E5D-44B4-DA5D-7C04-0BDC8A4602CE}"/>
              </a:ext>
            </a:extLst>
          </p:cNvPr>
          <p:cNvSpPr txBox="1"/>
          <p:nvPr/>
        </p:nvSpPr>
        <p:spPr>
          <a:xfrm>
            <a:off x="7336089" y="6137342"/>
            <a:ext cx="1288637" cy="248436"/>
          </a:xfrm>
          <a:prstGeom prst="rect">
            <a:avLst/>
          </a:prstGeom>
          <a:solidFill>
            <a:schemeClr val="bg1">
              <a:lumMod val="95000"/>
            </a:schemeClr>
          </a:solidFill>
          <a:ln w="6350">
            <a:solidFill>
              <a:schemeClr val="bg1">
                <a:lumMod val="85000"/>
              </a:schemeClr>
            </a:solidFill>
          </a:ln>
        </p:spPr>
        <p:txBody>
          <a:bodyPr wrap="square">
            <a:spAutoFit/>
          </a:bodyPr>
          <a:lstStyle/>
          <a:p>
            <a:pPr algn="ctr"/>
            <a:r>
              <a:rPr lang="ja-JP" altLang="en-US" sz="100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sym typeface="Meiryo"/>
              </a:rPr>
              <a:t>ショップカード</a:t>
            </a:r>
            <a:endParaRPr lang="ja-JP" altLang="en-US" sz="1000" b="1" dirty="0">
              <a:solidFill>
                <a:schemeClr val="tx1">
                  <a:lumMod val="50000"/>
                  <a:lumOff val="50000"/>
                </a:schemeClr>
              </a:solidFill>
              <a:latin typeface="メイリオ"/>
              <a:ea typeface="メイリオ"/>
              <a:cs typeface="メイリオ"/>
            </a:endParaRPr>
          </a:p>
        </p:txBody>
      </p:sp>
      <p:pic>
        <p:nvPicPr>
          <p:cNvPr id="119" name="図 118">
            <a:extLst>
              <a:ext uri="{FF2B5EF4-FFF2-40B4-BE49-F238E27FC236}">
                <a16:creationId xmlns:a16="http://schemas.microsoft.com/office/drawing/2014/main" id="{2F4B65BB-B8AA-5045-2074-C574F9423E61}"/>
              </a:ext>
            </a:extLst>
          </p:cNvPr>
          <p:cNvPicPr>
            <a:picLocks noChangeAspect="1"/>
          </p:cNvPicPr>
          <p:nvPr/>
        </p:nvPicPr>
        <p:blipFill>
          <a:blip r:embed="rId2" cstate="print">
            <a:extLst>
              <a:ext uri="{28A0092B-C50C-407E-A947-70E740481C1C}">
                <a14:useLocalDpi xmlns:a14="http://schemas.microsoft.com/office/drawing/2010/main" val="0"/>
              </a:ext>
            </a:extLst>
          </a:blip>
          <a:srcRect t="4981" b="4075"/>
          <a:stretch>
            <a:fillRect/>
          </a:stretch>
        </p:blipFill>
        <p:spPr>
          <a:xfrm>
            <a:off x="3005614" y="5048188"/>
            <a:ext cx="703970" cy="1385346"/>
          </a:xfrm>
          <a:prstGeom prst="rect">
            <a:avLst/>
          </a:prstGeom>
        </p:spPr>
      </p:pic>
      <p:sp>
        <p:nvSpPr>
          <p:cNvPr id="66" name="正方形/長方形 65">
            <a:extLst>
              <a:ext uri="{FF2B5EF4-FFF2-40B4-BE49-F238E27FC236}">
                <a16:creationId xmlns:a16="http://schemas.microsoft.com/office/drawing/2014/main" id="{D22C9FBF-7B93-079A-E87E-A4C967CD0194}"/>
              </a:ext>
            </a:extLst>
          </p:cNvPr>
          <p:cNvSpPr/>
          <p:nvPr/>
        </p:nvSpPr>
        <p:spPr>
          <a:xfrm>
            <a:off x="3908480" y="5336376"/>
            <a:ext cx="2944325" cy="1076098"/>
          </a:xfrm>
          <a:prstGeom prst="rect">
            <a:avLst/>
          </a:prstGeom>
          <a:noFill/>
          <a:ln w="15875">
            <a:solidFill>
              <a:schemeClr val="accent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32" name="テキスト ボックス 31">
            <a:extLst>
              <a:ext uri="{FF2B5EF4-FFF2-40B4-BE49-F238E27FC236}">
                <a16:creationId xmlns:a16="http://schemas.microsoft.com/office/drawing/2014/main" id="{89B35388-9C44-6C01-ACAA-2E691617E119}"/>
              </a:ext>
            </a:extLst>
          </p:cNvPr>
          <p:cNvSpPr txBox="1"/>
          <p:nvPr/>
        </p:nvSpPr>
        <p:spPr>
          <a:xfrm>
            <a:off x="5723341" y="6303033"/>
            <a:ext cx="1207049" cy="200055"/>
          </a:xfrm>
          <a:prstGeom prst="rect">
            <a:avLst/>
          </a:prstGeom>
          <a:solidFill>
            <a:schemeClr val="tx2"/>
          </a:solidFill>
          <a:ln>
            <a:noFill/>
          </a:ln>
        </p:spPr>
        <p:txBody>
          <a:bodyPr wrap="square">
            <a:spAutoFit/>
          </a:bodyPr>
          <a:lstStyle/>
          <a:p>
            <a:pPr algn="ctr">
              <a:buNone/>
            </a:pPr>
            <a:r>
              <a:rPr lang="ja-JP" altLang="en-US" sz="700" dirty="0">
                <a:solidFill>
                  <a:schemeClr val="bg1"/>
                </a:solidFill>
                <a:latin typeface="メイリオ" panose="020B0604030504040204" pitchFamily="50" charset="-128"/>
                <a:ea typeface="メイリオ" panose="020B0604030504040204" pitchFamily="50" charset="-128"/>
                <a:cs typeface="メイリオ"/>
              </a:rPr>
              <a:t>短期と長期で各自設計</a:t>
            </a:r>
            <a:endParaRPr lang="ja-JP" altLang="ja-JP" sz="700" dirty="0">
              <a:solidFill>
                <a:schemeClr val="bg1"/>
              </a:solidFill>
              <a:latin typeface="メイリオ" panose="020B0604030504040204" pitchFamily="50" charset="-128"/>
              <a:ea typeface="メイリオ" panose="020B0604030504040204" pitchFamily="50" charset="-128"/>
              <a:cs typeface="メイリオ"/>
            </a:endParaRPr>
          </a:p>
        </p:txBody>
      </p:sp>
    </p:spTree>
    <p:extLst>
      <p:ext uri="{BB962C8B-B14F-4D97-AF65-F5344CB8AC3E}">
        <p14:creationId xmlns:p14="http://schemas.microsoft.com/office/powerpoint/2010/main" val="67623043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25B1FD88-3B25-D76E-99D7-CDD7E800E78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メイリオ"/>
                <a:sym typeface="Meiryo"/>
              </a:rPr>
              <a:t>施策展開図</a:t>
            </a:r>
          </a:p>
        </p:txBody>
      </p:sp>
      <p:sp>
        <p:nvSpPr>
          <p:cNvPr id="9" name="正方形/長方形 8">
            <a:extLst>
              <a:ext uri="{FF2B5EF4-FFF2-40B4-BE49-F238E27FC236}">
                <a16:creationId xmlns:a16="http://schemas.microsoft.com/office/drawing/2014/main" id="{709B81B2-1251-DE55-B4B3-220553E132F8}"/>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cs typeface="メイリオ"/>
              </a:rPr>
              <a:t>LINEOA</a:t>
            </a:r>
            <a:r>
              <a:rPr kumimoji="1" lang="ja-JP" altLang="en-US" sz="1400" dirty="0">
                <a:latin typeface="メイリオ" panose="020B0604030504040204" pitchFamily="50" charset="-128"/>
                <a:ea typeface="メイリオ" panose="020B0604030504040204" pitchFamily="50" charset="-128"/>
                <a:cs typeface="メイリオ"/>
              </a:rPr>
              <a:t>施策</a:t>
            </a:r>
          </a:p>
        </p:txBody>
      </p:sp>
      <p:sp>
        <p:nvSpPr>
          <p:cNvPr id="3" name="Google Shape;752;p28">
            <a:extLst>
              <a:ext uri="{FF2B5EF4-FFF2-40B4-BE49-F238E27FC236}">
                <a16:creationId xmlns:a16="http://schemas.microsoft.com/office/drawing/2014/main" id="{1E8D898A-0AF4-2505-8EE3-9F12824F6A59}"/>
              </a:ext>
            </a:extLst>
          </p:cNvPr>
          <p:cNvSpPr txBox="1"/>
          <p:nvPr/>
        </p:nvSpPr>
        <p:spPr>
          <a:xfrm>
            <a:off x="1988819" y="859442"/>
            <a:ext cx="7774305" cy="338514"/>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メイリオ"/>
                <a:sym typeface="Meiryo"/>
              </a:rPr>
              <a:t>LINEOA</a:t>
            </a:r>
            <a:r>
              <a:rPr lang="ja-JP" altLang="en-US" sz="1600" b="1" dirty="0">
                <a:latin typeface="メイリオ" panose="020B0604030504040204" pitchFamily="50" charset="-128"/>
                <a:ea typeface="メイリオ" panose="020B0604030504040204" pitchFamily="50" charset="-128"/>
                <a:cs typeface="メイリオ"/>
                <a:sym typeface="Meiryo"/>
              </a:rPr>
              <a:t>施策においては、</a:t>
            </a:r>
            <a:r>
              <a:rPr lang="en-US" altLang="ja-JP" sz="1600" b="1" dirty="0">
                <a:latin typeface="メイリオ" panose="020B0604030504040204" pitchFamily="50" charset="-128"/>
                <a:ea typeface="メイリオ" panose="020B0604030504040204" pitchFamily="50" charset="-128"/>
                <a:cs typeface="メイリオ"/>
                <a:sym typeface="Meiryo"/>
              </a:rPr>
              <a:t>[</a:t>
            </a:r>
            <a:r>
              <a:rPr lang="ja-JP" altLang="en-US" sz="1600" b="1" dirty="0">
                <a:latin typeface="メイリオ" panose="020B0604030504040204" pitchFamily="50" charset="-128"/>
                <a:ea typeface="メイリオ" panose="020B0604030504040204" pitchFamily="50" charset="-128"/>
                <a:cs typeface="メイリオ"/>
                <a:sym typeface="Meiryo"/>
              </a:rPr>
              <a:t>友だちの新規追加</a:t>
            </a:r>
            <a:r>
              <a:rPr lang="en-US" altLang="ja-JP" sz="1600" b="1" dirty="0">
                <a:latin typeface="メイリオ" panose="020B0604030504040204" pitchFamily="50" charset="-128"/>
                <a:ea typeface="メイリオ" panose="020B0604030504040204" pitchFamily="50" charset="-128"/>
                <a:cs typeface="メイリオ"/>
                <a:sym typeface="Meiryo"/>
              </a:rPr>
              <a:t>]</a:t>
            </a:r>
            <a:r>
              <a:rPr lang="ja-JP" altLang="en-US" sz="1600" b="1" dirty="0">
                <a:latin typeface="メイリオ" panose="020B0604030504040204" pitchFamily="50" charset="-128"/>
                <a:ea typeface="メイリオ" panose="020B0604030504040204" pitchFamily="50" charset="-128"/>
                <a:cs typeface="メイリオ"/>
                <a:sym typeface="Meiryo"/>
              </a:rPr>
              <a:t>と</a:t>
            </a:r>
            <a:r>
              <a:rPr lang="en-US" altLang="ja-JP" sz="1600" b="1" dirty="0">
                <a:latin typeface="メイリオ" panose="020B0604030504040204" pitchFamily="50" charset="-128"/>
                <a:ea typeface="メイリオ" panose="020B0604030504040204" pitchFamily="50" charset="-128"/>
                <a:cs typeface="メイリオ"/>
                <a:sym typeface="Meiryo"/>
              </a:rPr>
              <a:t>[</a:t>
            </a:r>
            <a:r>
              <a:rPr lang="ja-JP" altLang="en-US" sz="1600" b="1" dirty="0">
                <a:latin typeface="メイリオ" panose="020B0604030504040204" pitchFamily="50" charset="-128"/>
                <a:ea typeface="メイリオ" panose="020B0604030504040204" pitchFamily="50" charset="-128"/>
                <a:cs typeface="メイリオ"/>
                <a:sym typeface="Meiryo"/>
              </a:rPr>
              <a:t>友だちの育成・</a:t>
            </a:r>
            <a:r>
              <a:rPr lang="en-US" altLang="ja-JP" sz="1600" b="1" dirty="0">
                <a:latin typeface="メイリオ" panose="020B0604030504040204" pitchFamily="50" charset="-128"/>
                <a:ea typeface="メイリオ" panose="020B0604030504040204" pitchFamily="50" charset="-128"/>
                <a:cs typeface="メイリオ"/>
                <a:sym typeface="Meiryo"/>
              </a:rPr>
              <a:t>CV</a:t>
            </a:r>
            <a:r>
              <a:rPr lang="ja-JP" altLang="en-US" sz="1600" b="1" dirty="0">
                <a:latin typeface="メイリオ" panose="020B0604030504040204" pitchFamily="50" charset="-128"/>
                <a:ea typeface="メイリオ" panose="020B0604030504040204" pitchFamily="50" charset="-128"/>
                <a:cs typeface="メイリオ"/>
                <a:sym typeface="Meiryo"/>
              </a:rPr>
              <a:t>動線</a:t>
            </a:r>
            <a:r>
              <a:rPr lang="en-US" altLang="ja-JP" sz="1600" b="1" dirty="0">
                <a:latin typeface="メイリオ" panose="020B0604030504040204" pitchFamily="50" charset="-128"/>
                <a:ea typeface="メイリオ" panose="020B0604030504040204" pitchFamily="50" charset="-128"/>
                <a:cs typeface="メイリオ"/>
                <a:sym typeface="Meiryo"/>
              </a:rPr>
              <a:t>]</a:t>
            </a:r>
            <a:r>
              <a:rPr lang="ja-JP" altLang="en-US" sz="1600" b="1" dirty="0">
                <a:latin typeface="メイリオ" panose="020B0604030504040204" pitchFamily="50" charset="-128"/>
                <a:ea typeface="メイリオ" panose="020B0604030504040204" pitchFamily="50" charset="-128"/>
                <a:cs typeface="メイリオ"/>
                <a:sym typeface="Meiryo"/>
              </a:rPr>
              <a:t>が重要。</a:t>
            </a:r>
            <a:endParaRPr lang="en-US" altLang="ja-JP" sz="1600" b="1" dirty="0">
              <a:latin typeface="メイリオ" panose="020B0604030504040204" pitchFamily="50" charset="-128"/>
              <a:ea typeface="メイリオ" panose="020B0604030504040204" pitchFamily="50" charset="-128"/>
              <a:cs typeface="メイリオ"/>
              <a:sym typeface="Meiryo"/>
            </a:endParaRPr>
          </a:p>
        </p:txBody>
      </p:sp>
      <p:sp>
        <p:nvSpPr>
          <p:cNvPr id="2" name="正方形/長方形 1">
            <a:extLst>
              <a:ext uri="{FF2B5EF4-FFF2-40B4-BE49-F238E27FC236}">
                <a16:creationId xmlns:a16="http://schemas.microsoft.com/office/drawing/2014/main" id="{011C5FFF-B61A-EB8E-326E-072A0E269233}"/>
              </a:ext>
            </a:extLst>
          </p:cNvPr>
          <p:cNvSpPr/>
          <p:nvPr/>
        </p:nvSpPr>
        <p:spPr>
          <a:xfrm>
            <a:off x="3587358" y="1747110"/>
            <a:ext cx="860817" cy="1432968"/>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初期</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（初動）</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5" name="正方形/長方形 4">
            <a:extLst>
              <a:ext uri="{FF2B5EF4-FFF2-40B4-BE49-F238E27FC236}">
                <a16:creationId xmlns:a16="http://schemas.microsoft.com/office/drawing/2014/main" id="{41F32D58-29FF-60A6-17B5-A41ACCBE9449}"/>
              </a:ext>
            </a:extLst>
          </p:cNvPr>
          <p:cNvSpPr/>
          <p:nvPr/>
        </p:nvSpPr>
        <p:spPr>
          <a:xfrm>
            <a:off x="3587358" y="3321847"/>
            <a:ext cx="860817" cy="2921279"/>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latin typeface="メイリオ" panose="020B0604030504040204" pitchFamily="50" charset="-128"/>
                <a:ea typeface="メイリオ" panose="020B0604030504040204" pitchFamily="50" charset="-128"/>
                <a:cs typeface="メイリオ"/>
              </a:rPr>
              <a:t>月次</a:t>
            </a:r>
            <a:endParaRPr kumimoji="1" lang="en-US" altLang="ja-JP" sz="1200" b="1" dirty="0">
              <a:latin typeface="メイリオ" panose="020B0604030504040204" pitchFamily="50" charset="-128"/>
              <a:ea typeface="メイリオ" panose="020B0604030504040204" pitchFamily="50" charset="-128"/>
              <a:cs typeface="メイリオ"/>
            </a:endParaRPr>
          </a:p>
          <a:p>
            <a:pPr algn="ctr"/>
            <a:r>
              <a:rPr lang="ja-JP" altLang="en-US" sz="1200" b="1" dirty="0">
                <a:latin typeface="メイリオ" panose="020B0604030504040204" pitchFamily="50" charset="-128"/>
                <a:ea typeface="メイリオ" panose="020B0604030504040204" pitchFamily="50" charset="-128"/>
                <a:cs typeface="メイリオ"/>
              </a:rPr>
              <a:t>（定例）</a:t>
            </a:r>
            <a:endParaRPr kumimoji="1" lang="ja-JP" altLang="en-US" sz="1200" b="1" dirty="0">
              <a:latin typeface="メイリオ" panose="020B0604030504040204" pitchFamily="50" charset="-128"/>
              <a:ea typeface="メイリオ" panose="020B0604030504040204" pitchFamily="50" charset="-128"/>
              <a:cs typeface="メイリオ"/>
            </a:endParaRPr>
          </a:p>
        </p:txBody>
      </p:sp>
      <p:sp>
        <p:nvSpPr>
          <p:cNvPr id="8" name="四角形: 角を丸くする 7">
            <a:extLst>
              <a:ext uri="{FF2B5EF4-FFF2-40B4-BE49-F238E27FC236}">
                <a16:creationId xmlns:a16="http://schemas.microsoft.com/office/drawing/2014/main" id="{22EC6943-AA14-49EA-30CF-5D813BA45BFD}"/>
              </a:ext>
            </a:extLst>
          </p:cNvPr>
          <p:cNvSpPr/>
          <p:nvPr/>
        </p:nvSpPr>
        <p:spPr>
          <a:xfrm>
            <a:off x="336942" y="172938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離脱防止・ポップアップ</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HP/LP</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滞在時に、条件を満たすと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ポップアップバナーを表示する</a:t>
            </a:r>
            <a:endPar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10" name="四角形: 角を丸くする 9">
            <a:extLst>
              <a:ext uri="{FF2B5EF4-FFF2-40B4-BE49-F238E27FC236}">
                <a16:creationId xmlns:a16="http://schemas.microsoft.com/office/drawing/2014/main" id="{3436AF3F-C2E7-3494-0B01-4BC00578C5FF}"/>
              </a:ext>
            </a:extLst>
          </p:cNvPr>
          <p:cNvSpPr/>
          <p:nvPr/>
        </p:nvSpPr>
        <p:spPr>
          <a:xfrm>
            <a:off x="336942" y="2642195"/>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通知メッセージ</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ユーザーアクション時に</a:t>
            </a:r>
            <a:endPar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API</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連携で</a:t>
            </a: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にメッセ送付</a:t>
            </a:r>
            <a:endPar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11" name="四角形: 角を丸くする 10">
            <a:extLst>
              <a:ext uri="{FF2B5EF4-FFF2-40B4-BE49-F238E27FC236}">
                <a16:creationId xmlns:a16="http://schemas.microsoft.com/office/drawing/2014/main" id="{6B8D9E5A-638C-EACC-4E99-235D769FBAB5}"/>
              </a:ext>
            </a:extLst>
          </p:cNvPr>
          <p:cNvSpPr/>
          <p:nvPr/>
        </p:nvSpPr>
        <p:spPr>
          <a:xfrm>
            <a:off x="336942" y="3555007"/>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サンクス</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誘導ツール</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WEB</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サイトの</a:t>
            </a: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CV</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ページから</a:t>
            </a:r>
            <a:endPar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入力情報を引き継ぎ</a:t>
            </a: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へ自動遷移</a:t>
            </a:r>
            <a:endPar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12" name="四角形: 角を丸くする 11">
            <a:extLst>
              <a:ext uri="{FF2B5EF4-FFF2-40B4-BE49-F238E27FC236}">
                <a16:creationId xmlns:a16="http://schemas.microsoft.com/office/drawing/2014/main" id="{340447B4-FBD9-E81D-7902-7B3BF84ED83A}"/>
              </a:ext>
            </a:extLst>
          </p:cNvPr>
          <p:cNvSpPr/>
          <p:nvPr/>
        </p:nvSpPr>
        <p:spPr>
          <a:xfrm>
            <a:off x="336942" y="4458293"/>
            <a:ext cx="2444358" cy="860956"/>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ログイン・</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ID</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連携等</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ログインに</a:t>
            </a: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LINE</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 </a:t>
            </a: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を使用</a:t>
            </a:r>
            <a:endPar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endParaRPr>
          </a:p>
          <a:p>
            <a:pPr algn="ct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サイトユーザー</a:t>
            </a: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ID</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と</a:t>
            </a:r>
            <a:r>
              <a:rPr lang="en-US" altLang="ja-JP" sz="1050" dirty="0">
                <a:solidFill>
                  <a:schemeClr val="bg1">
                    <a:lumMod val="65000"/>
                  </a:schemeClr>
                </a:solidFill>
                <a:latin typeface="メイリオ" panose="020B0604030504040204" pitchFamily="50" charset="-128"/>
                <a:ea typeface="メイリオ" panose="020B0604030504040204" pitchFamily="50" charset="-128"/>
                <a:cs typeface="メイリオ"/>
              </a:rPr>
              <a:t>LINEID</a:t>
            </a:r>
            <a:r>
              <a:rPr lang="ja-JP" altLang="en-US" sz="1050" dirty="0">
                <a:solidFill>
                  <a:schemeClr val="bg1">
                    <a:lumMod val="65000"/>
                  </a:schemeClr>
                </a:solidFill>
                <a:latin typeface="メイリオ" panose="020B0604030504040204" pitchFamily="50" charset="-128"/>
                <a:ea typeface="メイリオ" panose="020B0604030504040204" pitchFamily="50" charset="-128"/>
                <a:cs typeface="メイリオ"/>
              </a:rPr>
              <a:t>を連携</a:t>
            </a:r>
            <a:endParaRPr kumimoji="1" lang="ja-JP" altLang="en-US" sz="105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4" name="四角形: 角を丸くする 13">
            <a:extLst>
              <a:ext uri="{FF2B5EF4-FFF2-40B4-BE49-F238E27FC236}">
                <a16:creationId xmlns:a16="http://schemas.microsoft.com/office/drawing/2014/main" id="{BD6C1FC9-285C-AE02-A175-C7061E1A753F}"/>
              </a:ext>
            </a:extLst>
          </p:cNvPr>
          <p:cNvSpPr/>
          <p:nvPr/>
        </p:nvSpPr>
        <p:spPr>
          <a:xfrm>
            <a:off x="336942" y="5361315"/>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LINE</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 </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 CPF</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広告</a:t>
            </a:r>
            <a:endPar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p:txBody>
      </p:sp>
      <p:sp>
        <p:nvSpPr>
          <p:cNvPr id="15" name="四角形: 角を丸くする 14">
            <a:extLst>
              <a:ext uri="{FF2B5EF4-FFF2-40B4-BE49-F238E27FC236}">
                <a16:creationId xmlns:a16="http://schemas.microsoft.com/office/drawing/2014/main" id="{74F6F515-C9A5-F22C-3E1C-CF4380DB9991}"/>
              </a:ext>
            </a:extLst>
          </p:cNvPr>
          <p:cNvSpPr/>
          <p:nvPr/>
        </p:nvSpPr>
        <p:spPr>
          <a:xfrm>
            <a:off x="336942" y="5829843"/>
            <a:ext cx="2444358" cy="432333"/>
          </a:xfrm>
          <a:prstGeom prst="roundRect">
            <a:avLst>
              <a:gd name="adj" fmla="val 5478"/>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スタンプ・</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Pt</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施策</a:t>
            </a:r>
          </a:p>
        </p:txBody>
      </p:sp>
      <p:sp>
        <p:nvSpPr>
          <p:cNvPr id="16" name="正方形/長方形 15">
            <a:extLst>
              <a:ext uri="{FF2B5EF4-FFF2-40B4-BE49-F238E27FC236}">
                <a16:creationId xmlns:a16="http://schemas.microsoft.com/office/drawing/2014/main" id="{0156D598-0831-CD8B-6A89-EE3DAF51A5E9}"/>
              </a:ext>
            </a:extLst>
          </p:cNvPr>
          <p:cNvSpPr/>
          <p:nvPr/>
        </p:nvSpPr>
        <p:spPr>
          <a:xfrm>
            <a:off x="4482711" y="1756635"/>
            <a:ext cx="3233084" cy="1432968"/>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・リッチメニュー</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・プロフ動線</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・あいさつ</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MSG</a:t>
            </a: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KW</a:t>
            </a:r>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自動応答設定</a:t>
            </a:r>
            <a:endParaRPr kumimoji="1"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・友だち登録直後アンケート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kumimoji="1"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・再引上げ</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アンケート</a:t>
            </a:r>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・ステップ配信</a:t>
            </a:r>
            <a:r>
              <a:rPr lang="ja-JP" altLang="en-US" sz="900" dirty="0">
                <a:solidFill>
                  <a:schemeClr val="bg1">
                    <a:lumMod val="65000"/>
                  </a:schemeClr>
                </a:solidFill>
                <a:latin typeface="メイリオ" panose="020B0604030504040204" pitchFamily="50" charset="-128"/>
                <a:ea typeface="メイリオ" panose="020B0604030504040204" pitchFamily="50" charset="-128"/>
                <a:cs typeface="メイリオ"/>
              </a:rPr>
              <a:t>：特定アクション後◯日での自動配信</a:t>
            </a:r>
            <a:endParaRPr kumimoji="1" lang="ja-JP" altLang="en-US" sz="1200" dirty="0">
              <a:solidFill>
                <a:schemeClr val="bg1">
                  <a:lumMod val="65000"/>
                </a:schemeClr>
              </a:solidFill>
              <a:latin typeface="メイリオ" panose="020B0604030504040204" pitchFamily="50" charset="-128"/>
              <a:ea typeface="メイリオ" panose="020B0604030504040204" pitchFamily="50" charset="-128"/>
              <a:cs typeface="メイリオ"/>
            </a:endParaRPr>
          </a:p>
        </p:txBody>
      </p:sp>
      <p:sp>
        <p:nvSpPr>
          <p:cNvPr id="17" name="正方形/長方形 16">
            <a:extLst>
              <a:ext uri="{FF2B5EF4-FFF2-40B4-BE49-F238E27FC236}">
                <a16:creationId xmlns:a16="http://schemas.microsoft.com/office/drawing/2014/main" id="{24F01906-5193-F098-3B58-BDCC26D568EA}"/>
              </a:ext>
            </a:extLst>
          </p:cNvPr>
          <p:cNvSpPr/>
          <p:nvPr/>
        </p:nvSpPr>
        <p:spPr>
          <a:xfrm>
            <a:off x="4482711" y="3331372"/>
            <a:ext cx="3233084" cy="292127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新規</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 </a:t>
            </a:r>
            <a:r>
              <a:rPr lang="ja-JP" altLang="en-US" sz="1200" b="1" dirty="0">
                <a:solidFill>
                  <a:srgbClr val="FF0000"/>
                </a:solidFill>
                <a:latin typeface="メイリオ" panose="020B0604030504040204" pitchFamily="50" charset="-128"/>
                <a:ea typeface="メイリオ" panose="020B0604030504040204" pitchFamily="50" charset="-128"/>
                <a:cs typeface="メイリオ"/>
              </a:rPr>
              <a:t>→ 月間投稿数</a:t>
            </a:r>
            <a:endParaRPr lang="en-US" altLang="ja-JP" sz="1200" b="1" dirty="0">
              <a:solidFill>
                <a:srgbClr val="FF0000"/>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・イベント配信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・クーポン配信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・企画配信（特定ターゲット）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・診断型配信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・お役立ちコラム・コンテンツ配信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・季節／時事ネタ配信</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p>
          <a:p>
            <a:endPar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endParaRPr>
          </a:p>
          <a:p>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r>
              <a:rPr lang="ja-JP" altLang="en-US"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調整</a:t>
            </a:r>
            <a:r>
              <a:rPr lang="en-US" altLang="ja-JP" sz="1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a:rPr>
              <a:t>]</a:t>
            </a: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・アンケート</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・自動応答</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a:t>
            </a:r>
            <a:r>
              <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QA</a:t>
            </a:r>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集</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・リッチメニュー</a:t>
            </a:r>
            <a:endParaRPr lang="en-US" altLang="ja-JP"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endParaRPr>
          </a:p>
          <a:p>
            <a:r>
              <a:rPr lang="ja-JP" altLang="en-US" sz="1200" dirty="0">
                <a:solidFill>
                  <a:schemeClr val="tx1">
                    <a:lumMod val="65000"/>
                    <a:lumOff val="35000"/>
                  </a:schemeClr>
                </a:solidFill>
                <a:latin typeface="メイリオ" panose="020B0604030504040204" pitchFamily="50" charset="-128"/>
                <a:ea typeface="メイリオ" panose="020B0604030504040204" pitchFamily="50" charset="-128"/>
                <a:cs typeface="メイリオ"/>
              </a:rPr>
              <a:t>・ステップ配信</a:t>
            </a:r>
          </a:p>
        </p:txBody>
      </p:sp>
      <p:sp>
        <p:nvSpPr>
          <p:cNvPr id="19" name="左大かっこ 18">
            <a:extLst>
              <a:ext uri="{FF2B5EF4-FFF2-40B4-BE49-F238E27FC236}">
                <a16:creationId xmlns:a16="http://schemas.microsoft.com/office/drawing/2014/main" id="{B9FF3DCE-9B05-09FE-7C2F-B104CD0105BE}"/>
              </a:ext>
            </a:extLst>
          </p:cNvPr>
          <p:cNvSpPr/>
          <p:nvPr/>
        </p:nvSpPr>
        <p:spPr>
          <a:xfrm>
            <a:off x="3210542" y="1800836"/>
            <a:ext cx="215932" cy="4398089"/>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メイリオ"/>
              <a:ea typeface="メイリオ"/>
              <a:cs typeface="メイリオ"/>
            </a:endParaRPr>
          </a:p>
        </p:txBody>
      </p:sp>
      <p:sp>
        <p:nvSpPr>
          <p:cNvPr id="24" name="左大かっこ 23">
            <a:extLst>
              <a:ext uri="{FF2B5EF4-FFF2-40B4-BE49-F238E27FC236}">
                <a16:creationId xmlns:a16="http://schemas.microsoft.com/office/drawing/2014/main" id="{61357E78-5BD2-BBD8-1F18-B1985600E22B}"/>
              </a:ext>
            </a:extLst>
          </p:cNvPr>
          <p:cNvSpPr/>
          <p:nvPr/>
        </p:nvSpPr>
        <p:spPr>
          <a:xfrm flipH="1">
            <a:off x="2892035" y="1756635"/>
            <a:ext cx="215932" cy="4486491"/>
          </a:xfrm>
          <a:prstGeom prst="leftBracket">
            <a:avLst/>
          </a:prstGeom>
          <a:ln>
            <a:solidFill>
              <a:srgbClr val="04FA0A"/>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latin typeface="メイリオ"/>
              <a:ea typeface="メイリオ"/>
              <a:cs typeface="メイリオ"/>
            </a:endParaRPr>
          </a:p>
        </p:txBody>
      </p:sp>
      <p:pic>
        <p:nvPicPr>
          <p:cNvPr id="26" name="図 25">
            <a:extLst>
              <a:ext uri="{FF2B5EF4-FFF2-40B4-BE49-F238E27FC236}">
                <a16:creationId xmlns:a16="http://schemas.microsoft.com/office/drawing/2014/main" id="{56E6CFC0-FB45-E508-C7ED-E0F29C95F377}"/>
              </a:ext>
            </a:extLst>
          </p:cNvPr>
          <p:cNvPicPr>
            <a:picLocks noChangeAspect="1"/>
          </p:cNvPicPr>
          <p:nvPr/>
        </p:nvPicPr>
        <p:blipFill>
          <a:blip r:embed="rId2"/>
          <a:stretch>
            <a:fillRect/>
          </a:stretch>
        </p:blipFill>
        <p:spPr>
          <a:xfrm>
            <a:off x="2862090" y="2173993"/>
            <a:ext cx="582602" cy="543237"/>
          </a:xfrm>
          <a:prstGeom prst="rect">
            <a:avLst/>
          </a:prstGeom>
        </p:spPr>
      </p:pic>
      <p:cxnSp>
        <p:nvCxnSpPr>
          <p:cNvPr id="27" name="直線矢印コネクタ 26">
            <a:extLst>
              <a:ext uri="{FF2B5EF4-FFF2-40B4-BE49-F238E27FC236}">
                <a16:creationId xmlns:a16="http://schemas.microsoft.com/office/drawing/2014/main" id="{38D782E3-91EF-D26A-1906-21A51865A939}"/>
              </a:ext>
            </a:extLst>
          </p:cNvPr>
          <p:cNvCxnSpPr>
            <a:cxnSpLocks/>
          </p:cNvCxnSpPr>
          <p:nvPr/>
        </p:nvCxnSpPr>
        <p:spPr>
          <a:xfrm>
            <a:off x="231756" y="1521490"/>
            <a:ext cx="2654192" cy="0"/>
          </a:xfrm>
          <a:prstGeom prst="straightConnector1">
            <a:avLst/>
          </a:prstGeom>
          <a:ln w="28575">
            <a:solidFill>
              <a:srgbClr val="FFC000"/>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39D8C8E0-0854-5217-A7F3-DBD2104BDFAF}"/>
              </a:ext>
            </a:extLst>
          </p:cNvPr>
          <p:cNvSpPr txBox="1"/>
          <p:nvPr/>
        </p:nvSpPr>
        <p:spPr>
          <a:xfrm>
            <a:off x="857833" y="1390138"/>
            <a:ext cx="1306788" cy="261610"/>
          </a:xfrm>
          <a:prstGeom prst="rect">
            <a:avLst/>
          </a:prstGeom>
          <a:solidFill>
            <a:schemeClr val="bg1"/>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メイリオ"/>
                <a:sym typeface="Meiryo"/>
              </a:rPr>
              <a:t>友だちの新規追加</a:t>
            </a:r>
            <a:endParaRPr lang="ja-JP" altLang="en-US" sz="1050" dirty="0">
              <a:latin typeface="メイリオ"/>
              <a:ea typeface="メイリオ"/>
              <a:cs typeface="メイリオ"/>
            </a:endParaRPr>
          </a:p>
        </p:txBody>
      </p:sp>
      <p:cxnSp>
        <p:nvCxnSpPr>
          <p:cNvPr id="29" name="直線矢印コネクタ 28">
            <a:extLst>
              <a:ext uri="{FF2B5EF4-FFF2-40B4-BE49-F238E27FC236}">
                <a16:creationId xmlns:a16="http://schemas.microsoft.com/office/drawing/2014/main" id="{745F1B07-4D2C-4794-DAEA-D76D3E0CA8CF}"/>
              </a:ext>
            </a:extLst>
          </p:cNvPr>
          <p:cNvCxnSpPr>
            <a:cxnSpLocks/>
          </p:cNvCxnSpPr>
          <p:nvPr/>
        </p:nvCxnSpPr>
        <p:spPr>
          <a:xfrm>
            <a:off x="3248447" y="1521490"/>
            <a:ext cx="6173147" cy="0"/>
          </a:xfrm>
          <a:prstGeom prst="straightConnector1">
            <a:avLst/>
          </a:prstGeom>
          <a:ln w="28575">
            <a:solidFill>
              <a:schemeClr val="accent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テキスト ボックス 29">
            <a:extLst>
              <a:ext uri="{FF2B5EF4-FFF2-40B4-BE49-F238E27FC236}">
                <a16:creationId xmlns:a16="http://schemas.microsoft.com/office/drawing/2014/main" id="{D5E48196-7DAD-4F3E-ADDE-E36FAC475508}"/>
              </a:ext>
            </a:extLst>
          </p:cNvPr>
          <p:cNvSpPr txBox="1"/>
          <p:nvPr/>
        </p:nvSpPr>
        <p:spPr>
          <a:xfrm>
            <a:off x="5411256" y="1390138"/>
            <a:ext cx="1913269" cy="253916"/>
          </a:xfrm>
          <a:prstGeom prst="rect">
            <a:avLst/>
          </a:prstGeom>
          <a:solidFill>
            <a:schemeClr val="bg1"/>
          </a:solidFill>
        </p:spPr>
        <p:txBody>
          <a:bodyPr wrap="square">
            <a:spAutoFit/>
          </a:bodyPr>
          <a:lstStyle/>
          <a:p>
            <a:pPr algn="ctr"/>
            <a:r>
              <a:rPr lang="en-US" altLang="ja-JP" sz="1050" b="1" dirty="0">
                <a:latin typeface="メイリオ" panose="020B0604030504040204" pitchFamily="50" charset="-128"/>
                <a:ea typeface="メイリオ" panose="020B0604030504040204" pitchFamily="50" charset="-128"/>
                <a:cs typeface="メイリオ"/>
                <a:sym typeface="Meiryo"/>
              </a:rPr>
              <a:t>LINE</a:t>
            </a:r>
            <a:r>
              <a:rPr lang="ja-JP" altLang="en-US" sz="1050" b="1" dirty="0">
                <a:latin typeface="メイリオ" panose="020B0604030504040204" pitchFamily="50" charset="-128"/>
                <a:ea typeface="メイリオ" panose="020B0604030504040204" pitchFamily="50" charset="-128"/>
                <a:cs typeface="メイリオ"/>
                <a:sym typeface="Meiryo"/>
              </a:rPr>
              <a:t>友だちの育成・</a:t>
            </a:r>
            <a:r>
              <a:rPr lang="en-US" altLang="ja-JP" sz="1050" b="1" dirty="0">
                <a:latin typeface="メイリオ" panose="020B0604030504040204" pitchFamily="50" charset="-128"/>
                <a:ea typeface="メイリオ" panose="020B0604030504040204" pitchFamily="50" charset="-128"/>
                <a:cs typeface="メイリオ"/>
                <a:sym typeface="Meiryo"/>
              </a:rPr>
              <a:t>CV</a:t>
            </a:r>
            <a:r>
              <a:rPr lang="ja-JP" altLang="en-US" sz="1050" b="1" dirty="0">
                <a:latin typeface="メイリオ" panose="020B0604030504040204" pitchFamily="50" charset="-128"/>
                <a:ea typeface="メイリオ" panose="020B0604030504040204" pitchFamily="50" charset="-128"/>
                <a:cs typeface="メイリオ"/>
                <a:sym typeface="Meiryo"/>
              </a:rPr>
              <a:t>化</a:t>
            </a:r>
            <a:endParaRPr lang="en-US" altLang="ja-JP" sz="1050" b="1" dirty="0">
              <a:latin typeface="メイリオ" panose="020B0604030504040204" pitchFamily="50" charset="-128"/>
              <a:ea typeface="メイリオ" panose="020B0604030504040204" pitchFamily="50" charset="-128"/>
              <a:cs typeface="メイリオ"/>
              <a:sym typeface="Meiryo"/>
            </a:endParaRPr>
          </a:p>
        </p:txBody>
      </p:sp>
      <p:sp>
        <p:nvSpPr>
          <p:cNvPr id="32" name="正方形/長方形 31">
            <a:extLst>
              <a:ext uri="{FF2B5EF4-FFF2-40B4-BE49-F238E27FC236}">
                <a16:creationId xmlns:a16="http://schemas.microsoft.com/office/drawing/2014/main" id="{4EA6E8F1-E33D-1FB9-E4AA-6AD1A2F6B651}"/>
              </a:ext>
            </a:extLst>
          </p:cNvPr>
          <p:cNvSpPr/>
          <p:nvPr/>
        </p:nvSpPr>
        <p:spPr>
          <a:xfrm>
            <a:off x="7750331" y="1748432"/>
            <a:ext cx="1818728" cy="4494694"/>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ターゲット設定</a:t>
            </a:r>
            <a:r>
              <a:rPr lang="en-US" altLang="ja-JP" sz="1200" b="1" dirty="0">
                <a:solidFill>
                  <a:schemeClr val="tx1"/>
                </a:solidFill>
                <a:latin typeface="メイリオ" panose="020B0604030504040204" pitchFamily="50" charset="-128"/>
                <a:ea typeface="メイリオ" panose="020B0604030504040204" pitchFamily="50" charset="-128"/>
                <a:cs typeface="メイリオ"/>
              </a:rPr>
              <a:t>]</a:t>
            </a:r>
          </a:p>
          <a:p>
            <a:endParaRPr kumimoji="1" lang="en-US" altLang="ja-JP" sz="700" dirty="0">
              <a:solidFill>
                <a:schemeClr val="tx1"/>
              </a:solidFill>
              <a:latin typeface="メイリオ" panose="020B0604030504040204" pitchFamily="50" charset="-128"/>
              <a:ea typeface="メイリオ" panose="020B0604030504040204" pitchFamily="50" charset="-128"/>
              <a:cs typeface="メイリオ"/>
            </a:endParaRPr>
          </a:p>
          <a:p>
            <a:endParaRPr kumimoji="1"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kumimoji="1" lang="en-US" altLang="ja-JP" sz="1200" b="1" dirty="0">
                <a:solidFill>
                  <a:schemeClr val="tx1"/>
                </a:solidFill>
                <a:latin typeface="メイリオ" panose="020B0604030504040204" pitchFamily="50" charset="-128"/>
                <a:ea typeface="メイリオ" panose="020B0604030504040204" pitchFamily="50" charset="-128"/>
                <a:cs typeface="メイリオ"/>
              </a:rPr>
              <a:t>LINEOA</a:t>
            </a:r>
            <a:r>
              <a:rPr kumimoji="1" lang="ja-JP" altLang="en-US" sz="1200" b="1" dirty="0">
                <a:solidFill>
                  <a:schemeClr val="tx1"/>
                </a:solidFill>
                <a:latin typeface="メイリオ" panose="020B0604030504040204" pitchFamily="50" charset="-128"/>
                <a:ea typeface="メイリオ" panose="020B0604030504040204" pitchFamily="50" charset="-128"/>
                <a:cs typeface="メイリオ"/>
              </a:rPr>
              <a:t>オーガニック</a:t>
            </a:r>
            <a:endParaRPr kumimoji="1" lang="en-US" altLang="ja-JP" sz="1200" b="1" dirty="0">
              <a:solidFill>
                <a:schemeClr val="tx1"/>
              </a:solidFill>
              <a:latin typeface="メイリオ" panose="020B0604030504040204" pitchFamily="50" charset="-128"/>
              <a:ea typeface="メイリオ" panose="020B0604030504040204" pitchFamily="50" charset="-128"/>
              <a:cs typeface="メイリオ"/>
            </a:endParaRP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年齢</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性別</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地域</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(MSG</a:t>
            </a:r>
            <a:r>
              <a:rPr lang="ja-JP" altLang="en-US" sz="1050" dirty="0">
                <a:solidFill>
                  <a:schemeClr val="tx1"/>
                </a:solidFill>
                <a:latin typeface="メイリオ" panose="020B0604030504040204" pitchFamily="50" charset="-128"/>
                <a:ea typeface="メイリオ" panose="020B0604030504040204" pitchFamily="50" charset="-128"/>
                <a:cs typeface="メイリオ"/>
              </a:rPr>
              <a:t>の</a:t>
            </a:r>
            <a:r>
              <a:rPr lang="en-US" altLang="ja-JP" sz="1050" dirty="0" err="1">
                <a:solidFill>
                  <a:schemeClr val="tx1"/>
                </a:solidFill>
                <a:latin typeface="メイリオ" panose="020B0604030504040204" pitchFamily="50" charset="-128"/>
                <a:ea typeface="メイリオ" panose="020B0604030504040204" pitchFamily="50" charset="-128"/>
                <a:cs typeface="メイリオ"/>
              </a:rPr>
              <a:t>Imp,Click</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endParaRPr lang="en-US" altLang="ja-JP" sz="700" dirty="0">
              <a:solidFill>
                <a:schemeClr val="tx1"/>
              </a:solidFill>
              <a:latin typeface="メイリオ" panose="020B0604030504040204" pitchFamily="50" charset="-128"/>
              <a:ea typeface="メイリオ" panose="020B0604030504040204" pitchFamily="50" charset="-128"/>
              <a:cs typeface="メイリオ"/>
            </a:endParaRPr>
          </a:p>
          <a:p>
            <a:r>
              <a:rPr lang="en-US" altLang="ja-JP" sz="1200" b="1" dirty="0">
                <a:solidFill>
                  <a:schemeClr val="tx1"/>
                </a:solidFill>
                <a:latin typeface="メイリオ" panose="020B0604030504040204" pitchFamily="50" charset="-128"/>
                <a:ea typeface="メイリオ" panose="020B0604030504040204" pitchFamily="50" charset="-128"/>
                <a:cs typeface="メイリオ"/>
              </a:rPr>
              <a:t>LINE_API</a:t>
            </a:r>
            <a:r>
              <a:rPr lang="ja-JP" altLang="en-US" sz="1200" b="1" dirty="0">
                <a:solidFill>
                  <a:schemeClr val="tx1"/>
                </a:solidFill>
                <a:latin typeface="メイリオ" panose="020B0604030504040204" pitchFamily="50" charset="-128"/>
                <a:ea typeface="メイリオ" panose="020B0604030504040204" pitchFamily="50" charset="-128"/>
                <a:cs typeface="メイリオ"/>
              </a:rPr>
              <a:t>ツール</a:t>
            </a:r>
            <a:r>
              <a:rPr lang="ja-JP" altLang="en-US" sz="900" b="1" dirty="0">
                <a:solidFill>
                  <a:schemeClr val="tx1"/>
                </a:solidFill>
                <a:latin typeface="メイリオ" panose="020B0604030504040204" pitchFamily="50" charset="-128"/>
                <a:ea typeface="メイリオ" panose="020B0604030504040204" pitchFamily="50" charset="-128"/>
                <a:cs typeface="メイリオ"/>
              </a:rPr>
              <a:t> </a:t>
            </a:r>
            <a:r>
              <a:rPr lang="en-US" altLang="ja-JP" sz="900" b="1" dirty="0">
                <a:solidFill>
                  <a:srgbClr val="FF0000"/>
                </a:solidFill>
                <a:latin typeface="メイリオ" panose="020B0604030504040204" pitchFamily="50" charset="-128"/>
                <a:ea typeface="メイリオ" panose="020B0604030504040204" pitchFamily="50" charset="-128"/>
                <a:cs typeface="メイリオ"/>
              </a:rPr>
              <a:t>※</a:t>
            </a:r>
            <a:r>
              <a:rPr lang="ja-JP" altLang="en-US" sz="900" b="1" dirty="0">
                <a:solidFill>
                  <a:srgbClr val="FF0000"/>
                </a:solidFill>
                <a:latin typeface="メイリオ" panose="020B0604030504040204" pitchFamily="50" charset="-128"/>
                <a:ea typeface="メイリオ" panose="020B0604030504040204" pitchFamily="50" charset="-128"/>
                <a:cs typeface="メイリオ"/>
              </a:rPr>
              <a:t>有料</a:t>
            </a:r>
            <a:endParaRPr lang="en-US" altLang="ja-JP" sz="1200" b="1" dirty="0">
              <a:solidFill>
                <a:srgbClr val="FF0000"/>
              </a:solidFill>
              <a:latin typeface="メイリオ" panose="020B0604030504040204" pitchFamily="50" charset="-128"/>
              <a:ea typeface="メイリオ" panose="020B0604030504040204" pitchFamily="50" charset="-128"/>
              <a:cs typeface="メイリオ"/>
            </a:endParaRP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アンケート結果）</a:t>
            </a:r>
            <a:endParaRPr lang="en-US" altLang="ja-JP" sz="1050" dirty="0">
              <a:solidFill>
                <a:schemeClr val="tx1"/>
              </a:solidFill>
              <a:latin typeface="メイリオ" panose="020B0604030504040204" pitchFamily="50" charset="-128"/>
              <a:ea typeface="メイリオ" panose="020B0604030504040204" pitchFamily="50" charset="-128"/>
              <a:cs typeface="メイリオ"/>
            </a:endParaRP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(WEB</a:t>
            </a:r>
            <a:r>
              <a:rPr lang="ja-JP" altLang="en-US" sz="1050" dirty="0">
                <a:solidFill>
                  <a:schemeClr val="tx1"/>
                </a:solidFill>
                <a:latin typeface="メイリオ" panose="020B0604030504040204" pitchFamily="50" charset="-128"/>
                <a:ea typeface="メイリオ" panose="020B0604030504040204" pitchFamily="50" charset="-128"/>
                <a:cs typeface="メイリオ"/>
              </a:rPr>
              <a:t>サイトアクション</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リマインド</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再通知</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(ID</a:t>
            </a:r>
            <a:r>
              <a:rPr lang="ja-JP" altLang="en-US" sz="1050" dirty="0">
                <a:solidFill>
                  <a:schemeClr val="tx1"/>
                </a:solidFill>
                <a:latin typeface="メイリオ" panose="020B0604030504040204" pitchFamily="50" charset="-128"/>
                <a:ea typeface="メイリオ" panose="020B0604030504040204" pitchFamily="50" charset="-128"/>
                <a:cs typeface="メイリオ"/>
              </a:rPr>
              <a:t>連携した情報ベース</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ユーザー一覧を取得</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ユーザー</a:t>
            </a:r>
            <a:r>
              <a:rPr lang="en-US" altLang="ja-JP" sz="1050" dirty="0">
                <a:solidFill>
                  <a:schemeClr val="tx1"/>
                </a:solidFill>
                <a:latin typeface="メイリオ" panose="020B0604030504040204" pitchFamily="50" charset="-128"/>
                <a:ea typeface="メイリオ" panose="020B0604030504040204" pitchFamily="50" charset="-128"/>
                <a:cs typeface="メイリオ"/>
              </a:rPr>
              <a:t>ID</a:t>
            </a:r>
            <a:r>
              <a:rPr lang="ja-JP" altLang="en-US" sz="1050" dirty="0">
                <a:solidFill>
                  <a:schemeClr val="tx1"/>
                </a:solidFill>
                <a:latin typeface="メイリオ" panose="020B0604030504040204" pitchFamily="50" charset="-128"/>
                <a:ea typeface="メイリオ" panose="020B0604030504040204" pitchFamily="50" charset="-128"/>
                <a:cs typeface="メイリオ"/>
              </a:rPr>
              <a:t>アップロード</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地点別スコアリング</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endParaRPr lang="en-US" altLang="ja-JP" sz="105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1050" dirty="0">
              <a:solidFill>
                <a:schemeClr val="tx1"/>
              </a:solidFill>
              <a:latin typeface="メイリオ" panose="020B0604030504040204" pitchFamily="50" charset="-128"/>
              <a:ea typeface="メイリオ" panose="020B0604030504040204" pitchFamily="50" charset="-128"/>
              <a:cs typeface="メイリオ"/>
            </a:endParaRPr>
          </a:p>
          <a:p>
            <a:endParaRPr lang="en-US" altLang="ja-JP" sz="1050" dirty="0">
              <a:solidFill>
                <a:schemeClr val="tx1"/>
              </a:solidFill>
              <a:latin typeface="メイリオ" panose="020B0604030504040204" pitchFamily="50" charset="-128"/>
              <a:ea typeface="メイリオ" panose="020B0604030504040204" pitchFamily="50" charset="-128"/>
              <a:cs typeface="メイリオ"/>
            </a:endParaRPr>
          </a:p>
          <a:p>
            <a:r>
              <a:rPr lang="en-US" altLang="ja-JP" sz="1050" b="1" dirty="0">
                <a:solidFill>
                  <a:schemeClr val="tx1"/>
                </a:solidFill>
                <a:latin typeface="メイリオ" panose="020B0604030504040204" pitchFamily="50" charset="-128"/>
                <a:ea typeface="メイリオ" panose="020B0604030504040204" pitchFamily="50" charset="-128"/>
                <a:cs typeface="メイリオ"/>
              </a:rPr>
              <a:t>※MA</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a:t>
            </a:r>
            <a:r>
              <a:rPr lang="en-US" altLang="ja-JP" sz="1050" b="1" dirty="0">
                <a:solidFill>
                  <a:schemeClr val="tx1"/>
                </a:solidFill>
                <a:latin typeface="メイリオ" panose="020B0604030504040204" pitchFamily="50" charset="-128"/>
                <a:ea typeface="メイリオ" panose="020B0604030504040204" pitchFamily="50" charset="-128"/>
                <a:cs typeface="メイリオ"/>
              </a:rPr>
              <a:t>CRM</a:t>
            </a:r>
            <a:r>
              <a:rPr lang="ja-JP" altLang="en-US" sz="1050" b="1" dirty="0">
                <a:solidFill>
                  <a:schemeClr val="tx1"/>
                </a:solidFill>
                <a:latin typeface="メイリオ" panose="020B0604030504040204" pitchFamily="50" charset="-128"/>
                <a:ea typeface="メイリオ" panose="020B0604030504040204" pitchFamily="50" charset="-128"/>
                <a:cs typeface="メイリオ"/>
              </a:rPr>
              <a:t>との連携</a:t>
            </a:r>
            <a:endParaRPr lang="en-US" altLang="ja-JP" sz="1050" b="1" dirty="0">
              <a:solidFill>
                <a:schemeClr val="tx1"/>
              </a:solidFill>
              <a:latin typeface="メイリオ" panose="020B0604030504040204" pitchFamily="50" charset="-128"/>
              <a:ea typeface="メイリオ" panose="020B0604030504040204" pitchFamily="50" charset="-128"/>
              <a:cs typeface="メイリオ"/>
            </a:endParaRP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購入・リードデータ</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a:p>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r>
              <a:rPr lang="ja-JP" altLang="en-US" sz="1050" dirty="0">
                <a:solidFill>
                  <a:schemeClr val="tx1"/>
                </a:solidFill>
                <a:latin typeface="メイリオ" panose="020B0604030504040204" pitchFamily="50" charset="-128"/>
                <a:ea typeface="メイリオ" panose="020B0604030504040204" pitchFamily="50" charset="-128"/>
                <a:cs typeface="メイリオ"/>
              </a:rPr>
              <a:t>ユーザー情報</a:t>
            </a:r>
            <a:r>
              <a:rPr lang="ja-JP" altLang="en-US" sz="900" dirty="0">
                <a:solidFill>
                  <a:schemeClr val="tx1"/>
                </a:solidFill>
                <a:latin typeface="メイリオ" panose="020B0604030504040204" pitchFamily="50" charset="-128"/>
                <a:ea typeface="メイリオ" panose="020B0604030504040204" pitchFamily="50" charset="-128"/>
                <a:cs typeface="メイリオ"/>
              </a:rPr>
              <a:t> </a:t>
            </a:r>
            <a:r>
              <a:rPr lang="en-US" altLang="ja-JP" sz="900" dirty="0">
                <a:solidFill>
                  <a:schemeClr val="tx1"/>
                </a:solidFill>
                <a:latin typeface="メイリオ" panose="020B0604030504040204" pitchFamily="50" charset="-128"/>
                <a:ea typeface="メイリオ" panose="020B0604030504040204" pitchFamily="50" charset="-128"/>
                <a:cs typeface="メイリオ"/>
              </a:rPr>
              <a:t>※</a:t>
            </a:r>
            <a:r>
              <a:rPr lang="ja-JP" altLang="en-US" sz="900" dirty="0">
                <a:solidFill>
                  <a:schemeClr val="tx1"/>
                </a:solidFill>
                <a:latin typeface="メイリオ" panose="020B0604030504040204" pitchFamily="50" charset="-128"/>
                <a:ea typeface="メイリオ" panose="020B0604030504040204" pitchFamily="50" charset="-128"/>
                <a:cs typeface="メイリオ"/>
              </a:rPr>
              <a:t>詳細</a:t>
            </a:r>
            <a:r>
              <a:rPr lang="en-US" altLang="ja-JP" sz="1050" dirty="0">
                <a:solidFill>
                  <a:schemeClr val="tx1"/>
                </a:solidFill>
                <a:latin typeface="メイリオ" panose="020B0604030504040204" pitchFamily="50" charset="-128"/>
                <a:ea typeface="メイリオ" panose="020B0604030504040204" pitchFamily="50" charset="-128"/>
                <a:cs typeface="メイリオ"/>
              </a:rPr>
              <a:t>)</a:t>
            </a:r>
          </a:p>
        </p:txBody>
      </p:sp>
      <p:sp>
        <p:nvSpPr>
          <p:cNvPr id="36" name="テキスト ボックス 35">
            <a:extLst>
              <a:ext uri="{FF2B5EF4-FFF2-40B4-BE49-F238E27FC236}">
                <a16:creationId xmlns:a16="http://schemas.microsoft.com/office/drawing/2014/main" id="{F47CAADD-ECBD-1DCC-19D6-6433C921622E}"/>
              </a:ext>
            </a:extLst>
          </p:cNvPr>
          <p:cNvSpPr txBox="1"/>
          <p:nvPr/>
        </p:nvSpPr>
        <p:spPr>
          <a:xfrm>
            <a:off x="2178040" y="2694449"/>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a:t>
            </a:r>
            <a:r>
              <a:rPr lang="ja-JP" altLang="en-US" sz="800" dirty="0">
                <a:solidFill>
                  <a:srgbClr val="FF0000"/>
                </a:solidFill>
                <a:latin typeface="メイリオ" panose="020B0604030504040204" pitchFamily="50" charset="-128"/>
                <a:ea typeface="メイリオ" panose="020B0604030504040204" pitchFamily="50" charset="-128"/>
                <a:cs typeface="メイリオ"/>
              </a:rPr>
              <a:t>有料</a:t>
            </a:r>
            <a:endParaRPr lang="ja-JP" altLang="en-US" sz="800" dirty="0">
              <a:latin typeface="メイリオ"/>
              <a:ea typeface="メイリオ"/>
              <a:cs typeface="メイリオ"/>
            </a:endParaRPr>
          </a:p>
        </p:txBody>
      </p:sp>
      <p:sp>
        <p:nvSpPr>
          <p:cNvPr id="47" name="テキスト ボックス 46">
            <a:extLst>
              <a:ext uri="{FF2B5EF4-FFF2-40B4-BE49-F238E27FC236}">
                <a16:creationId xmlns:a16="http://schemas.microsoft.com/office/drawing/2014/main" id="{00802062-F552-1DFA-430A-41800E76A220}"/>
              </a:ext>
            </a:extLst>
          </p:cNvPr>
          <p:cNvSpPr txBox="1"/>
          <p:nvPr/>
        </p:nvSpPr>
        <p:spPr>
          <a:xfrm>
            <a:off x="2370382" y="177323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a:t>
            </a:r>
            <a:r>
              <a:rPr lang="ja-JP" altLang="en-US" sz="800" dirty="0">
                <a:solidFill>
                  <a:srgbClr val="FF0000"/>
                </a:solidFill>
                <a:latin typeface="メイリオ" panose="020B0604030504040204" pitchFamily="50" charset="-128"/>
                <a:ea typeface="メイリオ" panose="020B0604030504040204" pitchFamily="50" charset="-128"/>
                <a:cs typeface="メイリオ"/>
              </a:rPr>
              <a:t>有料</a:t>
            </a:r>
            <a:endParaRPr lang="ja-JP" altLang="en-US" sz="800" dirty="0">
              <a:latin typeface="メイリオ"/>
              <a:ea typeface="メイリオ"/>
              <a:cs typeface="メイリオ"/>
            </a:endParaRPr>
          </a:p>
        </p:txBody>
      </p:sp>
      <p:sp>
        <p:nvSpPr>
          <p:cNvPr id="49" name="テキスト ボックス 48">
            <a:extLst>
              <a:ext uri="{FF2B5EF4-FFF2-40B4-BE49-F238E27FC236}">
                <a16:creationId xmlns:a16="http://schemas.microsoft.com/office/drawing/2014/main" id="{CDCAB868-C79D-2212-70C3-9EF559F32C21}"/>
              </a:ext>
            </a:extLst>
          </p:cNvPr>
          <p:cNvSpPr txBox="1"/>
          <p:nvPr/>
        </p:nvSpPr>
        <p:spPr>
          <a:xfrm>
            <a:off x="2456844" y="3619396"/>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a:t>
            </a:r>
            <a:r>
              <a:rPr lang="ja-JP" altLang="en-US" sz="800" dirty="0">
                <a:solidFill>
                  <a:srgbClr val="FF0000"/>
                </a:solidFill>
                <a:latin typeface="メイリオ" panose="020B0604030504040204" pitchFamily="50" charset="-128"/>
                <a:ea typeface="メイリオ" panose="020B0604030504040204" pitchFamily="50" charset="-128"/>
                <a:cs typeface="メイリオ"/>
              </a:rPr>
              <a:t>有料</a:t>
            </a:r>
            <a:endParaRPr lang="ja-JP" altLang="en-US" sz="800" dirty="0">
              <a:latin typeface="メイリオ"/>
              <a:ea typeface="メイリオ"/>
              <a:cs typeface="メイリオ"/>
            </a:endParaRPr>
          </a:p>
        </p:txBody>
      </p:sp>
      <p:sp>
        <p:nvSpPr>
          <p:cNvPr id="51" name="テキスト ボックス 50">
            <a:extLst>
              <a:ext uri="{FF2B5EF4-FFF2-40B4-BE49-F238E27FC236}">
                <a16:creationId xmlns:a16="http://schemas.microsoft.com/office/drawing/2014/main" id="{E2ECFC3F-A285-F105-30CE-9144EBB24A11}"/>
              </a:ext>
            </a:extLst>
          </p:cNvPr>
          <p:cNvSpPr txBox="1"/>
          <p:nvPr/>
        </p:nvSpPr>
        <p:spPr>
          <a:xfrm>
            <a:off x="2518621" y="4576567"/>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a:t>
            </a:r>
            <a:r>
              <a:rPr lang="ja-JP" altLang="en-US" sz="800" dirty="0">
                <a:solidFill>
                  <a:srgbClr val="FF0000"/>
                </a:solidFill>
                <a:latin typeface="メイリオ" panose="020B0604030504040204" pitchFamily="50" charset="-128"/>
                <a:ea typeface="メイリオ" panose="020B0604030504040204" pitchFamily="50" charset="-128"/>
                <a:cs typeface="メイリオ"/>
              </a:rPr>
              <a:t>有料</a:t>
            </a:r>
            <a:endParaRPr lang="ja-JP" altLang="en-US" sz="800" dirty="0">
              <a:latin typeface="メイリオ"/>
              <a:ea typeface="メイリオ"/>
              <a:cs typeface="メイリオ"/>
            </a:endParaRPr>
          </a:p>
        </p:txBody>
      </p:sp>
      <p:sp>
        <p:nvSpPr>
          <p:cNvPr id="53" name="テキスト ボックス 52">
            <a:extLst>
              <a:ext uri="{FF2B5EF4-FFF2-40B4-BE49-F238E27FC236}">
                <a16:creationId xmlns:a16="http://schemas.microsoft.com/office/drawing/2014/main" id="{39AB193A-8274-ABE1-CD3D-54790C3264F6}"/>
              </a:ext>
            </a:extLst>
          </p:cNvPr>
          <p:cNvSpPr txBox="1"/>
          <p:nvPr/>
        </p:nvSpPr>
        <p:spPr>
          <a:xfrm>
            <a:off x="2210158" y="5478733"/>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a:t>
            </a:r>
            <a:r>
              <a:rPr lang="ja-JP" altLang="en-US" sz="800" dirty="0">
                <a:solidFill>
                  <a:srgbClr val="FF0000"/>
                </a:solidFill>
                <a:latin typeface="メイリオ" panose="020B0604030504040204" pitchFamily="50" charset="-128"/>
                <a:ea typeface="メイリオ" panose="020B0604030504040204" pitchFamily="50" charset="-128"/>
                <a:cs typeface="メイリオ"/>
              </a:rPr>
              <a:t>有料</a:t>
            </a:r>
            <a:endParaRPr lang="ja-JP" altLang="en-US" sz="800" dirty="0">
              <a:latin typeface="メイリオ"/>
              <a:ea typeface="メイリオ"/>
              <a:cs typeface="メイリオ"/>
            </a:endParaRPr>
          </a:p>
        </p:txBody>
      </p:sp>
      <p:sp>
        <p:nvSpPr>
          <p:cNvPr id="56" name="テキスト ボックス 55">
            <a:extLst>
              <a:ext uri="{FF2B5EF4-FFF2-40B4-BE49-F238E27FC236}">
                <a16:creationId xmlns:a16="http://schemas.microsoft.com/office/drawing/2014/main" id="{096A37B9-CA3D-92C9-1405-86C6FFCD8C5A}"/>
              </a:ext>
            </a:extLst>
          </p:cNvPr>
          <p:cNvSpPr txBox="1"/>
          <p:nvPr/>
        </p:nvSpPr>
        <p:spPr>
          <a:xfrm>
            <a:off x="2214724" y="5963211"/>
            <a:ext cx="626024"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a:t>
            </a:r>
            <a:r>
              <a:rPr lang="ja-JP" altLang="en-US" sz="800" dirty="0">
                <a:solidFill>
                  <a:srgbClr val="FF0000"/>
                </a:solidFill>
                <a:latin typeface="メイリオ" panose="020B0604030504040204" pitchFamily="50" charset="-128"/>
                <a:ea typeface="メイリオ" panose="020B0604030504040204" pitchFamily="50" charset="-128"/>
                <a:cs typeface="メイリオ"/>
              </a:rPr>
              <a:t>有料</a:t>
            </a:r>
            <a:endParaRPr lang="ja-JP" altLang="en-US" sz="800" dirty="0">
              <a:latin typeface="メイリオ"/>
              <a:ea typeface="メイリオ"/>
              <a:cs typeface="メイリオ"/>
            </a:endParaRPr>
          </a:p>
        </p:txBody>
      </p:sp>
      <p:sp>
        <p:nvSpPr>
          <p:cNvPr id="58" name="テキスト ボックス 57">
            <a:extLst>
              <a:ext uri="{FF2B5EF4-FFF2-40B4-BE49-F238E27FC236}">
                <a16:creationId xmlns:a16="http://schemas.microsoft.com/office/drawing/2014/main" id="{AA71FB07-E583-8196-5077-2EAA10A61A0F}"/>
              </a:ext>
            </a:extLst>
          </p:cNvPr>
          <p:cNvSpPr txBox="1"/>
          <p:nvPr/>
        </p:nvSpPr>
        <p:spPr>
          <a:xfrm>
            <a:off x="285223" y="6291679"/>
            <a:ext cx="2547258" cy="215444"/>
          </a:xfrm>
          <a:prstGeom prst="rect">
            <a:avLst/>
          </a:prstGeom>
          <a:noFill/>
        </p:spPr>
        <p:txBody>
          <a:bodyPr wrap="square">
            <a:spAutoFit/>
          </a:bodyPr>
          <a:lstStyle/>
          <a:p>
            <a:pPr algn="ct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その他</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WEB</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サイト動線整備、プレスリリース等</a:t>
            </a:r>
            <a:endParaRPr lang="ja-JP" altLang="en-US" sz="800" dirty="0">
              <a:solidFill>
                <a:schemeClr val="bg1">
                  <a:lumMod val="50000"/>
                </a:schemeClr>
              </a:solidFill>
              <a:latin typeface="メイリオ"/>
              <a:ea typeface="メイリオ"/>
              <a:cs typeface="メイリオ"/>
            </a:endParaRPr>
          </a:p>
        </p:txBody>
      </p:sp>
      <p:sp>
        <p:nvSpPr>
          <p:cNvPr id="6" name="テキスト ボックス 5">
            <a:extLst>
              <a:ext uri="{FF2B5EF4-FFF2-40B4-BE49-F238E27FC236}">
                <a16:creationId xmlns:a16="http://schemas.microsoft.com/office/drawing/2014/main" id="{F3BE3835-FB68-0C7D-7CED-C40A02A19AB2}"/>
              </a:ext>
            </a:extLst>
          </p:cNvPr>
          <p:cNvSpPr txBox="1"/>
          <p:nvPr/>
        </p:nvSpPr>
        <p:spPr>
          <a:xfrm>
            <a:off x="6149585" y="3424747"/>
            <a:ext cx="1174939" cy="215444"/>
          </a:xfrm>
          <a:prstGeom prst="rect">
            <a:avLst/>
          </a:prstGeom>
          <a:noFill/>
        </p:spPr>
        <p:txBody>
          <a:bodyPr wrap="square">
            <a:spAutoFit/>
          </a:bodyPr>
          <a:lstStyle/>
          <a:p>
            <a:r>
              <a:rPr lang="en-US" altLang="ja-JP" sz="800" dirty="0">
                <a:solidFill>
                  <a:srgbClr val="FF0000"/>
                </a:solidFill>
                <a:latin typeface="メイリオ" panose="020B0604030504040204" pitchFamily="50" charset="-128"/>
                <a:ea typeface="メイリオ" panose="020B0604030504040204" pitchFamily="50" charset="-128"/>
                <a:cs typeface="メイリオ"/>
              </a:rPr>
              <a:t>※</a:t>
            </a:r>
            <a:r>
              <a:rPr lang="ja-JP" altLang="en-US" sz="800" dirty="0">
                <a:solidFill>
                  <a:srgbClr val="FF0000"/>
                </a:solidFill>
                <a:latin typeface="メイリオ" panose="020B0604030504040204" pitchFamily="50" charset="-128"/>
                <a:ea typeface="メイリオ" panose="020B0604030504040204" pitchFamily="50" charset="-128"/>
                <a:cs typeface="メイリオ"/>
              </a:rPr>
              <a:t>数量により変動</a:t>
            </a:r>
            <a:endParaRPr lang="ja-JP" altLang="en-US" sz="800" dirty="0">
              <a:latin typeface="メイリオ"/>
              <a:ea typeface="メイリオ"/>
              <a:cs typeface="メイリオ"/>
            </a:endParaRPr>
          </a:p>
        </p:txBody>
      </p:sp>
      <p:sp>
        <p:nvSpPr>
          <p:cNvPr id="7" name="テキスト ボックス 6">
            <a:extLst>
              <a:ext uri="{FF2B5EF4-FFF2-40B4-BE49-F238E27FC236}">
                <a16:creationId xmlns:a16="http://schemas.microsoft.com/office/drawing/2014/main" id="{F47E1216-C9D3-60D3-B3E8-43E38B5791F4}"/>
              </a:ext>
            </a:extLst>
          </p:cNvPr>
          <p:cNvSpPr txBox="1"/>
          <p:nvPr/>
        </p:nvSpPr>
        <p:spPr>
          <a:xfrm>
            <a:off x="3587357" y="6286698"/>
            <a:ext cx="4128437" cy="215444"/>
          </a:xfrm>
          <a:prstGeom prst="rect">
            <a:avLst/>
          </a:prstGeom>
          <a:noFill/>
        </p:spPr>
        <p:txBody>
          <a:bodyPr wrap="square">
            <a:spAutoFit/>
          </a:bodyPr>
          <a:lstStyle/>
          <a:p>
            <a:r>
              <a:rPr kumimoji="1"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　</a:t>
            </a:r>
            <a:r>
              <a:rPr kumimoji="1" lang="en-US" altLang="ja-JP" sz="800" dirty="0">
                <a:solidFill>
                  <a:schemeClr val="bg1">
                    <a:lumMod val="50000"/>
                  </a:schemeClr>
                </a:solidFill>
                <a:latin typeface="メイリオ" panose="020B0604030504040204" pitchFamily="50" charset="-128"/>
                <a:ea typeface="メイリオ" panose="020B0604030504040204" pitchFamily="50" charset="-128"/>
                <a:cs typeface="メイリオ"/>
              </a:rPr>
              <a:t>※</a:t>
            </a:r>
            <a:r>
              <a:rPr kumimoji="1" lang="ja-JP" altLang="en-US" sz="800" dirty="0">
                <a:solidFill>
                  <a:schemeClr val="bg1">
                    <a:lumMod val="50000"/>
                  </a:schemeClr>
                </a:solidFill>
                <a:latin typeface="メイリオ" panose="020B0604030504040204" pitchFamily="50" charset="-128"/>
                <a:ea typeface="メイリオ" panose="020B0604030504040204" pitchFamily="50" charset="-128"/>
                <a:cs typeface="メイリオ"/>
              </a:rPr>
              <a:t>クリエイティブ費用は基本的に内包、開発費用は別途見積もりとなります。</a:t>
            </a:r>
            <a:endParaRPr lang="ja-JP" altLang="en-US" sz="800" dirty="0">
              <a:solidFill>
                <a:schemeClr val="bg1">
                  <a:lumMod val="50000"/>
                </a:schemeClr>
              </a:solidFill>
              <a:latin typeface="メイリオ"/>
              <a:ea typeface="メイリオ"/>
              <a:cs typeface="メイリオ"/>
            </a:endParaRPr>
          </a:p>
        </p:txBody>
      </p:sp>
      <p:sp>
        <p:nvSpPr>
          <p:cNvPr id="13" name="正方形/長方形 12">
            <a:extLst>
              <a:ext uri="{FF2B5EF4-FFF2-40B4-BE49-F238E27FC236}">
                <a16:creationId xmlns:a16="http://schemas.microsoft.com/office/drawing/2014/main" id="{9256C170-205B-2224-D69D-D964BF991C26}"/>
              </a:ext>
            </a:extLst>
          </p:cNvPr>
          <p:cNvSpPr/>
          <p:nvPr/>
        </p:nvSpPr>
        <p:spPr>
          <a:xfrm>
            <a:off x="7664076" y="1733928"/>
            <a:ext cx="1904982" cy="4562295"/>
          </a:xfrm>
          <a:prstGeom prst="rect">
            <a:avLst/>
          </a:prstGeom>
          <a:solidFill>
            <a:schemeClr val="bg1">
              <a:alpha val="59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bg1"/>
              </a:solidFill>
              <a:latin typeface="メイリオ"/>
              <a:ea typeface="メイリオ"/>
              <a:cs typeface="メイリオ"/>
            </a:endParaRPr>
          </a:p>
        </p:txBody>
      </p:sp>
    </p:spTree>
    <p:extLst>
      <p:ext uri="{BB962C8B-B14F-4D97-AF65-F5344CB8AC3E}">
        <p14:creationId xmlns:p14="http://schemas.microsoft.com/office/powerpoint/2010/main" val="133544877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latin typeface="メイリオ"/>
                <a:ea typeface="メイリオ"/>
                <a:cs typeface="メイリオ"/>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latin typeface="メイリオ"/>
                <a:ea typeface="メイリオ"/>
                <a:cs typeface="メイリオ"/>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latin typeface="メイリオ"/>
                <a:ea typeface="メイリオ"/>
                <a:cs typeface="メイリオ"/>
              </a:defRPr>
            </a:pPr>
            <a:endParaRPr lang="ja-JP" altLang="en-US">
              <a:solidFill>
                <a:prstClr val="black"/>
              </a:solidFill>
              <a:latin typeface="メイリオ" pitchFamily="34" charset="0"/>
              <a:ea typeface="メイリオ" pitchFamily="50" charset="-128"/>
              <a:cs typeface="メイリオ"/>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latin typeface="メイリオ"/>
                <a:ea typeface="メイリオ"/>
                <a:cs typeface="メイリオ"/>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a:ea typeface="メイリオ"/>
              <a:cs typeface="メイリオ"/>
            </a:endParaRPr>
          </a:p>
        </p:txBody>
      </p:sp>
    </p:spTree>
    <p:extLst>
      <p:ext uri="{BB962C8B-B14F-4D97-AF65-F5344CB8AC3E}">
        <p14:creationId xmlns:p14="http://schemas.microsoft.com/office/powerpoint/2010/main" val="4185355464"/>
      </p:ext>
    </p:extLst>
  </p:cSld>
  <p:clrMapOvr>
    <a:masterClrMapping/>
  </p:clrMapOvr>
  <p:transition spd="slow"/>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現状と課題｜予約から来場まで、LINEでつながっていない</a:t>
            </a:r>
            <a:endParaRPr sz="1600" b="1" dirty="0">
              <a:solidFill>
                <a:srgbClr val="002060"/>
              </a:solidFill>
              <a:latin typeface="メイリオ"/>
              <a:ea typeface="メイリオ"/>
              <a:cs typeface="メイリオ"/>
            </a:endParaRPr>
          </a:p>
        </p:txBody>
      </p:sp>
      <p:sp>
        <p:nvSpPr>
          <p:cNvPr id="4" name="TextBox 2"/>
          <p:cNvSpPr txBox="1"/>
          <p:nvPr/>
        </p:nvSpPr>
        <p:spPr>
          <a:xfrm>
            <a:off x="644865" y="725334"/>
            <a:ext cx="9111472" cy="529332"/>
          </a:xfrm>
          <a:prstGeom prst="rect">
            <a:avLst/>
          </a:prstGeom>
          <a:noFill/>
        </p:spPr>
        <p:txBody>
          <a:bodyPr wrap="square" lIns="0" tIns="21600" rIns="0" bIns="21600" anchor="ctr">
            <a:spAutoFit/>
          </a:bodyPr>
          <a:lstStyle/>
          <a:p>
            <a:pPr algn="l">
              <a:lnSpc>
                <a:spcPct val="130000"/>
              </a:lnSpc>
            </a:pPr>
            <a:r>
              <a:rPr sz="1450" dirty="0" err="1">
                <a:solidFill>
                  <a:srgbClr val="333333"/>
                </a:solidFill>
                <a:latin typeface="メイリオ"/>
                <a:ea typeface="メイリオ"/>
                <a:cs typeface="メイリオ"/>
              </a:rPr>
              <a:t>来場者獲得単価を、今の37,500円から24,000円以下へ。申込みCPAと来場率の両方で改善する</a:t>
            </a:r>
            <a:endParaRPr sz="100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現状と目標 5"/>
          <p:cNvGraphicFramePr>
            <a:graphicFrameLocks noGrp="1"/>
          </p:cNvGraphicFramePr>
          <p:nvPr/>
        </p:nvGraphicFramePr>
        <p:xfrm>
          <a:off x="640080" y="1960930"/>
          <a:ext cx="4389120" cy="2487168"/>
        </p:xfrm>
        <a:graphic>
          <a:graphicData uri="http://schemas.openxmlformats.org/drawingml/2006/table">
            <a:tbl>
              <a:tblPr/>
              <a:tblGrid>
                <a:gridCol w="1737360"/>
                <a:gridCol w="1325880"/>
                <a:gridCol w="1325880"/>
              </a:tblGrid>
              <a:tr h="384048">
                <a:tc>
                  <a:txBody>
                    <a:bodyPr/>
                    <a:lstStyle/>
                    <a:p>
                      <a:pPr algn="ctr">
                        <a:buNone/>
                      </a:pP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2C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現状</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2C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目標</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2C5C"/>
                    </a:solidFill>
                  </a:tcPr>
                </a:tc>
              </a:tr>
              <a:tr h="420624">
                <a:tc>
                  <a:txBody>
                    <a:bodyPr/>
                    <a:lstStyle/>
                    <a:p>
                      <a:pPr algn="ctr">
                        <a:buNone/>
                      </a:pPr>
                      <a:r>
                        <a:rPr lang="ja-JP" altLang="en-US" sz="1300" b="1" dirty="0">
                          <a:solidFill>
                            <a:srgbClr val="1F2C5C"/>
                          </a:solidFill>
                          <a:latin typeface="メイリオ" panose="020B0604030504040204" pitchFamily="50" charset="-128"/>
                          <a:ea typeface="メイリオ" panose="020B0604030504040204" pitchFamily="50" charset="-128"/>
                          <a:cs typeface="メイリオ"/>
                        </a:rPr>
                        <a:t>申込みCPA</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30,000円</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19,000円以下</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20624">
                <a:tc>
                  <a:txBody>
                    <a:bodyPr/>
                    <a:lstStyle/>
                    <a:p>
                      <a:pPr algn="ctr">
                        <a:buNone/>
                      </a:pPr>
                      <a:r>
                        <a:rPr lang="ja-JP" altLang="en-US" sz="1300" b="1" dirty="0">
                          <a:solidFill>
                            <a:srgbClr val="1F2C5C"/>
                          </a:solidFill>
                          <a:latin typeface="メイリオ" panose="020B0604030504040204" pitchFamily="50" charset="-128"/>
                          <a:ea typeface="メイリオ" panose="020B0604030504040204" pitchFamily="50" charset="-128"/>
                          <a:cs typeface="メイリオ"/>
                        </a:rPr>
                        <a:t>申込み件数</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約40件</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63件以上</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20624">
                <a:tc>
                  <a:txBody>
                    <a:bodyPr/>
                    <a:lstStyle/>
                    <a:p>
                      <a:pPr algn="ctr">
                        <a:buNone/>
                      </a:pPr>
                      <a:r>
                        <a:rPr lang="ja-JP" altLang="en-US" sz="1300" b="1" dirty="0">
                          <a:solidFill>
                            <a:srgbClr val="1F2C5C"/>
                          </a:solidFill>
                          <a:latin typeface="メイリオ" panose="020B0604030504040204" pitchFamily="50" charset="-128"/>
                          <a:ea typeface="メイリオ" panose="020B0604030504040204" pitchFamily="50" charset="-128"/>
                          <a:cs typeface="メイリオ"/>
                        </a:rPr>
                        <a:t>来場率</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80%</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80%以上</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20624">
                <a:tc>
                  <a:txBody>
                    <a:bodyPr/>
                    <a:lstStyle/>
                    <a:p>
                      <a:pPr algn="ctr">
                        <a:buNone/>
                      </a:pPr>
                      <a:r>
                        <a:rPr lang="ja-JP" altLang="en-US" sz="1300" b="1" dirty="0">
                          <a:solidFill>
                            <a:srgbClr val="1F2C5C"/>
                          </a:solidFill>
                          <a:latin typeface="メイリオ" panose="020B0604030504040204" pitchFamily="50" charset="-128"/>
                          <a:ea typeface="メイリオ" panose="020B0604030504040204" pitchFamily="50" charset="-128"/>
                          <a:cs typeface="メイリオ"/>
                        </a:rPr>
                        <a:t>実来場者数</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約32人</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300" b="0" dirty="0">
                          <a:solidFill>
                            <a:srgbClr val="333333"/>
                          </a:solidFill>
                          <a:latin typeface="メイリオ" panose="020B0604030504040204" pitchFamily="50" charset="-128"/>
                          <a:ea typeface="メイリオ" panose="020B0604030504040204" pitchFamily="50" charset="-128"/>
                          <a:cs typeface="メイリオ"/>
                        </a:rPr>
                        <a:t>50人以上</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420624">
                <a:tc>
                  <a:txBody>
                    <a:bodyPr/>
                    <a:lstStyle/>
                    <a:p>
                      <a:pPr algn="ctr">
                        <a:buNone/>
                      </a:pPr>
                      <a:r>
                        <a:rPr lang="ja-JP" altLang="en-US" sz="1300" b="1" dirty="0">
                          <a:solidFill>
                            <a:srgbClr val="1F2C5C"/>
                          </a:solidFill>
                          <a:latin typeface="メイリオ" panose="020B0604030504040204" pitchFamily="50" charset="-128"/>
                          <a:ea typeface="メイリオ" panose="020B0604030504040204" pitchFamily="50" charset="-128"/>
                          <a:cs typeface="メイリオ"/>
                        </a:rPr>
                        <a:t>来場者獲得単価</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300" b="1" dirty="0">
                          <a:solidFill>
                            <a:srgbClr val="1F2C5C"/>
                          </a:solidFill>
                          <a:latin typeface="メイリオ" panose="020B0604030504040204" pitchFamily="50" charset="-128"/>
                          <a:ea typeface="メイリオ" panose="020B0604030504040204" pitchFamily="50" charset="-128"/>
                          <a:cs typeface="メイリオ"/>
                        </a:rPr>
                        <a:t>約37,500円</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300" b="1" dirty="0">
                          <a:solidFill>
                            <a:srgbClr val="1F2C5C"/>
                          </a:solidFill>
                          <a:latin typeface="メイリオ" panose="020B0604030504040204" pitchFamily="50" charset="-128"/>
                          <a:ea typeface="メイリオ" panose="020B0604030504040204" pitchFamily="50" charset="-128"/>
                          <a:cs typeface="メイリオ"/>
                        </a:rPr>
                        <a:t>24,000円以下</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注記"/>
          <p:cNvSpPr/>
          <p:nvPr/>
        </p:nvSpPr>
        <p:spPr>
          <a:xfrm>
            <a:off x="640080" y="4493818"/>
            <a:ext cx="8622792" cy="1828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※1開催あたり（広告予算120万円）</a:t>
            </a:r>
            <a:endParaRPr lang="ja-JP" altLang="en-US" sz="1200" dirty="0">
              <a:latin typeface="メイリオ"/>
              <a:ea typeface="メイリオ"/>
              <a:cs typeface="メイリオ"/>
            </a:endParaRPr>
          </a:p>
        </p:txBody>
      </p:sp>
      <p:sp>
        <p:nvSpPr>
          <p:cNvPr id="8" name="流れ1"/>
          <p:cNvSpPr/>
          <p:nvPr/>
        </p:nvSpPr>
        <p:spPr>
          <a:xfrm>
            <a:off x="5486400" y="1960930"/>
            <a:ext cx="3776472" cy="457200"/>
          </a:xfrm>
          <a:prstGeom prst="rect">
            <a:avLst/>
          </a:prstGeom>
          <a:solidFill>
            <a:srgbClr val="1F2C5C"/>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cs typeface="メイリオ"/>
              </a:rPr>
              <a:t>WEBで来場予約</a:t>
            </a:r>
            <a:endParaRPr lang="ja-JP" altLang="en-US" sz="1200" dirty="0">
              <a:latin typeface="メイリオ"/>
              <a:ea typeface="メイリオ"/>
              <a:cs typeface="メイリオ"/>
            </a:endParaRPr>
          </a:p>
        </p:txBody>
      </p:sp>
      <p:sp>
        <p:nvSpPr>
          <p:cNvPr id="9" name="矢印"/>
          <p:cNvSpPr/>
          <p:nvPr/>
        </p:nvSpPr>
        <p:spPr>
          <a:xfrm>
            <a:off x="5486400" y="2418130"/>
            <a:ext cx="3776472" cy="274320"/>
          </a:xfrm>
          <a:prstGeom prst="rect">
            <a:avLst/>
          </a:prstGeom>
          <a:noFill/>
          <a:ln>
            <a:noFill/>
          </a:ln>
        </p:spPr>
        <p:txBody>
          <a:bodyPr wrap="square" lIns="0" tIns="0" rIns="0" bIns="0" rtlCol="0" anchor="ctr">
            <a:noAutofit/>
          </a:bodyPr>
          <a:lstStyle/>
          <a:p>
            <a:pPr algn="ctr">
              <a:buNone/>
            </a:pPr>
            <a:r>
              <a:rPr lang="ja-JP" altLang="en-US" sz="1200" b="0" dirty="0">
                <a:solidFill>
                  <a:srgbClr val="1F2C5C"/>
                </a:solidFill>
                <a:latin typeface="メイリオ" panose="020B0604030504040204" pitchFamily="50" charset="-128"/>
                <a:ea typeface="メイリオ" panose="020B0604030504040204" pitchFamily="50" charset="-128"/>
                <a:cs typeface="メイリオ"/>
              </a:rPr>
              <a:t>▼</a:t>
            </a:r>
            <a:endParaRPr lang="ja-JP" altLang="en-US" sz="1200" dirty="0">
              <a:latin typeface="メイリオ"/>
              <a:ea typeface="メイリオ"/>
              <a:cs typeface="メイリオ"/>
            </a:endParaRPr>
          </a:p>
        </p:txBody>
      </p:sp>
      <p:sp>
        <p:nvSpPr>
          <p:cNvPr id="10" name="流れ2"/>
          <p:cNvSpPr/>
          <p:nvPr/>
        </p:nvSpPr>
        <p:spPr>
          <a:xfrm>
            <a:off x="5486400" y="2692450"/>
            <a:ext cx="3776472" cy="457200"/>
          </a:xfrm>
          <a:prstGeom prst="rect">
            <a:avLst/>
          </a:prstGeom>
          <a:solidFill>
            <a:srgbClr val="DCE6F2"/>
          </a:solidFill>
          <a:ln>
            <a:noFill/>
          </a:ln>
        </p:spPr>
        <p:txBody>
          <a:bodyPr wrap="square" lIns="73152" tIns="36576" rIns="73152" bIns="36576" rtlCol="0" anchor="ctr">
            <a:noAutofit/>
          </a:bodyPr>
          <a:lstStyle/>
          <a:p>
            <a:pPr algn="ctr">
              <a:buNone/>
            </a:pPr>
            <a:r>
              <a:rPr lang="ja-JP" altLang="en-US" sz="1400" b="1" dirty="0">
                <a:solidFill>
                  <a:srgbClr val="1F2C5C"/>
                </a:solidFill>
                <a:latin typeface="メイリオ" panose="020B0604030504040204" pitchFamily="50" charset="-128"/>
                <a:ea typeface="メイリオ" panose="020B0604030504040204" pitchFamily="50" charset="-128"/>
                <a:cs typeface="メイリオ"/>
              </a:rPr>
              <a:t>予約確認メール</a:t>
            </a:r>
            <a:endParaRPr lang="ja-JP" altLang="en-US" sz="1200" dirty="0">
              <a:latin typeface="メイリオ"/>
              <a:ea typeface="メイリオ"/>
              <a:cs typeface="メイリオ"/>
            </a:endParaRPr>
          </a:p>
        </p:txBody>
      </p:sp>
      <p:sp>
        <p:nvSpPr>
          <p:cNvPr id="11" name="切れる"/>
          <p:cNvSpPr/>
          <p:nvPr/>
        </p:nvSpPr>
        <p:spPr>
          <a:xfrm>
            <a:off x="5486400" y="3195369"/>
            <a:ext cx="3776472" cy="777240"/>
          </a:xfrm>
          <a:prstGeom prst="rect">
            <a:avLst/>
          </a:prstGeom>
          <a:noFill/>
          <a:ln w="9525">
            <a:solidFill>
              <a:srgbClr val="C00000"/>
            </a:solidFill>
          </a:ln>
        </p:spPr>
        <p:txBody>
          <a:bodyPr wrap="square" lIns="73152" tIns="27432" rIns="73152" bIns="27432" rtlCol="0" anchor="ctr">
            <a:noAutofit/>
          </a:bodyPr>
          <a:lstStyle/>
          <a:p>
            <a:pPr algn="ctr">
              <a:lnSpc>
                <a:spcPct val="120000"/>
              </a:lnSpc>
              <a:buNone/>
            </a:pPr>
            <a:r>
              <a:rPr lang="ja-JP" altLang="en-US" sz="1300" b="1" dirty="0">
                <a:solidFill>
                  <a:srgbClr val="C00000"/>
                </a:solidFill>
                <a:latin typeface="メイリオ" panose="020B0604030504040204" pitchFamily="50" charset="-128"/>
                <a:ea typeface="メイリオ" panose="020B0604030504040204" pitchFamily="50" charset="-128"/>
                <a:cs typeface="メイリオ"/>
              </a:rPr>
              <a:t>予約から当日まで、LINEでつながっていない</a:t>
            </a:r>
            <a:endParaRPr lang="ja-JP" altLang="en-US" sz="1200" dirty="0">
              <a:latin typeface="メイリオ"/>
              <a:ea typeface="メイリオ"/>
              <a:cs typeface="メイリオ"/>
            </a:endParaRPr>
          </a:p>
          <a:p>
            <a:pPr algn="ctr">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cs typeface="メイリオ"/>
              </a:rPr>
              <a:t>キャンセル 20%</a:t>
            </a:r>
            <a:endParaRPr lang="ja-JP" altLang="en-US" sz="1200" dirty="0">
              <a:latin typeface="メイリオ"/>
              <a:ea typeface="メイリオ"/>
              <a:cs typeface="メイリオ"/>
            </a:endParaRPr>
          </a:p>
        </p:txBody>
      </p:sp>
      <p:sp>
        <p:nvSpPr>
          <p:cNvPr id="12" name="流れ3"/>
          <p:cNvSpPr/>
          <p:nvPr/>
        </p:nvSpPr>
        <p:spPr>
          <a:xfrm>
            <a:off x="5486400" y="4018329"/>
            <a:ext cx="3776472" cy="457200"/>
          </a:xfrm>
          <a:prstGeom prst="rect">
            <a:avLst/>
          </a:prstGeom>
          <a:solidFill>
            <a:srgbClr val="DCE6F2"/>
          </a:solidFill>
          <a:ln>
            <a:noFill/>
          </a:ln>
        </p:spPr>
        <p:txBody>
          <a:bodyPr wrap="square" lIns="73152" tIns="36576" rIns="73152" bIns="36576" rtlCol="0" anchor="ctr">
            <a:noAutofit/>
          </a:bodyPr>
          <a:lstStyle/>
          <a:p>
            <a:pPr algn="ctr">
              <a:buNone/>
            </a:pPr>
            <a:r>
              <a:rPr lang="ja-JP" altLang="en-US" sz="1400" b="1" dirty="0">
                <a:solidFill>
                  <a:srgbClr val="1F2C5C"/>
                </a:solidFill>
                <a:latin typeface="メイリオ" panose="020B0604030504040204" pitchFamily="50" charset="-128"/>
                <a:ea typeface="メイリオ" panose="020B0604030504040204" pitchFamily="50" charset="-128"/>
                <a:cs typeface="メイリオ"/>
              </a:rPr>
              <a:t>当日の受付でLINE登録</a:t>
            </a:r>
            <a:endParaRPr lang="ja-JP" altLang="en-US" sz="1200" dirty="0">
              <a:latin typeface="メイリオ"/>
              <a:ea typeface="メイリオ"/>
              <a:cs typeface="メイリオ"/>
            </a:endParaRPr>
          </a:p>
        </p:txBody>
      </p:sp>
      <p:sp>
        <p:nvSpPr>
          <p:cNvPr id="13" name="注記"/>
          <p:cNvSpPr/>
          <p:nvPr/>
        </p:nvSpPr>
        <p:spPr>
          <a:xfrm>
            <a:off x="5486400" y="4493818"/>
            <a:ext cx="3776472" cy="1828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※くふうイエタテフェアのサイトより（2026年10月19日確認）</a:t>
            </a:r>
            <a:endParaRPr lang="ja-JP" altLang="en-US" sz="1200" dirty="0">
              <a:latin typeface="メイリオ"/>
              <a:ea typeface="メイリオ"/>
              <a:cs typeface="メイリオ"/>
            </a:endParaRPr>
          </a:p>
        </p:txBody>
      </p:sp>
      <p:sp>
        <p:nvSpPr>
          <p:cNvPr id="14" name="示唆"/>
          <p:cNvSpPr/>
          <p:nvPr/>
        </p:nvSpPr>
        <p:spPr>
          <a:xfrm>
            <a:off x="640080" y="4932730"/>
            <a:ext cx="8622792" cy="502920"/>
          </a:xfrm>
          <a:prstGeom prst="rect">
            <a:avLst/>
          </a:prstGeom>
          <a:solidFill>
            <a:srgbClr val="F2F2F2"/>
          </a:solidFill>
          <a:ln>
            <a:noFill/>
          </a:ln>
        </p:spPr>
        <p:txBody>
          <a:bodyPr wrap="square" lIns="73152" tIns="36576" rIns="73152" bIns="36576" rtlCol="0" anchor="ctr">
            <a:noAutofit/>
          </a:bodyPr>
          <a:lstStyle/>
          <a:p>
            <a:pPr algn="ctr">
              <a:buNone/>
            </a:pPr>
            <a:r>
              <a:rPr lang="ja-JP" altLang="en-US" sz="1500" b="1" dirty="0">
                <a:solidFill>
                  <a:srgbClr val="1F2C5C"/>
                </a:solidFill>
                <a:latin typeface="メイリオ" panose="020B0604030504040204" pitchFamily="50" charset="-128"/>
                <a:ea typeface="メイリオ" panose="020B0604030504040204" pitchFamily="50" charset="-128"/>
                <a:cs typeface="メイリオ"/>
              </a:rPr>
              <a:t>予約の直後にLINEでつながれば、当日までの案内で来場率を上げられる</a:t>
            </a:r>
            <a:endParaRPr lang="ja-JP" altLang="en-US" sz="1200" dirty="0">
              <a:latin typeface="メイリオ"/>
              <a:ea typeface="メイリオ"/>
              <a:cs typeface="メイリオ"/>
            </a:endParaRP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広告と一緒にサンクスLINEを実施する理由</a:t>
            </a:r>
          </a:p>
        </p:txBody>
      </p:sp>
      <p:sp>
        <p:nvSpPr>
          <p:cNvPr id="4" name="Rounded Rectangle 3"/>
          <p:cNvSpPr/>
          <p:nvPr/>
        </p:nvSpPr>
        <p:spPr>
          <a:xfrm>
            <a:off x="643500" y="792000"/>
            <a:ext cx="4212000" cy="3564000"/>
          </a:xfrm>
          <a:prstGeom prst="roundRect">
            <a:avLst>
              <a:gd name="adj" fmla="val 4000"/>
            </a:avLst>
          </a:prstGeom>
          <a:solidFill>
            <a:srgbClr val="F2F5FB"/>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5" name="Rounded Rectangle 4"/>
          <p:cNvSpPr/>
          <p:nvPr/>
        </p:nvSpPr>
        <p:spPr>
          <a:xfrm>
            <a:off x="877500" y="990000"/>
            <a:ext cx="1053000" cy="324000"/>
          </a:xfrm>
          <a:prstGeom prst="roundRect">
            <a:avLst>
              <a:gd name="adj"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FFFFFF"/>
                </a:solidFill>
                <a:latin typeface="メイリオ"/>
                <a:ea typeface="メイリオ"/>
                <a:cs typeface="メイリオ"/>
              </a:rPr>
              <a:t>CV獲得まで</a:t>
            </a:r>
          </a:p>
        </p:txBody>
      </p:sp>
      <p:sp>
        <p:nvSpPr>
          <p:cNvPr id="6" name="TextBox 5"/>
          <p:cNvSpPr txBox="1"/>
          <p:nvPr/>
        </p:nvSpPr>
        <p:spPr>
          <a:xfrm>
            <a:off x="1989000" y="864000"/>
            <a:ext cx="2749500" cy="576000"/>
          </a:xfrm>
          <a:prstGeom prst="rect">
            <a:avLst/>
          </a:prstGeom>
          <a:noFill/>
        </p:spPr>
        <p:txBody>
          <a:bodyPr wrap="square" lIns="29250" tIns="10800" rIns="29250" bIns="10800" anchor="ctr">
            <a:spAutoFit/>
          </a:bodyPr>
          <a:lstStyle/>
          <a:p>
            <a:pPr algn="l">
              <a:lnSpc>
                <a:spcPct val="105000"/>
              </a:lnSpc>
              <a:spcAft>
                <a:spcPts val="200"/>
              </a:spcAft>
            </a:pPr>
            <a:r>
              <a:rPr sz="1200" b="1">
                <a:solidFill>
                  <a:srgbClr val="1F285A"/>
                </a:solidFill>
                <a:latin typeface="メイリオ"/>
                <a:ea typeface="メイリオ"/>
                <a:cs typeface="メイリオ"/>
              </a:rPr>
              <a:t>施策全体の </a:t>
            </a:r>
            <a:r>
              <a:rPr sz="2400" b="1">
                <a:solidFill>
                  <a:srgbClr val="1F285A"/>
                </a:solidFill>
                <a:latin typeface="メイリオ"/>
                <a:ea typeface="メイリオ"/>
                <a:cs typeface="メイリオ"/>
              </a:rPr>
              <a:t>CPA</a:t>
            </a:r>
            <a:r>
              <a:rPr sz="1500" b="1">
                <a:solidFill>
                  <a:srgbClr val="1F285A"/>
                </a:solidFill>
                <a:latin typeface="メイリオ"/>
                <a:ea typeface="メイリオ"/>
                <a:cs typeface="メイリオ"/>
              </a:rPr>
              <a:t> 改善</a:t>
            </a:r>
          </a:p>
        </p:txBody>
      </p:sp>
      <p:sp>
        <p:nvSpPr>
          <p:cNvPr id="7" name="Rectangle 6"/>
          <p:cNvSpPr/>
          <p:nvPr/>
        </p:nvSpPr>
        <p:spPr>
          <a:xfrm>
            <a:off x="1023750" y="1548000"/>
            <a:ext cx="3451500" cy="413999"/>
          </a:xfrm>
          <a:prstGeom prst="rect">
            <a:avLst/>
          </a:prstGeom>
          <a:solidFill>
            <a:srgbClr val="DDE3F2"/>
          </a:solidFill>
          <a:ln>
            <a:noFill/>
          </a:ln>
          <a:effectLst/>
        </p:spPr>
        <p:style>
          <a:lnRef idx="1">
            <a:schemeClr val="accent1"/>
          </a:lnRef>
          <a:fillRef idx="3">
            <a:schemeClr val="accent1"/>
          </a:fillRef>
          <a:effectRef idx="0">
            <a:schemeClr val="accent1"/>
          </a:effectRef>
          <a:fontRef idx="minor">
            <a:schemeClr val="lt1"/>
          </a:fontRef>
        </p:style>
        <p:txBody>
          <a:bodyPr wrap="square" lIns="29250" tIns="0" rIns="29250" bIns="0" rtlCol="0" anchor="ctr"/>
          <a:lstStyle/>
          <a:p>
            <a:pPr algn="ctr">
              <a:lnSpc>
                <a:spcPct val="110000"/>
              </a:lnSpc>
              <a:spcAft>
                <a:spcPts val="0"/>
              </a:spcAft>
            </a:pPr>
            <a:r>
              <a:rPr sz="1050" b="1">
                <a:solidFill>
                  <a:srgbClr val="333333"/>
                </a:solidFill>
                <a:latin typeface="メイリオ"/>
                <a:ea typeface="メイリオ"/>
                <a:cs typeface="メイリオ"/>
              </a:rPr>
              <a:t>広告</a:t>
            </a:r>
          </a:p>
        </p:txBody>
      </p:sp>
      <p:sp>
        <p:nvSpPr>
          <p:cNvPr id="8" name="Isosceles Triangle 7"/>
          <p:cNvSpPr/>
          <p:nvPr/>
        </p:nvSpPr>
        <p:spPr>
          <a:xfrm rot="10800000">
            <a:off x="2685150" y="1998000"/>
            <a:ext cx="128700" cy="10800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lIns="74295" rIns="74295"/>
          <a:lstStyle/>
          <a:p>
            <a:pPr algn="ctr"/>
            <a:endParaRPr>
              <a:latin typeface="メイリオ"/>
              <a:ea typeface="メイリオ"/>
              <a:cs typeface="メイリオ"/>
            </a:endParaRPr>
          </a:p>
        </p:txBody>
      </p:sp>
      <p:sp>
        <p:nvSpPr>
          <p:cNvPr id="9" name="Rectangle 8"/>
          <p:cNvSpPr/>
          <p:nvPr/>
        </p:nvSpPr>
        <p:spPr>
          <a:xfrm>
            <a:off x="1023750" y="2142000"/>
            <a:ext cx="3451500" cy="413999"/>
          </a:xfrm>
          <a:prstGeom prst="rect">
            <a:avLst/>
          </a:prstGeom>
          <a:solidFill>
            <a:srgbClr val="DDE3F2"/>
          </a:solidFill>
          <a:ln>
            <a:noFill/>
          </a:ln>
          <a:effectLst/>
        </p:spPr>
        <p:style>
          <a:lnRef idx="1">
            <a:schemeClr val="accent1"/>
          </a:lnRef>
          <a:fillRef idx="3">
            <a:schemeClr val="accent1"/>
          </a:fillRef>
          <a:effectRef idx="0">
            <a:schemeClr val="accent1"/>
          </a:effectRef>
          <a:fontRef idx="minor">
            <a:schemeClr val="lt1"/>
          </a:fontRef>
        </p:style>
        <p:txBody>
          <a:bodyPr wrap="square" lIns="29250" tIns="0" rIns="29250" bIns="0" rtlCol="0" anchor="ctr"/>
          <a:lstStyle/>
          <a:p>
            <a:pPr algn="ctr">
              <a:lnSpc>
                <a:spcPct val="110000"/>
              </a:lnSpc>
              <a:spcAft>
                <a:spcPts val="0"/>
              </a:spcAft>
            </a:pPr>
            <a:r>
              <a:rPr sz="1050" b="1">
                <a:solidFill>
                  <a:srgbClr val="333333"/>
                </a:solidFill>
                <a:latin typeface="メイリオ"/>
                <a:ea typeface="メイリオ"/>
                <a:cs typeface="メイリオ"/>
              </a:rPr>
              <a:t>LP</a:t>
            </a:r>
          </a:p>
        </p:txBody>
      </p:sp>
      <p:sp>
        <p:nvSpPr>
          <p:cNvPr id="10" name="Isosceles Triangle 9"/>
          <p:cNvSpPr/>
          <p:nvPr/>
        </p:nvSpPr>
        <p:spPr>
          <a:xfrm rot="10800000">
            <a:off x="2685150" y="2592000"/>
            <a:ext cx="128700" cy="10800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lIns="74295" rIns="74295"/>
          <a:lstStyle/>
          <a:p>
            <a:pPr algn="ctr"/>
            <a:endParaRPr>
              <a:latin typeface="メイリオ"/>
              <a:ea typeface="メイリオ"/>
              <a:cs typeface="メイリオ"/>
            </a:endParaRPr>
          </a:p>
        </p:txBody>
      </p:sp>
      <p:sp>
        <p:nvSpPr>
          <p:cNvPr id="11" name="Rectangle 10"/>
          <p:cNvSpPr/>
          <p:nvPr/>
        </p:nvSpPr>
        <p:spPr>
          <a:xfrm>
            <a:off x="1023750" y="2736000"/>
            <a:ext cx="3451500" cy="413999"/>
          </a:xfrm>
          <a:prstGeom prst="rect">
            <a:avLst/>
          </a:prstGeom>
          <a:solidFill>
            <a:srgbClr val="DDE3F2"/>
          </a:solidFill>
          <a:ln>
            <a:noFill/>
          </a:ln>
          <a:effectLst/>
        </p:spPr>
        <p:style>
          <a:lnRef idx="1">
            <a:schemeClr val="accent1"/>
          </a:lnRef>
          <a:fillRef idx="3">
            <a:schemeClr val="accent1"/>
          </a:fillRef>
          <a:effectRef idx="0">
            <a:schemeClr val="accent1"/>
          </a:effectRef>
          <a:fontRef idx="minor">
            <a:schemeClr val="lt1"/>
          </a:fontRef>
        </p:style>
        <p:txBody>
          <a:bodyPr wrap="square" lIns="29250" tIns="0" rIns="29250" bIns="0" rtlCol="0" anchor="ctr"/>
          <a:lstStyle/>
          <a:p>
            <a:pPr algn="ctr">
              <a:lnSpc>
                <a:spcPct val="110000"/>
              </a:lnSpc>
              <a:spcAft>
                <a:spcPts val="0"/>
              </a:spcAft>
            </a:pPr>
            <a:r>
              <a:rPr sz="1050" b="1">
                <a:solidFill>
                  <a:srgbClr val="333333"/>
                </a:solidFill>
                <a:latin typeface="メイリオ"/>
                <a:ea typeface="メイリオ"/>
                <a:cs typeface="メイリオ"/>
              </a:rPr>
              <a:t>離脱防止 × 成果報酬施策</a:t>
            </a:r>
          </a:p>
        </p:txBody>
      </p:sp>
      <p:sp>
        <p:nvSpPr>
          <p:cNvPr id="12" name="Isosceles Triangle 11"/>
          <p:cNvSpPr/>
          <p:nvPr/>
        </p:nvSpPr>
        <p:spPr>
          <a:xfrm rot="10800000">
            <a:off x="2685150" y="3186000"/>
            <a:ext cx="128700" cy="108000"/>
          </a:xfrm>
          <a:prstGeom prst="triangle">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lIns="74295" rIns="74295"/>
          <a:lstStyle/>
          <a:p>
            <a:pPr algn="ctr"/>
            <a:endParaRPr>
              <a:latin typeface="メイリオ"/>
              <a:ea typeface="メイリオ"/>
              <a:cs typeface="メイリオ"/>
            </a:endParaRPr>
          </a:p>
        </p:txBody>
      </p:sp>
      <p:sp>
        <p:nvSpPr>
          <p:cNvPr id="13" name="Rectangle 12"/>
          <p:cNvSpPr/>
          <p:nvPr/>
        </p:nvSpPr>
        <p:spPr>
          <a:xfrm>
            <a:off x="1023750" y="3330000"/>
            <a:ext cx="3451500" cy="413999"/>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29250" tIns="0" rIns="29250" bIns="0" rtlCol="0" anchor="ctr"/>
          <a:lstStyle/>
          <a:p>
            <a:pPr algn="ctr">
              <a:lnSpc>
                <a:spcPct val="110000"/>
              </a:lnSpc>
              <a:spcAft>
                <a:spcPts val="0"/>
              </a:spcAft>
            </a:pPr>
            <a:r>
              <a:rPr sz="1050" b="1">
                <a:solidFill>
                  <a:srgbClr val="FFFFFF"/>
                </a:solidFill>
                <a:latin typeface="メイリオ"/>
                <a:ea typeface="メイリオ"/>
                <a:cs typeface="メイリオ"/>
              </a:rPr>
              <a:t>CV</a:t>
            </a:r>
          </a:p>
        </p:txBody>
      </p:sp>
      <p:sp>
        <p:nvSpPr>
          <p:cNvPr id="14" name="TextBox 13"/>
          <p:cNvSpPr txBox="1"/>
          <p:nvPr/>
        </p:nvSpPr>
        <p:spPr>
          <a:xfrm>
            <a:off x="819000" y="3888000"/>
            <a:ext cx="3861000" cy="503999"/>
          </a:xfrm>
          <a:prstGeom prst="rect">
            <a:avLst/>
          </a:prstGeom>
          <a:noFill/>
        </p:spPr>
        <p:txBody>
          <a:bodyPr wrap="square" lIns="29250" tIns="18000" rIns="29250" bIns="18000" anchor="ctr">
            <a:spAutoFit/>
          </a:bodyPr>
          <a:lstStyle/>
          <a:p>
            <a:pPr algn="ctr">
              <a:lnSpc>
                <a:spcPct val="110000"/>
              </a:lnSpc>
              <a:spcAft>
                <a:spcPts val="0"/>
              </a:spcAft>
            </a:pPr>
            <a:r>
              <a:rPr sz="850" b="0">
                <a:solidFill>
                  <a:srgbClr val="333333"/>
                </a:solidFill>
                <a:latin typeface="メイリオ"/>
                <a:ea typeface="メイリオ"/>
                <a:cs typeface="メイリオ"/>
              </a:rPr>
              <a:t>CVの取りこぼしを減らし、獲得チャネルを増やすことで</a:t>
            </a:r>
          </a:p>
          <a:p>
            <a:pPr algn="ctr">
              <a:lnSpc>
                <a:spcPct val="110000"/>
              </a:lnSpc>
              <a:spcAft>
                <a:spcPts val="0"/>
              </a:spcAft>
            </a:pPr>
            <a:r>
              <a:rPr sz="850" b="0">
                <a:solidFill>
                  <a:srgbClr val="333333"/>
                </a:solidFill>
                <a:latin typeface="メイリオ"/>
                <a:ea typeface="メイリオ"/>
                <a:cs typeface="メイリオ"/>
              </a:rPr>
              <a:t>施策全体のCPAを改善</a:t>
            </a:r>
          </a:p>
        </p:txBody>
      </p:sp>
      <p:sp>
        <p:nvSpPr>
          <p:cNvPr id="15" name="Rounded Rectangle 14"/>
          <p:cNvSpPr/>
          <p:nvPr/>
        </p:nvSpPr>
        <p:spPr>
          <a:xfrm>
            <a:off x="5060250" y="792000"/>
            <a:ext cx="4212000" cy="3564000"/>
          </a:xfrm>
          <a:prstGeom prst="roundRect">
            <a:avLst>
              <a:gd name="adj" fmla="val 4000"/>
            </a:avLst>
          </a:prstGeom>
          <a:solidFill>
            <a:srgbClr val="EEF7F1"/>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16" name="Rounded Rectangle 15"/>
          <p:cNvSpPr/>
          <p:nvPr/>
        </p:nvSpPr>
        <p:spPr>
          <a:xfrm>
            <a:off x="5294250" y="990000"/>
            <a:ext cx="1053000" cy="324000"/>
          </a:xfrm>
          <a:prstGeom prst="roundRect">
            <a:avLst>
              <a:gd name="adj" fmla="val 50000"/>
            </a:avLst>
          </a:prstGeom>
          <a:solidFill>
            <a:srgbClr val="0E8A3F"/>
          </a:solidFill>
          <a:ln>
            <a:no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FFFFFF"/>
                </a:solidFill>
                <a:latin typeface="メイリオ"/>
                <a:ea typeface="メイリオ"/>
                <a:cs typeface="メイリオ"/>
              </a:rPr>
              <a:t>CV獲得後</a:t>
            </a:r>
          </a:p>
        </p:txBody>
      </p:sp>
      <p:sp>
        <p:nvSpPr>
          <p:cNvPr id="17" name="TextBox 16"/>
          <p:cNvSpPr txBox="1"/>
          <p:nvPr/>
        </p:nvSpPr>
        <p:spPr>
          <a:xfrm>
            <a:off x="6405749" y="864000"/>
            <a:ext cx="2749500" cy="576000"/>
          </a:xfrm>
          <a:prstGeom prst="rect">
            <a:avLst/>
          </a:prstGeom>
          <a:noFill/>
        </p:spPr>
        <p:txBody>
          <a:bodyPr wrap="square" lIns="29250" tIns="10800" rIns="29250" bIns="10800" anchor="ctr">
            <a:spAutoFit/>
          </a:bodyPr>
          <a:lstStyle/>
          <a:p>
            <a:pPr algn="l">
              <a:lnSpc>
                <a:spcPct val="105000"/>
              </a:lnSpc>
              <a:spcAft>
                <a:spcPts val="200"/>
              </a:spcAft>
            </a:pPr>
            <a:r>
              <a:rPr sz="2400" b="1">
                <a:solidFill>
                  <a:srgbClr val="0E8A3F"/>
                </a:solidFill>
                <a:latin typeface="メイリオ"/>
                <a:ea typeface="メイリオ"/>
                <a:cs typeface="メイリオ"/>
              </a:rPr>
              <a:t>CPO</a:t>
            </a:r>
            <a:r>
              <a:rPr sz="1500" b="1">
                <a:solidFill>
                  <a:srgbClr val="0E8A3F"/>
                </a:solidFill>
                <a:latin typeface="メイリオ"/>
                <a:ea typeface="メイリオ"/>
                <a:cs typeface="メイリオ"/>
              </a:rPr>
              <a:t> の改善</a:t>
            </a:r>
          </a:p>
        </p:txBody>
      </p:sp>
      <p:sp>
        <p:nvSpPr>
          <p:cNvPr id="18" name="Rectangle 17"/>
          <p:cNvSpPr/>
          <p:nvPr/>
        </p:nvSpPr>
        <p:spPr>
          <a:xfrm>
            <a:off x="5440500" y="1548000"/>
            <a:ext cx="3451500" cy="413999"/>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wrap="square" lIns="29250" tIns="0" rIns="29250" bIns="0" rtlCol="0" anchor="ctr"/>
          <a:lstStyle/>
          <a:p>
            <a:pPr algn="ctr">
              <a:lnSpc>
                <a:spcPct val="110000"/>
              </a:lnSpc>
              <a:spcAft>
                <a:spcPts val="0"/>
              </a:spcAft>
            </a:pPr>
            <a:r>
              <a:rPr sz="1050" b="1">
                <a:solidFill>
                  <a:srgbClr val="333333"/>
                </a:solidFill>
                <a:latin typeface="メイリオ"/>
                <a:ea typeface="メイリオ"/>
                <a:cs typeface="メイリオ"/>
              </a:rPr>
              <a:t>CV</a:t>
            </a:r>
          </a:p>
        </p:txBody>
      </p:sp>
      <p:sp>
        <p:nvSpPr>
          <p:cNvPr id="19" name="Isosceles Triangle 18"/>
          <p:cNvSpPr/>
          <p:nvPr/>
        </p:nvSpPr>
        <p:spPr>
          <a:xfrm rot="10800000">
            <a:off x="7101900" y="1998000"/>
            <a:ext cx="128700" cy="108000"/>
          </a:xfrm>
          <a:prstGeom prst="triangle">
            <a:avLst/>
          </a:prstGeom>
          <a:solidFill>
            <a:srgbClr val="0E8A3F"/>
          </a:solidFill>
          <a:ln>
            <a:noFill/>
          </a:ln>
          <a:effectLst/>
        </p:spPr>
        <p:style>
          <a:lnRef idx="1">
            <a:schemeClr val="accent1"/>
          </a:lnRef>
          <a:fillRef idx="3">
            <a:schemeClr val="accent1"/>
          </a:fillRef>
          <a:effectRef idx="0">
            <a:schemeClr val="accent1"/>
          </a:effectRef>
          <a:fontRef idx="minor">
            <a:schemeClr val="lt1"/>
          </a:fontRef>
        </p:style>
        <p:txBody>
          <a:bodyPr rtlCol="0" anchor="ctr" lIns="74295" rIns="74295"/>
          <a:lstStyle/>
          <a:p>
            <a:pPr algn="ctr"/>
            <a:endParaRPr>
              <a:latin typeface="メイリオ"/>
              <a:ea typeface="メイリオ"/>
              <a:cs typeface="メイリオ"/>
            </a:endParaRPr>
          </a:p>
        </p:txBody>
      </p:sp>
      <p:sp>
        <p:nvSpPr>
          <p:cNvPr id="20" name="Rectangle 19"/>
          <p:cNvSpPr/>
          <p:nvPr/>
        </p:nvSpPr>
        <p:spPr>
          <a:xfrm>
            <a:off x="5440500" y="2142000"/>
            <a:ext cx="3451500" cy="413999"/>
          </a:xfrm>
          <a:prstGeom prst="rect">
            <a:avLst/>
          </a:prstGeom>
          <a:solidFill>
            <a:srgbClr val="E8F8EE"/>
          </a:solidFill>
          <a:ln>
            <a:noFill/>
          </a:ln>
          <a:effectLst/>
        </p:spPr>
        <p:style>
          <a:lnRef idx="1">
            <a:schemeClr val="accent1"/>
          </a:lnRef>
          <a:fillRef idx="3">
            <a:schemeClr val="accent1"/>
          </a:fillRef>
          <a:effectRef idx="0">
            <a:schemeClr val="accent1"/>
          </a:effectRef>
          <a:fontRef idx="minor">
            <a:schemeClr val="lt1"/>
          </a:fontRef>
        </p:style>
        <p:txBody>
          <a:bodyPr wrap="square" lIns="29250" tIns="0" rIns="29250" bIns="0" rtlCol="0" anchor="ctr"/>
          <a:lstStyle/>
          <a:p>
            <a:pPr algn="ctr">
              <a:lnSpc>
                <a:spcPct val="110000"/>
              </a:lnSpc>
              <a:spcAft>
                <a:spcPts val="0"/>
              </a:spcAft>
            </a:pPr>
            <a:r>
              <a:rPr sz="1050" b="1">
                <a:solidFill>
                  <a:srgbClr val="0B7A3B"/>
                </a:solidFill>
                <a:latin typeface="メイリオ"/>
                <a:ea typeface="メイリオ"/>
                <a:cs typeface="メイリオ"/>
              </a:rPr>
              <a:t>サンクスLINE誘導</a:t>
            </a:r>
          </a:p>
        </p:txBody>
      </p:sp>
      <p:sp>
        <p:nvSpPr>
          <p:cNvPr id="21" name="Isosceles Triangle 20"/>
          <p:cNvSpPr/>
          <p:nvPr/>
        </p:nvSpPr>
        <p:spPr>
          <a:xfrm rot="10800000">
            <a:off x="7101900" y="2592000"/>
            <a:ext cx="128700" cy="108000"/>
          </a:xfrm>
          <a:prstGeom prst="triangle">
            <a:avLst/>
          </a:prstGeom>
          <a:solidFill>
            <a:srgbClr val="0B7A3B"/>
          </a:solidFill>
          <a:ln>
            <a:noFill/>
          </a:ln>
          <a:effectLst/>
        </p:spPr>
        <p:style>
          <a:lnRef idx="1">
            <a:schemeClr val="accent1"/>
          </a:lnRef>
          <a:fillRef idx="3">
            <a:schemeClr val="accent1"/>
          </a:fillRef>
          <a:effectRef idx="0">
            <a:schemeClr val="accent1"/>
          </a:effectRef>
          <a:fontRef idx="minor">
            <a:schemeClr val="lt1"/>
          </a:fontRef>
        </p:style>
        <p:txBody>
          <a:bodyPr rtlCol="0" anchor="ctr" lIns="74295" rIns="74295"/>
          <a:lstStyle/>
          <a:p>
            <a:pPr algn="ctr"/>
            <a:endParaRPr>
              <a:latin typeface="メイリオ"/>
              <a:ea typeface="メイリオ"/>
              <a:cs typeface="メイリオ"/>
            </a:endParaRPr>
          </a:p>
        </p:txBody>
      </p:sp>
      <p:sp>
        <p:nvSpPr>
          <p:cNvPr id="22" name="Rectangle 21"/>
          <p:cNvSpPr/>
          <p:nvPr/>
        </p:nvSpPr>
        <p:spPr>
          <a:xfrm>
            <a:off x="5440500" y="2736000"/>
            <a:ext cx="3451500" cy="413999"/>
          </a:xfrm>
          <a:prstGeom prst="rect">
            <a:avLst/>
          </a:prstGeom>
          <a:solidFill>
            <a:srgbClr val="E8F8EE"/>
          </a:solidFill>
          <a:ln>
            <a:noFill/>
          </a:ln>
          <a:effectLst/>
        </p:spPr>
        <p:style>
          <a:lnRef idx="1">
            <a:schemeClr val="accent1"/>
          </a:lnRef>
          <a:fillRef idx="3">
            <a:schemeClr val="accent1"/>
          </a:fillRef>
          <a:effectRef idx="0">
            <a:schemeClr val="accent1"/>
          </a:effectRef>
          <a:fontRef idx="minor">
            <a:schemeClr val="lt1"/>
          </a:fontRef>
        </p:style>
        <p:txBody>
          <a:bodyPr wrap="square" lIns="29250" tIns="0" rIns="29250" bIns="0" rtlCol="0" anchor="ctr"/>
          <a:lstStyle/>
          <a:p>
            <a:pPr algn="ctr">
              <a:lnSpc>
                <a:spcPct val="110000"/>
              </a:lnSpc>
              <a:spcAft>
                <a:spcPts val="0"/>
              </a:spcAft>
            </a:pPr>
            <a:r>
              <a:rPr sz="1050" b="1">
                <a:solidFill>
                  <a:srgbClr val="0B7A3B"/>
                </a:solidFill>
                <a:latin typeface="メイリオ"/>
                <a:ea typeface="メイリオ"/>
                <a:cs typeface="メイリオ"/>
              </a:rPr>
              <a:t>LINEでナーチャリング</a:t>
            </a:r>
          </a:p>
        </p:txBody>
      </p:sp>
      <p:sp>
        <p:nvSpPr>
          <p:cNvPr id="23" name="Isosceles Triangle 22"/>
          <p:cNvSpPr/>
          <p:nvPr/>
        </p:nvSpPr>
        <p:spPr>
          <a:xfrm rot="10800000">
            <a:off x="7101900" y="3186000"/>
            <a:ext cx="128700" cy="108000"/>
          </a:xfrm>
          <a:prstGeom prst="triangle">
            <a:avLst/>
          </a:prstGeom>
          <a:solidFill>
            <a:srgbClr val="0B7A3B"/>
          </a:solidFill>
          <a:ln>
            <a:noFill/>
          </a:ln>
          <a:effectLst/>
        </p:spPr>
        <p:style>
          <a:lnRef idx="1">
            <a:schemeClr val="accent1"/>
          </a:lnRef>
          <a:fillRef idx="3">
            <a:schemeClr val="accent1"/>
          </a:fillRef>
          <a:effectRef idx="0">
            <a:schemeClr val="accent1"/>
          </a:effectRef>
          <a:fontRef idx="minor">
            <a:schemeClr val="lt1"/>
          </a:fontRef>
        </p:style>
        <p:txBody>
          <a:bodyPr rtlCol="0" anchor="ctr" lIns="74295" rIns="74295"/>
          <a:lstStyle/>
          <a:p>
            <a:pPr algn="ctr"/>
            <a:endParaRPr>
              <a:latin typeface="メイリオ"/>
              <a:ea typeface="メイリオ"/>
              <a:cs typeface="メイリオ"/>
            </a:endParaRPr>
          </a:p>
        </p:txBody>
      </p:sp>
      <p:sp>
        <p:nvSpPr>
          <p:cNvPr id="24" name="Rectangle 23"/>
          <p:cNvSpPr/>
          <p:nvPr/>
        </p:nvSpPr>
        <p:spPr>
          <a:xfrm>
            <a:off x="5440500" y="3330000"/>
            <a:ext cx="3451500" cy="413999"/>
          </a:xfrm>
          <a:prstGeom prst="rect">
            <a:avLst/>
          </a:prstGeom>
          <a:solidFill>
            <a:srgbClr val="0E8A3F"/>
          </a:solidFill>
          <a:ln>
            <a:noFill/>
          </a:ln>
          <a:effectLst/>
        </p:spPr>
        <p:style>
          <a:lnRef idx="1">
            <a:schemeClr val="accent1"/>
          </a:lnRef>
          <a:fillRef idx="3">
            <a:schemeClr val="accent1"/>
          </a:fillRef>
          <a:effectRef idx="0">
            <a:schemeClr val="accent1"/>
          </a:effectRef>
          <a:fontRef idx="minor">
            <a:schemeClr val="lt1"/>
          </a:fontRef>
        </p:style>
        <p:txBody>
          <a:bodyPr wrap="square" lIns="29250" tIns="0" rIns="29250" bIns="0" rtlCol="0" anchor="ctr"/>
          <a:lstStyle/>
          <a:p>
            <a:pPr algn="ctr">
              <a:lnSpc>
                <a:spcPct val="110000"/>
              </a:lnSpc>
              <a:spcAft>
                <a:spcPts val="0"/>
              </a:spcAft>
            </a:pPr>
            <a:r>
              <a:rPr sz="1050" b="1">
                <a:solidFill>
                  <a:srgbClr val="FFFFFF"/>
                </a:solidFill>
                <a:latin typeface="メイリオ"/>
                <a:ea typeface="メイリオ"/>
                <a:cs typeface="メイリオ"/>
              </a:rPr>
              <a:t>購入・契約などの最終成果</a:t>
            </a:r>
          </a:p>
        </p:txBody>
      </p:sp>
      <p:sp>
        <p:nvSpPr>
          <p:cNvPr id="25" name="TextBox 24"/>
          <p:cNvSpPr txBox="1"/>
          <p:nvPr/>
        </p:nvSpPr>
        <p:spPr>
          <a:xfrm>
            <a:off x="5235750" y="3888000"/>
            <a:ext cx="3861000" cy="503999"/>
          </a:xfrm>
          <a:prstGeom prst="rect">
            <a:avLst/>
          </a:prstGeom>
          <a:noFill/>
        </p:spPr>
        <p:txBody>
          <a:bodyPr wrap="square" lIns="29250" tIns="18000" rIns="29250" bIns="18000" anchor="ctr">
            <a:spAutoFit/>
          </a:bodyPr>
          <a:lstStyle/>
          <a:p>
            <a:pPr algn="ctr">
              <a:lnSpc>
                <a:spcPct val="110000"/>
              </a:lnSpc>
              <a:spcAft>
                <a:spcPts val="0"/>
              </a:spcAft>
            </a:pPr>
            <a:r>
              <a:rPr sz="850" b="0">
                <a:solidFill>
                  <a:srgbClr val="333333"/>
                </a:solidFill>
                <a:latin typeface="メイリオ"/>
                <a:ea typeface="メイリオ"/>
                <a:cs typeface="メイリオ"/>
              </a:rPr>
              <a:t>CV後の歩留まりを改善し、CPOを改善</a:t>
            </a:r>
          </a:p>
        </p:txBody>
      </p:sp>
      <p:sp>
        <p:nvSpPr>
          <p:cNvPr id="26" name="Pentagon 25"/>
          <p:cNvSpPr/>
          <p:nvPr/>
        </p:nvSpPr>
        <p:spPr>
          <a:xfrm>
            <a:off x="643500" y="4536000"/>
            <a:ext cx="2934750" cy="684000"/>
          </a:xfrm>
          <a:prstGeom prst="homePlate">
            <a:avLst>
              <a:gd name="adj" fmla="val 22000"/>
            </a:avLst>
          </a:prstGeom>
          <a:solidFill>
            <a:srgbClr val="E8F8EE"/>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27" name="TextBox 26"/>
          <p:cNvSpPr txBox="1"/>
          <p:nvPr/>
        </p:nvSpPr>
        <p:spPr>
          <a:xfrm>
            <a:off x="760500" y="4536000"/>
            <a:ext cx="2583749" cy="684000"/>
          </a:xfrm>
          <a:prstGeom prst="rect">
            <a:avLst/>
          </a:prstGeom>
          <a:noFill/>
        </p:spPr>
        <p:txBody>
          <a:bodyPr wrap="square" lIns="29250" tIns="18000" rIns="29250" bIns="18000" anchor="ctr">
            <a:spAutoFit/>
          </a:bodyPr>
          <a:lstStyle/>
          <a:p>
            <a:pPr algn="ctr">
              <a:lnSpc>
                <a:spcPct val="110000"/>
              </a:lnSpc>
              <a:spcAft>
                <a:spcPts val="200"/>
              </a:spcAft>
            </a:pPr>
            <a:r>
              <a:rPr sz="1100" b="1">
                <a:solidFill>
                  <a:srgbClr val="0B7A3B"/>
                </a:solidFill>
                <a:latin typeface="メイリオ"/>
                <a:ea typeface="メイリオ"/>
                <a:cs typeface="メイリオ"/>
              </a:rPr>
              <a:t>CPOの改善</a:t>
            </a:r>
          </a:p>
          <a:p>
            <a:pPr algn="ctr">
              <a:lnSpc>
                <a:spcPct val="110000"/>
              </a:lnSpc>
              <a:spcAft>
                <a:spcPts val="0"/>
              </a:spcAft>
            </a:pPr>
            <a:r>
              <a:rPr sz="750" b="0">
                <a:solidFill>
                  <a:srgbClr val="333333"/>
                </a:solidFill>
                <a:latin typeface="メイリオ"/>
                <a:ea typeface="メイリオ"/>
                <a:cs typeface="メイリオ"/>
              </a:rPr>
              <a:t>1件の最終成果あたりの広告費を抑えられる</a:t>
            </a:r>
          </a:p>
        </p:txBody>
      </p:sp>
      <p:sp>
        <p:nvSpPr>
          <p:cNvPr id="28" name="Chevron 27"/>
          <p:cNvSpPr/>
          <p:nvPr/>
        </p:nvSpPr>
        <p:spPr>
          <a:xfrm>
            <a:off x="3490500" y="4536000"/>
            <a:ext cx="2934750" cy="684000"/>
          </a:xfrm>
          <a:prstGeom prst="chevron">
            <a:avLst>
              <a:gd name="adj" fmla="val 22000"/>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29" name="TextBox 28"/>
          <p:cNvSpPr txBox="1"/>
          <p:nvPr/>
        </p:nvSpPr>
        <p:spPr>
          <a:xfrm>
            <a:off x="3753750" y="4536000"/>
            <a:ext cx="2437499" cy="684000"/>
          </a:xfrm>
          <a:prstGeom prst="rect">
            <a:avLst/>
          </a:prstGeom>
          <a:noFill/>
        </p:spPr>
        <p:txBody>
          <a:bodyPr wrap="square" lIns="29250" tIns="18000" rIns="29250" bIns="18000" anchor="ctr">
            <a:spAutoFit/>
          </a:bodyPr>
          <a:lstStyle/>
          <a:p>
            <a:pPr algn="ctr">
              <a:lnSpc>
                <a:spcPct val="110000"/>
              </a:lnSpc>
              <a:spcAft>
                <a:spcPts val="200"/>
              </a:spcAft>
            </a:pPr>
            <a:r>
              <a:rPr sz="1100" b="1">
                <a:solidFill>
                  <a:srgbClr val="1F285A"/>
                </a:solidFill>
                <a:latin typeface="メイリオ"/>
                <a:ea typeface="メイリオ"/>
                <a:cs typeface="メイリオ"/>
              </a:rPr>
              <a:t>許容CPAの引き上げ</a:t>
            </a:r>
          </a:p>
          <a:p>
            <a:pPr algn="ctr">
              <a:lnSpc>
                <a:spcPct val="110000"/>
              </a:lnSpc>
              <a:spcAft>
                <a:spcPts val="0"/>
              </a:spcAft>
            </a:pPr>
            <a:r>
              <a:rPr sz="750" b="0">
                <a:solidFill>
                  <a:srgbClr val="333333"/>
                </a:solidFill>
                <a:latin typeface="メイリオ"/>
                <a:ea typeface="メイリオ"/>
                <a:cs typeface="メイリオ"/>
              </a:rPr>
              <a:t>1件の最終成果にかけられる広告費が増える</a:t>
            </a:r>
          </a:p>
        </p:txBody>
      </p:sp>
      <p:sp>
        <p:nvSpPr>
          <p:cNvPr id="30" name="Chevron 29"/>
          <p:cNvSpPr/>
          <p:nvPr/>
        </p:nvSpPr>
        <p:spPr>
          <a:xfrm>
            <a:off x="6337499" y="4536000"/>
            <a:ext cx="2934750" cy="684000"/>
          </a:xfrm>
          <a:prstGeom prst="chevron">
            <a:avLst>
              <a:gd name="adj" fmla="val 22000"/>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31" name="TextBox 30"/>
          <p:cNvSpPr txBox="1"/>
          <p:nvPr/>
        </p:nvSpPr>
        <p:spPr>
          <a:xfrm>
            <a:off x="6600749" y="4536000"/>
            <a:ext cx="2437499" cy="684000"/>
          </a:xfrm>
          <a:prstGeom prst="rect">
            <a:avLst/>
          </a:prstGeom>
          <a:noFill/>
        </p:spPr>
        <p:txBody>
          <a:bodyPr wrap="square" lIns="29250" tIns="18000" rIns="29250" bIns="18000" anchor="ctr">
            <a:spAutoFit/>
          </a:bodyPr>
          <a:lstStyle/>
          <a:p>
            <a:pPr algn="ctr">
              <a:lnSpc>
                <a:spcPct val="110000"/>
              </a:lnSpc>
              <a:spcAft>
                <a:spcPts val="200"/>
              </a:spcAft>
            </a:pPr>
            <a:r>
              <a:rPr sz="1100" b="1">
                <a:solidFill>
                  <a:srgbClr val="1F285A"/>
                </a:solidFill>
                <a:latin typeface="メイリオ"/>
                <a:ea typeface="メイリオ"/>
                <a:cs typeface="メイリオ"/>
              </a:rPr>
              <a:t>広告配信の拡大</a:t>
            </a:r>
          </a:p>
          <a:p>
            <a:pPr algn="ctr">
              <a:lnSpc>
                <a:spcPct val="110000"/>
              </a:lnSpc>
              <a:spcAft>
                <a:spcPts val="0"/>
              </a:spcAft>
            </a:pPr>
            <a:r>
              <a:rPr sz="750" b="0">
                <a:solidFill>
                  <a:srgbClr val="333333"/>
                </a:solidFill>
                <a:latin typeface="メイリオ"/>
                <a:ea typeface="メイリオ"/>
                <a:cs typeface="メイリオ"/>
              </a:rPr>
              <a:t>入札・予算・配信対象を広げやすくなる</a:t>
            </a:r>
          </a:p>
        </p:txBody>
      </p:sp>
      <p:cxnSp>
        <p:nvCxnSpPr>
          <p:cNvPr id="32" name="Connector 31"/>
          <p:cNvCxnSpPr/>
          <p:nvPr/>
        </p:nvCxnSpPr>
        <p:spPr>
          <a:xfrm>
            <a:off x="9126000" y="5256000"/>
            <a:ext cx="0" cy="16200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33" name="Connector 32"/>
          <p:cNvCxnSpPr/>
          <p:nvPr/>
        </p:nvCxnSpPr>
        <p:spPr>
          <a:xfrm>
            <a:off x="789750" y="5418000"/>
            <a:ext cx="8336250" cy="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34" name="Connector 33"/>
          <p:cNvCxnSpPr/>
          <p:nvPr/>
        </p:nvCxnSpPr>
        <p:spPr>
          <a:xfrm flipV="1">
            <a:off x="789750" y="5263200"/>
            <a:ext cx="0" cy="15480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5" name="Rectangle 34"/>
          <p:cNvSpPr/>
          <p:nvPr/>
        </p:nvSpPr>
        <p:spPr>
          <a:xfrm>
            <a:off x="3349124" y="5292000"/>
            <a:ext cx="3217500" cy="251999"/>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lnSpc>
                <a:spcPct val="110000"/>
              </a:lnSpc>
              <a:spcAft>
                <a:spcPts val="0"/>
              </a:spcAft>
            </a:pPr>
            <a:r>
              <a:rPr sz="800" b="1">
                <a:solidFill>
                  <a:srgbClr val="333333"/>
                </a:solidFill>
                <a:latin typeface="メイリオ"/>
                <a:ea typeface="メイリオ"/>
                <a:cs typeface="メイリオ"/>
              </a:rPr>
              <a:t>さらに成果が増えれば、再投資して継続的に拡大</a:t>
            </a:r>
          </a:p>
        </p:txBody>
      </p:sp>
      <p:sp>
        <p:nvSpPr>
          <p:cNvPr id="36" name="Rectangle 35"/>
          <p:cNvSpPr/>
          <p:nvPr/>
        </p:nvSpPr>
        <p:spPr>
          <a:xfrm>
            <a:off x="643500" y="5652000"/>
            <a:ext cx="8628750" cy="612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37" name="TextBox 36"/>
          <p:cNvSpPr txBox="1"/>
          <p:nvPr/>
        </p:nvSpPr>
        <p:spPr>
          <a:xfrm>
            <a:off x="643500" y="5652000"/>
            <a:ext cx="8628750" cy="612000"/>
          </a:xfrm>
          <a:prstGeom prst="rect">
            <a:avLst/>
          </a:prstGeom>
          <a:noFill/>
        </p:spPr>
        <p:txBody>
          <a:bodyPr wrap="square" lIns="29250" tIns="10800" rIns="29250" bIns="10800" anchor="ctr">
            <a:spAutoFit/>
          </a:bodyPr>
          <a:lstStyle/>
          <a:p>
            <a:pPr algn="ctr">
              <a:lnSpc>
                <a:spcPct val="105000"/>
              </a:lnSpc>
              <a:spcAft>
                <a:spcPts val="200"/>
              </a:spcAft>
            </a:pPr>
            <a:r>
              <a:rPr sz="1600" b="1">
                <a:solidFill>
                  <a:srgbClr val="FFFFFF"/>
                </a:solidFill>
                <a:latin typeface="メイリオ"/>
                <a:ea typeface="メイリオ"/>
                <a:cs typeface="メイリオ"/>
              </a:rPr>
              <a:t>広告とあわせて実施することで、</a:t>
            </a:r>
            <a:r>
              <a:rPr sz="1600" b="1">
                <a:solidFill>
                  <a:srgbClr val="FFE400"/>
                </a:solidFill>
                <a:latin typeface="メイリオ"/>
                <a:ea typeface="メイリオ"/>
                <a:cs typeface="メイリオ"/>
              </a:rPr>
              <a:t>事業全体の効率化</a:t>
            </a:r>
            <a:r>
              <a:rPr sz="1600" b="1">
                <a:solidFill>
                  <a:srgbClr val="FFFFFF"/>
                </a:solidFill>
                <a:latin typeface="メイリオ"/>
                <a:ea typeface="メイリオ"/>
                <a:cs typeface="メイリオ"/>
              </a:rPr>
              <a:t>を図る。</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2" name="Google Shape;752;p28">
            <a:extLst>
              <a:ext uri="{FF2B5EF4-FFF2-40B4-BE49-F238E27FC236}">
                <a16:creationId xmlns:a16="http://schemas.microsoft.com/office/drawing/2014/main" id="{AA80CD04-9456-70DB-2E44-D3EDB1461933}"/>
              </a:ext>
            </a:extLst>
          </p:cNvPr>
          <p:cNvSpPr txBox="1"/>
          <p:nvPr/>
        </p:nvSpPr>
        <p:spPr>
          <a:xfrm>
            <a:off x="547200" y="136800"/>
            <a:ext cx="6516000" cy="338400"/>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002060"/>
                </a:solidFill>
                <a:latin typeface="メイリオ"/>
                <a:ea typeface="メイリオ"/>
                <a:cs typeface="メイリオ"/>
                <a:sym typeface="Meiryo"/>
              </a:rPr>
              <a:t>サンクスLINE｜機能・費用</a:t>
            </a:r>
            <a:endParaRPr lang="en-US" altLang="ja-JP" sz="1600" b="1" dirty="0">
              <a:solidFill>
                <a:srgbClr val="002060"/>
              </a:solidFill>
              <a:latin typeface="メイリオ"/>
              <a:ea typeface="メイリオ"/>
              <a:cs typeface="メイリオ"/>
              <a:sym typeface="Meiryo"/>
            </a:endParaRPr>
          </a:p>
        </p:txBody>
      </p:sp>
      <p:sp>
        <p:nvSpPr>
          <p:cNvPr id="16" name="正方形/長方形 15">
            <a:extLst>
              <a:ext uri="{FF2B5EF4-FFF2-40B4-BE49-F238E27FC236}">
                <a16:creationId xmlns:a16="http://schemas.microsoft.com/office/drawing/2014/main" id="{32BBF438-B1EF-A61A-EE3D-69CD39766C7E}"/>
              </a:ext>
            </a:extLst>
          </p:cNvPr>
          <p:cNvSpPr/>
          <p:nvPr/>
        </p:nvSpPr>
        <p:spPr>
          <a:xfrm>
            <a:off x="6123840" y="2187780"/>
            <a:ext cx="2487570"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endParaRPr lang="ja-JP" altLang="en-US">
              <a:latin typeface="メイリオ"/>
              <a:ea typeface="メイリオ"/>
              <a:cs typeface="メイリオ"/>
            </a:endParaRPr>
          </a:p>
        </p:txBody>
      </p:sp>
      <p:sp>
        <p:nvSpPr>
          <p:cNvPr id="17" name="正方形/長方形 16">
            <a:extLst>
              <a:ext uri="{FF2B5EF4-FFF2-40B4-BE49-F238E27FC236}">
                <a16:creationId xmlns:a16="http://schemas.microsoft.com/office/drawing/2014/main" id="{1A1E4128-77DC-C871-EE20-5BD43326E078}"/>
              </a:ext>
            </a:extLst>
          </p:cNvPr>
          <p:cNvSpPr/>
          <p:nvPr/>
        </p:nvSpPr>
        <p:spPr>
          <a:xfrm>
            <a:off x="6123841" y="4317370"/>
            <a:ext cx="2487569" cy="1821208"/>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endParaRPr lang="ja-JP" altLang="en-US">
              <a:latin typeface="メイリオ"/>
              <a:ea typeface="メイリオ"/>
              <a:cs typeface="メイリオ"/>
            </a:endParaRPr>
          </a:p>
        </p:txBody>
      </p:sp>
      <p:sp>
        <p:nvSpPr>
          <p:cNvPr id="20" name="正方形/長方形 19">
            <a:extLst>
              <a:ext uri="{FF2B5EF4-FFF2-40B4-BE49-F238E27FC236}">
                <a16:creationId xmlns:a16="http://schemas.microsoft.com/office/drawing/2014/main" id="{F37BB268-660A-FEE4-BB39-0E338F1DDC23}"/>
              </a:ext>
            </a:extLst>
          </p:cNvPr>
          <p:cNvSpPr/>
          <p:nvPr/>
        </p:nvSpPr>
        <p:spPr>
          <a:xfrm>
            <a:off x="6161261" y="20331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未追加の場合</a:t>
            </a:r>
          </a:p>
        </p:txBody>
      </p:sp>
      <p:sp>
        <p:nvSpPr>
          <p:cNvPr id="21" name="正方形/長方形 20">
            <a:extLst>
              <a:ext uri="{FF2B5EF4-FFF2-40B4-BE49-F238E27FC236}">
                <a16:creationId xmlns:a16="http://schemas.microsoft.com/office/drawing/2014/main" id="{C9FF4626-FD17-CA1C-8064-F46606D0BCCE}"/>
              </a:ext>
            </a:extLst>
          </p:cNvPr>
          <p:cNvSpPr/>
          <p:nvPr/>
        </p:nvSpPr>
        <p:spPr>
          <a:xfrm>
            <a:off x="6161261" y="4195296"/>
            <a:ext cx="1315634" cy="24415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en-US" altLang="ja-JP" sz="850" b="1" dirty="0">
                <a:solidFill>
                  <a:schemeClr val="tx1"/>
                </a:solidFill>
                <a:latin typeface="メイリオ" panose="020B0604030504040204" pitchFamily="50" charset="-128"/>
                <a:ea typeface="メイリオ" panose="020B0604030504040204" pitchFamily="50" charset="-128"/>
                <a:cs typeface="メイリオ"/>
              </a:rPr>
              <a:t>LINE</a:t>
            </a:r>
            <a:r>
              <a:rPr lang="ja-JP" altLang="en-US" sz="850" b="1" dirty="0">
                <a:solidFill>
                  <a:schemeClr val="tx1"/>
                </a:solidFill>
                <a:latin typeface="メイリオ" panose="020B0604030504040204" pitchFamily="50" charset="-128"/>
                <a:ea typeface="メイリオ" panose="020B0604030504040204" pitchFamily="50" charset="-128"/>
                <a:cs typeface="メイリオ"/>
              </a:rPr>
              <a:t>追加済みの場合</a:t>
            </a:r>
          </a:p>
        </p:txBody>
      </p:sp>
      <p:cxnSp>
        <p:nvCxnSpPr>
          <p:cNvPr id="23" name="直線矢印コネクタ 22">
            <a:extLst>
              <a:ext uri="{FF2B5EF4-FFF2-40B4-BE49-F238E27FC236}">
                <a16:creationId xmlns:a16="http://schemas.microsoft.com/office/drawing/2014/main" id="{8F202453-7FF9-8AE7-D10D-66F74A74A2F4}"/>
              </a:ext>
            </a:extLst>
          </p:cNvPr>
          <p:cNvCxnSpPr>
            <a:cxnSpLocks/>
          </p:cNvCxnSpPr>
          <p:nvPr/>
        </p:nvCxnSpPr>
        <p:spPr>
          <a:xfrm flipV="1">
            <a:off x="5819550" y="2932418"/>
            <a:ext cx="318138" cy="42170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4" name="直線矢印コネクタ 23">
            <a:extLst>
              <a:ext uri="{FF2B5EF4-FFF2-40B4-BE49-F238E27FC236}">
                <a16:creationId xmlns:a16="http://schemas.microsoft.com/office/drawing/2014/main" id="{C92F6E28-BBFF-1A56-AC22-CA16D2F1B1EA}"/>
              </a:ext>
            </a:extLst>
          </p:cNvPr>
          <p:cNvCxnSpPr>
            <a:cxnSpLocks/>
          </p:cNvCxnSpPr>
          <p:nvPr/>
        </p:nvCxnSpPr>
        <p:spPr>
          <a:xfrm>
            <a:off x="5819550" y="3354124"/>
            <a:ext cx="280718" cy="1392760"/>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45" name="図 44" descr="グラフィカル ユーザー インターフェイス, アプリケーション, Teams&#10;&#10;AI 生成コンテンツは誤りを含む可能性があります。">
            <a:extLst>
              <a:ext uri="{FF2B5EF4-FFF2-40B4-BE49-F238E27FC236}">
                <a16:creationId xmlns:a16="http://schemas.microsoft.com/office/drawing/2014/main" id="{E91CA7A5-62B3-F1F8-38C3-DDCE33E1CC3D}"/>
              </a:ext>
            </a:extLst>
          </p:cNvPr>
          <p:cNvPicPr>
            <a:picLocks noChangeAspect="1"/>
          </p:cNvPicPr>
          <p:nvPr/>
        </p:nvPicPr>
        <p:blipFill>
          <a:blip r:embed="rId2" cstate="print">
            <a:extLst>
              <a:ext uri="{28A0092B-C50C-407E-A947-70E740481C1C}">
                <a14:useLocalDpi xmlns:a14="http://schemas.microsoft.com/office/drawing/2010/main" val="0"/>
              </a:ext>
            </a:extLst>
          </a:blip>
          <a:srcRect t="4580"/>
          <a:stretch>
            <a:fillRect/>
          </a:stretch>
        </p:blipFill>
        <p:spPr>
          <a:xfrm>
            <a:off x="7518319" y="2216626"/>
            <a:ext cx="1000253" cy="1694141"/>
          </a:xfrm>
          <a:prstGeom prst="rect">
            <a:avLst/>
          </a:prstGeom>
        </p:spPr>
      </p:pic>
      <p:pic>
        <p:nvPicPr>
          <p:cNvPr id="46" name="図 45" descr="電卓の写真のスマートフォンのスクリーンショット&#10;&#10;AI 生成コンテンツは誤りを含む可能性があります。">
            <a:extLst>
              <a:ext uri="{FF2B5EF4-FFF2-40B4-BE49-F238E27FC236}">
                <a16:creationId xmlns:a16="http://schemas.microsoft.com/office/drawing/2014/main" id="{31EEAD2C-3BE8-0210-FD8E-46D52B30A0AE}"/>
              </a:ext>
            </a:extLst>
          </p:cNvPr>
          <p:cNvPicPr>
            <a:picLocks noChangeAspect="1"/>
          </p:cNvPicPr>
          <p:nvPr/>
        </p:nvPicPr>
        <p:blipFill>
          <a:blip r:embed="rId3" cstate="print">
            <a:extLst>
              <a:ext uri="{28A0092B-C50C-407E-A947-70E740481C1C}">
                <a14:useLocalDpi xmlns:a14="http://schemas.microsoft.com/office/drawing/2010/main" val="0"/>
              </a:ext>
            </a:extLst>
          </a:blip>
          <a:srcRect t="4580"/>
          <a:stretch>
            <a:fillRect/>
          </a:stretch>
        </p:blipFill>
        <p:spPr>
          <a:xfrm>
            <a:off x="7527889" y="4316771"/>
            <a:ext cx="1000253" cy="1694142"/>
          </a:xfrm>
          <a:prstGeom prst="rect">
            <a:avLst/>
          </a:prstGeom>
        </p:spPr>
      </p:pic>
      <p:sp>
        <p:nvSpPr>
          <p:cNvPr id="48" name="テキスト ボックス 47">
            <a:extLst>
              <a:ext uri="{FF2B5EF4-FFF2-40B4-BE49-F238E27FC236}">
                <a16:creationId xmlns:a16="http://schemas.microsoft.com/office/drawing/2014/main" id="{E989AEB3-EF0E-8885-B426-8B6A5E01F40A}"/>
              </a:ext>
            </a:extLst>
          </p:cNvPr>
          <p:cNvSpPr txBox="1"/>
          <p:nvPr/>
        </p:nvSpPr>
        <p:spPr>
          <a:xfrm>
            <a:off x="6161261" y="2552900"/>
            <a:ext cx="1227667" cy="430887"/>
          </a:xfrm>
          <a:prstGeom prst="rect">
            <a:avLst/>
          </a:prstGeom>
          <a:noFill/>
        </p:spPr>
        <p:txBody>
          <a:bodyPr wrap="square" lIns="74295" rIns="74295">
            <a:spAutoFit/>
          </a:bodyPr>
          <a:lstStyle/>
          <a:p>
            <a:pPr algn="ctr"/>
            <a:r>
              <a:rPr lang="ja-JP" altLang="en-US" sz="850" b="1" dirty="0">
                <a:latin typeface="メイリオ" panose="020B0604030504040204" pitchFamily="50" charset="-128"/>
                <a:ea typeface="メイリオ" panose="020B0604030504040204" pitchFamily="50" charset="-128"/>
                <a:cs typeface="メイリオ"/>
              </a:rPr>
              <a:t>友だち登録ページ</a:t>
            </a:r>
            <a:r>
              <a:rPr lang="ja-JP" altLang="en-US" sz="850" dirty="0">
                <a:latin typeface="メイリオ" panose="020B0604030504040204" pitchFamily="50" charset="-128"/>
                <a:ea typeface="メイリオ" panose="020B0604030504040204" pitchFamily="50" charset="-128"/>
                <a:cs typeface="メイリオ"/>
              </a:rPr>
              <a:t>へ</a:t>
            </a:r>
            <a:endParaRPr lang="en-US" altLang="ja-JP" sz="850" dirty="0">
              <a:latin typeface="メイリオ" panose="020B0604030504040204" pitchFamily="50" charset="-128"/>
              <a:ea typeface="メイリオ" panose="020B0604030504040204" pitchFamily="50" charset="-128"/>
              <a:cs typeface="メイリオ"/>
            </a:endParaRPr>
          </a:p>
          <a:p>
            <a:pPr algn="ctr"/>
            <a:r>
              <a:rPr lang="ja-JP" altLang="en-US" sz="850" dirty="0">
                <a:latin typeface="メイリオ" panose="020B0604030504040204" pitchFamily="50" charset="-128"/>
                <a:ea typeface="メイリオ" panose="020B0604030504040204" pitchFamily="50" charset="-128"/>
                <a:cs typeface="メイリオ"/>
              </a:rPr>
              <a:t>遷移する。</a:t>
            </a:r>
          </a:p>
        </p:txBody>
      </p:sp>
      <p:sp>
        <p:nvSpPr>
          <p:cNvPr id="49" name="テキスト ボックス 48">
            <a:extLst>
              <a:ext uri="{FF2B5EF4-FFF2-40B4-BE49-F238E27FC236}">
                <a16:creationId xmlns:a16="http://schemas.microsoft.com/office/drawing/2014/main" id="{4E6D08E3-E0B3-1DF4-0533-E4EE67240415}"/>
              </a:ext>
            </a:extLst>
          </p:cNvPr>
          <p:cNvSpPr txBox="1"/>
          <p:nvPr/>
        </p:nvSpPr>
        <p:spPr>
          <a:xfrm>
            <a:off x="6138617" y="4735255"/>
            <a:ext cx="1338278" cy="261610"/>
          </a:xfrm>
          <a:prstGeom prst="rect">
            <a:avLst/>
          </a:prstGeom>
          <a:noFill/>
        </p:spPr>
        <p:txBody>
          <a:bodyPr wrap="square" lIns="74295" rIns="74295">
            <a:spAutoFit/>
          </a:bodyPr>
          <a:lstStyle/>
          <a:p>
            <a:r>
              <a:rPr lang="ja-JP" altLang="en-US" sz="850" b="1" dirty="0">
                <a:latin typeface="メイリオ" panose="020B0604030504040204" pitchFamily="50" charset="-128"/>
                <a:ea typeface="メイリオ" panose="020B0604030504040204" pitchFamily="50" charset="-128"/>
                <a:cs typeface="メイリオ"/>
              </a:rPr>
              <a:t>トーク画面</a:t>
            </a:r>
            <a:r>
              <a:rPr lang="ja-JP" altLang="en-US" sz="850" dirty="0">
                <a:latin typeface="メイリオ" panose="020B0604030504040204" pitchFamily="50" charset="-128"/>
                <a:ea typeface="メイリオ" panose="020B0604030504040204" pitchFamily="50" charset="-128"/>
                <a:cs typeface="メイリオ"/>
              </a:rPr>
              <a:t>へ遷移する。</a:t>
            </a:r>
            <a:endParaRPr lang="en-US" altLang="ja-JP" sz="850" dirty="0">
              <a:latin typeface="メイリオ" panose="020B0604030504040204" pitchFamily="50" charset="-128"/>
              <a:ea typeface="メイリオ" panose="020B0604030504040204" pitchFamily="50" charset="-128"/>
              <a:cs typeface="メイリオ"/>
            </a:endParaRPr>
          </a:p>
        </p:txBody>
      </p:sp>
      <p:pic>
        <p:nvPicPr>
          <p:cNvPr id="56" name="図 55">
            <a:extLst>
              <a:ext uri="{FF2B5EF4-FFF2-40B4-BE49-F238E27FC236}">
                <a16:creationId xmlns:a16="http://schemas.microsoft.com/office/drawing/2014/main" id="{0B7B313D-7D5F-4357-9B38-DFC3DBC5FCF6}"/>
              </a:ext>
            </a:extLst>
          </p:cNvPr>
          <p:cNvPicPr>
            <a:picLocks noChangeAspect="1"/>
          </p:cNvPicPr>
          <p:nvPr/>
        </p:nvPicPr>
        <p:blipFill>
          <a:blip r:embed="rId4"/>
          <a:stretch>
            <a:fillRect/>
          </a:stretch>
        </p:blipFill>
        <p:spPr>
          <a:xfrm>
            <a:off x="7557873" y="2993645"/>
            <a:ext cx="921141" cy="89556"/>
          </a:xfrm>
          <a:prstGeom prst="rect">
            <a:avLst/>
          </a:prstGeom>
        </p:spPr>
      </p:pic>
      <p:pic>
        <p:nvPicPr>
          <p:cNvPr id="57" name="図 56">
            <a:extLst>
              <a:ext uri="{FF2B5EF4-FFF2-40B4-BE49-F238E27FC236}">
                <a16:creationId xmlns:a16="http://schemas.microsoft.com/office/drawing/2014/main" id="{A8EA42C4-338F-850B-B276-B83DC2A73148}"/>
              </a:ext>
            </a:extLst>
          </p:cNvPr>
          <p:cNvPicPr>
            <a:picLocks noChangeAspect="1"/>
          </p:cNvPicPr>
          <p:nvPr/>
        </p:nvPicPr>
        <p:blipFill>
          <a:blip r:embed="rId5"/>
          <a:stretch>
            <a:fillRect/>
          </a:stretch>
        </p:blipFill>
        <p:spPr>
          <a:xfrm>
            <a:off x="7825776" y="2992938"/>
            <a:ext cx="389971" cy="86660"/>
          </a:xfrm>
          <a:prstGeom prst="rect">
            <a:avLst/>
          </a:prstGeom>
        </p:spPr>
      </p:pic>
      <p:pic>
        <p:nvPicPr>
          <p:cNvPr id="58" name="図 57">
            <a:extLst>
              <a:ext uri="{FF2B5EF4-FFF2-40B4-BE49-F238E27FC236}">
                <a16:creationId xmlns:a16="http://schemas.microsoft.com/office/drawing/2014/main" id="{CCB04072-A708-EEE7-1345-D4C9E9FA9C1D}"/>
              </a:ext>
            </a:extLst>
          </p:cNvPr>
          <p:cNvPicPr>
            <a:picLocks noChangeAspect="1"/>
          </p:cNvPicPr>
          <p:nvPr/>
        </p:nvPicPr>
        <p:blipFill>
          <a:blip r:embed="rId5"/>
          <a:stretch>
            <a:fillRect/>
          </a:stretch>
        </p:blipFill>
        <p:spPr>
          <a:xfrm>
            <a:off x="7849883" y="4314411"/>
            <a:ext cx="271710" cy="60381"/>
          </a:xfrm>
          <a:prstGeom prst="rect">
            <a:avLst/>
          </a:prstGeom>
        </p:spPr>
      </p:pic>
      <p:pic>
        <p:nvPicPr>
          <p:cNvPr id="59" name="図 58">
            <a:extLst>
              <a:ext uri="{FF2B5EF4-FFF2-40B4-BE49-F238E27FC236}">
                <a16:creationId xmlns:a16="http://schemas.microsoft.com/office/drawing/2014/main" id="{EDED354B-362F-AAF7-76A6-52D8547EDC91}"/>
              </a:ext>
            </a:extLst>
          </p:cNvPr>
          <p:cNvPicPr>
            <a:picLocks noChangeAspect="1"/>
          </p:cNvPicPr>
          <p:nvPr/>
        </p:nvPicPr>
        <p:blipFill>
          <a:blip r:embed="rId5"/>
          <a:stretch>
            <a:fillRect/>
          </a:stretch>
        </p:blipFill>
        <p:spPr>
          <a:xfrm>
            <a:off x="7973708" y="4438236"/>
            <a:ext cx="271710" cy="60381"/>
          </a:xfrm>
          <a:prstGeom prst="rect">
            <a:avLst/>
          </a:prstGeom>
        </p:spPr>
      </p:pic>
      <p:sp>
        <p:nvSpPr>
          <p:cNvPr id="1030" name="楕円 1029">
            <a:extLst>
              <a:ext uri="{FF2B5EF4-FFF2-40B4-BE49-F238E27FC236}">
                <a16:creationId xmlns:a16="http://schemas.microsoft.com/office/drawing/2014/main" id="{A0934BB8-8F8D-D4F0-8D59-8F32A6A6E03A}"/>
              </a:ext>
            </a:extLst>
          </p:cNvPr>
          <p:cNvSpPr/>
          <p:nvPr/>
        </p:nvSpPr>
        <p:spPr>
          <a:xfrm>
            <a:off x="7855110" y="2635250"/>
            <a:ext cx="321750" cy="321750"/>
          </a:xfrm>
          <a:prstGeom prst="ellipse">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ja-JP" altLang="en-US" sz="700" dirty="0">
                <a:solidFill>
                  <a:schemeClr val="tx1"/>
                </a:solidFill>
                <a:latin typeface="メイリオ" panose="020B0604030504040204" pitchFamily="50" charset="-128"/>
                <a:ea typeface="メイリオ" panose="020B0604030504040204" pitchFamily="50" charset="-128"/>
                <a:cs typeface="メイリオ"/>
              </a:rPr>
              <a:t>ロゴ</a:t>
            </a:r>
          </a:p>
        </p:txBody>
      </p:sp>
      <p:sp>
        <p:nvSpPr>
          <p:cNvPr id="34" name="正方形/長方形 33">
            <a:extLst>
              <a:ext uri="{FF2B5EF4-FFF2-40B4-BE49-F238E27FC236}">
                <a16:creationId xmlns:a16="http://schemas.microsoft.com/office/drawing/2014/main" id="{A593FC72-954C-48DC-E845-1A5FCE4C9E00}"/>
              </a:ext>
            </a:extLst>
          </p:cNvPr>
          <p:cNvSpPr/>
          <p:nvPr/>
        </p:nvSpPr>
        <p:spPr>
          <a:xfrm>
            <a:off x="1227370" y="2027927"/>
            <a:ext cx="1142154" cy="2841034"/>
          </a:xfrm>
          <a:prstGeom prst="rect">
            <a:avLst/>
          </a:prstGeom>
          <a:no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endParaRPr lang="ja-JP" altLang="en-US">
              <a:latin typeface="メイリオ"/>
              <a:ea typeface="メイリオ"/>
              <a:cs typeface="メイリオ"/>
            </a:endParaRPr>
          </a:p>
        </p:txBody>
      </p:sp>
      <p:sp>
        <p:nvSpPr>
          <p:cNvPr id="36" name="二等辺三角形 35">
            <a:extLst>
              <a:ext uri="{FF2B5EF4-FFF2-40B4-BE49-F238E27FC236}">
                <a16:creationId xmlns:a16="http://schemas.microsoft.com/office/drawing/2014/main" id="{626832A8-575E-5E2B-73F4-BE5567514E57}"/>
              </a:ext>
            </a:extLst>
          </p:cNvPr>
          <p:cNvSpPr/>
          <p:nvPr/>
        </p:nvSpPr>
        <p:spPr>
          <a:xfrm rot="5400000">
            <a:off x="2403221" y="3262734"/>
            <a:ext cx="205320" cy="182781"/>
          </a:xfrm>
          <a:prstGeom prst="triangle">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endParaRPr lang="ja-JP" altLang="en-US">
              <a:latin typeface="メイリオ"/>
              <a:ea typeface="メイリオ"/>
              <a:cs typeface="メイリオ"/>
            </a:endParaRPr>
          </a:p>
        </p:txBody>
      </p:sp>
      <p:sp>
        <p:nvSpPr>
          <p:cNvPr id="38" name="正方形/長方形 37">
            <a:extLst>
              <a:ext uri="{FF2B5EF4-FFF2-40B4-BE49-F238E27FC236}">
                <a16:creationId xmlns:a16="http://schemas.microsoft.com/office/drawing/2014/main" id="{28671F13-F479-AFF6-9832-C7C00D2D05EE}"/>
              </a:ext>
            </a:extLst>
          </p:cNvPr>
          <p:cNvSpPr/>
          <p:nvPr/>
        </p:nvSpPr>
        <p:spPr>
          <a:xfrm>
            <a:off x="1227370" y="4624810"/>
            <a:ext cx="1142154" cy="244151"/>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ja-JP" altLang="en-US" sz="850" b="1" dirty="0">
                <a:solidFill>
                  <a:schemeClr val="tx1"/>
                </a:solidFill>
                <a:latin typeface="メイリオ" panose="020B0604030504040204" pitchFamily="50" charset="-128"/>
                <a:ea typeface="メイリオ" panose="020B0604030504040204" pitchFamily="50" charset="-128"/>
                <a:cs typeface="メイリオ"/>
              </a:rPr>
              <a:t>フォーム入力</a:t>
            </a:r>
          </a:p>
        </p:txBody>
      </p:sp>
      <p:pic>
        <p:nvPicPr>
          <p:cNvPr id="55" name="図 54">
            <a:extLst>
              <a:ext uri="{FF2B5EF4-FFF2-40B4-BE49-F238E27FC236}">
                <a16:creationId xmlns:a16="http://schemas.microsoft.com/office/drawing/2014/main" id="{8AF12F67-4C9A-867F-4608-8FE9DA811630}"/>
              </a:ext>
            </a:extLst>
          </p:cNvPr>
          <p:cNvPicPr>
            <a:picLocks noChangeAspect="1"/>
          </p:cNvPicPr>
          <p:nvPr/>
        </p:nvPicPr>
        <p:blipFill>
          <a:blip r:embed="rId6"/>
          <a:stretch>
            <a:fillRect/>
          </a:stretch>
        </p:blipFill>
        <p:spPr>
          <a:xfrm>
            <a:off x="1294592" y="2426061"/>
            <a:ext cx="1015294" cy="1834505"/>
          </a:xfrm>
          <a:prstGeom prst="rect">
            <a:avLst/>
          </a:prstGeom>
        </p:spPr>
      </p:pic>
      <p:sp>
        <p:nvSpPr>
          <p:cNvPr id="1032" name="正方形/長方形 1031">
            <a:extLst>
              <a:ext uri="{FF2B5EF4-FFF2-40B4-BE49-F238E27FC236}">
                <a16:creationId xmlns:a16="http://schemas.microsoft.com/office/drawing/2014/main" id="{D1D96D42-255C-636E-49E5-2CDA95DD6764}"/>
              </a:ext>
            </a:extLst>
          </p:cNvPr>
          <p:cNvSpPr/>
          <p:nvPr/>
        </p:nvSpPr>
        <p:spPr>
          <a:xfrm>
            <a:off x="2636579" y="2000983"/>
            <a:ext cx="1225682" cy="2841034"/>
          </a:xfrm>
          <a:prstGeom prst="rect">
            <a:avLst/>
          </a:prstGeom>
          <a:solidFill>
            <a:schemeClr val="bg1"/>
          </a:solidFill>
          <a:ln>
            <a:solidFill>
              <a:schemeClr val="tx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endParaRPr lang="ja-JP" altLang="en-US">
              <a:latin typeface="メイリオ"/>
              <a:ea typeface="メイリオ"/>
              <a:cs typeface="メイリオ"/>
            </a:endParaRPr>
          </a:p>
        </p:txBody>
      </p:sp>
      <p:sp>
        <p:nvSpPr>
          <p:cNvPr id="1034" name="正方形/長方形 1033">
            <a:extLst>
              <a:ext uri="{FF2B5EF4-FFF2-40B4-BE49-F238E27FC236}">
                <a16:creationId xmlns:a16="http://schemas.microsoft.com/office/drawing/2014/main" id="{8693E451-BCB1-207B-6B73-131F2A8588BF}"/>
              </a:ext>
            </a:extLst>
          </p:cNvPr>
          <p:cNvSpPr/>
          <p:nvPr/>
        </p:nvSpPr>
        <p:spPr>
          <a:xfrm>
            <a:off x="2634349" y="4603503"/>
            <a:ext cx="1225683" cy="244151"/>
          </a:xfrm>
          <a:prstGeom prst="rect">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ja-JP" altLang="en-US" sz="850" b="1" dirty="0">
                <a:latin typeface="メイリオ" panose="020B0604030504040204" pitchFamily="50" charset="-128"/>
                <a:ea typeface="メイリオ" panose="020B0604030504040204" pitchFamily="50" charset="-128"/>
                <a:cs typeface="メイリオ"/>
              </a:rPr>
              <a:t>サンクス画面へ</a:t>
            </a:r>
            <a:endParaRPr lang="en-US" altLang="ja-JP" sz="850" b="1" dirty="0">
              <a:latin typeface="メイリオ" panose="020B0604030504040204" pitchFamily="50" charset="-128"/>
              <a:ea typeface="メイリオ" panose="020B0604030504040204" pitchFamily="50" charset="-128"/>
              <a:cs typeface="メイリオ"/>
            </a:endParaRPr>
          </a:p>
        </p:txBody>
      </p:sp>
      <p:pic>
        <p:nvPicPr>
          <p:cNvPr id="1038" name="図 1037" descr="テキスト, 手紙&#10;&#10;AI 生成コンテンツは誤りを含む可能性があります。">
            <a:extLst>
              <a:ext uri="{FF2B5EF4-FFF2-40B4-BE49-F238E27FC236}">
                <a16:creationId xmlns:a16="http://schemas.microsoft.com/office/drawing/2014/main" id="{85260668-6C66-A032-FFE0-0276021F9433}"/>
              </a:ext>
            </a:extLst>
          </p:cNvPr>
          <p:cNvPicPr>
            <a:picLocks noChangeAspect="1"/>
          </p:cNvPicPr>
          <p:nvPr/>
        </p:nvPicPr>
        <p:blipFill>
          <a:blip r:embed="rId7" cstate="print">
            <a:extLst>
              <a:ext uri="{28A0092B-C50C-407E-A947-70E740481C1C}">
                <a14:useLocalDpi xmlns:a14="http://schemas.microsoft.com/office/drawing/2010/main" val="0"/>
              </a:ext>
            </a:extLst>
          </a:blip>
          <a:srcRect t="4580"/>
          <a:stretch>
            <a:fillRect/>
          </a:stretch>
        </p:blipFill>
        <p:spPr>
          <a:xfrm>
            <a:off x="2729673" y="2467099"/>
            <a:ext cx="1066362" cy="1789421"/>
          </a:xfrm>
          <a:prstGeom prst="rect">
            <a:avLst/>
          </a:prstGeom>
        </p:spPr>
      </p:pic>
      <p:pic>
        <p:nvPicPr>
          <p:cNvPr id="1039" name="Picture 2" descr="買い物完了！イラスト｜無料イラスト・フリー素材なら「イラストAC」">
            <a:extLst>
              <a:ext uri="{FF2B5EF4-FFF2-40B4-BE49-F238E27FC236}">
                <a16:creationId xmlns:a16="http://schemas.microsoft.com/office/drawing/2014/main" id="{23D05307-D6FE-6284-27D3-3433EE0122E2}"/>
              </a:ext>
            </a:extLst>
          </p:cNvPr>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l="20270" r="23682"/>
          <a:stretch>
            <a:fillRect/>
          </a:stretch>
        </p:blipFill>
        <p:spPr bwMode="auto">
          <a:xfrm>
            <a:off x="3827019" y="1842964"/>
            <a:ext cx="250223" cy="335086"/>
          </a:xfrm>
          <a:prstGeom prst="rect">
            <a:avLst/>
          </a:prstGeom>
          <a:noFill/>
          <a:extLst>
            <a:ext uri="{909E8E84-426E-40DD-AFC4-6F175D3DCCD1}">
              <a14:hiddenFill xmlns:a14="http://schemas.microsoft.com/office/drawing/2010/main">
                <a:solidFill>
                  <a:srgbClr val="FFFFFF"/>
                </a:solidFill>
              </a14:hiddenFill>
            </a:ext>
          </a:extLst>
        </p:spPr>
      </p:pic>
      <p:grpSp>
        <p:nvGrpSpPr>
          <p:cNvPr id="3" name="グループ化 2">
            <a:extLst>
              <a:ext uri="{FF2B5EF4-FFF2-40B4-BE49-F238E27FC236}">
                <a16:creationId xmlns:a16="http://schemas.microsoft.com/office/drawing/2014/main" id="{E76D8F54-2926-2D56-7238-F66ACCBC4F20}"/>
              </a:ext>
            </a:extLst>
          </p:cNvPr>
          <p:cNvGrpSpPr/>
          <p:nvPr/>
        </p:nvGrpSpPr>
        <p:grpSpPr>
          <a:xfrm>
            <a:off x="1370199" y="777681"/>
            <a:ext cx="2523077" cy="485102"/>
            <a:chOff x="507969" y="928495"/>
            <a:chExt cx="3105325" cy="485102"/>
          </a:xfrm>
        </p:grpSpPr>
        <p:sp>
          <p:nvSpPr>
            <p:cNvPr id="4" name="Google Shape;51;p19">
              <a:extLst>
                <a:ext uri="{FF2B5EF4-FFF2-40B4-BE49-F238E27FC236}">
                  <a16:creationId xmlns:a16="http://schemas.microsoft.com/office/drawing/2014/main" id="{98F6BB16-EFC6-9846-2A11-E624E876E64B}"/>
                </a:ext>
              </a:extLst>
            </p:cNvPr>
            <p:cNvSpPr/>
            <p:nvPr/>
          </p:nvSpPr>
          <p:spPr>
            <a:xfrm>
              <a:off x="507969" y="928495"/>
              <a:ext cx="3105325" cy="485102"/>
            </a:xfrm>
            <a:prstGeom prst="roundRect">
              <a:avLst>
                <a:gd name="adj" fmla="val 16667"/>
              </a:avLst>
            </a:prstGeom>
            <a:solidFill>
              <a:schemeClr val="dk1"/>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endParaRPr b="1" dirty="0">
                <a:solidFill>
                  <a:schemeClr val="lt1"/>
                </a:solidFill>
                <a:latin typeface="メイリオ"/>
                <a:ea typeface="メイリオ"/>
                <a:cs typeface="メイリオ"/>
                <a:sym typeface="Meiryo"/>
              </a:endParaRPr>
            </a:p>
          </p:txBody>
        </p:sp>
        <p:sp>
          <p:nvSpPr>
            <p:cNvPr id="5" name="テキスト ボックス 4">
              <a:extLst>
                <a:ext uri="{FF2B5EF4-FFF2-40B4-BE49-F238E27FC236}">
                  <a16:creationId xmlns:a16="http://schemas.microsoft.com/office/drawing/2014/main" id="{560EDF30-5F09-B70A-2993-8CD4F9E40EFA}"/>
                </a:ext>
              </a:extLst>
            </p:cNvPr>
            <p:cNvSpPr txBox="1"/>
            <p:nvPr/>
          </p:nvSpPr>
          <p:spPr>
            <a:xfrm>
              <a:off x="1140096" y="988192"/>
              <a:ext cx="1832553" cy="357790"/>
            </a:xfrm>
            <a:prstGeom prst="rect">
              <a:avLst/>
            </a:prstGeom>
            <a:noFill/>
          </p:spPr>
          <p:txBody>
            <a:bodyPr wrap="none" rtlCol="0" lIns="74295" rIns="74295">
              <a:sp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nSpc>
                  <a:spcPct val="120000"/>
                </a:lnSpc>
              </a:pPr>
              <a:r>
                <a:rPr lang="ja-JP" altLang="en-US" sz="1200" b="1" dirty="0">
                  <a:solidFill>
                    <a:schemeClr val="bg1"/>
                  </a:solidFill>
                  <a:latin typeface="メイリオ" panose="020B0604030504040204" pitchFamily="34" charset="-128"/>
                  <a:ea typeface="メイリオ" panose="020B0604030504040204" pitchFamily="34" charset="-128"/>
                  <a:cs typeface="メイリオ"/>
                </a:rPr>
                <a:t>サンクス</a:t>
              </a:r>
              <a:r>
                <a:rPr lang="en-US" altLang="ja-JP" sz="1200" b="1" dirty="0">
                  <a:solidFill>
                    <a:schemeClr val="bg1"/>
                  </a:solidFill>
                  <a:latin typeface="メイリオ" panose="020B0604030504040204" pitchFamily="34" charset="-128"/>
                  <a:ea typeface="メイリオ" panose="020B0604030504040204" pitchFamily="34" charset="-128"/>
                  <a:cs typeface="メイリオ"/>
                </a:rPr>
                <a:t>LINE</a:t>
              </a:r>
              <a:r>
                <a:rPr lang="ja-JP" altLang="en-US" sz="1200" b="1" dirty="0">
                  <a:solidFill>
                    <a:schemeClr val="bg1"/>
                  </a:solidFill>
                  <a:latin typeface="メイリオ" panose="020B0604030504040204" pitchFamily="34" charset="-128"/>
                  <a:ea typeface="メイリオ" panose="020B0604030504040204" pitchFamily="34" charset="-128"/>
                  <a:cs typeface="メイリオ"/>
                </a:rPr>
                <a:t>誘導</a:t>
              </a:r>
            </a:p>
          </p:txBody>
        </p:sp>
      </p:grpSp>
      <p:sp>
        <p:nvSpPr>
          <p:cNvPr id="6" name="正方形/長方形 5">
            <a:extLst>
              <a:ext uri="{FF2B5EF4-FFF2-40B4-BE49-F238E27FC236}">
                <a16:creationId xmlns:a16="http://schemas.microsoft.com/office/drawing/2014/main" id="{8B20BFF3-9D3E-A4D7-FF5A-70927F78FC9D}"/>
              </a:ext>
            </a:extLst>
          </p:cNvPr>
          <p:cNvSpPr/>
          <p:nvPr/>
        </p:nvSpPr>
        <p:spPr>
          <a:xfrm>
            <a:off x="7729169" y="4623314"/>
            <a:ext cx="730843" cy="649672"/>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endParaRPr lang="ja-JP" altLang="en-US">
              <a:latin typeface="メイリオ"/>
              <a:ea typeface="メイリオ"/>
              <a:cs typeface="メイリオ"/>
            </a:endParaRPr>
          </a:p>
        </p:txBody>
      </p:sp>
      <p:sp>
        <p:nvSpPr>
          <p:cNvPr id="9" name="正方形/長方形 8">
            <a:extLst>
              <a:ext uri="{FF2B5EF4-FFF2-40B4-BE49-F238E27FC236}">
                <a16:creationId xmlns:a16="http://schemas.microsoft.com/office/drawing/2014/main" id="{DC4FF56C-47EE-47DB-92F1-3F0EF57613D9}"/>
              </a:ext>
            </a:extLst>
          </p:cNvPr>
          <p:cNvSpPr/>
          <p:nvPr/>
        </p:nvSpPr>
        <p:spPr>
          <a:xfrm>
            <a:off x="4180596" y="846996"/>
            <a:ext cx="4575836" cy="338554"/>
          </a:xfrm>
          <a:prstGeom prst="rect">
            <a:avLst/>
          </a:prstGeom>
        </p:spPr>
        <p:txBody>
          <a:bodyPr wrap="square" lIns="74295" rIns="74295">
            <a:spAutoFit/>
          </a:bodyPr>
          <a:lstStyle/>
          <a:p>
            <a:pPr lvl="0">
              <a:buClr>
                <a:schemeClr val="dk1"/>
              </a:buClr>
              <a:buSzPts val="1500"/>
            </a:pPr>
            <a:r>
              <a:rPr lang="ja-JP" altLang="en-US" sz="1300" dirty="0">
                <a:latin typeface="メイリオ"/>
                <a:ea typeface="メイリオ"/>
                <a:cs typeface="メイリオ"/>
                <a:sym typeface="Meiryo"/>
              </a:rPr>
              <a:t>フォーム送信後の</a:t>
            </a:r>
            <a:r>
              <a:rPr lang="en-US" altLang="ja-JP" sz="1300" dirty="0">
                <a:latin typeface="メイリオ"/>
                <a:ea typeface="メイリオ"/>
                <a:cs typeface="メイリオ"/>
                <a:sym typeface="Meiryo"/>
              </a:rPr>
              <a:t>LINE</a:t>
            </a:r>
            <a:r>
              <a:rPr lang="ja-JP" altLang="en-US" sz="1300" dirty="0">
                <a:latin typeface="メイリオ"/>
                <a:ea typeface="メイリオ"/>
                <a:cs typeface="メイリオ"/>
                <a:sym typeface="Meiryo"/>
              </a:rPr>
              <a:t>誘導を自動化するツール</a:t>
            </a:r>
            <a:endParaRPr lang="en-US" altLang="ja-JP" sz="1300" dirty="0">
              <a:latin typeface="メイリオ"/>
              <a:ea typeface="メイリオ"/>
              <a:cs typeface="メイリオ"/>
              <a:sym typeface="Meiryo"/>
            </a:endParaRPr>
          </a:p>
        </p:txBody>
      </p:sp>
      <p:sp>
        <p:nvSpPr>
          <p:cNvPr id="14" name="テキスト ボックス 13">
            <a:extLst>
              <a:ext uri="{FF2B5EF4-FFF2-40B4-BE49-F238E27FC236}">
                <a16:creationId xmlns:a16="http://schemas.microsoft.com/office/drawing/2014/main" id="{5ED6F7D2-546D-BF9F-9805-58455D7E2831}"/>
              </a:ext>
            </a:extLst>
          </p:cNvPr>
          <p:cNvSpPr txBox="1"/>
          <p:nvPr/>
        </p:nvSpPr>
        <p:spPr>
          <a:xfrm>
            <a:off x="4180597" y="1172815"/>
            <a:ext cx="3833883" cy="253916"/>
          </a:xfrm>
          <a:prstGeom prst="rect">
            <a:avLst/>
          </a:prstGeom>
          <a:noFill/>
        </p:spPr>
        <p:txBody>
          <a:bodyPr wrap="square" lIns="74295" rIns="74295">
            <a:spAutoFit/>
          </a:bodyPr>
          <a:lstStyle/>
          <a:p>
            <a:r>
              <a:rPr lang="en-US" altLang="ja-JP" sz="850" dirty="0">
                <a:solidFill>
                  <a:srgbClr val="FF0000"/>
                </a:solidFill>
                <a:latin typeface="メイリオ" panose="020B0604030504040204" pitchFamily="50" charset="-128"/>
                <a:ea typeface="メイリオ" panose="020B0604030504040204" pitchFamily="50" charset="-128"/>
                <a:cs typeface="メイリオ"/>
                <a:sym typeface="Meiryo"/>
              </a:rPr>
              <a:t>※</a:t>
            </a:r>
            <a:r>
              <a:rPr lang="ja-JP" altLang="en-US" sz="850" dirty="0">
                <a:solidFill>
                  <a:srgbClr val="FF0000"/>
                </a:solidFill>
                <a:latin typeface="メイリオ" panose="020B0604030504040204" pitchFamily="50" charset="-128"/>
                <a:ea typeface="メイリオ" panose="020B0604030504040204" pitchFamily="50" charset="-128"/>
                <a:cs typeface="メイリオ"/>
                <a:sym typeface="Meiryo"/>
              </a:rPr>
              <a:t>既存</a:t>
            </a:r>
            <a:r>
              <a:rPr lang="en-US" altLang="ja-JP" sz="850" dirty="0">
                <a:solidFill>
                  <a:srgbClr val="FF0000"/>
                </a:solidFill>
                <a:latin typeface="メイリオ" panose="020B0604030504040204" pitchFamily="50" charset="-128"/>
                <a:ea typeface="メイリオ" panose="020B0604030504040204" pitchFamily="50" charset="-128"/>
                <a:cs typeface="メイリオ"/>
                <a:sym typeface="Meiryo"/>
              </a:rPr>
              <a:t>API</a:t>
            </a:r>
            <a:r>
              <a:rPr lang="ja-JP" altLang="en-US" sz="850" dirty="0">
                <a:solidFill>
                  <a:srgbClr val="FF0000"/>
                </a:solidFill>
                <a:latin typeface="メイリオ" panose="020B0604030504040204" pitchFamily="50" charset="-128"/>
                <a:ea typeface="メイリオ" panose="020B0604030504040204" pitchFamily="50" charset="-128"/>
                <a:cs typeface="メイリオ"/>
                <a:sym typeface="Meiryo"/>
              </a:rPr>
              <a:t>ツールとの併用についても、問題なく稼働が可能。</a:t>
            </a:r>
            <a:endParaRPr lang="ja-JP" altLang="en-US" sz="850" dirty="0">
              <a:solidFill>
                <a:srgbClr val="FF0000"/>
              </a:solidFill>
              <a:latin typeface="メイリオ"/>
              <a:ea typeface="メイリオ"/>
              <a:cs typeface="メイリオ"/>
            </a:endParaRPr>
          </a:p>
        </p:txBody>
      </p:sp>
      <p:sp>
        <p:nvSpPr>
          <p:cNvPr id="8" name="正方形/長方形 7">
            <a:extLst>
              <a:ext uri="{FF2B5EF4-FFF2-40B4-BE49-F238E27FC236}">
                <a16:creationId xmlns:a16="http://schemas.microsoft.com/office/drawing/2014/main" id="{F5B8C83A-7191-D772-EF88-AE268D007E63}"/>
              </a:ext>
            </a:extLst>
          </p:cNvPr>
          <p:cNvSpPr/>
          <p:nvPr/>
        </p:nvSpPr>
        <p:spPr>
          <a:xfrm>
            <a:off x="6137688" y="1518664"/>
            <a:ext cx="2473721" cy="284744"/>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ja-JP" altLang="en-US" sz="1100" b="1" dirty="0">
                <a:solidFill>
                  <a:schemeClr val="bg1"/>
                </a:solidFill>
                <a:latin typeface="メイリオ" panose="020B0604030504040204" pitchFamily="50" charset="-128"/>
                <a:ea typeface="メイリオ" panose="020B0604030504040204" pitchFamily="50" charset="-128"/>
                <a:cs typeface="メイリオ"/>
              </a:rPr>
              <a:t>動作イメージ</a:t>
            </a:r>
          </a:p>
        </p:txBody>
      </p:sp>
      <p:sp>
        <p:nvSpPr>
          <p:cNvPr id="26" name="Google Shape;51;p19">
            <a:extLst>
              <a:ext uri="{FF2B5EF4-FFF2-40B4-BE49-F238E27FC236}">
                <a16:creationId xmlns:a16="http://schemas.microsoft.com/office/drawing/2014/main" id="{A4070FDA-7C99-27DE-6A9C-437C1D5DD3B3}"/>
              </a:ext>
            </a:extLst>
          </p:cNvPr>
          <p:cNvSpPr/>
          <p:nvPr/>
        </p:nvSpPr>
        <p:spPr>
          <a:xfrm>
            <a:off x="1370199" y="1321261"/>
            <a:ext cx="1227546" cy="48510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初期：</a:t>
            </a:r>
            <a:r>
              <a:rPr lang="en-US" altLang="ja-JP" b="1" dirty="0">
                <a:solidFill>
                  <a:schemeClr val="lt1"/>
                </a:solidFill>
                <a:latin typeface="メイリオ"/>
                <a:ea typeface="メイリオ"/>
                <a:cs typeface="メイリオ"/>
                <a:sym typeface="Meiryo"/>
              </a:rPr>
              <a:t>15</a:t>
            </a:r>
            <a:r>
              <a:rPr lang="ja-JP" altLang="en-US" b="1" dirty="0">
                <a:solidFill>
                  <a:schemeClr val="lt1"/>
                </a:solidFill>
                <a:latin typeface="メイリオ"/>
                <a:ea typeface="メイリオ"/>
                <a:cs typeface="メイリオ"/>
                <a:sym typeface="Meiryo"/>
              </a:rPr>
              <a:t>万円</a:t>
            </a:r>
            <a:endParaRPr b="1" dirty="0">
              <a:solidFill>
                <a:schemeClr val="lt1"/>
              </a:solidFill>
              <a:latin typeface="メイリオ"/>
              <a:ea typeface="メイリオ"/>
              <a:cs typeface="メイリオ"/>
              <a:sym typeface="Meiryo"/>
            </a:endParaRPr>
          </a:p>
        </p:txBody>
      </p:sp>
      <p:sp>
        <p:nvSpPr>
          <p:cNvPr id="28" name="Google Shape;51;p19">
            <a:extLst>
              <a:ext uri="{FF2B5EF4-FFF2-40B4-BE49-F238E27FC236}">
                <a16:creationId xmlns:a16="http://schemas.microsoft.com/office/drawing/2014/main" id="{40C4675F-5DCC-DD57-BE14-B3A7697A02CD}"/>
              </a:ext>
            </a:extLst>
          </p:cNvPr>
          <p:cNvSpPr/>
          <p:nvPr/>
        </p:nvSpPr>
        <p:spPr>
          <a:xfrm>
            <a:off x="2665729" y="1321261"/>
            <a:ext cx="1227546" cy="485102"/>
          </a:xfrm>
          <a:prstGeom prst="roundRect">
            <a:avLst>
              <a:gd name="adj" fmla="val 16667"/>
            </a:avLst>
          </a:prstGeom>
          <a:solidFill>
            <a:schemeClr val="tx2"/>
          </a:solidFill>
          <a:ln>
            <a:noFill/>
          </a:ln>
        </p:spPr>
        <p:txBody>
          <a:bodyPr spcFirstLastPara="1" wrap="square" lIns="74282" tIns="45700" rIns="74282" bIns="457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1pPr>
            <a:lvl2pPr marR="0" lvl="1"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2pPr>
            <a:lvl3pPr marR="0" lvl="2"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3pPr>
            <a:lvl4pPr marR="0" lvl="3"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4pPr>
            <a:lvl5pPr marR="0" lvl="4"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5pPr>
            <a:lvl6pPr marR="0" lvl="5"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6pPr>
            <a:lvl7pPr marR="0" lvl="6"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7pPr>
            <a:lvl8pPr marR="0" lvl="7"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8pPr>
            <a:lvl9pPr marR="0" lvl="8" algn="l" rtl="0">
              <a:lnSpc>
                <a:spcPct val="100000"/>
              </a:lnSpc>
              <a:spcBef>
                <a:spcPts val="0"/>
              </a:spcBef>
              <a:spcAft>
                <a:spcPts val="0"/>
              </a:spcAft>
              <a:buClr>
                <a:srgbClr val="000000"/>
              </a:buClr>
              <a:buFont typeface="Arial"/>
              <a:defRPr sz="1100" b="0" i="0" u="none" strike="noStrike" cap="none">
                <a:solidFill>
                  <a:srgbClr val="000000"/>
                </a:solidFill>
                <a:latin typeface="メイリオ"/>
                <a:ea typeface="メイリオ"/>
                <a:cs typeface="メイリオ"/>
                <a:sym typeface="Arial"/>
              </a:defRPr>
            </a:lvl9pPr>
          </a:lstStyle>
          <a:p>
            <a:pPr algn="ctr">
              <a:buSzPts val="1400"/>
            </a:pPr>
            <a:r>
              <a:rPr lang="ja-JP" altLang="en-US" b="1" dirty="0">
                <a:solidFill>
                  <a:schemeClr val="lt1"/>
                </a:solidFill>
                <a:latin typeface="メイリオ"/>
                <a:ea typeface="メイリオ"/>
                <a:cs typeface="メイリオ"/>
                <a:sym typeface="Meiryo"/>
              </a:rPr>
              <a:t>月額</a:t>
            </a:r>
            <a:r>
              <a:rPr lang="en-US" altLang="ja-JP" b="1" dirty="0">
                <a:solidFill>
                  <a:schemeClr val="lt1"/>
                </a:solidFill>
                <a:latin typeface="メイリオ"/>
                <a:ea typeface="メイリオ"/>
                <a:cs typeface="メイリオ"/>
                <a:sym typeface="Meiryo"/>
              </a:rPr>
              <a:t>3</a:t>
            </a:r>
            <a:r>
              <a:rPr lang="ja-JP" altLang="en-US" b="1" dirty="0">
                <a:solidFill>
                  <a:schemeClr val="lt1"/>
                </a:solidFill>
                <a:latin typeface="メイリオ"/>
                <a:ea typeface="メイリオ"/>
                <a:cs typeface="メイリオ"/>
                <a:sym typeface="Meiryo"/>
              </a:rPr>
              <a:t>万円～</a:t>
            </a:r>
            <a:endParaRPr lang="en-US" altLang="ja-JP" b="1" dirty="0">
              <a:solidFill>
                <a:schemeClr val="lt1"/>
              </a:solidFill>
              <a:latin typeface="メイリオ"/>
              <a:ea typeface="メイリオ"/>
              <a:cs typeface="メイリオ"/>
              <a:sym typeface="Meiryo"/>
            </a:endParaRPr>
          </a:p>
          <a:p>
            <a:pPr algn="ctr">
              <a:buSzPts val="1400"/>
            </a:pPr>
            <a:r>
              <a:rPr lang="en-US" altLang="ja-JP" sz="850" b="1" dirty="0">
                <a:solidFill>
                  <a:srgbClr val="FFFF00"/>
                </a:solidFill>
                <a:latin typeface="メイリオ"/>
                <a:ea typeface="メイリオ"/>
                <a:cs typeface="メイリオ"/>
                <a:sym typeface="Meiryo"/>
              </a:rPr>
              <a:t>+</a:t>
            </a:r>
            <a:r>
              <a:rPr lang="ja-JP" altLang="en-US" sz="850" b="1" dirty="0">
                <a:solidFill>
                  <a:srgbClr val="FFFF00"/>
                </a:solidFill>
                <a:latin typeface="メイリオ"/>
                <a:ea typeface="メイリオ"/>
                <a:cs typeface="メイリオ"/>
                <a:sym typeface="Meiryo"/>
              </a:rPr>
              <a:t>設定地点追加</a:t>
            </a:r>
            <a:endParaRPr sz="850" b="1" dirty="0">
              <a:solidFill>
                <a:srgbClr val="FFFF00"/>
              </a:solidFill>
              <a:latin typeface="メイリオ"/>
              <a:ea typeface="メイリオ"/>
              <a:cs typeface="メイリオ"/>
              <a:sym typeface="Meiryo"/>
            </a:endParaRPr>
          </a:p>
        </p:txBody>
      </p:sp>
      <p:sp>
        <p:nvSpPr>
          <p:cNvPr id="11" name="正方形/長方形 10">
            <a:extLst>
              <a:ext uri="{FF2B5EF4-FFF2-40B4-BE49-F238E27FC236}">
                <a16:creationId xmlns:a16="http://schemas.microsoft.com/office/drawing/2014/main" id="{189A6A4C-E34E-E7CF-D6DD-C175E600A94D}"/>
              </a:ext>
            </a:extLst>
          </p:cNvPr>
          <p:cNvSpPr/>
          <p:nvPr/>
        </p:nvSpPr>
        <p:spPr>
          <a:xfrm>
            <a:off x="1743681" y="1909406"/>
            <a:ext cx="1510467" cy="244151"/>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en-US" altLang="ja-JP"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WEB</a:t>
            </a:r>
            <a:r>
              <a:rPr lang="ja-JP" altLang="en-US" sz="950" b="1" dirty="0">
                <a:solidFill>
                  <a:schemeClr val="tx1">
                    <a:lumMod val="50000"/>
                    <a:lumOff val="50000"/>
                  </a:schemeClr>
                </a:solidFill>
                <a:latin typeface="メイリオ" panose="020B0604030504040204" pitchFamily="50" charset="-128"/>
                <a:ea typeface="メイリオ" panose="020B0604030504040204" pitchFamily="50" charset="-128"/>
                <a:cs typeface="メイリオ"/>
              </a:rPr>
              <a:t>サイト</a:t>
            </a:r>
          </a:p>
        </p:txBody>
      </p:sp>
      <p:pic>
        <p:nvPicPr>
          <p:cNvPr id="18" name="図 17">
            <a:extLst>
              <a:ext uri="{FF2B5EF4-FFF2-40B4-BE49-F238E27FC236}">
                <a16:creationId xmlns:a16="http://schemas.microsoft.com/office/drawing/2014/main" id="{122BEACA-AA0E-EFF8-CDF2-B0A5B58840D0}"/>
              </a:ext>
            </a:extLst>
          </p:cNvPr>
          <p:cNvPicPr>
            <a:picLocks noChangeAspect="1"/>
          </p:cNvPicPr>
          <p:nvPr/>
        </p:nvPicPr>
        <p:blipFill>
          <a:blip r:embed="rId9"/>
          <a:stretch>
            <a:fillRect/>
          </a:stretch>
        </p:blipFill>
        <p:spPr>
          <a:xfrm>
            <a:off x="2946639" y="3973990"/>
            <a:ext cx="379108" cy="69986"/>
          </a:xfrm>
          <a:prstGeom prst="rect">
            <a:avLst/>
          </a:prstGeom>
        </p:spPr>
      </p:pic>
      <p:pic>
        <p:nvPicPr>
          <p:cNvPr id="27" name="図 26">
            <a:extLst>
              <a:ext uri="{FF2B5EF4-FFF2-40B4-BE49-F238E27FC236}">
                <a16:creationId xmlns:a16="http://schemas.microsoft.com/office/drawing/2014/main" id="{D971BE53-7CD8-C375-2A00-B224602AC25F}"/>
              </a:ext>
            </a:extLst>
          </p:cNvPr>
          <p:cNvPicPr>
            <a:picLocks noChangeAspect="1"/>
          </p:cNvPicPr>
          <p:nvPr/>
        </p:nvPicPr>
        <p:blipFill>
          <a:blip r:embed="rId9"/>
          <a:stretch>
            <a:fillRect/>
          </a:stretch>
        </p:blipFill>
        <p:spPr>
          <a:xfrm>
            <a:off x="2768820" y="2495006"/>
            <a:ext cx="379108" cy="69986"/>
          </a:xfrm>
          <a:prstGeom prst="rect">
            <a:avLst/>
          </a:prstGeom>
        </p:spPr>
      </p:pic>
      <p:sp>
        <p:nvSpPr>
          <p:cNvPr id="33" name="四角形: 角を丸くする 32">
            <a:extLst>
              <a:ext uri="{FF2B5EF4-FFF2-40B4-BE49-F238E27FC236}">
                <a16:creationId xmlns:a16="http://schemas.microsoft.com/office/drawing/2014/main" id="{B7D71D80-6086-B1B4-3E2C-EE891B12909E}"/>
              </a:ext>
            </a:extLst>
          </p:cNvPr>
          <p:cNvSpPr/>
          <p:nvPr/>
        </p:nvSpPr>
        <p:spPr>
          <a:xfrm>
            <a:off x="1913186" y="5205027"/>
            <a:ext cx="3960179" cy="659955"/>
          </a:xfrm>
          <a:prstGeom prst="roundRect">
            <a:avLst>
              <a:gd name="adj" fmla="val 25327"/>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ja-JP" altLang="en-US" sz="1300" dirty="0">
                <a:solidFill>
                  <a:schemeClr val="tx1"/>
                </a:solidFill>
                <a:latin typeface="メイリオ" panose="020B0604030504040204" pitchFamily="50" charset="-128"/>
                <a:ea typeface="メイリオ" panose="020B0604030504040204" pitchFamily="50" charset="-128"/>
                <a:cs typeface="メイリオ"/>
              </a:rPr>
              <a:t>フォーム入力内容を</a:t>
            </a:r>
            <a:br>
              <a:rPr lang="en-US" altLang="ja-JP" sz="1300" dirty="0">
                <a:solidFill>
                  <a:schemeClr val="tx1"/>
                </a:solidFill>
                <a:latin typeface="メイリオ" panose="020B0604030504040204" pitchFamily="50" charset="-128"/>
                <a:ea typeface="メイリオ" panose="020B0604030504040204" pitchFamily="50" charset="-128"/>
                <a:cs typeface="メイリオ"/>
              </a:rPr>
            </a:br>
            <a:r>
              <a:rPr lang="en-US" altLang="ja-JP" sz="13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300" dirty="0">
                <a:solidFill>
                  <a:schemeClr val="tx1"/>
                </a:solidFill>
                <a:latin typeface="メイリオ" panose="020B0604030504040204" pitchFamily="50" charset="-128"/>
                <a:ea typeface="メイリオ" panose="020B0604030504040204" pitchFamily="50" charset="-128"/>
                <a:cs typeface="メイリオ"/>
              </a:rPr>
              <a:t>トーク入力画面へ引き継ぎ可能</a:t>
            </a:r>
          </a:p>
        </p:txBody>
      </p:sp>
      <p:cxnSp>
        <p:nvCxnSpPr>
          <p:cNvPr id="44" name="直線矢印コネクタ 43">
            <a:extLst>
              <a:ext uri="{FF2B5EF4-FFF2-40B4-BE49-F238E27FC236}">
                <a16:creationId xmlns:a16="http://schemas.microsoft.com/office/drawing/2014/main" id="{666CF79B-D322-06BC-F342-DE710BE7473B}"/>
              </a:ext>
            </a:extLst>
          </p:cNvPr>
          <p:cNvCxnSpPr>
            <a:cxnSpLocks/>
            <a:stCxn id="33" idx="1"/>
          </p:cNvCxnSpPr>
          <p:nvPr/>
        </p:nvCxnSpPr>
        <p:spPr>
          <a:xfrm flipH="1" flipV="1">
            <a:off x="1679377" y="4868960"/>
            <a:ext cx="233808" cy="666044"/>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1D29A9C3-A3E8-0780-A758-0C8E7E376668}"/>
              </a:ext>
            </a:extLst>
          </p:cNvPr>
          <p:cNvSpPr/>
          <p:nvPr/>
        </p:nvSpPr>
        <p:spPr>
          <a:xfrm>
            <a:off x="5284944" y="2415812"/>
            <a:ext cx="530810" cy="1821208"/>
          </a:xfrm>
          <a:prstGeom prst="rect">
            <a:avLst/>
          </a:prstGeom>
          <a:solidFill>
            <a:srgbClr val="04FA0A">
              <a:alpha val="4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r>
              <a:rPr lang="en-US" altLang="ja-JP" sz="950" b="1" dirty="0">
                <a:solidFill>
                  <a:schemeClr val="tx1"/>
                </a:solidFill>
                <a:latin typeface="メイリオ" panose="020B0604030504040204" pitchFamily="50" charset="-128"/>
                <a:ea typeface="メイリオ" panose="020B0604030504040204" pitchFamily="50" charset="-128"/>
                <a:cs typeface="メイリオ"/>
              </a:rPr>
              <a:t>DYM</a:t>
            </a: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開発</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a:p>
            <a:pPr algn="ctr"/>
            <a:r>
              <a:rPr lang="ja-JP" altLang="en-US" sz="950" b="1" dirty="0">
                <a:solidFill>
                  <a:schemeClr val="tx1"/>
                </a:solidFill>
                <a:latin typeface="メイリオ" panose="020B0604030504040204" pitchFamily="50" charset="-128"/>
                <a:ea typeface="メイリオ" panose="020B0604030504040204" pitchFamily="50" charset="-128"/>
                <a:cs typeface="メイリオ"/>
              </a:rPr>
              <a:t>ツール</a:t>
            </a:r>
            <a:endParaRPr lang="en-US" altLang="ja-JP" sz="950" b="1" dirty="0">
              <a:solidFill>
                <a:schemeClr val="tx1"/>
              </a:solidFill>
              <a:latin typeface="メイリオ" panose="020B0604030504040204" pitchFamily="50" charset="-128"/>
              <a:ea typeface="メイリオ" panose="020B0604030504040204" pitchFamily="50" charset="-128"/>
              <a:cs typeface="メイリオ"/>
            </a:endParaRPr>
          </a:p>
        </p:txBody>
      </p:sp>
      <p:sp>
        <p:nvSpPr>
          <p:cNvPr id="1048" name="矢印: 右 1047">
            <a:extLst>
              <a:ext uri="{FF2B5EF4-FFF2-40B4-BE49-F238E27FC236}">
                <a16:creationId xmlns:a16="http://schemas.microsoft.com/office/drawing/2014/main" id="{6A5BBE8E-2B42-49E0-686B-A6584B59E72F}"/>
              </a:ext>
            </a:extLst>
          </p:cNvPr>
          <p:cNvSpPr/>
          <p:nvPr/>
        </p:nvSpPr>
        <p:spPr>
          <a:xfrm>
            <a:off x="3916109" y="3203047"/>
            <a:ext cx="1326782" cy="392774"/>
          </a:xfrm>
          <a:prstGeom prst="rightArrow">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pPr algn="ctr"/>
            <a:endParaRPr lang="ja-JP" altLang="en-US">
              <a:latin typeface="メイリオ"/>
              <a:ea typeface="メイリオ"/>
              <a:cs typeface="メイリオ"/>
            </a:endParaRPr>
          </a:p>
        </p:txBody>
      </p:sp>
      <p:sp>
        <p:nvSpPr>
          <p:cNvPr id="1050" name="吹き出し: 角を丸めた四角形 1049">
            <a:extLst>
              <a:ext uri="{FF2B5EF4-FFF2-40B4-BE49-F238E27FC236}">
                <a16:creationId xmlns:a16="http://schemas.microsoft.com/office/drawing/2014/main" id="{0D7606B7-7AEE-445F-FB97-74913C4A4F60}"/>
              </a:ext>
            </a:extLst>
          </p:cNvPr>
          <p:cNvSpPr/>
          <p:nvPr/>
        </p:nvSpPr>
        <p:spPr>
          <a:xfrm>
            <a:off x="3925424" y="2187781"/>
            <a:ext cx="1288661" cy="948384"/>
          </a:xfrm>
          <a:prstGeom prst="wedgeRoundRectCallout">
            <a:avLst/>
          </a:prstGeom>
          <a:solidFill>
            <a:srgbClr val="FDFDFD"/>
          </a:solidFill>
          <a:ln w="19050">
            <a:solidFill>
              <a:schemeClr val="tx2">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lIns="74295" rIns="74295"/>
          <a:lstStyle/>
          <a:p>
            <a:r>
              <a:rPr lang="en-US" altLang="ja-JP" sz="1100" dirty="0">
                <a:solidFill>
                  <a:schemeClr val="tx1"/>
                </a:solidFill>
                <a:latin typeface="メイリオ" panose="020B0604030504040204" pitchFamily="50" charset="-128"/>
                <a:ea typeface="メイリオ" panose="020B0604030504040204" pitchFamily="50" charset="-128"/>
                <a:cs typeface="メイリオ"/>
              </a:rPr>
              <a:t>CV</a:t>
            </a:r>
            <a:r>
              <a:rPr lang="ja-JP" altLang="en-US" sz="1100" dirty="0">
                <a:solidFill>
                  <a:schemeClr val="tx1"/>
                </a:solidFill>
                <a:latin typeface="メイリオ" panose="020B0604030504040204" pitchFamily="50" charset="-128"/>
                <a:ea typeface="メイリオ" panose="020B0604030504040204" pitchFamily="50" charset="-128"/>
                <a:cs typeface="メイリオ"/>
              </a:rPr>
              <a:t>完了後</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a:p>
            <a:r>
              <a:rPr lang="ja-JP" altLang="en-US" sz="1100" dirty="0">
                <a:solidFill>
                  <a:schemeClr val="tx1"/>
                </a:solidFill>
                <a:latin typeface="メイリオ" panose="020B0604030504040204" pitchFamily="50" charset="-128"/>
                <a:ea typeface="メイリオ" panose="020B0604030504040204" pitchFamily="50" charset="-128"/>
                <a:cs typeface="メイリオ"/>
              </a:rPr>
              <a:t>約</a:t>
            </a:r>
            <a:r>
              <a:rPr lang="en-US" altLang="ja-JP" sz="1100" dirty="0">
                <a:solidFill>
                  <a:schemeClr val="tx1"/>
                </a:solidFill>
                <a:latin typeface="メイリオ" panose="020B0604030504040204" pitchFamily="50" charset="-128"/>
                <a:ea typeface="メイリオ" panose="020B0604030504040204" pitchFamily="50" charset="-128"/>
                <a:cs typeface="メイリオ"/>
              </a:rPr>
              <a:t>2~3</a:t>
            </a:r>
            <a:r>
              <a:rPr lang="ja-JP" altLang="en-US" sz="1100" dirty="0">
                <a:solidFill>
                  <a:schemeClr val="tx1"/>
                </a:solidFill>
                <a:latin typeface="メイリオ" panose="020B0604030504040204" pitchFamily="50" charset="-128"/>
                <a:ea typeface="メイリオ" panose="020B0604030504040204" pitchFamily="50" charset="-128"/>
                <a:cs typeface="メイリオ"/>
              </a:rPr>
              <a:t>秒で</a:t>
            </a:r>
            <a:br>
              <a:rPr lang="en-US" altLang="ja-JP" sz="1100" dirty="0">
                <a:solidFill>
                  <a:schemeClr val="tx1"/>
                </a:solidFill>
                <a:latin typeface="メイリオ" panose="020B0604030504040204" pitchFamily="50" charset="-128"/>
                <a:ea typeface="メイリオ" panose="020B0604030504040204" pitchFamily="50" charset="-128"/>
                <a:cs typeface="メイリオ"/>
              </a:rPr>
            </a:br>
            <a:r>
              <a:rPr lang="en-US" altLang="ja-JP" sz="1100" dirty="0">
                <a:solidFill>
                  <a:schemeClr val="tx1"/>
                </a:solidFill>
                <a:latin typeface="メイリオ" panose="020B0604030504040204" pitchFamily="50" charset="-128"/>
                <a:ea typeface="メイリオ" panose="020B0604030504040204" pitchFamily="50" charset="-128"/>
                <a:cs typeface="メイリオ"/>
              </a:rPr>
              <a:t>LINE</a:t>
            </a:r>
            <a:r>
              <a:rPr lang="ja-JP" altLang="en-US" sz="1100" dirty="0">
                <a:solidFill>
                  <a:schemeClr val="tx1"/>
                </a:solidFill>
                <a:latin typeface="メイリオ" panose="020B0604030504040204" pitchFamily="50" charset="-128"/>
                <a:ea typeface="メイリオ" panose="020B0604030504040204" pitchFamily="50" charset="-128"/>
                <a:cs typeface="メイリオ"/>
              </a:rPr>
              <a:t>へ自動遷移</a:t>
            </a:r>
            <a:endParaRPr lang="en-US" altLang="ja-JP" sz="1100" dirty="0">
              <a:solidFill>
                <a:schemeClr val="tx1"/>
              </a:solidFill>
              <a:latin typeface="メイリオ" panose="020B0604030504040204" pitchFamily="50" charset="-128"/>
              <a:ea typeface="メイリオ" panose="020B0604030504040204" pitchFamily="50" charset="-128"/>
              <a:cs typeface="メイリオ"/>
            </a:endParaRPr>
          </a:p>
        </p:txBody>
      </p:sp>
      <p:cxnSp>
        <p:nvCxnSpPr>
          <p:cNvPr id="1052" name="直線矢印コネクタ 1051">
            <a:extLst>
              <a:ext uri="{FF2B5EF4-FFF2-40B4-BE49-F238E27FC236}">
                <a16:creationId xmlns:a16="http://schemas.microsoft.com/office/drawing/2014/main" id="{5B4E7079-E54A-2282-BDB8-487FFE5E8981}"/>
              </a:ext>
            </a:extLst>
          </p:cNvPr>
          <p:cNvCxnSpPr>
            <a:cxnSpLocks/>
          </p:cNvCxnSpPr>
          <p:nvPr/>
        </p:nvCxnSpPr>
        <p:spPr>
          <a:xfrm flipV="1">
            <a:off x="5864346" y="4971540"/>
            <a:ext cx="1781554" cy="599046"/>
          </a:xfrm>
          <a:prstGeom prst="straightConnector1">
            <a:avLst/>
          </a:prstGeom>
          <a:ln w="19050">
            <a:solidFill>
              <a:srgbClr val="00B050">
                <a:alpha val="80000"/>
              </a:srgbClr>
            </a:solidFill>
            <a:prstDash val="sysDot"/>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サンクスLINE｜導入・活用実績</a:t>
            </a:r>
            <a:endParaRPr sz="1600" b="1" dirty="0">
              <a:solidFill>
                <a:srgbClr val="002060"/>
              </a:solidFill>
              <a:latin typeface="メイリオ"/>
              <a:ea typeface="メイリオ"/>
              <a:cs typeface="メイリオ"/>
            </a:endParaRPr>
          </a:p>
        </p:txBody>
      </p:sp>
      <p:sp>
        <p:nvSpPr>
          <p:cNvPr id="4" name="TextBox 2"/>
          <p:cNvSpPr txBox="1"/>
          <p:nvPr/>
        </p:nvSpPr>
        <p:spPr>
          <a:xfrm>
            <a:off x="644865" y="817378"/>
            <a:ext cx="9111472" cy="345243"/>
          </a:xfrm>
          <a:prstGeom prst="rect">
            <a:avLst/>
          </a:prstGeom>
          <a:noFill/>
        </p:spPr>
        <p:txBody>
          <a:bodyPr wrap="square" lIns="0" tIns="21600" rIns="0" bIns="21600" anchor="ctr">
            <a:spAutoFit/>
          </a:bodyPr>
          <a:lstStyle/>
          <a:p>
            <a:pPr algn="l">
              <a:lnSpc>
                <a:spcPct val="130000"/>
              </a:lnSpc>
            </a:pPr>
            <a:r>
              <a:rPr sz="1600" dirty="0" err="1">
                <a:solidFill>
                  <a:srgbClr val="333333"/>
                </a:solidFill>
                <a:latin typeface="メイリオ"/>
                <a:ea typeface="メイリオ"/>
                <a:cs typeface="メイリオ"/>
              </a:rPr>
              <a:t>LINE活用の参考事例と、サンクスLINE誘導ツールの導入実績</a:t>
            </a:r>
            <a:endParaRPr sz="105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4400" y="1548000"/>
            <a:ext cx="8629200" cy="1386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7" name="TextBox 6"/>
          <p:cNvSpPr txBox="1"/>
          <p:nvPr/>
        </p:nvSpPr>
        <p:spPr>
          <a:xfrm>
            <a:off x="770400" y="1980000"/>
            <a:ext cx="3131999" cy="251999"/>
          </a:xfrm>
          <a:prstGeom prst="rect">
            <a:avLst/>
          </a:prstGeom>
          <a:noFill/>
        </p:spPr>
        <p:txBody>
          <a:bodyPr wrap="square" anchor="ctr" lIns="36000" rIns="36000" tIns="18000" bIns="18000">
            <a:spAutoFit/>
          </a:bodyPr>
          <a:lstStyle/>
          <a:p>
            <a:pPr algn="l">
              <a:lnSpc>
                <a:spcPct val="110000"/>
              </a:lnSpc>
              <a:spcAft>
                <a:spcPts val="0"/>
              </a:spcAft>
            </a:pPr>
            <a:r>
              <a:rPr sz="1200" b="1">
                <a:solidFill>
                  <a:srgbClr val="1F285A"/>
                </a:solidFill>
                <a:latin typeface="メイリオ"/>
                <a:ea typeface="メイリオ"/>
                <a:cs typeface="メイリオ"/>
              </a:rPr>
              <a:t>クリニック｜LINE活用による来院率改善</a:t>
            </a:r>
          </a:p>
        </p:txBody>
      </p:sp>
      <p:sp>
        <p:nvSpPr>
          <p:cNvPr id="8" name="Rounded Rectangle 7"/>
          <p:cNvSpPr/>
          <p:nvPr/>
        </p:nvSpPr>
        <p:spPr>
          <a:xfrm>
            <a:off x="806400" y="2250000"/>
            <a:ext cx="1548000" cy="19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850" b="1">
                <a:solidFill>
                  <a:srgbClr val="7F7F7F"/>
                </a:solidFill>
                <a:latin typeface="メイリオ"/>
                <a:ea typeface="メイリオ"/>
                <a:cs typeface="メイリオ"/>
              </a:rPr>
              <a:t>弊社運用の実績</a:t>
            </a:r>
          </a:p>
        </p:txBody>
      </p:sp>
      <p:sp>
        <p:nvSpPr>
          <p:cNvPr id="9" name="Rectangle 8"/>
          <p:cNvSpPr/>
          <p:nvPr/>
        </p:nvSpPr>
        <p:spPr>
          <a:xfrm>
            <a:off x="3851999" y="2034000"/>
            <a:ext cx="990000" cy="413999"/>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 tIns="7200" rIns="10800" bIns="7200"/>
          <a:lstStyle/>
          <a:p>
            <a:pPr algn="ctr">
              <a:lnSpc>
                <a:spcPct val="110000"/>
              </a:lnSpc>
              <a:spcAft>
                <a:spcPts val="0"/>
              </a:spcAft>
            </a:pPr>
            <a:r>
              <a:rPr sz="1000" b="1">
                <a:solidFill>
                  <a:srgbClr val="1F285A"/>
                </a:solidFill>
                <a:latin typeface="メイリオ"/>
                <a:ea typeface="メイリオ"/>
                <a:cs typeface="メイリオ"/>
              </a:rPr>
              <a:t>予約完了</a:t>
            </a:r>
          </a:p>
        </p:txBody>
      </p:sp>
      <p:cxnSp>
        <p:nvCxnSpPr>
          <p:cNvPr id="10" name="Connector 9"/>
          <p:cNvCxnSpPr/>
          <p:nvPr/>
        </p:nvCxnSpPr>
        <p:spPr>
          <a:xfrm>
            <a:off x="4863600" y="2241000"/>
            <a:ext cx="100800"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1" name="Rectangle 10"/>
          <p:cNvSpPr/>
          <p:nvPr/>
        </p:nvSpPr>
        <p:spPr>
          <a:xfrm>
            <a:off x="4986000" y="2034000"/>
            <a:ext cx="990000" cy="413999"/>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 tIns="7200" rIns="10800" bIns="7200"/>
          <a:lstStyle/>
          <a:p>
            <a:pPr algn="ctr">
              <a:lnSpc>
                <a:spcPct val="110000"/>
              </a:lnSpc>
              <a:spcAft>
                <a:spcPts val="0"/>
              </a:spcAft>
            </a:pPr>
            <a:r>
              <a:rPr sz="1000" b="1">
                <a:solidFill>
                  <a:srgbClr val="FFFFFF"/>
                </a:solidFill>
                <a:latin typeface="メイリオ"/>
                <a:ea typeface="メイリオ"/>
                <a:cs typeface="メイリオ"/>
              </a:rPr>
              <a:t>LINE</a:t>
            </a:r>
          </a:p>
          <a:p>
            <a:pPr algn="ctr">
              <a:lnSpc>
                <a:spcPct val="110000"/>
              </a:lnSpc>
              <a:spcAft>
                <a:spcPts val="0"/>
              </a:spcAft>
            </a:pPr>
            <a:r>
              <a:rPr sz="1000" b="1">
                <a:solidFill>
                  <a:srgbClr val="FFFFFF"/>
                </a:solidFill>
                <a:latin typeface="メイリオ"/>
                <a:ea typeface="メイリオ"/>
                <a:cs typeface="メイリオ"/>
              </a:rPr>
              <a:t>友だち追加</a:t>
            </a:r>
          </a:p>
        </p:txBody>
      </p:sp>
      <p:cxnSp>
        <p:nvCxnSpPr>
          <p:cNvPr id="12" name="Connector 11"/>
          <p:cNvCxnSpPr/>
          <p:nvPr/>
        </p:nvCxnSpPr>
        <p:spPr>
          <a:xfrm>
            <a:off x="5997600" y="2241000"/>
            <a:ext cx="100800" cy="0"/>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13" name="Rectangle 12"/>
          <p:cNvSpPr/>
          <p:nvPr/>
        </p:nvSpPr>
        <p:spPr>
          <a:xfrm>
            <a:off x="6120000" y="2034000"/>
            <a:ext cx="990000" cy="413999"/>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0800" tIns="7200" rIns="10800" bIns="7200"/>
          <a:lstStyle/>
          <a:p>
            <a:pPr algn="ctr">
              <a:lnSpc>
                <a:spcPct val="110000"/>
              </a:lnSpc>
              <a:spcAft>
                <a:spcPts val="0"/>
              </a:spcAft>
            </a:pPr>
            <a:r>
              <a:rPr sz="1000" b="1">
                <a:solidFill>
                  <a:srgbClr val="FFFFFF"/>
                </a:solidFill>
                <a:latin typeface="メイリオ"/>
                <a:ea typeface="メイリオ"/>
                <a:cs typeface="メイリオ"/>
              </a:rPr>
              <a:t>予約確認・</a:t>
            </a:r>
          </a:p>
          <a:p>
            <a:pPr algn="ctr">
              <a:lnSpc>
                <a:spcPct val="110000"/>
              </a:lnSpc>
              <a:spcAft>
                <a:spcPts val="0"/>
              </a:spcAft>
            </a:pPr>
            <a:r>
              <a:rPr sz="1000" b="1">
                <a:solidFill>
                  <a:srgbClr val="FFFFFF"/>
                </a:solidFill>
                <a:latin typeface="メイリオ"/>
                <a:ea typeface="メイリオ"/>
                <a:cs typeface="メイリオ"/>
              </a:rPr>
              <a:t>前日のお知らせ</a:t>
            </a:r>
          </a:p>
        </p:txBody>
      </p:sp>
      <p:sp>
        <p:nvSpPr>
          <p:cNvPr id="14" name="TextBox 13"/>
          <p:cNvSpPr txBox="1"/>
          <p:nvPr/>
        </p:nvSpPr>
        <p:spPr>
          <a:xfrm>
            <a:off x="7182000" y="1853999"/>
            <a:ext cx="2034000" cy="180000"/>
          </a:xfrm>
          <a:prstGeom prst="rect">
            <a:avLst/>
          </a:prstGeom>
          <a:noFill/>
        </p:spPr>
        <p:txBody>
          <a:bodyPr wrap="square" anchor="ctr" lIns="36000" rIns="36000" tIns="18000" bIns="18000">
            <a:spAutoFit/>
          </a:bodyPr>
          <a:lstStyle/>
          <a:p>
            <a:pPr algn="ctr">
              <a:lnSpc>
                <a:spcPct val="110000"/>
              </a:lnSpc>
              <a:spcAft>
                <a:spcPts val="0"/>
              </a:spcAft>
            </a:pPr>
            <a:r>
              <a:rPr sz="1000" b="1">
                <a:solidFill>
                  <a:srgbClr val="333333"/>
                </a:solidFill>
                <a:latin typeface="メイリオ"/>
                <a:ea typeface="メイリオ"/>
                <a:cs typeface="メイリオ"/>
              </a:rPr>
              <a:t>予約後の来院率</a:t>
            </a:r>
          </a:p>
        </p:txBody>
      </p:sp>
      <p:sp>
        <p:nvSpPr>
          <p:cNvPr id="15" name="TextBox 14"/>
          <p:cNvSpPr txBox="1"/>
          <p:nvPr/>
        </p:nvSpPr>
        <p:spPr>
          <a:xfrm>
            <a:off x="7182000" y="2051999"/>
            <a:ext cx="2034000" cy="503999"/>
          </a:xfrm>
          <a:prstGeom prst="rect">
            <a:avLst/>
          </a:prstGeom>
          <a:noFill/>
        </p:spPr>
        <p:txBody>
          <a:bodyPr wrap="none" anchor="ctr" lIns="36000" rIns="36000" tIns="10800" bIns="10800">
            <a:spAutoFit/>
          </a:bodyPr>
          <a:lstStyle/>
          <a:p>
            <a:pPr algn="ctr">
              <a:lnSpc>
                <a:spcPct val="105000"/>
              </a:lnSpc>
              <a:spcAft>
                <a:spcPts val="200"/>
              </a:spcAft>
            </a:pPr>
            <a:r>
              <a:rPr sz="2200" b="1">
                <a:solidFill>
                  <a:srgbClr val="1F285A"/>
                </a:solidFill>
                <a:latin typeface="メイリオ"/>
                <a:ea typeface="メイリオ"/>
                <a:cs typeface="メイリオ"/>
              </a:rPr>
              <a:t>40〜50%</a:t>
            </a:r>
            <a:r>
              <a:rPr sz="1200" b="1">
                <a:solidFill>
                  <a:srgbClr val="1F285A"/>
                </a:solidFill>
                <a:latin typeface="メイリオ"/>
                <a:ea typeface="メイリオ"/>
                <a:cs typeface="メイリオ"/>
              </a:rPr>
              <a:t>改善</a:t>
            </a:r>
          </a:p>
        </p:txBody>
      </p:sp>
      <p:sp>
        <p:nvSpPr>
          <p:cNvPr id="16" name="TextBox 15"/>
          <p:cNvSpPr txBox="1"/>
          <p:nvPr/>
        </p:nvSpPr>
        <p:spPr>
          <a:xfrm>
            <a:off x="644400" y="3078000"/>
            <a:ext cx="3780000" cy="270000"/>
          </a:xfrm>
          <a:prstGeom prst="rect">
            <a:avLst/>
          </a:prstGeom>
          <a:noFill/>
        </p:spPr>
        <p:txBody>
          <a:bodyPr wrap="square" anchor="ctr" lIns="36000" rIns="36000" tIns="18000" bIns="18000">
            <a:spAutoFit/>
          </a:bodyPr>
          <a:lstStyle/>
          <a:p>
            <a:pPr algn="l">
              <a:lnSpc>
                <a:spcPct val="110000"/>
              </a:lnSpc>
              <a:spcAft>
                <a:spcPts val="0"/>
              </a:spcAft>
            </a:pPr>
            <a:r>
              <a:rPr sz="1300" b="1">
                <a:solidFill>
                  <a:srgbClr val="1F285A"/>
                </a:solidFill>
                <a:latin typeface="メイリオ"/>
                <a:ea typeface="メイリオ"/>
                <a:cs typeface="メイリオ"/>
              </a:rPr>
              <a:t>人材業界｜サンクスLINE誘導ツール導入実績</a:t>
            </a:r>
          </a:p>
        </p:txBody>
      </p:sp>
      <p:sp>
        <p:nvSpPr>
          <p:cNvPr id="17" name="Rounded Rectangle 16"/>
          <p:cNvSpPr/>
          <p:nvPr/>
        </p:nvSpPr>
        <p:spPr>
          <a:xfrm>
            <a:off x="4496399" y="3114000"/>
            <a:ext cx="1152000" cy="198000"/>
          </a:xfrm>
          <a:prstGeom prst="roundRect">
            <a:avLst>
              <a:gd name="adj"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8000" tIns="0" rIns="18000" bIns="0"/>
          <a:lstStyle/>
          <a:p>
            <a:pPr algn="ctr">
              <a:lnSpc>
                <a:spcPct val="110000"/>
              </a:lnSpc>
              <a:spcAft>
                <a:spcPts val="0"/>
              </a:spcAft>
            </a:pPr>
            <a:r>
              <a:rPr sz="850" b="1">
                <a:solidFill>
                  <a:srgbClr val="FFFFFF"/>
                </a:solidFill>
                <a:latin typeface="メイリオ"/>
                <a:ea typeface="メイリオ"/>
                <a:cs typeface="メイリオ"/>
              </a:rPr>
              <a:t>DYMの導入実績</a:t>
            </a:r>
          </a:p>
        </p:txBody>
      </p:sp>
      <p:sp>
        <p:nvSpPr>
          <p:cNvPr id="18" name="Rectangle 17"/>
          <p:cNvSpPr/>
          <p:nvPr/>
        </p:nvSpPr>
        <p:spPr>
          <a:xfrm>
            <a:off x="644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19" name="Rectangle 18"/>
          <p:cNvSpPr/>
          <p:nvPr/>
        </p:nvSpPr>
        <p:spPr>
          <a:xfrm>
            <a:off x="644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50" b="1">
                <a:solidFill>
                  <a:srgbClr val="1F285A"/>
                </a:solidFill>
                <a:latin typeface="メイリオ"/>
                <a:ea typeface="メイリオ"/>
                <a:cs typeface="メイリオ"/>
              </a:rPr>
              <a:t>① 導入前後3か月比較</a:t>
            </a:r>
          </a:p>
        </p:txBody>
      </p:sp>
      <p:sp>
        <p:nvSpPr>
          <p:cNvPr id="20" name="TextBox 19"/>
          <p:cNvSpPr txBox="1"/>
          <p:nvPr/>
        </p:nvSpPr>
        <p:spPr>
          <a:xfrm>
            <a:off x="752400" y="3761999"/>
            <a:ext cx="1188000" cy="16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7F7F7F"/>
                </a:solidFill>
                <a:latin typeface="メイリオ"/>
                <a:ea typeface="メイリオ"/>
                <a:cs typeface="メイリオ"/>
              </a:rPr>
              <a:t>導入前</a:t>
            </a:r>
          </a:p>
        </p:txBody>
      </p:sp>
      <p:sp>
        <p:nvSpPr>
          <p:cNvPr id="21" name="TextBox 20"/>
          <p:cNvSpPr txBox="1"/>
          <p:nvPr/>
        </p:nvSpPr>
        <p:spPr>
          <a:xfrm>
            <a:off x="752400" y="3923999"/>
            <a:ext cx="1188000" cy="306000"/>
          </a:xfrm>
          <a:prstGeom prst="rect">
            <a:avLst/>
          </a:prstGeom>
          <a:noFill/>
        </p:spPr>
        <p:txBody>
          <a:bodyPr wrap="square" anchor="ctr" lIns="36000" rIns="36000" tIns="18000" bIns="18000">
            <a:spAutoFit/>
          </a:bodyPr>
          <a:lstStyle/>
          <a:p>
            <a:pPr algn="ctr">
              <a:lnSpc>
                <a:spcPct val="110000"/>
              </a:lnSpc>
              <a:spcAft>
                <a:spcPts val="0"/>
              </a:spcAft>
            </a:pPr>
            <a:r>
              <a:rPr sz="1700" b="1">
                <a:solidFill>
                  <a:srgbClr val="333333"/>
                </a:solidFill>
                <a:latin typeface="メイリオ"/>
                <a:ea typeface="メイリオ"/>
                <a:cs typeface="メイリオ"/>
              </a:rPr>
              <a:t>1,532人</a:t>
            </a:r>
          </a:p>
        </p:txBody>
      </p:sp>
      <p:sp>
        <p:nvSpPr>
          <p:cNvPr id="22" name="Right Arrow 21"/>
          <p:cNvSpPr/>
          <p:nvPr/>
        </p:nvSpPr>
        <p:spPr>
          <a:xfrm>
            <a:off x="1958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3" name="TextBox 22"/>
          <p:cNvSpPr txBox="1"/>
          <p:nvPr/>
        </p:nvSpPr>
        <p:spPr>
          <a:xfrm>
            <a:off x="2228399" y="3761999"/>
            <a:ext cx="1188000" cy="16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7F7F7F"/>
                </a:solidFill>
                <a:latin typeface="メイリオ"/>
                <a:ea typeface="メイリオ"/>
                <a:cs typeface="メイリオ"/>
              </a:rPr>
              <a:t>導入後</a:t>
            </a:r>
          </a:p>
        </p:txBody>
      </p:sp>
      <p:sp>
        <p:nvSpPr>
          <p:cNvPr id="24" name="TextBox 23"/>
          <p:cNvSpPr txBox="1"/>
          <p:nvPr/>
        </p:nvSpPr>
        <p:spPr>
          <a:xfrm>
            <a:off x="2228399" y="3923999"/>
            <a:ext cx="1188000" cy="306000"/>
          </a:xfrm>
          <a:prstGeom prst="rect">
            <a:avLst/>
          </a:prstGeom>
          <a:noFill/>
        </p:spPr>
        <p:txBody>
          <a:bodyPr wrap="square" anchor="ctr" lIns="36000" rIns="36000" tIns="18000" bIns="18000">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25" name="Connector 24"/>
          <p:cNvCxnSpPr/>
          <p:nvPr/>
        </p:nvCxnSpPr>
        <p:spPr>
          <a:xfrm>
            <a:off x="788400" y="4320000"/>
            <a:ext cx="2591999"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26" name="TextBox 25"/>
          <p:cNvSpPr txBox="1"/>
          <p:nvPr/>
        </p:nvSpPr>
        <p:spPr>
          <a:xfrm>
            <a:off x="716400" y="4373999"/>
            <a:ext cx="2736000" cy="576000"/>
          </a:xfrm>
          <a:prstGeom prst="rect">
            <a:avLst/>
          </a:prstGeom>
          <a:noFill/>
        </p:spPr>
        <p:txBody>
          <a:bodyPr wrap="square" anchor="ctr" lIns="36000" rIns="36000" tIns="10800" bIns="10800">
            <a:spAutoFit/>
          </a:bodyPr>
          <a:lstStyle/>
          <a:p>
            <a:pPr algn="ctr">
              <a:lnSpc>
                <a:spcPct val="105000"/>
              </a:lnSpc>
              <a:spcAft>
                <a:spcPts val="200"/>
              </a:spcAft>
            </a:pPr>
            <a:r>
              <a:rPr sz="1100" b="1">
                <a:solidFill>
                  <a:srgbClr val="333333"/>
                </a:solidFill>
                <a:latin typeface="メイリオ"/>
                <a:ea typeface="メイリオ"/>
                <a:cs typeface="メイリオ"/>
              </a:rPr>
              <a:t>導入前比 </a:t>
            </a:r>
            <a:r>
              <a:rPr sz="3000" b="1">
                <a:solidFill>
                  <a:srgbClr val="1F285A"/>
                </a:solidFill>
                <a:latin typeface="メイリオ"/>
                <a:ea typeface="メイリオ"/>
                <a:cs typeface="メイリオ"/>
              </a:rPr>
              <a:t>137.3%</a:t>
            </a:r>
          </a:p>
        </p:txBody>
      </p:sp>
      <p:sp>
        <p:nvSpPr>
          <p:cNvPr id="27" name="TextBox 26"/>
          <p:cNvSpPr txBox="1"/>
          <p:nvPr/>
        </p:nvSpPr>
        <p:spPr>
          <a:xfrm>
            <a:off x="716400" y="4986000"/>
            <a:ext cx="2736000" cy="288000"/>
          </a:xfrm>
          <a:prstGeom prst="rect">
            <a:avLst/>
          </a:prstGeom>
          <a:noFill/>
        </p:spPr>
        <p:txBody>
          <a:bodyPr wrap="square" anchor="ctr" lIns="36000" rIns="36000" tIns="10800" bIns="10800">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+571人</a:t>
            </a:r>
          </a:p>
        </p:txBody>
      </p:sp>
      <p:sp>
        <p:nvSpPr>
          <p:cNvPr id="28" name="Rectangle 27"/>
          <p:cNvSpPr/>
          <p:nvPr/>
        </p:nvSpPr>
        <p:spPr>
          <a:xfrm>
            <a:off x="3632400" y="3401999"/>
            <a:ext cx="2880000" cy="2070000"/>
          </a:xfrm>
          <a:prstGeom prst="rect">
            <a:avLst/>
          </a:prstGeom>
          <a:solidFill>
            <a:srgbClr val="FFFFFF"/>
          </a:solidFill>
          <a:ln w="12700">
            <a:solidFill>
              <a:srgbClr val="D9D9D9"/>
            </a:solid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29" name="Rectangle 28"/>
          <p:cNvSpPr/>
          <p:nvPr/>
        </p:nvSpPr>
        <p:spPr>
          <a:xfrm>
            <a:off x="3632400" y="3401999"/>
            <a:ext cx="2880000" cy="270000"/>
          </a:xfrm>
          <a:prstGeom prst="rect">
            <a:avLst/>
          </a:prstGeom>
          <a:solidFill>
            <a:srgbClr val="E4E8F6"/>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150" b="1">
                <a:solidFill>
                  <a:srgbClr val="1F285A"/>
                </a:solidFill>
                <a:latin typeface="メイリオ"/>
                <a:ea typeface="メイリオ"/>
                <a:cs typeface="メイリオ"/>
              </a:rPr>
              <a:t>② 前年同期間比較</a:t>
            </a:r>
          </a:p>
        </p:txBody>
      </p:sp>
      <p:sp>
        <p:nvSpPr>
          <p:cNvPr id="30" name="TextBox 29"/>
          <p:cNvSpPr txBox="1"/>
          <p:nvPr/>
        </p:nvSpPr>
        <p:spPr>
          <a:xfrm>
            <a:off x="3740400" y="3761999"/>
            <a:ext cx="1188000" cy="16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7F7F7F"/>
                </a:solidFill>
                <a:latin typeface="メイリオ"/>
                <a:ea typeface="メイリオ"/>
                <a:cs typeface="メイリオ"/>
              </a:rPr>
              <a:t>2025年7〜9月</a:t>
            </a:r>
          </a:p>
        </p:txBody>
      </p:sp>
      <p:sp>
        <p:nvSpPr>
          <p:cNvPr id="31" name="TextBox 30"/>
          <p:cNvSpPr txBox="1"/>
          <p:nvPr/>
        </p:nvSpPr>
        <p:spPr>
          <a:xfrm>
            <a:off x="3740400" y="3923999"/>
            <a:ext cx="1188000" cy="306000"/>
          </a:xfrm>
          <a:prstGeom prst="rect">
            <a:avLst/>
          </a:prstGeom>
          <a:noFill/>
        </p:spPr>
        <p:txBody>
          <a:bodyPr wrap="square" anchor="ctr" lIns="36000" rIns="36000" tIns="18000" bIns="18000">
            <a:spAutoFit/>
          </a:bodyPr>
          <a:lstStyle/>
          <a:p>
            <a:pPr algn="ctr">
              <a:lnSpc>
                <a:spcPct val="110000"/>
              </a:lnSpc>
              <a:spcAft>
                <a:spcPts val="0"/>
              </a:spcAft>
            </a:pPr>
            <a:r>
              <a:rPr sz="1700" b="1">
                <a:solidFill>
                  <a:srgbClr val="333333"/>
                </a:solidFill>
                <a:latin typeface="メイリオ"/>
                <a:ea typeface="メイリオ"/>
                <a:cs typeface="メイリオ"/>
              </a:rPr>
              <a:t>1,650人</a:t>
            </a:r>
          </a:p>
        </p:txBody>
      </p:sp>
      <p:sp>
        <p:nvSpPr>
          <p:cNvPr id="32" name="Right Arrow 31"/>
          <p:cNvSpPr/>
          <p:nvPr/>
        </p:nvSpPr>
        <p:spPr>
          <a:xfrm>
            <a:off x="4946400" y="3977999"/>
            <a:ext cx="251999" cy="198000"/>
          </a:xfrm>
          <a:prstGeom prst="rightArrow">
            <a:avLst>
              <a:gd name="adj1" fmla="val 40000"/>
              <a:gd name="adj2" fmla="val 50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33" name="TextBox 32"/>
          <p:cNvSpPr txBox="1"/>
          <p:nvPr/>
        </p:nvSpPr>
        <p:spPr>
          <a:xfrm>
            <a:off x="5216399" y="3761999"/>
            <a:ext cx="1188000" cy="162000"/>
          </a:xfrm>
          <a:prstGeom prst="rect">
            <a:avLst/>
          </a:prstGeom>
          <a:noFill/>
        </p:spPr>
        <p:txBody>
          <a:bodyPr wrap="square" anchor="t" lIns="36000" rIns="36000" tIns="18000" bIns="18000">
            <a:spAutoFit/>
          </a:bodyPr>
          <a:lstStyle/>
          <a:p>
            <a:pPr algn="ctr">
              <a:lnSpc>
                <a:spcPct val="110000"/>
              </a:lnSpc>
              <a:spcAft>
                <a:spcPts val="0"/>
              </a:spcAft>
            </a:pPr>
            <a:r>
              <a:rPr sz="950" b="0">
                <a:solidFill>
                  <a:srgbClr val="7F7F7F"/>
                </a:solidFill>
                <a:latin typeface="メイリオ"/>
                <a:ea typeface="メイリオ"/>
                <a:cs typeface="メイリオ"/>
              </a:rPr>
              <a:t>2026年7〜9月</a:t>
            </a:r>
          </a:p>
        </p:txBody>
      </p:sp>
      <p:sp>
        <p:nvSpPr>
          <p:cNvPr id="34" name="TextBox 33"/>
          <p:cNvSpPr txBox="1"/>
          <p:nvPr/>
        </p:nvSpPr>
        <p:spPr>
          <a:xfrm>
            <a:off x="5216399" y="3923999"/>
            <a:ext cx="1188000" cy="306000"/>
          </a:xfrm>
          <a:prstGeom prst="rect">
            <a:avLst/>
          </a:prstGeom>
          <a:noFill/>
        </p:spPr>
        <p:txBody>
          <a:bodyPr wrap="square" anchor="ctr" lIns="36000" rIns="36000" tIns="18000" bIns="18000">
            <a:spAutoFit/>
          </a:bodyPr>
          <a:lstStyle/>
          <a:p>
            <a:pPr algn="ctr">
              <a:lnSpc>
                <a:spcPct val="110000"/>
              </a:lnSpc>
              <a:spcAft>
                <a:spcPts val="0"/>
              </a:spcAft>
            </a:pPr>
            <a:r>
              <a:rPr sz="1700" b="1">
                <a:solidFill>
                  <a:srgbClr val="1F285A"/>
                </a:solidFill>
                <a:latin typeface="メイリオ"/>
                <a:ea typeface="メイリオ"/>
                <a:cs typeface="メイリオ"/>
              </a:rPr>
              <a:t>2,103人</a:t>
            </a:r>
          </a:p>
        </p:txBody>
      </p:sp>
      <p:cxnSp>
        <p:nvCxnSpPr>
          <p:cNvPr id="35" name="Connector 34"/>
          <p:cNvCxnSpPr/>
          <p:nvPr/>
        </p:nvCxnSpPr>
        <p:spPr>
          <a:xfrm>
            <a:off x="3776400" y="4320000"/>
            <a:ext cx="2592000"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3704399" y="4373999"/>
            <a:ext cx="2736000" cy="576000"/>
          </a:xfrm>
          <a:prstGeom prst="rect">
            <a:avLst/>
          </a:prstGeom>
          <a:noFill/>
        </p:spPr>
        <p:txBody>
          <a:bodyPr wrap="square" anchor="ctr" lIns="36000" rIns="36000" tIns="10800" bIns="10800">
            <a:spAutoFit/>
          </a:bodyPr>
          <a:lstStyle/>
          <a:p>
            <a:pPr algn="ctr">
              <a:lnSpc>
                <a:spcPct val="105000"/>
              </a:lnSpc>
              <a:spcAft>
                <a:spcPts val="200"/>
              </a:spcAft>
            </a:pPr>
            <a:r>
              <a:rPr sz="1100" b="1">
                <a:solidFill>
                  <a:srgbClr val="333333"/>
                </a:solidFill>
                <a:latin typeface="メイリオ"/>
                <a:ea typeface="メイリオ"/>
                <a:cs typeface="メイリオ"/>
              </a:rPr>
              <a:t>前年比 </a:t>
            </a:r>
            <a:r>
              <a:rPr sz="3000" b="1">
                <a:solidFill>
                  <a:srgbClr val="1F285A"/>
                </a:solidFill>
                <a:latin typeface="メイリオ"/>
                <a:ea typeface="メイリオ"/>
                <a:cs typeface="メイリオ"/>
              </a:rPr>
              <a:t>127.5%</a:t>
            </a:r>
          </a:p>
        </p:txBody>
      </p:sp>
      <p:sp>
        <p:nvSpPr>
          <p:cNvPr id="37" name="TextBox 36"/>
          <p:cNvSpPr txBox="1"/>
          <p:nvPr/>
        </p:nvSpPr>
        <p:spPr>
          <a:xfrm>
            <a:off x="3704399" y="4986000"/>
            <a:ext cx="2736000" cy="288000"/>
          </a:xfrm>
          <a:prstGeom prst="rect">
            <a:avLst/>
          </a:prstGeom>
          <a:noFill/>
        </p:spPr>
        <p:txBody>
          <a:bodyPr wrap="square" anchor="ctr" lIns="36000" rIns="36000" tIns="10800" bIns="10800">
            <a:spAutoFit/>
          </a:bodyPr>
          <a:lstStyle/>
          <a:p>
            <a:pPr algn="ctr">
              <a:lnSpc>
                <a:spcPct val="105000"/>
              </a:lnSpc>
              <a:spcAft>
                <a:spcPts val="200"/>
              </a:spcAft>
            </a:pPr>
            <a:r>
              <a:rPr sz="950" b="0">
                <a:solidFill>
                  <a:srgbClr val="7F7F7F"/>
                </a:solidFill>
                <a:latin typeface="メイリオ"/>
                <a:ea typeface="メイリオ"/>
                <a:cs typeface="メイリオ"/>
              </a:rPr>
              <a:t>増加数 </a:t>
            </a:r>
            <a:r>
              <a:rPr sz="1500" b="1">
                <a:solidFill>
                  <a:srgbClr val="0B7A3B"/>
                </a:solidFill>
                <a:latin typeface="メイリオ"/>
                <a:ea typeface="メイリオ"/>
                <a:cs typeface="メイリオ"/>
              </a:rPr>
              <a:t>+453人</a:t>
            </a:r>
          </a:p>
        </p:txBody>
      </p:sp>
      <p:sp>
        <p:nvSpPr>
          <p:cNvPr id="38" name="TextBox 37"/>
          <p:cNvSpPr txBox="1"/>
          <p:nvPr/>
        </p:nvSpPr>
        <p:spPr>
          <a:xfrm>
            <a:off x="6656399" y="3420000"/>
            <a:ext cx="2617200" cy="162000"/>
          </a:xfrm>
          <a:prstGeom prst="rect">
            <a:avLst/>
          </a:prstGeom>
          <a:noFill/>
        </p:spPr>
        <p:txBody>
          <a:bodyPr wrap="square" anchor="t" lIns="36000" rIns="36000" tIns="18000" bIns="18000">
            <a:spAutoFit/>
          </a:bodyPr>
          <a:lstStyle/>
          <a:p>
            <a:pPr algn="l">
              <a:lnSpc>
                <a:spcPct val="110000"/>
              </a:lnSpc>
              <a:spcAft>
                <a:spcPts val="0"/>
              </a:spcAft>
            </a:pPr>
            <a:r>
              <a:rPr sz="900" b="1">
                <a:solidFill>
                  <a:srgbClr val="7F7F7F"/>
                </a:solidFill>
                <a:latin typeface="メイリオ"/>
                <a:ea typeface="メイリオ"/>
                <a:cs typeface="メイリオ"/>
              </a:rPr>
              <a:t>月別比較（友だち増加数・人）</a:t>
            </a:r>
          </a:p>
        </p:txBody>
      </p:sp>
      <p:sp>
        <p:nvSpPr>
          <p:cNvPr id="39" name="Rectangle 38"/>
          <p:cNvSpPr/>
          <p:nvPr/>
        </p:nvSpPr>
        <p:spPr>
          <a:xfrm>
            <a:off x="6692400" y="3625199"/>
            <a:ext cx="108000" cy="108000"/>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0" name="TextBox 39"/>
          <p:cNvSpPr txBox="1"/>
          <p:nvPr/>
        </p:nvSpPr>
        <p:spPr>
          <a:xfrm>
            <a:off x="6818399" y="3571200"/>
            <a:ext cx="684000" cy="216000"/>
          </a:xfrm>
          <a:prstGeom prst="rect">
            <a:avLst/>
          </a:prstGeom>
          <a:noFill/>
        </p:spPr>
        <p:txBody>
          <a:bodyPr wrap="square" anchor="ctr" lIns="36000" rIns="36000" tIns="18000" bIns="18000">
            <a:spAutoFit/>
          </a:bodyPr>
          <a:lstStyle/>
          <a:p>
            <a:pPr algn="l">
              <a:lnSpc>
                <a:spcPct val="110000"/>
              </a:lnSpc>
              <a:spcAft>
                <a:spcPts val="0"/>
              </a:spcAft>
            </a:pPr>
            <a:r>
              <a:rPr sz="800" b="0">
                <a:solidFill>
                  <a:srgbClr val="7F7F7F"/>
                </a:solidFill>
                <a:latin typeface="メイリオ"/>
                <a:ea typeface="メイリオ"/>
                <a:cs typeface="メイリオ"/>
              </a:rPr>
              <a:t>2025年</a:t>
            </a:r>
          </a:p>
        </p:txBody>
      </p:sp>
      <p:sp>
        <p:nvSpPr>
          <p:cNvPr id="41" name="Rectangle 40"/>
          <p:cNvSpPr/>
          <p:nvPr/>
        </p:nvSpPr>
        <p:spPr>
          <a:xfrm>
            <a:off x="7520400" y="3625199"/>
            <a:ext cx="108000" cy="108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2" name="TextBox 41"/>
          <p:cNvSpPr txBox="1"/>
          <p:nvPr/>
        </p:nvSpPr>
        <p:spPr>
          <a:xfrm>
            <a:off x="7646399" y="3571200"/>
            <a:ext cx="684000" cy="216000"/>
          </a:xfrm>
          <a:prstGeom prst="rect">
            <a:avLst/>
          </a:prstGeom>
          <a:noFill/>
        </p:spPr>
        <p:txBody>
          <a:bodyPr wrap="square" anchor="ctr" lIns="36000" rIns="36000" tIns="18000" bIns="18000">
            <a:spAutoFit/>
          </a:bodyPr>
          <a:lstStyle/>
          <a:p>
            <a:pPr algn="l">
              <a:lnSpc>
                <a:spcPct val="110000"/>
              </a:lnSpc>
              <a:spcAft>
                <a:spcPts val="0"/>
              </a:spcAft>
            </a:pPr>
            <a:r>
              <a:rPr sz="800" b="0">
                <a:solidFill>
                  <a:srgbClr val="7F7F7F"/>
                </a:solidFill>
                <a:latin typeface="メイリオ"/>
                <a:ea typeface="メイリオ"/>
                <a:cs typeface="メイリオ"/>
              </a:rPr>
              <a:t>2026年</a:t>
            </a:r>
          </a:p>
        </p:txBody>
      </p:sp>
      <p:sp>
        <p:nvSpPr>
          <p:cNvPr id="43" name="Rectangle 42"/>
          <p:cNvSpPr/>
          <p:nvPr/>
        </p:nvSpPr>
        <p:spPr>
          <a:xfrm>
            <a:off x="6688799" y="4259114"/>
            <a:ext cx="288000" cy="690885"/>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4" name="TextBox 43"/>
          <p:cNvSpPr txBox="1"/>
          <p:nvPr/>
        </p:nvSpPr>
        <p:spPr>
          <a:xfrm>
            <a:off x="6580799" y="4079114"/>
            <a:ext cx="503999" cy="162000"/>
          </a:xfrm>
          <a:prstGeom prst="rect">
            <a:avLst/>
          </a:prstGeom>
          <a:noFill/>
        </p:spPr>
        <p:txBody>
          <a:bodyPr wrap="none" anchor="b" lIns="36000" rIns="36000" tIns="18000" bIns="18000">
            <a:spAutoFit/>
          </a:bodyPr>
          <a:lstStyle/>
          <a:p>
            <a:pPr algn="ctr">
              <a:lnSpc>
                <a:spcPct val="110000"/>
              </a:lnSpc>
              <a:spcAft>
                <a:spcPts val="0"/>
              </a:spcAft>
            </a:pPr>
            <a:r>
              <a:rPr sz="750" b="1">
                <a:solidFill>
                  <a:srgbClr val="333333"/>
                </a:solidFill>
                <a:latin typeface="メイリオ"/>
                <a:ea typeface="メイリオ"/>
                <a:cs typeface="メイリオ"/>
              </a:rPr>
              <a:t>575</a:t>
            </a:r>
          </a:p>
        </p:txBody>
      </p:sp>
      <p:sp>
        <p:nvSpPr>
          <p:cNvPr id="45" name="Rectangle 44"/>
          <p:cNvSpPr/>
          <p:nvPr/>
        </p:nvSpPr>
        <p:spPr>
          <a:xfrm>
            <a:off x="7019999" y="4211052"/>
            <a:ext cx="288000" cy="738947"/>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46" name="TextBox 45"/>
          <p:cNvSpPr txBox="1"/>
          <p:nvPr/>
        </p:nvSpPr>
        <p:spPr>
          <a:xfrm>
            <a:off x="6911999" y="4031052"/>
            <a:ext cx="503999" cy="162000"/>
          </a:xfrm>
          <a:prstGeom prst="rect">
            <a:avLst/>
          </a:prstGeom>
          <a:noFill/>
        </p:spPr>
        <p:txBody>
          <a:bodyPr wrap="none" anchor="b" lIns="36000" rIns="36000" tIns="18000" bIns="18000">
            <a:spAutoFit/>
          </a:bodyPr>
          <a:lstStyle/>
          <a:p>
            <a:pPr algn="ctr">
              <a:lnSpc>
                <a:spcPct val="110000"/>
              </a:lnSpc>
              <a:spcAft>
                <a:spcPts val="0"/>
              </a:spcAft>
            </a:pPr>
            <a:r>
              <a:rPr sz="750" b="1">
                <a:solidFill>
                  <a:srgbClr val="333333"/>
                </a:solidFill>
                <a:latin typeface="メイリオ"/>
                <a:ea typeface="メイリオ"/>
                <a:cs typeface="メイリオ"/>
              </a:rPr>
              <a:t>615</a:t>
            </a:r>
          </a:p>
        </p:txBody>
      </p:sp>
      <p:sp>
        <p:nvSpPr>
          <p:cNvPr id="47" name="TextBox 46"/>
          <p:cNvSpPr txBox="1"/>
          <p:nvPr/>
        </p:nvSpPr>
        <p:spPr>
          <a:xfrm>
            <a:off x="6620399" y="4968000"/>
            <a:ext cx="756000" cy="151200"/>
          </a:xfrm>
          <a:prstGeom prst="rect">
            <a:avLst/>
          </a:prstGeom>
          <a:noFill/>
        </p:spPr>
        <p:txBody>
          <a:bodyPr wrap="square" anchor="t" lIns="36000" rIns="36000" tIns="18000" bIns="18000">
            <a:spAutoFit/>
          </a:bodyPr>
          <a:lstStyle/>
          <a:p>
            <a:pPr algn="ctr">
              <a:lnSpc>
                <a:spcPct val="110000"/>
              </a:lnSpc>
              <a:spcAft>
                <a:spcPts val="0"/>
              </a:spcAft>
            </a:pPr>
            <a:r>
              <a:rPr sz="900" b="1">
                <a:solidFill>
                  <a:srgbClr val="333333"/>
                </a:solidFill>
                <a:latin typeface="メイリオ"/>
                <a:ea typeface="メイリオ"/>
                <a:cs typeface="メイリオ"/>
              </a:rPr>
              <a:t>7月</a:t>
            </a:r>
          </a:p>
        </p:txBody>
      </p:sp>
      <p:sp>
        <p:nvSpPr>
          <p:cNvPr id="48" name="TextBox 47"/>
          <p:cNvSpPr txBox="1"/>
          <p:nvPr/>
        </p:nvSpPr>
        <p:spPr>
          <a:xfrm>
            <a:off x="6620399" y="5112000"/>
            <a:ext cx="756000" cy="180000"/>
          </a:xfrm>
          <a:prstGeom prst="rect">
            <a:avLst/>
          </a:prstGeom>
          <a:noFill/>
        </p:spPr>
        <p:txBody>
          <a:bodyPr wrap="none" anchor="ctr" lIns="36000" rIns="36000" tIns="10800" bIns="10800">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107%</a:t>
            </a:r>
          </a:p>
        </p:txBody>
      </p:sp>
      <p:sp>
        <p:nvSpPr>
          <p:cNvPr id="49" name="Rectangle 48"/>
          <p:cNvSpPr/>
          <p:nvPr/>
        </p:nvSpPr>
        <p:spPr>
          <a:xfrm>
            <a:off x="7516800" y="4330005"/>
            <a:ext cx="288000" cy="619994"/>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0" name="TextBox 49"/>
          <p:cNvSpPr txBox="1"/>
          <p:nvPr/>
        </p:nvSpPr>
        <p:spPr>
          <a:xfrm>
            <a:off x="7408799" y="4150005"/>
            <a:ext cx="503999" cy="162000"/>
          </a:xfrm>
          <a:prstGeom prst="rect">
            <a:avLst/>
          </a:prstGeom>
          <a:noFill/>
        </p:spPr>
        <p:txBody>
          <a:bodyPr wrap="none" anchor="b" lIns="36000" rIns="36000" tIns="18000" bIns="18000">
            <a:spAutoFit/>
          </a:bodyPr>
          <a:lstStyle/>
          <a:p>
            <a:pPr algn="ctr">
              <a:lnSpc>
                <a:spcPct val="110000"/>
              </a:lnSpc>
              <a:spcAft>
                <a:spcPts val="0"/>
              </a:spcAft>
            </a:pPr>
            <a:r>
              <a:rPr sz="750" b="1">
                <a:solidFill>
                  <a:srgbClr val="333333"/>
                </a:solidFill>
                <a:latin typeface="メイリオ"/>
                <a:ea typeface="メイリオ"/>
                <a:cs typeface="メイリオ"/>
              </a:rPr>
              <a:t>516</a:t>
            </a:r>
          </a:p>
        </p:txBody>
      </p:sp>
      <p:sp>
        <p:nvSpPr>
          <p:cNvPr id="51" name="Rectangle 50"/>
          <p:cNvSpPr/>
          <p:nvPr/>
        </p:nvSpPr>
        <p:spPr>
          <a:xfrm>
            <a:off x="7847999" y="4014000"/>
            <a:ext cx="288000" cy="936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2" name="TextBox 51"/>
          <p:cNvSpPr txBox="1"/>
          <p:nvPr/>
        </p:nvSpPr>
        <p:spPr>
          <a:xfrm>
            <a:off x="7739999" y="3834000"/>
            <a:ext cx="503999" cy="162000"/>
          </a:xfrm>
          <a:prstGeom prst="rect">
            <a:avLst/>
          </a:prstGeom>
          <a:noFill/>
        </p:spPr>
        <p:txBody>
          <a:bodyPr wrap="none" anchor="b" lIns="36000" rIns="36000" tIns="18000" bIns="18000">
            <a:spAutoFit/>
          </a:bodyPr>
          <a:lstStyle/>
          <a:p>
            <a:pPr algn="ctr">
              <a:lnSpc>
                <a:spcPct val="110000"/>
              </a:lnSpc>
              <a:spcAft>
                <a:spcPts val="0"/>
              </a:spcAft>
            </a:pPr>
            <a:r>
              <a:rPr sz="750" b="1">
                <a:solidFill>
                  <a:srgbClr val="333333"/>
                </a:solidFill>
                <a:latin typeface="メイリオ"/>
                <a:ea typeface="メイリオ"/>
                <a:cs typeface="メイリオ"/>
              </a:rPr>
              <a:t>779</a:t>
            </a:r>
          </a:p>
        </p:txBody>
      </p:sp>
      <p:sp>
        <p:nvSpPr>
          <p:cNvPr id="53" name="TextBox 52"/>
          <p:cNvSpPr txBox="1"/>
          <p:nvPr/>
        </p:nvSpPr>
        <p:spPr>
          <a:xfrm>
            <a:off x="7448399" y="4968000"/>
            <a:ext cx="756000" cy="151200"/>
          </a:xfrm>
          <a:prstGeom prst="rect">
            <a:avLst/>
          </a:prstGeom>
          <a:noFill/>
        </p:spPr>
        <p:txBody>
          <a:bodyPr wrap="square" anchor="t" lIns="36000" rIns="36000" tIns="18000" bIns="18000">
            <a:spAutoFit/>
          </a:bodyPr>
          <a:lstStyle/>
          <a:p>
            <a:pPr algn="ctr">
              <a:lnSpc>
                <a:spcPct val="110000"/>
              </a:lnSpc>
              <a:spcAft>
                <a:spcPts val="0"/>
              </a:spcAft>
            </a:pPr>
            <a:r>
              <a:rPr sz="900" b="1">
                <a:solidFill>
                  <a:srgbClr val="333333"/>
                </a:solidFill>
                <a:latin typeface="メイリオ"/>
                <a:ea typeface="メイリオ"/>
                <a:cs typeface="メイリオ"/>
              </a:rPr>
              <a:t>8月</a:t>
            </a:r>
          </a:p>
        </p:txBody>
      </p:sp>
      <p:sp>
        <p:nvSpPr>
          <p:cNvPr id="54" name="TextBox 53"/>
          <p:cNvSpPr txBox="1"/>
          <p:nvPr/>
        </p:nvSpPr>
        <p:spPr>
          <a:xfrm>
            <a:off x="7448399" y="5112000"/>
            <a:ext cx="756000" cy="180000"/>
          </a:xfrm>
          <a:prstGeom prst="rect">
            <a:avLst/>
          </a:prstGeom>
          <a:noFill/>
        </p:spPr>
        <p:txBody>
          <a:bodyPr wrap="none" anchor="ctr" lIns="36000" rIns="36000" tIns="10800" bIns="10800">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151%</a:t>
            </a:r>
          </a:p>
        </p:txBody>
      </p:sp>
      <p:sp>
        <p:nvSpPr>
          <p:cNvPr id="55" name="Rectangle 54"/>
          <p:cNvSpPr/>
          <p:nvPr/>
        </p:nvSpPr>
        <p:spPr>
          <a:xfrm>
            <a:off x="8344800" y="4278338"/>
            <a:ext cx="288000" cy="671661"/>
          </a:xfrm>
          <a:prstGeom prst="rect">
            <a:avLst/>
          </a:prstGeom>
          <a:solidFill>
            <a:srgbClr val="8E9BC4"/>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6" name="TextBox 55"/>
          <p:cNvSpPr txBox="1"/>
          <p:nvPr/>
        </p:nvSpPr>
        <p:spPr>
          <a:xfrm>
            <a:off x="8236800" y="4098338"/>
            <a:ext cx="503999" cy="162000"/>
          </a:xfrm>
          <a:prstGeom prst="rect">
            <a:avLst/>
          </a:prstGeom>
          <a:noFill/>
        </p:spPr>
        <p:txBody>
          <a:bodyPr wrap="none" anchor="b" lIns="36000" rIns="36000" tIns="18000" bIns="18000">
            <a:spAutoFit/>
          </a:bodyPr>
          <a:lstStyle/>
          <a:p>
            <a:pPr algn="ctr">
              <a:lnSpc>
                <a:spcPct val="110000"/>
              </a:lnSpc>
              <a:spcAft>
                <a:spcPts val="0"/>
              </a:spcAft>
            </a:pPr>
            <a:r>
              <a:rPr sz="750" b="1">
                <a:solidFill>
                  <a:srgbClr val="333333"/>
                </a:solidFill>
                <a:latin typeface="メイリオ"/>
                <a:ea typeface="メイリオ"/>
                <a:cs typeface="メイリオ"/>
              </a:rPr>
              <a:t>559</a:t>
            </a:r>
          </a:p>
        </p:txBody>
      </p:sp>
      <p:sp>
        <p:nvSpPr>
          <p:cNvPr id="57" name="Rectangle 56"/>
          <p:cNvSpPr/>
          <p:nvPr/>
        </p:nvSpPr>
        <p:spPr>
          <a:xfrm>
            <a:off x="8676000" y="4098107"/>
            <a:ext cx="288000" cy="851892"/>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p>
        </p:txBody>
      </p:sp>
      <p:sp>
        <p:nvSpPr>
          <p:cNvPr id="58" name="TextBox 57"/>
          <p:cNvSpPr txBox="1"/>
          <p:nvPr/>
        </p:nvSpPr>
        <p:spPr>
          <a:xfrm>
            <a:off x="8567999" y="3918107"/>
            <a:ext cx="503999" cy="162000"/>
          </a:xfrm>
          <a:prstGeom prst="rect">
            <a:avLst/>
          </a:prstGeom>
          <a:noFill/>
        </p:spPr>
        <p:txBody>
          <a:bodyPr wrap="none" anchor="b" lIns="36000" rIns="36000" tIns="18000" bIns="18000">
            <a:spAutoFit/>
          </a:bodyPr>
          <a:lstStyle/>
          <a:p>
            <a:pPr algn="ctr">
              <a:lnSpc>
                <a:spcPct val="110000"/>
              </a:lnSpc>
              <a:spcAft>
                <a:spcPts val="0"/>
              </a:spcAft>
            </a:pPr>
            <a:r>
              <a:rPr sz="750" b="1">
                <a:solidFill>
                  <a:srgbClr val="333333"/>
                </a:solidFill>
                <a:latin typeface="メイリオ"/>
                <a:ea typeface="メイリオ"/>
                <a:cs typeface="メイリオ"/>
              </a:rPr>
              <a:t>709</a:t>
            </a:r>
          </a:p>
        </p:txBody>
      </p:sp>
      <p:sp>
        <p:nvSpPr>
          <p:cNvPr id="59" name="TextBox 58"/>
          <p:cNvSpPr txBox="1"/>
          <p:nvPr/>
        </p:nvSpPr>
        <p:spPr>
          <a:xfrm>
            <a:off x="8276399" y="4968000"/>
            <a:ext cx="756000" cy="151200"/>
          </a:xfrm>
          <a:prstGeom prst="rect">
            <a:avLst/>
          </a:prstGeom>
          <a:noFill/>
        </p:spPr>
        <p:txBody>
          <a:bodyPr wrap="square" anchor="t" lIns="36000" rIns="36000" tIns="18000" bIns="18000">
            <a:spAutoFit/>
          </a:bodyPr>
          <a:lstStyle/>
          <a:p>
            <a:pPr algn="ctr">
              <a:lnSpc>
                <a:spcPct val="110000"/>
              </a:lnSpc>
              <a:spcAft>
                <a:spcPts val="0"/>
              </a:spcAft>
            </a:pPr>
            <a:r>
              <a:rPr sz="900" b="1">
                <a:solidFill>
                  <a:srgbClr val="333333"/>
                </a:solidFill>
                <a:latin typeface="メイリオ"/>
                <a:ea typeface="メイリオ"/>
                <a:cs typeface="メイリオ"/>
              </a:rPr>
              <a:t>9月</a:t>
            </a:r>
          </a:p>
        </p:txBody>
      </p:sp>
      <p:sp>
        <p:nvSpPr>
          <p:cNvPr id="60" name="TextBox 59"/>
          <p:cNvSpPr txBox="1"/>
          <p:nvPr/>
        </p:nvSpPr>
        <p:spPr>
          <a:xfrm>
            <a:off x="8276399" y="5112000"/>
            <a:ext cx="756000" cy="180000"/>
          </a:xfrm>
          <a:prstGeom prst="rect">
            <a:avLst/>
          </a:prstGeom>
          <a:noFill/>
        </p:spPr>
        <p:txBody>
          <a:bodyPr wrap="none" anchor="ctr" lIns="36000" rIns="36000" tIns="10800" bIns="10800">
            <a:spAutoFit/>
          </a:bodyPr>
          <a:lstStyle/>
          <a:p>
            <a:pPr algn="ctr">
              <a:lnSpc>
                <a:spcPct val="105000"/>
              </a:lnSpc>
              <a:spcAft>
                <a:spcPts val="200"/>
              </a:spcAft>
            </a:pPr>
            <a:r>
              <a:rPr sz="750" b="0">
                <a:solidFill>
                  <a:srgbClr val="7F7F7F"/>
                </a:solidFill>
                <a:latin typeface="メイリオ"/>
                <a:ea typeface="メイリオ"/>
                <a:cs typeface="メイリオ"/>
              </a:rPr>
              <a:t>前年比 </a:t>
            </a:r>
            <a:r>
              <a:rPr sz="1000" b="1">
                <a:solidFill>
                  <a:srgbClr val="0B7A3B"/>
                </a:solidFill>
                <a:latin typeface="メイリオ"/>
                <a:ea typeface="メイリオ"/>
                <a:cs typeface="メイリオ"/>
              </a:rPr>
              <a:t>127%</a:t>
            </a:r>
          </a:p>
        </p:txBody>
      </p:sp>
      <p:cxnSp>
        <p:nvCxnSpPr>
          <p:cNvPr id="61" name="Connector 60"/>
          <p:cNvCxnSpPr/>
          <p:nvPr/>
        </p:nvCxnSpPr>
        <p:spPr>
          <a:xfrm>
            <a:off x="6728399" y="4950000"/>
            <a:ext cx="2509201" cy="0"/>
          </a:xfrm>
          <a:prstGeom prst="line">
            <a:avLst/>
          </a:prstGeom>
          <a:ln w="9525">
            <a:solidFill>
              <a:srgbClr val="7F7F7F"/>
            </a:solidFill>
          </a:ln>
        </p:spPr>
        <p:style>
          <a:lnRef idx="2">
            <a:schemeClr val="accent1"/>
          </a:lnRef>
          <a:fillRef idx="0">
            <a:schemeClr val="accent1"/>
          </a:fillRef>
          <a:effectRef idx="0">
            <a:schemeClr val="accent1"/>
          </a:effectRef>
          <a:fontRef idx="minor">
            <a:schemeClr val="tx1"/>
          </a:fontRef>
        </p:style>
      </p:cxnSp>
      <p:sp>
        <p:nvSpPr>
          <p:cNvPr id="62" name="Rectangle 61"/>
          <p:cNvSpPr/>
          <p:nvPr/>
        </p:nvSpPr>
        <p:spPr>
          <a:xfrm>
            <a:off x="644400" y="5598000"/>
            <a:ext cx="8629200" cy="342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72000" tIns="18000" rIns="72000" bIns="18000"/>
          <a:lstStyle/>
          <a:p>
            <a:pPr algn="ctr">
              <a:lnSpc>
                <a:spcPct val="110000"/>
              </a:lnSpc>
              <a:spcAft>
                <a:spcPts val="0"/>
              </a:spcAft>
            </a:pPr>
            <a:r>
              <a:rPr sz="1200" b="1">
                <a:solidFill>
                  <a:srgbClr val="FFFFFF"/>
                </a:solidFill>
                <a:latin typeface="メイリオ"/>
                <a:ea typeface="メイリオ"/>
                <a:cs typeface="メイリオ"/>
              </a:rPr>
              <a:t>サンクスLINE誘導ツールの導入後、友だち増加数が導入前比137.3%、前年比127.5%に改善。</a:t>
            </a:r>
          </a:p>
        </p:txBody>
      </p:sp>
      <p:sp>
        <p:nvSpPr>
          <p:cNvPr id="63" name="TextBox 62"/>
          <p:cNvSpPr txBox="1"/>
          <p:nvPr/>
        </p:nvSpPr>
        <p:spPr>
          <a:xfrm>
            <a:off x="644400" y="5993999"/>
            <a:ext cx="8629200" cy="342000"/>
          </a:xfrm>
          <a:prstGeom prst="rect">
            <a:avLst/>
          </a:prstGeom>
          <a:noFill/>
        </p:spPr>
        <p:txBody>
          <a:bodyPr wrap="square" anchor="t" lIns="36000" rIns="36000" tIns="18000" bIns="18000">
            <a:spAutoFit/>
          </a:bodyPr>
          <a:lstStyle/>
          <a:p>
            <a:pPr algn="l">
              <a:lnSpc>
                <a:spcPct val="110000"/>
              </a:lnSpc>
              <a:spcAft>
                <a:spcPts val="100"/>
              </a:spcAft>
            </a:pPr>
            <a:r>
              <a:rPr sz="800" b="0">
                <a:solidFill>
                  <a:srgbClr val="7F7F7F"/>
                </a:solidFill>
                <a:latin typeface="メイリオ"/>
                <a:ea typeface="メイリオ"/>
                <a:cs typeface="メイリオ"/>
              </a:rPr>
              <a:t>※上段は弊社運用の実績（美容クリニック・LINE活用による来院率の改善）。サンクスLINE誘導ツールの実績とは別。</a:t>
            </a:r>
          </a:p>
          <a:p>
            <a:pPr algn="l">
              <a:lnSpc>
                <a:spcPct val="110000"/>
              </a:lnSpc>
              <a:spcAft>
                <a:spcPts val="0"/>
              </a:spcAft>
            </a:pPr>
            <a:r>
              <a:rPr sz="800" b="0">
                <a:solidFill>
                  <a:srgbClr val="7F7F7F"/>
                </a:solidFill>
                <a:latin typeface="メイリオ"/>
                <a:ea typeface="メイリオ"/>
                <a:cs typeface="メイリオ"/>
              </a:rPr>
              <a:t>※下段はサンクスLINE誘導ツール導入前後の友だち増加数（人材業界）。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dirty="0" err="1">
                <a:solidFill>
                  <a:srgbClr val="002060"/>
                </a:solidFill>
                <a:latin typeface="メイリオ"/>
                <a:ea typeface="メイリオ"/>
                <a:cs typeface="メイリオ"/>
              </a:rPr>
              <a:t>来場率と申込みCPA｜来場率が上がると、必要なCPAが緩む</a:t>
            </a:r>
            <a:endParaRPr sz="1600" b="1" dirty="0">
              <a:solidFill>
                <a:srgbClr val="002060"/>
              </a:solidFill>
              <a:latin typeface="メイリオ"/>
              <a:ea typeface="メイリオ"/>
              <a:cs typeface="メイリオ"/>
            </a:endParaRPr>
          </a:p>
        </p:txBody>
      </p:sp>
      <p:sp>
        <p:nvSpPr>
          <p:cNvPr id="4" name="TextBox 2"/>
          <p:cNvSpPr txBox="1"/>
          <p:nvPr/>
        </p:nvSpPr>
        <p:spPr>
          <a:xfrm>
            <a:off x="644865" y="725334"/>
            <a:ext cx="9111472" cy="529332"/>
          </a:xfrm>
          <a:prstGeom prst="rect">
            <a:avLst/>
          </a:prstGeom>
          <a:noFill/>
        </p:spPr>
        <p:txBody>
          <a:bodyPr wrap="square" lIns="0" tIns="21600" rIns="0" bIns="21600" anchor="ctr">
            <a:spAutoFit/>
          </a:bodyPr>
          <a:lstStyle/>
          <a:p>
            <a:pPr algn="l">
              <a:lnSpc>
                <a:spcPct val="130000"/>
              </a:lnSpc>
            </a:pPr>
            <a:r>
              <a:rPr sz="1450" dirty="0" err="1">
                <a:solidFill>
                  <a:srgbClr val="333333"/>
                </a:solidFill>
                <a:latin typeface="メイリオ"/>
                <a:ea typeface="メイリオ"/>
                <a:cs typeface="メイリオ"/>
              </a:rPr>
              <a:t>予算120万円で実来場50人を目指す場合の、来場率ごとの必要な申込み数とCPA</a:t>
            </a:r>
            <a:endParaRPr sz="100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graphicFrame>
        <p:nvGraphicFramePr>
          <p:cNvPr id="6" name="来場率とCPA 5"/>
          <p:cNvGraphicFramePr>
            <a:graphicFrameLocks noGrp="1"/>
          </p:cNvGraphicFramePr>
          <p:nvPr/>
        </p:nvGraphicFramePr>
        <p:xfrm>
          <a:off x="640080" y="2232507"/>
          <a:ext cx="8622792" cy="2148840"/>
        </p:xfrm>
        <a:graphic>
          <a:graphicData uri="http://schemas.openxmlformats.org/drawingml/2006/table">
            <a:tbl>
              <a:tblPr/>
              <a:tblGrid>
                <a:gridCol w="1737360"/>
                <a:gridCol w="2011680"/>
                <a:gridCol w="2331720"/>
                <a:gridCol w="2542032"/>
              </a:tblGrid>
              <a:tr h="640080">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来場率</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2C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来場50人に</a:t>
                      </a:r>
                      <a:br>
                        <a:rPr lang="ja-JP" altLang="en-US" sz="1300" b="1" dirty="0">
                          <a:solidFill>
                            <a:srgbClr val="FFFFFF"/>
                          </a:solidFill>
                          <a:latin typeface="メイリオ" panose="020B0604030504040204" pitchFamily="50" charset="-128"/>
                          <a:ea typeface="メイリオ" panose="020B0604030504040204" pitchFamily="50" charset="-128"/>
                          <a:cs typeface="メイリオ"/>
                        </a:rPr>
                      </a:br>
                      <a:r>
                        <a:rPr lang="ja-JP" altLang="en-US" sz="1300" b="1" dirty="0">
                          <a:solidFill>
                            <a:srgbClr val="FFFFFF"/>
                          </a:solidFill>
                          <a:latin typeface="メイリオ" panose="020B0604030504040204" pitchFamily="50" charset="-128"/>
                          <a:ea typeface="メイリオ" panose="020B0604030504040204" pitchFamily="50" charset="-128"/>
                          <a:cs typeface="メイリオ"/>
                        </a:rPr>
                        <a:t>必要な申込み</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2C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必要な申込みCPA</a:t>
                      </a:r>
                      <a:br>
                        <a:rPr lang="ja-JP" altLang="en-US" sz="1300" b="1" dirty="0">
                          <a:solidFill>
                            <a:srgbClr val="FFFFFF"/>
                          </a:solidFill>
                          <a:latin typeface="メイリオ" panose="020B0604030504040204" pitchFamily="50" charset="-128"/>
                          <a:ea typeface="メイリオ" panose="020B0604030504040204" pitchFamily="50" charset="-128"/>
                          <a:cs typeface="メイリオ"/>
                        </a:rPr>
                      </a:br>
                      <a:r>
                        <a:rPr lang="ja-JP" altLang="en-US" sz="1300" b="1" dirty="0">
                          <a:solidFill>
                            <a:srgbClr val="FFFFFF"/>
                          </a:solidFill>
                          <a:latin typeface="メイリオ" panose="020B0604030504040204" pitchFamily="50" charset="-128"/>
                          <a:ea typeface="メイリオ" panose="020B0604030504040204" pitchFamily="50" charset="-128"/>
                          <a:cs typeface="メイリオ"/>
                        </a:rPr>
                        <a:t>（予算120万円）</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2C5C"/>
                    </a:solidFill>
                  </a:tcPr>
                </a:tc>
                <a:tc>
                  <a:txBody>
                    <a:bodyPr/>
                    <a:lstStyle/>
                    <a:p>
                      <a:pPr algn="ctr">
                        <a:buNone/>
                      </a:pPr>
                      <a:r>
                        <a:rPr lang="ja-JP" altLang="en-US" sz="1300" b="1" dirty="0">
                          <a:solidFill>
                            <a:srgbClr val="FFFFFF"/>
                          </a:solidFill>
                          <a:latin typeface="メイリオ" panose="020B0604030504040204" pitchFamily="50" charset="-128"/>
                          <a:ea typeface="メイリオ" panose="020B0604030504040204" pitchFamily="50" charset="-128"/>
                          <a:cs typeface="メイリオ"/>
                        </a:rPr>
                        <a:t>CPA30,000円のままの</a:t>
                      </a:r>
                      <a:br>
                        <a:rPr lang="ja-JP" altLang="en-US" sz="1300" b="1" dirty="0">
                          <a:solidFill>
                            <a:srgbClr val="FFFFFF"/>
                          </a:solidFill>
                          <a:latin typeface="メイリオ" panose="020B0604030504040204" pitchFamily="50" charset="-128"/>
                          <a:ea typeface="メイリオ" panose="020B0604030504040204" pitchFamily="50" charset="-128"/>
                          <a:cs typeface="メイリオ"/>
                        </a:rPr>
                      </a:br>
                      <a:r>
                        <a:rPr lang="ja-JP" altLang="en-US" sz="1300" b="1" dirty="0">
                          <a:solidFill>
                            <a:srgbClr val="FFFFFF"/>
                          </a:solidFill>
                          <a:latin typeface="メイリオ" panose="020B0604030504040204" pitchFamily="50" charset="-128"/>
                          <a:ea typeface="メイリオ" panose="020B0604030504040204" pitchFamily="50" charset="-128"/>
                          <a:cs typeface="メイリオ"/>
                        </a:rPr>
                        <a:t>来場者獲得単価</a:t>
                      </a:r>
                      <a:endParaRPr lang="ja-JP" altLang="en-US" sz="13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2C5C"/>
                    </a:solidFill>
                  </a:tcPr>
                </a:tc>
              </a:tr>
              <a:tr h="502920">
                <a:tc>
                  <a:txBody>
                    <a:bodyPr/>
                    <a:lstStyle/>
                    <a:p>
                      <a:pPr algn="ctr">
                        <a:buNone/>
                      </a:pPr>
                      <a:r>
                        <a:rPr lang="ja-JP" altLang="en-US" sz="1400" b="1" dirty="0">
                          <a:solidFill>
                            <a:srgbClr val="1F2C5C"/>
                          </a:solidFill>
                          <a:latin typeface="メイリオ" panose="020B0604030504040204" pitchFamily="50" charset="-128"/>
                          <a:ea typeface="メイリオ" panose="020B0604030504040204" pitchFamily="50" charset="-128"/>
                          <a:cs typeface="メイリオ"/>
                        </a:rPr>
                        <a:t>80%（今）</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63件</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C5C"/>
                          </a:solidFill>
                          <a:latin typeface="メイリオ" panose="020B0604030504040204" pitchFamily="50" charset="-128"/>
                          <a:ea typeface="メイリオ" panose="020B0604030504040204" pitchFamily="50" charset="-128"/>
                          <a:cs typeface="メイリオ"/>
                        </a:rPr>
                        <a:t>19,048円</a:t>
                      </a:r>
                      <a:endParaRPr lang="ja-JP" altLang="en-US" sz="15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37,500円</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02920">
                <a:tc>
                  <a:txBody>
                    <a:bodyPr/>
                    <a:lstStyle/>
                    <a:p>
                      <a:pPr algn="ctr">
                        <a:buNone/>
                      </a:pPr>
                      <a:r>
                        <a:rPr lang="ja-JP" altLang="en-US" sz="1400" b="1" dirty="0">
                          <a:solidFill>
                            <a:srgbClr val="1F2C5C"/>
                          </a:solidFill>
                          <a:latin typeface="メイリオ" panose="020B0604030504040204" pitchFamily="50" charset="-128"/>
                          <a:ea typeface="メイリオ" panose="020B0604030504040204" pitchFamily="50" charset="-128"/>
                          <a:cs typeface="メイリオ"/>
                        </a:rPr>
                        <a:t>85%</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59件</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C5C"/>
                          </a:solidFill>
                          <a:latin typeface="メイリオ" panose="020B0604030504040204" pitchFamily="50" charset="-128"/>
                          <a:ea typeface="メイリオ" panose="020B0604030504040204" pitchFamily="50" charset="-128"/>
                          <a:cs typeface="メイリオ"/>
                        </a:rPr>
                        <a:t>20,339円</a:t>
                      </a:r>
                      <a:endParaRPr lang="ja-JP" altLang="en-US" sz="15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35,294円</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r h="502920">
                <a:tc>
                  <a:txBody>
                    <a:bodyPr/>
                    <a:lstStyle/>
                    <a:p>
                      <a:pPr algn="ctr">
                        <a:buNone/>
                      </a:pPr>
                      <a:r>
                        <a:rPr lang="ja-JP" altLang="en-US" sz="1400" b="1" dirty="0">
                          <a:solidFill>
                            <a:srgbClr val="1F2C5C"/>
                          </a:solidFill>
                          <a:latin typeface="メイリオ" panose="020B0604030504040204" pitchFamily="50" charset="-128"/>
                          <a:ea typeface="メイリオ" panose="020B0604030504040204" pitchFamily="50" charset="-128"/>
                          <a:cs typeface="メイリオ"/>
                        </a:rPr>
                        <a:t>90%</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DCE6F2"/>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56件</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500" b="1" dirty="0">
                          <a:solidFill>
                            <a:srgbClr val="1F2C5C"/>
                          </a:solidFill>
                          <a:latin typeface="メイリオ" panose="020B0604030504040204" pitchFamily="50" charset="-128"/>
                          <a:ea typeface="メイリオ" panose="020B0604030504040204" pitchFamily="50" charset="-128"/>
                          <a:cs typeface="メイリオ"/>
                        </a:rPr>
                        <a:t>21,429円</a:t>
                      </a:r>
                      <a:endParaRPr lang="ja-JP" altLang="en-US" sz="15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a:txBody>
                    <a:bodyPr/>
                    <a:lstStyle/>
                    <a:p>
                      <a:pPr algn="ctr">
                        <a:buNone/>
                      </a:pPr>
                      <a:r>
                        <a:rPr lang="ja-JP" altLang="en-US" sz="1400" b="0" dirty="0">
                          <a:solidFill>
                            <a:srgbClr val="333333"/>
                          </a:solidFill>
                          <a:latin typeface="メイリオ" panose="020B0604030504040204" pitchFamily="50" charset="-128"/>
                          <a:ea typeface="メイリオ" panose="020B0604030504040204" pitchFamily="50" charset="-128"/>
                          <a:cs typeface="メイリオ"/>
                        </a:rPr>
                        <a:t>33,333円</a:t>
                      </a:r>
                      <a:endParaRPr lang="ja-JP" altLang="en-US" sz="1400" dirty="0">
                        <a:latin typeface="メイリオ"/>
                        <a:ea typeface="メイリオ"/>
                        <a:cs typeface="メイリオ"/>
                      </a:endParaRPr>
                    </a:p>
                  </a:txBody>
                  <a:tcPr marL="73152" marR="73152" marT="27432" marB="27432"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r>
            </a:tbl>
          </a:graphicData>
        </a:graphic>
      </p:graphicFrame>
      <p:sp>
        <p:nvSpPr>
          <p:cNvPr id="7" name="注記"/>
          <p:cNvSpPr/>
          <p:nvPr/>
        </p:nvSpPr>
        <p:spPr>
          <a:xfrm>
            <a:off x="640080" y="4518506"/>
            <a:ext cx="8622792" cy="1828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※来場率85%・90%は仮に置いた数字。申込み1件＝1人として計算（ご提示いただいた条件のまま）</a:t>
            </a:r>
            <a:endParaRPr lang="ja-JP" altLang="en-US" sz="1200" dirty="0">
              <a:latin typeface="メイリオ"/>
              <a:ea typeface="メイリオ"/>
              <a:cs typeface="メイリオ"/>
            </a:endParaRPr>
          </a:p>
        </p:txBody>
      </p:sp>
      <p:sp>
        <p:nvSpPr>
          <p:cNvPr id="8" name="注記"/>
          <p:cNvSpPr/>
          <p:nvPr/>
        </p:nvSpPr>
        <p:spPr>
          <a:xfrm>
            <a:off x="640080" y="4701387"/>
            <a:ext cx="8622792" cy="182880"/>
          </a:xfrm>
          <a:prstGeom prst="rect">
            <a:avLst/>
          </a:prstGeom>
          <a:noFill/>
          <a:ln>
            <a:noFill/>
          </a:ln>
        </p:spPr>
        <p:txBody>
          <a:bodyPr wrap="square" lIns="0" tIns="0" rIns="0" bIns="0" rtlCol="0" anchor="t">
            <a:noAutofit/>
          </a:bodyPr>
          <a:lstStyle/>
          <a:p>
            <a:pPr algn="l">
              <a:buNone/>
            </a:pPr>
            <a:r>
              <a:rPr lang="ja-JP" altLang="en-US" sz="900" b="0" dirty="0">
                <a:solidFill>
                  <a:srgbClr val="7F7F7F"/>
                </a:solidFill>
                <a:latin typeface="メイリオ" panose="020B0604030504040204" pitchFamily="50" charset="-128"/>
                <a:ea typeface="メイリオ" panose="020B0604030504040204" pitchFamily="50" charset="-128"/>
                <a:cs typeface="メイリオ"/>
              </a:rPr>
              <a:t>※必要な申込みは小数点以下を切り上げ、CPAは予算120万円÷必要な申込みで計算</a:t>
            </a:r>
            <a:endParaRPr lang="ja-JP" altLang="en-US" sz="1200" dirty="0">
              <a:latin typeface="メイリオ"/>
              <a:ea typeface="メイリオ"/>
              <a:cs typeface="メイリオ"/>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前後検索「注文住宅」：当日に大手を比べ、その後は住宅ローン・性能を調べる</a:t>
            </a:r>
            <a:endParaRPr lang="en-US" sz="1600" b="0" u="none" strike="noStrike">
              <a:solidFill>
                <a:srgbClr val="000000"/>
              </a:solidFill>
              <a:effectLst/>
              <a:uFillTx/>
              <a:latin typeface="メイリオ"/>
              <a:ea typeface="メイリオ"/>
              <a:cs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cs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cs typeface="メイリオ"/>
              </a:rPr>
              <a:t>検討期間の約2週間の接点が、来場を左右する</a:t>
            </a:r>
            <a:endParaRPr lang="en-US" sz="1400" b="1" u="none" strike="noStrike" dirty="0">
              <a:effectLst/>
              <a:uFillTx/>
              <a:latin typeface="メイリオ"/>
              <a:ea typeface="メイリオ"/>
              <a:cs typeface="メイリオ"/>
            </a:endParaRPr>
          </a:p>
        </p:txBody>
      </p:sp>
      <p:pic>
        <p:nvPicPr>
          <p:cNvPr id="7" name="前後検索 注文住宅（色分け）" descr="tanaka_zengo_chumon_color.png"/>
          <p:cNvPicPr>
            <a:picLocks noChangeAspect="1"/>
          </p:cNvPicPr>
          <p:nvPr/>
        </p:nvPicPr>
        <p:blipFill>
          <a:blip r:embed="rId2"/>
          <a:stretch>
            <a:fillRect/>
          </a:stretch>
        </p:blipFill>
        <p:spPr>
          <a:xfrm>
            <a:off x="502920" y="1600200"/>
            <a:ext cx="5943600" cy="3468090"/>
          </a:xfrm>
          <a:prstGeom prst="rect">
            <a:avLst/>
          </a:prstGeom>
        </p:spPr>
      </p:pic>
      <p:sp>
        <p:nvSpPr>
          <p:cNvPr id="8" name="LINE追加の時期"/>
          <p:cNvSpPr/>
          <p:nvPr/>
        </p:nvSpPr>
        <p:spPr>
          <a:xfrm>
            <a:off x="3554958" y="1644777"/>
            <a:ext cx="692429" cy="323926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メイリオ"/>
              <a:ea typeface="メイリオ"/>
              <a:cs typeface="メイリオ"/>
            </a:endParaRPr>
          </a:p>
        </p:txBody>
      </p:sp>
      <p:sp>
        <p:nvSpPr>
          <p:cNvPr id="9" name="LINE追加 札"/>
          <p:cNvSpPr/>
          <p:nvPr/>
        </p:nvSpPr>
        <p:spPr>
          <a:xfrm>
            <a:off x="3443973" y="5104866"/>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cs typeface="メイリオ"/>
              </a:rPr>
              <a:t>LINE追加</a:t>
            </a:r>
            <a:endParaRPr lang="ja-JP" altLang="en-US" sz="1200" dirty="0">
              <a:latin typeface="メイリオ"/>
              <a:ea typeface="メイリオ"/>
              <a:cs typeface="メイリオ"/>
            </a:endParaRPr>
          </a:p>
        </p:txBody>
      </p:sp>
      <p:sp>
        <p:nvSpPr>
          <p:cNvPr id="10" name="凡例の色"/>
          <p:cNvSpPr/>
          <p:nvPr/>
        </p:nvSpPr>
        <p:spPr>
          <a:xfrm>
            <a:off x="662940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latin typeface="メイリオ"/>
              <a:ea typeface="メイリオ"/>
              <a:cs typeface="メイリオ"/>
            </a:endParaRPr>
          </a:p>
        </p:txBody>
      </p:sp>
      <p:sp>
        <p:nvSpPr>
          <p:cNvPr id="11" name="凡例"/>
          <p:cNvSpPr/>
          <p:nvPr/>
        </p:nvSpPr>
        <p:spPr>
          <a:xfrm>
            <a:off x="6812280" y="1600200"/>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住宅会社を比べる</a:t>
            </a:r>
            <a:endParaRPr lang="ja-JP" altLang="en-US" sz="1200" dirty="0">
              <a:latin typeface="メイリオ"/>
              <a:ea typeface="メイリオ"/>
              <a:cs typeface="メイリオ"/>
            </a:endParaRPr>
          </a:p>
        </p:txBody>
      </p:sp>
      <p:sp>
        <p:nvSpPr>
          <p:cNvPr id="12" name="凡例の色"/>
          <p:cNvSpPr/>
          <p:nvPr/>
        </p:nvSpPr>
        <p:spPr>
          <a:xfrm>
            <a:off x="662940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latin typeface="メイリオ"/>
              <a:ea typeface="メイリオ"/>
              <a:cs typeface="メイリオ"/>
            </a:endParaRPr>
          </a:p>
        </p:txBody>
      </p:sp>
      <p:sp>
        <p:nvSpPr>
          <p:cNvPr id="13" name="凡例"/>
          <p:cNvSpPr/>
          <p:nvPr/>
        </p:nvSpPr>
        <p:spPr>
          <a:xfrm>
            <a:off x="6812280" y="1847088"/>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費用・住宅ローンを調べる</a:t>
            </a:r>
            <a:endParaRPr lang="ja-JP" altLang="en-US" sz="1200" dirty="0">
              <a:latin typeface="メイリオ"/>
              <a:ea typeface="メイリオ"/>
              <a:cs typeface="メイリオ"/>
            </a:endParaRPr>
          </a:p>
        </p:txBody>
      </p:sp>
      <p:sp>
        <p:nvSpPr>
          <p:cNvPr id="14" name="凡例の色"/>
          <p:cNvSpPr/>
          <p:nvPr/>
        </p:nvSpPr>
        <p:spPr>
          <a:xfrm>
            <a:off x="662940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latin typeface="メイリオ"/>
              <a:ea typeface="メイリオ"/>
              <a:cs typeface="メイリオ"/>
            </a:endParaRPr>
          </a:p>
        </p:txBody>
      </p:sp>
      <p:sp>
        <p:nvSpPr>
          <p:cNvPr id="15" name="凡例"/>
          <p:cNvSpPr/>
          <p:nvPr/>
        </p:nvSpPr>
        <p:spPr>
          <a:xfrm>
            <a:off x="6812280" y="2093976"/>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間取り・性能を調べる</a:t>
            </a:r>
            <a:endParaRPr lang="ja-JP" altLang="en-US" sz="1200" dirty="0">
              <a:latin typeface="メイリオ"/>
              <a:ea typeface="メイリオ"/>
              <a:cs typeface="メイリオ"/>
            </a:endParaRPr>
          </a:p>
        </p:txBody>
      </p:sp>
      <p:sp>
        <p:nvSpPr>
          <p:cNvPr id="16" name="凡例の色"/>
          <p:cNvSpPr/>
          <p:nvPr/>
        </p:nvSpPr>
        <p:spPr>
          <a:xfrm>
            <a:off x="662940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latin typeface="メイリオ"/>
              <a:ea typeface="メイリオ"/>
              <a:cs typeface="メイリオ"/>
            </a:endParaRPr>
          </a:p>
        </p:txBody>
      </p:sp>
      <p:sp>
        <p:nvSpPr>
          <p:cNvPr id="17" name="凡例"/>
          <p:cNvSpPr/>
          <p:nvPr/>
        </p:nvSpPr>
        <p:spPr>
          <a:xfrm>
            <a:off x="6812280" y="2340864"/>
            <a:ext cx="2587752" cy="246888"/>
          </a:xfrm>
          <a:prstGeom prst="rect">
            <a:avLst/>
          </a:prstGeom>
          <a:noFill/>
          <a:ln>
            <a:noFill/>
          </a:ln>
        </p:spPr>
        <p:txBody>
          <a:bodyPr wrap="square" lIns="0" tIns="0" rIns="0" bIns="0" rtlCol="0" anchor="ctr">
            <a:noAutofit/>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土地を調べる</a:t>
            </a:r>
            <a:endParaRPr lang="ja-JP" altLang="en-US" sz="1200" dirty="0">
              <a:latin typeface="メイリオ"/>
              <a:ea typeface="メイリオ"/>
              <a:cs typeface="メイリオ"/>
            </a:endParaRPr>
          </a:p>
        </p:txBody>
      </p:sp>
      <p:sp>
        <p:nvSpPr>
          <p:cNvPr id="18" name="分析 当日"/>
          <p:cNvSpPr/>
          <p:nvPr/>
        </p:nvSpPr>
        <p:spPr>
          <a:xfrm>
            <a:off x="6629400" y="2651760"/>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cs typeface="メイリオ"/>
              </a:rPr>
              <a:t>当日</a:t>
            </a:r>
            <a:endParaRPr lang="ja-JP" altLang="en-US" sz="1200" dirty="0">
              <a:latin typeface="メイリオ"/>
              <a:ea typeface="メイリオ"/>
              <a:cs typeface="メイリオ"/>
            </a:endParaRPr>
          </a:p>
        </p:txBody>
      </p:sp>
      <p:sp>
        <p:nvSpPr>
          <p:cNvPr id="19" name="分析 当日 本文"/>
          <p:cNvSpPr/>
          <p:nvPr/>
        </p:nvSpPr>
        <p:spPr>
          <a:xfrm>
            <a:off x="6629400" y="2926079"/>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住宅会社名が中心</a:t>
            </a:r>
            <a:endParaRPr lang="ja-JP" altLang="en-US" sz="1200" dirty="0">
              <a:latin typeface="メイリオ"/>
              <a:ea typeface="メイリオ"/>
              <a:cs typeface="メイリオ"/>
            </a:endParaRPr>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一条工務店・積水ハウス・住友林業など。住宅展示場・土地探しも</a:t>
            </a:r>
            <a:endParaRPr lang="ja-JP" altLang="en-US" sz="1200" dirty="0">
              <a:latin typeface="メイリオ"/>
              <a:ea typeface="メイリオ"/>
              <a:cs typeface="メイリオ"/>
            </a:endParaRPr>
          </a:p>
        </p:txBody>
      </p:sp>
      <p:sp>
        <p:nvSpPr>
          <p:cNvPr id="20" name="分析 1〜7日後"/>
          <p:cNvSpPr/>
          <p:nvPr/>
        </p:nvSpPr>
        <p:spPr>
          <a:xfrm>
            <a:off x="6629400" y="3694176"/>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cs typeface="メイリオ"/>
              </a:rPr>
              <a:t>1〜7日後</a:t>
            </a:r>
            <a:endParaRPr lang="ja-JP" altLang="en-US" sz="1200" dirty="0">
              <a:latin typeface="メイリオ"/>
              <a:ea typeface="メイリオ"/>
              <a:cs typeface="メイリオ"/>
            </a:endParaRPr>
          </a:p>
        </p:txBody>
      </p:sp>
      <p:sp>
        <p:nvSpPr>
          <p:cNvPr id="21" name="分析 1〜7日後 本文"/>
          <p:cNvSpPr/>
          <p:nvPr/>
        </p:nvSpPr>
        <p:spPr>
          <a:xfrm>
            <a:off x="6629400" y="3968496"/>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住宅ローンと坪単価が増える</a:t>
            </a:r>
            <a:endParaRPr lang="ja-JP" altLang="en-US" sz="1200" dirty="0">
              <a:latin typeface="メイリオ"/>
              <a:ea typeface="メイリオ"/>
              <a:cs typeface="メイリオ"/>
            </a:endParaRPr>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シミュレーション・審査・控除、坪単価。比べる会社はさらに広がる</a:t>
            </a:r>
            <a:endParaRPr lang="ja-JP" altLang="en-US" sz="1200" dirty="0">
              <a:latin typeface="メイリオ"/>
              <a:ea typeface="メイリオ"/>
              <a:cs typeface="メイリオ"/>
            </a:endParaRPr>
          </a:p>
        </p:txBody>
      </p:sp>
      <p:sp>
        <p:nvSpPr>
          <p:cNvPr id="22" name="分析 7〜15日後"/>
          <p:cNvSpPr/>
          <p:nvPr/>
        </p:nvSpPr>
        <p:spPr>
          <a:xfrm>
            <a:off x="6629400" y="4736592"/>
            <a:ext cx="2770632" cy="2743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cs typeface="メイリオ"/>
              </a:rPr>
              <a:t>7〜15日後</a:t>
            </a:r>
            <a:endParaRPr lang="ja-JP" altLang="en-US" sz="1200" dirty="0">
              <a:latin typeface="メイリオ"/>
              <a:ea typeface="メイリオ"/>
              <a:cs typeface="メイリオ"/>
            </a:endParaRPr>
          </a:p>
        </p:txBody>
      </p:sp>
      <p:sp>
        <p:nvSpPr>
          <p:cNvPr id="23" name="分析 7〜15日後 本文"/>
          <p:cNvSpPr/>
          <p:nvPr/>
        </p:nvSpPr>
        <p:spPr>
          <a:xfrm>
            <a:off x="6629400" y="5010912"/>
            <a:ext cx="2770632" cy="713232"/>
          </a:xfrm>
          <a:prstGeom prst="rect">
            <a:avLst/>
          </a:prstGeom>
          <a:noFill/>
          <a:ln w="9525">
            <a:solidFill>
              <a:srgbClr val="D9D9D9"/>
            </a:solidFill>
          </a:ln>
        </p:spPr>
        <p:txBody>
          <a:bodyPr wrap="square" lIns="73152" tIns="36576" rIns="73152" bIns="27432" rtlCol="0" anchor="t">
            <a:noAutofit/>
          </a:bodyPr>
          <a:lstStyle/>
          <a:p>
            <a:pPr algn="l">
              <a:lnSpc>
                <a:spcPct val="110000"/>
              </a:lnSpc>
              <a:buNone/>
            </a:pPr>
            <a:r>
              <a:rPr lang="ja-JP" altLang="en-US" sz="1200" b="1" dirty="0">
                <a:solidFill>
                  <a:srgbClr val="1F285A"/>
                </a:solidFill>
                <a:latin typeface="メイリオ" panose="020B0604030504040204" pitchFamily="50" charset="-128"/>
                <a:ea typeface="メイリオ" panose="020B0604030504040204" pitchFamily="50" charset="-128"/>
                <a:cs typeface="メイリオ"/>
              </a:rPr>
              <a:t>間取り・性能が中心</a:t>
            </a:r>
            <a:endParaRPr lang="ja-JP" altLang="en-US" sz="1200" dirty="0">
              <a:latin typeface="メイリオ"/>
              <a:ea typeface="メイリオ"/>
              <a:cs typeface="メイリオ"/>
            </a:endParaRPr>
          </a:p>
          <a:p>
            <a:pPr algn="l">
              <a:lnSpc>
                <a:spcPct val="110000"/>
              </a:lnSpc>
              <a:buNone/>
            </a:pPr>
            <a:r>
              <a:rPr lang="ja-JP" altLang="en-US" sz="1100" b="0" dirty="0">
                <a:solidFill>
                  <a:srgbClr val="333333"/>
                </a:solidFill>
                <a:latin typeface="メイリオ" panose="020B0604030504040204" pitchFamily="50" charset="-128"/>
                <a:ea typeface="メイリオ" panose="020B0604030504040204" pitchFamily="50" charset="-128"/>
                <a:cs typeface="メイリオ"/>
              </a:rPr>
              <a:t>断熱等級・吹き抜け・パントリー・ルームツアー。住宅ローンは金利の比較へ</a:t>
            </a:r>
            <a:endParaRPr lang="ja-JP" altLang="en-US" sz="1200" dirty="0">
              <a:latin typeface="メイリオ"/>
              <a:ea typeface="メイリオ"/>
              <a:cs typeface="メイリオ"/>
            </a:endParaRPr>
          </a:p>
        </p:txBody>
      </p:sp>
      <p:sp>
        <p:nvSpPr>
          <p:cNvPr id="24" name="示唆"/>
          <p:cNvSpPr/>
          <p:nvPr/>
        </p:nvSpPr>
        <p:spPr>
          <a:xfrm>
            <a:off x="502920" y="5779008"/>
            <a:ext cx="8897112" cy="41148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cs typeface="メイリオ"/>
              </a:rPr>
              <a:t>会社を比べる → 費用 → 間取り・性能 の順に、</a:t>
            </a:r>
            <a:r>
              <a:rPr lang="ja-JP" altLang="en-US" sz="1400" b="1" dirty="0">
                <a:solidFill>
                  <a:srgbClr val="C00000"/>
                </a:solidFill>
                <a:latin typeface="メイリオ" panose="020B0604030504040204" pitchFamily="50" charset="-128"/>
                <a:ea typeface="メイリオ" panose="020B0604030504040204" pitchFamily="50" charset="-128"/>
                <a:cs typeface="メイリオ"/>
              </a:rPr>
              <a:t>約2週間かけて検討が進む</a:t>
            </a:r>
            <a:endParaRPr lang="ja-JP" altLang="en-US" sz="1200" dirty="0">
              <a:latin typeface="メイリオ"/>
              <a:ea typeface="メイリオ"/>
              <a:cs typeface="メイリオ"/>
            </a:endParaRPr>
          </a:p>
        </p:txBody>
      </p:sp>
      <p:sp>
        <p:nvSpPr>
          <p:cNvPr id="25" name="注記"/>
          <p:cNvSpPr/>
          <p:nvPr/>
        </p:nvSpPr>
        <p:spPr>
          <a:xfrm>
            <a:off x="502920" y="6236208"/>
            <a:ext cx="8897112" cy="22860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cs typeface="メイリオ"/>
              </a:rPr>
              <a:t>※LINEヤフー社の前後検索データより。「注文住宅」を検索した方が、前後15日間に検索した言葉（縦軸＝検索した人数）。</a:t>
            </a:r>
            <a:endParaRPr lang="ja-JP" altLang="en-US" sz="1200" dirty="0">
              <a:latin typeface="メイリオ"/>
              <a:ea typeface="メイリオ"/>
              <a:cs typeface="メイリオ"/>
            </a:endParaRP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DYMのコンサル支援内容・費用</a:t>
            </a:r>
          </a:p>
        </p:txBody>
      </p:sp>
      <p:sp>
        <p:nvSpPr>
          <p:cNvPr id="4" name="TextBox 2"/>
          <p:cNvSpPr txBox="1"/>
          <p:nvPr/>
        </p:nvSpPr>
        <p:spPr>
          <a:xfrm>
            <a:off x="644865" y="725334"/>
            <a:ext cx="9111472" cy="529332"/>
          </a:xfrm>
          <a:prstGeom prst="rect">
            <a:avLst/>
          </a:prstGeom>
          <a:noFill/>
        </p:spPr>
        <p:txBody>
          <a:bodyPr wrap="square" lIns="0" tIns="21600" rIns="0" bIns="21600" anchor="ctr">
            <a:spAutoFit/>
          </a:bodyPr>
          <a:lstStyle/>
          <a:p>
            <a:pPr algn="l">
              <a:lnSpc>
                <a:spcPct val="130000"/>
              </a:lnSpc>
            </a:pPr>
            <a:r>
              <a:rPr sz="1450" dirty="0" err="1">
                <a:solidFill>
                  <a:srgbClr val="333333"/>
                </a:solidFill>
                <a:latin typeface="メイリオ"/>
                <a:ea typeface="メイリオ"/>
                <a:cs typeface="メイリオ"/>
              </a:rPr>
              <a:t>ツール導入だけではなく、CPO改善に向けたLINE運用まで支援</a:t>
            </a:r>
            <a:endParaRPr sz="1000" dirty="0">
              <a:solidFill>
                <a:srgbClr val="333333"/>
              </a:solidFill>
              <a:latin typeface="メイリオ"/>
              <a:ea typeface="メイリオ"/>
              <a:cs typeface="メイリオ"/>
            </a:endParaRPr>
          </a:p>
        </p:txBody>
      </p:sp>
      <p:cxnSp>
        <p:nvCxnSpPr>
          <p:cNvPr id="5" name="Connector 3"/>
          <p:cNvCxnSpPr/>
          <p:nvPr/>
        </p:nvCxnSpPr>
        <p:spPr>
          <a:xfrm>
            <a:off x="0" y="1389600"/>
            <a:ext cx="9906097"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 name="Pentagon 5"/>
          <p:cNvSpPr/>
          <p:nvPr/>
        </p:nvSpPr>
        <p:spPr>
          <a:xfrm>
            <a:off x="643500" y="1800000"/>
            <a:ext cx="2233969" cy="864000"/>
          </a:xfrm>
          <a:prstGeom prst="homePlate">
            <a:avLst>
              <a:gd name="adj" fmla="val 22000"/>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7" name="TextBox 6"/>
          <p:cNvSpPr txBox="1"/>
          <p:nvPr/>
        </p:nvSpPr>
        <p:spPr>
          <a:xfrm>
            <a:off x="731250" y="1800000"/>
            <a:ext cx="1985344" cy="864000"/>
          </a:xfrm>
          <a:prstGeom prst="rect">
            <a:avLst/>
          </a:prstGeom>
          <a:noFill/>
        </p:spPr>
        <p:txBody>
          <a:bodyPr wrap="square" lIns="29250" tIns="18000" rIns="29250" bIns="18000" anchor="ctr">
            <a:spAutoFit/>
          </a:bodyPr>
          <a:lstStyle/>
          <a:p>
            <a:pPr algn="ctr">
              <a:lnSpc>
                <a:spcPct val="110000"/>
              </a:lnSpc>
              <a:spcAft>
                <a:spcPts val="0"/>
              </a:spcAft>
            </a:pPr>
            <a:r>
              <a:rPr sz="1050" b="1">
                <a:solidFill>
                  <a:srgbClr val="FFFFFF"/>
                </a:solidFill>
                <a:latin typeface="メイリオ"/>
                <a:ea typeface="メイリオ"/>
                <a:cs typeface="メイリオ"/>
              </a:rPr>
              <a:t>① サンクスLINE導入</a:t>
            </a:r>
          </a:p>
        </p:txBody>
      </p:sp>
      <p:sp>
        <p:nvSpPr>
          <p:cNvPr id="8" name="Chevron 7"/>
          <p:cNvSpPr/>
          <p:nvPr/>
        </p:nvSpPr>
        <p:spPr>
          <a:xfrm>
            <a:off x="2775094" y="1800000"/>
            <a:ext cx="2233969" cy="864000"/>
          </a:xfrm>
          <a:prstGeom prst="chevron">
            <a:avLst>
              <a:gd name="adj" fmla="val 2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9" name="TextBox 8"/>
          <p:cNvSpPr txBox="1"/>
          <p:nvPr/>
        </p:nvSpPr>
        <p:spPr>
          <a:xfrm>
            <a:off x="2965219" y="1800000"/>
            <a:ext cx="1882969" cy="864000"/>
          </a:xfrm>
          <a:prstGeom prst="rect">
            <a:avLst/>
          </a:prstGeom>
          <a:noFill/>
        </p:spPr>
        <p:txBody>
          <a:bodyPr wrap="square" lIns="29250" tIns="18000" rIns="29250" bIns="18000" anchor="ctr">
            <a:spAutoFit/>
          </a:bodyPr>
          <a:lstStyle/>
          <a:p>
            <a:pPr algn="ctr">
              <a:lnSpc>
                <a:spcPct val="110000"/>
              </a:lnSpc>
              <a:spcAft>
                <a:spcPts val="0"/>
              </a:spcAft>
            </a:pPr>
            <a:r>
              <a:rPr sz="1050" b="1">
                <a:solidFill>
                  <a:srgbClr val="FFFFFF"/>
                </a:solidFill>
                <a:latin typeface="メイリオ"/>
                <a:ea typeface="メイリオ"/>
                <a:cs typeface="メイリオ"/>
              </a:rPr>
              <a:t>② LINE配信設計</a:t>
            </a:r>
          </a:p>
        </p:txBody>
      </p:sp>
      <p:sp>
        <p:nvSpPr>
          <p:cNvPr id="10" name="Chevron 9"/>
          <p:cNvSpPr/>
          <p:nvPr/>
        </p:nvSpPr>
        <p:spPr>
          <a:xfrm>
            <a:off x="4906688" y="1800000"/>
            <a:ext cx="2233969" cy="864000"/>
          </a:xfrm>
          <a:prstGeom prst="chevron">
            <a:avLst>
              <a:gd name="adj" fmla="val 2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11" name="TextBox 10"/>
          <p:cNvSpPr txBox="1"/>
          <p:nvPr/>
        </p:nvSpPr>
        <p:spPr>
          <a:xfrm>
            <a:off x="5096812" y="1800000"/>
            <a:ext cx="1882969" cy="864000"/>
          </a:xfrm>
          <a:prstGeom prst="rect">
            <a:avLst/>
          </a:prstGeom>
          <a:noFill/>
        </p:spPr>
        <p:txBody>
          <a:bodyPr wrap="square" lIns="29250" tIns="18000" rIns="29250" bIns="18000" anchor="ctr">
            <a:spAutoFit/>
          </a:bodyPr>
          <a:lstStyle/>
          <a:p>
            <a:pPr algn="ctr">
              <a:lnSpc>
                <a:spcPct val="110000"/>
              </a:lnSpc>
              <a:spcAft>
                <a:spcPts val="0"/>
              </a:spcAft>
            </a:pPr>
            <a:r>
              <a:rPr sz="1050" b="1">
                <a:solidFill>
                  <a:srgbClr val="FFFFFF"/>
                </a:solidFill>
                <a:latin typeface="メイリオ"/>
                <a:ea typeface="メイリオ"/>
                <a:cs typeface="メイリオ"/>
              </a:rPr>
              <a:t>③ 効果計測</a:t>
            </a:r>
          </a:p>
        </p:txBody>
      </p:sp>
      <p:sp>
        <p:nvSpPr>
          <p:cNvPr id="12" name="Chevron 11"/>
          <p:cNvSpPr/>
          <p:nvPr/>
        </p:nvSpPr>
        <p:spPr>
          <a:xfrm>
            <a:off x="7038281" y="1800000"/>
            <a:ext cx="2233969" cy="864000"/>
          </a:xfrm>
          <a:prstGeom prst="chevron">
            <a:avLst>
              <a:gd name="adj" fmla="val 22000"/>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13" name="TextBox 12"/>
          <p:cNvSpPr txBox="1"/>
          <p:nvPr/>
        </p:nvSpPr>
        <p:spPr>
          <a:xfrm>
            <a:off x="7228406" y="1800000"/>
            <a:ext cx="1882969" cy="864000"/>
          </a:xfrm>
          <a:prstGeom prst="rect">
            <a:avLst/>
          </a:prstGeom>
          <a:noFill/>
        </p:spPr>
        <p:txBody>
          <a:bodyPr wrap="square" lIns="29250" tIns="18000" rIns="29250" bIns="18000" anchor="ctr">
            <a:spAutoFit/>
          </a:bodyPr>
          <a:lstStyle/>
          <a:p>
            <a:pPr algn="ctr">
              <a:lnSpc>
                <a:spcPct val="110000"/>
              </a:lnSpc>
              <a:spcAft>
                <a:spcPts val="0"/>
              </a:spcAft>
            </a:pPr>
            <a:r>
              <a:rPr sz="1050" b="1">
                <a:solidFill>
                  <a:srgbClr val="FFFFFF"/>
                </a:solidFill>
                <a:latin typeface="メイリオ"/>
                <a:ea typeface="メイリオ"/>
                <a:cs typeface="メイリオ"/>
              </a:rPr>
              <a:t>④ 改善</a:t>
            </a:r>
          </a:p>
        </p:txBody>
      </p:sp>
      <p:sp>
        <p:nvSpPr>
          <p:cNvPr id="14" name="Rounded Rectangle 13"/>
          <p:cNvSpPr/>
          <p:nvPr/>
        </p:nvSpPr>
        <p:spPr>
          <a:xfrm>
            <a:off x="760500" y="2844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導線設計</a:t>
            </a:r>
          </a:p>
        </p:txBody>
      </p:sp>
      <p:sp>
        <p:nvSpPr>
          <p:cNvPr id="15" name="Rounded Rectangle 14"/>
          <p:cNvSpPr/>
          <p:nvPr/>
        </p:nvSpPr>
        <p:spPr>
          <a:xfrm>
            <a:off x="760500" y="3186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設定支援</a:t>
            </a:r>
          </a:p>
        </p:txBody>
      </p:sp>
      <p:sp>
        <p:nvSpPr>
          <p:cNvPr id="16" name="Rounded Rectangle 15"/>
          <p:cNvSpPr/>
          <p:nvPr/>
        </p:nvSpPr>
        <p:spPr>
          <a:xfrm>
            <a:off x="2892094" y="2844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あいさつメッセージ</a:t>
            </a:r>
          </a:p>
        </p:txBody>
      </p:sp>
      <p:sp>
        <p:nvSpPr>
          <p:cNvPr id="17" name="Rounded Rectangle 16"/>
          <p:cNvSpPr/>
          <p:nvPr/>
        </p:nvSpPr>
        <p:spPr>
          <a:xfrm>
            <a:off x="2892094" y="3186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ステップ配信</a:t>
            </a:r>
          </a:p>
        </p:txBody>
      </p:sp>
      <p:sp>
        <p:nvSpPr>
          <p:cNvPr id="18" name="Rounded Rectangle 17"/>
          <p:cNvSpPr/>
          <p:nvPr/>
        </p:nvSpPr>
        <p:spPr>
          <a:xfrm>
            <a:off x="2892094" y="3528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リマインド</a:t>
            </a:r>
          </a:p>
        </p:txBody>
      </p:sp>
      <p:sp>
        <p:nvSpPr>
          <p:cNvPr id="19" name="Rounded Rectangle 18"/>
          <p:cNvSpPr/>
          <p:nvPr/>
        </p:nvSpPr>
        <p:spPr>
          <a:xfrm>
            <a:off x="2892094" y="3870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セグメント配信</a:t>
            </a:r>
          </a:p>
        </p:txBody>
      </p:sp>
      <p:sp>
        <p:nvSpPr>
          <p:cNvPr id="20" name="Rounded Rectangle 19"/>
          <p:cNvSpPr/>
          <p:nvPr/>
        </p:nvSpPr>
        <p:spPr>
          <a:xfrm>
            <a:off x="5023688" y="2844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友だち追加数</a:t>
            </a:r>
          </a:p>
        </p:txBody>
      </p:sp>
      <p:sp>
        <p:nvSpPr>
          <p:cNvPr id="21" name="Rounded Rectangle 20"/>
          <p:cNvSpPr/>
          <p:nvPr/>
        </p:nvSpPr>
        <p:spPr>
          <a:xfrm>
            <a:off x="5023688" y="3186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LINE経由CV</a:t>
            </a:r>
          </a:p>
        </p:txBody>
      </p:sp>
      <p:sp>
        <p:nvSpPr>
          <p:cNvPr id="22" name="Rounded Rectangle 21"/>
          <p:cNvSpPr/>
          <p:nvPr/>
        </p:nvSpPr>
        <p:spPr>
          <a:xfrm>
            <a:off x="5023688" y="3528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来店・面談・購入</a:t>
            </a:r>
          </a:p>
        </p:txBody>
      </p:sp>
      <p:sp>
        <p:nvSpPr>
          <p:cNvPr id="23" name="Rounded Rectangle 22"/>
          <p:cNvSpPr/>
          <p:nvPr/>
        </p:nvSpPr>
        <p:spPr>
          <a:xfrm>
            <a:off x="7155281" y="2844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配信内容</a:t>
            </a:r>
          </a:p>
        </p:txBody>
      </p:sp>
      <p:sp>
        <p:nvSpPr>
          <p:cNvPr id="24" name="Rounded Rectangle 23"/>
          <p:cNvSpPr/>
          <p:nvPr/>
        </p:nvSpPr>
        <p:spPr>
          <a:xfrm>
            <a:off x="7155281" y="3186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配信タイミング</a:t>
            </a:r>
          </a:p>
        </p:txBody>
      </p:sp>
      <p:sp>
        <p:nvSpPr>
          <p:cNvPr id="25" name="Rounded Rectangle 24"/>
          <p:cNvSpPr/>
          <p:nvPr/>
        </p:nvSpPr>
        <p:spPr>
          <a:xfrm>
            <a:off x="7155281" y="3528000"/>
            <a:ext cx="1941469" cy="288000"/>
          </a:xfrm>
          <a:prstGeom prst="roundRect">
            <a:avLst>
              <a:gd name="adj" fmla="val 50000"/>
            </a:avLst>
          </a:prstGeom>
          <a:solidFill>
            <a:srgbClr val="FFFFFF"/>
          </a:solidFill>
          <a:ln w="9525">
            <a:solidFill>
              <a:srgbClr val="D9D9D9"/>
            </a:solidFill>
          </a:ln>
          <a:effectLst/>
        </p:spPr>
        <p:style>
          <a:lnRef idx="1">
            <a:schemeClr val="accent1"/>
          </a:lnRef>
          <a:fillRef idx="3">
            <a:schemeClr val="accent1"/>
          </a:fillRef>
          <a:effectRef idx="0">
            <a:schemeClr val="accent1"/>
          </a:effectRef>
          <a:fontRef idx="minor">
            <a:schemeClr val="lt1"/>
          </a:fontRef>
        </p:style>
        <p:txBody>
          <a:bodyPr wrap="square" lIns="14625" tIns="0" rIns="14625" bIns="0" rtlCol="0" anchor="ctr"/>
          <a:lstStyle/>
          <a:p>
            <a:pPr algn="ctr">
              <a:lnSpc>
                <a:spcPct val="110000"/>
              </a:lnSpc>
              <a:spcAft>
                <a:spcPts val="0"/>
              </a:spcAft>
            </a:pPr>
            <a:r>
              <a:rPr sz="850" b="1">
                <a:solidFill>
                  <a:srgbClr val="333333"/>
                </a:solidFill>
                <a:latin typeface="メイリオ"/>
                <a:ea typeface="メイリオ"/>
                <a:cs typeface="メイリオ"/>
              </a:rPr>
              <a:t>導線</a:t>
            </a:r>
          </a:p>
        </p:txBody>
      </p:sp>
      <p:sp>
        <p:nvSpPr>
          <p:cNvPr id="26" name="TextBox 25"/>
          <p:cNvSpPr txBox="1"/>
          <p:nvPr/>
        </p:nvSpPr>
        <p:spPr>
          <a:xfrm>
            <a:off x="7155281" y="3870000"/>
            <a:ext cx="1941469" cy="288000"/>
          </a:xfrm>
          <a:prstGeom prst="rect">
            <a:avLst/>
          </a:prstGeom>
          <a:noFill/>
        </p:spPr>
        <p:txBody>
          <a:bodyPr wrap="square" lIns="29250" tIns="18000" rIns="29250" bIns="18000" anchor="ctr">
            <a:spAutoFit/>
          </a:bodyPr>
          <a:lstStyle/>
          <a:p>
            <a:pPr algn="ctr">
              <a:lnSpc>
                <a:spcPct val="110000"/>
              </a:lnSpc>
              <a:spcAft>
                <a:spcPts val="0"/>
              </a:spcAft>
            </a:pPr>
            <a:r>
              <a:rPr sz="850" b="0">
                <a:solidFill>
                  <a:srgbClr val="7F7F7F"/>
                </a:solidFill>
                <a:latin typeface="メイリオ"/>
                <a:ea typeface="メイリオ"/>
                <a:cs typeface="メイリオ"/>
              </a:rPr>
              <a:t>を継続改善</a:t>
            </a:r>
          </a:p>
        </p:txBody>
      </p:sp>
      <p:cxnSp>
        <p:nvCxnSpPr>
          <p:cNvPr id="27" name="Connector 26"/>
          <p:cNvCxnSpPr/>
          <p:nvPr/>
        </p:nvCxnSpPr>
        <p:spPr>
          <a:xfrm>
            <a:off x="8126016" y="4212000"/>
            <a:ext cx="0" cy="251999"/>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28" name="Connector 27"/>
          <p:cNvCxnSpPr/>
          <p:nvPr/>
        </p:nvCxnSpPr>
        <p:spPr>
          <a:xfrm>
            <a:off x="3862828" y="4463999"/>
            <a:ext cx="4263188" cy="0"/>
          </a:xfrm>
          <a:prstGeom prst="line">
            <a:avLst/>
          </a:prstGeom>
          <a:ln w="19050">
            <a:solidFill>
              <a:srgbClr val="1F285A"/>
            </a:solidFill>
          </a:ln>
        </p:spPr>
        <p:style>
          <a:lnRef idx="2">
            <a:schemeClr val="accent1"/>
          </a:lnRef>
          <a:fillRef idx="0">
            <a:schemeClr val="accent1"/>
          </a:fillRef>
          <a:effectRef idx="0">
            <a:schemeClr val="accent1"/>
          </a:effectRef>
          <a:fontRef idx="minor">
            <a:schemeClr val="tx1"/>
          </a:fontRef>
        </p:style>
      </p:cxnSp>
      <p:cxnSp>
        <p:nvCxnSpPr>
          <p:cNvPr id="29" name="Connector 28"/>
          <p:cNvCxnSpPr/>
          <p:nvPr/>
        </p:nvCxnSpPr>
        <p:spPr>
          <a:xfrm flipV="1">
            <a:off x="3862828" y="4230000"/>
            <a:ext cx="0" cy="233999"/>
          </a:xfrm>
          <a:prstGeom prst="line">
            <a:avLst/>
          </a:prstGeom>
          <a:ln w="19050">
            <a:solidFill>
              <a:srgbClr val="1F285A"/>
            </a:solidFill>
            <a:tailEnd type="triangle" w="med" len="med"/>
          </a:ln>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3950578" y="4482000"/>
            <a:ext cx="2925000" cy="216000"/>
          </a:xfrm>
          <a:prstGeom prst="rect">
            <a:avLst/>
          </a:prstGeom>
          <a:noFill/>
        </p:spPr>
        <p:txBody>
          <a:bodyPr wrap="square" lIns="29250" tIns="18000" rIns="29250" bIns="18000" anchor="ctr">
            <a:spAutoFit/>
          </a:bodyPr>
          <a:lstStyle/>
          <a:p>
            <a:pPr algn="l">
              <a:lnSpc>
                <a:spcPct val="110000"/>
              </a:lnSpc>
              <a:spcAft>
                <a:spcPts val="0"/>
              </a:spcAft>
            </a:pPr>
            <a:r>
              <a:rPr sz="800" b="0">
                <a:solidFill>
                  <a:srgbClr val="7F7F7F"/>
                </a:solidFill>
                <a:latin typeface="メイリオ"/>
                <a:ea typeface="メイリオ"/>
                <a:cs typeface="メイリオ"/>
              </a:rPr>
              <a:t>計測結果をもとに、配信・導線を見直す</a:t>
            </a:r>
          </a:p>
        </p:txBody>
      </p:sp>
      <p:cxnSp>
        <p:nvCxnSpPr>
          <p:cNvPr id="31" name="Connector 30"/>
          <p:cNvCxnSpPr/>
          <p:nvPr/>
        </p:nvCxnSpPr>
        <p:spPr>
          <a:xfrm>
            <a:off x="643500" y="4878000"/>
            <a:ext cx="8628750" cy="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32" name="Rectangle 31"/>
          <p:cNvSpPr/>
          <p:nvPr/>
        </p:nvSpPr>
        <p:spPr>
          <a:xfrm>
            <a:off x="643500" y="5029200"/>
            <a:ext cx="52650" cy="180000"/>
          </a:xfrm>
          <a:prstGeom prst="rect">
            <a:avLst/>
          </a:prstGeom>
          <a:solidFill>
            <a:srgbClr val="06C755"/>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33" name="TextBox 32"/>
          <p:cNvSpPr txBox="1"/>
          <p:nvPr/>
        </p:nvSpPr>
        <p:spPr>
          <a:xfrm>
            <a:off x="745875" y="4986000"/>
            <a:ext cx="4095000" cy="270000"/>
          </a:xfrm>
          <a:prstGeom prst="rect">
            <a:avLst/>
          </a:prstGeom>
          <a:noFill/>
        </p:spPr>
        <p:txBody>
          <a:bodyPr wrap="square" lIns="29250" tIns="18000" rIns="29250" bIns="18000" anchor="ctr">
            <a:spAutoFit/>
          </a:bodyPr>
          <a:lstStyle/>
          <a:p>
            <a:pPr algn="l">
              <a:lnSpc>
                <a:spcPct val="110000"/>
              </a:lnSpc>
              <a:spcAft>
                <a:spcPts val="0"/>
              </a:spcAft>
            </a:pPr>
            <a:r>
              <a:rPr sz="900" b="1">
                <a:solidFill>
                  <a:srgbClr val="1F285A"/>
                </a:solidFill>
                <a:latin typeface="メイリオ"/>
                <a:ea typeface="メイリオ"/>
                <a:cs typeface="メイリオ"/>
              </a:rPr>
              <a:t>① サンクスLINE誘導ツール｜費用目安</a:t>
            </a:r>
          </a:p>
        </p:txBody>
      </p:sp>
      <p:sp>
        <p:nvSpPr>
          <p:cNvPr id="34" name="TextBox 33"/>
          <p:cNvSpPr txBox="1"/>
          <p:nvPr/>
        </p:nvSpPr>
        <p:spPr>
          <a:xfrm>
            <a:off x="643500" y="5292000"/>
            <a:ext cx="2098688" cy="486000"/>
          </a:xfrm>
          <a:prstGeom prst="rect">
            <a:avLst/>
          </a:prstGeom>
          <a:noFill/>
        </p:spPr>
        <p:txBody>
          <a:bodyPr wrap="square" lIns="29250" tIns="10800" rIns="29250" bIns="10800" anchor="ctr">
            <a:spAutoFit/>
          </a:bodyPr>
          <a:lstStyle/>
          <a:p>
            <a:pPr algn="ctr">
              <a:lnSpc>
                <a:spcPct val="105000"/>
              </a:lnSpc>
              <a:spcAft>
                <a:spcPts val="200"/>
              </a:spcAft>
            </a:pPr>
            <a:r>
              <a:rPr sz="750" b="0">
                <a:solidFill>
                  <a:srgbClr val="7F7F7F"/>
                </a:solidFill>
                <a:latin typeface="メイリオ"/>
                <a:ea typeface="メイリオ"/>
                <a:cs typeface="メイリオ"/>
              </a:rPr>
              <a:t>初期　</a:t>
            </a:r>
            <a:r>
              <a:rPr sz="1300" b="1">
                <a:solidFill>
                  <a:srgbClr val="1F285A"/>
                </a:solidFill>
                <a:latin typeface="メイリオ"/>
                <a:ea typeface="メイリオ"/>
                <a:cs typeface="メイリオ"/>
              </a:rPr>
              <a:t>15万円</a:t>
            </a:r>
          </a:p>
        </p:txBody>
      </p:sp>
      <p:cxnSp>
        <p:nvCxnSpPr>
          <p:cNvPr id="35" name="Connector 34"/>
          <p:cNvCxnSpPr/>
          <p:nvPr/>
        </p:nvCxnSpPr>
        <p:spPr>
          <a:xfrm>
            <a:off x="2742188" y="5364000"/>
            <a:ext cx="0" cy="34200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36" name="TextBox 35"/>
          <p:cNvSpPr txBox="1"/>
          <p:nvPr/>
        </p:nvSpPr>
        <p:spPr>
          <a:xfrm>
            <a:off x="2742188" y="5292000"/>
            <a:ext cx="2098688" cy="486000"/>
          </a:xfrm>
          <a:prstGeom prst="rect">
            <a:avLst/>
          </a:prstGeom>
          <a:noFill/>
        </p:spPr>
        <p:txBody>
          <a:bodyPr wrap="square" lIns="29250" tIns="10800" rIns="29250" bIns="10800" anchor="ctr">
            <a:spAutoFit/>
          </a:bodyPr>
          <a:lstStyle/>
          <a:p>
            <a:pPr algn="ctr">
              <a:lnSpc>
                <a:spcPct val="105000"/>
              </a:lnSpc>
              <a:spcAft>
                <a:spcPts val="200"/>
              </a:spcAft>
            </a:pPr>
            <a:r>
              <a:rPr sz="750" b="0">
                <a:solidFill>
                  <a:srgbClr val="7F7F7F"/>
                </a:solidFill>
                <a:latin typeface="メイリオ"/>
                <a:ea typeface="メイリオ"/>
                <a:cs typeface="メイリオ"/>
              </a:rPr>
              <a:t>月額　</a:t>
            </a:r>
            <a:r>
              <a:rPr sz="1300" b="1">
                <a:solidFill>
                  <a:srgbClr val="1F285A"/>
                </a:solidFill>
                <a:latin typeface="メイリオ"/>
                <a:ea typeface="メイリオ"/>
                <a:cs typeface="メイリオ"/>
              </a:rPr>
              <a:t>3万円〜</a:t>
            </a:r>
          </a:p>
        </p:txBody>
      </p:sp>
      <p:sp>
        <p:nvSpPr>
          <p:cNvPr id="37" name="Rectangle 36"/>
          <p:cNvSpPr/>
          <p:nvPr/>
        </p:nvSpPr>
        <p:spPr>
          <a:xfrm>
            <a:off x="5074875" y="5029200"/>
            <a:ext cx="52650" cy="180000"/>
          </a:xfrm>
          <a:prstGeom prst="rect">
            <a:avLst/>
          </a:prstGeom>
          <a:solidFill>
            <a:srgbClr val="1F285A"/>
          </a:solidFill>
          <a:ln>
            <a:noFill/>
          </a:ln>
          <a:effectLst/>
        </p:spPr>
        <p:style>
          <a:lnRef idx="1">
            <a:schemeClr val="accent1"/>
          </a:lnRef>
          <a:fillRef idx="3">
            <a:schemeClr val="accent1"/>
          </a:fillRef>
          <a:effectRef idx="0">
            <a:schemeClr val="accent1"/>
          </a:effectRef>
          <a:fontRef idx="minor">
            <a:schemeClr val="lt1"/>
          </a:fontRef>
        </p:style>
        <p:txBody>
          <a:bodyPr wrap="square" lIns="58500" tIns="18000" rIns="58500" bIns="18000" rtlCol="0" anchor="ctr"/>
          <a:lstStyle/>
          <a:p>
            <a:pPr algn="ctr"/>
            <a:endParaRPr>
              <a:latin typeface="メイリオ"/>
              <a:ea typeface="メイリオ"/>
              <a:cs typeface="メイリオ"/>
            </a:endParaRPr>
          </a:p>
        </p:txBody>
      </p:sp>
      <p:sp>
        <p:nvSpPr>
          <p:cNvPr id="38" name="TextBox 37"/>
          <p:cNvSpPr txBox="1"/>
          <p:nvPr/>
        </p:nvSpPr>
        <p:spPr>
          <a:xfrm>
            <a:off x="5177250" y="4986000"/>
            <a:ext cx="4095000" cy="270000"/>
          </a:xfrm>
          <a:prstGeom prst="rect">
            <a:avLst/>
          </a:prstGeom>
          <a:noFill/>
        </p:spPr>
        <p:txBody>
          <a:bodyPr wrap="square" lIns="29250" tIns="18000" rIns="29250" bIns="18000" anchor="ctr">
            <a:spAutoFit/>
          </a:bodyPr>
          <a:lstStyle/>
          <a:p>
            <a:pPr algn="l">
              <a:lnSpc>
                <a:spcPct val="110000"/>
              </a:lnSpc>
              <a:spcAft>
                <a:spcPts val="0"/>
              </a:spcAft>
            </a:pPr>
            <a:r>
              <a:rPr sz="900" b="1">
                <a:solidFill>
                  <a:srgbClr val="1F285A"/>
                </a:solidFill>
                <a:latin typeface="メイリオ"/>
                <a:ea typeface="メイリオ"/>
                <a:cs typeface="メイリオ"/>
              </a:rPr>
              <a:t>② LINE運用コンサル｜費用目安</a:t>
            </a:r>
          </a:p>
        </p:txBody>
      </p:sp>
      <p:sp>
        <p:nvSpPr>
          <p:cNvPr id="39" name="TextBox 38"/>
          <p:cNvSpPr txBox="1"/>
          <p:nvPr/>
        </p:nvSpPr>
        <p:spPr>
          <a:xfrm>
            <a:off x="5074875" y="5292000"/>
            <a:ext cx="1399125" cy="486000"/>
          </a:xfrm>
          <a:prstGeom prst="rect">
            <a:avLst/>
          </a:prstGeom>
          <a:noFill/>
        </p:spPr>
        <p:txBody>
          <a:bodyPr wrap="square" lIns="29250" tIns="10800" rIns="29250" bIns="10800" anchor="ctr">
            <a:spAutoFit/>
          </a:bodyPr>
          <a:lstStyle/>
          <a:p>
            <a:pPr algn="ctr">
              <a:lnSpc>
                <a:spcPct val="105000"/>
              </a:lnSpc>
              <a:spcAft>
                <a:spcPts val="200"/>
              </a:spcAft>
            </a:pPr>
            <a:r>
              <a:rPr sz="750" b="0">
                <a:solidFill>
                  <a:srgbClr val="7F7F7F"/>
                </a:solidFill>
                <a:latin typeface="メイリオ"/>
                <a:ea typeface="メイリオ"/>
                <a:cs typeface="メイリオ"/>
              </a:rPr>
              <a:t>初期　</a:t>
            </a:r>
            <a:r>
              <a:rPr sz="1300" b="1">
                <a:solidFill>
                  <a:srgbClr val="1F285A"/>
                </a:solidFill>
                <a:latin typeface="メイリオ"/>
                <a:ea typeface="メイリオ"/>
                <a:cs typeface="メイリオ"/>
              </a:rPr>
              <a:t>10万円〜</a:t>
            </a:r>
          </a:p>
        </p:txBody>
      </p:sp>
      <p:cxnSp>
        <p:nvCxnSpPr>
          <p:cNvPr id="40" name="Connector 39"/>
          <p:cNvCxnSpPr/>
          <p:nvPr/>
        </p:nvCxnSpPr>
        <p:spPr>
          <a:xfrm>
            <a:off x="6474000" y="5364000"/>
            <a:ext cx="0" cy="34200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41" name="TextBox 40"/>
          <p:cNvSpPr txBox="1"/>
          <p:nvPr/>
        </p:nvSpPr>
        <p:spPr>
          <a:xfrm>
            <a:off x="6474000" y="5292000"/>
            <a:ext cx="1399125" cy="486000"/>
          </a:xfrm>
          <a:prstGeom prst="rect">
            <a:avLst/>
          </a:prstGeom>
          <a:noFill/>
        </p:spPr>
        <p:txBody>
          <a:bodyPr wrap="square" lIns="29250" tIns="10800" rIns="29250" bIns="10800" anchor="ctr">
            <a:spAutoFit/>
          </a:bodyPr>
          <a:lstStyle/>
          <a:p>
            <a:pPr algn="ctr">
              <a:lnSpc>
                <a:spcPct val="105000"/>
              </a:lnSpc>
              <a:spcAft>
                <a:spcPts val="200"/>
              </a:spcAft>
            </a:pPr>
            <a:r>
              <a:rPr sz="750" b="0">
                <a:solidFill>
                  <a:srgbClr val="7F7F7F"/>
                </a:solidFill>
                <a:latin typeface="メイリオ"/>
                <a:ea typeface="メイリオ"/>
                <a:cs typeface="メイリオ"/>
              </a:rPr>
              <a:t>月額　</a:t>
            </a:r>
            <a:r>
              <a:rPr sz="1300" b="1">
                <a:solidFill>
                  <a:srgbClr val="1F285A"/>
                </a:solidFill>
                <a:latin typeface="メイリオ"/>
                <a:ea typeface="メイリオ"/>
                <a:cs typeface="メイリオ"/>
              </a:rPr>
              <a:t>20万円〜</a:t>
            </a:r>
          </a:p>
        </p:txBody>
      </p:sp>
      <p:cxnSp>
        <p:nvCxnSpPr>
          <p:cNvPr id="42" name="Connector 41"/>
          <p:cNvCxnSpPr/>
          <p:nvPr/>
        </p:nvCxnSpPr>
        <p:spPr>
          <a:xfrm>
            <a:off x="7873125" y="5364000"/>
            <a:ext cx="0" cy="34200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43" name="TextBox 42"/>
          <p:cNvSpPr txBox="1"/>
          <p:nvPr/>
        </p:nvSpPr>
        <p:spPr>
          <a:xfrm>
            <a:off x="7873125" y="5292000"/>
            <a:ext cx="1399125" cy="486000"/>
          </a:xfrm>
          <a:prstGeom prst="rect">
            <a:avLst/>
          </a:prstGeom>
          <a:noFill/>
        </p:spPr>
        <p:txBody>
          <a:bodyPr wrap="square" lIns="29250" tIns="10800" rIns="29250" bIns="10800" anchor="ctr">
            <a:spAutoFit/>
          </a:bodyPr>
          <a:lstStyle/>
          <a:p>
            <a:pPr algn="ctr">
              <a:lnSpc>
                <a:spcPct val="105000"/>
              </a:lnSpc>
              <a:spcAft>
                <a:spcPts val="200"/>
              </a:spcAft>
            </a:pPr>
            <a:r>
              <a:rPr sz="750" b="0">
                <a:solidFill>
                  <a:srgbClr val="7F7F7F"/>
                </a:solidFill>
                <a:latin typeface="メイリオ"/>
                <a:ea typeface="メイリオ"/>
                <a:cs typeface="メイリオ"/>
              </a:rPr>
              <a:t>期間　</a:t>
            </a:r>
            <a:r>
              <a:rPr sz="1300" b="1">
                <a:solidFill>
                  <a:srgbClr val="1F285A"/>
                </a:solidFill>
                <a:latin typeface="メイリオ"/>
                <a:ea typeface="メイリオ"/>
                <a:cs typeface="メイリオ"/>
              </a:rPr>
              <a:t>6か月〜</a:t>
            </a:r>
          </a:p>
        </p:txBody>
      </p:sp>
      <p:cxnSp>
        <p:nvCxnSpPr>
          <p:cNvPr id="44" name="Connector 43"/>
          <p:cNvCxnSpPr/>
          <p:nvPr/>
        </p:nvCxnSpPr>
        <p:spPr>
          <a:xfrm>
            <a:off x="4957875" y="4986000"/>
            <a:ext cx="0" cy="792000"/>
          </a:xfrm>
          <a:prstGeom prst="line">
            <a:avLst/>
          </a:prstGeom>
          <a:ln w="9525">
            <a:solidFill>
              <a:srgbClr val="D9D9D9"/>
            </a:solidFill>
          </a:ln>
        </p:spPr>
        <p:style>
          <a:lnRef idx="2">
            <a:schemeClr val="accent1"/>
          </a:lnRef>
          <a:fillRef idx="0">
            <a:schemeClr val="accent1"/>
          </a:fillRef>
          <a:effectRef idx="0">
            <a:schemeClr val="accent1"/>
          </a:effectRef>
          <a:fontRef idx="minor">
            <a:schemeClr val="tx1"/>
          </a:fontRef>
        </p:style>
      </p:cxnSp>
      <p:sp>
        <p:nvSpPr>
          <p:cNvPr id="45" name="TextBox 44"/>
          <p:cNvSpPr txBox="1"/>
          <p:nvPr/>
        </p:nvSpPr>
        <p:spPr>
          <a:xfrm>
            <a:off x="643500" y="5814000"/>
            <a:ext cx="8628750" cy="198000"/>
          </a:xfrm>
          <a:prstGeom prst="rect">
            <a:avLst/>
          </a:prstGeom>
          <a:noFill/>
        </p:spPr>
        <p:txBody>
          <a:bodyPr wrap="square" lIns="29250" tIns="18000" rIns="29250" bIns="18000" anchor="t">
            <a:spAutoFit/>
          </a:bodyPr>
          <a:lstStyle/>
          <a:p>
            <a:pPr algn="l">
              <a:lnSpc>
                <a:spcPct val="110000"/>
              </a:lnSpc>
              <a:spcAft>
                <a:spcPts val="0"/>
              </a:spcAft>
            </a:pPr>
            <a:r>
              <a:rPr sz="700" b="0">
                <a:solidFill>
                  <a:srgbClr val="7F7F7F"/>
                </a:solidFill>
                <a:latin typeface="メイリオ"/>
                <a:ea typeface="メイリオ"/>
                <a:cs typeface="メイリオ"/>
              </a:rPr>
              <a:t>※施策内容・配信本数・連携範囲等により、費用は個別にお見積もりいたします。</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Appendix</a:t>
            </a:r>
            <a:endParaRPr lang="en-US" sz="1600" b="0" u="none" strike="noStrike">
              <a:solidFill>
                <a:srgbClr val="000000"/>
              </a:solidFill>
              <a:effectLst/>
              <a:uFillTx/>
              <a:latin typeface="メイリオ"/>
              <a:ea typeface="メイリオ"/>
              <a:cs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cs typeface="メイリオ"/>
              </a:rPr>
              <a:t>参考資料</a:t>
            </a:r>
            <a:endParaRPr lang="en-US" sz="3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ユーザーコミュニケーションに、</a:t>
            </a:r>
            <a:r>
              <a:rPr lang="en-US" sz="1400" b="0" u="none" strike="noStrike">
                <a:solidFill>
                  <a:srgbClr val="343434"/>
                </a:solidFill>
                <a:effectLst/>
                <a:uFillTx/>
                <a:latin typeface="メイリオ"/>
                <a:ea typeface="メイリオ"/>
                <a:cs typeface="メイリオ"/>
              </a:rPr>
              <a:t>LINE</a:t>
            </a:r>
            <a:r>
              <a:rPr lang="ja-JP" sz="1400" b="0" u="none" strike="noStrike">
                <a:solidFill>
                  <a:srgbClr val="343434"/>
                </a:solidFill>
                <a:effectLst/>
                <a:uFillTx/>
                <a:latin typeface="メイリオ"/>
                <a:ea typeface="メイリオ"/>
                <a:cs typeface="メイリオ"/>
              </a:rPr>
              <a:t>公式アカウントを導入する法人が増加傾向。</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開封率に関してはメールマガジンの</a:t>
            </a:r>
            <a:r>
              <a:rPr lang="en-US" sz="1400" b="1" u="none" strike="noStrike">
                <a:solidFill>
                  <a:srgbClr val="343434"/>
                </a:solidFill>
                <a:effectLst/>
                <a:uFillTx/>
                <a:latin typeface="メイリオ"/>
                <a:ea typeface="メイリオ"/>
                <a:cs typeface="メイリオ"/>
              </a:rPr>
              <a:t>6</a:t>
            </a:r>
            <a:r>
              <a:rPr lang="ja-JP" sz="1400" b="1" u="none" strike="noStrike">
                <a:solidFill>
                  <a:srgbClr val="343434"/>
                </a:solidFill>
                <a:effectLst/>
                <a:uFillTx/>
                <a:latin typeface="メイリオ"/>
                <a:ea typeface="メイリオ"/>
                <a:cs typeface="メイリオ"/>
              </a:rPr>
              <a:t>倍を誇る</a:t>
            </a:r>
            <a:r>
              <a:rPr lang="ja-JP" sz="1400" b="0" u="none" strike="noStrike">
                <a:solidFill>
                  <a:srgbClr val="343434"/>
                </a:solidFill>
                <a:effectLst/>
                <a:uFillTx/>
                <a:latin typeface="メイリオ"/>
                <a:ea typeface="メイリオ"/>
                <a:cs typeface="メイリオ"/>
              </a:rPr>
              <a:t>と言われています。</a:t>
            </a:r>
            <a:endParaRPr lang="en-US" sz="1400" b="0" u="none" strike="noStrike">
              <a:solidFill>
                <a:srgbClr val="000000"/>
              </a:solidFill>
              <a:effectLst/>
              <a:uFillTx/>
              <a:latin typeface="メイリオ"/>
              <a:ea typeface="メイリオ"/>
              <a:cs typeface="メイリオ"/>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cs typeface="メイリオ"/>
                </a:rPr>
                <a:t>　　　　メールマガジン、テレマーケティング が主流</a:t>
              </a:r>
              <a:endParaRPr lang="en-US" sz="1400" b="0" u="none" strike="noStrike">
                <a:solidFill>
                  <a:srgbClr val="000000"/>
                </a:solidFill>
                <a:effectLst/>
                <a:uFillTx/>
                <a:latin typeface="メイリオ"/>
                <a:ea typeface="メイリオ"/>
                <a:cs typeface="メイリオ"/>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cs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cs typeface="メイリオ"/>
                </a:rPr>
                <a:t>　　　　＋</a:t>
              </a:r>
              <a:r>
                <a:rPr lang="en-US" sz="1400" b="1" u="none" strike="noStrike">
                  <a:solidFill>
                    <a:srgbClr val="00B900"/>
                  </a:solidFill>
                  <a:effectLst/>
                  <a:uFillTx/>
                  <a:latin typeface="メイリオ"/>
                  <a:ea typeface="メイリオ"/>
                  <a:cs typeface="メイリオ"/>
                </a:rPr>
                <a:t>LINE</a:t>
              </a:r>
              <a:r>
                <a:rPr lang="ja-JP" sz="1400" b="1" u="none" strike="noStrike">
                  <a:solidFill>
                    <a:srgbClr val="00B900"/>
                  </a:solidFill>
                  <a:effectLst/>
                  <a:uFillTx/>
                  <a:latin typeface="メイリオ"/>
                  <a:ea typeface="メイリオ"/>
                  <a:cs typeface="メイリオ"/>
                </a:rPr>
                <a:t>公式アカウント </a:t>
              </a:r>
              <a:r>
                <a:rPr lang="ja-JP" sz="1400" b="0" u="none" strike="noStrike">
                  <a:solidFill>
                    <a:srgbClr val="00B900"/>
                  </a:solidFill>
                  <a:effectLst/>
                  <a:uFillTx/>
                  <a:latin typeface="メイリオ"/>
                  <a:ea typeface="メイリオ"/>
                  <a:cs typeface="メイリオ"/>
                </a:rPr>
                <a:t>が主流</a:t>
              </a:r>
              <a:endParaRPr lang="en-US" sz="1400" b="0" u="none" strike="noStrike">
                <a:solidFill>
                  <a:srgbClr val="000000"/>
                </a:solidFill>
                <a:effectLst/>
                <a:uFillTx/>
                <a:latin typeface="メイリオ"/>
                <a:ea typeface="メイリオ"/>
                <a:cs typeface="メイリオ"/>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cs typeface="メイリオ"/>
              </a:rPr>
              <a:t>メールマガジン</a:t>
            </a:r>
            <a:endParaRPr lang="en-US" sz="1400" b="0" u="none" strike="noStrike">
              <a:solidFill>
                <a:srgbClr val="000000"/>
              </a:solidFill>
              <a:effectLst/>
              <a:uFillTx/>
              <a:latin typeface="メイリオ"/>
              <a:ea typeface="メイリオ"/>
              <a:cs typeface="メイリオ"/>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cs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cs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入力が面倒・間違いが発生</a:t>
            </a:r>
            <a:endParaRPr lang="en-US" sz="1400" b="0" u="none" strike="noStrike">
              <a:solidFill>
                <a:srgbClr val="000000"/>
              </a:solidFill>
              <a:effectLst/>
              <a:uFillTx/>
              <a:latin typeface="メイリオ"/>
              <a:ea typeface="メイリオ"/>
              <a:cs typeface="メイリオ"/>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迷惑メールなどに入る</a:t>
            </a:r>
            <a:endParaRPr lang="en-US" sz="1400" b="0" u="none" strike="noStrike">
              <a:solidFill>
                <a:srgbClr val="000000"/>
              </a:solidFill>
              <a:effectLst/>
              <a:uFillTx/>
              <a:latin typeface="メイリオ"/>
              <a:ea typeface="メイリオ"/>
              <a:cs typeface="メイリオ"/>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10</a:t>
            </a:r>
            <a:r>
              <a:rPr lang="zh-CN" sz="1400" b="0" u="none" strike="noStrike">
                <a:solidFill>
                  <a:srgbClr val="040606"/>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cs typeface="メイリオ"/>
              </a:rPr>
              <a:t>1</a:t>
            </a:r>
            <a:r>
              <a:rPr lang="zh-CN" sz="1400" b="0" u="none" strike="noStrike">
                <a:solidFill>
                  <a:srgbClr val="040606"/>
                </a:solidFill>
                <a:effectLst/>
                <a:uFillTx/>
                <a:latin typeface="メイリオ"/>
                <a:ea typeface="メイリオ"/>
                <a:cs typeface="メイリオ"/>
              </a:rPr>
              <a:t>時間</a:t>
            </a:r>
            <a:endParaRPr lang="en-US" sz="1400" b="0" u="none" strike="noStrike">
              <a:solidFill>
                <a:srgbClr val="000000"/>
              </a:solidFill>
              <a:effectLst/>
              <a:uFillTx/>
              <a:latin typeface="メイリオ"/>
              <a:ea typeface="メイリオ"/>
              <a:cs typeface="メイリオ"/>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cs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到達</a:t>
            </a:r>
            <a:endParaRPr lang="en-US" sz="1400" b="0" u="none" strike="noStrike">
              <a:solidFill>
                <a:srgbClr val="000000"/>
              </a:solidFill>
              <a:effectLst/>
              <a:uFillTx/>
              <a:latin typeface="メイリオ"/>
              <a:ea typeface="メイリオ"/>
              <a:cs typeface="メイリオ"/>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開封率</a:t>
            </a:r>
            <a:endParaRPr lang="en-US" sz="1400" b="0" u="none" strike="noStrike">
              <a:solidFill>
                <a:srgbClr val="000000"/>
              </a:solidFill>
              <a:effectLst/>
              <a:uFillTx/>
              <a:latin typeface="メイリオ"/>
              <a:ea typeface="メイリオ"/>
              <a:cs typeface="メイリオ"/>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cs typeface="メイリオ"/>
              </a:rPr>
              <a:t>開封まで</a:t>
            </a:r>
            <a:endParaRPr lang="en-US" sz="1400" b="0" u="none" strike="noStrike">
              <a:solidFill>
                <a:srgbClr val="000000"/>
              </a:solidFill>
              <a:effectLst/>
              <a:uFillTx/>
              <a:latin typeface="メイリオ"/>
              <a:ea typeface="メイリオ"/>
              <a:cs typeface="メイリオ"/>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メイリオ"/>
              <a:ea typeface="メイリオ"/>
              <a:cs typeface="メイリオ"/>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cs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cs typeface="メイリオ"/>
              </a:rPr>
              <a:t>LINE</a:t>
            </a:r>
            <a:endParaRPr lang="en-US" sz="1400" b="0" u="none" strike="noStrike">
              <a:solidFill>
                <a:srgbClr val="000000"/>
              </a:solidFill>
              <a:effectLst/>
              <a:uFillTx/>
              <a:latin typeface="メイリオ"/>
              <a:ea typeface="メイリオ"/>
              <a:cs typeface="メイリオ"/>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cs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cs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確実に届く</a:t>
            </a:r>
            <a:endParaRPr lang="en-US" sz="1400" b="0" u="none" strike="noStrike">
              <a:solidFill>
                <a:srgbClr val="000000"/>
              </a:solidFill>
              <a:effectLst/>
              <a:uFillTx/>
              <a:latin typeface="メイリオ"/>
              <a:ea typeface="メイリオ"/>
              <a:cs typeface="メイリオ"/>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60</a:t>
            </a:r>
            <a:r>
              <a:rPr lang="zh-CN" sz="1400" b="1" u="none" strike="noStrike">
                <a:solidFill>
                  <a:srgbClr val="00B449"/>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cs typeface="メイリオ"/>
              </a:rPr>
              <a:t>15</a:t>
            </a:r>
            <a:r>
              <a:rPr lang="zh-CN" sz="1400" b="1" u="none" strike="noStrike">
                <a:solidFill>
                  <a:srgbClr val="00B449"/>
                </a:solidFill>
                <a:effectLst/>
                <a:uFillTx/>
                <a:latin typeface="メイリオ"/>
                <a:ea typeface="メイリオ"/>
                <a:cs typeface="メイリオ"/>
              </a:rPr>
              <a:t>分</a:t>
            </a:r>
            <a:endParaRPr lang="en-US" sz="1400" b="0" u="none" strike="noStrike">
              <a:solidFill>
                <a:srgbClr val="000000"/>
              </a:solidFill>
              <a:effectLst/>
              <a:uFillTx/>
              <a:latin typeface="メイリオ"/>
              <a:ea typeface="メイリオ"/>
              <a:cs typeface="メイリオ"/>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cs typeface="メイリオ"/>
              </a:rPr>
              <a:t>ワンタップで追加</a:t>
            </a:r>
            <a:endParaRPr lang="en-US" sz="14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cs typeface="メイリオ"/>
              </a:rPr>
              <a:t>「今すぐ客」以外の</a:t>
            </a:r>
            <a:r>
              <a:rPr lang="ja-JP" sz="1400" b="0" u="none" strike="noStrike">
                <a:solidFill>
                  <a:srgbClr val="343434"/>
                </a:solidFill>
                <a:effectLst/>
                <a:uFillTx/>
                <a:latin typeface="メイリオ"/>
                <a:ea typeface="メイリオ"/>
                <a:cs typeface="メイリオ"/>
              </a:rPr>
              <a:t>約</a:t>
            </a:r>
            <a:r>
              <a:rPr lang="en-US" sz="1400" b="0" u="none" strike="noStrike">
                <a:solidFill>
                  <a:srgbClr val="343434"/>
                </a:solidFill>
                <a:effectLst/>
                <a:uFillTx/>
                <a:latin typeface="メイリオ"/>
                <a:ea typeface="メイリオ"/>
                <a:cs typeface="メイリオ"/>
              </a:rPr>
              <a:t>99</a:t>
            </a:r>
            <a:r>
              <a:rPr lang="ja-JP" sz="1400" b="0" u="none" strike="noStrike">
                <a:solidFill>
                  <a:srgbClr val="343434"/>
                </a:solidFill>
                <a:effectLst/>
                <a:uFillTx/>
                <a:latin typeface="メイリオ"/>
                <a:ea typeface="メイリオ"/>
                <a:cs typeface="メイリオ"/>
              </a:rPr>
              <a:t>％の層をリストマーケティングで顧客に引き上げることが重要。</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0" u="none" strike="noStrike">
                <a:solidFill>
                  <a:srgbClr val="343434"/>
                </a:solidFill>
                <a:effectLst/>
                <a:uFillTx/>
                <a:latin typeface="メイリオ"/>
                <a:ea typeface="メイリオ"/>
                <a:cs typeface="メイリオ"/>
              </a:rPr>
              <a:t>結果として、リード獲得率向上、リピート率向上、売上向上に繋げる。</a:t>
            </a:r>
            <a:endParaRPr lang="en-US" sz="1400" b="0" u="none" strike="noStrike">
              <a:solidFill>
                <a:srgbClr val="000000"/>
              </a:solidFill>
              <a:effectLst/>
              <a:uFillTx/>
              <a:latin typeface="メイリオ"/>
              <a:ea typeface="メイリオ"/>
              <a:cs typeface="メイリオ"/>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必要性</a:t>
            </a:r>
            <a:endParaRPr lang="en-US" sz="1240" b="0" u="none" strike="noStrike">
              <a:solidFill>
                <a:srgbClr val="000000"/>
              </a:solidFill>
              <a:effectLst/>
              <a:uFillTx/>
              <a:latin typeface="メイリオ"/>
              <a:ea typeface="メイリオ"/>
              <a:cs typeface="メイリオ"/>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cs typeface="メイリオ"/>
              </a:rPr>
              <a:t>緊急性</a:t>
            </a:r>
            <a:endParaRPr lang="en-US" sz="1240" b="0" u="none" strike="noStrike">
              <a:solidFill>
                <a:srgbClr val="000000"/>
              </a:solidFill>
              <a:effectLst/>
              <a:uFillTx/>
              <a:latin typeface="メイリオ"/>
              <a:ea typeface="メイリオ"/>
              <a:cs typeface="メイリオ"/>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今すぐ客</a:t>
            </a:r>
            <a:endParaRPr lang="en-US" sz="1240" b="0" u="none" strike="noStrike">
              <a:solidFill>
                <a:srgbClr val="000000"/>
              </a:solidFill>
              <a:effectLst/>
              <a:uFillTx/>
              <a:latin typeface="メイリオ"/>
              <a:ea typeface="メイリオ"/>
              <a:cs typeface="メイリオ"/>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そのうち客</a:t>
            </a:r>
            <a:endParaRPr lang="en-US" sz="1240" b="0" u="none" strike="noStrike">
              <a:solidFill>
                <a:srgbClr val="000000"/>
              </a:solidFill>
              <a:effectLst/>
              <a:uFillTx/>
              <a:latin typeface="メイリオ"/>
              <a:ea typeface="メイリオ"/>
              <a:cs typeface="メイリオ"/>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cs typeface="メイリオ"/>
              </a:rPr>
              <a:t>まだまだ客</a:t>
            </a:r>
            <a:endParaRPr lang="en-US" sz="1240" b="0" u="none" strike="noStrike">
              <a:solidFill>
                <a:srgbClr val="000000"/>
              </a:solidFill>
              <a:effectLst/>
              <a:uFillTx/>
              <a:latin typeface="メイリオ"/>
              <a:ea typeface="メイリオ"/>
              <a:cs typeface="メイリオ"/>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cs typeface="メイリオ"/>
              </a:rPr>
              <a:t>お悩み客</a:t>
            </a:r>
            <a:endParaRPr lang="en-US" sz="1240" b="0" u="none" strike="noStrike">
              <a:solidFill>
                <a:srgbClr val="000000"/>
              </a:solidFill>
              <a:effectLst/>
              <a:uFillTx/>
              <a:latin typeface="メイリオ"/>
              <a:ea typeface="メイリオ"/>
              <a:cs typeface="メイリオ"/>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1-2</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cs typeface="メイリオ"/>
              </a:rPr>
              <a:t>9-9.5</a:t>
            </a:r>
            <a:r>
              <a:rPr lang="zh-CN" sz="1560" b="0" u="none" strike="noStrike">
                <a:solidFill>
                  <a:srgbClr val="494848"/>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cs typeface="メイリオ"/>
              </a:rPr>
              <a:t>80</a:t>
            </a:r>
            <a:r>
              <a:rPr lang="zh-CN" sz="1560" b="0" u="none" strike="noStrike">
                <a:solidFill>
                  <a:srgbClr val="FFFFFF"/>
                </a:solidFill>
                <a:effectLst/>
                <a:uFillTx/>
                <a:latin typeface="メイリオ"/>
                <a:ea typeface="メイリオ"/>
                <a:cs typeface="メイリオ"/>
              </a:rPr>
              <a:t>％</a:t>
            </a:r>
            <a:endParaRPr lang="en-US" sz="1560" b="0" u="none" strike="noStrike">
              <a:solidFill>
                <a:srgbClr val="000000"/>
              </a:solidFill>
              <a:effectLst/>
              <a:uFillTx/>
              <a:latin typeface="メイリオ"/>
              <a:ea typeface="メイリオ"/>
              <a:cs typeface="メイリオ"/>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「今すぐ</a:t>
            </a:r>
            <a:r>
              <a:rPr lang="ja-JP" sz="1200" b="1" u="none" strike="noStrike">
                <a:solidFill>
                  <a:srgbClr val="494848"/>
                </a:solidFill>
                <a:effectLst/>
                <a:uFillTx/>
                <a:latin typeface="メイリオ"/>
                <a:ea typeface="メイリオ"/>
                <a:cs typeface="メイリオ"/>
              </a:rPr>
              <a:t>顧客」を高い広告費を投資して獲得するのはリスクが大きい。</a:t>
            </a:r>
            <a:endParaRPr lang="en-US" sz="1200" b="0" u="none" strike="noStrike">
              <a:solidFill>
                <a:srgbClr val="000000"/>
              </a:solidFill>
              <a:effectLst/>
              <a:uFillTx/>
              <a:latin typeface="メイリオ"/>
              <a:ea typeface="メイリオ"/>
              <a:cs typeface="メイリオ"/>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cs typeface="メイリオ"/>
              </a:rPr>
              <a:t>リストとして獲得するだけでなく</a:t>
            </a:r>
            <a:endParaRPr lang="en-US" sz="1200" b="0" u="none" strike="noStrike">
              <a:solidFill>
                <a:srgbClr val="000000"/>
              </a:solidFill>
              <a:effectLst/>
              <a:uFillTx/>
              <a:latin typeface="メイリオ"/>
              <a:ea typeface="メイリオ"/>
              <a:cs typeface="メイリオ"/>
            </a:endParaRPr>
          </a:p>
          <a:p>
            <a:pPr defTabSz="914400">
              <a:lnSpc>
                <a:spcPts val="2177"/>
              </a:lnSpc>
            </a:pPr>
            <a:r>
              <a:rPr lang="zh-CN" sz="1200" b="1" u="none" strike="noStrike">
                <a:solidFill>
                  <a:srgbClr val="494848"/>
                </a:solidFill>
                <a:effectLst/>
                <a:uFillTx/>
                <a:latin typeface="メイリオ"/>
                <a:ea typeface="メイリオ"/>
                <a:cs typeface="メイリオ"/>
              </a:rPr>
              <a:t>「</a:t>
            </a:r>
            <a:r>
              <a:rPr lang="ja-JP" sz="1200" b="1" u="none" strike="noStrike">
                <a:solidFill>
                  <a:srgbClr val="494848"/>
                </a:solidFill>
                <a:effectLst/>
                <a:uFillTx/>
                <a:latin typeface="メイリオ"/>
                <a:ea typeface="メイリオ"/>
                <a:cs typeface="メイリオ"/>
              </a:rPr>
              <a:t>将来的な顧客」教育を</a:t>
            </a:r>
            <a:r>
              <a:rPr lang="en-US" sz="1200" b="1" u="none" strike="noStrike">
                <a:solidFill>
                  <a:srgbClr val="494848"/>
                </a:solidFill>
                <a:effectLst/>
                <a:uFillTx/>
                <a:latin typeface="メイリオ"/>
                <a:ea typeface="メイリオ"/>
                <a:cs typeface="メイリオ"/>
              </a:rPr>
              <a:t>LINE</a:t>
            </a:r>
            <a:r>
              <a:rPr lang="ja-JP" sz="1200" b="1" u="none" strike="noStrike">
                <a:solidFill>
                  <a:srgbClr val="494848"/>
                </a:solidFill>
                <a:effectLst/>
                <a:uFillTx/>
                <a:latin typeface="メイリオ"/>
                <a:ea typeface="メイリオ"/>
                <a:cs typeface="メイリオ"/>
              </a:rPr>
              <a:t>上で構築し行う。</a:t>
            </a:r>
            <a:endParaRPr lang="en-US" sz="1200" b="0" u="none" strike="noStrike">
              <a:solidFill>
                <a:srgbClr val="000000"/>
              </a:solidFill>
              <a:effectLst/>
              <a:uFillTx/>
              <a:latin typeface="メイリオ"/>
              <a:ea typeface="メイリオ"/>
              <a:cs typeface="メイリオ"/>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cs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cs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メイリオ"/>
              <a:ea typeface="メイリオ"/>
              <a:cs typeface="メイリオ"/>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WEB</a:t>
            </a:r>
            <a:r>
              <a:rPr lang="ja-JP" sz="1400" b="0" u="none" strike="noStrike">
                <a:solidFill>
                  <a:schemeClr val="dk1"/>
                </a:solidFill>
                <a:effectLst/>
                <a:uFillTx/>
                <a:latin typeface="メイリオ"/>
                <a:ea typeface="メイリオ"/>
                <a:cs typeface="メイリオ"/>
              </a:rPr>
              <a:t>広告における</a:t>
            </a:r>
            <a:r>
              <a:rPr lang="ja-JP" sz="1400" b="1" u="none" strike="noStrike">
                <a:solidFill>
                  <a:schemeClr val="dk1"/>
                </a:solidFill>
                <a:effectLst/>
                <a:uFillTx/>
                <a:latin typeface="メイリオ"/>
                <a:ea typeface="メイリオ"/>
                <a:cs typeface="メイリオ"/>
              </a:rPr>
              <a:t>競合性が高</a:t>
            </a:r>
            <a:r>
              <a:rPr lang="ja-JP" sz="1400" b="0" u="none" strike="noStrike">
                <a:solidFill>
                  <a:schemeClr val="dk1"/>
                </a:solidFill>
                <a:effectLst/>
                <a:uFillTx/>
                <a:latin typeface="メイリオ"/>
                <a:ea typeface="メイリオ"/>
                <a:cs typeface="メイリオ"/>
              </a:rPr>
              <a:t>くなり</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FF0000"/>
                </a:solidFill>
                <a:effectLst/>
                <a:uFillTx/>
                <a:latin typeface="メイリオ"/>
                <a:ea typeface="メイリオ"/>
                <a:cs typeface="メイリオ"/>
              </a:rPr>
              <a:t>単価指標（</a:t>
            </a:r>
            <a:r>
              <a:rPr lang="en-US" sz="1400" b="1" u="none" strike="noStrike">
                <a:solidFill>
                  <a:srgbClr val="FF0000"/>
                </a:solidFill>
                <a:effectLst/>
                <a:uFillTx/>
                <a:latin typeface="メイリオ"/>
                <a:ea typeface="メイリオ"/>
                <a:cs typeface="メイリオ"/>
              </a:rPr>
              <a:t>CPC</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CPA</a:t>
            </a:r>
            <a:r>
              <a:rPr lang="ja-JP" sz="1400" b="1" u="none" strike="noStrike">
                <a:solidFill>
                  <a:srgbClr val="FF0000"/>
                </a:solidFill>
                <a:effectLst/>
                <a:uFillTx/>
                <a:latin typeface="メイリオ"/>
                <a:ea typeface="メイリオ"/>
                <a:cs typeface="メイリオ"/>
              </a:rPr>
              <a:t>）が高騰</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メイリオ"/>
                <a:ea typeface="メイリオ"/>
                <a:cs typeface="メイリオ"/>
              </a:rPr>
              <a:t>集客施策における</a:t>
            </a:r>
            <a:r>
              <a:rPr lang="en-US" sz="1400" b="1" u="none" strike="noStrike">
                <a:solidFill>
                  <a:schemeClr val="dk1"/>
                </a:solidFill>
                <a:effectLst/>
                <a:uFillTx/>
                <a:latin typeface="メイリオ"/>
                <a:ea typeface="メイリオ"/>
                <a:cs typeface="メイリオ"/>
              </a:rPr>
              <a:t>CVR</a:t>
            </a:r>
            <a:r>
              <a:rPr lang="ja-JP" sz="1400" b="1" u="none" strike="noStrike">
                <a:solidFill>
                  <a:schemeClr val="dk1"/>
                </a:solidFill>
                <a:effectLst/>
                <a:uFillTx/>
                <a:latin typeface="メイリオ"/>
                <a:ea typeface="メイリオ"/>
                <a:cs typeface="メイリオ"/>
              </a:rPr>
              <a:t>は高くても</a:t>
            </a:r>
            <a:r>
              <a:rPr lang="en-US" sz="1400" b="1" u="none" strike="noStrike">
                <a:solidFill>
                  <a:schemeClr val="dk1"/>
                </a:solidFill>
                <a:effectLst/>
                <a:uFillTx/>
                <a:latin typeface="メイリオ"/>
                <a:ea typeface="メイリオ"/>
                <a:cs typeface="メイリオ"/>
              </a:rPr>
              <a:t>2%</a:t>
            </a:r>
            <a:r>
              <a:rPr lang="ja-JP" sz="1400" b="1" u="none" strike="noStrike">
                <a:solidFill>
                  <a:schemeClr val="dk1"/>
                </a:solidFill>
                <a:effectLst/>
                <a:uFillTx/>
                <a:latin typeface="メイリオ"/>
                <a:ea typeface="メイリオ"/>
                <a:cs typeface="メイリオ"/>
              </a:rPr>
              <a:t>程度</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en-US" sz="1400" b="0" u="none" strike="noStrike">
                <a:solidFill>
                  <a:srgbClr val="FF0000"/>
                </a:solidFill>
                <a:effectLst/>
                <a:uFillTx/>
                <a:latin typeface="メイリオ"/>
                <a:ea typeface="メイリオ"/>
                <a:cs typeface="メイリオ"/>
              </a:rPr>
              <a:t>CV</a:t>
            </a:r>
            <a:r>
              <a:rPr lang="ja-JP" sz="1400" b="0" u="none" strike="noStrike">
                <a:solidFill>
                  <a:srgbClr val="FF0000"/>
                </a:solidFill>
                <a:effectLst/>
                <a:uFillTx/>
                <a:latin typeface="メイリオ"/>
                <a:ea typeface="メイリオ"/>
                <a:cs typeface="メイリオ"/>
              </a:rPr>
              <a:t>に至らず離脱するユーザーが大部分</a:t>
            </a:r>
            <a:r>
              <a:rPr lang="ja-JP" sz="1400" b="0" u="none" strike="noStrike">
                <a:solidFill>
                  <a:schemeClr val="dk1"/>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CVR</a:t>
            </a:r>
            <a:endParaRPr lang="en-US" sz="1800" b="0" u="none" strike="noStrike">
              <a:solidFill>
                <a:srgbClr val="000000"/>
              </a:solidFill>
              <a:effectLst/>
              <a:uFillTx/>
              <a:latin typeface="メイリオ"/>
              <a:ea typeface="メイリオ"/>
              <a:cs typeface="メイリオ"/>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cs typeface="メイリオ"/>
              </a:rPr>
              <a:t>CPC</a:t>
            </a:r>
            <a:endParaRPr lang="en-US" sz="18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cs typeface="メイリオ"/>
              </a:rPr>
              <a:t>利用年齢層により変動はするものの、</a:t>
            </a:r>
            <a:r>
              <a:rPr lang="en-US" sz="1400" b="0" u="none" strike="noStrike">
                <a:solidFill>
                  <a:srgbClr val="343434"/>
                </a:solidFill>
                <a:effectLst/>
                <a:uFillTx/>
                <a:latin typeface="メイリオ"/>
                <a:ea typeface="メイリオ"/>
                <a:cs typeface="メイリオ"/>
              </a:rPr>
              <a:t>10-40</a:t>
            </a:r>
            <a:r>
              <a:rPr lang="ja-JP" sz="1400" b="0" u="none" strike="noStrike">
                <a:solidFill>
                  <a:srgbClr val="343434"/>
                </a:solidFill>
                <a:effectLst/>
                <a:uFillTx/>
                <a:latin typeface="メイリオ"/>
                <a:ea typeface="メイリオ"/>
                <a:cs typeface="メイリオ"/>
              </a:rPr>
              <a:t>代を中心に電話、メールを忌避する動きが強まっている。</a:t>
            </a:r>
            <a:endParaRPr lang="en-US" sz="1400" b="0" u="none" strike="noStrike">
              <a:solidFill>
                <a:srgbClr val="000000"/>
              </a:solidFill>
              <a:effectLst/>
              <a:uFillTx/>
              <a:latin typeface="メイリオ"/>
              <a:ea typeface="メイリオ"/>
              <a:cs typeface="メイリオ"/>
            </a:endParaRPr>
          </a:p>
          <a:p>
            <a:pPr algn="ctr" defTabSz="914400">
              <a:lnSpc>
                <a:spcPts val="2455"/>
              </a:lnSpc>
            </a:pPr>
            <a:r>
              <a:rPr lang="ja-JP" sz="1400" b="1" u="none" strike="noStrike">
                <a:solidFill>
                  <a:srgbClr val="343434"/>
                </a:solidFill>
                <a:effectLst/>
                <a:uFillTx/>
                <a:latin typeface="メイリオ"/>
                <a:ea typeface="メイリオ"/>
                <a:cs typeface="メイリオ"/>
              </a:rPr>
              <a:t>既存ユーザー以外の年齢層の獲得にあたって、利用率の高い</a:t>
            </a:r>
            <a:r>
              <a:rPr lang="en-US" sz="1400" b="1" u="none" strike="noStrike">
                <a:solidFill>
                  <a:srgbClr val="343434"/>
                </a:solidFill>
                <a:effectLst/>
                <a:uFillTx/>
                <a:latin typeface="メイリオ"/>
                <a:ea typeface="メイリオ"/>
                <a:cs typeface="メイリオ"/>
              </a:rPr>
              <a:t>LINEOA</a:t>
            </a:r>
            <a:r>
              <a:rPr lang="ja-JP" sz="1400" b="1" u="none" strike="noStrike">
                <a:solidFill>
                  <a:srgbClr val="343434"/>
                </a:solidFill>
                <a:effectLst/>
                <a:uFillTx/>
                <a:latin typeface="メイリオ"/>
                <a:ea typeface="メイリオ"/>
                <a:cs typeface="メイリオ"/>
              </a:rPr>
              <a:t>施策が非常に重要と想定</a:t>
            </a:r>
            <a:r>
              <a:rPr lang="ja-JP" sz="1400" b="0" u="none" strike="noStrike">
                <a:solidFill>
                  <a:srgbClr val="343434"/>
                </a:solidFill>
                <a:effectLst/>
                <a:uFillTx/>
                <a:latin typeface="メイリオ"/>
                <a:ea typeface="メイリオ"/>
                <a:cs typeface="メイリオ"/>
              </a:rPr>
              <a:t>される。</a:t>
            </a:r>
            <a:endParaRPr lang="en-US" sz="1400" b="0" u="none" strike="noStrike">
              <a:solidFill>
                <a:srgbClr val="000000"/>
              </a:solidFill>
              <a:effectLst/>
              <a:uFillTx/>
              <a:latin typeface="メイリオ"/>
              <a:ea typeface="メイリオ"/>
              <a:cs typeface="メイリオ"/>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cs typeface="メイリオ"/>
                        </a:rPr>
                        <a:t>年齢層</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LINE</a:t>
                      </a:r>
                      <a:r>
                        <a:rPr lang="ja-JP" sz="1000" b="0" u="none" strike="noStrike">
                          <a:solidFill>
                            <a:srgbClr val="000000"/>
                          </a:solidFill>
                          <a:effectLst/>
                          <a:uFillTx/>
                          <a:latin typeface="メイリオ"/>
                          <a:ea typeface="メイリオ"/>
                          <a:cs typeface="メイリオ"/>
                        </a:rPr>
                        <a:t>・チャット系</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メール・メルマガ</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電話</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cs typeface="メイリオ"/>
                        </a:rPr>
                        <a:t>主要な特徴・</a:t>
                      </a:r>
                      <a:r>
                        <a:rPr lang="en-US" sz="1000" b="0" u="none" strike="noStrike">
                          <a:solidFill>
                            <a:srgbClr val="000000"/>
                          </a:solidFill>
                          <a:effectLst/>
                          <a:uFillTx/>
                          <a:latin typeface="メイリオ"/>
                          <a:ea typeface="メイリオ"/>
                          <a:cs typeface="メイリオ"/>
                        </a:rPr>
                        <a:t>SNS</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10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20</a:t>
                      </a:r>
                      <a:r>
                        <a:rPr lang="ja-JP" sz="1050" b="1" u="none" strike="noStrike">
                          <a:solidFill>
                            <a:srgbClr val="000000"/>
                          </a:solidFill>
                          <a:effectLst/>
                          <a:uFillTx/>
                          <a:latin typeface="メイリオ"/>
                          <a:ea typeface="メイリオ"/>
                          <a:cs typeface="メイリオ"/>
                        </a:rPr>
                        <a:t>代　</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利用率：極めて低</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Tiktok YouTube</a:t>
                      </a:r>
                      <a:r>
                        <a:rPr lang="ja-JP" sz="800" b="0" u="none" strike="noStrike">
                          <a:solidFill>
                            <a:srgbClr val="000000"/>
                          </a:solidFill>
                          <a:effectLst/>
                          <a:uFillTx/>
                          <a:latin typeface="メイリオ"/>
                          <a:ea typeface="メイリオ"/>
                          <a:cs typeface="メイリオ"/>
                        </a:rPr>
                        <a:t>が情報収集の起点。</a:t>
                      </a:r>
                      <a:br>
                        <a:rPr sz="800">
                          <a:latin typeface="メイリオ"/>
                          <a:ea typeface="メイリオ"/>
                          <a:cs typeface="メイリオ"/>
                        </a:rPr>
                      </a:br>
                      <a:r>
                        <a:rPr lang="en-US" sz="800" b="0" u="none" strike="noStrike">
                          <a:solidFill>
                            <a:srgbClr val="000000"/>
                          </a:solidFill>
                          <a:effectLst/>
                          <a:uFillTx/>
                          <a:latin typeface="メイリオ"/>
                          <a:ea typeface="メイリオ"/>
                          <a:cs typeface="メイリオ"/>
                        </a:rPr>
                        <a:t>Instagram</a:t>
                      </a:r>
                      <a:r>
                        <a:rPr lang="ja-JP" sz="800" b="0" u="none" strike="noStrike">
                          <a:solidFill>
                            <a:srgbClr val="000000"/>
                          </a:solidFill>
                          <a:effectLst/>
                          <a:uFillTx/>
                          <a:latin typeface="メイリオ"/>
                          <a:ea typeface="メイリオ"/>
                          <a:cs typeface="メイリオ"/>
                        </a:rPr>
                        <a:t>、</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の</a:t>
                      </a:r>
                      <a:r>
                        <a:rPr lang="en-US" sz="800" b="0" u="none" strike="noStrike">
                          <a:solidFill>
                            <a:srgbClr val="000000"/>
                          </a:solidFill>
                          <a:effectLst/>
                          <a:uFillTx/>
                          <a:latin typeface="メイリオ"/>
                          <a:ea typeface="メイリオ"/>
                          <a:cs typeface="メイリオ"/>
                        </a:rPr>
                        <a:t>DM</a:t>
                      </a:r>
                      <a:r>
                        <a:rPr lang="ja-JP" sz="800" b="0" u="none" strike="noStrike">
                          <a:solidFill>
                            <a:srgbClr val="000000"/>
                          </a:solidFill>
                          <a:effectLst/>
                          <a:uFillTx/>
                          <a:latin typeface="メイリオ"/>
                          <a:ea typeface="メイリオ"/>
                          <a:cs typeface="メイリオ"/>
                        </a:rPr>
                        <a:t>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連絡網として活用。</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日常連絡の絶対的インフラ。</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企業や公式からの連絡は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読まれない傾向。</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「電話恐怖症」を持つ人も。</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30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40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90%</a:t>
                      </a:r>
                      <a:r>
                        <a:rPr lang="ja-JP" sz="1000" b="1" u="none" strike="noStrike">
                          <a:solidFill>
                            <a:srgbClr val="000000"/>
                          </a:solidFill>
                          <a:effectLst/>
                          <a:uFillTx/>
                          <a:latin typeface="メイリオ"/>
                          <a:ea typeface="メイリオ"/>
                          <a:cs typeface="メイリオ"/>
                        </a:rPr>
                        <a:t>以上</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利用率：中〜高</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利用率：中</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Facebook</a:t>
                      </a:r>
                      <a:r>
                        <a:rPr lang="ja-JP" sz="800" b="0" u="none" strike="noStrike">
                          <a:solidFill>
                            <a:srgbClr val="000000"/>
                          </a:solidFill>
                          <a:effectLst/>
                          <a:uFillTx/>
                          <a:latin typeface="メイリオ"/>
                          <a:ea typeface="メイリオ"/>
                          <a:cs typeface="メイリオ"/>
                        </a:rPr>
                        <a:t>や</a:t>
                      </a:r>
                      <a:r>
                        <a:rPr lang="en-US" sz="800" b="0" u="none" strike="noStrike">
                          <a:solidFill>
                            <a:srgbClr val="000000"/>
                          </a:solidFill>
                          <a:effectLst/>
                          <a:uFillTx/>
                          <a:latin typeface="メイリオ"/>
                          <a:ea typeface="メイリオ"/>
                          <a:cs typeface="メイリオ"/>
                        </a:rPr>
                        <a:t>X</a:t>
                      </a:r>
                      <a:r>
                        <a:rPr lang="ja-JP" sz="800" b="0" u="none" strike="noStrike">
                          <a:solidFill>
                            <a:srgbClr val="000000"/>
                          </a:solidFill>
                          <a:effectLst/>
                          <a:uFillTx/>
                          <a:latin typeface="メイリオ"/>
                          <a:ea typeface="メイリオ"/>
                          <a:cs typeface="メイリオ"/>
                        </a:rPr>
                        <a:t>での情報収集が活発。</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プライベートの連絡網。</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仕事や、メルマガでの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セールス情報に抵抗なし。</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プライベートでは減少傾向も</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仕事では必須。</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cs typeface="メイリオ"/>
                        </a:rPr>
                        <a:t>　　　</a:t>
                      </a:r>
                      <a:r>
                        <a:rPr lang="en-US" sz="1050" b="1" u="none" strike="noStrike">
                          <a:solidFill>
                            <a:srgbClr val="000000"/>
                          </a:solidFill>
                          <a:effectLst/>
                          <a:uFillTx/>
                          <a:latin typeface="メイリオ"/>
                          <a:ea typeface="メイリオ"/>
                          <a:cs typeface="メイリオ"/>
                        </a:rPr>
                        <a:t>50</a:t>
                      </a:r>
                      <a:r>
                        <a:rPr lang="ja-JP" sz="1050" b="1" u="none" strike="noStrike">
                          <a:solidFill>
                            <a:srgbClr val="000000"/>
                          </a:solidFill>
                          <a:effectLst/>
                          <a:uFillTx/>
                          <a:latin typeface="メイリオ"/>
                          <a:ea typeface="メイリオ"/>
                          <a:cs typeface="メイリオ"/>
                        </a:rPr>
                        <a:t>代〜</a:t>
                      </a:r>
                      <a:r>
                        <a:rPr lang="en-US" sz="1050" b="1" u="none" strike="noStrike">
                          <a:solidFill>
                            <a:srgbClr val="000000"/>
                          </a:solidFill>
                          <a:effectLst/>
                          <a:uFillTx/>
                          <a:latin typeface="メイリオ"/>
                          <a:ea typeface="メイリオ"/>
                          <a:cs typeface="メイリオ"/>
                        </a:rPr>
                        <a:t>60</a:t>
                      </a:r>
                      <a:r>
                        <a:rPr lang="ja-JP" sz="1050" b="1" u="none" strike="noStrike">
                          <a:solidFill>
                            <a:srgbClr val="000000"/>
                          </a:solidFill>
                          <a:effectLst/>
                          <a:uFillTx/>
                          <a:latin typeface="メイリオ"/>
                          <a:ea typeface="メイリオ"/>
                          <a:cs typeface="メイリオ"/>
                        </a:rPr>
                        <a:t>代</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80%</a:t>
                      </a:r>
                      <a:r>
                        <a:rPr lang="ja-JP" sz="1000" b="1" u="none" strike="noStrike">
                          <a:solidFill>
                            <a:srgbClr val="000000"/>
                          </a:solidFill>
                          <a:effectLst/>
                          <a:uFillTx/>
                          <a:latin typeface="メイリオ"/>
                          <a:ea typeface="メイリオ"/>
                          <a:cs typeface="メイリオ"/>
                        </a:rPr>
                        <a:t>〜</a:t>
                      </a:r>
                      <a:r>
                        <a:rPr lang="en-US" sz="1000" b="1" u="none" strike="noStrike">
                          <a:solidFill>
                            <a:srgbClr val="000000"/>
                          </a:solidFill>
                          <a:effectLst/>
                          <a:uFillTx/>
                          <a:latin typeface="メイリオ"/>
                          <a:ea typeface="メイリオ"/>
                          <a:cs typeface="メイリオ"/>
                        </a:rPr>
                        <a:t>90%</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cs typeface="メイリオ"/>
                        </a:rPr>
                        <a:t>YouTube</a:t>
                      </a:r>
                      <a:r>
                        <a:rPr lang="ja-JP" sz="800" b="0" u="none" strike="noStrike">
                          <a:solidFill>
                            <a:srgbClr val="000000"/>
                          </a:solidFill>
                          <a:effectLst/>
                          <a:uFillTx/>
                          <a:latin typeface="メイリオ"/>
                          <a:ea typeface="メイリオ"/>
                          <a:cs typeface="メイリオ"/>
                        </a:rPr>
                        <a:t>での趣味動画視聴も普及。</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家族や友人との連絡で定着。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最も好まれる企業からの</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情報受取ツール。</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予約や急ぎの用件で信頼性が高い。</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cs typeface="メイリオ"/>
                        </a:rPr>
                        <a:t>70</a:t>
                      </a:r>
                      <a:r>
                        <a:rPr lang="ja-JP" sz="1050" b="1" u="none" strike="noStrike">
                          <a:solidFill>
                            <a:srgbClr val="000000"/>
                          </a:solidFill>
                          <a:effectLst/>
                          <a:uFillTx/>
                          <a:latin typeface="メイリオ"/>
                          <a:ea typeface="メイリオ"/>
                          <a:cs typeface="メイリオ"/>
                        </a:rPr>
                        <a:t>代以上</a:t>
                      </a:r>
                      <a:endParaRPr lang="en-US" sz="105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a:t>
                      </a:r>
                      <a:r>
                        <a:rPr lang="en-US" sz="1000" b="1" u="none" strike="noStrike">
                          <a:solidFill>
                            <a:srgbClr val="000000"/>
                          </a:solidFill>
                          <a:effectLst/>
                          <a:uFillTx/>
                          <a:latin typeface="メイリオ"/>
                          <a:ea typeface="メイリオ"/>
                          <a:cs typeface="メイリオ"/>
                        </a:rPr>
                        <a:t>70%</a:t>
                      </a:r>
                      <a:r>
                        <a:rPr lang="ja-JP" sz="1000" b="1" u="none" strike="noStrike">
                          <a:solidFill>
                            <a:srgbClr val="000000"/>
                          </a:solidFill>
                          <a:effectLst/>
                          <a:uFillTx/>
                          <a:latin typeface="メイリオ"/>
                          <a:ea typeface="メイリオ"/>
                          <a:cs typeface="メイリオ"/>
                        </a:rPr>
                        <a:t>前後</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利用率：低い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cs typeface="メイリオ"/>
                        </a:rPr>
                        <a:t>利用率：最も高い</a:t>
                      </a:r>
                      <a:endParaRPr lang="en-US" sz="10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連絡手段としての電話が</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最優先される層。</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高齢者層にも普及が進む。</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操作に不慣れで到達率が下がる。</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cs typeface="メイリオ"/>
                        </a:rPr>
                        <a:t>重要な連絡や問い合わせは</a:t>
                      </a:r>
                      <a:endParaRPr lang="en-US" sz="8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rgbClr val="000000"/>
                          </a:solidFill>
                          <a:effectLst/>
                          <a:uFillTx/>
                          <a:latin typeface="メイリオ"/>
                          <a:ea typeface="メイリオ"/>
                          <a:cs typeface="メイリオ"/>
                        </a:rPr>
                        <a:t>電話がメイン。</a:t>
                      </a:r>
                      <a:endParaRPr lang="en-US" sz="800" b="0" u="none" strike="noStrike">
                        <a:solidFill>
                          <a:srgbClr val="000000"/>
                        </a:solidFill>
                        <a:effectLst/>
                        <a:uFillTx/>
                        <a:latin typeface="メイリオ"/>
                        <a:ea typeface="メイリオ"/>
                        <a:cs typeface="メイリオ"/>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メイリオ"/>
                        <a:ea typeface="メイリオ"/>
                        <a:cs typeface="メイリオ"/>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メイリオ"/>
                <a:ea typeface="メイリオ"/>
                <a:cs typeface="メイリオ"/>
              </a:rPr>
              <a:t>LINE</a:t>
            </a:r>
            <a:r>
              <a:rPr lang="ja-JP" sz="1600" b="1" u="none" strike="noStrike">
                <a:solidFill>
                  <a:srgbClr val="002060"/>
                </a:solidFill>
                <a:effectLst/>
                <a:uFillTx/>
                <a:latin typeface="メイリオ"/>
                <a:ea typeface="メイリオ"/>
                <a:cs typeface="メイリオ"/>
              </a:rPr>
              <a:t>公式アカウントを検討する背景</a:t>
            </a:r>
            <a:endParaRPr lang="en-US" sz="1600" b="0" u="none" strike="noStrike">
              <a:solidFill>
                <a:srgbClr val="000000"/>
              </a:solidFill>
              <a:effectLst/>
              <a:uFillTx/>
              <a:latin typeface="メイリオ"/>
              <a:ea typeface="メイリオ"/>
              <a:cs typeface="メイリオ"/>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LINE</a:t>
            </a:r>
            <a:r>
              <a:rPr lang="ja-JP" sz="1400" b="0" u="none" strike="noStrike">
                <a:solidFill>
                  <a:schemeClr val="dk1"/>
                </a:solidFill>
                <a:effectLst/>
                <a:uFillTx/>
                <a:latin typeface="メイリオ"/>
                <a:ea typeface="メイリオ"/>
                <a:cs typeface="メイリオ"/>
              </a:rPr>
              <a:t>公式アカウントの施策内（開封率、クリック率、</a:t>
            </a:r>
            <a:r>
              <a:rPr lang="en-US" sz="1400" b="0" u="none" strike="noStrike">
                <a:solidFill>
                  <a:schemeClr val="dk1"/>
                </a:solidFill>
                <a:effectLst/>
                <a:uFillTx/>
                <a:latin typeface="メイリオ"/>
                <a:ea typeface="メイリオ"/>
                <a:cs typeface="メイリオ"/>
              </a:rPr>
              <a:t>CV</a:t>
            </a:r>
            <a:r>
              <a:rPr lang="ja-JP" sz="1400" b="0" u="none" strike="noStrike">
                <a:solidFill>
                  <a:schemeClr val="dk1"/>
                </a:solidFill>
                <a:effectLst/>
                <a:uFillTx/>
                <a:latin typeface="メイリオ"/>
                <a:ea typeface="メイリオ"/>
                <a:cs typeface="メイリオ"/>
              </a:rPr>
              <a:t>率）で高い水準の施策をご提供。</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初期設計のみのご依頼でも、大きく数値改善できるポイントの導入支援が可能です。</a:t>
            </a:r>
            <a:endParaRPr lang="en-US" sz="1400" b="0" u="none" strike="noStrike">
              <a:solidFill>
                <a:srgbClr val="000000"/>
              </a:solidFill>
              <a:effectLst/>
              <a:uFillTx/>
              <a:latin typeface="メイリオ"/>
              <a:ea typeface="メイリオ"/>
              <a:cs typeface="メイリオ"/>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endParaRPr lang="en-US" sz="1050" b="0" u="none" strike="noStrike">
              <a:solidFill>
                <a:srgbClr val="FFFFFF"/>
              </a:solidFill>
              <a:effectLst/>
              <a:uFillTx/>
              <a:latin typeface="メイリオ"/>
              <a:ea typeface="メイリオ"/>
              <a:cs typeface="メイリオ"/>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営業トスアップ</a:t>
            </a:r>
            <a:endParaRPr lang="en-US" sz="1050" b="0" u="none" strike="noStrike">
              <a:solidFill>
                <a:srgbClr val="000000"/>
              </a:solidFill>
              <a:effectLst/>
              <a:uFillTx/>
              <a:latin typeface="メイリオ"/>
              <a:ea typeface="メイリオ"/>
              <a:cs typeface="メイリオ"/>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cs typeface="メイリオ"/>
              </a:rPr>
              <a:t>（成果地点）</a:t>
            </a:r>
            <a:endParaRPr lang="en-US" sz="1100" b="0" u="none" strike="noStrike">
              <a:solidFill>
                <a:srgbClr val="000000"/>
              </a:solidFill>
              <a:effectLst/>
              <a:uFillTx/>
              <a:latin typeface="メイリオ"/>
              <a:ea typeface="メイリオ"/>
              <a:cs typeface="メイリオ"/>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通常メッセージ（企画投稿）</a:t>
            </a:r>
            <a:endParaRPr lang="en-US" sz="1050" b="0" u="none" strike="noStrike">
              <a:solidFill>
                <a:srgbClr val="FFFFFF"/>
              </a:solidFill>
              <a:effectLst/>
              <a:uFillTx/>
              <a:latin typeface="メイリオ"/>
              <a:ea typeface="メイリオ"/>
              <a:cs typeface="メイリオ"/>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通常メッセージ（ステップ配信投稿）</a:t>
            </a:r>
            <a:endParaRPr lang="en-US" sz="1050" b="0" u="none" strike="noStrike">
              <a:solidFill>
                <a:srgbClr val="FFFFFF"/>
              </a:solidFill>
              <a:effectLst/>
              <a:uFillTx/>
              <a:latin typeface="メイリオ"/>
              <a:ea typeface="メイリオ"/>
              <a:cs typeface="メイリオ"/>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FFFFFF"/>
              </a:solidFill>
              <a:effectLst/>
              <a:uFillTx/>
              <a:latin typeface="メイリオ"/>
              <a:ea typeface="メイリオ"/>
              <a:cs typeface="メイリオ"/>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FFFFFF"/>
              </a:solidFill>
              <a:effectLst/>
              <a:uFillTx/>
              <a:latin typeface="メイリオ"/>
              <a:ea typeface="メイリオ"/>
              <a:cs typeface="メイリオ"/>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FFFFFF"/>
              </a:solidFill>
              <a:effectLst/>
              <a:uFillTx/>
              <a:latin typeface="メイリオ"/>
              <a:ea typeface="メイリオ"/>
              <a:cs typeface="メイリオ"/>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その他指標（リッチメニュー、プロフ、挨拶メッセ）</a:t>
            </a:r>
            <a:endParaRPr lang="en-US" sz="1050" b="0" u="none" strike="noStrike">
              <a:solidFill>
                <a:srgbClr val="FFFFFF"/>
              </a:solidFill>
              <a:effectLst/>
              <a:uFillTx/>
              <a:latin typeface="メイリオ"/>
              <a:ea typeface="メイリオ"/>
              <a:cs typeface="メイリオ"/>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cs typeface="メイリオ"/>
              </a:rPr>
              <a:t>（</a:t>
            </a:r>
            <a:r>
              <a:rPr lang="en-US" sz="1100" b="0" u="none" strike="noStrike">
                <a:solidFill>
                  <a:schemeClr val="dk2"/>
                </a:solidFill>
                <a:effectLst/>
                <a:uFillTx/>
                <a:latin typeface="メイリオ"/>
                <a:ea typeface="メイリオ"/>
                <a:cs typeface="メイリオ"/>
              </a:rPr>
              <a:t>LINE</a:t>
            </a:r>
            <a:r>
              <a:rPr lang="ja-JP" sz="1100" b="0" u="none" strike="noStrike">
                <a:solidFill>
                  <a:schemeClr val="dk2"/>
                </a:solidFill>
                <a:effectLst/>
                <a:uFillTx/>
                <a:latin typeface="メイリオ"/>
                <a:ea typeface="メイリオ"/>
                <a:cs typeface="メイリオ"/>
              </a:rPr>
              <a:t>施策内）</a:t>
            </a:r>
            <a:endParaRPr lang="en-US" sz="1100" b="0" u="none" strike="noStrike">
              <a:solidFill>
                <a:srgbClr val="000000"/>
              </a:solidFill>
              <a:effectLst/>
              <a:uFillTx/>
              <a:latin typeface="メイリオ"/>
              <a:ea typeface="メイリオ"/>
              <a:cs typeface="メイリオ"/>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友だち追加</a:t>
            </a:r>
            <a:endParaRPr lang="en-US" sz="1050" b="0" u="none" strike="noStrike">
              <a:solidFill>
                <a:srgbClr val="FFFFFF"/>
              </a:solidFill>
              <a:effectLst/>
              <a:uFillTx/>
              <a:latin typeface="メイリオ"/>
              <a:ea typeface="メイリオ"/>
              <a:cs typeface="メイリオ"/>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アクティブ数</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800" b="0" u="none" strike="noStrike">
                <a:solidFill>
                  <a:schemeClr val="dk1"/>
                </a:solidFill>
                <a:effectLst/>
                <a:uFillTx/>
                <a:latin typeface="メイリオ"/>
                <a:ea typeface="メイリオ"/>
                <a:cs typeface="メイリオ"/>
              </a:rPr>
              <a:t>（非ブロック率）</a:t>
            </a:r>
            <a:endParaRPr lang="en-US" sz="800" b="0" u="none" strike="noStrike">
              <a:solidFill>
                <a:srgbClr val="000000"/>
              </a:solidFill>
              <a:effectLst/>
              <a:uFillTx/>
              <a:latin typeface="メイリオ"/>
              <a:ea typeface="メイリオ"/>
              <a:cs typeface="メイリオ"/>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cs typeface="メイリオ"/>
              </a:rPr>
              <a:t>セグメント率</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en-US" sz="1000" b="0" u="none" strike="noStrike">
                <a:solidFill>
                  <a:schemeClr val="dk1"/>
                </a:solidFill>
                <a:effectLst/>
                <a:uFillTx/>
                <a:latin typeface="メイリオ"/>
                <a:ea typeface="メイリオ"/>
                <a:cs typeface="メイリオ"/>
              </a:rPr>
              <a:t>or</a:t>
            </a:r>
            <a:endParaRPr lang="en-US" sz="1000" b="0" u="none" strike="noStrike">
              <a:solidFill>
                <a:srgbClr val="000000"/>
              </a:solidFill>
              <a:effectLst/>
              <a:uFillTx/>
              <a:latin typeface="メイリオ"/>
              <a:ea typeface="メイリオ"/>
              <a:cs typeface="メイリオ"/>
            </a:endParaRPr>
          </a:p>
          <a:p>
            <a:pPr algn="ctr" defTabSz="914400">
              <a:lnSpc>
                <a:spcPct val="100000"/>
              </a:lnSpc>
            </a:pPr>
            <a:r>
              <a:rPr lang="ja-JP" sz="1000" b="1" u="none" strike="noStrike">
                <a:solidFill>
                  <a:schemeClr val="dk1"/>
                </a:solidFill>
                <a:effectLst/>
                <a:uFillTx/>
                <a:latin typeface="メイリオ"/>
                <a:ea typeface="メイリオ"/>
                <a:cs typeface="メイリオ"/>
              </a:rPr>
              <a:t>ステップ配信設定数</a:t>
            </a:r>
            <a:endParaRPr lang="en-US" sz="1000" b="0" u="none" strike="noStrike">
              <a:solidFill>
                <a:srgbClr val="000000"/>
              </a:solidFill>
              <a:effectLst/>
              <a:uFillTx/>
              <a:latin typeface="メイリオ"/>
              <a:ea typeface="メイリオ"/>
              <a:cs typeface="メイリオ"/>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cs typeface="メイリオ"/>
              </a:rPr>
              <a:t>（ターゲット戦略）</a:t>
            </a:r>
            <a:endParaRPr lang="en-US" sz="1100" b="0" u="none" strike="noStrike">
              <a:solidFill>
                <a:srgbClr val="000000"/>
              </a:solidFill>
              <a:effectLst/>
              <a:uFillTx/>
              <a:latin typeface="メイリオ"/>
              <a:ea typeface="メイリオ"/>
              <a:cs typeface="メイリオ"/>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月間通数</a:t>
            </a:r>
            <a:endParaRPr lang="en-US" sz="1050" b="0" u="none" strike="noStrike">
              <a:solidFill>
                <a:srgbClr val="FFFFFF"/>
              </a:solidFill>
              <a:effectLst/>
              <a:uFillTx/>
              <a:latin typeface="メイリオ"/>
              <a:ea typeface="メイリオ"/>
              <a:cs typeface="メイリオ"/>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開封率</a:t>
            </a:r>
            <a:endParaRPr lang="en-US" sz="1050" b="0" u="none" strike="noStrike">
              <a:solidFill>
                <a:srgbClr val="000000"/>
              </a:solidFill>
              <a:effectLst/>
              <a:uFillTx/>
              <a:latin typeface="メイリオ"/>
              <a:ea typeface="メイリオ"/>
              <a:cs typeface="メイリオ"/>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cs typeface="メイリオ"/>
              </a:rPr>
              <a:t>クリック率</a:t>
            </a:r>
            <a:endParaRPr lang="en-US" sz="1050" b="0" u="none" strike="noStrike">
              <a:solidFill>
                <a:srgbClr val="000000"/>
              </a:solidFill>
              <a:effectLst/>
              <a:uFillTx/>
              <a:latin typeface="メイリオ"/>
              <a:ea typeface="メイリオ"/>
              <a:cs typeface="メイリオ"/>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cs typeface="メイリオ"/>
              </a:rPr>
              <a:t>CV</a:t>
            </a:r>
            <a:r>
              <a:rPr lang="ja-JP" sz="1050" b="1" u="none" strike="noStrike">
                <a:solidFill>
                  <a:schemeClr val="lt1"/>
                </a:solidFill>
                <a:effectLst/>
                <a:uFillTx/>
                <a:latin typeface="メイリオ"/>
                <a:ea typeface="メイリオ"/>
                <a:cs typeface="メイリオ"/>
              </a:rPr>
              <a:t>率</a:t>
            </a:r>
            <a:endParaRPr lang="en-US" sz="1050" b="0" u="none" strike="noStrike">
              <a:solidFill>
                <a:srgbClr val="000000"/>
              </a:solidFill>
              <a:effectLst/>
              <a:uFillTx/>
              <a:latin typeface="メイリオ"/>
              <a:ea typeface="メイリオ"/>
              <a:cs typeface="メイリオ"/>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85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cs typeface="メイリオ"/>
              </a:rPr>
              <a:t>12.5 </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cs typeface="メイリオ"/>
              </a:rPr>
              <a:t>0.5</a:t>
            </a:r>
            <a:r>
              <a:rPr lang="en-US" sz="1400" b="1" u="none" strike="noStrike">
                <a:solidFill>
                  <a:srgbClr val="FF0000"/>
                </a:solidFill>
                <a:effectLst/>
                <a:uFillTx/>
                <a:latin typeface="メイリオ"/>
                <a:ea typeface="メイリオ"/>
                <a:cs typeface="メイリオ"/>
              </a:rPr>
              <a:t> %</a:t>
            </a:r>
            <a:endParaRPr lang="en-US" sz="1400" b="0" u="none" strike="noStrike">
              <a:solidFill>
                <a:srgbClr val="000000"/>
              </a:solidFill>
              <a:effectLst/>
              <a:uFillTx/>
              <a:latin typeface="メイリオ"/>
              <a:ea typeface="メイリオ"/>
              <a:cs typeface="メイリオ"/>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70 %</a:t>
            </a:r>
            <a:endParaRPr lang="en-US" sz="1400" b="0" u="none" strike="noStrike">
              <a:solidFill>
                <a:srgbClr val="000000"/>
              </a:solidFill>
              <a:effectLst/>
              <a:uFillTx/>
              <a:latin typeface="メイリオ"/>
              <a:ea typeface="メイリオ"/>
              <a:cs typeface="メイリオ"/>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8.25 %</a:t>
            </a:r>
            <a:endParaRPr lang="en-US" sz="1400" b="0" u="none" strike="noStrike">
              <a:solidFill>
                <a:srgbClr val="000000"/>
              </a:solidFill>
              <a:effectLst/>
              <a:uFillTx/>
              <a:latin typeface="メイリオ"/>
              <a:ea typeface="メイリオ"/>
              <a:cs typeface="メイリオ"/>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cs typeface="メイリオ"/>
              </a:rPr>
              <a:t>0.3 %</a:t>
            </a:r>
            <a:endParaRPr lang="en-US" sz="1400" b="0" u="none" strike="noStrike">
              <a:solidFill>
                <a:srgbClr val="000000"/>
              </a:solidFill>
              <a:effectLst/>
              <a:uFillTx/>
              <a:latin typeface="メイリオ"/>
              <a:ea typeface="メイリオ"/>
              <a:cs typeface="メイリオ"/>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cs typeface="メイリオ"/>
              </a:rPr>
              <a:t>DYM</a:t>
            </a:r>
            <a:r>
              <a:rPr lang="ja-JP" sz="1200" b="1" u="none" strike="noStrike">
                <a:solidFill>
                  <a:srgbClr val="FFC000"/>
                </a:solidFill>
                <a:effectLst/>
                <a:uFillTx/>
                <a:latin typeface="メイリオ"/>
                <a:ea typeface="メイリオ"/>
                <a:cs typeface="メイリオ"/>
              </a:rPr>
              <a:t>実績</a:t>
            </a:r>
            <a:endParaRPr lang="en-US" sz="1200" b="0" u="none" strike="noStrike">
              <a:solidFill>
                <a:srgbClr val="FFFFFF"/>
              </a:solidFill>
              <a:effectLst/>
              <a:uFillTx/>
              <a:latin typeface="メイリオ"/>
              <a:ea typeface="メイリオ"/>
              <a:cs typeface="メイリオ"/>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cs typeface="メイリオ"/>
              </a:rPr>
              <a:t>業界平均</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800" b="1" u="none" strike="noStrike">
                <a:solidFill>
                  <a:schemeClr val="lt1"/>
                </a:solidFill>
                <a:effectLst/>
                <a:uFillTx/>
                <a:latin typeface="メイリオ"/>
                <a:ea typeface="メイリオ"/>
                <a:cs typeface="メイリオ"/>
              </a:rPr>
              <a:t>(LINE</a:t>
            </a:r>
            <a:r>
              <a:rPr lang="ja-JP" sz="800" b="1" u="none" strike="noStrike">
                <a:solidFill>
                  <a:schemeClr val="lt1"/>
                </a:solidFill>
                <a:effectLst/>
                <a:uFillTx/>
                <a:latin typeface="メイリオ"/>
                <a:ea typeface="メイリオ"/>
                <a:cs typeface="メイリオ"/>
              </a:rPr>
              <a:t>ヤフー社より共有）</a:t>
            </a:r>
            <a:endParaRPr lang="en-US" sz="800" b="0" u="none" strike="noStrike">
              <a:solidFill>
                <a:srgbClr val="FFFFFF"/>
              </a:solidFill>
              <a:effectLst/>
              <a:uFillTx/>
              <a:latin typeface="メイリオ"/>
              <a:ea typeface="メイリオ"/>
              <a:cs typeface="メイリオ"/>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cs typeface="メイリオ"/>
              </a:rPr>
              <a:t>施策の流れ</a:t>
            </a:r>
            <a:endParaRPr lang="en-US" sz="1400" b="0" u="none" strike="noStrike">
              <a:solidFill>
                <a:srgbClr val="FFFFFF"/>
              </a:solidFill>
              <a:effectLst/>
              <a:uFillTx/>
              <a:latin typeface="メイリオ"/>
              <a:ea typeface="メイリオ"/>
              <a:cs typeface="メイリオ"/>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　</a:t>
            </a:r>
            <a:r>
              <a:rPr lang="en-US" sz="1400" b="1" u="none" strike="noStrike">
                <a:solidFill>
                  <a:srgbClr val="FF0000"/>
                </a:solidFill>
                <a:effectLst/>
                <a:uFillTx/>
                <a:latin typeface="メイリオ"/>
                <a:ea typeface="メイリオ"/>
                <a:cs typeface="メイリオ"/>
              </a:rPr>
              <a:t>[CRM</a:t>
            </a:r>
            <a:r>
              <a:rPr lang="ja-JP" sz="1400" b="1" u="none" strike="noStrike">
                <a:solidFill>
                  <a:srgbClr val="FF0000"/>
                </a:solidFill>
                <a:effectLst/>
                <a:uFillTx/>
                <a:latin typeface="メイリオ"/>
                <a:ea typeface="メイリオ"/>
                <a:cs typeface="メイリオ"/>
              </a:rPr>
              <a:t>及び</a:t>
            </a:r>
            <a:r>
              <a:rPr lang="en-US" sz="1400" b="1" u="none" strike="noStrike">
                <a:solidFill>
                  <a:srgbClr val="FF0000"/>
                </a:solidFill>
                <a:effectLst/>
                <a:uFillTx/>
                <a:latin typeface="メイリオ"/>
                <a:ea typeface="メイリオ"/>
                <a:cs typeface="メイリオ"/>
              </a:rPr>
              <a:t>API</a:t>
            </a:r>
            <a:r>
              <a:rPr lang="ja-JP" sz="1400" b="1" u="none" strike="noStrike">
                <a:solidFill>
                  <a:srgbClr val="FF0000"/>
                </a:solidFill>
                <a:effectLst/>
                <a:uFillTx/>
                <a:latin typeface="メイリオ"/>
                <a:ea typeface="メイリオ"/>
                <a:cs typeface="メイリオ"/>
              </a:rPr>
              <a:t>ツールとの連携</a:t>
            </a:r>
            <a:r>
              <a:rPr lang="en-US" sz="1400" b="1" u="none" strike="noStrike">
                <a:solidFill>
                  <a:srgbClr val="FF0000"/>
                </a:solidFill>
                <a:effectLst/>
                <a:uFillTx/>
                <a:latin typeface="メイリオ"/>
                <a:ea typeface="メイリオ"/>
                <a:cs typeface="メイリオ"/>
              </a:rPr>
              <a:t>]</a:t>
            </a:r>
            <a:endParaRPr lang="en-US" sz="1400" b="0" u="none" strike="noStrike">
              <a:solidFill>
                <a:srgbClr val="000000"/>
              </a:solidFill>
              <a:effectLst/>
              <a:uFillTx/>
              <a:latin typeface="メイリオ"/>
              <a:ea typeface="メイリオ"/>
              <a:cs typeface="メイリオ"/>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cs typeface="メイリオ"/>
              </a:rPr>
              <a:t>「</a:t>
            </a:r>
            <a:r>
              <a:rPr lang="en-US" sz="1400" b="0" u="none" strike="noStrike">
                <a:solidFill>
                  <a:srgbClr val="073763"/>
                </a:solidFill>
                <a:effectLst/>
                <a:uFillTx/>
                <a:latin typeface="メイリオ"/>
                <a:ea typeface="メイリオ"/>
                <a:cs typeface="メイリオ"/>
              </a:rPr>
              <a:t>CRM</a:t>
            </a:r>
            <a:r>
              <a:rPr lang="ja-JP" sz="1400" b="0" u="none" strike="noStrike">
                <a:solidFill>
                  <a:srgbClr val="073763"/>
                </a:solidFill>
                <a:effectLst/>
                <a:uFillTx/>
                <a:latin typeface="メイリオ"/>
                <a:ea typeface="メイリオ"/>
                <a:cs typeface="メイリオ"/>
              </a:rPr>
              <a:t>側でどんな情報を取りたいか」が重要</a:t>
            </a:r>
            <a:br>
              <a:rPr sz="1400">
                <a:latin typeface="メイリオ"/>
                <a:ea typeface="メイリオ"/>
                <a:cs typeface="メイリオ"/>
              </a:rPr>
            </a:br>
            <a:r>
              <a:rPr lang="ja-JP" sz="1400" b="1" u="none" strike="noStrike">
                <a:solidFill>
                  <a:srgbClr val="073763"/>
                </a:solidFill>
                <a:effectLst/>
                <a:uFillTx/>
                <a:latin typeface="メイリオ"/>
                <a:ea typeface="メイリオ"/>
                <a:cs typeface="メイリオ"/>
              </a:rPr>
              <a:t>要件定義</a:t>
            </a:r>
            <a:r>
              <a:rPr lang="ja-JP" sz="1400" b="0" u="none" strike="noStrike">
                <a:solidFill>
                  <a:srgbClr val="073763"/>
                </a:solidFill>
                <a:effectLst/>
                <a:uFillTx/>
                <a:latin typeface="メイリオ"/>
                <a:ea typeface="メイリオ"/>
                <a:cs typeface="メイリオ"/>
              </a:rPr>
              <a:t>を先にする必要がある</a:t>
            </a:r>
            <a:endParaRPr lang="en-US" sz="1400" b="0" u="none" strike="noStrike">
              <a:solidFill>
                <a:srgbClr val="000000"/>
              </a:solidFill>
              <a:effectLst/>
              <a:uFillTx/>
              <a:latin typeface="メイリオ"/>
              <a:ea typeface="メイリオ"/>
              <a:cs typeface="メイリオ"/>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▼CRM</a:t>
            </a:r>
            <a:r>
              <a:rPr lang="ja-JP" sz="1200" b="0" u="none" strike="noStrike">
                <a:solidFill>
                  <a:schemeClr val="dk1">
                    <a:lumMod val="75000"/>
                    <a:lumOff val="25000"/>
                  </a:schemeClr>
                </a:solidFill>
                <a:effectLst/>
                <a:uFillTx/>
                <a:latin typeface="メイリオ"/>
                <a:ea typeface="メイリオ"/>
                <a:cs typeface="メイリオ"/>
              </a:rPr>
              <a:t>によるセグメント配信の違い</a:t>
            </a:r>
            <a:endParaRPr lang="en-US" sz="1200" b="0" u="none" strike="noStrike">
              <a:solidFill>
                <a:srgbClr val="000000"/>
              </a:solidFill>
              <a:effectLst/>
              <a:uFillTx/>
              <a:latin typeface="メイリオ"/>
              <a:ea typeface="メイリオ"/>
              <a:cs typeface="メイリオ"/>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cs typeface="メイリオ"/>
            </a:endParaRPr>
          </a:p>
        </p:txBody>
      </p:sp>
      <p:pic>
        <p:nvPicPr>
          <p:cNvPr id="986" name="図 5"/>
          <p:cNvPicPr/>
          <p:nvPr/>
        </p:nvPicPr>
        <p:blipFill>
          <a:blip r:embed="rId4"/>
          <a:stretch/>
        </p:blipFill>
        <p:spPr>
          <a:xfrm>
            <a:off x="767880" y="2097720"/>
            <a:ext cx="1748520" cy="1226520"/>
          </a:xfrm>
          <a:prstGeom prst="rect">
            <a:avLst/>
          </a:prstGeom>
          <a:noFill/>
          <a:ln w="0">
            <a:noFill/>
          </a:ln>
        </p:spPr>
      </p:pic>
      <p:pic>
        <p:nvPicPr>
          <p:cNvPr id="987" name="図 6"/>
          <p:cNvPicPr/>
          <p:nvPr/>
        </p:nvPicPr>
        <p:blipFill>
          <a:blip r:embed="rId2"/>
          <a:stretch/>
        </p:blipFill>
        <p:spPr>
          <a:xfrm>
            <a:off x="2629440" y="2290320"/>
            <a:ext cx="2165760" cy="762120"/>
          </a:xfrm>
          <a:prstGeom prst="rect">
            <a:avLst/>
          </a:prstGeom>
          <a:noFill/>
          <a:ln w="0">
            <a:noFill/>
          </a:ln>
        </p:spPr>
      </p:pic>
      <p:pic>
        <p:nvPicPr>
          <p:cNvPr id="988" name="図 7"/>
          <p:cNvPicPr/>
          <p:nvPr/>
        </p:nvPicPr>
        <p:blipFill>
          <a:blip r:embed="rId7"/>
          <a:stretch/>
        </p:blipFill>
        <p:spPr>
          <a:xfrm>
            <a:off x="732600" y="3382560"/>
            <a:ext cx="1896480" cy="592560"/>
          </a:xfrm>
          <a:prstGeom prst="rect">
            <a:avLst/>
          </a:prstGeom>
          <a:noFill/>
          <a:ln w="0">
            <a:noFill/>
          </a:ln>
        </p:spPr>
      </p:pic>
      <p:pic>
        <p:nvPicPr>
          <p:cNvPr id="989" name="図 9"/>
          <p:cNvPicPr/>
          <p:nvPr/>
        </p:nvPicPr>
        <p:blipFill>
          <a:blip r:embed="rId6"/>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▼参考：L</a:t>
            </a:r>
            <a:r>
              <a:rPr lang="ja-JP" sz="1200" b="0" u="none" strike="noStrike">
                <a:solidFill>
                  <a:schemeClr val="dk1">
                    <a:lumMod val="75000"/>
                    <a:lumOff val="25000"/>
                  </a:schemeClr>
                </a:solidFill>
                <a:effectLst/>
                <a:uFillTx/>
                <a:latin typeface="メイリオ"/>
                <a:ea typeface="メイリオ"/>
                <a:cs typeface="メイリオ"/>
              </a:rPr>
              <a:t>ステップ</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連携機能</a:t>
            </a:r>
            <a:endParaRPr lang="en-US" sz="1200" b="0" u="none" strike="noStrike">
              <a:solidFill>
                <a:srgbClr val="000000"/>
              </a:solidFill>
              <a:effectLst/>
              <a:uFillTx/>
              <a:latin typeface="メイリオ"/>
              <a:ea typeface="メイリオ"/>
              <a:cs typeface="メイリオ"/>
            </a:endParaRPr>
          </a:p>
        </p:txBody>
      </p:sp>
      <p:pic>
        <p:nvPicPr>
          <p:cNvPr id="992" name="図 12"/>
          <p:cNvPicPr/>
          <p:nvPr/>
        </p:nvPicPr>
        <p:blipFill>
          <a:blip r:embed="rId5"/>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a:t>
            </a:r>
            <a:r>
              <a:rPr lang="en-US" sz="1400" b="0" u="none" strike="noStrike">
                <a:solidFill>
                  <a:schemeClr val="dk1"/>
                </a:solidFill>
                <a:effectLst/>
                <a:uFillTx/>
                <a:latin typeface="メイリオ"/>
                <a:ea typeface="メイリオ"/>
                <a:cs typeface="メイリオ"/>
              </a:rPr>
              <a:t>API</a:t>
            </a:r>
            <a:r>
              <a:rPr lang="ja-JP" sz="1400" b="0" u="none" strike="noStrike">
                <a:solidFill>
                  <a:schemeClr val="dk1"/>
                </a:solidFill>
                <a:effectLst/>
                <a:uFillTx/>
                <a:latin typeface="メイリオ"/>
                <a:ea typeface="メイリオ"/>
                <a:cs typeface="メイリオ"/>
              </a:rPr>
              <a:t>ツールで要件定義を行いつつ、効率化及び詳細なセグメント設計を目的として、</a:t>
            </a:r>
            <a:endParaRPr lang="en-US" sz="1400" b="0" u="none" strike="noStrike">
              <a:solidFill>
                <a:srgbClr val="000000"/>
              </a:solidFill>
              <a:effectLst/>
              <a:uFillTx/>
              <a:latin typeface="メイリオ"/>
              <a:ea typeface="メイリオ"/>
              <a:cs typeface="メイリオ"/>
            </a:endParaRPr>
          </a:p>
          <a:p>
            <a:pPr algn="ctr" defTabSz="914400">
              <a:lnSpc>
                <a:spcPct val="100000"/>
              </a:lnSpc>
            </a:pPr>
            <a:r>
              <a:rPr lang="ja-JP" sz="1400" b="0" u="none" strike="noStrike">
                <a:solidFill>
                  <a:schemeClr val="dk1"/>
                </a:solidFill>
                <a:effectLst/>
                <a:uFillTx/>
                <a:latin typeface="メイリオ"/>
                <a:ea typeface="メイリオ"/>
                <a:cs typeface="メイリオ"/>
              </a:rPr>
              <a:t>貴社内の顧客管理（</a:t>
            </a:r>
            <a:r>
              <a:rPr lang="en-US" sz="1400" b="0" u="none" strike="noStrike">
                <a:solidFill>
                  <a:schemeClr val="dk1"/>
                </a:solidFill>
                <a:effectLst/>
                <a:uFillTx/>
                <a:latin typeface="メイリオ"/>
                <a:ea typeface="メイリオ"/>
                <a:cs typeface="メイリオ"/>
              </a:rPr>
              <a:t>CRM</a:t>
            </a:r>
            <a:r>
              <a:rPr lang="ja-JP" sz="1400" b="0" u="none" strike="noStrike">
                <a:solidFill>
                  <a:schemeClr val="dk1"/>
                </a:solidFill>
                <a:effectLst/>
                <a:uFillTx/>
                <a:latin typeface="メイリオ"/>
                <a:ea typeface="メイリオ"/>
                <a:cs typeface="メイリオ"/>
              </a:rPr>
              <a:t>）ツールとの連携の実施も可能です。</a:t>
            </a:r>
            <a:r>
              <a:rPr lang="en-US" sz="1100" b="0" u="none" strike="noStrike">
                <a:solidFill>
                  <a:srgbClr val="FF0000"/>
                </a:solidFill>
                <a:effectLst/>
                <a:uFillTx/>
                <a:latin typeface="メイリオ"/>
                <a:ea typeface="メイリオ"/>
                <a:cs typeface="メイリオ"/>
              </a:rPr>
              <a:t> ※開発は別途費用</a:t>
            </a:r>
            <a:endParaRPr lang="en-US" sz="1100" b="0" u="none" strike="noStrike">
              <a:solidFill>
                <a:srgbClr val="000000"/>
              </a:solidFill>
              <a:effectLst/>
              <a:uFillTx/>
              <a:latin typeface="メイリオ"/>
              <a:ea typeface="メイリオ"/>
              <a:cs typeface="メイリオ"/>
            </a:endParaRPr>
          </a:p>
        </p:txBody>
      </p:sp>
      <p:pic>
        <p:nvPicPr>
          <p:cNvPr id="994" name="図 15"/>
          <p:cNvPicPr/>
          <p:nvPr/>
        </p:nvPicPr>
        <p:blipFill>
          <a:blip r:embed="rId3"/>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cs typeface="メイリオ"/>
              </a:rPr>
              <a:t>LINE</a:t>
            </a:r>
            <a:r>
              <a:rPr lang="ja-JP" sz="1200" b="0" u="none" strike="noStrike">
                <a:solidFill>
                  <a:schemeClr val="dk1">
                    <a:lumMod val="75000"/>
                    <a:lumOff val="25000"/>
                  </a:schemeClr>
                </a:solidFill>
                <a:effectLst/>
                <a:uFillTx/>
                <a:latin typeface="メイリオ"/>
                <a:ea typeface="メイリオ"/>
                <a:cs typeface="メイリオ"/>
              </a:rPr>
              <a:t>公式と</a:t>
            </a:r>
            <a:r>
              <a:rPr lang="en-US" sz="1200" b="0" u="none" strike="noStrike">
                <a:solidFill>
                  <a:schemeClr val="dk1">
                    <a:lumMod val="75000"/>
                    <a:lumOff val="25000"/>
                  </a:schemeClr>
                </a:solidFill>
                <a:effectLst/>
                <a:uFillTx/>
                <a:latin typeface="メイリオ"/>
                <a:ea typeface="メイリオ"/>
                <a:cs typeface="メイリオ"/>
              </a:rPr>
              <a:t>API</a:t>
            </a:r>
            <a:r>
              <a:rPr lang="ja-JP" sz="1200" b="0" u="none" strike="noStrike">
                <a:solidFill>
                  <a:schemeClr val="dk1">
                    <a:lumMod val="75000"/>
                    <a:lumOff val="25000"/>
                  </a:schemeClr>
                </a:solidFill>
                <a:effectLst/>
                <a:uFillTx/>
                <a:latin typeface="メイリオ"/>
                <a:ea typeface="メイリオ"/>
                <a:cs typeface="メイリオ"/>
              </a:rPr>
              <a:t>ツール間の</a:t>
            </a:r>
            <a:endParaRPr lang="en-US" sz="1200" b="0" u="none" strike="noStrike">
              <a:solidFill>
                <a:srgbClr val="000000"/>
              </a:solidFill>
              <a:effectLst/>
              <a:uFillTx/>
              <a:latin typeface="メイリオ"/>
              <a:ea typeface="メイリオ"/>
              <a:cs typeface="メイリオ"/>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情報連携</a:t>
            </a:r>
            <a:endParaRPr lang="en-US" sz="1200" b="0" u="none" strike="noStrike">
              <a:solidFill>
                <a:srgbClr val="000000"/>
              </a:solidFill>
              <a:effectLst/>
              <a:uFillTx/>
              <a:latin typeface="メイリオ"/>
              <a:ea typeface="メイリオ"/>
              <a:cs typeface="メイリオ"/>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cs typeface="メイリオ"/>
              </a:rPr>
              <a:t>メッセ送信</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cs typeface="メイリオ"/>
              </a:rPr>
              <a:t>ミニアプリ</a:t>
            </a:r>
            <a:endParaRPr lang="en-US" sz="1600" b="0" u="none" strike="noStrike">
              <a:solidFill>
                <a:srgbClr val="FFFFFF"/>
              </a:solidFill>
              <a:effectLst/>
              <a:uFillTx/>
              <a:latin typeface="メイリオ"/>
              <a:ea typeface="メイリオ"/>
              <a:cs typeface="メイリオ"/>
            </a:endParaRPr>
          </a:p>
        </p:txBody>
      </p:sp>
      <p:pic>
        <p:nvPicPr>
          <p:cNvPr id="999" name="図 14"/>
          <p:cNvPicPr/>
          <p:nvPr/>
        </p:nvPicPr>
        <p:blipFill>
          <a:blip r:embed="rId3"/>
          <a:stretch/>
        </p:blipFill>
        <p:spPr>
          <a:xfrm>
            <a:off x="394920" y="4223520"/>
            <a:ext cx="4883400" cy="2255040"/>
          </a:xfrm>
          <a:prstGeom prst="rect">
            <a:avLst/>
          </a:prstGeom>
          <a:noFill/>
          <a:ln w="0">
            <a:noFill/>
          </a:ln>
        </p:spPr>
      </p:pic>
      <p:pic>
        <p:nvPicPr>
          <p:cNvPr id="1000" name="図 15"/>
          <p:cNvPicPr/>
          <p:nvPr/>
        </p:nvPicPr>
        <p:blipFill>
          <a:blip r:embed="rId2"/>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内で活用できるミニアプリでは、ゲームや抽選といった機能を</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アプリ開発よりも大幅に格安な価格帯で利用できるサービス。</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チャット</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FAQ</a:t>
            </a:r>
            <a:r>
              <a:rPr lang="ja-JP" sz="1600" b="1" u="none" strike="noStrike">
                <a:solidFill>
                  <a:schemeClr val="dk1">
                    <a:lumMod val="65000"/>
                    <a:lumOff val="35000"/>
                  </a:schemeClr>
                </a:solidFill>
                <a:effectLst/>
                <a:uFillTx/>
                <a:latin typeface="メイリオ"/>
                <a:ea typeface="メイリオ"/>
                <a:cs typeface="メイリオ"/>
              </a:rPr>
              <a:t>をもとにした</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による自動応答や、</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有人でのチャット対応による細かなサポートを可能にするオプション機能。</a:t>
            </a:r>
            <a:endParaRPr lang="en-US" sz="1600" b="0" u="none" strike="noStrike">
              <a:solidFill>
                <a:srgbClr val="000000"/>
              </a:solidFill>
              <a:effectLst/>
              <a:uFillTx/>
              <a:latin typeface="メイリオ"/>
              <a:ea typeface="メイリオ"/>
              <a:cs typeface="メイリオ"/>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Chat Plus</a:t>
            </a:r>
            <a:endParaRPr lang="en-US" sz="1600" b="0" u="none" strike="noStrike">
              <a:solidFill>
                <a:srgbClr val="FFFFFF"/>
              </a:solidFill>
              <a:effectLst/>
              <a:uFillTx/>
              <a:latin typeface="メイリオ"/>
              <a:ea typeface="メイリオ"/>
              <a:cs typeface="メイリオ"/>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ホームページから気軽にチャットで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問い合わせができるようになり</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資料請求や商品の購入に繋がる。</a:t>
            </a:r>
            <a:endParaRPr lang="en-US" sz="1600" b="0" u="none" strike="noStrike">
              <a:solidFill>
                <a:srgbClr val="000000"/>
              </a:solidFill>
              <a:effectLst/>
              <a:uFillTx/>
              <a:latin typeface="メイリオ"/>
              <a:ea typeface="メイリオ"/>
              <a:cs typeface="メイリオ"/>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自動応答と有人応答を使い分けることが</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「訪問者管理機能」により、ホームページに訪れたユーザーを一覧で見ることが可能</a:t>
            </a:r>
            <a:endParaRPr lang="en-US" sz="1560" b="0" u="none" strike="noStrike">
              <a:solidFill>
                <a:srgbClr val="000000"/>
              </a:solidFill>
              <a:effectLst/>
              <a:uFillTx/>
              <a:latin typeface="メイリオ"/>
              <a:ea typeface="メイリオ"/>
              <a:cs typeface="メイリオ"/>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cs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cs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cs typeface="メイリオ"/>
              </a:rPr>
              <a:t>公式</a:t>
            </a: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とチャットボットを連携し</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en-US" sz="1560" b="1" u="none" strike="noStrike">
                <a:solidFill>
                  <a:srgbClr val="494848"/>
                </a:solidFill>
                <a:effectLst/>
                <a:uFillTx/>
                <a:latin typeface="メイリオ"/>
                <a:ea typeface="メイリオ"/>
                <a:cs typeface="メイリオ"/>
              </a:rPr>
              <a:t>LINE</a:t>
            </a:r>
            <a:r>
              <a:rPr lang="ja-JP" sz="1560" b="1" u="none" strike="noStrike">
                <a:solidFill>
                  <a:srgbClr val="494848"/>
                </a:solidFill>
                <a:effectLst/>
                <a:uFillTx/>
                <a:latin typeface="メイリオ"/>
                <a:ea typeface="メイリオ"/>
                <a:cs typeface="メイリオ"/>
              </a:rPr>
              <a:t>上でも同じチャットボットを活用</a:t>
            </a:r>
            <a:endParaRPr lang="en-US" sz="1560" b="0" u="none" strike="noStrike">
              <a:solidFill>
                <a:srgbClr val="000000"/>
              </a:solidFill>
              <a:effectLst/>
              <a:uFillTx/>
              <a:latin typeface="メイリオ"/>
              <a:ea typeface="メイリオ"/>
              <a:cs typeface="メイリオ"/>
            </a:endParaRPr>
          </a:p>
          <a:p>
            <a:pPr defTabSz="914400">
              <a:lnSpc>
                <a:spcPts val="2177"/>
              </a:lnSpc>
            </a:pPr>
            <a:r>
              <a:rPr lang="ja-JP" sz="1560" b="1" u="none" strike="noStrike">
                <a:solidFill>
                  <a:srgbClr val="494848"/>
                </a:solidFill>
                <a:effectLst/>
                <a:uFillTx/>
                <a:latin typeface="メイリオ"/>
                <a:ea typeface="メイリオ"/>
                <a:cs typeface="メイリオ"/>
              </a:rPr>
              <a:t>できる</a:t>
            </a:r>
            <a:endParaRPr lang="en-US" sz="1560" b="0" u="none" strike="noStrike">
              <a:solidFill>
                <a:srgbClr val="000000"/>
              </a:solidFill>
              <a:effectLst/>
              <a:uFillTx/>
              <a:latin typeface="メイリオ"/>
              <a:ea typeface="メイリオ"/>
              <a:cs typeface="メイリオ"/>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コール</a:t>
            </a:r>
            <a:r>
              <a:rPr lang="en-US" sz="1600" b="1" u="none" strike="noStrike">
                <a:solidFill>
                  <a:schemeClr val="dk1">
                    <a:lumMod val="65000"/>
                    <a:lumOff val="35000"/>
                  </a:schemeClr>
                </a:solidFill>
                <a:effectLst/>
                <a:uFillTx/>
                <a:latin typeface="メイリオ"/>
                <a:ea typeface="メイリオ"/>
                <a:cs typeface="メイリオ"/>
              </a:rPr>
              <a:t>Plus</a:t>
            </a:r>
            <a:r>
              <a:rPr lang="ja-JP" sz="1600" b="1" u="none" strike="noStrike">
                <a:solidFill>
                  <a:schemeClr val="dk1">
                    <a:lumMod val="65000"/>
                    <a:lumOff val="35000"/>
                  </a:schemeClr>
                </a:solidFill>
                <a:effectLst/>
                <a:uFillTx/>
                <a:latin typeface="メイリオ"/>
                <a:ea typeface="メイリオ"/>
                <a:cs typeface="メイリオ"/>
              </a:rPr>
              <a:t>」は、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公式アカウントの有料オプション機能で、</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公式アカウントからユーザーがカスタマーサポートに電話できるサービス。</a:t>
            </a:r>
            <a:endParaRPr lang="en-US" sz="1600" b="0" u="none" strike="noStrike">
              <a:solidFill>
                <a:srgbClr val="000000"/>
              </a:solidFill>
              <a:effectLst/>
              <a:uFillTx/>
              <a:latin typeface="メイリオ"/>
              <a:ea typeface="メイリオ"/>
              <a:cs typeface="メイリオ"/>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LINE</a:t>
            </a:r>
            <a:r>
              <a:rPr lang="zh-CN" sz="1600" b="1" u="none" strike="noStrike">
                <a:solidFill>
                  <a:schemeClr val="lt1"/>
                </a:solidFill>
                <a:effectLst/>
                <a:uFillTx/>
                <a:latin typeface="メイリオ"/>
                <a:ea typeface="メイリオ"/>
                <a:cs typeface="メイリオ"/>
              </a:rPr>
              <a:t>】</a:t>
            </a:r>
            <a:r>
              <a:rPr lang="en-US" sz="1600" b="1" u="none" strike="noStrike">
                <a:solidFill>
                  <a:schemeClr val="lt1"/>
                </a:solidFill>
                <a:effectLst/>
                <a:uFillTx/>
                <a:latin typeface="メイリオ"/>
                <a:ea typeface="メイリオ"/>
                <a:cs typeface="メイリオ"/>
              </a:rPr>
              <a:t>Call Plus</a:t>
            </a:r>
            <a:endParaRPr lang="en-US" sz="1600" b="0" u="none" strike="noStrike">
              <a:solidFill>
                <a:srgbClr val="FFFFFF"/>
              </a:solidFill>
              <a:effectLst/>
              <a:uFillTx/>
              <a:latin typeface="メイリオ"/>
              <a:ea typeface="メイリオ"/>
              <a:cs typeface="メイリオ"/>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さらに「</a:t>
            </a:r>
            <a:r>
              <a:rPr lang="en-US" sz="1600" b="1" u="none" strike="noStrike">
                <a:solidFill>
                  <a:schemeClr val="dk1">
                    <a:lumMod val="65000"/>
                    <a:lumOff val="35000"/>
                  </a:schemeClr>
                </a:solidFill>
                <a:effectLst/>
                <a:uFillTx/>
                <a:latin typeface="メイリオ"/>
                <a:ea typeface="メイリオ"/>
                <a:cs typeface="メイリオ"/>
              </a:rPr>
              <a:t>LINE Ai Call</a:t>
            </a:r>
            <a:r>
              <a:rPr lang="ja-JP" sz="1600" b="1" u="none" strike="noStrike">
                <a:solidFill>
                  <a:schemeClr val="dk1">
                    <a:lumMod val="65000"/>
                    <a:lumOff val="35000"/>
                  </a:schemeClr>
                </a:solidFill>
                <a:effectLst/>
                <a:uFillTx/>
                <a:latin typeface="メイリオ"/>
                <a:ea typeface="メイリオ"/>
                <a:cs typeface="メイリオ"/>
              </a:rPr>
              <a:t>」を活用するとユーザーの要望に対して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による自然な</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対話応答が可能に。要件に応じて</a:t>
            </a:r>
            <a:r>
              <a:rPr lang="en-US" sz="1600" b="1" u="none" strike="noStrike">
                <a:solidFill>
                  <a:schemeClr val="dk1">
                    <a:lumMod val="65000"/>
                    <a:lumOff val="35000"/>
                  </a:schemeClr>
                </a:solidFill>
                <a:effectLst/>
                <a:uFillTx/>
                <a:latin typeface="メイリオ"/>
                <a:ea typeface="メイリオ"/>
                <a:cs typeface="メイリオ"/>
              </a:rPr>
              <a:t>Ai</a:t>
            </a:r>
            <a:r>
              <a:rPr lang="ja-JP" sz="1600" b="1" u="none" strike="noStrike">
                <a:solidFill>
                  <a:schemeClr val="dk1">
                    <a:lumMod val="65000"/>
                    <a:lumOff val="35000"/>
                  </a:schemeClr>
                </a:solidFill>
                <a:effectLst/>
                <a:uFillTx/>
                <a:latin typeface="メイリオ"/>
                <a:ea typeface="メイリオ"/>
                <a:cs typeface="メイリオ"/>
              </a:rPr>
              <a:t>と有人オペレータの振り分け業務効率化を支援。</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メイリオ"/>
                <a:ea typeface="メイリオ"/>
                <a:cs typeface="メイリオ"/>
              </a:rPr>
              <a:t>その他 代表的な活用機能</a:t>
            </a:r>
            <a:endParaRPr lang="en-US" sz="1600" b="0" u="none" strike="noStrike">
              <a:solidFill>
                <a:srgbClr val="000000"/>
              </a:solidFill>
              <a:effectLst/>
              <a:uFillTx/>
              <a:latin typeface="メイリオ"/>
              <a:ea typeface="メイリオ"/>
              <a:cs typeface="メイリオ"/>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でログイン</a:t>
            </a:r>
            <a:endParaRPr lang="en-US" sz="1600" b="0" u="none" strike="noStrike">
              <a:solidFill>
                <a:srgbClr val="FFFFFF"/>
              </a:solidFill>
              <a:effectLst/>
              <a:uFillTx/>
              <a:latin typeface="メイリオ"/>
              <a:ea typeface="メイリオ"/>
              <a:cs typeface="メイリオ"/>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メイリオ"/>
                <a:ea typeface="メイリオ"/>
                <a:cs typeface="メイリオ"/>
              </a:rPr>
              <a:t>引用：</a:t>
            </a:r>
            <a:r>
              <a:rPr lang="en-US" sz="1000" b="1" u="none" strike="noStrike">
                <a:solidFill>
                  <a:schemeClr val="dk1">
                    <a:lumMod val="65000"/>
                    <a:lumOff val="35000"/>
                  </a:schemeClr>
                </a:solidFill>
                <a:effectLst/>
                <a:uFillTx/>
                <a:latin typeface="メイリオ"/>
                <a:ea typeface="メイリオ"/>
                <a:cs typeface="メイリオ"/>
              </a:rPr>
              <a:t>https://prtimes.jp/main/html/rd/p/000003920.000001594.html</a:t>
            </a:r>
            <a:endParaRPr lang="en-US" sz="1000" b="0" u="none" strike="noStrike">
              <a:solidFill>
                <a:srgbClr val="000000"/>
              </a:solidFill>
              <a:effectLst/>
              <a:uFillTx/>
              <a:latin typeface="メイリオ"/>
              <a:ea typeface="メイリオ"/>
              <a:cs typeface="メイリオ"/>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でログイン」は、</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上のユーザー情報を活用して</a:t>
            </a:r>
            <a:r>
              <a:rPr lang="en-US" sz="1600" b="1" u="none" strike="noStrike">
                <a:solidFill>
                  <a:schemeClr val="dk1">
                    <a:lumMod val="65000"/>
                    <a:lumOff val="35000"/>
                  </a:schemeClr>
                </a:solidFill>
                <a:effectLst/>
                <a:uFillTx/>
                <a:latin typeface="メイリオ"/>
                <a:ea typeface="メイリオ"/>
                <a:cs typeface="メイリオ"/>
              </a:rPr>
              <a:t>WEB</a:t>
            </a:r>
            <a:r>
              <a:rPr lang="ja-JP" sz="1600" b="1" u="none" strike="noStrike">
                <a:solidFill>
                  <a:schemeClr val="dk1">
                    <a:lumMod val="65000"/>
                    <a:lumOff val="35000"/>
                  </a:schemeClr>
                </a:solidFill>
                <a:effectLst/>
                <a:uFillTx/>
                <a:latin typeface="メイリオ"/>
                <a:ea typeface="メイリオ"/>
                <a:cs typeface="メイリオ"/>
              </a:rPr>
              <a:t>サイト登録が出来る仕組み。</a:t>
            </a:r>
            <a:endParaRPr lang="en-US" sz="1600" b="0" u="none" strike="noStrike">
              <a:solidFill>
                <a:srgbClr val="000000"/>
              </a:solidFill>
              <a:effectLst/>
              <a:uFillTx/>
              <a:latin typeface="メイリオ"/>
              <a:ea typeface="メイリオ"/>
              <a:cs typeface="メイリオ"/>
            </a:endParaRPr>
          </a:p>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ID</a:t>
            </a:r>
            <a:r>
              <a:rPr lang="ja-JP" sz="1600" b="1" u="none" strike="noStrike">
                <a:solidFill>
                  <a:schemeClr val="dk1">
                    <a:lumMod val="65000"/>
                    <a:lumOff val="35000"/>
                  </a:schemeClr>
                </a:solidFill>
                <a:effectLst/>
                <a:uFillTx/>
                <a:latin typeface="メイリオ"/>
                <a:ea typeface="メイリオ"/>
                <a:cs typeface="メイリオ"/>
              </a:rPr>
              <a:t>連携を完了することにより、サービス</a:t>
            </a:r>
            <a:r>
              <a:rPr lang="en-US" sz="1600" b="1" u="none" strike="noStrike">
                <a:solidFill>
                  <a:schemeClr val="dk1">
                    <a:lumMod val="65000"/>
                    <a:lumOff val="35000"/>
                  </a:schemeClr>
                </a:solidFill>
                <a:effectLst/>
                <a:uFillTx/>
                <a:latin typeface="メイリオ"/>
                <a:ea typeface="メイリオ"/>
                <a:cs typeface="メイリオ"/>
              </a:rPr>
              <a:t>(WEB) ⇔ LINE </a:t>
            </a:r>
            <a:r>
              <a:rPr lang="ja-JP" sz="1600" b="1" u="none" strike="noStrike">
                <a:solidFill>
                  <a:schemeClr val="dk1">
                    <a:lumMod val="65000"/>
                    <a:lumOff val="35000"/>
                  </a:schemeClr>
                </a:solidFill>
                <a:effectLst/>
                <a:uFillTx/>
                <a:latin typeface="メイリオ"/>
                <a:ea typeface="メイリオ"/>
                <a:cs typeface="メイリオ"/>
              </a:rPr>
              <a:t>での効果的なメッセージが可能に。</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オフライン動線</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400" b="1" u="none" strike="noStrike">
                <a:solidFill>
                  <a:srgbClr val="002060"/>
                </a:solidFill>
                <a:effectLst/>
                <a:uFillTx/>
                <a:latin typeface="メイリオ"/>
                <a:ea typeface="メイリオ"/>
                <a:cs typeface="メイリオ"/>
              </a:rPr>
              <a:t>ニュースリリース等</a:t>
            </a:r>
            <a:endParaRPr lang="en-US" sz="1400" b="0" u="none" strike="noStrike">
              <a:solidFill>
                <a:srgbClr val="000000"/>
              </a:solidFill>
              <a:effectLst/>
              <a:uFillTx/>
              <a:latin typeface="メイリオ"/>
              <a:ea typeface="メイリオ"/>
              <a:cs typeface="メイリオ"/>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WEB</a:t>
            </a:r>
            <a:r>
              <a:rPr lang="ja-JP" sz="2000" b="1" u="none" strike="noStrike">
                <a:solidFill>
                  <a:srgbClr val="002060"/>
                </a:solidFill>
                <a:effectLst/>
                <a:uFillTx/>
                <a:latin typeface="メイリオ"/>
                <a:ea typeface="メイリオ"/>
                <a:cs typeface="メイリオ"/>
              </a:rPr>
              <a:t>サイト動線整備</a:t>
            </a:r>
            <a:endParaRPr lang="en-US" sz="2000" b="0" u="none" strike="noStrike">
              <a:solidFill>
                <a:srgbClr val="000000"/>
              </a:solidFill>
              <a:effectLst/>
              <a:uFillTx/>
              <a:latin typeface="メイリオ"/>
              <a:ea typeface="メイリオ"/>
              <a:cs typeface="メイリオ"/>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友だち紹介</a:t>
            </a:r>
            <a:endParaRPr lang="en-US" sz="2000" b="0" u="none" strike="noStrike">
              <a:solidFill>
                <a:srgbClr val="000000"/>
              </a:solidFill>
              <a:effectLst/>
              <a:uFillTx/>
              <a:latin typeface="メイリオ"/>
              <a:ea typeface="メイリオ"/>
              <a:cs typeface="メイリオ"/>
            </a:endParaRPr>
          </a:p>
          <a:p>
            <a:pPr algn="ctr" defTabSz="914400">
              <a:lnSpc>
                <a:spcPct val="100000"/>
              </a:lnSpc>
            </a:pPr>
            <a:r>
              <a:rPr lang="ja-JP" sz="1200" b="1" u="none" strike="noStrike">
                <a:solidFill>
                  <a:srgbClr val="002060"/>
                </a:solidFill>
                <a:effectLst/>
                <a:uFillTx/>
                <a:latin typeface="メイリオ"/>
                <a:ea typeface="メイリオ"/>
                <a:cs typeface="メイリオ"/>
              </a:rPr>
              <a:t>（</a:t>
            </a:r>
            <a:r>
              <a:rPr lang="en-US" sz="1200" b="1" u="none" strike="noStrike">
                <a:solidFill>
                  <a:srgbClr val="002060"/>
                </a:solidFill>
                <a:effectLst/>
                <a:uFillTx/>
                <a:latin typeface="メイリオ"/>
                <a:ea typeface="メイリオ"/>
                <a:cs typeface="メイリオ"/>
              </a:rPr>
              <a:t>LINE</a:t>
            </a:r>
            <a:r>
              <a:rPr lang="ja-JP" sz="1200" b="1" u="none" strike="noStrike">
                <a:solidFill>
                  <a:srgbClr val="002060"/>
                </a:solidFill>
                <a:effectLst/>
                <a:uFillTx/>
                <a:latin typeface="メイリオ"/>
                <a:ea typeface="メイリオ"/>
                <a:cs typeface="メイリオ"/>
              </a:rPr>
              <a:t>ポイントコネクト）</a:t>
            </a:r>
            <a:endParaRPr lang="en-US" sz="1200" b="0" u="none" strike="noStrike">
              <a:solidFill>
                <a:srgbClr val="000000"/>
              </a:solidFill>
              <a:effectLst/>
              <a:uFillTx/>
              <a:latin typeface="メイリオ"/>
              <a:ea typeface="メイリオ"/>
              <a:cs typeface="メイリオ"/>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LINE</a:t>
            </a:r>
            <a:r>
              <a:rPr lang="ja-JP" sz="2000" b="1" u="none" strike="noStrike">
                <a:solidFill>
                  <a:srgbClr val="002060"/>
                </a:solidFill>
                <a:effectLst/>
                <a:uFillTx/>
                <a:latin typeface="メイリオ"/>
                <a:ea typeface="メイリオ"/>
                <a:cs typeface="メイリオ"/>
              </a:rPr>
              <a:t>ポイント</a:t>
            </a:r>
            <a:r>
              <a:rPr lang="en-US" sz="2000" b="1" u="none" strike="noStrike">
                <a:solidFill>
                  <a:srgbClr val="002060"/>
                </a:solidFill>
                <a:effectLst/>
                <a:uFillTx/>
                <a:latin typeface="メイリオ"/>
                <a:ea typeface="メイリオ"/>
                <a:cs typeface="メイリオ"/>
              </a:rPr>
              <a:t>Ads</a:t>
            </a:r>
            <a:endParaRPr lang="en-US" sz="2000" b="0" u="none" strike="noStrike">
              <a:solidFill>
                <a:srgbClr val="000000"/>
              </a:solidFill>
              <a:effectLst/>
              <a:uFillTx/>
              <a:latin typeface="メイリオ"/>
              <a:ea typeface="メイリオ"/>
              <a:cs typeface="メイリオ"/>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メイリオ"/>
                <a:ea typeface="メイリオ"/>
                <a:cs typeface="メイリオ"/>
              </a:rPr>
              <a:t>スタンプ施策</a:t>
            </a:r>
            <a:endParaRPr lang="en-US" sz="2000" b="0" u="none" strike="noStrike">
              <a:solidFill>
                <a:srgbClr val="000000"/>
              </a:solidFill>
              <a:effectLst/>
              <a:uFillTx/>
              <a:latin typeface="メイリオ"/>
              <a:ea typeface="メイリオ"/>
              <a:cs typeface="メイリオ"/>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メイリオ"/>
              <a:ea typeface="メイリオ"/>
              <a:cs typeface="メイリオ"/>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メイリオ"/>
                <a:ea typeface="メイリオ"/>
                <a:cs typeface="メイリオ"/>
              </a:rPr>
              <a:t>CPF</a:t>
            </a:r>
            <a:r>
              <a:rPr lang="ja-JP" sz="2000" b="1" u="none" strike="noStrike">
                <a:solidFill>
                  <a:srgbClr val="002060"/>
                </a:solidFill>
                <a:effectLst/>
                <a:uFillTx/>
                <a:latin typeface="メイリオ"/>
                <a:ea typeface="メイリオ"/>
                <a:cs typeface="メイリオ"/>
              </a:rPr>
              <a:t>広告</a:t>
            </a:r>
            <a:endParaRPr lang="en-US" sz="2000" b="0" u="none" strike="noStrike">
              <a:solidFill>
                <a:srgbClr val="000000"/>
              </a:solidFill>
              <a:effectLst/>
              <a:uFillTx/>
              <a:latin typeface="メイリオ"/>
              <a:ea typeface="メイリオ"/>
              <a:cs typeface="メイリオ"/>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cs typeface="メイリオ"/>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メイリオ"/>
                <a:ea typeface="メイリオ"/>
                <a:cs typeface="メイリオ"/>
              </a:rPr>
              <a:t>コンサル発注</a:t>
            </a:r>
            <a:r>
              <a:rPr lang="ja-JP" sz="1200" b="0" u="none" strike="noStrike">
                <a:solidFill>
                  <a:schemeClr val="dk1"/>
                </a:solidFill>
                <a:effectLst/>
                <a:uFillTx/>
                <a:latin typeface="メイリオ"/>
                <a:ea typeface="メイリオ"/>
                <a:cs typeface="メイリオ"/>
              </a:rPr>
              <a:t>であれば </a:t>
            </a:r>
            <a:r>
              <a:rPr lang="ja-JP" sz="1800" b="1" u="none" strike="noStrike">
                <a:solidFill>
                  <a:srgbClr val="FF0000"/>
                </a:solidFill>
                <a:effectLst/>
                <a:uFillTx/>
                <a:latin typeface="メイリオ"/>
                <a:ea typeface="メイリオ"/>
                <a:cs typeface="メイリオ"/>
              </a:rPr>
              <a:t>無償</a:t>
            </a:r>
            <a:endParaRPr lang="en-US" sz="1800" b="0" u="none" strike="noStrike">
              <a:solidFill>
                <a:srgbClr val="000000"/>
              </a:solidFill>
              <a:effectLst/>
              <a:uFillTx/>
              <a:latin typeface="メイリオ"/>
              <a:ea typeface="メイリオ"/>
              <a:cs typeface="メイリオ"/>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メイリオ"/>
                <a:ea typeface="メイリオ"/>
                <a:cs typeface="メイリオ"/>
              </a:rPr>
              <a:t>サービス停止中</a:t>
            </a:r>
            <a:endParaRPr lang="en-US" sz="1800" b="0" u="none" strike="noStrike">
              <a:solidFill>
                <a:srgbClr val="000000"/>
              </a:solidFill>
              <a:effectLst/>
              <a:uFillTx/>
              <a:latin typeface="メイリオ"/>
              <a:ea typeface="メイリオ"/>
              <a:cs typeface="メイリオ"/>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（期間合計）</a:t>
            </a:r>
            <a:endParaRPr lang="en-US" sz="1200" b="0" u="none" strike="noStrike">
              <a:solidFill>
                <a:srgbClr val="000000"/>
              </a:solidFill>
              <a:effectLst/>
              <a:uFillTx/>
              <a:latin typeface="メイリオ"/>
              <a:ea typeface="メイリオ"/>
              <a:cs typeface="メイリオ"/>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メイリオ"/>
                <a:ea typeface="メイリオ"/>
                <a:cs typeface="メイリオ"/>
              </a:rPr>
              <a:t>20</a:t>
            </a:r>
            <a:r>
              <a:rPr lang="ja-JP" sz="2000" b="1" u="none" strike="noStrike">
                <a:solidFill>
                  <a:srgbClr val="FF0000"/>
                </a:solidFill>
                <a:effectLst/>
                <a:uFillTx/>
                <a:latin typeface="メイリオ"/>
                <a:ea typeface="メイリオ"/>
                <a:cs typeface="メイリオ"/>
              </a:rPr>
              <a:t>万円</a:t>
            </a:r>
            <a:r>
              <a:rPr lang="en-US" sz="2000" b="1" u="none" strike="noStrike">
                <a:solidFill>
                  <a:srgbClr val="FF0000"/>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r>
              <a:rPr lang="en-US" sz="1200" b="0" u="none" strike="noStrike">
                <a:solidFill>
                  <a:schemeClr val="dk1"/>
                </a:solidFill>
                <a:effectLst/>
                <a:uFillTx/>
                <a:latin typeface="メイリオ"/>
                <a:ea typeface="メイリオ"/>
                <a:cs typeface="メイリオ"/>
              </a:rPr>
              <a:t>1</a:t>
            </a:r>
            <a:r>
              <a:rPr lang="ja-JP" sz="1200" b="0" u="none" strike="noStrike">
                <a:solidFill>
                  <a:schemeClr val="dk1"/>
                </a:solidFill>
                <a:effectLst/>
                <a:uFillTx/>
                <a:latin typeface="メイリオ"/>
                <a:ea typeface="メイリオ"/>
                <a:cs typeface="メイリオ"/>
              </a:rPr>
              <a:t>ヶ月</a:t>
            </a:r>
            <a:r>
              <a:rPr lang="en-US" sz="1200" b="0" u="none" strike="noStrike">
                <a:solidFill>
                  <a:schemeClr val="dk1"/>
                </a:solidFill>
                <a:effectLst/>
                <a:uFillTx/>
                <a:latin typeface="メイリオ"/>
                <a:ea typeface="メイリオ"/>
                <a:cs typeface="メイリオ"/>
              </a:rPr>
              <a:t>~</a:t>
            </a:r>
            <a:r>
              <a:rPr lang="ja-JP" sz="1200" b="0" u="none" strike="noStrike">
                <a:solidFill>
                  <a:schemeClr val="dk1"/>
                </a:solidFill>
                <a:effectLst/>
                <a:uFillTx/>
                <a:latin typeface="メイリオ"/>
                <a:ea typeface="メイリオ"/>
                <a:cs typeface="メイリオ"/>
              </a:rPr>
              <a:t>）</a:t>
            </a:r>
            <a:endParaRPr lang="en-US" sz="1200" b="0" u="none" strike="noStrike">
              <a:solidFill>
                <a:srgbClr val="000000"/>
              </a:solidFill>
              <a:effectLst/>
              <a:uFillTx/>
              <a:latin typeface="メイリオ"/>
              <a:ea typeface="メイリオ"/>
              <a:cs typeface="メイリオ"/>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メイリオ"/>
                <a:ea typeface="メイリオ"/>
                <a:cs typeface="メイリオ"/>
              </a:rPr>
              <a:t>各拡張施策についても</a:t>
            </a:r>
            <a:r>
              <a:rPr lang="en-US" sz="1600" b="1" u="none" strike="noStrike">
                <a:solidFill>
                  <a:schemeClr val="dk1">
                    <a:lumMod val="65000"/>
                    <a:lumOff val="35000"/>
                  </a:schemeClr>
                </a:solidFill>
                <a:effectLst/>
                <a:uFillTx/>
                <a:latin typeface="メイリオ"/>
                <a:ea typeface="メイリオ"/>
                <a:cs typeface="メイリオ"/>
              </a:rPr>
              <a:t>MIN</a:t>
            </a:r>
            <a:r>
              <a:rPr lang="ja-JP" sz="1600" b="1" u="none" strike="noStrike">
                <a:solidFill>
                  <a:schemeClr val="dk1">
                    <a:lumMod val="65000"/>
                    <a:lumOff val="35000"/>
                  </a:schemeClr>
                </a:solidFill>
                <a:effectLst/>
                <a:uFillTx/>
                <a:latin typeface="メイリオ"/>
                <a:ea typeface="メイリオ"/>
                <a:cs typeface="メイリオ"/>
              </a:rPr>
              <a:t>金額からの発注、動線設計が可能です。</a:t>
            </a:r>
            <a:endParaRPr lang="en-US" sz="1600" b="0" u="none" strike="noStrike">
              <a:solidFill>
                <a:srgbClr val="000000"/>
              </a:solidFill>
              <a:effectLst/>
              <a:uFillTx/>
              <a:latin typeface="メイリオ"/>
              <a:ea typeface="メイリオ"/>
              <a:cs typeface="メイリオ"/>
            </a:endParaRPr>
          </a:p>
          <a:p>
            <a:pPr algn="ct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友だち追加後の動線設計（特に友だち追加後すぐ）の検証後の拡大施策として用意。</a:t>
            </a:r>
            <a:endParaRPr lang="en-US" sz="16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提供施策について</a:t>
            </a:r>
            <a:endParaRPr lang="en-US" sz="1600" b="0" u="none" strike="noStrike">
              <a:solidFill>
                <a:srgbClr val="000000"/>
              </a:solidFill>
              <a:effectLst/>
              <a:uFillTx/>
              <a:latin typeface="メイリオ"/>
              <a:ea typeface="メイリオ"/>
              <a:cs typeface="メイリオ"/>
            </a:endParaRPr>
          </a:p>
        </p:txBody>
      </p:sp>
      <p:pic>
        <p:nvPicPr>
          <p:cNvPr id="1060" name="図 51"/>
          <p:cNvPicPr/>
          <p:nvPr/>
        </p:nvPicPr>
        <p:blipFill>
          <a:blip r:embed="rId3"/>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cs typeface="メイリオ"/>
              </a:rPr>
              <a:t>LINE</a:t>
            </a:r>
            <a:r>
              <a:rPr lang="ja-JP" sz="1600" b="1" u="none" strike="noStrike">
                <a:solidFill>
                  <a:schemeClr val="lt1"/>
                </a:solidFill>
                <a:effectLst/>
                <a:uFillTx/>
                <a:latin typeface="メイリオ"/>
                <a:ea typeface="メイリオ"/>
                <a:cs typeface="メイリオ"/>
              </a:rPr>
              <a:t>広告</a:t>
            </a:r>
            <a:r>
              <a:rPr lang="ja-JP" sz="1200" b="1" u="none" strike="noStrike">
                <a:solidFill>
                  <a:schemeClr val="lt1"/>
                </a:solidFill>
                <a:effectLst/>
                <a:uFillTx/>
                <a:latin typeface="メイリオ"/>
                <a:ea typeface="メイリオ"/>
                <a:cs typeface="メイリオ"/>
              </a:rPr>
              <a:t>（友だち追加）</a:t>
            </a:r>
            <a:endParaRPr lang="en-US" sz="1200" b="0" u="none" strike="noStrike">
              <a:solidFill>
                <a:srgbClr val="FFFFFF"/>
              </a:solidFill>
              <a:effectLst/>
              <a:uFillTx/>
              <a:latin typeface="メイリオ"/>
              <a:ea typeface="メイリオ"/>
              <a:cs typeface="メイリオ"/>
            </a:endParaRPr>
          </a:p>
          <a:p>
            <a:pPr algn="ctr" defTabSz="914400">
              <a:lnSpc>
                <a:spcPct val="100000"/>
              </a:lnSpc>
            </a:pPr>
            <a:r>
              <a:rPr lang="en-US" sz="1200" b="1" u="none" strike="noStrike">
                <a:solidFill>
                  <a:srgbClr val="FFFF00"/>
                </a:solidFill>
                <a:effectLst/>
                <a:uFillTx/>
                <a:latin typeface="メイリオ"/>
                <a:ea typeface="メイリオ"/>
                <a:cs typeface="メイリオ"/>
              </a:rPr>
              <a:t>※CPF</a:t>
            </a:r>
            <a:r>
              <a:rPr lang="ja-JP" sz="1200" b="1" u="none" strike="noStrike">
                <a:solidFill>
                  <a:srgbClr val="FFFF00"/>
                </a:solidFill>
                <a:effectLst/>
                <a:uFillTx/>
                <a:latin typeface="メイリオ"/>
                <a:ea typeface="メイリオ"/>
                <a:cs typeface="メイリオ"/>
              </a:rPr>
              <a:t>広告※</a:t>
            </a:r>
            <a:endParaRPr lang="en-US" sz="1200" b="0" u="none" strike="noStrike">
              <a:solidFill>
                <a:srgbClr val="FFFFFF"/>
              </a:solidFill>
              <a:effectLst/>
              <a:uFillTx/>
              <a:latin typeface="メイリオ"/>
              <a:ea typeface="メイリオ"/>
              <a:cs typeface="メイリオ"/>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公式アカウントの友だちを増やすための広告を、</a:t>
            </a:r>
            <a:br>
              <a:rPr sz="1600">
                <a:latin typeface="メイリオ"/>
                <a:ea typeface="メイリオ"/>
                <a:cs typeface="メイリオ"/>
              </a:rPr>
            </a:b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広告の管理画面より</a:t>
            </a:r>
            <a:r>
              <a:rPr lang="en-US" sz="1600" b="1" u="none" strike="noStrike">
                <a:solidFill>
                  <a:schemeClr val="dk1">
                    <a:lumMod val="65000"/>
                    <a:lumOff val="35000"/>
                  </a:schemeClr>
                </a:solidFill>
                <a:effectLst/>
                <a:uFillTx/>
                <a:latin typeface="メイリオ"/>
                <a:ea typeface="メイリオ"/>
                <a:cs typeface="メイリオ"/>
              </a:rPr>
              <a:t>LINE</a:t>
            </a:r>
            <a:r>
              <a:rPr lang="ja-JP" sz="1600" b="1" u="none" strike="noStrike">
                <a:solidFill>
                  <a:schemeClr val="dk1">
                    <a:lumMod val="65000"/>
                    <a:lumOff val="35000"/>
                  </a:schemeClr>
                </a:solidFill>
                <a:effectLst/>
                <a:uFillTx/>
                <a:latin typeface="メイリオ"/>
                <a:ea typeface="メイリオ"/>
                <a:cs typeface="メイリオ"/>
              </a:rPr>
              <a:t>アプリ内で掲載できる機能。</a:t>
            </a:r>
            <a:endParaRPr lang="en-US" sz="1600" b="0" u="none" strike="noStrike">
              <a:solidFill>
                <a:srgbClr val="000000"/>
              </a:solidFill>
              <a:effectLst/>
              <a:uFillTx/>
              <a:latin typeface="メイリオ"/>
              <a:ea typeface="メイリオ"/>
              <a:cs typeface="メイリオ"/>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メイリオ"/>
                  <a:ea typeface="メイリオ"/>
                  <a:cs typeface="メイリオ"/>
                </a:rPr>
                <a:t>LINE</a:t>
              </a:r>
              <a:r>
                <a:rPr lang="ja-JP" sz="1200" b="1" u="none" strike="noStrike">
                  <a:solidFill>
                    <a:srgbClr val="0070C0"/>
                  </a:solidFill>
                  <a:effectLst/>
                  <a:uFillTx/>
                  <a:latin typeface="メイリオ"/>
                  <a:ea typeface="メイリオ"/>
                  <a:cs typeface="メイリオ"/>
                </a:rPr>
                <a:t>公式アカウントまでの導線</a:t>
              </a:r>
              <a:endParaRPr lang="en-US" sz="1200" b="0" u="none" strike="noStrike">
                <a:solidFill>
                  <a:srgbClr val="000000"/>
                </a:solidFill>
                <a:effectLst/>
                <a:uFillTx/>
                <a:latin typeface="メイリオ"/>
                <a:ea typeface="メイリオ"/>
                <a:cs typeface="メイリオ"/>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メイリオ"/>
                  <a:ea typeface="メイリオ"/>
                  <a:cs typeface="メイリオ"/>
                </a:rPr>
                <a:t>「友だち追加広告」との違い</a:t>
              </a:r>
              <a:endParaRPr lang="en-US" sz="1200" b="0" u="none" strike="noStrike">
                <a:solidFill>
                  <a:srgbClr val="000000"/>
                </a:solidFill>
                <a:effectLst/>
                <a:uFillTx/>
                <a:latin typeface="メイリオ"/>
                <a:ea typeface="メイリオ"/>
                <a:cs typeface="メイリオ"/>
              </a:endParaRPr>
            </a:p>
          </p:txBody>
        </p:sp>
      </p:grpSp>
      <p:pic>
        <p:nvPicPr>
          <p:cNvPr id="1069" name="table"/>
          <p:cNvPicPr/>
          <p:nvPr/>
        </p:nvPicPr>
        <p:blipFill>
          <a:blip r:embed="rId2"/>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cs typeface="メイリオ"/>
              </a:rPr>
              <a:t>LINE</a:t>
            </a:r>
            <a:r>
              <a:rPr lang="ja-JP" sz="1200" b="0" u="none" strike="noStrike">
                <a:solidFill>
                  <a:srgbClr val="000000"/>
                </a:solidFill>
                <a:effectLst/>
                <a:uFillTx/>
                <a:latin typeface="メイリオ"/>
                <a:ea typeface="メイリオ"/>
                <a:cs typeface="メイリオ"/>
              </a:rPr>
              <a:t>アプリ内から</a:t>
            </a:r>
            <a:br>
              <a:rPr sz="1200">
                <a:latin typeface="メイリオ"/>
                <a:ea typeface="メイリオ"/>
                <a:cs typeface="メイリオ"/>
              </a:rPr>
            </a:br>
            <a:r>
              <a:rPr lang="ja-JP" sz="1200" b="0" u="none" strike="noStrike">
                <a:solidFill>
                  <a:srgbClr val="000000"/>
                </a:solidFill>
                <a:effectLst/>
                <a:uFillTx/>
                <a:latin typeface="メイリオ"/>
                <a:ea typeface="メイリオ"/>
                <a:cs typeface="メイリオ"/>
              </a:rPr>
              <a:t>自社アカウントに</a:t>
            </a:r>
            <a:r>
              <a:rPr lang="en-US" sz="1600" b="1" u="none" strike="noStrike">
                <a:solidFill>
                  <a:srgbClr val="33CC33"/>
                </a:solidFill>
                <a:effectLst/>
                <a:uFillTx/>
                <a:latin typeface="メイリオ"/>
                <a:ea typeface="メイリオ"/>
                <a:cs typeface="メイリオ"/>
              </a:rPr>
              <a:t>“直接”</a:t>
            </a:r>
            <a:r>
              <a:rPr lang="ja-JP" sz="1200" b="0" u="none" strike="noStrike">
                <a:solidFill>
                  <a:srgbClr val="000000"/>
                </a:solidFill>
                <a:effectLst/>
                <a:uFillTx/>
                <a:latin typeface="メイリオ"/>
                <a:ea typeface="メイリオ"/>
                <a:cs typeface="メイリオ"/>
              </a:rPr>
              <a:t>誘導</a:t>
            </a:r>
            <a:endParaRPr lang="en-US" sz="1200" b="0" u="none" strike="noStrike">
              <a:solidFill>
                <a:srgbClr val="000000"/>
              </a:solidFill>
              <a:effectLst/>
              <a:uFillTx/>
              <a:latin typeface="メイリオ"/>
              <a:ea typeface="メイリオ"/>
              <a:cs typeface="メイリオ"/>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cs typeface="メイリオ"/>
              </a:rPr>
              <a:t>弊社からご提供できる運用プラン</a:t>
            </a:r>
            <a:endParaRPr lang="en-US" sz="1600" b="0" u="none" strike="noStrike">
              <a:solidFill>
                <a:srgbClr val="000000"/>
              </a:solidFill>
              <a:effectLst/>
              <a:uFillTx/>
              <a:latin typeface="メイリオ"/>
              <a:ea typeface="メイリオ"/>
              <a:cs typeface="メイリオ"/>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cs typeface="メイリオ"/>
              </a:rPr>
              <a:t>都度発注プラン</a:t>
            </a:r>
            <a:endParaRPr lang="en-US" sz="1400" b="0" u="none" strike="noStrike">
              <a:solidFill>
                <a:srgbClr val="FFFFFF"/>
              </a:solidFill>
              <a:effectLst/>
              <a:uFillTx/>
              <a:latin typeface="メイリオ"/>
              <a:ea typeface="メイリオ"/>
              <a:cs typeface="メイリオ"/>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cs typeface="メイリオ"/>
              </a:rPr>
              <a:t>LINEOA</a:t>
            </a:r>
            <a:r>
              <a:rPr lang="ja-JP" sz="1600" b="1" u="none" strike="noStrike" dirty="0">
                <a:solidFill>
                  <a:schemeClr val="dk1"/>
                </a:solidFill>
                <a:effectLst/>
                <a:uFillTx/>
                <a:latin typeface="メイリオ"/>
                <a:ea typeface="メイリオ"/>
                <a:cs typeface="メイリオ"/>
              </a:rPr>
              <a:t>の運用業務・</a:t>
            </a:r>
            <a:r>
              <a:rPr lang="en-US" sz="1600" b="1" u="none" strike="noStrike" dirty="0">
                <a:solidFill>
                  <a:schemeClr val="dk1"/>
                </a:solidFill>
                <a:effectLst/>
                <a:uFillTx/>
                <a:latin typeface="メイリオ"/>
                <a:ea typeface="メイリオ"/>
                <a:cs typeface="メイリオ"/>
              </a:rPr>
              <a:t>CR</a:t>
            </a:r>
            <a:r>
              <a:rPr lang="ja-JP" sz="1600" b="1" u="none" strike="noStrike" dirty="0">
                <a:solidFill>
                  <a:schemeClr val="dk1"/>
                </a:solidFill>
                <a:effectLst/>
                <a:uFillTx/>
                <a:latin typeface="メイリオ"/>
                <a:ea typeface="メイリオ"/>
                <a:cs typeface="メイリオ"/>
              </a:rPr>
              <a:t>制作業務を一部外出ししてご依頼も。</a:t>
            </a:r>
            <a:endParaRPr lang="en-US" sz="1600" b="0" u="none" strike="noStrike" dirty="0">
              <a:solidFill>
                <a:srgbClr val="000000"/>
              </a:solidFill>
              <a:effectLst/>
              <a:uFillTx/>
              <a:latin typeface="メイリオ"/>
              <a:ea typeface="メイリオ"/>
              <a:cs typeface="メイリオ"/>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cs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&lt;</a:t>
            </a:r>
            <a:r>
              <a:rPr lang="ja-JP" sz="1050" b="0" u="none" strike="noStrike">
                <a:solidFill>
                  <a:schemeClr val="dk1">
                    <a:lumMod val="65000"/>
                    <a:lumOff val="35000"/>
                  </a:schemeClr>
                </a:solidFill>
                <a:effectLst/>
                <a:uFillTx/>
                <a:latin typeface="メイリオ"/>
                <a:ea typeface="メイリオ"/>
                <a:cs typeface="メイリオ"/>
              </a:rPr>
              <a:t>追加作業における費用感　</a:t>
            </a:r>
            <a:r>
              <a:rPr lang="en-US" sz="900" b="0" u="none" strike="noStrike">
                <a:solidFill>
                  <a:srgbClr val="FF0000"/>
                </a:solidFill>
                <a:effectLst/>
                <a:uFillTx/>
                <a:latin typeface="メイリオ"/>
                <a:ea typeface="メイリオ"/>
                <a:cs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cs typeface="メイリオ"/>
              </a:rPr>
              <a:t>&gt;</a:t>
            </a:r>
            <a:endParaRPr lang="en-US" sz="1050" b="0" u="none" strike="noStrike">
              <a:solidFill>
                <a:srgbClr val="000000"/>
              </a:solidFill>
              <a:effectLst/>
              <a:uFillTx/>
              <a:latin typeface="メイリオ"/>
              <a:ea typeface="メイリオ"/>
              <a:cs typeface="メイリオ"/>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内容</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対応項目</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初期</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cs typeface="メイリオ"/>
                        </a:rPr>
                        <a:t>月額</a:t>
                      </a:r>
                      <a:endParaRPr lang="en-US" sz="1100" b="0" u="none" strike="noStrike">
                        <a:solidFill>
                          <a:srgbClr val="FFFFFF"/>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アカウント開設</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API</a:t>
                      </a:r>
                      <a:r>
                        <a:rPr lang="ja-JP" sz="1100" b="0" u="none" strike="noStrike">
                          <a:solidFill>
                            <a:srgbClr val="000000"/>
                          </a:solidFill>
                          <a:effectLst/>
                          <a:uFillTx/>
                          <a:latin typeface="メイリオ"/>
                          <a:ea typeface="メイリオ"/>
                          <a:cs typeface="メイリオ"/>
                        </a:rPr>
                        <a:t>ツール導入</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プロフィール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ID</a:t>
                      </a:r>
                      <a:r>
                        <a:rPr lang="ja-JP" sz="1100" b="0" u="none" strike="noStrike">
                          <a:solidFill>
                            <a:srgbClr val="000000"/>
                          </a:solidFill>
                          <a:effectLst/>
                          <a:uFillTx/>
                          <a:latin typeface="メイリオ"/>
                          <a:ea typeface="メイリオ"/>
                          <a:cs typeface="メイリオ"/>
                        </a:rPr>
                        <a:t>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リッチメニュー</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ログイン</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cs typeface="メイリオ"/>
                        </a:rPr>
                        <a:t>¥0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あいさつメッセージ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通知メッセージ</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初期アンケート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チャットボット機能</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KW</a:t>
                      </a:r>
                      <a:r>
                        <a:rPr lang="ja-JP" sz="1100" b="0" u="none" strike="noStrike">
                          <a:solidFill>
                            <a:srgbClr val="000000"/>
                          </a:solidFill>
                          <a:effectLst/>
                          <a:uFillTx/>
                          <a:latin typeface="メイリオ"/>
                          <a:ea typeface="メイリオ"/>
                          <a:cs typeface="メイリオ"/>
                        </a:rPr>
                        <a:t>の自動応答</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Chat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ステップ配信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¥50,000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Call Plus</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セグメント配信</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決済</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チャットタグ管理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予約管理</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¥20,000~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チャット対応</a:t>
                      </a:r>
                      <a:r>
                        <a:rPr lang="en-US" sz="700" b="0" u="none" strike="noStrike">
                          <a:solidFill>
                            <a:srgbClr val="FF0000"/>
                          </a:solidFill>
                          <a:effectLst/>
                          <a:uFillTx/>
                          <a:latin typeface="メイリオ"/>
                          <a:ea typeface="メイリオ"/>
                          <a:cs typeface="メイリオ"/>
                        </a:rPr>
                        <a:t> ※サポートは可能</a:t>
                      </a:r>
                      <a:endParaRPr lang="en-US" sz="7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¥100,000</a:t>
                      </a:r>
                      <a:r>
                        <a:rPr lang="ja-JP" sz="1000" b="0" u="none" strike="noStrike">
                          <a:solidFill>
                            <a:srgbClr val="000000"/>
                          </a:solidFill>
                          <a:effectLst/>
                          <a:uFillTx/>
                          <a:latin typeface="メイリオ"/>
                          <a:ea typeface="メイリオ"/>
                          <a:cs typeface="メイリオ"/>
                        </a:rPr>
                        <a:t>～</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cs typeface="メイリオ"/>
                        </a:rPr>
                        <a:t>件数により変動</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GA(CRM)</a:t>
                      </a:r>
                      <a:r>
                        <a:rPr lang="ja-JP" sz="1100" b="0" u="none" strike="noStrike">
                          <a:solidFill>
                            <a:srgbClr val="000000"/>
                          </a:solidFill>
                          <a:effectLst/>
                          <a:uFillTx/>
                          <a:latin typeface="メイリオ"/>
                          <a:ea typeface="メイリオ"/>
                          <a:cs typeface="メイリオ"/>
                        </a:rPr>
                        <a:t>レポート連携</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cs typeface="メイリオ"/>
                        </a:rPr>
                        <a:t>-----</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クリエイティブ</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¥15,000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cs typeface="メイリオ"/>
                        </a:rPr>
                        <a:t>画像</a:t>
                      </a:r>
                      <a:r>
                        <a:rPr lang="en-US" sz="600" b="0" u="none" strike="noStrike">
                          <a:solidFill>
                            <a:srgbClr val="000000"/>
                          </a:solidFill>
                          <a:effectLst/>
                          <a:uFillTx/>
                          <a:latin typeface="メイリオ"/>
                          <a:ea typeface="メイリオ"/>
                          <a:cs typeface="メイリオ"/>
                        </a:rPr>
                        <a:t>1</a:t>
                      </a:r>
                      <a:r>
                        <a:rPr lang="ja-JP" sz="600" b="0" u="none" strike="noStrike">
                          <a:solidFill>
                            <a:srgbClr val="000000"/>
                          </a:solidFill>
                          <a:effectLst/>
                          <a:uFillTx/>
                          <a:latin typeface="メイリオ"/>
                          <a:ea typeface="メイリオ"/>
                          <a:cs typeface="メイリオ"/>
                        </a:rPr>
                        <a:t>枚での想定</a:t>
                      </a:r>
                      <a:endParaRPr lang="en-US" sz="600" b="0" u="none" strike="noStrike">
                        <a:solidFill>
                          <a:srgbClr val="000000"/>
                        </a:solidFill>
                        <a:effectLst/>
                        <a:uFillTx/>
                        <a:latin typeface="メイリオ"/>
                        <a:ea typeface="メイリオ"/>
                        <a:cs typeface="メイリオ"/>
                      </a:endParaRPr>
                    </a:p>
                    <a:p>
                      <a:pPr algn="ctr" defTabSz="914400">
                        <a:lnSpc>
                          <a:spcPct val="100000"/>
                        </a:lnSpc>
                        <a:tabLst>
                          <a:tab pos="0" algn="l"/>
                        </a:tabLst>
                      </a:pPr>
                      <a:r>
                        <a:rPr lang="en-US" sz="600" b="0" u="none" strike="noStrike">
                          <a:solidFill>
                            <a:srgbClr val="000000"/>
                          </a:solidFill>
                          <a:effectLst/>
                          <a:uFillTx/>
                          <a:latin typeface="メイリオ"/>
                          <a:ea typeface="メイリオ"/>
                          <a:cs typeface="メイリオ"/>
                        </a:rPr>
                        <a:t>※バナー、HTML</a:t>
                      </a:r>
                      <a:r>
                        <a:rPr lang="ja-JP" sz="600" b="0" u="none" strike="noStrike">
                          <a:solidFill>
                            <a:srgbClr val="000000"/>
                          </a:solidFill>
                          <a:effectLst/>
                          <a:uFillTx/>
                          <a:latin typeface="メイリオ"/>
                          <a:ea typeface="メイリオ"/>
                          <a:cs typeface="メイリオ"/>
                        </a:rPr>
                        <a:t>メール等</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離脱防止ツール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投稿作成</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cs typeface="メイリオ"/>
                        </a:rPr>
                        <a:t>¥30,000</a:t>
                      </a:r>
                      <a:endParaRPr lang="en-US" sz="10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cs typeface="メイリオ"/>
                        </a:rPr>
                        <a:t>サンクス</a:t>
                      </a:r>
                      <a:r>
                        <a:rPr lang="en-US" sz="1100" b="0" u="none" strike="noStrike">
                          <a:solidFill>
                            <a:srgbClr val="000000"/>
                          </a:solidFill>
                          <a:effectLst/>
                          <a:uFillTx/>
                          <a:latin typeface="メイリオ"/>
                          <a:ea typeface="メイリオ"/>
                          <a:cs typeface="メイリオ"/>
                        </a:rPr>
                        <a:t>LINE</a:t>
                      </a:r>
                      <a:r>
                        <a:rPr lang="ja-JP" sz="1100" b="0" u="none" strike="noStrike">
                          <a:solidFill>
                            <a:srgbClr val="000000"/>
                          </a:solidFill>
                          <a:effectLst/>
                          <a:uFillTx/>
                          <a:latin typeface="メイリオ"/>
                          <a:ea typeface="メイリオ"/>
                          <a:cs typeface="メイリオ"/>
                        </a:rPr>
                        <a:t>誘導ツール</a:t>
                      </a:r>
                      <a:endParaRPr lang="en-US" sz="11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¥150,000</a:t>
                      </a:r>
                      <a:endParaRPr lang="en-US" sz="105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cs typeface="メイリオ"/>
                        </a:rPr>
                        <a:t>¥30,000~</a:t>
                      </a:r>
                      <a:endParaRPr lang="en-US" sz="600" b="0" u="none" strike="noStrike">
                        <a:solidFill>
                          <a:srgbClr val="000000"/>
                        </a:solidFill>
                        <a:effectLst/>
                        <a:uFillTx/>
                        <a:latin typeface="メイリオ"/>
                        <a:ea typeface="メイリオ"/>
                        <a:cs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cs typeface="メイリオ"/>
              </a:rPr>
              <a:t>貴社リソースの状況に応じて、都度発注でのご依頼も各単価で対応可能</a:t>
            </a:r>
            <a:endParaRPr lang="en-US" sz="1400" b="0" u="none" strike="noStrike">
              <a:solidFill>
                <a:srgbClr val="000000"/>
              </a:solidFill>
              <a:effectLst/>
              <a:uFillTx/>
              <a:latin typeface="メイリオ"/>
              <a:ea typeface="メイリオ"/>
              <a:cs typeface="メイリオ"/>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cs typeface="メイリオ"/>
            </a:endParaRPr>
          </a:p>
        </p:txBody>
      </p:sp>
    </p:spTree>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141472</TotalTime>
  <Words>5264</Words>
  <Application>Microsoft Office PowerPoint</Application>
  <PresentationFormat>A4 210 x 297 mm</PresentationFormat>
  <Paragraphs>1342</Paragraphs>
  <Slides>36</Slides>
  <Notes>14</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36</vt:i4>
      </vt:variant>
    </vt:vector>
  </HeadingPairs>
  <TitlesOfParts>
    <vt:vector size="43" baseType="lpstr">
      <vt:lpstr>メイリオ</vt:lpstr>
      <vt:lpstr>メイリオ</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佐村 徳人</cp:lastModifiedBy>
  <cp:revision>1919</cp:revision>
  <cp:lastPrinted>2022-11-01T11:38:14Z</cp:lastPrinted>
  <dcterms:created xsi:type="dcterms:W3CDTF">2015-09-04T09:21:15Z</dcterms:created>
  <dcterms:modified xsi:type="dcterms:W3CDTF">2026-07-21T09:21:02Z</dcterms:modified>
</cp:coreProperties>
</file>