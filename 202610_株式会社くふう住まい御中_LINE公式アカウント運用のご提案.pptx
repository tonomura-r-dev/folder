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363" r:id="rId3"/>
    <p:sldId id="2989" r:id="rId45"/>
    <p:sldId id="2990" r:id="rId46"/>
    <p:sldId id="2991" r:id="rId47"/>
    <p:sldId id="2992" r:id="rId48"/>
    <p:sldId id="2993" r:id="rId49"/>
    <p:sldId id="2994" r:id="rId50"/>
    <p:sldId id="2956" r:id="rId5"/>
    <p:sldId id="2937" r:id="rId22"/>
    <p:sldId id="2995" r:id="rId51"/>
    <p:sldId id="1169" r:id="rId38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534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5" Type="http://schemas.openxmlformats.org/officeDocument/2006/relationships/slide" Target="slides/slide3.xml"/><Relationship Id="rId22" Type="http://schemas.openxmlformats.org/officeDocument/2006/relationships/slide" Target="slides/slide20.xml"/><Relationship Id="rId38" Type="http://schemas.openxmlformats.org/officeDocument/2006/relationships/slide" Target="slides/slide36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36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Relationship Id="rId4" Type="http://schemas.openxmlformats.org/officeDocument/2006/relationships/image" Target="../media/image15.jpeg"/><Relationship Id="rId5" Type="http://schemas.openxmlformats.org/officeDocument/2006/relationships/image" Target="../media/image16.jpeg"/><Relationship Id="rId6" Type="http://schemas.openxmlformats.org/officeDocument/2006/relationships/image" Target="../media/image17.jpeg"/><Relationship Id="rId7" Type="http://schemas.openxmlformats.org/officeDocument/2006/relationships/image" Target="../media/image18.jpeg"/><Relationship Id="rId8" Type="http://schemas.openxmlformats.org/officeDocument/2006/relationships/image" Target="../media/image19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jpg"/><Relationship Id="rId8" Type="http://schemas.openxmlformats.org/officeDocument/2006/relationships/image" Target="../media/image26.jpg"/><Relationship Id="rId9" Type="http://schemas.openxmlformats.org/officeDocument/2006/relationships/image" Target="../media/image2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3038203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09344" y="2103120"/>
            <a:ext cx="6629400" cy="868680"/>
          </a:xfrm>
          <a:prstGeom prst="rect">
            <a:avLst/>
          </a:prstGeom>
        </p:spPr>
        <p:txBody>
          <a:bodyPr wrap="square" lIns="50400" rIns="50400" tIns="21600" bIns="21600" anchor="ctr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予約から来場までをLINEでつなぎ、</a:t>
            </a:r>
          </a:p>
          <a:p>
            <a:pPr algn="ctr"/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実来場を増やす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705064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11" name="テキスト ボックス 6"/>
          <p:cNvSpPr/>
          <p:nvPr/>
        </p:nvSpPr>
        <p:spPr>
          <a:xfrm>
            <a:off x="291960" y="263520"/>
            <a:ext cx="49654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株式会社くふう住まい 御中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92180-D336-F255-C39D-17584774E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C912E4CC-70AD-5529-2A5A-4FA0D1C97A2B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全体設計想定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D73628C-261B-9AE4-0B66-12C6BEDE3EDD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集客動線</a:t>
            </a:r>
            <a:endParaRPr kumimoji="1" lang="ja-JP" altLang="en-US" sz="140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AF6C2475-3BD5-7DF2-52BD-C0F30E8072CF}"/>
              </a:ext>
            </a:extLst>
          </p:cNvPr>
          <p:cNvSpPr txBox="1"/>
          <p:nvPr/>
        </p:nvSpPr>
        <p:spPr>
          <a:xfrm>
            <a:off x="1988819" y="736332"/>
            <a:ext cx="777430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14400" rIns="36000" bIns="1440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カスタマージャーニーマップにあわせてLINE投稿を配置。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※CV3段＝【リード】友だち追加・予算診断／【有効リード】見学会・個別相談の予約／【マネタイズ】ご契約。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0721AE-E7E5-698E-E773-F2614C0DBB07}"/>
              </a:ext>
            </a:extLst>
          </p:cNvPr>
          <p:cNvCxnSpPr>
            <a:cxnSpLocks/>
          </p:cNvCxnSpPr>
          <p:nvPr/>
        </p:nvCxnSpPr>
        <p:spPr>
          <a:xfrm>
            <a:off x="315939" y="2178817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BFFC88E-A589-D631-D366-94F280EFF67D}"/>
              </a:ext>
            </a:extLst>
          </p:cNvPr>
          <p:cNvCxnSpPr>
            <a:cxnSpLocks/>
          </p:cNvCxnSpPr>
          <p:nvPr/>
        </p:nvCxnSpPr>
        <p:spPr>
          <a:xfrm>
            <a:off x="1265077" y="2190680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D90E23BB-3076-5B7D-82F3-8433A2B09D1F}"/>
              </a:ext>
            </a:extLst>
          </p:cNvPr>
          <p:cNvCxnSpPr>
            <a:cxnSpLocks/>
          </p:cNvCxnSpPr>
          <p:nvPr/>
        </p:nvCxnSpPr>
        <p:spPr>
          <a:xfrm>
            <a:off x="2202413" y="2188038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A68BF14-4E95-B76C-1300-FF13B29BADF0}"/>
              </a:ext>
            </a:extLst>
          </p:cNvPr>
          <p:cNvCxnSpPr>
            <a:cxnSpLocks/>
          </p:cNvCxnSpPr>
          <p:nvPr/>
        </p:nvCxnSpPr>
        <p:spPr>
          <a:xfrm>
            <a:off x="3136468" y="2207356"/>
            <a:ext cx="0" cy="2882641"/>
          </a:xfrm>
          <a:prstGeom prst="line">
            <a:avLst/>
          </a:prstGeom>
          <a:ln w="6350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6558815C-4A36-8DFA-3258-ADAC642B44B6}"/>
              </a:ext>
            </a:extLst>
          </p:cNvPr>
          <p:cNvCxnSpPr>
            <a:cxnSpLocks/>
          </p:cNvCxnSpPr>
          <p:nvPr/>
        </p:nvCxnSpPr>
        <p:spPr>
          <a:xfrm>
            <a:off x="3541980" y="2217939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B24DBF0-6A3A-0783-C6E3-74B28D837D9E}"/>
              </a:ext>
            </a:extLst>
          </p:cNvPr>
          <p:cNvCxnSpPr>
            <a:cxnSpLocks/>
          </p:cNvCxnSpPr>
          <p:nvPr/>
        </p:nvCxnSpPr>
        <p:spPr>
          <a:xfrm>
            <a:off x="4833781" y="2229802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9F92929-7F37-647E-2D3E-0EB84FFB20D1}"/>
              </a:ext>
            </a:extLst>
          </p:cNvPr>
          <p:cNvCxnSpPr>
            <a:cxnSpLocks/>
          </p:cNvCxnSpPr>
          <p:nvPr/>
        </p:nvCxnSpPr>
        <p:spPr>
          <a:xfrm>
            <a:off x="6125582" y="2227160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53FD7B1-4120-4E04-0DDF-B4B54EDB9BFD}"/>
              </a:ext>
            </a:extLst>
          </p:cNvPr>
          <p:cNvCxnSpPr>
            <a:cxnSpLocks/>
          </p:cNvCxnSpPr>
          <p:nvPr/>
        </p:nvCxnSpPr>
        <p:spPr>
          <a:xfrm>
            <a:off x="7417384" y="2217938"/>
            <a:ext cx="0" cy="4305308"/>
          </a:xfrm>
          <a:prstGeom prst="line">
            <a:avLst/>
          </a:prstGeom>
          <a:ln w="6350">
            <a:solidFill>
              <a:srgbClr val="208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BDE72C7-C765-8BB2-E494-8277E0D528BC}"/>
              </a:ext>
            </a:extLst>
          </p:cNvPr>
          <p:cNvSpPr txBox="1"/>
          <p:nvPr/>
        </p:nvSpPr>
        <p:spPr>
          <a:xfrm>
            <a:off x="3542139" y="2124167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⑤ リード有効化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6BDDC66-06A4-F147-F6D6-595BB801B1D3}"/>
              </a:ext>
            </a:extLst>
          </p:cNvPr>
          <p:cNvSpPr txBox="1"/>
          <p:nvPr/>
        </p:nvSpPr>
        <p:spPr>
          <a:xfrm>
            <a:off x="6119413" y="2533325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⑦マネタイズ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成約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/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購入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)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75707FE-6207-A0AF-61A0-E9AABECDAC37}"/>
              </a:ext>
            </a:extLst>
          </p:cNvPr>
          <p:cNvSpPr txBox="1"/>
          <p:nvPr/>
        </p:nvSpPr>
        <p:spPr>
          <a:xfrm>
            <a:off x="4830776" y="2328746"/>
            <a:ext cx="2352196" cy="383023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⑥ 有効リードの再育成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9AFAACD-69A5-DAB7-2AB7-5204509E5CCB}"/>
              </a:ext>
            </a:extLst>
          </p:cNvPr>
          <p:cNvSpPr txBox="1"/>
          <p:nvPr/>
        </p:nvSpPr>
        <p:spPr>
          <a:xfrm>
            <a:off x="7408050" y="2737904"/>
            <a:ext cx="2352196" cy="40011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⑧</a:t>
            </a:r>
            <a:r>
              <a:rPr lang="en-US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LTV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最大化・紹介</a:t>
            </a:r>
            <a:endParaRPr lang="en-US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>
              <a:buNone/>
            </a:pPr>
            <a:endParaRPr lang="ja-JP" altLang="ja-JP" sz="9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260C5F-25D5-8ED9-9E9C-2E4B97F7FE0C}"/>
              </a:ext>
            </a:extLst>
          </p:cNvPr>
          <p:cNvSpPr txBox="1"/>
          <p:nvPr/>
        </p:nvSpPr>
        <p:spPr>
          <a:xfrm>
            <a:off x="334303" y="2130251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① 接触（認知・流入）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76A6924-9615-4D2D-207A-2C463DAF53AF}"/>
              </a:ext>
            </a:extLst>
          </p:cNvPr>
          <p:cNvSpPr txBox="1"/>
          <p:nvPr/>
        </p:nvSpPr>
        <p:spPr>
          <a:xfrm>
            <a:off x="1268358" y="234091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② サイト離脱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（対策）</a:t>
            </a:r>
            <a:endParaRPr lang="ja-JP" altLang="ja-JP" sz="11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C64E429-AF18-081D-2A8E-EDCE056C0C0B}"/>
              </a:ext>
            </a:extLst>
          </p:cNvPr>
          <p:cNvSpPr txBox="1"/>
          <p:nvPr/>
        </p:nvSpPr>
        <p:spPr>
          <a:xfrm>
            <a:off x="2202413" y="2535023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③ 育成（興味</a:t>
            </a: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喚起</a:t>
            </a:r>
            <a:r>
              <a:rPr lang="ja-JP" altLang="ja-JP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）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B99F819-3A4C-8D01-87D3-59398A0C3663}"/>
              </a:ext>
            </a:extLst>
          </p:cNvPr>
          <p:cNvSpPr txBox="1"/>
          <p:nvPr/>
        </p:nvSpPr>
        <p:spPr>
          <a:xfrm>
            <a:off x="3136468" y="2731376"/>
            <a:ext cx="1868111" cy="383023"/>
          </a:xfrm>
          <a:prstGeom prst="rect">
            <a:avLst/>
          </a:prstGeom>
          <a:solidFill>
            <a:schemeClr val="accent6">
              <a:lumMod val="40000"/>
              <a:lumOff val="60000"/>
              <a:alpha val="3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11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④リード獲得 </a:t>
            </a:r>
            <a:r>
              <a:rPr lang="en-US" altLang="ja-JP" sz="9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(web/LINE)</a:t>
            </a:r>
            <a:endParaRPr lang="ja-JP" altLang="ja-JP" sz="10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cxnSp>
        <p:nvCxnSpPr>
          <p:cNvPr id="22" name="コネクタ: カギ線 21">
            <a:extLst>
              <a:ext uri="{FF2B5EF4-FFF2-40B4-BE49-F238E27FC236}">
                <a16:creationId xmlns:a16="http://schemas.microsoft.com/office/drawing/2014/main" id="{89810CF4-19DD-8F80-464F-FE8E1D250689}"/>
              </a:ext>
            </a:extLst>
          </p:cNvPr>
          <p:cNvCxnSpPr>
            <a:cxnSpLocks/>
            <a:stCxn id="21" idx="0"/>
            <a:endCxn id="14" idx="2"/>
          </p:cNvCxnSpPr>
          <p:nvPr/>
        </p:nvCxnSpPr>
        <p:spPr>
          <a:xfrm rot="5400000" flipH="1" flipV="1">
            <a:off x="4282287" y="2494423"/>
            <a:ext cx="224186" cy="24972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3F2ACC73-0643-27D8-F1B3-1B871FCEF141}"/>
              </a:ext>
            </a:extLst>
          </p:cNvPr>
          <p:cNvCxnSpPr>
            <a:cxnSpLocks/>
          </p:cNvCxnSpPr>
          <p:nvPr/>
        </p:nvCxnSpPr>
        <p:spPr>
          <a:xfrm>
            <a:off x="334303" y="3515795"/>
            <a:ext cx="3207836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9C05BA8-18F6-F344-3C54-A5E03AFE2368}"/>
              </a:ext>
            </a:extLst>
          </p:cNvPr>
          <p:cNvCxnSpPr>
            <a:cxnSpLocks/>
          </p:cNvCxnSpPr>
          <p:nvPr/>
        </p:nvCxnSpPr>
        <p:spPr>
          <a:xfrm>
            <a:off x="3122098" y="4928015"/>
            <a:ext cx="6619128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77786FC-857A-BA29-36E6-9A41C2E99F31}"/>
              </a:ext>
            </a:extLst>
          </p:cNvPr>
          <p:cNvSpPr txBox="1"/>
          <p:nvPr/>
        </p:nvSpPr>
        <p:spPr>
          <a:xfrm>
            <a:off x="1268358" y="3383509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→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領域</a:t>
            </a:r>
            <a:endParaRPr lang="ja-JP" altLang="en-US" sz="105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B6D9466-EC9E-4057-AB18-8974D147F3E8}"/>
              </a:ext>
            </a:extLst>
          </p:cNvPr>
          <p:cNvSpPr txBox="1"/>
          <p:nvPr/>
        </p:nvSpPr>
        <p:spPr>
          <a:xfrm>
            <a:off x="5558554" y="4804166"/>
            <a:ext cx="1581214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➙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WEB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領域</a:t>
            </a:r>
            <a:endParaRPr lang="ja-JP" altLang="en-US" sz="1050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C2DCC080-98CE-945F-96A2-C42DE7E0C936}"/>
              </a:ext>
            </a:extLst>
          </p:cNvPr>
          <p:cNvCxnSpPr>
            <a:cxnSpLocks/>
          </p:cNvCxnSpPr>
          <p:nvPr/>
        </p:nvCxnSpPr>
        <p:spPr>
          <a:xfrm>
            <a:off x="3609975" y="3504789"/>
            <a:ext cx="2482432" cy="0"/>
          </a:xfrm>
          <a:prstGeom prst="straightConnector1">
            <a:avLst/>
          </a:prstGeom>
          <a:ln w="28575">
            <a:solidFill>
              <a:srgbClr val="04FA0A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293A6D-CB27-A495-B2B6-10D3182B0B70}"/>
              </a:ext>
            </a:extLst>
          </p:cNvPr>
          <p:cNvSpPr txBox="1"/>
          <p:nvPr/>
        </p:nvSpPr>
        <p:spPr>
          <a:xfrm>
            <a:off x="3908480" y="3397243"/>
            <a:ext cx="1913269" cy="2345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オフライン→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LINEOA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領域</a:t>
            </a:r>
            <a:endParaRPr lang="ja-JP" altLang="en-US" sz="105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2AFCBDA6-2140-B4C1-A45D-7A34BC218997}"/>
              </a:ext>
            </a:extLst>
          </p:cNvPr>
          <p:cNvSpPr/>
          <p:nvPr/>
        </p:nvSpPr>
        <p:spPr>
          <a:xfrm>
            <a:off x="334303" y="1552575"/>
            <a:ext cx="9425943" cy="4485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852097C2-692E-64D7-A5ED-5C35A2EFC975}"/>
              </a:ext>
            </a:extLst>
          </p:cNvPr>
          <p:cNvCxnSpPr>
            <a:cxnSpLocks/>
          </p:cNvCxnSpPr>
          <p:nvPr/>
        </p:nvCxnSpPr>
        <p:spPr>
          <a:xfrm>
            <a:off x="417642" y="1782459"/>
            <a:ext cx="9240215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F2742C3-41F6-3CC5-6355-EC9495CFE608}"/>
              </a:ext>
            </a:extLst>
          </p:cNvPr>
          <p:cNvSpPr txBox="1"/>
          <p:nvPr/>
        </p:nvSpPr>
        <p:spPr>
          <a:xfrm>
            <a:off x="4066503" y="1654589"/>
            <a:ext cx="2315056" cy="2345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カスタマージャーニーマップ</a:t>
            </a:r>
            <a:endParaRPr lang="ja-JP" altLang="en-US" sz="105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F6CFDE9-CDE8-1133-47F9-90F22773AF32}"/>
              </a:ext>
            </a:extLst>
          </p:cNvPr>
          <p:cNvSpPr/>
          <p:nvPr/>
        </p:nvSpPr>
        <p:spPr>
          <a:xfrm>
            <a:off x="315939" y="3613966"/>
            <a:ext cx="577646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どう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友だち追加させるか？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（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→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）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9DCB4B6-9411-CC10-0D34-9F40EC11AD82}"/>
              </a:ext>
            </a:extLst>
          </p:cNvPr>
          <p:cNvSpPr/>
          <p:nvPr/>
        </p:nvSpPr>
        <p:spPr>
          <a:xfrm>
            <a:off x="3122098" y="5051222"/>
            <a:ext cx="6619128" cy="2425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どう</a:t>
            </a:r>
            <a:r>
              <a:rPr kumimoji="1" lang="ja-JP" altLang="en-US" sz="10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友だちをアクションに結びつけるか？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（</a:t>
            </a:r>
            <a:r>
              <a:rPr kumimoji="1" lang="en-US" altLang="ja-JP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kumimoji="1" lang="ja-JP" altLang="en-US" sz="1000" dirty="0">
                <a:solidFill>
                  <a:srgbClr val="FFFF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→反響）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B94F8848-87A6-4A24-C2DE-D4A5BD2787D7}"/>
              </a:ext>
            </a:extLst>
          </p:cNvPr>
          <p:cNvCxnSpPr>
            <a:cxnSpLocks/>
          </p:cNvCxnSpPr>
          <p:nvPr/>
        </p:nvCxnSpPr>
        <p:spPr>
          <a:xfrm>
            <a:off x="484665" y="3964795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13A35DD7-3CE1-ABA2-45A4-29A5F6D013E2}"/>
              </a:ext>
            </a:extLst>
          </p:cNvPr>
          <p:cNvSpPr txBox="1"/>
          <p:nvPr/>
        </p:nvSpPr>
        <p:spPr>
          <a:xfrm>
            <a:off x="853704" y="3860734"/>
            <a:ext cx="822746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CPF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広告</a:t>
            </a:r>
            <a:endParaRPr lang="ja-JP" altLang="en-US" sz="1000" b="1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DD36FC2-6468-F5B5-EFB8-BBFB2CF7F452}"/>
              </a:ext>
            </a:extLst>
          </p:cNvPr>
          <p:cNvCxnSpPr>
            <a:cxnSpLocks/>
          </p:cNvCxnSpPr>
          <p:nvPr/>
        </p:nvCxnSpPr>
        <p:spPr>
          <a:xfrm>
            <a:off x="3442595" y="43324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2205788-B1CC-5FF9-ED78-B6DD32267E17}"/>
              </a:ext>
            </a:extLst>
          </p:cNvPr>
          <p:cNvSpPr txBox="1"/>
          <p:nvPr/>
        </p:nvSpPr>
        <p:spPr>
          <a:xfrm>
            <a:off x="3811634" y="41986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通知メッセージ</a:t>
            </a:r>
            <a:endParaRPr lang="ja-JP" altLang="en-US" sz="1000" b="1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923E43E2-8157-8C38-4A7C-C186793E6650}"/>
              </a:ext>
            </a:extLst>
          </p:cNvPr>
          <p:cNvCxnSpPr>
            <a:cxnSpLocks/>
          </p:cNvCxnSpPr>
          <p:nvPr/>
        </p:nvCxnSpPr>
        <p:spPr>
          <a:xfrm>
            <a:off x="3442595" y="458569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B46B511-7630-9D21-552D-BAD1DCEC8387}"/>
              </a:ext>
            </a:extLst>
          </p:cNvPr>
          <p:cNvSpPr txBox="1"/>
          <p:nvPr/>
        </p:nvSpPr>
        <p:spPr>
          <a:xfrm>
            <a:off x="3811634" y="4451915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誘導</a:t>
            </a:r>
            <a:endParaRPr lang="ja-JP" altLang="en-US" sz="1000" b="1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64D8562C-014D-DFB4-2D01-7479448659D1}"/>
              </a:ext>
            </a:extLst>
          </p:cNvPr>
          <p:cNvCxnSpPr>
            <a:cxnSpLocks/>
          </p:cNvCxnSpPr>
          <p:nvPr/>
        </p:nvCxnSpPr>
        <p:spPr>
          <a:xfrm>
            <a:off x="1351697" y="415316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40E1D19-5457-9319-2789-430F63EC5A42}"/>
              </a:ext>
            </a:extLst>
          </p:cNvPr>
          <p:cNvSpPr txBox="1"/>
          <p:nvPr/>
        </p:nvSpPr>
        <p:spPr>
          <a:xfrm>
            <a:off x="1720736" y="4019384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通知メッセージ</a:t>
            </a:r>
            <a:endParaRPr lang="ja-JP" altLang="en-US" sz="1000" b="1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90155E9-25FB-3090-382A-CA0B7F87F965}"/>
              </a:ext>
            </a:extLst>
          </p:cNvPr>
          <p:cNvCxnSpPr>
            <a:cxnSpLocks/>
          </p:cNvCxnSpPr>
          <p:nvPr/>
        </p:nvCxnSpPr>
        <p:spPr>
          <a:xfrm>
            <a:off x="1351697" y="438431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08D35021-E114-E4DF-FF22-BF7BE0CDF4D8}"/>
              </a:ext>
            </a:extLst>
          </p:cNvPr>
          <p:cNvSpPr txBox="1"/>
          <p:nvPr/>
        </p:nvSpPr>
        <p:spPr>
          <a:xfrm>
            <a:off x="1720736" y="4250529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サイト動線の整備</a:t>
            </a:r>
          </a:p>
        </p:txBody>
      </p: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6840C346-E790-A413-26C5-79129D6F5FB7}"/>
              </a:ext>
            </a:extLst>
          </p:cNvPr>
          <p:cNvCxnSpPr>
            <a:cxnSpLocks/>
          </p:cNvCxnSpPr>
          <p:nvPr/>
        </p:nvCxnSpPr>
        <p:spPr>
          <a:xfrm>
            <a:off x="3900757" y="402215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715CC99E-9A08-159E-0120-31020FC33D0F}"/>
              </a:ext>
            </a:extLst>
          </p:cNvPr>
          <p:cNvSpPr txBox="1"/>
          <p:nvPr/>
        </p:nvSpPr>
        <p:spPr>
          <a:xfrm>
            <a:off x="4269796" y="388836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既存リストの活用</a:t>
            </a:r>
            <a:endParaRPr lang="en-US" altLang="ja-JP" sz="10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C26FDFF8-ECDB-0D20-5A53-4F74EF6D93F8}"/>
              </a:ext>
            </a:extLst>
          </p:cNvPr>
          <p:cNvCxnSpPr>
            <a:cxnSpLocks/>
          </p:cNvCxnSpPr>
          <p:nvPr/>
        </p:nvCxnSpPr>
        <p:spPr>
          <a:xfrm>
            <a:off x="5494489" y="4328530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3517788-8A00-3CE9-B8A0-DC9904CB9E29}"/>
              </a:ext>
            </a:extLst>
          </p:cNvPr>
          <p:cNvSpPr txBox="1"/>
          <p:nvPr/>
        </p:nvSpPr>
        <p:spPr>
          <a:xfrm>
            <a:off x="5863528" y="4194746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通知メッセージ</a:t>
            </a:r>
            <a:endParaRPr lang="ja-JP" altLang="en-US" sz="1000" b="1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8A08B47D-236B-D58F-E880-0E520352BC81}"/>
              </a:ext>
            </a:extLst>
          </p:cNvPr>
          <p:cNvCxnSpPr>
            <a:cxnSpLocks/>
          </p:cNvCxnSpPr>
          <p:nvPr/>
        </p:nvCxnSpPr>
        <p:spPr>
          <a:xfrm>
            <a:off x="5494489" y="4591366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376E216-AB77-BC34-74BE-9C14746155C3}"/>
              </a:ext>
            </a:extLst>
          </p:cNvPr>
          <p:cNvSpPr txBox="1"/>
          <p:nvPr/>
        </p:nvSpPr>
        <p:spPr>
          <a:xfrm>
            <a:off x="5863528" y="445758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サンクス</a:t>
            </a:r>
            <a:r>
              <a:rPr lang="en-US" altLang="ja-JP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LINE</a:t>
            </a:r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誘導</a:t>
            </a:r>
            <a:endParaRPr lang="ja-JP" altLang="en-US" sz="1000" b="1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D6F7AD1E-A403-6C2E-4207-BA25C2D7BCC6}"/>
              </a:ext>
            </a:extLst>
          </p:cNvPr>
          <p:cNvCxnSpPr>
            <a:cxnSpLocks/>
          </p:cNvCxnSpPr>
          <p:nvPr/>
        </p:nvCxnSpPr>
        <p:spPr>
          <a:xfrm>
            <a:off x="751071" y="4630661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D798DBD-5393-6131-8034-EC789105D05B}"/>
              </a:ext>
            </a:extLst>
          </p:cNvPr>
          <p:cNvSpPr txBox="1"/>
          <p:nvPr/>
        </p:nvSpPr>
        <p:spPr>
          <a:xfrm>
            <a:off x="983946" y="4526600"/>
            <a:ext cx="1095075" cy="2308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SNS/</a:t>
            </a:r>
            <a:r>
              <a:rPr lang="ja-JP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メルマガ</a:t>
            </a:r>
            <a:endParaRPr lang="ja-JP" altLang="en-US" sz="900" dirty="0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27AED14-C910-4D3E-987F-EA62ABD18D90}"/>
              </a:ext>
            </a:extLst>
          </p:cNvPr>
          <p:cNvCxnSpPr>
            <a:cxnSpLocks/>
          </p:cNvCxnSpPr>
          <p:nvPr/>
        </p:nvCxnSpPr>
        <p:spPr>
          <a:xfrm>
            <a:off x="747965" y="4897406"/>
            <a:ext cx="1503674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644DD32-D05B-DE83-7791-37895274BDE9}"/>
              </a:ext>
            </a:extLst>
          </p:cNvPr>
          <p:cNvSpPr txBox="1"/>
          <p:nvPr/>
        </p:nvSpPr>
        <p:spPr>
          <a:xfrm>
            <a:off x="969834" y="4806108"/>
            <a:ext cx="1117086" cy="19110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店内ポップ・チラシ</a:t>
            </a:r>
            <a:endParaRPr lang="ja-JP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3D532EE-6712-DE63-E452-E8BEAA167260}"/>
              </a:ext>
            </a:extLst>
          </p:cNvPr>
          <p:cNvCxnSpPr>
            <a:cxnSpLocks/>
          </p:cNvCxnSpPr>
          <p:nvPr/>
        </p:nvCxnSpPr>
        <p:spPr>
          <a:xfrm>
            <a:off x="7259810" y="4444588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CDD6E46-B8C3-8536-41F9-F39EB73CBD24}"/>
              </a:ext>
            </a:extLst>
          </p:cNvPr>
          <p:cNvSpPr txBox="1"/>
          <p:nvPr/>
        </p:nvSpPr>
        <p:spPr>
          <a:xfrm>
            <a:off x="7740673" y="4310804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ID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・</a:t>
            </a:r>
            <a:r>
              <a:rPr lang="en-US" altLang="ja-JP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CRM</a:t>
            </a:r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連携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B9C84515-E6C9-A256-421E-9C3EFEBBFF17}"/>
              </a:ext>
            </a:extLst>
          </p:cNvPr>
          <p:cNvCxnSpPr>
            <a:cxnSpLocks/>
          </p:cNvCxnSpPr>
          <p:nvPr/>
        </p:nvCxnSpPr>
        <p:spPr>
          <a:xfrm>
            <a:off x="7697737" y="5495193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7E002B77-EFC0-55F3-D3E6-100837F9B195}"/>
              </a:ext>
            </a:extLst>
          </p:cNvPr>
          <p:cNvSpPr txBox="1"/>
          <p:nvPr/>
        </p:nvSpPr>
        <p:spPr>
          <a:xfrm>
            <a:off x="8178600" y="5361409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フォロー体制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03BD82C1-8BEC-3E49-C1DA-A1C214DB1C8C}"/>
              </a:ext>
            </a:extLst>
          </p:cNvPr>
          <p:cNvCxnSpPr>
            <a:cxnSpLocks/>
          </p:cNvCxnSpPr>
          <p:nvPr/>
        </p:nvCxnSpPr>
        <p:spPr>
          <a:xfrm>
            <a:off x="4519454" y="5493723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9F797F-1B6A-876C-B468-E147B3D97E8A}"/>
              </a:ext>
            </a:extLst>
          </p:cNvPr>
          <p:cNvSpPr txBox="1"/>
          <p:nvPr/>
        </p:nvSpPr>
        <p:spPr>
          <a:xfrm>
            <a:off x="5267281" y="5359939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ステップ配信</a:t>
            </a:r>
            <a:endParaRPr lang="ja-JP" altLang="en-US" sz="1000" b="1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C96E67E6-B364-7DED-CDB8-DDCEEFB96AD2}"/>
              </a:ext>
            </a:extLst>
          </p:cNvPr>
          <p:cNvCxnSpPr>
            <a:cxnSpLocks/>
          </p:cNvCxnSpPr>
          <p:nvPr/>
        </p:nvCxnSpPr>
        <p:spPr>
          <a:xfrm>
            <a:off x="4519295" y="5766839"/>
            <a:ext cx="2982482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335DB4AB-DEFA-E356-751F-7106100F929E}"/>
              </a:ext>
            </a:extLst>
          </p:cNvPr>
          <p:cNvSpPr txBox="1"/>
          <p:nvPr/>
        </p:nvSpPr>
        <p:spPr>
          <a:xfrm>
            <a:off x="5267122" y="5633055"/>
            <a:ext cx="1064989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企画配信</a:t>
            </a:r>
            <a:endParaRPr lang="ja-JP" altLang="en-US" sz="1000" b="1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7884810E-3E89-4CCB-C00C-B386A34717E4}"/>
              </a:ext>
            </a:extLst>
          </p:cNvPr>
          <p:cNvCxnSpPr>
            <a:cxnSpLocks/>
          </p:cNvCxnSpPr>
          <p:nvPr/>
        </p:nvCxnSpPr>
        <p:spPr>
          <a:xfrm>
            <a:off x="3798688" y="5981626"/>
            <a:ext cx="2464861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6FD45AC0-2372-776F-6D16-846C0FB7AC64}"/>
              </a:ext>
            </a:extLst>
          </p:cNvPr>
          <p:cNvSpPr txBox="1"/>
          <p:nvPr/>
        </p:nvSpPr>
        <p:spPr>
          <a:xfrm>
            <a:off x="4258152" y="5863519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アンケート回収</a:t>
            </a:r>
            <a:endParaRPr lang="ja-JP" altLang="en-US" sz="1000" b="1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5BF3558A-EBED-81EE-B158-28A7CA5D6693}"/>
              </a:ext>
            </a:extLst>
          </p:cNvPr>
          <p:cNvCxnSpPr>
            <a:cxnSpLocks/>
          </p:cNvCxnSpPr>
          <p:nvPr/>
        </p:nvCxnSpPr>
        <p:spPr>
          <a:xfrm>
            <a:off x="3797428" y="6223951"/>
            <a:ext cx="2452867" cy="6111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テキスト ボックス 109">
            <a:extLst>
              <a:ext uri="{FF2B5EF4-FFF2-40B4-BE49-F238E27FC236}">
                <a16:creationId xmlns:a16="http://schemas.microsoft.com/office/drawing/2014/main" id="{001266CB-AC56-8914-0ACE-8B554DB19B76}"/>
              </a:ext>
            </a:extLst>
          </p:cNvPr>
          <p:cNvSpPr txBox="1"/>
          <p:nvPr/>
        </p:nvSpPr>
        <p:spPr>
          <a:xfrm>
            <a:off x="4273398" y="6133562"/>
            <a:ext cx="1288637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スコアリング等</a:t>
            </a:r>
            <a:endParaRPr lang="ja-JP" altLang="en-US" sz="1000" b="1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1B403718-ABF2-11BC-1A05-A9E208B7C0F7}"/>
              </a:ext>
            </a:extLst>
          </p:cNvPr>
          <p:cNvCxnSpPr>
            <a:cxnSpLocks/>
          </p:cNvCxnSpPr>
          <p:nvPr/>
        </p:nvCxnSpPr>
        <p:spPr>
          <a:xfrm>
            <a:off x="7118366" y="5985542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B9061E8E-8F76-24D8-6F4C-BBBCDEB37FE0}"/>
              </a:ext>
            </a:extLst>
          </p:cNvPr>
          <p:cNvSpPr txBox="1"/>
          <p:nvPr/>
        </p:nvSpPr>
        <p:spPr>
          <a:xfrm>
            <a:off x="7397140" y="5871116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リサーチ回収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B31EBA12-BB45-627B-A1FD-F44E077537B1}"/>
              </a:ext>
            </a:extLst>
          </p:cNvPr>
          <p:cNvCxnSpPr>
            <a:cxnSpLocks/>
          </p:cNvCxnSpPr>
          <p:nvPr/>
        </p:nvCxnSpPr>
        <p:spPr>
          <a:xfrm>
            <a:off x="7048606" y="6243059"/>
            <a:ext cx="203707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テキスト ボックス 117">
            <a:extLst>
              <a:ext uri="{FF2B5EF4-FFF2-40B4-BE49-F238E27FC236}">
                <a16:creationId xmlns:a16="http://schemas.microsoft.com/office/drawing/2014/main" id="{B0C05E5D-44B4-DA5D-7C04-0BDC8A4602CE}"/>
              </a:ext>
            </a:extLst>
          </p:cNvPr>
          <p:cNvSpPr txBox="1"/>
          <p:nvPr/>
        </p:nvSpPr>
        <p:spPr>
          <a:xfrm>
            <a:off x="7336089" y="6137342"/>
            <a:ext cx="1288637" cy="2484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ショップカード</a:t>
            </a:r>
            <a:endParaRPr lang="ja-JP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19" name="図 118">
            <a:extLst>
              <a:ext uri="{FF2B5EF4-FFF2-40B4-BE49-F238E27FC236}">
                <a16:creationId xmlns:a16="http://schemas.microsoft.com/office/drawing/2014/main" id="{2F4B65BB-B8AA-5045-2074-C574F9423E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1" b="4075"/>
          <a:stretch>
            <a:fillRect/>
          </a:stretch>
        </p:blipFill>
        <p:spPr>
          <a:xfrm>
            <a:off x="3005614" y="5048188"/>
            <a:ext cx="703970" cy="1385346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22C9FBF-7B93-079A-E87E-A4C967CD0194}"/>
              </a:ext>
            </a:extLst>
          </p:cNvPr>
          <p:cNvSpPr/>
          <p:nvPr/>
        </p:nvSpPr>
        <p:spPr>
          <a:xfrm>
            <a:off x="3908480" y="5336376"/>
            <a:ext cx="2944325" cy="1076098"/>
          </a:xfrm>
          <a:prstGeom prst="rect">
            <a:avLst/>
          </a:prstGeom>
          <a:noFill/>
          <a:ln w="158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B35388-9C44-6C01-ACAA-2E691617E119}"/>
              </a:ext>
            </a:extLst>
          </p:cNvPr>
          <p:cNvSpPr txBox="1"/>
          <p:nvPr/>
        </p:nvSpPr>
        <p:spPr>
          <a:xfrm>
            <a:off x="5723341" y="6303033"/>
            <a:ext cx="1207049" cy="2000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ja-JP" altLang="en-US" sz="7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短期と長期で各自設計</a:t>
            </a:r>
            <a:endParaRPr lang="ja-JP" altLang="ja-JP" sz="7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676230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E6EC7-8BED-7DDA-23DD-316D74FF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52;p28">
            <a:extLst>
              <a:ext uri="{FF2B5EF4-FFF2-40B4-BE49-F238E27FC236}">
                <a16:creationId xmlns:a16="http://schemas.microsoft.com/office/drawing/2014/main" id="{25B1FD88-3B25-D76E-99D7-CDD7E800E787}"/>
              </a:ext>
            </a:extLst>
          </p:cNvPr>
          <p:cNvSpPr txBox="1"/>
          <p:nvPr/>
        </p:nvSpPr>
        <p:spPr>
          <a:xfrm>
            <a:off x="548883" y="138137"/>
            <a:ext cx="627632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3233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施策展開図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09B81B2-1251-DE55-B4B3-220553E132F8}"/>
              </a:ext>
            </a:extLst>
          </p:cNvPr>
          <p:cNvSpPr/>
          <p:nvPr/>
        </p:nvSpPr>
        <p:spPr>
          <a:xfrm>
            <a:off x="0" y="777240"/>
            <a:ext cx="1802674" cy="5029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LINEOA</a:t>
            </a:r>
            <a:r>
              <a:rPr kumimoji="1" lang="ja-JP" altLang="en-US" sz="140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施策</a:t>
            </a:r>
          </a:p>
        </p:txBody>
      </p:sp>
      <p:sp>
        <p:nvSpPr>
          <p:cNvPr id="3" name="Google Shape;752;p28">
            <a:extLst>
              <a:ext uri="{FF2B5EF4-FFF2-40B4-BE49-F238E27FC236}">
                <a16:creationId xmlns:a16="http://schemas.microsoft.com/office/drawing/2014/main" id="{1E8D898A-0AF4-2505-8EE3-9F12824F6A59}"/>
              </a:ext>
            </a:extLst>
          </p:cNvPr>
          <p:cNvSpPr txBox="1"/>
          <p:nvPr/>
        </p:nvSpPr>
        <p:spPr>
          <a:xfrm>
            <a:off x="1988819" y="859442"/>
            <a:ext cx="7774305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LINEOA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施策においては、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友だちの新規追加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と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[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友だちの育成・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CV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動線</a:t>
            </a:r>
            <a:r>
              <a:rPr lang="en-US" altLang="ja-JP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]</a:t>
            </a:r>
            <a:r>
              <a:rPr lang="ja-JP" altLang="en-US" sz="16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が重要。</a:t>
            </a:r>
            <a:endParaRPr lang="en-US" altLang="ja-JP" sz="16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1C5FFF-B61A-EB8E-326E-072A0E269233}"/>
              </a:ext>
            </a:extLst>
          </p:cNvPr>
          <p:cNvSpPr/>
          <p:nvPr/>
        </p:nvSpPr>
        <p:spPr>
          <a:xfrm>
            <a:off x="3587358" y="1747110"/>
            <a:ext cx="860817" cy="143296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初期</a:t>
            </a:r>
            <a:endParaRPr kumimoji="1"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（初動）</a:t>
            </a:r>
            <a:endParaRPr kumimoji="1" lang="ja-JP" altLang="en-US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F32D58-29FF-60A6-17B5-A41ACCBE9449}"/>
              </a:ext>
            </a:extLst>
          </p:cNvPr>
          <p:cNvSpPr/>
          <p:nvPr/>
        </p:nvSpPr>
        <p:spPr>
          <a:xfrm>
            <a:off x="3587358" y="3321847"/>
            <a:ext cx="860817" cy="292127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月次</a:t>
            </a:r>
            <a:endParaRPr kumimoji="1" lang="en-US" altLang="ja-JP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20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（定例）</a:t>
            </a:r>
            <a:endParaRPr kumimoji="1" lang="ja-JP" altLang="en-US" sz="120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2EC6943-AA14-49EA-30CF-5D813BA45BFD}"/>
              </a:ext>
            </a:extLst>
          </p:cNvPr>
          <p:cNvSpPr/>
          <p:nvPr/>
        </p:nvSpPr>
        <p:spPr>
          <a:xfrm>
            <a:off x="336942" y="172938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離脱防止・ポップアップ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HP/LP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滞在時に、条件を満たすと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ポップアップバナーを表示する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436AF3F-C2E7-3494-0B01-4BC00578C5FF}"/>
              </a:ext>
            </a:extLst>
          </p:cNvPr>
          <p:cNvSpPr/>
          <p:nvPr/>
        </p:nvSpPr>
        <p:spPr>
          <a:xfrm>
            <a:off x="336942" y="2642195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通知メッセージ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ユーザーアクション時に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API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連携で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にメッセ送付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6B8D9E5A-638C-EACC-4E99-235D769FBAB5}"/>
              </a:ext>
            </a:extLst>
          </p:cNvPr>
          <p:cNvSpPr/>
          <p:nvPr/>
        </p:nvSpPr>
        <p:spPr>
          <a:xfrm>
            <a:off x="336942" y="3555007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誘導ツール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サイトの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CV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ページから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入力情報を引き継ぎ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へ自動遷移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40447B4-FBD9-E81D-7902-7B3BF84ED83A}"/>
              </a:ext>
            </a:extLst>
          </p:cNvPr>
          <p:cNvSpPr/>
          <p:nvPr/>
        </p:nvSpPr>
        <p:spPr>
          <a:xfrm>
            <a:off x="336942" y="4458293"/>
            <a:ext cx="2444358" cy="860956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ログイン・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ID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連携等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ログインに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ID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を使用</a:t>
            </a:r>
            <a:endParaRPr lang="en-US" altLang="ja-JP" sz="105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サイトユーザー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ID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と</a:t>
            </a:r>
            <a:r>
              <a:rPr lang="en-US" altLang="ja-JP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LINEID</a:t>
            </a:r>
            <a:r>
              <a:rPr lang="ja-JP" altLang="en-US" sz="105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を連携</a:t>
            </a:r>
            <a:endParaRPr kumimoji="1" lang="ja-JP" altLang="en-US" sz="105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D6C1FC9-285C-AE02-A175-C7061E1A753F}"/>
              </a:ext>
            </a:extLst>
          </p:cNvPr>
          <p:cNvSpPr/>
          <p:nvPr/>
        </p:nvSpPr>
        <p:spPr>
          <a:xfrm>
            <a:off x="336942" y="5361315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/ CPF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広告</a:t>
            </a:r>
            <a:endParaRPr kumimoji="1" lang="ja-JP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F6F515-C9A5-F22C-3E1C-CF4380DB9991}"/>
              </a:ext>
            </a:extLst>
          </p:cNvPr>
          <p:cNvSpPr/>
          <p:nvPr/>
        </p:nvSpPr>
        <p:spPr>
          <a:xfrm>
            <a:off x="336942" y="5829843"/>
            <a:ext cx="2444358" cy="432333"/>
          </a:xfrm>
          <a:prstGeom prst="roundRect">
            <a:avLst>
              <a:gd name="adj" fmla="val 547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スタンプ・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Pt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施策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156D598-0831-CD8B-6A89-EE3DAF51A5E9}"/>
              </a:ext>
            </a:extLst>
          </p:cNvPr>
          <p:cNvSpPr/>
          <p:nvPr/>
        </p:nvSpPr>
        <p:spPr>
          <a:xfrm>
            <a:off x="4482711" y="1756635"/>
            <a:ext cx="3233084" cy="14329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・リッチメニュー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・プロフ動線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・あいさつ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MSG</a:t>
            </a: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</a:t>
            </a:r>
            <a:r>
              <a:rPr kumimoji="1"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KW</a:t>
            </a:r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自動応答設定</a:t>
            </a:r>
            <a:endParaRPr kumimoji="1"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・友だち登録直後アンケート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kumimoji="1"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・再引上げ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アンケート</a:t>
            </a:r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・ステップ配信</a:t>
            </a:r>
            <a:r>
              <a:rPr lang="ja-JP" altLang="en-US" sz="900" dirty="0">
                <a:solidFill>
                  <a:schemeClr val="bg1">
                    <a:lumMod val="6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：特定アクション後◯日での自動配信</a:t>
            </a:r>
            <a:endParaRPr kumimoji="1" lang="ja-JP" altLang="en-US" sz="1200" dirty="0">
              <a:solidFill>
                <a:schemeClr val="bg1">
                  <a:lumMod val="6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24F01906-5193-F098-3B58-BDCC26D568EA}"/>
              </a:ext>
            </a:extLst>
          </p:cNvPr>
          <p:cNvSpPr/>
          <p:nvPr/>
        </p:nvSpPr>
        <p:spPr>
          <a:xfrm>
            <a:off x="4482711" y="3331372"/>
            <a:ext cx="3233084" cy="29212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新規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] </a:t>
            </a:r>
            <a:r>
              <a:rPr lang="ja-JP" altLang="en-US" sz="12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→ 月間投稿数</a:t>
            </a:r>
            <a:endParaRPr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・イベント配信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・クーポン配信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・企画配信（特定ターゲット）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・診断型配信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・お役立ちコラム・コンテンツ配信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・季節／時事ネタ配信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︙</a:t>
            </a:r>
          </a:p>
          <a:p>
            <a:endParaRPr lang="en-US" altLang="ja-JP" sz="1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[</a:t>
            </a:r>
            <a:r>
              <a:rPr lang="ja-JP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調整</a:t>
            </a:r>
            <a:r>
              <a:rPr lang="en-US" altLang="ja-JP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]</a:t>
            </a: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・アンケート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・自動応答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</a:t>
            </a:r>
            <a:r>
              <a:rPr lang="en-US" altLang="ja-JP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QA</a:t>
            </a:r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集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・リッチメニュー</a:t>
            </a:r>
            <a:endParaRPr lang="en-US" altLang="ja-JP" sz="1200" dirty="0">
              <a:solidFill>
                <a:schemeClr val="tx1">
                  <a:lumMod val="65000"/>
                  <a:lumOff val="3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・ステップ配信</a:t>
            </a:r>
          </a:p>
        </p:txBody>
      </p:sp>
      <p:sp>
        <p:nvSpPr>
          <p:cNvPr id="19" name="左大かっこ 18">
            <a:extLst>
              <a:ext uri="{FF2B5EF4-FFF2-40B4-BE49-F238E27FC236}">
                <a16:creationId xmlns:a16="http://schemas.microsoft.com/office/drawing/2014/main" id="{B9FF3DCE-9B05-09FE-7C2F-B104CD0105BE}"/>
              </a:ext>
            </a:extLst>
          </p:cNvPr>
          <p:cNvSpPr/>
          <p:nvPr/>
        </p:nvSpPr>
        <p:spPr>
          <a:xfrm>
            <a:off x="3210542" y="1800836"/>
            <a:ext cx="215932" cy="4398089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左大かっこ 23">
            <a:extLst>
              <a:ext uri="{FF2B5EF4-FFF2-40B4-BE49-F238E27FC236}">
                <a16:creationId xmlns:a16="http://schemas.microsoft.com/office/drawing/2014/main" id="{61357E78-5BD2-BBD8-1F18-B1985600E22B}"/>
              </a:ext>
            </a:extLst>
          </p:cNvPr>
          <p:cNvSpPr/>
          <p:nvPr/>
        </p:nvSpPr>
        <p:spPr>
          <a:xfrm flipH="1">
            <a:off x="2892035" y="1756635"/>
            <a:ext cx="215932" cy="4486491"/>
          </a:xfrm>
          <a:prstGeom prst="leftBracket">
            <a:avLst/>
          </a:prstGeom>
          <a:ln>
            <a:solidFill>
              <a:srgbClr val="04FA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56E6CFC0-FB45-E508-C7ED-E0F29C95F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90" y="2173993"/>
            <a:ext cx="582602" cy="543237"/>
          </a:xfrm>
          <a:prstGeom prst="rect">
            <a:avLst/>
          </a:prstGeom>
        </p:spPr>
      </p:pic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38D782E3-91EF-D26A-1906-21A51865A939}"/>
              </a:ext>
            </a:extLst>
          </p:cNvPr>
          <p:cNvCxnSpPr>
            <a:cxnSpLocks/>
          </p:cNvCxnSpPr>
          <p:nvPr/>
        </p:nvCxnSpPr>
        <p:spPr>
          <a:xfrm>
            <a:off x="231756" y="1521490"/>
            <a:ext cx="2654192" cy="0"/>
          </a:xfrm>
          <a:prstGeom prst="straightConnector1">
            <a:avLst/>
          </a:prstGeom>
          <a:ln w="28575">
            <a:solidFill>
              <a:srgbClr val="FFC00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9D8C8E0-0854-5217-A7F3-DBD2104BDFAF}"/>
              </a:ext>
            </a:extLst>
          </p:cNvPr>
          <p:cNvSpPr txBox="1"/>
          <p:nvPr/>
        </p:nvSpPr>
        <p:spPr>
          <a:xfrm>
            <a:off x="857833" y="1390138"/>
            <a:ext cx="1306788" cy="2616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友だちの新規追加</a:t>
            </a:r>
            <a:endParaRPr lang="ja-JP" altLang="en-US" sz="1050" dirty="0"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5F1B07-4D2C-4794-DAEA-D76D3E0CA8CF}"/>
              </a:ext>
            </a:extLst>
          </p:cNvPr>
          <p:cNvCxnSpPr>
            <a:cxnSpLocks/>
          </p:cNvCxnSpPr>
          <p:nvPr/>
        </p:nvCxnSpPr>
        <p:spPr>
          <a:xfrm>
            <a:off x="3248447" y="1521490"/>
            <a:ext cx="6173147" cy="0"/>
          </a:xfrm>
          <a:prstGeom prst="straightConnector1">
            <a:avLst/>
          </a:prstGeom>
          <a:ln w="28575">
            <a:solidFill>
              <a:schemeClr val="accent1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5E48196-7DAD-4F3E-ADDE-E36FAC475508}"/>
              </a:ext>
            </a:extLst>
          </p:cNvPr>
          <p:cNvSpPr txBox="1"/>
          <p:nvPr/>
        </p:nvSpPr>
        <p:spPr>
          <a:xfrm>
            <a:off x="5411256" y="1390138"/>
            <a:ext cx="1913269" cy="2539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LINE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友だちの育成・</a:t>
            </a:r>
            <a:r>
              <a:rPr lang="en-US" altLang="ja-JP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CV</a:t>
            </a:r>
            <a:r>
              <a:rPr lang="ja-JP" altLang="en-US" sz="10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化</a:t>
            </a:r>
            <a:endParaRPr lang="en-US" altLang="ja-JP" sz="10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  <a:sym typeface="Meiryo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4EA6E8F1-E33D-1FB9-E4AA-6AD1A2F6B651}"/>
              </a:ext>
            </a:extLst>
          </p:cNvPr>
          <p:cNvSpPr/>
          <p:nvPr/>
        </p:nvSpPr>
        <p:spPr>
          <a:xfrm>
            <a:off x="7750331" y="1748432"/>
            <a:ext cx="1818728" cy="449469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[</a:t>
            </a:r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ターゲット設定</a:t>
            </a:r>
            <a:r>
              <a:rPr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]</a:t>
            </a: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kumimoji="1"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kumimoji="1"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LINEOA</a:t>
            </a:r>
            <a:r>
              <a:rPr kumimoji="1"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オーガニック</a:t>
            </a:r>
            <a:endParaRPr kumimoji="1" lang="en-US" altLang="ja-JP" sz="12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年齢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/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性別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/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地域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…)</a:t>
            </a:r>
          </a:p>
          <a:p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(MSG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の</a:t>
            </a:r>
            <a:r>
              <a:rPr lang="en-US" altLang="ja-JP" sz="1050" dirty="0" err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Imp,Click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)</a:t>
            </a:r>
          </a:p>
          <a:p>
            <a:endParaRPr lang="en-US" altLang="ja-JP" sz="7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LINE_API</a:t>
            </a:r>
            <a:r>
              <a:rPr lang="ja-JP" altLang="en-US" sz="12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r>
              <a:rPr lang="ja-JP" altLang="en-US" sz="9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</a:t>
            </a:r>
            <a:r>
              <a:rPr lang="en-US" altLang="ja-JP" sz="9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有料</a:t>
            </a:r>
            <a:endParaRPr lang="en-US" altLang="ja-JP" sz="12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アンケート結果）</a:t>
            </a:r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(WEB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サイトアクション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)</a:t>
            </a:r>
          </a:p>
          <a:p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リマインド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/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再通知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)</a:t>
            </a:r>
          </a:p>
          <a:p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(ID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連携した情報ベース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)</a:t>
            </a:r>
          </a:p>
          <a:p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ユーザー一覧を取得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)</a:t>
            </a:r>
          </a:p>
          <a:p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ユーザー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ID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アップロード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)</a:t>
            </a:r>
          </a:p>
          <a:p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地点別スコアリング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)</a:t>
            </a:r>
          </a:p>
          <a:p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endParaRPr lang="en-US" altLang="ja-JP" sz="105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10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※MA</a:t>
            </a:r>
            <a:r>
              <a:rPr lang="ja-JP" altLang="en-US" sz="10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、</a:t>
            </a:r>
            <a:r>
              <a:rPr lang="en-US" altLang="ja-JP" sz="10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CRM</a:t>
            </a:r>
            <a:r>
              <a:rPr lang="ja-JP" altLang="en-US" sz="10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との連携</a:t>
            </a:r>
            <a:endParaRPr lang="en-US" altLang="ja-JP" sz="10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購入・リードデータ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)</a:t>
            </a:r>
          </a:p>
          <a:p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(</a:t>
            </a:r>
            <a:r>
              <a:rPr lang="ja-JP" altLang="en-US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ユーザー情報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 </a:t>
            </a:r>
            <a:r>
              <a:rPr lang="en-US" altLang="ja-JP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9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詳細</a:t>
            </a:r>
            <a:r>
              <a:rPr lang="en-US" altLang="ja-JP" sz="105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)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47CAADD-ECBD-1DCC-19D6-6433C921622E}"/>
              </a:ext>
            </a:extLst>
          </p:cNvPr>
          <p:cNvSpPr txBox="1"/>
          <p:nvPr/>
        </p:nvSpPr>
        <p:spPr>
          <a:xfrm>
            <a:off x="2178040" y="2694449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有料</a:t>
            </a:r>
            <a:endParaRPr lang="ja-JP" altLang="en-US" sz="8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00802062-F552-1DFA-430A-41800E76A220}"/>
              </a:ext>
            </a:extLst>
          </p:cNvPr>
          <p:cNvSpPr txBox="1"/>
          <p:nvPr/>
        </p:nvSpPr>
        <p:spPr>
          <a:xfrm>
            <a:off x="2370382" y="177323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有料</a:t>
            </a:r>
            <a:endParaRPr lang="ja-JP" altLang="en-US" sz="8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CDCAB868-C79D-2212-70C3-9EF559F32C21}"/>
              </a:ext>
            </a:extLst>
          </p:cNvPr>
          <p:cNvSpPr txBox="1"/>
          <p:nvPr/>
        </p:nvSpPr>
        <p:spPr>
          <a:xfrm>
            <a:off x="2456844" y="3619396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有料</a:t>
            </a:r>
            <a:endParaRPr lang="ja-JP" altLang="en-US" sz="8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2ECFC3F-A285-F105-30CE-9144EBB24A11}"/>
              </a:ext>
            </a:extLst>
          </p:cNvPr>
          <p:cNvSpPr txBox="1"/>
          <p:nvPr/>
        </p:nvSpPr>
        <p:spPr>
          <a:xfrm>
            <a:off x="2518621" y="4576567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有料</a:t>
            </a:r>
            <a:endParaRPr lang="ja-JP" altLang="en-US" sz="8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AB193A-8274-ABE1-CD3D-54790C3264F6}"/>
              </a:ext>
            </a:extLst>
          </p:cNvPr>
          <p:cNvSpPr txBox="1"/>
          <p:nvPr/>
        </p:nvSpPr>
        <p:spPr>
          <a:xfrm>
            <a:off x="2210158" y="5478733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有料</a:t>
            </a:r>
            <a:endParaRPr lang="ja-JP" altLang="en-US" sz="8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096A37B9-CA3D-92C9-1405-86C6FFCD8C5A}"/>
              </a:ext>
            </a:extLst>
          </p:cNvPr>
          <p:cNvSpPr txBox="1"/>
          <p:nvPr/>
        </p:nvSpPr>
        <p:spPr>
          <a:xfrm>
            <a:off x="2214724" y="5963211"/>
            <a:ext cx="62602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有料</a:t>
            </a:r>
            <a:endParaRPr lang="ja-JP" altLang="en-US" sz="8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AA71FB07-E583-8196-5077-2EAA10A61A0F}"/>
              </a:ext>
            </a:extLst>
          </p:cNvPr>
          <p:cNvSpPr txBox="1"/>
          <p:nvPr/>
        </p:nvSpPr>
        <p:spPr>
          <a:xfrm>
            <a:off x="285223" y="6291679"/>
            <a:ext cx="25472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その他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サイト動線整備、プレスリリース等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3BE3835-FB68-0C7D-7CED-C40A02A19AB2}"/>
              </a:ext>
            </a:extLst>
          </p:cNvPr>
          <p:cNvSpPr txBox="1"/>
          <p:nvPr/>
        </p:nvSpPr>
        <p:spPr>
          <a:xfrm>
            <a:off x="6149585" y="3424747"/>
            <a:ext cx="11749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lang="ja-JP" altLang="en-US" sz="8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数量により変動</a:t>
            </a:r>
            <a:endParaRPr lang="ja-JP" altLang="en-US" sz="8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47E1216-C9D3-60D3-B3E8-43E38B5791F4}"/>
              </a:ext>
            </a:extLst>
          </p:cNvPr>
          <p:cNvSpPr txBox="1"/>
          <p:nvPr/>
        </p:nvSpPr>
        <p:spPr>
          <a:xfrm>
            <a:off x="3587357" y="6286698"/>
            <a:ext cx="412843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クリエイティブ費用は基本的に内包、開発費用は別途見積もりとなります。</a:t>
            </a:r>
            <a:endParaRPr lang="ja-JP" altLang="en-US" sz="800" dirty="0">
              <a:solidFill>
                <a:schemeClr val="bg1">
                  <a:lumMod val="50000"/>
                </a:schemeClr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256C170-205B-2224-D69D-D964BF991C26}"/>
              </a:ext>
            </a:extLst>
          </p:cNvPr>
          <p:cNvSpPr/>
          <p:nvPr/>
        </p:nvSpPr>
        <p:spPr>
          <a:xfrm>
            <a:off x="7664076" y="1733928"/>
            <a:ext cx="1904982" cy="4562295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3354487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endParaRPr lang="ja-JP" altLang="en-US">
              <a:solidFill>
                <a:prstClr val="black"/>
              </a:solidFill>
              <a:latin typeface="メイリオ" pitchFamily="34" charset="0"/>
              <a:ea typeface="メイリオ" pitchFamily="50" charset="-128"/>
              <a:cs typeface="メイリオ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>
                <a:latin typeface="メイリオ"/>
                <a:ea typeface="メイリオ"/>
                <a:cs typeface="メイリオ"/>
              </a:defRPr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現状と課題｜予約から来場まで、LINEでつながっていない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725334"/>
            <a:ext cx="9111472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来場者獲得単価を、今の37,500円から24,000円以下へ。申込みCPAと来場率の両方で改善する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現状と目標 5"/>
          <p:cNvGraphicFramePr>
            <a:graphicFrameLocks noGrp="1"/>
          </p:cNvGraphicFramePr>
          <p:nvPr/>
        </p:nvGraphicFramePr>
        <p:xfrm>
          <a:off x="640080" y="1960930"/>
          <a:ext cx="4389120" cy="2487168"/>
        </p:xfrm>
        <a:graphic>
          <a:graphicData uri="http://schemas.openxmlformats.org/drawingml/2006/table">
            <a:tbl>
              <a:tblPr/>
              <a:tblGrid>
                <a:gridCol w="1737360"/>
                <a:gridCol w="1325880"/>
                <a:gridCol w="1325880"/>
              </a:tblGrid>
              <a:tr h="3840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現状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目標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C5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申込みCPA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30,000円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19,000円以下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申込み件数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約40件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63件以上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来場率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80%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80%以上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実来場者数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約32人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50人以上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来場者獲得単価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約37,500円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24,000円以下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注記"/>
          <p:cNvSpPr/>
          <p:nvPr/>
        </p:nvSpPr>
        <p:spPr>
          <a:xfrm>
            <a:off x="640080" y="4493818"/>
            <a:ext cx="86227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※1開催あたり（広告予算120万円）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流れ1"/>
          <p:cNvSpPr/>
          <p:nvPr/>
        </p:nvSpPr>
        <p:spPr>
          <a:xfrm>
            <a:off x="5486400" y="1960930"/>
            <a:ext cx="3776472" cy="457200"/>
          </a:xfrm>
          <a:prstGeom prst="rect">
            <a:avLst/>
          </a:prstGeom>
          <a:solidFill>
            <a:srgbClr val="1F2C5C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WEBで来場予約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矢印"/>
          <p:cNvSpPr/>
          <p:nvPr/>
        </p:nvSpPr>
        <p:spPr>
          <a:xfrm>
            <a:off x="5486400" y="2418130"/>
            <a:ext cx="377647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1200" b="0" dirty="0">
                <a:solidFill>
                  <a:srgbClr val="1F2C5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▼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流れ2"/>
          <p:cNvSpPr/>
          <p:nvPr/>
        </p:nvSpPr>
        <p:spPr>
          <a:xfrm>
            <a:off x="5486400" y="2692450"/>
            <a:ext cx="3776472" cy="4572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1F2C5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予約確認メール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切れる"/>
          <p:cNvSpPr/>
          <p:nvPr/>
        </p:nvSpPr>
        <p:spPr>
          <a:xfrm>
            <a:off x="5486400" y="3195369"/>
            <a:ext cx="3776472" cy="777240"/>
          </a:xfrm>
          <a:prstGeom prst="rect">
            <a:avLst/>
          </a:prstGeom>
          <a:noFill/>
          <a:ln w="9525">
            <a:solidFill>
              <a:srgbClr val="C00000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予約から当日まで、LINEでつながっていない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キャンセル 20%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流れ3"/>
          <p:cNvSpPr/>
          <p:nvPr/>
        </p:nvSpPr>
        <p:spPr>
          <a:xfrm>
            <a:off x="5486400" y="4018329"/>
            <a:ext cx="3776472" cy="457200"/>
          </a:xfrm>
          <a:prstGeom prst="rect">
            <a:avLst/>
          </a:prstGeom>
          <a:solidFill>
            <a:srgbClr val="DCE6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1F2C5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当日の受付でLINE登録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注記"/>
          <p:cNvSpPr/>
          <p:nvPr/>
        </p:nvSpPr>
        <p:spPr>
          <a:xfrm>
            <a:off x="5486400" y="4493818"/>
            <a:ext cx="37764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※くふうイエタテフェアのサイトより（2026年10月19日確認）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示唆"/>
          <p:cNvSpPr/>
          <p:nvPr/>
        </p:nvSpPr>
        <p:spPr>
          <a:xfrm>
            <a:off x="640080" y="4932730"/>
            <a:ext cx="8622792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500" b="1" dirty="0">
                <a:solidFill>
                  <a:srgbClr val="1F2C5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予約の直後にLINEでつながれば、当日までの案内で来場率を上げられる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350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F2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7750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9000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施策全体の 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CPA</a:t>
            </a: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 改善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3750" y="1548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8" name="Isosceles Triangle 7"/>
          <p:cNvSpPr/>
          <p:nvPr/>
        </p:nvSpPr>
        <p:spPr>
          <a:xfrm rot="10800000">
            <a:off x="2685150" y="1998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23750" y="2142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2685150" y="2592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23750" y="2736000"/>
            <a:ext cx="3451500" cy="413999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 × 成果報酬施策</a:t>
            </a: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2685150" y="3186000"/>
            <a:ext cx="128700" cy="108000"/>
          </a:xfrm>
          <a:prstGeom prst="triangl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23750" y="3330000"/>
            <a:ext cx="34515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000" y="3888000"/>
            <a:ext cx="3861000" cy="50399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CVの取りこぼしを減らし、獲得チャネルを増やすことで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施策全体のCPAを改善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0250" y="792000"/>
            <a:ext cx="4212000" cy="3564000"/>
          </a:xfrm>
          <a:prstGeom prst="roundRect">
            <a:avLst>
              <a:gd name="adj" fmla="val 4000"/>
            </a:avLst>
          </a:prstGeom>
          <a:solidFill>
            <a:srgbClr val="EE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294250" y="990000"/>
            <a:ext cx="1053000" cy="324000"/>
          </a:xfrm>
          <a:prstGeom prst="roundRect">
            <a:avLst>
              <a:gd name="adj" fmla="val 50000"/>
            </a:avLst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CV獲得後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749" y="864000"/>
            <a:ext cx="2749500" cy="57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CPO</a:t>
            </a:r>
            <a:r>
              <a:rPr sz="1500" b="1">
                <a:solidFill>
                  <a:srgbClr val="0E8A3F"/>
                </a:solidFill>
                <a:latin typeface="メイリオ"/>
                <a:ea typeface="メイリオ"/>
                <a:cs typeface="メイリオ"/>
              </a:rPr>
              <a:t> の改善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40500" y="1548000"/>
            <a:ext cx="3451500" cy="413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9" name="Isosceles Triangle 18"/>
          <p:cNvSpPr/>
          <p:nvPr/>
        </p:nvSpPr>
        <p:spPr>
          <a:xfrm rot="10800000">
            <a:off x="7101900" y="1998000"/>
            <a:ext cx="128700" cy="108000"/>
          </a:xfrm>
          <a:prstGeom prst="triangle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40500" y="2142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1" name="Isosceles Triangle 20"/>
          <p:cNvSpPr/>
          <p:nvPr/>
        </p:nvSpPr>
        <p:spPr>
          <a:xfrm rot="10800000">
            <a:off x="7101900" y="2592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40500" y="2736000"/>
            <a:ext cx="3451500" cy="413999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LINEでナーチャリング</a:t>
            </a:r>
          </a:p>
        </p:txBody>
      </p:sp>
      <p:sp>
        <p:nvSpPr>
          <p:cNvPr id="23" name="Isosceles Triangle 22"/>
          <p:cNvSpPr/>
          <p:nvPr/>
        </p:nvSpPr>
        <p:spPr>
          <a:xfrm rot="10800000">
            <a:off x="7101900" y="3186000"/>
            <a:ext cx="128700" cy="108000"/>
          </a:xfrm>
          <a:prstGeom prst="triangle">
            <a:avLst/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40500" y="3330000"/>
            <a:ext cx="3451500" cy="413999"/>
          </a:xfrm>
          <a:prstGeom prst="rect">
            <a:avLst/>
          </a:prstGeom>
          <a:solidFill>
            <a:srgbClr val="0E8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9250" tIns="0" rIns="2925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購入・契約などの最終成果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5750" y="3888000"/>
            <a:ext cx="3861000" cy="503999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CV後の歩留まりを改善し、CPOを改善</a:t>
            </a:r>
          </a:p>
        </p:txBody>
      </p:sp>
      <p:sp>
        <p:nvSpPr>
          <p:cNvPr id="26" name="Pentagon 25"/>
          <p:cNvSpPr/>
          <p:nvPr/>
        </p:nvSpPr>
        <p:spPr>
          <a:xfrm>
            <a:off x="643500" y="4536000"/>
            <a:ext cx="2934750" cy="684000"/>
          </a:xfrm>
          <a:prstGeom prst="homePlate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0500" y="4536000"/>
            <a:ext cx="2583749" cy="68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CPOの改善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1件の最終成果あたりの広告費を抑えられる</a:t>
            </a:r>
          </a:p>
        </p:txBody>
      </p:sp>
      <p:sp>
        <p:nvSpPr>
          <p:cNvPr id="28" name="Chevron 27"/>
          <p:cNvSpPr/>
          <p:nvPr/>
        </p:nvSpPr>
        <p:spPr>
          <a:xfrm>
            <a:off x="3490500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753750" y="4536000"/>
            <a:ext cx="2437499" cy="68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許容CPAの引き上げ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1件の最終成果にかけられる広告費が増える</a:t>
            </a:r>
          </a:p>
        </p:txBody>
      </p:sp>
      <p:sp>
        <p:nvSpPr>
          <p:cNvPr id="30" name="Chevron 29"/>
          <p:cNvSpPr/>
          <p:nvPr/>
        </p:nvSpPr>
        <p:spPr>
          <a:xfrm>
            <a:off x="6337499" y="4536000"/>
            <a:ext cx="2934750" cy="684000"/>
          </a:xfrm>
          <a:prstGeom prst="chevron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00749" y="4536000"/>
            <a:ext cx="2437499" cy="68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広告配信の拡大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入札・予算・配信対象を広げやすくなる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26000" y="5256000"/>
            <a:ext cx="0" cy="16200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9750" y="5418000"/>
            <a:ext cx="833625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789750" y="5263200"/>
            <a:ext cx="0" cy="1548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3349124" y="5292000"/>
            <a:ext cx="3217500" cy="251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さらに成果が増えれば、再投資して継続的に拡大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3500" y="5652000"/>
            <a:ext cx="8628750" cy="612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広告とあわせて実施することで、</a:t>
            </a:r>
            <a:r>
              <a:rPr sz="1600" b="1">
                <a:solidFill>
                  <a:srgbClr val="FFE400"/>
                </a:solidFill>
                <a:latin typeface="メイリオ"/>
                <a:ea typeface="メイリオ"/>
                <a:cs typeface="メイリオ"/>
              </a:rPr>
              <a:t>事業全体の効率化</a:t>
            </a: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を図る。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Google Shape;752;p28">
            <a:extLst>
              <a:ext uri="{FF2B5EF4-FFF2-40B4-BE49-F238E27FC236}">
                <a16:creationId xmlns:a16="http://schemas.microsoft.com/office/drawing/2014/main" id="{AA80CD04-9456-70DB-2E44-D3EDB1461933}"/>
              </a:ext>
            </a:extLst>
          </p:cNvPr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  <a:sym typeface="Meiryo"/>
              </a:rPr>
              <a:t>サンクスLINE｜機能・費用</a:t>
            </a:r>
            <a:endParaRPr lang="en-US" altLang="ja-JP"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2BBF438-B1EF-A61A-EE3D-69CD39766C7E}"/>
              </a:ext>
            </a:extLst>
          </p:cNvPr>
          <p:cNvSpPr/>
          <p:nvPr/>
        </p:nvSpPr>
        <p:spPr>
          <a:xfrm>
            <a:off x="6123840" y="2187780"/>
            <a:ext cx="2487570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A1E4128-77DC-C871-EE20-5BD43326E078}"/>
              </a:ext>
            </a:extLst>
          </p:cNvPr>
          <p:cNvSpPr/>
          <p:nvPr/>
        </p:nvSpPr>
        <p:spPr>
          <a:xfrm>
            <a:off x="6123841" y="4317370"/>
            <a:ext cx="2487569" cy="1821208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37BB268-660A-FEE4-BB39-0E338F1DDC23}"/>
              </a:ext>
            </a:extLst>
          </p:cNvPr>
          <p:cNvSpPr/>
          <p:nvPr/>
        </p:nvSpPr>
        <p:spPr>
          <a:xfrm>
            <a:off x="6161261" y="20331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未追加の場合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FF4626-FD17-CA1C-8064-F46606D0BCCE}"/>
              </a:ext>
            </a:extLst>
          </p:cNvPr>
          <p:cNvSpPr/>
          <p:nvPr/>
        </p:nvSpPr>
        <p:spPr>
          <a:xfrm>
            <a:off x="6161261" y="4195296"/>
            <a:ext cx="1315634" cy="244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en-US" altLang="ja-JP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追加済みの場合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F202453-7FF9-8AE7-D10D-66F74A74A2F4}"/>
              </a:ext>
            </a:extLst>
          </p:cNvPr>
          <p:cNvCxnSpPr>
            <a:cxnSpLocks/>
          </p:cNvCxnSpPr>
          <p:nvPr/>
        </p:nvCxnSpPr>
        <p:spPr>
          <a:xfrm flipV="1">
            <a:off x="5819550" y="2932418"/>
            <a:ext cx="318138" cy="42170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92F6E28-BBFF-1A56-AC22-CA16D2F1B1EA}"/>
              </a:ext>
            </a:extLst>
          </p:cNvPr>
          <p:cNvCxnSpPr>
            <a:cxnSpLocks/>
          </p:cNvCxnSpPr>
          <p:nvPr/>
        </p:nvCxnSpPr>
        <p:spPr>
          <a:xfrm>
            <a:off x="5819550" y="3354124"/>
            <a:ext cx="280718" cy="1392760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図 44" descr="グラフィカル ユーザー インターフェイス, アプリケーション, Teams&#10;&#10;AI 生成コンテンツは誤りを含む可能性があります。">
            <a:extLst>
              <a:ext uri="{FF2B5EF4-FFF2-40B4-BE49-F238E27FC236}">
                <a16:creationId xmlns:a16="http://schemas.microsoft.com/office/drawing/2014/main" id="{E91CA7A5-62B3-F1F8-38C3-DDCE33E1CC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18319" y="2216626"/>
            <a:ext cx="1000253" cy="1694141"/>
          </a:xfrm>
          <a:prstGeom prst="rect">
            <a:avLst/>
          </a:prstGeom>
        </p:spPr>
      </p:pic>
      <p:pic>
        <p:nvPicPr>
          <p:cNvPr id="46" name="図 45" descr="電卓の写真のスマートフォン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31EEAD2C-3BE8-0210-FD8E-46D52B30A0A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7527889" y="4316771"/>
            <a:ext cx="1000253" cy="1694142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989AEB3-EF0E-8885-B426-8B6A5E01F40A}"/>
              </a:ext>
            </a:extLst>
          </p:cNvPr>
          <p:cNvSpPr txBox="1"/>
          <p:nvPr/>
        </p:nvSpPr>
        <p:spPr>
          <a:xfrm>
            <a:off x="6161261" y="2552900"/>
            <a:ext cx="1227667" cy="430887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友だち登録ページ</a:t>
            </a:r>
            <a:r>
              <a:rPr lang="ja-JP" altLang="en-US" sz="85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</a:t>
            </a:r>
            <a:endParaRPr lang="en-US" altLang="ja-JP" sz="85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85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遷移する。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4E6D08E3-E0B3-1DF4-0533-E4EE67240415}"/>
              </a:ext>
            </a:extLst>
          </p:cNvPr>
          <p:cNvSpPr txBox="1"/>
          <p:nvPr/>
        </p:nvSpPr>
        <p:spPr>
          <a:xfrm>
            <a:off x="6138617" y="4735255"/>
            <a:ext cx="1338278" cy="261610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トーク画面</a:t>
            </a:r>
            <a:r>
              <a:rPr lang="ja-JP" altLang="en-US" sz="850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へ遷移する。</a:t>
            </a:r>
            <a:endParaRPr lang="en-US" altLang="ja-JP" sz="850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56" name="図 55">
            <a:extLst>
              <a:ext uri="{FF2B5EF4-FFF2-40B4-BE49-F238E27FC236}">
                <a16:creationId xmlns:a16="http://schemas.microsoft.com/office/drawing/2014/main" id="{0B7B313D-7D5F-4357-9B38-DFC3DBC5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73" y="2993645"/>
            <a:ext cx="921141" cy="89556"/>
          </a:xfrm>
          <a:prstGeom prst="rect">
            <a:avLst/>
          </a:prstGeom>
        </p:spPr>
      </p:pic>
      <p:pic>
        <p:nvPicPr>
          <p:cNvPr id="57" name="図 56">
            <a:extLst>
              <a:ext uri="{FF2B5EF4-FFF2-40B4-BE49-F238E27FC236}">
                <a16:creationId xmlns:a16="http://schemas.microsoft.com/office/drawing/2014/main" id="{A8EA42C4-338F-850B-B276-B83DC2A73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776" y="2992938"/>
            <a:ext cx="389971" cy="86660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CCB04072-A708-EEE7-1345-D4C9E9FA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883" y="4314411"/>
            <a:ext cx="271710" cy="60381"/>
          </a:xfrm>
          <a:prstGeom prst="rect">
            <a:avLst/>
          </a:prstGeom>
        </p:spPr>
      </p:pic>
      <p:pic>
        <p:nvPicPr>
          <p:cNvPr id="59" name="図 58">
            <a:extLst>
              <a:ext uri="{FF2B5EF4-FFF2-40B4-BE49-F238E27FC236}">
                <a16:creationId xmlns:a16="http://schemas.microsoft.com/office/drawing/2014/main" id="{EDED354B-362F-AAF7-76A6-52D8547EDC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708" y="4438236"/>
            <a:ext cx="271710" cy="60381"/>
          </a:xfrm>
          <a:prstGeom prst="rect">
            <a:avLst/>
          </a:prstGeom>
        </p:spPr>
      </p:pic>
      <p:sp>
        <p:nvSpPr>
          <p:cNvPr id="1030" name="楕円 1029">
            <a:extLst>
              <a:ext uri="{FF2B5EF4-FFF2-40B4-BE49-F238E27FC236}">
                <a16:creationId xmlns:a16="http://schemas.microsoft.com/office/drawing/2014/main" id="{A0934BB8-8F8D-D4F0-8D59-8F32A6A6E03A}"/>
              </a:ext>
            </a:extLst>
          </p:cNvPr>
          <p:cNvSpPr/>
          <p:nvPr/>
        </p:nvSpPr>
        <p:spPr>
          <a:xfrm>
            <a:off x="7855110" y="2635250"/>
            <a:ext cx="321750" cy="32175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ロゴ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593FC72-954C-48DC-E845-1A5FCE4C9E00}"/>
              </a:ext>
            </a:extLst>
          </p:cNvPr>
          <p:cNvSpPr/>
          <p:nvPr/>
        </p:nvSpPr>
        <p:spPr>
          <a:xfrm>
            <a:off x="1227370" y="2027927"/>
            <a:ext cx="1142154" cy="2841034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6" name="二等辺三角形 35">
            <a:extLst>
              <a:ext uri="{FF2B5EF4-FFF2-40B4-BE49-F238E27FC236}">
                <a16:creationId xmlns:a16="http://schemas.microsoft.com/office/drawing/2014/main" id="{626832A8-575E-5E2B-73F4-BE5567514E57}"/>
              </a:ext>
            </a:extLst>
          </p:cNvPr>
          <p:cNvSpPr/>
          <p:nvPr/>
        </p:nvSpPr>
        <p:spPr>
          <a:xfrm rot="5400000">
            <a:off x="2403221" y="3262734"/>
            <a:ext cx="205320" cy="182781"/>
          </a:xfrm>
          <a:prstGeom prst="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8671F13-F479-AFF6-9832-C7C00D2D05EE}"/>
              </a:ext>
            </a:extLst>
          </p:cNvPr>
          <p:cNvSpPr/>
          <p:nvPr/>
        </p:nvSpPr>
        <p:spPr>
          <a:xfrm>
            <a:off x="1227370" y="4624810"/>
            <a:ext cx="1142154" cy="24415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ja-JP" altLang="en-US" sz="8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</a:t>
            </a:r>
          </a:p>
        </p:txBody>
      </p:sp>
      <p:pic>
        <p:nvPicPr>
          <p:cNvPr id="55" name="図 54">
            <a:extLst>
              <a:ext uri="{FF2B5EF4-FFF2-40B4-BE49-F238E27FC236}">
                <a16:creationId xmlns:a16="http://schemas.microsoft.com/office/drawing/2014/main" id="{8AF12F67-4C9A-867F-4608-8FE9DA811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592" y="2426061"/>
            <a:ext cx="1015294" cy="1834505"/>
          </a:xfrm>
          <a:prstGeom prst="rect">
            <a:avLst/>
          </a:prstGeom>
        </p:spPr>
      </p:pic>
      <p:sp>
        <p:nvSpPr>
          <p:cNvPr id="1032" name="正方形/長方形 1031">
            <a:extLst>
              <a:ext uri="{FF2B5EF4-FFF2-40B4-BE49-F238E27FC236}">
                <a16:creationId xmlns:a16="http://schemas.microsoft.com/office/drawing/2014/main" id="{D1D96D42-255C-636E-49E5-2CDA95DD6764}"/>
              </a:ext>
            </a:extLst>
          </p:cNvPr>
          <p:cNvSpPr/>
          <p:nvPr/>
        </p:nvSpPr>
        <p:spPr>
          <a:xfrm>
            <a:off x="2636579" y="2000983"/>
            <a:ext cx="1225682" cy="2841034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34" name="正方形/長方形 1033">
            <a:extLst>
              <a:ext uri="{FF2B5EF4-FFF2-40B4-BE49-F238E27FC236}">
                <a16:creationId xmlns:a16="http://schemas.microsoft.com/office/drawing/2014/main" id="{8693E451-BCB1-207B-6B73-131F2A8588BF}"/>
              </a:ext>
            </a:extLst>
          </p:cNvPr>
          <p:cNvSpPr/>
          <p:nvPr/>
        </p:nvSpPr>
        <p:spPr>
          <a:xfrm>
            <a:off x="2634349" y="4603503"/>
            <a:ext cx="1225683" cy="2441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ja-JP" altLang="en-US" sz="850" b="1" dirty="0"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サンクス画面へ</a:t>
            </a:r>
            <a:endParaRPr lang="en-US" altLang="ja-JP" sz="850" b="1" dirty="0"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pic>
        <p:nvPicPr>
          <p:cNvPr id="1038" name="図 1037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5260668-6C66-A032-FFE0-0276021F943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0"/>
          <a:stretch>
            <a:fillRect/>
          </a:stretch>
        </p:blipFill>
        <p:spPr>
          <a:xfrm>
            <a:off x="2729673" y="2467099"/>
            <a:ext cx="1066362" cy="1789421"/>
          </a:xfrm>
          <a:prstGeom prst="rect">
            <a:avLst/>
          </a:prstGeom>
        </p:spPr>
      </p:pic>
      <p:pic>
        <p:nvPicPr>
          <p:cNvPr id="1039" name="Picture 2" descr="買い物完了！イラスト｜無料イラスト・フリー素材なら「イラストAC」">
            <a:extLst>
              <a:ext uri="{FF2B5EF4-FFF2-40B4-BE49-F238E27FC236}">
                <a16:creationId xmlns:a16="http://schemas.microsoft.com/office/drawing/2014/main" id="{23D05307-D6FE-6284-27D3-3433EE0122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70" r="23682"/>
          <a:stretch>
            <a:fillRect/>
          </a:stretch>
        </p:blipFill>
        <p:spPr bwMode="auto">
          <a:xfrm>
            <a:off x="3827019" y="1842964"/>
            <a:ext cx="250223" cy="33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6D8F54-2926-2D56-7238-F66ACCBC4F20}"/>
              </a:ext>
            </a:extLst>
          </p:cNvPr>
          <p:cNvGrpSpPr/>
          <p:nvPr/>
        </p:nvGrpSpPr>
        <p:grpSpPr>
          <a:xfrm>
            <a:off x="1370199" y="777681"/>
            <a:ext cx="2523077" cy="485102"/>
            <a:chOff x="507969" y="928495"/>
            <a:chExt cx="3105325" cy="485102"/>
          </a:xfrm>
        </p:grpSpPr>
        <p:sp>
          <p:nvSpPr>
            <p:cNvPr id="4" name="Google Shape;51;p19">
              <a:extLst>
                <a:ext uri="{FF2B5EF4-FFF2-40B4-BE49-F238E27FC236}">
                  <a16:creationId xmlns:a16="http://schemas.microsoft.com/office/drawing/2014/main" id="{98F6BB16-EFC6-9846-2A11-E624E876E64B}"/>
                </a:ext>
              </a:extLst>
            </p:cNvPr>
            <p:cNvSpPr/>
            <p:nvPr/>
          </p:nvSpPr>
          <p:spPr>
            <a:xfrm>
              <a:off x="507969" y="928495"/>
              <a:ext cx="3105325" cy="485102"/>
            </a:xfrm>
            <a:prstGeom prst="roundRect">
              <a:avLst>
                <a:gd name="adj" fmla="val 16667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74282" tIns="45700" rIns="74282" bIns="45700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 algn="ctr">
                <a:buSzPts val="1400"/>
              </a:pPr>
              <a:endParaRPr b="1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560EDF30-5F09-B70A-2993-8CD4F9E40EFA}"/>
                </a:ext>
              </a:extLst>
            </p:cNvPr>
            <p:cNvSpPr txBox="1"/>
            <p:nvPr/>
          </p:nvSpPr>
          <p:spPr>
            <a:xfrm>
              <a:off x="1140096" y="988192"/>
              <a:ext cx="1832553" cy="357790"/>
            </a:xfrm>
            <a:prstGeom prst="rect">
              <a:avLst/>
            </a:prstGeom>
            <a:noFill/>
          </p:spPr>
          <p:txBody>
            <a:bodyPr wrap="none" rtlCol="0" lIns="74295" rIns="74295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100" b="0" i="0" u="none" strike="noStrike" cap="none">
                  <a:solidFill>
                    <a:srgbClr val="000000"/>
                  </a:solidFill>
                  <a:latin typeface="メイリオ"/>
                  <a:ea typeface="メイリオ"/>
                  <a:cs typeface="メイリオ"/>
                  <a:sym typeface="Arial"/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  <a:cs typeface="メイリオ"/>
                </a:rPr>
                <a:t>サンクス</a:t>
              </a:r>
              <a:r>
                <a:rPr lang="en-US" altLang="ja-JP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  <a:cs typeface="メイリオ"/>
                </a:rPr>
                <a:t>LINE</a:t>
              </a:r>
              <a:r>
                <a:rPr lang="ja-JP" altLang="en-US" sz="1200" b="1" dirty="0">
                  <a:solidFill>
                    <a:schemeClr val="bg1"/>
                  </a:solidFill>
                  <a:latin typeface="メイリオ" panose="020B0604030504040204" pitchFamily="34" charset="-128"/>
                  <a:ea typeface="メイリオ" panose="020B0604030504040204" pitchFamily="34" charset="-128"/>
                  <a:cs typeface="メイリオ"/>
                </a:rPr>
                <a:t>誘導</a:t>
              </a:r>
            </a:p>
          </p:txBody>
        </p:sp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20BFF3-9D3E-A4D7-FF5A-70927F78FC9D}"/>
              </a:ext>
            </a:extLst>
          </p:cNvPr>
          <p:cNvSpPr/>
          <p:nvPr/>
        </p:nvSpPr>
        <p:spPr>
          <a:xfrm>
            <a:off x="7729169" y="4623314"/>
            <a:ext cx="730843" cy="649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C4FF56C-47EE-47DB-92F1-3F0EF57613D9}"/>
              </a:ext>
            </a:extLst>
          </p:cNvPr>
          <p:cNvSpPr/>
          <p:nvPr/>
        </p:nvSpPr>
        <p:spPr>
          <a:xfrm>
            <a:off x="4180596" y="846996"/>
            <a:ext cx="4575836" cy="338554"/>
          </a:xfrm>
          <a:prstGeom prst="rect">
            <a:avLst/>
          </a:prstGeom>
        </p:spPr>
        <p:txBody>
          <a:bodyPr wrap="square" lIns="74295" rIns="74295">
            <a:spAutoFit/>
          </a:bodyPr>
          <a:lstStyle/>
          <a:p>
            <a:pPr lvl="0">
              <a:buClr>
                <a:schemeClr val="dk1"/>
              </a:buClr>
              <a:buSzPts val="1500"/>
            </a:pPr>
            <a:r>
              <a:rPr lang="ja-JP" altLang="en-US" sz="1300" dirty="0">
                <a:latin typeface="メイリオ"/>
                <a:ea typeface="メイリオ"/>
                <a:cs typeface="メイリオ"/>
                <a:sym typeface="Meiryo"/>
              </a:rPr>
              <a:t>フォーム送信後の</a:t>
            </a:r>
            <a:r>
              <a:rPr lang="en-US" altLang="ja-JP" sz="1300" dirty="0">
                <a:latin typeface="メイリオ"/>
                <a:ea typeface="メイリオ"/>
                <a:cs typeface="メイリオ"/>
                <a:sym typeface="Meiryo"/>
              </a:rPr>
              <a:t>LINE</a:t>
            </a:r>
            <a:r>
              <a:rPr lang="ja-JP" altLang="en-US" sz="1300" dirty="0">
                <a:latin typeface="メイリオ"/>
                <a:ea typeface="メイリオ"/>
                <a:cs typeface="メイリオ"/>
                <a:sym typeface="Meiryo"/>
              </a:rPr>
              <a:t>誘導を自動化するツール</a:t>
            </a:r>
            <a:endParaRPr lang="en-US" altLang="ja-JP" sz="1300" dirty="0"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ED6F7D2-546D-BF9F-9805-58455D7E2831}"/>
              </a:ext>
            </a:extLst>
          </p:cNvPr>
          <p:cNvSpPr txBox="1"/>
          <p:nvPr/>
        </p:nvSpPr>
        <p:spPr>
          <a:xfrm>
            <a:off x="4180597" y="1172815"/>
            <a:ext cx="3833883" cy="253916"/>
          </a:xfrm>
          <a:prstGeom prst="rect">
            <a:avLst/>
          </a:prstGeom>
          <a:noFill/>
        </p:spPr>
        <p:txBody>
          <a:bodyPr wrap="square" lIns="74295" rIns="74295">
            <a:spAutoFit/>
          </a:bodyPr>
          <a:lstStyle/>
          <a:p>
            <a:r>
              <a:rPr lang="en-US" altLang="ja-JP" sz="8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※</a:t>
            </a:r>
            <a:r>
              <a:rPr lang="ja-JP" altLang="en-US" sz="8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既存</a:t>
            </a:r>
            <a:r>
              <a:rPr lang="en-US" altLang="ja-JP" sz="8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API</a:t>
            </a:r>
            <a:r>
              <a:rPr lang="ja-JP" altLang="en-US" sz="85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  <a:sym typeface="Meiryo"/>
              </a:rPr>
              <a:t>ツールとの併用についても、問題なく稼働が可能。</a:t>
            </a:r>
            <a:endParaRPr lang="ja-JP" altLang="en-US" sz="850" dirty="0">
              <a:solidFill>
                <a:srgbClr val="FF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5B8C83A-7191-D772-EF88-AE268D007E63}"/>
              </a:ext>
            </a:extLst>
          </p:cNvPr>
          <p:cNvSpPr/>
          <p:nvPr/>
        </p:nvSpPr>
        <p:spPr>
          <a:xfrm>
            <a:off x="6137688" y="1518664"/>
            <a:ext cx="2473721" cy="28474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ja-JP" altLang="en-US" sz="11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動作イメージ</a:t>
            </a:r>
          </a:p>
        </p:txBody>
      </p:sp>
      <p:sp>
        <p:nvSpPr>
          <p:cNvPr id="26" name="Google Shape;51;p19">
            <a:extLst>
              <a:ext uri="{FF2B5EF4-FFF2-40B4-BE49-F238E27FC236}">
                <a16:creationId xmlns:a16="http://schemas.microsoft.com/office/drawing/2014/main" id="{A4070FDA-7C99-27DE-6A9C-437C1D5DD3B3}"/>
              </a:ext>
            </a:extLst>
          </p:cNvPr>
          <p:cNvSpPr/>
          <p:nvPr/>
        </p:nvSpPr>
        <p:spPr>
          <a:xfrm>
            <a:off x="1370199" y="1321261"/>
            <a:ext cx="122754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74282" tIns="45700" rIns="74282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algn="ctr">
              <a:buSzPts val="1400"/>
            </a:pPr>
            <a:r>
              <a:rPr lang="ja-JP" altLang="en-US" b="1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初期：</a:t>
            </a:r>
            <a:r>
              <a:rPr lang="en-US" altLang="ja-JP" b="1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15</a:t>
            </a:r>
            <a:r>
              <a:rPr lang="ja-JP" altLang="en-US" b="1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万円</a:t>
            </a:r>
            <a:endParaRPr b="1" dirty="0">
              <a:solidFill>
                <a:schemeClr val="lt1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28" name="Google Shape;51;p19">
            <a:extLst>
              <a:ext uri="{FF2B5EF4-FFF2-40B4-BE49-F238E27FC236}">
                <a16:creationId xmlns:a16="http://schemas.microsoft.com/office/drawing/2014/main" id="{40C4675F-5DCC-DD57-BE14-B3A7697A02CD}"/>
              </a:ext>
            </a:extLst>
          </p:cNvPr>
          <p:cNvSpPr/>
          <p:nvPr/>
        </p:nvSpPr>
        <p:spPr>
          <a:xfrm>
            <a:off x="2665729" y="1321261"/>
            <a:ext cx="1227546" cy="48510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74282" tIns="45700" rIns="74282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rgbClr val="000000"/>
                </a:solidFill>
                <a:latin typeface="メイリオ"/>
                <a:ea typeface="メイリオ"/>
                <a:cs typeface="メイリオ"/>
                <a:sym typeface="Arial"/>
              </a:defRPr>
            </a:lvl9pPr>
          </a:lstStyle>
          <a:p>
            <a:pPr algn="ctr">
              <a:buSzPts val="1400"/>
            </a:pPr>
            <a:r>
              <a:rPr lang="ja-JP" altLang="en-US" b="1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月額</a:t>
            </a:r>
            <a:r>
              <a:rPr lang="en-US" altLang="ja-JP" b="1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3</a:t>
            </a:r>
            <a:r>
              <a:rPr lang="ja-JP" altLang="en-US" b="1" dirty="0">
                <a:solidFill>
                  <a:schemeClr val="lt1"/>
                </a:solidFill>
                <a:latin typeface="メイリオ"/>
                <a:ea typeface="メイリオ"/>
                <a:cs typeface="メイリオ"/>
                <a:sym typeface="Meiryo"/>
              </a:rPr>
              <a:t>万円～</a:t>
            </a:r>
            <a:endParaRPr lang="en-US" altLang="ja-JP" b="1" dirty="0">
              <a:solidFill>
                <a:schemeClr val="lt1"/>
              </a:solidFill>
              <a:latin typeface="メイリオ"/>
              <a:ea typeface="メイリオ"/>
              <a:cs typeface="メイリオ"/>
              <a:sym typeface="Meiryo"/>
            </a:endParaRPr>
          </a:p>
          <a:p>
            <a:pPr algn="ctr">
              <a:buSzPts val="1400"/>
            </a:pPr>
            <a:r>
              <a:rPr lang="en-US" altLang="ja-JP" sz="850" b="1" dirty="0">
                <a:solidFill>
                  <a:srgbClr val="FFFF00"/>
                </a:solidFill>
                <a:latin typeface="メイリオ"/>
                <a:ea typeface="メイリオ"/>
                <a:cs typeface="メイリオ"/>
                <a:sym typeface="Meiryo"/>
              </a:rPr>
              <a:t>+</a:t>
            </a:r>
            <a:r>
              <a:rPr lang="ja-JP" altLang="en-US" sz="850" b="1" dirty="0">
                <a:solidFill>
                  <a:srgbClr val="FFFF00"/>
                </a:solidFill>
                <a:latin typeface="メイリオ"/>
                <a:ea typeface="メイリオ"/>
                <a:cs typeface="メイリオ"/>
                <a:sym typeface="Meiryo"/>
              </a:rPr>
              <a:t>設定地点追加</a:t>
            </a:r>
            <a:endParaRPr sz="850" b="1" dirty="0">
              <a:solidFill>
                <a:srgbClr val="FFFF00"/>
              </a:solidFill>
              <a:latin typeface="メイリオ"/>
              <a:ea typeface="メイリオ"/>
              <a:cs typeface="メイリオ"/>
              <a:sym typeface="Meiryo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89A6A4C-E34E-E7CF-D6DD-C175E600A94D}"/>
              </a:ext>
            </a:extLst>
          </p:cNvPr>
          <p:cNvSpPr/>
          <p:nvPr/>
        </p:nvSpPr>
        <p:spPr>
          <a:xfrm>
            <a:off x="1743681" y="1909406"/>
            <a:ext cx="1510467" cy="2441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en-US" altLang="ja-JP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WEB</a:t>
            </a:r>
            <a:r>
              <a:rPr lang="ja-JP" altLang="en-US" sz="9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サイト</a:t>
            </a: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122BEACA-AA0E-EFF8-CDF2-B0A5B58840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46639" y="3973990"/>
            <a:ext cx="379108" cy="69986"/>
          </a:xfrm>
          <a:prstGeom prst="rect">
            <a:avLst/>
          </a:prstGeom>
        </p:spPr>
      </p:pic>
      <p:pic>
        <p:nvPicPr>
          <p:cNvPr id="27" name="図 26">
            <a:extLst>
              <a:ext uri="{FF2B5EF4-FFF2-40B4-BE49-F238E27FC236}">
                <a16:creationId xmlns:a16="http://schemas.microsoft.com/office/drawing/2014/main" id="{D971BE53-7CD8-C375-2A00-B224602AC2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8820" y="2495006"/>
            <a:ext cx="379108" cy="69986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B7D71D80-6086-B1B4-3E2C-EE891B12909E}"/>
              </a:ext>
            </a:extLst>
          </p:cNvPr>
          <p:cNvSpPr/>
          <p:nvPr/>
        </p:nvSpPr>
        <p:spPr>
          <a:xfrm>
            <a:off x="1913186" y="5205027"/>
            <a:ext cx="3960179" cy="659955"/>
          </a:xfrm>
          <a:prstGeom prst="roundRect">
            <a:avLst>
              <a:gd name="adj" fmla="val 25327"/>
            </a:avLst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フォーム入力内容を</a:t>
            </a:r>
            <a:b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トーク入力画面へ引き継ぎ可能</a:t>
            </a: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666CF79B-D322-06BC-F342-DE710BE7473B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1679377" y="4868960"/>
            <a:ext cx="233808" cy="666044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D29A9C3-A3E8-0780-A758-0C8E7E376668}"/>
              </a:ext>
            </a:extLst>
          </p:cNvPr>
          <p:cNvSpPr/>
          <p:nvPr/>
        </p:nvSpPr>
        <p:spPr>
          <a:xfrm>
            <a:off x="5284944" y="2415812"/>
            <a:ext cx="530810" cy="1821208"/>
          </a:xfrm>
          <a:prstGeom prst="rect">
            <a:avLst/>
          </a:prstGeom>
          <a:solidFill>
            <a:srgbClr val="04FA0A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r>
              <a:rPr lang="en-US" altLang="ja-JP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DYM</a:t>
            </a: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開発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pPr algn="ctr"/>
            <a:r>
              <a:rPr lang="ja-JP" altLang="en-US" sz="95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ツール</a:t>
            </a:r>
            <a:endParaRPr lang="en-US" altLang="ja-JP" sz="95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sp>
        <p:nvSpPr>
          <p:cNvPr id="1048" name="矢印: 右 1047">
            <a:extLst>
              <a:ext uri="{FF2B5EF4-FFF2-40B4-BE49-F238E27FC236}">
                <a16:creationId xmlns:a16="http://schemas.microsoft.com/office/drawing/2014/main" id="{6A5BBE8E-2B42-49E0-686B-A6584B59E72F}"/>
              </a:ext>
            </a:extLst>
          </p:cNvPr>
          <p:cNvSpPr/>
          <p:nvPr/>
        </p:nvSpPr>
        <p:spPr>
          <a:xfrm>
            <a:off x="3916109" y="3203047"/>
            <a:ext cx="1326782" cy="392774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pPr algn="ctr"/>
            <a:endParaRPr lang="ja-JP" altLang="en-US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50" name="吹き出し: 角を丸めた四角形 1049">
            <a:extLst>
              <a:ext uri="{FF2B5EF4-FFF2-40B4-BE49-F238E27FC236}">
                <a16:creationId xmlns:a16="http://schemas.microsoft.com/office/drawing/2014/main" id="{0D7606B7-7AEE-445F-FB97-74913C4A4F60}"/>
              </a:ext>
            </a:extLst>
          </p:cNvPr>
          <p:cNvSpPr/>
          <p:nvPr/>
        </p:nvSpPr>
        <p:spPr>
          <a:xfrm>
            <a:off x="3925424" y="2187781"/>
            <a:ext cx="1288661" cy="948384"/>
          </a:xfrm>
          <a:prstGeom prst="wedgeRoundRectCallout">
            <a:avLst/>
          </a:prstGeom>
          <a:solidFill>
            <a:srgbClr val="FDFDFD"/>
          </a:solidFill>
          <a:ln w="19050">
            <a:solidFill>
              <a:schemeClr val="tx2">
                <a:alpha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74295" rIns="74295"/>
          <a:lstStyle/>
          <a:p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CV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完了後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  <a:p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約</a:t>
            </a: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2~3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秒で</a:t>
            </a:r>
            <a:b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</a:br>
            <a:r>
              <a:rPr lang="en-US" altLang="ja-JP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</a:t>
            </a:r>
            <a:r>
              <a:rPr lang="ja-JP" altLang="en-US" sz="11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へ自動遷移</a:t>
            </a:r>
            <a:endParaRPr lang="en-US" altLang="ja-JP" sz="11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/>
            </a:endParaRPr>
          </a:p>
        </p:txBody>
      </p:sp>
      <p:cxnSp>
        <p:nvCxnSpPr>
          <p:cNvPr id="1052" name="直線矢印コネクタ 1051">
            <a:extLst>
              <a:ext uri="{FF2B5EF4-FFF2-40B4-BE49-F238E27FC236}">
                <a16:creationId xmlns:a16="http://schemas.microsoft.com/office/drawing/2014/main" id="{5B4E7079-E54A-2282-BDB8-487FFE5E8981}"/>
              </a:ext>
            </a:extLst>
          </p:cNvPr>
          <p:cNvCxnSpPr>
            <a:cxnSpLocks/>
          </p:cNvCxnSpPr>
          <p:nvPr/>
        </p:nvCxnSpPr>
        <p:spPr>
          <a:xfrm flipV="1">
            <a:off x="5864346" y="4971540"/>
            <a:ext cx="1781554" cy="599046"/>
          </a:xfrm>
          <a:prstGeom prst="straightConnector1">
            <a:avLst/>
          </a:prstGeom>
          <a:ln w="19050">
            <a:solidFill>
              <a:srgbClr val="00B050">
                <a:alpha val="80000"/>
              </a:srgb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サンクスLINE｜導入・活用実績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817378"/>
            <a:ext cx="9111472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LINE活用の参考事例と、サンクスLINE誘導ツールの導入実績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4400" y="1548000"/>
            <a:ext cx="8629200" cy="13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0400" y="1980000"/>
            <a:ext cx="3131999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クリニック｜LINE活用による来院率改善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6400" y="2250000"/>
            <a:ext cx="1548000" cy="19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弊社運用の実績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1999" y="2034000"/>
            <a:ext cx="990000" cy="413999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63600" y="2241000"/>
            <a:ext cx="1008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86000" y="2034000"/>
            <a:ext cx="990000" cy="413999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97600" y="2241000"/>
            <a:ext cx="100800" cy="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120000" y="2034000"/>
            <a:ext cx="990000" cy="413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" tIns="7200" rIns="10800" bIns="72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前日のお知らせ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2000" y="1853999"/>
            <a:ext cx="2034000" cy="18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2000" y="2051999"/>
            <a:ext cx="2034000" cy="503999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400" y="3078000"/>
            <a:ext cx="3780000" cy="2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人材業界｜サンクスLINE誘導ツール導入実績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6399" y="3114000"/>
            <a:ext cx="1152000" cy="198000"/>
          </a:xfrm>
          <a:prstGeom prst="roundRect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DYMの導入実績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導入前後3か月比較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00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400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1,532人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958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28399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導入後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8399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8400" y="4320000"/>
            <a:ext cx="25919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16400" y="4373999"/>
            <a:ext cx="2736000" cy="57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導入前比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137.3%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400" y="4986000"/>
            <a:ext cx="2736000" cy="28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+571人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2400" y="3401999"/>
            <a:ext cx="2880000" cy="20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32400" y="3401999"/>
            <a:ext cx="2880000" cy="270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前年同期間比較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0400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2025年7〜9月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0400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1,650人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946400" y="3977999"/>
            <a:ext cx="251999" cy="198000"/>
          </a:xfrm>
          <a:prstGeom prst="rightArrow">
            <a:avLst>
              <a:gd name="adj1" fmla="val 4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16399" y="3761999"/>
            <a:ext cx="11880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2026年7〜9月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6399" y="3923999"/>
            <a:ext cx="1188000" cy="30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2,103人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76400" y="4320000"/>
            <a:ext cx="2592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704399" y="4373999"/>
            <a:ext cx="2736000" cy="57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127.5%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4399" y="4986000"/>
            <a:ext cx="2736000" cy="288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増加数 </a:t>
            </a: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+453人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56399" y="3420000"/>
            <a:ext cx="2617200" cy="16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月別比較（友だち増加数・人）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2400" y="3625199"/>
            <a:ext cx="108000" cy="108000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8399" y="3571200"/>
            <a:ext cx="684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2025年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20400" y="3625199"/>
            <a:ext cx="108000" cy="108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46399" y="3571200"/>
            <a:ext cx="684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2026年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88799" y="4259114"/>
            <a:ext cx="288000" cy="690885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0799" y="4079114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575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19999" y="4211052"/>
            <a:ext cx="288000" cy="738947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11999" y="4031052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615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0399" y="4968000"/>
            <a:ext cx="756000" cy="151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399" y="5112000"/>
            <a:ext cx="756000" cy="180000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107%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16800" y="4330005"/>
            <a:ext cx="288000" cy="619994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8799" y="4150005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516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47999" y="4014000"/>
            <a:ext cx="2880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39999" y="3834000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779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8399" y="4968000"/>
            <a:ext cx="756000" cy="151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8月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48399" y="5112000"/>
            <a:ext cx="756000" cy="180000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151%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44800" y="4278338"/>
            <a:ext cx="288000" cy="671661"/>
          </a:xfrm>
          <a:prstGeom prst="rect">
            <a:avLst/>
          </a:prstGeom>
          <a:solidFill>
            <a:srgbClr val="8E9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36800" y="4098338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559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76000" y="4098107"/>
            <a:ext cx="288000" cy="851892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7999" y="3918107"/>
            <a:ext cx="503999" cy="162000"/>
          </a:xfrm>
          <a:prstGeom prst="rect">
            <a:avLst/>
          </a:prstGeom>
          <a:noFill/>
        </p:spPr>
        <p:txBody>
          <a:bodyPr wrap="none" anchor="b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709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6399" y="4968000"/>
            <a:ext cx="756000" cy="1512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9月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76399" y="5112000"/>
            <a:ext cx="756000" cy="180000"/>
          </a:xfrm>
          <a:prstGeom prst="rect">
            <a:avLst/>
          </a:prstGeom>
          <a:noFill/>
        </p:spPr>
        <p:txBody>
          <a:bodyPr wrap="non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前年比 </a:t>
            </a: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127%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728399" y="4950000"/>
            <a:ext cx="2509201" cy="0"/>
          </a:xfrm>
          <a:prstGeom prst="line">
            <a:avLst/>
          </a:prstGeom>
          <a:ln w="95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644400" y="5598000"/>
            <a:ext cx="8629200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サンクスLINE誘導ツールの導入後、友だち増加数が導入前比137.3%、前年比127.5%に改善。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400" y="5993999"/>
            <a:ext cx="8629200" cy="34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※上段は弊社運用の実績（美容クリニック・LINE活用による来院率の改善）。サンクスLINE誘導ツールの実績とは別。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※下段はサンクスLINE誘導ツール導入前後の友だち増加数（人材業界）。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来場率と申込みCPA｜来場率が上がると、必要なCPAが緩む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644865" y="725334"/>
            <a:ext cx="9111472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予算120万円で実来場50人を目指す場合の、来場率ごとの必要な申込み数とCPA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来場率とCPA 5"/>
          <p:cNvGraphicFramePr>
            <a:graphicFrameLocks noGrp="1"/>
          </p:cNvGraphicFramePr>
          <p:nvPr/>
        </p:nvGraphicFramePr>
        <p:xfrm>
          <a:off x="640080" y="2232507"/>
          <a:ext cx="8622792" cy="214884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2331720"/>
                <a:gridCol w="2542032"/>
              </a:tblGrid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来場率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来場50人に</a:t>
                      </a:r>
                      <a:b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</a:b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必要な申込み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必要な申込みCPA</a:t>
                      </a:r>
                      <a:b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</a:b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（予算120万円）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CPA30,000円のままの</a:t>
                      </a:r>
                      <a:b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</a:br>
                      <a:r>
                        <a:rPr lang="ja-JP" altLang="en-US" sz="1300" b="1" dirty="0">
                          <a:solidFill>
                            <a:srgbClr val="FFFFFF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来場者獲得単価</a:t>
                      </a:r>
                      <a:endParaRPr lang="ja-JP" altLang="en-US" sz="13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C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80%（今）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63件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19,048円</a:t>
                      </a:r>
                      <a:endParaRPr lang="ja-JP" altLang="en-US" sz="15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37,500円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85%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59件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20,339円</a:t>
                      </a:r>
                      <a:endParaRPr lang="ja-JP" altLang="en-US" sz="15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35,294円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90%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56件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500" b="1" dirty="0">
                          <a:solidFill>
                            <a:srgbClr val="1F2C5C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21,429円</a:t>
                      </a:r>
                      <a:endParaRPr lang="ja-JP" altLang="en-US" sz="15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ja-JP" altLang="en-US" sz="1400" b="0" dirty="0">
                          <a:solidFill>
                            <a:srgbClr val="333333"/>
                          </a:solidFill>
                          <a:latin typeface="メイリオ" panose="020B0604030504040204" pitchFamily="50" charset="-128"/>
                          <a:ea typeface="メイリオ" panose="020B0604030504040204" pitchFamily="50" charset="-128"/>
                          <a:cs typeface="メイリオ"/>
                        </a:rPr>
                        <a:t>33,333円</a:t>
                      </a:r>
                      <a:endParaRPr lang="ja-JP" altLang="en-US" sz="1400"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注記"/>
          <p:cNvSpPr/>
          <p:nvPr/>
        </p:nvSpPr>
        <p:spPr>
          <a:xfrm>
            <a:off x="640080" y="4518506"/>
            <a:ext cx="86227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※来場率85%・90%は仮に置いた数字。申込み1件＝1人として計算（ご提示いただいた条件のまま）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注記"/>
          <p:cNvSpPr/>
          <p:nvPr/>
        </p:nvSpPr>
        <p:spPr>
          <a:xfrm>
            <a:off x="640080" y="4701387"/>
            <a:ext cx="86227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ja-JP" altLang="en-US" sz="90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※必要な申込みは小数点以下を切り上げ、CPAは予算120万円÷必要な申込みで計算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752;p28"/>
          <p:cNvSpPr/>
          <p:nvPr/>
        </p:nvSpPr>
        <p:spPr>
          <a:xfrm>
            <a:off x="549000" y="138240"/>
            <a:ext cx="768096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ja-JP" sz="1600" b="1" u="none" strike="noStrike">
                <a:solidFill>
                  <a:srgbClr val="323366"/>
                </a:solidFill>
                <a:effectLst/>
                <a:uFillTx/>
                <a:latin typeface="メイリオ"/>
                <a:ea typeface="メイリオ"/>
                <a:cs typeface="メイリオ"/>
              </a:rPr>
              <a:t>前後検索「注文住宅」：当日に大手を比べ、その後は住宅ローン・性能を調べる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正方形/長方形 2"/>
          <p:cNvSpPr/>
          <p:nvPr/>
        </p:nvSpPr>
        <p:spPr>
          <a:xfrm>
            <a:off x="0" y="577800"/>
            <a:ext cx="9905760" cy="812520"/>
          </a:xfrm>
          <a:prstGeom prst="rect">
            <a:avLst/>
          </a:prstGeom>
          <a:noFill/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379800" y="635040"/>
            <a:ext cx="9160560" cy="698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90000" rIns="90000" bIns="45000" anchor="ctr">
            <a:noAutofit/>
          </a:bodyPr>
          <a:lstStyle/>
          <a:p>
            <a:pPr algn="ctr" defTabSz="914400">
              <a:lnSpc>
                <a:spcPts val="2455"/>
              </a:lnSpc>
            </a:pPr>
            <a:endParaRPr lang="en-US" sz="1400" b="0" u="none" strike="noStrike">
              <a:solidFill>
                <a:srgbClr val="343434"/>
              </a:solidFill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直線コネクタ 1"/>
          <p:cNvCxnSpPr/>
          <p:nvPr/>
        </p:nvCxnSpPr>
        <p:spPr>
          <a:xfrm>
            <a:off x="0" y="1390320"/>
            <a:ext cx="9906120" cy="360"/>
          </a:xfrm>
          <a:prstGeom prst="straightConnector1">
            <a:avLst/>
          </a:prstGeom>
          <a:ln w="19050">
            <a:solidFill>
              <a:schemeClr val="lt1">
                <a:lumMod val="85000"/>
                <a:alpha val="60000"/>
              </a:schemeClr>
            </a:solidFill>
            <a:round/>
          </a:ln>
        </p:spPr>
      </p:cxnSp>
      <p:sp>
        <p:nvSpPr>
          <p:cNvPr id="6" name="テキスト ボックス 30"/>
          <p:cNvSpPr/>
          <p:nvPr/>
        </p:nvSpPr>
        <p:spPr>
          <a:xfrm>
            <a:off x="426240" y="635400"/>
            <a:ext cx="9068760" cy="6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ja-JP" sz="1400" b="1" u="none" strike="noStrike" dirty="0">
                <a:effectLst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検討期間の約2週間の接点が、来場を左右する</a:t>
            </a:r>
            <a:endParaRPr lang="en-US" sz="1400" b="1" u="none" strike="noStrike" dirty="0">
              <a:effectLst/>
              <a:uFillTx/>
              <a:latin typeface="メイリオ"/>
              <a:ea typeface="メイリオ"/>
              <a:cs typeface="メイリオ"/>
            </a:endParaRPr>
          </a:p>
        </p:txBody>
      </p:sp>
      <p:pic>
        <p:nvPicPr>
          <p:cNvPr id="7" name="前後検索 注文住宅（色分け）" descr="tanaka_zengo_chumon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0200"/>
            <a:ext cx="5943600" cy="3468090"/>
          </a:xfrm>
          <a:prstGeom prst="rect">
            <a:avLst/>
          </a:prstGeom>
        </p:spPr>
      </p:pic>
      <p:sp>
        <p:nvSpPr>
          <p:cNvPr id="8" name="LINE追加の時期"/>
          <p:cNvSpPr/>
          <p:nvPr/>
        </p:nvSpPr>
        <p:spPr>
          <a:xfrm>
            <a:off x="3554958" y="1644777"/>
            <a:ext cx="692429" cy="3239261"/>
          </a:xfrm>
          <a:prstGeom prst="rect">
            <a:avLst/>
          </a:prstGeom>
          <a:solidFill>
            <a:srgbClr val="06C75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LINE追加 札"/>
          <p:cNvSpPr/>
          <p:nvPr/>
        </p:nvSpPr>
        <p:spPr>
          <a:xfrm>
            <a:off x="3443973" y="5104866"/>
            <a:ext cx="914400" cy="237744"/>
          </a:xfrm>
          <a:prstGeom prst="rect">
            <a:avLst/>
          </a:prstGeom>
          <a:solidFill>
            <a:srgbClr val="C6EFC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lang="ja-JP" altLang="en-US" sz="950" b="1" dirty="0">
                <a:solidFill>
                  <a:srgbClr val="00873C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LINE追加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凡例の色"/>
          <p:cNvSpPr/>
          <p:nvPr/>
        </p:nvSpPr>
        <p:spPr>
          <a:xfrm>
            <a:off x="6629400" y="1655064"/>
            <a:ext cx="137160" cy="137160"/>
          </a:xfrm>
          <a:prstGeom prst="rect">
            <a:avLst/>
          </a:prstGeom>
          <a:solidFill>
            <a:srgbClr val="3467B2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凡例"/>
          <p:cNvSpPr/>
          <p:nvPr/>
        </p:nvSpPr>
        <p:spPr>
          <a:xfrm>
            <a:off x="6812280" y="1600200"/>
            <a:ext cx="258775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住宅会社を比べる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凡例の色"/>
          <p:cNvSpPr/>
          <p:nvPr/>
        </p:nvSpPr>
        <p:spPr>
          <a:xfrm>
            <a:off x="6629400" y="1901952"/>
            <a:ext cx="137160" cy="137160"/>
          </a:xfrm>
          <a:prstGeom prst="rect">
            <a:avLst/>
          </a:prstGeom>
          <a:solidFill>
            <a:srgbClr val="D9661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凡例"/>
          <p:cNvSpPr/>
          <p:nvPr/>
        </p:nvSpPr>
        <p:spPr>
          <a:xfrm>
            <a:off x="6812280" y="1847088"/>
            <a:ext cx="258775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費用・住宅ローンを調べる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凡例の色"/>
          <p:cNvSpPr/>
          <p:nvPr/>
        </p:nvSpPr>
        <p:spPr>
          <a:xfrm>
            <a:off x="6629400" y="2148840"/>
            <a:ext cx="137160" cy="137160"/>
          </a:xfrm>
          <a:prstGeom prst="rect">
            <a:avLst/>
          </a:prstGeom>
          <a:solidFill>
            <a:srgbClr val="8E4EC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凡例"/>
          <p:cNvSpPr/>
          <p:nvPr/>
        </p:nvSpPr>
        <p:spPr>
          <a:xfrm>
            <a:off x="6812280" y="2093976"/>
            <a:ext cx="258775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間取り・性能を調べる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凡例の色"/>
          <p:cNvSpPr/>
          <p:nvPr/>
        </p:nvSpPr>
        <p:spPr>
          <a:xfrm>
            <a:off x="6629400" y="2395728"/>
            <a:ext cx="137160" cy="1371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凡例"/>
          <p:cNvSpPr/>
          <p:nvPr/>
        </p:nvSpPr>
        <p:spPr>
          <a:xfrm>
            <a:off x="6812280" y="2340864"/>
            <a:ext cx="258775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土地を調べる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8" name="分析 当日"/>
          <p:cNvSpPr/>
          <p:nvPr/>
        </p:nvSpPr>
        <p:spPr>
          <a:xfrm>
            <a:off x="6629400" y="2651760"/>
            <a:ext cx="2770632" cy="274320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当日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分析 当日 本文"/>
          <p:cNvSpPr/>
          <p:nvPr/>
        </p:nvSpPr>
        <p:spPr>
          <a:xfrm>
            <a:off x="6629400" y="2926079"/>
            <a:ext cx="2770632" cy="713232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73152" tIns="36576" rIns="73152" bIns="27432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住宅会社名が中心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一条工務店・積水ハウス・住友林業など。住宅展示場・土地探しも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分析 1〜7日後"/>
          <p:cNvSpPr/>
          <p:nvPr/>
        </p:nvSpPr>
        <p:spPr>
          <a:xfrm>
            <a:off x="6629400" y="3694176"/>
            <a:ext cx="2770632" cy="274320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1〜7日後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21" name="分析 1〜7日後 本文"/>
          <p:cNvSpPr/>
          <p:nvPr/>
        </p:nvSpPr>
        <p:spPr>
          <a:xfrm>
            <a:off x="6629400" y="3968496"/>
            <a:ext cx="2770632" cy="713232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73152" tIns="36576" rIns="73152" bIns="27432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住宅ローンと坪単価が増える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シミュレーション・審査・控除、坪単価。比べる会社はさらに広がる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22" name="分析 7〜15日後"/>
          <p:cNvSpPr/>
          <p:nvPr/>
        </p:nvSpPr>
        <p:spPr>
          <a:xfrm>
            <a:off x="6629400" y="4736592"/>
            <a:ext cx="2770632" cy="274320"/>
          </a:xfrm>
          <a:prstGeom prst="rect">
            <a:avLst/>
          </a:prstGeom>
          <a:solidFill>
            <a:srgbClr val="1F285A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150" b="1" dirty="0">
                <a:solidFill>
                  <a:srgbClr val="FFFF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7〜15日後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23" name="分析 7〜15日後 本文"/>
          <p:cNvSpPr/>
          <p:nvPr/>
        </p:nvSpPr>
        <p:spPr>
          <a:xfrm>
            <a:off x="6629400" y="5010912"/>
            <a:ext cx="2770632" cy="713232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lIns="73152" tIns="36576" rIns="73152" bIns="27432" rtlCol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間取り・性能が中心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10000"/>
              </a:lnSpc>
              <a:buNone/>
            </a:pPr>
            <a:r>
              <a:rPr lang="ja-JP" altLang="en-US" sz="1100" b="0" dirty="0">
                <a:solidFill>
                  <a:srgbClr val="333333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断熱等級・吹き抜け・パントリー・ルームツアー。住宅ローンは金利の比較へ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24" name="示唆"/>
          <p:cNvSpPr/>
          <p:nvPr/>
        </p:nvSpPr>
        <p:spPr>
          <a:xfrm>
            <a:off x="502920" y="5779008"/>
            <a:ext cx="8897112" cy="41148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>
              <a:buNone/>
            </a:pPr>
            <a:r>
              <a:rPr lang="ja-JP" altLang="en-US" sz="1400" b="1" dirty="0">
                <a:solidFill>
                  <a:srgbClr val="1F285A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会社を比べる → 費用 → 間取り・性能 の順に、</a:t>
            </a:r>
            <a:r>
              <a:rPr lang="ja-JP" altLang="en-US" sz="1400" b="1" dirty="0">
                <a:solidFill>
                  <a:srgbClr val="C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約2週間かけて検討が進む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  <p:sp>
        <p:nvSpPr>
          <p:cNvPr id="25" name="注記"/>
          <p:cNvSpPr/>
          <p:nvPr/>
        </p:nvSpPr>
        <p:spPr>
          <a:xfrm>
            <a:off x="502920" y="6236208"/>
            <a:ext cx="8897112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ja-JP" altLang="en-US" sz="850" b="0" dirty="0">
                <a:solidFill>
                  <a:srgbClr val="7F7F7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/>
              </a:rPr>
              <a:t>※LINEヤフー社の前後検索データより。「注文住宅」を検索した方が、前後15日間に検索した言葉（縦軸＝検索した人数）。</a:t>
            </a:r>
            <a:endParaRPr lang="ja-JP" altLang="en-US" sz="1200" dirty="0"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6516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644865" y="725334"/>
            <a:ext cx="9111472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6097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643500" y="1800000"/>
            <a:ext cx="2233969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250" y="1800000"/>
            <a:ext cx="1985344" cy="86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2775094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65219" y="1800000"/>
            <a:ext cx="1882969" cy="86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4906688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96812" y="1800000"/>
            <a:ext cx="1882969" cy="86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7038281" y="1800000"/>
            <a:ext cx="2233969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8406" y="1800000"/>
            <a:ext cx="1882969" cy="864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500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500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92094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2094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2094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2094" y="3870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3688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3688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3688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55281" y="2844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55281" y="3186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5281" y="3528000"/>
            <a:ext cx="1941469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625" tIns="0" rIns="14625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5281" y="3870000"/>
            <a:ext cx="1941469" cy="288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126016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62828" y="4463999"/>
            <a:ext cx="4263188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3862828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50578" y="4482000"/>
            <a:ext cx="2925000" cy="216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3500" y="4878000"/>
            <a:ext cx="862875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43500" y="5029200"/>
            <a:ext cx="52650" cy="180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5875" y="4986000"/>
            <a:ext cx="4095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500" y="5292000"/>
            <a:ext cx="2098688" cy="48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42188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742188" y="5292000"/>
            <a:ext cx="2098688" cy="48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4875" y="5029200"/>
            <a:ext cx="5265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8500" tIns="18000" rIns="58500" bIns="18000"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77250" y="4986000"/>
            <a:ext cx="4095000" cy="270000"/>
          </a:xfrm>
          <a:prstGeom prst="rect">
            <a:avLst/>
          </a:prstGeom>
          <a:noFill/>
        </p:spPr>
        <p:txBody>
          <a:bodyPr wrap="square" lIns="29250" tIns="18000" rIns="2925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875" y="5292000"/>
            <a:ext cx="1399125" cy="48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74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74000" y="5292000"/>
            <a:ext cx="1399125" cy="48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873125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873125" y="5292000"/>
            <a:ext cx="1399125" cy="486000"/>
          </a:xfrm>
          <a:prstGeom prst="rect">
            <a:avLst/>
          </a:prstGeom>
          <a:noFill/>
        </p:spPr>
        <p:txBody>
          <a:bodyPr wrap="square" lIns="29250" tIns="10800" rIns="29250" bIns="1080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7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　</a:t>
            </a: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957875" y="4986000"/>
            <a:ext cx="0" cy="79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3500" y="5814000"/>
            <a:ext cx="8628750" cy="198000"/>
          </a:xfrm>
          <a:prstGeom prst="rect">
            <a:avLst/>
          </a:prstGeom>
          <a:noFill/>
        </p:spPr>
        <p:txBody>
          <a:bodyPr wrap="square" lIns="29250" tIns="18000" rIns="2925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141472</TotalTime>
  <Words>5264</Words>
  <Application>Microsoft Office PowerPoint</Application>
  <PresentationFormat>A4 210 x 297 mm</PresentationFormat>
  <Paragraphs>1342</Paragraphs>
  <Slides>36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佐村 徳人</cp:lastModifiedBy>
  <cp:revision>1919</cp:revision>
  <cp:lastPrinted>2022-11-01T11:38:14Z</cp:lastPrinted>
  <dcterms:created xsi:type="dcterms:W3CDTF">2015-09-04T09:21:15Z</dcterms:created>
  <dcterms:modified xsi:type="dcterms:W3CDTF">2026-07-21T09:21:02Z</dcterms:modified>
</cp:coreProperties>
</file>