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4"/>
  </p:notesMasterIdLst>
  <p:handoutMasterIdLst>
    <p:handoutMasterId r:id="rId15"/>
  </p:handoutMasterIdLst>
  <p:sldIdLst>
    <p:sldId id="2363" r:id="rId3"/>
    <p:sldId id="2989" r:id="rId4"/>
    <p:sldId id="2990" r:id="rId5"/>
    <p:sldId id="257" r:id="rId6"/>
    <p:sldId id="2992" r:id="rId7"/>
    <p:sldId id="2993" r:id="rId8"/>
    <p:sldId id="2994" r:id="rId9"/>
    <p:sldId id="2956" r:id="rId10"/>
    <p:sldId id="2937" r:id="rId11"/>
    <p:sldId id="261" r:id="rId12"/>
    <p:sldId id="1169" r:id="rId13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11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jpeg"/><Relationship Id="rId7" Type="http://schemas.openxmlformats.org/officeDocument/2006/relationships/image" Target="../media/image10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hyperlink" Target="https://youtube.com/shorts/0qI4QgrOppQ" TargetMode="External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3.emf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09344" y="2238650"/>
            <a:ext cx="6629400" cy="597620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予約から来場までをLINEでつなぎ</a:t>
            </a:r>
            <a:r>
              <a:rPr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ctr"/>
            <a:r>
              <a:rPr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実来場を増やす</a:t>
            </a:r>
            <a:endParaRPr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株式会社くふう住まい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現状と課題｜予約から来場まで、LINEでつながっていない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725334"/>
            <a:ext cx="9111472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来場者獲得単価を、今の37,500円から24,000円以下へ。申込みCPAと来場率の両方で改善する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現状と目標 5"/>
          <p:cNvGraphicFramePr>
            <a:graphicFrameLocks noGrp="1"/>
          </p:cNvGraphicFramePr>
          <p:nvPr/>
        </p:nvGraphicFramePr>
        <p:xfrm>
          <a:off x="640080" y="1960930"/>
          <a:ext cx="4389120" cy="248716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現状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目標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申込みCPA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30,000円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19,000円以下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申込み件数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約40件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63件以上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来場率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80%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80%以上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実来場者数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約32人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50人以上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来場者獲得単価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約37,500円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24,000円以下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注記"/>
          <p:cNvSpPr/>
          <p:nvPr/>
        </p:nvSpPr>
        <p:spPr>
          <a:xfrm>
            <a:off x="640080" y="4493818"/>
            <a:ext cx="862279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※1開催あたり（広告予算120万円）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1"/>
          <p:cNvSpPr/>
          <p:nvPr/>
        </p:nvSpPr>
        <p:spPr>
          <a:xfrm>
            <a:off x="5486400" y="1960930"/>
            <a:ext cx="3776472" cy="457200"/>
          </a:xfrm>
          <a:prstGeom prst="rect">
            <a:avLst/>
          </a:prstGeom>
          <a:solidFill>
            <a:srgbClr val="1F2C5C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WEBで来場予約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5486400" y="2418130"/>
            <a:ext cx="377647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1F2C5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2"/>
          <p:cNvSpPr/>
          <p:nvPr/>
        </p:nvSpPr>
        <p:spPr>
          <a:xfrm>
            <a:off x="5486400" y="2692450"/>
            <a:ext cx="3776472" cy="4572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C5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予約確認メール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切れる"/>
          <p:cNvSpPr/>
          <p:nvPr/>
        </p:nvSpPr>
        <p:spPr>
          <a:xfrm>
            <a:off x="5486400" y="3195369"/>
            <a:ext cx="3776472" cy="77724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lnSpc>
                <a:spcPct val="120000"/>
              </a:lnSpc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予約から当日まで、LINEでつながっていない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キャンセル 20%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3"/>
          <p:cNvSpPr/>
          <p:nvPr/>
        </p:nvSpPr>
        <p:spPr>
          <a:xfrm>
            <a:off x="5486400" y="4018329"/>
            <a:ext cx="3776472" cy="4572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C5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当日の受付でLINE登録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注記"/>
          <p:cNvSpPr/>
          <p:nvPr/>
        </p:nvSpPr>
        <p:spPr>
          <a:xfrm>
            <a:off x="5486400" y="4493818"/>
            <a:ext cx="377647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※くふうイエタテフェアのサイトより（2026年10月19日確認）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示唆"/>
          <p:cNvSpPr/>
          <p:nvPr/>
        </p:nvSpPr>
        <p:spPr>
          <a:xfrm>
            <a:off x="640080" y="4932730"/>
            <a:ext cx="8622792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1F2C5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予約の直後にLINEでつながれば、当日までの案内で来場率を上げられる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広告と一緒にサンクスLINEを実施する理由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3500" y="792000"/>
            <a:ext cx="4212000" cy="3564000"/>
          </a:xfrm>
          <a:prstGeom prst="roundRect">
            <a:avLst>
              <a:gd name="adj" fmla="val 4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77500" y="990000"/>
            <a:ext cx="1053000" cy="324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9000" y="947195"/>
            <a:ext cx="2749500" cy="409609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施策全体の</a:t>
            </a: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2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CPA</a:t>
            </a: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  <a:endParaRPr sz="16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23750" y="1548000"/>
            <a:ext cx="34515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8" name="Isosceles Triangle 7"/>
          <p:cNvSpPr/>
          <p:nvPr/>
        </p:nvSpPr>
        <p:spPr>
          <a:xfrm rot="10800000">
            <a:off x="2685150" y="1998000"/>
            <a:ext cx="1287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23750" y="2142000"/>
            <a:ext cx="34515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0" name="Isosceles Triangle 9"/>
          <p:cNvSpPr/>
          <p:nvPr/>
        </p:nvSpPr>
        <p:spPr>
          <a:xfrm rot="10800000">
            <a:off x="2685150" y="2592000"/>
            <a:ext cx="1287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23750" y="2736000"/>
            <a:ext cx="34515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 × 成果報酬施策</a:t>
            </a:r>
          </a:p>
        </p:txBody>
      </p:sp>
      <p:sp>
        <p:nvSpPr>
          <p:cNvPr id="12" name="Isosceles Triangle 11"/>
          <p:cNvSpPr/>
          <p:nvPr/>
        </p:nvSpPr>
        <p:spPr>
          <a:xfrm rot="10800000">
            <a:off x="2685150" y="3186000"/>
            <a:ext cx="1287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23750" y="3330000"/>
            <a:ext cx="34515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000" y="3969474"/>
            <a:ext cx="3861000" cy="341050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CVの取りこぼしを減らし、獲得チャネルを増やすことで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施策全体のCPAを改善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0250" y="792000"/>
            <a:ext cx="4212000" cy="35640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294250" y="990000"/>
            <a:ext cx="1053000" cy="324000"/>
          </a:xfrm>
          <a:prstGeom prst="roundRect">
            <a:avLst>
              <a:gd name="adj" fmla="val 50000"/>
            </a:avLst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749" y="947195"/>
            <a:ext cx="2749500" cy="409609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dirty="0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CPO</a:t>
            </a:r>
            <a:r>
              <a:rPr sz="1600" b="1" dirty="0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600" b="1" dirty="0" err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の改善</a:t>
            </a:r>
            <a:endParaRPr sz="1600" b="1" dirty="0">
              <a:solidFill>
                <a:srgbClr val="0E8A3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440500" y="1548000"/>
            <a:ext cx="3451500" cy="413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Isosceles Triangle 18"/>
          <p:cNvSpPr/>
          <p:nvPr/>
        </p:nvSpPr>
        <p:spPr>
          <a:xfrm rot="10800000">
            <a:off x="7101900" y="1998000"/>
            <a:ext cx="128700" cy="108000"/>
          </a:xfrm>
          <a:prstGeom prst="triangle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40500" y="2142000"/>
            <a:ext cx="34515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1" name="Isosceles Triangle 20"/>
          <p:cNvSpPr/>
          <p:nvPr/>
        </p:nvSpPr>
        <p:spPr>
          <a:xfrm rot="10800000">
            <a:off x="7101900" y="2592000"/>
            <a:ext cx="1287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440500" y="2736000"/>
            <a:ext cx="34515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LINEでナーチャリング</a:t>
            </a:r>
          </a:p>
        </p:txBody>
      </p:sp>
      <p:sp>
        <p:nvSpPr>
          <p:cNvPr id="23" name="Isosceles Triangle 22"/>
          <p:cNvSpPr/>
          <p:nvPr/>
        </p:nvSpPr>
        <p:spPr>
          <a:xfrm rot="10800000">
            <a:off x="7101900" y="3186000"/>
            <a:ext cx="1287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440500" y="3330000"/>
            <a:ext cx="3451500" cy="413999"/>
          </a:xfrm>
          <a:prstGeom prst="rect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購入・契約などの最終成果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5750" y="4045649"/>
            <a:ext cx="3861000" cy="188701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CV後の歩留まりを改善し、CPOを改善</a:t>
            </a:r>
          </a:p>
        </p:txBody>
      </p:sp>
      <p:sp>
        <p:nvSpPr>
          <p:cNvPr id="26" name="Pentagon 25"/>
          <p:cNvSpPr/>
          <p:nvPr/>
        </p:nvSpPr>
        <p:spPr>
          <a:xfrm>
            <a:off x="643500" y="4536000"/>
            <a:ext cx="2934750" cy="684000"/>
          </a:xfrm>
          <a:prstGeom prst="homePlate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0500" y="4677723"/>
            <a:ext cx="2583749" cy="40055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CPOの改善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1件の最終成果あたりの広告費を抑えられる</a:t>
            </a:r>
          </a:p>
        </p:txBody>
      </p:sp>
      <p:sp>
        <p:nvSpPr>
          <p:cNvPr id="28" name="Chevron 27"/>
          <p:cNvSpPr/>
          <p:nvPr/>
        </p:nvSpPr>
        <p:spPr>
          <a:xfrm>
            <a:off x="3490500" y="4536000"/>
            <a:ext cx="293475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53750" y="4677723"/>
            <a:ext cx="2437499" cy="40055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許容CPAの引き上げ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1件の最終成果にかけられる広告費が増える</a:t>
            </a:r>
          </a:p>
        </p:txBody>
      </p:sp>
      <p:sp>
        <p:nvSpPr>
          <p:cNvPr id="30" name="Chevron 29"/>
          <p:cNvSpPr/>
          <p:nvPr/>
        </p:nvSpPr>
        <p:spPr>
          <a:xfrm>
            <a:off x="6337499" y="4536000"/>
            <a:ext cx="293475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00749" y="4677723"/>
            <a:ext cx="2437499" cy="40055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広告配信の拡大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入札・予算・配信対象を広げやすくなる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26000" y="5256000"/>
            <a:ext cx="0" cy="162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89750" y="5418000"/>
            <a:ext cx="833625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89750" y="5263200"/>
            <a:ext cx="0" cy="1548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349124" y="5292000"/>
            <a:ext cx="3217500" cy="2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さらに成果が増えれば、再投資して継続的に拡大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500" y="5652000"/>
            <a:ext cx="8628750" cy="61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43500" y="5817828"/>
            <a:ext cx="8628750" cy="280343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広告とあわせて実施することで、</a:t>
            </a:r>
            <a:r>
              <a:rPr sz="1600" b="1" dirty="0" err="1">
                <a:solidFill>
                  <a:srgbClr val="FDFDFD"/>
                </a:solidFill>
                <a:latin typeface="メイリオ"/>
                <a:ea typeface="メイリオ"/>
                <a:cs typeface="メイリオ"/>
              </a:rPr>
              <a:t>事業全体の効率化</a:t>
            </a:r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を図る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サンクスLINE｜導入・活用実績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LINE活用の参考事例と、サンクスLINE誘導ツールの導入実績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400" y="1980000"/>
            <a:ext cx="3131999" cy="251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クリニック｜LINE活用による来院率改善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400" y="2250000"/>
            <a:ext cx="1548000" cy="19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弊社運用の実績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1999" y="2034000"/>
            <a:ext cx="990000" cy="413999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" tIns="7200" rIns="108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63600" y="2241000"/>
            <a:ext cx="1008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986000" y="2034000"/>
            <a:ext cx="990000" cy="413999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" tIns="7200" rIns="108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97600" y="2241000"/>
            <a:ext cx="1008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120000" y="2034000"/>
            <a:ext cx="9900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" tIns="7200" rIns="108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前日のお知らせ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2000" y="1853999"/>
            <a:ext cx="2034000" cy="1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2000" y="2051999"/>
            <a:ext cx="2034000" cy="503999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</a:t>
            </a: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400" y="5993999"/>
            <a:ext cx="8629200" cy="34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※上段は弊社運用の実績（美容クリニック・LINE活用による来院率の改善）。サンクスLINE誘導ツールの実績とは別。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※下段はサンクスLINE誘導ツール導入前後の友だち増加数（人材業界）。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来場率と申込みCPA｜来場率が上がると、必要なCPAが緩む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725334"/>
            <a:ext cx="9111472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予算120万円で実来場50人を目指す場合の、来場率ごとの必要な申込み数とCPA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来場率とCPA 5"/>
          <p:cNvGraphicFramePr>
            <a:graphicFrameLocks noGrp="1"/>
          </p:cNvGraphicFramePr>
          <p:nvPr/>
        </p:nvGraphicFramePr>
        <p:xfrm>
          <a:off x="640080" y="2232507"/>
          <a:ext cx="8622792" cy="21488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2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来場率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来場50人に</a:t>
                      </a:r>
                      <a:b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必要な申込み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必要な申込みCPA</a:t>
                      </a:r>
                      <a:b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（予算120万円）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CPA30,000円のままの</a:t>
                      </a:r>
                      <a:b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来場者獲得単価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80%（今）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63件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19,048円</a:t>
                      </a:r>
                      <a:endParaRPr lang="ja-JP" altLang="en-US" sz="15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37,500円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85%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59件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20,339円</a:t>
                      </a:r>
                      <a:endParaRPr lang="ja-JP" altLang="en-US" sz="15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35,294円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90%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56件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21,429円</a:t>
                      </a:r>
                      <a:endParaRPr lang="ja-JP" altLang="en-US" sz="15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33,333円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注記"/>
          <p:cNvSpPr/>
          <p:nvPr/>
        </p:nvSpPr>
        <p:spPr>
          <a:xfrm>
            <a:off x="640080" y="4518506"/>
            <a:ext cx="862279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※来場率85%・90%は仮に置いた数字。申込み1件＝1人として計算（ご提示いただいた条件のまま）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注記"/>
          <p:cNvSpPr/>
          <p:nvPr/>
        </p:nvSpPr>
        <p:spPr>
          <a:xfrm>
            <a:off x="640080" y="4701387"/>
            <a:ext cx="862279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※必要な申込みは小数点以下を切り上げ、CPAは予算120万円÷必要な申込みで計算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前後検索「注文住宅」：当日に大手を比べ、その後は住宅ローン・性能を調べる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検討期間の約2週間の接点が、来場を左右する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pic>
        <p:nvPicPr>
          <p:cNvPr id="7" name="前後検索 注文住宅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468090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54958" y="1644777"/>
            <a:ext cx="692429" cy="3239261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LINE追加 札"/>
          <p:cNvSpPr/>
          <p:nvPr/>
        </p:nvSpPr>
        <p:spPr>
          <a:xfrm>
            <a:off x="3443973" y="5104866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LINE追加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住宅会社を比べる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D9661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費用・住宅ローンを調べる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間取り・性能を調べる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凡例の色"/>
          <p:cNvSpPr/>
          <p:nvPr/>
        </p:nvSpPr>
        <p:spPr>
          <a:xfrm>
            <a:off x="6629400" y="2395728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凡例"/>
          <p:cNvSpPr/>
          <p:nvPr/>
        </p:nvSpPr>
        <p:spPr>
          <a:xfrm>
            <a:off x="6812280" y="2340864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土地を調べる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分析 当日"/>
          <p:cNvSpPr/>
          <p:nvPr/>
        </p:nvSpPr>
        <p:spPr>
          <a:xfrm>
            <a:off x="6629400" y="2651760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当日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分析 当日 本文"/>
          <p:cNvSpPr/>
          <p:nvPr/>
        </p:nvSpPr>
        <p:spPr>
          <a:xfrm>
            <a:off x="6629400" y="2926079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住宅会社名が中心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一条工務店・積水ハウス・住友林業など。住宅展示場・土地探しも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分析 1〜7日後"/>
          <p:cNvSpPr/>
          <p:nvPr/>
        </p:nvSpPr>
        <p:spPr>
          <a:xfrm>
            <a:off x="6629400" y="3694176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1〜7日後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968496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住宅ローンと坪単価が増える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シミュレーション・審査・控除、坪単価。比べる会社はさらに広がる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分析 7〜15日後"/>
          <p:cNvSpPr/>
          <p:nvPr/>
        </p:nvSpPr>
        <p:spPr>
          <a:xfrm>
            <a:off x="6629400" y="473659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7〜15日後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5010912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間取り・性能が中心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断熱等級・吹き抜け・パントリー・ルームツアー。住宅ローンは金利の比較へ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会社を比べる → 費用 → 間取り・性能 の順に、</a:t>
            </a:r>
            <a:r>
              <a:rPr lang="ja-JP" altLang="en-US" sz="14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約2週間かけて検討が進む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※LINEヤフー社の前後検索データより。「注文住宅」を検索した方が、前後15日間に検索した言葉（縦軸＝検索した人数）。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全体設計想定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D73628C-261B-9AE4-0B66-12C6BEDE3EDD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集客動線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14400" rIns="36000" bIns="144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カスタマージャーニーマップにあわせてLINE投稿を配置。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※CV3段＝【リード】友だち追加・予算診断／【有効リード】見学会・個別相談の予約／【マネタイズ】ご契約。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⑤ リード有効化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⑦マネタイズ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成約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購入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⑥ 有効リードの再育成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001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⑧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LTV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最大化・紹介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 接触（認知・流入）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 サイト離脱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（対策）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 育成（興味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喚起</a:t>
            </a: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）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④リード獲得 </a:t>
            </a:r>
            <a:r>
              <a:rPr lang="en-US" altLang="ja-JP" sz="9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(web/LINE)</a:t>
            </a:r>
            <a:endParaRPr lang="ja-JP" altLang="ja-JP" sz="10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82287" y="2494423"/>
            <a:ext cx="224186" cy="24972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04FA0A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→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領域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領域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04FA0A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3453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オフライン→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領域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345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カスタマージャーニーマップ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どう</a:t>
            </a:r>
            <a:r>
              <a: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友だち追加させるか？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どう</a:t>
            </a:r>
            <a:r>
              <a: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友だちをアクションに結びつけるか？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→反響）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CPF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通知メッセージ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誘導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通知メッセージ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通知メッセージ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誘導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19110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店内ポップ・チラシ</a:t>
            </a:r>
            <a:endParaRPr lang="ja-JP" altLang="en-US" sz="800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フォロー体制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ステップ配信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企画配信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アンケート回収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スコアリング等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リサーチ回収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ショップカード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短期と長期で各自設計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LINEOA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施策においては、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友だちの新規追加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と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友だちの育成・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CV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動線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</a:t>
            </a:r>
            <a:endParaRPr kumimoji="1"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（初動）</a:t>
            </a:r>
            <a:endParaRPr kumimoji="1" lang="ja-JP" altLang="en-US" sz="12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月次</a:t>
            </a:r>
            <a:endParaRPr kumimoji="1"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（定例）</a:t>
            </a:r>
            <a:endParaRPr kumimoji="1" lang="ja-JP" altLang="en-US" sz="12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離脱防止・ポップアップ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HP/LP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滞在時に、条件を満たすと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ポップアップバナーを表示する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通知メッセージ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ユーザーアクション時に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連携で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にメッセ送付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サイトの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ページから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ログイン・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ID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連携等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ログインに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ID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を使用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サイトユーザー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ID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と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LINEID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を連携</a:t>
            </a:r>
            <a:endParaRPr kumimoji="1" lang="ja-JP" altLang="en-US" sz="105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CPF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kumimoji="1" lang="ja-JP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スタンプ・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Pt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・プロフ動線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・あいさつ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MSG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KW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自動応答設定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・再引上げ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・ステップ配信</a:t>
            </a:r>
            <a:r>
              <a:rPr lang="ja-JP" altLang="en-US" sz="9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：特定アクション後◯日での自動配信</a:t>
            </a:r>
            <a:endParaRPr kumimoji="1" lang="ja-JP" altLang="en-US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] </a:t>
            </a:r>
            <a:r>
              <a:rPr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 月間投稿数</a:t>
            </a:r>
            <a:endParaRPr lang="en-US" altLang="ja-JP" sz="12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・クーポン配信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・診断型配信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・季節／時事ネタ配信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</a:t>
            </a: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QA</a:t>
            </a:r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04FA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04FA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友だちの新規追加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539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友だちの育成・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CV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化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[</a:t>
            </a:r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ターゲット設定</a:t>
            </a:r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LINEOA</a:t>
            </a:r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オーガニック</a:t>
            </a:r>
            <a:endParaRPr kumimoji="1"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年齢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性別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地域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…)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(MSG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の</a:t>
            </a:r>
            <a:r>
              <a:rPr lang="en-US" altLang="ja-JP" sz="105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Imp,Click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LINE_API</a:t>
            </a:r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r>
              <a:rPr lang="ja-JP" altLang="en-US" sz="9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en-US" altLang="ja-JP" sz="9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9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en-US" altLang="ja-JP" sz="12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アンケート結果）</a:t>
            </a:r>
            <a:endParaRPr lang="en-US" altLang="ja-JP" sz="105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(WEB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サイトアクション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リマインド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再通知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(ID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連携した情報ベース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ユーザー一覧を取得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ID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アップロード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地点別スコアリング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endParaRPr lang="en-US" altLang="ja-JP" sz="105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5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5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※MA</a:t>
            </a:r>
            <a:r>
              <a:rPr lang="ja-JP" altLang="en-US" sz="10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</a:t>
            </a:r>
            <a:r>
              <a:rPr lang="en-US" altLang="ja-JP" sz="10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CRM</a:t>
            </a:r>
            <a:r>
              <a:rPr lang="ja-JP" altLang="en-US" sz="10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との連携</a:t>
            </a:r>
            <a:endParaRPr lang="en-US" altLang="ja-JP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購入・リードデータ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en-US" altLang="ja-JP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詳細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その他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サイト動線整備、プレスリリース等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数量により変動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クリエイティブ費用は基本的に内包、開発費用は別途見積もりとなります。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DYMのコンサル支援内容・費用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ツール導入だけではなく、CPO改善に向けたLINE運用まで支援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643500" y="1800000"/>
            <a:ext cx="2233969" cy="864000"/>
          </a:xfrm>
          <a:prstGeom prst="homePlate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731250" y="2112258"/>
            <a:ext cx="1985344" cy="23948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サンクスLINE導入</a:t>
            </a:r>
          </a:p>
        </p:txBody>
      </p:sp>
      <p:sp>
        <p:nvSpPr>
          <p:cNvPr id="8" name="Chevron 7"/>
          <p:cNvSpPr/>
          <p:nvPr/>
        </p:nvSpPr>
        <p:spPr>
          <a:xfrm>
            <a:off x="2775094" y="1800000"/>
            <a:ext cx="2233969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2965219" y="2112258"/>
            <a:ext cx="1882969" cy="23948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LINE配信設計</a:t>
            </a:r>
          </a:p>
        </p:txBody>
      </p:sp>
      <p:sp>
        <p:nvSpPr>
          <p:cNvPr id="10" name="Chevron 9"/>
          <p:cNvSpPr/>
          <p:nvPr/>
        </p:nvSpPr>
        <p:spPr>
          <a:xfrm>
            <a:off x="4906688" y="1800000"/>
            <a:ext cx="2233969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5096812" y="2112258"/>
            <a:ext cx="1882969" cy="23948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効果計測</a:t>
            </a:r>
          </a:p>
        </p:txBody>
      </p:sp>
      <p:sp>
        <p:nvSpPr>
          <p:cNvPr id="12" name="Chevron 11"/>
          <p:cNvSpPr/>
          <p:nvPr/>
        </p:nvSpPr>
        <p:spPr>
          <a:xfrm>
            <a:off x="7038281" y="1800000"/>
            <a:ext cx="2233969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7228406" y="2112258"/>
            <a:ext cx="1882969" cy="23948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改善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500" y="2844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500" y="3186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設定支援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2094" y="2844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2094" y="3186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2094" y="3528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92094" y="3870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3688" y="2844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3688" y="3186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LINE経由CV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3688" y="3528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5281" y="2844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55281" y="3186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配信タイミング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55281" y="3528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281" y="3911185"/>
            <a:ext cx="1941469" cy="205629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を継続改善</a:t>
            </a:r>
            <a:endParaRPr sz="1000" b="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8126016" y="4212000"/>
            <a:ext cx="0" cy="251999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62828" y="4463999"/>
            <a:ext cx="4263188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862828" y="4230000"/>
            <a:ext cx="0" cy="2339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50578" y="4487185"/>
            <a:ext cx="2925000" cy="205629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計測結果をもとに、配信・導線を見直す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3500" y="5043465"/>
            <a:ext cx="862875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3500" y="5194665"/>
            <a:ext cx="48502" cy="179999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745875" y="5175187"/>
            <a:ext cx="3772348" cy="222556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サンクスLINE誘導ツール｜費用目安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500" y="5544136"/>
            <a:ext cx="1933329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15万円</a:t>
            </a:r>
          </a:p>
        </p:txBody>
      </p:sp>
      <p:cxnSp>
        <p:nvCxnSpPr>
          <p:cNvPr id="35" name="Connector 34"/>
          <p:cNvCxnSpPr>
            <a:cxnSpLocks/>
          </p:cNvCxnSpPr>
          <p:nvPr/>
        </p:nvCxnSpPr>
        <p:spPr>
          <a:xfrm>
            <a:off x="2742188" y="5529465"/>
            <a:ext cx="0" cy="341999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742188" y="5544136"/>
            <a:ext cx="1933329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14000" y="5194665"/>
            <a:ext cx="58704" cy="179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5016375" y="5175187"/>
            <a:ext cx="4565854" cy="222556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LINE運用コンサル｜費用目安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6688" y="5544136"/>
            <a:ext cx="1560000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</a:t>
            </a:r>
            <a:r>
              <a:rPr lang="ja-JP" altLang="en-US" sz="1000" b="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3126" y="5544136"/>
            <a:ext cx="1560000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</a:t>
            </a:r>
            <a:r>
              <a:rPr lang="en-US" sz="10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20万円〜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19563" y="5545867"/>
            <a:ext cx="1560000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期間</a:t>
            </a:r>
            <a:r>
              <a:rPr lang="en-US" sz="10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6か月〜</a:t>
            </a:r>
          </a:p>
        </p:txBody>
      </p:sp>
      <p:cxnSp>
        <p:nvCxnSpPr>
          <p:cNvPr id="44" name="Connector 43"/>
          <p:cNvCxnSpPr>
            <a:cxnSpLocks/>
          </p:cNvCxnSpPr>
          <p:nvPr/>
        </p:nvCxnSpPr>
        <p:spPr>
          <a:xfrm>
            <a:off x="4797000" y="5151465"/>
            <a:ext cx="0" cy="791997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0813" y="6016994"/>
            <a:ext cx="8628750" cy="188701"/>
          </a:xfrm>
          <a:prstGeom prst="rect">
            <a:avLst/>
          </a:prstGeom>
          <a:noFill/>
        </p:spPr>
        <p:txBody>
          <a:bodyPr wrap="square" lIns="29250" tIns="18000" rIns="2925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※施策内容・配信本数・連携範囲等により、費用は個別にお見積もりいたします。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endParaRPr lang="ja-JP" altLang="en-US">
              <a:solidFill>
                <a:prstClr val="black"/>
              </a:solidFill>
              <a:latin typeface="メイリオ" pitchFamily="34" charset="0"/>
              <a:ea typeface="メイリオ" pitchFamily="50" charset="-128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141476</TotalTime>
  <Words>1331</Words>
  <Application>Microsoft Office PowerPoint</Application>
  <PresentationFormat>A4 210 x 297 mm</PresentationFormat>
  <Paragraphs>312</Paragraphs>
  <Slides>11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11</vt:i4>
      </vt:variant>
    </vt:vector>
  </HeadingPairs>
  <TitlesOfParts>
    <vt:vector size="18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1920</cp:revision>
  <cp:lastPrinted>2022-11-01T11:38:14Z</cp:lastPrinted>
  <dcterms:created xsi:type="dcterms:W3CDTF">2015-09-04T09:21:15Z</dcterms:created>
  <dcterms:modified xsi:type="dcterms:W3CDTF">2026-10-19T04:22:33Z</dcterms:modified>
</cp:coreProperties>
</file>