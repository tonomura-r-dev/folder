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14"/>
  </p:notesMasterIdLst>
  <p:handoutMasterIdLst>
    <p:handoutMasterId r:id="rId15"/>
  </p:handoutMasterIdLst>
  <p:sldIdLst>
    <p:sldId id="2363" r:id="rId3"/>
    <p:sldId id="2989" r:id="rId4"/>
    <p:sldId id="2990" r:id="rId5"/>
    <p:sldId id="257" r:id="rId6"/>
    <p:sldId id="2992" r:id="rId7"/>
    <p:sldId id="2995" r:id="rId20"/>
    <p:sldId id="2993" r:id="rId8"/>
    <p:sldId id="2994" r:id="rId9"/>
    <p:sldId id="2956" r:id="rId10"/>
    <p:sldId id="2937" r:id="rId11"/>
    <p:sldId id="261" r:id="rId12"/>
    <p:sldId id="1169" r:id="rId13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2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11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Relationship Id="rId7" Type="http://schemas.openxmlformats.org/officeDocument/2006/relationships/image" Target="../media/image10.jpg"/><Relationship Id="rId8" Type="http://schemas.openxmlformats.org/officeDocument/2006/relationships/image" Target="../media/image11.jpeg"/><Relationship Id="rId9" Type="http://schemas.openxmlformats.org/officeDocument/2006/relationships/image" Target="../media/image12.png"/><Relationship Id="rId10" Type="http://schemas.openxmlformats.org/officeDocument/2006/relationships/image" Target="../media/image13.png"/><Relationship Id="rId11" Type="http://schemas.openxmlformats.org/officeDocument/2006/relationships/hyperlink" Target="https://youtube.com/shorts/0qI4QgrOppQ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jpe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</a:t>
            </a:r>
            <a:r>
              <a:rPr lang="ja-JP" altLang="en-U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09344" y="2238650"/>
            <a:ext cx="6629400" cy="597620"/>
          </a:xfrm>
          <a:prstGeom prst="rect">
            <a:avLst/>
          </a:prstGeom>
        </p:spPr>
        <p:txBody>
          <a:bodyPr wrap="square" lIns="50400" tIns="21600" rIns="50400" bIns="21600" anchor="ctr">
            <a:spAutoFit/>
          </a:bodyPr>
          <a:lstStyle/>
          <a:p>
            <a:pPr algn="ctr"/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予約から来場までをLINEでつなぎ</a:t>
            </a:r>
            <a:r>
              <a:rPr b="1" dirty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、</a:t>
            </a:r>
          </a:p>
          <a:p>
            <a:pPr algn="ctr"/>
            <a:r>
              <a:rPr b="1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実来場を増やす</a:t>
            </a:r>
            <a:endParaRPr b="1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テキスト ボックス 6"/>
          <p:cNvSpPr/>
          <p:nvPr/>
        </p:nvSpPr>
        <p:spPr>
          <a:xfrm>
            <a:off x="291960" y="263520"/>
            <a:ext cx="49654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chemeClr val="dk1">
                    <a:lumMod val="50000"/>
                    <a:lumOff val="50000"/>
                  </a:schemeClr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株式会社くふう住まい 御中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現状と課題｜予約から来場まで、LINEでつながっていない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725334"/>
            <a:ext cx="9111472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来場者獲得単価を、今の37,500円から24,000円以下へ。申込みCPAと来場率の両方で改善する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現状と目標 5"/>
          <p:cNvGraphicFramePr>
            <a:graphicFrameLocks noGrp="1"/>
          </p:cNvGraphicFramePr>
          <p:nvPr/>
        </p:nvGraphicFramePr>
        <p:xfrm>
          <a:off x="640080" y="1960930"/>
          <a:ext cx="4389120" cy="2487168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現状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目標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申込みCPA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30,000円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19,000円以下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申込み件数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約40件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63件以上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来場率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実来場者数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約32人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50人以上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来場者獲得単価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約37,500円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24,000円以下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注記"/>
          <p:cNvSpPr/>
          <p:nvPr/>
        </p:nvSpPr>
        <p:spPr>
          <a:xfrm>
            <a:off x="640080" y="4493818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※1開催あたり（広告予算120万円）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流れ1"/>
          <p:cNvSpPr/>
          <p:nvPr/>
        </p:nvSpPr>
        <p:spPr>
          <a:xfrm>
            <a:off x="5486400" y="1960930"/>
            <a:ext cx="3776472" cy="457200"/>
          </a:xfrm>
          <a:prstGeom prst="rect">
            <a:avLst/>
          </a:prstGeom>
          <a:solidFill>
            <a:srgbClr val="1F2C5C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WEBで来場予約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矢印"/>
          <p:cNvSpPr/>
          <p:nvPr/>
        </p:nvSpPr>
        <p:spPr>
          <a:xfrm>
            <a:off x="5486400" y="2418130"/>
            <a:ext cx="3776472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▼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流れ2"/>
          <p:cNvSpPr/>
          <p:nvPr/>
        </p:nvSpPr>
        <p:spPr>
          <a:xfrm>
            <a:off x="5486400" y="2692450"/>
            <a:ext cx="3776472" cy="4572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予約確認メール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切れる"/>
          <p:cNvSpPr/>
          <p:nvPr/>
        </p:nvSpPr>
        <p:spPr>
          <a:xfrm>
            <a:off x="5486400" y="3195369"/>
            <a:ext cx="3776472" cy="777240"/>
          </a:xfrm>
          <a:prstGeom prst="rect">
            <a:avLst/>
          </a:prstGeom>
          <a:noFill/>
          <a:ln w="9525">
            <a:solidFill>
              <a:srgbClr val="C00000"/>
            </a:solidFill>
          </a:ln>
        </p:spPr>
        <p:txBody>
          <a:bodyPr wrap="square" lIns="73152" tIns="27432" rIns="73152" bIns="27432" rtlCol="0" anchor="ctr">
            <a:noAutofit/>
          </a:bodyPr>
          <a:lstStyle/>
          <a:p>
            <a:pPr algn="ctr">
              <a:lnSpc>
                <a:spcPct val="120000"/>
              </a:lnSpc>
              <a:buNone/>
            </a:pPr>
            <a:r>
              <a:rPr lang="ja-JP" altLang="en-US" sz="13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予約から当日まで、LINEでつながっていない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ctr">
              <a:lnSpc>
                <a:spcPct val="120000"/>
              </a:lnSpc>
              <a:buNone/>
            </a:pPr>
            <a:r>
              <a:rPr lang="ja-JP" altLang="en-US" sz="16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キャンセル 20%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流れ3"/>
          <p:cNvSpPr/>
          <p:nvPr/>
        </p:nvSpPr>
        <p:spPr>
          <a:xfrm>
            <a:off x="5486400" y="4018329"/>
            <a:ext cx="3776472" cy="457200"/>
          </a:xfrm>
          <a:prstGeom prst="rect">
            <a:avLst/>
          </a:prstGeom>
          <a:solidFill>
            <a:srgbClr val="DCE6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当日の受付でLINE登録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注記"/>
          <p:cNvSpPr/>
          <p:nvPr/>
        </p:nvSpPr>
        <p:spPr>
          <a:xfrm>
            <a:off x="5486400" y="4493818"/>
            <a:ext cx="377647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※くふうイエタテフェアのサイトより（2026年10月19日確認）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示唆"/>
          <p:cNvSpPr/>
          <p:nvPr/>
        </p:nvSpPr>
        <p:spPr>
          <a:xfrm>
            <a:off x="640080" y="4932730"/>
            <a:ext cx="8622792" cy="5029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500" b="1" dirty="0">
                <a:solidFill>
                  <a:srgbClr val="1F2C5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予約の直後にLINEでつながれば、当日までの案内で来場率を上げられる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広告と一緒にサンクスLINEを実施する理由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3500" y="792000"/>
            <a:ext cx="4212000" cy="3564000"/>
          </a:xfrm>
          <a:prstGeom prst="roundRect">
            <a:avLst>
              <a:gd name="adj" fmla="val 4000"/>
            </a:avLst>
          </a:prstGeom>
          <a:solidFill>
            <a:srgbClr val="F2F5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77500" y="990000"/>
            <a:ext cx="1053000" cy="324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89000" y="947195"/>
            <a:ext cx="2749500" cy="409609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14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施策全体の</a:t>
            </a: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2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CPA</a:t>
            </a:r>
            <a:r>
              <a:rPr sz="1400"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600" b="1" dirty="0" err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  <a:endParaRPr sz="1600" b="1" dirty="0">
              <a:solidFill>
                <a:srgbClr val="1F285A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1023750" y="1548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広告</a:t>
            </a:r>
          </a:p>
        </p:txBody>
      </p:sp>
      <p:sp>
        <p:nvSpPr>
          <p:cNvPr id="8" name="Isosceles Triangle 7"/>
          <p:cNvSpPr/>
          <p:nvPr/>
        </p:nvSpPr>
        <p:spPr>
          <a:xfrm rot="10800000">
            <a:off x="2685150" y="1998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23750" y="2142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LP</a:t>
            </a:r>
          </a:p>
        </p:txBody>
      </p:sp>
      <p:sp>
        <p:nvSpPr>
          <p:cNvPr id="10" name="Isosceles Triangle 9"/>
          <p:cNvSpPr/>
          <p:nvPr/>
        </p:nvSpPr>
        <p:spPr>
          <a:xfrm rot="10800000">
            <a:off x="2685150" y="2592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23750" y="2736000"/>
            <a:ext cx="3451500" cy="413999"/>
          </a:xfrm>
          <a:prstGeom prst="rect">
            <a:avLst/>
          </a:prstGeom>
          <a:solidFill>
            <a:srgbClr val="DDE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離脱防止 × 成果報酬施策</a:t>
            </a:r>
          </a:p>
        </p:txBody>
      </p:sp>
      <p:sp>
        <p:nvSpPr>
          <p:cNvPr id="12" name="Isosceles Triangle 11"/>
          <p:cNvSpPr/>
          <p:nvPr/>
        </p:nvSpPr>
        <p:spPr>
          <a:xfrm rot="10800000">
            <a:off x="2685150" y="3186000"/>
            <a:ext cx="128700" cy="108000"/>
          </a:xfrm>
          <a:prstGeom prst="triangle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23750" y="3330000"/>
            <a:ext cx="34515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000" y="3969474"/>
            <a:ext cx="3861000" cy="341050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CVの取りこぼしを減らし、獲得チャネルを増やすことで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施策全体のCPAを改善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0250" y="792000"/>
            <a:ext cx="4212000" cy="3564000"/>
          </a:xfrm>
          <a:prstGeom prst="roundRect">
            <a:avLst>
              <a:gd name="adj" fmla="val 4000"/>
            </a:avLst>
          </a:prstGeom>
          <a:solidFill>
            <a:srgbClr val="EEF7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5294250" y="990000"/>
            <a:ext cx="1053000" cy="324000"/>
          </a:xfrm>
          <a:prstGeom prst="roundRect">
            <a:avLst>
              <a:gd name="adj" fmla="val 50000"/>
            </a:avLst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CV獲得後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5749" y="947195"/>
            <a:ext cx="2749500" cy="409609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l">
              <a:lnSpc>
                <a:spcPct val="105000"/>
              </a:lnSpc>
              <a:spcAft>
                <a:spcPts val="200"/>
              </a:spcAft>
            </a:pPr>
            <a:r>
              <a:rPr sz="2400" b="1" dirty="0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CPO</a:t>
            </a:r>
            <a:r>
              <a:rPr sz="1600" b="1" dirty="0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sz="1600" b="1" dirty="0" err="1">
                <a:solidFill>
                  <a:srgbClr val="0E8A3F"/>
                </a:solidFill>
                <a:latin typeface="メイリオ"/>
                <a:ea typeface="メイリオ"/>
                <a:cs typeface="メイリオ"/>
              </a:rPr>
              <a:t>の改善</a:t>
            </a:r>
            <a:endParaRPr sz="1600" b="1" dirty="0">
              <a:solidFill>
                <a:srgbClr val="0E8A3F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440500" y="1548000"/>
            <a:ext cx="3451500" cy="413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</a:t>
            </a:r>
          </a:p>
        </p:txBody>
      </p:sp>
      <p:sp>
        <p:nvSpPr>
          <p:cNvPr id="19" name="Isosceles Triangle 18"/>
          <p:cNvSpPr/>
          <p:nvPr/>
        </p:nvSpPr>
        <p:spPr>
          <a:xfrm rot="10800000">
            <a:off x="7101900" y="1998000"/>
            <a:ext cx="128700" cy="108000"/>
          </a:xfrm>
          <a:prstGeom prst="triangle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440500" y="2142000"/>
            <a:ext cx="34515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サンクスLINE誘導</a:t>
            </a:r>
          </a:p>
        </p:txBody>
      </p:sp>
      <p:sp>
        <p:nvSpPr>
          <p:cNvPr id="21" name="Isosceles Triangle 20"/>
          <p:cNvSpPr/>
          <p:nvPr/>
        </p:nvSpPr>
        <p:spPr>
          <a:xfrm rot="10800000">
            <a:off x="7101900" y="2592000"/>
            <a:ext cx="1287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440500" y="2736000"/>
            <a:ext cx="3451500" cy="413999"/>
          </a:xfrm>
          <a:prstGeom prst="rect">
            <a:avLst/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LINEでナーチャリング</a:t>
            </a:r>
          </a:p>
        </p:txBody>
      </p:sp>
      <p:sp>
        <p:nvSpPr>
          <p:cNvPr id="23" name="Isosceles Triangle 22"/>
          <p:cNvSpPr/>
          <p:nvPr/>
        </p:nvSpPr>
        <p:spPr>
          <a:xfrm rot="10800000">
            <a:off x="7101900" y="3186000"/>
            <a:ext cx="128700" cy="108000"/>
          </a:xfrm>
          <a:prstGeom prst="triangle">
            <a:avLst/>
          </a:prstGeom>
          <a:solidFill>
            <a:srgbClr val="0B7A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440500" y="3330000"/>
            <a:ext cx="3451500" cy="413999"/>
          </a:xfrm>
          <a:prstGeom prst="rect">
            <a:avLst/>
          </a:prstGeom>
          <a:solidFill>
            <a:srgbClr val="0E8A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9250" tIns="0" rIns="2925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購入・契約などの最終成果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35750" y="4045649"/>
            <a:ext cx="3861000" cy="188701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CV後の歩留まりを改善し、CPOを改善</a:t>
            </a:r>
          </a:p>
        </p:txBody>
      </p:sp>
      <p:sp>
        <p:nvSpPr>
          <p:cNvPr id="26" name="Pentagon 25"/>
          <p:cNvSpPr/>
          <p:nvPr/>
        </p:nvSpPr>
        <p:spPr>
          <a:xfrm>
            <a:off x="643500" y="4536000"/>
            <a:ext cx="2934750" cy="684000"/>
          </a:xfrm>
          <a:prstGeom prst="homePlate">
            <a:avLst>
              <a:gd name="adj" fmla="val 22000"/>
            </a:avLst>
          </a:prstGeom>
          <a:solidFill>
            <a:srgbClr val="E8F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760500" y="4677723"/>
            <a:ext cx="258374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CPOの改善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1件の最終成果あたりの広告費を抑えられる</a:t>
            </a:r>
          </a:p>
        </p:txBody>
      </p:sp>
      <p:sp>
        <p:nvSpPr>
          <p:cNvPr id="28" name="Chevron 27"/>
          <p:cNvSpPr/>
          <p:nvPr/>
        </p:nvSpPr>
        <p:spPr>
          <a:xfrm>
            <a:off x="3490500" y="4536000"/>
            <a:ext cx="293475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3753750" y="4677723"/>
            <a:ext cx="243749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許容CPAの引き上げ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1件の最終成果にかけられる広告費が増える</a:t>
            </a:r>
          </a:p>
        </p:txBody>
      </p:sp>
      <p:sp>
        <p:nvSpPr>
          <p:cNvPr id="30" name="Chevron 29"/>
          <p:cNvSpPr/>
          <p:nvPr/>
        </p:nvSpPr>
        <p:spPr>
          <a:xfrm>
            <a:off x="6337499" y="4536000"/>
            <a:ext cx="2934750" cy="684000"/>
          </a:xfrm>
          <a:prstGeom prst="chevron">
            <a:avLst>
              <a:gd name="adj" fmla="val 22000"/>
            </a:avLst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00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6600749" y="4677723"/>
            <a:ext cx="2437499" cy="40055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20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広告配信の拡大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入札・予算・配信対象を広げやすくなる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9126000" y="5256000"/>
            <a:ext cx="0" cy="16200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789750" y="5418000"/>
            <a:ext cx="8336250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 flipV="1">
            <a:off x="789750" y="5263200"/>
            <a:ext cx="0" cy="15480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3349124" y="5292000"/>
            <a:ext cx="3217500" cy="251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さらに成果が増えれば、再投資して継続的に拡大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3500" y="5652000"/>
            <a:ext cx="8628750" cy="61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43500" y="5817828"/>
            <a:ext cx="8628750" cy="280343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広告とあわせて実施することで、</a:t>
            </a:r>
            <a:r>
              <a:rPr sz="1600" b="1" dirty="0" err="1">
                <a:solidFill>
                  <a:srgbClr val="FDFDFD"/>
                </a:solidFill>
                <a:latin typeface="メイリオ"/>
                <a:ea typeface="メイリオ"/>
                <a:cs typeface="メイリオ"/>
              </a:rPr>
              <a:t>事業全体の効率化</a:t>
            </a:r>
            <a:r>
              <a:rPr sz="1600" b="1" dirty="0" err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を図る</a:t>
            </a:r>
            <a:r>
              <a:rPr sz="1600" b="1" dirty="0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サンクスLINE｜機能・費用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CV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完了後約</a:t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2~3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秒で</a:t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41" name="四角形: 角を丸くする 40">
            <a:extLst>
              <a:ext uri="{FF2B5EF4-FFF2-40B4-BE49-F238E27FC236}">
                <a16:creationId xmlns:a16="http://schemas.microsoft.com/office/drawing/2014/main" id="{3DEB8AF5-27EB-F2A5-5738-9D4876D62932}"/>
              </a:ext>
            </a:extLst>
          </p:cNvPr>
          <p:cNvSpPr/>
          <p:nvPr/>
        </p:nvSpPr>
        <p:spPr>
          <a:xfrm>
            <a:off x="1331634" y="5386674"/>
            <a:ext cx="3965148" cy="1126724"/>
          </a:xfrm>
          <a:prstGeom prst="roundRect">
            <a:avLst>
              <a:gd name="adj" fmla="val 8129"/>
            </a:avLst>
          </a:prstGeom>
          <a:solidFill>
            <a:schemeClr val="bg1">
              <a:lumMod val="85000"/>
            </a:schemeClr>
          </a:solidFill>
          <a:ln w="12700"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3" name="図 42">
            <a:extLst>
              <a:ext uri="{FF2B5EF4-FFF2-40B4-BE49-F238E27FC236}">
                <a16:creationId xmlns:a16="http://schemas.microsoft.com/office/drawing/2014/main" id="{F4AEE4F6-B4F2-3B63-B340-970573C6BC9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362" y="5422614"/>
            <a:ext cx="1068810" cy="1060107"/>
          </a:xfrm>
          <a:prstGeom prst="rect">
            <a:avLst/>
          </a:prstGeom>
        </p:spPr>
      </p:pic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9E529396-156F-55A0-24A1-E3F30C8D079F}"/>
              </a:ext>
            </a:extLst>
          </p:cNvPr>
          <p:cNvSpPr txBox="1"/>
          <p:nvPr/>
        </p:nvSpPr>
        <p:spPr>
          <a:xfrm>
            <a:off x="2607260" y="6011736"/>
            <a:ext cx="1740223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QRコードを読み取って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動画を見る（約22秒）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FA39FB9E-0354-C79E-71A4-67DB6A28B75A}"/>
              </a:ext>
            </a:extLst>
          </p:cNvPr>
          <p:cNvSpPr txBox="1"/>
          <p:nvPr/>
        </p:nvSpPr>
        <p:spPr>
          <a:xfrm>
            <a:off x="4032248" y="5546685"/>
            <a:ext cx="869321" cy="276999"/>
          </a:xfrm>
          <a:prstGeom prst="rect">
            <a:avLst/>
          </a:prstGeom>
          <a:solidFill>
            <a:schemeClr val="tx2"/>
          </a:solidFill>
        </p:spPr>
        <p:txBody>
          <a:bodyPr wrap="square">
            <a:spAutoFit/>
          </a:bodyPr>
          <a:lstStyle/>
          <a:p>
            <a:r>
              <a:rPr lang="ja-JP" altLang="en-US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再生</a:t>
            </a:r>
            <a:r>
              <a:rPr lang="ja-JP" altLang="en-US" sz="1200" dirty="0">
                <a:solidFill>
                  <a:srgbClr val="0000FF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</a:t>
            </a:r>
            <a:r>
              <a:rPr lang="en-US" altLang="ja-JP" sz="12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[▷]</a:t>
            </a:r>
            <a:endParaRPr lang="ja-JP" altLang="en-US" sz="12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C2099EF7-D4DC-D52C-E0A5-F84C559A9E47}"/>
              </a:ext>
            </a:extLst>
          </p:cNvPr>
          <p:cNvSpPr txBox="1"/>
          <p:nvPr/>
        </p:nvSpPr>
        <p:spPr>
          <a:xfrm>
            <a:off x="2648894" y="5570417"/>
            <a:ext cx="174022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クリックして再生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サンクスLINE｜導入・活用実績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LINE活用の参考事例と、サンクスLINE誘導ツールの導入実績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70400" y="1980000"/>
            <a:ext cx="3131999" cy="25199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クリニック｜LINE活用による来院率改善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6400" y="2250000"/>
            <a:ext cx="1548000" cy="19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弊社運用の実績</a:t>
            </a:r>
          </a:p>
        </p:txBody>
      </p:sp>
      <p:sp>
        <p:nvSpPr>
          <p:cNvPr id="9" name="Rectangle 8"/>
          <p:cNvSpPr/>
          <p:nvPr/>
        </p:nvSpPr>
        <p:spPr>
          <a:xfrm>
            <a:off x="3851999" y="2034000"/>
            <a:ext cx="990000" cy="413999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予約完了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63600" y="2241000"/>
            <a:ext cx="1008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4986000" y="2034000"/>
            <a:ext cx="990000" cy="413999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LINE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997600" y="2241000"/>
            <a:ext cx="100800" cy="0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6120000" y="2034000"/>
            <a:ext cx="990000" cy="413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800" tIns="7200" rIns="10800" bIns="72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予約確認・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前日のお知らせ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82000" y="1853999"/>
            <a:ext cx="2034000" cy="18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予約後の来院率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82000" y="2051999"/>
            <a:ext cx="2034000" cy="503999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2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40〜50%</a:t>
            </a:r>
            <a:r>
              <a:rPr sz="12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改善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400" y="5993999"/>
            <a:ext cx="8629200" cy="34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※上段は弊社運用の実績（美容クリニック・LINE活用による来院率の改善）。サンクスLINE誘導ツールの実績とは別。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※下段はサンクスLINE誘導ツール導入前後の友だち増加数（人材業界）。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来場率と申込みCPA｜来場率が上がると、必要なCPAが緩む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725334"/>
            <a:ext cx="9111472" cy="529332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5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予算120万円で実来場50人を目指す場合の、来場率ごとの必要な申込み数とCPA</a:t>
            </a:r>
            <a:endParaRPr sz="100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来場率とCPA 5"/>
          <p:cNvGraphicFramePr>
            <a:graphicFrameLocks noGrp="1"/>
          </p:cNvGraphicFramePr>
          <p:nvPr/>
        </p:nvGraphicFramePr>
        <p:xfrm>
          <a:off x="640080" y="2232507"/>
          <a:ext cx="8622792" cy="2148840"/>
        </p:xfrm>
        <a:graphic>
          <a:graphicData uri="http://schemas.openxmlformats.org/drawingml/2006/table">
            <a:tbl>
              <a:tblPr/>
              <a:tblGrid>
                <a:gridCol w="1737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31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420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来場率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来場50人に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必要な申込み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必要な申込みCPA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（予算120万円）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CPA30,000円のままの</a:t>
                      </a:r>
                      <a:b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</a:br>
                      <a:r>
                        <a:rPr lang="ja-JP" altLang="en-US" sz="13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来場者獲得単価</a:t>
                      </a:r>
                      <a:endParaRPr lang="ja-JP" altLang="en-US" sz="13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C5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80%（今）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63件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19,048円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37,500円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85%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59件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20,339円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35,294円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90%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6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56件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1" dirty="0">
                          <a:solidFill>
                            <a:srgbClr val="1F2C5C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21,429円</a:t>
                      </a:r>
                      <a:endParaRPr lang="ja-JP" altLang="en-US" sz="15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  <a:cs typeface="メイリオ"/>
                        </a:rPr>
                        <a:t>33,333円</a:t>
                      </a:r>
                      <a:endParaRPr lang="ja-JP" altLang="en-US" sz="1400" dirty="0">
                        <a:latin typeface="メイリオ"/>
                        <a:ea typeface="メイリオ"/>
                        <a:cs typeface="メイリオ"/>
                      </a:endParaRPr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7" name="注記"/>
          <p:cNvSpPr/>
          <p:nvPr/>
        </p:nvSpPr>
        <p:spPr>
          <a:xfrm>
            <a:off x="640080" y="4518506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※来場率85%・90%は仮に置いた数字。申込み1件＝1人として計算（ご提示いただいた条件のまま）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注記"/>
          <p:cNvSpPr/>
          <p:nvPr/>
        </p:nvSpPr>
        <p:spPr>
          <a:xfrm>
            <a:off x="640080" y="4701387"/>
            <a:ext cx="8622792" cy="18288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※必要な申込みは小数点以下を切り上げ、CPAは予算120万円÷必要な申込みで計算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752;p28"/>
          <p:cNvSpPr/>
          <p:nvPr/>
        </p:nvSpPr>
        <p:spPr>
          <a:xfrm>
            <a:off x="549000" y="138240"/>
            <a:ext cx="768096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  <a:cs typeface="メイリオ"/>
              </a:rPr>
              <a:t>前後検索「注文住宅」：当日に大手を比べ、その後は住宅ローン・性能を調べる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3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6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 dirty="0">
                <a:effectLst/>
                <a:uFillTx/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検討期間の約2週間の接点が、来場を左右する</a:t>
            </a:r>
            <a:endParaRPr lang="en-US" sz="1400" b="1" u="none" strike="noStrike" dirty="0">
              <a:effectLst/>
              <a:uFillTx/>
              <a:latin typeface="メイリオ"/>
              <a:ea typeface="メイリオ"/>
              <a:cs typeface="メイリオ"/>
            </a:endParaRPr>
          </a:p>
        </p:txBody>
      </p:sp>
      <p:pic>
        <p:nvPicPr>
          <p:cNvPr id="7" name="前後検索 注文住宅（色分け）" descr="tanaka_zengo_chumon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00200"/>
            <a:ext cx="5943600" cy="3468090"/>
          </a:xfrm>
          <a:prstGeom prst="rect">
            <a:avLst/>
          </a:prstGeom>
        </p:spPr>
      </p:pic>
      <p:sp>
        <p:nvSpPr>
          <p:cNvPr id="8" name="LINE追加の時期"/>
          <p:cNvSpPr/>
          <p:nvPr/>
        </p:nvSpPr>
        <p:spPr>
          <a:xfrm>
            <a:off x="3554958" y="1644777"/>
            <a:ext cx="692429" cy="3239261"/>
          </a:xfrm>
          <a:prstGeom prst="rect">
            <a:avLst/>
          </a:prstGeom>
          <a:solidFill>
            <a:srgbClr val="06C755">
              <a:alpha val="16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LINE追加 札"/>
          <p:cNvSpPr/>
          <p:nvPr/>
        </p:nvSpPr>
        <p:spPr>
          <a:xfrm>
            <a:off x="3443973" y="5104866"/>
            <a:ext cx="914400" cy="237744"/>
          </a:xfrm>
          <a:prstGeom prst="rect">
            <a:avLst/>
          </a:prstGeom>
          <a:solidFill>
            <a:srgbClr val="C6EFCE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950" b="1" dirty="0">
                <a:solidFill>
                  <a:srgbClr val="00873C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LINE追加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" name="凡例の色"/>
          <p:cNvSpPr/>
          <p:nvPr/>
        </p:nvSpPr>
        <p:spPr>
          <a:xfrm>
            <a:off x="6629400" y="1655064"/>
            <a:ext cx="137160" cy="137160"/>
          </a:xfrm>
          <a:prstGeom prst="rect">
            <a:avLst/>
          </a:prstGeom>
          <a:solidFill>
            <a:srgbClr val="3467B2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凡例"/>
          <p:cNvSpPr/>
          <p:nvPr/>
        </p:nvSpPr>
        <p:spPr>
          <a:xfrm>
            <a:off x="6812280" y="1600200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住宅会社を比べる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2" name="凡例の色"/>
          <p:cNvSpPr/>
          <p:nvPr/>
        </p:nvSpPr>
        <p:spPr>
          <a:xfrm>
            <a:off x="6629400" y="1901952"/>
            <a:ext cx="137160" cy="137160"/>
          </a:xfrm>
          <a:prstGeom prst="rect">
            <a:avLst/>
          </a:prstGeom>
          <a:solidFill>
            <a:srgbClr val="D9661F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凡例"/>
          <p:cNvSpPr/>
          <p:nvPr/>
        </p:nvSpPr>
        <p:spPr>
          <a:xfrm>
            <a:off x="6812280" y="1847088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費用・住宅ローンを調べる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凡例の色"/>
          <p:cNvSpPr/>
          <p:nvPr/>
        </p:nvSpPr>
        <p:spPr>
          <a:xfrm>
            <a:off x="6629400" y="2148840"/>
            <a:ext cx="137160" cy="137160"/>
          </a:xfrm>
          <a:prstGeom prst="rect">
            <a:avLst/>
          </a:prstGeom>
          <a:solidFill>
            <a:srgbClr val="8E4EC6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5" name="凡例"/>
          <p:cNvSpPr/>
          <p:nvPr/>
        </p:nvSpPr>
        <p:spPr>
          <a:xfrm>
            <a:off x="6812280" y="2093976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間取り・性能を調べる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6" name="凡例の色"/>
          <p:cNvSpPr/>
          <p:nvPr/>
        </p:nvSpPr>
        <p:spPr>
          <a:xfrm>
            <a:off x="6629400" y="2395728"/>
            <a:ext cx="137160" cy="137160"/>
          </a:xfrm>
          <a:prstGeom prst="rect">
            <a:avLst/>
          </a:prstGeom>
          <a:solidFill>
            <a:srgbClr val="00897B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凡例"/>
          <p:cNvSpPr/>
          <p:nvPr/>
        </p:nvSpPr>
        <p:spPr>
          <a:xfrm>
            <a:off x="6812280" y="2340864"/>
            <a:ext cx="2587752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土地を調べる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8" name="分析 当日"/>
          <p:cNvSpPr/>
          <p:nvPr/>
        </p:nvSpPr>
        <p:spPr>
          <a:xfrm>
            <a:off x="6629400" y="2651760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当日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19" name="分析 当日 本文"/>
          <p:cNvSpPr/>
          <p:nvPr/>
        </p:nvSpPr>
        <p:spPr>
          <a:xfrm>
            <a:off x="6629400" y="2926079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住宅会社名が中心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一条工務店・積水ハウス・住友林業など。住宅展示場・土地探しも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分析 1〜7日後"/>
          <p:cNvSpPr/>
          <p:nvPr/>
        </p:nvSpPr>
        <p:spPr>
          <a:xfrm>
            <a:off x="6629400" y="3694176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1〜7日後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分析 1〜7日後 本文"/>
          <p:cNvSpPr/>
          <p:nvPr/>
        </p:nvSpPr>
        <p:spPr>
          <a:xfrm>
            <a:off x="6629400" y="3968496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住宅ローンと坪単価が増える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シミュレーション・審査・控除、坪単価。比べる会社はさらに広がる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2" name="分析 7〜15日後"/>
          <p:cNvSpPr/>
          <p:nvPr/>
        </p:nvSpPr>
        <p:spPr>
          <a:xfrm>
            <a:off x="6629400" y="4736592"/>
            <a:ext cx="2770632" cy="274320"/>
          </a:xfrm>
          <a:prstGeom prst="rect">
            <a:avLst/>
          </a:prstGeom>
          <a:solidFill>
            <a:srgbClr val="1F285A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7〜15日後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3" name="分析 7〜15日後 本文"/>
          <p:cNvSpPr/>
          <p:nvPr/>
        </p:nvSpPr>
        <p:spPr>
          <a:xfrm>
            <a:off x="6629400" y="5010912"/>
            <a:ext cx="2770632" cy="713232"/>
          </a:xfrm>
          <a:prstGeom prst="rect">
            <a:avLst/>
          </a:prstGeom>
          <a:noFill/>
          <a:ln w="9525">
            <a:solidFill>
              <a:srgbClr val="D9D9D9"/>
            </a:solidFill>
          </a:ln>
        </p:spPr>
        <p:txBody>
          <a:bodyPr wrap="square" lIns="73152" tIns="36576" rIns="73152" bIns="27432" rtlCol="0" anchor="t">
            <a:noAutofit/>
          </a:bodyPr>
          <a:lstStyle/>
          <a:p>
            <a:pPr algn="l">
              <a:lnSpc>
                <a:spcPct val="110000"/>
              </a:lnSpc>
              <a:buNone/>
            </a:pPr>
            <a:r>
              <a:rPr lang="ja-JP" altLang="en-US" sz="12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間取り・性能が中心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  <a:p>
            <a:pPr algn="l">
              <a:lnSpc>
                <a:spcPct val="110000"/>
              </a:lnSpc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断熱等級・吹き抜け・パントリー・ルームツアー。住宅ローンは金利の比較へ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示唆"/>
          <p:cNvSpPr/>
          <p:nvPr/>
        </p:nvSpPr>
        <p:spPr>
          <a:xfrm>
            <a:off x="502920" y="5779008"/>
            <a:ext cx="8897112" cy="411480"/>
          </a:xfrm>
          <a:prstGeom prst="rect">
            <a:avLst/>
          </a:prstGeom>
          <a:solidFill>
            <a:srgbClr val="F4F7FF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buNone/>
            </a:pPr>
            <a:r>
              <a:rPr lang="ja-JP" altLang="en-US" sz="1400" b="1" dirty="0">
                <a:solidFill>
                  <a:srgbClr val="1F285A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会社を比べる → 費用 → 間取り・性能 の順に、</a:t>
            </a:r>
            <a:r>
              <a:rPr lang="ja-JP" altLang="en-US" sz="1400" b="1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約2週間かけて検討が進む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注記"/>
          <p:cNvSpPr/>
          <p:nvPr/>
        </p:nvSpPr>
        <p:spPr>
          <a:xfrm>
            <a:off x="502920" y="6236208"/>
            <a:ext cx="8897112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lnSpc>
                <a:spcPct val="115000"/>
              </a:lnSpc>
              <a:buNone/>
            </a:pPr>
            <a:r>
              <a:rPr lang="ja-JP" altLang="en-US" sz="85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※LINEヤフー社の前後検索データより。「注文住宅」を検索した方が、前後15日間に検索した言葉（縦軸＝検索した人数）。</a:t>
            </a:r>
            <a:endParaRPr lang="ja-JP" altLang="en-US" sz="1200" dirty="0">
              <a:latin typeface="メイリオ"/>
              <a:ea typeface="メイリオ"/>
              <a:cs typeface="メイリオ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92180-D336-F255-C39D-17584774E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C912E4CC-70AD-5529-2A5A-4FA0D1C97A2B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全体設計想定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BD73628C-261B-9AE4-0B66-12C6BEDE3EDD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40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集客動線</a:t>
            </a:r>
            <a:endParaRPr kumimoji="1" lang="ja-JP" altLang="en-US" sz="14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AF6C2475-3BD5-7DF2-52BD-C0F30E8072CF}"/>
              </a:ext>
            </a:extLst>
          </p:cNvPr>
          <p:cNvSpPr txBox="1"/>
          <p:nvPr/>
        </p:nvSpPr>
        <p:spPr>
          <a:xfrm>
            <a:off x="1988819" y="736332"/>
            <a:ext cx="7774305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000" tIns="14400" rIns="36000" bIns="14400" anchor="ctr" anchorCtr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カスタマージャーニーマップにあわせてLINE投稿を配置。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  <a:p>
            <a:pPr algn="l">
              <a:lnSpc>
                <a:spcPct val="120000"/>
              </a:lnSpc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※CV3段＝【リード】友だち追加・予算診断／【有効リード】見学会・個別相談の予約／【マネタイズ】ご契約。</a:t>
            </a:r>
          </a:p>
        </p:txBody>
      </p: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8D0721AE-E7E5-698E-E773-F2614C0DBB07}"/>
              </a:ext>
            </a:extLst>
          </p:cNvPr>
          <p:cNvCxnSpPr>
            <a:cxnSpLocks/>
          </p:cNvCxnSpPr>
          <p:nvPr/>
        </p:nvCxnSpPr>
        <p:spPr>
          <a:xfrm>
            <a:off x="315939" y="2178817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3BFFC88E-A589-D631-D366-94F280EFF67D}"/>
              </a:ext>
            </a:extLst>
          </p:cNvPr>
          <p:cNvCxnSpPr>
            <a:cxnSpLocks/>
          </p:cNvCxnSpPr>
          <p:nvPr/>
        </p:nvCxnSpPr>
        <p:spPr>
          <a:xfrm>
            <a:off x="1265077" y="2190680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直線コネクタ 5">
            <a:extLst>
              <a:ext uri="{FF2B5EF4-FFF2-40B4-BE49-F238E27FC236}">
                <a16:creationId xmlns:a16="http://schemas.microsoft.com/office/drawing/2014/main" id="{D90E23BB-3076-5B7D-82F3-8433A2B09D1F}"/>
              </a:ext>
            </a:extLst>
          </p:cNvPr>
          <p:cNvCxnSpPr>
            <a:cxnSpLocks/>
          </p:cNvCxnSpPr>
          <p:nvPr/>
        </p:nvCxnSpPr>
        <p:spPr>
          <a:xfrm>
            <a:off x="2202413" y="2188038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3A68BF14-4E95-B76C-1300-FF13B29BADF0}"/>
              </a:ext>
            </a:extLst>
          </p:cNvPr>
          <p:cNvCxnSpPr>
            <a:cxnSpLocks/>
          </p:cNvCxnSpPr>
          <p:nvPr/>
        </p:nvCxnSpPr>
        <p:spPr>
          <a:xfrm>
            <a:off x="3136468" y="2207356"/>
            <a:ext cx="0" cy="2882641"/>
          </a:xfrm>
          <a:prstGeom prst="line">
            <a:avLst/>
          </a:prstGeom>
          <a:ln w="6350">
            <a:solidFill>
              <a:srgbClr val="FFC000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コネクタ 7">
            <a:extLst>
              <a:ext uri="{FF2B5EF4-FFF2-40B4-BE49-F238E27FC236}">
                <a16:creationId xmlns:a16="http://schemas.microsoft.com/office/drawing/2014/main" id="{6558815C-4A36-8DFA-3258-ADAC642B44B6}"/>
              </a:ext>
            </a:extLst>
          </p:cNvPr>
          <p:cNvCxnSpPr>
            <a:cxnSpLocks/>
          </p:cNvCxnSpPr>
          <p:nvPr/>
        </p:nvCxnSpPr>
        <p:spPr>
          <a:xfrm>
            <a:off x="3541980" y="2217939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直線コネクタ 9">
            <a:extLst>
              <a:ext uri="{FF2B5EF4-FFF2-40B4-BE49-F238E27FC236}">
                <a16:creationId xmlns:a16="http://schemas.microsoft.com/office/drawing/2014/main" id="{9B24DBF0-6A3A-0783-C6E3-74B28D837D9E}"/>
              </a:ext>
            </a:extLst>
          </p:cNvPr>
          <p:cNvCxnSpPr>
            <a:cxnSpLocks/>
          </p:cNvCxnSpPr>
          <p:nvPr/>
        </p:nvCxnSpPr>
        <p:spPr>
          <a:xfrm>
            <a:off x="4833781" y="2229802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9F92929-7F37-647E-2D3E-0EB84FFB20D1}"/>
              </a:ext>
            </a:extLst>
          </p:cNvPr>
          <p:cNvCxnSpPr>
            <a:cxnSpLocks/>
          </p:cNvCxnSpPr>
          <p:nvPr/>
        </p:nvCxnSpPr>
        <p:spPr>
          <a:xfrm>
            <a:off x="6125582" y="2227160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53FD7B1-4120-4E04-0DDF-B4B54EDB9BFD}"/>
              </a:ext>
            </a:extLst>
          </p:cNvPr>
          <p:cNvCxnSpPr>
            <a:cxnSpLocks/>
          </p:cNvCxnSpPr>
          <p:nvPr/>
        </p:nvCxnSpPr>
        <p:spPr>
          <a:xfrm>
            <a:off x="7417384" y="2217938"/>
            <a:ext cx="0" cy="4305308"/>
          </a:xfrm>
          <a:prstGeom prst="line">
            <a:avLst/>
          </a:prstGeom>
          <a:ln w="6350">
            <a:solidFill>
              <a:srgbClr val="2080FF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BDE72C7-C765-8BB2-E494-8277E0D528BC}"/>
              </a:ext>
            </a:extLst>
          </p:cNvPr>
          <p:cNvSpPr txBox="1"/>
          <p:nvPr/>
        </p:nvSpPr>
        <p:spPr>
          <a:xfrm>
            <a:off x="3542139" y="2124167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⑤ リード有効化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BDDC66-06A4-F147-F6D6-595BB801B1D3}"/>
              </a:ext>
            </a:extLst>
          </p:cNvPr>
          <p:cNvSpPr txBox="1"/>
          <p:nvPr/>
        </p:nvSpPr>
        <p:spPr>
          <a:xfrm>
            <a:off x="6119413" y="2533325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⑦マネタイズ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成約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購入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75707FE-6207-A0AF-61A0-E9AABECDAC37}"/>
              </a:ext>
            </a:extLst>
          </p:cNvPr>
          <p:cNvSpPr txBox="1"/>
          <p:nvPr/>
        </p:nvSpPr>
        <p:spPr>
          <a:xfrm>
            <a:off x="4830776" y="2328746"/>
            <a:ext cx="2352196" cy="383023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⑥ 有効リードの再育成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9AFAACD-69A5-DAB7-2AB7-5204509E5CCB}"/>
              </a:ext>
            </a:extLst>
          </p:cNvPr>
          <p:cNvSpPr txBox="1"/>
          <p:nvPr/>
        </p:nvSpPr>
        <p:spPr>
          <a:xfrm>
            <a:off x="7408050" y="2737904"/>
            <a:ext cx="2352196" cy="400110"/>
          </a:xfrm>
          <a:prstGeom prst="rect">
            <a:avLst/>
          </a:prstGeom>
          <a:solidFill>
            <a:schemeClr val="tx2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⑧</a:t>
            </a:r>
            <a:r>
              <a:rPr lang="en-US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LTV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最大化・紹介</a:t>
            </a:r>
            <a:endParaRPr lang="en-US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>
              <a:buNone/>
            </a:pPr>
            <a:endParaRPr lang="ja-JP" altLang="ja-JP" sz="9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8B260C5F-25D5-8ED9-9E9C-2E4B97F7FE0C}"/>
              </a:ext>
            </a:extLst>
          </p:cNvPr>
          <p:cNvSpPr txBox="1"/>
          <p:nvPr/>
        </p:nvSpPr>
        <p:spPr>
          <a:xfrm>
            <a:off x="334303" y="2130251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① 接触（認知・流入）</a:t>
            </a: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D76A6924-9615-4D2D-207A-2C463DAF53AF}"/>
              </a:ext>
            </a:extLst>
          </p:cNvPr>
          <p:cNvSpPr txBox="1"/>
          <p:nvPr/>
        </p:nvSpPr>
        <p:spPr>
          <a:xfrm>
            <a:off x="1268358" y="234091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② サイト離脱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（対策）</a:t>
            </a:r>
            <a:endParaRPr lang="ja-JP" altLang="ja-JP" sz="11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8C64E429-AF18-081D-2A8E-EDCE056C0C0B}"/>
              </a:ext>
            </a:extLst>
          </p:cNvPr>
          <p:cNvSpPr txBox="1"/>
          <p:nvPr/>
        </p:nvSpPr>
        <p:spPr>
          <a:xfrm>
            <a:off x="2202413" y="2535023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③ 育成（興味</a:t>
            </a: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喚起</a:t>
            </a:r>
            <a:r>
              <a:rPr lang="ja-JP" altLang="ja-JP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）</a:t>
            </a: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7B99F819-3A4C-8D01-87D3-59398A0C3663}"/>
              </a:ext>
            </a:extLst>
          </p:cNvPr>
          <p:cNvSpPr txBox="1"/>
          <p:nvPr/>
        </p:nvSpPr>
        <p:spPr>
          <a:xfrm>
            <a:off x="3136468" y="2731376"/>
            <a:ext cx="1868111" cy="383023"/>
          </a:xfrm>
          <a:prstGeom prst="rect">
            <a:avLst/>
          </a:prstGeom>
          <a:solidFill>
            <a:schemeClr val="accent6">
              <a:lumMod val="40000"/>
              <a:lumOff val="60000"/>
              <a:alpha val="30000"/>
            </a:schemeClr>
          </a:solidFill>
        </p:spPr>
        <p:txBody>
          <a:bodyPr wrap="square">
            <a:spAutoFit/>
          </a:bodyPr>
          <a:lstStyle/>
          <a:p>
            <a:pPr>
              <a:buNone/>
            </a:pPr>
            <a:r>
              <a:rPr lang="ja-JP" altLang="en-US" sz="11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④リード獲得 </a:t>
            </a:r>
            <a:r>
              <a:rPr lang="en-US" altLang="ja-JP" sz="9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(web/LINE)</a:t>
            </a:r>
            <a:endParaRPr lang="ja-JP" altLang="ja-JP" sz="10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cxnSp>
        <p:nvCxnSpPr>
          <p:cNvPr id="22" name="コネクタ: カギ線 21">
            <a:extLst>
              <a:ext uri="{FF2B5EF4-FFF2-40B4-BE49-F238E27FC236}">
                <a16:creationId xmlns:a16="http://schemas.microsoft.com/office/drawing/2014/main" id="{89810CF4-19DD-8F80-464F-FE8E1D250689}"/>
              </a:ext>
            </a:extLst>
          </p:cNvPr>
          <p:cNvCxnSpPr>
            <a:cxnSpLocks/>
            <a:stCxn id="21" idx="0"/>
            <a:endCxn id="14" idx="2"/>
          </p:cNvCxnSpPr>
          <p:nvPr/>
        </p:nvCxnSpPr>
        <p:spPr>
          <a:xfrm rot="5400000" flipH="1" flipV="1">
            <a:off x="4282287" y="2494423"/>
            <a:ext cx="224186" cy="249721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3F2ACC73-0643-27D8-F1B3-1B871FCEF141}"/>
              </a:ext>
            </a:extLst>
          </p:cNvPr>
          <p:cNvCxnSpPr>
            <a:cxnSpLocks/>
          </p:cNvCxnSpPr>
          <p:nvPr/>
        </p:nvCxnSpPr>
        <p:spPr>
          <a:xfrm>
            <a:off x="334303" y="3515795"/>
            <a:ext cx="3207836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69C05BA8-18F6-F344-3C54-A5E03AFE2368}"/>
              </a:ext>
            </a:extLst>
          </p:cNvPr>
          <p:cNvCxnSpPr>
            <a:cxnSpLocks/>
          </p:cNvCxnSpPr>
          <p:nvPr/>
        </p:nvCxnSpPr>
        <p:spPr>
          <a:xfrm>
            <a:off x="3122098" y="4928015"/>
            <a:ext cx="6619128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77786FC-857A-BA29-36E6-9A41C2E99F31}"/>
              </a:ext>
            </a:extLst>
          </p:cNvPr>
          <p:cNvSpPr txBox="1"/>
          <p:nvPr/>
        </p:nvSpPr>
        <p:spPr>
          <a:xfrm>
            <a:off x="1268358" y="3383509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→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B6D9466-EC9E-4057-AB18-8974D147F3E8}"/>
              </a:ext>
            </a:extLst>
          </p:cNvPr>
          <p:cNvSpPr txBox="1"/>
          <p:nvPr/>
        </p:nvSpPr>
        <p:spPr>
          <a:xfrm>
            <a:off x="5558554" y="4804166"/>
            <a:ext cx="158121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➙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WEB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C2DCC080-98CE-945F-96A2-C42DE7E0C936}"/>
              </a:ext>
            </a:extLst>
          </p:cNvPr>
          <p:cNvCxnSpPr>
            <a:cxnSpLocks/>
          </p:cNvCxnSpPr>
          <p:nvPr/>
        </p:nvCxnSpPr>
        <p:spPr>
          <a:xfrm>
            <a:off x="3609975" y="3504789"/>
            <a:ext cx="2482432" cy="0"/>
          </a:xfrm>
          <a:prstGeom prst="straightConnector1">
            <a:avLst/>
          </a:prstGeom>
          <a:ln w="28575">
            <a:solidFill>
              <a:srgbClr val="04FA0A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EA293A6D-CB27-A495-B2B6-10D3182B0B70}"/>
              </a:ext>
            </a:extLst>
          </p:cNvPr>
          <p:cNvSpPr txBox="1"/>
          <p:nvPr/>
        </p:nvSpPr>
        <p:spPr>
          <a:xfrm>
            <a:off x="3908480" y="3397243"/>
            <a:ext cx="1913269" cy="234537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オフライン→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領域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2AFCBDA6-2140-B4C1-A45D-7A34BC218997}"/>
              </a:ext>
            </a:extLst>
          </p:cNvPr>
          <p:cNvSpPr/>
          <p:nvPr/>
        </p:nvSpPr>
        <p:spPr>
          <a:xfrm>
            <a:off x="334303" y="1552575"/>
            <a:ext cx="9425943" cy="44850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0" name="直線矢印コネクタ 29">
            <a:extLst>
              <a:ext uri="{FF2B5EF4-FFF2-40B4-BE49-F238E27FC236}">
                <a16:creationId xmlns:a16="http://schemas.microsoft.com/office/drawing/2014/main" id="{852097C2-692E-64D7-A5ED-5C35A2EFC975}"/>
              </a:ext>
            </a:extLst>
          </p:cNvPr>
          <p:cNvCxnSpPr>
            <a:cxnSpLocks/>
          </p:cNvCxnSpPr>
          <p:nvPr/>
        </p:nvCxnSpPr>
        <p:spPr>
          <a:xfrm>
            <a:off x="417642" y="1782459"/>
            <a:ext cx="9240215" cy="0"/>
          </a:xfrm>
          <a:prstGeom prst="straightConnector1">
            <a:avLst/>
          </a:prstGeom>
          <a:ln w="28575">
            <a:solidFill>
              <a:schemeClr val="tx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9F2742C3-41F6-3CC5-6355-EC9495CFE608}"/>
              </a:ext>
            </a:extLst>
          </p:cNvPr>
          <p:cNvSpPr txBox="1"/>
          <p:nvPr/>
        </p:nvSpPr>
        <p:spPr>
          <a:xfrm>
            <a:off x="4066503" y="1654589"/>
            <a:ext cx="2315056" cy="23453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カスタマージャーニーマップ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BF6CFDE9-CDE8-1133-47F9-90F22773AF32}"/>
              </a:ext>
            </a:extLst>
          </p:cNvPr>
          <p:cNvSpPr/>
          <p:nvPr/>
        </p:nvSpPr>
        <p:spPr>
          <a:xfrm>
            <a:off x="315939" y="3613966"/>
            <a:ext cx="577646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友だち追加させるか？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）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39DCB4B6-9411-CC10-0D34-9F40EC11AD82}"/>
              </a:ext>
            </a:extLst>
          </p:cNvPr>
          <p:cNvSpPr/>
          <p:nvPr/>
        </p:nvSpPr>
        <p:spPr>
          <a:xfrm>
            <a:off x="3122098" y="5051222"/>
            <a:ext cx="6619128" cy="242559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どう</a:t>
            </a:r>
            <a:r>
              <a: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友だちをアクションに結びつけるか？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</a:t>
            </a:r>
            <a:r>
              <a:rPr kumimoji="1" lang="en-US" altLang="ja-JP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000" dirty="0">
                <a:solidFill>
                  <a:srgbClr val="FFFF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→反響）</a:t>
            </a:r>
          </a:p>
        </p:txBody>
      </p: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94F8848-87A6-4A24-C2DE-D4A5BD2787D7}"/>
              </a:ext>
            </a:extLst>
          </p:cNvPr>
          <p:cNvCxnSpPr>
            <a:cxnSpLocks/>
          </p:cNvCxnSpPr>
          <p:nvPr/>
        </p:nvCxnSpPr>
        <p:spPr>
          <a:xfrm>
            <a:off x="484665" y="3964795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13A35DD7-3CE1-ABA2-45A4-29A5F6D013E2}"/>
              </a:ext>
            </a:extLst>
          </p:cNvPr>
          <p:cNvSpPr txBox="1"/>
          <p:nvPr/>
        </p:nvSpPr>
        <p:spPr>
          <a:xfrm>
            <a:off x="853704" y="3860734"/>
            <a:ext cx="822746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CPF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広告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4DD36FC2-6468-F5B5-EFB8-BBFB2CF7F452}"/>
              </a:ext>
            </a:extLst>
          </p:cNvPr>
          <p:cNvCxnSpPr>
            <a:cxnSpLocks/>
          </p:cNvCxnSpPr>
          <p:nvPr/>
        </p:nvCxnSpPr>
        <p:spPr>
          <a:xfrm>
            <a:off x="3442595" y="43324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52205788-B1CC-5FF9-ED78-B6DD32267E17}"/>
              </a:ext>
            </a:extLst>
          </p:cNvPr>
          <p:cNvSpPr txBox="1"/>
          <p:nvPr/>
        </p:nvSpPr>
        <p:spPr>
          <a:xfrm>
            <a:off x="3811634" y="41986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39" name="直線矢印コネクタ 38">
            <a:extLst>
              <a:ext uri="{FF2B5EF4-FFF2-40B4-BE49-F238E27FC236}">
                <a16:creationId xmlns:a16="http://schemas.microsoft.com/office/drawing/2014/main" id="{923E43E2-8157-8C38-4A7C-C186793E6650}"/>
              </a:ext>
            </a:extLst>
          </p:cNvPr>
          <p:cNvCxnSpPr>
            <a:cxnSpLocks/>
          </p:cNvCxnSpPr>
          <p:nvPr/>
        </p:nvCxnSpPr>
        <p:spPr>
          <a:xfrm>
            <a:off x="3442595" y="458569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9B46B511-7630-9D21-552D-BAD1DCEC8387}"/>
              </a:ext>
            </a:extLst>
          </p:cNvPr>
          <p:cNvSpPr txBox="1"/>
          <p:nvPr/>
        </p:nvSpPr>
        <p:spPr>
          <a:xfrm>
            <a:off x="3811634" y="4451915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64D8562C-014D-DFB4-2D01-7479448659D1}"/>
              </a:ext>
            </a:extLst>
          </p:cNvPr>
          <p:cNvCxnSpPr>
            <a:cxnSpLocks/>
          </p:cNvCxnSpPr>
          <p:nvPr/>
        </p:nvCxnSpPr>
        <p:spPr>
          <a:xfrm>
            <a:off x="1351697" y="415316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540E1D19-5457-9319-2789-430F63EC5A42}"/>
              </a:ext>
            </a:extLst>
          </p:cNvPr>
          <p:cNvSpPr txBox="1"/>
          <p:nvPr/>
        </p:nvSpPr>
        <p:spPr>
          <a:xfrm>
            <a:off x="1720736" y="4019384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490155E9-25FB-3090-382A-CA0B7F87F965}"/>
              </a:ext>
            </a:extLst>
          </p:cNvPr>
          <p:cNvCxnSpPr>
            <a:cxnSpLocks/>
          </p:cNvCxnSpPr>
          <p:nvPr/>
        </p:nvCxnSpPr>
        <p:spPr>
          <a:xfrm>
            <a:off x="1351697" y="438431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08D35021-E114-E4DF-FF22-BF7BE0CDF4D8}"/>
              </a:ext>
            </a:extLst>
          </p:cNvPr>
          <p:cNvSpPr txBox="1"/>
          <p:nvPr/>
        </p:nvSpPr>
        <p:spPr>
          <a:xfrm>
            <a:off x="1720736" y="4250529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サイト動線の整備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6840C346-E790-A413-26C5-79129D6F5FB7}"/>
              </a:ext>
            </a:extLst>
          </p:cNvPr>
          <p:cNvCxnSpPr>
            <a:cxnSpLocks/>
          </p:cNvCxnSpPr>
          <p:nvPr/>
        </p:nvCxnSpPr>
        <p:spPr>
          <a:xfrm>
            <a:off x="3900757" y="402215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715CC99E-9A08-159E-0120-31020FC33D0F}"/>
              </a:ext>
            </a:extLst>
          </p:cNvPr>
          <p:cNvSpPr txBox="1"/>
          <p:nvPr/>
        </p:nvSpPr>
        <p:spPr>
          <a:xfrm>
            <a:off x="4269796" y="388836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既存リストの活用</a:t>
            </a:r>
            <a:endParaRPr lang="en-US" altLang="ja-JP" sz="10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C26FDFF8-ECDB-0D20-5A53-4F74EF6D93F8}"/>
              </a:ext>
            </a:extLst>
          </p:cNvPr>
          <p:cNvCxnSpPr>
            <a:cxnSpLocks/>
          </p:cNvCxnSpPr>
          <p:nvPr/>
        </p:nvCxnSpPr>
        <p:spPr>
          <a:xfrm>
            <a:off x="5494489" y="4328530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03517788-8A00-3CE9-B8A0-DC9904CB9E29}"/>
              </a:ext>
            </a:extLst>
          </p:cNvPr>
          <p:cNvSpPr txBox="1"/>
          <p:nvPr/>
        </p:nvSpPr>
        <p:spPr>
          <a:xfrm>
            <a:off x="5863528" y="4194746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通知メッセージ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8A08B47D-236B-D58F-E880-0E520352BC81}"/>
              </a:ext>
            </a:extLst>
          </p:cNvPr>
          <p:cNvCxnSpPr>
            <a:cxnSpLocks/>
          </p:cNvCxnSpPr>
          <p:nvPr/>
        </p:nvCxnSpPr>
        <p:spPr>
          <a:xfrm>
            <a:off x="5494489" y="4591366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8376E216-AB77-BC34-74BE-9C14746155C3}"/>
              </a:ext>
            </a:extLst>
          </p:cNvPr>
          <p:cNvSpPr txBox="1"/>
          <p:nvPr/>
        </p:nvSpPr>
        <p:spPr>
          <a:xfrm>
            <a:off x="5863528" y="445758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サンクス</a:t>
            </a:r>
            <a:r>
              <a:rPr lang="en-US" altLang="ja-JP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誘導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D6F7AD1E-A403-6C2E-4207-BA25C2D7BCC6}"/>
              </a:ext>
            </a:extLst>
          </p:cNvPr>
          <p:cNvCxnSpPr>
            <a:cxnSpLocks/>
          </p:cNvCxnSpPr>
          <p:nvPr/>
        </p:nvCxnSpPr>
        <p:spPr>
          <a:xfrm>
            <a:off x="751071" y="4630661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テキスト ボックス 51">
            <a:extLst>
              <a:ext uri="{FF2B5EF4-FFF2-40B4-BE49-F238E27FC236}">
                <a16:creationId xmlns:a16="http://schemas.microsoft.com/office/drawing/2014/main" id="{7D798DBD-5393-6131-8034-EC789105D05B}"/>
              </a:ext>
            </a:extLst>
          </p:cNvPr>
          <p:cNvSpPr txBox="1"/>
          <p:nvPr/>
        </p:nvSpPr>
        <p:spPr>
          <a:xfrm>
            <a:off x="983946" y="4526600"/>
            <a:ext cx="1095075" cy="230832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SNS/</a:t>
            </a:r>
            <a:r>
              <a:rPr lang="ja-JP" altLang="en-US" sz="9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メルマガ</a:t>
            </a:r>
            <a:endParaRPr lang="ja-JP" altLang="en-US" sz="900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3" name="直線矢印コネクタ 52">
            <a:extLst>
              <a:ext uri="{FF2B5EF4-FFF2-40B4-BE49-F238E27FC236}">
                <a16:creationId xmlns:a16="http://schemas.microsoft.com/office/drawing/2014/main" id="{527AED14-C910-4D3E-987F-EA62ABD18D90}"/>
              </a:ext>
            </a:extLst>
          </p:cNvPr>
          <p:cNvCxnSpPr>
            <a:cxnSpLocks/>
          </p:cNvCxnSpPr>
          <p:nvPr/>
        </p:nvCxnSpPr>
        <p:spPr>
          <a:xfrm>
            <a:off x="747965" y="4897406"/>
            <a:ext cx="1503674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テキスト ボックス 53">
            <a:extLst>
              <a:ext uri="{FF2B5EF4-FFF2-40B4-BE49-F238E27FC236}">
                <a16:creationId xmlns:a16="http://schemas.microsoft.com/office/drawing/2014/main" id="{9644DD32-D05B-DE83-7791-37895274BDE9}"/>
              </a:ext>
            </a:extLst>
          </p:cNvPr>
          <p:cNvSpPr txBox="1"/>
          <p:nvPr/>
        </p:nvSpPr>
        <p:spPr>
          <a:xfrm>
            <a:off x="969834" y="4806108"/>
            <a:ext cx="1117086" cy="191105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8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店内ポップ・チラシ</a:t>
            </a:r>
            <a:endParaRPr lang="ja-JP" altLang="en-US" sz="800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D3D532EE-6712-DE63-E452-E8BEAA167260}"/>
              </a:ext>
            </a:extLst>
          </p:cNvPr>
          <p:cNvCxnSpPr>
            <a:cxnSpLocks/>
          </p:cNvCxnSpPr>
          <p:nvPr/>
        </p:nvCxnSpPr>
        <p:spPr>
          <a:xfrm>
            <a:off x="7259810" y="4444588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DCDD6E46-B8C3-8536-41F9-F39EB73CBD24}"/>
              </a:ext>
            </a:extLst>
          </p:cNvPr>
          <p:cNvSpPr txBox="1"/>
          <p:nvPr/>
        </p:nvSpPr>
        <p:spPr>
          <a:xfrm>
            <a:off x="7740673" y="4310804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ID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・</a:t>
            </a:r>
            <a:r>
              <a:rPr lang="en-US" altLang="ja-JP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CRM</a:t>
            </a:r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連携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7" name="直線矢印コネクタ 56">
            <a:extLst>
              <a:ext uri="{FF2B5EF4-FFF2-40B4-BE49-F238E27FC236}">
                <a16:creationId xmlns:a16="http://schemas.microsoft.com/office/drawing/2014/main" id="{B9C84515-E6C9-A256-421E-9C3EFEBBFF17}"/>
              </a:ext>
            </a:extLst>
          </p:cNvPr>
          <p:cNvCxnSpPr>
            <a:cxnSpLocks/>
          </p:cNvCxnSpPr>
          <p:nvPr/>
        </p:nvCxnSpPr>
        <p:spPr>
          <a:xfrm>
            <a:off x="7697737" y="5495193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7E002B77-EFC0-55F3-D3E6-100837F9B195}"/>
              </a:ext>
            </a:extLst>
          </p:cNvPr>
          <p:cNvSpPr txBox="1"/>
          <p:nvPr/>
        </p:nvSpPr>
        <p:spPr>
          <a:xfrm>
            <a:off x="8178600" y="5361409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フォロー体制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67" name="直線矢印コネクタ 66">
            <a:extLst>
              <a:ext uri="{FF2B5EF4-FFF2-40B4-BE49-F238E27FC236}">
                <a16:creationId xmlns:a16="http://schemas.microsoft.com/office/drawing/2014/main" id="{03BD82C1-8BEC-3E49-C1DA-A1C214DB1C8C}"/>
              </a:ext>
            </a:extLst>
          </p:cNvPr>
          <p:cNvCxnSpPr>
            <a:cxnSpLocks/>
          </p:cNvCxnSpPr>
          <p:nvPr/>
        </p:nvCxnSpPr>
        <p:spPr>
          <a:xfrm>
            <a:off x="4519454" y="5493723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テキスト ボックス 80">
            <a:extLst>
              <a:ext uri="{FF2B5EF4-FFF2-40B4-BE49-F238E27FC236}">
                <a16:creationId xmlns:a16="http://schemas.microsoft.com/office/drawing/2014/main" id="{919F797F-1B6A-876C-B468-E147B3D97E8A}"/>
              </a:ext>
            </a:extLst>
          </p:cNvPr>
          <p:cNvSpPr txBox="1"/>
          <p:nvPr/>
        </p:nvSpPr>
        <p:spPr>
          <a:xfrm>
            <a:off x="5267281" y="5359939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ステップ配信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86" name="直線矢印コネクタ 85">
            <a:extLst>
              <a:ext uri="{FF2B5EF4-FFF2-40B4-BE49-F238E27FC236}">
                <a16:creationId xmlns:a16="http://schemas.microsoft.com/office/drawing/2014/main" id="{C96E67E6-B364-7DED-CDB8-DDCEEFB96AD2}"/>
              </a:ext>
            </a:extLst>
          </p:cNvPr>
          <p:cNvCxnSpPr>
            <a:cxnSpLocks/>
          </p:cNvCxnSpPr>
          <p:nvPr/>
        </p:nvCxnSpPr>
        <p:spPr>
          <a:xfrm>
            <a:off x="4519295" y="5766839"/>
            <a:ext cx="2982482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テキスト ボックス 90">
            <a:extLst>
              <a:ext uri="{FF2B5EF4-FFF2-40B4-BE49-F238E27FC236}">
                <a16:creationId xmlns:a16="http://schemas.microsoft.com/office/drawing/2014/main" id="{335DB4AB-DEFA-E356-751F-7106100F929E}"/>
              </a:ext>
            </a:extLst>
          </p:cNvPr>
          <p:cNvSpPr txBox="1"/>
          <p:nvPr/>
        </p:nvSpPr>
        <p:spPr>
          <a:xfrm>
            <a:off x="5267122" y="5633055"/>
            <a:ext cx="1064989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企画配信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7884810E-3E89-4CCB-C00C-B386A34717E4}"/>
              </a:ext>
            </a:extLst>
          </p:cNvPr>
          <p:cNvCxnSpPr>
            <a:cxnSpLocks/>
          </p:cNvCxnSpPr>
          <p:nvPr/>
        </p:nvCxnSpPr>
        <p:spPr>
          <a:xfrm>
            <a:off x="3798688" y="5981626"/>
            <a:ext cx="2464861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テキスト ボックス 100">
            <a:extLst>
              <a:ext uri="{FF2B5EF4-FFF2-40B4-BE49-F238E27FC236}">
                <a16:creationId xmlns:a16="http://schemas.microsoft.com/office/drawing/2014/main" id="{6FD45AC0-2372-776F-6D16-846C0FB7AC64}"/>
              </a:ext>
            </a:extLst>
          </p:cNvPr>
          <p:cNvSpPr txBox="1"/>
          <p:nvPr/>
        </p:nvSpPr>
        <p:spPr>
          <a:xfrm>
            <a:off x="4258152" y="5863519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アンケート回収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02" name="直線矢印コネクタ 101">
            <a:extLst>
              <a:ext uri="{FF2B5EF4-FFF2-40B4-BE49-F238E27FC236}">
                <a16:creationId xmlns:a16="http://schemas.microsoft.com/office/drawing/2014/main" id="{5BF3558A-EBED-81EE-B158-28A7CA5D6693}"/>
              </a:ext>
            </a:extLst>
          </p:cNvPr>
          <p:cNvCxnSpPr>
            <a:cxnSpLocks/>
          </p:cNvCxnSpPr>
          <p:nvPr/>
        </p:nvCxnSpPr>
        <p:spPr>
          <a:xfrm>
            <a:off x="3797428" y="6223951"/>
            <a:ext cx="2452867" cy="6111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テキスト ボックス 109">
            <a:extLst>
              <a:ext uri="{FF2B5EF4-FFF2-40B4-BE49-F238E27FC236}">
                <a16:creationId xmlns:a16="http://schemas.microsoft.com/office/drawing/2014/main" id="{001266CB-AC56-8914-0ACE-8B554DB19B76}"/>
              </a:ext>
            </a:extLst>
          </p:cNvPr>
          <p:cNvSpPr txBox="1"/>
          <p:nvPr/>
        </p:nvSpPr>
        <p:spPr>
          <a:xfrm>
            <a:off x="4273398" y="6133562"/>
            <a:ext cx="1288637" cy="246221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スコアリング等</a:t>
            </a:r>
            <a:endParaRPr lang="ja-JP" altLang="en-US" sz="1000" b="1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11" name="直線矢印コネクタ 110">
            <a:extLst>
              <a:ext uri="{FF2B5EF4-FFF2-40B4-BE49-F238E27FC236}">
                <a16:creationId xmlns:a16="http://schemas.microsoft.com/office/drawing/2014/main" id="{1B403718-ABF2-11BC-1A05-A9E208B7C0F7}"/>
              </a:ext>
            </a:extLst>
          </p:cNvPr>
          <p:cNvCxnSpPr>
            <a:cxnSpLocks/>
          </p:cNvCxnSpPr>
          <p:nvPr/>
        </p:nvCxnSpPr>
        <p:spPr>
          <a:xfrm>
            <a:off x="7118366" y="5985542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テキスト ボックス 115">
            <a:extLst>
              <a:ext uri="{FF2B5EF4-FFF2-40B4-BE49-F238E27FC236}">
                <a16:creationId xmlns:a16="http://schemas.microsoft.com/office/drawing/2014/main" id="{B9061E8E-8F76-24D8-6F4C-BBBCDEB37FE0}"/>
              </a:ext>
            </a:extLst>
          </p:cNvPr>
          <p:cNvSpPr txBox="1"/>
          <p:nvPr/>
        </p:nvSpPr>
        <p:spPr>
          <a:xfrm>
            <a:off x="7397140" y="5871116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リサーチ回収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117" name="直線矢印コネクタ 116">
            <a:extLst>
              <a:ext uri="{FF2B5EF4-FFF2-40B4-BE49-F238E27FC236}">
                <a16:creationId xmlns:a16="http://schemas.microsoft.com/office/drawing/2014/main" id="{B31EBA12-BB45-627B-A1FD-F44E077537B1}"/>
              </a:ext>
            </a:extLst>
          </p:cNvPr>
          <p:cNvCxnSpPr>
            <a:cxnSpLocks/>
          </p:cNvCxnSpPr>
          <p:nvPr/>
        </p:nvCxnSpPr>
        <p:spPr>
          <a:xfrm>
            <a:off x="7048606" y="6243059"/>
            <a:ext cx="2037075" cy="0"/>
          </a:xfrm>
          <a:prstGeom prst="straightConnector1">
            <a:avLst/>
          </a:prstGeom>
          <a:ln>
            <a:solidFill>
              <a:schemeClr val="tx1">
                <a:lumMod val="75000"/>
                <a:lumOff val="2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B0C05E5D-44B4-DA5D-7C04-0BDC8A4602CE}"/>
              </a:ext>
            </a:extLst>
          </p:cNvPr>
          <p:cNvSpPr txBox="1"/>
          <p:nvPr/>
        </p:nvSpPr>
        <p:spPr>
          <a:xfrm>
            <a:off x="7336089" y="6137342"/>
            <a:ext cx="1288637" cy="24843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solidFill>
              <a:schemeClr val="bg1">
                <a:lumMod val="85000"/>
              </a:schemeClr>
            </a:solidFill>
          </a:ln>
        </p:spPr>
        <p:txBody>
          <a:bodyPr wrap="square">
            <a:spAutoFit/>
          </a:bodyPr>
          <a:lstStyle/>
          <a:p>
            <a:pPr algn="ctr"/>
            <a:r>
              <a:rPr lang="ja-JP" altLang="en-US" sz="1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ショップカード</a:t>
            </a:r>
            <a:endParaRPr lang="ja-JP" altLang="en-US" sz="1000" b="1" dirty="0">
              <a:solidFill>
                <a:schemeClr val="tx1">
                  <a:lumMod val="50000"/>
                  <a:lumOff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pic>
        <p:nvPicPr>
          <p:cNvPr id="119" name="図 118">
            <a:extLst>
              <a:ext uri="{FF2B5EF4-FFF2-40B4-BE49-F238E27FC236}">
                <a16:creationId xmlns:a16="http://schemas.microsoft.com/office/drawing/2014/main" id="{2F4B65BB-B8AA-5045-2074-C574F9423E6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 b="4075"/>
          <a:stretch>
            <a:fillRect/>
          </a:stretch>
        </p:blipFill>
        <p:spPr>
          <a:xfrm>
            <a:off x="3005614" y="5048188"/>
            <a:ext cx="703970" cy="1385346"/>
          </a:xfrm>
          <a:prstGeom prst="rect">
            <a:avLst/>
          </a:prstGeom>
        </p:spPr>
      </p:pic>
      <p:sp>
        <p:nvSpPr>
          <p:cNvPr id="66" name="正方形/長方形 65">
            <a:extLst>
              <a:ext uri="{FF2B5EF4-FFF2-40B4-BE49-F238E27FC236}">
                <a16:creationId xmlns:a16="http://schemas.microsoft.com/office/drawing/2014/main" id="{D22C9FBF-7B93-079A-E87E-A4C967CD0194}"/>
              </a:ext>
            </a:extLst>
          </p:cNvPr>
          <p:cNvSpPr/>
          <p:nvPr/>
        </p:nvSpPr>
        <p:spPr>
          <a:xfrm>
            <a:off x="3908480" y="5336376"/>
            <a:ext cx="2944325" cy="1076098"/>
          </a:xfrm>
          <a:prstGeom prst="rect">
            <a:avLst/>
          </a:prstGeom>
          <a:noFill/>
          <a:ln w="15875">
            <a:solidFill>
              <a:schemeClr val="accent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89B35388-9C44-6C01-ACAA-2E691617E119}"/>
              </a:ext>
            </a:extLst>
          </p:cNvPr>
          <p:cNvSpPr txBox="1"/>
          <p:nvPr/>
        </p:nvSpPr>
        <p:spPr>
          <a:xfrm>
            <a:off x="5723341" y="6303033"/>
            <a:ext cx="1207049" cy="20005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txBody>
          <a:bodyPr wrap="square">
            <a:spAutoFit/>
          </a:bodyPr>
          <a:lstStyle/>
          <a:p>
            <a:pPr algn="ctr">
              <a:buNone/>
            </a:pPr>
            <a:r>
              <a:rPr lang="ja-JP" altLang="en-US" sz="700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短期と長期で各自設計</a:t>
            </a:r>
            <a:endParaRPr lang="ja-JP" altLang="ja-JP" sz="700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6762304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E6EC7-8BED-7DDA-23DD-316D74FFBA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Google Shape;752;p28">
            <a:extLst>
              <a:ext uri="{FF2B5EF4-FFF2-40B4-BE49-F238E27FC236}">
                <a16:creationId xmlns:a16="http://schemas.microsoft.com/office/drawing/2014/main" id="{25B1FD88-3B25-D76E-99D7-CDD7E800E787}"/>
              </a:ext>
            </a:extLst>
          </p:cNvPr>
          <p:cNvSpPr txBox="1"/>
          <p:nvPr/>
        </p:nvSpPr>
        <p:spPr>
          <a:xfrm>
            <a:off x="548883" y="138137"/>
            <a:ext cx="627632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施策展開図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709B81B2-1251-DE55-B4B3-220553E132F8}"/>
              </a:ext>
            </a:extLst>
          </p:cNvPr>
          <p:cNvSpPr/>
          <p:nvPr/>
        </p:nvSpPr>
        <p:spPr>
          <a:xfrm>
            <a:off x="0" y="777240"/>
            <a:ext cx="1802674" cy="50292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LINEOA</a:t>
            </a:r>
            <a:r>
              <a:rPr kumimoji="1" lang="ja-JP" altLang="en-US" sz="14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</a:p>
        </p:txBody>
      </p:sp>
      <p:sp>
        <p:nvSpPr>
          <p:cNvPr id="3" name="Google Shape;752;p28">
            <a:extLst>
              <a:ext uri="{FF2B5EF4-FFF2-40B4-BE49-F238E27FC236}">
                <a16:creationId xmlns:a16="http://schemas.microsoft.com/office/drawing/2014/main" id="{1E8D898A-0AF4-2505-8EE3-9F12824F6A59}"/>
              </a:ext>
            </a:extLst>
          </p:cNvPr>
          <p:cNvSpPr txBox="1"/>
          <p:nvPr/>
        </p:nvSpPr>
        <p:spPr>
          <a:xfrm>
            <a:off x="1988819" y="859442"/>
            <a:ext cx="7774305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LINEOA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施策においては、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友だちの新規追加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と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[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友だちの育成・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CV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動線</a:t>
            </a:r>
            <a:r>
              <a:rPr lang="en-US" altLang="ja-JP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]</a:t>
            </a:r>
            <a:r>
              <a:rPr lang="ja-JP" altLang="en-US" sz="16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が重要。</a:t>
            </a:r>
            <a:endParaRPr lang="en-US" altLang="ja-JP" sz="16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11C5FFF-B61A-EB8E-326E-072A0E269233}"/>
              </a:ext>
            </a:extLst>
          </p:cNvPr>
          <p:cNvSpPr/>
          <p:nvPr/>
        </p:nvSpPr>
        <p:spPr>
          <a:xfrm>
            <a:off x="3587358" y="1747110"/>
            <a:ext cx="860817" cy="143296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初期</a:t>
            </a:r>
            <a:endParaRPr kumimoji="1"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（初動）</a:t>
            </a:r>
            <a:endParaRPr kumimoji="1" lang="ja-JP" altLang="en-US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F32D58-29FF-60A6-17B5-A41ACCBE9449}"/>
              </a:ext>
            </a:extLst>
          </p:cNvPr>
          <p:cNvSpPr/>
          <p:nvPr/>
        </p:nvSpPr>
        <p:spPr>
          <a:xfrm>
            <a:off x="3587358" y="3321847"/>
            <a:ext cx="860817" cy="2921279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月次</a:t>
            </a:r>
            <a:endParaRPr kumimoji="1" lang="en-US" altLang="ja-JP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2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（定例）</a:t>
            </a:r>
            <a:endParaRPr kumimoji="1" lang="ja-JP" altLang="en-US" sz="120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22EC6943-AA14-49EA-30CF-5D813BA45BFD}"/>
              </a:ext>
            </a:extLst>
          </p:cNvPr>
          <p:cNvSpPr/>
          <p:nvPr/>
        </p:nvSpPr>
        <p:spPr>
          <a:xfrm>
            <a:off x="336942" y="172938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離脱防止・ポップアップ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HP/LP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滞在時に、条件を満たすと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ポップアップバナーを表示する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3436AF3F-C2E7-3494-0B01-4BC00578C5FF}"/>
              </a:ext>
            </a:extLst>
          </p:cNvPr>
          <p:cNvSpPr/>
          <p:nvPr/>
        </p:nvSpPr>
        <p:spPr>
          <a:xfrm>
            <a:off x="336942" y="2642195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通知メッセージ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ユーザーアクション時に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API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連携で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にメッセ送付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B8D9E5A-638C-EACC-4E99-235D769FBAB5}"/>
              </a:ext>
            </a:extLst>
          </p:cNvPr>
          <p:cNvSpPr/>
          <p:nvPr/>
        </p:nvSpPr>
        <p:spPr>
          <a:xfrm>
            <a:off x="336942" y="3555007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誘導ツール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サイトの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CV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ページから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入力情報を引き継ぎ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へ自動遷移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340447B4-FBD9-E81D-7902-7B3BF84ED83A}"/>
              </a:ext>
            </a:extLst>
          </p:cNvPr>
          <p:cNvSpPr/>
          <p:nvPr/>
        </p:nvSpPr>
        <p:spPr>
          <a:xfrm>
            <a:off x="336942" y="4458293"/>
            <a:ext cx="2444358" cy="860956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ログイン・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連携等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ログインに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を使用</a:t>
            </a:r>
            <a:endParaRPr lang="en-US" altLang="ja-JP" sz="105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サイトユーザー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と</a:t>
            </a:r>
            <a:r>
              <a:rPr lang="en-US" altLang="ja-JP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LINEID</a:t>
            </a:r>
            <a:r>
              <a:rPr lang="ja-JP" altLang="en-US" sz="105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を連携</a:t>
            </a:r>
            <a:endParaRPr kumimoji="1" lang="ja-JP" altLang="en-US" sz="105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BD6C1FC9-285C-AE02-A175-C7061E1A753F}"/>
              </a:ext>
            </a:extLst>
          </p:cNvPr>
          <p:cNvSpPr/>
          <p:nvPr/>
        </p:nvSpPr>
        <p:spPr>
          <a:xfrm>
            <a:off x="336942" y="5361315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 CPF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広告</a:t>
            </a:r>
            <a:endParaRPr kumimoji="1" lang="ja-JP" altLang="en-US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4F6F515-C9A5-F22C-3E1C-CF4380DB9991}"/>
              </a:ext>
            </a:extLst>
          </p:cNvPr>
          <p:cNvSpPr/>
          <p:nvPr/>
        </p:nvSpPr>
        <p:spPr>
          <a:xfrm>
            <a:off x="336942" y="5829843"/>
            <a:ext cx="2444358" cy="432333"/>
          </a:xfrm>
          <a:prstGeom prst="roundRect">
            <a:avLst>
              <a:gd name="adj" fmla="val 5478"/>
            </a:avLst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スタンプ・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Pt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施策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156D598-0831-CD8B-6A89-EE3DAF51A5E9}"/>
              </a:ext>
            </a:extLst>
          </p:cNvPr>
          <p:cNvSpPr/>
          <p:nvPr/>
        </p:nvSpPr>
        <p:spPr>
          <a:xfrm>
            <a:off x="4482711" y="1756635"/>
            <a:ext cx="3233084" cy="143296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・リッチメニュー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・プロフ動線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・あいさつ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MSG</a:t>
            </a: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</a:t>
            </a:r>
            <a:r>
              <a:rPr kumimoji="1"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KW</a:t>
            </a:r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自動応答設定</a:t>
            </a:r>
            <a:endParaRPr kumimoji="1"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・友だち登録直後アンケート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・再引上げ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</a:t>
            </a:r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・ステップ配信</a:t>
            </a:r>
            <a:r>
              <a:rPr lang="ja-JP" altLang="en-US" sz="900" dirty="0">
                <a:solidFill>
                  <a:schemeClr val="bg1">
                    <a:lumMod val="6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：特定アクション後◯日での自動配信</a:t>
            </a:r>
            <a:endParaRPr kumimoji="1" lang="ja-JP" altLang="en-US" sz="1200" dirty="0">
              <a:solidFill>
                <a:schemeClr val="bg1">
                  <a:lumMod val="6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4F01906-5193-F098-3B58-BDCC26D568EA}"/>
              </a:ext>
            </a:extLst>
          </p:cNvPr>
          <p:cNvSpPr/>
          <p:nvPr/>
        </p:nvSpPr>
        <p:spPr>
          <a:xfrm>
            <a:off x="4482711" y="3331372"/>
            <a:ext cx="3233084" cy="292127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新規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 </a:t>
            </a:r>
            <a:r>
              <a:rPr lang="ja-JP" altLang="en-US" sz="12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→ 月間投稿数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・イベント配信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・クーポン配信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・企画配信（特定ターゲット）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・診断型配信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・お役立ちコラム・コンテンツ配信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・季節／時事ネタ配信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︙</a:t>
            </a:r>
          </a:p>
          <a:p>
            <a:endParaRPr lang="en-US" altLang="ja-JP" sz="1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lang="ja-JP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調整</a:t>
            </a:r>
            <a:r>
              <a:rPr lang="en-US" altLang="ja-JP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</a:t>
            </a: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・アンケート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・自動応答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</a:t>
            </a:r>
            <a:r>
              <a:rPr lang="en-US" altLang="ja-JP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QA</a:t>
            </a:r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集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・リッチメニュー</a:t>
            </a:r>
            <a:endParaRPr lang="en-US" altLang="ja-JP" sz="1200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200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・ステップ配信</a:t>
            </a:r>
          </a:p>
        </p:txBody>
      </p:sp>
      <p:sp>
        <p:nvSpPr>
          <p:cNvPr id="19" name="左大かっこ 18">
            <a:extLst>
              <a:ext uri="{FF2B5EF4-FFF2-40B4-BE49-F238E27FC236}">
                <a16:creationId xmlns:a16="http://schemas.microsoft.com/office/drawing/2014/main" id="{B9FF3DCE-9B05-09FE-7C2F-B104CD0105BE}"/>
              </a:ext>
            </a:extLst>
          </p:cNvPr>
          <p:cNvSpPr/>
          <p:nvPr/>
        </p:nvSpPr>
        <p:spPr>
          <a:xfrm>
            <a:off x="3210542" y="1800836"/>
            <a:ext cx="215932" cy="4398089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4" name="左大かっこ 23">
            <a:extLst>
              <a:ext uri="{FF2B5EF4-FFF2-40B4-BE49-F238E27FC236}">
                <a16:creationId xmlns:a16="http://schemas.microsoft.com/office/drawing/2014/main" id="{61357E78-5BD2-BBD8-1F18-B1985600E22B}"/>
              </a:ext>
            </a:extLst>
          </p:cNvPr>
          <p:cNvSpPr/>
          <p:nvPr/>
        </p:nvSpPr>
        <p:spPr>
          <a:xfrm flipH="1">
            <a:off x="2892035" y="1756635"/>
            <a:ext cx="215932" cy="4486491"/>
          </a:xfrm>
          <a:prstGeom prst="leftBracket">
            <a:avLst/>
          </a:prstGeom>
          <a:ln>
            <a:solidFill>
              <a:srgbClr val="04FA0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56E6CFC0-FB45-E508-C7ED-E0F29C95F3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62090" y="2173993"/>
            <a:ext cx="582602" cy="543237"/>
          </a:xfrm>
          <a:prstGeom prst="rect">
            <a:avLst/>
          </a:prstGeom>
        </p:spPr>
      </p:pic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38D782E3-91EF-D26A-1906-21A51865A939}"/>
              </a:ext>
            </a:extLst>
          </p:cNvPr>
          <p:cNvCxnSpPr>
            <a:cxnSpLocks/>
          </p:cNvCxnSpPr>
          <p:nvPr/>
        </p:nvCxnSpPr>
        <p:spPr>
          <a:xfrm>
            <a:off x="231756" y="1521490"/>
            <a:ext cx="2654192" cy="0"/>
          </a:xfrm>
          <a:prstGeom prst="straightConnector1">
            <a:avLst/>
          </a:prstGeom>
          <a:ln w="28575">
            <a:solidFill>
              <a:srgbClr val="FFC000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9D8C8E0-0854-5217-A7F3-DBD2104BDFAF}"/>
              </a:ext>
            </a:extLst>
          </p:cNvPr>
          <p:cNvSpPr txBox="1"/>
          <p:nvPr/>
        </p:nvSpPr>
        <p:spPr>
          <a:xfrm>
            <a:off x="857833" y="1390138"/>
            <a:ext cx="1306788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友だちの新規追加</a:t>
            </a:r>
            <a:endParaRPr lang="ja-JP" altLang="en-US" sz="1050" dirty="0"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745F1B07-4D2C-4794-DAEA-D76D3E0CA8CF}"/>
              </a:ext>
            </a:extLst>
          </p:cNvPr>
          <p:cNvCxnSpPr>
            <a:cxnSpLocks/>
          </p:cNvCxnSpPr>
          <p:nvPr/>
        </p:nvCxnSpPr>
        <p:spPr>
          <a:xfrm>
            <a:off x="3248447" y="1521490"/>
            <a:ext cx="6173147" cy="0"/>
          </a:xfrm>
          <a:prstGeom prst="straightConnector1">
            <a:avLst/>
          </a:prstGeom>
          <a:ln w="28575">
            <a:solidFill>
              <a:schemeClr val="accent1"/>
            </a:solidFill>
            <a:prstDash val="sysDash"/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D5E48196-7DAD-4F3E-ADDE-E36FAC475508}"/>
              </a:ext>
            </a:extLst>
          </p:cNvPr>
          <p:cNvSpPr txBox="1"/>
          <p:nvPr/>
        </p:nvSpPr>
        <p:spPr>
          <a:xfrm>
            <a:off x="5411256" y="1390138"/>
            <a:ext cx="1913269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LINE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友だちの育成・</a:t>
            </a:r>
            <a:r>
              <a:rPr lang="en-US" altLang="ja-JP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CV</a:t>
            </a:r>
            <a:r>
              <a:rPr lang="ja-JP" altLang="en-US" sz="10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化</a:t>
            </a:r>
            <a:endParaRPr lang="en-US" altLang="ja-JP" sz="10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  <a:sym typeface="Meiryo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4EA6E8F1-E33D-1FB9-E4AA-6AD1A2F6B651}"/>
              </a:ext>
            </a:extLst>
          </p:cNvPr>
          <p:cNvSpPr/>
          <p:nvPr/>
        </p:nvSpPr>
        <p:spPr>
          <a:xfrm>
            <a:off x="7750331" y="1748432"/>
            <a:ext cx="1818728" cy="4494694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kumimoji="1"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[</a:t>
            </a:r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ターゲット設定</a:t>
            </a:r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]</a:t>
            </a: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kumimoji="1"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kumimoji="1"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LINEOA</a:t>
            </a:r>
            <a:r>
              <a:rPr kumimoji="1"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オーガニック</a:t>
            </a:r>
            <a:endParaRPr kumimoji="1" lang="en-US" altLang="ja-JP" sz="12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年齢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性別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地域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…)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(MSG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の</a:t>
            </a:r>
            <a:r>
              <a:rPr lang="en-US" altLang="ja-JP" sz="105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Imp,Click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endParaRPr lang="en-US" altLang="ja-JP" sz="7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LINE_API</a:t>
            </a:r>
            <a:r>
              <a:rPr lang="ja-JP" altLang="en-US" sz="12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r>
              <a:rPr lang="ja-JP" altLang="en-US" sz="9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9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b="1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en-US" altLang="ja-JP" sz="1200" b="1" dirty="0">
              <a:solidFill>
                <a:srgbClr val="FF0000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アンケート結果）</a:t>
            </a:r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(WEB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サイトアクション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リマインド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/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再通知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(ID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連携した情報ベース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ユーザー一覧を取得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ID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アップロード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地点別スコアリング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endParaRPr lang="en-US" altLang="ja-JP" sz="105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※MA</a:t>
            </a:r>
            <a:r>
              <a:rPr lang="ja-JP" altLang="en-US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、</a:t>
            </a:r>
            <a:r>
              <a:rPr lang="en-US" altLang="ja-JP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CRM</a:t>
            </a:r>
            <a:r>
              <a:rPr lang="ja-JP" altLang="en-US" sz="10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との連携</a:t>
            </a:r>
            <a:endParaRPr lang="en-US" altLang="ja-JP" sz="10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購入・リードデータ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  <a:p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(</a:t>
            </a:r>
            <a:r>
              <a:rPr lang="ja-JP" altLang="en-US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ユーザー情報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 </a:t>
            </a:r>
            <a:r>
              <a:rPr lang="en-US" altLang="ja-JP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9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詳細</a:t>
            </a:r>
            <a:r>
              <a:rPr lang="en-US" altLang="ja-JP" sz="105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)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47CAADD-ECBD-1DCC-19D6-6433C921622E}"/>
              </a:ext>
            </a:extLst>
          </p:cNvPr>
          <p:cNvSpPr txBox="1"/>
          <p:nvPr/>
        </p:nvSpPr>
        <p:spPr>
          <a:xfrm>
            <a:off x="2178040" y="2694449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00802062-F552-1DFA-430A-41800E76A220}"/>
              </a:ext>
            </a:extLst>
          </p:cNvPr>
          <p:cNvSpPr txBox="1"/>
          <p:nvPr/>
        </p:nvSpPr>
        <p:spPr>
          <a:xfrm>
            <a:off x="2370382" y="177323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CDCAB868-C79D-2212-70C3-9EF559F32C21}"/>
              </a:ext>
            </a:extLst>
          </p:cNvPr>
          <p:cNvSpPr txBox="1"/>
          <p:nvPr/>
        </p:nvSpPr>
        <p:spPr>
          <a:xfrm>
            <a:off x="2456844" y="3619396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E2ECFC3F-A285-F105-30CE-9144EBB24A11}"/>
              </a:ext>
            </a:extLst>
          </p:cNvPr>
          <p:cNvSpPr txBox="1"/>
          <p:nvPr/>
        </p:nvSpPr>
        <p:spPr>
          <a:xfrm>
            <a:off x="2518621" y="4576567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39AB193A-8274-ABE1-CD3D-54790C3264F6}"/>
              </a:ext>
            </a:extLst>
          </p:cNvPr>
          <p:cNvSpPr txBox="1"/>
          <p:nvPr/>
        </p:nvSpPr>
        <p:spPr>
          <a:xfrm>
            <a:off x="2210158" y="5478733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096A37B9-CA3D-92C9-1405-86C6FFCD8C5A}"/>
              </a:ext>
            </a:extLst>
          </p:cNvPr>
          <p:cNvSpPr txBox="1"/>
          <p:nvPr/>
        </p:nvSpPr>
        <p:spPr>
          <a:xfrm>
            <a:off x="2214724" y="5963211"/>
            <a:ext cx="62602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有料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AA71FB07-E583-8196-5077-2EAA10A61A0F}"/>
              </a:ext>
            </a:extLst>
          </p:cNvPr>
          <p:cNvSpPr txBox="1"/>
          <p:nvPr/>
        </p:nvSpPr>
        <p:spPr>
          <a:xfrm>
            <a:off x="285223" y="6291679"/>
            <a:ext cx="2547258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その他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サイト動線整備、プレスリリース等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3BE3835-FB68-0C7D-7CED-C40A02A19AB2}"/>
              </a:ext>
            </a:extLst>
          </p:cNvPr>
          <p:cNvSpPr txBox="1"/>
          <p:nvPr/>
        </p:nvSpPr>
        <p:spPr>
          <a:xfrm>
            <a:off x="6149585" y="3424747"/>
            <a:ext cx="117493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lang="ja-JP" altLang="en-US" sz="8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数量により変動</a:t>
            </a:r>
            <a:endParaRPr lang="ja-JP" altLang="en-US" sz="800" dirty="0"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47E1216-C9D3-60D3-B3E8-43E38B5791F4}"/>
              </a:ext>
            </a:extLst>
          </p:cNvPr>
          <p:cNvSpPr txBox="1"/>
          <p:nvPr/>
        </p:nvSpPr>
        <p:spPr>
          <a:xfrm>
            <a:off x="3587357" y="6286698"/>
            <a:ext cx="4128437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　</a:t>
            </a:r>
            <a:r>
              <a:rPr kumimoji="1" lang="en-US" altLang="ja-JP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※</a:t>
            </a:r>
            <a:r>
              <a:rPr kumimoji="1" lang="ja-JP" altLang="en-US" sz="800" dirty="0">
                <a:solidFill>
                  <a:schemeClr val="bg1">
                    <a:lumMod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クリエイティブ費用は基本的に内包、開発費用は別途見積もりとなります。</a:t>
            </a:r>
            <a:endParaRPr lang="ja-JP" altLang="en-US" sz="800" dirty="0">
              <a:solidFill>
                <a:schemeClr val="bg1">
                  <a:lumMod val="50000"/>
                </a:schemeClr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9256C170-205B-2224-D69D-D964BF991C26}"/>
              </a:ext>
            </a:extLst>
          </p:cNvPr>
          <p:cNvSpPr/>
          <p:nvPr/>
        </p:nvSpPr>
        <p:spPr>
          <a:xfrm>
            <a:off x="7664076" y="1733928"/>
            <a:ext cx="1904982" cy="4562295"/>
          </a:xfrm>
          <a:prstGeom prst="rect">
            <a:avLst/>
          </a:prstGeom>
          <a:solidFill>
            <a:schemeClr val="bg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solidFill>
                <a:schemeClr val="bg1"/>
              </a:solidFill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13354487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DYMのコンサル支援内容・費用</a:t>
            </a: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ツール導入だけではなく、CPO改善に向けたLINE運用まで支援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Pentagon 5"/>
          <p:cNvSpPr/>
          <p:nvPr/>
        </p:nvSpPr>
        <p:spPr>
          <a:xfrm>
            <a:off x="643500" y="1800000"/>
            <a:ext cx="2233969" cy="864000"/>
          </a:xfrm>
          <a:prstGeom prst="homePlate">
            <a:avLst>
              <a:gd name="adj" fmla="val 22000"/>
            </a:avLst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7" name="TextBox 6"/>
          <p:cNvSpPr txBox="1"/>
          <p:nvPr/>
        </p:nvSpPr>
        <p:spPr>
          <a:xfrm>
            <a:off x="731250" y="2112258"/>
            <a:ext cx="1985344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サンクスLINE導入</a:t>
            </a:r>
          </a:p>
        </p:txBody>
      </p:sp>
      <p:sp>
        <p:nvSpPr>
          <p:cNvPr id="8" name="Chevron 7"/>
          <p:cNvSpPr/>
          <p:nvPr/>
        </p:nvSpPr>
        <p:spPr>
          <a:xfrm>
            <a:off x="2775094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9" name="TextBox 8"/>
          <p:cNvSpPr txBox="1"/>
          <p:nvPr/>
        </p:nvSpPr>
        <p:spPr>
          <a:xfrm>
            <a:off x="2965219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LINE配信設計</a:t>
            </a:r>
          </a:p>
        </p:txBody>
      </p:sp>
      <p:sp>
        <p:nvSpPr>
          <p:cNvPr id="10" name="Chevron 9"/>
          <p:cNvSpPr/>
          <p:nvPr/>
        </p:nvSpPr>
        <p:spPr>
          <a:xfrm>
            <a:off x="4906688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11" name="TextBox 10"/>
          <p:cNvSpPr txBox="1"/>
          <p:nvPr/>
        </p:nvSpPr>
        <p:spPr>
          <a:xfrm>
            <a:off x="5096812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効果計測</a:t>
            </a:r>
          </a:p>
        </p:txBody>
      </p:sp>
      <p:sp>
        <p:nvSpPr>
          <p:cNvPr id="12" name="Chevron 11"/>
          <p:cNvSpPr/>
          <p:nvPr/>
        </p:nvSpPr>
        <p:spPr>
          <a:xfrm>
            <a:off x="7038281" y="1800000"/>
            <a:ext cx="2233969" cy="864000"/>
          </a:xfrm>
          <a:prstGeom prst="chevron">
            <a:avLst>
              <a:gd name="adj" fmla="val 22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400"/>
          </a:p>
        </p:txBody>
      </p:sp>
      <p:sp>
        <p:nvSpPr>
          <p:cNvPr id="13" name="TextBox 12"/>
          <p:cNvSpPr txBox="1"/>
          <p:nvPr/>
        </p:nvSpPr>
        <p:spPr>
          <a:xfrm>
            <a:off x="7228406" y="2112258"/>
            <a:ext cx="1882969" cy="239484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改善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0500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導線設計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0500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設定支援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92094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あいさつメッセージ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892094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ステップ配信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92094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リマインド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92094" y="3870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セグメント配信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3688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友だち追加数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3688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LINE経由CV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3688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来店・面談・購入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55281" y="2844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配信内容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55281" y="3186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配信タイミング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55281" y="3528000"/>
            <a:ext cx="1941469" cy="288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625" tIns="0" rIns="14625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55281" y="3911185"/>
            <a:ext cx="1941469" cy="205629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を継続改善</a:t>
            </a:r>
            <a:endParaRPr sz="1000" b="0" dirty="0">
              <a:solidFill>
                <a:srgbClr val="7F7F7F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27" name="Connector 26"/>
          <p:cNvCxnSpPr/>
          <p:nvPr/>
        </p:nvCxnSpPr>
        <p:spPr>
          <a:xfrm>
            <a:off x="8126016" y="4212000"/>
            <a:ext cx="0" cy="251999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862828" y="4463999"/>
            <a:ext cx="4263188" cy="0"/>
          </a:xfrm>
          <a:prstGeom prst="line">
            <a:avLst/>
          </a:prstGeom>
          <a:ln w="19050">
            <a:solidFill>
              <a:srgbClr val="1F28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3862828" y="4230000"/>
            <a:ext cx="0" cy="233999"/>
          </a:xfrm>
          <a:prstGeom prst="line">
            <a:avLst/>
          </a:prstGeom>
          <a:ln w="19050">
            <a:solidFill>
              <a:srgbClr val="1F285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3950578" y="4487185"/>
            <a:ext cx="2925000" cy="205629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計測結果をもとに、配信・導線を見直す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643500" y="5043465"/>
            <a:ext cx="862875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Rectangle 31"/>
          <p:cNvSpPr/>
          <p:nvPr/>
        </p:nvSpPr>
        <p:spPr>
          <a:xfrm>
            <a:off x="643500" y="5194665"/>
            <a:ext cx="48502" cy="179999"/>
          </a:xfrm>
          <a:prstGeom prst="rect">
            <a:avLst/>
          </a:prstGeom>
          <a:solidFill>
            <a:srgbClr val="06C7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800"/>
          </a:p>
        </p:txBody>
      </p:sp>
      <p:sp>
        <p:nvSpPr>
          <p:cNvPr id="33" name="TextBox 32"/>
          <p:cNvSpPr txBox="1"/>
          <p:nvPr/>
        </p:nvSpPr>
        <p:spPr>
          <a:xfrm>
            <a:off x="745875" y="5175187"/>
            <a:ext cx="3772348" cy="222556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サンクスLINE誘導ツール｜費用目安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3500" y="5544136"/>
            <a:ext cx="1933329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　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15万円</a:t>
            </a:r>
          </a:p>
        </p:txBody>
      </p:sp>
      <p:cxnSp>
        <p:nvCxnSpPr>
          <p:cNvPr id="35" name="Connector 34"/>
          <p:cNvCxnSpPr>
            <a:cxnSpLocks/>
          </p:cNvCxnSpPr>
          <p:nvPr/>
        </p:nvCxnSpPr>
        <p:spPr>
          <a:xfrm>
            <a:off x="2742188" y="5529465"/>
            <a:ext cx="0" cy="341999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2742188" y="5544136"/>
            <a:ext cx="1933329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　</a:t>
            </a:r>
            <a:r>
              <a:rPr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14000" y="5194665"/>
            <a:ext cx="58704" cy="179999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58500" tIns="18000" rIns="58500" bIns="18000" rtlCol="0" anchor="ctr"/>
          <a:lstStyle/>
          <a:p>
            <a:pPr algn="ctr"/>
            <a:endParaRPr sz="2800"/>
          </a:p>
        </p:txBody>
      </p:sp>
      <p:sp>
        <p:nvSpPr>
          <p:cNvPr id="38" name="TextBox 37"/>
          <p:cNvSpPr txBox="1"/>
          <p:nvPr/>
        </p:nvSpPr>
        <p:spPr>
          <a:xfrm>
            <a:off x="5016375" y="5175187"/>
            <a:ext cx="4565854" cy="222556"/>
          </a:xfrm>
          <a:prstGeom prst="rect">
            <a:avLst/>
          </a:prstGeom>
          <a:noFill/>
        </p:spPr>
        <p:txBody>
          <a:bodyPr wrap="square" lIns="29250" tIns="18000" rIns="2925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LINE運用コンサル｜費用目安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88" y="5544136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初期</a:t>
            </a:r>
            <a:r>
              <a:rPr lang="ja-JP" altLang="en-US" sz="1000" b="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10万円〜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3126" y="5544136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月額</a:t>
            </a:r>
            <a:r>
              <a:rPr lang="en-US" sz="10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20万円〜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19563" y="5545867"/>
            <a:ext cx="1560000" cy="312660"/>
          </a:xfrm>
          <a:prstGeom prst="rect">
            <a:avLst/>
          </a:prstGeom>
          <a:noFill/>
        </p:spPr>
        <p:txBody>
          <a:bodyPr wrap="square" lIns="29250" tIns="10800" rIns="2925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000" b="0" dirty="0" err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期間</a:t>
            </a:r>
            <a:r>
              <a:rPr lang="en-US" sz="1000" dirty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 </a:t>
            </a:r>
            <a:r>
              <a:rPr b="1" dirty="0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6か月〜</a:t>
            </a:r>
          </a:p>
        </p:txBody>
      </p:sp>
      <p:cxnSp>
        <p:nvCxnSpPr>
          <p:cNvPr id="44" name="Connector 43"/>
          <p:cNvCxnSpPr>
            <a:cxnSpLocks/>
          </p:cNvCxnSpPr>
          <p:nvPr/>
        </p:nvCxnSpPr>
        <p:spPr>
          <a:xfrm>
            <a:off x="4797000" y="5151465"/>
            <a:ext cx="0" cy="791997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650813" y="6016994"/>
            <a:ext cx="8628750" cy="188701"/>
          </a:xfrm>
          <a:prstGeom prst="rect">
            <a:avLst/>
          </a:prstGeom>
          <a:noFill/>
        </p:spPr>
        <p:txBody>
          <a:bodyPr wrap="square" lIns="29250" tIns="18000" rIns="2925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※施策内容・配信本数・連携範囲等により、費用は個別にお見積もりいたします。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endParaRPr lang="ja-JP" altLang="en-US">
              <a:solidFill>
                <a:prstClr val="black"/>
              </a:solidFill>
              <a:latin typeface="メイリオ" pitchFamily="34" charset="0"/>
              <a:ea typeface="メイリオ" pitchFamily="50" charset="-128"/>
              <a:cs typeface="メイリオ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>
                <a:latin typeface="メイリオ"/>
                <a:ea typeface="メイリオ"/>
                <a:cs typeface="メイリオ"/>
              </a:defRPr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>
              <a:latin typeface="メイリオ"/>
              <a:ea typeface="メイリオ"/>
              <a:cs typeface="メイリオ"/>
            </a:endParaRPr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7200" y="136800"/>
            <a:ext cx="8812800" cy="338400"/>
          </a:xfrm>
          <a:prstGeom prst="rect">
            <a:avLst/>
          </a:prstGeom>
          <a:noFill/>
        </p:spPr>
        <p:txBody>
          <a:bodyPr wrap="square" lIns="21600" tIns="7200" rIns="21600" bIns="7200" anchor="ctr">
            <a:spAutoFit/>
          </a:bodyPr>
          <a:lstStyle/>
          <a:p>
            <a:pPr algn="l"/>
            <a:r>
              <a:rPr sz="1600" b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住宅・不動産領域におけるLINEの活用事例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7200" y="648000"/>
            <a:ext cx="8812800" cy="63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LINEヤフー社が公開している、住宅・不動産領域の活用事例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47200" y="1389600"/>
            <a:ext cx="88128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/>
          <p:cNvSpPr/>
          <p:nvPr/>
        </p:nvSpPr>
        <p:spPr>
          <a:xfrm>
            <a:off x="547200" y="1673999"/>
            <a:ext cx="4298400" cy="17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47200" y="1673999"/>
            <a:ext cx="4298400" cy="378000"/>
          </a:xfrm>
          <a:prstGeom prst="roundRect">
            <a:avLst>
              <a:gd name="adj" fmla="val 13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91200" y="1673999"/>
            <a:ext cx="4010399" cy="378000"/>
          </a:xfrm>
          <a:prstGeom prst="rect">
            <a:avLst/>
          </a:prstGeom>
          <a:noFill/>
        </p:spPr>
        <p:txBody>
          <a:bodyPr wrap="square" lIns="21600" tIns="7200" rIns="216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auka（アウカ）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9200" y="2098799"/>
            <a:ext cx="3974399" cy="19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株式会社ギバーテイクオール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9200" y="2321999"/>
            <a:ext cx="3974399" cy="46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注文住宅の無料相談窓口。LINE広告から友だち追加とアンケートに誘導し、温度感を高めてから電話相談へつなぐ導線。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9200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745200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5200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7% → 15%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6000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2082000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友だち追加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082000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約24,000人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82800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3418800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全施策のCPA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18800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3万円を切る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61600" y="1673999"/>
            <a:ext cx="4298400" cy="17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061600" y="1673999"/>
            <a:ext cx="4298400" cy="378000"/>
          </a:xfrm>
          <a:prstGeom prst="roundRect">
            <a:avLst>
              <a:gd name="adj" fmla="val 13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5205600" y="1673999"/>
            <a:ext cx="4010399" cy="378000"/>
          </a:xfrm>
          <a:prstGeom prst="rect">
            <a:avLst/>
          </a:prstGeom>
          <a:noFill/>
        </p:spPr>
        <p:txBody>
          <a:bodyPr wrap="square" lIns="21600" tIns="7200" rIns="216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オープンハウスグループ（LINE広告）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23599" y="2098799"/>
            <a:ext cx="3974399" cy="19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株式会社オープンハウスグループ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23599" y="2321999"/>
            <a:ext cx="3974399" cy="46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LINE広告の運用をインハウス化し、エリアごとの顧客データと営業担当の声をクリエイティブに反映。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223599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5259599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CVR（前年比）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9599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158%改善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60400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596400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CPA（前年比）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596400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68%抑制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897199" y="2826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7933199" y="2880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資料請求CPA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33199" y="3060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82%抑制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7200" y="3600000"/>
            <a:ext cx="4298400" cy="17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47200" y="3600000"/>
            <a:ext cx="4298400" cy="378000"/>
          </a:xfrm>
          <a:prstGeom prst="roundRect">
            <a:avLst>
              <a:gd name="adj" fmla="val 13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1200" y="3600000"/>
            <a:ext cx="4010399" cy="378000"/>
          </a:xfrm>
          <a:prstGeom prst="rect">
            <a:avLst/>
          </a:prstGeom>
          <a:noFill/>
        </p:spPr>
        <p:txBody>
          <a:bodyPr wrap="square" lIns="21600" tIns="7200" rIns="216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LIFULL HOME'S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9200" y="4024800"/>
            <a:ext cx="3974399" cy="19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株式会社LIFULL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9200" y="4248000"/>
            <a:ext cx="3974399" cy="46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手動配信をステップ配信に置き換え。配信タイミングをABテストし、運用の負荷を下げながら成果を維持。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" y="4752000"/>
            <a:ext cx="1938528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49808" y="4806000"/>
            <a:ext cx="1865376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CPC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4986000"/>
            <a:ext cx="1865376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6割改善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743200" y="4752000"/>
            <a:ext cx="1938528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779776" y="4806000"/>
            <a:ext cx="1865376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運用工数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779776" y="4986000"/>
            <a:ext cx="1865376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1/4に削減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61600" y="3600000"/>
            <a:ext cx="4298400" cy="178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240">
            <a:solidFill>
              <a:srgbClr val="1F28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48" name="Rounded Rectangle 47"/>
          <p:cNvSpPr/>
          <p:nvPr/>
        </p:nvSpPr>
        <p:spPr>
          <a:xfrm>
            <a:off x="5061600" y="3600000"/>
            <a:ext cx="4298400" cy="378000"/>
          </a:xfrm>
          <a:prstGeom prst="roundRect">
            <a:avLst>
              <a:gd name="adj" fmla="val 13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5205600" y="3600000"/>
            <a:ext cx="4010399" cy="378000"/>
          </a:xfrm>
          <a:prstGeom prst="rect">
            <a:avLst/>
          </a:prstGeom>
          <a:noFill/>
        </p:spPr>
        <p:txBody>
          <a:bodyPr wrap="square" lIns="21600" tIns="7200" rIns="21600" bIns="7200" anchor="ctr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ミサワホーム北越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23599" y="4024800"/>
            <a:ext cx="3974399" cy="19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ミサワホーム北越株式会社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23599" y="4248000"/>
            <a:ext cx="3974399" cy="468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1000" b="0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地域密着の住宅会社。LINE広告の「友だち追加」でリフォーム代金オフクーポンを配布し、県内50代以上の女性に配信。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23599" y="4752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5259599" y="4806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友だち数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59599" y="4986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5倍に増加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560400" y="4752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6596400" y="4806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開始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96400" y="4986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2020年12月〜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897199" y="4752000"/>
            <a:ext cx="1300800" cy="540000"/>
          </a:xfrm>
          <a:prstGeom prst="roundRect">
            <a:avLst>
              <a:gd name="adj" fmla="val 10000"/>
            </a:avLst>
          </a:prstGeom>
          <a:solidFill>
            <a:srgbClr val="F4F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メイリオ"/>
              <a:ea typeface="メイリオ"/>
              <a:cs typeface="メイリオ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7933199" y="4806000"/>
            <a:ext cx="1228800" cy="18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対象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933199" y="4986000"/>
            <a:ext cx="1228800" cy="270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ctr"/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新潟県内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7200" y="6246000"/>
            <a:ext cx="8812800" cy="432000"/>
          </a:xfrm>
          <a:prstGeom prst="rect">
            <a:avLst/>
          </a:prstGeom>
          <a:noFill/>
        </p:spPr>
        <p:txBody>
          <a:bodyPr wrap="square" lIns="21600" tIns="7200" rIns="21600" bIns="7200" anchor="t">
            <a:spAutoFit/>
          </a:bodyPr>
          <a:lstStyle/>
          <a:p>
            <a:pPr algn="l"/>
            <a:r>
              <a:rPr sz="8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※出典：LINEヤフー for Business 導入事例（lycbiz.com）／2026年10月19日確認。ミサワホーム北越は「その他業界の活用事例」ページに掲載。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141476</TotalTime>
  <Words>1331</Words>
  <Application>Microsoft Office PowerPoint</Application>
  <PresentationFormat>A4 210 x 297 mm</PresentationFormat>
  <Paragraphs>312</Paragraphs>
  <Slides>11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11</vt:i4>
      </vt:variant>
    </vt:vector>
  </HeadingPairs>
  <TitlesOfParts>
    <vt:vector size="18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1920</cp:revision>
  <cp:lastPrinted>2022-11-01T11:38:14Z</cp:lastPrinted>
  <dcterms:created xsi:type="dcterms:W3CDTF">2015-09-04T09:21:15Z</dcterms:created>
  <dcterms:modified xsi:type="dcterms:W3CDTF">2026-10-19T04:22:33Z</dcterms:modified>
</cp:coreProperties>
</file>