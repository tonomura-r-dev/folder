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slides/slide28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7"/>
  </p:notesMasterIdLst>
  <p:handoutMasterIdLst>
    <p:handoutMasterId r:id="rId38"/>
  </p:handoutMasterIdLst>
  <p:sldIdLst>
    <p:sldId id="2363" r:id="rId3"/>
    <p:sldId id="3021" r:id="rId43"/>
    <p:sldId id="3022" r:id="rId44"/>
    <p:sldId id="3023" r:id="rId45"/>
    <p:sldId id="3024" r:id="rId46"/>
    <p:sldId id="2971" r:id="rId6"/>
    <p:sldId id="2972" r:id="rId7"/>
    <p:sldId id="3025" r:id="rId47"/>
    <p:sldId id="3026" r:id="rId48"/>
    <p:sldId id="2987" r:id="rId10"/>
    <p:sldId id="3027" r:id="rId49"/>
    <p:sldId id="3028" r:id="rId50"/>
    <p:sldId id="3029" r:id="rId51"/>
    <p:sldId id="3030" r:id="rId52"/>
    <p:sldId id="3031" r:id="rId53"/>
    <p:sldId id="3032" r:id="rId54"/>
    <p:sldId id="3033" r:id="rId55"/>
    <p:sldId id="2991" r:id="rId30"/>
    <p:sldId id="2990" r:id="rId2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>
        <p:scale>
          <a:sx n="66" d="100"/>
          <a:sy n="66" d="100"/>
        </p:scale>
        <p:origin x="1024" y="220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10" Type="http://schemas.openxmlformats.org/officeDocument/2006/relationships/slide" Target="slides/slide8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38" Type="http://schemas.openxmlformats.org/officeDocument/2006/relationships/handoutMaster" Target="handoutMasters/handout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友だち（累計）</c:v>
                </c:pt>
              </c:strCache>
            </c:strRef>
          </c:tx>
          <c:spPr>
            <a:solidFill>
              <a:srgbClr val="06C755"/>
            </a:solidFill>
          </c:spPr>
          <c:cat>
            <c:strRef>
              <c:f>Sheet1!$A$2:$A$7</c:f>
              <c:strCache>
                <c:ptCount val="6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</c:v>
                </c:pt>
                <c:pt idx="1">
                  <c:v>143</c:v>
                </c:pt>
                <c:pt idx="2">
                  <c:v>235</c:v>
                </c:pt>
                <c:pt idx="3">
                  <c:v>335</c:v>
                </c:pt>
                <c:pt idx="4">
                  <c:v>436</c:v>
                </c:pt>
                <c:pt idx="5">
                  <c:v>542</c:v>
                </c:pt>
              </c:numCache>
            </c:numRef>
          </c:val>
        </c:ser>
        <c:dLbls>
          <c:numFmt formatCode="#,##0&quot;人&quot;" sourceLinked="0"/>
          <c:txPr>
            <a:bodyPr/>
            <a:lstStyle/>
            <a:p>
              <a:pPr>
                <a:defRPr sz="1300" b="1">
                  <a:solidFill>
                    <a:srgbClr val="1F285A"/>
                  </a:solidFill>
                  <a:latin typeface="メイリオ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latin typeface="メイリオ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5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メイリオ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972000" y="2160000"/>
            <a:ext cx="7956000" cy="1116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I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Webサイトリニューアルに伴う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I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「公式LINE活用・顧客ストック化」のご提案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972000" y="1800000"/>
            <a:ext cx="7956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―新サイトの集客力と応募率を最大化する「同時導入」プラン―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【事例】求人業界におけるLINE活用のインパクト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「タウンワーク」は、LINEリッチメニューからの検索強化で、応募数が79%増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総合大手の求人サービスは、数十万〜数百万人規模でLINEを活用している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645311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6496943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 err="1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最多</a:t>
            </a:r>
            <a:endParaRPr sz="4050" b="1" dirty="0">
              <a:solidFill>
                <a:schemeClr val="tx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LINE経由の中で、配信より多い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793680" y="3625181"/>
            <a:ext cx="8319744" cy="284947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リッチメニューに人気の検索条件を並べる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ight Arrow 9"/>
          <p:cNvSpPr/>
          <p:nvPr/>
        </p:nvSpPr>
        <p:spPr>
          <a:xfrm>
            <a:off x="3416783" y="4490018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3645311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トークで条件を選ぶと</a:t>
            </a: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求人が表示される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ight Arrow 11"/>
          <p:cNvSpPr/>
          <p:nvPr/>
        </p:nvSpPr>
        <p:spPr>
          <a:xfrm>
            <a:off x="6268416" y="4490018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496943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そのまま求人ページへ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移動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サイトで応募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793680" y="5548578"/>
            <a:ext cx="8319744" cy="427421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応募の増加へ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導入事例（タウンワーク・2019年公開）／友だち数：page.line.me（公式）2026-09-21実測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タウンワークの勝因｜常設の入口（リッチメニュー）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勝因は、LINE上でワンタップで求人を探せる常設の入口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LINE経由の応募は、配信よりリッチメニュー経由が最多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3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694319" y="5600880"/>
            <a:ext cx="1821600" cy="501797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ための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025968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281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926608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58256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569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58896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490543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857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391183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LINEによるエントリーハードルの低減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「LINEでログイン」とLINE Profile+で、登録の入力は「確認して押すだけ」に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7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ワンタップの友だち追加で、登録の心理的ハードルを大きく下げる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946934"/>
            <a:ext cx="5166720" cy="2589818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793680" y="4745317"/>
            <a:ext cx="5166720" cy="225025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1775520"/>
            <a:ext cx="2987424" cy="165018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500717"/>
            <a:ext cx="2987424" cy="15751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525948"/>
            <a:ext cx="8319744" cy="450051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会員登録のハードル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がる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スケジュール｜サイトの公開日に合わせて、LINEを同時にリリース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サイトの公開日（4月）に合わせ、LINEの構築・動作検証を並行して進める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ご契約後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2085359" y="1775520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要件定義・お申込み・申請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アカウント設定、LINE Profile+の申請、サイト・配信ツールとLINEをつなぐ仕様のすり合わせ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793680" y="2493053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2085359" y="2493053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デザイン・初期構築（この期間は初期費用のみ）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あいさつ・リッチメニュー・配信の設計とデザイン、各ツールとLINEの連携、離脱防止の設置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928119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2085359" y="3928119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テスト・動作検証（公開前）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友だち追加から配信までの動作を検証（離脱防止の先行稼働分は、シミュレーションに含めない）</a:t>
            </a:r>
          </a:p>
        </p:txBody>
      </p:sp>
      <p:sp>
        <p:nvSpPr>
          <p:cNvPr id="12" name="Rounded Rectangle 8"/>
          <p:cNvSpPr/>
          <p:nvPr/>
        </p:nvSpPr>
        <p:spPr>
          <a:xfrm>
            <a:off x="793680" y="3210586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3" name="Rounded Rectangle 9"/>
          <p:cNvSpPr/>
          <p:nvPr/>
        </p:nvSpPr>
        <p:spPr>
          <a:xfrm>
            <a:off x="2085359" y="3210586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リニューアルのサイト制作への組み込み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サンクスLINE誘導・Profile+の実装を、リニューアルのサイト制作に組み込む</a:t>
            </a:r>
          </a:p>
        </p:txBody>
      </p:sp>
      <p:sp>
        <p:nvSpPr>
          <p:cNvPr id="14" name="Rounded Rectangle 10"/>
          <p:cNvSpPr/>
          <p:nvPr/>
        </p:nvSpPr>
        <p:spPr>
          <a:xfrm>
            <a:off x="793680" y="4645652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sp>
        <p:nvSpPr>
          <p:cNvPr id="15" name="Rounded Rectangle 11"/>
          <p:cNvSpPr/>
          <p:nvPr/>
        </p:nvSpPr>
        <p:spPr>
          <a:xfrm>
            <a:off x="2085359" y="4645652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サイト公開と同時にLINEもリリース（運用を本格化・月額の固定費）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「LINEで登録」・サンクスLINE誘導が稼働し、計測と配信を本格化</a:t>
            </a:r>
          </a:p>
        </p:txBody>
      </p:sp>
      <p:sp>
        <p:nvSpPr>
          <p:cNvPr id="16" name="Rounded Rectangle 12"/>
          <p:cNvSpPr/>
          <p:nvPr/>
        </p:nvSpPr>
        <p:spPr>
          <a:xfrm>
            <a:off x="793680" y="5363185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〜翌3月</a:t>
            </a:r>
          </a:p>
        </p:txBody>
      </p:sp>
      <p:sp>
        <p:nvSpPr>
          <p:cNvPr id="17" name="Rounded Rectangle 13"/>
          <p:cNvSpPr/>
          <p:nvPr/>
        </p:nvSpPr>
        <p:spPr>
          <a:xfrm>
            <a:off x="2085359" y="5363185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友だちを増やし、ピークに備える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毎月の配信と改善を続け、3月の転職のピークに備える</a:t>
            </a:r>
          </a:p>
        </p:txBody>
      </p:sp>
      <p:sp>
        <p:nvSpPr>
          <p:cNvPr id="18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Profile+の審査期間は、申請内容により変わります／組み込みの時期は、サイト制作の進行に応じて決定／求人ボックス・Indeed経由の応募者への導線は、着地先を確認のうえ決定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概算お見積もり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初期構築・シナリオ設計・リッチメニュー制作のパッケージ費用</a:t>
            </a:r>
          </a:p>
          <a:p>
            <a:pPr>
              <a:lnSpc>
                <a:spcPct val="130000"/>
              </a:lnSpc>
            </a:pP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内訳と費用感を明示し、サイト制作費とは分けて整理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800596"/>
              </p:ext>
            </p:extLst>
          </p:nvPr>
        </p:nvGraphicFramePr>
        <p:xfrm>
          <a:off x="432000" y="1930482"/>
          <a:ext cx="5256000" cy="2787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2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サンクスLINE（オプション）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5903999" y="1584000"/>
            <a:ext cx="3571200" cy="360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5903999" y="19890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903999" y="30015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903999" y="40140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432000" y="5274000"/>
            <a:ext cx="9043200" cy="540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会員登録から応募までをLINEでつなげる仕組みを構築</a:t>
            </a:r>
            <a:r>
              <a:rPr sz="13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lang="ja-JP" altLang="en-US" sz="13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35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本日のアジェンダ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Webサイト改善の「先」にある、求職者を逃さないLINE連携の全体像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936000" cy="97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0000" y="1655999"/>
            <a:ext cx="7311600" cy="9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16000" tIns="36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Web改修後の課題とLINEの立ち位置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サイトを新しくしても残る課題と、LINEを同時に入れる理由（3〜5・9〜11ページ）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000" y="2754000"/>
            <a:ext cx="936000" cy="97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0000" y="2754000"/>
            <a:ext cx="7311600" cy="9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16000" tIns="36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大手（タウンワーク）事例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求人業界でLINEが応募を増やした実例と、自動車求人サイトへの応用（6〜8ページ）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000" y="3851999"/>
            <a:ext cx="936000" cy="97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00000" y="3851999"/>
            <a:ext cx="7311600" cy="9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16000" tIns="36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導線とユーザー体験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新サイトとLINEをつなぐ導線・画面イメージ・自動応答（12〜15ページ）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4949999"/>
            <a:ext cx="936000" cy="97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4949999"/>
            <a:ext cx="7311600" cy="9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16000" tIns="36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効果と費用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友だち獲得の試算・費用の考え方・お見積もり・スケジュール（16〜19ページ）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Webサイトリニューアルの「次の課題」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サイトを新しくしても、フォーム入力の途中で離脱する求職者は必ず発生する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サイト改修だけでは届かない「検討層・離脱層」への対策が必要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3960000" cy="360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サイト改修で良くなること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000" y="2015999"/>
            <a:ext cx="3960000" cy="1548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16000" tIns="144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・見やすさ・使いやすさ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・求人の探しやすさ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・応募フォームの入力しやすさ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→ 応募する方が増える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24000" y="252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48000" y="1655999"/>
            <a:ext cx="3960000" cy="360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改修しても残ること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48000" y="2015999"/>
            <a:ext cx="3960000" cy="1548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16000" tIns="144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・比較検討中で、まだ応募しない方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・フォームの途中で離れた方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・応募しなかった方との接点が、その後は残らない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671999"/>
            <a:ext cx="8316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整備士は、複数の経路を比べながら仕事を探している（仕事を探した経路・複数回答）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6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" y="5400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応募に至らなかった方を、後から追える仕組みが必要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903999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解決策｜Web × LINEの同時導入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LINEを同時に導入し、「友だち追加＝会員・見込み客のストック」として獲得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応募まで至らない方を貯めて、後から案内できる仕組みにする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512000" cy="237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新サイトに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来訪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58000" y="1980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2358000" y="3456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64000" y="1655999"/>
            <a:ext cx="1908000" cy="100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応募する方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64000" y="3024000"/>
            <a:ext cx="1908000" cy="1007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応募に至らない方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（検討層・離脱層）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26000" y="1980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626000" y="3348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32000" y="1655999"/>
            <a:ext cx="2015999" cy="100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サイトで応募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（CV②）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2000" y="3024000"/>
            <a:ext cx="2015999" cy="1007999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LINEで友だち追加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＝ストック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02000" y="3348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08000" y="3024000"/>
            <a:ext cx="1800000" cy="1007999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新着求人を配信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→ 応募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後から案内できる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友だちに、新着求人や条件に合う求人をいつでも届けられる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6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会員の予備軍が貯まる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今すぐ応募しない方も、転職を検討する方のリストに残る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80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興味が分かる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配信のクリックで、整備士・営業など興味別に分けられる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2000" y="5544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応募まで至らない方をストックし、後から応募へつなげる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なぜ「サイトのオープン時」に同時設計するのか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オープン後のアクセス増加期を逃さない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初日からデータを蓄積するのが、最も効率的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2628000" cy="18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初日からデータを蓄積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オープン直後から、友だち・会員・クリックの履歴を蓄積。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半年で約540人の友だちに（弊社シミュレーション）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36000" y="1655999"/>
            <a:ext cx="2628000" cy="18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作り直しを避ける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会員登録のLINE化を、リニューアルの要件に入れておけば、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サイトの開発が二度手間にならない。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0000" y="1655999"/>
            <a:ext cx="2628000" cy="18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取りこぼしを防ぐ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後から導入すると、それまでに来訪した方とは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LINEでつながれず、機会損失になる。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000" y="3780000"/>
            <a:ext cx="1296000" cy="396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同時に導入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60000" y="3780000"/>
            <a:ext cx="6948000" cy="396000"/>
          </a:xfrm>
          <a:prstGeom prst="roundRect">
            <a:avLst>
              <a:gd name="adj" fmla="val 2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0" tIns="0" rIns="108000" bIns="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サイトのオープン　────　友だち・会員が増え続ける　────▶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4428000"/>
            <a:ext cx="1296000" cy="396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後付けで導入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60000" y="4428000"/>
            <a:ext cx="3816000" cy="3960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0" tIns="0" rIns="108000" bIns="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この期間の来訪者とは、LINEでつながれない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8000" y="4428000"/>
            <a:ext cx="3060000" cy="396000"/>
          </a:xfrm>
          <a:prstGeom prst="roundRect">
            <a:avLst>
              <a:gd name="adj" fmla="val 2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0" tIns="0" rIns="108000" bIns="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導入後から蓄積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" y="5184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サイトと同時に設計するのが、最も効率的で、取りこぼしがない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5724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※友だち数は弊社シミュレーション（リニューアル前に貯まる友だちは含めない）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自動車求人サイトへの応用｜LINEのワンタップ検索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「資格」「職種」「こだわり条件」は、LINEのワンタップ検索と相性が良い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「整備士2級・3級」「未経験OK」「土日休み」など、すぐに条件で引ける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整備士1級・2級・3級・無資格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36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職種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整備士／営業／受付・事務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0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こだわり条件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未経験OK・資格取得支援あり・土日休みなど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000" y="3204000"/>
            <a:ext cx="2376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リッチメニューの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ボタンをタップ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40000" y="349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4000" y="3204000"/>
            <a:ext cx="2736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検索結果ページが開く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72000" y="349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96000" y="3204000"/>
            <a:ext cx="2412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気になる求人で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サイトから応募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" y="4320000"/>
            <a:ext cx="83196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51999" tIns="36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掲載中の求人は、全国2,134件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（うち正社員・整備士946件、正社員・営業180件）。LINEから、条件別に探せる形にする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" y="5436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資格・職種・条件を、LINEのワンタップで求人へ直結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940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現状のWebサイトにおけるボトルネック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現行サイトは「その場の応募」のみで、長期的な求職者データベースが残らない構造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会員登録の入力の手間も、登録の壁になっている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655999" cy="79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サイトに来訪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20000" y="1908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80000" y="1655999"/>
            <a:ext cx="30960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入口は「応募」「転職支援の申込」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48000" y="1908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8000" y="1655999"/>
            <a:ext cx="27000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応募した方だけ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連絡先が残る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2700000"/>
            <a:ext cx="1655999" cy="79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応募しなかった方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20000" y="295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0000" y="2700000"/>
            <a:ext cx="6228000" cy="79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接点が残らず、後から案内できない（再来訪を待つしかない）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検討層の受け皿がない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「応募」か「転職支援の申込」しか入口がなく、比較検討中の方と接点を持てない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6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登録が使われにくい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氏名・経歴・パスワードの設定など、入力の手間が登録の壁になる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0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名簿が残らない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応募しなかった方の情報が蓄積されず、長期的に育てられない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000" y="5544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「その場の応募」の先に、求職者のデータベースを残す必要がある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獲得したストック顧客へのアプローチ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蓄積した友だちに、新着求人や条件に合う求人を、LINEのメッセージで直接届ける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メルマガより反応されやすく、じっくり検討する方を応募へ引き上げる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友だち（ストック）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応募前の方も含めて、LINEで接点が残る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48000" y="216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71999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クリックで自動分類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整備士・営業・未経験OKなど、配信のクリックで自動的に分かれる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227999" y="216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52000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興味に合う求人を配信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新着求人・条件に合う求人を届け、応募へ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204000"/>
            <a:ext cx="8316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他業種・就職支援での、LINE配信の反応（LINEヤフー公式事例）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バス会社｜メッセージの開封率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約70%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LINE通知メッセージの配信後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6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バス会社｜クリック率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約5倍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メルマガのクリック率との比較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就職支援｜LINE問い合わせ後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55%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の方が、面談を予約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" y="5256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ストックした友だちに、求人を何度でも届けられる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760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導入事例（琴平バス・UZUZ）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新サイトとLINEの連動導線（全体フロー）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新サイトのあらゆる接点から、自然にLINEへ誘導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求人詳細・キープ画面・相談窓口などから、行き来しながら応募へ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求人詳細</a:t>
            </a:r>
          </a:p>
        </p:txBody>
      </p:sp>
      <p:sp>
        <p:nvSpPr>
          <p:cNvPr id="7" name="Down Arrow 6"/>
          <p:cNvSpPr/>
          <p:nvPr/>
        </p:nvSpPr>
        <p:spPr>
          <a:xfrm>
            <a:off x="1656000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2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離脱防止ポップアップ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</p:txBody>
      </p:sp>
      <p:sp>
        <p:nvSpPr>
          <p:cNvPr id="9" name="Down Arrow 8"/>
          <p:cNvSpPr/>
          <p:nvPr/>
        </p:nvSpPr>
        <p:spPr>
          <a:xfrm>
            <a:off x="1656000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6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キープ画面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780000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16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「気になる求人を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LINEでキープ」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780000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40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相談窓口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03999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40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「LINEで適正年収を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相談」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03999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64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応募の完了画面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028000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64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028000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2000" y="3671999"/>
            <a:ext cx="8319600" cy="503999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LINE公式アカウント　友だち追加＝会員・見込み客のストック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4860000" y="4212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2000" y="4464000"/>
            <a:ext cx="1980000" cy="7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あいさつ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51999" y="4464000"/>
            <a:ext cx="1980000" cy="7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条件検索・相談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12000" y="4464000"/>
            <a:ext cx="1980000" cy="7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新着求人・条件別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308000" y="4716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632000" y="4464000"/>
            <a:ext cx="1475999" cy="72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サイトへ戻って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000" y="5400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サイトとLINEを行き来しながら、応募へつなげる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000" y="5903999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※キープ画面・相談窓口は、新サイトに追加する接点の想定。シミュレーションの数字に含めるのは動線00・01のみ（動線02は含めない）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ユーザー体験イメージ①｜サイト訪問からLINE保存まで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気軽なポップアップ・ボタンで、サイトからその場でLINEへ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「LINEでキープ」「LINEで相談」など、求人に合わせた訴求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4031999" cy="252190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00" y="1655999"/>
            <a:ext cx="4031999" cy="25219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2000" y="4248000"/>
            <a:ext cx="4031999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離脱防止ポップアップ（動線00）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ページを離れようとした方に、「条件に合う新着求人をLINEでお届け」と案内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6000" y="4248000"/>
            <a:ext cx="4031999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「LINEで登録」ボタン（動線01）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LINEの情報が自動で入り、会員登録と友だち追加が同時に完了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5112000"/>
            <a:ext cx="8316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ポップアップ・ボタンの訴求の例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5400000"/>
            <a:ext cx="2628000" cy="468000"/>
          </a:xfrm>
          <a:prstGeom prst="roundRect">
            <a:avLst>
              <a:gd name="adj" fmla="val 2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「気になる求人をLINEでキープ」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6000" y="5400000"/>
            <a:ext cx="2628000" cy="468000"/>
          </a:xfrm>
          <a:prstGeom prst="roundRect">
            <a:avLst>
              <a:gd name="adj" fmla="val 2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「LINEで適正年収を相談」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80000" y="5400000"/>
            <a:ext cx="2628000" cy="468000"/>
          </a:xfrm>
          <a:prstGeom prst="roundRect">
            <a:avLst>
              <a:gd name="adj" fmla="val 2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「新着求人をLINEでお届け」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5976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ユーザー体験イメージ②｜LINEトーク画面・リッチメニュー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自動車求人に特化したリッチメニューを常設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希望条件の検索から相談まで、LINEの中で完結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4104000" cy="273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2000" y="4428000"/>
            <a:ext cx="4104000" cy="93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リッチメニュー（トーク画面の下に常設）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整備士・営業の求人／近くの求人／資格から探す／未経験OK・資格取得支援／新着求人の受け取り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000" y="1584000"/>
            <a:ext cx="2107120" cy="3744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000" y="1655999"/>
            <a:ext cx="1655999" cy="3671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144000" rIns="108000" bIns="36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LINE内で完結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 希望の職種をタップで選ぶ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 条件に合う求人が、カードで届く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③ 求人ページへそのまま移動し、サイトで応募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5472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自動応答・アンケートシナリオの活用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友だち追加直後の自動アンケートで、「保有資格」「希望時期」を把握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回答に合う求人を、自動でセグメント配信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608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128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あいさつ（自動）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816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336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アンケート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ボタンをタップするだけ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024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544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回答をタグで保存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資格・希望時期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23199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752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条件に合う求人を配信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" y="2772000"/>
            <a:ext cx="3456000" cy="24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アンケートの例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保有資格：1級／2級／3級／無資格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希望時期：すぐ／3か月以内／情報収集中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希望の職種：整備士／営業／受付・事務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0" y="2772000"/>
            <a:ext cx="3456000" cy="24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回答に合わせた配信の例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整備士2級・すぐ → 整備士の新着求人を優先して配信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未経験・情報収集中 → 資格取得支援の求人と、働き方の情報を配信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友だち追加から14日間、全10通のステップ配信で応募へ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000" y="2700000"/>
            <a:ext cx="1458775" cy="2592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92000" y="5472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追加直後の数十秒で、求める条件が分かり、最適な求人を届けられる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" y="5976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※画面・選択肢はイメージです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友だち登録数・獲得シミュレーション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新サイトの来訪（月約6,100人）に応じて、友だちは半年で542人まで増加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転職を検討する方のリストが、公開直後から積み上がる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92000" y="1548000"/>
          <a:ext cx="8316000" cy="20159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00" name="Table 4"/>
          <p:cNvGraphicFramePr>
            <a:graphicFrameLocks noGrp="1"/>
          </p:cNvGraphicFramePr>
          <p:nvPr/>
        </p:nvGraphicFramePr>
        <p:xfrm>
          <a:off x="793680" y="3671999"/>
          <a:ext cx="8319744" cy="1642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068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1" name="TextBox 900"/>
          <p:cNvSpPr txBox="1"/>
          <p:nvPr/>
        </p:nvSpPr>
        <p:spPr>
          <a:xfrm>
            <a:off x="792000" y="5436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前提：リニューアル前に貯まる友だちは含めない／サイト来訪 月約6,100人（広告のシミュレーション確定後に差し替え）／LINEで登録＝来訪者の1.0%／会員登録（CV①）・応募（CV②）はLINEでの登録・リッチメニューと配信からの件数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導入費用の考え方｜サイト制作費とは分けて明示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投資対効果を正しく把握するため、サイト制作費とは分ける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LINEの費用を、「LINE独自構築費」として明確化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2628000" cy="468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サイト改修費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000" y="2124000"/>
            <a:ext cx="2628000" cy="2951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サイト制作会社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役割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新サイトの見た目・使いやすさ・応募フォームを改善する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費用の構造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制作会社のお見積もり（サイトの制作費）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36000" y="1655999"/>
            <a:ext cx="2628000" cy="468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6000" y="2124000"/>
            <a:ext cx="2628000" cy="2951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各広告媒体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役割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サイトへ来訪する方を増やす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費用の構造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媒体ごとの広告費・運用費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0" y="1655999"/>
            <a:ext cx="2628000" cy="46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LINE独自構築費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80000" y="2124000"/>
            <a:ext cx="2628000" cy="2951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弊社（本提案）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役割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来訪した方を友だち・会員として貯め、応募へつなげる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費用の構造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初期費用＋月額の固定費／LINE公式アカウントの利用料は配信通数で変動（別途）／LINE連携の開発は都度お見積もり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5328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費用を分けることで、LINEの効果（友だち・会員・応募）を単独で把握できる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143226</TotalTime>
  <Words>2937</Words>
  <Application>Microsoft Office PowerPoint</Application>
  <PresentationFormat>A4 210 x 297 mm</PresentationFormat>
  <Paragraphs>706</Paragraphs>
  <Slides>34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34</vt:i4>
      </vt:variant>
    </vt:vector>
  </HeadingPairs>
  <TitlesOfParts>
    <vt:vector size="40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1964</cp:revision>
  <cp:lastPrinted>2022-11-01T11:38:14Z</cp:lastPrinted>
  <dcterms:created xsi:type="dcterms:W3CDTF">2015-09-04T09:21:15Z</dcterms:created>
  <dcterms:modified xsi:type="dcterms:W3CDTF">2026-10-02T09:30:20Z</dcterms:modified>
</cp:coreProperties>
</file>