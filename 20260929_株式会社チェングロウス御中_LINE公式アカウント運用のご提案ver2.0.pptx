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52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55"/>
  </p:notesMasterIdLst>
  <p:handoutMasterIdLst>
    <p:handoutMasterId r:id="rId56"/>
  </p:handoutMasterIdLst>
  <p:sldIdLst>
    <p:sldId id="2363" r:id="rId3"/>
    <p:sldId id="2971" r:id="rId4"/>
    <p:sldId id="2972" r:id="rId5"/>
    <p:sldId id="2904" r:id="rId6"/>
    <p:sldId id="3007" r:id="rId7"/>
    <p:sldId id="2987" r:id="rId13"/>
    <p:sldId id="2999" r:id="rId11"/>
    <p:sldId id="2997" r:id="rId14"/>
    <p:sldId id="2996" r:id="rId15"/>
    <p:sldId id="2973" r:id="rId16"/>
    <p:sldId id="2977" r:id="rId17"/>
    <p:sldId id="2979" r:id="rId18"/>
    <p:sldId id="3000" r:id="rId19"/>
    <p:sldId id="2968" r:id="rId20"/>
    <p:sldId id="2908" r:id="rId21"/>
    <p:sldId id="2990" r:id="rId23"/>
    <p:sldId id="2986" r:id="rId24"/>
    <p:sldId id="2991" r:id="rId25"/>
    <p:sldId id="2989" r:id="rId27"/>
    <p:sldId id="2563" r:id="rId28"/>
    <p:sldId id="2995" r:id="rId9"/>
    <p:sldId id="1169" r:id="rId5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9" Type="http://schemas.openxmlformats.org/officeDocument/2006/relationships/slide" Target="slides/slide7.xml"/><Relationship Id="rId11" Type="http://schemas.openxmlformats.org/officeDocument/2006/relationships/slide" Target="slides/slide9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54" Type="http://schemas.openxmlformats.org/officeDocument/2006/relationships/slide" Target="slides/slide52.xml"/><Relationship Id="rId55" Type="http://schemas.openxmlformats.org/officeDocument/2006/relationships/notesMaster" Target="notesMasters/notesMaster1.xml"/><Relationship Id="rId56" Type="http://schemas.openxmlformats.org/officeDocument/2006/relationships/handoutMaster" Target="handoutMasters/handout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00FA-BE78-95FE-0350-A4F0396FF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FC15E1A-F54C-3203-065A-E98A027A0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9AE28B8-9549-F5B4-6969-5885B85CC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2C20ED0-F80D-F8F8-F1CB-2D28DC68B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8954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80EF-6C8C-B780-9BB3-1B0757C00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DAB9840-7942-E115-501A-18129D771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2A1841C-729C-28E2-58FF-5212B200D2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47DBBA-098F-116B-BB87-D1F9D32E06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0818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8432E-C2C6-89CF-C006-DD360C6CB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B7CA1C0-54B2-C273-9EFA-4A233AA33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C6AE94C-3A31-DE43-5CF3-F8B06624D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2184BA-3FBD-5E23-D138-23E1190BD5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8417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09F94-460F-5A9A-D53E-BD9AF25C6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880BBC6-A0FB-42D9-3A8A-800D9E47C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7DCB781-2099-65DC-EA96-CC827630A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2154FB-F3CF-6922-2040-70A35BD97D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35989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8DFB9-1A0E-AC56-86AB-C554ECA59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6E74640-8F62-6E74-5A21-E69A7415B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566DD76-369D-9DB0-5CDC-B936C94EB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B7A0C4-A336-4C2C-E97A-0E6D7798D4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486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C3D0E-521D-4421-8E6F-5B072E39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A4E99E-E573-FB69-824A-6A64B973F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C7418EF-CD86-6501-70F8-B9DD019152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B86D95-C452-2BDC-5841-170929F80D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7864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1E9D4-0876-C25C-8529-8B74AB55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F43F49-5B7A-3752-251E-82690E66F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863D13-39F9-D392-9C29-D9EAD3D1E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3CE111-A992-AC9F-119C-E1210F4D3D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85059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66D97-D2AE-47E8-CEF6-DF7B01DBF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17462C0-C3A5-BB88-91F7-226AFC224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D40E553-EB2C-9ACD-C50F-CC21DD6D0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59E7342-2894-A379-2FAD-61B82347D6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9730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BE411-4324-1BAD-C78B-91DF91FD9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D549732-A76E-5601-F486-7A42B1789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3275E6F-98B5-9B49-8F3C-8CAF75C8D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53E365-D354-3F82-CA83-108FC9376A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5914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CAC78-50A4-F913-B3AF-274D3224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7EBEBB5-128F-0CAF-8FD7-D2192091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79E3D02-55AC-2638-9F09-898F0C8E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1B9F10-F34C-A78C-BAAF-5494CD58A7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54538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BF5B-1845-D193-7974-D86F6501A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241EA19-E230-7BF9-50E1-64D71F07C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FCC320-6462-2E53-372E-51E35D6A4C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D45867-3EDE-BF64-D973-FA5EA5D84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4995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52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jpeg"/><Relationship Id="rId6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emf"/><Relationship Id="rId4" Type="http://schemas.openxmlformats.org/officeDocument/2006/relationships/image" Target="../media/image58.jpeg"/><Relationship Id="rId5" Type="http://schemas.openxmlformats.org/officeDocument/2006/relationships/image" Target="../media/image59.jpeg"/><Relationship Id="rId6" Type="http://schemas.openxmlformats.org/officeDocument/2006/relationships/image" Target="../media/image60.jpeg"/><Relationship Id="rId7" Type="http://schemas.openxmlformats.org/officeDocument/2006/relationships/image" Target="../media/image61.jpeg"/><Relationship Id="rId8" Type="http://schemas.openxmlformats.org/officeDocument/2006/relationships/image" Target="../media/image6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2533105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224725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7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―サイトリニューアルに伴うご提案―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199966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170AE42-913D-895E-A1DE-6A899FE53370}"/>
              </a:ext>
            </a:extLst>
          </p:cNvPr>
          <p:cNvSpPr txBox="1"/>
          <p:nvPr/>
        </p:nvSpPr>
        <p:spPr>
          <a:xfrm>
            <a:off x="291974" y="263665"/>
            <a:ext cx="49658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株式会社チェングロウス 御中</a:t>
            </a:r>
          </a:p>
        </p:txBody>
      </p:sp>
      <p:pic>
        <p:nvPicPr>
          <p:cNvPr id="11" name="Picture 10" descr="chengrowt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000" y="3478502"/>
            <a:ext cx="2880000" cy="33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求人メディアのLINE活用事例｜タウンワーク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リッチメニューに人気の検索条件を並べ、LINEからワンタップで求人を探せるようにしました。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その結果、LINE経由の応募は、配信よりもリッチメニュー経由が最も多くなりました。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＋79%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LINEからの応募が大きく増加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リッチメニューのタップ数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＋20%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探す入口として使われるように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リッチメニュー経由の応募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最多</a:t>
            </a:r>
          </a:p>
          <a:p>
            <a:pPr algn="ctr"/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LINE経由の応募の中で、配信より多い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456000"/>
            <a:ext cx="90432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何をしたか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　リッチメニューに人気の検索条件を並べる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単発・日払い・在宅など、よく探される条件をボタンに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83199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315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　トークで条件を選ぶと、求人が表示される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選んだ条件に合う求人がカード形式で並ぶ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82800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311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　そのまま求人ページへ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条件を入れた状態の検索結果に移動し、サイトで応募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LINEを「求人を探す入口」にしたことが、応募の増加につながりました。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導入事例（タウンワーク・2019年公開）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LINEは「条件を選ぶ入口」で、検索と応募はサイト側で行う作りです。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サイトの会員とLINEを連携し、条件別の検索結果ページへそのまま移動させています。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　あいさつ</a:t>
            </a:r>
          </a:p>
        </p:txBody>
      </p:sp>
      <p:pic>
        <p:nvPicPr>
          <p:cNvPr id="6" name="Picture 5" descr="1_あいさつ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23999" y="5742000"/>
            <a:ext cx="1980000" cy="468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条件に合う求人を受け取るための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会員連携を案内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84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　リッチメニュー</a:t>
            </a:r>
          </a:p>
        </p:txBody>
      </p:sp>
      <p:pic>
        <p:nvPicPr>
          <p:cNvPr id="9" name="Picture 8" descr="2_リッチメニュー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87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2750400" y="5742000"/>
            <a:ext cx="1980000" cy="468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時間帯・学生歓迎などの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条件がワンタップ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48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　移動先のサイト</a:t>
            </a:r>
          </a:p>
        </p:txBody>
      </p:sp>
      <p:pic>
        <p:nvPicPr>
          <p:cNvPr id="12" name="Picture 11" descr="3_遷移先サイト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1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176800" y="5742000"/>
            <a:ext cx="1980000" cy="468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検索結果ページ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11199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　会員連携の画面</a:t>
            </a:r>
          </a:p>
        </p:txBody>
      </p:sp>
      <p:pic>
        <p:nvPicPr>
          <p:cNvPr id="15" name="Picture 14" descr="4_連携リンク先_リクルートIDログイン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15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603199" y="5742000"/>
            <a:ext cx="1980000" cy="468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リクルートIDでログイン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（メール＋パスワード）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LINEのメリット①｜興味別に届けられる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配信の中でクリックされた内容をもとに、友だちを自動で分けられます（LINE公式アカウントの標準機能）。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配信するたびに分け方の精度が上がり、全員に同じ内容を送らずに済みます。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232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STEP1　配信する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232000" cy="25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新着求人のお知らせ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・整備士の求人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・営業の求人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・未経験OK・資格取得支援の求人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3つの求人を1通で届ける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72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40000" y="1620000"/>
            <a:ext cx="2988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STEP2　クリックで自動に分かれる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00" y="1980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→「整備士に興味」のグループ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0" y="2862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→「営業に興味」のグループ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0" y="3744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資格取得支援をクリック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→「未経験・これから資格」のグループ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90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40000" y="1620000"/>
            <a:ext cx="26352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STEP3　合う人にだけ届ける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0000" y="1980000"/>
            <a:ext cx="2635200" cy="259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次の配信から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整備士グループには整備士の求人を、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未経験グループには資格取得支援を。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興味のない案内が減るので、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ブロックされにくくなります。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登録時に細かく聞かなくても、クリックの履歴で興味が分かっていきます。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※LINE公式アカウント管理画面の「オーディエンス」機能（クリックリターゲティング）を使用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LINEのメリット②｜何度でも接点を持てる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広告は、クリックされた一度きりで接点が終わります。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LINEは、一度友だちになれば、広告費をかけ直さずに何度でも求人をご案内できます。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655999"/>
            <a:ext cx="936000" cy="432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0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広告を見る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31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91999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83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44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応募しない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96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接点が終わる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2520000"/>
            <a:ext cx="936000" cy="432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4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40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31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91999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LINEで友だちに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83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44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新着求人・条件の合う求人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236000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96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4000" y="3024000"/>
            <a:ext cx="18000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ctr"/>
            <a:r>
              <a:rPr sz="11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↻ 何度でもご案内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応募しなかった人も残る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今すぐ応募しない人も、友だちとして残り続けます。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15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タイミングが合ったときに届く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転職を考え始めた時期に、新着求人が届きます。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311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連絡がLINEで完結する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電話やメールより気軽にやりとりできます。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5148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一度の広告費で、何度もご案内できる「見込みの人の名簿」ができます。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※配信通数に応じたLINE公式アカウントの利用料は別途かかります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1AEA3-5B74-7C38-9336-4D6A18C7C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参考：前後検索（カーディーラー）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684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「カーディーラー」の検索前後15日間。LINEの友だちにできる機会は、検索当日〜翌日だけ。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58000"/>
            <a:ext cx="5112000" cy="298285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907233" y="4397400"/>
            <a:ext cx="936000" cy="223200"/>
          </a:xfrm>
          <a:prstGeom prst="rect">
            <a:avLst/>
          </a:prstGeom>
          <a:solidFill>
            <a:srgbClr val="C6E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950" b="1">
                <a:solidFill>
                  <a:srgbClr val="00873C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72347" y="1458000"/>
            <a:ext cx="605772" cy="2946851"/>
          </a:xfrm>
          <a:prstGeom prst="rect">
            <a:avLst/>
          </a:prstGeom>
          <a:solidFill>
            <a:srgbClr val="06C75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7240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職業・働き方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76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整備・工具・カー用品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240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お金・手続き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176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クルマ選び（車種・店舗）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24000" y="2052000"/>
            <a:ext cx="3751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LINE追加率を上げるコンテンツ（検索当日〜翌日）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240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離脱防止で…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「整備士の年収相場」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をLINEで見られます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6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この機会に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LINEで30秒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適職診断しませんか？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240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当日の検索は「年収」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その場で答えを出す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356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電話なし・履歴書なし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応募前の人でも動きやすい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75233" y="2772000"/>
            <a:ext cx="2312767" cy="1548720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32000" y="4710852"/>
            <a:ext cx="9043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LINEでのリード有効化率を上げるコンテンツ（翌日〜14日・前後検索の関心の順番）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職種図鑑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整備・受付・営業の違い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34171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働き方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休み・残業・ホワイトな職場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36342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求人のご案内①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38514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他職種と比較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営業・施工管理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40685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7日目</a:t>
            </a: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資格別の</a:t>
            </a:r>
            <a:endParaRPr lang="en-US"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年収相場</a:t>
            </a:r>
            <a:endParaRPr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キャリアマップ</a:t>
            </a:r>
            <a:endParaRPr sz="10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942857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現場のリアル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冬の繁忙期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45028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求人のご案内②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21600" y="4320720"/>
            <a:ext cx="255599" cy="372131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000" y="6282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前後検索データ（起点KW：カーディーラー／2026-09-23取得）。色分けはDYM分類（ラベル129件）</a:t>
            </a:r>
          </a:p>
        </p:txBody>
      </p:sp>
    </p:spTree>
    <p:extLst>
      <p:ext uri="{BB962C8B-B14F-4D97-AF65-F5344CB8AC3E}">
        <p14:creationId xmlns:p14="http://schemas.microsoft.com/office/powerpoint/2010/main" val="2053170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79BAA-8C2D-2DC3-A995-CBA086D4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他社のLINE活用｜求人サービスの状況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7833"/>
            <a:ext cx="9036000" cy="30433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総合大手は、数十万〜数百万人規模でLINEを活用しています。一方、整備士特化のサービスでは、まだ少ない状況です。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262570"/>
              </p:ext>
            </p:extLst>
          </p:nvPr>
        </p:nvGraphicFramePr>
        <p:xfrm>
          <a:off x="432000" y="1619999"/>
          <a:ext cx="9043200" cy="2249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7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3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サービス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種別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LINE友だち数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リクナビNEXT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3,235,678人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求人ボックス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総合・アグリゲーション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1,862,866人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マイナビ転職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754,302人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doda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総合・エージェント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公開アカウントなし（会員登録後に1:1連携）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プレックスジョブ【整備士】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6,288人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整備士の求人・転職｜カンパネル</a:t>
                      </a:r>
                      <a:endParaRPr sz="14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196人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4380253"/>
            <a:ext cx="9043200" cy="396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整備士特化で、LINEを本格的に活用しているサービスはまだ少なく、先に始めた方が有利です。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出典：page.line.me（公式）2026-09-21実測。友だち数は取得日時点の公表値</a:t>
            </a:r>
          </a:p>
        </p:txBody>
      </p:sp>
    </p:spTree>
    <p:extLst>
      <p:ext uri="{BB962C8B-B14F-4D97-AF65-F5344CB8AC3E}">
        <p14:creationId xmlns:p14="http://schemas.microsoft.com/office/powerpoint/2010/main" val="1405796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LINEのメリット③｜登録の手間を下げられる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「LINEでログイン」を使うと、LINEのアカウントでサイトの会員登録ができます。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さらにLINE Profile+を使うと、氏名・電話番号などが自動で入り、確認して押すだけで登録が終わります。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584000"/>
            <a:ext cx="5616000" cy="2815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4434680"/>
            <a:ext cx="5616000" cy="216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「LINEでログイン」の画面の流れ（イメージ）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8000" y="1584000"/>
            <a:ext cx="32472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 Profile+で自動入力できる項目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氏名（カナを含む）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性別・生年月日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電話番号・住所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8000" y="3240000"/>
            <a:ext cx="3247200" cy="151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利用の条件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日本の法人のみ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使う項目ごとに申請し、LINEヤフー社の審査がある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ユーザーの同意が必要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518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入力が「確認して押すだけ」になり、会員登録のハードルを大きく下げられます。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 Developers（LINE Profile+・2025年11月更新）／画面の流れの引用：https://prtimes.jp/main/html/rd/p/000003920.000001594.html</a:t>
            </a: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EC9E0-2ED9-448E-0518-C4BB66871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タウンワークの型を分解すると、3つの仕組み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応募が増えた理由は、LINEを「求人を探す入口」にしたことです。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この3つは、サイト側に「条件別の検索結果ページ」と「LINEとの会員連携」があれば再現できます。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リッチメニューで条件検索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よく探される条件をボタンに並べる。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トーク画面の下に常にあるので、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探したいときにいつでも使える。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全員共通のあいさつ＋タップで分岐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5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あいさつで会員連携を案内する。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条件のカードをタップしてもらい、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興味を聞く。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1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検索結果へそのまま移動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1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条件を入れた状態の検索結果ページへ。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探す手間がなく、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応募はサイト側で行う。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3888000"/>
            <a:ext cx="90432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貴社で再現するときに必要なもの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4212000"/>
            <a:ext cx="4392000" cy="936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条件別の検索結果ページ（職種×地域×資格）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LINEで会員登録・ログインできる仕組み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6000" y="4212000"/>
            <a:ext cx="4399200" cy="936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リッチメニュー・あいさつ・配信の設計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条件で選んで送る仕組み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536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サイトリニューアルのタイミングなら、この仕組みを最初から入れられます。</a:t>
            </a:r>
          </a:p>
        </p:txBody>
      </p:sp>
    </p:spTree>
    <p:extLst>
      <p:ext uri="{BB962C8B-B14F-4D97-AF65-F5344CB8AC3E}">
        <p14:creationId xmlns:p14="http://schemas.microsoft.com/office/powerpoint/2010/main" val="37975529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7C615-BEE8-3B16-A209-225180EB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貴社に当てはめると｜登録はLINEで、課題は応募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サイトリニューアルに合わせて、会員登録をLINEで完結できる形にすることをご提案します。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入力の手間がほぼなくなり、登録のハードルを大きく下げられます。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入口は「応募」か「転職支援の申込」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・会員登録は、ほとんど使われていない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・応募しなかった人とは、接点が残らない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・比べている途中の人が残る場所がない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6000" y="2700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912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リニューアル後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912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会員登録＝LINEでワンタップ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・登録と同時にLINEの友だちになる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・応募しなかった人も、登録者として残る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・登録した人に、合う求人を届け続けられる</a:t>
            </a:r>
          </a:p>
        </p:txBody>
      </p:sp>
      <p:sp>
        <p:nvSpPr>
          <p:cNvPr id="10" name="Down Arrow 9"/>
          <p:cNvSpPr/>
          <p:nvPr/>
        </p:nvSpPr>
        <p:spPr>
          <a:xfrm>
            <a:off x="4665600" y="3870000"/>
            <a:ext cx="503999" cy="288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000" y="4248000"/>
            <a:ext cx="9043200" cy="82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登録（CV①）はワンタップで取れる。課題は、登録した人を応募（CV②）までどう運ぶか。</a:t>
            </a:r>
          </a:p>
          <a:p>
            <a:pPr algn="ctr"/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リッチメニューと配信で、LINEから応募まで運びます（次ページ以降）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CV①＝会員登録（LINEで登録）／CV②＝求人への応募</a:t>
            </a:r>
          </a:p>
        </p:txBody>
      </p:sp>
    </p:spTree>
    <p:extLst>
      <p:ext uri="{BB962C8B-B14F-4D97-AF65-F5344CB8AC3E}">
        <p14:creationId xmlns:p14="http://schemas.microsoft.com/office/powerpoint/2010/main" val="4161387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4C018-2F1E-8306-707D-71C186D40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貴社向けの工夫｜タウンワークより一段軽く、整備士向けに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タウンワークの型をそのまま使うのではなく、貴社のサイトとお仕事に合わせて2点を変えます。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工夫①　登録がタウンワークより一段軽い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2000" y="2015999"/>
          <a:ext cx="4391999" cy="15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/>
                <a:gridCol w="1512000"/>
                <a:gridCol w="1655999"/>
              </a:tblGrid>
              <a:tr h="37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タウンワーク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貴社（ご提案）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37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LINEとつなぐ前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リクルートIDで
ログインが必要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不要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入力するもの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メール・パスワード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ほぼなし
（Profile+で自動入力）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378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つながった状態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既存の会員と連携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登録と友だち追加が
同時に完了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76000" y="1584000"/>
            <a:ext cx="43992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工夫②　条件を整備士向けにする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6000" y="2015999"/>
            <a:ext cx="4399200" cy="15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リッチメニュー・配信で使う条件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・職種：整備士／営業／受付・事務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・地域：都道府県・市区町村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・資格：1級・2級・3級・無資格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・未経験OK・資格取得支援あり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744000"/>
            <a:ext cx="90432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掲載中の求人を、条件で探せるようにします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全国2,134件（うち正社員・整備士946件、正社員・営業180件）の求人を、LINEから条件別に探せる入口をつくります。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「軽い登録」と「整備士に合わせた条件」で、タウンワークの型を貴社向けに最適化します。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出典：自動車求人Navi 検索画面（2026年9月28日時点の掲載件数）</a:t>
            </a:r>
          </a:p>
        </p:txBody>
      </p:sp>
    </p:spTree>
    <p:extLst>
      <p:ext uri="{BB962C8B-B14F-4D97-AF65-F5344CB8AC3E}">
        <p14:creationId xmlns:p14="http://schemas.microsoft.com/office/powerpoint/2010/main" val="507335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05794-10C5-A163-5F03-DB8F5144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友だち追加の動線｜サイトに来た人をLINEに残す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サイトに来た人を、2つの入口でLINEの友だち（登録者）にします。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　離脱防止ポップアップ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44000"/>
            <a:ext cx="4392000" cy="684000"/>
          </a:xfrm>
          <a:prstGeom prst="rect">
            <a:avLst/>
          </a:prstGeom>
          <a:noFill/>
        </p:spPr>
        <p:txBody>
          <a:bodyPr wrap="square" lIns="360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求人ページで帰ろうとした人 → 「条件に合う新着求人をLINEでお届け」 → LINE追加</a:t>
            </a:r>
          </a:p>
          <a:p>
            <a:pPr algn="l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※月3万円（初期1.5万円）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736000"/>
            <a:ext cx="4392000" cy="2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［画像］離脱防止ポップアップ</a:t>
            </a:r>
          </a:p>
          <a:p>
            <a:pPr algn="ctr">
              <a:lnSpc>
                <a:spcPct val="125000"/>
              </a:lnSpc>
            </a:pPr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チャットで渡すプロンプト①の画像を貼る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3200" y="1548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　「LINEで登録」ボタン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3200" y="1944000"/>
            <a:ext cx="4392000" cy="684000"/>
          </a:xfrm>
          <a:prstGeom prst="rect">
            <a:avLst/>
          </a:prstGeom>
          <a:noFill/>
        </p:spPr>
        <p:txBody>
          <a:bodyPr wrap="square" lIns="360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求人詳細・会員登録ページ → 「LINEで登録（入力ほぼ不要）」 → LINE追加＋会員登録</a:t>
            </a:r>
          </a:p>
          <a:p>
            <a:pPr algn="l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※サイト側で実装（リニューアルの要件）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3200" y="2736000"/>
            <a:ext cx="4392000" cy="2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［画像］「LINEで登録」ボタン</a:t>
            </a:r>
          </a:p>
          <a:p>
            <a:pPr algn="ctr">
              <a:lnSpc>
                <a:spcPct val="125000"/>
              </a:lnSpc>
            </a:pPr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チャットで渡すプロンプト②の画像を貼る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5472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応募しなかった人も、帰ろうとした人も、LINEの友だちとして残ります。</a:t>
            </a:r>
          </a:p>
        </p:txBody>
      </p:sp>
    </p:spTree>
    <p:extLst>
      <p:ext uri="{BB962C8B-B14F-4D97-AF65-F5344CB8AC3E}">
        <p14:creationId xmlns:p14="http://schemas.microsoft.com/office/powerpoint/2010/main" val="36518251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82CEA-3068-C260-29FA-52D10FA7F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リッチメニューと配信で、応募まで運ぶ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登録した人が「探したいとき」はリッチメニュー、「まだ迷っているとき」は配信で、応募まで運びます。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2951999" cy="342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リッチメニュー（いつでも探せる入口）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25999"/>
            <a:ext cx="2951999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［画像］リッチメニュー</a:t>
            </a:r>
          </a:p>
          <a:p>
            <a:pPr algn="ctr">
              <a:lnSpc>
                <a:spcPct val="125000"/>
              </a:lnSpc>
            </a:pPr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プロンプト③の画像を貼る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3978000"/>
            <a:ext cx="2951999" cy="576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整備士・営業・近くの求人・資格・未経験OK・新着を、ワンタップで検索結果へ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8000" y="1548000"/>
            <a:ext cx="5947200" cy="342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配信（迷っている人を応募へ）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528000" y="1925999"/>
          <a:ext cx="4463999" cy="237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000"/>
                <a:gridCol w="936000"/>
                <a:gridCol w="1584000"/>
                <a:gridCol w="1007999"/>
              </a:tblGrid>
              <a:tr h="59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内容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開封×クリック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59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ステップ配信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登録した人
（0〜14日）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
→応募のご案内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条件が合う人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条件が合う新着だけ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594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年間の企画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友だち全員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3月の山に向けて前倒し
（月4本）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100000" y="1925999"/>
            <a:ext cx="1375200" cy="23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［画像］トーク画面</a:t>
            </a:r>
          </a:p>
          <a:p>
            <a:pPr algn="ctr">
              <a:lnSpc>
                <a:spcPct val="125000"/>
              </a:lnSpc>
            </a:pPr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プロンプト④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788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応募（CV②）は、リッチメニューと配信の両方から生まれます。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反応の目安は弊社シミュレーションの前提値（開封率・クリック率）</a:t>
            </a:r>
          </a:p>
        </p:txBody>
      </p:sp>
    </p:spTree>
    <p:extLst>
      <p:ext uri="{BB962C8B-B14F-4D97-AF65-F5344CB8AC3E}">
        <p14:creationId xmlns:p14="http://schemas.microsoft.com/office/powerpoint/2010/main" val="1151343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DCB94-34C8-7DB0-D6CB-991D39D9B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【推し施策】応募を採用までつなげる｜サンクスLINE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応募の完了画面でLINEの友だち追加を案内し、応募した人とLINEでつながります。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面談日程のリマインドで取りこぼしを防ぎ、応募の先の「採用」を増やす施策です。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5760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　応募の完了画面（サンクスLINE）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44000"/>
            <a:ext cx="5760000" cy="540000"/>
          </a:xfrm>
          <a:prstGeom prst="rect">
            <a:avLst/>
          </a:prstGeom>
          <a:noFill/>
        </p:spPr>
        <p:txBody>
          <a:bodyPr wrap="square" lIns="36000" rIns="50400" tIns="21600" bIns="21600" anchor="t">
            <a:spAutoFit/>
          </a:bodyPr>
          <a:lstStyle/>
          <a:p>
            <a:pPr algn="l"/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 → 「今後のご連絡はLINEでお送りします」 → LINE追加</a:t>
            </a:r>
          </a:p>
          <a:p>
            <a:pPr algn="l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※オプション：月3万円〜（初期10万円）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592000"/>
            <a:ext cx="18000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面談日程のリマインド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前日・当日にLINEでご案内し、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面談の無断キャンセルを防ぐ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86800" y="2592000"/>
            <a:ext cx="18000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よくある質問の自動応答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資格・受験料・勤務地などに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LINEで24時間すぐ回答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1600" y="2592000"/>
            <a:ext cx="18000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個別のやりとり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日程変更や相談も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電話なしでLINEで完結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72000" y="1548000"/>
            <a:ext cx="3103199" cy="331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［画像］応募後のトーク画面</a:t>
            </a:r>
          </a:p>
          <a:p>
            <a:pPr algn="ctr">
              <a:lnSpc>
                <a:spcPct val="125000"/>
              </a:lnSpc>
            </a:pPr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プロンプト⑤の画像を貼る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320000"/>
            <a:ext cx="5760000" cy="54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応募（CV②）の数は増やさず、応募から採用までの取りこぼしを減らす施策です。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07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応募して終わりにせず、面談・採用まで同じLINEで伴走します。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※シミュレーションの応募数・費用には含めていません（応募の先の採用に効く施策のため）</a:t>
            </a:r>
          </a:p>
        </p:txBody>
      </p:sp>
    </p:spTree>
    <p:extLst>
      <p:ext uri="{BB962C8B-B14F-4D97-AF65-F5344CB8AC3E}">
        <p14:creationId xmlns:p14="http://schemas.microsoft.com/office/powerpoint/2010/main" val="26585262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341AF-76F7-F354-A08C-287945F0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最初から入れた方が得｜後から入れると勿体ない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LINEの友だち・会員の情報は、始めた日からしか貯まりません。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サイトと同時に始めれば、翌3月の転職の山を、貯まった友だちで迎えられます。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データの蓄積が遅れない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友だち・会員・クリックの履歴は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始めた日から貯まる。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半年後には約700人の友だちに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（弊社シミュレーション）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開発のやり直しを避けられる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会員登録の仕組みを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後からLINE対応に作り替えると、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サイトの改修が二度手間になる。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3月の山に間に合う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整備士の検索は一年中あり、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山は3月。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秋までに友だちを貯めておけば、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山の時期に案内できる。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3996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同時に開始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00000" y="4068000"/>
            <a:ext cx="76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00000" y="4302000"/>
            <a:ext cx="7668000" cy="251999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ctr"/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4月 ────── 友だちが貯まり続ける ────── 翌3月（転職の山）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644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後から開始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00000" y="4716000"/>
            <a:ext cx="3600000" cy="216000"/>
          </a:xfrm>
          <a:prstGeom prst="roundRect">
            <a:avLst>
              <a:gd name="adj" fmla="val 6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00000" y="4716000"/>
            <a:ext cx="40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00000" y="4950000"/>
            <a:ext cx="3600000" cy="251999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この間の登録者はLINEに残らない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サイトリニューアルと同時に、LINEも最初から入れることをご提案します。</a:t>
            </a:r>
          </a:p>
        </p:txBody>
      </p:sp>
    </p:spTree>
    <p:extLst>
      <p:ext uri="{BB962C8B-B14F-4D97-AF65-F5344CB8AC3E}">
        <p14:creationId xmlns:p14="http://schemas.microsoft.com/office/powerpoint/2010/main" val="37310312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サイトリニューアルに入れる要件3点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LINEで応募まで運ぶために、リニューアルの要件として次の3点を入れていただくことをご提案します。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会員登録をLINEで完結させる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「LINEでログイン」とLINE Profile+で、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入力ほぼなしで会員登録。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登録と同時に友だち追加も完了。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会員の情報とLINEをひもづける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5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会員名簿にLINEの情報を保存し、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職種・地域・資格で選んで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配信できるようにする。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1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条件別の検索結果ページ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1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職種×地域×資格ごとのURLを用意し、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リッチメニューや配信から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そのまま開けるようにする。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140000"/>
            <a:ext cx="9043200" cy="86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LINE連携の開発について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LINE連携の開発は、弊社でも対応が可能です（内容に応じて都度お見積もり）。サイト制作会社様と仕様をすり合わせて進めます。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22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この3点が入っていれば、タウンワークの型を貴社サイトで再現できます。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3212290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2CB4-E2E4-29F5-FA9B-848F31DAD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スケジュール｜4月にサイトと同時に開設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 Profile+は申請とLINEヤフー社の審査があるため、予算が決まり次第、早めに着手します。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11〜12月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35999" y="158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予算のご決定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来期の予算にLINEを組み込む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39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1〜2月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35999" y="239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お申込み・申請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アカウント開設、LINE Profile+の申請、サイト制作会社様と仕様のすり合わせ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20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2〜3月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5999" y="320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あいさつ・リッチメニュー・ステップ配信の作成、サイトとの連携テスト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01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35999" y="401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サイトと同時に開設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運用開始。会員登録・友だち追加を開始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482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〜翌3月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35999" y="482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友だちを貯めて山に備える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毎月の配信・改善を続け、3月の転職の山に備える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 Profile+の審査期間は、申請内容により変わります</a:t>
            </a:r>
          </a:p>
        </p:txBody>
      </p:sp>
    </p:spTree>
    <p:extLst>
      <p:ext uri="{BB962C8B-B14F-4D97-AF65-F5344CB8AC3E}">
        <p14:creationId xmlns:p14="http://schemas.microsoft.com/office/powerpoint/2010/main" val="1451945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2631F-440C-AF04-0C69-2C8669EB8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成果シミュレーション（4〜9月）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会員登録（CV①）はLINEでワンタップ。登録した人を、リッチメニューと配信で応募（CV②）まで運びます。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友だちが貯まるほど応募が増え、7月に応募単価が2.5万円を下回る見込みです。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84000"/>
          <a:ext cx="9043200" cy="22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9200"/>
                <a:gridCol w="1044000"/>
                <a:gridCol w="1044000"/>
                <a:gridCol w="1044000"/>
                <a:gridCol w="1044000"/>
                <a:gridCol w="1044000"/>
                <a:gridCol w="1044000"/>
                <a:gridCol w="1080000"/>
              </a:tblGrid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友だち（累計）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187人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307人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438人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570人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709人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会員登録（CV①）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74件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85件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501件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応募（CV②）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55件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64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応募単価（CPA）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4.7万円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2.9万円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2.1万円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1.6万円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半年の会員登録（CV①）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501件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LINEでワンタップ登録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半年の応募（CV②）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リッチメニュー・配信から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1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9月の応募単価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1.6万円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目標2〜2.5万円を下回る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前提：サイト来訪 月約6,100人（広告のシミュレーション確定後に差し替え）／LINEで登録＝来訪者の1.5%／費用 月23.5万円／応募単価＝月の費用÷その月の応募数（初期費用は含まない）</a:t>
            </a:r>
          </a:p>
        </p:txBody>
      </p:sp>
    </p:spTree>
    <p:extLst>
      <p:ext uri="{BB962C8B-B14F-4D97-AF65-F5344CB8AC3E}">
        <p14:creationId xmlns:p14="http://schemas.microsoft.com/office/powerpoint/2010/main" val="1269822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7C1D4-87AF-B047-12E0-A21428120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費用と体制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LINE単独のお見積もりです（サイト制作費・広告運用費とは別）。運用は弊社が担当します。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84000"/>
          <a:ext cx="5256000" cy="27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/>
                <a:gridCol w="1296000"/>
                <a:gridCol w="1296000"/>
              </a:tblGrid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項目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初期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LINE運用コンサル
（設計・構築・配信・改善）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離脱防止ポップアップ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LINE公式アカウント（開設／利用料）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0.5万円〜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24.5万円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390857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サンクスLINE（オプション）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858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 Profile+／LINE連携の開発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都度お見積もり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03999" y="1584000"/>
            <a:ext cx="35712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3999" y="190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弊社：戦略・設計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アカウント設計、動線・配信の設計、効果の分析と改善のご提案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03999" y="271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弊社：運用・制作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あいさつ・リッチメニュー・配信の作成と設定、毎月のレポート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03999" y="352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貴社にお願いすること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求人情報・面談体制の共有、サイト制作会社様との連携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453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月23.5万円で、会員登録から応募までをLINEで運ぶ仕組みを構築・運用します。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※LINE公式アカウントの利用料は配信通数により変動します</a:t>
            </a:r>
          </a:p>
        </p:txBody>
      </p:sp>
    </p:spTree>
    <p:extLst>
      <p:ext uri="{BB962C8B-B14F-4D97-AF65-F5344CB8AC3E}">
        <p14:creationId xmlns:p14="http://schemas.microsoft.com/office/powerpoint/2010/main" val="1893779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A8C22-A859-569A-8EEC-58728B6BD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参考：業界の人手不足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整備士・営業は、求人に対して人が大きく足りない「超売り手市場」です。担い手も増えていません。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整備士の有効求人倍率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5.46倍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自動車営業の有効求人倍率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12.55倍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2025年度（受付事務は0.96倍）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人手不足を感じる整備事業者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約6割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国土交通省の資料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3240000"/>
          <a:ext cx="9043200" cy="11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2340000"/>
                <a:gridCol w="2340000"/>
                <a:gridCol w="2023200"/>
              </a:tblGrid>
              <a:tr h="396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以前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最近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変化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</a:tr>
              <a:tr h="396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整備学校の入学者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12,394人（2003年度）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7,068人（2024年度）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約4割減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整備要員の平均年齢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39.7歳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47.2歳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高齢化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人が集まりにくい市場だからこそ、来てくれた人を逃さない仕組みが効きます。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出典：厚生労働省 job tag（有効求人倍率・2025年度）／国土交通省資料（出典：自動車整備白書）</a:t>
            </a:r>
          </a:p>
        </p:txBody>
      </p:sp>
    </p:spTree>
    <p:extLst>
      <p:ext uri="{BB962C8B-B14F-4D97-AF65-F5344CB8AC3E}">
        <p14:creationId xmlns:p14="http://schemas.microsoft.com/office/powerpoint/2010/main" val="17346628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参考：求職者の動き方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整備士は、複数の経路を併用して比べながら仕事を探しています。検索は一年中あり、山は3月です。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548000"/>
            <a:ext cx="39600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仕事を探した経路（複数回答）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08000"/>
            <a:ext cx="1584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転職エージェント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2052000" y="1980000"/>
            <a:ext cx="1800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88000" y="1908000"/>
            <a:ext cx="648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2448000"/>
            <a:ext cx="1584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総合型の求人サイト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2000" y="2520000"/>
            <a:ext cx="173881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6810" y="2448000"/>
            <a:ext cx="648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34.1%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2988000"/>
            <a:ext cx="1584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業界特化型の求人サイト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2000" y="3060000"/>
            <a:ext cx="1682719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0719" y="2988000"/>
            <a:ext cx="648000" cy="396000"/>
          </a:xfrm>
          <a:prstGeom prst="rect">
            <a:avLst/>
          </a:prstGeom>
          <a:noFill/>
        </p:spPr>
        <p:txBody>
          <a:bodyPr wrap="square" lIns="0" rIns="50400" tIns="216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3600000"/>
            <a:ext cx="3960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特化型サイトの登録者は、84%が有資格者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整備士に特化したサイトには、資格を持つ人が集まる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0" y="1548000"/>
            <a:ext cx="4788000" cy="288000"/>
          </a:xfrm>
          <a:prstGeom prst="rect">
            <a:avLst/>
          </a:prstGeom>
          <a:noFill/>
        </p:spPr>
        <p:txBody>
          <a:bodyPr wrap="square" lIns="0" rIns="50400" tIns="216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「整備士」の検索（過去5年）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000" y="1872000"/>
            <a:ext cx="4788000" cy="15561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680000" y="3600000"/>
            <a:ext cx="4788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5999" rIns="108000" tIns="90000" bIns="54000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山は3月、谷は12月。差は約1.4倍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一年中、転職を考える人がいる。3月に向けて前倒しで接点を持つ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0" bIns="0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比べている途中の人を、LINEで登録者として残しておくことが大切です。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出典：モビリア総研調査（直近3年に転職した整備士1,249人・Response 2026年9月23日）／Googleトレンド「整備士」（日本・過去5年）</a:t>
            </a:r>
          </a:p>
        </p:txBody>
      </p:sp>
    </p:spTree>
    <p:extLst>
      <p:ext uri="{BB962C8B-B14F-4D97-AF65-F5344CB8AC3E}">
        <p14:creationId xmlns:p14="http://schemas.microsoft.com/office/powerpoint/2010/main" val="30001345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143146</TotalTime>
  <Words>5255</Words>
  <Application>Microsoft Office PowerPoint</Application>
  <PresentationFormat>A4 210 x 297 mm</PresentationFormat>
  <Paragraphs>1134</Paragraphs>
  <Slides>52</Slides>
  <Notes>25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52</vt:i4>
      </vt:variant>
    </vt:vector>
  </HeadingPairs>
  <TitlesOfParts>
    <vt:vector size="59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1957</cp:revision>
  <cp:lastPrinted>2022-11-01T11:38:14Z</cp:lastPrinted>
  <dcterms:created xsi:type="dcterms:W3CDTF">2015-09-04T09:21:15Z</dcterms:created>
  <dcterms:modified xsi:type="dcterms:W3CDTF">2026-09-24T07:29:58Z</dcterms:modified>
</cp:coreProperties>
</file>