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52.xml" ContentType="application/vnd.openxmlformats-officedocument.presentationml.slide+xml"/>
  <Override PartName="/ppt/slides/slide7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55"/>
  </p:notesMasterIdLst>
  <p:handoutMasterIdLst>
    <p:handoutMasterId r:id="rId56"/>
  </p:handoutMasterIdLst>
  <p:sldIdLst>
    <p:sldId id="2363" r:id="rId3"/>
    <p:sldId id="2971" r:id="rId4"/>
    <p:sldId id="2972" r:id="rId5"/>
    <p:sldId id="2904" r:id="rId6"/>
    <p:sldId id="3007" r:id="rId7"/>
    <p:sldId id="2987" r:id="rId13"/>
    <p:sldId id="2999" r:id="rId11"/>
    <p:sldId id="2997" r:id="rId14"/>
    <p:sldId id="2996" r:id="rId15"/>
    <p:sldId id="2973" r:id="rId16"/>
    <p:sldId id="2977" r:id="rId17"/>
    <p:sldId id="2979" r:id="rId18"/>
    <p:sldId id="3000" r:id="rId19"/>
    <p:sldId id="2968" r:id="rId20"/>
    <p:sldId id="2908" r:id="rId21"/>
    <p:sldId id="2990" r:id="rId23"/>
    <p:sldId id="2986" r:id="rId24"/>
    <p:sldId id="2991" r:id="rId25"/>
    <p:sldId id="2989" r:id="rId27"/>
    <p:sldId id="2563" r:id="rId28"/>
    <p:sldId id="2959" r:id="rId29"/>
    <p:sldId id="2995" r:id="rId9"/>
    <p:sldId id="1169" r:id="rId54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FA0A"/>
    <a:srgbClr val="173559"/>
    <a:srgbClr val="FDFDFD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74" d="100"/>
          <a:sy n="74" d="100"/>
        </p:scale>
        <p:origin x="784" y="44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9" Type="http://schemas.openxmlformats.org/officeDocument/2006/relationships/slide" Target="slides/slide7.xml"/><Relationship Id="rId11" Type="http://schemas.openxmlformats.org/officeDocument/2006/relationships/slide" Target="slides/slide9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54" Type="http://schemas.openxmlformats.org/officeDocument/2006/relationships/slide" Target="slides/slide52.xml"/><Relationship Id="rId55" Type="http://schemas.openxmlformats.org/officeDocument/2006/relationships/notesMaster" Target="notesMasters/notesMaster1.xml"/><Relationship Id="rId56" Type="http://schemas.openxmlformats.org/officeDocument/2006/relationships/handoutMaster" Target="handoutMasters/handoutMaster1.xml"/><Relationship Id="rId57" Type="http://schemas.openxmlformats.org/officeDocument/2006/relationships/presProps" Target="presProps.xml"/><Relationship Id="rId58" Type="http://schemas.openxmlformats.org/officeDocument/2006/relationships/viewProps" Target="viewProps.xml"/><Relationship Id="rId59" Type="http://schemas.openxmlformats.org/officeDocument/2006/relationships/theme" Target="theme/theme1.xml"/><Relationship Id="rId60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2026/9/24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215D0A-BA72-DE45-32FA-363803F14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7D2F8A3-D4B3-B9E6-A613-A157696B87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933FBD4A-B575-3375-091A-F6A24B5A9B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CAEAEB9-E37C-569F-CBB7-45D65E2A090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38476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81540-B398-8C02-E1F2-1F1C4798CC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A82C74D-328C-FB0E-E710-C92A52BEF4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175EB1E7-3A4C-2E0A-CA67-686800FA87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173A52D-F6CC-DC20-5CFE-D4EBA25ECC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379868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FB00FA-BE78-95FE-0350-A4F0396FF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0FC15E1A-F54C-3203-065A-E98A027A09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C9AE28B8-9549-F5B4-6969-5885B85CCC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2C20ED0-F80D-F8F8-F1CB-2D28DC68BC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189548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0880EF-6C8C-B780-9BB3-1B0757C006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EDAB9840-7942-E115-501A-18129D7717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B2A1841C-729C-28E2-58FF-5212B200D2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C47DBBA-098F-116B-BB87-D1F9D32E060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9081846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87BDD3-88EE-99A9-AEE2-C1F41DDABD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650017B6-5C78-4075-2708-AC5DB83D5C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ECFD86C-83D9-B8F9-9012-A14834B203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02F5ACB-1F4C-FA7D-D366-8DCBB1214FD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9133521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28432E-C2C6-89CF-C006-DD360C6CBC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EB7CA1C0-54B2-C273-9EFA-4A233AA33F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5C6AE94C-3A31-DE43-5CF3-F8B06624D4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C92184BA-3FBD-5E23-D138-23E1190BD5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8384172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609F94-460F-5A9A-D53E-BD9AF25C60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0880BBC6-A0FB-42D9-3A8A-800D9E47CF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7DCB781-2099-65DC-EA96-CC827630AF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72154FB-F3CF-6922-2040-70A35BD97D6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2359895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98DFB9-1A0E-AC56-86AB-C554ECA590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16E74640-8F62-6E74-5A21-E69A7415BF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A566DD76-369D-9DB0-5CDC-B936C94EBB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AB7A0C4-A336-4C2C-E97A-0E6D7798D43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4964865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2C3D0E-521D-4421-8E6F-5B072E3927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8DA4E99E-E573-FB69-824A-6A64B973F1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3C7418EF-CD86-6501-70F8-B9DD019152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CB86D95-C452-2BDC-5841-170929F80D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9478646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11E9D4-0876-C25C-8529-8B74AB55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5CF43F49-5B7A-3752-251E-82690E66FE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35863D13-39F9-D392-9C29-D9EAD3D1EA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73CE111-A992-AC9F-119C-E1210F4D3DD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5850594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A66D97-D2AE-47E8-CEF6-DF7B01DBF3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E17462C0-C3A5-BB88-91F7-226AFC2244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BD40E553-EB2C-9ACD-C50F-CC21DD6D00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59E7342-2894-A379-2FAD-61B82347D6F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2973044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FBE411-4324-1BAD-C78B-91DF91FD9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4D549732-A76E-5601-F486-7A42B1789D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03275E6F-98B5-9B49-8F3C-8CAF75C8D6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553E365-D354-3F82-CA83-108FC9376A6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21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1559147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9CAC78-50A4-F913-B3AF-274D32241D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47EBEBB5-128F-0CAF-8FD7-D219209161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79E3D02-55AC-2638-9F09-898F0C8E63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51B9F10-F34C-A78C-BAAF-5494CD58A78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22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8545389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CDBF5B-1845-D193-7974-D86F6501AA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B241EA19-E230-7BF9-50E1-64D71F07CF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00FCC320-6462-2E53-372E-51E35D6A4C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1D45867-3EDE-BF64-D973-FA5EA5D84F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23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49959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defTabSz="956886">
              <a:defRPr/>
            </a:pPr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defTabSz="956886">
              <a:defRPr/>
            </a:pPr>
            <a:fld id="{929202D6-C1F5-472A-A72F-285F233F82C2}" type="slidenum">
              <a:rPr lang="ja-JP" altLang="en-US">
                <a:solidFill>
                  <a:prstClr val="black"/>
                </a:solidFill>
                <a:latin typeface="Calibri"/>
                <a:ea typeface="ＭＳ Ｐゴシック" panose="020B0600070205080204" pitchFamily="50" charset="-128"/>
              </a:rPr>
              <a:pPr defTabSz="956886">
                <a:defRPr/>
              </a:pPr>
              <a:t>52</a:t>
            </a:fld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7920873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3.png"/><Relationship Id="rId4" Type="http://schemas.openxmlformats.org/officeDocument/2006/relationships/image" Target="../media/image64.png"/><Relationship Id="rId5" Type="http://schemas.openxmlformats.org/officeDocument/2006/relationships/image" Target="../media/image65.png"/><Relationship Id="rId6" Type="http://schemas.openxmlformats.org/officeDocument/2006/relationships/image" Target="../media/image6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7.png"/><Relationship Id="rId4" Type="http://schemas.openxmlformats.org/officeDocument/2006/relationships/image" Target="../media/image6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9.png"/><Relationship Id="rId4" Type="http://schemas.openxmlformats.org/officeDocument/2006/relationships/image" Target="../media/image7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jpeg"/><Relationship Id="rId6" Type="http://schemas.openxmlformats.org/officeDocument/2006/relationships/image" Target="../media/image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72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3.emf"/><Relationship Id="rId4" Type="http://schemas.openxmlformats.org/officeDocument/2006/relationships/image" Target="../media/image58.jpeg"/><Relationship Id="rId5" Type="http://schemas.openxmlformats.org/officeDocument/2006/relationships/image" Target="../media/image59.jpeg"/><Relationship Id="rId6" Type="http://schemas.openxmlformats.org/officeDocument/2006/relationships/image" Target="../media/image60.jpeg"/><Relationship Id="rId7" Type="http://schemas.openxmlformats.org/officeDocument/2006/relationships/image" Target="../media/image61.jpeg"/><Relationship Id="rId8" Type="http://schemas.openxmlformats.org/officeDocument/2006/relationships/image" Target="../media/image6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9A0322D-BA5F-9122-1E12-FB7AC2AF15A5}"/>
              </a:ext>
            </a:extLst>
          </p:cNvPr>
          <p:cNvSpPr/>
          <p:nvPr/>
        </p:nvSpPr>
        <p:spPr>
          <a:xfrm>
            <a:off x="1665887" y="2533105"/>
            <a:ext cx="65742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ja-I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LINE</a:t>
            </a:r>
            <a:r>
              <a:rPr lang="ja-JP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公式アカウント運用のご提案</a:t>
            </a:r>
            <a:endParaRPr lang="en-US" altLang="ja-IS" sz="3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CC59398-53B4-E01E-A60C-6C13628FCBFB}"/>
              </a:ext>
            </a:extLst>
          </p:cNvPr>
          <p:cNvSpPr/>
          <p:nvPr/>
        </p:nvSpPr>
        <p:spPr>
          <a:xfrm>
            <a:off x="1613481" y="2224725"/>
            <a:ext cx="662663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ja-JP" altLang="en-US" sz="1700" dirty="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―サイトリニューアルに伴うご提案―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B532C1C8-7FE6-8830-B27C-27941421F5F9}"/>
              </a:ext>
            </a:extLst>
          </p:cNvPr>
          <p:cNvCxnSpPr>
            <a:cxnSpLocks/>
          </p:cNvCxnSpPr>
          <p:nvPr/>
        </p:nvCxnSpPr>
        <p:spPr>
          <a:xfrm>
            <a:off x="1337175" y="3199966"/>
            <a:ext cx="723166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図 8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FFE022E1-8FF6-B4B4-B955-17E7CFA964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0"/>
            <a:ext cx="8159931" cy="766354"/>
          </a:xfrm>
          <a:prstGeom prst="rect">
            <a:avLst/>
          </a:prstGeom>
        </p:spPr>
      </p:pic>
      <p:pic>
        <p:nvPicPr>
          <p:cNvPr id="10" name="図 9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0F2999B3-5873-C495-70F5-12487911C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94114"/>
            <a:ext cx="2042161" cy="272239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7170AE42-913D-895E-A1DE-6A899FE53370}"/>
              </a:ext>
            </a:extLst>
          </p:cNvPr>
          <p:cNvSpPr txBox="1"/>
          <p:nvPr/>
        </p:nvSpPr>
        <p:spPr>
          <a:xfrm>
            <a:off x="291974" y="263665"/>
            <a:ext cx="496582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株式会社チェングロウス 御中</a:t>
            </a:r>
          </a:p>
        </p:txBody>
      </p:sp>
      <p:pic>
        <p:nvPicPr>
          <p:cNvPr id="11" name="Picture 10" descr="chengrowth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13000" y="3478502"/>
            <a:ext cx="2880000" cy="3371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45980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A8E8E-25CB-4B86-C4F6-E5A702358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求人メディアのLINE活用事例｜タウンワーク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リッチメニューに人気の検索条件を並べ、LINEからワンタップで求人を探せるようにしました。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その結果、LINE経由の応募は、配信よりもリッチメニュー経由が最も多くなりました。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20000"/>
            <a:ext cx="2844000" cy="1655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応募数</a:t>
            </a:r>
          </a:p>
          <a:p>
            <a:pPr algn="ctr">
              <a:spcAft>
                <a:spcPts val="600"/>
              </a:spcAft>
            </a:pPr>
            <a:r>
              <a:rPr sz="40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＋79%</a:t>
            </a:r>
          </a:p>
          <a:p>
            <a:pPr algn="ctr"/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LINEからの応募が大きく増加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31599" y="1620000"/>
            <a:ext cx="2844000" cy="1655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リッチメニューのタップ数</a:t>
            </a:r>
          </a:p>
          <a:p>
            <a:pPr algn="ctr">
              <a:spcAft>
                <a:spcPts val="600"/>
              </a:spcAft>
            </a:pPr>
            <a:r>
              <a:rPr sz="40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＋20%</a:t>
            </a:r>
          </a:p>
          <a:p>
            <a:pPr algn="ctr"/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探す入口として使われるように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31199" y="1620000"/>
            <a:ext cx="2844000" cy="1655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リッチメニュー経由の応募</a:t>
            </a:r>
          </a:p>
          <a:p>
            <a:pPr algn="ctr">
              <a:spcAft>
                <a:spcPts val="600"/>
              </a:spcAft>
            </a:pPr>
            <a:r>
              <a:rPr sz="40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最多</a:t>
            </a:r>
          </a:p>
          <a:p>
            <a:pPr algn="ctr"/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LINE経由の応募の中で、配信より多い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3456000"/>
            <a:ext cx="9043200" cy="288000"/>
          </a:xfrm>
          <a:prstGeom prst="rect">
            <a:avLst/>
          </a:prstGeom>
          <a:noFill/>
        </p:spPr>
        <p:txBody>
          <a:bodyPr wrap="square" lIns="0" rIns="50400" tIns="21600" bIns="21600" anchor="t">
            <a:spAutoFit/>
          </a:bodyPr>
          <a:lstStyle/>
          <a:p>
            <a:pPr algn="l"/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何をしたか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000" y="3780000"/>
            <a:ext cx="2844000" cy="140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　リッチメニューに人気の検索条件を並べる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単発・日払い・在宅など、よく探される条件をボタンに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283199" y="4320000"/>
            <a:ext cx="2376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531599" y="3780000"/>
            <a:ext cx="2844000" cy="140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2　トークで条件を選ぶと、求人が表示される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選んだ条件に合う求人がカード形式で並ぶ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382800" y="4320000"/>
            <a:ext cx="2376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631199" y="3780000"/>
            <a:ext cx="2844000" cy="140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　そのまま求人ページへ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条件を入れた状態の検索結果に移動し、サイトで応募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000" y="5400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0" bIns="0"/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LINEを「求人を探す入口」にしたことが、応募の増加につながりました。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出典：LINEヤフー for Business 導入事例（タウンワーク・2019年公開）</a:t>
            </a:r>
          </a:p>
        </p:txBody>
      </p:sp>
    </p:spTree>
    <p:extLst>
      <p:ext uri="{BB962C8B-B14F-4D97-AF65-F5344CB8AC3E}">
        <p14:creationId xmlns:p14="http://schemas.microsoft.com/office/powerpoint/2010/main" val="23784845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0E5221-666F-DE20-B9E8-FDFC607CC2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タウンワークの実際の画面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LINEは「条件を選ぶ入口」で、検索と応募はサイト側で行う作りです。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サイトの会員とLINEを連携し、条件別の検索結果ページへそのまま移動させています。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548000"/>
            <a:ext cx="1764000" cy="288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　あいさつ</a:t>
            </a:r>
          </a:p>
        </p:txBody>
      </p:sp>
      <p:pic>
        <p:nvPicPr>
          <p:cNvPr id="6" name="Picture 5" descr="1_あいさつ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341" y="1890000"/>
            <a:ext cx="1763318" cy="3816000"/>
          </a:xfrm>
          <a:prstGeom prst="rect">
            <a:avLst/>
          </a:prstGeom>
          <a:ln>
            <a:solidFill>
              <a:srgbClr val="D9D9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323999" y="5742000"/>
            <a:ext cx="1980000" cy="468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ctr"/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条件に合う求人を受け取るための</a:t>
            </a:r>
          </a:p>
          <a:p>
            <a:pPr algn="ctr"/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会員連携を案内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58400" y="1548000"/>
            <a:ext cx="1764000" cy="288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　リッチメニュー</a:t>
            </a:r>
          </a:p>
        </p:txBody>
      </p:sp>
      <p:pic>
        <p:nvPicPr>
          <p:cNvPr id="9" name="Picture 8" descr="2_リッチメニュー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58741" y="1890000"/>
            <a:ext cx="1763318" cy="3816000"/>
          </a:xfrm>
          <a:prstGeom prst="rect">
            <a:avLst/>
          </a:prstGeom>
          <a:ln>
            <a:solidFill>
              <a:srgbClr val="D9D9D9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2750400" y="5742000"/>
            <a:ext cx="1980000" cy="468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ctr"/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時間帯・学生歓迎などの</a:t>
            </a:r>
          </a:p>
          <a:p>
            <a:pPr algn="ctr"/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条件がワンタップ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284800" y="1548000"/>
            <a:ext cx="1764000" cy="288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　移動先のサイト</a:t>
            </a:r>
          </a:p>
        </p:txBody>
      </p:sp>
      <p:pic>
        <p:nvPicPr>
          <p:cNvPr id="12" name="Picture 11" descr="3_遷移先サイト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85141" y="1890000"/>
            <a:ext cx="1763318" cy="3816000"/>
          </a:xfrm>
          <a:prstGeom prst="rect">
            <a:avLst/>
          </a:prstGeom>
          <a:ln>
            <a:solidFill>
              <a:srgbClr val="D9D9D9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5176800" y="5742000"/>
            <a:ext cx="1980000" cy="468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ctr"/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条件を入れた状態の</a:t>
            </a:r>
          </a:p>
          <a:p>
            <a:pPr algn="ctr"/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検索結果ページ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11199" y="1548000"/>
            <a:ext cx="1764000" cy="288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4　会員連携の画面</a:t>
            </a:r>
          </a:p>
        </p:txBody>
      </p:sp>
      <p:pic>
        <p:nvPicPr>
          <p:cNvPr id="15" name="Picture 14" descr="4_連携リンク先_リクルートIDログイン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11541" y="1890000"/>
            <a:ext cx="1763318" cy="3816000"/>
          </a:xfrm>
          <a:prstGeom prst="rect">
            <a:avLst/>
          </a:prstGeom>
          <a:ln>
            <a:solidFill>
              <a:srgbClr val="D9D9D9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7603199" y="5742000"/>
            <a:ext cx="1980000" cy="468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ctr"/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リクルートIDでログイン</a:t>
            </a:r>
          </a:p>
          <a:p>
            <a:pPr algn="ctr"/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（メール＋パスワード）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画面：タウンワーク LINE公式アカウント（2026年9月 弊社確認）</a:t>
            </a:r>
          </a:p>
        </p:txBody>
      </p:sp>
    </p:spTree>
    <p:extLst>
      <p:ext uri="{BB962C8B-B14F-4D97-AF65-F5344CB8AC3E}">
        <p14:creationId xmlns:p14="http://schemas.microsoft.com/office/powerpoint/2010/main" val="17159093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LINEのメリット①｜興味別に届けられる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配信の中でクリックされた内容をもとに、友だちを自動で分けられます（LINE公式アカウントの標準機能）。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配信するたびに分け方の精度が上がり、全員に同じ内容を送らずに済みます。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20000"/>
            <a:ext cx="2232000" cy="324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STEP1　配信する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000" y="1980000"/>
            <a:ext cx="2232000" cy="259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新着求人のお知らせ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・整備士の求人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・営業の求人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・未経験OK・資格取得支援の求人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3つの求人を1通で届ける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772000" y="3096000"/>
            <a:ext cx="324000" cy="324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240000" y="1620000"/>
            <a:ext cx="2988000" cy="324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STEP2　クリックで自動に分かれる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40000" y="1980000"/>
            <a:ext cx="2988000" cy="81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整備士の求人をクリック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→「整備士に興味」のグループ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40000" y="2862000"/>
            <a:ext cx="2988000" cy="81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営業の求人をクリック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→「営業に興味」のグループ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40000" y="3744000"/>
            <a:ext cx="2988000" cy="81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資格取得支援をクリック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→「未経験・これから資格」のグループ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390000" y="3096000"/>
            <a:ext cx="324000" cy="324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840000" y="1620000"/>
            <a:ext cx="2635200" cy="324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STEP3　合う人にだけ届ける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40000" y="1980000"/>
            <a:ext cx="2635200" cy="2592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次の配信から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整備士グループには整備士の求人を、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未経験グループには資格取得支援を。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興味のない案内が減るので、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ブロックされにくくなります。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2000" y="4896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0" bIns="0"/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登録時に細かく聞かなくても、クリックの履歴で興味が分かっていきます。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※LINE公式アカウント管理画面の「オーディエンス」機能（クリックリターゲティング）を使用</a:t>
            </a:r>
          </a:p>
        </p:txBody>
      </p:sp>
    </p:spTree>
    <p:extLst>
      <p:ext uri="{BB962C8B-B14F-4D97-AF65-F5344CB8AC3E}">
        <p14:creationId xmlns:p14="http://schemas.microsoft.com/office/powerpoint/2010/main" val="39399979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LINEのメリット②｜何度でも接点を持てる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広告は、クリックされた一度きりで接点が終わります。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LINEは、一度友だちになれば、広告費をかけ直さずに何度でも求人をご案内できます。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32000" y="1655999"/>
            <a:ext cx="936000" cy="432000"/>
          </a:xfrm>
          <a:prstGeom prst="rect">
            <a:avLst/>
          </a:prstGeom>
          <a:noFill/>
        </p:spPr>
        <p:txBody>
          <a:bodyPr wrap="square" lIns="0" rIns="50400" tIns="21600" bIns="21600" anchor="ctr">
            <a:spAutoFit/>
          </a:bodyPr>
          <a:lstStyle/>
          <a:p>
            <a:pPr algn="l"/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広告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40000" y="1655999"/>
            <a:ext cx="1655999" cy="432000"/>
          </a:xfrm>
          <a:prstGeom prst="roundRect">
            <a:avLst>
              <a:gd name="adj" fmla="val 18000"/>
            </a:avLst>
          </a:prstGeom>
          <a:solidFill>
            <a:srgbClr val="E6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広告を見る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131999" y="1745999"/>
            <a:ext cx="288000" cy="251999"/>
          </a:xfrm>
          <a:prstGeom prst="rightArrow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91999" y="1655999"/>
            <a:ext cx="1655999" cy="432000"/>
          </a:xfrm>
          <a:prstGeom prst="roundRect">
            <a:avLst>
              <a:gd name="adj" fmla="val 18000"/>
            </a:avLst>
          </a:prstGeom>
          <a:solidFill>
            <a:srgbClr val="E6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求人を見る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183999" y="1745999"/>
            <a:ext cx="288000" cy="251999"/>
          </a:xfrm>
          <a:prstGeom prst="rightArrow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544000" y="1655999"/>
            <a:ext cx="1655999" cy="432000"/>
          </a:xfrm>
          <a:prstGeom prst="roundRect">
            <a:avLst>
              <a:gd name="adj" fmla="val 18000"/>
            </a:avLst>
          </a:prstGeom>
          <a:solidFill>
            <a:srgbClr val="E6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応募しない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236000" y="1745999"/>
            <a:ext cx="288000" cy="251999"/>
          </a:xfrm>
          <a:prstGeom prst="rightArrow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596000" y="1655999"/>
            <a:ext cx="1655999" cy="432000"/>
          </a:xfrm>
          <a:prstGeom prst="roundRect">
            <a:avLst>
              <a:gd name="adj" fmla="val 18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接点が終わる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2000" y="2520000"/>
            <a:ext cx="936000" cy="432000"/>
          </a:xfrm>
          <a:prstGeom prst="rect">
            <a:avLst/>
          </a:prstGeom>
          <a:noFill/>
        </p:spPr>
        <p:txBody>
          <a:bodyPr wrap="square" lIns="0" rIns="50400" tIns="21600" bIns="21600" anchor="ctr">
            <a:spAutoFit/>
          </a:bodyPr>
          <a:lstStyle/>
          <a:p>
            <a:pPr algn="l"/>
            <a:r>
              <a:rPr sz="1400" b="1">
                <a:solidFill>
                  <a:srgbClr val="06C755"/>
                </a:solidFill>
                <a:latin typeface="メイリオ"/>
                <a:ea typeface="メイリオ"/>
                <a:cs typeface="メイリオ"/>
              </a:rPr>
              <a:t>LINE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440000" y="2520000"/>
            <a:ext cx="1655999" cy="432000"/>
          </a:xfrm>
          <a:prstGeom prst="roundRect">
            <a:avLst>
              <a:gd name="adj" fmla="val 18000"/>
            </a:avLst>
          </a:prstGeom>
          <a:solidFill>
            <a:srgbClr val="E8F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求人を見る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131999" y="2610000"/>
            <a:ext cx="288000" cy="251999"/>
          </a:xfrm>
          <a:prstGeom prst="right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491999" y="2520000"/>
            <a:ext cx="1655999" cy="432000"/>
          </a:xfrm>
          <a:prstGeom prst="roundRect">
            <a:avLst>
              <a:gd name="adj" fmla="val 18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LINEで友だちに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183999" y="2610000"/>
            <a:ext cx="288000" cy="251999"/>
          </a:xfrm>
          <a:prstGeom prst="right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544000" y="2520000"/>
            <a:ext cx="1655999" cy="432000"/>
          </a:xfrm>
          <a:prstGeom prst="roundRect">
            <a:avLst>
              <a:gd name="adj" fmla="val 18000"/>
            </a:avLst>
          </a:prstGeom>
          <a:solidFill>
            <a:srgbClr val="E8F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新着求人・条件の合う求人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236000" y="2610000"/>
            <a:ext cx="288000" cy="251999"/>
          </a:xfrm>
          <a:prstGeom prst="right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596000" y="2520000"/>
            <a:ext cx="1655999" cy="432000"/>
          </a:xfrm>
          <a:prstGeom prst="roundRect">
            <a:avLst>
              <a:gd name="adj" fmla="val 18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応募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44000" y="3024000"/>
            <a:ext cx="1800000" cy="288000"/>
          </a:xfrm>
          <a:prstGeom prst="rect">
            <a:avLst/>
          </a:prstGeom>
          <a:noFill/>
        </p:spPr>
        <p:txBody>
          <a:bodyPr wrap="square" lIns="0" rIns="50400" tIns="21600" bIns="21600" anchor="t">
            <a:spAutoFit/>
          </a:bodyPr>
          <a:lstStyle/>
          <a:p>
            <a:pPr algn="ctr"/>
            <a:r>
              <a:rPr sz="1100" b="1">
                <a:solidFill>
                  <a:srgbClr val="06C755"/>
                </a:solidFill>
                <a:latin typeface="メイリオ"/>
                <a:ea typeface="メイリオ"/>
                <a:cs typeface="メイリオ"/>
              </a:rPr>
              <a:t>↻ 何度でもご案内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2000" y="3600000"/>
            <a:ext cx="2844000" cy="129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応募しなかった人も残る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今すぐ応募しない人も、友だちとして残り続けます。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531599" y="3600000"/>
            <a:ext cx="2844000" cy="129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タイミングが合ったときに届く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転職を考え始めた時期に、新着求人が届きます。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31199" y="3600000"/>
            <a:ext cx="2844000" cy="129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連絡がLINEで完結する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電話やメールより気軽にやりとりできます。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2000" y="5148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0" bIns="0"/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一度の広告費で、何度もご案内できる「見込みの人の名簿」ができます。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※配信通数に応じたLINE公式アカウントの利用料は別途かかります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01AEA3-5B74-7C38-9336-4D6A18C7C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参考：前後検索（カーディーラー）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30000"/>
            <a:ext cx="9036000" cy="684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「カーディーラー」の検索前後15日間。LINEの友だちにできる機会は、検索当日〜翌日だけ。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00" y="1458000"/>
            <a:ext cx="5112000" cy="2982852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2907233" y="4397400"/>
            <a:ext cx="936000" cy="223200"/>
          </a:xfrm>
          <a:prstGeom prst="rect">
            <a:avLst/>
          </a:prstGeom>
          <a:solidFill>
            <a:srgbClr val="C6E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950" b="1">
                <a:solidFill>
                  <a:srgbClr val="00873C"/>
                </a:solidFill>
                <a:latin typeface="メイリオ"/>
                <a:ea typeface="メイリオ"/>
                <a:cs typeface="メイリオ"/>
              </a:rPr>
              <a:t>LINE追加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72347" y="1458000"/>
            <a:ext cx="605772" cy="2946851"/>
          </a:xfrm>
          <a:prstGeom prst="rect">
            <a:avLst/>
          </a:prstGeom>
          <a:solidFill>
            <a:srgbClr val="06C755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5724000" y="1458000"/>
            <a:ext cx="1857600" cy="223200"/>
          </a:xfrm>
          <a:prstGeom prst="roundRect">
            <a:avLst>
              <a:gd name="adj" fmla="val 8000"/>
            </a:avLst>
          </a:prstGeom>
          <a:solidFill>
            <a:srgbClr val="FBE0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000" b="1">
                <a:solidFill>
                  <a:srgbClr val="C0561A"/>
                </a:solidFill>
                <a:latin typeface="メイリオ"/>
                <a:ea typeface="メイリオ"/>
                <a:cs typeface="メイリオ"/>
              </a:rPr>
              <a:t>職業・働き方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17600" y="1458000"/>
            <a:ext cx="1857600" cy="223200"/>
          </a:xfrm>
          <a:prstGeom prst="roundRect">
            <a:avLst>
              <a:gd name="adj" fmla="val 8000"/>
            </a:avLst>
          </a:prstGeom>
          <a:solidFill>
            <a:srgbClr val="D6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000" b="1">
                <a:solidFill>
                  <a:srgbClr val="2B5797"/>
                </a:solidFill>
                <a:latin typeface="メイリオ"/>
                <a:ea typeface="メイリオ"/>
                <a:cs typeface="メイリオ"/>
              </a:rPr>
              <a:t>整備・工具・カー用品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24000" y="1717199"/>
            <a:ext cx="1857600" cy="223200"/>
          </a:xfrm>
          <a:prstGeom prst="roundRect">
            <a:avLst>
              <a:gd name="adj" fmla="val 8000"/>
            </a:avLst>
          </a:prstGeom>
          <a:solidFill>
            <a:srgbClr val="E8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000" b="1">
                <a:solidFill>
                  <a:srgbClr val="7440A8"/>
                </a:solidFill>
                <a:latin typeface="メイリオ"/>
                <a:ea typeface="メイリオ"/>
                <a:cs typeface="メイリオ"/>
              </a:rPr>
              <a:t>お金・手続き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17600" y="1717199"/>
            <a:ext cx="1857600" cy="223200"/>
          </a:xfrm>
          <a:prstGeom prst="roundRect">
            <a:avLst>
              <a:gd name="adj" fmla="val 8000"/>
            </a:avLst>
          </a:prstGeom>
          <a:solidFill>
            <a:srgbClr val="CC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000" b="1">
                <a:solidFill>
                  <a:srgbClr val="00796B"/>
                </a:solidFill>
                <a:latin typeface="メイリオ"/>
                <a:ea typeface="メイリオ"/>
                <a:cs typeface="メイリオ"/>
              </a:rPr>
              <a:t>クルマ選び（車種・店舗）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24000" y="2052000"/>
            <a:ext cx="3751200" cy="223200"/>
          </a:xfrm>
          <a:prstGeom prst="roundRect">
            <a:avLst>
              <a:gd name="adj" fmla="val 8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LINE追加率を上げるコンテンツ（検索当日〜翌日）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24000" y="2322000"/>
            <a:ext cx="1839600" cy="917999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0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離脱防止で…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「整備士の年収相場」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をLINEで見られます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35600" y="2322000"/>
            <a:ext cx="1839600" cy="917999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0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この機会に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LINEで30秒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適職診断しませんか？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724000" y="3276000"/>
            <a:ext cx="1839600" cy="702000"/>
          </a:xfrm>
          <a:prstGeom prst="roundRect">
            <a:avLst>
              <a:gd name="adj" fmla="val 8000"/>
            </a:avLst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当日の検索は「年収」</a:t>
            </a:r>
          </a:p>
          <a:p>
            <a:pPr algn="ctr"/>
            <a:r>
              <a:rPr sz="1050" b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その場で答えを出す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635600" y="3276000"/>
            <a:ext cx="1839600" cy="702000"/>
          </a:xfrm>
          <a:prstGeom prst="roundRect">
            <a:avLst>
              <a:gd name="adj" fmla="val 8000"/>
            </a:avLst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電話なし・履歴書なし</a:t>
            </a:r>
          </a:p>
          <a:p>
            <a:pPr algn="ctr"/>
            <a:r>
              <a:rPr sz="1050" b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応募前の人でも動きやすい</a:t>
            </a:r>
          </a:p>
        </p:txBody>
      </p:sp>
      <p:cxnSp>
        <p:nvCxnSpPr>
          <p:cNvPr id="23" name="Connector 22"/>
          <p:cNvCxnSpPr/>
          <p:nvPr/>
        </p:nvCxnSpPr>
        <p:spPr>
          <a:xfrm flipV="1">
            <a:off x="3375233" y="2772000"/>
            <a:ext cx="2312767" cy="1548720"/>
          </a:xfrm>
          <a:prstGeom prst="line">
            <a:avLst/>
          </a:prstGeom>
          <a:ln w="19050">
            <a:solidFill>
              <a:srgbClr val="4472C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432000" y="4710852"/>
            <a:ext cx="9043200" cy="223200"/>
          </a:xfrm>
          <a:prstGeom prst="roundRect">
            <a:avLst>
              <a:gd name="adj" fmla="val 8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LINEでのリード有効化率を上げるコンテンツ（翌日〜14日・前後検索の関心の順番）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2000" y="4980852"/>
            <a:ext cx="1230171" cy="1211148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1日目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職種図鑑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整備・受付・営業の違い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734171" y="4980852"/>
            <a:ext cx="1230171" cy="1211148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2日目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働き方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休み・残業・ホワイトな職場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036342" y="4980852"/>
            <a:ext cx="1230171" cy="1211148"/>
          </a:xfrm>
          <a:prstGeom prst="roundRect">
            <a:avLst>
              <a:gd name="adj" fmla="val 8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3日目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求人のご案内①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（CV）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38514" y="4980852"/>
            <a:ext cx="1230171" cy="1211148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5日目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他職種と比較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営業・施工管理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40685" y="4980852"/>
            <a:ext cx="1230171" cy="1211148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2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7日目</a:t>
            </a:r>
          </a:p>
          <a:p>
            <a:pPr algn="ctr"/>
            <a:r>
              <a:rPr sz="11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資格別の</a:t>
            </a:r>
            <a:endParaRPr lang="en-US" sz="11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  <a:p>
            <a:pPr algn="ctr"/>
            <a:r>
              <a:rPr sz="11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年収相場</a:t>
            </a:r>
            <a:endParaRPr sz="11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  <a:p>
            <a:pPr algn="ctr"/>
            <a:r>
              <a:rPr sz="1000" b="0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キャリアマップ</a:t>
            </a:r>
            <a:endParaRPr sz="1000" b="0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6942857" y="4980852"/>
            <a:ext cx="1230171" cy="1211148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10日目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現場のリアル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冬の繁忙期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45028" y="4980852"/>
            <a:ext cx="1230171" cy="1211148"/>
          </a:xfrm>
          <a:prstGeom prst="roundRect">
            <a:avLst>
              <a:gd name="adj" fmla="val 8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14日目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求人のご案内②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（CV）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4521600" y="4320720"/>
            <a:ext cx="255599" cy="372131"/>
          </a:xfrm>
          <a:prstGeom prst="line">
            <a:avLst/>
          </a:prstGeom>
          <a:ln w="19050">
            <a:solidFill>
              <a:srgbClr val="4472C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32000" y="6282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出典：LINEヤフー 前後検索データ（起点KW：カーディーラー／2026-09-23取得）。色分けはDYM分類（ラベル129件）</a:t>
            </a:r>
          </a:p>
        </p:txBody>
      </p:sp>
    </p:spTree>
    <p:extLst>
      <p:ext uri="{BB962C8B-B14F-4D97-AF65-F5344CB8AC3E}">
        <p14:creationId xmlns:p14="http://schemas.microsoft.com/office/powerpoint/2010/main" val="20531706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F79BAA-8C2D-2DC3-A995-CBA086D445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他社のLINE活用｜求人サービスの状況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837833"/>
            <a:ext cx="9036000" cy="304334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総合大手は、数十万〜数百万人規模でLINEを活用しています。一方、整備士特化のサービスでは、まだ少ない状況です。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70262570"/>
              </p:ext>
            </p:extLst>
          </p:nvPr>
        </p:nvGraphicFramePr>
        <p:xfrm>
          <a:off x="432000" y="1619999"/>
          <a:ext cx="9043200" cy="22493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79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406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1336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サービス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種別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LINE友だち数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1336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リクナビNEXT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総合・転職サイト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3,235,678人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1336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求人ボックス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総合・アグリゲーション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1,862,866人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1336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マイナビ転職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総合・転職サイト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754,302人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1336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doda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総合・エージェント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公開アカウントなし（会員登録後に1:1連携）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1336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プレックスジョブ【整備士】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整備士特化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6,288人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1336">
                <a:tc>
                  <a:txBody>
                    <a:bodyPr/>
                    <a:lstStyle/>
                    <a:p>
                      <a:pPr algn="l"/>
                      <a:r>
                        <a:rPr sz="1400" dirty="0" err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整備士の求人・転職｜カンパネル</a:t>
                      </a:r>
                      <a:endParaRPr sz="1400" dirty="0">
                        <a:solidFill>
                          <a:srgbClr val="333333"/>
                        </a:solidFill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整備士特化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196人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32000" y="4380253"/>
            <a:ext cx="9043200" cy="396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400" tIns="21600" rIns="50400" bIns="21600" rtlCol="0" anchor="ctr"/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整備士特化で、LINEを本格的に活用しているサービスはまだ少なく、先に始めた方が有利です。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出典：page.line.me（公式）2026-09-21実測。友だち数は取得日時点の公表値</a:t>
            </a:r>
          </a:p>
        </p:txBody>
      </p:sp>
    </p:spTree>
    <p:extLst>
      <p:ext uri="{BB962C8B-B14F-4D97-AF65-F5344CB8AC3E}">
        <p14:creationId xmlns:p14="http://schemas.microsoft.com/office/powerpoint/2010/main" val="14057960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B95DA1-C4AC-9E84-EE81-C643FC320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LINEのメリット③｜登録の手間を下げられる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「LINEでログイン」を使うと、LINEのアカウントでサイトの会員登録ができます。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さらにLINE Profile+を使うと、氏名・電話番号などが自動で入り、確認して押すだけで登録が終わります。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00" y="1584000"/>
            <a:ext cx="5616000" cy="2815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32000" y="4434680"/>
            <a:ext cx="5616000" cy="216000"/>
          </a:xfrm>
          <a:prstGeom prst="rect">
            <a:avLst/>
          </a:prstGeom>
          <a:noFill/>
        </p:spPr>
        <p:txBody>
          <a:bodyPr wrap="square" lIns="0" rIns="50400" tIns="21600" bIns="21600" anchor="t">
            <a:spAutoFit/>
          </a:bodyPr>
          <a:lstStyle/>
          <a:p>
            <a:pPr algn="l"/>
            <a:r>
              <a:rPr sz="9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「LINEでログイン」の画面の流れ（イメージ）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28000" y="1584000"/>
            <a:ext cx="3247200" cy="158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LINE Profile+で自動入力できる項目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氏名（カナを含む）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性別・生年月日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電話番号・住所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8000" y="3240000"/>
            <a:ext cx="3247200" cy="1512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利用の条件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日本の法人のみ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使う項目ごとに申請し、LINEヤフー社の審査がある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ユーザーの同意が必要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000" y="5184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0" bIns="0"/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入力が「確認して押すだけ」になり、会員登録のハードルを大きく下げられます。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出典：LINE Developers（LINE Profile+・2025年11月更新）／画面の流れの引用：https://prtimes.jp/main/html/rd/p/000003920.000001594.html</a:t>
            </a:r>
          </a:p>
        </p:txBody>
      </p:sp>
    </p:spTree>
    <p:extLst>
      <p:ext uri="{BB962C8B-B14F-4D97-AF65-F5344CB8AC3E}">
        <p14:creationId xmlns:p14="http://schemas.microsoft.com/office/powerpoint/2010/main" val="19855447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1EC9E0-2ED9-448E-0518-C4BB66871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タウンワークの型を分解すると、3つの仕組み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応募が増えた理由は、LINEを「求人を探す入口」にしたことです。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この3つは、サイト側に「条件別の検索結果ページ」と「LINEとの会員連携」があれば再現できます。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20000"/>
            <a:ext cx="2844000" cy="360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 リッチメニューで条件検索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000" y="2015999"/>
            <a:ext cx="2844000" cy="1655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よく探される条件をボタンに並べる。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トーク画面の下に常にあるので、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探したいときにいつでも使える。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31599" y="1620000"/>
            <a:ext cx="2844000" cy="360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 全員共通のあいさつ＋タップで分岐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31599" y="2015999"/>
            <a:ext cx="2844000" cy="1655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あいさつで会員連携を案内する。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条件のカードをタップしてもらい、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興味を聞く。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199" y="1620000"/>
            <a:ext cx="2844000" cy="360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 検索結果へそのまま移動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31199" y="2015999"/>
            <a:ext cx="2844000" cy="1655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条件を入れた状態の検索結果ページへ。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探す手間がなく、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応募はサイト側で行う。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000" y="3888000"/>
            <a:ext cx="9043200" cy="288000"/>
          </a:xfrm>
          <a:prstGeom prst="rect">
            <a:avLst/>
          </a:prstGeom>
          <a:noFill/>
        </p:spPr>
        <p:txBody>
          <a:bodyPr wrap="square" lIns="0" rIns="50400" tIns="21600" bIns="21600" anchor="t">
            <a:spAutoFit/>
          </a:bodyPr>
          <a:lstStyle/>
          <a:p>
            <a:pPr algn="l"/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貴社で再現するときに必要なもの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000" y="4212000"/>
            <a:ext cx="4392000" cy="936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サイト側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条件別の検索結果ページ（職種×地域×資格）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LINEで会員登録・ログインできる仕組み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76000" y="4212000"/>
            <a:ext cx="4399200" cy="936000"/>
          </a:xfrm>
          <a:prstGeom prst="roundRect">
            <a:avLst>
              <a:gd name="adj" fmla="val 6000"/>
            </a:avLst>
          </a:prstGeom>
          <a:solidFill>
            <a:srgbClr val="E8F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LINE側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リッチメニュー・あいさつ・配信の設計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条件で選んで送る仕組み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000" y="5364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0" bIns="0"/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サイトリニューアルのタイミングなら、この仕組みを最初から入れられます。</a:t>
            </a:r>
          </a:p>
        </p:txBody>
      </p:sp>
    </p:spTree>
    <p:extLst>
      <p:ext uri="{BB962C8B-B14F-4D97-AF65-F5344CB8AC3E}">
        <p14:creationId xmlns:p14="http://schemas.microsoft.com/office/powerpoint/2010/main" val="37975529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47C615-BEE8-3B16-A209-225180EB57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貴社に当てはめると｜登録はLINEで、課題は応募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サイトリニューアルに合わせて、会員登録をLINEで完結できる形にすることをご提案します。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入力の手間がほぼなくなり、登録のハードルを大きく下げられます。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584000"/>
            <a:ext cx="4284000" cy="342000"/>
          </a:xfrm>
          <a:prstGeom prst="roundRect">
            <a:avLst>
              <a:gd name="adj" fmla="val 18000"/>
            </a:avLst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現在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000" y="1962000"/>
            <a:ext cx="4284000" cy="1800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入口は「応募」か「転職支援の申込」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・会員登録は、ほとんど使われていない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・応募しなかった人とは、接点が残らない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・比べている途中の人が残る場所がない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806000" y="2700000"/>
            <a:ext cx="324000" cy="324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191200" y="1584000"/>
            <a:ext cx="4284000" cy="342000"/>
          </a:xfrm>
          <a:prstGeom prst="roundRect">
            <a:avLst>
              <a:gd name="adj" fmla="val 18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リニューアル後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91200" y="1962000"/>
            <a:ext cx="4284000" cy="1800000"/>
          </a:xfrm>
          <a:prstGeom prst="roundRect">
            <a:avLst>
              <a:gd name="adj" fmla="val 6000"/>
            </a:avLst>
          </a:prstGeom>
          <a:solidFill>
            <a:srgbClr val="E8F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会員登録＝LINEでワンタップ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・登録と同時にLINEの友だちになる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・応募しなかった人も、登録者として残る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・登録した人に、合う求人を届け続けられる</a:t>
            </a:r>
          </a:p>
        </p:txBody>
      </p:sp>
      <p:sp>
        <p:nvSpPr>
          <p:cNvPr id="10" name="Down Arrow 9"/>
          <p:cNvSpPr/>
          <p:nvPr/>
        </p:nvSpPr>
        <p:spPr>
          <a:xfrm>
            <a:off x="4665600" y="3870000"/>
            <a:ext cx="503999" cy="288000"/>
          </a:xfrm>
          <a:prstGeom prst="down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2000" y="4248000"/>
            <a:ext cx="9043200" cy="827999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 w="190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登録（CV①）はワンタップで取れる。課題は、登録した人を応募（CV②）までどう運ぶか。</a:t>
            </a:r>
          </a:p>
          <a:p>
            <a:pPr algn="ctr"/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リッチメニューと配信で、LINEから応募まで運びます（次ページ以降）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CV①＝会員登録（LINEで登録）／CV②＝求人への応募</a:t>
            </a:r>
          </a:p>
        </p:txBody>
      </p:sp>
    </p:spTree>
    <p:extLst>
      <p:ext uri="{BB962C8B-B14F-4D97-AF65-F5344CB8AC3E}">
        <p14:creationId xmlns:p14="http://schemas.microsoft.com/office/powerpoint/2010/main" val="41613873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64C018-2F1E-8306-707D-71C186D40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貴社向けの工夫｜タウンワークより一段軽く、整備士向けに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タウンワークの型をそのまま使うのではなく、貴社のサイトとお仕事に合わせて2点を変えます。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584000"/>
            <a:ext cx="4392000" cy="360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工夫①　登録がタウンワークより一段軽い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32000" y="2015999"/>
          <a:ext cx="4391999" cy="151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4000"/>
                <a:gridCol w="1512000"/>
                <a:gridCol w="1655999"/>
              </a:tblGrid>
              <a:tr h="378000"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/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タウンワーク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貴社（ご提案）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</a:tr>
              <a:tr h="378000"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LINEとつなぐ前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リクルートIDで
ログインが必要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不要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78000"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入力するもの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メール・パスワード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ほぼなし
（Profile+で自動入力）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</a:tr>
              <a:tr h="378000"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つながった状態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既存の会員と連携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登録と友だち追加が
同時に完了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76000" y="1584000"/>
            <a:ext cx="4399200" cy="360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工夫②　条件を整備士向けにする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76000" y="2015999"/>
            <a:ext cx="4399200" cy="151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リッチメニュー・配信で使う条件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・職種：整備士／営業／受付・事務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・地域：都道府県・市区町村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・資格：1級・2級・3級・無資格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・未経験OK・資格取得支援あり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000" y="3744000"/>
            <a:ext cx="9043200" cy="93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掲載中の求人を、条件で探せるようにします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全国2,134件（うち正社員・整備士946件、正社員・営業180件）の求人を、LINEから条件別に探せる入口をつくります。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000" y="4896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0" bIns="0"/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「軽い登録」と「整備士に合わせた条件」で、タウンワークの型を貴社向けに最適化します。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出典：自動車求人Navi 検索画面（2026年9月28日時点の掲載件数）</a:t>
            </a:r>
          </a:p>
        </p:txBody>
      </p:sp>
    </p:spTree>
    <p:extLst>
      <p:ext uri="{BB962C8B-B14F-4D97-AF65-F5344CB8AC3E}">
        <p14:creationId xmlns:p14="http://schemas.microsoft.com/office/powerpoint/2010/main" val="5073350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305794-10C5-A163-5F03-DB8F5144F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友だち追加の動線｜サイトに来た人をLINEに残す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サイトに来た人を、2つの入口でLINEの友だち（登録者）にします。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548000"/>
            <a:ext cx="4392000" cy="360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動線00　離脱防止ポップアップ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1944000"/>
            <a:ext cx="4392000" cy="684000"/>
          </a:xfrm>
          <a:prstGeom prst="rect">
            <a:avLst/>
          </a:prstGeom>
          <a:noFill/>
        </p:spPr>
        <p:txBody>
          <a:bodyPr wrap="square" lIns="36000" rIns="50400" tIns="21600" bIns="2160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求人ページで帰ろうとした人 → 「条件に合う新着求人をLINEでお届け」 → LINE追加</a:t>
            </a:r>
          </a:p>
          <a:p>
            <a:pPr algn="l"/>
            <a:r>
              <a:rPr sz="10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※月3万円（初期1.5万円）</a:t>
            </a:r>
          </a:p>
        </p:txBody>
      </p:sp>
      <p:pic>
        <p:nvPicPr>
          <p:cNvPr id="7" name="Picture 6" descr="chengrowth_v11_pop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745" y="2736000"/>
            <a:ext cx="4086508" cy="2556000"/>
          </a:xfrm>
          <a:prstGeom prst="rect">
            <a:avLst/>
          </a:prstGeom>
          <a:ln>
            <a:solidFill>
              <a:srgbClr val="D9D9D9"/>
            </a:solidFill>
          </a:ln>
        </p:spPr>
      </p:pic>
      <p:sp>
        <p:nvSpPr>
          <p:cNvPr id="8" name="Rounded Rectangle 7"/>
          <p:cNvSpPr/>
          <p:nvPr/>
        </p:nvSpPr>
        <p:spPr>
          <a:xfrm>
            <a:off x="5083200" y="1548000"/>
            <a:ext cx="4392000" cy="360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動線01　「LINEで登録」ボタン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83200" y="1944000"/>
            <a:ext cx="4392000" cy="684000"/>
          </a:xfrm>
          <a:prstGeom prst="rect">
            <a:avLst/>
          </a:prstGeom>
          <a:noFill/>
        </p:spPr>
        <p:txBody>
          <a:bodyPr wrap="square" lIns="36000" rIns="50400" tIns="21600" bIns="2160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求人詳細・会員登録ページ → 「LINEで登録（入力ほぼ不要）」 → LINE追加＋会員登録</a:t>
            </a:r>
          </a:p>
          <a:p>
            <a:pPr algn="l"/>
            <a:r>
              <a:rPr sz="10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※サイト側で実装（リニューアルの要件）</a:t>
            </a:r>
          </a:p>
        </p:txBody>
      </p:sp>
      <p:pic>
        <p:nvPicPr>
          <p:cNvPr id="10" name="Picture 9" descr="chengrowth_v11_regis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5945" y="2736000"/>
            <a:ext cx="4086508" cy="2556000"/>
          </a:xfrm>
          <a:prstGeom prst="rect">
            <a:avLst/>
          </a:prstGeom>
          <a:ln>
            <a:solidFill>
              <a:srgbClr val="D9D9D9"/>
            </a:solidFill>
          </a:ln>
        </p:spPr>
      </p:pic>
      <p:sp>
        <p:nvSpPr>
          <p:cNvPr id="11" name="Rounded Rectangle 10"/>
          <p:cNvSpPr/>
          <p:nvPr/>
        </p:nvSpPr>
        <p:spPr>
          <a:xfrm>
            <a:off x="432000" y="5472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0" bIns="0"/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応募しなかった人も、帰ろうとした人も、LINEの友だちとして残ります。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※画面はイメージです</a:t>
            </a:r>
          </a:p>
        </p:txBody>
      </p:sp>
    </p:spTree>
    <p:extLst>
      <p:ext uri="{BB962C8B-B14F-4D97-AF65-F5344CB8AC3E}">
        <p14:creationId xmlns:p14="http://schemas.microsoft.com/office/powerpoint/2010/main" val="365182510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082CEA-3068-C260-29FA-52D10FA7F4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リッチメニューと配信で、応募まで運ぶ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登録した人が「探したいとき」はリッチメニュー、「まだ迷っているとき」は配信で、応募まで運びます。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548000"/>
            <a:ext cx="2951999" cy="342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リッチメニュー（いつでも探せる入口）</a:t>
            </a:r>
          </a:p>
        </p:txBody>
      </p:sp>
      <p:pic>
        <p:nvPicPr>
          <p:cNvPr id="6" name="Picture 5" descr="chengrowth_v11_richmen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00" y="1949999"/>
            <a:ext cx="2951999" cy="1967999"/>
          </a:xfrm>
          <a:prstGeom prst="rect">
            <a:avLst/>
          </a:prstGeom>
          <a:ln>
            <a:solidFill>
              <a:srgbClr val="D9D9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32000" y="3978000"/>
            <a:ext cx="2951999" cy="576000"/>
          </a:xfrm>
          <a:prstGeom prst="rect">
            <a:avLst/>
          </a:prstGeom>
          <a:noFill/>
        </p:spPr>
        <p:txBody>
          <a:bodyPr wrap="square" lIns="0" rIns="50400" tIns="21600" bIns="2160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整備士・営業・近くの求人・資格・未経験OK・新着を、ワンタップで検索結果へ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28000" y="1548000"/>
            <a:ext cx="5947200" cy="342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配信（迷っている人を応募へ）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528000" y="1925999"/>
          <a:ext cx="4463999" cy="237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6000"/>
                <a:gridCol w="936000"/>
                <a:gridCol w="1584000"/>
                <a:gridCol w="1007999"/>
              </a:tblGrid>
              <a:tr h="594000"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配信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対象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内容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開封×クリック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</a:tr>
              <a:tr h="594000"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ステップ配信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登録した人
（0〜14日）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職種を聞く→合う求人
→応募のご案内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72.5%×12%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94000"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新着求人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条件が合う人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条件が合う新着だけ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78%×10%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</a:tr>
              <a:tr h="594000"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年間の企画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友だち全員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3月の山に向けて前倒し
（月4本）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78%×10%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10" name="Picture 9" descr="chengrowth_v11_talk_st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8994" y="1925999"/>
            <a:ext cx="1337210" cy="2376000"/>
          </a:xfrm>
          <a:prstGeom prst="rect">
            <a:avLst/>
          </a:prstGeom>
          <a:ln>
            <a:solidFill>
              <a:srgbClr val="D9D9D9"/>
            </a:solidFill>
          </a:ln>
        </p:spPr>
      </p:pic>
      <p:sp>
        <p:nvSpPr>
          <p:cNvPr id="11" name="Rounded Rectangle 10"/>
          <p:cNvSpPr/>
          <p:nvPr/>
        </p:nvSpPr>
        <p:spPr>
          <a:xfrm>
            <a:off x="432000" y="4788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0" bIns="0"/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応募（CV②）は、リッチメニューと配信の両方から生まれます。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※画面はイメージです／開封×クリックは弊社シミュレーションの前提値</a:t>
            </a:r>
          </a:p>
        </p:txBody>
      </p:sp>
    </p:spTree>
    <p:extLst>
      <p:ext uri="{BB962C8B-B14F-4D97-AF65-F5344CB8AC3E}">
        <p14:creationId xmlns:p14="http://schemas.microsoft.com/office/powerpoint/2010/main" val="115134335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CDCB94-34C8-7DB0-D6CB-991D39D9B9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【推し施策】応募を採用までつなげる｜サンクスLINE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応募の完了画面でLINEの友だち追加を案内し、応募した人とLINEでつながります。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面談日程のリマインドで取りこぼしを防ぎ、応募の先の「採用」を増やす施策です。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548000"/>
            <a:ext cx="5760000" cy="360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動線02　応募の完了画面（サンクスLINE）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1944000"/>
            <a:ext cx="5760000" cy="540000"/>
          </a:xfrm>
          <a:prstGeom prst="rect">
            <a:avLst/>
          </a:prstGeom>
          <a:noFill/>
        </p:spPr>
        <p:txBody>
          <a:bodyPr wrap="square" lIns="36000" rIns="50400" tIns="21600" bIns="21600" anchor="t">
            <a:spAutoFit/>
          </a:bodyPr>
          <a:lstStyle/>
          <a:p>
            <a:pPr algn="l"/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応募の完了画面 → 「今後のご連絡はLINEでお送りします」 → LINE追加</a:t>
            </a:r>
          </a:p>
          <a:p>
            <a:pPr algn="l"/>
            <a:r>
              <a:rPr sz="10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※オプション：月5万円（初期10万円）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000" y="2592000"/>
            <a:ext cx="1800000" cy="158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面談日程のリマインド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前日・当日にLINEでご案内し、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面談の無断キャンセルを防ぐ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86800" y="2592000"/>
            <a:ext cx="1800000" cy="158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よくある質問の自動応答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資格・受験料・勤務地などに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LINEで24時間すぐ回答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1600" y="2592000"/>
            <a:ext cx="1800000" cy="158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個別のやりとり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日程変更や相談も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電話なしでLINEで完結</a:t>
            </a:r>
          </a:p>
        </p:txBody>
      </p:sp>
      <p:pic>
        <p:nvPicPr>
          <p:cNvPr id="10" name="Picture 9" descr="chengrowth_v11_talk_thank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1604" y="1548000"/>
            <a:ext cx="1863990" cy="3311999"/>
          </a:xfrm>
          <a:prstGeom prst="rect">
            <a:avLst/>
          </a:prstGeom>
          <a:ln>
            <a:solidFill>
              <a:srgbClr val="D9D9D9"/>
            </a:solidFill>
          </a:ln>
        </p:spPr>
      </p:pic>
      <p:sp>
        <p:nvSpPr>
          <p:cNvPr id="11" name="Rounded Rectangle 10"/>
          <p:cNvSpPr/>
          <p:nvPr/>
        </p:nvSpPr>
        <p:spPr>
          <a:xfrm>
            <a:off x="432000" y="4320000"/>
            <a:ext cx="5760000" cy="540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 w="1270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/>
            <a:r>
              <a:rPr sz="115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応募（CV②）の数は増やさず、応募から採用までの取りこぼしを減らす施策です。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000" y="5076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0" bIns="0"/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応募して終わりにせず、面談・採用まで同じLINEで伴走します。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※画面はイメージです／シミュレーションの応募数・費用には含めていません（応募の先の採用に効く施策のため）</a:t>
            </a:r>
          </a:p>
        </p:txBody>
      </p:sp>
    </p:spTree>
    <p:extLst>
      <p:ext uri="{BB962C8B-B14F-4D97-AF65-F5344CB8AC3E}">
        <p14:creationId xmlns:p14="http://schemas.microsoft.com/office/powerpoint/2010/main" val="265852621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E341AF-76F7-F354-A08C-287945F04D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最初から入れた方が得｜後から入れると勿体ない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LINEの友だち・会員の情報は、始めた日からしか貯まりません。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サイトと同時に始めれば、翌3月の転職の山を、貯まった友だちで迎えられます。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584000"/>
            <a:ext cx="2844000" cy="223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 データの蓄積が遅れない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友だち・会員・クリックの履歴は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始めた日から貯まる。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半年後には約700人の友だちに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（弊社シミュレーション）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31599" y="1584000"/>
            <a:ext cx="2844000" cy="223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 開発のやり直しを避けられる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会員登録の仕組みを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後からLINE対応に作り替えると、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サイトの改修が二度手間になる。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31199" y="1584000"/>
            <a:ext cx="2844000" cy="223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③ 3月の山に間に合う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整備士の検索は一年中あり、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山は3月。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秋までに友だちを貯めておけば、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山の時期に案内できる。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000" y="3996000"/>
            <a:ext cx="1296000" cy="360000"/>
          </a:xfrm>
          <a:prstGeom prst="roundRect">
            <a:avLst>
              <a:gd name="adj" fmla="val 18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同時に開始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00000" y="4068000"/>
            <a:ext cx="7668000" cy="216000"/>
          </a:xfrm>
          <a:prstGeom prst="roundRect">
            <a:avLst>
              <a:gd name="adj" fmla="val 6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00000" y="4302000"/>
            <a:ext cx="7668000" cy="251999"/>
          </a:xfrm>
          <a:prstGeom prst="rect">
            <a:avLst/>
          </a:prstGeom>
          <a:noFill/>
        </p:spPr>
        <p:txBody>
          <a:bodyPr wrap="square" lIns="0" rIns="50400" tIns="21600" bIns="21600" anchor="t">
            <a:spAutoFit/>
          </a:bodyPr>
          <a:lstStyle/>
          <a:p>
            <a:pPr algn="ctr"/>
            <a:r>
              <a:rPr sz="105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4月 ────── 友だちが貯まり続ける ────── 翌3月（転職の山）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000" y="4644000"/>
            <a:ext cx="1296000" cy="360000"/>
          </a:xfrm>
          <a:prstGeom prst="roundRect">
            <a:avLst>
              <a:gd name="adj" fmla="val 18000"/>
            </a:avLst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後から開始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00000" y="4716000"/>
            <a:ext cx="3600000" cy="216000"/>
          </a:xfrm>
          <a:prstGeom prst="roundRect">
            <a:avLst>
              <a:gd name="adj" fmla="val 6000"/>
            </a:avLst>
          </a:prstGeom>
          <a:solidFill>
            <a:srgbClr val="E6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400000" y="4716000"/>
            <a:ext cx="4068000" cy="216000"/>
          </a:xfrm>
          <a:prstGeom prst="roundRect">
            <a:avLst>
              <a:gd name="adj" fmla="val 6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00000" y="4950000"/>
            <a:ext cx="3600000" cy="251999"/>
          </a:xfrm>
          <a:prstGeom prst="rect">
            <a:avLst/>
          </a:prstGeom>
          <a:noFill/>
        </p:spPr>
        <p:txBody>
          <a:bodyPr wrap="square" lIns="0" rIns="50400" tIns="21600" bIns="21600" anchor="t">
            <a:spAutoFit/>
          </a:bodyPr>
          <a:lstStyle/>
          <a:p>
            <a:pPr algn="ctr"/>
            <a:r>
              <a:rPr sz="10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この間の登録者はLINEに残らない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2000" y="5400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0" bIns="0"/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サイトリニューアルと同時に、LINEも最初から入れることをご提案します。</a:t>
            </a:r>
          </a:p>
        </p:txBody>
      </p:sp>
    </p:spTree>
    <p:extLst>
      <p:ext uri="{BB962C8B-B14F-4D97-AF65-F5344CB8AC3E}">
        <p14:creationId xmlns:p14="http://schemas.microsoft.com/office/powerpoint/2010/main" val="373103120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C5A5A4-75AD-516A-9D25-18F8EF002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サイトリニューアルに入れる要件3点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LINEで応募まで運ぶために、リニューアルの要件として次の3点を入れていただくことをご提案します。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584000"/>
            <a:ext cx="2844000" cy="360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 会員登録をLINEで完結させる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000" y="1980000"/>
            <a:ext cx="2844000" cy="194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「LINEでログイン」とLINE Profile+で、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入力ほぼなしで会員登録。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登録と同時に友だち追加も完了。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31599" y="1584000"/>
            <a:ext cx="2844000" cy="360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 会員の情報とLINEをひもづける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31599" y="1980000"/>
            <a:ext cx="2844000" cy="194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会員名簿にLINEの情報を保存し、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職種・地域・資格で選んで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配信できるようにする。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199" y="1584000"/>
            <a:ext cx="2844000" cy="360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 条件別の検索結果ページ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31199" y="1980000"/>
            <a:ext cx="2844000" cy="194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職種×地域×資格ごとのURLを用意し、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リッチメニューや配信から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そのまま開けるようにする。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000" y="4140000"/>
            <a:ext cx="9043200" cy="864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LINE連携の開発について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LINE連携の開発は、弊社でも対応が可能です（内容に応じて都度お見積もり）。サイト制作会社様と仕様をすり合わせて進めます。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000" y="5220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0" bIns="0"/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この3点が入っていれば、タウンワークの型を貴社サイトで再現できます。</a:t>
            </a:r>
          </a:p>
        </p:txBody>
      </p:sp>
    </p:spTree>
    <p:extLst>
      <p:ext uri="{BB962C8B-B14F-4D97-AF65-F5344CB8AC3E}">
        <p14:creationId xmlns:p14="http://schemas.microsoft.com/office/powerpoint/2010/main" val="321229055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682CB4-E2E4-29F5-FA9B-848F31DAD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スケジュール｜4月にサイトと同時に開設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 Profile+は申請とLINEヤフー社の審査があるため、予算が決まり次第、早めに着手します。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584000"/>
            <a:ext cx="1296000" cy="684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11〜12月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35999" y="1584000"/>
            <a:ext cx="7639200" cy="68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予算のご決定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来期の予算にLINEを組み込む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000" y="2394000"/>
            <a:ext cx="1296000" cy="684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1〜2月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35999" y="2394000"/>
            <a:ext cx="7639200" cy="68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お申込み・申請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アカウント開設、LINE Profile+の申請、サイト制作会社様と仕様のすり合わせ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000" y="3204000"/>
            <a:ext cx="1296000" cy="684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2〜3月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35999" y="3204000"/>
            <a:ext cx="7639200" cy="68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初期構築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あいさつ・リッチメニュー・ステップ配信の作成、サイトとの連携テスト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000" y="4014000"/>
            <a:ext cx="1296000" cy="684000"/>
          </a:xfrm>
          <a:prstGeom prst="roundRect">
            <a:avLst>
              <a:gd name="adj" fmla="val 18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4月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35999" y="4014000"/>
            <a:ext cx="7639200" cy="684000"/>
          </a:xfrm>
          <a:prstGeom prst="roundRect">
            <a:avLst>
              <a:gd name="adj" fmla="val 6000"/>
            </a:avLst>
          </a:prstGeom>
          <a:solidFill>
            <a:srgbClr val="E8F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サイトと同時に開設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運用開始。会員登録・友だち追加を開始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000" y="4824000"/>
            <a:ext cx="1296000" cy="684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〜翌3月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35999" y="4824000"/>
            <a:ext cx="7639200" cy="68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友だちを貯めて山に備える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毎月の配信・改善を続け、3月の転職の山に備える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※LINE Profile+の審査期間は、申請内容により変わります</a:t>
            </a:r>
          </a:p>
        </p:txBody>
      </p:sp>
    </p:spTree>
    <p:extLst>
      <p:ext uri="{BB962C8B-B14F-4D97-AF65-F5344CB8AC3E}">
        <p14:creationId xmlns:p14="http://schemas.microsoft.com/office/powerpoint/2010/main" val="14519451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52631F-440C-AF04-0C69-2C8669EB80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成果シミュレーション（4〜9月）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会員登録（CV①）はLINEでワンタップ。登録した人を、リッチメニューと配信で応募（CV②）まで運びます。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友だちが貯まるほど応募が増え、7月に応募単価が2.5万円を下回る見込みです。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32000" y="1584000"/>
          <a:ext cx="9043200" cy="223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9200"/>
                <a:gridCol w="1044000"/>
                <a:gridCol w="1044000"/>
                <a:gridCol w="1044000"/>
                <a:gridCol w="1044000"/>
                <a:gridCol w="1044000"/>
                <a:gridCol w="1044000"/>
                <a:gridCol w="1080000"/>
              </a:tblGrid>
              <a:tr h="446400"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/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4月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5月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6月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7月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8月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9月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合計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</a:tr>
              <a:tr h="446400"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友だち（累計）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82人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187人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307人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438人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570人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709人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46400"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会員登録（CV①）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58件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74件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85件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93件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93件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98件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501件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</a:tr>
              <a:tr h="446400"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115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応募（CV②）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3件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5件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8件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11件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13件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15件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55件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46400"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応募単価（CPA）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7.8万円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4.7万円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2.9万円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2.1万円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1.8万円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1.6万円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―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32000" y="3996000"/>
            <a:ext cx="2844000" cy="122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半年の会員登録（CV①）</a:t>
            </a:r>
          </a:p>
          <a:p>
            <a:pPr algn="ctr">
              <a:spcAft>
                <a:spcPts val="300"/>
              </a:spcAft>
            </a:pPr>
            <a:r>
              <a:rPr sz="2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501件</a:t>
            </a:r>
          </a:p>
          <a:p>
            <a:pPr algn="ctr"/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LINEでワンタップ登録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31599" y="3996000"/>
            <a:ext cx="2844000" cy="122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半年の応募（CV②）</a:t>
            </a:r>
          </a:p>
          <a:p>
            <a:pPr algn="ctr">
              <a:spcAft>
                <a:spcPts val="300"/>
              </a:spcAft>
            </a:pPr>
            <a:r>
              <a:rPr sz="2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55件</a:t>
            </a:r>
          </a:p>
          <a:p>
            <a:pPr algn="ctr"/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リッチメニュー・配信から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199" y="3996000"/>
            <a:ext cx="2844000" cy="1224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9月の応募単価</a:t>
            </a:r>
          </a:p>
          <a:p>
            <a:pPr algn="ctr">
              <a:spcAft>
                <a:spcPts val="300"/>
              </a:spcAft>
            </a:pPr>
            <a:r>
              <a:rPr sz="28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1.6万円</a:t>
            </a:r>
          </a:p>
          <a:p>
            <a:pPr algn="ctr"/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目標2〜2.5万円を下回る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前提：サイト来訪 月約6,100人（広告のシミュレーション確定後に差し替え）／LINEで登録＝来訪者の1.5%／費用 月23.5万円／応募単価＝月の費用÷その月の応募数（初期費用は含まない）</a:t>
            </a:r>
          </a:p>
        </p:txBody>
      </p:sp>
    </p:spTree>
    <p:extLst>
      <p:ext uri="{BB962C8B-B14F-4D97-AF65-F5344CB8AC3E}">
        <p14:creationId xmlns:p14="http://schemas.microsoft.com/office/powerpoint/2010/main" val="126982279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47C1D4-87AF-B047-12E0-A214281205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費用と体制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LINE単独のお見積もりです（サイト制作費・広告運用費とは別）。運用は弊社が担当します。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32000" y="1584000"/>
          <a:ext cx="5256000" cy="273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4000"/>
                <a:gridCol w="1296000"/>
                <a:gridCol w="1296000"/>
              </a:tblGrid>
              <a:tr h="390857"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項目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初期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月額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</a:tr>
              <a:tr h="390857"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LINE運用コンサル
（設計・構築・配信・改善）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20万円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20万円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0857"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離脱防止ポップアップ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1.5万円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3万円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</a:tr>
              <a:tr h="390857"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LINE公式アカウント（開設／利用料）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3万円〜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0.5万円〜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0857"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11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合計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00" b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24.5万円〜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00" b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23.5万円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</a:tr>
              <a:tr h="390857"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サンクスLINE（オプション）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10万円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5万円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0858"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LINE Profile+／LINE連携の開発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都度お見積もり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―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03999" y="1584000"/>
            <a:ext cx="3571200" cy="288000"/>
          </a:xfrm>
          <a:prstGeom prst="rect">
            <a:avLst/>
          </a:prstGeom>
          <a:noFill/>
        </p:spPr>
        <p:txBody>
          <a:bodyPr wrap="square" lIns="0" rIns="50400" tIns="21600" bIns="21600" anchor="t">
            <a:spAutoFit/>
          </a:bodyPr>
          <a:lstStyle/>
          <a:p>
            <a:pPr algn="l"/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体制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03999" y="1908000"/>
            <a:ext cx="3571200" cy="737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弊社：戦略・設計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アカウント設計、動線・配信の設計、効果の分析と改善のご提案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03999" y="2718000"/>
            <a:ext cx="3571200" cy="737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弊社：運用・制作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あいさつ・リッチメニュー・配信の作成と設定、毎月のレポート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03999" y="3528000"/>
            <a:ext cx="3571200" cy="737999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15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貴社にお願いすること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求人情報・面談体制の共有、サイト制作会社様との連携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000" y="4536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0" bIns="0"/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月23.5万円で、会員登録から応募までをLINEで運ぶ仕組みを構築・運用します。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※LINE公式アカウントの利用料は配信通数により変動します</a:t>
            </a:r>
          </a:p>
        </p:txBody>
      </p:sp>
    </p:spTree>
    <p:extLst>
      <p:ext uri="{BB962C8B-B14F-4D97-AF65-F5344CB8AC3E}">
        <p14:creationId xmlns:p14="http://schemas.microsoft.com/office/powerpoint/2010/main" val="18937795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A8C22-A859-569A-8EEC-58728B6BD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参考：業界の人手不足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整備士・営業は、求人に対して人が大きく足りない「超売り手市場」です。担い手も増えていません。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584000"/>
            <a:ext cx="2844000" cy="144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整備士の有効求人倍率</a:t>
            </a:r>
          </a:p>
          <a:p>
            <a:pPr algn="ctr">
              <a:spcAft>
                <a:spcPts val="400"/>
              </a:spcAft>
            </a:pPr>
            <a:r>
              <a:rPr sz="34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5.46倍</a:t>
            </a:r>
          </a:p>
          <a:p>
            <a:pPr algn="ctr"/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2025年度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31599" y="1584000"/>
            <a:ext cx="2844000" cy="144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自動車営業の有効求人倍率</a:t>
            </a:r>
          </a:p>
          <a:p>
            <a:pPr algn="ctr">
              <a:spcAft>
                <a:spcPts val="400"/>
              </a:spcAft>
            </a:pPr>
            <a:r>
              <a:rPr sz="34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12.55倍</a:t>
            </a:r>
          </a:p>
          <a:p>
            <a:pPr algn="ctr"/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2025年度（受付事務は0.96倍）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31199" y="1584000"/>
            <a:ext cx="2844000" cy="144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人手不足を感じる整備事業者</a:t>
            </a:r>
          </a:p>
          <a:p>
            <a:pPr algn="ctr">
              <a:spcAft>
                <a:spcPts val="400"/>
              </a:spcAft>
            </a:pPr>
            <a:r>
              <a:rPr sz="34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約6割</a:t>
            </a:r>
          </a:p>
          <a:p>
            <a:pPr algn="ctr"/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国土交通省の資料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32000" y="3240000"/>
          <a:ext cx="9043200" cy="118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40000"/>
                <a:gridCol w="2340000"/>
                <a:gridCol w="2340000"/>
                <a:gridCol w="2023200"/>
              </a:tblGrid>
              <a:tr h="396000"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/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以前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最近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変化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</a:tr>
              <a:tr h="396000"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整備学校の入学者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12,394人（2003年度）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7,068人（2024年度）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約4割減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6000"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整備要員の平均年齢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39.7歳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47.2歳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高齢化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432000" y="4680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0" bIns="0"/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人が集まりにくい市場だからこそ、来てくれた人を逃さない仕組みが効きます。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出典：厚生労働省 job tag（有効求人倍率・2025年度）／国土交通省資料（出典：自動車整備白書）</a:t>
            </a:r>
          </a:p>
        </p:txBody>
      </p:sp>
    </p:spTree>
    <p:extLst>
      <p:ext uri="{BB962C8B-B14F-4D97-AF65-F5344CB8AC3E}">
        <p14:creationId xmlns:p14="http://schemas.microsoft.com/office/powerpoint/2010/main" val="173466286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参考：求職者の動き方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整備士は、複数の経路を併用して比べながら仕事を探しています。検索は一年中あり、山は3月です。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32000" y="1548000"/>
            <a:ext cx="3960000" cy="288000"/>
          </a:xfrm>
          <a:prstGeom prst="rect">
            <a:avLst/>
          </a:prstGeom>
          <a:noFill/>
        </p:spPr>
        <p:txBody>
          <a:bodyPr wrap="square" lIns="0" rIns="50400" tIns="21600" bIns="21600" anchor="t">
            <a:spAutoFit/>
          </a:bodyPr>
          <a:lstStyle/>
          <a:p>
            <a:pPr algn="l"/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仕事を探した経路（複数回答）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1908000"/>
            <a:ext cx="1584000" cy="396000"/>
          </a:xfrm>
          <a:prstGeom prst="rect">
            <a:avLst/>
          </a:prstGeom>
          <a:noFill/>
        </p:spPr>
        <p:txBody>
          <a:bodyPr wrap="square" lIns="0" rIns="50400" tIns="21600" bIns="21600" anchor="ctr">
            <a:spAutoFit/>
          </a:bodyPr>
          <a:lstStyle/>
          <a:p>
            <a:pPr algn="l"/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転職エージェント</a:t>
            </a:r>
          </a:p>
        </p:txBody>
      </p:sp>
      <p:sp>
        <p:nvSpPr>
          <p:cNvPr id="7" name="Rectangle 6"/>
          <p:cNvSpPr/>
          <p:nvPr/>
        </p:nvSpPr>
        <p:spPr>
          <a:xfrm>
            <a:off x="2052000" y="1980000"/>
            <a:ext cx="1800000" cy="251999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88000" y="1908000"/>
            <a:ext cx="648000" cy="396000"/>
          </a:xfrm>
          <a:prstGeom prst="rect">
            <a:avLst/>
          </a:prstGeom>
          <a:noFill/>
        </p:spPr>
        <p:txBody>
          <a:bodyPr wrap="square" lIns="0" rIns="50400" tIns="21600" bIns="21600" anchor="ctr">
            <a:spAutoFit/>
          </a:bodyPr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35.3%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000" y="2448000"/>
            <a:ext cx="1584000" cy="396000"/>
          </a:xfrm>
          <a:prstGeom prst="rect">
            <a:avLst/>
          </a:prstGeom>
          <a:noFill/>
        </p:spPr>
        <p:txBody>
          <a:bodyPr wrap="square" lIns="0" rIns="50400" tIns="21600" bIns="21600" anchor="ctr">
            <a:spAutoFit/>
          </a:bodyPr>
          <a:lstStyle/>
          <a:p>
            <a:pPr algn="l"/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総合型の求人サイト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52000" y="2520000"/>
            <a:ext cx="1738810" cy="251999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26810" y="2448000"/>
            <a:ext cx="648000" cy="396000"/>
          </a:xfrm>
          <a:prstGeom prst="rect">
            <a:avLst/>
          </a:prstGeom>
          <a:noFill/>
        </p:spPr>
        <p:txBody>
          <a:bodyPr wrap="square" lIns="0" rIns="50400" tIns="21600" bIns="21600" anchor="ctr">
            <a:spAutoFit/>
          </a:bodyPr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34.1%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2000" y="2988000"/>
            <a:ext cx="1584000" cy="396000"/>
          </a:xfrm>
          <a:prstGeom prst="rect">
            <a:avLst/>
          </a:prstGeom>
          <a:noFill/>
        </p:spPr>
        <p:txBody>
          <a:bodyPr wrap="square" lIns="0" rIns="50400" tIns="21600" bIns="21600" anchor="ctr">
            <a:spAutoFit/>
          </a:bodyPr>
          <a:lstStyle/>
          <a:p>
            <a:pPr algn="l"/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業界特化型の求人サイト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52000" y="3060000"/>
            <a:ext cx="1682719" cy="251999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0719" y="2988000"/>
            <a:ext cx="648000" cy="396000"/>
          </a:xfrm>
          <a:prstGeom prst="rect">
            <a:avLst/>
          </a:prstGeom>
          <a:noFill/>
        </p:spPr>
        <p:txBody>
          <a:bodyPr wrap="square" lIns="0" rIns="50400" tIns="21600" bIns="21600" anchor="ctr">
            <a:spAutoFit/>
          </a:bodyPr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33.0%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2000" y="3600000"/>
            <a:ext cx="3960000" cy="86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特化型サイトの登録者は、84%が有資格者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整備士に特化したサイトには、資格を持つ人が集まる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80000" y="1548000"/>
            <a:ext cx="4788000" cy="288000"/>
          </a:xfrm>
          <a:prstGeom prst="rect">
            <a:avLst/>
          </a:prstGeom>
          <a:noFill/>
        </p:spPr>
        <p:txBody>
          <a:bodyPr wrap="square" lIns="0" rIns="50400" tIns="21600" bIns="21600" anchor="t">
            <a:spAutoFit/>
          </a:bodyPr>
          <a:lstStyle/>
          <a:p>
            <a:pPr algn="l"/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「整備士」の検索（過去5年）</a:t>
            </a:r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80000" y="1872000"/>
            <a:ext cx="4788000" cy="1556100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4680000" y="3600000"/>
            <a:ext cx="4788000" cy="86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山は3月、谷は12月。差は約1.4倍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一年中、転職を考える人がいる。3月に向けて前倒しで接点を持つ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2000" y="4680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0" bIns="0"/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比べている途中の人を、LINEで登録者として残しておくことが大切です。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出典：モビリア総研調査（直近3年に転職した整備士1,249人・Response 2026年9月23日）／Googleトレンド「整備士」（日本・過去5年）</a:t>
            </a:r>
          </a:p>
        </p:txBody>
      </p:sp>
    </p:spTree>
    <p:extLst>
      <p:ext uri="{BB962C8B-B14F-4D97-AF65-F5344CB8AC3E}">
        <p14:creationId xmlns:p14="http://schemas.microsoft.com/office/powerpoint/2010/main" val="300013459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975156-99A2-3647-6F9D-3BD80C596E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参考：前後検索（近い業種：工場求人ナビ）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求人サイトで仕事を探す人の動き方には、型があります。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自動車整備士のデータではありませんが、同じ「求人サイトの利用者」の動き方として参考にします。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工場求人ナビ_前後検索_2026092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2000" y="1584000"/>
            <a:ext cx="5688000" cy="331894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228000" y="1584000"/>
            <a:ext cx="3247200" cy="104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検索前（〜前日）：広く比べる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求人サイト／求人 正社員／高収入 仕事／40代 転職／人と関わらない仕事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28000" y="2700000"/>
            <a:ext cx="3247200" cy="1044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15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検索当日：サイト名・具体的な求人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工場求人ナビ／日総工産／工場 求人 正社員／製造業 求人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8000" y="3816000"/>
            <a:ext cx="3247200" cy="104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検索後（翌日〜15日）：条件・評判・応募の準備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期間工 年齢制限／夜勤 体への影響／派遣社員 デメリット／○○ 評判／製造業 志望動機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000" y="5112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0" bIns="0"/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登録した後の配信は「条件 → 評判・不安 → 応募の準備」の順番で組みます。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出典：LINEヤフー 前後検索データ（起点KW：工場求人ナビ／2026年9月取得）※近い業種の参考。自動車整備士のデータではありません</a:t>
            </a:r>
          </a:p>
        </p:txBody>
      </p:sp>
    </p:spTree>
    <p:extLst>
      <p:ext uri="{BB962C8B-B14F-4D97-AF65-F5344CB8AC3E}">
        <p14:creationId xmlns:p14="http://schemas.microsoft.com/office/powerpoint/2010/main" val="105893345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18"/>
          <p:cNvSpPr>
            <a:spLocks noChangeArrowheads="1"/>
          </p:cNvSpPr>
          <p:nvPr/>
        </p:nvSpPr>
        <p:spPr bwMode="auto">
          <a:xfrm>
            <a:off x="1649030" y="5820984"/>
            <a:ext cx="6192837" cy="3736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/>
          <a:p>
            <a:pPr marL="0" lvl="1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株式会社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DYM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〒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141-0032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東京都品川区大崎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1-11-2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ゲートシティ大崎イーストタワー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階</a:t>
            </a:r>
            <a:endParaRPr lang="en-US" altLang="ja-JP" sz="831" b="1" dirty="0">
              <a:solidFill>
                <a:prstClr val="black"/>
              </a:solidFill>
              <a:latin typeface="メイリオ"/>
              <a:ea typeface="メイリオ"/>
              <a:cs typeface="メイリオ"/>
            </a:endParaRPr>
          </a:p>
          <a:p>
            <a:pPr marL="0" lvl="1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TEL: 03-5745-0200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FAX: 03-3779-8720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http://dym.asia  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代表取締役　水谷佑毅</a:t>
            </a:r>
          </a:p>
        </p:txBody>
      </p:sp>
      <p:pic>
        <p:nvPicPr>
          <p:cNvPr id="24" name="図 1"/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647" r="-11171"/>
          <a:stretch/>
        </p:blipFill>
        <p:spPr bwMode="auto">
          <a:xfrm>
            <a:off x="543897" y="5895365"/>
            <a:ext cx="1100981" cy="2248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テキスト ボックス 2"/>
          <p:cNvSpPr txBox="1"/>
          <p:nvPr/>
        </p:nvSpPr>
        <p:spPr>
          <a:xfrm>
            <a:off x="5070232" y="559776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ja-JP" altLang="en-US">
              <a:solidFill>
                <a:prstClr val="black"/>
              </a:solidFill>
              <a:latin typeface="Arial" pitchFamily="34" charset="0"/>
              <a:ea typeface="ＭＳ Ｐゴシック" pitchFamily="50" charset="-128"/>
            </a:endParaRPr>
          </a:p>
        </p:txBody>
      </p:sp>
      <p:sp>
        <p:nvSpPr>
          <p:cNvPr id="18" name="正方形/長方形 17"/>
          <p:cNvSpPr/>
          <p:nvPr/>
        </p:nvSpPr>
        <p:spPr>
          <a:xfrm>
            <a:off x="2170038" y="989684"/>
            <a:ext cx="556592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b="1" dirty="0">
                <a:solidFill>
                  <a:prstClr val="black"/>
                </a:solidFill>
                <a:latin typeface="メイリオ" charset="0"/>
                <a:ea typeface="メイリオ" charset="0"/>
                <a:cs typeface="メイリオ" charset="0"/>
              </a:rPr>
              <a:t>貴社の明るい未来に必ず貢献致します。</a:t>
            </a:r>
          </a:p>
        </p:txBody>
      </p:sp>
      <p:sp>
        <p:nvSpPr>
          <p:cNvPr id="14" name="正方形/長方形 13"/>
          <p:cNvSpPr/>
          <p:nvPr/>
        </p:nvSpPr>
        <p:spPr>
          <a:xfrm>
            <a:off x="382695" y="2698377"/>
            <a:ext cx="598220" cy="2058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738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sp>
        <p:nvSpPr>
          <p:cNvPr id="15" name="正方形/長方形 14"/>
          <p:cNvSpPr/>
          <p:nvPr/>
        </p:nvSpPr>
        <p:spPr>
          <a:xfrm>
            <a:off x="368300" y="2355213"/>
            <a:ext cx="756684" cy="215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800" dirty="0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05A1AABC-CDB8-5B83-4CFD-649967A361BF}"/>
              </a:ext>
            </a:extLst>
          </p:cNvPr>
          <p:cNvGrpSpPr/>
          <p:nvPr/>
        </p:nvGrpSpPr>
        <p:grpSpPr>
          <a:xfrm>
            <a:off x="381002" y="1772817"/>
            <a:ext cx="9143999" cy="3314853"/>
            <a:chOff x="1" y="1772816"/>
            <a:chExt cx="9143999" cy="3314853"/>
          </a:xfrm>
        </p:grpSpPr>
        <p:pic>
          <p:nvPicPr>
            <p:cNvPr id="21" name="図 20" descr="ポーズをとる男性グループ&#10;&#10;自動的に生成された説明">
              <a:extLst>
                <a:ext uri="{FF2B5EF4-FFF2-40B4-BE49-F238E27FC236}">
                  <a16:creationId xmlns:a16="http://schemas.microsoft.com/office/drawing/2014/main" id="{4927F40E-D146-C638-5583-C9DC2984722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42" r="4076"/>
            <a:stretch/>
          </p:blipFill>
          <p:spPr>
            <a:xfrm>
              <a:off x="6973793" y="3518745"/>
              <a:ext cx="2170207" cy="1567781"/>
            </a:xfrm>
            <a:prstGeom prst="rect">
              <a:avLst/>
            </a:prstGeom>
          </p:spPr>
        </p:pic>
        <p:pic>
          <p:nvPicPr>
            <p:cNvPr id="16" name="図 15" descr="白いシャツを着ている男性&#10;&#10;中程度の精度で自動的に生成された説明">
              <a:extLst>
                <a:ext uri="{FF2B5EF4-FFF2-40B4-BE49-F238E27FC236}">
                  <a16:creationId xmlns:a16="http://schemas.microsoft.com/office/drawing/2014/main" id="{2ECDFCA7-8611-D865-F999-FDCD0EC2126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83808" y="3519888"/>
              <a:ext cx="1989985" cy="1567781"/>
            </a:xfrm>
            <a:prstGeom prst="rect">
              <a:avLst/>
            </a:prstGeom>
          </p:spPr>
        </p:pic>
        <p:pic>
          <p:nvPicPr>
            <p:cNvPr id="10" name="図 9" descr="スーツを着た男性たち&#10;&#10;自動的に生成された説明">
              <a:extLst>
                <a:ext uri="{FF2B5EF4-FFF2-40B4-BE49-F238E27FC236}">
                  <a16:creationId xmlns:a16="http://schemas.microsoft.com/office/drawing/2014/main" id="{9D3AD52A-1514-4350-FFDD-09984B3666E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703" r="10363"/>
            <a:stretch/>
          </p:blipFill>
          <p:spPr>
            <a:xfrm>
              <a:off x="7299681" y="1773979"/>
              <a:ext cx="1842624" cy="1745909"/>
            </a:xfrm>
            <a:prstGeom prst="rect">
              <a:avLst/>
            </a:prstGeom>
          </p:spPr>
        </p:pic>
        <p:pic>
          <p:nvPicPr>
            <p:cNvPr id="7" name="図 6" descr="講堂にいる人たち&#10;&#10;中程度の精度で自動的に生成された説明">
              <a:extLst>
                <a:ext uri="{FF2B5EF4-FFF2-40B4-BE49-F238E27FC236}">
                  <a16:creationId xmlns:a16="http://schemas.microsoft.com/office/drawing/2014/main" id="{B1CA0DFF-0DAF-D5BD-8D9F-8AFB103E269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12" t="12879" r="2477"/>
            <a:stretch/>
          </p:blipFill>
          <p:spPr>
            <a:xfrm>
              <a:off x="1" y="1772816"/>
              <a:ext cx="5089778" cy="3314853"/>
            </a:xfrm>
            <a:prstGeom prst="rect">
              <a:avLst/>
            </a:prstGeom>
          </p:spPr>
        </p:pic>
        <p:pic>
          <p:nvPicPr>
            <p:cNvPr id="11" name="図 10" descr="スーツを着た男性グループの写真&#10;&#10;低い精度で自動的に生成された説明">
              <a:extLst>
                <a:ext uri="{FF2B5EF4-FFF2-40B4-BE49-F238E27FC236}">
                  <a16:creationId xmlns:a16="http://schemas.microsoft.com/office/drawing/2014/main" id="{FEFAFF33-EFBF-C67E-586A-08D93AF295F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595" r="6763"/>
            <a:stretch/>
          </p:blipFill>
          <p:spPr>
            <a:xfrm>
              <a:off x="5089779" y="1772836"/>
              <a:ext cx="2215315" cy="1745909"/>
            </a:xfrm>
            <a:prstGeom prst="rect">
              <a:avLst/>
            </a:prstGeom>
          </p:spPr>
        </p:pic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38B92EF-519D-929F-4345-5BAC445EF234}"/>
              </a:ext>
            </a:extLst>
          </p:cNvPr>
          <p:cNvSpPr/>
          <p:nvPr/>
        </p:nvSpPr>
        <p:spPr>
          <a:xfrm>
            <a:off x="128016" y="6620256"/>
            <a:ext cx="2852928" cy="237744"/>
          </a:xfrm>
          <a:prstGeom prst="rect">
            <a:avLst/>
          </a:prstGeom>
          <a:solidFill>
            <a:srgbClr val="191F54"/>
          </a:solidFill>
          <a:ln>
            <a:solidFill>
              <a:srgbClr val="1025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949B271-D24D-666E-90F2-EA616E1EABC2}"/>
              </a:ext>
            </a:extLst>
          </p:cNvPr>
          <p:cNvSpPr/>
          <p:nvPr/>
        </p:nvSpPr>
        <p:spPr>
          <a:xfrm>
            <a:off x="368300" y="0"/>
            <a:ext cx="9537700" cy="51497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85355464"/>
      </p:ext>
    </p:extLst>
  </p:cSld>
  <p:clrMapOvr>
    <a:masterClrMapping/>
  </p:clrMapOvr>
  <p:transition spd="slow"/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143146</TotalTime>
  <Words>5255</Words>
  <Application>Microsoft Office PowerPoint</Application>
  <PresentationFormat>A4 210 x 297 mm</PresentationFormat>
  <Paragraphs>1134</Paragraphs>
  <Slides>52</Slides>
  <Notes>25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52</vt:i4>
      </vt:variant>
    </vt:vector>
  </HeadingPairs>
  <TitlesOfParts>
    <vt:vector size="59" baseType="lpstr">
      <vt:lpstr>Meiryo</vt:lpstr>
      <vt:lpstr>Meiryo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1957</cp:revision>
  <cp:lastPrinted>2022-11-01T11:38:14Z</cp:lastPrinted>
  <dcterms:created xsi:type="dcterms:W3CDTF">2015-09-04T09:21:15Z</dcterms:created>
  <dcterms:modified xsi:type="dcterms:W3CDTF">2026-09-24T07:29:58Z</dcterms:modified>
</cp:coreProperties>
</file>