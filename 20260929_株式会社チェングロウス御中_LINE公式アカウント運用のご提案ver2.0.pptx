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5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5"/>
  </p:notesMasterIdLst>
  <p:handoutMasterIdLst>
    <p:handoutMasterId r:id="rId56"/>
  </p:handoutMasterIdLst>
  <p:sldIdLst>
    <p:sldId id="2363" r:id="rId3"/>
    <p:sldId id="2971" r:id="rId4"/>
    <p:sldId id="2972" r:id="rId5"/>
    <p:sldId id="2904" r:id="rId6"/>
    <p:sldId id="3007" r:id="rId7"/>
    <p:sldId id="2987" r:id="rId13"/>
    <p:sldId id="2999" r:id="rId11"/>
    <p:sldId id="2997" r:id="rId14"/>
    <p:sldId id="2996" r:id="rId15"/>
    <p:sldId id="2973" r:id="rId16"/>
    <p:sldId id="2977" r:id="rId17"/>
    <p:sldId id="2979" r:id="rId18"/>
    <p:sldId id="3000" r:id="rId19"/>
    <p:sldId id="2968" r:id="rId20"/>
    <p:sldId id="2908" r:id="rId21"/>
    <p:sldId id="2990" r:id="rId23"/>
    <p:sldId id="2986" r:id="rId24"/>
    <p:sldId id="2991" r:id="rId25"/>
    <p:sldId id="2989" r:id="rId27"/>
    <p:sldId id="2563" r:id="rId28"/>
    <p:sldId id="2995" r:id="rId9"/>
    <p:sldId id="1169" r:id="rId5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7.xml"/><Relationship Id="rId11" Type="http://schemas.openxmlformats.org/officeDocument/2006/relationships/slide" Target="slides/slide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54" Type="http://schemas.openxmlformats.org/officeDocument/2006/relationships/slide" Target="slides/slide52.xml"/><Relationship Id="rId55" Type="http://schemas.openxmlformats.org/officeDocument/2006/relationships/notesMaster" Target="notesMasters/notesMaster1.xml"/><Relationship Id="rId56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52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emf"/><Relationship Id="rId4" Type="http://schemas.openxmlformats.org/officeDocument/2006/relationships/image" Target="../media/image58.jpeg"/><Relationship Id="rId5" Type="http://schemas.openxmlformats.org/officeDocument/2006/relationships/image" Target="../media/image59.jpeg"/><Relationship Id="rId6" Type="http://schemas.openxmlformats.org/officeDocument/2006/relationships/image" Target="../media/image60.jpeg"/><Relationship Id="rId7" Type="http://schemas.openxmlformats.org/officeDocument/2006/relationships/image" Target="../media/image61.jpeg"/><Relationship Id="rId8" Type="http://schemas.openxmlformats.org/officeDocument/2006/relationships/image" Target="../media/image6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何をしたか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リッチメニューに人気の検索条件を並べる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単発・日払い・在宅など、よく探される条件をボタンに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そのまま求人ページへ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条件を入れた状態の検索結果に移動し、サイトで応募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配信の中でクリックされた内容をもとに、友だちを自動で分けられます（LINE公式アカウントの標準機能）。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→「未経験・これから資格」のグループ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合う人にだけ届ける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整備士グループには整備士の求人を、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未経験グループには資格取得支援を。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LINEのメリット②｜何度でも接点を持てる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新着求人・条件の合う求人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応募しなかった人も残る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今すぐ応募しない人も、友だちとして残り続けます。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一度の広告費で、何度もご案内できる「見込みの人の名簿」ができます。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参考：前後検索（カーディーラー）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「カーディーラー」の検索前後15日間。LINEの友だちにできる機会は、検索当日〜翌日だけ。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離脱防止で…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応募前の人でも動きやすい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LINEでのリード有効化率を上げるコンテンツ（翌日〜14日・前後検索の関心の順番）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休み・残業・ホワイトな職場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貴社に当てはめると｜登録はLINEで、課題は応募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・会員登録は、ほとんど使われていない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・応募しなかった人とは、接点が残らない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・比べている途中の人が残る場所がない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・登録と同時にLINEの友だちになる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・応募しなかった人も、登録者として残る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・登録した人に、合う求人を届け続けられる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登録（CV①）はワンタップで取れる。課題は、登録した人を応募（CV②）までどう運ぶか。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リッチメニューと配信で、LINEから応募まで運びます（次ページ以降）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貴社向けの工夫｜タウンワークより一段軽く、整備士向けに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タウンワークの型をそのまま使うのではなく、貴社のサイトとお仕事に合わせて2点を変えます。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登録がタウンワークより一段軽い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2015999"/>
          <a:ext cx="4391999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12000"/>
                <a:gridCol w="1655999"/>
              </a:tblGrid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ほぼなし
（Profile+で自動入力）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登録と友だち追加が
同時に完了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「軽い登録」と「整備士に合わせた条件」で、タウンワークの型を貴社向けに最適化します。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友だち追加の動線｜サイトに来た人をLINEに残す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サイトに来た人を、2つの入口でLINEの友だち（登録者）にします。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　離脱防止ポップアップ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求人ページで帰ろうとした人 → 「条件に合う新着求人をLINEでお届け」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chengrowth_v11_po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0832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　「LINEで登録」ボタン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32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 → 「LINEで登録（入力ほぼ不要）」 → LINE追加＋会員登録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</a:t>
            </a:r>
          </a:p>
        </p:txBody>
      </p:sp>
      <p:pic>
        <p:nvPicPr>
          <p:cNvPr id="10" name="Picture 9" descr="chengrowth_v11_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9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547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応募しなかった人も、帰ろうとした人も、LINEの友だちとして残ります。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リッチメニューと配信で、応募まで運ぶ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登録した人が「探したいとき」はリッチメニュー、「まだ迷っているとき」は配信で、応募まで運びます。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2951999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リッチメニュー（いつでも探せる入口）</a:t>
            </a:r>
          </a:p>
        </p:txBody>
      </p:sp>
      <p:pic>
        <p:nvPicPr>
          <p:cNvPr id="6" name="Picture 5" descr="chengrowth_v11_rich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949999"/>
            <a:ext cx="2951999" cy="1967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2000" y="3978000"/>
            <a:ext cx="2951999" cy="57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整備士・営業・近くの求人・資格・未経験OK・新着を、ワンタップで検索結果へ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548000"/>
            <a:ext cx="5947200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配信（迷っている人を応募へ）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28000" y="1925999"/>
          <a:ext cx="4463999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36000"/>
                <a:gridCol w="1584000"/>
                <a:gridCol w="1007999"/>
              </a:tblGrid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登録した人
（0〜14日）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
→応募のご案内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条件が合う新着だけ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年間の企画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3月の山に向けて前倒し
（月4本）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hengrowth_v11_talk_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994" y="1925999"/>
            <a:ext cx="1337210" cy="237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78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応募（CV②）は、リッチメニューと配信の両方から生まれます。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※画面はイメージです／開封×クリックは弊社シミュレーションの前提値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【推し施策】応募を採用までつなげる｜サンクスLINE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応募の完了画面でLINEの友だち追加を案内し、応募した人とLINEでつながります。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面談日程のリマインドで取りこぼしを防ぎ、応募の先の「採用」を増やす施策です。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5760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　応募の完了画面（サンクスLINE）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5760000" cy="540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/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 → 「今後のご連絡はLINEでお送りします」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※オプション：月3万円〜（初期10万円）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面談日程のリマインド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前日・当日にLINEでご案内し、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面談の無断キャンセルを防ぐ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868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LINEで24時間すぐ回答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16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個別のやりとり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日程変更や相談も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電話なしでLINEで完結</a:t>
            </a:r>
          </a:p>
        </p:txBody>
      </p:sp>
      <p:pic>
        <p:nvPicPr>
          <p:cNvPr id="10" name="Picture 9" descr="chengrowth_v11_talk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604" y="1548000"/>
            <a:ext cx="1863990" cy="3311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320000"/>
            <a:ext cx="57600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応募（CV②）の数は増やさず、応募から採用までの取りこぼしを減らす施策です。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7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応募して終わりにせず、面談・採用まで同じLINEで伴走します。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※画面はイメージです／シミュレーションの応募数・費用には含めていません（応募の先の採用に効く施策のため）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最初から入れた方が得｜後から入れると勿体ない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LINEの友だち・会員の情報は、始めた日からしか貯まりません。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サイトと同時に始めれば、翌3月の転職の山を、貯まった友だちで迎えられます。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データの蓄積が遅れない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始めた日から貯まる。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3月の山に間に合う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秋までに友だちを貯めておけば、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山の時期に案内できる。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友だちが貯まり続ける ────── 翌3月（転職の山）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この間の登録者はLINEに残らない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LINEで応募まで運ぶために、リニューアルの要件として次の3点を入れていただくことをご提案します。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登録と同時に友だち追加も完了。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友だちを貯めて山に備える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毎月の配信・改善を続け、3月の転職の山に備える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会員登録（CV①）はLINEでワンタップ。登録した人を、リッチメニューと配信で応募（CV②）まで運びます。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友だちが貯まるほど応募が増え、7月に応募単価が2.5万円を下回る見込みです。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/>
                <a:gridCol w="1044000"/>
                <a:gridCol w="1044000"/>
                <a:gridCol w="1044000"/>
                <a:gridCol w="1044000"/>
                <a:gridCol w="1044000"/>
                <a:gridCol w="1044000"/>
                <a:gridCol w="1080000"/>
              </a:tblGrid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1296000"/>
                <a:gridCol w="1296000"/>
              </a:tblGrid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8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月23.5万円で、会員登録から応募までをLINEで運ぶ仕組みを構築・運用します。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参考：業界の人手不足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整備士・営業は、求人に対して人が大きく足りない「超売り手市場」です。担い手も増えていません。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2340000"/>
                <a:gridCol w="2340000"/>
                <a:gridCol w="2023200"/>
              </a:tblGrid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人が集まりにくい市場だからこそ、来てくれた人を逃さない仕組みが効きます。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参考：求職者の動き方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整備士は、複数の経路を併用して比べながら仕事を探しています。検索は一年中あり、山は3月です。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整備士に特化したサイトには、資格を持つ人が集まる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山は3月、谷は12月。差は約1.4倍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一年中、転職を考える人がいる。3月に向けて前倒しで接点を持つ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比べている途中の人を、LINEで登録者として残しておくことが大切です。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143146</TotalTime>
  <Words>5255</Words>
  <Application>Microsoft Office PowerPoint</Application>
  <PresentationFormat>A4 210 x 297 mm</PresentationFormat>
  <Paragraphs>1134</Paragraphs>
  <Slides>52</Slides>
  <Notes>25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52</vt:i4>
      </vt:variant>
    </vt:vector>
  </HeadingPairs>
  <TitlesOfParts>
    <vt:vector size="59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1957</cp:revision>
  <cp:lastPrinted>2022-11-01T11:38:14Z</cp:lastPrinted>
  <dcterms:created xsi:type="dcterms:W3CDTF">2015-09-04T09:21:15Z</dcterms:created>
  <dcterms:modified xsi:type="dcterms:W3CDTF">2026-09-24T07:29:58Z</dcterms:modified>
</cp:coreProperties>
</file>