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935" r:id="rId4"/>
    <p:sldId id="2956" r:id="rId5"/>
    <p:sldId id="2988" r:id="rId6"/>
    <p:sldId id="2972" r:id="rId7"/>
    <p:sldId id="2977" r:id="rId8"/>
    <p:sldId id="2974" r:id="rId9"/>
    <p:sldId id="2975" r:id="rId10"/>
    <p:sldId id="2979" r:id="rId11"/>
    <p:sldId id="2982" r:id="rId12"/>
    <p:sldId id="2736" r:id="rId13"/>
    <p:sldId id="2983" r:id="rId14"/>
    <p:sldId id="2984" r:id="rId15"/>
    <p:sldId id="2985" r:id="rId16"/>
    <p:sldId id="2986" r:id="rId17"/>
    <p:sldId id="2987" r:id="rId18"/>
    <p:sldId id="2908" r:id="rId19"/>
    <p:sldId id="2950" r:id="rId20"/>
    <p:sldId id="2762" r:id="rId21"/>
    <p:sldId id="2937" r:id="rId22"/>
    <p:sldId id="2939" r:id="rId23"/>
    <p:sldId id="2966" r:id="rId24"/>
    <p:sldId id="2962" r:id="rId25"/>
    <p:sldId id="2942" r:id="rId26"/>
    <p:sldId id="2941" r:id="rId27"/>
    <p:sldId id="2943" r:id="rId28"/>
    <p:sldId id="2944" r:id="rId29"/>
    <p:sldId id="2967" r:id="rId30"/>
    <p:sldId id="2946" r:id="rId31"/>
    <p:sldId id="2947" r:id="rId32"/>
    <p:sldId id="2948" r:id="rId33"/>
    <p:sldId id="2958" r:id="rId34"/>
    <p:sldId id="2954" r:id="rId35"/>
    <p:sldId id="2953" r:id="rId36"/>
    <p:sldId id="2955" r:id="rId37"/>
    <p:sldId id="1169" r:id="rId3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8803-9F0E-9C31-9560-20947185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9DBAC0-C8E1-8C5B-7FC3-E2F967DE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9E6ECD-81E8-9621-C097-7F38D3F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67096-EE1C-9444-DCCA-A268D8AAC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0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8CEE-BA77-7F59-159F-47D256C6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20AAE9-56BE-66E5-82F7-A32C5F5E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3263BB-84E3-A23F-F50A-22409A9D0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E676F0-0850-6080-8D54-24CC34C00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456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D297-594A-D322-AC6D-28FDD0CC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D47DAF-3395-7EB8-B917-99947107C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D9425B-51D3-BDCB-545C-23641969B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D62E5C-A1FD-A187-2F31-A827800A2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900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C1BB-A366-B481-D59D-4EB55327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890F8B-EEFF-D02B-04F0-B8C096E4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D321AA-CFFF-72F6-A10A-CE135C21D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28A77C-D838-F107-1299-1CFE8BFB2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36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A811-371F-8FB3-F066-52767F4E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A11C9D-FDA9-6C17-2E4B-B8729DB0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22E24C-8C3E-B253-1458-19B063283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308508-22B0-7807-8EBD-1B4BC57F8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835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497A-27D1-3FCF-1F91-9D3EAE5F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F107B2A-3CC9-CDDB-0154-3C6FEEEB7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9E55FE-2D43-AAFB-1E0D-9FE86011A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05F46C-9309-B38B-AEB2-32E50CF0E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070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E86F-A6D1-E87A-0CDF-967B15A6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B2A411-33D2-6528-1C93-D186B1984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218984-9375-B358-47D3-58B36CCF8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F039DC-7BEC-8764-B0DE-E4A154E5A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009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36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jpeg"/><Relationship Id="rId8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やる意思はあるが今すぐではないオーナーを、時期が来るまで育て続ける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678382" y="4341752"/>
            <a:ext cx="2549236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業界：賃貸業界（オーナー開拓・管理受託主）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資料アジェンダ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この提案は「オーナーを増やす」話ではなく、「やる意思があるオーナーを、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時期が来るまで育て続ける」話である。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5199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199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199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199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S03-06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60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60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0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実態調査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60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S07-10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68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68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68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全体設計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68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S11-15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7600" y="1699200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7600" y="1735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7600" y="1998000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7600" y="3545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S16-20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199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199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199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199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S21-26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360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360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60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歩留まり・工数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60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S27-29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68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68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8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成果と体制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68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S30-33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7600" y="3787199"/>
            <a:ext cx="2174400" cy="20015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7600" y="3823199"/>
            <a:ext cx="21744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7600" y="4085999"/>
            <a:ext cx="2174400" cy="468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締め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7600" y="5633999"/>
            <a:ext cx="2174400" cy="18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S34-36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全8章・36枚｜主語は「LINE公式アカウントの運用」。広告運用の提案書ではない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検討背景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メールは開かれない、電話は出ない、訪問は嫌われる。残るのがLINE。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※「オーナーもLINEを使う」と積極的に言い切れる根拠はない。消去法で書く。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73999"/>
            <a:ext cx="4233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LINE国内MAU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08000"/>
            <a:ext cx="42336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1億人突破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286000"/>
            <a:ext cx="4233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2025年12月末時点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5600" y="1620000"/>
            <a:ext cx="444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3600" y="1673999"/>
            <a:ext cx="4233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メッセージ開封率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600" y="1908000"/>
            <a:ext cx="4233600" cy="39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3600" y="2286000"/>
            <a:ext cx="42336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メールは約20%｜2022年6月時点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664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718000"/>
            <a:ext cx="8827200" cy="75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★要注意：不動産オーナーが経営に活用したいツールは「メール」が首位（GMO調査・第三者）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根拠が出せないので「オーナーもLINEを使う」と言い切らない。メールは開かれない／電話は出ない／訪問は嫌われる、という消去法の論で構成する。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業界水準｜出典：LINEヤフー公式（国内MAU・開封率）。GMO調査は第三者・要一次確認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管理受託のWebマーケ構造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今すぐ検討中の人しか拾っていない。意思はあるが時期が来ていない層を毎期捨てている。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728000"/>
            <a:ext cx="8755200" cy="79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訪問・電話・DMは「その瞬間に検討中の人」しか拾えない。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E9EDF7"/>
                </a:solidFill>
                <a:latin typeface="メイリオ"/>
                <a:ea typeface="メイリオ"/>
                <a:cs typeface="メイリオ"/>
              </a:rPr>
              <a:t>検討期間は数ヶ月〜3年。今すぐでない層は、次にオーナーが動くまで接点がゼロになる。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70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検討期間が長い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数ヶ月〜1年（管理）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1〜3年（建築請負）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400" y="270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受注が年に数件〜数十件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分母が小さく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月次で動かない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800" y="270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今すぐでない層は毎期リセット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接点が無いまま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他社に流れる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意見｜DYM提案の構造整理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オーナーの心理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今の管理会社に不満はあるが、替えるのが面倒。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営業が来ると断れないから、そもそも会いたくない。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不満はあるが
動くのが面倒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空室・家賃下落・滞納・修繕費への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不満はあっても、乗り換え手続きの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手間で動かない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20000"/>
            <a:ext cx="29424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営業が来ると
断れない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訪問・電話営業を受けると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断りきれず、そもそも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会うこと自体を避ける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20000"/>
            <a:ext cx="29424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情報は
欲しい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税金・相続・修繕の情報は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知りたい。営業されずに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情報だけ欲しい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131999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3131999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「営業されたくないが、情報は欲しい」を満たせるのがLINE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意見｜DYM仮説。上司確認で裏付けを取ること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Webマーケで「できること／できないこと」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管理の実務品質は変えられない。変えられるのは接点の作り方と育て方だけ。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80000" cy="216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92000"/>
            <a:ext cx="26640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44000"/>
            <a:ext cx="266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✕ 管理の実務品質（対応の速さ・工事の質）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484000"/>
            <a:ext cx="266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✕ 管理料率・保証条件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024000"/>
            <a:ext cx="26640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✕ 営業担当の提案力そのもの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0" y="1620000"/>
            <a:ext cx="6055200" cy="21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8000" y="1692000"/>
            <a:ext cx="5839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できること（＝本提案の範囲）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8000" y="1908000"/>
            <a:ext cx="58392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1. 訪問も電話もせずに、痛みを可視化する接点をつくる（診断）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8000" y="2268000"/>
            <a:ext cx="58392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2. 今すぐでない層を捨てずに育て続ける（モーメント配信）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8000" y="2628000"/>
            <a:ext cx="58392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3. 相談・セミナーの予約と当日実施率を上げる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8000" y="2988000"/>
            <a:ext cx="58392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4. 既存オーナーに言われる前に出す（空室アラート・修繕提案）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8000" y="3348000"/>
            <a:ext cx="5839200" cy="34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5. 訪問・架電を減らして、営業を増員せずに面談数を増やす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851999"/>
            <a:ext cx="9043200" cy="36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851999"/>
            <a:ext cx="88272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「寝かせる」と言わない。「やる意思はあるが今すぐではない層を育てる」で統一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意見｜DYMの提案スコープ宣言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実態調査｜モーメント分析（★重点）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オーナーが動くのは季節ではなくイベント。相続が最大のトリガー。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「土地活用」「アパート経営」はGoogleトレンドで測定不能なほど検索Volが小さい。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verB_trend_souzoku5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1620000"/>
            <a:ext cx="4449600" cy="1897654"/>
          </a:xfrm>
          <a:prstGeom prst="rect">
            <a:avLst/>
          </a:prstGeom>
        </p:spPr>
      </p:pic>
      <p:pic>
        <p:nvPicPr>
          <p:cNvPr id="6" name="Picture 5" descr="verB_trend_kakutei5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600" y="1620000"/>
            <a:ext cx="4449600" cy="18976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4068000"/>
            <a:ext cx="90432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4068000"/>
            <a:ext cx="88272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前後検索で「相続 → 土地活用」の順序が確認できている（S08）。相続がトリガー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業界水準｜出典：Googleトレンド（2026年8月取得・実データ）。「土地活用」「アパート経営」「空室」は本グラフでは測定不能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4664-0791-AB23-9ACF-A79FA4D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実態調査｜前後検索（★重点）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前は相続と税金、後は他社の口コミ。「アパート経営の落とし穴」が起点より前＝不安が先。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検索“前”15〜7日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051999"/>
            <a:ext cx="2942400" cy="93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相続がトリガー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（遺産相続／贈与税／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相続登記義務化）＋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★アパート経営の落とし穴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24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起点0日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2400" y="2051999"/>
            <a:ext cx="2942400" cy="93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大東建託／土地活用相談／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土地活用 ランキング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800" y="1620000"/>
            <a:ext cx="2942400" cy="396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検索“後”7〜15日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800" y="2051999"/>
            <a:ext cx="2942400" cy="93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他社評判＋自宅建築へ流出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（住宅ローン／住宅展示場／</a:t>
            </a:r>
          </a:p>
          <a:p>
            <a:pPr algn="ctr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大東建託 口コミ）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096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3150000"/>
            <a:ext cx="8827200" cy="86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★「アパート経営の落とし穴」が起点より前にある＝不安のほうが先に来ている</a:t>
            </a:r>
          </a:p>
          <a:p>
            <a:pPr algn="l">
              <a:lnSpc>
                <a:spcPct val="130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ナーは「アパート」単体ではなく、駐車場・トランクルーム・自動販売機・レンタルスペース・民泊・ガレージ・太陽光も並行して調べている。同時に市街化調整区域・農地転用・公図も検索＝そもそも建てられるかを気にしている（S18の診断設計に反映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事実｜出典：LINEヤフー媒体資料（取得済み・反映済み）。起点＝「土地活用」</a:t>
            </a:r>
          </a:p>
        </p:txBody>
      </p:sp>
    </p:spTree>
    <p:extLst>
      <p:ext uri="{BB962C8B-B14F-4D97-AF65-F5344CB8AC3E}">
        <p14:creationId xmlns:p14="http://schemas.microsoft.com/office/powerpoint/2010/main" val="143812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他社分析①｜競合のLINE運用ステータス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友だち数は page.line.me から取得日つきで実測する。憶測で書かない。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5552"/>
                <a:gridCol w="2532096"/>
                <a:gridCol w="3255552"/>
              </a:tblGrid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アカウント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友だち数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オーナー向け別アカウントの有無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大東建託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東建コーポレーション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生和コーポレーション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シノケン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積水ハウス不動産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大和ハウス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★未取得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2916000"/>
            <a:ext cx="9043200" cy="11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★差込枠｜友だち数・配信内容の実測（未取得）</a:t>
            </a:r>
          </a:p>
          <a:p>
            <a:pPr algn="ctr">
              <a:lnSpc>
                <a:spcPct val="12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page.line.me から取得日つきで取得。オーナー向け別アカウントの有無も記録すること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選定は知名度優先（スキル §3 で事前承認済み）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98A-7489-8F6D-91D8-19CE7F50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他社分析②｜運用の型4分類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オーナー向けLINE運用は4型。診断型はほぼ空いている。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29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診断ドリブン型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診断で属性取得→
検討段階別に出し分け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★ほぼ空いている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相談カウンター型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有人相談・店舗送客が主。
配信していないことが多い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競合多数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特典・会員型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限定特典で
友だち化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一部あり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カタログ型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物件・事例一覧・
予約が中心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競合多数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06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06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診断ドリブン型がほぼ空いている＝S18（土地活用タイプ診断）の差別化余地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★未取得｜4分類は一般的な運用パターン。各社の実際の型は実測で確認（要取得）</a:t>
            </a:r>
          </a:p>
        </p:txBody>
      </p:sp>
    </p:spTree>
    <p:extLst>
      <p:ext uri="{BB962C8B-B14F-4D97-AF65-F5344CB8AC3E}">
        <p14:creationId xmlns:p14="http://schemas.microsoft.com/office/powerpoint/2010/main" val="6538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全体設計｜カスタマージャーニー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8フェーズのうち接点が無いのは「意思はあるが今すぐでない」期間そのもの。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ここが1〜3年ある。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08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（認知・流入）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912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（対策）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16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（興味喚起）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1999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（web/LINE）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24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2800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⑥有効リードの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再育成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3199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⑦マネタイズ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（管理受託）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3599" y="1692000"/>
            <a:ext cx="10728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⑧LTV最大化</a:t>
            </a:r>
          </a:p>
          <a:p>
            <a:pPr algn="ctr">
              <a:lnSpc>
                <a:spcPct val="115000"/>
              </a:lnSpc>
            </a:pPr>
            <a:r>
              <a:rPr sz="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2800" y="2591999"/>
            <a:ext cx="4521600" cy="251999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2800" y="2591999"/>
            <a:ext cx="4521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★接点が無い区間＝1〜3年ある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023999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023999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この長い空白区間をLINEのモーメント配信で埋める。DM・チラシ・訪問には手を入れない。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意見｜DYM標準のカスタマージャーニーフレームにオーナー開拓を当てはめ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全体設計｜施策全体像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DM・チラシ・訪問には手を入れない。その後ろの区間をLINEで埋める。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DM・チラシ</a:t>
            </a:r>
          </a:p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68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76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★LINE友だち化</a:t>
            </a:r>
          </a:p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（診断で入口）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64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72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育成</a:t>
            </a:r>
          </a:p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（1〜3年）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60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68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</a:t>
            </a:r>
          </a:p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・セミナー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5600" y="2124000"/>
            <a:ext cx="1004800" cy="432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6400" y="2015999"/>
            <a:ext cx="9328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管理受託</a:t>
            </a:r>
          </a:p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・請負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844000"/>
            <a:ext cx="9043200" cy="64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844000"/>
            <a:ext cx="8827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触るのはLINE友だち化から相談・セミナーまでの区間だけ。DM・チラシ・訪問の設計は変えない。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意見｜DYM提案の施策全体像</a:t>
            </a: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B2C5-43E4-382E-3F0A-0B0F5E9F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全体設計｜効果を最大化する2軸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新規オーナーの追加動線と、既存オーナーの育成・CV動線を別々に設計する。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92000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新規オーナー追加動線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80000"/>
            <a:ext cx="4233600" cy="57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DM・チラシ・セミナーからの</a:t>
            </a:r>
          </a:p>
          <a:p>
            <a:pPr algn="l">
              <a:lnSpc>
                <a:spcPct val="13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友だち化を最大化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5600" y="1620000"/>
            <a:ext cx="4449600" cy="108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33600" y="1692000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既存オーナー育成・CV動線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3600" y="1980000"/>
            <a:ext cx="4233600" cy="57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すでに友だちのオーナーを</a:t>
            </a:r>
          </a:p>
          <a:p>
            <a:pPr algn="l">
              <a:lnSpc>
                <a:spcPct val="13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相談・セミナーへ引き上げ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808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808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2軸を分けないと、新規獲得の忙しさで既存の育成が止まる。別トラックで運用する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意見｜DYM提案の設計方針</a:t>
            </a:r>
          </a:p>
        </p:txBody>
      </p:sp>
    </p:spTree>
    <p:extLst>
      <p:ext uri="{BB962C8B-B14F-4D97-AF65-F5344CB8AC3E}">
        <p14:creationId xmlns:p14="http://schemas.microsoft.com/office/powerpoint/2010/main" val="3225074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AB4E-6E86-5642-81B1-3703D9B3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全体設計｜対策領域マップ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新規開拓と既存維持の2領域。既存側がLTVを作る。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92000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新規開拓領域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61999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友だち化率・診断完了率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0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・DM・チラシのQRから友だち化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84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・セミナー申込からの友だち化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・土地活用タイプ診断で入口を作る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5600" y="1620000"/>
            <a:ext cx="4449600" cy="223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3600" y="1692000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既存維持領域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3600" y="1961999"/>
            <a:ext cx="4233600" cy="251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0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相談・セミナー予約CVR・LTV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3600" y="230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・既存オーナーの一斉登録（最速で貯まる）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3600" y="284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・年次モーメント配信で関係維持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3600" y="3384000"/>
            <a:ext cx="42336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・空室アラート・修繕提案で先回り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意見｜②既存維持領域がLTVを作る（月次フィーで長期化）</a:t>
            </a:r>
          </a:p>
        </p:txBody>
      </p:sp>
    </p:spTree>
    <p:extLst>
      <p:ext uri="{BB962C8B-B14F-4D97-AF65-F5344CB8AC3E}">
        <p14:creationId xmlns:p14="http://schemas.microsoft.com/office/powerpoint/2010/main" val="422487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09D0-C3F8-FF51-9B68-5792A11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全体設計｜施策展開図（初期・月次）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初期構築は1ヶ月、以降は月次。配信の中身は年間で決め打ちできる。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27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初期（初動・構築）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あいさつメッセージ設計（訪問しません宣言）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6399" y="1980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土地活用タイプ診断設計（4問）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0800" y="1980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リッチメニュー3タブ18ボタン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664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年次モーメントカレンダー設計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6399" y="2664000"/>
            <a:ext cx="2942400" cy="6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初動30日ステップの設計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348000"/>
            <a:ext cx="9043200" cy="2700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月次（定例運用）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企画投稿（今月の数字を出し続ける）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28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モーメント配信（確定申告・相続等）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6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通知メッセージ運用（空室・修繕）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400" y="3708000"/>
            <a:ext cx="2188800" cy="503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定例レポート・改善提案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意見｜配信の中身は年間で決め打ちできる（S21年次モーメントカレンダー）</a:t>
            </a:r>
          </a:p>
        </p:txBody>
      </p:sp>
    </p:spTree>
    <p:extLst>
      <p:ext uri="{BB962C8B-B14F-4D97-AF65-F5344CB8AC3E}">
        <p14:creationId xmlns:p14="http://schemas.microsoft.com/office/powerpoint/2010/main" val="177280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590B-7660-E16F-AF1F-C1B09199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構築｜友だち追加動線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DM・チラシのQR／セミナー申込／既存オーナーの一斉登録。既存が最速で貯まる。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既存オーナー一斉登録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管理受託中のオーナーへ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案内し一斉に友だち化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DM・チラシQR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既存の販促物に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QRを追加するだけ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セミナー申込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セミナー申込フォームから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友だち化を促す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土地活用タイプ診断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「まず診断する」を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入口にした友だち化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42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42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①既存オーナーの一斉登録が最速で貯まる。ここから始める。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意見｜DYM提案の友だち追加動線設計</a:t>
            </a:r>
          </a:p>
        </p:txBody>
      </p:sp>
    </p:spTree>
    <p:extLst>
      <p:ext uri="{BB962C8B-B14F-4D97-AF65-F5344CB8AC3E}">
        <p14:creationId xmlns:p14="http://schemas.microsoft.com/office/powerpoint/2010/main" val="4260980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「訪問はいたしません」を最初に書く。それが警戒を解く。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620000"/>
            <a:ext cx="3096000" cy="2376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0400" y="1771200"/>
            <a:ext cx="2995200" cy="2174399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400" y="1771200"/>
            <a:ext cx="2995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●●管理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600" y="1998000"/>
            <a:ext cx="2872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友だち追加ありがとうございます。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担当の佐藤です。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600" y="2365200"/>
            <a:ext cx="2872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こちらから訪問はいたしません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✅ 営業のお電話もいたしません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600" y="2732400"/>
            <a:ext cx="2872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土地活用・空室でお困りの際に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役立つ情報だけお届けします。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00" y="3099600"/>
            <a:ext cx="2872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まず土地活用タイプを診断する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00" y="3358800"/>
            <a:ext cx="28728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2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 訪問・お電話はいたしません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7999" y="1620000"/>
            <a:ext cx="5587200" cy="23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6000" y="1692000"/>
            <a:ext cx="53712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設計の要点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6000" y="1980000"/>
            <a:ext cx="5371200" cy="61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・「訪問はいたしません」を最初に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S05の心理（会いたくない）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へ直接答える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6000" y="2628000"/>
            <a:ext cx="5371200" cy="61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・営業色を出さない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情報提供に徹する。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提案は診断結果から入る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6000" y="3276000"/>
            <a:ext cx="5371200" cy="61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・診断への誘導で終える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低ハードルの入口として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土地活用タイプ診断へ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意見｜配信文面は初稿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BFBA-F50F-49FF-6262-A65BC71D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構築｜土地活用タイプ診断（★重点・設計変更あり）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「アパートを建てますか」ではなく「この土地に何が向くか」から入る。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順番が重要。Q1で「そもそも建てられるか」を最初に判定する。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Q1（最初に判定）そもそも建てられるか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市街化区域／市街化調整区域／農地／わからない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5600" y="1620000"/>
            <a:ext cx="44496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Q2 土地の状況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更地／アパートが建っている／自宅の隣／相続で取得した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76000"/>
            <a:ext cx="44496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Q3 いま困っていること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空室／家賃が下がっている／修繕費／税金／まだ何も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5600" y="2376000"/>
            <a:ext cx="44496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Q4 検討時期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1年以内／1〜3年／まだ先／情報だけ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168000"/>
            <a:ext cx="9043200" cy="54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168000"/>
            <a:ext cx="8827200" cy="54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選択肢には駐車場・トランクルーム・レンタルスペース・太陽光も並べる（S08の検索実態と一致）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743999"/>
            <a:ext cx="9043200" cy="36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3743999"/>
            <a:ext cx="88272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診断結果は 共感 → 実例 → 収支 → CTA の順。収支を先に出さない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意見｜DYM提案の診断設計。S08前後検索データに基づき順番を変更</a:t>
            </a:r>
          </a:p>
        </p:txBody>
      </p:sp>
    </p:spTree>
    <p:extLst>
      <p:ext uri="{BB962C8B-B14F-4D97-AF65-F5344CB8AC3E}">
        <p14:creationId xmlns:p14="http://schemas.microsoft.com/office/powerpoint/2010/main" val="12511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18ボタンすべてに役割がある。左上は「まず診断する」。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2000" y="1655999"/>
            <a:ext cx="4320000" cy="234000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600" y="1677599"/>
            <a:ext cx="1414800" cy="19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まず診断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2419200" y="1677599"/>
            <a:ext cx="1414800" cy="19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収支・税金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4800" y="1677599"/>
            <a:ext cx="1414800" cy="198000"/>
          </a:xfrm>
          <a:prstGeom prst="rect">
            <a:avLst/>
          </a:prstGeom>
          <a:solidFill>
            <a:srgbClr val="3F3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事例・セミナー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3600" y="18971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土地活用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タイプ診断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6400" y="18971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空室・家賃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査定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9200" y="18971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建てられるか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調べる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600" y="29465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活用事例を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6400" y="29465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</a:t>
            </a:r>
          </a:p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失敗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9200" y="2946599"/>
            <a:ext cx="1411200" cy="102780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>
              <a:lnSpc>
                <a:spcPct val="110000"/>
              </a:lnSpc>
            </a:pPr>
            <a:r>
              <a:rPr sz="72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999" y="1728000"/>
            <a:ext cx="3931200" cy="2160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設計の要点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・左上＝「まず診断する」固定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・収支・税金＝S07のモーメント
　（確定申告・相続）に対応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・事例・セミナー＝1対1が重い
　オーナーへの1対多の入口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・タブ切替で3倍の情報量を
　1画面に収める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意見｜DYM提案のリッチメニュー設計</a:t>
            </a: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構築｜長期育成の設計思想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追いかけずに育て続けると決める。それがこの業種の正解。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692000"/>
            <a:ext cx="8755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検討期間は数ヶ月〜3年。短期の追客では届かない。</a:t>
            </a: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E9EDF7"/>
                </a:solidFill>
                <a:latin typeface="メイリオ"/>
                <a:ea typeface="メイリオ"/>
                <a:cs typeface="メイリオ"/>
              </a:rPr>
              <a:t>「今すぐ客」だけを追うのではなく、「今すぐでない客」を捨てずに育て続ける設計に切り替える。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2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モーメント配信が主役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年次（相続・確定申告・修繕周期）。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ステップ配信は初動30日だけ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2400" y="252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企画投稿で思い出される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毎月「今月の数字」を出し続ける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会社が選ばれる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2800" y="2520000"/>
            <a:ext cx="29424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急かさない設計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相談オファーは焦らせず、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情報提供の延長線上に置く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意見｜DYM提案の設計思想</a:t>
            </a: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配信設計｜年次モーメントカレンダー（★重点）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確定申告・相続・修繕周期・更新期。いつ何を出すかを1年分決めておく。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1798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1〜3月｜確定申告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51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トレンドで33倍の山（実データ）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経費・減価償却・青色申告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9800" y="1620000"/>
            <a:ext cx="21798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4〜6月｜固定資産税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9800" y="2051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納付通知のタイミング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評価額の見方・軽減措置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7600" y="1620000"/>
            <a:ext cx="21798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7〜9月｜大規模修繕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7600" y="2051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検討期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修繕積立・工事相場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5400" y="1620000"/>
            <a:ext cx="2179800" cy="39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10〜12月｜年末調整・相続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5400" y="2051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相続の相談が増える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相続税対策・生前贈与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240000"/>
            <a:ext cx="9043200" cy="46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240000"/>
            <a:ext cx="88272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「◯月：モーメント（参照データ）」形式で、根拠を1行ずつ添える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業界水準｜確定申告のピークはGoogleトレンド実データ（S07：3→100・33倍）</a:t>
            </a:r>
          </a:p>
        </p:txBody>
      </p: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配信設計｜企画投稿案（月次）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毎月「今月の数字」を出し続ける会社が思い出される。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今月の成約家賃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近隣エリアの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成約家賃を毎月配信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今月の空室率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エリア別の空室動向を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毎月レポート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法改正・税制のまとめ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オーナーに関係する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法改正を月次で解説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オーナーの声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既存オーナーの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体験談を紹介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88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88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「今月の数字」を出し続ける会社が、いざという時に思い出される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意見｜DYM提案の企画投稿設計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配信設計｜初動30日のステップ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短期集中はここだけ。診断結果→事例→収支→相談オファー。以降は月次に合流。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診断結果｜Day0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共感→実例→収支のCTA。ここでは収支を先に出さない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88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事例紹介｜Day7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88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似た属性のオーナー事例を配信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96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収支の目安｜Day14〜21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96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「◯◯タイプなら収支はこの水準」を提示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04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相談オファー｜Day30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0400" y="1980000"/>
            <a:ext cx="2188800" cy="100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「今すぐでなくてOK」の低ハードルな相談オファー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131999"/>
            <a:ext cx="9043200" cy="503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131999"/>
            <a:ext cx="8827200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30日を過ぎたら年次モーメント配信（S21）に合流する。以降は日数固定にしない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意見｜DYM提案のステップ配信設計</a:t>
            </a:r>
          </a:p>
        </p:txBody>
      </p:sp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配信設計｜実文面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Day0（診断結果）・Day7（事例）・Day30（相談オファー）。実際に届く文面はこれ。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7999" y="1620000"/>
            <a:ext cx="288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8400" y="1771200"/>
            <a:ext cx="277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8400" y="1771200"/>
            <a:ext cx="277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600" y="1998000"/>
            <a:ext cx="26568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診断結果です。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この土地には「駐車場」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「トランクルーム」も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候補に入ります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9600" y="2581200"/>
            <a:ext cx="26568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8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3つの活用案を見る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600" y="2840400"/>
            <a:ext cx="26568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2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 訪問・お電話はいたしません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6000" y="1620000"/>
            <a:ext cx="288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86400" y="1771200"/>
            <a:ext cx="277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86400" y="1771200"/>
            <a:ext cx="277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7600" y="1998000"/>
            <a:ext cx="265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似た土地状況の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オーナー様の事例です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7600" y="2365200"/>
            <a:ext cx="265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「まさか駐車場が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向いているとは」という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お声をいただきました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7600" y="2840400"/>
            <a:ext cx="265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事例を詳しく見る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3999" y="1620000"/>
            <a:ext cx="2880000" cy="24120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4400" y="1771200"/>
            <a:ext cx="2779200" cy="2210400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4400" y="1771200"/>
            <a:ext cx="2779200" cy="18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5599" y="1998000"/>
            <a:ext cx="265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ここまでお読みいただき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ありがとうございます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5599" y="2365200"/>
            <a:ext cx="2656800" cy="32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36000" tIns="18000" bIns="18000"/>
          <a:lstStyle/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今すぐでなくて構いません。</a:t>
            </a:r>
          </a:p>
          <a:p>
            <a:pPr algn="l">
              <a:lnSpc>
                <a:spcPct val="118000"/>
              </a:lnSpc>
            </a:pPr>
            <a:r>
              <a:rPr sz="6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一度お話だけでも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5599" y="2732400"/>
            <a:ext cx="2656800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>
              <a:lnSpc>
                <a:spcPct val="115000"/>
              </a:lnSpc>
            </a:pPr>
            <a:r>
              <a:rPr sz="65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相談してみる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599" y="2991600"/>
            <a:ext cx="26568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2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 押し売りしない低ハードルなオファー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意見｜配信文面は初稿。絵文字・改行込みで実際の配信に近い形</a:t>
            </a: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E7E9-7412-46E6-C9BD-3E3A30E4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配信設計｜セミナー送客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1対1の商談が重いなら、1対多で始める。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会場セミナー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地域のオーナー向け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少人数セミナー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オンラインセミナー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移動不要で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参加ハードルを下げる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リッチメニューから申込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「セミナーに申し込む」を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常設ボタンに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70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1対1の商談が重いなら、1対多のセミナーで温度を上げてから個別相談へ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意見｜DYM提案のセミナー送客設計</a:t>
            </a:r>
          </a:p>
        </p:txBody>
      </p:sp>
    </p:spTree>
    <p:extLst>
      <p:ext uri="{BB962C8B-B14F-4D97-AF65-F5344CB8AC3E}">
        <p14:creationId xmlns:p14="http://schemas.microsoft.com/office/powerpoint/2010/main" val="2756826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F51C-1549-19C8-A509-C77C3C8B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言われる前に出すのが管理会社の信用。空室アラート・修繕提案。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空室アラート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管理物件の空室発生を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即時通知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修繕提案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修繕時期が近づいたら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事前に提案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確定申告リマインド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1〜2月に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事前案内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15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契約更新案内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更新期の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2〜3ヶ月前に通知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951999"/>
            <a:ext cx="9043200" cy="64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951999"/>
            <a:ext cx="8827200" cy="64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★言われる前に出すのが管理会社の信用</a:t>
            </a:r>
          </a:p>
          <a:p>
            <a:pPr algn="l">
              <a:lnSpc>
                <a:spcPct val="130000"/>
              </a:lnSpc>
            </a:pPr>
            <a:r>
              <a:rPr sz="1050">
                <a:solidFill>
                  <a:srgbClr val="E9EDF7"/>
                </a:solidFill>
                <a:latin typeface="メイリオ"/>
                <a:ea typeface="メイリオ"/>
                <a:cs typeface="メイリオ"/>
              </a:rPr>
              <a:t>空室・修繕を先回りで案内すると、「ちゃんと見てくれている」という信頼につながる。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意見｜通知メッセージはAPI連携（Messaging API）が前提。別途費用（S31参照）</a:t>
            </a:r>
          </a:p>
        </p:txBody>
      </p:sp>
    </p:spTree>
    <p:extLst>
      <p:ext uri="{BB962C8B-B14F-4D97-AF65-F5344CB8AC3E}">
        <p14:creationId xmlns:p14="http://schemas.microsoft.com/office/powerpoint/2010/main" val="774396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2D0F-DE07-83AE-E053-ED6184F3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歩留まり・工数｜相談の歩留まり改善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前日リマインドとオンライン相談でドタキャンが減る。移動時間も消える。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相談予約の前日に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自動送信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オンライン相談の選択肢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訪問しなくても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相談できる導線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当日朝の再通知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当日の流れを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再案内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70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オンライン相談は移動時間もゼロになる。営業1人あたりの面談可能数が増える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意見｜DYM提案の歩留まり改善設計</a:t>
            </a:r>
          </a:p>
        </p:txBody>
      </p:sp>
    </p:spTree>
    <p:extLst>
      <p:ext uri="{BB962C8B-B14F-4D97-AF65-F5344CB8AC3E}">
        <p14:creationId xmlns:p14="http://schemas.microsoft.com/office/powerpoint/2010/main" val="2299725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F07D-57DB-D005-AEF4-0353E12B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歩留まり・工数｜工数削減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訪問と架電をやめると、営業は増員せずに面談数を増やせる。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「相続税はどうなる？」等を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24時間自動応答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日程調整の自動化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相談・セミナーの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日程調整をLINEで完結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2800" y="1655999"/>
            <a:ext cx="29424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配信の自動化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年次モーメント・企画投稿は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事前設計で自動配信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700000"/>
            <a:ext cx="9043200" cy="5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8827200" cy="57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訪問・架電をやめて自動化に置き換えると、営業は面談（本業）に集中できる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意見｜DYM提案の工数削減設計</a:t>
            </a:r>
          </a:p>
        </p:txBody>
      </p:sp>
    </p:spTree>
    <p:extLst>
      <p:ext uri="{BB962C8B-B14F-4D97-AF65-F5344CB8AC3E}">
        <p14:creationId xmlns:p14="http://schemas.microsoft.com/office/powerpoint/2010/main" val="26381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5926-064C-E9E2-1BF7-7405461E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歩留まり・工数｜改善モデル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リード有効化→相談→受託→修繕・追加。各段に打ち手が1対1で対応。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リード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有効化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3885" y="1908000"/>
            <a:ext cx="1291885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51771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・セミナー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657" y="1908000"/>
            <a:ext cx="1291885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5542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管理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428" y="1908000"/>
            <a:ext cx="1291885" cy="503999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9314" y="1872000"/>
            <a:ext cx="1219885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修繕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・追加棟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リード有効化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土地活用タイプ診断＋モーメント配信で育成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28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相談・セミナー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低ハードルな相談オファー＋オンライン選択肢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6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管理受託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1件の単価が大きいので受注効果が大きい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400" y="2628000"/>
            <a:ext cx="21888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修繕・追加棟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既存オーナーへの先回り提案でLTV拡張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意見｜DYM提案の改善モデル</a:t>
            </a:r>
          </a:p>
        </p:txBody>
      </p:sp>
    </p:spTree>
    <p:extLst>
      <p:ext uri="{BB962C8B-B14F-4D97-AF65-F5344CB8AC3E}">
        <p14:creationId xmlns:p14="http://schemas.microsoft.com/office/powerpoint/2010/main" val="3556196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F9E9-3239-4F30-04FA-62A41B30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各段で何を測るかを先に決める。主KPI＝面談CPA・CVR。CPOは約束しない。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620000"/>
          <a:ext cx="90432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912"/>
                <a:gridCol w="5064192"/>
                <a:gridCol w="2532096"/>
              </a:tblGrid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階層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指標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測れる時期</a:t>
                      </a:r>
                    </a:p>
                  </a:txBody>
                  <a:tcPr marL="43200" marR="43200" marT="18000" marB="18000" anchor="ctr">
                    <a:solidFill>
                      <a:srgbClr val="1F285A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① 先行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友だち追加数／診断完了率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1〜2ヶ月目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② 主KPI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相談・セミナー予約数／予約CPA／友だち→予約CVR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3〜6ヶ月目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</a:tr>
              <a:tr h="216000"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③ 最終（参考）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管理受託・受注件数／CPO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3200" rIns="43200" tIns="7200" bIns="7200" anchor="ctr"/>
                    <a:lstStyle/>
                    <a:p>
                      <a:pPr algn="l"/>
                      <a:r>
                        <a:rPr sz="8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1〜3年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2520000"/>
            <a:ext cx="90432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2574000"/>
            <a:ext cx="8827200" cy="1152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★1件の単価が大きいので、育てていたリードが年1件起きるだけで投資は回収される。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ただし「6ヶ月で証明できるのは面談CPAとCVR」であり、CPOは約束しない。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CPOは3年累積の「構造」だけを図示：1年目は受注が微増しCPOはほぼ横ばい。2年目以降、育てたリードが起き始め、追加販促費ゼロで受注が乗るためCPOが下がる。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締め：御社の実績をいただければ、この構造に数字を入れてSIMを作ります。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意見｜数値は入れない（業界汎用のためSIMは作らない）。主KPI＝面談CPA・CVR</a:t>
            </a:r>
          </a:p>
        </p:txBody>
      </p:sp>
    </p:spTree>
    <p:extLst>
      <p:ext uri="{BB962C8B-B14F-4D97-AF65-F5344CB8AC3E}">
        <p14:creationId xmlns:p14="http://schemas.microsoft.com/office/powerpoint/2010/main" val="2012545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成果と体制｜費用プラン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無償付帯と別途費用を分けて示す（6ヶ月〜・税抜）。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3999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コンサル基本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月20万（3投稿）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月30万（5投稿）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月50万（9投稿）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98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1800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初動設計＋運用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1800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1800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月5万〜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76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9600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運用代行・効率改善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600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初期10万〜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600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月0万〜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（アカウント費のみ）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5400" y="1620000"/>
            <a:ext cx="2179800" cy="118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7400" y="1673999"/>
            <a:ext cx="20358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成果報酬型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7400" y="2015999"/>
            <a:ext cx="2035800" cy="216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初期5万〜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7400" y="2250000"/>
            <a:ext cx="2035800" cy="503999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月＝単価×成果数</a:t>
            </a:r>
          </a:p>
          <a:p>
            <a:pPr algn="l">
              <a:lnSpc>
                <a:spcPct val="125000"/>
              </a:lnSpc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＋固定費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2916000"/>
            <a:ext cx="90432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無償付帯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096000"/>
            <a:ext cx="90432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アカウント開設／プロフィール／リッチメニュー／あいさつ／初期アンケート／KW自動応答／ステップ配信／セグメント配信／タグ管理／GAレポート連携／クリエイティブ／定例会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456000"/>
            <a:ext cx="9043200" cy="18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l"/>
            <a:r>
              <a:rPr sz="11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別途費用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3636000"/>
            <a:ext cx="9043200" cy="324000"/>
          </a:xfrm>
          <a:prstGeom prst="rect">
            <a:avLst/>
          </a:prstGeom>
          <a:noFill/>
        </p:spPr>
        <p:txBody>
          <a:bodyPr wrap="square" lIns="50400" rIns="50400" tIns="21600" bIns="216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離脱防止（Sitelead）初期10万＋月5万／API連携／通知メッセージ 等。配信ツールはLstep／Hachidoriのいずれかを要件で選定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意見｜DYM標準プラン（6ヶ月〜・税抜）</a:t>
            </a: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BDC7-BB8D-566B-5273-6DCD8BE0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成果と体制｜運用スケジュール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1ヶ月目に構築、2ヶ月目に稼働、3ヶ月目から改善。6ヶ月で年間配信の型ができる。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80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1ヶ月目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構築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あいさつMSG・診断・リッチメニュー・年次カレンダー設計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8800" y="2231999"/>
            <a:ext cx="144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88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2ヶ月目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88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稼働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88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友だち追加動線を稼働。初動30日ステップ開始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9600" y="2231999"/>
            <a:ext cx="144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96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3〜4ヶ月目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96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改善①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96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モーメント配信・セミナー送客を開始。効果測定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0400" y="2231999"/>
            <a:ext cx="144000" cy="360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0400" y="1655999"/>
            <a:ext cx="2188800" cy="28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5〜6ヶ月目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0400" y="1998000"/>
            <a:ext cx="2188800" cy="216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改善②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0400" y="2250000"/>
            <a:ext cx="21888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年間配信の型を確立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意見｜6ヶ月で年間配信の型を確立。以降は月次運用フェーズへ</a:t>
            </a:r>
          </a:p>
        </p:txBody>
      </p:sp>
    </p:spTree>
    <p:extLst>
      <p:ext uri="{BB962C8B-B14F-4D97-AF65-F5344CB8AC3E}">
        <p14:creationId xmlns:p14="http://schemas.microsoft.com/office/powerpoint/2010/main" val="1482779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成果と体制｜サポート体制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定例会・レポート・クリエイティブ制作まで含む。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定例会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月次で振り返り・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翌月の企画をすり合わせ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98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レポーティング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GA連携で友だち数・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予約数を数値化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76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クリエイティブ制作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配信文面・リッチメニュー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画像の制作を内包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5400" y="1655999"/>
            <a:ext cx="21798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運用代行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日々の配信設計・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自動応答の調整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意見｜DYM標準のサポート体制</a:t>
            </a:r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締め｜飛び道具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不利を先に言う会社が選ばれる。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　サブリースの落とし穴を自社から開示する配信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★前後検索で「アパート経営の落とし穴」が起点より前に確認済み。不利を先に言う会社が選ばれる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81600" y="1674000"/>
            <a:ext cx="792000" cy="18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7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実データ確認済み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5600" y="1620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B　近隣の成約家賃を毎月配信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自分の物件が高いか安いかが毎月分かる。思い出される理由になり続ける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2844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　決算期に合わせた収支レポート配信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税理士に持っていく資料になる。第三者経由で信用が増える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5600" y="2844000"/>
            <a:ext cx="4449600" cy="111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D　自宅建築への送客（Ver.Aとの相互送客）</a:t>
            </a:r>
          </a:p>
          <a:p>
            <a:pPr algn="l">
              <a:lnSpc>
                <a:spcPct val="135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★前後検索で後7〜15日に住宅ローン・住宅展示場・タマホーム 平屋。土地活用検討者の一部が自宅建築に流れている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5200" y="2898000"/>
            <a:ext cx="792000" cy="18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0" bIns="0"/>
          <a:lstStyle/>
          <a:p>
            <a:pPr algn="ctr"/>
            <a:r>
              <a:rPr sz="7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実データ確認済み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事実｜A・D案は前後検索データ（S08）で裏付け済み。B・Cは意見（施策アイデア）</a:t>
            </a:r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締め｜LINEOA実績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rIns="0" tIns="2160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賃貸管理・オーナー向けの公式事例は、2回探して1件も見つかっていない。</a:t>
            </a:r>
          </a:p>
          <a:p>
            <a:pPr algn="l">
              <a:lnSpc>
                <a:spcPct val="128000"/>
              </a:lnSpc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近接事例で代替しつつ、正直に「先行者になれる」と書く。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9043200" cy="46800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8827200" cy="468000"/>
          </a:xfrm>
          <a:prstGeom prst="rect">
            <a:avLst/>
          </a:prstGeom>
          <a:noFill/>
        </p:spPr>
        <p:txBody>
          <a:bodyPr wrap="square" lIns="50400" rIns="50400" tIns="21600" bIns="216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★オーナー向けの公式事例は存在しない＝先行者になれる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160000"/>
            <a:ext cx="44496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お部屋探しのハートサポート（賃貸仲介・近接事例）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LINE経由の問い合わせから30〜40件成約（2020年1〜7月）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5600" y="2160000"/>
            <a:ext cx="44496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9200" rIns="64800" tIns="50400" bIns="3600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LIFULL HOME'S（不動産情報サイト・近接事例）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ステップ配信でCPC約6割改善・運用工数1/4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rIns="0" tIns="2160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事実｜オーナー向け公式事例なし（2回探索済み）。近接事例はLINEヤフー公式。掲載前に原典で再確認すること</a:t>
            </a:r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