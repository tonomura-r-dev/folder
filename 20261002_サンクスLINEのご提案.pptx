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8"/>
  </p:notesMasterIdLst>
  <p:handoutMasterIdLst>
    <p:handoutMasterId r:id="rId9"/>
  </p:handoutMasterIdLst>
  <p:sldIdLst>
    <p:sldId id="3008" r:id="rId7"/>
    <p:sldId id="2972" r:id="rId4"/>
    <p:sldId id="2904" r:id="rId5"/>
    <p:sldId id="3007" r:id="rId6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FA0A"/>
    <a:srgbClr val="173559"/>
    <a:srgbClr val="FDFDFD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2026/9/30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681540-B398-8C02-E1F2-1F1C4798CC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A82C74D-328C-FB0E-E710-C92A52BEF4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75EB1E7-3A4C-2E0A-CA67-686800FA87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173A52D-F6CC-DC20-5CFE-D4EBA25ECCB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798680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jpg"/><Relationship Id="rId7" Type="http://schemas.openxmlformats.org/officeDocument/2006/relationships/image" Target="../media/image9.png"/><Relationship Id="rId8" Type="http://schemas.openxmlformats.org/officeDocument/2006/relationships/image" Target="../media/image10.png"/><Relationship Id="rId9" Type="http://schemas.openxmlformats.org/officeDocument/2006/relationships/image" Target="../media/image11.png"/><Relationship Id="rId10" Type="http://schemas.openxmlformats.org/officeDocument/2006/relationships/image" Target="../media/image1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404798" y="1938056"/>
            <a:ext cx="1859036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5808682" y="241574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5808681" y="4588963"/>
            <a:ext cx="3748873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5974632" y="23047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非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5974632" y="4466888"/>
            <a:ext cx="1859036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既存の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/>
          <p:nvPr/>
        </p:nvCxnSpPr>
        <p:spPr>
          <a:xfrm>
            <a:off x="4361857" y="3239708"/>
            <a:ext cx="1407469" cy="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4361857" y="3392108"/>
            <a:ext cx="1407469" cy="135838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4867227" y="2304788"/>
            <a:ext cx="374449" cy="3205847"/>
          </a:xfrm>
          <a:prstGeom prst="rect">
            <a:avLst/>
          </a:prstGeom>
          <a:solidFill>
            <a:srgbClr val="00FF00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</a:t>
            </a: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Y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｜ルで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</a:t>
            </a:r>
            <a:b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kumimoji="1"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</a:t>
            </a:r>
          </a:p>
          <a:p>
            <a:pPr algn="ctr"/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N</a:t>
            </a:r>
            <a:b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</a:b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E</a:t>
            </a: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動線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</a:t>
            </a:r>
            <a:endParaRPr kumimoji="1"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kumimoji="1"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｜</a:t>
            </a:r>
          </a:p>
        </p:txBody>
      </p: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2128994"/>
            <a:ext cx="1231081" cy="2085097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999618" y="4325046"/>
            <a:ext cx="1231081" cy="2085098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5974631" y="2701376"/>
            <a:ext cx="185903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登録ページ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5971905" y="4914274"/>
            <a:ext cx="1859035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公式アカウントの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画面</a:t>
            </a:r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  <a:endParaRPr lang="en-US" altLang="ja-JP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設定によりフォーム入力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内容を踏襲した入力画面</a:t>
            </a:r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0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を表示させることが可能。</a:t>
            </a:r>
            <a:endParaRPr kumimoji="1"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00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↓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配信セグメントに利用可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8301" y="3085325"/>
            <a:ext cx="1133712" cy="110223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78027" y="3091633"/>
            <a:ext cx="479964" cy="106659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95919" y="4322141"/>
            <a:ext cx="334412" cy="74315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48319" y="4474541"/>
            <a:ext cx="334412" cy="74315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8414131" y="2644225"/>
            <a:ext cx="396000" cy="39600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315283" y="2196668"/>
            <a:ext cx="1778402" cy="3994401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二等辺三角形 34">
            <a:extLst>
              <a:ext uri="{FF2B5EF4-FFF2-40B4-BE49-F238E27FC236}">
                <a16:creationId xmlns:a16="http://schemas.microsoft.com/office/drawing/2014/main" id="{D9FB7255-AF30-7B82-6180-D447A3754744}"/>
              </a:ext>
            </a:extLst>
          </p:cNvPr>
          <p:cNvSpPr/>
          <p:nvPr/>
        </p:nvSpPr>
        <p:spPr>
          <a:xfrm rot="5400000">
            <a:off x="2108593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2225165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二等辺三角形 36">
            <a:extLst>
              <a:ext uri="{FF2B5EF4-FFF2-40B4-BE49-F238E27FC236}">
                <a16:creationId xmlns:a16="http://schemas.microsoft.com/office/drawing/2014/main" id="{9D8E2C96-1207-00B8-6FC3-23370EFD7A03}"/>
              </a:ext>
            </a:extLst>
          </p:cNvPr>
          <p:cNvSpPr/>
          <p:nvPr/>
        </p:nvSpPr>
        <p:spPr>
          <a:xfrm rot="5400000">
            <a:off x="2341737" y="2360745"/>
            <a:ext cx="252701" cy="198744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14547" y="4198381"/>
            <a:ext cx="1154315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</a:t>
            </a:r>
          </a:p>
        </p:txBody>
      </p:sp>
      <p:pic>
        <p:nvPicPr>
          <p:cNvPr id="40" name="図 39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2B8DDCE0-83B3-5BAA-0FFE-3D329FBE2D94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663353" y="2289246"/>
            <a:ext cx="1048252" cy="1775437"/>
          </a:xfrm>
          <a:prstGeom prst="rect">
            <a:avLst/>
          </a:prstGeom>
        </p:spPr>
      </p:pic>
      <p:pic>
        <p:nvPicPr>
          <p:cNvPr id="41" name="図 40">
            <a:extLst>
              <a:ext uri="{FF2B5EF4-FFF2-40B4-BE49-F238E27FC236}">
                <a16:creationId xmlns:a16="http://schemas.microsoft.com/office/drawing/2014/main" id="{EE7C7FD3-78CB-4D67-F96A-D6F8017FE22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171" y="2325575"/>
            <a:ext cx="494484" cy="86136"/>
          </a:xfrm>
          <a:prstGeom prst="rect">
            <a:avLst/>
          </a:prstGeom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2E6CA8C2-2D04-CD9A-C431-4766768BBF3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0233" y="2328011"/>
            <a:ext cx="494484" cy="86136"/>
          </a:xfrm>
          <a:prstGeom prst="rect">
            <a:avLst/>
          </a:prstGeom>
        </p:spPr>
      </p:pic>
      <p:pic>
        <p:nvPicPr>
          <p:cNvPr id="47" name="図 46">
            <a:extLst>
              <a:ext uri="{FF2B5EF4-FFF2-40B4-BE49-F238E27FC236}">
                <a16:creationId xmlns:a16="http://schemas.microsoft.com/office/drawing/2014/main" id="{E5BE860E-2799-E5F4-ADCA-4ADBD44E0D0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0116" y="3773334"/>
            <a:ext cx="494484" cy="86136"/>
          </a:xfrm>
          <a:prstGeom prst="rect">
            <a:avLst/>
          </a:prstGeom>
        </p:spPr>
      </p:pic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7157" y="2445202"/>
            <a:ext cx="1076073" cy="1468487"/>
          </a:xfrm>
          <a:prstGeom prst="rect">
            <a:avLst/>
          </a:prstGeom>
        </p:spPr>
      </p:pic>
      <p:pic>
        <p:nvPicPr>
          <p:cNvPr id="1024" name="図 1023">
            <a:extLst>
              <a:ext uri="{FF2B5EF4-FFF2-40B4-BE49-F238E27FC236}">
                <a16:creationId xmlns:a16="http://schemas.microsoft.com/office/drawing/2014/main" id="{E5E4719A-E6F5-34E0-F2FD-37322E2A76A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25324" y="2303179"/>
            <a:ext cx="560995" cy="133465"/>
          </a:xfrm>
          <a:prstGeom prst="rect">
            <a:avLst/>
          </a:prstGeom>
        </p:spPr>
      </p:pic>
      <p:sp>
        <p:nvSpPr>
          <p:cNvPr id="1026" name="テキスト ボックス 1025">
            <a:extLst>
              <a:ext uri="{FF2B5EF4-FFF2-40B4-BE49-F238E27FC236}">
                <a16:creationId xmlns:a16="http://schemas.microsoft.com/office/drawing/2014/main" id="{1B57767B-4EA3-C247-B88C-4D505A95BD20}"/>
              </a:ext>
            </a:extLst>
          </p:cNvPr>
          <p:cNvSpPr txBox="1"/>
          <p:nvPr/>
        </p:nvSpPr>
        <p:spPr>
          <a:xfrm>
            <a:off x="-490844" y="4711039"/>
            <a:ext cx="34055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入力した内容を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トークに反映が可能。</a:t>
            </a:r>
            <a:endParaRPr lang="en-US" altLang="ja-JP" sz="10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584156" y="2196668"/>
            <a:ext cx="1778402" cy="3994401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909322" y="4198381"/>
            <a:ext cx="1154315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endParaRPr kumimoji="1" lang="ja-JP" altLang="en-US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36" name="正方形/長方形 1035">
            <a:extLst>
              <a:ext uri="{FF2B5EF4-FFF2-40B4-BE49-F238E27FC236}">
                <a16:creationId xmlns:a16="http://schemas.microsoft.com/office/drawing/2014/main" id="{43EEA9CC-C52C-B219-FF18-6E6EA44E4D24}"/>
              </a:ext>
            </a:extLst>
          </p:cNvPr>
          <p:cNvSpPr/>
          <p:nvPr/>
        </p:nvSpPr>
        <p:spPr>
          <a:xfrm>
            <a:off x="2692868" y="4436119"/>
            <a:ext cx="1396722" cy="10450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・購入完了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・セミナー予約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・登録完了</a:t>
            </a:r>
            <a:endParaRPr kumimoji="1"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・メルマガ登録</a:t>
            </a:r>
            <a:endParaRPr lang="en-US" altLang="ja-JP" sz="1100" b="1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・その他</a:t>
            </a: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977448" y="2296209"/>
            <a:ext cx="1048252" cy="1775437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866329" y="4627146"/>
            <a:ext cx="395417" cy="5295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図 1039">
            <a:extLst>
              <a:ext uri="{FF2B5EF4-FFF2-40B4-BE49-F238E27FC236}">
                <a16:creationId xmlns:a16="http://schemas.microsoft.com/office/drawing/2014/main" id="{D40EFC68-F8C8-CACE-392A-C804A102B4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55266" y="2332538"/>
            <a:ext cx="494484" cy="86136"/>
          </a:xfrm>
          <a:prstGeom prst="rect">
            <a:avLst/>
          </a:prstGeom>
        </p:spPr>
      </p:pic>
      <p:pic>
        <p:nvPicPr>
          <p:cNvPr id="1041" name="図 1040">
            <a:extLst>
              <a:ext uri="{FF2B5EF4-FFF2-40B4-BE49-F238E27FC236}">
                <a16:creationId xmlns:a16="http://schemas.microsoft.com/office/drawing/2014/main" id="{BA9B0596-4197-6BA5-B58D-7E67FD1379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28" y="2334974"/>
            <a:ext cx="494484" cy="86136"/>
          </a:xfrm>
          <a:prstGeom prst="rect">
            <a:avLst/>
          </a:prstGeom>
        </p:spPr>
      </p:pic>
      <p:pic>
        <p:nvPicPr>
          <p:cNvPr id="1042" name="図 1041">
            <a:extLst>
              <a:ext uri="{FF2B5EF4-FFF2-40B4-BE49-F238E27FC236}">
                <a16:creationId xmlns:a16="http://schemas.microsoft.com/office/drawing/2014/main" id="{A3D5D1CE-703D-3244-20B5-0CBB6C5EB46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24211" y="3780297"/>
            <a:ext cx="494484" cy="86136"/>
          </a:xfrm>
          <a:prstGeom prst="rect">
            <a:avLst/>
          </a:prstGeom>
        </p:spPr>
      </p:pic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434489DF-76E5-B08D-AB93-7A020A3C23F0}"/>
              </a:ext>
            </a:extLst>
          </p:cNvPr>
          <p:cNvSpPr txBox="1"/>
          <p:nvPr/>
        </p:nvSpPr>
        <p:spPr>
          <a:xfrm>
            <a:off x="360000" y="5400000"/>
            <a:ext cx="1679395" cy="338554"/>
          </a:xfrm>
          <a:prstGeom prst="rect">
            <a:avLst/>
          </a:prstGeom>
          <a:solidFill>
            <a:schemeClr val="bg1">
              <a:alpha val="56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ユーザーの個人情報収集が</a:t>
            </a:r>
            <a:endParaRPr lang="en-US" altLang="ja-JP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800" b="1" dirty="0">
                <a:solidFill>
                  <a:schemeClr val="bg1">
                    <a:lumMod val="8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完了したタイミング</a:t>
            </a:r>
            <a:endParaRPr kumimoji="1" lang="ja-JP" altLang="en-US" sz="800" b="1" dirty="0">
              <a:solidFill>
                <a:schemeClr val="bg1">
                  <a:lumMod val="8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543398" y="777681"/>
            <a:ext cx="3105325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サンクス</a:t>
              </a:r>
              <a:r>
                <a:rPr kumimoji="1" lang="en-US" altLang="ja-JP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LINE</a:t>
              </a:r>
              <a:r>
                <a:rPr kumimoji="1" lang="ja-JP" altLang="en-US" sz="15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  <a:cs typeface="メイリオ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8247347" y="4702330"/>
            <a:ext cx="899499" cy="79959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5EB654A-0759-70F8-6BA7-95CA3A0F983F}"/>
              </a:ext>
            </a:extLst>
          </p:cNvPr>
          <p:cNvCxnSpPr>
            <a:cxnSpLocks/>
          </p:cNvCxnSpPr>
          <p:nvPr/>
        </p:nvCxnSpPr>
        <p:spPr>
          <a:xfrm flipV="1">
            <a:off x="7672763" y="5102505"/>
            <a:ext cx="574585" cy="332494"/>
          </a:xfrm>
          <a:prstGeom prst="bentConnector3">
            <a:avLst>
              <a:gd name="adj1" fmla="val 50000"/>
            </a:avLst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218E3FE3-7B20-5966-421F-4ECB81603538}"/>
              </a:ext>
            </a:extLst>
          </p:cNvPr>
          <p:cNvCxnSpPr>
            <a:cxnSpLocks/>
            <a:stCxn id="48" idx="2"/>
            <a:endCxn id="21" idx="0"/>
          </p:cNvCxnSpPr>
          <p:nvPr/>
        </p:nvCxnSpPr>
        <p:spPr>
          <a:xfrm>
            <a:off x="6904149" y="3132263"/>
            <a:ext cx="1" cy="1334625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BDB9444-3A0E-B235-58FC-9F8C81BAEA44}"/>
              </a:ext>
            </a:extLst>
          </p:cNvPr>
          <p:cNvSpPr txBox="1"/>
          <p:nvPr/>
        </p:nvSpPr>
        <p:spPr>
          <a:xfrm>
            <a:off x="6323825" y="3523709"/>
            <a:ext cx="1161782" cy="261610"/>
          </a:xfrm>
          <a:prstGeom prst="rect">
            <a:avLst/>
          </a:prstGeom>
          <a:solidFill>
            <a:schemeClr val="bg1">
              <a:alpha val="7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1100" b="1" dirty="0">
                <a:solidFill>
                  <a:srgbClr val="00C057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友だち追加後</a:t>
            </a:r>
            <a:endParaRPr lang="ja-JP" altLang="en-US" sz="1100" dirty="0">
              <a:solidFill>
                <a:srgbClr val="00C057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3806311" y="788165"/>
            <a:ext cx="5880088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サンクス到達時の</a:t>
            </a:r>
            <a:r>
              <a:rPr lang="en-US" altLang="ja-JP" sz="16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動線が弊社開発により可能に。</a:t>
            </a:r>
            <a:endParaRPr lang="en-US" altLang="ja-JP" sz="1600" dirty="0">
              <a:latin typeface="メイリオ"/>
              <a:ea typeface="メイリオ"/>
              <a:cs typeface="メイリオ"/>
              <a:sym typeface="Meiryo"/>
            </a:endParaRPr>
          </a:p>
          <a:p>
            <a:pPr lvl="0" algn="ctr">
              <a:buClr>
                <a:schemeClr val="dk1"/>
              </a:buClr>
              <a:buSzPts val="1500"/>
            </a:pPr>
            <a:r>
              <a:rPr lang="ja-JP" altLang="en-US" sz="1600" dirty="0">
                <a:latin typeface="メイリオ"/>
                <a:ea typeface="メイリオ"/>
                <a:cs typeface="メイリオ"/>
                <a:sym typeface="Meiryo"/>
              </a:rPr>
              <a:t>費用を抑えての導入が可能で、新規反響の質改善に寄与。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091506" y="1404000"/>
            <a:ext cx="4718625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5769326" y="1938056"/>
            <a:ext cx="3788228" cy="244151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  <a:endParaRPr kumimoji="1" lang="ja-JP" altLang="en-US" sz="11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6" name="Google Shape;51;p19">
            <a:extLst>
              <a:ext uri="{FF2B5EF4-FFF2-40B4-BE49-F238E27FC236}">
                <a16:creationId xmlns:a16="http://schemas.microsoft.com/office/drawing/2014/main" id="{A4070FDA-7C99-27DE-6A9C-437C1D5DD3B3}"/>
              </a:ext>
            </a:extLst>
          </p:cNvPr>
          <p:cNvSpPr/>
          <p:nvPr/>
        </p:nvSpPr>
        <p:spPr>
          <a:xfrm>
            <a:off x="543399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初期：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15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</a:t>
            </a:r>
            <a:endParaRPr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28" name="Google Shape;51;p19">
            <a:extLst>
              <a:ext uri="{FF2B5EF4-FFF2-40B4-BE49-F238E27FC236}">
                <a16:creationId xmlns:a16="http://schemas.microsoft.com/office/drawing/2014/main" id="{40C4675F-5DCC-DD57-BE14-B3A7697A02CD}"/>
              </a:ext>
            </a:extLst>
          </p:cNvPr>
          <p:cNvSpPr/>
          <p:nvPr/>
        </p:nvSpPr>
        <p:spPr>
          <a:xfrm>
            <a:off x="2137897" y="1321261"/>
            <a:ext cx="1510826" cy="485102"/>
          </a:xfrm>
          <a:prstGeom prst="roundRect">
            <a:avLst>
              <a:gd name="adj" fmla="val 16667"/>
            </a:avLst>
          </a:prstGeom>
          <a:solidFill>
            <a:schemeClr val="tx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メイリオ"/>
                <a:ea typeface="メイリオ"/>
                <a:cs typeface="メイリオ"/>
                <a:sym typeface="Arial"/>
              </a:defRPr>
            </a:lvl9pPr>
          </a:lstStyle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月額</a:t>
            </a:r>
            <a:r>
              <a:rPr lang="en-US" altLang="ja-JP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3</a:t>
            </a:r>
            <a:r>
              <a:rPr lang="ja-JP" altLang="en-US" sz="1400" b="1" i="0" u="none" strike="noStrike" cap="none" dirty="0">
                <a:solidFill>
                  <a:schemeClr val="lt1"/>
                </a:solidFill>
                <a:latin typeface="メイリオ"/>
                <a:ea typeface="メイリオ"/>
                <a:cs typeface="メイリオ"/>
                <a:sym typeface="Meiryo"/>
              </a:rPr>
              <a:t>万円～</a:t>
            </a:r>
            <a:endParaRPr lang="en-US" altLang="ja-JP" sz="1400" b="1" i="0" u="none" strike="noStrike" cap="none" dirty="0">
              <a:solidFill>
                <a:schemeClr val="lt1"/>
              </a:solidFill>
              <a:latin typeface="メイリオ"/>
              <a:ea typeface="メイリオ"/>
              <a:cs typeface="メイリオ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altLang="ja-JP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+</a:t>
            </a:r>
            <a:r>
              <a:rPr lang="ja-JP" altLang="en-US" sz="1050" b="1" dirty="0">
                <a:solidFill>
                  <a:srgbClr val="FFFF00"/>
                </a:solidFill>
                <a:latin typeface="メイリオ"/>
                <a:ea typeface="メイリオ"/>
                <a:cs typeface="メイリオ"/>
                <a:sym typeface="Meiryo"/>
              </a:rPr>
              <a:t>設定地点追加</a:t>
            </a:r>
            <a:endParaRPr sz="1050" b="1" i="0" u="none" strike="noStrike" cap="none" dirty="0">
              <a:solidFill>
                <a:srgbClr val="FFFF0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cxnSp>
        <p:nvCxnSpPr>
          <p:cNvPr id="30" name="コネクタ: カギ線 29">
            <a:extLst>
              <a:ext uri="{FF2B5EF4-FFF2-40B4-BE49-F238E27FC236}">
                <a16:creationId xmlns:a16="http://schemas.microsoft.com/office/drawing/2014/main" id="{D9706AF3-2C8D-6646-76C8-7802A4F734FC}"/>
              </a:ext>
            </a:extLst>
          </p:cNvPr>
          <p:cNvCxnSpPr>
            <a:cxnSpLocks/>
          </p:cNvCxnSpPr>
          <p:nvPr/>
        </p:nvCxnSpPr>
        <p:spPr>
          <a:xfrm rot="16200000" flipH="1">
            <a:off x="3294819" y="3047336"/>
            <a:ext cx="430977" cy="4596748"/>
          </a:xfrm>
          <a:prstGeom prst="bentConnector2">
            <a:avLst/>
          </a:prstGeom>
          <a:ln w="15875">
            <a:solidFill>
              <a:srgbClr val="FF0000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7C92C6B-4F06-7ED3-0627-D0C168299913}"/>
              </a:ext>
            </a:extLst>
          </p:cNvPr>
          <p:cNvSpPr txBox="1"/>
          <p:nvPr/>
        </p:nvSpPr>
        <p:spPr>
          <a:xfrm>
            <a:off x="115187" y="5639542"/>
            <a:ext cx="5785781" cy="461665"/>
          </a:xfrm>
          <a:prstGeom prst="rect">
            <a:avLst/>
          </a:prstGeom>
          <a:solidFill>
            <a:schemeClr val="bg1">
              <a:alpha val="62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高開封率のLINEに誘導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して</a:t>
            </a:r>
            <a:r>
              <a:rPr lang="ja-JP" altLang="ja-JP" sz="12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反響→実売上への引上げ率、リピート率改善。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ja-JP" sz="1200" dirty="0" b="1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美容クリニックでは、予約後来院率が40〜50%改善</a:t>
            </a:r>
            <a:endParaRPr lang="ja-JP" altLang="en-US" sz="12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>
          <a:extLst>
            <a:ext uri="{FF2B5EF4-FFF2-40B4-BE49-F238E27FC236}">
              <a16:creationId xmlns:a16="http://schemas.microsoft.com/office/drawing/2014/main" id="{E70E5221-666F-DE20-B9E8-FDFC607CC2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サンクスLINE｜重要性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申込みの直後に、LINEでつながる</a:t>
            </a:r>
            <a:endParaRPr lang="en-US"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19"/>
          <p:cNvSpPr txBox="1"/>
          <p:nvPr/>
        </p:nvSpPr>
        <p:spPr>
          <a:xfrm>
            <a:off x="1080000" y="2160000"/>
            <a:ext cx="7740000" cy="34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・申込み⇒来店までに一定数が離脱する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・関心が一番高い申込み直後に、LINEでつながるのが最適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・つながると、読まれる</a:t>
            </a:r>
          </a:p>
          <a:p>
            <a:pPr algn="l">
              <a:lnSpc>
                <a:spcPct val="115000"/>
              </a:lnSpc>
              <a:spcAft>
                <a:spcPts val="220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（開封率 約70%・クリック率はメルマガの約5倍／バス会社）</a:t>
            </a:r>
          </a:p>
          <a:p>
            <a:pPr algn="l">
              <a:lnSpc>
                <a:spcPct val="115000"/>
              </a:lnSpc>
              <a:spcAft>
                <a:spcPts val="2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・つながると、動く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4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　（予約後の来院率 40〜50%改善／美容クリニック）</a:t>
            </a:r>
          </a:p>
        </p:txBody>
      </p:sp>
    </p:spTree>
    <p:extLst>
      <p:ext uri="{BB962C8B-B14F-4D97-AF65-F5344CB8AC3E}">
        <p14:creationId xmlns:p14="http://schemas.microsoft.com/office/powerpoint/2010/main" val="17159093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シーン1｜来店・来院の予約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予約を、来店・来院につなげる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前日に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お知らせ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来店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・無断キャンセルを防ぎ、来店につなげる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・実績：美容クリニック　来院率 40〜50%改善</a:t>
            </a:r>
          </a:p>
        </p:txBody>
      </p:sp>
    </p:spTree>
    <p:extLst>
      <p:ext uri="{BB962C8B-B14F-4D97-AF65-F5344CB8AC3E}">
        <p14:creationId xmlns:p14="http://schemas.microsoft.com/office/powerpoint/2010/main" val="3939997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8784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シーン2｜資料請求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432000" y="684000"/>
            <a:ext cx="9036000" cy="4320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資料請求を、予約・商談につなげる</a:t>
            </a:r>
            <a:endParaRPr sz="16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7200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12"/>
          <p:cNvSpPr/>
          <p:nvPr/>
        </p:nvSpPr>
        <p:spPr>
          <a:xfrm>
            <a:off x="1080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資料請求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ight Arrow 5"/>
          <p:cNvSpPr/>
          <p:nvPr/>
        </p:nvSpPr>
        <p:spPr>
          <a:xfrm>
            <a:off x="2736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Rounded Rectangle 4"/>
          <p:cNvSpPr/>
          <p:nvPr/>
        </p:nvSpPr>
        <p:spPr>
          <a:xfrm>
            <a:off x="3114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LINEへ案内</a:t>
            </a:r>
          </a:p>
        </p:txBody>
      </p:sp>
      <p:sp>
        <p:nvSpPr>
          <p:cNvPr id="9" name="Right Arrow 5"/>
          <p:cNvSpPr/>
          <p:nvPr/>
        </p:nvSpPr>
        <p:spPr>
          <a:xfrm>
            <a:off x="4770000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Rounded Rectangle 4"/>
          <p:cNvSpPr/>
          <p:nvPr/>
        </p:nvSpPr>
        <p:spPr>
          <a:xfrm>
            <a:off x="5148000" y="1944000"/>
            <a:ext cx="1638000" cy="1007999"/>
          </a:xfrm>
          <a:prstGeom prst="roundRect">
            <a:avLst>
              <a:gd name="adj" fmla="val 1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54000" tIns="18000" rIns="54000" bIns="18000" rtlCol="0" anchor="ctr"/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事例・動画を</a:t>
            </a:r>
          </a:p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</a:t>
            </a:r>
          </a:p>
        </p:txBody>
      </p:sp>
      <p:sp>
        <p:nvSpPr>
          <p:cNvPr id="11" name="Right Arrow 5"/>
          <p:cNvSpPr/>
          <p:nvPr/>
        </p:nvSpPr>
        <p:spPr>
          <a:xfrm>
            <a:off x="6803999" y="2268000"/>
            <a:ext cx="360000" cy="360000"/>
          </a:xfrm>
          <a:prstGeom prst="rightArrow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Rounded Rectangle 12"/>
          <p:cNvSpPr/>
          <p:nvPr/>
        </p:nvSpPr>
        <p:spPr>
          <a:xfrm>
            <a:off x="7182000" y="1944000"/>
            <a:ext cx="1638000" cy="1007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5999" tIns="90000" rIns="108000" bIns="54000" rtlCol="0" anchor="ctr"/>
          <a:lstStyle/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見学・商談の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30000"/>
              </a:lnSpc>
              <a:spcAft>
                <a:spcPts val="500"/>
              </a:spcAft>
            </a:pPr>
            <a:r>
              <a:rPr sz="15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</a:t>
            </a:r>
            <a:endParaRPr sz="125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TextBox 19"/>
          <p:cNvSpPr txBox="1"/>
          <p:nvPr/>
        </p:nvSpPr>
        <p:spPr>
          <a:xfrm>
            <a:off x="1080000" y="3564000"/>
            <a:ext cx="7740000" cy="2520000"/>
          </a:xfrm>
          <a:prstGeom prst="rect">
            <a:avLst/>
          </a:prstGeom>
          <a:noFill/>
        </p:spPr>
        <p:txBody>
          <a:bodyPr wrap="square" lIns="0" tIns="21600" rIns="0" bIns="21600" anchor="t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2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・資料請求のみで終わらせず、予約・商談につなげる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・実績：皮膚科クリニック　予約数 約1.2倍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2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・実績：就職支援　LINEで問い合わせた方の55%が面談を予約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143216</TotalTime>
  <Words>319</Words>
  <Application>Microsoft Office PowerPoint</Application>
  <PresentationFormat>A4 210 x 297 mm</PresentationFormat>
  <Paragraphs>80</Paragraphs>
  <Slides>5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5</vt:i4>
      </vt:variant>
    </vt:vector>
  </HeadingPairs>
  <TitlesOfParts>
    <vt:vector size="11" baseType="lpstr"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1963</cp:revision>
  <cp:lastPrinted>2022-11-01T11:38:14Z</cp:lastPrinted>
  <dcterms:created xsi:type="dcterms:W3CDTF">2015-09-04T09:21:15Z</dcterms:created>
  <dcterms:modified xsi:type="dcterms:W3CDTF">2026-09-30T08:47:37Z</dcterms:modified>
</cp:coreProperties>
</file>