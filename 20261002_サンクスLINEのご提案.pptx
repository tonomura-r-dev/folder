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サンクスLINE｜機能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申込み完了画面から、LINEへ移行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525600" y="1620000"/>
            <a:ext cx="2088000" cy="172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申込み完了画面</a:t>
            </a:r>
          </a:p>
        </p:txBody>
      </p:sp>
      <p:sp>
        <p:nvSpPr>
          <p:cNvPr id="7" name="Right Arrow 5"/>
          <p:cNvSpPr/>
          <p:nvPr/>
        </p:nvSpPr>
        <p:spPr>
          <a:xfrm>
            <a:off x="2664000" y="2268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8"/>
          <p:cNvSpPr/>
          <p:nvPr/>
        </p:nvSpPr>
        <p:spPr>
          <a:xfrm>
            <a:off x="3078000" y="1620000"/>
            <a:ext cx="1944000" cy="172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LINEへ移行</a:t>
            </a:r>
          </a:p>
        </p:txBody>
      </p:sp>
      <p:sp>
        <p:nvSpPr>
          <p:cNvPr id="9" name="Right Arrow 7"/>
          <p:cNvSpPr/>
          <p:nvPr/>
        </p:nvSpPr>
        <p:spPr>
          <a:xfrm>
            <a:off x="5076000" y="2268000"/>
            <a:ext cx="360000" cy="432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0"/>
          <p:cNvSpPr/>
          <p:nvPr/>
        </p:nvSpPr>
        <p:spPr>
          <a:xfrm>
            <a:off x="5490000" y="1620000"/>
            <a:ext cx="3891600" cy="81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新規 → 友だち追加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90000" y="2538000"/>
            <a:ext cx="3891600" cy="81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既存の友だち → トーク画面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525600" y="3528000"/>
            <a:ext cx="4392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入力内容を引き継ぎ、配信の出し分けに活用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989600" y="3528000"/>
            <a:ext cx="4392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今のアカウントにそのまま導入、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APIツールとも併用可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4"/>
          <p:cNvSpPr/>
          <p:nvPr/>
        </p:nvSpPr>
        <p:spPr>
          <a:xfrm>
            <a:off x="525600" y="5076000"/>
            <a:ext cx="8856000" cy="93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費用：初期15万円／月額3万円〜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525600" y="1620000"/>
            <a:ext cx="1872000" cy="827999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申込み・予約</a:t>
            </a:r>
          </a:p>
        </p:txBody>
      </p:sp>
      <p:sp>
        <p:nvSpPr>
          <p:cNvPr id="7" name="Rounded Rectangle 4"/>
          <p:cNvSpPr/>
          <p:nvPr/>
        </p:nvSpPr>
        <p:spPr>
          <a:xfrm>
            <a:off x="2484000" y="1620000"/>
            <a:ext cx="6897600" cy="82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 100件</a:t>
            </a:r>
          </a:p>
        </p:txBody>
      </p:sp>
      <p:sp>
        <p:nvSpPr>
          <p:cNvPr id="8" name="Rounded Rectangle 4"/>
          <p:cNvSpPr/>
          <p:nvPr/>
        </p:nvSpPr>
        <p:spPr>
          <a:xfrm>
            <a:off x="525600" y="2556000"/>
            <a:ext cx="1872000" cy="827999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4000" y="2556000"/>
            <a:ext cx="5173200" cy="827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</a:t>
            </a:r>
          </a:p>
        </p:txBody>
      </p:sp>
      <p:sp>
        <p:nvSpPr>
          <p:cNvPr id="10" name="Rounded Rectangle 4"/>
          <p:cNvSpPr/>
          <p:nvPr/>
        </p:nvSpPr>
        <p:spPr>
          <a:xfrm>
            <a:off x="7711200" y="2556000"/>
            <a:ext cx="1670400" cy="827999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来店せず</a:t>
            </a:r>
          </a:p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2〜3割</a:t>
            </a:r>
          </a:p>
        </p:txBody>
      </p:sp>
      <p:sp>
        <p:nvSpPr>
          <p:cNvPr id="11" name="Rounded Rectangle 4"/>
          <p:cNvSpPr/>
          <p:nvPr/>
        </p:nvSpPr>
        <p:spPr>
          <a:xfrm>
            <a:off x="525600" y="3600000"/>
            <a:ext cx="2664000" cy="1872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一定数が離脱する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（予約の2〜3割が来店せず／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保険見直し本舗）</a:t>
            </a:r>
          </a:p>
        </p:txBody>
      </p:sp>
      <p:sp>
        <p:nvSpPr>
          <p:cNvPr id="12" name="Right Arrow 5"/>
          <p:cNvSpPr/>
          <p:nvPr/>
        </p:nvSpPr>
        <p:spPr>
          <a:xfrm>
            <a:off x="3225599" y="4320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4"/>
          <p:cNvSpPr/>
          <p:nvPr/>
        </p:nvSpPr>
        <p:spPr>
          <a:xfrm>
            <a:off x="3621599" y="3600000"/>
            <a:ext cx="2664000" cy="1872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この離脱層は減らない</a:t>
            </a:r>
          </a:p>
        </p:txBody>
      </p:sp>
      <p:sp>
        <p:nvSpPr>
          <p:cNvPr id="14" name="Right Arrow 7"/>
          <p:cNvSpPr/>
          <p:nvPr/>
        </p:nvSpPr>
        <p:spPr>
          <a:xfrm>
            <a:off x="6321600" y="4320000"/>
            <a:ext cx="360000" cy="432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8"/>
          <p:cNvSpPr/>
          <p:nvPr/>
        </p:nvSpPr>
        <p:spPr>
          <a:xfrm>
            <a:off x="6717600" y="3600000"/>
            <a:ext cx="2664000" cy="1872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申込み直後に、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LINEでつながるのが最適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（開封率 約70%／琴平バス）</a:t>
            </a:r>
          </a:p>
        </p:txBody>
      </p:sp>
      <p:sp>
        <p:nvSpPr>
          <p:cNvPr id="16" name="TextBox 19"/>
          <p:cNvSpPr txBox="1"/>
          <p:nvPr/>
        </p:nvSpPr>
        <p:spPr>
          <a:xfrm>
            <a:off x="525600" y="5580000"/>
            <a:ext cx="8856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導入事例（保険見直し本舗・琴平バス）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525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</a:p>
        </p:txBody>
      </p:sp>
      <p:sp>
        <p:nvSpPr>
          <p:cNvPr id="7" name="Right Arrow 5"/>
          <p:cNvSpPr/>
          <p:nvPr/>
        </p:nvSpPr>
        <p:spPr>
          <a:xfrm>
            <a:off x="2451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8"/>
          <p:cNvSpPr/>
          <p:nvPr/>
        </p:nvSpPr>
        <p:spPr>
          <a:xfrm>
            <a:off x="2847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LINEで予約確認</a:t>
            </a:r>
          </a:p>
        </p:txBody>
      </p:sp>
      <p:sp>
        <p:nvSpPr>
          <p:cNvPr id="9" name="Right Arrow 7"/>
          <p:cNvSpPr/>
          <p:nvPr/>
        </p:nvSpPr>
        <p:spPr>
          <a:xfrm>
            <a:off x="4773600" y="2196000"/>
            <a:ext cx="360000" cy="432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5169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前日にお知らせ</a:t>
            </a:r>
          </a:p>
        </p:txBody>
      </p:sp>
      <p:sp>
        <p:nvSpPr>
          <p:cNvPr id="11" name="Right Arrow 7"/>
          <p:cNvSpPr/>
          <p:nvPr/>
        </p:nvSpPr>
        <p:spPr>
          <a:xfrm>
            <a:off x="7095600" y="2196000"/>
            <a:ext cx="360000" cy="432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7491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</a:t>
            </a:r>
          </a:p>
        </p:txBody>
      </p:sp>
      <p:sp>
        <p:nvSpPr>
          <p:cNvPr id="13" name="Rounded Rectangle 4"/>
          <p:cNvSpPr/>
          <p:nvPr/>
        </p:nvSpPr>
        <p:spPr>
          <a:xfrm>
            <a:off x="525600" y="3348000"/>
            <a:ext cx="8856000" cy="64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  <p:sp>
        <p:nvSpPr>
          <p:cNvPr id="14" name="Rounded Rectangle 8"/>
          <p:cNvSpPr/>
          <p:nvPr/>
        </p:nvSpPr>
        <p:spPr>
          <a:xfrm>
            <a:off x="525600" y="4140000"/>
            <a:ext cx="4392000" cy="1655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美容クリニック（弊社）</a:t>
            </a:r>
          </a:p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来院率 40〜50%改善</a:t>
            </a:r>
          </a:p>
        </p:txBody>
      </p:sp>
      <p:sp>
        <p:nvSpPr>
          <p:cNvPr id="15" name="Rounded Rectangle 4"/>
          <p:cNvSpPr/>
          <p:nvPr/>
        </p:nvSpPr>
        <p:spPr>
          <a:xfrm>
            <a:off x="4989600" y="4140000"/>
            <a:ext cx="4392000" cy="1655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</a:p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予約100件あたり 面談＋5件</a:t>
            </a:r>
          </a:p>
        </p:txBody>
      </p:sp>
      <p:sp>
        <p:nvSpPr>
          <p:cNvPr id="16" name="TextBox 19"/>
          <p:cNvSpPr txBox="1"/>
          <p:nvPr/>
        </p:nvSpPr>
        <p:spPr>
          <a:xfrm>
            <a:off x="525600" y="5903999"/>
            <a:ext cx="8856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出典：弊社運用実績／LINEヤフー for Business 導入事例（保険見直し本舗）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525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sp>
        <p:nvSpPr>
          <p:cNvPr id="7" name="Right Arrow 5"/>
          <p:cNvSpPr/>
          <p:nvPr/>
        </p:nvSpPr>
        <p:spPr>
          <a:xfrm>
            <a:off x="2451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8"/>
          <p:cNvSpPr/>
          <p:nvPr/>
        </p:nvSpPr>
        <p:spPr>
          <a:xfrm>
            <a:off x="2847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7"/>
          <p:cNvSpPr/>
          <p:nvPr/>
        </p:nvSpPr>
        <p:spPr>
          <a:xfrm>
            <a:off x="4773600" y="2196000"/>
            <a:ext cx="360000" cy="432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5169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7"/>
          <p:cNvSpPr/>
          <p:nvPr/>
        </p:nvSpPr>
        <p:spPr>
          <a:xfrm>
            <a:off x="7095600" y="2196000"/>
            <a:ext cx="360000" cy="432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7491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見学・商談の</a:t>
            </a:r>
          </a:p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13" name="Rounded Rectangle 4"/>
          <p:cNvSpPr/>
          <p:nvPr/>
        </p:nvSpPr>
        <p:spPr>
          <a:xfrm>
            <a:off x="525600" y="3348000"/>
            <a:ext cx="8856000" cy="64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  <p:sp>
        <p:nvSpPr>
          <p:cNvPr id="14" name="Rounded Rectangle 4"/>
          <p:cNvSpPr/>
          <p:nvPr/>
        </p:nvSpPr>
        <p:spPr>
          <a:xfrm>
            <a:off x="525600" y="4140000"/>
            <a:ext cx="4392000" cy="1655999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</a:p>
          <a:p>
            <a:pPr algn="ctr">
              <a:lnSpc>
                <a:spcPct val="120000"/>
              </a:lnSpc>
            </a:pP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予約数 約1.2倍</a:t>
            </a:r>
          </a:p>
        </p:txBody>
      </p:sp>
      <p:sp>
        <p:nvSpPr>
          <p:cNvPr id="15" name="Rounded Rectangle 4"/>
          <p:cNvSpPr/>
          <p:nvPr/>
        </p:nvSpPr>
        <p:spPr>
          <a:xfrm>
            <a:off x="4989600" y="4140000"/>
            <a:ext cx="4392000" cy="1655999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就職支援（UZUZ）</a:t>
            </a:r>
          </a:p>
          <a:p>
            <a:pPr algn="ctr">
              <a:lnSpc>
                <a:spcPct val="120000"/>
              </a:lnSpc>
            </a:pP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面談予約率 55%</a:t>
            </a:r>
          </a:p>
        </p:txBody>
      </p:sp>
      <p:sp>
        <p:nvSpPr>
          <p:cNvPr id="16" name="TextBox 19"/>
          <p:cNvSpPr txBox="1"/>
          <p:nvPr/>
        </p:nvSpPr>
        <p:spPr>
          <a:xfrm>
            <a:off x="525600" y="5903999"/>
            <a:ext cx="8856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導入事例（アクネクリニック・UZUZ）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