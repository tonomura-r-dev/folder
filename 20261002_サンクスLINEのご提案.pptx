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サンクスLINE｜機能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申込み完了画面から、LINEへ移行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525600" y="1620000"/>
            <a:ext cx="2088000" cy="17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申込み完了画面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664000" y="2268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78000" y="1620000"/>
            <a:ext cx="1944000" cy="1728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LINEへ移行</a:t>
            </a:r>
          </a:p>
        </p:txBody>
      </p:sp>
      <p:sp>
        <p:nvSpPr>
          <p:cNvPr id="9" name="Right Arrow 5"/>
          <p:cNvSpPr/>
          <p:nvPr/>
        </p:nvSpPr>
        <p:spPr>
          <a:xfrm>
            <a:off x="5076000" y="2268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12"/>
          <p:cNvSpPr/>
          <p:nvPr/>
        </p:nvSpPr>
        <p:spPr>
          <a:xfrm>
            <a:off x="5490000" y="1620000"/>
            <a:ext cx="3891600" cy="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7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新規 → 友だち追加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2"/>
          <p:cNvSpPr/>
          <p:nvPr/>
        </p:nvSpPr>
        <p:spPr>
          <a:xfrm>
            <a:off x="5490000" y="2538000"/>
            <a:ext cx="3891600" cy="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7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既存の友だち → トーク画面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525600" y="3528000"/>
            <a:ext cx="4392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入力内容を引き継ぎ、配信の出し分けに活用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989600" y="3528000"/>
            <a:ext cx="4392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今のアカウントにそのまま導入、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APIツールとも併用可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4"/>
          <p:cNvSpPr/>
          <p:nvPr/>
        </p:nvSpPr>
        <p:spPr>
          <a:xfrm>
            <a:off x="525600" y="5076000"/>
            <a:ext cx="8856000" cy="936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費用：初期15万円／月額3万円〜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525600" y="1620000"/>
            <a:ext cx="1872000" cy="82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申込み・予約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ounded Rectangle 4"/>
          <p:cNvSpPr/>
          <p:nvPr/>
        </p:nvSpPr>
        <p:spPr>
          <a:xfrm>
            <a:off x="2484000" y="1620000"/>
            <a:ext cx="6897600" cy="82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 100件</a:t>
            </a:r>
          </a:p>
        </p:txBody>
      </p:sp>
      <p:sp>
        <p:nvSpPr>
          <p:cNvPr id="8" name="Rounded Rectangle 12"/>
          <p:cNvSpPr/>
          <p:nvPr/>
        </p:nvSpPr>
        <p:spPr>
          <a:xfrm>
            <a:off x="525600" y="2556000"/>
            <a:ext cx="1872000" cy="82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4"/>
          <p:cNvSpPr/>
          <p:nvPr/>
        </p:nvSpPr>
        <p:spPr>
          <a:xfrm>
            <a:off x="2484000" y="2556000"/>
            <a:ext cx="5173200" cy="82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</a:t>
            </a:r>
          </a:p>
        </p:txBody>
      </p:sp>
      <p:sp>
        <p:nvSpPr>
          <p:cNvPr id="10" name="Rounded Rectangle 12"/>
          <p:cNvSpPr/>
          <p:nvPr/>
        </p:nvSpPr>
        <p:spPr>
          <a:xfrm>
            <a:off x="7711200" y="2556000"/>
            <a:ext cx="1670400" cy="82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来店せず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2〜3割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ounded Rectangle 12"/>
          <p:cNvSpPr/>
          <p:nvPr/>
        </p:nvSpPr>
        <p:spPr>
          <a:xfrm>
            <a:off x="525600" y="3600000"/>
            <a:ext cx="2664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一定数が離脱する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（予約の2〜3割が来店せず／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保険見直し本舗）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ight Arrow 5"/>
          <p:cNvSpPr/>
          <p:nvPr/>
        </p:nvSpPr>
        <p:spPr>
          <a:xfrm>
            <a:off x="3225599" y="4320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621599" y="3600000"/>
            <a:ext cx="2664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この離脱層は減らない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ight Arrow 5"/>
          <p:cNvSpPr/>
          <p:nvPr/>
        </p:nvSpPr>
        <p:spPr>
          <a:xfrm>
            <a:off x="6321600" y="4320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4"/>
          <p:cNvSpPr/>
          <p:nvPr/>
        </p:nvSpPr>
        <p:spPr>
          <a:xfrm>
            <a:off x="6717600" y="3600000"/>
            <a:ext cx="2664000" cy="187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申込み直後に、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LINEでつながるのが最適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（開封率 約70%／琴平バス）</a:t>
            </a:r>
          </a:p>
        </p:txBody>
      </p:sp>
      <p:sp>
        <p:nvSpPr>
          <p:cNvPr id="16" name="TextBox 19"/>
          <p:cNvSpPr txBox="1"/>
          <p:nvPr/>
        </p:nvSpPr>
        <p:spPr>
          <a:xfrm>
            <a:off x="525600" y="5580000"/>
            <a:ext cx="8856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導入事例（保険見直し本舗・琴平バス）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525600" y="1620000"/>
            <a:ext cx="1890000" cy="15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7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451600" y="2196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2847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3600" y="2196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69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7095600" y="2196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491600" y="1620000"/>
            <a:ext cx="1890000" cy="15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7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4"/>
          <p:cNvSpPr/>
          <p:nvPr/>
        </p:nvSpPr>
        <p:spPr>
          <a:xfrm>
            <a:off x="525600" y="3348000"/>
            <a:ext cx="8856000" cy="648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  <p:sp>
        <p:nvSpPr>
          <p:cNvPr id="14" name="Rounded Rectangle 4"/>
          <p:cNvSpPr/>
          <p:nvPr/>
        </p:nvSpPr>
        <p:spPr>
          <a:xfrm>
            <a:off x="525600" y="4140000"/>
            <a:ext cx="4392000" cy="1655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美容クリニック（弊社）</a:t>
            </a:r>
          </a:p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来院率 40〜50%改善</a:t>
            </a:r>
          </a:p>
        </p:txBody>
      </p:sp>
      <p:sp>
        <p:nvSpPr>
          <p:cNvPr id="15" name="Rounded Rectangle 12"/>
          <p:cNvSpPr/>
          <p:nvPr/>
        </p:nvSpPr>
        <p:spPr>
          <a:xfrm>
            <a:off x="4989600" y="4140000"/>
            <a:ext cx="4392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0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保険見直し本舗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21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予約100件あたり 面談＋5件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9"/>
          <p:cNvSpPr txBox="1"/>
          <p:nvPr/>
        </p:nvSpPr>
        <p:spPr>
          <a:xfrm>
            <a:off x="525600" y="5903999"/>
            <a:ext cx="8856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出典：弊社運用実績／LINEヤフー for Business 導入事例（保険見直し本舗）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525600" y="1620000"/>
            <a:ext cx="1890000" cy="15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7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451600" y="2196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2847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3600" y="2196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69600" y="1620000"/>
            <a:ext cx="1890000" cy="1584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7095600" y="2196000"/>
            <a:ext cx="360000" cy="432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491600" y="1620000"/>
            <a:ext cx="1890000" cy="15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7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7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4"/>
          <p:cNvSpPr/>
          <p:nvPr/>
        </p:nvSpPr>
        <p:spPr>
          <a:xfrm>
            <a:off x="525600" y="3348000"/>
            <a:ext cx="8856000" cy="648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  <p:sp>
        <p:nvSpPr>
          <p:cNvPr id="14" name="Rounded Rectangle 12"/>
          <p:cNvSpPr/>
          <p:nvPr/>
        </p:nvSpPr>
        <p:spPr>
          <a:xfrm>
            <a:off x="525600" y="4140000"/>
            <a:ext cx="4392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0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予約数 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4989600" y="4140000"/>
            <a:ext cx="43920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0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就職支援（UZUZ）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2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面談予約率 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TextBox 19"/>
          <p:cNvSpPr txBox="1"/>
          <p:nvPr/>
        </p:nvSpPr>
        <p:spPr>
          <a:xfrm>
            <a:off x="525600" y="5903999"/>
            <a:ext cx="8856000" cy="216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導入事例（アクネクリニック・UZUZ）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