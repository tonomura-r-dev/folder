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6"/>
  </p:notesMasterIdLst>
  <p:handoutMasterIdLst>
    <p:handoutMasterId r:id="rId27"/>
  </p:handoutMasterIdLst>
  <p:sldIdLst>
    <p:sldId id="2363" r:id="rId3"/>
    <p:sldId id="2971" r:id="rId4"/>
    <p:sldId id="2972" r:id="rId5"/>
    <p:sldId id="2904" r:id="rId6"/>
    <p:sldId id="3007" r:id="rId7"/>
    <p:sldId id="2987" r:id="rId8"/>
    <p:sldId id="2999" r:id="rId9"/>
    <p:sldId id="2997" r:id="rId10"/>
    <p:sldId id="2996" r:id="rId11"/>
    <p:sldId id="2973" r:id="rId12"/>
    <p:sldId id="2977" r:id="rId13"/>
    <p:sldId id="2979" r:id="rId14"/>
    <p:sldId id="3000" r:id="rId15"/>
    <p:sldId id="2968" r:id="rId16"/>
    <p:sldId id="2908" r:id="rId17"/>
    <p:sldId id="2990" r:id="rId18"/>
    <p:sldId id="2986" r:id="rId19"/>
    <p:sldId id="2991" r:id="rId20"/>
    <p:sldId id="2989" r:id="rId21"/>
    <p:sldId id="2563" r:id="rId22"/>
    <p:sldId id="2959" r:id="rId23"/>
    <p:sldId id="2995" r:id="rId24"/>
    <p:sldId id="1169" r:id="rId2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3D0E-521D-4421-8E6F-5B072E39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A4E99E-E573-FB69-824A-6A64B973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7418EF-CD86-6501-70F8-B9DD01915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B86D95-C452-2BDC-5841-170929F80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786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E9D4-0876-C25C-8529-8B74AB55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F43F49-5B7A-3752-251E-82690E66F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3D13-39F9-D392-9C29-D9EAD3D1E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3CE111-A992-AC9F-119C-E1210F4D3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5059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6D97-D2AE-47E8-CEF6-DF7B01DB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7462C0-C3A5-BB88-91F7-226AFC224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40E553-EB2C-9ACD-C50F-CC21DD6D0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9E7342-2894-A379-2FAD-61B82347D6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7304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11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リッチメニューに人気の検索条件を並べ、LINEからワンタップで求人を探せるようにしました。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その結果、LINE経由の応募は、配信よりもリッチメニュー経由が最も多くなりました。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最多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取り組みの内容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リッチメニューに人気の検索条件を並べる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単発・日払い・在宅など、よく探される条件をボタンに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そのまま求人ページへ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条件を入れた状態の検索結果に移動し、サイトで応募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LINEを「求人を探す入口」にしたことが、応募の増加につながりました。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LINEは「条件を選ぶ入口」で、検索と応募はサイト側で行う作りです。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サイトの会員とLINEを連携し、条件別の検索結果ページへそのまま移動させています。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6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9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2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5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配信の中でクリックされた内容をもとに、友だちを自動で分けられます（LINE公式アカウントの標準機能）。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配信するたびに分け方の精度が上がり、全員に同じ内容を送らずに済みます。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・整備士の求人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・営業の求人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クリックで自動的に分かれる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→「未経験・資格取得を目指す」グループ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興味のある方にだけ届ける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整備士グループには整備士の求人を、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未経験グループには資格取得支援を。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登録時に細かく聞かなくても、クリックの履歴で興味が分かっていきます。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LINEのメリット②｜何度でも接点を持てる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広告は、クリックされた一度きりで接点が終わります。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LINEは、一度友だちになれば、広告費をかけ直さずに何度でも求人をご案内できます。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</a:t>
            </a:r>
            <a:r>
              <a:rPr sz="1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endParaRPr lang="en-US"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条件の合う求人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応募しなかった方ともつながり続ける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今すぐ応募しない方とも、友だちとしてつながり続けます。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転職を考え始めた時期に、新着求人が届きます。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一度の広告費で、何度もご案内できる「転職を検討している方のリスト」ができます。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「LINEでログイン」を使うと、LINEのアカウントでサイトの会員登録ができます。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 Profile+を使うと、氏名・電話番号などが自動で入り、確認して押すだけで登録が終わります。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入力が「確認して押すだけ」になり、会員登録のハードルを大きく下げられます。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7833"/>
            <a:ext cx="9036000" cy="30433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総合大手は、数十万〜数百万人規模でLINEを活用しています。一方、整備士特化のサービスでは、まだ少ない状況です。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応募が増えた理由は、LINEを「求人を探す入口」にしたことです。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888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貴社で再現するときに必要なもの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サイトリニューアルのタイミングなら、この仕組みを最初から入れられます。</a:t>
            </a: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貴社に当てはめると｜会員登録はLINEで、その先の応募へ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サイトリニューアルに合わせて、会員登録をLINEで完結できる形にすることをご提案します。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入力の手間がほぼなくなり、登録のハードルを大きく下げられます。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・会員登録の利用が少ない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・応募しなかった方との接点が残らない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・比較検討中の方と接点を持てない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・登録と同時にLINEの友だちになる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・応募しなかった方とも、登録者としてつながり続ける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・登録した方に、条件に合う求人を届け続けられる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会員登録（CV①）はワンタップで完了します。次の課題は、登録した方を応募（CV②）へどうつなげるかです。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リッチメニューと配信で、LINEから応募へつなげます（次ページ以降）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貴社向けの工夫｜タウンワークより手軽な登録と、整備士向けの条件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タウンワークの型をそのまま使うのではなく、貴社のサイトと求人に合わせて、2点を工夫します。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タウンワークより手軽に登録できる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888957"/>
              </p:ext>
            </p:extLst>
          </p:nvPr>
        </p:nvGraphicFramePr>
        <p:xfrm>
          <a:off x="432000" y="2015999"/>
          <a:ext cx="4391999" cy="161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ほぼなし
（Profile+で自動入力）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登録と友だち追加が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同時に完了</a:t>
                      </a:r>
                      <a:endParaRPr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リッチメニュー・配信で使う条件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・職種：整備士／営業／受付・事務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・地域：都道府県・市区町村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・未経験OK・資格取得支援あり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44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掲載中の求人を、条件で探せるようにします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全国2,134件（うち正社員・整備士946件、正社員・営業180件）の求人を、LINEから条件別に探せる入口をつくります。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「手軽な登録」と「整備士に合わせた条件」で、タウンワークの型を貴社向けに最適化します。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05794-10C5-A163-5F03-DB8F5144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友だち追加の動線｜サイトに訪れた方とLINEでつながる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サイトに訪れた方に、2つの入口からLINEの友だち（登録者）になっていただきます。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　離脱防止ポップアップ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4392000" cy="684000"/>
          </a:xfrm>
          <a:prstGeom prst="rect">
            <a:avLst/>
          </a:prstGeom>
          <a:noFill/>
        </p:spPr>
        <p:txBody>
          <a:bodyPr wrap="square" lIns="36000" tIns="21600" rIns="504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 → 「条件に合う新着求人をLINEでお届け」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chengrowth_v11_pop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45" y="2736000"/>
            <a:ext cx="4086508" cy="255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0832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　「LINEで登録」ボタン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3200" y="1944000"/>
            <a:ext cx="4392000" cy="684000"/>
          </a:xfrm>
          <a:prstGeom prst="rect">
            <a:avLst/>
          </a:prstGeom>
          <a:noFill/>
        </p:spPr>
        <p:txBody>
          <a:bodyPr wrap="square" lIns="36000" tIns="21600" rIns="504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 → 「LINEで登録（入力ほぼ不要）」 → LINE追加＋会員登録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※サイト側で実装（リニューアルの要件）</a:t>
            </a:r>
          </a:p>
        </p:txBody>
      </p:sp>
      <p:pic>
        <p:nvPicPr>
          <p:cNvPr id="10" name="Picture 9" descr="chengrowth_v11_regi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945" y="2736000"/>
            <a:ext cx="4086508" cy="255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547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応募しなかった方、サイトを離れようとした方とも、LINEでつながり続けられます。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3651825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2CEA-3068-C260-29FA-52D10FA7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リッチメニューと配信で、応募へつなげる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登録した方が「探したいとき」はリッチメニュー、「まだ検討中のとき」は配信で、応募へつなげます。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2951999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リッチメニュー（いつでも探せる入口）</a:t>
            </a:r>
          </a:p>
        </p:txBody>
      </p:sp>
      <p:pic>
        <p:nvPicPr>
          <p:cNvPr id="6" name="Picture 5" descr="chengrowth_v11_rich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949999"/>
            <a:ext cx="2951999" cy="196799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32000" y="3978000"/>
            <a:ext cx="2951999" cy="576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整備士・営業・近くの求人・資格・未経験OK・新着を、ワンタップで検索結果へ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8000" y="1548000"/>
            <a:ext cx="5947200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配信（検討中の方を応募へ）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901360"/>
              </p:ext>
            </p:extLst>
          </p:nvPr>
        </p:nvGraphicFramePr>
        <p:xfrm>
          <a:off x="3528000" y="1925999"/>
          <a:ext cx="4463999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2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9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7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</a:t>
                      </a:r>
                      <a:endParaRPr sz="105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000"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ステップ配信</a:t>
                      </a:r>
                      <a:endParaRPr sz="105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登録した方
（0〜14日）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
→応募のご案内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条件が合う新着だけ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年間の企画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友だち全員（応募済みの方を除く）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3月の山に向けて前倒し
（月4本）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 9" descr="chengrowth_v11_talk_st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994" y="1925999"/>
            <a:ext cx="1337210" cy="237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78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応募（CV②）は、リッチメニューと配信の両方から生まれます。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※画面はイメージです／開封×クリックは弊社シミュレーションの前提値</a:t>
            </a:r>
          </a:p>
        </p:txBody>
      </p:sp>
    </p:spTree>
    <p:extLst>
      <p:ext uri="{BB962C8B-B14F-4D97-AF65-F5344CB8AC3E}">
        <p14:creationId xmlns:p14="http://schemas.microsoft.com/office/powerpoint/2010/main" val="1151343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B94-34C8-7DB0-D6CB-991D39D9B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応募から採用までをつなげる｜サンクスLINE（オプション）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応募の完了画面でLINEの友だち追加を案内し、応募した方とLINEでつながります。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面談日程のリマインドで取りこぼしを防ぎ、応募の先の「採用」を増やす施策です。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5760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　応募の完了画面（サンクスLINE）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5760000" cy="540000"/>
          </a:xfrm>
          <a:prstGeom prst="rect">
            <a:avLst/>
          </a:prstGeom>
          <a:noFill/>
        </p:spPr>
        <p:txBody>
          <a:bodyPr wrap="square" lIns="36000" tIns="21600" rIns="50400" bIns="21600" anchor="t">
            <a:spAutoFit/>
          </a:bodyPr>
          <a:lstStyle/>
          <a:p>
            <a:pPr algn="l"/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 → 「今後のご連絡はLINEでお送りします」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※オプション：月5万円（初期10万円）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面談日程のリマインド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前日・当日にLINEでご案内し、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面談の無断キャンセルを防ぐ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868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よくある質問の自動応答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LINEで24時間すぐ回答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16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個別のやりとり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日程変更や相談も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電話なしでLINEで完結</a:t>
            </a:r>
          </a:p>
        </p:txBody>
      </p:sp>
      <p:pic>
        <p:nvPicPr>
          <p:cNvPr id="10" name="Picture 9" descr="chengrowth_v11_talk_th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1604" y="1548000"/>
            <a:ext cx="1863990" cy="331199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320000"/>
            <a:ext cx="5760000" cy="54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応募（CV②）の数は増やさず、応募から採用までの取りこぼしを減らす施策です。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7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応募して終わりにせず、面談・採用まで同じLINEで伴走します。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※画面はイメージです／シミュレーションの応募数・費用には含めていません（応募後の採用に効果がある施策のため）</a:t>
            </a:r>
          </a:p>
        </p:txBody>
      </p:sp>
    </p:spTree>
    <p:extLst>
      <p:ext uri="{BB962C8B-B14F-4D97-AF65-F5344CB8AC3E}">
        <p14:creationId xmlns:p14="http://schemas.microsoft.com/office/powerpoint/2010/main" val="2658526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サイトリニューアルと同時の導入をおすすめする理由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LINEの友だち・会員の情報は、始めた日からしか蓄積されません。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サイトと同時に始めれば、翌3月の転職のピークを、増えた友だちとともに迎えられます。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データを初日から蓄積できる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始めた日から蓄積される。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半年後には約700人の友だちに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（弊社シミュレーション）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3月の転職のピークに間に合う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秋までに友だちを増やしておけば、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ピークの時期にご案内できる。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友だちが増え続ける ────── 翌3月（転職のピーク）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この期間の登録者とはLINEでつながれない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LINEで応募へつなげるために、リニューアルの要件として次の3点を入れていただくことをご提案します。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登録と同時に友だち追加も完了。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LINE連携の開発は、弊社でも対応が可能です（内容に応じて都度お見積もり）。サイト制作会社様と仕様をすり合わせて進めます。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この3点が入っていれば、タウンワークの型を貴社サイトで再現できます。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Profile+は申請とLINEヤフー社の審査があるため、予算が決まり次第、早めに着手します。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友だちを増やし、ピークに備える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毎月の配信と改善を続け、3月の転職のピークに備える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会員登録（CV①）はLINEでワンタップ。登録した方を、リッチメニューと配信で応募（CV②）へつなげます。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友だちが増えるほど応募も増え、7月に応募単価が2.5万円を下回る見込みです。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464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187人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307人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709人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85件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501件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4.7万円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2.1万円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1.6万円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501件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1.6万円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月約6,100人（広告のシミュレーション確定後に差し替え）／LINEで登録＝来訪者の1.5%／費用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LINE単独のお見積もりです（サイト制作費・広告運用費とは別）。運用は弊社が担当します。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5256000" cy="2771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857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8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月23.5万円で、会員登録から応募までをLINEでつなげる仕組みを構築・運用します。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業界の人手不足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整備士・営業は、求人に対して人が大きく足りない「超売り手市場」です。担い手も増えていません。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人材が集まりにくい市場だからこそ、サイトに訪れた求職者を逃さない仕組みが効果を発揮します。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求職者の動き方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整備士は、複数の経路を併用して比べながら仕事を探しています。検索は一年を通してあり、ピークは3月です。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整備士に特化したサイトには、資格を持つ人が集まる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ピークは3月、最も少ないのは12月。差は約1.4倍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一年中、転職を考える人がいる。3月に向けて前倒しで接点を持つ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比較検討中の方を、LINEで登録者として残しておくことが大切です。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前後検索（近い業種：工場求人ナビ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求人サイトで仕事を探す方の動き方には、型があります。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自動車整備士のデータではありませんが、同じ「求人サイトの利用者」の動き方として参考にします。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工場求人ナビ_前後検索_20260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84000"/>
            <a:ext cx="5688000" cy="3318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28000" y="1584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検索前（〜前日）：広く比べる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求人サイト／求人 正社員／高収入 仕事／40代 転職／人と関わらない仕事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2700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検索当日：サイト名・具体的な求人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工場求人ナビ／日総工産／工場 求人 正社員／製造業 求人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816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検索後（翌日〜15日）：条件・評判・応募の準備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期間工 年齢制限／夜勤 体への影響／派遣社員 デメリット／○○ 評判／製造業 志望動機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1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登録した後の配信は「条件 → 評判・不安 → 応募の準備」の順番で組みます。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前後検索データ（起点KW：工場求人ナビ／2026年9月取得）※近い業種の参考。自動車整備士のデータではありません</a:t>
            </a:r>
          </a:p>
        </p:txBody>
      </p:sp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前後検索（カーディーラ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「カーディーラー」の検索前後15日間。友だち追加につながりやすいのは、検索当日〜翌日です。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その場で答えを示す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応募前の方でも気軽に登録できる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登録後に応募へつなげるコンテンツ（翌日〜14日・前後検索の関心の順番）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休み・残業・働きやすい職場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82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前後検索データ（起点KW：カーディーラー／2026-09-23取得）。色分けはDYM分類（ラベル129件）</a:t>
            </a: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143161</TotalTime>
  <Words>2012</Words>
  <Application>Microsoft Office PowerPoint</Application>
  <PresentationFormat>A4 210 x 297 mm</PresentationFormat>
  <Paragraphs>500</Paragraphs>
  <Slides>23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23</vt:i4>
      </vt:variant>
    </vt:vector>
  </HeadingPairs>
  <TitlesOfParts>
    <vt:vector size="3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1958</cp:revision>
  <cp:lastPrinted>2022-11-01T11:38:14Z</cp:lastPrinted>
  <dcterms:created xsi:type="dcterms:W3CDTF">2015-09-04T09:21:15Z</dcterms:created>
  <dcterms:modified xsi:type="dcterms:W3CDTF">2026-09-29T06:42:38Z</dcterms:modified>
</cp:coreProperties>
</file>