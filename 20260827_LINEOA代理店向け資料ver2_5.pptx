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9"/>
  </p:notesMasterIdLst>
  <p:handoutMasterIdLst>
    <p:handoutMasterId r:id="rId10"/>
  </p:handoutMasterIdLst>
  <p:sldIdLst>
    <p:sldId id="2363" r:id="rId3"/>
    <p:sldId id="2996" r:id="rId4"/>
    <p:sldId id="2913" r:id="rId5"/>
    <p:sldId id="2988" r:id="rId6"/>
    <p:sldId id="2974" r:id="rId7"/>
    <p:sldId id="2995" r:id="rId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E24-A18E-3FB1-1BEB-F78B7876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BD67E3-1B96-BBBF-6E58-9F584C1E4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15CA0F-593B-424A-AB1E-372C80A53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C1FAE7-9B14-4C23-B5D8-2C06D3E8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4932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56448" cy="768096"/>
          </a:xfrm>
          <a:prstGeom prst="rect">
            <a:avLst/>
          </a:prstGeom>
          <a:ln/>
        </p:spPr>
      </p:pic>
      <p:pic>
        <p:nvPicPr>
          <p:cNvPr id="3" name="Picture 2" descr="cov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3776"/>
            <a:ext cx="2039112" cy="274320"/>
          </a:xfrm>
          <a:prstGeom prst="rect">
            <a:avLst/>
          </a:prstGeom>
          <a:ln/>
        </p:spPr>
      </p:pic>
      <p:sp>
        <p:nvSpPr>
          <p:cNvPr id="4" name="TextBox 3"/>
          <p:cNvSpPr txBox="1"/>
          <p:nvPr/>
        </p:nvSpPr>
        <p:spPr>
          <a:xfrm>
            <a:off x="979615" y="2567366"/>
            <a:ext cx="8156447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dirty="0" err="1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最上位パートナーの知見を活用し、獲得に強い動線を構築する</a:t>
            </a:r>
            <a:endParaRPr sz="2000" b="0" dirty="0">
              <a:solidFill>
                <a:srgbClr val="7F7F7F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4208" y="3082195"/>
            <a:ext cx="6574536" cy="492443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LINE公式アカウント運用のご提案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3703320"/>
            <a:ext cx="7232904" cy="10972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19272" y="3781690"/>
            <a:ext cx="3264408" cy="53427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272" y="3898597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- 2026最新版 -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4343400"/>
            <a:ext cx="3264408" cy="402336"/>
          </a:xfrm>
          <a:prstGeom prst="rect">
            <a:avLst/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9272" y="4390679"/>
            <a:ext cx="3264408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代理店パートナー様</a:t>
            </a:r>
            <a:r>
              <a:rPr sz="2000" b="1" dirty="0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sz="2000" b="1" dirty="0" err="1">
                <a:solidFill>
                  <a:srgbClr val="40404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向け</a:t>
            </a:r>
            <a:endParaRPr sz="2000" b="1" dirty="0">
              <a:solidFill>
                <a:srgbClr val="40404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22749"/>
            <a:ext cx="62763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82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7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9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0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2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3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4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5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6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8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9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01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2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3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4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105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10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111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7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7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E371F4F6-3F93-7830-595E-799AA69EA971}"/>
              </a:ext>
            </a:extLst>
          </p:cNvPr>
          <p:cNvSpPr txBox="1"/>
          <p:nvPr/>
        </p:nvSpPr>
        <p:spPr>
          <a:xfrm>
            <a:off x="548883" y="107360"/>
            <a:ext cx="6276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実例紹介 </a:t>
            </a:r>
            <a:r>
              <a:rPr lang="en-US" altLang="ja-JP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- </a:t>
            </a: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弊社実績について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A6B81D2-7F85-D98D-ED15-FD61A806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38014"/>
              </p:ext>
            </p:extLst>
          </p:nvPr>
        </p:nvGraphicFramePr>
        <p:xfrm>
          <a:off x="381000" y="809625"/>
          <a:ext cx="9191625" cy="5485142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185607723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505763101"/>
                    </a:ext>
                  </a:extLst>
                </a:gridCol>
                <a:gridCol w="2856379">
                  <a:extLst>
                    <a:ext uri="{9D8B030D-6E8A-4147-A177-3AD203B41FA5}">
                      <a16:colId xmlns:a16="http://schemas.microsoft.com/office/drawing/2014/main" val="415261329"/>
                    </a:ext>
                  </a:extLst>
                </a:gridCol>
                <a:gridCol w="3687296">
                  <a:extLst>
                    <a:ext uri="{9D8B030D-6E8A-4147-A177-3AD203B41FA5}">
                      <a16:colId xmlns:a16="http://schemas.microsoft.com/office/drawing/2014/main" val="299197543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運用期間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施策インパクト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施策内容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3423"/>
                  </a:ext>
                </a:extLst>
              </a:tr>
              <a:tr h="10281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人材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（資格職・専門職転職）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■月間求人応募数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4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br>
                        <a:rPr lang="en-US" altLang="ja-JP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¥145,000 → ¥102,000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ユーザーセグメントの取得</a:t>
                      </a:r>
                      <a:b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・セグメント配信による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パーソナライズされた追客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78025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不動産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（住宅メーカー）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■月間来場・資料請求件数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による友だち増加促進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ペルソナに合わせた動線・クリエイティブ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の設計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117311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総合</a:t>
                      </a:r>
                      <a:r>
                        <a:rPr 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EC）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4.3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520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92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¥150,000 → ¥12,500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離脱防止バナーと</a:t>
                      </a:r>
                      <a:r>
                        <a:rPr lang="en-US" altLang="ja-JP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CPF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を活用した友だち増加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・アンケートを実施し、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カゴ落ちユーザーを中心に</a:t>
                      </a:r>
                      <a:b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期間限定商品・高単価商品の情報を配信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0092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（美肌治療）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倍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63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％改善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¥32,000 → ¥12,000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個別メッセージを利用したユーザー個々への追客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15858"/>
                  </a:ext>
                </a:extLst>
              </a:tr>
              <a:tr h="10213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美容クリニック</a:t>
                      </a:r>
                      <a:endParaRPr lang="en-US" altLang="ja-JP" sz="1200" b="1" i="0" u="none" strike="noStrike" dirty="0">
                        <a:solidFill>
                          <a:srgbClr val="191F54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ja-JP" altLang="en-US" sz="1200" b="1" i="0" u="none" strike="noStrike" dirty="0">
                          <a:solidFill>
                            <a:srgbClr val="191F54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（痩身）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lang="en-US" altLang="ja-JP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200" b="1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ヶ月</a:t>
                      </a: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■月間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CV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件数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endParaRPr lang="en-US" altLang="ja-JP" sz="2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→ 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件）</a:t>
                      </a:r>
                      <a:endParaRPr lang="en-US" altLang="ja-JP" sz="1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CPA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換算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 </a:t>
                      </a:r>
                    </a:p>
                    <a:p>
                      <a:pPr marL="88900" indent="0" algn="l" fontAlgn="ctr">
                        <a:lnSpc>
                          <a:spcPct val="100000"/>
                        </a:lnSpc>
                        <a:buNone/>
                      </a:pPr>
                      <a:r>
                        <a:rPr lang="ja-JP" altLang="en-US" sz="2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開設から</a:t>
                      </a:r>
                      <a:r>
                        <a:rPr lang="en-US" altLang="ja-JP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lang="ja-JP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万円台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</a:t>
                      </a:r>
                      <a:r>
                        <a:rPr lang="en-US" altLang="ja-JP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N/A → ¥10,700</a:t>
                      </a:r>
                      <a:r>
                        <a:rPr lang="ja-JP" altLang="en-US" sz="1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）</a:t>
                      </a:r>
                      <a:endParaRPr lang="en-US" altLang="ja-JP" sz="11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l" fontAlgn="ctr">
                        <a:buNone/>
                      </a:pP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ビフォーアフターがわかるクリエイティブ</a:t>
                      </a: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を配信</a:t>
                      </a:r>
                      <a:br>
                        <a:rPr lang="en-US" altLang="ja-JP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b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・アンケート動線を設定し、</a:t>
                      </a:r>
                      <a:r>
                        <a:rPr lang="ja-JP" altLang="en-US" sz="1200" b="1" i="0" u="sng" strike="noStrike" dirty="0">
                          <a:solidFill>
                            <a:srgbClr val="C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悩み別のシナリオを用意</a:t>
                      </a:r>
                      <a:endParaRPr lang="ja-JP" altLang="en-US" sz="1100" b="1" i="0" u="sng" strike="noStrike" dirty="0">
                        <a:solidFill>
                          <a:srgbClr val="C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120" marR="6120" marT="61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2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83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673A-9013-9BC2-61FD-9A98390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7863"/>
            <a:ext cx="8229600" cy="3077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なぜDYMか</a:t>
            </a:r>
            <a:endParaRPr sz="2000" b="1" dirty="0">
              <a:solidFill>
                <a:srgbClr val="00206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10731"/>
            <a:ext cx="8869680" cy="51706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LINEヤフー社より Sales Partner の最上位認定（Premier）を頂いています。</a:t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b="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endParaRPr lang="en-US" altLang="ja-JP" sz="12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>
              <a:lnSpc>
                <a:spcPct val="105000"/>
              </a:lnSpc>
            </a:pPr>
            <a:r>
              <a:rPr lang="ja-JP" altLang="en-US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en-US" altLang="ja-JP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r>
              <a:rPr lang="ja-JP" altLang="en-US" sz="1600" dirty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/>
            </a:r>
            <a:endParaRPr sz="1200" b="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737359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1737359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1984247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最上位認定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03037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LINEヤフー Sales Partner Premier。媒体担当との直接連携や、認定枠限定機能（広告・通知・API）を活用できます。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63239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3063239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3310127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データ起点の運用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128917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前後検索データ・媒体情報・クリエイティブ検証をもとに、配信施策を設計・改善します。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389120"/>
            <a:ext cx="892454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2377440" cy="7315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548640" y="4636008"/>
            <a:ext cx="2377440" cy="2560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設計から運用まで対応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454798"/>
            <a:ext cx="6547104" cy="60016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戦略・シナリオ設計からアカウント構築、日々の配信・改善まで一気通貫で対応します。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800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D860-D20C-DFFA-89EA-A46B82A5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DYMとの協業パターン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案件紹介のみから、提案・設計・運用の実務委託まで、貴社の体制に合わせて柔軟に対応します。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468112"/>
            <a:ext cx="8924544" cy="58521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786384" y="5637609"/>
            <a:ext cx="8449056" cy="246221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提案・設計・構築・運用まで、必要な範囲のみご依頼可能です。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A｜紹介のみ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案件をつなぐ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提案から運用まですべて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貴社の収益：紹介Fee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1188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B｜共同提案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提案・折衝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設計以降すべて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貴社の収益：運用費の分散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1600200"/>
            <a:ext cx="2852928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1600200"/>
            <a:ext cx="2852928" cy="420624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C｜フル委託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240280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貴社がやること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2496312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受注・請求（貴社名義）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118104"/>
            <a:ext cx="2578608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DYMがやること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374136"/>
            <a:ext cx="2578608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実務すべて（DYMは非表示）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4297680"/>
            <a:ext cx="2670048" cy="54864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★ 貴社の収益：代行費</a:t>
            </a:r>
          </a:p>
        </p:txBody>
      </p:sp>
    </p:spTree>
    <p:extLst>
      <p:ext uri="{BB962C8B-B14F-4D97-AF65-F5344CB8AC3E}">
        <p14:creationId xmlns:p14="http://schemas.microsoft.com/office/powerpoint/2010/main" val="14290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46304"/>
            <a:ext cx="8778240" cy="3108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lang="ja-JP" altLang="en-US" sz="20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ご費用のパターン</a:t>
            </a:r>
            <a:r>
              <a:rPr sz="20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/>
            </a:r>
            <a:endParaRPr sz="20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40664"/>
            <a:ext cx="886968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>3つのプランからお選びいただけます。</a:t>
            </a:r>
            <a:r>
              <a:rPr sz="1600" b="0" dirty="0">
                <a:solidFill>
                  <a:srgbClr val="343434"/>
                </a:solidFill>
                <a:latin typeface="メイリオ"/>
                <a:ea typeface="メイリオ"/>
                <a:cs typeface="メイリオ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9015984" cy="10972"/>
          </a:xfrm>
          <a:prstGeom prst="rect">
            <a:avLst/>
          </a:prstGeom>
          <a:solidFill>
            <a:srgbClr val="D0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パターン1｜初期構築のみ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36592"/>
            <a:ext cx="2633472" cy="713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設計・構築のみを委託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GA計測・ステップ配信等の初期設計を実施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パターン2｜コンサル・伴走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21608" y="4736592"/>
            <a:ext cx="2633472" cy="713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戦略設計から運用改善まで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企画・配信・分析・改善を継続的に支援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00200"/>
            <a:ext cx="285292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600200"/>
            <a:ext cx="2852928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パターン3｜成果報酬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7744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7004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248716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21608"/>
            <a:ext cx="2487168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成果単価×成果数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4848" y="4736592"/>
            <a:ext cx="2633472" cy="713232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固定費を抑えた成果連動型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予約・購入・問い合わせ等を成果地点として個別設計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8979408" cy="3657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※費用は設定内容・投稿数・成果地点等により変動します。アカウント費・ツール費等は別途発生する場合があります。／いずれも6か月〜のご契約です。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141667</TotalTime>
  <Words>1051</Words>
  <Application>Microsoft Office PowerPoint</Application>
  <PresentationFormat>A4 210 x 297 mm</PresentationFormat>
  <Paragraphs>178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1939</cp:revision>
  <cp:lastPrinted>2022-11-01T11:38:14Z</cp:lastPrinted>
  <dcterms:created xsi:type="dcterms:W3CDTF">2015-09-04T09:21:15Z</dcterms:created>
  <dcterms:modified xsi:type="dcterms:W3CDTF">2026-10-05T02:43:24Z</dcterms:modified>
</cp:coreProperties>
</file>