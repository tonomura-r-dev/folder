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4" r:id="rId1"/>
    <p:sldMasterId id="2147483687" r:id="rId2"/>
  </p:sldMasterIdLst>
  <p:notesMasterIdLst>
    <p:notesMasterId r:id="rId26"/>
  </p:notesMasterIdLst>
  <p:handoutMasterIdLst>
    <p:handoutMasterId r:id="rId27"/>
  </p:handoutMasterIdLst>
  <p:sldIdLst>
    <p:sldId id="2363" r:id="rId3"/>
    <p:sldId id="2971" r:id="rId4"/>
    <p:sldId id="2972" r:id="rId5"/>
    <p:sldId id="2904" r:id="rId6"/>
    <p:sldId id="3007" r:id="rId7"/>
    <p:sldId id="2987" r:id="rId8"/>
    <p:sldId id="2999" r:id="rId9"/>
    <p:sldId id="2997" r:id="rId10"/>
    <p:sldId id="2996" r:id="rId11"/>
    <p:sldId id="2973" r:id="rId12"/>
    <p:sldId id="2977" r:id="rId13"/>
    <p:sldId id="2979" r:id="rId14"/>
    <p:sldId id="3000" r:id="rId15"/>
    <p:sldId id="2968" r:id="rId16"/>
    <p:sldId id="2908" r:id="rId17"/>
    <p:sldId id="2990" r:id="rId18"/>
    <p:sldId id="2986" r:id="rId19"/>
    <p:sldId id="2991" r:id="rId20"/>
    <p:sldId id="2989" r:id="rId21"/>
    <p:sldId id="2563" r:id="rId22"/>
    <p:sldId id="2959" r:id="rId23"/>
    <p:sldId id="2995" r:id="rId24"/>
    <p:sldId id="1169" r:id="rId25"/>
  </p:sldIdLst>
  <p:sldSz cx="9906000" cy="6858000" type="A4"/>
  <p:notesSz cx="6807200" cy="9939338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158" userDrawn="1">
          <p15:clr>
            <a:srgbClr val="A4A3A4"/>
          </p15:clr>
        </p15:guide>
        <p15:guide id="2" pos="308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4FA0A"/>
    <a:srgbClr val="173559"/>
    <a:srgbClr val="FDFDFD"/>
    <a:srgbClr val="2080FF"/>
    <a:srgbClr val="1D8DFF"/>
    <a:srgbClr val="515457"/>
    <a:srgbClr val="F6A454"/>
    <a:srgbClr val="EAEEF4"/>
    <a:srgbClr val="2D6CB9"/>
    <a:srgbClr val="D1D9E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中間スタイル 2 - アクセント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B301B821-A1FF-4177-AEE7-76D212191A09}" styleName="中間スタイル 1 - アクセント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69012ECD-51FC-41F1-AA8D-1B2483CD663E}" styleName="淡色スタイル 2 - アクセント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157" autoAdjust="0"/>
    <p:restoredTop sz="94424" autoAdjust="0"/>
  </p:normalViewPr>
  <p:slideViewPr>
    <p:cSldViewPr snapToGrid="0">
      <p:cViewPr varScale="1">
        <p:scale>
          <a:sx n="110" d="100"/>
          <a:sy n="110" d="100"/>
        </p:scale>
        <p:origin x="1236" y="102"/>
      </p:cViewPr>
      <p:guideLst>
        <p:guide orient="horz" pos="3158"/>
        <p:guide pos="308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3072"/>
    </p:cViewPr>
  </p:sorterViewPr>
  <p:notesViewPr>
    <p:cSldViewPr snapToGrid="0">
      <p:cViewPr varScale="1">
        <p:scale>
          <a:sx n="79" d="100"/>
          <a:sy n="79" d="100"/>
        </p:scale>
        <p:origin x="4014" y="102"/>
      </p:cViewPr>
      <p:guideLst/>
    </p:cSldViewPr>
  </p:notesViewPr>
  <p:gridSpacing cx="1080001" cy="1080001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slide" Target="slides/slide16.xml"/><Relationship Id="rId19" Type="http://schemas.openxmlformats.org/officeDocument/2006/relationships/slide" Target="slides/slide17.xml"/><Relationship Id="rId20" Type="http://schemas.openxmlformats.org/officeDocument/2006/relationships/slide" Target="slides/slide18.xml"/><Relationship Id="rId21" Type="http://schemas.openxmlformats.org/officeDocument/2006/relationships/slide" Target="slides/slide19.xml"/><Relationship Id="rId22" Type="http://schemas.openxmlformats.org/officeDocument/2006/relationships/slide" Target="slides/slide20.xml"/><Relationship Id="rId23" Type="http://schemas.openxmlformats.org/officeDocument/2006/relationships/slide" Target="slides/slide21.xml"/><Relationship Id="rId24" Type="http://schemas.openxmlformats.org/officeDocument/2006/relationships/slide" Target="slides/slide22.xml"/><Relationship Id="rId25" Type="http://schemas.openxmlformats.org/officeDocument/2006/relationships/slide" Target="slides/slide23.xml"/><Relationship Id="rId26" Type="http://schemas.openxmlformats.org/officeDocument/2006/relationships/notesMaster" Target="notesMasters/notesMaster1.xml"/><Relationship Id="rId27" Type="http://schemas.openxmlformats.org/officeDocument/2006/relationships/handoutMaster" Target="handoutMasters/handoutMaster1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フッター プレースホルダー 3"/>
          <p:cNvSpPr>
            <a:spLocks noGrp="1"/>
          </p:cNvSpPr>
          <p:nvPr>
            <p:ph type="ftr" sz="quarter" idx="2"/>
          </p:nvPr>
        </p:nvSpPr>
        <p:spPr>
          <a:xfrm>
            <a:off x="0" y="9441662"/>
            <a:ext cx="2949420" cy="497676"/>
          </a:xfrm>
          <a:prstGeom prst="rect">
            <a:avLst/>
          </a:prstGeom>
        </p:spPr>
        <p:txBody>
          <a:bodyPr vert="horz" lIns="90561" tIns="45280" rIns="90561" bIns="4528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3"/>
          </p:nvPr>
        </p:nvSpPr>
        <p:spPr>
          <a:xfrm>
            <a:off x="3856210" y="9441662"/>
            <a:ext cx="2949420" cy="497676"/>
          </a:xfrm>
          <a:prstGeom prst="rect">
            <a:avLst/>
          </a:prstGeom>
        </p:spPr>
        <p:txBody>
          <a:bodyPr vert="horz" lIns="90561" tIns="45280" rIns="90561" bIns="45280" rtlCol="0" anchor="b"/>
          <a:lstStyle>
            <a:lvl1pPr algn="r">
              <a:defRPr sz="1200"/>
            </a:lvl1pPr>
          </a:lstStyle>
          <a:p>
            <a:fld id="{7B45B759-5475-4693-BFD4-53BF6401E48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5953079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1" y="2"/>
            <a:ext cx="2950528" cy="497524"/>
          </a:xfrm>
          <a:prstGeom prst="rect">
            <a:avLst/>
          </a:prstGeom>
        </p:spPr>
        <p:txBody>
          <a:bodyPr vert="horz" lIns="91529" tIns="45765" rIns="91529" bIns="45765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55082" y="2"/>
            <a:ext cx="2950528" cy="497524"/>
          </a:xfrm>
          <a:prstGeom prst="rect">
            <a:avLst/>
          </a:prstGeom>
        </p:spPr>
        <p:txBody>
          <a:bodyPr vert="horz" lIns="91529" tIns="45765" rIns="91529" bIns="45765" rtlCol="0"/>
          <a:lstStyle>
            <a:lvl1pPr algn="r">
              <a:defRPr sz="1200"/>
            </a:lvl1pPr>
          </a:lstStyle>
          <a:p>
            <a:fld id="{6AF8158D-F6B1-45E0-9831-E70689DC8490}" type="datetimeFigureOut">
              <a:rPr kumimoji="1" lang="ja-JP" altLang="en-US" smtClean="0"/>
              <a:t>2026/9/29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981075" y="1243013"/>
            <a:ext cx="4845050" cy="33543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529" tIns="45765" rIns="91529" bIns="45765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0402" y="4782901"/>
            <a:ext cx="5446396" cy="3913426"/>
          </a:xfrm>
          <a:prstGeom prst="rect">
            <a:avLst/>
          </a:prstGeom>
        </p:spPr>
        <p:txBody>
          <a:bodyPr vert="horz" lIns="91529" tIns="45765" rIns="91529" bIns="45765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1" y="9441817"/>
            <a:ext cx="2950528" cy="497524"/>
          </a:xfrm>
          <a:prstGeom prst="rect">
            <a:avLst/>
          </a:prstGeom>
        </p:spPr>
        <p:txBody>
          <a:bodyPr vert="horz" lIns="91529" tIns="45765" rIns="91529" bIns="45765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55082" y="9441817"/>
            <a:ext cx="2950528" cy="497524"/>
          </a:xfrm>
          <a:prstGeom prst="rect">
            <a:avLst/>
          </a:prstGeom>
        </p:spPr>
        <p:txBody>
          <a:bodyPr vert="horz" lIns="91529" tIns="45765" rIns="91529" bIns="45765" rtlCol="0" anchor="b"/>
          <a:lstStyle>
            <a:lvl1pPr algn="r">
              <a:defRPr sz="1200"/>
            </a:lvl1pPr>
          </a:lstStyle>
          <a:p>
            <a:fld id="{022E43C0-6795-4B13-B37C-259C826D4B6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409189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215D0A-BA72-DE45-32FA-363803F140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27D2F8A3-D4B3-B9E6-A613-A157696B87F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933FBD4A-B575-3375-091A-F6A24B5A9BD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4CAEAEB9-E37C-569F-CBB7-45D65E2A090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2E43C0-6795-4B13-B37C-259C826D4B6A}" type="slidenum">
              <a:rPr kumimoji="1" lang="ja-JP" altLang="en-US" smtClean="0"/>
              <a:t>2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2384761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681540-B398-8C02-E1F2-1F1C4798CC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2A82C74D-328C-FB0E-E710-C92A52BEF4B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175EB1E7-3A4C-2E0A-CA67-686800FA87A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2173A52D-F6CC-DC20-5CFE-D4EBA25ECCB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2E43C0-6795-4B13-B37C-259C826D4B6A}" type="slidenum">
              <a:rPr kumimoji="1" lang="ja-JP" altLang="en-US" smtClean="0"/>
              <a:t>3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3798680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87BDD3-88EE-99A9-AEE2-C1F41DDABD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650017B6-5C78-4075-2708-AC5DB83D5C7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8ECFD86C-83D9-B8F9-9012-A14834B2031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602F5ACB-1F4C-FA7D-D366-8DCBB1214FD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2E43C0-6795-4B13-B37C-259C826D4B6A}" type="slidenum">
              <a:rPr kumimoji="1" lang="ja-JP" altLang="en-US" smtClean="0"/>
              <a:t>6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9133521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0880EF-6C8C-B780-9BB3-1B0757C006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EDAB9840-7942-E115-501A-18129D77179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B2A1841C-729C-28E2-58FF-5212B200D2B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3C47DBBA-098F-116B-BB87-D1F9D32E060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2E43C0-6795-4B13-B37C-259C826D4B6A}" type="slidenum">
              <a:rPr kumimoji="1" lang="ja-JP" altLang="en-US" smtClean="0"/>
              <a:t>7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9081846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28432E-C2C6-89CF-C006-DD360C6CBC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EB7CA1C0-54B2-C273-9EFA-4A233AA33F5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5C6AE94C-3A31-DE43-5CF3-F8B06624D4B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C92184BA-3FBD-5E23-D138-23E1190BD57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2E43C0-6795-4B13-B37C-259C826D4B6A}" type="slidenum">
              <a:rPr kumimoji="1" lang="ja-JP" altLang="en-US" smtClean="0"/>
              <a:t>8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8384172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609F94-460F-5A9A-D53E-BD9AF25C60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0880BBC6-A0FB-42D9-3A8A-800D9E47CF3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87DCB781-2099-65DC-EA96-CC827630AFB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372154FB-F3CF-6922-2040-70A35BD97D6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2E43C0-6795-4B13-B37C-259C826D4B6A}" type="slidenum">
              <a:rPr kumimoji="1" lang="ja-JP" altLang="en-US" smtClean="0"/>
              <a:t>9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2359895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98DFB9-1A0E-AC56-86AB-C554ECA590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16E74640-8F62-6E74-5A21-E69A7415BF6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A566DD76-369D-9DB0-5CDC-B936C94EBB6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AAB7A0C4-A336-4C2C-E97A-0E6D7798D43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2E43C0-6795-4B13-B37C-259C826D4B6A}" type="slidenum">
              <a:rPr kumimoji="1" lang="ja-JP" altLang="en-US" smtClean="0"/>
              <a:t>10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4964865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2C3D0E-521D-4421-8E6F-5B072E3927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8DA4E99E-E573-FB69-824A-6A64B973F18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3C7418EF-CD86-6501-70F8-B9DD0191527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3CB86D95-C452-2BDC-5841-170929F80D7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2E43C0-6795-4B13-B37C-259C826D4B6A}" type="slidenum">
              <a:rPr kumimoji="1" lang="ja-JP" altLang="en-US" smtClean="0"/>
              <a:t>11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9478646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11E9D4-0876-C25C-8529-8B74AB559B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5CF43F49-5B7A-3752-251E-82690E66FE6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35863D13-39F9-D392-9C29-D9EAD3D1EA4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073CE111-A992-AC9F-119C-E1210F4D3DD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2E43C0-6795-4B13-B37C-259C826D4B6A}" type="slidenum">
              <a:rPr kumimoji="1" lang="ja-JP" altLang="en-US" smtClean="0"/>
              <a:t>12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5850594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A66D97-D2AE-47E8-CEF6-DF7B01DBF3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E17462C0-C3A5-BB88-91F7-226AFC22447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BD40E553-EB2C-9ACD-C50F-CC21DD6D00A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D59E7342-2894-A379-2FAD-61B82347D6F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2E43C0-6795-4B13-B37C-259C826D4B6A}" type="slidenum">
              <a:rPr kumimoji="1" lang="ja-JP" altLang="en-US" smtClean="0"/>
              <a:t>13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2973044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FBE411-4324-1BAD-C78B-91DF91FD9C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4D549732-A76E-5601-F486-7A42B1789DE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03275E6F-98B5-9B49-8F3C-8CAF75C8D6E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E553E365-D354-3F82-CA83-108FC9376A6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2E43C0-6795-4B13-B37C-259C826D4B6A}" type="slidenum">
              <a:rPr kumimoji="1" lang="ja-JP" altLang="en-US" smtClean="0"/>
              <a:t>16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81559147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9CAC78-50A4-F913-B3AF-274D32241D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47EBEBB5-128F-0CAF-8FD7-D2192091613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779E3D02-55AC-2638-9F09-898F0C8E633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B51B9F10-F34C-A78C-BAAF-5494CD58A78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2E43C0-6795-4B13-B37C-259C826D4B6A}" type="slidenum">
              <a:rPr kumimoji="1" lang="ja-JP" altLang="en-US" smtClean="0"/>
              <a:t>17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8545389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CDBF5B-1845-D193-7974-D86F6501AA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B241EA19-E230-7BF9-50E1-64D71F07CF8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00FCC320-6462-2E53-372E-51E35D6A4C3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91D45867-3EDE-BF64-D973-FA5EA5D84F7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2E43C0-6795-4B13-B37C-259C826D4B6A}" type="slidenum">
              <a:rPr kumimoji="1" lang="ja-JP" altLang="en-US" smtClean="0"/>
              <a:t>18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5149959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FB00FA-BE78-95FE-0350-A4F0396FFF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0FC15E1A-F54C-3203-065A-E98A027A099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C9AE28B8-9549-F5B4-6969-5885B85CCC6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32C20ED0-F80D-F8F8-F1CB-2D28DC68BCA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2E43C0-6795-4B13-B37C-259C826D4B6A}" type="slidenum">
              <a:rPr kumimoji="1" lang="ja-JP" altLang="en-US" smtClean="0"/>
              <a:t>22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189548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フッター プレースホルダー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defTabSz="956886">
              <a:defRPr/>
            </a:pPr>
            <a:endParaRPr lang="ja-JP" altLang="en-US">
              <a:solidFill>
                <a:prstClr val="black"/>
              </a:solidFill>
              <a:latin typeface="Calibri"/>
              <a:ea typeface="ＭＳ Ｐゴシック" panose="020B0600070205080204" pitchFamily="50" charset="-128"/>
            </a:endParaRPr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defTabSz="956886">
              <a:defRPr/>
            </a:pPr>
            <a:fld id="{929202D6-C1F5-472A-A72F-285F233F82C2}" type="slidenum">
              <a:rPr lang="ja-JP" altLang="en-US">
                <a:solidFill>
                  <a:prstClr val="black"/>
                </a:solidFill>
                <a:latin typeface="Calibri"/>
                <a:ea typeface="ＭＳ Ｐゴシック" panose="020B0600070205080204" pitchFamily="50" charset="-128"/>
              </a:rPr>
              <a:pPr defTabSz="956886">
                <a:defRPr/>
              </a:pPr>
              <a:t>23</a:t>
            </a:fld>
            <a:endParaRPr lang="ja-JP" altLang="en-US">
              <a:solidFill>
                <a:prstClr val="black"/>
              </a:solidFill>
              <a:latin typeface="Calibri"/>
              <a:ea typeface="ＭＳ Ｐゴシック" panose="020B060007020508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7920873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/>
          <p:cNvSpPr/>
          <p:nvPr userDrawn="1"/>
        </p:nvSpPr>
        <p:spPr>
          <a:xfrm>
            <a:off x="9398000" y="6591300"/>
            <a:ext cx="419100" cy="266700"/>
          </a:xfrm>
          <a:prstGeom prst="rect">
            <a:avLst/>
          </a:prstGeom>
          <a:solidFill>
            <a:srgbClr val="191F5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58107768"/>
      </p:ext>
    </p:extLst>
  </p:cSld>
  <p:clrMapOvr>
    <a:masterClrMapping/>
  </p:clrMapOvr>
  <p:hf hd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_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直線コネクタ 4"/>
          <p:cNvCxnSpPr/>
          <p:nvPr/>
        </p:nvCxnSpPr>
        <p:spPr>
          <a:xfrm>
            <a:off x="0" y="548680"/>
            <a:ext cx="9906000" cy="0"/>
          </a:xfrm>
          <a:prstGeom prst="line">
            <a:avLst/>
          </a:prstGeom>
          <a:ln>
            <a:solidFill>
              <a:srgbClr val="191F5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正方形/長方形 6"/>
          <p:cNvSpPr/>
          <p:nvPr/>
        </p:nvSpPr>
        <p:spPr>
          <a:xfrm>
            <a:off x="0" y="0"/>
            <a:ext cx="451204" cy="548680"/>
          </a:xfrm>
          <a:prstGeom prst="rect">
            <a:avLst/>
          </a:prstGeom>
          <a:solidFill>
            <a:srgbClr val="191F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180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58189266"/>
      </p:ext>
    </p:extLst>
  </p:cSld>
  <p:clrMapOvr>
    <a:masterClrMapping/>
  </p:clrMapOvr>
  <p:hf hd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85212341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Relationship Id="rId5" Type="http://schemas.openxmlformats.org/officeDocument/2006/relationships/image" Target="../media/image1.png"/><Relationship Id="rId6" Type="http://schemas.openxmlformats.org/officeDocument/2006/relationships/image" Target="../media/image2.png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image" Target="../media/image3.e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図 1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51357" y="72255"/>
            <a:ext cx="1598627" cy="424153"/>
          </a:xfrm>
          <a:prstGeom prst="rect">
            <a:avLst/>
          </a:prstGeom>
        </p:spPr>
      </p:pic>
      <p:pic>
        <p:nvPicPr>
          <p:cNvPr id="5" name="図 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51355" y="32333"/>
            <a:ext cx="1653069" cy="635796"/>
          </a:xfrm>
          <a:prstGeom prst="rect">
            <a:avLst/>
          </a:prstGeom>
        </p:spPr>
      </p:pic>
      <p:sp>
        <p:nvSpPr>
          <p:cNvPr id="6" name="正方形/長方形 5"/>
          <p:cNvSpPr/>
          <p:nvPr/>
        </p:nvSpPr>
        <p:spPr>
          <a:xfrm>
            <a:off x="0" y="6552728"/>
            <a:ext cx="9906000" cy="332656"/>
          </a:xfrm>
          <a:prstGeom prst="rect">
            <a:avLst/>
          </a:prstGeom>
          <a:solidFill>
            <a:srgbClr val="191F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1800">
              <a:solidFill>
                <a:prstClr val="white"/>
              </a:solidFill>
            </a:endParaRPr>
          </a:p>
        </p:txBody>
      </p:sp>
      <p:sp>
        <p:nvSpPr>
          <p:cNvPr id="8" name="スライド番号プレースホルダ 1"/>
          <p:cNvSpPr txBox="1">
            <a:spLocks/>
          </p:cNvSpPr>
          <p:nvPr/>
        </p:nvSpPr>
        <p:spPr>
          <a:xfrm>
            <a:off x="7594600" y="6552729"/>
            <a:ext cx="2311400" cy="365125"/>
          </a:xfrm>
          <a:prstGeom prst="rect">
            <a:avLst/>
          </a:prstGeom>
        </p:spPr>
        <p:txBody>
          <a:bodyPr/>
          <a:lstStyle>
            <a:defPPr>
              <a:defRPr lang="ja-JP"/>
            </a:defPPr>
            <a:lvl1pPr marL="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9FC100E3-15F5-4145-A942-47DB1D8B776D}" type="slidenum">
              <a:rPr lang="ja-JP" altLang="en-US" sz="1400" b="1" smtClean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pPr algn="r"/>
              <a:t>‹#›</a:t>
            </a:fld>
            <a:endParaRPr lang="ja-JP" altLang="en-US" sz="1400" b="1" dirty="0">
              <a:solidFill>
                <a:schemeClr val="bg1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</p:txBody>
      </p:sp>
      <p:sp>
        <p:nvSpPr>
          <p:cNvPr id="9" name="テキスト ボックス 8"/>
          <p:cNvSpPr txBox="1">
            <a:spLocks noChangeArrowheads="1"/>
          </p:cNvSpPr>
          <p:nvPr userDrawn="1"/>
        </p:nvSpPr>
        <p:spPr bwMode="auto">
          <a:xfrm>
            <a:off x="116569" y="6597932"/>
            <a:ext cx="3666301" cy="2154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US" altLang="ja-JP" sz="800" b="1" dirty="0">
                <a:solidFill>
                  <a:schemeClr val="bg1"/>
                </a:solidFill>
                <a:latin typeface="メイリオ"/>
                <a:ea typeface="メイリオ"/>
                <a:cs typeface="メイリオ"/>
              </a:rPr>
              <a:t>Copyright(c) DYM Co., Ltd</a:t>
            </a:r>
            <a:r>
              <a:rPr lang="ja-JP" altLang="en-US" sz="800" b="1" dirty="0" err="1">
                <a:solidFill>
                  <a:schemeClr val="bg1"/>
                </a:solidFill>
                <a:latin typeface="メイリオ"/>
                <a:ea typeface="メイリオ"/>
                <a:cs typeface="メイリオ"/>
              </a:rPr>
              <a:t>．</a:t>
            </a:r>
            <a:r>
              <a:rPr lang="en-US" altLang="ja-JP" sz="800" b="1" dirty="0">
                <a:solidFill>
                  <a:schemeClr val="bg1"/>
                </a:solidFill>
                <a:latin typeface="メイリオ"/>
                <a:ea typeface="メイリオ"/>
                <a:cs typeface="メイリオ"/>
              </a:rPr>
              <a:t>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3458703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6" r:id="rId1"/>
    <p:sldLayoutId id="2147483683" r:id="rId2"/>
    <p:sldLayoutId id="2147483689" r:id="rId3"/>
  </p:sldLayoutIdLst>
  <p:hf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pitchFamily="50" charset="-128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pitchFamily="50" charset="-128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pitchFamily="50" charset="-128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pitchFamily="50" charset="-128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pitchFamily="50" charset="-128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pitchFamily="50" charset="-128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pitchFamily="50" charset="-128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pitchFamily="50" charset="-128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kumimoji="1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»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正方形/長方形 4"/>
          <p:cNvSpPr/>
          <p:nvPr/>
        </p:nvSpPr>
        <p:spPr>
          <a:xfrm>
            <a:off x="0" y="6552728"/>
            <a:ext cx="9906000" cy="332656"/>
          </a:xfrm>
          <a:prstGeom prst="rect">
            <a:avLst/>
          </a:prstGeom>
          <a:solidFill>
            <a:srgbClr val="191F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>
              <a:solidFill>
                <a:prstClr val="white"/>
              </a:solidFill>
            </a:endParaRPr>
          </a:p>
        </p:txBody>
      </p:sp>
      <p:sp>
        <p:nvSpPr>
          <p:cNvPr id="10" name="テキスト ボックス 9"/>
          <p:cNvSpPr txBox="1">
            <a:spLocks noChangeArrowheads="1"/>
          </p:cNvSpPr>
          <p:nvPr/>
        </p:nvSpPr>
        <p:spPr bwMode="auto">
          <a:xfrm>
            <a:off x="116569" y="6597932"/>
            <a:ext cx="3666301" cy="2154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US" altLang="ja-JP" sz="800" b="1" dirty="0">
                <a:solidFill>
                  <a:prstClr val="white"/>
                </a:solidFill>
                <a:latin typeface="メイリオ"/>
                <a:ea typeface="メイリオ"/>
                <a:cs typeface="メイリオ"/>
              </a:rPr>
              <a:t>Copyright(c) DYM Co., </a:t>
            </a:r>
            <a:r>
              <a:rPr lang="en-US" altLang="ja-JP" sz="800" b="1" dirty="0" err="1">
                <a:solidFill>
                  <a:prstClr val="white"/>
                </a:solidFill>
                <a:latin typeface="メイリオ"/>
                <a:ea typeface="メイリオ"/>
                <a:cs typeface="メイリオ"/>
              </a:rPr>
              <a:t>Ltd.All</a:t>
            </a:r>
            <a:r>
              <a:rPr lang="en-US" altLang="ja-JP" sz="800" b="1" dirty="0">
                <a:solidFill>
                  <a:prstClr val="white"/>
                </a:solidFill>
                <a:latin typeface="メイリオ"/>
                <a:ea typeface="メイリオ"/>
                <a:cs typeface="メイリオ"/>
              </a:rPr>
              <a:t> Rights Reserved.</a:t>
            </a:r>
          </a:p>
        </p:txBody>
      </p:sp>
      <p:sp>
        <p:nvSpPr>
          <p:cNvPr id="8" name="正方形/長方形 7"/>
          <p:cNvSpPr/>
          <p:nvPr/>
        </p:nvSpPr>
        <p:spPr>
          <a:xfrm>
            <a:off x="0" y="0"/>
            <a:ext cx="416496" cy="548680"/>
          </a:xfrm>
          <a:prstGeom prst="rect">
            <a:avLst/>
          </a:prstGeom>
          <a:solidFill>
            <a:srgbClr val="191F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>
              <a:solidFill>
                <a:prstClr val="white"/>
              </a:solidFill>
            </a:endParaRPr>
          </a:p>
        </p:txBody>
      </p:sp>
      <p:cxnSp>
        <p:nvCxnSpPr>
          <p:cNvPr id="4" name="直線コネクタ 3"/>
          <p:cNvCxnSpPr/>
          <p:nvPr/>
        </p:nvCxnSpPr>
        <p:spPr>
          <a:xfrm>
            <a:off x="0" y="548680"/>
            <a:ext cx="9906000" cy="0"/>
          </a:xfrm>
          <a:prstGeom prst="line">
            <a:avLst/>
          </a:prstGeom>
          <a:ln>
            <a:solidFill>
              <a:srgbClr val="0032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9" name="図 1"/>
          <p:cNvPicPr>
            <a:picLocks/>
          </p:cNvPicPr>
          <p:nvPr userDrawn="1"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647" r="-11171"/>
          <a:stretch/>
        </p:blipFill>
        <p:spPr bwMode="auto">
          <a:xfrm>
            <a:off x="8619408" y="161057"/>
            <a:ext cx="1192729" cy="26331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スライド番号プレースホルダ 1"/>
          <p:cNvSpPr txBox="1">
            <a:spLocks/>
          </p:cNvSpPr>
          <p:nvPr userDrawn="1"/>
        </p:nvSpPr>
        <p:spPr>
          <a:xfrm>
            <a:off x="7545288" y="6571255"/>
            <a:ext cx="2133600" cy="216000"/>
          </a:xfrm>
          <a:prstGeom prst="rect">
            <a:avLst/>
          </a:prstGeom>
        </p:spPr>
        <p:txBody>
          <a:bodyPr tIns="25200"/>
          <a:lstStyle>
            <a:defPPr>
              <a:defRPr lang="ja-JP"/>
            </a:defPPr>
            <a:lvl1pPr marL="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9FC100E3-15F5-4145-A942-47DB1D8B776D}" type="slidenum">
              <a:rPr lang="ja-JP" altLang="en-US" sz="1400" i="1" smtClean="0">
                <a:solidFill>
                  <a:prstClr val="white"/>
                </a:solidFill>
                <a:latin typeface="Century Gothic" panose="020B0502020202020204" pitchFamily="34" charset="0"/>
              </a:rPr>
              <a:pPr algn="r"/>
              <a:t>‹#›</a:t>
            </a:fld>
            <a:endParaRPr lang="ja-JP" altLang="en-US" sz="1400" i="1" dirty="0">
              <a:solidFill>
                <a:prstClr val="white"/>
              </a:solidFill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11138245"/>
      </p:ext>
    </p:extLst>
  </p:cSld>
  <p:clrMap bg1="lt1" tx1="dk1" bg2="lt2" tx2="dk2" accent1="accent1" accent2="accent2" accent3="accent3" accent4="accent4" accent5="accent5" accent6="accent6" hlink="hlink" folHlink="folHlink"/>
  <p:hf hdr="0" dt="0"/>
  <p:txStyles>
    <p:titleStyle>
      <a:lvl1pPr algn="ctr" defTabSz="457200" rtl="0" eaLnBrk="1" fontAlgn="base" hangingPunct="1">
        <a:spcBef>
          <a:spcPct val="0"/>
        </a:spcBef>
        <a:spcAft>
          <a:spcPct val="0"/>
        </a:spcAft>
        <a:defRPr kumimoji="1" sz="4400" kern="1200">
          <a:solidFill>
            <a:schemeClr val="tx1"/>
          </a:solidFill>
          <a:latin typeface="+mj-lt"/>
          <a:ea typeface="+mj-ea"/>
          <a:cs typeface="ＭＳ Ｐゴシック" charset="0"/>
        </a:defRPr>
      </a:lvl1pPr>
      <a:lvl2pPr algn="ctr" defTabSz="457200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2pPr>
      <a:lvl3pPr algn="ctr" defTabSz="457200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3pPr>
      <a:lvl4pPr algn="ctr" defTabSz="457200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4pPr>
      <a:lvl5pPr algn="ctr" defTabSz="457200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5pPr>
      <a:lvl6pPr marL="457200" algn="ctr" defTabSz="457200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6pPr>
      <a:lvl7pPr marL="914400" algn="ctr" defTabSz="457200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7pPr>
      <a:lvl8pPr marL="1371600" algn="ctr" defTabSz="457200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8pPr>
      <a:lvl9pPr marL="1828800" algn="ctr" defTabSz="457200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kumimoji="1" sz="3200" kern="1200">
          <a:solidFill>
            <a:schemeClr val="tx1"/>
          </a:solidFill>
          <a:latin typeface="+mn-lt"/>
          <a:ea typeface="+mn-ea"/>
          <a:cs typeface="ＭＳ Ｐゴシック" charset="0"/>
        </a:defRPr>
      </a:lvl1pPr>
      <a:lvl2pPr marL="742950" indent="-28575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buChar char="»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8.png"/><Relationship Id="rId6" Type="http://schemas.openxmlformats.org/officeDocument/2006/relationships/image" Target="../media/image9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0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1.png"/><Relationship Id="rId4" Type="http://schemas.openxmlformats.org/officeDocument/2006/relationships/image" Target="../media/image1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3.png"/><Relationship Id="rId4" Type="http://schemas.openxmlformats.org/officeDocument/2006/relationships/image" Target="../media/image14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5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6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7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8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3.emf"/><Relationship Id="rId4" Type="http://schemas.openxmlformats.org/officeDocument/2006/relationships/image" Target="../media/image19.jpeg"/><Relationship Id="rId5" Type="http://schemas.openxmlformats.org/officeDocument/2006/relationships/image" Target="../media/image20.jpeg"/><Relationship Id="rId6" Type="http://schemas.openxmlformats.org/officeDocument/2006/relationships/image" Target="../media/image21.jpeg"/><Relationship Id="rId7" Type="http://schemas.openxmlformats.org/officeDocument/2006/relationships/image" Target="../media/image22.jpeg"/><Relationship Id="rId8" Type="http://schemas.openxmlformats.org/officeDocument/2006/relationships/image" Target="../media/image23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69A0322D-BA5F-9122-1E12-FB7AC2AF15A5}"/>
              </a:ext>
            </a:extLst>
          </p:cNvPr>
          <p:cNvSpPr/>
          <p:nvPr/>
        </p:nvSpPr>
        <p:spPr>
          <a:xfrm>
            <a:off x="1665887" y="2533105"/>
            <a:ext cx="6574236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ja-IS" sz="3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LINE</a:t>
            </a:r>
            <a:r>
              <a:rPr lang="ja-JP" altLang="en-US" sz="3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公式アカウント運用のご提案</a:t>
            </a:r>
            <a:endParaRPr lang="en-US" altLang="ja-IS" sz="3200" b="1" dirty="0">
              <a:solidFill>
                <a:schemeClr val="tx1">
                  <a:lumMod val="75000"/>
                  <a:lumOff val="2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3CC59398-53B4-E01E-A60C-6C13628FCBFB}"/>
              </a:ext>
            </a:extLst>
          </p:cNvPr>
          <p:cNvSpPr/>
          <p:nvPr/>
        </p:nvSpPr>
        <p:spPr>
          <a:xfrm>
            <a:off x="1613481" y="2224725"/>
            <a:ext cx="6626632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ja-JP" altLang="en-US" sz="1700" dirty="0">
                <a:solidFill>
                  <a:schemeClr val="tx1">
                    <a:lumMod val="50000"/>
                    <a:lumOff val="50000"/>
                  </a:schemeClr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―サイトリニューアルに伴うご提案―</a:t>
            </a:r>
          </a:p>
        </p:txBody>
      </p:sp>
      <p:cxnSp>
        <p:nvCxnSpPr>
          <p:cNvPr id="5" name="直線コネクタ 4">
            <a:extLst>
              <a:ext uri="{FF2B5EF4-FFF2-40B4-BE49-F238E27FC236}">
                <a16:creationId xmlns:a16="http://schemas.microsoft.com/office/drawing/2014/main" id="{B532C1C8-7FE6-8830-B27C-27941421F5F9}"/>
              </a:ext>
            </a:extLst>
          </p:cNvPr>
          <p:cNvCxnSpPr>
            <a:cxnSpLocks/>
          </p:cNvCxnSpPr>
          <p:nvPr/>
        </p:nvCxnSpPr>
        <p:spPr>
          <a:xfrm>
            <a:off x="1337175" y="3199966"/>
            <a:ext cx="7231660" cy="0"/>
          </a:xfrm>
          <a:prstGeom prst="line">
            <a:avLst/>
          </a:prstGeom>
          <a:ln w="190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図 8" descr="背景パターン&#10;&#10;AI 生成コンテンツは誤りを含む可能性があります。">
            <a:extLst>
              <a:ext uri="{FF2B5EF4-FFF2-40B4-BE49-F238E27FC236}">
                <a16:creationId xmlns:a16="http://schemas.microsoft.com/office/drawing/2014/main" id="{FFE022E1-8FF6-B4B4-B955-17E7CFA964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0"/>
            <a:ext cx="8159931" cy="766354"/>
          </a:xfrm>
          <a:prstGeom prst="rect">
            <a:avLst/>
          </a:prstGeom>
        </p:spPr>
      </p:pic>
      <p:pic>
        <p:nvPicPr>
          <p:cNvPr id="10" name="図 9" descr="背景パターン&#10;&#10;AI 生成コンテンツは誤りを含む可能性があります。">
            <a:extLst>
              <a:ext uri="{FF2B5EF4-FFF2-40B4-BE49-F238E27FC236}">
                <a16:creationId xmlns:a16="http://schemas.microsoft.com/office/drawing/2014/main" id="{0F2999B3-5873-C495-70F5-12487911C6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63840" y="494114"/>
            <a:ext cx="2042161" cy="272239"/>
          </a:xfrm>
          <a:prstGeom prst="rect">
            <a:avLst/>
          </a:prstGeom>
        </p:spPr>
      </p:pic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7170AE42-913D-895E-A1DE-6A899FE53370}"/>
              </a:ext>
            </a:extLst>
          </p:cNvPr>
          <p:cNvSpPr txBox="1"/>
          <p:nvPr/>
        </p:nvSpPr>
        <p:spPr>
          <a:xfrm>
            <a:off x="291974" y="263665"/>
            <a:ext cx="496582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16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株式会社チェングロウス 御中</a:t>
            </a:r>
          </a:p>
        </p:txBody>
      </p:sp>
      <p:pic>
        <p:nvPicPr>
          <p:cNvPr id="11" name="Picture 10" descr="chengrowth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13000" y="3478502"/>
            <a:ext cx="2880000" cy="3371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45980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6A8E8E-25CB-4B86-C4F6-E5A7023586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7200" y="136800"/>
            <a:ext cx="8784000" cy="338400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/>
            <a:r>
              <a:rPr sz="16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求人メディアのLINE活用事例｜タウンワーク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2000" y="648000"/>
            <a:ext cx="9036000" cy="684000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リッチメニューに人気の検索条件を並べ、LINEからワンタップで求人を探せるようにしました。</a:t>
            </a:r>
          </a:p>
          <a:p>
            <a:pPr algn="l">
              <a:lnSpc>
                <a:spcPct val="130000"/>
              </a:lnSpc>
            </a:pPr>
            <a:r>
              <a:rPr sz="12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その結果、LINE経由の応募は、配信よりもリッチメニュー経由が最も多くなりました。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0" y="1389600"/>
            <a:ext cx="9907200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432000" y="1620000"/>
            <a:ext cx="2844000" cy="1655999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400" tIns="21600" rIns="50400" bIns="21600" rtlCol="0" anchor="ctr"/>
          <a:lstStyle/>
          <a:p>
            <a:pPr algn="ctr">
              <a:spcAft>
                <a:spcPts val="600"/>
              </a:spcAft>
            </a:pPr>
            <a:r>
              <a:rPr sz="13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応募数</a:t>
            </a:r>
          </a:p>
          <a:p>
            <a:pPr algn="ctr">
              <a:spcAft>
                <a:spcPts val="600"/>
              </a:spcAft>
            </a:pPr>
            <a:r>
              <a:rPr sz="4000" b="1">
                <a:solidFill>
                  <a:srgbClr val="ED7D31"/>
                </a:solidFill>
                <a:latin typeface="メイリオ"/>
                <a:ea typeface="メイリオ"/>
                <a:cs typeface="メイリオ"/>
              </a:rPr>
              <a:t>＋79%</a:t>
            </a:r>
          </a:p>
          <a:p>
            <a:pPr algn="ctr"/>
            <a:r>
              <a:rPr sz="11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LINEからの応募が大きく増加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531599" y="1620000"/>
            <a:ext cx="2844000" cy="1655999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400" tIns="21600" rIns="50400" bIns="21600" rtlCol="0" anchor="ctr"/>
          <a:lstStyle/>
          <a:p>
            <a:pPr algn="ctr">
              <a:spcAft>
                <a:spcPts val="600"/>
              </a:spcAft>
            </a:pPr>
            <a:r>
              <a:rPr sz="13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リッチメニューのタップ数</a:t>
            </a:r>
          </a:p>
          <a:p>
            <a:pPr algn="ctr">
              <a:spcAft>
                <a:spcPts val="600"/>
              </a:spcAft>
            </a:pPr>
            <a:r>
              <a:rPr sz="4000" b="1">
                <a:solidFill>
                  <a:srgbClr val="ED7D31"/>
                </a:solidFill>
                <a:latin typeface="メイリオ"/>
                <a:ea typeface="メイリオ"/>
                <a:cs typeface="メイリオ"/>
              </a:rPr>
              <a:t>＋20%</a:t>
            </a:r>
          </a:p>
          <a:p>
            <a:pPr algn="ctr"/>
            <a:r>
              <a:rPr sz="11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探す入口として使われるように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631199" y="1620000"/>
            <a:ext cx="2844000" cy="1655999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400" tIns="21600" rIns="50400" bIns="21600" rtlCol="0" anchor="ctr"/>
          <a:lstStyle/>
          <a:p>
            <a:pPr algn="ctr">
              <a:spcAft>
                <a:spcPts val="600"/>
              </a:spcAft>
            </a:pPr>
            <a:r>
              <a:rPr sz="13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リッチメニュー経由の応募</a:t>
            </a:r>
          </a:p>
          <a:p>
            <a:pPr algn="ctr">
              <a:spcAft>
                <a:spcPts val="600"/>
              </a:spcAft>
            </a:pPr>
            <a:r>
              <a:rPr sz="4000" b="1">
                <a:solidFill>
                  <a:srgbClr val="ED7D31"/>
                </a:solidFill>
                <a:latin typeface="メイリオ"/>
                <a:ea typeface="メイリオ"/>
                <a:cs typeface="メイリオ"/>
              </a:rPr>
              <a:t>最多</a:t>
            </a:r>
          </a:p>
          <a:p>
            <a:pPr algn="ctr"/>
            <a:r>
              <a:rPr sz="11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LINE経由の応募の中で、配信より多い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2000" y="3456000"/>
            <a:ext cx="9043200" cy="288000"/>
          </a:xfrm>
          <a:prstGeom prst="rect">
            <a:avLst/>
          </a:prstGeom>
          <a:noFill/>
        </p:spPr>
        <p:txBody>
          <a:bodyPr wrap="square" lIns="0" tIns="21600" rIns="50400" bIns="21600" anchor="t">
            <a:spAutoFit/>
          </a:bodyPr>
          <a:lstStyle/>
          <a:p>
            <a:pPr algn="l"/>
            <a:r>
              <a:rPr sz="13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取り組みの内容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2000" y="3780000"/>
            <a:ext cx="2844000" cy="14040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5999" tIns="90000" rIns="108000" bIns="54000" rtlCol="0" anchor="t"/>
          <a:lstStyle/>
          <a:p>
            <a:pPr algn="l">
              <a:spcAft>
                <a:spcPts val="500"/>
              </a:spcAft>
            </a:pPr>
            <a:r>
              <a:rPr sz="1250" b="1" dirty="0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1　</a:t>
            </a:r>
            <a:r>
              <a:rPr sz="1250" b="1" dirty="0" err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リッチメニューに人気の検索条件を並べる</a:t>
            </a:r>
            <a:endParaRPr sz="1250" b="1" dirty="0">
              <a:solidFill>
                <a:srgbClr val="1F285A"/>
              </a:solidFill>
              <a:latin typeface="メイリオ"/>
              <a:ea typeface="メイリオ"/>
              <a:cs typeface="メイリオ"/>
            </a:endParaRP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5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単発・日払い・在宅など、よく探される</a:t>
            </a:r>
            <a:endParaRPr lang="en-US" sz="105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5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条件をボタンに</a:t>
            </a:r>
            <a:endParaRPr sz="105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</p:txBody>
      </p:sp>
      <p:sp>
        <p:nvSpPr>
          <p:cNvPr id="10" name="Right Arrow 9"/>
          <p:cNvSpPr/>
          <p:nvPr/>
        </p:nvSpPr>
        <p:spPr>
          <a:xfrm>
            <a:off x="3283199" y="4320000"/>
            <a:ext cx="237600" cy="288000"/>
          </a:xfrm>
          <a:prstGeom prst="rightArrow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3531599" y="3780000"/>
            <a:ext cx="2844000" cy="14040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5999" tIns="90000" rIns="108000" bIns="54000" rtlCol="0" anchor="t"/>
          <a:lstStyle/>
          <a:p>
            <a:pPr algn="l">
              <a:spcAft>
                <a:spcPts val="500"/>
              </a:spcAft>
            </a:pPr>
            <a:r>
              <a:rPr sz="12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2　トークで条件を選ぶと、求人が表示される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選んだ条件に合う求人がカード形式で並ぶ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6382800" y="4320000"/>
            <a:ext cx="237600" cy="288000"/>
          </a:xfrm>
          <a:prstGeom prst="rightArrow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6631199" y="3780000"/>
            <a:ext cx="2844000" cy="14040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5999" tIns="90000" rIns="108000" bIns="54000" rtlCol="0" anchor="t"/>
          <a:lstStyle/>
          <a:p>
            <a:pPr algn="l">
              <a:spcAft>
                <a:spcPts val="500"/>
              </a:spcAft>
            </a:pPr>
            <a:r>
              <a:rPr sz="1250" b="1" dirty="0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3　</a:t>
            </a:r>
            <a:r>
              <a:rPr sz="1250" b="1" dirty="0" err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そのまま求人ページへ</a:t>
            </a:r>
            <a:endParaRPr sz="1250" b="1" dirty="0">
              <a:solidFill>
                <a:srgbClr val="1F285A"/>
              </a:solidFill>
              <a:latin typeface="メイリオ"/>
              <a:ea typeface="メイリオ"/>
              <a:cs typeface="メイリオ"/>
            </a:endParaRP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5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条件を入れた状態の検索結果に移動</a:t>
            </a:r>
            <a:endParaRPr lang="en-US" sz="105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lang="ja-JP" altLang="en-US" sz="105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→</a:t>
            </a:r>
            <a:r>
              <a:rPr sz="105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サイトで応募</a:t>
            </a:r>
            <a:endParaRPr sz="105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432000" y="5400000"/>
            <a:ext cx="9043200" cy="432000"/>
          </a:xfrm>
          <a:prstGeom prst="roundRect">
            <a:avLst>
              <a:gd name="adj" fmla="val 10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8000" tIns="0" rIns="108000" bIns="0" rtlCol="0" anchor="ctr"/>
          <a:lstStyle/>
          <a:p>
            <a:pPr algn="ctr">
              <a:lnSpc>
                <a:spcPct val="125000"/>
              </a:lnSpc>
            </a:pPr>
            <a:r>
              <a:rPr sz="13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LINEを「求人を探す入口」にしたことが、応募の増加につながりました。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2000" y="6246000"/>
            <a:ext cx="9043200" cy="324000"/>
          </a:xfrm>
          <a:prstGeom prst="rect">
            <a:avLst/>
          </a:prstGeom>
          <a:noFill/>
        </p:spPr>
        <p:txBody>
          <a:bodyPr wrap="square" lIns="0" tIns="21600" rIns="0" bIns="216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5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出典：LINEヤフー for Business 導入事例（タウンワーク・2019年公開）</a:t>
            </a:r>
          </a:p>
        </p:txBody>
      </p:sp>
    </p:spTree>
    <p:extLst>
      <p:ext uri="{BB962C8B-B14F-4D97-AF65-F5344CB8AC3E}">
        <p14:creationId xmlns:p14="http://schemas.microsoft.com/office/powerpoint/2010/main" val="23784845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0E5221-666F-DE20-B9E8-FDFC607CC2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7200" y="136800"/>
            <a:ext cx="8784000" cy="338400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/>
            <a:r>
              <a:rPr sz="16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タウンワークの実際の画面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2000" y="648000"/>
            <a:ext cx="9036000" cy="684000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LINEは「条件を選ぶ入口」で、検索と応募はサイト側で行う作りです。</a:t>
            </a:r>
          </a:p>
          <a:p>
            <a:pPr algn="l">
              <a:lnSpc>
                <a:spcPct val="130000"/>
              </a:lnSpc>
            </a:pPr>
            <a:r>
              <a:rPr sz="12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サイトの会員とLINEを連携し、条件別の検索結果ページへそのまま移動させています。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0" y="1389600"/>
            <a:ext cx="9907200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432000" y="1548000"/>
            <a:ext cx="1764000" cy="288000"/>
          </a:xfrm>
          <a:prstGeom prst="roundRect">
            <a:avLst>
              <a:gd name="adj" fmla="val 18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0" rIns="36000" bIns="0" rtlCol="0" anchor="ctr"/>
          <a:lstStyle/>
          <a:p>
            <a:pPr algn="ctr"/>
            <a:r>
              <a:rPr sz="115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1　あいさつ</a:t>
            </a:r>
          </a:p>
        </p:txBody>
      </p:sp>
      <p:pic>
        <p:nvPicPr>
          <p:cNvPr id="6" name="Picture 5" descr="1_あいさつ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2341" y="1890000"/>
            <a:ext cx="1763318" cy="3816000"/>
          </a:xfrm>
          <a:prstGeom prst="rect">
            <a:avLst/>
          </a:prstGeom>
          <a:ln>
            <a:solidFill>
              <a:srgbClr val="D9D9D9"/>
            </a:solidFill>
          </a:ln>
        </p:spPr>
      </p:pic>
      <p:sp>
        <p:nvSpPr>
          <p:cNvPr id="7" name="TextBox 6"/>
          <p:cNvSpPr txBox="1"/>
          <p:nvPr/>
        </p:nvSpPr>
        <p:spPr>
          <a:xfrm>
            <a:off x="323999" y="5742000"/>
            <a:ext cx="1980000" cy="468000"/>
          </a:xfrm>
          <a:prstGeom prst="rect">
            <a:avLst/>
          </a:prstGeom>
          <a:noFill/>
        </p:spPr>
        <p:txBody>
          <a:bodyPr wrap="square" lIns="0" tIns="21600" rIns="0" bIns="21600" anchor="t">
            <a:spAutoFit/>
          </a:bodyPr>
          <a:lstStyle/>
          <a:p>
            <a:pPr algn="ctr"/>
            <a:r>
              <a:rPr sz="10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条件に合う求人を受け取るための</a:t>
            </a:r>
          </a:p>
          <a:p>
            <a:pPr algn="ctr"/>
            <a:r>
              <a:rPr sz="10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会員連携を案内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858400" y="1548000"/>
            <a:ext cx="1764000" cy="288000"/>
          </a:xfrm>
          <a:prstGeom prst="roundRect">
            <a:avLst>
              <a:gd name="adj" fmla="val 18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0" rIns="36000" bIns="0" rtlCol="0" anchor="ctr"/>
          <a:lstStyle/>
          <a:p>
            <a:pPr algn="ctr"/>
            <a:r>
              <a:rPr sz="115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2　リッチメニュー</a:t>
            </a:r>
          </a:p>
        </p:txBody>
      </p:sp>
      <p:pic>
        <p:nvPicPr>
          <p:cNvPr id="9" name="Picture 8" descr="2_リッチメニュー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58741" y="1890000"/>
            <a:ext cx="1763318" cy="3816000"/>
          </a:xfrm>
          <a:prstGeom prst="rect">
            <a:avLst/>
          </a:prstGeom>
          <a:ln>
            <a:solidFill>
              <a:srgbClr val="D9D9D9"/>
            </a:solidFill>
          </a:ln>
        </p:spPr>
      </p:pic>
      <p:sp>
        <p:nvSpPr>
          <p:cNvPr id="10" name="TextBox 9"/>
          <p:cNvSpPr txBox="1"/>
          <p:nvPr/>
        </p:nvSpPr>
        <p:spPr>
          <a:xfrm>
            <a:off x="2750400" y="5742000"/>
            <a:ext cx="1980000" cy="468000"/>
          </a:xfrm>
          <a:prstGeom prst="rect">
            <a:avLst/>
          </a:prstGeom>
          <a:noFill/>
        </p:spPr>
        <p:txBody>
          <a:bodyPr wrap="square" lIns="0" tIns="21600" rIns="0" bIns="21600" anchor="t">
            <a:spAutoFit/>
          </a:bodyPr>
          <a:lstStyle/>
          <a:p>
            <a:pPr algn="ctr"/>
            <a:r>
              <a:rPr sz="10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時間帯・学生歓迎などの</a:t>
            </a:r>
          </a:p>
          <a:p>
            <a:pPr algn="ctr"/>
            <a:r>
              <a:rPr sz="10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条件がワンタップ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284800" y="1548000"/>
            <a:ext cx="1764000" cy="288000"/>
          </a:xfrm>
          <a:prstGeom prst="roundRect">
            <a:avLst>
              <a:gd name="adj" fmla="val 18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0" rIns="36000" bIns="0" rtlCol="0" anchor="ctr"/>
          <a:lstStyle/>
          <a:p>
            <a:pPr algn="ctr"/>
            <a:r>
              <a:rPr sz="115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3　移動先のサイト</a:t>
            </a:r>
          </a:p>
        </p:txBody>
      </p:sp>
      <p:pic>
        <p:nvPicPr>
          <p:cNvPr id="12" name="Picture 11" descr="3_遷移先サイト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85141" y="1890000"/>
            <a:ext cx="1763318" cy="3816000"/>
          </a:xfrm>
          <a:prstGeom prst="rect">
            <a:avLst/>
          </a:prstGeom>
          <a:ln>
            <a:solidFill>
              <a:srgbClr val="D9D9D9"/>
            </a:solidFill>
          </a:ln>
        </p:spPr>
      </p:pic>
      <p:sp>
        <p:nvSpPr>
          <p:cNvPr id="13" name="TextBox 12"/>
          <p:cNvSpPr txBox="1"/>
          <p:nvPr/>
        </p:nvSpPr>
        <p:spPr>
          <a:xfrm>
            <a:off x="5176800" y="5742000"/>
            <a:ext cx="1980000" cy="468000"/>
          </a:xfrm>
          <a:prstGeom prst="rect">
            <a:avLst/>
          </a:prstGeom>
          <a:noFill/>
        </p:spPr>
        <p:txBody>
          <a:bodyPr wrap="square" lIns="0" tIns="21600" rIns="0" bIns="21600" anchor="t">
            <a:spAutoFit/>
          </a:bodyPr>
          <a:lstStyle/>
          <a:p>
            <a:pPr algn="ctr"/>
            <a:r>
              <a:rPr sz="10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条件を入れた状態の</a:t>
            </a:r>
          </a:p>
          <a:p>
            <a:pPr algn="ctr"/>
            <a:r>
              <a:rPr sz="10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検索結果ページ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11199" y="1548000"/>
            <a:ext cx="1764000" cy="288000"/>
          </a:xfrm>
          <a:prstGeom prst="roundRect">
            <a:avLst>
              <a:gd name="adj" fmla="val 18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0" rIns="36000" bIns="0" rtlCol="0" anchor="ctr"/>
          <a:lstStyle/>
          <a:p>
            <a:pPr algn="ctr"/>
            <a:r>
              <a:rPr sz="115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4　会員連携の画面</a:t>
            </a:r>
          </a:p>
        </p:txBody>
      </p:sp>
      <p:pic>
        <p:nvPicPr>
          <p:cNvPr id="15" name="Picture 14" descr="4_連携リンク先_リクルートIDログイン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11541" y="1890000"/>
            <a:ext cx="1763318" cy="3816000"/>
          </a:xfrm>
          <a:prstGeom prst="rect">
            <a:avLst/>
          </a:prstGeom>
          <a:ln>
            <a:solidFill>
              <a:srgbClr val="D9D9D9"/>
            </a:solidFill>
          </a:ln>
        </p:spPr>
      </p:pic>
      <p:sp>
        <p:nvSpPr>
          <p:cNvPr id="16" name="TextBox 15"/>
          <p:cNvSpPr txBox="1"/>
          <p:nvPr/>
        </p:nvSpPr>
        <p:spPr>
          <a:xfrm>
            <a:off x="7603199" y="5742000"/>
            <a:ext cx="1980000" cy="468000"/>
          </a:xfrm>
          <a:prstGeom prst="rect">
            <a:avLst/>
          </a:prstGeom>
          <a:noFill/>
        </p:spPr>
        <p:txBody>
          <a:bodyPr wrap="square" lIns="0" tIns="21600" rIns="0" bIns="21600" anchor="t">
            <a:spAutoFit/>
          </a:bodyPr>
          <a:lstStyle/>
          <a:p>
            <a:pPr algn="ctr"/>
            <a:r>
              <a:rPr sz="10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リクルートIDでログイン</a:t>
            </a:r>
          </a:p>
          <a:p>
            <a:pPr algn="ctr"/>
            <a:r>
              <a:rPr sz="10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（メール＋パスワード）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2000" y="6246000"/>
            <a:ext cx="9043200" cy="324000"/>
          </a:xfrm>
          <a:prstGeom prst="rect">
            <a:avLst/>
          </a:prstGeom>
          <a:noFill/>
        </p:spPr>
        <p:txBody>
          <a:bodyPr wrap="square" lIns="0" tIns="21600" rIns="0" bIns="216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5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画面：タウンワーク LINE公式アカウント（2026年9月 弊社確認）</a:t>
            </a:r>
          </a:p>
        </p:txBody>
      </p:sp>
    </p:spTree>
    <p:extLst>
      <p:ext uri="{BB962C8B-B14F-4D97-AF65-F5344CB8AC3E}">
        <p14:creationId xmlns:p14="http://schemas.microsoft.com/office/powerpoint/2010/main" val="17159093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7200" y="136800"/>
            <a:ext cx="8784000" cy="338400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/>
            <a:r>
              <a:rPr sz="16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LINEのメリット①｜興味別に届けられる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2000" y="725334"/>
            <a:ext cx="9036000" cy="529332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配信の中でクリックされた内容をもとに、友だちを自動で分けられ</a:t>
            </a:r>
            <a:r>
              <a:rPr lang="ja-JP" altLang="en-US" sz="125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ます</a:t>
            </a:r>
            <a:endParaRPr sz="125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  <a:p>
            <a:pPr algn="l">
              <a:lnSpc>
                <a:spcPct val="130000"/>
              </a:lnSpc>
            </a:pPr>
            <a:r>
              <a:rPr sz="125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配信するたびに分け方の精度が上がり、全員に同じ内容を送らずに済みます</a:t>
            </a:r>
            <a:r>
              <a:rPr sz="125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。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0" y="1389600"/>
            <a:ext cx="9907200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432000" y="1620000"/>
            <a:ext cx="2232000" cy="324000"/>
          </a:xfrm>
          <a:prstGeom prst="roundRect">
            <a:avLst>
              <a:gd name="adj" fmla="val 18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0" rIns="3600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STEP1　配信する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2000" y="1980000"/>
            <a:ext cx="2232000" cy="25920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5999" tIns="90000" rIns="108000" bIns="54000" rtlCol="0" anchor="t"/>
          <a:lstStyle/>
          <a:p>
            <a:pPr algn="l">
              <a:spcAft>
                <a:spcPts val="500"/>
              </a:spcAft>
            </a:pPr>
            <a:r>
              <a:rPr sz="12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新着求人のお知らせ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・整備士の求人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・営業の求人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・未経験OK・資格取得支援の求人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3つの求人を1通で届ける</a:t>
            </a:r>
          </a:p>
        </p:txBody>
      </p:sp>
      <p:sp>
        <p:nvSpPr>
          <p:cNvPr id="7" name="Right Arrow 6"/>
          <p:cNvSpPr/>
          <p:nvPr/>
        </p:nvSpPr>
        <p:spPr>
          <a:xfrm>
            <a:off x="2772000" y="3096000"/>
            <a:ext cx="324000" cy="324000"/>
          </a:xfrm>
          <a:prstGeom prst="rightArrow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3240000" y="1620000"/>
            <a:ext cx="2988000" cy="324000"/>
          </a:xfrm>
          <a:prstGeom prst="roundRect">
            <a:avLst>
              <a:gd name="adj" fmla="val 18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0" rIns="3600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STEP2　クリックで自動的に分かれる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40000" y="1980000"/>
            <a:ext cx="2988000" cy="8100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5999" tIns="90000" rIns="108000" bIns="54000" rtlCol="0" anchor="t"/>
          <a:lstStyle/>
          <a:p>
            <a:pPr algn="l">
              <a:spcAft>
                <a:spcPts val="500"/>
              </a:spcAft>
            </a:pPr>
            <a:r>
              <a:rPr sz="11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整備士の求人をクリック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→「整備士に興味」のグループ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40000" y="2862000"/>
            <a:ext cx="2988000" cy="8100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5999" tIns="90000" rIns="108000" bIns="54000" rtlCol="0" anchor="t"/>
          <a:lstStyle/>
          <a:p>
            <a:pPr algn="l">
              <a:spcAft>
                <a:spcPts val="500"/>
              </a:spcAft>
            </a:pPr>
            <a:r>
              <a:rPr sz="11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営業の求人をクリック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→「営業に興味」のグループ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240000" y="3744000"/>
            <a:ext cx="2988000" cy="8100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5999" tIns="90000" rIns="108000" bIns="54000" rtlCol="0" anchor="t"/>
          <a:lstStyle/>
          <a:p>
            <a:pPr algn="l">
              <a:spcAft>
                <a:spcPts val="500"/>
              </a:spcAft>
            </a:pPr>
            <a:r>
              <a:rPr sz="11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資格取得支援をクリック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→「未経験・資格取得を目指す」グループ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6390000" y="3096000"/>
            <a:ext cx="324000" cy="324000"/>
          </a:xfrm>
          <a:prstGeom prst="rightArrow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6840000" y="1620000"/>
            <a:ext cx="2635200" cy="324000"/>
          </a:xfrm>
          <a:prstGeom prst="roundRect">
            <a:avLst>
              <a:gd name="adj" fmla="val 18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0" rIns="3600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STEP3　興味のある方にだけ届ける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40000" y="1980000"/>
            <a:ext cx="2635200" cy="2592000"/>
          </a:xfrm>
          <a:prstGeom prst="roundRect">
            <a:avLst>
              <a:gd name="adj" fmla="val 6000"/>
            </a:avLst>
          </a:prstGeom>
          <a:solidFill>
            <a:srgbClr val="FCE4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5999" tIns="90000" rIns="108000" bIns="54000" rtlCol="0" anchor="t"/>
          <a:lstStyle/>
          <a:p>
            <a:pPr algn="l">
              <a:spcAft>
                <a:spcPts val="500"/>
              </a:spcAft>
            </a:pPr>
            <a:r>
              <a:rPr sz="1250" b="1" dirty="0" err="1">
                <a:solidFill>
                  <a:srgbClr val="ED7D31"/>
                </a:solidFill>
                <a:latin typeface="メイリオ"/>
                <a:ea typeface="メイリオ"/>
                <a:cs typeface="メイリオ"/>
              </a:rPr>
              <a:t>次の配信から</a:t>
            </a:r>
            <a:endParaRPr sz="1250" b="1" dirty="0">
              <a:solidFill>
                <a:srgbClr val="ED7D31"/>
              </a:solidFill>
              <a:latin typeface="メイリオ"/>
              <a:ea typeface="メイリオ"/>
              <a:cs typeface="メイリオ"/>
            </a:endParaRP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5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整備士グループには整備士の求人</a:t>
            </a:r>
            <a:endParaRPr sz="115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5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未経験グループには資格取得支援</a:t>
            </a:r>
            <a:r>
              <a:rPr lang="ja-JP" altLang="en-US" sz="115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　</a:t>
            </a:r>
            <a:endParaRPr lang="en-US" altLang="ja-JP" sz="115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endParaRPr sz="30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5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興味のない案内が減るので</a:t>
            </a:r>
            <a:r>
              <a:rPr sz="115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、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5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ブロックされにくくなります</a:t>
            </a:r>
            <a:r>
              <a:rPr sz="115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2000" y="4896000"/>
            <a:ext cx="9043200" cy="432000"/>
          </a:xfrm>
          <a:prstGeom prst="roundRect">
            <a:avLst>
              <a:gd name="adj" fmla="val 10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8000" tIns="0" rIns="108000" bIns="0" rtlCol="0" anchor="ctr"/>
          <a:lstStyle/>
          <a:p>
            <a:pPr algn="ctr">
              <a:lnSpc>
                <a:spcPct val="125000"/>
              </a:lnSpc>
            </a:pPr>
            <a:r>
              <a:rPr sz="13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登録時に細かく聞かなくても、クリックの履歴で興味が分かっていきます。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2000" y="6246000"/>
            <a:ext cx="9043200" cy="324000"/>
          </a:xfrm>
          <a:prstGeom prst="rect">
            <a:avLst/>
          </a:prstGeom>
          <a:noFill/>
        </p:spPr>
        <p:txBody>
          <a:bodyPr wrap="square" lIns="0" tIns="21600" rIns="0" bIns="216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5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※LINE公式アカウント管理画面の「オーディエンス」機能（クリックリターゲティング）を使用</a:t>
            </a:r>
          </a:p>
        </p:txBody>
      </p:sp>
    </p:spTree>
    <p:extLst>
      <p:ext uri="{BB962C8B-B14F-4D97-AF65-F5344CB8AC3E}">
        <p14:creationId xmlns:p14="http://schemas.microsoft.com/office/powerpoint/2010/main" val="393999798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7200" y="161078"/>
            <a:ext cx="8784000" cy="289843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/>
            <a:r>
              <a:rPr sz="1600" b="1" dirty="0" err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LINEのメリット</a:t>
            </a:r>
            <a:r>
              <a:rPr sz="1600" b="1" dirty="0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②｜</a:t>
            </a:r>
            <a:r>
              <a:rPr lang="ja-JP" altLang="en-US" sz="1600" b="1" dirty="0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半永久的に</a:t>
            </a:r>
            <a:r>
              <a:rPr sz="1600" b="1" dirty="0" err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接点を持てる</a:t>
            </a:r>
            <a:endParaRPr sz="1600" b="1" dirty="0">
              <a:solidFill>
                <a:srgbClr val="002060"/>
              </a:solidFill>
              <a:latin typeface="メイリオ"/>
              <a:ea typeface="メイリオ"/>
              <a:cs typeface="メイリオ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432000" y="648000"/>
            <a:ext cx="9036000" cy="684000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広告は、クリックされた一度きりで接点が終わります。</a:t>
            </a:r>
          </a:p>
          <a:p>
            <a:pPr algn="l">
              <a:lnSpc>
                <a:spcPct val="130000"/>
              </a:lnSpc>
            </a:pPr>
            <a:r>
              <a:rPr sz="12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LINEは、一度友だちになれば、広告費をかけ直さずに何度でも求人をご案内できます。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0" y="1389600"/>
            <a:ext cx="9907200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32000" y="1655999"/>
            <a:ext cx="936000" cy="432000"/>
          </a:xfrm>
          <a:prstGeom prst="rect">
            <a:avLst/>
          </a:prstGeom>
          <a:noFill/>
        </p:spPr>
        <p:txBody>
          <a:bodyPr wrap="square" lIns="0" tIns="21600" rIns="50400" bIns="21600" anchor="ctr">
            <a:spAutoFit/>
          </a:bodyPr>
          <a:lstStyle/>
          <a:p>
            <a:pPr algn="l"/>
            <a:r>
              <a:rPr sz="14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広告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440000" y="1655999"/>
            <a:ext cx="1655999" cy="432000"/>
          </a:xfrm>
          <a:prstGeom prst="roundRect">
            <a:avLst>
              <a:gd name="adj" fmla="val 18000"/>
            </a:avLst>
          </a:prstGeom>
          <a:solidFill>
            <a:srgbClr val="E6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0" rIns="36000" bIns="0" rtlCol="0" anchor="ctr"/>
          <a:lstStyle/>
          <a:p>
            <a:pPr algn="ctr"/>
            <a:r>
              <a:rPr sz="12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広告を見る</a:t>
            </a:r>
          </a:p>
        </p:txBody>
      </p:sp>
      <p:sp>
        <p:nvSpPr>
          <p:cNvPr id="7" name="Right Arrow 6"/>
          <p:cNvSpPr/>
          <p:nvPr/>
        </p:nvSpPr>
        <p:spPr>
          <a:xfrm>
            <a:off x="3131999" y="1745999"/>
            <a:ext cx="288000" cy="251999"/>
          </a:xfrm>
          <a:prstGeom prst="rightArrow">
            <a:avLst/>
          </a:prstGeom>
          <a:solidFill>
            <a:srgbClr val="7F7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3491999" y="1655999"/>
            <a:ext cx="1655999" cy="432000"/>
          </a:xfrm>
          <a:prstGeom prst="roundRect">
            <a:avLst>
              <a:gd name="adj" fmla="val 18000"/>
            </a:avLst>
          </a:prstGeom>
          <a:solidFill>
            <a:srgbClr val="E6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0" rIns="36000" bIns="0" rtlCol="0" anchor="ctr"/>
          <a:lstStyle/>
          <a:p>
            <a:pPr algn="ctr"/>
            <a:r>
              <a:rPr sz="12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求人を見る</a:t>
            </a:r>
          </a:p>
        </p:txBody>
      </p:sp>
      <p:sp>
        <p:nvSpPr>
          <p:cNvPr id="9" name="Right Arrow 8"/>
          <p:cNvSpPr/>
          <p:nvPr/>
        </p:nvSpPr>
        <p:spPr>
          <a:xfrm>
            <a:off x="5183999" y="1745999"/>
            <a:ext cx="288000" cy="251999"/>
          </a:xfrm>
          <a:prstGeom prst="rightArrow">
            <a:avLst/>
          </a:prstGeom>
          <a:solidFill>
            <a:srgbClr val="7F7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5544000" y="1655999"/>
            <a:ext cx="1655999" cy="432000"/>
          </a:xfrm>
          <a:prstGeom prst="roundRect">
            <a:avLst>
              <a:gd name="adj" fmla="val 18000"/>
            </a:avLst>
          </a:prstGeom>
          <a:solidFill>
            <a:srgbClr val="E6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0" rIns="36000" bIns="0" rtlCol="0" anchor="ctr"/>
          <a:lstStyle/>
          <a:p>
            <a:pPr algn="ctr"/>
            <a:r>
              <a:rPr sz="12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応募しない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7236000" y="1745999"/>
            <a:ext cx="288000" cy="251999"/>
          </a:xfrm>
          <a:prstGeom prst="rightArrow">
            <a:avLst/>
          </a:prstGeom>
          <a:solidFill>
            <a:srgbClr val="7F7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7596000" y="1655999"/>
            <a:ext cx="1655999" cy="432000"/>
          </a:xfrm>
          <a:prstGeom prst="roundRect">
            <a:avLst>
              <a:gd name="adj" fmla="val 18000"/>
            </a:avLst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0" rIns="3600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接点が終わる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2000" y="2520000"/>
            <a:ext cx="936000" cy="432000"/>
          </a:xfrm>
          <a:prstGeom prst="rect">
            <a:avLst/>
          </a:prstGeom>
          <a:noFill/>
        </p:spPr>
        <p:txBody>
          <a:bodyPr wrap="square" lIns="0" tIns="21600" rIns="50400" bIns="21600" anchor="ctr">
            <a:spAutoFit/>
          </a:bodyPr>
          <a:lstStyle/>
          <a:p>
            <a:pPr algn="l"/>
            <a:r>
              <a:rPr sz="1400" b="1">
                <a:solidFill>
                  <a:srgbClr val="06C755"/>
                </a:solidFill>
                <a:latin typeface="メイリオ"/>
                <a:ea typeface="メイリオ"/>
                <a:cs typeface="メイリオ"/>
              </a:rPr>
              <a:t>LINE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440000" y="2520000"/>
            <a:ext cx="1655999" cy="432000"/>
          </a:xfrm>
          <a:prstGeom prst="roundRect">
            <a:avLst>
              <a:gd name="adj" fmla="val 18000"/>
            </a:avLst>
          </a:prstGeom>
          <a:solidFill>
            <a:srgbClr val="E8F8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0" rIns="36000" bIns="0" rtlCol="0" anchor="ctr"/>
          <a:lstStyle/>
          <a:p>
            <a:pPr algn="ctr"/>
            <a:r>
              <a:rPr sz="12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求人を見る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3131999" y="2610000"/>
            <a:ext cx="288000" cy="251999"/>
          </a:xfrm>
          <a:prstGeom prst="rightArrow">
            <a:avLst/>
          </a:prstGeom>
          <a:solidFill>
            <a:srgbClr val="06C7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3491999" y="2520000"/>
            <a:ext cx="1655999" cy="432000"/>
          </a:xfrm>
          <a:prstGeom prst="roundRect">
            <a:avLst>
              <a:gd name="adj" fmla="val 18000"/>
            </a:avLst>
          </a:prstGeom>
          <a:solidFill>
            <a:srgbClr val="06C7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0" rIns="3600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LINEで友だちに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5183999" y="2610000"/>
            <a:ext cx="288000" cy="251999"/>
          </a:xfrm>
          <a:prstGeom prst="rightArrow">
            <a:avLst/>
          </a:prstGeom>
          <a:solidFill>
            <a:srgbClr val="06C7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5544000" y="2520000"/>
            <a:ext cx="1655999" cy="432000"/>
          </a:xfrm>
          <a:prstGeom prst="roundRect">
            <a:avLst>
              <a:gd name="adj" fmla="val 18000"/>
            </a:avLst>
          </a:prstGeom>
          <a:solidFill>
            <a:srgbClr val="E8F8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0" rIns="36000" bIns="0" rtlCol="0" anchor="ctr"/>
          <a:lstStyle/>
          <a:p>
            <a:pPr algn="ctr"/>
            <a:r>
              <a:rPr sz="1200" b="1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新着求人</a:t>
            </a:r>
            <a:r>
              <a:rPr sz="1200" b="1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・</a:t>
            </a:r>
            <a:endParaRPr lang="en-US" sz="1200" b="1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  <a:p>
            <a:pPr algn="ctr"/>
            <a:r>
              <a:rPr sz="1200" b="1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条件の合う求人</a:t>
            </a:r>
            <a:endParaRPr sz="1200" b="1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</p:txBody>
      </p:sp>
      <p:sp>
        <p:nvSpPr>
          <p:cNvPr id="19" name="Right Arrow 18"/>
          <p:cNvSpPr/>
          <p:nvPr/>
        </p:nvSpPr>
        <p:spPr>
          <a:xfrm>
            <a:off x="7236000" y="2610000"/>
            <a:ext cx="288000" cy="251999"/>
          </a:xfrm>
          <a:prstGeom prst="rightArrow">
            <a:avLst/>
          </a:prstGeom>
          <a:solidFill>
            <a:srgbClr val="06C7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7596000" y="2520000"/>
            <a:ext cx="1655999" cy="432000"/>
          </a:xfrm>
          <a:prstGeom prst="roundRect">
            <a:avLst>
              <a:gd name="adj" fmla="val 18000"/>
            </a:avLst>
          </a:prstGeom>
          <a:solidFill>
            <a:srgbClr val="06C7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0" rIns="3600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応募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544000" y="3024000"/>
            <a:ext cx="1800000" cy="288000"/>
          </a:xfrm>
          <a:prstGeom prst="rect">
            <a:avLst/>
          </a:prstGeom>
          <a:noFill/>
        </p:spPr>
        <p:txBody>
          <a:bodyPr wrap="square" lIns="0" tIns="21600" rIns="50400" bIns="21600" anchor="t">
            <a:spAutoFit/>
          </a:bodyPr>
          <a:lstStyle/>
          <a:p>
            <a:pPr algn="ctr"/>
            <a:r>
              <a:rPr sz="1100" b="1">
                <a:solidFill>
                  <a:srgbClr val="06C755"/>
                </a:solidFill>
                <a:latin typeface="メイリオ"/>
                <a:ea typeface="メイリオ"/>
                <a:cs typeface="メイリオ"/>
              </a:rPr>
              <a:t>↻ 何度でもご案内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32000" y="3600000"/>
            <a:ext cx="2844000" cy="12960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5999" tIns="90000" rIns="108000" bIns="54000" rtlCol="0" anchor="t"/>
          <a:lstStyle/>
          <a:p>
            <a:pPr algn="l">
              <a:spcAft>
                <a:spcPts val="500"/>
              </a:spcAft>
            </a:pPr>
            <a:r>
              <a:rPr sz="12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応募しなかった方ともつながり続ける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今すぐ応募しない方とも、友だちとしてつながり続けます。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531599" y="3600000"/>
            <a:ext cx="2844000" cy="12960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5999" tIns="90000" rIns="108000" bIns="54000" rtlCol="0" anchor="t"/>
          <a:lstStyle/>
          <a:p>
            <a:pPr algn="l">
              <a:spcAft>
                <a:spcPts val="500"/>
              </a:spcAft>
            </a:pPr>
            <a:r>
              <a:rPr sz="12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タイミングが合ったときに届く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転職を考え始めた時期に、新着求人が届きます。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631199" y="3600000"/>
            <a:ext cx="2844000" cy="12960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5999" tIns="90000" rIns="108000" bIns="54000" rtlCol="0" anchor="t"/>
          <a:lstStyle/>
          <a:p>
            <a:pPr algn="l">
              <a:spcAft>
                <a:spcPts val="500"/>
              </a:spcAft>
            </a:pPr>
            <a:r>
              <a:rPr sz="12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連絡がLINEで完結する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電話やメールより気軽にやりとりできます。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32000" y="5148000"/>
            <a:ext cx="9043200" cy="432000"/>
          </a:xfrm>
          <a:prstGeom prst="roundRect">
            <a:avLst>
              <a:gd name="adj" fmla="val 10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8000" tIns="0" rIns="108000" bIns="0" rtlCol="0" anchor="ctr"/>
          <a:lstStyle/>
          <a:p>
            <a:pPr algn="ctr">
              <a:lnSpc>
                <a:spcPct val="125000"/>
              </a:lnSpc>
            </a:pPr>
            <a:r>
              <a:rPr sz="13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一度の広告費で、何度もご案内できる「転職を検討している方のリスト」ができます。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32000" y="6246000"/>
            <a:ext cx="9043200" cy="324000"/>
          </a:xfrm>
          <a:prstGeom prst="rect">
            <a:avLst/>
          </a:prstGeom>
          <a:noFill/>
        </p:spPr>
        <p:txBody>
          <a:bodyPr wrap="square" lIns="0" tIns="21600" rIns="0" bIns="216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5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※配信通数に応じたLINE公式アカウントの利用料は別途かかります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B95DA1-C4AC-9E84-EE81-C643FC320A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7200" y="136800"/>
            <a:ext cx="8784000" cy="338400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/>
            <a:r>
              <a:rPr sz="16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LINEのメリット③｜登録の手間を下げられる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2000" y="648000"/>
            <a:ext cx="9036000" cy="684000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「LINEでログイン」を使うと、LINEのアカウントでサイトの会員登録ができます。</a:t>
            </a:r>
          </a:p>
          <a:p>
            <a:pPr algn="l">
              <a:lnSpc>
                <a:spcPct val="130000"/>
              </a:lnSpc>
            </a:pPr>
            <a:r>
              <a:rPr sz="12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さらにLINE Profile+を使うと、氏名・電話番号などが自動で入り、確認して押すだけで登録が終わります。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0" y="1389600"/>
            <a:ext cx="9907200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2000" y="1584000"/>
            <a:ext cx="5616000" cy="28150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32000" y="4434680"/>
            <a:ext cx="5616000" cy="216000"/>
          </a:xfrm>
          <a:prstGeom prst="rect">
            <a:avLst/>
          </a:prstGeom>
          <a:noFill/>
        </p:spPr>
        <p:txBody>
          <a:bodyPr wrap="square" lIns="0" tIns="21600" rIns="50400" bIns="21600" anchor="t">
            <a:spAutoFit/>
          </a:bodyPr>
          <a:lstStyle/>
          <a:p>
            <a:pPr algn="l"/>
            <a:r>
              <a:rPr sz="90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「LINEでログイン」の画面の流れ（イメージ）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28000" y="1584000"/>
            <a:ext cx="3247200" cy="15840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5999" tIns="90000" rIns="108000" bIns="54000" rtlCol="0" anchor="t"/>
          <a:lstStyle/>
          <a:p>
            <a:pPr algn="l">
              <a:spcAft>
                <a:spcPts val="500"/>
              </a:spcAft>
            </a:pPr>
            <a:r>
              <a:rPr sz="12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LINE Profile+で自動入力できる項目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氏名（カナを含む）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性別・生年月日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電話番号・住所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28000" y="3240000"/>
            <a:ext cx="3247200" cy="1512000"/>
          </a:xfrm>
          <a:prstGeom prst="roundRect">
            <a:avLst>
              <a:gd name="adj" fmla="val 6000"/>
            </a:avLst>
          </a:prstGeom>
          <a:solidFill>
            <a:srgbClr val="FCE4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5999" tIns="90000" rIns="108000" bIns="54000" rtlCol="0" anchor="t"/>
          <a:lstStyle/>
          <a:p>
            <a:pPr algn="l">
              <a:spcAft>
                <a:spcPts val="500"/>
              </a:spcAft>
            </a:pPr>
            <a:r>
              <a:rPr sz="1250" b="1">
                <a:solidFill>
                  <a:srgbClr val="ED7D31"/>
                </a:solidFill>
                <a:latin typeface="メイリオ"/>
                <a:ea typeface="メイリオ"/>
                <a:cs typeface="メイリオ"/>
              </a:rPr>
              <a:t>利用の条件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日本の法人のみ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使う項目ごとに申請し、LINEヤフー社の審査がある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ユーザーの同意が必要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2000" y="5184000"/>
            <a:ext cx="9043200" cy="432000"/>
          </a:xfrm>
          <a:prstGeom prst="roundRect">
            <a:avLst>
              <a:gd name="adj" fmla="val 10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8000" tIns="0" rIns="108000" bIns="0" rtlCol="0" anchor="ctr"/>
          <a:lstStyle/>
          <a:p>
            <a:pPr algn="ctr">
              <a:lnSpc>
                <a:spcPct val="125000"/>
              </a:lnSpc>
            </a:pPr>
            <a:r>
              <a:rPr sz="13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入力が「確認して押すだけ」になり、会員登録のハードルを大きく下げられます。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2000" y="6246000"/>
            <a:ext cx="9043200" cy="324000"/>
          </a:xfrm>
          <a:prstGeom prst="rect">
            <a:avLst/>
          </a:prstGeom>
          <a:noFill/>
        </p:spPr>
        <p:txBody>
          <a:bodyPr wrap="square" lIns="0" tIns="21600" rIns="0" bIns="216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5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出典：LINE Developers（LINE Profile+・2025年11月更新）／画面の流れの引用：https://prtimes.jp/main/html/rd/p/000003920.000001594.html</a:t>
            </a:r>
          </a:p>
        </p:txBody>
      </p:sp>
    </p:spTree>
    <p:extLst>
      <p:ext uri="{BB962C8B-B14F-4D97-AF65-F5344CB8AC3E}">
        <p14:creationId xmlns:p14="http://schemas.microsoft.com/office/powerpoint/2010/main" val="198554478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F79BAA-8C2D-2DC3-A995-CBA086D445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7200" y="136800"/>
            <a:ext cx="8784000" cy="338400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/>
            <a:r>
              <a:rPr sz="16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他社のLINE活用｜求人サービスの状況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2000" y="837833"/>
            <a:ext cx="9036000" cy="304334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総合大手は、数十万〜数百万人規模でLINEを活用しています。一方、整備士特化のサービスでは、まだ少ない状況です。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0" y="1389600"/>
            <a:ext cx="9907200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70262570"/>
              </p:ext>
            </p:extLst>
          </p:nvPr>
        </p:nvGraphicFramePr>
        <p:xfrm>
          <a:off x="432000" y="1619999"/>
          <a:ext cx="9043200" cy="22493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0796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94067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21336"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サービス</a:t>
                      </a:r>
                    </a:p>
                  </a:txBody>
                  <a:tcPr anchor="ctr">
                    <a:solidFill>
                      <a:srgbClr val="1F28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種別</a:t>
                      </a:r>
                    </a:p>
                  </a:txBody>
                  <a:tcPr anchor="ctr">
                    <a:solidFill>
                      <a:srgbClr val="1F28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LINE友だち数</a:t>
                      </a:r>
                    </a:p>
                  </a:txBody>
                  <a:tcPr anchor="ctr">
                    <a:solidFill>
                      <a:srgbClr val="1F285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1336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リクナビNEXT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総合・転職サイト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3,235,678人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1336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求人ボックス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総合・アグリゲーション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1,862,866人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1336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マイナビ転職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総合・転職サイト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754,302人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1336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doda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総合・エージェント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dirty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公開アカウントなし（会員登録後に1:1連携）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1336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プレックスジョブ【整備士】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整備士特化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6,288人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1336">
                <a:tc>
                  <a:txBody>
                    <a:bodyPr/>
                    <a:lstStyle/>
                    <a:p>
                      <a:pPr algn="l"/>
                      <a:r>
                        <a:rPr sz="1400" dirty="0" err="1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整備士の求人・転職｜カンパネル</a:t>
                      </a:r>
                      <a:endParaRPr sz="1400" dirty="0">
                        <a:solidFill>
                          <a:srgbClr val="333333"/>
                        </a:solidFill>
                        <a:latin typeface="メイリオ"/>
                        <a:ea typeface="メイリオ"/>
                        <a:cs typeface="メイリオ"/>
                      </a:endParaRP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整備士特化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dirty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196人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432000" y="4380253"/>
            <a:ext cx="9043200" cy="396000"/>
          </a:xfrm>
          <a:prstGeom prst="roundRect">
            <a:avLst>
              <a:gd name="adj" fmla="val 10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400" tIns="21600" rIns="50400" bIns="21600" rtlCol="0" anchor="ctr"/>
          <a:lstStyle/>
          <a:p>
            <a:pPr algn="ctr">
              <a:lnSpc>
                <a:spcPct val="125000"/>
              </a:lnSpc>
            </a:pPr>
            <a:r>
              <a:rPr sz="13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整備士特化で、LINEを本格的に活用しているサービスはまだ少なく、先に始めた方が有利です。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2000" y="6246000"/>
            <a:ext cx="9043200" cy="324000"/>
          </a:xfrm>
          <a:prstGeom prst="rect">
            <a:avLst/>
          </a:prstGeom>
          <a:noFill/>
        </p:spPr>
        <p:txBody>
          <a:bodyPr wrap="square" lIns="0" tIns="21600" rIns="0" bIns="216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出典：page.line.me（公式）2026-09-21実測。友だち数は取得日時点の公表値</a:t>
            </a:r>
          </a:p>
        </p:txBody>
      </p:sp>
    </p:spTree>
    <p:extLst>
      <p:ext uri="{BB962C8B-B14F-4D97-AF65-F5344CB8AC3E}">
        <p14:creationId xmlns:p14="http://schemas.microsoft.com/office/powerpoint/2010/main" val="140579607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1EC9E0-2ED9-448E-0518-C4BB668719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7200" y="136800"/>
            <a:ext cx="8784000" cy="338400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/>
            <a:r>
              <a:rPr sz="16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タウンワークの型を分解すると、3つの仕組み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2000" y="648000"/>
            <a:ext cx="9036000" cy="684000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応募が増えた理由は、LINEを「求人を探す入口」にしたことです。</a:t>
            </a:r>
          </a:p>
          <a:p>
            <a:pPr algn="l">
              <a:lnSpc>
                <a:spcPct val="130000"/>
              </a:lnSpc>
            </a:pPr>
            <a:r>
              <a:rPr sz="12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この3つは、サイト側に「条件別の検索結果ページ」と「LINEとの会員連携」があれば再現できます。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0" y="1389600"/>
            <a:ext cx="9907200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432000" y="1620000"/>
            <a:ext cx="2844000" cy="360000"/>
          </a:xfrm>
          <a:prstGeom prst="roundRect">
            <a:avLst>
              <a:gd name="adj" fmla="val 18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0" rIns="3600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① リッチメニューで条件検索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2000" y="2015999"/>
            <a:ext cx="2844000" cy="1655999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5999" tIns="90000" rIns="108000" bIns="54000" rtlCol="0" anchor="t"/>
          <a:lstStyle/>
          <a:p>
            <a:pPr algn="l">
              <a:spcAft>
                <a:spcPts val="500"/>
              </a:spcAft>
            </a:pPr>
            <a:endParaRPr dirty="0"/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よく探される条件をボタンに並べる</a:t>
            </a:r>
            <a:r>
              <a:rPr sz="110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。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トーク画面の下に常にあるので</a:t>
            </a:r>
            <a:r>
              <a:rPr sz="110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、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探したいときにいつでも使える</a:t>
            </a:r>
            <a:r>
              <a:rPr sz="110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531599" y="1620000"/>
            <a:ext cx="2844000" cy="360000"/>
          </a:xfrm>
          <a:prstGeom prst="roundRect">
            <a:avLst>
              <a:gd name="adj" fmla="val 18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0" rIns="3600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② 全員共通のあいさつ＋タップで分岐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531599" y="2015999"/>
            <a:ext cx="2844000" cy="1655999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5999" tIns="90000" rIns="108000" bIns="54000" rtlCol="0" anchor="t"/>
          <a:lstStyle/>
          <a:p>
            <a:pPr algn="l">
              <a:spcAft>
                <a:spcPts val="500"/>
              </a:spcAft>
            </a:pPr>
            <a:endParaRPr dirty="0"/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あいさつで会員連携を案内する</a:t>
            </a:r>
            <a:r>
              <a:rPr sz="110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。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条件のカードをタップしてもらい</a:t>
            </a:r>
            <a:r>
              <a:rPr sz="110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、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興味を聞く</a:t>
            </a:r>
            <a:r>
              <a:rPr sz="110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631199" y="1620000"/>
            <a:ext cx="2844000" cy="360000"/>
          </a:xfrm>
          <a:prstGeom prst="roundRect">
            <a:avLst>
              <a:gd name="adj" fmla="val 18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0" rIns="3600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③ 検索結果へそのまま移動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631199" y="2015999"/>
            <a:ext cx="2844000" cy="1655999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5999" tIns="90000" rIns="108000" bIns="54000" rtlCol="0" anchor="t"/>
          <a:lstStyle/>
          <a:p>
            <a:pPr algn="l">
              <a:spcAft>
                <a:spcPts val="500"/>
              </a:spcAft>
            </a:pPr>
            <a:endParaRPr dirty="0"/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条件を入れた状態の検索結果ページへ</a:t>
            </a:r>
            <a:r>
              <a:rPr sz="110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。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探す手間がなく</a:t>
            </a:r>
            <a:r>
              <a:rPr sz="110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、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応募はサイト側で行う</a:t>
            </a:r>
            <a:r>
              <a:rPr sz="110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2000" y="3888000"/>
            <a:ext cx="9043200" cy="288000"/>
          </a:xfrm>
          <a:prstGeom prst="rect">
            <a:avLst/>
          </a:prstGeom>
          <a:noFill/>
        </p:spPr>
        <p:txBody>
          <a:bodyPr wrap="square" lIns="0" tIns="21600" rIns="50400" bIns="21600" anchor="t">
            <a:spAutoFit/>
          </a:bodyPr>
          <a:lstStyle/>
          <a:p>
            <a:pPr algn="l"/>
            <a:r>
              <a:rPr sz="13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貴社で再現するときに必要なもの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2000" y="4212000"/>
            <a:ext cx="4392000" cy="936000"/>
          </a:xfrm>
          <a:prstGeom prst="roundRect">
            <a:avLst>
              <a:gd name="adj" fmla="val 6000"/>
            </a:avLst>
          </a:prstGeom>
          <a:solidFill>
            <a:srgbClr val="FCE4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5999" tIns="90000" rIns="108000" bIns="54000" rtlCol="0" anchor="t"/>
          <a:lstStyle/>
          <a:p>
            <a:pPr algn="l">
              <a:spcAft>
                <a:spcPts val="500"/>
              </a:spcAft>
            </a:pPr>
            <a:r>
              <a:rPr sz="1250" b="1">
                <a:solidFill>
                  <a:srgbClr val="ED7D31"/>
                </a:solidFill>
                <a:latin typeface="メイリオ"/>
                <a:ea typeface="メイリオ"/>
                <a:cs typeface="メイリオ"/>
              </a:rPr>
              <a:t>サイト側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条件別の検索結果ページ（職種×地域×資格）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LINEで会員登録・ログインできる仕組み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76000" y="4212000"/>
            <a:ext cx="4399200" cy="936000"/>
          </a:xfrm>
          <a:prstGeom prst="roundRect">
            <a:avLst>
              <a:gd name="adj" fmla="val 6000"/>
            </a:avLst>
          </a:prstGeom>
          <a:solidFill>
            <a:srgbClr val="E8F8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5999" tIns="90000" rIns="108000" bIns="54000" rtlCol="0" anchor="t"/>
          <a:lstStyle/>
          <a:p>
            <a:pPr algn="l">
              <a:spcAft>
                <a:spcPts val="500"/>
              </a:spcAft>
            </a:pPr>
            <a:r>
              <a:rPr sz="1250" b="1">
                <a:solidFill>
                  <a:srgbClr val="0B7A3B"/>
                </a:solidFill>
                <a:latin typeface="メイリオ"/>
                <a:ea typeface="メイリオ"/>
                <a:cs typeface="メイリオ"/>
              </a:rPr>
              <a:t>LINE側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リッチメニュー・あいさつ・配信の設計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条件で選んで送る仕組み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2000" y="5364000"/>
            <a:ext cx="9043200" cy="432000"/>
          </a:xfrm>
          <a:prstGeom prst="roundRect">
            <a:avLst>
              <a:gd name="adj" fmla="val 10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8000" tIns="0" rIns="108000" bIns="0" rtlCol="0" anchor="ctr"/>
          <a:lstStyle/>
          <a:p>
            <a:pPr algn="ctr">
              <a:lnSpc>
                <a:spcPct val="125000"/>
              </a:lnSpc>
            </a:pPr>
            <a:r>
              <a:rPr sz="13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サイトリニューアルのタイミングなら、この仕組みを最初から入れられます。</a:t>
            </a:r>
          </a:p>
        </p:txBody>
      </p:sp>
    </p:spTree>
    <p:extLst>
      <p:ext uri="{BB962C8B-B14F-4D97-AF65-F5344CB8AC3E}">
        <p14:creationId xmlns:p14="http://schemas.microsoft.com/office/powerpoint/2010/main" val="379755298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47C615-BEE8-3B16-A209-225180EB57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7200" y="136800"/>
            <a:ext cx="8784000" cy="338400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/>
            <a:r>
              <a:rPr sz="16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貴社に当てはめると｜会員登録はLINEで、その先の応募へ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2000" y="648000"/>
            <a:ext cx="9036000" cy="684000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サイトリニューアルに合わせて、会員登録をLINEで完結できる形にすることをご提案します。</a:t>
            </a:r>
          </a:p>
          <a:p>
            <a:pPr algn="l">
              <a:lnSpc>
                <a:spcPct val="130000"/>
              </a:lnSpc>
            </a:pPr>
            <a:r>
              <a:rPr sz="12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入力の手間がほぼなくなり、登録のハードルを大きく下げられます。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0" y="1389600"/>
            <a:ext cx="9907200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432000" y="1584000"/>
            <a:ext cx="4284000" cy="342000"/>
          </a:xfrm>
          <a:prstGeom prst="roundRect">
            <a:avLst>
              <a:gd name="adj" fmla="val 18000"/>
            </a:avLst>
          </a:prstGeom>
          <a:solidFill>
            <a:srgbClr val="7F7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0" rIns="36000" bIns="0" rtlCol="0" anchor="ctr"/>
          <a:lstStyle/>
          <a:p>
            <a:pPr algn="ctr"/>
            <a:r>
              <a:rPr sz="125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現在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2000" y="1962000"/>
            <a:ext cx="4284000" cy="1800000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5999" tIns="90000" rIns="108000" bIns="54000" rtlCol="0" anchor="t"/>
          <a:lstStyle/>
          <a:p>
            <a:pPr algn="l">
              <a:spcAft>
                <a:spcPts val="500"/>
              </a:spcAft>
            </a:pPr>
            <a:r>
              <a:rPr sz="125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入口は「応募」か「転職支援の申込」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・会員登録の利用が少ない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・応募しなかった方との接点が残らない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・比較検討中の方と接点を持てない</a:t>
            </a:r>
          </a:p>
        </p:txBody>
      </p:sp>
      <p:sp>
        <p:nvSpPr>
          <p:cNvPr id="7" name="Right Arrow 6"/>
          <p:cNvSpPr/>
          <p:nvPr/>
        </p:nvSpPr>
        <p:spPr>
          <a:xfrm>
            <a:off x="4806000" y="2700000"/>
            <a:ext cx="324000" cy="324000"/>
          </a:xfrm>
          <a:prstGeom prst="rightArrow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5191200" y="1584000"/>
            <a:ext cx="4284000" cy="342000"/>
          </a:xfrm>
          <a:prstGeom prst="roundRect">
            <a:avLst>
              <a:gd name="adj" fmla="val 18000"/>
            </a:avLst>
          </a:prstGeom>
          <a:solidFill>
            <a:srgbClr val="06C7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0" rIns="36000" bIns="0" rtlCol="0" anchor="ctr"/>
          <a:lstStyle/>
          <a:p>
            <a:pPr algn="ctr"/>
            <a:r>
              <a:rPr sz="125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リニューアル後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191200" y="1962000"/>
            <a:ext cx="4284000" cy="1800000"/>
          </a:xfrm>
          <a:prstGeom prst="roundRect">
            <a:avLst>
              <a:gd name="adj" fmla="val 6000"/>
            </a:avLst>
          </a:prstGeom>
          <a:solidFill>
            <a:srgbClr val="E8F8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5999" tIns="90000" rIns="108000" bIns="54000" rtlCol="0" anchor="t"/>
          <a:lstStyle/>
          <a:p>
            <a:pPr algn="l">
              <a:spcAft>
                <a:spcPts val="500"/>
              </a:spcAft>
            </a:pPr>
            <a:r>
              <a:rPr sz="1250" b="1">
                <a:solidFill>
                  <a:srgbClr val="0B7A3B"/>
                </a:solidFill>
                <a:latin typeface="メイリオ"/>
                <a:ea typeface="メイリオ"/>
                <a:cs typeface="メイリオ"/>
              </a:rPr>
              <a:t>会員登録＝LINEでワンタップ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・登録と同時にLINEの友だちになる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・応募しなかった方とも、登録者としてつながり続ける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・登録した方に、条件に合う求人を届け続けられる</a:t>
            </a:r>
          </a:p>
        </p:txBody>
      </p:sp>
      <p:sp>
        <p:nvSpPr>
          <p:cNvPr id="10" name="Down Arrow 9"/>
          <p:cNvSpPr/>
          <p:nvPr/>
        </p:nvSpPr>
        <p:spPr>
          <a:xfrm>
            <a:off x="4665600" y="3870000"/>
            <a:ext cx="503999" cy="288000"/>
          </a:xfrm>
          <a:prstGeom prst="downArrow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432000" y="4248000"/>
            <a:ext cx="9043200" cy="827999"/>
          </a:xfrm>
          <a:prstGeom prst="roundRect">
            <a:avLst>
              <a:gd name="adj" fmla="val 6000"/>
            </a:avLst>
          </a:prstGeom>
          <a:solidFill>
            <a:srgbClr val="FCE4D6"/>
          </a:solidFill>
          <a:ln w="19050">
            <a:solidFill>
              <a:srgbClr val="ED7D3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400" tIns="21600" rIns="50400" bIns="21600" rtlCol="0" anchor="ctr"/>
          <a:lstStyle/>
          <a:p>
            <a:pPr algn="ctr">
              <a:spcAft>
                <a:spcPts val="400"/>
              </a:spcAft>
            </a:pPr>
            <a:r>
              <a:rPr sz="1400" b="1" dirty="0" err="1">
                <a:solidFill>
                  <a:srgbClr val="ED7D31"/>
                </a:solidFill>
                <a:latin typeface="メイリオ"/>
                <a:ea typeface="メイリオ"/>
                <a:cs typeface="メイリオ"/>
              </a:rPr>
              <a:t>会員登録はワンタップで完了します。次の課題は、登録した方を応募へどうつなげるかです</a:t>
            </a:r>
            <a:r>
              <a:rPr sz="1400" b="1" dirty="0">
                <a:solidFill>
                  <a:srgbClr val="ED7D31"/>
                </a:solidFill>
                <a:latin typeface="メイリオ"/>
                <a:ea typeface="メイリオ"/>
                <a:cs typeface="メイリオ"/>
              </a:rPr>
              <a:t>。</a:t>
            </a:r>
          </a:p>
          <a:p>
            <a:pPr algn="ctr"/>
            <a:r>
              <a:rPr sz="120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→ </a:t>
            </a:r>
            <a:r>
              <a:rPr sz="12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リッチメニューと配信で、LINEから応募へつなげます（次ページ以降</a:t>
            </a:r>
            <a:r>
              <a:rPr sz="120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2000" y="6246000"/>
            <a:ext cx="9043200" cy="324000"/>
          </a:xfrm>
          <a:prstGeom prst="rect">
            <a:avLst/>
          </a:prstGeom>
          <a:noFill/>
        </p:spPr>
        <p:txBody>
          <a:bodyPr wrap="square" lIns="0" tIns="21600" rIns="0" bIns="216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5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CV①＝会員登録（LINEで登録）／CV②＝求人への応募</a:t>
            </a:r>
          </a:p>
        </p:txBody>
      </p:sp>
    </p:spTree>
    <p:extLst>
      <p:ext uri="{BB962C8B-B14F-4D97-AF65-F5344CB8AC3E}">
        <p14:creationId xmlns:p14="http://schemas.microsoft.com/office/powerpoint/2010/main" val="416138737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64C018-2F1E-8306-707D-71C186D408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7200" y="136800"/>
            <a:ext cx="8784000" cy="338400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/>
            <a:r>
              <a:rPr sz="16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貴社向けの工夫｜タウンワークより手軽な登録と、整備士向けの条件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2000" y="648000"/>
            <a:ext cx="9036000" cy="684000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タウンワークの型をそのまま使うのではなく、貴社のサイトと求人に合わせて、2点を工夫します。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0" y="1389600"/>
            <a:ext cx="9907200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432000" y="1584000"/>
            <a:ext cx="4392000" cy="360000"/>
          </a:xfrm>
          <a:prstGeom prst="roundRect">
            <a:avLst>
              <a:gd name="adj" fmla="val 18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0" rIns="36000" bIns="0" rtlCol="0" anchor="ctr"/>
          <a:lstStyle/>
          <a:p>
            <a:pPr algn="ctr"/>
            <a:r>
              <a:rPr sz="125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工夫①　タウンワークより手軽に登録できる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52264252"/>
              </p:ext>
            </p:extLst>
          </p:nvPr>
        </p:nvGraphicFramePr>
        <p:xfrm>
          <a:off x="432000" y="2015999"/>
          <a:ext cx="4391999" cy="1612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24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166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0633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8000"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anchor="ctr">
                    <a:solidFill>
                      <a:srgbClr val="1F28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タウンワーク</a:t>
                      </a:r>
                    </a:p>
                  </a:txBody>
                  <a:tcPr anchor="ctr">
                    <a:solidFill>
                      <a:srgbClr val="1F28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 dirty="0" err="1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貴社（ご提案</a:t>
                      </a:r>
                      <a:r>
                        <a:rPr sz="1050" b="1" dirty="0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）</a:t>
                      </a:r>
                    </a:p>
                  </a:txBody>
                  <a:tcPr anchor="ctr">
                    <a:solidFill>
                      <a:srgbClr val="1F285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8000"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LINEとつなぐ前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リクルートIDで
ログインが必要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C0000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不要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8000"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入力するもの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メール・パスワード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 dirty="0">
                          <a:solidFill>
                            <a:srgbClr val="C0000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ほ</a:t>
                      </a:r>
                      <a:r>
                        <a:rPr lang="ja-JP" altLang="en-US" sz="1050" b="1" dirty="0">
                          <a:solidFill>
                            <a:srgbClr val="C0000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とんど</a:t>
                      </a:r>
                      <a:r>
                        <a:rPr sz="1050" b="1" dirty="0" err="1">
                          <a:solidFill>
                            <a:srgbClr val="C0000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なし</a:t>
                      </a:r>
                      <a:r>
                        <a:rPr sz="1050" b="1" dirty="0">
                          <a:solidFill>
                            <a:srgbClr val="C0000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
（</a:t>
                      </a:r>
                      <a:r>
                        <a:rPr sz="1050" b="1" dirty="0" err="1">
                          <a:solidFill>
                            <a:srgbClr val="C0000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Profile+で自動入力</a:t>
                      </a:r>
                      <a:r>
                        <a:rPr sz="1050" b="1" dirty="0">
                          <a:solidFill>
                            <a:srgbClr val="C0000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）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8000"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つながった状態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既存の会員と連携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 dirty="0" err="1">
                          <a:solidFill>
                            <a:srgbClr val="C0000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登録と友だち追加が</a:t>
                      </a:r>
                      <a:r>
                        <a:rPr sz="1050" b="1" dirty="0">
                          <a:solidFill>
                            <a:srgbClr val="C0000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
</a:t>
                      </a:r>
                      <a:r>
                        <a:rPr sz="1050" b="1" dirty="0" err="1">
                          <a:solidFill>
                            <a:srgbClr val="C0000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同時に完了</a:t>
                      </a:r>
                      <a:endParaRPr sz="1050" b="1" dirty="0">
                        <a:solidFill>
                          <a:srgbClr val="C00000"/>
                        </a:solidFill>
                        <a:latin typeface="メイリオ"/>
                        <a:ea typeface="メイリオ"/>
                        <a:cs typeface="メイリオ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5076000" y="1584000"/>
            <a:ext cx="4399200" cy="360000"/>
          </a:xfrm>
          <a:prstGeom prst="roundRect">
            <a:avLst>
              <a:gd name="adj" fmla="val 18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0" rIns="36000" bIns="0" rtlCol="0" anchor="ctr"/>
          <a:lstStyle/>
          <a:p>
            <a:pPr algn="ctr"/>
            <a:r>
              <a:rPr sz="125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工夫②　条件を整備士向けにする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76000" y="2015999"/>
            <a:ext cx="4399200" cy="15120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5999" tIns="90000" rIns="108000" bIns="54000" rtlCol="0" anchor="t"/>
          <a:lstStyle/>
          <a:p>
            <a:pPr algn="l">
              <a:spcAft>
                <a:spcPts val="500"/>
              </a:spcAft>
            </a:pPr>
            <a:r>
              <a:rPr sz="12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リッチメニュー・配信で使う条件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・職種：整備士／営業／受付・事務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・地域：都道府県・市区町村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・資格：1級・2級・3級・無資格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・未経験OK・資格取得支援あり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2000" y="3744000"/>
            <a:ext cx="9043200" cy="9360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5999" tIns="90000" rIns="108000" bIns="54000" rtlCol="0" anchor="t"/>
          <a:lstStyle/>
          <a:p>
            <a:pPr algn="l">
              <a:spcAft>
                <a:spcPts val="500"/>
              </a:spcAft>
            </a:pPr>
            <a:r>
              <a:rPr sz="12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掲載中の求人を、条件で探せるようにします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全国2,134件（うち正社員・整備士946件、正社員・営業180件）の求人を、LINEから条件別に探せる入口をつくります。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2000" y="4896000"/>
            <a:ext cx="9043200" cy="432000"/>
          </a:xfrm>
          <a:prstGeom prst="roundRect">
            <a:avLst>
              <a:gd name="adj" fmla="val 10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8000" tIns="0" rIns="108000" bIns="0" rtlCol="0" anchor="ctr"/>
          <a:lstStyle/>
          <a:p>
            <a:pPr algn="ctr">
              <a:lnSpc>
                <a:spcPct val="125000"/>
              </a:lnSpc>
            </a:pPr>
            <a:r>
              <a:rPr sz="13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「手軽な登録」と「整備士に合わせた条件」で、タウンワークの型を貴社向けに最適化します。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2000" y="6246000"/>
            <a:ext cx="9043200" cy="324000"/>
          </a:xfrm>
          <a:prstGeom prst="rect">
            <a:avLst/>
          </a:prstGeom>
          <a:noFill/>
        </p:spPr>
        <p:txBody>
          <a:bodyPr wrap="square" lIns="0" tIns="21600" rIns="0" bIns="216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5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出典：自動車求人Navi 検索画面（2026年9月28日時点の掲載件数）</a:t>
            </a:r>
          </a:p>
        </p:txBody>
      </p:sp>
    </p:spTree>
    <p:extLst>
      <p:ext uri="{BB962C8B-B14F-4D97-AF65-F5344CB8AC3E}">
        <p14:creationId xmlns:p14="http://schemas.microsoft.com/office/powerpoint/2010/main" val="50733503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305794-10C5-A163-5F03-DB8F5144F6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7200" y="136800"/>
            <a:ext cx="8784000" cy="338400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/>
            <a:r>
              <a:rPr sz="16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友だち追加の動線｜サイトに訪れた方とLINEでつながる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2000" y="648000"/>
            <a:ext cx="9036000" cy="684000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サイトに訪れた方に、2つの入口からLINEの友だち（登録者）になっていただきます。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0" y="1389600"/>
            <a:ext cx="9907200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432000" y="1548000"/>
            <a:ext cx="4392000" cy="360000"/>
          </a:xfrm>
          <a:prstGeom prst="roundRect">
            <a:avLst>
              <a:gd name="adj" fmla="val 18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0" rIns="36000" bIns="0" rtlCol="0" anchor="ctr"/>
          <a:lstStyle/>
          <a:p>
            <a:pPr algn="ctr"/>
            <a:r>
              <a:rPr sz="125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動線00　離脱防止ポップアップ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2000" y="1944000"/>
            <a:ext cx="4392000" cy="684000"/>
          </a:xfrm>
          <a:prstGeom prst="rect">
            <a:avLst/>
          </a:prstGeom>
          <a:noFill/>
        </p:spPr>
        <p:txBody>
          <a:bodyPr wrap="square" lIns="36000" tIns="21600" rIns="50400" bIns="2160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求人ページから離れようとした方</a:t>
            </a:r>
            <a:r>
              <a:rPr sz="110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 → 「</a:t>
            </a:r>
            <a:r>
              <a:rPr sz="11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条件に合う新着求人をLINEでお届け</a:t>
            </a:r>
            <a:r>
              <a:rPr sz="110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」 → </a:t>
            </a:r>
            <a:r>
              <a:rPr sz="11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LINE追加</a:t>
            </a:r>
            <a:endParaRPr sz="110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  <a:p>
            <a:pPr algn="l"/>
            <a:r>
              <a:rPr sz="1000" b="1" dirty="0">
                <a:solidFill>
                  <a:srgbClr val="ED7D31"/>
                </a:solidFill>
                <a:latin typeface="メイリオ"/>
                <a:ea typeface="メイリオ"/>
                <a:cs typeface="メイリオ"/>
              </a:rPr>
              <a:t>※月3万円（初期1.5万円）</a:t>
            </a:r>
          </a:p>
        </p:txBody>
      </p:sp>
      <p:pic>
        <p:nvPicPr>
          <p:cNvPr id="7" name="Picture 6" descr="chengrowth_v11_popu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4745" y="2736000"/>
            <a:ext cx="4086508" cy="2556000"/>
          </a:xfrm>
          <a:prstGeom prst="rect">
            <a:avLst/>
          </a:prstGeom>
          <a:ln>
            <a:solidFill>
              <a:srgbClr val="D9D9D9"/>
            </a:solidFill>
          </a:ln>
        </p:spPr>
      </p:pic>
      <p:sp>
        <p:nvSpPr>
          <p:cNvPr id="8" name="Rounded Rectangle 7"/>
          <p:cNvSpPr/>
          <p:nvPr/>
        </p:nvSpPr>
        <p:spPr>
          <a:xfrm>
            <a:off x="5083200" y="1548000"/>
            <a:ext cx="4392000" cy="360000"/>
          </a:xfrm>
          <a:prstGeom prst="roundRect">
            <a:avLst>
              <a:gd name="adj" fmla="val 18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0" rIns="36000" bIns="0" rtlCol="0" anchor="ctr"/>
          <a:lstStyle/>
          <a:p>
            <a:pPr algn="ctr"/>
            <a:r>
              <a:rPr sz="125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動線01　「LINEで登録」ボタン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83200" y="1944000"/>
            <a:ext cx="4392000" cy="684000"/>
          </a:xfrm>
          <a:prstGeom prst="rect">
            <a:avLst/>
          </a:prstGeom>
          <a:noFill/>
        </p:spPr>
        <p:txBody>
          <a:bodyPr wrap="square" lIns="36000" tIns="21600" rIns="50400" bIns="2160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求人詳細・会員登録ページ → 「LINEで登録（入力ほぼ不要）」 → LINE追加＋会員登録</a:t>
            </a:r>
          </a:p>
          <a:p>
            <a:pPr algn="l"/>
            <a:r>
              <a:rPr sz="1000" b="1">
                <a:solidFill>
                  <a:srgbClr val="ED7D31"/>
                </a:solidFill>
                <a:latin typeface="メイリオ"/>
                <a:ea typeface="メイリオ"/>
                <a:cs typeface="メイリオ"/>
              </a:rPr>
              <a:t>※サイト側で実装（リニューアルの要件）</a:t>
            </a:r>
          </a:p>
        </p:txBody>
      </p:sp>
      <p:pic>
        <p:nvPicPr>
          <p:cNvPr id="10" name="Picture 9" descr="chengrowth_v11_regist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35945" y="2736000"/>
            <a:ext cx="4086508" cy="2556000"/>
          </a:xfrm>
          <a:prstGeom prst="rect">
            <a:avLst/>
          </a:prstGeom>
          <a:ln>
            <a:solidFill>
              <a:srgbClr val="D9D9D9"/>
            </a:solidFill>
          </a:ln>
        </p:spPr>
      </p:pic>
      <p:sp>
        <p:nvSpPr>
          <p:cNvPr id="11" name="Rounded Rectangle 10"/>
          <p:cNvSpPr/>
          <p:nvPr/>
        </p:nvSpPr>
        <p:spPr>
          <a:xfrm>
            <a:off x="432000" y="5472000"/>
            <a:ext cx="9043200" cy="432000"/>
          </a:xfrm>
          <a:prstGeom prst="roundRect">
            <a:avLst>
              <a:gd name="adj" fmla="val 10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8000" tIns="0" rIns="108000" bIns="0" rtlCol="0" anchor="ctr"/>
          <a:lstStyle/>
          <a:p>
            <a:pPr algn="ctr">
              <a:lnSpc>
                <a:spcPct val="125000"/>
              </a:lnSpc>
            </a:pPr>
            <a:r>
              <a:rPr sz="13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応募しなかった方、サイトを離れようとした方とも、LINEでつながり続けられます。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2000" y="6246000"/>
            <a:ext cx="9043200" cy="324000"/>
          </a:xfrm>
          <a:prstGeom prst="rect">
            <a:avLst/>
          </a:prstGeom>
          <a:noFill/>
        </p:spPr>
        <p:txBody>
          <a:bodyPr wrap="square" lIns="0" tIns="21600" rIns="0" bIns="216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5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※画面はイメージです</a:t>
            </a:r>
          </a:p>
        </p:txBody>
      </p:sp>
    </p:spTree>
    <p:extLst>
      <p:ext uri="{BB962C8B-B14F-4D97-AF65-F5344CB8AC3E}">
        <p14:creationId xmlns:p14="http://schemas.microsoft.com/office/powerpoint/2010/main" val="365182510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082CEA-3068-C260-29FA-52D10FA7F4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7200" y="136800"/>
            <a:ext cx="8784000" cy="338400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/>
            <a:r>
              <a:rPr sz="16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リッチメニューと配信で、応募へつなげる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2000" y="648000"/>
            <a:ext cx="9036000" cy="684000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登録した方が「探したいとき」はリッチメニュー、「まだ検討中のとき」は配信で、応募へつなげます。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0" y="1389600"/>
            <a:ext cx="9907200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432000" y="1548000"/>
            <a:ext cx="2951999" cy="342000"/>
          </a:xfrm>
          <a:prstGeom prst="roundRect">
            <a:avLst>
              <a:gd name="adj" fmla="val 18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0" rIns="36000" bIns="0" rtlCol="0" anchor="ctr"/>
          <a:lstStyle/>
          <a:p>
            <a:pPr algn="ctr"/>
            <a:r>
              <a:rPr sz="115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リッチメニュー（いつでも探せる入口）</a:t>
            </a:r>
          </a:p>
        </p:txBody>
      </p:sp>
      <p:pic>
        <p:nvPicPr>
          <p:cNvPr id="6" name="Picture 5" descr="chengrowth_v11_richmenu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2000" y="1949999"/>
            <a:ext cx="2951999" cy="1967999"/>
          </a:xfrm>
          <a:prstGeom prst="rect">
            <a:avLst/>
          </a:prstGeom>
          <a:ln>
            <a:solidFill>
              <a:srgbClr val="D9D9D9"/>
            </a:solidFill>
          </a:ln>
        </p:spPr>
      </p:pic>
      <p:sp>
        <p:nvSpPr>
          <p:cNvPr id="7" name="TextBox 6"/>
          <p:cNvSpPr txBox="1"/>
          <p:nvPr/>
        </p:nvSpPr>
        <p:spPr>
          <a:xfrm>
            <a:off x="432000" y="3978000"/>
            <a:ext cx="2951999" cy="576000"/>
          </a:xfrm>
          <a:prstGeom prst="rect">
            <a:avLst/>
          </a:prstGeom>
          <a:noFill/>
        </p:spPr>
        <p:txBody>
          <a:bodyPr wrap="square" lIns="0" tIns="21600" rIns="50400" bIns="2160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整備士・営業・近くの求人・資格・未経験OK・新着を、ワンタップで検索結果へ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528000" y="1548000"/>
            <a:ext cx="5947200" cy="342000"/>
          </a:xfrm>
          <a:prstGeom prst="roundRect">
            <a:avLst>
              <a:gd name="adj" fmla="val 18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0" rIns="36000" bIns="0" rtlCol="0" anchor="ctr"/>
          <a:lstStyle/>
          <a:p>
            <a:pPr algn="ctr"/>
            <a:r>
              <a:rPr sz="115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配信（検討中の方を応募へ）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24901360"/>
              </p:ext>
            </p:extLst>
          </p:nvPr>
        </p:nvGraphicFramePr>
        <p:xfrm>
          <a:off x="3528000" y="1925999"/>
          <a:ext cx="4463999" cy="237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5241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1958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84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0799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94000"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配信</a:t>
                      </a:r>
                    </a:p>
                  </a:txBody>
                  <a:tcPr anchor="ctr">
                    <a:solidFill>
                      <a:srgbClr val="1F28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 dirty="0" err="1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対象</a:t>
                      </a:r>
                      <a:endParaRPr sz="1050" b="1" dirty="0">
                        <a:solidFill>
                          <a:srgbClr val="FFFFFF"/>
                        </a:solidFill>
                        <a:latin typeface="メイリオ"/>
                        <a:ea typeface="メイリオ"/>
                        <a:cs typeface="メイリオ"/>
                      </a:endParaRPr>
                    </a:p>
                  </a:txBody>
                  <a:tcPr anchor="ctr">
                    <a:solidFill>
                      <a:srgbClr val="1F28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内容</a:t>
                      </a:r>
                    </a:p>
                  </a:txBody>
                  <a:tcPr anchor="ctr">
                    <a:solidFill>
                      <a:srgbClr val="1F28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開封×クリック</a:t>
                      </a:r>
                    </a:p>
                  </a:txBody>
                  <a:tcPr anchor="ctr">
                    <a:solidFill>
                      <a:srgbClr val="1F285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4000">
                <a:tc>
                  <a:txBody>
                    <a:bodyPr/>
                    <a:lstStyle/>
                    <a:p>
                      <a:pPr algn="ctr"/>
                      <a:r>
                        <a:rPr sz="1050" b="0" dirty="0" err="1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ステップ配信</a:t>
                      </a:r>
                      <a:endParaRPr sz="1050" b="0" dirty="0">
                        <a:solidFill>
                          <a:srgbClr val="333333"/>
                        </a:solidFill>
                        <a:latin typeface="メイリオ"/>
                        <a:ea typeface="メイリオ"/>
                        <a:cs typeface="メイリオ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登録した方
（0〜14日）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職種を聞く→合う求人
→応募のご案内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72.5%×12%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4000"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新着求人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条件が合う方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条件が合う新着だけ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78%×10%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94000"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年間の企画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友だち全員（応募済みの方を除く）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3月のピークに向けて前倒し
（月4本）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dirty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78%×10%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pic>
        <p:nvPicPr>
          <p:cNvPr id="10" name="Picture 9" descr="chengrowth_v11_talk_ste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18994" y="1925999"/>
            <a:ext cx="1337210" cy="2376000"/>
          </a:xfrm>
          <a:prstGeom prst="rect">
            <a:avLst/>
          </a:prstGeom>
          <a:ln>
            <a:solidFill>
              <a:srgbClr val="D9D9D9"/>
            </a:solidFill>
          </a:ln>
        </p:spPr>
      </p:pic>
      <p:sp>
        <p:nvSpPr>
          <p:cNvPr id="11" name="Rounded Rectangle 10"/>
          <p:cNvSpPr/>
          <p:nvPr/>
        </p:nvSpPr>
        <p:spPr>
          <a:xfrm>
            <a:off x="432000" y="4788000"/>
            <a:ext cx="9043200" cy="432000"/>
          </a:xfrm>
          <a:prstGeom prst="roundRect">
            <a:avLst>
              <a:gd name="adj" fmla="val 10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8000" tIns="0" rIns="108000" bIns="0" rtlCol="0" anchor="ctr"/>
          <a:lstStyle/>
          <a:p>
            <a:pPr algn="ctr">
              <a:lnSpc>
                <a:spcPct val="125000"/>
              </a:lnSpc>
            </a:pPr>
            <a:r>
              <a:rPr sz="13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応募（CV②）は、リッチメニューと配信の両方から生まれます。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2000" y="6246000"/>
            <a:ext cx="9043200" cy="324000"/>
          </a:xfrm>
          <a:prstGeom prst="rect">
            <a:avLst/>
          </a:prstGeom>
          <a:noFill/>
        </p:spPr>
        <p:txBody>
          <a:bodyPr wrap="square" lIns="0" tIns="21600" rIns="0" bIns="216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5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※画面はイメージです／開封×クリックは弊社シミュレーションの前提値</a:t>
            </a:r>
          </a:p>
        </p:txBody>
      </p:sp>
    </p:spTree>
    <p:extLst>
      <p:ext uri="{BB962C8B-B14F-4D97-AF65-F5344CB8AC3E}">
        <p14:creationId xmlns:p14="http://schemas.microsoft.com/office/powerpoint/2010/main" val="115134335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CDCB94-34C8-7DB0-D6CB-991D39D9B9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7200" y="161078"/>
            <a:ext cx="8784000" cy="289843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/>
            <a:r>
              <a:rPr sz="1600" b="1" dirty="0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応募から採用までをつなげる｜サンクスLINE（オプション）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2000" y="648000"/>
            <a:ext cx="9036000" cy="684000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応募の完了画面でLINEの友だち追加を案内し、応募した方とLINEでつながります。</a:t>
            </a:r>
          </a:p>
          <a:p>
            <a:pPr algn="l">
              <a:lnSpc>
                <a:spcPct val="130000"/>
              </a:lnSpc>
            </a:pPr>
            <a:r>
              <a:rPr sz="12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面談日程のリマインドで取りこぼしを防ぎ、応募の先の「採用」を増やす施策です。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0" y="1389600"/>
            <a:ext cx="9907200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432000" y="1548000"/>
            <a:ext cx="5760000" cy="360000"/>
          </a:xfrm>
          <a:prstGeom prst="roundRect">
            <a:avLst>
              <a:gd name="adj" fmla="val 18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0" rIns="36000" bIns="0" rtlCol="0" anchor="ctr"/>
          <a:lstStyle/>
          <a:p>
            <a:pPr algn="ctr"/>
            <a:r>
              <a:rPr sz="125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動線02　応募の完了画面（サンクスLINE）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2000" y="1944000"/>
            <a:ext cx="5760000" cy="540000"/>
          </a:xfrm>
          <a:prstGeom prst="rect">
            <a:avLst/>
          </a:prstGeom>
          <a:noFill/>
        </p:spPr>
        <p:txBody>
          <a:bodyPr wrap="square" lIns="36000" tIns="21600" rIns="50400" bIns="21600" anchor="t">
            <a:spAutoFit/>
          </a:bodyPr>
          <a:lstStyle/>
          <a:p>
            <a:pPr algn="l"/>
            <a:r>
              <a:rPr sz="11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応募の完了画面 → 「今後のご連絡はLINEでお送りします」 → LINE追加</a:t>
            </a:r>
          </a:p>
          <a:p>
            <a:pPr algn="l"/>
            <a:r>
              <a:rPr sz="1000" b="1">
                <a:solidFill>
                  <a:srgbClr val="ED7D31"/>
                </a:solidFill>
                <a:latin typeface="メイリオ"/>
                <a:ea typeface="メイリオ"/>
                <a:cs typeface="メイリオ"/>
              </a:rPr>
              <a:t>※オプション：月5万円（初期10万円）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2000" y="2592000"/>
            <a:ext cx="1800000" cy="15840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5999" tIns="90000" rIns="108000" bIns="54000" rtlCol="0" anchor="t"/>
          <a:lstStyle/>
          <a:p>
            <a:pPr algn="l">
              <a:spcAft>
                <a:spcPts val="500"/>
              </a:spcAft>
            </a:pPr>
            <a:r>
              <a:rPr sz="10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面談日程のリマインド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前日・当日にLINEでご案内し、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面談の無断キャンセルを防ぐ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386800" y="2592000"/>
            <a:ext cx="1800000" cy="15840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5999" tIns="90000" rIns="108000" bIns="54000" rtlCol="0" anchor="t"/>
          <a:lstStyle/>
          <a:p>
            <a:pPr algn="l">
              <a:spcAft>
                <a:spcPts val="500"/>
              </a:spcAft>
            </a:pPr>
            <a:r>
              <a:rPr sz="10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よくある質問の自動応答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資格・受験料・勤務地などに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LINEで24時間すぐ回答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1600" y="2592000"/>
            <a:ext cx="1800000" cy="15840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5999" tIns="90000" rIns="108000" bIns="54000" rtlCol="0" anchor="t"/>
          <a:lstStyle/>
          <a:p>
            <a:pPr algn="l">
              <a:spcAft>
                <a:spcPts val="500"/>
              </a:spcAft>
            </a:pPr>
            <a:r>
              <a:rPr sz="10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個別のやりとり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日程変更や相談も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電話なしでLINEで完結</a:t>
            </a:r>
          </a:p>
        </p:txBody>
      </p:sp>
      <p:pic>
        <p:nvPicPr>
          <p:cNvPr id="10" name="Picture 9" descr="chengrowth_v11_talk_thank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91604" y="1548000"/>
            <a:ext cx="1863990" cy="3311999"/>
          </a:xfrm>
          <a:prstGeom prst="rect">
            <a:avLst/>
          </a:prstGeom>
          <a:ln>
            <a:solidFill>
              <a:srgbClr val="D9D9D9"/>
            </a:solidFill>
          </a:ln>
        </p:spPr>
      </p:pic>
      <p:sp>
        <p:nvSpPr>
          <p:cNvPr id="11" name="Rounded Rectangle 10"/>
          <p:cNvSpPr/>
          <p:nvPr/>
        </p:nvSpPr>
        <p:spPr>
          <a:xfrm>
            <a:off x="432000" y="4320000"/>
            <a:ext cx="5760000" cy="540000"/>
          </a:xfrm>
          <a:prstGeom prst="roundRect">
            <a:avLst>
              <a:gd name="adj" fmla="val 6000"/>
            </a:avLst>
          </a:prstGeom>
          <a:solidFill>
            <a:srgbClr val="FCE4D6"/>
          </a:solidFill>
          <a:ln w="12700">
            <a:solidFill>
              <a:srgbClr val="ED7D3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400" tIns="21600" rIns="50400" bIns="21600" rtlCol="0" anchor="ctr"/>
          <a:lstStyle/>
          <a:p>
            <a:pPr algn="ctr"/>
            <a:r>
              <a:rPr sz="1150" b="1">
                <a:solidFill>
                  <a:srgbClr val="ED7D31"/>
                </a:solidFill>
                <a:latin typeface="メイリオ"/>
                <a:ea typeface="メイリオ"/>
                <a:cs typeface="メイリオ"/>
              </a:rPr>
              <a:t>応募（CV②）の数は増やさず、応募から採用までの取りこぼしを減らす施策です。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2000" y="5076000"/>
            <a:ext cx="9043200" cy="432000"/>
          </a:xfrm>
          <a:prstGeom prst="roundRect">
            <a:avLst>
              <a:gd name="adj" fmla="val 10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8000" tIns="0" rIns="108000" bIns="0" rtlCol="0" anchor="ctr"/>
          <a:lstStyle/>
          <a:p>
            <a:pPr algn="ctr">
              <a:lnSpc>
                <a:spcPct val="125000"/>
              </a:lnSpc>
            </a:pPr>
            <a:r>
              <a:rPr sz="13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応募して終わりにせず、面談・採用まで同じLINEで伴走します。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2000" y="6246000"/>
            <a:ext cx="9043200" cy="324000"/>
          </a:xfrm>
          <a:prstGeom prst="rect">
            <a:avLst/>
          </a:prstGeom>
          <a:noFill/>
        </p:spPr>
        <p:txBody>
          <a:bodyPr wrap="square" lIns="0" tIns="21600" rIns="0" bIns="216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5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※画面はイメージです／シミュレーションの応募数・費用には含めていません（応募後の採用に効果がある施策のため）</a:t>
            </a:r>
          </a:p>
        </p:txBody>
      </p:sp>
    </p:spTree>
    <p:extLst>
      <p:ext uri="{BB962C8B-B14F-4D97-AF65-F5344CB8AC3E}">
        <p14:creationId xmlns:p14="http://schemas.microsoft.com/office/powerpoint/2010/main" val="265852621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E341AF-76F7-F354-A08C-287945F04D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7200" y="136800"/>
            <a:ext cx="8784000" cy="338400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/>
            <a:r>
              <a:rPr sz="16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サイトリニューアルと同時の導入をおすすめする理由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2000" y="648000"/>
            <a:ext cx="9036000" cy="684000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LINEの友だち・会員の情報は、始めた日からしか蓄積されません。</a:t>
            </a:r>
          </a:p>
          <a:p>
            <a:pPr algn="l">
              <a:lnSpc>
                <a:spcPct val="130000"/>
              </a:lnSpc>
            </a:pPr>
            <a:r>
              <a:rPr sz="12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サイトと同時に始めれば、翌3月の転職のピークを、増えた友だちとともに迎えられます。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0" y="1389600"/>
            <a:ext cx="9907200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432000" y="1584000"/>
            <a:ext cx="2844000" cy="22320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5999" tIns="90000" rIns="108000" bIns="54000" rtlCol="0" anchor="t"/>
          <a:lstStyle/>
          <a:p>
            <a:pPr algn="l">
              <a:spcAft>
                <a:spcPts val="500"/>
              </a:spcAft>
            </a:pPr>
            <a:r>
              <a:rPr sz="13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① データを初日から蓄積できる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2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友だち・会員・クリックの履歴は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2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始めた日から蓄積される。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2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半年後には約700人の友だちに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2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（弊社シミュレーション）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531599" y="1584000"/>
            <a:ext cx="2844000" cy="22320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5999" tIns="90000" rIns="108000" bIns="54000" rtlCol="0" anchor="t"/>
          <a:lstStyle/>
          <a:p>
            <a:pPr algn="l">
              <a:spcAft>
                <a:spcPts val="500"/>
              </a:spcAft>
            </a:pPr>
            <a:r>
              <a:rPr sz="13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② 開発のやり直しを避けられる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2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会員登録の仕組みを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2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後からLINE対応に作り替えると、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2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サイトの改修が二度手間になる。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631199" y="1584000"/>
            <a:ext cx="2844000" cy="22320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5999" tIns="90000" rIns="108000" bIns="54000" rtlCol="0" anchor="t"/>
          <a:lstStyle/>
          <a:p>
            <a:pPr algn="l">
              <a:spcAft>
                <a:spcPts val="500"/>
              </a:spcAft>
            </a:pPr>
            <a:r>
              <a:rPr sz="13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③ 3月の転職のピークに間に合う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2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整備士の検索は一年中あり、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2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ピークは3月。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2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秋までに友だちを増やしておけば、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2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ピークの時期にご案内できる。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2000" y="3996000"/>
            <a:ext cx="1296000" cy="360000"/>
          </a:xfrm>
          <a:prstGeom prst="roundRect">
            <a:avLst>
              <a:gd name="adj" fmla="val 18000"/>
            </a:avLst>
          </a:prstGeom>
          <a:solidFill>
            <a:srgbClr val="06C7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0" rIns="36000" bIns="0" rtlCol="0" anchor="ctr"/>
          <a:lstStyle/>
          <a:p>
            <a:pPr algn="ctr"/>
            <a:r>
              <a:rPr sz="115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同時に開始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800000" y="4068000"/>
            <a:ext cx="7668000" cy="216000"/>
          </a:xfrm>
          <a:prstGeom prst="roundRect">
            <a:avLst>
              <a:gd name="adj" fmla="val 6000"/>
            </a:avLst>
          </a:prstGeom>
          <a:solidFill>
            <a:srgbClr val="06C7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800000" y="4302000"/>
            <a:ext cx="7668000" cy="251999"/>
          </a:xfrm>
          <a:prstGeom prst="rect">
            <a:avLst/>
          </a:prstGeom>
          <a:noFill/>
        </p:spPr>
        <p:txBody>
          <a:bodyPr wrap="square" lIns="0" tIns="21600" rIns="50400" bIns="21600" anchor="t">
            <a:spAutoFit/>
          </a:bodyPr>
          <a:lstStyle/>
          <a:p>
            <a:pPr algn="ctr"/>
            <a:r>
              <a:rPr sz="1050" b="1">
                <a:solidFill>
                  <a:srgbClr val="0B7A3B"/>
                </a:solidFill>
                <a:latin typeface="メイリオ"/>
                <a:ea typeface="メイリオ"/>
                <a:cs typeface="メイリオ"/>
              </a:rPr>
              <a:t>4月 ────── 友だちが増え続ける ────── 翌3月（転職のピーク）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2000" y="4644000"/>
            <a:ext cx="1296000" cy="360000"/>
          </a:xfrm>
          <a:prstGeom prst="roundRect">
            <a:avLst>
              <a:gd name="adj" fmla="val 18000"/>
            </a:avLst>
          </a:prstGeom>
          <a:solidFill>
            <a:srgbClr val="7F7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0" rIns="36000" bIns="0" rtlCol="0" anchor="ctr"/>
          <a:lstStyle/>
          <a:p>
            <a:pPr algn="ctr"/>
            <a:r>
              <a:rPr sz="115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後から開始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800000" y="4716000"/>
            <a:ext cx="3600000" cy="216000"/>
          </a:xfrm>
          <a:prstGeom prst="roundRect">
            <a:avLst>
              <a:gd name="adj" fmla="val 6000"/>
            </a:avLst>
          </a:prstGeom>
          <a:solidFill>
            <a:srgbClr val="E6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5400000" y="4716000"/>
            <a:ext cx="4068000" cy="216000"/>
          </a:xfrm>
          <a:prstGeom prst="roundRect">
            <a:avLst>
              <a:gd name="adj" fmla="val 6000"/>
            </a:avLst>
          </a:prstGeom>
          <a:solidFill>
            <a:srgbClr val="06C7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800000" y="4950000"/>
            <a:ext cx="3600000" cy="251999"/>
          </a:xfrm>
          <a:prstGeom prst="rect">
            <a:avLst/>
          </a:prstGeom>
          <a:noFill/>
        </p:spPr>
        <p:txBody>
          <a:bodyPr wrap="square" lIns="0" tIns="21600" rIns="50400" bIns="21600" anchor="t">
            <a:spAutoFit/>
          </a:bodyPr>
          <a:lstStyle/>
          <a:p>
            <a:pPr algn="ctr"/>
            <a:r>
              <a:rPr sz="1050" b="1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この期間の登録者とはLINEでつながれない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2000" y="5400000"/>
            <a:ext cx="9043200" cy="432000"/>
          </a:xfrm>
          <a:prstGeom prst="roundRect">
            <a:avLst>
              <a:gd name="adj" fmla="val 10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8000" tIns="0" rIns="108000" bIns="0" rtlCol="0" anchor="ctr"/>
          <a:lstStyle/>
          <a:p>
            <a:pPr algn="ctr">
              <a:lnSpc>
                <a:spcPct val="125000"/>
              </a:lnSpc>
            </a:pPr>
            <a:r>
              <a:rPr sz="13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サイトリニューアルと同時に、LINEも最初から入れることをご提案します。</a:t>
            </a:r>
          </a:p>
        </p:txBody>
      </p:sp>
    </p:spTree>
    <p:extLst>
      <p:ext uri="{BB962C8B-B14F-4D97-AF65-F5344CB8AC3E}">
        <p14:creationId xmlns:p14="http://schemas.microsoft.com/office/powerpoint/2010/main" val="373103120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C5A5A4-75AD-516A-9D25-18F8EF002C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7200" y="136800"/>
            <a:ext cx="8784000" cy="338400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/>
            <a:r>
              <a:rPr sz="16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サイトリニューアルに入れる要件3点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2000" y="648000"/>
            <a:ext cx="9036000" cy="684000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LINEで応募へつなげるために、リニューアルの要件として次の3点を入れていただくことをご提案します。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0" y="1389600"/>
            <a:ext cx="9907200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432000" y="1584000"/>
            <a:ext cx="2844000" cy="360000"/>
          </a:xfrm>
          <a:prstGeom prst="roundRect">
            <a:avLst>
              <a:gd name="adj" fmla="val 18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0" rIns="3600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① 会員登録をLINEで完結させる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2000" y="1980000"/>
            <a:ext cx="2844000" cy="19440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5999" tIns="90000" rIns="108000" bIns="54000" rtlCol="0" anchor="t"/>
          <a:lstStyle/>
          <a:p>
            <a:pPr algn="l">
              <a:spcAft>
                <a:spcPts val="500"/>
              </a:spcAft>
            </a:pPr>
            <a:endParaRPr/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2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「LINEでログイン」とLINE Profile+で、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2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入力ほぼなしで会員登録。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2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登録と同時に友だち追加も完了。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531599" y="1584000"/>
            <a:ext cx="2844000" cy="360000"/>
          </a:xfrm>
          <a:prstGeom prst="roundRect">
            <a:avLst>
              <a:gd name="adj" fmla="val 18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0" rIns="3600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② 会員の情報とLINEをひもづける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531599" y="1980000"/>
            <a:ext cx="2844000" cy="19440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5999" tIns="90000" rIns="108000" bIns="54000" rtlCol="0" anchor="t"/>
          <a:lstStyle/>
          <a:p>
            <a:pPr algn="l">
              <a:spcAft>
                <a:spcPts val="500"/>
              </a:spcAft>
            </a:pPr>
            <a:endParaRPr/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2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会員名簿にLINEの情報を保存し、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2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職種・地域・資格で選んで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2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配信できるようにする。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631199" y="1584000"/>
            <a:ext cx="2844000" cy="360000"/>
          </a:xfrm>
          <a:prstGeom prst="roundRect">
            <a:avLst>
              <a:gd name="adj" fmla="val 18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0" rIns="3600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③ 条件別の検索結果ページ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631199" y="1980000"/>
            <a:ext cx="2844000" cy="19440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5999" tIns="90000" rIns="108000" bIns="54000" rtlCol="0" anchor="t"/>
          <a:lstStyle/>
          <a:p>
            <a:pPr algn="l">
              <a:spcAft>
                <a:spcPts val="500"/>
              </a:spcAft>
            </a:pPr>
            <a:endParaRPr/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2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職種×地域×資格ごとのURLを用意し、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2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リッチメニューや配信から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2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そのまま開けるようにする。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2000" y="4140000"/>
            <a:ext cx="9043200" cy="864000"/>
          </a:xfrm>
          <a:prstGeom prst="roundRect">
            <a:avLst>
              <a:gd name="adj" fmla="val 6000"/>
            </a:avLst>
          </a:prstGeom>
          <a:solidFill>
            <a:srgbClr val="FCE4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5999" tIns="90000" rIns="108000" bIns="54000" rtlCol="0" anchor="t"/>
          <a:lstStyle/>
          <a:p>
            <a:pPr algn="l">
              <a:spcAft>
                <a:spcPts val="500"/>
              </a:spcAft>
            </a:pPr>
            <a:r>
              <a:rPr sz="1250" b="1">
                <a:solidFill>
                  <a:srgbClr val="ED7D31"/>
                </a:solidFill>
                <a:latin typeface="メイリオ"/>
                <a:ea typeface="メイリオ"/>
                <a:cs typeface="メイリオ"/>
              </a:rPr>
              <a:t>LINE連携の開発について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LINE連携の開発は、弊社でも対応が可能です（内容に応じて都度お見積もり）。サイト制作会社様と仕様をすり合わせて進めます。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2000" y="5220000"/>
            <a:ext cx="9043200" cy="432000"/>
          </a:xfrm>
          <a:prstGeom prst="roundRect">
            <a:avLst>
              <a:gd name="adj" fmla="val 10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8000" tIns="0" rIns="108000" bIns="0" rtlCol="0" anchor="ctr"/>
          <a:lstStyle/>
          <a:p>
            <a:pPr algn="ctr">
              <a:lnSpc>
                <a:spcPct val="125000"/>
              </a:lnSpc>
            </a:pPr>
            <a:r>
              <a:rPr sz="13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この3点が入っていれば、タウンワークの型を貴社サイトで再現できます。</a:t>
            </a:r>
          </a:p>
        </p:txBody>
      </p:sp>
    </p:spTree>
    <p:extLst>
      <p:ext uri="{BB962C8B-B14F-4D97-AF65-F5344CB8AC3E}">
        <p14:creationId xmlns:p14="http://schemas.microsoft.com/office/powerpoint/2010/main" val="321229055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682CB4-E2E4-29F5-FA9B-848F31DADC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7200" y="136800"/>
            <a:ext cx="8784000" cy="338400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/>
            <a:r>
              <a:rPr sz="16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スケジュール｜4月にサイトと同時に開設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2000" y="648000"/>
            <a:ext cx="9036000" cy="684000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LINE Profile+は申請とLINEヤフー社の審査があるため、予算が決まり次第、早めに着手します。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0" y="1389600"/>
            <a:ext cx="9907200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432000" y="1584000"/>
            <a:ext cx="1296000" cy="684000"/>
          </a:xfrm>
          <a:prstGeom prst="roundRect">
            <a:avLst>
              <a:gd name="adj" fmla="val 18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0" rIns="36000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11〜12月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835999" y="1584000"/>
            <a:ext cx="7639200" cy="6840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5999" tIns="90000" rIns="108000" bIns="54000" rtlCol="0" anchor="ctr"/>
          <a:lstStyle/>
          <a:p>
            <a:pPr algn="l">
              <a:spcAft>
                <a:spcPts val="500"/>
              </a:spcAft>
            </a:pPr>
            <a:r>
              <a:rPr sz="12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予算のご決定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来期の予算にLINEを組み込む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2000" y="2394000"/>
            <a:ext cx="1296000" cy="684000"/>
          </a:xfrm>
          <a:prstGeom prst="roundRect">
            <a:avLst>
              <a:gd name="adj" fmla="val 18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0" rIns="36000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1〜2月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835999" y="2394000"/>
            <a:ext cx="7639200" cy="6840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5999" tIns="90000" rIns="108000" bIns="54000" rtlCol="0" anchor="ctr"/>
          <a:lstStyle/>
          <a:p>
            <a:pPr algn="l">
              <a:spcAft>
                <a:spcPts val="500"/>
              </a:spcAft>
            </a:pPr>
            <a:r>
              <a:rPr sz="12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お申込み・申請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アカウント開設、LINE Profile+の申請、サイト制作会社様と仕様のすり合わせ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2000" y="3204000"/>
            <a:ext cx="1296000" cy="684000"/>
          </a:xfrm>
          <a:prstGeom prst="roundRect">
            <a:avLst>
              <a:gd name="adj" fmla="val 18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0" rIns="36000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2〜3月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835999" y="3204000"/>
            <a:ext cx="7639200" cy="6840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5999" tIns="90000" rIns="108000" bIns="54000" rtlCol="0" anchor="ctr"/>
          <a:lstStyle/>
          <a:p>
            <a:pPr algn="l">
              <a:spcAft>
                <a:spcPts val="500"/>
              </a:spcAft>
            </a:pPr>
            <a:r>
              <a:rPr sz="12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初期構築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あいさつ・リッチメニュー・ステップ配信の作成、サイトとの連携テスト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2000" y="4014000"/>
            <a:ext cx="1296000" cy="684000"/>
          </a:xfrm>
          <a:prstGeom prst="roundRect">
            <a:avLst>
              <a:gd name="adj" fmla="val 18000"/>
            </a:avLst>
          </a:prstGeom>
          <a:solidFill>
            <a:srgbClr val="06C7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0" rIns="36000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4月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835999" y="4014000"/>
            <a:ext cx="7639200" cy="684000"/>
          </a:xfrm>
          <a:prstGeom prst="roundRect">
            <a:avLst>
              <a:gd name="adj" fmla="val 6000"/>
            </a:avLst>
          </a:prstGeom>
          <a:solidFill>
            <a:srgbClr val="E8F8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5999" tIns="90000" rIns="108000" bIns="54000" rtlCol="0" anchor="ctr"/>
          <a:lstStyle/>
          <a:p>
            <a:pPr algn="l">
              <a:spcAft>
                <a:spcPts val="500"/>
              </a:spcAft>
            </a:pPr>
            <a:r>
              <a:rPr sz="12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サイトと同時に開設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運用開始。会員登録・友だち追加を開始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2000" y="4824000"/>
            <a:ext cx="1296000" cy="684000"/>
          </a:xfrm>
          <a:prstGeom prst="roundRect">
            <a:avLst>
              <a:gd name="adj" fmla="val 18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0" rIns="36000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〜翌3月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835999" y="4824000"/>
            <a:ext cx="7639200" cy="6840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5999" tIns="90000" rIns="108000" bIns="54000" rtlCol="0" anchor="ctr"/>
          <a:lstStyle/>
          <a:p>
            <a:pPr algn="l">
              <a:spcAft>
                <a:spcPts val="500"/>
              </a:spcAft>
            </a:pPr>
            <a:r>
              <a:rPr sz="12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友だちを増やし、ピークに備える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毎月の配信と改善を続け、3月の転職のピークに備える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2000" y="6246000"/>
            <a:ext cx="9043200" cy="324000"/>
          </a:xfrm>
          <a:prstGeom prst="rect">
            <a:avLst/>
          </a:prstGeom>
          <a:noFill/>
        </p:spPr>
        <p:txBody>
          <a:bodyPr wrap="square" lIns="0" tIns="21600" rIns="0" bIns="216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5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※LINE Profile+の審査期間は、申請内容により変わります</a:t>
            </a:r>
          </a:p>
        </p:txBody>
      </p:sp>
    </p:spTree>
    <p:extLst>
      <p:ext uri="{BB962C8B-B14F-4D97-AF65-F5344CB8AC3E}">
        <p14:creationId xmlns:p14="http://schemas.microsoft.com/office/powerpoint/2010/main" val="145194516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52631F-440C-AF04-0C69-2C8669EB80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7200" y="136800"/>
            <a:ext cx="8784000" cy="338400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/>
            <a:r>
              <a:rPr sz="16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成果シミュレーション（4〜9月）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2000" y="648000"/>
            <a:ext cx="9036000" cy="684000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会員登録（CV①）はLINEでワンタップ。登録した方を、リッチメニューと配信で応募（CV②）へつなげます。</a:t>
            </a:r>
          </a:p>
          <a:p>
            <a:pPr algn="l">
              <a:lnSpc>
                <a:spcPct val="130000"/>
              </a:lnSpc>
            </a:pPr>
            <a:r>
              <a:rPr sz="12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友だちが増えるほど応募も増え、7月に応募単価が2.5万円を下回る見込みです。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0" y="1389600"/>
            <a:ext cx="9907200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32000" y="1584000"/>
          <a:ext cx="9043200" cy="223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99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44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44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44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44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44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44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0800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446400"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anchor="ctr">
                    <a:solidFill>
                      <a:srgbClr val="1F28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4月</a:t>
                      </a:r>
                    </a:p>
                  </a:txBody>
                  <a:tcPr anchor="ctr">
                    <a:solidFill>
                      <a:srgbClr val="1F28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5月</a:t>
                      </a:r>
                    </a:p>
                  </a:txBody>
                  <a:tcPr anchor="ctr">
                    <a:solidFill>
                      <a:srgbClr val="1F28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6月</a:t>
                      </a:r>
                    </a:p>
                  </a:txBody>
                  <a:tcPr anchor="ctr">
                    <a:solidFill>
                      <a:srgbClr val="1F28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7月</a:t>
                      </a:r>
                    </a:p>
                  </a:txBody>
                  <a:tcPr anchor="ctr">
                    <a:solidFill>
                      <a:srgbClr val="1F28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8月</a:t>
                      </a:r>
                    </a:p>
                  </a:txBody>
                  <a:tcPr anchor="ctr">
                    <a:solidFill>
                      <a:srgbClr val="1F28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9月</a:t>
                      </a:r>
                    </a:p>
                  </a:txBody>
                  <a:tcPr anchor="ctr">
                    <a:solidFill>
                      <a:srgbClr val="1F28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合計</a:t>
                      </a:r>
                    </a:p>
                  </a:txBody>
                  <a:tcPr anchor="ctr">
                    <a:solidFill>
                      <a:srgbClr val="1F285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6400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友だち（累計）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82人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187人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307人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438人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570人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709人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―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6400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会員登録（CV①）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58件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74件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85件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93件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93件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98件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501件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6400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応募（CV②）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3件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5件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8件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11件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13件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15件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55件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46400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応募単価（CPA）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7.8万円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4.7万円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2.9万円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C0000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2.1万円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C0000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1.8万円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C0000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1.6万円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―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432000" y="3996000"/>
            <a:ext cx="2844000" cy="12240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400" tIns="21600" rIns="50400" bIns="21600" rtlCol="0" anchor="ctr"/>
          <a:lstStyle/>
          <a:p>
            <a:pPr algn="ctr">
              <a:spcAft>
                <a:spcPts val="300"/>
              </a:spcAft>
            </a:pPr>
            <a:r>
              <a:rPr sz="12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半年の会員登録（CV①）</a:t>
            </a:r>
          </a:p>
          <a:p>
            <a:pPr algn="ctr">
              <a:spcAft>
                <a:spcPts val="300"/>
              </a:spcAft>
            </a:pPr>
            <a:r>
              <a:rPr sz="28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501件</a:t>
            </a:r>
          </a:p>
          <a:p>
            <a:pPr algn="ctr"/>
            <a:r>
              <a:rPr sz="10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LINEでワンタップ登録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531599" y="3996000"/>
            <a:ext cx="2844000" cy="12240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400" tIns="21600" rIns="50400" bIns="21600" rtlCol="0" anchor="ctr"/>
          <a:lstStyle/>
          <a:p>
            <a:pPr algn="ctr">
              <a:spcAft>
                <a:spcPts val="300"/>
              </a:spcAft>
            </a:pPr>
            <a:r>
              <a:rPr sz="12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半年の応募（CV②）</a:t>
            </a:r>
          </a:p>
          <a:p>
            <a:pPr algn="ctr">
              <a:spcAft>
                <a:spcPts val="300"/>
              </a:spcAft>
            </a:pPr>
            <a:r>
              <a:rPr sz="28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55件</a:t>
            </a:r>
          </a:p>
          <a:p>
            <a:pPr algn="ctr"/>
            <a:r>
              <a:rPr sz="10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リッチメニュー・配信から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631199" y="3996000"/>
            <a:ext cx="2844000" cy="1224000"/>
          </a:xfrm>
          <a:prstGeom prst="roundRect">
            <a:avLst>
              <a:gd name="adj" fmla="val 6000"/>
            </a:avLst>
          </a:prstGeom>
          <a:solidFill>
            <a:srgbClr val="FCE4D6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400" tIns="21600" rIns="50400" bIns="21600" rtlCol="0" anchor="ctr"/>
          <a:lstStyle/>
          <a:p>
            <a:pPr algn="ctr">
              <a:spcAft>
                <a:spcPts val="300"/>
              </a:spcAft>
            </a:pPr>
            <a:r>
              <a:rPr sz="12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9月の応募単価</a:t>
            </a:r>
          </a:p>
          <a:p>
            <a:pPr algn="ctr">
              <a:spcAft>
                <a:spcPts val="300"/>
              </a:spcAft>
            </a:pPr>
            <a:r>
              <a:rPr sz="2800" b="1">
                <a:solidFill>
                  <a:srgbClr val="ED7D31"/>
                </a:solidFill>
                <a:latin typeface="メイリオ"/>
                <a:ea typeface="メイリオ"/>
                <a:cs typeface="メイリオ"/>
              </a:rPr>
              <a:t>1.6万円</a:t>
            </a:r>
          </a:p>
          <a:p>
            <a:pPr algn="ctr"/>
            <a:r>
              <a:rPr sz="10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目標2〜2.5万円を下回る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2000" y="6246000"/>
            <a:ext cx="9043200" cy="324000"/>
          </a:xfrm>
          <a:prstGeom prst="rect">
            <a:avLst/>
          </a:prstGeom>
          <a:noFill/>
        </p:spPr>
        <p:txBody>
          <a:bodyPr wrap="square" lIns="0" tIns="21600" rIns="0" bIns="216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5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前提：サイト来訪 月約6,100人（広告のシミュレーション確定後に差し替え）／LINEで登録＝来訪者の1.5%／費用 月23.5万円／応募単価＝月の費用÷その月の応募数（初期費用は含まない）</a:t>
            </a:r>
          </a:p>
        </p:txBody>
      </p:sp>
    </p:spTree>
    <p:extLst>
      <p:ext uri="{BB962C8B-B14F-4D97-AF65-F5344CB8AC3E}">
        <p14:creationId xmlns:p14="http://schemas.microsoft.com/office/powerpoint/2010/main" val="126982279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47C1D4-87AF-B047-12E0-A214281205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7200" y="136800"/>
            <a:ext cx="8784000" cy="338400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/>
            <a:r>
              <a:rPr sz="16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費用と体制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2000" y="648000"/>
            <a:ext cx="9036000" cy="684000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LINE単独のお見積もりです（サイト制作費・広告運用費とは別）。運用は弊社が担当します。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0" y="1389600"/>
            <a:ext cx="9907200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32000" y="1584000"/>
          <a:ext cx="5256000" cy="277186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64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9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9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90857"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項目</a:t>
                      </a:r>
                    </a:p>
                  </a:txBody>
                  <a:tcPr anchor="ctr">
                    <a:solidFill>
                      <a:srgbClr val="1F28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初期</a:t>
                      </a:r>
                    </a:p>
                  </a:txBody>
                  <a:tcPr anchor="ctr">
                    <a:solidFill>
                      <a:srgbClr val="1F28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月額</a:t>
                      </a:r>
                    </a:p>
                  </a:txBody>
                  <a:tcPr anchor="ctr">
                    <a:solidFill>
                      <a:srgbClr val="1F285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0857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LINE運用コンサル
（設計・構築・配信・改善）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20万円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20万円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0857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離脱防止ポップアップ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1.5万円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3万円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0857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LINE公式アカウント（開設／利用料）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3万円〜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0.5万円〜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0857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合計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C0000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24.5万円〜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C0000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23.5万円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0857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サンクスLINE（オプション）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10万円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5万円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90858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LINE Profile+／LINE連携の開発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都度お見積もり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―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903999" y="1584000"/>
            <a:ext cx="3571200" cy="288000"/>
          </a:xfrm>
          <a:prstGeom prst="rect">
            <a:avLst/>
          </a:prstGeom>
          <a:noFill/>
        </p:spPr>
        <p:txBody>
          <a:bodyPr wrap="square" lIns="0" tIns="21600" rIns="50400" bIns="21600" anchor="t">
            <a:spAutoFit/>
          </a:bodyPr>
          <a:lstStyle/>
          <a:p>
            <a:pPr algn="l"/>
            <a:r>
              <a:rPr sz="13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体制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03999" y="1908000"/>
            <a:ext cx="3571200" cy="737999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5999" tIns="90000" rIns="108000" bIns="54000" rtlCol="0" anchor="t"/>
          <a:lstStyle/>
          <a:p>
            <a:pPr algn="l">
              <a:spcAft>
                <a:spcPts val="500"/>
              </a:spcAft>
            </a:pPr>
            <a:r>
              <a:rPr sz="11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弊社：戦略・設計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アカウント設計、動線・配信の設計、効果の分析と改善のご提案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03999" y="2718000"/>
            <a:ext cx="3571200" cy="737999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5999" tIns="90000" rIns="108000" bIns="54000" rtlCol="0" anchor="t"/>
          <a:lstStyle/>
          <a:p>
            <a:pPr algn="l">
              <a:spcAft>
                <a:spcPts val="500"/>
              </a:spcAft>
            </a:pPr>
            <a:r>
              <a:rPr sz="11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弊社：運用・制作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あいさつ・リッチメニュー・配信の作成と設定、毎月のレポート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03999" y="3528000"/>
            <a:ext cx="3571200" cy="737999"/>
          </a:xfrm>
          <a:prstGeom prst="roundRect">
            <a:avLst>
              <a:gd name="adj" fmla="val 6000"/>
            </a:avLst>
          </a:prstGeom>
          <a:solidFill>
            <a:srgbClr val="FCE4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5999" tIns="90000" rIns="108000" bIns="54000" rtlCol="0" anchor="t"/>
          <a:lstStyle/>
          <a:p>
            <a:pPr algn="l">
              <a:spcAft>
                <a:spcPts val="500"/>
              </a:spcAft>
            </a:pPr>
            <a:r>
              <a:rPr sz="1150" b="1">
                <a:solidFill>
                  <a:srgbClr val="ED7D31"/>
                </a:solidFill>
                <a:latin typeface="メイリオ"/>
                <a:ea typeface="メイリオ"/>
                <a:cs typeface="メイリオ"/>
              </a:rPr>
              <a:t>貴社にお願いすること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求人情報・面談体制の共有、サイト制作会社様との連携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2000" y="4536000"/>
            <a:ext cx="9043200" cy="432000"/>
          </a:xfrm>
          <a:prstGeom prst="roundRect">
            <a:avLst>
              <a:gd name="adj" fmla="val 10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8000" tIns="0" rIns="108000" bIns="0" rtlCol="0" anchor="ctr"/>
          <a:lstStyle/>
          <a:p>
            <a:pPr algn="ctr">
              <a:lnSpc>
                <a:spcPct val="125000"/>
              </a:lnSpc>
            </a:pPr>
            <a:r>
              <a:rPr sz="13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月23.5万円で、会員登録から応募までをLINEでつなげる仕組みを構築・運用します。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2000" y="6246000"/>
            <a:ext cx="9043200" cy="324000"/>
          </a:xfrm>
          <a:prstGeom prst="rect">
            <a:avLst/>
          </a:prstGeom>
          <a:noFill/>
        </p:spPr>
        <p:txBody>
          <a:bodyPr wrap="square" lIns="0" tIns="21600" rIns="0" bIns="216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5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※LINE公式アカウントの利用料は配信通数により変動します</a:t>
            </a:r>
          </a:p>
        </p:txBody>
      </p:sp>
    </p:spTree>
    <p:extLst>
      <p:ext uri="{BB962C8B-B14F-4D97-AF65-F5344CB8AC3E}">
        <p14:creationId xmlns:p14="http://schemas.microsoft.com/office/powerpoint/2010/main" val="18937795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EA8C22-A859-569A-8EEC-58728B6BD6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7200" y="161078"/>
            <a:ext cx="8784000" cy="289843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/>
            <a:r>
              <a:rPr sz="1600" b="1" dirty="0" err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業界の人手不足</a:t>
            </a:r>
            <a:endParaRPr sz="1600" b="1" dirty="0">
              <a:solidFill>
                <a:srgbClr val="002060"/>
              </a:solidFill>
              <a:latin typeface="メイリオ"/>
              <a:ea typeface="メイリオ"/>
              <a:cs typeface="メイリオ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432000" y="648000"/>
            <a:ext cx="9036000" cy="684000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整備士・営業は、求人に対して人材が大きく不足している「超売り手市場」です。担い手も増えていません。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0" y="1389600"/>
            <a:ext cx="9907200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432000" y="1584000"/>
            <a:ext cx="2844000" cy="14400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400" tIns="21600" rIns="50400" bIns="21600" rtlCol="0" anchor="ctr"/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整備士の有効求人倍率</a:t>
            </a:r>
          </a:p>
          <a:p>
            <a:pPr algn="ctr">
              <a:spcAft>
                <a:spcPts val="400"/>
              </a:spcAft>
            </a:pPr>
            <a:r>
              <a:rPr sz="3400" b="1">
                <a:solidFill>
                  <a:srgbClr val="ED7D31"/>
                </a:solidFill>
                <a:latin typeface="メイリオ"/>
                <a:ea typeface="メイリオ"/>
                <a:cs typeface="メイリオ"/>
              </a:rPr>
              <a:t>5.46倍</a:t>
            </a:r>
          </a:p>
          <a:p>
            <a:pPr algn="ctr"/>
            <a:r>
              <a:rPr sz="10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2025年度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531599" y="1584000"/>
            <a:ext cx="2844000" cy="14400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400" tIns="21600" rIns="50400" bIns="21600" rtlCol="0" anchor="ctr"/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自動車営業の有効求人倍率</a:t>
            </a:r>
          </a:p>
          <a:p>
            <a:pPr algn="ctr">
              <a:spcAft>
                <a:spcPts val="400"/>
              </a:spcAft>
            </a:pPr>
            <a:r>
              <a:rPr sz="3400" b="1">
                <a:solidFill>
                  <a:srgbClr val="ED7D31"/>
                </a:solidFill>
                <a:latin typeface="メイリオ"/>
                <a:ea typeface="メイリオ"/>
                <a:cs typeface="メイリオ"/>
              </a:rPr>
              <a:t>12.55倍</a:t>
            </a:r>
          </a:p>
          <a:p>
            <a:pPr algn="ctr"/>
            <a:r>
              <a:rPr sz="10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2025年度（受付事務は0.96倍）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631199" y="1584000"/>
            <a:ext cx="2844000" cy="14400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400" tIns="21600" rIns="50400" bIns="21600" rtlCol="0" anchor="ctr"/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人手不足を感じる整備事業者</a:t>
            </a:r>
          </a:p>
          <a:p>
            <a:pPr algn="ctr">
              <a:spcAft>
                <a:spcPts val="400"/>
              </a:spcAft>
            </a:pPr>
            <a:r>
              <a:rPr sz="3400" b="1">
                <a:solidFill>
                  <a:srgbClr val="ED7D31"/>
                </a:solidFill>
                <a:latin typeface="メイリオ"/>
                <a:ea typeface="メイリオ"/>
                <a:cs typeface="メイリオ"/>
              </a:rPr>
              <a:t>約6割</a:t>
            </a:r>
          </a:p>
          <a:p>
            <a:pPr algn="ctr"/>
            <a:r>
              <a:rPr sz="10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国土交通省の資料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32000" y="3240000"/>
          <a:ext cx="9043200" cy="1188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4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4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4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23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96000"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anchor="ctr">
                    <a:solidFill>
                      <a:srgbClr val="1F28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以前</a:t>
                      </a:r>
                    </a:p>
                  </a:txBody>
                  <a:tcPr anchor="ctr">
                    <a:solidFill>
                      <a:srgbClr val="1F28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最近</a:t>
                      </a:r>
                    </a:p>
                  </a:txBody>
                  <a:tcPr anchor="ctr">
                    <a:solidFill>
                      <a:srgbClr val="1F28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変化</a:t>
                      </a:r>
                    </a:p>
                  </a:txBody>
                  <a:tcPr anchor="ctr">
                    <a:solidFill>
                      <a:srgbClr val="1F285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6000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整備学校の入学者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12,394人（2003年度）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7,068人（2024年度）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C0000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約4割減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6000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整備要員の平均年齢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39.7歳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47.2歳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C0000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高齢化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432000" y="4680000"/>
            <a:ext cx="9043200" cy="432000"/>
          </a:xfrm>
          <a:prstGeom prst="roundRect">
            <a:avLst>
              <a:gd name="adj" fmla="val 10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8000" tIns="0" rIns="108000" bIns="0" rtlCol="0" anchor="ctr"/>
          <a:lstStyle/>
          <a:p>
            <a:pPr algn="ctr">
              <a:lnSpc>
                <a:spcPct val="125000"/>
              </a:lnSpc>
            </a:pPr>
            <a:r>
              <a:rPr sz="13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人材が集まりにくい市場だからこそ、サイトに訪れた求職者を逃さない仕組みが効果を発揮します。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2000" y="6246000"/>
            <a:ext cx="9043200" cy="324000"/>
          </a:xfrm>
          <a:prstGeom prst="rect">
            <a:avLst/>
          </a:prstGeom>
          <a:noFill/>
        </p:spPr>
        <p:txBody>
          <a:bodyPr wrap="square" lIns="0" tIns="21600" rIns="0" bIns="216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5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出典：厚生労働省 job tag（有効求人倍率・2025年度）／国土交通省資料（出典：自動車整備白書）</a:t>
            </a:r>
          </a:p>
        </p:txBody>
      </p:sp>
    </p:spTree>
    <p:extLst>
      <p:ext uri="{BB962C8B-B14F-4D97-AF65-F5344CB8AC3E}">
        <p14:creationId xmlns:p14="http://schemas.microsoft.com/office/powerpoint/2010/main" val="173466286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7200" y="161078"/>
            <a:ext cx="8784000" cy="289843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/>
            <a:r>
              <a:rPr sz="1600" b="1" dirty="0" err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求職者の動き方</a:t>
            </a:r>
            <a:endParaRPr sz="1600" b="1" dirty="0">
              <a:solidFill>
                <a:srgbClr val="002060"/>
              </a:solidFill>
              <a:latin typeface="メイリオ"/>
              <a:ea typeface="メイリオ"/>
              <a:cs typeface="メイリオ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432000" y="648000"/>
            <a:ext cx="9036000" cy="684000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整備士は、複数の経路を併用して比べながら仕事を探しています。検索は一年を通してあり、ピークは3月です。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0" y="1389600"/>
            <a:ext cx="9907200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32000" y="1548000"/>
            <a:ext cx="3960000" cy="288000"/>
          </a:xfrm>
          <a:prstGeom prst="rect">
            <a:avLst/>
          </a:prstGeom>
          <a:noFill/>
        </p:spPr>
        <p:txBody>
          <a:bodyPr wrap="square" lIns="0" tIns="21600" rIns="50400" bIns="21600" anchor="t">
            <a:spAutoFit/>
          </a:bodyPr>
          <a:lstStyle/>
          <a:p>
            <a:pPr algn="l"/>
            <a:r>
              <a:rPr sz="12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仕事を探した経路（複数回答）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2000" y="1908000"/>
            <a:ext cx="1584000" cy="396000"/>
          </a:xfrm>
          <a:prstGeom prst="rect">
            <a:avLst/>
          </a:prstGeom>
          <a:noFill/>
        </p:spPr>
        <p:txBody>
          <a:bodyPr wrap="square" lIns="0" tIns="21600" rIns="50400" bIns="21600" anchor="ctr">
            <a:spAutoFit/>
          </a:bodyPr>
          <a:lstStyle/>
          <a:p>
            <a:pPr algn="l"/>
            <a:r>
              <a:rPr sz="10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転職エージェント</a:t>
            </a:r>
          </a:p>
        </p:txBody>
      </p:sp>
      <p:sp>
        <p:nvSpPr>
          <p:cNvPr id="7" name="Rectangle 6"/>
          <p:cNvSpPr/>
          <p:nvPr/>
        </p:nvSpPr>
        <p:spPr>
          <a:xfrm>
            <a:off x="2052000" y="1980000"/>
            <a:ext cx="1800000" cy="251999"/>
          </a:xfrm>
          <a:prstGeom prst="rect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888000" y="1908000"/>
            <a:ext cx="648000" cy="396000"/>
          </a:xfrm>
          <a:prstGeom prst="rect">
            <a:avLst/>
          </a:prstGeom>
          <a:noFill/>
        </p:spPr>
        <p:txBody>
          <a:bodyPr wrap="square" lIns="0" tIns="21600" rIns="50400" bIns="21600" anchor="ctr">
            <a:spAutoFit/>
          </a:bodyPr>
          <a:lstStyle/>
          <a:p>
            <a:pPr algn="l"/>
            <a:r>
              <a:rPr sz="11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35.3%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2000" y="2448000"/>
            <a:ext cx="1584000" cy="396000"/>
          </a:xfrm>
          <a:prstGeom prst="rect">
            <a:avLst/>
          </a:prstGeom>
          <a:noFill/>
        </p:spPr>
        <p:txBody>
          <a:bodyPr wrap="square" lIns="0" tIns="21600" rIns="50400" bIns="21600" anchor="ctr">
            <a:spAutoFit/>
          </a:bodyPr>
          <a:lstStyle/>
          <a:p>
            <a:pPr algn="l"/>
            <a:r>
              <a:rPr sz="10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総合型の求人サイト</a:t>
            </a:r>
          </a:p>
        </p:txBody>
      </p:sp>
      <p:sp>
        <p:nvSpPr>
          <p:cNvPr id="10" name="Rectangle 9"/>
          <p:cNvSpPr/>
          <p:nvPr/>
        </p:nvSpPr>
        <p:spPr>
          <a:xfrm>
            <a:off x="2052000" y="2520000"/>
            <a:ext cx="1738810" cy="251999"/>
          </a:xfrm>
          <a:prstGeom prst="rect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826810" y="2448000"/>
            <a:ext cx="648000" cy="396000"/>
          </a:xfrm>
          <a:prstGeom prst="rect">
            <a:avLst/>
          </a:prstGeom>
          <a:noFill/>
        </p:spPr>
        <p:txBody>
          <a:bodyPr wrap="square" lIns="0" tIns="21600" rIns="50400" bIns="21600" anchor="ctr">
            <a:spAutoFit/>
          </a:bodyPr>
          <a:lstStyle/>
          <a:p>
            <a:pPr algn="l"/>
            <a:r>
              <a:rPr sz="11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34.1%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2000" y="2988000"/>
            <a:ext cx="1584000" cy="396000"/>
          </a:xfrm>
          <a:prstGeom prst="rect">
            <a:avLst/>
          </a:prstGeom>
          <a:noFill/>
        </p:spPr>
        <p:txBody>
          <a:bodyPr wrap="square" lIns="0" tIns="21600" rIns="50400" bIns="21600" anchor="ctr">
            <a:spAutoFit/>
          </a:bodyPr>
          <a:lstStyle/>
          <a:p>
            <a:pPr algn="l"/>
            <a:r>
              <a:rPr sz="10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業界特化型の求人サイト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052000" y="3060000"/>
            <a:ext cx="1682719" cy="251999"/>
          </a:xfrm>
          <a:prstGeom prst="rect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770719" y="2988000"/>
            <a:ext cx="648000" cy="396000"/>
          </a:xfrm>
          <a:prstGeom prst="rect">
            <a:avLst/>
          </a:prstGeom>
          <a:noFill/>
        </p:spPr>
        <p:txBody>
          <a:bodyPr wrap="square" lIns="0" tIns="21600" rIns="50400" bIns="21600" anchor="ctr">
            <a:spAutoFit/>
          </a:bodyPr>
          <a:lstStyle/>
          <a:p>
            <a:pPr algn="l"/>
            <a:r>
              <a:rPr sz="11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33.0%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2000" y="3600000"/>
            <a:ext cx="3960000" cy="8640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5999" tIns="90000" rIns="108000" bIns="54000" rtlCol="0" anchor="t"/>
          <a:lstStyle/>
          <a:p>
            <a:pPr algn="l">
              <a:spcAft>
                <a:spcPts val="500"/>
              </a:spcAft>
            </a:pPr>
            <a:r>
              <a:rPr sz="12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特化型サイトの登録者は、84%が有資格者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整備士に特化したサイトには、資格を持つ方が集まる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80000" y="1548000"/>
            <a:ext cx="4788000" cy="288000"/>
          </a:xfrm>
          <a:prstGeom prst="rect">
            <a:avLst/>
          </a:prstGeom>
          <a:noFill/>
        </p:spPr>
        <p:txBody>
          <a:bodyPr wrap="square" lIns="0" tIns="21600" rIns="50400" bIns="21600" anchor="t">
            <a:spAutoFit/>
          </a:bodyPr>
          <a:lstStyle/>
          <a:p>
            <a:pPr algn="l"/>
            <a:r>
              <a:rPr sz="12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「整備士」の検索（過去5年）</a:t>
            </a:r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0000" y="1872000"/>
            <a:ext cx="4788000" cy="1556100"/>
          </a:xfrm>
          <a:prstGeom prst="rect">
            <a:avLst/>
          </a:prstGeom>
        </p:spPr>
      </p:pic>
      <p:sp>
        <p:nvSpPr>
          <p:cNvPr id="18" name="Rounded Rectangle 17"/>
          <p:cNvSpPr/>
          <p:nvPr/>
        </p:nvSpPr>
        <p:spPr>
          <a:xfrm>
            <a:off x="4680000" y="3600000"/>
            <a:ext cx="4788000" cy="8640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5999" tIns="90000" rIns="108000" bIns="54000" rtlCol="0" anchor="t"/>
          <a:lstStyle/>
          <a:p>
            <a:pPr algn="l">
              <a:spcAft>
                <a:spcPts val="500"/>
              </a:spcAft>
            </a:pPr>
            <a:r>
              <a:rPr sz="12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ピークは3月、最も少ないのは12月。差は約1.4倍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一年を通して、転職を検討する方がいる。3月に向けて前倒しで接点を持つ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32000" y="4680000"/>
            <a:ext cx="9043200" cy="432000"/>
          </a:xfrm>
          <a:prstGeom prst="roundRect">
            <a:avLst>
              <a:gd name="adj" fmla="val 10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8000" tIns="0" rIns="108000" bIns="0" rtlCol="0" anchor="ctr"/>
          <a:lstStyle/>
          <a:p>
            <a:pPr algn="ctr">
              <a:lnSpc>
                <a:spcPct val="125000"/>
              </a:lnSpc>
            </a:pPr>
            <a:r>
              <a:rPr sz="13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比較検討中の方を、LINEで登録者としてつながっておくことが大切です。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2000" y="6246000"/>
            <a:ext cx="9043200" cy="324000"/>
          </a:xfrm>
          <a:prstGeom prst="rect">
            <a:avLst/>
          </a:prstGeom>
          <a:noFill/>
        </p:spPr>
        <p:txBody>
          <a:bodyPr wrap="square" lIns="0" tIns="21600" rIns="0" bIns="216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5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出典：モビリア総研調査（直近3年に転職した整備士1,249人・Response 2026年9月23日）／Googleトレンド「整備士」（日本・過去5年）</a:t>
            </a:r>
          </a:p>
        </p:txBody>
      </p:sp>
    </p:spTree>
    <p:extLst>
      <p:ext uri="{BB962C8B-B14F-4D97-AF65-F5344CB8AC3E}">
        <p14:creationId xmlns:p14="http://schemas.microsoft.com/office/powerpoint/2010/main" val="300013459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975156-99A2-3647-6F9D-3BD80C596E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7200" y="161078"/>
            <a:ext cx="8784000" cy="289843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/>
            <a:r>
              <a:rPr sz="1600" b="1" dirty="0" err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前後検索（近い業種：工場求人ナビ</a:t>
            </a:r>
            <a:r>
              <a:rPr sz="1600" b="1" dirty="0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2000" y="648000"/>
            <a:ext cx="9036000" cy="684000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求人サイトで仕事を探す方の動き方には、型があります。</a:t>
            </a:r>
          </a:p>
          <a:p>
            <a:pPr algn="l">
              <a:lnSpc>
                <a:spcPct val="130000"/>
              </a:lnSpc>
            </a:pPr>
            <a:r>
              <a:rPr sz="12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自動車整備士のデータではありませんが、同じ「求人サイトの利用者」の動き方として参考にします。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0" y="1389600"/>
            <a:ext cx="9907200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" name="Picture 4" descr="工場求人ナビ_前後検索_2026092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2000" y="1584000"/>
            <a:ext cx="5688000" cy="3318948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6228000" y="1584000"/>
            <a:ext cx="3247200" cy="10440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5999" tIns="90000" rIns="108000" bIns="54000" rtlCol="0" anchor="t"/>
          <a:lstStyle/>
          <a:p>
            <a:pPr algn="l">
              <a:spcAft>
                <a:spcPts val="500"/>
              </a:spcAft>
            </a:pPr>
            <a:r>
              <a:rPr sz="11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検索前（〜前日）：広く比べる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求人サイト／求人 正社員／高収入 仕事／40代 転職／人と関わらない仕事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28000" y="2700000"/>
            <a:ext cx="3247200" cy="1044000"/>
          </a:xfrm>
          <a:prstGeom prst="roundRect">
            <a:avLst>
              <a:gd name="adj" fmla="val 6000"/>
            </a:avLst>
          </a:prstGeom>
          <a:solidFill>
            <a:srgbClr val="FCE4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5999" tIns="90000" rIns="108000" bIns="54000" rtlCol="0" anchor="t"/>
          <a:lstStyle/>
          <a:p>
            <a:pPr algn="l">
              <a:spcAft>
                <a:spcPts val="500"/>
              </a:spcAft>
            </a:pPr>
            <a:r>
              <a:rPr sz="1150" b="1">
                <a:solidFill>
                  <a:srgbClr val="ED7D31"/>
                </a:solidFill>
                <a:latin typeface="メイリオ"/>
                <a:ea typeface="メイリオ"/>
                <a:cs typeface="メイリオ"/>
              </a:rPr>
              <a:t>検索当日：サイト名・具体的な求人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工場求人ナビ／日総工産／工場 求人 正社員／製造業 求人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28000" y="3816000"/>
            <a:ext cx="3247200" cy="10440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5999" tIns="90000" rIns="108000" bIns="54000" rtlCol="0" anchor="t"/>
          <a:lstStyle/>
          <a:p>
            <a:pPr algn="l">
              <a:spcAft>
                <a:spcPts val="500"/>
              </a:spcAft>
            </a:pPr>
            <a:r>
              <a:rPr sz="11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検索後（翌日〜15日）：条件・評判・応募の準備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期間工 年齢制限／夜勤 体への影響／派遣社員 デメリット／○○ 評判／製造業 志望動機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2000" y="5112000"/>
            <a:ext cx="9043200" cy="432000"/>
          </a:xfrm>
          <a:prstGeom prst="roundRect">
            <a:avLst>
              <a:gd name="adj" fmla="val 10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8000" tIns="0" rIns="108000" bIns="0" rtlCol="0" anchor="ctr"/>
          <a:lstStyle/>
          <a:p>
            <a:pPr algn="ctr">
              <a:lnSpc>
                <a:spcPct val="125000"/>
              </a:lnSpc>
            </a:pPr>
            <a:r>
              <a:rPr sz="13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登録した後の配信は「条件 → 評判・不安 → 応募の準備」の順番で組みます。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2000" y="6246000"/>
            <a:ext cx="9043200" cy="324000"/>
          </a:xfrm>
          <a:prstGeom prst="rect">
            <a:avLst/>
          </a:prstGeom>
          <a:noFill/>
        </p:spPr>
        <p:txBody>
          <a:bodyPr wrap="square" lIns="0" tIns="21600" rIns="0" bIns="216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5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出典：LINEヤフー 前後検索データ（起点KW：工場求人ナビ／2026年9月取得）※近い業種の参考。自動車整備士のデータではありません</a:t>
            </a:r>
          </a:p>
        </p:txBody>
      </p:sp>
    </p:spTree>
    <p:extLst>
      <p:ext uri="{BB962C8B-B14F-4D97-AF65-F5344CB8AC3E}">
        <p14:creationId xmlns:p14="http://schemas.microsoft.com/office/powerpoint/2010/main" val="105893345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01AEA3-5B74-7C38-9336-4D6A18C7CF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7200" y="161078"/>
            <a:ext cx="8784000" cy="289843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/>
            <a:r>
              <a:rPr sz="1600" b="1" dirty="0" err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前後検索（カーディーラ</a:t>
            </a:r>
            <a:r>
              <a:rPr sz="1600" b="1" dirty="0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ー）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2000" y="630000"/>
            <a:ext cx="9036000" cy="684000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「カーディーラー」の検索前後15日間。友だち追加につながりやすいのは、検索当日〜翌日です。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0" y="1389600"/>
            <a:ext cx="9907200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2000" y="1458000"/>
            <a:ext cx="5112000" cy="2982852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2907233" y="4397400"/>
            <a:ext cx="936000" cy="223200"/>
          </a:xfrm>
          <a:prstGeom prst="rect">
            <a:avLst/>
          </a:prstGeom>
          <a:solidFill>
            <a:srgbClr val="C6EF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28800" rIns="54000" bIns="28800" rtlCol="0" anchor="ctr"/>
          <a:lstStyle/>
          <a:p>
            <a:pPr algn="ctr"/>
            <a:r>
              <a:rPr sz="950" b="1">
                <a:solidFill>
                  <a:srgbClr val="00873C"/>
                </a:solidFill>
                <a:latin typeface="メイリオ"/>
                <a:ea typeface="メイリオ"/>
                <a:cs typeface="メイリオ"/>
              </a:rPr>
              <a:t>LINE追加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072347" y="1458000"/>
            <a:ext cx="605772" cy="2946851"/>
          </a:xfrm>
          <a:prstGeom prst="rect">
            <a:avLst/>
          </a:prstGeom>
          <a:solidFill>
            <a:srgbClr val="06C755">
              <a:alpha val="1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5724000" y="1458000"/>
            <a:ext cx="1857600" cy="223200"/>
          </a:xfrm>
          <a:prstGeom prst="roundRect">
            <a:avLst>
              <a:gd name="adj" fmla="val 8000"/>
            </a:avLst>
          </a:prstGeom>
          <a:solidFill>
            <a:srgbClr val="FBE0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28800" rIns="54000" bIns="28800" rtlCol="0" anchor="ctr"/>
          <a:lstStyle/>
          <a:p>
            <a:pPr algn="ctr"/>
            <a:r>
              <a:rPr sz="1000" b="1">
                <a:solidFill>
                  <a:srgbClr val="C0561A"/>
                </a:solidFill>
                <a:latin typeface="メイリオ"/>
                <a:ea typeface="メイリオ"/>
                <a:cs typeface="メイリオ"/>
              </a:rPr>
              <a:t>職業・働き方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617600" y="1458000"/>
            <a:ext cx="1857600" cy="223200"/>
          </a:xfrm>
          <a:prstGeom prst="roundRect">
            <a:avLst>
              <a:gd name="adj" fmla="val 8000"/>
            </a:avLst>
          </a:prstGeom>
          <a:solidFill>
            <a:srgbClr val="D6E2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28800" rIns="54000" bIns="28800" rtlCol="0" anchor="ctr"/>
          <a:lstStyle/>
          <a:p>
            <a:pPr algn="ctr"/>
            <a:r>
              <a:rPr sz="1000" b="1">
                <a:solidFill>
                  <a:srgbClr val="2B5797"/>
                </a:solidFill>
                <a:latin typeface="メイリオ"/>
                <a:ea typeface="メイリオ"/>
                <a:cs typeface="メイリオ"/>
              </a:rPr>
              <a:t>整備・工具・カー用品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724000" y="1717199"/>
            <a:ext cx="1857600" cy="223200"/>
          </a:xfrm>
          <a:prstGeom prst="roundRect">
            <a:avLst>
              <a:gd name="adj" fmla="val 8000"/>
            </a:avLst>
          </a:prstGeom>
          <a:solidFill>
            <a:srgbClr val="E8DA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28800" rIns="54000" bIns="28800" rtlCol="0" anchor="ctr"/>
          <a:lstStyle/>
          <a:p>
            <a:pPr algn="ctr"/>
            <a:r>
              <a:rPr sz="1000" b="1">
                <a:solidFill>
                  <a:srgbClr val="7440A8"/>
                </a:solidFill>
                <a:latin typeface="メイリオ"/>
                <a:ea typeface="メイリオ"/>
                <a:cs typeface="メイリオ"/>
              </a:rPr>
              <a:t>お金・手続き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617600" y="1717199"/>
            <a:ext cx="1857600" cy="223200"/>
          </a:xfrm>
          <a:prstGeom prst="roundRect">
            <a:avLst>
              <a:gd name="adj" fmla="val 8000"/>
            </a:avLst>
          </a:prstGeom>
          <a:solidFill>
            <a:srgbClr val="CCE7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28800" rIns="54000" bIns="28800" rtlCol="0" anchor="ctr"/>
          <a:lstStyle/>
          <a:p>
            <a:pPr algn="ctr"/>
            <a:r>
              <a:rPr sz="1000" b="1">
                <a:solidFill>
                  <a:srgbClr val="00796B"/>
                </a:solidFill>
                <a:latin typeface="メイリオ"/>
                <a:ea typeface="メイリオ"/>
                <a:cs typeface="メイリオ"/>
              </a:rPr>
              <a:t>クルマ選び（車種・店舗）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724000" y="2052000"/>
            <a:ext cx="3751200" cy="223200"/>
          </a:xfrm>
          <a:prstGeom prst="roundRect">
            <a:avLst>
              <a:gd name="adj" fmla="val 8000"/>
            </a:avLst>
          </a:prstGeom>
          <a:solidFill>
            <a:srgbClr val="FFF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28800" rIns="54000" bIns="28800" rtlCol="0" anchor="ctr"/>
          <a:lstStyle/>
          <a:p>
            <a:pPr algn="ctr"/>
            <a:r>
              <a:rPr sz="11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LINE追加率を上げるコンテンツ（検索当日〜翌日）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724000" y="2322000"/>
            <a:ext cx="1839600" cy="917999"/>
          </a:xfrm>
          <a:prstGeom prst="roundRect">
            <a:avLst>
              <a:gd name="adj" fmla="val 8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28800" rIns="54000" bIns="28800" rtlCol="0" anchor="ctr"/>
          <a:lstStyle/>
          <a:p>
            <a:pPr algn="ctr"/>
            <a:endParaRPr/>
          </a:p>
          <a:p>
            <a:pPr algn="ctr"/>
            <a:r>
              <a:rPr sz="12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「整備士の年収相場」</a:t>
            </a:r>
          </a:p>
          <a:p>
            <a:pPr algn="ctr"/>
            <a:r>
              <a:rPr sz="11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をLINEで見られます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635600" y="2322000"/>
            <a:ext cx="1839600" cy="917999"/>
          </a:xfrm>
          <a:prstGeom prst="roundRect">
            <a:avLst>
              <a:gd name="adj" fmla="val 8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28800" rIns="54000" bIns="28800" rtlCol="0" anchor="ctr"/>
          <a:lstStyle/>
          <a:p>
            <a:pPr algn="ctr"/>
            <a:r>
              <a:rPr sz="1050" b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この機会に</a:t>
            </a:r>
          </a:p>
          <a:p>
            <a:pPr algn="ctr"/>
            <a:r>
              <a:rPr sz="12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LINEで30秒</a:t>
            </a:r>
          </a:p>
          <a:p>
            <a:pPr algn="ctr"/>
            <a:r>
              <a:rPr sz="11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適職診断しませんか？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724000" y="3276000"/>
            <a:ext cx="1839600" cy="702000"/>
          </a:xfrm>
          <a:prstGeom prst="roundRect">
            <a:avLst>
              <a:gd name="adj" fmla="val 8000"/>
            </a:avLst>
          </a:prstGeom>
          <a:solidFill>
            <a:srgbClr val="DD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28800" rIns="54000" bIns="28800" rtlCol="0" anchor="ctr"/>
          <a:lstStyle/>
          <a:p>
            <a:pPr algn="ctr"/>
            <a:r>
              <a:rPr sz="10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当日の検索は「年収」</a:t>
            </a:r>
          </a:p>
          <a:p>
            <a:pPr algn="ctr"/>
            <a:r>
              <a:rPr sz="1050" b="0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その場で答えを示す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635600" y="3276000"/>
            <a:ext cx="1839600" cy="702000"/>
          </a:xfrm>
          <a:prstGeom prst="roundRect">
            <a:avLst>
              <a:gd name="adj" fmla="val 8000"/>
            </a:avLst>
          </a:prstGeom>
          <a:solidFill>
            <a:srgbClr val="DD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28800" rIns="54000" bIns="28800" rtlCol="0" anchor="ctr"/>
          <a:lstStyle/>
          <a:p>
            <a:pPr algn="ctr"/>
            <a:r>
              <a:rPr sz="10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電話なし・履歴書なし</a:t>
            </a:r>
          </a:p>
          <a:p>
            <a:pPr algn="ctr"/>
            <a:r>
              <a:rPr sz="1050" b="0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応募前の方でも気軽に登録できる</a:t>
            </a:r>
          </a:p>
        </p:txBody>
      </p:sp>
      <p:cxnSp>
        <p:nvCxnSpPr>
          <p:cNvPr id="23" name="Connector 22"/>
          <p:cNvCxnSpPr/>
          <p:nvPr/>
        </p:nvCxnSpPr>
        <p:spPr>
          <a:xfrm flipV="1">
            <a:off x="3375233" y="2772000"/>
            <a:ext cx="2312767" cy="1548720"/>
          </a:xfrm>
          <a:prstGeom prst="line">
            <a:avLst/>
          </a:prstGeom>
          <a:ln w="19050">
            <a:solidFill>
              <a:srgbClr val="4472C4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432000" y="4710852"/>
            <a:ext cx="9043200" cy="223200"/>
          </a:xfrm>
          <a:prstGeom prst="roundRect">
            <a:avLst>
              <a:gd name="adj" fmla="val 8000"/>
            </a:avLst>
          </a:prstGeom>
          <a:solidFill>
            <a:srgbClr val="FFF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28800" rIns="54000" bIns="28800" rtlCol="0" anchor="ctr"/>
          <a:lstStyle/>
          <a:p>
            <a:pPr algn="ctr"/>
            <a:r>
              <a:rPr sz="11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登録後に応募へつなげるコンテンツ（翌日〜14日・前後検索の関心の順番）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32000" y="4980852"/>
            <a:ext cx="1230171" cy="1211148"/>
          </a:xfrm>
          <a:prstGeom prst="roundRect">
            <a:avLst>
              <a:gd name="adj" fmla="val 8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28800" rIns="54000" bIns="2880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1日目</a:t>
            </a:r>
          </a:p>
          <a:p>
            <a:pPr algn="ctr"/>
            <a:r>
              <a:rPr sz="11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職種図鑑</a:t>
            </a:r>
          </a:p>
          <a:p>
            <a:pPr algn="ctr"/>
            <a:r>
              <a:rPr sz="1000" b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整備・受付・営業の違い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734171" y="4980852"/>
            <a:ext cx="1230171" cy="1211148"/>
          </a:xfrm>
          <a:prstGeom prst="roundRect">
            <a:avLst>
              <a:gd name="adj" fmla="val 8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28800" rIns="54000" bIns="2880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2日目</a:t>
            </a:r>
          </a:p>
          <a:p>
            <a:pPr algn="ctr"/>
            <a:r>
              <a:rPr sz="11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働き方</a:t>
            </a:r>
          </a:p>
          <a:p>
            <a:pPr algn="ctr"/>
            <a:r>
              <a:rPr sz="1000" b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休み・残業・働きやすい職場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036342" y="4980852"/>
            <a:ext cx="1230171" cy="1211148"/>
          </a:xfrm>
          <a:prstGeom prst="roundRect">
            <a:avLst>
              <a:gd name="adj" fmla="val 8000"/>
            </a:avLst>
          </a:prstGeom>
          <a:solidFill>
            <a:srgbClr val="06C7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28800" rIns="54000" bIns="2880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3日目</a:t>
            </a:r>
          </a:p>
          <a:p>
            <a:pPr algn="ctr"/>
            <a:r>
              <a:rPr sz="11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求人のご案内①</a:t>
            </a:r>
          </a:p>
          <a:p>
            <a:pPr algn="ctr"/>
            <a:r>
              <a:rPr sz="1000" b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（応募）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338514" y="4980852"/>
            <a:ext cx="1230171" cy="1211148"/>
          </a:xfrm>
          <a:prstGeom prst="roundRect">
            <a:avLst>
              <a:gd name="adj" fmla="val 8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28800" rIns="54000" bIns="2880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5日目</a:t>
            </a:r>
          </a:p>
          <a:p>
            <a:pPr algn="ctr"/>
            <a:r>
              <a:rPr sz="11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他職種と比較</a:t>
            </a:r>
          </a:p>
          <a:p>
            <a:pPr algn="ctr"/>
            <a:r>
              <a:rPr sz="1000" b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営業・施工管理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640685" y="4980852"/>
            <a:ext cx="1230171" cy="1211148"/>
          </a:xfrm>
          <a:prstGeom prst="roundRect">
            <a:avLst>
              <a:gd name="adj" fmla="val 8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28800" rIns="54000" bIns="28800" rtlCol="0" anchor="ctr"/>
          <a:lstStyle/>
          <a:p>
            <a:pPr algn="ctr"/>
            <a:r>
              <a:rPr sz="1200" b="1" dirty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7日目</a:t>
            </a:r>
          </a:p>
          <a:p>
            <a:pPr algn="ctr"/>
            <a:r>
              <a:rPr sz="1100" b="1" dirty="0" err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資格別の</a:t>
            </a:r>
            <a:endParaRPr lang="en-US" sz="1100" b="1" dirty="0">
              <a:solidFill>
                <a:srgbClr val="FFFFFF"/>
              </a:solidFill>
              <a:latin typeface="メイリオ"/>
              <a:ea typeface="メイリオ"/>
              <a:cs typeface="メイリオ"/>
            </a:endParaRPr>
          </a:p>
          <a:p>
            <a:pPr algn="ctr"/>
            <a:r>
              <a:rPr sz="1100" b="1" dirty="0" err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年収相場</a:t>
            </a:r>
            <a:endParaRPr sz="1100" b="1" dirty="0">
              <a:solidFill>
                <a:srgbClr val="FFFFFF"/>
              </a:solidFill>
              <a:latin typeface="メイリオ"/>
              <a:ea typeface="メイリオ"/>
              <a:cs typeface="メイリオ"/>
            </a:endParaRPr>
          </a:p>
          <a:p>
            <a:pPr algn="ctr"/>
            <a:r>
              <a:rPr sz="1000" b="0" dirty="0" err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キャリアマップ</a:t>
            </a:r>
            <a:endParaRPr sz="1000" b="0" dirty="0">
              <a:solidFill>
                <a:srgbClr val="FFFFFF"/>
              </a:solidFill>
              <a:latin typeface="メイリオ"/>
              <a:ea typeface="メイリオ"/>
              <a:cs typeface="メイリオ"/>
            </a:endParaRPr>
          </a:p>
        </p:txBody>
      </p:sp>
      <p:sp>
        <p:nvSpPr>
          <p:cNvPr id="30" name="Rounded Rectangle 29"/>
          <p:cNvSpPr/>
          <p:nvPr/>
        </p:nvSpPr>
        <p:spPr>
          <a:xfrm>
            <a:off x="6942857" y="4980852"/>
            <a:ext cx="1230171" cy="1211148"/>
          </a:xfrm>
          <a:prstGeom prst="roundRect">
            <a:avLst>
              <a:gd name="adj" fmla="val 8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28800" rIns="54000" bIns="2880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10日目</a:t>
            </a:r>
          </a:p>
          <a:p>
            <a:pPr algn="ctr"/>
            <a:r>
              <a:rPr sz="11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現場のリアル</a:t>
            </a:r>
          </a:p>
          <a:p>
            <a:pPr algn="ctr"/>
            <a:r>
              <a:rPr sz="1000" b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冬の繁忙期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245028" y="4980852"/>
            <a:ext cx="1230171" cy="1211148"/>
          </a:xfrm>
          <a:prstGeom prst="roundRect">
            <a:avLst>
              <a:gd name="adj" fmla="val 8000"/>
            </a:avLst>
          </a:prstGeom>
          <a:solidFill>
            <a:srgbClr val="06C7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28800" rIns="54000" bIns="2880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14日目</a:t>
            </a:r>
          </a:p>
          <a:p>
            <a:pPr algn="ctr"/>
            <a:r>
              <a:rPr sz="11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求人のご案内②</a:t>
            </a:r>
          </a:p>
          <a:p>
            <a:pPr algn="ctr"/>
            <a:r>
              <a:rPr sz="1000" b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（応募）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4521600" y="4320720"/>
            <a:ext cx="255599" cy="372131"/>
          </a:xfrm>
          <a:prstGeom prst="line">
            <a:avLst/>
          </a:prstGeom>
          <a:ln w="19050">
            <a:solidFill>
              <a:srgbClr val="4472C4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432000" y="6282000"/>
            <a:ext cx="9043200" cy="324000"/>
          </a:xfrm>
          <a:prstGeom prst="rect">
            <a:avLst/>
          </a:prstGeom>
          <a:noFill/>
        </p:spPr>
        <p:txBody>
          <a:bodyPr wrap="square" lIns="0" tIns="21600" rIns="0" bIns="216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出典：LINEヤフー 前後検索データ（起点KW：カーディーラー／2026-09-23取得）。色分けはDYM分類（ラベル129件）</a:t>
            </a:r>
          </a:p>
        </p:txBody>
      </p:sp>
    </p:spTree>
    <p:extLst>
      <p:ext uri="{BB962C8B-B14F-4D97-AF65-F5344CB8AC3E}">
        <p14:creationId xmlns:p14="http://schemas.microsoft.com/office/powerpoint/2010/main" val="205317063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正方形/長方形 18"/>
          <p:cNvSpPr>
            <a:spLocks noChangeArrowheads="1"/>
          </p:cNvSpPr>
          <p:nvPr/>
        </p:nvSpPr>
        <p:spPr bwMode="auto">
          <a:xfrm>
            <a:off x="1649030" y="5820984"/>
            <a:ext cx="6192837" cy="3736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/>
          <a:p>
            <a:pPr marL="0" lvl="1" fontAlgn="base">
              <a:spcBef>
                <a:spcPct val="20000"/>
              </a:spcBef>
              <a:spcAft>
                <a:spcPct val="0"/>
              </a:spcAft>
              <a:defRPr/>
            </a:pPr>
            <a:r>
              <a:rPr lang="ja-JP" altLang="en-US" sz="831" b="1" dirty="0">
                <a:solidFill>
                  <a:prstClr val="black"/>
                </a:solidFill>
                <a:latin typeface="メイリオ"/>
                <a:ea typeface="メイリオ"/>
                <a:cs typeface="メイリオ"/>
              </a:rPr>
              <a:t>株式会社</a:t>
            </a:r>
            <a:r>
              <a:rPr lang="en-US" altLang="ja-JP" sz="831" b="1" dirty="0">
                <a:solidFill>
                  <a:prstClr val="black"/>
                </a:solidFill>
                <a:latin typeface="メイリオ"/>
                <a:ea typeface="メイリオ"/>
                <a:cs typeface="メイリオ"/>
              </a:rPr>
              <a:t>DYM</a:t>
            </a:r>
            <a:r>
              <a:rPr lang="ja-JP" altLang="en-US" sz="831" b="1" dirty="0">
                <a:solidFill>
                  <a:prstClr val="black"/>
                </a:solidFill>
                <a:latin typeface="メイリオ"/>
                <a:ea typeface="メイリオ"/>
                <a:cs typeface="メイリオ"/>
              </a:rPr>
              <a:t>　〒</a:t>
            </a:r>
            <a:r>
              <a:rPr lang="en-US" altLang="ja-JP" sz="831" b="1" dirty="0">
                <a:solidFill>
                  <a:prstClr val="black"/>
                </a:solidFill>
                <a:latin typeface="メイリオ"/>
                <a:ea typeface="メイリオ"/>
                <a:cs typeface="メイリオ"/>
              </a:rPr>
              <a:t>141-0032</a:t>
            </a:r>
            <a:r>
              <a:rPr lang="ja-JP" altLang="en-US" sz="831" b="1" dirty="0">
                <a:solidFill>
                  <a:prstClr val="black"/>
                </a:solidFill>
                <a:latin typeface="メイリオ"/>
                <a:ea typeface="メイリオ"/>
                <a:cs typeface="メイリオ"/>
              </a:rPr>
              <a:t>　東京都品川区大崎</a:t>
            </a:r>
            <a:r>
              <a:rPr lang="en-US" altLang="ja-JP" sz="831" b="1" dirty="0">
                <a:solidFill>
                  <a:prstClr val="black"/>
                </a:solidFill>
                <a:latin typeface="メイリオ"/>
                <a:ea typeface="メイリオ"/>
                <a:cs typeface="メイリオ"/>
              </a:rPr>
              <a:t>1-11-2</a:t>
            </a:r>
            <a:r>
              <a:rPr lang="ja-JP" altLang="en-US" sz="831" b="1" dirty="0">
                <a:solidFill>
                  <a:prstClr val="black"/>
                </a:solidFill>
                <a:latin typeface="メイリオ"/>
                <a:ea typeface="メイリオ"/>
                <a:cs typeface="メイリオ"/>
              </a:rPr>
              <a:t>　ゲートシティ大崎イーストタワー</a:t>
            </a:r>
            <a:r>
              <a:rPr lang="en-US" altLang="ja-JP" sz="831" b="1" dirty="0">
                <a:solidFill>
                  <a:prstClr val="black"/>
                </a:solidFill>
                <a:latin typeface="メイリオ"/>
                <a:ea typeface="メイリオ"/>
                <a:cs typeface="メイリオ"/>
              </a:rPr>
              <a:t>10</a:t>
            </a:r>
            <a:r>
              <a:rPr lang="ja-JP" altLang="en-US" sz="831" b="1" dirty="0">
                <a:solidFill>
                  <a:prstClr val="black"/>
                </a:solidFill>
                <a:latin typeface="メイリオ"/>
                <a:ea typeface="メイリオ"/>
                <a:cs typeface="メイリオ"/>
              </a:rPr>
              <a:t>階</a:t>
            </a:r>
            <a:endParaRPr lang="en-US" altLang="ja-JP" sz="831" b="1" dirty="0">
              <a:solidFill>
                <a:prstClr val="black"/>
              </a:solidFill>
              <a:latin typeface="メイリオ"/>
              <a:ea typeface="メイリオ"/>
              <a:cs typeface="メイリオ"/>
            </a:endParaRPr>
          </a:p>
          <a:p>
            <a:pPr marL="0" lvl="1" fontAlgn="base">
              <a:spcBef>
                <a:spcPct val="20000"/>
              </a:spcBef>
              <a:spcAft>
                <a:spcPct val="0"/>
              </a:spcAft>
              <a:defRPr/>
            </a:pPr>
            <a:r>
              <a:rPr lang="en-US" altLang="ja-JP" sz="831" b="1" dirty="0">
                <a:solidFill>
                  <a:prstClr val="black"/>
                </a:solidFill>
                <a:latin typeface="メイリオ"/>
                <a:ea typeface="メイリオ"/>
                <a:cs typeface="メイリオ"/>
              </a:rPr>
              <a:t>TEL: 03-5745-0200</a:t>
            </a:r>
            <a:r>
              <a:rPr lang="ja-JP" altLang="en-US" sz="831" b="1" dirty="0">
                <a:solidFill>
                  <a:prstClr val="black"/>
                </a:solidFill>
                <a:latin typeface="メイリオ"/>
                <a:ea typeface="メイリオ"/>
                <a:cs typeface="メイリオ"/>
              </a:rPr>
              <a:t>　</a:t>
            </a:r>
            <a:r>
              <a:rPr lang="en-US" altLang="ja-JP" sz="831" b="1" dirty="0">
                <a:solidFill>
                  <a:prstClr val="black"/>
                </a:solidFill>
                <a:latin typeface="メイリオ"/>
                <a:ea typeface="メイリオ"/>
                <a:cs typeface="メイリオ"/>
              </a:rPr>
              <a:t>FAX: 03-3779-8720 </a:t>
            </a:r>
            <a:r>
              <a:rPr lang="ja-JP" altLang="en-US" sz="831" b="1" dirty="0">
                <a:solidFill>
                  <a:prstClr val="black"/>
                </a:solidFill>
                <a:latin typeface="メイリオ"/>
                <a:ea typeface="メイリオ"/>
                <a:cs typeface="メイリオ"/>
              </a:rPr>
              <a:t>　</a:t>
            </a:r>
            <a:r>
              <a:rPr lang="en-US" altLang="ja-JP" sz="831" b="1" dirty="0">
                <a:solidFill>
                  <a:prstClr val="black"/>
                </a:solidFill>
                <a:latin typeface="メイリオ"/>
                <a:ea typeface="メイリオ"/>
                <a:cs typeface="メイリオ"/>
              </a:rPr>
              <a:t>http://dym.asia   </a:t>
            </a:r>
            <a:r>
              <a:rPr lang="ja-JP" altLang="en-US" sz="831" b="1" dirty="0">
                <a:solidFill>
                  <a:prstClr val="black"/>
                </a:solidFill>
                <a:latin typeface="メイリオ"/>
                <a:ea typeface="メイリオ"/>
                <a:cs typeface="メイリオ"/>
              </a:rPr>
              <a:t>代表取締役　水谷佑毅</a:t>
            </a:r>
          </a:p>
        </p:txBody>
      </p:sp>
      <p:pic>
        <p:nvPicPr>
          <p:cNvPr id="24" name="図 1"/>
          <p:cNvPicPr>
            <a:picLocks noChangeAspect="1"/>
          </p:cNvPicPr>
          <p:nvPr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-1647" r="-11171"/>
          <a:stretch/>
        </p:blipFill>
        <p:spPr bwMode="auto">
          <a:xfrm>
            <a:off x="543897" y="5895365"/>
            <a:ext cx="1100981" cy="22486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テキスト ボックス 2"/>
          <p:cNvSpPr txBox="1"/>
          <p:nvPr/>
        </p:nvSpPr>
        <p:spPr>
          <a:xfrm>
            <a:off x="5070232" y="5597769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ja-JP" altLang="en-US">
              <a:solidFill>
                <a:prstClr val="black"/>
              </a:solidFill>
              <a:latin typeface="Arial" pitchFamily="34" charset="0"/>
              <a:ea typeface="ＭＳ Ｐゴシック" pitchFamily="50" charset="-128"/>
            </a:endParaRPr>
          </a:p>
        </p:txBody>
      </p:sp>
      <p:sp>
        <p:nvSpPr>
          <p:cNvPr id="18" name="正方形/長方形 17"/>
          <p:cNvSpPr/>
          <p:nvPr/>
        </p:nvSpPr>
        <p:spPr>
          <a:xfrm>
            <a:off x="2170038" y="989684"/>
            <a:ext cx="556592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fontAlgn="base">
              <a:spcBef>
                <a:spcPct val="20000"/>
              </a:spcBef>
              <a:spcAft>
                <a:spcPct val="0"/>
              </a:spcAft>
              <a:defRPr/>
            </a:pPr>
            <a:r>
              <a:rPr lang="ja-JP" altLang="en-US" b="1" dirty="0">
                <a:solidFill>
                  <a:prstClr val="black"/>
                </a:solidFill>
                <a:latin typeface="メイリオ" charset="0"/>
                <a:ea typeface="メイリオ" charset="0"/>
                <a:cs typeface="メイリオ" charset="0"/>
              </a:rPr>
              <a:t>貴社の明るい未来に必ず貢献致します。</a:t>
            </a:r>
          </a:p>
        </p:txBody>
      </p:sp>
      <p:sp>
        <p:nvSpPr>
          <p:cNvPr id="14" name="正方形/長方形 13"/>
          <p:cNvSpPr/>
          <p:nvPr/>
        </p:nvSpPr>
        <p:spPr>
          <a:xfrm>
            <a:off x="382695" y="2698377"/>
            <a:ext cx="598220" cy="2058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fontAlgn="base">
              <a:spcBef>
                <a:spcPct val="20000"/>
              </a:spcBef>
              <a:spcAft>
                <a:spcPct val="0"/>
              </a:spcAft>
              <a:defRPr/>
            </a:pPr>
            <a:r>
              <a:rPr lang="ja-JP" altLang="en-US" sz="738">
                <a:solidFill>
                  <a:srgbClr val="FFFFFF"/>
                </a:solidFill>
                <a:latin typeface="メイリオ" charset="0"/>
                <a:ea typeface="メイリオ" charset="0"/>
                <a:cs typeface="メイリオ" charset="0"/>
              </a:rPr>
              <a:t>本社</a:t>
            </a:r>
          </a:p>
        </p:txBody>
      </p:sp>
      <p:sp>
        <p:nvSpPr>
          <p:cNvPr id="15" name="正方形/長方形 14"/>
          <p:cNvSpPr/>
          <p:nvPr/>
        </p:nvSpPr>
        <p:spPr>
          <a:xfrm>
            <a:off x="368300" y="2355213"/>
            <a:ext cx="756684" cy="2154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fontAlgn="base">
              <a:spcBef>
                <a:spcPct val="20000"/>
              </a:spcBef>
              <a:spcAft>
                <a:spcPct val="0"/>
              </a:spcAft>
              <a:defRPr/>
            </a:pPr>
            <a:r>
              <a:rPr lang="ja-JP" altLang="en-US" sz="800" dirty="0">
                <a:solidFill>
                  <a:srgbClr val="FFFFFF"/>
                </a:solidFill>
                <a:latin typeface="メイリオ" charset="0"/>
                <a:ea typeface="メイリオ" charset="0"/>
                <a:cs typeface="メイリオ" charset="0"/>
              </a:rPr>
              <a:t>本社</a:t>
            </a:r>
          </a:p>
        </p:txBody>
      </p:sp>
      <p:grpSp>
        <p:nvGrpSpPr>
          <p:cNvPr id="22" name="グループ化 21">
            <a:extLst>
              <a:ext uri="{FF2B5EF4-FFF2-40B4-BE49-F238E27FC236}">
                <a16:creationId xmlns:a16="http://schemas.microsoft.com/office/drawing/2014/main" id="{05A1AABC-CDB8-5B83-4CFD-649967A361BF}"/>
              </a:ext>
            </a:extLst>
          </p:cNvPr>
          <p:cNvGrpSpPr/>
          <p:nvPr/>
        </p:nvGrpSpPr>
        <p:grpSpPr>
          <a:xfrm>
            <a:off x="381002" y="1772817"/>
            <a:ext cx="9143999" cy="3314853"/>
            <a:chOff x="1" y="1772816"/>
            <a:chExt cx="9143999" cy="3314853"/>
          </a:xfrm>
        </p:grpSpPr>
        <p:pic>
          <p:nvPicPr>
            <p:cNvPr id="21" name="図 20" descr="ポーズをとる男性グループ&#10;&#10;自動的に生成された説明">
              <a:extLst>
                <a:ext uri="{FF2B5EF4-FFF2-40B4-BE49-F238E27FC236}">
                  <a16:creationId xmlns:a16="http://schemas.microsoft.com/office/drawing/2014/main" id="{4927F40E-D146-C638-5583-C9DC2984722E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42" r="4076"/>
            <a:stretch/>
          </p:blipFill>
          <p:spPr>
            <a:xfrm>
              <a:off x="6973793" y="3518745"/>
              <a:ext cx="2170207" cy="1567781"/>
            </a:xfrm>
            <a:prstGeom prst="rect">
              <a:avLst/>
            </a:prstGeom>
          </p:spPr>
        </p:pic>
        <p:pic>
          <p:nvPicPr>
            <p:cNvPr id="16" name="図 15" descr="白いシャツを着ている男性&#10;&#10;中程度の精度で自動的に生成された説明">
              <a:extLst>
                <a:ext uri="{FF2B5EF4-FFF2-40B4-BE49-F238E27FC236}">
                  <a16:creationId xmlns:a16="http://schemas.microsoft.com/office/drawing/2014/main" id="{2ECDFCA7-8611-D865-F999-FDCD0EC21269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983808" y="3519888"/>
              <a:ext cx="1989985" cy="1567781"/>
            </a:xfrm>
            <a:prstGeom prst="rect">
              <a:avLst/>
            </a:prstGeom>
          </p:spPr>
        </p:pic>
        <p:pic>
          <p:nvPicPr>
            <p:cNvPr id="10" name="図 9" descr="スーツを着た男性たち&#10;&#10;自動的に生成された説明">
              <a:extLst>
                <a:ext uri="{FF2B5EF4-FFF2-40B4-BE49-F238E27FC236}">
                  <a16:creationId xmlns:a16="http://schemas.microsoft.com/office/drawing/2014/main" id="{9D3AD52A-1514-4350-FFDD-09984B3666E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0703" r="10363"/>
            <a:stretch/>
          </p:blipFill>
          <p:spPr>
            <a:xfrm>
              <a:off x="7299681" y="1773979"/>
              <a:ext cx="1842624" cy="1745909"/>
            </a:xfrm>
            <a:prstGeom prst="rect">
              <a:avLst/>
            </a:prstGeom>
          </p:spPr>
        </p:pic>
        <p:pic>
          <p:nvPicPr>
            <p:cNvPr id="7" name="図 6" descr="講堂にいる人たち&#10;&#10;中程度の精度で自動的に生成された説明">
              <a:extLst>
                <a:ext uri="{FF2B5EF4-FFF2-40B4-BE49-F238E27FC236}">
                  <a16:creationId xmlns:a16="http://schemas.microsoft.com/office/drawing/2014/main" id="{B1CA0DFF-0DAF-D5BD-8D9F-8AFB103E2698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512" t="12879" r="2477"/>
            <a:stretch/>
          </p:blipFill>
          <p:spPr>
            <a:xfrm>
              <a:off x="1" y="1772816"/>
              <a:ext cx="5089778" cy="3314853"/>
            </a:xfrm>
            <a:prstGeom prst="rect">
              <a:avLst/>
            </a:prstGeom>
          </p:spPr>
        </p:pic>
        <p:pic>
          <p:nvPicPr>
            <p:cNvPr id="11" name="図 10" descr="スーツを着た男性グループの写真&#10;&#10;低い精度で自動的に生成された説明">
              <a:extLst>
                <a:ext uri="{FF2B5EF4-FFF2-40B4-BE49-F238E27FC236}">
                  <a16:creationId xmlns:a16="http://schemas.microsoft.com/office/drawing/2014/main" id="{FEFAFF33-EFBF-C67E-586A-08D93AF295F8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8595" r="6763"/>
            <a:stretch/>
          </p:blipFill>
          <p:spPr>
            <a:xfrm>
              <a:off x="5089779" y="1772836"/>
              <a:ext cx="2215315" cy="1745909"/>
            </a:xfrm>
            <a:prstGeom prst="rect">
              <a:avLst/>
            </a:prstGeom>
          </p:spPr>
        </p:pic>
      </p:grp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238B92EF-519D-929F-4345-5BAC445EF234}"/>
              </a:ext>
            </a:extLst>
          </p:cNvPr>
          <p:cNvSpPr/>
          <p:nvPr/>
        </p:nvSpPr>
        <p:spPr>
          <a:xfrm>
            <a:off x="128016" y="6620256"/>
            <a:ext cx="2852928" cy="237744"/>
          </a:xfrm>
          <a:prstGeom prst="rect">
            <a:avLst/>
          </a:prstGeom>
          <a:solidFill>
            <a:srgbClr val="191F54"/>
          </a:solidFill>
          <a:ln>
            <a:solidFill>
              <a:srgbClr val="10253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A949B271-D24D-666E-90F2-EA616E1EABC2}"/>
              </a:ext>
            </a:extLst>
          </p:cNvPr>
          <p:cNvSpPr/>
          <p:nvPr/>
        </p:nvSpPr>
        <p:spPr>
          <a:xfrm>
            <a:off x="368300" y="0"/>
            <a:ext cx="9537700" cy="51497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85355464"/>
      </p:ext>
    </p:extLst>
  </p:cSld>
  <p:clrMapOvr>
    <a:masterClrMapping/>
  </p:clrMapOvr>
  <p:transition spd="slow"/>
</p:sld>
</file>

<file path=ppt/theme/theme1.xml><?xml version="1.0" encoding="utf-8"?>
<a:theme xmlns:a="http://schemas.openxmlformats.org/drawingml/2006/main" name="テーマ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テーマ1" id="{8EA1701B-0E00-4167-9612-575199E01EDB}" vid="{8EF6575E-BB77-44AE-AF00-801DE4CAFB82}"/>
    </a:ext>
  </a:extLst>
</a:theme>
</file>

<file path=ppt/theme/theme2.xml><?xml version="1.0" encoding="utf-8"?>
<a:theme xmlns:a="http://schemas.openxmlformats.org/drawingml/2006/main" name="DYMJAPA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Default Theme</Template>
  <TotalTime>143172</TotalTime>
  <Words>1995</Words>
  <Application>Microsoft Office PowerPoint</Application>
  <PresentationFormat>A4 210 x 297 mm</PresentationFormat>
  <Paragraphs>503</Paragraphs>
  <Slides>23</Slides>
  <Notes>15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5</vt:i4>
      </vt:variant>
      <vt:variant>
        <vt:lpstr>テーマ</vt:lpstr>
      </vt:variant>
      <vt:variant>
        <vt:i4>2</vt:i4>
      </vt:variant>
      <vt:variant>
        <vt:lpstr>スライド タイトル</vt:lpstr>
      </vt:variant>
      <vt:variant>
        <vt:i4>23</vt:i4>
      </vt:variant>
    </vt:vector>
  </HeadingPairs>
  <TitlesOfParts>
    <vt:vector size="30" baseType="lpstr">
      <vt:lpstr>Meiryo</vt:lpstr>
      <vt:lpstr>Meiryo</vt:lpstr>
      <vt:lpstr>Arial</vt:lpstr>
      <vt:lpstr>Calibri</vt:lpstr>
      <vt:lpstr>Century Gothic</vt:lpstr>
      <vt:lpstr>テーマ1</vt:lpstr>
      <vt:lpstr>DYMJAPAN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中村 駿</dc:creator>
  <cp:lastModifiedBy>殿村 亮太</cp:lastModifiedBy>
  <cp:revision>1959</cp:revision>
  <cp:lastPrinted>2022-11-01T11:38:14Z</cp:lastPrinted>
  <dcterms:created xsi:type="dcterms:W3CDTF">2015-09-04T09:21:15Z</dcterms:created>
  <dcterms:modified xsi:type="dcterms:W3CDTF">2026-09-29T07:45:11Z</dcterms:modified>
</cp:coreProperties>
</file>