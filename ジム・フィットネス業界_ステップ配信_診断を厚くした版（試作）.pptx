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50"/>
  </p:notesMasterIdLst>
  <p:handoutMasterIdLst>
    <p:handoutMasterId r:id="rId51"/>
  </p:handoutMasterIdLst>
  <p:sldIdLst>
    <p:sldId id="3143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2D6CB9"/>
    <a:srgbClr val="173559"/>
    <a:srgbClr val="04FA0A"/>
    <a:srgbClr val="2080FF"/>
    <a:srgbClr val="1D8DFF"/>
    <a:srgbClr val="515457"/>
    <a:srgbClr val="F6A454"/>
    <a:srgbClr val="EAEEF4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05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5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27" Type="http://schemas.openxmlformats.org/officeDocument/2006/relationships/slide" Target="slides/slide25.xml"/><Relationship Id="rId50" Type="http://schemas.openxmlformats.org/officeDocument/2006/relationships/notesMaster" Target="notesMasters/notesMaster1.xml"/><Relationship Id="rId51" Type="http://schemas.openxmlformats.org/officeDocument/2006/relationships/handoutMaster" Target="handoutMasters/handout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/>
        <a:ea typeface="メイリオ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/>
        <a:ea typeface="メイリオ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/>
        <a:ea typeface="メイリオ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/>
        <a:ea typeface="メイリオ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/>
        <a:ea typeface="メイリオ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メイリオ"/>
        <a:ea typeface="メイリオ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メイリオ"/>
        <a:ea typeface="メイリオ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メイリオ"/>
        <a:ea typeface="メイリオ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メイリオ"/>
        <a:ea typeface="メイリオ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メイリオ"/>
          <a:ea typeface="メイリオ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pitchFamily="34" charset="0"/>
          <a:ea typeface="メイリオ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pitchFamily="34" charset="0"/>
          <a:ea typeface="メイリオ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pitchFamily="34" charset="0"/>
          <a:ea typeface="メイリオ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pitchFamily="34" charset="0"/>
          <a:ea typeface="メイリオ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pitchFamily="34" charset="0"/>
          <a:ea typeface="メイリオ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pitchFamily="34" charset="0"/>
          <a:ea typeface="メイリオ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pitchFamily="34" charset="0"/>
          <a:ea typeface="メイリオ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pitchFamily="34" charset="0"/>
          <a:ea typeface="メイリオ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メイリオ"/>
          <a:ea typeface="メイリオ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メイリオ"/>
          <a:ea typeface="メイリオ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メイリオ"/>
          <a:ea typeface="メイリオ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メイリオ" panose="020B0502020202020204" pitchFamily="34" charset="0"/>
                <a:ea typeface="メイリオ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メイリオ" panose="020B0502020202020204" pitchFamily="34" charset="0"/>
              <a:ea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メイリオ"/>
          <a:ea typeface="メイリオ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charset="0"/>
          <a:ea typeface="メイリオ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charset="0"/>
          <a:ea typeface="メイリオ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charset="0"/>
          <a:ea typeface="メイリオ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charset="0"/>
          <a:ea typeface="メイリオ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charset="0"/>
          <a:ea typeface="メイリオ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charset="0"/>
          <a:ea typeface="メイリオ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charset="0"/>
          <a:ea typeface="メイリオ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メイリオ" charset="0"/>
          <a:ea typeface="メイリオ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メイリオ"/>
          <a:ea typeface="メイリオ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メイリオ"/>
          <a:ea typeface="メイリオ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メイリオ"/>
          <a:ea typeface="メイリオ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メイリオ"/>
          <a:ea typeface="メイリオ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メイリオ"/>
          <a:ea typeface="メイリオ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47">
            <a:extLst>
              <a:ext uri="{FF2B5EF4-FFF2-40B4-BE49-F238E27FC236}">
                <a16:creationId xmlns:a16="http://schemas.microsoft.com/office/drawing/2014/main" id="{919EDD35-79B6-49D7-F02F-0B2AF8906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00" y="107813"/>
            <a:ext cx="7512385" cy="365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7200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メイリオ" charset="0"/>
                <a:ea typeface="メイリオ" charset="0"/>
                <a:cs typeface="メイリオ" charset="0"/>
              </a:defRPr>
            </a:lvl1pPr>
            <a:lvl2pPr>
              <a:defRPr kumimoji="1" sz="2800">
                <a:solidFill>
                  <a:schemeClr val="tx1"/>
                </a:solidFill>
                <a:latin typeface="メイリオ" charset="0"/>
                <a:ea typeface="メイリオ" charset="0"/>
              </a:defRPr>
            </a:lvl2pPr>
            <a:lvl3pPr>
              <a:defRPr kumimoji="1" sz="2400">
                <a:solidFill>
                  <a:schemeClr val="tx1"/>
                </a:solidFill>
                <a:latin typeface="メイリオ" charset="0"/>
                <a:ea typeface="メイリオ" charset="0"/>
              </a:defRPr>
            </a:lvl3pPr>
            <a:lvl4pPr>
              <a:defRPr kumimoji="1" sz="2000">
                <a:solidFill>
                  <a:schemeClr val="tx1"/>
                </a:solidFill>
                <a:latin typeface="メイリオ" charset="0"/>
                <a:ea typeface="メイリオ" charset="0"/>
              </a:defRPr>
            </a:lvl4pPr>
            <a:lvl5pPr>
              <a:defRPr kumimoji="1" sz="2000">
                <a:solidFill>
                  <a:schemeClr val="tx1"/>
                </a:solidFill>
                <a:latin typeface="メイリオ" charset="0"/>
                <a:ea typeface="メイリオ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メイリオ" charset="0"/>
                <a:ea typeface="メイリオ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メイリオ" charset="0"/>
                <a:ea typeface="メイリオ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メイリオ" charset="0"/>
                <a:ea typeface="メイリオ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メイリオ" charset="0"/>
                <a:ea typeface="メイリオ" charset="0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None/>
            </a:pPr>
            <a:r>
              <a:rPr lang="ja-JP" altLang="en-US" sz="1600" b="1" dirty="0">
                <a:solidFill>
                  <a:srgbClr val="1F2A5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ステップ配信｜追加から14日で体験予約を取り切る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31520"/>
            <a:ext cx="913485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dirty="0">
                <a:solidFill>
                  <a:srgbClr val="646C82"/>
                </a:solidFill>
                <a:latin typeface="メイリオ"/>
                <a:ea typeface="メイリオ"/>
              </a:rPr>
              <a:t>友だち追加から15日でアクティブ率が急落する。その14日間に、答えるだけの診断を4回挟み、</a:t>
            </a:r>
            <a:endParaRPr lang="en-US" sz="1400" b="0" dirty="0">
              <a:solidFill>
                <a:srgbClr val="646C82"/>
              </a:solidFill>
              <a:latin typeface="メイリオ"/>
              <a:ea typeface="メイリオ"/>
            </a:endParaRPr>
          </a:p>
          <a:p>
            <a:r>
              <a:rPr sz="1400" b="0" dirty="0">
                <a:solidFill>
                  <a:srgbClr val="646C82"/>
                </a:solidFill>
                <a:latin typeface="メイリオ"/>
                <a:ea typeface="メイリオ"/>
              </a:rPr>
              <a:t>反応を切らさずに体験予約へつなげる。</a:t>
            </a:r>
            <a:endParaRPr lang="en-US" sz="1400" b="0" dirty="0">
              <a:solidFill>
                <a:srgbClr val="646C82"/>
              </a:solidFill>
              <a:latin typeface="メイリオ"/>
              <a:ea typeface="メイリオ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067327"/>
              </p:ext>
            </p:extLst>
          </p:nvPr>
        </p:nvGraphicFramePr>
        <p:xfrm>
          <a:off x="384048" y="1280160"/>
          <a:ext cx="913485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日</a:t>
                      </a:r>
                    </a:p>
                  </a:txBody>
                  <a:tcPr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目的</a:t>
                      </a:r>
                    </a:p>
                  </a:txBody>
                  <a:tcPr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配信コンテンツ</a:t>
                      </a:r>
                    </a:p>
                  </a:txBody>
                  <a:tcPr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CTA</a:t>
                      </a:r>
                    </a:p>
                  </a:txBody>
                  <a:tcPr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通知プレビュー冒頭</a:t>
                      </a:r>
                    </a:p>
                  </a:txBody>
                  <a:tcPr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Day0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体験の案内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＋属性取得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あいさつ＋無料体験（期限つき）のバナー＋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30秒 体づくりタイプ診断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体験予約／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診断回答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【〇月〇日まで】無料体験のご案内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Day2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初心者の不安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タイプ別「最初の1ヶ月はこれだけ」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＋マシンの使い方動画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動画視聴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【初めての方へ】まずはマシン3種類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Day3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続け方を見つける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性格タイプ診断（3問・4タイプ）→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計画派・気分派・仲間派・記録派ごとの通い方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性格タイプ診断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【3問】あなたに合うジムの通い方は？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Day4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費用の納得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1分料金シミュレーター（週2回なら1回いくら？）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料金診断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【1回いくら？】週2回なら…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Day5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目的別の深掘り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ダイエットタイプ診断（4問：食事・間食・睡眠・運動）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→ タイプ別「ジムでやること＋家での1つ」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ダイエット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タイプ診断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【4問】あなたのダイエットタイプは？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Day6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2回目のオファー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無料体験のご案内＋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「見学だけでもOK・入会を迫りません」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体験予約 CV①</a:t>
                      </a:r>
                    </a:p>
                  </a:txBody>
                  <a:tcPr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【見学だけOK】今週の空き枠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Day8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社会的証明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同じタイプの会員の声（診断のタイプ別）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／続いている人の共通点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事例閲覧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【コツコツ型の方へ】3ヶ月後の変化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Day10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不安の見える化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続けられるか診断（3問）→ 結果に合わせた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体験の回り方と、最初の2週間の予定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続けられるか診断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【3問】あなたは続けられる？</a:t>
                      </a:r>
                    </a:p>
                  </a:txBody>
                  <a:tcPr>
                    <a:solidFill>
                      <a:srgbClr val="DCE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Day11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疑問の除去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不安Q&amp;A（勧誘・解約・シャワー・混雑・持ち物）</a:t>
                      </a:r>
                      <a:b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</a:br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＋チャット相談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チャット相談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【解約もOK】よくあるご質問</a:t>
                      </a:r>
                    </a:p>
                  </a:txBody>
                  <a:tcPr>
                    <a:solidFill>
                      <a:srgbClr val="EF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Day14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最終オファー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入会金無料・事務手数料0円＋体験枠の残数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体験予約（再）</a:t>
                      </a:r>
                    </a:p>
                  </a:txBody>
                  <a:tcPr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1C2233"/>
                          </a:solidFill>
                          <a:latin typeface="メイリオ"/>
                          <a:ea typeface="メイリオ"/>
                        </a:rPr>
                        <a:t>【残3枠】今月の体験ご予約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5577840"/>
            <a:ext cx="2788920" cy="475488"/>
          </a:xfrm>
          <a:prstGeom prst="roundRect">
            <a:avLst/>
          </a:prstGeom>
          <a:solidFill>
            <a:srgbClr val="EFF1F7"/>
          </a:solidFill>
          <a:ln w="9525">
            <a:solidFill>
              <a:srgbClr val="C6C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t"/>
          <a:lstStyle/>
          <a:p>
            <a:pPr algn="l"/>
            <a:r>
              <a:rPr sz="1100" b="1" dirty="0">
                <a:solidFill>
                  <a:srgbClr val="1C2233"/>
                </a:solidFill>
                <a:latin typeface="メイリオ"/>
                <a:ea typeface="メイリオ"/>
              </a:rPr>
              <a:t>① 診断は4回、どれも1タップ</a:t>
            </a:r>
          </a:p>
          <a:p>
            <a:pPr algn="l">
              <a:spcBef>
                <a:spcPts val="200"/>
              </a:spcBef>
            </a:pPr>
            <a:r>
              <a:rPr sz="1100" b="0" dirty="0" err="1">
                <a:solidFill>
                  <a:srgbClr val="1C2233"/>
                </a:solidFill>
                <a:latin typeface="メイリオ"/>
                <a:ea typeface="メイリオ"/>
              </a:rPr>
              <a:t>Day0・3・5・10に答えるだけの配信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79" y="5577840"/>
            <a:ext cx="2788920" cy="475488"/>
          </a:xfrm>
          <a:prstGeom prst="roundRect">
            <a:avLst/>
          </a:prstGeom>
          <a:solidFill>
            <a:srgbClr val="EFF1F7"/>
          </a:solidFill>
          <a:ln w="9525">
            <a:solidFill>
              <a:srgbClr val="C6C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t"/>
          <a:lstStyle/>
          <a:p>
            <a:pPr algn="l"/>
            <a:r>
              <a:rPr sz="1100" b="1" dirty="0">
                <a:solidFill>
                  <a:srgbClr val="1C2233"/>
                </a:solidFill>
                <a:latin typeface="メイリオ"/>
                <a:ea typeface="メイリオ"/>
              </a:rPr>
              <a:t>② 答えはそのまま出し分けに</a:t>
            </a:r>
          </a:p>
          <a:p>
            <a:pPr algn="l">
              <a:spcBef>
                <a:spcPts val="200"/>
              </a:spcBef>
            </a:pPr>
            <a:r>
              <a:rPr sz="1100" b="0" dirty="0" err="1">
                <a:solidFill>
                  <a:srgbClr val="1C2233"/>
                </a:solidFill>
                <a:latin typeface="メイリオ"/>
                <a:ea typeface="メイリオ"/>
              </a:rPr>
              <a:t>診断のタイプを配信のタグにする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5577840"/>
            <a:ext cx="2788920" cy="475488"/>
          </a:xfrm>
          <a:prstGeom prst="roundRect">
            <a:avLst/>
          </a:prstGeom>
          <a:solidFill>
            <a:srgbClr val="EFF1F7"/>
          </a:solidFill>
          <a:ln w="9525">
            <a:solidFill>
              <a:srgbClr val="C6C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t"/>
          <a:lstStyle/>
          <a:p>
            <a:pPr algn="l"/>
            <a:r>
              <a:rPr sz="1100" b="1" dirty="0">
                <a:solidFill>
                  <a:srgbClr val="1C2233"/>
                </a:solidFill>
                <a:latin typeface="メイリオ"/>
                <a:ea typeface="メイリオ"/>
              </a:rPr>
              <a:t>③ 診断の結果から体験予約へ</a:t>
            </a:r>
          </a:p>
          <a:p>
            <a:pPr algn="l">
              <a:spcBef>
                <a:spcPts val="200"/>
              </a:spcBef>
            </a:pPr>
            <a:r>
              <a:rPr sz="1100" b="0" dirty="0" err="1">
                <a:solidFill>
                  <a:srgbClr val="1C2233"/>
                </a:solidFill>
                <a:latin typeface="メイリオ"/>
                <a:ea typeface="メイリオ"/>
              </a:rPr>
              <a:t>結果の最後に「無料体験を予約」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6126480"/>
            <a:ext cx="913485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646C82"/>
                </a:solidFill>
                <a:latin typeface="メイリオ"/>
                <a:ea typeface="メイリオ"/>
              </a:rPr>
              <a:t>※ 薄い紺の行が、今回足した診断の配信。Day5は目的に「ダイエット」を選んだ方だけ（他の目的の方は送らない）。</a:t>
            </a:r>
          </a:p>
          <a:p>
            <a:r>
              <a:rPr sz="900" b="0">
                <a:solidFill>
                  <a:srgbClr val="646C82"/>
                </a:solidFill>
                <a:latin typeface="メイリオ"/>
                <a:ea typeface="メイリオ"/>
              </a:rPr>
              <a:t>※ 性格タイプ診断・ダイエットタイプ診断を入れる場合は、リッチメニュー「② 診断・シミュレーター」に項目を足す。</a:t>
            </a:r>
          </a:p>
        </p:txBody>
      </p:sp>
    </p:spTree>
    <p:extLst>
      <p:ext uri="{BB962C8B-B14F-4D97-AF65-F5344CB8AC3E}">
        <p14:creationId xmlns:p14="http://schemas.microsoft.com/office/powerpoint/2010/main" val="1098718610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メイリオ"/>
        <a:ea typeface="メイリオ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メイリオ"/>
        <a:ea typeface="メイリオ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メイリオ" panose="020F0302020204030204"/>
        <a:ea typeface="メイリオ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メイリオ" panose="020F0502020204030204"/>
        <a:ea typeface="メイリオ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メイリオ" panose="020F0302020204030204"/>
        <a:ea typeface="メイリオ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メイリオ" panose="020F0502020204030204"/>
        <a:ea typeface="メイリオ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146289</TotalTime>
  <Words>8092</Words>
  <Application>Microsoft Office PowerPoint</Application>
  <PresentationFormat>A4 210 x 297 mm</PresentationFormat>
  <Paragraphs>1742</Paragraphs>
  <Slides>47</Slides>
  <Notes>9</Notes>
  <HiddenSlides>5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47</vt:i4>
      </vt:variant>
    </vt:vector>
  </HeadingPairs>
  <TitlesOfParts>
    <vt:vector size="52" baseType="lpstr">
      <vt:lpstr>メイリオ</vt:lpstr>
      <vt:lpstr>Arial</vt:lpstr>
      <vt:lpstr>Calibri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1964</cp:revision>
  <cp:lastPrinted>2022-11-01T11:38:14Z</cp:lastPrinted>
  <dcterms:created xsi:type="dcterms:W3CDTF">2015-09-04T09:21:15Z</dcterms:created>
  <dcterms:modified xsi:type="dcterms:W3CDTF">2026-10-19T08:32:56Z</dcterms:modified>
</cp:coreProperties>
</file>