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50"/>
  </p:notesMasterIdLst>
  <p:handoutMasterIdLst>
    <p:handoutMasterId r:id="rId51"/>
  </p:handoutMasterIdLst>
  <p:sldIdLst>
    <p:sldId id="3143" r:id="rId27"/>
    <p:sldId id="3144" r:id="rId29"/>
    <p:sldId id="3149" r:id="rId30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2D6CB9"/>
    <a:srgbClr val="173559"/>
    <a:srgbClr val="04FA0A"/>
    <a:srgbClr val="2080FF"/>
    <a:srgbClr val="1D8DFF"/>
    <a:srgbClr val="515457"/>
    <a:srgbClr val="F6A454"/>
    <a:srgbClr val="EAEEF4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05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5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27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メイリオ"/>
        <a:ea typeface="メイリオ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メイリオ"/>
          <a:ea typeface="メイリオ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pitchFamily="34" charset="0"/>
          <a:ea typeface="メイリオ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メイリオ"/>
          <a:ea typeface="メイリオ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メイリオ" panose="020B0502020202020204" pitchFamily="34" charset="0"/>
                <a:ea typeface="メイリオ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メイリオ" panose="020B0502020202020204" pitchFamily="34" charset="0"/>
              <a:ea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メイリオ"/>
          <a:ea typeface="メイリオ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メイリオ" charset="0"/>
          <a:ea typeface="メイリオ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メイリオ"/>
          <a:ea typeface="メイリオ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メイリオ"/>
          <a:ea typeface="メイリオ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メイリオ"/>
          <a:ea typeface="メイリオ"/>
          <a:cs typeface="+mn-cs"/>
        </a:defRPr>
      </a:lvl9pPr>
    </p:otherStyle>
  </p:txStyles>
</p:sldMaster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5.png"/></Relationships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47">
            <a:extLst>
              <a:ext uri="{FF2B5EF4-FFF2-40B4-BE49-F238E27FC236}">
                <a16:creationId xmlns:a16="http://schemas.microsoft.com/office/drawing/2014/main" id="{919EDD35-79B6-49D7-F02F-0B2AF89060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00" y="107813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メイリオ" charset="0"/>
                <a:ea typeface="メイリオ" charset="0"/>
                <a:cs typeface="メイリオ" charset="0"/>
              </a:defRPr>
            </a:lvl1pPr>
            <a:lvl2pPr>
              <a:defRPr kumimoji="1" sz="28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None/>
            </a:pPr>
            <a:r>
              <a:rPr lang="ja-JP" altLang="en-US" sz="1600" b="1" dirty="0">
                <a:solidFill>
                  <a:srgbClr val="1F2A5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ステップ配信｜追加から14日で体験予約を取り切る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31520"/>
            <a:ext cx="9134856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646C82"/>
                </a:solidFill>
                <a:latin typeface="メイリオ"/>
                <a:ea typeface="メイリオ"/>
              </a:rPr>
              <a:t>友だち追加から15日でアクティブ率が急落する。その14日間に、答えるだけの診断を4回挟み、</a:t>
            </a:r>
            <a:endParaRPr lang="en-US" sz="1400" b="0" dirty="0">
              <a:solidFill>
                <a:srgbClr val="646C82"/>
              </a:solidFill>
              <a:latin typeface="メイリオ"/>
              <a:ea typeface="メイリオ"/>
            </a:endParaRPr>
          </a:p>
          <a:p>
            <a:r>
              <a:rPr sz="1400" b="0" dirty="0">
                <a:solidFill>
                  <a:srgbClr val="646C82"/>
                </a:solidFill>
                <a:latin typeface="メイリオ"/>
                <a:ea typeface="メイリオ"/>
              </a:rPr>
              <a:t>反応を切らさずに体験予約へつなげる。</a:t>
            </a:r>
            <a:endParaRPr lang="en-US" sz="1400" b="0" dirty="0">
              <a:solidFill>
                <a:srgbClr val="646C82"/>
              </a:solidFill>
              <a:latin typeface="メイリオ"/>
              <a:ea typeface="メイリオ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067327"/>
              </p:ext>
            </p:extLst>
          </p:nvPr>
        </p:nvGraphicFramePr>
        <p:xfrm>
          <a:off x="384048" y="1280160"/>
          <a:ext cx="913485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5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日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目的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配信コンテンツ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CTA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通知プレビュー冒頭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体験の案内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＋属性取得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あいさつ＋無料体験（期限つき）のバナー＋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30秒 体づくりタイプ診断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体験予約／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診断回答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【〇月〇日まで】無料体験のご案内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Day2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初心者の不安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タイプ別「最初の1ヶ月はこれだけ」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＋マシンの使い方動画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動画視聴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【初めての方へ】まずはマシン3種類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Day3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続け方を見つける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性格タイプ診断（3問・4タイプ）→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計画派・気分派・仲間派・記録派ごとの通い方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性格タイプ診断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【3問】あなたに合うジムの通い方は？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費用の納得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1分料金シミュレーター（週2回なら1回いくら？）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料金診断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【1回いくら？】週2回なら…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Day5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目的別の深掘り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ダイエットタイプ診断（4問：食事・間食・睡眠・運動）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→ タイプ別「ジムでやること＋家での1つ」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ダイエット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タイプ診断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【4問】あなたのダイエットタイプは？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Day6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2回目のオファー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無料体験のご案内＋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「見学だけでもOK・入会を迫りません」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体験予約 CV①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【見学だけOK】今週の空き枠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社会的証明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同じタイプの会員の声（診断のタイプ別）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／続いている人の共通点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事例閲覧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【コツコツ型の方へ】3ヶ月後の変化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Day10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不安の見える化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続けられるか診断（3問）→ 結果に合わせた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体験の回り方と、最初の2週間の予定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続けられるか診断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【3問】あなたは続けられる？</a:t>
                      </a:r>
                    </a:p>
                  </a:txBody>
                  <a:tcPr>
                    <a:solidFill>
                      <a:srgbClr val="DCE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Day11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疑問の除去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不安Q&amp;A（勧誘・解約・シャワー・混雑・持ち物）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＋チャット相談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よくある</a:t>
                      </a:r>
                      <a:b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</a:br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質問・相談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【解約もOK】よくあるご質問</a:t>
                      </a:r>
                    </a:p>
                  </a:txBody>
                  <a:tcPr>
                    <a:solidFill>
                      <a:srgbClr val="EF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Day14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最終オファー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入会金無料・事務手数料0円＋体験枠の残数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体験予約（再）</a:t>
                      </a:r>
                    </a:p>
                  </a:txBody>
                  <a:tcPr>
                    <a:solidFill>
                      <a:srgbClr val="1F2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1C2233"/>
                          </a:solidFill>
                          <a:latin typeface="メイリオ"/>
                          <a:ea typeface="メイリオ"/>
                        </a:rPr>
                        <a:t>【残3枠】今月の体験ご予約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84048" y="5577840"/>
            <a:ext cx="2788920" cy="475488"/>
          </a:xfrm>
          <a:prstGeom prst="roundRect">
            <a:avLst/>
          </a:prstGeom>
          <a:solidFill>
            <a:srgbClr val="EFF1F7"/>
          </a:solidFill>
          <a:ln w="9525">
            <a:solidFill>
              <a:srgbClr val="C6C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t"/>
          <a:lstStyle/>
          <a:p>
            <a:pPr algn="l"/>
            <a:r>
              <a:rPr sz="1100" b="1" dirty="0">
                <a:solidFill>
                  <a:srgbClr val="1C2233"/>
                </a:solidFill>
                <a:latin typeface="メイリオ"/>
                <a:ea typeface="メイリオ"/>
              </a:rPr>
              <a:t>① 診断は4回、どれも1タップ</a:t>
            </a: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1C2233"/>
                </a:solidFill>
                <a:latin typeface="メイリオ"/>
                <a:ea typeface="メイリオ"/>
              </a:rPr>
              <a:t>Day0・3・5・10に答えるだけの配信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79" y="5577840"/>
            <a:ext cx="2788920" cy="475488"/>
          </a:xfrm>
          <a:prstGeom prst="roundRect">
            <a:avLst/>
          </a:prstGeom>
          <a:solidFill>
            <a:srgbClr val="EFF1F7"/>
          </a:solidFill>
          <a:ln w="9525">
            <a:solidFill>
              <a:srgbClr val="C6C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t"/>
          <a:lstStyle/>
          <a:p>
            <a:pPr algn="l"/>
            <a:r>
              <a:rPr sz="1100" b="1" dirty="0">
                <a:solidFill>
                  <a:srgbClr val="1C2233"/>
                </a:solidFill>
                <a:latin typeface="メイリオ"/>
                <a:ea typeface="メイリオ"/>
              </a:rPr>
              <a:t>② 答えはそのまま出し分けに</a:t>
            </a: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1C2233"/>
                </a:solidFill>
                <a:latin typeface="メイリオ"/>
                <a:ea typeface="メイリオ"/>
              </a:rPr>
              <a:t>診断のタイプを配信のタグにする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5577840"/>
            <a:ext cx="2788920" cy="475488"/>
          </a:xfrm>
          <a:prstGeom prst="roundRect">
            <a:avLst/>
          </a:prstGeom>
          <a:solidFill>
            <a:srgbClr val="EFF1F7"/>
          </a:solidFill>
          <a:ln w="9525">
            <a:solidFill>
              <a:srgbClr val="C6C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t"/>
          <a:lstStyle/>
          <a:p>
            <a:pPr algn="l"/>
            <a:r>
              <a:rPr sz="1100" b="1" dirty="0">
                <a:solidFill>
                  <a:srgbClr val="1C2233"/>
                </a:solidFill>
                <a:latin typeface="メイリオ"/>
                <a:ea typeface="メイリオ"/>
              </a:rPr>
              <a:t>③ 診断の結果から体験予約へ</a:t>
            </a: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1C2233"/>
                </a:solidFill>
                <a:latin typeface="メイリオ"/>
                <a:ea typeface="メイリオ"/>
              </a:rPr>
              <a:t>結果の最後に「無料体験を予約」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126480"/>
            <a:ext cx="9134856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薄い紺の行が、今回足した診断の配信。Day5は目的に「ダイエット」を選んだ方だけ（他の目的の方は送らない）。</a:t>
            </a:r>
          </a:p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性格タイプ診断・ダイエットタイプ診断は、リッチメニュー「② 診断・シミュレーター」からも押せる（次の2ページ）。</a:t>
            </a:r>
          </a:p>
        </p:txBody>
      </p:sp>
    </p:spTree>
    <p:extLst>
      <p:ext uri="{BB962C8B-B14F-4D97-AF65-F5344CB8AC3E}">
        <p14:creationId xmlns:p14="http://schemas.microsoft.com/office/powerpoint/2010/main" val="10987186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47">
            <a:extLst>
              <a:ext uri="{FF2B5EF4-FFF2-40B4-BE49-F238E27FC236}">
                <a16:creationId xmlns:a16="http://schemas.microsoft.com/office/drawing/2014/main" id="{919EDD35-79B6-49D7-F02F-0B2AF89060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00" y="107813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メイリオ" charset="0"/>
                <a:ea typeface="メイリオ" charset="0"/>
                <a:cs typeface="メイリオ" charset="0"/>
              </a:defRPr>
            </a:lvl1pPr>
            <a:lvl2pPr>
              <a:defRPr kumimoji="1" sz="28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None/>
            </a:pPr>
            <a:r>
              <a:rPr lang="ja-JP" altLang="en-US" sz="1600" b="1" dirty="0">
                <a:solidFill>
                  <a:srgbClr val="1F2A5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リッチメニュー設計案｜3タブ × 6枠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31520"/>
            <a:ext cx="91348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646C82"/>
                </a:solidFill>
                <a:latin typeface="メイリオ"/>
                <a:ea typeface="メイリオ"/>
              </a:rPr>
              <a:t>「見学前」「迷い中」「会員」で、見せる画面を変える。入会後もLINEを使ってもらう。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" y="5413247"/>
            <a:ext cx="9089136" cy="475488"/>
          </a:xfrm>
          <a:prstGeom prst="rect">
            <a:avLst/>
          </a:prstGeom>
          <a:solidFill>
            <a:srgbClr val="E4E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1500" y="5513831"/>
            <a:ext cx="88148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入会タグで①→③に自動切替。</a:t>
            </a:r>
            <a:endParaRPr lang="en-US" sz="1400" b="0" dirty="0">
              <a:solidFill>
                <a:srgbClr val="1C2233"/>
              </a:solidFill>
              <a:latin typeface="メイリオ"/>
              <a:ea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84048" y="6263640"/>
            <a:ext cx="91348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タブ③に「休会・退会の手続き」を置くのが要点。隠すと不信感になり、かえって解約されます。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D110590D-470C-755A-DA08-FD0F6B856E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62" y="1384615"/>
            <a:ext cx="8849262" cy="368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03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47">
            <a:extLst>
              <a:ext uri="{FF2B5EF4-FFF2-40B4-BE49-F238E27FC236}">
                <a16:creationId xmlns:a16="http://schemas.microsoft.com/office/drawing/2014/main" id="{919EDD35-79B6-49D7-F02F-0B2AF89060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200" y="107813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メイリオ" charset="0"/>
                <a:ea typeface="メイリオ" charset="0"/>
                <a:cs typeface="メイリオ" charset="0"/>
              </a:defRPr>
            </a:lvl1pPr>
            <a:lvl2pPr>
              <a:defRPr kumimoji="1" sz="2800">
                <a:solidFill>
                  <a:schemeClr val="tx1"/>
                </a:solidFill>
                <a:latin typeface="メイリオ" charset="0"/>
                <a:ea typeface="メイリオ" charset="0"/>
              </a:defRPr>
            </a:lvl2pPr>
            <a:lvl3pPr>
              <a:defRPr kumimoji="1" sz="2400">
                <a:solidFill>
                  <a:schemeClr val="tx1"/>
                </a:solidFill>
                <a:latin typeface="メイリオ" charset="0"/>
                <a:ea typeface="メイリオ" charset="0"/>
              </a:defRPr>
            </a:lvl3pPr>
            <a:lvl4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4pPr>
            <a:lvl5pPr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メイリオ" charset="0"/>
                <a:ea typeface="メイリオ" charset="0"/>
              </a:defRPr>
            </a:lvl9pPr>
          </a:lstStyle>
          <a:p>
            <a:pPr>
              <a:spcBef>
                <a:spcPct val="20000"/>
              </a:spcBef>
              <a:buFont typeface="Arial" charset="0"/>
              <a:buNone/>
            </a:pPr>
            <a:r>
              <a:rPr lang="ja-JP" altLang="en-US" sz="1600" b="1" dirty="0">
                <a:solidFill>
                  <a:srgbClr val="1F2A5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リッチメニュー実装イメージ｜3タブの実物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57120"/>
            <a:ext cx="9134856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0" dirty="0" err="1">
                <a:solidFill>
                  <a:srgbClr val="646C82"/>
                </a:solidFill>
                <a:latin typeface="メイリオ"/>
                <a:ea typeface="メイリオ"/>
              </a:rPr>
              <a:t>同じLINEでも、入会前と入会後で見える画面が切り替わる</a:t>
            </a:r>
            <a:r>
              <a:rPr b="0" dirty="0">
                <a:solidFill>
                  <a:srgbClr val="646C82"/>
                </a:solidFill>
                <a:latin typeface="メイリオ"/>
                <a:ea typeface="メイリオ"/>
              </a:rPr>
              <a:t>。</a:t>
            </a:r>
            <a:endParaRPr lang="en-US" b="0" dirty="0">
              <a:solidFill>
                <a:srgbClr val="646C82"/>
              </a:solidFill>
              <a:latin typeface="メイリオ"/>
              <a:ea typeface="メイリオ"/>
            </a:endParaRPr>
          </a:p>
          <a:p>
            <a:r>
              <a:rPr b="0" dirty="0" err="1">
                <a:solidFill>
                  <a:srgbClr val="646C82"/>
                </a:solidFill>
                <a:latin typeface="メイリオ"/>
                <a:ea typeface="メイリオ"/>
              </a:rPr>
              <a:t>入会後もLINEを使ってもらう設計</a:t>
            </a:r>
            <a:r>
              <a:rPr b="0" dirty="0">
                <a:solidFill>
                  <a:srgbClr val="646C82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596368"/>
            <a:ext cx="2788920" cy="475488"/>
          </a:xfrm>
          <a:prstGeom prst="roundRect">
            <a:avLst/>
          </a:prstGeom>
          <a:solidFill>
            <a:srgbClr val="1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① 見学・体験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126720"/>
            <a:ext cx="2788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未入会のデフォルト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79" y="1596368"/>
            <a:ext cx="2788920" cy="475488"/>
          </a:xfrm>
          <a:prstGeom prst="roundRect">
            <a:avLst/>
          </a:prstGeom>
          <a:solidFill>
            <a:srgbClr val="1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② 診断・シミュレーター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126720"/>
            <a:ext cx="2788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迷っている人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1596368"/>
            <a:ext cx="2788920" cy="475488"/>
          </a:xfrm>
          <a:prstGeom prst="roundRect">
            <a:avLst/>
          </a:prstGeom>
          <a:solidFill>
            <a:srgbClr val="1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38100" rIns="50800" bIns="381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③ 会員の方へ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126720"/>
            <a:ext cx="2788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入会後に自動切替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" y="5525392"/>
            <a:ext cx="9089136" cy="475488"/>
          </a:xfrm>
          <a:prstGeom prst="rect">
            <a:avLst/>
          </a:prstGeom>
          <a:solidFill>
            <a:srgbClr val="E4E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5625976"/>
            <a:ext cx="881481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1C2233"/>
                </a:solidFill>
                <a:latin typeface="メイリオ"/>
                <a:ea typeface="メイリオ"/>
              </a:rPr>
              <a:t>入会タグで①→③に自動切替。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284344"/>
            <a:ext cx="913485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>
                <a:solidFill>
                  <a:srgbClr val="646C82"/>
                </a:solidFill>
                <a:latin typeface="メイリオ"/>
                <a:ea typeface="メイリオ"/>
              </a:rPr>
              <a:t>※ 画像はイメージです。実装時は店舗写真・ブランドカラー・アイコンを貴社仕様に差し替えます。</a:t>
            </a:r>
          </a:p>
        </p:txBody>
      </p:sp>
      <p:pic>
        <p:nvPicPr>
          <p:cNvPr id="32" name="Picture 31" descr="ジム_リッチメニュー_1_見学体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521928"/>
            <a:ext cx="2788920" cy="1880847"/>
          </a:xfrm>
          <a:prstGeom prst="rect">
            <a:avLst/>
          </a:prstGeom>
        </p:spPr>
      </p:pic>
      <p:pic>
        <p:nvPicPr>
          <p:cNvPr id="33" name="Picture 32" descr="ジム_リッチメニュー_2_診断シミュレーター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538" y="2521928"/>
            <a:ext cx="2788401" cy="1880847"/>
          </a:xfrm>
          <a:prstGeom prst="rect">
            <a:avLst/>
          </a:prstGeom>
        </p:spPr>
      </p:pic>
      <p:pic>
        <p:nvPicPr>
          <p:cNvPr id="34" name="Picture 33" descr="ジム_リッチメニュー_3_会員の方へ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521928"/>
            <a:ext cx="2788920" cy="188084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84048" y="4541928"/>
            <a:ext cx="27889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04040"/>
                </a:solidFill>
                <a:latin typeface="メイリオ"/>
                <a:ea typeface="メイリオ"/>
              </a:rPr>
              <a:t>押してほしい1枠だけ色を変え、6枠を等価に並べない。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79" y="4541928"/>
            <a:ext cx="27889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04040"/>
                </a:solidFill>
                <a:latin typeface="メイリオ"/>
                <a:ea typeface="メイリオ"/>
              </a:rPr>
              <a:t>診断で属性を取り、そのまま配信セグメントに変換する。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41928"/>
            <a:ext cx="2788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 err="1">
                <a:solidFill>
                  <a:srgbClr val="404040"/>
                </a:solidFill>
                <a:latin typeface="メイリオ"/>
                <a:ea typeface="メイリオ"/>
              </a:rPr>
              <a:t>入会後は機能を総入れ替え</a:t>
            </a:r>
            <a:r>
              <a:rPr sz="1200" dirty="0">
                <a:solidFill>
                  <a:srgbClr val="404040"/>
                </a:solidFill>
                <a:latin typeface="メイリオ"/>
                <a:ea typeface="メイリオ"/>
              </a:rPr>
              <a:t>。</a:t>
            </a:r>
            <a:endParaRPr lang="en-US" sz="1200" dirty="0">
              <a:solidFill>
                <a:srgbClr val="404040"/>
              </a:solidFill>
              <a:latin typeface="メイリオ"/>
              <a:ea typeface="メイリオ"/>
            </a:endParaRPr>
          </a:p>
          <a:p>
            <a:r>
              <a:rPr sz="1200" dirty="0" err="1">
                <a:solidFill>
                  <a:srgbClr val="404040"/>
                </a:solidFill>
                <a:latin typeface="メイリオ"/>
                <a:ea typeface="メイリオ"/>
              </a:rPr>
              <a:t>休会・退会も隠さない</a:t>
            </a:r>
            <a:r>
              <a:rPr sz="1200" dirty="0">
                <a:solidFill>
                  <a:srgbClr val="404040"/>
                </a:solidFill>
                <a:latin typeface="メイリオ"/>
                <a:ea typeface="メイリオ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メイリオ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メイリオ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 panose="020F03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メイリオ" panose="020F05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 panose="020F03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メイリオ" panose="020F0502020204030204"/>
        <a:ea typeface="メイリオ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146289</TotalTime>
  <Words>8092</Words>
  <Application>Microsoft Office PowerPoint</Application>
  <PresentationFormat>A4 210 x 297 mm</PresentationFormat>
  <Paragraphs>1742</Paragraphs>
  <Slides>47</Slides>
  <Notes>9</Notes>
  <HiddenSlides>5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2" baseType="lpstr">
      <vt:lpstr>メイリオ</vt:lpstr>
      <vt:lpstr>Arial</vt:lpstr>
      <vt:lpstr>Calibri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1964</cp:revision>
  <cp:lastPrinted>2022-11-01T11:38:14Z</cp:lastPrinted>
  <dcterms:created xsi:type="dcterms:W3CDTF">2015-09-04T09:21:15Z</dcterms:created>
  <dcterms:modified xsi:type="dcterms:W3CDTF">2026-10-19T08:32:56Z</dcterms:modified>
</cp:coreProperties>
</file>