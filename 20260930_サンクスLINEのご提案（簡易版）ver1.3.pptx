
<file path=[Content_Types].xml><?xml version="1.0" encoding="utf-8"?>
<Types xmlns="http://schemas.openxmlformats.org/package/2006/content-types">
  <Default Extension="emf" ContentType="image/x-emf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4" r:id="rId1"/>
    <p:sldMasterId id="2147483687" r:id="rId2"/>
  </p:sldMasterIdLst>
  <p:notesMasterIdLst>
    <p:notesMasterId r:id="rId8"/>
  </p:notesMasterIdLst>
  <p:handoutMasterIdLst>
    <p:handoutMasterId r:id="rId9"/>
  </p:handoutMasterIdLst>
  <p:sldIdLst>
    <p:sldId id="2971" r:id="rId3"/>
    <p:sldId id="2972" r:id="rId4"/>
    <p:sldId id="2904" r:id="rId5"/>
    <p:sldId id="3007" r:id="rId6"/>
    <p:sldId id="2987" r:id="rId7"/>
  </p:sldIdLst>
  <p:sldSz cx="9906000" cy="6858000" type="A4"/>
  <p:notesSz cx="6807200" cy="9939338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158" userDrawn="1">
          <p15:clr>
            <a:srgbClr val="A4A3A4"/>
          </p15:clr>
        </p15:guide>
        <p15:guide id="2" pos="308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4FA0A"/>
    <a:srgbClr val="173559"/>
    <a:srgbClr val="FDFDFD"/>
    <a:srgbClr val="2080FF"/>
    <a:srgbClr val="1D8DFF"/>
    <a:srgbClr val="515457"/>
    <a:srgbClr val="F6A454"/>
    <a:srgbClr val="EAEEF4"/>
    <a:srgbClr val="2D6CB9"/>
    <a:srgbClr val="D1D9E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間スタイル 2 - アクセント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中間スタイル 2 - アクセント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B301B821-A1FF-4177-AEE7-76D212191A09}" styleName="中間スタイル 1 - アクセント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69012ECD-51FC-41F1-AA8D-1B2483CD663E}" styleName="淡色スタイル 2 - アクセント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8157" autoAdjust="0"/>
    <p:restoredTop sz="94424" autoAdjust="0"/>
  </p:normalViewPr>
  <p:slideViewPr>
    <p:cSldViewPr snapToGrid="0">
      <p:cViewPr varScale="1">
        <p:scale>
          <a:sx n="110" d="100"/>
          <a:sy n="110" d="100"/>
        </p:scale>
        <p:origin x="1236" y="102"/>
      </p:cViewPr>
      <p:guideLst>
        <p:guide orient="horz" pos="3158"/>
        <p:guide pos="308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-3072"/>
    </p:cViewPr>
  </p:sorterViewPr>
  <p:notesViewPr>
    <p:cSldViewPr snapToGrid="0">
      <p:cViewPr varScale="1">
        <p:scale>
          <a:sx n="79" d="100"/>
          <a:sy n="79" d="100"/>
        </p:scale>
        <p:origin x="4014" y="102"/>
      </p:cViewPr>
      <p:guideLst/>
    </p:cSldViewPr>
  </p:notesViewPr>
  <p:gridSpacing cx="1080001" cy="1080001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Master" Target="slideMasters/slideMaster2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notesMaster" Target="notesMasters/notesMaster1.xml"/><Relationship Id="rId9" Type="http://schemas.openxmlformats.org/officeDocument/2006/relationships/handoutMaster" Target="handoutMasters/handout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フッター プレースホルダー 3"/>
          <p:cNvSpPr>
            <a:spLocks noGrp="1"/>
          </p:cNvSpPr>
          <p:nvPr>
            <p:ph type="ftr" sz="quarter" idx="2"/>
          </p:nvPr>
        </p:nvSpPr>
        <p:spPr>
          <a:xfrm>
            <a:off x="0" y="9441662"/>
            <a:ext cx="2949420" cy="497676"/>
          </a:xfrm>
          <a:prstGeom prst="rect">
            <a:avLst/>
          </a:prstGeom>
        </p:spPr>
        <p:txBody>
          <a:bodyPr vert="horz" lIns="90561" tIns="45280" rIns="90561" bIns="45280" rtlCol="0" anchor="b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5" name="スライド番号プレースホルダー 4"/>
          <p:cNvSpPr>
            <a:spLocks noGrp="1"/>
          </p:cNvSpPr>
          <p:nvPr>
            <p:ph type="sldNum" sz="quarter" idx="3"/>
          </p:nvPr>
        </p:nvSpPr>
        <p:spPr>
          <a:xfrm>
            <a:off x="3856210" y="9441662"/>
            <a:ext cx="2949420" cy="497676"/>
          </a:xfrm>
          <a:prstGeom prst="rect">
            <a:avLst/>
          </a:prstGeom>
        </p:spPr>
        <p:txBody>
          <a:bodyPr vert="horz" lIns="90561" tIns="45280" rIns="90561" bIns="45280" rtlCol="0" anchor="b"/>
          <a:lstStyle>
            <a:lvl1pPr algn="r">
              <a:defRPr sz="1200"/>
            </a:lvl1pPr>
          </a:lstStyle>
          <a:p>
            <a:fld id="{7B45B759-5475-4693-BFD4-53BF6401E48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259530797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ー 1"/>
          <p:cNvSpPr>
            <a:spLocks noGrp="1"/>
          </p:cNvSpPr>
          <p:nvPr>
            <p:ph type="hdr" sz="quarter"/>
          </p:nvPr>
        </p:nvSpPr>
        <p:spPr>
          <a:xfrm>
            <a:off x="1" y="2"/>
            <a:ext cx="2950528" cy="497524"/>
          </a:xfrm>
          <a:prstGeom prst="rect">
            <a:avLst/>
          </a:prstGeom>
        </p:spPr>
        <p:txBody>
          <a:bodyPr vert="horz" lIns="91529" tIns="45765" rIns="91529" bIns="45765" rtlCol="0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idx="1"/>
          </p:nvPr>
        </p:nvSpPr>
        <p:spPr>
          <a:xfrm>
            <a:off x="3855082" y="2"/>
            <a:ext cx="2950528" cy="497524"/>
          </a:xfrm>
          <a:prstGeom prst="rect">
            <a:avLst/>
          </a:prstGeom>
        </p:spPr>
        <p:txBody>
          <a:bodyPr vert="horz" lIns="91529" tIns="45765" rIns="91529" bIns="45765" rtlCol="0"/>
          <a:lstStyle>
            <a:lvl1pPr algn="r">
              <a:defRPr sz="1200"/>
            </a:lvl1pPr>
          </a:lstStyle>
          <a:p>
            <a:fld id="{6AF8158D-F6B1-45E0-9831-E70689DC8490}" type="datetimeFigureOut">
              <a:rPr kumimoji="1" lang="ja-JP" altLang="en-US" smtClean="0"/>
              <a:t>2026/9/30</a:t>
            </a:fld>
            <a:endParaRPr kumimoji="1" lang="ja-JP" altLang="en-US"/>
          </a:p>
        </p:txBody>
      </p:sp>
      <p:sp>
        <p:nvSpPr>
          <p:cNvPr id="4" name="スライド イメージ プレースホルダー 3"/>
          <p:cNvSpPr>
            <a:spLocks noGrp="1" noRot="1" noChangeAspect="1"/>
          </p:cNvSpPr>
          <p:nvPr>
            <p:ph type="sldImg" idx="2"/>
          </p:nvPr>
        </p:nvSpPr>
        <p:spPr>
          <a:xfrm>
            <a:off x="981075" y="1243013"/>
            <a:ext cx="4845050" cy="33543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529" tIns="45765" rIns="91529" bIns="45765" rtlCol="0" anchor="ctr"/>
          <a:lstStyle/>
          <a:p>
            <a:endParaRPr lang="ja-JP" altLang="en-US"/>
          </a:p>
        </p:txBody>
      </p:sp>
      <p:sp>
        <p:nvSpPr>
          <p:cNvPr id="5" name="ノート プレースホルダー 4"/>
          <p:cNvSpPr>
            <a:spLocks noGrp="1"/>
          </p:cNvSpPr>
          <p:nvPr>
            <p:ph type="body" sz="quarter" idx="3"/>
          </p:nvPr>
        </p:nvSpPr>
        <p:spPr>
          <a:xfrm>
            <a:off x="680402" y="4782901"/>
            <a:ext cx="5446396" cy="3913426"/>
          </a:xfrm>
          <a:prstGeom prst="rect">
            <a:avLst/>
          </a:prstGeom>
        </p:spPr>
        <p:txBody>
          <a:bodyPr vert="horz" lIns="91529" tIns="45765" rIns="91529" bIns="45765" rtlCol="0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4"/>
          </p:nvPr>
        </p:nvSpPr>
        <p:spPr>
          <a:xfrm>
            <a:off x="1" y="9441817"/>
            <a:ext cx="2950528" cy="497524"/>
          </a:xfrm>
          <a:prstGeom prst="rect">
            <a:avLst/>
          </a:prstGeom>
        </p:spPr>
        <p:txBody>
          <a:bodyPr vert="horz" lIns="91529" tIns="45765" rIns="91529" bIns="45765" rtlCol="0" anchor="b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5"/>
          </p:nvPr>
        </p:nvSpPr>
        <p:spPr>
          <a:xfrm>
            <a:off x="3855082" y="9441817"/>
            <a:ext cx="2950528" cy="497524"/>
          </a:xfrm>
          <a:prstGeom prst="rect">
            <a:avLst/>
          </a:prstGeom>
        </p:spPr>
        <p:txBody>
          <a:bodyPr vert="horz" lIns="91529" tIns="45765" rIns="91529" bIns="45765" rtlCol="0" anchor="b"/>
          <a:lstStyle>
            <a:lvl1pPr algn="r">
              <a:defRPr sz="1200"/>
            </a:lvl1pPr>
          </a:lstStyle>
          <a:p>
            <a:fld id="{022E43C0-6795-4B13-B37C-259C826D4B6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64091890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215D0A-BA72-DE45-32FA-363803F140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>
            <a:extLst>
              <a:ext uri="{FF2B5EF4-FFF2-40B4-BE49-F238E27FC236}">
                <a16:creationId xmlns:a16="http://schemas.microsoft.com/office/drawing/2014/main" id="{27D2F8A3-D4B3-B9E6-A613-A157696B87F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>
            <a:extLst>
              <a:ext uri="{FF2B5EF4-FFF2-40B4-BE49-F238E27FC236}">
                <a16:creationId xmlns:a16="http://schemas.microsoft.com/office/drawing/2014/main" id="{933FBD4A-B575-3375-091A-F6A24B5A9BD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 dirty="0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4CAEAEB9-E37C-569F-CBB7-45D65E2A090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22E43C0-6795-4B13-B37C-259C826D4B6A}" type="slidenum">
              <a:rPr kumimoji="1" lang="ja-JP" altLang="en-US" smtClean="0"/>
              <a:t>1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12384761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681540-B398-8C02-E1F2-1F1C4798CC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>
            <a:extLst>
              <a:ext uri="{FF2B5EF4-FFF2-40B4-BE49-F238E27FC236}">
                <a16:creationId xmlns:a16="http://schemas.microsoft.com/office/drawing/2014/main" id="{2A82C74D-328C-FB0E-E710-C92A52BEF4B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>
            <a:extLst>
              <a:ext uri="{FF2B5EF4-FFF2-40B4-BE49-F238E27FC236}">
                <a16:creationId xmlns:a16="http://schemas.microsoft.com/office/drawing/2014/main" id="{175EB1E7-3A4C-2E0A-CA67-686800FA87A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 dirty="0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2173A52D-F6CC-DC20-5CFE-D4EBA25ECCB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22E43C0-6795-4B13-B37C-259C826D4B6A}" type="slidenum">
              <a:rPr kumimoji="1" lang="ja-JP" altLang="en-US" smtClean="0"/>
              <a:t>2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73798680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87BDD3-88EE-99A9-AEE2-C1F41DDABD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>
            <a:extLst>
              <a:ext uri="{FF2B5EF4-FFF2-40B4-BE49-F238E27FC236}">
                <a16:creationId xmlns:a16="http://schemas.microsoft.com/office/drawing/2014/main" id="{650017B6-5C78-4075-2708-AC5DB83D5C7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>
            <a:extLst>
              <a:ext uri="{FF2B5EF4-FFF2-40B4-BE49-F238E27FC236}">
                <a16:creationId xmlns:a16="http://schemas.microsoft.com/office/drawing/2014/main" id="{8ECFD86C-83D9-B8F9-9012-A14834B2031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 dirty="0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602F5ACB-1F4C-FA7D-D366-8DCBB1214FD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22E43C0-6795-4B13-B37C-259C826D4B6A}" type="slidenum">
              <a:rPr kumimoji="1" lang="ja-JP" altLang="en-US" smtClean="0"/>
              <a:t>5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291335215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_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正方形/長方形 1"/>
          <p:cNvSpPr/>
          <p:nvPr userDrawn="1"/>
        </p:nvSpPr>
        <p:spPr>
          <a:xfrm>
            <a:off x="9398000" y="6591300"/>
            <a:ext cx="419100" cy="266700"/>
          </a:xfrm>
          <a:prstGeom prst="rect">
            <a:avLst/>
          </a:prstGeom>
          <a:solidFill>
            <a:srgbClr val="191F5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758107768"/>
      </p:ext>
    </p:extLst>
  </p:cSld>
  <p:clrMapOvr>
    <a:masterClrMapping/>
  </p:clrMapOvr>
  <p:hf hd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4_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直線コネクタ 4"/>
          <p:cNvCxnSpPr/>
          <p:nvPr/>
        </p:nvCxnSpPr>
        <p:spPr>
          <a:xfrm>
            <a:off x="0" y="548680"/>
            <a:ext cx="9906000" cy="0"/>
          </a:xfrm>
          <a:prstGeom prst="line">
            <a:avLst/>
          </a:prstGeom>
          <a:ln>
            <a:solidFill>
              <a:srgbClr val="191F5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正方形/長方形 6"/>
          <p:cNvSpPr/>
          <p:nvPr/>
        </p:nvSpPr>
        <p:spPr>
          <a:xfrm>
            <a:off x="0" y="0"/>
            <a:ext cx="451204" cy="548680"/>
          </a:xfrm>
          <a:prstGeom prst="rect">
            <a:avLst/>
          </a:prstGeom>
          <a:solidFill>
            <a:srgbClr val="191F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 sz="1800"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58189266"/>
      </p:ext>
    </p:extLst>
  </p:cSld>
  <p:clrMapOvr>
    <a:masterClrMapping/>
  </p:clrMapOvr>
  <p:hf hd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85212341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Relationship Id="rId5" Type="http://schemas.openxmlformats.org/officeDocument/2006/relationships/image" Target="../media/image1.png"/><Relationship Id="rId6" Type="http://schemas.openxmlformats.org/officeDocument/2006/relationships/image" Target="../media/image2.png"/></Relationships>
</file>

<file path=ppt/slideMasters/_rels/slideMaster2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image" Target="../media/image3.emf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図 1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51357" y="72255"/>
            <a:ext cx="1598627" cy="424153"/>
          </a:xfrm>
          <a:prstGeom prst="rect">
            <a:avLst/>
          </a:prstGeom>
        </p:spPr>
      </p:pic>
      <p:pic>
        <p:nvPicPr>
          <p:cNvPr id="5" name="図 4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151355" y="32333"/>
            <a:ext cx="1653069" cy="635796"/>
          </a:xfrm>
          <a:prstGeom prst="rect">
            <a:avLst/>
          </a:prstGeom>
        </p:spPr>
      </p:pic>
      <p:sp>
        <p:nvSpPr>
          <p:cNvPr id="6" name="正方形/長方形 5"/>
          <p:cNvSpPr/>
          <p:nvPr/>
        </p:nvSpPr>
        <p:spPr>
          <a:xfrm>
            <a:off x="0" y="6552728"/>
            <a:ext cx="9906000" cy="332656"/>
          </a:xfrm>
          <a:prstGeom prst="rect">
            <a:avLst/>
          </a:prstGeom>
          <a:solidFill>
            <a:srgbClr val="191F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 sz="1800">
              <a:solidFill>
                <a:prstClr val="white"/>
              </a:solidFill>
            </a:endParaRPr>
          </a:p>
        </p:txBody>
      </p:sp>
      <p:sp>
        <p:nvSpPr>
          <p:cNvPr id="8" name="スライド番号プレースホルダ 1"/>
          <p:cNvSpPr txBox="1">
            <a:spLocks/>
          </p:cNvSpPr>
          <p:nvPr/>
        </p:nvSpPr>
        <p:spPr>
          <a:xfrm>
            <a:off x="7594600" y="6552729"/>
            <a:ext cx="2311400" cy="365125"/>
          </a:xfrm>
          <a:prstGeom prst="rect">
            <a:avLst/>
          </a:prstGeom>
        </p:spPr>
        <p:txBody>
          <a:bodyPr/>
          <a:lstStyle>
            <a:defPPr>
              <a:defRPr lang="ja-JP"/>
            </a:defPPr>
            <a:lvl1pPr marL="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9FC100E3-15F5-4145-A942-47DB1D8B776D}" type="slidenum">
              <a:rPr lang="ja-JP" altLang="en-US" sz="1400" b="1" smtClean="0">
                <a:solidFill>
                  <a:schemeClr val="bg1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pPr algn="r"/>
              <a:t>‹#›</a:t>
            </a:fld>
            <a:endParaRPr lang="ja-JP" altLang="en-US" sz="1400" b="1" dirty="0">
              <a:solidFill>
                <a:schemeClr val="bg1"/>
              </a:solidFill>
              <a:latin typeface="メイリオ" panose="020B0604030504040204" pitchFamily="50" charset="-128"/>
              <a:ea typeface="メイリオ" panose="020B0604030504040204" pitchFamily="50" charset="-128"/>
              <a:cs typeface="メイリオ" panose="020B0604030504040204" pitchFamily="50" charset="-128"/>
            </a:endParaRPr>
          </a:p>
        </p:txBody>
      </p:sp>
      <p:sp>
        <p:nvSpPr>
          <p:cNvPr id="9" name="テキスト ボックス 8"/>
          <p:cNvSpPr txBox="1">
            <a:spLocks noChangeArrowheads="1"/>
          </p:cNvSpPr>
          <p:nvPr userDrawn="1"/>
        </p:nvSpPr>
        <p:spPr bwMode="auto">
          <a:xfrm>
            <a:off x="116569" y="6597932"/>
            <a:ext cx="3666301" cy="2154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>
              <a:defRPr/>
            </a:pPr>
            <a:r>
              <a:rPr lang="en-US" altLang="ja-JP" sz="800" b="1" dirty="0">
                <a:solidFill>
                  <a:schemeClr val="bg1"/>
                </a:solidFill>
                <a:latin typeface="メイリオ"/>
                <a:ea typeface="メイリオ"/>
                <a:cs typeface="メイリオ"/>
              </a:rPr>
              <a:t>Copyright(c) DYM Co., Ltd</a:t>
            </a:r>
            <a:r>
              <a:rPr lang="ja-JP" altLang="en-US" sz="800" b="1" dirty="0" err="1">
                <a:solidFill>
                  <a:schemeClr val="bg1"/>
                </a:solidFill>
                <a:latin typeface="メイリオ"/>
                <a:ea typeface="メイリオ"/>
                <a:cs typeface="メイリオ"/>
              </a:rPr>
              <a:t>．</a:t>
            </a:r>
            <a:r>
              <a:rPr lang="en-US" altLang="ja-JP" sz="800" b="1" dirty="0">
                <a:solidFill>
                  <a:schemeClr val="bg1"/>
                </a:solidFill>
                <a:latin typeface="メイリオ"/>
                <a:ea typeface="メイリオ"/>
                <a:cs typeface="メイリオ"/>
              </a:rPr>
              <a:t> All Rights Reserved.</a:t>
            </a:r>
          </a:p>
        </p:txBody>
      </p:sp>
    </p:spTree>
    <p:extLst>
      <p:ext uri="{BB962C8B-B14F-4D97-AF65-F5344CB8AC3E}">
        <p14:creationId xmlns:p14="http://schemas.microsoft.com/office/powerpoint/2010/main" val="34587033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6" r:id="rId1"/>
    <p:sldLayoutId id="2147483683" r:id="rId2"/>
    <p:sldLayoutId id="2147483689" r:id="rId3"/>
  </p:sldLayoutIdLst>
  <p:hf hdr="0" dt="0"/>
  <p:txStyles>
    <p:titleStyle>
      <a:lvl1pPr algn="ctr" rtl="0" eaLnBrk="1" fontAlgn="base" hangingPunct="1">
        <a:spcBef>
          <a:spcPct val="0"/>
        </a:spcBef>
        <a:spcAft>
          <a:spcPct val="0"/>
        </a:spcAft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pitchFamily="34" charset="0"/>
          <a:ea typeface="ＭＳ Ｐゴシック" pitchFamily="50" charset="-128"/>
        </a:defRPr>
      </a:lvl2pPr>
      <a:lvl3pPr algn="ctr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pitchFamily="34" charset="0"/>
          <a:ea typeface="ＭＳ Ｐゴシック" pitchFamily="50" charset="-128"/>
        </a:defRPr>
      </a:lvl3pPr>
      <a:lvl4pPr algn="ctr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pitchFamily="34" charset="0"/>
          <a:ea typeface="ＭＳ Ｐゴシック" pitchFamily="50" charset="-128"/>
        </a:defRPr>
      </a:lvl4pPr>
      <a:lvl5pPr algn="ctr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pitchFamily="34" charset="0"/>
          <a:ea typeface="ＭＳ Ｐゴシック" pitchFamily="50" charset="-128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pitchFamily="34" charset="0"/>
          <a:ea typeface="ＭＳ Ｐゴシック" pitchFamily="50" charset="-128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pitchFamily="34" charset="0"/>
          <a:ea typeface="ＭＳ Ｐゴシック" pitchFamily="50" charset="-128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pitchFamily="34" charset="0"/>
          <a:ea typeface="ＭＳ Ｐゴシック" pitchFamily="50" charset="-128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pitchFamily="34" charset="0"/>
          <a:ea typeface="ＭＳ Ｐゴシック" pitchFamily="50" charset="-128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•"/>
        <a:defRPr kumimoji="1"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–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–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»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正方形/長方形 4"/>
          <p:cNvSpPr/>
          <p:nvPr/>
        </p:nvSpPr>
        <p:spPr>
          <a:xfrm>
            <a:off x="0" y="6552728"/>
            <a:ext cx="9906000" cy="332656"/>
          </a:xfrm>
          <a:prstGeom prst="rect">
            <a:avLst/>
          </a:prstGeom>
          <a:solidFill>
            <a:srgbClr val="191F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>
              <a:solidFill>
                <a:prstClr val="white"/>
              </a:solidFill>
            </a:endParaRPr>
          </a:p>
        </p:txBody>
      </p:sp>
      <p:sp>
        <p:nvSpPr>
          <p:cNvPr id="10" name="テキスト ボックス 9"/>
          <p:cNvSpPr txBox="1">
            <a:spLocks noChangeArrowheads="1"/>
          </p:cNvSpPr>
          <p:nvPr/>
        </p:nvSpPr>
        <p:spPr bwMode="auto">
          <a:xfrm>
            <a:off x="116569" y="6597932"/>
            <a:ext cx="3666301" cy="2154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>
              <a:defRPr/>
            </a:pPr>
            <a:r>
              <a:rPr lang="en-US" altLang="ja-JP" sz="800" b="1" dirty="0">
                <a:solidFill>
                  <a:prstClr val="white"/>
                </a:solidFill>
                <a:latin typeface="メイリオ"/>
                <a:ea typeface="メイリオ"/>
                <a:cs typeface="メイリオ"/>
              </a:rPr>
              <a:t>Copyright(c) DYM Co., </a:t>
            </a:r>
            <a:r>
              <a:rPr lang="en-US" altLang="ja-JP" sz="800" b="1" dirty="0" err="1">
                <a:solidFill>
                  <a:prstClr val="white"/>
                </a:solidFill>
                <a:latin typeface="メイリオ"/>
                <a:ea typeface="メイリオ"/>
                <a:cs typeface="メイリオ"/>
              </a:rPr>
              <a:t>Ltd.All</a:t>
            </a:r>
            <a:r>
              <a:rPr lang="en-US" altLang="ja-JP" sz="800" b="1" dirty="0">
                <a:solidFill>
                  <a:prstClr val="white"/>
                </a:solidFill>
                <a:latin typeface="メイリオ"/>
                <a:ea typeface="メイリオ"/>
                <a:cs typeface="メイリオ"/>
              </a:rPr>
              <a:t> Rights Reserved.</a:t>
            </a:r>
          </a:p>
        </p:txBody>
      </p:sp>
      <p:sp>
        <p:nvSpPr>
          <p:cNvPr id="8" name="正方形/長方形 7"/>
          <p:cNvSpPr/>
          <p:nvPr/>
        </p:nvSpPr>
        <p:spPr>
          <a:xfrm>
            <a:off x="0" y="0"/>
            <a:ext cx="416496" cy="548680"/>
          </a:xfrm>
          <a:prstGeom prst="rect">
            <a:avLst/>
          </a:prstGeom>
          <a:solidFill>
            <a:srgbClr val="191F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>
              <a:solidFill>
                <a:prstClr val="white"/>
              </a:solidFill>
            </a:endParaRPr>
          </a:p>
        </p:txBody>
      </p:sp>
      <p:cxnSp>
        <p:nvCxnSpPr>
          <p:cNvPr id="4" name="直線コネクタ 3"/>
          <p:cNvCxnSpPr/>
          <p:nvPr/>
        </p:nvCxnSpPr>
        <p:spPr>
          <a:xfrm>
            <a:off x="0" y="548680"/>
            <a:ext cx="9906000" cy="0"/>
          </a:xfrm>
          <a:prstGeom prst="line">
            <a:avLst/>
          </a:prstGeom>
          <a:ln>
            <a:solidFill>
              <a:srgbClr val="00324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9" name="図 1"/>
          <p:cNvPicPr>
            <a:picLocks/>
          </p:cNvPicPr>
          <p:nvPr userDrawn="1"/>
        </p:nvPicPr>
        <p:blipFill rotWithShape="1"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647" r="-11171"/>
          <a:stretch/>
        </p:blipFill>
        <p:spPr bwMode="auto">
          <a:xfrm>
            <a:off x="8619408" y="161057"/>
            <a:ext cx="1192729" cy="26331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1" name="スライド番号プレースホルダ 1"/>
          <p:cNvSpPr txBox="1">
            <a:spLocks/>
          </p:cNvSpPr>
          <p:nvPr userDrawn="1"/>
        </p:nvSpPr>
        <p:spPr>
          <a:xfrm>
            <a:off x="7545288" y="6571255"/>
            <a:ext cx="2133600" cy="216000"/>
          </a:xfrm>
          <a:prstGeom prst="rect">
            <a:avLst/>
          </a:prstGeom>
        </p:spPr>
        <p:txBody>
          <a:bodyPr tIns="25200"/>
          <a:lstStyle>
            <a:defPPr>
              <a:defRPr lang="ja-JP"/>
            </a:defPPr>
            <a:lvl1pPr marL="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9FC100E3-15F5-4145-A942-47DB1D8B776D}" type="slidenum">
              <a:rPr lang="ja-JP" altLang="en-US" sz="1400" i="1" smtClean="0">
                <a:solidFill>
                  <a:prstClr val="white"/>
                </a:solidFill>
                <a:latin typeface="Century Gothic" panose="020B0502020202020204" pitchFamily="34" charset="0"/>
              </a:rPr>
              <a:pPr algn="r"/>
              <a:t>‹#›</a:t>
            </a:fld>
            <a:endParaRPr lang="ja-JP" altLang="en-US" sz="1400" i="1" dirty="0">
              <a:solidFill>
                <a:prstClr val="white"/>
              </a:solidFill>
              <a:latin typeface="Century Gothic" panose="020B0502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11138245"/>
      </p:ext>
    </p:extLst>
  </p:cSld>
  <p:clrMap bg1="lt1" tx1="dk1" bg2="lt2" tx2="dk2" accent1="accent1" accent2="accent2" accent3="accent3" accent4="accent4" accent5="accent5" accent6="accent6" hlink="hlink" folHlink="folHlink"/>
  <p:hf hdr="0" dt="0"/>
  <p:txStyles>
    <p:titleStyle>
      <a:lvl1pPr algn="ctr" defTabSz="457200" rtl="0" eaLnBrk="1" fontAlgn="base" hangingPunct="1">
        <a:spcBef>
          <a:spcPct val="0"/>
        </a:spcBef>
        <a:spcAft>
          <a:spcPct val="0"/>
        </a:spcAft>
        <a:defRPr kumimoji="1" sz="4400" kern="1200">
          <a:solidFill>
            <a:schemeClr val="tx1"/>
          </a:solidFill>
          <a:latin typeface="+mj-lt"/>
          <a:ea typeface="+mj-ea"/>
          <a:cs typeface="ＭＳ Ｐゴシック" charset="0"/>
        </a:defRPr>
      </a:lvl1pPr>
      <a:lvl2pPr algn="ctr" defTabSz="457200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charset="0"/>
          <a:ea typeface="ＭＳ Ｐゴシック" charset="0"/>
          <a:cs typeface="ＭＳ Ｐゴシック" charset="0"/>
        </a:defRPr>
      </a:lvl2pPr>
      <a:lvl3pPr algn="ctr" defTabSz="457200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charset="0"/>
          <a:ea typeface="ＭＳ Ｐゴシック" charset="0"/>
          <a:cs typeface="ＭＳ Ｐゴシック" charset="0"/>
        </a:defRPr>
      </a:lvl3pPr>
      <a:lvl4pPr algn="ctr" defTabSz="457200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charset="0"/>
          <a:ea typeface="ＭＳ Ｐゴシック" charset="0"/>
          <a:cs typeface="ＭＳ Ｐゴシック" charset="0"/>
        </a:defRPr>
      </a:lvl4pPr>
      <a:lvl5pPr algn="ctr" defTabSz="457200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charset="0"/>
          <a:ea typeface="ＭＳ Ｐゴシック" charset="0"/>
          <a:cs typeface="ＭＳ Ｐゴシック" charset="0"/>
        </a:defRPr>
      </a:lvl5pPr>
      <a:lvl6pPr marL="457200" algn="ctr" defTabSz="457200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charset="0"/>
          <a:ea typeface="ＭＳ Ｐゴシック" charset="0"/>
          <a:cs typeface="ＭＳ Ｐゴシック" charset="0"/>
        </a:defRPr>
      </a:lvl6pPr>
      <a:lvl7pPr marL="914400" algn="ctr" defTabSz="457200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charset="0"/>
          <a:ea typeface="ＭＳ Ｐゴシック" charset="0"/>
          <a:cs typeface="ＭＳ Ｐゴシック" charset="0"/>
        </a:defRPr>
      </a:lvl7pPr>
      <a:lvl8pPr marL="1371600" algn="ctr" defTabSz="457200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charset="0"/>
          <a:ea typeface="ＭＳ Ｐゴシック" charset="0"/>
          <a:cs typeface="ＭＳ Ｐゴシック" charset="0"/>
        </a:defRPr>
      </a:lvl8pPr>
      <a:lvl9pPr marL="1828800" algn="ctr" defTabSz="457200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charset="0"/>
          <a:ea typeface="ＭＳ Ｐゴシック" charset="0"/>
          <a:cs typeface="ＭＳ Ｐゴシック" charset="0"/>
        </a:defRPr>
      </a:lvl9pPr>
    </p:titleStyle>
    <p:bodyStyle>
      <a:lvl1pPr marL="342900" indent="-342900" algn="l" defTabSz="457200" rtl="0" eaLnBrk="1" fontAlgn="base" hangingPunct="1">
        <a:spcBef>
          <a:spcPct val="20000"/>
        </a:spcBef>
        <a:spcAft>
          <a:spcPct val="0"/>
        </a:spcAft>
        <a:buFont typeface="Arial" charset="0"/>
        <a:buChar char="•"/>
        <a:defRPr kumimoji="1" sz="3200" kern="1200">
          <a:solidFill>
            <a:schemeClr val="tx1"/>
          </a:solidFill>
          <a:latin typeface="+mn-lt"/>
          <a:ea typeface="+mn-ea"/>
          <a:cs typeface="ＭＳ Ｐゴシック" charset="0"/>
        </a:defRPr>
      </a:lvl1pPr>
      <a:lvl2pPr marL="742950" indent="-285750" algn="l" defTabSz="457200" rtl="0" eaLnBrk="1" fontAlgn="base" hangingPunct="1">
        <a:spcBef>
          <a:spcPct val="20000"/>
        </a:spcBef>
        <a:spcAft>
          <a:spcPct val="0"/>
        </a:spcAft>
        <a:buFont typeface="Arial" charset="0"/>
        <a:buChar char="–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fontAlgn="base" hangingPunct="1">
        <a:spcBef>
          <a:spcPct val="20000"/>
        </a:spcBef>
        <a:spcAft>
          <a:spcPct val="0"/>
        </a:spcAft>
        <a:buFont typeface="Arial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fontAlgn="base" hangingPunct="1">
        <a:spcBef>
          <a:spcPct val="20000"/>
        </a:spcBef>
        <a:spcAft>
          <a:spcPct val="0"/>
        </a:spcAft>
        <a:buFont typeface="Arial" charset="0"/>
        <a:buChar char="–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fontAlgn="base" hangingPunct="1">
        <a:spcBef>
          <a:spcPct val="20000"/>
        </a:spcBef>
        <a:spcAft>
          <a:spcPct val="0"/>
        </a:spcAft>
        <a:buFont typeface="Arial" charset="0"/>
        <a:buChar char="»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6A8E8E-25CB-4B86-C4F6-E5A7023586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7200" y="161078"/>
            <a:ext cx="8784000" cy="289843"/>
          </a:xfrm>
          <a:prstGeom prst="rect">
            <a:avLst/>
          </a:prstGeom>
          <a:noFill/>
        </p:spPr>
        <p:txBody>
          <a:bodyPr wrap="square" lIns="0" tIns="21600" rIns="0" bIns="21600" anchor="ctr">
            <a:spAutoFit/>
          </a:bodyPr>
          <a:lstStyle/>
          <a:p>
            <a:pPr algn="l"/>
            <a:r>
              <a:rPr sz="1600" b="1" dirty="0">
                <a:solidFill>
                  <a:srgbClr val="002060"/>
                </a:solidFill>
                <a:latin typeface="メイリオ"/>
                <a:ea typeface="メイリオ"/>
                <a:cs typeface="メイリオ"/>
              </a:rPr>
              <a:t>LINEは、申込みの「後」につながる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32000" y="817379"/>
            <a:ext cx="9036000" cy="345243"/>
          </a:xfrm>
          <a:prstGeom prst="rect">
            <a:avLst/>
          </a:prstGeom>
          <a:noFill/>
        </p:spPr>
        <p:txBody>
          <a:bodyPr wrap="square" lIns="0" tIns="21600" rIns="0" bIns="2160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lang="en-US" altLang="ja-JP" sz="160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LINE</a:t>
            </a:r>
            <a:r>
              <a:rPr lang="ja-JP" altLang="en-US" sz="160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で、</a:t>
            </a:r>
            <a:r>
              <a:rPr sz="160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来店・成約・リピート</a:t>
            </a:r>
            <a:r>
              <a:rPr lang="ja-JP" altLang="en-US" sz="160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まで追う</a:t>
            </a:r>
            <a:endParaRPr sz="1600" dirty="0">
              <a:solidFill>
                <a:srgbClr val="333333"/>
              </a:solidFill>
              <a:latin typeface="メイリオ"/>
              <a:ea typeface="メイリオ"/>
              <a:cs typeface="メイリオ"/>
            </a:endParaRPr>
          </a:p>
        </p:txBody>
      </p:sp>
      <p:cxnSp>
        <p:nvCxnSpPr>
          <p:cNvPr id="4" name="Connector 3"/>
          <p:cNvCxnSpPr/>
          <p:nvPr/>
        </p:nvCxnSpPr>
        <p:spPr>
          <a:xfrm>
            <a:off x="0" y="1389600"/>
            <a:ext cx="9907200" cy="0"/>
          </a:xfrm>
          <a:prstGeom prst="line">
            <a:avLst/>
          </a:prstGeom>
          <a:ln w="1270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ounded Rectangle 4"/>
          <p:cNvSpPr/>
          <p:nvPr/>
        </p:nvSpPr>
        <p:spPr>
          <a:xfrm>
            <a:off x="432000" y="2323800"/>
            <a:ext cx="1872000" cy="1080000"/>
          </a:xfrm>
          <a:prstGeom prst="roundRect">
            <a:avLst>
              <a:gd name="adj" fmla="val 10000"/>
            </a:avLst>
          </a:prstGeom>
          <a:solidFill>
            <a:srgbClr val="F4F7FF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000" tIns="18000" rIns="54000" bIns="18000" rtlCol="0" anchor="ctr"/>
          <a:lstStyle/>
          <a:p>
            <a:pPr algn="ctr">
              <a:lnSpc>
                <a:spcPct val="120000"/>
              </a:lnSpc>
            </a:pPr>
            <a:r>
              <a:rPr sz="150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広告</a:t>
            </a:r>
          </a:p>
        </p:txBody>
      </p:sp>
      <p:sp>
        <p:nvSpPr>
          <p:cNvPr id="6" name="Right Arrow 5"/>
          <p:cNvSpPr/>
          <p:nvPr/>
        </p:nvSpPr>
        <p:spPr>
          <a:xfrm>
            <a:off x="2412000" y="2701801"/>
            <a:ext cx="324000" cy="324000"/>
          </a:xfrm>
          <a:prstGeom prst="rightArrow">
            <a:avLst/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2844000" y="2323800"/>
            <a:ext cx="1872000" cy="1080000"/>
          </a:xfrm>
          <a:prstGeom prst="roundRect">
            <a:avLst>
              <a:gd name="adj" fmla="val 10000"/>
            </a:avLst>
          </a:prstGeom>
          <a:solidFill>
            <a:srgbClr val="F4F7FF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000" tIns="18000" rIns="54000" bIns="18000" rtlCol="0" anchor="ctr"/>
          <a:lstStyle/>
          <a:p>
            <a:pPr algn="ctr">
              <a:lnSpc>
                <a:spcPct val="120000"/>
              </a:lnSpc>
            </a:pPr>
            <a:r>
              <a:rPr sz="150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申込み</a:t>
            </a:r>
          </a:p>
          <a:p>
            <a:pPr algn="ctr">
              <a:lnSpc>
                <a:spcPct val="120000"/>
              </a:lnSpc>
            </a:pPr>
            <a:r>
              <a:rPr sz="1300" b="0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資料請求・予約・購入</a:t>
            </a:r>
          </a:p>
        </p:txBody>
      </p:sp>
      <p:sp>
        <p:nvSpPr>
          <p:cNvPr id="8" name="Right Arrow 7"/>
          <p:cNvSpPr/>
          <p:nvPr/>
        </p:nvSpPr>
        <p:spPr>
          <a:xfrm>
            <a:off x="4824000" y="2701801"/>
            <a:ext cx="324000" cy="324000"/>
          </a:xfrm>
          <a:prstGeom prst="rightArrow">
            <a:avLst/>
          </a:prstGeom>
          <a:solidFill>
            <a:srgbClr val="06C7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ight Arrow 9"/>
          <p:cNvSpPr/>
          <p:nvPr/>
        </p:nvSpPr>
        <p:spPr>
          <a:xfrm>
            <a:off x="7236000" y="2701801"/>
            <a:ext cx="324000" cy="324000"/>
          </a:xfrm>
          <a:prstGeom prst="rightArrow">
            <a:avLst/>
          </a:prstGeom>
          <a:solidFill>
            <a:srgbClr val="06C7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432000" y="4212001"/>
            <a:ext cx="9043200" cy="503999"/>
          </a:xfrm>
          <a:prstGeom prst="roundRect">
            <a:avLst>
              <a:gd name="adj" fmla="val 10000"/>
            </a:avLst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8000" tIns="0" rIns="108000" bIns="0" rtlCol="0" anchor="ctr"/>
          <a:lstStyle/>
          <a:p>
            <a:pPr algn="ctr">
              <a:lnSpc>
                <a:spcPct val="125000"/>
              </a:lnSpc>
            </a:pPr>
            <a:r>
              <a:rPr sz="14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申込みの「後」の追い方を変えれば、同じ広告費のまま成果が増える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256000" y="2323800"/>
            <a:ext cx="1872000" cy="1080000"/>
          </a:xfrm>
          <a:prstGeom prst="roundRect">
            <a:avLst>
              <a:gd name="adj" fmla="val 10000"/>
            </a:avLst>
          </a:prstGeom>
          <a:solidFill>
            <a:srgbClr val="06C7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000" tIns="18000" rIns="54000" bIns="18000" rtlCol="0" anchor="ctr"/>
          <a:lstStyle/>
          <a:p>
            <a:pPr algn="ctr">
              <a:lnSpc>
                <a:spcPct val="120000"/>
              </a:lnSpc>
            </a:pPr>
            <a:r>
              <a:rPr sz="16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LINE</a:t>
            </a:r>
          </a:p>
          <a:p>
            <a:pPr algn="ctr">
              <a:lnSpc>
                <a:spcPct val="120000"/>
              </a:lnSpc>
            </a:pPr>
            <a:r>
              <a:rPr sz="1400" b="0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リマインド・配信</a:t>
            </a:r>
          </a:p>
          <a:p>
            <a:pPr algn="ctr">
              <a:lnSpc>
                <a:spcPct val="120000"/>
              </a:lnSpc>
            </a:pPr>
            <a:r>
              <a:rPr sz="1400" b="0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1対1のトーク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668000" y="2323800"/>
            <a:ext cx="1807199" cy="1080000"/>
          </a:xfrm>
          <a:prstGeom prst="roundRect">
            <a:avLst>
              <a:gd name="adj" fmla="val 10000"/>
            </a:avLst>
          </a:prstGeom>
          <a:solidFill>
            <a:srgbClr val="E8F8EE"/>
          </a:solidFill>
          <a:ln w="19050">
            <a:solidFill>
              <a:srgbClr val="06C7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000" tIns="18000" rIns="54000" bIns="18000" rtlCol="0" anchor="ctr"/>
          <a:lstStyle/>
          <a:p>
            <a:pPr algn="ctr">
              <a:lnSpc>
                <a:spcPct val="120000"/>
              </a:lnSpc>
            </a:pPr>
            <a:r>
              <a:rPr sz="1500" b="1">
                <a:solidFill>
                  <a:srgbClr val="0B7A3B"/>
                </a:solidFill>
                <a:latin typeface="メイリオ"/>
                <a:ea typeface="メイリオ"/>
                <a:cs typeface="メイリオ"/>
              </a:rPr>
              <a:t>来店・成約</a:t>
            </a:r>
          </a:p>
          <a:p>
            <a:pPr algn="ctr">
              <a:lnSpc>
                <a:spcPct val="120000"/>
              </a:lnSpc>
            </a:pPr>
            <a:r>
              <a:rPr sz="1300" b="0">
                <a:solidFill>
                  <a:srgbClr val="0B7A3B"/>
                </a:solidFill>
                <a:latin typeface="メイリオ"/>
                <a:ea typeface="メイリオ"/>
                <a:cs typeface="メイリオ"/>
              </a:rPr>
              <a:t>リピート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32000" y="3529800"/>
            <a:ext cx="4284000" cy="306000"/>
          </a:xfrm>
          <a:prstGeom prst="roundRect">
            <a:avLst>
              <a:gd name="adj" fmla="val 18000"/>
            </a:avLst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000" tIns="0" rIns="36000" bIns="0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広告で追えるところ：申込みまで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256000" y="3529800"/>
            <a:ext cx="4219200" cy="306000"/>
          </a:xfrm>
          <a:prstGeom prst="roundRect">
            <a:avLst>
              <a:gd name="adj" fmla="val 18000"/>
            </a:avLst>
          </a:prstGeom>
          <a:solidFill>
            <a:srgbClr val="06C7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000" tIns="0" rIns="36000" bIns="0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LINEで追えるところ：来店・成約・リピートまで</a:t>
            </a:r>
          </a:p>
        </p:txBody>
      </p:sp>
    </p:spTree>
    <p:extLst>
      <p:ext uri="{BB962C8B-B14F-4D97-AF65-F5344CB8AC3E}">
        <p14:creationId xmlns:p14="http://schemas.microsoft.com/office/powerpoint/2010/main" val="237848453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0E5221-666F-DE20-B9E8-FDFC607CC2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7200" y="136800"/>
            <a:ext cx="8784000" cy="338400"/>
          </a:xfrm>
          <a:prstGeom prst="rect">
            <a:avLst/>
          </a:prstGeom>
          <a:noFill/>
        </p:spPr>
        <p:txBody>
          <a:bodyPr wrap="square" lIns="0" tIns="21600" rIns="0" bIns="21600" anchor="ctr">
            <a:spAutoFit/>
          </a:bodyPr>
          <a:lstStyle/>
          <a:p>
            <a:pPr algn="l"/>
            <a:r>
              <a:rPr sz="1600" b="1">
                <a:solidFill>
                  <a:srgbClr val="002060"/>
                </a:solidFill>
                <a:latin typeface="メイリオ"/>
                <a:ea typeface="メイリオ"/>
                <a:cs typeface="メイリオ"/>
              </a:rPr>
              <a:t>サンクスLINE｜申込みの直後に、LINEでつながる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32000" y="657334"/>
            <a:ext cx="9036000" cy="665331"/>
          </a:xfrm>
          <a:prstGeom prst="rect">
            <a:avLst/>
          </a:prstGeom>
          <a:noFill/>
        </p:spPr>
        <p:txBody>
          <a:bodyPr wrap="square" lIns="0" tIns="21600" rIns="0" bIns="2160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60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申込みの完了画面から、そのままLINEへ</a:t>
            </a:r>
            <a:r>
              <a:rPr sz="160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。</a:t>
            </a:r>
            <a:endParaRPr lang="en-US" sz="1600" dirty="0">
              <a:solidFill>
                <a:srgbClr val="333333"/>
              </a:solidFill>
              <a:latin typeface="メイリオ"/>
              <a:ea typeface="メイリオ"/>
              <a:cs typeface="メイリオ"/>
            </a:endParaRPr>
          </a:p>
          <a:p>
            <a:pPr algn="l">
              <a:lnSpc>
                <a:spcPct val="130000"/>
              </a:lnSpc>
            </a:pPr>
            <a:r>
              <a:rPr sz="160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関心が一番高いタイミング</a:t>
            </a:r>
            <a:r>
              <a:rPr lang="ja-JP" altLang="en-US" sz="160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＝</a:t>
            </a:r>
            <a:r>
              <a:rPr sz="160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友だちに</a:t>
            </a:r>
            <a:r>
              <a:rPr lang="ja-JP" altLang="en-US" sz="160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なりやすい</a:t>
            </a:r>
            <a:endParaRPr sz="1600" dirty="0">
              <a:solidFill>
                <a:srgbClr val="333333"/>
              </a:solidFill>
              <a:latin typeface="メイリオ"/>
              <a:ea typeface="メイリオ"/>
              <a:cs typeface="メイリオ"/>
            </a:endParaRPr>
          </a:p>
        </p:txBody>
      </p:sp>
      <p:cxnSp>
        <p:nvCxnSpPr>
          <p:cNvPr id="4" name="Connector 3"/>
          <p:cNvCxnSpPr/>
          <p:nvPr/>
        </p:nvCxnSpPr>
        <p:spPr>
          <a:xfrm>
            <a:off x="0" y="1389600"/>
            <a:ext cx="9907200" cy="0"/>
          </a:xfrm>
          <a:prstGeom prst="line">
            <a:avLst/>
          </a:prstGeom>
          <a:ln w="1270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ounded Rectangle 4"/>
          <p:cNvSpPr/>
          <p:nvPr/>
        </p:nvSpPr>
        <p:spPr>
          <a:xfrm>
            <a:off x="432000" y="2755799"/>
            <a:ext cx="1584000" cy="936000"/>
          </a:xfrm>
          <a:prstGeom prst="roundRect">
            <a:avLst>
              <a:gd name="adj" fmla="val 10000"/>
            </a:avLst>
          </a:prstGeom>
          <a:solidFill>
            <a:srgbClr val="F4F7FF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000" tIns="18000" rIns="54000" bIns="18000" rtlCol="0" anchor="ctr"/>
          <a:lstStyle/>
          <a:p>
            <a:pPr algn="ctr">
              <a:lnSpc>
                <a:spcPct val="120000"/>
              </a:lnSpc>
            </a:pPr>
            <a:r>
              <a:rPr sz="130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フォーム入力</a:t>
            </a:r>
          </a:p>
        </p:txBody>
      </p:sp>
      <p:sp>
        <p:nvSpPr>
          <p:cNvPr id="6" name="Right Arrow 5"/>
          <p:cNvSpPr/>
          <p:nvPr/>
        </p:nvSpPr>
        <p:spPr>
          <a:xfrm>
            <a:off x="2088000" y="3061799"/>
            <a:ext cx="288000" cy="324000"/>
          </a:xfrm>
          <a:prstGeom prst="rightArrow">
            <a:avLst/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2448000" y="2755799"/>
            <a:ext cx="1764000" cy="936000"/>
          </a:xfrm>
          <a:prstGeom prst="roundRect">
            <a:avLst>
              <a:gd name="adj" fmla="val 10000"/>
            </a:avLst>
          </a:prstGeom>
          <a:solidFill>
            <a:srgbClr val="F4F7FF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000" tIns="18000" rIns="54000" bIns="18000" rtlCol="0" anchor="ctr"/>
          <a:lstStyle/>
          <a:p>
            <a:pPr algn="ctr">
              <a:lnSpc>
                <a:spcPct val="120000"/>
              </a:lnSpc>
            </a:pPr>
            <a:r>
              <a:rPr sz="130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申込み完了</a:t>
            </a:r>
          </a:p>
          <a:p>
            <a:pPr algn="ctr">
              <a:lnSpc>
                <a:spcPct val="120000"/>
              </a:lnSpc>
            </a:pPr>
            <a:r>
              <a:rPr sz="1100" b="0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購入・予約・資料請求</a:t>
            </a:r>
          </a:p>
        </p:txBody>
      </p:sp>
      <p:sp>
        <p:nvSpPr>
          <p:cNvPr id="8" name="Right Arrow 7"/>
          <p:cNvSpPr/>
          <p:nvPr/>
        </p:nvSpPr>
        <p:spPr>
          <a:xfrm>
            <a:off x="4284000" y="3061799"/>
            <a:ext cx="288000" cy="324000"/>
          </a:xfrm>
          <a:prstGeom prst="rightArrow">
            <a:avLst/>
          </a:prstGeom>
          <a:solidFill>
            <a:srgbClr val="06C7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4644000" y="2755799"/>
            <a:ext cx="1296000" cy="936000"/>
          </a:xfrm>
          <a:prstGeom prst="roundRect">
            <a:avLst>
              <a:gd name="adj" fmla="val 10000"/>
            </a:avLst>
          </a:prstGeom>
          <a:solidFill>
            <a:srgbClr val="06C7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000" tIns="18000" rIns="54000" bIns="18000" rtlCol="0" anchor="ctr"/>
          <a:lstStyle/>
          <a:p>
            <a:pPr algn="ctr">
              <a:lnSpc>
                <a:spcPct val="120000"/>
              </a:lnSpc>
            </a:pPr>
            <a:r>
              <a:rPr sz="1200" b="0" dirty="0" err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ツールで</a:t>
            </a:r>
            <a:endParaRPr sz="1200" b="0" dirty="0">
              <a:solidFill>
                <a:srgbClr val="FFFFFF"/>
              </a:solidFill>
              <a:latin typeface="メイリオ"/>
              <a:ea typeface="メイリオ"/>
              <a:cs typeface="メイリオ"/>
            </a:endParaRPr>
          </a:p>
          <a:p>
            <a:pPr algn="ctr">
              <a:lnSpc>
                <a:spcPct val="120000"/>
              </a:lnSpc>
            </a:pPr>
            <a:r>
              <a:rPr sz="1200" b="0" dirty="0" err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LINEへ</a:t>
            </a:r>
            <a:endParaRPr sz="1200" b="0" dirty="0">
              <a:solidFill>
                <a:srgbClr val="FFFFFF"/>
              </a:solidFill>
              <a:latin typeface="メイリオ"/>
              <a:ea typeface="メイリオ"/>
              <a:cs typeface="メイリオ"/>
            </a:endParaRPr>
          </a:p>
        </p:txBody>
      </p:sp>
      <p:sp>
        <p:nvSpPr>
          <p:cNvPr id="10" name="Right Arrow 9"/>
          <p:cNvSpPr/>
          <p:nvPr/>
        </p:nvSpPr>
        <p:spPr>
          <a:xfrm>
            <a:off x="6012000" y="3061799"/>
            <a:ext cx="288000" cy="324000"/>
          </a:xfrm>
          <a:prstGeom prst="rightArrow">
            <a:avLst/>
          </a:prstGeom>
          <a:solidFill>
            <a:srgbClr val="06C7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6372000" y="2755799"/>
            <a:ext cx="3103199" cy="432000"/>
          </a:xfrm>
          <a:prstGeom prst="roundRect">
            <a:avLst>
              <a:gd name="adj" fmla="val 10000"/>
            </a:avLst>
          </a:prstGeom>
          <a:solidFill>
            <a:srgbClr val="E8F8EE"/>
          </a:solidFill>
          <a:ln w="12700">
            <a:solidFill>
              <a:srgbClr val="06C7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000" tIns="18000" rIns="54000" bIns="18000" rtlCol="0" anchor="ctr"/>
          <a:lstStyle/>
          <a:p>
            <a:pPr algn="ctr">
              <a:lnSpc>
                <a:spcPct val="120000"/>
              </a:lnSpc>
            </a:pPr>
            <a:r>
              <a:rPr sz="1200" b="1">
                <a:solidFill>
                  <a:srgbClr val="0B7A3B"/>
                </a:solidFill>
                <a:latin typeface="メイリオ"/>
                <a:ea typeface="メイリオ"/>
                <a:cs typeface="メイリオ"/>
              </a:rPr>
              <a:t>はじめての方 → 友だち追加の画面へ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372000" y="3259800"/>
            <a:ext cx="3103199" cy="432000"/>
          </a:xfrm>
          <a:prstGeom prst="roundRect">
            <a:avLst>
              <a:gd name="adj" fmla="val 10000"/>
            </a:avLst>
          </a:prstGeom>
          <a:solidFill>
            <a:srgbClr val="E8F8EE"/>
          </a:solidFill>
          <a:ln w="12700">
            <a:solidFill>
              <a:srgbClr val="06C7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000" tIns="18000" rIns="54000" bIns="18000" rtlCol="0" anchor="ctr"/>
          <a:lstStyle/>
          <a:p>
            <a:pPr algn="ctr">
              <a:lnSpc>
                <a:spcPct val="120000"/>
              </a:lnSpc>
            </a:pPr>
            <a:r>
              <a:rPr sz="1200" b="1">
                <a:solidFill>
                  <a:srgbClr val="0B7A3B"/>
                </a:solidFill>
                <a:latin typeface="メイリオ"/>
                <a:ea typeface="メイリオ"/>
                <a:cs typeface="メイリオ"/>
              </a:rPr>
              <a:t>友だちの方 → トーク画面へ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2000" y="3979800"/>
            <a:ext cx="2951999" cy="936000"/>
          </a:xfrm>
          <a:prstGeom prst="roundRect">
            <a:avLst>
              <a:gd name="adj" fmla="val 6000"/>
            </a:avLst>
          </a:prstGeom>
          <a:solidFill>
            <a:srgbClr val="F4F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5999" tIns="90000" rIns="108000" bIns="54000" rtlCol="0" anchor="ctr"/>
          <a:lstStyle/>
          <a:p>
            <a:pPr algn="l">
              <a:spcAft>
                <a:spcPts val="500"/>
              </a:spcAft>
            </a:pPr>
            <a:r>
              <a:rPr sz="1250" b="1" dirty="0" err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関心が一番高い直後に案内</a:t>
            </a:r>
            <a:endParaRPr sz="1250" b="1" dirty="0">
              <a:solidFill>
                <a:srgbClr val="1F285A"/>
              </a:solidFill>
              <a:latin typeface="メイリオ"/>
              <a:ea typeface="メイリオ"/>
              <a:cs typeface="メイリオ"/>
            </a:endParaRP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05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申込みの直後なので、友だちにな</a:t>
            </a:r>
            <a:r>
              <a:rPr lang="ja-JP" altLang="en-US" sz="105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りやすい</a:t>
            </a:r>
            <a:endParaRPr sz="1050" dirty="0">
              <a:solidFill>
                <a:srgbClr val="333333"/>
              </a:solidFill>
              <a:latin typeface="メイリオ"/>
              <a:ea typeface="メイリオ"/>
              <a:cs typeface="メイリオ"/>
            </a:endParaRPr>
          </a:p>
        </p:txBody>
      </p:sp>
      <p:sp>
        <p:nvSpPr>
          <p:cNvPr id="14" name="Rounded Rectangle 13"/>
          <p:cNvSpPr/>
          <p:nvPr/>
        </p:nvSpPr>
        <p:spPr>
          <a:xfrm>
            <a:off x="3477599" y="3979800"/>
            <a:ext cx="2951999" cy="936000"/>
          </a:xfrm>
          <a:prstGeom prst="roundRect">
            <a:avLst>
              <a:gd name="adj" fmla="val 6000"/>
            </a:avLst>
          </a:prstGeom>
          <a:solidFill>
            <a:srgbClr val="F4F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5999" tIns="90000" rIns="108000" bIns="54000" rtlCol="0" anchor="ctr"/>
          <a:lstStyle/>
          <a:p>
            <a:pPr algn="l">
              <a:spcAft>
                <a:spcPts val="500"/>
              </a:spcAft>
            </a:pPr>
            <a:r>
              <a:rPr sz="1250" b="1" dirty="0" err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友だち集めの広告費ゼロ</a:t>
            </a:r>
            <a:endParaRPr sz="1250" b="1" dirty="0">
              <a:solidFill>
                <a:srgbClr val="1F285A"/>
              </a:solidFill>
              <a:latin typeface="メイリオ"/>
              <a:ea typeface="メイリオ"/>
              <a:cs typeface="メイリオ"/>
            </a:endParaRP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05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今の広告で集めた申込みを</a:t>
            </a:r>
            <a:r>
              <a:rPr sz="105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、</a:t>
            </a:r>
            <a:endParaRPr lang="en-US" sz="1050" dirty="0">
              <a:solidFill>
                <a:srgbClr val="333333"/>
              </a:solidFill>
              <a:latin typeface="メイリオ"/>
              <a:ea typeface="メイリオ"/>
              <a:cs typeface="メイリオ"/>
            </a:endParaRP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05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そのままLINE</a:t>
            </a:r>
            <a:r>
              <a:rPr lang="ja-JP" altLang="en-US" sz="105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で当日まで</a:t>
            </a:r>
            <a:endParaRPr sz="1050" dirty="0">
              <a:solidFill>
                <a:srgbClr val="333333"/>
              </a:solidFill>
              <a:latin typeface="メイリオ"/>
              <a:ea typeface="メイリオ"/>
              <a:cs typeface="メイリオ"/>
            </a:endParaRPr>
          </a:p>
        </p:txBody>
      </p:sp>
      <p:sp>
        <p:nvSpPr>
          <p:cNvPr id="15" name="Rounded Rectangle 14"/>
          <p:cNvSpPr/>
          <p:nvPr/>
        </p:nvSpPr>
        <p:spPr>
          <a:xfrm>
            <a:off x="6523199" y="3979800"/>
            <a:ext cx="2951999" cy="936000"/>
          </a:xfrm>
          <a:prstGeom prst="roundRect">
            <a:avLst>
              <a:gd name="adj" fmla="val 6000"/>
            </a:avLst>
          </a:prstGeom>
          <a:solidFill>
            <a:srgbClr val="F4F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5999" tIns="90000" rIns="108000" bIns="54000" rtlCol="0" anchor="ctr"/>
          <a:lstStyle/>
          <a:p>
            <a:pPr algn="l">
              <a:spcAft>
                <a:spcPts val="500"/>
              </a:spcAft>
            </a:pPr>
            <a:r>
              <a:rPr sz="1250" b="1" dirty="0" err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入力内容をそのまま活用</a:t>
            </a:r>
            <a:endParaRPr sz="1250" b="1" dirty="0">
              <a:solidFill>
                <a:srgbClr val="1F285A"/>
              </a:solidFill>
              <a:latin typeface="メイリオ"/>
              <a:ea typeface="メイリオ"/>
              <a:cs typeface="メイリオ"/>
            </a:endParaRP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05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トークに反映し、配信の出し分けにも</a:t>
            </a:r>
            <a:r>
              <a:rPr lang="ja-JP" altLang="en-US" sz="105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有効</a:t>
            </a:r>
            <a:endParaRPr sz="1050" dirty="0">
              <a:solidFill>
                <a:srgbClr val="333333"/>
              </a:solidFill>
              <a:latin typeface="メイリオ"/>
              <a:ea typeface="メイリオ"/>
              <a:cs typeface="メイリオ"/>
            </a:endParaRPr>
          </a:p>
        </p:txBody>
      </p:sp>
    </p:spTree>
    <p:extLst>
      <p:ext uri="{BB962C8B-B14F-4D97-AF65-F5344CB8AC3E}">
        <p14:creationId xmlns:p14="http://schemas.microsoft.com/office/powerpoint/2010/main" val="171590932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7200" y="136800"/>
            <a:ext cx="8784000" cy="338400"/>
          </a:xfrm>
          <a:prstGeom prst="rect">
            <a:avLst/>
          </a:prstGeom>
          <a:noFill/>
        </p:spPr>
        <p:txBody>
          <a:bodyPr wrap="square" lIns="0" tIns="21600" rIns="0" bIns="21600" anchor="ctr">
            <a:spAutoFit/>
          </a:bodyPr>
          <a:lstStyle/>
          <a:p>
            <a:pPr algn="l"/>
            <a:r>
              <a:rPr sz="1600" b="1">
                <a:solidFill>
                  <a:srgbClr val="002060"/>
                </a:solidFill>
                <a:latin typeface="メイリオ"/>
                <a:ea typeface="メイリオ"/>
                <a:cs typeface="メイリオ"/>
              </a:rPr>
              <a:t>LINEで、成果まで育てる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32000" y="817379"/>
            <a:ext cx="9036000" cy="345243"/>
          </a:xfrm>
          <a:prstGeom prst="rect">
            <a:avLst/>
          </a:prstGeom>
          <a:noFill/>
        </p:spPr>
        <p:txBody>
          <a:bodyPr wrap="square" lIns="0" tIns="21600" rIns="0" bIns="2160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60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申込んだ方に合わせて、LINEで次の一歩</a:t>
            </a:r>
            <a:r>
              <a:rPr lang="ja-JP" altLang="en-US" sz="160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へとつなげる</a:t>
            </a:r>
            <a:endParaRPr sz="1600" dirty="0">
              <a:solidFill>
                <a:srgbClr val="333333"/>
              </a:solidFill>
              <a:latin typeface="メイリオ"/>
              <a:ea typeface="メイリオ"/>
              <a:cs typeface="メイリオ"/>
            </a:endParaRPr>
          </a:p>
        </p:txBody>
      </p:sp>
      <p:cxnSp>
        <p:nvCxnSpPr>
          <p:cNvPr id="4" name="Connector 3"/>
          <p:cNvCxnSpPr/>
          <p:nvPr/>
        </p:nvCxnSpPr>
        <p:spPr>
          <a:xfrm>
            <a:off x="0" y="1389600"/>
            <a:ext cx="9907200" cy="0"/>
          </a:xfrm>
          <a:prstGeom prst="line">
            <a:avLst/>
          </a:prstGeom>
          <a:ln w="1270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ounded Rectangle 4"/>
          <p:cNvSpPr/>
          <p:nvPr/>
        </p:nvSpPr>
        <p:spPr>
          <a:xfrm>
            <a:off x="974592" y="2215800"/>
            <a:ext cx="2597759" cy="503999"/>
          </a:xfrm>
          <a:prstGeom prst="roundRect">
            <a:avLst>
              <a:gd name="adj" fmla="val 10000"/>
            </a:avLst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000" tIns="18000" rIns="54000" bIns="18000" rtlCol="0" anchor="ctr"/>
          <a:lstStyle/>
          <a:p>
            <a:pPr algn="ctr">
              <a:lnSpc>
                <a:spcPct val="120000"/>
              </a:lnSpc>
            </a:pPr>
            <a:r>
              <a:rPr sz="14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資料請求した方</a:t>
            </a:r>
          </a:p>
        </p:txBody>
      </p:sp>
      <p:sp>
        <p:nvSpPr>
          <p:cNvPr id="6" name="Down Arrow 5"/>
          <p:cNvSpPr/>
          <p:nvPr/>
        </p:nvSpPr>
        <p:spPr>
          <a:xfrm>
            <a:off x="2057472" y="2773801"/>
            <a:ext cx="432000" cy="251999"/>
          </a:xfrm>
          <a:prstGeom prst="downArrow">
            <a:avLst/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974592" y="3079801"/>
            <a:ext cx="2597759" cy="648000"/>
          </a:xfrm>
          <a:prstGeom prst="roundRect">
            <a:avLst>
              <a:gd name="adj" fmla="val 10000"/>
            </a:avLst>
          </a:prstGeom>
          <a:solidFill>
            <a:srgbClr val="F4F7FF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000" tIns="18000" rIns="54000" bIns="18000" rtlCol="0" anchor="ctr"/>
          <a:lstStyle/>
          <a:p>
            <a:pPr algn="ctr">
              <a:lnSpc>
                <a:spcPct val="120000"/>
              </a:lnSpc>
            </a:pPr>
            <a:r>
              <a:rPr sz="130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比較のポイント・事例</a:t>
            </a:r>
          </a:p>
        </p:txBody>
      </p:sp>
      <p:sp>
        <p:nvSpPr>
          <p:cNvPr id="8" name="Down Arrow 7"/>
          <p:cNvSpPr/>
          <p:nvPr/>
        </p:nvSpPr>
        <p:spPr>
          <a:xfrm>
            <a:off x="2057472" y="3781800"/>
            <a:ext cx="432000" cy="251999"/>
          </a:xfrm>
          <a:prstGeom prst="downArrow">
            <a:avLst/>
          </a:prstGeom>
          <a:solidFill>
            <a:srgbClr val="06C7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974592" y="4087801"/>
            <a:ext cx="2597759" cy="503999"/>
          </a:xfrm>
          <a:prstGeom prst="roundRect">
            <a:avLst>
              <a:gd name="adj" fmla="val 10000"/>
            </a:avLst>
          </a:prstGeom>
          <a:solidFill>
            <a:srgbClr val="06C7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000" tIns="18000" rIns="54000" bIns="18000" rtlCol="0" anchor="ctr"/>
          <a:lstStyle/>
          <a:p>
            <a:pPr algn="ctr">
              <a:lnSpc>
                <a:spcPct val="120000"/>
              </a:lnSpc>
            </a:pPr>
            <a:r>
              <a:rPr sz="14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予約・来店へ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654719" y="2215800"/>
            <a:ext cx="2597759" cy="503999"/>
          </a:xfrm>
          <a:prstGeom prst="roundRect">
            <a:avLst>
              <a:gd name="adj" fmla="val 10000"/>
            </a:avLst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000" tIns="18000" rIns="54000" bIns="18000" rtlCol="0" anchor="ctr"/>
          <a:lstStyle/>
          <a:p>
            <a:pPr algn="ctr">
              <a:lnSpc>
                <a:spcPct val="120000"/>
              </a:lnSpc>
            </a:pPr>
            <a:r>
              <a:rPr sz="14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予約した方</a:t>
            </a:r>
          </a:p>
        </p:txBody>
      </p:sp>
      <p:sp>
        <p:nvSpPr>
          <p:cNvPr id="11" name="Down Arrow 10"/>
          <p:cNvSpPr/>
          <p:nvPr/>
        </p:nvSpPr>
        <p:spPr>
          <a:xfrm>
            <a:off x="4737599" y="2773801"/>
            <a:ext cx="432000" cy="251999"/>
          </a:xfrm>
          <a:prstGeom prst="downArrow">
            <a:avLst/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3654719" y="3079801"/>
            <a:ext cx="2597759" cy="648000"/>
          </a:xfrm>
          <a:prstGeom prst="roundRect">
            <a:avLst>
              <a:gd name="adj" fmla="val 10000"/>
            </a:avLst>
          </a:prstGeom>
          <a:solidFill>
            <a:srgbClr val="F4F7FF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000" tIns="18000" rIns="54000" bIns="18000" rtlCol="0" anchor="ctr"/>
          <a:lstStyle/>
          <a:p>
            <a:pPr algn="ctr">
              <a:lnSpc>
                <a:spcPct val="120000"/>
              </a:lnSpc>
            </a:pPr>
            <a:r>
              <a:rPr sz="130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前日・当日のリマインド</a:t>
            </a:r>
          </a:p>
        </p:txBody>
      </p:sp>
      <p:sp>
        <p:nvSpPr>
          <p:cNvPr id="13" name="Down Arrow 12"/>
          <p:cNvSpPr/>
          <p:nvPr/>
        </p:nvSpPr>
        <p:spPr>
          <a:xfrm>
            <a:off x="4737599" y="3781800"/>
            <a:ext cx="432000" cy="251999"/>
          </a:xfrm>
          <a:prstGeom prst="downArrow">
            <a:avLst/>
          </a:prstGeom>
          <a:solidFill>
            <a:srgbClr val="06C7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3654719" y="4087801"/>
            <a:ext cx="2597759" cy="503999"/>
          </a:xfrm>
          <a:prstGeom prst="roundRect">
            <a:avLst>
              <a:gd name="adj" fmla="val 10000"/>
            </a:avLst>
          </a:prstGeom>
          <a:solidFill>
            <a:srgbClr val="06C7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000" tIns="18000" rIns="54000" bIns="18000" rtlCol="0" anchor="ctr"/>
          <a:lstStyle/>
          <a:p>
            <a:pPr algn="ctr">
              <a:lnSpc>
                <a:spcPct val="120000"/>
              </a:lnSpc>
            </a:pPr>
            <a:r>
              <a:rPr sz="14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来店につなげる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334847" y="2215800"/>
            <a:ext cx="2597759" cy="503999"/>
          </a:xfrm>
          <a:prstGeom prst="roundRect">
            <a:avLst>
              <a:gd name="adj" fmla="val 10000"/>
            </a:avLst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000" tIns="18000" rIns="54000" bIns="18000" rtlCol="0" anchor="ctr"/>
          <a:lstStyle/>
          <a:p>
            <a:pPr algn="ctr">
              <a:lnSpc>
                <a:spcPct val="120000"/>
              </a:lnSpc>
            </a:pPr>
            <a:r>
              <a:rPr sz="14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購入した方</a:t>
            </a:r>
          </a:p>
        </p:txBody>
      </p:sp>
      <p:sp>
        <p:nvSpPr>
          <p:cNvPr id="16" name="Down Arrow 15"/>
          <p:cNvSpPr/>
          <p:nvPr/>
        </p:nvSpPr>
        <p:spPr>
          <a:xfrm>
            <a:off x="7417727" y="2773801"/>
            <a:ext cx="432000" cy="251999"/>
          </a:xfrm>
          <a:prstGeom prst="downArrow">
            <a:avLst/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ounded Rectangle 16"/>
          <p:cNvSpPr/>
          <p:nvPr/>
        </p:nvSpPr>
        <p:spPr>
          <a:xfrm>
            <a:off x="6334847" y="3079801"/>
            <a:ext cx="2597759" cy="648000"/>
          </a:xfrm>
          <a:prstGeom prst="roundRect">
            <a:avLst>
              <a:gd name="adj" fmla="val 10000"/>
            </a:avLst>
          </a:prstGeom>
          <a:solidFill>
            <a:srgbClr val="F4F7FF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000" tIns="18000" rIns="54000" bIns="18000" rtlCol="0" anchor="ctr"/>
          <a:lstStyle/>
          <a:p>
            <a:pPr algn="ctr">
              <a:lnSpc>
                <a:spcPct val="120000"/>
              </a:lnSpc>
            </a:pPr>
            <a:r>
              <a:rPr sz="130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使い方・次回のご案内</a:t>
            </a:r>
          </a:p>
        </p:txBody>
      </p:sp>
      <p:sp>
        <p:nvSpPr>
          <p:cNvPr id="18" name="Down Arrow 17"/>
          <p:cNvSpPr/>
          <p:nvPr/>
        </p:nvSpPr>
        <p:spPr>
          <a:xfrm>
            <a:off x="7417727" y="3781800"/>
            <a:ext cx="432000" cy="251999"/>
          </a:xfrm>
          <a:prstGeom prst="downArrow">
            <a:avLst/>
          </a:prstGeom>
          <a:solidFill>
            <a:srgbClr val="06C7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ounded Rectangle 18"/>
          <p:cNvSpPr/>
          <p:nvPr/>
        </p:nvSpPr>
        <p:spPr>
          <a:xfrm>
            <a:off x="6334847" y="4087801"/>
            <a:ext cx="2597759" cy="503999"/>
          </a:xfrm>
          <a:prstGeom prst="roundRect">
            <a:avLst>
              <a:gd name="adj" fmla="val 10000"/>
            </a:avLst>
          </a:prstGeom>
          <a:solidFill>
            <a:srgbClr val="06C7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000" tIns="18000" rIns="54000" bIns="18000" rtlCol="0" anchor="ctr"/>
          <a:lstStyle/>
          <a:p>
            <a:pPr algn="ctr">
              <a:lnSpc>
                <a:spcPct val="120000"/>
              </a:lnSpc>
            </a:pPr>
            <a:r>
              <a:rPr sz="1400" b="1" dirty="0" err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リピートへ</a:t>
            </a:r>
            <a:r>
              <a:rPr lang="ja-JP" altLang="en-US" sz="1400" b="1" dirty="0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（</a:t>
            </a:r>
            <a:r>
              <a:rPr lang="en-US" altLang="ja-JP" sz="1400" b="1" dirty="0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LTV</a:t>
            </a:r>
            <a:r>
              <a:rPr lang="ja-JP" altLang="en-US" sz="1400" b="1" dirty="0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）</a:t>
            </a:r>
            <a:endParaRPr sz="1400" b="1" dirty="0">
              <a:solidFill>
                <a:srgbClr val="FFFFFF"/>
              </a:solidFill>
              <a:latin typeface="メイリオ"/>
              <a:ea typeface="メイリオ"/>
              <a:cs typeface="メイリオ"/>
            </a:endParaRPr>
          </a:p>
        </p:txBody>
      </p:sp>
      <p:sp>
        <p:nvSpPr>
          <p:cNvPr id="20" name="Rounded Rectangle 19"/>
          <p:cNvSpPr/>
          <p:nvPr/>
        </p:nvSpPr>
        <p:spPr>
          <a:xfrm>
            <a:off x="974592" y="4951801"/>
            <a:ext cx="7958016" cy="503999"/>
          </a:xfrm>
          <a:prstGeom prst="roundRect">
            <a:avLst>
              <a:gd name="adj" fmla="val 10000"/>
            </a:avLst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8000" tIns="0" rIns="108000" bIns="0" rtlCol="0" anchor="ctr"/>
          <a:lstStyle/>
          <a:p>
            <a:pPr algn="ctr">
              <a:lnSpc>
                <a:spcPct val="125000"/>
              </a:lnSpc>
            </a:pPr>
            <a:r>
              <a:rPr sz="14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弊社実績：美容クリニックで、予約後の来院率が40〜50%改善</a:t>
            </a:r>
          </a:p>
        </p:txBody>
      </p:sp>
    </p:spTree>
    <p:extLst>
      <p:ext uri="{BB962C8B-B14F-4D97-AF65-F5344CB8AC3E}">
        <p14:creationId xmlns:p14="http://schemas.microsoft.com/office/powerpoint/2010/main" val="393999798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7200" y="136800"/>
            <a:ext cx="8784000" cy="338400"/>
          </a:xfrm>
          <a:prstGeom prst="rect">
            <a:avLst/>
          </a:prstGeom>
          <a:noFill/>
        </p:spPr>
        <p:txBody>
          <a:bodyPr wrap="square" lIns="0" tIns="21600" rIns="0" bIns="21600" anchor="ctr">
            <a:spAutoFit/>
          </a:bodyPr>
          <a:lstStyle/>
          <a:p>
            <a:pPr algn="l"/>
            <a:r>
              <a:rPr sz="1600" b="1">
                <a:solidFill>
                  <a:srgbClr val="002060"/>
                </a:solidFill>
                <a:latin typeface="メイリオ"/>
                <a:ea typeface="メイリオ"/>
                <a:cs typeface="メイリオ"/>
              </a:rPr>
              <a:t>広告は「申込みの数」、LINEは「売上」をつくる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32000" y="817379"/>
            <a:ext cx="9036000" cy="345243"/>
          </a:xfrm>
          <a:prstGeom prst="rect">
            <a:avLst/>
          </a:prstGeom>
          <a:noFill/>
        </p:spPr>
        <p:txBody>
          <a:bodyPr wrap="square" lIns="0" tIns="21600" rIns="0" bIns="2160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60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同じ広告費のまま、申込みの「後」を伸ばして成約</a:t>
            </a:r>
            <a:r>
              <a:rPr lang="ja-JP" altLang="en-US" sz="160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数増加へ</a:t>
            </a:r>
            <a:endParaRPr sz="1600" dirty="0">
              <a:solidFill>
                <a:srgbClr val="333333"/>
              </a:solidFill>
              <a:latin typeface="メイリオ"/>
              <a:ea typeface="メイリオ"/>
              <a:cs typeface="メイリオ"/>
            </a:endParaRPr>
          </a:p>
        </p:txBody>
      </p:sp>
      <p:cxnSp>
        <p:nvCxnSpPr>
          <p:cNvPr id="4" name="Connector 3"/>
          <p:cNvCxnSpPr/>
          <p:nvPr/>
        </p:nvCxnSpPr>
        <p:spPr>
          <a:xfrm>
            <a:off x="0" y="1389600"/>
            <a:ext cx="9907200" cy="0"/>
          </a:xfrm>
          <a:prstGeom prst="line">
            <a:avLst/>
          </a:prstGeom>
          <a:ln w="1270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ounded Rectangle 4"/>
          <p:cNvSpPr/>
          <p:nvPr/>
        </p:nvSpPr>
        <p:spPr>
          <a:xfrm>
            <a:off x="1988352" y="2287800"/>
            <a:ext cx="2459520" cy="270000"/>
          </a:xfrm>
          <a:prstGeom prst="roundRect">
            <a:avLst>
              <a:gd name="adj" fmla="val 18000"/>
            </a:avLst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000" tIns="0" rIns="36000" bIns="0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広告の役割：申込みを集める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42912" y="2287800"/>
            <a:ext cx="4389696" cy="270000"/>
          </a:xfrm>
          <a:prstGeom prst="roundRect">
            <a:avLst>
              <a:gd name="adj" fmla="val 18000"/>
            </a:avLst>
          </a:prstGeom>
          <a:solidFill>
            <a:srgbClr val="06C7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000" tIns="0" rIns="36000" bIns="0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LINEの役割：申込んだ方を売上へ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74592" y="2683800"/>
            <a:ext cx="918720" cy="864000"/>
          </a:xfrm>
          <a:prstGeom prst="roundRect">
            <a:avLst>
              <a:gd name="adj" fmla="val 10000"/>
            </a:avLst>
          </a:prstGeom>
          <a:solidFill>
            <a:srgbClr val="EDED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000" tIns="18000" rIns="54000" bIns="18000" rtlCol="0" anchor="ctr"/>
          <a:lstStyle/>
          <a:p>
            <a:pPr algn="ctr">
              <a:lnSpc>
                <a:spcPct val="120000"/>
              </a:lnSpc>
            </a:pPr>
            <a:r>
              <a:rPr sz="1200" b="1">
                <a:solidFill>
                  <a:srgbClr val="7F7F7F"/>
                </a:solidFill>
                <a:latin typeface="メイリオ"/>
                <a:ea typeface="メイリオ"/>
                <a:cs typeface="メイリオ"/>
              </a:rPr>
              <a:t>広告だけ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988352" y="2683800"/>
            <a:ext cx="2459520" cy="864000"/>
          </a:xfrm>
          <a:prstGeom prst="roundRect">
            <a:avLst>
              <a:gd name="adj" fmla="val 10000"/>
            </a:avLst>
          </a:prstGeom>
          <a:solidFill>
            <a:srgbClr val="F4F7FF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000" tIns="18000" rIns="54000" bIns="18000" rtlCol="0" anchor="ctr"/>
          <a:lstStyle/>
          <a:p>
            <a:pPr algn="ctr">
              <a:lnSpc>
                <a:spcPct val="120000"/>
              </a:lnSpc>
            </a:pPr>
            <a:r>
              <a:rPr sz="140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申込み 100件</a:t>
            </a:r>
          </a:p>
          <a:p>
            <a:pPr algn="ctr">
              <a:lnSpc>
                <a:spcPct val="120000"/>
              </a:lnSpc>
            </a:pPr>
            <a:r>
              <a:rPr sz="1200" b="0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広告費 月100万円</a:t>
            </a:r>
          </a:p>
        </p:txBody>
      </p:sp>
      <p:sp>
        <p:nvSpPr>
          <p:cNvPr id="9" name="Right Arrow 8"/>
          <p:cNvSpPr/>
          <p:nvPr/>
        </p:nvSpPr>
        <p:spPr>
          <a:xfrm>
            <a:off x="4493952" y="2953800"/>
            <a:ext cx="288000" cy="324000"/>
          </a:xfrm>
          <a:prstGeom prst="rightArrow">
            <a:avLst/>
          </a:prstGeom>
          <a:solidFill>
            <a:srgbClr val="7F7F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4828032" y="2683800"/>
            <a:ext cx="1710720" cy="8640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9050">
            <a:solidFill>
              <a:srgbClr val="7F7F7F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000" tIns="18000" rIns="54000" bIns="18000" rtlCol="0" anchor="ctr"/>
          <a:lstStyle/>
          <a:p>
            <a:pPr algn="ctr">
              <a:lnSpc>
                <a:spcPct val="120000"/>
              </a:lnSpc>
            </a:pPr>
            <a:r>
              <a:rPr sz="1300" b="1">
                <a:solidFill>
                  <a:srgbClr val="7F7F7F"/>
                </a:solidFill>
                <a:latin typeface="メイリオ"/>
                <a:ea typeface="メイリオ"/>
                <a:cs typeface="メイリオ"/>
              </a:rPr>
              <a:t>メール・電話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6584832" y="2953800"/>
            <a:ext cx="288000" cy="324000"/>
          </a:xfrm>
          <a:prstGeom prst="rightArrow">
            <a:avLst/>
          </a:prstGeom>
          <a:solidFill>
            <a:srgbClr val="7F7F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6918912" y="2683800"/>
            <a:ext cx="2013696" cy="864000"/>
          </a:xfrm>
          <a:prstGeom prst="roundRect">
            <a:avLst>
              <a:gd name="adj" fmla="val 10000"/>
            </a:avLst>
          </a:prstGeom>
          <a:solidFill>
            <a:srgbClr val="EDED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000" tIns="18000" rIns="54000" bIns="18000" rtlCol="0" anchor="ctr"/>
          <a:lstStyle/>
          <a:p>
            <a:pPr algn="ctr">
              <a:lnSpc>
                <a:spcPct val="120000"/>
              </a:lnSpc>
            </a:pPr>
            <a:r>
              <a:rPr sz="1500" b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成約 20件</a:t>
            </a:r>
          </a:p>
          <a:p>
            <a:pPr algn="ctr">
              <a:lnSpc>
                <a:spcPct val="120000"/>
              </a:lnSpc>
            </a:pPr>
            <a:r>
              <a:rPr sz="130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1件あたり 50,000円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74592" y="3727800"/>
            <a:ext cx="918720" cy="864000"/>
          </a:xfrm>
          <a:prstGeom prst="roundRect">
            <a:avLst>
              <a:gd name="adj" fmla="val 10000"/>
            </a:avLst>
          </a:prstGeom>
          <a:solidFill>
            <a:srgbClr val="06C7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000" tIns="18000" rIns="54000" bIns="18000" rtlCol="0" anchor="ctr"/>
          <a:lstStyle/>
          <a:p>
            <a:pPr algn="ctr">
              <a:lnSpc>
                <a:spcPct val="120000"/>
              </a:lnSpc>
            </a:pPr>
            <a:r>
              <a:rPr sz="12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広告</a:t>
            </a:r>
          </a:p>
          <a:p>
            <a:pPr algn="ctr">
              <a:lnSpc>
                <a:spcPct val="120000"/>
              </a:lnSpc>
            </a:pPr>
            <a:r>
              <a:rPr sz="1000" b="0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＋LINE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988352" y="3727800"/>
            <a:ext cx="2459520" cy="864000"/>
          </a:xfrm>
          <a:prstGeom prst="roundRect">
            <a:avLst>
              <a:gd name="adj" fmla="val 10000"/>
            </a:avLst>
          </a:prstGeom>
          <a:solidFill>
            <a:srgbClr val="F4F7FF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000" tIns="18000" rIns="54000" bIns="18000" rtlCol="0" anchor="ctr"/>
          <a:lstStyle/>
          <a:p>
            <a:pPr algn="ctr">
              <a:lnSpc>
                <a:spcPct val="120000"/>
              </a:lnSpc>
            </a:pPr>
            <a:r>
              <a:rPr sz="140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申込み 100件</a:t>
            </a:r>
          </a:p>
          <a:p>
            <a:pPr algn="ctr">
              <a:lnSpc>
                <a:spcPct val="120000"/>
              </a:lnSpc>
            </a:pPr>
            <a:r>
              <a:rPr sz="1200" b="0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広告費 月100万円</a:t>
            </a:r>
          </a:p>
        </p:txBody>
      </p:sp>
      <p:sp>
        <p:nvSpPr>
          <p:cNvPr id="15" name="Right Arrow 14"/>
          <p:cNvSpPr/>
          <p:nvPr/>
        </p:nvSpPr>
        <p:spPr>
          <a:xfrm>
            <a:off x="4493952" y="3997800"/>
            <a:ext cx="288000" cy="324000"/>
          </a:xfrm>
          <a:prstGeom prst="rightArrow">
            <a:avLst/>
          </a:prstGeom>
          <a:solidFill>
            <a:srgbClr val="06C7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ounded Rectangle 15"/>
          <p:cNvSpPr/>
          <p:nvPr/>
        </p:nvSpPr>
        <p:spPr>
          <a:xfrm>
            <a:off x="4828032" y="3727800"/>
            <a:ext cx="1710720" cy="864000"/>
          </a:xfrm>
          <a:prstGeom prst="roundRect">
            <a:avLst>
              <a:gd name="adj" fmla="val 10000"/>
            </a:avLst>
          </a:prstGeom>
          <a:solidFill>
            <a:srgbClr val="E8F8EE"/>
          </a:solidFill>
          <a:ln w="19050">
            <a:solidFill>
              <a:srgbClr val="06C7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000" tIns="18000" rIns="54000" bIns="18000" rtlCol="0" anchor="ctr"/>
          <a:lstStyle/>
          <a:p>
            <a:pPr algn="ctr">
              <a:lnSpc>
                <a:spcPct val="120000"/>
              </a:lnSpc>
            </a:pPr>
            <a:r>
              <a:rPr sz="1300" b="1">
                <a:solidFill>
                  <a:srgbClr val="0B7A3B"/>
                </a:solidFill>
                <a:latin typeface="メイリオ"/>
                <a:ea typeface="メイリオ"/>
                <a:cs typeface="メイリオ"/>
              </a:rPr>
              <a:t>サンクスLINE</a:t>
            </a:r>
          </a:p>
        </p:txBody>
      </p:sp>
      <p:sp>
        <p:nvSpPr>
          <p:cNvPr id="17" name="Right Arrow 16"/>
          <p:cNvSpPr/>
          <p:nvPr/>
        </p:nvSpPr>
        <p:spPr>
          <a:xfrm>
            <a:off x="6584832" y="3997800"/>
            <a:ext cx="288000" cy="324000"/>
          </a:xfrm>
          <a:prstGeom prst="rightArrow">
            <a:avLst/>
          </a:prstGeom>
          <a:solidFill>
            <a:srgbClr val="06C7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ounded Rectangle 17"/>
          <p:cNvSpPr/>
          <p:nvPr/>
        </p:nvSpPr>
        <p:spPr>
          <a:xfrm>
            <a:off x="6918912" y="3727800"/>
            <a:ext cx="2013696" cy="864000"/>
          </a:xfrm>
          <a:prstGeom prst="roundRect">
            <a:avLst>
              <a:gd name="adj" fmla="val 10000"/>
            </a:avLst>
          </a:prstGeom>
          <a:solidFill>
            <a:srgbClr val="06C7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000" tIns="18000" rIns="54000" bIns="18000" rtlCol="0" anchor="ctr"/>
          <a:lstStyle/>
          <a:p>
            <a:pPr algn="ctr">
              <a:lnSpc>
                <a:spcPct val="120000"/>
              </a:lnSpc>
            </a:pPr>
            <a:r>
              <a:rPr sz="15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成約 24件</a:t>
            </a:r>
          </a:p>
          <a:p>
            <a:pPr algn="ctr">
              <a:lnSpc>
                <a:spcPct val="120000"/>
              </a:lnSpc>
            </a:pPr>
            <a:r>
              <a:rPr sz="1300" b="0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1件あたり 43,750円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74592" y="4879800"/>
            <a:ext cx="7958016" cy="503999"/>
          </a:xfrm>
          <a:prstGeom prst="roundRect">
            <a:avLst>
              <a:gd name="adj" fmla="val 10000"/>
            </a:avLst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8000" tIns="0" rIns="108000" bIns="0" rtlCol="0" anchor="ctr"/>
          <a:lstStyle/>
          <a:p>
            <a:pPr algn="ctr">
              <a:lnSpc>
                <a:spcPct val="125000"/>
              </a:lnSpc>
            </a:pPr>
            <a:r>
              <a:rPr sz="1400" b="1" dirty="0" err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LINEの友だちは毎月たまり</a:t>
            </a:r>
            <a:r>
              <a:rPr sz="1400" b="1" dirty="0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、</a:t>
            </a:r>
            <a:r>
              <a:rPr lang="ja-JP" altLang="en-US" sz="1400" b="1" dirty="0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案内・成約まで</a:t>
            </a:r>
            <a:endParaRPr lang="en-US" altLang="ja-JP" sz="1400" b="1" dirty="0">
              <a:solidFill>
                <a:srgbClr val="FFFFFF"/>
              </a:solidFill>
              <a:latin typeface="メイリオ"/>
              <a:ea typeface="メイリオ"/>
              <a:cs typeface="メイリオ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432000" y="6246000"/>
            <a:ext cx="9043200" cy="324000"/>
          </a:xfrm>
          <a:prstGeom prst="rect">
            <a:avLst/>
          </a:prstGeom>
          <a:noFill/>
        </p:spPr>
        <p:txBody>
          <a:bodyPr wrap="square" lIns="0" tIns="21600" rIns="0" bIns="2160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50">
                <a:solidFill>
                  <a:srgbClr val="7F7F7F"/>
                </a:solidFill>
                <a:latin typeface="メイリオ"/>
                <a:ea typeface="メイリオ"/>
                <a:cs typeface="メイリオ"/>
              </a:rPr>
              <a:t>※試算例：成約率 20%（広告だけ）→ 24%（広告＋LINE）。1件あたり＝（広告費＋LINE費用 月5万円）÷成約件数。初期費用は含まない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B95DA1-C4AC-9E84-EE81-C643FC320A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7200" y="136800"/>
            <a:ext cx="8784000" cy="338400"/>
          </a:xfrm>
          <a:prstGeom prst="rect">
            <a:avLst/>
          </a:prstGeom>
          <a:noFill/>
        </p:spPr>
        <p:txBody>
          <a:bodyPr wrap="square" lIns="0" tIns="21600" rIns="0" bIns="21600" anchor="ctr">
            <a:spAutoFit/>
          </a:bodyPr>
          <a:lstStyle/>
          <a:p>
            <a:pPr algn="l"/>
            <a:r>
              <a:rPr sz="1600" b="1">
                <a:solidFill>
                  <a:srgbClr val="002060"/>
                </a:solidFill>
                <a:latin typeface="メイリオ"/>
                <a:ea typeface="メイリオ"/>
                <a:cs typeface="メイリオ"/>
              </a:rPr>
              <a:t>進め方｜広告のご提案と、あわせて開始可能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32000" y="817379"/>
            <a:ext cx="9036000" cy="345243"/>
          </a:xfrm>
          <a:prstGeom prst="rect">
            <a:avLst/>
          </a:prstGeom>
          <a:noFill/>
        </p:spPr>
        <p:txBody>
          <a:bodyPr wrap="square" lIns="0" tIns="21600" rIns="0" bIns="21600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200"/>
              </a:spcAft>
            </a:pPr>
            <a:r>
              <a:rPr sz="1600" dirty="0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お持ちのLINE公式アカウントに、完了画面からの導線を足すだけ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0" y="1389600"/>
            <a:ext cx="9907200" cy="0"/>
          </a:xfrm>
          <a:prstGeom prst="line">
            <a:avLst/>
          </a:prstGeom>
          <a:ln w="1270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ounded Rectangle 4"/>
          <p:cNvSpPr/>
          <p:nvPr/>
        </p:nvSpPr>
        <p:spPr>
          <a:xfrm>
            <a:off x="974592" y="2017801"/>
            <a:ext cx="760320" cy="864000"/>
          </a:xfrm>
          <a:prstGeom prst="roundRect">
            <a:avLst>
              <a:gd name="adj" fmla="val 10000"/>
            </a:avLst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000" tIns="18000" rIns="54000" bIns="18000" rtlCol="0" anchor="ctr"/>
          <a:lstStyle/>
          <a:p>
            <a:pPr algn="ctr">
              <a:lnSpc>
                <a:spcPct val="120000"/>
              </a:lnSpc>
            </a:pPr>
            <a:r>
              <a:rPr sz="24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1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829952" y="2017801"/>
            <a:ext cx="7102656" cy="864000"/>
          </a:xfrm>
          <a:prstGeom prst="roundRect">
            <a:avLst>
              <a:gd name="adj" fmla="val 6000"/>
            </a:avLst>
          </a:prstGeom>
          <a:solidFill>
            <a:srgbClr val="F4F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5999" tIns="90000" rIns="108000" bIns="54000" rtlCol="0" anchor="ctr"/>
          <a:lstStyle/>
          <a:p>
            <a:pPr algn="l">
              <a:spcAft>
                <a:spcPts val="500"/>
              </a:spcAft>
            </a:pPr>
            <a:r>
              <a:rPr sz="150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具体的なご提案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20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LINEへの動線・配信の内容・成果のシミュレーション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74592" y="3097801"/>
            <a:ext cx="760320" cy="864000"/>
          </a:xfrm>
          <a:prstGeom prst="roundRect">
            <a:avLst>
              <a:gd name="adj" fmla="val 10000"/>
            </a:avLst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000" tIns="18000" rIns="54000" bIns="18000" rtlCol="0" anchor="ctr"/>
          <a:lstStyle/>
          <a:p>
            <a:pPr algn="ctr">
              <a:lnSpc>
                <a:spcPct val="120000"/>
              </a:lnSpc>
            </a:pPr>
            <a:r>
              <a:rPr sz="24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829952" y="3097801"/>
            <a:ext cx="7102656" cy="864000"/>
          </a:xfrm>
          <a:prstGeom prst="roundRect">
            <a:avLst>
              <a:gd name="adj" fmla="val 6000"/>
            </a:avLst>
          </a:prstGeom>
          <a:solidFill>
            <a:srgbClr val="F4F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5999" tIns="90000" rIns="108000" bIns="54000" rtlCol="0" anchor="ctr"/>
          <a:lstStyle/>
          <a:p>
            <a:pPr algn="l">
              <a:spcAft>
                <a:spcPts val="500"/>
              </a:spcAft>
            </a:pPr>
            <a:r>
              <a:rPr sz="150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広告と同時に開始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20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完了画面にLINEへの案内を設置し、配信をスタート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846880" y="4285801"/>
            <a:ext cx="2059200" cy="468000"/>
          </a:xfrm>
          <a:prstGeom prst="roundRect">
            <a:avLst>
              <a:gd name="adj" fmla="val 18000"/>
            </a:avLst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000" tIns="0" rIns="36000" bIns="0" rtlCol="0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初期 15万円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01120" y="4285801"/>
            <a:ext cx="2059200" cy="468000"/>
          </a:xfrm>
          <a:prstGeom prst="roundRect">
            <a:avLst>
              <a:gd name="adj" fmla="val 18000"/>
            </a:avLst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000" tIns="0" rIns="36000" bIns="0" rtlCol="0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月額 5万円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74592" y="4789800"/>
            <a:ext cx="7958016" cy="251999"/>
          </a:xfrm>
          <a:prstGeom prst="rect">
            <a:avLst/>
          </a:prstGeom>
          <a:noFill/>
        </p:spPr>
        <p:txBody>
          <a:bodyPr wrap="square" lIns="0" tIns="21600" rIns="50400" bIns="21600" anchor="ctr">
            <a:spAutoFit/>
          </a:bodyPr>
          <a:lstStyle/>
          <a:p>
            <a:pPr algn="ctr"/>
            <a:r>
              <a:rPr sz="1000">
                <a:solidFill>
                  <a:srgbClr val="7F7F7F"/>
                </a:solidFill>
                <a:latin typeface="メイリオ"/>
                <a:ea typeface="メイリオ"/>
                <a:cs typeface="メイリオ"/>
              </a:rPr>
              <a:t>※APIツール（Lステップ等）と併用可／完了画面を増やす場合は追加費用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74592" y="5149801"/>
            <a:ext cx="7958016" cy="503999"/>
          </a:xfrm>
          <a:prstGeom prst="roundRect">
            <a:avLst>
              <a:gd name="adj" fmla="val 10000"/>
            </a:avLst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8000" tIns="0" rIns="108000" bIns="0" rtlCol="0" anchor="ctr"/>
          <a:lstStyle/>
          <a:p>
            <a:pPr algn="ctr">
              <a:lnSpc>
                <a:spcPct val="125000"/>
              </a:lnSpc>
            </a:pPr>
            <a:r>
              <a:rPr sz="1400" b="1" dirty="0" err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まずは、広告のご提案とあわせて、LINEへの導線設計をご提案</a:t>
            </a:r>
            <a:r>
              <a:rPr lang="ja-JP" altLang="en-US" sz="1400" b="1" dirty="0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/>
            </a:r>
            <a:r>
              <a:rPr sz="1400" b="1" dirty="0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/>
            </a:r>
            <a:r>
              <a:rPr lang="ja-JP" altLang="en-US" sz="1400" b="1" dirty="0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/>
            </a:r>
            <a:r>
              <a:rPr sz="1400" b="1" dirty="0" err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/>
            </a:r>
            <a:endParaRPr sz="1400" b="1" dirty="0">
              <a:solidFill>
                <a:srgbClr val="FFFFFF"/>
              </a:solidFill>
              <a:latin typeface="メイリオ"/>
              <a:ea typeface="メイリオ"/>
              <a:cs typeface="メイリオ"/>
            </a:endParaRPr>
          </a:p>
        </p:txBody>
      </p:sp>
    </p:spTree>
    <p:extLst>
      <p:ext uri="{BB962C8B-B14F-4D97-AF65-F5344CB8AC3E}">
        <p14:creationId xmlns:p14="http://schemas.microsoft.com/office/powerpoint/2010/main" val="1985544786"/>
      </p:ext>
    </p:extLst>
  </p:cSld>
  <p:clrMapOvr>
    <a:masterClrMapping/>
  </p:clrMapOvr>
</p:sld>
</file>

<file path=ppt/theme/theme1.xml><?xml version="1.0" encoding="utf-8"?>
<a:theme xmlns:a="http://schemas.openxmlformats.org/drawingml/2006/main" name="テーマ1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テーマ1" id="{8EA1701B-0E00-4167-9612-575199E01EDB}" vid="{8EF6575E-BB77-44AE-AF00-801DE4CAFB82}"/>
    </a:ext>
  </a:extLst>
</a:theme>
</file>

<file path=ppt/theme/theme2.xml><?xml version="1.0" encoding="utf-8"?>
<a:theme xmlns:a="http://schemas.openxmlformats.org/drawingml/2006/main" name="DYMJAPAN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Default Theme</Template>
  <TotalTime>143216</TotalTime>
  <Words>319</Words>
  <Application>Microsoft Office PowerPoint</Application>
  <PresentationFormat>A4 210 x 297 mm</PresentationFormat>
  <Paragraphs>80</Paragraphs>
  <Slides>5</Slides>
  <Notes>3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4</vt:i4>
      </vt:variant>
      <vt:variant>
        <vt:lpstr>テーマ</vt:lpstr>
      </vt:variant>
      <vt:variant>
        <vt:i4>2</vt:i4>
      </vt:variant>
      <vt:variant>
        <vt:lpstr>スライド タイトル</vt:lpstr>
      </vt:variant>
      <vt:variant>
        <vt:i4>5</vt:i4>
      </vt:variant>
    </vt:vector>
  </HeadingPairs>
  <TitlesOfParts>
    <vt:vector size="11" baseType="lpstr">
      <vt:lpstr>メイリオ</vt:lpstr>
      <vt:lpstr>Arial</vt:lpstr>
      <vt:lpstr>Calibri</vt:lpstr>
      <vt:lpstr>Century Gothic</vt:lpstr>
      <vt:lpstr>テーマ1</vt:lpstr>
      <vt:lpstr>DYMJAPAN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プレゼンテーション</dc:title>
  <dc:creator>中村 駿</dc:creator>
  <cp:lastModifiedBy>殿村 亮太</cp:lastModifiedBy>
  <cp:revision>1963</cp:revision>
  <cp:lastPrinted>2022-11-01T11:38:14Z</cp:lastPrinted>
  <dcterms:created xsi:type="dcterms:W3CDTF">2015-09-04T09:21:15Z</dcterms:created>
  <dcterms:modified xsi:type="dcterms:W3CDTF">2026-09-30T08:47:37Z</dcterms:modified>
</cp:coreProperties>
</file>