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3"/>
  </p:notesMasterIdLst>
  <p:sldIdLst>
    <p:sldId id="1528" r:id="rId2"/>
    <p:sldId id="257" r:id="rId3"/>
    <p:sldId id="2917" r:id="rId4"/>
    <p:sldId id="3201" r:id="rId5"/>
    <p:sldId id="3202" r:id="rId6"/>
    <p:sldId id="3203" r:id="rId7"/>
    <p:sldId id="3204" r:id="rId8"/>
    <p:sldId id="2947" r:id="rId9"/>
    <p:sldId id="2948" r:id="rId10"/>
    <p:sldId id="3205" r:id="rId11"/>
    <p:sldId id="2949" r:id="rId12"/>
    <p:sldId id="3207" r:id="rId13"/>
    <p:sldId id="273" r:id="rId14"/>
    <p:sldId id="274" r:id="rId15"/>
    <p:sldId id="275" r:id="rId16"/>
    <p:sldId id="2890" r:id="rId17"/>
    <p:sldId id="3135" r:id="rId18"/>
    <p:sldId id="3224" r:id="rId19"/>
    <p:sldId id="3225" r:id="rId20"/>
    <p:sldId id="3226" r:id="rId21"/>
    <p:sldId id="3227" r:id="rId22"/>
    <p:sldId id="3228" r:id="rId23"/>
    <p:sldId id="3213" r:id="rId24"/>
    <p:sldId id="3134" r:id="rId25"/>
    <p:sldId id="2946" r:id="rId26"/>
    <p:sldId id="3214" r:id="rId27"/>
    <p:sldId id="3085" r:id="rId28"/>
    <p:sldId id="1864" r:id="rId29"/>
    <p:sldId id="289" r:id="rId30"/>
    <p:sldId id="3087" r:id="rId31"/>
    <p:sldId id="3129" r:id="rId32"/>
    <p:sldId id="2048" r:id="rId33"/>
    <p:sldId id="1870" r:id="rId34"/>
    <p:sldId id="3146" r:id="rId35"/>
    <p:sldId id="1876" r:id="rId36"/>
    <p:sldId id="356" r:id="rId37"/>
    <p:sldId id="2866" r:id="rId38"/>
    <p:sldId id="282" r:id="rId39"/>
    <p:sldId id="1865" r:id="rId40"/>
    <p:sldId id="1866" r:id="rId41"/>
    <p:sldId id="1672" r:id="rId42"/>
  </p:sldIdLst>
  <p:sldSz cx="9906000" cy="6858000" type="A4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22A"/>
    <a:srgbClr val="254061"/>
    <a:srgbClr val="00A896"/>
    <a:srgbClr val="191F54"/>
    <a:srgbClr val="DEDEDE"/>
    <a:srgbClr val="296FD6"/>
    <a:srgbClr val="EAEDEF"/>
    <a:srgbClr val="073763"/>
    <a:srgbClr val="0032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184" autoAdjust="0"/>
    <p:restoredTop sz="94660"/>
  </p:normalViewPr>
  <p:slideViewPr>
    <p:cSldViewPr snapToGrid="0" showGuides="1">
      <p:cViewPr varScale="1">
        <p:scale>
          <a:sx n="74" d="100"/>
          <a:sy n="74" d="100"/>
        </p:scale>
        <p:origin x="976" y="36"/>
      </p:cViewPr>
      <p:guideLst>
        <p:guide orient="horz" pos="2183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A03556-6033-4E9C-8AB2-DAEBDF7D0545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0A7E7C-2592-421B-8120-0CB7E8FF1C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6660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14375" y="744538"/>
            <a:ext cx="5375275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1266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 dirty="0">
              <a:latin typeface="Calibri" charset="0"/>
              <a:ea typeface="ＭＳ Ｐゴシック" charset="0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ja-JP" altLang="en-US" dirty="0"/>
          </a:p>
        </p:txBody>
      </p:sp>
      <p:sp>
        <p:nvSpPr>
          <p:cNvPr id="11268" name="スライド番号プレースホルダー 4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3025" indent="-285778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115" indent="-228623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360" indent="-228623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605" indent="-228623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851" indent="-22862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2096" indent="-22862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343" indent="-22862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588" indent="-22862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8FB3F40B-8A17-7147-97C6-D00DC1719EA3}" type="slidenum">
              <a:rPr lang="ja-JP" altLang="en-US" sz="1300">
                <a:latin typeface="Calibri" charset="0"/>
              </a:rPr>
              <a:pPr/>
              <a:t>1</a:t>
            </a:fld>
            <a:endParaRPr lang="ja-JP" altLang="en-US" sz="1300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68927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5" name="Google Shape;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5379A5A0-6CE5-54F6-275F-881F025E1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>
            <a:extLst>
              <a:ext uri="{FF2B5EF4-FFF2-40B4-BE49-F238E27FC236}">
                <a16:creationId xmlns:a16="http://schemas.microsoft.com/office/drawing/2014/main" id="{45D213CC-7B1B-0B63-CAC2-131C1749B4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0" name="Google Shape;60;p3:notes">
            <a:extLst>
              <a:ext uri="{FF2B5EF4-FFF2-40B4-BE49-F238E27FC236}">
                <a16:creationId xmlns:a16="http://schemas.microsoft.com/office/drawing/2014/main" id="{3AF82148-A12C-83B1-B752-AC19A15EAE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0686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D2E01743-5361-F4FA-3C08-3DDDC91FB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>
            <a:extLst>
              <a:ext uri="{FF2B5EF4-FFF2-40B4-BE49-F238E27FC236}">
                <a16:creationId xmlns:a16="http://schemas.microsoft.com/office/drawing/2014/main" id="{F84CA7E5-3991-9CB0-5895-B5663C45CE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0" name="Google Shape;60;p3:notes">
            <a:extLst>
              <a:ext uri="{FF2B5EF4-FFF2-40B4-BE49-F238E27FC236}">
                <a16:creationId xmlns:a16="http://schemas.microsoft.com/office/drawing/2014/main" id="{043BE044-7F5C-245C-FF0B-EAF26DFF6D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31809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4B5E8C56-C1C1-95C5-80FD-BB78641A4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>
            <a:extLst>
              <a:ext uri="{FF2B5EF4-FFF2-40B4-BE49-F238E27FC236}">
                <a16:creationId xmlns:a16="http://schemas.microsoft.com/office/drawing/2014/main" id="{AEC07636-9896-3D00-22E8-C5EE69A9B9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0" name="Google Shape;60;p3:notes">
            <a:extLst>
              <a:ext uri="{FF2B5EF4-FFF2-40B4-BE49-F238E27FC236}">
                <a16:creationId xmlns:a16="http://schemas.microsoft.com/office/drawing/2014/main" id="{F94D58D0-6D52-0574-4B9A-227D64F3F0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034816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B6EC6D5F-B0BE-9420-1465-25D97355C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>
            <a:extLst>
              <a:ext uri="{FF2B5EF4-FFF2-40B4-BE49-F238E27FC236}">
                <a16:creationId xmlns:a16="http://schemas.microsoft.com/office/drawing/2014/main" id="{C669E360-CDC6-DBCA-1F3C-2A25F221AA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0" name="Google Shape;60;p3:notes">
            <a:extLst>
              <a:ext uri="{FF2B5EF4-FFF2-40B4-BE49-F238E27FC236}">
                <a16:creationId xmlns:a16="http://schemas.microsoft.com/office/drawing/2014/main" id="{CA9BCDCA-E509-94E3-EC13-98EF874360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704350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30" name="Google Shape;330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>
          <a:extLst>
            <a:ext uri="{FF2B5EF4-FFF2-40B4-BE49-F238E27FC236}">
              <a16:creationId xmlns:a16="http://schemas.microsoft.com/office/drawing/2014/main" id="{37D98F22-7BDC-5765-234E-FE57A4ED3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5:notes">
            <a:extLst>
              <a:ext uri="{FF2B5EF4-FFF2-40B4-BE49-F238E27FC236}">
                <a16:creationId xmlns:a16="http://schemas.microsoft.com/office/drawing/2014/main" id="{C2A3F23F-1D7A-BC4B-82A2-FCA0E9DD21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36" name="Google Shape;336;p35:notes">
            <a:extLst>
              <a:ext uri="{FF2B5EF4-FFF2-40B4-BE49-F238E27FC236}">
                <a16:creationId xmlns:a16="http://schemas.microsoft.com/office/drawing/2014/main" id="{C2466450-961A-2876-216E-A1B76A8042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742704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303073B4-DCCA-6F49-8006-D993DE136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>
            <a:extLst>
              <a:ext uri="{FF2B5EF4-FFF2-40B4-BE49-F238E27FC236}">
                <a16:creationId xmlns:a16="http://schemas.microsoft.com/office/drawing/2014/main" id="{B8C818A2-043B-8558-0792-20EC5F5951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0" name="Google Shape;60;p3:notes">
            <a:extLst>
              <a:ext uri="{FF2B5EF4-FFF2-40B4-BE49-F238E27FC236}">
                <a16:creationId xmlns:a16="http://schemas.microsoft.com/office/drawing/2014/main" id="{4C4D7D69-CD09-2AF2-91F7-31435D684F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73145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29202D6-C1F5-472A-A72F-285F233F82C2}" type="slidenum">
              <a:rPr lang="ja-JP" altLang="en-US" smtClean="0"/>
              <a:pPr>
                <a:defRPr/>
              </a:pPr>
              <a:t>41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67187227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</p:spTree>
    <p:extLst>
      <p:ext uri="{BB962C8B-B14F-4D97-AF65-F5344CB8AC3E}">
        <p14:creationId xmlns:p14="http://schemas.microsoft.com/office/powerpoint/2010/main" val="635862720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463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6465472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8743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タイトルとコンテンツ" preserve="1">
  <p:cSld name="5_タイトルとコンテンツ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5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txBody>
          <a:bodyPr spcFirstLastPara="1" wrap="square" lIns="74283" tIns="37131" rIns="74283" bIns="37131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63" b="0" i="0" u="none" strike="noStrike" cap="none" dirty="0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  <a:cs typeface="Calibri"/>
              <a:sym typeface="Calibri"/>
            </a:endParaRPr>
          </a:p>
        </p:txBody>
      </p:sp>
      <p:cxnSp>
        <p:nvCxnSpPr>
          <p:cNvPr id="17" name="Google Shape;17;p75"/>
          <p:cNvCxnSpPr/>
          <p:nvPr/>
        </p:nvCxnSpPr>
        <p:spPr>
          <a:xfrm>
            <a:off x="0" y="548680"/>
            <a:ext cx="9906000" cy="0"/>
          </a:xfrm>
          <a:prstGeom prst="straightConnector1">
            <a:avLst/>
          </a:prstGeom>
          <a:noFill/>
          <a:ln w="25400" cap="flat" cmpd="sng">
            <a:solidFill>
              <a:srgbClr val="191F54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8580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6966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534D6-5E1A-4239-A455-4125CCFD9645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D388E-87E0-4CDF-9AC5-13B331764B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5246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タイトル スライド" preserve="1">
  <p:cSld name="3_タイトル スライド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4"/>
          <p:cNvSpPr txBox="1">
            <a:spLocks noGrp="1"/>
          </p:cNvSpPr>
          <p:nvPr>
            <p:ph type="dt" idx="10"/>
          </p:nvPr>
        </p:nvSpPr>
        <p:spPr>
          <a:xfrm>
            <a:off x="495300" y="6356363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iryo"/>
              <a:buNone/>
              <a:defRPr sz="1463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20" name="Google Shape;20;p54"/>
          <p:cNvSpPr txBox="1">
            <a:spLocks noGrp="1"/>
          </p:cNvSpPr>
          <p:nvPr>
            <p:ph type="ftr" idx="11"/>
          </p:nvPr>
        </p:nvSpPr>
        <p:spPr>
          <a:xfrm>
            <a:off x="3384550" y="6356363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iryo"/>
              <a:buNone/>
              <a:defRPr sz="1463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6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21" name="Google Shape;21;p54"/>
          <p:cNvSpPr txBox="1">
            <a:spLocks noGrp="1"/>
          </p:cNvSpPr>
          <p:nvPr>
            <p:ph type="sldNum" idx="12"/>
          </p:nvPr>
        </p:nvSpPr>
        <p:spPr>
          <a:xfrm>
            <a:off x="9345488" y="6550756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92"/>
              <a:buFont typeface="Meiryo"/>
              <a:buNone/>
              <a:defRPr sz="1050" b="0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92"/>
              <a:buFont typeface="Meiryo"/>
              <a:buNone/>
              <a:defRPr sz="1050" b="0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92"/>
              <a:buFont typeface="Meiryo"/>
              <a:buNone/>
              <a:defRPr sz="1050" b="0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92"/>
              <a:buFont typeface="Meiryo"/>
              <a:buNone/>
              <a:defRPr sz="1050" b="0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92"/>
              <a:buFont typeface="Meiryo"/>
              <a:buNone/>
              <a:defRPr sz="1050" b="0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92"/>
              <a:buFont typeface="Meiryo"/>
              <a:buNone/>
              <a:defRPr sz="1050" b="0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92"/>
              <a:buFont typeface="Meiryo"/>
              <a:buNone/>
              <a:defRPr sz="1050" b="0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92"/>
              <a:buFont typeface="Meiryo"/>
              <a:buNone/>
              <a:defRPr sz="1050" b="0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92"/>
              <a:buFont typeface="Meiryo"/>
              <a:buNone/>
              <a:defRPr sz="1050" b="0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  <p:sp>
        <p:nvSpPr>
          <p:cNvPr id="22" name="Google Shape;22;p54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txBody>
          <a:bodyPr spcFirstLastPara="1" wrap="square" lIns="74283" tIns="37131" rIns="74283" bIns="37131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463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" name="Google Shape;23;p54"/>
          <p:cNvCxnSpPr/>
          <p:nvPr/>
        </p:nvCxnSpPr>
        <p:spPr>
          <a:xfrm>
            <a:off x="0" y="548680"/>
            <a:ext cx="9906000" cy="0"/>
          </a:xfrm>
          <a:prstGeom prst="straightConnector1">
            <a:avLst/>
          </a:prstGeom>
          <a:noFill/>
          <a:ln w="25400" cap="flat" cmpd="sng">
            <a:solidFill>
              <a:srgbClr val="191F54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197714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1675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線コネクタ 2"/>
          <p:cNvCxnSpPr/>
          <p:nvPr userDrawn="1"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正方形/長方形 3"/>
          <p:cNvSpPr/>
          <p:nvPr userDrawn="1"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463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0473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タイトルとコンテンツ" preserve="1" userDrawn="1">
  <p:cSld name="5_タイトルとコンテンツ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48884" y="143911"/>
            <a:ext cx="7754858" cy="338555"/>
          </a:xfrm>
          <a:prstGeom prst="rect">
            <a:avLst/>
          </a:prstGeom>
        </p:spPr>
        <p:txBody>
          <a:bodyPr/>
          <a:lstStyle>
            <a:lvl1pPr marR="0" algn="l" rtl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Font typeface="Arial" charset="0"/>
              <a:buNone/>
              <a:defRPr kumimoji="1" lang="ja-JP" altLang="en-US" sz="1300" b="0" i="0" u="none" strike="noStrike" cap="none" spc="244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charset="0"/>
                <a:sym typeface="Arial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cxnSp>
        <p:nvCxnSpPr>
          <p:cNvPr id="18" name="Google Shape;18;p3"/>
          <p:cNvCxnSpPr/>
          <p:nvPr/>
        </p:nvCxnSpPr>
        <p:spPr>
          <a:xfrm>
            <a:off x="0" y="548680"/>
            <a:ext cx="9906000" cy="0"/>
          </a:xfrm>
          <a:prstGeom prst="straightConnector1">
            <a:avLst/>
          </a:prstGeom>
          <a:noFill/>
          <a:ln w="25400" cap="flat" cmpd="sng">
            <a:solidFill>
              <a:srgbClr val="191F5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" name="Google Shape;19;p3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txBody>
          <a:bodyPr spcFirstLastPara="1" wrap="square" lIns="74283" tIns="37131" rIns="74283" bIns="37131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63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43E867C-938A-4B55-9BC9-A14A9DB0274B}"/>
              </a:ext>
            </a:extLst>
          </p:cNvPr>
          <p:cNvSpPr/>
          <p:nvPr userDrawn="1"/>
        </p:nvSpPr>
        <p:spPr>
          <a:xfrm>
            <a:off x="0" y="609600"/>
            <a:ext cx="9906000" cy="3817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3125" anchor="ctr"/>
          <a:lstStyle/>
          <a:p>
            <a:pPr algn="ctr">
              <a:defRPr/>
            </a:pPr>
            <a:endParaRPr lang="ja-JP" altLang="en-US" sz="1625" spc="488" dirty="0">
              <a:solidFill>
                <a:schemeClr val="tx1">
                  <a:lumMod val="85000"/>
                  <a:lumOff val="1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F4CB9164-B3F8-4467-A9B9-02B828EFAA2F}"/>
              </a:ext>
            </a:extLst>
          </p:cNvPr>
          <p:cNvCxnSpPr>
            <a:cxnSpLocks/>
          </p:cNvCxnSpPr>
          <p:nvPr userDrawn="1"/>
        </p:nvCxnSpPr>
        <p:spPr>
          <a:xfrm>
            <a:off x="0" y="1390675"/>
            <a:ext cx="9906000" cy="0"/>
          </a:xfrm>
          <a:prstGeom prst="line">
            <a:avLst/>
          </a:prstGeom>
          <a:ln w="19050">
            <a:solidFill>
              <a:schemeClr val="bg1">
                <a:lumMod val="85000"/>
                <a:alpha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9970966-7ADA-4DAA-8EE5-666B7BC84C85}"/>
              </a:ext>
            </a:extLst>
          </p:cNvPr>
          <p:cNvSpPr/>
          <p:nvPr userDrawn="1"/>
        </p:nvSpPr>
        <p:spPr>
          <a:xfrm>
            <a:off x="0" y="971550"/>
            <a:ext cx="9906000" cy="4037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73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" name="コンテンツ プレースホルダー 9"/>
          <p:cNvSpPr>
            <a:spLocks noGrp="1"/>
          </p:cNvSpPr>
          <p:nvPr>
            <p:ph sz="quarter" idx="10"/>
          </p:nvPr>
        </p:nvSpPr>
        <p:spPr>
          <a:xfrm>
            <a:off x="0" y="608400"/>
            <a:ext cx="9906000" cy="381600"/>
          </a:xfrm>
          <a:prstGeom prst="rect">
            <a:avLst/>
          </a:prstGeom>
        </p:spPr>
        <p:txBody>
          <a:bodyPr/>
          <a:lstStyle>
            <a:lvl1pPr marR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ja-JP" altLang="en-US" sz="1625" b="0" i="0" u="none" strike="noStrike" cap="none" spc="488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  <a:sym typeface="Arial"/>
              </a:defRPr>
            </a:lvl1pPr>
            <a:lvl2pPr algn="ctr">
              <a:defRPr lang="ja-JP" altLang="en-US" sz="731" b="0" i="0" u="none" strike="noStrike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  <a:sym typeface="Arial"/>
              </a:defRPr>
            </a:lvl2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21" name="テキスト プレースホルダー 20"/>
          <p:cNvSpPr>
            <a:spLocks noGrp="1"/>
          </p:cNvSpPr>
          <p:nvPr>
            <p:ph type="body" sz="quarter" idx="11"/>
          </p:nvPr>
        </p:nvSpPr>
        <p:spPr>
          <a:xfrm>
            <a:off x="0" y="972000"/>
            <a:ext cx="9906000" cy="403200"/>
          </a:xfrm>
          <a:prstGeom prst="rect">
            <a:avLst/>
          </a:prstGeom>
        </p:spPr>
        <p:txBody>
          <a:bodyPr/>
          <a:lstStyle>
            <a:lvl1pPr marR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ja-JP" altLang="en-US" sz="731" b="0" i="0" u="none" strike="noStrike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  <a:sym typeface="Arial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047746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タイトルとコンテンツ" preserve="1" userDrawn="1">
  <p:cSld name="5_タイトルとコンテンツ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48884" y="143911"/>
            <a:ext cx="7754858" cy="338555"/>
          </a:xfrm>
          <a:prstGeom prst="rect">
            <a:avLst/>
          </a:prstGeom>
        </p:spPr>
        <p:txBody>
          <a:bodyPr/>
          <a:lstStyle>
            <a:lvl1pPr marR="0" algn="l" rtl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Font typeface="Arial" charset="0"/>
              <a:buNone/>
              <a:defRPr kumimoji="1" lang="ja-JP" altLang="en-US" sz="1300" b="0" i="0" u="none" strike="noStrike" cap="none" spc="244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charset="0"/>
                <a:sym typeface="Arial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cxnSp>
        <p:nvCxnSpPr>
          <p:cNvPr id="18" name="Google Shape;18;p3"/>
          <p:cNvCxnSpPr/>
          <p:nvPr/>
        </p:nvCxnSpPr>
        <p:spPr>
          <a:xfrm>
            <a:off x="0" y="548680"/>
            <a:ext cx="9906000" cy="0"/>
          </a:xfrm>
          <a:prstGeom prst="straightConnector1">
            <a:avLst/>
          </a:prstGeom>
          <a:noFill/>
          <a:ln w="25400" cap="flat" cmpd="sng">
            <a:solidFill>
              <a:srgbClr val="191F5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" name="Google Shape;19;p3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txBody>
          <a:bodyPr spcFirstLastPara="1" wrap="square" lIns="74283" tIns="37131" rIns="74283" bIns="37131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63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43E867C-938A-4B55-9BC9-A14A9DB0274B}"/>
              </a:ext>
            </a:extLst>
          </p:cNvPr>
          <p:cNvSpPr/>
          <p:nvPr userDrawn="1"/>
        </p:nvSpPr>
        <p:spPr>
          <a:xfrm>
            <a:off x="0" y="609600"/>
            <a:ext cx="9906000" cy="3817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3125" anchor="ctr"/>
          <a:lstStyle/>
          <a:p>
            <a:pPr algn="ctr">
              <a:defRPr/>
            </a:pPr>
            <a:endParaRPr lang="ja-JP" altLang="en-US" sz="1625" spc="488" dirty="0">
              <a:solidFill>
                <a:schemeClr val="tx1">
                  <a:lumMod val="85000"/>
                  <a:lumOff val="1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204510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F5F8949-241D-EB50-98A8-24BF64D80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155" y="182288"/>
            <a:ext cx="8543925" cy="366392"/>
          </a:xfrm>
          <a:prstGeom prst="rect">
            <a:avLst/>
          </a:prstGeom>
        </p:spPr>
        <p:txBody>
          <a:bodyPr/>
          <a:lstStyle>
            <a:lvl1pPr algn="l">
              <a:defRPr sz="1800" b="1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135771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26" b="1" i="0">
                <a:solidFill>
                  <a:schemeClr val="bg1"/>
                </a:solidFill>
                <a:latin typeface="Hiragino Sans GB W6"/>
                <a:cs typeface="Hiragino Sans GB W6"/>
              </a:defRPr>
            </a:lvl1pPr>
          </a:lstStyle>
          <a:p>
            <a:pPr marL="11527">
              <a:lnSpc>
                <a:spcPts val="808"/>
              </a:lnSpc>
            </a:pPr>
            <a:r>
              <a:rPr lang="en-US" dirty="0"/>
              <a:t>Copyright(c)</a:t>
            </a:r>
            <a:r>
              <a:rPr lang="en-US" spc="68" dirty="0"/>
              <a:t> </a:t>
            </a:r>
            <a:r>
              <a:rPr lang="en-US" dirty="0"/>
              <a:t>DYM</a:t>
            </a:r>
            <a:r>
              <a:rPr lang="en-US" spc="82" dirty="0"/>
              <a:t> </a:t>
            </a:r>
            <a:r>
              <a:rPr lang="en-US" dirty="0"/>
              <a:t>Co.,</a:t>
            </a:r>
            <a:r>
              <a:rPr lang="en-US" spc="54" dirty="0"/>
              <a:t> </a:t>
            </a:r>
            <a:r>
              <a:rPr lang="en-US" dirty="0"/>
              <a:t>Ltd．</a:t>
            </a:r>
            <a:r>
              <a:rPr lang="en-US" spc="86" dirty="0"/>
              <a:t> </a:t>
            </a:r>
            <a:r>
              <a:rPr lang="en-US" dirty="0"/>
              <a:t>All</a:t>
            </a:r>
            <a:r>
              <a:rPr lang="en-US" spc="59" dirty="0"/>
              <a:t> </a:t>
            </a:r>
            <a:r>
              <a:rPr lang="en-US" dirty="0"/>
              <a:t>Rights</a:t>
            </a:r>
            <a:r>
              <a:rPr lang="en-US" spc="59" dirty="0"/>
              <a:t> </a:t>
            </a:r>
            <a:r>
              <a:rPr lang="en-US" spc="-9" dirty="0"/>
              <a:t>Reserved.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7/9/2026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61" b="1" i="0">
                <a:solidFill>
                  <a:schemeClr val="bg1"/>
                </a:solidFill>
                <a:latin typeface="Hiragino Sans GB W6"/>
                <a:cs typeface="Hiragino Sans GB W6"/>
              </a:defRPr>
            </a:lvl1pPr>
          </a:lstStyle>
          <a:p>
            <a:pPr marL="11527">
              <a:lnSpc>
                <a:spcPts val="1556"/>
              </a:lnSpc>
            </a:pPr>
            <a:fld id="{81D60167-4931-47E6-BA6A-407CBD079E47}" type="slidenum">
              <a:rPr lang="en-US" altLang="ja-JP" spc="-23" smtClean="0"/>
              <a:pPr marL="11527">
                <a:lnSpc>
                  <a:spcPts val="1556"/>
                </a:lnSpc>
              </a:pPr>
              <a:t>‹#›</a:t>
            </a:fld>
            <a:endParaRPr lang="en-US" altLang="ja-JP" spc="-23" dirty="0"/>
          </a:p>
        </p:txBody>
      </p:sp>
    </p:spTree>
    <p:extLst>
      <p:ext uri="{BB962C8B-B14F-4D97-AF65-F5344CB8AC3E}">
        <p14:creationId xmlns:p14="http://schemas.microsoft.com/office/powerpoint/2010/main" val="18567124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06" b="1" i="0">
                <a:solidFill>
                  <a:schemeClr val="tx1"/>
                </a:solidFill>
                <a:latin typeface="Hiragino Sans GB W6"/>
                <a:cs typeface="Hiragino Sans GB W6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26" b="1" i="0">
                <a:solidFill>
                  <a:schemeClr val="bg1"/>
                </a:solidFill>
                <a:latin typeface="Hiragino Sans GB W6"/>
                <a:cs typeface="Hiragino Sans GB W6"/>
              </a:defRPr>
            </a:lvl1pPr>
          </a:lstStyle>
          <a:p>
            <a:pPr marL="11527">
              <a:lnSpc>
                <a:spcPts val="808"/>
              </a:lnSpc>
            </a:pPr>
            <a:r>
              <a:rPr lang="en-US" dirty="0"/>
              <a:t>Copyright(c)</a:t>
            </a:r>
            <a:r>
              <a:rPr lang="en-US" spc="68" dirty="0"/>
              <a:t> </a:t>
            </a:r>
            <a:r>
              <a:rPr lang="en-US" dirty="0"/>
              <a:t>DYM</a:t>
            </a:r>
            <a:r>
              <a:rPr lang="en-US" spc="82" dirty="0"/>
              <a:t> </a:t>
            </a:r>
            <a:r>
              <a:rPr lang="en-US" dirty="0"/>
              <a:t>Co.,</a:t>
            </a:r>
            <a:r>
              <a:rPr lang="en-US" spc="54" dirty="0"/>
              <a:t> </a:t>
            </a:r>
            <a:r>
              <a:rPr lang="en-US" dirty="0"/>
              <a:t>Ltd．</a:t>
            </a:r>
            <a:r>
              <a:rPr lang="en-US" spc="86" dirty="0"/>
              <a:t> </a:t>
            </a:r>
            <a:r>
              <a:rPr lang="en-US" dirty="0"/>
              <a:t>All</a:t>
            </a:r>
            <a:r>
              <a:rPr lang="en-US" spc="59" dirty="0"/>
              <a:t> </a:t>
            </a:r>
            <a:r>
              <a:rPr lang="en-US" dirty="0"/>
              <a:t>Rights</a:t>
            </a:r>
            <a:r>
              <a:rPr lang="en-US" spc="59" dirty="0"/>
              <a:t> </a:t>
            </a:r>
            <a:r>
              <a:rPr lang="en-US" spc="-9" dirty="0"/>
              <a:t>Reserved.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7/9/2026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61" b="1" i="0">
                <a:solidFill>
                  <a:schemeClr val="bg1"/>
                </a:solidFill>
                <a:latin typeface="Hiragino Sans GB W6"/>
                <a:cs typeface="Hiragino Sans GB W6"/>
              </a:defRPr>
            </a:lvl1pPr>
          </a:lstStyle>
          <a:p>
            <a:pPr marL="11527">
              <a:lnSpc>
                <a:spcPts val="1556"/>
              </a:lnSpc>
            </a:pPr>
            <a:fld id="{81D60167-4931-47E6-BA6A-407CBD079E47}" type="slidenum">
              <a:rPr lang="en-US" altLang="ja-JP" spc="-23" smtClean="0"/>
              <a:pPr marL="11527">
                <a:lnSpc>
                  <a:spcPts val="1556"/>
                </a:lnSpc>
              </a:pPr>
              <a:t>‹#›</a:t>
            </a:fld>
            <a:endParaRPr lang="en-US" altLang="ja-JP" spc="-23" dirty="0"/>
          </a:p>
        </p:txBody>
      </p:sp>
    </p:spTree>
    <p:extLst>
      <p:ext uri="{BB962C8B-B14F-4D97-AF65-F5344CB8AC3E}">
        <p14:creationId xmlns:p14="http://schemas.microsoft.com/office/powerpoint/2010/main" val="7375602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06" b="1" i="0">
                <a:solidFill>
                  <a:schemeClr val="tx1"/>
                </a:solidFill>
                <a:latin typeface="Hiragino Sans GB W6"/>
                <a:cs typeface="Hiragino Sans GB W6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26" b="1" i="0">
                <a:solidFill>
                  <a:schemeClr val="bg1"/>
                </a:solidFill>
                <a:latin typeface="Hiragino Sans GB W6"/>
                <a:cs typeface="Hiragino Sans GB W6"/>
              </a:defRPr>
            </a:lvl1pPr>
          </a:lstStyle>
          <a:p>
            <a:pPr marL="11527">
              <a:lnSpc>
                <a:spcPts val="808"/>
              </a:lnSpc>
            </a:pPr>
            <a:r>
              <a:rPr lang="en-US" dirty="0"/>
              <a:t>Copyright(c)</a:t>
            </a:r>
            <a:r>
              <a:rPr lang="en-US" spc="68" dirty="0"/>
              <a:t> </a:t>
            </a:r>
            <a:r>
              <a:rPr lang="en-US" dirty="0"/>
              <a:t>DYM</a:t>
            </a:r>
            <a:r>
              <a:rPr lang="en-US" spc="82" dirty="0"/>
              <a:t> </a:t>
            </a:r>
            <a:r>
              <a:rPr lang="en-US" dirty="0"/>
              <a:t>Co.,</a:t>
            </a:r>
            <a:r>
              <a:rPr lang="en-US" spc="54" dirty="0"/>
              <a:t> </a:t>
            </a:r>
            <a:r>
              <a:rPr lang="en-US" dirty="0"/>
              <a:t>Ltd．</a:t>
            </a:r>
            <a:r>
              <a:rPr lang="en-US" spc="86" dirty="0"/>
              <a:t> </a:t>
            </a:r>
            <a:r>
              <a:rPr lang="en-US" dirty="0"/>
              <a:t>All</a:t>
            </a:r>
            <a:r>
              <a:rPr lang="en-US" spc="59" dirty="0"/>
              <a:t> </a:t>
            </a:r>
            <a:r>
              <a:rPr lang="en-US" dirty="0"/>
              <a:t>Rights</a:t>
            </a:r>
            <a:r>
              <a:rPr lang="en-US" spc="59" dirty="0"/>
              <a:t> </a:t>
            </a:r>
            <a:r>
              <a:rPr lang="en-US" spc="-9" dirty="0"/>
              <a:t>Reserved.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7/9/2026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61" b="1" i="0">
                <a:solidFill>
                  <a:schemeClr val="bg1"/>
                </a:solidFill>
                <a:latin typeface="Hiragino Sans GB W6"/>
                <a:cs typeface="Hiragino Sans GB W6"/>
              </a:defRPr>
            </a:lvl1pPr>
          </a:lstStyle>
          <a:p>
            <a:pPr marL="11527">
              <a:lnSpc>
                <a:spcPts val="1556"/>
              </a:lnSpc>
            </a:pPr>
            <a:fld id="{81D60167-4931-47E6-BA6A-407CBD079E47}" type="slidenum">
              <a:rPr lang="en-US" altLang="ja-JP" spc="-23" smtClean="0"/>
              <a:pPr marL="11527">
                <a:lnSpc>
                  <a:spcPts val="1556"/>
                </a:lnSpc>
              </a:pPr>
              <a:t>‹#›</a:t>
            </a:fld>
            <a:endParaRPr lang="en-US" altLang="ja-JP" spc="-23" dirty="0"/>
          </a:p>
        </p:txBody>
      </p:sp>
    </p:spTree>
    <p:extLst>
      <p:ext uri="{BB962C8B-B14F-4D97-AF65-F5344CB8AC3E}">
        <p14:creationId xmlns:p14="http://schemas.microsoft.com/office/powerpoint/2010/main" val="151695076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image" Target="../media/image1.png"/><Relationship Id="rId18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65" y="72271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151357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463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45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138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138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192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65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65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65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812813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  <p:sldLayoutId id="2147483675" r:id="rId13"/>
    <p:sldLayoutId id="2147483676" r:id="rId14"/>
    <p:sldLayoutId id="2147483677" r:id="rId15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357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575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575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575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575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371475" algn="ctr" rtl="0" eaLnBrk="1" fontAlgn="base" hangingPunct="1">
        <a:spcBef>
          <a:spcPct val="0"/>
        </a:spcBef>
        <a:spcAft>
          <a:spcPct val="0"/>
        </a:spcAft>
        <a:defRPr kumimoji="1" sz="3575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742950" algn="ctr" rtl="0" eaLnBrk="1" fontAlgn="base" hangingPunct="1">
        <a:spcBef>
          <a:spcPct val="0"/>
        </a:spcBef>
        <a:spcAft>
          <a:spcPct val="0"/>
        </a:spcAft>
        <a:defRPr kumimoji="1" sz="3575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114425" algn="ctr" rtl="0" eaLnBrk="1" fontAlgn="base" hangingPunct="1">
        <a:spcBef>
          <a:spcPct val="0"/>
        </a:spcBef>
        <a:spcAft>
          <a:spcPct val="0"/>
        </a:spcAft>
        <a:defRPr kumimoji="1" sz="3575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485900" algn="ctr" rtl="0" eaLnBrk="1" fontAlgn="base" hangingPunct="1">
        <a:spcBef>
          <a:spcPct val="0"/>
        </a:spcBef>
        <a:spcAft>
          <a:spcPct val="0"/>
        </a:spcAft>
        <a:defRPr kumimoji="1" sz="3575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278606" indent="-2786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03647" indent="-23217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275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1625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1625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spcBef>
          <a:spcPct val="20000"/>
        </a:spcBef>
        <a:buFont typeface="Arial" pitchFamily="34" charset="0"/>
        <a:buChar char="•"/>
        <a:defRPr kumimoji="1" sz="1625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spcBef>
          <a:spcPct val="20000"/>
        </a:spcBef>
        <a:buFont typeface="Arial" pitchFamily="34" charset="0"/>
        <a:buChar char="•"/>
        <a:defRPr kumimoji="1" sz="1625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spcBef>
          <a:spcPct val="20000"/>
        </a:spcBef>
        <a:buFont typeface="Arial" pitchFamily="34" charset="0"/>
        <a:buChar char="•"/>
        <a:defRPr kumimoji="1" sz="1625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spcBef>
          <a:spcPct val="20000"/>
        </a:spcBef>
        <a:buFont typeface="Arial" pitchFamily="34" charset="0"/>
        <a:buChar char="•"/>
        <a:defRPr kumimoji="1" sz="16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kumimoji="1"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6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sv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sv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sv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sv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Relationship Id="rId4" Type="http://schemas.openxmlformats.org/officeDocument/2006/relationships/image" Target="../media/image30.jpe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sv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microsoft.com/office/2007/relationships/hdphoto" Target="../media/hdphoto1.wdp"/><Relationship Id="rId7" Type="http://schemas.openxmlformats.org/officeDocument/2006/relationships/image" Target="../media/image5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47.png"/><Relationship Id="rId8" Type="http://schemas.openxmlformats.org/officeDocument/2006/relationships/image" Target="../media/image48.png"/><Relationship Id="rId9" Type="http://schemas.openxmlformats.org/officeDocument/2006/relationships/image" Target="../media/image50.png"/><Relationship Id="rId10" Type="http://schemas.microsoft.com/office/2007/relationships/hdphoto" Target="../media/hdphoto1.wdp"/><Relationship Id="rId11" Type="http://schemas.openxmlformats.org/officeDocument/2006/relationships/image" Target="../media/image57.png"/><Relationship Id="rId12" Type="http://schemas.openxmlformats.org/officeDocument/2006/relationships/image" Target="../media/image58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9.emf"/><Relationship Id="rId4" Type="http://schemas.openxmlformats.org/officeDocument/2006/relationships/image" Target="../media/image60.jpeg"/><Relationship Id="rId5" Type="http://schemas.openxmlformats.org/officeDocument/2006/relationships/image" Target="../media/image61.jpeg"/><Relationship Id="rId6" Type="http://schemas.openxmlformats.org/officeDocument/2006/relationships/image" Target="../media/image62.jpeg"/><Relationship Id="rId7" Type="http://schemas.openxmlformats.org/officeDocument/2006/relationships/image" Target="../media/image63.jpeg"/><Relationship Id="rId8" Type="http://schemas.openxmlformats.org/officeDocument/2006/relationships/image" Target="../media/image64.jpeg"/><Relationship Id="rId9" Type="http://schemas.openxmlformats.org/officeDocument/2006/relationships/image" Target="../media/image6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/>
          <p:cNvSpPr/>
          <p:nvPr/>
        </p:nvSpPr>
        <p:spPr>
          <a:xfrm>
            <a:off x="9541755" y="6597352"/>
            <a:ext cx="272352" cy="266131"/>
          </a:xfrm>
          <a:prstGeom prst="rect">
            <a:avLst/>
          </a:prstGeom>
          <a:solidFill>
            <a:srgbClr val="191F54"/>
          </a:solidFill>
          <a:ln>
            <a:solidFill>
              <a:srgbClr val="191F54"/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1" name="正方形/長方形 10"/>
          <p:cNvSpPr/>
          <p:nvPr/>
        </p:nvSpPr>
        <p:spPr>
          <a:xfrm>
            <a:off x="0" y="2650248"/>
            <a:ext cx="99060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ja-JP" sz="4400" b="1" spc="-200" dirty="0">
                <a:solidFill>
                  <a:schemeClr val="tx1">
                    <a:lumMod val="95000"/>
                    <a:lumOff val="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WEB</a:t>
            </a:r>
            <a:r>
              <a:rPr lang="ja-JP" altLang="en-US" sz="4400" b="1" spc="-200" dirty="0">
                <a:solidFill>
                  <a:schemeClr val="tx1">
                    <a:lumMod val="95000"/>
                    <a:lumOff val="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プロモーションのご提案</a:t>
            </a:r>
            <a:endParaRPr lang="en-US" altLang="ja-JP" sz="4400" b="1" spc="-200" dirty="0">
              <a:solidFill>
                <a:schemeClr val="tx1">
                  <a:lumMod val="95000"/>
                  <a:lumOff val="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FD77CEE-5E42-4BAB-83E5-A9C2DE05C891}"/>
              </a:ext>
            </a:extLst>
          </p:cNvPr>
          <p:cNvSpPr/>
          <p:nvPr/>
        </p:nvSpPr>
        <p:spPr>
          <a:xfrm>
            <a:off x="187885" y="186161"/>
            <a:ext cx="75238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b="1" dirty="0"/>
              <a:t>株式会社A-1設計 </a:t>
            </a:r>
            <a:r>
              <a:rPr lang="ja-JP" altLang="en-US" b="1" cap="all" dirty="0">
                <a:ln w="9000" cmpd="sng">
                  <a:noFill/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 UI" panose="020B0604030504040204" pitchFamily="50" charset="-128"/>
              </a:rPr>
              <a:t>御中</a:t>
            </a:r>
            <a:endParaRPr lang="en-US" altLang="ja-JP" b="1" cap="all" dirty="0">
              <a:ln w="9000" cmpd="sng">
                <a:noFill/>
                <a:prstDash val="solid"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5A3D0E9-B8A2-4AFC-ACA7-821EE615DBC3}"/>
              </a:ext>
            </a:extLst>
          </p:cNvPr>
          <p:cNvSpPr/>
          <p:nvPr/>
        </p:nvSpPr>
        <p:spPr>
          <a:xfrm>
            <a:off x="645972" y="3399029"/>
            <a:ext cx="8614056" cy="45719"/>
          </a:xfrm>
          <a:prstGeom prst="rect">
            <a:avLst/>
          </a:prstGeom>
          <a:solidFill>
            <a:srgbClr val="151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22288A21-60C7-C139-A247-DC9BC3FD3E52}"/>
              </a:ext>
            </a:extLst>
          </p:cNvPr>
          <p:cNvGrpSpPr/>
          <p:nvPr/>
        </p:nvGrpSpPr>
        <p:grpSpPr>
          <a:xfrm>
            <a:off x="5286064" y="3772997"/>
            <a:ext cx="1934257" cy="662664"/>
            <a:chOff x="5185984" y="3712612"/>
            <a:chExt cx="1934257" cy="662664"/>
          </a:xfrm>
        </p:grpSpPr>
        <p:sp>
          <p:nvSpPr>
            <p:cNvPr id="9" name="正方形/長方形 8"/>
            <p:cNvSpPr/>
            <p:nvPr/>
          </p:nvSpPr>
          <p:spPr>
            <a:xfrm>
              <a:off x="5185984" y="3859278"/>
              <a:ext cx="37702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ja-JP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×</a:t>
              </a:r>
              <a:endParaRPr lang="ja-JP" altLang="en-US" dirty="0"/>
            </a:p>
          </p:txBody>
        </p:sp>
        <p:pic>
          <p:nvPicPr>
            <p:cNvPr id="12" name="Picture 4" descr="株式会社DYM — 世界で一番社会を変える会社を創る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58024" y="3712612"/>
              <a:ext cx="1262217" cy="6626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3" name="Picture 12" descr="a1_full_la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362" y="3803904"/>
            <a:ext cx="1874557" cy="603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860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7;p2">
            <a:extLst>
              <a:ext uri="{FF2B5EF4-FFF2-40B4-BE49-F238E27FC236}">
                <a16:creationId xmlns:a16="http://schemas.microsoft.com/office/drawing/2014/main" id="{352DFCD7-1D17-ECBA-6B6B-640BED3836CD}"/>
              </a:ext>
            </a:extLst>
          </p:cNvPr>
          <p:cNvSpPr txBox="1"/>
          <p:nvPr/>
        </p:nvSpPr>
        <p:spPr>
          <a:xfrm>
            <a:off x="1170567" y="3136631"/>
            <a:ext cx="2566932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iryo"/>
                <a:ea typeface="Meiryo"/>
                <a:cs typeface="Meiryo"/>
                <a:sym typeface="Meiryo"/>
              </a:rPr>
              <a:t>目次</a:t>
            </a:r>
            <a:endParaRPr sz="3200" b="1" dirty="0">
              <a:solidFill>
                <a:schemeClr val="tx1">
                  <a:lumMod val="75000"/>
                  <a:lumOff val="25000"/>
                </a:schemeClr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3A2F6FA-77D0-A271-D854-6929ADBED07E}"/>
              </a:ext>
            </a:extLst>
          </p:cNvPr>
          <p:cNvSpPr/>
          <p:nvPr/>
        </p:nvSpPr>
        <p:spPr>
          <a:xfrm>
            <a:off x="4926594" y="1210900"/>
            <a:ext cx="62651" cy="4436198"/>
          </a:xfrm>
          <a:prstGeom prst="rect">
            <a:avLst/>
          </a:prstGeom>
          <a:solidFill>
            <a:srgbClr val="2433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92E8983-8218-01B9-9CD5-932DF916F290}"/>
              </a:ext>
            </a:extLst>
          </p:cNvPr>
          <p:cNvSpPr txBox="1"/>
          <p:nvPr/>
        </p:nvSpPr>
        <p:spPr>
          <a:xfrm>
            <a:off x="5559552" y="1371600"/>
            <a:ext cx="4754880" cy="457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algn="l" rtl="0">
              <a:spcBef>
                <a:spcPts val="120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Pct val="150000"/>
            </a:pPr>
            <a:r>
              <a:rPr sz="2400" b="1">
                <a:latin typeface="Meiryo"/>
              </a:rPr>
              <a:t>弊社のご紹介</a:t>
            </a:r>
            <a:endParaRPr kumimoji="1" lang="en-US" altLang="ja-JP" sz="2400" b="1" dirty="0">
              <a:solidFill>
                <a:schemeClr val="tx1">
                  <a:lumMod val="75000"/>
                  <a:lumOff val="25000"/>
                </a:schemeClr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8BFE4A0-282F-6F07-2D19-C145541699B5}"/>
              </a:ext>
            </a:extLst>
          </p:cNvPr>
          <p:cNvSpPr txBox="1"/>
          <p:nvPr/>
        </p:nvSpPr>
        <p:spPr>
          <a:xfrm>
            <a:off x="5559552" y="2148840"/>
            <a:ext cx="4754880" cy="457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algn="l" rtl="0">
              <a:spcBef>
                <a:spcPts val="120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Pct val="150000"/>
            </a:pPr>
            <a:r>
              <a:rPr sz="2400" b="1">
                <a:latin typeface="Meiryo"/>
              </a:rPr>
              <a:t>提案概要と実績</a:t>
            </a:r>
            <a:endParaRPr kumimoji="1" lang="en-US" altLang="ja-JP" sz="2400" b="1" dirty="0">
              <a:solidFill>
                <a:schemeClr val="tx1">
                  <a:lumMod val="75000"/>
                  <a:lumOff val="25000"/>
                </a:schemeClr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F19B48A4-8E57-5462-3F3F-2424A5BB1AAE}"/>
              </a:ext>
            </a:extLst>
          </p:cNvPr>
          <p:cNvSpPr txBox="1"/>
          <p:nvPr/>
        </p:nvSpPr>
        <p:spPr>
          <a:xfrm>
            <a:off x="5559552" y="4480560"/>
            <a:ext cx="4754880" cy="457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algn="l" rtl="0">
              <a:spcBef>
                <a:spcPts val="120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Pct val="150000"/>
            </a:pPr>
            <a:r>
              <a:rPr sz="2400" b="1">
                <a:latin typeface="Meiryo"/>
              </a:rPr>
              <a:t>配信シミュレーション</a:t>
            </a:r>
            <a:endParaRPr kumimoji="1" lang="en-US" altLang="ja-JP" sz="2400" b="1" dirty="0">
              <a:solidFill>
                <a:schemeClr val="tx1">
                  <a:lumMod val="75000"/>
                  <a:lumOff val="25000"/>
                </a:schemeClr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8E6476A8-E44B-56D8-EA86-DB542A52992E}"/>
              </a:ext>
            </a:extLst>
          </p:cNvPr>
          <p:cNvSpPr txBox="1"/>
          <p:nvPr/>
        </p:nvSpPr>
        <p:spPr>
          <a:xfrm>
            <a:off x="5559552" y="5257800"/>
            <a:ext cx="4754880" cy="457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algn="l" rtl="0">
              <a:spcBef>
                <a:spcPts val="120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Pct val="150000"/>
            </a:pPr>
            <a:r>
              <a:rPr sz="2400" b="1">
                <a:latin typeface="Meiryo"/>
              </a:rPr>
              <a:t>体制について</a:t>
            </a:r>
            <a:endParaRPr kumimoji="1" lang="en-US" altLang="ja-JP" sz="2400" b="1" dirty="0">
              <a:solidFill>
                <a:schemeClr val="tx1">
                  <a:lumMod val="75000"/>
                  <a:lumOff val="25000"/>
                </a:schemeClr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33996C6-7085-76B9-1EFA-44D61B2A8E73}"/>
              </a:ext>
            </a:extLst>
          </p:cNvPr>
          <p:cNvSpPr txBox="1"/>
          <p:nvPr/>
        </p:nvSpPr>
        <p:spPr>
          <a:xfrm>
            <a:off x="5559552" y="3703320"/>
            <a:ext cx="4754880" cy="457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algn="l" rtl="0">
              <a:spcBef>
                <a:spcPts val="120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Pct val="150000"/>
            </a:pPr>
            <a:r>
              <a:rPr sz="2400" b="1">
                <a:latin typeface="Meiryo"/>
              </a:rPr>
              <a:t>検索広告のご提案</a:t>
            </a:r>
            <a:endParaRPr kumimoji="1" lang="en-US" altLang="ja-JP" sz="2400" b="1" dirty="0">
              <a:solidFill>
                <a:schemeClr val="tx1">
                  <a:lumMod val="75000"/>
                  <a:lumOff val="25000"/>
                </a:schemeClr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A698A79-6E89-D3F1-868B-AB1D7060F6A4}"/>
              </a:ext>
            </a:extLst>
          </p:cNvPr>
          <p:cNvSpPr txBox="1"/>
          <p:nvPr/>
        </p:nvSpPr>
        <p:spPr>
          <a:xfrm>
            <a:off x="5559552" y="2926080"/>
            <a:ext cx="4754880" cy="457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algn="l" rtl="0">
              <a:spcBef>
                <a:spcPts val="1200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Pct val="150000"/>
            </a:pPr>
            <a:r>
              <a:rPr sz="2400" b="1">
                <a:latin typeface="Meiryo"/>
              </a:rPr>
              <a:t>市場調査・競合調査</a:t>
            </a:r>
            <a:endParaRPr kumimoji="1" lang="en-US" altLang="ja-JP" sz="2400" b="1" dirty="0">
              <a:solidFill>
                <a:schemeClr val="tx1">
                  <a:lumMod val="75000"/>
                  <a:lumOff val="25000"/>
                </a:schemeClr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ADEC9-3AA0-CE9B-729E-2A37D8DCC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53F0AFF7-8167-4CD6-88CB-40687DA87964}"/>
              </a:ext>
            </a:extLst>
          </p:cNvPr>
          <p:cNvSpPr txBox="1"/>
          <p:nvPr/>
        </p:nvSpPr>
        <p:spPr>
          <a:xfrm>
            <a:off x="0" y="3092281"/>
            <a:ext cx="9906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b="1" spc="740" dirty="0">
                <a:solidFill>
                  <a:schemeClr val="tx2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 UI" panose="020B0604030504040204" pitchFamily="50" charset="-128"/>
              </a:rPr>
              <a:t>弊社のご紹介</a:t>
            </a:r>
            <a:endParaRPr kumimoji="1" lang="en-US" altLang="ja-JP" sz="3200" b="1" spc="740" dirty="0">
              <a:solidFill>
                <a:schemeClr val="tx2">
                  <a:lumMod val="7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CEBB660-6A2B-C567-82B4-AE6D46ABEEA4}"/>
              </a:ext>
            </a:extLst>
          </p:cNvPr>
          <p:cNvSpPr/>
          <p:nvPr/>
        </p:nvSpPr>
        <p:spPr>
          <a:xfrm>
            <a:off x="0" y="1134209"/>
            <a:ext cx="3807069" cy="580292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二等辺三角形 2">
            <a:extLst>
              <a:ext uri="{FF2B5EF4-FFF2-40B4-BE49-F238E27FC236}">
                <a16:creationId xmlns:a16="http://schemas.microsoft.com/office/drawing/2014/main" id="{917393C5-431A-CBC0-8A2C-4ED8B735066D}"/>
              </a:ext>
            </a:extLst>
          </p:cNvPr>
          <p:cNvSpPr/>
          <p:nvPr/>
        </p:nvSpPr>
        <p:spPr>
          <a:xfrm>
            <a:off x="3437792" y="1134209"/>
            <a:ext cx="738553" cy="580292"/>
          </a:xfrm>
          <a:prstGeom prst="triangl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FB12405-9CA7-2DED-AD1F-9A1AAAD18FEC}"/>
              </a:ext>
            </a:extLst>
          </p:cNvPr>
          <p:cNvSpPr txBox="1"/>
          <p:nvPr/>
        </p:nvSpPr>
        <p:spPr>
          <a:xfrm>
            <a:off x="287216" y="1266065"/>
            <a:ext cx="31154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 UI" panose="020B0604030504040204" pitchFamily="50" charset="-128"/>
              </a:rPr>
              <a:t>Chapter.1</a:t>
            </a:r>
            <a:endParaRPr kumimoji="1" lang="ja-JP" altLang="en-US" sz="14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8E59366-8380-4F50-2B77-2DBF8810BCB2}"/>
              </a:ext>
            </a:extLst>
          </p:cNvPr>
          <p:cNvSpPr/>
          <p:nvPr/>
        </p:nvSpPr>
        <p:spPr>
          <a:xfrm>
            <a:off x="0" y="0"/>
            <a:ext cx="9906000" cy="6926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21735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/>
          <p:nvPr/>
        </p:nvSpPr>
        <p:spPr>
          <a:xfrm>
            <a:off x="6169424" y="2959994"/>
            <a:ext cx="3094400" cy="3408703"/>
          </a:xfrm>
          <a:prstGeom prst="rect">
            <a:avLst/>
          </a:prstGeom>
        </p:spPr>
        <p:txBody>
          <a:bodyPr vert="horz" wrap="square" lIns="0" tIns="29922" rIns="0" bIns="0" rtlCol="0">
            <a:spAutoFit/>
          </a:bodyPr>
          <a:lstStyle/>
          <a:p>
            <a:pPr marL="86826" indent="-80323">
              <a:spcBef>
                <a:spcPts val="235"/>
              </a:spcBef>
              <a:buSzPct val="91666"/>
              <a:buChar char="■"/>
              <a:tabLst>
                <a:tab pos="86826" algn="l"/>
              </a:tabLst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DYMメディカルセンターベトナム（ベトナム・ホーチミン1区院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）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 marR="377549">
              <a:lnSpc>
                <a:spcPct val="125000"/>
              </a:lnSpc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Unit</a:t>
            </a:r>
            <a:r>
              <a:rPr sz="614" spc="8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B103,</a:t>
            </a:r>
            <a:r>
              <a:rPr sz="614" spc="8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m</a:t>
            </a:r>
            <a:r>
              <a:rPr sz="614" spc="8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plaza,39</a:t>
            </a:r>
            <a:r>
              <a:rPr sz="614" spc="8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Le</a:t>
            </a:r>
            <a:r>
              <a:rPr sz="614" spc="8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Duan</a:t>
            </a:r>
            <a:r>
              <a:rPr sz="614" spc="8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Street,</a:t>
            </a:r>
            <a:r>
              <a:rPr sz="614" spc="8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Ben</a:t>
            </a:r>
            <a:r>
              <a:rPr sz="614" spc="8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Nghe</a:t>
            </a:r>
            <a:r>
              <a:rPr sz="614" spc="8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Ward,</a:t>
            </a:r>
            <a:r>
              <a:rPr sz="614" spc="7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District</a:t>
            </a:r>
            <a:r>
              <a:rPr sz="614" spc="89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spc="-1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1,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Ho</a:t>
            </a:r>
            <a:r>
              <a:rPr sz="614" spc="59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Chi</a:t>
            </a:r>
            <a:r>
              <a:rPr sz="614" spc="62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Minh</a:t>
            </a:r>
            <a:r>
              <a:rPr sz="614" spc="62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City,</a:t>
            </a:r>
            <a:r>
              <a:rPr sz="614" spc="62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spc="-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Vietnam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>
              <a:spcBef>
                <a:spcPts val="184"/>
              </a:spcBef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TEL︓+84</a:t>
            </a:r>
            <a:r>
              <a:rPr sz="614" spc="10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(0)28</a:t>
            </a:r>
            <a:r>
              <a:rPr sz="614" spc="10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3521</a:t>
            </a:r>
            <a:r>
              <a:rPr sz="614" spc="10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spc="-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0172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86826" indent="-80323">
              <a:spcBef>
                <a:spcPts val="646"/>
              </a:spcBef>
              <a:buSzPct val="91666"/>
              <a:buChar char="■"/>
              <a:tabLst>
                <a:tab pos="86826" algn="l"/>
              </a:tabLst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DYMベトナム（ベトナム・ホーチミン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）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 marR="2601">
              <a:lnSpc>
                <a:spcPct val="125000"/>
              </a:lnSpc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Đ.</a:t>
            </a:r>
            <a:r>
              <a:rPr sz="614" spc="79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Võ</a:t>
            </a:r>
            <a:r>
              <a:rPr sz="614" spc="79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Văn</a:t>
            </a:r>
            <a:r>
              <a:rPr sz="614" spc="79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Ki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Arial"/>
              </a:rPr>
              <a:t>ệ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t,</a:t>
            </a:r>
            <a:r>
              <a:rPr sz="614" spc="79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Ph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Arial"/>
              </a:rPr>
              <a:t>ườ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ng</a:t>
            </a:r>
            <a:r>
              <a:rPr sz="614" spc="79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Cô</a:t>
            </a:r>
            <a:r>
              <a:rPr sz="614" spc="82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Giang,</a:t>
            </a:r>
            <a:r>
              <a:rPr sz="614" spc="79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Qu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Arial"/>
              </a:rPr>
              <a:t>ậ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n</a:t>
            </a:r>
            <a:r>
              <a:rPr sz="614" spc="79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1,</a:t>
            </a:r>
            <a:r>
              <a:rPr sz="614" spc="79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Thành</a:t>
            </a:r>
            <a:r>
              <a:rPr sz="614" spc="79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ph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Arial"/>
              </a:rPr>
              <a:t>ố</a:t>
            </a:r>
            <a:r>
              <a:rPr sz="614" spc="118" dirty="0">
                <a:latin typeface="Meiryo" panose="020B0604030504040204" pitchFamily="34" charset="-128"/>
                <a:ea typeface="Meiryo" panose="020B0604030504040204" pitchFamily="34" charset="-128"/>
                <a:cs typeface="Arial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H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Arial"/>
              </a:rPr>
              <a:t>ồ</a:t>
            </a:r>
            <a:r>
              <a:rPr sz="614" spc="121" dirty="0">
                <a:latin typeface="Meiryo" panose="020B0604030504040204" pitchFamily="34" charset="-128"/>
                <a:ea typeface="Meiryo" panose="020B0604030504040204" pitchFamily="34" charset="-128"/>
                <a:cs typeface="Arial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Chí</a:t>
            </a:r>
            <a:r>
              <a:rPr sz="614" spc="79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Minh,</a:t>
            </a:r>
            <a:r>
              <a:rPr sz="614" spc="79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spc="-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Vietnam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Samco</a:t>
            </a:r>
            <a:r>
              <a:rPr sz="614" spc="9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spc="-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Building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>
              <a:spcBef>
                <a:spcPts val="184"/>
              </a:spcBef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TEL︓+84</a:t>
            </a:r>
            <a:r>
              <a:rPr sz="614" spc="10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(0)28</a:t>
            </a:r>
            <a:r>
              <a:rPr sz="614" spc="10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3838</a:t>
            </a:r>
            <a:r>
              <a:rPr sz="614" spc="10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spc="-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6675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86826" indent="-80323">
              <a:spcBef>
                <a:spcPts val="646"/>
              </a:spcBef>
              <a:buSzPct val="91666"/>
              <a:buChar char="■"/>
              <a:tabLst>
                <a:tab pos="86826" algn="l"/>
              </a:tabLst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DYMアメリカ（アメリカ・ニューヨーク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）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 marR="973302">
              <a:lnSpc>
                <a:spcPct val="125000"/>
              </a:lnSpc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315</a:t>
            </a:r>
            <a:r>
              <a:rPr sz="614" spc="9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Madison</a:t>
            </a:r>
            <a:r>
              <a:rPr sz="614" spc="9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Avenue,Floor</a:t>
            </a:r>
            <a:r>
              <a:rPr sz="614" spc="9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17th</a:t>
            </a:r>
            <a:r>
              <a:rPr sz="614" spc="9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New</a:t>
            </a:r>
            <a:r>
              <a:rPr sz="614" spc="9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York</a:t>
            </a:r>
            <a:r>
              <a:rPr sz="614" spc="9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NY</a:t>
            </a:r>
            <a:r>
              <a:rPr sz="614" spc="9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spc="-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10017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TEL︓+84</a:t>
            </a:r>
            <a:r>
              <a:rPr sz="614" spc="10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(0)28</a:t>
            </a:r>
            <a:r>
              <a:rPr sz="614" spc="10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3838</a:t>
            </a:r>
            <a:r>
              <a:rPr sz="614" spc="10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spc="-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6675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86826" indent="-80323">
              <a:spcBef>
                <a:spcPts val="646"/>
              </a:spcBef>
              <a:buSzPct val="91666"/>
              <a:buChar char="■"/>
              <a:tabLst>
                <a:tab pos="86826" algn="l"/>
              </a:tabLst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DYM⾹港（太古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）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 marR="247471">
              <a:lnSpc>
                <a:spcPct val="125000"/>
              </a:lnSpc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Room</a:t>
            </a:r>
            <a:r>
              <a:rPr sz="614" spc="1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1302,13/F,Kornhill</a:t>
            </a:r>
            <a:r>
              <a:rPr sz="614" spc="1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PlazaOffice</a:t>
            </a:r>
            <a:r>
              <a:rPr sz="614" spc="11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Tower</a:t>
            </a:r>
            <a:r>
              <a:rPr sz="614" spc="1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1</a:t>
            </a:r>
            <a:r>
              <a:rPr sz="614" spc="1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Kornhill</a:t>
            </a:r>
            <a:r>
              <a:rPr sz="614" spc="11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road</a:t>
            </a:r>
            <a:r>
              <a:rPr sz="614" spc="1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Quarry</a:t>
            </a:r>
            <a:r>
              <a:rPr sz="614" spc="1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spc="-1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Bay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TEL︓+852-2651-</a:t>
            </a:r>
            <a:r>
              <a:rPr sz="614" spc="-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2121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86826" indent="-80323">
              <a:spcBef>
                <a:spcPts val="646"/>
              </a:spcBef>
              <a:buSzPct val="91666"/>
              <a:buChar char="■"/>
              <a:tabLst>
                <a:tab pos="86826" algn="l"/>
              </a:tabLst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DYMタイ（タイ・バンコク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）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 marR="20162">
              <a:lnSpc>
                <a:spcPct val="125000"/>
              </a:lnSpc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No.139,</a:t>
            </a:r>
            <a:r>
              <a:rPr sz="614" spc="8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RQ49</a:t>
            </a:r>
            <a:r>
              <a:rPr sz="614" spc="8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building</a:t>
            </a:r>
            <a:r>
              <a:rPr sz="614" spc="8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4</a:t>
            </a:r>
            <a:r>
              <a:rPr sz="614" spc="8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Floor,</a:t>
            </a:r>
            <a:r>
              <a:rPr sz="614" spc="8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Room</a:t>
            </a:r>
            <a:r>
              <a:rPr sz="614" spc="8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No.</a:t>
            </a:r>
            <a:r>
              <a:rPr sz="614" spc="8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541,</a:t>
            </a:r>
            <a:r>
              <a:rPr sz="614" spc="8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Soi</a:t>
            </a:r>
            <a:r>
              <a:rPr sz="614" spc="8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Sukhumvit</a:t>
            </a:r>
            <a:r>
              <a:rPr sz="614" spc="8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49,</a:t>
            </a:r>
            <a:r>
              <a:rPr sz="614" spc="8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spc="-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Klongton-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Nua,</a:t>
            </a:r>
            <a:r>
              <a:rPr sz="614" spc="15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Wattana,Bangkok</a:t>
            </a:r>
            <a:r>
              <a:rPr sz="614" spc="15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spc="-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10110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>
              <a:spcBef>
                <a:spcPts val="184"/>
              </a:spcBef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TEL︓+66</a:t>
            </a:r>
            <a:r>
              <a:rPr sz="614" spc="38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(0)94-725-</a:t>
            </a:r>
            <a:r>
              <a:rPr sz="614" spc="-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2301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86826" indent="-80323">
              <a:spcBef>
                <a:spcPts val="646"/>
              </a:spcBef>
              <a:buSzPct val="91666"/>
              <a:buChar char="■"/>
              <a:tabLst>
                <a:tab pos="86826" algn="l"/>
              </a:tabLst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DYMインターナショナルクリニック（タイ・バンコク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）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 marR="52356">
              <a:lnSpc>
                <a:spcPct val="125000"/>
              </a:lnSpc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593/29-41Soi</a:t>
            </a:r>
            <a:r>
              <a:rPr sz="614" spc="108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Sukhumvit</a:t>
            </a:r>
            <a:r>
              <a:rPr sz="614" spc="1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33/1,</a:t>
            </a:r>
            <a:r>
              <a:rPr sz="614" spc="1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Sukhumvit</a:t>
            </a:r>
            <a:r>
              <a:rPr sz="614" spc="108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Rd.,</a:t>
            </a:r>
            <a:r>
              <a:rPr sz="614" spc="1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Khlong</a:t>
            </a:r>
            <a:r>
              <a:rPr sz="614" spc="1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Tan</a:t>
            </a:r>
            <a:r>
              <a:rPr sz="614" spc="1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Nua,</a:t>
            </a:r>
            <a:r>
              <a:rPr sz="614" spc="108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spc="-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Watthana,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Bangkok</a:t>
            </a:r>
            <a:r>
              <a:rPr sz="614" spc="122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spc="-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10110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>
              <a:spcBef>
                <a:spcPts val="184"/>
              </a:spcBef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TEL︓+66(0)2-107-</a:t>
            </a:r>
            <a:r>
              <a:rPr sz="614" spc="-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1039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86826" indent="-80323">
              <a:spcBef>
                <a:spcPts val="646"/>
              </a:spcBef>
              <a:buSzPct val="91666"/>
              <a:buChar char="■"/>
              <a:tabLst>
                <a:tab pos="86826" algn="l"/>
              </a:tabLst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DYMメディカルクリニックインドネシア（インドネシア・ジャカルタ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）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 marR="70892">
              <a:lnSpc>
                <a:spcPct val="125000"/>
              </a:lnSpc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Menara</a:t>
            </a:r>
            <a:r>
              <a:rPr sz="614" spc="89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Astra</a:t>
            </a:r>
            <a:r>
              <a:rPr sz="614" spc="92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Lantai</a:t>
            </a:r>
            <a:r>
              <a:rPr sz="614" spc="92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3,</a:t>
            </a:r>
            <a:r>
              <a:rPr sz="614" spc="92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Jl.</a:t>
            </a:r>
            <a:r>
              <a:rPr sz="614" spc="92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Jenderal</a:t>
            </a:r>
            <a:r>
              <a:rPr sz="614" spc="92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Sudirman</a:t>
            </a:r>
            <a:r>
              <a:rPr sz="614" spc="92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KAV</a:t>
            </a:r>
            <a:r>
              <a:rPr sz="614" spc="92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5-6</a:t>
            </a:r>
            <a:r>
              <a:rPr sz="614" spc="92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Karet</a:t>
            </a:r>
            <a:r>
              <a:rPr sz="614" spc="92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spc="-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Tengsin,Tanah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Abang,</a:t>
            </a:r>
            <a:r>
              <a:rPr sz="614" spc="118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Jakarta</a:t>
            </a:r>
            <a:r>
              <a:rPr sz="614" spc="118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Pusat</a:t>
            </a:r>
            <a:r>
              <a:rPr sz="614" spc="118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spc="-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1022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>
              <a:spcBef>
                <a:spcPts val="184"/>
              </a:spcBef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TEL︓62-(0)21-8665-</a:t>
            </a:r>
            <a:r>
              <a:rPr sz="614" spc="-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6830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40111" y="913464"/>
            <a:ext cx="1419378" cy="101082"/>
          </a:xfrm>
          <a:prstGeom prst="rect">
            <a:avLst/>
          </a:prstGeom>
        </p:spPr>
        <p:txBody>
          <a:bodyPr vert="horz" wrap="square" lIns="0" tIns="6505" rIns="0" bIns="0" rtlCol="0">
            <a:spAutoFit/>
          </a:bodyPr>
          <a:lstStyle/>
          <a:p>
            <a:pPr marL="6503">
              <a:spcBef>
                <a:spcPts val="51"/>
              </a:spcBef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株式会社DYM</a:t>
            </a:r>
            <a:r>
              <a:rPr sz="614" spc="2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(英語表記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DYM</a:t>
            </a:r>
            <a:r>
              <a:rPr sz="614" spc="9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spc="-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co.,ltd)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0003" y="906958"/>
            <a:ext cx="486570" cy="812110"/>
          </a:xfrm>
          <a:prstGeom prst="rect">
            <a:avLst/>
          </a:prstGeom>
        </p:spPr>
        <p:txBody>
          <a:bodyPr vert="horz" wrap="square" lIns="0" tIns="6505" rIns="0" bIns="0" rtlCol="0">
            <a:spAutoFit/>
          </a:bodyPr>
          <a:lstStyle/>
          <a:p>
            <a:pPr marL="6503" algn="just">
              <a:spcBef>
                <a:spcPts val="51"/>
              </a:spcBef>
            </a:pPr>
            <a:r>
              <a:rPr sz="717" b="1" spc="138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名     称</a:t>
            </a:r>
            <a:endParaRPr sz="717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 marR="2601" algn="just">
              <a:lnSpc>
                <a:spcPct val="220200"/>
              </a:lnSpc>
            </a:pPr>
            <a:r>
              <a:rPr sz="717" b="1" spc="24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代表取締役</a:t>
            </a:r>
            <a:r>
              <a:rPr sz="717" b="1" spc="-5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従 業 員 数</a:t>
            </a:r>
            <a:r>
              <a:rPr sz="717" b="1" spc="16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会 社 設 ⽴</a:t>
            </a:r>
            <a:endParaRPr sz="717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40110" y="1160653"/>
            <a:ext cx="332403" cy="101082"/>
          </a:xfrm>
          <a:prstGeom prst="rect">
            <a:avLst/>
          </a:prstGeom>
        </p:spPr>
        <p:txBody>
          <a:bodyPr vert="horz" wrap="square" lIns="0" tIns="6505" rIns="0" bIns="0" rtlCol="0">
            <a:spAutoFit/>
          </a:bodyPr>
          <a:lstStyle/>
          <a:p>
            <a:pPr marL="6503">
              <a:spcBef>
                <a:spcPts val="51"/>
              </a:spcBef>
            </a:pPr>
            <a:r>
              <a:rPr sz="614" spc="-8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⽔⾕佑毅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40110" y="1401334"/>
            <a:ext cx="1826588" cy="101082"/>
          </a:xfrm>
          <a:prstGeom prst="rect">
            <a:avLst/>
          </a:prstGeom>
        </p:spPr>
        <p:txBody>
          <a:bodyPr vert="horz" wrap="square" lIns="0" tIns="6505" rIns="0" bIns="0" rtlCol="0">
            <a:spAutoFit/>
          </a:bodyPr>
          <a:lstStyle/>
          <a:p>
            <a:pPr marL="6503">
              <a:spcBef>
                <a:spcPts val="51"/>
              </a:spcBef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連結2,744名、単体682名（2025年4⽉1⽇現在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）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40110" y="1642018"/>
            <a:ext cx="607887" cy="101082"/>
          </a:xfrm>
          <a:prstGeom prst="rect">
            <a:avLst/>
          </a:prstGeom>
        </p:spPr>
        <p:txBody>
          <a:bodyPr vert="horz" wrap="square" lIns="0" tIns="6505" rIns="0" bIns="0" rtlCol="0">
            <a:spAutoFit/>
          </a:bodyPr>
          <a:lstStyle/>
          <a:p>
            <a:pPr marL="6503">
              <a:spcBef>
                <a:spcPts val="51"/>
              </a:spcBef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2003年8⽉22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⽇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40110" y="1882700"/>
            <a:ext cx="404608" cy="101082"/>
          </a:xfrm>
          <a:prstGeom prst="rect">
            <a:avLst/>
          </a:prstGeom>
        </p:spPr>
        <p:txBody>
          <a:bodyPr vert="horz" wrap="square" lIns="0" tIns="6505" rIns="0" bIns="0" rtlCol="0">
            <a:spAutoFit/>
          </a:bodyPr>
          <a:lstStyle/>
          <a:p>
            <a:pPr marL="6503">
              <a:spcBef>
                <a:spcPts val="51"/>
              </a:spcBef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5,000</a:t>
            </a:r>
            <a:r>
              <a:rPr sz="614" spc="-1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万円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40003" y="1869690"/>
            <a:ext cx="477462" cy="355510"/>
          </a:xfrm>
          <a:prstGeom prst="rect">
            <a:avLst/>
          </a:prstGeom>
        </p:spPr>
        <p:txBody>
          <a:bodyPr vert="horz" wrap="square" lIns="0" tIns="6505" rIns="0" bIns="0" rtlCol="0">
            <a:spAutoFit/>
          </a:bodyPr>
          <a:lstStyle/>
          <a:p>
            <a:pPr marL="6503">
              <a:spcBef>
                <a:spcPts val="51"/>
              </a:spcBef>
              <a:tabLst>
                <a:tab pos="192839" algn="l"/>
                <a:tab pos="379500" algn="l"/>
              </a:tabLst>
            </a:pPr>
            <a:r>
              <a:rPr sz="717" b="1" spc="-26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資</a:t>
            </a:r>
            <a:r>
              <a:rPr sz="717" b="1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	</a:t>
            </a:r>
            <a:r>
              <a:rPr sz="717" b="1" spc="-26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本</a:t>
            </a:r>
            <a:r>
              <a:rPr sz="717" b="1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	</a:t>
            </a:r>
            <a:r>
              <a:rPr sz="717" b="1" spc="-26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⾦</a:t>
            </a:r>
            <a:endParaRPr sz="717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>
              <a:spcBef>
                <a:spcPts val="1034"/>
              </a:spcBef>
              <a:tabLst>
                <a:tab pos="375598" algn="l"/>
              </a:tabLst>
            </a:pPr>
            <a:r>
              <a:rPr sz="717" b="1" spc="-26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売</a:t>
            </a:r>
            <a:r>
              <a:rPr sz="717" b="1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	</a:t>
            </a:r>
            <a:r>
              <a:rPr sz="717" b="1" spc="-26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上</a:t>
            </a:r>
            <a:endParaRPr sz="717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40110" y="2067440"/>
            <a:ext cx="1403766" cy="441559"/>
          </a:xfrm>
          <a:prstGeom prst="rect">
            <a:avLst/>
          </a:prstGeom>
        </p:spPr>
        <p:txBody>
          <a:bodyPr vert="horz" wrap="square" lIns="0" tIns="6505" rIns="0" bIns="0" rtlCol="0">
            <a:spAutoFit/>
          </a:bodyPr>
          <a:lstStyle/>
          <a:p>
            <a:pPr marL="6503" marR="74144">
              <a:lnSpc>
                <a:spcPct val="152800"/>
              </a:lnSpc>
              <a:spcBef>
                <a:spcPts val="51"/>
              </a:spcBef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第23期売上⾼ 462.4</a:t>
            </a:r>
            <a:r>
              <a:rPr sz="614" spc="-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億円(連結⽬標)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第21</a:t>
            </a:r>
            <a:r>
              <a:rPr sz="614" spc="4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期売上⾼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258.0</a:t>
            </a:r>
            <a:r>
              <a:rPr sz="614" spc="-1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億円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>
              <a:spcBef>
                <a:spcPts val="389"/>
              </a:spcBef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第19</a:t>
            </a:r>
            <a:r>
              <a:rPr sz="614" spc="4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期売上⾼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161.1</a:t>
            </a:r>
            <a:r>
              <a:rPr sz="614" spc="-1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億円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006472" y="2067440"/>
            <a:ext cx="1459384" cy="455538"/>
          </a:xfrm>
          <a:prstGeom prst="rect">
            <a:avLst/>
          </a:prstGeom>
        </p:spPr>
        <p:txBody>
          <a:bodyPr vert="horz" wrap="square" lIns="0" tIns="6505" rIns="0" bIns="0" rtlCol="0">
            <a:spAutoFit/>
          </a:bodyPr>
          <a:lstStyle/>
          <a:p>
            <a:pPr marL="6503" marR="194791" indent="15284">
              <a:lnSpc>
                <a:spcPct val="152800"/>
              </a:lnSpc>
              <a:spcBef>
                <a:spcPts val="51"/>
              </a:spcBef>
            </a:pPr>
            <a:r>
              <a:rPr lang="ja-JP" altLang="en-US" sz="617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第</a:t>
            </a:r>
            <a:r>
              <a:rPr lang="en-US" altLang="ja-JP" sz="61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22</a:t>
            </a:r>
            <a:r>
              <a:rPr lang="ja-JP" altLang="en-US" sz="617" spc="43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期売上⾼ </a:t>
            </a:r>
            <a:r>
              <a:rPr lang="en-US" sz="61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324.6</a:t>
            </a:r>
            <a:r>
              <a:rPr sz="61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億円</a:t>
            </a:r>
            <a:endParaRPr lang="en-US" sz="617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 marR="194791" indent="15284">
              <a:lnSpc>
                <a:spcPct val="152800"/>
              </a:lnSpc>
              <a:spcBef>
                <a:spcPts val="51"/>
              </a:spcBef>
            </a:pPr>
            <a:r>
              <a:rPr sz="61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第20</a:t>
            </a:r>
            <a:r>
              <a:rPr sz="617" spc="4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期売上⾼</a:t>
            </a:r>
            <a:r>
              <a:rPr lang="ja-JP" altLang="en-US" sz="617" spc="43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212.6</a:t>
            </a:r>
            <a:r>
              <a:rPr sz="617" spc="-1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億円</a:t>
            </a:r>
            <a:endParaRPr lang="en-US" sz="617" spc="-13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 marR="194791" indent="15284">
              <a:lnSpc>
                <a:spcPct val="152800"/>
              </a:lnSpc>
              <a:spcBef>
                <a:spcPts val="51"/>
              </a:spcBef>
            </a:pPr>
            <a:r>
              <a:rPr lang="ja-JP" altLang="en-US" sz="617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第</a:t>
            </a:r>
            <a:r>
              <a:rPr lang="en-US" altLang="ja-JP" sz="61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18</a:t>
            </a:r>
            <a:r>
              <a:rPr lang="ja-JP" altLang="en-US" sz="617" spc="43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期売上⾼ </a:t>
            </a:r>
            <a:r>
              <a:rPr lang="en-US" altLang="ja-JP" sz="61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134.2</a:t>
            </a:r>
            <a:r>
              <a:rPr lang="ja-JP" altLang="en-US" sz="617" spc="-13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億円</a:t>
            </a:r>
            <a:endParaRPr lang="ja-JP" altLang="en-US" sz="617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349802" y="2963897"/>
            <a:ext cx="486570" cy="116920"/>
          </a:xfrm>
          <a:prstGeom prst="rect">
            <a:avLst/>
          </a:prstGeom>
        </p:spPr>
        <p:txBody>
          <a:bodyPr vert="horz" wrap="square" lIns="0" tIns="6505" rIns="0" bIns="0" rtlCol="0">
            <a:spAutoFit/>
          </a:bodyPr>
          <a:lstStyle/>
          <a:p>
            <a:pPr marL="6503">
              <a:spcBef>
                <a:spcPts val="51"/>
              </a:spcBef>
            </a:pPr>
            <a:r>
              <a:rPr sz="717" b="1" spc="16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関 連 会 社</a:t>
            </a:r>
            <a:endParaRPr sz="717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40003" y="3144658"/>
            <a:ext cx="477462" cy="116920"/>
          </a:xfrm>
          <a:prstGeom prst="rect">
            <a:avLst/>
          </a:prstGeom>
        </p:spPr>
        <p:txBody>
          <a:bodyPr vert="horz" wrap="square" lIns="0" tIns="6505" rIns="0" bIns="0" rtlCol="0">
            <a:spAutoFit/>
          </a:bodyPr>
          <a:lstStyle/>
          <a:p>
            <a:pPr marL="6503">
              <a:spcBef>
                <a:spcPts val="51"/>
              </a:spcBef>
              <a:tabLst>
                <a:tab pos="192839" algn="l"/>
                <a:tab pos="379500" algn="l"/>
              </a:tabLst>
            </a:pPr>
            <a:r>
              <a:rPr sz="717" b="1" spc="-26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所</a:t>
            </a:r>
            <a:r>
              <a:rPr sz="717" b="1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	</a:t>
            </a:r>
            <a:r>
              <a:rPr sz="717" b="1" spc="-26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在</a:t>
            </a:r>
            <a:r>
              <a:rPr sz="717" b="1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	</a:t>
            </a:r>
            <a:r>
              <a:rPr sz="717" b="1" spc="-26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地</a:t>
            </a:r>
            <a:endParaRPr sz="717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40003" y="2624263"/>
            <a:ext cx="486570" cy="116920"/>
          </a:xfrm>
          <a:prstGeom prst="rect">
            <a:avLst/>
          </a:prstGeom>
        </p:spPr>
        <p:txBody>
          <a:bodyPr vert="horz" wrap="square" lIns="0" tIns="6505" rIns="0" bIns="0" rtlCol="0">
            <a:spAutoFit/>
          </a:bodyPr>
          <a:lstStyle/>
          <a:p>
            <a:pPr marL="6503">
              <a:spcBef>
                <a:spcPts val="51"/>
              </a:spcBef>
            </a:pPr>
            <a:r>
              <a:rPr sz="717" b="1" spc="16" dirty="0">
                <a:solidFill>
                  <a:srgbClr val="1F2B5C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事 業 内 容</a:t>
            </a:r>
            <a:endParaRPr sz="717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546615" y="2773878"/>
            <a:ext cx="2942835" cy="101082"/>
          </a:xfrm>
          <a:prstGeom prst="rect">
            <a:avLst/>
          </a:prstGeom>
        </p:spPr>
        <p:txBody>
          <a:bodyPr vert="horz" wrap="square" lIns="0" tIns="6505" rIns="0" bIns="0" rtlCol="0">
            <a:spAutoFit/>
          </a:bodyPr>
          <a:lstStyle/>
          <a:p>
            <a:pPr marL="6503">
              <a:spcBef>
                <a:spcPts val="51"/>
              </a:spcBef>
              <a:tabLst>
                <a:tab pos="1211993" algn="l"/>
                <a:tab pos="1330038" algn="l"/>
              </a:tabLst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ウェルフェアステーション事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業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	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/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	不動産仲介・オフィスコンサルティング事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業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546615" y="2916985"/>
            <a:ext cx="2478383" cy="3060161"/>
          </a:xfrm>
          <a:prstGeom prst="rect">
            <a:avLst/>
          </a:prstGeom>
        </p:spPr>
        <p:txBody>
          <a:bodyPr vert="horz" wrap="square" lIns="0" tIns="6505" rIns="0" bIns="0" rtlCol="0">
            <a:spAutoFit/>
          </a:bodyPr>
          <a:lstStyle/>
          <a:p>
            <a:pPr marL="6503">
              <a:spcBef>
                <a:spcPts val="51"/>
              </a:spcBef>
              <a:tabLst>
                <a:tab pos="431856" algn="l"/>
                <a:tab pos="549901" algn="l"/>
                <a:tab pos="951840" algn="l"/>
                <a:tab pos="1069559" algn="l"/>
                <a:tab pos="1632143" algn="l"/>
                <a:tab pos="1749863" algn="l"/>
              </a:tabLst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M&amp;A事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業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	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/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	医療事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業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	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/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	スポーツ事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業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	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/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	コールセンター事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業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115769" indent="-109265">
              <a:spcBef>
                <a:spcPts val="1106"/>
              </a:spcBef>
              <a:buChar char="■"/>
              <a:tabLst>
                <a:tab pos="115769" algn="l"/>
              </a:tabLst>
            </a:pPr>
            <a:r>
              <a:rPr sz="614" spc="-1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本社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 marR="104387">
              <a:lnSpc>
                <a:spcPct val="125000"/>
              </a:lnSpc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東京都品川区⼤崎1-11-2</a:t>
            </a:r>
            <a:r>
              <a:rPr sz="614" spc="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 ゲートシティ⼤崎イーストタワー 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10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階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TEL︓03-5745-</a:t>
            </a:r>
            <a:r>
              <a:rPr sz="614" spc="-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0200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115769" indent="-109265">
              <a:spcBef>
                <a:spcPts val="646"/>
              </a:spcBef>
              <a:buChar char="■"/>
              <a:tabLst>
                <a:tab pos="115769" algn="l"/>
              </a:tabLst>
            </a:pPr>
            <a:r>
              <a:rPr sz="614" spc="-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札幌事業所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 marR="696563">
              <a:lnSpc>
                <a:spcPct val="125000"/>
              </a:lnSpc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北海道札幌市北区北6条⻄1-3-8</a:t>
            </a:r>
            <a:r>
              <a:rPr sz="614" spc="217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38</a:t>
            </a:r>
            <a:r>
              <a:rPr sz="614" spc="4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⼭京ビル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7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階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TEL︓011-374-</a:t>
            </a:r>
            <a:r>
              <a:rPr sz="614" spc="-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6112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115769" indent="-109265">
              <a:spcBef>
                <a:spcPts val="646"/>
              </a:spcBef>
              <a:buChar char="■"/>
              <a:tabLst>
                <a:tab pos="115769" algn="l"/>
              </a:tabLst>
            </a:pPr>
            <a:r>
              <a:rPr sz="614" spc="-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仙台事業所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 marR="476733">
              <a:lnSpc>
                <a:spcPct val="125000"/>
              </a:lnSpc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宮城県仙台市⻘葉区花京院1-1-20</a:t>
            </a:r>
            <a:r>
              <a:rPr sz="614" spc="49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花京院スクエア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9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階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TEL︓022-797-</a:t>
            </a:r>
            <a:r>
              <a:rPr sz="614" spc="-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5205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115769" indent="-109265">
              <a:spcBef>
                <a:spcPts val="646"/>
              </a:spcBef>
              <a:buChar char="■"/>
              <a:tabLst>
                <a:tab pos="115769" algn="l"/>
              </a:tabLst>
            </a:pPr>
            <a:r>
              <a:rPr sz="614" spc="-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名古屋事業所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 marR="193489">
              <a:lnSpc>
                <a:spcPct val="125000"/>
              </a:lnSpc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愛知県名古屋市中村区名駅⼀丁⽬1番1</a:t>
            </a:r>
            <a:r>
              <a:rPr sz="614" spc="18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号 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JP</a:t>
            </a:r>
            <a:r>
              <a:rPr sz="614" spc="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タワー名古屋 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12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階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TEL︓052-485-</a:t>
            </a:r>
            <a:r>
              <a:rPr sz="614" spc="-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7676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115769" indent="-109265">
              <a:spcBef>
                <a:spcPts val="646"/>
              </a:spcBef>
              <a:buChar char="■"/>
              <a:tabLst>
                <a:tab pos="115769" algn="l"/>
              </a:tabLst>
            </a:pPr>
            <a:r>
              <a:rPr sz="614" spc="-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⼤阪事業所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 marR="565510">
              <a:lnSpc>
                <a:spcPct val="125000"/>
              </a:lnSpc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⼤阪府⼤阪市北区堂島2丁⽬2­2</a:t>
            </a:r>
            <a:r>
              <a:rPr sz="614" spc="51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近鉄堂島ビル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19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階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TEL︓06-6131-</a:t>
            </a:r>
            <a:r>
              <a:rPr sz="614" spc="-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6292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115769" indent="-109265">
              <a:spcBef>
                <a:spcPts val="646"/>
              </a:spcBef>
              <a:buChar char="■"/>
              <a:tabLst>
                <a:tab pos="115769" algn="l"/>
              </a:tabLst>
            </a:pPr>
            <a:r>
              <a:rPr sz="614" spc="-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広島事業所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 marR="483887">
              <a:lnSpc>
                <a:spcPct val="125000"/>
              </a:lnSpc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広島県広島市中区基町13-9</a:t>
            </a:r>
            <a:r>
              <a:rPr sz="614" spc="33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東洋証券広島スクエア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8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階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TEL︓082-846-</a:t>
            </a:r>
            <a:r>
              <a:rPr sz="614" spc="-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6873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115769" indent="-109265">
              <a:spcBef>
                <a:spcPts val="646"/>
              </a:spcBef>
              <a:buChar char="■"/>
              <a:tabLst>
                <a:tab pos="115769" algn="l"/>
              </a:tabLst>
            </a:pPr>
            <a:r>
              <a:rPr sz="614" spc="-5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福岡事業所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  <a:p>
            <a:pPr marL="6503" marR="586648">
              <a:lnSpc>
                <a:spcPct val="152800"/>
              </a:lnSpc>
            </a:pP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福岡県福岡市中央区天神2-14-13</a:t>
            </a:r>
            <a:r>
              <a:rPr sz="614" spc="51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 天神三井ビル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6</a:t>
            </a: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階 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TEL︓092-751-</a:t>
            </a:r>
            <a:r>
              <a:rPr sz="614" spc="-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6602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094594" y="2916986"/>
            <a:ext cx="369805" cy="101082"/>
          </a:xfrm>
          <a:prstGeom prst="rect">
            <a:avLst/>
          </a:prstGeom>
        </p:spPr>
        <p:txBody>
          <a:bodyPr vert="horz" wrap="square" lIns="0" tIns="6505" rIns="0" bIns="0" rtlCol="0">
            <a:spAutoFit/>
          </a:bodyPr>
          <a:lstStyle/>
          <a:p>
            <a:pPr marL="6503">
              <a:spcBef>
                <a:spcPts val="51"/>
              </a:spcBef>
              <a:tabLst>
                <a:tab pos="124223" algn="l"/>
              </a:tabLst>
            </a:pPr>
            <a:r>
              <a:rPr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/</a:t>
            </a:r>
            <a:r>
              <a:rPr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	</a:t>
            </a:r>
            <a:r>
              <a:rPr sz="614" spc="-10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飲⾷業</a:t>
            </a:r>
            <a:endParaRPr sz="614" dirty="0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</p:txBody>
      </p:sp>
      <p:pic>
        <p:nvPicPr>
          <p:cNvPr id="28" name="図 27" descr="講堂にいる人たち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165D9970-FA05-EC8A-5338-E713B104C1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4" t="27697" r="1459" b="1448"/>
          <a:stretch>
            <a:fillRect/>
          </a:stretch>
        </p:blipFill>
        <p:spPr>
          <a:xfrm>
            <a:off x="5349802" y="788749"/>
            <a:ext cx="4053408" cy="2000356"/>
          </a:xfrm>
          <a:prstGeom prst="rect">
            <a:avLst/>
          </a:prstGeom>
        </p:spPr>
      </p:pic>
      <p:sp>
        <p:nvSpPr>
          <p:cNvPr id="3" name="object 24">
            <a:extLst>
              <a:ext uri="{FF2B5EF4-FFF2-40B4-BE49-F238E27FC236}">
                <a16:creationId xmlns:a16="http://schemas.microsoft.com/office/drawing/2014/main" id="{F8531498-3EF8-652D-B021-8284A8139542}"/>
              </a:ext>
            </a:extLst>
          </p:cNvPr>
          <p:cNvSpPr txBox="1"/>
          <p:nvPr/>
        </p:nvSpPr>
        <p:spPr>
          <a:xfrm>
            <a:off x="1540110" y="2628313"/>
            <a:ext cx="2942835" cy="101082"/>
          </a:xfrm>
          <a:prstGeom prst="rect">
            <a:avLst/>
          </a:prstGeom>
        </p:spPr>
        <p:txBody>
          <a:bodyPr vert="horz" wrap="square" lIns="0" tIns="6505" rIns="0" bIns="0" rtlCol="0">
            <a:spAutoFit/>
          </a:bodyPr>
          <a:lstStyle/>
          <a:p>
            <a:pPr marL="13008">
              <a:spcBef>
                <a:spcPts val="1055"/>
              </a:spcBef>
              <a:tabLst>
                <a:tab pos="439986" algn="l"/>
                <a:tab pos="557705" algn="l"/>
                <a:tab pos="959644" algn="l"/>
                <a:tab pos="1077364" algn="l"/>
              </a:tabLst>
            </a:pPr>
            <a:r>
              <a:rPr lang="en" altLang="ja-JP" sz="614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WEB</a:t>
            </a:r>
            <a:r>
              <a:rPr lang="ja-JP" altLang="en-US" sz="614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事</a:t>
            </a:r>
            <a:r>
              <a:rPr lang="ja-JP" altLang="en-US" sz="614" spc="-26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業</a:t>
            </a:r>
            <a:r>
              <a:rPr lang="ja-JP" altLang="en-US" sz="614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	</a:t>
            </a:r>
            <a:r>
              <a:rPr lang="en-US" altLang="ja-JP"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/</a:t>
            </a:r>
            <a:r>
              <a:rPr lang="ja-JP" altLang="en-US" sz="614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	⼈材事</a:t>
            </a:r>
            <a:r>
              <a:rPr lang="ja-JP" altLang="en-US" sz="614" spc="-26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業</a:t>
            </a:r>
            <a:r>
              <a:rPr lang="ja-JP" altLang="en-US" sz="614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	</a:t>
            </a:r>
            <a:r>
              <a:rPr lang="en-US" altLang="ja-JP"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/</a:t>
            </a:r>
            <a:r>
              <a:rPr lang="ja-JP" altLang="en-US" sz="614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	研修事</a:t>
            </a:r>
            <a:r>
              <a:rPr lang="ja-JP" altLang="en-US" sz="614" spc="-26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業　</a:t>
            </a:r>
            <a:r>
              <a:rPr lang="en-US" altLang="ja-JP"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/</a:t>
            </a:r>
            <a:r>
              <a:rPr lang="ja-JP" altLang="en-US" sz="614" spc="-26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　</a:t>
            </a:r>
            <a:r>
              <a:rPr lang="ja-JP" altLang="en-US" sz="614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エグゼパート事</a:t>
            </a:r>
            <a:r>
              <a:rPr lang="ja-JP" altLang="en-US" sz="614" spc="-26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業　</a:t>
            </a:r>
            <a:r>
              <a:rPr lang="en-US" altLang="ja-JP" sz="614" spc="-26" dirty="0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/</a:t>
            </a:r>
            <a:r>
              <a:rPr lang="ja-JP" altLang="en-US" sz="614" spc="-26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　</a:t>
            </a:r>
            <a:r>
              <a:rPr lang="ja-JP" altLang="en-US" sz="614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投資育成事</a:t>
            </a:r>
            <a:r>
              <a:rPr lang="ja-JP" altLang="en-US" sz="614" spc="-26">
                <a:latin typeface="Meiryo" panose="020B0604030504040204" pitchFamily="34" charset="-128"/>
                <a:ea typeface="Meiryo" panose="020B0604030504040204" pitchFamily="34" charset="-128"/>
                <a:cs typeface="Meiryo"/>
              </a:rPr>
              <a:t>業</a:t>
            </a:r>
            <a:endParaRPr lang="ja-JP" altLang="en-US" sz="614">
              <a:latin typeface="Meiryo" panose="020B0604030504040204" pitchFamily="34" charset="-128"/>
              <a:ea typeface="Meiryo" panose="020B0604030504040204" pitchFamily="34" charset="-128"/>
              <a:cs typeface="Meiryo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B5DA068-01CB-743E-56E0-1783126A615C}"/>
              </a:ext>
            </a:extLst>
          </p:cNvPr>
          <p:cNvSpPr/>
          <p:nvPr/>
        </p:nvSpPr>
        <p:spPr>
          <a:xfrm>
            <a:off x="521735" y="144518"/>
            <a:ext cx="524746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1600" b="1" dirty="0">
                <a:solidFill>
                  <a:srgbClr val="191F54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会社概要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1271975-C491-492F-BE75-53251FDF4499}"/>
              </a:ext>
            </a:extLst>
          </p:cNvPr>
          <p:cNvSpPr/>
          <p:nvPr/>
        </p:nvSpPr>
        <p:spPr>
          <a:xfrm>
            <a:off x="521735" y="144518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1600" b="1" dirty="0">
                <a:solidFill>
                  <a:srgbClr val="191F54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業務範囲</a:t>
            </a:r>
          </a:p>
        </p:txBody>
      </p:sp>
      <p:pic>
        <p:nvPicPr>
          <p:cNvPr id="5" name="図 4" descr="グラフィカル ユーザー インターフェイス, アプリケーション&#10;&#10;自動的に生成された説明">
            <a:extLst>
              <a:ext uri="{FF2B5EF4-FFF2-40B4-BE49-F238E27FC236}">
                <a16:creationId xmlns:a16="http://schemas.microsoft.com/office/drawing/2014/main" id="{3EC2E04F-6D64-47B8-91F6-F5449BBED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039" y="1117819"/>
            <a:ext cx="9336947" cy="4923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06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2664B00C-F14D-91EE-EE2B-CE390B925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2788"/>
            <a:ext cx="5281651" cy="745320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6557F50E-C22C-4446-CC4B-12375AD62D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97" y="1250766"/>
            <a:ext cx="9568206" cy="5245924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8F4B95F-4E95-6689-E1EF-E9C4C4B8D8FE}"/>
              </a:ext>
            </a:extLst>
          </p:cNvPr>
          <p:cNvSpPr/>
          <p:nvPr/>
        </p:nvSpPr>
        <p:spPr>
          <a:xfrm>
            <a:off x="521735" y="144518"/>
            <a:ext cx="5950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1600" b="1" dirty="0">
                <a:solidFill>
                  <a:srgbClr val="191F54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</a:p>
        </p:txBody>
      </p:sp>
    </p:spTree>
    <p:extLst>
      <p:ext uri="{BB962C8B-B14F-4D97-AF65-F5344CB8AC3E}">
        <p14:creationId xmlns:p14="http://schemas.microsoft.com/office/powerpoint/2010/main" val="1217985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2C3D15C8-D3B0-6220-377A-AEDB99F2BA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6"/>
          <a:stretch>
            <a:fillRect/>
          </a:stretch>
        </p:blipFill>
        <p:spPr>
          <a:xfrm>
            <a:off x="0" y="1013975"/>
            <a:ext cx="9881597" cy="5485691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5CE1334-1393-1D43-894E-F405E5C0ED2E}"/>
              </a:ext>
            </a:extLst>
          </p:cNvPr>
          <p:cNvSpPr/>
          <p:nvPr/>
        </p:nvSpPr>
        <p:spPr>
          <a:xfrm>
            <a:off x="0" y="666650"/>
            <a:ext cx="4458878" cy="5561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D524B95-ACC7-282E-9EA4-FFFCEE14C4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854" y="596438"/>
            <a:ext cx="4746193" cy="696604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337628B-B04D-7C3B-0E95-D96EA8971096}"/>
              </a:ext>
            </a:extLst>
          </p:cNvPr>
          <p:cNvSpPr/>
          <p:nvPr/>
        </p:nvSpPr>
        <p:spPr>
          <a:xfrm>
            <a:off x="521735" y="144518"/>
            <a:ext cx="5950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1600" b="1" dirty="0">
                <a:solidFill>
                  <a:srgbClr val="191F54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</a:p>
        </p:txBody>
      </p:sp>
    </p:spTree>
    <p:extLst>
      <p:ext uri="{BB962C8B-B14F-4D97-AF65-F5344CB8AC3E}">
        <p14:creationId xmlns:p14="http://schemas.microsoft.com/office/powerpoint/2010/main" val="3517355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500AD337-A79C-3467-1945-9DC164C6E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77" y="1289048"/>
            <a:ext cx="9459645" cy="5220429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F5420B2F-C285-DD0C-B4C2-7EA6B3490D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45" r="1"/>
          <a:stretch>
            <a:fillRect/>
          </a:stretch>
        </p:blipFill>
        <p:spPr>
          <a:xfrm>
            <a:off x="0" y="562202"/>
            <a:ext cx="4835573" cy="647790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3E6A4B6-FFC1-8CD5-98BE-73C3E0908F31}"/>
              </a:ext>
            </a:extLst>
          </p:cNvPr>
          <p:cNvSpPr/>
          <p:nvPr/>
        </p:nvSpPr>
        <p:spPr>
          <a:xfrm>
            <a:off x="521735" y="144518"/>
            <a:ext cx="5950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1600" b="1" dirty="0">
                <a:solidFill>
                  <a:srgbClr val="191F54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</a:p>
        </p:txBody>
      </p:sp>
    </p:spTree>
    <p:extLst>
      <p:ext uri="{BB962C8B-B14F-4D97-AF65-F5344CB8AC3E}">
        <p14:creationId xmlns:p14="http://schemas.microsoft.com/office/powerpoint/2010/main" val="2922779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09C82CDF-ED3A-E422-C71E-89F82AC00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1502"/>
            <a:ext cx="9678751" cy="5849166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BA0897A-1863-1E08-A408-A16034FF4DAC}"/>
              </a:ext>
            </a:extLst>
          </p:cNvPr>
          <p:cNvSpPr/>
          <p:nvPr/>
        </p:nvSpPr>
        <p:spPr>
          <a:xfrm>
            <a:off x="8090262" y="609600"/>
            <a:ext cx="1558835" cy="487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2B2FF0C-52D5-7024-1D1C-5EF784C48933}"/>
              </a:ext>
            </a:extLst>
          </p:cNvPr>
          <p:cNvSpPr/>
          <p:nvPr/>
        </p:nvSpPr>
        <p:spPr>
          <a:xfrm>
            <a:off x="521735" y="144518"/>
            <a:ext cx="5950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1600" b="1" dirty="0">
                <a:solidFill>
                  <a:srgbClr val="191F54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</a:p>
        </p:txBody>
      </p:sp>
    </p:spTree>
    <p:extLst>
      <p:ext uri="{BB962C8B-B14F-4D97-AF65-F5344CB8AC3E}">
        <p14:creationId xmlns:p14="http://schemas.microsoft.com/office/powerpoint/2010/main" val="1141477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550BC315-954B-5CC3-F006-5FE3052246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1" y="609533"/>
            <a:ext cx="8817334" cy="638475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5B6BDCB-A11D-98A7-C719-4AC2D5B22EAC}"/>
              </a:ext>
            </a:extLst>
          </p:cNvPr>
          <p:cNvSpPr/>
          <p:nvPr/>
        </p:nvSpPr>
        <p:spPr>
          <a:xfrm>
            <a:off x="521735" y="144518"/>
            <a:ext cx="5950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1600" b="1" dirty="0">
                <a:solidFill>
                  <a:srgbClr val="191F54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D917D346-9399-7927-F888-031D294C5F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177" y="1293137"/>
            <a:ext cx="9459645" cy="5125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9916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71795F1D-64A8-82FD-FC35-08568E764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4701"/>
            <a:ext cx="9678751" cy="5887272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79BFFE1-CF3E-F9E1-9CB4-A9D34A271A02}"/>
              </a:ext>
            </a:extLst>
          </p:cNvPr>
          <p:cNvSpPr/>
          <p:nvPr/>
        </p:nvSpPr>
        <p:spPr>
          <a:xfrm>
            <a:off x="521735" y="144518"/>
            <a:ext cx="458597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1600" b="1" dirty="0">
                <a:solidFill>
                  <a:srgbClr val="191F54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運用体制</a:t>
            </a:r>
          </a:p>
        </p:txBody>
      </p:sp>
    </p:spTree>
    <p:extLst>
      <p:ext uri="{BB962C8B-B14F-4D97-AF65-F5344CB8AC3E}">
        <p14:creationId xmlns:p14="http://schemas.microsoft.com/office/powerpoint/2010/main" val="783255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1149C2BD-FABA-8776-A6BE-48E3BC3B5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64" y="1266934"/>
            <a:ext cx="9521072" cy="5215216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0794034D-E76C-7C17-7D28-6FE1339CCB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2408"/>
            <a:ext cx="7248525" cy="689940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429ADB0-723A-E76E-020B-9881A571E75D}"/>
              </a:ext>
            </a:extLst>
          </p:cNvPr>
          <p:cNvSpPr/>
          <p:nvPr/>
        </p:nvSpPr>
        <p:spPr>
          <a:xfrm>
            <a:off x="521735" y="144518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1600" b="1" dirty="0">
                <a:solidFill>
                  <a:srgbClr val="191F54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運用体制</a:t>
            </a:r>
          </a:p>
        </p:txBody>
      </p:sp>
    </p:spTree>
    <p:extLst>
      <p:ext uri="{BB962C8B-B14F-4D97-AF65-F5344CB8AC3E}">
        <p14:creationId xmlns:p14="http://schemas.microsoft.com/office/powerpoint/2010/main" val="6760749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16;p16"/>
          <p:cNvPicPr preferRelativeResize="0"/>
          <p:nvPr/>
        </p:nvPicPr>
        <p:blipFill rotWithShape="1">
          <a:blip r:embed="rId2">
            <a:alphaModFix/>
          </a:blip>
          <a:srcRect t="14658" b="1438"/>
          <a:stretch/>
        </p:blipFill>
        <p:spPr>
          <a:xfrm>
            <a:off x="144754" y="1318051"/>
            <a:ext cx="9689518" cy="506302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C2362E9-833A-4634-899A-C983988D2325}"/>
              </a:ext>
            </a:extLst>
          </p:cNvPr>
          <p:cNvSpPr/>
          <p:nvPr/>
        </p:nvSpPr>
        <p:spPr>
          <a:xfrm>
            <a:off x="521734" y="144518"/>
            <a:ext cx="714225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1600" b="1" dirty="0">
                <a:solidFill>
                  <a:srgbClr val="191F54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サービス品質</a:t>
            </a: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 rotWithShape="1">
          <a:blip r:embed="rId3"/>
          <a:srcRect l="1012" b="-969"/>
          <a:stretch/>
        </p:blipFill>
        <p:spPr>
          <a:xfrm>
            <a:off x="0" y="619066"/>
            <a:ext cx="4571999" cy="719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0586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1271975-C491-492F-BE75-53251FDF4499}"/>
              </a:ext>
            </a:extLst>
          </p:cNvPr>
          <p:cNvSpPr/>
          <p:nvPr/>
        </p:nvSpPr>
        <p:spPr>
          <a:xfrm>
            <a:off x="521734" y="144518"/>
            <a:ext cx="769335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1600" b="1" dirty="0">
                <a:solidFill>
                  <a:srgbClr val="191F54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サービス品質</a:t>
            </a: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155" y="1356536"/>
            <a:ext cx="8925041" cy="4960444"/>
          </a:xfrm>
          <a:prstGeom prst="rect">
            <a:avLst/>
          </a:prstGeom>
        </p:spPr>
      </p:pic>
      <p:pic>
        <p:nvPicPr>
          <p:cNvPr id="3" name="図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6491"/>
            <a:ext cx="5486400" cy="700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8895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8C2362E9-833A-4634-899A-C983988D2325}"/>
              </a:ext>
            </a:extLst>
          </p:cNvPr>
          <p:cNvSpPr/>
          <p:nvPr/>
        </p:nvSpPr>
        <p:spPr>
          <a:xfrm>
            <a:off x="521735" y="144518"/>
            <a:ext cx="432240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1600" b="1" dirty="0">
                <a:solidFill>
                  <a:srgbClr val="191F54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弊社の強み</a:t>
            </a: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6218"/>
            <a:ext cx="4622645" cy="733482"/>
          </a:xfrm>
          <a:prstGeom prst="rect">
            <a:avLst/>
          </a:prstGeom>
        </p:spPr>
      </p:pic>
      <p:pic>
        <p:nvPicPr>
          <p:cNvPr id="4" name="図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1409700"/>
            <a:ext cx="9130465" cy="509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5030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6DCD6-5DC2-5860-ECFE-34F71C04B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9EAC3157-6E31-F16D-0835-82A7D28FE481}"/>
              </a:ext>
            </a:extLst>
          </p:cNvPr>
          <p:cNvSpPr txBox="1"/>
          <p:nvPr/>
        </p:nvSpPr>
        <p:spPr>
          <a:xfrm>
            <a:off x="0" y="3092281"/>
            <a:ext cx="9906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b="1" spc="740" dirty="0">
                <a:solidFill>
                  <a:schemeClr val="tx2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 UI" panose="020B0604030504040204" pitchFamily="50" charset="-128"/>
              </a:rPr>
              <a:t>提案概要と実績</a:t>
            </a:r>
            <a:endParaRPr kumimoji="1" lang="en-US" altLang="ja-JP" sz="3200" b="1" spc="740" dirty="0">
              <a:solidFill>
                <a:schemeClr val="tx2">
                  <a:lumMod val="7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59193CD-99FF-8381-458D-0EFDC97B37C6}"/>
              </a:ext>
            </a:extLst>
          </p:cNvPr>
          <p:cNvSpPr/>
          <p:nvPr/>
        </p:nvSpPr>
        <p:spPr>
          <a:xfrm>
            <a:off x="0" y="1134209"/>
            <a:ext cx="3807069" cy="580292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二等辺三角形 2">
            <a:extLst>
              <a:ext uri="{FF2B5EF4-FFF2-40B4-BE49-F238E27FC236}">
                <a16:creationId xmlns:a16="http://schemas.microsoft.com/office/drawing/2014/main" id="{C13FF028-C3B5-57E7-B29E-FEF1932CE993}"/>
              </a:ext>
            </a:extLst>
          </p:cNvPr>
          <p:cNvSpPr/>
          <p:nvPr/>
        </p:nvSpPr>
        <p:spPr>
          <a:xfrm>
            <a:off x="3437792" y="1134209"/>
            <a:ext cx="738553" cy="580292"/>
          </a:xfrm>
          <a:prstGeom prst="triangl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E8E24A9-B5FD-23BC-D7EE-F04C90522F0D}"/>
              </a:ext>
            </a:extLst>
          </p:cNvPr>
          <p:cNvSpPr txBox="1"/>
          <p:nvPr/>
        </p:nvSpPr>
        <p:spPr>
          <a:xfrm>
            <a:off x="287216" y="1266065"/>
            <a:ext cx="31154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 UI" panose="020B0604030504040204" pitchFamily="50" charset="-128"/>
              </a:rPr>
              <a:t>Chapter.2</a:t>
            </a:r>
            <a:endParaRPr kumimoji="1" lang="ja-JP" altLang="en-US" sz="14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5386284-F5CB-0810-AE43-79DE1445F801}"/>
              </a:ext>
            </a:extLst>
          </p:cNvPr>
          <p:cNvSpPr/>
          <p:nvPr/>
        </p:nvSpPr>
        <p:spPr>
          <a:xfrm>
            <a:off x="0" y="0"/>
            <a:ext cx="9906000" cy="6926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082137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4D44D-7235-166F-331C-FA7B72D05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0">
            <a:extLst>
              <a:ext uri="{FF2B5EF4-FFF2-40B4-BE49-F238E27FC236}">
                <a16:creationId xmlns:a16="http://schemas.microsoft.com/office/drawing/2014/main" id="{FB7444B7-D5DF-A980-082D-209BFEDFDB6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ja-JP" altLang="en-US" dirty="0"/>
              <a:t> 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D1D6B46-91B1-C0DE-6F1B-A72F4BE85B1B}"/>
              </a:ext>
            </a:extLst>
          </p:cNvPr>
          <p:cNvSpPr/>
          <p:nvPr/>
        </p:nvSpPr>
        <p:spPr>
          <a:xfrm>
            <a:off x="-1712" y="766081"/>
            <a:ext cx="9906000" cy="550218"/>
          </a:xfrm>
          <a:prstGeom prst="rect">
            <a:avLst/>
          </a:prstGeom>
          <a:solidFill>
            <a:srgbClr val="191F5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b="1" spc="3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ご与件の整理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C0AD1A3B-A15E-1773-B6BF-B95027D6D3A5}"/>
              </a:ext>
            </a:extLst>
          </p:cNvPr>
          <p:cNvSpPr txBox="1"/>
          <p:nvPr/>
        </p:nvSpPr>
        <p:spPr>
          <a:xfrm>
            <a:off x="8142411" y="6249378"/>
            <a:ext cx="126188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/>
            <a:r>
              <a:rPr kumimoji="1" lang="en-US" altLang="ja-JP" sz="1050" b="1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※</a:t>
            </a:r>
            <a:r>
              <a:rPr kumimoji="1" lang="ja-JP" altLang="en-US" sz="1050" b="1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ヒアリングより</a:t>
            </a:r>
          </a:p>
        </p:txBody>
      </p:sp>
      <p:sp>
        <p:nvSpPr>
          <p:cNvPr id="5" name="Google Shape;64;p3">
            <a:extLst>
              <a:ext uri="{FF2B5EF4-FFF2-40B4-BE49-F238E27FC236}">
                <a16:creationId xmlns:a16="http://schemas.microsoft.com/office/drawing/2014/main" id="{A7DF77A5-29E1-283A-D67C-CF9611890CA3}"/>
              </a:ext>
            </a:extLst>
          </p:cNvPr>
          <p:cNvSpPr txBox="1"/>
          <p:nvPr/>
        </p:nvSpPr>
        <p:spPr>
          <a:xfrm>
            <a:off x="501705" y="85085"/>
            <a:ext cx="3859901" cy="387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spcBef>
                <a:spcPct val="20000"/>
              </a:spcBef>
              <a:buFont typeface="Arial"/>
              <a:buNone/>
            </a:pPr>
            <a:r>
              <a:rPr kumimoji="1" lang="ja-JP" altLang="en-US" sz="1600" spc="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提案概要</a:t>
            </a:r>
            <a:endParaRPr kumimoji="1" sz="1600" spc="3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</p:txBody>
      </p:sp>
      <p:graphicFrame>
        <p:nvGraphicFramePr>
          <p:cNvPr id="4" name="Table 0">
            <a:extLst>
              <a:ext uri="{FF2B5EF4-FFF2-40B4-BE49-F238E27FC236}">
                <a16:creationId xmlns:a16="http://schemas.microsoft.com/office/drawing/2014/main" id="{9C336C0E-A98D-5B65-4E2F-8CAB665A92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1443928"/>
              </p:ext>
            </p:extLst>
          </p:nvPr>
        </p:nvGraphicFramePr>
        <p:xfrm>
          <a:off x="532486" y="1605590"/>
          <a:ext cx="8837604" cy="4354497"/>
        </p:xfrm>
        <a:graphic>
          <a:graphicData uri="http://schemas.openxmlformats.org/drawingml/2006/table">
            <a:tbl>
              <a:tblPr/>
              <a:tblGrid>
                <a:gridCol w="21603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73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383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Calibri" pitchFamily="34" charset="-120"/>
                        </a:rPr>
                        <a:t>項目</a:t>
                      </a:r>
                      <a:endParaRPr lang="en-US" sz="110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Calibri" pitchFamily="34" charset="-120"/>
                        </a:rPr>
                        <a:t>内容</a:t>
                      </a:r>
                      <a:endParaRPr lang="en-US" sz="1100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83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>
                          <a:latin typeface="メイリオ"/>
                        </a:rPr>
                        <a:t>業界</a:t>
                      </a:r>
                      <a:endParaRPr 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00">
                          <a:latin typeface="メイリオ"/>
                        </a:rPr>
                        <a:t>建設・不動産（マンション大規模修繕 設計監理）</a:t>
                      </a:r>
                      <a:endParaRPr 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83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latin typeface="メイリオ"/>
                        </a:rPr>
                        <a:t>事業概要</a:t>
                      </a:r>
                      <a:endParaRPr 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00">
                          <a:latin typeface="メイリオ"/>
                        </a:rPr>
                        <a:t>施工を行わない一級建築士事務所。管理組合の立場で建物劣化診断・修繕設計・工事監理を提供。累計834管理組合の実績。</a:t>
                      </a:r>
                      <a:endParaRPr 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83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>
                          <a:latin typeface="メイリオ"/>
                        </a:rPr>
                        <a:t>現状</a:t>
                      </a:r>
                      <a:endParaRPr 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00">
                          <a:latin typeface="メイリオ"/>
                        </a:rPr>
                        <a:t>4〜5年前にリスティング広告も運用したが「効果が低く費用が高い」ことを理由に一度停止。</a:t>
                      </a:r>
                      <a:endParaRPr 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6474430"/>
                  </a:ext>
                </a:extLst>
              </a:tr>
              <a:tr h="48383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latin typeface="メイリオ"/>
                        </a:rPr>
                        <a:t>目標KPI</a:t>
                      </a:r>
                      <a:endParaRPr lang="en-U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00" b="1">
                          <a:latin typeface="メイリオ"/>
                        </a:rPr>
                        <a:t>目標CPA 50,000円（現状の実数CPA 約200,000円から改善）。CV＝無料劣化診断・無料見積チェック・問い合わせ。</a:t>
                      </a:r>
                      <a:endParaRPr lang="en-U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383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latin typeface="メイリオ"/>
                        </a:rPr>
                        <a:t>想定月額予算</a:t>
                      </a:r>
                      <a:endParaRPr 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00" dirty="0">
                          <a:latin typeface="メイリオ"/>
                        </a:rPr>
                        <a:t>月額100万円／200万円プラン。初月は総予算にLP制作費50万円をコミコミで内包。</a:t>
                      </a:r>
                      <a:endParaRPr 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383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latin typeface="メイリオ"/>
                        </a:rPr>
                        <a:t>配信エリア</a:t>
                      </a:r>
                      <a:endParaRPr 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00">
                          <a:latin typeface="メイリオ"/>
                        </a:rPr>
                        <a:t>大阪・関西を主軸（実績の過半459件が関西）。加えて全国11拠点で全国対応。</a:t>
                      </a:r>
                      <a:endParaRPr 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383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latin typeface="メイリオ"/>
                        </a:rPr>
                        <a:t>LP</a:t>
                      </a:r>
                      <a:endParaRPr 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00">
                          <a:latin typeface="メイリオ"/>
                        </a:rPr>
                        <a:t>専用LPを新規制作。FVで「工事をしない中立な第三者／累計834組合」を訴求し、CVを複線化。</a:t>
                      </a:r>
                      <a:endParaRPr 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383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81747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92608"/>
            <a:ext cx="82296" cy="402336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694944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Meiryo"/>
              </a:rPr>
              <a:t>市場調査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86384"/>
            <a:ext cx="9171432" cy="18288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9902952" cy="512064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932688"/>
            <a:ext cx="9171432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工事費高騰×積立金不足で「第三者による見積りチェック需要」が構造的に急増している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9902952" cy="347472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685800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eiryo"/>
              </a:rPr>
              <a:t>Copyright(c) DYM Co., Ltd.  All Rights Reserved.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737360"/>
          <a:ext cx="9171432" cy="3401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367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項目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内容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マンションストック総数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約704.3万戸（2023年末）。日本のマンション市場は依然として巨大。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築40年以上の急増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137万戸（2023）→ 274万戸（2033）→ 464万戸（2043）＝20年で約3.4倍。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修繕積立金の不足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計画に対し不足している管理組合が36.6%（うち20%超不足が11.7%）。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建設工事費の高騰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RC造マンションの工事費は直近10年で約+30%、公共工事労務単価も+28%。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9A5B00"/>
                          </a:solidFill>
                          <a:latin typeface="Meiryo"/>
                        </a:rPr>
                        <a:t>A-1設計様への追い風</a:t>
                      </a:r>
                    </a:p>
                  </a:txBody>
                  <a:tcPr marL="54864" marR="54864" marT="18288" marB="18288" anchor="ctr">
                    <a:solidFill>
                      <a:srgbClr val="FCEAC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「工事費は上がる・積立金は足りない」中、施工をしない中立な第三者による見積り精査ニーズが構造的に増加している。</a:t>
                      </a:r>
                    </a:p>
                  </a:txBody>
                  <a:tcPr marL="54864" marR="54864" marT="18288" marB="18288" anchor="ctr">
                    <a:solidFill>
                      <a:srgbClr val="FCEA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6199632"/>
            <a:ext cx="91714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eiryo"/>
              </a:rPr>
              <a:t>出典：国土交通省「マンションに関する統計・データ等」「令和5年度マンション総合調査」「建設工事費デフレーター」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10528"/>
            <a:ext cx="50292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/>
            <a:fld id="{035F66ED-67BE-47B6-B8DF-AA760DC0754E}" type="slidenum">
              <a:rPr lang="ja-JP" sz="900" b="1">
                <a:solidFill>
                  <a:srgbClr val="FFFFFF"/>
                </a:solidFill>
                <a:latin typeface="Meiryo"/>
              </a:rPr>
              <a:t>0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92608"/>
            <a:ext cx="82296" cy="402336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694944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Meiryo"/>
              </a:rPr>
              <a:t>競合調査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86384"/>
            <a:ext cx="9171432" cy="18288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9902952" cy="512064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932688"/>
            <a:ext cx="9171432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施工会社マッチングにも同業の設計監理にも、中立性と834組合の実績で明確に差別化する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9902952" cy="347472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685800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eiryo"/>
              </a:rPr>
              <a:t>Copyright(c) DYM Co., Ltd.  All Rights Reserved.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737360"/>
          <a:ext cx="9171431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59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比較軸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Smart修繕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改修設計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リノシス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貴社：A-1設計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Meiryo"/>
                        </a:rPr>
                        <a:t>ビジネスモデル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Meiryo"/>
                        </a:rPr>
                        <a:t>施工会社の紹介マッチング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Meiryo"/>
                        </a:rPr>
                        <a:t>改修特化の設計事務所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Meiryo"/>
                        </a:rPr>
                        <a:t>一級建築士の設計監理コンサル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Meiryo"/>
                        </a:rPr>
                        <a:t>一級建築士17名の設計監理事務所</a:t>
                      </a:r>
                    </a:p>
                  </a:txBody>
                  <a:tcPr marL="54864" marR="54864" marT="18288" marB="18288" anchor="ctr">
                    <a:solidFill>
                      <a:srgbClr val="E4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Meiryo"/>
                        </a:rPr>
                        <a:t>立場・中立性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Meiryo"/>
                        </a:rPr>
                        <a:t>施工側から収益（紹介型）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Meiryo"/>
                        </a:rPr>
                        <a:t>施工しない第三者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Meiryo"/>
                        </a:rPr>
                        <a:t>施工しない第三者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Meiryo"/>
                        </a:rPr>
                        <a:t>施工しない第三者</a:t>
                      </a:r>
                    </a:p>
                  </a:txBody>
                  <a:tcPr marL="54864" marR="54864" marT="18288" marB="18288" anchor="ctr">
                    <a:solidFill>
                      <a:srgbClr val="E4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Meiryo"/>
                        </a:rPr>
                        <a:t>実績の開示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Meiryo"/>
                        </a:rPr>
                        <a:t>見積2,000件超・全国47都道府県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Meiryo"/>
                        </a:rPr>
                        <a:t>実績数値は非公開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Meiryo"/>
                        </a:rPr>
                        <a:t>実績数値は非公開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Meiryo"/>
                        </a:rPr>
                        <a:t>834管理組合を公開（タワー20・多棟76・複合17）</a:t>
                      </a:r>
                    </a:p>
                  </a:txBody>
                  <a:tcPr marL="54864" marR="54864" marT="18288" marB="18288" anchor="ctr">
                    <a:solidFill>
                      <a:srgbClr val="E4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Meiryo"/>
                        </a:rPr>
                        <a:t>体制・強み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Meiryo"/>
                        </a:rPr>
                        <a:t>全国の紹介ネットワーク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Meiryo"/>
                        </a:rPr>
                        <a:t>改修に特化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Meiryo"/>
                        </a:rPr>
                        <a:t>超高層対応・全国展開中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Meiryo"/>
                        </a:rPr>
                        <a:t>一級建築士17名・全国11拠点・物件タイプ網羅</a:t>
                      </a:r>
                    </a:p>
                  </a:txBody>
                  <a:tcPr marL="54864" marR="54864" marT="18288" marB="18288" anchor="ctr">
                    <a:solidFill>
                      <a:srgbClr val="E4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6199632"/>
            <a:ext cx="91714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eiryo"/>
              </a:rPr>
              <a:t>参照元：各社公式サイト目視調査（Smart修繕 daikibo2603 / 改修設計 / リノシス / A-1設計）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892040"/>
            <a:ext cx="9171432" cy="1051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150" b="0">
                <a:solidFill>
                  <a:srgbClr val="222222"/>
                </a:solidFill>
                <a:latin typeface="Meiryo"/>
              </a:rPr>
              <a:t>勝ち筋：マッチング型（Smart修繕）には『施工と利害ゼロの中立性』で、同業の設計監理（改修設計・リノシス）には『834管理組合を数値で公開する実績の厚みと透明性・全国11拠点・物件タイプ網羅』で優位に立つ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6510528"/>
            <a:ext cx="50292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/>
            <a:fld id="{B311C99C-4B15-43F6-8FDC-2CF337C01211}" type="slidenum">
              <a:rPr lang="ja-JP" sz="900" b="1">
                <a:solidFill>
                  <a:srgbClr val="FFFFFF"/>
                </a:solidFill>
                <a:latin typeface="Meiryo"/>
              </a:rPr>
              <a:t>0</a:t>
            </a:fld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92608"/>
            <a:ext cx="82296" cy="402336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694944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Meiryo"/>
              </a:rPr>
              <a:t>WEBプロモーションのご提案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86384"/>
            <a:ext cx="9171432" cy="18288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9902952" cy="512064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932688"/>
            <a:ext cx="9171432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指名／大規模修繕コア×エリア／P-MAX の3構成で、確度順に予算を集中投下する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9902952" cy="347472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685800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eiryo"/>
              </a:rPr>
              <a:t>Copyright(c) DYM Co., Ltd.  All Rights Reserved.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737360"/>
          <a:ext cx="9171432" cy="2267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49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キャンペーン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予算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軸キーワード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狙い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① 指名・コア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39800"/>
                          </a:solidFill>
                          <a:latin typeface="Meiryo"/>
                        </a:rPr>
                        <a:t>25%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A-1設計 / エーワン設計 / 大規模修繕 設計監理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顕在・検討層の競合流出を100%防ぐ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② 大規模修繕コア×エリア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39800"/>
                          </a:solidFill>
                          <a:latin typeface="Meiryo"/>
                        </a:rPr>
                        <a:t>50%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大規模修繕 大阪 / 費用 / 見積 / タワマン 大規模修繕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意図が明確な掛け合わせを効率獲得（関西を厚く配分）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③ P-MAX（面の拡張）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39800"/>
                          </a:solidFill>
                          <a:latin typeface="Meiryo"/>
                        </a:rPr>
                        <a:t>25%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Google全広告枠（管理組合・理事会層オーディエンス）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潜在層へ無料診断オファーを自動最適化配信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6199632"/>
            <a:ext cx="91714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eiryo"/>
              </a:rPr>
              <a:t>参照元：Googleキーワードプランナー（大阪・関西エリアの入札単価実測値）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10528"/>
            <a:ext cx="50292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/>
            <a:fld id="{24A5008A-79E9-4A38-BDC6-2F4526D1B97D}" type="slidenum">
              <a:rPr lang="ja-JP" sz="900" b="1">
                <a:solidFill>
                  <a:srgbClr val="FFFFFF"/>
                </a:solidFill>
                <a:latin typeface="Meiryo"/>
              </a:rPr>
              <a:t>0</a:t>
            </a:fld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92608"/>
            <a:ext cx="82296" cy="402336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694944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Meiryo"/>
              </a:rPr>
              <a:t>配信シミュレーション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86384"/>
            <a:ext cx="9171432" cy="18288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9902952" cy="512064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932688"/>
            <a:ext cx="9171432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初月はLP制作費を含めて堅実に運用し、2ヶ月目の満額配信から獲得効率を最大化する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9902952" cy="347472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685800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eiryo"/>
              </a:rPr>
              <a:t>Copyright(c) DYM Co., Ltd.  All Rights Reserved.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737360"/>
          <a:ext cx="9171432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84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プラン / フェーズ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内訳（LP＋広告費）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表示回数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クリック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CPC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CV数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CPA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100万円 初月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LP50万＋広告50万</a:t>
                      </a:r>
                    </a:p>
                  </a:txBody>
                  <a:tcPr marL="54864" marR="54864" marT="18288" marB="18288" anchor="ctr">
                    <a:solidFill>
                      <a:srgbClr val="FCEA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4,762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333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¥1,500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39800"/>
                          </a:solidFill>
                          <a:latin typeface="Meiryo"/>
                        </a:rPr>
                        <a:t>10件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¥50,000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100万円 2ヶ月目〜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広告100万（満額）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138,095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2,333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39800"/>
                          </a:solidFill>
                          <a:latin typeface="Meiryo"/>
                        </a:rPr>
                        <a:t>¥429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39800"/>
                          </a:solidFill>
                          <a:latin typeface="Meiryo"/>
                        </a:rPr>
                        <a:t>19件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¥52,632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200万円 初月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LP50万＋広告150万</a:t>
                      </a:r>
                    </a:p>
                  </a:txBody>
                  <a:tcPr marL="54864" marR="54864" marT="18288" marB="18288" anchor="ctr">
                    <a:solidFill>
                      <a:srgbClr val="FCEA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138,095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2,333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¥643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39800"/>
                          </a:solidFill>
                          <a:latin typeface="Meiryo"/>
                        </a:rPr>
                        <a:t>26件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¥57,692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200万円 2ヶ月目〜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広告200万（満額）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314,415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5,086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39800"/>
                          </a:solidFill>
                          <a:latin typeface="Meiryo"/>
                        </a:rPr>
                        <a:t>¥393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39800"/>
                          </a:solidFill>
                          <a:latin typeface="Meiryo"/>
                        </a:rPr>
                        <a:t>34件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¥58,824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6199632"/>
            <a:ext cx="91714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eiryo"/>
              </a:rPr>
              <a:t>参照元：DYM制作料金表（LP 50万円〜）、Google広告管理画面 過去データに基づく試算参考値（試算値）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10528"/>
            <a:ext cx="50292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/>
            <a:fld id="{B3A051D1-8EB2-484F-9390-44EA58B1BA21}" type="slidenum">
              <a:rPr lang="ja-JP" sz="900" b="1">
                <a:solidFill>
                  <a:srgbClr val="FFFFFF"/>
                </a:solidFill>
                <a:latin typeface="Meiryo"/>
              </a:rPr>
              <a:t>0</a:t>
            </a:fld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92608"/>
            <a:ext cx="82296" cy="402336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694944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Meiryo"/>
              </a:rPr>
              <a:t>配信シミュレーション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86384"/>
            <a:ext cx="9171432" cy="18288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32688"/>
            <a:ext cx="9902952" cy="512064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932688"/>
            <a:ext cx="9171432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設計監理料の水準なら、月1件の受注で広告費＋LP制作費は十分に早期回収できる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9902952" cy="347472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685800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Meiryo"/>
              </a:rPr>
              <a:t>Copyright(c) DYM Co., Ltd.  All Rights Reserved.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737360"/>
          <a:ext cx="9171432" cy="17007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プラン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月間CV（問い合わせ）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想定受注（成約率10%）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受注1件あたりコスト(CPO)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</a:rPr>
                        <a:t>回収の目安</a:t>
                      </a:r>
                    </a:p>
                  </a:txBody>
                  <a:tcPr marL="54864" marR="54864" marT="18288" marB="18288" anchor="ctr">
                    <a:solidFill>
                      <a:srgbClr val="1A2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100万円（2ヶ月目〜）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19件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39800"/>
                          </a:solidFill>
                          <a:latin typeface="Meiryo"/>
                        </a:rPr>
                        <a:t>約1.9件/月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約52.6万円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2A5E"/>
                          </a:solidFill>
                          <a:latin typeface="Meiryo"/>
                        </a:rPr>
                        <a:t>設計監理料1件で回収可能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Meiryo"/>
                        </a:rPr>
                        <a:t>200万円（2ヶ月目〜）</a:t>
                      </a:r>
                    </a:p>
                  </a:txBody>
                  <a:tcPr marL="54864" marR="54864" marT="18288" marB="18288" anchor="ctr"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34件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39800"/>
                          </a:solidFill>
                          <a:latin typeface="Meiryo"/>
                        </a:rPr>
                        <a:t>約3.4件/月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Meiryo"/>
                        </a:rPr>
                        <a:t>約58.8万円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2A5E"/>
                          </a:solidFill>
                          <a:latin typeface="Meiryo"/>
                        </a:rPr>
                        <a:t>受注積み上げで早期回収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6199632"/>
            <a:ext cx="91714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eiryo"/>
              </a:rPr>
              <a:t>参照元：試算参考値（成約率10%は仮定）。客単価は物件規模により変動するため受注件数ベースで提示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10528"/>
            <a:ext cx="50292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/>
            <a:fld id="{BCF0EAEB-4A0B-4FC3-9E89-E8129B78CAF9}" type="slidenum">
              <a:rPr lang="ja-JP" sz="900" b="1">
                <a:solidFill>
                  <a:srgbClr val="FFFFFF"/>
                </a:solidFill>
                <a:latin typeface="Meiryo"/>
              </a:rPr>
              <a:t>0</a:t>
            </a:fld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6504C-5147-787D-2380-F39B7143B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9A588532-12F9-06DF-F5FA-4B4D2B87DF7D}"/>
              </a:ext>
            </a:extLst>
          </p:cNvPr>
          <p:cNvSpPr txBox="1"/>
          <p:nvPr/>
        </p:nvSpPr>
        <p:spPr>
          <a:xfrm>
            <a:off x="0" y="3092281"/>
            <a:ext cx="9906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b="1" spc="740" dirty="0">
                <a:solidFill>
                  <a:schemeClr val="tx2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 UI" panose="020B0604030504040204" pitchFamily="50" charset="-128"/>
              </a:rPr>
              <a:t>検索広告</a:t>
            </a:r>
            <a:endParaRPr kumimoji="1" lang="en-US" altLang="ja-JP" sz="3200" b="1" spc="740" dirty="0">
              <a:solidFill>
                <a:schemeClr val="tx2">
                  <a:lumMod val="7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AD927B4-5023-01A9-4B5D-7E6FF0874F88}"/>
              </a:ext>
            </a:extLst>
          </p:cNvPr>
          <p:cNvSpPr/>
          <p:nvPr/>
        </p:nvSpPr>
        <p:spPr>
          <a:xfrm>
            <a:off x="0" y="1134209"/>
            <a:ext cx="3807069" cy="580292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二等辺三角形 2">
            <a:extLst>
              <a:ext uri="{FF2B5EF4-FFF2-40B4-BE49-F238E27FC236}">
                <a16:creationId xmlns:a16="http://schemas.microsoft.com/office/drawing/2014/main" id="{73217C47-97C7-0499-D2AF-59EC1F23E8E6}"/>
              </a:ext>
            </a:extLst>
          </p:cNvPr>
          <p:cNvSpPr/>
          <p:nvPr/>
        </p:nvSpPr>
        <p:spPr>
          <a:xfrm>
            <a:off x="3437792" y="1134209"/>
            <a:ext cx="738553" cy="580292"/>
          </a:xfrm>
          <a:prstGeom prst="triangl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870566C-24C0-AE77-16D9-C3D165ABABEB}"/>
              </a:ext>
            </a:extLst>
          </p:cNvPr>
          <p:cNvSpPr txBox="1"/>
          <p:nvPr/>
        </p:nvSpPr>
        <p:spPr>
          <a:xfrm>
            <a:off x="287216" y="1266065"/>
            <a:ext cx="31154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 UI" panose="020B0604030504040204" pitchFamily="50" charset="-128"/>
              </a:rPr>
              <a:t>Chapter.6</a:t>
            </a:r>
            <a:endParaRPr kumimoji="1" lang="ja-JP" altLang="en-US" sz="14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21CA16B-DE31-E5A6-189A-38352C2E583D}"/>
              </a:ext>
            </a:extLst>
          </p:cNvPr>
          <p:cNvSpPr/>
          <p:nvPr/>
        </p:nvSpPr>
        <p:spPr>
          <a:xfrm>
            <a:off x="0" y="0"/>
            <a:ext cx="9906000" cy="6926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873496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41476E7E-4EAC-6194-35CD-A4ED4D121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>
            <a:extLst>
              <a:ext uri="{FF2B5EF4-FFF2-40B4-BE49-F238E27FC236}">
                <a16:creationId xmlns:a16="http://schemas.microsoft.com/office/drawing/2014/main" id="{9E4937FE-695A-F50D-05F0-AB434DEC9E82}"/>
              </a:ext>
            </a:extLst>
          </p:cNvPr>
          <p:cNvSpPr txBox="1"/>
          <p:nvPr/>
        </p:nvSpPr>
        <p:spPr>
          <a:xfrm>
            <a:off x="501705" y="93758"/>
            <a:ext cx="4451295" cy="387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spcBef>
                <a:spcPct val="20000"/>
              </a:spcBef>
              <a:buFont typeface="Arial"/>
              <a:buNone/>
            </a:pPr>
            <a:r>
              <a:rPr kumimoji="1" lang="ja-JP" altLang="en-US" sz="1600" spc="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配信戦略</a:t>
            </a:r>
            <a:endParaRPr kumimoji="1" sz="1600" spc="3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6AC0D68-191E-EA54-A834-A00DCA3FE6C5}"/>
              </a:ext>
            </a:extLst>
          </p:cNvPr>
          <p:cNvSpPr/>
          <p:nvPr/>
        </p:nvSpPr>
        <p:spPr>
          <a:xfrm>
            <a:off x="-1712" y="766081"/>
            <a:ext cx="9906000" cy="550218"/>
          </a:xfrm>
          <a:prstGeom prst="rect">
            <a:avLst/>
          </a:prstGeom>
          <a:solidFill>
            <a:srgbClr val="191F5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spc="3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検索広告におけるユーザーの行動導線は下記の通り</a:t>
            </a:r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CF912E23-5537-7EDB-3076-A0AF5831751A}"/>
              </a:ext>
            </a:extLst>
          </p:cNvPr>
          <p:cNvGrpSpPr/>
          <p:nvPr/>
        </p:nvGrpSpPr>
        <p:grpSpPr>
          <a:xfrm>
            <a:off x="1763227" y="2582998"/>
            <a:ext cx="6376122" cy="1943734"/>
            <a:chOff x="936528" y="2582998"/>
            <a:chExt cx="6376122" cy="1943734"/>
          </a:xfrm>
        </p:grpSpPr>
        <p:sp>
          <p:nvSpPr>
            <p:cNvPr id="136" name="楕円 135">
              <a:extLst>
                <a:ext uri="{FF2B5EF4-FFF2-40B4-BE49-F238E27FC236}">
                  <a16:creationId xmlns:a16="http://schemas.microsoft.com/office/drawing/2014/main" id="{259B4559-B0CA-624B-509D-08F073FB9D26}"/>
                </a:ext>
              </a:extLst>
            </p:cNvPr>
            <p:cNvSpPr/>
            <p:nvPr/>
          </p:nvSpPr>
          <p:spPr>
            <a:xfrm>
              <a:off x="1411124" y="3543287"/>
              <a:ext cx="413390" cy="462479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grpSp>
          <p:nvGrpSpPr>
            <p:cNvPr id="37" name="グループ化 36">
              <a:extLst>
                <a:ext uri="{FF2B5EF4-FFF2-40B4-BE49-F238E27FC236}">
                  <a16:creationId xmlns:a16="http://schemas.microsoft.com/office/drawing/2014/main" id="{E913FAE3-7837-7FE8-0832-3FA2F90C5E50}"/>
                </a:ext>
              </a:extLst>
            </p:cNvPr>
            <p:cNvGrpSpPr/>
            <p:nvPr/>
          </p:nvGrpSpPr>
          <p:grpSpPr>
            <a:xfrm>
              <a:off x="936528" y="2582998"/>
              <a:ext cx="1415928" cy="1943734"/>
              <a:chOff x="130513" y="2677781"/>
              <a:chExt cx="1734503" cy="2381063"/>
            </a:xfrm>
          </p:grpSpPr>
          <p:sp>
            <p:nvSpPr>
              <p:cNvPr id="9" name="正方形/長方形 8">
                <a:extLst>
                  <a:ext uri="{FF2B5EF4-FFF2-40B4-BE49-F238E27FC236}">
                    <a16:creationId xmlns:a16="http://schemas.microsoft.com/office/drawing/2014/main" id="{6CF8E51F-7442-126C-D180-4F897B37113C}"/>
                  </a:ext>
                </a:extLst>
              </p:cNvPr>
              <p:cNvSpPr/>
              <p:nvPr/>
            </p:nvSpPr>
            <p:spPr>
              <a:xfrm>
                <a:off x="130514" y="2677781"/>
                <a:ext cx="1734502" cy="380245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2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認知</a:t>
                </a:r>
              </a:p>
            </p:txBody>
          </p:sp>
          <p:sp>
            <p:nvSpPr>
              <p:cNvPr id="10" name="正方形/長方形 9">
                <a:extLst>
                  <a:ext uri="{FF2B5EF4-FFF2-40B4-BE49-F238E27FC236}">
                    <a16:creationId xmlns:a16="http://schemas.microsoft.com/office/drawing/2014/main" id="{804C06B2-66AD-B666-043E-1F45C67CAAF3}"/>
                  </a:ext>
                </a:extLst>
              </p:cNvPr>
              <p:cNvSpPr/>
              <p:nvPr/>
            </p:nvSpPr>
            <p:spPr>
              <a:xfrm>
                <a:off x="130513" y="3193828"/>
                <a:ext cx="1734501" cy="186501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</p:grpSp>
        <p:grpSp>
          <p:nvGrpSpPr>
            <p:cNvPr id="42" name="グループ化 41">
              <a:extLst>
                <a:ext uri="{FF2B5EF4-FFF2-40B4-BE49-F238E27FC236}">
                  <a16:creationId xmlns:a16="http://schemas.microsoft.com/office/drawing/2014/main" id="{99060CBE-E11C-0226-BEA5-D49165055F18}"/>
                </a:ext>
              </a:extLst>
            </p:cNvPr>
            <p:cNvGrpSpPr/>
            <p:nvPr/>
          </p:nvGrpSpPr>
          <p:grpSpPr>
            <a:xfrm>
              <a:off x="5896722" y="2582998"/>
              <a:ext cx="1415928" cy="1943734"/>
              <a:chOff x="130513" y="2677781"/>
              <a:chExt cx="1734503" cy="2381063"/>
            </a:xfrm>
          </p:grpSpPr>
          <p:sp>
            <p:nvSpPr>
              <p:cNvPr id="44" name="正方形/長方形 43">
                <a:extLst>
                  <a:ext uri="{FF2B5EF4-FFF2-40B4-BE49-F238E27FC236}">
                    <a16:creationId xmlns:a16="http://schemas.microsoft.com/office/drawing/2014/main" id="{E6B7AFA7-7D90-5387-EF1B-297185A1DE2E}"/>
                  </a:ext>
                </a:extLst>
              </p:cNvPr>
              <p:cNvSpPr/>
              <p:nvPr/>
            </p:nvSpPr>
            <p:spPr>
              <a:xfrm>
                <a:off x="130514" y="2677781"/>
                <a:ext cx="1734502" cy="380245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2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広告の選択</a:t>
                </a:r>
              </a:p>
            </p:txBody>
          </p:sp>
          <p:sp>
            <p:nvSpPr>
              <p:cNvPr id="45" name="正方形/長方形 44">
                <a:extLst>
                  <a:ext uri="{FF2B5EF4-FFF2-40B4-BE49-F238E27FC236}">
                    <a16:creationId xmlns:a16="http://schemas.microsoft.com/office/drawing/2014/main" id="{ACC87343-2F9E-71C7-0442-E521CFE939F8}"/>
                  </a:ext>
                </a:extLst>
              </p:cNvPr>
              <p:cNvSpPr/>
              <p:nvPr/>
            </p:nvSpPr>
            <p:spPr>
              <a:xfrm>
                <a:off x="130513" y="3193828"/>
                <a:ext cx="1734501" cy="186501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</p:grpSp>
        <p:grpSp>
          <p:nvGrpSpPr>
            <p:cNvPr id="46" name="グループ化 45">
              <a:extLst>
                <a:ext uri="{FF2B5EF4-FFF2-40B4-BE49-F238E27FC236}">
                  <a16:creationId xmlns:a16="http://schemas.microsoft.com/office/drawing/2014/main" id="{5958E7C0-5B92-9DB6-C898-3993616F482C}"/>
                </a:ext>
              </a:extLst>
            </p:cNvPr>
            <p:cNvGrpSpPr/>
            <p:nvPr/>
          </p:nvGrpSpPr>
          <p:grpSpPr>
            <a:xfrm>
              <a:off x="4243324" y="2582998"/>
              <a:ext cx="1415928" cy="1943734"/>
              <a:chOff x="130513" y="2677781"/>
              <a:chExt cx="1734503" cy="2381063"/>
            </a:xfrm>
          </p:grpSpPr>
          <p:sp>
            <p:nvSpPr>
              <p:cNvPr id="48" name="正方形/長方形 47">
                <a:extLst>
                  <a:ext uri="{FF2B5EF4-FFF2-40B4-BE49-F238E27FC236}">
                    <a16:creationId xmlns:a16="http://schemas.microsoft.com/office/drawing/2014/main" id="{64CB3559-41C5-7923-E1CF-F97BF262F9F7}"/>
                  </a:ext>
                </a:extLst>
              </p:cNvPr>
              <p:cNvSpPr/>
              <p:nvPr/>
            </p:nvSpPr>
            <p:spPr>
              <a:xfrm>
                <a:off x="130514" y="2677781"/>
                <a:ext cx="1734502" cy="380245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2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広告の露出</a:t>
                </a:r>
              </a:p>
            </p:txBody>
          </p:sp>
          <p:sp>
            <p:nvSpPr>
              <p:cNvPr id="49" name="正方形/長方形 48">
                <a:extLst>
                  <a:ext uri="{FF2B5EF4-FFF2-40B4-BE49-F238E27FC236}">
                    <a16:creationId xmlns:a16="http://schemas.microsoft.com/office/drawing/2014/main" id="{85BE3B0D-A444-D3A5-31F0-0AED83C1B24A}"/>
                  </a:ext>
                </a:extLst>
              </p:cNvPr>
              <p:cNvSpPr/>
              <p:nvPr/>
            </p:nvSpPr>
            <p:spPr>
              <a:xfrm>
                <a:off x="130513" y="3193828"/>
                <a:ext cx="1734501" cy="186501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</p:grpSp>
        <p:grpSp>
          <p:nvGrpSpPr>
            <p:cNvPr id="50" name="グループ化 49">
              <a:extLst>
                <a:ext uri="{FF2B5EF4-FFF2-40B4-BE49-F238E27FC236}">
                  <a16:creationId xmlns:a16="http://schemas.microsoft.com/office/drawing/2014/main" id="{C9BAF9EE-8642-9729-4A8B-5B051D7AFFE9}"/>
                </a:ext>
              </a:extLst>
            </p:cNvPr>
            <p:cNvGrpSpPr/>
            <p:nvPr/>
          </p:nvGrpSpPr>
          <p:grpSpPr>
            <a:xfrm>
              <a:off x="2589926" y="2582998"/>
              <a:ext cx="1415928" cy="1943734"/>
              <a:chOff x="130513" y="2677781"/>
              <a:chExt cx="1734503" cy="2381063"/>
            </a:xfrm>
          </p:grpSpPr>
          <p:sp>
            <p:nvSpPr>
              <p:cNvPr id="52" name="正方形/長方形 51">
                <a:extLst>
                  <a:ext uri="{FF2B5EF4-FFF2-40B4-BE49-F238E27FC236}">
                    <a16:creationId xmlns:a16="http://schemas.microsoft.com/office/drawing/2014/main" id="{BF0F5CE1-9D27-2C17-62F1-BCC3FCAB41AB}"/>
                  </a:ext>
                </a:extLst>
              </p:cNvPr>
              <p:cNvSpPr/>
              <p:nvPr/>
            </p:nvSpPr>
            <p:spPr>
              <a:xfrm>
                <a:off x="130514" y="2677781"/>
                <a:ext cx="1734502" cy="380245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2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検索</a:t>
                </a:r>
              </a:p>
            </p:txBody>
          </p:sp>
          <p:sp>
            <p:nvSpPr>
              <p:cNvPr id="53" name="正方形/長方形 52">
                <a:extLst>
                  <a:ext uri="{FF2B5EF4-FFF2-40B4-BE49-F238E27FC236}">
                    <a16:creationId xmlns:a16="http://schemas.microsoft.com/office/drawing/2014/main" id="{3ED02545-2B27-8F54-FBE9-56DF4152CE67}"/>
                  </a:ext>
                </a:extLst>
              </p:cNvPr>
              <p:cNvSpPr/>
              <p:nvPr/>
            </p:nvSpPr>
            <p:spPr>
              <a:xfrm>
                <a:off x="130513" y="3193828"/>
                <a:ext cx="1734501" cy="186501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</p:grpSp>
        <p:sp>
          <p:nvSpPr>
            <p:cNvPr id="54" name="二等辺三角形 53">
              <a:extLst>
                <a:ext uri="{FF2B5EF4-FFF2-40B4-BE49-F238E27FC236}">
                  <a16:creationId xmlns:a16="http://schemas.microsoft.com/office/drawing/2014/main" id="{D9A9450C-D13E-012B-CA97-B6451BDD1650}"/>
                </a:ext>
              </a:extLst>
            </p:cNvPr>
            <p:cNvSpPr/>
            <p:nvPr/>
          </p:nvSpPr>
          <p:spPr>
            <a:xfrm rot="5400000">
              <a:off x="2264291" y="3694011"/>
              <a:ext cx="317409" cy="142972"/>
            </a:xfrm>
            <a:prstGeom prst="triangle">
              <a:avLst>
                <a:gd name="adj" fmla="val 50981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bg2">
                    <a:lumMod val="20000"/>
                    <a:lumOff val="8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63" name="二等辺三角形 62">
              <a:extLst>
                <a:ext uri="{FF2B5EF4-FFF2-40B4-BE49-F238E27FC236}">
                  <a16:creationId xmlns:a16="http://schemas.microsoft.com/office/drawing/2014/main" id="{B2F162FC-8853-5284-FC0E-32D134EAE78A}"/>
                </a:ext>
              </a:extLst>
            </p:cNvPr>
            <p:cNvSpPr/>
            <p:nvPr/>
          </p:nvSpPr>
          <p:spPr>
            <a:xfrm rot="5400000">
              <a:off x="3921555" y="3694012"/>
              <a:ext cx="317409" cy="142972"/>
            </a:xfrm>
            <a:prstGeom prst="triangle">
              <a:avLst>
                <a:gd name="adj" fmla="val 50981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bg2">
                    <a:lumMod val="20000"/>
                    <a:lumOff val="8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65" name="二等辺三角形 64">
              <a:extLst>
                <a:ext uri="{FF2B5EF4-FFF2-40B4-BE49-F238E27FC236}">
                  <a16:creationId xmlns:a16="http://schemas.microsoft.com/office/drawing/2014/main" id="{6BCD5FA0-7473-B6E1-EDB1-7C417194D451}"/>
                </a:ext>
              </a:extLst>
            </p:cNvPr>
            <p:cNvSpPr/>
            <p:nvPr/>
          </p:nvSpPr>
          <p:spPr>
            <a:xfrm rot="5400000">
              <a:off x="5572031" y="3694013"/>
              <a:ext cx="317409" cy="142972"/>
            </a:xfrm>
            <a:prstGeom prst="triangle">
              <a:avLst>
                <a:gd name="adj" fmla="val 50981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bg2">
                    <a:lumMod val="20000"/>
                    <a:lumOff val="8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70" name="正方形/長方形 69">
              <a:extLst>
                <a:ext uri="{FF2B5EF4-FFF2-40B4-BE49-F238E27FC236}">
                  <a16:creationId xmlns:a16="http://schemas.microsoft.com/office/drawing/2014/main" id="{AB456C84-2C34-2B15-AE5E-16D5EF532174}"/>
                </a:ext>
              </a:extLst>
            </p:cNvPr>
            <p:cNvSpPr/>
            <p:nvPr/>
          </p:nvSpPr>
          <p:spPr>
            <a:xfrm>
              <a:off x="3476787" y="3562111"/>
              <a:ext cx="484736" cy="35080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100" b="1" dirty="0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検索</a:t>
              </a:r>
            </a:p>
          </p:txBody>
        </p:sp>
        <p:sp>
          <p:nvSpPr>
            <p:cNvPr id="71" name="正方形/長方形 70">
              <a:extLst>
                <a:ext uri="{FF2B5EF4-FFF2-40B4-BE49-F238E27FC236}">
                  <a16:creationId xmlns:a16="http://schemas.microsoft.com/office/drawing/2014/main" id="{6563B1C0-B075-DC0B-D0DB-6D9D71D2BAC3}"/>
                </a:ext>
              </a:extLst>
            </p:cNvPr>
            <p:cNvSpPr/>
            <p:nvPr/>
          </p:nvSpPr>
          <p:spPr>
            <a:xfrm>
              <a:off x="2630946" y="3573393"/>
              <a:ext cx="801511" cy="310406"/>
            </a:xfrm>
            <a:prstGeom prst="rect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grpSp>
          <p:nvGrpSpPr>
            <p:cNvPr id="80" name="グループ化 79">
              <a:extLst>
                <a:ext uri="{FF2B5EF4-FFF2-40B4-BE49-F238E27FC236}">
                  <a16:creationId xmlns:a16="http://schemas.microsoft.com/office/drawing/2014/main" id="{7779D2D6-A813-0AB1-8346-6AD4B6095F37}"/>
                </a:ext>
              </a:extLst>
            </p:cNvPr>
            <p:cNvGrpSpPr/>
            <p:nvPr/>
          </p:nvGrpSpPr>
          <p:grpSpPr>
            <a:xfrm>
              <a:off x="4318769" y="3131944"/>
              <a:ext cx="1268994" cy="310406"/>
              <a:chOff x="3511236" y="3104422"/>
              <a:chExt cx="1268994" cy="310406"/>
            </a:xfrm>
          </p:grpSpPr>
          <p:sp>
            <p:nvSpPr>
              <p:cNvPr id="72" name="正方形/長方形 71">
                <a:extLst>
                  <a:ext uri="{FF2B5EF4-FFF2-40B4-BE49-F238E27FC236}">
                    <a16:creationId xmlns:a16="http://schemas.microsoft.com/office/drawing/2014/main" id="{89DA6C92-34C1-3188-6A6A-6AB5A14BDE43}"/>
                  </a:ext>
                </a:extLst>
              </p:cNvPr>
              <p:cNvSpPr/>
              <p:nvPr/>
            </p:nvSpPr>
            <p:spPr>
              <a:xfrm>
                <a:off x="3511236" y="3104422"/>
                <a:ext cx="484736" cy="31040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1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広告</a:t>
                </a:r>
              </a:p>
            </p:txBody>
          </p:sp>
          <p:cxnSp>
            <p:nvCxnSpPr>
              <p:cNvPr id="75" name="直線コネクタ 74">
                <a:extLst>
                  <a:ext uri="{FF2B5EF4-FFF2-40B4-BE49-F238E27FC236}">
                    <a16:creationId xmlns:a16="http://schemas.microsoft.com/office/drawing/2014/main" id="{FF58D5B5-6DC7-B9AB-6195-186FB64613A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176850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線コネクタ 77">
                <a:extLst>
                  <a:ext uri="{FF2B5EF4-FFF2-40B4-BE49-F238E27FC236}">
                    <a16:creationId xmlns:a16="http://schemas.microsoft.com/office/drawing/2014/main" id="{0AF0B6B4-9D27-5282-0BD0-B676E6D548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259625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線コネクタ 78">
                <a:extLst>
                  <a:ext uri="{FF2B5EF4-FFF2-40B4-BE49-F238E27FC236}">
                    <a16:creationId xmlns:a16="http://schemas.microsoft.com/office/drawing/2014/main" id="{4B44CD00-F2E6-61BA-E758-0D104B1E0B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351831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6" name="グループ化 85">
              <a:extLst>
                <a:ext uri="{FF2B5EF4-FFF2-40B4-BE49-F238E27FC236}">
                  <a16:creationId xmlns:a16="http://schemas.microsoft.com/office/drawing/2014/main" id="{73F88100-B46C-1C28-DF3E-1E0A413766E3}"/>
                </a:ext>
              </a:extLst>
            </p:cNvPr>
            <p:cNvGrpSpPr/>
            <p:nvPr/>
          </p:nvGrpSpPr>
          <p:grpSpPr>
            <a:xfrm>
              <a:off x="4318769" y="3593597"/>
              <a:ext cx="1268994" cy="310406"/>
              <a:chOff x="3511236" y="3104422"/>
              <a:chExt cx="1268994" cy="310406"/>
            </a:xfrm>
          </p:grpSpPr>
          <p:sp>
            <p:nvSpPr>
              <p:cNvPr id="87" name="正方形/長方形 86">
                <a:extLst>
                  <a:ext uri="{FF2B5EF4-FFF2-40B4-BE49-F238E27FC236}">
                    <a16:creationId xmlns:a16="http://schemas.microsoft.com/office/drawing/2014/main" id="{765C6FAD-40C7-6DBB-CECB-D6F036AA8D7E}"/>
                  </a:ext>
                </a:extLst>
              </p:cNvPr>
              <p:cNvSpPr/>
              <p:nvPr/>
            </p:nvSpPr>
            <p:spPr>
              <a:xfrm>
                <a:off x="3511236" y="3104422"/>
                <a:ext cx="484736" cy="31040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1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広告</a:t>
                </a:r>
                <a:endParaRPr kumimoji="1" lang="en-US" altLang="ja-JP" sz="1100" b="1" dirty="0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  <p:cxnSp>
            <p:nvCxnSpPr>
              <p:cNvPr id="88" name="直線コネクタ 87">
                <a:extLst>
                  <a:ext uri="{FF2B5EF4-FFF2-40B4-BE49-F238E27FC236}">
                    <a16:creationId xmlns:a16="http://schemas.microsoft.com/office/drawing/2014/main" id="{7F9F66AA-0744-F890-907C-289855A9CE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176850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直線コネクタ 88">
                <a:extLst>
                  <a:ext uri="{FF2B5EF4-FFF2-40B4-BE49-F238E27FC236}">
                    <a16:creationId xmlns:a16="http://schemas.microsoft.com/office/drawing/2014/main" id="{24538F7A-071A-4F34-B3DC-7DC66D9D15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259625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線コネクタ 89">
                <a:extLst>
                  <a:ext uri="{FF2B5EF4-FFF2-40B4-BE49-F238E27FC236}">
                    <a16:creationId xmlns:a16="http://schemas.microsoft.com/office/drawing/2014/main" id="{A5052E89-9D6A-3A87-14A9-5B405E7379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351831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1" name="グループ化 90">
              <a:extLst>
                <a:ext uri="{FF2B5EF4-FFF2-40B4-BE49-F238E27FC236}">
                  <a16:creationId xmlns:a16="http://schemas.microsoft.com/office/drawing/2014/main" id="{3A6EC049-8FE4-29CB-65FE-54E65B547899}"/>
                </a:ext>
              </a:extLst>
            </p:cNvPr>
            <p:cNvGrpSpPr/>
            <p:nvPr/>
          </p:nvGrpSpPr>
          <p:grpSpPr>
            <a:xfrm>
              <a:off x="4318769" y="4055250"/>
              <a:ext cx="1268994" cy="310406"/>
              <a:chOff x="3511236" y="3104422"/>
              <a:chExt cx="1268994" cy="310406"/>
            </a:xfrm>
          </p:grpSpPr>
          <p:sp>
            <p:nvSpPr>
              <p:cNvPr id="92" name="正方形/長方形 91">
                <a:extLst>
                  <a:ext uri="{FF2B5EF4-FFF2-40B4-BE49-F238E27FC236}">
                    <a16:creationId xmlns:a16="http://schemas.microsoft.com/office/drawing/2014/main" id="{4508437A-6139-FFC8-7858-9B74AD5E484D}"/>
                  </a:ext>
                </a:extLst>
              </p:cNvPr>
              <p:cNvSpPr/>
              <p:nvPr/>
            </p:nvSpPr>
            <p:spPr>
              <a:xfrm>
                <a:off x="3511236" y="3104422"/>
                <a:ext cx="484736" cy="31040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1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広告</a:t>
                </a:r>
              </a:p>
            </p:txBody>
          </p:sp>
          <p:cxnSp>
            <p:nvCxnSpPr>
              <p:cNvPr id="93" name="直線コネクタ 92">
                <a:extLst>
                  <a:ext uri="{FF2B5EF4-FFF2-40B4-BE49-F238E27FC236}">
                    <a16:creationId xmlns:a16="http://schemas.microsoft.com/office/drawing/2014/main" id="{3FDCCE11-3DC9-430F-9F1B-C9931D9E7B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176850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直線コネクタ 93">
                <a:extLst>
                  <a:ext uri="{FF2B5EF4-FFF2-40B4-BE49-F238E27FC236}">
                    <a16:creationId xmlns:a16="http://schemas.microsoft.com/office/drawing/2014/main" id="{2D794241-F86F-410D-B462-3348D440A6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259625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直線コネクタ 94">
                <a:extLst>
                  <a:ext uri="{FF2B5EF4-FFF2-40B4-BE49-F238E27FC236}">
                    <a16:creationId xmlns:a16="http://schemas.microsoft.com/office/drawing/2014/main" id="{73D7FC5A-944C-583B-8166-245CEC114E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351831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6" name="グループ化 95">
              <a:extLst>
                <a:ext uri="{FF2B5EF4-FFF2-40B4-BE49-F238E27FC236}">
                  <a16:creationId xmlns:a16="http://schemas.microsoft.com/office/drawing/2014/main" id="{EFC6EB5C-1733-0262-0302-8402780DFF91}"/>
                </a:ext>
              </a:extLst>
            </p:cNvPr>
            <p:cNvGrpSpPr/>
            <p:nvPr/>
          </p:nvGrpSpPr>
          <p:grpSpPr>
            <a:xfrm>
              <a:off x="5947931" y="3131944"/>
              <a:ext cx="1268994" cy="310406"/>
              <a:chOff x="3511236" y="3104422"/>
              <a:chExt cx="1268994" cy="310406"/>
            </a:xfrm>
          </p:grpSpPr>
          <p:sp>
            <p:nvSpPr>
              <p:cNvPr id="97" name="正方形/長方形 96">
                <a:extLst>
                  <a:ext uri="{FF2B5EF4-FFF2-40B4-BE49-F238E27FC236}">
                    <a16:creationId xmlns:a16="http://schemas.microsoft.com/office/drawing/2014/main" id="{E048A081-BD1B-771C-A6AC-A04E74F58F8F}"/>
                  </a:ext>
                </a:extLst>
              </p:cNvPr>
              <p:cNvSpPr/>
              <p:nvPr/>
            </p:nvSpPr>
            <p:spPr>
              <a:xfrm>
                <a:off x="3511236" y="3104422"/>
                <a:ext cx="484736" cy="31040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1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広告</a:t>
                </a:r>
              </a:p>
            </p:txBody>
          </p:sp>
          <p:cxnSp>
            <p:nvCxnSpPr>
              <p:cNvPr id="98" name="直線コネクタ 97">
                <a:extLst>
                  <a:ext uri="{FF2B5EF4-FFF2-40B4-BE49-F238E27FC236}">
                    <a16:creationId xmlns:a16="http://schemas.microsoft.com/office/drawing/2014/main" id="{BBF9017A-77DB-0292-F488-8DA75C93C1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176850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直線コネクタ 98">
                <a:extLst>
                  <a:ext uri="{FF2B5EF4-FFF2-40B4-BE49-F238E27FC236}">
                    <a16:creationId xmlns:a16="http://schemas.microsoft.com/office/drawing/2014/main" id="{ACE3BCB1-1EBA-CDF7-3F15-00F5C27B9C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259625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直線コネクタ 99">
                <a:extLst>
                  <a:ext uri="{FF2B5EF4-FFF2-40B4-BE49-F238E27FC236}">
                    <a16:creationId xmlns:a16="http://schemas.microsoft.com/office/drawing/2014/main" id="{940ADC4B-2E55-625A-BADE-91E1508006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351831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1" name="グループ化 100">
              <a:extLst>
                <a:ext uri="{FF2B5EF4-FFF2-40B4-BE49-F238E27FC236}">
                  <a16:creationId xmlns:a16="http://schemas.microsoft.com/office/drawing/2014/main" id="{00E54392-E1AD-5AAE-0B20-47969E67A510}"/>
                </a:ext>
              </a:extLst>
            </p:cNvPr>
            <p:cNvGrpSpPr/>
            <p:nvPr/>
          </p:nvGrpSpPr>
          <p:grpSpPr>
            <a:xfrm>
              <a:off x="5947931" y="3593597"/>
              <a:ext cx="1268994" cy="310406"/>
              <a:chOff x="3511236" y="3104422"/>
              <a:chExt cx="1268994" cy="310406"/>
            </a:xfrm>
          </p:grpSpPr>
          <p:sp>
            <p:nvSpPr>
              <p:cNvPr id="102" name="正方形/長方形 101">
                <a:extLst>
                  <a:ext uri="{FF2B5EF4-FFF2-40B4-BE49-F238E27FC236}">
                    <a16:creationId xmlns:a16="http://schemas.microsoft.com/office/drawing/2014/main" id="{EBD388BF-B107-9BFF-61D4-D4125D50688D}"/>
                  </a:ext>
                </a:extLst>
              </p:cNvPr>
              <p:cNvSpPr/>
              <p:nvPr/>
            </p:nvSpPr>
            <p:spPr>
              <a:xfrm>
                <a:off x="3511236" y="3104422"/>
                <a:ext cx="484736" cy="31040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1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広告</a:t>
                </a:r>
              </a:p>
            </p:txBody>
          </p:sp>
          <p:cxnSp>
            <p:nvCxnSpPr>
              <p:cNvPr id="103" name="直線コネクタ 102">
                <a:extLst>
                  <a:ext uri="{FF2B5EF4-FFF2-40B4-BE49-F238E27FC236}">
                    <a16:creationId xmlns:a16="http://schemas.microsoft.com/office/drawing/2014/main" id="{BE026593-4BBE-12A9-B595-AAA7940AAE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176850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直線コネクタ 103">
                <a:extLst>
                  <a:ext uri="{FF2B5EF4-FFF2-40B4-BE49-F238E27FC236}">
                    <a16:creationId xmlns:a16="http://schemas.microsoft.com/office/drawing/2014/main" id="{37FBC402-13F6-5C67-ABF6-9C3A7E7C23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259625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直線コネクタ 104">
                <a:extLst>
                  <a:ext uri="{FF2B5EF4-FFF2-40B4-BE49-F238E27FC236}">
                    <a16:creationId xmlns:a16="http://schemas.microsoft.com/office/drawing/2014/main" id="{AEB05E3B-849B-390E-4EC1-E2929A827C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351831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6" name="グループ化 105">
              <a:extLst>
                <a:ext uri="{FF2B5EF4-FFF2-40B4-BE49-F238E27FC236}">
                  <a16:creationId xmlns:a16="http://schemas.microsoft.com/office/drawing/2014/main" id="{A90A66C7-680C-5E60-8CDF-EC65BFB67DB5}"/>
                </a:ext>
              </a:extLst>
            </p:cNvPr>
            <p:cNvGrpSpPr/>
            <p:nvPr/>
          </p:nvGrpSpPr>
          <p:grpSpPr>
            <a:xfrm>
              <a:off x="5947931" y="4055250"/>
              <a:ext cx="1268994" cy="310406"/>
              <a:chOff x="3511236" y="3104422"/>
              <a:chExt cx="1268994" cy="310406"/>
            </a:xfrm>
          </p:grpSpPr>
          <p:sp>
            <p:nvSpPr>
              <p:cNvPr id="107" name="正方形/長方形 106">
                <a:extLst>
                  <a:ext uri="{FF2B5EF4-FFF2-40B4-BE49-F238E27FC236}">
                    <a16:creationId xmlns:a16="http://schemas.microsoft.com/office/drawing/2014/main" id="{43D4DA34-CC0B-D537-996E-07AED71CFA6C}"/>
                  </a:ext>
                </a:extLst>
              </p:cNvPr>
              <p:cNvSpPr/>
              <p:nvPr/>
            </p:nvSpPr>
            <p:spPr>
              <a:xfrm>
                <a:off x="3511236" y="3104422"/>
                <a:ext cx="484736" cy="31040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1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広告</a:t>
                </a:r>
              </a:p>
            </p:txBody>
          </p:sp>
          <p:cxnSp>
            <p:nvCxnSpPr>
              <p:cNvPr id="108" name="直線コネクタ 107">
                <a:extLst>
                  <a:ext uri="{FF2B5EF4-FFF2-40B4-BE49-F238E27FC236}">
                    <a16:creationId xmlns:a16="http://schemas.microsoft.com/office/drawing/2014/main" id="{8622BD36-066A-B9B9-C606-A82CC7A2AC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176850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直線コネクタ 108">
                <a:extLst>
                  <a:ext uri="{FF2B5EF4-FFF2-40B4-BE49-F238E27FC236}">
                    <a16:creationId xmlns:a16="http://schemas.microsoft.com/office/drawing/2014/main" id="{41303020-C8B5-1D17-45CF-328AF67763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259625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直線コネクタ 109">
                <a:extLst>
                  <a:ext uri="{FF2B5EF4-FFF2-40B4-BE49-F238E27FC236}">
                    <a16:creationId xmlns:a16="http://schemas.microsoft.com/office/drawing/2014/main" id="{E62CFA7A-C37F-D3E3-7051-DA91AEA12B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351831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9" name="グループ化 128">
              <a:extLst>
                <a:ext uri="{FF2B5EF4-FFF2-40B4-BE49-F238E27FC236}">
                  <a16:creationId xmlns:a16="http://schemas.microsoft.com/office/drawing/2014/main" id="{5DDCC018-FF0F-866D-AF79-E562B7F36D92}"/>
                </a:ext>
              </a:extLst>
            </p:cNvPr>
            <p:cNvGrpSpPr/>
            <p:nvPr/>
          </p:nvGrpSpPr>
          <p:grpSpPr>
            <a:xfrm>
              <a:off x="1158625" y="3223795"/>
              <a:ext cx="914400" cy="1148203"/>
              <a:chOff x="370963" y="3328308"/>
              <a:chExt cx="914400" cy="1148203"/>
            </a:xfrm>
          </p:grpSpPr>
          <p:pic>
            <p:nvPicPr>
              <p:cNvPr id="114" name="グラフィックス 113" descr="電球 単色塗りつぶし">
                <a:extLst>
                  <a:ext uri="{FF2B5EF4-FFF2-40B4-BE49-F238E27FC236}">
                    <a16:creationId xmlns:a16="http://schemas.microsoft.com/office/drawing/2014/main" id="{C7E3D113-CDE7-F359-1D70-AA2D87F5D5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370963" y="3562111"/>
                <a:ext cx="914400" cy="914400"/>
              </a:xfrm>
              <a:prstGeom prst="rect">
                <a:avLst/>
              </a:prstGeom>
            </p:spPr>
          </p:pic>
          <p:cxnSp>
            <p:nvCxnSpPr>
              <p:cNvPr id="116" name="直線コネクタ 115">
                <a:extLst>
                  <a:ext uri="{FF2B5EF4-FFF2-40B4-BE49-F238E27FC236}">
                    <a16:creationId xmlns:a16="http://schemas.microsoft.com/office/drawing/2014/main" id="{105BBE92-E93B-695C-ED78-AB6ABDD32C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3161" y="3328308"/>
                <a:ext cx="0" cy="215989"/>
              </a:xfrm>
              <a:prstGeom prst="line">
                <a:avLst/>
              </a:prstGeom>
              <a:ln w="57150" cap="rnd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直線コネクタ 118">
                <a:extLst>
                  <a:ext uri="{FF2B5EF4-FFF2-40B4-BE49-F238E27FC236}">
                    <a16:creationId xmlns:a16="http://schemas.microsoft.com/office/drawing/2014/main" id="{376417A1-649E-33DB-33EA-0C4F744D0A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689" y="3403486"/>
                <a:ext cx="75547" cy="174669"/>
              </a:xfrm>
              <a:prstGeom prst="line">
                <a:avLst/>
              </a:prstGeom>
              <a:ln w="57150" cap="rnd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直線コネクタ 122">
                <a:extLst>
                  <a:ext uri="{FF2B5EF4-FFF2-40B4-BE49-F238E27FC236}">
                    <a16:creationId xmlns:a16="http://schemas.microsoft.com/office/drawing/2014/main" id="{9F5AC47F-19A0-20A7-88E1-F4A4296B7A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78957" y="3403486"/>
                <a:ext cx="80853" cy="174669"/>
              </a:xfrm>
              <a:prstGeom prst="line">
                <a:avLst/>
              </a:prstGeom>
              <a:ln w="57150" cap="rnd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0" name="正方形/長方形 129">
              <a:extLst>
                <a:ext uri="{FF2B5EF4-FFF2-40B4-BE49-F238E27FC236}">
                  <a16:creationId xmlns:a16="http://schemas.microsoft.com/office/drawing/2014/main" id="{3F85A881-4C5C-A34D-7AAE-19A1CCA45CD7}"/>
                </a:ext>
              </a:extLst>
            </p:cNvPr>
            <p:cNvSpPr/>
            <p:nvPr/>
          </p:nvSpPr>
          <p:spPr>
            <a:xfrm>
              <a:off x="5924115" y="3076575"/>
              <a:ext cx="1343024" cy="424818"/>
            </a:xfrm>
            <a:prstGeom prst="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300265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E6850D1C-CF74-6A51-0811-6E077F740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BDECFF5-7CCC-F94C-22E9-E7136C1BBDC1}"/>
              </a:ext>
            </a:extLst>
          </p:cNvPr>
          <p:cNvSpPr/>
          <p:nvPr/>
        </p:nvSpPr>
        <p:spPr>
          <a:xfrm>
            <a:off x="-1712" y="766081"/>
            <a:ext cx="9906000" cy="550218"/>
          </a:xfrm>
          <a:prstGeom prst="rect">
            <a:avLst/>
          </a:prstGeom>
          <a:solidFill>
            <a:srgbClr val="191F5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spc="3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検索広告におけるユーザーの行動導線は下記の通り</a:t>
            </a:r>
          </a:p>
        </p:txBody>
      </p: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71D9F841-344B-0D3C-C7F4-252264E30553}"/>
              </a:ext>
            </a:extLst>
          </p:cNvPr>
          <p:cNvGrpSpPr/>
          <p:nvPr/>
        </p:nvGrpSpPr>
        <p:grpSpPr>
          <a:xfrm>
            <a:off x="1757624" y="2161733"/>
            <a:ext cx="6387329" cy="4182178"/>
            <a:chOff x="936528" y="2161733"/>
            <a:chExt cx="6387329" cy="4182178"/>
          </a:xfrm>
        </p:grpSpPr>
        <p:sp>
          <p:nvSpPr>
            <p:cNvPr id="136" name="楕円 135">
              <a:extLst>
                <a:ext uri="{FF2B5EF4-FFF2-40B4-BE49-F238E27FC236}">
                  <a16:creationId xmlns:a16="http://schemas.microsoft.com/office/drawing/2014/main" id="{D037669C-BAB8-50B8-3791-65DE6E66F24F}"/>
                </a:ext>
              </a:extLst>
            </p:cNvPr>
            <p:cNvSpPr/>
            <p:nvPr/>
          </p:nvSpPr>
          <p:spPr>
            <a:xfrm>
              <a:off x="1411124" y="3543287"/>
              <a:ext cx="413390" cy="462479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grpSp>
          <p:nvGrpSpPr>
            <p:cNvPr id="37" name="グループ化 36">
              <a:extLst>
                <a:ext uri="{FF2B5EF4-FFF2-40B4-BE49-F238E27FC236}">
                  <a16:creationId xmlns:a16="http://schemas.microsoft.com/office/drawing/2014/main" id="{DC5AF87D-53FC-365D-E52C-D85EDD846234}"/>
                </a:ext>
              </a:extLst>
            </p:cNvPr>
            <p:cNvGrpSpPr/>
            <p:nvPr/>
          </p:nvGrpSpPr>
          <p:grpSpPr>
            <a:xfrm>
              <a:off x="936528" y="2161733"/>
              <a:ext cx="1415928" cy="2364999"/>
              <a:chOff x="130513" y="2161734"/>
              <a:chExt cx="1734503" cy="2897110"/>
            </a:xfrm>
          </p:grpSpPr>
          <p:sp>
            <p:nvSpPr>
              <p:cNvPr id="4" name="正方形/長方形 3">
                <a:extLst>
                  <a:ext uri="{FF2B5EF4-FFF2-40B4-BE49-F238E27FC236}">
                    <a16:creationId xmlns:a16="http://schemas.microsoft.com/office/drawing/2014/main" id="{4B5A4293-D14E-1F4C-5747-EEA3CC303CB6}"/>
                  </a:ext>
                </a:extLst>
              </p:cNvPr>
              <p:cNvSpPr/>
              <p:nvPr/>
            </p:nvSpPr>
            <p:spPr>
              <a:xfrm>
                <a:off x="130514" y="2161734"/>
                <a:ext cx="1734502" cy="380245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9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潜在層へのアプローチ</a:t>
                </a:r>
              </a:p>
            </p:txBody>
          </p:sp>
          <p:sp>
            <p:nvSpPr>
              <p:cNvPr id="9" name="正方形/長方形 8">
                <a:extLst>
                  <a:ext uri="{FF2B5EF4-FFF2-40B4-BE49-F238E27FC236}">
                    <a16:creationId xmlns:a16="http://schemas.microsoft.com/office/drawing/2014/main" id="{5B376E7F-6094-76C1-F873-229FCBAC6D62}"/>
                  </a:ext>
                </a:extLst>
              </p:cNvPr>
              <p:cNvSpPr/>
              <p:nvPr/>
            </p:nvSpPr>
            <p:spPr>
              <a:xfrm>
                <a:off x="130514" y="2677781"/>
                <a:ext cx="1734502" cy="380245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2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認知</a:t>
                </a:r>
              </a:p>
            </p:txBody>
          </p:sp>
          <p:sp>
            <p:nvSpPr>
              <p:cNvPr id="10" name="正方形/長方形 9">
                <a:extLst>
                  <a:ext uri="{FF2B5EF4-FFF2-40B4-BE49-F238E27FC236}">
                    <a16:creationId xmlns:a16="http://schemas.microsoft.com/office/drawing/2014/main" id="{B0B453AF-37D1-F1E2-7BBF-2415CDF8486A}"/>
                  </a:ext>
                </a:extLst>
              </p:cNvPr>
              <p:cNvSpPr/>
              <p:nvPr/>
            </p:nvSpPr>
            <p:spPr>
              <a:xfrm>
                <a:off x="130513" y="3193828"/>
                <a:ext cx="1734501" cy="186501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</p:grpSp>
        <p:grpSp>
          <p:nvGrpSpPr>
            <p:cNvPr id="42" name="グループ化 41">
              <a:extLst>
                <a:ext uri="{FF2B5EF4-FFF2-40B4-BE49-F238E27FC236}">
                  <a16:creationId xmlns:a16="http://schemas.microsoft.com/office/drawing/2014/main" id="{EEEB6B86-482C-DAF1-901F-A5E77A911629}"/>
                </a:ext>
              </a:extLst>
            </p:cNvPr>
            <p:cNvGrpSpPr/>
            <p:nvPr/>
          </p:nvGrpSpPr>
          <p:grpSpPr>
            <a:xfrm>
              <a:off x="5896722" y="2161733"/>
              <a:ext cx="1415928" cy="2364999"/>
              <a:chOff x="130513" y="2161734"/>
              <a:chExt cx="1734503" cy="2897110"/>
            </a:xfrm>
          </p:grpSpPr>
          <p:sp>
            <p:nvSpPr>
              <p:cNvPr id="43" name="正方形/長方形 42">
                <a:extLst>
                  <a:ext uri="{FF2B5EF4-FFF2-40B4-BE49-F238E27FC236}">
                    <a16:creationId xmlns:a16="http://schemas.microsoft.com/office/drawing/2014/main" id="{77B80EFE-4E49-095F-FCF8-1AFA8A4B6572}"/>
                  </a:ext>
                </a:extLst>
              </p:cNvPr>
              <p:cNvSpPr/>
              <p:nvPr/>
            </p:nvSpPr>
            <p:spPr>
              <a:xfrm>
                <a:off x="130514" y="2161734"/>
                <a:ext cx="1734502" cy="380245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2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広告</a:t>
                </a:r>
              </a:p>
            </p:txBody>
          </p:sp>
          <p:sp>
            <p:nvSpPr>
              <p:cNvPr id="44" name="正方形/長方形 43">
                <a:extLst>
                  <a:ext uri="{FF2B5EF4-FFF2-40B4-BE49-F238E27FC236}">
                    <a16:creationId xmlns:a16="http://schemas.microsoft.com/office/drawing/2014/main" id="{562AAF7C-FFEC-8397-06A9-7C6C7B04295F}"/>
                  </a:ext>
                </a:extLst>
              </p:cNvPr>
              <p:cNvSpPr/>
              <p:nvPr/>
            </p:nvSpPr>
            <p:spPr>
              <a:xfrm>
                <a:off x="130514" y="2677781"/>
                <a:ext cx="1734502" cy="380245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2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広告の選択</a:t>
                </a:r>
              </a:p>
            </p:txBody>
          </p:sp>
          <p:sp>
            <p:nvSpPr>
              <p:cNvPr id="45" name="正方形/長方形 44">
                <a:extLst>
                  <a:ext uri="{FF2B5EF4-FFF2-40B4-BE49-F238E27FC236}">
                    <a16:creationId xmlns:a16="http://schemas.microsoft.com/office/drawing/2014/main" id="{83663088-8A5D-9D30-2FCA-354D3205CBD3}"/>
                  </a:ext>
                </a:extLst>
              </p:cNvPr>
              <p:cNvSpPr/>
              <p:nvPr/>
            </p:nvSpPr>
            <p:spPr>
              <a:xfrm>
                <a:off x="130513" y="3193828"/>
                <a:ext cx="1734501" cy="186501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</p:grpSp>
        <p:grpSp>
          <p:nvGrpSpPr>
            <p:cNvPr id="46" name="グループ化 45">
              <a:extLst>
                <a:ext uri="{FF2B5EF4-FFF2-40B4-BE49-F238E27FC236}">
                  <a16:creationId xmlns:a16="http://schemas.microsoft.com/office/drawing/2014/main" id="{FCB07C13-4AB0-6439-1EBF-1A48E87D2E85}"/>
                </a:ext>
              </a:extLst>
            </p:cNvPr>
            <p:cNvGrpSpPr/>
            <p:nvPr/>
          </p:nvGrpSpPr>
          <p:grpSpPr>
            <a:xfrm>
              <a:off x="4243324" y="2161733"/>
              <a:ext cx="1415928" cy="2364999"/>
              <a:chOff x="130513" y="2161734"/>
              <a:chExt cx="1734503" cy="2897110"/>
            </a:xfrm>
          </p:grpSpPr>
          <p:sp>
            <p:nvSpPr>
              <p:cNvPr id="47" name="正方形/長方形 46">
                <a:extLst>
                  <a:ext uri="{FF2B5EF4-FFF2-40B4-BE49-F238E27FC236}">
                    <a16:creationId xmlns:a16="http://schemas.microsoft.com/office/drawing/2014/main" id="{172A26AA-23CA-3384-A454-A0B42C1D6E3E}"/>
                  </a:ext>
                </a:extLst>
              </p:cNvPr>
              <p:cNvSpPr/>
              <p:nvPr/>
            </p:nvSpPr>
            <p:spPr>
              <a:xfrm>
                <a:off x="130514" y="2161734"/>
                <a:ext cx="1734502" cy="380245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2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入札</a:t>
                </a:r>
              </a:p>
            </p:txBody>
          </p:sp>
          <p:sp>
            <p:nvSpPr>
              <p:cNvPr id="48" name="正方形/長方形 47">
                <a:extLst>
                  <a:ext uri="{FF2B5EF4-FFF2-40B4-BE49-F238E27FC236}">
                    <a16:creationId xmlns:a16="http://schemas.microsoft.com/office/drawing/2014/main" id="{D35BB36A-0883-3906-673A-5A68C3383F2F}"/>
                  </a:ext>
                </a:extLst>
              </p:cNvPr>
              <p:cNvSpPr/>
              <p:nvPr/>
            </p:nvSpPr>
            <p:spPr>
              <a:xfrm>
                <a:off x="130514" y="2677781"/>
                <a:ext cx="1734502" cy="380245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2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広告の露出</a:t>
                </a:r>
              </a:p>
            </p:txBody>
          </p:sp>
          <p:sp>
            <p:nvSpPr>
              <p:cNvPr id="49" name="正方形/長方形 48">
                <a:extLst>
                  <a:ext uri="{FF2B5EF4-FFF2-40B4-BE49-F238E27FC236}">
                    <a16:creationId xmlns:a16="http://schemas.microsoft.com/office/drawing/2014/main" id="{6F50F3BB-F1D5-3616-DB53-5F636A0FCE64}"/>
                  </a:ext>
                </a:extLst>
              </p:cNvPr>
              <p:cNvSpPr/>
              <p:nvPr/>
            </p:nvSpPr>
            <p:spPr>
              <a:xfrm>
                <a:off x="130513" y="3193828"/>
                <a:ext cx="1734501" cy="186501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</p:grpSp>
        <p:grpSp>
          <p:nvGrpSpPr>
            <p:cNvPr id="50" name="グループ化 49">
              <a:extLst>
                <a:ext uri="{FF2B5EF4-FFF2-40B4-BE49-F238E27FC236}">
                  <a16:creationId xmlns:a16="http://schemas.microsoft.com/office/drawing/2014/main" id="{975A3D0F-47CB-A900-05AE-04756D8934F0}"/>
                </a:ext>
              </a:extLst>
            </p:cNvPr>
            <p:cNvGrpSpPr/>
            <p:nvPr/>
          </p:nvGrpSpPr>
          <p:grpSpPr>
            <a:xfrm>
              <a:off x="2589926" y="2161733"/>
              <a:ext cx="1415928" cy="2364999"/>
              <a:chOff x="130513" y="2161734"/>
              <a:chExt cx="1734503" cy="2897110"/>
            </a:xfrm>
          </p:grpSpPr>
          <p:sp>
            <p:nvSpPr>
              <p:cNvPr id="51" name="正方形/長方形 50">
                <a:extLst>
                  <a:ext uri="{FF2B5EF4-FFF2-40B4-BE49-F238E27FC236}">
                    <a16:creationId xmlns:a16="http://schemas.microsoft.com/office/drawing/2014/main" id="{4A8AEB04-03F7-C018-E009-E0CF5FCE1BF3}"/>
                  </a:ext>
                </a:extLst>
              </p:cNvPr>
              <p:cNvSpPr/>
              <p:nvPr/>
            </p:nvSpPr>
            <p:spPr>
              <a:xfrm>
                <a:off x="130514" y="2161734"/>
                <a:ext cx="1734502" cy="380245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2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キーワード</a:t>
                </a:r>
              </a:p>
            </p:txBody>
          </p:sp>
          <p:sp>
            <p:nvSpPr>
              <p:cNvPr id="52" name="正方形/長方形 51">
                <a:extLst>
                  <a:ext uri="{FF2B5EF4-FFF2-40B4-BE49-F238E27FC236}">
                    <a16:creationId xmlns:a16="http://schemas.microsoft.com/office/drawing/2014/main" id="{67B002F1-D064-DC7F-F91F-9D76B3FE3DE6}"/>
                  </a:ext>
                </a:extLst>
              </p:cNvPr>
              <p:cNvSpPr/>
              <p:nvPr/>
            </p:nvSpPr>
            <p:spPr>
              <a:xfrm>
                <a:off x="130514" y="2677781"/>
                <a:ext cx="1734502" cy="380245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2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検索</a:t>
                </a:r>
              </a:p>
            </p:txBody>
          </p:sp>
          <p:sp>
            <p:nvSpPr>
              <p:cNvPr id="53" name="正方形/長方形 52">
                <a:extLst>
                  <a:ext uri="{FF2B5EF4-FFF2-40B4-BE49-F238E27FC236}">
                    <a16:creationId xmlns:a16="http://schemas.microsoft.com/office/drawing/2014/main" id="{D101AD7A-745E-62FE-CFA8-22E9B542FFB0}"/>
                  </a:ext>
                </a:extLst>
              </p:cNvPr>
              <p:cNvSpPr/>
              <p:nvPr/>
            </p:nvSpPr>
            <p:spPr>
              <a:xfrm>
                <a:off x="130513" y="3193828"/>
                <a:ext cx="1734501" cy="186501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</p:grpSp>
        <p:sp>
          <p:nvSpPr>
            <p:cNvPr id="54" name="二等辺三角形 53">
              <a:extLst>
                <a:ext uri="{FF2B5EF4-FFF2-40B4-BE49-F238E27FC236}">
                  <a16:creationId xmlns:a16="http://schemas.microsoft.com/office/drawing/2014/main" id="{DD65CDDD-4AB2-9028-2872-6BA7B0AFCFAD}"/>
                </a:ext>
              </a:extLst>
            </p:cNvPr>
            <p:cNvSpPr/>
            <p:nvPr/>
          </p:nvSpPr>
          <p:spPr>
            <a:xfrm rot="5400000">
              <a:off x="2264291" y="3694011"/>
              <a:ext cx="317409" cy="142972"/>
            </a:xfrm>
            <a:prstGeom prst="triangle">
              <a:avLst>
                <a:gd name="adj" fmla="val 50981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bg2">
                    <a:lumMod val="20000"/>
                    <a:lumOff val="8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63" name="二等辺三角形 62">
              <a:extLst>
                <a:ext uri="{FF2B5EF4-FFF2-40B4-BE49-F238E27FC236}">
                  <a16:creationId xmlns:a16="http://schemas.microsoft.com/office/drawing/2014/main" id="{59052D6B-689D-D8C6-09C8-7943BFDA81C0}"/>
                </a:ext>
              </a:extLst>
            </p:cNvPr>
            <p:cNvSpPr/>
            <p:nvPr/>
          </p:nvSpPr>
          <p:spPr>
            <a:xfrm rot="5400000">
              <a:off x="3921555" y="3694012"/>
              <a:ext cx="317409" cy="142972"/>
            </a:xfrm>
            <a:prstGeom prst="triangle">
              <a:avLst>
                <a:gd name="adj" fmla="val 50981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bg2">
                    <a:lumMod val="20000"/>
                    <a:lumOff val="8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65" name="二等辺三角形 64">
              <a:extLst>
                <a:ext uri="{FF2B5EF4-FFF2-40B4-BE49-F238E27FC236}">
                  <a16:creationId xmlns:a16="http://schemas.microsoft.com/office/drawing/2014/main" id="{D8C85AE4-1AFC-7B6A-D5DF-C1DCC543AE88}"/>
                </a:ext>
              </a:extLst>
            </p:cNvPr>
            <p:cNvSpPr/>
            <p:nvPr/>
          </p:nvSpPr>
          <p:spPr>
            <a:xfrm rot="5400000">
              <a:off x="5572031" y="3694013"/>
              <a:ext cx="317409" cy="142972"/>
            </a:xfrm>
            <a:prstGeom prst="triangle">
              <a:avLst>
                <a:gd name="adj" fmla="val 50981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bg2">
                    <a:lumMod val="20000"/>
                    <a:lumOff val="8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70" name="正方形/長方形 69">
              <a:extLst>
                <a:ext uri="{FF2B5EF4-FFF2-40B4-BE49-F238E27FC236}">
                  <a16:creationId xmlns:a16="http://schemas.microsoft.com/office/drawing/2014/main" id="{1BCC2624-149B-4358-9619-B21A7A6AC635}"/>
                </a:ext>
              </a:extLst>
            </p:cNvPr>
            <p:cNvSpPr/>
            <p:nvPr/>
          </p:nvSpPr>
          <p:spPr>
            <a:xfrm>
              <a:off x="3476787" y="3562111"/>
              <a:ext cx="484736" cy="35080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100" b="1" dirty="0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検索</a:t>
              </a:r>
            </a:p>
          </p:txBody>
        </p:sp>
        <p:sp>
          <p:nvSpPr>
            <p:cNvPr id="71" name="正方形/長方形 70">
              <a:extLst>
                <a:ext uri="{FF2B5EF4-FFF2-40B4-BE49-F238E27FC236}">
                  <a16:creationId xmlns:a16="http://schemas.microsoft.com/office/drawing/2014/main" id="{58A1569F-ED96-C03A-BB6D-E4EBC1894DD5}"/>
                </a:ext>
              </a:extLst>
            </p:cNvPr>
            <p:cNvSpPr/>
            <p:nvPr/>
          </p:nvSpPr>
          <p:spPr>
            <a:xfrm>
              <a:off x="2630946" y="3573393"/>
              <a:ext cx="801511" cy="310406"/>
            </a:xfrm>
            <a:prstGeom prst="rect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grpSp>
          <p:nvGrpSpPr>
            <p:cNvPr id="80" name="グループ化 79">
              <a:extLst>
                <a:ext uri="{FF2B5EF4-FFF2-40B4-BE49-F238E27FC236}">
                  <a16:creationId xmlns:a16="http://schemas.microsoft.com/office/drawing/2014/main" id="{8F033E5B-E01C-42AE-42E8-9D6C219BD493}"/>
                </a:ext>
              </a:extLst>
            </p:cNvPr>
            <p:cNvGrpSpPr/>
            <p:nvPr/>
          </p:nvGrpSpPr>
          <p:grpSpPr>
            <a:xfrm>
              <a:off x="4318769" y="3131944"/>
              <a:ext cx="1268994" cy="310406"/>
              <a:chOff x="3511236" y="3104422"/>
              <a:chExt cx="1268994" cy="310406"/>
            </a:xfrm>
          </p:grpSpPr>
          <p:sp>
            <p:nvSpPr>
              <p:cNvPr id="72" name="正方形/長方形 71">
                <a:extLst>
                  <a:ext uri="{FF2B5EF4-FFF2-40B4-BE49-F238E27FC236}">
                    <a16:creationId xmlns:a16="http://schemas.microsoft.com/office/drawing/2014/main" id="{53B8D796-3D71-8643-8839-6C6626963981}"/>
                  </a:ext>
                </a:extLst>
              </p:cNvPr>
              <p:cNvSpPr/>
              <p:nvPr/>
            </p:nvSpPr>
            <p:spPr>
              <a:xfrm>
                <a:off x="3511236" y="3104422"/>
                <a:ext cx="484736" cy="31040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1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広告</a:t>
                </a:r>
              </a:p>
            </p:txBody>
          </p:sp>
          <p:cxnSp>
            <p:nvCxnSpPr>
              <p:cNvPr id="75" name="直線コネクタ 74">
                <a:extLst>
                  <a:ext uri="{FF2B5EF4-FFF2-40B4-BE49-F238E27FC236}">
                    <a16:creationId xmlns:a16="http://schemas.microsoft.com/office/drawing/2014/main" id="{2953EA9B-3D8D-4312-4D7E-AF752FD438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176850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線コネクタ 77">
                <a:extLst>
                  <a:ext uri="{FF2B5EF4-FFF2-40B4-BE49-F238E27FC236}">
                    <a16:creationId xmlns:a16="http://schemas.microsoft.com/office/drawing/2014/main" id="{A67C3770-7F48-B61D-0871-0E5CAE9182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259625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線コネクタ 78">
                <a:extLst>
                  <a:ext uri="{FF2B5EF4-FFF2-40B4-BE49-F238E27FC236}">
                    <a16:creationId xmlns:a16="http://schemas.microsoft.com/office/drawing/2014/main" id="{777FCBD6-E9D4-A2A8-4DC2-B976D1509F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351831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6" name="グループ化 85">
              <a:extLst>
                <a:ext uri="{FF2B5EF4-FFF2-40B4-BE49-F238E27FC236}">
                  <a16:creationId xmlns:a16="http://schemas.microsoft.com/office/drawing/2014/main" id="{B57AFDE8-5DF0-7844-0B87-4352255CEF20}"/>
                </a:ext>
              </a:extLst>
            </p:cNvPr>
            <p:cNvGrpSpPr/>
            <p:nvPr/>
          </p:nvGrpSpPr>
          <p:grpSpPr>
            <a:xfrm>
              <a:off x="4318769" y="3593597"/>
              <a:ext cx="1268994" cy="310406"/>
              <a:chOff x="3511236" y="3104422"/>
              <a:chExt cx="1268994" cy="310406"/>
            </a:xfrm>
          </p:grpSpPr>
          <p:sp>
            <p:nvSpPr>
              <p:cNvPr id="87" name="正方形/長方形 86">
                <a:extLst>
                  <a:ext uri="{FF2B5EF4-FFF2-40B4-BE49-F238E27FC236}">
                    <a16:creationId xmlns:a16="http://schemas.microsoft.com/office/drawing/2014/main" id="{E28F1418-7038-2477-C786-33AC4ECD7A3B}"/>
                  </a:ext>
                </a:extLst>
              </p:cNvPr>
              <p:cNvSpPr/>
              <p:nvPr/>
            </p:nvSpPr>
            <p:spPr>
              <a:xfrm>
                <a:off x="3511236" y="3104422"/>
                <a:ext cx="484736" cy="31040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1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広告</a:t>
                </a:r>
                <a:endParaRPr kumimoji="1" lang="en-US" altLang="ja-JP" sz="1100" b="1" dirty="0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  <p:cxnSp>
            <p:nvCxnSpPr>
              <p:cNvPr id="88" name="直線コネクタ 87">
                <a:extLst>
                  <a:ext uri="{FF2B5EF4-FFF2-40B4-BE49-F238E27FC236}">
                    <a16:creationId xmlns:a16="http://schemas.microsoft.com/office/drawing/2014/main" id="{3AF8EA3B-B889-3008-950E-DA9FA84434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176850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直線コネクタ 88">
                <a:extLst>
                  <a:ext uri="{FF2B5EF4-FFF2-40B4-BE49-F238E27FC236}">
                    <a16:creationId xmlns:a16="http://schemas.microsoft.com/office/drawing/2014/main" id="{D55440B9-D676-02CA-4E96-DF5F6922BB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259625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線コネクタ 89">
                <a:extLst>
                  <a:ext uri="{FF2B5EF4-FFF2-40B4-BE49-F238E27FC236}">
                    <a16:creationId xmlns:a16="http://schemas.microsoft.com/office/drawing/2014/main" id="{103CD2F1-FA24-4198-56E2-98BBB9FDCE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351831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1" name="グループ化 90">
              <a:extLst>
                <a:ext uri="{FF2B5EF4-FFF2-40B4-BE49-F238E27FC236}">
                  <a16:creationId xmlns:a16="http://schemas.microsoft.com/office/drawing/2014/main" id="{BD550A82-6492-1C34-DCA9-3139C6B015B3}"/>
                </a:ext>
              </a:extLst>
            </p:cNvPr>
            <p:cNvGrpSpPr/>
            <p:nvPr/>
          </p:nvGrpSpPr>
          <p:grpSpPr>
            <a:xfrm>
              <a:off x="4318769" y="4055250"/>
              <a:ext cx="1268994" cy="310406"/>
              <a:chOff x="3511236" y="3104422"/>
              <a:chExt cx="1268994" cy="310406"/>
            </a:xfrm>
          </p:grpSpPr>
          <p:sp>
            <p:nvSpPr>
              <p:cNvPr id="92" name="正方形/長方形 91">
                <a:extLst>
                  <a:ext uri="{FF2B5EF4-FFF2-40B4-BE49-F238E27FC236}">
                    <a16:creationId xmlns:a16="http://schemas.microsoft.com/office/drawing/2014/main" id="{0E4A9619-F0F1-8BE7-4D02-D072444DF218}"/>
                  </a:ext>
                </a:extLst>
              </p:cNvPr>
              <p:cNvSpPr/>
              <p:nvPr/>
            </p:nvSpPr>
            <p:spPr>
              <a:xfrm>
                <a:off x="3511236" y="3104422"/>
                <a:ext cx="484736" cy="31040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1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広告</a:t>
                </a:r>
              </a:p>
            </p:txBody>
          </p:sp>
          <p:cxnSp>
            <p:nvCxnSpPr>
              <p:cNvPr id="93" name="直線コネクタ 92">
                <a:extLst>
                  <a:ext uri="{FF2B5EF4-FFF2-40B4-BE49-F238E27FC236}">
                    <a16:creationId xmlns:a16="http://schemas.microsoft.com/office/drawing/2014/main" id="{A52A151C-1466-C53F-9DAA-CDF0CB5362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176850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直線コネクタ 93">
                <a:extLst>
                  <a:ext uri="{FF2B5EF4-FFF2-40B4-BE49-F238E27FC236}">
                    <a16:creationId xmlns:a16="http://schemas.microsoft.com/office/drawing/2014/main" id="{65C20BD1-CAFC-EED3-CA57-625595AFC4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259625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直線コネクタ 94">
                <a:extLst>
                  <a:ext uri="{FF2B5EF4-FFF2-40B4-BE49-F238E27FC236}">
                    <a16:creationId xmlns:a16="http://schemas.microsoft.com/office/drawing/2014/main" id="{AD58799E-ADAB-E099-8380-1907FDC54D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351831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6" name="グループ化 95">
              <a:extLst>
                <a:ext uri="{FF2B5EF4-FFF2-40B4-BE49-F238E27FC236}">
                  <a16:creationId xmlns:a16="http://schemas.microsoft.com/office/drawing/2014/main" id="{5906E0A1-A7AF-FB29-37DE-7BB79EC8E84D}"/>
                </a:ext>
              </a:extLst>
            </p:cNvPr>
            <p:cNvGrpSpPr/>
            <p:nvPr/>
          </p:nvGrpSpPr>
          <p:grpSpPr>
            <a:xfrm>
              <a:off x="5947931" y="3131944"/>
              <a:ext cx="1268994" cy="310406"/>
              <a:chOff x="3511236" y="3104422"/>
              <a:chExt cx="1268994" cy="310406"/>
            </a:xfrm>
          </p:grpSpPr>
          <p:sp>
            <p:nvSpPr>
              <p:cNvPr id="97" name="正方形/長方形 96">
                <a:extLst>
                  <a:ext uri="{FF2B5EF4-FFF2-40B4-BE49-F238E27FC236}">
                    <a16:creationId xmlns:a16="http://schemas.microsoft.com/office/drawing/2014/main" id="{3AD03096-2532-0103-6BF3-33FE3ACB8B51}"/>
                  </a:ext>
                </a:extLst>
              </p:cNvPr>
              <p:cNvSpPr/>
              <p:nvPr/>
            </p:nvSpPr>
            <p:spPr>
              <a:xfrm>
                <a:off x="3511236" y="3104422"/>
                <a:ext cx="484736" cy="31040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1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広告</a:t>
                </a:r>
              </a:p>
            </p:txBody>
          </p:sp>
          <p:cxnSp>
            <p:nvCxnSpPr>
              <p:cNvPr id="98" name="直線コネクタ 97">
                <a:extLst>
                  <a:ext uri="{FF2B5EF4-FFF2-40B4-BE49-F238E27FC236}">
                    <a16:creationId xmlns:a16="http://schemas.microsoft.com/office/drawing/2014/main" id="{2D617222-DE8A-35BD-19E2-3DF27B0AED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176850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直線コネクタ 98">
                <a:extLst>
                  <a:ext uri="{FF2B5EF4-FFF2-40B4-BE49-F238E27FC236}">
                    <a16:creationId xmlns:a16="http://schemas.microsoft.com/office/drawing/2014/main" id="{49E42AC1-619C-FA46-100C-627210FCB9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259625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直線コネクタ 99">
                <a:extLst>
                  <a:ext uri="{FF2B5EF4-FFF2-40B4-BE49-F238E27FC236}">
                    <a16:creationId xmlns:a16="http://schemas.microsoft.com/office/drawing/2014/main" id="{3B6FDFE4-D898-03FA-60BC-28546522E3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351831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1" name="グループ化 100">
              <a:extLst>
                <a:ext uri="{FF2B5EF4-FFF2-40B4-BE49-F238E27FC236}">
                  <a16:creationId xmlns:a16="http://schemas.microsoft.com/office/drawing/2014/main" id="{739CF085-B51F-8420-9BF6-80B2E165365D}"/>
                </a:ext>
              </a:extLst>
            </p:cNvPr>
            <p:cNvGrpSpPr/>
            <p:nvPr/>
          </p:nvGrpSpPr>
          <p:grpSpPr>
            <a:xfrm>
              <a:off x="5947931" y="3593597"/>
              <a:ext cx="1268994" cy="310406"/>
              <a:chOff x="3511236" y="3104422"/>
              <a:chExt cx="1268994" cy="310406"/>
            </a:xfrm>
          </p:grpSpPr>
          <p:sp>
            <p:nvSpPr>
              <p:cNvPr id="102" name="正方形/長方形 101">
                <a:extLst>
                  <a:ext uri="{FF2B5EF4-FFF2-40B4-BE49-F238E27FC236}">
                    <a16:creationId xmlns:a16="http://schemas.microsoft.com/office/drawing/2014/main" id="{96387477-F070-5148-5DE7-59D694D0F0FD}"/>
                  </a:ext>
                </a:extLst>
              </p:cNvPr>
              <p:cNvSpPr/>
              <p:nvPr/>
            </p:nvSpPr>
            <p:spPr>
              <a:xfrm>
                <a:off x="3511236" y="3104422"/>
                <a:ext cx="484736" cy="31040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1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広告</a:t>
                </a:r>
              </a:p>
            </p:txBody>
          </p:sp>
          <p:cxnSp>
            <p:nvCxnSpPr>
              <p:cNvPr id="103" name="直線コネクタ 102">
                <a:extLst>
                  <a:ext uri="{FF2B5EF4-FFF2-40B4-BE49-F238E27FC236}">
                    <a16:creationId xmlns:a16="http://schemas.microsoft.com/office/drawing/2014/main" id="{BF472D4A-A323-7B08-50E5-E532662662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176850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直線コネクタ 103">
                <a:extLst>
                  <a:ext uri="{FF2B5EF4-FFF2-40B4-BE49-F238E27FC236}">
                    <a16:creationId xmlns:a16="http://schemas.microsoft.com/office/drawing/2014/main" id="{2DDDB917-D8C8-DA40-A062-72C49EBE3A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259625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直線コネクタ 104">
                <a:extLst>
                  <a:ext uri="{FF2B5EF4-FFF2-40B4-BE49-F238E27FC236}">
                    <a16:creationId xmlns:a16="http://schemas.microsoft.com/office/drawing/2014/main" id="{50C49095-2047-7F16-CE99-4E061D5359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351831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6" name="グループ化 105">
              <a:extLst>
                <a:ext uri="{FF2B5EF4-FFF2-40B4-BE49-F238E27FC236}">
                  <a16:creationId xmlns:a16="http://schemas.microsoft.com/office/drawing/2014/main" id="{B6D9A223-5055-FDE3-7B02-C5BB75514F5B}"/>
                </a:ext>
              </a:extLst>
            </p:cNvPr>
            <p:cNvGrpSpPr/>
            <p:nvPr/>
          </p:nvGrpSpPr>
          <p:grpSpPr>
            <a:xfrm>
              <a:off x="5947931" y="4055250"/>
              <a:ext cx="1268994" cy="310406"/>
              <a:chOff x="3511236" y="3104422"/>
              <a:chExt cx="1268994" cy="310406"/>
            </a:xfrm>
          </p:grpSpPr>
          <p:sp>
            <p:nvSpPr>
              <p:cNvPr id="107" name="正方形/長方形 106">
                <a:extLst>
                  <a:ext uri="{FF2B5EF4-FFF2-40B4-BE49-F238E27FC236}">
                    <a16:creationId xmlns:a16="http://schemas.microsoft.com/office/drawing/2014/main" id="{5CB8451D-EC4D-4BC6-ADEE-3E44F32454B0}"/>
                  </a:ext>
                </a:extLst>
              </p:cNvPr>
              <p:cNvSpPr/>
              <p:nvPr/>
            </p:nvSpPr>
            <p:spPr>
              <a:xfrm>
                <a:off x="3511236" y="3104422"/>
                <a:ext cx="484736" cy="31040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1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広告</a:t>
                </a:r>
              </a:p>
            </p:txBody>
          </p:sp>
          <p:cxnSp>
            <p:nvCxnSpPr>
              <p:cNvPr id="108" name="直線コネクタ 107">
                <a:extLst>
                  <a:ext uri="{FF2B5EF4-FFF2-40B4-BE49-F238E27FC236}">
                    <a16:creationId xmlns:a16="http://schemas.microsoft.com/office/drawing/2014/main" id="{2F1F6DE1-7477-FC1D-77DA-D669F83E46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176850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直線コネクタ 108">
                <a:extLst>
                  <a:ext uri="{FF2B5EF4-FFF2-40B4-BE49-F238E27FC236}">
                    <a16:creationId xmlns:a16="http://schemas.microsoft.com/office/drawing/2014/main" id="{628774C5-523C-AD29-3A63-3B5DAE6E48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259625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直線コネクタ 109">
                <a:extLst>
                  <a:ext uri="{FF2B5EF4-FFF2-40B4-BE49-F238E27FC236}">
                    <a16:creationId xmlns:a16="http://schemas.microsoft.com/office/drawing/2014/main" id="{7562C1F2-609D-3B56-E4C7-9D983E52FB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351831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9" name="グループ化 128">
              <a:extLst>
                <a:ext uri="{FF2B5EF4-FFF2-40B4-BE49-F238E27FC236}">
                  <a16:creationId xmlns:a16="http://schemas.microsoft.com/office/drawing/2014/main" id="{BD163776-75E1-8A30-FE19-A6F3F033A46F}"/>
                </a:ext>
              </a:extLst>
            </p:cNvPr>
            <p:cNvGrpSpPr/>
            <p:nvPr/>
          </p:nvGrpSpPr>
          <p:grpSpPr>
            <a:xfrm>
              <a:off x="1158625" y="3223795"/>
              <a:ext cx="914400" cy="1148203"/>
              <a:chOff x="370963" y="3328308"/>
              <a:chExt cx="914400" cy="1148203"/>
            </a:xfrm>
          </p:grpSpPr>
          <p:pic>
            <p:nvPicPr>
              <p:cNvPr id="114" name="グラフィックス 113" descr="電球 単色塗りつぶし">
                <a:extLst>
                  <a:ext uri="{FF2B5EF4-FFF2-40B4-BE49-F238E27FC236}">
                    <a16:creationId xmlns:a16="http://schemas.microsoft.com/office/drawing/2014/main" id="{AE85F1CC-9CD5-97A2-5B90-B6219A15EB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370963" y="3562111"/>
                <a:ext cx="914400" cy="914400"/>
              </a:xfrm>
              <a:prstGeom prst="rect">
                <a:avLst/>
              </a:prstGeom>
            </p:spPr>
          </p:pic>
          <p:cxnSp>
            <p:nvCxnSpPr>
              <p:cNvPr id="116" name="直線コネクタ 115">
                <a:extLst>
                  <a:ext uri="{FF2B5EF4-FFF2-40B4-BE49-F238E27FC236}">
                    <a16:creationId xmlns:a16="http://schemas.microsoft.com/office/drawing/2014/main" id="{5DCDE5A6-09F5-BC4B-E6F7-C27C0D7FB8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3161" y="3328308"/>
                <a:ext cx="0" cy="215989"/>
              </a:xfrm>
              <a:prstGeom prst="line">
                <a:avLst/>
              </a:prstGeom>
              <a:ln w="57150" cap="rnd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直線コネクタ 118">
                <a:extLst>
                  <a:ext uri="{FF2B5EF4-FFF2-40B4-BE49-F238E27FC236}">
                    <a16:creationId xmlns:a16="http://schemas.microsoft.com/office/drawing/2014/main" id="{243987DA-A00A-C994-128C-CF28FFD17F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689" y="3403486"/>
                <a:ext cx="75547" cy="174669"/>
              </a:xfrm>
              <a:prstGeom prst="line">
                <a:avLst/>
              </a:prstGeom>
              <a:ln w="57150" cap="rnd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直線コネクタ 122">
                <a:extLst>
                  <a:ext uri="{FF2B5EF4-FFF2-40B4-BE49-F238E27FC236}">
                    <a16:creationId xmlns:a16="http://schemas.microsoft.com/office/drawing/2014/main" id="{F9110DCC-3400-0FA9-6895-B071E50D5A0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78957" y="3403486"/>
                <a:ext cx="80853" cy="174669"/>
              </a:xfrm>
              <a:prstGeom prst="line">
                <a:avLst/>
              </a:prstGeom>
              <a:ln w="57150" cap="rnd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0" name="正方形/長方形 129">
              <a:extLst>
                <a:ext uri="{FF2B5EF4-FFF2-40B4-BE49-F238E27FC236}">
                  <a16:creationId xmlns:a16="http://schemas.microsoft.com/office/drawing/2014/main" id="{72996FFE-8B96-BF8D-A324-C9079C329CD6}"/>
                </a:ext>
              </a:extLst>
            </p:cNvPr>
            <p:cNvSpPr/>
            <p:nvPr/>
          </p:nvSpPr>
          <p:spPr>
            <a:xfrm>
              <a:off x="5924115" y="3076575"/>
              <a:ext cx="1343024" cy="424818"/>
            </a:xfrm>
            <a:prstGeom prst="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C70B0723-7CF0-FBB3-8ABE-8D1F12BD2A39}"/>
                </a:ext>
              </a:extLst>
            </p:cNvPr>
            <p:cNvSpPr/>
            <p:nvPr/>
          </p:nvSpPr>
          <p:spPr>
            <a:xfrm>
              <a:off x="936529" y="4821442"/>
              <a:ext cx="1414979" cy="1522469"/>
            </a:xfrm>
            <a:prstGeom prst="rect">
              <a:avLst/>
            </a:prstGeom>
            <a:solidFill>
              <a:srgbClr val="191F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認知</a:t>
              </a:r>
              <a:endParaRPr kumimoji="1" lang="en-US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r>
                <a:rPr kumimoji="1" lang="ja-JP" altLang="en-US" sz="12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マーケット状況の把握</a:t>
              </a:r>
              <a:endParaRPr kumimoji="1" lang="en-US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endParaRPr kumimoji="1" lang="en-US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r>
                <a:rPr kumimoji="1" lang="ja-JP" altLang="en-US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・競合と比較した認知度</a:t>
              </a:r>
              <a:endParaRPr kumimoji="1" lang="en-US" altLang="ja-JP" sz="8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r>
                <a:rPr kumimoji="1" lang="ja-JP" altLang="en-US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・認知度別の施策</a:t>
              </a:r>
            </a:p>
          </p:txBody>
        </p: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E2324C36-63E3-5B42-9D9D-8A74DDD97B1B}"/>
                </a:ext>
              </a:extLst>
            </p:cNvPr>
            <p:cNvSpPr/>
            <p:nvPr/>
          </p:nvSpPr>
          <p:spPr>
            <a:xfrm>
              <a:off x="2590873" y="4821442"/>
              <a:ext cx="1414979" cy="1522469"/>
            </a:xfrm>
            <a:prstGeom prst="rect">
              <a:avLst/>
            </a:prstGeom>
            <a:solidFill>
              <a:srgbClr val="191F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CV</a:t>
              </a:r>
              <a:r>
                <a:rPr kumimoji="1" lang="ja-JP" altLang="en-US" sz="12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上位クエリの網羅</a:t>
              </a:r>
              <a:endParaRPr kumimoji="1" lang="en-US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endParaRPr kumimoji="1" lang="en-US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r>
                <a:rPr kumimoji="1" lang="ja-JP" altLang="en-US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・</a:t>
              </a:r>
              <a:r>
                <a:rPr kumimoji="1" lang="en-US" altLang="ja-JP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KW</a:t>
              </a:r>
              <a:r>
                <a:rPr kumimoji="1" lang="ja-JP" altLang="en-US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の抜け漏れ</a:t>
              </a:r>
              <a:endParaRPr kumimoji="1" lang="en-US" altLang="ja-JP" sz="8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r>
                <a:rPr kumimoji="1" lang="ja-JP" altLang="en-US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・マッチタイプの使い分け</a:t>
              </a:r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0A66ACAB-BFDB-2492-F624-9A7BD274EAF4}"/>
                </a:ext>
              </a:extLst>
            </p:cNvPr>
            <p:cNvSpPr/>
            <p:nvPr/>
          </p:nvSpPr>
          <p:spPr>
            <a:xfrm>
              <a:off x="4228046" y="4821442"/>
              <a:ext cx="1414979" cy="1522469"/>
            </a:xfrm>
            <a:prstGeom prst="rect">
              <a:avLst/>
            </a:prstGeom>
            <a:solidFill>
              <a:srgbClr val="191F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入札戦略</a:t>
              </a:r>
              <a:endPara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endPara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r>
                <a:rPr kumimoji="1" lang="ja-JP" altLang="en-US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・意図する入札戦略が実施できているか</a:t>
              </a:r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D9221EFB-6203-18AE-F1F2-1831C2554117}"/>
                </a:ext>
              </a:extLst>
            </p:cNvPr>
            <p:cNvSpPr/>
            <p:nvPr/>
          </p:nvSpPr>
          <p:spPr>
            <a:xfrm>
              <a:off x="5908878" y="4821442"/>
              <a:ext cx="1414979" cy="1522469"/>
            </a:xfrm>
            <a:prstGeom prst="rect">
              <a:avLst/>
            </a:prstGeom>
            <a:solidFill>
              <a:srgbClr val="191F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広告の最適化</a:t>
              </a:r>
              <a:endPara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endPara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r>
                <a:rPr kumimoji="1" lang="ja-JP" altLang="en-US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・適切な</a:t>
              </a:r>
              <a:r>
                <a:rPr kumimoji="1" lang="en-US" altLang="ja-JP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TD</a:t>
              </a:r>
              <a:r>
                <a:rPr kumimoji="1" lang="ja-JP" altLang="en-US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が検証されているか</a:t>
              </a:r>
              <a:endParaRPr kumimoji="1" lang="en-US" altLang="ja-JP" sz="8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r>
                <a:rPr kumimoji="1" lang="ja-JP" altLang="en-US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・表示オプションが網羅されているか</a:t>
              </a:r>
            </a:p>
          </p:txBody>
        </p: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92E9C117-B241-B855-3F5E-D85E5AC20C5F}"/>
                </a:ext>
              </a:extLst>
            </p:cNvPr>
            <p:cNvCxnSpPr>
              <a:cxnSpLocks/>
              <a:stCxn id="5" idx="0"/>
              <a:endCxn id="10" idx="2"/>
            </p:cNvCxnSpPr>
            <p:nvPr/>
          </p:nvCxnSpPr>
          <p:spPr>
            <a:xfrm flipV="1">
              <a:off x="1644019" y="4526732"/>
              <a:ext cx="472" cy="294710"/>
            </a:xfrm>
            <a:prstGeom prst="line">
              <a:avLst/>
            </a:prstGeom>
            <a:ln w="28575">
              <a:solidFill>
                <a:srgbClr val="191F5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コネクタ 22">
              <a:extLst>
                <a:ext uri="{FF2B5EF4-FFF2-40B4-BE49-F238E27FC236}">
                  <a16:creationId xmlns:a16="http://schemas.microsoft.com/office/drawing/2014/main" id="{6E0749A8-D23F-9D28-697F-CD723EF556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90071" y="4526732"/>
              <a:ext cx="472" cy="294710"/>
            </a:xfrm>
            <a:prstGeom prst="line">
              <a:avLst/>
            </a:prstGeom>
            <a:ln w="28575">
              <a:solidFill>
                <a:srgbClr val="191F5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コネクタ 23">
              <a:extLst>
                <a:ext uri="{FF2B5EF4-FFF2-40B4-BE49-F238E27FC236}">
                  <a16:creationId xmlns:a16="http://schemas.microsoft.com/office/drawing/2014/main" id="{84CBB881-A2A6-0A79-ADDF-1D747E8AE5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51287" y="4526732"/>
              <a:ext cx="472" cy="294710"/>
            </a:xfrm>
            <a:prstGeom prst="line">
              <a:avLst/>
            </a:prstGeom>
            <a:ln w="28575">
              <a:solidFill>
                <a:srgbClr val="191F5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コネクタ 24">
              <a:extLst>
                <a:ext uri="{FF2B5EF4-FFF2-40B4-BE49-F238E27FC236}">
                  <a16:creationId xmlns:a16="http://schemas.microsoft.com/office/drawing/2014/main" id="{540974C5-2873-582B-CD3C-665235CD3D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14400" y="4526732"/>
              <a:ext cx="472" cy="294710"/>
            </a:xfrm>
            <a:prstGeom prst="line">
              <a:avLst/>
            </a:prstGeom>
            <a:ln w="28575">
              <a:solidFill>
                <a:srgbClr val="191F5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F2EF7CFE-F08E-E35E-B124-F87E97839BD0}"/>
              </a:ext>
            </a:extLst>
          </p:cNvPr>
          <p:cNvSpPr txBox="1"/>
          <p:nvPr/>
        </p:nvSpPr>
        <p:spPr>
          <a:xfrm>
            <a:off x="-74488" y="1552838"/>
            <a:ext cx="9905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8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それぞれの段階で理想の状態を追求</a:t>
            </a:r>
          </a:p>
        </p:txBody>
      </p:sp>
      <p:sp>
        <p:nvSpPr>
          <p:cNvPr id="15" name="Google Shape;64;p3">
            <a:extLst>
              <a:ext uri="{FF2B5EF4-FFF2-40B4-BE49-F238E27FC236}">
                <a16:creationId xmlns:a16="http://schemas.microsoft.com/office/drawing/2014/main" id="{6E8DA507-0C59-2733-1837-6E8A8F3797E9}"/>
              </a:ext>
            </a:extLst>
          </p:cNvPr>
          <p:cNvSpPr txBox="1"/>
          <p:nvPr/>
        </p:nvSpPr>
        <p:spPr>
          <a:xfrm>
            <a:off x="501705" y="82419"/>
            <a:ext cx="4451295" cy="387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kumimoji="1" lang="ja-JP" altLang="en-US" sz="1600" spc="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配信戦略</a:t>
            </a:r>
          </a:p>
        </p:txBody>
      </p:sp>
    </p:spTree>
    <p:extLst>
      <p:ext uri="{BB962C8B-B14F-4D97-AF65-F5344CB8AC3E}">
        <p14:creationId xmlns:p14="http://schemas.microsoft.com/office/powerpoint/2010/main" val="12645447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C09EC161-5E80-4A2E-B74D-898FEBE71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D45DD0C-3161-CF88-2F20-E5512B875BA4}"/>
              </a:ext>
            </a:extLst>
          </p:cNvPr>
          <p:cNvSpPr/>
          <p:nvPr/>
        </p:nvSpPr>
        <p:spPr>
          <a:xfrm>
            <a:off x="-1712" y="766081"/>
            <a:ext cx="9906000" cy="550218"/>
          </a:xfrm>
          <a:prstGeom prst="rect">
            <a:avLst/>
          </a:prstGeom>
          <a:solidFill>
            <a:srgbClr val="191F5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spc="3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今回は新規広告案件のため、類似サービス企業の配信状態を鑑みて決定する。</a:t>
            </a:r>
          </a:p>
        </p:txBody>
      </p:sp>
      <p:sp>
        <p:nvSpPr>
          <p:cNvPr id="18" name="Google Shape;64;p3">
            <a:extLst>
              <a:ext uri="{FF2B5EF4-FFF2-40B4-BE49-F238E27FC236}">
                <a16:creationId xmlns:a16="http://schemas.microsoft.com/office/drawing/2014/main" id="{95743896-299C-4C7C-2B1B-F58BFFFA7115}"/>
              </a:ext>
            </a:extLst>
          </p:cNvPr>
          <p:cNvSpPr txBox="1"/>
          <p:nvPr/>
        </p:nvSpPr>
        <p:spPr>
          <a:xfrm>
            <a:off x="501705" y="83613"/>
            <a:ext cx="4451295" cy="387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kumimoji="1" lang="ja-JP" altLang="en-US" sz="1600" spc="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配信戦略</a:t>
            </a:r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A29626FF-0242-5661-F5F5-CBD02944272A}"/>
              </a:ext>
            </a:extLst>
          </p:cNvPr>
          <p:cNvGrpSpPr/>
          <p:nvPr/>
        </p:nvGrpSpPr>
        <p:grpSpPr>
          <a:xfrm>
            <a:off x="1757624" y="2161733"/>
            <a:ext cx="6387329" cy="4182178"/>
            <a:chOff x="936528" y="2161733"/>
            <a:chExt cx="6387329" cy="4182178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240B257E-C19F-2144-3EF5-6FD63106B94F}"/>
                </a:ext>
              </a:extLst>
            </p:cNvPr>
            <p:cNvSpPr/>
            <p:nvPr/>
          </p:nvSpPr>
          <p:spPr>
            <a:xfrm>
              <a:off x="1411124" y="3543287"/>
              <a:ext cx="413390" cy="462479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grpSp>
          <p:nvGrpSpPr>
            <p:cNvPr id="16" name="グループ化 15">
              <a:extLst>
                <a:ext uri="{FF2B5EF4-FFF2-40B4-BE49-F238E27FC236}">
                  <a16:creationId xmlns:a16="http://schemas.microsoft.com/office/drawing/2014/main" id="{4B19DE4A-50FA-26D3-C42F-6EE3E1FC4F04}"/>
                </a:ext>
              </a:extLst>
            </p:cNvPr>
            <p:cNvGrpSpPr/>
            <p:nvPr/>
          </p:nvGrpSpPr>
          <p:grpSpPr>
            <a:xfrm>
              <a:off x="936528" y="2161733"/>
              <a:ext cx="1415928" cy="2364999"/>
              <a:chOff x="130513" y="2161734"/>
              <a:chExt cx="1734503" cy="2897110"/>
            </a:xfrm>
          </p:grpSpPr>
          <p:sp>
            <p:nvSpPr>
              <p:cNvPr id="138" name="正方形/長方形 137">
                <a:extLst>
                  <a:ext uri="{FF2B5EF4-FFF2-40B4-BE49-F238E27FC236}">
                    <a16:creationId xmlns:a16="http://schemas.microsoft.com/office/drawing/2014/main" id="{A1CFCD5A-8C10-423C-7B0C-5F076E32611C}"/>
                  </a:ext>
                </a:extLst>
              </p:cNvPr>
              <p:cNvSpPr/>
              <p:nvPr/>
            </p:nvSpPr>
            <p:spPr>
              <a:xfrm>
                <a:off x="130514" y="2161734"/>
                <a:ext cx="1734502" cy="380245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9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潜在層へのアプローチ</a:t>
                </a:r>
              </a:p>
            </p:txBody>
          </p:sp>
          <p:sp>
            <p:nvSpPr>
              <p:cNvPr id="139" name="正方形/長方形 138">
                <a:extLst>
                  <a:ext uri="{FF2B5EF4-FFF2-40B4-BE49-F238E27FC236}">
                    <a16:creationId xmlns:a16="http://schemas.microsoft.com/office/drawing/2014/main" id="{570041B8-A48D-48BB-22B9-B0CCC0167F3E}"/>
                  </a:ext>
                </a:extLst>
              </p:cNvPr>
              <p:cNvSpPr/>
              <p:nvPr/>
            </p:nvSpPr>
            <p:spPr>
              <a:xfrm>
                <a:off x="130514" y="2677781"/>
                <a:ext cx="1734502" cy="380245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2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認知</a:t>
                </a:r>
              </a:p>
            </p:txBody>
          </p:sp>
          <p:sp>
            <p:nvSpPr>
              <p:cNvPr id="140" name="正方形/長方形 139">
                <a:extLst>
                  <a:ext uri="{FF2B5EF4-FFF2-40B4-BE49-F238E27FC236}">
                    <a16:creationId xmlns:a16="http://schemas.microsoft.com/office/drawing/2014/main" id="{94C7A77E-BF0E-293F-9741-0E59B5F4F160}"/>
                  </a:ext>
                </a:extLst>
              </p:cNvPr>
              <p:cNvSpPr/>
              <p:nvPr/>
            </p:nvSpPr>
            <p:spPr>
              <a:xfrm>
                <a:off x="130513" y="3193828"/>
                <a:ext cx="1734501" cy="186501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</p:grpSp>
        <p:grpSp>
          <p:nvGrpSpPr>
            <p:cNvPr id="17" name="グループ化 16">
              <a:extLst>
                <a:ext uri="{FF2B5EF4-FFF2-40B4-BE49-F238E27FC236}">
                  <a16:creationId xmlns:a16="http://schemas.microsoft.com/office/drawing/2014/main" id="{5243B6F9-F2AF-4136-E707-F03D7FAE5367}"/>
                </a:ext>
              </a:extLst>
            </p:cNvPr>
            <p:cNvGrpSpPr/>
            <p:nvPr/>
          </p:nvGrpSpPr>
          <p:grpSpPr>
            <a:xfrm>
              <a:off x="5896722" y="2161733"/>
              <a:ext cx="1415928" cy="2364999"/>
              <a:chOff x="130513" y="2161734"/>
              <a:chExt cx="1734503" cy="2897110"/>
            </a:xfrm>
          </p:grpSpPr>
          <p:sp>
            <p:nvSpPr>
              <p:cNvPr id="134" name="正方形/長方形 133">
                <a:extLst>
                  <a:ext uri="{FF2B5EF4-FFF2-40B4-BE49-F238E27FC236}">
                    <a16:creationId xmlns:a16="http://schemas.microsoft.com/office/drawing/2014/main" id="{A471DE15-F2D3-FD4C-E125-F00CEB6CE5A5}"/>
                  </a:ext>
                </a:extLst>
              </p:cNvPr>
              <p:cNvSpPr/>
              <p:nvPr/>
            </p:nvSpPr>
            <p:spPr>
              <a:xfrm>
                <a:off x="130514" y="2161734"/>
                <a:ext cx="1734502" cy="380245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2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広告</a:t>
                </a:r>
              </a:p>
            </p:txBody>
          </p:sp>
          <p:sp>
            <p:nvSpPr>
              <p:cNvPr id="135" name="正方形/長方形 134">
                <a:extLst>
                  <a:ext uri="{FF2B5EF4-FFF2-40B4-BE49-F238E27FC236}">
                    <a16:creationId xmlns:a16="http://schemas.microsoft.com/office/drawing/2014/main" id="{F536E664-87D8-7305-8769-26F27C096B76}"/>
                  </a:ext>
                </a:extLst>
              </p:cNvPr>
              <p:cNvSpPr/>
              <p:nvPr/>
            </p:nvSpPr>
            <p:spPr>
              <a:xfrm>
                <a:off x="130514" y="2677781"/>
                <a:ext cx="1734502" cy="380245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2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広告の選択</a:t>
                </a:r>
              </a:p>
            </p:txBody>
          </p:sp>
          <p:sp>
            <p:nvSpPr>
              <p:cNvPr id="137" name="正方形/長方形 136">
                <a:extLst>
                  <a:ext uri="{FF2B5EF4-FFF2-40B4-BE49-F238E27FC236}">
                    <a16:creationId xmlns:a16="http://schemas.microsoft.com/office/drawing/2014/main" id="{5417BC4E-4392-8074-9E95-41F015728F1A}"/>
                  </a:ext>
                </a:extLst>
              </p:cNvPr>
              <p:cNvSpPr/>
              <p:nvPr/>
            </p:nvSpPr>
            <p:spPr>
              <a:xfrm>
                <a:off x="130513" y="3193828"/>
                <a:ext cx="1734501" cy="186501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</p:grpSp>
        <p:grpSp>
          <p:nvGrpSpPr>
            <p:cNvPr id="20" name="グループ化 19">
              <a:extLst>
                <a:ext uri="{FF2B5EF4-FFF2-40B4-BE49-F238E27FC236}">
                  <a16:creationId xmlns:a16="http://schemas.microsoft.com/office/drawing/2014/main" id="{5BA164A2-5F29-1190-1AA9-51EFCF3FF0CC}"/>
                </a:ext>
              </a:extLst>
            </p:cNvPr>
            <p:cNvGrpSpPr/>
            <p:nvPr/>
          </p:nvGrpSpPr>
          <p:grpSpPr>
            <a:xfrm>
              <a:off x="4243324" y="2161733"/>
              <a:ext cx="1415928" cy="2364999"/>
              <a:chOff x="130513" y="2161734"/>
              <a:chExt cx="1734503" cy="2897110"/>
            </a:xfrm>
          </p:grpSpPr>
          <p:sp>
            <p:nvSpPr>
              <p:cNvPr id="131" name="正方形/長方形 130">
                <a:extLst>
                  <a:ext uri="{FF2B5EF4-FFF2-40B4-BE49-F238E27FC236}">
                    <a16:creationId xmlns:a16="http://schemas.microsoft.com/office/drawing/2014/main" id="{81445406-F56D-DAA7-01FA-230574B9478D}"/>
                  </a:ext>
                </a:extLst>
              </p:cNvPr>
              <p:cNvSpPr/>
              <p:nvPr/>
            </p:nvSpPr>
            <p:spPr>
              <a:xfrm>
                <a:off x="130514" y="2161734"/>
                <a:ext cx="1734502" cy="380245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2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入札</a:t>
                </a:r>
              </a:p>
            </p:txBody>
          </p:sp>
          <p:sp>
            <p:nvSpPr>
              <p:cNvPr id="132" name="正方形/長方形 131">
                <a:extLst>
                  <a:ext uri="{FF2B5EF4-FFF2-40B4-BE49-F238E27FC236}">
                    <a16:creationId xmlns:a16="http://schemas.microsoft.com/office/drawing/2014/main" id="{844332FC-12A5-3763-8070-60A3F9E1C966}"/>
                  </a:ext>
                </a:extLst>
              </p:cNvPr>
              <p:cNvSpPr/>
              <p:nvPr/>
            </p:nvSpPr>
            <p:spPr>
              <a:xfrm>
                <a:off x="130514" y="2677781"/>
                <a:ext cx="1734502" cy="380245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2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広告の露出</a:t>
                </a:r>
              </a:p>
            </p:txBody>
          </p:sp>
          <p:sp>
            <p:nvSpPr>
              <p:cNvPr id="133" name="正方形/長方形 132">
                <a:extLst>
                  <a:ext uri="{FF2B5EF4-FFF2-40B4-BE49-F238E27FC236}">
                    <a16:creationId xmlns:a16="http://schemas.microsoft.com/office/drawing/2014/main" id="{727856A9-847C-7177-577D-FD947ECB035D}"/>
                  </a:ext>
                </a:extLst>
              </p:cNvPr>
              <p:cNvSpPr/>
              <p:nvPr/>
            </p:nvSpPr>
            <p:spPr>
              <a:xfrm>
                <a:off x="130513" y="3193828"/>
                <a:ext cx="1734501" cy="186501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</p:grpSp>
        <p:grpSp>
          <p:nvGrpSpPr>
            <p:cNvPr id="21" name="グループ化 20">
              <a:extLst>
                <a:ext uri="{FF2B5EF4-FFF2-40B4-BE49-F238E27FC236}">
                  <a16:creationId xmlns:a16="http://schemas.microsoft.com/office/drawing/2014/main" id="{74501FBB-0CF5-6245-18F3-CE67BCCB72F5}"/>
                </a:ext>
              </a:extLst>
            </p:cNvPr>
            <p:cNvGrpSpPr/>
            <p:nvPr/>
          </p:nvGrpSpPr>
          <p:grpSpPr>
            <a:xfrm>
              <a:off x="2589926" y="2161733"/>
              <a:ext cx="1415928" cy="2364999"/>
              <a:chOff x="130513" y="2161734"/>
              <a:chExt cx="1734503" cy="2897110"/>
            </a:xfrm>
          </p:grpSpPr>
          <p:sp>
            <p:nvSpPr>
              <p:cNvPr id="126" name="正方形/長方形 125">
                <a:extLst>
                  <a:ext uri="{FF2B5EF4-FFF2-40B4-BE49-F238E27FC236}">
                    <a16:creationId xmlns:a16="http://schemas.microsoft.com/office/drawing/2014/main" id="{28C57726-BE8F-B670-00F0-D14A6B1F0AB2}"/>
                  </a:ext>
                </a:extLst>
              </p:cNvPr>
              <p:cNvSpPr/>
              <p:nvPr/>
            </p:nvSpPr>
            <p:spPr>
              <a:xfrm>
                <a:off x="130514" y="2161734"/>
                <a:ext cx="1734502" cy="380245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2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キーワード</a:t>
                </a:r>
              </a:p>
            </p:txBody>
          </p:sp>
          <p:sp>
            <p:nvSpPr>
              <p:cNvPr id="127" name="正方形/長方形 126">
                <a:extLst>
                  <a:ext uri="{FF2B5EF4-FFF2-40B4-BE49-F238E27FC236}">
                    <a16:creationId xmlns:a16="http://schemas.microsoft.com/office/drawing/2014/main" id="{9C9B7808-280F-17FB-0039-112D93E8D3C0}"/>
                  </a:ext>
                </a:extLst>
              </p:cNvPr>
              <p:cNvSpPr/>
              <p:nvPr/>
            </p:nvSpPr>
            <p:spPr>
              <a:xfrm>
                <a:off x="130514" y="2677781"/>
                <a:ext cx="1734502" cy="380245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2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検索</a:t>
                </a:r>
              </a:p>
            </p:txBody>
          </p:sp>
          <p:sp>
            <p:nvSpPr>
              <p:cNvPr id="128" name="正方形/長方形 127">
                <a:extLst>
                  <a:ext uri="{FF2B5EF4-FFF2-40B4-BE49-F238E27FC236}">
                    <a16:creationId xmlns:a16="http://schemas.microsoft.com/office/drawing/2014/main" id="{95EFE3AB-ABF3-00F8-5AB4-2F0A4F462118}"/>
                  </a:ext>
                </a:extLst>
              </p:cNvPr>
              <p:cNvSpPr/>
              <p:nvPr/>
            </p:nvSpPr>
            <p:spPr>
              <a:xfrm>
                <a:off x="130513" y="3193828"/>
                <a:ext cx="1734501" cy="186501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</p:grpSp>
        <p:sp>
          <p:nvSpPr>
            <p:cNvPr id="22" name="二等辺三角形 21">
              <a:extLst>
                <a:ext uri="{FF2B5EF4-FFF2-40B4-BE49-F238E27FC236}">
                  <a16:creationId xmlns:a16="http://schemas.microsoft.com/office/drawing/2014/main" id="{D6CA8C29-DA1C-760E-09EF-C8105F4AB48A}"/>
                </a:ext>
              </a:extLst>
            </p:cNvPr>
            <p:cNvSpPr/>
            <p:nvPr/>
          </p:nvSpPr>
          <p:spPr>
            <a:xfrm rot="5400000">
              <a:off x="2264291" y="3694011"/>
              <a:ext cx="317409" cy="142972"/>
            </a:xfrm>
            <a:prstGeom prst="triangle">
              <a:avLst>
                <a:gd name="adj" fmla="val 50981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bg2">
                    <a:lumMod val="20000"/>
                    <a:lumOff val="8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26" name="二等辺三角形 25">
              <a:extLst>
                <a:ext uri="{FF2B5EF4-FFF2-40B4-BE49-F238E27FC236}">
                  <a16:creationId xmlns:a16="http://schemas.microsoft.com/office/drawing/2014/main" id="{E1AC2AE6-15A5-DCDC-43E3-DC30DB46023B}"/>
                </a:ext>
              </a:extLst>
            </p:cNvPr>
            <p:cNvSpPr/>
            <p:nvPr/>
          </p:nvSpPr>
          <p:spPr>
            <a:xfrm rot="5400000">
              <a:off x="3921555" y="3694012"/>
              <a:ext cx="317409" cy="142972"/>
            </a:xfrm>
            <a:prstGeom prst="triangle">
              <a:avLst>
                <a:gd name="adj" fmla="val 50981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bg2">
                    <a:lumMod val="20000"/>
                    <a:lumOff val="8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27" name="二等辺三角形 26">
              <a:extLst>
                <a:ext uri="{FF2B5EF4-FFF2-40B4-BE49-F238E27FC236}">
                  <a16:creationId xmlns:a16="http://schemas.microsoft.com/office/drawing/2014/main" id="{D2DCF7C6-1FCC-2F64-2719-CB06521C31C4}"/>
                </a:ext>
              </a:extLst>
            </p:cNvPr>
            <p:cNvSpPr/>
            <p:nvPr/>
          </p:nvSpPr>
          <p:spPr>
            <a:xfrm rot="5400000">
              <a:off x="5572031" y="3694013"/>
              <a:ext cx="317409" cy="142972"/>
            </a:xfrm>
            <a:prstGeom prst="triangle">
              <a:avLst>
                <a:gd name="adj" fmla="val 50981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bg2">
                    <a:lumMod val="20000"/>
                    <a:lumOff val="8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4B5B5A0A-976E-83F2-6D02-F5E576169F7D}"/>
                </a:ext>
              </a:extLst>
            </p:cNvPr>
            <p:cNvSpPr/>
            <p:nvPr/>
          </p:nvSpPr>
          <p:spPr>
            <a:xfrm>
              <a:off x="3476787" y="3562111"/>
              <a:ext cx="484736" cy="35080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100" b="1" dirty="0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検索</a:t>
              </a:r>
            </a:p>
          </p:txBody>
        </p:sp>
        <p:sp>
          <p:nvSpPr>
            <p:cNvPr id="29" name="正方形/長方形 28">
              <a:extLst>
                <a:ext uri="{FF2B5EF4-FFF2-40B4-BE49-F238E27FC236}">
                  <a16:creationId xmlns:a16="http://schemas.microsoft.com/office/drawing/2014/main" id="{8A1089F9-DA97-B418-9D11-7A319486A9D4}"/>
                </a:ext>
              </a:extLst>
            </p:cNvPr>
            <p:cNvSpPr/>
            <p:nvPr/>
          </p:nvSpPr>
          <p:spPr>
            <a:xfrm>
              <a:off x="2630946" y="3573393"/>
              <a:ext cx="801511" cy="310406"/>
            </a:xfrm>
            <a:prstGeom prst="rect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grpSp>
          <p:nvGrpSpPr>
            <p:cNvPr id="30" name="グループ化 29">
              <a:extLst>
                <a:ext uri="{FF2B5EF4-FFF2-40B4-BE49-F238E27FC236}">
                  <a16:creationId xmlns:a16="http://schemas.microsoft.com/office/drawing/2014/main" id="{6723BD13-378E-6843-FD6A-D1621A753B65}"/>
                </a:ext>
              </a:extLst>
            </p:cNvPr>
            <p:cNvGrpSpPr/>
            <p:nvPr/>
          </p:nvGrpSpPr>
          <p:grpSpPr>
            <a:xfrm>
              <a:off x="4318769" y="3131944"/>
              <a:ext cx="1268994" cy="310406"/>
              <a:chOff x="3511236" y="3104422"/>
              <a:chExt cx="1268994" cy="310406"/>
            </a:xfrm>
          </p:grpSpPr>
          <p:sp>
            <p:nvSpPr>
              <p:cNvPr id="121" name="正方形/長方形 120">
                <a:extLst>
                  <a:ext uri="{FF2B5EF4-FFF2-40B4-BE49-F238E27FC236}">
                    <a16:creationId xmlns:a16="http://schemas.microsoft.com/office/drawing/2014/main" id="{F3C9001D-3031-6C6C-CC9C-13F25558DE55}"/>
                  </a:ext>
                </a:extLst>
              </p:cNvPr>
              <p:cNvSpPr/>
              <p:nvPr/>
            </p:nvSpPr>
            <p:spPr>
              <a:xfrm>
                <a:off x="3511236" y="3104422"/>
                <a:ext cx="484736" cy="31040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1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広告</a:t>
                </a:r>
              </a:p>
            </p:txBody>
          </p:sp>
          <p:cxnSp>
            <p:nvCxnSpPr>
              <p:cNvPr id="122" name="直線コネクタ 121">
                <a:extLst>
                  <a:ext uri="{FF2B5EF4-FFF2-40B4-BE49-F238E27FC236}">
                    <a16:creationId xmlns:a16="http://schemas.microsoft.com/office/drawing/2014/main" id="{43C77B1B-B750-C34D-1FD7-3476CF1117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176850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直線コネクタ 123">
                <a:extLst>
                  <a:ext uri="{FF2B5EF4-FFF2-40B4-BE49-F238E27FC236}">
                    <a16:creationId xmlns:a16="http://schemas.microsoft.com/office/drawing/2014/main" id="{5A7C22F9-0E0E-3AD4-D2DE-31C668DBE6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259625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直線コネクタ 124">
                <a:extLst>
                  <a:ext uri="{FF2B5EF4-FFF2-40B4-BE49-F238E27FC236}">
                    <a16:creationId xmlns:a16="http://schemas.microsoft.com/office/drawing/2014/main" id="{6DEE9E1F-72FF-E659-9FF0-3A174C3BA0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351831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グループ化 30">
              <a:extLst>
                <a:ext uri="{FF2B5EF4-FFF2-40B4-BE49-F238E27FC236}">
                  <a16:creationId xmlns:a16="http://schemas.microsoft.com/office/drawing/2014/main" id="{C5EF7B6F-91FB-7D72-B4DE-9529819CBC73}"/>
                </a:ext>
              </a:extLst>
            </p:cNvPr>
            <p:cNvGrpSpPr/>
            <p:nvPr/>
          </p:nvGrpSpPr>
          <p:grpSpPr>
            <a:xfrm>
              <a:off x="4318769" y="3593597"/>
              <a:ext cx="1268994" cy="310406"/>
              <a:chOff x="3511236" y="3104422"/>
              <a:chExt cx="1268994" cy="310406"/>
            </a:xfrm>
          </p:grpSpPr>
          <p:sp>
            <p:nvSpPr>
              <p:cNvPr id="115" name="正方形/長方形 114">
                <a:extLst>
                  <a:ext uri="{FF2B5EF4-FFF2-40B4-BE49-F238E27FC236}">
                    <a16:creationId xmlns:a16="http://schemas.microsoft.com/office/drawing/2014/main" id="{15776C4A-ECA4-5567-B4EA-5CCB54C9CFDB}"/>
                  </a:ext>
                </a:extLst>
              </p:cNvPr>
              <p:cNvSpPr/>
              <p:nvPr/>
            </p:nvSpPr>
            <p:spPr>
              <a:xfrm>
                <a:off x="3511236" y="3104422"/>
                <a:ext cx="484736" cy="31040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1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広告</a:t>
                </a:r>
                <a:endParaRPr kumimoji="1" lang="en-US" altLang="ja-JP" sz="1100" b="1" dirty="0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  <p:cxnSp>
            <p:nvCxnSpPr>
              <p:cNvPr id="117" name="直線コネクタ 116">
                <a:extLst>
                  <a:ext uri="{FF2B5EF4-FFF2-40B4-BE49-F238E27FC236}">
                    <a16:creationId xmlns:a16="http://schemas.microsoft.com/office/drawing/2014/main" id="{3EEEB7E6-53F2-1AC7-8F3F-FBE2334A58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176850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直線コネクタ 117">
                <a:extLst>
                  <a:ext uri="{FF2B5EF4-FFF2-40B4-BE49-F238E27FC236}">
                    <a16:creationId xmlns:a16="http://schemas.microsoft.com/office/drawing/2014/main" id="{14572CD2-5204-A879-5A94-43A87B3981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259625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直線コネクタ 119">
                <a:extLst>
                  <a:ext uri="{FF2B5EF4-FFF2-40B4-BE49-F238E27FC236}">
                    <a16:creationId xmlns:a16="http://schemas.microsoft.com/office/drawing/2014/main" id="{98AC4999-3800-8C0C-042A-08251F00DD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351831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グループ化 31">
              <a:extLst>
                <a:ext uri="{FF2B5EF4-FFF2-40B4-BE49-F238E27FC236}">
                  <a16:creationId xmlns:a16="http://schemas.microsoft.com/office/drawing/2014/main" id="{2FA12EA2-D4E3-52D6-D62E-FCDE3B40C638}"/>
                </a:ext>
              </a:extLst>
            </p:cNvPr>
            <p:cNvGrpSpPr/>
            <p:nvPr/>
          </p:nvGrpSpPr>
          <p:grpSpPr>
            <a:xfrm>
              <a:off x="4318769" y="4055250"/>
              <a:ext cx="1268994" cy="310406"/>
              <a:chOff x="3511236" y="3104422"/>
              <a:chExt cx="1268994" cy="310406"/>
            </a:xfrm>
          </p:grpSpPr>
          <p:sp>
            <p:nvSpPr>
              <p:cNvPr id="85" name="正方形/長方形 84">
                <a:extLst>
                  <a:ext uri="{FF2B5EF4-FFF2-40B4-BE49-F238E27FC236}">
                    <a16:creationId xmlns:a16="http://schemas.microsoft.com/office/drawing/2014/main" id="{856A7B46-2E3C-7486-BAB2-187D312E5C25}"/>
                  </a:ext>
                </a:extLst>
              </p:cNvPr>
              <p:cNvSpPr/>
              <p:nvPr/>
            </p:nvSpPr>
            <p:spPr>
              <a:xfrm>
                <a:off x="3511236" y="3104422"/>
                <a:ext cx="484736" cy="31040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1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広告</a:t>
                </a:r>
              </a:p>
            </p:txBody>
          </p:sp>
          <p:cxnSp>
            <p:nvCxnSpPr>
              <p:cNvPr id="111" name="直線コネクタ 110">
                <a:extLst>
                  <a:ext uri="{FF2B5EF4-FFF2-40B4-BE49-F238E27FC236}">
                    <a16:creationId xmlns:a16="http://schemas.microsoft.com/office/drawing/2014/main" id="{11D7BFB0-9D8B-DC7C-DA9B-999C13C71B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176850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直線コネクタ 111">
                <a:extLst>
                  <a:ext uri="{FF2B5EF4-FFF2-40B4-BE49-F238E27FC236}">
                    <a16:creationId xmlns:a16="http://schemas.microsoft.com/office/drawing/2014/main" id="{18FA8E14-5202-EE5B-A489-B13BD21A43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259625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直線コネクタ 112">
                <a:extLst>
                  <a:ext uri="{FF2B5EF4-FFF2-40B4-BE49-F238E27FC236}">
                    <a16:creationId xmlns:a16="http://schemas.microsoft.com/office/drawing/2014/main" id="{1900AD27-39F4-0E36-AA37-FD5220E76B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351831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" name="グループ化 32">
              <a:extLst>
                <a:ext uri="{FF2B5EF4-FFF2-40B4-BE49-F238E27FC236}">
                  <a16:creationId xmlns:a16="http://schemas.microsoft.com/office/drawing/2014/main" id="{3214993C-6D36-EC4D-C203-CEB7254E39DA}"/>
                </a:ext>
              </a:extLst>
            </p:cNvPr>
            <p:cNvGrpSpPr/>
            <p:nvPr/>
          </p:nvGrpSpPr>
          <p:grpSpPr>
            <a:xfrm>
              <a:off x="5947931" y="3131944"/>
              <a:ext cx="1268994" cy="310406"/>
              <a:chOff x="3511236" y="3104422"/>
              <a:chExt cx="1268994" cy="310406"/>
            </a:xfrm>
          </p:grpSpPr>
          <p:sp>
            <p:nvSpPr>
              <p:cNvPr id="81" name="正方形/長方形 80">
                <a:extLst>
                  <a:ext uri="{FF2B5EF4-FFF2-40B4-BE49-F238E27FC236}">
                    <a16:creationId xmlns:a16="http://schemas.microsoft.com/office/drawing/2014/main" id="{727B6A29-8CED-51AA-1C42-EC10CFB1D99C}"/>
                  </a:ext>
                </a:extLst>
              </p:cNvPr>
              <p:cNvSpPr/>
              <p:nvPr/>
            </p:nvSpPr>
            <p:spPr>
              <a:xfrm>
                <a:off x="3511236" y="3104422"/>
                <a:ext cx="484736" cy="31040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1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広告</a:t>
                </a:r>
              </a:p>
            </p:txBody>
          </p:sp>
          <p:cxnSp>
            <p:nvCxnSpPr>
              <p:cNvPr id="82" name="直線コネクタ 81">
                <a:extLst>
                  <a:ext uri="{FF2B5EF4-FFF2-40B4-BE49-F238E27FC236}">
                    <a16:creationId xmlns:a16="http://schemas.microsoft.com/office/drawing/2014/main" id="{92A82973-D7E2-93B0-CE0D-15C87F4CD6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176850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線コネクタ 82">
                <a:extLst>
                  <a:ext uri="{FF2B5EF4-FFF2-40B4-BE49-F238E27FC236}">
                    <a16:creationId xmlns:a16="http://schemas.microsoft.com/office/drawing/2014/main" id="{EDADD875-4CDE-EBC0-009F-D39AF84B6E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259625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線コネクタ 83">
                <a:extLst>
                  <a:ext uri="{FF2B5EF4-FFF2-40B4-BE49-F238E27FC236}">
                    <a16:creationId xmlns:a16="http://schemas.microsoft.com/office/drawing/2014/main" id="{E8FF6D69-E1A0-3277-A3F1-48D5EFEC8B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351831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" name="グループ化 33">
              <a:extLst>
                <a:ext uri="{FF2B5EF4-FFF2-40B4-BE49-F238E27FC236}">
                  <a16:creationId xmlns:a16="http://schemas.microsoft.com/office/drawing/2014/main" id="{3292F1ED-E8F9-0ED8-D820-135DF489E236}"/>
                </a:ext>
              </a:extLst>
            </p:cNvPr>
            <p:cNvGrpSpPr/>
            <p:nvPr/>
          </p:nvGrpSpPr>
          <p:grpSpPr>
            <a:xfrm>
              <a:off x="5947931" y="3593597"/>
              <a:ext cx="1268994" cy="310406"/>
              <a:chOff x="3511236" y="3104422"/>
              <a:chExt cx="1268994" cy="310406"/>
            </a:xfrm>
          </p:grpSpPr>
          <p:sp>
            <p:nvSpPr>
              <p:cNvPr id="73" name="正方形/長方形 72">
                <a:extLst>
                  <a:ext uri="{FF2B5EF4-FFF2-40B4-BE49-F238E27FC236}">
                    <a16:creationId xmlns:a16="http://schemas.microsoft.com/office/drawing/2014/main" id="{7E19EDF9-E1F8-B39F-41A8-F734DC26BF68}"/>
                  </a:ext>
                </a:extLst>
              </p:cNvPr>
              <p:cNvSpPr/>
              <p:nvPr/>
            </p:nvSpPr>
            <p:spPr>
              <a:xfrm>
                <a:off x="3511236" y="3104422"/>
                <a:ext cx="484736" cy="31040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1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広告</a:t>
                </a:r>
              </a:p>
            </p:txBody>
          </p:sp>
          <p:cxnSp>
            <p:nvCxnSpPr>
              <p:cNvPr id="74" name="直線コネクタ 73">
                <a:extLst>
                  <a:ext uri="{FF2B5EF4-FFF2-40B4-BE49-F238E27FC236}">
                    <a16:creationId xmlns:a16="http://schemas.microsoft.com/office/drawing/2014/main" id="{0F5A3044-52C2-7B7C-2B5F-7F6CBB4445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176850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線コネクタ 75">
                <a:extLst>
                  <a:ext uri="{FF2B5EF4-FFF2-40B4-BE49-F238E27FC236}">
                    <a16:creationId xmlns:a16="http://schemas.microsoft.com/office/drawing/2014/main" id="{7FBAB248-EAAD-2426-0015-54E6AD2983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259625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線コネクタ 76">
                <a:extLst>
                  <a:ext uri="{FF2B5EF4-FFF2-40B4-BE49-F238E27FC236}">
                    <a16:creationId xmlns:a16="http://schemas.microsoft.com/office/drawing/2014/main" id="{1DDA6D1D-D268-26CB-EF0A-958699CA70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351831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グループ化 34">
              <a:extLst>
                <a:ext uri="{FF2B5EF4-FFF2-40B4-BE49-F238E27FC236}">
                  <a16:creationId xmlns:a16="http://schemas.microsoft.com/office/drawing/2014/main" id="{F73DFAF0-C90F-1007-8458-56511E4928E5}"/>
                </a:ext>
              </a:extLst>
            </p:cNvPr>
            <p:cNvGrpSpPr/>
            <p:nvPr/>
          </p:nvGrpSpPr>
          <p:grpSpPr>
            <a:xfrm>
              <a:off x="5947931" y="4055250"/>
              <a:ext cx="1268994" cy="310406"/>
              <a:chOff x="3511236" y="3104422"/>
              <a:chExt cx="1268994" cy="310406"/>
            </a:xfrm>
          </p:grpSpPr>
          <p:sp>
            <p:nvSpPr>
              <p:cNvPr id="66" name="正方形/長方形 65">
                <a:extLst>
                  <a:ext uri="{FF2B5EF4-FFF2-40B4-BE49-F238E27FC236}">
                    <a16:creationId xmlns:a16="http://schemas.microsoft.com/office/drawing/2014/main" id="{C913569C-5252-7E9E-37AE-7555D1E2DC0D}"/>
                  </a:ext>
                </a:extLst>
              </p:cNvPr>
              <p:cNvSpPr/>
              <p:nvPr/>
            </p:nvSpPr>
            <p:spPr>
              <a:xfrm>
                <a:off x="3511236" y="3104422"/>
                <a:ext cx="484736" cy="31040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1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広告</a:t>
                </a:r>
              </a:p>
            </p:txBody>
          </p:sp>
          <p:cxnSp>
            <p:nvCxnSpPr>
              <p:cNvPr id="67" name="直線コネクタ 66">
                <a:extLst>
                  <a:ext uri="{FF2B5EF4-FFF2-40B4-BE49-F238E27FC236}">
                    <a16:creationId xmlns:a16="http://schemas.microsoft.com/office/drawing/2014/main" id="{4BAD0018-9D63-CC4B-9FD3-0FAC403DCF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176850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線コネクタ 67">
                <a:extLst>
                  <a:ext uri="{FF2B5EF4-FFF2-40B4-BE49-F238E27FC236}">
                    <a16:creationId xmlns:a16="http://schemas.microsoft.com/office/drawing/2014/main" id="{9743EEE1-0068-1BA7-8942-59E88B3898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259625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線コネクタ 68">
                <a:extLst>
                  <a:ext uri="{FF2B5EF4-FFF2-40B4-BE49-F238E27FC236}">
                    <a16:creationId xmlns:a16="http://schemas.microsoft.com/office/drawing/2014/main" id="{3D3CE0C7-1250-6D96-116F-A1EEE2994C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351831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" name="グループ化 35">
              <a:extLst>
                <a:ext uri="{FF2B5EF4-FFF2-40B4-BE49-F238E27FC236}">
                  <a16:creationId xmlns:a16="http://schemas.microsoft.com/office/drawing/2014/main" id="{739990B9-BAC1-2426-66C6-9C46C5A4BB4D}"/>
                </a:ext>
              </a:extLst>
            </p:cNvPr>
            <p:cNvGrpSpPr/>
            <p:nvPr/>
          </p:nvGrpSpPr>
          <p:grpSpPr>
            <a:xfrm>
              <a:off x="1158625" y="3223795"/>
              <a:ext cx="914400" cy="1148203"/>
              <a:chOff x="370963" y="3328308"/>
              <a:chExt cx="914400" cy="1148203"/>
            </a:xfrm>
          </p:grpSpPr>
          <p:pic>
            <p:nvPicPr>
              <p:cNvPr id="60" name="グラフィックス 59" descr="電球 単色塗りつぶし">
                <a:extLst>
                  <a:ext uri="{FF2B5EF4-FFF2-40B4-BE49-F238E27FC236}">
                    <a16:creationId xmlns:a16="http://schemas.microsoft.com/office/drawing/2014/main" id="{B7F2283B-A279-5A26-1E4D-4D7B2D18A0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370963" y="3562111"/>
                <a:ext cx="914400" cy="914400"/>
              </a:xfrm>
              <a:prstGeom prst="rect">
                <a:avLst/>
              </a:prstGeom>
            </p:spPr>
          </p:pic>
          <p:cxnSp>
            <p:nvCxnSpPr>
              <p:cNvPr id="61" name="直線コネクタ 60">
                <a:extLst>
                  <a:ext uri="{FF2B5EF4-FFF2-40B4-BE49-F238E27FC236}">
                    <a16:creationId xmlns:a16="http://schemas.microsoft.com/office/drawing/2014/main" id="{D07B2AD6-03E7-6F4D-569C-1AB2707AF4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3161" y="3328308"/>
                <a:ext cx="0" cy="215989"/>
              </a:xfrm>
              <a:prstGeom prst="line">
                <a:avLst/>
              </a:prstGeom>
              <a:ln w="57150" cap="rnd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線コネクタ 61">
                <a:extLst>
                  <a:ext uri="{FF2B5EF4-FFF2-40B4-BE49-F238E27FC236}">
                    <a16:creationId xmlns:a16="http://schemas.microsoft.com/office/drawing/2014/main" id="{37EF5575-8077-7FB9-23BF-9D0452D251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689" y="3403486"/>
                <a:ext cx="75547" cy="174669"/>
              </a:xfrm>
              <a:prstGeom prst="line">
                <a:avLst/>
              </a:prstGeom>
              <a:ln w="57150" cap="rnd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線コネクタ 63">
                <a:extLst>
                  <a:ext uri="{FF2B5EF4-FFF2-40B4-BE49-F238E27FC236}">
                    <a16:creationId xmlns:a16="http://schemas.microsoft.com/office/drawing/2014/main" id="{46A1D249-7598-2ADF-83CA-3C53E4ED370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78957" y="3403486"/>
                <a:ext cx="80853" cy="174669"/>
              </a:xfrm>
              <a:prstGeom prst="line">
                <a:avLst/>
              </a:prstGeom>
              <a:ln w="57150" cap="rnd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正方形/長方形 37">
              <a:extLst>
                <a:ext uri="{FF2B5EF4-FFF2-40B4-BE49-F238E27FC236}">
                  <a16:creationId xmlns:a16="http://schemas.microsoft.com/office/drawing/2014/main" id="{30E83D78-3D94-5B21-70B5-1EDAA02CC8C0}"/>
                </a:ext>
              </a:extLst>
            </p:cNvPr>
            <p:cNvSpPr/>
            <p:nvPr/>
          </p:nvSpPr>
          <p:spPr>
            <a:xfrm>
              <a:off x="5924115" y="3076575"/>
              <a:ext cx="1343024" cy="424818"/>
            </a:xfrm>
            <a:prstGeom prst="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39" name="正方形/長方形 38">
              <a:extLst>
                <a:ext uri="{FF2B5EF4-FFF2-40B4-BE49-F238E27FC236}">
                  <a16:creationId xmlns:a16="http://schemas.microsoft.com/office/drawing/2014/main" id="{969A2E01-6327-807F-55F9-D634334086F8}"/>
                </a:ext>
              </a:extLst>
            </p:cNvPr>
            <p:cNvSpPr/>
            <p:nvPr/>
          </p:nvSpPr>
          <p:spPr>
            <a:xfrm>
              <a:off x="936529" y="4821442"/>
              <a:ext cx="1414979" cy="1522469"/>
            </a:xfrm>
            <a:prstGeom prst="rect">
              <a:avLst/>
            </a:prstGeom>
            <a:solidFill>
              <a:srgbClr val="191F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認知</a:t>
              </a:r>
              <a:endParaRPr kumimoji="1" lang="en-US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r>
                <a:rPr kumimoji="1" lang="ja-JP" altLang="en-US" sz="12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マーケット状況の把握</a:t>
              </a:r>
              <a:endParaRPr kumimoji="1" lang="en-US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endParaRPr kumimoji="1" lang="en-US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r>
                <a:rPr kumimoji="1" lang="ja-JP" altLang="en-US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・競合と比較した認知度</a:t>
              </a:r>
              <a:endParaRPr kumimoji="1" lang="en-US" altLang="ja-JP" sz="8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r>
                <a:rPr kumimoji="1" lang="ja-JP" altLang="en-US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・認知度別の施策</a:t>
              </a:r>
            </a:p>
          </p:txBody>
        </p: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0B705945-1D94-75F7-856F-5A5A2313AC81}"/>
                </a:ext>
              </a:extLst>
            </p:cNvPr>
            <p:cNvSpPr/>
            <p:nvPr/>
          </p:nvSpPr>
          <p:spPr>
            <a:xfrm>
              <a:off x="2590873" y="4821442"/>
              <a:ext cx="1414979" cy="1522469"/>
            </a:xfrm>
            <a:prstGeom prst="rect">
              <a:avLst/>
            </a:prstGeom>
            <a:solidFill>
              <a:srgbClr val="191F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CV</a:t>
              </a:r>
              <a:r>
                <a:rPr kumimoji="1" lang="ja-JP" altLang="en-US" sz="12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上位クエリの網羅</a:t>
              </a:r>
              <a:endParaRPr kumimoji="1" lang="en-US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endParaRPr kumimoji="1" lang="en-US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r>
                <a:rPr kumimoji="1" lang="ja-JP" altLang="en-US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・</a:t>
              </a:r>
              <a:r>
                <a:rPr kumimoji="1" lang="en-US" altLang="ja-JP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KW</a:t>
              </a:r>
              <a:r>
                <a:rPr kumimoji="1" lang="ja-JP" altLang="en-US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の抜け漏れ</a:t>
              </a:r>
              <a:endParaRPr kumimoji="1" lang="en-US" altLang="ja-JP" sz="8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r>
                <a:rPr kumimoji="1" lang="ja-JP" altLang="en-US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・マッチタイプの使い分け</a:t>
              </a:r>
            </a:p>
          </p:txBody>
        </p:sp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id="{06FB2AB2-1FC8-7AAB-55CF-071749952A04}"/>
                </a:ext>
              </a:extLst>
            </p:cNvPr>
            <p:cNvSpPr/>
            <p:nvPr/>
          </p:nvSpPr>
          <p:spPr>
            <a:xfrm>
              <a:off x="4228046" y="4821442"/>
              <a:ext cx="1414979" cy="1522469"/>
            </a:xfrm>
            <a:prstGeom prst="rect">
              <a:avLst/>
            </a:prstGeom>
            <a:solidFill>
              <a:srgbClr val="191F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入札戦略</a:t>
              </a:r>
              <a:endPara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endPara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r>
                <a:rPr kumimoji="1" lang="ja-JP" altLang="en-US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・意図する入札戦略が実施できているか</a:t>
              </a:r>
            </a:p>
          </p:txBody>
        </p:sp>
        <p:sp>
          <p:nvSpPr>
            <p:cNvPr id="55" name="正方形/長方形 54">
              <a:extLst>
                <a:ext uri="{FF2B5EF4-FFF2-40B4-BE49-F238E27FC236}">
                  <a16:creationId xmlns:a16="http://schemas.microsoft.com/office/drawing/2014/main" id="{92567368-9A8A-663B-4112-DE8F718C000C}"/>
                </a:ext>
              </a:extLst>
            </p:cNvPr>
            <p:cNvSpPr/>
            <p:nvPr/>
          </p:nvSpPr>
          <p:spPr>
            <a:xfrm>
              <a:off x="5908878" y="4821442"/>
              <a:ext cx="1414979" cy="1522469"/>
            </a:xfrm>
            <a:prstGeom prst="rect">
              <a:avLst/>
            </a:prstGeom>
            <a:solidFill>
              <a:srgbClr val="191F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広告の最適化</a:t>
              </a:r>
              <a:endPara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endPara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r>
                <a:rPr kumimoji="1" lang="ja-JP" altLang="en-US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・適切な</a:t>
              </a:r>
              <a:r>
                <a:rPr kumimoji="1" lang="en-US" altLang="ja-JP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TD</a:t>
              </a:r>
              <a:r>
                <a:rPr kumimoji="1" lang="ja-JP" altLang="en-US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が検証されているか</a:t>
              </a:r>
              <a:endParaRPr kumimoji="1" lang="en-US" altLang="ja-JP" sz="8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r>
                <a:rPr kumimoji="1" lang="ja-JP" altLang="en-US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・表示オプションが網羅されているか</a:t>
              </a:r>
            </a:p>
          </p:txBody>
        </p:sp>
        <p:cxnSp>
          <p:nvCxnSpPr>
            <p:cNvPr id="56" name="直線コネクタ 55">
              <a:extLst>
                <a:ext uri="{FF2B5EF4-FFF2-40B4-BE49-F238E27FC236}">
                  <a16:creationId xmlns:a16="http://schemas.microsoft.com/office/drawing/2014/main" id="{42387AE1-158F-4734-4944-8BDD4B773EC8}"/>
                </a:ext>
              </a:extLst>
            </p:cNvPr>
            <p:cNvCxnSpPr>
              <a:cxnSpLocks/>
              <a:stCxn id="39" idx="0"/>
              <a:endCxn id="140" idx="2"/>
            </p:cNvCxnSpPr>
            <p:nvPr/>
          </p:nvCxnSpPr>
          <p:spPr>
            <a:xfrm flipV="1">
              <a:off x="1644019" y="4526732"/>
              <a:ext cx="472" cy="294710"/>
            </a:xfrm>
            <a:prstGeom prst="line">
              <a:avLst/>
            </a:prstGeom>
            <a:ln w="28575">
              <a:solidFill>
                <a:srgbClr val="191F5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線コネクタ 56">
              <a:extLst>
                <a:ext uri="{FF2B5EF4-FFF2-40B4-BE49-F238E27FC236}">
                  <a16:creationId xmlns:a16="http://schemas.microsoft.com/office/drawing/2014/main" id="{1C5733E1-B140-5E26-2DBF-B61B39112F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90071" y="4526732"/>
              <a:ext cx="472" cy="294710"/>
            </a:xfrm>
            <a:prstGeom prst="line">
              <a:avLst/>
            </a:prstGeom>
            <a:ln w="28575">
              <a:solidFill>
                <a:srgbClr val="191F5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線コネクタ 57">
              <a:extLst>
                <a:ext uri="{FF2B5EF4-FFF2-40B4-BE49-F238E27FC236}">
                  <a16:creationId xmlns:a16="http://schemas.microsoft.com/office/drawing/2014/main" id="{D6EBF8DD-92C3-64C4-F8F6-3CD3E67061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51287" y="4526732"/>
              <a:ext cx="472" cy="294710"/>
            </a:xfrm>
            <a:prstGeom prst="line">
              <a:avLst/>
            </a:prstGeom>
            <a:ln w="28575">
              <a:solidFill>
                <a:srgbClr val="191F5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線コネクタ 58">
              <a:extLst>
                <a:ext uri="{FF2B5EF4-FFF2-40B4-BE49-F238E27FC236}">
                  <a16:creationId xmlns:a16="http://schemas.microsoft.com/office/drawing/2014/main" id="{F1DF7BE0-E239-E962-284D-2491DC3E6B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14400" y="4526732"/>
              <a:ext cx="472" cy="294710"/>
            </a:xfrm>
            <a:prstGeom prst="line">
              <a:avLst/>
            </a:prstGeom>
            <a:ln w="28575">
              <a:solidFill>
                <a:srgbClr val="191F5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1" name="正方形/長方形 140">
            <a:extLst>
              <a:ext uri="{FF2B5EF4-FFF2-40B4-BE49-F238E27FC236}">
                <a16:creationId xmlns:a16="http://schemas.microsoft.com/office/drawing/2014/main" id="{99FFCAC1-ACC4-F793-37D7-15D75D69CD72}"/>
              </a:ext>
            </a:extLst>
          </p:cNvPr>
          <p:cNvSpPr/>
          <p:nvPr/>
        </p:nvSpPr>
        <p:spPr>
          <a:xfrm>
            <a:off x="5055506" y="2158709"/>
            <a:ext cx="1599918" cy="4259846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2" name="正方形/長方形 141">
            <a:extLst>
              <a:ext uri="{FF2B5EF4-FFF2-40B4-BE49-F238E27FC236}">
                <a16:creationId xmlns:a16="http://schemas.microsoft.com/office/drawing/2014/main" id="{FCF74351-2CD1-F865-0175-85B90938BCD1}"/>
              </a:ext>
            </a:extLst>
          </p:cNvPr>
          <p:cNvSpPr/>
          <p:nvPr/>
        </p:nvSpPr>
        <p:spPr>
          <a:xfrm>
            <a:off x="1747733" y="2158709"/>
            <a:ext cx="1599918" cy="4259846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396668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11961357-4430-AABC-341E-B62630BDE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F249841-70DA-CB22-9638-C21BC6CA5727}"/>
              </a:ext>
            </a:extLst>
          </p:cNvPr>
          <p:cNvSpPr/>
          <p:nvPr/>
        </p:nvSpPr>
        <p:spPr>
          <a:xfrm>
            <a:off x="-1712" y="766081"/>
            <a:ext cx="9906000" cy="550218"/>
          </a:xfrm>
          <a:prstGeom prst="rect">
            <a:avLst/>
          </a:prstGeom>
          <a:solidFill>
            <a:srgbClr val="191F5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spc="3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キーワード分析</a:t>
            </a:r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C34907D9-D795-2EDF-C4AC-59BE77A4E8C0}"/>
              </a:ext>
            </a:extLst>
          </p:cNvPr>
          <p:cNvGrpSpPr/>
          <p:nvPr/>
        </p:nvGrpSpPr>
        <p:grpSpPr>
          <a:xfrm>
            <a:off x="1714973" y="2158708"/>
            <a:ext cx="6472630" cy="4304235"/>
            <a:chOff x="921623" y="2158708"/>
            <a:chExt cx="6472630" cy="4304235"/>
          </a:xfrm>
        </p:grpSpPr>
        <p:sp>
          <p:nvSpPr>
            <p:cNvPr id="136" name="楕円 135">
              <a:extLst>
                <a:ext uri="{FF2B5EF4-FFF2-40B4-BE49-F238E27FC236}">
                  <a16:creationId xmlns:a16="http://schemas.microsoft.com/office/drawing/2014/main" id="{68D6099E-C7C6-7CC1-8F08-60B614AD077E}"/>
                </a:ext>
              </a:extLst>
            </p:cNvPr>
            <p:cNvSpPr/>
            <p:nvPr/>
          </p:nvSpPr>
          <p:spPr>
            <a:xfrm>
              <a:off x="1426029" y="3543287"/>
              <a:ext cx="413390" cy="462479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grpSp>
          <p:nvGrpSpPr>
            <p:cNvPr id="37" name="グループ化 36">
              <a:extLst>
                <a:ext uri="{FF2B5EF4-FFF2-40B4-BE49-F238E27FC236}">
                  <a16:creationId xmlns:a16="http://schemas.microsoft.com/office/drawing/2014/main" id="{D1621A03-61BC-D6B1-FF8E-0CCE9AC9AB76}"/>
                </a:ext>
              </a:extLst>
            </p:cNvPr>
            <p:cNvGrpSpPr/>
            <p:nvPr/>
          </p:nvGrpSpPr>
          <p:grpSpPr>
            <a:xfrm>
              <a:off x="951433" y="2161733"/>
              <a:ext cx="1415928" cy="2364999"/>
              <a:chOff x="130513" y="2161734"/>
              <a:chExt cx="1734503" cy="2897110"/>
            </a:xfrm>
          </p:grpSpPr>
          <p:sp>
            <p:nvSpPr>
              <p:cNvPr id="4" name="正方形/長方形 3">
                <a:extLst>
                  <a:ext uri="{FF2B5EF4-FFF2-40B4-BE49-F238E27FC236}">
                    <a16:creationId xmlns:a16="http://schemas.microsoft.com/office/drawing/2014/main" id="{BE121315-74A8-E8EF-AD49-BEFE4903EF92}"/>
                  </a:ext>
                </a:extLst>
              </p:cNvPr>
              <p:cNvSpPr/>
              <p:nvPr/>
            </p:nvSpPr>
            <p:spPr>
              <a:xfrm>
                <a:off x="130514" y="2161734"/>
                <a:ext cx="1734502" cy="380245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9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潜在層へのアプローチ</a:t>
                </a:r>
              </a:p>
            </p:txBody>
          </p:sp>
          <p:sp>
            <p:nvSpPr>
              <p:cNvPr id="9" name="正方形/長方形 8">
                <a:extLst>
                  <a:ext uri="{FF2B5EF4-FFF2-40B4-BE49-F238E27FC236}">
                    <a16:creationId xmlns:a16="http://schemas.microsoft.com/office/drawing/2014/main" id="{AE86733C-3749-639C-DD90-B96D7F8075FE}"/>
                  </a:ext>
                </a:extLst>
              </p:cNvPr>
              <p:cNvSpPr/>
              <p:nvPr/>
            </p:nvSpPr>
            <p:spPr>
              <a:xfrm>
                <a:off x="130514" y="2677781"/>
                <a:ext cx="1734502" cy="380245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2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認知</a:t>
                </a:r>
              </a:p>
            </p:txBody>
          </p:sp>
          <p:sp>
            <p:nvSpPr>
              <p:cNvPr id="10" name="正方形/長方形 9">
                <a:extLst>
                  <a:ext uri="{FF2B5EF4-FFF2-40B4-BE49-F238E27FC236}">
                    <a16:creationId xmlns:a16="http://schemas.microsoft.com/office/drawing/2014/main" id="{7D4800B9-00FE-4062-0849-7D22CBC12DD1}"/>
                  </a:ext>
                </a:extLst>
              </p:cNvPr>
              <p:cNvSpPr/>
              <p:nvPr/>
            </p:nvSpPr>
            <p:spPr>
              <a:xfrm>
                <a:off x="130513" y="3193828"/>
                <a:ext cx="1734501" cy="186501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</p:grpSp>
        <p:grpSp>
          <p:nvGrpSpPr>
            <p:cNvPr id="42" name="グループ化 41">
              <a:extLst>
                <a:ext uri="{FF2B5EF4-FFF2-40B4-BE49-F238E27FC236}">
                  <a16:creationId xmlns:a16="http://schemas.microsoft.com/office/drawing/2014/main" id="{76C643DA-1933-703F-5D74-4BA932A49D59}"/>
                </a:ext>
              </a:extLst>
            </p:cNvPr>
            <p:cNvGrpSpPr/>
            <p:nvPr/>
          </p:nvGrpSpPr>
          <p:grpSpPr>
            <a:xfrm>
              <a:off x="5911627" y="2161733"/>
              <a:ext cx="1415928" cy="2364999"/>
              <a:chOff x="130513" y="2161734"/>
              <a:chExt cx="1734503" cy="2897110"/>
            </a:xfrm>
          </p:grpSpPr>
          <p:sp>
            <p:nvSpPr>
              <p:cNvPr id="43" name="正方形/長方形 42">
                <a:extLst>
                  <a:ext uri="{FF2B5EF4-FFF2-40B4-BE49-F238E27FC236}">
                    <a16:creationId xmlns:a16="http://schemas.microsoft.com/office/drawing/2014/main" id="{9BDB9AC2-3B10-B402-0A6E-11CC9EE654BC}"/>
                  </a:ext>
                </a:extLst>
              </p:cNvPr>
              <p:cNvSpPr/>
              <p:nvPr/>
            </p:nvSpPr>
            <p:spPr>
              <a:xfrm>
                <a:off x="130514" y="2161734"/>
                <a:ext cx="1734502" cy="380245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2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広告</a:t>
                </a:r>
              </a:p>
            </p:txBody>
          </p:sp>
          <p:sp>
            <p:nvSpPr>
              <p:cNvPr id="44" name="正方形/長方形 43">
                <a:extLst>
                  <a:ext uri="{FF2B5EF4-FFF2-40B4-BE49-F238E27FC236}">
                    <a16:creationId xmlns:a16="http://schemas.microsoft.com/office/drawing/2014/main" id="{6855FA33-D4EC-BECF-87D7-09F78F15DCE9}"/>
                  </a:ext>
                </a:extLst>
              </p:cNvPr>
              <p:cNvSpPr/>
              <p:nvPr/>
            </p:nvSpPr>
            <p:spPr>
              <a:xfrm>
                <a:off x="130514" y="2677781"/>
                <a:ext cx="1734502" cy="380245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2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広告の選択</a:t>
                </a:r>
              </a:p>
            </p:txBody>
          </p:sp>
          <p:sp>
            <p:nvSpPr>
              <p:cNvPr id="45" name="正方形/長方形 44">
                <a:extLst>
                  <a:ext uri="{FF2B5EF4-FFF2-40B4-BE49-F238E27FC236}">
                    <a16:creationId xmlns:a16="http://schemas.microsoft.com/office/drawing/2014/main" id="{24C6D68A-5712-E9EB-FE5B-6E560DBD5401}"/>
                  </a:ext>
                </a:extLst>
              </p:cNvPr>
              <p:cNvSpPr/>
              <p:nvPr/>
            </p:nvSpPr>
            <p:spPr>
              <a:xfrm>
                <a:off x="130513" y="3193828"/>
                <a:ext cx="1734501" cy="186501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</p:grpSp>
        <p:grpSp>
          <p:nvGrpSpPr>
            <p:cNvPr id="46" name="グループ化 45">
              <a:extLst>
                <a:ext uri="{FF2B5EF4-FFF2-40B4-BE49-F238E27FC236}">
                  <a16:creationId xmlns:a16="http://schemas.microsoft.com/office/drawing/2014/main" id="{1B624661-8A02-3538-FC8D-94EEFB432C2B}"/>
                </a:ext>
              </a:extLst>
            </p:cNvPr>
            <p:cNvGrpSpPr/>
            <p:nvPr/>
          </p:nvGrpSpPr>
          <p:grpSpPr>
            <a:xfrm>
              <a:off x="4258229" y="2161733"/>
              <a:ext cx="1415928" cy="2364999"/>
              <a:chOff x="130513" y="2161734"/>
              <a:chExt cx="1734503" cy="2897110"/>
            </a:xfrm>
          </p:grpSpPr>
          <p:sp>
            <p:nvSpPr>
              <p:cNvPr id="47" name="正方形/長方形 46">
                <a:extLst>
                  <a:ext uri="{FF2B5EF4-FFF2-40B4-BE49-F238E27FC236}">
                    <a16:creationId xmlns:a16="http://schemas.microsoft.com/office/drawing/2014/main" id="{3BC65B7A-CA00-1ECC-5D01-3E1642104FFD}"/>
                  </a:ext>
                </a:extLst>
              </p:cNvPr>
              <p:cNvSpPr/>
              <p:nvPr/>
            </p:nvSpPr>
            <p:spPr>
              <a:xfrm>
                <a:off x="130514" y="2161734"/>
                <a:ext cx="1734502" cy="380245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2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入札</a:t>
                </a:r>
              </a:p>
            </p:txBody>
          </p:sp>
          <p:sp>
            <p:nvSpPr>
              <p:cNvPr id="48" name="正方形/長方形 47">
                <a:extLst>
                  <a:ext uri="{FF2B5EF4-FFF2-40B4-BE49-F238E27FC236}">
                    <a16:creationId xmlns:a16="http://schemas.microsoft.com/office/drawing/2014/main" id="{F23C49C5-3C1B-0BE3-063D-D297668889FF}"/>
                  </a:ext>
                </a:extLst>
              </p:cNvPr>
              <p:cNvSpPr/>
              <p:nvPr/>
            </p:nvSpPr>
            <p:spPr>
              <a:xfrm>
                <a:off x="130514" y="2677781"/>
                <a:ext cx="1734502" cy="380245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2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広告の露出</a:t>
                </a:r>
              </a:p>
            </p:txBody>
          </p:sp>
          <p:sp>
            <p:nvSpPr>
              <p:cNvPr id="49" name="正方形/長方形 48">
                <a:extLst>
                  <a:ext uri="{FF2B5EF4-FFF2-40B4-BE49-F238E27FC236}">
                    <a16:creationId xmlns:a16="http://schemas.microsoft.com/office/drawing/2014/main" id="{FBA878F7-4443-F4BC-3187-52C4A9362394}"/>
                  </a:ext>
                </a:extLst>
              </p:cNvPr>
              <p:cNvSpPr/>
              <p:nvPr/>
            </p:nvSpPr>
            <p:spPr>
              <a:xfrm>
                <a:off x="130513" y="3193828"/>
                <a:ext cx="1734501" cy="186501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</p:grpSp>
        <p:grpSp>
          <p:nvGrpSpPr>
            <p:cNvPr id="50" name="グループ化 49">
              <a:extLst>
                <a:ext uri="{FF2B5EF4-FFF2-40B4-BE49-F238E27FC236}">
                  <a16:creationId xmlns:a16="http://schemas.microsoft.com/office/drawing/2014/main" id="{84948920-0D50-9B91-D1F7-CA203FC5847A}"/>
                </a:ext>
              </a:extLst>
            </p:cNvPr>
            <p:cNvGrpSpPr/>
            <p:nvPr/>
          </p:nvGrpSpPr>
          <p:grpSpPr>
            <a:xfrm>
              <a:off x="2604831" y="2161733"/>
              <a:ext cx="1415928" cy="2364999"/>
              <a:chOff x="130513" y="2161734"/>
              <a:chExt cx="1734503" cy="2897110"/>
            </a:xfrm>
          </p:grpSpPr>
          <p:sp>
            <p:nvSpPr>
              <p:cNvPr id="51" name="正方形/長方形 50">
                <a:extLst>
                  <a:ext uri="{FF2B5EF4-FFF2-40B4-BE49-F238E27FC236}">
                    <a16:creationId xmlns:a16="http://schemas.microsoft.com/office/drawing/2014/main" id="{75CB1A66-65AF-BFBA-E65C-629DD4553B83}"/>
                  </a:ext>
                </a:extLst>
              </p:cNvPr>
              <p:cNvSpPr/>
              <p:nvPr/>
            </p:nvSpPr>
            <p:spPr>
              <a:xfrm>
                <a:off x="130514" y="2161734"/>
                <a:ext cx="1734502" cy="380245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2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キーワード</a:t>
                </a:r>
              </a:p>
            </p:txBody>
          </p:sp>
          <p:sp>
            <p:nvSpPr>
              <p:cNvPr id="52" name="正方形/長方形 51">
                <a:extLst>
                  <a:ext uri="{FF2B5EF4-FFF2-40B4-BE49-F238E27FC236}">
                    <a16:creationId xmlns:a16="http://schemas.microsoft.com/office/drawing/2014/main" id="{ED24C29E-BDBC-3FFC-7EB0-7C23E53B4C57}"/>
                  </a:ext>
                </a:extLst>
              </p:cNvPr>
              <p:cNvSpPr/>
              <p:nvPr/>
            </p:nvSpPr>
            <p:spPr>
              <a:xfrm>
                <a:off x="130514" y="2677781"/>
                <a:ext cx="1734502" cy="380245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2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検索</a:t>
                </a:r>
              </a:p>
            </p:txBody>
          </p:sp>
          <p:sp>
            <p:nvSpPr>
              <p:cNvPr id="53" name="正方形/長方形 52">
                <a:extLst>
                  <a:ext uri="{FF2B5EF4-FFF2-40B4-BE49-F238E27FC236}">
                    <a16:creationId xmlns:a16="http://schemas.microsoft.com/office/drawing/2014/main" id="{05CF6686-5E3B-68B6-1AAA-AF903E771B01}"/>
                  </a:ext>
                </a:extLst>
              </p:cNvPr>
              <p:cNvSpPr/>
              <p:nvPr/>
            </p:nvSpPr>
            <p:spPr>
              <a:xfrm>
                <a:off x="130513" y="3193828"/>
                <a:ext cx="1734501" cy="186501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</p:grpSp>
        <p:sp>
          <p:nvSpPr>
            <p:cNvPr id="54" name="二等辺三角形 53">
              <a:extLst>
                <a:ext uri="{FF2B5EF4-FFF2-40B4-BE49-F238E27FC236}">
                  <a16:creationId xmlns:a16="http://schemas.microsoft.com/office/drawing/2014/main" id="{2F80041F-4179-1D29-89C9-E3EAB7D82B0F}"/>
                </a:ext>
              </a:extLst>
            </p:cNvPr>
            <p:cNvSpPr/>
            <p:nvPr/>
          </p:nvSpPr>
          <p:spPr>
            <a:xfrm rot="5400000">
              <a:off x="2279196" y="3694011"/>
              <a:ext cx="317409" cy="142972"/>
            </a:xfrm>
            <a:prstGeom prst="triangle">
              <a:avLst>
                <a:gd name="adj" fmla="val 50981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bg2">
                    <a:lumMod val="20000"/>
                    <a:lumOff val="8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63" name="二等辺三角形 62">
              <a:extLst>
                <a:ext uri="{FF2B5EF4-FFF2-40B4-BE49-F238E27FC236}">
                  <a16:creationId xmlns:a16="http://schemas.microsoft.com/office/drawing/2014/main" id="{C5B88061-D180-5E93-DF13-52CE85234AC7}"/>
                </a:ext>
              </a:extLst>
            </p:cNvPr>
            <p:cNvSpPr/>
            <p:nvPr/>
          </p:nvSpPr>
          <p:spPr>
            <a:xfrm rot="5400000">
              <a:off x="3936460" y="3694012"/>
              <a:ext cx="317409" cy="142972"/>
            </a:xfrm>
            <a:prstGeom prst="triangle">
              <a:avLst>
                <a:gd name="adj" fmla="val 50981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bg2">
                    <a:lumMod val="20000"/>
                    <a:lumOff val="8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65" name="二等辺三角形 64">
              <a:extLst>
                <a:ext uri="{FF2B5EF4-FFF2-40B4-BE49-F238E27FC236}">
                  <a16:creationId xmlns:a16="http://schemas.microsoft.com/office/drawing/2014/main" id="{EDF0F9B5-E35E-3FB7-8CFF-98AA2F824358}"/>
                </a:ext>
              </a:extLst>
            </p:cNvPr>
            <p:cNvSpPr/>
            <p:nvPr/>
          </p:nvSpPr>
          <p:spPr>
            <a:xfrm rot="5400000">
              <a:off x="5586936" y="3694013"/>
              <a:ext cx="317409" cy="142972"/>
            </a:xfrm>
            <a:prstGeom prst="triangle">
              <a:avLst>
                <a:gd name="adj" fmla="val 50981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bg2">
                    <a:lumMod val="20000"/>
                    <a:lumOff val="8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70" name="正方形/長方形 69">
              <a:extLst>
                <a:ext uri="{FF2B5EF4-FFF2-40B4-BE49-F238E27FC236}">
                  <a16:creationId xmlns:a16="http://schemas.microsoft.com/office/drawing/2014/main" id="{3DBC665D-7D31-DA1E-D3B5-12BEE6BD505D}"/>
                </a:ext>
              </a:extLst>
            </p:cNvPr>
            <p:cNvSpPr/>
            <p:nvPr/>
          </p:nvSpPr>
          <p:spPr>
            <a:xfrm>
              <a:off x="3491692" y="3562111"/>
              <a:ext cx="484736" cy="35080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100" b="1" dirty="0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検索</a:t>
              </a:r>
            </a:p>
          </p:txBody>
        </p:sp>
        <p:sp>
          <p:nvSpPr>
            <p:cNvPr id="71" name="正方形/長方形 70">
              <a:extLst>
                <a:ext uri="{FF2B5EF4-FFF2-40B4-BE49-F238E27FC236}">
                  <a16:creationId xmlns:a16="http://schemas.microsoft.com/office/drawing/2014/main" id="{243B53BA-84C2-D1A9-C5E7-979161713DEB}"/>
                </a:ext>
              </a:extLst>
            </p:cNvPr>
            <p:cNvSpPr/>
            <p:nvPr/>
          </p:nvSpPr>
          <p:spPr>
            <a:xfrm>
              <a:off x="2645851" y="3573393"/>
              <a:ext cx="801511" cy="310406"/>
            </a:xfrm>
            <a:prstGeom prst="rect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grpSp>
          <p:nvGrpSpPr>
            <p:cNvPr id="80" name="グループ化 79">
              <a:extLst>
                <a:ext uri="{FF2B5EF4-FFF2-40B4-BE49-F238E27FC236}">
                  <a16:creationId xmlns:a16="http://schemas.microsoft.com/office/drawing/2014/main" id="{C2E5E3CE-CF39-7B9C-FFFD-C34845FB434B}"/>
                </a:ext>
              </a:extLst>
            </p:cNvPr>
            <p:cNvGrpSpPr/>
            <p:nvPr/>
          </p:nvGrpSpPr>
          <p:grpSpPr>
            <a:xfrm>
              <a:off x="4333674" y="3131944"/>
              <a:ext cx="1268994" cy="310406"/>
              <a:chOff x="3511236" y="3104422"/>
              <a:chExt cx="1268994" cy="310406"/>
            </a:xfrm>
          </p:grpSpPr>
          <p:sp>
            <p:nvSpPr>
              <p:cNvPr id="72" name="正方形/長方形 71">
                <a:extLst>
                  <a:ext uri="{FF2B5EF4-FFF2-40B4-BE49-F238E27FC236}">
                    <a16:creationId xmlns:a16="http://schemas.microsoft.com/office/drawing/2014/main" id="{74F995A4-7183-26A8-1FF6-9DE4ADF6F51D}"/>
                  </a:ext>
                </a:extLst>
              </p:cNvPr>
              <p:cNvSpPr/>
              <p:nvPr/>
            </p:nvSpPr>
            <p:spPr>
              <a:xfrm>
                <a:off x="3511236" y="3104422"/>
                <a:ext cx="484736" cy="31040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1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広告</a:t>
                </a:r>
              </a:p>
            </p:txBody>
          </p:sp>
          <p:cxnSp>
            <p:nvCxnSpPr>
              <p:cNvPr id="75" name="直線コネクタ 74">
                <a:extLst>
                  <a:ext uri="{FF2B5EF4-FFF2-40B4-BE49-F238E27FC236}">
                    <a16:creationId xmlns:a16="http://schemas.microsoft.com/office/drawing/2014/main" id="{2F85A81C-FBBA-F593-63A2-F60273FAC5B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176850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線コネクタ 77">
                <a:extLst>
                  <a:ext uri="{FF2B5EF4-FFF2-40B4-BE49-F238E27FC236}">
                    <a16:creationId xmlns:a16="http://schemas.microsoft.com/office/drawing/2014/main" id="{1B060F4E-08D5-0FD1-ECCF-8C009FF24F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259625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線コネクタ 78">
                <a:extLst>
                  <a:ext uri="{FF2B5EF4-FFF2-40B4-BE49-F238E27FC236}">
                    <a16:creationId xmlns:a16="http://schemas.microsoft.com/office/drawing/2014/main" id="{78788F93-877A-00C3-ADE8-5F8D54F365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351831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6" name="グループ化 85">
              <a:extLst>
                <a:ext uri="{FF2B5EF4-FFF2-40B4-BE49-F238E27FC236}">
                  <a16:creationId xmlns:a16="http://schemas.microsoft.com/office/drawing/2014/main" id="{7C5412B4-1F9E-6178-EA1A-35D10C788DBC}"/>
                </a:ext>
              </a:extLst>
            </p:cNvPr>
            <p:cNvGrpSpPr/>
            <p:nvPr/>
          </p:nvGrpSpPr>
          <p:grpSpPr>
            <a:xfrm>
              <a:off x="4333674" y="3593597"/>
              <a:ext cx="1268994" cy="310406"/>
              <a:chOff x="3511236" y="3104422"/>
              <a:chExt cx="1268994" cy="310406"/>
            </a:xfrm>
          </p:grpSpPr>
          <p:sp>
            <p:nvSpPr>
              <p:cNvPr id="87" name="正方形/長方形 86">
                <a:extLst>
                  <a:ext uri="{FF2B5EF4-FFF2-40B4-BE49-F238E27FC236}">
                    <a16:creationId xmlns:a16="http://schemas.microsoft.com/office/drawing/2014/main" id="{E45DBED2-0DB1-DB2A-0A25-2836446166BA}"/>
                  </a:ext>
                </a:extLst>
              </p:cNvPr>
              <p:cNvSpPr/>
              <p:nvPr/>
            </p:nvSpPr>
            <p:spPr>
              <a:xfrm>
                <a:off x="3511236" y="3104422"/>
                <a:ext cx="484736" cy="31040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1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広告</a:t>
                </a:r>
                <a:endParaRPr kumimoji="1" lang="en-US" altLang="ja-JP" sz="1100" b="1" dirty="0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  <p:cxnSp>
            <p:nvCxnSpPr>
              <p:cNvPr id="88" name="直線コネクタ 87">
                <a:extLst>
                  <a:ext uri="{FF2B5EF4-FFF2-40B4-BE49-F238E27FC236}">
                    <a16:creationId xmlns:a16="http://schemas.microsoft.com/office/drawing/2014/main" id="{0BFCBC63-0F9D-7165-CF6C-7ECA4EC1C1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176850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直線コネクタ 88">
                <a:extLst>
                  <a:ext uri="{FF2B5EF4-FFF2-40B4-BE49-F238E27FC236}">
                    <a16:creationId xmlns:a16="http://schemas.microsoft.com/office/drawing/2014/main" id="{91E0BF62-70E3-E685-17EE-EDEB9D03B0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259625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線コネクタ 89">
                <a:extLst>
                  <a:ext uri="{FF2B5EF4-FFF2-40B4-BE49-F238E27FC236}">
                    <a16:creationId xmlns:a16="http://schemas.microsoft.com/office/drawing/2014/main" id="{194711E4-A4A3-D06E-0B25-E49FBD556F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351831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1" name="グループ化 90">
              <a:extLst>
                <a:ext uri="{FF2B5EF4-FFF2-40B4-BE49-F238E27FC236}">
                  <a16:creationId xmlns:a16="http://schemas.microsoft.com/office/drawing/2014/main" id="{0098E3E7-11FA-5B86-6792-D42A8C2DB243}"/>
                </a:ext>
              </a:extLst>
            </p:cNvPr>
            <p:cNvGrpSpPr/>
            <p:nvPr/>
          </p:nvGrpSpPr>
          <p:grpSpPr>
            <a:xfrm>
              <a:off x="4333674" y="4055250"/>
              <a:ext cx="1268994" cy="310406"/>
              <a:chOff x="3511236" y="3104422"/>
              <a:chExt cx="1268994" cy="310406"/>
            </a:xfrm>
          </p:grpSpPr>
          <p:sp>
            <p:nvSpPr>
              <p:cNvPr id="92" name="正方形/長方形 91">
                <a:extLst>
                  <a:ext uri="{FF2B5EF4-FFF2-40B4-BE49-F238E27FC236}">
                    <a16:creationId xmlns:a16="http://schemas.microsoft.com/office/drawing/2014/main" id="{1CDA9463-E8C7-1C1E-826A-1ED7CACFA3B4}"/>
                  </a:ext>
                </a:extLst>
              </p:cNvPr>
              <p:cNvSpPr/>
              <p:nvPr/>
            </p:nvSpPr>
            <p:spPr>
              <a:xfrm>
                <a:off x="3511236" y="3104422"/>
                <a:ext cx="484736" cy="31040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1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広告</a:t>
                </a:r>
              </a:p>
            </p:txBody>
          </p:sp>
          <p:cxnSp>
            <p:nvCxnSpPr>
              <p:cNvPr id="93" name="直線コネクタ 92">
                <a:extLst>
                  <a:ext uri="{FF2B5EF4-FFF2-40B4-BE49-F238E27FC236}">
                    <a16:creationId xmlns:a16="http://schemas.microsoft.com/office/drawing/2014/main" id="{37F6D4AF-E783-6BD7-ABEC-EA764142D6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176850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直線コネクタ 93">
                <a:extLst>
                  <a:ext uri="{FF2B5EF4-FFF2-40B4-BE49-F238E27FC236}">
                    <a16:creationId xmlns:a16="http://schemas.microsoft.com/office/drawing/2014/main" id="{691E2E20-4ADE-D9AA-7579-CA1273BE5F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259625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直線コネクタ 94">
                <a:extLst>
                  <a:ext uri="{FF2B5EF4-FFF2-40B4-BE49-F238E27FC236}">
                    <a16:creationId xmlns:a16="http://schemas.microsoft.com/office/drawing/2014/main" id="{F2C7D25E-9ECB-2148-D6ED-8A98853660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351831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6" name="グループ化 95">
              <a:extLst>
                <a:ext uri="{FF2B5EF4-FFF2-40B4-BE49-F238E27FC236}">
                  <a16:creationId xmlns:a16="http://schemas.microsoft.com/office/drawing/2014/main" id="{12EF7F3B-6198-0865-F636-F9BC8FBFFD31}"/>
                </a:ext>
              </a:extLst>
            </p:cNvPr>
            <p:cNvGrpSpPr/>
            <p:nvPr/>
          </p:nvGrpSpPr>
          <p:grpSpPr>
            <a:xfrm>
              <a:off x="5962836" y="3131944"/>
              <a:ext cx="1268994" cy="310406"/>
              <a:chOff x="3511236" y="3104422"/>
              <a:chExt cx="1268994" cy="310406"/>
            </a:xfrm>
          </p:grpSpPr>
          <p:sp>
            <p:nvSpPr>
              <p:cNvPr id="97" name="正方形/長方形 96">
                <a:extLst>
                  <a:ext uri="{FF2B5EF4-FFF2-40B4-BE49-F238E27FC236}">
                    <a16:creationId xmlns:a16="http://schemas.microsoft.com/office/drawing/2014/main" id="{E27B1F0F-4FEB-FE6B-7D04-5C068289D5D1}"/>
                  </a:ext>
                </a:extLst>
              </p:cNvPr>
              <p:cNvSpPr/>
              <p:nvPr/>
            </p:nvSpPr>
            <p:spPr>
              <a:xfrm>
                <a:off x="3511236" y="3104422"/>
                <a:ext cx="484736" cy="31040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1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広告</a:t>
                </a:r>
              </a:p>
            </p:txBody>
          </p:sp>
          <p:cxnSp>
            <p:nvCxnSpPr>
              <p:cNvPr id="98" name="直線コネクタ 97">
                <a:extLst>
                  <a:ext uri="{FF2B5EF4-FFF2-40B4-BE49-F238E27FC236}">
                    <a16:creationId xmlns:a16="http://schemas.microsoft.com/office/drawing/2014/main" id="{1B08F9E5-6346-7398-92E2-37EFD11802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176850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直線コネクタ 98">
                <a:extLst>
                  <a:ext uri="{FF2B5EF4-FFF2-40B4-BE49-F238E27FC236}">
                    <a16:creationId xmlns:a16="http://schemas.microsoft.com/office/drawing/2014/main" id="{0140EC17-E169-8271-D194-92E067064A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259625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直線コネクタ 99">
                <a:extLst>
                  <a:ext uri="{FF2B5EF4-FFF2-40B4-BE49-F238E27FC236}">
                    <a16:creationId xmlns:a16="http://schemas.microsoft.com/office/drawing/2014/main" id="{0CABE1EA-A775-EEB2-5D35-135D894151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351831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1" name="グループ化 100">
              <a:extLst>
                <a:ext uri="{FF2B5EF4-FFF2-40B4-BE49-F238E27FC236}">
                  <a16:creationId xmlns:a16="http://schemas.microsoft.com/office/drawing/2014/main" id="{FB588095-57ED-33D5-D641-4256E1671B93}"/>
                </a:ext>
              </a:extLst>
            </p:cNvPr>
            <p:cNvGrpSpPr/>
            <p:nvPr/>
          </p:nvGrpSpPr>
          <p:grpSpPr>
            <a:xfrm>
              <a:off x="5962836" y="3593597"/>
              <a:ext cx="1268994" cy="310406"/>
              <a:chOff x="3511236" y="3104422"/>
              <a:chExt cx="1268994" cy="310406"/>
            </a:xfrm>
          </p:grpSpPr>
          <p:sp>
            <p:nvSpPr>
              <p:cNvPr id="102" name="正方形/長方形 101">
                <a:extLst>
                  <a:ext uri="{FF2B5EF4-FFF2-40B4-BE49-F238E27FC236}">
                    <a16:creationId xmlns:a16="http://schemas.microsoft.com/office/drawing/2014/main" id="{6CB4B93D-643A-0C78-4DD6-3F1B592987CA}"/>
                  </a:ext>
                </a:extLst>
              </p:cNvPr>
              <p:cNvSpPr/>
              <p:nvPr/>
            </p:nvSpPr>
            <p:spPr>
              <a:xfrm>
                <a:off x="3511236" y="3104422"/>
                <a:ext cx="484736" cy="31040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1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広告</a:t>
                </a:r>
              </a:p>
            </p:txBody>
          </p:sp>
          <p:cxnSp>
            <p:nvCxnSpPr>
              <p:cNvPr id="103" name="直線コネクタ 102">
                <a:extLst>
                  <a:ext uri="{FF2B5EF4-FFF2-40B4-BE49-F238E27FC236}">
                    <a16:creationId xmlns:a16="http://schemas.microsoft.com/office/drawing/2014/main" id="{13A91B59-317D-42DA-8B3E-1C615A8DF7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176850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直線コネクタ 103">
                <a:extLst>
                  <a:ext uri="{FF2B5EF4-FFF2-40B4-BE49-F238E27FC236}">
                    <a16:creationId xmlns:a16="http://schemas.microsoft.com/office/drawing/2014/main" id="{3D5D7E20-BA00-00A0-FA7B-1CA09DFAEE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259625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直線コネクタ 104">
                <a:extLst>
                  <a:ext uri="{FF2B5EF4-FFF2-40B4-BE49-F238E27FC236}">
                    <a16:creationId xmlns:a16="http://schemas.microsoft.com/office/drawing/2014/main" id="{F475087C-1C3B-04CF-4444-1952BA533D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351831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6" name="グループ化 105">
              <a:extLst>
                <a:ext uri="{FF2B5EF4-FFF2-40B4-BE49-F238E27FC236}">
                  <a16:creationId xmlns:a16="http://schemas.microsoft.com/office/drawing/2014/main" id="{DCA2C768-FD9D-3F35-92D4-D05155C970E5}"/>
                </a:ext>
              </a:extLst>
            </p:cNvPr>
            <p:cNvGrpSpPr/>
            <p:nvPr/>
          </p:nvGrpSpPr>
          <p:grpSpPr>
            <a:xfrm>
              <a:off x="5962836" y="4055250"/>
              <a:ext cx="1268994" cy="310406"/>
              <a:chOff x="3511236" y="3104422"/>
              <a:chExt cx="1268994" cy="310406"/>
            </a:xfrm>
          </p:grpSpPr>
          <p:sp>
            <p:nvSpPr>
              <p:cNvPr id="107" name="正方形/長方形 106">
                <a:extLst>
                  <a:ext uri="{FF2B5EF4-FFF2-40B4-BE49-F238E27FC236}">
                    <a16:creationId xmlns:a16="http://schemas.microsoft.com/office/drawing/2014/main" id="{E92B14DB-69F7-9F0B-D3DA-C191B9D89FCF}"/>
                  </a:ext>
                </a:extLst>
              </p:cNvPr>
              <p:cNvSpPr/>
              <p:nvPr/>
            </p:nvSpPr>
            <p:spPr>
              <a:xfrm>
                <a:off x="3511236" y="3104422"/>
                <a:ext cx="484736" cy="31040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100" b="1" dirty="0">
                    <a:solidFill>
                      <a:schemeClr val="bg1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広告</a:t>
                </a:r>
              </a:p>
            </p:txBody>
          </p:sp>
          <p:cxnSp>
            <p:nvCxnSpPr>
              <p:cNvPr id="108" name="直線コネクタ 107">
                <a:extLst>
                  <a:ext uri="{FF2B5EF4-FFF2-40B4-BE49-F238E27FC236}">
                    <a16:creationId xmlns:a16="http://schemas.microsoft.com/office/drawing/2014/main" id="{382F5631-45B1-2044-2DD8-4178CF16FC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176850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直線コネクタ 108">
                <a:extLst>
                  <a:ext uri="{FF2B5EF4-FFF2-40B4-BE49-F238E27FC236}">
                    <a16:creationId xmlns:a16="http://schemas.microsoft.com/office/drawing/2014/main" id="{76BF624E-5AB0-5CD5-911D-C414B34FEE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259625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直線コネクタ 109">
                <a:extLst>
                  <a:ext uri="{FF2B5EF4-FFF2-40B4-BE49-F238E27FC236}">
                    <a16:creationId xmlns:a16="http://schemas.microsoft.com/office/drawing/2014/main" id="{CD8164B7-EF16-25F6-F0B5-8E0CCB4287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351831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9" name="グループ化 128">
              <a:extLst>
                <a:ext uri="{FF2B5EF4-FFF2-40B4-BE49-F238E27FC236}">
                  <a16:creationId xmlns:a16="http://schemas.microsoft.com/office/drawing/2014/main" id="{B2928D55-0DA0-83C2-5A2A-11E0FE1A8839}"/>
                </a:ext>
              </a:extLst>
            </p:cNvPr>
            <p:cNvGrpSpPr/>
            <p:nvPr/>
          </p:nvGrpSpPr>
          <p:grpSpPr>
            <a:xfrm>
              <a:off x="1173530" y="3223795"/>
              <a:ext cx="914400" cy="1148203"/>
              <a:chOff x="370963" y="3328308"/>
              <a:chExt cx="914400" cy="1148203"/>
            </a:xfrm>
          </p:grpSpPr>
          <p:pic>
            <p:nvPicPr>
              <p:cNvPr id="114" name="グラフィックス 113" descr="電球 単色塗りつぶし">
                <a:extLst>
                  <a:ext uri="{FF2B5EF4-FFF2-40B4-BE49-F238E27FC236}">
                    <a16:creationId xmlns:a16="http://schemas.microsoft.com/office/drawing/2014/main" id="{AA08DE78-B304-B80F-E8B7-9042D17F04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370963" y="3562111"/>
                <a:ext cx="914400" cy="914400"/>
              </a:xfrm>
              <a:prstGeom prst="rect">
                <a:avLst/>
              </a:prstGeom>
            </p:spPr>
          </p:pic>
          <p:cxnSp>
            <p:nvCxnSpPr>
              <p:cNvPr id="116" name="直線コネクタ 115">
                <a:extLst>
                  <a:ext uri="{FF2B5EF4-FFF2-40B4-BE49-F238E27FC236}">
                    <a16:creationId xmlns:a16="http://schemas.microsoft.com/office/drawing/2014/main" id="{C05AE4F9-4ADA-8012-94C7-486865E342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3161" y="3328308"/>
                <a:ext cx="0" cy="215989"/>
              </a:xfrm>
              <a:prstGeom prst="line">
                <a:avLst/>
              </a:prstGeom>
              <a:ln w="57150" cap="rnd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直線コネクタ 118">
                <a:extLst>
                  <a:ext uri="{FF2B5EF4-FFF2-40B4-BE49-F238E27FC236}">
                    <a16:creationId xmlns:a16="http://schemas.microsoft.com/office/drawing/2014/main" id="{18B21FBF-510D-9758-9DF1-996BEE307C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689" y="3403486"/>
                <a:ext cx="75547" cy="174669"/>
              </a:xfrm>
              <a:prstGeom prst="line">
                <a:avLst/>
              </a:prstGeom>
              <a:ln w="57150" cap="rnd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直線コネクタ 122">
                <a:extLst>
                  <a:ext uri="{FF2B5EF4-FFF2-40B4-BE49-F238E27FC236}">
                    <a16:creationId xmlns:a16="http://schemas.microsoft.com/office/drawing/2014/main" id="{808111D3-0B0B-404E-FCA1-63C4A352AEB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78957" y="3403486"/>
                <a:ext cx="80853" cy="174669"/>
              </a:xfrm>
              <a:prstGeom prst="line">
                <a:avLst/>
              </a:prstGeom>
              <a:ln w="57150" cap="rnd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0" name="正方形/長方形 129">
              <a:extLst>
                <a:ext uri="{FF2B5EF4-FFF2-40B4-BE49-F238E27FC236}">
                  <a16:creationId xmlns:a16="http://schemas.microsoft.com/office/drawing/2014/main" id="{7792FA14-25CB-1178-C15E-CA8AB0E54B8E}"/>
                </a:ext>
              </a:extLst>
            </p:cNvPr>
            <p:cNvSpPr/>
            <p:nvPr/>
          </p:nvSpPr>
          <p:spPr>
            <a:xfrm>
              <a:off x="5939020" y="3076575"/>
              <a:ext cx="1343024" cy="424818"/>
            </a:xfrm>
            <a:prstGeom prst="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1D0223E7-0CAA-1C5C-6789-1AA307741631}"/>
                </a:ext>
              </a:extLst>
            </p:cNvPr>
            <p:cNvSpPr/>
            <p:nvPr/>
          </p:nvSpPr>
          <p:spPr>
            <a:xfrm>
              <a:off x="951434" y="4821442"/>
              <a:ext cx="1414979" cy="1522469"/>
            </a:xfrm>
            <a:prstGeom prst="rect">
              <a:avLst/>
            </a:prstGeom>
            <a:solidFill>
              <a:srgbClr val="191F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認知</a:t>
              </a:r>
              <a:endParaRPr kumimoji="1" lang="en-US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r>
                <a:rPr kumimoji="1" lang="ja-JP" altLang="en-US" sz="12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マーケット状況の把握</a:t>
              </a:r>
              <a:endParaRPr kumimoji="1" lang="en-US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endParaRPr kumimoji="1" lang="en-US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r>
                <a:rPr kumimoji="1" lang="ja-JP" altLang="en-US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・競合と比較した認知度</a:t>
              </a:r>
              <a:endParaRPr kumimoji="1" lang="en-US" altLang="ja-JP" sz="8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r>
                <a:rPr kumimoji="1" lang="ja-JP" altLang="en-US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・認知度別の施策</a:t>
              </a:r>
            </a:p>
          </p:txBody>
        </p: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9E2A55E3-7EA8-40F9-6F9C-CCC047BFF309}"/>
                </a:ext>
              </a:extLst>
            </p:cNvPr>
            <p:cNvSpPr/>
            <p:nvPr/>
          </p:nvSpPr>
          <p:spPr>
            <a:xfrm>
              <a:off x="2605778" y="4821442"/>
              <a:ext cx="1414979" cy="1522469"/>
            </a:xfrm>
            <a:prstGeom prst="rect">
              <a:avLst/>
            </a:prstGeom>
            <a:solidFill>
              <a:srgbClr val="191F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CV</a:t>
              </a:r>
              <a:r>
                <a:rPr kumimoji="1" lang="ja-JP" altLang="en-US" sz="12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上位クエリの網羅</a:t>
              </a:r>
              <a:endParaRPr kumimoji="1" lang="en-US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endParaRPr kumimoji="1" lang="en-US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r>
                <a:rPr kumimoji="1" lang="ja-JP" altLang="en-US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・</a:t>
              </a:r>
              <a:r>
                <a:rPr kumimoji="1" lang="en-US" altLang="ja-JP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KW</a:t>
              </a:r>
              <a:r>
                <a:rPr kumimoji="1" lang="ja-JP" altLang="en-US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の抜け漏れ</a:t>
              </a:r>
              <a:endParaRPr kumimoji="1" lang="en-US" altLang="ja-JP" sz="8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r>
                <a:rPr kumimoji="1" lang="ja-JP" altLang="en-US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・マッチタイプの使い分け</a:t>
              </a:r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86D0BFBC-BC9B-2B52-1A15-B4CDAF57B3DE}"/>
                </a:ext>
              </a:extLst>
            </p:cNvPr>
            <p:cNvSpPr/>
            <p:nvPr/>
          </p:nvSpPr>
          <p:spPr>
            <a:xfrm>
              <a:off x="4242951" y="4821442"/>
              <a:ext cx="1414979" cy="1522469"/>
            </a:xfrm>
            <a:prstGeom prst="rect">
              <a:avLst/>
            </a:prstGeom>
            <a:solidFill>
              <a:srgbClr val="191F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入札戦略</a:t>
              </a:r>
              <a:endPara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endPara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r>
                <a:rPr kumimoji="1" lang="ja-JP" altLang="en-US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・意図する入札戦略が実施できているか</a:t>
              </a:r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2EFF3E0C-0B1C-B5A5-8375-9FABC9BC771C}"/>
                </a:ext>
              </a:extLst>
            </p:cNvPr>
            <p:cNvSpPr/>
            <p:nvPr/>
          </p:nvSpPr>
          <p:spPr>
            <a:xfrm>
              <a:off x="5923783" y="4821442"/>
              <a:ext cx="1414979" cy="1522469"/>
            </a:xfrm>
            <a:prstGeom prst="rect">
              <a:avLst/>
            </a:prstGeom>
            <a:solidFill>
              <a:srgbClr val="191F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広告の最適化</a:t>
              </a:r>
              <a:endPara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endPara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r>
                <a:rPr kumimoji="1" lang="ja-JP" altLang="en-US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・適切な</a:t>
              </a:r>
              <a:r>
                <a:rPr kumimoji="1" lang="en-US" altLang="ja-JP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TD</a:t>
              </a:r>
              <a:r>
                <a:rPr kumimoji="1" lang="ja-JP" altLang="en-US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が検証されているか</a:t>
              </a:r>
              <a:endParaRPr kumimoji="1" lang="en-US" altLang="ja-JP" sz="8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r>
                <a:rPr kumimoji="1" lang="ja-JP" altLang="en-US" sz="8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・表示オプションが網羅されているか</a:t>
              </a:r>
            </a:p>
          </p:txBody>
        </p: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34486463-9E9D-DEA3-AB0C-523117DAB90E}"/>
                </a:ext>
              </a:extLst>
            </p:cNvPr>
            <p:cNvCxnSpPr>
              <a:cxnSpLocks/>
              <a:stCxn id="5" idx="0"/>
              <a:endCxn id="10" idx="2"/>
            </p:cNvCxnSpPr>
            <p:nvPr/>
          </p:nvCxnSpPr>
          <p:spPr>
            <a:xfrm flipV="1">
              <a:off x="1658924" y="4526732"/>
              <a:ext cx="472" cy="294710"/>
            </a:xfrm>
            <a:prstGeom prst="line">
              <a:avLst/>
            </a:prstGeom>
            <a:ln w="28575">
              <a:solidFill>
                <a:srgbClr val="191F5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コネクタ 22">
              <a:extLst>
                <a:ext uri="{FF2B5EF4-FFF2-40B4-BE49-F238E27FC236}">
                  <a16:creationId xmlns:a16="http://schemas.microsoft.com/office/drawing/2014/main" id="{3C767F7F-727E-51E2-7F96-A43A80051D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04976" y="4526732"/>
              <a:ext cx="472" cy="294710"/>
            </a:xfrm>
            <a:prstGeom prst="line">
              <a:avLst/>
            </a:prstGeom>
            <a:ln w="28575">
              <a:solidFill>
                <a:srgbClr val="191F5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コネクタ 23">
              <a:extLst>
                <a:ext uri="{FF2B5EF4-FFF2-40B4-BE49-F238E27FC236}">
                  <a16:creationId xmlns:a16="http://schemas.microsoft.com/office/drawing/2014/main" id="{03C6378D-0DF3-A488-0760-66C58964FE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66192" y="4526732"/>
              <a:ext cx="472" cy="294710"/>
            </a:xfrm>
            <a:prstGeom prst="line">
              <a:avLst/>
            </a:prstGeom>
            <a:ln w="28575">
              <a:solidFill>
                <a:srgbClr val="191F5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コネクタ 24">
              <a:extLst>
                <a:ext uri="{FF2B5EF4-FFF2-40B4-BE49-F238E27FC236}">
                  <a16:creationId xmlns:a16="http://schemas.microsoft.com/office/drawing/2014/main" id="{9B6C2A95-59FC-1F69-E6D7-F4C4347C87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29305" y="4526732"/>
              <a:ext cx="472" cy="294710"/>
            </a:xfrm>
            <a:prstGeom prst="line">
              <a:avLst/>
            </a:prstGeom>
            <a:ln w="28575">
              <a:solidFill>
                <a:srgbClr val="191F5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780379DC-6F8B-4BEA-3AAA-57782EB24CFA}"/>
                </a:ext>
              </a:extLst>
            </p:cNvPr>
            <p:cNvSpPr/>
            <p:nvPr/>
          </p:nvSpPr>
          <p:spPr>
            <a:xfrm>
              <a:off x="921623" y="2158708"/>
              <a:ext cx="1599918" cy="4304235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34F331A8-027D-8F4D-A608-13CB2FA97365}"/>
                </a:ext>
              </a:extLst>
            </p:cNvPr>
            <p:cNvSpPr/>
            <p:nvPr/>
          </p:nvSpPr>
          <p:spPr>
            <a:xfrm>
              <a:off x="4185388" y="2158708"/>
              <a:ext cx="3208865" cy="4304235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</p:grpSp>
      <p:sp>
        <p:nvSpPr>
          <p:cNvPr id="3" name="Google Shape;64;p3">
            <a:extLst>
              <a:ext uri="{FF2B5EF4-FFF2-40B4-BE49-F238E27FC236}">
                <a16:creationId xmlns:a16="http://schemas.microsoft.com/office/drawing/2014/main" id="{70BF46EF-AE79-4CA2-2FDC-D2D035D09FC5}"/>
              </a:ext>
            </a:extLst>
          </p:cNvPr>
          <p:cNvSpPr txBox="1"/>
          <p:nvPr/>
        </p:nvSpPr>
        <p:spPr>
          <a:xfrm>
            <a:off x="501705" y="83613"/>
            <a:ext cx="4451295" cy="387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kumimoji="1" lang="ja-JP" altLang="en-US" sz="1600" spc="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配信戦略</a:t>
            </a:r>
          </a:p>
        </p:txBody>
      </p:sp>
    </p:spTree>
    <p:extLst>
      <p:ext uri="{BB962C8B-B14F-4D97-AF65-F5344CB8AC3E}">
        <p14:creationId xmlns:p14="http://schemas.microsoft.com/office/powerpoint/2010/main" val="8234666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図 39" descr="テーブル&#10;&#10;自動的に生成された説明">
            <a:extLst>
              <a:ext uri="{FF2B5EF4-FFF2-40B4-BE49-F238E27FC236}">
                <a16:creationId xmlns:a16="http://schemas.microsoft.com/office/drawing/2014/main" id="{4C2200B5-202A-4F48-B91B-F786B7AA89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6133" y="3056462"/>
            <a:ext cx="2220292" cy="2445746"/>
          </a:xfrm>
          <a:prstGeom prst="rect">
            <a:avLst/>
          </a:prstGeom>
        </p:spPr>
      </p:pic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795DB2B0-C4D0-4245-92B1-1FA14A0CCA53}"/>
              </a:ext>
            </a:extLst>
          </p:cNvPr>
          <p:cNvSpPr txBox="1"/>
          <p:nvPr/>
        </p:nvSpPr>
        <p:spPr>
          <a:xfrm>
            <a:off x="257176" y="5751335"/>
            <a:ext cx="3010100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競合視している他社の</a:t>
            </a:r>
            <a:endParaRPr lang="en-US" altLang="ja-JP" sz="14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出稿キーワードを参照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729F4FBB-A193-4576-ACC0-E7A6DC8BBDF9}"/>
              </a:ext>
            </a:extLst>
          </p:cNvPr>
          <p:cNvSpPr txBox="1"/>
          <p:nvPr/>
        </p:nvSpPr>
        <p:spPr>
          <a:xfrm>
            <a:off x="3439643" y="5751335"/>
            <a:ext cx="3012529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膨大な広告アカウントから</a:t>
            </a:r>
            <a:endParaRPr lang="en-US" altLang="ja-JP" sz="14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適切なキーワードを精査</a:t>
            </a: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CE3FDD27-31B6-4743-9872-8A9BE896E757}"/>
              </a:ext>
            </a:extLst>
          </p:cNvPr>
          <p:cNvSpPr txBox="1"/>
          <p:nvPr/>
        </p:nvSpPr>
        <p:spPr>
          <a:xfrm>
            <a:off x="6592134" y="5751335"/>
            <a:ext cx="3012529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実際に検索されている語句から有効なキーワードを抽出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DF4B495-2264-4B5D-9B33-8A13F9811BB5}"/>
              </a:ext>
            </a:extLst>
          </p:cNvPr>
          <p:cNvSpPr txBox="1"/>
          <p:nvPr/>
        </p:nvSpPr>
        <p:spPr>
          <a:xfrm>
            <a:off x="257176" y="2327651"/>
            <a:ext cx="30101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指定した競合サイト</a:t>
            </a:r>
            <a:r>
              <a:rPr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URL</a:t>
            </a:r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から</a:t>
            </a:r>
            <a:endParaRPr lang="en-US" altLang="ja-JP" sz="11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400" b="1" u="sng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他社の流入ワード</a:t>
            </a:r>
            <a:r>
              <a:rPr lang="ja-JP" altLang="en-US" sz="1400" b="1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を調査。</a:t>
            </a:r>
          </a:p>
        </p:txBody>
      </p:sp>
      <p:pic>
        <p:nvPicPr>
          <p:cNvPr id="13" name="図 12" descr="グラフィカル ユーザー インターフェイス, アプリケーション&#10;&#10;自動的に生成された説明">
            <a:extLst>
              <a:ext uri="{FF2B5EF4-FFF2-40B4-BE49-F238E27FC236}">
                <a16:creationId xmlns:a16="http://schemas.microsoft.com/office/drawing/2014/main" id="{293D10CA-7322-4A6B-A350-40A026BE6C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575" y="3075512"/>
            <a:ext cx="2898022" cy="2065652"/>
          </a:xfrm>
          <a:prstGeom prst="rect">
            <a:avLst/>
          </a:prstGeom>
        </p:spPr>
      </p:pic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0E04C9A0-AF7E-4840-8D25-AAEAF61CE0FC}"/>
              </a:ext>
            </a:extLst>
          </p:cNvPr>
          <p:cNvSpPr/>
          <p:nvPr/>
        </p:nvSpPr>
        <p:spPr>
          <a:xfrm>
            <a:off x="257176" y="1809065"/>
            <a:ext cx="3010101" cy="397519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外部ツールを参照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BDA3B118-FA57-4F7A-8A5C-CB339139AE20}"/>
              </a:ext>
            </a:extLst>
          </p:cNvPr>
          <p:cNvSpPr/>
          <p:nvPr/>
        </p:nvSpPr>
        <p:spPr>
          <a:xfrm>
            <a:off x="3442074" y="1809065"/>
            <a:ext cx="3010101" cy="397519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当社実績</a:t>
            </a:r>
            <a:endParaRPr kumimoji="1" lang="ja-JP" altLang="en-US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1845F2F2-FEDE-419B-A3F4-09B17B7DD112}"/>
              </a:ext>
            </a:extLst>
          </p:cNvPr>
          <p:cNvSpPr/>
          <p:nvPr/>
        </p:nvSpPr>
        <p:spPr>
          <a:xfrm>
            <a:off x="6602767" y="1809065"/>
            <a:ext cx="3010101" cy="397519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Google</a:t>
            </a: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検索</a:t>
            </a:r>
            <a:endParaRPr kumimoji="1" lang="ja-JP" altLang="en-US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6ABD7254-553E-4E59-A470-A1AF53CD2208}"/>
              </a:ext>
            </a:extLst>
          </p:cNvPr>
          <p:cNvSpPr txBox="1"/>
          <p:nvPr/>
        </p:nvSpPr>
        <p:spPr>
          <a:xfrm>
            <a:off x="3442074" y="2327651"/>
            <a:ext cx="30101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6,000</a:t>
            </a:r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社以上の取引実績から</a:t>
            </a:r>
            <a:endParaRPr lang="en-US" altLang="ja-JP" sz="11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400" b="1" u="sng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御業界で有効なキーワード</a:t>
            </a:r>
            <a:r>
              <a:rPr lang="ja-JP" altLang="en-US" sz="1400" b="1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を調査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3561946C-FED5-4A58-90B4-24F1A3B7B6D2}"/>
              </a:ext>
            </a:extLst>
          </p:cNvPr>
          <p:cNvSpPr txBox="1"/>
          <p:nvPr/>
        </p:nvSpPr>
        <p:spPr>
          <a:xfrm>
            <a:off x="6602767" y="2327651"/>
            <a:ext cx="30101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実際に検索を繰り返し、</a:t>
            </a:r>
            <a:endParaRPr lang="en-US" altLang="ja-JP" sz="11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400" b="1" u="sng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サジェストからキーワード調査</a:t>
            </a:r>
          </a:p>
        </p:txBody>
      </p:sp>
      <p:pic>
        <p:nvPicPr>
          <p:cNvPr id="5" name="図 4" descr="グラフィカル ユーザー インターフェイス, アプリケーション, テーブル&#10;&#10;自動的に生成された説明">
            <a:extLst>
              <a:ext uri="{FF2B5EF4-FFF2-40B4-BE49-F238E27FC236}">
                <a16:creationId xmlns:a16="http://schemas.microsoft.com/office/drawing/2014/main" id="{1653F8EB-FAE0-4A14-A284-DF60FA2508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7829" y="3142856"/>
            <a:ext cx="2889020" cy="1909905"/>
          </a:xfrm>
          <a:prstGeom prst="rect">
            <a:avLst/>
          </a:prstGeom>
        </p:spPr>
      </p:pic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4E164AA9-1F37-4EEE-9D5A-16CA87CD37A4}"/>
              </a:ext>
            </a:extLst>
          </p:cNvPr>
          <p:cNvSpPr/>
          <p:nvPr/>
        </p:nvSpPr>
        <p:spPr>
          <a:xfrm>
            <a:off x="3439646" y="1804359"/>
            <a:ext cx="3012527" cy="4586903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sz="1100" dirty="0">
              <a:solidFill>
                <a:schemeClr val="tx1">
                  <a:lumMod val="85000"/>
                  <a:lumOff val="1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436313E0-DB26-470B-87BB-AF9346286787}"/>
              </a:ext>
            </a:extLst>
          </p:cNvPr>
          <p:cNvSpPr/>
          <p:nvPr/>
        </p:nvSpPr>
        <p:spPr>
          <a:xfrm>
            <a:off x="252323" y="1804358"/>
            <a:ext cx="3012527" cy="4586903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sz="1100" dirty="0">
              <a:solidFill>
                <a:schemeClr val="tx1">
                  <a:lumMod val="85000"/>
                  <a:lumOff val="1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AB171B52-058C-43DA-9426-C377C19068F4}"/>
              </a:ext>
            </a:extLst>
          </p:cNvPr>
          <p:cNvSpPr/>
          <p:nvPr/>
        </p:nvSpPr>
        <p:spPr>
          <a:xfrm>
            <a:off x="6592136" y="1804358"/>
            <a:ext cx="3012527" cy="4586903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sz="1100" dirty="0">
              <a:solidFill>
                <a:schemeClr val="tx1">
                  <a:lumMod val="85000"/>
                  <a:lumOff val="1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7" name="図 6" descr="グラフィカル ユーザー インターフェイス, テキスト, アプリケーション&#10;&#10;自動的に生成された説明">
            <a:extLst>
              <a:ext uri="{FF2B5EF4-FFF2-40B4-BE49-F238E27FC236}">
                <a16:creationId xmlns:a16="http://schemas.microsoft.com/office/drawing/2014/main" id="{37A52EFE-6EFF-4BB0-AB33-56D09D2392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2767" y="2936804"/>
            <a:ext cx="1813851" cy="807094"/>
          </a:xfrm>
          <a:prstGeom prst="rect">
            <a:avLst/>
          </a:prstGeom>
        </p:spPr>
      </p:pic>
      <p:sp>
        <p:nvSpPr>
          <p:cNvPr id="3" name="フリーフォーム: 図形 2">
            <a:extLst>
              <a:ext uri="{FF2B5EF4-FFF2-40B4-BE49-F238E27FC236}">
                <a16:creationId xmlns:a16="http://schemas.microsoft.com/office/drawing/2014/main" id="{6C35FA4B-7D95-951B-8E29-216E755C86F8}"/>
              </a:ext>
            </a:extLst>
          </p:cNvPr>
          <p:cNvSpPr/>
          <p:nvPr/>
        </p:nvSpPr>
        <p:spPr>
          <a:xfrm>
            <a:off x="7030522" y="3716655"/>
            <a:ext cx="618053" cy="465117"/>
          </a:xfrm>
          <a:custGeom>
            <a:avLst/>
            <a:gdLst>
              <a:gd name="csX0" fmla="*/ 0 w 618053"/>
              <a:gd name="csY0" fmla="*/ 0 h 465117"/>
              <a:gd name="csX1" fmla="*/ 128413 w 618053"/>
              <a:gd name="csY1" fmla="*/ 0 h 465117"/>
              <a:gd name="csX2" fmla="*/ 128413 w 618053"/>
              <a:gd name="csY2" fmla="*/ 200798 h 465117"/>
              <a:gd name="csX3" fmla="*/ 441841 w 618053"/>
              <a:gd name="csY3" fmla="*/ 200798 h 465117"/>
              <a:gd name="csX4" fmla="*/ 441841 w 618053"/>
              <a:gd name="csY4" fmla="*/ 112692 h 465117"/>
              <a:gd name="csX5" fmla="*/ 618053 w 618053"/>
              <a:gd name="csY5" fmla="*/ 288905 h 465117"/>
              <a:gd name="csX6" fmla="*/ 441841 w 618053"/>
              <a:gd name="csY6" fmla="*/ 465117 h 465117"/>
              <a:gd name="csX7" fmla="*/ 441841 w 618053"/>
              <a:gd name="csY7" fmla="*/ 377011 h 465117"/>
              <a:gd name="csX8" fmla="*/ 0 w 618053"/>
              <a:gd name="csY8" fmla="*/ 377011 h 465117"/>
              <a:gd name="csX9" fmla="*/ 0 w 618053"/>
              <a:gd name="csY9" fmla="*/ 213360 h 465117"/>
              <a:gd name="csX10" fmla="*/ 0 w 618053"/>
              <a:gd name="csY10" fmla="*/ 200798 h 4651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618053" h="465117">
                <a:moveTo>
                  <a:pt x="0" y="0"/>
                </a:moveTo>
                <a:lnTo>
                  <a:pt x="128413" y="0"/>
                </a:lnTo>
                <a:lnTo>
                  <a:pt x="128413" y="200798"/>
                </a:lnTo>
                <a:lnTo>
                  <a:pt x="441841" y="200798"/>
                </a:lnTo>
                <a:lnTo>
                  <a:pt x="441841" y="112692"/>
                </a:lnTo>
                <a:lnTo>
                  <a:pt x="618053" y="288905"/>
                </a:lnTo>
                <a:lnTo>
                  <a:pt x="441841" y="465117"/>
                </a:lnTo>
                <a:lnTo>
                  <a:pt x="441841" y="377011"/>
                </a:lnTo>
                <a:lnTo>
                  <a:pt x="0" y="377011"/>
                </a:lnTo>
                <a:lnTo>
                  <a:pt x="0" y="213360"/>
                </a:lnTo>
                <a:lnTo>
                  <a:pt x="0" y="200798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0CD5E6F5-64D0-428A-AC9C-F1556CBC2FEF}"/>
              </a:ext>
            </a:extLst>
          </p:cNvPr>
          <p:cNvSpPr/>
          <p:nvPr/>
        </p:nvSpPr>
        <p:spPr>
          <a:xfrm>
            <a:off x="0" y="1297418"/>
            <a:ext cx="9906000" cy="4037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競合の出稿キーワード～自社で保有している実績データをベースに、見込みキーワードの洗い出しを行います。</a:t>
            </a:r>
            <a:endParaRPr lang="en-US" altLang="ja-JP" sz="105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多くの情報から、機会損失のないキーワードの設計を実行します。</a:t>
            </a:r>
            <a:endParaRPr lang="en-US" altLang="ja-JP" sz="105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Google Shape;415;p40">
            <a:extLst>
              <a:ext uri="{FF2B5EF4-FFF2-40B4-BE49-F238E27FC236}">
                <a16:creationId xmlns:a16="http://schemas.microsoft.com/office/drawing/2014/main" id="{65CA075F-DCDE-4505-01D4-60A534938D63}"/>
              </a:ext>
            </a:extLst>
          </p:cNvPr>
          <p:cNvSpPr/>
          <p:nvPr/>
        </p:nvSpPr>
        <p:spPr>
          <a:xfrm>
            <a:off x="0" y="730439"/>
            <a:ext cx="9906000" cy="468922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ja-JP" altLang="en-US" sz="1800" b="1" dirty="0">
                <a:solidFill>
                  <a:srgbClr val="F2F2F2"/>
                </a:solidFill>
                <a:latin typeface="Meiryo"/>
                <a:ea typeface="Meiryo"/>
                <a:sym typeface="Meiryo"/>
              </a:rPr>
              <a:t>膨大な情報から適切なキーワードを選定</a:t>
            </a:r>
          </a:p>
        </p:txBody>
      </p:sp>
      <p:sp>
        <p:nvSpPr>
          <p:cNvPr id="6" name="Google Shape;64;p3">
            <a:extLst>
              <a:ext uri="{FF2B5EF4-FFF2-40B4-BE49-F238E27FC236}">
                <a16:creationId xmlns:a16="http://schemas.microsoft.com/office/drawing/2014/main" id="{4D88C0E7-14DE-0F68-B976-CCF086D7CB9D}"/>
              </a:ext>
            </a:extLst>
          </p:cNvPr>
          <p:cNvSpPr txBox="1"/>
          <p:nvPr/>
        </p:nvSpPr>
        <p:spPr>
          <a:xfrm>
            <a:off x="501705" y="83613"/>
            <a:ext cx="4451295" cy="387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kumimoji="1" lang="ja-JP" altLang="en-US" sz="1600" spc="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キーワード</a:t>
            </a:r>
          </a:p>
        </p:txBody>
      </p:sp>
    </p:spTree>
    <p:extLst>
      <p:ext uri="{BB962C8B-B14F-4D97-AF65-F5344CB8AC3E}">
        <p14:creationId xmlns:p14="http://schemas.microsoft.com/office/powerpoint/2010/main" val="25030665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CE89D669-3CD7-EFDD-8512-DA7A68B19123}"/>
              </a:ext>
            </a:extLst>
          </p:cNvPr>
          <p:cNvGrpSpPr/>
          <p:nvPr/>
        </p:nvGrpSpPr>
        <p:grpSpPr>
          <a:xfrm>
            <a:off x="273050" y="1400217"/>
            <a:ext cx="9359900" cy="4815787"/>
            <a:chOff x="273050" y="1543049"/>
            <a:chExt cx="9359900" cy="4815787"/>
          </a:xfrm>
        </p:grpSpPr>
        <p:pic>
          <p:nvPicPr>
            <p:cNvPr id="332" name="Google Shape;332;p34"/>
            <p:cNvPicPr preferRelativeResize="0"/>
            <p:nvPr/>
          </p:nvPicPr>
          <p:blipFill rotWithShape="1">
            <a:blip r:embed="rId3">
              <a:alphaModFix/>
            </a:blip>
            <a:srcRect l="-1" t="16757" r="344"/>
            <a:stretch>
              <a:fillRect/>
            </a:stretch>
          </p:blipFill>
          <p:spPr>
            <a:xfrm>
              <a:off x="273050" y="1543049"/>
              <a:ext cx="9359900" cy="48157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" name="図 1" descr="ダイアグラム&#10;&#10;自動的に生成された説明">
              <a:extLst>
                <a:ext uri="{FF2B5EF4-FFF2-40B4-BE49-F238E27FC236}">
                  <a16:creationId xmlns:a16="http://schemas.microsoft.com/office/drawing/2014/main" id="{CA8EFC9A-5D21-5B08-0995-20059171A4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53051" y="2446475"/>
              <a:ext cx="2471799" cy="1135267"/>
            </a:xfrm>
            <a:prstGeom prst="rect">
              <a:avLst/>
            </a:prstGeom>
          </p:spPr>
        </p:pic>
      </p:grpSp>
      <p:sp>
        <p:nvSpPr>
          <p:cNvPr id="3" name="Google Shape;415;p40">
            <a:extLst>
              <a:ext uri="{FF2B5EF4-FFF2-40B4-BE49-F238E27FC236}">
                <a16:creationId xmlns:a16="http://schemas.microsoft.com/office/drawing/2014/main" id="{FA9B2E9D-99CF-ACF2-82E2-BB2572D8C681}"/>
              </a:ext>
            </a:extLst>
          </p:cNvPr>
          <p:cNvSpPr/>
          <p:nvPr/>
        </p:nvSpPr>
        <p:spPr>
          <a:xfrm>
            <a:off x="0" y="730439"/>
            <a:ext cx="9906000" cy="468922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ja-JP" altLang="en-US" sz="1800" b="1" dirty="0">
                <a:solidFill>
                  <a:srgbClr val="F2F2F2"/>
                </a:solidFill>
                <a:latin typeface="Meiryo"/>
                <a:ea typeface="Meiryo"/>
                <a:sym typeface="Meiryo"/>
              </a:rPr>
              <a:t>検索意図も考慮しながらキーワードの拡張幅を決定</a:t>
            </a:r>
            <a:endParaRPr lang="ja-JP" altLang="en-US" sz="1800" b="1" dirty="0">
              <a:solidFill>
                <a:srgbClr val="F2F2F2"/>
              </a:solidFill>
              <a:latin typeface="Meiryo"/>
              <a:ea typeface="Meiryo"/>
            </a:endParaRPr>
          </a:p>
        </p:txBody>
      </p:sp>
      <p:sp>
        <p:nvSpPr>
          <p:cNvPr id="5" name="Google Shape;64;p3">
            <a:extLst>
              <a:ext uri="{FF2B5EF4-FFF2-40B4-BE49-F238E27FC236}">
                <a16:creationId xmlns:a16="http://schemas.microsoft.com/office/drawing/2014/main" id="{138440B5-A5BC-4A47-9CA7-792724F1856D}"/>
              </a:ext>
            </a:extLst>
          </p:cNvPr>
          <p:cNvSpPr txBox="1"/>
          <p:nvPr/>
        </p:nvSpPr>
        <p:spPr>
          <a:xfrm>
            <a:off x="501705" y="83613"/>
            <a:ext cx="4451295" cy="387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kumimoji="1" lang="ja-JP" altLang="en-US" sz="1600" spc="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キーワード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>
          <a:extLst>
            <a:ext uri="{FF2B5EF4-FFF2-40B4-BE49-F238E27FC236}">
              <a16:creationId xmlns:a16="http://schemas.microsoft.com/office/drawing/2014/main" id="{06D1B8A1-3F2B-05AD-00C3-655336692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p35">
            <a:extLst>
              <a:ext uri="{FF2B5EF4-FFF2-40B4-BE49-F238E27FC236}">
                <a16:creationId xmlns:a16="http://schemas.microsoft.com/office/drawing/2014/main" id="{CF1AA74C-1F32-7932-269A-B09F187D58A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6434"/>
          <a:stretch>
            <a:fillRect/>
          </a:stretch>
        </p:blipFill>
        <p:spPr>
          <a:xfrm>
            <a:off x="273050" y="1504992"/>
            <a:ext cx="9359900" cy="484160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415;p40">
            <a:extLst>
              <a:ext uri="{FF2B5EF4-FFF2-40B4-BE49-F238E27FC236}">
                <a16:creationId xmlns:a16="http://schemas.microsoft.com/office/drawing/2014/main" id="{1E9CDFB4-45B9-4EA8-A5C8-BC42C3822180}"/>
              </a:ext>
            </a:extLst>
          </p:cNvPr>
          <p:cNvSpPr/>
          <p:nvPr/>
        </p:nvSpPr>
        <p:spPr>
          <a:xfrm>
            <a:off x="0" y="730439"/>
            <a:ext cx="9906000" cy="468922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ja-JP" altLang="en-US" sz="1800" b="1" dirty="0">
                <a:solidFill>
                  <a:srgbClr val="F2F2F2"/>
                </a:solidFill>
                <a:latin typeface="Meiryo"/>
                <a:ea typeface="Meiryo"/>
                <a:sym typeface="Meiryo"/>
              </a:rPr>
              <a:t>検索背景も可視化し、高い精度でキーワードを選定</a:t>
            </a:r>
            <a:endParaRPr lang="ja-JP" altLang="en-US" sz="1800" b="1" dirty="0">
              <a:solidFill>
                <a:srgbClr val="F2F2F2"/>
              </a:solidFill>
              <a:latin typeface="Meiryo"/>
              <a:ea typeface="Meiryo"/>
            </a:endParaRPr>
          </a:p>
        </p:txBody>
      </p:sp>
      <p:sp>
        <p:nvSpPr>
          <p:cNvPr id="3" name="Google Shape;64;p3">
            <a:extLst>
              <a:ext uri="{FF2B5EF4-FFF2-40B4-BE49-F238E27FC236}">
                <a16:creationId xmlns:a16="http://schemas.microsoft.com/office/drawing/2014/main" id="{18E6B643-C3A0-5CC6-12BD-EA6BD503F499}"/>
              </a:ext>
            </a:extLst>
          </p:cNvPr>
          <p:cNvSpPr txBox="1"/>
          <p:nvPr/>
        </p:nvSpPr>
        <p:spPr>
          <a:xfrm>
            <a:off x="501705" y="83613"/>
            <a:ext cx="4451295" cy="387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kumimoji="1" lang="ja-JP" altLang="en-US" sz="1600" spc="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キーワード</a:t>
            </a:r>
          </a:p>
        </p:txBody>
      </p:sp>
    </p:spTree>
    <p:extLst>
      <p:ext uri="{BB962C8B-B14F-4D97-AF65-F5344CB8AC3E}">
        <p14:creationId xmlns:p14="http://schemas.microsoft.com/office/powerpoint/2010/main" val="25617893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6BE74623-FD3E-9554-3B65-A9BF9EB1E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708A123-F329-C887-769B-6F5BDEB24D67}"/>
              </a:ext>
            </a:extLst>
          </p:cNvPr>
          <p:cNvSpPr/>
          <p:nvPr/>
        </p:nvSpPr>
        <p:spPr>
          <a:xfrm>
            <a:off x="-1712" y="766081"/>
            <a:ext cx="9906000" cy="550218"/>
          </a:xfrm>
          <a:prstGeom prst="rect">
            <a:avLst/>
          </a:prstGeom>
          <a:solidFill>
            <a:srgbClr val="191F5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spc="3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広告文分析</a:t>
            </a:r>
          </a:p>
        </p:txBody>
      </p: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55A08979-4F32-7BE2-0706-8B5F2B550174}"/>
              </a:ext>
            </a:extLst>
          </p:cNvPr>
          <p:cNvGrpSpPr/>
          <p:nvPr/>
        </p:nvGrpSpPr>
        <p:grpSpPr>
          <a:xfrm>
            <a:off x="1598453" y="2158709"/>
            <a:ext cx="6561405" cy="4185202"/>
            <a:chOff x="1558407" y="2158709"/>
            <a:chExt cx="6561405" cy="4185202"/>
          </a:xfrm>
        </p:grpSpPr>
        <p:sp>
          <p:nvSpPr>
            <p:cNvPr id="136" name="楕円 135">
              <a:extLst>
                <a:ext uri="{FF2B5EF4-FFF2-40B4-BE49-F238E27FC236}">
                  <a16:creationId xmlns:a16="http://schemas.microsoft.com/office/drawing/2014/main" id="{BA720913-518F-E53F-965F-E12D0763B204}"/>
                </a:ext>
              </a:extLst>
            </p:cNvPr>
            <p:cNvSpPr/>
            <p:nvPr/>
          </p:nvSpPr>
          <p:spPr>
            <a:xfrm>
              <a:off x="2207079" y="3543287"/>
              <a:ext cx="413390" cy="462479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37" name="グループ化 36">
              <a:extLst>
                <a:ext uri="{FF2B5EF4-FFF2-40B4-BE49-F238E27FC236}">
                  <a16:creationId xmlns:a16="http://schemas.microsoft.com/office/drawing/2014/main" id="{198322A1-CEFB-1E3F-9777-C4FF0B226451}"/>
                </a:ext>
              </a:extLst>
            </p:cNvPr>
            <p:cNvGrpSpPr/>
            <p:nvPr/>
          </p:nvGrpSpPr>
          <p:grpSpPr>
            <a:xfrm>
              <a:off x="1732483" y="2161733"/>
              <a:ext cx="1415928" cy="2364999"/>
              <a:chOff x="130513" y="2161734"/>
              <a:chExt cx="1734503" cy="2897110"/>
            </a:xfrm>
          </p:grpSpPr>
          <p:sp>
            <p:nvSpPr>
              <p:cNvPr id="4" name="正方形/長方形 3">
                <a:extLst>
                  <a:ext uri="{FF2B5EF4-FFF2-40B4-BE49-F238E27FC236}">
                    <a16:creationId xmlns:a16="http://schemas.microsoft.com/office/drawing/2014/main" id="{D52F5290-5F27-2792-1E7F-1D822F599E94}"/>
                  </a:ext>
                </a:extLst>
              </p:cNvPr>
              <p:cNvSpPr/>
              <p:nvPr/>
            </p:nvSpPr>
            <p:spPr>
              <a:xfrm>
                <a:off x="130514" y="2161734"/>
                <a:ext cx="1734502" cy="380245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900" b="1" dirty="0">
                    <a:solidFill>
                      <a:schemeClr val="bg1"/>
                    </a:solidFill>
                  </a:rPr>
                  <a:t>潜在層へのアプローチ</a:t>
                </a:r>
              </a:p>
            </p:txBody>
          </p:sp>
          <p:sp>
            <p:nvSpPr>
              <p:cNvPr id="9" name="正方形/長方形 8">
                <a:extLst>
                  <a:ext uri="{FF2B5EF4-FFF2-40B4-BE49-F238E27FC236}">
                    <a16:creationId xmlns:a16="http://schemas.microsoft.com/office/drawing/2014/main" id="{F64BDE2F-AE98-B2D3-0001-F63CBD974042}"/>
                  </a:ext>
                </a:extLst>
              </p:cNvPr>
              <p:cNvSpPr/>
              <p:nvPr/>
            </p:nvSpPr>
            <p:spPr>
              <a:xfrm>
                <a:off x="130514" y="2677781"/>
                <a:ext cx="1734502" cy="380245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200" b="1" dirty="0">
                    <a:solidFill>
                      <a:schemeClr val="bg1"/>
                    </a:solidFill>
                  </a:rPr>
                  <a:t>認知</a:t>
                </a:r>
              </a:p>
            </p:txBody>
          </p:sp>
          <p:sp>
            <p:nvSpPr>
              <p:cNvPr id="10" name="正方形/長方形 9">
                <a:extLst>
                  <a:ext uri="{FF2B5EF4-FFF2-40B4-BE49-F238E27FC236}">
                    <a16:creationId xmlns:a16="http://schemas.microsoft.com/office/drawing/2014/main" id="{071A3553-2882-5C84-E705-2E0A1AE1AA16}"/>
                  </a:ext>
                </a:extLst>
              </p:cNvPr>
              <p:cNvSpPr/>
              <p:nvPr/>
            </p:nvSpPr>
            <p:spPr>
              <a:xfrm>
                <a:off x="130513" y="3193828"/>
                <a:ext cx="1734501" cy="186501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42" name="グループ化 41">
              <a:extLst>
                <a:ext uri="{FF2B5EF4-FFF2-40B4-BE49-F238E27FC236}">
                  <a16:creationId xmlns:a16="http://schemas.microsoft.com/office/drawing/2014/main" id="{65C4ED3B-4DD8-9DE8-62C1-1796B0799B4D}"/>
                </a:ext>
              </a:extLst>
            </p:cNvPr>
            <p:cNvGrpSpPr/>
            <p:nvPr/>
          </p:nvGrpSpPr>
          <p:grpSpPr>
            <a:xfrm>
              <a:off x="6692677" y="2161733"/>
              <a:ext cx="1415928" cy="2364999"/>
              <a:chOff x="130513" y="2161734"/>
              <a:chExt cx="1734503" cy="2897110"/>
            </a:xfrm>
          </p:grpSpPr>
          <p:sp>
            <p:nvSpPr>
              <p:cNvPr id="43" name="正方形/長方形 42">
                <a:extLst>
                  <a:ext uri="{FF2B5EF4-FFF2-40B4-BE49-F238E27FC236}">
                    <a16:creationId xmlns:a16="http://schemas.microsoft.com/office/drawing/2014/main" id="{12E76ADB-36EB-4484-2473-ED8E81E174F5}"/>
                  </a:ext>
                </a:extLst>
              </p:cNvPr>
              <p:cNvSpPr/>
              <p:nvPr/>
            </p:nvSpPr>
            <p:spPr>
              <a:xfrm>
                <a:off x="130514" y="2161734"/>
                <a:ext cx="1734502" cy="380245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200" b="1" dirty="0">
                    <a:solidFill>
                      <a:schemeClr val="bg1"/>
                    </a:solidFill>
                  </a:rPr>
                  <a:t>広告</a:t>
                </a:r>
              </a:p>
            </p:txBody>
          </p:sp>
          <p:sp>
            <p:nvSpPr>
              <p:cNvPr id="44" name="正方形/長方形 43">
                <a:extLst>
                  <a:ext uri="{FF2B5EF4-FFF2-40B4-BE49-F238E27FC236}">
                    <a16:creationId xmlns:a16="http://schemas.microsoft.com/office/drawing/2014/main" id="{A06E39B5-794A-FF78-EBEE-36677681EF2A}"/>
                  </a:ext>
                </a:extLst>
              </p:cNvPr>
              <p:cNvSpPr/>
              <p:nvPr/>
            </p:nvSpPr>
            <p:spPr>
              <a:xfrm>
                <a:off x="130514" y="2677781"/>
                <a:ext cx="1734502" cy="380245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200" b="1" dirty="0">
                    <a:solidFill>
                      <a:schemeClr val="bg1"/>
                    </a:solidFill>
                  </a:rPr>
                  <a:t>広告の選択</a:t>
                </a:r>
              </a:p>
            </p:txBody>
          </p:sp>
          <p:sp>
            <p:nvSpPr>
              <p:cNvPr id="45" name="正方形/長方形 44">
                <a:extLst>
                  <a:ext uri="{FF2B5EF4-FFF2-40B4-BE49-F238E27FC236}">
                    <a16:creationId xmlns:a16="http://schemas.microsoft.com/office/drawing/2014/main" id="{21EA91CB-537A-522A-7E79-FF787F97AC08}"/>
                  </a:ext>
                </a:extLst>
              </p:cNvPr>
              <p:cNvSpPr/>
              <p:nvPr/>
            </p:nvSpPr>
            <p:spPr>
              <a:xfrm>
                <a:off x="130513" y="3193828"/>
                <a:ext cx="1734501" cy="186501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46" name="グループ化 45">
              <a:extLst>
                <a:ext uri="{FF2B5EF4-FFF2-40B4-BE49-F238E27FC236}">
                  <a16:creationId xmlns:a16="http://schemas.microsoft.com/office/drawing/2014/main" id="{AEE49E02-0335-7966-B721-632BF430FB76}"/>
                </a:ext>
              </a:extLst>
            </p:cNvPr>
            <p:cNvGrpSpPr/>
            <p:nvPr/>
          </p:nvGrpSpPr>
          <p:grpSpPr>
            <a:xfrm>
              <a:off x="5039279" y="2161733"/>
              <a:ext cx="1415928" cy="2364999"/>
              <a:chOff x="130513" y="2161734"/>
              <a:chExt cx="1734503" cy="2897110"/>
            </a:xfrm>
          </p:grpSpPr>
          <p:sp>
            <p:nvSpPr>
              <p:cNvPr id="47" name="正方形/長方形 46">
                <a:extLst>
                  <a:ext uri="{FF2B5EF4-FFF2-40B4-BE49-F238E27FC236}">
                    <a16:creationId xmlns:a16="http://schemas.microsoft.com/office/drawing/2014/main" id="{102B9569-CE9E-466B-B156-0E819487F42D}"/>
                  </a:ext>
                </a:extLst>
              </p:cNvPr>
              <p:cNvSpPr/>
              <p:nvPr/>
            </p:nvSpPr>
            <p:spPr>
              <a:xfrm>
                <a:off x="130514" y="2161734"/>
                <a:ext cx="1734502" cy="380245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200" b="1" dirty="0">
                    <a:solidFill>
                      <a:schemeClr val="bg1"/>
                    </a:solidFill>
                  </a:rPr>
                  <a:t>入札</a:t>
                </a:r>
              </a:p>
            </p:txBody>
          </p:sp>
          <p:sp>
            <p:nvSpPr>
              <p:cNvPr id="48" name="正方形/長方形 47">
                <a:extLst>
                  <a:ext uri="{FF2B5EF4-FFF2-40B4-BE49-F238E27FC236}">
                    <a16:creationId xmlns:a16="http://schemas.microsoft.com/office/drawing/2014/main" id="{19232BC7-38D2-7F1C-09F9-0F520AF07519}"/>
                  </a:ext>
                </a:extLst>
              </p:cNvPr>
              <p:cNvSpPr/>
              <p:nvPr/>
            </p:nvSpPr>
            <p:spPr>
              <a:xfrm>
                <a:off x="130514" y="2677781"/>
                <a:ext cx="1734502" cy="380245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200" b="1" dirty="0">
                    <a:solidFill>
                      <a:schemeClr val="bg1"/>
                    </a:solidFill>
                  </a:rPr>
                  <a:t>広告の露出</a:t>
                </a:r>
              </a:p>
            </p:txBody>
          </p:sp>
          <p:sp>
            <p:nvSpPr>
              <p:cNvPr id="49" name="正方形/長方形 48">
                <a:extLst>
                  <a:ext uri="{FF2B5EF4-FFF2-40B4-BE49-F238E27FC236}">
                    <a16:creationId xmlns:a16="http://schemas.microsoft.com/office/drawing/2014/main" id="{C4A46309-F693-055B-119B-385DF054099D}"/>
                  </a:ext>
                </a:extLst>
              </p:cNvPr>
              <p:cNvSpPr/>
              <p:nvPr/>
            </p:nvSpPr>
            <p:spPr>
              <a:xfrm>
                <a:off x="130513" y="3193828"/>
                <a:ext cx="1734501" cy="186501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50" name="グループ化 49">
              <a:extLst>
                <a:ext uri="{FF2B5EF4-FFF2-40B4-BE49-F238E27FC236}">
                  <a16:creationId xmlns:a16="http://schemas.microsoft.com/office/drawing/2014/main" id="{F1F93C2D-D002-44C1-EEAC-A695E56C843A}"/>
                </a:ext>
              </a:extLst>
            </p:cNvPr>
            <p:cNvGrpSpPr/>
            <p:nvPr/>
          </p:nvGrpSpPr>
          <p:grpSpPr>
            <a:xfrm>
              <a:off x="3385881" y="2161733"/>
              <a:ext cx="1415928" cy="2364999"/>
              <a:chOff x="130513" y="2161734"/>
              <a:chExt cx="1734503" cy="2897110"/>
            </a:xfrm>
          </p:grpSpPr>
          <p:sp>
            <p:nvSpPr>
              <p:cNvPr id="51" name="正方形/長方形 50">
                <a:extLst>
                  <a:ext uri="{FF2B5EF4-FFF2-40B4-BE49-F238E27FC236}">
                    <a16:creationId xmlns:a16="http://schemas.microsoft.com/office/drawing/2014/main" id="{9B437E9F-9109-ADAB-C5CB-400818A24EF5}"/>
                  </a:ext>
                </a:extLst>
              </p:cNvPr>
              <p:cNvSpPr/>
              <p:nvPr/>
            </p:nvSpPr>
            <p:spPr>
              <a:xfrm>
                <a:off x="130514" y="2161734"/>
                <a:ext cx="1734502" cy="380245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200" b="1" dirty="0">
                    <a:solidFill>
                      <a:schemeClr val="bg1"/>
                    </a:solidFill>
                  </a:rPr>
                  <a:t>キーワード</a:t>
                </a:r>
              </a:p>
            </p:txBody>
          </p:sp>
          <p:sp>
            <p:nvSpPr>
              <p:cNvPr id="52" name="正方形/長方形 51">
                <a:extLst>
                  <a:ext uri="{FF2B5EF4-FFF2-40B4-BE49-F238E27FC236}">
                    <a16:creationId xmlns:a16="http://schemas.microsoft.com/office/drawing/2014/main" id="{AA4C44C4-BABA-4702-AE0C-5EA6CE8BFDA4}"/>
                  </a:ext>
                </a:extLst>
              </p:cNvPr>
              <p:cNvSpPr/>
              <p:nvPr/>
            </p:nvSpPr>
            <p:spPr>
              <a:xfrm>
                <a:off x="130514" y="2677781"/>
                <a:ext cx="1734502" cy="380245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200" b="1" dirty="0">
                    <a:solidFill>
                      <a:schemeClr val="bg1"/>
                    </a:solidFill>
                  </a:rPr>
                  <a:t>検索</a:t>
                </a:r>
              </a:p>
            </p:txBody>
          </p:sp>
          <p:sp>
            <p:nvSpPr>
              <p:cNvPr id="53" name="正方形/長方形 52">
                <a:extLst>
                  <a:ext uri="{FF2B5EF4-FFF2-40B4-BE49-F238E27FC236}">
                    <a16:creationId xmlns:a16="http://schemas.microsoft.com/office/drawing/2014/main" id="{6CC5DDD0-08C2-5DA9-939D-3100CBD1E4C9}"/>
                  </a:ext>
                </a:extLst>
              </p:cNvPr>
              <p:cNvSpPr/>
              <p:nvPr/>
            </p:nvSpPr>
            <p:spPr>
              <a:xfrm>
                <a:off x="130513" y="3193828"/>
                <a:ext cx="1734501" cy="186501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54" name="二等辺三角形 53">
              <a:extLst>
                <a:ext uri="{FF2B5EF4-FFF2-40B4-BE49-F238E27FC236}">
                  <a16:creationId xmlns:a16="http://schemas.microsoft.com/office/drawing/2014/main" id="{B0234268-7C87-2FF4-5182-B806A0CD2AD8}"/>
                </a:ext>
              </a:extLst>
            </p:cNvPr>
            <p:cNvSpPr/>
            <p:nvPr/>
          </p:nvSpPr>
          <p:spPr>
            <a:xfrm rot="5400000">
              <a:off x="3060246" y="3694011"/>
              <a:ext cx="317409" cy="142972"/>
            </a:xfrm>
            <a:prstGeom prst="triangle">
              <a:avLst>
                <a:gd name="adj" fmla="val 50981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bg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63" name="二等辺三角形 62">
              <a:extLst>
                <a:ext uri="{FF2B5EF4-FFF2-40B4-BE49-F238E27FC236}">
                  <a16:creationId xmlns:a16="http://schemas.microsoft.com/office/drawing/2014/main" id="{6FC2002B-6488-0CED-3FBA-D4E29C4DDB26}"/>
                </a:ext>
              </a:extLst>
            </p:cNvPr>
            <p:cNvSpPr/>
            <p:nvPr/>
          </p:nvSpPr>
          <p:spPr>
            <a:xfrm rot="5400000">
              <a:off x="4717510" y="3694012"/>
              <a:ext cx="317409" cy="142972"/>
            </a:xfrm>
            <a:prstGeom prst="triangle">
              <a:avLst>
                <a:gd name="adj" fmla="val 50981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bg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65" name="二等辺三角形 64">
              <a:extLst>
                <a:ext uri="{FF2B5EF4-FFF2-40B4-BE49-F238E27FC236}">
                  <a16:creationId xmlns:a16="http://schemas.microsoft.com/office/drawing/2014/main" id="{105FE674-3814-2D4B-9875-610EFB07DEB3}"/>
                </a:ext>
              </a:extLst>
            </p:cNvPr>
            <p:cNvSpPr/>
            <p:nvPr/>
          </p:nvSpPr>
          <p:spPr>
            <a:xfrm rot="5400000">
              <a:off x="6367986" y="3694013"/>
              <a:ext cx="317409" cy="142972"/>
            </a:xfrm>
            <a:prstGeom prst="triangle">
              <a:avLst>
                <a:gd name="adj" fmla="val 50981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bg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70" name="正方形/長方形 69">
              <a:extLst>
                <a:ext uri="{FF2B5EF4-FFF2-40B4-BE49-F238E27FC236}">
                  <a16:creationId xmlns:a16="http://schemas.microsoft.com/office/drawing/2014/main" id="{DABEF667-0C0C-0E10-A2C0-BE33D939DEA7}"/>
                </a:ext>
              </a:extLst>
            </p:cNvPr>
            <p:cNvSpPr/>
            <p:nvPr/>
          </p:nvSpPr>
          <p:spPr>
            <a:xfrm>
              <a:off x="4272742" y="3562111"/>
              <a:ext cx="484736" cy="35080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100" b="1" dirty="0">
                  <a:solidFill>
                    <a:schemeClr val="bg1"/>
                  </a:solidFill>
                </a:rPr>
                <a:t>検索</a:t>
              </a:r>
            </a:p>
          </p:txBody>
        </p:sp>
        <p:sp>
          <p:nvSpPr>
            <p:cNvPr id="71" name="正方形/長方形 70">
              <a:extLst>
                <a:ext uri="{FF2B5EF4-FFF2-40B4-BE49-F238E27FC236}">
                  <a16:creationId xmlns:a16="http://schemas.microsoft.com/office/drawing/2014/main" id="{B490C726-1B41-1136-2647-D0DE4372CAE0}"/>
                </a:ext>
              </a:extLst>
            </p:cNvPr>
            <p:cNvSpPr/>
            <p:nvPr/>
          </p:nvSpPr>
          <p:spPr>
            <a:xfrm>
              <a:off x="3426901" y="3573393"/>
              <a:ext cx="801511" cy="310406"/>
            </a:xfrm>
            <a:prstGeom prst="rect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9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grpSp>
          <p:nvGrpSpPr>
            <p:cNvPr id="80" name="グループ化 79">
              <a:extLst>
                <a:ext uri="{FF2B5EF4-FFF2-40B4-BE49-F238E27FC236}">
                  <a16:creationId xmlns:a16="http://schemas.microsoft.com/office/drawing/2014/main" id="{1E8C645E-3205-C792-EE26-4433BB0B4E35}"/>
                </a:ext>
              </a:extLst>
            </p:cNvPr>
            <p:cNvGrpSpPr/>
            <p:nvPr/>
          </p:nvGrpSpPr>
          <p:grpSpPr>
            <a:xfrm>
              <a:off x="5114724" y="3131944"/>
              <a:ext cx="1268994" cy="310406"/>
              <a:chOff x="3511236" y="3104422"/>
              <a:chExt cx="1268994" cy="310406"/>
            </a:xfrm>
          </p:grpSpPr>
          <p:sp>
            <p:nvSpPr>
              <p:cNvPr id="72" name="正方形/長方形 71">
                <a:extLst>
                  <a:ext uri="{FF2B5EF4-FFF2-40B4-BE49-F238E27FC236}">
                    <a16:creationId xmlns:a16="http://schemas.microsoft.com/office/drawing/2014/main" id="{E674E39F-3F3B-FB13-E6A2-05335B32248E}"/>
                  </a:ext>
                </a:extLst>
              </p:cNvPr>
              <p:cNvSpPr/>
              <p:nvPr/>
            </p:nvSpPr>
            <p:spPr>
              <a:xfrm>
                <a:off x="3511236" y="3104422"/>
                <a:ext cx="484736" cy="31040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100" b="1" dirty="0">
                    <a:solidFill>
                      <a:schemeClr val="bg1"/>
                    </a:solidFill>
                  </a:rPr>
                  <a:t>広告</a:t>
                </a:r>
              </a:p>
            </p:txBody>
          </p:sp>
          <p:cxnSp>
            <p:nvCxnSpPr>
              <p:cNvPr id="75" name="直線コネクタ 74">
                <a:extLst>
                  <a:ext uri="{FF2B5EF4-FFF2-40B4-BE49-F238E27FC236}">
                    <a16:creationId xmlns:a16="http://schemas.microsoft.com/office/drawing/2014/main" id="{886FF01A-4C78-679F-9B49-5AE6A196BE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176850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線コネクタ 77">
                <a:extLst>
                  <a:ext uri="{FF2B5EF4-FFF2-40B4-BE49-F238E27FC236}">
                    <a16:creationId xmlns:a16="http://schemas.microsoft.com/office/drawing/2014/main" id="{1973C63A-6357-0106-0866-862AC23BA9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259625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線コネクタ 78">
                <a:extLst>
                  <a:ext uri="{FF2B5EF4-FFF2-40B4-BE49-F238E27FC236}">
                    <a16:creationId xmlns:a16="http://schemas.microsoft.com/office/drawing/2014/main" id="{9E4D0B25-2714-C1C9-5AFF-6C4FD87DF3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351831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6" name="グループ化 85">
              <a:extLst>
                <a:ext uri="{FF2B5EF4-FFF2-40B4-BE49-F238E27FC236}">
                  <a16:creationId xmlns:a16="http://schemas.microsoft.com/office/drawing/2014/main" id="{7425EA7C-3C25-7D45-3E63-B14C886BD152}"/>
                </a:ext>
              </a:extLst>
            </p:cNvPr>
            <p:cNvGrpSpPr/>
            <p:nvPr/>
          </p:nvGrpSpPr>
          <p:grpSpPr>
            <a:xfrm>
              <a:off x="5114724" y="3593597"/>
              <a:ext cx="1268994" cy="310406"/>
              <a:chOff x="3511236" y="3104422"/>
              <a:chExt cx="1268994" cy="310406"/>
            </a:xfrm>
          </p:grpSpPr>
          <p:sp>
            <p:nvSpPr>
              <p:cNvPr id="87" name="正方形/長方形 86">
                <a:extLst>
                  <a:ext uri="{FF2B5EF4-FFF2-40B4-BE49-F238E27FC236}">
                    <a16:creationId xmlns:a16="http://schemas.microsoft.com/office/drawing/2014/main" id="{FBE5FC8E-7E2A-4BE8-CF69-7FE9A01A4609}"/>
                  </a:ext>
                </a:extLst>
              </p:cNvPr>
              <p:cNvSpPr/>
              <p:nvPr/>
            </p:nvSpPr>
            <p:spPr>
              <a:xfrm>
                <a:off x="3511236" y="3104422"/>
                <a:ext cx="484736" cy="31040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100" b="1" dirty="0">
                    <a:solidFill>
                      <a:schemeClr val="bg1"/>
                    </a:solidFill>
                  </a:rPr>
                  <a:t>広告</a:t>
                </a:r>
                <a:endParaRPr kumimoji="1" lang="en-US" altLang="ja-JP" sz="1100" b="1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88" name="直線コネクタ 87">
                <a:extLst>
                  <a:ext uri="{FF2B5EF4-FFF2-40B4-BE49-F238E27FC236}">
                    <a16:creationId xmlns:a16="http://schemas.microsoft.com/office/drawing/2014/main" id="{6B350678-0A62-A86C-027D-78C02BE9E4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176850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直線コネクタ 88">
                <a:extLst>
                  <a:ext uri="{FF2B5EF4-FFF2-40B4-BE49-F238E27FC236}">
                    <a16:creationId xmlns:a16="http://schemas.microsoft.com/office/drawing/2014/main" id="{7DEE61CF-4259-38FE-1DBB-8154B5626E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259625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線コネクタ 89">
                <a:extLst>
                  <a:ext uri="{FF2B5EF4-FFF2-40B4-BE49-F238E27FC236}">
                    <a16:creationId xmlns:a16="http://schemas.microsoft.com/office/drawing/2014/main" id="{831BA7E3-D679-1892-82CC-A4C3C0157E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351831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1" name="グループ化 90">
              <a:extLst>
                <a:ext uri="{FF2B5EF4-FFF2-40B4-BE49-F238E27FC236}">
                  <a16:creationId xmlns:a16="http://schemas.microsoft.com/office/drawing/2014/main" id="{2A004869-1B0A-73AD-F9AF-58076EDB5524}"/>
                </a:ext>
              </a:extLst>
            </p:cNvPr>
            <p:cNvGrpSpPr/>
            <p:nvPr/>
          </p:nvGrpSpPr>
          <p:grpSpPr>
            <a:xfrm>
              <a:off x="5114724" y="4055250"/>
              <a:ext cx="1268994" cy="310406"/>
              <a:chOff x="3511236" y="3104422"/>
              <a:chExt cx="1268994" cy="310406"/>
            </a:xfrm>
          </p:grpSpPr>
          <p:sp>
            <p:nvSpPr>
              <p:cNvPr id="92" name="正方形/長方形 91">
                <a:extLst>
                  <a:ext uri="{FF2B5EF4-FFF2-40B4-BE49-F238E27FC236}">
                    <a16:creationId xmlns:a16="http://schemas.microsoft.com/office/drawing/2014/main" id="{88FE80C3-B6E9-FF03-6CDB-7B7158E61833}"/>
                  </a:ext>
                </a:extLst>
              </p:cNvPr>
              <p:cNvSpPr/>
              <p:nvPr/>
            </p:nvSpPr>
            <p:spPr>
              <a:xfrm>
                <a:off x="3511236" y="3104422"/>
                <a:ext cx="484736" cy="31040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100" b="1" dirty="0">
                    <a:solidFill>
                      <a:schemeClr val="bg1"/>
                    </a:solidFill>
                  </a:rPr>
                  <a:t>広告</a:t>
                </a:r>
              </a:p>
            </p:txBody>
          </p:sp>
          <p:cxnSp>
            <p:nvCxnSpPr>
              <p:cNvPr id="93" name="直線コネクタ 92">
                <a:extLst>
                  <a:ext uri="{FF2B5EF4-FFF2-40B4-BE49-F238E27FC236}">
                    <a16:creationId xmlns:a16="http://schemas.microsoft.com/office/drawing/2014/main" id="{8777E0F9-28C0-8C11-300B-3EDD1C4017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176850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直線コネクタ 93">
                <a:extLst>
                  <a:ext uri="{FF2B5EF4-FFF2-40B4-BE49-F238E27FC236}">
                    <a16:creationId xmlns:a16="http://schemas.microsoft.com/office/drawing/2014/main" id="{6E9C6D22-9FEA-F818-823B-6A2CA48C8E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259625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直線コネクタ 94">
                <a:extLst>
                  <a:ext uri="{FF2B5EF4-FFF2-40B4-BE49-F238E27FC236}">
                    <a16:creationId xmlns:a16="http://schemas.microsoft.com/office/drawing/2014/main" id="{90A5AA3D-D786-91A2-5A8C-CE7EC0E796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351831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6" name="グループ化 95">
              <a:extLst>
                <a:ext uri="{FF2B5EF4-FFF2-40B4-BE49-F238E27FC236}">
                  <a16:creationId xmlns:a16="http://schemas.microsoft.com/office/drawing/2014/main" id="{EAD6EA91-254E-B6FA-41C5-1DA3D81BDD98}"/>
                </a:ext>
              </a:extLst>
            </p:cNvPr>
            <p:cNvGrpSpPr/>
            <p:nvPr/>
          </p:nvGrpSpPr>
          <p:grpSpPr>
            <a:xfrm>
              <a:off x="6743886" y="3131944"/>
              <a:ext cx="1268994" cy="310406"/>
              <a:chOff x="3511236" y="3104422"/>
              <a:chExt cx="1268994" cy="310406"/>
            </a:xfrm>
          </p:grpSpPr>
          <p:sp>
            <p:nvSpPr>
              <p:cNvPr id="97" name="正方形/長方形 96">
                <a:extLst>
                  <a:ext uri="{FF2B5EF4-FFF2-40B4-BE49-F238E27FC236}">
                    <a16:creationId xmlns:a16="http://schemas.microsoft.com/office/drawing/2014/main" id="{6763AE25-D551-258B-CAD3-2809D42D4681}"/>
                  </a:ext>
                </a:extLst>
              </p:cNvPr>
              <p:cNvSpPr/>
              <p:nvPr/>
            </p:nvSpPr>
            <p:spPr>
              <a:xfrm>
                <a:off x="3511236" y="3104422"/>
                <a:ext cx="484736" cy="31040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100" b="1" dirty="0">
                    <a:solidFill>
                      <a:schemeClr val="bg1"/>
                    </a:solidFill>
                  </a:rPr>
                  <a:t>広告</a:t>
                </a:r>
              </a:p>
            </p:txBody>
          </p:sp>
          <p:cxnSp>
            <p:nvCxnSpPr>
              <p:cNvPr id="98" name="直線コネクタ 97">
                <a:extLst>
                  <a:ext uri="{FF2B5EF4-FFF2-40B4-BE49-F238E27FC236}">
                    <a16:creationId xmlns:a16="http://schemas.microsoft.com/office/drawing/2014/main" id="{659C373E-CCE1-37C2-1144-C813DE1F09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176850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直線コネクタ 98">
                <a:extLst>
                  <a:ext uri="{FF2B5EF4-FFF2-40B4-BE49-F238E27FC236}">
                    <a16:creationId xmlns:a16="http://schemas.microsoft.com/office/drawing/2014/main" id="{3C931D3D-BE16-99B4-FB9A-F09FAF2BFF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259625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直線コネクタ 99">
                <a:extLst>
                  <a:ext uri="{FF2B5EF4-FFF2-40B4-BE49-F238E27FC236}">
                    <a16:creationId xmlns:a16="http://schemas.microsoft.com/office/drawing/2014/main" id="{3EB1DD4E-3A16-F8CF-8312-D40B24B606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351831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1" name="グループ化 100">
              <a:extLst>
                <a:ext uri="{FF2B5EF4-FFF2-40B4-BE49-F238E27FC236}">
                  <a16:creationId xmlns:a16="http://schemas.microsoft.com/office/drawing/2014/main" id="{88EA17D7-FFF4-DC0F-9A6E-63A262C31E66}"/>
                </a:ext>
              </a:extLst>
            </p:cNvPr>
            <p:cNvGrpSpPr/>
            <p:nvPr/>
          </p:nvGrpSpPr>
          <p:grpSpPr>
            <a:xfrm>
              <a:off x="6743886" y="3593597"/>
              <a:ext cx="1268994" cy="310406"/>
              <a:chOff x="3511236" y="3104422"/>
              <a:chExt cx="1268994" cy="310406"/>
            </a:xfrm>
          </p:grpSpPr>
          <p:sp>
            <p:nvSpPr>
              <p:cNvPr id="102" name="正方形/長方形 101">
                <a:extLst>
                  <a:ext uri="{FF2B5EF4-FFF2-40B4-BE49-F238E27FC236}">
                    <a16:creationId xmlns:a16="http://schemas.microsoft.com/office/drawing/2014/main" id="{5E73248F-3E3E-C226-4920-927FCB300B9C}"/>
                  </a:ext>
                </a:extLst>
              </p:cNvPr>
              <p:cNvSpPr/>
              <p:nvPr/>
            </p:nvSpPr>
            <p:spPr>
              <a:xfrm>
                <a:off x="3511236" y="3104422"/>
                <a:ext cx="484736" cy="31040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100" b="1" dirty="0">
                    <a:solidFill>
                      <a:schemeClr val="bg1"/>
                    </a:solidFill>
                  </a:rPr>
                  <a:t>広告</a:t>
                </a:r>
              </a:p>
            </p:txBody>
          </p:sp>
          <p:cxnSp>
            <p:nvCxnSpPr>
              <p:cNvPr id="103" name="直線コネクタ 102">
                <a:extLst>
                  <a:ext uri="{FF2B5EF4-FFF2-40B4-BE49-F238E27FC236}">
                    <a16:creationId xmlns:a16="http://schemas.microsoft.com/office/drawing/2014/main" id="{491515C0-625F-3534-B534-E6A6F2AEA9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176850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直線コネクタ 103">
                <a:extLst>
                  <a:ext uri="{FF2B5EF4-FFF2-40B4-BE49-F238E27FC236}">
                    <a16:creationId xmlns:a16="http://schemas.microsoft.com/office/drawing/2014/main" id="{DBCF26D8-0F44-63FE-D7AA-89D802A10B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259625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直線コネクタ 104">
                <a:extLst>
                  <a:ext uri="{FF2B5EF4-FFF2-40B4-BE49-F238E27FC236}">
                    <a16:creationId xmlns:a16="http://schemas.microsoft.com/office/drawing/2014/main" id="{DC5D65C4-3875-0E40-BB8E-006387A02F7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351831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6" name="グループ化 105">
              <a:extLst>
                <a:ext uri="{FF2B5EF4-FFF2-40B4-BE49-F238E27FC236}">
                  <a16:creationId xmlns:a16="http://schemas.microsoft.com/office/drawing/2014/main" id="{1DE0D8D5-1251-5BD4-63D8-C3E02CA33797}"/>
                </a:ext>
              </a:extLst>
            </p:cNvPr>
            <p:cNvGrpSpPr/>
            <p:nvPr/>
          </p:nvGrpSpPr>
          <p:grpSpPr>
            <a:xfrm>
              <a:off x="6743886" y="4055250"/>
              <a:ext cx="1268994" cy="310406"/>
              <a:chOff x="3511236" y="3104422"/>
              <a:chExt cx="1268994" cy="310406"/>
            </a:xfrm>
          </p:grpSpPr>
          <p:sp>
            <p:nvSpPr>
              <p:cNvPr id="107" name="正方形/長方形 106">
                <a:extLst>
                  <a:ext uri="{FF2B5EF4-FFF2-40B4-BE49-F238E27FC236}">
                    <a16:creationId xmlns:a16="http://schemas.microsoft.com/office/drawing/2014/main" id="{0D3893CD-3A30-1E1B-958E-7C54F519B51A}"/>
                  </a:ext>
                </a:extLst>
              </p:cNvPr>
              <p:cNvSpPr/>
              <p:nvPr/>
            </p:nvSpPr>
            <p:spPr>
              <a:xfrm>
                <a:off x="3511236" y="3104422"/>
                <a:ext cx="484736" cy="31040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100" b="1" dirty="0">
                    <a:solidFill>
                      <a:schemeClr val="bg1"/>
                    </a:solidFill>
                  </a:rPr>
                  <a:t>広告</a:t>
                </a:r>
              </a:p>
            </p:txBody>
          </p:sp>
          <p:cxnSp>
            <p:nvCxnSpPr>
              <p:cNvPr id="108" name="直線コネクタ 107">
                <a:extLst>
                  <a:ext uri="{FF2B5EF4-FFF2-40B4-BE49-F238E27FC236}">
                    <a16:creationId xmlns:a16="http://schemas.microsoft.com/office/drawing/2014/main" id="{DF652770-9AD7-7347-9D89-7510451BE8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176850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直線コネクタ 108">
                <a:extLst>
                  <a:ext uri="{FF2B5EF4-FFF2-40B4-BE49-F238E27FC236}">
                    <a16:creationId xmlns:a16="http://schemas.microsoft.com/office/drawing/2014/main" id="{7E4A5582-6F1A-0ED7-2A8B-9757D01682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259625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直線コネクタ 109">
                <a:extLst>
                  <a:ext uri="{FF2B5EF4-FFF2-40B4-BE49-F238E27FC236}">
                    <a16:creationId xmlns:a16="http://schemas.microsoft.com/office/drawing/2014/main" id="{1A59A00A-4339-FC64-A810-1E65F9B4BC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8668" y="3351831"/>
                <a:ext cx="701562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9" name="グループ化 128">
              <a:extLst>
                <a:ext uri="{FF2B5EF4-FFF2-40B4-BE49-F238E27FC236}">
                  <a16:creationId xmlns:a16="http://schemas.microsoft.com/office/drawing/2014/main" id="{6F0EA9CF-6DB7-B66D-E6AD-34EB6AB83C1C}"/>
                </a:ext>
              </a:extLst>
            </p:cNvPr>
            <p:cNvGrpSpPr/>
            <p:nvPr/>
          </p:nvGrpSpPr>
          <p:grpSpPr>
            <a:xfrm>
              <a:off x="1954580" y="3223795"/>
              <a:ext cx="914400" cy="1148203"/>
              <a:chOff x="370963" y="3328308"/>
              <a:chExt cx="914400" cy="1148203"/>
            </a:xfrm>
          </p:grpSpPr>
          <p:pic>
            <p:nvPicPr>
              <p:cNvPr id="114" name="グラフィックス 113" descr="電球 単色塗りつぶし">
                <a:extLst>
                  <a:ext uri="{FF2B5EF4-FFF2-40B4-BE49-F238E27FC236}">
                    <a16:creationId xmlns:a16="http://schemas.microsoft.com/office/drawing/2014/main" id="{FC07916E-F756-460E-D5F7-C331B5F851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370963" y="3562111"/>
                <a:ext cx="914400" cy="914400"/>
              </a:xfrm>
              <a:prstGeom prst="rect">
                <a:avLst/>
              </a:prstGeom>
            </p:spPr>
          </p:pic>
          <p:cxnSp>
            <p:nvCxnSpPr>
              <p:cNvPr id="116" name="直線コネクタ 115">
                <a:extLst>
                  <a:ext uri="{FF2B5EF4-FFF2-40B4-BE49-F238E27FC236}">
                    <a16:creationId xmlns:a16="http://schemas.microsoft.com/office/drawing/2014/main" id="{1F73A22B-5EC3-4C93-C074-5310AF26C5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3161" y="3328308"/>
                <a:ext cx="0" cy="215989"/>
              </a:xfrm>
              <a:prstGeom prst="line">
                <a:avLst/>
              </a:prstGeom>
              <a:ln w="57150" cap="rnd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直線コネクタ 118">
                <a:extLst>
                  <a:ext uri="{FF2B5EF4-FFF2-40B4-BE49-F238E27FC236}">
                    <a16:creationId xmlns:a16="http://schemas.microsoft.com/office/drawing/2014/main" id="{51CE2340-2BF0-B1D8-593F-884DFFAAE0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689" y="3403486"/>
                <a:ext cx="75547" cy="174669"/>
              </a:xfrm>
              <a:prstGeom prst="line">
                <a:avLst/>
              </a:prstGeom>
              <a:ln w="57150" cap="rnd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直線コネクタ 122">
                <a:extLst>
                  <a:ext uri="{FF2B5EF4-FFF2-40B4-BE49-F238E27FC236}">
                    <a16:creationId xmlns:a16="http://schemas.microsoft.com/office/drawing/2014/main" id="{C9F36482-7CAA-02CF-0CC1-349E8D0E99B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78957" y="3403486"/>
                <a:ext cx="80853" cy="174669"/>
              </a:xfrm>
              <a:prstGeom prst="line">
                <a:avLst/>
              </a:prstGeom>
              <a:ln w="57150" cap="rnd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0" name="正方形/長方形 129">
              <a:extLst>
                <a:ext uri="{FF2B5EF4-FFF2-40B4-BE49-F238E27FC236}">
                  <a16:creationId xmlns:a16="http://schemas.microsoft.com/office/drawing/2014/main" id="{2D19245B-FC06-5DA4-CD92-29E142F229BC}"/>
                </a:ext>
              </a:extLst>
            </p:cNvPr>
            <p:cNvSpPr/>
            <p:nvPr/>
          </p:nvSpPr>
          <p:spPr>
            <a:xfrm>
              <a:off x="6720070" y="3076575"/>
              <a:ext cx="1343024" cy="424818"/>
            </a:xfrm>
            <a:prstGeom prst="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837588CE-0B36-8FD7-B0B3-EE25BDADB244}"/>
                </a:ext>
              </a:extLst>
            </p:cNvPr>
            <p:cNvSpPr/>
            <p:nvPr/>
          </p:nvSpPr>
          <p:spPr>
            <a:xfrm>
              <a:off x="1732484" y="4821442"/>
              <a:ext cx="1414979" cy="1522469"/>
            </a:xfrm>
            <a:prstGeom prst="rect">
              <a:avLst/>
            </a:prstGeom>
            <a:solidFill>
              <a:srgbClr val="191F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 b="1" dirty="0"/>
                <a:t>認知</a:t>
              </a:r>
              <a:endParaRPr kumimoji="1" lang="en-US" altLang="ja-JP" sz="1200" b="1" dirty="0"/>
            </a:p>
            <a:p>
              <a:pPr algn="ctr"/>
              <a:r>
                <a:rPr kumimoji="1" lang="ja-JP" altLang="en-US" sz="1200" b="1" dirty="0"/>
                <a:t>マーケット状況の把握</a:t>
              </a:r>
              <a:endParaRPr kumimoji="1" lang="en-US" altLang="ja-JP" sz="1200" b="1" dirty="0"/>
            </a:p>
            <a:p>
              <a:pPr algn="ctr"/>
              <a:endParaRPr kumimoji="1" lang="en-US" altLang="ja-JP" sz="1200" b="1" dirty="0"/>
            </a:p>
            <a:p>
              <a:pPr algn="ctr"/>
              <a:r>
                <a:rPr kumimoji="1" lang="ja-JP" altLang="en-US" sz="800" b="1" dirty="0"/>
                <a:t>・競合と比較した認知度</a:t>
              </a:r>
              <a:endParaRPr kumimoji="1" lang="en-US" altLang="ja-JP" sz="800" b="1" dirty="0"/>
            </a:p>
            <a:p>
              <a:pPr algn="ctr"/>
              <a:r>
                <a:rPr kumimoji="1" lang="ja-JP" altLang="en-US" sz="800" b="1" dirty="0"/>
                <a:t>・認知度別の施策</a:t>
              </a:r>
            </a:p>
          </p:txBody>
        </p: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9B6397E0-1857-04C8-F3EF-F4A01FC3B2F4}"/>
                </a:ext>
              </a:extLst>
            </p:cNvPr>
            <p:cNvSpPr/>
            <p:nvPr/>
          </p:nvSpPr>
          <p:spPr>
            <a:xfrm>
              <a:off x="3386828" y="4821442"/>
              <a:ext cx="1414979" cy="1522469"/>
            </a:xfrm>
            <a:prstGeom prst="rect">
              <a:avLst/>
            </a:prstGeom>
            <a:solidFill>
              <a:srgbClr val="191F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b="1" dirty="0"/>
                <a:t>CV</a:t>
              </a:r>
              <a:r>
                <a:rPr kumimoji="1" lang="ja-JP" altLang="en-US" sz="1200" b="1" dirty="0"/>
                <a:t>上位クエリの網羅</a:t>
              </a:r>
              <a:endParaRPr kumimoji="1" lang="en-US" altLang="ja-JP" sz="1200" b="1" dirty="0"/>
            </a:p>
            <a:p>
              <a:pPr algn="ctr"/>
              <a:endParaRPr kumimoji="1" lang="en-US" altLang="ja-JP" sz="1200" b="1" dirty="0"/>
            </a:p>
            <a:p>
              <a:pPr algn="ctr"/>
              <a:r>
                <a:rPr kumimoji="1" lang="ja-JP" altLang="en-US" sz="800" b="1" dirty="0"/>
                <a:t>・</a:t>
              </a:r>
              <a:r>
                <a:rPr kumimoji="1" lang="en-US" altLang="ja-JP" sz="800" b="1" dirty="0"/>
                <a:t>KW</a:t>
              </a:r>
              <a:r>
                <a:rPr kumimoji="1" lang="ja-JP" altLang="en-US" sz="800" b="1" dirty="0"/>
                <a:t>の抜け漏れ</a:t>
              </a:r>
              <a:endParaRPr kumimoji="1" lang="en-US" altLang="ja-JP" sz="800" b="1" dirty="0"/>
            </a:p>
            <a:p>
              <a:pPr algn="ctr"/>
              <a:r>
                <a:rPr kumimoji="1" lang="ja-JP" altLang="en-US" sz="800" b="1" dirty="0"/>
                <a:t>・マッチタイプの使い分け</a:t>
              </a:r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EFE2F07F-9E78-7625-B26D-E82C3F37E99B}"/>
                </a:ext>
              </a:extLst>
            </p:cNvPr>
            <p:cNvSpPr/>
            <p:nvPr/>
          </p:nvSpPr>
          <p:spPr>
            <a:xfrm>
              <a:off x="5024001" y="4821442"/>
              <a:ext cx="1414979" cy="1522469"/>
            </a:xfrm>
            <a:prstGeom prst="rect">
              <a:avLst/>
            </a:prstGeom>
            <a:solidFill>
              <a:srgbClr val="191F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b="1" dirty="0"/>
                <a:t>入札戦略</a:t>
              </a:r>
              <a:endParaRPr kumimoji="1" lang="en-US" altLang="ja-JP" b="1" dirty="0"/>
            </a:p>
            <a:p>
              <a:pPr algn="ctr"/>
              <a:endParaRPr kumimoji="1" lang="en-US" altLang="ja-JP" b="1" dirty="0"/>
            </a:p>
            <a:p>
              <a:pPr algn="ctr"/>
              <a:r>
                <a:rPr kumimoji="1" lang="ja-JP" altLang="en-US" sz="800" b="1" dirty="0"/>
                <a:t>・意図する入札戦略が実施できているか</a:t>
              </a:r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D8898DA9-F215-30F6-3B87-F6FD65C01B0D}"/>
                </a:ext>
              </a:extLst>
            </p:cNvPr>
            <p:cNvSpPr/>
            <p:nvPr/>
          </p:nvSpPr>
          <p:spPr>
            <a:xfrm>
              <a:off x="6704833" y="4821442"/>
              <a:ext cx="1414979" cy="1522469"/>
            </a:xfrm>
            <a:prstGeom prst="rect">
              <a:avLst/>
            </a:prstGeom>
            <a:solidFill>
              <a:srgbClr val="191F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b="1" dirty="0"/>
                <a:t>広告の最適化</a:t>
              </a:r>
              <a:endParaRPr kumimoji="1" lang="en-US" altLang="ja-JP" b="1" dirty="0"/>
            </a:p>
            <a:p>
              <a:pPr algn="ctr"/>
              <a:endParaRPr kumimoji="1" lang="en-US" altLang="ja-JP" b="1" dirty="0"/>
            </a:p>
            <a:p>
              <a:pPr algn="ctr"/>
              <a:r>
                <a:rPr kumimoji="1" lang="ja-JP" altLang="en-US" sz="800" b="1" dirty="0"/>
                <a:t>・適切な</a:t>
              </a:r>
              <a:r>
                <a:rPr kumimoji="1" lang="en-US" altLang="ja-JP" sz="800" b="1" dirty="0"/>
                <a:t>TD</a:t>
              </a:r>
              <a:r>
                <a:rPr kumimoji="1" lang="ja-JP" altLang="en-US" sz="800" b="1" dirty="0"/>
                <a:t>が検証されているか</a:t>
              </a:r>
              <a:endParaRPr kumimoji="1" lang="en-US" altLang="ja-JP" sz="800" b="1" dirty="0"/>
            </a:p>
            <a:p>
              <a:pPr algn="ctr"/>
              <a:r>
                <a:rPr kumimoji="1" lang="ja-JP" altLang="en-US" sz="800" b="1" dirty="0"/>
                <a:t>・表示オプションが網羅されているか</a:t>
              </a:r>
            </a:p>
          </p:txBody>
        </p: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CB75555F-A535-4394-5CED-6CAC1E626659}"/>
                </a:ext>
              </a:extLst>
            </p:cNvPr>
            <p:cNvCxnSpPr>
              <a:cxnSpLocks/>
              <a:stCxn id="5" idx="0"/>
              <a:endCxn id="10" idx="2"/>
            </p:cNvCxnSpPr>
            <p:nvPr/>
          </p:nvCxnSpPr>
          <p:spPr>
            <a:xfrm flipV="1">
              <a:off x="2439974" y="4526732"/>
              <a:ext cx="472" cy="294710"/>
            </a:xfrm>
            <a:prstGeom prst="line">
              <a:avLst/>
            </a:prstGeom>
            <a:ln w="28575">
              <a:solidFill>
                <a:srgbClr val="191F5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コネクタ 22">
              <a:extLst>
                <a:ext uri="{FF2B5EF4-FFF2-40B4-BE49-F238E27FC236}">
                  <a16:creationId xmlns:a16="http://schemas.microsoft.com/office/drawing/2014/main" id="{8A2BE5E8-938F-E889-0784-0828BCB251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6026" y="4526732"/>
              <a:ext cx="472" cy="294710"/>
            </a:xfrm>
            <a:prstGeom prst="line">
              <a:avLst/>
            </a:prstGeom>
            <a:ln w="28575">
              <a:solidFill>
                <a:srgbClr val="191F5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コネクタ 23">
              <a:extLst>
                <a:ext uri="{FF2B5EF4-FFF2-40B4-BE49-F238E27FC236}">
                  <a16:creationId xmlns:a16="http://schemas.microsoft.com/office/drawing/2014/main" id="{B9C2A18C-3190-6D95-7D39-113A408FD2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47242" y="4526732"/>
              <a:ext cx="472" cy="294710"/>
            </a:xfrm>
            <a:prstGeom prst="line">
              <a:avLst/>
            </a:prstGeom>
            <a:ln w="28575">
              <a:solidFill>
                <a:srgbClr val="191F5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コネクタ 24">
              <a:extLst>
                <a:ext uri="{FF2B5EF4-FFF2-40B4-BE49-F238E27FC236}">
                  <a16:creationId xmlns:a16="http://schemas.microsoft.com/office/drawing/2014/main" id="{ABEE9E1C-E067-F825-26FB-C3E2D8CDF3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10355" y="4526732"/>
              <a:ext cx="472" cy="294710"/>
            </a:xfrm>
            <a:prstGeom prst="line">
              <a:avLst/>
            </a:prstGeom>
            <a:ln w="28575">
              <a:solidFill>
                <a:srgbClr val="191F5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81D24952-121D-6F3D-5AD4-3A5DCDA2ABC5}"/>
                </a:ext>
              </a:extLst>
            </p:cNvPr>
            <p:cNvSpPr/>
            <p:nvPr/>
          </p:nvSpPr>
          <p:spPr>
            <a:xfrm>
              <a:off x="1558407" y="2158709"/>
              <a:ext cx="5056971" cy="4182178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8" name="Google Shape;64;p3">
            <a:extLst>
              <a:ext uri="{FF2B5EF4-FFF2-40B4-BE49-F238E27FC236}">
                <a16:creationId xmlns:a16="http://schemas.microsoft.com/office/drawing/2014/main" id="{910DE4AA-16EF-76D9-D098-A6A55ECD9B42}"/>
              </a:ext>
            </a:extLst>
          </p:cNvPr>
          <p:cNvSpPr txBox="1"/>
          <p:nvPr/>
        </p:nvSpPr>
        <p:spPr>
          <a:xfrm>
            <a:off x="501705" y="129473"/>
            <a:ext cx="4451295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ja-JP" altLang="en-US" sz="2000" b="1" dirty="0">
                <a:solidFill>
                  <a:srgbClr val="0F243E"/>
                </a:solidFill>
                <a:latin typeface="Meiryo"/>
                <a:ea typeface="Meiryo"/>
                <a:cs typeface="Meiryo"/>
                <a:sym typeface="Meiryo"/>
              </a:rPr>
              <a:t>配信戦略</a:t>
            </a:r>
            <a:endParaRPr lang="ja-JP" altLang="en-US" sz="2000" dirty="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6788120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145EFA8B-B640-48CE-837D-9832DF6B61AF}"/>
              </a:ext>
            </a:extLst>
          </p:cNvPr>
          <p:cNvCxnSpPr>
            <a:cxnSpLocks/>
          </p:cNvCxnSpPr>
          <p:nvPr/>
        </p:nvCxnSpPr>
        <p:spPr>
          <a:xfrm>
            <a:off x="0" y="1390675"/>
            <a:ext cx="9906000" cy="0"/>
          </a:xfrm>
          <a:prstGeom prst="line">
            <a:avLst/>
          </a:prstGeom>
          <a:ln w="19050">
            <a:solidFill>
              <a:schemeClr val="bg1">
                <a:lumMod val="85000"/>
                <a:alpha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E6C26CA4-BE11-4466-A155-7FF13F986874}"/>
              </a:ext>
            </a:extLst>
          </p:cNvPr>
          <p:cNvCxnSpPr>
            <a:cxnSpLocks/>
          </p:cNvCxnSpPr>
          <p:nvPr/>
        </p:nvCxnSpPr>
        <p:spPr>
          <a:xfrm>
            <a:off x="0" y="1390675"/>
            <a:ext cx="9906000" cy="0"/>
          </a:xfrm>
          <a:prstGeom prst="line">
            <a:avLst/>
          </a:prstGeom>
          <a:ln w="19050">
            <a:solidFill>
              <a:schemeClr val="bg1">
                <a:lumMod val="85000"/>
                <a:alpha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正方形/長方形 72">
            <a:extLst>
              <a:ext uri="{FF2B5EF4-FFF2-40B4-BE49-F238E27FC236}">
                <a16:creationId xmlns:a16="http://schemas.microsoft.com/office/drawing/2014/main" id="{F753E50A-DF70-2E9C-5C91-40A2A281522B}"/>
              </a:ext>
            </a:extLst>
          </p:cNvPr>
          <p:cNvSpPr/>
          <p:nvPr/>
        </p:nvSpPr>
        <p:spPr>
          <a:xfrm>
            <a:off x="282577" y="2810911"/>
            <a:ext cx="3962409" cy="1782387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4" name="図 73">
            <a:extLst>
              <a:ext uri="{FF2B5EF4-FFF2-40B4-BE49-F238E27FC236}">
                <a16:creationId xmlns:a16="http://schemas.microsoft.com/office/drawing/2014/main" id="{D5C7CD53-F199-400E-A6E5-C4E9A6F6A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0529" y="2478292"/>
            <a:ext cx="4873491" cy="2383254"/>
          </a:xfrm>
          <a:prstGeom prst="rect">
            <a:avLst/>
          </a:prstGeom>
        </p:spPr>
      </p:pic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84526D24-126E-400E-ABFC-B8979FACAB33}"/>
              </a:ext>
            </a:extLst>
          </p:cNvPr>
          <p:cNvSpPr/>
          <p:nvPr/>
        </p:nvSpPr>
        <p:spPr>
          <a:xfrm>
            <a:off x="959161" y="2636222"/>
            <a:ext cx="2595121" cy="344789"/>
          </a:xfrm>
          <a:prstGeom prst="rect">
            <a:avLst/>
          </a:prstGeom>
          <a:solidFill>
            <a:srgbClr val="2433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広告の評価</a:t>
            </a:r>
          </a:p>
        </p:txBody>
      </p:sp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C612F047-CC6D-4A4A-9082-82ED6ADA0920}"/>
              </a:ext>
            </a:extLst>
          </p:cNvPr>
          <p:cNvSpPr/>
          <p:nvPr/>
        </p:nvSpPr>
        <p:spPr>
          <a:xfrm>
            <a:off x="399590" y="3152549"/>
            <a:ext cx="1126837" cy="1297385"/>
          </a:xfrm>
          <a:prstGeom prst="rect">
            <a:avLst/>
          </a:prstGeom>
          <a:solidFill>
            <a:srgbClr val="2433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推定クリック率</a:t>
            </a:r>
          </a:p>
        </p:txBody>
      </p: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E1F644D4-A1A5-4336-8E69-BB14CEF8CE04}"/>
              </a:ext>
            </a:extLst>
          </p:cNvPr>
          <p:cNvSpPr/>
          <p:nvPr/>
        </p:nvSpPr>
        <p:spPr>
          <a:xfrm>
            <a:off x="1697150" y="3152548"/>
            <a:ext cx="1126837" cy="1297385"/>
          </a:xfrm>
          <a:prstGeom prst="rect">
            <a:avLst/>
          </a:prstGeom>
          <a:solidFill>
            <a:srgbClr val="2433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クエリと広告の関連性</a:t>
            </a:r>
          </a:p>
        </p:txBody>
      </p:sp>
      <p:sp>
        <p:nvSpPr>
          <p:cNvPr id="78" name="正方形/長方形 77">
            <a:extLst>
              <a:ext uri="{FF2B5EF4-FFF2-40B4-BE49-F238E27FC236}">
                <a16:creationId xmlns:a16="http://schemas.microsoft.com/office/drawing/2014/main" id="{641D9A85-6A1D-4FBB-85A1-E4A84AF30775}"/>
              </a:ext>
            </a:extLst>
          </p:cNvPr>
          <p:cNvSpPr/>
          <p:nvPr/>
        </p:nvSpPr>
        <p:spPr>
          <a:xfrm>
            <a:off x="2994710" y="3152547"/>
            <a:ext cx="1126837" cy="1297385"/>
          </a:xfrm>
          <a:prstGeom prst="rect">
            <a:avLst/>
          </a:prstGeom>
          <a:solidFill>
            <a:srgbClr val="2433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LP</a:t>
            </a:r>
            <a:r>
              <a:rPr kumimoji="1"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の利便性</a:t>
            </a:r>
          </a:p>
        </p:txBody>
      </p:sp>
      <p:sp>
        <p:nvSpPr>
          <p:cNvPr id="79" name="右中かっこ 78">
            <a:extLst>
              <a:ext uri="{FF2B5EF4-FFF2-40B4-BE49-F238E27FC236}">
                <a16:creationId xmlns:a16="http://schemas.microsoft.com/office/drawing/2014/main" id="{3583D259-3F11-43EB-BDC4-8B99CB085ECB}"/>
              </a:ext>
            </a:extLst>
          </p:cNvPr>
          <p:cNvSpPr/>
          <p:nvPr/>
        </p:nvSpPr>
        <p:spPr>
          <a:xfrm rot="5400000">
            <a:off x="1437925" y="3565873"/>
            <a:ext cx="168593" cy="242439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0" name="正方形/長方形 79">
            <a:extLst>
              <a:ext uri="{FF2B5EF4-FFF2-40B4-BE49-F238E27FC236}">
                <a16:creationId xmlns:a16="http://schemas.microsoft.com/office/drawing/2014/main" id="{87821B13-B0EC-40CA-B662-3530392F9BC5}"/>
              </a:ext>
            </a:extLst>
          </p:cNvPr>
          <p:cNvSpPr/>
          <p:nvPr/>
        </p:nvSpPr>
        <p:spPr>
          <a:xfrm>
            <a:off x="310023" y="4967019"/>
            <a:ext cx="2424397" cy="4807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TD</a:t>
            </a:r>
            <a:r>
              <a:rPr kumimoji="1" lang="ja-JP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検証によって改善可能</a:t>
            </a:r>
            <a:endParaRPr kumimoji="1" lang="en-US" altLang="ja-JP" sz="1200" dirty="0">
              <a:solidFill>
                <a:schemeClr val="tx1">
                  <a:lumMod val="85000"/>
                  <a:lumOff val="1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F3992AF9-2C8E-B066-231D-0CC12A1631EC}"/>
              </a:ext>
            </a:extLst>
          </p:cNvPr>
          <p:cNvSpPr/>
          <p:nvPr/>
        </p:nvSpPr>
        <p:spPr>
          <a:xfrm>
            <a:off x="959438" y="1948465"/>
            <a:ext cx="2595121" cy="34478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1000" b="1">
                <a:latin typeface="メイリオ"/>
                <a:ea typeface="メイリオ"/>
              </a:rPr>
              <a:t>掲載順位 / 広告の表示されやすさ</a:t>
            </a:r>
            <a:endParaRPr lang="ja-JP" altLang="en-US" sz="10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2" name="次の値と等しい 4">
            <a:extLst>
              <a:ext uri="{FF2B5EF4-FFF2-40B4-BE49-F238E27FC236}">
                <a16:creationId xmlns:a16="http://schemas.microsoft.com/office/drawing/2014/main" id="{C21BD1A7-3BFB-69A3-0FCE-F55AE8880696}"/>
              </a:ext>
            </a:extLst>
          </p:cNvPr>
          <p:cNvSpPr/>
          <p:nvPr/>
        </p:nvSpPr>
        <p:spPr>
          <a:xfrm rot="5400000">
            <a:off x="2101498" y="2204258"/>
            <a:ext cx="319992" cy="520211"/>
          </a:xfrm>
          <a:prstGeom prst="mathEqual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83" name="正方形/長方形 82">
            <a:extLst>
              <a:ext uri="{FF2B5EF4-FFF2-40B4-BE49-F238E27FC236}">
                <a16:creationId xmlns:a16="http://schemas.microsoft.com/office/drawing/2014/main" id="{9CE123F7-82C2-3554-DCF5-BFEA96B9A55F}"/>
              </a:ext>
            </a:extLst>
          </p:cNvPr>
          <p:cNvSpPr/>
          <p:nvPr/>
        </p:nvSpPr>
        <p:spPr>
          <a:xfrm>
            <a:off x="4469788" y="2164092"/>
            <a:ext cx="5153636" cy="4230472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8E7BE5B4-05D9-6AE9-A958-B6F1CCF14495}"/>
              </a:ext>
            </a:extLst>
          </p:cNvPr>
          <p:cNvSpPr/>
          <p:nvPr/>
        </p:nvSpPr>
        <p:spPr>
          <a:xfrm>
            <a:off x="5034969" y="1948464"/>
            <a:ext cx="3893827" cy="31613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1000">
                <a:solidFill>
                  <a:srgbClr val="262626"/>
                </a:solidFill>
                <a:latin typeface="メイリオ"/>
                <a:ea typeface="メイリオ"/>
              </a:rPr>
              <a:t>クリック率とインプレッションシェアの変動幅</a:t>
            </a:r>
            <a:endParaRPr lang="ja-JP" altLang="en-US" sz="1000" dirty="0">
              <a:solidFill>
                <a:srgbClr val="262626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ECEB7818-69FA-2ED5-B25F-CBB55D97C0D2}"/>
              </a:ext>
            </a:extLst>
          </p:cNvPr>
          <p:cNvSpPr/>
          <p:nvPr/>
        </p:nvSpPr>
        <p:spPr>
          <a:xfrm>
            <a:off x="4623145" y="5002074"/>
            <a:ext cx="4838050" cy="12588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altLang="ja-JP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メイリオ"/>
                <a:ea typeface="メイリオ"/>
              </a:rPr>
              <a:t>TDのAB検証により、</a:t>
            </a:r>
            <a:endParaRPr lang="en-US" altLang="ja-JP" sz="1200" dirty="0">
              <a:solidFill>
                <a:schemeClr val="tx1">
                  <a:lumMod val="85000"/>
                  <a:lumOff val="1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メイリオ"/>
                <a:ea typeface="メイリオ"/>
              </a:rPr>
              <a:t>------------------------------------------------------------------------</a:t>
            </a:r>
          </a:p>
          <a:p>
            <a:r>
              <a:rPr lang="en-US" altLang="ja-JP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メイリオ"/>
                <a:ea typeface="メイリオ"/>
              </a:rPr>
              <a:t>・期間中のクリック率_3.00%→3.50%</a:t>
            </a:r>
          </a:p>
          <a:p>
            <a:r>
              <a:rPr lang="en-US" altLang="ja-JP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メイリオ"/>
                <a:ea typeface="メイリオ"/>
              </a:rPr>
              <a:t>・インプレッションシェア_10％→30%</a:t>
            </a:r>
          </a:p>
          <a:p>
            <a:r>
              <a:rPr lang="en-US" altLang="ja-JP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メイリオ"/>
                <a:ea typeface="メイリオ"/>
              </a:rPr>
              <a:t>------------------------------------------------------------------------</a:t>
            </a:r>
          </a:p>
          <a:p>
            <a:r>
              <a:rPr lang="en-US" altLang="ja-JP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メイリオ"/>
                <a:ea typeface="メイリオ"/>
              </a:rPr>
              <a:t>と、</a:t>
            </a:r>
            <a:r>
              <a:rPr lang="en-US" altLang="ja-JP" sz="1200" b="1" dirty="0">
                <a:solidFill>
                  <a:srgbClr val="FF0000"/>
                </a:solidFill>
                <a:latin typeface="メイリオ"/>
                <a:ea typeface="メイリオ"/>
              </a:rPr>
              <a:t>クリック率15％伸びに対し、インプレッションシェアは3倍の伸び</a:t>
            </a:r>
            <a:r>
              <a:rPr lang="en-US" altLang="ja-JP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メイリオ"/>
                <a:ea typeface="メイリオ"/>
              </a:rPr>
              <a:t>が見られたケースがございます。</a:t>
            </a:r>
          </a:p>
          <a:p>
            <a:r>
              <a:rPr lang="en-US" altLang="ja-JP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メイリオ"/>
                <a:ea typeface="メイリオ"/>
              </a:rPr>
              <a:t>広告の最適化において、クリック率は非常に重要となる要素です。</a:t>
            </a:r>
          </a:p>
        </p:txBody>
      </p:sp>
      <p:sp>
        <p:nvSpPr>
          <p:cNvPr id="86" name="正方形/長方形 85">
            <a:extLst>
              <a:ext uri="{FF2B5EF4-FFF2-40B4-BE49-F238E27FC236}">
                <a16:creationId xmlns:a16="http://schemas.microsoft.com/office/drawing/2014/main" id="{F7EAB25E-84B0-DF7C-0CAA-C15DA21029F9}"/>
              </a:ext>
            </a:extLst>
          </p:cNvPr>
          <p:cNvSpPr/>
          <p:nvPr/>
        </p:nvSpPr>
        <p:spPr>
          <a:xfrm>
            <a:off x="311744" y="5378702"/>
            <a:ext cx="3933433" cy="10746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altLang="ja-JP" sz="1200" dirty="0">
                <a:solidFill>
                  <a:srgbClr val="262626"/>
                </a:solidFill>
                <a:latin typeface="メイリオ"/>
                <a:ea typeface="メイリオ"/>
              </a:rPr>
              <a:t>Tips</a:t>
            </a:r>
          </a:p>
          <a:p>
            <a:r>
              <a:rPr lang="en-US" altLang="ja-JP" sz="1050" dirty="0">
                <a:solidFill>
                  <a:srgbClr val="262626"/>
                </a:solidFill>
                <a:latin typeface="メイリオ"/>
                <a:ea typeface="メイリオ"/>
              </a:rPr>
              <a:t>・検索ワードと関連性が高い語句は見出し1へ配置</a:t>
            </a:r>
            <a:endParaRPr lang="en-US" sz="1050" dirty="0">
              <a:solidFill>
                <a:srgbClr val="262626"/>
              </a:solidFill>
              <a:cs typeface="Arial"/>
            </a:endParaRPr>
          </a:p>
          <a:p>
            <a:r>
              <a:rPr lang="en-US" altLang="ja-JP" sz="1050" dirty="0">
                <a:solidFill>
                  <a:srgbClr val="262626"/>
                </a:solidFill>
                <a:latin typeface="メイリオ"/>
                <a:ea typeface="メイリオ"/>
              </a:rPr>
              <a:t>・キーワードによってはキーワード挿入機能や広告カスタマ</a:t>
            </a:r>
          </a:p>
          <a:p>
            <a:r>
              <a:rPr lang="en-US" altLang="ja-JP" sz="1050" dirty="0">
                <a:solidFill>
                  <a:srgbClr val="262626"/>
                </a:solidFill>
                <a:latin typeface="メイリオ"/>
                <a:ea typeface="メイリオ"/>
              </a:rPr>
              <a:t>　イザで細かい表記揺れに対しても極力近しいテキストを</a:t>
            </a:r>
          </a:p>
          <a:p>
            <a:r>
              <a:rPr lang="en-US" altLang="ja-JP" sz="1050" dirty="0">
                <a:solidFill>
                  <a:srgbClr val="262626"/>
                </a:solidFill>
                <a:latin typeface="メイリオ"/>
                <a:ea typeface="メイリオ"/>
              </a:rPr>
              <a:t>　広告見出しで返せるよう設計</a:t>
            </a:r>
            <a:endParaRPr lang="en-US" dirty="0"/>
          </a:p>
        </p:txBody>
      </p:sp>
      <p:sp>
        <p:nvSpPr>
          <p:cNvPr id="87" name="正方形/長方形 86">
            <a:extLst>
              <a:ext uri="{FF2B5EF4-FFF2-40B4-BE49-F238E27FC236}">
                <a16:creationId xmlns:a16="http://schemas.microsoft.com/office/drawing/2014/main" id="{F94976AA-9A83-4FC6-9822-433AC89C24F0}"/>
              </a:ext>
            </a:extLst>
          </p:cNvPr>
          <p:cNvSpPr/>
          <p:nvPr/>
        </p:nvSpPr>
        <p:spPr>
          <a:xfrm>
            <a:off x="0" y="609600"/>
            <a:ext cx="9906000" cy="3817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anchor="ctr"/>
          <a:lstStyle/>
          <a:p>
            <a:pPr algn="ctr">
              <a:defRPr/>
            </a:pPr>
            <a:r>
              <a:rPr lang="ja-JP" altLang="en-US" sz="2000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ユーザー動向を反映した</a:t>
            </a:r>
            <a:r>
              <a:rPr lang="en-US" altLang="ja-JP" sz="2000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TD</a:t>
            </a:r>
            <a:r>
              <a:rPr lang="ja-JP" altLang="en-US" sz="2000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設計</a:t>
            </a:r>
          </a:p>
        </p:txBody>
      </p:sp>
      <p:sp>
        <p:nvSpPr>
          <p:cNvPr id="88" name="正方形/長方形 87">
            <a:extLst>
              <a:ext uri="{FF2B5EF4-FFF2-40B4-BE49-F238E27FC236}">
                <a16:creationId xmlns:a16="http://schemas.microsoft.com/office/drawing/2014/main" id="{FCECD01B-DCBC-4BF5-BB39-55F51919AFEA}"/>
              </a:ext>
            </a:extLst>
          </p:cNvPr>
          <p:cNvSpPr/>
          <p:nvPr/>
        </p:nvSpPr>
        <p:spPr>
          <a:xfrm>
            <a:off x="0" y="971550"/>
            <a:ext cx="9906000" cy="4037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弊社の類似案件の実績を基に、業界の勝ちパターンの広告文での配信を推奨します。</a:t>
            </a:r>
          </a:p>
          <a:p>
            <a:pPr algn="ctr"/>
            <a:r>
              <a:rPr lang="ja-JP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当たりの広告文をメインで配信しつつ、都度</a:t>
            </a:r>
            <a:r>
              <a:rPr lang="en-US" altLang="ja-JP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AB</a:t>
            </a:r>
            <a:r>
              <a:rPr lang="ja-JP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テストすることで、集客効率の最適化を図ります。</a:t>
            </a:r>
            <a:endParaRPr lang="en-US" altLang="ja-JP" sz="9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979DAB11-62DB-4B8A-A4C3-ACF56419273F}"/>
              </a:ext>
            </a:extLst>
          </p:cNvPr>
          <p:cNvSpPr/>
          <p:nvPr/>
        </p:nvSpPr>
        <p:spPr>
          <a:xfrm>
            <a:off x="0" y="1692872"/>
            <a:ext cx="9906000" cy="215074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9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クリック率と広告の表示されやすさの関係性</a:t>
            </a:r>
          </a:p>
        </p:txBody>
      </p:sp>
      <p:sp>
        <p:nvSpPr>
          <p:cNvPr id="2" name="Google Shape;64;p3">
            <a:extLst>
              <a:ext uri="{FF2B5EF4-FFF2-40B4-BE49-F238E27FC236}">
                <a16:creationId xmlns:a16="http://schemas.microsoft.com/office/drawing/2014/main" id="{EF664E6D-6B24-B899-3D23-76D64584D61E}"/>
              </a:ext>
            </a:extLst>
          </p:cNvPr>
          <p:cNvSpPr txBox="1"/>
          <p:nvPr/>
        </p:nvSpPr>
        <p:spPr>
          <a:xfrm>
            <a:off x="501705" y="83613"/>
            <a:ext cx="4451295" cy="387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kumimoji="1" lang="ja-JP" altLang="en-US" sz="1600" spc="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広告文の重要性</a:t>
            </a:r>
          </a:p>
        </p:txBody>
      </p:sp>
    </p:spTree>
    <p:extLst>
      <p:ext uri="{BB962C8B-B14F-4D97-AF65-F5344CB8AC3E}">
        <p14:creationId xmlns:p14="http://schemas.microsoft.com/office/powerpoint/2010/main" val="37695816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1455BCC6-456D-4EB4-98CC-0E4D19A0A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8457" y="3438445"/>
            <a:ext cx="4587993" cy="2822389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2CFEBCCC-8745-42E7-9577-0608DA6459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164" y="3440494"/>
            <a:ext cx="4582964" cy="2822514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6A525AE-F9AE-4B44-B597-02861846E3F7}"/>
              </a:ext>
            </a:extLst>
          </p:cNvPr>
          <p:cNvSpPr/>
          <p:nvPr/>
        </p:nvSpPr>
        <p:spPr>
          <a:xfrm>
            <a:off x="6030572" y="2495627"/>
            <a:ext cx="3630540" cy="3197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7A9E785-A700-44C1-939A-B6F3C98F2D4A}"/>
              </a:ext>
            </a:extLst>
          </p:cNvPr>
          <p:cNvSpPr/>
          <p:nvPr/>
        </p:nvSpPr>
        <p:spPr>
          <a:xfrm>
            <a:off x="2847976" y="2495872"/>
            <a:ext cx="1747265" cy="3197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C424652-51CB-4937-BE3A-B9FCD2D5A1C6}"/>
              </a:ext>
            </a:extLst>
          </p:cNvPr>
          <p:cNvSpPr/>
          <p:nvPr/>
        </p:nvSpPr>
        <p:spPr>
          <a:xfrm>
            <a:off x="0" y="609600"/>
            <a:ext cx="9906000" cy="3817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anchor="ctr"/>
          <a:lstStyle/>
          <a:p>
            <a:pPr algn="ctr">
              <a:defRPr/>
            </a:pPr>
            <a:r>
              <a:rPr lang="en-US" altLang="ja-JP" sz="2000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rPr>
              <a:t>TD</a:t>
            </a:r>
            <a:r>
              <a:rPr lang="ja-JP" altLang="en-US" sz="2000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rPr>
              <a:t>の改善だけでここまで変わることがあります。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824A8BB9-730D-45E9-8032-3490BADD9DEB}"/>
              </a:ext>
            </a:extLst>
          </p:cNvPr>
          <p:cNvCxnSpPr>
            <a:cxnSpLocks/>
          </p:cNvCxnSpPr>
          <p:nvPr/>
        </p:nvCxnSpPr>
        <p:spPr>
          <a:xfrm>
            <a:off x="0" y="1390675"/>
            <a:ext cx="9906000" cy="0"/>
          </a:xfrm>
          <a:prstGeom prst="line">
            <a:avLst/>
          </a:prstGeom>
          <a:ln w="19050">
            <a:solidFill>
              <a:schemeClr val="bg1">
                <a:lumMod val="85000"/>
                <a:alpha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B69C7ED-CEEA-428D-9AC0-F2DFEE4CD67C}"/>
              </a:ext>
            </a:extLst>
          </p:cNvPr>
          <p:cNvSpPr/>
          <p:nvPr/>
        </p:nvSpPr>
        <p:spPr>
          <a:xfrm>
            <a:off x="2895600" y="2328884"/>
            <a:ext cx="1617303" cy="67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当たり</a:t>
            </a:r>
            <a:r>
              <a:rPr lang="en-US" altLang="ja-JP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TD</a:t>
            </a:r>
            <a:r>
              <a:rPr lang="ja-JP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の発見</a:t>
            </a:r>
            <a:endParaRPr lang="en-US" altLang="ja-JP" sz="1400" b="1" dirty="0">
              <a:solidFill>
                <a:schemeClr val="tx1">
                  <a:lumMod val="85000"/>
                  <a:lumOff val="1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D4BDF75-2413-44F9-B2E2-C57A55325A6D}"/>
              </a:ext>
            </a:extLst>
          </p:cNvPr>
          <p:cNvSpPr/>
          <p:nvPr/>
        </p:nvSpPr>
        <p:spPr>
          <a:xfrm>
            <a:off x="4577284" y="3550309"/>
            <a:ext cx="166548" cy="2562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DD9DF11-B443-4D60-BE3D-47BD26C95996}"/>
              </a:ext>
            </a:extLst>
          </p:cNvPr>
          <p:cNvSpPr/>
          <p:nvPr/>
        </p:nvSpPr>
        <p:spPr>
          <a:xfrm>
            <a:off x="9459807" y="3585653"/>
            <a:ext cx="182879" cy="2562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BBAFC84F-53CD-48A4-829F-FD37FC1993CB}"/>
              </a:ext>
            </a:extLst>
          </p:cNvPr>
          <p:cNvCxnSpPr>
            <a:cxnSpLocks/>
          </p:cNvCxnSpPr>
          <p:nvPr/>
        </p:nvCxnSpPr>
        <p:spPr>
          <a:xfrm flipV="1">
            <a:off x="3695700" y="2817770"/>
            <a:ext cx="0" cy="3592555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AC86782-C740-4640-B7E5-6C474D1198AB}"/>
              </a:ext>
            </a:extLst>
          </p:cNvPr>
          <p:cNvSpPr/>
          <p:nvPr/>
        </p:nvSpPr>
        <p:spPr>
          <a:xfrm>
            <a:off x="2738190" y="4110528"/>
            <a:ext cx="1272217" cy="3693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b="1" dirty="0">
                <a:solidFill>
                  <a:srgbClr val="214F87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表示回数 </a:t>
            </a:r>
            <a:r>
              <a:rPr lang="en-US" altLang="ja-JP" sz="1400" b="1" dirty="0">
                <a:solidFill>
                  <a:srgbClr val="214F87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5</a:t>
            </a:r>
            <a:r>
              <a:rPr lang="ja-JP" altLang="en-US" sz="1400" b="1" dirty="0">
                <a:solidFill>
                  <a:srgbClr val="214F87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倍</a:t>
            </a:r>
            <a:endParaRPr lang="en-US" altLang="ja-JP" sz="1400" b="1" dirty="0">
              <a:solidFill>
                <a:srgbClr val="214F87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矢印: 右 8">
            <a:extLst>
              <a:ext uri="{FF2B5EF4-FFF2-40B4-BE49-F238E27FC236}">
                <a16:creationId xmlns:a16="http://schemas.microsoft.com/office/drawing/2014/main" id="{149F14A7-6DDF-4B02-A01C-F81B429768F6}"/>
              </a:ext>
            </a:extLst>
          </p:cNvPr>
          <p:cNvSpPr/>
          <p:nvPr/>
        </p:nvSpPr>
        <p:spPr>
          <a:xfrm rot="16810391">
            <a:off x="3335564" y="4806560"/>
            <a:ext cx="976412" cy="200025"/>
          </a:xfrm>
          <a:prstGeom prst="rightArrow">
            <a:avLst>
              <a:gd name="adj1" fmla="val 50000"/>
              <a:gd name="adj2" fmla="val 137692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8AC21D83-8528-4AEC-A850-AA6067E12CDC}"/>
              </a:ext>
            </a:extLst>
          </p:cNvPr>
          <p:cNvSpPr/>
          <p:nvPr/>
        </p:nvSpPr>
        <p:spPr>
          <a:xfrm>
            <a:off x="7955545" y="4539363"/>
            <a:ext cx="1134821" cy="2548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CV 6</a:t>
            </a:r>
            <a:r>
              <a:rPr lang="ja-JP" altLang="en-US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倍</a:t>
            </a:r>
            <a:endParaRPr lang="en-US" altLang="ja-JP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BE71280D-8CA9-4926-A362-B257E5667B06}"/>
              </a:ext>
            </a:extLst>
          </p:cNvPr>
          <p:cNvCxnSpPr>
            <a:cxnSpLocks/>
          </p:cNvCxnSpPr>
          <p:nvPr/>
        </p:nvCxnSpPr>
        <p:spPr>
          <a:xfrm flipH="1" flipV="1">
            <a:off x="8869470" y="2823457"/>
            <a:ext cx="8677" cy="158106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25B5635A-5173-4D42-8506-540A0CFA98B6}"/>
              </a:ext>
            </a:extLst>
          </p:cNvPr>
          <p:cNvSpPr/>
          <p:nvPr/>
        </p:nvSpPr>
        <p:spPr>
          <a:xfrm>
            <a:off x="5963897" y="2341813"/>
            <a:ext cx="3768097" cy="672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当たり</a:t>
            </a:r>
            <a:r>
              <a:rPr lang="en-US" altLang="ja-JP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TD</a:t>
            </a:r>
            <a:r>
              <a:rPr lang="ja-JP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が出てからは表示増加→</a:t>
            </a:r>
            <a:r>
              <a:rPr lang="en-US" altLang="ja-JP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CV</a:t>
            </a:r>
            <a:r>
              <a:rPr lang="ja-JP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増加</a:t>
            </a:r>
            <a:endParaRPr lang="en-US" altLang="ja-JP" sz="1400" b="1" dirty="0">
              <a:solidFill>
                <a:schemeClr val="tx1">
                  <a:lumMod val="85000"/>
                  <a:lumOff val="1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F078B49F-1EFB-4583-943A-D948A8AA6F9C}"/>
              </a:ext>
            </a:extLst>
          </p:cNvPr>
          <p:cNvSpPr/>
          <p:nvPr/>
        </p:nvSpPr>
        <p:spPr>
          <a:xfrm>
            <a:off x="101291" y="1918631"/>
            <a:ext cx="9684367" cy="4292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b="1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該当期間中は入札変更はほとんどなし、</a:t>
            </a:r>
            <a:r>
              <a:rPr lang="en-US" altLang="ja-JP" sz="1400" b="1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TD</a:t>
            </a:r>
            <a:r>
              <a:rPr lang="ja-JP" altLang="en-US" sz="1400" b="1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だけの調整で表示回数</a:t>
            </a:r>
            <a:r>
              <a:rPr lang="en-US" altLang="ja-JP" sz="1400" b="1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5</a:t>
            </a:r>
            <a:r>
              <a:rPr lang="ja-JP" altLang="en-US" sz="1400" b="1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倍</a:t>
            </a:r>
            <a:r>
              <a:rPr lang="en-US" altLang="ja-JP" sz="1400" b="1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, CV</a:t>
            </a:r>
            <a:r>
              <a:rPr lang="ja-JP" altLang="en-US" sz="1400" b="1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数</a:t>
            </a:r>
            <a:r>
              <a:rPr lang="en-US" altLang="ja-JP" sz="1400" b="1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6</a:t>
            </a:r>
            <a:r>
              <a:rPr lang="ja-JP" altLang="en-US" sz="1400" b="1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倍に飛躍した事例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D55333A3-89A9-4B11-89CA-FF7E263B021B}"/>
              </a:ext>
            </a:extLst>
          </p:cNvPr>
          <p:cNvSpPr/>
          <p:nvPr/>
        </p:nvSpPr>
        <p:spPr>
          <a:xfrm>
            <a:off x="104775" y="1917292"/>
            <a:ext cx="9680883" cy="4594575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sz="1100" dirty="0">
              <a:solidFill>
                <a:schemeClr val="tx1">
                  <a:lumMod val="85000"/>
                  <a:lumOff val="1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矢印: 右 29">
            <a:extLst>
              <a:ext uri="{FF2B5EF4-FFF2-40B4-BE49-F238E27FC236}">
                <a16:creationId xmlns:a16="http://schemas.microsoft.com/office/drawing/2014/main" id="{6E9DEBFC-329D-42FD-A68F-9AD7804F436A}"/>
              </a:ext>
            </a:extLst>
          </p:cNvPr>
          <p:cNvSpPr/>
          <p:nvPr/>
        </p:nvSpPr>
        <p:spPr>
          <a:xfrm rot="17571980">
            <a:off x="8667367" y="4641876"/>
            <a:ext cx="644655" cy="158627"/>
          </a:xfrm>
          <a:prstGeom prst="rightArrow">
            <a:avLst>
              <a:gd name="adj1" fmla="val 50000"/>
              <a:gd name="adj2" fmla="val 137692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FC53A28E-734A-4006-A073-331148DE233C}"/>
              </a:ext>
            </a:extLst>
          </p:cNvPr>
          <p:cNvSpPr/>
          <p:nvPr/>
        </p:nvSpPr>
        <p:spPr>
          <a:xfrm>
            <a:off x="5154953" y="3550308"/>
            <a:ext cx="254070" cy="25622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矢印: 右 33">
            <a:extLst>
              <a:ext uri="{FF2B5EF4-FFF2-40B4-BE49-F238E27FC236}">
                <a16:creationId xmlns:a16="http://schemas.microsoft.com/office/drawing/2014/main" id="{83897B15-6508-4F83-852C-DC3E4398A542}"/>
              </a:ext>
            </a:extLst>
          </p:cNvPr>
          <p:cNvSpPr/>
          <p:nvPr/>
        </p:nvSpPr>
        <p:spPr>
          <a:xfrm>
            <a:off x="4595244" y="4210541"/>
            <a:ext cx="1627929" cy="1167321"/>
          </a:xfrm>
          <a:prstGeom prst="rightArrow">
            <a:avLst>
              <a:gd name="adj1" fmla="val 50000"/>
              <a:gd name="adj2" fmla="val 43861"/>
            </a:avLst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0">
                <a:schemeClr val="bg1">
                  <a:lumMod val="75000"/>
                </a:schemeClr>
              </a:gs>
              <a:gs pos="3900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EF226C05-7677-4C92-8F66-2942B11C9C11}"/>
              </a:ext>
            </a:extLst>
          </p:cNvPr>
          <p:cNvSpPr/>
          <p:nvPr/>
        </p:nvSpPr>
        <p:spPr>
          <a:xfrm>
            <a:off x="238421" y="3585653"/>
            <a:ext cx="254070" cy="25622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84548F76-CBB6-4B71-8315-771FCD917971}"/>
              </a:ext>
            </a:extLst>
          </p:cNvPr>
          <p:cNvSpPr/>
          <p:nvPr/>
        </p:nvSpPr>
        <p:spPr>
          <a:xfrm>
            <a:off x="0" y="971550"/>
            <a:ext cx="9906000" cy="4037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TD</a:t>
            </a:r>
            <a:r>
              <a:rPr lang="ja-JP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はコピーよりも上位掲載されるような設計がされているか、が重要となります。</a:t>
            </a:r>
            <a:endParaRPr lang="en-US" altLang="ja-JP" sz="9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掲載順位決定の仕組みに対し、ルールに寄り添った</a:t>
            </a:r>
            <a:r>
              <a:rPr lang="en-US" altLang="ja-JP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TD</a:t>
            </a:r>
            <a:r>
              <a:rPr lang="ja-JP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設計を施すことで、ロスのないリーチを徹底します。</a:t>
            </a:r>
            <a:endParaRPr lang="en-US" altLang="ja-JP" sz="9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979DAB11-62DB-4B8A-A4C3-ACF56419273F}"/>
              </a:ext>
            </a:extLst>
          </p:cNvPr>
          <p:cNvSpPr/>
          <p:nvPr/>
        </p:nvSpPr>
        <p:spPr>
          <a:xfrm>
            <a:off x="0" y="1692872"/>
            <a:ext cx="9906000" cy="215074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9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クリック率上昇→広告ランク上昇が成果を大きく分ける</a:t>
            </a:r>
          </a:p>
        </p:txBody>
      </p:sp>
      <p:sp>
        <p:nvSpPr>
          <p:cNvPr id="17" name="Google Shape;64;p3">
            <a:extLst>
              <a:ext uri="{FF2B5EF4-FFF2-40B4-BE49-F238E27FC236}">
                <a16:creationId xmlns:a16="http://schemas.microsoft.com/office/drawing/2014/main" id="{8D9BE7C1-56C4-CC65-F609-27D6509D06B8}"/>
              </a:ext>
            </a:extLst>
          </p:cNvPr>
          <p:cNvSpPr txBox="1"/>
          <p:nvPr/>
        </p:nvSpPr>
        <p:spPr>
          <a:xfrm>
            <a:off x="501705" y="83613"/>
            <a:ext cx="4451295" cy="387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kumimoji="1" lang="ja-JP" altLang="en-US" sz="1600" spc="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広告文の重要性</a:t>
            </a:r>
          </a:p>
        </p:txBody>
      </p:sp>
    </p:spTree>
    <p:extLst>
      <p:ext uri="{BB962C8B-B14F-4D97-AF65-F5344CB8AC3E}">
        <p14:creationId xmlns:p14="http://schemas.microsoft.com/office/powerpoint/2010/main" val="14016659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A72C8-EAEF-DB6D-2DF5-A0614FDAF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415;p40">
            <a:extLst>
              <a:ext uri="{FF2B5EF4-FFF2-40B4-BE49-F238E27FC236}">
                <a16:creationId xmlns:a16="http://schemas.microsoft.com/office/drawing/2014/main" id="{E6AA97FA-4393-B99D-84EF-CA890EAC642C}"/>
              </a:ext>
            </a:extLst>
          </p:cNvPr>
          <p:cNvSpPr/>
          <p:nvPr/>
        </p:nvSpPr>
        <p:spPr>
          <a:xfrm>
            <a:off x="0" y="730439"/>
            <a:ext cx="9906000" cy="468922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800" b="1" dirty="0">
                <a:solidFill>
                  <a:srgbClr val="F2F2F2"/>
                </a:solidFill>
                <a:latin typeface="Meiryo"/>
                <a:ea typeface="Meiryo"/>
                <a:cs typeface="Meiryo"/>
                <a:sym typeface="Meiryo"/>
              </a:rPr>
              <a:t>弊社が提案する広告文は以下の通りです。　</a:t>
            </a:r>
            <a:r>
              <a:rPr lang="en-US" altLang="ja-JP" sz="1050" b="1" dirty="0">
                <a:solidFill>
                  <a:srgbClr val="F2F2F2"/>
                </a:solidFill>
                <a:latin typeface="Meiryo"/>
                <a:ea typeface="Meiryo"/>
                <a:cs typeface="Meiryo"/>
                <a:sym typeface="Meiryo"/>
              </a:rPr>
              <a:t>※</a:t>
            </a:r>
            <a:r>
              <a:rPr lang="ja-JP" altLang="en-US" sz="1050" b="1" dirty="0">
                <a:solidFill>
                  <a:srgbClr val="F2F2F2"/>
                </a:solidFill>
                <a:latin typeface="Meiryo"/>
                <a:ea typeface="Meiryo"/>
                <a:cs typeface="Meiryo"/>
                <a:sym typeface="Meiryo"/>
              </a:rPr>
              <a:t>詳細はすり合わせの上進行いたします。</a:t>
            </a:r>
            <a:endParaRPr sz="1800" b="1" dirty="0">
              <a:solidFill>
                <a:srgbClr val="F2F2F2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D2054DDE-2761-2D9E-55BD-5E403788165E}"/>
              </a:ext>
            </a:extLst>
          </p:cNvPr>
          <p:cNvGrpSpPr/>
          <p:nvPr/>
        </p:nvGrpSpPr>
        <p:grpSpPr>
          <a:xfrm>
            <a:off x="257818" y="1284848"/>
            <a:ext cx="9104800" cy="5236722"/>
            <a:chOff x="6045248" y="2922151"/>
            <a:chExt cx="3650291" cy="6343437"/>
          </a:xfrm>
        </p:grpSpPr>
        <p:sp>
          <p:nvSpPr>
            <p:cNvPr id="20" name="Google Shape;204;p22">
              <a:extLst>
                <a:ext uri="{FF2B5EF4-FFF2-40B4-BE49-F238E27FC236}">
                  <a16:creationId xmlns:a16="http://schemas.microsoft.com/office/drawing/2014/main" id="{95FA00B9-753C-5136-3F93-1E39876DE20D}"/>
                </a:ext>
              </a:extLst>
            </p:cNvPr>
            <p:cNvSpPr/>
            <p:nvPr/>
          </p:nvSpPr>
          <p:spPr>
            <a:xfrm>
              <a:off x="6045248" y="2922151"/>
              <a:ext cx="3650291" cy="366112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25400" cap="flat" cmpd="sng">
              <a:solidFill>
                <a:schemeClr val="bg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0000" rIns="91425" bIns="45700" anchor="ctr" anchorCtr="0">
              <a:noAutofit/>
            </a:bodyPr>
            <a:lstStyle/>
            <a:p>
              <a:pPr marL="0" marR="0" lvl="0" indent="173038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altLang="en-US" sz="1800" b="1" dirty="0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sym typeface="Arial"/>
                </a:rPr>
                <a:t>提案</a:t>
              </a:r>
              <a:endParaRPr sz="18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Arial"/>
              </a:endParaRPr>
            </a:p>
          </p:txBody>
        </p:sp>
        <p:sp>
          <p:nvSpPr>
            <p:cNvPr id="22" name="Google Shape;205;p22">
              <a:extLst>
                <a:ext uri="{FF2B5EF4-FFF2-40B4-BE49-F238E27FC236}">
                  <a16:creationId xmlns:a16="http://schemas.microsoft.com/office/drawing/2014/main" id="{A2F5A7EC-EF22-90B0-B222-56A01EE0C97B}"/>
                </a:ext>
              </a:extLst>
            </p:cNvPr>
            <p:cNvSpPr/>
            <p:nvPr/>
          </p:nvSpPr>
          <p:spPr>
            <a:xfrm>
              <a:off x="6045248" y="3313950"/>
              <a:ext cx="3650291" cy="5951638"/>
            </a:xfrm>
            <a:prstGeom prst="rect">
              <a:avLst/>
            </a:prstGeom>
            <a:noFill/>
            <a:ln w="25400" cap="flat" cmpd="sng">
              <a:solidFill>
                <a:schemeClr val="bg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R="0" lvl="0" rtl="0">
                <a:spcBef>
                  <a:spcPts val="0"/>
                </a:spcBef>
                <a:spcAft>
                  <a:spcPts val="0"/>
                </a:spcAft>
              </a:pPr>
              <a:endParaRPr lang="en-US" altLang="ja-JP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</p:grp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1C0DEDE7-EB6E-4C2C-4C07-390E3276CC69}"/>
              </a:ext>
            </a:extLst>
          </p:cNvPr>
          <p:cNvSpPr/>
          <p:nvPr/>
        </p:nvSpPr>
        <p:spPr>
          <a:xfrm>
            <a:off x="562395" y="1687964"/>
            <a:ext cx="8495645" cy="4760293"/>
          </a:xfrm>
          <a:prstGeom prst="roundRect">
            <a:avLst>
              <a:gd name="adj" fmla="val 5101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43AEC2D-AB90-0D46-436A-9A2809693314}"/>
              </a:ext>
            </a:extLst>
          </p:cNvPr>
          <p:cNvSpPr txBox="1"/>
          <p:nvPr/>
        </p:nvSpPr>
        <p:spPr>
          <a:xfrm>
            <a:off x="847960" y="1741217"/>
            <a:ext cx="8111705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2000" b="1" dirty="0" err="1">
                <a:latin typeface="Meiryo"/>
              </a:rPr>
              <a:t>見出し</a:t>
            </a:r>
            <a:r>
              <a:rPr sz="2000" b="1" dirty="0">
                <a:latin typeface="Meiryo"/>
              </a:rPr>
              <a:t>：</a:t>
            </a:r>
            <a:endParaRPr kumimoji="1" lang="en-US" altLang="ja-JP" sz="2000" b="1" dirty="0">
              <a:solidFill>
                <a:schemeClr val="accent6"/>
              </a:solidFill>
              <a:latin typeface="Meiryo"/>
              <a:ea typeface="Meiryo"/>
              <a:sym typeface="Meiryo"/>
            </a:endParaRPr>
          </a:p>
          <a:p>
            <a:r>
              <a:rPr b="1" dirty="0" err="1">
                <a:latin typeface="Meiryo"/>
              </a:rPr>
              <a:t>〇マンション大規模修繕コンサル</a:t>
            </a:r>
            <a:endParaRPr b="1" dirty="0">
              <a:latin typeface="Meiryo"/>
            </a:endParaRPr>
          </a:p>
          <a:p>
            <a:r>
              <a:rPr b="1" dirty="0">
                <a:latin typeface="Meiryo"/>
              </a:rPr>
              <a:t>〇累計834管理組合の監理実績</a:t>
            </a:r>
          </a:p>
          <a:p>
            <a:r>
              <a:rPr b="1" dirty="0">
                <a:latin typeface="Meiryo"/>
              </a:rPr>
              <a:t>〇一級建築士17名の設計事務所</a:t>
            </a:r>
          </a:p>
          <a:p>
            <a:r>
              <a:rPr b="1" dirty="0" err="1">
                <a:latin typeface="Meiryo"/>
              </a:rPr>
              <a:t>〇工事ありきにいたしません</a:t>
            </a:r>
            <a:endParaRPr b="1" dirty="0">
              <a:latin typeface="Meiryo"/>
            </a:endParaRPr>
          </a:p>
          <a:p>
            <a:r>
              <a:rPr b="1" dirty="0" err="1">
                <a:latin typeface="Meiryo"/>
              </a:rPr>
              <a:t>〇利害関係ゼロの第三者</a:t>
            </a:r>
            <a:r>
              <a:rPr b="1" dirty="0">
                <a:latin typeface="Meiryo"/>
              </a:rPr>
              <a:t> </a:t>
            </a:r>
            <a:r>
              <a:rPr b="1" dirty="0" err="1">
                <a:latin typeface="Meiryo"/>
              </a:rPr>
              <a:t>劣化診断</a:t>
            </a:r>
            <a:endParaRPr b="1" dirty="0">
              <a:latin typeface="Meiryo"/>
            </a:endParaRPr>
          </a:p>
          <a:p>
            <a:r>
              <a:rPr b="1" dirty="0" err="1">
                <a:latin typeface="Meiryo"/>
              </a:rPr>
              <a:t>〇修繕積立金の過剰工事を見抜く</a:t>
            </a:r>
            <a:endParaRPr b="1" dirty="0">
              <a:latin typeface="Meiryo"/>
            </a:endParaRPr>
          </a:p>
          <a:p>
            <a:r>
              <a:rPr b="1" dirty="0" err="1">
                <a:latin typeface="Meiryo"/>
              </a:rPr>
              <a:t>〇タワー型・多棟型まで対応</a:t>
            </a:r>
            <a:endParaRPr b="1" dirty="0">
              <a:latin typeface="Meiryo"/>
            </a:endParaRPr>
          </a:p>
          <a:p>
            <a:r>
              <a:rPr b="1" dirty="0" err="1">
                <a:latin typeface="Meiryo"/>
              </a:rPr>
              <a:t>〇まずは無料で劣化診断のご相談</a:t>
            </a:r>
            <a:endParaRPr b="1" dirty="0">
              <a:latin typeface="Meiryo"/>
            </a:endParaRPr>
          </a:p>
          <a:p>
            <a:r>
              <a:rPr b="1" dirty="0" err="1">
                <a:latin typeface="Meiryo"/>
              </a:rPr>
              <a:t>〇修繕工事の見積りチェック無料</a:t>
            </a:r>
            <a:endParaRPr b="1" dirty="0">
              <a:latin typeface="Meiryo"/>
            </a:endParaRPr>
          </a:p>
          <a:p>
            <a:r>
              <a:rPr b="1" dirty="0">
                <a:latin typeface="Meiryo"/>
              </a:rPr>
              <a:t>〇全国11拠点・大阪本店</a:t>
            </a:r>
          </a:p>
          <a:p>
            <a:r>
              <a:rPr b="1" dirty="0" err="1">
                <a:latin typeface="Meiryo"/>
              </a:rPr>
              <a:t>説明文</a:t>
            </a:r>
            <a:r>
              <a:rPr b="1" dirty="0">
                <a:latin typeface="Meiryo"/>
              </a:rPr>
              <a:t>：</a:t>
            </a:r>
          </a:p>
          <a:p>
            <a:r>
              <a:rPr b="1" dirty="0">
                <a:latin typeface="Meiryo"/>
              </a:rPr>
              <a:t>〇施工を持たない一級建築士事務所（17名在籍）。</a:t>
            </a:r>
            <a:r>
              <a:rPr b="1" dirty="0" err="1">
                <a:latin typeface="Meiryo"/>
              </a:rPr>
              <a:t>利害関係ゼロの中立な立場から、大規模修繕の過剰な見積もりや手抜き工事を徹底チェックします</a:t>
            </a:r>
            <a:r>
              <a:rPr b="1" dirty="0">
                <a:latin typeface="Meiryo"/>
              </a:rPr>
              <a:t>。</a:t>
            </a:r>
          </a:p>
          <a:p>
            <a:r>
              <a:rPr b="1" dirty="0">
                <a:latin typeface="Meiryo"/>
              </a:rPr>
              <a:t>〇累計834管理組合の設計監理実績。積立金不足にお悩みの管理組合様へ、工事ありきではない公正な劣化診断・見積チェックを無料で実施します。</a:t>
            </a:r>
          </a:p>
        </p:txBody>
      </p:sp>
      <p:sp>
        <p:nvSpPr>
          <p:cNvPr id="2" name="Google Shape;64;p3">
            <a:extLst>
              <a:ext uri="{FF2B5EF4-FFF2-40B4-BE49-F238E27FC236}">
                <a16:creationId xmlns:a16="http://schemas.microsoft.com/office/drawing/2014/main" id="{2A6858D3-1E84-D985-D5A1-D6A5013D8D44}"/>
              </a:ext>
            </a:extLst>
          </p:cNvPr>
          <p:cNvSpPr txBox="1"/>
          <p:nvPr/>
        </p:nvSpPr>
        <p:spPr>
          <a:xfrm>
            <a:off x="501705" y="83613"/>
            <a:ext cx="4451295" cy="387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kumimoji="1" lang="ja-JP" altLang="en-US" sz="1600" spc="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広告文のご提案</a:t>
            </a:r>
          </a:p>
        </p:txBody>
      </p:sp>
    </p:spTree>
    <p:extLst>
      <p:ext uri="{BB962C8B-B14F-4D97-AF65-F5344CB8AC3E}">
        <p14:creationId xmlns:p14="http://schemas.microsoft.com/office/powerpoint/2010/main" val="40370420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/>
        </p:nvSpPr>
        <p:spPr>
          <a:xfrm>
            <a:off x="3553636" y="4153794"/>
            <a:ext cx="2815415" cy="2291138"/>
          </a:xfrm>
          <a:prstGeom prst="rect">
            <a:avLst/>
          </a:prstGeom>
          <a:solidFill>
            <a:schemeClr val="bg1"/>
          </a:solidFill>
          <a:ln>
            <a:solidFill>
              <a:srgbClr val="767AA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79" name="正方形/長方形 78">
            <a:extLst>
              <a:ext uri="{FF2B5EF4-FFF2-40B4-BE49-F238E27FC236}">
                <a16:creationId xmlns:a16="http://schemas.microsoft.com/office/drawing/2014/main" id="{0EF4EFE1-A8F5-4CBC-8246-6FB00C9C95C6}"/>
              </a:ext>
            </a:extLst>
          </p:cNvPr>
          <p:cNvSpPr/>
          <p:nvPr/>
        </p:nvSpPr>
        <p:spPr>
          <a:xfrm>
            <a:off x="3607399" y="5381563"/>
            <a:ext cx="2648450" cy="1034223"/>
          </a:xfrm>
          <a:prstGeom prst="rect">
            <a:avLst/>
          </a:prstGeom>
          <a:solidFill>
            <a:srgbClr val="E9EFF7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9" name="正方形/長方形 18"/>
          <p:cNvSpPr/>
          <p:nvPr/>
        </p:nvSpPr>
        <p:spPr>
          <a:xfrm>
            <a:off x="573064" y="4153794"/>
            <a:ext cx="2815415" cy="2291138"/>
          </a:xfrm>
          <a:prstGeom prst="rect">
            <a:avLst/>
          </a:prstGeom>
          <a:solidFill>
            <a:schemeClr val="bg1"/>
          </a:solidFill>
          <a:ln>
            <a:solidFill>
              <a:srgbClr val="767AA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78" name="正方形/長方形 77">
            <a:extLst>
              <a:ext uri="{FF2B5EF4-FFF2-40B4-BE49-F238E27FC236}">
                <a16:creationId xmlns:a16="http://schemas.microsoft.com/office/drawing/2014/main" id="{089D7329-2BD7-4806-BD88-723622819511}"/>
              </a:ext>
            </a:extLst>
          </p:cNvPr>
          <p:cNvSpPr/>
          <p:nvPr/>
        </p:nvSpPr>
        <p:spPr>
          <a:xfrm>
            <a:off x="663776" y="5339189"/>
            <a:ext cx="2648450" cy="1034223"/>
          </a:xfrm>
          <a:prstGeom prst="rect">
            <a:avLst/>
          </a:prstGeom>
          <a:solidFill>
            <a:srgbClr val="E9EFF7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0" name="正方形/長方形 9"/>
          <p:cNvSpPr/>
          <p:nvPr/>
        </p:nvSpPr>
        <p:spPr>
          <a:xfrm>
            <a:off x="3553636" y="1740650"/>
            <a:ext cx="2815415" cy="2291138"/>
          </a:xfrm>
          <a:prstGeom prst="rect">
            <a:avLst/>
          </a:prstGeom>
          <a:solidFill>
            <a:schemeClr val="bg1"/>
          </a:solidFill>
          <a:ln>
            <a:solidFill>
              <a:srgbClr val="767AA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8871D641-9A82-42A7-8658-3FA5E3144343}"/>
              </a:ext>
            </a:extLst>
          </p:cNvPr>
          <p:cNvSpPr/>
          <p:nvPr/>
        </p:nvSpPr>
        <p:spPr>
          <a:xfrm>
            <a:off x="3638608" y="2929999"/>
            <a:ext cx="2648450" cy="1034223"/>
          </a:xfrm>
          <a:prstGeom prst="rect">
            <a:avLst/>
          </a:prstGeom>
          <a:solidFill>
            <a:srgbClr val="E9EFF7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5" name="正方形/長方形 14"/>
          <p:cNvSpPr/>
          <p:nvPr/>
        </p:nvSpPr>
        <p:spPr>
          <a:xfrm>
            <a:off x="6531283" y="1740650"/>
            <a:ext cx="2815415" cy="2299542"/>
          </a:xfrm>
          <a:prstGeom prst="rect">
            <a:avLst/>
          </a:prstGeom>
          <a:solidFill>
            <a:schemeClr val="bg1"/>
          </a:solidFill>
          <a:ln>
            <a:solidFill>
              <a:srgbClr val="767AA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26" name="正方形/長方形 25"/>
          <p:cNvSpPr/>
          <p:nvPr/>
        </p:nvSpPr>
        <p:spPr>
          <a:xfrm>
            <a:off x="6531283" y="4153794"/>
            <a:ext cx="2815415" cy="2299542"/>
          </a:xfrm>
          <a:prstGeom prst="rect">
            <a:avLst/>
          </a:prstGeom>
          <a:solidFill>
            <a:schemeClr val="bg1"/>
          </a:solidFill>
          <a:ln>
            <a:solidFill>
              <a:srgbClr val="767AA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65" name="AutoShape 2" descr="「カレンダー アイコン」の画像検索結果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" name="正方形/長方形 10"/>
          <p:cNvSpPr/>
          <p:nvPr/>
        </p:nvSpPr>
        <p:spPr>
          <a:xfrm>
            <a:off x="3563253" y="1750683"/>
            <a:ext cx="2805798" cy="396031"/>
          </a:xfrm>
          <a:prstGeom prst="rect">
            <a:avLst/>
          </a:prstGeom>
          <a:solidFill>
            <a:srgbClr val="24336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3" name="正方形/長方形 12"/>
          <p:cNvSpPr/>
          <p:nvPr/>
        </p:nvSpPr>
        <p:spPr>
          <a:xfrm>
            <a:off x="3603660" y="1781173"/>
            <a:ext cx="154598" cy="348937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2</a:t>
            </a:r>
            <a:endParaRPr kumimoji="1" lang="ja-JP" altLang="en-US" sz="11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3571751" y="2188012"/>
            <a:ext cx="28295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特定の性別・年齢に当てはまる可能性の高いユーザーに絞り込んで広告の出稿が可能です。また、入札単価の調整も出来るため、獲得単価の最適化が可能です。</a:t>
            </a:r>
            <a:endParaRPr lang="en-US" altLang="ja-JP" sz="8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>
              <a:defRPr/>
            </a:pPr>
            <a:endParaRPr lang="en-US" altLang="ja-JP" sz="8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6" name="正方形/長方形 15"/>
          <p:cNvSpPr/>
          <p:nvPr/>
        </p:nvSpPr>
        <p:spPr>
          <a:xfrm>
            <a:off x="6522970" y="1748048"/>
            <a:ext cx="2829501" cy="398667"/>
          </a:xfrm>
          <a:prstGeom prst="rect">
            <a:avLst/>
          </a:prstGeom>
          <a:solidFill>
            <a:srgbClr val="1F4A7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6671853" y="1815575"/>
            <a:ext cx="11721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時間別の最適化</a:t>
            </a:r>
          </a:p>
        </p:txBody>
      </p:sp>
      <p:sp>
        <p:nvSpPr>
          <p:cNvPr id="18" name="正方形/長方形 17"/>
          <p:cNvSpPr/>
          <p:nvPr/>
        </p:nvSpPr>
        <p:spPr>
          <a:xfrm>
            <a:off x="6539595" y="1740650"/>
            <a:ext cx="191023" cy="398667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3</a:t>
            </a:r>
            <a:endParaRPr kumimoji="1" lang="ja-JP" altLang="en-US" sz="11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20" name="正方形/長方形 19"/>
          <p:cNvSpPr/>
          <p:nvPr/>
        </p:nvSpPr>
        <p:spPr>
          <a:xfrm>
            <a:off x="573064" y="4143601"/>
            <a:ext cx="2815415" cy="398667"/>
          </a:xfrm>
          <a:prstGeom prst="rect">
            <a:avLst/>
          </a:prstGeom>
          <a:solidFill>
            <a:srgbClr val="25599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758223" y="4212129"/>
            <a:ext cx="1454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地域別配信の最適化</a:t>
            </a:r>
          </a:p>
        </p:txBody>
      </p:sp>
      <p:sp>
        <p:nvSpPr>
          <p:cNvPr id="22" name="正方形/長方形 21"/>
          <p:cNvSpPr/>
          <p:nvPr/>
        </p:nvSpPr>
        <p:spPr>
          <a:xfrm>
            <a:off x="590607" y="4142419"/>
            <a:ext cx="198735" cy="380176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4</a:t>
            </a:r>
            <a:endParaRPr kumimoji="1" lang="ja-JP" altLang="en-US" sz="11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23" name="正方形/長方形 22"/>
          <p:cNvSpPr/>
          <p:nvPr/>
        </p:nvSpPr>
        <p:spPr>
          <a:xfrm>
            <a:off x="3545322" y="4165563"/>
            <a:ext cx="2840705" cy="398667"/>
          </a:xfrm>
          <a:prstGeom prst="rect">
            <a:avLst/>
          </a:prstGeom>
          <a:solidFill>
            <a:srgbClr val="2D6CB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3730639" y="4238405"/>
            <a:ext cx="1454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デバイス別の最適化</a:t>
            </a:r>
          </a:p>
        </p:txBody>
      </p:sp>
      <p:sp>
        <p:nvSpPr>
          <p:cNvPr id="25" name="正方形/長方形 24"/>
          <p:cNvSpPr/>
          <p:nvPr/>
        </p:nvSpPr>
        <p:spPr>
          <a:xfrm>
            <a:off x="3607399" y="4191619"/>
            <a:ext cx="156258" cy="339542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5</a:t>
            </a:r>
            <a:endParaRPr kumimoji="1" lang="ja-JP" altLang="en-US" sz="11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27" name="正方形/長方形 26"/>
          <p:cNvSpPr/>
          <p:nvPr/>
        </p:nvSpPr>
        <p:spPr>
          <a:xfrm>
            <a:off x="6539597" y="4169877"/>
            <a:ext cx="2815415" cy="398667"/>
          </a:xfrm>
          <a:prstGeom prst="rect">
            <a:avLst/>
          </a:prstGeom>
          <a:solidFill>
            <a:srgbClr val="4D8AD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28" name="テキスト ボックス 27"/>
          <p:cNvSpPr txBox="1"/>
          <p:nvPr/>
        </p:nvSpPr>
        <p:spPr>
          <a:xfrm>
            <a:off x="6685744" y="4232649"/>
            <a:ext cx="17363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オーディエンスの最適化</a:t>
            </a:r>
          </a:p>
        </p:txBody>
      </p:sp>
      <p:sp>
        <p:nvSpPr>
          <p:cNvPr id="29" name="正方形/長方形 28"/>
          <p:cNvSpPr/>
          <p:nvPr/>
        </p:nvSpPr>
        <p:spPr>
          <a:xfrm>
            <a:off x="6540197" y="4153235"/>
            <a:ext cx="198735" cy="398667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6</a:t>
            </a:r>
            <a:endParaRPr kumimoji="1" lang="ja-JP" altLang="en-US" sz="11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46" name="テキスト ボックス 45"/>
          <p:cNvSpPr txBox="1"/>
          <p:nvPr/>
        </p:nvSpPr>
        <p:spPr>
          <a:xfrm>
            <a:off x="650687" y="4608408"/>
            <a:ext cx="26449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市区レベルまでの地域別のデータを集計・設定変更等可能です。地域特性も踏まえた広告配信をすることで</a:t>
            </a:r>
            <a:endParaRPr lang="en-US" altLang="ja-JP" sz="8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>
              <a:defRPr/>
            </a:pPr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最大限の効率化を行っていきます。</a:t>
            </a:r>
          </a:p>
        </p:txBody>
      </p:sp>
      <p:sp>
        <p:nvSpPr>
          <p:cNvPr id="53" name="テキスト ボックス 52"/>
          <p:cNvSpPr txBox="1"/>
          <p:nvPr/>
        </p:nvSpPr>
        <p:spPr>
          <a:xfrm>
            <a:off x="6570382" y="4670267"/>
            <a:ext cx="26760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性別</a:t>
            </a:r>
            <a:r>
              <a:rPr lang="en-US" altLang="ja-JP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,</a:t>
            </a:r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年齢を始めとした属性データに加え、普段の行動に基づいた興味関心傾向をモニタリング（レポート）することが可能です。</a:t>
            </a:r>
            <a:endParaRPr lang="en-US" altLang="ja-JP" sz="8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57" name="テキスト ボックス 56"/>
          <p:cNvSpPr txBox="1"/>
          <p:nvPr/>
        </p:nvSpPr>
        <p:spPr>
          <a:xfrm>
            <a:off x="3595367" y="4615150"/>
            <a:ext cx="26760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マルチデバイス化が進み、デバイスごとの調整が重要になっています。</a:t>
            </a:r>
            <a:r>
              <a:rPr lang="en-US" altLang="ja-JP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PC/</a:t>
            </a:r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タブレット</a:t>
            </a:r>
            <a:r>
              <a:rPr lang="en-US" altLang="ja-JP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/</a:t>
            </a:r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スマートフォンの　</a:t>
            </a:r>
            <a:r>
              <a:rPr lang="en-US" altLang="ja-JP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3</a:t>
            </a:r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種類のデバイスにおいて入札調整が可能です。</a:t>
            </a:r>
          </a:p>
        </p:txBody>
      </p:sp>
      <p:sp>
        <p:nvSpPr>
          <p:cNvPr id="69" name="テキスト ボックス 68"/>
          <p:cNvSpPr txBox="1"/>
          <p:nvPr/>
        </p:nvSpPr>
        <p:spPr>
          <a:xfrm>
            <a:off x="3711446" y="1830074"/>
            <a:ext cx="1031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入札の最適化</a:t>
            </a:r>
          </a:p>
        </p:txBody>
      </p:sp>
      <p:sp>
        <p:nvSpPr>
          <p:cNvPr id="81" name="正方形/長方形 80"/>
          <p:cNvSpPr/>
          <p:nvPr/>
        </p:nvSpPr>
        <p:spPr>
          <a:xfrm>
            <a:off x="671512" y="5514470"/>
            <a:ext cx="165214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例）</a:t>
            </a:r>
            <a:endParaRPr lang="en-US" altLang="ja-JP" sz="8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関東は比較的購買率が良好だが、関西圏では購買率が悪いため、関西圏への投下予算を縮小。</a:t>
            </a:r>
            <a:r>
              <a:rPr lang="en-US" altLang="ja-JP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etc</a:t>
            </a:r>
          </a:p>
        </p:txBody>
      </p:sp>
      <p:sp>
        <p:nvSpPr>
          <p:cNvPr id="82" name="テキスト ボックス 81"/>
          <p:cNvSpPr txBox="1"/>
          <p:nvPr/>
        </p:nvSpPr>
        <p:spPr>
          <a:xfrm>
            <a:off x="6534299" y="2184599"/>
            <a:ext cx="28295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時間帯や曜日別に配信することが可能です。時間帯は</a:t>
            </a:r>
            <a:endParaRPr lang="en-US" altLang="ja-JP" sz="8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>
              <a:defRPr/>
            </a:pPr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時間・分単位で設定することができます。管理画面上で</a:t>
            </a:r>
            <a:endParaRPr lang="en-US" altLang="ja-JP" sz="8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>
              <a:defRPr/>
            </a:pPr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時間別の成果を分析することも可能です。</a:t>
            </a:r>
          </a:p>
        </p:txBody>
      </p:sp>
      <p:sp>
        <p:nvSpPr>
          <p:cNvPr id="84" name="正方形/長方形 83"/>
          <p:cNvSpPr/>
          <p:nvPr/>
        </p:nvSpPr>
        <p:spPr>
          <a:xfrm>
            <a:off x="6609338" y="2914472"/>
            <a:ext cx="2656764" cy="1030665"/>
          </a:xfrm>
          <a:prstGeom prst="rect">
            <a:avLst/>
          </a:prstGeom>
          <a:solidFill>
            <a:srgbClr val="E9EFF7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3" name="正方形/長方形 92"/>
          <p:cNvSpPr/>
          <p:nvPr/>
        </p:nvSpPr>
        <p:spPr>
          <a:xfrm>
            <a:off x="3652606" y="3115575"/>
            <a:ext cx="183373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例）</a:t>
            </a:r>
            <a:endParaRPr lang="en-US" altLang="ja-JP" sz="8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反応がいい</a:t>
            </a:r>
            <a:r>
              <a:rPr lang="en-US" altLang="ja-JP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20</a:t>
            </a:r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代男性のユーザーに対して入札単価を</a:t>
            </a:r>
            <a:r>
              <a:rPr lang="en-US" altLang="ja-JP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200</a:t>
            </a:r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円に引き上げ、配信を強化。</a:t>
            </a:r>
            <a:r>
              <a:rPr lang="en-US" altLang="ja-JP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etc</a:t>
            </a:r>
          </a:p>
          <a:p>
            <a:endParaRPr lang="ja-JP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71" name="正方形/長方形 70">
            <a:extLst>
              <a:ext uri="{FF2B5EF4-FFF2-40B4-BE49-F238E27FC236}">
                <a16:creationId xmlns:a16="http://schemas.microsoft.com/office/drawing/2014/main" id="{CB78BE70-0ED5-4CB2-92F8-3D86847EADFA}"/>
              </a:ext>
            </a:extLst>
          </p:cNvPr>
          <p:cNvSpPr/>
          <p:nvPr/>
        </p:nvSpPr>
        <p:spPr>
          <a:xfrm>
            <a:off x="567373" y="1741831"/>
            <a:ext cx="2815415" cy="2291138"/>
          </a:xfrm>
          <a:prstGeom prst="rect">
            <a:avLst/>
          </a:prstGeom>
          <a:solidFill>
            <a:schemeClr val="bg1"/>
          </a:solidFill>
          <a:ln>
            <a:solidFill>
              <a:srgbClr val="767AA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4ED323A8-A102-4D46-8932-5D8D0D44F851}"/>
              </a:ext>
            </a:extLst>
          </p:cNvPr>
          <p:cNvSpPr/>
          <p:nvPr/>
        </p:nvSpPr>
        <p:spPr>
          <a:xfrm>
            <a:off x="576990" y="1751864"/>
            <a:ext cx="2805798" cy="396031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98D3CB94-0D19-4247-914F-45D2F0F7C097}"/>
              </a:ext>
            </a:extLst>
          </p:cNvPr>
          <p:cNvSpPr txBox="1"/>
          <p:nvPr/>
        </p:nvSpPr>
        <p:spPr>
          <a:xfrm>
            <a:off x="596644" y="2188702"/>
            <a:ext cx="28295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出稿キーワードや設定したターゲティングに対し、費用対効果が見合っているかを都度確認。一定コストをかけた</a:t>
            </a:r>
            <a:endParaRPr lang="en-US" altLang="ja-JP" sz="8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>
              <a:defRPr/>
            </a:pPr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のちの取捨選択判断を適切に行なっていきます。</a:t>
            </a:r>
            <a:endParaRPr lang="en-US" altLang="ja-JP" sz="8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>
              <a:defRPr/>
            </a:pPr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また、運用していく上で見えてきた顧客像から、ターゲティングの変更等を柔軟に実施してきます。</a:t>
            </a:r>
            <a:endParaRPr lang="en-US" altLang="ja-JP" sz="8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>
              <a:defRPr/>
            </a:pPr>
            <a:endParaRPr lang="en-US" altLang="ja-JP" sz="8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74" name="正方形/長方形 73">
            <a:extLst>
              <a:ext uri="{FF2B5EF4-FFF2-40B4-BE49-F238E27FC236}">
                <a16:creationId xmlns:a16="http://schemas.microsoft.com/office/drawing/2014/main" id="{EA1904C0-8140-4053-97DB-5B6E21349E2A}"/>
              </a:ext>
            </a:extLst>
          </p:cNvPr>
          <p:cNvSpPr/>
          <p:nvPr/>
        </p:nvSpPr>
        <p:spPr>
          <a:xfrm>
            <a:off x="647783" y="2929999"/>
            <a:ext cx="2648450" cy="1034223"/>
          </a:xfrm>
          <a:prstGeom prst="rect">
            <a:avLst/>
          </a:prstGeom>
          <a:solidFill>
            <a:srgbClr val="E9EFF7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43FCC41C-9ACC-4D22-A67E-66B90094D60D}"/>
              </a:ext>
            </a:extLst>
          </p:cNvPr>
          <p:cNvSpPr/>
          <p:nvPr/>
        </p:nvSpPr>
        <p:spPr>
          <a:xfrm>
            <a:off x="634744" y="1767764"/>
            <a:ext cx="154598" cy="348937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1</a:t>
            </a:r>
            <a:endParaRPr kumimoji="1" lang="ja-JP" altLang="en-US" sz="11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0C948101-505A-483D-96E5-A5DC82FA3621}"/>
              </a:ext>
            </a:extLst>
          </p:cNvPr>
          <p:cNvSpPr txBox="1"/>
          <p:nvPr/>
        </p:nvSpPr>
        <p:spPr>
          <a:xfrm>
            <a:off x="781911" y="1810205"/>
            <a:ext cx="17363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ターゲティングの最適化</a:t>
            </a:r>
          </a:p>
        </p:txBody>
      </p:sp>
      <p:pic>
        <p:nvPicPr>
          <p:cNvPr id="5" name="図 4" descr="テキスト&#10;&#10;中程度の精度で自動的に生成された説明">
            <a:extLst>
              <a:ext uri="{FF2B5EF4-FFF2-40B4-BE49-F238E27FC236}">
                <a16:creationId xmlns:a16="http://schemas.microsoft.com/office/drawing/2014/main" id="{1DA0F64A-BE1D-4249-80F4-971A39E3F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906" y="3206330"/>
            <a:ext cx="1076334" cy="500523"/>
          </a:xfrm>
          <a:prstGeom prst="rect">
            <a:avLst/>
          </a:prstGeom>
        </p:spPr>
      </p:pic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129F74CB-B443-4F49-A5D3-8E9C985D780C}"/>
              </a:ext>
            </a:extLst>
          </p:cNvPr>
          <p:cNvSpPr/>
          <p:nvPr/>
        </p:nvSpPr>
        <p:spPr>
          <a:xfrm>
            <a:off x="641093" y="3080813"/>
            <a:ext cx="147445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例）</a:t>
            </a:r>
            <a:endParaRPr lang="en-US" altLang="ja-JP" sz="8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「脱毛 クリニック」という部分一致ワードは競合院名の検索ばかりに反応するため、停止。</a:t>
            </a:r>
            <a:r>
              <a:rPr lang="en-US" altLang="ja-JP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etc</a:t>
            </a:r>
            <a:endParaRPr lang="ja-JP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pic>
        <p:nvPicPr>
          <p:cNvPr id="7" name="図 6" descr="ダイアグラム&#10;&#10;自動的に生成された説明">
            <a:extLst>
              <a:ext uri="{FF2B5EF4-FFF2-40B4-BE49-F238E27FC236}">
                <a16:creationId xmlns:a16="http://schemas.microsoft.com/office/drawing/2014/main" id="{E79198F6-741D-47D3-939A-A693BBDE8A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2259" y="3207409"/>
            <a:ext cx="748346" cy="499444"/>
          </a:xfrm>
          <a:prstGeom prst="rect">
            <a:avLst/>
          </a:prstGeom>
        </p:spPr>
      </p:pic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85E57F3F-B552-476E-BA25-E699351BB2F3}"/>
              </a:ext>
            </a:extLst>
          </p:cNvPr>
          <p:cNvSpPr/>
          <p:nvPr/>
        </p:nvSpPr>
        <p:spPr>
          <a:xfrm>
            <a:off x="6677297" y="3154427"/>
            <a:ext cx="201761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例）</a:t>
            </a:r>
            <a:endParaRPr lang="en-US" altLang="ja-JP" sz="8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en-US" altLang="ja-JP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0:00</a:t>
            </a:r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～</a:t>
            </a:r>
            <a:r>
              <a:rPr lang="en-US" altLang="ja-JP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8:00</a:t>
            </a:r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は広告を配信しない。 </a:t>
            </a:r>
            <a:r>
              <a:rPr lang="en-US" altLang="ja-JP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9:00</a:t>
            </a:r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～</a:t>
            </a:r>
            <a:r>
              <a:rPr lang="en-US" altLang="ja-JP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16:00</a:t>
            </a:r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は比較的</a:t>
            </a:r>
            <a:r>
              <a:rPr lang="en-US" altLang="ja-JP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CPA</a:t>
            </a:r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が良い</a:t>
            </a:r>
            <a:endParaRPr lang="en-US" altLang="ja-JP" sz="8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ため、入札価格を強化して配信。</a:t>
            </a:r>
            <a:r>
              <a:rPr lang="en-US" altLang="ja-JP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etc</a:t>
            </a:r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</a:t>
            </a:r>
          </a:p>
        </p:txBody>
      </p:sp>
      <p:pic>
        <p:nvPicPr>
          <p:cNvPr id="55" name="Picture 2" descr="C:\Users\torii-t\Google ドライブ\05b_各種資料作成ツール\画像素材\watch001.png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8836" y="3100728"/>
            <a:ext cx="397605" cy="389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Picture 3" descr="C:\Users\torii-t\Google ドライブ\05b_各種資料作成ツール\画像素材\watch002.png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0099" y="3425400"/>
            <a:ext cx="425981" cy="389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図 8" descr="ノートパソコンで作業をしている人&#10;&#10;中程度の精度で自動的に生成された説明">
            <a:extLst>
              <a:ext uri="{FF2B5EF4-FFF2-40B4-BE49-F238E27FC236}">
                <a16:creationId xmlns:a16="http://schemas.microsoft.com/office/drawing/2014/main" id="{18E7B68A-F900-412D-BB90-1568AAF2E7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0868" y="5694965"/>
            <a:ext cx="749737" cy="475881"/>
          </a:xfrm>
          <a:prstGeom prst="rect">
            <a:avLst/>
          </a:prstGeom>
        </p:spPr>
      </p:pic>
      <p:sp>
        <p:nvSpPr>
          <p:cNvPr id="83" name="正方形/長方形 82">
            <a:extLst>
              <a:ext uri="{FF2B5EF4-FFF2-40B4-BE49-F238E27FC236}">
                <a16:creationId xmlns:a16="http://schemas.microsoft.com/office/drawing/2014/main" id="{507FAB6A-0993-4004-8645-486C126F6437}"/>
              </a:ext>
            </a:extLst>
          </p:cNvPr>
          <p:cNvSpPr/>
          <p:nvPr/>
        </p:nvSpPr>
        <p:spPr>
          <a:xfrm>
            <a:off x="3618582" y="5529306"/>
            <a:ext cx="175786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例）</a:t>
            </a:r>
          </a:p>
          <a:p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多くのユーザーがスマートフォン経由で購入に至る傾向があるため、スマートフォン配信の入札を強化。</a:t>
            </a:r>
            <a:r>
              <a:rPr lang="en-US" altLang="ja-JP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etc</a:t>
            </a:r>
          </a:p>
        </p:txBody>
      </p:sp>
      <p:sp>
        <p:nvSpPr>
          <p:cNvPr id="87" name="正方形/長方形 86">
            <a:extLst>
              <a:ext uri="{FF2B5EF4-FFF2-40B4-BE49-F238E27FC236}">
                <a16:creationId xmlns:a16="http://schemas.microsoft.com/office/drawing/2014/main" id="{4FC099BE-F340-4B3F-A3DF-10A771947742}"/>
              </a:ext>
            </a:extLst>
          </p:cNvPr>
          <p:cNvSpPr/>
          <p:nvPr/>
        </p:nvSpPr>
        <p:spPr>
          <a:xfrm>
            <a:off x="6609338" y="5354369"/>
            <a:ext cx="2648450" cy="1034223"/>
          </a:xfrm>
          <a:prstGeom prst="rect">
            <a:avLst/>
          </a:prstGeom>
          <a:solidFill>
            <a:srgbClr val="E9EFF7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86" name="正方形/長方形 85">
            <a:extLst>
              <a:ext uri="{FF2B5EF4-FFF2-40B4-BE49-F238E27FC236}">
                <a16:creationId xmlns:a16="http://schemas.microsoft.com/office/drawing/2014/main" id="{18A78904-97A5-4CF9-A0B6-A852C242AF9A}"/>
              </a:ext>
            </a:extLst>
          </p:cNvPr>
          <p:cNvSpPr/>
          <p:nvPr/>
        </p:nvSpPr>
        <p:spPr>
          <a:xfrm>
            <a:off x="6685744" y="5529306"/>
            <a:ext cx="188973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例）</a:t>
            </a:r>
          </a:p>
          <a:p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同じ検索ユーザーの中でも外食が</a:t>
            </a:r>
            <a:endParaRPr lang="en-US" altLang="ja-JP" sz="8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多いユーザーほど</a:t>
            </a:r>
            <a:r>
              <a:rPr lang="en-US" altLang="ja-JP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CV</a:t>
            </a:r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が多い傾向の</a:t>
            </a:r>
            <a:endParaRPr lang="en-US" altLang="ja-JP" sz="8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ため、頻繁に外食するユーザーのみ、配信を強化。</a:t>
            </a:r>
            <a:r>
              <a:rPr lang="en-US" altLang="ja-JP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etc</a:t>
            </a:r>
          </a:p>
        </p:txBody>
      </p:sp>
      <p:pic>
        <p:nvPicPr>
          <p:cNvPr id="31" name="図 30" descr="ダイアグラム&#10;&#10;自動的に生成された説明">
            <a:extLst>
              <a:ext uri="{FF2B5EF4-FFF2-40B4-BE49-F238E27FC236}">
                <a16:creationId xmlns:a16="http://schemas.microsoft.com/office/drawing/2014/main" id="{0400050F-356F-4BA9-848C-85DD9BF26C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3416" y="5620541"/>
            <a:ext cx="626483" cy="622071"/>
          </a:xfrm>
          <a:prstGeom prst="rect">
            <a:avLst/>
          </a:prstGeom>
        </p:spPr>
      </p:pic>
      <p:pic>
        <p:nvPicPr>
          <p:cNvPr id="35" name="図 34" descr="マップ&#10;&#10;自動的に生成された説明">
            <a:extLst>
              <a:ext uri="{FF2B5EF4-FFF2-40B4-BE49-F238E27FC236}">
                <a16:creationId xmlns:a16="http://schemas.microsoft.com/office/drawing/2014/main" id="{573B2F8B-11B4-467C-AE93-03CBCA48EC1B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29481" b="11523"/>
          <a:stretch/>
        </p:blipFill>
        <p:spPr>
          <a:xfrm>
            <a:off x="2305533" y="5595926"/>
            <a:ext cx="929707" cy="551601"/>
          </a:xfrm>
          <a:prstGeom prst="rect">
            <a:avLst/>
          </a:prstGeom>
        </p:spPr>
      </p:pic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AC424652-51CB-4937-BE3A-B9FCD2D5A1C6}"/>
              </a:ext>
            </a:extLst>
          </p:cNvPr>
          <p:cNvSpPr/>
          <p:nvPr/>
        </p:nvSpPr>
        <p:spPr>
          <a:xfrm>
            <a:off x="0" y="609600"/>
            <a:ext cx="9906000" cy="3817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anchor="ctr"/>
          <a:lstStyle/>
          <a:p>
            <a:pPr algn="ctr">
              <a:defRPr/>
            </a:pPr>
            <a:r>
              <a:rPr lang="ja-JP" altLang="en-US" sz="2000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rPr>
              <a:t>運用サイクル</a:t>
            </a:r>
          </a:p>
        </p:txBody>
      </p:sp>
      <p:cxnSp>
        <p:nvCxnSpPr>
          <p:cNvPr id="63" name="直線コネクタ 62">
            <a:extLst>
              <a:ext uri="{FF2B5EF4-FFF2-40B4-BE49-F238E27FC236}">
                <a16:creationId xmlns:a16="http://schemas.microsoft.com/office/drawing/2014/main" id="{824A8BB9-730D-45E9-8032-3490BADD9DEB}"/>
              </a:ext>
            </a:extLst>
          </p:cNvPr>
          <p:cNvCxnSpPr>
            <a:cxnSpLocks/>
          </p:cNvCxnSpPr>
          <p:nvPr/>
        </p:nvCxnSpPr>
        <p:spPr>
          <a:xfrm>
            <a:off x="0" y="1390675"/>
            <a:ext cx="9906000" cy="0"/>
          </a:xfrm>
          <a:prstGeom prst="line">
            <a:avLst/>
          </a:prstGeom>
          <a:ln w="19050">
            <a:solidFill>
              <a:schemeClr val="bg1">
                <a:lumMod val="85000"/>
                <a:alpha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84548F76-CBB6-4B71-8315-771FCD917971}"/>
              </a:ext>
            </a:extLst>
          </p:cNvPr>
          <p:cNvSpPr/>
          <p:nvPr/>
        </p:nvSpPr>
        <p:spPr>
          <a:xfrm>
            <a:off x="0" y="971550"/>
            <a:ext cx="9906000" cy="4037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広告管理画面上からは膨大なデータが取得できます。</a:t>
            </a:r>
          </a:p>
          <a:p>
            <a:pPr algn="ctr"/>
            <a:r>
              <a:rPr lang="ja-JP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運用調整を進めていく上で以下シグナルを重視しながら、仮説→検証を繰り返していき効果改善を推し進めていきます。</a:t>
            </a:r>
          </a:p>
        </p:txBody>
      </p:sp>
      <p:sp>
        <p:nvSpPr>
          <p:cNvPr id="3" name="Google Shape;64;p3">
            <a:extLst>
              <a:ext uri="{FF2B5EF4-FFF2-40B4-BE49-F238E27FC236}">
                <a16:creationId xmlns:a16="http://schemas.microsoft.com/office/drawing/2014/main" id="{C1CD7B94-79BB-F9F4-3C9D-856F399F8099}"/>
              </a:ext>
            </a:extLst>
          </p:cNvPr>
          <p:cNvSpPr txBox="1"/>
          <p:nvPr/>
        </p:nvSpPr>
        <p:spPr>
          <a:xfrm>
            <a:off x="501705" y="83613"/>
            <a:ext cx="4451295" cy="387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kumimoji="1" lang="ja-JP" altLang="en-US" sz="1600" spc="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運用サイクル</a:t>
            </a:r>
          </a:p>
        </p:txBody>
      </p:sp>
    </p:spTree>
    <p:extLst>
      <p:ext uri="{BB962C8B-B14F-4D97-AF65-F5344CB8AC3E}">
        <p14:creationId xmlns:p14="http://schemas.microsoft.com/office/powerpoint/2010/main" val="7901635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01;p37"/>
          <p:cNvSpPr/>
          <p:nvPr/>
        </p:nvSpPr>
        <p:spPr>
          <a:xfrm>
            <a:off x="300536" y="841196"/>
            <a:ext cx="5377057" cy="447277"/>
          </a:xfrm>
          <a:prstGeom prst="roundRect">
            <a:avLst>
              <a:gd name="adj" fmla="val 8900"/>
            </a:avLst>
          </a:prstGeom>
          <a:solidFill>
            <a:schemeClr val="dk2"/>
          </a:solidFill>
          <a:ln w="254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ja-JP" sz="1400" b="1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【無償対応】制作可能なデザイン数の目安（3か月単位）</a:t>
            </a:r>
            <a:endParaRPr sz="1400" b="1" i="0" u="none" strike="noStrike" cap="none" dirty="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" name="Google Shape;1102;p37"/>
          <p:cNvSpPr/>
          <p:nvPr/>
        </p:nvSpPr>
        <p:spPr>
          <a:xfrm>
            <a:off x="5698853" y="874212"/>
            <a:ext cx="4284731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ja-JP" sz="1100" b="1" i="0" u="none" strike="noStrike" cap="none">
                <a:solidFill>
                  <a:schemeClr val="dk2"/>
                </a:solidFill>
                <a:latin typeface="Meiryo"/>
                <a:ea typeface="Meiryo"/>
                <a:cs typeface="Meiryo"/>
                <a:sym typeface="Meiryo"/>
              </a:rPr>
              <a:t>月額広告費用に対して手数料率20％をベースとして算出しております。</a:t>
            </a:r>
            <a:endParaRPr sz="1100" b="1" i="0" u="none" strike="noStrike" cap="none" dirty="0">
              <a:solidFill>
                <a:schemeClr val="dk2"/>
              </a:solidFill>
              <a:latin typeface="Meiryo"/>
              <a:ea typeface="Meiryo"/>
              <a:cs typeface="Meiryo"/>
              <a:sym typeface="Meiry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ja-JP" sz="1100" b="1" i="0" u="none" strike="noStrike" cap="none">
                <a:solidFill>
                  <a:srgbClr val="FF0000"/>
                </a:solidFill>
                <a:latin typeface="Meiryo"/>
                <a:ea typeface="Meiryo"/>
                <a:cs typeface="Meiryo"/>
                <a:sym typeface="Meiryo"/>
              </a:rPr>
              <a:t>下記対応本数はあくまで</a:t>
            </a:r>
            <a:r>
              <a:rPr lang="ja-JP" sz="1100" b="1" i="0" u="sng" strike="noStrike" cap="none">
                <a:solidFill>
                  <a:srgbClr val="FF0000"/>
                </a:solidFill>
                <a:latin typeface="Meiryo"/>
                <a:ea typeface="Meiryo"/>
                <a:cs typeface="Meiryo"/>
                <a:sym typeface="Meiryo"/>
              </a:rPr>
              <a:t>上限参考</a:t>
            </a:r>
            <a:r>
              <a:rPr lang="ja-JP" sz="1100" b="1" i="0" u="none" strike="noStrike" cap="none">
                <a:solidFill>
                  <a:schemeClr val="dk2"/>
                </a:solidFill>
                <a:latin typeface="Meiryo"/>
                <a:ea typeface="Meiryo"/>
                <a:cs typeface="Meiryo"/>
                <a:sym typeface="Meiryo"/>
              </a:rPr>
              <a:t>となり、効果により上下します。</a:t>
            </a:r>
            <a:endParaRPr sz="1100" b="1" i="0" u="none" strike="noStrike" cap="none" dirty="0">
              <a:solidFill>
                <a:schemeClr val="dk2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graphicFrame>
        <p:nvGraphicFramePr>
          <p:cNvPr id="4" name="Google Shape;1103;p37"/>
          <p:cNvGraphicFramePr/>
          <p:nvPr/>
        </p:nvGraphicFramePr>
        <p:xfrm>
          <a:off x="562955" y="1496289"/>
          <a:ext cx="3327400" cy="143787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66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3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7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1" i="0" u="none" strike="noStrike" cap="non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運用金額/月</a:t>
                      </a:r>
                      <a:endParaRPr sz="1100" b="1" i="0" u="none" strike="noStrike" cap="none" dirty="0">
                        <a:solidFill>
                          <a:srgbClr val="FFFFFF"/>
                        </a:solidFill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1" i="0" u="none" strike="noStrike" cap="non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付与Pt/期間</a:t>
                      </a:r>
                      <a:endParaRPr sz="1100" b="1" i="0" u="none" strike="noStrike" cap="none" dirty="0">
                        <a:solidFill>
                          <a:srgbClr val="FFFFFF"/>
                        </a:solidFill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¥1,000,000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15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¥3,000,000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45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7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¥5,000,000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75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7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¥10,000,000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150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Google Shape;1104;p37"/>
          <p:cNvSpPr txBox="1"/>
          <p:nvPr/>
        </p:nvSpPr>
        <p:spPr>
          <a:xfrm>
            <a:off x="210938" y="3186537"/>
            <a:ext cx="513414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ja-JP" sz="1200" b="1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▽ご利用イメージ </a:t>
            </a:r>
            <a:r>
              <a:rPr lang="ja-JP" sz="1200" b="1" i="0" u="none" strike="noStrike" cap="none">
                <a:solidFill>
                  <a:srgbClr val="FF0000"/>
                </a:solidFill>
                <a:latin typeface="Meiryo"/>
                <a:ea typeface="Meiryo"/>
                <a:cs typeface="Meiryo"/>
                <a:sym typeface="Meiryo"/>
              </a:rPr>
              <a:t>（※最低３ヶ月~ の契約とさせていただきます）</a:t>
            </a:r>
            <a:endParaRPr sz="1200" b="1" i="0" u="none" strike="noStrike" cap="none" dirty="0">
              <a:solidFill>
                <a:srgbClr val="FF000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graphicFrame>
        <p:nvGraphicFramePr>
          <p:cNvPr id="6" name="Google Shape;1105;p37"/>
          <p:cNvGraphicFramePr/>
          <p:nvPr/>
        </p:nvGraphicFramePr>
        <p:xfrm>
          <a:off x="562957" y="3516283"/>
          <a:ext cx="8543900" cy="24356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0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3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6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84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1" i="0" u="none" strike="noStrike" cap="non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運用金額/月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1" i="0" u="none" strike="noStrike" cap="non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付与Pt/月別</a:t>
                      </a:r>
                      <a:endParaRPr sz="900" b="1" i="0" u="none" strike="noStrike" cap="none" dirty="0">
                        <a:solidFill>
                          <a:srgbClr val="FFFFFF"/>
                        </a:solidFill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1" i="0" u="none" strike="noStrike" cap="non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1ヶ月目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1" i="0" u="none" strike="noStrike" cap="non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2ヶ月目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1" i="0" u="none" strike="noStrike" cap="non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3ヶ月目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1" i="0" u="none" strike="noStrike" cap="non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使用Pt/期間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6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¥1,000,000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5</a:t>
                      </a: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バナー5パターン(5pt)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動画フルスクラッチ(10pt)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なし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FF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15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6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¥1,000,000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5</a:t>
                      </a: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バナー7パターン(7pt)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バナー5パターン(5pt)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バナー3パターン(3pt)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FF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15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6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¥3,000,000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15</a:t>
                      </a: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バナー5パターン(5pt)</a:t>
                      </a:r>
                      <a:b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</a:b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記事LPフルスクラッチ(15pt)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動画フルスクラッチ(10pt)</a:t>
                      </a:r>
                      <a:b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</a:b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記事LP修正(5pt)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バナー5パターン(5pt)</a:t>
                      </a:r>
                      <a:b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</a:b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動画修正(5pt)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FF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45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6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¥5,000,000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25</a:t>
                      </a: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バナー10パターン(10pt)</a:t>
                      </a:r>
                      <a:b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</a:b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記事LPフルスクラッチ(15pt)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バナー10パターン(10pt)</a:t>
                      </a:r>
                      <a:b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</a:b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動画フルスクラッチ(10pt)</a:t>
                      </a:r>
                      <a:b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</a:b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記事LP修正(5pt)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バナー5パターン(5pt)</a:t>
                      </a:r>
                      <a:b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</a:b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記事LPフルスクラッチ(15pt)</a:t>
                      </a:r>
                      <a:b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</a:br>
                      <a:r>
                        <a:rPr lang="ja-JP" sz="9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動画修正(5pt)</a:t>
                      </a:r>
                      <a:endParaRPr sz="1400" u="none" strike="noStrike" cap="none" dirty="0"/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ja-JP" sz="900" b="0" i="0" u="none" strike="noStrike" cap="none">
                          <a:solidFill>
                            <a:srgbClr val="FF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75</a:t>
                      </a:r>
                      <a:endParaRPr sz="900" b="0" i="0" u="none" strike="noStrike" cap="none" dirty="0">
                        <a:solidFill>
                          <a:srgbClr val="FF0000"/>
                        </a:solidFill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L="7475" marR="7475" marT="747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Google Shape;1106;p37"/>
          <p:cNvGraphicFramePr/>
          <p:nvPr/>
        </p:nvGraphicFramePr>
        <p:xfrm>
          <a:off x="4277185" y="1505389"/>
          <a:ext cx="4829700" cy="14287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812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2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5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1" i="0" u="none" strike="noStrike" cap="non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制作メニュー</a:t>
                      </a:r>
                      <a:endParaRPr sz="1100" b="1" i="0" u="none" strike="noStrike" cap="none" dirty="0">
                        <a:solidFill>
                          <a:srgbClr val="FFFFFF"/>
                        </a:solidFill>
                        <a:latin typeface="Meiryo"/>
                        <a:ea typeface="Meiryo"/>
                        <a:cs typeface="Meiryo"/>
                        <a:sym typeface="Meiryo"/>
                      </a:endParaRP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1" i="0" u="none" strike="noStrike" cap="non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備考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1" i="0" u="none" strike="noStrike" cap="none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必要Pt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バナー制作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（リサイズ込）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記事LP制作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（フルスクラッチ）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15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記事LP修正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（パターン複製）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5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動画制作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（フルスクラッチ）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10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動画修正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（リサイズなど）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100" b="0" i="0" u="none" strike="noStrike" cap="none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5</a:t>
                      </a:r>
                      <a:endParaRPr sz="1400" u="none" strike="noStrike" cap="none" dirty="0"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Google Shape;1107;p37"/>
          <p:cNvSpPr/>
          <p:nvPr/>
        </p:nvSpPr>
        <p:spPr>
          <a:xfrm>
            <a:off x="568265" y="6004659"/>
            <a:ext cx="664418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ja-JP" sz="1100" b="1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※ 3ヶ月を1契約期間とし、Pt持ち越しは原則行いません。</a:t>
            </a:r>
            <a:endParaRPr sz="1100" b="1" i="0" u="none" strike="noStrike" cap="none" dirty="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ja-JP" sz="1100" b="1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※ 4ヶ月目以降に関しては、再度ご相談の上で無償対策量を決定いたします。</a:t>
            </a:r>
            <a:endParaRPr sz="1100" b="1" i="0" u="none" strike="noStrike" cap="none" dirty="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1" name="テキスト ボックス 47">
            <a:extLst>
              <a:ext uri="{FF2B5EF4-FFF2-40B4-BE49-F238E27FC236}">
                <a16:creationId xmlns:a16="http://schemas.microsoft.com/office/drawing/2014/main" id="{EEA0A5E5-1C00-480C-A6B5-B757AC55500B}"/>
              </a:ext>
            </a:extLst>
          </p:cNvPr>
          <p:cNvSpPr txBox="1">
            <a:spLocks noChangeArrowheads="1"/>
          </p:cNvSpPr>
          <p:nvPr/>
        </p:nvSpPr>
        <p:spPr>
          <a:xfrm>
            <a:off x="538802" y="131742"/>
            <a:ext cx="707849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ctr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>
              <a:defRPr kumimoji="1" sz="28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>
              <a:defRPr kumimoji="1"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fontAlgn="auto">
              <a:spcBef>
                <a:spcPct val="20000"/>
              </a:spcBef>
              <a:spcAft>
                <a:spcPts val="0"/>
              </a:spcAft>
            </a:pPr>
            <a:r>
              <a:rPr lang="ja-JP" altLang="en-US" sz="1600" b="1" spc="277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charset="0"/>
              </a:rPr>
              <a:t>クリエイティブに関して</a:t>
            </a:r>
          </a:p>
        </p:txBody>
      </p:sp>
    </p:spTree>
    <p:extLst>
      <p:ext uri="{BB962C8B-B14F-4D97-AF65-F5344CB8AC3E}">
        <p14:creationId xmlns:p14="http://schemas.microsoft.com/office/powerpoint/2010/main" val="25390152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A9D71-896C-7AE2-51E3-267E422B7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CF62979-289B-7D31-00DC-E435CBDAA4E1}"/>
              </a:ext>
            </a:extLst>
          </p:cNvPr>
          <p:cNvSpPr txBox="1"/>
          <p:nvPr/>
        </p:nvSpPr>
        <p:spPr>
          <a:xfrm>
            <a:off x="2302379" y="251652"/>
            <a:ext cx="5153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84F379E-92FC-0EFC-0648-4BDEB53E703A}"/>
              </a:ext>
            </a:extLst>
          </p:cNvPr>
          <p:cNvSpPr/>
          <p:nvPr/>
        </p:nvSpPr>
        <p:spPr>
          <a:xfrm>
            <a:off x="0" y="3013501"/>
            <a:ext cx="99567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4000" b="1" spc="30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体制について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2D251B4-EB82-B5D7-B578-6818DEE80171}"/>
              </a:ext>
            </a:extLst>
          </p:cNvPr>
          <p:cNvSpPr/>
          <p:nvPr/>
        </p:nvSpPr>
        <p:spPr>
          <a:xfrm>
            <a:off x="0" y="1134209"/>
            <a:ext cx="3807069" cy="580292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二等辺三角形 4">
            <a:extLst>
              <a:ext uri="{FF2B5EF4-FFF2-40B4-BE49-F238E27FC236}">
                <a16:creationId xmlns:a16="http://schemas.microsoft.com/office/drawing/2014/main" id="{B045B048-0F03-F943-2959-BB4FD6029862}"/>
              </a:ext>
            </a:extLst>
          </p:cNvPr>
          <p:cNvSpPr/>
          <p:nvPr/>
        </p:nvSpPr>
        <p:spPr>
          <a:xfrm>
            <a:off x="3437792" y="1134209"/>
            <a:ext cx="738553" cy="580292"/>
          </a:xfrm>
          <a:prstGeom prst="triangl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CB75F47-2EAD-DED4-5DB6-862B994DCBF5}"/>
              </a:ext>
            </a:extLst>
          </p:cNvPr>
          <p:cNvSpPr txBox="1"/>
          <p:nvPr/>
        </p:nvSpPr>
        <p:spPr>
          <a:xfrm>
            <a:off x="287216" y="1266065"/>
            <a:ext cx="31154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 UI" panose="020B0604030504040204" pitchFamily="50" charset="-128"/>
              </a:rPr>
              <a:t>Chapter.8</a:t>
            </a:r>
            <a:endParaRPr kumimoji="1" lang="ja-JP" altLang="en-US" sz="14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356909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0E416A61-B302-4BF8-8730-14A0C8808ABA}"/>
              </a:ext>
            </a:extLst>
          </p:cNvPr>
          <p:cNvSpPr/>
          <p:nvPr/>
        </p:nvSpPr>
        <p:spPr>
          <a:xfrm>
            <a:off x="0" y="577940"/>
            <a:ext cx="9906000" cy="7935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000" b="1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6E7EFC7D-B7AF-4F5F-A5EE-DC1CF6812281}"/>
              </a:ext>
            </a:extLst>
          </p:cNvPr>
          <p:cNvSpPr/>
          <p:nvPr/>
        </p:nvSpPr>
        <p:spPr>
          <a:xfrm>
            <a:off x="6775971" y="2491815"/>
            <a:ext cx="771526" cy="19244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DCF9FEBC-45F2-4FAC-85EA-6585A7BD003A}"/>
              </a:ext>
            </a:extLst>
          </p:cNvPr>
          <p:cNvSpPr/>
          <p:nvPr/>
        </p:nvSpPr>
        <p:spPr>
          <a:xfrm>
            <a:off x="2183068" y="2490480"/>
            <a:ext cx="771526" cy="19244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5" name="正方形/長方形 134">
            <a:extLst>
              <a:ext uri="{FF2B5EF4-FFF2-40B4-BE49-F238E27FC236}">
                <a16:creationId xmlns:a16="http://schemas.microsoft.com/office/drawing/2014/main" id="{EBAA8CBA-DA12-4557-BF83-1BC8182E34D6}"/>
              </a:ext>
            </a:extLst>
          </p:cNvPr>
          <p:cNvSpPr/>
          <p:nvPr/>
        </p:nvSpPr>
        <p:spPr>
          <a:xfrm>
            <a:off x="4568622" y="5565259"/>
            <a:ext cx="2593112" cy="560932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・バナー制作</a:t>
            </a:r>
            <a:endParaRPr kumimoji="1" lang="en-US" altLang="ja-JP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kumimoji="1" lang="en-US" altLang="ja-JP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LP</a:t>
            </a: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制作</a:t>
            </a:r>
            <a:endParaRPr kumimoji="1" lang="en-US" altLang="ja-JP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・動画制作</a:t>
            </a:r>
            <a:endParaRPr kumimoji="1" lang="en-US" altLang="ja-JP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4" name="正方形/長方形 133">
            <a:extLst>
              <a:ext uri="{FF2B5EF4-FFF2-40B4-BE49-F238E27FC236}">
                <a16:creationId xmlns:a16="http://schemas.microsoft.com/office/drawing/2014/main" id="{0909655E-EBEC-46F0-AA81-70B478469DD0}"/>
              </a:ext>
            </a:extLst>
          </p:cNvPr>
          <p:cNvSpPr/>
          <p:nvPr/>
        </p:nvSpPr>
        <p:spPr>
          <a:xfrm>
            <a:off x="384687" y="5571105"/>
            <a:ext cx="4020630" cy="560932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・運用調整</a:t>
            </a:r>
            <a:endParaRPr kumimoji="1" lang="en-US" altLang="ja-JP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・入稿作業</a:t>
            </a:r>
            <a:endParaRPr kumimoji="1" lang="en-US" altLang="ja-JP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1" name="正方形/長方形 90">
            <a:extLst>
              <a:ext uri="{FF2B5EF4-FFF2-40B4-BE49-F238E27FC236}">
                <a16:creationId xmlns:a16="http://schemas.microsoft.com/office/drawing/2014/main" id="{10A909E8-C5F8-496D-85DA-20041A2AA73B}"/>
              </a:ext>
            </a:extLst>
          </p:cNvPr>
          <p:cNvSpPr/>
          <p:nvPr/>
        </p:nvSpPr>
        <p:spPr>
          <a:xfrm>
            <a:off x="2656404" y="4171951"/>
            <a:ext cx="2091813" cy="560933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・アカウント設計</a:t>
            </a:r>
            <a:endParaRPr kumimoji="1" lang="en-US" altLang="ja-JP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・運用調整</a:t>
            </a:r>
            <a:endParaRPr kumimoji="1" lang="en-US" altLang="ja-JP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・クリエイティブディレクション</a:t>
            </a:r>
            <a:endParaRPr kumimoji="1" lang="en-US" altLang="ja-JP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4" name="正方形/長方形 73">
            <a:extLst>
              <a:ext uri="{FF2B5EF4-FFF2-40B4-BE49-F238E27FC236}">
                <a16:creationId xmlns:a16="http://schemas.microsoft.com/office/drawing/2014/main" id="{35F2DCF1-E97E-4FE4-B996-90411A667116}"/>
              </a:ext>
            </a:extLst>
          </p:cNvPr>
          <p:cNvSpPr/>
          <p:nvPr/>
        </p:nvSpPr>
        <p:spPr>
          <a:xfrm>
            <a:off x="384687" y="3041049"/>
            <a:ext cx="4377813" cy="371471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・本プロモーションの戦略立案 </a:t>
            </a:r>
            <a:r>
              <a:rPr kumimoji="1" lang="en-US" altLang="ja-JP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/ </a:t>
            </a: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方針決定</a:t>
            </a:r>
            <a:endParaRPr kumimoji="1" lang="en-US" altLang="ja-JP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5" name="AutoShape 2" descr="「カレンダー アイコン」の画像検索結果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8ACA091F-F68E-4D01-A5DA-0BECF54D06E7}"/>
              </a:ext>
            </a:extLst>
          </p:cNvPr>
          <p:cNvSpPr/>
          <p:nvPr/>
        </p:nvSpPr>
        <p:spPr>
          <a:xfrm>
            <a:off x="0" y="609600"/>
            <a:ext cx="9906000" cy="3817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000" b="1" i="0" u="none" strike="noStrike" kern="1200" cap="none" spc="6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取り組み体制</a:t>
            </a:r>
          </a:p>
        </p:txBody>
      </p:sp>
      <p:cxnSp>
        <p:nvCxnSpPr>
          <p:cNvPr id="67" name="直線コネクタ 66">
            <a:extLst>
              <a:ext uri="{FF2B5EF4-FFF2-40B4-BE49-F238E27FC236}">
                <a16:creationId xmlns:a16="http://schemas.microsoft.com/office/drawing/2014/main" id="{DF6C7946-652E-4D43-BA1B-BC1C8228D2D8}"/>
              </a:ext>
            </a:extLst>
          </p:cNvPr>
          <p:cNvCxnSpPr>
            <a:cxnSpLocks/>
          </p:cNvCxnSpPr>
          <p:nvPr/>
        </p:nvCxnSpPr>
        <p:spPr>
          <a:xfrm>
            <a:off x="0" y="1390675"/>
            <a:ext cx="9906000" cy="0"/>
          </a:xfrm>
          <a:prstGeom prst="line">
            <a:avLst/>
          </a:prstGeom>
          <a:ln w="19050">
            <a:solidFill>
              <a:schemeClr val="bg1">
                <a:lumMod val="85000"/>
                <a:alpha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9AEF6E63-47A4-4978-9853-A9B3DA58DBC0}"/>
              </a:ext>
            </a:extLst>
          </p:cNvPr>
          <p:cNvSpPr/>
          <p:nvPr/>
        </p:nvSpPr>
        <p:spPr>
          <a:xfrm>
            <a:off x="384687" y="2685704"/>
            <a:ext cx="4377813" cy="352773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広告運用統括</a:t>
            </a: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戦略コンサル</a:t>
            </a:r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DA77D064-C94F-4890-A80B-4336A4D8D89D}"/>
              </a:ext>
            </a:extLst>
          </p:cNvPr>
          <p:cNvSpPr/>
          <p:nvPr/>
        </p:nvSpPr>
        <p:spPr>
          <a:xfrm>
            <a:off x="384687" y="5321352"/>
            <a:ext cx="4020630" cy="26029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運用サポート</a:t>
            </a:r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9552973B-DC8F-48E2-BA86-2FB98F76EB81}"/>
              </a:ext>
            </a:extLst>
          </p:cNvPr>
          <p:cNvSpPr/>
          <p:nvPr/>
        </p:nvSpPr>
        <p:spPr>
          <a:xfrm>
            <a:off x="4568622" y="5315506"/>
            <a:ext cx="2593112" cy="26029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制作</a:t>
            </a:r>
          </a:p>
        </p:txBody>
      </p: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20EFCAE9-2B25-4FEF-BBD9-5EA944752B1D}"/>
              </a:ext>
            </a:extLst>
          </p:cNvPr>
          <p:cNvSpPr/>
          <p:nvPr/>
        </p:nvSpPr>
        <p:spPr>
          <a:xfrm>
            <a:off x="2656404" y="3800529"/>
            <a:ext cx="2091813" cy="37147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SNS</a:t>
            </a: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運用</a:t>
            </a:r>
          </a:p>
        </p:txBody>
      </p:sp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F9310468-21A6-4B66-BC56-CCC5F6874444}"/>
              </a:ext>
            </a:extLst>
          </p:cNvPr>
          <p:cNvSpPr/>
          <p:nvPr/>
        </p:nvSpPr>
        <p:spPr>
          <a:xfrm>
            <a:off x="3606606" y="4813810"/>
            <a:ext cx="2435284" cy="19953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DF922913-1B91-431A-8799-C026700970ED}"/>
              </a:ext>
            </a:extLst>
          </p:cNvPr>
          <p:cNvSpPr/>
          <p:nvPr/>
        </p:nvSpPr>
        <p:spPr>
          <a:xfrm>
            <a:off x="384687" y="1962153"/>
            <a:ext cx="9064113" cy="528326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・貴社担当との連絡やり取り全般</a:t>
            </a:r>
            <a:endParaRPr kumimoji="1" lang="en-US" altLang="ja-JP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・お申込書やご請求書等、契約周りのやり取り</a:t>
            </a:r>
            <a:endParaRPr kumimoji="1" lang="en-US" altLang="ja-JP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・本プロモーションの戦略立案 </a:t>
            </a:r>
            <a:r>
              <a:rPr kumimoji="1" lang="en-US" altLang="ja-JP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/ </a:t>
            </a: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方針決定</a:t>
            </a:r>
            <a:endParaRPr kumimoji="1" lang="en-US" altLang="ja-JP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3" name="正方形/長方形 72">
            <a:extLst>
              <a:ext uri="{FF2B5EF4-FFF2-40B4-BE49-F238E27FC236}">
                <a16:creationId xmlns:a16="http://schemas.microsoft.com/office/drawing/2014/main" id="{36643843-3FE5-430B-B120-9C828A9A4E4D}"/>
              </a:ext>
            </a:extLst>
          </p:cNvPr>
          <p:cNvSpPr/>
          <p:nvPr/>
        </p:nvSpPr>
        <p:spPr>
          <a:xfrm>
            <a:off x="5080512" y="3038476"/>
            <a:ext cx="4368289" cy="374045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・貴社担当との連絡やり取り全般</a:t>
            </a:r>
            <a:endParaRPr kumimoji="1" lang="en-US" altLang="ja-JP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・お申込書やご請求書の作成等、事務面までサポート</a:t>
            </a:r>
            <a:endParaRPr kumimoji="1" lang="en-US" altLang="ja-JP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9FE89FBD-BF37-47F6-A485-903D88526BC1}"/>
              </a:ext>
            </a:extLst>
          </p:cNvPr>
          <p:cNvSpPr/>
          <p:nvPr/>
        </p:nvSpPr>
        <p:spPr>
          <a:xfrm>
            <a:off x="384687" y="1611919"/>
            <a:ext cx="9073638" cy="352773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営業 </a:t>
            </a: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/ </a:t>
            </a: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フロント対応（全体統括）</a:t>
            </a:r>
          </a:p>
        </p:txBody>
      </p:sp>
      <p:sp>
        <p:nvSpPr>
          <p:cNvPr id="80" name="矢印: 下 79">
            <a:extLst>
              <a:ext uri="{FF2B5EF4-FFF2-40B4-BE49-F238E27FC236}">
                <a16:creationId xmlns:a16="http://schemas.microsoft.com/office/drawing/2014/main" id="{93414EB5-833E-4B6F-9C05-5A82DBFCD8B3}"/>
              </a:ext>
            </a:extLst>
          </p:cNvPr>
          <p:cNvSpPr/>
          <p:nvPr/>
        </p:nvSpPr>
        <p:spPr>
          <a:xfrm>
            <a:off x="1011614" y="3412520"/>
            <a:ext cx="837957" cy="388008"/>
          </a:xfrm>
          <a:prstGeom prst="downArrow">
            <a:avLst>
              <a:gd name="adj1" fmla="val 50000"/>
              <a:gd name="adj2" fmla="val 39105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1" name="矢印: 下 80">
            <a:extLst>
              <a:ext uri="{FF2B5EF4-FFF2-40B4-BE49-F238E27FC236}">
                <a16:creationId xmlns:a16="http://schemas.microsoft.com/office/drawing/2014/main" id="{C5898C2B-9033-461D-8A0A-625951E6ECE6}"/>
              </a:ext>
            </a:extLst>
          </p:cNvPr>
          <p:cNvSpPr/>
          <p:nvPr/>
        </p:nvSpPr>
        <p:spPr>
          <a:xfrm>
            <a:off x="3187627" y="3412520"/>
            <a:ext cx="837957" cy="388008"/>
          </a:xfrm>
          <a:prstGeom prst="downArrow">
            <a:avLst>
              <a:gd name="adj1" fmla="val 50000"/>
              <a:gd name="adj2" fmla="val 39105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1469D74A-A48B-4EE7-A468-771807FC99AF}"/>
              </a:ext>
            </a:extLst>
          </p:cNvPr>
          <p:cNvSpPr/>
          <p:nvPr/>
        </p:nvSpPr>
        <p:spPr>
          <a:xfrm>
            <a:off x="384687" y="4171951"/>
            <a:ext cx="2091813" cy="560932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・アカウント設計</a:t>
            </a:r>
            <a:endParaRPr kumimoji="1" lang="en-US" altLang="ja-JP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・運用調整</a:t>
            </a:r>
            <a:endParaRPr kumimoji="1" lang="en-US" altLang="ja-JP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14AE3D69-ECE1-425C-821D-9514146C16D0}"/>
              </a:ext>
            </a:extLst>
          </p:cNvPr>
          <p:cNvSpPr/>
          <p:nvPr/>
        </p:nvSpPr>
        <p:spPr>
          <a:xfrm>
            <a:off x="384687" y="3800529"/>
            <a:ext cx="2091813" cy="37147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リスティング運用</a:t>
            </a:r>
          </a:p>
        </p:txBody>
      </p:sp>
      <p:sp>
        <p:nvSpPr>
          <p:cNvPr id="93" name="矢印: 下 92">
            <a:extLst>
              <a:ext uri="{FF2B5EF4-FFF2-40B4-BE49-F238E27FC236}">
                <a16:creationId xmlns:a16="http://schemas.microsoft.com/office/drawing/2014/main" id="{10539C9A-84F2-493E-87A3-603687A7289E}"/>
              </a:ext>
            </a:extLst>
          </p:cNvPr>
          <p:cNvSpPr/>
          <p:nvPr/>
        </p:nvSpPr>
        <p:spPr>
          <a:xfrm>
            <a:off x="1011613" y="4732883"/>
            <a:ext cx="837957" cy="560932"/>
          </a:xfrm>
          <a:prstGeom prst="downArrow">
            <a:avLst>
              <a:gd name="adj1" fmla="val 50000"/>
              <a:gd name="adj2" fmla="val 29623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4" name="矢印: 下 93">
            <a:extLst>
              <a:ext uri="{FF2B5EF4-FFF2-40B4-BE49-F238E27FC236}">
                <a16:creationId xmlns:a16="http://schemas.microsoft.com/office/drawing/2014/main" id="{DB5EB9E2-E7A1-47CB-BBAF-E3BF8FD997CA}"/>
              </a:ext>
            </a:extLst>
          </p:cNvPr>
          <p:cNvSpPr/>
          <p:nvPr/>
        </p:nvSpPr>
        <p:spPr>
          <a:xfrm>
            <a:off x="3187627" y="4746652"/>
            <a:ext cx="837957" cy="560932"/>
          </a:xfrm>
          <a:prstGeom prst="downArrow">
            <a:avLst>
              <a:gd name="adj1" fmla="val 50000"/>
              <a:gd name="adj2" fmla="val 30982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3" name="矢印: 下 132">
            <a:extLst>
              <a:ext uri="{FF2B5EF4-FFF2-40B4-BE49-F238E27FC236}">
                <a16:creationId xmlns:a16="http://schemas.microsoft.com/office/drawing/2014/main" id="{B849FD0E-FC23-4EDF-A0D3-44E316662AFF}"/>
              </a:ext>
            </a:extLst>
          </p:cNvPr>
          <p:cNvSpPr/>
          <p:nvPr/>
        </p:nvSpPr>
        <p:spPr>
          <a:xfrm>
            <a:off x="5439645" y="4813809"/>
            <a:ext cx="837957" cy="480005"/>
          </a:xfrm>
          <a:prstGeom prst="downArrow">
            <a:avLst>
              <a:gd name="adj1" fmla="val 50000"/>
              <a:gd name="adj2" fmla="val 30982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35181B3B-7215-486E-A45F-1A27D9A313A0}"/>
              </a:ext>
            </a:extLst>
          </p:cNvPr>
          <p:cNvSpPr/>
          <p:nvPr/>
        </p:nvSpPr>
        <p:spPr>
          <a:xfrm>
            <a:off x="5080512" y="2685703"/>
            <a:ext cx="4377813" cy="352773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営業 </a:t>
            </a: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/ </a:t>
            </a: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フロント対応（サブ）</a:t>
            </a:r>
          </a:p>
        </p:txBody>
      </p:sp>
      <p:sp>
        <p:nvSpPr>
          <p:cNvPr id="137" name="正方形/長方形 136">
            <a:extLst>
              <a:ext uri="{FF2B5EF4-FFF2-40B4-BE49-F238E27FC236}">
                <a16:creationId xmlns:a16="http://schemas.microsoft.com/office/drawing/2014/main" id="{5FA12942-71A1-48A4-BC87-97757C5B3EB2}"/>
              </a:ext>
            </a:extLst>
          </p:cNvPr>
          <p:cNvSpPr/>
          <p:nvPr/>
        </p:nvSpPr>
        <p:spPr>
          <a:xfrm>
            <a:off x="7245607" y="4472585"/>
            <a:ext cx="2206784" cy="26029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媒体担当</a:t>
            </a:r>
          </a:p>
        </p:txBody>
      </p:sp>
      <p:sp>
        <p:nvSpPr>
          <p:cNvPr id="138" name="正方形/長方形 137">
            <a:extLst>
              <a:ext uri="{FF2B5EF4-FFF2-40B4-BE49-F238E27FC236}">
                <a16:creationId xmlns:a16="http://schemas.microsoft.com/office/drawing/2014/main" id="{55087800-6208-4E3C-91FB-0077440A00B8}"/>
              </a:ext>
            </a:extLst>
          </p:cNvPr>
          <p:cNvSpPr/>
          <p:nvPr/>
        </p:nvSpPr>
        <p:spPr>
          <a:xfrm>
            <a:off x="7245607" y="4732883"/>
            <a:ext cx="2203194" cy="1393308"/>
          </a:xfrm>
          <a:prstGeom prst="rect">
            <a:avLst/>
          </a:prstGeom>
          <a:noFill/>
          <a:ln w="19050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txBody>
          <a:bodyPr rtlCol="0" anchor="b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メイリオ" pitchFamily="50" charset="-128"/>
              </a:rPr>
              <a:t>各媒体</a:t>
            </a: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メイリオ" pitchFamily="50" charset="-128"/>
              </a:rPr>
              <a:t>1~2</a:t>
            </a:r>
            <a:r>
              <a:rPr kumimoji="1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メイリオ" pitchFamily="50" charset="-128"/>
              </a:rPr>
              <a:t>名ほど</a:t>
            </a:r>
            <a:endParaRPr kumimoji="1" lang="en-US" altLang="ja-JP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メイリオ" pitchFamily="50" charset="-128"/>
            </a:endParaRPr>
          </a:p>
        </p:txBody>
      </p:sp>
      <p:pic>
        <p:nvPicPr>
          <p:cNvPr id="3" name="図 2" descr="ロゴ, アイコン&#10;&#10;自動的に生成された説明">
            <a:extLst>
              <a:ext uri="{FF2B5EF4-FFF2-40B4-BE49-F238E27FC236}">
                <a16:creationId xmlns:a16="http://schemas.microsoft.com/office/drawing/2014/main" id="{E3044091-F452-42DD-A626-70D355490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8687" y="5323520"/>
            <a:ext cx="378896" cy="375287"/>
          </a:xfrm>
          <a:prstGeom prst="rect">
            <a:avLst/>
          </a:prstGeom>
        </p:spPr>
      </p:pic>
      <p:pic>
        <p:nvPicPr>
          <p:cNvPr id="5" name="図 4" descr="アイコン&#10;&#10;自動的に生成された説明">
            <a:extLst>
              <a:ext uri="{FF2B5EF4-FFF2-40B4-BE49-F238E27FC236}">
                <a16:creationId xmlns:a16="http://schemas.microsoft.com/office/drawing/2014/main" id="{FA55F388-9490-48F8-963F-3B8368DBDE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1922" y="5314642"/>
            <a:ext cx="422159" cy="384165"/>
          </a:xfrm>
          <a:prstGeom prst="rect">
            <a:avLst/>
          </a:prstGeom>
        </p:spPr>
      </p:pic>
      <p:pic>
        <p:nvPicPr>
          <p:cNvPr id="7" name="図 6" descr="文字が書かれている&#10;&#10;中程度の精度で自動的に生成された説明">
            <a:extLst>
              <a:ext uri="{FF2B5EF4-FFF2-40B4-BE49-F238E27FC236}">
                <a16:creationId xmlns:a16="http://schemas.microsoft.com/office/drawing/2014/main" id="{1B9257ED-EB52-403B-B632-9738545D55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7577" y="5338818"/>
            <a:ext cx="930088" cy="289842"/>
          </a:xfrm>
          <a:prstGeom prst="rect">
            <a:avLst/>
          </a:prstGeom>
        </p:spPr>
      </p:pic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CB5A1E54-894E-4608-9E6A-105530FEAA49}"/>
              </a:ext>
            </a:extLst>
          </p:cNvPr>
          <p:cNvSpPr/>
          <p:nvPr/>
        </p:nvSpPr>
        <p:spPr>
          <a:xfrm>
            <a:off x="0" y="971550"/>
            <a:ext cx="9906000" cy="4037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各ポジションの役割を明確にし、業務をスムーズに遂行できる体制を組みます。</a:t>
            </a:r>
            <a:endParaRPr kumimoji="1" lang="en-US" altLang="ja-JP" sz="1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必要に応じて、連絡窓口の変更も柔軟に対応いたします。</a:t>
            </a:r>
            <a:endParaRPr kumimoji="1" lang="en-US" altLang="ja-JP" sz="1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4" name="図 3" descr="ロゴ&#10;&#10;自動的に生成された説明">
            <a:extLst>
              <a:ext uri="{FF2B5EF4-FFF2-40B4-BE49-F238E27FC236}">
                <a16:creationId xmlns:a16="http://schemas.microsoft.com/office/drawing/2014/main" id="{DAC8D2DA-EFB0-4614-B57E-C7F0D81D4C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2196" y="4858002"/>
            <a:ext cx="804162" cy="291736"/>
          </a:xfrm>
          <a:prstGeom prst="rect">
            <a:avLst/>
          </a:prstGeom>
        </p:spPr>
      </p:pic>
      <p:pic>
        <p:nvPicPr>
          <p:cNvPr id="8" name="図 7" descr="テキスト, ロゴ&#10;&#10;自動的に生成された説明">
            <a:extLst>
              <a:ext uri="{FF2B5EF4-FFF2-40B4-BE49-F238E27FC236}">
                <a16:creationId xmlns:a16="http://schemas.microsoft.com/office/drawing/2014/main" id="{CC86DD24-6CC0-4170-A4BD-0B8D6715CF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7358" y="4858002"/>
            <a:ext cx="920225" cy="309959"/>
          </a:xfrm>
          <a:prstGeom prst="rect">
            <a:avLst/>
          </a:prstGeom>
        </p:spPr>
      </p:pic>
      <p:sp>
        <p:nvSpPr>
          <p:cNvPr id="2" name="テキスト ボックス 47">
            <a:extLst>
              <a:ext uri="{FF2B5EF4-FFF2-40B4-BE49-F238E27FC236}">
                <a16:creationId xmlns:a16="http://schemas.microsoft.com/office/drawing/2014/main" id="{C9BB91C8-F7FC-83DF-347B-747FF60D460C}"/>
              </a:ext>
            </a:extLst>
          </p:cNvPr>
          <p:cNvSpPr txBox="1">
            <a:spLocks noChangeArrowheads="1"/>
          </p:cNvSpPr>
          <p:nvPr/>
        </p:nvSpPr>
        <p:spPr>
          <a:xfrm>
            <a:off x="548883" y="138118"/>
            <a:ext cx="62763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ctr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>
              <a:defRPr kumimoji="1" sz="28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>
              <a:defRPr kumimoji="1"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ja-JP" altLang="en-US" sz="1600" spc="3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charset="0"/>
              </a:rPr>
              <a:t>体制</a:t>
            </a:r>
            <a:endParaRPr lang="ja-JP" altLang="ja-JP" sz="1600" spc="300" dirty="0">
              <a:latin typeface="メイリオ" panose="020B0604030504040204" pitchFamily="50" charset="-128"/>
              <a:ea typeface="メイリオ" panose="020B0604030504040204" pitchFamily="50" charset="-128"/>
              <a:cs typeface="メイリオ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07232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E07D128-6039-B9DA-B552-F1282481065F}"/>
              </a:ext>
            </a:extLst>
          </p:cNvPr>
          <p:cNvSpPr/>
          <p:nvPr/>
        </p:nvSpPr>
        <p:spPr>
          <a:xfrm>
            <a:off x="0" y="576595"/>
            <a:ext cx="9906000" cy="7935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000" b="1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9" name="図 8" descr="グラフィカル ユーザー インターフェイス&#10;&#10;自動的に生成された説明">
            <a:extLst>
              <a:ext uri="{FF2B5EF4-FFF2-40B4-BE49-F238E27FC236}">
                <a16:creationId xmlns:a16="http://schemas.microsoft.com/office/drawing/2014/main" id="{4164AA97-F92C-42EA-8031-010DB3C48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096" y="3297731"/>
            <a:ext cx="3067760" cy="21352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図 6" descr="テーブル&#10;&#10;自動的に生成された説明">
            <a:extLst>
              <a:ext uri="{FF2B5EF4-FFF2-40B4-BE49-F238E27FC236}">
                <a16:creationId xmlns:a16="http://schemas.microsoft.com/office/drawing/2014/main" id="{1312C4D6-E6D9-4C11-A6EA-A0B3042C53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4973" y="3038428"/>
            <a:ext cx="3067761" cy="212069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5" name="AutoShape 2" descr="「カレンダー アイコン」の画像検索結果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8ACA091F-F68E-4D01-A5DA-0BECF54D06E7}"/>
              </a:ext>
            </a:extLst>
          </p:cNvPr>
          <p:cNvSpPr/>
          <p:nvPr/>
        </p:nvSpPr>
        <p:spPr>
          <a:xfrm>
            <a:off x="0" y="609600"/>
            <a:ext cx="9906000" cy="3817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anchor="ctr"/>
          <a:lstStyle/>
          <a:p>
            <a:pPr algn="ctr">
              <a:defRPr/>
            </a:pPr>
            <a:r>
              <a:rPr lang="ja-JP" altLang="en-US" sz="2000" b="1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報告体制</a:t>
            </a:r>
          </a:p>
        </p:txBody>
      </p:sp>
      <p:cxnSp>
        <p:nvCxnSpPr>
          <p:cNvPr id="67" name="直線コネクタ 66">
            <a:extLst>
              <a:ext uri="{FF2B5EF4-FFF2-40B4-BE49-F238E27FC236}">
                <a16:creationId xmlns:a16="http://schemas.microsoft.com/office/drawing/2014/main" id="{DF6C7946-652E-4D43-BA1B-BC1C8228D2D8}"/>
              </a:ext>
            </a:extLst>
          </p:cNvPr>
          <p:cNvCxnSpPr>
            <a:cxnSpLocks/>
          </p:cNvCxnSpPr>
          <p:nvPr/>
        </p:nvCxnSpPr>
        <p:spPr>
          <a:xfrm>
            <a:off x="0" y="1390675"/>
            <a:ext cx="9906000" cy="0"/>
          </a:xfrm>
          <a:prstGeom prst="line">
            <a:avLst/>
          </a:prstGeom>
          <a:ln w="19050">
            <a:solidFill>
              <a:schemeClr val="bg1">
                <a:lumMod val="85000"/>
                <a:alpha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ED0ED65A-1EF2-4F1B-9818-14975383DBC8}"/>
              </a:ext>
            </a:extLst>
          </p:cNvPr>
          <p:cNvSpPr txBox="1"/>
          <p:nvPr/>
        </p:nvSpPr>
        <p:spPr>
          <a:xfrm>
            <a:off x="5085723" y="5442150"/>
            <a:ext cx="4466264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400" b="1" dirty="0">
                <a:solidFill>
                  <a:schemeClr val="tx2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貴社側でも、進捗確認を週単位で行えるような</a:t>
            </a:r>
            <a:endParaRPr lang="en-US" altLang="ja-JP" sz="1400" b="1" dirty="0">
              <a:solidFill>
                <a:schemeClr val="tx2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400" b="1" dirty="0">
                <a:solidFill>
                  <a:schemeClr val="tx2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報告体制を敷くことも可能です。</a:t>
            </a: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4ED94B01-385E-4CE9-9789-BD679FED8A66}"/>
              </a:ext>
            </a:extLst>
          </p:cNvPr>
          <p:cNvSpPr txBox="1"/>
          <p:nvPr/>
        </p:nvSpPr>
        <p:spPr>
          <a:xfrm>
            <a:off x="350340" y="5442150"/>
            <a:ext cx="4466264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400" b="1" dirty="0">
                <a:solidFill>
                  <a:schemeClr val="tx2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貴社のご要望に応じた形でカスタマイズし、</a:t>
            </a:r>
            <a:endParaRPr lang="en-US" altLang="ja-JP" sz="1400" b="1" dirty="0">
              <a:solidFill>
                <a:schemeClr val="tx2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400" b="1" dirty="0">
                <a:solidFill>
                  <a:schemeClr val="tx2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両社間でスムーズに実績共有できるよう設計</a:t>
            </a:r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8FD33E24-4558-4037-81B4-D25B84C8DC5D}"/>
              </a:ext>
            </a:extLst>
          </p:cNvPr>
          <p:cNvSpPr/>
          <p:nvPr/>
        </p:nvSpPr>
        <p:spPr>
          <a:xfrm>
            <a:off x="350340" y="1661141"/>
            <a:ext cx="4466264" cy="39751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>
                <a:latin typeface="メイリオ" panose="020B0604030504040204" pitchFamily="50" charset="-128"/>
                <a:ea typeface="メイリオ" panose="020B0604030504040204" pitchFamily="50" charset="-128"/>
              </a:rPr>
              <a:t>日次報告レポート</a:t>
            </a:r>
            <a:endParaRPr kumimoji="1" lang="ja-JP" altLang="en-US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F2ABE8BE-5908-4DFB-9527-4D12BCD148B0}"/>
              </a:ext>
            </a:extLst>
          </p:cNvPr>
          <p:cNvSpPr/>
          <p:nvPr/>
        </p:nvSpPr>
        <p:spPr>
          <a:xfrm>
            <a:off x="5089396" y="1661141"/>
            <a:ext cx="4466264" cy="39751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週次報告レポート</a:t>
            </a:r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B2E5BEB0-D1DA-4B88-9430-83449DE8705C}"/>
              </a:ext>
            </a:extLst>
          </p:cNvPr>
          <p:cNvSpPr txBox="1"/>
          <p:nvPr/>
        </p:nvSpPr>
        <p:spPr>
          <a:xfrm>
            <a:off x="1072072" y="2206524"/>
            <a:ext cx="30101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スプレッドシート等を用いて、</a:t>
            </a:r>
            <a:endParaRPr lang="en-US" altLang="ja-JP" sz="11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4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デイリーの実績</a:t>
            </a: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を貴社へ共有。</a:t>
            </a:r>
            <a:endParaRPr lang="en-US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CA462314-2DFD-4030-B021-C4DE72BA3717}"/>
              </a:ext>
            </a:extLst>
          </p:cNvPr>
          <p:cNvSpPr/>
          <p:nvPr/>
        </p:nvSpPr>
        <p:spPr>
          <a:xfrm>
            <a:off x="350340" y="1661497"/>
            <a:ext cx="4466264" cy="4586903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sz="1100" dirty="0">
              <a:solidFill>
                <a:schemeClr val="tx1">
                  <a:lumMod val="85000"/>
                  <a:lumOff val="1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BB5FCD52-F1AF-4164-8B9B-B1BB5791D3C4}"/>
              </a:ext>
            </a:extLst>
          </p:cNvPr>
          <p:cNvSpPr txBox="1"/>
          <p:nvPr/>
        </p:nvSpPr>
        <p:spPr>
          <a:xfrm>
            <a:off x="5258853" y="2196999"/>
            <a:ext cx="41200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月次レポートのフォーマットを</a:t>
            </a:r>
            <a:endParaRPr lang="en-US" altLang="ja-JP" sz="1400" b="1" dirty="0">
              <a:solidFill>
                <a:schemeClr val="tx1">
                  <a:lumMod val="95000"/>
                  <a:lumOff val="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4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週次でも提出</a:t>
            </a:r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・送付可能です。</a:t>
            </a:r>
            <a:endParaRPr lang="ja-JP" altLang="en-US" sz="1400" b="1" u="sng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B779051D-6F11-45C8-9AF1-A8B63090D1AB}"/>
              </a:ext>
            </a:extLst>
          </p:cNvPr>
          <p:cNvSpPr/>
          <p:nvPr/>
        </p:nvSpPr>
        <p:spPr>
          <a:xfrm>
            <a:off x="5089396" y="1661497"/>
            <a:ext cx="4466264" cy="4586903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sz="1100" dirty="0">
              <a:solidFill>
                <a:schemeClr val="tx1">
                  <a:lumMod val="85000"/>
                  <a:lumOff val="1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3" name="図 2" descr="窓, 建物, 座る, ウォーキング が含まれている画像&#10;&#10;自動的に生成された説明">
            <a:extLst>
              <a:ext uri="{FF2B5EF4-FFF2-40B4-BE49-F238E27FC236}">
                <a16:creationId xmlns:a16="http://schemas.microsoft.com/office/drawing/2014/main" id="{8CBD4755-1975-4922-A903-FF2FD458B8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375" y="2674052"/>
            <a:ext cx="4194176" cy="2719877"/>
          </a:xfrm>
          <a:prstGeom prst="rect">
            <a:avLst/>
          </a:prstGeom>
        </p:spPr>
      </p:pic>
      <p:pic>
        <p:nvPicPr>
          <p:cNvPr id="20" name="図 19" descr="窓, 建物, 座る, ウォーキング が含まれている画像&#10;&#10;自動的に生成された説明">
            <a:extLst>
              <a:ext uri="{FF2B5EF4-FFF2-40B4-BE49-F238E27FC236}">
                <a16:creationId xmlns:a16="http://schemas.microsoft.com/office/drawing/2014/main" id="{D1BA4D14-5891-4119-8F11-6B716CFF3DA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Blur/>
                    </a14:imgEffect>
                  </a14:imgLayer>
                </a14:imgProps>
              </a:ext>
            </a:extLst>
          </a:blip>
          <a:srcRect r="76609" b="97224"/>
          <a:stretch/>
        </p:blipFill>
        <p:spPr>
          <a:xfrm>
            <a:off x="460375" y="2674051"/>
            <a:ext cx="981075" cy="75498"/>
          </a:xfrm>
          <a:prstGeom prst="rect">
            <a:avLst/>
          </a:prstGeom>
        </p:spPr>
      </p:pic>
      <p:pic>
        <p:nvPicPr>
          <p:cNvPr id="21" name="図 20" descr="窓, 建物, 座る, ウォーキング が含まれている画像&#10;&#10;自動的に生成された説明">
            <a:extLst>
              <a:ext uri="{FF2B5EF4-FFF2-40B4-BE49-F238E27FC236}">
                <a16:creationId xmlns:a16="http://schemas.microsoft.com/office/drawing/2014/main" id="{217A6E27-41DC-4C59-909D-0038FE64207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Blur/>
                    </a14:imgEffect>
                  </a14:imgLayer>
                </a14:imgProps>
              </a:ext>
            </a:extLst>
          </a:blip>
          <a:srcRect l="31567" t="1375" r="54807" b="94005"/>
          <a:stretch/>
        </p:blipFill>
        <p:spPr>
          <a:xfrm>
            <a:off x="1809749" y="2683285"/>
            <a:ext cx="571501" cy="125653"/>
          </a:xfrm>
          <a:prstGeom prst="rect">
            <a:avLst/>
          </a:prstGeom>
        </p:spPr>
      </p:pic>
      <p:pic>
        <p:nvPicPr>
          <p:cNvPr id="5" name="図 4" descr="カレンダー&#10;&#10;自動的に生成された説明">
            <a:extLst>
              <a:ext uri="{FF2B5EF4-FFF2-40B4-BE49-F238E27FC236}">
                <a16:creationId xmlns:a16="http://schemas.microsoft.com/office/drawing/2014/main" id="{BA69C1FC-1C73-470F-9BA4-8AFBFADC51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8853" y="2700345"/>
            <a:ext cx="3067760" cy="211812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C3FB7097-3916-4469-B7A5-9B0760A444A7}"/>
              </a:ext>
            </a:extLst>
          </p:cNvPr>
          <p:cNvSpPr/>
          <p:nvPr/>
        </p:nvSpPr>
        <p:spPr>
          <a:xfrm>
            <a:off x="0" y="971550"/>
            <a:ext cx="9906000" cy="4037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ご要望に応じた報告体制を敷きます。</a:t>
            </a:r>
            <a:endParaRPr lang="en-US" altLang="ja-JP" sz="10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また必要に応じて、貴社との反響管理環境を設けることも可能です。</a:t>
            </a:r>
            <a:endParaRPr lang="en-US" altLang="ja-JP" sz="10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テキスト ボックス 47">
            <a:extLst>
              <a:ext uri="{FF2B5EF4-FFF2-40B4-BE49-F238E27FC236}">
                <a16:creationId xmlns:a16="http://schemas.microsoft.com/office/drawing/2014/main" id="{F9147576-E12D-B7F2-B336-4EDA87A5A8A0}"/>
              </a:ext>
            </a:extLst>
          </p:cNvPr>
          <p:cNvSpPr txBox="1">
            <a:spLocks noChangeArrowheads="1"/>
          </p:cNvSpPr>
          <p:nvPr/>
        </p:nvSpPr>
        <p:spPr>
          <a:xfrm>
            <a:off x="548883" y="138118"/>
            <a:ext cx="62763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ctr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>
              <a:defRPr kumimoji="1" sz="28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>
              <a:defRPr kumimoji="1"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ja-JP" altLang="en-US" sz="1600" spc="3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charset="0"/>
              </a:rPr>
              <a:t>レポート体制</a:t>
            </a:r>
            <a:endParaRPr lang="ja-JP" altLang="ja-JP" sz="1600" spc="300" dirty="0">
              <a:latin typeface="メイリオ" panose="020B0604030504040204" pitchFamily="50" charset="-128"/>
              <a:ea typeface="メイリオ" panose="020B0604030504040204" pitchFamily="50" charset="-128"/>
              <a:cs typeface="メイリオ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85389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図 18" descr="グラフィカル ユーザー インターフェイス, テキスト, アプリケーション&#10;&#10;自動的に生成された説明">
            <a:extLst>
              <a:ext uri="{FF2B5EF4-FFF2-40B4-BE49-F238E27FC236}">
                <a16:creationId xmlns:a16="http://schemas.microsoft.com/office/drawing/2014/main" id="{AD3297D4-4A28-4297-B737-8B914A9E1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1618" y="4093743"/>
            <a:ext cx="1809750" cy="125773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5" name="図 14" descr="テーブル&#10;&#10;自動的に生成された説明">
            <a:extLst>
              <a:ext uri="{FF2B5EF4-FFF2-40B4-BE49-F238E27FC236}">
                <a16:creationId xmlns:a16="http://schemas.microsoft.com/office/drawing/2014/main" id="{DF4E4E7B-69D2-4E09-9B7D-B9B229B7E9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4172" y="3918635"/>
            <a:ext cx="1809750" cy="124770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7" name="図 16" descr="グラフィカル ユーザー インターフェイス, テキスト, アプリケーション, メール&#10;&#10;自動的に生成された説明">
            <a:extLst>
              <a:ext uri="{FF2B5EF4-FFF2-40B4-BE49-F238E27FC236}">
                <a16:creationId xmlns:a16="http://schemas.microsoft.com/office/drawing/2014/main" id="{EC9E2081-84E9-4FB1-8674-38E9842185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9175" y="3663438"/>
            <a:ext cx="1809751" cy="125429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" name="図 12" descr="グラフィカル ユーザー インターフェイス, アプリケーション, テーブル&#10;&#10;自動的に生成された説明">
            <a:extLst>
              <a:ext uri="{FF2B5EF4-FFF2-40B4-BE49-F238E27FC236}">
                <a16:creationId xmlns:a16="http://schemas.microsoft.com/office/drawing/2014/main" id="{CF3CDF81-18CF-4EAB-96B3-801EE98C71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7944" y="3145495"/>
            <a:ext cx="1812916" cy="125547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図 10" descr="テーブル&#10;&#10;自動的に生成された説明">
            <a:extLst>
              <a:ext uri="{FF2B5EF4-FFF2-40B4-BE49-F238E27FC236}">
                <a16:creationId xmlns:a16="http://schemas.microsoft.com/office/drawing/2014/main" id="{0856CA05-6001-4F5F-A139-8A674E7401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5221" y="2897629"/>
            <a:ext cx="1812916" cy="126309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図 8" descr="グラフィカル ユーザー インターフェイス&#10;&#10;自動的に生成された説明">
            <a:extLst>
              <a:ext uri="{FF2B5EF4-FFF2-40B4-BE49-F238E27FC236}">
                <a16:creationId xmlns:a16="http://schemas.microsoft.com/office/drawing/2014/main" id="{4164AA97-F92C-42EA-8031-010DB3C481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12618" y="3280671"/>
            <a:ext cx="3067760" cy="21352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図 6" descr="テーブル&#10;&#10;自動的に生成された説明">
            <a:extLst>
              <a:ext uri="{FF2B5EF4-FFF2-40B4-BE49-F238E27FC236}">
                <a16:creationId xmlns:a16="http://schemas.microsoft.com/office/drawing/2014/main" id="{1312C4D6-E6D9-4C11-A6EA-A0B3042C53F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6495" y="3021368"/>
            <a:ext cx="3067761" cy="212069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5" name="AutoShape 2" descr="「カレンダー アイコン」の画像検索結果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ED0ED65A-1EF2-4F1B-9818-14975383DBC8}"/>
              </a:ext>
            </a:extLst>
          </p:cNvPr>
          <p:cNvSpPr txBox="1"/>
          <p:nvPr/>
        </p:nvSpPr>
        <p:spPr>
          <a:xfrm>
            <a:off x="5085723" y="5442150"/>
            <a:ext cx="4466264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400" b="1" dirty="0">
                <a:solidFill>
                  <a:schemeClr val="tx2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レポート以外にも必要なデータを報告書にまとめて</a:t>
            </a:r>
            <a:endParaRPr lang="en-US" altLang="ja-JP" sz="1400" b="1" dirty="0">
              <a:solidFill>
                <a:schemeClr val="tx2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400" b="1" dirty="0">
                <a:solidFill>
                  <a:schemeClr val="tx2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整理し、報告</a:t>
            </a: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4ED94B01-385E-4CE9-9789-BD679FED8A66}"/>
              </a:ext>
            </a:extLst>
          </p:cNvPr>
          <p:cNvSpPr txBox="1"/>
          <p:nvPr/>
        </p:nvSpPr>
        <p:spPr>
          <a:xfrm>
            <a:off x="350340" y="5442150"/>
            <a:ext cx="4466264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400" b="1" dirty="0">
                <a:solidFill>
                  <a:schemeClr val="tx2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月間の実績を細かく確認できるレポートを毎月作成、また定例会にて担当が詳細を報告</a:t>
            </a:r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8FD33E24-4558-4037-81B4-D25B84C8DC5D}"/>
              </a:ext>
            </a:extLst>
          </p:cNvPr>
          <p:cNvSpPr/>
          <p:nvPr/>
        </p:nvSpPr>
        <p:spPr>
          <a:xfrm>
            <a:off x="350340" y="1661141"/>
            <a:ext cx="4466264" cy="39751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月次報告</a:t>
            </a: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・定例会</a:t>
            </a:r>
            <a:r>
              <a:rPr kumimoji="1"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kumimoji="1"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</a:t>
            </a:r>
            <a:r>
              <a:rPr kumimoji="1"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kumimoji="1"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回実施予定</a:t>
            </a:r>
            <a:r>
              <a:rPr kumimoji="1"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kumimoji="1" lang="ja-JP" altLang="en-US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F2ABE8BE-5908-4DFB-9527-4D12BCD148B0}"/>
              </a:ext>
            </a:extLst>
          </p:cNvPr>
          <p:cNvSpPr/>
          <p:nvPr/>
        </p:nvSpPr>
        <p:spPr>
          <a:xfrm>
            <a:off x="5089396" y="1661141"/>
            <a:ext cx="4466264" cy="39751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特殊レポート（定例会にて共有）</a:t>
            </a:r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CA462314-2DFD-4030-B021-C4DE72BA3717}"/>
              </a:ext>
            </a:extLst>
          </p:cNvPr>
          <p:cNvSpPr/>
          <p:nvPr/>
        </p:nvSpPr>
        <p:spPr>
          <a:xfrm>
            <a:off x="350340" y="1661497"/>
            <a:ext cx="4466264" cy="4586903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sz="1100" dirty="0">
              <a:solidFill>
                <a:schemeClr val="tx1">
                  <a:lumMod val="85000"/>
                  <a:lumOff val="1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BB5FCD52-F1AF-4164-8B9B-B1BB5791D3C4}"/>
              </a:ext>
            </a:extLst>
          </p:cNvPr>
          <p:cNvSpPr txBox="1"/>
          <p:nvPr/>
        </p:nvSpPr>
        <p:spPr>
          <a:xfrm>
            <a:off x="5085723" y="2196999"/>
            <a:ext cx="446626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月次レポートのフォーマットでは不足するデータや</a:t>
            </a:r>
            <a:endParaRPr lang="en-US" altLang="ja-JP" sz="11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4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実績の振り返り・方針資料を必要に応じて作成</a:t>
            </a:r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し報告。</a:t>
            </a:r>
            <a:endParaRPr lang="ja-JP" altLang="en-US" sz="1400" b="1" u="sng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B779051D-6F11-45C8-9AF1-A8B63090D1AB}"/>
              </a:ext>
            </a:extLst>
          </p:cNvPr>
          <p:cNvSpPr/>
          <p:nvPr/>
        </p:nvSpPr>
        <p:spPr>
          <a:xfrm>
            <a:off x="5089396" y="1661497"/>
            <a:ext cx="4466264" cy="4586903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sz="1100" dirty="0">
              <a:solidFill>
                <a:schemeClr val="tx1">
                  <a:lumMod val="85000"/>
                  <a:lumOff val="1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21" name="図 20" descr="窓, 建物, 座る, ウォーキング が含まれている画像&#10;&#10;自動的に生成された説明">
            <a:extLst>
              <a:ext uri="{FF2B5EF4-FFF2-40B4-BE49-F238E27FC236}">
                <a16:creationId xmlns:a16="http://schemas.microsoft.com/office/drawing/2014/main" id="{217A6E27-41DC-4C59-909D-0038FE642078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artisticBlur/>
                    </a14:imgEffect>
                  </a14:imgLayer>
                </a14:imgProps>
              </a:ext>
            </a:extLst>
          </a:blip>
          <a:srcRect l="31567" t="1375" r="54807" b="94005"/>
          <a:stretch/>
        </p:blipFill>
        <p:spPr>
          <a:xfrm>
            <a:off x="1809749" y="2683285"/>
            <a:ext cx="571501" cy="125653"/>
          </a:xfrm>
          <a:prstGeom prst="rect">
            <a:avLst/>
          </a:prstGeom>
        </p:spPr>
      </p:pic>
      <p:pic>
        <p:nvPicPr>
          <p:cNvPr id="4" name="図 3" descr="グラフィカル ユーザー インターフェイス, アプリケーション, テーブル, Excel&#10;&#10;自動的に生成された説明">
            <a:extLst>
              <a:ext uri="{FF2B5EF4-FFF2-40B4-BE49-F238E27FC236}">
                <a16:creationId xmlns:a16="http://schemas.microsoft.com/office/drawing/2014/main" id="{7DD310ED-03FE-4A7F-B3BD-6FB12FC14C0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0373" y="2787768"/>
            <a:ext cx="3067760" cy="209667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図 7" descr="グラフィカル ユーザー インターフェイス, アプリケーション&#10;&#10;自動的に生成された説明">
            <a:extLst>
              <a:ext uri="{FF2B5EF4-FFF2-40B4-BE49-F238E27FC236}">
                <a16:creationId xmlns:a16="http://schemas.microsoft.com/office/drawing/2014/main" id="{4157D867-9EC6-408E-BE66-2BBEBEF1FE7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77308" y="2707990"/>
            <a:ext cx="1812916" cy="125306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8A475715-D691-41ED-ACD2-FD3B8E891B30}"/>
              </a:ext>
            </a:extLst>
          </p:cNvPr>
          <p:cNvSpPr txBox="1"/>
          <p:nvPr/>
        </p:nvSpPr>
        <p:spPr>
          <a:xfrm>
            <a:off x="548883" y="2206524"/>
            <a:ext cx="4060511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各媒体・広告メニュー単位の細かな</a:t>
            </a:r>
            <a:endParaRPr lang="en-US" altLang="ja-JP" sz="11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4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数値報告書を月次で提出＋定例会の実施。</a:t>
            </a:r>
            <a:endParaRPr lang="en-US" altLang="ja-JP" sz="1100" b="1" dirty="0">
              <a:solidFill>
                <a:srgbClr val="C0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CD69AB4-8BC3-EDE4-06EC-1B3D84290867}"/>
              </a:ext>
            </a:extLst>
          </p:cNvPr>
          <p:cNvSpPr/>
          <p:nvPr/>
        </p:nvSpPr>
        <p:spPr>
          <a:xfrm>
            <a:off x="0" y="576595"/>
            <a:ext cx="9906000" cy="7935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000" b="1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7B168CD-C1AE-8A1E-CFDC-3106A017BCC2}"/>
              </a:ext>
            </a:extLst>
          </p:cNvPr>
          <p:cNvSpPr/>
          <p:nvPr/>
        </p:nvSpPr>
        <p:spPr>
          <a:xfrm>
            <a:off x="0" y="609600"/>
            <a:ext cx="9906000" cy="3817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anchor="ctr"/>
          <a:lstStyle/>
          <a:p>
            <a:pPr algn="ctr">
              <a:defRPr/>
            </a:pPr>
            <a:r>
              <a:rPr lang="ja-JP" altLang="en-US" sz="2000" b="1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報告体制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757D429C-5068-F322-BB19-EE0F784F798A}"/>
              </a:ext>
            </a:extLst>
          </p:cNvPr>
          <p:cNvCxnSpPr>
            <a:cxnSpLocks/>
          </p:cNvCxnSpPr>
          <p:nvPr/>
        </p:nvCxnSpPr>
        <p:spPr>
          <a:xfrm>
            <a:off x="0" y="1390675"/>
            <a:ext cx="9906000" cy="0"/>
          </a:xfrm>
          <a:prstGeom prst="line">
            <a:avLst/>
          </a:prstGeom>
          <a:ln w="19050">
            <a:solidFill>
              <a:schemeClr val="bg1">
                <a:lumMod val="85000"/>
                <a:alpha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68B819F-9CDE-60A7-3FF6-62A6934B006A}"/>
              </a:ext>
            </a:extLst>
          </p:cNvPr>
          <p:cNvSpPr/>
          <p:nvPr/>
        </p:nvSpPr>
        <p:spPr>
          <a:xfrm>
            <a:off x="0" y="971550"/>
            <a:ext cx="9906000" cy="4037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ご要望に応じた報告体制を敷きます。</a:t>
            </a:r>
            <a:endParaRPr lang="en-US" altLang="ja-JP" sz="10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また必要に応じて、貴社との反響管理環境を設けることも可能です。</a:t>
            </a:r>
            <a:endParaRPr lang="en-US" altLang="ja-JP" sz="10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" name="テキスト ボックス 47">
            <a:extLst>
              <a:ext uri="{FF2B5EF4-FFF2-40B4-BE49-F238E27FC236}">
                <a16:creationId xmlns:a16="http://schemas.microsoft.com/office/drawing/2014/main" id="{4657A025-2E82-3724-90EE-CC48DE4ABC62}"/>
              </a:ext>
            </a:extLst>
          </p:cNvPr>
          <p:cNvSpPr txBox="1">
            <a:spLocks noChangeArrowheads="1"/>
          </p:cNvSpPr>
          <p:nvPr/>
        </p:nvSpPr>
        <p:spPr>
          <a:xfrm>
            <a:off x="548883" y="138118"/>
            <a:ext cx="62763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ctr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>
              <a:defRPr kumimoji="1" sz="28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>
              <a:defRPr kumimoji="1"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ja-JP" altLang="en-US" sz="1600" spc="3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charset="0"/>
              </a:rPr>
              <a:t>レポート体制</a:t>
            </a:r>
            <a:endParaRPr lang="ja-JP" altLang="ja-JP" sz="1600" spc="300" dirty="0">
              <a:latin typeface="メイリオ" panose="020B0604030504040204" pitchFamily="50" charset="-128"/>
              <a:ea typeface="メイリオ" panose="020B0604030504040204" pitchFamily="50" charset="-128"/>
              <a:cs typeface="メイリオ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67725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18"/>
          <p:cNvSpPr>
            <a:spLocks noChangeArrowheads="1"/>
          </p:cNvSpPr>
          <p:nvPr/>
        </p:nvSpPr>
        <p:spPr bwMode="auto">
          <a:xfrm>
            <a:off x="1715705" y="5772714"/>
            <a:ext cx="6067864" cy="367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lvl="1">
              <a:spcBef>
                <a:spcPct val="20000"/>
              </a:spcBef>
            </a:pPr>
            <a:r>
              <a:rPr lang="ja-JP" altLang="en-US" sz="814" b="1" dirty="0">
                <a:latin typeface="メイリオ"/>
                <a:ea typeface="メイリオ"/>
                <a:cs typeface="メイリオ"/>
              </a:rPr>
              <a:t>株式会社</a:t>
            </a:r>
            <a:r>
              <a:rPr lang="en-US" altLang="ja-JP" sz="814" b="1" dirty="0">
                <a:latin typeface="メイリオ"/>
                <a:ea typeface="メイリオ"/>
                <a:cs typeface="メイリオ"/>
              </a:rPr>
              <a:t>DYM</a:t>
            </a:r>
            <a:r>
              <a:rPr lang="ja-JP" altLang="en-US" sz="814" b="1" dirty="0">
                <a:latin typeface="メイリオ"/>
                <a:ea typeface="メイリオ"/>
                <a:cs typeface="メイリオ"/>
              </a:rPr>
              <a:t>　〒</a:t>
            </a:r>
            <a:r>
              <a:rPr lang="en-US" altLang="ja-JP" sz="814" b="1" dirty="0">
                <a:latin typeface="メイリオ"/>
                <a:ea typeface="メイリオ"/>
                <a:cs typeface="メイリオ"/>
              </a:rPr>
              <a:t>141-0032</a:t>
            </a:r>
            <a:r>
              <a:rPr lang="ja-JP" altLang="en-US" sz="814" b="1" dirty="0">
                <a:latin typeface="メイリオ"/>
                <a:ea typeface="メイリオ"/>
                <a:cs typeface="メイリオ"/>
              </a:rPr>
              <a:t>　東京都品川区大崎</a:t>
            </a:r>
            <a:r>
              <a:rPr lang="en-US" altLang="ja-JP" sz="814" b="1" dirty="0">
                <a:latin typeface="メイリオ"/>
                <a:ea typeface="メイリオ"/>
                <a:cs typeface="メイリオ"/>
              </a:rPr>
              <a:t>1-11-2</a:t>
            </a:r>
            <a:r>
              <a:rPr lang="ja-JP" altLang="en-US" sz="814" b="1" dirty="0">
                <a:latin typeface="メイリオ"/>
                <a:ea typeface="メイリオ"/>
                <a:cs typeface="メイリオ"/>
              </a:rPr>
              <a:t>　ゲートシティ大崎イーストタワー</a:t>
            </a:r>
            <a:r>
              <a:rPr lang="en-US" altLang="ja-JP" sz="814" b="1" dirty="0">
                <a:latin typeface="メイリオ"/>
                <a:ea typeface="メイリオ"/>
                <a:cs typeface="メイリオ"/>
              </a:rPr>
              <a:t>10</a:t>
            </a:r>
            <a:r>
              <a:rPr lang="ja-JP" altLang="en-US" sz="814" b="1" dirty="0">
                <a:latin typeface="メイリオ"/>
                <a:ea typeface="メイリオ"/>
                <a:cs typeface="メイリオ"/>
              </a:rPr>
              <a:t>階</a:t>
            </a:r>
            <a:endParaRPr lang="en-US" altLang="ja-JP" sz="814" b="1" dirty="0">
              <a:latin typeface="メイリオ"/>
              <a:ea typeface="メイリオ"/>
              <a:cs typeface="メイリオ"/>
            </a:endParaRPr>
          </a:p>
          <a:p>
            <a:pPr lvl="1">
              <a:spcBef>
                <a:spcPct val="20000"/>
              </a:spcBef>
            </a:pPr>
            <a:r>
              <a:rPr lang="en-US" altLang="ja-JP" sz="814" b="1" dirty="0">
                <a:latin typeface="メイリオ"/>
                <a:ea typeface="メイリオ"/>
                <a:cs typeface="メイリオ"/>
              </a:rPr>
              <a:t>TEL: 03-5745-0200</a:t>
            </a:r>
            <a:r>
              <a:rPr lang="ja-JP" altLang="en-US" sz="814" b="1" dirty="0"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14" b="1" dirty="0">
                <a:latin typeface="メイリオ"/>
                <a:ea typeface="メイリオ"/>
                <a:cs typeface="メイリオ"/>
              </a:rPr>
              <a:t>FAX: 03-3779-8720 </a:t>
            </a:r>
            <a:r>
              <a:rPr lang="ja-JP" altLang="en-US" sz="814" b="1" dirty="0"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14" b="1" dirty="0">
                <a:latin typeface="メイリオ"/>
                <a:ea typeface="メイリオ"/>
                <a:cs typeface="メイリオ"/>
              </a:rPr>
              <a:t>http://dym.asia   </a:t>
            </a:r>
            <a:r>
              <a:rPr lang="ja-JP" altLang="en-US" sz="814" b="1" dirty="0">
                <a:latin typeface="メイリオ"/>
                <a:ea typeface="メイリオ"/>
                <a:cs typeface="メイリオ"/>
              </a:rPr>
              <a:t>代表取締役　水谷佑毅</a:t>
            </a:r>
          </a:p>
        </p:txBody>
      </p:sp>
      <p:pic>
        <p:nvPicPr>
          <p:cNvPr id="24" name="図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647" r="-11171"/>
          <a:stretch/>
        </p:blipFill>
        <p:spPr bwMode="auto">
          <a:xfrm>
            <a:off x="632874" y="5838721"/>
            <a:ext cx="1078763" cy="220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テキスト ボックス 2"/>
          <p:cNvSpPr txBox="1"/>
          <p:nvPr/>
        </p:nvSpPr>
        <p:spPr>
          <a:xfrm>
            <a:off x="5067867" y="5554003"/>
            <a:ext cx="184731" cy="2371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ja-JP" altLang="en-US" sz="941"/>
          </a:p>
        </p:txBody>
      </p:sp>
      <p:sp>
        <p:nvSpPr>
          <p:cNvPr id="18" name="正方形/長方形 17"/>
          <p:cNvSpPr/>
          <p:nvPr/>
        </p:nvSpPr>
        <p:spPr>
          <a:xfrm>
            <a:off x="2226199" y="1038910"/>
            <a:ext cx="5453603" cy="393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ja-JP" altLang="en-US" sz="1960" b="1" dirty="0">
                <a:latin typeface="メイリオ" charset="0"/>
                <a:ea typeface="メイリオ" charset="0"/>
                <a:cs typeface="メイリオ" charset="0"/>
              </a:rPr>
              <a:t>貴社の明るい未来に必ず貢献いたします。</a:t>
            </a:r>
          </a:p>
        </p:txBody>
      </p:sp>
      <p:pic>
        <p:nvPicPr>
          <p:cNvPr id="8" name="図 7" descr="講堂にいる人たち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5B96EA89-222D-7EE1-4654-F560D9B96A9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4" t="12017" r="1459" b="1448"/>
          <a:stretch/>
        </p:blipFill>
        <p:spPr>
          <a:xfrm>
            <a:off x="473264" y="2017903"/>
            <a:ext cx="4214295" cy="2539973"/>
          </a:xfrm>
          <a:prstGeom prst="rect">
            <a:avLst/>
          </a:prstGeom>
        </p:spPr>
      </p:pic>
      <p:pic>
        <p:nvPicPr>
          <p:cNvPr id="14" name="図 13" descr="ポーズをとる男性グループ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D48298A5-1C37-819D-EC16-7AFB32FEC8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22" t="20620" r="13252" b="5453"/>
          <a:stretch/>
        </p:blipFill>
        <p:spPr>
          <a:xfrm>
            <a:off x="4661055" y="3366451"/>
            <a:ext cx="1775014" cy="1191427"/>
          </a:xfrm>
          <a:prstGeom prst="rect">
            <a:avLst/>
          </a:prstGeom>
        </p:spPr>
      </p:pic>
      <p:pic>
        <p:nvPicPr>
          <p:cNvPr id="20" name="図 19" descr="人, 屋内, 女性, ボックス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7C8EB868-EEC1-599C-50C4-34233465F84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34" t="3253" r="23882" b="24218"/>
          <a:stretch/>
        </p:blipFill>
        <p:spPr>
          <a:xfrm>
            <a:off x="8076765" y="3352909"/>
            <a:ext cx="1372706" cy="1204968"/>
          </a:xfrm>
          <a:prstGeom prst="rect">
            <a:avLst/>
          </a:prstGeom>
        </p:spPr>
      </p:pic>
      <p:pic>
        <p:nvPicPr>
          <p:cNvPr id="6" name="図 5" descr="スーツを着た男性と文字&#10;&#10;低い精度で自動的に生成された説明">
            <a:extLst>
              <a:ext uri="{FF2B5EF4-FFF2-40B4-BE49-F238E27FC236}">
                <a16:creationId xmlns:a16="http://schemas.microsoft.com/office/drawing/2014/main" id="{DCA0A1E3-BE99-513C-E589-1E8C035070E8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12" r="10622" b="20845"/>
          <a:stretch/>
        </p:blipFill>
        <p:spPr>
          <a:xfrm>
            <a:off x="6410361" y="3333753"/>
            <a:ext cx="1666406" cy="1224125"/>
          </a:xfrm>
          <a:prstGeom prst="rect">
            <a:avLst/>
          </a:prstGeom>
        </p:spPr>
      </p:pic>
      <p:pic>
        <p:nvPicPr>
          <p:cNvPr id="12" name="図 11" descr="並んで立っている数人の人たち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7AA5C9AE-0C20-1FF0-8570-964DF9391EB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4147" y="2017497"/>
            <a:ext cx="2408590" cy="1352022"/>
          </a:xfrm>
          <a:prstGeom prst="rect">
            <a:avLst/>
          </a:prstGeom>
        </p:spPr>
      </p:pic>
      <p:pic>
        <p:nvPicPr>
          <p:cNvPr id="17" name="図 16" descr="白い壁の前に立っている子供たち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3F5A2749-D4AC-2F37-FC68-2734BC439C61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1055" y="2017903"/>
            <a:ext cx="2408591" cy="1355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124959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メイリオ">
      <a:majorFont>
        <a:latin typeface="メイリオ"/>
        <a:ea typeface="メイリオ"/>
        <a:cs typeface=""/>
      </a:majorFont>
      <a:minorFont>
        <a:latin typeface="メイリオ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Bプロモーションのご提案.potx.pptx" id="{3FC551FC-C7A7-4268-A07A-7C6543520743}" vid="{DD85DC60-A8C2-4D3B-8834-8CE9D53FF6D0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WEBプロモーションのご提案</Template>
  <TotalTime>22425</TotalTime>
  <Words>3266</Words>
  <Application>Microsoft Office PowerPoint</Application>
  <PresentationFormat>A4 210 x 297 mm</PresentationFormat>
  <Paragraphs>621</Paragraphs>
  <Slides>41</Slides>
  <Notes>10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41</vt:i4>
      </vt:variant>
    </vt:vector>
  </HeadingPairs>
  <TitlesOfParts>
    <vt:vector size="49" baseType="lpstr">
      <vt:lpstr>Hiragino Sans GB W6</vt:lpstr>
      <vt:lpstr>Meiryo UI</vt:lpstr>
      <vt:lpstr>Meiryo</vt:lpstr>
      <vt:lpstr>Meiryo</vt:lpstr>
      <vt:lpstr>游ゴシック</vt:lpstr>
      <vt:lpstr>Arial</vt:lpstr>
      <vt:lpstr>Calibri</vt:lpstr>
      <vt:lpstr>テーマ1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 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星澤 一磨</dc:creator>
  <cp:lastModifiedBy>殿村 亮太</cp:lastModifiedBy>
  <cp:revision>86</cp:revision>
  <dcterms:created xsi:type="dcterms:W3CDTF">2024-09-04T02:13:33Z</dcterms:created>
  <dcterms:modified xsi:type="dcterms:W3CDTF">2026-07-08T21:37:34Z</dcterms:modified>
</cp:coreProperties>
</file>