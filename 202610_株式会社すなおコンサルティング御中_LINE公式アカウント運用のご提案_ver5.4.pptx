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50.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6"/>
  </p:notesMasterIdLst>
  <p:handoutMasterIdLst>
    <p:handoutMasterId r:id="rId67"/>
  </p:handoutMasterIdLst>
  <p:sldIdLst>
    <p:sldId id="2363" r:id="rId3"/>
    <p:sldId id="2988" r:id="rId4"/>
    <p:sldId id="2972" r:id="rId5"/>
    <p:sldId id="2989" r:id="rId6"/>
    <p:sldId id="2971" r:id="rId7"/>
    <p:sldId id="2975" r:id="rId9"/>
    <p:sldId id="2985" r:id="rId10"/>
    <p:sldId id="3004" r:id="rId11"/>
    <p:sldId id="2976" r:id="rId12"/>
    <p:sldId id="2986" r:id="rId13"/>
    <p:sldId id="2736" r:id="rId14"/>
    <p:sldId id="2979" r:id="rId15"/>
    <p:sldId id="3006" r:id="rId16"/>
    <p:sldId id="3022" r:id="rId17"/>
    <p:sldId id="2908" r:id="rId18"/>
    <p:sldId id="2966" r:id="rId19"/>
    <p:sldId id="3015" r:id="rId20"/>
    <p:sldId id="3013" r:id="rId21"/>
    <p:sldId id="3009" r:id="rId22"/>
    <p:sldId id="3018" r:id="rId23"/>
    <p:sldId id="3010" r:id="rId24"/>
    <p:sldId id="3014" r:id="rId25"/>
    <p:sldId id="3012" r:id="rId26"/>
    <p:sldId id="3017" r:id="rId27"/>
    <p:sldId id="3011" r:id="rId28"/>
    <p:sldId id="2737" r:id="rId29"/>
    <p:sldId id="2563" r:id="rId30"/>
    <p:sldId id="2970" r:id="rId31"/>
    <p:sldId id="2959" r:id="rId32"/>
    <p:sldId id="3025" r:id="rId33"/>
    <p:sldId id="2968" r:id="rId34"/>
    <p:sldId id="2969" r:id="rId35"/>
    <p:sldId id="2957" r:id="rId36"/>
    <p:sldId id="3019" r:id="rId37"/>
    <p:sldId id="2951" r:id="rId38"/>
    <p:sldId id="3023" r:id="rId39"/>
    <p:sldId id="3024" r:id="rId40"/>
    <p:sldId id="2841" r:id="rId41"/>
    <p:sldId id="2734" r:id="rId42"/>
    <p:sldId id="2595" r:id="rId43"/>
    <p:sldId id="2566" r:id="rId44"/>
    <p:sldId id="2915" r:id="rId45"/>
    <p:sldId id="2619" r:id="rId46"/>
    <p:sldId id="2761" r:id="rId47"/>
    <p:sldId id="3021" r:id="rId48"/>
    <p:sldId id="2935" r:id="rId49"/>
    <p:sldId id="2919" r:id="rId50"/>
    <p:sldId id="2519" r:id="rId51"/>
    <p:sldId id="2931" r:id="rId52"/>
    <p:sldId id="2749" r:id="rId53"/>
    <p:sldId id="2950" r:id="rId54"/>
    <p:sldId id="2961" r:id="rId55"/>
    <p:sldId id="2849" r:id="rId56"/>
    <p:sldId id="2904" r:id="rId57"/>
    <p:sldId id="2905" r:id="rId58"/>
    <p:sldId id="2906" r:id="rId59"/>
    <p:sldId id="2907" r:id="rId60"/>
    <p:sldId id="2575" r:id="rId61"/>
    <p:sldId id="2910" r:id="rId62"/>
    <p:sldId id="3007" r:id="rId63"/>
    <p:sldId id="3008" r:id="rId64"/>
    <p:sldId id="1169" r:id="rId6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notesMaster" Target="notesMasters/notesMaster1.xml"/><Relationship Id="rId67" Type="http://schemas.openxmlformats.org/officeDocument/2006/relationships/handoutMaster" Target="handoutMasters/handout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93DA-F068-C7F5-5FEB-7A94DD8867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B680EF-CF86-D787-518D-CA5960A564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DA54E59-6FD5-42C5-308A-B0701935BFB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4931D7D-5F42-F5B5-3683-5A2F0031C5B6}"/>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2180266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966-D000-6EA3-BAC7-8246A8124F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3751AD-7833-5352-F3CD-93BF48718D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713479-1F1B-7F88-B85D-7A35CA4265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D17977F-8BEB-2B1C-1C7A-1D7AA1F0503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427896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E0D83-D1C7-371D-612C-5E2B8A2DC5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24F9AF6-8FF2-E4BE-9495-E434005E97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C3C1C0-5C88-C938-5991-AFEF7FA0B54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6B98213-D486-73D4-8B33-4E68F0DB5A42}"/>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8092732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D4971-08F2-4B39-6251-91FF17C71A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A3A369-82C3-3BA3-1453-124787BB83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260C15-0FB7-94D9-5A66-FACADA45FA2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F967B2E-769F-AAB3-0187-A5DBA3C1F9EE}"/>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655733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EC97-39D9-E5D0-9E35-FF17E8EF288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F0D4AD-6A7D-C0A6-AF78-D64A5A03BC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89205B9-3B2F-6D1D-76E7-8AEC50707A8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A59932D-C299-8379-9E3A-2A2E77C4AB13}"/>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26422842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DA80-4FFC-BE6A-0F8C-9D3C51A14A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3592DA-D539-E02E-8A31-2B4B05FAC6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A2163B-5447-527F-4607-2F8C469E7B2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AEB180-59BA-CD0E-B3CD-681F6E4331A8}"/>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262654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D34F8-D5DE-5179-FB63-ACF6B24F94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ED13EE-96CF-E04C-89AF-5315DD6E5C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A78F30-2C87-75E8-2A08-D40FBB1058E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E083C2-6F16-0966-8829-EE2A75C429A5}"/>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3722534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6C9A2-E4AC-C61B-66CE-46E597D4701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1A5492-F3BD-D4EC-3E43-F8324C031E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25DF75-FC25-81EF-5110-9702A79930C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426DDF-F568-D18F-F35E-DAF91882FDC6}"/>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16523354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41</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52</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jpeg"/><Relationship Id="rId8" Type="http://schemas.openxmlformats.org/officeDocument/2006/relationships/image" Target="../media/image27.jp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hyperlink" Target="https://youtube.com/shorts/0qI4QgrOppQ"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 Id="rId10"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4.png"/><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svg"/><Relationship Id="rId8" Type="http://schemas.openxmlformats.org/officeDocument/2006/relationships/image" Target="../media/image5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2.svg"/><Relationship Id="rId4" Type="http://schemas.openxmlformats.org/officeDocument/2006/relationships/image" Target="../media/image53.svg"/><Relationship Id="rId5" Type="http://schemas.openxmlformats.org/officeDocument/2006/relationships/image" Target="../media/image54.svg"/><Relationship Id="rId6" Type="http://schemas.openxmlformats.org/officeDocument/2006/relationships/image" Target="../media/image55.sv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 Id="rId3" Type="http://schemas.openxmlformats.org/officeDocument/2006/relationships/image" Target="../media/image69.png"/><Relationship Id="rId4" Type="http://schemas.openxmlformats.org/officeDocument/2006/relationships/image" Target="../media/image7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emf"/><Relationship Id="rId4" Type="http://schemas.openxmlformats.org/officeDocument/2006/relationships/image" Target="../media/image71.jpeg"/><Relationship Id="rId5" Type="http://schemas.openxmlformats.org/officeDocument/2006/relationships/image" Target="../media/image72.jpeg"/><Relationship Id="rId6" Type="http://schemas.openxmlformats.org/officeDocument/2006/relationships/image" Target="../media/image73.jpeg"/><Relationship Id="rId7" Type="http://schemas.openxmlformats.org/officeDocument/2006/relationships/image" Target="../media/image74.jpeg"/><Relationship Id="rId8" Type="http://schemas.openxmlformats.org/officeDocument/2006/relationships/image" Target="../media/image7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広告で集めた方をLINEでナーチャリングをし、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セミナー参加・入会へ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2808841"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現状ステータスの整理</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5" y="2249778"/>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97616"/>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7" y="2262194"/>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広告からサロン入会まで8フェーズの動線を可視化し、各フェーズで発生する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離脱要因とLINE施策の打ち手を整理する。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94042"/>
            <a:ext cx="9425943" cy="154590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ターゲット</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：保険営業の方の営業力向上を目的としたセミナー・サロン</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商材・サービス</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 </a:t>
            </a:r>
            <a:r>
              <a:rPr lang="ja-JP" altLang="en-US" sz="1200" dirty="0">
                <a:solidFill>
                  <a:schemeClr val="tx1"/>
                </a:solidFill>
                <a:latin typeface="メイリオ" panose="020B0604030504040204" pitchFamily="50" charset="-128"/>
                <a:ea typeface="メイリオ" panose="020B0604030504040204" pitchFamily="50" charset="-128"/>
                <a:cs typeface="メイリオ"/>
              </a:rPr>
              <a:t>：イベントとイベントの間の時期は、接点が切れやすい</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en-US" altLang="ja-JP" sz="1200" b="1" dirty="0" err="1">
                <a:solidFill>
                  <a:schemeClr val="tx1"/>
                </a:solidFill>
                <a:latin typeface="メイリオ" panose="020B0604030504040204" pitchFamily="50" charset="-128"/>
                <a:ea typeface="メイリオ" panose="020B0604030504040204" pitchFamily="50" charset="-128"/>
                <a:cs typeface="メイリオ"/>
              </a:rPr>
              <a:t>広告</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a:t>
            </a:r>
            <a:r>
              <a:rPr lang="en-US" altLang="ja-JP" sz="1200" dirty="0">
                <a:solidFill>
                  <a:schemeClr val="tx1"/>
                </a:solidFill>
                <a:latin typeface="メイリオ" panose="020B0604030504040204" pitchFamily="50" charset="-128"/>
                <a:ea typeface="メイリオ" panose="020B0604030504040204" pitchFamily="50" charset="-128"/>
                <a:cs typeface="メイリオ"/>
              </a:rPr>
              <a:t> </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セミナー予約</a:t>
            </a:r>
            <a:r>
              <a:rPr lang="ja-JP" altLang="en-US" sz="1200" dirty="0">
                <a:solidFill>
                  <a:schemeClr val="tx1"/>
                </a:solidFill>
                <a:latin typeface="メイリオ" panose="020B0604030504040204" pitchFamily="50" charset="-128"/>
                <a:ea typeface="メイリオ" panose="020B0604030504040204" pitchFamily="50" charset="-128"/>
                <a:cs typeface="メイリオ"/>
              </a:rPr>
              <a:t>者</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を集めている</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という特性から、</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4" y="2496774"/>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p:cNvCxnSpPr>
          <p:nvPr/>
        </p:nvCxnSpPr>
        <p:spPr>
          <a:xfrm rot="5400000" flipH="1" flipV="1">
            <a:off x="4264071" y="2454256"/>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4" y="2498472"/>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714703"/>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離脱・停滞の課題</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R="73152"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離脱防止ポップアップを表示</a:t>
                      </a:r>
                    </a:p>
                  </a:txBody>
                  <a:tcPr marR="73152"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次の案内を届ける手段が無い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R="73152"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R="73152"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サンクスLINE誘導・前日の案内</a:t>
                      </a:r>
                    </a:p>
                  </a:txBody>
                  <a:tcPr marR="73152"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R="73152"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次のイベントまで接点が無い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月2回の配信で次のイベントへ</a:t>
                      </a:r>
                    </a:p>
                  </a:txBody>
                  <a:tcPr marR="73152"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R="73152"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入会後、LINEの接点が切れる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次のイベントの案内・紹介</a:t>
                      </a:r>
                    </a:p>
                  </a:txBody>
                  <a:tcPr marR="73152"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81件・CPA 26,043円）。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申し込まずに離れた方を、次のイベントまで案内する手段が無い。</a:t>
            </a:r>
            <a:endParaRPr lang="en-US" altLang="ja-JP" sz="105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参加して入会していない方へ、</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入会まで案内を続ける手段が無い状況。</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リード保有数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約2,760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約211万円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Facebookグループ</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81件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Tree>
    <p:extLst>
      <p:ext uri="{BB962C8B-B14F-4D97-AF65-F5344CB8AC3E}">
        <p14:creationId xmlns:p14="http://schemas.microsoft.com/office/powerpoint/2010/main" val="2378484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1" name="正方形/長方形 10">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3" name="正方形/長方形 12">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cxnSp>
        <p:nvCxnSpPr>
          <p:cNvPr id="15" name="直線矢印コネクタ 14">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7F3169DD-B4D2-C3B3-E898-796DA8E0ABBE}"/>
              </a:ext>
            </a:extLst>
          </p:cNvPr>
          <p:cNvSpPr/>
          <p:nvPr/>
        </p:nvSpPr>
        <p:spPr>
          <a:xfrm>
            <a:off x="5182016"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9" name="図 8" descr="LINE公式アカウントのロゴを活用しよう！注意点やNG例も合わせて解説 - LINEマーケティングツールFANVO">
            <a:extLst>
              <a:ext uri="{FF2B5EF4-FFF2-40B4-BE49-F238E27FC236}">
                <a16:creationId xmlns:a16="http://schemas.microsoft.com/office/drawing/2014/main" id="{7499D9A1-145E-E266-83BC-3570D5C46C13}"/>
              </a:ext>
            </a:extLst>
          </p:cNvPr>
          <p:cNvPicPr>
            <a:picLocks noChangeAspect="1"/>
          </p:cNvPicPr>
          <p:nvPr/>
        </p:nvPicPr>
        <p:blipFill>
          <a:blip r:embed="rId3"/>
          <a:stretch>
            <a:fillRect/>
          </a:stretch>
        </p:blipFill>
        <p:spPr>
          <a:xfrm>
            <a:off x="4972346" y="1415224"/>
            <a:ext cx="419340" cy="418460"/>
          </a:xfrm>
          <a:prstGeom prst="rect">
            <a:avLst/>
          </a:prstGeom>
        </p:spPr>
      </p:pic>
      <p:sp>
        <p:nvSpPr>
          <p:cNvPr id="12" name="テキスト ボックス 11">
            <a:extLst>
              <a:ext uri="{FF2B5EF4-FFF2-40B4-BE49-F238E27FC236}">
                <a16:creationId xmlns:a16="http://schemas.microsoft.com/office/drawing/2014/main" id="{D510765C-D91E-3EF4-4A1A-9BF832DC8A4C}"/>
              </a:ext>
            </a:extLst>
          </p:cNvPr>
          <p:cNvSpPr txBox="1"/>
          <p:nvPr/>
        </p:nvSpPr>
        <p:spPr>
          <a:xfrm>
            <a:off x="5301604"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2D224931-6ECA-9763-63E9-7DD9B080E440}"/>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四角形: 角を丸くする 9">
            <a:extLst>
              <a:ext uri="{FF2B5EF4-FFF2-40B4-BE49-F238E27FC236}">
                <a16:creationId xmlns:a16="http://schemas.microsoft.com/office/drawing/2014/main" id="{F6D71787-DACF-D927-0AC0-7D5E99A64F29}"/>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9" name="四角形: 角を丸くする 18">
            <a:extLst>
              <a:ext uri="{FF2B5EF4-FFF2-40B4-BE49-F238E27FC236}">
                <a16:creationId xmlns:a16="http://schemas.microsoft.com/office/drawing/2014/main" id="{FCA279C4-C296-61EC-C9D3-DAE41B033D78}"/>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cs typeface="メイリオ"/>
              </a:rPr>
              <a:t>お金周り</a:t>
            </a:r>
          </a:p>
        </p:txBody>
      </p:sp>
      <p:sp>
        <p:nvSpPr>
          <p:cNvPr id="25" name="四角形: 角を丸くする 24">
            <a:extLst>
              <a:ext uri="{FF2B5EF4-FFF2-40B4-BE49-F238E27FC236}">
                <a16:creationId xmlns:a16="http://schemas.microsoft.com/office/drawing/2014/main" id="{F1163350-C485-703A-6504-08D7D75EE71A}"/>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7" name="四角形: 角を丸くする 26">
            <a:extLst>
              <a:ext uri="{FF2B5EF4-FFF2-40B4-BE49-F238E27FC236}">
                <a16:creationId xmlns:a16="http://schemas.microsoft.com/office/drawing/2014/main" id="{575B5195-33B9-6FF0-63AF-D3B0017CCCC2}"/>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6" name="差し込み 前後検索の画像"/>
          <p:cNvSpPr/>
          <p:nvPr/>
        </p:nvSpPr>
        <p:spPr>
          <a:xfrm>
            <a:off x="1312605" y="1893604"/>
            <a:ext cx="7223640" cy="4213792"/>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38123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3BA2-CF45-0DF9-CBDD-A5830E2CF0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F42532B-D77B-6AC3-A328-689E2FC45F9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5D33EAB5-3104-05B5-E501-BBD7DE6AC9F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6F2AE0B-CB02-A8CD-4FB4-B3F45A0A747C}"/>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BA92233F-6BFD-0359-EEDA-BE51C1C483C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8F8E1B34-1AC7-E92D-4681-D5F6A71CFBF4}"/>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9E5C2B4-5B91-6669-DA9D-9C6100822D8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F784DCA2-0206-476A-CC2D-15EA1A5F9515}"/>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3" name="正方形/長方形 12">
            <a:extLst>
              <a:ext uri="{FF2B5EF4-FFF2-40B4-BE49-F238E27FC236}">
                <a16:creationId xmlns:a16="http://schemas.microsoft.com/office/drawing/2014/main" id="{61C146B2-09C1-EAF2-AA90-D6921017547B}"/>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6" name="正方形/長方形 15">
            <a:extLst>
              <a:ext uri="{FF2B5EF4-FFF2-40B4-BE49-F238E27FC236}">
                <a16:creationId xmlns:a16="http://schemas.microsoft.com/office/drawing/2014/main" id="{59D3B460-577D-4DA5-3627-A3FE3F8ED9DC}"/>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8" name="テキスト ボックス 17">
            <a:extLst>
              <a:ext uri="{FF2B5EF4-FFF2-40B4-BE49-F238E27FC236}">
                <a16:creationId xmlns:a16="http://schemas.microsoft.com/office/drawing/2014/main" id="{D8D61203-B4E8-EA26-11E7-042F4CC7854D}"/>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63FD9650-CF2E-C04B-71DA-C5C32192D256}"/>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1" name="四角形: 角を丸くする 10">
            <a:extLst>
              <a:ext uri="{FF2B5EF4-FFF2-40B4-BE49-F238E27FC236}">
                <a16:creationId xmlns:a16="http://schemas.microsoft.com/office/drawing/2014/main" id="{9698CAAA-C7D0-DE8C-1937-135259153DF5}"/>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5" name="四角形: 角を丸くする 14">
            <a:extLst>
              <a:ext uri="{FF2B5EF4-FFF2-40B4-BE49-F238E27FC236}">
                <a16:creationId xmlns:a16="http://schemas.microsoft.com/office/drawing/2014/main" id="{D484CC40-8F93-841D-9C65-D77C9FDB28E9}"/>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お金周り</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四角形: 角を丸くする 18">
            <a:extLst>
              <a:ext uri="{FF2B5EF4-FFF2-40B4-BE49-F238E27FC236}">
                <a16:creationId xmlns:a16="http://schemas.microsoft.com/office/drawing/2014/main" id="{14477AFE-E2AB-A03A-8102-B7565C7E8967}"/>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四角形: 角を丸くする 22">
            <a:extLst>
              <a:ext uri="{FF2B5EF4-FFF2-40B4-BE49-F238E27FC236}">
                <a16:creationId xmlns:a16="http://schemas.microsoft.com/office/drawing/2014/main" id="{9E775032-FD1B-EA57-EF1F-2E939977DBF0}"/>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34" name="正方形/長方形 133">
            <a:extLst>
              <a:ext uri="{FF2B5EF4-FFF2-40B4-BE49-F238E27FC236}">
                <a16:creationId xmlns:a16="http://schemas.microsoft.com/office/drawing/2014/main" id="{E1DBE2B9-1B8A-7D74-6827-B277538B2E74}"/>
              </a:ext>
            </a:extLst>
          </p:cNvPr>
          <p:cNvSpPr/>
          <p:nvPr/>
        </p:nvSpPr>
        <p:spPr>
          <a:xfrm>
            <a:off x="5173309"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36" name="図 135" descr="LINE公式アカウントのロゴを活用しよう！注意点やNG例も合わせて解説 - LINEマーケティングツールFANVO">
            <a:extLst>
              <a:ext uri="{FF2B5EF4-FFF2-40B4-BE49-F238E27FC236}">
                <a16:creationId xmlns:a16="http://schemas.microsoft.com/office/drawing/2014/main" id="{7292D2B2-006C-20F1-069A-EA07DB9040FF}"/>
              </a:ext>
            </a:extLst>
          </p:cNvPr>
          <p:cNvPicPr>
            <a:picLocks noChangeAspect="1"/>
          </p:cNvPicPr>
          <p:nvPr/>
        </p:nvPicPr>
        <p:blipFill>
          <a:blip r:embed="rId3"/>
          <a:stretch>
            <a:fillRect/>
          </a:stretch>
        </p:blipFill>
        <p:spPr>
          <a:xfrm>
            <a:off x="4963639" y="1415224"/>
            <a:ext cx="419340" cy="418460"/>
          </a:xfrm>
          <a:prstGeom prst="rect">
            <a:avLst/>
          </a:prstGeom>
        </p:spPr>
      </p:pic>
      <p:sp>
        <p:nvSpPr>
          <p:cNvPr id="138" name="テキスト ボックス 137">
            <a:extLst>
              <a:ext uri="{FF2B5EF4-FFF2-40B4-BE49-F238E27FC236}">
                <a16:creationId xmlns:a16="http://schemas.microsoft.com/office/drawing/2014/main" id="{3825EFF3-DD91-80CA-5C34-6956639E0AF6}"/>
              </a:ext>
            </a:extLst>
          </p:cNvPr>
          <p:cNvSpPr txBox="1"/>
          <p:nvPr/>
        </p:nvSpPr>
        <p:spPr>
          <a:xfrm>
            <a:off x="5319022"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9" name="差し込み 前後検索の画像"/>
          <p:cNvSpPr/>
          <p:nvPr/>
        </p:nvSpPr>
        <p:spPr>
          <a:xfrm>
            <a:off x="1386465" y="1895415"/>
            <a:ext cx="7152121" cy="417206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267346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45661-D170-7F4D-B8A8-8C3B4D5EF47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F2A605-8BE9-543D-C379-8ADC172A2B5B}"/>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7FB6EC3-4D6F-6C45-86B8-DAD6CBB0E53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72B83C2C-8DD1-B131-625E-DC1B80BAE95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F9E4E4A3-0061-C7DF-4A07-669885EC904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 name="Card1_Title">
            <a:extLst>
              <a:ext uri="{FF2B5EF4-FFF2-40B4-BE49-F238E27FC236}">
                <a16:creationId xmlns:a16="http://schemas.microsoft.com/office/drawing/2014/main" id="{8E31DAD6-1621-DBDA-E670-9EC6437B61A2}"/>
              </a:ext>
            </a:extLst>
          </p:cNvPr>
          <p:cNvSpPr txBox="1"/>
          <p:nvPr/>
        </p:nvSpPr>
        <p:spPr>
          <a:xfrm>
            <a:off x="441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検索「前」クエリ（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7" name="Card1_Body">
            <a:extLst>
              <a:ext uri="{FF2B5EF4-FFF2-40B4-BE49-F238E27FC236}">
                <a16:creationId xmlns:a16="http://schemas.microsoft.com/office/drawing/2014/main" id="{D3A10FAB-A215-96CD-4586-4D95A31E157D}"/>
              </a:ext>
            </a:extLst>
          </p:cNvPr>
          <p:cNvSpPr txBox="1"/>
          <p:nvPr/>
        </p:nvSpPr>
        <p:spPr>
          <a:xfrm>
            <a:off x="441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Card2_Title">
            <a:extLst>
              <a:ext uri="{FF2B5EF4-FFF2-40B4-BE49-F238E27FC236}">
                <a16:creationId xmlns:a16="http://schemas.microsoft.com/office/drawing/2014/main" id="{AF3F627C-CA5A-EA6E-EB31-14D66576A08E}"/>
              </a:ext>
            </a:extLst>
          </p:cNvPr>
          <p:cNvSpPr txBox="1"/>
          <p:nvPr/>
        </p:nvSpPr>
        <p:spPr>
          <a:xfrm>
            <a:off x="3553460" y="1709511"/>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検索「起点」（</a:t>
            </a:r>
            <a:r>
              <a:rPr kumimoji="0" lang="en-US" altLang="ja-JP"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0</a:t>
            </a: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11" name="Card2_Body">
            <a:extLst>
              <a:ext uri="{FF2B5EF4-FFF2-40B4-BE49-F238E27FC236}">
                <a16:creationId xmlns:a16="http://schemas.microsoft.com/office/drawing/2014/main" id="{071EA822-5DE7-F7FC-CE53-C2441B6BA07A}"/>
              </a:ext>
            </a:extLst>
          </p:cNvPr>
          <p:cNvSpPr txBox="1"/>
          <p:nvPr/>
        </p:nvSpPr>
        <p:spPr>
          <a:xfrm>
            <a:off x="35534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5" name="Card3_Title">
            <a:extLst>
              <a:ext uri="{FF2B5EF4-FFF2-40B4-BE49-F238E27FC236}">
                <a16:creationId xmlns:a16="http://schemas.microsoft.com/office/drawing/2014/main" id="{8D47B4FA-63E9-2461-A89D-BE48099D1CEF}"/>
              </a:ext>
            </a:extLst>
          </p:cNvPr>
          <p:cNvSpPr txBox="1"/>
          <p:nvPr/>
        </p:nvSpPr>
        <p:spPr>
          <a:xfrm>
            <a:off x="6664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検索「後」クエリ（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1〜15</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7" name="Card3_Body">
            <a:extLst>
              <a:ext uri="{FF2B5EF4-FFF2-40B4-BE49-F238E27FC236}">
                <a16:creationId xmlns:a16="http://schemas.microsoft.com/office/drawing/2014/main" id="{0F35057D-2CE3-9DDA-8E94-282A37275B5F}"/>
              </a:ext>
            </a:extLst>
          </p:cNvPr>
          <p:cNvSpPr txBox="1"/>
          <p:nvPr/>
        </p:nvSpPr>
        <p:spPr>
          <a:xfrm>
            <a:off x="6664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2" name="テキスト ボックス 11">
            <a:extLst>
              <a:ext uri="{FF2B5EF4-FFF2-40B4-BE49-F238E27FC236}">
                <a16:creationId xmlns:a16="http://schemas.microsoft.com/office/drawing/2014/main" id="{DCF84225-84DA-E8B0-FCCE-46A1376BC209}"/>
              </a:ext>
            </a:extLst>
          </p:cNvPr>
          <p:cNvSpPr txBox="1"/>
          <p:nvPr/>
        </p:nvSpPr>
        <p:spPr>
          <a:xfrm>
            <a:off x="5286079" y="4595204"/>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 name="矢印: 下 12">
            <a:extLst>
              <a:ext uri="{FF2B5EF4-FFF2-40B4-BE49-F238E27FC236}">
                <a16:creationId xmlns:a16="http://schemas.microsoft.com/office/drawing/2014/main" id="{D61D535A-38C6-7BB0-0D6E-34AB306808A8}"/>
              </a:ext>
            </a:extLst>
          </p:cNvPr>
          <p:cNvSpPr/>
          <p:nvPr/>
        </p:nvSpPr>
        <p:spPr>
          <a:xfrm>
            <a:off x="5036442" y="3737247"/>
            <a:ext cx="1097280" cy="2090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6" name="Card1_Title">
            <a:extLst>
              <a:ext uri="{FF2B5EF4-FFF2-40B4-BE49-F238E27FC236}">
                <a16:creationId xmlns:a16="http://schemas.microsoft.com/office/drawing/2014/main" id="{EA1CCC1E-91FF-5127-259C-24170B827EFB}"/>
              </a:ext>
            </a:extLst>
          </p:cNvPr>
          <p:cNvSpPr txBox="1"/>
          <p:nvPr/>
        </p:nvSpPr>
        <p:spPr>
          <a:xfrm>
            <a:off x="4470369" y="3994007"/>
            <a:ext cx="2194591"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離脱防止</a:t>
            </a:r>
          </a:p>
        </p:txBody>
      </p:sp>
      <p:cxnSp>
        <p:nvCxnSpPr>
          <p:cNvPr id="20" name="直線コネクタ 19">
            <a:extLst>
              <a:ext uri="{FF2B5EF4-FFF2-40B4-BE49-F238E27FC236}">
                <a16:creationId xmlns:a16="http://schemas.microsoft.com/office/drawing/2014/main" id="{5BE55DA4-D366-93E9-818A-C5CB316D61F6}"/>
              </a:ext>
            </a:extLst>
          </p:cNvPr>
          <p:cNvCxnSpPr/>
          <p:nvPr/>
        </p:nvCxnSpPr>
        <p:spPr>
          <a:xfrm>
            <a:off x="5094517" y="4709762"/>
            <a:ext cx="0" cy="1292023"/>
          </a:xfrm>
          <a:prstGeom prst="line">
            <a:avLst/>
          </a:prstGeom>
          <a:ln>
            <a:solidFill>
              <a:srgbClr val="04FA0A"/>
            </a:solidFill>
          </a:ln>
        </p:spPr>
        <p:style>
          <a:lnRef idx="1">
            <a:schemeClr val="accent1"/>
          </a:lnRef>
          <a:fillRef idx="0">
            <a:schemeClr val="accent1"/>
          </a:fillRef>
          <a:effectRef idx="0">
            <a:schemeClr val="accent1"/>
          </a:effectRef>
          <a:fontRef idx="minor">
            <a:schemeClr val="tx1"/>
          </a:fontRef>
        </p:style>
      </p:cxnSp>
      <p:pic>
        <p:nvPicPr>
          <p:cNvPr id="22" name="図 21" descr="LINE公式アカウントのロゴを活用しよう！注意点やNG例も合わせて解説 - LINEマーケティングツールFANVO">
            <a:extLst>
              <a:ext uri="{FF2B5EF4-FFF2-40B4-BE49-F238E27FC236}">
                <a16:creationId xmlns:a16="http://schemas.microsoft.com/office/drawing/2014/main" id="{4DC60E86-0524-E40F-7236-4D8A38BD333B}"/>
              </a:ext>
            </a:extLst>
          </p:cNvPr>
          <p:cNvPicPr>
            <a:picLocks noChangeAspect="1"/>
          </p:cNvPicPr>
          <p:nvPr/>
        </p:nvPicPr>
        <p:blipFill>
          <a:blip r:embed="rId3"/>
          <a:stretch>
            <a:fillRect/>
          </a:stretch>
        </p:blipFill>
        <p:spPr>
          <a:xfrm>
            <a:off x="4866739" y="4519050"/>
            <a:ext cx="419340" cy="418460"/>
          </a:xfrm>
          <a:prstGeom prst="rect">
            <a:avLst/>
          </a:prstGeom>
        </p:spPr>
      </p:pic>
      <p:sp>
        <p:nvSpPr>
          <p:cNvPr id="24" name="テキスト ボックス 23">
            <a:extLst>
              <a:ext uri="{FF2B5EF4-FFF2-40B4-BE49-F238E27FC236}">
                <a16:creationId xmlns:a16="http://schemas.microsoft.com/office/drawing/2014/main" id="{8F0B071A-7C5B-F060-B690-5A7A3AFEC0DD}"/>
              </a:ext>
            </a:extLst>
          </p:cNvPr>
          <p:cNvSpPr txBox="1"/>
          <p:nvPr/>
        </p:nvSpPr>
        <p:spPr>
          <a:xfrm>
            <a:off x="5268638" y="5094163"/>
            <a:ext cx="3857945" cy="261610"/>
          </a:xfrm>
          <a:prstGeom prst="rect">
            <a:avLst/>
          </a:prstGeom>
          <a:noFill/>
        </p:spPr>
        <p:txBody>
          <a:bodyPr wrap="square">
            <a:spAutoFit/>
          </a:bodyPr>
          <a:lstStyle/>
          <a:p>
            <a:r>
              <a:rPr lang="ja-JP" altLang="en-US" sz="1100" b="1" dirty="0">
                <a:latin typeface="メイリオ"/>
                <a:ea typeface="メイリオ"/>
                <a:cs typeface="メイリオ"/>
                <a:sym typeface="Meiryo"/>
              </a:rPr>
              <a:t>⇨ステップ配信がスタート。</a:t>
            </a:r>
            <a:endParaRPr lang="ja-JP" altLang="en-US" sz="1200" dirty="0">
              <a:latin typeface="メイリオ"/>
              <a:ea typeface="メイリオ"/>
              <a:cs typeface="メイリオ"/>
            </a:endParaRPr>
          </a:p>
        </p:txBody>
      </p:sp>
      <p:sp>
        <p:nvSpPr>
          <p:cNvPr id="26" name="テキスト ボックス 25">
            <a:extLst>
              <a:ext uri="{FF2B5EF4-FFF2-40B4-BE49-F238E27FC236}">
                <a16:creationId xmlns:a16="http://schemas.microsoft.com/office/drawing/2014/main" id="{70592E01-ABF8-E8A1-7E8A-7A1556DFA756}"/>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前後検索を各カテゴリ別</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ニーズ大小別で棲み分け、最適なタイミングで</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ステップ配信のコンテンツ出し分けに活用。</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535646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保険営業の方は毎年約24万人。会える回数が減るなか、成果を出すやり方へのニーズは続く</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nvGraphicFramePr>
        <p:xfrm>
          <a:off x="420624" y="1645920"/>
          <a:ext cx="9052560" cy="2697480"/>
        </p:xfrm>
        <a:graphic>
          <a:graphicData uri="http://schemas.openxmlformats.org/drawingml/2006/table">
            <a:tbl>
              <a:tblPr/>
              <a:tblGrid>
                <a:gridCol w="1920240"/>
                <a:gridCol w="3566160"/>
                <a:gridCol w="3566160"/>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営業職員数</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約24万人で、5年間ほぼ横ばい（2020年度 248,601人 → 2024年度 241,507人）</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毎年ほぼ同じ規模の方が、営業を続けている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保険の加入経路</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加入経路のうち「生命保険会社の営業職員」が56.7%（2024年調査）</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保険の加入は、今も営業職員が中心。営業力を上げたいニーズは続く</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お客様との接触回数</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コロナ前と比べ、接触回数が「減少した」営業職員が55.5%（2023年調査）</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会える回数が減り、限られた面談で成果を出すやり方が求められている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51" name="示唆 線"/>
          <p:cNvSpPr/>
          <p:nvPr/>
        </p:nvSpPr>
        <p:spPr>
          <a:xfrm>
            <a:off x="420624" y="4434840"/>
            <a:ext cx="64008" cy="914400"/>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p>
        </p:txBody>
      </p:sp>
      <p:sp>
        <p:nvSpPr>
          <p:cNvPr id="52" name="示唆"/>
          <p:cNvSpPr/>
          <p:nvPr/>
        </p:nvSpPr>
        <p:spPr>
          <a:xfrm>
            <a:off x="484632" y="4434840"/>
            <a:ext cx="8988552" cy="91440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貴社の「週2日で成果を出す面談メソッド」は、このニーズに合う。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イベントのたびに集め直すのではなく、一度つながった方をLINEで次のイベントまで追い続ける。</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※営業職員数：生命保険協会「2025年版 生命保険の動向」／加入経路：生命保険文化センター「2024（令和6）年度 生命保険に関する全国実態調査」</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※接触回数：矢野経済研究所「生命保険の営業職員アンケート調査」（2023年4〜6月、生命保険の営業職員400名）</a:t>
            </a:r>
            <a:endParaRPr lang="ja-JP" altLang="en-US" sz="1200" dirty="0"/>
          </a:p>
        </p:txBody>
      </p:sp>
    </p:spTree>
    <p:extLst>
      <p:ext uri="{BB962C8B-B14F-4D97-AF65-F5344CB8AC3E}">
        <p14:creationId xmlns:p14="http://schemas.microsoft.com/office/powerpoint/2010/main" val="2544728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保険営業の方向けの他社も、LINEで特典や学びを届けている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他社のLINE 49"/>
          <p:cNvGraphicFramePr>
            <a:graphicFrameLocks noGrp="1"/>
          </p:cNvGraphicFramePr>
          <p:nvPr/>
        </p:nvGraphicFramePr>
        <p:xfrm>
          <a:off x="420624" y="1645920"/>
          <a:ext cx="6492240" cy="2194560"/>
        </p:xfrm>
        <a:graphic>
          <a:graphicData uri="http://schemas.openxmlformats.org/drawingml/2006/table">
            <a:tbl>
              <a:tblPr/>
              <a:tblGrid>
                <a:gridCol w="1600200"/>
                <a:gridCol w="2148840"/>
                <a:gridCol w="2743200"/>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他社</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サービス</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LINEでしていること</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野沢塾</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保険営業の方向けの講座（月2回）</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サイトのボタンから友だち追加。あいさつで特典の動画を届ける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R&amp;C保険営業ラボ</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保険営業の方向けの無料の学習サービス（2026年9月開始）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登録時の5問のアンケートに合わせて、資料・動画を段階的に配信</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bl>
          </a:graphicData>
        </a:graphic>
      </p:graphicFrame>
      <p:sp>
        <p:nvSpPr>
          <p:cNvPr id="51" name="貴社の訴求軸 見出し"/>
          <p:cNvSpPr/>
          <p:nvPr/>
        </p:nvSpPr>
        <p:spPr>
          <a:xfrm>
            <a:off x="420624" y="4160520"/>
            <a:ext cx="182880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貴社の訴求軸</a:t>
            </a:r>
            <a:endParaRPr lang="ja-JP" altLang="en-US" sz="1200" dirty="0"/>
          </a:p>
        </p:txBody>
      </p:sp>
      <p:sp>
        <p:nvSpPr>
          <p:cNvPr id="52" name="貴社の訴求軸"/>
          <p:cNvSpPr/>
          <p:nvPr/>
        </p:nvSpPr>
        <p:spPr>
          <a:xfrm>
            <a:off x="420624" y="4471416"/>
            <a:ext cx="6492240" cy="822960"/>
          </a:xfrm>
          <a:prstGeom prst="rect">
            <a:avLst/>
          </a:prstGeom>
          <a:solidFill>
            <a:srgbClr val="EEF1F8"/>
          </a:solidFill>
          <a:ln w="9525">
            <a:solidFill>
              <a:srgbClr val="1F2A5C"/>
            </a:solidFill>
          </a:ln>
        </p:spPr>
        <p:txBody>
          <a:bodyPr wrap="square" lIns="73152" tIns="36576" rIns="73152" bIns="36576" rtlCol="0" anchor="ctr">
            <a:noAutofit/>
          </a:bodyPr>
          <a:lstStyle/>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イベントの予約・参加に合わせて、案内を変える</a:t>
            </a:r>
            <a:endParaRPr lang="ja-JP" altLang="en-US" sz="1200" dirty="0"/>
          </a:p>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参加後は、サロンの入会へつなげる</a:t>
            </a:r>
            <a:endParaRPr lang="ja-JP" altLang="en-US" sz="1200" dirty="0"/>
          </a:p>
        </p:txBody>
      </p:sp>
      <p:pic>
        <p:nvPicPr>
          <p:cNvPr id="53" name="Picture 52" descr="image.png"/>
          <p:cNvPicPr>
            <a:picLocks noChangeAspect="1"/>
          </p:cNvPicPr>
          <p:nvPr/>
        </p:nvPicPr>
        <p:blipFill>
          <a:blip r:embed="rId3"/>
          <a:stretch>
            <a:fillRect/>
          </a:stretch>
        </p:blipFill>
        <p:spPr>
          <a:xfrm>
            <a:off x="7492936" y="1645920"/>
            <a:ext cx="1583054" cy="3429000"/>
          </a:xfrm>
          <a:prstGeom prst="rect">
            <a:avLst/>
          </a:prstGeom>
        </p:spPr>
      </p:pic>
      <p:sp>
        <p:nvSpPr>
          <p:cNvPr id="54" name="画像の説明"/>
          <p:cNvSpPr/>
          <p:nvPr/>
        </p:nvSpPr>
        <p:spPr>
          <a:xfrm>
            <a:off x="6995160" y="5120640"/>
            <a:ext cx="2560320" cy="228600"/>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rPr>
              <a:t>野沢塾のあいさつ（LINE公式アカウント）</a:t>
            </a:r>
            <a:endParaRPr lang="ja-JP" altLang="en-US" sz="1200" dirty="0"/>
          </a:p>
        </p:txBody>
      </p:sp>
      <p:sp>
        <p:nvSpPr>
          <p:cNvPr id="55"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※野沢塾：LINE公式アカウント（2026年10月19日確認）・公式サイト（2026年10月18日確認）より。画面の名前とパスワードは伏せている</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※R&amp;C保険営業ラボ：R&amp;C株式会社のプレスリリースより。招待制のため、画面は未掲載</a:t>
            </a:r>
            <a:endParaRPr lang="ja-JP" altLang="en-US" sz="1200" dirty="0"/>
          </a:p>
        </p:txBody>
      </p:sp>
    </p:spTree>
    <p:extLst>
      <p:ext uri="{BB962C8B-B14F-4D97-AF65-F5344CB8AC3E}">
        <p14:creationId xmlns:p14="http://schemas.microsoft.com/office/powerpoint/2010/main" val="1861406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graphicFrame>
        <p:nvGraphicFramePr>
          <p:cNvPr id="46" name="要件定義 45"/>
          <p:cNvGraphicFramePr>
            <a:graphicFrameLocks noGrp="1"/>
          </p:cNvGraphicFramePr>
          <p:nvPr/>
        </p:nvGraphicFramePr>
        <p:xfrm>
          <a:off x="420624" y="1295399"/>
          <a:ext cx="9052560" cy="3794760"/>
        </p:xfrm>
        <a:graphic>
          <a:graphicData uri="http://schemas.openxmlformats.org/drawingml/2006/table">
            <a:tbl>
              <a:tblPr/>
              <a:tblGrid>
                <a:gridCol w="2011680"/>
                <a:gridCol w="7040880"/>
              </a:tblGrid>
              <a:tr h="7315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rPr>
                        <a:t>プロモーション目的</a:t>
                      </a:r>
                      <a:endParaRPr lang="ja-JP" altLang="en-US" sz="14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500" b="1" dirty="0">
                          <a:solidFill>
                            <a:srgbClr val="1F2A5C"/>
                          </a:solidFill>
                          <a:latin typeface="メイリオ" panose="020B0604030504040204" pitchFamily="50" charset="-128"/>
                          <a:ea typeface="メイリオ" panose="020B0604030504040204" pitchFamily="50" charset="-128"/>
                        </a:rPr>
                        <a:t>広告で集めた方をLINEにため、次のイベント参加数・入会数を伸ばし、LTVを最大化する</a:t>
                      </a:r>
                      <a:endParaRPr lang="ja-JP" altLang="en-US" sz="15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8686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rPr>
                        <a:t>配信目標</a:t>
                      </a:r>
                      <a:endParaRPr lang="ja-JP" altLang="en-US" sz="14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rPr>
                        <a:t>6か月目に追える人数90人（ブロックされずに届く友だち）</a:t>
                      </a:r>
                      <a:endParaRPr lang="ja-JP" altLang="en-US" sz="1300" dirty="0"/>
                    </a:p>
                    <a:p>
                      <a:pPr algn="l">
                        <a:buNone/>
                      </a:pPr>
                      <a:r>
                        <a:rPr lang="ja-JP" altLang="en-US" sz="1400" b="0" dirty="0">
                          <a:solidFill>
                            <a:srgbClr val="333333"/>
                          </a:solidFill>
                          <a:latin typeface="メイリオ" panose="020B0604030504040204" pitchFamily="50" charset="-128"/>
                          <a:ea typeface="メイリオ" panose="020B0604030504040204" pitchFamily="50" charset="-128"/>
                        </a:rPr>
                        <a:t>イベント期はセミナー予約・参加、イベントの後はサロン入会へつなげる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11887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rPr>
                        <a:t>手法（ご提案）</a:t>
                      </a:r>
                      <a:endParaRPr lang="ja-JP" altLang="en-US" sz="14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rPr>
                        <a:t>① ポップアップツールとサンクスLINE誘導で、友だちを集める</a:t>
                      </a:r>
                      <a:endParaRPr lang="ja-JP" altLang="en-US" sz="1300" dirty="0"/>
                    </a:p>
                    <a:p>
                      <a:pPr algn="l">
                        <a:buNone/>
                      </a:pPr>
                      <a:r>
                        <a:rPr lang="ja-JP" altLang="en-US" sz="1400" b="0" dirty="0">
                          <a:solidFill>
                            <a:srgbClr val="333333"/>
                          </a:solidFill>
                          <a:latin typeface="メイリオ" panose="020B0604030504040204" pitchFamily="50" charset="-128"/>
                          <a:ea typeface="メイリオ" panose="020B0604030504040204" pitchFamily="50" charset="-128"/>
                        </a:rPr>
                        <a:t>② 興味あり・予約・参加の段階ごとに、案内を変える</a:t>
                      </a:r>
                      <a:endParaRPr lang="ja-JP" altLang="en-US" sz="1300" dirty="0"/>
                    </a:p>
                    <a:p>
                      <a:pPr algn="l">
                        <a:buNone/>
                      </a:pPr>
                      <a:r>
                        <a:rPr lang="ja-JP" altLang="en-US" sz="1400" b="0" dirty="0">
                          <a:solidFill>
                            <a:srgbClr val="333333"/>
                          </a:solidFill>
                          <a:latin typeface="メイリオ" panose="020B0604030504040204" pitchFamily="50" charset="-128"/>
                          <a:ea typeface="メイリオ" panose="020B0604030504040204" pitchFamily="50" charset="-128"/>
                        </a:rPr>
                        <a:t>③ 平常期の配信で、次のイベントまでつながりを保つ</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100584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rPr>
                        <a:t>＋αの施策</a:t>
                      </a:r>
                      <a:endParaRPr lang="ja-JP" altLang="en-US" sz="14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rPr>
                        <a:t>過去のセミナー予約者・参加者へのご案内（通知メッセージ）</a:t>
                      </a:r>
                      <a:endParaRPr lang="ja-JP" altLang="en-US" sz="1300" dirty="0"/>
                    </a:p>
                    <a:p>
                      <a:pPr algn="l">
                        <a:buNone/>
                      </a:pPr>
                      <a:r>
                        <a:rPr lang="ja-JP" altLang="en-US" sz="1400" b="0" dirty="0">
                          <a:solidFill>
                            <a:srgbClr val="333333"/>
                          </a:solidFill>
                          <a:latin typeface="メイリオ" panose="020B0604030504040204" pitchFamily="50" charset="-128"/>
                          <a:ea typeface="メイリオ" panose="020B0604030504040204" pitchFamily="50" charset="-128"/>
                        </a:rPr>
                        <a:t>サロンの申込み完了ページからのLINE誘導（サンクスLINE誘導）</a:t>
                      </a:r>
                      <a:endParaRPr lang="ja-JP" altLang="en-US" sz="1300" dirty="0"/>
                    </a:p>
                    <a:p>
                      <a:pPr algn="l">
                        <a:buNone/>
                      </a:pPr>
                      <a:r>
                        <a:rPr lang="ja-JP" altLang="en-US" sz="1100" b="0" dirty="0">
                          <a:solidFill>
                            <a:srgbClr val="7F7F7F"/>
                          </a:solidFill>
                          <a:latin typeface="メイリオ" panose="020B0604030504040204" pitchFamily="50" charset="-128"/>
                          <a:ea typeface="メイリオ" panose="020B0604030504040204" pitchFamily="50" charset="-128"/>
                        </a:rPr>
                        <a:t>※通知メッセージは、予約時の電話番号がある場合</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bl>
          </a:graphicData>
        </a:graphic>
      </p:graphicFrame>
    </p:spTree>
    <p:extLst>
      <p:ext uri="{BB962C8B-B14F-4D97-AF65-F5344CB8AC3E}">
        <p14:creationId xmlns:p14="http://schemas.microsoft.com/office/powerpoint/2010/main" val="3136620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本質課題</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3つの課題は、ひとつの課題につながっている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KEY TAKEAWAY 見出し"/>
          <p:cNvSpPr/>
          <p:nvPr/>
        </p:nvSpPr>
        <p:spPr>
          <a:xfrm>
            <a:off x="420624" y="1600200"/>
            <a:ext cx="210312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KEY TAKEAWAY</a:t>
            </a:r>
            <a:endParaRPr lang="ja-JP" altLang="en-US" sz="1200" dirty="0"/>
          </a:p>
        </p:txBody>
      </p:sp>
      <p:sp>
        <p:nvSpPr>
          <p:cNvPr id="51" name="KEY TAKEAWAY"/>
          <p:cNvSpPr/>
          <p:nvPr/>
        </p:nvSpPr>
        <p:spPr>
          <a:xfrm>
            <a:off x="420624" y="1911095"/>
            <a:ext cx="9052560" cy="731520"/>
          </a:xfrm>
          <a:prstGeom prst="rect">
            <a:avLst/>
          </a:prstGeom>
          <a:solidFill>
            <a:srgbClr val="EEF1F8"/>
          </a:solidFill>
          <a:ln w="9525">
            <a:solidFill>
              <a:srgbClr val="1F2A5C"/>
            </a:solidFill>
          </a:ln>
        </p:spPr>
        <p:txBody>
          <a:bodyPr wrap="square" lIns="73152" tIns="36576" rIns="73152" bIns="36576" rtlCol="0" anchor="ctr">
            <a:noAutofit/>
          </a:bodyPr>
          <a:lstStyle/>
          <a:p>
            <a:pPr algn="ctr">
              <a:buNone/>
            </a:pPr>
            <a:r>
              <a:rPr lang="ja-JP" altLang="en-US" sz="2000" b="1" dirty="0">
                <a:solidFill>
                  <a:srgbClr val="1F2A5C"/>
                </a:solidFill>
                <a:latin typeface="メイリオ" panose="020B0604030504040204" pitchFamily="50" charset="-128"/>
                <a:ea typeface="メイリオ" panose="020B0604030504040204" pitchFamily="50" charset="-128"/>
              </a:rPr>
              <a:t>イベントが終わると、集めた方との接点が切れる</a:t>
            </a:r>
            <a:endParaRPr lang="ja-JP" altLang="en-US" sz="1200" dirty="0"/>
          </a:p>
        </p:txBody>
      </p:sp>
      <p:graphicFrame>
        <p:nvGraphicFramePr>
          <p:cNvPr id="52" name="3つの課題と打ち手 51"/>
          <p:cNvGraphicFramePr>
            <a:graphicFrameLocks noGrp="1"/>
          </p:cNvGraphicFramePr>
          <p:nvPr/>
        </p:nvGraphicFramePr>
        <p:xfrm>
          <a:off x="420624" y="2926080"/>
          <a:ext cx="9052560" cy="2834640"/>
        </p:xfrm>
        <a:graphic>
          <a:graphicData uri="http://schemas.openxmlformats.org/drawingml/2006/table">
            <a:tbl>
              <a:tblPr/>
              <a:tblGrid>
                <a:gridCol w="1234440"/>
                <a:gridCol w="2606040"/>
                <a:gridCol w="4023360"/>
                <a:gridCol w="1188720"/>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段階</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いま起きていること</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打ち手</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伸ばす数字</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01 集める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LPを離れる方・予約した方を、友だちにする手段が無い</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・ポップアップツールで、離れる方を友だちに</a:t>
                      </a:r>
                      <a:endParaRPr lang="ja-JP" altLang="en-US" sz="1300" dirty="0"/>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・サンクスLINE誘導で、予約した方を友だちに</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rPr>
                        <a:t>友だち数</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02 追う</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次のイベントまで、情報を届ける手段が無い</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・平常期の配信（月2回）で、つながりを保つ</a:t>
                      </a:r>
                      <a:endParaRPr lang="ja-JP" altLang="en-US" sz="1300" dirty="0"/>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・見どころ動画・前日のお知らせで、予約・参加へ</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rPr>
                        <a:t>予約・参加数</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03 つなげる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参加した方に、入会を案内する手段が無い</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・イベント直後に、サロンの申込みを案内</a:t>
                      </a:r>
                      <a:endParaRPr lang="ja-JP" altLang="en-US" sz="1300" dirty="0"/>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・入会した方の声を、迷っている方へ届ける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rPr>
                        <a:t>入会数</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572955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概算お見積り：6か月で、追える人数90人・セミナー予約11件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¥295,000〜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¥365,000</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¥165,000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cs typeface="メイリオ"/>
              </a:rPr>
              <a:t>6</a:t>
            </a:r>
            <a:r>
              <a:rPr lang="ja-JP" sz="1400" b="0" u="none" strike="noStrike">
                <a:solidFill>
                  <a:schemeClr val="lt1"/>
                </a:solidFill>
                <a:effectLst/>
                <a:uFillTx/>
                <a:latin typeface="メイリオ"/>
                <a:ea typeface="メイリオ"/>
                <a:cs typeface="メイリオ"/>
              </a:rPr>
              <a:t>か月後</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セミナー前日の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お知らせ</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追える人数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LINE友だち追加～15日を境に大きくアクティブ率が下がる（ブロック率が上がる）</a:t>
            </a:r>
          </a:p>
          <a:p>
            <a:r>
              <a:rPr lang="ja-JP" altLang="en-US" sz="1600" b="1" dirty="0">
                <a:latin typeface="メイリオ" panose="020B0604030504040204" pitchFamily="50" charset="-128"/>
                <a:ea typeface="メイリオ" panose="020B0604030504040204" pitchFamily="50" charset="-128"/>
                <a:cs typeface="メイリオ"/>
                <a:sym typeface="Meiryo"/>
              </a:rPr>
              <a:t>為、段階に合わせて配信を変え、イベントの無い時期は回数を絞る。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サンクス</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000" b="1" dirty="0">
                <a:solidFill>
                  <a:schemeClr val="tx1"/>
                </a:solidFill>
                <a:latin typeface="メイリオ" panose="020B0604030504040204" pitchFamily="50" charset="-128"/>
                <a:ea typeface="メイリオ" panose="020B0604030504040204" pitchFamily="50" charset="-128"/>
                <a:cs typeface="メイリオ"/>
              </a:rPr>
              <a:t>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307291"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・前日のお知らせ</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※個別チャット対応は効率化のみで基本貴社対応</a:t>
            </a:r>
          </a:p>
        </p:txBody>
      </p:sp>
    </p:spTree>
    <p:extLst>
      <p:ext uri="{BB962C8B-B14F-4D97-AF65-F5344CB8AC3E}">
        <p14:creationId xmlns:p14="http://schemas.microsoft.com/office/powerpoint/2010/main" val="3947487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Tree>
    <p:extLst>
      <p:ext uri="{BB962C8B-B14F-4D97-AF65-F5344CB8AC3E}">
        <p14:creationId xmlns:p14="http://schemas.microsoft.com/office/powerpoint/2010/main" val="320364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14F9B-288C-F1D2-7B0B-67E191377D0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F87629C-3642-C49D-F0B1-C713D8B98B2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F1FF577-F7FC-8D65-AD79-624C8A98E39D}"/>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E6E21DDA-5638-FE3D-5AC9-43FF46984EB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C2D2B1E-CBEB-3614-77A0-5702C0FFED68}"/>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B06F5F7-D7C2-4206-459C-6FDD885B9F2C}"/>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F773B430-56E4-0521-D716-A07C918C24A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A47125D1-5D5B-577F-CCF0-A99B2F298330}"/>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ECF77B04-EFBD-D6B8-E01D-1461AF2766FF}"/>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A7CDFABA-1683-4E04-F3EC-BFB5175BB3D7}"/>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2" name="正方形/長方形 1">
            <a:extLst>
              <a:ext uri="{FF2B5EF4-FFF2-40B4-BE49-F238E27FC236}">
                <a16:creationId xmlns:a16="http://schemas.microsoft.com/office/drawing/2014/main" id="{2BCDAE55-2DB6-D959-BB7A-FFA05547CCF8}"/>
              </a:ext>
            </a:extLst>
          </p:cNvPr>
          <p:cNvSpPr/>
          <p:nvPr/>
        </p:nvSpPr>
        <p:spPr>
          <a:xfrm>
            <a:off x="4953000" y="1397561"/>
            <a:ext cx="4757057" cy="3149513"/>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正方形/長方形 9">
            <a:extLst>
              <a:ext uri="{FF2B5EF4-FFF2-40B4-BE49-F238E27FC236}">
                <a16:creationId xmlns:a16="http://schemas.microsoft.com/office/drawing/2014/main" id="{62794B8A-D6DE-D702-A17A-E1DE9074FE08}"/>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2515613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605D1-944D-0389-D7CD-C5AB8DD983F5}"/>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83BB2C20-D0AA-36FF-470A-E7F0DAEAB26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95FE0356-B15A-D93F-BA83-FD0B43311C26}"/>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D5DB1A-2D31-4285-1013-68B5CBC6F7AA}"/>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4905A8F7-DA37-EDDB-D4A0-A8C338EA048F}"/>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AF54DDF1-0A58-67B0-D606-FE72C8B6BAD4}"/>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942DBFF1-8E8E-E0F6-C4D8-936FB7D63294}"/>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FF56F22-467D-9E6B-D894-69A2DC8FAD69}"/>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8D18F66D-12A2-B97F-13EE-FA13362C28BE}"/>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FA0D0844-6CF2-A00A-7B79-F4A826D90EEE}"/>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9361AE1C-AC5D-8B9C-86D1-EC657FC3A8B7}"/>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2C26C064-3099-1C6E-BD1F-7E4B6508C6C0}"/>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4B3A754B-1435-5A8E-96AE-4037A27AF116}"/>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4" name="Rounded Rectangle 12">
            <a:extLst>
              <a:ext uri="{FF2B5EF4-FFF2-40B4-BE49-F238E27FC236}">
                <a16:creationId xmlns:a16="http://schemas.microsoft.com/office/drawing/2014/main" id="{36C2CEAA-8727-1541-A261-38D2B8EE8479}"/>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93204242-A97B-3F81-AC83-1DDA22FFC0D0}"/>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6AD6AF8B-2C4A-933F-0193-F19C291F13B1}"/>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1A7EE41-522A-6587-5E29-2C573127F3C3}"/>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C7E8BDA3-8CEC-774B-B965-F3AF39B914E4}"/>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E541336C-EC2C-FA47-DF86-0449EEE6EC01}"/>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BC2869C0-256F-8186-2F32-62ABEBFDB974}"/>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A3128BAC-3AA2-D6CD-E5B1-139EF73DE7E5}"/>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69E0D836-774F-8844-0B7E-FEC8CAEAA930}"/>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3CD9E7C8-AEDB-1B24-169E-B4E2FCC3BF0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9794684-1FF1-3263-6A5B-55F2FABDADE2}"/>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270596D-D709-5039-F2B0-A37C3BC91FB1}"/>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オファー</a:t>
            </a:r>
          </a:p>
        </p:txBody>
      </p:sp>
      <p:sp>
        <p:nvSpPr>
          <p:cNvPr id="38" name="TextBox 24">
            <a:extLst>
              <a:ext uri="{FF2B5EF4-FFF2-40B4-BE49-F238E27FC236}">
                <a16:creationId xmlns:a16="http://schemas.microsoft.com/office/drawing/2014/main" id="{BDC9515A-B6AE-4419-9471-C1CACD5E3EC1}"/>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77631336-7324-364D-DAFA-3CED8F639C61}"/>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84EB3BAF-CB06-3354-471B-18BB2B84211F}"/>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4801341B-D8FB-80D0-9999-2FE19D3EE1E8}"/>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EA39FE5A-F88E-6BA9-436B-1C7ACA9EFDF7}"/>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0FC8A71-901A-1650-523A-DB40DB5BE8B2}"/>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760B245B-F336-095B-944B-703D8196FB7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DE95B638-E657-FEBB-0117-64BD0F935CE8}"/>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9EEAEFD9-8EF2-001C-D44A-2B0332CF7F41}"/>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15" name="正方形/長方形 14">
            <a:extLst>
              <a:ext uri="{FF2B5EF4-FFF2-40B4-BE49-F238E27FC236}">
                <a16:creationId xmlns:a16="http://schemas.microsoft.com/office/drawing/2014/main" id="{555B77A1-60D1-23C1-F985-F9E05AB9B915}"/>
              </a:ext>
            </a:extLst>
          </p:cNvPr>
          <p:cNvSpPr/>
          <p:nvPr/>
        </p:nvSpPr>
        <p:spPr>
          <a:xfrm>
            <a:off x="2134573" y="1466661"/>
            <a:ext cx="7585863" cy="4327557"/>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lvl="1">
              <a:lnSpc>
                <a:spcPts val="2000"/>
              </a:lnSpc>
              <a:spcAft>
                <a:spcPts val="200"/>
              </a:spcAft>
              <a:buClr>
                <a:srgbClr val="1F2A5C"/>
              </a:buClr>
            </a:pPr>
            <a:endParaRPr lang="ja-JP" altLang="en-US" sz="1400" dirty="0">
              <a:solidFill>
                <a:srgbClr val="333333"/>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B2C5803B-DB2E-0AE1-BE31-89D5755B4FE1}"/>
              </a:ext>
            </a:extLst>
          </p:cNvPr>
          <p:cNvSpPr txBox="1"/>
          <p:nvPr/>
        </p:nvSpPr>
        <p:spPr>
          <a:xfrm>
            <a:off x="2234941" y="1921426"/>
            <a:ext cx="4965824" cy="954107"/>
          </a:xfrm>
          <a:prstGeom prst="rect">
            <a:avLst/>
          </a:prstGeom>
          <a:noFill/>
        </p:spPr>
        <p:txBody>
          <a:bodyPr wrap="square">
            <a:spAutoFit/>
          </a:bodyPr>
          <a:lstStyle/>
          <a:p>
            <a:r>
              <a:rPr lang="ja-JP" altLang="en-US" sz="1400" b="1" u="sng" dirty="0">
                <a:solidFill>
                  <a:schemeClr val="tx2"/>
                </a:solidFill>
                <a:latin typeface="メイリオ"/>
                <a:ea typeface="メイリオ"/>
                <a:cs typeface="メイリオ"/>
              </a:rPr>
              <a:t>アンケート回答から「すぐすぐニーズがあるか」を判断</a:t>
            </a:r>
            <a:endParaRPr lang="en-US" altLang="ja-JP" sz="1400" b="1" u="sng" dirty="0">
              <a:solidFill>
                <a:schemeClr val="tx2"/>
              </a:solidFill>
              <a:latin typeface="メイリオ"/>
              <a:ea typeface="メイリオ"/>
              <a:cs typeface="メイリオ"/>
            </a:endParaRPr>
          </a:p>
          <a:p>
            <a:r>
              <a:rPr lang="ja-JP" altLang="en-US" sz="1400" dirty="0">
                <a:solidFill>
                  <a:schemeClr val="tx2"/>
                </a:solidFill>
                <a:latin typeface="メイリオ"/>
                <a:ea typeface="メイリオ"/>
                <a:cs typeface="メイリオ"/>
              </a:rPr>
              <a:t>↓</a:t>
            </a:r>
            <a:endParaRPr lang="en-US" altLang="ja-JP" sz="1400"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①</a:t>
            </a:r>
            <a:r>
              <a:rPr lang="ja-JP" altLang="en-US" sz="1400" dirty="0">
                <a:solidFill>
                  <a:schemeClr val="tx2"/>
                </a:solidFill>
                <a:latin typeface="メイリオ"/>
                <a:ea typeface="メイリオ"/>
                <a:cs typeface="メイリオ"/>
              </a:rPr>
              <a:t>ニーズあり</a:t>
            </a:r>
            <a:r>
              <a:rPr lang="ja-JP" altLang="en-US" sz="1400" b="1" dirty="0">
                <a:solidFill>
                  <a:schemeClr val="tx2"/>
                </a:solidFill>
                <a:latin typeface="メイリオ"/>
                <a:ea typeface="メイリオ"/>
                <a:cs typeface="メイリオ"/>
              </a:rPr>
              <a:t>（次ページに以降）</a:t>
            </a:r>
            <a:endParaRPr lang="en-US" altLang="ja-JP" sz="1400" b="1"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②</a:t>
            </a:r>
            <a:r>
              <a:rPr lang="ja-JP" altLang="en-US" sz="1400" dirty="0">
                <a:solidFill>
                  <a:schemeClr val="tx2"/>
                </a:solidFill>
                <a:latin typeface="メイリオ"/>
                <a:ea typeface="メイリオ"/>
                <a:cs typeface="メイリオ"/>
              </a:rPr>
              <a:t>ニーズなし</a:t>
            </a:r>
            <a:r>
              <a:rPr lang="ja-JP" altLang="en-US" sz="1400" b="1" dirty="0">
                <a:solidFill>
                  <a:schemeClr val="tx2"/>
                </a:solidFill>
                <a:latin typeface="メイリオ"/>
                <a:ea typeface="メイリオ"/>
                <a:cs typeface="メイリオ"/>
              </a:rPr>
              <a:t>（長期追客施策に移行）</a:t>
            </a:r>
            <a:endParaRPr lang="ja-JP" altLang="en-US" b="1" dirty="0">
              <a:solidFill>
                <a:schemeClr val="tx2"/>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0FFF471B-76C5-A9EE-BF1F-9F210906F1DA}"/>
              </a:ext>
            </a:extLst>
          </p:cNvPr>
          <p:cNvSpPr txBox="1"/>
          <p:nvPr/>
        </p:nvSpPr>
        <p:spPr>
          <a:xfrm>
            <a:off x="1951329" y="2985261"/>
            <a:ext cx="7570623" cy="891270"/>
          </a:xfrm>
          <a:prstGeom prst="rect">
            <a:avLst/>
          </a:prstGeom>
          <a:noFill/>
        </p:spPr>
        <p:txBody>
          <a:bodyPr wrap="square">
            <a:spAutoFit/>
          </a:bodyPr>
          <a:lstStyle/>
          <a:p>
            <a:pPr marL="228600" lvl="1">
              <a:lnSpc>
                <a:spcPts val="2000"/>
              </a:lnSpc>
              <a:spcAft>
                <a:spcPts val="200"/>
              </a:spcAft>
              <a:buClr>
                <a:srgbClr val="1F2A5C"/>
              </a:buClr>
            </a:pPr>
            <a:r>
              <a:rPr lang="en-US" altLang="ja-JP" sz="1100" b="1" dirty="0">
                <a:solidFill>
                  <a:srgbClr val="333333"/>
                </a:solidFill>
                <a:latin typeface="メイリオ"/>
                <a:ea typeface="メイリオ"/>
                <a:cs typeface="メイリオ"/>
              </a:rPr>
              <a:t>【その他セグメント配信の活用に関して】</a:t>
            </a:r>
          </a:p>
          <a:p>
            <a:pPr marL="228600" lvl="1">
              <a:lnSpc>
                <a:spcPts val="2000"/>
              </a:lnSpc>
              <a:spcAft>
                <a:spcPts val="200"/>
              </a:spcAft>
              <a:buClr>
                <a:srgbClr val="1F2A5C"/>
              </a:buClr>
            </a:pPr>
            <a:r>
              <a:rPr lang="ja-JP" altLang="en-US" sz="1100" dirty="0">
                <a:solidFill>
                  <a:srgbClr val="333333"/>
                </a:solidFill>
                <a:latin typeface="メイリオ"/>
                <a:ea typeface="メイリオ"/>
                <a:cs typeface="メイリオ"/>
              </a:rPr>
              <a:t>Day0のアンケートの回答に合わせて、配信の中身を出し分ける。</a:t>
            </a:r>
          </a:p>
        </p:txBody>
      </p:sp>
    </p:spTree>
    <p:extLst>
      <p:ext uri="{BB962C8B-B14F-4D97-AF65-F5344CB8AC3E}">
        <p14:creationId xmlns:p14="http://schemas.microsoft.com/office/powerpoint/2010/main" val="4294568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93614-B1C8-8488-6AA6-9C0120B0F016}"/>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C1A46CA4-B62C-129C-2265-6EC1BE8C6EFA}"/>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E15018B3-87F2-6365-2D71-C92B5436710C}"/>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5EC11C-A4CA-5313-D5BA-D47635B1A838}"/>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9A057208-E511-9F3B-B133-9BDFEC60A969}"/>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88CC95EE-B0F1-3644-6F82-76DE8FCEACEC}"/>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73C4E07D-0DF4-42A9-7298-CE1B2CB8E02C}"/>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A93EFB6-EBEF-0F4B-3781-F0E86D241E63}"/>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32B3653D-6D1F-20F4-8671-385FAFF851FD}"/>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8D16CA1B-AEBC-A5FA-8024-3F23496134C9}"/>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ED3C0554-9244-5E70-C3F2-82AD432D9891}"/>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731AE54A-29F4-E5A3-1183-48ED689B8ACC}"/>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C26D2D8C-ABF2-0F03-0567-F772D753D0E8}"/>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endParaRPr kumimoji="0" lang="en-US"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4" name="Rounded Rectangle 12">
            <a:extLst>
              <a:ext uri="{FF2B5EF4-FFF2-40B4-BE49-F238E27FC236}">
                <a16:creationId xmlns:a16="http://schemas.microsoft.com/office/drawing/2014/main" id="{4A1B016C-3BCC-82D6-634C-F49AAE31CA00}"/>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FEA91215-4671-8F7B-948E-885B87ADC67B}"/>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8D211078-EBAD-209F-4F3F-0C349BF4FD82}"/>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65832DB-68FC-D672-D52E-8442D3CB553A}"/>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06C50741-6FE4-CFDC-C843-4251AC11BC48}"/>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5E61CC1A-5313-8BA8-A36D-461E68D47515}"/>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CF0F0823-8E61-35DF-0019-982187079423}"/>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1E77E8ED-9C7B-F76F-EC10-4B949FB21FD1}"/>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1BD34B43-6F7A-FF6A-770E-72D31542F706}"/>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AF1930A0-66AA-5FA0-A37F-0CABADFA0C3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2C88914-14C1-0891-4CF0-9944C3A3D969}"/>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50A2935-2D5F-71AA-03EA-89DCD709158A}"/>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a:t>
            </a:r>
            <a:r>
              <a:rPr kumimoji="0" lang="en-US" altLang="ja-JP"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0</a:t>
            </a: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dirty="0" err="1">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a:t>
            </a:r>
            <a:r>
              <a:rPr kumimoji="0" sz="900" b="0"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ー</a:t>
            </a:r>
          </a:p>
        </p:txBody>
      </p:sp>
      <p:sp>
        <p:nvSpPr>
          <p:cNvPr id="38" name="TextBox 24">
            <a:extLst>
              <a:ext uri="{FF2B5EF4-FFF2-40B4-BE49-F238E27FC236}">
                <a16:creationId xmlns:a16="http://schemas.microsoft.com/office/drawing/2014/main" id="{C6884821-BFCB-BFA3-A7F3-7B83095EE162}"/>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C5D41C5B-DA02-D594-6EF3-1CB8B850F14A}"/>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A067CDE1-ED9A-E718-EE0A-DA2AEB873FF1}"/>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BFE4A287-10A0-75D3-A1CE-D799E1EFC13D}"/>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5186B2E3-B6EE-E2B1-37D8-54314195DE6A}"/>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1407363-BE74-F527-3AD4-32DCABC777CE}"/>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C78B27A0-4402-41C9-F91E-C34A734A932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ED838C3F-CC60-6AF7-B602-BDF9E60442DC}"/>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0457EFFA-CEE7-8B18-D5C7-92FBBA486972}"/>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Tree>
    <p:extLst>
      <p:ext uri="{BB962C8B-B14F-4D97-AF65-F5344CB8AC3E}">
        <p14:creationId xmlns:p14="http://schemas.microsoft.com/office/powerpoint/2010/main" val="105077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247A-425B-CA18-88F5-CBC38492F70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905C2E3-B47A-8C1A-D463-CDA5864BF5B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2B93E0B-3589-44A0-B6C1-7C389DC3B2F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B867582A-814C-8A7B-A5C3-39ECB2F247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6E3DABA0-77D6-C7E1-6372-98872981A825}"/>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A6C62775-6562-D5CC-92F7-DD62EEBC744F}"/>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DD6A368E-576C-29EC-7AEC-6F417FD64F2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285534EC-0A05-D7BE-EBC2-EA588B18E931}"/>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27AAF778-ED13-4BF7-35CB-BDA3D2A9FF91}"/>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6D432096-7298-F609-05CC-7A87E38C98F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8" name="正方形/長方形 7">
            <a:extLst>
              <a:ext uri="{FF2B5EF4-FFF2-40B4-BE49-F238E27FC236}">
                <a16:creationId xmlns:a16="http://schemas.microsoft.com/office/drawing/2014/main" id="{2B282CB3-BF1E-586C-2C28-1C71F5FCA804}"/>
              </a:ext>
            </a:extLst>
          </p:cNvPr>
          <p:cNvSpPr/>
          <p:nvPr/>
        </p:nvSpPr>
        <p:spPr>
          <a:xfrm>
            <a:off x="224971" y="1549970"/>
            <a:ext cx="4757057" cy="2851149"/>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1FECCBA2-AC74-A2AF-3521-2B2FF4D4D290}"/>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15169176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4F9F-F8CE-54D5-B025-489FE860A6A8}"/>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EE4D7325-B8B2-BB52-63C7-88C454517059}"/>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D9FCD3C6-ACF7-5D09-5F1C-DE149D83848E}"/>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14" name="TextBox 2001">
            <a:extLst>
              <a:ext uri="{FF2B5EF4-FFF2-40B4-BE49-F238E27FC236}">
                <a16:creationId xmlns:a16="http://schemas.microsoft.com/office/drawing/2014/main" id="{1456DACD-3900-B1CF-8DDF-966688299A92}"/>
              </a:ext>
            </a:extLst>
          </p:cNvPr>
          <p:cNvSpPr txBox="1"/>
          <p:nvPr/>
        </p:nvSpPr>
        <p:spPr>
          <a:xfrm>
            <a:off x="456501" y="3879413"/>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C. 休眠リード開拓施策</a:t>
            </a:r>
          </a:p>
        </p:txBody>
      </p:sp>
      <p:sp>
        <p:nvSpPr>
          <p:cNvPr id="17" name="Chevron 2002">
            <a:extLst>
              <a:ext uri="{FF2B5EF4-FFF2-40B4-BE49-F238E27FC236}">
                <a16:creationId xmlns:a16="http://schemas.microsoft.com/office/drawing/2014/main" id="{D8C58E61-1ED0-F016-1DBE-2E247D5EC8B6}"/>
              </a:ext>
            </a:extLst>
          </p:cNvPr>
          <p:cNvSpPr/>
          <p:nvPr/>
        </p:nvSpPr>
        <p:spPr>
          <a:xfrm>
            <a:off x="456501" y="4245173"/>
            <a:ext cx="2180844"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--件</a:t>
            </a:r>
          </a:p>
          <a:p>
            <a:pPr algn="ctr"/>
            <a:r>
              <a:rPr sz="950">
                <a:solidFill>
                  <a:srgbClr val="FFFFFF"/>
                </a:solidFill>
                <a:latin typeface="メイリオ"/>
                <a:ea typeface="メイリオ"/>
                <a:cs typeface="メイリオ"/>
              </a:rPr>
              <a:t>保有リスト</a:t>
            </a:r>
          </a:p>
        </p:txBody>
      </p:sp>
      <p:sp>
        <p:nvSpPr>
          <p:cNvPr id="19" name="Chevron 2003">
            <a:extLst>
              <a:ext uri="{FF2B5EF4-FFF2-40B4-BE49-F238E27FC236}">
                <a16:creationId xmlns:a16="http://schemas.microsoft.com/office/drawing/2014/main" id="{C25E4C3B-7F41-E2E9-8338-BEA9E51E3B73}"/>
              </a:ext>
            </a:extLst>
          </p:cNvPr>
          <p:cNvSpPr/>
          <p:nvPr/>
        </p:nvSpPr>
        <p:spPr>
          <a:xfrm>
            <a:off x="2747073"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ハッシュ化</a:t>
            </a:r>
          </a:p>
          <a:p>
            <a:pPr algn="ctr"/>
            <a:r>
              <a:rPr sz="950">
                <a:solidFill>
                  <a:srgbClr val="FFFFFF"/>
                </a:solidFill>
                <a:latin typeface="メイリオ"/>
                <a:ea typeface="メイリオ"/>
                <a:cs typeface="メイリオ"/>
              </a:rPr>
              <a:t>LINEヤフーAPI照合</a:t>
            </a:r>
          </a:p>
        </p:txBody>
      </p:sp>
      <p:sp>
        <p:nvSpPr>
          <p:cNvPr id="22" name="Chevron 2004">
            <a:extLst>
              <a:ext uri="{FF2B5EF4-FFF2-40B4-BE49-F238E27FC236}">
                <a16:creationId xmlns:a16="http://schemas.microsoft.com/office/drawing/2014/main" id="{9840FDFC-40F8-2732-4B52-3774EEECF41F}"/>
              </a:ext>
            </a:extLst>
          </p:cNvPr>
          <p:cNvSpPr/>
          <p:nvPr/>
        </p:nvSpPr>
        <p:spPr>
          <a:xfrm>
            <a:off x="5037645"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友だち化</a:t>
            </a:r>
          </a:p>
          <a:p>
            <a:pPr algn="ctr"/>
            <a:r>
              <a:rPr sz="950">
                <a:solidFill>
                  <a:srgbClr val="FFFFFF"/>
                </a:solidFill>
                <a:latin typeface="メイリオ"/>
                <a:ea typeface="メイリオ"/>
                <a:cs typeface="メイリオ"/>
              </a:rPr>
              <a:t>休眠リードをLINE化</a:t>
            </a:r>
          </a:p>
        </p:txBody>
      </p:sp>
      <p:sp>
        <p:nvSpPr>
          <p:cNvPr id="25" name="Chevron 2005">
            <a:extLst>
              <a:ext uri="{FF2B5EF4-FFF2-40B4-BE49-F238E27FC236}">
                <a16:creationId xmlns:a16="http://schemas.microsoft.com/office/drawing/2014/main" id="{E4A2AA24-7F5A-B469-896A-08719D7E75D1}"/>
              </a:ext>
            </a:extLst>
          </p:cNvPr>
          <p:cNvSpPr/>
          <p:nvPr/>
        </p:nvSpPr>
        <p:spPr>
          <a:xfrm>
            <a:off x="7328217" y="4245173"/>
            <a:ext cx="2180844" cy="68580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Day0合流</a:t>
            </a:r>
          </a:p>
          <a:p>
            <a:pPr algn="ctr"/>
            <a:r>
              <a:rPr sz="950">
                <a:solidFill>
                  <a:srgbClr val="FFFFFF"/>
                </a:solidFill>
                <a:latin typeface="メイリオ"/>
                <a:ea typeface="メイリオ"/>
                <a:cs typeface="メイリオ"/>
              </a:rPr>
              <a:t>短期／長期へ通常分岐</a:t>
            </a:r>
          </a:p>
        </p:txBody>
      </p:sp>
      <p:sp>
        <p:nvSpPr>
          <p:cNvPr id="24" name="Chevron 2001">
            <a:extLst>
              <a:ext uri="{FF2B5EF4-FFF2-40B4-BE49-F238E27FC236}">
                <a16:creationId xmlns:a16="http://schemas.microsoft.com/office/drawing/2014/main" id="{91FF439D-D4E2-C04E-9A1B-1318FF9A16D9}"/>
              </a:ext>
            </a:extLst>
          </p:cNvPr>
          <p:cNvSpPr/>
          <p:nvPr/>
        </p:nvSpPr>
        <p:spPr>
          <a:xfrm>
            <a:off x="456501" y="1839817"/>
            <a:ext cx="2926080" cy="54864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Day0</a:t>
            </a:r>
          </a:p>
        </p:txBody>
      </p:sp>
      <p:sp>
        <p:nvSpPr>
          <p:cNvPr id="28" name="TextBox 2002">
            <a:extLst>
              <a:ext uri="{FF2B5EF4-FFF2-40B4-BE49-F238E27FC236}">
                <a16:creationId xmlns:a16="http://schemas.microsoft.com/office/drawing/2014/main" id="{855ED89F-D224-EAF6-03A3-EC8F0E9111F8}"/>
              </a:ext>
            </a:extLst>
          </p:cNvPr>
          <p:cNvSpPr txBox="1"/>
          <p:nvPr/>
        </p:nvSpPr>
        <p:spPr>
          <a:xfrm>
            <a:off x="45650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アンケートで長期
ニーズ層と判定</a:t>
            </a:r>
          </a:p>
        </p:txBody>
      </p:sp>
      <p:sp>
        <p:nvSpPr>
          <p:cNvPr id="31" name="Chevron 2003">
            <a:extLst>
              <a:ext uri="{FF2B5EF4-FFF2-40B4-BE49-F238E27FC236}">
                <a16:creationId xmlns:a16="http://schemas.microsoft.com/office/drawing/2014/main" id="{EF9C8636-6B09-9263-5A67-DB781AB0B8A7}"/>
              </a:ext>
            </a:extLst>
          </p:cNvPr>
          <p:cNvSpPr/>
          <p:nvPr/>
        </p:nvSpPr>
        <p:spPr>
          <a:xfrm>
            <a:off x="3519741" y="1839817"/>
            <a:ext cx="2926080" cy="54864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Day1〜15</a:t>
            </a:r>
          </a:p>
        </p:txBody>
      </p:sp>
      <p:sp>
        <p:nvSpPr>
          <p:cNvPr id="34" name="TextBox 2004">
            <a:extLst>
              <a:ext uri="{FF2B5EF4-FFF2-40B4-BE49-F238E27FC236}">
                <a16:creationId xmlns:a16="http://schemas.microsoft.com/office/drawing/2014/main" id="{7B195B2D-D5DD-A6AF-1787-BE50FD77FA3F}"/>
              </a:ext>
            </a:extLst>
          </p:cNvPr>
          <p:cNvSpPr txBox="1"/>
          <p:nvPr/>
        </p:nvSpPr>
        <p:spPr>
          <a:xfrm>
            <a:off x="351974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隔週ペースで
基礎知識を教育配信</a:t>
            </a:r>
          </a:p>
        </p:txBody>
      </p:sp>
      <p:sp>
        <p:nvSpPr>
          <p:cNvPr id="36" name="Chevron 2005">
            <a:extLst>
              <a:ext uri="{FF2B5EF4-FFF2-40B4-BE49-F238E27FC236}">
                <a16:creationId xmlns:a16="http://schemas.microsoft.com/office/drawing/2014/main" id="{72262D61-75E5-1BAE-CB4A-36BFCB69D825}"/>
              </a:ext>
            </a:extLst>
          </p:cNvPr>
          <p:cNvSpPr/>
          <p:nvPr/>
        </p:nvSpPr>
        <p:spPr>
          <a:xfrm>
            <a:off x="6582981" y="1839817"/>
            <a:ext cx="2926080" cy="54864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反応時</a:t>
            </a:r>
          </a:p>
        </p:txBody>
      </p:sp>
      <p:sp>
        <p:nvSpPr>
          <p:cNvPr id="38" name="TextBox 2006">
            <a:extLst>
              <a:ext uri="{FF2B5EF4-FFF2-40B4-BE49-F238E27FC236}">
                <a16:creationId xmlns:a16="http://schemas.microsoft.com/office/drawing/2014/main" id="{C1A521F2-6CE9-E966-9A4F-48DD8B913AF9}"/>
              </a:ext>
            </a:extLst>
          </p:cNvPr>
          <p:cNvSpPr txBox="1"/>
          <p:nvPr/>
        </p:nvSpPr>
        <p:spPr>
          <a:xfrm>
            <a:off x="658298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短期トラックへ
自動フォールバック</a:t>
            </a:r>
          </a:p>
        </p:txBody>
      </p:sp>
      <p:sp>
        <p:nvSpPr>
          <p:cNvPr id="40" name="TextBox 2001">
            <a:extLst>
              <a:ext uri="{FF2B5EF4-FFF2-40B4-BE49-F238E27FC236}">
                <a16:creationId xmlns:a16="http://schemas.microsoft.com/office/drawing/2014/main" id="{04DDCAB8-88EA-D3FB-5D2A-9C531B903959}"/>
              </a:ext>
            </a:extLst>
          </p:cNvPr>
          <p:cNvSpPr txBox="1"/>
          <p:nvPr/>
        </p:nvSpPr>
        <p:spPr>
          <a:xfrm>
            <a:off x="456501" y="1474057"/>
            <a:ext cx="9052560" cy="320040"/>
          </a:xfrm>
          <a:prstGeom prst="rect">
            <a:avLst/>
          </a:prstGeom>
          <a:noFill/>
        </p:spPr>
        <p:txBody>
          <a:bodyPr wrap="square">
            <a:spAutoFit/>
          </a:bodyPr>
          <a:lstStyle/>
          <a:p>
            <a:pPr algn="l"/>
            <a:r>
              <a:rPr lang="en-US" sz="1400" b="1" dirty="0">
                <a:solidFill>
                  <a:srgbClr val="1F2A5C"/>
                </a:solidFill>
                <a:latin typeface="メイリオ" panose="020B0604030504040204" pitchFamily="50" charset="-128"/>
                <a:ea typeface="メイリオ" panose="020B0604030504040204" pitchFamily="50" charset="-128"/>
                <a:cs typeface="メイリオ"/>
              </a:rPr>
              <a:t>B</a:t>
            </a:r>
            <a:r>
              <a:rPr sz="1400" b="1" dirty="0">
                <a:solidFill>
                  <a:srgbClr val="1F2A5C"/>
                </a:solidFill>
                <a:latin typeface="メイリオ" panose="020B0604030504040204" pitchFamily="50" charset="-128"/>
                <a:ea typeface="メイリオ" panose="020B0604030504040204" pitchFamily="50" charset="-128"/>
                <a:cs typeface="メイリオ"/>
              </a:rPr>
              <a:t>. </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アンケート回答結果に基づく</a:t>
            </a:r>
            <a:endParaRPr sz="1400" b="1"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79613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DB548-D486-3EA8-8B0A-6AB1F4024AFD}"/>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B5E1738D-F77B-5CA6-8CD0-9A9EC26F9BDC}"/>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AE20F162-D6DD-162B-1177-CA089E539DF1}"/>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3" name="TextBox 2007">
            <a:extLst>
              <a:ext uri="{FF2B5EF4-FFF2-40B4-BE49-F238E27FC236}">
                <a16:creationId xmlns:a16="http://schemas.microsoft.com/office/drawing/2014/main" id="{E78531AA-9C5C-93A7-DEAB-957B5A74E584}"/>
              </a:ext>
            </a:extLst>
          </p:cNvPr>
          <p:cNvSpPr txBox="1"/>
          <p:nvPr/>
        </p:nvSpPr>
        <p:spPr>
          <a:xfrm>
            <a:off x="365760" y="1226239"/>
            <a:ext cx="9052560" cy="320040"/>
          </a:xfrm>
          <a:prstGeom prst="rect">
            <a:avLst/>
          </a:prstGeom>
          <a:noFill/>
        </p:spPr>
        <p:txBody>
          <a:bodyPr wrap="square">
            <a:spAutoFit/>
          </a:bodyPr>
          <a:lstStyle/>
          <a:p>
            <a:pPr algn="l"/>
            <a:r>
              <a:rPr sz="1300" b="1">
                <a:solidFill>
                  <a:srgbClr val="1F2A5C"/>
                </a:solidFill>
                <a:latin typeface="メイリオ"/>
                <a:ea typeface="メイリオ"/>
                <a:cs typeface="メイリオ"/>
              </a:rPr>
              <a:t>シーズナリティ連動トリガー（検索Volの季節性に合わせて再アプローチ）</a:t>
            </a:r>
          </a:p>
        </p:txBody>
      </p:sp>
      <p:sp>
        <p:nvSpPr>
          <p:cNvPr id="6" name="Rectangle 2008">
            <a:extLst>
              <a:ext uri="{FF2B5EF4-FFF2-40B4-BE49-F238E27FC236}">
                <a16:creationId xmlns:a16="http://schemas.microsoft.com/office/drawing/2014/main" id="{945E129C-F21B-0AE2-657B-28AE81F17F18}"/>
              </a:ext>
            </a:extLst>
          </p:cNvPr>
          <p:cNvSpPr/>
          <p:nvPr/>
        </p:nvSpPr>
        <p:spPr>
          <a:xfrm>
            <a:off x="36576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1月</a:t>
            </a:r>
          </a:p>
        </p:txBody>
      </p:sp>
      <p:sp>
        <p:nvSpPr>
          <p:cNvPr id="9" name="Rectangle 2009">
            <a:extLst>
              <a:ext uri="{FF2B5EF4-FFF2-40B4-BE49-F238E27FC236}">
                <a16:creationId xmlns:a16="http://schemas.microsoft.com/office/drawing/2014/main" id="{C7632AEE-6947-EFAB-5C48-764A058D5F0C}"/>
              </a:ext>
            </a:extLst>
          </p:cNvPr>
          <p:cNvSpPr/>
          <p:nvPr/>
        </p:nvSpPr>
        <p:spPr>
          <a:xfrm>
            <a:off x="112225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2月</a:t>
            </a:r>
          </a:p>
        </p:txBody>
      </p:sp>
      <p:sp>
        <p:nvSpPr>
          <p:cNvPr id="11" name="Rectangle 2010">
            <a:extLst>
              <a:ext uri="{FF2B5EF4-FFF2-40B4-BE49-F238E27FC236}">
                <a16:creationId xmlns:a16="http://schemas.microsoft.com/office/drawing/2014/main" id="{F1F7980F-B34E-8E0A-A779-DEC816D8E76C}"/>
              </a:ext>
            </a:extLst>
          </p:cNvPr>
          <p:cNvSpPr/>
          <p:nvPr/>
        </p:nvSpPr>
        <p:spPr>
          <a:xfrm>
            <a:off x="187875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3月</a:t>
            </a:r>
          </a:p>
        </p:txBody>
      </p:sp>
      <p:sp>
        <p:nvSpPr>
          <p:cNvPr id="13" name="Rectangle 2011">
            <a:extLst>
              <a:ext uri="{FF2B5EF4-FFF2-40B4-BE49-F238E27FC236}">
                <a16:creationId xmlns:a16="http://schemas.microsoft.com/office/drawing/2014/main" id="{E063EBB9-78F7-A4D4-F999-4C5AC7691AEC}"/>
              </a:ext>
            </a:extLst>
          </p:cNvPr>
          <p:cNvSpPr/>
          <p:nvPr/>
        </p:nvSpPr>
        <p:spPr>
          <a:xfrm>
            <a:off x="263524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4月</a:t>
            </a:r>
          </a:p>
        </p:txBody>
      </p:sp>
      <p:sp>
        <p:nvSpPr>
          <p:cNvPr id="16" name="Rectangle 2012">
            <a:extLst>
              <a:ext uri="{FF2B5EF4-FFF2-40B4-BE49-F238E27FC236}">
                <a16:creationId xmlns:a16="http://schemas.microsoft.com/office/drawing/2014/main" id="{9D5C35C5-AFBD-1E16-34BD-FEA820687F12}"/>
              </a:ext>
            </a:extLst>
          </p:cNvPr>
          <p:cNvSpPr/>
          <p:nvPr/>
        </p:nvSpPr>
        <p:spPr>
          <a:xfrm>
            <a:off x="339174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5月</a:t>
            </a:r>
          </a:p>
        </p:txBody>
      </p:sp>
      <p:sp>
        <p:nvSpPr>
          <p:cNvPr id="20" name="Rectangle 2013">
            <a:extLst>
              <a:ext uri="{FF2B5EF4-FFF2-40B4-BE49-F238E27FC236}">
                <a16:creationId xmlns:a16="http://schemas.microsoft.com/office/drawing/2014/main" id="{AF46E364-2991-EF4B-B9B4-F07ED66BFC8E}"/>
              </a:ext>
            </a:extLst>
          </p:cNvPr>
          <p:cNvSpPr/>
          <p:nvPr/>
        </p:nvSpPr>
        <p:spPr>
          <a:xfrm>
            <a:off x="414824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6月</a:t>
            </a:r>
          </a:p>
        </p:txBody>
      </p:sp>
      <p:sp>
        <p:nvSpPr>
          <p:cNvPr id="23" name="Rectangle 2014">
            <a:extLst>
              <a:ext uri="{FF2B5EF4-FFF2-40B4-BE49-F238E27FC236}">
                <a16:creationId xmlns:a16="http://schemas.microsoft.com/office/drawing/2014/main" id="{3505044C-9CC2-BDB7-A9BA-96EE69E34EAB}"/>
              </a:ext>
            </a:extLst>
          </p:cNvPr>
          <p:cNvSpPr/>
          <p:nvPr/>
        </p:nvSpPr>
        <p:spPr>
          <a:xfrm>
            <a:off x="490473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7月</a:t>
            </a:r>
          </a:p>
        </p:txBody>
      </p:sp>
      <p:sp>
        <p:nvSpPr>
          <p:cNvPr id="27" name="Rectangle 2015">
            <a:extLst>
              <a:ext uri="{FF2B5EF4-FFF2-40B4-BE49-F238E27FC236}">
                <a16:creationId xmlns:a16="http://schemas.microsoft.com/office/drawing/2014/main" id="{8AF5E7F4-5D53-86FD-2BD6-C7542F8A83FD}"/>
              </a:ext>
            </a:extLst>
          </p:cNvPr>
          <p:cNvSpPr/>
          <p:nvPr/>
        </p:nvSpPr>
        <p:spPr>
          <a:xfrm>
            <a:off x="566123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8月</a:t>
            </a:r>
          </a:p>
        </p:txBody>
      </p:sp>
      <p:sp>
        <p:nvSpPr>
          <p:cNvPr id="30" name="Rectangle 2016">
            <a:extLst>
              <a:ext uri="{FF2B5EF4-FFF2-40B4-BE49-F238E27FC236}">
                <a16:creationId xmlns:a16="http://schemas.microsoft.com/office/drawing/2014/main" id="{FD72C16D-C4A9-9A7A-6196-9E875CF443CD}"/>
              </a:ext>
            </a:extLst>
          </p:cNvPr>
          <p:cNvSpPr/>
          <p:nvPr/>
        </p:nvSpPr>
        <p:spPr>
          <a:xfrm>
            <a:off x="641772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9月</a:t>
            </a:r>
          </a:p>
        </p:txBody>
      </p:sp>
      <p:sp>
        <p:nvSpPr>
          <p:cNvPr id="33" name="Rectangle 2017">
            <a:extLst>
              <a:ext uri="{FF2B5EF4-FFF2-40B4-BE49-F238E27FC236}">
                <a16:creationId xmlns:a16="http://schemas.microsoft.com/office/drawing/2014/main" id="{00C86569-3F53-5888-AFF4-E0BFECCAE588}"/>
              </a:ext>
            </a:extLst>
          </p:cNvPr>
          <p:cNvSpPr/>
          <p:nvPr/>
        </p:nvSpPr>
        <p:spPr>
          <a:xfrm>
            <a:off x="717422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10月</a:t>
            </a:r>
          </a:p>
        </p:txBody>
      </p:sp>
      <p:sp>
        <p:nvSpPr>
          <p:cNvPr id="37" name="Rectangle 2018">
            <a:extLst>
              <a:ext uri="{FF2B5EF4-FFF2-40B4-BE49-F238E27FC236}">
                <a16:creationId xmlns:a16="http://schemas.microsoft.com/office/drawing/2014/main" id="{B4B7698F-F5C5-2766-1198-1F1B10650721}"/>
              </a:ext>
            </a:extLst>
          </p:cNvPr>
          <p:cNvSpPr/>
          <p:nvPr/>
        </p:nvSpPr>
        <p:spPr>
          <a:xfrm>
            <a:off x="793072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11月</a:t>
            </a:r>
          </a:p>
        </p:txBody>
      </p:sp>
      <p:sp>
        <p:nvSpPr>
          <p:cNvPr id="41" name="Rectangle 2019">
            <a:extLst>
              <a:ext uri="{FF2B5EF4-FFF2-40B4-BE49-F238E27FC236}">
                <a16:creationId xmlns:a16="http://schemas.microsoft.com/office/drawing/2014/main" id="{B9122433-2609-1807-931B-6CFB1FC1612C}"/>
              </a:ext>
            </a:extLst>
          </p:cNvPr>
          <p:cNvSpPr/>
          <p:nvPr/>
        </p:nvSpPr>
        <p:spPr>
          <a:xfrm>
            <a:off x="868721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12月</a:t>
            </a:r>
          </a:p>
        </p:txBody>
      </p:sp>
      <p:sp>
        <p:nvSpPr>
          <p:cNvPr id="43" name="TextBox 2020">
            <a:extLst>
              <a:ext uri="{FF2B5EF4-FFF2-40B4-BE49-F238E27FC236}">
                <a16:creationId xmlns:a16="http://schemas.microsoft.com/office/drawing/2014/main" id="{BB0A7A81-025F-493D-383E-8F7CCCFDA607}"/>
              </a:ext>
            </a:extLst>
          </p:cNvPr>
          <p:cNvSpPr txBox="1"/>
          <p:nvPr/>
        </p:nvSpPr>
        <p:spPr>
          <a:xfrm>
            <a:off x="365760" y="2186359"/>
            <a:ext cx="9052560" cy="446276"/>
          </a:xfrm>
          <a:prstGeom prst="rect">
            <a:avLst/>
          </a:prstGeom>
          <a:noFill/>
        </p:spPr>
        <p:txBody>
          <a:bodyPr wrap="square">
            <a:spAutoFit/>
          </a:bodyPr>
          <a:lstStyle/>
          <a:p>
            <a:pPr algn="l"/>
            <a:r>
              <a:rPr lang="ja-JP" altLang="en-US" sz="1150" b="0" dirty="0">
                <a:solidFill>
                  <a:srgbClr val="5A6378"/>
                </a:solidFill>
                <a:latin typeface="メイリオ" panose="020B0604030504040204" pitchFamily="50" charset="-128"/>
                <a:ea typeface="メイリオ" panose="020B0604030504040204" pitchFamily="50" charset="-128"/>
                <a:cs typeface="メイリオ"/>
              </a:rPr>
              <a:t>--</a:t>
            </a:r>
            <a:endParaRPr lang="en-US" altLang="ja-JP" sz="1150" b="0" dirty="0">
              <a:solidFill>
                <a:srgbClr val="5A637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291321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長期ニーズトラック：シーズナリティ連動の中長期設計</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検索Volの季節性に合わせて再アプローチのタイミングを最適化する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091185"/>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D. 参加後フォローアップ</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熱が高いうちに、サロンをご案内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セミナーの振り返り</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両想い営業・ライフプランブロックの要点をおさらい</a:t>
            </a:r>
            <a:endParaRPr lang="ja-JP" altLang="en-US" sz="1200" dirty="0"/>
          </a:p>
        </p:txBody>
      </p:sp>
      <p:cxnSp>
        <p:nvCxnSpPr>
          <p:cNvPr id="13" name="Connector 12"/>
          <p:cNvCxnSpPr/>
          <p:nvPr/>
        </p:nvCxnSpPr>
        <p:spPr>
          <a:xfrm>
            <a:off x="548640" y="2993136"/>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受講生の声</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「契約で頭がいっぱい」だった方が、個人保険でTOT</a:t>
            </a:r>
            <a:endParaRPr lang="ja-JP" altLang="en-US" sz="1200" dirty="0"/>
          </a:p>
        </p:txBody>
      </p:sp>
      <p:cxnSp>
        <p:nvCxnSpPr>
          <p:cNvPr id="15" name="Connector 14"/>
          <p:cNvCxnSpPr/>
          <p:nvPr/>
        </p:nvCxnSpPr>
        <p:spPr>
          <a:xfrm>
            <a:off x="548640" y="3669793"/>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サロンのご案内</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ライフプランブロックは、サロンの方だけが使える</a:t>
            </a:r>
            <a:endParaRPr lang="ja-JP" altLang="en-US" sz="1200" dirty="0"/>
          </a:p>
        </p:txBody>
      </p:sp>
      <p:sp>
        <p:nvSpPr>
          <p:cNvPr id="17" name="配信内容"/>
          <p:cNvSpPr/>
          <p:nvPr/>
        </p:nvSpPr>
        <p:spPr>
          <a:xfrm>
            <a:off x="5129783"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受講生の声</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ロープレ動画で面談を振り返り、TOTを達成</a:t>
            </a:r>
            <a:endParaRPr lang="ja-JP" altLang="en-US" sz="1200" dirty="0"/>
          </a:p>
        </p:txBody>
      </p:sp>
      <p:cxnSp>
        <p:nvCxnSpPr>
          <p:cNvPr id="18" name="Connector 17"/>
          <p:cNvCxnSpPr/>
          <p:nvPr/>
        </p:nvCxnSpPr>
        <p:spPr>
          <a:xfrm>
            <a:off x="5129783" y="2993136"/>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講師メッセージ</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毎日遅くまで働いた頃から、働く時間を半分以下に</a:t>
            </a:r>
            <a:endParaRPr lang="ja-JP" altLang="en-US" sz="1200" dirty="0"/>
          </a:p>
        </p:txBody>
      </p:sp>
      <p:cxnSp>
        <p:nvCxnSpPr>
          <p:cNvPr id="20" name="Connector 19"/>
          <p:cNvCxnSpPr/>
          <p:nvPr/>
        </p:nvCxnSpPr>
        <p:spPr>
          <a:xfrm>
            <a:off x="5129783" y="3669793"/>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次のセミナーのご案内</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次回の日程と、サロン入会のお申込み方法</a:t>
            </a:r>
            <a:endParaRPr lang="ja-JP" altLang="en-US" sz="1200" dirty="0"/>
          </a:p>
        </p:txBody>
      </p:sp>
      <p:sp>
        <p:nvSpPr>
          <p:cNvPr id="22" name="注記"/>
          <p:cNvSpPr/>
          <p:nvPr/>
        </p:nvSpPr>
        <p:spPr>
          <a:xfrm>
            <a:off x="457200" y="6047231"/>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※配信内容は、貴社LPの「受講生の声」「講師メッセージ」「よくある質問」「講師紹介」をもとにした例</a:t>
            </a:r>
            <a:endParaRPr lang="ja-JP" altLang="en-US" sz="1200" dirty="0"/>
          </a:p>
        </p:txBody>
      </p:sp>
      <p:sp>
        <p:nvSpPr>
          <p:cNvPr id="23" name="ほかの配信案"/>
          <p:cNvSpPr/>
          <p:nvPr/>
        </p:nvSpPr>
        <p:spPr>
          <a:xfrm>
            <a:off x="457200" y="4474463"/>
            <a:ext cx="9052560" cy="292608"/>
          </a:xfrm>
          <a:prstGeom prst="rect">
            <a:avLst/>
          </a:prstGeom>
          <a:noFill/>
          <a:ln>
            <a:noFill/>
          </a:ln>
        </p:spPr>
        <p:txBody>
          <a:bodyPr wrap="square" lIns="91440" tIns="0" rIns="0" bIns="0"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他の案</a:t>
            </a:r>
            <a:endParaRPr lang="ja-JP" altLang="en-US" sz="1200" dirty="0"/>
          </a:p>
        </p:txBody>
      </p:sp>
      <p:sp>
        <p:nvSpPr>
          <p:cNvPr id="24" name="ほかの配信案 項目"/>
          <p:cNvSpPr/>
          <p:nvPr/>
        </p:nvSpPr>
        <p:spPr>
          <a:xfrm>
            <a:off x="457200" y="4767071"/>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よくある質問</a:t>
            </a:r>
            <a:endParaRPr lang="ja-JP" altLang="en-US" sz="1200" dirty="0"/>
          </a:p>
        </p:txBody>
      </p:sp>
      <p:sp>
        <p:nvSpPr>
          <p:cNvPr id="25" name="ほかの配信案 内容"/>
          <p:cNvSpPr/>
          <p:nvPr/>
        </p:nvSpPr>
        <p:spPr>
          <a:xfrm>
            <a:off x="2377440" y="4767071"/>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rPr>
              <a:t>次のセミナーの案内に添える</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地方からも参加できる・録画はない・初心者でも分かる・参加は無料</a:t>
            </a:r>
            <a:endParaRPr lang="ja-JP" altLang="en-US" sz="1200" dirty="0"/>
          </a:p>
        </p:txBody>
      </p:sp>
      <p:sp>
        <p:nvSpPr>
          <p:cNvPr id="26" name="ほかの配信案 項目"/>
          <p:cNvSpPr/>
          <p:nvPr/>
        </p:nvSpPr>
        <p:spPr>
          <a:xfrm>
            <a:off x="457200" y="5352287"/>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講師紹介</a:t>
            </a:r>
            <a:endParaRPr lang="ja-JP" altLang="en-US" sz="1200" dirty="0"/>
          </a:p>
        </p:txBody>
      </p:sp>
      <p:sp>
        <p:nvSpPr>
          <p:cNvPr id="27" name="ほかの配信案 内容"/>
          <p:cNvSpPr/>
          <p:nvPr/>
        </p:nvSpPr>
        <p:spPr>
          <a:xfrm>
            <a:off x="2377440" y="5352287"/>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rPr>
              <a:t>入会を迷っている方へ</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谷岡さんの経歴：契約件数全国1位で表彰・週2日の営業で毎年TOT</a:t>
            </a:r>
            <a:endParaRPr lang="ja-JP" altLang="en-US" sz="1200" dirty="0"/>
          </a:p>
        </p:txBody>
      </p:sp>
    </p:spTree>
    <p:extLst>
      <p:ext uri="{BB962C8B-B14F-4D97-AF65-F5344CB8AC3E}">
        <p14:creationId xmlns:p14="http://schemas.microsoft.com/office/powerpoint/2010/main" val="4396800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簡易</a:t>
            </a:r>
            <a:r>
              <a:rPr lang="en-US" altLang="ja-JP" sz="1000" b="1" dirty="0">
                <a:solidFill>
                  <a:schemeClr val="bg1"/>
                </a:solidFill>
                <a:latin typeface="メイリオ"/>
                <a:ea typeface="メイリオ"/>
                <a:cs typeface="メイリオ"/>
                <a:sym typeface="Meiryo"/>
              </a:rPr>
              <a:t>SIM</a:t>
            </a:r>
            <a:r>
              <a:rPr lang="ja-JP" altLang="en-US" sz="1000" b="1" dirty="0">
                <a:solidFill>
                  <a:schemeClr val="bg1"/>
                </a:solidFill>
                <a:latin typeface="メイリオ"/>
                <a:ea typeface="メイリオ"/>
                <a:cs typeface="メイリオ"/>
                <a:sym typeface="Meiryo"/>
              </a:rPr>
              <a:t>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複数の</a:t>
            </a: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数を増加。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友だち追加直後〜成約誘導まで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季節・時期ごとの企画配信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メイリオ"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したキャンペーン案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4048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50,000〜100,000円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115,000〜165,000円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100,000円〜＋ポップアップツール 15,000円＋サンクスLINE誘導 150,000円＋LINE公式アカウント開設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※月額ツール・LINE関連費＝ポップアップツール 30,000円＋サンクスLINE誘導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295,000円〜／月額 65,000円＋成果報酬（セミナー予約 12,000円／件）</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※契約期間は6か月〜。広告費は含まない。概算お見積りのページはプラン②の場合（平常期の月額コンサルティング費は100,000円で計算）</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2955272464"/>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ポップアップツール・</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セミナー前日のお知らせ</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貴社作業・確認にかかる時間により前後する可能性がございます。</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Tree>
    <p:extLst>
      <p:ext uri="{BB962C8B-B14F-4D97-AF65-F5344CB8AC3E}">
        <p14:creationId xmlns:p14="http://schemas.microsoft.com/office/powerpoint/2010/main" val="21214348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LINEは積み上がる</a:t>
            </a:r>
            <a:r>
              <a:rPr lang="ja-JP" altLang="en-US" sz="1600" b="1" dirty="0">
                <a:latin typeface="メイリオ" panose="020B0604030504040204" pitchFamily="50" charset="-128"/>
                <a:ea typeface="メイリオ" panose="020B0604030504040204" pitchFamily="50" charset="-128"/>
                <a:cs typeface="メイリオ"/>
                <a:sym typeface="Meiryo"/>
              </a:rPr>
              <a:t>・追い続けられる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 4"/>
          <p:cNvGraphicFramePr>
            <a:graphicFrameLocks noGrp="1"/>
          </p:cNvGraphicFramePr>
          <p:nvPr/>
        </p:nvGraphicFramePr>
        <p:xfrm>
          <a:off x="502920" y="2110892"/>
          <a:ext cx="8897112" cy="2057400"/>
        </p:xfrm>
        <a:graphic>
          <a:graphicData uri="http://schemas.openxmlformats.org/drawingml/2006/table">
            <a:tbl>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1148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届く相手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毎回、新しく集める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一度友だちになった方に、何度でも届く</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届き方</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広告を見たときだけ</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通知で届き、見てもらいやすい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イベントの後</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つながりが切れる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友だちとして、毎月積み上がる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示唆"/>
          <p:cNvSpPr/>
          <p:nvPr/>
        </p:nvSpPr>
        <p:spPr>
          <a:xfrm>
            <a:off x="502920" y="4396892"/>
            <a:ext cx="8897112" cy="548640"/>
          </a:xfrm>
          <a:prstGeom prst="rect">
            <a:avLst/>
          </a:prstGeom>
          <a:solidFill>
            <a:srgbClr val="F2F2F2"/>
          </a:solidFill>
          <a:ln>
            <a:noFill/>
          </a:ln>
        </p:spPr>
        <p:txBody>
          <a:bodyPr wrap="square" lIns="73152" tIns="36576" rIns="73152" bIns="36576" rtlCol="0" anchor="ctr">
            <a:noAutofit/>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この仕組みが回れば、今後の広告費を抑えられる可能性もある</a:t>
            </a:r>
            <a:endParaRPr lang="ja-JP" altLang="en-US" sz="1200" dirty="0">
              <a:latin typeface="メイリオ"/>
              <a:ea typeface="メイリオ"/>
              <a:cs typeface="メイリオ"/>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49320-CC43-CC0E-CB2A-2A81BA8880F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D032B5A-3DAD-BB45-FCD6-9BD41BA62A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Tree>
    <p:extLst>
      <p:ext uri="{BB962C8B-B14F-4D97-AF65-F5344CB8AC3E}">
        <p14:creationId xmlns:p14="http://schemas.microsoft.com/office/powerpoint/2010/main" val="11662282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
        <p:nvSpPr>
          <p:cNvPr id="3" name="Lead">
            <a:extLst>
              <a:ext uri="{FF2B5EF4-FFF2-40B4-BE49-F238E27FC236}">
                <a16:creationId xmlns:a16="http://schemas.microsoft.com/office/drawing/2014/main" id="{F08FF241-FA02-3DB4-F5A0-2846B825B044}"/>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panose="020B0604030504040204" pitchFamily="50" charset="-128"/>
                <a:ea typeface="メイリオ" panose="020B0604030504040204" pitchFamily="50" charset="-128"/>
                <a:cs typeface="メイリオ"/>
              </a:rPr>
              <a:t>保険・イベント集客におけるLINE公式アカウントの活用事例</a:t>
            </a:r>
          </a:p>
        </p:txBody>
      </p:sp>
      <p:sp>
        <p:nvSpPr>
          <p:cNvPr id="6" name="Body">
            <a:extLst>
              <a:ext uri="{FF2B5EF4-FFF2-40B4-BE49-F238E27FC236}">
                <a16:creationId xmlns:a16="http://schemas.microsoft.com/office/drawing/2014/main" id="{82F47B3D-36AC-458C-435D-AA635278C458}"/>
              </a:ext>
            </a:extLst>
          </p:cNvPr>
          <p:cNvSpPr txBox="1"/>
          <p:nvPr/>
        </p:nvSpPr>
        <p:spPr>
          <a:xfrm>
            <a:off x="342900" y="1270000"/>
            <a:ext cx="6743700" cy="3810000"/>
          </a:xfrm>
          <a:prstGeom prst="rect">
            <a:avLst/>
          </a:prstGeom>
          <a:noFill/>
        </p:spPr>
        <p:txBody>
          <a:bodyPr wrap="square" lIns="0" tIns="0" rIns="0" bIns="0" anchor="t"/>
          <a:lstStyle/>
          <a:p>
            <a:endParaRPr>
              <a:latin typeface="メイリオ" panose="020B0604030504040204" pitchFamily="50" charset="-128"/>
              <a:ea typeface="メイリオ" panose="020B0604030504040204" pitchFamily="50" charset="-128"/>
              <a:cs typeface="メイリオ"/>
            </a:endParaRPr>
          </a:p>
        </p:txBody>
      </p:sp>
      <p:sp>
        <p:nvSpPr>
          <p:cNvPr id="8" name="TextBox 2001">
            <a:extLst>
              <a:ext uri="{FF2B5EF4-FFF2-40B4-BE49-F238E27FC236}">
                <a16:creationId xmlns:a16="http://schemas.microsoft.com/office/drawing/2014/main" id="{1266011E-8375-ED18-07F7-0E1E547F7E33}"/>
              </a:ext>
            </a:extLst>
          </p:cNvPr>
          <p:cNvSpPr txBox="1"/>
          <p:nvPr/>
        </p:nvSpPr>
        <p:spPr>
          <a:xfrm>
            <a:off x="365760" y="1371600"/>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生命保険会社</a:t>
            </a:r>
          </a:p>
        </p:txBody>
      </p:sp>
      <p:sp>
        <p:nvSpPr>
          <p:cNvPr id="10" name="Oval 2002">
            <a:extLst>
              <a:ext uri="{FF2B5EF4-FFF2-40B4-BE49-F238E27FC236}">
                <a16:creationId xmlns:a16="http://schemas.microsoft.com/office/drawing/2014/main" id="{77E596DF-1EAC-1237-A0BF-A8592C3A90C8}"/>
              </a:ext>
            </a:extLst>
          </p:cNvPr>
          <p:cNvSpPr/>
          <p:nvPr/>
        </p:nvSpPr>
        <p:spPr>
          <a:xfrm>
            <a:off x="914400" y="1783080"/>
            <a:ext cx="146685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a:solidFill>
                  <a:srgbClr val="FFFFFF"/>
                </a:solidFill>
                <a:latin typeface="メイリオ" panose="020B0604030504040204" pitchFamily="50" charset="-128"/>
                <a:ea typeface="メイリオ" panose="020B0604030504040204" pitchFamily="50" charset="-128"/>
              </a:rPr>
              <a:t>約8倍</a:t>
            </a:r>
          </a:p>
          <a:p>
            <a:pPr algn="ctr"/>
            <a:r>
              <a:rPr sz="1000">
                <a:solidFill>
                  <a:srgbClr val="FFFFFF"/>
                </a:solidFill>
                <a:latin typeface="メイリオ" panose="020B0604030504040204" pitchFamily="50" charset="-128"/>
                <a:ea typeface="メイリオ" panose="020B0604030504040204" pitchFamily="50" charset="-128"/>
              </a:rPr>
              <a:t>資料請求の</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CV率</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（メール比）</a:t>
            </a:r>
          </a:p>
        </p:txBody>
      </p:sp>
      <p:sp>
        <p:nvSpPr>
          <p:cNvPr id="12" name="Oval 2003">
            <a:extLst>
              <a:ext uri="{FF2B5EF4-FFF2-40B4-BE49-F238E27FC236}">
                <a16:creationId xmlns:a16="http://schemas.microsoft.com/office/drawing/2014/main" id="{7F917EDB-4DA5-2D51-DEF9-F1D7DC62A3D0}"/>
              </a:ext>
            </a:extLst>
          </p:cNvPr>
          <p:cNvSpPr/>
          <p:nvPr/>
        </p:nvSpPr>
        <p:spPr>
          <a:xfrm>
            <a:off x="2743200" y="1783080"/>
            <a:ext cx="146685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a:solidFill>
                  <a:srgbClr val="FFFFFF"/>
                </a:solidFill>
                <a:latin typeface="メイリオ" panose="020B0604030504040204" pitchFamily="50" charset="-128"/>
                <a:ea typeface="メイリオ" panose="020B0604030504040204" pitchFamily="50" charset="-128"/>
              </a:rPr>
              <a:t>5.2%</a:t>
            </a:r>
          </a:p>
          <a:p>
            <a:pPr algn="ctr"/>
            <a:r>
              <a:rPr sz="1000">
                <a:solidFill>
                  <a:srgbClr val="FFFFFF"/>
                </a:solidFill>
                <a:latin typeface="メイリオ" panose="020B0604030504040204" pitchFamily="50" charset="-128"/>
                <a:ea typeface="メイリオ" panose="020B0604030504040204" pitchFamily="50" charset="-128"/>
              </a:rPr>
              <a:t>営業職員経由</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の友だちの</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ブロック率</a:t>
            </a:r>
          </a:p>
        </p:txBody>
      </p:sp>
      <p:sp>
        <p:nvSpPr>
          <p:cNvPr id="14" name="TextBox 2004">
            <a:extLst>
              <a:ext uri="{FF2B5EF4-FFF2-40B4-BE49-F238E27FC236}">
                <a16:creationId xmlns:a16="http://schemas.microsoft.com/office/drawing/2014/main" id="{2705E967-51E9-64AC-1273-825ACF9CF11D}"/>
              </a:ext>
            </a:extLst>
          </p:cNvPr>
          <p:cNvSpPr txBox="1"/>
          <p:nvPr/>
        </p:nvSpPr>
        <p:spPr>
          <a:xfrm>
            <a:off x="365760" y="3427095"/>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教室・スクール（見学会などのイベント集客）</a:t>
            </a:r>
          </a:p>
        </p:txBody>
      </p:sp>
      <p:sp>
        <p:nvSpPr>
          <p:cNvPr id="16" name="Rounded Rectangle 2005">
            <a:extLst>
              <a:ext uri="{FF2B5EF4-FFF2-40B4-BE49-F238E27FC236}">
                <a16:creationId xmlns:a16="http://schemas.microsoft.com/office/drawing/2014/main" id="{ABF72EB3-0E58-C4B4-86D5-6D34D9F75C0B}"/>
              </a:ext>
            </a:extLst>
          </p:cNvPr>
          <p:cNvSpPr/>
          <p:nvPr/>
        </p:nvSpPr>
        <p:spPr>
          <a:xfrm>
            <a:off x="914400" y="3838575"/>
            <a:ext cx="146304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dirty="0">
                <a:solidFill>
                  <a:srgbClr val="FFFFFF"/>
                </a:solidFill>
                <a:latin typeface="メイリオ" panose="020B0604030504040204" pitchFamily="50" charset="-128"/>
                <a:ea typeface="メイリオ" panose="020B0604030504040204" pitchFamily="50" charset="-128"/>
              </a:rPr>
              <a:t>約7割</a:t>
            </a:r>
          </a:p>
          <a:p>
            <a:pPr algn="ctr"/>
            <a:r>
              <a:rPr sz="1000" dirty="0" err="1">
                <a:solidFill>
                  <a:srgbClr val="FFFFFF"/>
                </a:solidFill>
                <a:latin typeface="メイリオ" panose="020B0604030504040204" pitchFamily="50" charset="-128"/>
                <a:ea typeface="メイリオ" panose="020B0604030504040204" pitchFamily="50" charset="-128"/>
              </a:rPr>
              <a:t>見学会の参加者の</a:t>
            </a:r>
            <a:br>
              <a:rPr sz="1000" dirty="0" err="1">
                <a:solidFill>
                  <a:srgbClr val="FFFFFF"/>
                </a:solidFill>
                <a:latin typeface="メイリオ" panose="020B0604030504040204" pitchFamily="50" charset="-128"/>
                <a:ea typeface="メイリオ" panose="020B0604030504040204" pitchFamily="50" charset="-128"/>
              </a:rPr>
            </a:br>
            <a:r>
              <a:rPr sz="1000" dirty="0" err="1">
                <a:solidFill>
                  <a:srgbClr val="FFFFFF"/>
                </a:solidFill>
                <a:latin typeface="メイリオ" panose="020B0604030504040204" pitchFamily="50" charset="-128"/>
                <a:ea typeface="メイリオ" panose="020B0604030504040204" pitchFamily="50" charset="-128"/>
              </a:rPr>
              <a:t>入会率</a:t>
            </a:r>
            <a:endParaRPr sz="800" dirty="0">
              <a:solidFill>
                <a:srgbClr val="FFFFFF"/>
              </a:solidFill>
              <a:latin typeface="メイリオ" panose="020B0604030504040204" pitchFamily="50" charset="-128"/>
              <a:ea typeface="メイリオ" panose="020B0604030504040204" pitchFamily="50" charset="-128"/>
            </a:endParaRPr>
          </a:p>
        </p:txBody>
      </p:sp>
      <p:sp>
        <p:nvSpPr>
          <p:cNvPr id="17" name="注記"/>
          <p:cNvSpPr/>
          <p:nvPr/>
        </p:nvSpPr>
        <p:spPr>
          <a:xfrm>
            <a:off x="365760" y="52120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※LINEヤフー for Business 掲載の事例（数値は各社調べ）。生命保険会社＝2024年4月・2025年2月公開、教室＝2021年8月公開。5.2%は営業職員経由の友だち（自然に友だちになった方は74.9%）</a:t>
            </a:r>
            <a:endParaRPr lang="ja-JP" altLang="en-US" sz="1200" dirty="0"/>
          </a:p>
        </p:txBody>
      </p:sp>
    </p:spTree>
    <p:extLst>
      <p:ext uri="{BB962C8B-B14F-4D97-AF65-F5344CB8AC3E}">
        <p14:creationId xmlns:p14="http://schemas.microsoft.com/office/powerpoint/2010/main" val="21557982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142239</TotalTime>
  <Words>6597</Words>
  <Application>Microsoft Office PowerPoint</Application>
  <PresentationFormat>A4 210 x 297 mm</PresentationFormat>
  <Paragraphs>1355</Paragraphs>
  <Slides>63</Slides>
  <Notes>29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63</vt:i4>
      </vt:variant>
    </vt:vector>
  </HeadingPairs>
  <TitlesOfParts>
    <vt:vector size="69"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1951</cp:revision>
  <cp:lastPrinted>2022-11-01T11:38:14Z</cp:lastPrinted>
  <dcterms:created xsi:type="dcterms:W3CDTF">2015-09-04T09:21:15Z</dcterms:created>
  <dcterms:modified xsi:type="dcterms:W3CDTF">2026-10-20T07:51:33Z</dcterms:modified>
</cp:coreProperties>
</file>