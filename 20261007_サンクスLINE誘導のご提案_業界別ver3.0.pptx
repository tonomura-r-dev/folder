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43" r:id="rId3"/>
    <p:sldId id="3008" r:id="rId4"/>
    <p:sldId id="3039" r:id="rId5"/>
    <p:sldId id="3041" r:id="rId6"/>
    <p:sldId id="3044" r:id="rId7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256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広告と一緒にサンクスLINEを実施する理由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広告はCVまで、サンクスLINEはCVの後を担う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800000"/>
            <a:ext cx="1655999" cy="574200"/>
          </a:xfrm>
          <a:prstGeom prst="rect">
            <a:avLst/>
          </a:prstGeom>
          <a:noFill/>
        </p:spPr>
        <p:txBody>
          <a:bodyPr wrap="square" lIns="36000" tIns="18000" rIns="36000" bIns="18000" anchor="b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CV獲得まで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8000" y="240552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AD領域</a:t>
            </a:r>
          </a:p>
        </p:txBody>
      </p:sp>
      <p:sp>
        <p:nvSpPr>
          <p:cNvPr id="8" name="Pentagon 7"/>
          <p:cNvSpPr/>
          <p:nvPr/>
        </p:nvSpPr>
        <p:spPr>
          <a:xfrm>
            <a:off x="2556000" y="1800000"/>
            <a:ext cx="1591807" cy="1044000"/>
          </a:xfrm>
          <a:prstGeom prst="homePlate">
            <a:avLst>
              <a:gd name="adj" fmla="val 22000"/>
            </a:avLst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64000" y="1800000"/>
            <a:ext cx="1285807" cy="104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10" name="Chevron 9"/>
          <p:cNvSpPr/>
          <p:nvPr/>
        </p:nvSpPr>
        <p:spPr>
          <a:xfrm>
            <a:off x="4021807" y="1800000"/>
            <a:ext cx="1591807" cy="1044000"/>
          </a:xfrm>
          <a:prstGeom prst="chevron">
            <a:avLst>
              <a:gd name="adj" fmla="val 22000"/>
            </a:avLst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55807" y="1800000"/>
            <a:ext cx="1159807" cy="104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2" name="Chevron 11"/>
          <p:cNvSpPr/>
          <p:nvPr/>
        </p:nvSpPr>
        <p:spPr>
          <a:xfrm>
            <a:off x="5487614" y="1800000"/>
            <a:ext cx="1830578" cy="1044000"/>
          </a:xfrm>
          <a:prstGeom prst="chevron">
            <a:avLst>
              <a:gd name="adj" fmla="val 22000"/>
            </a:avLst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21614" y="1800000"/>
            <a:ext cx="1398578" cy="104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離脱防止施策</a:t>
            </a:r>
          </a:p>
        </p:txBody>
      </p:sp>
      <p:sp>
        <p:nvSpPr>
          <p:cNvPr id="14" name="Chevron 13"/>
          <p:cNvSpPr/>
          <p:nvPr/>
        </p:nvSpPr>
        <p:spPr>
          <a:xfrm>
            <a:off x="7192192" y="1800000"/>
            <a:ext cx="1591807" cy="1044000"/>
          </a:xfrm>
          <a:prstGeom prst="chevron">
            <a:avLst>
              <a:gd name="adj" fmla="val 22000"/>
            </a:avLst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26192" y="1800000"/>
            <a:ext cx="1159807" cy="104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6000" y="1800000"/>
            <a:ext cx="2195999" cy="104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CPA改善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CV1件あたりの広告費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2880000"/>
            <a:ext cx="6227999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離脱しそうなユーザーを引き止め、CVの取りこぼしを減らす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2000" y="3438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2000" y="3708000"/>
            <a:ext cx="1655999" cy="574200"/>
          </a:xfrm>
          <a:prstGeom prst="rect">
            <a:avLst/>
          </a:prstGeom>
          <a:noFill/>
        </p:spPr>
        <p:txBody>
          <a:bodyPr wrap="square" lIns="36000" tIns="18000" rIns="36000" bIns="18000" anchor="b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CV獲得後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8000" y="431352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LINE領域</a:t>
            </a:r>
          </a:p>
        </p:txBody>
      </p:sp>
      <p:sp>
        <p:nvSpPr>
          <p:cNvPr id="21" name="Pentagon 20"/>
          <p:cNvSpPr/>
          <p:nvPr/>
        </p:nvSpPr>
        <p:spPr>
          <a:xfrm>
            <a:off x="2556000" y="3708000"/>
            <a:ext cx="1124425" cy="1044000"/>
          </a:xfrm>
          <a:prstGeom prst="homePlate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64000" y="3708000"/>
            <a:ext cx="818425" cy="104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23" name="Chevron 22"/>
          <p:cNvSpPr/>
          <p:nvPr/>
        </p:nvSpPr>
        <p:spPr>
          <a:xfrm>
            <a:off x="3554425" y="3708000"/>
            <a:ext cx="1756914" cy="1044000"/>
          </a:xfrm>
          <a:prstGeom prst="chevron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88425" y="3708000"/>
            <a:ext cx="1324914" cy="104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5" name="Chevron 24"/>
          <p:cNvSpPr/>
          <p:nvPr/>
        </p:nvSpPr>
        <p:spPr>
          <a:xfrm>
            <a:off x="5185340" y="3708000"/>
            <a:ext cx="1756914" cy="1044000"/>
          </a:xfrm>
          <a:prstGeom prst="chevron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19340" y="3708000"/>
            <a:ext cx="1324914" cy="104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LINEで継続フォロー</a:t>
            </a:r>
          </a:p>
        </p:txBody>
      </p:sp>
      <p:sp>
        <p:nvSpPr>
          <p:cNvPr id="27" name="Chevron 26"/>
          <p:cNvSpPr/>
          <p:nvPr/>
        </p:nvSpPr>
        <p:spPr>
          <a:xfrm>
            <a:off x="6816255" y="3708000"/>
            <a:ext cx="1967744" cy="104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0255" y="3708000"/>
            <a:ext cx="1535744" cy="104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16000" y="3708000"/>
            <a:ext cx="2195999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CPO改善</a:t>
            </a:r>
            <a:endParaRPr sz="2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 dirty="0">
                <a:solidFill>
                  <a:srgbClr val="D9DCEA"/>
                </a:solidFill>
                <a:latin typeface="メイリオ"/>
                <a:ea typeface="メイリオ"/>
                <a:cs typeface="メイリオ"/>
              </a:rPr>
              <a:t>購入1件あたりの費用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5340" y="4788000"/>
            <a:ext cx="3598659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リマインド・情報提供で、CVの後の離脱を防ぐ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00" y="5544000"/>
            <a:ext cx="1062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広告のCPA改善だけではなく、CV後まで含めて事業全体の獲得効率を改善する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1691884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7537034" y="2187780"/>
            <a:ext cx="3061624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7537035" y="4317370"/>
            <a:ext cx="306162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7583090" y="20331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7583090" y="41952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7162523" y="2932418"/>
            <a:ext cx="391555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7162523" y="3354124"/>
            <a:ext cx="345499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53316" y="2021148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65094" y="4121293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7583091" y="2552900"/>
            <a:ext cx="151097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7555221" y="4735255"/>
            <a:ext cx="16471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998" y="2977479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724" y="2983787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1394" y="4118389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794" y="4270789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9667828" y="2536378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1510609" y="2027927"/>
            <a:ext cx="1405728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957810" y="3262734"/>
            <a:ext cx="252701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1510609" y="4624810"/>
            <a:ext cx="1405728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3344" y="2214387"/>
            <a:ext cx="1249593" cy="2257852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3245020" y="2000983"/>
            <a:ext cx="150853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3242276" y="4603503"/>
            <a:ext cx="150853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3359597" y="2260627"/>
            <a:ext cx="1312445" cy="2202364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4710177" y="1804300"/>
            <a:ext cx="307967" cy="41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686399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9512823" y="4498577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5145349" y="846996"/>
            <a:ext cx="563179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5145350" y="1172815"/>
            <a:ext cx="471862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7554077" y="1518664"/>
            <a:ext cx="3044580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1686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初期：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15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</a:t>
            </a:r>
            <a:endParaRPr b="1" dirty="0">
              <a:solidFill>
                <a:schemeClr val="lt1"/>
              </a:solidFill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3280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月額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3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万円～</a:t>
            </a:r>
            <a:endParaRPr lang="en-US" altLang="ja-JP" b="1" dirty="0">
              <a:solidFill>
                <a:schemeClr val="lt1"/>
              </a:solidFill>
              <a:sym typeface="Meiryo"/>
            </a:endParaRPr>
          </a:p>
          <a:p>
            <a:pPr algn="ctr">
              <a:buSzPts val="1400"/>
            </a:pPr>
            <a:r>
              <a:rPr lang="en-US" altLang="ja-JP" sz="1050" b="1" dirty="0">
                <a:solidFill>
                  <a:srgbClr val="FFFF00"/>
                </a:solidFill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sym typeface="Meiryo"/>
              </a:rPr>
              <a:t>設定地点追加</a:t>
            </a:r>
            <a:endParaRPr sz="1050" b="1" dirty="0">
              <a:solidFill>
                <a:srgbClr val="FFFF00"/>
              </a:solidFill>
              <a:sym typeface="Meiryo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2146069" y="190940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6633" y="4115263"/>
            <a:ext cx="466595" cy="8613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7778" y="2294975"/>
            <a:ext cx="466595" cy="8613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2354690" y="5205027"/>
            <a:ext cx="4874067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  <a:stCxn id="33" idx="1"/>
          </p:cNvCxnSpPr>
          <p:nvPr/>
        </p:nvCxnSpPr>
        <p:spPr>
          <a:xfrm flipH="1" flipV="1">
            <a:off x="2066925" y="4868960"/>
            <a:ext cx="287764" cy="66604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6504546" y="2415812"/>
            <a:ext cx="653304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4819827" y="3203047"/>
            <a:ext cx="1632963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4831291" y="2187781"/>
            <a:ext cx="1586044" cy="948384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 flipV="1">
            <a:off x="7217657" y="4971540"/>
            <a:ext cx="2192682" cy="59904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11070119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実例｜予約後の来院率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予約直後にLINEでつながり、前日のお知らせで来院につなげた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620000"/>
            <a:ext cx="3600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052000"/>
            <a:ext cx="273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358000"/>
            <a:ext cx="273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600000" y="3600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88000" y="2052000"/>
            <a:ext cx="417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導入・活用方法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8000" y="2358000"/>
            <a:ext cx="417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5999" y="3600000"/>
            <a:ext cx="216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424000" y="2052000"/>
            <a:ext cx="2988000" cy="30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結果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4000" y="2358000"/>
            <a:ext cx="2988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2000" y="2556000"/>
            <a:ext cx="2376000" cy="237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予約から来院日まで、接点がない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予約後に来院しない方が一定数いる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6000" y="2538000"/>
            <a:ext cx="3600000" cy="4185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予約完了画面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76000" y="2967300"/>
            <a:ext cx="0" cy="1943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176000" y="3172500"/>
            <a:ext cx="3600000" cy="4185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36017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176000" y="3806999"/>
            <a:ext cx="3600000" cy="4185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76000" y="42362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176000" y="4441500"/>
            <a:ext cx="3600000" cy="4185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予約確認・前日のお知らせをLINEで配信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000" y="2520000"/>
            <a:ext cx="2988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4000" y="2916000"/>
            <a:ext cx="2988000" cy="12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4000" y="4140000"/>
            <a:ext cx="2988000" cy="43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000" y="5400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000" y="5472000"/>
            <a:ext cx="10620000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参考｜LINEでつながった後の活用例（LINEヤフー公式の導入事例）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5706000"/>
            <a:ext cx="5202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観光バス：高速バスの予約後、乗車前日の案内をLINEで配信（琴平バス）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2000" y="5706000"/>
            <a:ext cx="531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皮膚科クリニック：友だち追加後のステップ配信で、カウンセリング予約へ（アクネクリニック）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6120000"/>
            <a:ext cx="10620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※参考の2例はサンクスLINE誘導の成果ではなく、LINEでつながった後の活用例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DYMのコンサル支援内容・費用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ツール導入だけではなく、CPO改善に向けたLINE運用まで支援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1800000"/>
            <a:ext cx="2749500" cy="864000"/>
          </a:xfrm>
          <a:prstGeom prst="homePlate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800000"/>
            <a:ext cx="2443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サンクスLINE導入</a:t>
            </a:r>
          </a:p>
        </p:txBody>
      </p:sp>
      <p:sp>
        <p:nvSpPr>
          <p:cNvPr id="8" name="Chevron 7"/>
          <p:cNvSpPr/>
          <p:nvPr/>
        </p:nvSpPr>
        <p:spPr>
          <a:xfrm>
            <a:off x="3415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49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LINE配信設計</a:t>
            </a:r>
          </a:p>
        </p:txBody>
      </p:sp>
      <p:sp>
        <p:nvSpPr>
          <p:cNvPr id="10" name="Chevron 9"/>
          <p:cNvSpPr/>
          <p:nvPr/>
        </p:nvSpPr>
        <p:spPr>
          <a:xfrm>
            <a:off x="60390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30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効果計測</a:t>
            </a:r>
          </a:p>
        </p:txBody>
      </p:sp>
      <p:sp>
        <p:nvSpPr>
          <p:cNvPr id="12" name="Chevron 11"/>
          <p:cNvSpPr/>
          <p:nvPr/>
        </p:nvSpPr>
        <p:spPr>
          <a:xfrm>
            <a:off x="8662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6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改善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設定支援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9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59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9500" y="3870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3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3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LINE経由CV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30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6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06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配信タイミング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06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6500" y="3870000"/>
            <a:ext cx="23895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を継続改善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01250" y="4212000"/>
            <a:ext cx="0" cy="251999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754250" y="4463999"/>
            <a:ext cx="5247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54250" y="4230000"/>
            <a:ext cx="0" cy="2339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62250" y="4482000"/>
            <a:ext cx="3600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計測結果をもとに、配信・導線を見直す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000" y="4878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92000" y="5029200"/>
            <a:ext cx="64800" cy="18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8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サンクスLINE誘導ツール｜費用目安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15万円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75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375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6000" y="5029200"/>
            <a:ext cx="648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72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LINE運用コンサル｜費用目安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6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68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968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20万円〜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0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90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期間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6か月〜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102000" y="4986000"/>
            <a:ext cx="0" cy="79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2000" y="5814000"/>
            <a:ext cx="10620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※施策内容・配信本数・連携範囲等により、費用は個別にお見積もりいたします。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143329</TotalTime>
  <Words>380</Words>
  <Application>Microsoft Office PowerPoint</Application>
  <PresentationFormat>ワイド画面</PresentationFormat>
  <Paragraphs>121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1970</cp:revision>
  <cp:lastPrinted>2022-11-01T11:38:14Z</cp:lastPrinted>
  <dcterms:created xsi:type="dcterms:W3CDTF">2015-09-04T09:21:15Z</dcterms:created>
  <dcterms:modified xsi:type="dcterms:W3CDTF">2026-10-07T02:44:56Z</dcterms:modified>
</cp:coreProperties>
</file>