
<file path=[Content_Types].xml><?xml version="1.0" encoding="utf-8"?>
<Types xmlns="http://schemas.openxmlformats.org/package/2006/content-types">
  <Default Extension="emf" ContentType="image/x-emf"/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handoutMasters/handoutMaster1.xml" ContentType="application/vnd.openxmlformats-officedocument.presentationml.handoutMaster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theme/theme3.xml" ContentType="application/vnd.openxmlformats-officedocument.theme+xml"/>
  <Override PartName="/ppt/theme/theme4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core-properties" Target="docProps/core.xml"/><Relationship Id="rId3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74" r:id="rId1"/>
    <p:sldMasterId id="2147483687" r:id="rId2"/>
  </p:sldMasterIdLst>
  <p:notesMasterIdLst>
    <p:notesMasterId r:id="rId8"/>
  </p:notesMasterIdLst>
  <p:handoutMasterIdLst>
    <p:handoutMasterId r:id="rId9"/>
  </p:handoutMasterIdLst>
  <p:sldIdLst>
    <p:sldId id="3043" r:id="rId3"/>
    <p:sldId id="3008" r:id="rId4"/>
    <p:sldId id="3039" r:id="rId5"/>
    <p:sldId id="3041" r:id="rId6"/>
    <p:sldId id="3044" r:id="rId7"/>
  </p:sldIdLst>
  <p:sldSz cx="12192000" cy="6858000"/>
  <p:notesSz cx="6807200" cy="9939338"/>
  <p:defaultTextStyle>
    <a:defPPr>
      <a:defRPr lang="ja-JP"/>
    </a:defPPr>
    <a:lvl1pPr marL="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3158" userDrawn="1">
          <p15:clr>
            <a:srgbClr val="A4A3A4"/>
          </p15:clr>
        </p15:guide>
        <p15:guide id="2" pos="308" userDrawn="1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04FA0A"/>
    <a:srgbClr val="173559"/>
    <a:srgbClr val="FDFDFD"/>
    <a:srgbClr val="2080FF"/>
    <a:srgbClr val="1D8DFF"/>
    <a:srgbClr val="515457"/>
    <a:srgbClr val="F6A454"/>
    <a:srgbClr val="EAEEF4"/>
    <a:srgbClr val="2D6CB9"/>
    <a:srgbClr val="D1D9E8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中間スタイル 2 - アクセント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21E4AEA4-8DFA-4A89-87EB-49C32662AFE0}" styleName="中間スタイル 2 - アクセント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2">
              <a:tint val="20000"/>
            </a:schemeClr>
          </a:solidFill>
        </a:fill>
      </a:tcStyle>
    </a:wholeTbl>
    <a:band1H>
      <a:tcStyle>
        <a:tcBdr/>
        <a:fill>
          <a:solidFill>
            <a:schemeClr val="accent2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2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2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2"/>
          </a:solidFill>
        </a:fill>
      </a:tcStyle>
    </a:firstRow>
  </a:tblStyle>
  <a:tblStyle styleId="{B301B821-A1FF-4177-AEE7-76D212191A09}" styleName="中間スタイル 1 - アクセント 1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1"/>
              </a:solidFill>
            </a:ln>
          </a:left>
          <a:right>
            <a:ln w="12700" cmpd="sng">
              <a:solidFill>
                <a:schemeClr val="accent1"/>
              </a:solidFill>
            </a:ln>
          </a:right>
          <a:top>
            <a:ln w="12700" cmpd="sng">
              <a:solidFill>
                <a:schemeClr val="accent1"/>
              </a:solidFill>
            </a:ln>
          </a:top>
          <a:bottom>
            <a:ln w="12700" cmpd="sng">
              <a:solidFill>
                <a:schemeClr val="accent1"/>
              </a:solidFill>
            </a:ln>
          </a:bottom>
          <a:insideH>
            <a:ln w="12700" cmpd="sng">
              <a:solidFill>
                <a:schemeClr val="accent1"/>
              </a:solidFill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accent1">
              <a:tint val="20000"/>
            </a:schemeClr>
          </a:solidFill>
        </a:fill>
      </a:tcStyle>
    </a:band1H>
    <a:band1V>
      <a:tcStyle>
        <a:tcBdr/>
        <a:fill>
          <a:solidFill>
            <a:schemeClr val="accent1">
              <a:tint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1"/>
              </a:solidFill>
            </a:ln>
          </a:top>
        </a:tcBdr>
        <a:fill>
          <a:solidFill>
            <a:schemeClr val="lt1"/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1"/>
          </a:solidFill>
        </a:fill>
      </a:tcStyle>
    </a:firstRow>
  </a:tblStyle>
  <a:tblStyle styleId="{69012ECD-51FC-41F1-AA8D-1B2483CD663E}" styleName="淡色スタイル 2 - アクセント 1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</a:tcBdr>
      </a:tcStyle>
    </a:band1H>
    <a:band1V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</a:tcBdr>
      </a:tcStyle>
    </a:band1V>
    <a:band2V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1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accent1"/>
        </a:fillRef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8157" autoAdjust="0"/>
    <p:restoredTop sz="94424" autoAdjust="0"/>
  </p:normalViewPr>
  <p:slideViewPr>
    <p:cSldViewPr snapToGrid="0">
      <p:cViewPr varScale="1">
        <p:scale>
          <a:sx n="74" d="100"/>
          <a:sy n="74" d="100"/>
        </p:scale>
        <p:origin x="256" y="44"/>
      </p:cViewPr>
      <p:guideLst>
        <p:guide orient="horz" pos="3158"/>
        <p:guide pos="308"/>
      </p:guideLst>
    </p:cSldViewPr>
  </p:slideViewPr>
  <p:notesTextViewPr>
    <p:cViewPr>
      <p:scale>
        <a:sx n="1" d="1"/>
        <a:sy n="1" d="1"/>
      </p:scale>
      <p:origin x="0" y="0"/>
    </p:cViewPr>
  </p:notesTextViewPr>
  <p:sorterViewPr>
    <p:cViewPr>
      <p:scale>
        <a:sx n="100" d="100"/>
        <a:sy n="100" d="100"/>
      </p:scale>
      <p:origin x="0" y="-3072"/>
    </p:cViewPr>
  </p:sorterViewPr>
  <p:notesViewPr>
    <p:cSldViewPr snapToGrid="0">
      <p:cViewPr varScale="1">
        <p:scale>
          <a:sx n="79" d="100"/>
          <a:sy n="79" d="100"/>
        </p:scale>
        <p:origin x="4014" y="102"/>
      </p:cViewPr>
      <p:guideLst/>
    </p:cSldViewPr>
  </p:notesViewPr>
  <p:gridSpacing cx="1080001" cy="1080001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Master" Target="slideMasters/slideMaster2.xml"/><Relationship Id="rId3" Type="http://schemas.openxmlformats.org/officeDocument/2006/relationships/slide" Target="slides/slide1.xml"/><Relationship Id="rId4" Type="http://schemas.openxmlformats.org/officeDocument/2006/relationships/slide" Target="slides/slide2.xml"/><Relationship Id="rId5" Type="http://schemas.openxmlformats.org/officeDocument/2006/relationships/slide" Target="slides/slide3.xml"/><Relationship Id="rId6" Type="http://schemas.openxmlformats.org/officeDocument/2006/relationships/slide" Target="slides/slide4.xml"/><Relationship Id="rId7" Type="http://schemas.openxmlformats.org/officeDocument/2006/relationships/slide" Target="slides/slide5.xml"/><Relationship Id="rId8" Type="http://schemas.openxmlformats.org/officeDocument/2006/relationships/notesMaster" Target="notesMasters/notesMaster1.xml"/><Relationship Id="rId9" Type="http://schemas.openxmlformats.org/officeDocument/2006/relationships/handoutMaster" Target="handoutMasters/handoutMaster1.xml"/><Relationship Id="rId10" Type="http://schemas.openxmlformats.org/officeDocument/2006/relationships/presProps" Target="presProps.xml"/><Relationship Id="rId11" Type="http://schemas.openxmlformats.org/officeDocument/2006/relationships/viewProps" Target="viewProps.xml"/><Relationship Id="rId12" Type="http://schemas.openxmlformats.org/officeDocument/2006/relationships/theme" Target="theme/theme1.xml"/><Relationship Id="rId13" Type="http://schemas.openxmlformats.org/officeDocument/2006/relationships/tableStyles" Target="tableStyles.xml"/></Relationships>
</file>

<file path=ppt/handoutMasters/_rels/handout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4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フッター プレースホルダー 3"/>
          <p:cNvSpPr>
            <a:spLocks noGrp="1"/>
          </p:cNvSpPr>
          <p:nvPr>
            <p:ph type="ftr" sz="quarter" idx="2"/>
          </p:nvPr>
        </p:nvSpPr>
        <p:spPr>
          <a:xfrm>
            <a:off x="0" y="9441662"/>
            <a:ext cx="2949420" cy="497676"/>
          </a:xfrm>
          <a:prstGeom prst="rect">
            <a:avLst/>
          </a:prstGeom>
        </p:spPr>
        <p:txBody>
          <a:bodyPr vert="horz" lIns="90561" tIns="45280" rIns="90561" bIns="45280" rtlCol="0" anchor="b"/>
          <a:lstStyle>
            <a:lvl1pPr algn="l">
              <a:defRPr sz="1200"/>
            </a:lvl1pPr>
          </a:lstStyle>
          <a:p>
            <a:endParaRPr kumimoji="1" lang="ja-JP" altLang="en-US"/>
          </a:p>
        </p:txBody>
      </p:sp>
      <p:sp>
        <p:nvSpPr>
          <p:cNvPr id="5" name="スライド番号プレースホルダー 4"/>
          <p:cNvSpPr>
            <a:spLocks noGrp="1"/>
          </p:cNvSpPr>
          <p:nvPr>
            <p:ph type="sldNum" sz="quarter" idx="3"/>
          </p:nvPr>
        </p:nvSpPr>
        <p:spPr>
          <a:xfrm>
            <a:off x="3856210" y="9441662"/>
            <a:ext cx="2949420" cy="497676"/>
          </a:xfrm>
          <a:prstGeom prst="rect">
            <a:avLst/>
          </a:prstGeom>
        </p:spPr>
        <p:txBody>
          <a:bodyPr vert="horz" lIns="90561" tIns="45280" rIns="90561" bIns="45280" rtlCol="0" anchor="b"/>
          <a:lstStyle>
            <a:lvl1pPr algn="r">
              <a:defRPr sz="1200"/>
            </a:lvl1pPr>
          </a:lstStyle>
          <a:p>
            <a:fld id="{7B45B759-5475-4693-BFD4-53BF6401E48A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3259530797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3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ヘッダー プレースホルダー 1"/>
          <p:cNvSpPr>
            <a:spLocks noGrp="1"/>
          </p:cNvSpPr>
          <p:nvPr>
            <p:ph type="hdr" sz="quarter"/>
          </p:nvPr>
        </p:nvSpPr>
        <p:spPr>
          <a:xfrm>
            <a:off x="1" y="2"/>
            <a:ext cx="2950528" cy="497524"/>
          </a:xfrm>
          <a:prstGeom prst="rect">
            <a:avLst/>
          </a:prstGeom>
        </p:spPr>
        <p:txBody>
          <a:bodyPr vert="horz" lIns="91529" tIns="45765" rIns="91529" bIns="45765" rtlCol="0"/>
          <a:lstStyle>
            <a:lvl1pPr algn="l">
              <a:defRPr sz="1200"/>
            </a:lvl1pPr>
          </a:lstStyle>
          <a:p>
            <a:endParaRPr kumimoji="1" lang="ja-JP" altLang="en-US"/>
          </a:p>
        </p:txBody>
      </p:sp>
      <p:sp>
        <p:nvSpPr>
          <p:cNvPr id="3" name="日付プレースホルダー 2"/>
          <p:cNvSpPr>
            <a:spLocks noGrp="1"/>
          </p:cNvSpPr>
          <p:nvPr>
            <p:ph type="dt" idx="1"/>
          </p:nvPr>
        </p:nvSpPr>
        <p:spPr>
          <a:xfrm>
            <a:off x="3855082" y="2"/>
            <a:ext cx="2950528" cy="497524"/>
          </a:xfrm>
          <a:prstGeom prst="rect">
            <a:avLst/>
          </a:prstGeom>
        </p:spPr>
        <p:txBody>
          <a:bodyPr vert="horz" lIns="91529" tIns="45765" rIns="91529" bIns="45765" rtlCol="0"/>
          <a:lstStyle>
            <a:lvl1pPr algn="r">
              <a:defRPr sz="1200"/>
            </a:lvl1pPr>
          </a:lstStyle>
          <a:p>
            <a:fld id="{6AF8158D-F6B1-45E0-9831-E70689DC8490}" type="datetimeFigureOut">
              <a:rPr kumimoji="1" lang="ja-JP" altLang="en-US" smtClean="0"/>
              <a:t>2026/10/7</a:t>
            </a:fld>
            <a:endParaRPr kumimoji="1" lang="ja-JP" altLang="en-US"/>
          </a:p>
        </p:txBody>
      </p:sp>
      <p:sp>
        <p:nvSpPr>
          <p:cNvPr id="4" name="スライド イメージ プレースホルダー 3"/>
          <p:cNvSpPr>
            <a:spLocks noGrp="1" noRot="1" noChangeAspect="1"/>
          </p:cNvSpPr>
          <p:nvPr>
            <p:ph type="sldImg" idx="2"/>
          </p:nvPr>
        </p:nvSpPr>
        <p:spPr>
          <a:xfrm>
            <a:off x="981075" y="1243013"/>
            <a:ext cx="4845050" cy="33543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529" tIns="45765" rIns="91529" bIns="45765" rtlCol="0" anchor="ctr"/>
          <a:lstStyle/>
          <a:p>
            <a:endParaRPr lang="ja-JP" altLang="en-US"/>
          </a:p>
        </p:txBody>
      </p:sp>
      <p:sp>
        <p:nvSpPr>
          <p:cNvPr id="5" name="ノート プレースホルダー 4"/>
          <p:cNvSpPr>
            <a:spLocks noGrp="1"/>
          </p:cNvSpPr>
          <p:nvPr>
            <p:ph type="body" sz="quarter" idx="3"/>
          </p:nvPr>
        </p:nvSpPr>
        <p:spPr>
          <a:xfrm>
            <a:off x="680402" y="4782901"/>
            <a:ext cx="5446396" cy="3913426"/>
          </a:xfrm>
          <a:prstGeom prst="rect">
            <a:avLst/>
          </a:prstGeom>
        </p:spPr>
        <p:txBody>
          <a:bodyPr vert="horz" lIns="91529" tIns="45765" rIns="91529" bIns="45765" rtlCol="0"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6" name="フッター プレースホルダー 5"/>
          <p:cNvSpPr>
            <a:spLocks noGrp="1"/>
          </p:cNvSpPr>
          <p:nvPr>
            <p:ph type="ftr" sz="quarter" idx="4"/>
          </p:nvPr>
        </p:nvSpPr>
        <p:spPr>
          <a:xfrm>
            <a:off x="1" y="9441817"/>
            <a:ext cx="2950528" cy="497524"/>
          </a:xfrm>
          <a:prstGeom prst="rect">
            <a:avLst/>
          </a:prstGeom>
        </p:spPr>
        <p:txBody>
          <a:bodyPr vert="horz" lIns="91529" tIns="45765" rIns="91529" bIns="45765" rtlCol="0" anchor="b"/>
          <a:lstStyle>
            <a:lvl1pPr algn="l">
              <a:defRPr sz="1200"/>
            </a:lvl1pPr>
          </a:lstStyle>
          <a:p>
            <a:endParaRPr kumimoji="1" lang="ja-JP" altLang="en-US"/>
          </a:p>
        </p:txBody>
      </p:sp>
      <p:sp>
        <p:nvSpPr>
          <p:cNvPr id="7" name="スライド番号プレースホルダー 6"/>
          <p:cNvSpPr>
            <a:spLocks noGrp="1"/>
          </p:cNvSpPr>
          <p:nvPr>
            <p:ph type="sldNum" sz="quarter" idx="5"/>
          </p:nvPr>
        </p:nvSpPr>
        <p:spPr>
          <a:xfrm>
            <a:off x="3855082" y="9441817"/>
            <a:ext cx="2950528" cy="497524"/>
          </a:xfrm>
          <a:prstGeom prst="rect">
            <a:avLst/>
          </a:prstGeom>
        </p:spPr>
        <p:txBody>
          <a:bodyPr vert="horz" lIns="91529" tIns="45765" rIns="91529" bIns="45765" rtlCol="0" anchor="b"/>
          <a:lstStyle>
            <a:lvl1pPr algn="r">
              <a:defRPr sz="1200"/>
            </a:lvl1pPr>
          </a:lstStyle>
          <a:p>
            <a:fld id="{022E43C0-6795-4B13-B37C-259C826D4B6A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640918907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2_タイトルとコンテンツ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正方形/長方形 1"/>
          <p:cNvSpPr/>
          <p:nvPr userDrawn="1"/>
        </p:nvSpPr>
        <p:spPr>
          <a:xfrm>
            <a:off x="9398000" y="6591300"/>
            <a:ext cx="419100" cy="266700"/>
          </a:xfrm>
          <a:prstGeom prst="rect">
            <a:avLst/>
          </a:prstGeom>
          <a:solidFill>
            <a:srgbClr val="191F5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2758107768"/>
      </p:ext>
    </p:extLst>
  </p:cSld>
  <p:clrMapOvr>
    <a:masterClrMapping/>
  </p:clrMapOvr>
  <p:hf hdr="0" dt="0"/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4_タイトルとコンテンツ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5" name="直線コネクタ 4"/>
          <p:cNvCxnSpPr/>
          <p:nvPr/>
        </p:nvCxnSpPr>
        <p:spPr>
          <a:xfrm>
            <a:off x="0" y="548680"/>
            <a:ext cx="12192119" cy="0"/>
          </a:xfrm>
          <a:prstGeom prst="line">
            <a:avLst/>
          </a:prstGeom>
          <a:ln>
            <a:solidFill>
              <a:srgbClr val="191F54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正方形/長方形 6"/>
          <p:cNvSpPr/>
          <p:nvPr/>
        </p:nvSpPr>
        <p:spPr>
          <a:xfrm>
            <a:off x="0" y="0"/>
            <a:ext cx="451204" cy="548680"/>
          </a:xfrm>
          <a:prstGeom prst="rect">
            <a:avLst/>
          </a:prstGeom>
          <a:solidFill>
            <a:srgbClr val="191F5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ja-JP" altLang="en-US" sz="1800">
              <a:solidFill>
                <a:prstClr val="white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958189266"/>
      </p:ext>
    </p:extLst>
  </p:cSld>
  <p:clrMapOvr>
    <a:masterClrMapping/>
  </p:clrMapOvr>
  <p:hf hdr="0" dt="0"/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1_タイトル スライド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785212341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theme" Target="../theme/theme1.xml"/><Relationship Id="rId5" Type="http://schemas.openxmlformats.org/officeDocument/2006/relationships/image" Target="../media/image1.png"/><Relationship Id="rId6" Type="http://schemas.openxmlformats.org/officeDocument/2006/relationships/image" Target="../media/image2.png"/></Relationships>
</file>

<file path=ppt/slideMasters/_rels/slideMaster2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Relationship Id="rId2" Type="http://schemas.openxmlformats.org/officeDocument/2006/relationships/image" Target="../media/image3.emf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図 1"/>
          <p:cNvPicPr>
            <a:picLocks noChangeAspect="1"/>
          </p:cNvPicPr>
          <p:nvPr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437476" y="72255"/>
            <a:ext cx="1598627" cy="424153"/>
          </a:xfrm>
          <a:prstGeom prst="rect">
            <a:avLst/>
          </a:prstGeom>
        </p:spPr>
      </p:pic>
      <p:pic>
        <p:nvPicPr>
          <p:cNvPr id="5" name="図 4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0437474" y="32333"/>
            <a:ext cx="1653069" cy="635796"/>
          </a:xfrm>
          <a:prstGeom prst="rect">
            <a:avLst/>
          </a:prstGeom>
        </p:spPr>
      </p:pic>
      <p:sp>
        <p:nvSpPr>
          <p:cNvPr id="6" name="正方形/長方形 5"/>
          <p:cNvSpPr/>
          <p:nvPr/>
        </p:nvSpPr>
        <p:spPr>
          <a:xfrm>
            <a:off x="0" y="6552728"/>
            <a:ext cx="12192119" cy="332656"/>
          </a:xfrm>
          <a:prstGeom prst="rect">
            <a:avLst/>
          </a:prstGeom>
          <a:solidFill>
            <a:srgbClr val="191F5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ja-JP" altLang="en-US" sz="1800">
              <a:solidFill>
                <a:prstClr val="white"/>
              </a:solidFill>
            </a:endParaRPr>
          </a:p>
        </p:txBody>
      </p:sp>
      <p:sp>
        <p:nvSpPr>
          <p:cNvPr id="8" name="スライド番号プレースホルダ 1"/>
          <p:cNvSpPr txBox="1">
            <a:spLocks/>
          </p:cNvSpPr>
          <p:nvPr/>
        </p:nvSpPr>
        <p:spPr>
          <a:xfrm>
            <a:off x="9880719" y="6552729"/>
            <a:ext cx="2311400" cy="365125"/>
          </a:xfrm>
          <a:prstGeom prst="rect">
            <a:avLst/>
          </a:prstGeom>
        </p:spPr>
        <p:txBody>
          <a:bodyPr/>
          <a:lstStyle>
            <a:defPPr>
              <a:defRPr lang="ja-JP"/>
            </a:defPPr>
            <a:lvl1pPr marL="0" algn="l" defTabSz="914400" rtl="0" eaLnBrk="1" latinLnBrk="0" hangingPunct="1"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r"/>
            <a:fld id="{9FC100E3-15F5-4145-A942-47DB1D8B776D}" type="slidenum">
              <a:rPr lang="ja-JP" altLang="en-US" sz="1400" b="1" smtClean="0">
                <a:solidFill>
                  <a:schemeClr val="bg1"/>
                </a:solidFill>
                <a:latin typeface="メイリオ" panose="020B0604030504040204" pitchFamily="50" charset="-128"/>
                <a:ea typeface="メイリオ" panose="020B0604030504040204" pitchFamily="50" charset="-128"/>
                <a:cs typeface="メイリオ" panose="020B0604030504040204" pitchFamily="50" charset="-128"/>
              </a:rPr>
              <a:pPr algn="r"/>
              <a:t>‹#›</a:t>
            </a:fld>
            <a:endParaRPr lang="ja-JP" altLang="en-US" sz="1400" b="1" dirty="0">
              <a:solidFill>
                <a:schemeClr val="bg1"/>
              </a:solidFill>
              <a:latin typeface="メイリオ" panose="020B0604030504040204" pitchFamily="50" charset="-128"/>
              <a:ea typeface="メイリオ" panose="020B0604030504040204" pitchFamily="50" charset="-128"/>
              <a:cs typeface="メイリオ" panose="020B0604030504040204" pitchFamily="50" charset="-128"/>
            </a:endParaRPr>
          </a:p>
        </p:txBody>
      </p:sp>
      <p:sp>
        <p:nvSpPr>
          <p:cNvPr id="9" name="テキスト ボックス 8"/>
          <p:cNvSpPr txBox="1">
            <a:spLocks noChangeArrowheads="1"/>
          </p:cNvSpPr>
          <p:nvPr userDrawn="1"/>
        </p:nvSpPr>
        <p:spPr bwMode="auto">
          <a:xfrm>
            <a:off x="116569" y="6597932"/>
            <a:ext cx="3666301" cy="215444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defRPr kumimoji="1" sz="2400">
                <a:solidFill>
                  <a:schemeClr val="tx1"/>
                </a:solidFill>
                <a:latin typeface="Arial" charset="0"/>
                <a:ea typeface="ＭＳ Ｐゴシック" charset="0"/>
                <a:cs typeface="ＭＳ Ｐゴシック" charset="0"/>
              </a:defRPr>
            </a:lvl1pPr>
            <a:lvl2pPr marL="742950" indent="-285750">
              <a:defRPr kumimoji="1"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2pPr>
            <a:lvl3pPr marL="1143000" indent="-228600">
              <a:defRPr kumimoji="1"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3pPr>
            <a:lvl4pPr marL="1600200" indent="-228600">
              <a:defRPr kumimoji="1"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4pPr>
            <a:lvl5pPr marL="2057400" indent="-228600">
              <a:defRPr kumimoji="1"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9pPr>
          </a:lstStyle>
          <a:p>
            <a:pPr>
              <a:defRPr/>
            </a:pPr>
            <a:r>
              <a:rPr lang="en-US" altLang="ja-JP" sz="800" b="1" dirty="0">
                <a:solidFill>
                  <a:schemeClr val="bg1"/>
                </a:solidFill>
                <a:latin typeface="メイリオ"/>
                <a:ea typeface="メイリオ"/>
                <a:cs typeface="メイリオ"/>
              </a:rPr>
              <a:t>Copyright(c) DYM Co., Ltd</a:t>
            </a:r>
            <a:r>
              <a:rPr lang="ja-JP" altLang="en-US" sz="800" b="1" dirty="0" err="1">
                <a:solidFill>
                  <a:schemeClr val="bg1"/>
                </a:solidFill>
                <a:latin typeface="メイリオ"/>
                <a:ea typeface="メイリオ"/>
                <a:cs typeface="メイリオ"/>
              </a:rPr>
              <a:t>．</a:t>
            </a:r>
            <a:r>
              <a:rPr lang="en-US" altLang="ja-JP" sz="800" b="1" dirty="0">
                <a:solidFill>
                  <a:schemeClr val="bg1"/>
                </a:solidFill>
                <a:latin typeface="メイリオ"/>
                <a:ea typeface="メイリオ"/>
                <a:cs typeface="メイリオ"/>
              </a:rPr>
              <a:t> All Rights Reserved.</a:t>
            </a:r>
          </a:p>
        </p:txBody>
      </p:sp>
    </p:spTree>
    <p:extLst>
      <p:ext uri="{BB962C8B-B14F-4D97-AF65-F5344CB8AC3E}">
        <p14:creationId xmlns:p14="http://schemas.microsoft.com/office/powerpoint/2010/main" val="34587033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76" r:id="rId1"/>
    <p:sldLayoutId id="2147483683" r:id="rId2"/>
    <p:sldLayoutId id="2147483689" r:id="rId3"/>
  </p:sldLayoutIdLst>
  <p:hf hdr="0" dt="0"/>
  <p:txStyles>
    <p:titleStyle>
      <a:lvl1pPr algn="ctr" rtl="0" eaLnBrk="1" fontAlgn="base" hangingPunct="1">
        <a:spcBef>
          <a:spcPct val="0"/>
        </a:spcBef>
        <a:spcAft>
          <a:spcPct val="0"/>
        </a:spcAft>
        <a:defRPr kumimoji="1" sz="4400" kern="1200">
          <a:solidFill>
            <a:schemeClr val="tx1"/>
          </a:solidFill>
          <a:latin typeface="+mj-lt"/>
          <a:ea typeface="+mj-ea"/>
          <a:cs typeface="+mj-cs"/>
        </a:defRPr>
      </a:lvl1pPr>
      <a:lvl2pPr algn="ctr" rtl="0" eaLnBrk="1" fontAlgn="base" hangingPunct="1">
        <a:spcBef>
          <a:spcPct val="0"/>
        </a:spcBef>
        <a:spcAft>
          <a:spcPct val="0"/>
        </a:spcAft>
        <a:defRPr kumimoji="1" sz="4400">
          <a:solidFill>
            <a:schemeClr val="tx1"/>
          </a:solidFill>
          <a:latin typeface="Calibri" pitchFamily="34" charset="0"/>
          <a:ea typeface="ＭＳ Ｐゴシック" pitchFamily="50" charset="-128"/>
        </a:defRPr>
      </a:lvl2pPr>
      <a:lvl3pPr algn="ctr" rtl="0" eaLnBrk="1" fontAlgn="base" hangingPunct="1">
        <a:spcBef>
          <a:spcPct val="0"/>
        </a:spcBef>
        <a:spcAft>
          <a:spcPct val="0"/>
        </a:spcAft>
        <a:defRPr kumimoji="1" sz="4400">
          <a:solidFill>
            <a:schemeClr val="tx1"/>
          </a:solidFill>
          <a:latin typeface="Calibri" pitchFamily="34" charset="0"/>
          <a:ea typeface="ＭＳ Ｐゴシック" pitchFamily="50" charset="-128"/>
        </a:defRPr>
      </a:lvl3pPr>
      <a:lvl4pPr algn="ctr" rtl="0" eaLnBrk="1" fontAlgn="base" hangingPunct="1">
        <a:spcBef>
          <a:spcPct val="0"/>
        </a:spcBef>
        <a:spcAft>
          <a:spcPct val="0"/>
        </a:spcAft>
        <a:defRPr kumimoji="1" sz="4400">
          <a:solidFill>
            <a:schemeClr val="tx1"/>
          </a:solidFill>
          <a:latin typeface="Calibri" pitchFamily="34" charset="0"/>
          <a:ea typeface="ＭＳ Ｐゴシック" pitchFamily="50" charset="-128"/>
        </a:defRPr>
      </a:lvl4pPr>
      <a:lvl5pPr algn="ctr" rtl="0" eaLnBrk="1" fontAlgn="base" hangingPunct="1">
        <a:spcBef>
          <a:spcPct val="0"/>
        </a:spcBef>
        <a:spcAft>
          <a:spcPct val="0"/>
        </a:spcAft>
        <a:defRPr kumimoji="1" sz="4400">
          <a:solidFill>
            <a:schemeClr val="tx1"/>
          </a:solidFill>
          <a:latin typeface="Calibri" pitchFamily="34" charset="0"/>
          <a:ea typeface="ＭＳ Ｐゴシック" pitchFamily="50" charset="-128"/>
        </a:defRPr>
      </a:lvl5pPr>
      <a:lvl6pPr marL="457200" algn="ctr" rtl="0" eaLnBrk="1" fontAlgn="base" hangingPunct="1">
        <a:spcBef>
          <a:spcPct val="0"/>
        </a:spcBef>
        <a:spcAft>
          <a:spcPct val="0"/>
        </a:spcAft>
        <a:defRPr kumimoji="1" sz="4400">
          <a:solidFill>
            <a:schemeClr val="tx1"/>
          </a:solidFill>
          <a:latin typeface="Calibri" pitchFamily="34" charset="0"/>
          <a:ea typeface="ＭＳ Ｐゴシック" pitchFamily="50" charset="-128"/>
        </a:defRPr>
      </a:lvl6pPr>
      <a:lvl7pPr marL="914400" algn="ctr" rtl="0" eaLnBrk="1" fontAlgn="base" hangingPunct="1">
        <a:spcBef>
          <a:spcPct val="0"/>
        </a:spcBef>
        <a:spcAft>
          <a:spcPct val="0"/>
        </a:spcAft>
        <a:defRPr kumimoji="1" sz="4400">
          <a:solidFill>
            <a:schemeClr val="tx1"/>
          </a:solidFill>
          <a:latin typeface="Calibri" pitchFamily="34" charset="0"/>
          <a:ea typeface="ＭＳ Ｐゴシック" pitchFamily="50" charset="-128"/>
        </a:defRPr>
      </a:lvl7pPr>
      <a:lvl8pPr marL="1371600" algn="ctr" rtl="0" eaLnBrk="1" fontAlgn="base" hangingPunct="1">
        <a:spcBef>
          <a:spcPct val="0"/>
        </a:spcBef>
        <a:spcAft>
          <a:spcPct val="0"/>
        </a:spcAft>
        <a:defRPr kumimoji="1" sz="4400">
          <a:solidFill>
            <a:schemeClr val="tx1"/>
          </a:solidFill>
          <a:latin typeface="Calibri" pitchFamily="34" charset="0"/>
          <a:ea typeface="ＭＳ Ｐゴシック" pitchFamily="50" charset="-128"/>
        </a:defRPr>
      </a:lvl8pPr>
      <a:lvl9pPr marL="1828800" algn="ctr" rtl="0" eaLnBrk="1" fontAlgn="base" hangingPunct="1">
        <a:spcBef>
          <a:spcPct val="0"/>
        </a:spcBef>
        <a:spcAft>
          <a:spcPct val="0"/>
        </a:spcAft>
        <a:defRPr kumimoji="1" sz="4400">
          <a:solidFill>
            <a:schemeClr val="tx1"/>
          </a:solidFill>
          <a:latin typeface="Calibri" pitchFamily="34" charset="0"/>
          <a:ea typeface="ＭＳ Ｐゴシック" pitchFamily="50" charset="-128"/>
        </a:defRPr>
      </a:lvl9pPr>
    </p:titleStyle>
    <p:bodyStyle>
      <a:lvl1pPr marL="342900" indent="-342900" algn="l" rtl="0" eaLnBrk="1" fontAlgn="base" hangingPunct="1">
        <a:spcBef>
          <a:spcPct val="20000"/>
        </a:spcBef>
        <a:spcAft>
          <a:spcPct val="0"/>
        </a:spcAft>
        <a:buFont typeface="Arial" charset="0"/>
        <a:buChar char="•"/>
        <a:defRPr kumimoji="1"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rtl="0" eaLnBrk="1" fontAlgn="base" hangingPunct="1">
        <a:spcBef>
          <a:spcPct val="20000"/>
        </a:spcBef>
        <a:spcAft>
          <a:spcPct val="0"/>
        </a:spcAft>
        <a:buFont typeface="Arial" charset="0"/>
        <a:buChar char="–"/>
        <a:defRPr kumimoji="1"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rtl="0" eaLnBrk="1" fontAlgn="base" hangingPunct="1">
        <a:spcBef>
          <a:spcPct val="20000"/>
        </a:spcBef>
        <a:spcAft>
          <a:spcPct val="0"/>
        </a:spcAft>
        <a:buFont typeface="Arial" charset="0"/>
        <a:buChar char="•"/>
        <a:defRPr kumimoji="1"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rtl="0" eaLnBrk="1" fontAlgn="base" hangingPunct="1">
        <a:spcBef>
          <a:spcPct val="20000"/>
        </a:spcBef>
        <a:spcAft>
          <a:spcPct val="0"/>
        </a:spcAft>
        <a:buFont typeface="Arial" charset="0"/>
        <a:buChar char="–"/>
        <a:defRPr kumimoji="1"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rtl="0" eaLnBrk="1" fontAlgn="base" hangingPunct="1">
        <a:spcBef>
          <a:spcPct val="20000"/>
        </a:spcBef>
        <a:spcAft>
          <a:spcPct val="0"/>
        </a:spcAft>
        <a:buFont typeface="Arial" charset="0"/>
        <a:buChar char="»"/>
        <a:defRPr kumimoji="1"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kumimoji="1"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kumimoji="1"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kumimoji="1"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kumimoji="1"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ja-JP"/>
      </a:defPPr>
      <a:lvl1pPr marL="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正方形/長方形 4"/>
          <p:cNvSpPr/>
          <p:nvPr/>
        </p:nvSpPr>
        <p:spPr>
          <a:xfrm>
            <a:off x="0" y="6552728"/>
            <a:ext cx="9906000" cy="332656"/>
          </a:xfrm>
          <a:prstGeom prst="rect">
            <a:avLst/>
          </a:prstGeom>
          <a:solidFill>
            <a:srgbClr val="191F5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ja-JP" altLang="en-US">
              <a:solidFill>
                <a:prstClr val="white"/>
              </a:solidFill>
            </a:endParaRPr>
          </a:p>
        </p:txBody>
      </p:sp>
      <p:sp>
        <p:nvSpPr>
          <p:cNvPr id="10" name="テキスト ボックス 9"/>
          <p:cNvSpPr txBox="1">
            <a:spLocks noChangeArrowheads="1"/>
          </p:cNvSpPr>
          <p:nvPr/>
        </p:nvSpPr>
        <p:spPr bwMode="auto">
          <a:xfrm>
            <a:off x="116569" y="6597932"/>
            <a:ext cx="3666301" cy="215444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defRPr kumimoji="1" sz="2400">
                <a:solidFill>
                  <a:schemeClr val="tx1"/>
                </a:solidFill>
                <a:latin typeface="Arial" charset="0"/>
                <a:ea typeface="ＭＳ Ｐゴシック" charset="0"/>
                <a:cs typeface="ＭＳ Ｐゴシック" charset="0"/>
              </a:defRPr>
            </a:lvl1pPr>
            <a:lvl2pPr marL="742950" indent="-285750">
              <a:defRPr kumimoji="1"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2pPr>
            <a:lvl3pPr marL="1143000" indent="-228600">
              <a:defRPr kumimoji="1"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3pPr>
            <a:lvl4pPr marL="1600200" indent="-228600">
              <a:defRPr kumimoji="1"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4pPr>
            <a:lvl5pPr marL="2057400" indent="-228600">
              <a:defRPr kumimoji="1"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9pPr>
          </a:lstStyle>
          <a:p>
            <a:pPr>
              <a:defRPr/>
            </a:pPr>
            <a:r>
              <a:rPr lang="en-US" altLang="ja-JP" sz="800" b="1" dirty="0">
                <a:solidFill>
                  <a:prstClr val="white"/>
                </a:solidFill>
                <a:latin typeface="メイリオ"/>
                <a:ea typeface="メイリオ"/>
                <a:cs typeface="メイリオ"/>
              </a:rPr>
              <a:t>Copyright(c) DYM Co., </a:t>
            </a:r>
            <a:r>
              <a:rPr lang="en-US" altLang="ja-JP" sz="800" b="1" dirty="0" err="1">
                <a:solidFill>
                  <a:prstClr val="white"/>
                </a:solidFill>
                <a:latin typeface="メイリオ"/>
                <a:ea typeface="メイリオ"/>
                <a:cs typeface="メイリオ"/>
              </a:rPr>
              <a:t>Ltd.All</a:t>
            </a:r>
            <a:r>
              <a:rPr lang="en-US" altLang="ja-JP" sz="800" b="1" dirty="0">
                <a:solidFill>
                  <a:prstClr val="white"/>
                </a:solidFill>
                <a:latin typeface="メイリオ"/>
                <a:ea typeface="メイリオ"/>
                <a:cs typeface="メイリオ"/>
              </a:rPr>
              <a:t> Rights Reserved.</a:t>
            </a:r>
          </a:p>
        </p:txBody>
      </p:sp>
      <p:sp>
        <p:nvSpPr>
          <p:cNvPr id="8" name="正方形/長方形 7"/>
          <p:cNvSpPr/>
          <p:nvPr/>
        </p:nvSpPr>
        <p:spPr>
          <a:xfrm>
            <a:off x="0" y="0"/>
            <a:ext cx="416496" cy="548680"/>
          </a:xfrm>
          <a:prstGeom prst="rect">
            <a:avLst/>
          </a:prstGeom>
          <a:solidFill>
            <a:srgbClr val="191F5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ja-JP" altLang="en-US">
              <a:solidFill>
                <a:prstClr val="white"/>
              </a:solidFill>
            </a:endParaRPr>
          </a:p>
        </p:txBody>
      </p:sp>
      <p:cxnSp>
        <p:nvCxnSpPr>
          <p:cNvPr id="4" name="直線コネクタ 3"/>
          <p:cNvCxnSpPr/>
          <p:nvPr/>
        </p:nvCxnSpPr>
        <p:spPr>
          <a:xfrm>
            <a:off x="0" y="548680"/>
            <a:ext cx="9906000" cy="0"/>
          </a:xfrm>
          <a:prstGeom prst="line">
            <a:avLst/>
          </a:prstGeom>
          <a:ln>
            <a:solidFill>
              <a:srgbClr val="00324B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pic>
        <p:nvPicPr>
          <p:cNvPr id="9" name="図 1"/>
          <p:cNvPicPr>
            <a:picLocks/>
          </p:cNvPicPr>
          <p:nvPr userDrawn="1"/>
        </p:nvPicPr>
        <p:blipFill rotWithShape="1">
          <a:blip r:embed="rId2" cstate="hq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-1647" r="-11171"/>
          <a:stretch/>
        </p:blipFill>
        <p:spPr bwMode="auto">
          <a:xfrm>
            <a:off x="8619408" y="161057"/>
            <a:ext cx="1192729" cy="263314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11" name="スライド番号プレースホルダ 1"/>
          <p:cNvSpPr txBox="1">
            <a:spLocks/>
          </p:cNvSpPr>
          <p:nvPr userDrawn="1"/>
        </p:nvSpPr>
        <p:spPr>
          <a:xfrm>
            <a:off x="7545288" y="6571255"/>
            <a:ext cx="2133600" cy="216000"/>
          </a:xfrm>
          <a:prstGeom prst="rect">
            <a:avLst/>
          </a:prstGeom>
        </p:spPr>
        <p:txBody>
          <a:bodyPr tIns="25200"/>
          <a:lstStyle>
            <a:defPPr>
              <a:defRPr lang="ja-JP"/>
            </a:defPPr>
            <a:lvl1pPr marL="0" algn="l" defTabSz="914400" rtl="0" eaLnBrk="1" latinLnBrk="0" hangingPunct="1"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r"/>
            <a:fld id="{9FC100E3-15F5-4145-A942-47DB1D8B776D}" type="slidenum">
              <a:rPr lang="ja-JP" altLang="en-US" sz="1400" i="1" smtClean="0">
                <a:solidFill>
                  <a:prstClr val="white"/>
                </a:solidFill>
                <a:latin typeface="Century Gothic" panose="020B0502020202020204" pitchFamily="34" charset="0"/>
              </a:rPr>
              <a:pPr algn="r"/>
              <a:t>‹#›</a:t>
            </a:fld>
            <a:endParaRPr lang="ja-JP" altLang="en-US" sz="1400" i="1" dirty="0">
              <a:solidFill>
                <a:prstClr val="white"/>
              </a:solidFill>
              <a:latin typeface="Century Gothic" panose="020B0502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611138245"/>
      </p:ext>
    </p:extLst>
  </p:cSld>
  <p:clrMap bg1="lt1" tx1="dk1" bg2="lt2" tx2="dk2" accent1="accent1" accent2="accent2" accent3="accent3" accent4="accent4" accent5="accent5" accent6="accent6" hlink="hlink" folHlink="folHlink"/>
  <p:hf hdr="0" dt="0"/>
  <p:txStyles>
    <p:titleStyle>
      <a:lvl1pPr algn="ctr" defTabSz="457200" rtl="0" eaLnBrk="1" fontAlgn="base" hangingPunct="1">
        <a:spcBef>
          <a:spcPct val="0"/>
        </a:spcBef>
        <a:spcAft>
          <a:spcPct val="0"/>
        </a:spcAft>
        <a:defRPr kumimoji="1" sz="4400" kern="1200">
          <a:solidFill>
            <a:schemeClr val="tx1"/>
          </a:solidFill>
          <a:latin typeface="+mj-lt"/>
          <a:ea typeface="+mj-ea"/>
          <a:cs typeface="ＭＳ Ｐゴシック" charset="0"/>
        </a:defRPr>
      </a:lvl1pPr>
      <a:lvl2pPr algn="ctr" defTabSz="457200" rtl="0" eaLnBrk="1" fontAlgn="base" hangingPunct="1">
        <a:spcBef>
          <a:spcPct val="0"/>
        </a:spcBef>
        <a:spcAft>
          <a:spcPct val="0"/>
        </a:spcAft>
        <a:defRPr kumimoji="1" sz="4400">
          <a:solidFill>
            <a:schemeClr val="tx1"/>
          </a:solidFill>
          <a:latin typeface="Calibri" charset="0"/>
          <a:ea typeface="ＭＳ Ｐゴシック" charset="0"/>
          <a:cs typeface="ＭＳ Ｐゴシック" charset="0"/>
        </a:defRPr>
      </a:lvl2pPr>
      <a:lvl3pPr algn="ctr" defTabSz="457200" rtl="0" eaLnBrk="1" fontAlgn="base" hangingPunct="1">
        <a:spcBef>
          <a:spcPct val="0"/>
        </a:spcBef>
        <a:spcAft>
          <a:spcPct val="0"/>
        </a:spcAft>
        <a:defRPr kumimoji="1" sz="4400">
          <a:solidFill>
            <a:schemeClr val="tx1"/>
          </a:solidFill>
          <a:latin typeface="Calibri" charset="0"/>
          <a:ea typeface="ＭＳ Ｐゴシック" charset="0"/>
          <a:cs typeface="ＭＳ Ｐゴシック" charset="0"/>
        </a:defRPr>
      </a:lvl3pPr>
      <a:lvl4pPr algn="ctr" defTabSz="457200" rtl="0" eaLnBrk="1" fontAlgn="base" hangingPunct="1">
        <a:spcBef>
          <a:spcPct val="0"/>
        </a:spcBef>
        <a:spcAft>
          <a:spcPct val="0"/>
        </a:spcAft>
        <a:defRPr kumimoji="1" sz="4400">
          <a:solidFill>
            <a:schemeClr val="tx1"/>
          </a:solidFill>
          <a:latin typeface="Calibri" charset="0"/>
          <a:ea typeface="ＭＳ Ｐゴシック" charset="0"/>
          <a:cs typeface="ＭＳ Ｐゴシック" charset="0"/>
        </a:defRPr>
      </a:lvl4pPr>
      <a:lvl5pPr algn="ctr" defTabSz="457200" rtl="0" eaLnBrk="1" fontAlgn="base" hangingPunct="1">
        <a:spcBef>
          <a:spcPct val="0"/>
        </a:spcBef>
        <a:spcAft>
          <a:spcPct val="0"/>
        </a:spcAft>
        <a:defRPr kumimoji="1" sz="4400">
          <a:solidFill>
            <a:schemeClr val="tx1"/>
          </a:solidFill>
          <a:latin typeface="Calibri" charset="0"/>
          <a:ea typeface="ＭＳ Ｐゴシック" charset="0"/>
          <a:cs typeface="ＭＳ Ｐゴシック" charset="0"/>
        </a:defRPr>
      </a:lvl5pPr>
      <a:lvl6pPr marL="457200" algn="ctr" defTabSz="457200" rtl="0" eaLnBrk="1" fontAlgn="base" hangingPunct="1">
        <a:spcBef>
          <a:spcPct val="0"/>
        </a:spcBef>
        <a:spcAft>
          <a:spcPct val="0"/>
        </a:spcAft>
        <a:defRPr kumimoji="1" sz="4400">
          <a:solidFill>
            <a:schemeClr val="tx1"/>
          </a:solidFill>
          <a:latin typeface="Calibri" charset="0"/>
          <a:ea typeface="ＭＳ Ｐゴシック" charset="0"/>
          <a:cs typeface="ＭＳ Ｐゴシック" charset="0"/>
        </a:defRPr>
      </a:lvl6pPr>
      <a:lvl7pPr marL="914400" algn="ctr" defTabSz="457200" rtl="0" eaLnBrk="1" fontAlgn="base" hangingPunct="1">
        <a:spcBef>
          <a:spcPct val="0"/>
        </a:spcBef>
        <a:spcAft>
          <a:spcPct val="0"/>
        </a:spcAft>
        <a:defRPr kumimoji="1" sz="4400">
          <a:solidFill>
            <a:schemeClr val="tx1"/>
          </a:solidFill>
          <a:latin typeface="Calibri" charset="0"/>
          <a:ea typeface="ＭＳ Ｐゴシック" charset="0"/>
          <a:cs typeface="ＭＳ Ｐゴシック" charset="0"/>
        </a:defRPr>
      </a:lvl7pPr>
      <a:lvl8pPr marL="1371600" algn="ctr" defTabSz="457200" rtl="0" eaLnBrk="1" fontAlgn="base" hangingPunct="1">
        <a:spcBef>
          <a:spcPct val="0"/>
        </a:spcBef>
        <a:spcAft>
          <a:spcPct val="0"/>
        </a:spcAft>
        <a:defRPr kumimoji="1" sz="4400">
          <a:solidFill>
            <a:schemeClr val="tx1"/>
          </a:solidFill>
          <a:latin typeface="Calibri" charset="0"/>
          <a:ea typeface="ＭＳ Ｐゴシック" charset="0"/>
          <a:cs typeface="ＭＳ Ｐゴシック" charset="0"/>
        </a:defRPr>
      </a:lvl8pPr>
      <a:lvl9pPr marL="1828800" algn="ctr" defTabSz="457200" rtl="0" eaLnBrk="1" fontAlgn="base" hangingPunct="1">
        <a:spcBef>
          <a:spcPct val="0"/>
        </a:spcBef>
        <a:spcAft>
          <a:spcPct val="0"/>
        </a:spcAft>
        <a:defRPr kumimoji="1" sz="4400">
          <a:solidFill>
            <a:schemeClr val="tx1"/>
          </a:solidFill>
          <a:latin typeface="Calibri" charset="0"/>
          <a:ea typeface="ＭＳ Ｐゴシック" charset="0"/>
          <a:cs typeface="ＭＳ Ｐゴシック" charset="0"/>
        </a:defRPr>
      </a:lvl9pPr>
    </p:titleStyle>
    <p:bodyStyle>
      <a:lvl1pPr marL="342900" indent="-342900" algn="l" defTabSz="457200" rtl="0" eaLnBrk="1" fontAlgn="base" hangingPunct="1">
        <a:spcBef>
          <a:spcPct val="20000"/>
        </a:spcBef>
        <a:spcAft>
          <a:spcPct val="0"/>
        </a:spcAft>
        <a:buFont typeface="Arial" charset="0"/>
        <a:buChar char="•"/>
        <a:defRPr kumimoji="1" sz="3200" kern="1200">
          <a:solidFill>
            <a:schemeClr val="tx1"/>
          </a:solidFill>
          <a:latin typeface="+mn-lt"/>
          <a:ea typeface="+mn-ea"/>
          <a:cs typeface="ＭＳ Ｐゴシック" charset="0"/>
        </a:defRPr>
      </a:lvl1pPr>
      <a:lvl2pPr marL="742950" indent="-285750" algn="l" defTabSz="457200" rtl="0" eaLnBrk="1" fontAlgn="base" hangingPunct="1">
        <a:spcBef>
          <a:spcPct val="20000"/>
        </a:spcBef>
        <a:spcAft>
          <a:spcPct val="0"/>
        </a:spcAft>
        <a:buFont typeface="Arial" charset="0"/>
        <a:buChar char="–"/>
        <a:defRPr kumimoji="1"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fontAlgn="base" hangingPunct="1">
        <a:spcBef>
          <a:spcPct val="20000"/>
        </a:spcBef>
        <a:spcAft>
          <a:spcPct val="0"/>
        </a:spcAft>
        <a:buFont typeface="Arial" charset="0"/>
        <a:buChar char="•"/>
        <a:defRPr kumimoji="1"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fontAlgn="base" hangingPunct="1">
        <a:spcBef>
          <a:spcPct val="20000"/>
        </a:spcBef>
        <a:spcAft>
          <a:spcPct val="0"/>
        </a:spcAft>
        <a:buFont typeface="Arial" charset="0"/>
        <a:buChar char="–"/>
        <a:defRPr kumimoji="1"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fontAlgn="base" hangingPunct="1">
        <a:spcBef>
          <a:spcPct val="20000"/>
        </a:spcBef>
        <a:spcAft>
          <a:spcPct val="0"/>
        </a:spcAft>
        <a:buFont typeface="Arial" charset="0"/>
        <a:buChar char="»"/>
        <a:defRPr kumimoji="1"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kumimoji="1"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kumimoji="1"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kumimoji="1"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kumimoji="1"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ja-JP"/>
      </a:defPPr>
      <a:lvl1pPr marL="0" algn="l" defTabSz="4572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4.jpg"/><Relationship Id="rId3" Type="http://schemas.openxmlformats.org/officeDocument/2006/relationships/image" Target="../media/image5.jpg"/><Relationship Id="rId4" Type="http://schemas.openxmlformats.org/officeDocument/2006/relationships/image" Target="../media/image6.png"/><Relationship Id="rId5" Type="http://schemas.openxmlformats.org/officeDocument/2006/relationships/image" Target="../media/image7.png"/><Relationship Id="rId6" Type="http://schemas.openxmlformats.org/officeDocument/2006/relationships/image" Target="../media/image8.png"/><Relationship Id="rId7" Type="http://schemas.openxmlformats.org/officeDocument/2006/relationships/image" Target="../media/image9.jpg"/><Relationship Id="rId8" Type="http://schemas.openxmlformats.org/officeDocument/2006/relationships/image" Target="../media/image10.jpeg"/><Relationship Id="rId9" Type="http://schemas.openxmlformats.org/officeDocument/2006/relationships/image" Target="../media/image11.pn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12.png"/><Relationship Id="rId3" Type="http://schemas.openxmlformats.org/officeDocument/2006/relationships/image" Target="../media/image13.png"/><Relationship Id="rId4" Type="http://schemas.openxmlformats.org/officeDocument/2006/relationships/image" Target="../media/image14.png"/><Relationship Id="rId5" Type="http://schemas.openxmlformats.org/officeDocument/2006/relationships/image" Target="../media/image15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1"/>
          <p:cNvSpPr txBox="1"/>
          <p:nvPr/>
        </p:nvSpPr>
        <p:spPr>
          <a:xfrm>
            <a:off x="547200" y="136800"/>
            <a:ext cx="11070119" cy="338400"/>
          </a:xfrm>
          <a:prstGeom prst="rect">
            <a:avLst/>
          </a:prstGeom>
          <a:noFill/>
        </p:spPr>
        <p:txBody>
          <a:bodyPr wrap="square" lIns="0" tIns="21600" rIns="0" bIns="21600" anchor="ctr">
            <a:spAutoFit/>
          </a:bodyPr>
          <a:lstStyle/>
          <a:p>
            <a:pPr algn="l"/>
            <a:r>
              <a:rPr sz="1600" b="1">
                <a:solidFill>
                  <a:srgbClr val="002060"/>
                </a:solidFill>
                <a:latin typeface="メイリオ"/>
                <a:ea typeface="メイリオ"/>
                <a:cs typeface="メイリオ"/>
              </a:rPr>
              <a:t>広告と一緒にサンクスLINEを実施する理由</a:t>
            </a:r>
          </a:p>
        </p:txBody>
      </p:sp>
      <p:sp>
        <p:nvSpPr>
          <p:cNvPr id="4" name="TextBox 2"/>
          <p:cNvSpPr txBox="1"/>
          <p:nvPr/>
        </p:nvSpPr>
        <p:spPr>
          <a:xfrm>
            <a:off x="793680" y="725334"/>
            <a:ext cx="11214119" cy="529332"/>
          </a:xfrm>
          <a:prstGeom prst="rect">
            <a:avLst/>
          </a:prstGeom>
          <a:noFill/>
        </p:spPr>
        <p:txBody>
          <a:bodyPr wrap="square" lIns="0" tIns="21600" rIns="0" bIns="21600" anchor="ctr">
            <a:spAutoFit/>
          </a:bodyPr>
          <a:lstStyle/>
          <a:p>
            <a:pPr algn="l">
              <a:lnSpc>
                <a:spcPct val="130000"/>
              </a:lnSpc>
            </a:pPr>
            <a:r>
              <a:rPr sz="1800" dirty="0" err="1">
                <a:solidFill>
                  <a:srgbClr val="333333"/>
                </a:solidFill>
                <a:latin typeface="メイリオ"/>
                <a:ea typeface="メイリオ"/>
                <a:cs typeface="メイリオ"/>
              </a:rPr>
              <a:t>広告はCV獲得までのCPA、サンクスLINEはCV獲得後のCPOを改善</a:t>
            </a:r>
            <a:endParaRPr sz="1250" dirty="0">
              <a:solidFill>
                <a:srgbClr val="333333"/>
              </a:solidFill>
              <a:latin typeface="メイリオ"/>
              <a:ea typeface="メイリオ"/>
              <a:cs typeface="メイリオ"/>
            </a:endParaRPr>
          </a:p>
        </p:txBody>
      </p:sp>
      <p:cxnSp>
        <p:nvCxnSpPr>
          <p:cNvPr id="5" name="Connector 3"/>
          <p:cNvCxnSpPr/>
          <p:nvPr/>
        </p:nvCxnSpPr>
        <p:spPr>
          <a:xfrm>
            <a:off x="0" y="1389600"/>
            <a:ext cx="12192119" cy="0"/>
          </a:xfrm>
          <a:prstGeom prst="line">
            <a:avLst/>
          </a:prstGeom>
          <a:ln w="12700">
            <a:solidFill>
              <a:srgbClr val="D9D9D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TextBox 5"/>
          <p:cNvSpPr txBox="1"/>
          <p:nvPr/>
        </p:nvSpPr>
        <p:spPr>
          <a:xfrm>
            <a:off x="792000" y="1620000"/>
            <a:ext cx="5094000" cy="468000"/>
          </a:xfrm>
          <a:prstGeom prst="rect">
            <a:avLst/>
          </a:prstGeom>
          <a:noFill/>
        </p:spPr>
        <p:txBody>
          <a:bodyPr wrap="square" anchor="ctr" lIns="36000" rIns="36000" tIns="10800" bIns="10800">
            <a:spAutoFit/>
          </a:bodyPr>
          <a:lstStyle/>
          <a:p>
            <a:pPr algn="ctr">
              <a:lnSpc>
                <a:spcPct val="105000"/>
              </a:lnSpc>
              <a:spcAft>
                <a:spcPts val="200"/>
              </a:spcAft>
            </a:pPr>
            <a:r>
              <a:rPr sz="1300" b="1">
                <a:solidFill>
                  <a:srgbClr val="1F285A"/>
                </a:solidFill>
                <a:latin typeface="メイリオ"/>
                <a:ea typeface="メイリオ"/>
                <a:cs typeface="メイリオ"/>
              </a:rPr>
              <a:t>CV獲得まで｜</a:t>
            </a:r>
            <a:r>
              <a:rPr sz="2400" b="1">
                <a:solidFill>
                  <a:srgbClr val="1F285A"/>
                </a:solidFill>
                <a:latin typeface="メイリオ"/>
                <a:ea typeface="メイリオ"/>
                <a:cs typeface="メイリオ"/>
              </a:rPr>
              <a:t>CPA改善</a:t>
            </a:r>
          </a:p>
        </p:txBody>
      </p:sp>
      <p:sp>
        <p:nvSpPr>
          <p:cNvPr id="7" name="Rectangle 6"/>
          <p:cNvSpPr/>
          <p:nvPr/>
        </p:nvSpPr>
        <p:spPr>
          <a:xfrm>
            <a:off x="2259000" y="2106000"/>
            <a:ext cx="2160000" cy="43200"/>
          </a:xfrm>
          <a:prstGeom prst="rect">
            <a:avLst/>
          </a:prstGeom>
          <a:solidFill>
            <a:srgbClr val="1F285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 wrap="square" lIns="72000" tIns="18000" rIns="72000" bIns="18000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1683000" y="2268000"/>
            <a:ext cx="3311999" cy="396000"/>
          </a:xfrm>
          <a:prstGeom prst="rect">
            <a:avLst/>
          </a:prstGeom>
          <a:solidFill>
            <a:srgbClr val="E4E8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 wrap="square" lIns="36000" tIns="0" rIns="36000" bIns="0"/>
          <a:lstStyle/>
          <a:p>
            <a:pPr algn="ctr">
              <a:lnSpc>
                <a:spcPct val="110000"/>
              </a:lnSpc>
              <a:spcAft>
                <a:spcPts val="0"/>
              </a:spcAft>
            </a:pPr>
            <a:r>
              <a:rPr sz="1250" b="1">
                <a:solidFill>
                  <a:srgbClr val="1F285A"/>
                </a:solidFill>
                <a:latin typeface="メイリオ"/>
                <a:ea typeface="メイリオ"/>
                <a:cs typeface="メイリオ"/>
              </a:rPr>
              <a:t>広告</a:t>
            </a:r>
          </a:p>
        </p:txBody>
      </p:sp>
      <p:cxnSp>
        <p:nvCxnSpPr>
          <p:cNvPr id="9" name="Connector 8"/>
          <p:cNvCxnSpPr/>
          <p:nvPr/>
        </p:nvCxnSpPr>
        <p:spPr>
          <a:xfrm>
            <a:off x="3339000" y="2682000"/>
            <a:ext cx="0" cy="108000"/>
          </a:xfrm>
          <a:prstGeom prst="line">
            <a:avLst/>
          </a:prstGeom>
          <a:ln w="22225">
            <a:solidFill>
              <a:srgbClr val="1F285A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0" name="Rectangle 9"/>
          <p:cNvSpPr/>
          <p:nvPr/>
        </p:nvSpPr>
        <p:spPr>
          <a:xfrm>
            <a:off x="1683000" y="2808000"/>
            <a:ext cx="3311999" cy="396000"/>
          </a:xfrm>
          <a:prstGeom prst="rect">
            <a:avLst/>
          </a:prstGeom>
          <a:solidFill>
            <a:srgbClr val="E4E8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 wrap="square" lIns="36000" tIns="0" rIns="36000" bIns="0"/>
          <a:lstStyle/>
          <a:p>
            <a:pPr algn="ctr">
              <a:lnSpc>
                <a:spcPct val="110000"/>
              </a:lnSpc>
              <a:spcAft>
                <a:spcPts val="0"/>
              </a:spcAft>
            </a:pPr>
            <a:r>
              <a:rPr sz="1250" b="1">
                <a:solidFill>
                  <a:srgbClr val="1F285A"/>
                </a:solidFill>
                <a:latin typeface="メイリオ"/>
                <a:ea typeface="メイリオ"/>
                <a:cs typeface="メイリオ"/>
              </a:rPr>
              <a:t>LP</a:t>
            </a:r>
          </a:p>
        </p:txBody>
      </p:sp>
      <p:cxnSp>
        <p:nvCxnSpPr>
          <p:cNvPr id="11" name="Connector 10"/>
          <p:cNvCxnSpPr/>
          <p:nvPr/>
        </p:nvCxnSpPr>
        <p:spPr>
          <a:xfrm>
            <a:off x="3339000" y="3222000"/>
            <a:ext cx="0" cy="108000"/>
          </a:xfrm>
          <a:prstGeom prst="line">
            <a:avLst/>
          </a:prstGeom>
          <a:ln w="22225">
            <a:solidFill>
              <a:srgbClr val="1F285A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2" name="Rectangle 11"/>
          <p:cNvSpPr/>
          <p:nvPr/>
        </p:nvSpPr>
        <p:spPr>
          <a:xfrm>
            <a:off x="1683000" y="3348000"/>
            <a:ext cx="3311999" cy="396000"/>
          </a:xfrm>
          <a:prstGeom prst="rect">
            <a:avLst/>
          </a:prstGeom>
          <a:solidFill>
            <a:srgbClr val="1F285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 wrap="square" lIns="36000" tIns="0" rIns="36000" bIns="0"/>
          <a:lstStyle/>
          <a:p>
            <a:pPr algn="ctr">
              <a:lnSpc>
                <a:spcPct val="110000"/>
              </a:lnSpc>
              <a:spcAft>
                <a:spcPts val="0"/>
              </a:spcAft>
            </a:pPr>
            <a:r>
              <a:rPr sz="1250" b="1">
                <a:solidFill>
                  <a:srgbClr val="FFFFFF"/>
                </a:solidFill>
                <a:latin typeface="メイリオ"/>
                <a:ea typeface="メイリオ"/>
                <a:cs typeface="メイリオ"/>
              </a:rPr>
              <a:t>離脱防止 × 成果報酬施策</a:t>
            </a:r>
          </a:p>
        </p:txBody>
      </p:sp>
      <p:cxnSp>
        <p:nvCxnSpPr>
          <p:cNvPr id="13" name="Connector 12"/>
          <p:cNvCxnSpPr/>
          <p:nvPr/>
        </p:nvCxnSpPr>
        <p:spPr>
          <a:xfrm>
            <a:off x="3339000" y="3762000"/>
            <a:ext cx="0" cy="108000"/>
          </a:xfrm>
          <a:prstGeom prst="line">
            <a:avLst/>
          </a:prstGeom>
          <a:ln w="22225">
            <a:solidFill>
              <a:srgbClr val="1F285A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4" name="Rectangle 13"/>
          <p:cNvSpPr/>
          <p:nvPr/>
        </p:nvSpPr>
        <p:spPr>
          <a:xfrm>
            <a:off x="1683000" y="3888000"/>
            <a:ext cx="3311999" cy="396000"/>
          </a:xfrm>
          <a:prstGeom prst="rect">
            <a:avLst/>
          </a:prstGeom>
          <a:solidFill>
            <a:srgbClr val="1F285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 wrap="square" lIns="36000" tIns="0" rIns="36000" bIns="0"/>
          <a:lstStyle/>
          <a:p>
            <a:pPr algn="ctr">
              <a:lnSpc>
                <a:spcPct val="110000"/>
              </a:lnSpc>
              <a:spcAft>
                <a:spcPts val="0"/>
              </a:spcAft>
            </a:pPr>
            <a:r>
              <a:rPr sz="1250" b="1">
                <a:solidFill>
                  <a:srgbClr val="FFFFFF"/>
                </a:solidFill>
                <a:latin typeface="メイリオ"/>
                <a:ea typeface="メイリオ"/>
                <a:cs typeface="メイリオ"/>
              </a:rPr>
              <a:t>CV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92000" y="4464000"/>
            <a:ext cx="5094000" cy="288000"/>
          </a:xfrm>
          <a:prstGeom prst="rect">
            <a:avLst/>
          </a:prstGeom>
          <a:noFill/>
        </p:spPr>
        <p:txBody>
          <a:bodyPr wrap="square" anchor="ctr" lIns="36000" rIns="36000" tIns="18000" bIns="18000">
            <a:spAutoFit/>
          </a:bodyPr>
          <a:lstStyle/>
          <a:p>
            <a:pPr algn="ctr">
              <a:lnSpc>
                <a:spcPct val="110000"/>
              </a:lnSpc>
              <a:spcAft>
                <a:spcPts val="0"/>
              </a:spcAft>
            </a:pPr>
            <a:r>
              <a:rPr sz="1100" b="1">
                <a:solidFill>
                  <a:srgbClr val="333333"/>
                </a:solidFill>
                <a:latin typeface="メイリオ"/>
                <a:ea typeface="メイリオ"/>
                <a:cs typeface="メイリオ"/>
              </a:rPr>
              <a:t>CVの取りこぼしを減らし、施策全体のCPA改善へ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318000" y="1620000"/>
            <a:ext cx="5094000" cy="468000"/>
          </a:xfrm>
          <a:prstGeom prst="rect">
            <a:avLst/>
          </a:prstGeom>
          <a:noFill/>
        </p:spPr>
        <p:txBody>
          <a:bodyPr wrap="square" anchor="ctr" lIns="36000" rIns="36000" tIns="10800" bIns="10800">
            <a:spAutoFit/>
          </a:bodyPr>
          <a:lstStyle/>
          <a:p>
            <a:pPr algn="ctr">
              <a:lnSpc>
                <a:spcPct val="105000"/>
              </a:lnSpc>
              <a:spcAft>
                <a:spcPts val="200"/>
              </a:spcAft>
            </a:pPr>
            <a:r>
              <a:rPr sz="1300" b="1">
                <a:solidFill>
                  <a:srgbClr val="1F285A"/>
                </a:solidFill>
                <a:latin typeface="メイリオ"/>
                <a:ea typeface="メイリオ"/>
                <a:cs typeface="メイリオ"/>
              </a:rPr>
              <a:t>CV獲得後｜</a:t>
            </a:r>
            <a:r>
              <a:rPr sz="2400" b="1">
                <a:solidFill>
                  <a:srgbClr val="1F285A"/>
                </a:solidFill>
                <a:latin typeface="メイリオ"/>
                <a:ea typeface="メイリオ"/>
                <a:cs typeface="メイリオ"/>
              </a:rPr>
              <a:t>CPO改善</a:t>
            </a:r>
          </a:p>
        </p:txBody>
      </p:sp>
      <p:sp>
        <p:nvSpPr>
          <p:cNvPr id="17" name="Rectangle 16"/>
          <p:cNvSpPr/>
          <p:nvPr/>
        </p:nvSpPr>
        <p:spPr>
          <a:xfrm>
            <a:off x="7785000" y="2106000"/>
            <a:ext cx="2160000" cy="43200"/>
          </a:xfrm>
          <a:prstGeom prst="rect">
            <a:avLst/>
          </a:prstGeom>
          <a:solidFill>
            <a:srgbClr val="06C75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 wrap="square" lIns="72000" tIns="18000" rIns="72000" bIns="18000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7209000" y="2268000"/>
            <a:ext cx="3311999" cy="396000"/>
          </a:xfrm>
          <a:prstGeom prst="rect">
            <a:avLst/>
          </a:prstGeom>
          <a:solidFill>
            <a:srgbClr val="E4E8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 wrap="square" lIns="36000" tIns="0" rIns="36000" bIns="0"/>
          <a:lstStyle/>
          <a:p>
            <a:pPr algn="ctr">
              <a:lnSpc>
                <a:spcPct val="110000"/>
              </a:lnSpc>
              <a:spcAft>
                <a:spcPts val="0"/>
              </a:spcAft>
            </a:pPr>
            <a:r>
              <a:rPr sz="1250" b="1">
                <a:solidFill>
                  <a:srgbClr val="1F285A"/>
                </a:solidFill>
                <a:latin typeface="メイリオ"/>
                <a:ea typeface="メイリオ"/>
                <a:cs typeface="メイリオ"/>
              </a:rPr>
              <a:t>CV</a:t>
            </a:r>
          </a:p>
        </p:txBody>
      </p:sp>
      <p:cxnSp>
        <p:nvCxnSpPr>
          <p:cNvPr id="19" name="Connector 18"/>
          <p:cNvCxnSpPr/>
          <p:nvPr/>
        </p:nvCxnSpPr>
        <p:spPr>
          <a:xfrm>
            <a:off x="8865000" y="2682000"/>
            <a:ext cx="0" cy="108000"/>
          </a:xfrm>
          <a:prstGeom prst="line">
            <a:avLst/>
          </a:prstGeom>
          <a:ln w="22225">
            <a:solidFill>
              <a:srgbClr val="1F285A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0" name="Rectangle 19"/>
          <p:cNvSpPr/>
          <p:nvPr/>
        </p:nvSpPr>
        <p:spPr>
          <a:xfrm>
            <a:off x="7209000" y="2808000"/>
            <a:ext cx="3311999" cy="396000"/>
          </a:xfrm>
          <a:prstGeom prst="rect">
            <a:avLst/>
          </a:prstGeom>
          <a:solidFill>
            <a:srgbClr val="06C75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 wrap="square" lIns="36000" tIns="0" rIns="36000" bIns="0"/>
          <a:lstStyle/>
          <a:p>
            <a:pPr algn="ctr">
              <a:lnSpc>
                <a:spcPct val="110000"/>
              </a:lnSpc>
              <a:spcAft>
                <a:spcPts val="0"/>
              </a:spcAft>
            </a:pPr>
            <a:r>
              <a:rPr sz="1250" b="1">
                <a:solidFill>
                  <a:srgbClr val="FFFFFF"/>
                </a:solidFill>
                <a:latin typeface="メイリオ"/>
                <a:ea typeface="メイリオ"/>
                <a:cs typeface="メイリオ"/>
              </a:rPr>
              <a:t>サンクスLINE誘導</a:t>
            </a:r>
          </a:p>
        </p:txBody>
      </p:sp>
      <p:cxnSp>
        <p:nvCxnSpPr>
          <p:cNvPr id="21" name="Connector 20"/>
          <p:cNvCxnSpPr/>
          <p:nvPr/>
        </p:nvCxnSpPr>
        <p:spPr>
          <a:xfrm>
            <a:off x="8865000" y="3222000"/>
            <a:ext cx="0" cy="108000"/>
          </a:xfrm>
          <a:prstGeom prst="line">
            <a:avLst/>
          </a:prstGeom>
          <a:ln w="22225">
            <a:solidFill>
              <a:srgbClr val="1F285A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2" name="Rectangle 21"/>
          <p:cNvSpPr/>
          <p:nvPr/>
        </p:nvSpPr>
        <p:spPr>
          <a:xfrm>
            <a:off x="7209000" y="3348000"/>
            <a:ext cx="3311999" cy="396000"/>
          </a:xfrm>
          <a:prstGeom prst="rect">
            <a:avLst/>
          </a:prstGeom>
          <a:solidFill>
            <a:srgbClr val="E8F8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 wrap="square" lIns="36000" tIns="0" rIns="36000" bIns="0"/>
          <a:lstStyle/>
          <a:p>
            <a:pPr algn="ctr">
              <a:lnSpc>
                <a:spcPct val="110000"/>
              </a:lnSpc>
              <a:spcAft>
                <a:spcPts val="0"/>
              </a:spcAft>
            </a:pPr>
            <a:r>
              <a:rPr sz="1250" b="1">
                <a:solidFill>
                  <a:srgbClr val="0B7A3B"/>
                </a:solidFill>
                <a:latin typeface="メイリオ"/>
                <a:ea typeface="メイリオ"/>
                <a:cs typeface="メイリオ"/>
              </a:rPr>
              <a:t>LINEで継続フォロー</a:t>
            </a:r>
          </a:p>
        </p:txBody>
      </p:sp>
      <p:cxnSp>
        <p:nvCxnSpPr>
          <p:cNvPr id="23" name="Connector 22"/>
          <p:cNvCxnSpPr/>
          <p:nvPr/>
        </p:nvCxnSpPr>
        <p:spPr>
          <a:xfrm>
            <a:off x="8865000" y="3762000"/>
            <a:ext cx="0" cy="108000"/>
          </a:xfrm>
          <a:prstGeom prst="line">
            <a:avLst/>
          </a:prstGeom>
          <a:ln w="22225">
            <a:solidFill>
              <a:srgbClr val="1F285A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4" name="Rectangle 23"/>
          <p:cNvSpPr/>
          <p:nvPr/>
        </p:nvSpPr>
        <p:spPr>
          <a:xfrm>
            <a:off x="7209000" y="3888000"/>
            <a:ext cx="3311999" cy="396000"/>
          </a:xfrm>
          <a:prstGeom prst="rect">
            <a:avLst/>
          </a:prstGeom>
          <a:solidFill>
            <a:srgbClr val="1F285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 wrap="square" lIns="36000" tIns="0" rIns="36000" bIns="0"/>
          <a:lstStyle/>
          <a:p>
            <a:pPr algn="ctr">
              <a:lnSpc>
                <a:spcPct val="110000"/>
              </a:lnSpc>
              <a:spcAft>
                <a:spcPts val="0"/>
              </a:spcAft>
            </a:pPr>
            <a:r>
              <a:rPr sz="1250" b="1">
                <a:solidFill>
                  <a:srgbClr val="FFFFFF"/>
                </a:solidFill>
                <a:latin typeface="メイリオ"/>
                <a:ea typeface="メイリオ"/>
                <a:cs typeface="メイリオ"/>
              </a:rPr>
              <a:t>購入・来店・面談などの最終成果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318000" y="4464000"/>
            <a:ext cx="5094000" cy="288000"/>
          </a:xfrm>
          <a:prstGeom prst="rect">
            <a:avLst/>
          </a:prstGeom>
          <a:noFill/>
        </p:spPr>
        <p:txBody>
          <a:bodyPr wrap="square" anchor="ctr" lIns="36000" rIns="36000" tIns="18000" bIns="18000">
            <a:spAutoFit/>
          </a:bodyPr>
          <a:lstStyle/>
          <a:p>
            <a:pPr algn="ctr">
              <a:lnSpc>
                <a:spcPct val="110000"/>
              </a:lnSpc>
              <a:spcAft>
                <a:spcPts val="0"/>
              </a:spcAft>
            </a:pPr>
            <a:r>
              <a:rPr sz="1100" b="1">
                <a:solidFill>
                  <a:srgbClr val="333333"/>
                </a:solidFill>
                <a:latin typeface="メイリオ"/>
                <a:ea typeface="メイリオ"/>
                <a:cs typeface="メイリオ"/>
              </a:rPr>
              <a:t>CV後の歩留まりを改善し、CPO改善へ</a:t>
            </a:r>
          </a:p>
        </p:txBody>
      </p:sp>
      <p:cxnSp>
        <p:nvCxnSpPr>
          <p:cNvPr id="26" name="Connector 25"/>
          <p:cNvCxnSpPr/>
          <p:nvPr/>
        </p:nvCxnSpPr>
        <p:spPr>
          <a:xfrm>
            <a:off x="6102000" y="1692000"/>
            <a:ext cx="0" cy="2988000"/>
          </a:xfrm>
          <a:prstGeom prst="line">
            <a:avLst/>
          </a:prstGeom>
          <a:ln w="12700">
            <a:solidFill>
              <a:srgbClr val="D9D9D9"/>
            </a:solidFill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7" name="Connector 26"/>
          <p:cNvCxnSpPr/>
          <p:nvPr/>
        </p:nvCxnSpPr>
        <p:spPr>
          <a:xfrm>
            <a:off x="792000" y="4788000"/>
            <a:ext cx="10620000" cy="0"/>
          </a:xfrm>
          <a:prstGeom prst="line">
            <a:avLst/>
          </a:prstGeom>
          <a:ln w="9525">
            <a:solidFill>
              <a:srgbClr val="D9D9D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8" name="Pentagon 27"/>
          <p:cNvSpPr/>
          <p:nvPr/>
        </p:nvSpPr>
        <p:spPr>
          <a:xfrm>
            <a:off x="1566000" y="4914000"/>
            <a:ext cx="3096000" cy="450000"/>
          </a:xfrm>
          <a:prstGeom prst="homePlate">
            <a:avLst>
              <a:gd name="adj" fmla="val 25000"/>
            </a:avLst>
          </a:prstGeom>
          <a:solidFill>
            <a:srgbClr val="06C75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 wrap="square" lIns="72000" tIns="18000" rIns="72000" bIns="18000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1674000" y="4914000"/>
            <a:ext cx="2807999" cy="450000"/>
          </a:xfrm>
          <a:prstGeom prst="rect">
            <a:avLst/>
          </a:prstGeom>
          <a:noFill/>
        </p:spPr>
        <p:txBody>
          <a:bodyPr wrap="square" anchor="ctr" lIns="36000" rIns="36000" tIns="18000" bIns="18000">
            <a:spAutoFit/>
          </a:bodyPr>
          <a:lstStyle/>
          <a:p>
            <a:pPr algn="ctr">
              <a:lnSpc>
                <a:spcPct val="110000"/>
              </a:lnSpc>
              <a:spcAft>
                <a:spcPts val="0"/>
              </a:spcAft>
            </a:pPr>
            <a:r>
              <a:rPr sz="1150" b="1">
                <a:solidFill>
                  <a:srgbClr val="FFFFFF"/>
                </a:solidFill>
                <a:latin typeface="メイリオ"/>
                <a:ea typeface="メイリオ"/>
                <a:cs typeface="メイリオ"/>
              </a:rPr>
              <a:t>CPO改善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1602000" y="5382000"/>
            <a:ext cx="3024000" cy="216000"/>
          </a:xfrm>
          <a:prstGeom prst="rect">
            <a:avLst/>
          </a:prstGeom>
          <a:noFill/>
        </p:spPr>
        <p:txBody>
          <a:bodyPr wrap="square" anchor="t" lIns="36000" rIns="36000" tIns="18000" bIns="18000">
            <a:spAutoFit/>
          </a:bodyPr>
          <a:lstStyle/>
          <a:p>
            <a:pPr algn="ctr">
              <a:lnSpc>
                <a:spcPct val="110000"/>
              </a:lnSpc>
              <a:spcAft>
                <a:spcPts val="0"/>
              </a:spcAft>
            </a:pPr>
            <a:r>
              <a:rPr sz="900" b="0">
                <a:solidFill>
                  <a:srgbClr val="7F7F7F"/>
                </a:solidFill>
                <a:latin typeface="メイリオ"/>
                <a:ea typeface="メイリオ"/>
                <a:cs typeface="メイリオ"/>
              </a:rPr>
              <a:t>CV後の歩留まりが上がる</a:t>
            </a:r>
          </a:p>
        </p:txBody>
      </p:sp>
      <p:sp>
        <p:nvSpPr>
          <p:cNvPr id="31" name="Chevron 30"/>
          <p:cNvSpPr/>
          <p:nvPr/>
        </p:nvSpPr>
        <p:spPr>
          <a:xfrm>
            <a:off x="4554000" y="4914000"/>
            <a:ext cx="3096000" cy="450000"/>
          </a:xfrm>
          <a:prstGeom prst="chevron">
            <a:avLst>
              <a:gd name="adj" fmla="val 25000"/>
            </a:avLst>
          </a:prstGeom>
          <a:solidFill>
            <a:srgbClr val="E4E8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 wrap="square" lIns="72000" tIns="18000" rIns="72000" bIns="18000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4770000" y="4914000"/>
            <a:ext cx="2700000" cy="450000"/>
          </a:xfrm>
          <a:prstGeom prst="rect">
            <a:avLst/>
          </a:prstGeom>
          <a:noFill/>
        </p:spPr>
        <p:txBody>
          <a:bodyPr wrap="square" anchor="ctr" lIns="36000" rIns="36000" tIns="18000" bIns="18000">
            <a:spAutoFit/>
          </a:bodyPr>
          <a:lstStyle/>
          <a:p>
            <a:pPr algn="ctr">
              <a:lnSpc>
                <a:spcPct val="110000"/>
              </a:lnSpc>
              <a:spcAft>
                <a:spcPts val="0"/>
              </a:spcAft>
            </a:pPr>
            <a:r>
              <a:rPr sz="1150" b="1">
                <a:solidFill>
                  <a:srgbClr val="1F285A"/>
                </a:solidFill>
                <a:latin typeface="メイリオ"/>
                <a:ea typeface="メイリオ"/>
                <a:cs typeface="メイリオ"/>
              </a:rPr>
              <a:t>許容CPA（目安CPA）の引き上げ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4590000" y="5382000"/>
            <a:ext cx="3024000" cy="216000"/>
          </a:xfrm>
          <a:prstGeom prst="rect">
            <a:avLst/>
          </a:prstGeom>
          <a:noFill/>
        </p:spPr>
        <p:txBody>
          <a:bodyPr wrap="square" anchor="t" lIns="36000" rIns="36000" tIns="18000" bIns="18000">
            <a:spAutoFit/>
          </a:bodyPr>
          <a:lstStyle/>
          <a:p>
            <a:pPr algn="ctr">
              <a:lnSpc>
                <a:spcPct val="110000"/>
              </a:lnSpc>
              <a:spcAft>
                <a:spcPts val="0"/>
              </a:spcAft>
            </a:pPr>
            <a:r>
              <a:rPr sz="900" b="0">
                <a:solidFill>
                  <a:srgbClr val="7F7F7F"/>
                </a:solidFill>
                <a:latin typeface="メイリオ"/>
                <a:ea typeface="メイリオ"/>
                <a:cs typeface="メイリオ"/>
              </a:rPr>
              <a:t>1件の最終成果にかけられる広告費が増える</a:t>
            </a:r>
          </a:p>
        </p:txBody>
      </p:sp>
      <p:sp>
        <p:nvSpPr>
          <p:cNvPr id="34" name="Chevron 33"/>
          <p:cNvSpPr/>
          <p:nvPr/>
        </p:nvSpPr>
        <p:spPr>
          <a:xfrm>
            <a:off x="7542000" y="4914000"/>
            <a:ext cx="3096000" cy="450000"/>
          </a:xfrm>
          <a:prstGeom prst="chevron">
            <a:avLst>
              <a:gd name="adj" fmla="val 25000"/>
            </a:avLst>
          </a:prstGeom>
          <a:solidFill>
            <a:srgbClr val="1F285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 wrap="square" lIns="72000" tIns="18000" rIns="72000" bIns="18000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7758000" y="4914000"/>
            <a:ext cx="2700000" cy="450000"/>
          </a:xfrm>
          <a:prstGeom prst="rect">
            <a:avLst/>
          </a:prstGeom>
          <a:noFill/>
        </p:spPr>
        <p:txBody>
          <a:bodyPr wrap="square" anchor="ctr" lIns="36000" rIns="36000" tIns="18000" bIns="18000">
            <a:spAutoFit/>
          </a:bodyPr>
          <a:lstStyle/>
          <a:p>
            <a:pPr algn="ctr">
              <a:lnSpc>
                <a:spcPct val="110000"/>
              </a:lnSpc>
              <a:spcAft>
                <a:spcPts val="0"/>
              </a:spcAft>
            </a:pPr>
            <a:r>
              <a:rPr sz="1150" b="1">
                <a:solidFill>
                  <a:srgbClr val="FFFFFF"/>
                </a:solidFill>
                <a:latin typeface="メイリオ"/>
                <a:ea typeface="メイリオ"/>
                <a:cs typeface="メイリオ"/>
              </a:rPr>
              <a:t>広告配信の拡大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7578000" y="5382000"/>
            <a:ext cx="3024000" cy="216000"/>
          </a:xfrm>
          <a:prstGeom prst="rect">
            <a:avLst/>
          </a:prstGeom>
          <a:noFill/>
        </p:spPr>
        <p:txBody>
          <a:bodyPr wrap="square" anchor="t" lIns="36000" rIns="36000" tIns="18000" bIns="18000">
            <a:spAutoFit/>
          </a:bodyPr>
          <a:lstStyle/>
          <a:p>
            <a:pPr algn="ctr">
              <a:lnSpc>
                <a:spcPct val="110000"/>
              </a:lnSpc>
              <a:spcAft>
                <a:spcPts val="0"/>
              </a:spcAft>
            </a:pPr>
            <a:r>
              <a:rPr sz="900" b="0">
                <a:solidFill>
                  <a:srgbClr val="7F7F7F"/>
                </a:solidFill>
                <a:latin typeface="メイリオ"/>
                <a:ea typeface="メイリオ"/>
                <a:cs typeface="メイリオ"/>
              </a:rPr>
              <a:t>入札・配信を広げやすくなる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792000" y="5724000"/>
            <a:ext cx="10620000" cy="468000"/>
          </a:xfrm>
          <a:prstGeom prst="rect">
            <a:avLst/>
          </a:prstGeom>
          <a:noFill/>
        </p:spPr>
        <p:txBody>
          <a:bodyPr wrap="square" anchor="ctr" lIns="36000" rIns="36000" tIns="18000" bIns="18000">
            <a:spAutoFit/>
          </a:bodyPr>
          <a:lstStyle/>
          <a:p>
            <a:pPr algn="ctr">
              <a:lnSpc>
                <a:spcPct val="110000"/>
              </a:lnSpc>
              <a:spcAft>
                <a:spcPts val="0"/>
              </a:spcAft>
            </a:pPr>
            <a:r>
              <a:rPr sz="1700" b="1">
                <a:solidFill>
                  <a:srgbClr val="1F285A"/>
                </a:solidFill>
                <a:latin typeface="メイリオ"/>
                <a:ea typeface="メイリオ"/>
                <a:cs typeface="メイリオ"/>
              </a:rPr>
              <a:t>広告施策とサンクスLINEをセットで実施し、事業単位での獲得効率を改善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Google Shape;752;p28">
            <a:extLst>
              <a:ext uri="{FF2B5EF4-FFF2-40B4-BE49-F238E27FC236}">
                <a16:creationId xmlns:a16="http://schemas.microsoft.com/office/drawing/2014/main" id="{AA80CD04-9456-70DB-2E44-D3EDB1461933}"/>
              </a:ext>
            </a:extLst>
          </p:cNvPr>
          <p:cNvSpPr txBox="1"/>
          <p:nvPr/>
        </p:nvSpPr>
        <p:spPr>
          <a:xfrm>
            <a:off x="1691884" y="138137"/>
            <a:ext cx="6276325" cy="33851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spAutoFit/>
          </a:bodyPr>
          <a:lstStyle/>
          <a:p>
            <a:pPr lvl="0"/>
            <a:r>
              <a:rPr lang="ja-JP" altLang="en-US" sz="1600" b="1" dirty="0">
                <a:solidFill>
                  <a:srgbClr val="002060"/>
                </a:solidFill>
                <a:latin typeface="メイリオ"/>
                <a:ea typeface="メイリオ"/>
                <a:cs typeface="メイリオ"/>
                <a:sym typeface="Meiryo"/>
              </a:rPr>
              <a:t>サンクスLINE｜機能・費用</a:t>
            </a:r>
            <a:endParaRPr lang="en-US" altLang="ja-JP" sz="1600" b="1" dirty="0">
              <a:solidFill>
                <a:srgbClr val="002060"/>
              </a:solidFill>
              <a:latin typeface="メイリオ"/>
              <a:ea typeface="メイリオ"/>
              <a:cs typeface="メイリオ"/>
              <a:sym typeface="Meiryo"/>
            </a:endParaRPr>
          </a:p>
        </p:txBody>
      </p:sp>
      <p:sp>
        <p:nvSpPr>
          <p:cNvPr id="16" name="正方形/長方形 15">
            <a:extLst>
              <a:ext uri="{FF2B5EF4-FFF2-40B4-BE49-F238E27FC236}">
                <a16:creationId xmlns:a16="http://schemas.microsoft.com/office/drawing/2014/main" id="{32BBF438-B1EF-A61A-EE3D-69CD39766C7E}"/>
              </a:ext>
            </a:extLst>
          </p:cNvPr>
          <p:cNvSpPr/>
          <p:nvPr/>
        </p:nvSpPr>
        <p:spPr>
          <a:xfrm>
            <a:off x="7537034" y="2187780"/>
            <a:ext cx="3061624" cy="1821208"/>
          </a:xfrm>
          <a:prstGeom prst="rect">
            <a:avLst/>
          </a:prstGeom>
          <a:noFill/>
          <a:ln>
            <a:solidFill>
              <a:schemeClr val="tx2">
                <a:lumMod val="20000"/>
                <a:lumOff val="8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ja-JP" altLang="en-US">
              <a:latin typeface="メイリオ"/>
              <a:ea typeface="メイリオ"/>
              <a:cs typeface="メイリオ"/>
            </a:endParaRPr>
          </a:p>
        </p:txBody>
      </p:sp>
      <p:sp>
        <p:nvSpPr>
          <p:cNvPr id="17" name="正方形/長方形 16">
            <a:extLst>
              <a:ext uri="{FF2B5EF4-FFF2-40B4-BE49-F238E27FC236}">
                <a16:creationId xmlns:a16="http://schemas.microsoft.com/office/drawing/2014/main" id="{1A1E4128-77DC-C871-EE20-5BD43326E078}"/>
              </a:ext>
            </a:extLst>
          </p:cNvPr>
          <p:cNvSpPr/>
          <p:nvPr/>
        </p:nvSpPr>
        <p:spPr>
          <a:xfrm>
            <a:off x="7537035" y="4317370"/>
            <a:ext cx="3061623" cy="1821208"/>
          </a:xfrm>
          <a:prstGeom prst="rect">
            <a:avLst/>
          </a:prstGeom>
          <a:noFill/>
          <a:ln>
            <a:solidFill>
              <a:schemeClr val="tx2">
                <a:lumMod val="20000"/>
                <a:lumOff val="8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ja-JP" altLang="en-US">
              <a:latin typeface="メイリオ"/>
              <a:ea typeface="メイリオ"/>
              <a:cs typeface="メイリオ"/>
            </a:endParaRPr>
          </a:p>
        </p:txBody>
      </p:sp>
      <p:sp>
        <p:nvSpPr>
          <p:cNvPr id="20" name="正方形/長方形 19">
            <a:extLst>
              <a:ext uri="{FF2B5EF4-FFF2-40B4-BE49-F238E27FC236}">
                <a16:creationId xmlns:a16="http://schemas.microsoft.com/office/drawing/2014/main" id="{F37BB268-660A-FEE4-BB39-0E338F1DDC23}"/>
              </a:ext>
            </a:extLst>
          </p:cNvPr>
          <p:cNvSpPr/>
          <p:nvPr/>
        </p:nvSpPr>
        <p:spPr>
          <a:xfrm>
            <a:off x="7583090" y="2033196"/>
            <a:ext cx="1619242" cy="244151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ja-JP" sz="1100" b="1" dirty="0">
                <a:solidFill>
                  <a:schemeClr val="tx1"/>
                </a:solidFill>
                <a:latin typeface="メイリオ" panose="020B0604030504040204" pitchFamily="50" charset="-128"/>
                <a:ea typeface="メイリオ" panose="020B0604030504040204" pitchFamily="50" charset="-128"/>
                <a:cs typeface="メイリオ"/>
              </a:rPr>
              <a:t>LINE</a:t>
            </a:r>
            <a:r>
              <a:rPr lang="ja-JP" altLang="en-US" sz="1100" b="1" dirty="0">
                <a:solidFill>
                  <a:schemeClr val="tx1"/>
                </a:solidFill>
                <a:latin typeface="メイリオ" panose="020B0604030504040204" pitchFamily="50" charset="-128"/>
                <a:ea typeface="メイリオ" panose="020B0604030504040204" pitchFamily="50" charset="-128"/>
                <a:cs typeface="メイリオ"/>
              </a:rPr>
              <a:t>未追加の場合</a:t>
            </a:r>
          </a:p>
        </p:txBody>
      </p:sp>
      <p:sp>
        <p:nvSpPr>
          <p:cNvPr id="21" name="正方形/長方形 20">
            <a:extLst>
              <a:ext uri="{FF2B5EF4-FFF2-40B4-BE49-F238E27FC236}">
                <a16:creationId xmlns:a16="http://schemas.microsoft.com/office/drawing/2014/main" id="{C9FF4626-FD17-CA1C-8064-F46606D0BCCE}"/>
              </a:ext>
            </a:extLst>
          </p:cNvPr>
          <p:cNvSpPr/>
          <p:nvPr/>
        </p:nvSpPr>
        <p:spPr>
          <a:xfrm>
            <a:off x="7583090" y="4195296"/>
            <a:ext cx="1619242" cy="244151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ja-JP" sz="1100" b="1" dirty="0">
                <a:solidFill>
                  <a:schemeClr val="tx1"/>
                </a:solidFill>
                <a:latin typeface="メイリオ" panose="020B0604030504040204" pitchFamily="50" charset="-128"/>
                <a:ea typeface="メイリオ" panose="020B0604030504040204" pitchFamily="50" charset="-128"/>
                <a:cs typeface="メイリオ"/>
              </a:rPr>
              <a:t>LINE</a:t>
            </a:r>
            <a:r>
              <a:rPr lang="ja-JP" altLang="en-US" sz="1100" b="1" dirty="0">
                <a:solidFill>
                  <a:schemeClr val="tx1"/>
                </a:solidFill>
                <a:latin typeface="メイリオ" panose="020B0604030504040204" pitchFamily="50" charset="-128"/>
                <a:ea typeface="メイリオ" panose="020B0604030504040204" pitchFamily="50" charset="-128"/>
                <a:cs typeface="メイリオ"/>
              </a:rPr>
              <a:t>追加済みの場合</a:t>
            </a:r>
          </a:p>
        </p:txBody>
      </p:sp>
      <p:cxnSp>
        <p:nvCxnSpPr>
          <p:cNvPr id="23" name="直線矢印コネクタ 22">
            <a:extLst>
              <a:ext uri="{FF2B5EF4-FFF2-40B4-BE49-F238E27FC236}">
                <a16:creationId xmlns:a16="http://schemas.microsoft.com/office/drawing/2014/main" id="{8F202453-7FF9-8AE7-D10D-66F74A74A2F4}"/>
              </a:ext>
            </a:extLst>
          </p:cNvPr>
          <p:cNvCxnSpPr>
            <a:cxnSpLocks/>
          </p:cNvCxnSpPr>
          <p:nvPr/>
        </p:nvCxnSpPr>
        <p:spPr>
          <a:xfrm flipV="1">
            <a:off x="7162523" y="2932418"/>
            <a:ext cx="391555" cy="421706"/>
          </a:xfrm>
          <a:prstGeom prst="straightConnector1">
            <a:avLst/>
          </a:prstGeom>
          <a:ln w="19050">
            <a:solidFill>
              <a:srgbClr val="00B050">
                <a:alpha val="80000"/>
              </a:srgbClr>
            </a:solidFill>
            <a:prstDash val="sysDot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4" name="直線矢印コネクタ 23">
            <a:extLst>
              <a:ext uri="{FF2B5EF4-FFF2-40B4-BE49-F238E27FC236}">
                <a16:creationId xmlns:a16="http://schemas.microsoft.com/office/drawing/2014/main" id="{C92F6E28-BBFF-1A56-AC22-CA16D2F1B1EA}"/>
              </a:ext>
            </a:extLst>
          </p:cNvPr>
          <p:cNvCxnSpPr>
            <a:cxnSpLocks/>
          </p:cNvCxnSpPr>
          <p:nvPr/>
        </p:nvCxnSpPr>
        <p:spPr>
          <a:xfrm>
            <a:off x="7162523" y="3354124"/>
            <a:ext cx="345499" cy="1392760"/>
          </a:xfrm>
          <a:prstGeom prst="straightConnector1">
            <a:avLst/>
          </a:prstGeom>
          <a:ln w="19050">
            <a:solidFill>
              <a:srgbClr val="00B050">
                <a:alpha val="80000"/>
              </a:srgbClr>
            </a:solidFill>
            <a:prstDash val="sysDot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45" name="図 44" descr="グラフィカル ユーザー インターフェイス, アプリケーション, Teams&#10;&#10;AI 生成コンテンツは誤りを含む可能性があります。">
            <a:extLst>
              <a:ext uri="{FF2B5EF4-FFF2-40B4-BE49-F238E27FC236}">
                <a16:creationId xmlns:a16="http://schemas.microsoft.com/office/drawing/2014/main" id="{E91CA7A5-62B3-F1F8-38C3-DDCE33E1CC3D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4580"/>
          <a:stretch>
            <a:fillRect/>
          </a:stretch>
        </p:blipFill>
        <p:spPr>
          <a:xfrm>
            <a:off x="9253316" y="2021148"/>
            <a:ext cx="1231081" cy="2085097"/>
          </a:xfrm>
          <a:prstGeom prst="rect">
            <a:avLst/>
          </a:prstGeom>
        </p:spPr>
      </p:pic>
      <p:pic>
        <p:nvPicPr>
          <p:cNvPr id="46" name="図 45" descr="電卓の写真のスマートフォンのスクリーンショット&#10;&#10;AI 生成コンテンツは誤りを含む可能性があります。">
            <a:extLst>
              <a:ext uri="{FF2B5EF4-FFF2-40B4-BE49-F238E27FC236}">
                <a16:creationId xmlns:a16="http://schemas.microsoft.com/office/drawing/2014/main" id="{31EEAD2C-3BE8-0210-FD8E-46D52B30A0AE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4580"/>
          <a:stretch>
            <a:fillRect/>
          </a:stretch>
        </p:blipFill>
        <p:spPr>
          <a:xfrm>
            <a:off x="9265094" y="4121293"/>
            <a:ext cx="1231081" cy="2085098"/>
          </a:xfrm>
          <a:prstGeom prst="rect">
            <a:avLst/>
          </a:prstGeom>
        </p:spPr>
      </p:pic>
      <p:sp>
        <p:nvSpPr>
          <p:cNvPr id="48" name="テキスト ボックス 47">
            <a:extLst>
              <a:ext uri="{FF2B5EF4-FFF2-40B4-BE49-F238E27FC236}">
                <a16:creationId xmlns:a16="http://schemas.microsoft.com/office/drawing/2014/main" id="{E989AEB3-EF0E-8885-B426-8B6A5E01F40A}"/>
              </a:ext>
            </a:extLst>
          </p:cNvPr>
          <p:cNvSpPr txBox="1"/>
          <p:nvPr/>
        </p:nvSpPr>
        <p:spPr>
          <a:xfrm>
            <a:off x="7583091" y="2552900"/>
            <a:ext cx="1510975" cy="43088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ja-JP" altLang="en-US" sz="1100" b="1" dirty="0">
                <a:latin typeface="メイリオ" panose="020B0604030504040204" pitchFamily="50" charset="-128"/>
                <a:ea typeface="メイリオ" panose="020B0604030504040204" pitchFamily="50" charset="-128"/>
                <a:cs typeface="メイリオ"/>
              </a:rPr>
              <a:t>友だち登録ページ</a:t>
            </a:r>
            <a:r>
              <a:rPr lang="ja-JP" altLang="en-US" sz="1100" dirty="0">
                <a:latin typeface="メイリオ" panose="020B0604030504040204" pitchFamily="50" charset="-128"/>
                <a:ea typeface="メイリオ" panose="020B0604030504040204" pitchFamily="50" charset="-128"/>
                <a:cs typeface="メイリオ"/>
              </a:rPr>
              <a:t>へ</a:t>
            </a:r>
            <a:endParaRPr lang="en-US" altLang="ja-JP" sz="1100" dirty="0">
              <a:latin typeface="メイリオ" panose="020B0604030504040204" pitchFamily="50" charset="-128"/>
              <a:ea typeface="メイリオ" panose="020B0604030504040204" pitchFamily="50" charset="-128"/>
              <a:cs typeface="メイリオ"/>
            </a:endParaRPr>
          </a:p>
          <a:p>
            <a:pPr algn="ctr"/>
            <a:r>
              <a:rPr lang="ja-JP" altLang="en-US" sz="1100" dirty="0">
                <a:latin typeface="メイリオ" panose="020B0604030504040204" pitchFamily="50" charset="-128"/>
                <a:ea typeface="メイリオ" panose="020B0604030504040204" pitchFamily="50" charset="-128"/>
                <a:cs typeface="メイリオ"/>
              </a:rPr>
              <a:t>遷移する。</a:t>
            </a:r>
          </a:p>
        </p:txBody>
      </p:sp>
      <p:sp>
        <p:nvSpPr>
          <p:cNvPr id="49" name="テキスト ボックス 48">
            <a:extLst>
              <a:ext uri="{FF2B5EF4-FFF2-40B4-BE49-F238E27FC236}">
                <a16:creationId xmlns:a16="http://schemas.microsoft.com/office/drawing/2014/main" id="{4E6D08E3-E0B3-1DF4-0533-E4EE67240415}"/>
              </a:ext>
            </a:extLst>
          </p:cNvPr>
          <p:cNvSpPr txBox="1"/>
          <p:nvPr/>
        </p:nvSpPr>
        <p:spPr>
          <a:xfrm>
            <a:off x="7555221" y="4735255"/>
            <a:ext cx="1647112" cy="2616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ja-JP" altLang="en-US" sz="1100" b="1" dirty="0">
                <a:latin typeface="メイリオ" panose="020B0604030504040204" pitchFamily="50" charset="-128"/>
                <a:ea typeface="メイリオ" panose="020B0604030504040204" pitchFamily="50" charset="-128"/>
                <a:cs typeface="メイリオ"/>
              </a:rPr>
              <a:t>トーク画面</a:t>
            </a:r>
            <a:r>
              <a:rPr lang="ja-JP" altLang="en-US" sz="1100" dirty="0">
                <a:latin typeface="メイリオ" panose="020B0604030504040204" pitchFamily="50" charset="-128"/>
                <a:ea typeface="メイリオ" panose="020B0604030504040204" pitchFamily="50" charset="-128"/>
                <a:cs typeface="メイリオ"/>
              </a:rPr>
              <a:t>へ遷移する。</a:t>
            </a:r>
            <a:endParaRPr lang="en-US" altLang="ja-JP" sz="1100" dirty="0">
              <a:latin typeface="メイリオ" panose="020B0604030504040204" pitchFamily="50" charset="-128"/>
              <a:ea typeface="メイリオ" panose="020B0604030504040204" pitchFamily="50" charset="-128"/>
              <a:cs typeface="メイリオ"/>
            </a:endParaRPr>
          </a:p>
        </p:txBody>
      </p:sp>
      <p:pic>
        <p:nvPicPr>
          <p:cNvPr id="56" name="図 55">
            <a:extLst>
              <a:ext uri="{FF2B5EF4-FFF2-40B4-BE49-F238E27FC236}">
                <a16:creationId xmlns:a16="http://schemas.microsoft.com/office/drawing/2014/main" id="{0B7B313D-7D5F-4357-9B38-DFC3DBC5FCF6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301998" y="2977479"/>
            <a:ext cx="1133712" cy="110223"/>
          </a:xfrm>
          <a:prstGeom prst="rect">
            <a:avLst/>
          </a:prstGeom>
        </p:spPr>
      </p:pic>
      <p:pic>
        <p:nvPicPr>
          <p:cNvPr id="57" name="図 56">
            <a:extLst>
              <a:ext uri="{FF2B5EF4-FFF2-40B4-BE49-F238E27FC236}">
                <a16:creationId xmlns:a16="http://schemas.microsoft.com/office/drawing/2014/main" id="{A8EA42C4-338F-850B-B276-B83DC2A73148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9631724" y="2983787"/>
            <a:ext cx="479964" cy="106659"/>
          </a:xfrm>
          <a:prstGeom prst="rect">
            <a:avLst/>
          </a:prstGeom>
        </p:spPr>
      </p:pic>
      <p:pic>
        <p:nvPicPr>
          <p:cNvPr id="58" name="図 57">
            <a:extLst>
              <a:ext uri="{FF2B5EF4-FFF2-40B4-BE49-F238E27FC236}">
                <a16:creationId xmlns:a16="http://schemas.microsoft.com/office/drawing/2014/main" id="{CCB04072-A708-EEE7-1345-D4C9E9FA9C1D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9661394" y="4118389"/>
            <a:ext cx="334412" cy="74315"/>
          </a:xfrm>
          <a:prstGeom prst="rect">
            <a:avLst/>
          </a:prstGeom>
        </p:spPr>
      </p:pic>
      <p:pic>
        <p:nvPicPr>
          <p:cNvPr id="59" name="図 58">
            <a:extLst>
              <a:ext uri="{FF2B5EF4-FFF2-40B4-BE49-F238E27FC236}">
                <a16:creationId xmlns:a16="http://schemas.microsoft.com/office/drawing/2014/main" id="{EDED354B-362F-AAF7-76A6-52D8547EDC91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9813794" y="4270789"/>
            <a:ext cx="334412" cy="74315"/>
          </a:xfrm>
          <a:prstGeom prst="rect">
            <a:avLst/>
          </a:prstGeom>
        </p:spPr>
      </p:pic>
      <p:sp>
        <p:nvSpPr>
          <p:cNvPr id="1030" name="楕円 1029">
            <a:extLst>
              <a:ext uri="{FF2B5EF4-FFF2-40B4-BE49-F238E27FC236}">
                <a16:creationId xmlns:a16="http://schemas.microsoft.com/office/drawing/2014/main" id="{A0934BB8-8F8D-D4F0-8D59-8F32A6A6E03A}"/>
              </a:ext>
            </a:extLst>
          </p:cNvPr>
          <p:cNvSpPr/>
          <p:nvPr/>
        </p:nvSpPr>
        <p:spPr>
          <a:xfrm>
            <a:off x="9667828" y="2536378"/>
            <a:ext cx="396000" cy="396000"/>
          </a:xfrm>
          <a:prstGeom prst="ellipse">
            <a:avLst/>
          </a:prstGeom>
          <a:solidFill>
            <a:schemeClr val="bg1">
              <a:lumMod val="95000"/>
            </a:schemeClr>
          </a:solidFill>
          <a:ln w="9525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ja-JP" altLang="en-US" sz="800" dirty="0">
                <a:solidFill>
                  <a:schemeClr val="tx1"/>
                </a:solidFill>
                <a:latin typeface="メイリオ" panose="020B0604030504040204" pitchFamily="50" charset="-128"/>
                <a:ea typeface="メイリオ" panose="020B0604030504040204" pitchFamily="50" charset="-128"/>
                <a:cs typeface="メイリオ"/>
              </a:rPr>
              <a:t>ロゴ</a:t>
            </a:r>
          </a:p>
        </p:txBody>
      </p:sp>
      <p:sp>
        <p:nvSpPr>
          <p:cNvPr id="34" name="正方形/長方形 33">
            <a:extLst>
              <a:ext uri="{FF2B5EF4-FFF2-40B4-BE49-F238E27FC236}">
                <a16:creationId xmlns:a16="http://schemas.microsoft.com/office/drawing/2014/main" id="{A593FC72-954C-48DC-E845-1A5FCE4C9E00}"/>
              </a:ext>
            </a:extLst>
          </p:cNvPr>
          <p:cNvSpPr/>
          <p:nvPr/>
        </p:nvSpPr>
        <p:spPr>
          <a:xfrm>
            <a:off x="1510609" y="2027927"/>
            <a:ext cx="1405728" cy="2841034"/>
          </a:xfrm>
          <a:prstGeom prst="rect">
            <a:avLst/>
          </a:prstGeom>
          <a:noFill/>
          <a:ln>
            <a:solidFill>
              <a:schemeClr val="tx2">
                <a:lumMod val="20000"/>
                <a:lumOff val="8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ja-JP" altLang="en-US">
              <a:latin typeface="メイリオ"/>
              <a:ea typeface="メイリオ"/>
              <a:cs typeface="メイリオ"/>
            </a:endParaRPr>
          </a:p>
        </p:txBody>
      </p:sp>
      <p:sp>
        <p:nvSpPr>
          <p:cNvPr id="36" name="二等辺三角形 35">
            <a:extLst>
              <a:ext uri="{FF2B5EF4-FFF2-40B4-BE49-F238E27FC236}">
                <a16:creationId xmlns:a16="http://schemas.microsoft.com/office/drawing/2014/main" id="{626832A8-575E-5E2B-73F4-BE5567514E57}"/>
              </a:ext>
            </a:extLst>
          </p:cNvPr>
          <p:cNvSpPr/>
          <p:nvPr/>
        </p:nvSpPr>
        <p:spPr>
          <a:xfrm rot="5400000">
            <a:off x="2957810" y="3262734"/>
            <a:ext cx="252701" cy="182781"/>
          </a:xfrm>
          <a:prstGeom prst="triangle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ja-JP" altLang="en-US">
              <a:latin typeface="メイリオ"/>
              <a:ea typeface="メイリオ"/>
              <a:cs typeface="メイリオ"/>
            </a:endParaRPr>
          </a:p>
        </p:txBody>
      </p:sp>
      <p:sp>
        <p:nvSpPr>
          <p:cNvPr id="38" name="正方形/長方形 37">
            <a:extLst>
              <a:ext uri="{FF2B5EF4-FFF2-40B4-BE49-F238E27FC236}">
                <a16:creationId xmlns:a16="http://schemas.microsoft.com/office/drawing/2014/main" id="{28671F13-F479-AFF6-9832-C7C00D2D05EE}"/>
              </a:ext>
            </a:extLst>
          </p:cNvPr>
          <p:cNvSpPr/>
          <p:nvPr/>
        </p:nvSpPr>
        <p:spPr>
          <a:xfrm>
            <a:off x="1510609" y="4624810"/>
            <a:ext cx="1405728" cy="244151"/>
          </a:xfrm>
          <a:prstGeom prst="rect">
            <a:avLst/>
          </a:prstGeom>
          <a:solidFill>
            <a:schemeClr val="bg1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ja-JP" altLang="en-US" sz="1100" b="1" dirty="0">
                <a:solidFill>
                  <a:schemeClr val="tx1"/>
                </a:solidFill>
                <a:latin typeface="メイリオ" panose="020B0604030504040204" pitchFamily="50" charset="-128"/>
                <a:ea typeface="メイリオ" panose="020B0604030504040204" pitchFamily="50" charset="-128"/>
                <a:cs typeface="メイリオ"/>
              </a:rPr>
              <a:t>フォーム入力</a:t>
            </a:r>
          </a:p>
        </p:txBody>
      </p:sp>
      <p:pic>
        <p:nvPicPr>
          <p:cNvPr id="55" name="図 54">
            <a:extLst>
              <a:ext uri="{FF2B5EF4-FFF2-40B4-BE49-F238E27FC236}">
                <a16:creationId xmlns:a16="http://schemas.microsoft.com/office/drawing/2014/main" id="{8AF12F67-4C9A-867F-4608-8FE9DA811630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593344" y="2214387"/>
            <a:ext cx="1249593" cy="2257852"/>
          </a:xfrm>
          <a:prstGeom prst="rect">
            <a:avLst/>
          </a:prstGeom>
        </p:spPr>
      </p:pic>
      <p:sp>
        <p:nvSpPr>
          <p:cNvPr id="1032" name="正方形/長方形 1031">
            <a:extLst>
              <a:ext uri="{FF2B5EF4-FFF2-40B4-BE49-F238E27FC236}">
                <a16:creationId xmlns:a16="http://schemas.microsoft.com/office/drawing/2014/main" id="{D1D96D42-255C-636E-49E5-2CDA95DD6764}"/>
              </a:ext>
            </a:extLst>
          </p:cNvPr>
          <p:cNvSpPr/>
          <p:nvPr/>
        </p:nvSpPr>
        <p:spPr>
          <a:xfrm>
            <a:off x="3245020" y="2000983"/>
            <a:ext cx="1508532" cy="2841034"/>
          </a:xfrm>
          <a:prstGeom prst="rect">
            <a:avLst/>
          </a:prstGeom>
          <a:solidFill>
            <a:schemeClr val="bg1"/>
          </a:solidFill>
          <a:ln>
            <a:solidFill>
              <a:schemeClr val="tx2">
                <a:lumMod val="20000"/>
                <a:lumOff val="8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ja-JP" altLang="en-US">
              <a:latin typeface="メイリオ"/>
              <a:ea typeface="メイリオ"/>
              <a:cs typeface="メイリオ"/>
            </a:endParaRPr>
          </a:p>
        </p:txBody>
      </p:sp>
      <p:sp>
        <p:nvSpPr>
          <p:cNvPr id="1034" name="正方形/長方形 1033">
            <a:extLst>
              <a:ext uri="{FF2B5EF4-FFF2-40B4-BE49-F238E27FC236}">
                <a16:creationId xmlns:a16="http://schemas.microsoft.com/office/drawing/2014/main" id="{8693E451-BCB1-207B-6B73-131F2A8588BF}"/>
              </a:ext>
            </a:extLst>
          </p:cNvPr>
          <p:cNvSpPr/>
          <p:nvPr/>
        </p:nvSpPr>
        <p:spPr>
          <a:xfrm>
            <a:off x="3242276" y="4603503"/>
            <a:ext cx="1508533" cy="244151"/>
          </a:xfrm>
          <a:prstGeom prst="rect">
            <a:avLst/>
          </a:prstGeom>
          <a:solidFill>
            <a:schemeClr val="tx1">
              <a:lumMod val="65000"/>
              <a:lumOff val="3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ja-JP" altLang="en-US" sz="1100" b="1" dirty="0">
                <a:latin typeface="メイリオ" panose="020B0604030504040204" pitchFamily="50" charset="-128"/>
                <a:ea typeface="メイリオ" panose="020B0604030504040204" pitchFamily="50" charset="-128"/>
                <a:cs typeface="メイリオ"/>
              </a:rPr>
              <a:t>サンクス画面へ</a:t>
            </a:r>
            <a:endParaRPr lang="en-US" altLang="ja-JP" sz="1100" b="1" dirty="0">
              <a:latin typeface="メイリオ" panose="020B0604030504040204" pitchFamily="50" charset="-128"/>
              <a:ea typeface="メイリオ" panose="020B0604030504040204" pitchFamily="50" charset="-128"/>
              <a:cs typeface="メイリオ"/>
            </a:endParaRPr>
          </a:p>
        </p:txBody>
      </p:sp>
      <p:pic>
        <p:nvPicPr>
          <p:cNvPr id="1038" name="図 1037" descr="テキスト, 手紙&#10;&#10;AI 生成コンテンツは誤りを含む可能性があります。">
            <a:extLst>
              <a:ext uri="{FF2B5EF4-FFF2-40B4-BE49-F238E27FC236}">
                <a16:creationId xmlns:a16="http://schemas.microsoft.com/office/drawing/2014/main" id="{85260668-6C66-A032-FFE0-0276021F9433}"/>
              </a:ext>
            </a:extLst>
          </p:cNvPr>
          <p:cNvPicPr>
            <a:picLocks noChangeAspect="1"/>
          </p:cNvPicPr>
          <p:nvPr/>
        </p:nvPicPr>
        <p:blipFill>
          <a:blip r:embed="rId7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4580"/>
          <a:stretch>
            <a:fillRect/>
          </a:stretch>
        </p:blipFill>
        <p:spPr>
          <a:xfrm>
            <a:off x="3359597" y="2260627"/>
            <a:ext cx="1312445" cy="2202364"/>
          </a:xfrm>
          <a:prstGeom prst="rect">
            <a:avLst/>
          </a:prstGeom>
        </p:spPr>
      </p:pic>
      <p:pic>
        <p:nvPicPr>
          <p:cNvPr id="1039" name="Picture 2" descr="買い物完了！イラスト｜無料イラスト・フリー素材なら「イラストAC」">
            <a:extLst>
              <a:ext uri="{FF2B5EF4-FFF2-40B4-BE49-F238E27FC236}">
                <a16:creationId xmlns:a16="http://schemas.microsoft.com/office/drawing/2014/main" id="{23D05307-D6FE-6284-27D3-3433EE0122E2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8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0270" r="23682"/>
          <a:stretch>
            <a:fillRect/>
          </a:stretch>
        </p:blipFill>
        <p:spPr bwMode="auto">
          <a:xfrm>
            <a:off x="4710177" y="1804300"/>
            <a:ext cx="307967" cy="41241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grpSp>
        <p:nvGrpSpPr>
          <p:cNvPr id="3" name="グループ化 2">
            <a:extLst>
              <a:ext uri="{FF2B5EF4-FFF2-40B4-BE49-F238E27FC236}">
                <a16:creationId xmlns:a16="http://schemas.microsoft.com/office/drawing/2014/main" id="{E76D8F54-2926-2D56-7238-F66ACCBC4F20}"/>
              </a:ext>
            </a:extLst>
          </p:cNvPr>
          <p:cNvGrpSpPr/>
          <p:nvPr/>
        </p:nvGrpSpPr>
        <p:grpSpPr>
          <a:xfrm>
            <a:off x="1686399" y="777681"/>
            <a:ext cx="3105325" cy="485102"/>
            <a:chOff x="507969" y="928495"/>
            <a:chExt cx="3105325" cy="485102"/>
          </a:xfrm>
        </p:grpSpPr>
        <p:sp>
          <p:nvSpPr>
            <p:cNvPr id="4" name="Google Shape;51;p19">
              <a:extLst>
                <a:ext uri="{FF2B5EF4-FFF2-40B4-BE49-F238E27FC236}">
                  <a16:creationId xmlns:a16="http://schemas.microsoft.com/office/drawing/2014/main" id="{98F6BB16-EFC6-9846-2A11-E624E876E64B}"/>
                </a:ext>
              </a:extLst>
            </p:cNvPr>
            <p:cNvSpPr/>
            <p:nvPr/>
          </p:nvSpPr>
          <p:spPr>
            <a:xfrm>
              <a:off x="507969" y="928495"/>
              <a:ext cx="3105325" cy="485102"/>
            </a:xfrm>
            <a:prstGeom prst="roundRect">
              <a:avLst>
                <a:gd name="adj" fmla="val 16667"/>
              </a:avLst>
            </a:pr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>
              <a:defPPr marR="0" lvl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</a:defPPr>
              <a:lvl1pPr marR="0" lvl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メイリオ"/>
                  <a:ea typeface="メイリオ"/>
                  <a:cs typeface="メイリオ"/>
                  <a:sym typeface="Arial"/>
                </a:defRPr>
              </a:lvl1pPr>
              <a:lvl2pPr marR="0" lvl="1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メイリオ"/>
                  <a:ea typeface="メイリオ"/>
                  <a:cs typeface="メイリオ"/>
                  <a:sym typeface="Arial"/>
                </a:defRPr>
              </a:lvl2pPr>
              <a:lvl3pPr marR="0" lvl="2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メイリオ"/>
                  <a:ea typeface="メイリオ"/>
                  <a:cs typeface="メイリオ"/>
                  <a:sym typeface="Arial"/>
                </a:defRPr>
              </a:lvl3pPr>
              <a:lvl4pPr marR="0" lvl="3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メイリオ"/>
                  <a:ea typeface="メイリオ"/>
                  <a:cs typeface="メイリオ"/>
                  <a:sym typeface="Arial"/>
                </a:defRPr>
              </a:lvl4pPr>
              <a:lvl5pPr marR="0" lvl="4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メイリオ"/>
                  <a:ea typeface="メイリオ"/>
                  <a:cs typeface="メイリオ"/>
                  <a:sym typeface="Arial"/>
                </a:defRPr>
              </a:lvl5pPr>
              <a:lvl6pPr marR="0" lvl="5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メイリオ"/>
                  <a:ea typeface="メイリオ"/>
                  <a:cs typeface="メイリオ"/>
                  <a:sym typeface="Arial"/>
                </a:defRPr>
              </a:lvl6pPr>
              <a:lvl7pPr marR="0" lvl="6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メイリオ"/>
                  <a:ea typeface="メイリオ"/>
                  <a:cs typeface="メイリオ"/>
                  <a:sym typeface="Arial"/>
                </a:defRPr>
              </a:lvl7pPr>
              <a:lvl8pPr marR="0" lvl="7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メイリオ"/>
                  <a:ea typeface="メイリオ"/>
                  <a:cs typeface="メイリオ"/>
                  <a:sym typeface="Arial"/>
                </a:defRPr>
              </a:lvl8pPr>
              <a:lvl9pPr marR="0" lvl="8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メイリオ"/>
                  <a:ea typeface="メイリオ"/>
                  <a:cs typeface="メイリオ"/>
                  <a:sym typeface="Arial"/>
                </a:defRPr>
              </a:lvl9pPr>
            </a:lstStyle>
            <a:p>
              <a:pPr algn="ctr">
                <a:buSzPts val="1400"/>
              </a:pPr>
              <a:endParaRPr b="1" dirty="0">
                <a:solidFill>
                  <a:schemeClr val="lt1"/>
                </a:solidFill>
                <a:sym typeface="Meiryo"/>
              </a:endParaRPr>
            </a:p>
          </p:txBody>
        </p:sp>
        <p:sp>
          <p:nvSpPr>
            <p:cNvPr id="5" name="テキスト ボックス 4">
              <a:extLst>
                <a:ext uri="{FF2B5EF4-FFF2-40B4-BE49-F238E27FC236}">
                  <a16:creationId xmlns:a16="http://schemas.microsoft.com/office/drawing/2014/main" id="{560EDF30-5F09-B70A-2993-8CD4F9E40EFA}"/>
                </a:ext>
              </a:extLst>
            </p:cNvPr>
            <p:cNvSpPr txBox="1"/>
            <p:nvPr/>
          </p:nvSpPr>
          <p:spPr>
            <a:xfrm>
              <a:off x="1140096" y="988192"/>
              <a:ext cx="1832553" cy="35779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>
              <a:defPPr marR="0" lvl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</a:defPPr>
              <a:lvl1pPr marR="0" lvl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メイリオ"/>
                  <a:ea typeface="メイリオ"/>
                  <a:cs typeface="メイリオ"/>
                  <a:sym typeface="Arial"/>
                </a:defRPr>
              </a:lvl1pPr>
              <a:lvl2pPr marR="0" lvl="1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メイリオ"/>
                  <a:ea typeface="メイリオ"/>
                  <a:cs typeface="メイリオ"/>
                  <a:sym typeface="Arial"/>
                </a:defRPr>
              </a:lvl2pPr>
              <a:lvl3pPr marR="0" lvl="2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メイリオ"/>
                  <a:ea typeface="メイリオ"/>
                  <a:cs typeface="メイリオ"/>
                  <a:sym typeface="Arial"/>
                </a:defRPr>
              </a:lvl3pPr>
              <a:lvl4pPr marR="0" lvl="3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メイリオ"/>
                  <a:ea typeface="メイリオ"/>
                  <a:cs typeface="メイリオ"/>
                  <a:sym typeface="Arial"/>
                </a:defRPr>
              </a:lvl4pPr>
              <a:lvl5pPr marR="0" lvl="4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メイリオ"/>
                  <a:ea typeface="メイリオ"/>
                  <a:cs typeface="メイリオ"/>
                  <a:sym typeface="Arial"/>
                </a:defRPr>
              </a:lvl5pPr>
              <a:lvl6pPr marR="0" lvl="5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メイリオ"/>
                  <a:ea typeface="メイリオ"/>
                  <a:cs typeface="メイリオ"/>
                  <a:sym typeface="Arial"/>
                </a:defRPr>
              </a:lvl6pPr>
              <a:lvl7pPr marR="0" lvl="6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メイリオ"/>
                  <a:ea typeface="メイリオ"/>
                  <a:cs typeface="メイリオ"/>
                  <a:sym typeface="Arial"/>
                </a:defRPr>
              </a:lvl7pPr>
              <a:lvl8pPr marR="0" lvl="7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メイリオ"/>
                  <a:ea typeface="メイリオ"/>
                  <a:cs typeface="メイリオ"/>
                  <a:sym typeface="Arial"/>
                </a:defRPr>
              </a:lvl8pPr>
              <a:lvl9pPr marR="0" lvl="8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メイリオ"/>
                  <a:ea typeface="メイリオ"/>
                  <a:cs typeface="メイリオ"/>
                  <a:sym typeface="Arial"/>
                </a:defRPr>
              </a:lvl9pPr>
            </a:lstStyle>
            <a:p>
              <a:pPr>
                <a:lnSpc>
                  <a:spcPct val="120000"/>
                </a:lnSpc>
              </a:pPr>
              <a:r>
                <a:rPr lang="ja-JP" altLang="en-US" sz="1500" b="1" dirty="0">
                  <a:solidFill>
                    <a:schemeClr val="bg1"/>
                  </a:solidFill>
                  <a:latin typeface="メイリオ" panose="020B0604030504040204" pitchFamily="34" charset="-128"/>
                  <a:ea typeface="メイリオ" panose="020B0604030504040204" pitchFamily="34" charset="-128"/>
                </a:rPr>
                <a:t>サンクス</a:t>
              </a:r>
              <a:r>
                <a:rPr lang="en-US" altLang="ja-JP" sz="1500" b="1" dirty="0">
                  <a:solidFill>
                    <a:schemeClr val="bg1"/>
                  </a:solidFill>
                  <a:latin typeface="メイリオ" panose="020B0604030504040204" pitchFamily="34" charset="-128"/>
                  <a:ea typeface="メイリオ" panose="020B0604030504040204" pitchFamily="34" charset="-128"/>
                </a:rPr>
                <a:t>LINE</a:t>
              </a:r>
              <a:r>
                <a:rPr lang="ja-JP" altLang="en-US" sz="1500" b="1" dirty="0">
                  <a:solidFill>
                    <a:schemeClr val="bg1"/>
                  </a:solidFill>
                  <a:latin typeface="メイリオ" panose="020B0604030504040204" pitchFamily="34" charset="-128"/>
                  <a:ea typeface="メイリオ" panose="020B0604030504040204" pitchFamily="34" charset="-128"/>
                </a:rPr>
                <a:t>誘導</a:t>
              </a:r>
            </a:p>
          </p:txBody>
        </p:sp>
      </p:grpSp>
      <p:sp>
        <p:nvSpPr>
          <p:cNvPr id="6" name="正方形/長方形 5">
            <a:extLst>
              <a:ext uri="{FF2B5EF4-FFF2-40B4-BE49-F238E27FC236}">
                <a16:creationId xmlns:a16="http://schemas.microsoft.com/office/drawing/2014/main" id="{8B20BFF3-9D3E-A4D7-FF5A-70927F78FC9D}"/>
              </a:ext>
            </a:extLst>
          </p:cNvPr>
          <p:cNvSpPr/>
          <p:nvPr/>
        </p:nvSpPr>
        <p:spPr>
          <a:xfrm>
            <a:off x="9512823" y="4498577"/>
            <a:ext cx="899499" cy="799596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ja-JP" altLang="en-US">
              <a:latin typeface="メイリオ"/>
              <a:ea typeface="メイリオ"/>
              <a:cs typeface="メイリオ"/>
            </a:endParaRPr>
          </a:p>
        </p:txBody>
      </p:sp>
      <p:sp>
        <p:nvSpPr>
          <p:cNvPr id="9" name="正方形/長方形 8">
            <a:extLst>
              <a:ext uri="{FF2B5EF4-FFF2-40B4-BE49-F238E27FC236}">
                <a16:creationId xmlns:a16="http://schemas.microsoft.com/office/drawing/2014/main" id="{DC4FF56C-47EE-47DB-92F1-3F0EF57613D9}"/>
              </a:ext>
            </a:extLst>
          </p:cNvPr>
          <p:cNvSpPr/>
          <p:nvPr/>
        </p:nvSpPr>
        <p:spPr>
          <a:xfrm>
            <a:off x="5145349" y="846996"/>
            <a:ext cx="5631798" cy="338554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lvl="0">
              <a:buClr>
                <a:schemeClr val="dk1"/>
              </a:buClr>
              <a:buSzPts val="1500"/>
            </a:pPr>
            <a:r>
              <a:rPr lang="ja-JP" altLang="en-US" sz="1600" dirty="0">
                <a:latin typeface="メイリオ"/>
                <a:ea typeface="メイリオ"/>
                <a:cs typeface="メイリオ"/>
                <a:sym typeface="Meiryo"/>
              </a:rPr>
              <a:t>フォーム送信後の</a:t>
            </a:r>
            <a:r>
              <a:rPr lang="en-US" altLang="ja-JP" sz="1600" dirty="0">
                <a:latin typeface="メイリオ"/>
                <a:ea typeface="メイリオ"/>
                <a:cs typeface="メイリオ"/>
                <a:sym typeface="Meiryo"/>
              </a:rPr>
              <a:t>LINE</a:t>
            </a:r>
            <a:r>
              <a:rPr lang="ja-JP" altLang="en-US" sz="1600" dirty="0">
                <a:latin typeface="メイリオ"/>
                <a:ea typeface="メイリオ"/>
                <a:cs typeface="メイリオ"/>
                <a:sym typeface="Meiryo"/>
              </a:rPr>
              <a:t>誘導を自動化するツール</a:t>
            </a:r>
            <a:endParaRPr lang="en-US" altLang="ja-JP" sz="1600" dirty="0">
              <a:latin typeface="メイリオ"/>
              <a:ea typeface="メイリオ"/>
              <a:cs typeface="メイリオ"/>
              <a:sym typeface="Meiryo"/>
            </a:endParaRPr>
          </a:p>
        </p:txBody>
      </p:sp>
      <p:sp>
        <p:nvSpPr>
          <p:cNvPr id="14" name="テキスト ボックス 13">
            <a:extLst>
              <a:ext uri="{FF2B5EF4-FFF2-40B4-BE49-F238E27FC236}">
                <a16:creationId xmlns:a16="http://schemas.microsoft.com/office/drawing/2014/main" id="{5ED6F7D2-546D-BF9F-9805-58455D7E2831}"/>
              </a:ext>
            </a:extLst>
          </p:cNvPr>
          <p:cNvSpPr txBox="1"/>
          <p:nvPr/>
        </p:nvSpPr>
        <p:spPr>
          <a:xfrm>
            <a:off x="5145350" y="1172815"/>
            <a:ext cx="4718625" cy="25391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ja-JP" sz="1050" dirty="0">
                <a:solidFill>
                  <a:srgbClr val="FF0000"/>
                </a:solidFill>
                <a:latin typeface="メイリオ" panose="020B0604030504040204" pitchFamily="50" charset="-128"/>
                <a:ea typeface="メイリオ" panose="020B0604030504040204" pitchFamily="50" charset="-128"/>
                <a:cs typeface="メイリオ"/>
                <a:sym typeface="Meiryo"/>
              </a:rPr>
              <a:t>※</a:t>
            </a:r>
            <a:r>
              <a:rPr lang="ja-JP" altLang="en-US" sz="1050" dirty="0">
                <a:solidFill>
                  <a:srgbClr val="FF0000"/>
                </a:solidFill>
                <a:latin typeface="メイリオ" panose="020B0604030504040204" pitchFamily="50" charset="-128"/>
                <a:ea typeface="メイリオ" panose="020B0604030504040204" pitchFamily="50" charset="-128"/>
                <a:cs typeface="メイリオ"/>
                <a:sym typeface="Meiryo"/>
              </a:rPr>
              <a:t>既存</a:t>
            </a:r>
            <a:r>
              <a:rPr lang="en-US" altLang="ja-JP" sz="1050" dirty="0">
                <a:solidFill>
                  <a:srgbClr val="FF0000"/>
                </a:solidFill>
                <a:latin typeface="メイリオ" panose="020B0604030504040204" pitchFamily="50" charset="-128"/>
                <a:ea typeface="メイリオ" panose="020B0604030504040204" pitchFamily="50" charset="-128"/>
                <a:cs typeface="メイリオ"/>
                <a:sym typeface="Meiryo"/>
              </a:rPr>
              <a:t>API</a:t>
            </a:r>
            <a:r>
              <a:rPr lang="ja-JP" altLang="en-US" sz="1050" dirty="0">
                <a:solidFill>
                  <a:srgbClr val="FF0000"/>
                </a:solidFill>
                <a:latin typeface="メイリオ" panose="020B0604030504040204" pitchFamily="50" charset="-128"/>
                <a:ea typeface="メイリオ" panose="020B0604030504040204" pitchFamily="50" charset="-128"/>
                <a:cs typeface="メイリオ"/>
                <a:sym typeface="Meiryo"/>
              </a:rPr>
              <a:t>ツールとの併用についても、問題なく稼働が可能。</a:t>
            </a:r>
            <a:endParaRPr lang="ja-JP" altLang="en-US" sz="1050" dirty="0">
              <a:solidFill>
                <a:srgbClr val="FF0000"/>
              </a:solidFill>
              <a:latin typeface="メイリオ"/>
              <a:ea typeface="メイリオ"/>
              <a:cs typeface="メイリオ"/>
            </a:endParaRPr>
          </a:p>
        </p:txBody>
      </p:sp>
      <p:sp>
        <p:nvSpPr>
          <p:cNvPr id="8" name="正方形/長方形 7">
            <a:extLst>
              <a:ext uri="{FF2B5EF4-FFF2-40B4-BE49-F238E27FC236}">
                <a16:creationId xmlns:a16="http://schemas.microsoft.com/office/drawing/2014/main" id="{F5B8C83A-7191-D772-EF88-AE268D007E63}"/>
              </a:ext>
            </a:extLst>
          </p:cNvPr>
          <p:cNvSpPr/>
          <p:nvPr/>
        </p:nvSpPr>
        <p:spPr>
          <a:xfrm>
            <a:off x="7554077" y="1518664"/>
            <a:ext cx="3044580" cy="284744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ja-JP" altLang="en-US" sz="1400" b="1" dirty="0">
                <a:solidFill>
                  <a:schemeClr val="bg1"/>
                </a:solidFill>
                <a:latin typeface="メイリオ" panose="020B0604030504040204" pitchFamily="50" charset="-128"/>
                <a:ea typeface="メイリオ" panose="020B0604030504040204" pitchFamily="50" charset="-128"/>
                <a:cs typeface="メイリオ"/>
              </a:rPr>
              <a:t>動作イメージ</a:t>
            </a:r>
          </a:p>
        </p:txBody>
      </p:sp>
      <p:sp>
        <p:nvSpPr>
          <p:cNvPr id="26" name="Google Shape;51;p19">
            <a:extLst>
              <a:ext uri="{FF2B5EF4-FFF2-40B4-BE49-F238E27FC236}">
                <a16:creationId xmlns:a16="http://schemas.microsoft.com/office/drawing/2014/main" id="{A4070FDA-7C99-27DE-6A9C-437C1D5DD3B3}"/>
              </a:ext>
            </a:extLst>
          </p:cNvPr>
          <p:cNvSpPr/>
          <p:nvPr/>
        </p:nvSpPr>
        <p:spPr>
          <a:xfrm>
            <a:off x="1686399" y="1321261"/>
            <a:ext cx="1510826" cy="485102"/>
          </a:xfrm>
          <a:prstGeom prst="roundRect">
            <a:avLst>
              <a:gd name="adj" fmla="val 16667"/>
            </a:avLst>
          </a:prstGeom>
          <a:solidFill>
            <a:schemeClr val="tx2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メイリオ"/>
                <a:ea typeface="メイリオ"/>
                <a:cs typeface="メイリオ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メイリオ"/>
                <a:ea typeface="メイリオ"/>
                <a:cs typeface="メイリオ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メイリオ"/>
                <a:ea typeface="メイリオ"/>
                <a:cs typeface="メイリオ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メイリオ"/>
                <a:ea typeface="メイリオ"/>
                <a:cs typeface="メイリオ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メイリオ"/>
                <a:ea typeface="メイリオ"/>
                <a:cs typeface="メイリオ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メイリオ"/>
                <a:ea typeface="メイリオ"/>
                <a:cs typeface="メイリオ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メイリオ"/>
                <a:ea typeface="メイリオ"/>
                <a:cs typeface="メイリオ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メイリオ"/>
                <a:ea typeface="メイリオ"/>
                <a:cs typeface="メイリオ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メイリオ"/>
                <a:ea typeface="メイリオ"/>
                <a:cs typeface="メイリオ"/>
                <a:sym typeface="Arial"/>
              </a:defRPr>
            </a:lvl9pPr>
          </a:lstStyle>
          <a:p>
            <a:pPr algn="ctr">
              <a:buSzPts val="1400"/>
            </a:pPr>
            <a:r>
              <a:rPr lang="ja-JP" altLang="en-US" b="1" dirty="0">
                <a:solidFill>
                  <a:schemeClr val="lt1"/>
                </a:solidFill>
                <a:sym typeface="Meiryo"/>
              </a:rPr>
              <a:t>初期：</a:t>
            </a:r>
            <a:r>
              <a:rPr lang="en-US" altLang="ja-JP" b="1" dirty="0">
                <a:solidFill>
                  <a:schemeClr val="lt1"/>
                </a:solidFill>
                <a:sym typeface="Meiryo"/>
              </a:rPr>
              <a:t>15</a:t>
            </a:r>
            <a:r>
              <a:rPr lang="ja-JP" altLang="en-US" b="1" dirty="0">
                <a:solidFill>
                  <a:schemeClr val="lt1"/>
                </a:solidFill>
                <a:sym typeface="Meiryo"/>
              </a:rPr>
              <a:t>万円</a:t>
            </a:r>
            <a:endParaRPr b="1" dirty="0">
              <a:solidFill>
                <a:schemeClr val="lt1"/>
              </a:solidFill>
              <a:sym typeface="Meiryo"/>
            </a:endParaRPr>
          </a:p>
        </p:txBody>
      </p:sp>
      <p:sp>
        <p:nvSpPr>
          <p:cNvPr id="28" name="Google Shape;51;p19">
            <a:extLst>
              <a:ext uri="{FF2B5EF4-FFF2-40B4-BE49-F238E27FC236}">
                <a16:creationId xmlns:a16="http://schemas.microsoft.com/office/drawing/2014/main" id="{40C4675F-5DCC-DD57-BE14-B3A7697A02CD}"/>
              </a:ext>
            </a:extLst>
          </p:cNvPr>
          <p:cNvSpPr/>
          <p:nvPr/>
        </p:nvSpPr>
        <p:spPr>
          <a:xfrm>
            <a:off x="3280897" y="1321261"/>
            <a:ext cx="1510826" cy="485102"/>
          </a:xfrm>
          <a:prstGeom prst="roundRect">
            <a:avLst>
              <a:gd name="adj" fmla="val 16667"/>
            </a:avLst>
          </a:prstGeom>
          <a:solidFill>
            <a:schemeClr val="tx2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メイリオ"/>
                <a:ea typeface="メイリオ"/>
                <a:cs typeface="メイリオ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メイリオ"/>
                <a:ea typeface="メイリオ"/>
                <a:cs typeface="メイリオ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メイリオ"/>
                <a:ea typeface="メイリオ"/>
                <a:cs typeface="メイリオ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メイリオ"/>
                <a:ea typeface="メイリオ"/>
                <a:cs typeface="メイリオ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メイリオ"/>
                <a:ea typeface="メイリオ"/>
                <a:cs typeface="メイリオ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メイリオ"/>
                <a:ea typeface="メイリオ"/>
                <a:cs typeface="メイリオ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メイリオ"/>
                <a:ea typeface="メイリオ"/>
                <a:cs typeface="メイリオ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メイリオ"/>
                <a:ea typeface="メイリオ"/>
                <a:cs typeface="メイリオ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メイリオ"/>
                <a:ea typeface="メイリオ"/>
                <a:cs typeface="メイリオ"/>
                <a:sym typeface="Arial"/>
              </a:defRPr>
            </a:lvl9pPr>
          </a:lstStyle>
          <a:p>
            <a:pPr algn="ctr">
              <a:buSzPts val="1400"/>
            </a:pPr>
            <a:r>
              <a:rPr lang="ja-JP" altLang="en-US" b="1" dirty="0">
                <a:solidFill>
                  <a:schemeClr val="lt1"/>
                </a:solidFill>
                <a:sym typeface="Meiryo"/>
              </a:rPr>
              <a:t>月額</a:t>
            </a:r>
            <a:r>
              <a:rPr lang="en-US" altLang="ja-JP" b="1" dirty="0">
                <a:solidFill>
                  <a:schemeClr val="lt1"/>
                </a:solidFill>
                <a:sym typeface="Meiryo"/>
              </a:rPr>
              <a:t>3</a:t>
            </a:r>
            <a:r>
              <a:rPr lang="ja-JP" altLang="en-US" b="1" dirty="0">
                <a:solidFill>
                  <a:schemeClr val="lt1"/>
                </a:solidFill>
                <a:sym typeface="Meiryo"/>
              </a:rPr>
              <a:t>万円～</a:t>
            </a:r>
            <a:endParaRPr lang="en-US" altLang="ja-JP" b="1" dirty="0">
              <a:solidFill>
                <a:schemeClr val="lt1"/>
              </a:solidFill>
              <a:sym typeface="Meiryo"/>
            </a:endParaRPr>
          </a:p>
          <a:p>
            <a:pPr algn="ctr">
              <a:buSzPts val="1400"/>
            </a:pPr>
            <a:r>
              <a:rPr lang="en-US" altLang="ja-JP" sz="1050" b="1" dirty="0">
                <a:solidFill>
                  <a:srgbClr val="FFFF00"/>
                </a:solidFill>
                <a:sym typeface="Meiryo"/>
              </a:rPr>
              <a:t>+</a:t>
            </a:r>
            <a:r>
              <a:rPr lang="ja-JP" altLang="en-US" sz="1050" b="1" dirty="0">
                <a:solidFill>
                  <a:srgbClr val="FFFF00"/>
                </a:solidFill>
                <a:sym typeface="Meiryo"/>
              </a:rPr>
              <a:t>設定地点追加</a:t>
            </a:r>
            <a:endParaRPr sz="1050" b="1" dirty="0">
              <a:solidFill>
                <a:srgbClr val="FFFF00"/>
              </a:solidFill>
              <a:sym typeface="Meiryo"/>
            </a:endParaRPr>
          </a:p>
        </p:txBody>
      </p:sp>
      <p:sp>
        <p:nvSpPr>
          <p:cNvPr id="11" name="正方形/長方形 10">
            <a:extLst>
              <a:ext uri="{FF2B5EF4-FFF2-40B4-BE49-F238E27FC236}">
                <a16:creationId xmlns:a16="http://schemas.microsoft.com/office/drawing/2014/main" id="{189A6A4C-E34E-E7CF-D6DD-C175E600A94D}"/>
              </a:ext>
            </a:extLst>
          </p:cNvPr>
          <p:cNvSpPr/>
          <p:nvPr/>
        </p:nvSpPr>
        <p:spPr>
          <a:xfrm>
            <a:off x="2146069" y="1909406"/>
            <a:ext cx="1859036" cy="244151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ja-JP" sz="1200" b="1" dirty="0">
                <a:solidFill>
                  <a:schemeClr val="tx1">
                    <a:lumMod val="50000"/>
                    <a:lumOff val="50000"/>
                  </a:schemeClr>
                </a:solidFill>
                <a:latin typeface="メイリオ" panose="020B0604030504040204" pitchFamily="50" charset="-128"/>
                <a:ea typeface="メイリオ" panose="020B0604030504040204" pitchFamily="50" charset="-128"/>
                <a:cs typeface="メイリオ"/>
              </a:rPr>
              <a:t>WEB</a:t>
            </a:r>
            <a:r>
              <a:rPr lang="ja-JP" altLang="en-US" sz="1200" b="1" dirty="0">
                <a:solidFill>
                  <a:schemeClr val="tx1">
                    <a:lumMod val="50000"/>
                    <a:lumOff val="50000"/>
                  </a:schemeClr>
                </a:solidFill>
                <a:latin typeface="メイリオ" panose="020B0604030504040204" pitchFamily="50" charset="-128"/>
                <a:ea typeface="メイリオ" panose="020B0604030504040204" pitchFamily="50" charset="-128"/>
                <a:cs typeface="メイリオ"/>
              </a:rPr>
              <a:t>サイト</a:t>
            </a:r>
          </a:p>
        </p:txBody>
      </p:sp>
      <p:pic>
        <p:nvPicPr>
          <p:cNvPr id="18" name="図 17">
            <a:extLst>
              <a:ext uri="{FF2B5EF4-FFF2-40B4-BE49-F238E27FC236}">
                <a16:creationId xmlns:a16="http://schemas.microsoft.com/office/drawing/2014/main" id="{122BEACA-AA0E-EFF8-CDF2-B0A5B58840D0}"/>
              </a:ext>
            </a:extLst>
      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3626633" y="4115263"/>
            <a:ext cx="466595" cy="86136"/>
          </a:xfrm>
          <a:prstGeom prst="rect">
            <a:avLst/>
          </a:prstGeom>
        </p:spPr>
      </p:pic>
      <p:pic>
        <p:nvPicPr>
          <p:cNvPr id="27" name="図 26">
            <a:extLst>
              <a:ext uri="{FF2B5EF4-FFF2-40B4-BE49-F238E27FC236}">
                <a16:creationId xmlns:a16="http://schemas.microsoft.com/office/drawing/2014/main" id="{D971BE53-7CD8-C375-2A00-B224602AC25F}"/>
              </a:ext>
            </a:extLst>
      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3407778" y="2294975"/>
            <a:ext cx="466595" cy="86136"/>
          </a:xfrm>
          <a:prstGeom prst="rect">
            <a:avLst/>
          </a:prstGeom>
        </p:spPr>
      </p:pic>
      <p:sp>
        <p:nvSpPr>
          <p:cNvPr id="33" name="四角形: 角を丸くする 32">
            <a:extLst>
              <a:ext uri="{FF2B5EF4-FFF2-40B4-BE49-F238E27FC236}">
                <a16:creationId xmlns:a16="http://schemas.microsoft.com/office/drawing/2014/main" id="{B7D71D80-6086-B1B4-3E2C-EE891B12909E}"/>
              </a:ext>
            </a:extLst>
          </p:cNvPr>
          <p:cNvSpPr/>
          <p:nvPr/>
        </p:nvSpPr>
        <p:spPr>
          <a:xfrm>
            <a:off x="2354690" y="5205027"/>
            <a:ext cx="4874067" cy="659955"/>
          </a:xfrm>
          <a:prstGeom prst="roundRect">
            <a:avLst>
              <a:gd name="adj" fmla="val 25327"/>
            </a:avLst>
          </a:prstGeom>
          <a:solidFill>
            <a:srgbClr val="04FA0A">
              <a:alpha val="40000"/>
            </a:srgb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ja-JP" altLang="en-US" sz="1600" dirty="0">
                <a:solidFill>
                  <a:schemeClr val="tx1"/>
                </a:solidFill>
                <a:latin typeface="メイリオ" panose="020B0604030504040204" pitchFamily="50" charset="-128"/>
                <a:ea typeface="メイリオ" panose="020B0604030504040204" pitchFamily="50" charset="-128"/>
              </a:rPr>
              <a:t>フォーム入力内容を</a:t>
            </a:r>
            <a:br>
              <a:rPr lang="en-US" altLang="ja-JP" sz="1600" dirty="0">
                <a:solidFill>
                  <a:schemeClr val="tx1"/>
                </a:solidFill>
                <a:latin typeface="メイリオ" panose="020B0604030504040204" pitchFamily="50" charset="-128"/>
                <a:ea typeface="メイリオ" panose="020B0604030504040204" pitchFamily="50" charset="-128"/>
              </a:rPr>
            </a:br>
            <a:r>
              <a:rPr lang="en-US" altLang="ja-JP" sz="1600" dirty="0">
                <a:solidFill>
                  <a:schemeClr val="tx1"/>
                </a:solidFill>
                <a:latin typeface="メイリオ" panose="020B0604030504040204" pitchFamily="50" charset="-128"/>
                <a:ea typeface="メイリオ" panose="020B0604030504040204" pitchFamily="50" charset="-128"/>
              </a:rPr>
              <a:t>LINE</a:t>
            </a:r>
            <a:r>
              <a:rPr lang="ja-JP" altLang="en-US" sz="1600" dirty="0">
                <a:solidFill>
                  <a:schemeClr val="tx1"/>
                </a:solidFill>
                <a:latin typeface="メイリオ" panose="020B0604030504040204" pitchFamily="50" charset="-128"/>
                <a:ea typeface="メイリオ" panose="020B0604030504040204" pitchFamily="50" charset="-128"/>
              </a:rPr>
              <a:t>トーク入力画面へ引き継ぎ可能</a:t>
            </a:r>
          </a:p>
        </p:txBody>
      </p:sp>
      <p:cxnSp>
        <p:nvCxnSpPr>
          <p:cNvPr id="44" name="直線矢印コネクタ 43">
            <a:extLst>
              <a:ext uri="{FF2B5EF4-FFF2-40B4-BE49-F238E27FC236}">
                <a16:creationId xmlns:a16="http://schemas.microsoft.com/office/drawing/2014/main" id="{666CF79B-D322-06BC-F342-DE710BE7473B}"/>
              </a:ext>
            </a:extLst>
          </p:cNvPr>
          <p:cNvCxnSpPr>
            <a:cxnSpLocks/>
            <a:stCxn id="33" idx="1"/>
          </p:cNvCxnSpPr>
          <p:nvPr/>
        </p:nvCxnSpPr>
        <p:spPr>
          <a:xfrm flipH="1" flipV="1">
            <a:off x="2066925" y="4868960"/>
            <a:ext cx="287764" cy="666044"/>
          </a:xfrm>
          <a:prstGeom prst="straightConnector1">
            <a:avLst/>
          </a:prstGeom>
          <a:ln w="19050">
            <a:solidFill>
              <a:srgbClr val="00B050">
                <a:alpha val="80000"/>
              </a:srgbClr>
            </a:solidFill>
            <a:prstDash val="sysDot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9" name="正方形/長方形 28">
            <a:extLst>
              <a:ext uri="{FF2B5EF4-FFF2-40B4-BE49-F238E27FC236}">
                <a16:creationId xmlns:a16="http://schemas.microsoft.com/office/drawing/2014/main" id="{1D29A9C3-A3E8-0780-A758-0C8E7E376668}"/>
              </a:ext>
            </a:extLst>
          </p:cNvPr>
          <p:cNvSpPr/>
          <p:nvPr/>
        </p:nvSpPr>
        <p:spPr>
          <a:xfrm>
            <a:off x="6504546" y="2415812"/>
            <a:ext cx="653304" cy="1821208"/>
          </a:xfrm>
          <a:prstGeom prst="rect">
            <a:avLst/>
          </a:prstGeom>
          <a:solidFill>
            <a:srgbClr val="04FA0A">
              <a:alpha val="40000"/>
            </a:srgb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ja-JP" sz="1200" b="1" dirty="0">
                <a:solidFill>
                  <a:schemeClr val="tx1"/>
                </a:solidFill>
                <a:latin typeface="メイリオ" panose="020B0604030504040204" pitchFamily="50" charset="-128"/>
                <a:ea typeface="メイリオ" panose="020B0604030504040204" pitchFamily="50" charset="-128"/>
                <a:cs typeface="メイリオ"/>
              </a:rPr>
              <a:t>DYM</a:t>
            </a:r>
          </a:p>
          <a:p>
            <a:pPr algn="ctr"/>
            <a:r>
              <a:rPr lang="ja-JP" altLang="en-US" sz="1200" b="1" dirty="0">
                <a:solidFill>
                  <a:schemeClr val="tx1"/>
                </a:solidFill>
                <a:latin typeface="メイリオ" panose="020B0604030504040204" pitchFamily="50" charset="-128"/>
                <a:ea typeface="メイリオ" panose="020B0604030504040204" pitchFamily="50" charset="-128"/>
                <a:cs typeface="メイリオ"/>
              </a:rPr>
              <a:t>開発</a:t>
            </a:r>
            <a:endParaRPr lang="en-US" altLang="ja-JP" sz="1200" b="1" dirty="0">
              <a:solidFill>
                <a:schemeClr val="tx1"/>
              </a:solidFill>
              <a:latin typeface="メイリオ" panose="020B0604030504040204" pitchFamily="50" charset="-128"/>
              <a:ea typeface="メイリオ" panose="020B0604030504040204" pitchFamily="50" charset="-128"/>
              <a:cs typeface="メイリオ"/>
            </a:endParaRPr>
          </a:p>
          <a:p>
            <a:pPr algn="ctr"/>
            <a:r>
              <a:rPr lang="ja-JP" altLang="en-US" sz="1200" b="1" dirty="0">
                <a:solidFill>
                  <a:schemeClr val="tx1"/>
                </a:solidFill>
                <a:latin typeface="メイリオ" panose="020B0604030504040204" pitchFamily="50" charset="-128"/>
                <a:ea typeface="メイリオ" panose="020B0604030504040204" pitchFamily="50" charset="-128"/>
                <a:cs typeface="メイリオ"/>
              </a:rPr>
              <a:t>ツール</a:t>
            </a:r>
            <a:endParaRPr lang="en-US" altLang="ja-JP" sz="1200" b="1" dirty="0">
              <a:solidFill>
                <a:schemeClr val="tx1"/>
              </a:solidFill>
              <a:latin typeface="メイリオ" panose="020B0604030504040204" pitchFamily="50" charset="-128"/>
              <a:ea typeface="メイリオ" panose="020B0604030504040204" pitchFamily="50" charset="-128"/>
              <a:cs typeface="メイリオ"/>
            </a:endParaRPr>
          </a:p>
        </p:txBody>
      </p:sp>
      <p:sp>
        <p:nvSpPr>
          <p:cNvPr id="1048" name="矢印: 右 1047">
            <a:extLst>
              <a:ext uri="{FF2B5EF4-FFF2-40B4-BE49-F238E27FC236}">
                <a16:creationId xmlns:a16="http://schemas.microsoft.com/office/drawing/2014/main" id="{6A5BBE8E-2B42-49E0-686B-A6584B59E72F}"/>
              </a:ext>
            </a:extLst>
          </p:cNvPr>
          <p:cNvSpPr/>
          <p:nvPr/>
        </p:nvSpPr>
        <p:spPr>
          <a:xfrm>
            <a:off x="4819827" y="3203047"/>
            <a:ext cx="1632963" cy="392774"/>
          </a:xfrm>
          <a:prstGeom prst="rightArrow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ja-JP" altLang="en-US"/>
          </a:p>
        </p:txBody>
      </p:sp>
      <p:sp>
        <p:nvSpPr>
          <p:cNvPr id="1050" name="吹き出し: 角を丸めた四角形 1049">
            <a:extLst>
              <a:ext uri="{FF2B5EF4-FFF2-40B4-BE49-F238E27FC236}">
                <a16:creationId xmlns:a16="http://schemas.microsoft.com/office/drawing/2014/main" id="{0D7606B7-7AEE-445F-FB97-74913C4A4F60}"/>
              </a:ext>
            </a:extLst>
          </p:cNvPr>
          <p:cNvSpPr/>
          <p:nvPr/>
        </p:nvSpPr>
        <p:spPr>
          <a:xfrm>
            <a:off x="4831291" y="2187781"/>
            <a:ext cx="1586044" cy="948384"/>
          </a:xfrm>
          <a:prstGeom prst="wedgeRoundRectCallout">
            <a:avLst/>
          </a:prstGeom>
          <a:solidFill>
            <a:srgbClr val="FDFDFD"/>
          </a:solidFill>
          <a:ln w="19050">
            <a:solidFill>
              <a:schemeClr val="tx2">
                <a:alpha val="4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altLang="ja-JP" sz="1400" dirty="0">
                <a:solidFill>
                  <a:schemeClr val="tx1"/>
                </a:solidFill>
                <a:latin typeface="メイリオ" panose="020B0604030504040204" pitchFamily="50" charset="-128"/>
                <a:ea typeface="メイリオ" panose="020B0604030504040204" pitchFamily="50" charset="-128"/>
              </a:rPr>
              <a:t>CV</a:t>
            </a:r>
            <a:r>
              <a:rPr lang="ja-JP" altLang="en-US" sz="1400" dirty="0">
                <a:solidFill>
                  <a:schemeClr val="tx1"/>
                </a:solidFill>
                <a:latin typeface="メイリオ" panose="020B0604030504040204" pitchFamily="50" charset="-128"/>
                <a:ea typeface="メイリオ" panose="020B0604030504040204" pitchFamily="50" charset="-128"/>
              </a:rPr>
              <a:t>完了後</a:t>
            </a:r>
            <a:endParaRPr lang="en-US" altLang="ja-JP" sz="1400" dirty="0">
              <a:solidFill>
                <a:schemeClr val="tx1"/>
              </a:solidFill>
              <a:latin typeface="メイリオ" panose="020B0604030504040204" pitchFamily="50" charset="-128"/>
              <a:ea typeface="メイリオ" panose="020B0604030504040204" pitchFamily="50" charset="-128"/>
            </a:endParaRPr>
          </a:p>
          <a:p>
            <a:r>
              <a:rPr lang="ja-JP" altLang="en-US" sz="1400" dirty="0">
                <a:solidFill>
                  <a:schemeClr val="tx1"/>
                </a:solidFill>
                <a:latin typeface="メイリオ" panose="020B0604030504040204" pitchFamily="50" charset="-128"/>
                <a:ea typeface="メイリオ" panose="020B0604030504040204" pitchFamily="50" charset="-128"/>
              </a:rPr>
              <a:t>約</a:t>
            </a:r>
            <a:r>
              <a:rPr lang="en-US" altLang="ja-JP" sz="1400" dirty="0">
                <a:solidFill>
                  <a:schemeClr val="tx1"/>
                </a:solidFill>
                <a:latin typeface="メイリオ" panose="020B0604030504040204" pitchFamily="50" charset="-128"/>
                <a:ea typeface="メイリオ" panose="020B0604030504040204" pitchFamily="50" charset="-128"/>
              </a:rPr>
              <a:t>2~3</a:t>
            </a:r>
            <a:r>
              <a:rPr lang="ja-JP" altLang="en-US" sz="1400" dirty="0">
                <a:solidFill>
                  <a:schemeClr val="tx1"/>
                </a:solidFill>
                <a:latin typeface="メイリオ" panose="020B0604030504040204" pitchFamily="50" charset="-128"/>
                <a:ea typeface="メイリオ" panose="020B0604030504040204" pitchFamily="50" charset="-128"/>
              </a:rPr>
              <a:t>秒で</a:t>
            </a:r>
            <a:br>
              <a:rPr lang="en-US" altLang="ja-JP" sz="1400" dirty="0">
                <a:solidFill>
                  <a:schemeClr val="tx1"/>
                </a:solidFill>
                <a:latin typeface="メイリオ" panose="020B0604030504040204" pitchFamily="50" charset="-128"/>
                <a:ea typeface="メイリオ" panose="020B0604030504040204" pitchFamily="50" charset="-128"/>
              </a:rPr>
            </a:br>
            <a:r>
              <a:rPr lang="en-US" altLang="ja-JP" sz="1400" dirty="0">
                <a:solidFill>
                  <a:schemeClr val="tx1"/>
                </a:solidFill>
                <a:latin typeface="メイリオ" panose="020B0604030504040204" pitchFamily="50" charset="-128"/>
                <a:ea typeface="メイリオ" panose="020B0604030504040204" pitchFamily="50" charset="-128"/>
              </a:rPr>
              <a:t>LINE</a:t>
            </a:r>
            <a:r>
              <a:rPr lang="ja-JP" altLang="en-US" sz="1400" dirty="0">
                <a:solidFill>
                  <a:schemeClr val="tx1"/>
                </a:solidFill>
                <a:latin typeface="メイリオ" panose="020B0604030504040204" pitchFamily="50" charset="-128"/>
                <a:ea typeface="メイリオ" panose="020B0604030504040204" pitchFamily="50" charset="-128"/>
              </a:rPr>
              <a:t>へ自動遷移</a:t>
            </a:r>
            <a:endParaRPr lang="en-US" altLang="ja-JP" sz="1400" dirty="0">
              <a:solidFill>
                <a:schemeClr val="tx1"/>
              </a:solidFill>
              <a:latin typeface="メイリオ" panose="020B0604030504040204" pitchFamily="50" charset="-128"/>
              <a:ea typeface="メイリオ" panose="020B0604030504040204" pitchFamily="50" charset="-128"/>
            </a:endParaRPr>
          </a:p>
        </p:txBody>
      </p:sp>
      <p:cxnSp>
        <p:nvCxnSpPr>
          <p:cNvPr id="1052" name="直線矢印コネクタ 1051">
            <a:extLst>
              <a:ext uri="{FF2B5EF4-FFF2-40B4-BE49-F238E27FC236}">
                <a16:creationId xmlns:a16="http://schemas.microsoft.com/office/drawing/2014/main" id="{5B4E7079-E54A-2282-BDB8-487FFE5E8981}"/>
              </a:ext>
            </a:extLst>
          </p:cNvPr>
          <p:cNvCxnSpPr>
            <a:cxnSpLocks/>
          </p:cNvCxnSpPr>
          <p:nvPr/>
        </p:nvCxnSpPr>
        <p:spPr>
          <a:xfrm flipV="1">
            <a:off x="7217657" y="4971540"/>
            <a:ext cx="2192682" cy="599046"/>
          </a:xfrm>
          <a:prstGeom prst="straightConnector1">
            <a:avLst/>
          </a:prstGeom>
          <a:ln w="19050">
            <a:solidFill>
              <a:srgbClr val="00B050">
                <a:alpha val="80000"/>
              </a:srgbClr>
            </a:solidFill>
            <a:prstDash val="sysDot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1"/>
          <p:cNvSpPr txBox="1"/>
          <p:nvPr/>
        </p:nvSpPr>
        <p:spPr>
          <a:xfrm>
            <a:off x="547200" y="161078"/>
            <a:ext cx="11070119" cy="289843"/>
          </a:xfrm>
          <a:prstGeom prst="rect">
            <a:avLst/>
          </a:prstGeom>
          <a:noFill/>
        </p:spPr>
        <p:txBody>
          <a:bodyPr wrap="square" lIns="0" tIns="21600" rIns="0" bIns="21600" anchor="ctr">
            <a:spAutoFit/>
          </a:bodyPr>
          <a:lstStyle/>
          <a:p>
            <a:pPr algn="l"/>
            <a:r>
              <a:rPr sz="1600" b="1" dirty="0" err="1">
                <a:solidFill>
                  <a:srgbClr val="002060"/>
                </a:solidFill>
                <a:latin typeface="メイリオ"/>
                <a:ea typeface="メイリオ"/>
                <a:cs typeface="メイリオ"/>
              </a:rPr>
              <a:t>実例｜予約後の来院率</a:t>
            </a:r>
            <a:endParaRPr sz="1600" b="1" dirty="0">
              <a:solidFill>
                <a:srgbClr val="002060"/>
              </a:solidFill>
              <a:latin typeface="メイリオ"/>
              <a:ea typeface="メイリオ"/>
              <a:cs typeface="メイリオ"/>
            </a:endParaRPr>
          </a:p>
        </p:txBody>
      </p:sp>
      <p:sp>
        <p:nvSpPr>
          <p:cNvPr id="4" name="TextBox 2"/>
          <p:cNvSpPr txBox="1"/>
          <p:nvPr/>
        </p:nvSpPr>
        <p:spPr>
          <a:xfrm>
            <a:off x="793680" y="725334"/>
            <a:ext cx="11214119" cy="529332"/>
          </a:xfrm>
          <a:prstGeom prst="rect">
            <a:avLst/>
          </a:prstGeom>
          <a:noFill/>
        </p:spPr>
        <p:txBody>
          <a:bodyPr wrap="square" lIns="0" tIns="21600" rIns="0" bIns="21600" anchor="ctr">
            <a:spAutoFit/>
          </a:bodyPr>
          <a:lstStyle/>
          <a:p>
            <a:pPr algn="l">
              <a:lnSpc>
                <a:spcPct val="130000"/>
              </a:lnSpc>
            </a:pPr>
            <a:r>
              <a:rPr sz="1800" dirty="0" err="1">
                <a:solidFill>
                  <a:srgbClr val="333333"/>
                </a:solidFill>
                <a:latin typeface="メイリオ"/>
                <a:ea typeface="メイリオ"/>
                <a:cs typeface="メイリオ"/>
              </a:rPr>
              <a:t>予約直後にLINEでつながり、前日のお知らせで来院につなげた</a:t>
            </a:r>
            <a:endParaRPr sz="1250" dirty="0">
              <a:solidFill>
                <a:srgbClr val="333333"/>
              </a:solidFill>
              <a:latin typeface="メイリオ"/>
              <a:ea typeface="メイリオ"/>
              <a:cs typeface="メイリオ"/>
            </a:endParaRPr>
          </a:p>
        </p:txBody>
      </p:sp>
      <p:cxnSp>
        <p:nvCxnSpPr>
          <p:cNvPr id="5" name="Connector 3"/>
          <p:cNvCxnSpPr/>
          <p:nvPr/>
        </p:nvCxnSpPr>
        <p:spPr>
          <a:xfrm>
            <a:off x="0" y="1389600"/>
            <a:ext cx="12192119" cy="0"/>
          </a:xfrm>
          <a:prstGeom prst="line">
            <a:avLst/>
          </a:prstGeom>
          <a:ln w="12700">
            <a:solidFill>
              <a:srgbClr val="D9D9D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TextBox 5"/>
          <p:cNvSpPr txBox="1"/>
          <p:nvPr/>
        </p:nvSpPr>
        <p:spPr>
          <a:xfrm>
            <a:off x="792000" y="1620000"/>
            <a:ext cx="3600000" cy="324000"/>
          </a:xfrm>
          <a:prstGeom prst="rect">
            <a:avLst/>
          </a:prstGeom>
          <a:noFill/>
        </p:spPr>
        <p:txBody>
          <a:bodyPr wrap="square" lIns="36000" tIns="18000" rIns="36000" bIns="18000" anchor="ctr">
            <a:spAutoFit/>
          </a:bodyPr>
          <a:lstStyle/>
          <a:p>
            <a:pPr algn="l">
              <a:lnSpc>
                <a:spcPct val="110000"/>
              </a:lnSpc>
              <a:spcAft>
                <a:spcPts val="0"/>
              </a:spcAft>
            </a:pPr>
            <a:r>
              <a:rPr sz="1700" b="1">
                <a:solidFill>
                  <a:srgbClr val="1F285A"/>
                </a:solidFill>
                <a:latin typeface="メイリオ"/>
                <a:ea typeface="メイリオ"/>
                <a:cs typeface="メイリオ"/>
              </a:rPr>
              <a:t>美容クリニック</a:t>
            </a:r>
          </a:p>
        </p:txBody>
      </p:sp>
      <p:sp>
        <p:nvSpPr>
          <p:cNvPr id="7" name="Rectangle 6"/>
          <p:cNvSpPr/>
          <p:nvPr/>
        </p:nvSpPr>
        <p:spPr>
          <a:xfrm>
            <a:off x="792000" y="2052000"/>
            <a:ext cx="2736000" cy="306000"/>
          </a:xfrm>
          <a:prstGeom prst="rect">
            <a:avLst/>
          </a:prstGeom>
          <a:solidFill>
            <a:srgbClr val="E4E8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72000" tIns="18000" rIns="72000" bIns="18000" rtlCol="0" anchor="ctr"/>
          <a:lstStyle/>
          <a:p>
            <a:pPr algn="ctr">
              <a:lnSpc>
                <a:spcPct val="110000"/>
              </a:lnSpc>
              <a:spcAft>
                <a:spcPts val="0"/>
              </a:spcAft>
            </a:pPr>
            <a:r>
              <a:rPr sz="1200" b="1">
                <a:solidFill>
                  <a:srgbClr val="1F285A"/>
                </a:solidFill>
                <a:latin typeface="メイリオ"/>
                <a:ea typeface="メイリオ"/>
                <a:cs typeface="メイリオ"/>
              </a:rPr>
              <a:t>課題</a:t>
            </a:r>
          </a:p>
        </p:txBody>
      </p:sp>
      <p:sp>
        <p:nvSpPr>
          <p:cNvPr id="8" name="Rectangle 7"/>
          <p:cNvSpPr/>
          <p:nvPr/>
        </p:nvSpPr>
        <p:spPr>
          <a:xfrm>
            <a:off x="792000" y="2358000"/>
            <a:ext cx="2736000" cy="2790000"/>
          </a:xfrm>
          <a:prstGeom prst="rect">
            <a:avLst/>
          </a:prstGeom>
          <a:solidFill>
            <a:srgbClr val="FFFFFF"/>
          </a:solidFill>
          <a:ln w="12700">
            <a:solidFill>
              <a:srgbClr val="D9D9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72000" tIns="18000" rIns="72000" bIns="18000" rtlCol="0" anchor="ctr"/>
          <a:lstStyle/>
          <a:p>
            <a:pPr algn="ctr"/>
            <a:endParaRPr/>
          </a:p>
        </p:txBody>
      </p:sp>
      <p:cxnSp>
        <p:nvCxnSpPr>
          <p:cNvPr id="9" name="Connector 8"/>
          <p:cNvCxnSpPr/>
          <p:nvPr/>
        </p:nvCxnSpPr>
        <p:spPr>
          <a:xfrm>
            <a:off x="3600000" y="3600000"/>
            <a:ext cx="216000" cy="0"/>
          </a:xfrm>
          <a:prstGeom prst="line">
            <a:avLst/>
          </a:prstGeom>
          <a:ln w="25400">
            <a:solidFill>
              <a:srgbClr val="1F285A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0" name="Rectangle 9"/>
          <p:cNvSpPr/>
          <p:nvPr/>
        </p:nvSpPr>
        <p:spPr>
          <a:xfrm>
            <a:off x="3888000" y="2052000"/>
            <a:ext cx="4176000" cy="306000"/>
          </a:xfrm>
          <a:prstGeom prst="rect">
            <a:avLst/>
          </a:prstGeom>
          <a:solidFill>
            <a:srgbClr val="E4E8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72000" tIns="18000" rIns="72000" bIns="18000" rtlCol="0" anchor="ctr"/>
          <a:lstStyle/>
          <a:p>
            <a:pPr algn="ctr">
              <a:lnSpc>
                <a:spcPct val="110000"/>
              </a:lnSpc>
              <a:spcAft>
                <a:spcPts val="0"/>
              </a:spcAft>
            </a:pPr>
            <a:r>
              <a:rPr sz="1200" b="1">
                <a:solidFill>
                  <a:srgbClr val="1F285A"/>
                </a:solidFill>
                <a:latin typeface="メイリオ"/>
                <a:ea typeface="メイリオ"/>
                <a:cs typeface="メイリオ"/>
              </a:rPr>
              <a:t>導入・活用方法</a:t>
            </a:r>
          </a:p>
        </p:txBody>
      </p:sp>
      <p:sp>
        <p:nvSpPr>
          <p:cNvPr id="11" name="Rectangle 10"/>
          <p:cNvSpPr/>
          <p:nvPr/>
        </p:nvSpPr>
        <p:spPr>
          <a:xfrm>
            <a:off x="3888000" y="2358000"/>
            <a:ext cx="4176000" cy="2790000"/>
          </a:xfrm>
          <a:prstGeom prst="rect">
            <a:avLst/>
          </a:prstGeom>
          <a:solidFill>
            <a:srgbClr val="FFFFFF"/>
          </a:solidFill>
          <a:ln w="12700">
            <a:solidFill>
              <a:srgbClr val="D9D9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72000" tIns="18000" rIns="72000" bIns="18000" rtlCol="0" anchor="ctr"/>
          <a:lstStyle/>
          <a:p>
            <a:pPr algn="ctr"/>
            <a:endParaRPr/>
          </a:p>
        </p:txBody>
      </p:sp>
      <p:cxnSp>
        <p:nvCxnSpPr>
          <p:cNvPr id="12" name="Connector 11"/>
          <p:cNvCxnSpPr/>
          <p:nvPr/>
        </p:nvCxnSpPr>
        <p:spPr>
          <a:xfrm>
            <a:off x="8135999" y="3600000"/>
            <a:ext cx="216001" cy="0"/>
          </a:xfrm>
          <a:prstGeom prst="line">
            <a:avLst/>
          </a:prstGeom>
          <a:ln w="25400">
            <a:solidFill>
              <a:srgbClr val="1F285A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3" name="Rectangle 12"/>
          <p:cNvSpPr/>
          <p:nvPr/>
        </p:nvSpPr>
        <p:spPr>
          <a:xfrm>
            <a:off x="8424000" y="2052000"/>
            <a:ext cx="2988000" cy="306000"/>
          </a:xfrm>
          <a:prstGeom prst="rect">
            <a:avLst/>
          </a:prstGeom>
          <a:solidFill>
            <a:srgbClr val="1F285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72000" tIns="18000" rIns="72000" bIns="18000" rtlCol="0" anchor="ctr"/>
          <a:lstStyle/>
          <a:p>
            <a:pPr algn="ctr">
              <a:lnSpc>
                <a:spcPct val="110000"/>
              </a:lnSpc>
              <a:spcAft>
                <a:spcPts val="0"/>
              </a:spcAft>
            </a:pPr>
            <a:r>
              <a:rPr sz="1200" b="1">
                <a:solidFill>
                  <a:srgbClr val="FFFFFF"/>
                </a:solidFill>
                <a:latin typeface="メイリオ"/>
                <a:ea typeface="メイリオ"/>
                <a:cs typeface="メイリオ"/>
              </a:rPr>
              <a:t>結果</a:t>
            </a:r>
          </a:p>
        </p:txBody>
      </p:sp>
      <p:sp>
        <p:nvSpPr>
          <p:cNvPr id="14" name="Rectangle 13"/>
          <p:cNvSpPr/>
          <p:nvPr/>
        </p:nvSpPr>
        <p:spPr>
          <a:xfrm>
            <a:off x="8424000" y="2358000"/>
            <a:ext cx="2988000" cy="2790000"/>
          </a:xfrm>
          <a:prstGeom prst="rect">
            <a:avLst/>
          </a:prstGeom>
          <a:solidFill>
            <a:srgbClr val="FFFFFF"/>
          </a:solidFill>
          <a:ln w="12700">
            <a:solidFill>
              <a:srgbClr val="D9D9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72000" tIns="18000" rIns="72000" bIns="18000"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972000" y="2556000"/>
            <a:ext cx="2376000" cy="2376000"/>
          </a:xfrm>
          <a:prstGeom prst="rect">
            <a:avLst/>
          </a:prstGeom>
          <a:noFill/>
        </p:spPr>
        <p:txBody>
          <a:bodyPr wrap="square" lIns="36000" tIns="18000" rIns="36000" bIns="18000" anchor="ctr">
            <a:spAutoFit/>
          </a:bodyPr>
          <a:lstStyle/>
          <a:p>
            <a:pPr algn="l">
              <a:lnSpc>
                <a:spcPct val="110000"/>
              </a:lnSpc>
              <a:spcAft>
                <a:spcPts val="1000"/>
              </a:spcAft>
            </a:pPr>
            <a:r>
              <a:rPr sz="1150" b="1">
                <a:solidFill>
                  <a:srgbClr val="333333"/>
                </a:solidFill>
                <a:latin typeface="メイリオ"/>
                <a:ea typeface="メイリオ"/>
                <a:cs typeface="メイリオ"/>
              </a:rPr>
              <a:t>予約から来院日まで、接点がない</a:t>
            </a:r>
          </a:p>
          <a:p>
            <a:pPr algn="l">
              <a:lnSpc>
                <a:spcPct val="110000"/>
              </a:lnSpc>
              <a:spcAft>
                <a:spcPts val="0"/>
              </a:spcAft>
            </a:pPr>
            <a:r>
              <a:rPr sz="1150" b="1">
                <a:solidFill>
                  <a:srgbClr val="333333"/>
                </a:solidFill>
                <a:latin typeface="メイリオ"/>
                <a:ea typeface="メイリオ"/>
                <a:cs typeface="メイリオ"/>
              </a:rPr>
              <a:t>予約後に来院しない方が一定数いる</a:t>
            </a:r>
          </a:p>
        </p:txBody>
      </p:sp>
      <p:sp>
        <p:nvSpPr>
          <p:cNvPr id="16" name="Rectangle 15"/>
          <p:cNvSpPr/>
          <p:nvPr/>
        </p:nvSpPr>
        <p:spPr>
          <a:xfrm>
            <a:off x="4176000" y="2538000"/>
            <a:ext cx="3600000" cy="418500"/>
          </a:xfrm>
          <a:prstGeom prst="rect">
            <a:avLst/>
          </a:prstGeom>
          <a:solidFill>
            <a:srgbClr val="E4E8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72000" tIns="18000" rIns="72000" bIns="18000" rtlCol="0" anchor="ctr"/>
          <a:lstStyle/>
          <a:p>
            <a:pPr algn="ctr">
              <a:lnSpc>
                <a:spcPct val="110000"/>
              </a:lnSpc>
              <a:spcAft>
                <a:spcPts val="0"/>
              </a:spcAft>
            </a:pPr>
            <a:r>
              <a:rPr sz="1150" b="1">
                <a:solidFill>
                  <a:srgbClr val="1F285A"/>
                </a:solidFill>
                <a:latin typeface="メイリオ"/>
                <a:ea typeface="メイリオ"/>
                <a:cs typeface="メイリオ"/>
              </a:rPr>
              <a:t>予約完了画面</a:t>
            </a:r>
          </a:p>
        </p:txBody>
      </p:sp>
      <p:cxnSp>
        <p:nvCxnSpPr>
          <p:cNvPr id="17" name="Connector 16"/>
          <p:cNvCxnSpPr/>
          <p:nvPr/>
        </p:nvCxnSpPr>
        <p:spPr>
          <a:xfrm>
            <a:off x="5976000" y="2967300"/>
            <a:ext cx="0" cy="194399"/>
          </a:xfrm>
          <a:prstGeom prst="line">
            <a:avLst/>
          </a:prstGeom>
          <a:ln w="19050">
            <a:solidFill>
              <a:srgbClr val="1F285A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8" name="Rectangle 17"/>
          <p:cNvSpPr/>
          <p:nvPr/>
        </p:nvSpPr>
        <p:spPr>
          <a:xfrm>
            <a:off x="4176000" y="3172500"/>
            <a:ext cx="3600000" cy="418500"/>
          </a:xfrm>
          <a:prstGeom prst="rect">
            <a:avLst/>
          </a:prstGeom>
          <a:solidFill>
            <a:srgbClr val="06C75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72000" tIns="18000" rIns="72000" bIns="18000" rtlCol="0" anchor="ctr"/>
          <a:lstStyle/>
          <a:p>
            <a:pPr algn="ctr">
              <a:lnSpc>
                <a:spcPct val="110000"/>
              </a:lnSpc>
              <a:spcAft>
                <a:spcPts val="0"/>
              </a:spcAft>
            </a:pPr>
            <a:r>
              <a:rPr sz="1150" b="1">
                <a:solidFill>
                  <a:srgbClr val="FFFFFF"/>
                </a:solidFill>
                <a:latin typeface="メイリオ"/>
                <a:ea typeface="メイリオ"/>
                <a:cs typeface="メイリオ"/>
              </a:rPr>
              <a:t>サンクスLINE誘導</a:t>
            </a:r>
          </a:p>
        </p:txBody>
      </p:sp>
      <p:cxnSp>
        <p:nvCxnSpPr>
          <p:cNvPr id="19" name="Connector 18"/>
          <p:cNvCxnSpPr/>
          <p:nvPr/>
        </p:nvCxnSpPr>
        <p:spPr>
          <a:xfrm>
            <a:off x="5976000" y="3601799"/>
            <a:ext cx="0" cy="194400"/>
          </a:xfrm>
          <a:prstGeom prst="line">
            <a:avLst/>
          </a:prstGeom>
          <a:ln w="19050">
            <a:solidFill>
              <a:srgbClr val="1F285A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0" name="Rectangle 19"/>
          <p:cNvSpPr/>
          <p:nvPr/>
        </p:nvSpPr>
        <p:spPr>
          <a:xfrm>
            <a:off x="4176000" y="3806999"/>
            <a:ext cx="3600000" cy="418500"/>
          </a:xfrm>
          <a:prstGeom prst="rect">
            <a:avLst/>
          </a:prstGeom>
          <a:solidFill>
            <a:srgbClr val="E8F8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72000" tIns="18000" rIns="72000" bIns="18000" rtlCol="0" anchor="ctr"/>
          <a:lstStyle/>
          <a:p>
            <a:pPr algn="ctr">
              <a:lnSpc>
                <a:spcPct val="110000"/>
              </a:lnSpc>
              <a:spcAft>
                <a:spcPts val="0"/>
              </a:spcAft>
            </a:pPr>
            <a:r>
              <a:rPr sz="1150" b="1">
                <a:solidFill>
                  <a:srgbClr val="0B7A3B"/>
                </a:solidFill>
                <a:latin typeface="メイリオ"/>
                <a:ea typeface="メイリオ"/>
                <a:cs typeface="メイリオ"/>
              </a:rPr>
              <a:t>LINE友だち追加</a:t>
            </a:r>
          </a:p>
        </p:txBody>
      </p:sp>
      <p:cxnSp>
        <p:nvCxnSpPr>
          <p:cNvPr id="21" name="Connector 20"/>
          <p:cNvCxnSpPr/>
          <p:nvPr/>
        </p:nvCxnSpPr>
        <p:spPr>
          <a:xfrm>
            <a:off x="5976000" y="4236299"/>
            <a:ext cx="0" cy="194400"/>
          </a:xfrm>
          <a:prstGeom prst="line">
            <a:avLst/>
          </a:prstGeom>
          <a:ln w="19050">
            <a:solidFill>
              <a:srgbClr val="1F285A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2" name="Rectangle 21"/>
          <p:cNvSpPr/>
          <p:nvPr/>
        </p:nvSpPr>
        <p:spPr>
          <a:xfrm>
            <a:off x="4176000" y="4441500"/>
            <a:ext cx="3600000" cy="418500"/>
          </a:xfrm>
          <a:prstGeom prst="rect">
            <a:avLst/>
          </a:prstGeom>
          <a:solidFill>
            <a:srgbClr val="1F285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72000" tIns="18000" rIns="72000" bIns="18000" rtlCol="0" anchor="ctr"/>
          <a:lstStyle/>
          <a:p>
            <a:pPr algn="ctr">
              <a:lnSpc>
                <a:spcPct val="110000"/>
              </a:lnSpc>
              <a:spcAft>
                <a:spcPts val="0"/>
              </a:spcAft>
            </a:pPr>
            <a:r>
              <a:rPr sz="1150" b="1">
                <a:solidFill>
                  <a:srgbClr val="FFFFFF"/>
                </a:solidFill>
                <a:latin typeface="メイリオ"/>
                <a:ea typeface="メイリオ"/>
                <a:cs typeface="メイリオ"/>
              </a:rPr>
              <a:t>予約確認・前日のお知らせをLINEで配信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8424000" y="2520000"/>
            <a:ext cx="2988000" cy="324000"/>
          </a:xfrm>
          <a:prstGeom prst="rect">
            <a:avLst/>
          </a:prstGeom>
          <a:noFill/>
        </p:spPr>
        <p:txBody>
          <a:bodyPr wrap="square" lIns="36000" tIns="18000" rIns="36000" bIns="18000" anchor="ctr">
            <a:spAutoFit/>
          </a:bodyPr>
          <a:lstStyle/>
          <a:p>
            <a:pPr algn="ctr">
              <a:lnSpc>
                <a:spcPct val="110000"/>
              </a:lnSpc>
              <a:spcAft>
                <a:spcPts val="0"/>
              </a:spcAft>
            </a:pPr>
            <a:r>
              <a:rPr sz="1300" b="1">
                <a:solidFill>
                  <a:srgbClr val="333333"/>
                </a:solidFill>
                <a:latin typeface="メイリオ"/>
                <a:ea typeface="メイリオ"/>
                <a:cs typeface="メイリオ"/>
              </a:rPr>
              <a:t>予約後の来院率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8424000" y="2916000"/>
            <a:ext cx="2988000" cy="1224000"/>
          </a:xfrm>
          <a:prstGeom prst="rect">
            <a:avLst/>
          </a:prstGeom>
          <a:noFill/>
        </p:spPr>
        <p:txBody>
          <a:bodyPr wrap="square" lIns="36000" tIns="18000" rIns="36000" bIns="18000" anchor="ctr">
            <a:spAutoFit/>
          </a:bodyPr>
          <a:lstStyle/>
          <a:p>
            <a:pPr algn="ctr">
              <a:lnSpc>
                <a:spcPct val="110000"/>
              </a:lnSpc>
              <a:spcAft>
                <a:spcPts val="0"/>
              </a:spcAft>
            </a:pPr>
            <a:r>
              <a:rPr sz="4000" b="1">
                <a:solidFill>
                  <a:srgbClr val="1F285A"/>
                </a:solidFill>
                <a:latin typeface="メイリオ"/>
                <a:ea typeface="メイリオ"/>
                <a:cs typeface="メイリオ"/>
              </a:rPr>
              <a:t>40〜50%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8424000" y="4140000"/>
            <a:ext cx="2988000" cy="432000"/>
          </a:xfrm>
          <a:prstGeom prst="rect">
            <a:avLst/>
          </a:prstGeom>
          <a:noFill/>
        </p:spPr>
        <p:txBody>
          <a:bodyPr wrap="square" lIns="36000" tIns="18000" rIns="36000" bIns="18000" anchor="ctr">
            <a:spAutoFit/>
          </a:bodyPr>
          <a:lstStyle/>
          <a:p>
            <a:pPr algn="ctr">
              <a:lnSpc>
                <a:spcPct val="110000"/>
              </a:lnSpc>
              <a:spcAft>
                <a:spcPts val="0"/>
              </a:spcAft>
            </a:pPr>
            <a:r>
              <a:rPr sz="2200" b="1">
                <a:solidFill>
                  <a:srgbClr val="1F285A"/>
                </a:solidFill>
                <a:latin typeface="メイリオ"/>
                <a:ea typeface="メイリオ"/>
                <a:cs typeface="メイリオ"/>
              </a:rPr>
              <a:t>改善</a:t>
            </a:r>
          </a:p>
        </p:txBody>
      </p:sp>
      <p:cxnSp>
        <p:nvCxnSpPr>
          <p:cNvPr id="26" name="Connector 25"/>
          <p:cNvCxnSpPr/>
          <p:nvPr/>
        </p:nvCxnSpPr>
        <p:spPr>
          <a:xfrm>
            <a:off x="792000" y="5400000"/>
            <a:ext cx="10620000" cy="0"/>
          </a:xfrm>
          <a:prstGeom prst="line">
            <a:avLst/>
          </a:prstGeom>
          <a:ln w="9525">
            <a:solidFill>
              <a:srgbClr val="D9D9D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7" name="TextBox 26"/>
          <p:cNvSpPr txBox="1"/>
          <p:nvPr/>
        </p:nvSpPr>
        <p:spPr>
          <a:xfrm>
            <a:off x="792000" y="5472000"/>
            <a:ext cx="10620000" cy="216000"/>
          </a:xfrm>
          <a:prstGeom prst="rect">
            <a:avLst/>
          </a:prstGeom>
          <a:noFill/>
        </p:spPr>
        <p:txBody>
          <a:bodyPr wrap="square" lIns="36000" tIns="18000" rIns="36000" bIns="18000" anchor="t">
            <a:spAutoFit/>
          </a:bodyPr>
          <a:lstStyle/>
          <a:p>
            <a:pPr algn="l">
              <a:lnSpc>
                <a:spcPct val="110000"/>
              </a:lnSpc>
              <a:spcAft>
                <a:spcPts val="0"/>
              </a:spcAft>
            </a:pPr>
            <a:r>
              <a:rPr sz="1000" b="1">
                <a:solidFill>
                  <a:srgbClr val="7F7F7F"/>
                </a:solidFill>
                <a:latin typeface="メイリオ"/>
                <a:ea typeface="メイリオ"/>
                <a:cs typeface="メイリオ"/>
              </a:rPr>
              <a:t>参考｜LINEでつながった後の活用例（LINEヤフー公式の導入事例）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792000" y="5706000"/>
            <a:ext cx="5202000" cy="360000"/>
          </a:xfrm>
          <a:prstGeom prst="rect">
            <a:avLst/>
          </a:prstGeom>
          <a:noFill/>
        </p:spPr>
        <p:txBody>
          <a:bodyPr wrap="square" lIns="36000" tIns="18000" rIns="36000" bIns="18000" anchor="ctr">
            <a:spAutoFit/>
          </a:bodyPr>
          <a:lstStyle/>
          <a:p>
            <a:pPr algn="l">
              <a:lnSpc>
                <a:spcPct val="110000"/>
              </a:lnSpc>
              <a:spcAft>
                <a:spcPts val="0"/>
              </a:spcAft>
            </a:pPr>
            <a:r>
              <a:rPr sz="1000" b="0">
                <a:solidFill>
                  <a:srgbClr val="333333"/>
                </a:solidFill>
                <a:latin typeface="メイリオ"/>
                <a:ea typeface="メイリオ"/>
                <a:cs typeface="メイリオ"/>
              </a:rPr>
              <a:t>観光バス：高速バスの予約後、乗車前日の案内をLINEで配信（琴平バス）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6102000" y="5706000"/>
            <a:ext cx="5310000" cy="360000"/>
          </a:xfrm>
          <a:prstGeom prst="rect">
            <a:avLst/>
          </a:prstGeom>
          <a:noFill/>
        </p:spPr>
        <p:txBody>
          <a:bodyPr wrap="square" lIns="36000" tIns="18000" rIns="36000" bIns="18000" anchor="ctr">
            <a:spAutoFit/>
          </a:bodyPr>
          <a:lstStyle/>
          <a:p>
            <a:pPr algn="l">
              <a:lnSpc>
                <a:spcPct val="110000"/>
              </a:lnSpc>
              <a:spcAft>
                <a:spcPts val="0"/>
              </a:spcAft>
            </a:pPr>
            <a:r>
              <a:rPr sz="1000" b="0">
                <a:solidFill>
                  <a:srgbClr val="333333"/>
                </a:solidFill>
                <a:latin typeface="メイリオ"/>
                <a:ea typeface="メイリオ"/>
                <a:cs typeface="メイリオ"/>
              </a:rPr>
              <a:t>皮膚科クリニック：友だち追加後のステップ配信で、カウンセリング予約へ（アクネクリニック）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792000" y="6120000"/>
            <a:ext cx="10620000" cy="180000"/>
          </a:xfrm>
          <a:prstGeom prst="rect">
            <a:avLst/>
          </a:prstGeom>
          <a:noFill/>
        </p:spPr>
        <p:txBody>
          <a:bodyPr wrap="square" lIns="36000" tIns="18000" rIns="36000" bIns="18000" anchor="t">
            <a:spAutoFit/>
          </a:bodyPr>
          <a:lstStyle/>
          <a:p>
            <a:pPr algn="l">
              <a:lnSpc>
                <a:spcPct val="110000"/>
              </a:lnSpc>
              <a:spcAft>
                <a:spcPts val="0"/>
              </a:spcAft>
            </a:pPr>
            <a:r>
              <a:rPr sz="900" b="0">
                <a:solidFill>
                  <a:srgbClr val="7F7F7F"/>
                </a:solidFill>
                <a:latin typeface="メイリオ"/>
                <a:ea typeface="メイリオ"/>
                <a:cs typeface="メイリオ"/>
              </a:rPr>
              <a:t>※参考の2例はサンクスLINE誘導の成果ではなく、LINEでつながった後の活用例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1"/>
          <p:cNvSpPr txBox="1"/>
          <p:nvPr/>
        </p:nvSpPr>
        <p:spPr>
          <a:xfrm>
            <a:off x="547200" y="136800"/>
            <a:ext cx="11070119" cy="338400"/>
          </a:xfrm>
          <a:prstGeom prst="rect">
            <a:avLst/>
          </a:prstGeom>
          <a:noFill/>
        </p:spPr>
        <p:txBody>
          <a:bodyPr wrap="square" lIns="0" tIns="21600" rIns="0" bIns="21600" anchor="ctr">
            <a:spAutoFit/>
          </a:bodyPr>
          <a:lstStyle/>
          <a:p>
            <a:pPr algn="l"/>
            <a:r>
              <a:rPr sz="1600" b="1">
                <a:solidFill>
                  <a:srgbClr val="002060"/>
                </a:solidFill>
                <a:latin typeface="メイリオ"/>
                <a:ea typeface="メイリオ"/>
                <a:cs typeface="メイリオ"/>
              </a:rPr>
              <a:t>ターゲット業界別｜サンクスLINE活用イメージ</a:t>
            </a:r>
          </a:p>
        </p:txBody>
      </p:sp>
      <p:sp>
        <p:nvSpPr>
          <p:cNvPr id="4" name="TextBox 2"/>
          <p:cNvSpPr txBox="1"/>
          <p:nvPr/>
        </p:nvSpPr>
        <p:spPr>
          <a:xfrm>
            <a:off x="793680" y="725334"/>
            <a:ext cx="11214119" cy="529332"/>
          </a:xfrm>
          <a:prstGeom prst="rect">
            <a:avLst/>
          </a:prstGeom>
          <a:noFill/>
        </p:spPr>
        <p:txBody>
          <a:bodyPr wrap="square" lIns="0" tIns="21600" rIns="0" bIns="21600" anchor="ctr">
            <a:spAutoFit/>
          </a:bodyPr>
          <a:lstStyle/>
          <a:p>
            <a:pPr algn="l">
              <a:lnSpc>
                <a:spcPct val="130000"/>
              </a:lnSpc>
            </a:pPr>
            <a:r>
              <a:rPr sz="1800" dirty="0" err="1">
                <a:solidFill>
                  <a:srgbClr val="333333"/>
                </a:solidFill>
                <a:latin typeface="メイリオ"/>
                <a:ea typeface="メイリオ"/>
                <a:cs typeface="メイリオ"/>
              </a:rPr>
              <a:t>CVの後にLINEで送る内容は、業界ごとに変わる</a:t>
            </a:r>
            <a:endParaRPr sz="1250" dirty="0">
              <a:solidFill>
                <a:srgbClr val="333333"/>
              </a:solidFill>
              <a:latin typeface="メイリオ"/>
              <a:ea typeface="メイリオ"/>
              <a:cs typeface="メイリオ"/>
            </a:endParaRPr>
          </a:p>
        </p:txBody>
      </p:sp>
      <p:cxnSp>
        <p:nvCxnSpPr>
          <p:cNvPr id="5" name="Connector 3"/>
          <p:cNvCxnSpPr/>
          <p:nvPr/>
        </p:nvCxnSpPr>
        <p:spPr>
          <a:xfrm>
            <a:off x="0" y="1389600"/>
            <a:ext cx="12192119" cy="0"/>
          </a:xfrm>
          <a:prstGeom prst="line">
            <a:avLst/>
          </a:prstGeom>
          <a:ln w="12700">
            <a:solidFill>
              <a:srgbClr val="D9D9D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" name="Connector 5"/>
          <p:cNvCxnSpPr/>
          <p:nvPr/>
        </p:nvCxnSpPr>
        <p:spPr>
          <a:xfrm>
            <a:off x="6096000" y="1728000"/>
            <a:ext cx="0" cy="4500000"/>
          </a:xfrm>
          <a:prstGeom prst="line">
            <a:avLst/>
          </a:prstGeom>
          <a:ln w="9525">
            <a:solidFill>
              <a:srgbClr val="D9D9D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" name="Connector 6"/>
          <p:cNvCxnSpPr/>
          <p:nvPr/>
        </p:nvCxnSpPr>
        <p:spPr>
          <a:xfrm>
            <a:off x="792000" y="3978000"/>
            <a:ext cx="10608000" cy="0"/>
          </a:xfrm>
          <a:prstGeom prst="line">
            <a:avLst/>
          </a:prstGeom>
          <a:ln w="9525">
            <a:solidFill>
              <a:srgbClr val="D9D9D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8" name="Picture 7" descr="thanks_scene_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108168" y="1692000"/>
            <a:ext cx="1771831" cy="2214000"/>
          </a:xfrm>
          <a:prstGeom prst="rect">
            <a:avLst/>
          </a:prstGeom>
        </p:spPr>
      </p:pic>
      <p:sp>
        <p:nvSpPr>
          <p:cNvPr id="9" name="Oval 8"/>
          <p:cNvSpPr/>
          <p:nvPr/>
        </p:nvSpPr>
        <p:spPr>
          <a:xfrm>
            <a:off x="792000" y="1782000"/>
            <a:ext cx="342000" cy="342000"/>
          </a:xfrm>
          <a:prstGeom prst="ellipse">
            <a:avLst/>
          </a:prstGeom>
          <a:solidFill>
            <a:srgbClr val="1F285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/>
          <a:lstStyle/>
          <a:p>
            <a:pPr algn="ctr">
              <a:lnSpc>
                <a:spcPct val="110000"/>
              </a:lnSpc>
              <a:spcAft>
                <a:spcPts val="0"/>
              </a:spcAft>
            </a:pPr>
            <a:r>
              <a:rPr sz="1200" b="1">
                <a:solidFill>
                  <a:srgbClr val="FFFFFF"/>
                </a:solidFill>
                <a:latin typeface="メイリオ"/>
                <a:ea typeface="メイリオ"/>
                <a:cs typeface="メイリオ"/>
              </a:rPr>
              <a:t>1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224000" y="1746000"/>
            <a:ext cx="2520000" cy="413999"/>
          </a:xfrm>
          <a:prstGeom prst="rect">
            <a:avLst/>
          </a:prstGeom>
          <a:noFill/>
        </p:spPr>
        <p:txBody>
          <a:bodyPr wrap="square" lIns="36000" tIns="18000" rIns="36000" bIns="18000" anchor="ctr">
            <a:spAutoFit/>
          </a:bodyPr>
          <a:lstStyle/>
          <a:p>
            <a:pPr algn="l">
              <a:lnSpc>
                <a:spcPct val="110000"/>
              </a:lnSpc>
              <a:spcAft>
                <a:spcPts val="0"/>
              </a:spcAft>
            </a:pPr>
            <a:r>
              <a:rPr sz="1600" b="1">
                <a:solidFill>
                  <a:srgbClr val="1F285A"/>
                </a:solidFill>
                <a:latin typeface="メイリオ"/>
                <a:ea typeface="メイリオ"/>
                <a:cs typeface="メイリオ"/>
              </a:rPr>
              <a:t>人材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792000" y="2322000"/>
            <a:ext cx="1224000" cy="756000"/>
          </a:xfrm>
          <a:prstGeom prst="roundRect">
            <a:avLst>
              <a:gd name="adj" fmla="val 15000"/>
            </a:avLst>
          </a:prstGeom>
          <a:solidFill>
            <a:srgbClr val="E4E8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36000" tIns="0" rIns="36000" bIns="0" rtlCol="0" anchor="ctr"/>
          <a:lstStyle/>
          <a:p>
            <a:pPr algn="ctr">
              <a:lnSpc>
                <a:spcPct val="110000"/>
              </a:lnSpc>
              <a:spcAft>
                <a:spcPts val="0"/>
              </a:spcAft>
            </a:pPr>
            <a:r>
              <a:rPr sz="1200" b="1">
                <a:solidFill>
                  <a:srgbClr val="1F285A"/>
                </a:solidFill>
                <a:latin typeface="メイリオ"/>
                <a:ea typeface="メイリオ"/>
                <a:cs typeface="メイリオ"/>
              </a:rPr>
              <a:t>応募・</a:t>
            </a:r>
          </a:p>
          <a:p>
            <a:pPr algn="ctr">
              <a:lnSpc>
                <a:spcPct val="110000"/>
              </a:lnSpc>
              <a:spcAft>
                <a:spcPts val="0"/>
              </a:spcAft>
            </a:pPr>
            <a:r>
              <a:rPr sz="1200" b="1">
                <a:solidFill>
                  <a:srgbClr val="1F285A"/>
                </a:solidFill>
                <a:latin typeface="メイリオ"/>
                <a:ea typeface="メイリオ"/>
                <a:cs typeface="メイリオ"/>
              </a:rPr>
              <a:t>会員登録</a:t>
            </a:r>
          </a:p>
        </p:txBody>
      </p:sp>
      <p:cxnSp>
        <p:nvCxnSpPr>
          <p:cNvPr id="12" name="Connector 11"/>
          <p:cNvCxnSpPr/>
          <p:nvPr/>
        </p:nvCxnSpPr>
        <p:spPr>
          <a:xfrm>
            <a:off x="2070000" y="2700000"/>
            <a:ext cx="324000" cy="0"/>
          </a:xfrm>
          <a:prstGeom prst="line">
            <a:avLst/>
          </a:prstGeom>
          <a:ln w="22225">
            <a:solidFill>
              <a:srgbClr val="1F285A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3" name="Oval 12"/>
          <p:cNvSpPr/>
          <p:nvPr/>
        </p:nvSpPr>
        <p:spPr>
          <a:xfrm>
            <a:off x="2448000" y="2340000"/>
            <a:ext cx="720000" cy="720000"/>
          </a:xfrm>
          <a:prstGeom prst="ellipse">
            <a:avLst/>
          </a:prstGeom>
          <a:solidFill>
            <a:srgbClr val="06C75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/>
          <a:lstStyle/>
          <a:p>
            <a:pPr algn="ctr">
              <a:lnSpc>
                <a:spcPct val="110000"/>
              </a:lnSpc>
              <a:spcAft>
                <a:spcPts val="0"/>
              </a:spcAft>
            </a:pPr>
            <a:r>
              <a:rPr sz="1200" b="1">
                <a:solidFill>
                  <a:srgbClr val="FFFFFF"/>
                </a:solidFill>
                <a:latin typeface="メイリオ"/>
                <a:ea typeface="メイリオ"/>
                <a:cs typeface="メイリオ"/>
              </a:rPr>
              <a:t>LINE</a:t>
            </a:r>
          </a:p>
        </p:txBody>
      </p:sp>
      <p:cxnSp>
        <p:nvCxnSpPr>
          <p:cNvPr id="14" name="Connector 13"/>
          <p:cNvCxnSpPr/>
          <p:nvPr/>
        </p:nvCxnSpPr>
        <p:spPr>
          <a:xfrm>
            <a:off x="3221999" y="2700000"/>
            <a:ext cx="832169" cy="0"/>
          </a:xfrm>
          <a:prstGeom prst="line">
            <a:avLst/>
          </a:prstGeom>
          <a:ln w="22225">
            <a:solidFill>
              <a:srgbClr val="1F285A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5" name="TextBox 14"/>
          <p:cNvSpPr txBox="1"/>
          <p:nvPr/>
        </p:nvSpPr>
        <p:spPr>
          <a:xfrm>
            <a:off x="792000" y="3221999"/>
            <a:ext cx="3244168" cy="216000"/>
          </a:xfrm>
          <a:prstGeom prst="rect">
            <a:avLst/>
          </a:prstGeom>
          <a:noFill/>
        </p:spPr>
        <p:txBody>
          <a:bodyPr wrap="square" lIns="36000" tIns="18000" rIns="36000" bIns="18000" anchor="t">
            <a:spAutoFit/>
          </a:bodyPr>
          <a:lstStyle/>
          <a:p>
            <a:pPr algn="l">
              <a:lnSpc>
                <a:spcPct val="110000"/>
              </a:lnSpc>
              <a:spcAft>
                <a:spcPts val="0"/>
              </a:spcAft>
            </a:pPr>
            <a:r>
              <a:rPr sz="950" b="0">
                <a:solidFill>
                  <a:srgbClr val="7F7F7F"/>
                </a:solidFill>
                <a:latin typeface="メイリオ"/>
                <a:ea typeface="メイリオ"/>
                <a:cs typeface="メイリオ"/>
              </a:rPr>
              <a:t>その後の配信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92000" y="3420000"/>
            <a:ext cx="3244168" cy="324000"/>
          </a:xfrm>
          <a:prstGeom prst="rect">
            <a:avLst/>
          </a:prstGeom>
          <a:noFill/>
        </p:spPr>
        <p:txBody>
          <a:bodyPr wrap="square" lIns="36000" tIns="18000" rIns="36000" bIns="18000" anchor="t">
            <a:spAutoFit/>
          </a:bodyPr>
          <a:lstStyle/>
          <a:p>
            <a:pPr algn="l">
              <a:lnSpc>
                <a:spcPct val="110000"/>
              </a:lnSpc>
              <a:spcAft>
                <a:spcPts val="0"/>
              </a:spcAft>
            </a:pPr>
            <a:r>
              <a:rPr sz="1100" b="1">
                <a:solidFill>
                  <a:srgbClr val="1F285A"/>
                </a:solidFill>
                <a:latin typeface="メイリオ"/>
                <a:ea typeface="メイリオ"/>
                <a:cs typeface="メイリオ"/>
              </a:rPr>
              <a:t>前日リマインド／求人紹介／選考のご案内</a:t>
            </a:r>
          </a:p>
        </p:txBody>
      </p:sp>
      <p:pic>
        <p:nvPicPr>
          <p:cNvPr id="17" name="Picture 16" descr="thanks_scene_2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628168" y="1692000"/>
            <a:ext cx="1771831" cy="2214000"/>
          </a:xfrm>
          <a:prstGeom prst="rect">
            <a:avLst/>
          </a:prstGeom>
        </p:spPr>
      </p:pic>
      <p:sp>
        <p:nvSpPr>
          <p:cNvPr id="18" name="Oval 17"/>
          <p:cNvSpPr/>
          <p:nvPr/>
        </p:nvSpPr>
        <p:spPr>
          <a:xfrm>
            <a:off x="6312000" y="1782000"/>
            <a:ext cx="342000" cy="342000"/>
          </a:xfrm>
          <a:prstGeom prst="ellipse">
            <a:avLst/>
          </a:prstGeom>
          <a:solidFill>
            <a:srgbClr val="1F285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/>
          <a:lstStyle/>
          <a:p>
            <a:pPr algn="ctr">
              <a:lnSpc>
                <a:spcPct val="110000"/>
              </a:lnSpc>
              <a:spcAft>
                <a:spcPts val="0"/>
              </a:spcAft>
            </a:pPr>
            <a:r>
              <a:rPr sz="1200" b="1">
                <a:solidFill>
                  <a:srgbClr val="FFFFFF"/>
                </a:solidFill>
                <a:latin typeface="メイリオ"/>
                <a:ea typeface="メイリオ"/>
                <a:cs typeface="メイリオ"/>
              </a:rPr>
              <a:t>2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744000" y="1746000"/>
            <a:ext cx="2520000" cy="413999"/>
          </a:xfrm>
          <a:prstGeom prst="rect">
            <a:avLst/>
          </a:prstGeom>
          <a:noFill/>
        </p:spPr>
        <p:txBody>
          <a:bodyPr wrap="square" lIns="36000" tIns="18000" rIns="36000" bIns="18000" anchor="ctr">
            <a:spAutoFit/>
          </a:bodyPr>
          <a:lstStyle/>
          <a:p>
            <a:pPr algn="l">
              <a:lnSpc>
                <a:spcPct val="110000"/>
              </a:lnSpc>
              <a:spcAft>
                <a:spcPts val="0"/>
              </a:spcAft>
            </a:pPr>
            <a:r>
              <a:rPr sz="1600" b="1">
                <a:solidFill>
                  <a:srgbClr val="1F285A"/>
                </a:solidFill>
                <a:latin typeface="メイリオ"/>
                <a:ea typeface="メイリオ"/>
                <a:cs typeface="メイリオ"/>
              </a:rPr>
              <a:t>不動産投資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6312000" y="2322000"/>
            <a:ext cx="1224000" cy="756000"/>
          </a:xfrm>
          <a:prstGeom prst="roundRect">
            <a:avLst>
              <a:gd name="adj" fmla="val 15000"/>
            </a:avLst>
          </a:prstGeom>
          <a:solidFill>
            <a:srgbClr val="E4E8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36000" tIns="0" rIns="36000" bIns="0" rtlCol="0" anchor="ctr"/>
          <a:lstStyle/>
          <a:p>
            <a:pPr algn="ctr">
              <a:lnSpc>
                <a:spcPct val="110000"/>
              </a:lnSpc>
              <a:spcAft>
                <a:spcPts val="0"/>
              </a:spcAft>
            </a:pPr>
            <a:r>
              <a:rPr sz="1200" b="1">
                <a:solidFill>
                  <a:srgbClr val="1F285A"/>
                </a:solidFill>
                <a:latin typeface="メイリオ"/>
                <a:ea typeface="メイリオ"/>
                <a:cs typeface="メイリオ"/>
              </a:rPr>
              <a:t>資料請求・</a:t>
            </a:r>
          </a:p>
          <a:p>
            <a:pPr algn="ctr">
              <a:lnSpc>
                <a:spcPct val="110000"/>
              </a:lnSpc>
              <a:spcAft>
                <a:spcPts val="0"/>
              </a:spcAft>
            </a:pPr>
            <a:r>
              <a:rPr sz="1200" b="1">
                <a:solidFill>
                  <a:srgbClr val="1F285A"/>
                </a:solidFill>
                <a:latin typeface="メイリオ"/>
                <a:ea typeface="メイリオ"/>
                <a:cs typeface="メイリオ"/>
              </a:rPr>
              <a:t>相談予約</a:t>
            </a:r>
          </a:p>
        </p:txBody>
      </p:sp>
      <p:cxnSp>
        <p:nvCxnSpPr>
          <p:cNvPr id="21" name="Connector 20"/>
          <p:cNvCxnSpPr/>
          <p:nvPr/>
        </p:nvCxnSpPr>
        <p:spPr>
          <a:xfrm>
            <a:off x="7590000" y="2700000"/>
            <a:ext cx="324000" cy="0"/>
          </a:xfrm>
          <a:prstGeom prst="line">
            <a:avLst/>
          </a:prstGeom>
          <a:ln w="22225">
            <a:solidFill>
              <a:srgbClr val="1F285A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2" name="Oval 21"/>
          <p:cNvSpPr/>
          <p:nvPr/>
        </p:nvSpPr>
        <p:spPr>
          <a:xfrm>
            <a:off x="7968000" y="2340000"/>
            <a:ext cx="720000" cy="720000"/>
          </a:xfrm>
          <a:prstGeom prst="ellipse">
            <a:avLst/>
          </a:prstGeom>
          <a:solidFill>
            <a:srgbClr val="06C75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/>
          <a:lstStyle/>
          <a:p>
            <a:pPr algn="ctr">
              <a:lnSpc>
                <a:spcPct val="110000"/>
              </a:lnSpc>
              <a:spcAft>
                <a:spcPts val="0"/>
              </a:spcAft>
            </a:pPr>
            <a:r>
              <a:rPr sz="1200" b="1">
                <a:solidFill>
                  <a:srgbClr val="FFFFFF"/>
                </a:solidFill>
                <a:latin typeface="メイリオ"/>
                <a:ea typeface="メイリオ"/>
                <a:cs typeface="メイリオ"/>
              </a:rPr>
              <a:t>LINE</a:t>
            </a:r>
          </a:p>
        </p:txBody>
      </p:sp>
      <p:cxnSp>
        <p:nvCxnSpPr>
          <p:cNvPr id="23" name="Connector 22"/>
          <p:cNvCxnSpPr/>
          <p:nvPr/>
        </p:nvCxnSpPr>
        <p:spPr>
          <a:xfrm>
            <a:off x="8742000" y="2700000"/>
            <a:ext cx="832168" cy="0"/>
          </a:xfrm>
          <a:prstGeom prst="line">
            <a:avLst/>
          </a:prstGeom>
          <a:ln w="22225">
            <a:solidFill>
              <a:srgbClr val="1F285A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4" name="TextBox 23"/>
          <p:cNvSpPr txBox="1"/>
          <p:nvPr/>
        </p:nvSpPr>
        <p:spPr>
          <a:xfrm>
            <a:off x="6312000" y="3221999"/>
            <a:ext cx="3244168" cy="216000"/>
          </a:xfrm>
          <a:prstGeom prst="rect">
            <a:avLst/>
          </a:prstGeom>
          <a:noFill/>
        </p:spPr>
        <p:txBody>
          <a:bodyPr wrap="square" lIns="36000" tIns="18000" rIns="36000" bIns="18000" anchor="t">
            <a:spAutoFit/>
          </a:bodyPr>
          <a:lstStyle/>
          <a:p>
            <a:pPr algn="l">
              <a:lnSpc>
                <a:spcPct val="110000"/>
              </a:lnSpc>
              <a:spcAft>
                <a:spcPts val="0"/>
              </a:spcAft>
            </a:pPr>
            <a:r>
              <a:rPr sz="950" b="0">
                <a:solidFill>
                  <a:srgbClr val="7F7F7F"/>
                </a:solidFill>
                <a:latin typeface="メイリオ"/>
                <a:ea typeface="メイリオ"/>
                <a:cs typeface="メイリオ"/>
              </a:rPr>
              <a:t>その後の配信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312000" y="3420000"/>
            <a:ext cx="3244168" cy="324000"/>
          </a:xfrm>
          <a:prstGeom prst="rect">
            <a:avLst/>
          </a:prstGeom>
          <a:noFill/>
        </p:spPr>
        <p:txBody>
          <a:bodyPr wrap="square" lIns="36000" tIns="18000" rIns="36000" bIns="18000" anchor="t">
            <a:spAutoFit/>
          </a:bodyPr>
          <a:lstStyle/>
          <a:p>
            <a:pPr algn="l">
              <a:lnSpc>
                <a:spcPct val="110000"/>
              </a:lnSpc>
              <a:spcAft>
                <a:spcPts val="0"/>
              </a:spcAft>
            </a:pPr>
            <a:r>
              <a:rPr sz="1100" b="1">
                <a:solidFill>
                  <a:srgbClr val="1F285A"/>
                </a:solidFill>
                <a:latin typeface="メイリオ"/>
                <a:ea typeface="メイリオ"/>
                <a:cs typeface="メイリオ"/>
              </a:rPr>
              <a:t>面談リマインド／セミナー案内／物件情報</a:t>
            </a:r>
          </a:p>
        </p:txBody>
      </p:sp>
      <p:pic>
        <p:nvPicPr>
          <p:cNvPr id="26" name="Picture 25" descr="thanks_scene_3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108168" y="4050000"/>
            <a:ext cx="1771831" cy="2214000"/>
          </a:xfrm>
          <a:prstGeom prst="rect">
            <a:avLst/>
          </a:prstGeom>
        </p:spPr>
      </p:pic>
      <p:sp>
        <p:nvSpPr>
          <p:cNvPr id="27" name="Oval 26"/>
          <p:cNvSpPr/>
          <p:nvPr/>
        </p:nvSpPr>
        <p:spPr>
          <a:xfrm>
            <a:off x="792000" y="4140000"/>
            <a:ext cx="342000" cy="342000"/>
          </a:xfrm>
          <a:prstGeom prst="ellipse">
            <a:avLst/>
          </a:prstGeom>
          <a:solidFill>
            <a:srgbClr val="1F285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/>
          <a:lstStyle/>
          <a:p>
            <a:pPr algn="ctr">
              <a:lnSpc>
                <a:spcPct val="110000"/>
              </a:lnSpc>
              <a:spcAft>
                <a:spcPts val="0"/>
              </a:spcAft>
            </a:pPr>
            <a:r>
              <a:rPr sz="1200" b="1">
                <a:solidFill>
                  <a:srgbClr val="FFFFFF"/>
                </a:solidFill>
                <a:latin typeface="メイリオ"/>
                <a:ea typeface="メイリオ"/>
                <a:cs typeface="メイリオ"/>
              </a:rPr>
              <a:t>3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1224000" y="4104000"/>
            <a:ext cx="2520000" cy="413999"/>
          </a:xfrm>
          <a:prstGeom prst="rect">
            <a:avLst/>
          </a:prstGeom>
          <a:noFill/>
        </p:spPr>
        <p:txBody>
          <a:bodyPr wrap="square" lIns="36000" tIns="18000" rIns="36000" bIns="18000" anchor="ctr">
            <a:spAutoFit/>
          </a:bodyPr>
          <a:lstStyle/>
          <a:p>
            <a:pPr algn="l">
              <a:lnSpc>
                <a:spcPct val="110000"/>
              </a:lnSpc>
              <a:spcAft>
                <a:spcPts val="0"/>
              </a:spcAft>
            </a:pPr>
            <a:r>
              <a:rPr sz="1600" b="1">
                <a:solidFill>
                  <a:srgbClr val="1F285A"/>
                </a:solidFill>
                <a:latin typeface="メイリオ"/>
                <a:ea typeface="メイリオ"/>
                <a:cs typeface="メイリオ"/>
              </a:rPr>
              <a:t>ホビー（toC）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792000" y="4680000"/>
            <a:ext cx="1224000" cy="756000"/>
          </a:xfrm>
          <a:prstGeom prst="roundRect">
            <a:avLst>
              <a:gd name="adj" fmla="val 15000"/>
            </a:avLst>
          </a:prstGeom>
          <a:solidFill>
            <a:srgbClr val="E4E8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36000" tIns="0" rIns="36000" bIns="0" rtlCol="0" anchor="ctr"/>
          <a:lstStyle/>
          <a:p>
            <a:pPr algn="ctr">
              <a:lnSpc>
                <a:spcPct val="110000"/>
              </a:lnSpc>
              <a:spcAft>
                <a:spcPts val="0"/>
              </a:spcAft>
            </a:pPr>
            <a:r>
              <a:rPr sz="1200" b="1">
                <a:solidFill>
                  <a:srgbClr val="1F285A"/>
                </a:solidFill>
                <a:latin typeface="メイリオ"/>
                <a:ea typeface="メイリオ"/>
                <a:cs typeface="メイリオ"/>
              </a:rPr>
              <a:t>購入・</a:t>
            </a:r>
          </a:p>
          <a:p>
            <a:pPr algn="ctr">
              <a:lnSpc>
                <a:spcPct val="110000"/>
              </a:lnSpc>
              <a:spcAft>
                <a:spcPts val="0"/>
              </a:spcAft>
            </a:pPr>
            <a:r>
              <a:rPr sz="1200" b="1">
                <a:solidFill>
                  <a:srgbClr val="1F285A"/>
                </a:solidFill>
                <a:latin typeface="メイリオ"/>
                <a:ea typeface="メイリオ"/>
                <a:cs typeface="メイリオ"/>
              </a:rPr>
              <a:t>会員登録</a:t>
            </a:r>
          </a:p>
        </p:txBody>
      </p:sp>
      <p:cxnSp>
        <p:nvCxnSpPr>
          <p:cNvPr id="30" name="Connector 29"/>
          <p:cNvCxnSpPr/>
          <p:nvPr/>
        </p:nvCxnSpPr>
        <p:spPr>
          <a:xfrm>
            <a:off x="2070000" y="5058000"/>
            <a:ext cx="324000" cy="0"/>
          </a:xfrm>
          <a:prstGeom prst="line">
            <a:avLst/>
          </a:prstGeom>
          <a:ln w="22225">
            <a:solidFill>
              <a:srgbClr val="1F285A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1" name="Oval 30"/>
          <p:cNvSpPr/>
          <p:nvPr/>
        </p:nvSpPr>
        <p:spPr>
          <a:xfrm>
            <a:off x="2448000" y="4698000"/>
            <a:ext cx="720000" cy="720000"/>
          </a:xfrm>
          <a:prstGeom prst="ellipse">
            <a:avLst/>
          </a:prstGeom>
          <a:solidFill>
            <a:srgbClr val="06C75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/>
          <a:lstStyle/>
          <a:p>
            <a:pPr algn="ctr">
              <a:lnSpc>
                <a:spcPct val="110000"/>
              </a:lnSpc>
              <a:spcAft>
                <a:spcPts val="0"/>
              </a:spcAft>
            </a:pPr>
            <a:r>
              <a:rPr sz="1200" b="1">
                <a:solidFill>
                  <a:srgbClr val="FFFFFF"/>
                </a:solidFill>
                <a:latin typeface="メイリオ"/>
                <a:ea typeface="メイリオ"/>
                <a:cs typeface="メイリオ"/>
              </a:rPr>
              <a:t>LINE</a:t>
            </a:r>
          </a:p>
        </p:txBody>
      </p:sp>
      <p:cxnSp>
        <p:nvCxnSpPr>
          <p:cNvPr id="32" name="Connector 31"/>
          <p:cNvCxnSpPr/>
          <p:nvPr/>
        </p:nvCxnSpPr>
        <p:spPr>
          <a:xfrm>
            <a:off x="3221999" y="5058000"/>
            <a:ext cx="832169" cy="0"/>
          </a:xfrm>
          <a:prstGeom prst="line">
            <a:avLst/>
          </a:prstGeom>
          <a:ln w="22225">
            <a:solidFill>
              <a:srgbClr val="1F285A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3" name="TextBox 32"/>
          <p:cNvSpPr txBox="1"/>
          <p:nvPr/>
        </p:nvSpPr>
        <p:spPr>
          <a:xfrm>
            <a:off x="792000" y="5580000"/>
            <a:ext cx="3244168" cy="216000"/>
          </a:xfrm>
          <a:prstGeom prst="rect">
            <a:avLst/>
          </a:prstGeom>
          <a:noFill/>
        </p:spPr>
        <p:txBody>
          <a:bodyPr wrap="square" lIns="36000" tIns="18000" rIns="36000" bIns="18000" anchor="t">
            <a:spAutoFit/>
          </a:bodyPr>
          <a:lstStyle/>
          <a:p>
            <a:pPr algn="l">
              <a:lnSpc>
                <a:spcPct val="110000"/>
              </a:lnSpc>
              <a:spcAft>
                <a:spcPts val="0"/>
              </a:spcAft>
            </a:pPr>
            <a:r>
              <a:rPr sz="950" b="0">
                <a:solidFill>
                  <a:srgbClr val="7F7F7F"/>
                </a:solidFill>
                <a:latin typeface="メイリオ"/>
                <a:ea typeface="メイリオ"/>
                <a:cs typeface="メイリオ"/>
              </a:rPr>
              <a:t>その後の配信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792000" y="5778000"/>
            <a:ext cx="3244168" cy="324000"/>
          </a:xfrm>
          <a:prstGeom prst="rect">
            <a:avLst/>
          </a:prstGeom>
          <a:noFill/>
        </p:spPr>
        <p:txBody>
          <a:bodyPr wrap="square" lIns="36000" tIns="18000" rIns="36000" bIns="18000" anchor="t">
            <a:spAutoFit/>
          </a:bodyPr>
          <a:lstStyle/>
          <a:p>
            <a:pPr algn="l">
              <a:lnSpc>
                <a:spcPct val="110000"/>
              </a:lnSpc>
              <a:spcAft>
                <a:spcPts val="0"/>
              </a:spcAft>
            </a:pPr>
            <a:r>
              <a:rPr sz="1100" b="1">
                <a:solidFill>
                  <a:srgbClr val="1F285A"/>
                </a:solidFill>
                <a:latin typeface="メイリオ"/>
                <a:ea typeface="メイリオ"/>
                <a:cs typeface="メイリオ"/>
              </a:rPr>
              <a:t>限定商品の案内／キャンペーン・クーポン</a:t>
            </a:r>
          </a:p>
        </p:txBody>
      </p:sp>
      <p:pic>
        <p:nvPicPr>
          <p:cNvPr id="35" name="Picture 34" descr="thanks_scene_4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9628168" y="4050000"/>
            <a:ext cx="1771831" cy="2214000"/>
          </a:xfrm>
          <a:prstGeom prst="rect">
            <a:avLst/>
          </a:prstGeom>
        </p:spPr>
      </p:pic>
      <p:sp>
        <p:nvSpPr>
          <p:cNvPr id="36" name="Oval 35"/>
          <p:cNvSpPr/>
          <p:nvPr/>
        </p:nvSpPr>
        <p:spPr>
          <a:xfrm>
            <a:off x="6312000" y="4140000"/>
            <a:ext cx="342000" cy="342000"/>
          </a:xfrm>
          <a:prstGeom prst="ellipse">
            <a:avLst/>
          </a:prstGeom>
          <a:solidFill>
            <a:srgbClr val="1F285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/>
          <a:lstStyle/>
          <a:p>
            <a:pPr algn="ctr">
              <a:lnSpc>
                <a:spcPct val="110000"/>
              </a:lnSpc>
              <a:spcAft>
                <a:spcPts val="0"/>
              </a:spcAft>
            </a:pPr>
            <a:r>
              <a:rPr sz="1200" b="1">
                <a:solidFill>
                  <a:srgbClr val="FFFFFF"/>
                </a:solidFill>
                <a:latin typeface="メイリオ"/>
                <a:ea typeface="メイリオ"/>
                <a:cs typeface="メイリオ"/>
              </a:rPr>
              <a:t>4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6744000" y="4104000"/>
            <a:ext cx="2520000" cy="413999"/>
          </a:xfrm>
          <a:prstGeom prst="rect">
            <a:avLst/>
          </a:prstGeom>
          <a:noFill/>
        </p:spPr>
        <p:txBody>
          <a:bodyPr wrap="square" lIns="36000" tIns="18000" rIns="36000" bIns="18000" anchor="ctr">
            <a:spAutoFit/>
          </a:bodyPr>
          <a:lstStyle/>
          <a:p>
            <a:pPr algn="l">
              <a:lnSpc>
                <a:spcPct val="110000"/>
              </a:lnSpc>
              <a:spcAft>
                <a:spcPts val="0"/>
              </a:spcAft>
            </a:pPr>
            <a:r>
              <a:rPr sz="1600" b="1">
                <a:solidFill>
                  <a:srgbClr val="1F285A"/>
                </a:solidFill>
                <a:latin typeface="メイリオ"/>
                <a:ea typeface="メイリオ"/>
                <a:cs typeface="メイリオ"/>
              </a:rPr>
              <a:t>ハウスメーカー</a:t>
            </a:r>
          </a:p>
        </p:txBody>
      </p:sp>
      <p:sp>
        <p:nvSpPr>
          <p:cNvPr id="38" name="Rounded Rectangle 37"/>
          <p:cNvSpPr/>
          <p:nvPr/>
        </p:nvSpPr>
        <p:spPr>
          <a:xfrm>
            <a:off x="6312000" y="4680000"/>
            <a:ext cx="1224000" cy="756000"/>
          </a:xfrm>
          <a:prstGeom prst="roundRect">
            <a:avLst>
              <a:gd name="adj" fmla="val 15000"/>
            </a:avLst>
          </a:prstGeom>
          <a:solidFill>
            <a:srgbClr val="E4E8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36000" tIns="0" rIns="36000" bIns="0" rtlCol="0" anchor="ctr"/>
          <a:lstStyle/>
          <a:p>
            <a:pPr algn="ctr">
              <a:lnSpc>
                <a:spcPct val="110000"/>
              </a:lnSpc>
              <a:spcAft>
                <a:spcPts val="0"/>
              </a:spcAft>
            </a:pPr>
            <a:r>
              <a:rPr sz="1200" b="1">
                <a:solidFill>
                  <a:srgbClr val="1F285A"/>
                </a:solidFill>
                <a:latin typeface="メイリオ"/>
                <a:ea typeface="メイリオ"/>
                <a:cs typeface="メイリオ"/>
              </a:rPr>
              <a:t>資料請求・</a:t>
            </a:r>
          </a:p>
          <a:p>
            <a:pPr algn="ctr">
              <a:lnSpc>
                <a:spcPct val="110000"/>
              </a:lnSpc>
              <a:spcAft>
                <a:spcPts val="0"/>
              </a:spcAft>
            </a:pPr>
            <a:r>
              <a:rPr sz="1200" b="1">
                <a:solidFill>
                  <a:srgbClr val="1F285A"/>
                </a:solidFill>
                <a:latin typeface="メイリオ"/>
                <a:ea typeface="メイリオ"/>
                <a:cs typeface="メイリオ"/>
              </a:rPr>
              <a:t>来場予約</a:t>
            </a:r>
          </a:p>
        </p:txBody>
      </p:sp>
      <p:cxnSp>
        <p:nvCxnSpPr>
          <p:cNvPr id="39" name="Connector 38"/>
          <p:cNvCxnSpPr/>
          <p:nvPr/>
        </p:nvCxnSpPr>
        <p:spPr>
          <a:xfrm>
            <a:off x="7590000" y="5058000"/>
            <a:ext cx="324000" cy="0"/>
          </a:xfrm>
          <a:prstGeom prst="line">
            <a:avLst/>
          </a:prstGeom>
          <a:ln w="22225">
            <a:solidFill>
              <a:srgbClr val="1F285A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0" name="Oval 39"/>
          <p:cNvSpPr/>
          <p:nvPr/>
        </p:nvSpPr>
        <p:spPr>
          <a:xfrm>
            <a:off x="7968000" y="4698000"/>
            <a:ext cx="720000" cy="720000"/>
          </a:xfrm>
          <a:prstGeom prst="ellipse">
            <a:avLst/>
          </a:prstGeom>
          <a:solidFill>
            <a:srgbClr val="06C75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/>
          <a:lstStyle/>
          <a:p>
            <a:pPr algn="ctr">
              <a:lnSpc>
                <a:spcPct val="110000"/>
              </a:lnSpc>
              <a:spcAft>
                <a:spcPts val="0"/>
              </a:spcAft>
            </a:pPr>
            <a:r>
              <a:rPr sz="1200" b="1">
                <a:solidFill>
                  <a:srgbClr val="FFFFFF"/>
                </a:solidFill>
                <a:latin typeface="メイリオ"/>
                <a:ea typeface="メイリオ"/>
                <a:cs typeface="メイリオ"/>
              </a:rPr>
              <a:t>LINE</a:t>
            </a:r>
          </a:p>
        </p:txBody>
      </p:sp>
      <p:cxnSp>
        <p:nvCxnSpPr>
          <p:cNvPr id="41" name="Connector 40"/>
          <p:cNvCxnSpPr/>
          <p:nvPr/>
        </p:nvCxnSpPr>
        <p:spPr>
          <a:xfrm>
            <a:off x="8742000" y="5058000"/>
            <a:ext cx="832168" cy="0"/>
          </a:xfrm>
          <a:prstGeom prst="line">
            <a:avLst/>
          </a:prstGeom>
          <a:ln w="22225">
            <a:solidFill>
              <a:srgbClr val="1F285A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2" name="TextBox 41"/>
          <p:cNvSpPr txBox="1"/>
          <p:nvPr/>
        </p:nvSpPr>
        <p:spPr>
          <a:xfrm>
            <a:off x="6312000" y="5580000"/>
            <a:ext cx="3244168" cy="216000"/>
          </a:xfrm>
          <a:prstGeom prst="rect">
            <a:avLst/>
          </a:prstGeom>
          <a:noFill/>
        </p:spPr>
        <p:txBody>
          <a:bodyPr wrap="square" lIns="36000" tIns="18000" rIns="36000" bIns="18000" anchor="t">
            <a:spAutoFit/>
          </a:bodyPr>
          <a:lstStyle/>
          <a:p>
            <a:pPr algn="l">
              <a:lnSpc>
                <a:spcPct val="110000"/>
              </a:lnSpc>
              <a:spcAft>
                <a:spcPts val="0"/>
              </a:spcAft>
            </a:pPr>
            <a:r>
              <a:rPr sz="950" b="0">
                <a:solidFill>
                  <a:srgbClr val="7F7F7F"/>
                </a:solidFill>
                <a:latin typeface="メイリオ"/>
                <a:ea typeface="メイリオ"/>
                <a:cs typeface="メイリオ"/>
              </a:rPr>
              <a:t>その後の配信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6312000" y="5778000"/>
            <a:ext cx="3244168" cy="324000"/>
          </a:xfrm>
          <a:prstGeom prst="rect">
            <a:avLst/>
          </a:prstGeom>
          <a:noFill/>
        </p:spPr>
        <p:txBody>
          <a:bodyPr wrap="square" lIns="36000" tIns="18000" rIns="36000" bIns="18000" anchor="t">
            <a:spAutoFit/>
          </a:bodyPr>
          <a:lstStyle/>
          <a:p>
            <a:pPr algn="l">
              <a:lnSpc>
                <a:spcPct val="110000"/>
              </a:lnSpc>
              <a:spcAft>
                <a:spcPts val="0"/>
              </a:spcAft>
            </a:pPr>
            <a:r>
              <a:rPr sz="1100" b="1">
                <a:solidFill>
                  <a:srgbClr val="1F285A"/>
                </a:solidFill>
                <a:latin typeface="メイリオ"/>
                <a:ea typeface="メイリオ"/>
                <a:cs typeface="メイリオ"/>
              </a:rPr>
              <a:t>見学会の案内／土地情報／個別相談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1"/>
          <p:cNvSpPr txBox="1"/>
          <p:nvPr/>
        </p:nvSpPr>
        <p:spPr>
          <a:xfrm>
            <a:off x="547200" y="136800"/>
            <a:ext cx="11070119" cy="338400"/>
          </a:xfrm>
          <a:prstGeom prst="rect">
            <a:avLst/>
          </a:prstGeom>
          <a:noFill/>
        </p:spPr>
        <p:txBody>
          <a:bodyPr wrap="square" lIns="0" tIns="21600" rIns="0" bIns="21600" anchor="ctr">
            <a:spAutoFit/>
          </a:bodyPr>
          <a:lstStyle/>
          <a:p>
            <a:pPr algn="l"/>
            <a:r>
              <a:rPr sz="1600" b="1">
                <a:solidFill>
                  <a:srgbClr val="002060"/>
                </a:solidFill>
                <a:latin typeface="メイリオ"/>
                <a:ea typeface="メイリオ"/>
                <a:cs typeface="メイリオ"/>
              </a:rPr>
              <a:t>DYMのコンサル支援内容・費用</a:t>
            </a:r>
          </a:p>
        </p:txBody>
      </p:sp>
      <p:sp>
        <p:nvSpPr>
          <p:cNvPr id="4" name="TextBox 2"/>
          <p:cNvSpPr txBox="1"/>
          <p:nvPr/>
        </p:nvSpPr>
        <p:spPr>
          <a:xfrm>
            <a:off x="793680" y="725334"/>
            <a:ext cx="11214119" cy="529332"/>
          </a:xfrm>
          <a:prstGeom prst="rect">
            <a:avLst/>
          </a:prstGeom>
          <a:noFill/>
        </p:spPr>
        <p:txBody>
          <a:bodyPr wrap="square" lIns="0" tIns="21600" rIns="0" bIns="21600" anchor="ctr">
            <a:spAutoFit/>
          </a:bodyPr>
          <a:lstStyle/>
          <a:p>
            <a:pPr algn="l">
              <a:lnSpc>
                <a:spcPct val="130000"/>
              </a:lnSpc>
            </a:pPr>
            <a:r>
              <a:rPr sz="1800" dirty="0" err="1">
                <a:solidFill>
                  <a:srgbClr val="333333"/>
                </a:solidFill>
                <a:latin typeface="メイリオ"/>
                <a:ea typeface="メイリオ"/>
                <a:cs typeface="メイリオ"/>
              </a:rPr>
              <a:t>ツール導入だけではなく、CPO改善に向けたLINE運用まで支援</a:t>
            </a:r>
            <a:endParaRPr sz="1250" dirty="0">
              <a:solidFill>
                <a:srgbClr val="333333"/>
              </a:solidFill>
              <a:latin typeface="メイリオ"/>
              <a:ea typeface="メイリオ"/>
              <a:cs typeface="メイリオ"/>
            </a:endParaRPr>
          </a:p>
        </p:txBody>
      </p:sp>
      <p:cxnSp>
        <p:nvCxnSpPr>
          <p:cNvPr id="5" name="Connector 3"/>
          <p:cNvCxnSpPr/>
          <p:nvPr/>
        </p:nvCxnSpPr>
        <p:spPr>
          <a:xfrm>
            <a:off x="0" y="1389600"/>
            <a:ext cx="12192119" cy="0"/>
          </a:xfrm>
          <a:prstGeom prst="line">
            <a:avLst/>
          </a:prstGeom>
          <a:ln w="12700">
            <a:solidFill>
              <a:srgbClr val="D9D9D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Pentagon 5"/>
          <p:cNvSpPr/>
          <p:nvPr/>
        </p:nvSpPr>
        <p:spPr>
          <a:xfrm>
            <a:off x="792000" y="1800000"/>
            <a:ext cx="2749500" cy="864000"/>
          </a:xfrm>
          <a:prstGeom prst="homePlate">
            <a:avLst>
              <a:gd name="adj" fmla="val 22000"/>
            </a:avLst>
          </a:prstGeom>
          <a:solidFill>
            <a:srgbClr val="06C75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72000" tIns="18000" rIns="72000" bIns="18000"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900000" y="1800000"/>
            <a:ext cx="2443500" cy="864000"/>
          </a:xfrm>
          <a:prstGeom prst="rect">
            <a:avLst/>
          </a:prstGeom>
          <a:noFill/>
        </p:spPr>
        <p:txBody>
          <a:bodyPr wrap="square" lIns="36000" tIns="18000" rIns="36000" bIns="18000" anchor="ctr">
            <a:spAutoFit/>
          </a:bodyPr>
          <a:lstStyle/>
          <a:p>
            <a:pPr algn="ctr">
              <a:lnSpc>
                <a:spcPct val="110000"/>
              </a:lnSpc>
              <a:spcAft>
                <a:spcPts val="0"/>
              </a:spcAft>
            </a:pPr>
            <a:r>
              <a:rPr sz="1350" b="1">
                <a:solidFill>
                  <a:srgbClr val="FFFFFF"/>
                </a:solidFill>
                <a:latin typeface="メイリオ"/>
                <a:ea typeface="メイリオ"/>
                <a:cs typeface="メイリオ"/>
              </a:rPr>
              <a:t>① サンクスLINE導入</a:t>
            </a:r>
          </a:p>
        </p:txBody>
      </p:sp>
      <p:sp>
        <p:nvSpPr>
          <p:cNvPr id="8" name="Chevron 7"/>
          <p:cNvSpPr/>
          <p:nvPr/>
        </p:nvSpPr>
        <p:spPr>
          <a:xfrm>
            <a:off x="3415500" y="1800000"/>
            <a:ext cx="2749500" cy="864000"/>
          </a:xfrm>
          <a:prstGeom prst="chevron">
            <a:avLst>
              <a:gd name="adj" fmla="val 22000"/>
            </a:avLst>
          </a:prstGeom>
          <a:solidFill>
            <a:srgbClr val="1F285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72000" tIns="18000" rIns="72000" bIns="18000"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3649500" y="1800000"/>
            <a:ext cx="2317500" cy="864000"/>
          </a:xfrm>
          <a:prstGeom prst="rect">
            <a:avLst/>
          </a:prstGeom>
          <a:noFill/>
        </p:spPr>
        <p:txBody>
          <a:bodyPr wrap="square" lIns="36000" tIns="18000" rIns="36000" bIns="18000" anchor="ctr">
            <a:spAutoFit/>
          </a:bodyPr>
          <a:lstStyle/>
          <a:p>
            <a:pPr algn="ctr">
              <a:lnSpc>
                <a:spcPct val="110000"/>
              </a:lnSpc>
              <a:spcAft>
                <a:spcPts val="0"/>
              </a:spcAft>
            </a:pPr>
            <a:r>
              <a:rPr sz="1350" b="1">
                <a:solidFill>
                  <a:srgbClr val="FFFFFF"/>
                </a:solidFill>
                <a:latin typeface="メイリオ"/>
                <a:ea typeface="メイリオ"/>
                <a:cs typeface="メイリオ"/>
              </a:rPr>
              <a:t>② LINE配信設計</a:t>
            </a:r>
          </a:p>
        </p:txBody>
      </p:sp>
      <p:sp>
        <p:nvSpPr>
          <p:cNvPr id="10" name="Chevron 9"/>
          <p:cNvSpPr/>
          <p:nvPr/>
        </p:nvSpPr>
        <p:spPr>
          <a:xfrm>
            <a:off x="6039000" y="1800000"/>
            <a:ext cx="2749500" cy="864000"/>
          </a:xfrm>
          <a:prstGeom prst="chevron">
            <a:avLst>
              <a:gd name="adj" fmla="val 22000"/>
            </a:avLst>
          </a:prstGeom>
          <a:solidFill>
            <a:srgbClr val="1F285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72000" tIns="18000" rIns="72000" bIns="18000"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6273000" y="1800000"/>
            <a:ext cx="2317500" cy="864000"/>
          </a:xfrm>
          <a:prstGeom prst="rect">
            <a:avLst/>
          </a:prstGeom>
          <a:noFill/>
        </p:spPr>
        <p:txBody>
          <a:bodyPr wrap="square" lIns="36000" tIns="18000" rIns="36000" bIns="18000" anchor="ctr">
            <a:spAutoFit/>
          </a:bodyPr>
          <a:lstStyle/>
          <a:p>
            <a:pPr algn="ctr">
              <a:lnSpc>
                <a:spcPct val="110000"/>
              </a:lnSpc>
              <a:spcAft>
                <a:spcPts val="0"/>
              </a:spcAft>
            </a:pPr>
            <a:r>
              <a:rPr sz="1350" b="1">
                <a:solidFill>
                  <a:srgbClr val="FFFFFF"/>
                </a:solidFill>
                <a:latin typeface="メイリオ"/>
                <a:ea typeface="メイリオ"/>
                <a:cs typeface="メイリオ"/>
              </a:rPr>
              <a:t>③ 効果計測</a:t>
            </a:r>
          </a:p>
        </p:txBody>
      </p:sp>
      <p:sp>
        <p:nvSpPr>
          <p:cNvPr id="12" name="Chevron 11"/>
          <p:cNvSpPr/>
          <p:nvPr/>
        </p:nvSpPr>
        <p:spPr>
          <a:xfrm>
            <a:off x="8662500" y="1800000"/>
            <a:ext cx="2749500" cy="864000"/>
          </a:xfrm>
          <a:prstGeom prst="chevron">
            <a:avLst>
              <a:gd name="adj" fmla="val 22000"/>
            </a:avLst>
          </a:prstGeom>
          <a:solidFill>
            <a:srgbClr val="1F285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72000" tIns="18000" rIns="72000" bIns="18000"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8896500" y="1800000"/>
            <a:ext cx="2317500" cy="864000"/>
          </a:xfrm>
          <a:prstGeom prst="rect">
            <a:avLst/>
          </a:prstGeom>
          <a:noFill/>
        </p:spPr>
        <p:txBody>
          <a:bodyPr wrap="square" lIns="36000" tIns="18000" rIns="36000" bIns="18000" anchor="ctr">
            <a:spAutoFit/>
          </a:bodyPr>
          <a:lstStyle/>
          <a:p>
            <a:pPr algn="ctr">
              <a:lnSpc>
                <a:spcPct val="110000"/>
              </a:lnSpc>
              <a:spcAft>
                <a:spcPts val="0"/>
              </a:spcAft>
            </a:pPr>
            <a:r>
              <a:rPr sz="1350" b="1">
                <a:solidFill>
                  <a:srgbClr val="FFFFFF"/>
                </a:solidFill>
                <a:latin typeface="メイリオ"/>
                <a:ea typeface="メイリオ"/>
                <a:cs typeface="メイリオ"/>
              </a:rPr>
              <a:t>④ 改善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936000" y="2844000"/>
            <a:ext cx="2389500" cy="288000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9525">
            <a:solidFill>
              <a:srgbClr val="D9D9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18000" tIns="0" rIns="18000" bIns="0" rtlCol="0" anchor="ctr"/>
          <a:lstStyle/>
          <a:p>
            <a:pPr algn="ctr">
              <a:lnSpc>
                <a:spcPct val="110000"/>
              </a:lnSpc>
              <a:spcAft>
                <a:spcPts val="0"/>
              </a:spcAft>
            </a:pPr>
            <a:r>
              <a:rPr sz="1050" b="1">
                <a:solidFill>
                  <a:srgbClr val="333333"/>
                </a:solidFill>
                <a:latin typeface="メイリオ"/>
                <a:ea typeface="メイリオ"/>
                <a:cs typeface="メイリオ"/>
              </a:rPr>
              <a:t>導線設計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936000" y="3186000"/>
            <a:ext cx="2389500" cy="288000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9525">
            <a:solidFill>
              <a:srgbClr val="D9D9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18000" tIns="0" rIns="18000" bIns="0" rtlCol="0" anchor="ctr"/>
          <a:lstStyle/>
          <a:p>
            <a:pPr algn="ctr">
              <a:lnSpc>
                <a:spcPct val="110000"/>
              </a:lnSpc>
              <a:spcAft>
                <a:spcPts val="0"/>
              </a:spcAft>
            </a:pPr>
            <a:r>
              <a:rPr sz="1050" b="1">
                <a:solidFill>
                  <a:srgbClr val="333333"/>
                </a:solidFill>
                <a:latin typeface="メイリオ"/>
                <a:ea typeface="メイリオ"/>
                <a:cs typeface="メイリオ"/>
              </a:rPr>
              <a:t>設定支援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3559500" y="2844000"/>
            <a:ext cx="2389500" cy="288000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9525">
            <a:solidFill>
              <a:srgbClr val="D9D9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18000" tIns="0" rIns="18000" bIns="0" rtlCol="0" anchor="ctr"/>
          <a:lstStyle/>
          <a:p>
            <a:pPr algn="ctr">
              <a:lnSpc>
                <a:spcPct val="110000"/>
              </a:lnSpc>
              <a:spcAft>
                <a:spcPts val="0"/>
              </a:spcAft>
            </a:pPr>
            <a:r>
              <a:rPr sz="1050" b="1">
                <a:solidFill>
                  <a:srgbClr val="333333"/>
                </a:solidFill>
                <a:latin typeface="メイリオ"/>
                <a:ea typeface="メイリオ"/>
                <a:cs typeface="メイリオ"/>
              </a:rPr>
              <a:t>あいさつメッセージ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3559500" y="3186000"/>
            <a:ext cx="2389500" cy="288000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9525">
            <a:solidFill>
              <a:srgbClr val="D9D9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18000" tIns="0" rIns="18000" bIns="0" rtlCol="0" anchor="ctr"/>
          <a:lstStyle/>
          <a:p>
            <a:pPr algn="ctr">
              <a:lnSpc>
                <a:spcPct val="110000"/>
              </a:lnSpc>
              <a:spcAft>
                <a:spcPts val="0"/>
              </a:spcAft>
            </a:pPr>
            <a:r>
              <a:rPr sz="1050" b="1">
                <a:solidFill>
                  <a:srgbClr val="333333"/>
                </a:solidFill>
                <a:latin typeface="メイリオ"/>
                <a:ea typeface="メイリオ"/>
                <a:cs typeface="メイリオ"/>
              </a:rPr>
              <a:t>ステップ配信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3559500" y="3528000"/>
            <a:ext cx="2389500" cy="288000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9525">
            <a:solidFill>
              <a:srgbClr val="D9D9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18000" tIns="0" rIns="18000" bIns="0" rtlCol="0" anchor="ctr"/>
          <a:lstStyle/>
          <a:p>
            <a:pPr algn="ctr">
              <a:lnSpc>
                <a:spcPct val="110000"/>
              </a:lnSpc>
              <a:spcAft>
                <a:spcPts val="0"/>
              </a:spcAft>
            </a:pPr>
            <a:r>
              <a:rPr sz="1050" b="1">
                <a:solidFill>
                  <a:srgbClr val="333333"/>
                </a:solidFill>
                <a:latin typeface="メイリオ"/>
                <a:ea typeface="メイリオ"/>
                <a:cs typeface="メイリオ"/>
              </a:rPr>
              <a:t>リマインド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3559500" y="3870000"/>
            <a:ext cx="2389500" cy="288000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9525">
            <a:solidFill>
              <a:srgbClr val="D9D9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18000" tIns="0" rIns="18000" bIns="0" rtlCol="0" anchor="ctr"/>
          <a:lstStyle/>
          <a:p>
            <a:pPr algn="ctr">
              <a:lnSpc>
                <a:spcPct val="110000"/>
              </a:lnSpc>
              <a:spcAft>
                <a:spcPts val="0"/>
              </a:spcAft>
            </a:pPr>
            <a:r>
              <a:rPr sz="1050" b="1">
                <a:solidFill>
                  <a:srgbClr val="333333"/>
                </a:solidFill>
                <a:latin typeface="メイリオ"/>
                <a:ea typeface="メイリオ"/>
                <a:cs typeface="メイリオ"/>
              </a:rPr>
              <a:t>セグメント配信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6183000" y="2844000"/>
            <a:ext cx="2389500" cy="288000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9525">
            <a:solidFill>
              <a:srgbClr val="D9D9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18000" tIns="0" rIns="18000" bIns="0" rtlCol="0" anchor="ctr"/>
          <a:lstStyle/>
          <a:p>
            <a:pPr algn="ctr">
              <a:lnSpc>
                <a:spcPct val="110000"/>
              </a:lnSpc>
              <a:spcAft>
                <a:spcPts val="0"/>
              </a:spcAft>
            </a:pPr>
            <a:r>
              <a:rPr sz="1050" b="1">
                <a:solidFill>
                  <a:srgbClr val="333333"/>
                </a:solidFill>
                <a:latin typeface="メイリオ"/>
                <a:ea typeface="メイリオ"/>
                <a:cs typeface="メイリオ"/>
              </a:rPr>
              <a:t>友だち追加数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6183000" y="3186000"/>
            <a:ext cx="2389500" cy="288000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9525">
            <a:solidFill>
              <a:srgbClr val="D9D9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18000" tIns="0" rIns="18000" bIns="0" rtlCol="0" anchor="ctr"/>
          <a:lstStyle/>
          <a:p>
            <a:pPr algn="ctr">
              <a:lnSpc>
                <a:spcPct val="110000"/>
              </a:lnSpc>
              <a:spcAft>
                <a:spcPts val="0"/>
              </a:spcAft>
            </a:pPr>
            <a:r>
              <a:rPr sz="1050" b="1">
                <a:solidFill>
                  <a:srgbClr val="333333"/>
                </a:solidFill>
                <a:latin typeface="メイリオ"/>
                <a:ea typeface="メイリオ"/>
                <a:cs typeface="メイリオ"/>
              </a:rPr>
              <a:t>LINE経由CV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6183000" y="3528000"/>
            <a:ext cx="2389500" cy="288000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9525">
            <a:solidFill>
              <a:srgbClr val="D9D9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18000" tIns="0" rIns="18000" bIns="0" rtlCol="0" anchor="ctr"/>
          <a:lstStyle/>
          <a:p>
            <a:pPr algn="ctr">
              <a:lnSpc>
                <a:spcPct val="110000"/>
              </a:lnSpc>
              <a:spcAft>
                <a:spcPts val="0"/>
              </a:spcAft>
            </a:pPr>
            <a:r>
              <a:rPr sz="1050" b="1">
                <a:solidFill>
                  <a:srgbClr val="333333"/>
                </a:solidFill>
                <a:latin typeface="メイリオ"/>
                <a:ea typeface="メイリオ"/>
                <a:cs typeface="メイリオ"/>
              </a:rPr>
              <a:t>来店・面談・購入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8806500" y="2844000"/>
            <a:ext cx="2389500" cy="288000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9525">
            <a:solidFill>
              <a:srgbClr val="D9D9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18000" tIns="0" rIns="18000" bIns="0" rtlCol="0" anchor="ctr"/>
          <a:lstStyle/>
          <a:p>
            <a:pPr algn="ctr">
              <a:lnSpc>
                <a:spcPct val="110000"/>
              </a:lnSpc>
              <a:spcAft>
                <a:spcPts val="0"/>
              </a:spcAft>
            </a:pPr>
            <a:r>
              <a:rPr sz="1050" b="1">
                <a:solidFill>
                  <a:srgbClr val="333333"/>
                </a:solidFill>
                <a:latin typeface="メイリオ"/>
                <a:ea typeface="メイリオ"/>
                <a:cs typeface="メイリオ"/>
              </a:rPr>
              <a:t>配信内容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8806500" y="3186000"/>
            <a:ext cx="2389500" cy="288000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9525">
            <a:solidFill>
              <a:srgbClr val="D9D9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18000" tIns="0" rIns="18000" bIns="0" rtlCol="0" anchor="ctr"/>
          <a:lstStyle/>
          <a:p>
            <a:pPr algn="ctr">
              <a:lnSpc>
                <a:spcPct val="110000"/>
              </a:lnSpc>
              <a:spcAft>
                <a:spcPts val="0"/>
              </a:spcAft>
            </a:pPr>
            <a:r>
              <a:rPr sz="1050" b="1">
                <a:solidFill>
                  <a:srgbClr val="333333"/>
                </a:solidFill>
                <a:latin typeface="メイリオ"/>
                <a:ea typeface="メイリオ"/>
                <a:cs typeface="メイリオ"/>
              </a:rPr>
              <a:t>配信タイミング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8806500" y="3528000"/>
            <a:ext cx="2389500" cy="288000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9525">
            <a:solidFill>
              <a:srgbClr val="D9D9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18000" tIns="0" rIns="18000" bIns="0" rtlCol="0" anchor="ctr"/>
          <a:lstStyle/>
          <a:p>
            <a:pPr algn="ctr">
              <a:lnSpc>
                <a:spcPct val="110000"/>
              </a:lnSpc>
              <a:spcAft>
                <a:spcPts val="0"/>
              </a:spcAft>
            </a:pPr>
            <a:r>
              <a:rPr sz="1050" b="1">
                <a:solidFill>
                  <a:srgbClr val="333333"/>
                </a:solidFill>
                <a:latin typeface="メイリオ"/>
                <a:ea typeface="メイリオ"/>
                <a:cs typeface="メイリオ"/>
              </a:rPr>
              <a:t>導線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8806500" y="3870000"/>
            <a:ext cx="2389500" cy="288000"/>
          </a:xfrm>
          <a:prstGeom prst="rect">
            <a:avLst/>
          </a:prstGeom>
          <a:noFill/>
        </p:spPr>
        <p:txBody>
          <a:bodyPr wrap="square" lIns="36000" tIns="18000" rIns="36000" bIns="18000" anchor="ctr">
            <a:spAutoFit/>
          </a:bodyPr>
          <a:lstStyle/>
          <a:p>
            <a:pPr algn="ctr">
              <a:lnSpc>
                <a:spcPct val="110000"/>
              </a:lnSpc>
              <a:spcAft>
                <a:spcPts val="0"/>
              </a:spcAft>
            </a:pPr>
            <a:r>
              <a:rPr sz="1050" b="0">
                <a:solidFill>
                  <a:srgbClr val="7F7F7F"/>
                </a:solidFill>
                <a:latin typeface="メイリオ"/>
                <a:ea typeface="メイリオ"/>
                <a:cs typeface="メイリオ"/>
              </a:rPr>
              <a:t>を継続改善</a:t>
            </a:r>
          </a:p>
        </p:txBody>
      </p:sp>
      <p:cxnSp>
        <p:nvCxnSpPr>
          <p:cNvPr id="27" name="Connector 26"/>
          <p:cNvCxnSpPr/>
          <p:nvPr/>
        </p:nvCxnSpPr>
        <p:spPr>
          <a:xfrm>
            <a:off x="10001250" y="4212000"/>
            <a:ext cx="0" cy="251999"/>
          </a:xfrm>
          <a:prstGeom prst="line">
            <a:avLst/>
          </a:prstGeom>
          <a:ln w="19050">
            <a:solidFill>
              <a:srgbClr val="1F285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8" name="Connector 27"/>
          <p:cNvCxnSpPr/>
          <p:nvPr/>
        </p:nvCxnSpPr>
        <p:spPr>
          <a:xfrm>
            <a:off x="4754250" y="4463999"/>
            <a:ext cx="5247000" cy="0"/>
          </a:xfrm>
          <a:prstGeom prst="line">
            <a:avLst/>
          </a:prstGeom>
          <a:ln w="19050">
            <a:solidFill>
              <a:srgbClr val="1F285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9" name="Connector 28"/>
          <p:cNvCxnSpPr/>
          <p:nvPr/>
        </p:nvCxnSpPr>
        <p:spPr>
          <a:xfrm flipV="1">
            <a:off x="4754250" y="4230000"/>
            <a:ext cx="0" cy="233999"/>
          </a:xfrm>
          <a:prstGeom prst="line">
            <a:avLst/>
          </a:prstGeom>
          <a:ln w="19050">
            <a:solidFill>
              <a:srgbClr val="1F285A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0" name="TextBox 29"/>
          <p:cNvSpPr txBox="1"/>
          <p:nvPr/>
        </p:nvSpPr>
        <p:spPr>
          <a:xfrm>
            <a:off x="4862250" y="4482000"/>
            <a:ext cx="3600000" cy="216000"/>
          </a:xfrm>
          <a:prstGeom prst="rect">
            <a:avLst/>
          </a:prstGeom>
          <a:noFill/>
        </p:spPr>
        <p:txBody>
          <a:bodyPr wrap="square" lIns="36000" tIns="18000" rIns="36000" bIns="18000" anchor="ctr">
            <a:spAutoFit/>
          </a:bodyPr>
          <a:lstStyle/>
          <a:p>
            <a:pPr algn="l">
              <a:lnSpc>
                <a:spcPct val="110000"/>
              </a:lnSpc>
              <a:spcAft>
                <a:spcPts val="0"/>
              </a:spcAft>
            </a:pPr>
            <a:r>
              <a:rPr sz="1000" b="0">
                <a:solidFill>
                  <a:srgbClr val="7F7F7F"/>
                </a:solidFill>
                <a:latin typeface="メイリオ"/>
                <a:ea typeface="メイリオ"/>
                <a:cs typeface="メイリオ"/>
              </a:rPr>
              <a:t>計測結果をもとに、配信・導線を見直す</a:t>
            </a:r>
          </a:p>
        </p:txBody>
      </p:sp>
      <p:cxnSp>
        <p:nvCxnSpPr>
          <p:cNvPr id="31" name="Connector 30"/>
          <p:cNvCxnSpPr/>
          <p:nvPr/>
        </p:nvCxnSpPr>
        <p:spPr>
          <a:xfrm>
            <a:off x="792000" y="4878000"/>
            <a:ext cx="10620000" cy="0"/>
          </a:xfrm>
          <a:prstGeom prst="line">
            <a:avLst/>
          </a:prstGeom>
          <a:ln w="9525">
            <a:solidFill>
              <a:srgbClr val="D9D9D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2" name="Rectangle 31"/>
          <p:cNvSpPr/>
          <p:nvPr/>
        </p:nvSpPr>
        <p:spPr>
          <a:xfrm>
            <a:off x="792000" y="5029200"/>
            <a:ext cx="64800" cy="180000"/>
          </a:xfrm>
          <a:prstGeom prst="rect">
            <a:avLst/>
          </a:prstGeom>
          <a:solidFill>
            <a:srgbClr val="06C75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72000" tIns="18000" rIns="72000" bIns="18000" rtlCol="0" anchor="ctr"/>
          <a:lstStyle/>
          <a:p>
            <a:pPr algn="ctr"/>
            <a:endParaRPr/>
          </a:p>
        </p:txBody>
      </p:sp>
      <p:sp>
        <p:nvSpPr>
          <p:cNvPr id="33" name="TextBox 32"/>
          <p:cNvSpPr txBox="1"/>
          <p:nvPr/>
        </p:nvSpPr>
        <p:spPr>
          <a:xfrm>
            <a:off x="918000" y="4986000"/>
            <a:ext cx="5040000" cy="270000"/>
          </a:xfrm>
          <a:prstGeom prst="rect">
            <a:avLst/>
          </a:prstGeom>
          <a:noFill/>
        </p:spPr>
        <p:txBody>
          <a:bodyPr wrap="square" lIns="36000" tIns="18000" rIns="36000" bIns="18000" anchor="ctr">
            <a:spAutoFit/>
          </a:bodyPr>
          <a:lstStyle/>
          <a:p>
            <a:pPr algn="l">
              <a:lnSpc>
                <a:spcPct val="110000"/>
              </a:lnSpc>
              <a:spcAft>
                <a:spcPts val="0"/>
              </a:spcAft>
            </a:pPr>
            <a:r>
              <a:rPr sz="1150" b="1">
                <a:solidFill>
                  <a:srgbClr val="1F285A"/>
                </a:solidFill>
                <a:latin typeface="メイリオ"/>
                <a:ea typeface="メイリオ"/>
                <a:cs typeface="メイリオ"/>
              </a:rPr>
              <a:t>① サンクスLINE誘導ツール｜費用目安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792000" y="5292000"/>
            <a:ext cx="2583000" cy="486000"/>
          </a:xfrm>
          <a:prstGeom prst="rect">
            <a:avLst/>
          </a:prstGeom>
          <a:noFill/>
        </p:spPr>
        <p:txBody>
          <a:bodyPr wrap="square" lIns="36000" tIns="10800" rIns="36000" bIns="10800" anchor="ctr">
            <a:spAutoFit/>
          </a:bodyPr>
          <a:lstStyle/>
          <a:p>
            <a:pPr algn="ctr">
              <a:lnSpc>
                <a:spcPct val="105000"/>
              </a:lnSpc>
              <a:spcAft>
                <a:spcPts val="200"/>
              </a:spcAft>
            </a:pPr>
            <a:r>
              <a:rPr sz="950" b="0">
                <a:solidFill>
                  <a:srgbClr val="7F7F7F"/>
                </a:solidFill>
                <a:latin typeface="メイリオ"/>
                <a:ea typeface="メイリオ"/>
                <a:cs typeface="メイリオ"/>
              </a:rPr>
              <a:t>初期　</a:t>
            </a:r>
            <a:r>
              <a:rPr sz="1600" b="1">
                <a:solidFill>
                  <a:srgbClr val="1F285A"/>
                </a:solidFill>
                <a:latin typeface="メイリオ"/>
                <a:ea typeface="メイリオ"/>
                <a:cs typeface="メイリオ"/>
              </a:rPr>
              <a:t>15万円</a:t>
            </a:r>
          </a:p>
        </p:txBody>
      </p:sp>
      <p:cxnSp>
        <p:nvCxnSpPr>
          <p:cNvPr id="35" name="Connector 34"/>
          <p:cNvCxnSpPr/>
          <p:nvPr/>
        </p:nvCxnSpPr>
        <p:spPr>
          <a:xfrm>
            <a:off x="3375000" y="5364000"/>
            <a:ext cx="0" cy="342000"/>
          </a:xfrm>
          <a:prstGeom prst="line">
            <a:avLst/>
          </a:prstGeom>
          <a:ln w="9525">
            <a:solidFill>
              <a:srgbClr val="D9D9D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6" name="TextBox 35"/>
          <p:cNvSpPr txBox="1"/>
          <p:nvPr/>
        </p:nvSpPr>
        <p:spPr>
          <a:xfrm>
            <a:off x="3375000" y="5292000"/>
            <a:ext cx="2583000" cy="486000"/>
          </a:xfrm>
          <a:prstGeom prst="rect">
            <a:avLst/>
          </a:prstGeom>
          <a:noFill/>
        </p:spPr>
        <p:txBody>
          <a:bodyPr wrap="square" lIns="36000" tIns="10800" rIns="36000" bIns="10800" anchor="ctr">
            <a:spAutoFit/>
          </a:bodyPr>
          <a:lstStyle/>
          <a:p>
            <a:pPr algn="ctr">
              <a:lnSpc>
                <a:spcPct val="105000"/>
              </a:lnSpc>
              <a:spcAft>
                <a:spcPts val="200"/>
              </a:spcAft>
            </a:pPr>
            <a:r>
              <a:rPr sz="950" b="0">
                <a:solidFill>
                  <a:srgbClr val="7F7F7F"/>
                </a:solidFill>
                <a:latin typeface="メイリオ"/>
                <a:ea typeface="メイリオ"/>
                <a:cs typeface="メイリオ"/>
              </a:rPr>
              <a:t>月額　</a:t>
            </a:r>
            <a:r>
              <a:rPr sz="1600" b="1">
                <a:solidFill>
                  <a:srgbClr val="1F285A"/>
                </a:solidFill>
                <a:latin typeface="メイリオ"/>
                <a:ea typeface="メイリオ"/>
                <a:cs typeface="メイリオ"/>
              </a:rPr>
              <a:t>3万円〜</a:t>
            </a:r>
          </a:p>
        </p:txBody>
      </p:sp>
      <p:sp>
        <p:nvSpPr>
          <p:cNvPr id="37" name="Rectangle 36"/>
          <p:cNvSpPr/>
          <p:nvPr/>
        </p:nvSpPr>
        <p:spPr>
          <a:xfrm>
            <a:off x="6246000" y="5029200"/>
            <a:ext cx="64800" cy="180000"/>
          </a:xfrm>
          <a:prstGeom prst="rect">
            <a:avLst/>
          </a:prstGeom>
          <a:solidFill>
            <a:srgbClr val="1F285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72000" tIns="18000" rIns="72000" bIns="18000" rtlCol="0" anchor="ctr"/>
          <a:lstStyle/>
          <a:p>
            <a:pPr algn="ctr"/>
            <a:endParaRPr/>
          </a:p>
        </p:txBody>
      </p:sp>
      <p:sp>
        <p:nvSpPr>
          <p:cNvPr id="38" name="TextBox 37"/>
          <p:cNvSpPr txBox="1"/>
          <p:nvPr/>
        </p:nvSpPr>
        <p:spPr>
          <a:xfrm>
            <a:off x="6372000" y="4986000"/>
            <a:ext cx="5040000" cy="270000"/>
          </a:xfrm>
          <a:prstGeom prst="rect">
            <a:avLst/>
          </a:prstGeom>
          <a:noFill/>
        </p:spPr>
        <p:txBody>
          <a:bodyPr wrap="square" lIns="36000" tIns="18000" rIns="36000" bIns="18000" anchor="ctr">
            <a:spAutoFit/>
          </a:bodyPr>
          <a:lstStyle/>
          <a:p>
            <a:pPr algn="l">
              <a:lnSpc>
                <a:spcPct val="110000"/>
              </a:lnSpc>
              <a:spcAft>
                <a:spcPts val="0"/>
              </a:spcAft>
            </a:pPr>
            <a:r>
              <a:rPr sz="1150" b="1">
                <a:solidFill>
                  <a:srgbClr val="1F285A"/>
                </a:solidFill>
                <a:latin typeface="メイリオ"/>
                <a:ea typeface="メイリオ"/>
                <a:cs typeface="メイリオ"/>
              </a:rPr>
              <a:t>② LINE運用コンサル｜費用目安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6246000" y="5292000"/>
            <a:ext cx="1722000" cy="486000"/>
          </a:xfrm>
          <a:prstGeom prst="rect">
            <a:avLst/>
          </a:prstGeom>
          <a:noFill/>
        </p:spPr>
        <p:txBody>
          <a:bodyPr wrap="square" lIns="36000" tIns="10800" rIns="36000" bIns="10800" anchor="ctr">
            <a:spAutoFit/>
          </a:bodyPr>
          <a:lstStyle/>
          <a:p>
            <a:pPr algn="ctr">
              <a:lnSpc>
                <a:spcPct val="105000"/>
              </a:lnSpc>
              <a:spcAft>
                <a:spcPts val="200"/>
              </a:spcAft>
            </a:pPr>
            <a:r>
              <a:rPr sz="950" b="0">
                <a:solidFill>
                  <a:srgbClr val="7F7F7F"/>
                </a:solidFill>
                <a:latin typeface="メイリオ"/>
                <a:ea typeface="メイリオ"/>
                <a:cs typeface="メイリオ"/>
              </a:rPr>
              <a:t>初期　</a:t>
            </a:r>
            <a:r>
              <a:rPr sz="1600" b="1">
                <a:solidFill>
                  <a:srgbClr val="1F285A"/>
                </a:solidFill>
                <a:latin typeface="メイリオ"/>
                <a:ea typeface="メイリオ"/>
                <a:cs typeface="メイリオ"/>
              </a:rPr>
              <a:t>10万円〜</a:t>
            </a:r>
          </a:p>
        </p:txBody>
      </p:sp>
      <p:cxnSp>
        <p:nvCxnSpPr>
          <p:cNvPr id="40" name="Connector 39"/>
          <p:cNvCxnSpPr/>
          <p:nvPr/>
        </p:nvCxnSpPr>
        <p:spPr>
          <a:xfrm>
            <a:off x="7968000" y="5364000"/>
            <a:ext cx="0" cy="342000"/>
          </a:xfrm>
          <a:prstGeom prst="line">
            <a:avLst/>
          </a:prstGeom>
          <a:ln w="9525">
            <a:solidFill>
              <a:srgbClr val="D9D9D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1" name="TextBox 40"/>
          <p:cNvSpPr txBox="1"/>
          <p:nvPr/>
        </p:nvSpPr>
        <p:spPr>
          <a:xfrm>
            <a:off x="7968000" y="5292000"/>
            <a:ext cx="1722000" cy="486000"/>
          </a:xfrm>
          <a:prstGeom prst="rect">
            <a:avLst/>
          </a:prstGeom>
          <a:noFill/>
        </p:spPr>
        <p:txBody>
          <a:bodyPr wrap="square" lIns="36000" tIns="10800" rIns="36000" bIns="10800" anchor="ctr">
            <a:spAutoFit/>
          </a:bodyPr>
          <a:lstStyle/>
          <a:p>
            <a:pPr algn="ctr">
              <a:lnSpc>
                <a:spcPct val="105000"/>
              </a:lnSpc>
              <a:spcAft>
                <a:spcPts val="200"/>
              </a:spcAft>
            </a:pPr>
            <a:r>
              <a:rPr sz="950" b="0">
                <a:solidFill>
                  <a:srgbClr val="7F7F7F"/>
                </a:solidFill>
                <a:latin typeface="メイリオ"/>
                <a:ea typeface="メイリオ"/>
                <a:cs typeface="メイリオ"/>
              </a:rPr>
              <a:t>月額　</a:t>
            </a:r>
            <a:r>
              <a:rPr sz="1600" b="1">
                <a:solidFill>
                  <a:srgbClr val="1F285A"/>
                </a:solidFill>
                <a:latin typeface="メイリオ"/>
                <a:ea typeface="メイリオ"/>
                <a:cs typeface="メイリオ"/>
              </a:rPr>
              <a:t>20万円〜</a:t>
            </a:r>
          </a:p>
        </p:txBody>
      </p:sp>
      <p:cxnSp>
        <p:nvCxnSpPr>
          <p:cNvPr id="42" name="Connector 41"/>
          <p:cNvCxnSpPr/>
          <p:nvPr/>
        </p:nvCxnSpPr>
        <p:spPr>
          <a:xfrm>
            <a:off x="9690000" y="5364000"/>
            <a:ext cx="0" cy="342000"/>
          </a:xfrm>
          <a:prstGeom prst="line">
            <a:avLst/>
          </a:prstGeom>
          <a:ln w="9525">
            <a:solidFill>
              <a:srgbClr val="D9D9D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3" name="TextBox 42"/>
          <p:cNvSpPr txBox="1"/>
          <p:nvPr/>
        </p:nvSpPr>
        <p:spPr>
          <a:xfrm>
            <a:off x="9690000" y="5292000"/>
            <a:ext cx="1722000" cy="486000"/>
          </a:xfrm>
          <a:prstGeom prst="rect">
            <a:avLst/>
          </a:prstGeom>
          <a:noFill/>
        </p:spPr>
        <p:txBody>
          <a:bodyPr wrap="square" lIns="36000" tIns="10800" rIns="36000" bIns="10800" anchor="ctr">
            <a:spAutoFit/>
          </a:bodyPr>
          <a:lstStyle/>
          <a:p>
            <a:pPr algn="ctr">
              <a:lnSpc>
                <a:spcPct val="105000"/>
              </a:lnSpc>
              <a:spcAft>
                <a:spcPts val="200"/>
              </a:spcAft>
            </a:pPr>
            <a:r>
              <a:rPr sz="950" b="0">
                <a:solidFill>
                  <a:srgbClr val="7F7F7F"/>
                </a:solidFill>
                <a:latin typeface="メイリオ"/>
                <a:ea typeface="メイリオ"/>
                <a:cs typeface="メイリオ"/>
              </a:rPr>
              <a:t>期間　</a:t>
            </a:r>
            <a:r>
              <a:rPr sz="1600" b="1">
                <a:solidFill>
                  <a:srgbClr val="1F285A"/>
                </a:solidFill>
                <a:latin typeface="メイリオ"/>
                <a:ea typeface="メイリオ"/>
                <a:cs typeface="メイリオ"/>
              </a:rPr>
              <a:t>6か月〜</a:t>
            </a:r>
          </a:p>
        </p:txBody>
      </p:sp>
      <p:cxnSp>
        <p:nvCxnSpPr>
          <p:cNvPr id="44" name="Connector 43"/>
          <p:cNvCxnSpPr/>
          <p:nvPr/>
        </p:nvCxnSpPr>
        <p:spPr>
          <a:xfrm>
            <a:off x="6102000" y="4986000"/>
            <a:ext cx="0" cy="792000"/>
          </a:xfrm>
          <a:prstGeom prst="line">
            <a:avLst/>
          </a:prstGeom>
          <a:ln w="9525">
            <a:solidFill>
              <a:srgbClr val="D9D9D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5" name="TextBox 44"/>
          <p:cNvSpPr txBox="1"/>
          <p:nvPr/>
        </p:nvSpPr>
        <p:spPr>
          <a:xfrm>
            <a:off x="792000" y="5814000"/>
            <a:ext cx="10620000" cy="198000"/>
          </a:xfrm>
          <a:prstGeom prst="rect">
            <a:avLst/>
          </a:prstGeom>
          <a:noFill/>
        </p:spPr>
        <p:txBody>
          <a:bodyPr wrap="square" lIns="36000" tIns="18000" rIns="36000" bIns="18000" anchor="t">
            <a:spAutoFit/>
          </a:bodyPr>
          <a:lstStyle/>
          <a:p>
            <a:pPr algn="l">
              <a:lnSpc>
                <a:spcPct val="110000"/>
              </a:lnSpc>
              <a:spcAft>
                <a:spcPts val="0"/>
              </a:spcAft>
            </a:pPr>
            <a:r>
              <a:rPr sz="900" b="0">
                <a:solidFill>
                  <a:srgbClr val="7F7F7F"/>
                </a:solidFill>
                <a:latin typeface="メイリオ"/>
                <a:ea typeface="メイリオ"/>
                <a:cs typeface="メイリオ"/>
              </a:rPr>
              <a:t>※施策内容・配信本数・連携範囲等により、費用は個別にお見積もりいたします。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テーマ1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テーマ1" id="{8EA1701B-0E00-4167-9612-575199E01EDB}" vid="{8EF6575E-BB77-44AE-AF00-801DE4CAFB82}"/>
    </a:ext>
  </a:extLst>
</a:theme>
</file>

<file path=ppt/theme/theme2.xml><?xml version="1.0" encoding="utf-8"?>
<a:theme xmlns:a="http://schemas.openxmlformats.org/drawingml/2006/main" name="DYMJAPAN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3.xml><?xml version="1.0" encoding="utf-8"?>
<a:theme xmlns:a="http://schemas.openxmlformats.org/drawingml/2006/main" name="Office テーマ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4.xml><?xml version="1.0" encoding="utf-8"?>
<a:theme xmlns:a="http://schemas.openxmlformats.org/drawingml/2006/main" name="Office テーマ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Default Theme</Template>
  <TotalTime>143329</TotalTime>
  <Words>380</Words>
  <Application>Microsoft Office PowerPoint</Application>
  <PresentationFormat>ワイド画面</PresentationFormat>
  <Paragraphs>121</Paragraphs>
  <Slides>5</Slides>
  <Notes>0</Notes>
  <HiddenSlides>0</HiddenSlides>
  <MMClips>0</MMClips>
  <ScaleCrop>false</ScaleCrop>
  <HeadingPairs>
    <vt:vector size="6" baseType="variant">
      <vt:variant>
        <vt:lpstr>使用されているフォント</vt:lpstr>
      </vt:variant>
      <vt:variant>
        <vt:i4>5</vt:i4>
      </vt:variant>
      <vt:variant>
        <vt:lpstr>テーマ</vt:lpstr>
      </vt:variant>
      <vt:variant>
        <vt:i4>2</vt:i4>
      </vt:variant>
      <vt:variant>
        <vt:lpstr>スライド タイトル</vt:lpstr>
      </vt:variant>
      <vt:variant>
        <vt:i4>5</vt:i4>
      </vt:variant>
    </vt:vector>
  </HeadingPairs>
  <TitlesOfParts>
    <vt:vector size="12" baseType="lpstr">
      <vt:lpstr>Meiryo</vt:lpstr>
      <vt:lpstr>Meiryo</vt:lpstr>
      <vt:lpstr>Arial</vt:lpstr>
      <vt:lpstr>Calibri</vt:lpstr>
      <vt:lpstr>Century Gothic</vt:lpstr>
      <vt:lpstr>テーマ1</vt:lpstr>
      <vt:lpstr>DYMJAPAN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プレゼンテーション</dc:title>
  <dc:creator>中村 駿</dc:creator>
  <cp:lastModifiedBy>殿村 亮太</cp:lastModifiedBy>
  <cp:revision>1970</cp:revision>
  <cp:lastPrinted>2022-11-01T11:38:14Z</cp:lastPrinted>
  <dcterms:created xsi:type="dcterms:W3CDTF">2015-09-04T09:21:15Z</dcterms:created>
  <dcterms:modified xsi:type="dcterms:W3CDTF">2026-10-07T02:44:56Z</dcterms:modified>
</cp:coreProperties>
</file>