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43" r:id="rId3"/>
    <p:sldId id="3044" r:id="rId4"/>
    <p:sldId id="3039" r:id="rId5"/>
    <p:sldId id="3041" r:id="rId6"/>
    <p:sldId id="3042" r:id="rId7"/>
  </p:sldIdLst>
  <p:sldSz cx="12192000" cy="6858000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450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12192119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7476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7474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12192119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9880719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広告と一緒にサンクスLINEを実施する理由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広告はCVまで、サンクスLINEはCVの後を担う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800000"/>
            <a:ext cx="1655999" cy="5742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CV獲得まで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8000" y="240552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AD領域</a:t>
            </a:r>
          </a:p>
        </p:txBody>
      </p:sp>
      <p:sp>
        <p:nvSpPr>
          <p:cNvPr id="8" name="Pentagon 7"/>
          <p:cNvSpPr/>
          <p:nvPr/>
        </p:nvSpPr>
        <p:spPr>
          <a:xfrm>
            <a:off x="2556000" y="1800000"/>
            <a:ext cx="1591807" cy="1044000"/>
          </a:xfrm>
          <a:prstGeom prst="homePlate">
            <a:avLst>
              <a:gd name="adj" fmla="val 22000"/>
            </a:avLst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64000" y="1800000"/>
            <a:ext cx="1285807" cy="104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10" name="Chevron 9"/>
          <p:cNvSpPr/>
          <p:nvPr/>
        </p:nvSpPr>
        <p:spPr>
          <a:xfrm>
            <a:off x="4021807" y="1800000"/>
            <a:ext cx="1591807" cy="1044000"/>
          </a:xfrm>
          <a:prstGeom prst="chevron">
            <a:avLst>
              <a:gd name="adj" fmla="val 22000"/>
            </a:avLst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5807" y="1800000"/>
            <a:ext cx="1159807" cy="104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LP</a:t>
            </a:r>
          </a:p>
        </p:txBody>
      </p:sp>
      <p:sp>
        <p:nvSpPr>
          <p:cNvPr id="12" name="Chevron 11"/>
          <p:cNvSpPr/>
          <p:nvPr/>
        </p:nvSpPr>
        <p:spPr>
          <a:xfrm>
            <a:off x="5487614" y="1800000"/>
            <a:ext cx="1830578" cy="1044000"/>
          </a:xfrm>
          <a:prstGeom prst="chevron">
            <a:avLst>
              <a:gd name="adj" fmla="val 22000"/>
            </a:avLst>
          </a:prstGeom>
          <a:solidFill>
            <a:srgbClr val="FEF0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21614" y="1800000"/>
            <a:ext cx="1398578" cy="104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離脱防止施策</a:t>
            </a:r>
          </a:p>
        </p:txBody>
      </p:sp>
      <p:sp>
        <p:nvSpPr>
          <p:cNvPr id="14" name="Chevron 13"/>
          <p:cNvSpPr/>
          <p:nvPr/>
        </p:nvSpPr>
        <p:spPr>
          <a:xfrm>
            <a:off x="7192192" y="1800000"/>
            <a:ext cx="1591807" cy="1044000"/>
          </a:xfrm>
          <a:prstGeom prst="chevron">
            <a:avLst>
              <a:gd name="adj" fmla="val 22000"/>
            </a:avLst>
          </a:prstGeom>
          <a:solidFill>
            <a:srgbClr val="F59B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26192" y="1800000"/>
            <a:ext cx="1159807" cy="104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6000" y="1800000"/>
            <a:ext cx="2195999" cy="1044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B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C46A00"/>
                </a:solidFill>
                <a:latin typeface="メイリオ"/>
                <a:ea typeface="メイリオ"/>
                <a:cs typeface="メイリオ"/>
              </a:rPr>
              <a:t>CPA改善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CV1件あたりの広告費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2880000"/>
            <a:ext cx="6227999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離脱しそうなユーザーを引き止め、CVの取りこぼしを減らす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2000" y="3438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92000" y="3708000"/>
            <a:ext cx="1655999" cy="5742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CV獲得後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8000" y="431352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LINE領域</a:t>
            </a:r>
          </a:p>
        </p:txBody>
      </p:sp>
      <p:sp>
        <p:nvSpPr>
          <p:cNvPr id="21" name="Pentagon 20"/>
          <p:cNvSpPr/>
          <p:nvPr/>
        </p:nvSpPr>
        <p:spPr>
          <a:xfrm>
            <a:off x="2556000" y="3708000"/>
            <a:ext cx="1124425" cy="1044000"/>
          </a:xfrm>
          <a:prstGeom prst="homePlate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64000" y="3708000"/>
            <a:ext cx="818425" cy="104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23" name="Chevron 22"/>
          <p:cNvSpPr/>
          <p:nvPr/>
        </p:nvSpPr>
        <p:spPr>
          <a:xfrm>
            <a:off x="3554425" y="3708000"/>
            <a:ext cx="1756914" cy="1044000"/>
          </a:xfrm>
          <a:prstGeom prst="chevron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88425" y="3708000"/>
            <a:ext cx="1324914" cy="104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sp>
        <p:nvSpPr>
          <p:cNvPr id="25" name="Chevron 24"/>
          <p:cNvSpPr/>
          <p:nvPr/>
        </p:nvSpPr>
        <p:spPr>
          <a:xfrm>
            <a:off x="5185340" y="3708000"/>
            <a:ext cx="1756914" cy="1044000"/>
          </a:xfrm>
          <a:prstGeom prst="chevron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19340" y="3708000"/>
            <a:ext cx="1324914" cy="104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LINEで継続フォロー</a:t>
            </a:r>
          </a:p>
        </p:txBody>
      </p:sp>
      <p:sp>
        <p:nvSpPr>
          <p:cNvPr id="27" name="Chevron 26"/>
          <p:cNvSpPr/>
          <p:nvPr/>
        </p:nvSpPr>
        <p:spPr>
          <a:xfrm>
            <a:off x="6816255" y="3708000"/>
            <a:ext cx="1967744" cy="104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0255" y="3708000"/>
            <a:ext cx="1535744" cy="104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16000" y="3708000"/>
            <a:ext cx="2195999" cy="104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CPO改善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9DCEA"/>
                </a:solidFill>
                <a:latin typeface="メイリオ"/>
                <a:ea typeface="メイリオ"/>
                <a:cs typeface="メイリオ"/>
              </a:rPr>
              <a:t>来店・面談・購入1件あたりの費用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5340" y="4788000"/>
            <a:ext cx="3598659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リマインド・情報提供で、CVの後の離脱を防ぐ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00" y="5544000"/>
            <a:ext cx="10620000" cy="503999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広告のCPA改善だけではなく、CV後まで含めて事業全体の獲得効率を改善する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11070119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サンクスLINE｜機能・費用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798527"/>
            <a:ext cx="11214119" cy="382946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フォーム送信後のLINE誘導を自動化するツール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92000" y="1980000"/>
            <a:ext cx="1477277" cy="251999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WEBフォーム</a:t>
            </a:r>
          </a:p>
        </p:txBody>
      </p:sp>
      <p:pic>
        <p:nvPicPr>
          <p:cNvPr id="7" name="Picture 6" descr="thanks_tool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304000"/>
            <a:ext cx="1477277" cy="201599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cxnSp>
        <p:nvCxnSpPr>
          <p:cNvPr id="8" name="Connector 7"/>
          <p:cNvCxnSpPr/>
          <p:nvPr/>
        </p:nvCxnSpPr>
        <p:spPr>
          <a:xfrm>
            <a:off x="2359277" y="3311999"/>
            <a:ext cx="324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73277" y="1980000"/>
            <a:ext cx="1133999" cy="251999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サンクス画面</a:t>
            </a:r>
          </a:p>
        </p:txBody>
      </p:sp>
      <p:pic>
        <p:nvPicPr>
          <p:cNvPr id="10" name="Picture 9" descr="thanks_tool_tha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277" y="2304000"/>
            <a:ext cx="1133999" cy="201599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827277" y="2422800"/>
            <a:ext cx="1025999" cy="16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WEBサイト名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4356000"/>
            <a:ext cx="1477277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入力・送信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3277" y="4356000"/>
            <a:ext cx="1133999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CV完了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61277" y="3311999"/>
            <a:ext cx="234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31277" y="2826000"/>
            <a:ext cx="2860722" cy="972000"/>
          </a:xfrm>
          <a:prstGeom prst="roundRect">
            <a:avLst>
              <a:gd name="adj" fmla="val 15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000" tIns="0" rIns="54000" bIns="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CV完了後 約2〜3秒で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LINEへ自動遷移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41638" y="3887999"/>
            <a:ext cx="1440000" cy="270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DYM開発ツール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46000" y="3311999"/>
            <a:ext cx="162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80000" y="1620000"/>
            <a:ext cx="4031999" cy="28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動作イメージ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88000" y="1980000"/>
            <a:ext cx="1800000" cy="251999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LINE未追加</a:t>
            </a:r>
          </a:p>
        </p:txBody>
      </p:sp>
      <p:pic>
        <p:nvPicPr>
          <p:cNvPr id="20" name="Picture 19" descr="thanks_tool_a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760" y="2304000"/>
            <a:ext cx="1134479" cy="201599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7892760" y="2790000"/>
            <a:ext cx="990479" cy="43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ロゴ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6760" y="3258000"/>
            <a:ext cx="1062479" cy="16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0000" y="4356000"/>
            <a:ext cx="2015999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友だち登録ページへ遷移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396000" y="1980000"/>
            <a:ext cx="0" cy="2628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504000" y="1980000"/>
            <a:ext cx="1800000" cy="251999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0" rIns="36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LINE追加済み</a:t>
            </a:r>
          </a:p>
        </p:txBody>
      </p:sp>
      <p:pic>
        <p:nvPicPr>
          <p:cNvPr id="26" name="Picture 25" descr="thanks_tool_ta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6760" y="2304000"/>
            <a:ext cx="1134479" cy="2015999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10052760" y="2383200"/>
            <a:ext cx="576000" cy="144000"/>
          </a:xfrm>
          <a:prstGeom prst="rect">
            <a:avLst/>
          </a:prstGeom>
          <a:noFill/>
        </p:spPr>
        <p:txBody>
          <a:bodyPr wrap="non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5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96000" y="4356000"/>
            <a:ext cx="2015999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トーク画面へ遷移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752000"/>
            <a:ext cx="10620000" cy="36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フォーム入力内容をLINEトーク入力画面へ引き継ぎ可能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5292000"/>
            <a:ext cx="792000" cy="57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84000" y="5292000"/>
            <a:ext cx="2304000" cy="57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584000" y="5292000"/>
            <a:ext cx="2304000" cy="57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 </a:t>
            </a: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15万円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96000" y="5292000"/>
            <a:ext cx="2736000" cy="57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96000" y="5292000"/>
            <a:ext cx="2736000" cy="576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 </a:t>
            </a: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3万円〜</a:t>
            </a: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　+設定地点追加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5999" y="5292000"/>
            <a:ext cx="4536000" cy="57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※既存APIツールとの併用についても、問題なく稼働が可能。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11070119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実例｜予約後の来院率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予約直後にLINEでつながり、前日のお知らせで来院につなげた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92000" y="1620000"/>
            <a:ext cx="3600000" cy="3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052000"/>
            <a:ext cx="273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2358000"/>
            <a:ext cx="273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600000" y="3600000"/>
            <a:ext cx="216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88000" y="2052000"/>
            <a:ext cx="4176000" cy="306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導入・活用方法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8000" y="2358000"/>
            <a:ext cx="4176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135999" y="3600000"/>
            <a:ext cx="2160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424000" y="2052000"/>
            <a:ext cx="2988000" cy="30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結果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24000" y="2358000"/>
            <a:ext cx="2988000" cy="27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000" y="2556000"/>
            <a:ext cx="2376000" cy="237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予約から来院日まで、接点がない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予約後に来院しない方が一定数いる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6000" y="2538000"/>
            <a:ext cx="3600000" cy="4185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予約完了画面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76000" y="2967300"/>
            <a:ext cx="0" cy="1943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176000" y="3172500"/>
            <a:ext cx="3600000" cy="4185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76000" y="36017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4176000" y="3806999"/>
            <a:ext cx="3600000" cy="418500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LINE友だち追加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76000" y="4236299"/>
            <a:ext cx="0" cy="1944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176000" y="4441500"/>
            <a:ext cx="3600000" cy="4185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予約確認・前日のお知らせをLINEで配信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4000" y="2520000"/>
            <a:ext cx="2988000" cy="3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24000" y="2916000"/>
            <a:ext cx="2988000" cy="122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24000" y="4140000"/>
            <a:ext cx="2988000" cy="432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000" y="5400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000" y="5472000"/>
            <a:ext cx="10620000" cy="2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参考｜LINEでつながった後の活用例（LINEヤフー公式の導入事例）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5706000"/>
            <a:ext cx="5202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観光バス：高速バスの予約後、乗車前日の案内をLINEで配信（琴平バス）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02000" y="5706000"/>
            <a:ext cx="5310000" cy="360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皮膚科クリニック：友だち追加後のステップ配信で、カウンセリング予約へ（アクネクリニック）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000" y="6120000"/>
            <a:ext cx="10620000" cy="1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※参考の2例はサンクスLINE誘導の成果ではなく、LINEでつながった後の活用例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ターゲット業界別｜サンクスLINE活用イメージ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CVの後にLINEで送る内容は、業界ごとに変わる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096000" y="1728000"/>
            <a:ext cx="0" cy="450000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92000" y="3978000"/>
            <a:ext cx="10608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thanks_scen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168" y="1692000"/>
            <a:ext cx="1771831" cy="2214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9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7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44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21999" y="2700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前日リマインド／求人紹介／選考のご案内</a:t>
            </a:r>
          </a:p>
        </p:txBody>
      </p:sp>
      <p:pic>
        <p:nvPicPr>
          <p:cNvPr id="17" name="Picture 16" descr="thanks_scen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8168" y="1692000"/>
            <a:ext cx="1771831" cy="221400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312000" y="1782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44000" y="1746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不動産投資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2000" y="2322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相談予約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90000" y="2700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968000" y="2340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2000" y="2700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12000" y="3221999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2000" y="3420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面談リマインド／セミナー案内／物件情報</a:t>
            </a:r>
          </a:p>
        </p:txBody>
      </p:sp>
      <p:pic>
        <p:nvPicPr>
          <p:cNvPr id="26" name="Picture 25" descr="thanks_sce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168" y="4050000"/>
            <a:ext cx="1771831" cy="2214000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79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ホビー（toC）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会員登録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07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44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221999" y="5058000"/>
            <a:ext cx="832169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限定商品の案内／キャンペーン・クーポン</a:t>
            </a:r>
          </a:p>
        </p:txBody>
      </p:sp>
      <p:pic>
        <p:nvPicPr>
          <p:cNvPr id="35" name="Picture 34" descr="thanks_sce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168" y="4050000"/>
            <a:ext cx="1771831" cy="221400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312000" y="4140000"/>
            <a:ext cx="342000" cy="342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44000" y="4104000"/>
            <a:ext cx="2520000" cy="413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ハウスメーカー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12000" y="4680000"/>
            <a:ext cx="1224000" cy="756000"/>
          </a:xfrm>
          <a:prstGeom prst="roundRect">
            <a:avLst>
              <a:gd name="adj" fmla="val 15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0" rIns="36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来場予約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590000" y="5058000"/>
            <a:ext cx="324000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968000" y="4698000"/>
            <a:ext cx="720000" cy="720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742000" y="5058000"/>
            <a:ext cx="832168" cy="0"/>
          </a:xfrm>
          <a:prstGeom prst="line">
            <a:avLst/>
          </a:prstGeom>
          <a:ln w="22225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312000" y="5580000"/>
            <a:ext cx="3244168" cy="216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その後の配信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2000" y="5778000"/>
            <a:ext cx="3244168" cy="324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見学会の案内／土地情報／個別相談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11070119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DYMのコンサル支援内容・費用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793680" y="725334"/>
            <a:ext cx="11214119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ツール導入だけではなく、CPO改善に向けたLINE運用まで支援</a:t>
            </a:r>
            <a:endParaRPr sz="12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1219211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792000" y="1800000"/>
            <a:ext cx="2749500" cy="864000"/>
          </a:xfrm>
          <a:prstGeom prst="homePlate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800000"/>
            <a:ext cx="2443500" cy="86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サンクスLINE導入</a:t>
            </a:r>
          </a:p>
        </p:txBody>
      </p:sp>
      <p:sp>
        <p:nvSpPr>
          <p:cNvPr id="8" name="Chevron 7"/>
          <p:cNvSpPr/>
          <p:nvPr/>
        </p:nvSpPr>
        <p:spPr>
          <a:xfrm>
            <a:off x="3415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9500" y="1800000"/>
            <a:ext cx="2317500" cy="86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LINE配信設計</a:t>
            </a:r>
          </a:p>
        </p:txBody>
      </p:sp>
      <p:sp>
        <p:nvSpPr>
          <p:cNvPr id="10" name="Chevron 9"/>
          <p:cNvSpPr/>
          <p:nvPr/>
        </p:nvSpPr>
        <p:spPr>
          <a:xfrm>
            <a:off x="60390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3000" y="1800000"/>
            <a:ext cx="2317500" cy="86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効果計測</a:t>
            </a:r>
          </a:p>
        </p:txBody>
      </p:sp>
      <p:sp>
        <p:nvSpPr>
          <p:cNvPr id="12" name="Chevron 11"/>
          <p:cNvSpPr/>
          <p:nvPr/>
        </p:nvSpPr>
        <p:spPr>
          <a:xfrm>
            <a:off x="8662500" y="1800000"/>
            <a:ext cx="2749500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96500" y="1800000"/>
            <a:ext cx="2317500" cy="864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改善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6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設定支援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59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59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9500" y="3870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30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30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LINE経由CV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30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6500" y="2844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06500" y="3186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配信タイミング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06500" y="3528000"/>
            <a:ext cx="2389500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0" rIns="1800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6500" y="3870000"/>
            <a:ext cx="2389500" cy="28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を継続改善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001250" y="4212000"/>
            <a:ext cx="0" cy="251999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754250" y="4463999"/>
            <a:ext cx="524700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54250" y="4230000"/>
            <a:ext cx="0" cy="2339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862250" y="4482000"/>
            <a:ext cx="3600000" cy="216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計測結果をもとに、配信・導線を見直す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2000" y="4932000"/>
            <a:ext cx="10620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92000" y="5040000"/>
            <a:ext cx="792000" cy="64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84000" y="5040000"/>
            <a:ext cx="2088000" cy="648000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サンクスLINE誘導ツール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8000" y="5040000"/>
            <a:ext cx="2681999" cy="64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ツール費用（初期・月額）※2枚目に記載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06000" y="5040000"/>
            <a:ext cx="2088000" cy="64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②〜④ LINE運用コンサル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0000" y="5040000"/>
            <a:ext cx="2681999" cy="6480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配信本数・範囲に応じて別途お見積もり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143272</TotalTime>
  <Words>400</Words>
  <Application>Microsoft Office PowerPoint</Application>
  <PresentationFormat>ワイド画面</PresentationFormat>
  <Paragraphs>148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2026-10-06T05:43:09Z</dcterms:modified>
</cp:coreProperties>
</file>