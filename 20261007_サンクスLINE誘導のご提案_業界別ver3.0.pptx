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4" r:id="rId1"/>
    <p:sldMasterId id="2147483687" r:id="rId2"/>
  </p:sldMasterIdLst>
  <p:notesMasterIdLst>
    <p:notesMasterId r:id="rId8"/>
  </p:notesMasterIdLst>
  <p:handoutMasterIdLst>
    <p:handoutMasterId r:id="rId9"/>
  </p:handoutMasterIdLst>
  <p:sldIdLst>
    <p:sldId id="3043" r:id="rId3"/>
    <p:sldId id="3008" r:id="rId4"/>
    <p:sldId id="3039" r:id="rId5"/>
    <p:sldId id="3041" r:id="rId6"/>
    <p:sldId id="3044" r:id="rId7"/>
  </p:sldIdLst>
  <p:sldSz cx="12192000" cy="6858000"/>
  <p:notesSz cx="6807200" cy="9939338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158" userDrawn="1">
          <p15:clr>
            <a:srgbClr val="A4A3A4"/>
          </p15:clr>
        </p15:guide>
        <p15:guide id="2" pos="30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4FA0A"/>
    <a:srgbClr val="173559"/>
    <a:srgbClr val="FDFDFD"/>
    <a:srgbClr val="2080FF"/>
    <a:srgbClr val="1D8DFF"/>
    <a:srgbClr val="515457"/>
    <a:srgbClr val="F6A454"/>
    <a:srgbClr val="EAEEF4"/>
    <a:srgbClr val="2D6CB9"/>
    <a:srgbClr val="D1D9E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中間スタイル 2 - アクセント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B301B821-A1FF-4177-AEE7-76D212191A09}" styleName="中間スタイル 1 - アクセント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69012ECD-51FC-41F1-AA8D-1B2483CD663E}" styleName="淡色スタイル 2 - アクセント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8157" autoAdjust="0"/>
    <p:restoredTop sz="94424" autoAdjust="0"/>
  </p:normalViewPr>
  <p:slideViewPr>
    <p:cSldViewPr snapToGrid="0">
      <p:cViewPr varScale="1">
        <p:scale>
          <a:sx n="74" d="100"/>
          <a:sy n="74" d="100"/>
        </p:scale>
        <p:origin x="256" y="44"/>
      </p:cViewPr>
      <p:guideLst>
        <p:guide orient="horz" pos="3158"/>
        <p:guide pos="308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3072"/>
    </p:cViewPr>
  </p:sorterViewPr>
  <p:notesViewPr>
    <p:cSldViewPr snapToGrid="0">
      <p:cViewPr varScale="1">
        <p:scale>
          <a:sx n="79" d="100"/>
          <a:sy n="79" d="100"/>
        </p:scale>
        <p:origin x="4014" y="102"/>
      </p:cViewPr>
      <p:guideLst/>
    </p:cSldViewPr>
  </p:notesViewPr>
  <p:gridSpacing cx="1080001" cy="1080001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notesMaster" Target="notesMasters/notesMaster1.xml"/><Relationship Id="rId9" Type="http://schemas.openxmlformats.org/officeDocument/2006/relationships/handoutMaster" Target="handoutMasters/handout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フッター プレースホルダー 3"/>
          <p:cNvSpPr>
            <a:spLocks noGrp="1"/>
          </p:cNvSpPr>
          <p:nvPr>
            <p:ph type="ftr" sz="quarter" idx="2"/>
          </p:nvPr>
        </p:nvSpPr>
        <p:spPr>
          <a:xfrm>
            <a:off x="0" y="9441662"/>
            <a:ext cx="2949420" cy="497676"/>
          </a:xfrm>
          <a:prstGeom prst="rect">
            <a:avLst/>
          </a:prstGeom>
        </p:spPr>
        <p:txBody>
          <a:bodyPr vert="horz" lIns="90561" tIns="45280" rIns="90561" bIns="4528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3"/>
          </p:nvPr>
        </p:nvSpPr>
        <p:spPr>
          <a:xfrm>
            <a:off x="3856210" y="9441662"/>
            <a:ext cx="2949420" cy="497676"/>
          </a:xfrm>
          <a:prstGeom prst="rect">
            <a:avLst/>
          </a:prstGeom>
        </p:spPr>
        <p:txBody>
          <a:bodyPr vert="horz" lIns="90561" tIns="45280" rIns="90561" bIns="45280" rtlCol="0" anchor="b"/>
          <a:lstStyle>
            <a:lvl1pPr algn="r">
              <a:defRPr sz="1200"/>
            </a:lvl1pPr>
          </a:lstStyle>
          <a:p>
            <a:fld id="{7B45B759-5475-4693-BFD4-53BF6401E48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5953079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1" y="2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55082" y="2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/>
          <a:lstStyle>
            <a:lvl1pPr algn="r">
              <a:defRPr sz="1200"/>
            </a:lvl1pPr>
          </a:lstStyle>
          <a:p>
            <a:fld id="{6AF8158D-F6B1-45E0-9831-E70689DC8490}" type="datetimeFigureOut">
              <a:rPr kumimoji="1" lang="ja-JP" altLang="en-US" smtClean="0"/>
              <a:t>2026/10/7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981075" y="1243013"/>
            <a:ext cx="4845050" cy="33543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529" tIns="45765" rIns="91529" bIns="45765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0402" y="4782901"/>
            <a:ext cx="5446396" cy="3913426"/>
          </a:xfrm>
          <a:prstGeom prst="rect">
            <a:avLst/>
          </a:prstGeom>
        </p:spPr>
        <p:txBody>
          <a:bodyPr vert="horz" lIns="91529" tIns="45765" rIns="91529" bIns="45765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1" y="9441817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55082" y="9441817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 anchor="b"/>
          <a:lstStyle>
            <a:lvl1pPr algn="r">
              <a:defRPr sz="1200"/>
            </a:lvl1pPr>
          </a:lstStyle>
          <a:p>
            <a:fld id="{022E43C0-6795-4B13-B37C-259C826D4B6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409189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/>
          <p:cNvSpPr/>
          <p:nvPr userDrawn="1"/>
        </p:nvSpPr>
        <p:spPr>
          <a:xfrm>
            <a:off x="9398000" y="6591300"/>
            <a:ext cx="419100" cy="266700"/>
          </a:xfrm>
          <a:prstGeom prst="rect">
            <a:avLst/>
          </a:prstGeom>
          <a:solidFill>
            <a:srgbClr val="191F5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58107768"/>
      </p:ext>
    </p:extLst>
  </p:cSld>
  <p:clrMapOvr>
    <a:masterClrMapping/>
  </p:clrMapOvr>
  <p:hf hd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4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直線コネクタ 4"/>
          <p:cNvCxnSpPr/>
          <p:nvPr/>
        </p:nvCxnSpPr>
        <p:spPr>
          <a:xfrm>
            <a:off x="0" y="548680"/>
            <a:ext cx="12192119" cy="0"/>
          </a:xfrm>
          <a:prstGeom prst="line">
            <a:avLst/>
          </a:prstGeom>
          <a:ln>
            <a:solidFill>
              <a:srgbClr val="191F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正方形/長方形 6"/>
          <p:cNvSpPr/>
          <p:nvPr/>
        </p:nvSpPr>
        <p:spPr>
          <a:xfrm>
            <a:off x="0" y="0"/>
            <a:ext cx="451204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58189266"/>
      </p:ext>
    </p:extLst>
  </p:cSld>
  <p:clrMapOvr>
    <a:masterClrMapping/>
  </p:clrMapOvr>
  <p:hf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8521234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Relationship Id="rId5" Type="http://schemas.openxmlformats.org/officeDocument/2006/relationships/image" Target="../media/image1.png"/><Relationship Id="rId6" Type="http://schemas.openxmlformats.org/officeDocument/2006/relationships/image" Target="../media/image2.pn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image" Target="../media/image3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37476" y="72255"/>
            <a:ext cx="1598627" cy="424153"/>
          </a:xfrm>
          <a:prstGeom prst="rect">
            <a:avLst/>
          </a:prstGeom>
        </p:spPr>
      </p:pic>
      <p:pic>
        <p:nvPicPr>
          <p:cNvPr id="5" name="図 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437474" y="32333"/>
            <a:ext cx="1653069" cy="635796"/>
          </a:xfrm>
          <a:prstGeom prst="rect">
            <a:avLst/>
          </a:prstGeom>
        </p:spPr>
      </p:pic>
      <p:sp>
        <p:nvSpPr>
          <p:cNvPr id="6" name="正方形/長方形 5"/>
          <p:cNvSpPr/>
          <p:nvPr/>
        </p:nvSpPr>
        <p:spPr>
          <a:xfrm>
            <a:off x="0" y="6552728"/>
            <a:ext cx="12192119" cy="332656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  <p:sp>
        <p:nvSpPr>
          <p:cNvPr id="8" name="スライド番号プレースホルダ 1"/>
          <p:cNvSpPr txBox="1">
            <a:spLocks/>
          </p:cNvSpPr>
          <p:nvPr/>
        </p:nvSpPr>
        <p:spPr>
          <a:xfrm>
            <a:off x="9880719" y="6552729"/>
            <a:ext cx="2311400" cy="365125"/>
          </a:xfrm>
          <a:prstGeom prst="rect">
            <a:avLst/>
          </a:prstGeom>
        </p:spPr>
        <p:txBody>
          <a:bodyPr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9FC100E3-15F5-4145-A942-47DB1D8B776D}" type="slidenum">
              <a:rPr lang="ja-JP" altLang="en-US" sz="1400" b="1" smtClean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pPr algn="r"/>
              <a:t>‹#›</a:t>
            </a:fld>
            <a:endParaRPr lang="ja-JP" altLang="en-US" sz="14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</p:txBody>
      </p:sp>
      <p:sp>
        <p:nvSpPr>
          <p:cNvPr id="9" name="テキスト ボックス 8"/>
          <p:cNvSpPr txBox="1">
            <a:spLocks noChangeArrowheads="1"/>
          </p:cNvSpPr>
          <p:nvPr userDrawn="1"/>
        </p:nvSpPr>
        <p:spPr bwMode="auto"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US" altLang="ja-JP" sz="8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Copyright(c) DYM Co., Ltd</a:t>
            </a:r>
            <a:r>
              <a:rPr lang="ja-JP" altLang="en-US" sz="800" b="1" dirty="0" err="1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．</a:t>
            </a:r>
            <a:r>
              <a:rPr lang="en-US" altLang="ja-JP" sz="8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3458703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6" r:id="rId1"/>
    <p:sldLayoutId id="2147483683" r:id="rId2"/>
    <p:sldLayoutId id="2147483689" r:id="rId3"/>
  </p:sldLayoutIdLst>
  <p:hf hdr="0" dt="0"/>
  <p:txStyles>
    <p:titleStyle>
      <a:lvl1pPr algn="ctr" rtl="0" eaLnBrk="1" fontAlgn="base" hangingPunct="1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4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</a:endParaRPr>
          </a:p>
        </p:txBody>
      </p:sp>
      <p:sp>
        <p:nvSpPr>
          <p:cNvPr id="10" name="テキスト ボックス 9"/>
          <p:cNvSpPr txBox="1">
            <a:spLocks noChangeArrowheads="1"/>
          </p:cNvSpPr>
          <p:nvPr/>
        </p:nvSpPr>
        <p:spPr bwMode="auto"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US" altLang="ja-JP" sz="800" b="1" dirty="0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Copyright(c) DYM Co., </a:t>
            </a:r>
            <a:r>
              <a:rPr lang="en-US" altLang="ja-JP" sz="800" b="1" dirty="0" err="1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Ltd.All</a:t>
            </a:r>
            <a:r>
              <a:rPr lang="en-US" altLang="ja-JP" sz="800" b="1" dirty="0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 Rights Reserved.</a:t>
            </a:r>
          </a:p>
        </p:txBody>
      </p:sp>
      <p:sp>
        <p:nvSpPr>
          <p:cNvPr id="8" name="正方形/長方形 7"/>
          <p:cNvSpPr/>
          <p:nvPr/>
        </p:nvSpPr>
        <p:spPr>
          <a:xfrm>
            <a:off x="0" y="0"/>
            <a:ext cx="416496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</a:endParaRPr>
          </a:p>
        </p:txBody>
      </p:sp>
      <p:cxnSp>
        <p:nvCxnSpPr>
          <p:cNvPr id="4" name="直線コネクタ 3"/>
          <p:cNvCxnSpPr/>
          <p:nvPr/>
        </p:nvCxnSpPr>
        <p:spPr>
          <a:xfrm>
            <a:off x="0" y="548680"/>
            <a:ext cx="9906000" cy="0"/>
          </a:xfrm>
          <a:prstGeom prst="line">
            <a:avLst/>
          </a:prstGeom>
          <a:ln>
            <a:solidFill>
              <a:srgbClr val="0032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" name="図 1"/>
          <p:cNvPicPr>
            <a:picLocks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647" r="-11171"/>
          <a:stretch/>
        </p:blipFill>
        <p:spPr bwMode="auto">
          <a:xfrm>
            <a:off x="8619408" y="161057"/>
            <a:ext cx="1192729" cy="26331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スライド番号プレースホルダ 1"/>
          <p:cNvSpPr txBox="1">
            <a:spLocks/>
          </p:cNvSpPr>
          <p:nvPr userDrawn="1"/>
        </p:nvSpPr>
        <p:spPr>
          <a:xfrm>
            <a:off x="7545288" y="6571255"/>
            <a:ext cx="2133600" cy="216000"/>
          </a:xfrm>
          <a:prstGeom prst="rect">
            <a:avLst/>
          </a:prstGeom>
        </p:spPr>
        <p:txBody>
          <a:bodyPr tIns="25200"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9FC100E3-15F5-4145-A942-47DB1D8B776D}" type="slidenum">
              <a:rPr lang="ja-JP" altLang="en-US" sz="1400" i="1" smtClean="0">
                <a:solidFill>
                  <a:prstClr val="white"/>
                </a:solidFill>
                <a:latin typeface="Century Gothic" panose="020B0502020202020204" pitchFamily="34" charset="0"/>
              </a:rPr>
              <a:pPr algn="r"/>
              <a:t>‹#›</a:t>
            </a:fld>
            <a:endParaRPr lang="ja-JP" altLang="en-US" sz="1400" i="1" dirty="0">
              <a:solidFill>
                <a:prstClr val="white"/>
              </a:solidFill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11138245"/>
      </p:ext>
    </p:extLst>
  </p:cSld>
  <p:clrMap bg1="lt1" tx1="dk1" bg2="lt2" tx2="dk2" accent1="accent1" accent2="accent2" accent3="accent3" accent4="accent4" accent5="accent5" accent6="accent6" hlink="hlink" folHlink="folHlink"/>
  <p:hf hdr="0" dt="0"/>
  <p:txStyles>
    <p:titleStyle>
      <a:lvl1pPr algn="ctr" defTabSz="457200" rtl="0" eaLnBrk="1" fontAlgn="base" hangingPunct="1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+mj-lt"/>
          <a:ea typeface="+mj-ea"/>
          <a:cs typeface="ＭＳ Ｐゴシック" charset="0"/>
        </a:defRPr>
      </a:lvl1pPr>
      <a:lvl2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2pPr>
      <a:lvl3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3pPr>
      <a:lvl4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4pPr>
      <a:lvl5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5pPr>
      <a:lvl6pPr marL="4572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6pPr>
      <a:lvl7pPr marL="9144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7pPr>
      <a:lvl8pPr marL="13716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8pPr>
      <a:lvl9pPr marL="18288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ＭＳ Ｐゴシック" charset="0"/>
        </a:defRPr>
      </a:lvl1pPr>
      <a:lvl2pPr marL="742950" indent="-28575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jpg"/><Relationship Id="rId3" Type="http://schemas.openxmlformats.org/officeDocument/2006/relationships/image" Target="../media/image5.jp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Relationship Id="rId7" Type="http://schemas.openxmlformats.org/officeDocument/2006/relationships/image" Target="../media/image9.jpg"/><Relationship Id="rId8" Type="http://schemas.openxmlformats.org/officeDocument/2006/relationships/image" Target="../media/image10.jpeg"/><Relationship Id="rId9" Type="http://schemas.openxmlformats.org/officeDocument/2006/relationships/image" Target="../media/image1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11070119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広告と一緒にサンクスLINEを実施する理由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92000" y="792000"/>
            <a:ext cx="5184000" cy="3564000"/>
          </a:xfrm>
          <a:prstGeom prst="roundRect">
            <a:avLst>
              <a:gd name="adj" fmla="val 4000"/>
            </a:avLst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80000" y="990000"/>
            <a:ext cx="1296000" cy="324000"/>
          </a:xfrm>
          <a:prstGeom prst="roundRect">
            <a:avLst>
              <a:gd name="adj" fmla="val 5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8000" tIns="0" rIns="18000" bIns="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CV獲得まで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48000" y="864000"/>
            <a:ext cx="3384000" cy="57600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施策全体の </a:t>
            </a:r>
            <a:r>
              <a:rPr sz="30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CPA</a:t>
            </a:r>
            <a:r>
              <a:rPr sz="19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 改善</a:t>
            </a:r>
          </a:p>
        </p:txBody>
      </p:sp>
      <p:sp>
        <p:nvSpPr>
          <p:cNvPr id="7" name="Rectangle 6"/>
          <p:cNvSpPr/>
          <p:nvPr/>
        </p:nvSpPr>
        <p:spPr>
          <a:xfrm>
            <a:off x="1260000" y="1548000"/>
            <a:ext cx="4248000" cy="413999"/>
          </a:xfrm>
          <a:prstGeom prst="rect">
            <a:avLst/>
          </a:prstGeom>
          <a:solidFill>
            <a:srgbClr val="DDE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36000" tIns="0" rIns="36000" bIns="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広告</a:t>
            </a:r>
          </a:p>
        </p:txBody>
      </p:sp>
      <p:sp>
        <p:nvSpPr>
          <p:cNvPr id="8" name="Isosceles Triangle 7"/>
          <p:cNvSpPr/>
          <p:nvPr/>
        </p:nvSpPr>
        <p:spPr>
          <a:xfrm rot="10800000">
            <a:off x="3304800" y="1998000"/>
            <a:ext cx="158400" cy="108000"/>
          </a:xfrm>
          <a:prstGeom prst="triangl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260000" y="2142000"/>
            <a:ext cx="4248000" cy="413999"/>
          </a:xfrm>
          <a:prstGeom prst="rect">
            <a:avLst/>
          </a:prstGeom>
          <a:solidFill>
            <a:srgbClr val="DDE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36000" tIns="0" rIns="36000" bIns="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LP</a:t>
            </a:r>
          </a:p>
        </p:txBody>
      </p:sp>
      <p:sp>
        <p:nvSpPr>
          <p:cNvPr id="10" name="Isosceles Triangle 9"/>
          <p:cNvSpPr/>
          <p:nvPr/>
        </p:nvSpPr>
        <p:spPr>
          <a:xfrm rot="10800000">
            <a:off x="3304800" y="2592000"/>
            <a:ext cx="158400" cy="108000"/>
          </a:xfrm>
          <a:prstGeom prst="triangl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260000" y="2736000"/>
            <a:ext cx="4248000" cy="413999"/>
          </a:xfrm>
          <a:prstGeom prst="rect">
            <a:avLst/>
          </a:prstGeom>
          <a:solidFill>
            <a:srgbClr val="DDE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36000" tIns="0" rIns="36000" bIns="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離脱防止 × 成果報酬施策</a:t>
            </a:r>
          </a:p>
        </p:txBody>
      </p:sp>
      <p:sp>
        <p:nvSpPr>
          <p:cNvPr id="12" name="Isosceles Triangle 11"/>
          <p:cNvSpPr/>
          <p:nvPr/>
        </p:nvSpPr>
        <p:spPr>
          <a:xfrm rot="10800000">
            <a:off x="3304800" y="3186000"/>
            <a:ext cx="158400" cy="108000"/>
          </a:xfrm>
          <a:prstGeom prst="triangl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260000" y="3330000"/>
            <a:ext cx="4248000" cy="413999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36000" tIns="0" rIns="36000" bIns="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CV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8000" y="3888000"/>
            <a:ext cx="4752000" cy="503999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CVの取りこぼしを減らし、獲得チャネルを増やすことで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施策全体のCPAを改善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28000" y="792000"/>
            <a:ext cx="5184000" cy="3564000"/>
          </a:xfrm>
          <a:prstGeom prst="roundRect">
            <a:avLst>
              <a:gd name="adj" fmla="val 4000"/>
            </a:avLst>
          </a:prstGeom>
          <a:solidFill>
            <a:srgbClr val="EEF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516000" y="990000"/>
            <a:ext cx="1296000" cy="324000"/>
          </a:xfrm>
          <a:prstGeom prst="roundRect">
            <a:avLst>
              <a:gd name="adj" fmla="val 50000"/>
            </a:avLst>
          </a:prstGeom>
          <a:solidFill>
            <a:srgbClr val="0E8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8000" tIns="0" rIns="18000" bIns="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CV獲得後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83999" y="864000"/>
            <a:ext cx="3384000" cy="57600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3000" b="1">
                <a:solidFill>
                  <a:srgbClr val="0E8A3F"/>
                </a:solidFill>
                <a:latin typeface="メイリオ"/>
                <a:ea typeface="メイリオ"/>
                <a:cs typeface="メイリオ"/>
              </a:rPr>
              <a:t>CPO</a:t>
            </a:r>
            <a:r>
              <a:rPr sz="1900" b="1">
                <a:solidFill>
                  <a:srgbClr val="0E8A3F"/>
                </a:solidFill>
                <a:latin typeface="メイリオ"/>
                <a:ea typeface="メイリオ"/>
                <a:cs typeface="メイリオ"/>
              </a:rPr>
              <a:t> の改善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696000" y="1548000"/>
            <a:ext cx="4248000" cy="413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36000" tIns="0" rIns="36000" bIns="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CV</a:t>
            </a:r>
          </a:p>
        </p:txBody>
      </p:sp>
      <p:sp>
        <p:nvSpPr>
          <p:cNvPr id="19" name="Isosceles Triangle 18"/>
          <p:cNvSpPr/>
          <p:nvPr/>
        </p:nvSpPr>
        <p:spPr>
          <a:xfrm rot="10800000">
            <a:off x="8740800" y="1998000"/>
            <a:ext cx="158400" cy="108000"/>
          </a:xfrm>
          <a:prstGeom prst="triangle">
            <a:avLst/>
          </a:prstGeom>
          <a:solidFill>
            <a:srgbClr val="0E8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696000" y="2142000"/>
            <a:ext cx="4248000" cy="413999"/>
          </a:xfrm>
          <a:prstGeom prst="rect">
            <a:avLst/>
          </a:prstGeom>
          <a:solidFill>
            <a:srgbClr val="E8F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36000" tIns="0" rIns="36000" bIns="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サンクスLINE誘導</a:t>
            </a:r>
          </a:p>
        </p:txBody>
      </p:sp>
      <p:sp>
        <p:nvSpPr>
          <p:cNvPr id="21" name="Isosceles Triangle 20"/>
          <p:cNvSpPr/>
          <p:nvPr/>
        </p:nvSpPr>
        <p:spPr>
          <a:xfrm rot="10800000">
            <a:off x="8740800" y="2592000"/>
            <a:ext cx="158400" cy="108000"/>
          </a:xfrm>
          <a:prstGeom prst="triangle">
            <a:avLst/>
          </a:prstGeom>
          <a:solidFill>
            <a:srgbClr val="0B7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696000" y="2736000"/>
            <a:ext cx="4248000" cy="413999"/>
          </a:xfrm>
          <a:prstGeom prst="rect">
            <a:avLst/>
          </a:prstGeom>
          <a:solidFill>
            <a:srgbClr val="E8F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36000" tIns="0" rIns="36000" bIns="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LINEでナーチャリング</a:t>
            </a:r>
          </a:p>
        </p:txBody>
      </p:sp>
      <p:sp>
        <p:nvSpPr>
          <p:cNvPr id="23" name="Isosceles Triangle 22"/>
          <p:cNvSpPr/>
          <p:nvPr/>
        </p:nvSpPr>
        <p:spPr>
          <a:xfrm rot="10800000">
            <a:off x="8740800" y="3186000"/>
            <a:ext cx="158400" cy="108000"/>
          </a:xfrm>
          <a:prstGeom prst="triangle">
            <a:avLst/>
          </a:prstGeom>
          <a:solidFill>
            <a:srgbClr val="0B7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696000" y="3330000"/>
            <a:ext cx="4248000" cy="413999"/>
          </a:xfrm>
          <a:prstGeom prst="rect">
            <a:avLst/>
          </a:prstGeom>
          <a:solidFill>
            <a:srgbClr val="0E8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36000" tIns="0" rIns="36000" bIns="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購入・契約などの最終成果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44000" y="3888000"/>
            <a:ext cx="4752000" cy="503999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CV後の歩留まりを改善し、CPOを改善</a:t>
            </a:r>
          </a:p>
        </p:txBody>
      </p:sp>
      <p:sp>
        <p:nvSpPr>
          <p:cNvPr id="26" name="Pentagon 25"/>
          <p:cNvSpPr/>
          <p:nvPr/>
        </p:nvSpPr>
        <p:spPr>
          <a:xfrm>
            <a:off x="792000" y="4536000"/>
            <a:ext cx="3612000" cy="684000"/>
          </a:xfrm>
          <a:prstGeom prst="homePlate">
            <a:avLst>
              <a:gd name="adj" fmla="val 22000"/>
            </a:avLst>
          </a:prstGeom>
          <a:solidFill>
            <a:srgbClr val="E8F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6000" y="4536000"/>
            <a:ext cx="3179999" cy="6840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14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CPOの改善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1件の最終成果あたりの広告費を抑えられる</a:t>
            </a:r>
          </a:p>
        </p:txBody>
      </p:sp>
      <p:sp>
        <p:nvSpPr>
          <p:cNvPr id="28" name="Chevron 27"/>
          <p:cNvSpPr/>
          <p:nvPr/>
        </p:nvSpPr>
        <p:spPr>
          <a:xfrm>
            <a:off x="4296000" y="4536000"/>
            <a:ext cx="3612000" cy="684000"/>
          </a:xfrm>
          <a:prstGeom prst="chevron">
            <a:avLst>
              <a:gd name="adj" fmla="val 22000"/>
            </a:avLst>
          </a:prstGeom>
          <a:solidFill>
            <a:srgbClr val="E4E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620000" y="4536000"/>
            <a:ext cx="2999999" cy="6840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14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許容CPAの引き上げ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1件の最終成果にかけられる広告費が増える</a:t>
            </a:r>
          </a:p>
        </p:txBody>
      </p:sp>
      <p:sp>
        <p:nvSpPr>
          <p:cNvPr id="30" name="Chevron 29"/>
          <p:cNvSpPr/>
          <p:nvPr/>
        </p:nvSpPr>
        <p:spPr>
          <a:xfrm>
            <a:off x="7799999" y="4536000"/>
            <a:ext cx="3612000" cy="684000"/>
          </a:xfrm>
          <a:prstGeom prst="chevron">
            <a:avLst>
              <a:gd name="adj" fmla="val 22000"/>
            </a:avLst>
          </a:prstGeom>
          <a:solidFill>
            <a:srgbClr val="E4E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123999" y="4536000"/>
            <a:ext cx="2999999" cy="6840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14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広告配信の拡大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入札・予算・配信対象を広げやすくなる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11232000" y="5256000"/>
            <a:ext cx="0" cy="162000"/>
          </a:xfrm>
          <a:prstGeom prst="line">
            <a:avLst/>
          </a:prstGeom>
          <a:ln w="19050">
            <a:solidFill>
              <a:srgbClr val="1F28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972000" y="5418000"/>
            <a:ext cx="10260000" cy="0"/>
          </a:xfrm>
          <a:prstGeom prst="line">
            <a:avLst/>
          </a:prstGeom>
          <a:ln w="19050">
            <a:solidFill>
              <a:srgbClr val="1F28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 flipV="1">
            <a:off x="972000" y="5263200"/>
            <a:ext cx="0" cy="154800"/>
          </a:xfrm>
          <a:prstGeom prst="line">
            <a:avLst/>
          </a:prstGeom>
          <a:ln w="1905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Rectangle 34"/>
          <p:cNvSpPr/>
          <p:nvPr/>
        </p:nvSpPr>
        <p:spPr>
          <a:xfrm>
            <a:off x="4121999" y="5292000"/>
            <a:ext cx="3960000" cy="251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さらに成果が増えれば、再投資して継続的に拡大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92000" y="5652000"/>
            <a:ext cx="10620000" cy="6120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92000" y="5652000"/>
            <a:ext cx="10620000" cy="61200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20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広告とあわせて実施することで、</a:t>
            </a:r>
            <a:r>
              <a:rPr sz="2000" b="1">
                <a:solidFill>
                  <a:srgbClr val="FFE400"/>
                </a:solidFill>
                <a:latin typeface="メイリオ"/>
                <a:ea typeface="メイリオ"/>
                <a:cs typeface="メイリオ"/>
              </a:rPr>
              <a:t>事業全体の効率化</a:t>
            </a:r>
            <a:r>
              <a:rPr sz="20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を図る。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752;p28">
            <a:extLst>
              <a:ext uri="{FF2B5EF4-FFF2-40B4-BE49-F238E27FC236}">
                <a16:creationId xmlns:a16="http://schemas.microsoft.com/office/drawing/2014/main" id="{AA80CD04-9456-70DB-2E44-D3EDB1461933}"/>
              </a:ext>
            </a:extLst>
          </p:cNvPr>
          <p:cNvSpPr txBox="1"/>
          <p:nvPr/>
        </p:nvSpPr>
        <p:spPr>
          <a:xfrm>
            <a:off x="1691884" y="138137"/>
            <a:ext cx="627632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ja-JP" altLang="en-US" sz="1600" b="1" dirty="0">
                <a:solidFill>
                  <a:srgbClr val="002060"/>
                </a:solidFill>
                <a:latin typeface="メイリオ"/>
                <a:ea typeface="メイリオ"/>
                <a:cs typeface="メイリオ"/>
                <a:sym typeface="Meiryo"/>
              </a:rPr>
              <a:t>サンクスLINE｜機能・費用</a:t>
            </a:r>
            <a:endParaRPr lang="en-US" altLang="ja-JP" sz="1600" b="1" dirty="0">
              <a:solidFill>
                <a:srgbClr val="002060"/>
              </a:solidFill>
              <a:latin typeface="メイリオ"/>
              <a:ea typeface="メイリオ"/>
              <a:cs typeface="メイリオ"/>
              <a:sym typeface="Meiryo"/>
            </a:endParaRPr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32BBF438-B1EF-A61A-EE3D-69CD39766C7E}"/>
              </a:ext>
            </a:extLst>
          </p:cNvPr>
          <p:cNvSpPr/>
          <p:nvPr/>
        </p:nvSpPr>
        <p:spPr>
          <a:xfrm>
            <a:off x="7537034" y="2187780"/>
            <a:ext cx="3061624" cy="1821208"/>
          </a:xfrm>
          <a:prstGeom prst="rect">
            <a:avLst/>
          </a:prstGeom>
          <a:noFill/>
          <a:ln>
            <a:solidFill>
              <a:schemeClr val="tx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1A1E4128-77DC-C871-EE20-5BD43326E078}"/>
              </a:ext>
            </a:extLst>
          </p:cNvPr>
          <p:cNvSpPr/>
          <p:nvPr/>
        </p:nvSpPr>
        <p:spPr>
          <a:xfrm>
            <a:off x="7537035" y="4317370"/>
            <a:ext cx="3061623" cy="1821208"/>
          </a:xfrm>
          <a:prstGeom prst="rect">
            <a:avLst/>
          </a:prstGeom>
          <a:noFill/>
          <a:ln>
            <a:solidFill>
              <a:schemeClr val="tx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20" name="正方形/長方形 19">
            <a:extLst>
              <a:ext uri="{FF2B5EF4-FFF2-40B4-BE49-F238E27FC236}">
                <a16:creationId xmlns:a16="http://schemas.microsoft.com/office/drawing/2014/main" id="{F37BB268-660A-FEE4-BB39-0E338F1DDC23}"/>
              </a:ext>
            </a:extLst>
          </p:cNvPr>
          <p:cNvSpPr/>
          <p:nvPr/>
        </p:nvSpPr>
        <p:spPr>
          <a:xfrm>
            <a:off x="7583090" y="2033196"/>
            <a:ext cx="1619242" cy="24415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LINE</a:t>
            </a:r>
            <a:r>
              <a:rPr lang="ja-JP" altLang="en-US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未追加の場合</a:t>
            </a:r>
          </a:p>
        </p:txBody>
      </p:sp>
      <p:sp>
        <p:nvSpPr>
          <p:cNvPr id="21" name="正方形/長方形 20">
            <a:extLst>
              <a:ext uri="{FF2B5EF4-FFF2-40B4-BE49-F238E27FC236}">
                <a16:creationId xmlns:a16="http://schemas.microsoft.com/office/drawing/2014/main" id="{C9FF4626-FD17-CA1C-8064-F46606D0BCCE}"/>
              </a:ext>
            </a:extLst>
          </p:cNvPr>
          <p:cNvSpPr/>
          <p:nvPr/>
        </p:nvSpPr>
        <p:spPr>
          <a:xfrm>
            <a:off x="7583090" y="4195296"/>
            <a:ext cx="1619242" cy="24415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LINE</a:t>
            </a:r>
            <a:r>
              <a:rPr lang="ja-JP" altLang="en-US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追加済みの場合</a:t>
            </a:r>
          </a:p>
        </p:txBody>
      </p:sp>
      <p:cxnSp>
        <p:nvCxnSpPr>
          <p:cNvPr id="23" name="直線矢印コネクタ 22">
            <a:extLst>
              <a:ext uri="{FF2B5EF4-FFF2-40B4-BE49-F238E27FC236}">
                <a16:creationId xmlns:a16="http://schemas.microsoft.com/office/drawing/2014/main" id="{8F202453-7FF9-8AE7-D10D-66F74A74A2F4}"/>
              </a:ext>
            </a:extLst>
          </p:cNvPr>
          <p:cNvCxnSpPr>
            <a:cxnSpLocks/>
          </p:cNvCxnSpPr>
          <p:nvPr/>
        </p:nvCxnSpPr>
        <p:spPr>
          <a:xfrm flipV="1">
            <a:off x="7162523" y="2932418"/>
            <a:ext cx="391555" cy="421706"/>
          </a:xfrm>
          <a:prstGeom prst="straightConnector1">
            <a:avLst/>
          </a:prstGeom>
          <a:ln w="19050">
            <a:solidFill>
              <a:srgbClr val="00B050">
                <a:alpha val="80000"/>
              </a:srgb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直線矢印コネクタ 23">
            <a:extLst>
              <a:ext uri="{FF2B5EF4-FFF2-40B4-BE49-F238E27FC236}">
                <a16:creationId xmlns:a16="http://schemas.microsoft.com/office/drawing/2014/main" id="{C92F6E28-BBFF-1A56-AC22-CA16D2F1B1EA}"/>
              </a:ext>
            </a:extLst>
          </p:cNvPr>
          <p:cNvCxnSpPr>
            <a:cxnSpLocks/>
          </p:cNvCxnSpPr>
          <p:nvPr/>
        </p:nvCxnSpPr>
        <p:spPr>
          <a:xfrm>
            <a:off x="7162523" y="3354124"/>
            <a:ext cx="345499" cy="1392760"/>
          </a:xfrm>
          <a:prstGeom prst="straightConnector1">
            <a:avLst/>
          </a:prstGeom>
          <a:ln w="19050">
            <a:solidFill>
              <a:srgbClr val="00B050">
                <a:alpha val="80000"/>
              </a:srgb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5" name="図 44" descr="グラフィカル ユーザー インターフェイス, アプリケーション, Teams&#10;&#10;AI 生成コンテンツは誤りを含む可能性があります。">
            <a:extLst>
              <a:ext uri="{FF2B5EF4-FFF2-40B4-BE49-F238E27FC236}">
                <a16:creationId xmlns:a16="http://schemas.microsoft.com/office/drawing/2014/main" id="{E91CA7A5-62B3-F1F8-38C3-DDCE33E1CC3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580"/>
          <a:stretch>
            <a:fillRect/>
          </a:stretch>
        </p:blipFill>
        <p:spPr>
          <a:xfrm>
            <a:off x="9253316" y="2021148"/>
            <a:ext cx="1231081" cy="2085097"/>
          </a:xfrm>
          <a:prstGeom prst="rect">
            <a:avLst/>
          </a:prstGeom>
        </p:spPr>
      </p:pic>
      <p:pic>
        <p:nvPicPr>
          <p:cNvPr id="46" name="図 45" descr="電卓の写真のスマートフォンのスクリーンショット&#10;&#10;AI 生成コンテンツは誤りを含む可能性があります。">
            <a:extLst>
              <a:ext uri="{FF2B5EF4-FFF2-40B4-BE49-F238E27FC236}">
                <a16:creationId xmlns:a16="http://schemas.microsoft.com/office/drawing/2014/main" id="{31EEAD2C-3BE8-0210-FD8E-46D52B30A0A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580"/>
          <a:stretch>
            <a:fillRect/>
          </a:stretch>
        </p:blipFill>
        <p:spPr>
          <a:xfrm>
            <a:off x="9265094" y="4121293"/>
            <a:ext cx="1231081" cy="2085098"/>
          </a:xfrm>
          <a:prstGeom prst="rect">
            <a:avLst/>
          </a:prstGeom>
        </p:spPr>
      </p:pic>
      <p:sp>
        <p:nvSpPr>
          <p:cNvPr id="48" name="テキスト ボックス 47">
            <a:extLst>
              <a:ext uri="{FF2B5EF4-FFF2-40B4-BE49-F238E27FC236}">
                <a16:creationId xmlns:a16="http://schemas.microsoft.com/office/drawing/2014/main" id="{E989AEB3-EF0E-8885-B426-8B6A5E01F40A}"/>
              </a:ext>
            </a:extLst>
          </p:cNvPr>
          <p:cNvSpPr txBox="1"/>
          <p:nvPr/>
        </p:nvSpPr>
        <p:spPr>
          <a:xfrm>
            <a:off x="7583091" y="2552900"/>
            <a:ext cx="1510975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友だち登録ページ</a:t>
            </a:r>
            <a:r>
              <a:rPr lang="ja-JP" altLang="en-US" sz="11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へ</a:t>
            </a:r>
            <a:endParaRPr lang="en-US" altLang="ja-JP" sz="1100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pPr algn="ctr"/>
            <a:r>
              <a:rPr lang="ja-JP" altLang="en-US" sz="11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遷移する。</a:t>
            </a:r>
          </a:p>
        </p:txBody>
      </p:sp>
      <p:sp>
        <p:nvSpPr>
          <p:cNvPr id="49" name="テキスト ボックス 48">
            <a:extLst>
              <a:ext uri="{FF2B5EF4-FFF2-40B4-BE49-F238E27FC236}">
                <a16:creationId xmlns:a16="http://schemas.microsoft.com/office/drawing/2014/main" id="{4E6D08E3-E0B3-1DF4-0533-E4EE67240415}"/>
              </a:ext>
            </a:extLst>
          </p:cNvPr>
          <p:cNvSpPr txBox="1"/>
          <p:nvPr/>
        </p:nvSpPr>
        <p:spPr>
          <a:xfrm>
            <a:off x="7555221" y="4735255"/>
            <a:ext cx="164711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トーク画面</a:t>
            </a:r>
            <a:r>
              <a:rPr lang="ja-JP" altLang="en-US" sz="11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へ遷移する。</a:t>
            </a:r>
            <a:endParaRPr lang="en-US" altLang="ja-JP" sz="1100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pic>
        <p:nvPicPr>
          <p:cNvPr id="56" name="図 55">
            <a:extLst>
              <a:ext uri="{FF2B5EF4-FFF2-40B4-BE49-F238E27FC236}">
                <a16:creationId xmlns:a16="http://schemas.microsoft.com/office/drawing/2014/main" id="{0B7B313D-7D5F-4357-9B38-DFC3DBC5FCF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01998" y="2977479"/>
            <a:ext cx="1133712" cy="110223"/>
          </a:xfrm>
          <a:prstGeom prst="rect">
            <a:avLst/>
          </a:prstGeom>
        </p:spPr>
      </p:pic>
      <p:pic>
        <p:nvPicPr>
          <p:cNvPr id="57" name="図 56">
            <a:extLst>
              <a:ext uri="{FF2B5EF4-FFF2-40B4-BE49-F238E27FC236}">
                <a16:creationId xmlns:a16="http://schemas.microsoft.com/office/drawing/2014/main" id="{A8EA42C4-338F-850B-B276-B83DC2A7314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31724" y="2983787"/>
            <a:ext cx="479964" cy="106659"/>
          </a:xfrm>
          <a:prstGeom prst="rect">
            <a:avLst/>
          </a:prstGeom>
        </p:spPr>
      </p:pic>
      <p:pic>
        <p:nvPicPr>
          <p:cNvPr id="58" name="図 57">
            <a:extLst>
              <a:ext uri="{FF2B5EF4-FFF2-40B4-BE49-F238E27FC236}">
                <a16:creationId xmlns:a16="http://schemas.microsoft.com/office/drawing/2014/main" id="{CCB04072-A708-EEE7-1345-D4C9E9FA9C1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61394" y="4118389"/>
            <a:ext cx="334412" cy="74315"/>
          </a:xfrm>
          <a:prstGeom prst="rect">
            <a:avLst/>
          </a:prstGeom>
        </p:spPr>
      </p:pic>
      <p:pic>
        <p:nvPicPr>
          <p:cNvPr id="59" name="図 58">
            <a:extLst>
              <a:ext uri="{FF2B5EF4-FFF2-40B4-BE49-F238E27FC236}">
                <a16:creationId xmlns:a16="http://schemas.microsoft.com/office/drawing/2014/main" id="{EDED354B-362F-AAF7-76A6-52D8547EDC9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13794" y="4270789"/>
            <a:ext cx="334412" cy="74315"/>
          </a:xfrm>
          <a:prstGeom prst="rect">
            <a:avLst/>
          </a:prstGeom>
        </p:spPr>
      </p:pic>
      <p:sp>
        <p:nvSpPr>
          <p:cNvPr id="1030" name="楕円 1029">
            <a:extLst>
              <a:ext uri="{FF2B5EF4-FFF2-40B4-BE49-F238E27FC236}">
                <a16:creationId xmlns:a16="http://schemas.microsoft.com/office/drawing/2014/main" id="{A0934BB8-8F8D-D4F0-8D59-8F32A6A6E03A}"/>
              </a:ext>
            </a:extLst>
          </p:cNvPr>
          <p:cNvSpPr/>
          <p:nvPr/>
        </p:nvSpPr>
        <p:spPr>
          <a:xfrm>
            <a:off x="9667828" y="2536378"/>
            <a:ext cx="396000" cy="396000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8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ロゴ</a:t>
            </a:r>
          </a:p>
        </p:txBody>
      </p:sp>
      <p:sp>
        <p:nvSpPr>
          <p:cNvPr id="34" name="正方形/長方形 33">
            <a:extLst>
              <a:ext uri="{FF2B5EF4-FFF2-40B4-BE49-F238E27FC236}">
                <a16:creationId xmlns:a16="http://schemas.microsoft.com/office/drawing/2014/main" id="{A593FC72-954C-48DC-E845-1A5FCE4C9E00}"/>
              </a:ext>
            </a:extLst>
          </p:cNvPr>
          <p:cNvSpPr/>
          <p:nvPr/>
        </p:nvSpPr>
        <p:spPr>
          <a:xfrm>
            <a:off x="1510609" y="2027927"/>
            <a:ext cx="1405728" cy="2841034"/>
          </a:xfrm>
          <a:prstGeom prst="rect">
            <a:avLst/>
          </a:prstGeom>
          <a:noFill/>
          <a:ln>
            <a:solidFill>
              <a:schemeClr val="tx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36" name="二等辺三角形 35">
            <a:extLst>
              <a:ext uri="{FF2B5EF4-FFF2-40B4-BE49-F238E27FC236}">
                <a16:creationId xmlns:a16="http://schemas.microsoft.com/office/drawing/2014/main" id="{626832A8-575E-5E2B-73F4-BE5567514E57}"/>
              </a:ext>
            </a:extLst>
          </p:cNvPr>
          <p:cNvSpPr/>
          <p:nvPr/>
        </p:nvSpPr>
        <p:spPr>
          <a:xfrm rot="5400000">
            <a:off x="2957810" y="3262734"/>
            <a:ext cx="252701" cy="182781"/>
          </a:xfrm>
          <a:prstGeom prst="triangl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38" name="正方形/長方形 37">
            <a:extLst>
              <a:ext uri="{FF2B5EF4-FFF2-40B4-BE49-F238E27FC236}">
                <a16:creationId xmlns:a16="http://schemas.microsoft.com/office/drawing/2014/main" id="{28671F13-F479-AFF6-9832-C7C00D2D05EE}"/>
              </a:ext>
            </a:extLst>
          </p:cNvPr>
          <p:cNvSpPr/>
          <p:nvPr/>
        </p:nvSpPr>
        <p:spPr>
          <a:xfrm>
            <a:off x="1510609" y="4624810"/>
            <a:ext cx="1405728" cy="244151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フォーム入力</a:t>
            </a:r>
          </a:p>
        </p:txBody>
      </p:sp>
      <p:pic>
        <p:nvPicPr>
          <p:cNvPr id="55" name="図 54">
            <a:extLst>
              <a:ext uri="{FF2B5EF4-FFF2-40B4-BE49-F238E27FC236}">
                <a16:creationId xmlns:a16="http://schemas.microsoft.com/office/drawing/2014/main" id="{8AF12F67-4C9A-867F-4608-8FE9DA81163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593344" y="2214387"/>
            <a:ext cx="1249593" cy="2257852"/>
          </a:xfrm>
          <a:prstGeom prst="rect">
            <a:avLst/>
          </a:prstGeom>
        </p:spPr>
      </p:pic>
      <p:sp>
        <p:nvSpPr>
          <p:cNvPr id="1032" name="正方形/長方形 1031">
            <a:extLst>
              <a:ext uri="{FF2B5EF4-FFF2-40B4-BE49-F238E27FC236}">
                <a16:creationId xmlns:a16="http://schemas.microsoft.com/office/drawing/2014/main" id="{D1D96D42-255C-636E-49E5-2CDA95DD6764}"/>
              </a:ext>
            </a:extLst>
          </p:cNvPr>
          <p:cNvSpPr/>
          <p:nvPr/>
        </p:nvSpPr>
        <p:spPr>
          <a:xfrm>
            <a:off x="3245020" y="2000983"/>
            <a:ext cx="1508532" cy="2841034"/>
          </a:xfrm>
          <a:prstGeom prst="rect">
            <a:avLst/>
          </a:prstGeom>
          <a:solidFill>
            <a:schemeClr val="bg1"/>
          </a:solidFill>
          <a:ln>
            <a:solidFill>
              <a:schemeClr val="tx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1034" name="正方形/長方形 1033">
            <a:extLst>
              <a:ext uri="{FF2B5EF4-FFF2-40B4-BE49-F238E27FC236}">
                <a16:creationId xmlns:a16="http://schemas.microsoft.com/office/drawing/2014/main" id="{8693E451-BCB1-207B-6B73-131F2A8588BF}"/>
              </a:ext>
            </a:extLst>
          </p:cNvPr>
          <p:cNvSpPr/>
          <p:nvPr/>
        </p:nvSpPr>
        <p:spPr>
          <a:xfrm>
            <a:off x="3242276" y="4603503"/>
            <a:ext cx="1508533" cy="244151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サンクス画面へ</a:t>
            </a:r>
            <a:endParaRPr lang="en-US" altLang="ja-JP" sz="1100" b="1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pic>
        <p:nvPicPr>
          <p:cNvPr id="1038" name="図 1037" descr="テキスト, 手紙&#10;&#10;AI 生成コンテンツは誤りを含む可能性があります。">
            <a:extLst>
              <a:ext uri="{FF2B5EF4-FFF2-40B4-BE49-F238E27FC236}">
                <a16:creationId xmlns:a16="http://schemas.microsoft.com/office/drawing/2014/main" id="{85260668-6C66-A032-FFE0-0276021F9433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580"/>
          <a:stretch>
            <a:fillRect/>
          </a:stretch>
        </p:blipFill>
        <p:spPr>
          <a:xfrm>
            <a:off x="3359597" y="2260627"/>
            <a:ext cx="1312445" cy="2202364"/>
          </a:xfrm>
          <a:prstGeom prst="rect">
            <a:avLst/>
          </a:prstGeom>
        </p:spPr>
      </p:pic>
      <p:pic>
        <p:nvPicPr>
          <p:cNvPr id="1039" name="Picture 2" descr="買い物完了！イラスト｜無料イラスト・フリー素材なら「イラストAC」">
            <a:extLst>
              <a:ext uri="{FF2B5EF4-FFF2-40B4-BE49-F238E27FC236}">
                <a16:creationId xmlns:a16="http://schemas.microsoft.com/office/drawing/2014/main" id="{23D05307-D6FE-6284-27D3-3433EE0122E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270" r="23682"/>
          <a:stretch>
            <a:fillRect/>
          </a:stretch>
        </p:blipFill>
        <p:spPr bwMode="auto">
          <a:xfrm>
            <a:off x="4710177" y="1804300"/>
            <a:ext cx="307967" cy="4124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3" name="グループ化 2">
            <a:extLst>
              <a:ext uri="{FF2B5EF4-FFF2-40B4-BE49-F238E27FC236}">
                <a16:creationId xmlns:a16="http://schemas.microsoft.com/office/drawing/2014/main" id="{E76D8F54-2926-2D56-7238-F66ACCBC4F20}"/>
              </a:ext>
            </a:extLst>
          </p:cNvPr>
          <p:cNvGrpSpPr/>
          <p:nvPr/>
        </p:nvGrpSpPr>
        <p:grpSpPr>
          <a:xfrm>
            <a:off x="1686399" y="777681"/>
            <a:ext cx="3105325" cy="485102"/>
            <a:chOff x="507969" y="928495"/>
            <a:chExt cx="3105325" cy="485102"/>
          </a:xfrm>
        </p:grpSpPr>
        <p:sp>
          <p:nvSpPr>
            <p:cNvPr id="4" name="Google Shape;51;p19">
              <a:extLst>
                <a:ext uri="{FF2B5EF4-FFF2-40B4-BE49-F238E27FC236}">
                  <a16:creationId xmlns:a16="http://schemas.microsoft.com/office/drawing/2014/main" id="{98F6BB16-EFC6-9846-2A11-E624E876E64B}"/>
                </a:ext>
              </a:extLst>
            </p:cNvPr>
            <p:cNvSpPr/>
            <p:nvPr/>
          </p:nvSpPr>
          <p:spPr>
            <a:xfrm>
              <a:off x="507969" y="928495"/>
              <a:ext cx="3105325" cy="485102"/>
            </a:xfrm>
            <a:prstGeom prst="roundRect">
              <a:avLst>
                <a:gd name="adj" fmla="val 16667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9pPr>
            </a:lstStyle>
            <a:p>
              <a:pPr algn="ctr">
                <a:buSzPts val="1400"/>
              </a:pPr>
              <a:endParaRPr b="1" dirty="0">
                <a:solidFill>
                  <a:schemeClr val="lt1"/>
                </a:solidFill>
                <a:sym typeface="Meiryo"/>
              </a:endParaRPr>
            </a:p>
          </p:txBody>
        </p:sp>
        <p:sp>
          <p:nvSpPr>
            <p:cNvPr id="5" name="テキスト ボックス 4">
              <a:extLst>
                <a:ext uri="{FF2B5EF4-FFF2-40B4-BE49-F238E27FC236}">
                  <a16:creationId xmlns:a16="http://schemas.microsoft.com/office/drawing/2014/main" id="{560EDF30-5F09-B70A-2993-8CD4F9E40EFA}"/>
                </a:ext>
              </a:extLst>
            </p:cNvPr>
            <p:cNvSpPr txBox="1"/>
            <p:nvPr/>
          </p:nvSpPr>
          <p:spPr>
            <a:xfrm>
              <a:off x="1140096" y="988192"/>
              <a:ext cx="1832553" cy="35779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9pPr>
            </a:lstStyle>
            <a:p>
              <a:pPr>
                <a:lnSpc>
                  <a:spcPct val="120000"/>
                </a:lnSpc>
              </a:pPr>
              <a:r>
                <a:rPr lang="ja-JP" altLang="en-US" sz="1500" b="1" dirty="0">
                  <a:solidFill>
                    <a:schemeClr val="bg1"/>
                  </a:solidFill>
                  <a:latin typeface="メイリオ" panose="020B0604030504040204" pitchFamily="34" charset="-128"/>
                  <a:ea typeface="メイリオ" panose="020B0604030504040204" pitchFamily="34" charset="-128"/>
                </a:rPr>
                <a:t>サンクス</a:t>
              </a:r>
              <a:r>
                <a:rPr lang="en-US" altLang="ja-JP" sz="1500" b="1" dirty="0">
                  <a:solidFill>
                    <a:schemeClr val="bg1"/>
                  </a:solidFill>
                  <a:latin typeface="メイリオ" panose="020B0604030504040204" pitchFamily="34" charset="-128"/>
                  <a:ea typeface="メイリオ" panose="020B0604030504040204" pitchFamily="34" charset="-128"/>
                </a:rPr>
                <a:t>LINE</a:t>
              </a:r>
              <a:r>
                <a:rPr lang="ja-JP" altLang="en-US" sz="1500" b="1" dirty="0">
                  <a:solidFill>
                    <a:schemeClr val="bg1"/>
                  </a:solidFill>
                  <a:latin typeface="メイリオ" panose="020B0604030504040204" pitchFamily="34" charset="-128"/>
                  <a:ea typeface="メイリオ" panose="020B0604030504040204" pitchFamily="34" charset="-128"/>
                </a:rPr>
                <a:t>誘導</a:t>
              </a:r>
            </a:p>
          </p:txBody>
        </p:sp>
      </p:grp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8B20BFF3-9D3E-A4D7-FF5A-70927F78FC9D}"/>
              </a:ext>
            </a:extLst>
          </p:cNvPr>
          <p:cNvSpPr/>
          <p:nvPr/>
        </p:nvSpPr>
        <p:spPr>
          <a:xfrm>
            <a:off x="9512823" y="4498577"/>
            <a:ext cx="899499" cy="79959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DC4FF56C-47EE-47DB-92F1-3F0EF57613D9}"/>
              </a:ext>
            </a:extLst>
          </p:cNvPr>
          <p:cNvSpPr/>
          <p:nvPr/>
        </p:nvSpPr>
        <p:spPr>
          <a:xfrm>
            <a:off x="5145349" y="846996"/>
            <a:ext cx="5631798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buClr>
                <a:schemeClr val="dk1"/>
              </a:buClr>
              <a:buSzPts val="1500"/>
            </a:pPr>
            <a:r>
              <a:rPr lang="ja-JP" altLang="en-US" sz="1600" dirty="0">
                <a:latin typeface="メイリオ"/>
                <a:ea typeface="メイリオ"/>
                <a:cs typeface="メイリオ"/>
                <a:sym typeface="Meiryo"/>
              </a:rPr>
              <a:t>フォーム送信後の</a:t>
            </a:r>
            <a:r>
              <a:rPr lang="en-US" altLang="ja-JP" sz="1600" dirty="0">
                <a:latin typeface="メイリオ"/>
                <a:ea typeface="メイリオ"/>
                <a:cs typeface="メイリオ"/>
                <a:sym typeface="Meiryo"/>
              </a:rPr>
              <a:t>LINE</a:t>
            </a:r>
            <a:r>
              <a:rPr lang="ja-JP" altLang="en-US" sz="1600" dirty="0">
                <a:latin typeface="メイリオ"/>
                <a:ea typeface="メイリオ"/>
                <a:cs typeface="メイリオ"/>
                <a:sym typeface="Meiryo"/>
              </a:rPr>
              <a:t>誘導を自動化するツール</a:t>
            </a:r>
            <a:endParaRPr lang="en-US" altLang="ja-JP" sz="1600" dirty="0">
              <a:latin typeface="メイリオ"/>
              <a:ea typeface="メイリオ"/>
              <a:cs typeface="メイリオ"/>
              <a:sym typeface="Meiryo"/>
            </a:endParaRP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5ED6F7D2-546D-BF9F-9805-58455D7E2831}"/>
              </a:ext>
            </a:extLst>
          </p:cNvPr>
          <p:cNvSpPr txBox="1"/>
          <p:nvPr/>
        </p:nvSpPr>
        <p:spPr>
          <a:xfrm>
            <a:off x="5145350" y="1172815"/>
            <a:ext cx="4718625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105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※</a:t>
            </a:r>
            <a:r>
              <a:rPr lang="ja-JP" altLang="en-US" sz="105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既存</a:t>
            </a:r>
            <a:r>
              <a:rPr lang="en-US" altLang="ja-JP" sz="105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API</a:t>
            </a:r>
            <a:r>
              <a:rPr lang="ja-JP" altLang="en-US" sz="105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ツールとの併用についても、問題なく稼働が可能。</a:t>
            </a:r>
            <a:endParaRPr lang="ja-JP" altLang="en-US" sz="1050" dirty="0">
              <a:solidFill>
                <a:srgbClr val="FF0000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F5B8C83A-7191-D772-EF88-AE268D007E63}"/>
              </a:ext>
            </a:extLst>
          </p:cNvPr>
          <p:cNvSpPr/>
          <p:nvPr/>
        </p:nvSpPr>
        <p:spPr>
          <a:xfrm>
            <a:off x="7554077" y="1518664"/>
            <a:ext cx="3044580" cy="284744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4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動作イメージ</a:t>
            </a:r>
          </a:p>
        </p:txBody>
      </p:sp>
      <p:sp>
        <p:nvSpPr>
          <p:cNvPr id="26" name="Google Shape;51;p19">
            <a:extLst>
              <a:ext uri="{FF2B5EF4-FFF2-40B4-BE49-F238E27FC236}">
                <a16:creationId xmlns:a16="http://schemas.microsoft.com/office/drawing/2014/main" id="{A4070FDA-7C99-27DE-6A9C-437C1D5DD3B3}"/>
              </a:ext>
            </a:extLst>
          </p:cNvPr>
          <p:cNvSpPr/>
          <p:nvPr/>
        </p:nvSpPr>
        <p:spPr>
          <a:xfrm>
            <a:off x="1686399" y="1321261"/>
            <a:ext cx="1510826" cy="485102"/>
          </a:xfrm>
          <a:prstGeom prst="roundRect">
            <a:avLst>
              <a:gd name="adj" fmla="val 16667"/>
            </a:avLst>
          </a:prstGeom>
          <a:solidFill>
            <a:schemeClr val="tx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9pPr>
          </a:lstStyle>
          <a:p>
            <a:pPr algn="ctr">
              <a:buSzPts val="1400"/>
            </a:pPr>
            <a:r>
              <a:rPr lang="ja-JP" altLang="en-US" b="1" dirty="0">
                <a:solidFill>
                  <a:schemeClr val="lt1"/>
                </a:solidFill>
                <a:sym typeface="Meiryo"/>
              </a:rPr>
              <a:t>初期：</a:t>
            </a:r>
            <a:r>
              <a:rPr lang="en-US" altLang="ja-JP" b="1" dirty="0">
                <a:solidFill>
                  <a:schemeClr val="lt1"/>
                </a:solidFill>
                <a:sym typeface="Meiryo"/>
              </a:rPr>
              <a:t>15</a:t>
            </a:r>
            <a:r>
              <a:rPr lang="ja-JP" altLang="en-US" b="1" dirty="0">
                <a:solidFill>
                  <a:schemeClr val="lt1"/>
                </a:solidFill>
                <a:sym typeface="Meiryo"/>
              </a:rPr>
              <a:t>万円</a:t>
            </a:r>
            <a:endParaRPr b="1" dirty="0">
              <a:solidFill>
                <a:schemeClr val="lt1"/>
              </a:solidFill>
              <a:sym typeface="Meiryo"/>
            </a:endParaRPr>
          </a:p>
        </p:txBody>
      </p:sp>
      <p:sp>
        <p:nvSpPr>
          <p:cNvPr id="28" name="Google Shape;51;p19">
            <a:extLst>
              <a:ext uri="{FF2B5EF4-FFF2-40B4-BE49-F238E27FC236}">
                <a16:creationId xmlns:a16="http://schemas.microsoft.com/office/drawing/2014/main" id="{40C4675F-5DCC-DD57-BE14-B3A7697A02CD}"/>
              </a:ext>
            </a:extLst>
          </p:cNvPr>
          <p:cNvSpPr/>
          <p:nvPr/>
        </p:nvSpPr>
        <p:spPr>
          <a:xfrm>
            <a:off x="3280897" y="1321261"/>
            <a:ext cx="1510826" cy="485102"/>
          </a:xfrm>
          <a:prstGeom prst="roundRect">
            <a:avLst>
              <a:gd name="adj" fmla="val 16667"/>
            </a:avLst>
          </a:prstGeom>
          <a:solidFill>
            <a:schemeClr val="tx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9pPr>
          </a:lstStyle>
          <a:p>
            <a:pPr algn="ctr">
              <a:buSzPts val="1400"/>
            </a:pPr>
            <a:r>
              <a:rPr lang="ja-JP" altLang="en-US" b="1" dirty="0">
                <a:solidFill>
                  <a:schemeClr val="lt1"/>
                </a:solidFill>
                <a:sym typeface="Meiryo"/>
              </a:rPr>
              <a:t>月額</a:t>
            </a:r>
            <a:r>
              <a:rPr lang="en-US" altLang="ja-JP" b="1" dirty="0">
                <a:solidFill>
                  <a:schemeClr val="lt1"/>
                </a:solidFill>
                <a:sym typeface="Meiryo"/>
              </a:rPr>
              <a:t>3</a:t>
            </a:r>
            <a:r>
              <a:rPr lang="ja-JP" altLang="en-US" b="1" dirty="0">
                <a:solidFill>
                  <a:schemeClr val="lt1"/>
                </a:solidFill>
                <a:sym typeface="Meiryo"/>
              </a:rPr>
              <a:t>万円～</a:t>
            </a:r>
            <a:endParaRPr lang="en-US" altLang="ja-JP" b="1" dirty="0">
              <a:solidFill>
                <a:schemeClr val="lt1"/>
              </a:solidFill>
              <a:sym typeface="Meiryo"/>
            </a:endParaRPr>
          </a:p>
          <a:p>
            <a:pPr algn="ctr">
              <a:buSzPts val="1400"/>
            </a:pPr>
            <a:r>
              <a:rPr lang="en-US" altLang="ja-JP" sz="1050" b="1" dirty="0">
                <a:solidFill>
                  <a:srgbClr val="FFFF00"/>
                </a:solidFill>
                <a:sym typeface="Meiryo"/>
              </a:rPr>
              <a:t>+</a:t>
            </a:r>
            <a:r>
              <a:rPr lang="ja-JP" altLang="en-US" sz="1050" b="1" dirty="0">
                <a:solidFill>
                  <a:srgbClr val="FFFF00"/>
                </a:solidFill>
                <a:sym typeface="Meiryo"/>
              </a:rPr>
              <a:t>設定地点追加</a:t>
            </a:r>
            <a:endParaRPr sz="1050" b="1" dirty="0">
              <a:solidFill>
                <a:srgbClr val="FFFF00"/>
              </a:solidFill>
              <a:sym typeface="Meiryo"/>
            </a:endParaRP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189A6A4C-E34E-E7CF-D6DD-C175E600A94D}"/>
              </a:ext>
            </a:extLst>
          </p:cNvPr>
          <p:cNvSpPr/>
          <p:nvPr/>
        </p:nvSpPr>
        <p:spPr>
          <a:xfrm>
            <a:off x="2146069" y="1909406"/>
            <a:ext cx="1859036" cy="24415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2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WEB</a:t>
            </a:r>
            <a:r>
              <a:rPr lang="ja-JP" altLang="en-US" sz="12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サイト</a:t>
            </a:r>
          </a:p>
        </p:txBody>
      </p:sp>
      <p:pic>
        <p:nvPicPr>
          <p:cNvPr id="18" name="図 17">
            <a:extLst>
              <a:ext uri="{FF2B5EF4-FFF2-40B4-BE49-F238E27FC236}">
                <a16:creationId xmlns:a16="http://schemas.microsoft.com/office/drawing/2014/main" id="{122BEACA-AA0E-EFF8-CDF2-B0A5B58840D0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626633" y="4115263"/>
            <a:ext cx="466595" cy="86136"/>
          </a:xfrm>
          <a:prstGeom prst="rect">
            <a:avLst/>
          </a:prstGeom>
        </p:spPr>
      </p:pic>
      <p:pic>
        <p:nvPicPr>
          <p:cNvPr id="27" name="図 26">
            <a:extLst>
              <a:ext uri="{FF2B5EF4-FFF2-40B4-BE49-F238E27FC236}">
                <a16:creationId xmlns:a16="http://schemas.microsoft.com/office/drawing/2014/main" id="{D971BE53-7CD8-C375-2A00-B224602AC25F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407778" y="2294975"/>
            <a:ext cx="466595" cy="86136"/>
          </a:xfrm>
          <a:prstGeom prst="rect">
            <a:avLst/>
          </a:prstGeom>
        </p:spPr>
      </p:pic>
      <p:sp>
        <p:nvSpPr>
          <p:cNvPr id="33" name="四角形: 角を丸くする 32">
            <a:extLst>
              <a:ext uri="{FF2B5EF4-FFF2-40B4-BE49-F238E27FC236}">
                <a16:creationId xmlns:a16="http://schemas.microsoft.com/office/drawing/2014/main" id="{B7D71D80-6086-B1B4-3E2C-EE891B12909E}"/>
              </a:ext>
            </a:extLst>
          </p:cNvPr>
          <p:cNvSpPr/>
          <p:nvPr/>
        </p:nvSpPr>
        <p:spPr>
          <a:xfrm>
            <a:off x="2354690" y="5205027"/>
            <a:ext cx="4874067" cy="659955"/>
          </a:xfrm>
          <a:prstGeom prst="roundRect">
            <a:avLst>
              <a:gd name="adj" fmla="val 25327"/>
            </a:avLst>
          </a:prstGeom>
          <a:solidFill>
            <a:srgbClr val="04FA0A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6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フォーム入力内容を</a:t>
            </a:r>
            <a:br>
              <a:rPr lang="en-US" altLang="ja-JP" sz="16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</a:br>
            <a:r>
              <a:rPr lang="en-US" altLang="ja-JP" sz="16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</a:t>
            </a:r>
            <a:r>
              <a:rPr lang="ja-JP" altLang="en-US" sz="16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トーク入力画面へ引き継ぎ可能</a:t>
            </a:r>
          </a:p>
        </p:txBody>
      </p:sp>
      <p:cxnSp>
        <p:nvCxnSpPr>
          <p:cNvPr id="44" name="直線矢印コネクタ 43">
            <a:extLst>
              <a:ext uri="{FF2B5EF4-FFF2-40B4-BE49-F238E27FC236}">
                <a16:creationId xmlns:a16="http://schemas.microsoft.com/office/drawing/2014/main" id="{666CF79B-D322-06BC-F342-DE710BE7473B}"/>
              </a:ext>
            </a:extLst>
          </p:cNvPr>
          <p:cNvCxnSpPr>
            <a:cxnSpLocks/>
            <a:stCxn id="33" idx="1"/>
          </p:cNvCxnSpPr>
          <p:nvPr/>
        </p:nvCxnSpPr>
        <p:spPr>
          <a:xfrm flipH="1" flipV="1">
            <a:off x="2066925" y="4868960"/>
            <a:ext cx="287764" cy="666044"/>
          </a:xfrm>
          <a:prstGeom prst="straightConnector1">
            <a:avLst/>
          </a:prstGeom>
          <a:ln w="19050">
            <a:solidFill>
              <a:srgbClr val="00B050">
                <a:alpha val="80000"/>
              </a:srgb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正方形/長方形 28">
            <a:extLst>
              <a:ext uri="{FF2B5EF4-FFF2-40B4-BE49-F238E27FC236}">
                <a16:creationId xmlns:a16="http://schemas.microsoft.com/office/drawing/2014/main" id="{1D29A9C3-A3E8-0780-A758-0C8E7E376668}"/>
              </a:ext>
            </a:extLst>
          </p:cNvPr>
          <p:cNvSpPr/>
          <p:nvPr/>
        </p:nvSpPr>
        <p:spPr>
          <a:xfrm>
            <a:off x="6504546" y="2415812"/>
            <a:ext cx="653304" cy="1821208"/>
          </a:xfrm>
          <a:prstGeom prst="rect">
            <a:avLst/>
          </a:prstGeom>
          <a:solidFill>
            <a:srgbClr val="04FA0A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2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DYM</a:t>
            </a:r>
          </a:p>
          <a:p>
            <a:pPr algn="ctr"/>
            <a:r>
              <a:rPr lang="ja-JP" altLang="en-US" sz="12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開発</a:t>
            </a:r>
            <a:endParaRPr lang="en-US" altLang="ja-JP" sz="1200" b="1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pPr algn="ctr"/>
            <a:r>
              <a:rPr lang="ja-JP" altLang="en-US" sz="12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ツール</a:t>
            </a:r>
            <a:endParaRPr lang="en-US" altLang="ja-JP" sz="1200" b="1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1048" name="矢印: 右 1047">
            <a:extLst>
              <a:ext uri="{FF2B5EF4-FFF2-40B4-BE49-F238E27FC236}">
                <a16:creationId xmlns:a16="http://schemas.microsoft.com/office/drawing/2014/main" id="{6A5BBE8E-2B42-49E0-686B-A6584B59E72F}"/>
              </a:ext>
            </a:extLst>
          </p:cNvPr>
          <p:cNvSpPr/>
          <p:nvPr/>
        </p:nvSpPr>
        <p:spPr>
          <a:xfrm>
            <a:off x="4819827" y="3203047"/>
            <a:ext cx="1632963" cy="392774"/>
          </a:xfrm>
          <a:prstGeom prst="rightArrow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/>
          </a:p>
        </p:txBody>
      </p:sp>
      <p:sp>
        <p:nvSpPr>
          <p:cNvPr id="1050" name="吹き出し: 角を丸めた四角形 1049">
            <a:extLst>
              <a:ext uri="{FF2B5EF4-FFF2-40B4-BE49-F238E27FC236}">
                <a16:creationId xmlns:a16="http://schemas.microsoft.com/office/drawing/2014/main" id="{0D7606B7-7AEE-445F-FB97-74913C4A4F60}"/>
              </a:ext>
            </a:extLst>
          </p:cNvPr>
          <p:cNvSpPr/>
          <p:nvPr/>
        </p:nvSpPr>
        <p:spPr>
          <a:xfrm>
            <a:off x="4831291" y="2187781"/>
            <a:ext cx="1586044" cy="948384"/>
          </a:xfrm>
          <a:prstGeom prst="wedgeRoundRectCallout">
            <a:avLst/>
          </a:prstGeom>
          <a:solidFill>
            <a:srgbClr val="FDFDFD"/>
          </a:solidFill>
          <a:ln w="19050">
            <a:solidFill>
              <a:schemeClr val="tx2">
                <a:alpha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ja-JP" sz="14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CV</a:t>
            </a:r>
            <a:r>
              <a:rPr lang="ja-JP" altLang="en-US" sz="14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完了後</a:t>
            </a:r>
            <a:endParaRPr lang="en-US" altLang="ja-JP" sz="14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4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約</a:t>
            </a:r>
            <a:r>
              <a:rPr lang="en-US" altLang="ja-JP" sz="14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2~3</a:t>
            </a:r>
            <a:r>
              <a:rPr lang="ja-JP" altLang="en-US" sz="14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秒で</a:t>
            </a:r>
            <a:br>
              <a:rPr lang="en-US" altLang="ja-JP" sz="14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</a:br>
            <a:r>
              <a:rPr lang="en-US" altLang="ja-JP" sz="14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</a:t>
            </a:r>
            <a:r>
              <a:rPr lang="ja-JP" altLang="en-US" sz="14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へ自動遷移</a:t>
            </a:r>
            <a:endParaRPr lang="en-US" altLang="ja-JP" sz="14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cxnSp>
        <p:nvCxnSpPr>
          <p:cNvPr id="1052" name="直線矢印コネクタ 1051">
            <a:extLst>
              <a:ext uri="{FF2B5EF4-FFF2-40B4-BE49-F238E27FC236}">
                <a16:creationId xmlns:a16="http://schemas.microsoft.com/office/drawing/2014/main" id="{5B4E7079-E54A-2282-BDB8-487FFE5E8981}"/>
              </a:ext>
            </a:extLst>
          </p:cNvPr>
          <p:cNvCxnSpPr>
            <a:cxnSpLocks/>
          </p:cNvCxnSpPr>
          <p:nvPr/>
        </p:nvCxnSpPr>
        <p:spPr>
          <a:xfrm flipV="1">
            <a:off x="7217657" y="4971540"/>
            <a:ext cx="2192682" cy="599046"/>
          </a:xfrm>
          <a:prstGeom prst="straightConnector1">
            <a:avLst/>
          </a:prstGeom>
          <a:ln w="19050">
            <a:solidFill>
              <a:srgbClr val="00B050">
                <a:alpha val="80000"/>
              </a:srgb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61078"/>
            <a:ext cx="11070119" cy="289843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 dirty="0" err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実例｜予約後の来院率</a:t>
            </a:r>
            <a:endParaRPr sz="1600" b="1" dirty="0">
              <a:solidFill>
                <a:srgbClr val="002060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4" name="TextBox 2"/>
          <p:cNvSpPr txBox="1"/>
          <p:nvPr/>
        </p:nvSpPr>
        <p:spPr>
          <a:xfrm>
            <a:off x="793680" y="725334"/>
            <a:ext cx="11214119" cy="529332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予約直後にLINEでつながり、前日のお知らせで来院につなげた</a:t>
            </a:r>
            <a:endParaRPr sz="12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12192119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92000" y="1620000"/>
            <a:ext cx="3600000" cy="324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美容クリニック</a:t>
            </a:r>
          </a:p>
        </p:txBody>
      </p:sp>
      <p:sp>
        <p:nvSpPr>
          <p:cNvPr id="7" name="Rectangle 6"/>
          <p:cNvSpPr/>
          <p:nvPr/>
        </p:nvSpPr>
        <p:spPr>
          <a:xfrm>
            <a:off x="792000" y="2052000"/>
            <a:ext cx="2736000" cy="306000"/>
          </a:xfrm>
          <a:prstGeom prst="rect">
            <a:avLst/>
          </a:prstGeom>
          <a:solidFill>
            <a:srgbClr val="E4E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課題</a:t>
            </a:r>
          </a:p>
        </p:txBody>
      </p:sp>
      <p:sp>
        <p:nvSpPr>
          <p:cNvPr id="8" name="Rectangle 7"/>
          <p:cNvSpPr/>
          <p:nvPr/>
        </p:nvSpPr>
        <p:spPr>
          <a:xfrm>
            <a:off x="792000" y="2358000"/>
            <a:ext cx="2736000" cy="279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cxnSp>
        <p:nvCxnSpPr>
          <p:cNvPr id="9" name="Connector 8"/>
          <p:cNvCxnSpPr/>
          <p:nvPr/>
        </p:nvCxnSpPr>
        <p:spPr>
          <a:xfrm>
            <a:off x="3600000" y="3600000"/>
            <a:ext cx="216000" cy="0"/>
          </a:xfrm>
          <a:prstGeom prst="line">
            <a:avLst/>
          </a:prstGeom>
          <a:ln w="2540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3888000" y="2052000"/>
            <a:ext cx="4176000" cy="306000"/>
          </a:xfrm>
          <a:prstGeom prst="rect">
            <a:avLst/>
          </a:prstGeom>
          <a:solidFill>
            <a:srgbClr val="E4E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導入・活用方法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888000" y="2358000"/>
            <a:ext cx="4176000" cy="279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cxnSp>
        <p:nvCxnSpPr>
          <p:cNvPr id="12" name="Connector 11"/>
          <p:cNvCxnSpPr/>
          <p:nvPr/>
        </p:nvCxnSpPr>
        <p:spPr>
          <a:xfrm>
            <a:off x="8135999" y="3600000"/>
            <a:ext cx="216001" cy="0"/>
          </a:xfrm>
          <a:prstGeom prst="line">
            <a:avLst/>
          </a:prstGeom>
          <a:ln w="2540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Rectangle 12"/>
          <p:cNvSpPr/>
          <p:nvPr/>
        </p:nvSpPr>
        <p:spPr>
          <a:xfrm>
            <a:off x="8424000" y="2052000"/>
            <a:ext cx="2988000" cy="3060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結果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424000" y="2358000"/>
            <a:ext cx="2988000" cy="279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72000" y="2556000"/>
            <a:ext cx="2376000" cy="2376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1000"/>
              </a:spcAft>
            </a:pPr>
            <a:r>
              <a:rPr sz="11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予約から来院日まで、接点がない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予約後に来院しない方が一定数いる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76000" y="2538000"/>
            <a:ext cx="3600000" cy="418500"/>
          </a:xfrm>
          <a:prstGeom prst="rect">
            <a:avLst/>
          </a:prstGeom>
          <a:solidFill>
            <a:srgbClr val="E4E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予約完了画面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976000" y="2967300"/>
            <a:ext cx="0" cy="194399"/>
          </a:xfrm>
          <a:prstGeom prst="line">
            <a:avLst/>
          </a:prstGeom>
          <a:ln w="1905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4176000" y="3172500"/>
            <a:ext cx="3600000" cy="418500"/>
          </a:xfrm>
          <a:prstGeom prst="rect">
            <a:avLst/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サンクスLINE誘導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976000" y="3601799"/>
            <a:ext cx="0" cy="194400"/>
          </a:xfrm>
          <a:prstGeom prst="line">
            <a:avLst/>
          </a:prstGeom>
          <a:ln w="1905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4176000" y="3806999"/>
            <a:ext cx="3600000" cy="418500"/>
          </a:xfrm>
          <a:prstGeom prst="rect">
            <a:avLst/>
          </a:prstGeom>
          <a:solidFill>
            <a:srgbClr val="E8F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LINE友だち追加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976000" y="4236299"/>
            <a:ext cx="0" cy="194400"/>
          </a:xfrm>
          <a:prstGeom prst="line">
            <a:avLst/>
          </a:prstGeom>
          <a:ln w="1905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4176000" y="4441500"/>
            <a:ext cx="3600000" cy="4185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予約確認・前日のお知らせをLINEで配信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24000" y="2520000"/>
            <a:ext cx="2988000" cy="324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予約後の来院率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24000" y="2916000"/>
            <a:ext cx="2988000" cy="1224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40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40〜50%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24000" y="4140000"/>
            <a:ext cx="2988000" cy="432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22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改善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792000" y="5400000"/>
            <a:ext cx="10620000" cy="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792000" y="5472000"/>
            <a:ext cx="10620000" cy="216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参考｜LINEでつながった後の活用例（LINEヤフー公式の導入事例）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92000" y="5706000"/>
            <a:ext cx="5202000" cy="360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観光バス：高速バスの予約後、乗車前日の案内をLINEで配信（琴平バス）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02000" y="5706000"/>
            <a:ext cx="5310000" cy="360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皮膚科クリニック：友だち追加後のステップ配信で、カウンセリング予約へ（アクネクリニック）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92000" y="6120000"/>
            <a:ext cx="10620000" cy="180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※参考の2例はサンクスLINE誘導の成果ではなく、LINEでつながった後の活用例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11070119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ターゲット業界別｜サンクスLINE活用イメージ</a:t>
            </a:r>
          </a:p>
        </p:txBody>
      </p:sp>
      <p:sp>
        <p:nvSpPr>
          <p:cNvPr id="4" name="TextBox 2"/>
          <p:cNvSpPr txBox="1"/>
          <p:nvPr/>
        </p:nvSpPr>
        <p:spPr>
          <a:xfrm>
            <a:off x="793680" y="725334"/>
            <a:ext cx="11214119" cy="529332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CVの後にLINEで送る内容は、業界ごとに変わる</a:t>
            </a:r>
            <a:endParaRPr sz="12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12192119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6096000" y="1728000"/>
            <a:ext cx="0" cy="450000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792000" y="3978000"/>
            <a:ext cx="10608000" cy="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Picture 7" descr="thanks_scene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08168" y="1692000"/>
            <a:ext cx="1771831" cy="2214000"/>
          </a:xfrm>
          <a:prstGeom prst="rect">
            <a:avLst/>
          </a:prstGeom>
        </p:spPr>
      </p:pic>
      <p:sp>
        <p:nvSpPr>
          <p:cNvPr id="9" name="Oval 8"/>
          <p:cNvSpPr/>
          <p:nvPr/>
        </p:nvSpPr>
        <p:spPr>
          <a:xfrm>
            <a:off x="792000" y="1782000"/>
            <a:ext cx="342000" cy="342000"/>
          </a:xfrm>
          <a:prstGeom prst="ellips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24000" y="1746000"/>
            <a:ext cx="2520000" cy="413999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人材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92000" y="2322000"/>
            <a:ext cx="1224000" cy="756000"/>
          </a:xfrm>
          <a:prstGeom prst="roundRect">
            <a:avLst>
              <a:gd name="adj" fmla="val 15000"/>
            </a:avLst>
          </a:prstGeom>
          <a:solidFill>
            <a:srgbClr val="E4E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応募・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会員登録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070000" y="2700000"/>
            <a:ext cx="324000" cy="0"/>
          </a:xfrm>
          <a:prstGeom prst="line">
            <a:avLst/>
          </a:prstGeom>
          <a:ln w="22225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Oval 12"/>
          <p:cNvSpPr/>
          <p:nvPr/>
        </p:nvSpPr>
        <p:spPr>
          <a:xfrm>
            <a:off x="2448000" y="2340000"/>
            <a:ext cx="720000" cy="720000"/>
          </a:xfrm>
          <a:prstGeom prst="ellipse">
            <a:avLst/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221999" y="2700000"/>
            <a:ext cx="832169" cy="0"/>
          </a:xfrm>
          <a:prstGeom prst="line">
            <a:avLst/>
          </a:prstGeom>
          <a:ln w="22225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792000" y="3221999"/>
            <a:ext cx="3244168" cy="216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その後の配信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2000" y="3420000"/>
            <a:ext cx="3244168" cy="324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前日リマインド／求人紹介／選考のご案内</a:t>
            </a:r>
          </a:p>
        </p:txBody>
      </p:sp>
      <p:pic>
        <p:nvPicPr>
          <p:cNvPr id="17" name="Picture 16" descr="thanks_scene_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28168" y="1692000"/>
            <a:ext cx="1771831" cy="2214000"/>
          </a:xfrm>
          <a:prstGeom prst="rect">
            <a:avLst/>
          </a:prstGeom>
        </p:spPr>
      </p:pic>
      <p:sp>
        <p:nvSpPr>
          <p:cNvPr id="18" name="Oval 17"/>
          <p:cNvSpPr/>
          <p:nvPr/>
        </p:nvSpPr>
        <p:spPr>
          <a:xfrm>
            <a:off x="6312000" y="1782000"/>
            <a:ext cx="342000" cy="342000"/>
          </a:xfrm>
          <a:prstGeom prst="ellips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44000" y="1746000"/>
            <a:ext cx="2520000" cy="413999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不動産投資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12000" y="2322000"/>
            <a:ext cx="1224000" cy="756000"/>
          </a:xfrm>
          <a:prstGeom prst="roundRect">
            <a:avLst>
              <a:gd name="adj" fmla="val 15000"/>
            </a:avLst>
          </a:prstGeom>
          <a:solidFill>
            <a:srgbClr val="E4E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資料請求・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相談予約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590000" y="2700000"/>
            <a:ext cx="324000" cy="0"/>
          </a:xfrm>
          <a:prstGeom prst="line">
            <a:avLst/>
          </a:prstGeom>
          <a:ln w="22225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Oval 21"/>
          <p:cNvSpPr/>
          <p:nvPr/>
        </p:nvSpPr>
        <p:spPr>
          <a:xfrm>
            <a:off x="7968000" y="2340000"/>
            <a:ext cx="720000" cy="720000"/>
          </a:xfrm>
          <a:prstGeom prst="ellipse">
            <a:avLst/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8742000" y="2700000"/>
            <a:ext cx="832168" cy="0"/>
          </a:xfrm>
          <a:prstGeom prst="line">
            <a:avLst/>
          </a:prstGeom>
          <a:ln w="22225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312000" y="3221999"/>
            <a:ext cx="3244168" cy="216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その後の配信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12000" y="3420000"/>
            <a:ext cx="3244168" cy="324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面談リマインド／セミナー案内／物件情報</a:t>
            </a:r>
          </a:p>
        </p:txBody>
      </p:sp>
      <p:pic>
        <p:nvPicPr>
          <p:cNvPr id="26" name="Picture 25" descr="thanks_scene_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08168" y="4050000"/>
            <a:ext cx="1771831" cy="2214000"/>
          </a:xfrm>
          <a:prstGeom prst="rect">
            <a:avLst/>
          </a:prstGeom>
        </p:spPr>
      </p:pic>
      <p:sp>
        <p:nvSpPr>
          <p:cNvPr id="27" name="Oval 26"/>
          <p:cNvSpPr/>
          <p:nvPr/>
        </p:nvSpPr>
        <p:spPr>
          <a:xfrm>
            <a:off x="792000" y="4140000"/>
            <a:ext cx="342000" cy="342000"/>
          </a:xfrm>
          <a:prstGeom prst="ellips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24000" y="4104000"/>
            <a:ext cx="2520000" cy="413999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ホビー（toC）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92000" y="4680000"/>
            <a:ext cx="1224000" cy="756000"/>
          </a:xfrm>
          <a:prstGeom prst="roundRect">
            <a:avLst>
              <a:gd name="adj" fmla="val 15000"/>
            </a:avLst>
          </a:prstGeom>
          <a:solidFill>
            <a:srgbClr val="E4E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購入・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会員登録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2070000" y="5058000"/>
            <a:ext cx="324000" cy="0"/>
          </a:xfrm>
          <a:prstGeom prst="line">
            <a:avLst/>
          </a:prstGeom>
          <a:ln w="22225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Oval 30"/>
          <p:cNvSpPr/>
          <p:nvPr/>
        </p:nvSpPr>
        <p:spPr>
          <a:xfrm>
            <a:off x="2448000" y="4698000"/>
            <a:ext cx="720000" cy="720000"/>
          </a:xfrm>
          <a:prstGeom prst="ellipse">
            <a:avLst/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3221999" y="5058000"/>
            <a:ext cx="832169" cy="0"/>
          </a:xfrm>
          <a:prstGeom prst="line">
            <a:avLst/>
          </a:prstGeom>
          <a:ln w="22225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792000" y="5580000"/>
            <a:ext cx="3244168" cy="216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その後の配信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92000" y="5778000"/>
            <a:ext cx="3244168" cy="324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限定商品の案内／キャンペーン・クーポン</a:t>
            </a:r>
          </a:p>
        </p:txBody>
      </p:sp>
      <p:pic>
        <p:nvPicPr>
          <p:cNvPr id="35" name="Picture 34" descr="thanks_scene_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28168" y="4050000"/>
            <a:ext cx="1771831" cy="2214000"/>
          </a:xfrm>
          <a:prstGeom prst="rect">
            <a:avLst/>
          </a:prstGeom>
        </p:spPr>
      </p:pic>
      <p:sp>
        <p:nvSpPr>
          <p:cNvPr id="36" name="Oval 35"/>
          <p:cNvSpPr/>
          <p:nvPr/>
        </p:nvSpPr>
        <p:spPr>
          <a:xfrm>
            <a:off x="6312000" y="4140000"/>
            <a:ext cx="342000" cy="342000"/>
          </a:xfrm>
          <a:prstGeom prst="ellips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744000" y="4104000"/>
            <a:ext cx="2520000" cy="413999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ハウスメーカー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312000" y="4680000"/>
            <a:ext cx="1224000" cy="756000"/>
          </a:xfrm>
          <a:prstGeom prst="roundRect">
            <a:avLst>
              <a:gd name="adj" fmla="val 15000"/>
            </a:avLst>
          </a:prstGeom>
          <a:solidFill>
            <a:srgbClr val="E4E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資料請求・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来場予約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7590000" y="5058000"/>
            <a:ext cx="324000" cy="0"/>
          </a:xfrm>
          <a:prstGeom prst="line">
            <a:avLst/>
          </a:prstGeom>
          <a:ln w="22225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Oval 39"/>
          <p:cNvSpPr/>
          <p:nvPr/>
        </p:nvSpPr>
        <p:spPr>
          <a:xfrm>
            <a:off x="7968000" y="4698000"/>
            <a:ext cx="720000" cy="720000"/>
          </a:xfrm>
          <a:prstGeom prst="ellipse">
            <a:avLst/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8742000" y="5058000"/>
            <a:ext cx="832168" cy="0"/>
          </a:xfrm>
          <a:prstGeom prst="line">
            <a:avLst/>
          </a:prstGeom>
          <a:ln w="22225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6312000" y="5580000"/>
            <a:ext cx="3244168" cy="216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その後の配信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12000" y="5778000"/>
            <a:ext cx="3244168" cy="324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見学会の案内／土地情報／個別相談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11070119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DYMのコンサル支援内容・費用</a:t>
            </a:r>
          </a:p>
        </p:txBody>
      </p:sp>
      <p:sp>
        <p:nvSpPr>
          <p:cNvPr id="4" name="TextBox 2"/>
          <p:cNvSpPr txBox="1"/>
          <p:nvPr/>
        </p:nvSpPr>
        <p:spPr>
          <a:xfrm>
            <a:off x="793680" y="725334"/>
            <a:ext cx="11214119" cy="529332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ツール導入だけではなく、CPO改善に向けたLINE運用まで支援</a:t>
            </a:r>
            <a:endParaRPr sz="12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12192119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Pentagon 5"/>
          <p:cNvSpPr/>
          <p:nvPr/>
        </p:nvSpPr>
        <p:spPr>
          <a:xfrm>
            <a:off x="792000" y="1800000"/>
            <a:ext cx="2749500" cy="864000"/>
          </a:xfrm>
          <a:prstGeom prst="homePlate">
            <a:avLst>
              <a:gd name="adj" fmla="val 22000"/>
            </a:avLst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00000" y="1800000"/>
            <a:ext cx="2443500" cy="864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① サンクスLINE導入</a:t>
            </a:r>
          </a:p>
        </p:txBody>
      </p:sp>
      <p:sp>
        <p:nvSpPr>
          <p:cNvPr id="8" name="Chevron 7"/>
          <p:cNvSpPr/>
          <p:nvPr/>
        </p:nvSpPr>
        <p:spPr>
          <a:xfrm>
            <a:off x="3415500" y="1800000"/>
            <a:ext cx="2749500" cy="864000"/>
          </a:xfrm>
          <a:prstGeom prst="chevron">
            <a:avLst>
              <a:gd name="adj" fmla="val 22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649500" y="1800000"/>
            <a:ext cx="2317500" cy="864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② LINE配信設計</a:t>
            </a:r>
          </a:p>
        </p:txBody>
      </p:sp>
      <p:sp>
        <p:nvSpPr>
          <p:cNvPr id="10" name="Chevron 9"/>
          <p:cNvSpPr/>
          <p:nvPr/>
        </p:nvSpPr>
        <p:spPr>
          <a:xfrm>
            <a:off x="6039000" y="1800000"/>
            <a:ext cx="2749500" cy="864000"/>
          </a:xfrm>
          <a:prstGeom prst="chevron">
            <a:avLst>
              <a:gd name="adj" fmla="val 22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273000" y="1800000"/>
            <a:ext cx="2317500" cy="864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③ 効果計測</a:t>
            </a:r>
          </a:p>
        </p:txBody>
      </p:sp>
      <p:sp>
        <p:nvSpPr>
          <p:cNvPr id="12" name="Chevron 11"/>
          <p:cNvSpPr/>
          <p:nvPr/>
        </p:nvSpPr>
        <p:spPr>
          <a:xfrm>
            <a:off x="8662500" y="1800000"/>
            <a:ext cx="2749500" cy="864000"/>
          </a:xfrm>
          <a:prstGeom prst="chevron">
            <a:avLst>
              <a:gd name="adj" fmla="val 22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896500" y="1800000"/>
            <a:ext cx="2317500" cy="864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④ 改善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36000" y="2844000"/>
            <a:ext cx="2389500" cy="288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導線設計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36000" y="3186000"/>
            <a:ext cx="2389500" cy="288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設定支援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559500" y="2844000"/>
            <a:ext cx="2389500" cy="288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あいさつメッセージ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559500" y="3186000"/>
            <a:ext cx="2389500" cy="288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ステップ配信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559500" y="3528000"/>
            <a:ext cx="2389500" cy="288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リマインド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559500" y="3870000"/>
            <a:ext cx="2389500" cy="288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セグメント配信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83000" y="2844000"/>
            <a:ext cx="2389500" cy="288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友だち追加数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83000" y="3186000"/>
            <a:ext cx="2389500" cy="288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LINE経由CV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83000" y="3528000"/>
            <a:ext cx="2389500" cy="288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来店・面談・購入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806500" y="2844000"/>
            <a:ext cx="2389500" cy="288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配信内容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806500" y="3186000"/>
            <a:ext cx="2389500" cy="288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配信タイミング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806500" y="3528000"/>
            <a:ext cx="2389500" cy="288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導線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06500" y="3870000"/>
            <a:ext cx="2389500" cy="288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を継続改善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10001250" y="4212000"/>
            <a:ext cx="0" cy="251999"/>
          </a:xfrm>
          <a:prstGeom prst="line">
            <a:avLst/>
          </a:prstGeom>
          <a:ln w="19050">
            <a:solidFill>
              <a:srgbClr val="1F28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4754250" y="4463999"/>
            <a:ext cx="5247000" cy="0"/>
          </a:xfrm>
          <a:prstGeom prst="line">
            <a:avLst/>
          </a:prstGeom>
          <a:ln w="19050">
            <a:solidFill>
              <a:srgbClr val="1F28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V="1">
            <a:off x="4754250" y="4230000"/>
            <a:ext cx="0" cy="233999"/>
          </a:xfrm>
          <a:prstGeom prst="line">
            <a:avLst/>
          </a:prstGeom>
          <a:ln w="1905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4862250" y="4482000"/>
            <a:ext cx="3600000" cy="216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計測結果をもとに、配信・導線を見直す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792000" y="4878000"/>
            <a:ext cx="10620000" cy="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Rectangle 31"/>
          <p:cNvSpPr/>
          <p:nvPr/>
        </p:nvSpPr>
        <p:spPr>
          <a:xfrm>
            <a:off x="792000" y="5029200"/>
            <a:ext cx="64800" cy="180000"/>
          </a:xfrm>
          <a:prstGeom prst="rect">
            <a:avLst/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918000" y="4986000"/>
            <a:ext cx="5040000" cy="270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① サンクスLINE誘導ツール｜費用目安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92000" y="5292000"/>
            <a:ext cx="2583000" cy="486000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初期　</a:t>
            </a:r>
            <a:r>
              <a:rPr sz="16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15万円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3375000" y="5364000"/>
            <a:ext cx="0" cy="34200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3375000" y="5292000"/>
            <a:ext cx="2583000" cy="486000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月額　</a:t>
            </a:r>
            <a:r>
              <a:rPr sz="16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3万円〜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246000" y="5029200"/>
            <a:ext cx="64800" cy="1800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6372000" y="4986000"/>
            <a:ext cx="5040000" cy="270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② LINE運用コンサル｜費用目安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46000" y="5292000"/>
            <a:ext cx="1722000" cy="486000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初期　</a:t>
            </a:r>
            <a:r>
              <a:rPr sz="16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10万円〜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7968000" y="5364000"/>
            <a:ext cx="0" cy="34200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7968000" y="5292000"/>
            <a:ext cx="1722000" cy="486000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月額　</a:t>
            </a:r>
            <a:r>
              <a:rPr sz="16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20万円〜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9690000" y="5364000"/>
            <a:ext cx="0" cy="34200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9690000" y="5292000"/>
            <a:ext cx="1722000" cy="486000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期間　</a:t>
            </a:r>
            <a:r>
              <a:rPr sz="16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6か月〜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6102000" y="4986000"/>
            <a:ext cx="0" cy="79200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792000" y="5814000"/>
            <a:ext cx="10620000" cy="198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※施策内容・配信本数・連携範囲等により、費用は個別にお見積もりいたします。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テーマ1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テーマ1" id="{8EA1701B-0E00-4167-9612-575199E01EDB}" vid="{8EF6575E-BB77-44AE-AF00-801DE4CAFB82}"/>
    </a:ext>
  </a:extLst>
</a:theme>
</file>

<file path=ppt/theme/theme2.xml><?xml version="1.0" encoding="utf-8"?>
<a:theme xmlns:a="http://schemas.openxmlformats.org/drawingml/2006/main" name="DYMJAPA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Default Theme</Template>
  <TotalTime>143329</TotalTime>
  <Words>380</Words>
  <Application>Microsoft Office PowerPoint</Application>
  <PresentationFormat>ワイド画面</PresentationFormat>
  <Paragraphs>121</Paragraphs>
  <Slides>5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2</vt:i4>
      </vt:variant>
      <vt:variant>
        <vt:lpstr>スライド タイトル</vt:lpstr>
      </vt:variant>
      <vt:variant>
        <vt:i4>5</vt:i4>
      </vt:variant>
    </vt:vector>
  </HeadingPairs>
  <TitlesOfParts>
    <vt:vector size="12" baseType="lpstr">
      <vt:lpstr>Meiryo</vt:lpstr>
      <vt:lpstr>Meiryo</vt:lpstr>
      <vt:lpstr>Arial</vt:lpstr>
      <vt:lpstr>Calibri</vt:lpstr>
      <vt:lpstr>Century Gothic</vt:lpstr>
      <vt:lpstr>テーマ1</vt:lpstr>
      <vt:lpstr>DYMJAPAN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中村 駿</dc:creator>
  <cp:lastModifiedBy>殿村 亮太</cp:lastModifiedBy>
  <cp:revision>1970</cp:revision>
  <cp:lastPrinted>2022-11-01T11:38:14Z</cp:lastPrinted>
  <dcterms:created xsi:type="dcterms:W3CDTF">2015-09-04T09:21:15Z</dcterms:created>
  <dcterms:modified xsi:type="dcterms:W3CDTF">2026-10-07T02:44:56Z</dcterms:modified>
</cp:coreProperties>
</file>