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9"/>
  </p:notesMasterIdLst>
  <p:handoutMasterIdLst>
    <p:handoutMasterId r:id="rId40"/>
  </p:handoutMasterIdLst>
  <p:sldIdLst>
    <p:sldId id="2363" r:id="rId3"/>
    <p:sldId id="2935" r:id="rId4"/>
    <p:sldId id="2956" r:id="rId5"/>
    <p:sldId id="2988" r:id="rId6"/>
    <p:sldId id="2972" r:id="rId7"/>
    <p:sldId id="2977" r:id="rId8"/>
    <p:sldId id="2974" r:id="rId9"/>
    <p:sldId id="2975" r:id="rId10"/>
    <p:sldId id="2979" r:id="rId11"/>
    <p:sldId id="2982" r:id="rId12"/>
    <p:sldId id="2736" r:id="rId13"/>
    <p:sldId id="2983" r:id="rId14"/>
    <p:sldId id="2984" r:id="rId15"/>
    <p:sldId id="2985" r:id="rId16"/>
    <p:sldId id="2986" r:id="rId17"/>
    <p:sldId id="2987" r:id="rId18"/>
    <p:sldId id="2908" r:id="rId19"/>
    <p:sldId id="2950" r:id="rId20"/>
    <p:sldId id="2762" r:id="rId21"/>
    <p:sldId id="2937" r:id="rId22"/>
    <p:sldId id="2939" r:id="rId23"/>
    <p:sldId id="2966" r:id="rId24"/>
    <p:sldId id="2962" r:id="rId25"/>
    <p:sldId id="2942" r:id="rId26"/>
    <p:sldId id="2941" r:id="rId27"/>
    <p:sldId id="2943" r:id="rId28"/>
    <p:sldId id="2944" r:id="rId29"/>
    <p:sldId id="2967" r:id="rId30"/>
    <p:sldId id="2946" r:id="rId31"/>
    <p:sldId id="2947" r:id="rId32"/>
    <p:sldId id="2948" r:id="rId33"/>
    <p:sldId id="2958" r:id="rId34"/>
    <p:sldId id="2954" r:id="rId35"/>
    <p:sldId id="2953" r:id="rId36"/>
    <p:sldId id="2955" r:id="rId37"/>
    <p:sldId id="1169" r:id="rId38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534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40A72-79AB-D734-F919-6B5353A07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043DCC9-013F-5916-497A-3173AB3EE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AE4841C-3C6F-F028-ED9E-D25D3936D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806F5D-B3E8-8EF8-D9FF-5F440AE724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632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CC596-88E7-2BC9-7631-7B2FF864C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78EA305-DD4B-4755-1A79-3ECAA1BFAE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E530CFC-96E0-CB7F-D9F4-B974123A5B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657086-8B2C-117D-A7A7-81B2D30759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40221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B3E24-A18E-3FB1-1BEB-F78B7876B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3BD67E3-1B96-BBBF-6E58-9F584C1E42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415CA0F-593B-424A-AB1E-372C80A53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DC1FAE7-9B14-4C23-B5D8-2C06D3E82C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34932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68803-9F0E-9C31-9560-209471857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09DBAC0-C8E1-8C5B-7FC3-E2F967DE3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C9E6ECD-81E8-9621-C097-7F38D3F57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0567096-EE1C-9444-DCCA-A268D8AAC4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60848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51486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F8CEE-BA77-7F59-159F-47D256C6C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920AAE9-56BE-66E5-82F7-A32C5F5E37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23263BB-84E3-A23F-F50A-22409A9D0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E676F0-0850-6080-8D54-24CC34C00E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14560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B1800-D47D-9623-88C4-F3F1B11ED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B704ED9-0313-110E-A57A-A9A15550F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01CA249-8084-E89C-5484-AD2CD6CA5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B72AE6-8350-35EF-B366-1B6DD9FAA1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76308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7D297-594A-D322-AC6D-28FDD0CCC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D47DAF-3395-7EB8-B917-99947107C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D9425B-51D3-BDCB-545C-23641969B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3D62E5C-A1FD-A187-2F31-A827800A2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19002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CC1BB-A366-B481-D59D-4EB553277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0890F8B-EEFF-D02B-04F0-B8C096E43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1D321AA-CFFF-72F6-A10A-CE135C21D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628A77C-D838-F107-1299-1CFE8BFB2F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3610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9A811-371F-8FB3-F066-52767F4E9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0A11C9D-FDA9-6C17-2E4B-B8729DB02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D22E24C-8C3E-B253-1458-19B063283E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5308508-22B0-7807-8EBD-1B4BC57F8A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8351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2497A-27D1-3FCF-1F91-9D3EAE5F5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F107B2A-3CC9-CDDB-0154-3C6FEEEB7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9E55FE-2D43-AAFB-1E0D-9FE86011A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505F46C-9309-B38B-AEB2-32E50CF0E8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60700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7E86F-A6D1-E87A-0CDF-967B15A6E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EB2A411-33D2-6528-1C93-D186B1984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6218984-9375-B358-47D3-58B36CCF8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1F039DC-7BEC-8764-B0DE-E4A154E5A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20095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36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emf"/><Relationship Id="rId4" Type="http://schemas.openxmlformats.org/officeDocument/2006/relationships/image" Target="../media/image15.jpeg"/><Relationship Id="rId5" Type="http://schemas.openxmlformats.org/officeDocument/2006/relationships/image" Target="../media/image16.jpeg"/><Relationship Id="rId6" Type="http://schemas.openxmlformats.org/officeDocument/2006/relationships/image" Target="../media/image17.jpeg"/><Relationship Id="rId7" Type="http://schemas.openxmlformats.org/officeDocument/2006/relationships/image" Target="../media/image18.jpeg"/><Relationship Id="rId8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広告費ゼロで、カゴ落ちと1回きりの顧客を拾い直し、LTV÷CPOを引き上げる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524717" y="3910946"/>
            <a:ext cx="2804160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678382" y="4341752"/>
            <a:ext cx="2549236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l"/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業界：EC（総合EC・業界汎用）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資料アジェンダ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この資料が言っていること：新規獲得の単価は上がり続けている。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もう「集める」では勝てない。勝負はCPOではなく、LTV ÷ CPO。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75199" y="1699200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199" y="1735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199" y="1998000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なぜLINEか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199" y="3545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S03-06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36000" y="1699200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36000" y="1735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6000" y="1998000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実態調査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36000" y="3545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S07-12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96800" y="1699200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96800" y="1735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6800" y="1998000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全体設計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6800" y="3545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S13-15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57600" y="1699200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57600" y="1735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7600" y="1998000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構築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7600" y="3545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S16-20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199" y="3787199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199" y="3823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199" y="4085999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配信設計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199" y="5633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S21-26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36000" y="3787199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36000" y="3823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36000" y="4085999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歩留まり・工数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36000" y="5633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S27-28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96800" y="3787199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6800" y="3823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96800" y="4085999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成果と体制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96800" y="5633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S29-32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57600" y="3787199"/>
            <a:ext cx="2174400" cy="20015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57600" y="3823199"/>
            <a:ext cx="21744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57600" y="4085999"/>
            <a:ext cx="2174400" cy="468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締め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57600" y="5633999"/>
            <a:ext cx="21744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/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S33-36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全8章・36枚｜主語は「LINE公式アカウントの運用」。広告運用の提案書ではない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市場データ｜ニーズ全体図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国内BtoC-EC市場は拡大を続けているが、物販系のEC化率はまだ1割弱。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「市場は伸びている。伸びていないのは、取りこぼしを回収する設計」。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2000" y="1728000"/>
            <a:ext cx="29424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BtoC-EC市場全体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2015999"/>
            <a:ext cx="2942400" cy="61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3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26.1兆円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2700000"/>
            <a:ext cx="2942400" cy="46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+5.1%（前年24.8兆円）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24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2400" y="1728000"/>
            <a:ext cx="29424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物販系分野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400" y="2015999"/>
            <a:ext cx="2942400" cy="61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3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15兆2,194億円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400" y="2700000"/>
            <a:ext cx="2942400" cy="46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+3.70%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28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2800" y="1728000"/>
            <a:ext cx="29424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物販系のEC化率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2800" y="2015999"/>
            <a:ext cx="2942400" cy="61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3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9.78%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2800" y="2700000"/>
            <a:ext cx="2942400" cy="46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+0.40pt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420000"/>
            <a:ext cx="9043200" cy="612000"/>
          </a:xfrm>
          <a:prstGeom prst="roundRect">
            <a:avLst>
              <a:gd name="adj" fmla="val 6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0000" y="3420000"/>
            <a:ext cx="8827200" cy="61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EC化率9.78%＝まだ9割はオフライン。市場は伸びている。伸びていないのは回収の設計。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業界水準｜出典：経済産業省「令和6年度 電子商取引に関する市場調査」2025年8月26日公表。毎年8月末公表のため、提案時は最新年度（令和7年度）を確認すること</a:t>
            </a: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6673A-9013-9BC2-61FD-9A9839050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ECのWebマーケ構造｜3つの壁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広告費を払って連れてきた人が、カゴに入れたまま多くが消え、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買ってくれた人の多くも2回目を買わずに消えている。一番お金をかけた直後に、一番大きく落ちている。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① 獲得単価の高騰</a:t>
            </a:r>
          </a:p>
          <a:p>
            <a:pPr algn="ctr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検索広告CPCは10年で168%。</a:t>
            </a:r>
          </a:p>
          <a:p>
            <a:pPr algn="ctr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枠の奪い合いで下がらない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2400" y="1620000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② 取りこぼし</a:t>
            </a:r>
          </a:p>
          <a:p>
            <a:pPr algn="ctr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カゴ落ち率は多くのサイトで</a:t>
            </a:r>
          </a:p>
          <a:p>
            <a:pPr algn="ctr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60〜70%前後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2800" y="1620000"/>
            <a:ext cx="2942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使い捨て</a:t>
            </a:r>
          </a:p>
          <a:p>
            <a:pPr algn="ctr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初回購入者の6〜7割が</a:t>
            </a:r>
          </a:p>
          <a:p>
            <a:pPr algn="ctr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2回目を買わずに消える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2700000"/>
            <a:ext cx="9043200" cy="12960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00" y="2771999"/>
            <a:ext cx="8755200" cy="36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20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カゴ落ち率：多くのサイトで60〜70%前後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3168000"/>
            <a:ext cx="8755200" cy="75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グローバル平均 約70.22%（Baymard Institute）／国内調査 約63.3%（イー・エージェンシー）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広告費をかけて連れてきた人の6〜7割が、購入直前で離脱している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業界水準｜出典：Baymard Institute（グローバル）／イー・エージェンシー（国内）。検索広告CPCはキーワードマーケティング調べ</a:t>
            </a:r>
          </a:p>
        </p:txBody>
      </p:sp>
    </p:spTree>
    <p:extLst>
      <p:ext uri="{BB962C8B-B14F-4D97-AF65-F5344CB8AC3E}">
        <p14:creationId xmlns:p14="http://schemas.microsoft.com/office/powerpoint/2010/main" val="3509480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58B38-C7A2-1CE4-FDFD-8D6A744BB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EC購入者の心理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広告費を払って連れてきた人が、カゴに入れたまま約7割消え、買ってくれた人も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6〜7割が2回目を買わずに消えている。しかも全員、連絡先を残さないまま消えている。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154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「まだ決めきれない」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カゴ落ち理由の約43%が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「ただ見ていた／買う準備が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できていない」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2400" y="1620000"/>
            <a:ext cx="2942400" cy="154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「いくらになるか
分からないのが怖い」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カゴ落ち理由1位（53%）が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送料・税・手数料など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追加コストの不透明さ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2800" y="1620000"/>
            <a:ext cx="2942400" cy="154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「メールは
登録したくない」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国内ECのメルマガ開封率は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20%前後。登録しても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読まれていない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3311999"/>
            <a:ext cx="9043200" cy="72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00" y="3311999"/>
            <a:ext cx="8755200" cy="72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カゴ落ちの過半は「商品の問題」ではなく「情報と接触機会の問題」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業界水準｜出典：Baymard Institute（カゴ落ち理由）／国内ECメルマガ開封率一般値。倍率で語らず絶対値のみ使用（LINE当日中開封率と混ぜない）</a:t>
            </a:r>
          </a:p>
        </p:txBody>
      </p:sp>
    </p:spTree>
    <p:extLst>
      <p:ext uri="{BB962C8B-B14F-4D97-AF65-F5344CB8AC3E}">
        <p14:creationId xmlns:p14="http://schemas.microsoft.com/office/powerpoint/2010/main" val="1187594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E587B-DB18-248C-DB39-A170420D4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Webマーケで「できること／できないこと」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ここが本提案の誠実さであり、説得力の源。触るのは「カゴに入れた後」と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「1回目を買った後」の2箇所だけ。広告費も流入もLPも触らない。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880000" cy="234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692000"/>
            <a:ext cx="26640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できないこと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944000"/>
            <a:ext cx="2664000" cy="43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✕ 商品力・価格競争力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412000"/>
            <a:ext cx="2664000" cy="43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✕ 送料・配送スピード・返品条件（物流）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880000"/>
            <a:ext cx="2664000" cy="43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✕ モール手数料率（言い値）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3348000"/>
            <a:ext cx="2664000" cy="43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✕ 在庫・欠品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0000" y="1620000"/>
            <a:ext cx="6055200" cy="23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8000" y="1692000"/>
            <a:ext cx="58392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できること（＝本提案の範囲）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8000" y="1925999"/>
            <a:ext cx="4867200" cy="30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1. カゴ落ちを拾う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67200" y="1969200"/>
            <a:ext cx="900000" cy="19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CPO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8000" y="2242800"/>
            <a:ext cx="4867200" cy="30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2. メールで届かない人に届ける（当日中に約8割開封）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67200" y="2286000"/>
            <a:ext cx="900000" cy="19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全段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8000" y="2559600"/>
            <a:ext cx="4867200" cy="30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3. 初回購入の背中を押す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67200" y="2602800"/>
            <a:ext cx="900000" cy="19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CPO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8000" y="2876400"/>
            <a:ext cx="4867200" cy="30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4. F2転換を自動化する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67200" y="2919600"/>
            <a:ext cx="900000" cy="19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F2転換率・LTV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8000" y="3193199"/>
            <a:ext cx="4867200" cy="30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5. 定期の解約を止める／休眠を起こす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67200" y="3236399"/>
            <a:ext cx="900000" cy="19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LTV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8000" y="3510000"/>
            <a:ext cx="4867200" cy="30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6. 1stパーティデータを持つ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67200" y="3553199"/>
            <a:ext cx="900000" cy="19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翌期のCPO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4031999"/>
            <a:ext cx="9043200" cy="46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0000" y="4031999"/>
            <a:ext cx="8827200" cy="46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触るのは「カゴに入れた後」と「1回目を買った後」の2箇所だけ。広告費も流入もLPも触らない。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意見｜DYMの提案スコープ宣言。「もっと広告を回しましょう」ではなく、左記6項目を自動化してLTV/CPOを上げる提案</a:t>
            </a:r>
          </a:p>
        </p:txBody>
      </p:sp>
    </p:spTree>
    <p:extLst>
      <p:ext uri="{BB962C8B-B14F-4D97-AF65-F5344CB8AC3E}">
        <p14:creationId xmlns:p14="http://schemas.microsoft.com/office/powerpoint/2010/main" val="4664780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2D860-D20C-DFFA-89EA-A46B82A5D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市場環境｜検索広告CPCの推移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広告予算の半分以上がネット広告に集中し、枠の奪い合いで単価は下がらない。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新規獲得の単価は構造的に上がり続ける。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2000" y="1692000"/>
            <a:ext cx="29424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総広告費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1925999"/>
            <a:ext cx="2942400" cy="503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2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8兆623億円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2448000"/>
            <a:ext cx="2942400" cy="43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+5.1%（4年連続で過去最高）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2400" y="1620000"/>
            <a:ext cx="29424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2400" y="1692000"/>
            <a:ext cx="29424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インターネット広告費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400" y="1925999"/>
            <a:ext cx="2942400" cy="503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2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4兆459億円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400" y="2448000"/>
            <a:ext cx="2942400" cy="43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+10.8%（初の4兆円超）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2800" y="1620000"/>
            <a:ext cx="2942400" cy="1296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2800" y="1692000"/>
            <a:ext cx="29424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総広告費に占める構成比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2800" y="1925999"/>
            <a:ext cx="2942400" cy="503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27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50.2%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2800" y="2448000"/>
            <a:ext cx="2942400" cy="43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初の過半数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2988000"/>
            <a:ext cx="9043200" cy="1044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00" y="3041999"/>
            <a:ext cx="87552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検索広告の平均クリック単価は10年前比 168%（約1.7倍）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00" y="3293999"/>
            <a:ext cx="8755200" cy="684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00">
                <a:solidFill>
                  <a:srgbClr val="E9EDF7"/>
                </a:solidFill>
                <a:latin typeface="メイリオ"/>
                <a:ea typeface="メイリオ"/>
                <a:cs typeface="メイリオ"/>
              </a:rPr>
              <a:t>広告予算の半分以上（構成比50.2%）がネット広告に集中している＝枠の奪い合い。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だから単価は下がらない。回収側（LTV÷CPO）に回すのがこの資料の背骨。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業界水準｜出典：電通「2025年 日本の広告費」2026年3月5日発表／検索広告CPCはキーワードマーケティング調べ。海外CPA/CPMデータは使用していない</a:t>
            </a:r>
          </a:p>
        </p:txBody>
      </p:sp>
    </p:spTree>
    <p:extLst>
      <p:ext uri="{BB962C8B-B14F-4D97-AF65-F5344CB8AC3E}">
        <p14:creationId xmlns:p14="http://schemas.microsoft.com/office/powerpoint/2010/main" val="142908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E4664-0791-AB23-9ACF-A79FA4D2C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市場環境｜広告実績CVR（CV地点記載）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DYMのEC支援実績から、CV地点別のCPC・CVR・CPOを提示する。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カート投入・初回購入・定期引上のどこで刈れているかを切り分けて見る。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620000"/>
          <a:ext cx="90432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2096"/>
                <a:gridCol w="2170368"/>
                <a:gridCol w="2170368"/>
                <a:gridCol w="2170368"/>
              </a:tblGrid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CV地点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CPC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CVR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CPO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① カート投入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② 初回購入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－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－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－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③ 定期引上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2628000"/>
            <a:ext cx="9043200" cy="14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★差込枠｜DYM社内のEC広告実績（未取得）</a:t>
            </a:r>
          </a:p>
          <a:p>
            <a:pPr algn="ctr">
              <a:lnSpc>
                <a:spcPct val="125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CV地点別（カート投入／初回購入／定期引上）のCPC・CVR・CPOを記入。
CV地点の明記は必須（スキル §6.5）。上司確認①として要確認リストへ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★未取得｜出典：DYM社内実績（要取得・上司確認①）。取得まで数値は記入しない</a:t>
            </a:r>
          </a:p>
        </p:txBody>
      </p:sp>
    </p:spTree>
    <p:extLst>
      <p:ext uri="{BB962C8B-B14F-4D97-AF65-F5344CB8AC3E}">
        <p14:creationId xmlns:p14="http://schemas.microsoft.com/office/powerpoint/2010/main" val="14381237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市場環境｜広告審査面の懸念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「LINEは友だちだけが見るから広告ではない」は誤り。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LINE配信の大半は薬機法上の「広告」に該当すると考えるべき。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620000"/>
          <a:ext cx="9043200" cy="7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6912"/>
                <a:gridCol w="3979008"/>
                <a:gridCol w="3617280"/>
              </a:tblGrid>
              <a:tr h="189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要件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中身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LINE配信での該当性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</a:tr>
              <a:tr h="189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① 誘引性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顧客の購入意欲を昂進させる意図が明確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商品案内・購入促進の内容なら該当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89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② 特定性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特定の商品名が明らかにされている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送信元が事業者の時点で自動的に該当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189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③ 認知性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一般人が認知できる状態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友だちに配信された時点で該当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2448000"/>
            <a:ext cx="9043200" cy="5400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2448000"/>
            <a:ext cx="8827200" cy="54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送信元が事業者である時点で特定性は自動的に満たされ、商品案内や購入促進の内容なら誘引性も満たす。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3060000"/>
            <a:ext cx="9043200" cy="54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併せて掛かる法律：景品表示法（優良誤認・有利誤認／No.1表示／ビフォーアフター／打消し表示）、健康増進法（誇大表示）。</a:t>
            </a:r>
          </a:p>
          <a:p>
            <a:pPr algn="l">
              <a:lnSpc>
                <a:spcPct val="135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健康食品は薬機法の直接の規制対象ではないが、医薬品的な効能を標ぼうすると規制対象になる。ECモールの商品ページのレビュー・口コミにも規制が及ぶ場合がある。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3708000"/>
            <a:ext cx="9043200" cy="324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だから配信文面の設計は、最初から表現規制を織り込む必要がある。＝LINEOA運用設計の制約条件。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業界水準｜出典：薬機法の広告3要件（薬監発第148号）／京都府「広告の３要件」</a:t>
            </a:r>
          </a:p>
        </p:txBody>
      </p:sp>
    </p:spTree>
    <p:extLst>
      <p:ext uri="{BB962C8B-B14F-4D97-AF65-F5344CB8AC3E}">
        <p14:creationId xmlns:p14="http://schemas.microsoft.com/office/powerpoint/2010/main" val="26877791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7598A-7489-8F6D-91D8-19CE7F507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ニーズ調査｜シーズナリティ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ECの特徴は「11〜12月に山が2つ立て続けに来る」こと。8月は仕込み月。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S25（年間企画投稿カレンダー）の設計図になる。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50000" y="16200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5999" y="1638000"/>
            <a:ext cx="13992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5999" y="1800000"/>
            <a:ext cx="1399200" cy="36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初売り・福袋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57200" y="16200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93200" y="1638000"/>
            <a:ext cx="13992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200" y="1800000"/>
            <a:ext cx="1399200" cy="36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バレンタイン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4400" y="16200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0400" y="1638000"/>
            <a:ext cx="13992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0400" y="1800000"/>
            <a:ext cx="1399200" cy="36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楽天SS／新生活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1600" y="16200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7599" y="1638000"/>
            <a:ext cx="13992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7599" y="1800000"/>
            <a:ext cx="1399200" cy="36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新生活後半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78800" y="16200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4799" y="1638000"/>
            <a:ext cx="13992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5月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4799" y="1800000"/>
            <a:ext cx="1399200" cy="36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母の日／お買い物マラソン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86000" y="16200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21999" y="1638000"/>
            <a:ext cx="13992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6月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1999" y="1800000"/>
            <a:ext cx="1399200" cy="36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楽天SS／父の日／お中元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0000" y="22212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5999" y="2239200"/>
            <a:ext cx="13992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5999" y="2401200"/>
            <a:ext cx="1399200" cy="36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Amazonプライムデー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57200" y="22212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93200" y="2239200"/>
            <a:ext cx="13992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93200" y="2401200"/>
            <a:ext cx="1399200" cy="36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夏枯れ（秋商戦の仕込み）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4400" y="22212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00400" y="2239200"/>
            <a:ext cx="13992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0400" y="2401200"/>
            <a:ext cx="1399200" cy="36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楽天SS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71600" y="22212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07599" y="2239200"/>
            <a:ext cx="13992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7599" y="2401200"/>
            <a:ext cx="1399200" cy="36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ハロウィン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78800" y="22212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4799" y="2239200"/>
            <a:ext cx="13992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11月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4799" y="2401200"/>
            <a:ext cx="1399200" cy="36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ブラックフライデー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86000" y="22212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21999" y="2239200"/>
            <a:ext cx="1399200" cy="18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12月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21999" y="2401200"/>
            <a:ext cx="1399200" cy="36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楽天大感謝祭／年末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2000" y="2880000"/>
            <a:ext cx="9043200" cy="11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★差込枠｜Googleトレンド（5年＋1年）</a:t>
            </a:r>
          </a:p>
          <a:p>
            <a:pPr algn="ctr">
              <a:lnSpc>
                <a:spcPct val="125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KW＝福袋／ブラックフライデー／セール／母の日（すべて一語）。
「セール」は他KWを潰すため必ず単独グラフにする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業界水準｜年間商戦カレンダーは公開の商戦・セール時期。★Googleトレンドは未取得（要取得）</a:t>
            </a:r>
          </a:p>
        </p:txBody>
      </p:sp>
    </p:spTree>
    <p:extLst>
      <p:ext uri="{BB962C8B-B14F-4D97-AF65-F5344CB8AC3E}">
        <p14:creationId xmlns:p14="http://schemas.microsoft.com/office/powerpoint/2010/main" val="6538660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ニーズ調査｜前後検索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LINEヤフーの前後検索データで、購入前後の不安の中身を確認する。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本命は「解約」。定期の解約不安がどこで生まれているかを見る。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540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検索“前”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196000"/>
            <a:ext cx="29424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口コミ／効果／比較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82400" y="1620000"/>
            <a:ext cx="2942400" cy="54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起点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82400" y="2196000"/>
            <a:ext cx="29424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通販／定期便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2800" y="1620000"/>
            <a:ext cx="2942400" cy="5400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検索“後”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2800" y="2196000"/>
            <a:ext cx="29424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解約／返品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2556000"/>
            <a:ext cx="9043200" cy="147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★差込枠｜LINEヤフー前後検索データ（未取得）</a:t>
            </a:r>
          </a:p>
          <a:p>
            <a:pPr algn="ctr">
              <a:lnSpc>
                <a:spcPct val="125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KW＝通販／定期便／解約／口コミ（すべて一語）。★本命は「解約」。
購入後にどんな不安・情報を検索しているかを反映する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★未取得｜出典：LINEヤフー媒体資料（要取得）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3B14C-0AEA-B93E-0808-EE37D50F6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他社分析｜競合10社のLINE運用ステータス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知名度優先で選定した10社。友だち数・配信内容は実測が必要（page.line.meから取得日つきで取得）。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ID連携しているか（購入導線がLINEログインを求めるか）を必ず記録する。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620000"/>
          <a:ext cx="904320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6912"/>
                <a:gridCol w="2170368"/>
                <a:gridCol w="2893824"/>
                <a:gridCol w="1266048"/>
                <a:gridCol w="1266048"/>
              </a:tblGrid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アカウント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想定の型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見るポイント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友だち数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ID連携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オルビス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診断ドリブン型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肌診断→出し分け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ファンケル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会員・定期型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次回発送前フォロー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北の快適工房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単品リピート通販型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F2オファーの時期・文面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BASE FOOD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D2Cサブスク型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継続率を上げる配信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Oisix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食品定期型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週次の締切リマインド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ニトリ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クーポン会員型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会員証・店舗連動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無印良品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ミニアプリ・会員証型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LINEミニアプリの使い方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ZOZOTOWN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配信メディア型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配信頻度とセグメント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ユニクロ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クーポン型（大手）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配信頻度・クーポン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SHIRO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中堅コスメ・運用特徴型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世界観重視の配信設計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★未取得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選定は知名度優先（スキル§3で事前承認済み）。友だち数・ID連携は page.line.me から取得日つきで実測（★未取得）。「おすすめ」欄の数値は拾わない</a:t>
            </a:r>
          </a:p>
        </p:txBody>
      </p:sp>
    </p:spTree>
    <p:extLst>
      <p:ext uri="{BB962C8B-B14F-4D97-AF65-F5344CB8AC3E}">
        <p14:creationId xmlns:p14="http://schemas.microsoft.com/office/powerpoint/2010/main" val="406932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DB2C5-43E4-382E-3F0A-0B0F5E9F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全体設計｜カスタマージャーニー × CV3段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ECの主戦場は②初回購入ではなく③F2。山（LINEが効く度合い）は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初回購入ではなくF2購入・定期化のフェーズにある。他業界資料と重心が違う。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60800" y="3203999"/>
            <a:ext cx="10728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9200" y="3592799"/>
            <a:ext cx="1116000" cy="39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認知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（広告接触）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91200" y="3059999"/>
            <a:ext cx="1072800" cy="503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69599" y="3592799"/>
            <a:ext cx="1116000" cy="39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サイト来訪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21600" y="2915999"/>
            <a:ext cx="1072800" cy="648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00000" y="3592799"/>
            <a:ext cx="1116000" cy="39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比較検討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（カゴに入れる）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1999" y="2771999"/>
            <a:ext cx="1072800" cy="792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30399" y="3592799"/>
            <a:ext cx="1116000" cy="39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カゴ落ち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（対策ゾーン）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2400" y="2627999"/>
            <a:ext cx="1072800" cy="93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0800" y="3592799"/>
            <a:ext cx="1116000" cy="39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 初回購入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12800" y="2771999"/>
            <a:ext cx="1072800" cy="792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1200" y="3592799"/>
            <a:ext cx="1116000" cy="39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受け取り・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使用開始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43199" y="2555999"/>
            <a:ext cx="1072800" cy="100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1600" y="3592799"/>
            <a:ext cx="1116000" cy="39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再検討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（消費サイクル）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73599" y="2267999"/>
            <a:ext cx="1072800" cy="1296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2000" y="3592799"/>
            <a:ext cx="1116000" cy="39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 F2購入・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定期化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64400" y="1602000"/>
            <a:ext cx="15120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①軽CV：友だち追加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93600" y="1602000"/>
            <a:ext cx="15120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8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②主CV：初回購入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48799" y="1602000"/>
            <a:ext cx="1512000" cy="23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8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③最終CV：F2・定期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2240" y="4140000"/>
            <a:ext cx="2712960" cy="396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2240" y="4140000"/>
            <a:ext cx="2712960" cy="39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★ここが本資料の主戦場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意見｜CV3段はDYM設計。①LINE友だち追加＋初回クーポン／②初回購入（赤字でよい）／③F2→定期（ここで初めて黒字）</a:t>
            </a:r>
          </a:p>
        </p:txBody>
      </p:sp>
    </p:spTree>
    <p:extLst>
      <p:ext uri="{BB962C8B-B14F-4D97-AF65-F5344CB8AC3E}">
        <p14:creationId xmlns:p14="http://schemas.microsoft.com/office/powerpoint/2010/main" val="32250749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6AB4E-6E86-5642-81B1-3703D9B31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全体設計｜施策全体像・対策領域マップ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触るのは2領域だけ。①カゴ落ち対策（取りこぼし回収）と②F2転換・LTV化（使い捨て解消）。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広告費も流入もLPも変えない。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4449600" cy="23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692000"/>
            <a:ext cx="42336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カゴ落ち対策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961999"/>
            <a:ext cx="42336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0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取りこぼしの回収（CPO）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304000"/>
            <a:ext cx="42336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・サイトポップアップ／購入完了画面でLINE友だち化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844000"/>
            <a:ext cx="42336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・あいさつMSGで送料条件を先出し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3384000"/>
            <a:ext cx="42336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・カゴ落ちリマインド（3通・ID連携が前提）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5600" y="1620000"/>
            <a:ext cx="4449600" cy="2376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33600" y="1692000"/>
            <a:ext cx="42336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5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② F2転換・LTV化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3600" y="1961999"/>
            <a:ext cx="42336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0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使い捨ての解消（F2転換率・LTV）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3600" y="2304000"/>
            <a:ext cx="42336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・購入者への使用フォロー配信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3600" y="2844000"/>
            <a:ext cx="42336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・消費サイクル連動のF2オファー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3600" y="3384000"/>
            <a:ext cx="42336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・定期の解約防止・休眠掘り起こし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意見｜DYM提案の対策領域マップ。S16-20（構築）・S21-26（配信設計）が①②それぞれに対応する</a:t>
            </a:r>
          </a:p>
        </p:txBody>
      </p:sp>
    </p:spTree>
    <p:extLst>
      <p:ext uri="{BB962C8B-B14F-4D97-AF65-F5344CB8AC3E}">
        <p14:creationId xmlns:p14="http://schemas.microsoft.com/office/powerpoint/2010/main" val="42248704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F09D0-C3F8-FF51-9B68-5792A11B6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全体設計｜施策展開図（初期・月次）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初期構築は1ヶ月、以降は月次運用。やることは決まっていて増え続けない。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9043200" cy="270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初期（初動・構築）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942400" cy="6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あいさつメッセージ設計（送料条件先出し）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6399" y="1980000"/>
            <a:ext cx="2942400" cy="6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診断・アンケート設計（タグ設計）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60800" y="1980000"/>
            <a:ext cx="2942400" cy="6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リッチメニュー3タブ18ボタン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664000"/>
            <a:ext cx="2942400" cy="6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 ID連携の基盤構築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6399" y="2664000"/>
            <a:ext cx="2942400" cy="6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カゴ落ちリマインド3通の設計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3348000"/>
            <a:ext cx="9043200" cy="270000"/>
          </a:xfrm>
          <a:prstGeom prst="roundRect">
            <a:avLst>
              <a:gd name="adj" fmla="val 1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月次（定例運用）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3708000"/>
            <a:ext cx="2188800" cy="503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年間企画投稿（商戦カレンダー連動）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2800" y="3708000"/>
            <a:ext cx="2188800" cy="503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F2オファー配信（消費サイクル連動）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3600" y="3708000"/>
            <a:ext cx="2188800" cy="503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通知メッセージ運用（発送・再入荷）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4400" y="3708000"/>
            <a:ext cx="2188800" cy="503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4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定例レポート・改善提案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意見｜DYM標準の展開図をEC施策に置換</a:t>
            </a:r>
          </a:p>
        </p:txBody>
      </p:sp>
    </p:spTree>
    <p:extLst>
      <p:ext uri="{BB962C8B-B14F-4D97-AF65-F5344CB8AC3E}">
        <p14:creationId xmlns:p14="http://schemas.microsoft.com/office/powerpoint/2010/main" val="17728060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1590B-7660-E16F-AF1F-C1B09199C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構築｜友だち追加動線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5本の動線で友だちを増やす。購入完了画面と同梱物QRが最速で貯まる。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1693440" cy="180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サイトポップアップ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離脱意図を検知して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LINE追加バナーを表示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69440" y="1655999"/>
            <a:ext cx="1693440" cy="180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購入完了画面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「発送状況をLINEで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お届けします」で誘導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06880" y="1655999"/>
            <a:ext cx="1693440" cy="180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同梱物QR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梱包物に同梱。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受け取り後の最速接点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4320" y="1655999"/>
            <a:ext cx="1693440" cy="180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 LINE広告（CPF）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友だち追加動線として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タイムラインに配信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81760" y="1655999"/>
            <a:ext cx="1693440" cy="180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 通知メッセージ経由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非友だちにも届く通知から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LINE本体へ誘導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3563999"/>
            <a:ext cx="9043200" cy="46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0" y="3563999"/>
            <a:ext cx="8827200" cy="46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③購入完了画面・④同梱物QRが最速で貯まる。ここを外すと以降が全部乗らない。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意見｜DYM提案の友だち追加動線設計</a:t>
            </a:r>
          </a:p>
        </p:txBody>
      </p:sp>
    </p:spTree>
    <p:extLst>
      <p:ext uri="{BB962C8B-B14F-4D97-AF65-F5344CB8AC3E}">
        <p14:creationId xmlns:p14="http://schemas.microsoft.com/office/powerpoint/2010/main" val="42609803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構築｜あいさつメッセージ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初回クーポン＋「メルマガのような配信はしません」宣言＋送料条件の先出し。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カゴ落ち理由1位（追加コストの不透明さ）にここで先回りする。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40000" y="1620000"/>
            <a:ext cx="3096000" cy="2376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0400" y="1771200"/>
            <a:ext cx="2995200" cy="2174399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0400" y="1771200"/>
            <a:ext cx="2995200" cy="1872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公式アカウント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600" y="1998000"/>
            <a:ext cx="2872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友だち追加ありがとうございます！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初回限定10%OFFクーポンです🎁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1600" y="2365200"/>
            <a:ext cx="2872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送料：全国一律550円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11,000円以上のご購入で送料無料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600" y="2732400"/>
            <a:ext cx="2872800" cy="323999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62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※メルマガのような一斉配信はしません。</a:t>
            </a:r>
          </a:p>
          <a:p>
            <a:pPr algn="l">
              <a:lnSpc>
                <a:spcPct val="115000"/>
              </a:lnSpc>
            </a:pPr>
            <a:r>
              <a:rPr sz="62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お役立ち情報のみ、月数回お届けします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1600" y="3099600"/>
            <a:ext cx="28728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0800" bIns="10800"/>
          <a:lstStyle/>
          <a:p>
            <a:pPr algn="ctr">
              <a:lnSpc>
                <a:spcPct val="115000"/>
              </a:lnSpc>
            </a:pPr>
            <a:r>
              <a:rPr sz="68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クーポンを使って探す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87999" y="1620000"/>
            <a:ext cx="5587200" cy="23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96000" y="1692000"/>
            <a:ext cx="53712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設計の要点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96000" y="1980000"/>
            <a:ext cx="5371200" cy="612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・初回クーポンで即メリット</a:t>
            </a:r>
          </a:p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登録動機を明確化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96000" y="2628000"/>
            <a:ext cx="5371200" cy="612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・「メルマガのような配信はしません」宣言</a:t>
            </a:r>
          </a:p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メルマガ開封率20%前後への</a:t>
            </a:r>
          </a:p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忌避感を先に解消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6000" y="3276000"/>
            <a:ext cx="5371200" cy="612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・送料条件を最初から先出し</a:t>
            </a:r>
          </a:p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カゴ落ち理由1位（53%・追加</a:t>
            </a:r>
          </a:p>
          <a:p>
            <a:pPr algn="l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コストの不透明さ）に先回り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意見｜配信文面は初稿。カゴ落ち理由の出典：Baymard Institute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EBFBA-F50F-49FF-6262-A65BC71D2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構築｜診断・アンケート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肌・サイズ・好み・悩みを4問で聞き、タグ化する。以降の配信を全部自動で出し分けられる。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44496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Q1 肌質・タイプは？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乾燥／脂性／混合／敏感／わからない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商品レコメンドの軸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5600" y="1620000"/>
            <a:ext cx="44496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Q2 サイズ・容量の目安は？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少量から試したい／いつも使う量が
決まっている／大容量派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F2オファーのタイミング設計に活用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808000"/>
            <a:ext cx="44496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Q3 好みのテイスト・悩みは？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選択式・複数選択可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企画配信・レコメンドのタグ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5600" y="2808000"/>
            <a:ext cx="44496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Q4 購入のきっかけは？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広告／口コミ／SNS／ギフト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流入チャネル別の育成シナリオ分岐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意見｜診断結果→タグ化→以降の配信を自動で出し分け</a:t>
            </a:r>
          </a:p>
        </p:txBody>
      </p:sp>
    </p:spTree>
    <p:extLst>
      <p:ext uri="{BB962C8B-B14F-4D97-AF65-F5344CB8AC3E}">
        <p14:creationId xmlns:p14="http://schemas.microsoft.com/office/powerpoint/2010/main" val="125110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構築｜リッチメニュー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3タブ×6ボタン＝18ボタンすべてに役割がある。左上は「今すぐ探す」に相当する導線。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72000" y="1655999"/>
            <a:ext cx="4320000" cy="2340000"/>
          </a:xfrm>
          <a:prstGeom prst="roundRect">
            <a:avLst>
              <a:gd name="adj" fmla="val 6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93600" y="1677599"/>
            <a:ext cx="1414800" cy="1980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買う</a:t>
            </a:r>
          </a:p>
        </p:txBody>
      </p:sp>
      <p:sp>
        <p:nvSpPr>
          <p:cNvPr id="7" name="Rectangle 6"/>
          <p:cNvSpPr/>
          <p:nvPr/>
        </p:nvSpPr>
        <p:spPr>
          <a:xfrm>
            <a:off x="2419200" y="1677599"/>
            <a:ext cx="1414800" cy="198000"/>
          </a:xfrm>
          <a:prstGeom prst="rect">
            <a:avLst/>
          </a:prstGeom>
          <a:solidFill>
            <a:srgbClr val="3F3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わたしの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4800" y="1677599"/>
            <a:ext cx="1414800" cy="198000"/>
          </a:xfrm>
          <a:prstGeom prst="rect">
            <a:avLst/>
          </a:prstGeom>
          <a:solidFill>
            <a:srgbClr val="3F3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サポート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3600" y="1897199"/>
            <a:ext cx="1411200" cy="1027800"/>
          </a:xfrm>
          <a:prstGeom prst="roundRect">
            <a:avLst>
              <a:gd name="adj" fmla="val 4000"/>
            </a:avLst>
          </a:prstGeom>
          <a:solidFill>
            <a:srgbClr val="EFF2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今すぐ</a:t>
            </a:r>
          </a:p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探す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26400" y="1897199"/>
            <a:ext cx="1411200" cy="1027800"/>
          </a:xfrm>
          <a:prstGeom prst="roundRect">
            <a:avLst>
              <a:gd name="adj" fmla="val 4000"/>
            </a:avLst>
          </a:prstGeom>
          <a:solidFill>
            <a:srgbClr val="EFF2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新着</a:t>
            </a:r>
          </a:p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商品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9200" y="1897199"/>
            <a:ext cx="1411200" cy="1027800"/>
          </a:xfrm>
          <a:prstGeom prst="roundRect">
            <a:avLst>
              <a:gd name="adj" fmla="val 4000"/>
            </a:avLst>
          </a:prstGeom>
          <a:solidFill>
            <a:srgbClr val="EFF2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セール</a:t>
            </a:r>
          </a:p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情報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3600" y="2946599"/>
            <a:ext cx="1411200" cy="1027800"/>
          </a:xfrm>
          <a:prstGeom prst="roundRect">
            <a:avLst>
              <a:gd name="adj" fmla="val 4000"/>
            </a:avLst>
          </a:prstGeom>
          <a:solidFill>
            <a:srgbClr val="EFF2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あなたへの</a:t>
            </a:r>
          </a:p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おすすめ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6400" y="2946599"/>
            <a:ext cx="1411200" cy="1027800"/>
          </a:xfrm>
          <a:prstGeom prst="roundRect">
            <a:avLst>
              <a:gd name="adj" fmla="val 4000"/>
            </a:avLst>
          </a:prstGeom>
          <a:solidFill>
            <a:srgbClr val="EFF2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クーポン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59200" y="2946599"/>
            <a:ext cx="1411200" cy="1027800"/>
          </a:xfrm>
          <a:prstGeom prst="roundRect">
            <a:avLst>
              <a:gd name="adj" fmla="val 4000"/>
            </a:avLst>
          </a:prstGeom>
          <a:solidFill>
            <a:srgbClr val="EFF2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再入荷</a:t>
            </a:r>
          </a:p>
          <a:p>
            <a:pPr algn="ctr">
              <a:lnSpc>
                <a:spcPct val="110000"/>
              </a:lnSpc>
            </a:pPr>
            <a:r>
              <a:rPr sz="72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通知登録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43999" y="1728000"/>
            <a:ext cx="3931200" cy="216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設計の要点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・買う＝新規購入の導線を集約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・わたしの＝配送状況・定期便管理で
　問い合わせを自己解決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・サポート＝返品・サイズ等の
　不安をKW自動応答で先回り</a:t>
            </a:r>
          </a:p>
          <a:p>
            <a:pPr algn="l">
              <a:lnSpc>
                <a:spcPct val="130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・タブ切替で3倍の情報量を
　1画面に収める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意見｜DYM提案のリッチメニュー設計</a:t>
            </a: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構築｜LINE ID連携（★心臓部）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ID連携が無いと、S23・S24・S26の施策は全部絵に描いた餅になる。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ECの顧客データとLINE IDを紐づけ、LINE IDをマスタIDにしたCRM基盤にする。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620000"/>
          <a:ext cx="90432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3824"/>
                <a:gridCol w="2532096"/>
                <a:gridCol w="3617280"/>
              </a:tblGrid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施策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ID連携なし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ID連携あり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カゴ落ちリマインド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✕ 打てない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○ カート放棄をトリガーに自動配信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購入商品に応じたF2オファー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✕ 全員に同じ配信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○ 買った商品に合わせて出し分け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定期の次回発送前フォロー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✕ 打てない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○ 発送サイクルに合わせて自動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購入者を配信から除外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✕ クーポンを無駄打ち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○ 除外できる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18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再入荷通知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○ 希望者にだけ届く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3060000"/>
            <a:ext cx="9043200" cy="10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3113999"/>
            <a:ext cx="8827200" cy="18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依存関係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000" y="3348000"/>
            <a:ext cx="2015999" cy="2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S23 F2オファー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20000" y="3563999"/>
            <a:ext cx="3333600" cy="288000"/>
          </a:xfrm>
          <a:prstGeom prst="line">
            <a:avLst/>
          </a:prstGeom>
          <a:ln w="15875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51999" y="3348000"/>
            <a:ext cx="2015999" cy="2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S24 カゴ落ちリマインド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60000" y="3563999"/>
            <a:ext cx="993600" cy="288000"/>
          </a:xfrm>
          <a:prstGeom prst="line">
            <a:avLst/>
          </a:prstGeom>
          <a:ln w="15875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292000" y="3348000"/>
            <a:ext cx="2015999" cy="2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S26 通知メッセージ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4953600" y="3563999"/>
            <a:ext cx="1346400" cy="288000"/>
          </a:xfrm>
          <a:prstGeom prst="line">
            <a:avLst/>
          </a:prstGeom>
          <a:ln w="15875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873600" y="3870000"/>
            <a:ext cx="2160000" cy="21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S20 LINE ID連携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意見｜仕組み＝LINEログイン／ミニアプリ経由でECの顧客データとLINE IDを紐づけ</a:t>
            </a: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配信設計｜シナリオ2本の設計表（★重点）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ECのステップ配信は「14日1本」ではない。購入前後で時間軸が別物なので、2本持つ。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583999"/>
            <a:ext cx="9043200" cy="23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シナリオ①｜未購入者（友だち追加〜7日）ECの検討は短い。7日で刈る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872000"/>
            <a:ext cx="2206800" cy="90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初動｜Day0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86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あいさつ＋初回クーポン（期限を切る）＋診断への誘導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2800" y="1872000"/>
            <a:ext cx="2206800" cy="90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不安つぶし｜Day2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86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口コミ・使い方・送料と返品条件（カゴ落ち理由1位に先回り）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3600" y="1872000"/>
            <a:ext cx="2206800" cy="90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比較対策｜Day4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86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他社との違い・FAQ（「解約」「縛り」に先回り／S11と連動）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14400" y="1872000"/>
            <a:ext cx="2206800" cy="90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 クロージング｜Day6・7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86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クーポン期限のリマインド。ここが刈り取りの山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2844000"/>
            <a:ext cx="9043200" cy="234000"/>
          </a:xfrm>
          <a:prstGeom prst="roundRect">
            <a:avLst>
              <a:gd name="adj" fmla="val 1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シナリオ②｜購入者（F2狙い・消費サイクル連動）日数固定にしない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3131999"/>
            <a:ext cx="2206800" cy="90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① サンクス｜購入直後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86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発送予定・使い方。ここでレビューを求めない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92800" y="3131999"/>
            <a:ext cx="2206800" cy="90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② 使用フォロー｜使い始めの頃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86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「こう使うと効果が出やすい」＝離脱防止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3600" y="3131999"/>
            <a:ext cx="2206800" cy="90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③ F2オファー｜無くなる少し前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86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「そろそろ切れる頃です」＋再購入導線。最大の山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14400" y="3131999"/>
            <a:ext cx="2206800" cy="90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④ 引き上げ｜F2後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869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定期・まとめ買いへの引き上げ／レビュー依頼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意見｜③F2オファーのタイミングは商材で変わる。「商品の内容量 ÷ 1日使用量」から逆算する（日数は書かない）</a:t>
            </a:r>
          </a:p>
        </p:txBody>
      </p: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配信設計｜実文面①｜未購入者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Day0のクーポンとDay4の不安つぶし、Day7の期限リマインド。実際に届く文面はこれ。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40000" y="1620000"/>
            <a:ext cx="2880000" cy="2412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0400" y="1771200"/>
            <a:ext cx="2779200" cy="2210400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0400" y="1771200"/>
            <a:ext cx="2779200" cy="1872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600" y="1998000"/>
            <a:ext cx="2656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友だち追加ありがとうございます！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初回10%OFFクーポンをお届けします🎁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1600" y="2365200"/>
            <a:ext cx="2656800" cy="2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0800" bIns="10800"/>
          <a:lstStyle/>
          <a:p>
            <a:pPr algn="ctr">
              <a:lnSpc>
                <a:spcPct val="115000"/>
              </a:lnSpc>
            </a:pPr>
            <a:r>
              <a:rPr sz="65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クーポンを使う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600" y="2624400"/>
            <a:ext cx="2656800" cy="21600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62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通知プレビュー：「友だち追加ありがとうございます！初回1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3999" y="1620000"/>
            <a:ext cx="2880000" cy="2412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4399" y="1771200"/>
            <a:ext cx="2779200" cy="2210400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14399" y="1771200"/>
            <a:ext cx="2779200" cy="1872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75599" y="1998000"/>
            <a:ext cx="2656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「送料はいくら？」というお声を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よくいただきます。全国一律550円、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11,000円以上で無料です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75599" y="2473199"/>
            <a:ext cx="2656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返品は到着後8日以内、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未開封なら送料弊社負担です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75599" y="2840399"/>
            <a:ext cx="2656800" cy="2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0800" bIns="10800"/>
          <a:lstStyle/>
          <a:p>
            <a:pPr algn="ctr">
              <a:lnSpc>
                <a:spcPct val="115000"/>
              </a:lnSpc>
            </a:pPr>
            <a:r>
              <a:rPr sz="65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商品を見てみる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8000" y="1620000"/>
            <a:ext cx="2880000" cy="2412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38400" y="1771200"/>
            <a:ext cx="2779200" cy="2210400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38400" y="1771200"/>
            <a:ext cx="2779200" cy="1872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99600" y="1998000"/>
            <a:ext cx="2656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クーポンは本日23:59まで。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カートに残っている商品があります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99600" y="2365200"/>
            <a:ext cx="26568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0800" bIns="10800"/>
          <a:lstStyle/>
          <a:p>
            <a:pPr algn="ctr">
              <a:lnSpc>
                <a:spcPct val="115000"/>
              </a:lnSpc>
            </a:pPr>
            <a:r>
              <a:rPr sz="68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クーポンを使って購入する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9600" y="2624400"/>
            <a:ext cx="2656800" cy="21600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62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通知プレビュー：「【本日まで】10%OFFクーポンの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意見｜配信文面は初稿。絵文字・改行込みで実際の配信に近い形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配信設計｜実文面②｜購入者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サンクス・使用フォロー・F2オファー。ここでレビューを急かさない。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40000" y="1620000"/>
            <a:ext cx="2880000" cy="2412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0400" y="1771200"/>
            <a:ext cx="2779200" cy="2210400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0400" y="1771200"/>
            <a:ext cx="2779200" cy="1872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購入直後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600" y="1998000"/>
            <a:ext cx="2656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ご購入ありがとうございます！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発送予定は2〜3営業日以内です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1600" y="2365200"/>
            <a:ext cx="2656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使い方のコツはこちら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をご覧ください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1600" y="2732400"/>
            <a:ext cx="2656800" cy="2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0800" bIns="10800"/>
          <a:lstStyle/>
          <a:p>
            <a:pPr algn="ctr">
              <a:lnSpc>
                <a:spcPct val="115000"/>
              </a:lnSpc>
            </a:pPr>
            <a:r>
              <a:rPr sz="65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使い方ガイドを見る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3999" y="1620000"/>
            <a:ext cx="2880000" cy="2412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4399" y="1771200"/>
            <a:ext cx="2779200" cy="2210400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14399" y="1771200"/>
            <a:ext cx="2779200" cy="1872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使い始めの頃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75599" y="1998000"/>
            <a:ext cx="2656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お使いいただけていますか？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こう使うと効果を実感しやすい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という声が多いポイントです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599" y="2473199"/>
            <a:ext cx="2656800" cy="21600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62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※ここではレビューを求めない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8000" y="1620000"/>
            <a:ext cx="2880000" cy="2412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38400" y="1771200"/>
            <a:ext cx="2779200" cy="2210400"/>
          </a:xfrm>
          <a:prstGeom prst="rect">
            <a:avLst/>
          </a:prstGeom>
          <a:solidFill>
            <a:srgbClr val="EF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38400" y="1771200"/>
            <a:ext cx="2779200" cy="1872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無くなる少し前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99600" y="1998000"/>
            <a:ext cx="2656800" cy="32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36000" tIns="18000" bIns="18000"/>
          <a:lstStyle/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そろそろ無くなる頃かと</a:t>
            </a:r>
          </a:p>
          <a:p>
            <a:pPr algn="l">
              <a:lnSpc>
                <a:spcPct val="118000"/>
              </a:lnSpc>
            </a:pPr>
            <a:r>
              <a:rPr sz="6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お送りしました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99600" y="2365200"/>
            <a:ext cx="26568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0800" bIns="10800"/>
          <a:lstStyle/>
          <a:p>
            <a:pPr algn="ctr">
              <a:lnSpc>
                <a:spcPct val="115000"/>
              </a:lnSpc>
            </a:pPr>
            <a:r>
              <a:rPr sz="68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再購入する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99600" y="2624400"/>
            <a:ext cx="2656800" cy="2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0800" bIns="10800"/>
          <a:lstStyle/>
          <a:p>
            <a:pPr algn="ctr">
              <a:lnSpc>
                <a:spcPct val="115000"/>
              </a:lnSpc>
            </a:pPr>
            <a:r>
              <a:rPr sz="65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定期便に切り替える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意見｜F2オファーのタイミングは「内容量÷1日使用量」から逆算（S21参照）</a:t>
            </a:r>
          </a:p>
        </p:txBody>
      </p:sp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F94-39A6-ED70-5918-C4DFB0937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配信設計｜カゴ落ちリマインドの設計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「何分後・何回・何を出すか」まで具体で書く。S20（ID連携）が前提。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324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1通目｜60分後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980000"/>
            <a:ext cx="2942400" cy="118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カート内容の再掲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催促しない。「カートに商品が残っています」のみ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82400" y="1620000"/>
            <a:ext cx="2942400" cy="324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2通目｜24時間後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2400" y="1980000"/>
            <a:ext cx="2942400" cy="118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不安つぶし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送料条件・返品保証など、カゴ落ち理由1位に対応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2800" y="1620000"/>
            <a:ext cx="2942400" cy="324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3通目｜48時間後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2800" y="1980000"/>
            <a:ext cx="2942400" cy="118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期限提示</a:t>
            </a:r>
          </a:p>
          <a:p>
            <a:pPr algn="l">
              <a:lnSpc>
                <a:spcPct val="135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「クーポンは本日まで」等、最後の一押し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3276000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0000" y="3276000"/>
            <a:ext cx="8827200" cy="43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★S20（LINE ID連携）が前提。カート放棄をトリガーに自動配信する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意見｜通数・タイミングは初稿。配信間隔は実運用データで調整</a:t>
            </a:r>
          </a:p>
        </p:txBody>
      </p:sp>
    </p:spTree>
    <p:extLst>
      <p:ext uri="{BB962C8B-B14F-4D97-AF65-F5344CB8AC3E}">
        <p14:creationId xmlns:p14="http://schemas.microsoft.com/office/powerpoint/2010/main" val="29571587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1E7E9-7412-46E6-C9BD-3E3A30E4E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配信設計｜年間の企画投稿カレンダー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S10の季節性を「◯月：企画（参照データ）」形式に落とす。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50000" y="16200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5999" y="1638000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5999" y="1782000"/>
            <a:ext cx="1399200" cy="23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初売り・福袋特集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5999" y="2015999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68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S10商戦データ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57200" y="16200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93200" y="1638000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200" y="1782000"/>
            <a:ext cx="1399200" cy="23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バレンタインギフト特集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200" y="2015999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68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S10商戦データ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4400" y="16200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0400" y="1638000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0400" y="1782000"/>
            <a:ext cx="1399200" cy="23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楽天SS・新生活準備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0400" y="2015999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68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S10商戦データ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1600" y="16200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7599" y="1638000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07599" y="1782000"/>
            <a:ext cx="1399200" cy="23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新生活後半フォロー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7599" y="2015999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68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S10商戦データ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8800" y="16200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4799" y="1638000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4799" y="1782000"/>
            <a:ext cx="1399200" cy="23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母の日特集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4799" y="2015999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68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S10商戦データ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6000" y="16200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21999" y="1638000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1999" y="1782000"/>
            <a:ext cx="1399200" cy="23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父の日・お中元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1999" y="2015999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68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S10商戦データ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0000" y="22212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5999" y="2239200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5999" y="2383200"/>
            <a:ext cx="1399200" cy="23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プライムデー対抗企画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999" y="2617200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68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S10商戦データ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957200" y="22212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93200" y="2239200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93200" y="2383200"/>
            <a:ext cx="1399200" cy="23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秋商戦の仕込み案内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93200" y="2617200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68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S10「8月は仕込み月」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64400" y="22212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00400" y="2239200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00400" y="2383200"/>
            <a:ext cx="1399200" cy="23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秋の新商品予告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00400" y="2617200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68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S10商戦データ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71600" y="22212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07599" y="2239200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07599" y="2383200"/>
            <a:ext cx="1399200" cy="23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ハロウィン特集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07599" y="2617200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68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S10商戦データ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78800" y="22212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14799" y="2239200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11月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4799" y="2383200"/>
            <a:ext cx="1399200" cy="23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ブラックフライデー特集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14799" y="2617200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68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S10「年間最大の山」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986000" y="2221200"/>
            <a:ext cx="1471200" cy="55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21999" y="2239200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1999" y="2383200"/>
            <a:ext cx="1399200" cy="23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年末セール・福袋予告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21999" y="2617200"/>
            <a:ext cx="1399200" cy="14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68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S10商戦データ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意見｜繁忙期は捌く、閑散期（8月）は仕込む。参照データはS10のシーズナリティ</a:t>
            </a:r>
          </a:p>
        </p:txBody>
      </p:sp>
    </p:spTree>
    <p:extLst>
      <p:ext uri="{BB962C8B-B14F-4D97-AF65-F5344CB8AC3E}">
        <p14:creationId xmlns:p14="http://schemas.microsoft.com/office/powerpoint/2010/main" val="27568268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5F51C-1549-19C8-A509-C77C3C8B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配信設計｜通知メッセージ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友だちでなくても届く接点。発送・配送状況・再入荷・定期の次回発送前。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179800" cy="115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発送通知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注文確定・発送完了を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即時通知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19800" y="1655999"/>
            <a:ext cx="2179800" cy="115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配送状況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配送状況の更新を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プッシュ通知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7600" y="1655999"/>
            <a:ext cx="2179800" cy="115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再入荷通知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希望者にだけ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再入荷を通知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5400" y="1655999"/>
            <a:ext cx="2179800" cy="115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定期の次回発送前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発送サイクルに合わせて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事前案内（S20が前提）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951999"/>
            <a:ext cx="9043200" cy="64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0" y="2951999"/>
            <a:ext cx="8827200" cy="648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★友だちでなくても届く接点がある</a:t>
            </a:r>
          </a:p>
          <a:p>
            <a:pPr algn="l">
              <a:lnSpc>
                <a:spcPct val="130000"/>
              </a:lnSpc>
            </a:pPr>
            <a:r>
              <a:rPr sz="1050">
                <a:solidFill>
                  <a:srgbClr val="E9EDF7"/>
                </a:solidFill>
                <a:latin typeface="メイリオ"/>
                <a:ea typeface="メイリオ"/>
                <a:cs typeface="メイリオ"/>
              </a:rPr>
              <a:t>ブロックされていても、購入者への配送・発送情報は届く。ID連携（S20）が前提。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意見｜通知メッセージはAPI連携（Messaging API）が前提。別途費用（S30参照）</a:t>
            </a:r>
          </a:p>
        </p:txBody>
      </p:sp>
    </p:spTree>
    <p:extLst>
      <p:ext uri="{BB962C8B-B14F-4D97-AF65-F5344CB8AC3E}">
        <p14:creationId xmlns:p14="http://schemas.microsoft.com/office/powerpoint/2010/main" val="7743960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E2D0F-DE07-83AE-E053-ED6184F31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歩留まり・工数｜F2転換率の改善（★本資料の山）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初回購入者の6〜7割は2回目を買わない。ここを動かすのがEC最大のレバー。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9043200" cy="936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673999"/>
            <a:ext cx="87552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300" b="1">
                <a:solidFill>
                  <a:srgbClr val="C9D3EC"/>
                </a:solidFill>
                <a:latin typeface="メイリオ"/>
                <a:ea typeface="メイリオ"/>
                <a:cs typeface="メイリオ"/>
              </a:rPr>
              <a:t>F2転換率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872000"/>
            <a:ext cx="8755200" cy="61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30〜40%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1999" y="1872000"/>
            <a:ext cx="6019200" cy="612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＝ 初回購入者の6〜7割は2回目を買わない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664000"/>
            <a:ext cx="2942400" cy="115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消費サイクル連動の配信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「そろそろ無くなる頃」を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内容量÷1日使用量で逆算配信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82400" y="2664000"/>
            <a:ext cx="2942400" cy="115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定期引上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初回お試し→定期購入への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引き上げ導線（目安：約20%）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2800" y="2664000"/>
            <a:ext cx="2942400" cy="115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休眠掘り起こし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F2化しなかった層への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再アプローチ・特典訴求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業界水準｜F2転換率（化粧品）25〜35%／（化粧品・健康食品などの単品通販）30〜40%／定期引上率（初回→定期）約20%</a:t>
            </a:r>
          </a:p>
        </p:txBody>
      </p:sp>
    </p:spTree>
    <p:extLst>
      <p:ext uri="{BB962C8B-B14F-4D97-AF65-F5344CB8AC3E}">
        <p14:creationId xmlns:p14="http://schemas.microsoft.com/office/powerpoint/2010/main" val="22997255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6F07D-57DB-D005-AEF4-0353E12BF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歩留まり・工数｜工数削減＋改善モデル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問い合わせ・注文/配送照会をセルフ化し、各段の打ち手を1対1で対応させる。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32000" y="1620000"/>
            <a:ext cx="9043200" cy="18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工数削減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835999"/>
            <a:ext cx="2942400" cy="75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KW自動応答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「送料は？」「返品は？」を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24時間自動応答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82400" y="1835999"/>
            <a:ext cx="2942400" cy="75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配送状況セルフ照会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リッチメニューから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注文履歴・配送状況を自己解決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2800" y="1835999"/>
            <a:ext cx="2942400" cy="75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よくある質問の自動化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サイズ・支払い方法等を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メニュー選択式で即回答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2700000"/>
            <a:ext cx="9043200" cy="18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改善モデル｜各段に打ち手が1対1で対応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000" y="2951999"/>
            <a:ext cx="1219885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カゴ落ち</a:t>
            </a:r>
          </a:p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対策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23885" y="2988000"/>
            <a:ext cx="1291885" cy="503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51771" y="2951999"/>
            <a:ext cx="1219885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初回購入</a:t>
            </a:r>
          </a:p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CVR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7657" y="2988000"/>
            <a:ext cx="1291885" cy="503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35542" y="2951999"/>
            <a:ext cx="1219885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F2転換率</a:t>
            </a:r>
          </a:p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1428" y="2988000"/>
            <a:ext cx="1291885" cy="503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9314" y="2951999"/>
            <a:ext cx="1219885" cy="57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定期・LTV</a:t>
            </a:r>
          </a:p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最大化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意見｜DYM提案の改善モデル。工数削減はスタッフ対応ゼロを目指すのではなく、定型対応を減らして個別対応に集中する設計</a:t>
            </a:r>
          </a:p>
        </p:txBody>
      </p:sp>
    </p:spTree>
    <p:extLst>
      <p:ext uri="{BB962C8B-B14F-4D97-AF65-F5344CB8AC3E}">
        <p14:creationId xmlns:p14="http://schemas.microsoft.com/office/powerpoint/2010/main" val="2638127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F5926-064C-E9E2-1BF7-7405461E3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成果と体制｜効果測定の設計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主KPI＝CPO＋F2転換率。締めはLTV÷CPO。数値は入れず構造だけ図示する。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620000"/>
          <a:ext cx="9043200" cy="13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6912"/>
                <a:gridCol w="2532096"/>
                <a:gridCol w="2532096"/>
                <a:gridCol w="2532096"/>
              </a:tblGrid>
              <a:tr h="270000"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/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Before（広告のみ）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After（1年目）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After（2年目）</a:t>
                      </a:r>
                    </a:p>
                  </a:txBody>
                  <a:tcPr marL="43200" marR="43200" marT="18000" marB="18000" anchor="ctr">
                    <a:solidFill>
                      <a:srgbClr val="1F285A"/>
                    </a:solidFill>
                  </a:tcPr>
                </a:tc>
              </a:tr>
              <a:tr h="27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注文数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広告費÷CPO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① カゴ落ち回収で増加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同左＋友だちリスト流入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LTV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≒初回売上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② F2転換の自動化で上昇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定期・休眠復活で更に上昇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  <a:tr h="27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翌期の広告費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毎期フルで必要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同左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③ 友だちリスト分だけ圧縮可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LTV ÷ CPO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伸びない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改善方向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 wrap="square" lIns="43200" rIns="43200" tIns="7200" bIns="7200" anchor="ctr"/>
                    <a:lstStyle/>
                    <a:p>
                      <a:pPr algn="l"/>
                      <a:r>
                        <a:rPr sz="85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★期を追うごとに上がる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32000" y="2988000"/>
            <a:ext cx="9043200" cy="7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3041999"/>
            <a:ext cx="8827200" cy="720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★肝：広告経由の顧客は1回買って消える。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友だち化すると資産として残るので、LTV÷CPOは期を追うごとに上がる。</a:t>
            </a:r>
          </a:p>
          <a:p>
            <a:pPr algn="l">
              <a:lnSpc>
                <a:spcPct val="130000"/>
              </a:lnSpc>
            </a:pPr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締め：御社の実績をいただければSIMを作ります。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意見｜数値は入れない（業界汎用のためSIMは作らない）。主KPI＝CPO＋F2転換率</a:t>
            </a:r>
          </a:p>
        </p:txBody>
      </p:sp>
    </p:spTree>
    <p:extLst>
      <p:ext uri="{BB962C8B-B14F-4D97-AF65-F5344CB8AC3E}">
        <p14:creationId xmlns:p14="http://schemas.microsoft.com/office/powerpoint/2010/main" val="35561967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0F9E9-3239-4F30-04FA-62A41B302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成果と体制｜費用プラン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無償付帯と別途費用を分けて示す。追加で払うものを隠さない（6ヶ月〜・税抜）。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179800" cy="118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3999" y="1673999"/>
            <a:ext cx="20358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コンサル基本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999" y="2015999"/>
            <a:ext cx="2035800" cy="21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初期10万〜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2250000"/>
            <a:ext cx="20358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月20万（3投稿）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月30万（5投稿）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月50万（9投稿）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9800" y="1620000"/>
            <a:ext cx="2179800" cy="118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91800" y="1673999"/>
            <a:ext cx="20358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初動設計＋運用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91800" y="2015999"/>
            <a:ext cx="2035800" cy="21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初期10万〜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1800" y="2250000"/>
            <a:ext cx="20358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月5万〜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7600" y="1620000"/>
            <a:ext cx="2179800" cy="118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9600" y="1673999"/>
            <a:ext cx="20358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運用代行・効率改善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9600" y="2015999"/>
            <a:ext cx="2035800" cy="21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初期10万〜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9600" y="2250000"/>
            <a:ext cx="20358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月0万〜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（アカウント費のみ）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5400" y="1620000"/>
            <a:ext cx="2179800" cy="1188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7400" y="1673999"/>
            <a:ext cx="20358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 成果報酬型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7400" y="2015999"/>
            <a:ext cx="2035800" cy="216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初期5万〜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7400" y="2250000"/>
            <a:ext cx="2035800" cy="503999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月＝単価×成果数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＋固定費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2916000"/>
            <a:ext cx="9043200" cy="18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無償付帯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3096000"/>
            <a:ext cx="90432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アカウント開設／プロフィール／リッチメニュー／あいさつ／初期アンケート／KW自動応答／ステップ配信／セグメント配信／タグ管理／GAレポート連携／クリエイティブ／定例会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000" y="3456000"/>
            <a:ext cx="9043200" cy="18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1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別途費用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3636000"/>
            <a:ext cx="9043200" cy="324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離脱防止（Sitelead）初期10万＋月5万／API連携／通知メッセージ 等。配信ツールはLstep／Hachidoriのいずれかを要件で選定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意見｜DYM標準プラン（6ヶ月〜・税抜）</a:t>
            </a:r>
          </a:p>
        </p:txBody>
      </p:sp>
    </p:spTree>
    <p:extLst>
      <p:ext uri="{BB962C8B-B14F-4D97-AF65-F5344CB8AC3E}">
        <p14:creationId xmlns:p14="http://schemas.microsoft.com/office/powerpoint/2010/main" val="20125450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4B6A2-11F2-64AD-4DDE-1248419C6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成果と体制｜運用スケジュール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1ヶ月目に構築、2ヶ月目に稼働、3ヶ月目から改善。6ヶ月で年間配信の型ができる。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68000" y="1655999"/>
            <a:ext cx="21888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1ヶ月目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1998000"/>
            <a:ext cx="21888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構築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8000" y="2250000"/>
            <a:ext cx="2188800" cy="97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あいさつMSG・診断・リッチメニュー・ID連携基盤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8800" y="2231999"/>
            <a:ext cx="144000" cy="36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28800" y="1655999"/>
            <a:ext cx="21888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2ヶ月目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8800" y="1998000"/>
            <a:ext cx="21888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稼働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8800" y="2250000"/>
            <a:ext cx="2188800" cy="97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友だち追加動線を稼働。カゴ落ちリマインド開始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9600" y="2231999"/>
            <a:ext cx="144000" cy="36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9600" y="1655999"/>
            <a:ext cx="21888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3〜4ヶ月目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9600" y="1998000"/>
            <a:ext cx="21888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改善①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9600" y="2250000"/>
            <a:ext cx="2188800" cy="97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F2オファー配信を開始。効果測定・改善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0400" y="2231999"/>
            <a:ext cx="144000" cy="36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50400" y="1655999"/>
            <a:ext cx="21888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400" rIns="50400" tIns="21600" bIns="216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5〜6ヶ月目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0400" y="1998000"/>
            <a:ext cx="21888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改善②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50400" y="2250000"/>
            <a:ext cx="2188800" cy="97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年間企画投稿カレンダーの型を確立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意見｜6ヶ月で年間配信の型を確立。以降は月次運用フェーズへ</a:t>
            </a:r>
          </a:p>
        </p:txBody>
      </p:sp>
    </p:spTree>
    <p:extLst>
      <p:ext uri="{BB962C8B-B14F-4D97-AF65-F5344CB8AC3E}">
        <p14:creationId xmlns:p14="http://schemas.microsoft.com/office/powerpoint/2010/main" val="38455432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BDC7-BB8D-566B-5273-6DCD8BE03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成果と体制｜サポート体制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定例会・レポート・クリエイティブ制作まで含む。運用は丸ごと持つ。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1798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定例会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月次で振り返り・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翌月の企画をすり合わせ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19800" y="1655999"/>
            <a:ext cx="21798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レポーティング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GA連携で友だち数・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配信効果を数値化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7600" y="1655999"/>
            <a:ext cx="21798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クリエイティブ制作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配信文面・リッチメニュー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画像の制作を内包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5400" y="1655999"/>
            <a:ext cx="2179800" cy="108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運用代行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日々の配信設計・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自動応答の調整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意見｜DYM標準のサポート体制</a:t>
            </a:r>
          </a:p>
        </p:txBody>
      </p:sp>
    </p:spTree>
    <p:extLst>
      <p:ext uri="{BB962C8B-B14F-4D97-AF65-F5344CB8AC3E}">
        <p14:creationId xmlns:p14="http://schemas.microsoft.com/office/powerpoint/2010/main" val="14827790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締め｜飛び道具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他社がやっていない打ち手が4つある。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4449600" cy="111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A　カゴ落ち理由をあえて公開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送料内訳・在庫状況を先に見せる誠実路線。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「隠さない」ことがカゴ落ち理由1位（追加コスト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の不透明さ）への最大の対策になる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5600" y="1620000"/>
            <a:ext cx="4449600" cy="111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B　同梱物QR→開封後アンケート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受け取り直後の温度が最も高い瞬間に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ミニアプリ会員証化のフックを差し込む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844000"/>
            <a:ext cx="4449600" cy="111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　UGC投稿を集めるリッチメニュー導線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「使用写真を送ると次回クーポン」で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レビュー・SNS投稿を友だち経由で集約する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5600" y="2844000"/>
            <a:ext cx="4449600" cy="111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9200" rIns="64800" tIns="50400" bIns="3600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D　「いつでも解約できます」を初回配信で明示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定期縛りへの不安に先回りする。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★前後検索で「解約」不安の実在を確認してから展開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7200" y="2898000"/>
            <a:ext cx="720000" cy="180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0" bIns="0"/>
          <a:lstStyle/>
          <a:p>
            <a:pPr algn="ctr"/>
            <a:r>
              <a:rPr sz="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仮説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意見｜D案は仮説バッジ付き（S11前後検索データの取得後に実在確認）</a:t>
            </a:r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締め｜第2の提案軸｜LINEミニアプリ・LINEギフト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会員証・注文履歴の一元化と、ギフト需要の取り込み。ID連携（S20）の上に乗る拡張機能。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4449600" cy="201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692000"/>
            <a:ext cx="42336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LINEミニアプリ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015999"/>
            <a:ext cx="4233600" cy="432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・会員証・ポイントをLINE内に一元化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484000"/>
            <a:ext cx="4233600" cy="432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・注文履歴・お気に入りをアプリレスで確認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951999"/>
            <a:ext cx="4233600" cy="432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・ID連携基盤（S20）をそのまま活用できる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5600" y="1620000"/>
            <a:ext cx="4449600" cy="201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33600" y="1692000"/>
            <a:ext cx="4233600" cy="251999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LINEギフト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33600" y="2015999"/>
            <a:ext cx="4233600" cy="432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・「送りたい」を逃さない。ギフト需要の取り込み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3600" y="2484000"/>
            <a:ext cx="4233600" cy="432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・受け取り側の新規友だち化にもつながる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3600" y="2951999"/>
            <a:ext cx="4233600" cy="432000"/>
          </a:xfrm>
          <a:prstGeom prst="rect">
            <a:avLst/>
          </a:prstGeom>
          <a:noFill/>
        </p:spPr>
        <p:txBody>
          <a:bodyPr wrap="square" lIns="50400" rIns="50400" tIns="21600" bIns="216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・母の日・クリスマス等の季節商戦との相性が良い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意見｜DYM提案の第2軸。本提案（S16-26）のID連携基盤の上にそのまま構築できる</a:t>
            </a:r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AE1A8-B06F-74B4-1E2A-7416EDA4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締め｜LINEOA実績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48000"/>
            <a:ext cx="9036000" cy="684000"/>
          </a:xfrm>
          <a:prstGeom prst="rect">
            <a:avLst/>
          </a:prstGeom>
          <a:noFill/>
        </p:spPr>
        <p:txBody>
          <a:bodyPr wrap="square" lIns="0" rIns="0" tIns="2160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LINEヤフー公式データと、EC専用の導入事例を並べる。ECは事例が多い業界。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44496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673999"/>
            <a:ext cx="42336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LINE国内MAU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890000"/>
            <a:ext cx="4233600" cy="36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2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1億人突破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196000"/>
            <a:ext cx="4233600" cy="18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2025年12月末時点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5600" y="1620000"/>
            <a:ext cx="44496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33600" y="1673999"/>
            <a:ext cx="4233600" cy="216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メッセージ開封率（当日中）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33600" y="1890000"/>
            <a:ext cx="4233600" cy="36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2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約8割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33600" y="2196000"/>
            <a:ext cx="4233600" cy="180000"/>
          </a:xfrm>
          <a:prstGeom prst="rect">
            <a:avLst/>
          </a:prstGeom>
          <a:noFill/>
        </p:spPr>
        <p:txBody>
          <a:bodyPr wrap="square" lIns="50400" rIns="50400" tIns="21600" bIns="21600" anchor="ctr">
            <a:spAutoFit/>
          </a:bodyPr>
          <a:lstStyle/>
          <a:p>
            <a:pPr algn="l"/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受信直後 約2割／3〜6時間で約5割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2591999"/>
            <a:ext cx="9043200" cy="14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★差込枠｜LINEヤフー公式 EC導入事例（未取得）</a:t>
            </a:r>
          </a:p>
          <a:p>
            <a:pPr algn="ctr">
              <a:lnSpc>
                <a:spcPct val="125000"/>
              </a:lnSpc>
            </a:pPr>
            <a:r>
              <a:rPr sz="8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取得先：lycbiz.com/jp/service/line-official-account/case-study/ec/（EC専用ページあり）。
掲載前に各事例ページの原典で数値を再確認すること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rIns="0" tIns="2160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業界水準｜LINE国内MAU・開封率はLINEヤフー公式値（倍率表現は使用していない）。EC事例は★未取得</a:t>
            </a:r>
          </a:p>
        </p:txBody>
      </p:sp>
    </p:spTree>
    <p:extLst>
      <p:ext uri="{BB962C8B-B14F-4D97-AF65-F5344CB8AC3E}">
        <p14:creationId xmlns:p14="http://schemas.microsoft.com/office/powerpoint/2010/main" val="19326644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141472</TotalTime>
  <Words>5264</Words>
  <Application>Microsoft Office PowerPoint</Application>
  <PresentationFormat>A4 210 x 297 mm</PresentationFormat>
  <Paragraphs>1342</Paragraphs>
  <Slides>36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36</vt:i4>
      </vt:variant>
    </vt:vector>
  </HeadingPairs>
  <TitlesOfParts>
    <vt:vector size="43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佐村 徳人</cp:lastModifiedBy>
  <cp:revision>1919</cp:revision>
  <cp:lastPrinted>2022-11-01T11:38:14Z</cp:lastPrinted>
  <dcterms:created xsi:type="dcterms:W3CDTF">2015-09-04T09:21:15Z</dcterms:created>
  <dcterms:modified xsi:type="dcterms:W3CDTF">2026-07-21T09:21:02Z</dcterms:modified>
</cp:coreProperties>
</file>