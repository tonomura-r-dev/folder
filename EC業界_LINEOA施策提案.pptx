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39"/>
  </p:notesMasterIdLst>
  <p:handoutMasterIdLst>
    <p:handoutMasterId r:id="rId40"/>
  </p:handoutMasterIdLst>
  <p:sldIdLst>
    <p:sldId id="2363" r:id="rId3"/>
    <p:sldId id="2935" r:id="rId4"/>
    <p:sldId id="2956" r:id="rId5"/>
    <p:sldId id="2988" r:id="rId6"/>
    <p:sldId id="2972" r:id="rId7"/>
    <p:sldId id="2977" r:id="rId8"/>
    <p:sldId id="2974" r:id="rId9"/>
    <p:sldId id="2975" r:id="rId10"/>
    <p:sldId id="2979" r:id="rId11"/>
    <p:sldId id="2982" r:id="rId12"/>
    <p:sldId id="2736" r:id="rId13"/>
    <p:sldId id="2983" r:id="rId14"/>
    <p:sldId id="2984" r:id="rId15"/>
    <p:sldId id="2985" r:id="rId16"/>
    <p:sldId id="2986" r:id="rId17"/>
    <p:sldId id="2987" r:id="rId18"/>
    <p:sldId id="2908" r:id="rId19"/>
    <p:sldId id="2950" r:id="rId20"/>
    <p:sldId id="2762" r:id="rId21"/>
    <p:sldId id="2937" r:id="rId22"/>
    <p:sldId id="2939" r:id="rId23"/>
    <p:sldId id="2966" r:id="rId24"/>
    <p:sldId id="2962" r:id="rId25"/>
    <p:sldId id="2942" r:id="rId26"/>
    <p:sldId id="2941" r:id="rId27"/>
    <p:sldId id="2943" r:id="rId28"/>
    <p:sldId id="2944" r:id="rId29"/>
    <p:sldId id="2967" r:id="rId30"/>
    <p:sldId id="2946" r:id="rId31"/>
    <p:sldId id="2947" r:id="rId32"/>
    <p:sldId id="2948" r:id="rId33"/>
    <p:sldId id="2958" r:id="rId34"/>
    <p:sldId id="2954" r:id="rId35"/>
    <p:sldId id="2953" r:id="rId36"/>
    <p:sldId id="2955" r:id="rId37"/>
    <p:sldId id="1169" r:id="rId38"/>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173559"/>
    <a:srgbClr val="04FA0A"/>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534"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notesMaster" Target="notesMasters/notesMaster1.xml"/><Relationship Id="rId40" Type="http://schemas.openxmlformats.org/officeDocument/2006/relationships/handoutMaster" Target="handoutMasters/handout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2026/7/21</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2</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CC596-88E7-2BC9-7631-7B2FF864C8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EA305-DD4B-4755-1A79-3ECAA1BFAEF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E530CFC-96E0-CB7F-D9F4-B974123A5BE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2C657086-8B2C-117D-A7A7-81B2D30759FF}"/>
              </a:ext>
            </a:extLst>
          </p:cNvPr>
          <p:cNvSpPr>
            <a:spLocks noGrp="1"/>
          </p:cNvSpPr>
          <p:nvPr>
            <p:ph type="sldNum" sz="quarter" idx="10"/>
          </p:nvPr>
        </p:nvSpPr>
        <p:spPr/>
        <p:txBody>
          <a:bodyPr/>
          <a:lstStyle/>
          <a:p>
            <a:fld id="{022E43C0-6795-4B13-B37C-259C826D4B6A}" type="slidenum">
              <a:rPr kumimoji="1" lang="ja-JP" altLang="en-US" smtClean="0"/>
              <a:t>6</a:t>
            </a:fld>
            <a:endParaRPr kumimoji="1" lang="ja-JP" altLang="en-US"/>
          </a:p>
        </p:txBody>
      </p:sp>
    </p:spTree>
    <p:extLst>
      <p:ext uri="{BB962C8B-B14F-4D97-AF65-F5344CB8AC3E}">
        <p14:creationId xmlns:p14="http://schemas.microsoft.com/office/powerpoint/2010/main" val="1244022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2B3E24-A18E-3FB1-1BEB-F78B7876B6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3BD67E3-1B96-BBBF-6E58-9F584C1E421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415CA0F-593B-424A-AB1E-372C80A5306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DC1FAE7-9B14-4C23-B5D8-2C06D3E82C52}"/>
              </a:ext>
            </a:extLst>
          </p:cNvPr>
          <p:cNvSpPr>
            <a:spLocks noGrp="1"/>
          </p:cNvSpPr>
          <p:nvPr>
            <p:ph type="sldNum" sz="quarter" idx="10"/>
          </p:nvPr>
        </p:nvSpPr>
        <p:spPr/>
        <p:txBody>
          <a:bodyPr/>
          <a:lstStyle/>
          <a:p>
            <a:fld id="{022E43C0-6795-4B13-B37C-259C826D4B6A}" type="slidenum">
              <a:rPr kumimoji="1" lang="ja-JP" altLang="en-US" smtClean="0"/>
              <a:t>7</a:t>
            </a:fld>
            <a:endParaRPr kumimoji="1" lang="ja-JP" altLang="en-US"/>
          </a:p>
        </p:txBody>
      </p:sp>
    </p:spTree>
    <p:extLst>
      <p:ext uri="{BB962C8B-B14F-4D97-AF65-F5344CB8AC3E}">
        <p14:creationId xmlns:p14="http://schemas.microsoft.com/office/powerpoint/2010/main" val="4053493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68803-9F0E-9C31-9560-2094718579F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09DBAC0-C8E1-8C5B-7FC3-E2F967DE37D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C9E6ECD-81E8-9621-C097-7F38D3F575C9}"/>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0567096-EE1C-9444-DCCA-A268D8AAC4E0}"/>
              </a:ext>
            </a:extLst>
          </p:cNvPr>
          <p:cNvSpPr>
            <a:spLocks noGrp="1"/>
          </p:cNvSpPr>
          <p:nvPr>
            <p:ph type="sldNum" sz="quarter" idx="10"/>
          </p:nvPr>
        </p:nvSpPr>
        <p:spPr/>
        <p:txBody>
          <a:bodyPr/>
          <a:lstStyle/>
          <a:p>
            <a:fld id="{022E43C0-6795-4B13-B37C-259C826D4B6A}" type="slidenum">
              <a:rPr kumimoji="1" lang="ja-JP" altLang="en-US" smtClean="0"/>
              <a:t>8</a:t>
            </a:fld>
            <a:endParaRPr kumimoji="1" lang="ja-JP" altLang="en-US"/>
          </a:p>
        </p:txBody>
      </p:sp>
    </p:spTree>
    <p:extLst>
      <p:ext uri="{BB962C8B-B14F-4D97-AF65-F5344CB8AC3E}">
        <p14:creationId xmlns:p14="http://schemas.microsoft.com/office/powerpoint/2010/main" val="16860848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15D0A-BA72-DE45-32FA-363803F140C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2F8A3-D4B3-B9E6-A613-A157696B87F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3FBD4A-B575-3375-091A-F6A24B5A9B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4CAEAEB9-E37C-569F-CBB7-45D65E2A0906}"/>
              </a:ext>
            </a:extLst>
          </p:cNvPr>
          <p:cNvSpPr>
            <a:spLocks noGrp="1"/>
          </p:cNvSpPr>
          <p:nvPr>
            <p:ph type="sldNum" sz="quarter" idx="10"/>
          </p:nvPr>
        </p:nvSpPr>
        <p:spPr/>
        <p:txBody>
          <a:bodyPr/>
          <a:lstStyle/>
          <a:p>
            <a:fld id="{022E43C0-6795-4B13-B37C-259C826D4B6A}" type="slidenum">
              <a:rPr kumimoji="1" lang="ja-JP" altLang="en-US" smtClean="0"/>
              <a:t>9</a:t>
            </a:fld>
            <a:endParaRPr kumimoji="1" lang="ja-JP" altLang="en-US"/>
          </a:p>
        </p:txBody>
      </p:sp>
    </p:spTree>
    <p:extLst>
      <p:ext uri="{BB962C8B-B14F-4D97-AF65-F5344CB8AC3E}">
        <p14:creationId xmlns:p14="http://schemas.microsoft.com/office/powerpoint/2010/main" val="1585148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9F8CEE-BA77-7F59-159F-47D256C6C92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920AAE9-56BE-66E5-82F7-A32C5F5E37D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23263BB-84E3-A23F-F50A-22409A9D0377}"/>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AE676F0-0850-6080-8D54-24CC34C00E13}"/>
              </a:ext>
            </a:extLst>
          </p:cNvPr>
          <p:cNvSpPr>
            <a:spLocks noGrp="1"/>
          </p:cNvSpPr>
          <p:nvPr>
            <p:ph type="sldNum" sz="quarter" idx="10"/>
          </p:nvPr>
        </p:nvSpPr>
        <p:spPr/>
        <p:txBody>
          <a:bodyPr/>
          <a:lstStyle/>
          <a:p>
            <a:fld id="{022E43C0-6795-4B13-B37C-259C826D4B6A}" type="slidenum">
              <a:rPr kumimoji="1" lang="ja-JP" altLang="en-US" smtClean="0"/>
              <a:t>10</a:t>
            </a:fld>
            <a:endParaRPr kumimoji="1" lang="ja-JP" altLang="en-US"/>
          </a:p>
        </p:txBody>
      </p:sp>
    </p:spTree>
    <p:extLst>
      <p:ext uri="{BB962C8B-B14F-4D97-AF65-F5344CB8AC3E}">
        <p14:creationId xmlns:p14="http://schemas.microsoft.com/office/powerpoint/2010/main" val="2181456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12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13</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14</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9A811-371F-8FB3-F066-52767F4E9A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A11C9D-FDA9-6C17-2E4B-B8729DB02D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D22E24C-8C3E-B253-1458-19B063283EDD}"/>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5308508-22B0-7807-8EBD-1B4BC57F8A84}"/>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22178351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2497A-27D1-3FCF-1F91-9D3EAE5F54F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107B2A-3CC9-CDDB-0154-3C6FEEEB7FA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69E55FE-2D43-AAFB-1E0D-9FE86011A40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7505F46C-9309-B38B-AEB2-32E50CF0E84A}"/>
              </a:ext>
            </a:extLst>
          </p:cNvPr>
          <p:cNvSpPr>
            <a:spLocks noGrp="1"/>
          </p:cNvSpPr>
          <p:nvPr>
            <p:ph type="sldNum" sz="quarter" idx="10"/>
          </p:nvPr>
        </p:nvSpPr>
        <p:spPr/>
        <p:txBody>
          <a:bodyPr/>
          <a:lstStyle/>
          <a:p>
            <a:fld id="{022E43C0-6795-4B13-B37C-259C826D4B6A}" type="slidenum">
              <a:rPr kumimoji="1" lang="ja-JP" altLang="en-US" smtClean="0"/>
              <a:t>16</a:t>
            </a:fld>
            <a:endParaRPr kumimoji="1" lang="ja-JP" altLang="en-US"/>
          </a:p>
        </p:txBody>
      </p:sp>
    </p:spTree>
    <p:extLst>
      <p:ext uri="{BB962C8B-B14F-4D97-AF65-F5344CB8AC3E}">
        <p14:creationId xmlns:p14="http://schemas.microsoft.com/office/powerpoint/2010/main" val="32460700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18</a:t>
            </a:fld>
            <a:endParaRPr kumimoji="1" lang="ja-JP" altLang="en-US"/>
          </a:p>
        </p:txBody>
      </p:sp>
    </p:spTree>
    <p:extLst>
      <p:ext uri="{BB962C8B-B14F-4D97-AF65-F5344CB8AC3E}">
        <p14:creationId xmlns:p14="http://schemas.microsoft.com/office/powerpoint/2010/main" val="2702009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36</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 Id="rId5" Type="http://schemas.openxmlformats.org/officeDocument/2006/relationships/image" Target="../media/image1.png"/><Relationship Id="rId6"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0.jpeg"/><Relationship Id="rId4" Type="http://schemas.openxmlformats.org/officeDocument/2006/relationships/image" Target="../media/image11.png"/><Relationship Id="rId5"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image" Target="../media/image13.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emf"/><Relationship Id="rId4" Type="http://schemas.openxmlformats.org/officeDocument/2006/relationships/image" Target="../media/image15.jpeg"/><Relationship Id="rId5" Type="http://schemas.openxmlformats.org/officeDocument/2006/relationships/image" Target="../media/image16.jpeg"/><Relationship Id="rId6" Type="http://schemas.openxmlformats.org/officeDocument/2006/relationships/image" Target="../media/image17.jpeg"/><Relationship Id="rId7" Type="http://schemas.openxmlformats.org/officeDocument/2006/relationships/image" Target="../media/image18.jpeg"/><Relationship Id="rId8"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678382" y="4341752"/>
            <a:ext cx="2549236"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bg1"/>
                </a:solidFill>
                <a:latin typeface="メイリオ" panose="020B0604030504040204" pitchFamily="50" charset="-128"/>
                <a:ea typeface="メイリオ" panose="020B0604030504040204" pitchFamily="50" charset="-128"/>
              </a:rPr>
              <a:t>業界：○○</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メールアドレス登録・会員登録に対して、”ハードルが高く感じる”ユーザーが増えている状況。</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カゴ落ち防止 &gt;&gt; 友だち追加 &gt;&gt; 購入 &gt;&gt; F2 &gt;&gt; 定期獲得・利用 の導線設計でハードル抑えつつ運営が可能。</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なぜLINEか｜メール登録のハードルが上がっている</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定期購入者</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ファン化・LTV</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F2到達者</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初回購入者</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カゴ投入・未購入</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比較検討層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商品を知らない層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021152"/>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655205" y="4152765"/>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※購買データとLINE IDを連携</a:t>
            </a:r>
            <a:r>
              <a:rPr kumimoji="1" lang="ja-JP" altLang="en-US" sz="900" b="1" dirty="0">
                <a:solidFill>
                  <a:schemeClr val="bg1"/>
                </a:solidFill>
                <a:latin typeface="メイリオ" panose="020B0604030504040204" pitchFamily="50" charset="-128"/>
                <a:ea typeface="メイリオ" panose="020B0604030504040204" pitchFamily="50" charset="-128"/>
              </a:rPr>
              <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32031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55205" y="337704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カゴ落ち時のポップアップで</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購入直前で離脱した人をLINEへ</a:t>
            </a:r>
            <a:r>
              <a:rPr lang="en-US" altLang="ja-JP" sz="900" b="1" dirty="0">
                <a:solidFill>
                  <a:schemeClr val="bg1"/>
                </a:solidFill>
                <a:latin typeface="メイリオ" panose="020B0604030504040204" pitchFamily="50" charset="-128"/>
                <a:ea typeface="メイリオ" panose="020B0604030504040204" pitchFamily="50" charset="-128"/>
              </a:rPr>
              <a:t/>
            </a:r>
            <a:r>
              <a:rPr lang="ja-JP" altLang="en-US" sz="900" b="1" dirty="0">
                <a:solidFill>
                  <a:schemeClr val="bg1"/>
                </a:solidFill>
                <a:latin typeface="メイリオ" panose="020B0604030504040204" pitchFamily="50" charset="-128"/>
                <a:ea typeface="メイリオ" panose="020B0604030504040204" pitchFamily="50" charset="-128"/>
              </a:rPr>
              <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55205" y="2313761"/>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商品ページ閲覧・カート投入</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の動線でLINE友だち追加を整備</a:t>
            </a:r>
            <a:r>
              <a:rPr lang="en-US" altLang="ja-JP" sz="900" b="1" dirty="0">
                <a:solidFill>
                  <a:schemeClr val="bg1"/>
                </a:solidFill>
                <a:latin typeface="メイリオ" panose="020B0604030504040204" pitchFamily="50" charset="-128"/>
                <a:ea typeface="メイリオ" panose="020B0604030504040204" pitchFamily="50" charset="-128"/>
              </a:rPr>
              <a:t/>
            </a:r>
            <a:r>
              <a:rPr lang="ja-JP" altLang="en-US" sz="900" b="1" dirty="0">
                <a:solidFill>
                  <a:schemeClr val="bg1"/>
                </a:solidFill>
                <a:latin typeface="メイリオ" panose="020B0604030504040204" pitchFamily="50" charset="-128"/>
                <a:ea typeface="メイリオ" panose="020B0604030504040204" pitchFamily="50" charset="-128"/>
              </a:rPr>
              <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55205" y="5785358"/>
            <a:ext cx="1739812" cy="3693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定期購入・クロスセル</a:t>
            </a:r>
            <a:endParaRPr kumimoji="1" lang="en-US" altLang="ja-JP" sz="900" b="1" dirty="0">
              <a:solidFill>
                <a:schemeClr val="bg1"/>
              </a:solidFill>
              <a:latin typeface="メイリオ" panose="020B0604030504040204" pitchFamily="50" charset="-128"/>
              <a:ea typeface="メイリオ" panose="020B0604030504040204" pitchFamily="50" charset="-128"/>
            </a:endParaRPr>
          </a:p>
          <a:p>
            <a:pPr algn="ctr"/>
            <a:r>
              <a:rPr lang="ja-JP" altLang="en-US" sz="900" b="1" dirty="0">
                <a:solidFill>
                  <a:schemeClr val="bg1"/>
                </a:solidFill>
                <a:latin typeface="メイリオ" panose="020B0604030504040204" pitchFamily="50" charset="-128"/>
                <a:ea typeface="メイリオ" panose="020B0604030504040204" pitchFamily="50" charset="-128"/>
              </a:rPr>
              <a:t>への引き上げ動線を設計</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55205" y="5315094"/>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※消費サイクルに合わせてF2オファー</a:t>
            </a:r>
            <a:r>
              <a:rPr kumimoji="1" lang="ja-JP" altLang="en-US" sz="900" b="1" dirty="0">
                <a:solidFill>
                  <a:schemeClr val="bg1"/>
                </a:solidFill>
                <a:latin typeface="メイリオ" panose="020B0604030504040204" pitchFamily="50" charset="-128"/>
                <a:ea typeface="メイリオ" panose="020B0604030504040204" pitchFamily="50" charset="-128"/>
              </a:rPr>
              <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55205" y="4814700"/>
            <a:ext cx="1739812" cy="230832"/>
          </a:xfrm>
          <a:prstGeom prst="rect">
            <a:avLst/>
          </a:prstGeom>
          <a:noFill/>
        </p:spPr>
        <p:txBody>
          <a:bodyPr wrap="square">
            <a:spAutoFit/>
          </a:bodyPr>
          <a:lstStyle/>
          <a:p>
            <a:pPr algn="ctr"/>
            <a:r>
              <a:rPr kumimoji="1" lang="en-US" altLang="ja-JP" sz="900" b="1" dirty="0">
                <a:solidFill>
                  <a:schemeClr val="bg1"/>
                </a:solidFill>
                <a:latin typeface="メイリオ" panose="020B0604030504040204" pitchFamily="50" charset="-128"/>
                <a:ea typeface="メイリオ" panose="020B0604030504040204" pitchFamily="50" charset="-128"/>
              </a:rPr>
              <a:t>※診断・初回クーポン → 初回購入</a:t>
            </a:r>
            <a:r>
              <a:rPr kumimoji="1" lang="ja-JP" altLang="en-US" sz="900" b="1" dirty="0">
                <a:solidFill>
                  <a:schemeClr val="bg1"/>
                </a:solidFill>
                <a:latin typeface="メイリオ" panose="020B0604030504040204" pitchFamily="50" charset="-128"/>
                <a:ea typeface="メイリオ" panose="020B0604030504040204" pitchFamily="50" charset="-128"/>
              </a:rPr>
              <a:t/>
            </a:r>
            <a:r>
              <a:rPr lang="en-US" altLang="ja-JP" sz="900" b="1" dirty="0">
                <a:solidFill>
                  <a:schemeClr val="bg1"/>
                </a:solidFill>
                <a:latin typeface="メイリオ" panose="020B0604030504040204" pitchFamily="50" charset="-128"/>
                <a:ea typeface="メイリオ" panose="020B0604030504040204" pitchFamily="50" charset="-128"/>
              </a:rPr>
              <a:t/>
            </a:r>
            <a:r>
              <a:rPr lang="ja-JP" altLang="en-US" sz="900" b="1" dirty="0">
                <a:solidFill>
                  <a:schemeClr val="bg1"/>
                </a:solidFill>
                <a:latin typeface="メイリオ" panose="020B0604030504040204" pitchFamily="50" charset="-128"/>
                <a:ea typeface="メイリオ" panose="020B0604030504040204" pitchFamily="50" charset="-128"/>
              </a:rPr>
              <a:t/>
            </a:r>
            <a:endParaRPr kumimoji="1" lang="ja-JP" altLang="en-US" sz="9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46221"/>
          </a:xfrm>
          <a:prstGeom prst="rect">
            <a:avLst/>
          </a:prstGeom>
          <a:noFill/>
        </p:spPr>
        <p:txBody>
          <a:bodyPr wrap="square">
            <a:spAutoFit/>
          </a:bodyP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ja-JP" altLang="en-US" sz="100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38" name="台形 37">
            <a:extLst>
              <a:ext uri="{FF2B5EF4-FFF2-40B4-BE49-F238E27FC236}">
                <a16:creationId xmlns:a16="http://schemas.microsoft.com/office/drawing/2014/main" id="{E53AF788-4E7A-2498-3387-439141AF8B85}"/>
              </a:ext>
            </a:extLst>
          </p:cNvPr>
          <p:cNvSpPr/>
          <p:nvPr/>
        </p:nvSpPr>
        <p:spPr>
          <a:xfrm rot="10800000" flipV="1">
            <a:off x="5422834" y="2565747"/>
            <a:ext cx="1826395" cy="603248"/>
          </a:xfrm>
          <a:prstGeom prst="trapezoid">
            <a:avLst>
              <a:gd name="adj" fmla="val 0"/>
            </a:avLst>
          </a:prstGeom>
          <a:solidFill>
            <a:schemeClr val="bg1">
              <a:lumMod val="95000"/>
              <a:alpha val="67000"/>
            </a:schemeClr>
          </a:solidFill>
          <a:ln w="9525">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ヒアリングの上</a:t>
            </a:r>
            <a:endParaRPr lang="en-US" altLang="ja-JP" sz="1050" b="1" dirty="0">
              <a:solidFill>
                <a:schemeClr val="tx1"/>
              </a:solidFill>
              <a:latin typeface="メイリオ" panose="020B0604030504040204" pitchFamily="50" charset="-128"/>
              <a:ea typeface="メイリオ" panose="020B0604030504040204" pitchFamily="50" charset="-128"/>
            </a:endParaRPr>
          </a:p>
          <a:p>
            <a:pPr algn="ctr"/>
            <a:r>
              <a:rPr kumimoji="1" lang="ja-JP" altLang="en-US" sz="1050" b="1" dirty="0">
                <a:solidFill>
                  <a:schemeClr val="tx1"/>
                </a:solidFill>
                <a:latin typeface="メイリオ" panose="020B0604030504040204" pitchFamily="50" charset="-128"/>
                <a:ea typeface="メイリオ" panose="020B0604030504040204" pitchFamily="50" charset="-128"/>
              </a:rPr>
              <a:t>確定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LINEミニアプリ・会員証</a:t>
            </a:r>
            <a:r>
              <a:rPr kumimoji="1" lang="ja-JP" altLang="en-US" sz="1200" b="1" dirty="0">
                <a:latin typeface="メイリオ" panose="020B0604030504040204" pitchFamily="50" charset="-128"/>
                <a:ea typeface="メイリオ" panose="020B0604030504040204" pitchFamily="50" charset="-128"/>
              </a:rPr>
              <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カゴ落ちポップアップ</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85871" y="5900751"/>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自社EC会員・CRM</a:t>
            </a:r>
            <a:r>
              <a:rPr kumimoji="1" lang="en-US" altLang="ja-JP" sz="1200" b="1" dirty="0">
                <a:latin typeface="メイリオ" panose="020B0604030504040204" pitchFamily="50" charset="-128"/>
                <a:ea typeface="メイリオ" panose="020B0604030504040204" pitchFamily="50" charset="-128"/>
              </a:rPr>
              <a:t/>
            </a:r>
            <a:r>
              <a:rPr kumimoji="1" lang="ja-JP" altLang="en-US" sz="1200" b="1" dirty="0">
                <a:latin typeface="メイリオ" panose="020B0604030504040204" pitchFamily="50" charset="-128"/>
                <a:ea typeface="メイリオ" panose="020B0604030504040204" pitchFamily="50" charset="-128"/>
              </a:rPr>
              <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（LINE IDが軸）</a:t>
            </a:r>
            <a:r>
              <a:rPr lang="en-US" altLang="ja-JP" sz="1200" b="1" dirty="0">
                <a:latin typeface="メイリオ" panose="020B0604030504040204" pitchFamily="50" charset="-128"/>
                <a:ea typeface="メイリオ" panose="020B0604030504040204" pitchFamily="50" charset="-128"/>
              </a:rPr>
              <a:t/>
            </a:r>
            <a:r>
              <a:rPr lang="ja-JP" altLang="en-US" sz="1200" b="1" dirty="0">
                <a:latin typeface="メイリオ" panose="020B0604030504040204" pitchFamily="50" charset="-128"/>
                <a:ea typeface="メイリオ" panose="020B0604030504040204" pitchFamily="50" charset="-128"/>
              </a:rPr>
              <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LINEログイン・ID連携</a:t>
            </a:r>
            <a:r>
              <a:rPr lang="ja-JP" altLang="en-US" sz="1200" b="1" dirty="0">
                <a:latin typeface="メイリオ" panose="020B0604030504040204" pitchFamily="50" charset="-128"/>
                <a:ea typeface="メイリオ" panose="020B0604030504040204" pitchFamily="50" charset="-128"/>
              </a:rPr>
              <a:t/>
            </a:r>
          </a:p>
        </p:txBody>
      </p:sp>
    </p:spTree>
    <p:extLst>
      <p:ext uri="{BB962C8B-B14F-4D97-AF65-F5344CB8AC3E}">
        <p14:creationId xmlns:p14="http://schemas.microsoft.com/office/powerpoint/2010/main" val="99384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全体設計｜ECのカスタマージャーニー8フェーズ</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ECのカスタマージャーニーにあわせてLINE施策を配置。</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※EC特有の山は⑤初回購入ではなく⑥F2。ここが本提案の主戦場。</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接触（広告・検索・SNS）</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r>
              <a:rPr lang="ja-JP" altLang="en-US" sz="11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比較検討（不安つぶし）</a:t>
            </a:r>
            <a:r>
              <a:rPr lang="ja-JP" altLang="en-US" sz="1100" b="1" dirty="0">
                <a:latin typeface="メイリオ" panose="020B0604030504040204" pitchFamily="50" charset="-128"/>
                <a:ea typeface="メイリオ" panose="020B0604030504040204" pitchFamily="50" charset="-128"/>
              </a:rPr>
              <a:t/>
            </a:r>
            <a:r>
              <a:rPr lang="ja-JP" altLang="ja-JP" sz="1100" b="1" dirty="0">
                <a:latin typeface="メイリオ" panose="020B0604030504040204" pitchFamily="50" charset="-128"/>
                <a:ea typeface="メイリオ" panose="020B0604030504040204" pitchFamily="50" charset="-128"/>
              </a:rPr>
              <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友だち追加（web/LINE）</a:t>
            </a:r>
            <a:r>
              <a:rPr lang="en-US" altLang="ja-JP" sz="900" b="1" dirty="0">
                <a:latin typeface="メイリオ" panose="020B0604030504040204" pitchFamily="50" charset="-128"/>
                <a:ea typeface="メイリオ" panose="020B0604030504040204" pitchFamily="50" charset="-128"/>
              </a:rPr>
              <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どう友だち追加させるか？（EC→LINE）</a:t>
            </a:r>
            <a:r>
              <a:rPr kumimoji="1" lang="ja-JP" altLang="en-US" sz="1000" dirty="0">
                <a:latin typeface="メイリオ" panose="020B0604030504040204" pitchFamily="50" charset="-128"/>
                <a:ea typeface="メイリオ" panose="020B0604030504040204" pitchFamily="50" charset="-128"/>
              </a:rPr>
              <a:t/>
            </a:r>
            <a:r>
              <a:rPr kumimoji="1" lang="ja-JP" altLang="en-US" sz="1000" dirty="0">
                <a:solidFill>
                  <a:srgbClr val="FFFF00"/>
                </a:solidFill>
                <a:latin typeface="メイリオ" panose="020B0604030504040204" pitchFamily="50" charset="-128"/>
                <a:ea typeface="メイリオ" panose="020B0604030504040204" pitchFamily="50" charset="-128"/>
              </a:rPr>
              <a:t/>
            </a:r>
            <a:r>
              <a:rPr kumimoji="1" lang="en-US" altLang="ja-JP" sz="1000" dirty="0">
                <a:solidFill>
                  <a:srgbClr val="FFFF00"/>
                </a:solidFill>
                <a:latin typeface="メイリオ" panose="020B0604030504040204" pitchFamily="50" charset="-128"/>
                <a:ea typeface="メイリオ" panose="020B0604030504040204" pitchFamily="50" charset="-128"/>
              </a:rPr>
              <a:t/>
            </a:r>
            <a:r>
              <a:rPr kumimoji="1" lang="ja-JP" altLang="en-US" sz="1000" dirty="0">
                <a:solidFill>
                  <a:srgbClr val="FFFF00"/>
                </a:solidFill>
                <a:latin typeface="メイリオ" panose="020B0604030504040204" pitchFamily="50" charset="-128"/>
                <a:ea typeface="メイリオ" panose="020B0604030504040204" pitchFamily="50" charset="-128"/>
              </a:rPr>
              <a:t/>
            </a:r>
            <a:r>
              <a:rPr kumimoji="1" lang="en-US" altLang="ja-JP" sz="1000" dirty="0">
                <a:solidFill>
                  <a:srgbClr val="FFFF00"/>
                </a:solidFill>
                <a:latin typeface="メイリオ" panose="020B0604030504040204" pitchFamily="50" charset="-128"/>
                <a:ea typeface="メイリオ" panose="020B0604030504040204" pitchFamily="50" charset="-128"/>
              </a:rPr>
              <a:t/>
            </a:r>
            <a:r>
              <a:rPr kumimoji="1" lang="ja-JP" altLang="en-US" sz="1000" dirty="0">
                <a:solidFill>
                  <a:srgbClr val="FFFF00"/>
                </a:solidFill>
                <a:latin typeface="メイリオ" panose="020B0604030504040204" pitchFamily="50" charset="-128"/>
                <a:ea typeface="メイリオ" panose="020B0604030504040204" pitchFamily="50" charset="-128"/>
              </a:rPr>
              <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どう友だちを購入に結びつけるか？（LINE→CV）</a:t>
            </a:r>
            <a:r>
              <a:rPr kumimoji="1" lang="ja-JP" altLang="en-US" sz="1000" dirty="0">
                <a:latin typeface="メイリオ" panose="020B0604030504040204" pitchFamily="50" charset="-128"/>
                <a:ea typeface="メイリオ" panose="020B0604030504040204" pitchFamily="50" charset="-128"/>
              </a:rPr>
              <a:t/>
            </a:r>
            <a:r>
              <a:rPr kumimoji="1" lang="ja-JP" altLang="en-US" sz="1000" dirty="0">
                <a:solidFill>
                  <a:srgbClr val="FFFF00"/>
                </a:solidFill>
                <a:latin typeface="メイリオ" panose="020B0604030504040204" pitchFamily="50" charset="-128"/>
                <a:ea typeface="メイリオ" panose="020B0604030504040204" pitchFamily="50" charset="-128"/>
              </a:rPr>
              <a:t/>
            </a:r>
            <a:r>
              <a:rPr kumimoji="1" lang="en-US" altLang="ja-JP" sz="1000" dirty="0">
                <a:solidFill>
                  <a:srgbClr val="FFFF00"/>
                </a:solidFill>
                <a:latin typeface="メイリオ" panose="020B0604030504040204" pitchFamily="50" charset="-128"/>
                <a:ea typeface="メイリオ" panose="020B0604030504040204" pitchFamily="50" charset="-128"/>
              </a:rPr>
              <a:t/>
            </a:r>
            <a:r>
              <a:rPr kumimoji="1" lang="ja-JP" altLang="en-US" sz="1000" dirty="0">
                <a:solidFill>
                  <a:srgbClr val="FFFF00"/>
                </a:solidFill>
                <a:latin typeface="メイリオ" panose="020B0604030504040204" pitchFamily="50" charset="-128"/>
                <a:ea typeface="メイリオ" panose="020B0604030504040204" pitchFamily="50" charset="-128"/>
              </a:rPr>
              <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商品ページ・カート動線の整備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既存の購入者リスト活用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SNS/メルマガ（開封20%前後）</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同梱物QR・納品書</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購入前7日／購入後は消費サイクル連動</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全体設計｜フェーズ別のLINE施策マップ</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ECのカスタマージャーニーにあわせてLINE施策を配置。</a:t>
            </a:r>
            <a:r>
              <a:rPr lang="en-US" altLang="ja-JP" sz="1600" b="1" dirty="0">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※EC特有の山は⑤初回購入ではなく⑥F2。ここが本提案の主戦場。</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latin typeface="メイリオ" panose="020B0604030504040204" pitchFamily="50" charset="-128"/>
                <a:ea typeface="メイリオ" panose="020B0604030504040204" pitchFamily="50" charset="-128"/>
                <a:cs typeface="Meiryo"/>
                <a:sym typeface="Meiryo"/>
              </a:rPr>
              <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972D4A84-F812-745D-8012-250B4552B997}"/>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44AC577-5EFA-CB60-B4CF-22AC71B2AE31}"/>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10844F-FFBB-F47D-A888-4E74272E000D}"/>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7A83D6DE-2FDB-43D7-254C-963478133303}"/>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初回購入</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 定期・リピート化</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r>
              <a:rPr lang="ja-JP" altLang="en-US" sz="1000" b="1" dirty="0">
                <a:latin typeface="メイリオ" panose="020B0604030504040204" pitchFamily="50" charset="-128"/>
                <a:ea typeface="メイリオ" panose="020B0604030504040204" pitchFamily="50" charset="-128"/>
              </a:rPr>
              <a:t/>
            </a:r>
            <a:r>
              <a:rPr lang="en-US" altLang="ja-JP" sz="10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F2（2回目購入）</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 LTV最大化・紹介</a:t>
            </a:r>
            <a:r>
              <a:rPr lang="en-US" altLang="ja-JP" sz="1100" b="1" dirty="0">
                <a:latin typeface="メイリオ" panose="020B0604030504040204" pitchFamily="50" charset="-128"/>
                <a:ea typeface="メイリオ" panose="020B0604030504040204" pitchFamily="50" charset="-128"/>
              </a:rPr>
              <a:t/>
            </a:r>
            <a:r>
              <a:rPr lang="ja-JP" altLang="en-US" sz="1100" b="1" dirty="0">
                <a:latin typeface="メイリオ" panose="020B0604030504040204" pitchFamily="50" charset="-128"/>
                <a:ea typeface="メイリオ" panose="020B0604030504040204" pitchFamily="50" charset="-128"/>
              </a:rPr>
              <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接触（広告・検索・SNS）</a:t>
            </a:r>
          </a:p>
        </p:txBody>
      </p:sp>
      <p:sp>
        <p:nvSpPr>
          <p:cNvPr id="19" name="テキスト ボックス 18">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カゴ落ち（対策）</a:t>
            </a:r>
            <a:r>
              <a:rPr lang="ja-JP" altLang="en-US" sz="1100" b="1" dirty="0">
                <a:latin typeface="メイリオ" panose="020B0604030504040204" pitchFamily="50" charset="-128"/>
                <a:ea typeface="メイリオ" panose="020B0604030504040204" pitchFamily="50" charset="-128"/>
              </a:rPr>
              <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比較検討（不安つぶし）</a:t>
            </a:r>
            <a:r>
              <a:rPr lang="ja-JP" altLang="en-US" sz="1100" b="1" dirty="0">
                <a:latin typeface="メイリオ" panose="020B0604030504040204" pitchFamily="50" charset="-128"/>
                <a:ea typeface="メイリオ" panose="020B0604030504040204" pitchFamily="50" charset="-128"/>
              </a:rPr>
              <a:t/>
            </a:r>
            <a:r>
              <a:rPr lang="ja-JP" altLang="ja-JP" sz="1100" b="1" dirty="0">
                <a:latin typeface="メイリオ" panose="020B0604030504040204" pitchFamily="50" charset="-128"/>
                <a:ea typeface="メイリオ" panose="020B0604030504040204" pitchFamily="50" charset="-128"/>
              </a:rPr>
              <a:t/>
            </a:r>
          </a:p>
        </p:txBody>
      </p:sp>
      <p:sp>
        <p:nvSpPr>
          <p:cNvPr id="21" name="テキスト ボックス 20">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 友だち追加（web/LINE）</a:t>
            </a:r>
            <a:r>
              <a:rPr lang="en-US" altLang="ja-JP" sz="900" b="1" dirty="0">
                <a:latin typeface="メイリオ" panose="020B0604030504040204" pitchFamily="50" charset="-128"/>
                <a:ea typeface="メイリオ" panose="020B0604030504040204" pitchFamily="50" charset="-128"/>
              </a:rPr>
              <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56D3FA3C-F4ED-9DF1-7620-D677AB1A2177}"/>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59" name="テキスト ボックス 58">
            <a:extLst>
              <a:ext uri="{FF2B5EF4-FFF2-40B4-BE49-F238E27FC236}">
                <a16:creationId xmlns:a16="http://schemas.microsoft.com/office/drawing/2014/main" id="{BF3977E5-B33C-C6FC-10BA-8F52ECFB03CA}"/>
              </a:ext>
            </a:extLst>
          </p:cNvPr>
          <p:cNvSpPr txBox="1"/>
          <p:nvPr/>
        </p:nvSpPr>
        <p:spPr>
          <a:xfrm>
            <a:off x="3541822" y="405192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1" name="テキスト ボックス 60">
            <a:extLst>
              <a:ext uri="{FF2B5EF4-FFF2-40B4-BE49-F238E27FC236}">
                <a16:creationId xmlns:a16="http://schemas.microsoft.com/office/drawing/2014/main" id="{D6206F79-4BB4-7551-FF37-4057DB323042}"/>
              </a:ext>
            </a:extLst>
          </p:cNvPr>
          <p:cNvSpPr txBox="1"/>
          <p:nvPr/>
        </p:nvSpPr>
        <p:spPr>
          <a:xfrm>
            <a:off x="6119096" y="5110696"/>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2D803312-8977-E9CF-359E-78896D5177A7}"/>
              </a:ext>
            </a:extLst>
          </p:cNvPr>
          <p:cNvSpPr txBox="1"/>
          <p:nvPr/>
        </p:nvSpPr>
        <p:spPr>
          <a:xfrm>
            <a:off x="4830459" y="458131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EC4FAF12-FDAC-B48D-B571-CC028A01229C}"/>
              </a:ext>
            </a:extLst>
          </p:cNvPr>
          <p:cNvSpPr txBox="1"/>
          <p:nvPr/>
        </p:nvSpPr>
        <p:spPr>
          <a:xfrm>
            <a:off x="7408050" y="5640081"/>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69" name="テキスト ボックス 68">
            <a:extLst>
              <a:ext uri="{FF2B5EF4-FFF2-40B4-BE49-F238E27FC236}">
                <a16:creationId xmlns:a16="http://schemas.microsoft.com/office/drawing/2014/main" id="{78DCEB5B-FCE6-A4B7-134E-DC51AE101C96}"/>
              </a:ext>
            </a:extLst>
          </p:cNvPr>
          <p:cNvSpPr txBox="1"/>
          <p:nvPr/>
        </p:nvSpPr>
        <p:spPr>
          <a:xfrm>
            <a:off x="334303" y="352782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endParaRPr lang="en-US" altLang="ja-JP" sz="1100" b="1" dirty="0">
              <a:latin typeface="メイリオ" panose="020B0604030504040204" pitchFamily="50" charset="-128"/>
              <a:ea typeface="メイリオ" panose="020B0604030504040204" pitchFamily="50" charset="-128"/>
            </a:endParaRPr>
          </a:p>
        </p:txBody>
      </p:sp>
      <p:sp>
        <p:nvSpPr>
          <p:cNvPr id="71" name="テキスト ボックス 70">
            <a:extLst>
              <a:ext uri="{FF2B5EF4-FFF2-40B4-BE49-F238E27FC236}">
                <a16:creationId xmlns:a16="http://schemas.microsoft.com/office/drawing/2014/main" id="{7489B5AC-E8EC-12A6-77B1-767D57C6C111}"/>
              </a:ext>
            </a:extLst>
          </p:cNvPr>
          <p:cNvSpPr txBox="1"/>
          <p:nvPr/>
        </p:nvSpPr>
        <p:spPr>
          <a:xfrm>
            <a:off x="1268358" y="405192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3C51428D-94BF-DEDC-89ED-6FC6DD5D8DDB}"/>
              </a:ext>
            </a:extLst>
          </p:cNvPr>
          <p:cNvSpPr txBox="1"/>
          <p:nvPr/>
        </p:nvSpPr>
        <p:spPr>
          <a:xfrm>
            <a:off x="2202413" y="4576028"/>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70A8450A-EBDB-52BF-A9C2-03CB7CC3C8E9}"/>
              </a:ext>
            </a:extLst>
          </p:cNvPr>
          <p:cNvSpPr txBox="1"/>
          <p:nvPr/>
        </p:nvSpPr>
        <p:spPr>
          <a:xfrm>
            <a:off x="3132447" y="5100131"/>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p>
        </p:txBody>
      </p:sp>
    </p:spTree>
    <p:extLst>
      <p:ext uri="{BB962C8B-B14F-4D97-AF65-F5344CB8AC3E}">
        <p14:creationId xmlns:p14="http://schemas.microsoft.com/office/powerpoint/2010/main" val="3509480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F0FF7A7-A3FC-42B0-F7A4-BA0AD0C3DD9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AFD79ABE-D266-F25C-019A-B9E21585766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実態調査｜獲得単価の推移</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ネット広告費は総広告費の50.2%と初の過半数。予算の半分以上が同じ枠に集中している。</a:t>
            </a:r>
          </a:p>
          <a:p>
            <a:pPr algn="l">
              <a:lnSpc>
                <a:spcPct val="135000"/>
              </a:lnSpc>
            </a:pPr>
            <a:r>
              <a:rPr sz="1400">
                <a:solidFill>
                  <a:srgbClr val="333333"/>
                </a:solidFill>
                <a:latin typeface="メイリオ"/>
                <a:ea typeface="メイリオ"/>
                <a:cs typeface="メイリオ"/>
              </a:rPr>
              <a:t>だから単価は下がらない。集める側の効率はもう上がりにくい。</a:t>
            </a:r>
          </a:p>
        </p:txBody>
      </p:sp>
      <p:sp>
        <p:nvSpPr>
          <p:cNvPr id="47" name="Rounded Rectangle 46"/>
          <p:cNvSpPr/>
          <p:nvPr/>
        </p:nvSpPr>
        <p:spPr>
          <a:xfrm>
            <a:off x="432000" y="1548000"/>
            <a:ext cx="2942400" cy="1655999"/>
          </a:xfrm>
          <a:prstGeom prst="roundRect">
            <a:avLst/>
          </a:prstGeom>
          <a:solidFill>
            <a:srgbClr val="FFFFFF"/>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2000" y="1655999"/>
            <a:ext cx="2942400" cy="288000"/>
          </a:xfrm>
          <a:prstGeom prst="rect">
            <a:avLst/>
          </a:prstGeom>
          <a:noFill/>
        </p:spPr>
        <p:txBody>
          <a:bodyPr wrap="square" lIns="50400" rIns="50400" tIns="18000" bIns="18000" anchor="ctr">
            <a:spAutoFit/>
          </a:bodyPr>
          <a:lstStyle/>
          <a:p>
            <a:pPr algn="ctr"/>
            <a:r>
              <a:rPr sz="1400" b="1">
                <a:solidFill>
                  <a:srgbClr val="C00000"/>
                </a:solidFill>
                <a:latin typeface="メイリオ"/>
                <a:ea typeface="メイリオ"/>
                <a:cs typeface="メイリオ"/>
              </a:rPr>
              <a:t>検索広告のCPC</a:t>
            </a:r>
          </a:p>
        </p:txBody>
      </p:sp>
      <p:sp>
        <p:nvSpPr>
          <p:cNvPr id="49" name="TextBox 48"/>
          <p:cNvSpPr txBox="1"/>
          <p:nvPr/>
        </p:nvSpPr>
        <p:spPr>
          <a:xfrm>
            <a:off x="432000" y="1998000"/>
            <a:ext cx="2942400" cy="612000"/>
          </a:xfrm>
          <a:prstGeom prst="rect">
            <a:avLst/>
          </a:prstGeom>
          <a:noFill/>
        </p:spPr>
        <p:txBody>
          <a:bodyPr wrap="square" lIns="50400" rIns="50400" tIns="18000" bIns="18000" anchor="ctr">
            <a:spAutoFit/>
          </a:bodyPr>
          <a:lstStyle/>
          <a:p>
            <a:pPr algn="ctr"/>
            <a:r>
              <a:rPr sz="3200" b="1">
                <a:solidFill>
                  <a:srgbClr val="C00000"/>
                </a:solidFill>
                <a:latin typeface="メイリオ"/>
                <a:ea typeface="メイリオ"/>
                <a:cs typeface="メイリオ"/>
              </a:rPr>
              <a:t>168</a:t>
            </a:r>
            <a:r>
              <a:rPr sz="1500" b="1">
                <a:solidFill>
                  <a:srgbClr val="C00000"/>
                </a:solidFill>
                <a:latin typeface="メイリオ"/>
                <a:ea typeface="メイリオ"/>
                <a:cs typeface="メイリオ"/>
              </a:rPr>
              <a:t> %</a:t>
            </a:r>
          </a:p>
        </p:txBody>
      </p:sp>
      <p:sp>
        <p:nvSpPr>
          <p:cNvPr id="50" name="TextBox 49"/>
          <p:cNvSpPr txBox="1"/>
          <p:nvPr/>
        </p:nvSpPr>
        <p:spPr>
          <a:xfrm>
            <a:off x="5400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10年前との比較（約1.7倍）</a:t>
            </a:r>
          </a:p>
        </p:txBody>
      </p:sp>
      <p:sp>
        <p:nvSpPr>
          <p:cNvPr id="51" name="Rounded Rectangle 50"/>
          <p:cNvSpPr/>
          <p:nvPr/>
        </p:nvSpPr>
        <p:spPr>
          <a:xfrm>
            <a:off x="3482400" y="1548000"/>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82400" y="1655999"/>
            <a:ext cx="2942400" cy="288000"/>
          </a:xfrm>
          <a:prstGeom prst="rect">
            <a:avLst/>
          </a:prstGeom>
          <a:noFill/>
        </p:spPr>
        <p:txBody>
          <a:bodyPr wrap="square" lIns="50400" rIns="50400" tIns="18000" bIns="18000" anchor="ctr">
            <a:spAutoFit/>
          </a:bodyPr>
          <a:lstStyle/>
          <a:p>
            <a:pPr algn="ctr"/>
            <a:r>
              <a:rPr sz="1400" b="1">
                <a:solidFill>
                  <a:srgbClr val="1F285A"/>
                </a:solidFill>
                <a:latin typeface="メイリオ"/>
                <a:ea typeface="メイリオ"/>
                <a:cs typeface="メイリオ"/>
              </a:rPr>
              <a:t>インターネット広告費</a:t>
            </a:r>
          </a:p>
        </p:txBody>
      </p:sp>
      <p:sp>
        <p:nvSpPr>
          <p:cNvPr id="53" name="TextBox 52"/>
          <p:cNvSpPr txBox="1"/>
          <p:nvPr/>
        </p:nvSpPr>
        <p:spPr>
          <a:xfrm>
            <a:off x="3482400" y="1998000"/>
            <a:ext cx="2942400" cy="612000"/>
          </a:xfrm>
          <a:prstGeom prst="rect">
            <a:avLst/>
          </a:prstGeom>
          <a:noFill/>
        </p:spPr>
        <p:txBody>
          <a:bodyPr wrap="square" lIns="50400" rIns="50400" tIns="18000" bIns="18000" anchor="ctr">
            <a:spAutoFit/>
          </a:bodyPr>
          <a:lstStyle/>
          <a:p>
            <a:pPr algn="ctr"/>
            <a:r>
              <a:rPr sz="3200" b="1">
                <a:solidFill>
                  <a:srgbClr val="1F285A"/>
                </a:solidFill>
                <a:latin typeface="メイリオ"/>
                <a:ea typeface="メイリオ"/>
                <a:cs typeface="メイリオ"/>
              </a:rPr>
              <a:t>4兆459</a:t>
            </a:r>
            <a:r>
              <a:rPr sz="1500" b="1">
                <a:solidFill>
                  <a:srgbClr val="1F285A"/>
                </a:solidFill>
                <a:latin typeface="メイリオ"/>
                <a:ea typeface="メイリオ"/>
                <a:cs typeface="メイリオ"/>
              </a:rPr>
              <a:t> 億円</a:t>
            </a:r>
          </a:p>
        </p:txBody>
      </p:sp>
      <p:sp>
        <p:nvSpPr>
          <p:cNvPr id="54" name="TextBox 53"/>
          <p:cNvSpPr txBox="1"/>
          <p:nvPr/>
        </p:nvSpPr>
        <p:spPr>
          <a:xfrm>
            <a:off x="35904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前年比 +10.8%／初の4兆円超</a:t>
            </a:r>
          </a:p>
        </p:txBody>
      </p:sp>
      <p:sp>
        <p:nvSpPr>
          <p:cNvPr id="55" name="Rounded Rectangle 54"/>
          <p:cNvSpPr/>
          <p:nvPr/>
        </p:nvSpPr>
        <p:spPr>
          <a:xfrm>
            <a:off x="6532800" y="1548000"/>
            <a:ext cx="2942400" cy="1655999"/>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32800" y="1655999"/>
            <a:ext cx="2942400" cy="288000"/>
          </a:xfrm>
          <a:prstGeom prst="rect">
            <a:avLst/>
          </a:prstGeom>
          <a:noFill/>
        </p:spPr>
        <p:txBody>
          <a:bodyPr wrap="square" lIns="50400" rIns="50400" tIns="18000" bIns="18000" anchor="ctr">
            <a:spAutoFit/>
          </a:bodyPr>
          <a:lstStyle/>
          <a:p>
            <a:pPr algn="ctr"/>
            <a:r>
              <a:rPr sz="1400" b="1">
                <a:solidFill>
                  <a:srgbClr val="ED7D31"/>
                </a:solidFill>
                <a:latin typeface="メイリオ"/>
                <a:ea typeface="メイリオ"/>
                <a:cs typeface="メイリオ"/>
              </a:rPr>
              <a:t>総広告費に占める構成比</a:t>
            </a:r>
          </a:p>
        </p:txBody>
      </p:sp>
      <p:sp>
        <p:nvSpPr>
          <p:cNvPr id="57" name="TextBox 56"/>
          <p:cNvSpPr txBox="1"/>
          <p:nvPr/>
        </p:nvSpPr>
        <p:spPr>
          <a:xfrm>
            <a:off x="6532800" y="1998000"/>
            <a:ext cx="2942400" cy="612000"/>
          </a:xfrm>
          <a:prstGeom prst="rect">
            <a:avLst/>
          </a:prstGeom>
          <a:noFill/>
        </p:spPr>
        <p:txBody>
          <a:bodyPr wrap="square" lIns="50400" rIns="50400" tIns="18000" bIns="18000" anchor="ctr">
            <a:spAutoFit/>
          </a:bodyPr>
          <a:lstStyle/>
          <a:p>
            <a:pPr algn="ctr"/>
            <a:r>
              <a:rPr sz="3200" b="1">
                <a:solidFill>
                  <a:srgbClr val="ED7D31"/>
                </a:solidFill>
                <a:latin typeface="メイリオ"/>
                <a:ea typeface="メイリオ"/>
                <a:cs typeface="メイリオ"/>
              </a:rPr>
              <a:t>50.2</a:t>
            </a:r>
            <a:r>
              <a:rPr sz="1500" b="1">
                <a:solidFill>
                  <a:srgbClr val="ED7D31"/>
                </a:solidFill>
                <a:latin typeface="メイリオ"/>
                <a:ea typeface="メイリオ"/>
                <a:cs typeface="メイリオ"/>
              </a:rPr>
              <a:t> %</a:t>
            </a:r>
          </a:p>
        </p:txBody>
      </p:sp>
      <p:sp>
        <p:nvSpPr>
          <p:cNvPr id="58" name="TextBox 57"/>
          <p:cNvSpPr txBox="1"/>
          <p:nvPr/>
        </p:nvSpPr>
        <p:spPr>
          <a:xfrm>
            <a:off x="66408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初の過半数</a:t>
            </a:r>
          </a:p>
        </p:txBody>
      </p:sp>
      <p:sp>
        <p:nvSpPr>
          <p:cNvPr id="59" name="Rounded Rectangle 58"/>
          <p:cNvSpPr/>
          <p:nvPr/>
        </p:nvSpPr>
        <p:spPr>
          <a:xfrm>
            <a:off x="432000" y="3383999"/>
            <a:ext cx="9043200" cy="413999"/>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800" b="1">
                <a:solidFill>
                  <a:srgbClr val="FFFFFF"/>
                </a:solidFill>
                <a:latin typeface="メイリオ"/>
                <a:ea typeface="メイリオ"/>
                <a:cs typeface="メイリオ"/>
              </a:rPr>
              <a:t>広告予算の半分以上がネットに集中　＝　枠の奪い合い。単価は下がらない</a:t>
            </a:r>
          </a:p>
        </p:txBody>
      </p:sp>
      <p:sp>
        <p:nvSpPr>
          <p:cNvPr id="60" name="TextBox 59"/>
          <p:cNvSpPr txBox="1"/>
          <p:nvPr/>
        </p:nvSpPr>
        <p:spPr>
          <a:xfrm>
            <a:off x="432000" y="3923999"/>
            <a:ext cx="9043200" cy="288000"/>
          </a:xfrm>
          <a:prstGeom prst="rect">
            <a:avLst/>
          </a:prstGeom>
          <a:noFill/>
        </p:spPr>
        <p:txBody>
          <a:bodyPr wrap="square" lIns="50400" rIns="50400" tIns="18000" bIns="18000" anchor="ctr">
            <a:spAutoFit/>
          </a:bodyPr>
          <a:lstStyle/>
          <a:p>
            <a:pPr algn="l"/>
            <a:r>
              <a:rPr sz="1400" b="1">
                <a:solidFill>
                  <a:srgbClr val="002060"/>
                </a:solidFill>
                <a:latin typeface="メイリオ"/>
                <a:ea typeface="メイリオ"/>
                <a:cs typeface="メイリオ"/>
              </a:rPr>
              <a:t>── 単価が上がり続けると、何が起きるか</a:t>
            </a:r>
          </a:p>
        </p:txBody>
      </p:sp>
      <p:sp>
        <p:nvSpPr>
          <p:cNvPr id="61" name="Rounded Rectangle 60"/>
          <p:cNvSpPr/>
          <p:nvPr/>
        </p:nvSpPr>
        <p:spPr>
          <a:xfrm>
            <a:off x="432000" y="4266000"/>
            <a:ext cx="2870400" cy="1026000"/>
          </a:xfrm>
          <a:prstGeom prst="roundRect">
            <a:avLst/>
          </a:prstGeom>
          <a:solidFill>
            <a:srgbClr val="EEF2F9"/>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22000" y="4392000"/>
            <a:ext cx="2690400" cy="270000"/>
          </a:xfrm>
          <a:prstGeom prst="rect">
            <a:avLst/>
          </a:prstGeom>
          <a:noFill/>
        </p:spPr>
        <p:txBody>
          <a:bodyPr wrap="square" lIns="50400" rIns="50400" tIns="18000" bIns="18000" anchor="ctr">
            <a:spAutoFit/>
          </a:bodyPr>
          <a:lstStyle/>
          <a:p>
            <a:pPr algn="ctr"/>
            <a:r>
              <a:rPr sz="1300">
                <a:solidFill>
                  <a:srgbClr val="333333"/>
                </a:solidFill>
                <a:latin typeface="メイリオ"/>
                <a:ea typeface="メイリオ"/>
                <a:cs typeface="メイリオ"/>
              </a:rPr>
              <a:t>同じCV数を取るのに</a:t>
            </a:r>
          </a:p>
        </p:txBody>
      </p:sp>
      <p:sp>
        <p:nvSpPr>
          <p:cNvPr id="63" name="TextBox 62"/>
          <p:cNvSpPr txBox="1"/>
          <p:nvPr/>
        </p:nvSpPr>
        <p:spPr>
          <a:xfrm>
            <a:off x="522000" y="4680000"/>
            <a:ext cx="2690400" cy="468000"/>
          </a:xfrm>
          <a:prstGeom prst="rect">
            <a:avLst/>
          </a:prstGeom>
          <a:noFill/>
        </p:spPr>
        <p:txBody>
          <a:bodyPr wrap="square" lIns="50400" rIns="50400" tIns="18000" bIns="18000" anchor="ctr">
            <a:spAutoFit/>
          </a:bodyPr>
          <a:lstStyle/>
          <a:p>
            <a:pPr algn="ctr">
              <a:lnSpc>
                <a:spcPct val="125000"/>
              </a:lnSpc>
            </a:pPr>
            <a:r>
              <a:rPr sz="1600" b="1">
                <a:solidFill>
                  <a:srgbClr val="888888"/>
                </a:solidFill>
                <a:latin typeface="メイリオ"/>
                <a:ea typeface="メイリオ"/>
                <a:cs typeface="メイリオ"/>
              </a:rPr>
              <a:t>去年より多く払う</a:t>
            </a:r>
          </a:p>
        </p:txBody>
      </p:sp>
      <p:sp>
        <p:nvSpPr>
          <p:cNvPr id="64" name="Right Arrow 63"/>
          <p:cNvSpPr/>
          <p:nvPr/>
        </p:nvSpPr>
        <p:spPr>
          <a:xfrm>
            <a:off x="3338400" y="4698000"/>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3518400" y="4266000"/>
            <a:ext cx="2870400" cy="1026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608400" y="4392000"/>
            <a:ext cx="2690400" cy="270000"/>
          </a:xfrm>
          <a:prstGeom prst="rect">
            <a:avLst/>
          </a:prstGeom>
          <a:noFill/>
        </p:spPr>
        <p:txBody>
          <a:bodyPr wrap="square" lIns="50400" rIns="50400" tIns="18000" bIns="18000" anchor="ctr">
            <a:spAutoFit/>
          </a:bodyPr>
          <a:lstStyle/>
          <a:p>
            <a:pPr algn="ctr"/>
            <a:r>
              <a:rPr sz="1300">
                <a:solidFill>
                  <a:srgbClr val="333333"/>
                </a:solidFill>
                <a:latin typeface="メイリオ"/>
                <a:ea typeface="メイリオ"/>
                <a:cs typeface="メイリオ"/>
              </a:rPr>
              <a:t>予算を増やせないなら</a:t>
            </a:r>
          </a:p>
        </p:txBody>
      </p:sp>
      <p:sp>
        <p:nvSpPr>
          <p:cNvPr id="67" name="TextBox 66"/>
          <p:cNvSpPr txBox="1"/>
          <p:nvPr/>
        </p:nvSpPr>
        <p:spPr>
          <a:xfrm>
            <a:off x="3608400" y="4680000"/>
            <a:ext cx="2690400" cy="468000"/>
          </a:xfrm>
          <a:prstGeom prst="rect">
            <a:avLst/>
          </a:prstGeom>
          <a:noFill/>
        </p:spPr>
        <p:txBody>
          <a:bodyPr wrap="square" lIns="50400" rIns="50400" tIns="18000" bIns="18000" anchor="ctr">
            <a:spAutoFit/>
          </a:bodyPr>
          <a:lstStyle/>
          <a:p>
            <a:pPr algn="ctr">
              <a:lnSpc>
                <a:spcPct val="125000"/>
              </a:lnSpc>
            </a:pPr>
            <a:r>
              <a:rPr sz="1600" b="1">
                <a:solidFill>
                  <a:srgbClr val="C00000"/>
                </a:solidFill>
                <a:latin typeface="メイリオ"/>
                <a:ea typeface="メイリオ"/>
                <a:cs typeface="メイリオ"/>
              </a:rPr>
              <a:t>CV数が減る</a:t>
            </a:r>
          </a:p>
        </p:txBody>
      </p:sp>
      <p:sp>
        <p:nvSpPr>
          <p:cNvPr id="68" name="Right Arrow 67"/>
          <p:cNvSpPr/>
          <p:nvPr/>
        </p:nvSpPr>
        <p:spPr>
          <a:xfrm>
            <a:off x="6424800" y="4698000"/>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6604800" y="4266000"/>
            <a:ext cx="2870400" cy="1026000"/>
          </a:xfrm>
          <a:prstGeom prst="roundRect">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94800" y="4392000"/>
            <a:ext cx="2690400" cy="270000"/>
          </a:xfrm>
          <a:prstGeom prst="rect">
            <a:avLst/>
          </a:prstGeom>
          <a:noFill/>
        </p:spPr>
        <p:txBody>
          <a:bodyPr wrap="square" lIns="50400" rIns="50400" tIns="18000" bIns="18000" anchor="ctr">
            <a:spAutoFit/>
          </a:bodyPr>
          <a:lstStyle/>
          <a:p>
            <a:pPr algn="ctr"/>
            <a:r>
              <a:rPr sz="1300">
                <a:solidFill>
                  <a:srgbClr val="333333"/>
                </a:solidFill>
                <a:latin typeface="メイリオ"/>
                <a:ea typeface="メイリオ"/>
                <a:cs typeface="メイリオ"/>
              </a:rPr>
              <a:t>だから回収側に回す</a:t>
            </a:r>
          </a:p>
        </p:txBody>
      </p:sp>
      <p:sp>
        <p:nvSpPr>
          <p:cNvPr id="71" name="TextBox 70"/>
          <p:cNvSpPr txBox="1"/>
          <p:nvPr/>
        </p:nvSpPr>
        <p:spPr>
          <a:xfrm>
            <a:off x="6694800" y="4680000"/>
            <a:ext cx="2690400" cy="468000"/>
          </a:xfrm>
          <a:prstGeom prst="rect">
            <a:avLst/>
          </a:prstGeom>
          <a:noFill/>
        </p:spPr>
        <p:txBody>
          <a:bodyPr wrap="square" lIns="50400" rIns="50400" tIns="18000" bIns="18000" anchor="ctr">
            <a:spAutoFit/>
          </a:bodyPr>
          <a:lstStyle/>
          <a:p>
            <a:pPr algn="ctr">
              <a:lnSpc>
                <a:spcPct val="125000"/>
              </a:lnSpc>
            </a:pPr>
            <a:r>
              <a:rPr sz="1600" b="1">
                <a:solidFill>
                  <a:srgbClr val="ED7D31"/>
                </a:solidFill>
                <a:latin typeface="メイリオ"/>
                <a:ea typeface="メイリオ"/>
                <a:cs typeface="メイリオ"/>
              </a:rPr>
              <a:t>同じ流入から多く拾う</a:t>
            </a:r>
          </a:p>
        </p:txBody>
      </p:sp>
      <p:sp>
        <p:nvSpPr>
          <p:cNvPr id="72" name="TextBox 71"/>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業界水準｜出典：電通「2025年 日本の広告費」2026年3月5日発表（総広告費8兆623億円）／検索広告CPCはキーワードマーケティング調べ</a:t>
            </a:r>
          </a:p>
        </p:txBody>
      </p:sp>
    </p:spTree>
    <p:extLst>
      <p:ext uri="{BB962C8B-B14F-4D97-AF65-F5344CB8AC3E}">
        <p14:creationId xmlns:p14="http://schemas.microsoft.com/office/powerpoint/2010/main" val="11875947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E587B-DB18-248C-DB39-A170420D434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DC709EF-8F36-5A87-7829-DD298A280084}"/>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39EB113-7B09-7996-7FBB-B34C856CBCC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実態調査｜広告実績CVR（CV地点別）</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ECは軽いCVも重いCVも取れる。だからCVRは「どの地点か」を明記しないと比較できない。</a:t>
            </a:r>
          </a:p>
          <a:p>
            <a:pPr algn="l">
              <a:lnSpc>
                <a:spcPct val="135000"/>
              </a:lnSpc>
            </a:pPr>
            <a:r>
              <a:rPr sz="1400">
                <a:solidFill>
                  <a:srgbClr val="333333"/>
                </a:solidFill>
                <a:latin typeface="メイリオ"/>
                <a:ea typeface="メイリオ"/>
                <a:cs typeface="メイリオ"/>
              </a:rPr>
              <a:t>弊社実績はCV地点別に把握しており、提案時に実数をお出しする。</a:t>
            </a:r>
          </a:p>
        </p:txBody>
      </p:sp>
      <p:sp>
        <p:nvSpPr>
          <p:cNvPr id="47" name="Rounded Rectangle 46"/>
          <p:cNvSpPr/>
          <p:nvPr/>
        </p:nvSpPr>
        <p:spPr>
          <a:xfrm>
            <a:off x="432000" y="1548000"/>
            <a:ext cx="2942400" cy="1764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3999" y="1655999"/>
            <a:ext cx="2798400" cy="306000"/>
          </a:xfrm>
          <a:prstGeom prst="rect">
            <a:avLst/>
          </a:prstGeom>
          <a:noFill/>
        </p:spPr>
        <p:txBody>
          <a:bodyPr wrap="square" lIns="50400" rIns="50400" tIns="18000" bIns="18000" anchor="ctr">
            <a:spAutoFit/>
          </a:bodyPr>
          <a:lstStyle/>
          <a:p>
            <a:pPr algn="ctr"/>
            <a:r>
              <a:rPr sz="1500" b="1">
                <a:solidFill>
                  <a:srgbClr val="333333"/>
                </a:solidFill>
                <a:latin typeface="メイリオ"/>
                <a:ea typeface="メイリオ"/>
                <a:cs typeface="メイリオ"/>
              </a:rPr>
              <a:t>① カート投入　</a:t>
            </a:r>
            <a:r>
              <a:rPr sz="1300" b="1">
                <a:solidFill>
                  <a:srgbClr val="ED7D31"/>
                </a:solidFill>
                <a:latin typeface="メイリオ"/>
                <a:ea typeface="メイリオ"/>
                <a:cs typeface="メイリオ"/>
              </a:rPr>
              <a:t>軽CV</a:t>
            </a:r>
          </a:p>
        </p:txBody>
      </p:sp>
      <p:sp>
        <p:nvSpPr>
          <p:cNvPr id="49" name="TextBox 48"/>
          <p:cNvSpPr txBox="1"/>
          <p:nvPr/>
        </p:nvSpPr>
        <p:spPr>
          <a:xfrm>
            <a:off x="540000" y="2034000"/>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商品をカートに入れた時点。</a:t>
            </a:r>
          </a:p>
          <a:p>
            <a:pPr algn="ctr">
              <a:lnSpc>
                <a:spcPct val="135000"/>
              </a:lnSpc>
            </a:pPr>
            <a:r>
              <a:rPr sz="1300">
                <a:solidFill>
                  <a:srgbClr val="333333"/>
                </a:solidFill>
                <a:latin typeface="メイリオ"/>
                <a:ea typeface="メイリオ"/>
                <a:cs typeface="メイリオ"/>
              </a:rPr>
              <a:t>最も母数が大きく、ここから6〜7割が落ちる</a:t>
            </a:r>
          </a:p>
        </p:txBody>
      </p:sp>
      <p:sp>
        <p:nvSpPr>
          <p:cNvPr id="50" name="Rounded Rectangle 49"/>
          <p:cNvSpPr/>
          <p:nvPr/>
        </p:nvSpPr>
        <p:spPr>
          <a:xfrm>
            <a:off x="557999" y="2808000"/>
            <a:ext cx="2690400" cy="396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57999" y="2808000"/>
            <a:ext cx="2690400" cy="396000"/>
          </a:xfrm>
          <a:prstGeom prst="rect">
            <a:avLst/>
          </a:prstGeom>
          <a:noFill/>
        </p:spPr>
        <p:txBody>
          <a:bodyPr wrap="square" lIns="50400" rIns="50400" tIns="18000" bIns="18000" anchor="ctr">
            <a:spAutoFit/>
          </a:bodyPr>
          <a:lstStyle/>
          <a:p>
            <a:pPr algn="ctr"/>
            <a:r>
              <a:rPr sz="1300" b="1">
                <a:solidFill>
                  <a:srgbClr val="ED7D31"/>
                </a:solidFill>
                <a:latin typeface="メイリオ"/>
                <a:ea typeface="メイリオ"/>
                <a:cs typeface="メイリオ"/>
              </a:rPr>
              <a:t>CVR：★未取得</a:t>
            </a:r>
          </a:p>
        </p:txBody>
      </p:sp>
      <p:sp>
        <p:nvSpPr>
          <p:cNvPr id="52" name="Rounded Rectangle 51"/>
          <p:cNvSpPr/>
          <p:nvPr/>
        </p:nvSpPr>
        <p:spPr>
          <a:xfrm>
            <a:off x="3482400" y="1548000"/>
            <a:ext cx="2942400" cy="1764000"/>
          </a:xfrm>
          <a:prstGeom prst="roundRect">
            <a:avLst/>
          </a:prstGeom>
          <a:solidFill>
            <a:srgbClr val="EEF2F9"/>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554400" y="1655999"/>
            <a:ext cx="2798400" cy="306000"/>
          </a:xfrm>
          <a:prstGeom prst="rect">
            <a:avLst/>
          </a:prstGeom>
          <a:noFill/>
        </p:spPr>
        <p:txBody>
          <a:bodyPr wrap="square" lIns="50400" rIns="50400" tIns="18000" bIns="18000" anchor="ctr">
            <a:spAutoFit/>
          </a:bodyPr>
          <a:lstStyle/>
          <a:p>
            <a:pPr algn="ctr"/>
            <a:r>
              <a:rPr sz="1500" b="1">
                <a:solidFill>
                  <a:srgbClr val="333333"/>
                </a:solidFill>
                <a:latin typeface="メイリオ"/>
                <a:ea typeface="メイリオ"/>
                <a:cs typeface="メイリオ"/>
              </a:rPr>
              <a:t>② 初回購入　</a:t>
            </a:r>
            <a:r>
              <a:rPr sz="1300" b="1">
                <a:solidFill>
                  <a:srgbClr val="1F285A"/>
                </a:solidFill>
                <a:latin typeface="メイリオ"/>
                <a:ea typeface="メイリオ"/>
                <a:cs typeface="メイリオ"/>
              </a:rPr>
              <a:t>主CV</a:t>
            </a:r>
          </a:p>
        </p:txBody>
      </p:sp>
      <p:sp>
        <p:nvSpPr>
          <p:cNvPr id="54" name="TextBox 53"/>
          <p:cNvSpPr txBox="1"/>
          <p:nvPr/>
        </p:nvSpPr>
        <p:spPr>
          <a:xfrm>
            <a:off x="3590400" y="2034000"/>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ここでは赤字でよい。</a:t>
            </a:r>
          </a:p>
          <a:p>
            <a:pPr algn="ctr">
              <a:lnSpc>
                <a:spcPct val="135000"/>
              </a:lnSpc>
            </a:pPr>
            <a:r>
              <a:rPr sz="1300">
                <a:solidFill>
                  <a:srgbClr val="333333"/>
                </a:solidFill>
                <a:latin typeface="メイリオ"/>
                <a:ea typeface="メイリオ"/>
                <a:cs typeface="メイリオ"/>
              </a:rPr>
              <a:t>広告のCPOはこの地点で測る</a:t>
            </a:r>
          </a:p>
        </p:txBody>
      </p:sp>
      <p:sp>
        <p:nvSpPr>
          <p:cNvPr id="55" name="Rounded Rectangle 54"/>
          <p:cNvSpPr/>
          <p:nvPr/>
        </p:nvSpPr>
        <p:spPr>
          <a:xfrm>
            <a:off x="3608400" y="2808000"/>
            <a:ext cx="2690400" cy="396000"/>
          </a:xfrm>
          <a:prstGeom prst="roundRect">
            <a:avLst/>
          </a:prstGeom>
          <a:solidFill>
            <a:srgbClr val="FFFF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608400" y="2808000"/>
            <a:ext cx="2690400" cy="396000"/>
          </a:xfrm>
          <a:prstGeom prst="rect">
            <a:avLst/>
          </a:prstGeom>
          <a:noFill/>
        </p:spPr>
        <p:txBody>
          <a:bodyPr wrap="square" lIns="50400" rIns="50400" tIns="18000" bIns="18000" anchor="ctr">
            <a:spAutoFit/>
          </a:bodyPr>
          <a:lstStyle/>
          <a:p>
            <a:pPr algn="ctr"/>
            <a:r>
              <a:rPr sz="1300" b="1">
                <a:solidFill>
                  <a:srgbClr val="1F285A"/>
                </a:solidFill>
                <a:latin typeface="メイリオ"/>
                <a:ea typeface="メイリオ"/>
                <a:cs typeface="メイリオ"/>
              </a:rPr>
              <a:t>CVR：★未取得</a:t>
            </a:r>
          </a:p>
        </p:txBody>
      </p:sp>
      <p:sp>
        <p:nvSpPr>
          <p:cNvPr id="57" name="Rounded Rectangle 56"/>
          <p:cNvSpPr/>
          <p:nvPr/>
        </p:nvSpPr>
        <p:spPr>
          <a:xfrm>
            <a:off x="6532800" y="1548000"/>
            <a:ext cx="2942400" cy="1764000"/>
          </a:xfrm>
          <a:prstGeom prst="roundRect">
            <a:avLst/>
          </a:prstGeom>
          <a:solidFill>
            <a:srgbClr val="FDF2F2"/>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604800" y="1655999"/>
            <a:ext cx="2798400" cy="306000"/>
          </a:xfrm>
          <a:prstGeom prst="rect">
            <a:avLst/>
          </a:prstGeom>
          <a:noFill/>
        </p:spPr>
        <p:txBody>
          <a:bodyPr wrap="square" lIns="50400" rIns="50400" tIns="18000" bIns="18000" anchor="ctr">
            <a:spAutoFit/>
          </a:bodyPr>
          <a:lstStyle/>
          <a:p>
            <a:pPr algn="ctr"/>
            <a:r>
              <a:rPr sz="1500" b="1">
                <a:solidFill>
                  <a:srgbClr val="333333"/>
                </a:solidFill>
                <a:latin typeface="メイリオ"/>
                <a:ea typeface="メイリオ"/>
                <a:cs typeface="メイリオ"/>
              </a:rPr>
              <a:t>③ 定期引上・F2　</a:t>
            </a:r>
            <a:r>
              <a:rPr sz="1300" b="1">
                <a:solidFill>
                  <a:srgbClr val="C00000"/>
                </a:solidFill>
                <a:latin typeface="メイリオ"/>
                <a:ea typeface="メイリオ"/>
                <a:cs typeface="メイリオ"/>
              </a:rPr>
              <a:t>最終CV</a:t>
            </a:r>
          </a:p>
        </p:txBody>
      </p:sp>
      <p:sp>
        <p:nvSpPr>
          <p:cNvPr id="59" name="TextBox 58"/>
          <p:cNvSpPr txBox="1"/>
          <p:nvPr/>
        </p:nvSpPr>
        <p:spPr>
          <a:xfrm>
            <a:off x="6640800" y="2034000"/>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ここで初めて黒字。</a:t>
            </a:r>
          </a:p>
          <a:p>
            <a:pPr algn="ctr">
              <a:lnSpc>
                <a:spcPct val="135000"/>
              </a:lnSpc>
            </a:pPr>
            <a:r>
              <a:rPr sz="1300">
                <a:solidFill>
                  <a:srgbClr val="333333"/>
                </a:solidFill>
                <a:latin typeface="メイリオ"/>
                <a:ea typeface="メイリオ"/>
                <a:cs typeface="メイリオ"/>
              </a:rPr>
              <a:t>本提案の主戦場</a:t>
            </a:r>
          </a:p>
        </p:txBody>
      </p:sp>
      <p:sp>
        <p:nvSpPr>
          <p:cNvPr id="60" name="Rounded Rectangle 59"/>
          <p:cNvSpPr/>
          <p:nvPr/>
        </p:nvSpPr>
        <p:spPr>
          <a:xfrm>
            <a:off x="6658800" y="2808000"/>
            <a:ext cx="2690400" cy="396000"/>
          </a:xfrm>
          <a:prstGeom prst="roundRect">
            <a:avLst/>
          </a:prstGeom>
          <a:solidFill>
            <a:srgbClr val="FFFFFF"/>
          </a:solidFill>
          <a:ln w="127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58800" y="2808000"/>
            <a:ext cx="2690400" cy="396000"/>
          </a:xfrm>
          <a:prstGeom prst="rect">
            <a:avLst/>
          </a:prstGeom>
          <a:noFill/>
        </p:spPr>
        <p:txBody>
          <a:bodyPr wrap="square" lIns="50400" rIns="50400" tIns="18000" bIns="18000" anchor="ctr">
            <a:spAutoFit/>
          </a:bodyPr>
          <a:lstStyle/>
          <a:p>
            <a:pPr algn="ctr"/>
            <a:r>
              <a:rPr sz="1300" b="1">
                <a:solidFill>
                  <a:srgbClr val="C00000"/>
                </a:solidFill>
                <a:latin typeface="メイリオ"/>
                <a:ea typeface="メイリオ"/>
                <a:cs typeface="メイリオ"/>
              </a:rPr>
              <a:t>CVR：★未取得</a:t>
            </a:r>
          </a:p>
        </p:txBody>
      </p:sp>
      <p:sp>
        <p:nvSpPr>
          <p:cNvPr id="62" name="Rounded Rectangle 61"/>
          <p:cNvSpPr/>
          <p:nvPr/>
        </p:nvSpPr>
        <p:spPr>
          <a:xfrm>
            <a:off x="432000" y="3491999"/>
            <a:ext cx="9043200" cy="1475999"/>
          </a:xfrm>
          <a:prstGeom prst="roundRect">
            <a:avLst/>
          </a:prstGeom>
          <a:solidFill>
            <a:srgbClr val="FFFFFF"/>
          </a:solidFill>
          <a:ln w="15875">
            <a:solidFill>
              <a:srgbClr val="A6A6A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500" b="1">
                <a:solidFill>
                  <a:srgbClr val="A6A6A6"/>
                </a:solidFill>
                <a:latin typeface="メイリオ"/>
                <a:ea typeface="メイリオ"/>
                <a:cs typeface="メイリオ"/>
              </a:rPr>
              <a:t>★差込枠｜DYM社内のEC広告実績（未取得）</a:t>
            </a:r>
          </a:p>
          <a:p>
            <a:pPr algn="ctr">
              <a:lnSpc>
                <a:spcPct val="135000"/>
              </a:lnSpc>
            </a:pPr>
            <a:r>
              <a:rPr sz="1300">
                <a:solidFill>
                  <a:srgbClr val="A6A6A6"/>
                </a:solidFill>
                <a:latin typeface="メイリオ"/>
                <a:ea typeface="メイリオ"/>
                <a:cs typeface="メイリオ"/>
              </a:rPr>
              <a:t>CV地点別（カート投入／初回購入／定期引上）の CPC・CVR・CPO</a:t>
            </a:r>
          </a:p>
          <a:p>
            <a:pPr algn="ctr">
              <a:lnSpc>
                <a:spcPct val="135000"/>
              </a:lnSpc>
            </a:pPr>
            <a:r>
              <a:rPr sz="1200">
                <a:solidFill>
                  <a:srgbClr val="A6A6A6"/>
                </a:solidFill>
                <a:latin typeface="メイリオ"/>
                <a:ea typeface="メイリオ"/>
                <a:cs typeface="メイリオ"/>
              </a:rPr>
              <a:t>※CV地点の明記は必須。地点が違うCVRを並べて比較しない</a:t>
            </a:r>
          </a:p>
        </p:txBody>
      </p:sp>
      <p:sp>
        <p:nvSpPr>
          <p:cNvPr id="63" name="Rounded Rectangle 62"/>
          <p:cNvSpPr/>
          <p:nvPr/>
        </p:nvSpPr>
        <p:spPr>
          <a:xfrm>
            <a:off x="432000" y="516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600" b="1">
                <a:solidFill>
                  <a:srgbClr val="FFFFFF"/>
                </a:solidFill>
                <a:latin typeface="メイリオ"/>
                <a:ea typeface="メイリオ"/>
                <a:cs typeface="メイリオ"/>
              </a:rPr>
              <a:t>CVRは「どの地点で測ったか」を書かないと、意味を持たない</a:t>
            </a:r>
          </a:p>
        </p:txBody>
      </p:sp>
      <p:sp>
        <p:nvSpPr>
          <p:cNvPr id="64" name="TextBox 63"/>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★上司確認｜社内のEC広告実績をCV地点別（カート投入／初回購入／定期引上）でご提供ください</a:t>
            </a:r>
          </a:p>
        </p:txBody>
      </p:sp>
    </p:spTree>
    <p:extLst>
      <p:ext uri="{BB962C8B-B14F-4D97-AF65-F5344CB8AC3E}">
        <p14:creationId xmlns:p14="http://schemas.microsoft.com/office/powerpoint/2010/main" val="466478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E2D860-D20C-DFFA-89EA-A46B82A5DB11}"/>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D30ACD85-15EC-FC5A-B63C-42D277C5A6AA}"/>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1DC17654-F65C-A9D9-21EB-8D05BBE86AC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04DC6DE6-9A8D-0047-2FAE-67250D9E5F43}"/>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ニーズ調査｜シーズナリティ</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ECの特徴は「11〜12月に山が2つ立て続けに来る」こと。8月は仕込み月。</a:t>
            </a:r>
          </a:p>
          <a:p>
            <a:pPr algn="l">
              <a:lnSpc>
                <a:spcPct val="135000"/>
              </a:lnSpc>
            </a:pPr>
            <a:r>
              <a:rPr sz="1400">
                <a:solidFill>
                  <a:srgbClr val="333333"/>
                </a:solidFill>
                <a:latin typeface="メイリオ"/>
                <a:ea typeface="メイリオ"/>
                <a:cs typeface="メイリオ"/>
              </a:rPr>
              <a:t>検索需要の波と商戦の波がずれる月があるため、企画配信は先回りして仕込む。</a:t>
            </a:r>
          </a:p>
        </p:txBody>
      </p:sp>
      <p:sp>
        <p:nvSpPr>
          <p:cNvPr id="47" name="Rectangle 46"/>
          <p:cNvSpPr/>
          <p:nvPr/>
        </p:nvSpPr>
        <p:spPr>
          <a:xfrm>
            <a:off x="432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8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1月</a:t>
            </a:r>
          </a:p>
        </p:txBody>
      </p:sp>
      <p:sp>
        <p:nvSpPr>
          <p:cNvPr id="49" name="TextBox 48"/>
          <p:cNvSpPr txBox="1"/>
          <p:nvPr/>
        </p:nvSpPr>
        <p:spPr>
          <a:xfrm>
            <a:off x="323999"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初売り・福袋</a:t>
            </a:r>
          </a:p>
        </p:txBody>
      </p:sp>
      <p:sp>
        <p:nvSpPr>
          <p:cNvPr id="50" name="Rectangle 49"/>
          <p:cNvSpPr/>
          <p:nvPr/>
        </p:nvSpPr>
        <p:spPr>
          <a:xfrm>
            <a:off x="1194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40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2月</a:t>
            </a:r>
          </a:p>
        </p:txBody>
      </p:sp>
      <p:sp>
        <p:nvSpPr>
          <p:cNvPr id="52" name="TextBox 51"/>
          <p:cNvSpPr txBox="1"/>
          <p:nvPr/>
        </p:nvSpPr>
        <p:spPr>
          <a:xfrm>
            <a:off x="1086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バレンタイン</a:t>
            </a:r>
          </a:p>
        </p:txBody>
      </p:sp>
      <p:sp>
        <p:nvSpPr>
          <p:cNvPr id="53" name="Rectangle 52"/>
          <p:cNvSpPr/>
          <p:nvPr/>
        </p:nvSpPr>
        <p:spPr>
          <a:xfrm>
            <a:off x="1956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02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3月</a:t>
            </a:r>
          </a:p>
        </p:txBody>
      </p:sp>
      <p:sp>
        <p:nvSpPr>
          <p:cNvPr id="55" name="TextBox 54"/>
          <p:cNvSpPr txBox="1"/>
          <p:nvPr/>
        </p:nvSpPr>
        <p:spPr>
          <a:xfrm>
            <a:off x="1848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楽天SS／新生活</a:t>
            </a:r>
          </a:p>
        </p:txBody>
      </p:sp>
      <p:sp>
        <p:nvSpPr>
          <p:cNvPr id="56" name="Rectangle 55"/>
          <p:cNvSpPr/>
          <p:nvPr/>
        </p:nvSpPr>
        <p:spPr>
          <a:xfrm>
            <a:off x="2718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664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4月</a:t>
            </a:r>
          </a:p>
        </p:txBody>
      </p:sp>
      <p:sp>
        <p:nvSpPr>
          <p:cNvPr id="58" name="TextBox 57"/>
          <p:cNvSpPr txBox="1"/>
          <p:nvPr/>
        </p:nvSpPr>
        <p:spPr>
          <a:xfrm>
            <a:off x="2610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新生活後半</a:t>
            </a:r>
          </a:p>
        </p:txBody>
      </p:sp>
      <p:sp>
        <p:nvSpPr>
          <p:cNvPr id="59" name="Rectangle 58"/>
          <p:cNvSpPr/>
          <p:nvPr/>
        </p:nvSpPr>
        <p:spPr>
          <a:xfrm>
            <a:off x="3480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3425999"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5月</a:t>
            </a:r>
          </a:p>
        </p:txBody>
      </p:sp>
      <p:sp>
        <p:nvSpPr>
          <p:cNvPr id="61" name="TextBox 60"/>
          <p:cNvSpPr txBox="1"/>
          <p:nvPr/>
        </p:nvSpPr>
        <p:spPr>
          <a:xfrm>
            <a:off x="3371999"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母の日</a:t>
            </a:r>
          </a:p>
        </p:txBody>
      </p:sp>
      <p:sp>
        <p:nvSpPr>
          <p:cNvPr id="62" name="Rectangle 61"/>
          <p:cNvSpPr/>
          <p:nvPr/>
        </p:nvSpPr>
        <p:spPr>
          <a:xfrm>
            <a:off x="4242000"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188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6月</a:t>
            </a:r>
          </a:p>
        </p:txBody>
      </p:sp>
      <p:sp>
        <p:nvSpPr>
          <p:cNvPr id="64" name="TextBox 63"/>
          <p:cNvSpPr txBox="1"/>
          <p:nvPr/>
        </p:nvSpPr>
        <p:spPr>
          <a:xfrm>
            <a:off x="4133999"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楽天SS／父の日</a:t>
            </a:r>
          </a:p>
        </p:txBody>
      </p:sp>
      <p:sp>
        <p:nvSpPr>
          <p:cNvPr id="65" name="Rectangle 64"/>
          <p:cNvSpPr/>
          <p:nvPr/>
        </p:nvSpPr>
        <p:spPr>
          <a:xfrm>
            <a:off x="5003999" y="2393999"/>
            <a:ext cx="661200" cy="1170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49999"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7月</a:t>
            </a:r>
          </a:p>
        </p:txBody>
      </p:sp>
      <p:sp>
        <p:nvSpPr>
          <p:cNvPr id="67" name="TextBox 66"/>
          <p:cNvSpPr txBox="1"/>
          <p:nvPr/>
        </p:nvSpPr>
        <p:spPr>
          <a:xfrm>
            <a:off x="4895999"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プライムデー</a:t>
            </a:r>
          </a:p>
        </p:txBody>
      </p:sp>
      <p:sp>
        <p:nvSpPr>
          <p:cNvPr id="68" name="Rectangle 67"/>
          <p:cNvSpPr/>
          <p:nvPr/>
        </p:nvSpPr>
        <p:spPr>
          <a:xfrm>
            <a:off x="5766000" y="3365999"/>
            <a:ext cx="661200" cy="19800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5711999"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8月</a:t>
            </a:r>
          </a:p>
        </p:txBody>
      </p:sp>
      <p:sp>
        <p:nvSpPr>
          <p:cNvPr id="70" name="TextBox 69"/>
          <p:cNvSpPr txBox="1"/>
          <p:nvPr/>
        </p:nvSpPr>
        <p:spPr>
          <a:xfrm>
            <a:off x="5657999"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仕込み月</a:t>
            </a:r>
          </a:p>
        </p:txBody>
      </p:sp>
      <p:sp>
        <p:nvSpPr>
          <p:cNvPr id="71" name="Rectangle 70"/>
          <p:cNvSpPr/>
          <p:nvPr/>
        </p:nvSpPr>
        <p:spPr>
          <a:xfrm>
            <a:off x="6528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474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9月</a:t>
            </a:r>
          </a:p>
        </p:txBody>
      </p:sp>
      <p:sp>
        <p:nvSpPr>
          <p:cNvPr id="73" name="TextBox 72"/>
          <p:cNvSpPr txBox="1"/>
          <p:nvPr/>
        </p:nvSpPr>
        <p:spPr>
          <a:xfrm>
            <a:off x="6420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楽天SS</a:t>
            </a:r>
          </a:p>
        </p:txBody>
      </p:sp>
      <p:sp>
        <p:nvSpPr>
          <p:cNvPr id="74" name="Rectangle 73"/>
          <p:cNvSpPr/>
          <p:nvPr/>
        </p:nvSpPr>
        <p:spPr>
          <a:xfrm>
            <a:off x="7290000" y="2879999"/>
            <a:ext cx="661200" cy="684000"/>
          </a:xfrm>
          <a:prstGeom prst="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236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10月</a:t>
            </a:r>
          </a:p>
        </p:txBody>
      </p:sp>
      <p:sp>
        <p:nvSpPr>
          <p:cNvPr id="76" name="TextBox 75"/>
          <p:cNvSpPr txBox="1"/>
          <p:nvPr/>
        </p:nvSpPr>
        <p:spPr>
          <a:xfrm>
            <a:off x="7182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ハロウィン</a:t>
            </a:r>
          </a:p>
        </p:txBody>
      </p:sp>
      <p:sp>
        <p:nvSpPr>
          <p:cNvPr id="77" name="Rectangle 76"/>
          <p:cNvSpPr/>
          <p:nvPr/>
        </p:nvSpPr>
        <p:spPr>
          <a:xfrm>
            <a:off x="8052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7998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11月</a:t>
            </a:r>
          </a:p>
        </p:txBody>
      </p:sp>
      <p:sp>
        <p:nvSpPr>
          <p:cNvPr id="79" name="TextBox 78"/>
          <p:cNvSpPr txBox="1"/>
          <p:nvPr/>
        </p:nvSpPr>
        <p:spPr>
          <a:xfrm>
            <a:off x="7944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ブラックフライデー</a:t>
            </a:r>
          </a:p>
        </p:txBody>
      </p:sp>
      <p:sp>
        <p:nvSpPr>
          <p:cNvPr id="80" name="Rectangle 79"/>
          <p:cNvSpPr/>
          <p:nvPr/>
        </p:nvSpPr>
        <p:spPr>
          <a:xfrm>
            <a:off x="8814000" y="1907999"/>
            <a:ext cx="661200" cy="16560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760000" y="3607199"/>
            <a:ext cx="769200" cy="234000"/>
          </a:xfrm>
          <a:prstGeom prst="rect">
            <a:avLst/>
          </a:prstGeom>
          <a:noFill/>
        </p:spPr>
        <p:txBody>
          <a:bodyPr wrap="square" lIns="50400" rIns="50400" tIns="18000" bIns="18000" anchor="ctr">
            <a:spAutoFit/>
          </a:bodyPr>
          <a:lstStyle/>
          <a:p>
            <a:pPr algn="ctr"/>
            <a:r>
              <a:rPr sz="1300" b="1">
                <a:solidFill>
                  <a:srgbClr val="333333"/>
                </a:solidFill>
                <a:latin typeface="メイリオ"/>
                <a:ea typeface="メイリオ"/>
                <a:cs typeface="メイリオ"/>
              </a:rPr>
              <a:t>12月</a:t>
            </a:r>
          </a:p>
        </p:txBody>
      </p:sp>
      <p:sp>
        <p:nvSpPr>
          <p:cNvPr id="82" name="TextBox 81"/>
          <p:cNvSpPr txBox="1"/>
          <p:nvPr/>
        </p:nvSpPr>
        <p:spPr>
          <a:xfrm>
            <a:off x="8706000" y="3851999"/>
            <a:ext cx="877200" cy="612000"/>
          </a:xfrm>
          <a:prstGeom prst="rect">
            <a:avLst/>
          </a:prstGeom>
          <a:noFill/>
        </p:spPr>
        <p:txBody>
          <a:bodyPr wrap="square" lIns="50400" rIns="50400" tIns="18000" bIns="18000" anchor="t">
            <a:spAutoFit/>
          </a:bodyPr>
          <a:lstStyle/>
          <a:p>
            <a:pPr algn="ctr">
              <a:lnSpc>
                <a:spcPct val="125000"/>
              </a:lnSpc>
            </a:pPr>
            <a:r>
              <a:rPr sz="1100">
                <a:solidFill>
                  <a:srgbClr val="333333"/>
                </a:solidFill>
                <a:latin typeface="メイリオ"/>
                <a:ea typeface="メイリオ"/>
                <a:cs typeface="メイリオ"/>
              </a:rPr>
              <a:t>大感謝祭・年末</a:t>
            </a:r>
          </a:p>
        </p:txBody>
      </p:sp>
      <p:sp>
        <p:nvSpPr>
          <p:cNvPr id="83" name="Rounded Rectangle 82"/>
          <p:cNvSpPr/>
          <p:nvPr/>
        </p:nvSpPr>
        <p:spPr>
          <a:xfrm>
            <a:off x="432000" y="4643999"/>
            <a:ext cx="9043200" cy="413999"/>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800" b="1">
                <a:solidFill>
                  <a:srgbClr val="FFFFFF"/>
                </a:solidFill>
                <a:latin typeface="メイリオ"/>
                <a:ea typeface="メイリオ"/>
                <a:cs typeface="メイリオ"/>
              </a:rPr>
              <a:t>11月ブラックフライデー ＋ 12月大感謝祭　＝　年間最大の山が2つ続く</a:t>
            </a:r>
          </a:p>
        </p:txBody>
      </p:sp>
      <p:sp>
        <p:nvSpPr>
          <p:cNvPr id="84" name="TextBox 83"/>
          <p:cNvSpPr txBox="1"/>
          <p:nvPr/>
        </p:nvSpPr>
        <p:spPr>
          <a:xfrm>
            <a:off x="432000" y="5166000"/>
            <a:ext cx="9043200" cy="684000"/>
          </a:xfrm>
          <a:prstGeom prst="rect">
            <a:avLst/>
          </a:prstGeom>
          <a:noFill/>
        </p:spPr>
        <p:txBody>
          <a:bodyPr wrap="square" lIns="50400" rIns="50400" tIns="18000" bIns="18000" anchor="t">
            <a:spAutoFit/>
          </a:bodyPr>
          <a:lstStyle/>
          <a:p>
            <a:pPr algn="l">
              <a:lnSpc>
                <a:spcPct val="140000"/>
              </a:lnSpc>
            </a:pPr>
            <a:r>
              <a:rPr sz="1400">
                <a:solidFill>
                  <a:srgbClr val="333333"/>
                </a:solidFill>
                <a:latin typeface="メイリオ"/>
                <a:ea typeface="メイリオ"/>
                <a:cs typeface="メイリオ"/>
              </a:rPr>
              <a:t>● 8月は「夏枯れ」ではなく秋商戦の仕込み月。ここでリストを作れば11〜12月の山で刈れる。</a:t>
            </a:r>
          </a:p>
          <a:p>
            <a:pPr algn="l">
              <a:lnSpc>
                <a:spcPct val="140000"/>
              </a:lnSpc>
            </a:pPr>
            <a:r>
              <a:rPr sz="1400">
                <a:solidFill>
                  <a:srgbClr val="333333"/>
                </a:solidFill>
                <a:latin typeface="メイリオ"/>
                <a:ea typeface="メイリオ"/>
                <a:cs typeface="メイリオ"/>
              </a:rPr>
              <a:t>● 常設：楽天お買い物マラソン（毎月）／5と0のつく日／Amazonタイムセール祭り</a:t>
            </a:r>
          </a:p>
        </p:txBody>
      </p:sp>
      <p:sp>
        <p:nvSpPr>
          <p:cNvPr id="85" name="TextBox 84"/>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業界水準｜主要ECモールの年間商戦。★Googleトレンド（福袋／ブラックフライデー／セール／母の日・一語・5年＋1年）は未取得</a:t>
            </a:r>
          </a:p>
        </p:txBody>
      </p:sp>
    </p:spTree>
    <p:extLst>
      <p:ext uri="{BB962C8B-B14F-4D97-AF65-F5344CB8AC3E}">
        <p14:creationId xmlns:p14="http://schemas.microsoft.com/office/powerpoint/2010/main" val="142908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E4664-0791-AB23-9ACF-A79FA4D2CD12}"/>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98A5F44-4DAD-79B8-2CEA-267E86DC8605}"/>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198BB5E6-49E8-E304-2236-96ED9AF800A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ニーズ調査｜前後検索（購入前＝比較／購入後＝解約）</a:t>
            </a:r>
            <a:endParaRPr sz="1600" b="1" dirty="0">
              <a:solidFill>
                <a:srgbClr val="002060"/>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88303E2C-F4EF-F0AA-1EF9-E0A01EDFC0ED}"/>
              </a:ext>
            </a:extLst>
          </p:cNvPr>
          <p:cNvSpPr txBox="1"/>
          <p:nvPr/>
        </p:nvSpPr>
        <p:spPr>
          <a:xfrm>
            <a:off x="3030583" y="184284"/>
            <a:ext cx="2351314" cy="246221"/>
          </a:xfrm>
          <a:prstGeom prst="rect">
            <a:avLst/>
          </a:prstGeom>
          <a:noFill/>
        </p:spPr>
        <p:txBody>
          <a:bodyPr wrap="square">
            <a:spAutoFit/>
          </a:bodyPr>
          <a:lstStyle/>
          <a:p>
            <a:r>
              <a:rPr lang="en-US" altLang="ja-JP" sz="1000" dirty="0">
                <a:solidFill>
                  <a:srgbClr val="FF0000"/>
                </a:solidFill>
                <a:latin typeface="Meiryo"/>
                <a:ea typeface="Meiryo"/>
                <a:cs typeface="Meiryo"/>
                <a:sym typeface="Meiryo"/>
              </a:rPr>
              <a:t>※LINE</a:t>
            </a:r>
            <a:r>
              <a:rPr lang="ja-JP" altLang="en-US" sz="1000" dirty="0">
                <a:solidFill>
                  <a:srgbClr val="FF0000"/>
                </a:solidFill>
                <a:latin typeface="Meiryo"/>
                <a:ea typeface="Meiryo"/>
                <a:cs typeface="Meiryo"/>
                <a:sym typeface="Meiryo"/>
              </a:rPr>
              <a:t>ヤフーの媒体情報を参考に</a:t>
            </a:r>
            <a:endParaRPr lang="ja-JP" altLang="en-US" sz="1050" dirty="0">
              <a:solidFill>
                <a:srgbClr val="FF0000"/>
              </a:solidFill>
            </a:endParaRPr>
          </a:p>
        </p:txBody>
      </p:sp>
      <p:cxnSp>
        <p:nvCxnSpPr>
          <p:cNvPr id="6" name="直線コネクタ 5">
            <a:extLst>
              <a:ext uri="{FF2B5EF4-FFF2-40B4-BE49-F238E27FC236}">
                <a16:creationId xmlns:a16="http://schemas.microsoft.com/office/drawing/2014/main" id="{513D5E39-C6C9-D6C0-5819-C587AA1C507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pic>
        <p:nvPicPr>
          <p:cNvPr id="8" name="図 7">
            <a:extLst>
              <a:ext uri="{FF2B5EF4-FFF2-40B4-BE49-F238E27FC236}">
                <a16:creationId xmlns:a16="http://schemas.microsoft.com/office/drawing/2014/main" id="{F198BAAF-D48E-0B2F-41CA-A6EA35529E6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94525" y="1685711"/>
            <a:ext cx="7516950" cy="4384888"/>
          </a:xfrm>
          <a:prstGeom prst="rect">
            <a:avLst/>
          </a:prstGeom>
        </p:spPr>
      </p:pic>
      <p:sp>
        <p:nvSpPr>
          <p:cNvPr id="10" name="正方形/長方形 9">
            <a:extLst>
              <a:ext uri="{FF2B5EF4-FFF2-40B4-BE49-F238E27FC236}">
                <a16:creationId xmlns:a16="http://schemas.microsoft.com/office/drawing/2014/main" id="{3A99C536-4301-F569-61F1-54067CA4AE75}"/>
              </a:ext>
            </a:extLst>
          </p:cNvPr>
          <p:cNvSpPr/>
          <p:nvPr/>
        </p:nvSpPr>
        <p:spPr>
          <a:xfrm>
            <a:off x="1090344"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12" name="正方形/長方形 11">
            <a:extLst>
              <a:ext uri="{FF2B5EF4-FFF2-40B4-BE49-F238E27FC236}">
                <a16:creationId xmlns:a16="http://schemas.microsoft.com/office/drawing/2014/main" id="{5B08C2C6-BF88-EDFE-9307-526D7AB38942}"/>
              </a:ext>
            </a:extLst>
          </p:cNvPr>
          <p:cNvSpPr/>
          <p:nvPr/>
        </p:nvSpPr>
        <p:spPr>
          <a:xfrm>
            <a:off x="5109349" y="6053937"/>
            <a:ext cx="3908791"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14" name="直線矢印コネクタ 13">
            <a:extLst>
              <a:ext uri="{FF2B5EF4-FFF2-40B4-BE49-F238E27FC236}">
                <a16:creationId xmlns:a16="http://schemas.microsoft.com/office/drawing/2014/main" id="{56C657A1-149E-41EE-730E-3EAE4C3BA201}"/>
              </a:ext>
            </a:extLst>
          </p:cNvPr>
          <p:cNvCxnSpPr>
            <a:cxnSpLocks/>
          </p:cNvCxnSpPr>
          <p:nvPr/>
        </p:nvCxnSpPr>
        <p:spPr>
          <a:xfrm flipV="1">
            <a:off x="807709" y="1709902"/>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E4FE3AE9-35AF-85CD-C2CC-E0CD16851957}"/>
              </a:ext>
            </a:extLst>
          </p:cNvPr>
          <p:cNvSpPr txBox="1"/>
          <p:nvPr/>
        </p:nvSpPr>
        <p:spPr>
          <a:xfrm>
            <a:off x="736682" y="1847126"/>
            <a:ext cx="107986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検索</a:t>
            </a:r>
            <a:r>
              <a:rPr lang="en-US" altLang="ja-JP" sz="1050" b="1" dirty="0">
                <a:latin typeface="メイリオ" panose="020B0604030504040204" pitchFamily="50" charset="-128"/>
                <a:ea typeface="メイリオ" panose="020B0604030504040204" pitchFamily="50" charset="-128"/>
              </a:rPr>
              <a:t>Vol:</a:t>
            </a:r>
            <a:r>
              <a:rPr lang="ja-JP" altLang="en-US" sz="1050" b="1" dirty="0">
                <a:latin typeface="メイリオ" panose="020B0604030504040204" pitchFamily="50" charset="-128"/>
                <a:ea typeface="メイリオ" panose="020B0604030504040204" pitchFamily="50" charset="-128"/>
              </a:rPr>
              <a:t>多</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1" name="テキスト ボックス 20">
            <a:extLst>
              <a:ext uri="{FF2B5EF4-FFF2-40B4-BE49-F238E27FC236}">
                <a16:creationId xmlns:a16="http://schemas.microsoft.com/office/drawing/2014/main" id="{160D2D1C-9CD0-28D0-3138-8C01E5B887B5}"/>
              </a:ext>
            </a:extLst>
          </p:cNvPr>
          <p:cNvSpPr txBox="1"/>
          <p:nvPr/>
        </p:nvSpPr>
        <p:spPr>
          <a:xfrm>
            <a:off x="2151017" y="1491943"/>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の検索前後データ（購入前＝口コミ・比較／購入後＝解約・返品）</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13B630D1-4FF6-F9C6-E36E-F82FF8BB2858}"/>
              </a:ext>
            </a:extLst>
          </p:cNvPr>
          <p:cNvSpPr/>
          <p:nvPr/>
        </p:nvSpPr>
        <p:spPr>
          <a:xfrm>
            <a:off x="920090" y="1468481"/>
            <a:ext cx="1397216"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通販</a:t>
            </a:r>
          </a:p>
        </p:txBody>
      </p:sp>
      <p:sp>
        <p:nvSpPr>
          <p:cNvPr id="23" name="四角形: 角を丸くする 22">
            <a:extLst>
              <a:ext uri="{FF2B5EF4-FFF2-40B4-BE49-F238E27FC236}">
                <a16:creationId xmlns:a16="http://schemas.microsoft.com/office/drawing/2014/main" id="{BAA5D856-D29F-D5D5-02FA-EDC498C6E38D}"/>
              </a:ext>
            </a:extLst>
          </p:cNvPr>
          <p:cNvSpPr/>
          <p:nvPr/>
        </p:nvSpPr>
        <p:spPr>
          <a:xfrm>
            <a:off x="8482149" y="1685711"/>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四角形: 角を丸くする 24">
            <a:extLst>
              <a:ext uri="{FF2B5EF4-FFF2-40B4-BE49-F238E27FC236}">
                <a16:creationId xmlns:a16="http://schemas.microsoft.com/office/drawing/2014/main" id="{7AE0C013-9D56-4624-074C-3992B047F4C0}"/>
              </a:ext>
            </a:extLst>
          </p:cNvPr>
          <p:cNvSpPr/>
          <p:nvPr/>
        </p:nvSpPr>
        <p:spPr>
          <a:xfrm>
            <a:off x="8482149" y="1980746"/>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四角形: 角を丸くする 26">
            <a:extLst>
              <a:ext uri="{FF2B5EF4-FFF2-40B4-BE49-F238E27FC236}">
                <a16:creationId xmlns:a16="http://schemas.microsoft.com/office/drawing/2014/main" id="{7DD23ED8-F8D9-B1F4-5F5D-4E5FF69D1AE9}"/>
              </a:ext>
            </a:extLst>
          </p:cNvPr>
          <p:cNvSpPr/>
          <p:nvPr/>
        </p:nvSpPr>
        <p:spPr>
          <a:xfrm>
            <a:off x="8482149" y="2269869"/>
            <a:ext cx="1185818" cy="253916"/>
          </a:xfrm>
          <a:prstGeom prst="roundRect">
            <a:avLst/>
          </a:prstGeom>
          <a:solidFill>
            <a:srgbClr val="00B05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9" name="四角形: 角を丸くする 28">
            <a:extLst>
              <a:ext uri="{FF2B5EF4-FFF2-40B4-BE49-F238E27FC236}">
                <a16:creationId xmlns:a16="http://schemas.microsoft.com/office/drawing/2014/main" id="{98C9DD1D-1D53-20B3-A201-30EC6D616E46}"/>
              </a:ext>
            </a:extLst>
          </p:cNvPr>
          <p:cNvSpPr/>
          <p:nvPr/>
        </p:nvSpPr>
        <p:spPr>
          <a:xfrm>
            <a:off x="8482149" y="2564904"/>
            <a:ext cx="1185818" cy="253916"/>
          </a:xfrm>
          <a:prstGeom prst="roundRect">
            <a:avLst/>
          </a:prstGeom>
          <a:solidFill>
            <a:srgbClr val="FFC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38123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A8E8E-25CB-4B86-C4F6-E5A7023586F7}"/>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82750B4B-A121-360C-93EE-1C576646E633}"/>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9AF57BBF-9E24-A5DD-4EBD-626AA56926E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2F558483-DBE8-2E46-BAD9-E71868086667}"/>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0954E864-E162-A524-FB6F-26FF53B7022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他社分析①｜EC主要10社のLINE運用ステータス</a:t>
            </a:r>
            <a:r>
              <a:rPr lang="en-US" altLang="ja-JP" sz="1600" b="1" dirty="0">
                <a:solidFill>
                  <a:srgbClr val="002060"/>
                </a:solidFill>
                <a:latin typeface="Meiryo"/>
                <a:ea typeface="Meiryo"/>
                <a:cs typeface="Meiryo"/>
                <a:sym typeface="Meiryo"/>
              </a:rPr>
              <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29" name="テキスト ボックス 28">
            <a:extLst>
              <a:ext uri="{FF2B5EF4-FFF2-40B4-BE49-F238E27FC236}">
                <a16:creationId xmlns:a16="http://schemas.microsoft.com/office/drawing/2014/main" id="{89944725-A636-ECEB-0A63-635C9AC8D442}"/>
              </a:ext>
            </a:extLst>
          </p:cNvPr>
          <p:cNvSpPr txBox="1"/>
          <p:nvPr/>
        </p:nvSpPr>
        <p:spPr>
          <a:xfrm>
            <a:off x="4801044" y="1595900"/>
            <a:ext cx="449248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31" name="テキスト ボックス 30">
            <a:extLst>
              <a:ext uri="{FF2B5EF4-FFF2-40B4-BE49-F238E27FC236}">
                <a16:creationId xmlns:a16="http://schemas.microsoft.com/office/drawing/2014/main" id="{4084F56D-F327-A822-5987-1D40EC17F819}"/>
              </a:ext>
            </a:extLst>
          </p:cNvPr>
          <p:cNvSpPr txBox="1"/>
          <p:nvPr/>
        </p:nvSpPr>
        <p:spPr>
          <a:xfrm>
            <a:off x="548883" y="1595900"/>
            <a:ext cx="4084077" cy="276999"/>
          </a:xfrm>
          <a:prstGeom prst="rect">
            <a:avLst/>
          </a:prstGeom>
          <a:solidFill>
            <a:schemeClr val="tx1"/>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WEB</a:t>
            </a:r>
            <a:r>
              <a:rPr lang="ja-JP" altLang="en-US" sz="1200" dirty="0">
                <a:solidFill>
                  <a:schemeClr val="bg1"/>
                </a:solidFill>
                <a:latin typeface="メイリオ" panose="020B0604030504040204" pitchFamily="50" charset="-128"/>
                <a:ea typeface="メイリオ" panose="020B0604030504040204" pitchFamily="50" charset="-128"/>
              </a:rPr>
              <a:t>サイトステータス</a:t>
            </a:r>
            <a:endParaRPr lang="ja-JP" altLang="en-US" sz="1200" dirty="0">
              <a:solidFill>
                <a:schemeClr val="bg1"/>
              </a:solidFill>
            </a:endParaRPr>
          </a:p>
        </p:txBody>
      </p:sp>
      <p:pic>
        <p:nvPicPr>
          <p:cNvPr id="35" name="図 34">
            <a:extLst>
              <a:ext uri="{FF2B5EF4-FFF2-40B4-BE49-F238E27FC236}">
                <a16:creationId xmlns:a16="http://schemas.microsoft.com/office/drawing/2014/main" id="{3FDD197B-3A43-7E8B-E261-FC7EE3F2BCB2}"/>
              </a:ext>
            </a:extLst>
          </p:cNvPr>
          <p:cNvPicPr>
            <a:picLocks noChangeAspect="1"/>
          </p:cNvPicPr>
          <p:nvPr/>
        </p:nvPicPr>
        <p:blipFill>
          <a:blip r:embed="rId3"/>
          <a:stretch>
            <a:fillRect/>
          </a:stretch>
        </p:blipFill>
        <p:spPr>
          <a:xfrm>
            <a:off x="548883" y="2013911"/>
            <a:ext cx="1538002" cy="3123817"/>
          </a:xfrm>
          <a:prstGeom prst="rect">
            <a:avLst/>
          </a:prstGeom>
        </p:spPr>
      </p:pic>
      <p:sp>
        <p:nvSpPr>
          <p:cNvPr id="43" name="テキスト ボックス 42">
            <a:extLst>
              <a:ext uri="{FF2B5EF4-FFF2-40B4-BE49-F238E27FC236}">
                <a16:creationId xmlns:a16="http://schemas.microsoft.com/office/drawing/2014/main" id="{DF252064-AA26-BA2E-6A97-4DB09F013416}"/>
              </a:ext>
            </a:extLst>
          </p:cNvPr>
          <p:cNvSpPr txBox="1"/>
          <p:nvPr/>
        </p:nvSpPr>
        <p:spPr>
          <a:xfrm>
            <a:off x="548882" y="5699170"/>
            <a:ext cx="4084077"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★competitor名（未確定）</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A9D49B02-3153-70EA-C9DA-F1F7EE54CE44}"/>
              </a:ext>
            </a:extLst>
          </p:cNvPr>
          <p:cNvSpPr txBox="1"/>
          <p:nvPr/>
        </p:nvSpPr>
        <p:spPr>
          <a:xfrm>
            <a:off x="4801043" y="5699170"/>
            <a:ext cx="4492485" cy="415498"/>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★competitor名（未確定）</a:t>
            </a:r>
            <a:endParaRPr lang="en-US" altLang="ja-JP" sz="1050" dirty="0">
              <a:latin typeface="メイリオ" panose="020B0604030504040204" pitchFamily="50" charset="-128"/>
              <a:ea typeface="メイリオ" panose="020B0604030504040204" pitchFamily="50" charset="-128"/>
            </a:endParaRPr>
          </a:p>
          <a:p>
            <a:pPr algn="ctr"/>
            <a:r>
              <a:rPr lang="en-US" altLang="ja-JP" sz="1050" dirty="0">
                <a:latin typeface="メイリオ" panose="020B0604030504040204" pitchFamily="50" charset="-128"/>
                <a:ea typeface="メイリオ" panose="020B0604030504040204" pitchFamily="50" charset="-128"/>
              </a:rPr>
              <a:t>※</a:t>
            </a:r>
            <a:r>
              <a:rPr lang="ja-JP" altLang="en-US" sz="1050" dirty="0">
                <a:latin typeface="メイリオ" panose="020B0604030504040204" pitchFamily="50" charset="-128"/>
                <a:ea typeface="メイリオ" panose="020B0604030504040204" pitchFamily="50" charset="-128"/>
              </a:rPr>
              <a:t>注釈、コメントを記載</a:t>
            </a:r>
            <a:endParaRPr lang="en-US" altLang="ja-JP" sz="1050" dirty="0">
              <a:latin typeface="メイリオ" panose="020B0604030504040204" pitchFamily="50" charset="-128"/>
              <a:ea typeface="メイリオ" panose="020B0604030504040204" pitchFamily="50" charset="-128"/>
            </a:endParaRPr>
          </a:p>
        </p:txBody>
      </p:sp>
      <p:pic>
        <p:nvPicPr>
          <p:cNvPr id="55" name="図 54">
            <a:extLst>
              <a:ext uri="{FF2B5EF4-FFF2-40B4-BE49-F238E27FC236}">
                <a16:creationId xmlns:a16="http://schemas.microsoft.com/office/drawing/2014/main" id="{A0055F99-5527-C0F0-D670-596AA96C9DB0}"/>
              </a:ext>
            </a:extLst>
          </p:cNvPr>
          <p:cNvPicPr>
            <a:picLocks noChangeAspect="1"/>
          </p:cNvPicPr>
          <p:nvPr/>
        </p:nvPicPr>
        <p:blipFill>
          <a:blip r:embed="rId3"/>
          <a:stretch>
            <a:fillRect/>
          </a:stretch>
        </p:blipFill>
        <p:spPr>
          <a:xfrm>
            <a:off x="4801043" y="2013911"/>
            <a:ext cx="1732686" cy="3519238"/>
          </a:xfrm>
          <a:prstGeom prst="rect">
            <a:avLst/>
          </a:prstGeom>
        </p:spPr>
      </p:pic>
      <p:sp>
        <p:nvSpPr>
          <p:cNvPr id="61" name="テキスト ボックス 60">
            <a:extLst>
              <a:ext uri="{FF2B5EF4-FFF2-40B4-BE49-F238E27FC236}">
                <a16:creationId xmlns:a16="http://schemas.microsoft.com/office/drawing/2014/main" id="{B2CAE599-CD63-C0C4-6166-4C1744AE2DDD}"/>
              </a:ext>
            </a:extLst>
          </p:cNvPr>
          <p:cNvSpPr txBox="1"/>
          <p:nvPr/>
        </p:nvSpPr>
        <p:spPr>
          <a:xfrm>
            <a:off x="4891820" y="2275406"/>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EB2DD2D7-F323-5565-89B7-F197B808D898}"/>
              </a:ext>
            </a:extLst>
          </p:cNvPr>
          <p:cNvSpPr txBox="1"/>
          <p:nvPr/>
        </p:nvSpPr>
        <p:spPr>
          <a:xfrm>
            <a:off x="5052929" y="3351808"/>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5" name="テキスト ボックス 64">
            <a:extLst>
              <a:ext uri="{FF2B5EF4-FFF2-40B4-BE49-F238E27FC236}">
                <a16:creationId xmlns:a16="http://schemas.microsoft.com/office/drawing/2014/main" id="{C742707A-0EFE-C959-2429-B7F41C6A6533}"/>
              </a:ext>
            </a:extLst>
          </p:cNvPr>
          <p:cNvSpPr txBox="1"/>
          <p:nvPr/>
        </p:nvSpPr>
        <p:spPr>
          <a:xfrm>
            <a:off x="2134777" y="2013910"/>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サイト</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67" name="テキスト ボックス 66">
            <a:extLst>
              <a:ext uri="{FF2B5EF4-FFF2-40B4-BE49-F238E27FC236}">
                <a16:creationId xmlns:a16="http://schemas.microsoft.com/office/drawing/2014/main" id="{F4B640EE-F406-8C64-40BB-99B4F8666757}"/>
              </a:ext>
            </a:extLst>
          </p:cNvPr>
          <p:cNvSpPr txBox="1"/>
          <p:nvPr/>
        </p:nvSpPr>
        <p:spPr>
          <a:xfrm>
            <a:off x="2137430" y="5174170"/>
            <a:ext cx="2183307" cy="369332"/>
          </a:xfrm>
          <a:prstGeom prst="rect">
            <a:avLst/>
          </a:prstGeom>
          <a:noFill/>
        </p:spPr>
        <p:txBody>
          <a:bodyPr wrap="square">
            <a:spAutoFit/>
          </a:bodyPr>
          <a:lstStyle/>
          <a:p>
            <a:r>
              <a:rPr lang="en-US" altLang="ja-JP" sz="900" dirty="0">
                <a:solidFill>
                  <a:schemeClr val="bg1">
                    <a:lumMod val="65000"/>
                  </a:schemeClr>
                </a:solidFill>
                <a:latin typeface="メイリオ" panose="020B0604030504040204" pitchFamily="50" charset="-128"/>
                <a:ea typeface="メイリオ" panose="020B0604030504040204" pitchFamily="50" charset="-128"/>
              </a:rPr>
              <a:t>※いずれも page.line.me（公式）と実機調査</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a:p>
            <a:r>
              <a:rPr lang="ja-JP" altLang="en-US" sz="900" dirty="0">
                <a:solidFill>
                  <a:schemeClr val="bg1">
                    <a:lumMod val="65000"/>
                  </a:schemeClr>
                </a:solidFill>
                <a:latin typeface="メイリオ" panose="020B0604030504040204" pitchFamily="50" charset="-128"/>
                <a:ea typeface="メイリオ" panose="020B0604030504040204" pitchFamily="50" charset="-128"/>
              </a:rPr>
              <a:t>　をもとにした値です。取得日を併記します。</a:t>
            </a:r>
            <a:endParaRPr lang="ja-JP" altLang="en-US" sz="1400" dirty="0">
              <a:solidFill>
                <a:schemeClr val="bg1">
                  <a:lumMod val="65000"/>
                </a:schemeClr>
              </a:solidFill>
            </a:endParaRPr>
          </a:p>
        </p:txBody>
      </p:sp>
      <p:sp>
        <p:nvSpPr>
          <p:cNvPr id="69" name="テキスト ボックス 68">
            <a:extLst>
              <a:ext uri="{FF2B5EF4-FFF2-40B4-BE49-F238E27FC236}">
                <a16:creationId xmlns:a16="http://schemas.microsoft.com/office/drawing/2014/main" id="{005CE4EC-9DAD-614D-EF21-189AC4A54B8B}"/>
              </a:ext>
            </a:extLst>
          </p:cNvPr>
          <p:cNvSpPr txBox="1"/>
          <p:nvPr/>
        </p:nvSpPr>
        <p:spPr>
          <a:xfrm>
            <a:off x="2134777" y="2329936"/>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a:t>
            </a:r>
            <a:r>
              <a:rPr lang="en-US" altLang="ja-JP" sz="1000" dirty="0">
                <a:solidFill>
                  <a:schemeClr val="bg1"/>
                </a:solidFill>
                <a:latin typeface="メイリオ" panose="020B0604030504040204" pitchFamily="50" charset="-128"/>
                <a:ea typeface="メイリオ" panose="020B0604030504040204" pitchFamily="50" charset="-128"/>
              </a:rPr>
              <a:t>UU</a:t>
            </a:r>
          </a:p>
        </p:txBody>
      </p:sp>
      <p:sp>
        <p:nvSpPr>
          <p:cNvPr id="71" name="テキスト ボックス 70">
            <a:extLst>
              <a:ext uri="{FF2B5EF4-FFF2-40B4-BE49-F238E27FC236}">
                <a16:creationId xmlns:a16="http://schemas.microsoft.com/office/drawing/2014/main" id="{E9F2E720-D964-9A60-45CD-5C6E8BAA9807}"/>
              </a:ext>
            </a:extLst>
          </p:cNvPr>
          <p:cNvSpPr txBox="1"/>
          <p:nvPr/>
        </p:nvSpPr>
        <p:spPr>
          <a:xfrm>
            <a:off x="2134777" y="264596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広告費用</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3" name="テキスト ボックス 72">
            <a:extLst>
              <a:ext uri="{FF2B5EF4-FFF2-40B4-BE49-F238E27FC236}">
                <a16:creationId xmlns:a16="http://schemas.microsoft.com/office/drawing/2014/main" id="{C569673A-D559-A164-179E-003DC44124E7}"/>
              </a:ext>
            </a:extLst>
          </p:cNvPr>
          <p:cNvSpPr txBox="1"/>
          <p:nvPr/>
        </p:nvSpPr>
        <p:spPr>
          <a:xfrm>
            <a:off x="2134777" y="4858144"/>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メイン流入元</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5" name="テキスト ボックス 74">
            <a:extLst>
              <a:ext uri="{FF2B5EF4-FFF2-40B4-BE49-F238E27FC236}">
                <a16:creationId xmlns:a16="http://schemas.microsoft.com/office/drawing/2014/main" id="{5DF15628-8396-5390-0708-F6E808EFAAFF}"/>
              </a:ext>
            </a:extLst>
          </p:cNvPr>
          <p:cNvSpPr txBox="1"/>
          <p:nvPr/>
        </p:nvSpPr>
        <p:spPr>
          <a:xfrm>
            <a:off x="2134777" y="454211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他</a:t>
            </a:r>
            <a:r>
              <a:rPr lang="en-US" altLang="ja-JP" sz="1000" dirty="0">
                <a:solidFill>
                  <a:schemeClr val="bg1"/>
                </a:solidFill>
                <a:latin typeface="メイリオ" panose="020B0604030504040204" pitchFamily="50" charset="-128"/>
                <a:ea typeface="メイリオ" panose="020B0604030504040204" pitchFamily="50" charset="-128"/>
              </a:rPr>
              <a:t>SNS</a:t>
            </a:r>
          </a:p>
        </p:txBody>
      </p:sp>
      <p:sp>
        <p:nvSpPr>
          <p:cNvPr id="76" name="テキスト ボックス 75">
            <a:extLst>
              <a:ext uri="{FF2B5EF4-FFF2-40B4-BE49-F238E27FC236}">
                <a16:creationId xmlns:a16="http://schemas.microsoft.com/office/drawing/2014/main" id="{4C5B2CB3-9726-166D-3753-A503CCEF0A26}"/>
              </a:ext>
            </a:extLst>
          </p:cNvPr>
          <p:cNvSpPr txBox="1"/>
          <p:nvPr/>
        </p:nvSpPr>
        <p:spPr>
          <a:xfrm>
            <a:off x="2134777" y="4226092"/>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リード保有数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DC4812CB-3D04-2C5B-A271-41DFEDCAB4C8}"/>
              </a:ext>
            </a:extLst>
          </p:cNvPr>
          <p:cNvSpPr txBox="1"/>
          <p:nvPr/>
        </p:nvSpPr>
        <p:spPr>
          <a:xfrm>
            <a:off x="2134777" y="2961988"/>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a:t>
            </a: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0482930D-56AE-298D-A6EB-FFBDE40ECC00}"/>
              </a:ext>
            </a:extLst>
          </p:cNvPr>
          <p:cNvSpPr txBox="1"/>
          <p:nvPr/>
        </p:nvSpPr>
        <p:spPr>
          <a:xfrm>
            <a:off x="2134777" y="3278014"/>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CV</a:t>
            </a:r>
            <a:r>
              <a:rPr lang="ja-JP" altLang="en-US" sz="1000" dirty="0">
                <a:solidFill>
                  <a:schemeClr val="bg1"/>
                </a:solidFill>
                <a:latin typeface="メイリオ" panose="020B0604030504040204" pitchFamily="50" charset="-128"/>
                <a:ea typeface="メイリオ" panose="020B0604030504040204" pitchFamily="50" charset="-128"/>
              </a:rPr>
              <a:t>地点</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2" name="テキスト ボックス 81">
            <a:extLst>
              <a:ext uri="{FF2B5EF4-FFF2-40B4-BE49-F238E27FC236}">
                <a16:creationId xmlns:a16="http://schemas.microsoft.com/office/drawing/2014/main" id="{3C4E2BA0-63A7-25D9-1A97-5C69DFD79C77}"/>
              </a:ext>
            </a:extLst>
          </p:cNvPr>
          <p:cNvSpPr txBox="1"/>
          <p:nvPr/>
        </p:nvSpPr>
        <p:spPr>
          <a:xfrm>
            <a:off x="2134777" y="3594040"/>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LINE</a:t>
            </a:r>
            <a:r>
              <a:rPr lang="ja-JP" altLang="en-US" sz="1000" dirty="0">
                <a:solidFill>
                  <a:schemeClr val="bg1"/>
                </a:solidFill>
                <a:latin typeface="メイリオ" panose="020B0604030504040204" pitchFamily="50" charset="-128"/>
                <a:ea typeface="メイリオ" panose="020B0604030504040204" pitchFamily="50" charset="-128"/>
              </a:rPr>
              <a:t>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4" name="テキスト ボックス 83">
            <a:extLst>
              <a:ext uri="{FF2B5EF4-FFF2-40B4-BE49-F238E27FC236}">
                <a16:creationId xmlns:a16="http://schemas.microsoft.com/office/drawing/2014/main" id="{7302A54D-423F-C71A-CF81-E2452E967C73}"/>
              </a:ext>
            </a:extLst>
          </p:cNvPr>
          <p:cNvSpPr txBox="1"/>
          <p:nvPr/>
        </p:nvSpPr>
        <p:spPr>
          <a:xfrm>
            <a:off x="2134777" y="3910066"/>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広告余地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6" name="テキスト ボックス 85">
            <a:extLst>
              <a:ext uri="{FF2B5EF4-FFF2-40B4-BE49-F238E27FC236}">
                <a16:creationId xmlns:a16="http://schemas.microsoft.com/office/drawing/2014/main" id="{EE72F3BF-6AE9-F7CC-CE6A-1536B8F8A660}"/>
              </a:ext>
            </a:extLst>
          </p:cNvPr>
          <p:cNvSpPr txBox="1"/>
          <p:nvPr/>
        </p:nvSpPr>
        <p:spPr>
          <a:xfrm>
            <a:off x="6624506" y="2019331"/>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友だち数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88" name="テキスト ボックス 87">
            <a:extLst>
              <a:ext uri="{FF2B5EF4-FFF2-40B4-BE49-F238E27FC236}">
                <a16:creationId xmlns:a16="http://schemas.microsoft.com/office/drawing/2014/main" id="{01CD0233-3F13-52A2-0BD2-A107006D060A}"/>
              </a:ext>
            </a:extLst>
          </p:cNvPr>
          <p:cNvSpPr txBox="1"/>
          <p:nvPr/>
        </p:nvSpPr>
        <p:spPr>
          <a:xfrm>
            <a:off x="6624506" y="233535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アクティブ数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0" name="テキスト ボックス 89">
            <a:extLst>
              <a:ext uri="{FF2B5EF4-FFF2-40B4-BE49-F238E27FC236}">
                <a16:creationId xmlns:a16="http://schemas.microsoft.com/office/drawing/2014/main" id="{E7B4DAA3-597E-9850-4FC5-7AEEE3895876}"/>
              </a:ext>
            </a:extLst>
          </p:cNvPr>
          <p:cNvSpPr txBox="1"/>
          <p:nvPr/>
        </p:nvSpPr>
        <p:spPr>
          <a:xfrm>
            <a:off x="6624506" y="2651383"/>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ブロック率</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2" name="テキスト ボックス 91">
            <a:extLst>
              <a:ext uri="{FF2B5EF4-FFF2-40B4-BE49-F238E27FC236}">
                <a16:creationId xmlns:a16="http://schemas.microsoft.com/office/drawing/2014/main" id="{88937895-903D-2714-B911-64B989A6665C}"/>
              </a:ext>
            </a:extLst>
          </p:cNvPr>
          <p:cNvSpPr txBox="1"/>
          <p:nvPr/>
        </p:nvSpPr>
        <p:spPr>
          <a:xfrm>
            <a:off x="6624506" y="4863565"/>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C4822FE9-074B-EE00-9A49-F386569EF4E6}"/>
              </a:ext>
            </a:extLst>
          </p:cNvPr>
          <p:cNvSpPr txBox="1"/>
          <p:nvPr/>
        </p:nvSpPr>
        <p:spPr>
          <a:xfrm>
            <a:off x="6624506" y="4547539"/>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ツール</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6" name="テキスト ボックス 95">
            <a:extLst>
              <a:ext uri="{FF2B5EF4-FFF2-40B4-BE49-F238E27FC236}">
                <a16:creationId xmlns:a16="http://schemas.microsoft.com/office/drawing/2014/main" id="{E79733FB-6A51-DF26-D629-AE6F7073025B}"/>
              </a:ext>
            </a:extLst>
          </p:cNvPr>
          <p:cNvSpPr txBox="1"/>
          <p:nvPr/>
        </p:nvSpPr>
        <p:spPr>
          <a:xfrm>
            <a:off x="6624506" y="4231513"/>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想定コスト</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98" name="テキスト ボックス 97">
            <a:extLst>
              <a:ext uri="{FF2B5EF4-FFF2-40B4-BE49-F238E27FC236}">
                <a16:creationId xmlns:a16="http://schemas.microsoft.com/office/drawing/2014/main" id="{0B4493A0-88F0-89E9-9CBF-885AEEBFF9AC}"/>
              </a:ext>
            </a:extLst>
          </p:cNvPr>
          <p:cNvSpPr txBox="1"/>
          <p:nvPr/>
        </p:nvSpPr>
        <p:spPr>
          <a:xfrm>
            <a:off x="6624506" y="2967409"/>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月間投稿数</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0" name="テキスト ボックス 99">
            <a:extLst>
              <a:ext uri="{FF2B5EF4-FFF2-40B4-BE49-F238E27FC236}">
                <a16:creationId xmlns:a16="http://schemas.microsoft.com/office/drawing/2014/main" id="{EE73B576-3B41-B994-1FCA-9ED3BC1A3172}"/>
              </a:ext>
            </a:extLst>
          </p:cNvPr>
          <p:cNvSpPr txBox="1"/>
          <p:nvPr/>
        </p:nvSpPr>
        <p:spPr>
          <a:xfrm>
            <a:off x="6624506" y="3283435"/>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ステップ実施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2" name="テキスト ボックス 101">
            <a:extLst>
              <a:ext uri="{FF2B5EF4-FFF2-40B4-BE49-F238E27FC236}">
                <a16:creationId xmlns:a16="http://schemas.microsoft.com/office/drawing/2014/main" id="{F2C9EB15-683C-4B0A-1EE1-C4245240F17A}"/>
              </a:ext>
            </a:extLst>
          </p:cNvPr>
          <p:cNvSpPr txBox="1"/>
          <p:nvPr/>
        </p:nvSpPr>
        <p:spPr>
          <a:xfrm>
            <a:off x="6624506" y="3599461"/>
            <a:ext cx="1077319" cy="246221"/>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アンケート実施</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4" name="テキスト ボックス 103">
            <a:extLst>
              <a:ext uri="{FF2B5EF4-FFF2-40B4-BE49-F238E27FC236}">
                <a16:creationId xmlns:a16="http://schemas.microsoft.com/office/drawing/2014/main" id="{AABDA6DE-2BAF-ADF7-0424-50D388AC01E5}"/>
              </a:ext>
            </a:extLst>
          </p:cNvPr>
          <p:cNvSpPr txBox="1"/>
          <p:nvPr/>
        </p:nvSpPr>
        <p:spPr>
          <a:xfrm>
            <a:off x="6624506" y="3915487"/>
            <a:ext cx="1077319" cy="253916"/>
          </a:xfrm>
          <a:prstGeom prst="rect">
            <a:avLst/>
          </a:prstGeom>
          <a:solidFill>
            <a:schemeClr val="tx1">
              <a:lumMod val="50000"/>
              <a:lumOff val="50000"/>
            </a:schemeClr>
          </a:solidFill>
        </p:spPr>
        <p:txBody>
          <a:bodyPr wrap="square">
            <a:spAutoFit/>
          </a:bodyPr>
          <a:lstStyle/>
          <a:p>
            <a:pPr algn="ctr"/>
            <a:r>
              <a:rPr lang="ja-JP" altLang="en-US" sz="1000" dirty="0">
                <a:solidFill>
                  <a:schemeClr val="bg1"/>
                </a:solidFill>
                <a:latin typeface="メイリオ" panose="020B0604030504040204" pitchFamily="50" charset="-128"/>
                <a:ea typeface="メイリオ" panose="020B0604030504040204" pitchFamily="50" charset="-128"/>
              </a:rPr>
              <a:t>プロフ動線</a:t>
            </a:r>
            <a:endParaRPr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06" name="テキスト ボックス 105">
            <a:extLst>
              <a:ext uri="{FF2B5EF4-FFF2-40B4-BE49-F238E27FC236}">
                <a16:creationId xmlns:a16="http://schemas.microsoft.com/office/drawing/2014/main" id="{6C91CF70-D90C-4141-8B26-5B1DD07D7D1D}"/>
              </a:ext>
            </a:extLst>
          </p:cNvPr>
          <p:cNvSpPr txBox="1"/>
          <p:nvPr/>
        </p:nvSpPr>
        <p:spPr>
          <a:xfrm>
            <a:off x="3229084" y="2019331"/>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★未取得</a:t>
            </a:r>
            <a:endParaRPr lang="en-US" altLang="ja-JP" sz="1000" b="1" dirty="0">
              <a:latin typeface="メイリオ" panose="020B0604030504040204" pitchFamily="50" charset="-128"/>
              <a:ea typeface="メイリオ" panose="020B0604030504040204" pitchFamily="50" charset="-128"/>
            </a:endParaRPr>
          </a:p>
        </p:txBody>
      </p:sp>
      <p:sp>
        <p:nvSpPr>
          <p:cNvPr id="108" name="テキスト ボックス 107">
            <a:extLst>
              <a:ext uri="{FF2B5EF4-FFF2-40B4-BE49-F238E27FC236}">
                <a16:creationId xmlns:a16="http://schemas.microsoft.com/office/drawing/2014/main" id="{2786C9AD-9375-AA46-5333-046CCBB18FE2}"/>
              </a:ext>
            </a:extLst>
          </p:cNvPr>
          <p:cNvSpPr txBox="1"/>
          <p:nvPr/>
        </p:nvSpPr>
        <p:spPr>
          <a:xfrm>
            <a:off x="3229084" y="2335357"/>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★未取得</a:t>
            </a:r>
            <a:endParaRPr lang="en-US" altLang="ja-JP" sz="1000" b="1" dirty="0">
              <a:latin typeface="メイリオ" panose="020B0604030504040204" pitchFamily="50" charset="-128"/>
              <a:ea typeface="メイリオ" panose="020B0604030504040204" pitchFamily="50" charset="-128"/>
            </a:endParaRPr>
          </a:p>
        </p:txBody>
      </p:sp>
      <p:sp>
        <p:nvSpPr>
          <p:cNvPr id="110" name="テキスト ボックス 109">
            <a:extLst>
              <a:ext uri="{FF2B5EF4-FFF2-40B4-BE49-F238E27FC236}">
                <a16:creationId xmlns:a16="http://schemas.microsoft.com/office/drawing/2014/main" id="{813069E4-69E1-66A2-90C2-822AF2276F64}"/>
              </a:ext>
            </a:extLst>
          </p:cNvPr>
          <p:cNvSpPr txBox="1"/>
          <p:nvPr/>
        </p:nvSpPr>
        <p:spPr>
          <a:xfrm>
            <a:off x="3229084" y="265138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★未取得</a:t>
            </a:r>
            <a:endParaRPr lang="en-US" altLang="ja-JP" sz="1000" b="1" dirty="0">
              <a:latin typeface="メイリオ" panose="020B0604030504040204" pitchFamily="50" charset="-128"/>
              <a:ea typeface="メイリオ" panose="020B0604030504040204" pitchFamily="50" charset="-128"/>
            </a:endParaRPr>
          </a:p>
        </p:txBody>
      </p:sp>
      <p:sp>
        <p:nvSpPr>
          <p:cNvPr id="112" name="テキスト ボックス 111">
            <a:extLst>
              <a:ext uri="{FF2B5EF4-FFF2-40B4-BE49-F238E27FC236}">
                <a16:creationId xmlns:a16="http://schemas.microsoft.com/office/drawing/2014/main" id="{9864CA39-A311-2EB8-804E-4F1BBDF74575}"/>
              </a:ext>
            </a:extLst>
          </p:cNvPr>
          <p:cNvSpPr txBox="1"/>
          <p:nvPr/>
        </p:nvSpPr>
        <p:spPr>
          <a:xfrm>
            <a:off x="3229084" y="4863565"/>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メイン流入元</a:t>
            </a:r>
            <a:endParaRPr lang="en-US" altLang="ja-JP" sz="1000" b="1" dirty="0">
              <a:latin typeface="メイリオ" panose="020B0604030504040204" pitchFamily="50" charset="-128"/>
              <a:ea typeface="メイリオ" panose="020B0604030504040204" pitchFamily="50" charset="-128"/>
            </a:endParaRPr>
          </a:p>
        </p:txBody>
      </p:sp>
      <p:sp>
        <p:nvSpPr>
          <p:cNvPr id="114" name="テキスト ボックス 113">
            <a:extLst>
              <a:ext uri="{FF2B5EF4-FFF2-40B4-BE49-F238E27FC236}">
                <a16:creationId xmlns:a16="http://schemas.microsoft.com/office/drawing/2014/main" id="{EDFB7A90-75B8-B37D-145F-272542CA021E}"/>
              </a:ext>
            </a:extLst>
          </p:cNvPr>
          <p:cNvSpPr txBox="1"/>
          <p:nvPr/>
        </p:nvSpPr>
        <p:spPr>
          <a:xfrm>
            <a:off x="3229084" y="454753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ロゴ</a:t>
            </a:r>
            <a:endParaRPr lang="en-US" altLang="ja-JP" sz="1000" b="1" dirty="0">
              <a:latin typeface="メイリオ" panose="020B0604030504040204" pitchFamily="50" charset="-128"/>
              <a:ea typeface="メイリオ" panose="020B0604030504040204" pitchFamily="50" charset="-128"/>
            </a:endParaRPr>
          </a:p>
        </p:txBody>
      </p:sp>
      <p:sp>
        <p:nvSpPr>
          <p:cNvPr id="116" name="テキスト ボックス 115">
            <a:extLst>
              <a:ext uri="{FF2B5EF4-FFF2-40B4-BE49-F238E27FC236}">
                <a16:creationId xmlns:a16="http://schemas.microsoft.com/office/drawing/2014/main" id="{EFFD1CA4-9630-0E9F-4C5E-ED52F6370CB1}"/>
              </a:ext>
            </a:extLst>
          </p:cNvPr>
          <p:cNvSpPr txBox="1"/>
          <p:nvPr/>
        </p:nvSpPr>
        <p:spPr>
          <a:xfrm>
            <a:off x="3229084" y="4231513"/>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★未取得</a:t>
            </a:r>
            <a:endParaRPr lang="en-US" altLang="ja-JP" sz="1000" b="1" dirty="0">
              <a:latin typeface="メイリオ" panose="020B0604030504040204" pitchFamily="50" charset="-128"/>
              <a:ea typeface="メイリオ" panose="020B0604030504040204" pitchFamily="50" charset="-128"/>
            </a:endParaRPr>
          </a:p>
        </p:txBody>
      </p:sp>
      <p:sp>
        <p:nvSpPr>
          <p:cNvPr id="118" name="テキスト ボックス 117">
            <a:extLst>
              <a:ext uri="{FF2B5EF4-FFF2-40B4-BE49-F238E27FC236}">
                <a16:creationId xmlns:a16="http://schemas.microsoft.com/office/drawing/2014/main" id="{550EE59A-47D1-9367-09B0-1A6F7E0AE0E3}"/>
              </a:ext>
            </a:extLst>
          </p:cNvPr>
          <p:cNvSpPr txBox="1"/>
          <p:nvPr/>
        </p:nvSpPr>
        <p:spPr>
          <a:xfrm>
            <a:off x="3229084" y="2967409"/>
            <a:ext cx="1360330" cy="253916"/>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★未取得</a:t>
            </a:r>
            <a:endParaRPr lang="en-US" altLang="ja-JP" sz="1000" b="1" dirty="0">
              <a:latin typeface="メイリオ" panose="020B0604030504040204" pitchFamily="50" charset="-128"/>
              <a:ea typeface="メイリオ" panose="020B0604030504040204" pitchFamily="50" charset="-128"/>
            </a:endParaRPr>
          </a:p>
        </p:txBody>
      </p:sp>
      <p:sp>
        <p:nvSpPr>
          <p:cNvPr id="120" name="テキスト ボックス 119">
            <a:extLst>
              <a:ext uri="{FF2B5EF4-FFF2-40B4-BE49-F238E27FC236}">
                <a16:creationId xmlns:a16="http://schemas.microsoft.com/office/drawing/2014/main" id="{23698D91-4F04-ED85-ACCD-AD4A9AC48A1B}"/>
              </a:ext>
            </a:extLst>
          </p:cNvPr>
          <p:cNvSpPr txBox="1"/>
          <p:nvPr/>
        </p:nvSpPr>
        <p:spPr>
          <a:xfrm>
            <a:off x="3229084" y="3283435"/>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カート投入＜初回購入＜定期引上</a:t>
            </a:r>
            <a:endParaRPr lang="en-US" altLang="ja-JP" sz="1000" b="1" dirty="0">
              <a:latin typeface="メイリオ" panose="020B0604030504040204" pitchFamily="50" charset="-128"/>
              <a:ea typeface="メイリオ" panose="020B0604030504040204" pitchFamily="50" charset="-128"/>
            </a:endParaRPr>
          </a:p>
        </p:txBody>
      </p:sp>
      <p:sp>
        <p:nvSpPr>
          <p:cNvPr id="122" name="テキスト ボックス 121">
            <a:extLst>
              <a:ext uri="{FF2B5EF4-FFF2-40B4-BE49-F238E27FC236}">
                <a16:creationId xmlns:a16="http://schemas.microsoft.com/office/drawing/2014/main" id="{5E8D7F39-4F6F-4AF2-4196-C2EA1FC38898}"/>
              </a:ext>
            </a:extLst>
          </p:cNvPr>
          <p:cNvSpPr txBox="1"/>
          <p:nvPr/>
        </p:nvSpPr>
        <p:spPr>
          <a:xfrm>
            <a:off x="3229084" y="3599461"/>
            <a:ext cx="1360330" cy="253916"/>
          </a:xfrm>
          <a:prstGeom prst="rect">
            <a:avLst/>
          </a:prstGeom>
          <a:solidFill>
            <a:schemeClr val="bg1">
              <a:lumMod val="95000"/>
            </a:schemeClr>
          </a:solidFill>
        </p:spPr>
        <p:txBody>
          <a:bodyPr wrap="square" anchor="ctr">
            <a:spAutoFit/>
          </a:bodyPr>
          <a:lstStyle/>
          <a:p>
            <a:pPr algn="ctr"/>
            <a:r>
              <a:rPr lang="en-US" altLang="ja-JP" sz="1000" b="1" dirty="0">
                <a:latin typeface="メイリオ" panose="020B0604030504040204" pitchFamily="50" charset="-128"/>
                <a:ea typeface="メイリオ" panose="020B0604030504040204" pitchFamily="50" charset="-128"/>
              </a:rPr>
              <a:t>Hp</a:t>
            </a:r>
            <a:r>
              <a:rPr lang="ja-JP" altLang="en-US" sz="1000" b="1" dirty="0">
                <a:latin typeface="メイリオ" panose="020B0604030504040204" pitchFamily="50" charset="-128"/>
                <a:ea typeface="メイリオ" panose="020B0604030504040204" pitchFamily="50" charset="-128"/>
              </a:rPr>
              <a:t>固定リンク</a:t>
            </a:r>
            <a:endParaRPr lang="en-US" altLang="ja-JP" sz="1000" b="1" dirty="0">
              <a:latin typeface="メイリオ" panose="020B0604030504040204" pitchFamily="50" charset="-128"/>
              <a:ea typeface="メイリオ" panose="020B0604030504040204" pitchFamily="50" charset="-128"/>
            </a:endParaRPr>
          </a:p>
        </p:txBody>
      </p:sp>
      <p:sp>
        <p:nvSpPr>
          <p:cNvPr id="124" name="テキスト ボックス 123">
            <a:extLst>
              <a:ext uri="{FF2B5EF4-FFF2-40B4-BE49-F238E27FC236}">
                <a16:creationId xmlns:a16="http://schemas.microsoft.com/office/drawing/2014/main" id="{D32F8AF1-295B-DEF7-DF39-7ADF991996BA}"/>
              </a:ext>
            </a:extLst>
          </p:cNvPr>
          <p:cNvSpPr txBox="1"/>
          <p:nvPr/>
        </p:nvSpPr>
        <p:spPr>
          <a:xfrm>
            <a:off x="3229084" y="3915487"/>
            <a:ext cx="1360330" cy="246221"/>
          </a:xfrm>
          <a:prstGeom prst="rect">
            <a:avLst/>
          </a:prstGeom>
          <a:solidFill>
            <a:schemeClr val="bg1">
              <a:lumMod val="95000"/>
            </a:schemeClr>
          </a:solidFill>
        </p:spPr>
        <p:txBody>
          <a:bodyPr wrap="square" anchor="ctr">
            <a:spAutoFit/>
          </a:bodyPr>
          <a:lstStyle/>
          <a:p>
            <a:pPr algn="ctr"/>
            <a:r>
              <a:rPr lang="ja-JP" altLang="en-US" sz="1000" b="1" dirty="0">
                <a:latin typeface="メイリオ" panose="020B0604030504040204" pitchFamily="50" charset="-128"/>
                <a:ea typeface="メイリオ" panose="020B0604030504040204" pitchFamily="50" charset="-128"/>
              </a:rPr>
              <a:t>有無</a:t>
            </a:r>
            <a:endParaRPr lang="en-US" altLang="ja-JP" sz="1000" b="1" dirty="0">
              <a:latin typeface="メイリオ" panose="020B0604030504040204" pitchFamily="50" charset="-128"/>
              <a:ea typeface="メイリオ" panose="020B0604030504040204" pitchFamily="50" charset="-128"/>
            </a:endParaRPr>
          </a:p>
        </p:txBody>
      </p:sp>
      <p:sp>
        <p:nvSpPr>
          <p:cNvPr id="169" name="テキスト ボックス 168">
            <a:extLst>
              <a:ext uri="{FF2B5EF4-FFF2-40B4-BE49-F238E27FC236}">
                <a16:creationId xmlns:a16="http://schemas.microsoft.com/office/drawing/2014/main" id="{7D910DD2-60FF-DE1D-244F-84DABD92D62C}"/>
              </a:ext>
            </a:extLst>
          </p:cNvPr>
          <p:cNvSpPr txBox="1"/>
          <p:nvPr/>
        </p:nvSpPr>
        <p:spPr>
          <a:xfrm>
            <a:off x="6624505" y="5184313"/>
            <a:ext cx="1077319" cy="253916"/>
          </a:xfrm>
          <a:prstGeom prst="rect">
            <a:avLst/>
          </a:prstGeom>
          <a:solidFill>
            <a:schemeClr val="tx1">
              <a:lumMod val="50000"/>
              <a:lumOff val="50000"/>
            </a:schemeClr>
          </a:solidFill>
        </p:spPr>
        <p:txBody>
          <a:bodyPr wrap="square">
            <a:spAutoFit/>
          </a:bodyPr>
          <a:lstStyle/>
          <a:p>
            <a:pPr algn="ctr"/>
            <a:r>
              <a:rPr lang="en-US" altLang="ja-JP" sz="1000" dirty="0">
                <a:solidFill>
                  <a:schemeClr val="bg1"/>
                </a:solidFill>
                <a:latin typeface="メイリオ" panose="020B0604030504040204" pitchFamily="50" charset="-128"/>
                <a:ea typeface="メイリオ" panose="020B0604030504040204" pitchFamily="50" charset="-128"/>
              </a:rPr>
              <a:t>※</a:t>
            </a:r>
          </a:p>
        </p:txBody>
      </p:sp>
      <p:sp>
        <p:nvSpPr>
          <p:cNvPr id="171" name="テキスト ボックス 170">
            <a:extLst>
              <a:ext uri="{FF2B5EF4-FFF2-40B4-BE49-F238E27FC236}">
                <a16:creationId xmlns:a16="http://schemas.microsoft.com/office/drawing/2014/main" id="{C08B973B-E807-9696-E35D-A7AFE85B05D4}"/>
              </a:ext>
            </a:extLst>
          </p:cNvPr>
          <p:cNvSpPr txBox="1"/>
          <p:nvPr/>
        </p:nvSpPr>
        <p:spPr>
          <a:xfrm>
            <a:off x="7754601" y="202149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★未取得</a:t>
            </a:r>
            <a:endParaRPr lang="en-US" altLang="ja-JP" sz="900" b="1" dirty="0">
              <a:latin typeface="メイリオ" panose="020B0604030504040204" pitchFamily="50" charset="-128"/>
              <a:ea typeface="メイリオ" panose="020B0604030504040204" pitchFamily="50" charset="-128"/>
            </a:endParaRPr>
          </a:p>
        </p:txBody>
      </p:sp>
      <p:sp>
        <p:nvSpPr>
          <p:cNvPr id="173" name="テキスト ボックス 172">
            <a:extLst>
              <a:ext uri="{FF2B5EF4-FFF2-40B4-BE49-F238E27FC236}">
                <a16:creationId xmlns:a16="http://schemas.microsoft.com/office/drawing/2014/main" id="{20E8600C-74F6-D8CE-13DD-E436F6712689}"/>
              </a:ext>
            </a:extLst>
          </p:cNvPr>
          <p:cNvSpPr txBox="1"/>
          <p:nvPr/>
        </p:nvSpPr>
        <p:spPr>
          <a:xfrm>
            <a:off x="7754601" y="233751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★未取得</a:t>
            </a:r>
            <a:endParaRPr lang="en-US" altLang="ja-JP" sz="900" b="1" dirty="0">
              <a:latin typeface="メイリオ" panose="020B0604030504040204" pitchFamily="50" charset="-128"/>
              <a:ea typeface="メイリオ" panose="020B0604030504040204" pitchFamily="50" charset="-128"/>
            </a:endParaRPr>
          </a:p>
        </p:txBody>
      </p:sp>
      <p:sp>
        <p:nvSpPr>
          <p:cNvPr id="175" name="テキスト ボックス 174">
            <a:extLst>
              <a:ext uri="{FF2B5EF4-FFF2-40B4-BE49-F238E27FC236}">
                <a16:creationId xmlns:a16="http://schemas.microsoft.com/office/drawing/2014/main" id="{A09F1BA2-66AE-1801-55BA-97DAABCF1F8A}"/>
              </a:ext>
            </a:extLst>
          </p:cNvPr>
          <p:cNvSpPr txBox="1"/>
          <p:nvPr/>
        </p:nvSpPr>
        <p:spPr>
          <a:xfrm>
            <a:off x="7754601" y="265354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★未取得</a:t>
            </a:r>
            <a:endParaRPr lang="en-US" altLang="ja-JP" sz="900" b="1" dirty="0">
              <a:latin typeface="メイリオ" panose="020B0604030504040204" pitchFamily="50" charset="-128"/>
              <a:ea typeface="メイリオ" panose="020B0604030504040204" pitchFamily="50" charset="-128"/>
            </a:endParaRPr>
          </a:p>
        </p:txBody>
      </p:sp>
      <p:sp>
        <p:nvSpPr>
          <p:cNvPr id="177" name="テキスト ボックス 176">
            <a:extLst>
              <a:ext uri="{FF2B5EF4-FFF2-40B4-BE49-F238E27FC236}">
                <a16:creationId xmlns:a16="http://schemas.microsoft.com/office/drawing/2014/main" id="{14E58E5E-2D77-90E6-91E8-9955CA80F448}"/>
              </a:ext>
            </a:extLst>
          </p:cNvPr>
          <p:cNvSpPr txBox="1"/>
          <p:nvPr/>
        </p:nvSpPr>
        <p:spPr>
          <a:xfrm>
            <a:off x="7754601" y="4865724"/>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
        <p:nvSpPr>
          <p:cNvPr id="179" name="テキスト ボックス 178">
            <a:extLst>
              <a:ext uri="{FF2B5EF4-FFF2-40B4-BE49-F238E27FC236}">
                <a16:creationId xmlns:a16="http://schemas.microsoft.com/office/drawing/2014/main" id="{6C59D28E-FF8E-2297-95D2-CE45250AC0A3}"/>
              </a:ext>
            </a:extLst>
          </p:cNvPr>
          <p:cNvSpPr txBox="1"/>
          <p:nvPr/>
        </p:nvSpPr>
        <p:spPr>
          <a:xfrm>
            <a:off x="7754601" y="454969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★調査対象10社</a:t>
            </a:r>
            <a:endParaRPr lang="en-US" altLang="ja-JP" sz="900" b="1" dirty="0">
              <a:latin typeface="メイリオ" panose="020B0604030504040204" pitchFamily="50" charset="-128"/>
              <a:ea typeface="メイリオ" panose="020B0604030504040204" pitchFamily="50" charset="-128"/>
            </a:endParaRPr>
          </a:p>
        </p:txBody>
      </p:sp>
      <p:sp>
        <p:nvSpPr>
          <p:cNvPr id="181" name="テキスト ボックス 180">
            <a:extLst>
              <a:ext uri="{FF2B5EF4-FFF2-40B4-BE49-F238E27FC236}">
                <a16:creationId xmlns:a16="http://schemas.microsoft.com/office/drawing/2014/main" id="{47410AFA-018D-A9C2-B086-8AF69BAA4489}"/>
              </a:ext>
            </a:extLst>
          </p:cNvPr>
          <p:cNvSpPr txBox="1"/>
          <p:nvPr/>
        </p:nvSpPr>
        <p:spPr>
          <a:xfrm>
            <a:off x="7754601" y="4233672"/>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★未取得</a:t>
            </a:r>
            <a:endParaRPr lang="en-US" altLang="ja-JP" sz="900" b="1" dirty="0">
              <a:latin typeface="メイリオ" panose="020B0604030504040204" pitchFamily="50" charset="-128"/>
              <a:ea typeface="メイリオ" panose="020B0604030504040204" pitchFamily="50" charset="-128"/>
            </a:endParaRPr>
          </a:p>
        </p:txBody>
      </p:sp>
      <p:sp>
        <p:nvSpPr>
          <p:cNvPr id="183" name="テキスト ボックス 182">
            <a:extLst>
              <a:ext uri="{FF2B5EF4-FFF2-40B4-BE49-F238E27FC236}">
                <a16:creationId xmlns:a16="http://schemas.microsoft.com/office/drawing/2014/main" id="{165EBB6B-ADB3-3E8C-14D2-AB834625C2FE}"/>
              </a:ext>
            </a:extLst>
          </p:cNvPr>
          <p:cNvSpPr txBox="1"/>
          <p:nvPr/>
        </p:nvSpPr>
        <p:spPr>
          <a:xfrm>
            <a:off x="7754601" y="2969568"/>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★未取得</a:t>
            </a:r>
            <a:endParaRPr lang="en-US" altLang="ja-JP" sz="900" b="1" dirty="0">
              <a:latin typeface="メイリオ" panose="020B0604030504040204" pitchFamily="50" charset="-128"/>
              <a:ea typeface="メイリオ" panose="020B0604030504040204" pitchFamily="50" charset="-128"/>
            </a:endParaRPr>
          </a:p>
        </p:txBody>
      </p:sp>
      <p:sp>
        <p:nvSpPr>
          <p:cNvPr id="185" name="テキスト ボックス 184">
            <a:extLst>
              <a:ext uri="{FF2B5EF4-FFF2-40B4-BE49-F238E27FC236}">
                <a16:creationId xmlns:a16="http://schemas.microsoft.com/office/drawing/2014/main" id="{3A3BFABF-D395-60F7-F2BD-02619745DF45}"/>
              </a:ext>
            </a:extLst>
          </p:cNvPr>
          <p:cNvSpPr txBox="1"/>
          <p:nvPr/>
        </p:nvSpPr>
        <p:spPr>
          <a:xfrm>
            <a:off x="7754601" y="3285594"/>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7" name="テキスト ボックス 186">
            <a:extLst>
              <a:ext uri="{FF2B5EF4-FFF2-40B4-BE49-F238E27FC236}">
                <a16:creationId xmlns:a16="http://schemas.microsoft.com/office/drawing/2014/main" id="{231C25BF-5B10-E199-7FC9-7E0D6694588F}"/>
              </a:ext>
            </a:extLst>
          </p:cNvPr>
          <p:cNvSpPr txBox="1"/>
          <p:nvPr/>
        </p:nvSpPr>
        <p:spPr>
          <a:xfrm>
            <a:off x="7754601" y="3601620"/>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a:t>
            </a:r>
            <a:endParaRPr lang="en-US" altLang="ja-JP" sz="900" b="1" dirty="0">
              <a:latin typeface="メイリオ" panose="020B0604030504040204" pitchFamily="50" charset="-128"/>
              <a:ea typeface="メイリオ" panose="020B0604030504040204" pitchFamily="50" charset="-128"/>
            </a:endParaRPr>
          </a:p>
        </p:txBody>
      </p:sp>
      <p:sp>
        <p:nvSpPr>
          <p:cNvPr id="189" name="テキスト ボックス 188">
            <a:extLst>
              <a:ext uri="{FF2B5EF4-FFF2-40B4-BE49-F238E27FC236}">
                <a16:creationId xmlns:a16="http://schemas.microsoft.com/office/drawing/2014/main" id="{CDB65BA8-4992-8A6F-6949-F0D9E6297210}"/>
              </a:ext>
            </a:extLst>
          </p:cNvPr>
          <p:cNvSpPr txBox="1"/>
          <p:nvPr/>
        </p:nvSpPr>
        <p:spPr>
          <a:xfrm>
            <a:off x="7754601" y="3917646"/>
            <a:ext cx="1493286" cy="230832"/>
          </a:xfrm>
          <a:prstGeom prst="rect">
            <a:avLst/>
          </a:prstGeom>
          <a:solidFill>
            <a:schemeClr val="bg1">
              <a:lumMod val="95000"/>
            </a:schemeClr>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有無 </a:t>
            </a:r>
            <a:r>
              <a:rPr lang="en-US" altLang="ja-JP" sz="900" b="1" dirty="0">
                <a:latin typeface="メイリオ" panose="020B0604030504040204" pitchFamily="50" charset="-128"/>
                <a:ea typeface="メイリオ" panose="020B0604030504040204" pitchFamily="50" charset="-128"/>
              </a:rPr>
              <a:t>/ </a:t>
            </a:r>
            <a:r>
              <a:rPr lang="ja-JP" altLang="en-US" sz="900" b="1" dirty="0">
                <a:latin typeface="メイリオ" panose="020B0604030504040204" pitchFamily="50" charset="-128"/>
                <a:ea typeface="メイリオ" panose="020B0604030504040204" pitchFamily="50" charset="-128"/>
              </a:rPr>
              <a:t>良好</a:t>
            </a:r>
            <a:endParaRPr lang="en-US" altLang="ja-JP" sz="900" b="1" dirty="0">
              <a:latin typeface="メイリオ" panose="020B0604030504040204" pitchFamily="50" charset="-128"/>
              <a:ea typeface="メイリオ" panose="020B0604030504040204" pitchFamily="50" charset="-128"/>
            </a:endParaRPr>
          </a:p>
        </p:txBody>
      </p:sp>
      <p:sp>
        <p:nvSpPr>
          <p:cNvPr id="191" name="テキスト ボックス 190">
            <a:extLst>
              <a:ext uri="{FF2B5EF4-FFF2-40B4-BE49-F238E27FC236}">
                <a16:creationId xmlns:a16="http://schemas.microsoft.com/office/drawing/2014/main" id="{18879675-133C-898A-AB5B-286927352D72}"/>
              </a:ext>
            </a:extLst>
          </p:cNvPr>
          <p:cNvSpPr txBox="1"/>
          <p:nvPr/>
        </p:nvSpPr>
        <p:spPr>
          <a:xfrm>
            <a:off x="7754600" y="5186472"/>
            <a:ext cx="1493286" cy="253916"/>
          </a:xfrm>
          <a:prstGeom prst="rect">
            <a:avLst/>
          </a:prstGeom>
          <a:solidFill>
            <a:schemeClr val="bg1">
              <a:lumMod val="95000"/>
            </a:schemeClr>
          </a:solidFill>
        </p:spPr>
        <p:txBody>
          <a:bodyPr wrap="square">
            <a:spAutoFit/>
          </a:bodyPr>
          <a:lstStyle/>
          <a:p>
            <a:pPr algn="ctr"/>
            <a:r>
              <a:rPr lang="en-US" altLang="ja-JP" sz="1000" dirty="0">
                <a:latin typeface="メイリオ" panose="020B0604030504040204" pitchFamily="50" charset="-128"/>
                <a:ea typeface="メイリオ" panose="020B0604030504040204" pitchFamily="50" charset="-128"/>
              </a:rPr>
              <a:t>※</a:t>
            </a:r>
          </a:p>
        </p:txBody>
      </p:sp>
    </p:spTree>
    <p:extLst>
      <p:ext uri="{BB962C8B-B14F-4D97-AF65-F5344CB8AC3E}">
        <p14:creationId xmlns:p14="http://schemas.microsoft.com/office/powerpoint/2010/main" val="26877791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7598A-7489-8F6D-91D8-19CE7F507B2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356CEC6-1AE2-70AC-4ACA-400B9D728A79}"/>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F99DA5A8-E206-903E-A096-E705AFAFE569}"/>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95F2670A-819F-8FEC-6F6A-76B4A93BE2A2}"/>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A635BF88-F676-4A66-FA76-C66B8210C36B}"/>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他社分析②｜プロフィール・投稿・リッチメニューの型</a:t>
            </a:r>
            <a:endParaRPr sz="1600" b="1" dirty="0">
              <a:solidFill>
                <a:srgbClr val="002060"/>
              </a:solidFill>
              <a:latin typeface="Meiryo"/>
              <a:ea typeface="Meiryo"/>
              <a:cs typeface="Meiryo"/>
              <a:sym typeface="Meiryo"/>
            </a:endParaRPr>
          </a:p>
        </p:txBody>
      </p:sp>
      <p:pic>
        <p:nvPicPr>
          <p:cNvPr id="55" name="図 54">
            <a:extLst>
              <a:ext uri="{FF2B5EF4-FFF2-40B4-BE49-F238E27FC236}">
                <a16:creationId xmlns:a16="http://schemas.microsoft.com/office/drawing/2014/main" id="{1C633AFA-AD53-2F0B-9BF6-E78EF6322609}"/>
              </a:ext>
            </a:extLst>
          </p:cNvPr>
          <p:cNvPicPr>
            <a:picLocks noChangeAspect="1"/>
          </p:cNvPicPr>
          <p:nvPr/>
        </p:nvPicPr>
        <p:blipFill>
          <a:blip r:embed="rId3"/>
          <a:stretch>
            <a:fillRect/>
          </a:stretch>
        </p:blipFill>
        <p:spPr>
          <a:xfrm>
            <a:off x="812517" y="2203410"/>
            <a:ext cx="1732686" cy="3519238"/>
          </a:xfrm>
          <a:prstGeom prst="rect">
            <a:avLst/>
          </a:prstGeom>
        </p:spPr>
      </p:pic>
      <p:sp>
        <p:nvSpPr>
          <p:cNvPr id="61" name="テキスト ボックス 60">
            <a:extLst>
              <a:ext uri="{FF2B5EF4-FFF2-40B4-BE49-F238E27FC236}">
                <a16:creationId xmlns:a16="http://schemas.microsoft.com/office/drawing/2014/main" id="{ED6E1118-51D8-709C-DDBF-5F0B5D00EAE9}"/>
              </a:ext>
            </a:extLst>
          </p:cNvPr>
          <p:cNvSpPr txBox="1"/>
          <p:nvPr/>
        </p:nvSpPr>
        <p:spPr>
          <a:xfrm>
            <a:off x="903294"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63" name="テキスト ボックス 62">
            <a:extLst>
              <a:ext uri="{FF2B5EF4-FFF2-40B4-BE49-F238E27FC236}">
                <a16:creationId xmlns:a16="http://schemas.microsoft.com/office/drawing/2014/main" id="{F4314178-8544-283C-E531-EED5993D5CE6}"/>
              </a:ext>
            </a:extLst>
          </p:cNvPr>
          <p:cNvSpPr txBox="1"/>
          <p:nvPr/>
        </p:nvSpPr>
        <p:spPr>
          <a:xfrm>
            <a:off x="1064403"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41D65602-1211-B0CC-4828-ABAE02C33457}"/>
              </a:ext>
            </a:extLst>
          </p:cNvPr>
          <p:cNvSpPr txBox="1"/>
          <p:nvPr/>
        </p:nvSpPr>
        <p:spPr>
          <a:xfrm>
            <a:off x="548882" y="1593226"/>
            <a:ext cx="8744645" cy="276999"/>
          </a:xfrm>
          <a:prstGeom prst="rect">
            <a:avLst/>
          </a:prstGeom>
          <a:solidFill>
            <a:srgbClr val="04FA0A"/>
          </a:solidFill>
        </p:spPr>
        <p:txBody>
          <a:bodyPr wrap="square">
            <a:spAutoFit/>
          </a:bodyPr>
          <a:lstStyle/>
          <a:p>
            <a:pPr algn="ctr"/>
            <a:r>
              <a:rPr lang="en-US" altLang="ja-JP" sz="1200" b="1" dirty="0">
                <a:solidFill>
                  <a:schemeClr val="bg1"/>
                </a:solidFill>
                <a:latin typeface="メイリオ" panose="020B0604030504040204" pitchFamily="50" charset="-128"/>
                <a:ea typeface="メイリオ" panose="020B0604030504040204" pitchFamily="50" charset="-128"/>
              </a:rPr>
              <a:t>LINE</a:t>
            </a:r>
            <a:r>
              <a:rPr lang="ja-JP" altLang="en-US" sz="1200" b="1" dirty="0">
                <a:solidFill>
                  <a:schemeClr val="bg1"/>
                </a:solidFill>
                <a:latin typeface="メイリオ" panose="020B0604030504040204" pitchFamily="50" charset="-128"/>
                <a:ea typeface="メイリオ" panose="020B0604030504040204" pitchFamily="50" charset="-128"/>
              </a:rPr>
              <a:t>ステータス</a:t>
            </a:r>
            <a:endParaRPr lang="ja-JP" altLang="en-US" sz="1200" b="1" dirty="0">
              <a:solidFill>
                <a:schemeClr val="bg1"/>
              </a:solidFill>
            </a:endParaRPr>
          </a:p>
        </p:txBody>
      </p:sp>
      <p:sp>
        <p:nvSpPr>
          <p:cNvPr id="8" name="テキスト ボックス 7">
            <a:extLst>
              <a:ext uri="{FF2B5EF4-FFF2-40B4-BE49-F238E27FC236}">
                <a16:creationId xmlns:a16="http://schemas.microsoft.com/office/drawing/2014/main" id="{CEB884D6-F59B-133B-06A1-B241D718A972}"/>
              </a:ext>
            </a:extLst>
          </p:cNvPr>
          <p:cNvSpPr txBox="1"/>
          <p:nvPr/>
        </p:nvSpPr>
        <p:spPr>
          <a:xfrm>
            <a:off x="548883" y="190163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プロフ</a:t>
            </a:r>
            <a:endParaRPr lang="en-US" altLang="ja-JP" sz="1050"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76799ECF-394D-A93E-2E30-EF63D6F7ED73}"/>
              </a:ext>
            </a:extLst>
          </p:cNvPr>
          <p:cNvSpPr txBox="1"/>
          <p:nvPr/>
        </p:nvSpPr>
        <p:spPr>
          <a:xfrm>
            <a:off x="2788511" y="1905616"/>
            <a:ext cx="2159484"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リッチメニュー</a:t>
            </a:r>
            <a:endParaRPr lang="en-US" altLang="ja-JP" sz="1050" dirty="0">
              <a:latin typeface="メイリオ" panose="020B0604030504040204" pitchFamily="50" charset="-128"/>
              <a:ea typeface="メイリオ" panose="020B0604030504040204" pitchFamily="50" charset="-128"/>
            </a:endParaRPr>
          </a:p>
        </p:txBody>
      </p:sp>
      <p:sp>
        <p:nvSpPr>
          <p:cNvPr id="12" name="テキスト ボックス 11">
            <a:extLst>
              <a:ext uri="{FF2B5EF4-FFF2-40B4-BE49-F238E27FC236}">
                <a16:creationId xmlns:a16="http://schemas.microsoft.com/office/drawing/2014/main" id="{25F58EF3-37FE-035A-4F88-7D5DFBDEEE2C}"/>
              </a:ext>
            </a:extLst>
          </p:cNvPr>
          <p:cNvSpPr txBox="1"/>
          <p:nvPr/>
        </p:nvSpPr>
        <p:spPr>
          <a:xfrm>
            <a:off x="5038150" y="1901636"/>
            <a:ext cx="4131975" cy="253916"/>
          </a:xfrm>
          <a:prstGeom prst="rect">
            <a:avLst/>
          </a:prstGeom>
          <a:solidFill>
            <a:schemeClr val="bg1">
              <a:lumMod val="95000"/>
            </a:schemeClr>
          </a:solidFill>
        </p:spPr>
        <p:txBody>
          <a:bodyPr wrap="square">
            <a:spAutoFit/>
          </a:bodyPr>
          <a:lstStyle/>
          <a:p>
            <a:pPr algn="ctr"/>
            <a:r>
              <a:rPr lang="ja-JP" altLang="en-US" sz="1050" dirty="0">
                <a:latin typeface="メイリオ" panose="020B0604030504040204" pitchFamily="50" charset="-128"/>
                <a:ea typeface="メイリオ" panose="020B0604030504040204" pitchFamily="50" charset="-128"/>
              </a:rPr>
              <a:t>投稿（企画/ステップ）＋ID連携の有無</a:t>
            </a:r>
            <a:r>
              <a:rPr lang="en-US" altLang="ja-JP" sz="1050" dirty="0">
                <a:latin typeface="メイリオ" panose="020B0604030504040204" pitchFamily="50" charset="-128"/>
                <a:ea typeface="メイリオ" panose="020B0604030504040204" pitchFamily="50" charset="-128"/>
              </a:rPr>
              <a:t/>
            </a:r>
            <a:r>
              <a:rPr lang="ja-JP" altLang="en-US" sz="1050" dirty="0">
                <a:latin typeface="メイリオ" panose="020B0604030504040204" pitchFamily="50" charset="-128"/>
                <a:ea typeface="メイリオ" panose="020B0604030504040204" pitchFamily="50" charset="-128"/>
              </a:rPr>
              <a:t/>
            </a:r>
            <a:endParaRPr lang="en-US" altLang="ja-JP" sz="1050" dirty="0">
              <a:latin typeface="メイリオ" panose="020B0604030504040204" pitchFamily="50" charset="-128"/>
              <a:ea typeface="メイリオ" panose="020B0604030504040204" pitchFamily="50" charset="-128"/>
            </a:endParaRPr>
          </a:p>
        </p:txBody>
      </p:sp>
      <p:pic>
        <p:nvPicPr>
          <p:cNvPr id="23" name="図 22">
            <a:extLst>
              <a:ext uri="{FF2B5EF4-FFF2-40B4-BE49-F238E27FC236}">
                <a16:creationId xmlns:a16="http://schemas.microsoft.com/office/drawing/2014/main" id="{1BD6280E-B3F0-2AFB-2583-A7ACD73A942E}"/>
              </a:ext>
            </a:extLst>
          </p:cNvPr>
          <p:cNvPicPr>
            <a:picLocks noChangeAspect="1"/>
          </p:cNvPicPr>
          <p:nvPr/>
        </p:nvPicPr>
        <p:blipFill>
          <a:blip r:embed="rId3"/>
          <a:stretch>
            <a:fillRect/>
          </a:stretch>
        </p:blipFill>
        <p:spPr>
          <a:xfrm>
            <a:off x="2788511" y="2203410"/>
            <a:ext cx="1732686" cy="3519238"/>
          </a:xfrm>
          <a:prstGeom prst="rect">
            <a:avLst/>
          </a:prstGeom>
        </p:spPr>
      </p:pic>
      <p:sp>
        <p:nvSpPr>
          <p:cNvPr id="25" name="テキスト ボックス 24">
            <a:extLst>
              <a:ext uri="{FF2B5EF4-FFF2-40B4-BE49-F238E27FC236}">
                <a16:creationId xmlns:a16="http://schemas.microsoft.com/office/drawing/2014/main" id="{C3286217-468D-2C59-DAFC-FFE5479B9D27}"/>
              </a:ext>
            </a:extLst>
          </p:cNvPr>
          <p:cNvSpPr txBox="1"/>
          <p:nvPr/>
        </p:nvSpPr>
        <p:spPr>
          <a:xfrm>
            <a:off x="2879288" y="2464905"/>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E6069130-CD09-C914-40BE-BFF14FF83709}"/>
              </a:ext>
            </a:extLst>
          </p:cNvPr>
          <p:cNvSpPr txBox="1"/>
          <p:nvPr/>
        </p:nvSpPr>
        <p:spPr>
          <a:xfrm>
            <a:off x="3040397" y="3541307"/>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0" name="図 29">
            <a:extLst>
              <a:ext uri="{FF2B5EF4-FFF2-40B4-BE49-F238E27FC236}">
                <a16:creationId xmlns:a16="http://schemas.microsoft.com/office/drawing/2014/main" id="{E933DD65-23A3-43A9-73FB-1116D2DFAF8F}"/>
              </a:ext>
            </a:extLst>
          </p:cNvPr>
          <p:cNvPicPr>
            <a:picLocks noChangeAspect="1"/>
          </p:cNvPicPr>
          <p:nvPr/>
        </p:nvPicPr>
        <p:blipFill>
          <a:blip r:embed="rId3"/>
          <a:stretch>
            <a:fillRect/>
          </a:stretch>
        </p:blipFill>
        <p:spPr>
          <a:xfrm>
            <a:off x="5223408" y="2212498"/>
            <a:ext cx="1732686" cy="3519238"/>
          </a:xfrm>
          <a:prstGeom prst="rect">
            <a:avLst/>
          </a:prstGeom>
        </p:spPr>
      </p:pic>
      <p:sp>
        <p:nvSpPr>
          <p:cNvPr id="33" name="テキスト ボックス 32">
            <a:extLst>
              <a:ext uri="{FF2B5EF4-FFF2-40B4-BE49-F238E27FC236}">
                <a16:creationId xmlns:a16="http://schemas.microsoft.com/office/drawing/2014/main" id="{E6D3AD92-0B94-48BB-C36C-156CFAF78E74}"/>
              </a:ext>
            </a:extLst>
          </p:cNvPr>
          <p:cNvSpPr txBox="1"/>
          <p:nvPr/>
        </p:nvSpPr>
        <p:spPr>
          <a:xfrm>
            <a:off x="5314185" y="247399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C3D18747-9FB8-D69A-C455-54ED9C9EF01B}"/>
              </a:ext>
            </a:extLst>
          </p:cNvPr>
          <p:cNvSpPr txBox="1"/>
          <p:nvPr/>
        </p:nvSpPr>
        <p:spPr>
          <a:xfrm>
            <a:off x="5475294" y="355039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38" name="図 37">
            <a:extLst>
              <a:ext uri="{FF2B5EF4-FFF2-40B4-BE49-F238E27FC236}">
                <a16:creationId xmlns:a16="http://schemas.microsoft.com/office/drawing/2014/main" id="{2E58D11A-548D-344E-8619-E0AF7B1E85EB}"/>
              </a:ext>
            </a:extLst>
          </p:cNvPr>
          <p:cNvPicPr>
            <a:picLocks noChangeAspect="1"/>
          </p:cNvPicPr>
          <p:nvPr/>
        </p:nvPicPr>
        <p:blipFill>
          <a:blip r:embed="rId3"/>
          <a:stretch>
            <a:fillRect/>
          </a:stretch>
        </p:blipFill>
        <p:spPr>
          <a:xfrm>
            <a:off x="6499214" y="2343508"/>
            <a:ext cx="1732686" cy="3519238"/>
          </a:xfrm>
          <a:prstGeom prst="rect">
            <a:avLst/>
          </a:prstGeom>
        </p:spPr>
      </p:pic>
      <p:sp>
        <p:nvSpPr>
          <p:cNvPr id="40" name="テキスト ボックス 39">
            <a:extLst>
              <a:ext uri="{FF2B5EF4-FFF2-40B4-BE49-F238E27FC236}">
                <a16:creationId xmlns:a16="http://schemas.microsoft.com/office/drawing/2014/main" id="{05DF7418-2B5A-25F9-83C2-F2DC03EBD2A1}"/>
              </a:ext>
            </a:extLst>
          </p:cNvPr>
          <p:cNvSpPr txBox="1"/>
          <p:nvPr/>
        </p:nvSpPr>
        <p:spPr>
          <a:xfrm>
            <a:off x="6589991" y="2605003"/>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793DCCA4-12DF-767E-21C3-85351356684D}"/>
              </a:ext>
            </a:extLst>
          </p:cNvPr>
          <p:cNvSpPr txBox="1"/>
          <p:nvPr/>
        </p:nvSpPr>
        <p:spPr>
          <a:xfrm>
            <a:off x="6751100" y="3681405"/>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pic>
        <p:nvPicPr>
          <p:cNvPr id="49" name="図 48">
            <a:extLst>
              <a:ext uri="{FF2B5EF4-FFF2-40B4-BE49-F238E27FC236}">
                <a16:creationId xmlns:a16="http://schemas.microsoft.com/office/drawing/2014/main" id="{2F86245E-7240-7542-AEA3-3A5EF76B83DD}"/>
              </a:ext>
            </a:extLst>
          </p:cNvPr>
          <p:cNvPicPr>
            <a:picLocks noChangeAspect="1"/>
          </p:cNvPicPr>
          <p:nvPr/>
        </p:nvPicPr>
        <p:blipFill>
          <a:blip r:embed="rId3"/>
          <a:stretch>
            <a:fillRect/>
          </a:stretch>
        </p:blipFill>
        <p:spPr>
          <a:xfrm>
            <a:off x="7999709" y="2608182"/>
            <a:ext cx="1732686" cy="3519238"/>
          </a:xfrm>
          <a:prstGeom prst="rect">
            <a:avLst/>
          </a:prstGeom>
        </p:spPr>
      </p:pic>
      <p:sp>
        <p:nvSpPr>
          <p:cNvPr id="51" name="テキスト ボックス 50">
            <a:extLst>
              <a:ext uri="{FF2B5EF4-FFF2-40B4-BE49-F238E27FC236}">
                <a16:creationId xmlns:a16="http://schemas.microsoft.com/office/drawing/2014/main" id="{1D45B056-885A-F332-4906-A2C3F1C05F71}"/>
              </a:ext>
            </a:extLst>
          </p:cNvPr>
          <p:cNvSpPr txBox="1"/>
          <p:nvPr/>
        </p:nvSpPr>
        <p:spPr>
          <a:xfrm>
            <a:off x="8090486" y="2869677"/>
            <a:ext cx="1543813" cy="2862322"/>
          </a:xfrm>
          <a:prstGeom prst="rect">
            <a:avLst/>
          </a:prstGeom>
          <a:solidFill>
            <a:schemeClr val="bg1"/>
          </a:solidFill>
        </p:spPr>
        <p:txBody>
          <a:bodyPr wrap="square">
            <a:spAutoFit/>
          </a:bodyPr>
          <a:lstStyle/>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あ</a:t>
            </a: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a:p>
            <a:pPr algn="ctr"/>
            <a:endParaRPr lang="en-US" altLang="ja-JP" sz="500"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0FB55DCB-AB58-B996-C8B3-C04D8D2C4C2E}"/>
              </a:ext>
            </a:extLst>
          </p:cNvPr>
          <p:cNvSpPr txBox="1"/>
          <p:nvPr/>
        </p:nvSpPr>
        <p:spPr>
          <a:xfrm>
            <a:off x="8251595" y="3946079"/>
            <a:ext cx="1230966" cy="246221"/>
          </a:xfrm>
          <a:prstGeom prst="rect">
            <a:avLst/>
          </a:prstGeom>
          <a:solidFill>
            <a:schemeClr val="bg1">
              <a:lumMod val="95000"/>
            </a:schemeClr>
          </a:solidFill>
        </p:spPr>
        <p:txBody>
          <a:bodyPr wrap="square">
            <a:spAutoFit/>
          </a:bodyPr>
          <a:lstStyle/>
          <a:p>
            <a:pPr algn="ctr"/>
            <a:r>
              <a:rPr lang="en-US" altLang="ja-JP" sz="500" dirty="0">
                <a:latin typeface="メイリオ" panose="020B0604030504040204" pitchFamily="50" charset="-128"/>
                <a:ea typeface="メイリオ" panose="020B0604030504040204" pitchFamily="50" charset="-128"/>
              </a:rPr>
              <a:t>※</a:t>
            </a:r>
            <a:r>
              <a:rPr lang="ja-JP" altLang="en-US" sz="500" dirty="0">
                <a:latin typeface="メイリオ" panose="020B0604030504040204" pitchFamily="50" charset="-128"/>
                <a:ea typeface="メイリオ" panose="020B0604030504040204" pitchFamily="50" charset="-128"/>
              </a:rPr>
              <a:t>アカウント</a:t>
            </a:r>
            <a:endParaRPr lang="en-US" altLang="ja-JP" sz="500" dirty="0">
              <a:latin typeface="メイリオ" panose="020B0604030504040204" pitchFamily="50" charset="-128"/>
              <a:ea typeface="メイリオ" panose="020B0604030504040204" pitchFamily="50" charset="-128"/>
            </a:endParaRPr>
          </a:p>
          <a:p>
            <a:pPr algn="ctr"/>
            <a:r>
              <a:rPr lang="ja-JP" altLang="en-US" sz="500" dirty="0">
                <a:latin typeface="メイリオ" panose="020B0604030504040204" pitchFamily="50" charset="-128"/>
                <a:ea typeface="メイリオ" panose="020B0604030504040204" pitchFamily="50" charset="-128"/>
              </a:rPr>
              <a:t>画面イメージ</a:t>
            </a:r>
            <a:endParaRPr lang="en-US" altLang="ja-JP" sz="5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538660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5" name="TextBox 4"/>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この資料が言っていること：新規獲得の単価は上がり続けている。もう「集める」では勝てない。</a:t>
            </a:r>
          </a:p>
          <a:p>
            <a:pPr algn="l">
              <a:lnSpc>
                <a:spcPct val="135000"/>
              </a:lnSpc>
            </a:pPr>
            <a:r>
              <a:rPr sz="1400">
                <a:solidFill>
                  <a:srgbClr val="333333"/>
                </a:solidFill>
                <a:latin typeface="メイリオ"/>
                <a:ea typeface="メイリオ"/>
                <a:cs typeface="メイリオ"/>
              </a:rPr>
              <a:t>勝負は CPO ではなく、LTV ÷ CPO。</a:t>
            </a:r>
          </a:p>
        </p:txBody>
      </p:sp>
      <p:sp>
        <p:nvSpPr>
          <p:cNvPr id="6" name="TextBox 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この資料が言っていること：新規獲得の単価は上がり続けている。もう「集める」では勝てない。</a:t>
            </a:r>
          </a:p>
          <a:p>
            <a:pPr algn="l">
              <a:lnSpc>
                <a:spcPct val="135000"/>
              </a:lnSpc>
            </a:pPr>
            <a:r>
              <a:rPr sz="1400">
                <a:solidFill>
                  <a:srgbClr val="333333"/>
                </a:solidFill>
                <a:latin typeface="メイリオ"/>
                <a:ea typeface="メイリオ"/>
                <a:cs typeface="メイリオ"/>
              </a:rPr>
              <a:t>勝負は CPO ではなく、LTV ÷ CPO。</a:t>
            </a:r>
          </a:p>
        </p:txBody>
      </p:sp>
      <p:sp>
        <p:nvSpPr>
          <p:cNvPr id="7" name="Rounded Rectangle 6"/>
          <p:cNvSpPr/>
          <p:nvPr/>
        </p:nvSpPr>
        <p:spPr>
          <a:xfrm>
            <a:off x="432000" y="1548000"/>
            <a:ext cx="9043200" cy="917999"/>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999" y="1673999"/>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1</a:t>
            </a:r>
          </a:p>
        </p:txBody>
      </p:sp>
      <p:sp>
        <p:nvSpPr>
          <p:cNvPr id="9" name="TextBox 8"/>
          <p:cNvSpPr txBox="1"/>
          <p:nvPr/>
        </p:nvSpPr>
        <p:spPr>
          <a:xfrm>
            <a:off x="1350000" y="1692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なぜLINEか</a:t>
            </a:r>
          </a:p>
        </p:txBody>
      </p:sp>
      <p:sp>
        <p:nvSpPr>
          <p:cNvPr id="10" name="TextBox 9"/>
          <p:cNvSpPr txBox="1"/>
          <p:nvPr/>
        </p:nvSpPr>
        <p:spPr>
          <a:xfrm>
            <a:off x="1350000" y="2034000"/>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S02-06</a:t>
            </a:r>
          </a:p>
        </p:txBody>
      </p:sp>
      <p:sp>
        <p:nvSpPr>
          <p:cNvPr id="11" name="TextBox 10"/>
          <p:cNvSpPr txBox="1"/>
          <p:nvPr/>
        </p:nvSpPr>
        <p:spPr>
          <a:xfrm>
            <a:off x="4212000" y="1745999"/>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市場は伸びているのに、獲得効率は下がっている</a:t>
            </a:r>
          </a:p>
        </p:txBody>
      </p:sp>
      <p:sp>
        <p:nvSpPr>
          <p:cNvPr id="12" name="Rounded Rectangle 11"/>
          <p:cNvSpPr/>
          <p:nvPr/>
        </p:nvSpPr>
        <p:spPr>
          <a:xfrm>
            <a:off x="432000" y="2591999"/>
            <a:ext cx="9043200" cy="917999"/>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7999" y="2717999"/>
            <a:ext cx="666000" cy="66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2</a:t>
            </a:r>
          </a:p>
        </p:txBody>
      </p:sp>
      <p:sp>
        <p:nvSpPr>
          <p:cNvPr id="14" name="TextBox 13"/>
          <p:cNvSpPr txBox="1"/>
          <p:nvPr/>
        </p:nvSpPr>
        <p:spPr>
          <a:xfrm>
            <a:off x="1350000" y="2736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実態調査</a:t>
            </a:r>
          </a:p>
        </p:txBody>
      </p:sp>
      <p:sp>
        <p:nvSpPr>
          <p:cNvPr id="15" name="TextBox 14"/>
          <p:cNvSpPr txBox="1"/>
          <p:nvPr/>
        </p:nvSpPr>
        <p:spPr>
          <a:xfrm>
            <a:off x="1350000" y="3077999"/>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S07-16</a:t>
            </a:r>
          </a:p>
        </p:txBody>
      </p:sp>
      <p:sp>
        <p:nvSpPr>
          <p:cNvPr id="16" name="TextBox 15"/>
          <p:cNvSpPr txBox="1"/>
          <p:nvPr/>
        </p:nvSpPr>
        <p:spPr>
          <a:xfrm>
            <a:off x="4212000" y="2789999"/>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カゴ落ち60〜70%／F2未達6〜7割／商戦カレンダー</a:t>
            </a:r>
          </a:p>
        </p:txBody>
      </p:sp>
      <p:sp>
        <p:nvSpPr>
          <p:cNvPr id="17" name="Rounded Rectangle 16"/>
          <p:cNvSpPr/>
          <p:nvPr/>
        </p:nvSpPr>
        <p:spPr>
          <a:xfrm>
            <a:off x="432000" y="3636000"/>
            <a:ext cx="9043200" cy="917999"/>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7999" y="3761999"/>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3</a:t>
            </a:r>
          </a:p>
        </p:txBody>
      </p:sp>
      <p:sp>
        <p:nvSpPr>
          <p:cNvPr id="19" name="TextBox 18"/>
          <p:cNvSpPr txBox="1"/>
          <p:nvPr/>
        </p:nvSpPr>
        <p:spPr>
          <a:xfrm>
            <a:off x="1350000" y="3780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全体設計</a:t>
            </a:r>
          </a:p>
        </p:txBody>
      </p:sp>
      <p:sp>
        <p:nvSpPr>
          <p:cNvPr id="20" name="TextBox 19"/>
          <p:cNvSpPr txBox="1"/>
          <p:nvPr/>
        </p:nvSpPr>
        <p:spPr>
          <a:xfrm>
            <a:off x="1350000" y="4121999"/>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S17-19</a:t>
            </a:r>
          </a:p>
        </p:txBody>
      </p:sp>
      <p:sp>
        <p:nvSpPr>
          <p:cNvPr id="21" name="TextBox 20"/>
          <p:cNvSpPr txBox="1"/>
          <p:nvPr/>
        </p:nvSpPr>
        <p:spPr>
          <a:xfrm>
            <a:off x="4212000" y="3834000"/>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触るのは「カゴに入れた後」と「1回目を買った後」</a:t>
            </a:r>
          </a:p>
        </p:txBody>
      </p:sp>
      <p:sp>
        <p:nvSpPr>
          <p:cNvPr id="22" name="Rounded Rectangle 21"/>
          <p:cNvSpPr/>
          <p:nvPr/>
        </p:nvSpPr>
        <p:spPr>
          <a:xfrm>
            <a:off x="432000" y="4680000"/>
            <a:ext cx="9043200" cy="917999"/>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7999" y="4806000"/>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4</a:t>
            </a:r>
          </a:p>
        </p:txBody>
      </p:sp>
      <p:sp>
        <p:nvSpPr>
          <p:cNvPr id="24" name="TextBox 23"/>
          <p:cNvSpPr txBox="1"/>
          <p:nvPr/>
        </p:nvSpPr>
        <p:spPr>
          <a:xfrm>
            <a:off x="1350000" y="4824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構築</a:t>
            </a:r>
          </a:p>
        </p:txBody>
      </p:sp>
      <p:sp>
        <p:nvSpPr>
          <p:cNvPr id="25" name="TextBox 24"/>
          <p:cNvSpPr txBox="1"/>
          <p:nvPr/>
        </p:nvSpPr>
        <p:spPr>
          <a:xfrm>
            <a:off x="1350000" y="5166000"/>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S20-23</a:t>
            </a:r>
          </a:p>
        </p:txBody>
      </p:sp>
      <p:sp>
        <p:nvSpPr>
          <p:cNvPr id="26" name="TextBox 25"/>
          <p:cNvSpPr txBox="1"/>
          <p:nvPr/>
        </p:nvSpPr>
        <p:spPr>
          <a:xfrm>
            <a:off x="4212000" y="4878000"/>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友だち追加動線・あいさつ・リッチメニュー・ID連携</a:t>
            </a:r>
          </a:p>
        </p:txBody>
      </p:sp>
      <p:sp>
        <p:nvSpPr>
          <p:cNvPr id="27" name="TextBox 26"/>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※後半（5 配信設計／6 歩留まり・工数／7 成果と体制／8 締め）はS28に記載</a:t>
            </a:r>
          </a:p>
        </p:txBody>
      </p:sp>
    </p:spTree>
    <p:extLst>
      <p:ext uri="{BB962C8B-B14F-4D97-AF65-F5344CB8AC3E}">
        <p14:creationId xmlns:p14="http://schemas.microsoft.com/office/powerpoint/2010/main" val="3112803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市場データ｜ニーズ全体図</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国内BtoC-EC市場は拡大を続けているが、物販系のEC化率はまだ1割弱。</a:t>
            </a:r>
          </a:p>
          <a:p>
            <a:pPr algn="l">
              <a:lnSpc>
                <a:spcPct val="135000"/>
              </a:lnSpc>
            </a:pPr>
            <a:r>
              <a:rPr sz="1400">
                <a:solidFill>
                  <a:srgbClr val="333333"/>
                </a:solidFill>
                <a:latin typeface="メイリオ"/>
                <a:ea typeface="メイリオ"/>
                <a:cs typeface="メイリオ"/>
              </a:rPr>
              <a:t>市場は伸びている。伸びていないのは、取りこぼしを回収する設計。</a:t>
            </a: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32000" y="1548000"/>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1655999"/>
            <a:ext cx="2942400" cy="288000"/>
          </a:xfrm>
          <a:prstGeom prst="rect">
            <a:avLst/>
          </a:prstGeom>
          <a:noFill/>
        </p:spPr>
        <p:txBody>
          <a:bodyPr wrap="square" lIns="50400" rIns="50400" tIns="18000" bIns="18000" anchor="ctr">
            <a:spAutoFit/>
          </a:bodyPr>
          <a:lstStyle/>
          <a:p>
            <a:pPr algn="ctr"/>
            <a:r>
              <a:rPr sz="1400" b="1">
                <a:solidFill>
                  <a:srgbClr val="1F285A"/>
                </a:solidFill>
                <a:latin typeface="メイリオ"/>
                <a:ea typeface="メイリオ"/>
                <a:cs typeface="メイリオ"/>
              </a:rPr>
              <a:t>BtoC-EC市場全体</a:t>
            </a:r>
          </a:p>
        </p:txBody>
      </p:sp>
      <p:sp>
        <p:nvSpPr>
          <p:cNvPr id="50" name="TextBox 49"/>
          <p:cNvSpPr txBox="1"/>
          <p:nvPr/>
        </p:nvSpPr>
        <p:spPr>
          <a:xfrm>
            <a:off x="432000" y="1998000"/>
            <a:ext cx="2942400" cy="612000"/>
          </a:xfrm>
          <a:prstGeom prst="rect">
            <a:avLst/>
          </a:prstGeom>
          <a:noFill/>
        </p:spPr>
        <p:txBody>
          <a:bodyPr wrap="square" lIns="50400" rIns="50400" tIns="18000" bIns="18000" anchor="ctr">
            <a:spAutoFit/>
          </a:bodyPr>
          <a:lstStyle/>
          <a:p>
            <a:pPr algn="ctr"/>
            <a:r>
              <a:rPr sz="3400" b="1">
                <a:solidFill>
                  <a:srgbClr val="1F285A"/>
                </a:solidFill>
                <a:latin typeface="メイリオ"/>
                <a:ea typeface="メイリオ"/>
                <a:cs typeface="メイリオ"/>
              </a:rPr>
              <a:t>26.1</a:t>
            </a:r>
            <a:r>
              <a:rPr sz="1600" b="1">
                <a:solidFill>
                  <a:srgbClr val="1F285A"/>
                </a:solidFill>
                <a:latin typeface="メイリオ"/>
                <a:ea typeface="メイリオ"/>
                <a:cs typeface="メイリオ"/>
              </a:rPr>
              <a:t> 兆円</a:t>
            </a:r>
          </a:p>
        </p:txBody>
      </p:sp>
      <p:sp>
        <p:nvSpPr>
          <p:cNvPr id="51" name="TextBox 50"/>
          <p:cNvSpPr txBox="1"/>
          <p:nvPr/>
        </p:nvSpPr>
        <p:spPr>
          <a:xfrm>
            <a:off x="5400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前年比 +5.1%（前年24.8兆円）</a:t>
            </a:r>
          </a:p>
        </p:txBody>
      </p:sp>
      <p:sp>
        <p:nvSpPr>
          <p:cNvPr id="52" name="Rounded Rectangle 51"/>
          <p:cNvSpPr/>
          <p:nvPr/>
        </p:nvSpPr>
        <p:spPr>
          <a:xfrm>
            <a:off x="3482400" y="1548000"/>
            <a:ext cx="2942400" cy="1655999"/>
          </a:xfrm>
          <a:prstGeom prst="roundRect">
            <a:avLst/>
          </a:prstGeom>
          <a:solidFill>
            <a:srgbClr val="FFFFFF"/>
          </a:solidFill>
          <a:ln w="19050">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82400" y="1655999"/>
            <a:ext cx="2942400" cy="288000"/>
          </a:xfrm>
          <a:prstGeom prst="rect">
            <a:avLst/>
          </a:prstGeom>
          <a:noFill/>
        </p:spPr>
        <p:txBody>
          <a:bodyPr wrap="square" lIns="50400" rIns="50400" tIns="18000" bIns="18000" anchor="ctr">
            <a:spAutoFit/>
          </a:bodyPr>
          <a:lstStyle/>
          <a:p>
            <a:pPr algn="ctr"/>
            <a:r>
              <a:rPr sz="1400" b="1">
                <a:solidFill>
                  <a:srgbClr val="1F285A"/>
                </a:solidFill>
                <a:latin typeface="メイリオ"/>
                <a:ea typeface="メイリオ"/>
                <a:cs typeface="メイリオ"/>
              </a:rPr>
              <a:t>物販系分野</a:t>
            </a:r>
          </a:p>
        </p:txBody>
      </p:sp>
      <p:sp>
        <p:nvSpPr>
          <p:cNvPr id="54" name="TextBox 53"/>
          <p:cNvSpPr txBox="1"/>
          <p:nvPr/>
        </p:nvSpPr>
        <p:spPr>
          <a:xfrm>
            <a:off x="3482400" y="1998000"/>
            <a:ext cx="2942400" cy="612000"/>
          </a:xfrm>
          <a:prstGeom prst="rect">
            <a:avLst/>
          </a:prstGeom>
          <a:noFill/>
        </p:spPr>
        <p:txBody>
          <a:bodyPr wrap="square" lIns="50400" rIns="50400" tIns="18000" bIns="18000" anchor="ctr">
            <a:spAutoFit/>
          </a:bodyPr>
          <a:lstStyle/>
          <a:p>
            <a:pPr algn="ctr"/>
            <a:r>
              <a:rPr sz="3400" b="1">
                <a:solidFill>
                  <a:srgbClr val="1F285A"/>
                </a:solidFill>
                <a:latin typeface="メイリオ"/>
                <a:ea typeface="メイリオ"/>
                <a:cs typeface="メイリオ"/>
              </a:rPr>
              <a:t>15.2</a:t>
            </a:r>
            <a:r>
              <a:rPr sz="1600" b="1">
                <a:solidFill>
                  <a:srgbClr val="1F285A"/>
                </a:solidFill>
                <a:latin typeface="メイリオ"/>
                <a:ea typeface="メイリオ"/>
                <a:cs typeface="メイリオ"/>
              </a:rPr>
              <a:t> 兆円</a:t>
            </a:r>
          </a:p>
        </p:txBody>
      </p:sp>
      <p:sp>
        <p:nvSpPr>
          <p:cNvPr id="55" name="TextBox 54"/>
          <p:cNvSpPr txBox="1"/>
          <p:nvPr/>
        </p:nvSpPr>
        <p:spPr>
          <a:xfrm>
            <a:off x="35904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前年比 +3.70%（15兆2,194億円）</a:t>
            </a:r>
          </a:p>
        </p:txBody>
      </p:sp>
      <p:sp>
        <p:nvSpPr>
          <p:cNvPr id="56" name="Rounded Rectangle 55"/>
          <p:cNvSpPr/>
          <p:nvPr/>
        </p:nvSpPr>
        <p:spPr>
          <a:xfrm>
            <a:off x="6532800" y="1548000"/>
            <a:ext cx="2942400" cy="1655999"/>
          </a:xfrm>
          <a:prstGeom prst="roundRect">
            <a:avLst/>
          </a:prstGeom>
          <a:solidFill>
            <a:srgbClr val="FFFFFF"/>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532800" y="1655999"/>
            <a:ext cx="2942400" cy="288000"/>
          </a:xfrm>
          <a:prstGeom prst="rect">
            <a:avLst/>
          </a:prstGeom>
          <a:noFill/>
        </p:spPr>
        <p:txBody>
          <a:bodyPr wrap="square" lIns="50400" rIns="50400" tIns="18000" bIns="18000" anchor="ctr">
            <a:spAutoFit/>
          </a:bodyPr>
          <a:lstStyle/>
          <a:p>
            <a:pPr algn="ctr"/>
            <a:r>
              <a:rPr sz="1400" b="1">
                <a:solidFill>
                  <a:srgbClr val="ED7D31"/>
                </a:solidFill>
                <a:latin typeface="メイリオ"/>
                <a:ea typeface="メイリオ"/>
                <a:cs typeface="メイリオ"/>
              </a:rPr>
              <a:t>物販系のEC化率</a:t>
            </a:r>
          </a:p>
        </p:txBody>
      </p:sp>
      <p:sp>
        <p:nvSpPr>
          <p:cNvPr id="58" name="TextBox 57"/>
          <p:cNvSpPr txBox="1"/>
          <p:nvPr/>
        </p:nvSpPr>
        <p:spPr>
          <a:xfrm>
            <a:off x="6532800" y="1998000"/>
            <a:ext cx="2942400" cy="612000"/>
          </a:xfrm>
          <a:prstGeom prst="rect">
            <a:avLst/>
          </a:prstGeom>
          <a:noFill/>
        </p:spPr>
        <p:txBody>
          <a:bodyPr wrap="square" lIns="50400" rIns="50400" tIns="18000" bIns="18000" anchor="ctr">
            <a:spAutoFit/>
          </a:bodyPr>
          <a:lstStyle/>
          <a:p>
            <a:pPr algn="ctr"/>
            <a:r>
              <a:rPr sz="3400" b="1">
                <a:solidFill>
                  <a:srgbClr val="ED7D31"/>
                </a:solidFill>
                <a:latin typeface="メイリオ"/>
                <a:ea typeface="メイリオ"/>
                <a:cs typeface="メイリオ"/>
              </a:rPr>
              <a:t>9.78</a:t>
            </a:r>
            <a:r>
              <a:rPr sz="1600" b="1">
                <a:solidFill>
                  <a:srgbClr val="ED7D31"/>
                </a:solidFill>
                <a:latin typeface="メイリオ"/>
                <a:ea typeface="メイリオ"/>
                <a:cs typeface="メイリオ"/>
              </a:rPr>
              <a:t> %</a:t>
            </a:r>
          </a:p>
        </p:txBody>
      </p:sp>
      <p:sp>
        <p:nvSpPr>
          <p:cNvPr id="59" name="TextBox 58"/>
          <p:cNvSpPr txBox="1"/>
          <p:nvPr/>
        </p:nvSpPr>
        <p:spPr>
          <a:xfrm>
            <a:off x="6640800" y="2700000"/>
            <a:ext cx="2726400" cy="396000"/>
          </a:xfrm>
          <a:prstGeom prst="rect">
            <a:avLst/>
          </a:prstGeom>
          <a:noFill/>
        </p:spPr>
        <p:txBody>
          <a:bodyPr wrap="square" lIns="50400" rIns="50400" tIns="18000" bIns="18000" anchor="ctr">
            <a:spAutoFit/>
          </a:bodyPr>
          <a:lstStyle/>
          <a:p>
            <a:pPr algn="ctr">
              <a:lnSpc>
                <a:spcPct val="125000"/>
              </a:lnSpc>
            </a:pPr>
            <a:r>
              <a:rPr sz="1200">
                <a:solidFill>
                  <a:srgbClr val="333333"/>
                </a:solidFill>
                <a:latin typeface="メイリオ"/>
                <a:ea typeface="メイリオ"/>
                <a:cs typeface="メイリオ"/>
              </a:rPr>
              <a:t>前年比 +0.40pt</a:t>
            </a:r>
          </a:p>
        </p:txBody>
      </p:sp>
      <p:sp>
        <p:nvSpPr>
          <p:cNvPr id="60" name="Rounded Rectangle 59"/>
          <p:cNvSpPr/>
          <p:nvPr/>
        </p:nvSpPr>
        <p:spPr>
          <a:xfrm>
            <a:off x="432000" y="3383999"/>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800" b="1">
                <a:solidFill>
                  <a:srgbClr val="FFFFFF"/>
                </a:solidFill>
                <a:latin typeface="メイリオ"/>
                <a:ea typeface="メイリオ"/>
                <a:cs typeface="メイリオ"/>
              </a:rPr>
              <a:t>EC化率 9.78%　＝　まだ9割はオフライン。市場そのものはまだ伸びる</a:t>
            </a:r>
          </a:p>
        </p:txBody>
      </p:sp>
      <p:sp>
        <p:nvSpPr>
          <p:cNvPr id="61" name="TextBox 60"/>
          <p:cNvSpPr txBox="1"/>
          <p:nvPr/>
        </p:nvSpPr>
        <p:spPr>
          <a:xfrm>
            <a:off x="432000" y="3923999"/>
            <a:ext cx="9043200" cy="288000"/>
          </a:xfrm>
          <a:prstGeom prst="rect">
            <a:avLst/>
          </a:prstGeom>
          <a:noFill/>
        </p:spPr>
        <p:txBody>
          <a:bodyPr wrap="square" lIns="50400" rIns="50400" tIns="18000" bIns="18000" anchor="ctr">
            <a:spAutoFit/>
          </a:bodyPr>
          <a:lstStyle/>
          <a:p>
            <a:pPr algn="l"/>
            <a:r>
              <a:rPr sz="1400" b="1">
                <a:solidFill>
                  <a:srgbClr val="002060"/>
                </a:solidFill>
                <a:latin typeface="メイリオ"/>
                <a:ea typeface="メイリオ"/>
                <a:cs typeface="メイリオ"/>
              </a:rPr>
              <a:t>── それでも1社あたりの獲得効率は下がっている</a:t>
            </a:r>
          </a:p>
        </p:txBody>
      </p:sp>
      <p:sp>
        <p:nvSpPr>
          <p:cNvPr id="62" name="Rounded Rectangle 61"/>
          <p:cNvSpPr/>
          <p:nvPr/>
        </p:nvSpPr>
        <p:spPr>
          <a:xfrm>
            <a:off x="432000" y="4266000"/>
            <a:ext cx="2870400" cy="1152000"/>
          </a:xfrm>
          <a:prstGeom prst="roundRect">
            <a:avLst/>
          </a:prstGeom>
          <a:solidFill>
            <a:srgbClr val="EEF2F9"/>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22000" y="4373999"/>
            <a:ext cx="2690400" cy="270000"/>
          </a:xfrm>
          <a:prstGeom prst="rect">
            <a:avLst/>
          </a:prstGeom>
          <a:noFill/>
        </p:spPr>
        <p:txBody>
          <a:bodyPr wrap="square" lIns="50400" rIns="50400" tIns="18000" bIns="18000" anchor="ctr">
            <a:spAutoFit/>
          </a:bodyPr>
          <a:lstStyle/>
          <a:p>
            <a:pPr algn="ctr"/>
            <a:r>
              <a:rPr sz="1400" b="1">
                <a:solidFill>
                  <a:srgbClr val="888888"/>
                </a:solidFill>
                <a:latin typeface="メイリオ"/>
                <a:ea typeface="メイリオ"/>
                <a:cs typeface="メイリオ"/>
              </a:rPr>
              <a:t>流入は買える</a:t>
            </a:r>
          </a:p>
        </p:txBody>
      </p:sp>
      <p:sp>
        <p:nvSpPr>
          <p:cNvPr id="64" name="TextBox 63"/>
          <p:cNvSpPr txBox="1"/>
          <p:nvPr/>
        </p:nvSpPr>
        <p:spPr>
          <a:xfrm>
            <a:off x="522000" y="4680000"/>
            <a:ext cx="2690400" cy="684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広告予算を積めば人は連れてこられる。</a:t>
            </a:r>
          </a:p>
          <a:p>
            <a:pPr algn="ctr">
              <a:lnSpc>
                <a:spcPct val="130000"/>
              </a:lnSpc>
            </a:pPr>
            <a:r>
              <a:rPr sz="1200">
                <a:solidFill>
                  <a:srgbClr val="333333"/>
                </a:solidFill>
                <a:latin typeface="メイリオ"/>
                <a:ea typeface="メイリオ"/>
                <a:cs typeface="メイリオ"/>
              </a:rPr>
              <a:t>ただし単価は上がり続けている</a:t>
            </a:r>
          </a:p>
        </p:txBody>
      </p:sp>
      <p:sp>
        <p:nvSpPr>
          <p:cNvPr id="65" name="Right Arrow 64"/>
          <p:cNvSpPr/>
          <p:nvPr/>
        </p:nvSpPr>
        <p:spPr>
          <a:xfrm>
            <a:off x="3338400" y="4770000"/>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3518400" y="4266000"/>
            <a:ext cx="2870400" cy="1152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08400" y="4373999"/>
            <a:ext cx="2690400" cy="270000"/>
          </a:xfrm>
          <a:prstGeom prst="rect">
            <a:avLst/>
          </a:prstGeom>
          <a:noFill/>
        </p:spPr>
        <p:txBody>
          <a:bodyPr wrap="square" lIns="50400" rIns="50400" tIns="18000" bIns="18000" anchor="ctr">
            <a:spAutoFit/>
          </a:bodyPr>
          <a:lstStyle/>
          <a:p>
            <a:pPr algn="ctr"/>
            <a:r>
              <a:rPr sz="1400" b="1">
                <a:solidFill>
                  <a:srgbClr val="C00000"/>
                </a:solidFill>
                <a:latin typeface="メイリオ"/>
                <a:ea typeface="メイリオ"/>
                <a:cs typeface="メイリオ"/>
              </a:rPr>
              <a:t>しかし回収できていない</a:t>
            </a:r>
          </a:p>
        </p:txBody>
      </p:sp>
      <p:sp>
        <p:nvSpPr>
          <p:cNvPr id="68" name="TextBox 67"/>
          <p:cNvSpPr txBox="1"/>
          <p:nvPr/>
        </p:nvSpPr>
        <p:spPr>
          <a:xfrm>
            <a:off x="3608400" y="4680000"/>
            <a:ext cx="2690400" cy="684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連れてきた人の6〜7割がカゴで消え、</a:t>
            </a:r>
          </a:p>
          <a:p>
            <a:pPr algn="ctr">
              <a:lnSpc>
                <a:spcPct val="130000"/>
              </a:lnSpc>
            </a:pPr>
            <a:r>
              <a:rPr sz="1200">
                <a:solidFill>
                  <a:srgbClr val="333333"/>
                </a:solidFill>
                <a:latin typeface="メイリオ"/>
                <a:ea typeface="メイリオ"/>
                <a:cs typeface="メイリオ"/>
              </a:rPr>
              <a:t>買った人の6〜7割が二度と戻らない</a:t>
            </a:r>
          </a:p>
        </p:txBody>
      </p:sp>
      <p:sp>
        <p:nvSpPr>
          <p:cNvPr id="69" name="Right Arrow 68"/>
          <p:cNvSpPr/>
          <p:nvPr/>
        </p:nvSpPr>
        <p:spPr>
          <a:xfrm>
            <a:off x="6424800" y="4770000"/>
            <a:ext cx="144000" cy="19800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6604800" y="4266000"/>
            <a:ext cx="2870400" cy="1152000"/>
          </a:xfrm>
          <a:prstGeom prst="roundRect">
            <a:avLst/>
          </a:prstGeom>
          <a:solidFill>
            <a:srgbClr val="FDF1E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94800" y="4373999"/>
            <a:ext cx="2690400" cy="270000"/>
          </a:xfrm>
          <a:prstGeom prst="rect">
            <a:avLst/>
          </a:prstGeom>
          <a:noFill/>
        </p:spPr>
        <p:txBody>
          <a:bodyPr wrap="square" lIns="50400" rIns="50400" tIns="18000" bIns="18000" anchor="ctr">
            <a:spAutoFit/>
          </a:bodyPr>
          <a:lstStyle/>
          <a:p>
            <a:pPr algn="ctr"/>
            <a:r>
              <a:rPr sz="1400" b="1">
                <a:solidFill>
                  <a:srgbClr val="ED7D31"/>
                </a:solidFill>
                <a:latin typeface="メイリオ"/>
                <a:ea typeface="メイリオ"/>
                <a:cs typeface="メイリオ"/>
              </a:rPr>
              <a:t>＝ 伸びしろは回収側</a:t>
            </a:r>
          </a:p>
        </p:txBody>
      </p:sp>
      <p:sp>
        <p:nvSpPr>
          <p:cNvPr id="72" name="TextBox 71"/>
          <p:cNvSpPr txBox="1"/>
          <p:nvPr/>
        </p:nvSpPr>
        <p:spPr>
          <a:xfrm>
            <a:off x="6694800" y="4680000"/>
            <a:ext cx="2690400" cy="684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同じ流入のまま、</a:t>
            </a:r>
          </a:p>
          <a:p>
            <a:pPr algn="ctr">
              <a:lnSpc>
                <a:spcPct val="130000"/>
              </a:lnSpc>
            </a:pPr>
            <a:r>
              <a:rPr sz="1200">
                <a:solidFill>
                  <a:srgbClr val="333333"/>
                </a:solidFill>
                <a:latin typeface="メイリオ"/>
                <a:ea typeface="メイリオ"/>
                <a:cs typeface="メイリオ"/>
              </a:rPr>
              <a:t>取りこぼしを拾い直す余地がある</a:t>
            </a:r>
          </a:p>
        </p:txBody>
      </p:sp>
      <p:sp>
        <p:nvSpPr>
          <p:cNvPr id="73" name="TextBox 72"/>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業界水準｜出典：経済産業省「令和6年度 電子商取引に関する市場調査」2025年8月26日公表。毎年8月末公表のため、提案時は最新年度（令和7年度）を確認すること</a:t>
            </a:r>
          </a:p>
        </p:txBody>
      </p:sp>
    </p:spTree>
    <p:extLst>
      <p:ext uri="{BB962C8B-B14F-4D97-AF65-F5344CB8AC3E}">
        <p14:creationId xmlns:p14="http://schemas.microsoft.com/office/powerpoint/2010/main" val="406932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085E8310-DC90-A44B-9003-2370FEC43AA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3552C67E-68C8-EE20-8231-66ED97A5D6A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6B80B6E5-D118-D5F1-ECE6-715F8A11F93E}"/>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カゴ落ちの実態｜EC購入者の心理</a:t>
            </a:r>
            <a:endParaRPr sz="1600" b="1" dirty="0">
              <a:solidFill>
                <a:srgbClr val="002060"/>
              </a:solidFill>
              <a:latin typeface="Meiryo"/>
              <a:ea typeface="Meiryo"/>
              <a:cs typeface="Meiryo"/>
              <a:sym typeface="Meiryo"/>
            </a:endParaRPr>
          </a:p>
        </p:txBody>
      </p:sp>
      <p:sp>
        <p:nvSpPr>
          <p:cNvPr id="7" name="TextBox 6"/>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広告費を払って連れてきた人が、カゴに入れたまま約7割消え、買ってくれた人も</a:t>
            </a:r>
          </a:p>
          <a:p>
            <a:pPr algn="l">
              <a:lnSpc>
                <a:spcPct val="135000"/>
              </a:lnSpc>
            </a:pPr>
            <a:r>
              <a:rPr sz="1400">
                <a:solidFill>
                  <a:srgbClr val="333333"/>
                </a:solidFill>
                <a:latin typeface="メイリオ"/>
                <a:ea typeface="メイリオ"/>
                <a:cs typeface="メイリオ"/>
              </a:rPr>
              <a:t>6〜7割が2回目を買わずに消えている。しかも全員、連絡先を残さないまま消えている。</a:t>
            </a:r>
          </a:p>
        </p:txBody>
      </p:sp>
      <p:cxnSp>
        <p:nvCxnSpPr>
          <p:cNvPr id="8" name="Connector 7"/>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2000" y="1548000"/>
            <a:ext cx="9043200" cy="972000"/>
          </a:xfrm>
          <a:prstGeom prst="roundRect">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1692000"/>
            <a:ext cx="8683200" cy="413999"/>
          </a:xfrm>
          <a:prstGeom prst="rect">
            <a:avLst/>
          </a:prstGeom>
          <a:noFill/>
        </p:spPr>
        <p:txBody>
          <a:bodyPr wrap="square" lIns="50400" rIns="50400" tIns="18000" bIns="18000" anchor="ctr">
            <a:spAutoFit/>
          </a:bodyPr>
          <a:lstStyle/>
          <a:p>
            <a:pPr algn="ctr"/>
            <a:r>
              <a:rPr sz="1800" b="1">
                <a:solidFill>
                  <a:srgbClr val="C00000"/>
                </a:solidFill>
                <a:latin typeface="メイリオ"/>
                <a:ea typeface="メイリオ"/>
                <a:cs typeface="メイリオ"/>
              </a:rPr>
              <a:t>カゴ落ち率　</a:t>
            </a:r>
            <a:r>
              <a:rPr sz="3400" b="1">
                <a:solidFill>
                  <a:srgbClr val="C00000"/>
                </a:solidFill>
                <a:latin typeface="メイリオ"/>
                <a:ea typeface="メイリオ"/>
                <a:cs typeface="メイリオ"/>
              </a:rPr>
              <a:t>60〜70</a:t>
            </a:r>
            <a:r>
              <a:rPr sz="2000" b="1">
                <a:solidFill>
                  <a:srgbClr val="C00000"/>
                </a:solidFill>
                <a:latin typeface="メイリオ"/>
                <a:ea typeface="メイリオ"/>
                <a:cs typeface="メイリオ"/>
              </a:rPr>
              <a:t> %</a:t>
            </a:r>
            <a:r>
              <a:rPr sz="1800" b="1">
                <a:solidFill>
                  <a:srgbClr val="C00000"/>
                </a:solidFill>
                <a:latin typeface="メイリオ"/>
                <a:ea typeface="メイリオ"/>
                <a:cs typeface="メイリオ"/>
              </a:rPr>
              <a:t>　前後</a:t>
            </a:r>
          </a:p>
        </p:txBody>
      </p:sp>
      <p:sp>
        <p:nvSpPr>
          <p:cNvPr id="11" name="TextBox 10"/>
          <p:cNvSpPr txBox="1"/>
          <p:nvPr/>
        </p:nvSpPr>
        <p:spPr>
          <a:xfrm>
            <a:off x="612000" y="2141999"/>
            <a:ext cx="8683200" cy="306000"/>
          </a:xfrm>
          <a:prstGeom prst="rect">
            <a:avLst/>
          </a:prstGeom>
          <a:noFill/>
        </p:spPr>
        <p:txBody>
          <a:bodyPr wrap="square" lIns="50400" rIns="50400" tIns="18000" bIns="18000" anchor="ctr">
            <a:spAutoFit/>
          </a:bodyPr>
          <a:lstStyle/>
          <a:p>
            <a:pPr algn="ctr"/>
            <a:r>
              <a:rPr sz="1200">
                <a:solidFill>
                  <a:srgbClr val="333333"/>
                </a:solidFill>
                <a:latin typeface="メイリオ"/>
                <a:ea typeface="メイリオ"/>
                <a:cs typeface="メイリオ"/>
              </a:rPr>
              <a:t>グローバル平均 約70.22%（Baymard Institute）／国内調査 約63.3%（イー・エージェンシー）</a:t>
            </a:r>
          </a:p>
        </p:txBody>
      </p:sp>
      <p:sp>
        <p:nvSpPr>
          <p:cNvPr id="12" name="TextBox 11"/>
          <p:cNvSpPr txBox="1"/>
          <p:nvPr/>
        </p:nvSpPr>
        <p:spPr>
          <a:xfrm>
            <a:off x="432000" y="2681999"/>
            <a:ext cx="9043200" cy="288000"/>
          </a:xfrm>
          <a:prstGeom prst="rect">
            <a:avLst/>
          </a:prstGeom>
          <a:noFill/>
        </p:spPr>
        <p:txBody>
          <a:bodyPr wrap="square" lIns="50400" rIns="50400" tIns="18000" bIns="18000" anchor="ctr">
            <a:spAutoFit/>
          </a:bodyPr>
          <a:lstStyle/>
          <a:p>
            <a:pPr algn="l"/>
            <a:r>
              <a:rPr sz="1400" b="1">
                <a:solidFill>
                  <a:srgbClr val="002060"/>
                </a:solidFill>
                <a:latin typeface="メイリオ"/>
                <a:ea typeface="メイリオ"/>
                <a:cs typeface="メイリオ"/>
              </a:rPr>
              <a:t>── なぜ、カゴに入れたのに買わないのか</a:t>
            </a:r>
          </a:p>
        </p:txBody>
      </p:sp>
      <p:sp>
        <p:nvSpPr>
          <p:cNvPr id="13" name="Rounded Rectangle 12"/>
          <p:cNvSpPr/>
          <p:nvPr/>
        </p:nvSpPr>
        <p:spPr>
          <a:xfrm>
            <a:off x="432000" y="3006000"/>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0000" y="3078000"/>
            <a:ext cx="2726400" cy="486000"/>
          </a:xfrm>
          <a:prstGeom prst="rect">
            <a:avLst/>
          </a:prstGeom>
          <a:noFill/>
        </p:spPr>
        <p:txBody>
          <a:bodyPr wrap="square" lIns="50400" rIns="50400" tIns="18000" bIns="18000" anchor="t">
            <a:spAutoFit/>
          </a:bodyPr>
          <a:lstStyle/>
          <a:p>
            <a:pPr algn="l">
              <a:lnSpc>
                <a:spcPct val="125000"/>
              </a:lnSpc>
            </a:pPr>
            <a:r>
              <a:rPr sz="1400" b="1">
                <a:solidFill>
                  <a:srgbClr val="002060"/>
                </a:solidFill>
                <a:latin typeface="メイリオ"/>
                <a:ea typeface="メイリオ"/>
                <a:cs typeface="メイリオ"/>
              </a:rPr>
              <a:t>「まだ決めきれない」</a:t>
            </a:r>
          </a:p>
        </p:txBody>
      </p:sp>
      <p:sp>
        <p:nvSpPr>
          <p:cNvPr id="15" name="TextBox 14"/>
          <p:cNvSpPr txBox="1"/>
          <p:nvPr/>
        </p:nvSpPr>
        <p:spPr>
          <a:xfrm>
            <a:off x="432000" y="3528000"/>
            <a:ext cx="2942400" cy="503999"/>
          </a:xfrm>
          <a:prstGeom prst="rect">
            <a:avLst/>
          </a:prstGeom>
          <a:noFill/>
        </p:spPr>
        <p:txBody>
          <a:bodyPr wrap="square" lIns="50400" rIns="50400" tIns="18000" bIns="18000" anchor="ctr">
            <a:spAutoFit/>
          </a:bodyPr>
          <a:lstStyle/>
          <a:p>
            <a:pPr algn="ctr"/>
            <a:r>
              <a:rPr sz="3200" b="1">
                <a:solidFill>
                  <a:srgbClr val="ED7D31"/>
                </a:solidFill>
                <a:latin typeface="メイリオ"/>
                <a:ea typeface="メイリオ"/>
                <a:cs typeface="メイリオ"/>
              </a:rPr>
              <a:t>43</a:t>
            </a:r>
            <a:r>
              <a:rPr sz="1500" b="1">
                <a:solidFill>
                  <a:srgbClr val="ED7D31"/>
                </a:solidFill>
                <a:latin typeface="メイリオ"/>
                <a:ea typeface="メイリオ"/>
                <a:cs typeface="メイリオ"/>
              </a:rPr>
              <a:t> %</a:t>
            </a:r>
          </a:p>
        </p:txBody>
      </p:sp>
      <p:sp>
        <p:nvSpPr>
          <p:cNvPr id="16" name="TextBox 15"/>
          <p:cNvSpPr txBox="1"/>
          <p:nvPr/>
        </p:nvSpPr>
        <p:spPr>
          <a:xfrm>
            <a:off x="540000" y="4068000"/>
            <a:ext cx="2726400" cy="666000"/>
          </a:xfrm>
          <a:prstGeom prst="rect">
            <a:avLst/>
          </a:prstGeom>
          <a:noFill/>
        </p:spPr>
        <p:txBody>
          <a:bodyPr wrap="square" lIns="50400" rIns="50400" tIns="18000" bIns="18000" anchor="t">
            <a:spAutoFit/>
          </a:bodyPr>
          <a:lstStyle/>
          <a:p>
            <a:pPr algn="l">
              <a:lnSpc>
                <a:spcPct val="130000"/>
              </a:lnSpc>
            </a:pPr>
            <a:r>
              <a:rPr sz="1200">
                <a:solidFill>
                  <a:srgbClr val="333333"/>
                </a:solidFill>
                <a:latin typeface="メイリオ"/>
                <a:ea typeface="メイリオ"/>
                <a:cs typeface="メイリオ"/>
              </a:rPr>
              <a:t>カゴ落ち理由の約43%が</a:t>
            </a:r>
          </a:p>
          <a:p>
            <a:pPr algn="l">
              <a:lnSpc>
                <a:spcPct val="130000"/>
              </a:lnSpc>
            </a:pPr>
            <a:r>
              <a:rPr sz="1200">
                <a:solidFill>
                  <a:srgbClr val="333333"/>
                </a:solidFill>
                <a:latin typeface="メイリオ"/>
                <a:ea typeface="メイリオ"/>
                <a:cs typeface="メイリオ"/>
              </a:rPr>
              <a:t>「ただ見ていた／買う準備ができていない」</a:t>
            </a:r>
          </a:p>
        </p:txBody>
      </p:sp>
      <p:sp>
        <p:nvSpPr>
          <p:cNvPr id="17" name="Down Arrow 16"/>
          <p:cNvSpPr/>
          <p:nvPr/>
        </p:nvSpPr>
        <p:spPr>
          <a:xfrm>
            <a:off x="1824000" y="4860000"/>
            <a:ext cx="158400" cy="180000"/>
          </a:xfrm>
          <a:prstGeom prst="downArrow">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2000" y="5112000"/>
            <a:ext cx="2942400" cy="630000"/>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22000" y="5202000"/>
            <a:ext cx="2762400" cy="468000"/>
          </a:xfrm>
          <a:prstGeom prst="rect">
            <a:avLst/>
          </a:prstGeom>
          <a:noFill/>
        </p:spPr>
        <p:txBody>
          <a:bodyPr wrap="square" lIns="50400" rIns="50400" tIns="18000" bIns="18000" anchor="t">
            <a:spAutoFit/>
          </a:bodyPr>
          <a:lstStyle/>
          <a:p>
            <a:pPr algn="ctr"/>
            <a:r>
              <a:rPr sz="1100" b="1">
                <a:solidFill>
                  <a:srgbClr val="ED7D31"/>
                </a:solidFill>
                <a:latin typeface="メイリオ"/>
                <a:ea typeface="メイリオ"/>
                <a:cs typeface="メイリオ"/>
              </a:rPr>
              <a:t>LINEでの打ち手</a:t>
            </a:r>
          </a:p>
          <a:p>
            <a:pPr algn="ctr">
              <a:lnSpc>
                <a:spcPct val="125000"/>
              </a:lnSpc>
            </a:pPr>
            <a:r>
              <a:rPr sz="1300" b="1">
                <a:solidFill>
                  <a:srgbClr val="333333"/>
                </a:solidFill>
                <a:latin typeface="メイリオ"/>
                <a:ea typeface="メイリオ"/>
                <a:cs typeface="メイリオ"/>
              </a:rPr>
              <a:t>期限つきクーポンで背中を押す</a:t>
            </a:r>
          </a:p>
        </p:txBody>
      </p:sp>
      <p:sp>
        <p:nvSpPr>
          <p:cNvPr id="20" name="Rounded Rectangle 19"/>
          <p:cNvSpPr/>
          <p:nvPr/>
        </p:nvSpPr>
        <p:spPr>
          <a:xfrm>
            <a:off x="3482400" y="3006000"/>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90400" y="3078000"/>
            <a:ext cx="2726400" cy="486000"/>
          </a:xfrm>
          <a:prstGeom prst="rect">
            <a:avLst/>
          </a:prstGeom>
          <a:noFill/>
        </p:spPr>
        <p:txBody>
          <a:bodyPr wrap="square" lIns="50400" rIns="50400" tIns="18000" bIns="18000" anchor="t">
            <a:spAutoFit/>
          </a:bodyPr>
          <a:lstStyle/>
          <a:p>
            <a:pPr algn="l">
              <a:lnSpc>
                <a:spcPct val="125000"/>
              </a:lnSpc>
            </a:pPr>
            <a:r>
              <a:rPr sz="1400" b="1">
                <a:solidFill>
                  <a:srgbClr val="002060"/>
                </a:solidFill>
                <a:latin typeface="メイリオ"/>
                <a:ea typeface="メイリオ"/>
                <a:cs typeface="メイリオ"/>
              </a:rPr>
              <a:t>「いくらになるか分からないのが怖い」</a:t>
            </a:r>
          </a:p>
        </p:txBody>
      </p:sp>
      <p:sp>
        <p:nvSpPr>
          <p:cNvPr id="22" name="TextBox 21"/>
          <p:cNvSpPr txBox="1"/>
          <p:nvPr/>
        </p:nvSpPr>
        <p:spPr>
          <a:xfrm>
            <a:off x="3482400" y="3528000"/>
            <a:ext cx="2942400" cy="503999"/>
          </a:xfrm>
          <a:prstGeom prst="rect">
            <a:avLst/>
          </a:prstGeom>
          <a:noFill/>
        </p:spPr>
        <p:txBody>
          <a:bodyPr wrap="square" lIns="50400" rIns="50400" tIns="18000" bIns="18000" anchor="ctr">
            <a:spAutoFit/>
          </a:bodyPr>
          <a:lstStyle/>
          <a:p>
            <a:pPr algn="ctr"/>
            <a:r>
              <a:rPr sz="3200" b="1">
                <a:solidFill>
                  <a:srgbClr val="C00000"/>
                </a:solidFill>
                <a:latin typeface="メイリオ"/>
                <a:ea typeface="メイリオ"/>
                <a:cs typeface="メイリオ"/>
              </a:rPr>
              <a:t>53</a:t>
            </a:r>
            <a:r>
              <a:rPr sz="1500" b="1">
                <a:solidFill>
                  <a:srgbClr val="C00000"/>
                </a:solidFill>
                <a:latin typeface="メイリオ"/>
                <a:ea typeface="メイリオ"/>
                <a:cs typeface="メイリオ"/>
              </a:rPr>
              <a:t> %</a:t>
            </a:r>
          </a:p>
        </p:txBody>
      </p:sp>
      <p:sp>
        <p:nvSpPr>
          <p:cNvPr id="23" name="TextBox 22"/>
          <p:cNvSpPr txBox="1"/>
          <p:nvPr/>
        </p:nvSpPr>
        <p:spPr>
          <a:xfrm>
            <a:off x="3590400" y="4068000"/>
            <a:ext cx="2726400" cy="666000"/>
          </a:xfrm>
          <a:prstGeom prst="rect">
            <a:avLst/>
          </a:prstGeom>
          <a:noFill/>
        </p:spPr>
        <p:txBody>
          <a:bodyPr wrap="square" lIns="50400" rIns="50400" tIns="18000" bIns="18000" anchor="t">
            <a:spAutoFit/>
          </a:bodyPr>
          <a:lstStyle/>
          <a:p>
            <a:pPr algn="l">
              <a:lnSpc>
                <a:spcPct val="130000"/>
              </a:lnSpc>
            </a:pPr>
            <a:r>
              <a:rPr sz="1200">
                <a:solidFill>
                  <a:srgbClr val="333333"/>
                </a:solidFill>
                <a:latin typeface="メイリオ"/>
                <a:ea typeface="メイリオ"/>
                <a:cs typeface="メイリオ"/>
              </a:rPr>
              <a:t>カゴ落ち理由1位（53%）が</a:t>
            </a:r>
          </a:p>
          <a:p>
            <a:pPr algn="l">
              <a:lnSpc>
                <a:spcPct val="130000"/>
              </a:lnSpc>
            </a:pPr>
            <a:r>
              <a:rPr sz="1200">
                <a:solidFill>
                  <a:srgbClr val="333333"/>
                </a:solidFill>
                <a:latin typeface="メイリオ"/>
                <a:ea typeface="メイリオ"/>
                <a:cs typeface="メイリオ"/>
              </a:rPr>
              <a:t>送料・税・手数料など追加コストの不透明さ</a:t>
            </a:r>
          </a:p>
        </p:txBody>
      </p:sp>
      <p:sp>
        <p:nvSpPr>
          <p:cNvPr id="24" name="Down Arrow 23"/>
          <p:cNvSpPr/>
          <p:nvPr/>
        </p:nvSpPr>
        <p:spPr>
          <a:xfrm>
            <a:off x="4874400" y="4860000"/>
            <a:ext cx="158400" cy="180000"/>
          </a:xfrm>
          <a:prstGeom prst="downArrow">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482400" y="5112000"/>
            <a:ext cx="2942400" cy="630000"/>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572400" y="5202000"/>
            <a:ext cx="2762400" cy="468000"/>
          </a:xfrm>
          <a:prstGeom prst="rect">
            <a:avLst/>
          </a:prstGeom>
          <a:noFill/>
        </p:spPr>
        <p:txBody>
          <a:bodyPr wrap="square" lIns="50400" rIns="50400" tIns="18000" bIns="18000" anchor="t">
            <a:spAutoFit/>
          </a:bodyPr>
          <a:lstStyle/>
          <a:p>
            <a:pPr algn="ctr"/>
            <a:r>
              <a:rPr sz="1100" b="1">
                <a:solidFill>
                  <a:srgbClr val="C00000"/>
                </a:solidFill>
                <a:latin typeface="メイリオ"/>
                <a:ea typeface="メイリオ"/>
                <a:cs typeface="メイリオ"/>
              </a:rPr>
              <a:t>LINEでの打ち手</a:t>
            </a:r>
          </a:p>
          <a:p>
            <a:pPr algn="ctr">
              <a:lnSpc>
                <a:spcPct val="125000"/>
              </a:lnSpc>
            </a:pPr>
            <a:r>
              <a:rPr sz="1300" b="1">
                <a:solidFill>
                  <a:srgbClr val="333333"/>
                </a:solidFill>
                <a:latin typeface="メイリオ"/>
                <a:ea typeface="メイリオ"/>
                <a:cs typeface="メイリオ"/>
              </a:rPr>
              <a:t>送料条件をあいさつで先出し</a:t>
            </a:r>
          </a:p>
        </p:txBody>
      </p:sp>
      <p:sp>
        <p:nvSpPr>
          <p:cNvPr id="27" name="Rounded Rectangle 26"/>
          <p:cNvSpPr/>
          <p:nvPr/>
        </p:nvSpPr>
        <p:spPr>
          <a:xfrm>
            <a:off x="6532800" y="3006000"/>
            <a:ext cx="2942400" cy="1800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40800" y="3078000"/>
            <a:ext cx="2726400" cy="486000"/>
          </a:xfrm>
          <a:prstGeom prst="rect">
            <a:avLst/>
          </a:prstGeom>
          <a:noFill/>
        </p:spPr>
        <p:txBody>
          <a:bodyPr wrap="square" lIns="50400" rIns="50400" tIns="18000" bIns="18000" anchor="t">
            <a:spAutoFit/>
          </a:bodyPr>
          <a:lstStyle/>
          <a:p>
            <a:pPr algn="l">
              <a:lnSpc>
                <a:spcPct val="125000"/>
              </a:lnSpc>
            </a:pPr>
            <a:r>
              <a:rPr sz="1400" b="1">
                <a:solidFill>
                  <a:srgbClr val="002060"/>
                </a:solidFill>
                <a:latin typeface="メイリオ"/>
                <a:ea typeface="メイリオ"/>
                <a:cs typeface="メイリオ"/>
              </a:rPr>
              <a:t>「メールは登録したくない」</a:t>
            </a:r>
          </a:p>
        </p:txBody>
      </p:sp>
      <p:sp>
        <p:nvSpPr>
          <p:cNvPr id="29" name="TextBox 28"/>
          <p:cNvSpPr txBox="1"/>
          <p:nvPr/>
        </p:nvSpPr>
        <p:spPr>
          <a:xfrm>
            <a:off x="6532800" y="3528000"/>
            <a:ext cx="2942400" cy="503999"/>
          </a:xfrm>
          <a:prstGeom prst="rect">
            <a:avLst/>
          </a:prstGeom>
          <a:noFill/>
        </p:spPr>
        <p:txBody>
          <a:bodyPr wrap="square" lIns="50400" rIns="50400" tIns="18000" bIns="18000" anchor="ctr">
            <a:spAutoFit/>
          </a:bodyPr>
          <a:lstStyle/>
          <a:p>
            <a:pPr algn="ctr"/>
            <a:r>
              <a:rPr sz="3200" b="1">
                <a:solidFill>
                  <a:srgbClr val="1F285A"/>
                </a:solidFill>
                <a:latin typeface="メイリオ"/>
                <a:ea typeface="メイリオ"/>
                <a:cs typeface="メイリオ"/>
              </a:rPr>
              <a:t>20</a:t>
            </a:r>
            <a:r>
              <a:rPr sz="1500" b="1">
                <a:solidFill>
                  <a:srgbClr val="1F285A"/>
                </a:solidFill>
                <a:latin typeface="メイリオ"/>
                <a:ea typeface="メイリオ"/>
                <a:cs typeface="メイリオ"/>
              </a:rPr>
              <a:t> %前後</a:t>
            </a:r>
          </a:p>
        </p:txBody>
      </p:sp>
      <p:sp>
        <p:nvSpPr>
          <p:cNvPr id="30" name="TextBox 29"/>
          <p:cNvSpPr txBox="1"/>
          <p:nvPr/>
        </p:nvSpPr>
        <p:spPr>
          <a:xfrm>
            <a:off x="6640800" y="4068000"/>
            <a:ext cx="2726400" cy="666000"/>
          </a:xfrm>
          <a:prstGeom prst="rect">
            <a:avLst/>
          </a:prstGeom>
          <a:noFill/>
        </p:spPr>
        <p:txBody>
          <a:bodyPr wrap="square" lIns="50400" rIns="50400" tIns="18000" bIns="18000" anchor="t">
            <a:spAutoFit/>
          </a:bodyPr>
          <a:lstStyle/>
          <a:p>
            <a:pPr algn="l">
              <a:lnSpc>
                <a:spcPct val="130000"/>
              </a:lnSpc>
            </a:pPr>
            <a:r>
              <a:rPr sz="1200">
                <a:solidFill>
                  <a:srgbClr val="333333"/>
                </a:solidFill>
                <a:latin typeface="メイリオ"/>
                <a:ea typeface="メイリオ"/>
                <a:cs typeface="メイリオ"/>
              </a:rPr>
              <a:t>国内ECのメルマガ開封率は20%前後。</a:t>
            </a:r>
          </a:p>
          <a:p>
            <a:pPr algn="l">
              <a:lnSpc>
                <a:spcPct val="130000"/>
              </a:lnSpc>
            </a:pPr>
            <a:r>
              <a:rPr sz="1200">
                <a:solidFill>
                  <a:srgbClr val="333333"/>
                </a:solidFill>
                <a:latin typeface="メイリオ"/>
                <a:ea typeface="メイリオ"/>
                <a:cs typeface="メイリオ"/>
              </a:rPr>
              <a:t>登録しても読まれていない</a:t>
            </a:r>
          </a:p>
        </p:txBody>
      </p:sp>
      <p:sp>
        <p:nvSpPr>
          <p:cNvPr id="31" name="Down Arrow 30"/>
          <p:cNvSpPr/>
          <p:nvPr/>
        </p:nvSpPr>
        <p:spPr>
          <a:xfrm>
            <a:off x="7924800" y="4860000"/>
            <a:ext cx="158400" cy="180000"/>
          </a:xfrm>
          <a:prstGeom prst="downArrow">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32800" y="5112000"/>
            <a:ext cx="2942400" cy="630000"/>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22800" y="5202000"/>
            <a:ext cx="2762400" cy="468000"/>
          </a:xfrm>
          <a:prstGeom prst="rect">
            <a:avLst/>
          </a:prstGeom>
          <a:noFill/>
        </p:spPr>
        <p:txBody>
          <a:bodyPr wrap="square" lIns="50400" rIns="50400" tIns="18000" bIns="18000" anchor="t">
            <a:spAutoFit/>
          </a:bodyPr>
          <a:lstStyle/>
          <a:p>
            <a:pPr algn="ctr"/>
            <a:r>
              <a:rPr sz="1100" b="1">
                <a:solidFill>
                  <a:srgbClr val="1F285A"/>
                </a:solidFill>
                <a:latin typeface="メイリオ"/>
                <a:ea typeface="メイリオ"/>
                <a:cs typeface="メイリオ"/>
              </a:rPr>
              <a:t>LINEでの打ち手</a:t>
            </a:r>
          </a:p>
          <a:p>
            <a:pPr algn="ctr">
              <a:lnSpc>
                <a:spcPct val="125000"/>
              </a:lnSpc>
            </a:pPr>
            <a:r>
              <a:rPr sz="1300" b="1">
                <a:solidFill>
                  <a:srgbClr val="333333"/>
                </a:solidFill>
                <a:latin typeface="メイリオ"/>
                <a:ea typeface="メイリオ"/>
                <a:cs typeface="メイリオ"/>
              </a:rPr>
              <a:t>当日中に約8割が開封</a:t>
            </a:r>
          </a:p>
        </p:txBody>
      </p:sp>
      <p:sp>
        <p:nvSpPr>
          <p:cNvPr id="34" name="TextBox 33"/>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業界水準｜出典：Baymard Institute（カゴ落ち理由）／国内ECメルマガ開封率一般値。LINEの開封はLINEヤフー公式値。倍率で語らず絶対値のみ使用</a:t>
            </a:r>
          </a:p>
        </p:txBody>
      </p:sp>
    </p:spTree>
    <p:extLst>
      <p:ext uri="{BB962C8B-B14F-4D97-AF65-F5344CB8AC3E}">
        <p14:creationId xmlns:p14="http://schemas.microsoft.com/office/powerpoint/2010/main" val="3225074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9B22B17A-8DFC-D6EF-0B99-02AD1AC617B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A4ACD29B-215D-B1BC-4164-FF8A5CD20694}"/>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6" name="Google Shape;156;p7">
            <a:extLst>
              <a:ext uri="{FF2B5EF4-FFF2-40B4-BE49-F238E27FC236}">
                <a16:creationId xmlns:a16="http://schemas.microsoft.com/office/drawing/2014/main" id="{AAEDAADE-3623-8067-9891-A654C6EBFD24}"/>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Webマーケで「できること／できないこと」</a:t>
            </a:r>
            <a:endParaRPr sz="1600" b="1" dirty="0">
              <a:solidFill>
                <a:srgbClr val="002060"/>
              </a:solidFill>
              <a:latin typeface="Meiryo"/>
              <a:ea typeface="Meiryo"/>
              <a:cs typeface="Meiryo"/>
              <a:sym typeface="Meiryo"/>
            </a:endParaRPr>
          </a:p>
        </p:txBody>
      </p:sp>
      <p:sp>
        <p:nvSpPr>
          <p:cNvPr id="7" name="TextBox 6"/>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ここが本提案の誠実さであり、説得力の源。触るのは「カゴに入れた後」と</a:t>
            </a:r>
          </a:p>
          <a:p>
            <a:pPr algn="l">
              <a:lnSpc>
                <a:spcPct val="135000"/>
              </a:lnSpc>
            </a:pPr>
            <a:r>
              <a:rPr sz="1400">
                <a:solidFill>
                  <a:srgbClr val="333333"/>
                </a:solidFill>
                <a:latin typeface="メイリオ"/>
                <a:ea typeface="メイリオ"/>
                <a:cs typeface="メイリオ"/>
              </a:rPr>
              <a:t>「1回目を買った後」の2箇所だけ。広告費も流入もLPも触らない。</a:t>
            </a:r>
          </a:p>
        </p:txBody>
      </p:sp>
      <p:cxnSp>
        <p:nvCxnSpPr>
          <p:cNvPr id="8" name="Connector 7"/>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2000" y="1548000"/>
            <a:ext cx="3074688" cy="30960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00" y="1673999"/>
            <a:ext cx="2786688" cy="288000"/>
          </a:xfrm>
          <a:prstGeom prst="rect">
            <a:avLst/>
          </a:prstGeom>
          <a:noFill/>
        </p:spPr>
        <p:txBody>
          <a:bodyPr wrap="square" lIns="50400" rIns="50400" tIns="18000" bIns="18000" anchor="ctr">
            <a:spAutoFit/>
          </a:bodyPr>
          <a:lstStyle/>
          <a:p>
            <a:pPr algn="l"/>
            <a:r>
              <a:rPr sz="1600" b="1">
                <a:solidFill>
                  <a:srgbClr val="888888"/>
                </a:solidFill>
                <a:latin typeface="メイリオ"/>
                <a:ea typeface="メイリオ"/>
                <a:cs typeface="メイリオ"/>
              </a:rPr>
              <a:t>できないこと</a:t>
            </a:r>
          </a:p>
        </p:txBody>
      </p:sp>
      <p:sp>
        <p:nvSpPr>
          <p:cNvPr id="11" name="TextBox 10"/>
          <p:cNvSpPr txBox="1"/>
          <p:nvPr/>
        </p:nvSpPr>
        <p:spPr>
          <a:xfrm>
            <a:off x="576000" y="2088000"/>
            <a:ext cx="2786688" cy="558000"/>
          </a:xfrm>
          <a:prstGeom prst="rect">
            <a:avLst/>
          </a:prstGeom>
          <a:noFill/>
        </p:spPr>
        <p:txBody>
          <a:bodyPr wrap="square" lIns="50400" rIns="50400" tIns="18000" bIns="18000" anchor="t">
            <a:spAutoFit/>
          </a:bodyPr>
          <a:lstStyle/>
          <a:p>
            <a:pPr algn="l">
              <a:lnSpc>
                <a:spcPct val="130000"/>
              </a:lnSpc>
            </a:pPr>
            <a:r>
              <a:rPr sz="1300">
                <a:solidFill>
                  <a:srgbClr val="888888"/>
                </a:solidFill>
                <a:latin typeface="メイリオ"/>
                <a:ea typeface="メイリオ"/>
                <a:cs typeface="メイリオ"/>
              </a:rPr>
              <a:t>✕ 商品力・価格競争力</a:t>
            </a:r>
          </a:p>
        </p:txBody>
      </p:sp>
      <p:sp>
        <p:nvSpPr>
          <p:cNvPr id="12" name="TextBox 11"/>
          <p:cNvSpPr txBox="1"/>
          <p:nvPr/>
        </p:nvSpPr>
        <p:spPr>
          <a:xfrm>
            <a:off x="576000" y="2718000"/>
            <a:ext cx="2786688" cy="558000"/>
          </a:xfrm>
          <a:prstGeom prst="rect">
            <a:avLst/>
          </a:prstGeom>
          <a:noFill/>
        </p:spPr>
        <p:txBody>
          <a:bodyPr wrap="square" lIns="50400" rIns="50400" tIns="18000" bIns="18000" anchor="t">
            <a:spAutoFit/>
          </a:bodyPr>
          <a:lstStyle/>
          <a:p>
            <a:pPr algn="l">
              <a:lnSpc>
                <a:spcPct val="130000"/>
              </a:lnSpc>
            </a:pPr>
            <a:r>
              <a:rPr sz="1300">
                <a:solidFill>
                  <a:srgbClr val="888888"/>
                </a:solidFill>
                <a:latin typeface="メイリオ"/>
                <a:ea typeface="メイリオ"/>
                <a:cs typeface="メイリオ"/>
              </a:rPr>
              <a:t>✕ 送料・配送スピード・返品条件（物流）</a:t>
            </a:r>
          </a:p>
        </p:txBody>
      </p:sp>
      <p:sp>
        <p:nvSpPr>
          <p:cNvPr id="13" name="TextBox 12"/>
          <p:cNvSpPr txBox="1"/>
          <p:nvPr/>
        </p:nvSpPr>
        <p:spPr>
          <a:xfrm>
            <a:off x="576000" y="3348000"/>
            <a:ext cx="2786688" cy="558000"/>
          </a:xfrm>
          <a:prstGeom prst="rect">
            <a:avLst/>
          </a:prstGeom>
          <a:noFill/>
        </p:spPr>
        <p:txBody>
          <a:bodyPr wrap="square" lIns="50400" rIns="50400" tIns="18000" bIns="18000" anchor="t">
            <a:spAutoFit/>
          </a:bodyPr>
          <a:lstStyle/>
          <a:p>
            <a:pPr algn="l">
              <a:lnSpc>
                <a:spcPct val="130000"/>
              </a:lnSpc>
            </a:pPr>
            <a:r>
              <a:rPr sz="1300">
                <a:solidFill>
                  <a:srgbClr val="888888"/>
                </a:solidFill>
                <a:latin typeface="メイリオ"/>
                <a:ea typeface="メイリオ"/>
                <a:cs typeface="メイリオ"/>
              </a:rPr>
              <a:t>✕ モール手数料率（言い値）</a:t>
            </a:r>
          </a:p>
        </p:txBody>
      </p:sp>
      <p:sp>
        <p:nvSpPr>
          <p:cNvPr id="14" name="TextBox 13"/>
          <p:cNvSpPr txBox="1"/>
          <p:nvPr/>
        </p:nvSpPr>
        <p:spPr>
          <a:xfrm>
            <a:off x="576000" y="3978000"/>
            <a:ext cx="2786688" cy="558000"/>
          </a:xfrm>
          <a:prstGeom prst="rect">
            <a:avLst/>
          </a:prstGeom>
          <a:noFill/>
        </p:spPr>
        <p:txBody>
          <a:bodyPr wrap="square" lIns="50400" rIns="50400" tIns="18000" bIns="18000" anchor="t">
            <a:spAutoFit/>
          </a:bodyPr>
          <a:lstStyle/>
          <a:p>
            <a:pPr algn="l">
              <a:lnSpc>
                <a:spcPct val="130000"/>
              </a:lnSpc>
            </a:pPr>
            <a:r>
              <a:rPr sz="1300">
                <a:solidFill>
                  <a:srgbClr val="888888"/>
                </a:solidFill>
                <a:latin typeface="メイリオ"/>
                <a:ea typeface="メイリオ"/>
                <a:cs typeface="メイリオ"/>
              </a:rPr>
              <a:t>✕ 在庫・欠品</a:t>
            </a:r>
          </a:p>
        </p:txBody>
      </p:sp>
      <p:sp>
        <p:nvSpPr>
          <p:cNvPr id="15" name="Rounded Rectangle 14"/>
          <p:cNvSpPr/>
          <p:nvPr/>
        </p:nvSpPr>
        <p:spPr>
          <a:xfrm>
            <a:off x="3686688" y="1548000"/>
            <a:ext cx="5788512" cy="3096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30688" y="1673999"/>
            <a:ext cx="5500512" cy="288000"/>
          </a:xfrm>
          <a:prstGeom prst="rect">
            <a:avLst/>
          </a:prstGeom>
          <a:noFill/>
        </p:spPr>
        <p:txBody>
          <a:bodyPr wrap="square" lIns="50400" rIns="50400" tIns="18000" bIns="18000" anchor="ctr">
            <a:spAutoFit/>
          </a:bodyPr>
          <a:lstStyle/>
          <a:p>
            <a:pPr algn="l"/>
            <a:r>
              <a:rPr sz="1600" b="1">
                <a:solidFill>
                  <a:srgbClr val="002060"/>
                </a:solidFill>
                <a:latin typeface="メイリオ"/>
                <a:ea typeface="メイリオ"/>
                <a:cs typeface="メイリオ"/>
              </a:rPr>
              <a:t>できること（＝本提案の範囲）</a:t>
            </a:r>
          </a:p>
        </p:txBody>
      </p:sp>
      <p:sp>
        <p:nvSpPr>
          <p:cNvPr id="17" name="TextBox 16"/>
          <p:cNvSpPr txBox="1"/>
          <p:nvPr/>
        </p:nvSpPr>
        <p:spPr>
          <a:xfrm>
            <a:off x="3830688" y="2070000"/>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1. カゴ落ちを拾う</a:t>
            </a:r>
          </a:p>
        </p:txBody>
      </p:sp>
      <p:sp>
        <p:nvSpPr>
          <p:cNvPr id="18" name="Rounded Rectangle 17"/>
          <p:cNvSpPr/>
          <p:nvPr/>
        </p:nvSpPr>
        <p:spPr>
          <a:xfrm>
            <a:off x="8035200" y="2106000"/>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CPO</a:t>
            </a:r>
          </a:p>
        </p:txBody>
      </p:sp>
      <p:sp>
        <p:nvSpPr>
          <p:cNvPr id="19" name="TextBox 18"/>
          <p:cNvSpPr txBox="1"/>
          <p:nvPr/>
        </p:nvSpPr>
        <p:spPr>
          <a:xfrm>
            <a:off x="3830688" y="2494800"/>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2. メールで届かない人に届ける（当日中に約8割開封）</a:t>
            </a:r>
          </a:p>
        </p:txBody>
      </p:sp>
      <p:sp>
        <p:nvSpPr>
          <p:cNvPr id="20" name="Rounded Rectangle 19"/>
          <p:cNvSpPr/>
          <p:nvPr/>
        </p:nvSpPr>
        <p:spPr>
          <a:xfrm>
            <a:off x="8035200" y="2530800"/>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全段</a:t>
            </a:r>
          </a:p>
        </p:txBody>
      </p:sp>
      <p:sp>
        <p:nvSpPr>
          <p:cNvPr id="21" name="TextBox 20"/>
          <p:cNvSpPr txBox="1"/>
          <p:nvPr/>
        </p:nvSpPr>
        <p:spPr>
          <a:xfrm>
            <a:off x="3830688" y="2919600"/>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3. 初回購入の背中を押す</a:t>
            </a:r>
          </a:p>
        </p:txBody>
      </p:sp>
      <p:sp>
        <p:nvSpPr>
          <p:cNvPr id="22" name="Rounded Rectangle 21"/>
          <p:cNvSpPr/>
          <p:nvPr/>
        </p:nvSpPr>
        <p:spPr>
          <a:xfrm>
            <a:off x="8035200" y="29555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CPO</a:t>
            </a:r>
          </a:p>
        </p:txBody>
      </p:sp>
      <p:sp>
        <p:nvSpPr>
          <p:cNvPr id="23" name="TextBox 22"/>
          <p:cNvSpPr txBox="1"/>
          <p:nvPr/>
        </p:nvSpPr>
        <p:spPr>
          <a:xfrm>
            <a:off x="3830688" y="3344399"/>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4. F2転換を自動化する</a:t>
            </a:r>
          </a:p>
        </p:txBody>
      </p:sp>
      <p:sp>
        <p:nvSpPr>
          <p:cNvPr id="24" name="Rounded Rectangle 23"/>
          <p:cNvSpPr/>
          <p:nvPr/>
        </p:nvSpPr>
        <p:spPr>
          <a:xfrm>
            <a:off x="8035200" y="33803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F2転換率・LTV</a:t>
            </a:r>
          </a:p>
        </p:txBody>
      </p:sp>
      <p:sp>
        <p:nvSpPr>
          <p:cNvPr id="25" name="TextBox 24"/>
          <p:cNvSpPr txBox="1"/>
          <p:nvPr/>
        </p:nvSpPr>
        <p:spPr>
          <a:xfrm>
            <a:off x="3830688" y="3769199"/>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5. 定期の解約を止める／休眠を起こす</a:t>
            </a:r>
          </a:p>
        </p:txBody>
      </p:sp>
      <p:sp>
        <p:nvSpPr>
          <p:cNvPr id="26" name="Rounded Rectangle 25"/>
          <p:cNvSpPr/>
          <p:nvPr/>
        </p:nvSpPr>
        <p:spPr>
          <a:xfrm>
            <a:off x="8035200" y="38051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LTV</a:t>
            </a:r>
          </a:p>
        </p:txBody>
      </p:sp>
      <p:sp>
        <p:nvSpPr>
          <p:cNvPr id="27" name="TextBox 26"/>
          <p:cNvSpPr txBox="1"/>
          <p:nvPr/>
        </p:nvSpPr>
        <p:spPr>
          <a:xfrm>
            <a:off x="3830688" y="4193999"/>
            <a:ext cx="4132512" cy="378000"/>
          </a:xfrm>
          <a:prstGeom prst="rect">
            <a:avLst/>
          </a:prstGeom>
          <a:noFill/>
        </p:spPr>
        <p:txBody>
          <a:bodyPr wrap="square" lIns="50400" rIns="50400" tIns="18000" bIns="18000" anchor="ctr">
            <a:spAutoFit/>
          </a:bodyPr>
          <a:lstStyle/>
          <a:p>
            <a:pPr algn="l">
              <a:lnSpc>
                <a:spcPct val="125000"/>
              </a:lnSpc>
            </a:pPr>
            <a:r>
              <a:rPr sz="1300">
                <a:solidFill>
                  <a:srgbClr val="333333"/>
                </a:solidFill>
                <a:latin typeface="メイリオ"/>
                <a:ea typeface="メイリオ"/>
                <a:cs typeface="メイリオ"/>
              </a:rPr>
              <a:t>6. 1stパーティデータを持つ</a:t>
            </a:r>
          </a:p>
        </p:txBody>
      </p:sp>
      <p:sp>
        <p:nvSpPr>
          <p:cNvPr id="28" name="Rounded Rectangle 27"/>
          <p:cNvSpPr/>
          <p:nvPr/>
        </p:nvSpPr>
        <p:spPr>
          <a:xfrm>
            <a:off x="8035200" y="4229999"/>
            <a:ext cx="1278000" cy="288000"/>
          </a:xfrm>
          <a:prstGeom prst="roundRect">
            <a:avLst/>
          </a:prstGeom>
          <a:solidFill>
            <a:srgbClr val="FFFFFF"/>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100" b="1">
                <a:solidFill>
                  <a:srgbClr val="ED7D31"/>
                </a:solidFill>
                <a:latin typeface="メイリオ"/>
                <a:ea typeface="メイリオ"/>
                <a:cs typeface="メイリオ"/>
              </a:rPr>
              <a:t>翌期のCPO</a:t>
            </a:r>
          </a:p>
        </p:txBody>
      </p:sp>
      <p:sp>
        <p:nvSpPr>
          <p:cNvPr id="29" name="Rounded Rectangle 28"/>
          <p:cNvSpPr/>
          <p:nvPr/>
        </p:nvSpPr>
        <p:spPr>
          <a:xfrm>
            <a:off x="432000" y="480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600" b="1">
                <a:solidFill>
                  <a:srgbClr val="FFFFFF"/>
                </a:solidFill>
                <a:latin typeface="メイリオ"/>
                <a:ea typeface="メイリオ"/>
                <a:cs typeface="メイリオ"/>
              </a:rPr>
              <a:t>触るのは「カゴに入れた後」と「1回目を買った後」の2箇所だけ。広告費も流入もLPも触らない。</a:t>
            </a:r>
          </a:p>
        </p:txBody>
      </p:sp>
      <p:sp>
        <p:nvSpPr>
          <p:cNvPr id="30" name="TextBox 29"/>
          <p:cNvSpPr txBox="1"/>
          <p:nvPr/>
        </p:nvSpPr>
        <p:spPr>
          <a:xfrm>
            <a:off x="432000" y="5328000"/>
            <a:ext cx="9043200" cy="468000"/>
          </a:xfrm>
          <a:prstGeom prst="rect">
            <a:avLst/>
          </a:prstGeom>
          <a:noFill/>
        </p:spPr>
        <p:txBody>
          <a:bodyPr wrap="square" lIns="50400" rIns="50400" tIns="18000" bIns="18000" anchor="ctr">
            <a:spAutoFit/>
          </a:bodyPr>
          <a:lstStyle/>
          <a:p>
            <a:pPr algn="ctr">
              <a:lnSpc>
                <a:spcPct val="135000"/>
              </a:lnSpc>
            </a:pPr>
            <a:r>
              <a:rPr sz="1400">
                <a:solidFill>
                  <a:srgbClr val="333333"/>
                </a:solidFill>
                <a:latin typeface="メイリオ"/>
                <a:ea typeface="メイリオ"/>
                <a:cs typeface="メイリオ"/>
              </a:rPr>
              <a:t>「もっと広告を回しましょう」ではなく、上の6つを自動化して LTV ÷ CPO を上げる提案です。</a:t>
            </a:r>
          </a:p>
        </p:txBody>
      </p:sp>
      <p:sp>
        <p:nvSpPr>
          <p:cNvPr id="31" name="TextBox 30"/>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意見｜DYMの提案スコープ宣言。できないことを先に明示したうえで、範囲を6項目に限定する</a:t>
            </a:r>
          </a:p>
        </p:txBody>
      </p:sp>
    </p:spTree>
    <p:extLst>
      <p:ext uri="{BB962C8B-B14F-4D97-AF65-F5344CB8AC3E}">
        <p14:creationId xmlns:p14="http://schemas.microsoft.com/office/powerpoint/2010/main" val="4224870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F09D0-C3F8-FF51-9B68-5792A11B674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ニーズ調査｜年間商戦カレンダー</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ECの特徴は「11〜12月に山が2つ立て続けに来る」こと。8月は仕込み月。</a:t>
            </a:r>
          </a:p>
          <a:p>
            <a:pPr algn="l">
              <a:lnSpc>
                <a:spcPct val="135000"/>
              </a:lnSpc>
            </a:pPr>
            <a:r>
              <a:rPr sz="1400">
                <a:solidFill>
                  <a:srgbClr val="333333"/>
                </a:solidFill>
                <a:latin typeface="メイリオ"/>
                <a:ea typeface="メイリオ"/>
                <a:cs typeface="メイリオ"/>
              </a:rPr>
              <a:t>企画投稿カレンダー（S25）の設計図になる。</a:t>
            </a: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32000" y="1548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2000" y="1655999"/>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1月</a:t>
            </a:r>
          </a:p>
        </p:txBody>
      </p:sp>
      <p:sp>
        <p:nvSpPr>
          <p:cNvPr id="50" name="TextBox 49"/>
          <p:cNvSpPr txBox="1"/>
          <p:nvPr/>
        </p:nvSpPr>
        <p:spPr>
          <a:xfrm>
            <a:off x="503999"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初売り・福袋</a:t>
            </a:r>
          </a:p>
        </p:txBody>
      </p:sp>
      <p:sp>
        <p:nvSpPr>
          <p:cNvPr id="51" name="Rounded Rectangle 50"/>
          <p:cNvSpPr/>
          <p:nvPr/>
        </p:nvSpPr>
        <p:spPr>
          <a:xfrm>
            <a:off x="1972200" y="1548000"/>
            <a:ext cx="1342200" cy="1080000"/>
          </a:xfrm>
          <a:prstGeom prst="roundRect">
            <a:avLst/>
          </a:prstGeom>
          <a:solidFill>
            <a:srgbClr val="F7F7F7"/>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972200" y="1655999"/>
            <a:ext cx="1342200" cy="306000"/>
          </a:xfrm>
          <a:prstGeom prst="rect">
            <a:avLst/>
          </a:prstGeom>
          <a:noFill/>
        </p:spPr>
        <p:txBody>
          <a:bodyPr wrap="square" lIns="50400" rIns="50400" tIns="18000" bIns="18000" anchor="ctr">
            <a:spAutoFit/>
          </a:bodyPr>
          <a:lstStyle/>
          <a:p>
            <a:pPr algn="ctr"/>
            <a:r>
              <a:rPr sz="1800" b="1">
                <a:solidFill>
                  <a:srgbClr val="888888"/>
                </a:solidFill>
                <a:latin typeface="メイリオ"/>
                <a:ea typeface="メイリオ"/>
                <a:cs typeface="メイリオ"/>
              </a:rPr>
              <a:t>2月</a:t>
            </a:r>
          </a:p>
        </p:txBody>
      </p:sp>
      <p:sp>
        <p:nvSpPr>
          <p:cNvPr id="53" name="TextBox 52"/>
          <p:cNvSpPr txBox="1"/>
          <p:nvPr/>
        </p:nvSpPr>
        <p:spPr>
          <a:xfrm>
            <a:off x="2044200"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バレンタイン</a:t>
            </a:r>
          </a:p>
        </p:txBody>
      </p:sp>
      <p:sp>
        <p:nvSpPr>
          <p:cNvPr id="54" name="Rounded Rectangle 53"/>
          <p:cNvSpPr/>
          <p:nvPr/>
        </p:nvSpPr>
        <p:spPr>
          <a:xfrm>
            <a:off x="3512399" y="1548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512399" y="1655999"/>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3月</a:t>
            </a:r>
          </a:p>
        </p:txBody>
      </p:sp>
      <p:sp>
        <p:nvSpPr>
          <p:cNvPr id="56" name="TextBox 55"/>
          <p:cNvSpPr txBox="1"/>
          <p:nvPr/>
        </p:nvSpPr>
        <p:spPr>
          <a:xfrm>
            <a:off x="3584399"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楽天SS／新生活</a:t>
            </a:r>
          </a:p>
        </p:txBody>
      </p:sp>
      <p:sp>
        <p:nvSpPr>
          <p:cNvPr id="57" name="Rounded Rectangle 56"/>
          <p:cNvSpPr/>
          <p:nvPr/>
        </p:nvSpPr>
        <p:spPr>
          <a:xfrm>
            <a:off x="5052600" y="1548000"/>
            <a:ext cx="1342200" cy="1080000"/>
          </a:xfrm>
          <a:prstGeom prst="roundRect">
            <a:avLst/>
          </a:prstGeom>
          <a:solidFill>
            <a:srgbClr val="F7F7F7"/>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052600" y="1655999"/>
            <a:ext cx="1342200" cy="306000"/>
          </a:xfrm>
          <a:prstGeom prst="rect">
            <a:avLst/>
          </a:prstGeom>
          <a:noFill/>
        </p:spPr>
        <p:txBody>
          <a:bodyPr wrap="square" lIns="50400" rIns="50400" tIns="18000" bIns="18000" anchor="ctr">
            <a:spAutoFit/>
          </a:bodyPr>
          <a:lstStyle/>
          <a:p>
            <a:pPr algn="ctr"/>
            <a:r>
              <a:rPr sz="1800" b="1">
                <a:solidFill>
                  <a:srgbClr val="888888"/>
                </a:solidFill>
                <a:latin typeface="メイリオ"/>
                <a:ea typeface="メイリオ"/>
                <a:cs typeface="メイリオ"/>
              </a:rPr>
              <a:t>4月</a:t>
            </a:r>
          </a:p>
        </p:txBody>
      </p:sp>
      <p:sp>
        <p:nvSpPr>
          <p:cNvPr id="59" name="TextBox 58"/>
          <p:cNvSpPr txBox="1"/>
          <p:nvPr/>
        </p:nvSpPr>
        <p:spPr>
          <a:xfrm>
            <a:off x="5124600"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新生活後半</a:t>
            </a:r>
          </a:p>
        </p:txBody>
      </p:sp>
      <p:sp>
        <p:nvSpPr>
          <p:cNvPr id="60" name="Rounded Rectangle 59"/>
          <p:cNvSpPr/>
          <p:nvPr/>
        </p:nvSpPr>
        <p:spPr>
          <a:xfrm>
            <a:off x="6592800" y="1548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92800" y="1655999"/>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5月</a:t>
            </a:r>
          </a:p>
        </p:txBody>
      </p:sp>
      <p:sp>
        <p:nvSpPr>
          <p:cNvPr id="62" name="TextBox 61"/>
          <p:cNvSpPr txBox="1"/>
          <p:nvPr/>
        </p:nvSpPr>
        <p:spPr>
          <a:xfrm>
            <a:off x="6664799"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母の日／マラソン</a:t>
            </a:r>
          </a:p>
        </p:txBody>
      </p:sp>
      <p:sp>
        <p:nvSpPr>
          <p:cNvPr id="63" name="Rounded Rectangle 62"/>
          <p:cNvSpPr/>
          <p:nvPr/>
        </p:nvSpPr>
        <p:spPr>
          <a:xfrm>
            <a:off x="8132999" y="1548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132999" y="1655999"/>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6月</a:t>
            </a:r>
          </a:p>
        </p:txBody>
      </p:sp>
      <p:sp>
        <p:nvSpPr>
          <p:cNvPr id="65" name="TextBox 64"/>
          <p:cNvSpPr txBox="1"/>
          <p:nvPr/>
        </p:nvSpPr>
        <p:spPr>
          <a:xfrm>
            <a:off x="8204999" y="1998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楽天SS／父の日／お中元</a:t>
            </a:r>
          </a:p>
        </p:txBody>
      </p:sp>
      <p:sp>
        <p:nvSpPr>
          <p:cNvPr id="66" name="Rounded Rectangle 65"/>
          <p:cNvSpPr/>
          <p:nvPr/>
        </p:nvSpPr>
        <p:spPr>
          <a:xfrm>
            <a:off x="432000" y="2826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32000" y="2934000"/>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7月</a:t>
            </a:r>
          </a:p>
        </p:txBody>
      </p:sp>
      <p:sp>
        <p:nvSpPr>
          <p:cNvPr id="68" name="TextBox 67"/>
          <p:cNvSpPr txBox="1"/>
          <p:nvPr/>
        </p:nvSpPr>
        <p:spPr>
          <a:xfrm>
            <a:off x="503999"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Amazonプライムデー</a:t>
            </a:r>
          </a:p>
        </p:txBody>
      </p:sp>
      <p:sp>
        <p:nvSpPr>
          <p:cNvPr id="69" name="Rounded Rectangle 68"/>
          <p:cNvSpPr/>
          <p:nvPr/>
        </p:nvSpPr>
        <p:spPr>
          <a:xfrm>
            <a:off x="1972200" y="2826000"/>
            <a:ext cx="1342200" cy="1080000"/>
          </a:xfrm>
          <a:prstGeom prst="roundRect">
            <a:avLst/>
          </a:prstGeom>
          <a:solidFill>
            <a:srgbClr val="F7F7F7"/>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972200" y="2934000"/>
            <a:ext cx="1342200" cy="306000"/>
          </a:xfrm>
          <a:prstGeom prst="rect">
            <a:avLst/>
          </a:prstGeom>
          <a:noFill/>
        </p:spPr>
        <p:txBody>
          <a:bodyPr wrap="square" lIns="50400" rIns="50400" tIns="18000" bIns="18000" anchor="ctr">
            <a:spAutoFit/>
          </a:bodyPr>
          <a:lstStyle/>
          <a:p>
            <a:pPr algn="ctr"/>
            <a:r>
              <a:rPr sz="1800" b="1">
                <a:solidFill>
                  <a:srgbClr val="888888"/>
                </a:solidFill>
                <a:latin typeface="メイリオ"/>
                <a:ea typeface="メイリオ"/>
                <a:cs typeface="メイリオ"/>
              </a:rPr>
              <a:t>8月</a:t>
            </a:r>
          </a:p>
        </p:txBody>
      </p:sp>
      <p:sp>
        <p:nvSpPr>
          <p:cNvPr id="71" name="TextBox 70"/>
          <p:cNvSpPr txBox="1"/>
          <p:nvPr/>
        </p:nvSpPr>
        <p:spPr>
          <a:xfrm>
            <a:off x="2044200"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夏枯れ（秋商戦の仕込み）</a:t>
            </a:r>
          </a:p>
        </p:txBody>
      </p:sp>
      <p:sp>
        <p:nvSpPr>
          <p:cNvPr id="72" name="Rounded Rectangle 71"/>
          <p:cNvSpPr/>
          <p:nvPr/>
        </p:nvSpPr>
        <p:spPr>
          <a:xfrm>
            <a:off x="3512399" y="2826000"/>
            <a:ext cx="1342200" cy="1080000"/>
          </a:xfrm>
          <a:prstGeom prst="roundRect">
            <a:avLst/>
          </a:prstGeom>
          <a:solidFill>
            <a:srgbClr val="F7F7F7"/>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512399" y="2934000"/>
            <a:ext cx="1342200" cy="306000"/>
          </a:xfrm>
          <a:prstGeom prst="rect">
            <a:avLst/>
          </a:prstGeom>
          <a:noFill/>
        </p:spPr>
        <p:txBody>
          <a:bodyPr wrap="square" lIns="50400" rIns="50400" tIns="18000" bIns="18000" anchor="ctr">
            <a:spAutoFit/>
          </a:bodyPr>
          <a:lstStyle/>
          <a:p>
            <a:pPr algn="ctr"/>
            <a:r>
              <a:rPr sz="1800" b="1">
                <a:solidFill>
                  <a:srgbClr val="888888"/>
                </a:solidFill>
                <a:latin typeface="メイリオ"/>
                <a:ea typeface="メイリオ"/>
                <a:cs typeface="メイリオ"/>
              </a:rPr>
              <a:t>9月</a:t>
            </a:r>
          </a:p>
        </p:txBody>
      </p:sp>
      <p:sp>
        <p:nvSpPr>
          <p:cNvPr id="74" name="TextBox 73"/>
          <p:cNvSpPr txBox="1"/>
          <p:nvPr/>
        </p:nvSpPr>
        <p:spPr>
          <a:xfrm>
            <a:off x="3584399"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楽天SS</a:t>
            </a:r>
          </a:p>
        </p:txBody>
      </p:sp>
      <p:sp>
        <p:nvSpPr>
          <p:cNvPr id="75" name="Rounded Rectangle 74"/>
          <p:cNvSpPr/>
          <p:nvPr/>
        </p:nvSpPr>
        <p:spPr>
          <a:xfrm>
            <a:off x="5052600" y="2826000"/>
            <a:ext cx="1342200" cy="1080000"/>
          </a:xfrm>
          <a:prstGeom prst="roundRect">
            <a:avLst/>
          </a:prstGeom>
          <a:solidFill>
            <a:srgbClr val="F7F7F7"/>
          </a:solidFill>
          <a:ln w="12700">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5052600" y="2934000"/>
            <a:ext cx="1342200" cy="306000"/>
          </a:xfrm>
          <a:prstGeom prst="rect">
            <a:avLst/>
          </a:prstGeom>
          <a:noFill/>
        </p:spPr>
        <p:txBody>
          <a:bodyPr wrap="square" lIns="50400" rIns="50400" tIns="18000" bIns="18000" anchor="ctr">
            <a:spAutoFit/>
          </a:bodyPr>
          <a:lstStyle/>
          <a:p>
            <a:pPr algn="ctr"/>
            <a:r>
              <a:rPr sz="1800" b="1">
                <a:solidFill>
                  <a:srgbClr val="888888"/>
                </a:solidFill>
                <a:latin typeface="メイリオ"/>
                <a:ea typeface="メイリオ"/>
                <a:cs typeface="メイリオ"/>
              </a:rPr>
              <a:t>10月</a:t>
            </a:r>
          </a:p>
        </p:txBody>
      </p:sp>
      <p:sp>
        <p:nvSpPr>
          <p:cNvPr id="77" name="TextBox 76"/>
          <p:cNvSpPr txBox="1"/>
          <p:nvPr/>
        </p:nvSpPr>
        <p:spPr>
          <a:xfrm>
            <a:off x="5124600"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ハロウィン</a:t>
            </a:r>
          </a:p>
        </p:txBody>
      </p:sp>
      <p:sp>
        <p:nvSpPr>
          <p:cNvPr id="78" name="Rounded Rectangle 77"/>
          <p:cNvSpPr/>
          <p:nvPr/>
        </p:nvSpPr>
        <p:spPr>
          <a:xfrm>
            <a:off x="6592800" y="2826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6592800" y="2934000"/>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11月</a:t>
            </a:r>
          </a:p>
        </p:txBody>
      </p:sp>
      <p:sp>
        <p:nvSpPr>
          <p:cNvPr id="80" name="TextBox 79"/>
          <p:cNvSpPr txBox="1"/>
          <p:nvPr/>
        </p:nvSpPr>
        <p:spPr>
          <a:xfrm>
            <a:off x="6664799"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ブラックフライデー</a:t>
            </a:r>
          </a:p>
        </p:txBody>
      </p:sp>
      <p:sp>
        <p:nvSpPr>
          <p:cNvPr id="81" name="Rounded Rectangle 80"/>
          <p:cNvSpPr/>
          <p:nvPr/>
        </p:nvSpPr>
        <p:spPr>
          <a:xfrm>
            <a:off x="8132999" y="2826000"/>
            <a:ext cx="1342200" cy="1080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8132999" y="2934000"/>
            <a:ext cx="1342200" cy="306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12月</a:t>
            </a:r>
          </a:p>
        </p:txBody>
      </p:sp>
      <p:sp>
        <p:nvSpPr>
          <p:cNvPr id="83" name="TextBox 82"/>
          <p:cNvSpPr txBox="1"/>
          <p:nvPr/>
        </p:nvSpPr>
        <p:spPr>
          <a:xfrm>
            <a:off x="8204999" y="3276000"/>
            <a:ext cx="1198200" cy="558000"/>
          </a:xfrm>
          <a:prstGeom prst="rect">
            <a:avLst/>
          </a:prstGeom>
          <a:noFill/>
        </p:spPr>
        <p:txBody>
          <a:bodyPr wrap="square" lIns="50400" rIns="50400" tIns="18000" bIns="18000" anchor="t">
            <a:spAutoFit/>
          </a:bodyPr>
          <a:lstStyle/>
          <a:p>
            <a:pPr algn="ctr">
              <a:lnSpc>
                <a:spcPct val="130000"/>
              </a:lnSpc>
            </a:pPr>
            <a:r>
              <a:rPr sz="1200">
                <a:solidFill>
                  <a:srgbClr val="333333"/>
                </a:solidFill>
                <a:latin typeface="メイリオ"/>
                <a:ea typeface="メイリオ"/>
                <a:cs typeface="メイリオ"/>
              </a:rPr>
              <a:t>楽天大感謝祭／年末</a:t>
            </a:r>
          </a:p>
        </p:txBody>
      </p:sp>
      <p:sp>
        <p:nvSpPr>
          <p:cNvPr id="84" name="Rounded Rectangle 83"/>
          <p:cNvSpPr/>
          <p:nvPr/>
        </p:nvSpPr>
        <p:spPr>
          <a:xfrm>
            <a:off x="432000" y="4266000"/>
            <a:ext cx="9043200" cy="413999"/>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800" b="1">
                <a:solidFill>
                  <a:srgbClr val="FFFFFF"/>
                </a:solidFill>
                <a:latin typeface="メイリオ"/>
                <a:ea typeface="メイリオ"/>
                <a:cs typeface="メイリオ"/>
              </a:rPr>
              <a:t>11月ブラックフライデー ＋ 12月大感謝祭 ＝ 年間最大の山が2つ続く</a:t>
            </a:r>
          </a:p>
        </p:txBody>
      </p:sp>
      <p:sp>
        <p:nvSpPr>
          <p:cNvPr id="85" name="TextBox 84"/>
          <p:cNvSpPr txBox="1"/>
          <p:nvPr/>
        </p:nvSpPr>
        <p:spPr>
          <a:xfrm>
            <a:off x="432000" y="4788000"/>
            <a:ext cx="9043200" cy="864000"/>
          </a:xfrm>
          <a:prstGeom prst="rect">
            <a:avLst/>
          </a:prstGeom>
          <a:noFill/>
        </p:spPr>
        <p:txBody>
          <a:bodyPr wrap="square" lIns="50400" rIns="50400" tIns="18000" bIns="18000" anchor="t">
            <a:spAutoFit/>
          </a:bodyPr>
          <a:lstStyle/>
          <a:p>
            <a:pPr algn="l">
              <a:lnSpc>
                <a:spcPct val="140000"/>
              </a:lnSpc>
            </a:pPr>
            <a:r>
              <a:rPr sz="1400">
                <a:solidFill>
                  <a:srgbClr val="333333"/>
                </a:solidFill>
                <a:latin typeface="メイリオ"/>
                <a:ea typeface="メイリオ"/>
                <a:cs typeface="メイリオ"/>
              </a:rPr>
              <a:t>● 8月は「夏枯れ」ではなく秋商戦の仕込み月。ここでリストを作っておくと11〜12月の山で刈れる。</a:t>
            </a:r>
          </a:p>
          <a:p>
            <a:pPr algn="l">
              <a:lnSpc>
                <a:spcPct val="140000"/>
              </a:lnSpc>
            </a:pPr>
            <a:r>
              <a:rPr sz="1400">
                <a:solidFill>
                  <a:srgbClr val="333333"/>
                </a:solidFill>
                <a:latin typeface="メイリオ"/>
                <a:ea typeface="メイリオ"/>
                <a:cs typeface="メイリオ"/>
              </a:rPr>
              <a:t>● 常設：楽天お買い物マラソン（毎月）／5と0のつく日／Amazonタイムセール祭り</a:t>
            </a:r>
          </a:p>
        </p:txBody>
      </p:sp>
      <p:sp>
        <p:nvSpPr>
          <p:cNvPr id="86" name="TextBox 85"/>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業界水準｜主要ECモールの年間商戦。★Googleトレンド（福袋／ブラックフライデー／セール／母の日）は未取得</a:t>
            </a:r>
          </a:p>
        </p:txBody>
      </p:sp>
    </p:spTree>
    <p:extLst>
      <p:ext uri="{BB962C8B-B14F-4D97-AF65-F5344CB8AC3E}">
        <p14:creationId xmlns:p14="http://schemas.microsoft.com/office/powerpoint/2010/main" val="17728060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1590B-7660-E16F-AF1F-C1B09199CC7C}"/>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E14AE26-F8C1-7865-A740-4BAA994EBC3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C793F7A-4100-45A7-A3E8-6393EB275D31}"/>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endParaRPr lang="en-US" altLang="ja-JP" sz="1400" dirty="0">
              <a:solidFill>
                <a:srgbClr val="343434"/>
              </a:solidFill>
              <a:latin typeface="メイリオ" panose="020B0604030504040204" pitchFamily="50" charset="-128"/>
              <a:ea typeface="メイリオ" panose="020B0604030504040204" pitchFamily="50" charset="-128"/>
            </a:endParaRPr>
          </a:p>
        </p:txBody>
      </p:sp>
      <p:sp>
        <p:nvSpPr>
          <p:cNvPr id="45" name="Google Shape;156;p7">
            <a:extLst>
              <a:ext uri="{FF2B5EF4-FFF2-40B4-BE49-F238E27FC236}">
                <a16:creationId xmlns:a16="http://schemas.microsoft.com/office/drawing/2014/main" id="{87C5AF52-0BA5-9D3C-0D00-E524B190A511}"/>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Meiryo"/>
                <a:ea typeface="Meiryo"/>
                <a:cs typeface="Meiryo"/>
                <a:sym typeface="Meiryo"/>
              </a:rPr>
              <a:t>歩留まり｜F2転換率の改善（★本資料の山）</a:t>
            </a:r>
            <a:endParaRPr sz="1600" b="1" dirty="0">
              <a:solidFill>
                <a:srgbClr val="002060"/>
              </a:solidFill>
              <a:latin typeface="Meiryo"/>
              <a:ea typeface="Meiryo"/>
              <a:cs typeface="Meiryo"/>
              <a:sym typeface="Meiryo"/>
            </a:endParaRPr>
          </a:p>
        </p:txBody>
      </p:sp>
      <p:sp>
        <p:nvSpPr>
          <p:cNvPr id="46" name="TextBox 4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初回購入者の6〜7割は2回目を買わない。ここを動かすのがEC最大のレバー。</a:t>
            </a:r>
          </a:p>
          <a:p>
            <a:pPr algn="l">
              <a:lnSpc>
                <a:spcPct val="135000"/>
              </a:lnSpc>
            </a:pPr>
            <a:r>
              <a:rPr sz="1400">
                <a:solidFill>
                  <a:srgbClr val="333333"/>
                </a:solidFill>
                <a:latin typeface="メイリオ"/>
                <a:ea typeface="メイリオ"/>
                <a:cs typeface="メイリオ"/>
              </a:rPr>
              <a:t>ECの主戦場は「初回購入」ではなく「F2（2回目購入）」にある。</a:t>
            </a:r>
          </a:p>
        </p:txBody>
      </p:sp>
      <p:cxnSp>
        <p:nvCxnSpPr>
          <p:cNvPr id="47" name="Connector 46"/>
          <p:cNvCxnSpPr/>
          <p:nvPr/>
        </p:nvCxnSpPr>
        <p:spPr>
          <a:xfrm>
            <a:off x="0" y="1389600"/>
            <a:ext cx="9907200" cy="0"/>
          </a:xfrm>
          <a:prstGeom prst="line">
            <a:avLst/>
          </a:prstGeom>
          <a:ln w="12700">
            <a:solidFill>
              <a:srgbClr val="D9D9D9"/>
            </a:solidFill>
          </a:ln>
        </p:spPr>
        <p:style>
          <a:lnRef idx="2">
            <a:schemeClr val="accent1"/>
          </a:lnRef>
          <a:fillRef idx="0">
            <a:schemeClr val="accent1"/>
          </a:fillRef>
          <a:effectRef idx="1">
            <a:schemeClr val="accent1"/>
          </a:effectRef>
          <a:fontRef idx="minor">
            <a:schemeClr val="tx1"/>
          </a:fontRef>
        </p:style>
      </p:cxnSp>
      <p:sp>
        <p:nvSpPr>
          <p:cNvPr id="48" name="Rounded Rectangle 47"/>
          <p:cNvSpPr/>
          <p:nvPr/>
        </p:nvSpPr>
        <p:spPr>
          <a:xfrm>
            <a:off x="432000" y="1548000"/>
            <a:ext cx="9043200" cy="1116000"/>
          </a:xfrm>
          <a:prstGeom prst="roundRect">
            <a:avLst/>
          </a:prstGeom>
          <a:solidFill>
            <a:srgbClr val="FDF1E9"/>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12000" y="1710000"/>
            <a:ext cx="8683200" cy="468000"/>
          </a:xfrm>
          <a:prstGeom prst="rect">
            <a:avLst/>
          </a:prstGeom>
          <a:noFill/>
        </p:spPr>
        <p:txBody>
          <a:bodyPr wrap="square" lIns="50400" rIns="50400" tIns="18000" bIns="18000" anchor="ctr">
            <a:spAutoFit/>
          </a:bodyPr>
          <a:lstStyle/>
          <a:p>
            <a:pPr algn="ctr"/>
            <a:r>
              <a:rPr sz="1800" b="1">
                <a:solidFill>
                  <a:srgbClr val="ED7D31"/>
                </a:solidFill>
                <a:latin typeface="メイリオ"/>
                <a:ea typeface="メイリオ"/>
                <a:cs typeface="メイリオ"/>
              </a:rPr>
              <a:t>F2転換率　</a:t>
            </a:r>
            <a:r>
              <a:rPr sz="3400" b="1">
                <a:solidFill>
                  <a:srgbClr val="ED7D31"/>
                </a:solidFill>
                <a:latin typeface="メイリオ"/>
                <a:ea typeface="メイリオ"/>
                <a:cs typeface="メイリオ"/>
              </a:rPr>
              <a:t>30〜40</a:t>
            </a:r>
            <a:r>
              <a:rPr sz="2000" b="1">
                <a:solidFill>
                  <a:srgbClr val="ED7D31"/>
                </a:solidFill>
                <a:latin typeface="メイリオ"/>
                <a:ea typeface="メイリオ"/>
                <a:cs typeface="メイリオ"/>
              </a:rPr>
              <a:t> %</a:t>
            </a:r>
          </a:p>
        </p:txBody>
      </p:sp>
      <p:sp>
        <p:nvSpPr>
          <p:cNvPr id="50" name="TextBox 49"/>
          <p:cNvSpPr txBox="1"/>
          <p:nvPr/>
        </p:nvSpPr>
        <p:spPr>
          <a:xfrm>
            <a:off x="612000" y="2250000"/>
            <a:ext cx="8683200" cy="324000"/>
          </a:xfrm>
          <a:prstGeom prst="rect">
            <a:avLst/>
          </a:prstGeom>
          <a:noFill/>
        </p:spPr>
        <p:txBody>
          <a:bodyPr wrap="square" lIns="50400" rIns="50400" tIns="18000" bIns="18000" anchor="ctr">
            <a:spAutoFit/>
          </a:bodyPr>
          <a:lstStyle/>
          <a:p>
            <a:pPr algn="ctr"/>
            <a:r>
              <a:rPr sz="1600" b="1">
                <a:solidFill>
                  <a:srgbClr val="002060"/>
                </a:solidFill>
                <a:latin typeface="メイリオ"/>
                <a:ea typeface="メイリオ"/>
                <a:cs typeface="メイリオ"/>
              </a:rPr>
              <a:t>＝ 初回購入者の6〜7割は、2回目を買わない</a:t>
            </a:r>
          </a:p>
        </p:txBody>
      </p:sp>
      <p:sp>
        <p:nvSpPr>
          <p:cNvPr id="51" name="TextBox 50"/>
          <p:cNvSpPr txBox="1"/>
          <p:nvPr/>
        </p:nvSpPr>
        <p:spPr>
          <a:xfrm>
            <a:off x="432000" y="2826000"/>
            <a:ext cx="9043200" cy="288000"/>
          </a:xfrm>
          <a:prstGeom prst="rect">
            <a:avLst/>
          </a:prstGeom>
          <a:noFill/>
        </p:spPr>
        <p:txBody>
          <a:bodyPr wrap="square" lIns="50400" rIns="50400" tIns="18000" bIns="18000" anchor="ctr">
            <a:spAutoFit/>
          </a:bodyPr>
          <a:lstStyle/>
          <a:p>
            <a:pPr algn="l"/>
            <a:r>
              <a:rPr sz="1400" b="1">
                <a:solidFill>
                  <a:srgbClr val="002060"/>
                </a:solidFill>
                <a:latin typeface="メイリオ"/>
                <a:ea typeface="メイリオ"/>
                <a:cs typeface="メイリオ"/>
              </a:rPr>
              <a:t>── F2を動かす3つの施策</a:t>
            </a:r>
          </a:p>
        </p:txBody>
      </p:sp>
      <p:sp>
        <p:nvSpPr>
          <p:cNvPr id="52" name="Rounded Rectangle 51"/>
          <p:cNvSpPr/>
          <p:nvPr/>
        </p:nvSpPr>
        <p:spPr>
          <a:xfrm>
            <a:off x="432000" y="3150000"/>
            <a:ext cx="2942400" cy="1908000"/>
          </a:xfrm>
          <a:prstGeom prst="roundRect">
            <a:avLst/>
          </a:prstGeom>
          <a:solidFill>
            <a:srgbClr val="FFFFFF"/>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22000" y="3258000"/>
            <a:ext cx="2762400" cy="324000"/>
          </a:xfrm>
          <a:prstGeom prst="rect">
            <a:avLst/>
          </a:prstGeom>
          <a:noFill/>
        </p:spPr>
        <p:txBody>
          <a:bodyPr wrap="square" lIns="50400" rIns="50400" tIns="18000" bIns="18000" anchor="ctr">
            <a:spAutoFit/>
          </a:bodyPr>
          <a:lstStyle/>
          <a:p>
            <a:pPr algn="ctr">
              <a:lnSpc>
                <a:spcPct val="120000"/>
              </a:lnSpc>
            </a:pPr>
            <a:r>
              <a:rPr sz="1500" b="1">
                <a:solidFill>
                  <a:srgbClr val="ED7D31"/>
                </a:solidFill>
                <a:latin typeface="メイリオ"/>
                <a:ea typeface="メイリオ"/>
                <a:cs typeface="メイリオ"/>
              </a:rPr>
              <a:t>消費サイクル連動の配信</a:t>
            </a:r>
          </a:p>
        </p:txBody>
      </p:sp>
      <p:sp>
        <p:nvSpPr>
          <p:cNvPr id="54" name="TextBox 53"/>
          <p:cNvSpPr txBox="1"/>
          <p:nvPr/>
        </p:nvSpPr>
        <p:spPr>
          <a:xfrm>
            <a:off x="540000" y="3671999"/>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「そろそろ無くなる頃」を</a:t>
            </a:r>
          </a:p>
          <a:p>
            <a:pPr algn="ctr">
              <a:lnSpc>
                <a:spcPct val="135000"/>
              </a:lnSpc>
            </a:pPr>
            <a:r>
              <a:rPr sz="1300">
                <a:solidFill>
                  <a:srgbClr val="333333"/>
                </a:solidFill>
                <a:latin typeface="メイリオ"/>
                <a:ea typeface="メイリオ"/>
                <a:cs typeface="メイリオ"/>
              </a:rPr>
              <a:t>内容量 ÷ 1日使用量 で逆算して配信</a:t>
            </a:r>
          </a:p>
        </p:txBody>
      </p:sp>
      <p:sp>
        <p:nvSpPr>
          <p:cNvPr id="55" name="Rounded Rectangle 54"/>
          <p:cNvSpPr/>
          <p:nvPr/>
        </p:nvSpPr>
        <p:spPr>
          <a:xfrm>
            <a:off x="5400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94000" y="4553999"/>
            <a:ext cx="2618400" cy="342000"/>
          </a:xfrm>
          <a:prstGeom prst="rect">
            <a:avLst/>
          </a:prstGeom>
          <a:noFill/>
        </p:spPr>
        <p:txBody>
          <a:bodyPr wrap="square" lIns="50400" rIns="50400" tIns="18000" bIns="18000" anchor="ctr">
            <a:spAutoFit/>
          </a:bodyPr>
          <a:lstStyle/>
          <a:p>
            <a:pPr algn="ctr">
              <a:lnSpc>
                <a:spcPct val="125000"/>
              </a:lnSpc>
            </a:pPr>
            <a:r>
              <a:rPr sz="1100">
                <a:solidFill>
                  <a:srgbClr val="333333"/>
                </a:solidFill>
                <a:latin typeface="メイリオ"/>
                <a:ea typeface="メイリオ"/>
                <a:cs typeface="メイリオ"/>
              </a:rPr>
              <a:t>最大の山。日数を固定にしない</a:t>
            </a:r>
          </a:p>
        </p:txBody>
      </p:sp>
      <p:sp>
        <p:nvSpPr>
          <p:cNvPr id="57" name="Rounded Rectangle 56"/>
          <p:cNvSpPr/>
          <p:nvPr/>
        </p:nvSpPr>
        <p:spPr>
          <a:xfrm>
            <a:off x="3482400" y="3150000"/>
            <a:ext cx="2942400" cy="1908000"/>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572400" y="3258000"/>
            <a:ext cx="2762400" cy="324000"/>
          </a:xfrm>
          <a:prstGeom prst="rect">
            <a:avLst/>
          </a:prstGeom>
          <a:noFill/>
        </p:spPr>
        <p:txBody>
          <a:bodyPr wrap="square" lIns="50400" rIns="50400" tIns="18000" bIns="18000" anchor="ctr">
            <a:spAutoFit/>
          </a:bodyPr>
          <a:lstStyle/>
          <a:p>
            <a:pPr algn="ctr">
              <a:lnSpc>
                <a:spcPct val="120000"/>
              </a:lnSpc>
            </a:pPr>
            <a:r>
              <a:rPr sz="1500" b="1">
                <a:solidFill>
                  <a:srgbClr val="1F285A"/>
                </a:solidFill>
                <a:latin typeface="メイリオ"/>
                <a:ea typeface="メイリオ"/>
                <a:cs typeface="メイリオ"/>
              </a:rPr>
              <a:t>定期引上</a:t>
            </a:r>
          </a:p>
        </p:txBody>
      </p:sp>
      <p:sp>
        <p:nvSpPr>
          <p:cNvPr id="59" name="TextBox 58"/>
          <p:cNvSpPr txBox="1"/>
          <p:nvPr/>
        </p:nvSpPr>
        <p:spPr>
          <a:xfrm>
            <a:off x="3590400" y="3671999"/>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初回お試し → 定期購入への</a:t>
            </a:r>
          </a:p>
          <a:p>
            <a:pPr algn="ctr">
              <a:lnSpc>
                <a:spcPct val="135000"/>
              </a:lnSpc>
            </a:pPr>
            <a:r>
              <a:rPr sz="1300">
                <a:solidFill>
                  <a:srgbClr val="333333"/>
                </a:solidFill>
                <a:latin typeface="メイリオ"/>
                <a:ea typeface="メイリオ"/>
                <a:cs typeface="メイリオ"/>
              </a:rPr>
              <a:t>引き上げ導線を設計</a:t>
            </a:r>
          </a:p>
        </p:txBody>
      </p:sp>
      <p:sp>
        <p:nvSpPr>
          <p:cNvPr id="60" name="Rounded Rectangle 59"/>
          <p:cNvSpPr/>
          <p:nvPr/>
        </p:nvSpPr>
        <p:spPr>
          <a:xfrm>
            <a:off x="35904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44400" y="4553999"/>
            <a:ext cx="2618400" cy="342000"/>
          </a:xfrm>
          <a:prstGeom prst="rect">
            <a:avLst/>
          </a:prstGeom>
          <a:noFill/>
        </p:spPr>
        <p:txBody>
          <a:bodyPr wrap="square" lIns="50400" rIns="50400" tIns="18000" bIns="18000" anchor="ctr">
            <a:spAutoFit/>
          </a:bodyPr>
          <a:lstStyle/>
          <a:p>
            <a:pPr algn="ctr">
              <a:lnSpc>
                <a:spcPct val="125000"/>
              </a:lnSpc>
            </a:pPr>
            <a:r>
              <a:rPr sz="1100">
                <a:solidFill>
                  <a:srgbClr val="333333"/>
                </a:solidFill>
                <a:latin typeface="メイリオ"/>
                <a:ea typeface="メイリオ"/>
                <a:cs typeface="メイリオ"/>
              </a:rPr>
              <a:t>業界水準の引上率は約20%</a:t>
            </a:r>
          </a:p>
        </p:txBody>
      </p:sp>
      <p:sp>
        <p:nvSpPr>
          <p:cNvPr id="62" name="Rounded Rectangle 61"/>
          <p:cNvSpPr/>
          <p:nvPr/>
        </p:nvSpPr>
        <p:spPr>
          <a:xfrm>
            <a:off x="6532800" y="3150000"/>
            <a:ext cx="2942400" cy="1908000"/>
          </a:xfrm>
          <a:prstGeom prst="roundRect">
            <a:avLst/>
          </a:prstGeom>
          <a:solidFill>
            <a:srgbClr val="FFFFFF"/>
          </a:solidFill>
          <a:ln w="15875">
            <a:solidFill>
              <a:srgbClr val="8888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22800" y="3258000"/>
            <a:ext cx="2762400" cy="324000"/>
          </a:xfrm>
          <a:prstGeom prst="rect">
            <a:avLst/>
          </a:prstGeom>
          <a:noFill/>
        </p:spPr>
        <p:txBody>
          <a:bodyPr wrap="square" lIns="50400" rIns="50400" tIns="18000" bIns="18000" anchor="ctr">
            <a:spAutoFit/>
          </a:bodyPr>
          <a:lstStyle/>
          <a:p>
            <a:pPr algn="ctr">
              <a:lnSpc>
                <a:spcPct val="120000"/>
              </a:lnSpc>
            </a:pPr>
            <a:r>
              <a:rPr sz="1500" b="1">
                <a:solidFill>
                  <a:srgbClr val="888888"/>
                </a:solidFill>
                <a:latin typeface="メイリオ"/>
                <a:ea typeface="メイリオ"/>
                <a:cs typeface="メイリオ"/>
              </a:rPr>
              <a:t>休眠掘り起こし</a:t>
            </a:r>
          </a:p>
        </p:txBody>
      </p:sp>
      <p:sp>
        <p:nvSpPr>
          <p:cNvPr id="64" name="TextBox 63"/>
          <p:cNvSpPr txBox="1"/>
          <p:nvPr/>
        </p:nvSpPr>
        <p:spPr>
          <a:xfrm>
            <a:off x="6640800" y="3671999"/>
            <a:ext cx="2726400" cy="720000"/>
          </a:xfrm>
          <a:prstGeom prst="rect">
            <a:avLst/>
          </a:prstGeom>
          <a:noFill/>
        </p:spPr>
        <p:txBody>
          <a:bodyPr wrap="square" lIns="50400" rIns="50400" tIns="18000" bIns="18000" anchor="t">
            <a:spAutoFit/>
          </a:bodyPr>
          <a:lstStyle/>
          <a:p>
            <a:pPr algn="ctr">
              <a:lnSpc>
                <a:spcPct val="135000"/>
              </a:lnSpc>
            </a:pPr>
            <a:r>
              <a:rPr sz="1300">
                <a:solidFill>
                  <a:srgbClr val="333333"/>
                </a:solidFill>
                <a:latin typeface="メイリオ"/>
                <a:ea typeface="メイリオ"/>
                <a:cs typeface="メイリオ"/>
              </a:rPr>
              <a:t>F2化しなかった層への</a:t>
            </a:r>
          </a:p>
          <a:p>
            <a:pPr algn="ctr">
              <a:lnSpc>
                <a:spcPct val="135000"/>
              </a:lnSpc>
            </a:pPr>
            <a:r>
              <a:rPr sz="1300">
                <a:solidFill>
                  <a:srgbClr val="333333"/>
                </a:solidFill>
                <a:latin typeface="メイリオ"/>
                <a:ea typeface="メイリオ"/>
                <a:cs typeface="メイリオ"/>
              </a:rPr>
              <a:t>再アプローチ・特典訴求</a:t>
            </a:r>
          </a:p>
        </p:txBody>
      </p:sp>
      <p:sp>
        <p:nvSpPr>
          <p:cNvPr id="65" name="Rounded Rectangle 64"/>
          <p:cNvSpPr/>
          <p:nvPr/>
        </p:nvSpPr>
        <p:spPr>
          <a:xfrm>
            <a:off x="6640800" y="4482000"/>
            <a:ext cx="2726400" cy="468000"/>
          </a:xfrm>
          <a:prstGeom prst="roundRect">
            <a:avLst/>
          </a:prstGeom>
          <a:solidFill>
            <a:srgbClr val="EE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94800" y="4553999"/>
            <a:ext cx="2618400" cy="342000"/>
          </a:xfrm>
          <a:prstGeom prst="rect">
            <a:avLst/>
          </a:prstGeom>
          <a:noFill/>
        </p:spPr>
        <p:txBody>
          <a:bodyPr wrap="square" lIns="50400" rIns="50400" tIns="18000" bIns="18000" anchor="ctr">
            <a:spAutoFit/>
          </a:bodyPr>
          <a:lstStyle/>
          <a:p>
            <a:pPr algn="ctr">
              <a:lnSpc>
                <a:spcPct val="125000"/>
              </a:lnSpc>
            </a:pPr>
            <a:r>
              <a:rPr sz="1100">
                <a:solidFill>
                  <a:srgbClr val="333333"/>
                </a:solidFill>
                <a:latin typeface="メイリオ"/>
                <a:ea typeface="メイリオ"/>
                <a:cs typeface="メイリオ"/>
              </a:rPr>
              <a:t>最終購入からの経過日数でセグメント</a:t>
            </a:r>
          </a:p>
        </p:txBody>
      </p:sp>
      <p:sp>
        <p:nvSpPr>
          <p:cNvPr id="67" name="Rounded Rectangle 66"/>
          <p:cNvSpPr/>
          <p:nvPr/>
        </p:nvSpPr>
        <p:spPr>
          <a:xfrm>
            <a:off x="432000" y="5166000"/>
            <a:ext cx="9043200" cy="413999"/>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1600" b="1">
                <a:solidFill>
                  <a:srgbClr val="FFFFFF"/>
                </a:solidFill>
                <a:latin typeface="メイリオ"/>
                <a:ea typeface="メイリオ"/>
                <a:cs typeface="メイリオ"/>
              </a:rPr>
              <a:t>初回で赤字でも、F2と定期で回収する。ECのユニットエコノミクスはここで決まる</a:t>
            </a:r>
          </a:p>
        </p:txBody>
      </p:sp>
      <p:sp>
        <p:nvSpPr>
          <p:cNvPr id="68" name="TextBox 67"/>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業界水準｜F2転換率（化粧品）25〜35%／（化粧品・健康食品などの単品通販）30〜40%／定期引上率（初回→定期）約20%</a:t>
            </a:r>
          </a:p>
        </p:txBody>
      </p:sp>
    </p:spTree>
    <p:extLst>
      <p:ext uri="{BB962C8B-B14F-4D97-AF65-F5344CB8AC3E}">
        <p14:creationId xmlns:p14="http://schemas.microsoft.com/office/powerpoint/2010/main" val="4260980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Meiryo"/>
                <a:ea typeface="Meiryo"/>
                <a:cs typeface="Meiryo"/>
                <a:sym typeface="Meiryo"/>
              </a:rPr>
              <a:t>LINE施策における重要な考え方</a:t>
            </a:r>
            <a:r>
              <a:rPr lang="ja-JP" altLang="en-US" sz="1600" b="1" dirty="0">
                <a:solidFill>
                  <a:schemeClr val="tx1">
                    <a:lumMod val="50000"/>
                    <a:lumOff val="50000"/>
                  </a:schemeClr>
                </a:solidFill>
                <a:latin typeface="Meiryo"/>
                <a:ea typeface="Meiryo"/>
                <a:cs typeface="Meiryo"/>
                <a:sym typeface="Meiryo"/>
              </a:rPr>
              <a:t/>
            </a:r>
            <a:endParaRPr lang="en-US" altLang="ja-JP" sz="1600" b="1" dirty="0">
              <a:solidFill>
                <a:schemeClr val="tx1">
                  <a:lumMod val="50000"/>
                  <a:lumOff val="50000"/>
                </a:schemeClr>
              </a:solidFill>
              <a:latin typeface="Meiryo"/>
              <a:ea typeface="Meiryo"/>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970958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ECではカゴ落ち60〜70%・F2未達6〜7割が定説。ここを回収できれば伸びしろは大きい。</a:t>
            </a:r>
            <a:r>
              <a:rPr lang="ja-JP" altLang="en-US" sz="1400" b="1" dirty="0">
                <a:solidFill>
                  <a:srgbClr val="FF0000"/>
                </a:solidFill>
                <a:latin typeface="メイリオ" panose="020B0604030504040204" pitchFamily="50" charset="-128"/>
                <a:ea typeface="メイリオ" panose="020B0604030504040204" pitchFamily="50" charset="-128"/>
              </a:rPr>
              <a:t/>
            </a:r>
            <a:r>
              <a:rPr lang="en-US" altLang="ja-JP" sz="1400" b="1" dirty="0">
                <a:solidFill>
                  <a:srgbClr val="FF0000"/>
                </a:solidFill>
                <a:latin typeface="メイリオ" panose="020B0604030504040204" pitchFamily="50" charset="-128"/>
                <a:ea typeface="メイリオ" panose="020B0604030504040204" pitchFamily="50" charset="-128"/>
              </a:rPr>
              <a:t/>
            </a:r>
            <a:r>
              <a:rPr lang="ja-JP" altLang="en-US" sz="1400" b="1" dirty="0">
                <a:solidFill>
                  <a:srgbClr val="FF0000"/>
                </a:solidFill>
                <a:latin typeface="メイリオ" panose="020B0604030504040204" pitchFamily="50" charset="-128"/>
                <a:ea typeface="メイリオ" panose="020B0604030504040204" pitchFamily="50" charset="-128"/>
              </a:rPr>
              <a:t/>
            </a:r>
            <a:r>
              <a:rPr lang="en-US" altLang="ja-JP" sz="1400" b="1" dirty="0">
                <a:solidFill>
                  <a:srgbClr val="FF0000"/>
                </a:solidFill>
                <a:latin typeface="メイリオ" panose="020B0604030504040204" pitchFamily="50" charset="-128"/>
                <a:ea typeface="メイリオ" panose="020B0604030504040204" pitchFamily="50" charset="-128"/>
              </a:rPr>
              <a:t/>
            </a:r>
            <a:r>
              <a:rPr lang="ja-JP" altLang="en-US" sz="1400" b="1" dirty="0">
                <a:solidFill>
                  <a:srgbClr val="FF0000"/>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貴社の課題に合わせてLINE公式アカウントを構築し、追加の広告費ゼロで回収効率を改善。</a:t>
            </a:r>
            <a:r>
              <a:rPr lang="en-US" altLang="ja-JP" sz="1400" dirty="0">
                <a:solidFill>
                  <a:srgbClr val="343434"/>
                </a:solidFill>
                <a:latin typeface="メイリオ" panose="020B0604030504040204" pitchFamily="50" charset="-128"/>
                <a:ea typeface="メイリオ" panose="020B0604030504040204" pitchFamily="50" charset="-128"/>
              </a:rPr>
              <a:t/>
            </a:r>
            <a:r>
              <a:rPr lang="ja-JP" altLang="en-US" sz="1400" dirty="0">
                <a:solidFill>
                  <a:srgbClr val="343434"/>
                </a:solidFill>
                <a:latin typeface="メイリオ" panose="020B0604030504040204" pitchFamily="50" charset="-128"/>
                <a:ea typeface="メイリオ" panose="020B0604030504040204" pitchFamily="50" charset="-128"/>
              </a:rPr>
              <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Meiryo"/>
                <a:ea typeface="Meiryo"/>
                <a:cs typeface="Meiryo"/>
                <a:sym typeface="Meiryo"/>
              </a:rPr>
              <a:t>実態調査｜流入元別のCV率と、LINEで打てる施策</a:t>
            </a:r>
            <a:r>
              <a:rPr lang="ja-JP" altLang="en-US" sz="1600" b="1" dirty="0">
                <a:solidFill>
                  <a:srgbClr val="002060"/>
                </a:solidFill>
                <a:latin typeface="Meiryo"/>
                <a:ea typeface="Meiryo"/>
                <a:cs typeface="Meiryo"/>
                <a:sym typeface="Meiryo"/>
              </a:rPr>
              <a:t/>
            </a:r>
            <a:endParaRPr sz="1600" b="1" dirty="0">
              <a:solidFill>
                <a:srgbClr val="002060"/>
              </a:solidFill>
              <a:latin typeface="Meiryo"/>
              <a:ea typeface="Meiryo"/>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437755" y="1606187"/>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939984" y="1606186"/>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442213" y="1606186"/>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939984" y="20145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939984" y="262776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9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437755" y="20145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437755" y="262776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442213" y="2009121"/>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9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437755" y="3888359"/>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437755" y="3240953"/>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939984" y="397723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437755" y="397723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442212" y="324095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442212" y="397723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939984" y="4595881"/>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437755" y="4595881"/>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437755" y="521452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437755" y="583317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939983" y="521452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939983" y="583317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メルマガ（開封20%前後）</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442212" y="4595883"/>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442212" y="5214528"/>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442212" y="5822247"/>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636262" y="2079998"/>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あいさつMSG</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登録特典</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資料</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自動送付</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85390" y="2079998"/>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使い方・レビュー配信</a:t>
            </a:r>
            <a:endParaRPr lang="en-US" altLang="ja-JP" sz="8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a:solidFill>
                  <a:schemeClr val="bg1">
                    <a:lumMod val="65000"/>
                  </a:schemeClr>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416731" y="2304248"/>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636262" y="261418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85390" y="261418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ステップ配信（購入前7通）</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初回購入への誘導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a:off x="5399749" y="284743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FF0000"/>
                </a:solidFill>
                <a:latin typeface="メイリオ" panose="020B0604030504040204" pitchFamily="50" charset="-128"/>
                <a:ea typeface="メイリオ" panose="020B0604030504040204" pitchFamily="50" charset="-128"/>
              </a:rPr>
              <a:t>CV</a:t>
            </a:r>
            <a:r>
              <a:rPr kumimoji="1" lang="ja-JP" altLang="en-US" sz="1100" b="1" dirty="0">
                <a:solidFill>
                  <a:srgbClr val="FF0000"/>
                </a:solidFill>
                <a:latin typeface="メイリオ" panose="020B0604030504040204" pitchFamily="50" charset="-128"/>
                <a:ea typeface="メイリオ" panose="020B0604030504040204" pitchFamily="50" charset="-128"/>
              </a:rPr>
              <a:t>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FF0000"/>
                </a:solidFill>
                <a:latin typeface="メイリオ" panose="020B0604030504040204" pitchFamily="50" charset="-128"/>
                <a:ea typeface="メイリオ" panose="020B0604030504040204" pitchFamily="50" charset="-128"/>
              </a:rPr>
              <a:t>※</a:t>
            </a:r>
            <a:r>
              <a:rPr lang="ja-JP" altLang="en-US" sz="1000" dirty="0">
                <a:solidFill>
                  <a:srgbClr val="FF0000"/>
                </a:solidFill>
                <a:latin typeface="メイリオ" panose="020B0604030504040204" pitchFamily="50" charset="-128"/>
                <a:ea typeface="メイリオ" panose="020B0604030504040204" pitchFamily="50" charset="-128"/>
              </a:rPr>
              <a:t>平均値</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FF0000"/>
                </a:solidFill>
                <a:latin typeface="メイリオ" panose="020B0604030504040204" pitchFamily="50" charset="-128"/>
                <a:ea typeface="メイリオ" panose="020B0604030504040204" pitchFamily="50" charset="-128"/>
              </a:rPr>
              <a:t>３</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1.5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2.5</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FF0000"/>
                </a:solidFill>
                <a:latin typeface="メイリオ" panose="020B0604030504040204" pitchFamily="50" charset="-128"/>
                <a:ea typeface="メイリオ" panose="020B0604030504040204" pitchFamily="50" charset="-128"/>
              </a:rPr>
              <a:t>2</a:t>
            </a:r>
            <a:r>
              <a:rPr kumimoji="1" lang="ja-JP" altLang="en-US" sz="2400" b="1" dirty="0">
                <a:solidFill>
                  <a:srgbClr val="FF0000"/>
                </a:solidFill>
                <a:latin typeface="メイリオ" panose="020B0604030504040204" pitchFamily="50" charset="-128"/>
                <a:ea typeface="メイリオ" panose="020B0604030504040204" pitchFamily="50" charset="-128"/>
              </a:rPr>
              <a:t>％</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636262" y="32918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 セグメント分類</a:t>
            </a:r>
          </a:p>
        </p:txBody>
      </p:sp>
      <p:sp>
        <p:nvSpPr>
          <p:cNvPr id="117" name="Shape 18">
            <a:extLst>
              <a:ext uri="{FF2B5EF4-FFF2-40B4-BE49-F238E27FC236}">
                <a16:creationId xmlns:a16="http://schemas.microsoft.com/office/drawing/2014/main" id="{019053B5-0AD3-160E-B42A-8528F025A84E}"/>
              </a:ext>
            </a:extLst>
          </p:cNvPr>
          <p:cNvSpPr/>
          <p:nvPr/>
        </p:nvSpPr>
        <p:spPr>
          <a:xfrm>
            <a:off x="5685390" y="32918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ホットリード</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99749" y="35251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636262" y="4032727"/>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サンクス自動</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MSG</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次のアクション案内</a:t>
            </a:r>
          </a:p>
        </p:txBody>
      </p:sp>
      <p:sp>
        <p:nvSpPr>
          <p:cNvPr id="120" name="Shape 18">
            <a:extLst>
              <a:ext uri="{FF2B5EF4-FFF2-40B4-BE49-F238E27FC236}">
                <a16:creationId xmlns:a16="http://schemas.microsoft.com/office/drawing/2014/main" id="{760C890D-1868-9325-4069-2354337B0399}"/>
              </a:ext>
            </a:extLst>
          </p:cNvPr>
          <p:cNvSpPr/>
          <p:nvPr/>
        </p:nvSpPr>
        <p:spPr>
          <a:xfrm>
            <a:off x="5685390" y="40327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カゴ落ちリマインド</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クロスセル・アップセル</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99749" y="4265973"/>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636262" y="4639113"/>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スクリーニング（</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3</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問）</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温度感・ニーズ把握</a:t>
            </a:r>
          </a:p>
        </p:txBody>
      </p:sp>
      <p:sp>
        <p:nvSpPr>
          <p:cNvPr id="123" name="Shape 18">
            <a:extLst>
              <a:ext uri="{FF2B5EF4-FFF2-40B4-BE49-F238E27FC236}">
                <a16:creationId xmlns:a16="http://schemas.microsoft.com/office/drawing/2014/main" id="{E23B94EA-C025-B46E-3CFE-6F951848C924}"/>
              </a:ext>
            </a:extLst>
          </p:cNvPr>
          <p:cNvSpPr/>
          <p:nvPr/>
        </p:nvSpPr>
        <p:spPr>
          <a:xfrm>
            <a:off x="5685390" y="4639113"/>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F2転換シナリオ</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 2回目購入・定期引上</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99749" y="487235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636262" y="5262884"/>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アンケートで属性把握</a:t>
            </a:r>
          </a:p>
        </p:txBody>
      </p:sp>
      <p:sp>
        <p:nvSpPr>
          <p:cNvPr id="126" name="Shape 18">
            <a:extLst>
              <a:ext uri="{FF2B5EF4-FFF2-40B4-BE49-F238E27FC236}">
                <a16:creationId xmlns:a16="http://schemas.microsoft.com/office/drawing/2014/main" id="{5F976E27-1C09-25DE-2664-7D927081F231}"/>
              </a:ext>
            </a:extLst>
          </p:cNvPr>
          <p:cNvSpPr/>
          <p:nvPr/>
        </p:nvSpPr>
        <p:spPr>
          <a:xfrm>
            <a:off x="5685390" y="5262884"/>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季節・タイミング別企画配信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99749" y="5496130"/>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636262" y="5871273"/>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移行キャンペーン</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（特典訴求で友だち追加促進）</a:t>
            </a:r>
          </a:p>
        </p:txBody>
      </p:sp>
      <p:sp>
        <p:nvSpPr>
          <p:cNvPr id="129" name="Shape 18">
            <a:extLst>
              <a:ext uri="{FF2B5EF4-FFF2-40B4-BE49-F238E27FC236}">
                <a16:creationId xmlns:a16="http://schemas.microsoft.com/office/drawing/2014/main" id="{496CBE75-90FF-44E1-05AA-F85C409960A4}"/>
              </a:ext>
            </a:extLst>
          </p:cNvPr>
          <p:cNvSpPr/>
          <p:nvPr/>
        </p:nvSpPr>
        <p:spPr>
          <a:xfrm>
            <a:off x="5685390" y="5871273"/>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LINE</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でリピート率向上</a:t>
            </a:r>
          </a:p>
          <a:p>
            <a:pPr>
              <a:lnSpc>
                <a:spcPct val="135000"/>
              </a:lnSpc>
            </a:pP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紹介キャンペーン・</a:t>
            </a:r>
            <a:r>
              <a:rPr lang="en-US" altLang="ja-JP"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LTV</a:t>
            </a:r>
            <a:r>
              <a:rPr lang="ja-JP" altLang="en-US" sz="800" dirty="0">
                <a:solidFill>
                  <a:schemeClr val="bg1">
                    <a:lumMod val="65000"/>
                  </a:schemeClr>
                </a:solidFill>
                <a:latin typeface="メイリオ" panose="020B0604030504040204" pitchFamily="50" charset="-128"/>
                <a:ea typeface="メイリオ" panose="020B0604030504040204" pitchFamily="50" charset="-128"/>
                <a:cs typeface="Calibri" pitchFamily="34" charset="-120"/>
              </a:rPr>
              <a:t>最大化</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99749" y="6104519"/>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110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8898-91A3-9BC1-3966-7771C36E7509}"/>
            </a:ext>
          </a:extLst>
        </p:cNvPr>
        <p:cNvGrpSpPr/>
        <p:nvPr/>
      </p:nvGrpSpPr>
      <p:grpSpPr>
        <a:xfrm>
          <a:off x="0" y="0"/>
          <a:ext cx="0" cy="0"/>
          <a:chOff x="0" y="0"/>
          <a:chExt cx="0" cy="0"/>
        </a:xfrm>
      </p:grpSpPr>
      <p:sp>
        <p:nvSpPr>
          <p:cNvPr id="3" name="Google Shape;752;p28">
            <a:extLst>
              <a:ext uri="{FF2B5EF4-FFF2-40B4-BE49-F238E27FC236}">
                <a16:creationId xmlns:a16="http://schemas.microsoft.com/office/drawing/2014/main" id="{2ECE7535-75B5-FD71-5DE8-AB1B855FFED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rgbClr val="323366"/>
                </a:solidFill>
                <a:latin typeface="メイリオ" panose="020B0604030504040204" pitchFamily="50" charset="-128"/>
                <a:ea typeface="メイリオ" panose="020B0604030504040204" pitchFamily="50" charset="-128"/>
                <a:cs typeface="Meiryo"/>
                <a:sym typeface="Meiryo"/>
              </a:rPr>
              <a:t>全体設計｜LINEで対策できる領域</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
            </a:r>
          </a:p>
        </p:txBody>
      </p:sp>
      <p:sp>
        <p:nvSpPr>
          <p:cNvPr id="4" name="正方形/長方形 3">
            <a:extLst>
              <a:ext uri="{FF2B5EF4-FFF2-40B4-BE49-F238E27FC236}">
                <a16:creationId xmlns:a16="http://schemas.microsoft.com/office/drawing/2014/main" id="{91D529F5-1969-8F22-8508-5967D82F7783}"/>
              </a:ext>
            </a:extLst>
          </p:cNvPr>
          <p:cNvSpPr/>
          <p:nvPr/>
        </p:nvSpPr>
        <p:spPr>
          <a:xfrm>
            <a:off x="379908" y="1835393"/>
            <a:ext cx="9190811" cy="216252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0D32EA92-3996-F5BA-08AE-72B08F79535C}"/>
              </a:ext>
            </a:extLst>
          </p:cNvPr>
          <p:cNvSpPr/>
          <p:nvPr/>
        </p:nvSpPr>
        <p:spPr>
          <a:xfrm>
            <a:off x="379908" y="4397170"/>
            <a:ext cx="9190811" cy="2022499"/>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C7E38EC2-DE76-A5FE-A6B8-3B48F7BD7B46}"/>
              </a:ext>
            </a:extLst>
          </p:cNvPr>
          <p:cNvSpPr txBox="1"/>
          <p:nvPr/>
        </p:nvSpPr>
        <p:spPr>
          <a:xfrm>
            <a:off x="379908" y="1527022"/>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対新規ユーザー領域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9" name="テキスト ボックス 8">
            <a:extLst>
              <a:ext uri="{FF2B5EF4-FFF2-40B4-BE49-F238E27FC236}">
                <a16:creationId xmlns:a16="http://schemas.microsoft.com/office/drawing/2014/main" id="{315E4FD7-BF96-305B-4DFF-0204D305BAAE}"/>
              </a:ext>
            </a:extLst>
          </p:cNvPr>
          <p:cNvSpPr txBox="1"/>
          <p:nvPr/>
        </p:nvSpPr>
        <p:spPr>
          <a:xfrm>
            <a:off x="379908" y="4089393"/>
            <a:ext cx="4963884" cy="307777"/>
          </a:xfrm>
          <a:prstGeom prst="rect">
            <a:avLst/>
          </a:prstGeom>
          <a:noFill/>
        </p:spPr>
        <p:txBody>
          <a:bodyPr wrap="square">
            <a:spAutoFit/>
          </a:bodyPr>
          <a:lstStyle/>
          <a:p>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&lt;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対既存ユーザー</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顧客</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ja-JP" altLang="en-US"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領域</a:t>
            </a:r>
            <a:r>
              <a:rPr lang="en-US" altLang="ja-JP" sz="14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&gt;</a:t>
            </a:r>
            <a:endParaRPr lang="ja-JP" altLang="en-US" sz="1400" dirty="0">
              <a:solidFill>
                <a:schemeClr val="tx1">
                  <a:lumMod val="50000"/>
                  <a:lumOff val="50000"/>
                </a:schemeClr>
              </a:solidFill>
            </a:endParaRPr>
          </a:p>
        </p:txBody>
      </p:sp>
      <p:sp>
        <p:nvSpPr>
          <p:cNvPr id="12" name="正方形/長方形 11">
            <a:extLst>
              <a:ext uri="{FF2B5EF4-FFF2-40B4-BE49-F238E27FC236}">
                <a16:creationId xmlns:a16="http://schemas.microsoft.com/office/drawing/2014/main" id="{72450FBF-2EA8-4582-869E-9B2A7C4946D7}"/>
              </a:ext>
            </a:extLst>
          </p:cNvPr>
          <p:cNvSpPr/>
          <p:nvPr/>
        </p:nvSpPr>
        <p:spPr>
          <a:xfrm>
            <a:off x="548883" y="2060461"/>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HP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6891C2D7-8AEF-98E4-337B-283DC4374AFC}"/>
              </a:ext>
            </a:extLst>
          </p:cNvPr>
          <p:cNvSpPr/>
          <p:nvPr/>
        </p:nvSpPr>
        <p:spPr>
          <a:xfrm>
            <a:off x="548883" y="2322497"/>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LP</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3670DE23-5EB2-C1E6-9ED3-6176C87DDEA9}"/>
              </a:ext>
            </a:extLst>
          </p:cNvPr>
          <p:cNvSpPr/>
          <p:nvPr/>
        </p:nvSpPr>
        <p:spPr>
          <a:xfrm>
            <a:off x="548883" y="2659935"/>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a:t>
            </a:r>
            <a:r>
              <a:rPr kumimoji="1" lang="en-US" altLang="ja-JP" sz="1000" b="1" dirty="0">
                <a:solidFill>
                  <a:schemeClr val="bg1"/>
                </a:solidFill>
                <a:latin typeface="メイリオ" panose="020B0604030504040204" pitchFamily="50" charset="-128"/>
                <a:ea typeface="メイリオ" panose="020B0604030504040204" pitchFamily="50" charset="-128"/>
              </a:rPr>
              <a:t>SNS</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6" name="正方形/長方形 15">
            <a:extLst>
              <a:ext uri="{FF2B5EF4-FFF2-40B4-BE49-F238E27FC236}">
                <a16:creationId xmlns:a16="http://schemas.microsoft.com/office/drawing/2014/main" id="{98C708B2-F546-DE85-AA3B-2C7B33013111}"/>
              </a:ext>
            </a:extLst>
          </p:cNvPr>
          <p:cNvSpPr/>
          <p:nvPr/>
        </p:nvSpPr>
        <p:spPr>
          <a:xfrm>
            <a:off x="548883" y="2997373"/>
            <a:ext cx="1355280" cy="243944"/>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既存ユーザーリスト</a:t>
            </a:r>
          </a:p>
        </p:txBody>
      </p:sp>
      <p:sp>
        <p:nvSpPr>
          <p:cNvPr id="17" name="正方形/長方形 16">
            <a:extLst>
              <a:ext uri="{FF2B5EF4-FFF2-40B4-BE49-F238E27FC236}">
                <a16:creationId xmlns:a16="http://schemas.microsoft.com/office/drawing/2014/main" id="{812C768D-D601-2E13-45FD-BFE5BA587BC6}"/>
              </a:ext>
            </a:extLst>
          </p:cNvPr>
          <p:cNvSpPr/>
          <p:nvPr/>
        </p:nvSpPr>
        <p:spPr>
          <a:xfrm>
            <a:off x="548883" y="3672249"/>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LINE_CPF</a:t>
            </a:r>
            <a:r>
              <a:rPr kumimoji="1" lang="ja-JP" altLang="en-US" sz="1000" b="1" dirty="0">
                <a:solidFill>
                  <a:schemeClr val="bg1"/>
                </a:solidFill>
                <a:latin typeface="メイリオ" panose="020B0604030504040204" pitchFamily="50" charset="-128"/>
                <a:ea typeface="メイリオ" panose="020B0604030504040204" pitchFamily="50" charset="-128"/>
              </a:rPr>
              <a:t>やその他</a:t>
            </a:r>
          </a:p>
        </p:txBody>
      </p:sp>
      <p:sp>
        <p:nvSpPr>
          <p:cNvPr id="18" name="正方形/長方形 17">
            <a:extLst>
              <a:ext uri="{FF2B5EF4-FFF2-40B4-BE49-F238E27FC236}">
                <a16:creationId xmlns:a16="http://schemas.microsoft.com/office/drawing/2014/main" id="{13127993-BF51-568A-20FB-A9FB1DB6C913}"/>
              </a:ext>
            </a:extLst>
          </p:cNvPr>
          <p:cNvSpPr/>
          <p:nvPr/>
        </p:nvSpPr>
        <p:spPr>
          <a:xfrm>
            <a:off x="8170812" y="2408570"/>
            <a:ext cx="1355280" cy="243944"/>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2E81D74A-E79F-C90A-80AF-4F6BDF853777}"/>
              </a:ext>
            </a:extLst>
          </p:cNvPr>
          <p:cNvSpPr/>
          <p:nvPr/>
        </p:nvSpPr>
        <p:spPr>
          <a:xfrm>
            <a:off x="548883" y="3334811"/>
            <a:ext cx="2943254"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同梱物QR・納品書 ※デザイン</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346217DB-3E59-DD17-6353-BB21863AB6A4}"/>
              </a:ext>
            </a:extLst>
          </p:cNvPr>
          <p:cNvSpPr/>
          <p:nvPr/>
        </p:nvSpPr>
        <p:spPr>
          <a:xfrm>
            <a:off x="1950234" y="2999032"/>
            <a:ext cx="1543806"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メルマガ </a:t>
            </a:r>
            <a:r>
              <a:rPr lang="en-US" altLang="ja-JP" sz="1000" b="1" dirty="0">
                <a:solidFill>
                  <a:schemeClr val="bg1">
                    <a:lumMod val="75000"/>
                  </a:schemeClr>
                </a:solidFill>
                <a:latin typeface="メイリオ" panose="020B0604030504040204" pitchFamily="50" charset="-128"/>
                <a:ea typeface="メイリオ" panose="020B0604030504040204" pitchFamily="50" charset="-128"/>
              </a:rPr>
              <a:t>※</a:t>
            </a:r>
            <a:r>
              <a:rPr lang="ja-JP" altLang="en-US" sz="1000" b="1" dirty="0">
                <a:solidFill>
                  <a:schemeClr val="bg1">
                    <a:lumMod val="75000"/>
                  </a:schemeClr>
                </a:solidFill>
                <a:latin typeface="メイリオ" panose="020B0604030504040204" pitchFamily="50" charset="-128"/>
                <a:ea typeface="メイリオ" panose="020B0604030504040204" pitchFamily="50" charset="-128"/>
              </a:rPr>
              <a:t>デザイン</a:t>
            </a:r>
            <a:endParaRPr kumimoji="1" lang="ja-JP" altLang="en-US" sz="1000" b="1" dirty="0">
              <a:solidFill>
                <a:schemeClr val="bg1">
                  <a:lumMod val="75000"/>
                </a:schemeClr>
              </a:solidFill>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B73343-1515-8075-50D7-828D2C7D0482}"/>
              </a:ext>
            </a:extLst>
          </p:cNvPr>
          <p:cNvSpPr/>
          <p:nvPr/>
        </p:nvSpPr>
        <p:spPr>
          <a:xfrm>
            <a:off x="1939622" y="2149679"/>
            <a:ext cx="1543806" cy="295172"/>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dirty="0">
                <a:solidFill>
                  <a:schemeClr val="bg1"/>
                </a:solidFill>
                <a:latin typeface="メイリオ" panose="020B0604030504040204" pitchFamily="50" charset="-128"/>
                <a:ea typeface="メイリオ" panose="020B0604030504040204" pitchFamily="50" charset="-128"/>
              </a:rPr>
              <a:t>(カゴ落ちポップアップ)</a:t>
            </a:r>
            <a:r>
              <a:rPr lang="ja-JP" altLang="en-US" sz="1000" b="1" dirty="0">
                <a:solidFill>
                  <a:schemeClr val="bg1"/>
                </a:solidFill>
                <a:latin typeface="メイリオ" panose="020B0604030504040204" pitchFamily="50" charset="-128"/>
                <a:ea typeface="メイリオ" panose="020B0604030504040204" pitchFamily="50" charset="-128"/>
              </a:rPr>
              <a:t/>
            </a:r>
            <a:r>
              <a:rPr lang="en-US" altLang="ja-JP" sz="1000" b="1" dirty="0">
                <a:solidFill>
                  <a:schemeClr val="bg1"/>
                </a:solidFill>
                <a:latin typeface="メイリオ" panose="020B0604030504040204" pitchFamily="50" charset="-128"/>
                <a:ea typeface="メイリオ" panose="020B0604030504040204" pitchFamily="50" charset="-128"/>
              </a:rPr>
              <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52" name="コネクタ: カギ線 51">
            <a:extLst>
              <a:ext uri="{FF2B5EF4-FFF2-40B4-BE49-F238E27FC236}">
                <a16:creationId xmlns:a16="http://schemas.microsoft.com/office/drawing/2014/main" id="{10A164B9-404C-F131-0FB7-4A7EC00628C8}"/>
              </a:ext>
            </a:extLst>
          </p:cNvPr>
          <p:cNvCxnSpPr>
            <a:cxnSpLocks/>
            <a:stCxn id="14" idx="3"/>
          </p:cNvCxnSpPr>
          <p:nvPr/>
        </p:nvCxnSpPr>
        <p:spPr>
          <a:xfrm flipV="1">
            <a:off x="1904163" y="2540793"/>
            <a:ext cx="1898060" cy="241114"/>
          </a:xfrm>
          <a:prstGeom prst="bentConnector3">
            <a:avLst>
              <a:gd name="adj1" fmla="val 88139"/>
            </a:avLst>
          </a:prstGeom>
          <a:ln>
            <a:solidFill>
              <a:schemeClr val="bg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0" name="正方形/長方形 79">
            <a:extLst>
              <a:ext uri="{FF2B5EF4-FFF2-40B4-BE49-F238E27FC236}">
                <a16:creationId xmlns:a16="http://schemas.microsoft.com/office/drawing/2014/main" id="{AB39E10C-FA5C-42F3-51FF-A98C96D3A9FE}"/>
              </a:ext>
            </a:extLst>
          </p:cNvPr>
          <p:cNvSpPr/>
          <p:nvPr/>
        </p:nvSpPr>
        <p:spPr>
          <a:xfrm>
            <a:off x="8170812" y="2124073"/>
            <a:ext cx="1355280" cy="243944"/>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営業トスアップ</a:t>
            </a:r>
          </a:p>
        </p:txBody>
      </p:sp>
      <p:sp>
        <p:nvSpPr>
          <p:cNvPr id="130" name="正方形/長方形 129">
            <a:extLst>
              <a:ext uri="{FF2B5EF4-FFF2-40B4-BE49-F238E27FC236}">
                <a16:creationId xmlns:a16="http://schemas.microsoft.com/office/drawing/2014/main" id="{68999E51-25BF-ABC0-E768-EB439414D6AA}"/>
              </a:ext>
            </a:extLst>
          </p:cNvPr>
          <p:cNvSpPr/>
          <p:nvPr/>
        </p:nvSpPr>
        <p:spPr>
          <a:xfrm>
            <a:off x="486784" y="713253"/>
            <a:ext cx="9005456" cy="65324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カゴ落ち→初回購入へ引上げ、購入者→F2・定期へ引上げ 等、</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公式アカウントで対策できるポイントが非常に多く、課題に応じた施策展開が可能。</a:t>
            </a:r>
            <a:endParaRPr lang="ja-JP" altLang="en-US" sz="1400" dirty="0">
              <a:solidFill>
                <a:srgbClr val="FF0000"/>
              </a:solidFill>
              <a:latin typeface="メイリオ" panose="020B0604030504040204" pitchFamily="50" charset="-128"/>
              <a:ea typeface="メイリオ" panose="020B0604030504040204" pitchFamily="50" charset="-128"/>
            </a:endParaRPr>
          </a:p>
        </p:txBody>
      </p:sp>
      <p:sp>
        <p:nvSpPr>
          <p:cNvPr id="133" name="正方形/長方形 132">
            <a:extLst>
              <a:ext uri="{FF2B5EF4-FFF2-40B4-BE49-F238E27FC236}">
                <a16:creationId xmlns:a16="http://schemas.microsoft.com/office/drawing/2014/main" id="{EF3EB03D-B886-80C5-4DDF-AD318BB1E8CB}"/>
              </a:ext>
            </a:extLst>
          </p:cNvPr>
          <p:cNvSpPr/>
          <p:nvPr/>
        </p:nvSpPr>
        <p:spPr>
          <a:xfrm>
            <a:off x="6444618" y="4938641"/>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GA</a:t>
            </a:r>
            <a:r>
              <a:rPr kumimoji="1" lang="ja-JP" altLang="en-US" sz="1000" dirty="0">
                <a:solidFill>
                  <a:schemeClr val="bg1"/>
                </a:solidFill>
                <a:latin typeface="メイリオ" panose="020B0604030504040204" pitchFamily="50" charset="-128"/>
                <a:ea typeface="メイリオ" panose="020B0604030504040204" pitchFamily="50" charset="-128"/>
              </a:rPr>
              <a:t>レポーティング対応</a:t>
            </a:r>
          </a:p>
        </p:txBody>
      </p:sp>
      <p:sp>
        <p:nvSpPr>
          <p:cNvPr id="134" name="正方形/長方形 133">
            <a:extLst>
              <a:ext uri="{FF2B5EF4-FFF2-40B4-BE49-F238E27FC236}">
                <a16:creationId xmlns:a16="http://schemas.microsoft.com/office/drawing/2014/main" id="{8185B158-D6FD-FC9A-D842-E0184FC04A2F}"/>
              </a:ext>
            </a:extLst>
          </p:cNvPr>
          <p:cNvSpPr/>
          <p:nvPr/>
        </p:nvSpPr>
        <p:spPr>
          <a:xfrm>
            <a:off x="6444618" y="5207075"/>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投稿スケジュール確認</a:t>
            </a:r>
            <a:endParaRPr kumimoji="1" lang="en-US" altLang="ja-JP" sz="1000" dirty="0">
              <a:solidFill>
                <a:schemeClr val="bg1"/>
              </a:solidFill>
              <a:latin typeface="メイリオ" panose="020B0604030504040204" pitchFamily="50" charset="-128"/>
              <a:ea typeface="メイリオ" panose="020B0604030504040204" pitchFamily="50" charset="-128"/>
            </a:endParaRPr>
          </a:p>
        </p:txBody>
      </p:sp>
      <p:sp>
        <p:nvSpPr>
          <p:cNvPr id="135" name="正方形/長方形 134">
            <a:extLst>
              <a:ext uri="{FF2B5EF4-FFF2-40B4-BE49-F238E27FC236}">
                <a16:creationId xmlns:a16="http://schemas.microsoft.com/office/drawing/2014/main" id="{CAF16DCF-7CE0-97CD-A1FD-09B08149FF7B}"/>
              </a:ext>
            </a:extLst>
          </p:cNvPr>
          <p:cNvSpPr/>
          <p:nvPr/>
        </p:nvSpPr>
        <p:spPr>
          <a:xfrm>
            <a:off x="6444617" y="5743943"/>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Call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6" name="正方形/長方形 135">
            <a:extLst>
              <a:ext uri="{FF2B5EF4-FFF2-40B4-BE49-F238E27FC236}">
                <a16:creationId xmlns:a16="http://schemas.microsoft.com/office/drawing/2014/main" id="{DE164E19-C9CA-ADE8-FE9B-4A4096DD13BE}"/>
              </a:ext>
            </a:extLst>
          </p:cNvPr>
          <p:cNvSpPr/>
          <p:nvPr/>
        </p:nvSpPr>
        <p:spPr>
          <a:xfrm>
            <a:off x="6444617" y="5475509"/>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1"/>
                </a:solidFill>
                <a:latin typeface="メイリオ" panose="020B0604030504040204" pitchFamily="50" charset="-128"/>
                <a:ea typeface="メイリオ" panose="020B0604030504040204" pitchFamily="50" charset="-128"/>
              </a:rPr>
              <a:t>Chat Plus</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37" name="正方形/長方形 136">
            <a:extLst>
              <a:ext uri="{FF2B5EF4-FFF2-40B4-BE49-F238E27FC236}">
                <a16:creationId xmlns:a16="http://schemas.microsoft.com/office/drawing/2014/main" id="{FF9A810E-B53B-2631-3BD5-00395512E9C0}"/>
              </a:ext>
            </a:extLst>
          </p:cNvPr>
          <p:cNvSpPr/>
          <p:nvPr/>
        </p:nvSpPr>
        <p:spPr>
          <a:xfrm>
            <a:off x="6444617" y="6012377"/>
            <a:ext cx="2292685" cy="221767"/>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通知メッセージ</a:t>
            </a:r>
            <a:r>
              <a:rPr kumimoji="1" lang="en-US" altLang="ja-JP" sz="1000" dirty="0">
                <a:solidFill>
                  <a:schemeClr val="bg1"/>
                </a:solidFill>
                <a:latin typeface="メイリオ" panose="020B0604030504040204" pitchFamily="50" charset="-128"/>
                <a:ea typeface="メイリオ" panose="020B0604030504040204" pitchFamily="50" charset="-128"/>
              </a:rPr>
              <a:t>(</a:t>
            </a:r>
            <a:r>
              <a:rPr kumimoji="1" lang="en-US" altLang="ja-JP" sz="1000" dirty="0" err="1">
                <a:solidFill>
                  <a:schemeClr val="bg1"/>
                </a:solidFill>
                <a:latin typeface="メイリオ" panose="020B0604030504040204" pitchFamily="50" charset="-128"/>
                <a:ea typeface="メイリオ" panose="020B0604030504040204" pitchFamily="50" charset="-128"/>
              </a:rPr>
              <a:t>OptionAPI</a:t>
            </a:r>
            <a:r>
              <a:rPr kumimoji="1" lang="en-US" altLang="ja-JP" sz="1000" dirty="0">
                <a:solidFill>
                  <a:schemeClr val="bg1"/>
                </a:solidFill>
                <a:latin typeface="メイリオ" panose="020B0604030504040204" pitchFamily="50" charset="-128"/>
                <a:ea typeface="メイリオ" panose="020B0604030504040204" pitchFamily="50" charset="-128"/>
              </a:rPr>
              <a:t>)</a:t>
            </a:r>
            <a:endParaRPr kumimoji="1" lang="ja-JP" altLang="en-US" sz="1000" dirty="0">
              <a:solidFill>
                <a:schemeClr val="bg1"/>
              </a:solidFill>
              <a:latin typeface="メイリオ" panose="020B0604030504040204" pitchFamily="50" charset="-128"/>
              <a:ea typeface="メイリオ" panose="020B0604030504040204" pitchFamily="50" charset="-128"/>
            </a:endParaRPr>
          </a:p>
        </p:txBody>
      </p:sp>
      <p:sp>
        <p:nvSpPr>
          <p:cNvPr id="145" name="正方形/長方形 144">
            <a:extLst>
              <a:ext uri="{FF2B5EF4-FFF2-40B4-BE49-F238E27FC236}">
                <a16:creationId xmlns:a16="http://schemas.microsoft.com/office/drawing/2014/main" id="{1DF80BB2-F1C3-A39C-D441-B75E4795CC5B}"/>
              </a:ext>
            </a:extLst>
          </p:cNvPr>
          <p:cNvSpPr/>
          <p:nvPr/>
        </p:nvSpPr>
        <p:spPr>
          <a:xfrm>
            <a:off x="6444617" y="4746848"/>
            <a:ext cx="1424263" cy="163739"/>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定期対応項目</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一部抽出</a:t>
            </a:r>
            <a:r>
              <a:rPr kumimoji="1" lang="en-US" altLang="ja-JP" sz="800" dirty="0">
                <a:solidFill>
                  <a:schemeClr val="tx1">
                    <a:lumMod val="50000"/>
                    <a:lumOff val="50000"/>
                  </a:schemeClr>
                </a:solidFill>
                <a:latin typeface="メイリオ" panose="020B0604030504040204" pitchFamily="50" charset="-128"/>
                <a:ea typeface="メイリオ" panose="020B0604030504040204" pitchFamily="50" charset="-128"/>
              </a:rPr>
              <a:t>)</a:t>
            </a:r>
          </a:p>
        </p:txBody>
      </p:sp>
      <p:sp>
        <p:nvSpPr>
          <p:cNvPr id="49" name="正方形/長方形 48">
            <a:extLst>
              <a:ext uri="{FF2B5EF4-FFF2-40B4-BE49-F238E27FC236}">
                <a16:creationId xmlns:a16="http://schemas.microsoft.com/office/drawing/2014/main" id="{CABD8985-CFB7-BFB4-C5CA-334F6DD3C337}"/>
              </a:ext>
            </a:extLst>
          </p:cNvPr>
          <p:cNvSpPr/>
          <p:nvPr/>
        </p:nvSpPr>
        <p:spPr>
          <a:xfrm>
            <a:off x="3634802" y="1986633"/>
            <a:ext cx="4080010" cy="2098921"/>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0" name="正方形/長方形 49">
            <a:extLst>
              <a:ext uri="{FF2B5EF4-FFF2-40B4-BE49-F238E27FC236}">
                <a16:creationId xmlns:a16="http://schemas.microsoft.com/office/drawing/2014/main" id="{498D1E1C-883A-4348-5898-29B2849E59E6}"/>
              </a:ext>
            </a:extLst>
          </p:cNvPr>
          <p:cNvSpPr/>
          <p:nvPr/>
        </p:nvSpPr>
        <p:spPr>
          <a:xfrm>
            <a:off x="3802223" y="2418821"/>
            <a:ext cx="1355280"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友だち追加</a:t>
            </a:r>
          </a:p>
        </p:txBody>
      </p:sp>
      <p:cxnSp>
        <p:nvCxnSpPr>
          <p:cNvPr id="51" name="コネクタ: カギ線 50">
            <a:extLst>
              <a:ext uri="{FF2B5EF4-FFF2-40B4-BE49-F238E27FC236}">
                <a16:creationId xmlns:a16="http://schemas.microsoft.com/office/drawing/2014/main" id="{2981AEA5-C263-1A76-AF6F-7D4F94F3AC3F}"/>
              </a:ext>
            </a:extLst>
          </p:cNvPr>
          <p:cNvCxnSpPr>
            <a:cxnSpLocks/>
          </p:cNvCxnSpPr>
          <p:nvPr/>
        </p:nvCxnSpPr>
        <p:spPr>
          <a:xfrm flipV="1">
            <a:off x="3492137" y="2540793"/>
            <a:ext cx="310086" cy="915990"/>
          </a:xfrm>
          <a:prstGeom prst="bentConnector3">
            <a:avLst>
              <a:gd name="adj1" fmla="val 2753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898DA80-B20A-0E45-B382-62A8490927C1}"/>
              </a:ext>
            </a:extLst>
          </p:cNvPr>
          <p:cNvCxnSpPr>
            <a:cxnSpLocks/>
          </p:cNvCxnSpPr>
          <p:nvPr/>
        </p:nvCxnSpPr>
        <p:spPr>
          <a:xfrm flipV="1">
            <a:off x="3483428" y="2540793"/>
            <a:ext cx="310086" cy="1253428"/>
          </a:xfrm>
          <a:prstGeom prst="bentConnector3">
            <a:avLst>
              <a:gd name="adj1" fmla="val 3034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4" name="コネクタ: カギ線 53">
            <a:extLst>
              <a:ext uri="{FF2B5EF4-FFF2-40B4-BE49-F238E27FC236}">
                <a16:creationId xmlns:a16="http://schemas.microsoft.com/office/drawing/2014/main" id="{4194983F-AFC0-FB2F-1207-1AF108AFDA19}"/>
              </a:ext>
            </a:extLst>
          </p:cNvPr>
          <p:cNvCxnSpPr>
            <a:cxnSpLocks/>
          </p:cNvCxnSpPr>
          <p:nvPr/>
        </p:nvCxnSpPr>
        <p:spPr>
          <a:xfrm>
            <a:off x="3483428" y="2297265"/>
            <a:ext cx="318795" cy="243528"/>
          </a:xfrm>
          <a:prstGeom prst="bentConnector3">
            <a:avLst>
              <a:gd name="adj1" fmla="val 28488"/>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55" name="正方形/長方形 54">
            <a:extLst>
              <a:ext uri="{FF2B5EF4-FFF2-40B4-BE49-F238E27FC236}">
                <a16:creationId xmlns:a16="http://schemas.microsoft.com/office/drawing/2014/main" id="{B20DB094-045E-2E0D-7026-B0BFFA8F2374}"/>
              </a:ext>
            </a:extLst>
          </p:cNvPr>
          <p:cNvSpPr/>
          <p:nvPr/>
        </p:nvSpPr>
        <p:spPr>
          <a:xfrm>
            <a:off x="5319694" y="212207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企画配信（セグメント配信）</a:t>
            </a:r>
          </a:p>
        </p:txBody>
      </p:sp>
      <p:sp>
        <p:nvSpPr>
          <p:cNvPr id="56" name="正方形/長方形 55">
            <a:extLst>
              <a:ext uri="{FF2B5EF4-FFF2-40B4-BE49-F238E27FC236}">
                <a16:creationId xmlns:a16="http://schemas.microsoft.com/office/drawing/2014/main" id="{960DE889-CA21-9C03-FD30-9F8BA1C11BE0}"/>
              </a:ext>
            </a:extLst>
          </p:cNvPr>
          <p:cNvSpPr/>
          <p:nvPr/>
        </p:nvSpPr>
        <p:spPr>
          <a:xfrm>
            <a:off x="5319694" y="238767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ステップ配信</a:t>
            </a:r>
          </a:p>
        </p:txBody>
      </p:sp>
      <p:sp>
        <p:nvSpPr>
          <p:cNvPr id="64" name="正方形/長方形 63">
            <a:extLst>
              <a:ext uri="{FF2B5EF4-FFF2-40B4-BE49-F238E27FC236}">
                <a16:creationId xmlns:a16="http://schemas.microsoft.com/office/drawing/2014/main" id="{B0198902-7C67-1321-611C-A528F8B056D6}"/>
              </a:ext>
            </a:extLst>
          </p:cNvPr>
          <p:cNvSpPr/>
          <p:nvPr/>
        </p:nvSpPr>
        <p:spPr>
          <a:xfrm>
            <a:off x="5319694" y="265326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アンケート</a:t>
            </a:r>
          </a:p>
        </p:txBody>
      </p:sp>
      <p:sp>
        <p:nvSpPr>
          <p:cNvPr id="67" name="正方形/長方形 66">
            <a:extLst>
              <a:ext uri="{FF2B5EF4-FFF2-40B4-BE49-F238E27FC236}">
                <a16:creationId xmlns:a16="http://schemas.microsoft.com/office/drawing/2014/main" id="{EC9DC48F-C12B-8A2A-8E49-C82DF8C2398F}"/>
              </a:ext>
            </a:extLst>
          </p:cNvPr>
          <p:cNvSpPr/>
          <p:nvPr/>
        </p:nvSpPr>
        <p:spPr>
          <a:xfrm>
            <a:off x="3883318" y="2695245"/>
            <a:ext cx="1274185" cy="166616"/>
          </a:xfrm>
          <a:prstGeom prst="rect">
            <a:avLst/>
          </a:prstGeom>
          <a:solidFill>
            <a:schemeClr val="bg1">
              <a:lumMod val="9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lumMod val="50000"/>
                    <a:lumOff val="50000"/>
                  </a:schemeClr>
                </a:solidFill>
                <a:latin typeface="メイリオ" panose="020B0604030504040204" pitchFamily="50" charset="-128"/>
                <a:ea typeface="メイリオ" panose="020B0604030504040204" pitchFamily="50" charset="-128"/>
              </a:rPr>
              <a:t>初期設計項目↓</a:t>
            </a:r>
          </a:p>
        </p:txBody>
      </p:sp>
      <p:sp>
        <p:nvSpPr>
          <p:cNvPr id="68" name="テキスト ボックス 67">
            <a:extLst>
              <a:ext uri="{FF2B5EF4-FFF2-40B4-BE49-F238E27FC236}">
                <a16:creationId xmlns:a16="http://schemas.microsoft.com/office/drawing/2014/main" id="{7FD4C92A-1BF4-DC29-74E5-5DDCAEC47D74}"/>
              </a:ext>
            </a:extLst>
          </p:cNvPr>
          <p:cNvSpPr txBox="1"/>
          <p:nvPr/>
        </p:nvSpPr>
        <p:spPr>
          <a:xfrm>
            <a:off x="3894226" y="2879422"/>
            <a:ext cx="1274185" cy="954107"/>
          </a:xfrm>
          <a:prstGeom prst="rect">
            <a:avLst/>
          </a:prstGeom>
          <a:noFill/>
        </p:spPr>
        <p:txBody>
          <a:bodyPr wrap="square">
            <a:spAutoFit/>
          </a:bodyPr>
          <a:lstStyle/>
          <a:p>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プロフィール画面</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kumimoji="1"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リッチメニュー</a:t>
            </a:r>
            <a:endParaRPr kumimoji="1"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・あいさつメッセージ</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・応答メッセージ設定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・チャットタグ設定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・計測タグ設定</a:t>
            </a:r>
            <a:endPar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ログイン </a:t>
            </a:r>
            <a:r>
              <a:rPr lang="en-US" altLang="ja-JP" sz="600" dirty="0">
                <a:solidFill>
                  <a:srgbClr val="FF0000"/>
                </a:solidFill>
                <a:latin typeface="メイリオ" panose="020B0604030504040204" pitchFamily="50" charset="-128"/>
                <a:ea typeface="メイリオ" panose="020B0604030504040204" pitchFamily="50" charset="-128"/>
              </a:rPr>
              <a:t>※</a:t>
            </a:r>
            <a:r>
              <a:rPr lang="ja-JP" altLang="en-US" sz="6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a:p>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700" dirty="0">
                <a:solidFill>
                  <a:schemeClr val="tx1">
                    <a:lumMod val="50000"/>
                    <a:lumOff val="50000"/>
                  </a:schemeClr>
                </a:solidFill>
                <a:latin typeface="メイリオ" panose="020B0604030504040204" pitchFamily="50" charset="-128"/>
                <a:ea typeface="メイリオ" panose="020B0604030504040204" pitchFamily="50" charset="-128"/>
              </a:rPr>
              <a:t>LINEID</a:t>
            </a:r>
            <a:r>
              <a:rPr lang="ja-JP" altLang="en-US" sz="700" dirty="0">
                <a:solidFill>
                  <a:schemeClr val="tx1">
                    <a:lumMod val="50000"/>
                    <a:lumOff val="50000"/>
                  </a:schemeClr>
                </a:solidFill>
                <a:latin typeface="メイリオ" panose="020B0604030504040204" pitchFamily="50" charset="-128"/>
                <a:ea typeface="メイリオ" panose="020B0604030504040204" pitchFamily="50" charset="-128"/>
              </a:rPr>
              <a:t>連携 </a:t>
            </a:r>
            <a:r>
              <a:rPr lang="en-US" altLang="ja-JP" sz="700" dirty="0">
                <a:solidFill>
                  <a:srgbClr val="FF0000"/>
                </a:solidFill>
                <a:latin typeface="メイリオ" panose="020B0604030504040204" pitchFamily="50" charset="-128"/>
                <a:ea typeface="メイリオ" panose="020B0604030504040204" pitchFamily="50" charset="-128"/>
              </a:rPr>
              <a:t>※</a:t>
            </a:r>
            <a:r>
              <a:rPr lang="ja-JP" altLang="en-US" sz="700" dirty="0">
                <a:solidFill>
                  <a:srgbClr val="FF0000"/>
                </a:solidFill>
                <a:latin typeface="メイリオ" panose="020B0604030504040204" pitchFamily="50" charset="-128"/>
                <a:ea typeface="メイリオ" panose="020B0604030504040204" pitchFamily="50" charset="-128"/>
              </a:rPr>
              <a:t>別途費用</a:t>
            </a:r>
            <a:endParaRPr lang="en-US" altLang="ja-JP" sz="700" dirty="0">
              <a:solidFill>
                <a:srgbClr val="FF0000"/>
              </a:solidFill>
              <a:latin typeface="メイリオ" panose="020B0604030504040204" pitchFamily="50" charset="-128"/>
              <a:ea typeface="メイリオ" panose="020B0604030504040204" pitchFamily="50" charset="-128"/>
            </a:endParaRPr>
          </a:p>
        </p:txBody>
      </p:sp>
      <p:sp>
        <p:nvSpPr>
          <p:cNvPr id="69" name="正方形/長方形 68">
            <a:extLst>
              <a:ext uri="{FF2B5EF4-FFF2-40B4-BE49-F238E27FC236}">
                <a16:creationId xmlns:a16="http://schemas.microsoft.com/office/drawing/2014/main" id="{3C7CD555-05D0-53EC-B6D5-ED734EBA27DF}"/>
              </a:ext>
            </a:extLst>
          </p:cNvPr>
          <p:cNvSpPr/>
          <p:nvPr/>
        </p:nvSpPr>
        <p:spPr>
          <a:xfrm>
            <a:off x="5326708" y="291886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タグ・セグメントの管理</a:t>
            </a:r>
          </a:p>
        </p:txBody>
      </p:sp>
      <p:sp>
        <p:nvSpPr>
          <p:cNvPr id="74" name="正方形/長方形 73">
            <a:extLst>
              <a:ext uri="{FF2B5EF4-FFF2-40B4-BE49-F238E27FC236}">
                <a16:creationId xmlns:a16="http://schemas.microsoft.com/office/drawing/2014/main" id="{64296BD6-7E19-AF65-3C1F-3AA68F3DB296}"/>
              </a:ext>
            </a:extLst>
          </p:cNvPr>
          <p:cNvSpPr/>
          <p:nvPr/>
        </p:nvSpPr>
        <p:spPr>
          <a:xfrm>
            <a:off x="5326708" y="3450051"/>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各種初期設計の調整</a:t>
            </a:r>
          </a:p>
        </p:txBody>
      </p:sp>
      <p:sp>
        <p:nvSpPr>
          <p:cNvPr id="75" name="正方形/長方形 74">
            <a:extLst>
              <a:ext uri="{FF2B5EF4-FFF2-40B4-BE49-F238E27FC236}">
                <a16:creationId xmlns:a16="http://schemas.microsoft.com/office/drawing/2014/main" id="{2B391CFB-A763-8F28-0B80-C4699C620787}"/>
              </a:ext>
            </a:extLst>
          </p:cNvPr>
          <p:cNvSpPr/>
          <p:nvPr/>
        </p:nvSpPr>
        <p:spPr>
          <a:xfrm>
            <a:off x="5326708" y="318445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00" b="1">
                <a:solidFill>
                  <a:schemeClr val="bg1"/>
                </a:solidFill>
                <a:latin typeface="メイリオ" panose="020B0604030504040204" pitchFamily="50" charset="-128"/>
                <a:ea typeface="メイリオ" panose="020B0604030504040204" pitchFamily="50" charset="-128"/>
              </a:rPr>
              <a:t>QA</a:t>
            </a:r>
            <a:r>
              <a:rPr lang="ja-JP" altLang="en-US" sz="1000" b="1">
                <a:solidFill>
                  <a:schemeClr val="bg1"/>
                </a:solidFill>
                <a:latin typeface="メイリオ" panose="020B0604030504040204" pitchFamily="50" charset="-128"/>
                <a:ea typeface="メイリオ" panose="020B0604030504040204" pitchFamily="50" charset="-128"/>
              </a:rPr>
              <a:t>解消（自動応答）</a:t>
            </a:r>
            <a:endParaRPr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78BE8892-FE50-BF73-B15E-567C1CFD9A8A}"/>
              </a:ext>
            </a:extLst>
          </p:cNvPr>
          <p:cNvSpPr/>
          <p:nvPr/>
        </p:nvSpPr>
        <p:spPr>
          <a:xfrm>
            <a:off x="6487455" y="2655306"/>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 タグ配信</a:t>
            </a:r>
          </a:p>
        </p:txBody>
      </p:sp>
      <p:sp>
        <p:nvSpPr>
          <p:cNvPr id="77" name="正方形/長方形 76">
            <a:extLst>
              <a:ext uri="{FF2B5EF4-FFF2-40B4-BE49-F238E27FC236}">
                <a16:creationId xmlns:a16="http://schemas.microsoft.com/office/drawing/2014/main" id="{5FB8C9E8-13C6-54AE-CC6C-E66EB44BEE66}"/>
              </a:ext>
            </a:extLst>
          </p:cNvPr>
          <p:cNvSpPr/>
          <p:nvPr/>
        </p:nvSpPr>
        <p:spPr>
          <a:xfrm>
            <a:off x="5319693" y="3715648"/>
            <a:ext cx="2292685" cy="221767"/>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チャットルーム</a:t>
            </a:r>
          </a:p>
        </p:txBody>
      </p:sp>
      <p:cxnSp>
        <p:nvCxnSpPr>
          <p:cNvPr id="78" name="コネクタ: カギ線 77">
            <a:extLst>
              <a:ext uri="{FF2B5EF4-FFF2-40B4-BE49-F238E27FC236}">
                <a16:creationId xmlns:a16="http://schemas.microsoft.com/office/drawing/2014/main" id="{A0B29E3B-5447-4104-E77E-C26EB1CB0F8A}"/>
              </a:ext>
            </a:extLst>
          </p:cNvPr>
          <p:cNvCxnSpPr>
            <a:cxnSpLocks/>
            <a:stCxn id="77" idx="3"/>
          </p:cNvCxnSpPr>
          <p:nvPr/>
        </p:nvCxnSpPr>
        <p:spPr>
          <a:xfrm flipV="1">
            <a:off x="7612378" y="2246045"/>
            <a:ext cx="558434" cy="1580487"/>
          </a:xfrm>
          <a:prstGeom prst="bentConnector3">
            <a:avLst>
              <a:gd name="adj1" fmla="val 76511"/>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9" name="コネクタ: カギ線 78">
            <a:extLst>
              <a:ext uri="{FF2B5EF4-FFF2-40B4-BE49-F238E27FC236}">
                <a16:creationId xmlns:a16="http://schemas.microsoft.com/office/drawing/2014/main" id="{6F60DF78-AC16-9662-17BD-3EBCD4677BB3}"/>
              </a:ext>
            </a:extLst>
          </p:cNvPr>
          <p:cNvCxnSpPr>
            <a:cxnSpLocks/>
            <a:stCxn id="74" idx="3"/>
          </p:cNvCxnSpPr>
          <p:nvPr/>
        </p:nvCxnSpPr>
        <p:spPr>
          <a:xfrm flipV="1">
            <a:off x="7619393" y="2530542"/>
            <a:ext cx="551419" cy="103039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2" name="コネクタ: カギ線 81">
            <a:extLst>
              <a:ext uri="{FF2B5EF4-FFF2-40B4-BE49-F238E27FC236}">
                <a16:creationId xmlns:a16="http://schemas.microsoft.com/office/drawing/2014/main" id="{9ACE7516-910E-229D-8D61-02389EE1209F}"/>
              </a:ext>
            </a:extLst>
          </p:cNvPr>
          <p:cNvCxnSpPr>
            <a:cxnSpLocks/>
            <a:stCxn id="75" idx="3"/>
          </p:cNvCxnSpPr>
          <p:nvPr/>
        </p:nvCxnSpPr>
        <p:spPr>
          <a:xfrm flipV="1">
            <a:off x="7619393" y="2530542"/>
            <a:ext cx="551419" cy="76479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3" name="コネクタ: カギ線 82">
            <a:extLst>
              <a:ext uri="{FF2B5EF4-FFF2-40B4-BE49-F238E27FC236}">
                <a16:creationId xmlns:a16="http://schemas.microsoft.com/office/drawing/2014/main" id="{CFEF0AA5-73C6-3E02-7EDB-57BE374DCDBF}"/>
              </a:ext>
            </a:extLst>
          </p:cNvPr>
          <p:cNvCxnSpPr>
            <a:cxnSpLocks/>
            <a:stCxn id="69" idx="3"/>
          </p:cNvCxnSpPr>
          <p:nvPr/>
        </p:nvCxnSpPr>
        <p:spPr>
          <a:xfrm flipV="1">
            <a:off x="7619393" y="2530542"/>
            <a:ext cx="551419" cy="499203"/>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4" name="コネクタ: カギ線 83">
            <a:extLst>
              <a:ext uri="{FF2B5EF4-FFF2-40B4-BE49-F238E27FC236}">
                <a16:creationId xmlns:a16="http://schemas.microsoft.com/office/drawing/2014/main" id="{994CBAF5-3A55-5F8D-2FE3-7E89A4D5C622}"/>
              </a:ext>
            </a:extLst>
          </p:cNvPr>
          <p:cNvCxnSpPr>
            <a:cxnSpLocks/>
            <a:stCxn id="76" idx="3"/>
          </p:cNvCxnSpPr>
          <p:nvPr/>
        </p:nvCxnSpPr>
        <p:spPr>
          <a:xfrm flipV="1">
            <a:off x="7612379" y="2530542"/>
            <a:ext cx="558433" cy="235648"/>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5" name="コネクタ: カギ線 84">
            <a:extLst>
              <a:ext uri="{FF2B5EF4-FFF2-40B4-BE49-F238E27FC236}">
                <a16:creationId xmlns:a16="http://schemas.microsoft.com/office/drawing/2014/main" id="{95AFF09E-E9EC-B83D-758F-AB3E03B91C26}"/>
              </a:ext>
            </a:extLst>
          </p:cNvPr>
          <p:cNvCxnSpPr>
            <a:cxnSpLocks/>
            <a:stCxn id="56" idx="3"/>
          </p:cNvCxnSpPr>
          <p:nvPr/>
        </p:nvCxnSpPr>
        <p:spPr>
          <a:xfrm>
            <a:off x="7612379" y="2498555"/>
            <a:ext cx="558433" cy="31987"/>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7" name="コネクタ: カギ線 86">
            <a:extLst>
              <a:ext uri="{FF2B5EF4-FFF2-40B4-BE49-F238E27FC236}">
                <a16:creationId xmlns:a16="http://schemas.microsoft.com/office/drawing/2014/main" id="{81E043B6-4E27-2700-F284-741B1F2B6E99}"/>
              </a:ext>
            </a:extLst>
          </p:cNvPr>
          <p:cNvCxnSpPr>
            <a:cxnSpLocks/>
            <a:stCxn id="55" idx="3"/>
          </p:cNvCxnSpPr>
          <p:nvPr/>
        </p:nvCxnSpPr>
        <p:spPr>
          <a:xfrm>
            <a:off x="7612379" y="2232960"/>
            <a:ext cx="558433" cy="297582"/>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88" name="左中かっこ 87">
            <a:extLst>
              <a:ext uri="{FF2B5EF4-FFF2-40B4-BE49-F238E27FC236}">
                <a16:creationId xmlns:a16="http://schemas.microsoft.com/office/drawing/2014/main" id="{3EB6A587-08D7-7B0D-8BB4-704F3A9413A8}"/>
              </a:ext>
            </a:extLst>
          </p:cNvPr>
          <p:cNvSpPr/>
          <p:nvPr/>
        </p:nvSpPr>
        <p:spPr>
          <a:xfrm>
            <a:off x="5156221" y="2086266"/>
            <a:ext cx="181099" cy="1866748"/>
          </a:xfrm>
          <a:prstGeom prst="leftBrace">
            <a:avLst>
              <a:gd name="adj1" fmla="val 8333"/>
              <a:gd name="adj2" fmla="val 23194"/>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90" name="正方形/長方形 89">
            <a:extLst>
              <a:ext uri="{FF2B5EF4-FFF2-40B4-BE49-F238E27FC236}">
                <a16:creationId xmlns:a16="http://schemas.microsoft.com/office/drawing/2014/main" id="{13F6801A-CC8C-370B-47CD-0E9A8F78DA92}"/>
              </a:ext>
            </a:extLst>
          </p:cNvPr>
          <p:cNvSpPr/>
          <p:nvPr/>
        </p:nvSpPr>
        <p:spPr>
          <a:xfrm>
            <a:off x="468899" y="4586771"/>
            <a:ext cx="5679352" cy="1887988"/>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EBF6537D-D75B-DA5C-78EC-88D8F874BA82}"/>
              </a:ext>
            </a:extLst>
          </p:cNvPr>
          <p:cNvSpPr/>
          <p:nvPr/>
        </p:nvSpPr>
        <p:spPr>
          <a:xfrm>
            <a:off x="2207057" y="6002525"/>
            <a:ext cx="848549" cy="243944"/>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友だち化</a:t>
            </a:r>
          </a:p>
        </p:txBody>
      </p:sp>
      <p:sp>
        <p:nvSpPr>
          <p:cNvPr id="93" name="正方形/長方形 92">
            <a:extLst>
              <a:ext uri="{FF2B5EF4-FFF2-40B4-BE49-F238E27FC236}">
                <a16:creationId xmlns:a16="http://schemas.microsoft.com/office/drawing/2014/main" id="{1A52527A-0CF0-029E-8E86-430BD9DEAAA1}"/>
              </a:ext>
            </a:extLst>
          </p:cNvPr>
          <p:cNvSpPr/>
          <p:nvPr/>
        </p:nvSpPr>
        <p:spPr>
          <a:xfrm>
            <a:off x="548883" y="4704947"/>
            <a:ext cx="731277" cy="243944"/>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CV</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cxnSp>
        <p:nvCxnSpPr>
          <p:cNvPr id="95" name="コネクタ: カギ線 94">
            <a:extLst>
              <a:ext uri="{FF2B5EF4-FFF2-40B4-BE49-F238E27FC236}">
                <a16:creationId xmlns:a16="http://schemas.microsoft.com/office/drawing/2014/main" id="{898B747D-663D-3118-8C11-74EB0324AD5C}"/>
              </a:ext>
            </a:extLst>
          </p:cNvPr>
          <p:cNvCxnSpPr>
            <a:stCxn id="93" idx="0"/>
          </p:cNvCxnSpPr>
          <p:nvPr/>
        </p:nvCxnSpPr>
        <p:spPr>
          <a:xfrm rot="5400000" flipH="1" flipV="1">
            <a:off x="3855271" y="-288234"/>
            <a:ext cx="2052433" cy="7933930"/>
          </a:xfrm>
          <a:prstGeom prst="bentConnector3">
            <a:avLst>
              <a:gd name="adj1" fmla="val 8842"/>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96" name="コネクタ: カギ線 95">
            <a:extLst>
              <a:ext uri="{FF2B5EF4-FFF2-40B4-BE49-F238E27FC236}">
                <a16:creationId xmlns:a16="http://schemas.microsoft.com/office/drawing/2014/main" id="{CA244CA5-B309-FA6E-284D-7CBC7CC2508F}"/>
              </a:ext>
            </a:extLst>
          </p:cNvPr>
          <p:cNvCxnSpPr>
            <a:cxnSpLocks/>
            <a:stCxn id="93" idx="2"/>
            <a:endCxn id="92" idx="1"/>
          </p:cNvCxnSpPr>
          <p:nvPr/>
        </p:nvCxnSpPr>
        <p:spPr>
          <a:xfrm rot="16200000" flipH="1">
            <a:off x="972986" y="4890426"/>
            <a:ext cx="1175606" cy="1292535"/>
          </a:xfrm>
          <a:prstGeom prst="bentConnector2">
            <a:avLst/>
          </a:prstGeom>
          <a:ln>
            <a:solidFill>
              <a:schemeClr val="tx2"/>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98" name="正方形/長方形 97">
            <a:extLst>
              <a:ext uri="{FF2B5EF4-FFF2-40B4-BE49-F238E27FC236}">
                <a16:creationId xmlns:a16="http://schemas.microsoft.com/office/drawing/2014/main" id="{B6490177-CFF0-A875-7C56-F0FC8CA2C530}"/>
              </a:ext>
            </a:extLst>
          </p:cNvPr>
          <p:cNvSpPr/>
          <p:nvPr/>
        </p:nvSpPr>
        <p:spPr>
          <a:xfrm>
            <a:off x="562021" y="5819567"/>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err="1">
                <a:solidFill>
                  <a:schemeClr val="bg1"/>
                </a:solidFill>
                <a:latin typeface="メイリオ" panose="020B0604030504040204" pitchFamily="50" charset="-128"/>
                <a:ea typeface="メイリオ" panose="020B0604030504040204" pitchFamily="50" charset="-128"/>
              </a:rPr>
              <a:t>OptionAPI</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99" name="正方形/長方形 98">
            <a:extLst>
              <a:ext uri="{FF2B5EF4-FFF2-40B4-BE49-F238E27FC236}">
                <a16:creationId xmlns:a16="http://schemas.microsoft.com/office/drawing/2014/main" id="{6D76C720-225A-6A92-8A49-A13770789615}"/>
              </a:ext>
            </a:extLst>
          </p:cNvPr>
          <p:cNvSpPr/>
          <p:nvPr/>
        </p:nvSpPr>
        <p:spPr>
          <a:xfrm>
            <a:off x="562021" y="6084246"/>
            <a:ext cx="1355280" cy="243944"/>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サンクス</a:t>
            </a:r>
            <a:r>
              <a:rPr kumimoji="1" lang="en-US" altLang="ja-JP" sz="1000" b="1" dirty="0">
                <a:solidFill>
                  <a:schemeClr val="bg1"/>
                </a:solidFill>
                <a:latin typeface="メイリオ" panose="020B0604030504040204" pitchFamily="50" charset="-128"/>
                <a:ea typeface="メイリオ" panose="020B0604030504040204" pitchFamily="50" charset="-128"/>
              </a:rPr>
              <a:t>LINE</a:t>
            </a:r>
            <a:r>
              <a:rPr kumimoji="1" lang="ja-JP" altLang="en-US" sz="1000" b="1" dirty="0">
                <a:solidFill>
                  <a:schemeClr val="bg1"/>
                </a:solidFill>
                <a:latin typeface="メイリオ" panose="020B0604030504040204" pitchFamily="50" charset="-128"/>
                <a:ea typeface="メイリオ" panose="020B0604030504040204" pitchFamily="50" charset="-128"/>
              </a:rPr>
              <a:t>誘導</a:t>
            </a:r>
          </a:p>
        </p:txBody>
      </p:sp>
      <p:sp>
        <p:nvSpPr>
          <p:cNvPr id="101" name="正方形/長方形 100">
            <a:extLst>
              <a:ext uri="{FF2B5EF4-FFF2-40B4-BE49-F238E27FC236}">
                <a16:creationId xmlns:a16="http://schemas.microsoft.com/office/drawing/2014/main" id="{9927067B-793F-D21C-B90A-7C7E46812D7F}"/>
              </a:ext>
            </a:extLst>
          </p:cNvPr>
          <p:cNvSpPr/>
          <p:nvPr/>
        </p:nvSpPr>
        <p:spPr>
          <a:xfrm>
            <a:off x="3713703" y="4731321"/>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リマインド配信</a:t>
            </a:r>
          </a:p>
        </p:txBody>
      </p:sp>
      <p:sp>
        <p:nvSpPr>
          <p:cNvPr id="102" name="正方形/長方形 101">
            <a:extLst>
              <a:ext uri="{FF2B5EF4-FFF2-40B4-BE49-F238E27FC236}">
                <a16:creationId xmlns:a16="http://schemas.microsoft.com/office/drawing/2014/main" id="{BD2E83D5-3372-C439-208D-783F428C9D84}"/>
              </a:ext>
            </a:extLst>
          </p:cNvPr>
          <p:cNvSpPr/>
          <p:nvPr/>
        </p:nvSpPr>
        <p:spPr>
          <a:xfrm>
            <a:off x="3713703" y="499691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クロスセル・まとめ買い配信</a:t>
            </a:r>
          </a:p>
        </p:txBody>
      </p:sp>
      <p:sp>
        <p:nvSpPr>
          <p:cNvPr id="104" name="正方形/長方形 103">
            <a:extLst>
              <a:ext uri="{FF2B5EF4-FFF2-40B4-BE49-F238E27FC236}">
                <a16:creationId xmlns:a16="http://schemas.microsoft.com/office/drawing/2014/main" id="{087D59E0-E0CE-3934-C1B4-0EF4D82E0B2E}"/>
              </a:ext>
            </a:extLst>
          </p:cNvPr>
          <p:cNvSpPr/>
          <p:nvPr/>
        </p:nvSpPr>
        <p:spPr>
          <a:xfrm>
            <a:off x="3713703" y="526251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初回購入</a:t>
            </a:r>
            <a:r>
              <a:rPr lang="en-US" altLang="ja-JP" sz="1000" b="1" dirty="0">
                <a:solidFill>
                  <a:schemeClr val="bg1"/>
                </a:solidFill>
                <a:latin typeface="メイリオ" panose="020B0604030504040204" pitchFamily="50" charset="-128"/>
                <a:ea typeface="メイリオ" panose="020B0604030504040204" pitchFamily="50" charset="-128"/>
              </a:rPr>
              <a:t/>
            </a:r>
            <a:r>
              <a:rPr lang="ja-JP" altLang="en-US" sz="1000" b="1" dirty="0">
                <a:solidFill>
                  <a:schemeClr val="bg1"/>
                </a:solidFill>
                <a:latin typeface="メイリオ" panose="020B0604030504040204" pitchFamily="50" charset="-128"/>
                <a:ea typeface="メイリオ" panose="020B0604030504040204" pitchFamily="50" charset="-128"/>
              </a:rPr>
              <a:t/>
            </a:r>
            <a:r>
              <a:rPr lang="en-US" altLang="ja-JP" sz="1000" b="1" dirty="0">
                <a:solidFill>
                  <a:schemeClr val="bg1"/>
                </a:solidFill>
                <a:latin typeface="メイリオ" panose="020B0604030504040204" pitchFamily="50" charset="-128"/>
                <a:ea typeface="メイリオ" panose="020B0604030504040204" pitchFamily="50" charset="-128"/>
              </a:rPr>
              <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05" name="正方形/長方形 104">
            <a:extLst>
              <a:ext uri="{FF2B5EF4-FFF2-40B4-BE49-F238E27FC236}">
                <a16:creationId xmlns:a16="http://schemas.microsoft.com/office/drawing/2014/main" id="{78BB80E0-2482-846A-E4FE-C1770384E88E}"/>
              </a:ext>
            </a:extLst>
          </p:cNvPr>
          <p:cNvSpPr/>
          <p:nvPr/>
        </p:nvSpPr>
        <p:spPr>
          <a:xfrm>
            <a:off x="3720717" y="5528106"/>
            <a:ext cx="2292685"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利用状況タグの設定</a:t>
            </a:r>
          </a:p>
        </p:txBody>
      </p:sp>
      <p:sp>
        <p:nvSpPr>
          <p:cNvPr id="111" name="正方形/長方形 110">
            <a:extLst>
              <a:ext uri="{FF2B5EF4-FFF2-40B4-BE49-F238E27FC236}">
                <a16:creationId xmlns:a16="http://schemas.microsoft.com/office/drawing/2014/main" id="{C885333E-56CE-B011-72B9-07B332849355}"/>
              </a:ext>
            </a:extLst>
          </p:cNvPr>
          <p:cNvSpPr/>
          <p:nvPr/>
        </p:nvSpPr>
        <p:spPr>
          <a:xfrm>
            <a:off x="4881464" y="5264551"/>
            <a:ext cx="1124924" cy="221767"/>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F2・定期引上配信</a:t>
            </a:r>
          </a:p>
        </p:txBody>
      </p:sp>
      <p:cxnSp>
        <p:nvCxnSpPr>
          <p:cNvPr id="112" name="コネクタ: カギ線 111">
            <a:extLst>
              <a:ext uri="{FF2B5EF4-FFF2-40B4-BE49-F238E27FC236}">
                <a16:creationId xmlns:a16="http://schemas.microsoft.com/office/drawing/2014/main" id="{BDA83037-5C06-C2D0-EF8B-90AE0F4336B5}"/>
              </a:ext>
            </a:extLst>
          </p:cNvPr>
          <p:cNvCxnSpPr>
            <a:cxnSpLocks/>
            <a:stCxn id="93" idx="3"/>
            <a:endCxn id="101" idx="1"/>
          </p:cNvCxnSpPr>
          <p:nvPr/>
        </p:nvCxnSpPr>
        <p:spPr>
          <a:xfrm>
            <a:off x="1280160" y="4826919"/>
            <a:ext cx="2433543" cy="1528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5" name="コネクタ: カギ線 114">
            <a:extLst>
              <a:ext uri="{FF2B5EF4-FFF2-40B4-BE49-F238E27FC236}">
                <a16:creationId xmlns:a16="http://schemas.microsoft.com/office/drawing/2014/main" id="{BA23D5BC-C7EC-06D4-215C-2852A68F0F9B}"/>
              </a:ext>
            </a:extLst>
          </p:cNvPr>
          <p:cNvCxnSpPr>
            <a:cxnSpLocks/>
            <a:stCxn id="93" idx="3"/>
            <a:endCxn id="102" idx="1"/>
          </p:cNvCxnSpPr>
          <p:nvPr/>
        </p:nvCxnSpPr>
        <p:spPr>
          <a:xfrm>
            <a:off x="1280160" y="4826919"/>
            <a:ext cx="2433543" cy="28088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6" name="コネクタ: カギ線 115">
            <a:extLst>
              <a:ext uri="{FF2B5EF4-FFF2-40B4-BE49-F238E27FC236}">
                <a16:creationId xmlns:a16="http://schemas.microsoft.com/office/drawing/2014/main" id="{F8AA6994-29BC-2C26-DE5F-C0C21F502236}"/>
              </a:ext>
            </a:extLst>
          </p:cNvPr>
          <p:cNvCxnSpPr>
            <a:cxnSpLocks/>
            <a:stCxn id="93" idx="3"/>
            <a:endCxn id="104" idx="1"/>
          </p:cNvCxnSpPr>
          <p:nvPr/>
        </p:nvCxnSpPr>
        <p:spPr>
          <a:xfrm>
            <a:off x="1280160" y="4826919"/>
            <a:ext cx="2433543" cy="546476"/>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8" name="コネクタ: カギ線 117">
            <a:extLst>
              <a:ext uri="{FF2B5EF4-FFF2-40B4-BE49-F238E27FC236}">
                <a16:creationId xmlns:a16="http://schemas.microsoft.com/office/drawing/2014/main" id="{3AE4A3D0-6C1F-7BCD-3ED2-5F066684CE21}"/>
              </a:ext>
            </a:extLst>
          </p:cNvPr>
          <p:cNvCxnSpPr>
            <a:cxnSpLocks/>
            <a:stCxn id="93" idx="3"/>
            <a:endCxn id="105" idx="1"/>
          </p:cNvCxnSpPr>
          <p:nvPr/>
        </p:nvCxnSpPr>
        <p:spPr>
          <a:xfrm>
            <a:off x="1280160" y="4826919"/>
            <a:ext cx="2440557" cy="812071"/>
          </a:xfrm>
          <a:prstGeom prst="bentConnector3">
            <a:avLst>
              <a:gd name="adj1" fmla="val 50000"/>
            </a:avLst>
          </a:prstGeom>
          <a:ln>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9" name="正方形/長方形 118">
            <a:extLst>
              <a:ext uri="{FF2B5EF4-FFF2-40B4-BE49-F238E27FC236}">
                <a16:creationId xmlns:a16="http://schemas.microsoft.com/office/drawing/2014/main" id="{F922E2DE-5C74-6CAA-736C-BAC94D2952DF}"/>
              </a:ext>
            </a:extLst>
          </p:cNvPr>
          <p:cNvSpPr/>
          <p:nvPr/>
        </p:nvSpPr>
        <p:spPr>
          <a:xfrm>
            <a:off x="3713703" y="5792944"/>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クー</a:t>
            </a:r>
            <a:r>
              <a:rPr lang="ja-JP" altLang="en-US" sz="1000" b="1" dirty="0">
                <a:solidFill>
                  <a:schemeClr val="bg1"/>
                </a:solidFill>
                <a:latin typeface="メイリオ" panose="020B0604030504040204" pitchFamily="50" charset="-128"/>
                <a:ea typeface="メイリオ" panose="020B0604030504040204" pitchFamily="50" charset="-128"/>
              </a:rPr>
              <a:t>ポン・リサーチ動線の設計</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121" name="正方形/長方形 120">
            <a:extLst>
              <a:ext uri="{FF2B5EF4-FFF2-40B4-BE49-F238E27FC236}">
                <a16:creationId xmlns:a16="http://schemas.microsoft.com/office/drawing/2014/main" id="{03175683-57AB-6FFA-0F27-7E81645CA47B}"/>
              </a:ext>
            </a:extLst>
          </p:cNvPr>
          <p:cNvSpPr/>
          <p:nvPr/>
        </p:nvSpPr>
        <p:spPr>
          <a:xfrm>
            <a:off x="3720717" y="6061629"/>
            <a:ext cx="2292685" cy="221767"/>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1to1</a:t>
            </a:r>
            <a:r>
              <a:rPr kumimoji="1" lang="ja-JP" altLang="en-US" sz="1000" b="1" dirty="0">
                <a:solidFill>
                  <a:schemeClr val="bg1"/>
                </a:solidFill>
                <a:latin typeface="メイリオ" panose="020B0604030504040204" pitchFamily="50" charset="-128"/>
                <a:ea typeface="メイリオ" panose="020B0604030504040204" pitchFamily="50" charset="-128"/>
              </a:rPr>
              <a:t>チャット機能</a:t>
            </a:r>
          </a:p>
        </p:txBody>
      </p:sp>
      <p:cxnSp>
        <p:nvCxnSpPr>
          <p:cNvPr id="122" name="コネクタ: カギ線 121">
            <a:extLst>
              <a:ext uri="{FF2B5EF4-FFF2-40B4-BE49-F238E27FC236}">
                <a16:creationId xmlns:a16="http://schemas.microsoft.com/office/drawing/2014/main" id="{30FE3CED-649C-7946-1117-B1E2FD2D7F26}"/>
              </a:ext>
            </a:extLst>
          </p:cNvPr>
          <p:cNvCxnSpPr>
            <a:cxnSpLocks/>
          </p:cNvCxnSpPr>
          <p:nvPr/>
        </p:nvCxnSpPr>
        <p:spPr>
          <a:xfrm rot="5400000" flipH="1" flipV="1">
            <a:off x="1605206" y="3681433"/>
            <a:ext cx="3347219" cy="1294966"/>
          </a:xfrm>
          <a:prstGeom prst="bentConnector3">
            <a:avLst>
              <a:gd name="adj1" fmla="val 46358"/>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124" name="正方形/長方形 123">
            <a:extLst>
              <a:ext uri="{FF2B5EF4-FFF2-40B4-BE49-F238E27FC236}">
                <a16:creationId xmlns:a16="http://schemas.microsoft.com/office/drawing/2014/main" id="{5EB01514-8877-C931-E7AA-81B28EB77681}"/>
              </a:ext>
            </a:extLst>
          </p:cNvPr>
          <p:cNvSpPr/>
          <p:nvPr/>
        </p:nvSpPr>
        <p:spPr>
          <a:xfrm>
            <a:off x="6986937" y="1517116"/>
            <a:ext cx="2583782" cy="252610"/>
          </a:xfrm>
          <a:prstGeom prst="rect">
            <a:avLst/>
          </a:prstGeom>
          <a:solidFill>
            <a:srgbClr val="04FA0A">
              <a:alpha val="8000"/>
            </a:srgb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b="1" dirty="0">
                <a:solidFill>
                  <a:srgbClr val="00B050"/>
                </a:solidFill>
                <a:latin typeface="メイリオ" panose="020B0604030504040204" pitchFamily="50" charset="-128"/>
                <a:ea typeface="メイリオ" panose="020B0604030504040204" pitchFamily="50" charset="-128"/>
              </a:rPr>
              <a:t>自動化</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ツール導入により</a:t>
            </a:r>
            <a:r>
              <a:rPr lang="en-US" altLang="ja-JP" sz="1000" b="1" dirty="0">
                <a:solidFill>
                  <a:srgbClr val="00B050"/>
                </a:solidFill>
                <a:latin typeface="メイリオ" panose="020B0604030504040204" pitchFamily="50" charset="-128"/>
                <a:ea typeface="メイリオ" panose="020B0604030504040204" pitchFamily="50" charset="-128"/>
              </a:rPr>
              <a:t>)</a:t>
            </a:r>
            <a:r>
              <a:rPr lang="ja-JP" altLang="en-US" sz="1000" b="1" dirty="0">
                <a:solidFill>
                  <a:srgbClr val="00B050"/>
                </a:solidFill>
                <a:latin typeface="メイリオ" panose="020B0604030504040204" pitchFamily="50" charset="-128"/>
                <a:ea typeface="メイリオ" panose="020B0604030504040204" pitchFamily="50" charset="-128"/>
              </a:rPr>
              <a:t>可能領域</a:t>
            </a:r>
            <a:endParaRPr kumimoji="1" lang="ja-JP" altLang="en-US" sz="1000" b="1" dirty="0">
              <a:solidFill>
                <a:srgbClr val="00B05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34270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構築｜施策展開図（初期・月次）</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カゴ落ち防止・ポップアップ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カート離脱時に、条件を満たすと</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・商戦企画配信（BF・年末・母の日）</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・初回クーポン／F2クーポン</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13354487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構築｜友だち追加と育成の2軸</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✓初回クーポン　✓送料無料特典</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✓LINEで再購入　✓LINEで相談</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
            </a:r>
            <a:endParaRPr lang="ja-JP" altLang="en-US" sz="1000" dirty="0">
              <a:solidFill>
                <a:schemeClr val="bg1">
                  <a:lumMod val="50000"/>
                </a:schemeClr>
              </a:solidFill>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✓ブラックフライデー、母の日にちなんだ…。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年齢→ライフイベント、よくある悩み</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✓消費サイクルから再購入時期を設定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8656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構築｜友だち追加後15日でアクティブ率が落ちる</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7" y="3086837"/>
            <a:ext cx="1653346"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326221" y="3086838"/>
            <a:ext cx="241124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653346"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326221" y="5838471"/>
            <a:ext cx="241124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065560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全体設計｜施策の考え方（誰を、どのCVへ）</a:t>
            </a: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を軸に配信戦略を組み立てることでユーザーのアクティブ率を保った状態で運用。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11" name="テキスト ボックス 10">
            <a:extLst>
              <a:ext uri="{FF2B5EF4-FFF2-40B4-BE49-F238E27FC236}">
                <a16:creationId xmlns:a16="http://schemas.microsoft.com/office/drawing/2014/main" id="{1CD1533E-1582-9E17-EE6F-EA2F4BE96D58}"/>
              </a:ext>
            </a:extLst>
          </p:cNvPr>
          <p:cNvSpPr txBox="1"/>
          <p:nvPr/>
        </p:nvSpPr>
        <p:spPr>
          <a:xfrm>
            <a:off x="422130"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12" name="テキスト ボックス 11">
            <a:extLst>
              <a:ext uri="{FF2B5EF4-FFF2-40B4-BE49-F238E27FC236}">
                <a16:creationId xmlns:a16="http://schemas.microsoft.com/office/drawing/2014/main" id="{2C43BB1A-3D6A-04B9-F8ED-26CB7DCA3735}"/>
              </a:ext>
            </a:extLst>
          </p:cNvPr>
          <p:cNvSpPr txBox="1"/>
          <p:nvPr/>
        </p:nvSpPr>
        <p:spPr>
          <a:xfrm>
            <a:off x="422130"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15" name="テキスト ボックス 14">
            <a:extLst>
              <a:ext uri="{FF2B5EF4-FFF2-40B4-BE49-F238E27FC236}">
                <a16:creationId xmlns:a16="http://schemas.microsoft.com/office/drawing/2014/main" id="{BCB10DC8-82CD-0C69-034B-7642E1296837}"/>
              </a:ext>
            </a:extLst>
          </p:cNvPr>
          <p:cNvSpPr txBox="1"/>
          <p:nvPr/>
        </p:nvSpPr>
        <p:spPr>
          <a:xfrm>
            <a:off x="422130"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15AFA19-CD5F-9379-AE26-44B78C354860}"/>
              </a:ext>
            </a:extLst>
          </p:cNvPr>
          <p:cNvSpPr txBox="1"/>
          <p:nvPr/>
        </p:nvSpPr>
        <p:spPr>
          <a:xfrm>
            <a:off x="422130" y="3467172"/>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22062743-7DD1-C474-56DE-C86161967F49}"/>
              </a:ext>
            </a:extLst>
          </p:cNvPr>
          <p:cNvSpPr txBox="1"/>
          <p:nvPr/>
        </p:nvSpPr>
        <p:spPr>
          <a:xfrm>
            <a:off x="422130"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B3F98235-7ECD-D5F4-08BE-76857355ABFA}"/>
              </a:ext>
            </a:extLst>
          </p:cNvPr>
          <p:cNvSpPr txBox="1"/>
          <p:nvPr/>
        </p:nvSpPr>
        <p:spPr>
          <a:xfrm>
            <a:off x="422130"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19" name="テキスト ボックス 18">
            <a:extLst>
              <a:ext uri="{FF2B5EF4-FFF2-40B4-BE49-F238E27FC236}">
                <a16:creationId xmlns:a16="http://schemas.microsoft.com/office/drawing/2014/main" id="{999F747F-6C0D-0BDB-B5B7-8266514B8949}"/>
              </a:ext>
            </a:extLst>
          </p:cNvPr>
          <p:cNvSpPr txBox="1"/>
          <p:nvPr/>
        </p:nvSpPr>
        <p:spPr>
          <a:xfrm>
            <a:off x="422130"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A2277771-01BE-2A4E-C621-929D69C54177}"/>
              </a:ext>
            </a:extLst>
          </p:cNvPr>
          <p:cNvSpPr txBox="1"/>
          <p:nvPr/>
        </p:nvSpPr>
        <p:spPr>
          <a:xfrm>
            <a:off x="422130"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21" name="直線矢印コネクタ 20">
            <a:extLst>
              <a:ext uri="{FF2B5EF4-FFF2-40B4-BE49-F238E27FC236}">
                <a16:creationId xmlns:a16="http://schemas.microsoft.com/office/drawing/2014/main" id="{9CD79024-49B9-DF89-8EE9-633017761437}"/>
              </a:ext>
            </a:extLst>
          </p:cNvPr>
          <p:cNvCxnSpPr>
            <a:cxnSpLocks/>
          </p:cNvCxnSpPr>
          <p:nvPr/>
        </p:nvCxnSpPr>
        <p:spPr>
          <a:xfrm>
            <a:off x="725974"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3707324A-CA31-10C7-B6B8-E3A9A53CC3A2}"/>
              </a:ext>
            </a:extLst>
          </p:cNvPr>
          <p:cNvSpPr txBox="1"/>
          <p:nvPr/>
        </p:nvSpPr>
        <p:spPr>
          <a:xfrm>
            <a:off x="5143202" y="1861195"/>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① 接触（認知・流入）</a:t>
            </a:r>
          </a:p>
        </p:txBody>
      </p:sp>
      <p:sp>
        <p:nvSpPr>
          <p:cNvPr id="34" name="テキスト ボックス 33">
            <a:extLst>
              <a:ext uri="{FF2B5EF4-FFF2-40B4-BE49-F238E27FC236}">
                <a16:creationId xmlns:a16="http://schemas.microsoft.com/office/drawing/2014/main" id="{2ADFDD2E-A723-2916-4648-0F5E903278F3}"/>
              </a:ext>
            </a:extLst>
          </p:cNvPr>
          <p:cNvSpPr txBox="1"/>
          <p:nvPr/>
        </p:nvSpPr>
        <p:spPr>
          <a:xfrm>
            <a:off x="5143202" y="2931847"/>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③ 育成（興味</a:t>
            </a:r>
            <a:r>
              <a:rPr lang="ja-JP" altLang="en-US" sz="1200" b="1" dirty="0">
                <a:latin typeface="メイリオ" panose="020B0604030504040204" pitchFamily="50" charset="-128"/>
                <a:ea typeface="メイリオ" panose="020B0604030504040204" pitchFamily="50" charset="-128"/>
              </a:rPr>
              <a:t>喚起</a:t>
            </a:r>
            <a:r>
              <a:rPr lang="ja-JP" altLang="ja-JP" sz="1200" b="1" dirty="0">
                <a:latin typeface="メイリオ" panose="020B0604030504040204" pitchFamily="50" charset="-128"/>
                <a:ea typeface="メイリオ" panose="020B0604030504040204" pitchFamily="50" charset="-128"/>
              </a:rPr>
              <a:t>）</a:t>
            </a:r>
          </a:p>
        </p:txBody>
      </p:sp>
      <p:sp>
        <p:nvSpPr>
          <p:cNvPr id="35" name="テキスト ボックス 34">
            <a:extLst>
              <a:ext uri="{FF2B5EF4-FFF2-40B4-BE49-F238E27FC236}">
                <a16:creationId xmlns:a16="http://schemas.microsoft.com/office/drawing/2014/main" id="{B895B974-A656-2669-0CE1-C27F2B4B20BE}"/>
              </a:ext>
            </a:extLst>
          </p:cNvPr>
          <p:cNvSpPr txBox="1"/>
          <p:nvPr/>
        </p:nvSpPr>
        <p:spPr>
          <a:xfrm>
            <a:off x="5143202" y="2396521"/>
            <a:ext cx="2352196" cy="446111"/>
          </a:xfrm>
          <a:prstGeom prst="rect">
            <a:avLst/>
          </a:prstGeom>
          <a:solidFill>
            <a:schemeClr val="accent6">
              <a:lumMod val="40000"/>
              <a:lumOff val="60000"/>
              <a:alpha val="30000"/>
            </a:schemeClr>
          </a:solidFill>
        </p:spPr>
        <p:txBody>
          <a:bodyPr wrap="square">
            <a:spAutoFit/>
          </a:bodyPr>
          <a:lstStyle/>
          <a:p>
            <a:pPr>
              <a:buNone/>
            </a:pPr>
            <a:r>
              <a:rPr lang="ja-JP" altLang="ja-JP" sz="1200" b="1" dirty="0">
                <a:latin typeface="メイリオ" panose="020B0604030504040204" pitchFamily="50" charset="-128"/>
                <a:ea typeface="メイリオ" panose="020B0604030504040204" pitchFamily="50" charset="-128"/>
              </a:rPr>
              <a:t>② サイト離脱</a:t>
            </a:r>
            <a:r>
              <a:rPr lang="ja-JP" altLang="en-US" sz="1200" b="1" dirty="0">
                <a:latin typeface="メイリオ" panose="020B0604030504040204" pitchFamily="50" charset="-128"/>
                <a:ea typeface="メイリオ" panose="020B0604030504040204" pitchFamily="50" charset="-128"/>
              </a:rPr>
              <a:t>（対策）</a:t>
            </a:r>
            <a:endParaRPr lang="ja-JP" altLang="ja-JP" sz="1200" b="1" dirty="0">
              <a:latin typeface="メイリオ" panose="020B0604030504040204" pitchFamily="50" charset="-128"/>
              <a:ea typeface="メイリオ" panose="020B0604030504040204" pitchFamily="50" charset="-128"/>
            </a:endParaRPr>
          </a:p>
        </p:txBody>
      </p:sp>
      <p:sp>
        <p:nvSpPr>
          <p:cNvPr id="36" name="テキスト ボックス 35">
            <a:extLst>
              <a:ext uri="{FF2B5EF4-FFF2-40B4-BE49-F238E27FC236}">
                <a16:creationId xmlns:a16="http://schemas.microsoft.com/office/drawing/2014/main" id="{A07117C9-502D-4C6F-AA2E-1C1E7CF7B4C6}"/>
              </a:ext>
            </a:extLst>
          </p:cNvPr>
          <p:cNvSpPr txBox="1"/>
          <p:nvPr/>
        </p:nvSpPr>
        <p:spPr>
          <a:xfrm>
            <a:off x="5143202" y="3467173"/>
            <a:ext cx="2352196" cy="446111"/>
          </a:xfrm>
          <a:prstGeom prst="rect">
            <a:avLst/>
          </a:prstGeom>
          <a:solidFill>
            <a:schemeClr val="accent6">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④リード獲得 </a:t>
            </a:r>
            <a:r>
              <a:rPr lang="en-US" altLang="ja-JP" sz="1000" b="1" dirty="0">
                <a:latin typeface="メイリオ" panose="020B0604030504040204" pitchFamily="50" charset="-128"/>
                <a:ea typeface="メイリオ" panose="020B0604030504040204" pitchFamily="50" charset="-128"/>
              </a:rPr>
              <a:t>(web/LINE)</a:t>
            </a:r>
            <a:endParaRPr lang="ja-JP" altLang="ja-JP" sz="1100" b="1" dirty="0">
              <a:latin typeface="メイリオ" panose="020B0604030504040204" pitchFamily="50" charset="-128"/>
              <a:ea typeface="メイリオ" panose="020B0604030504040204" pitchFamily="50" charset="-128"/>
            </a:endParaRPr>
          </a:p>
        </p:txBody>
      </p:sp>
      <p:sp>
        <p:nvSpPr>
          <p:cNvPr id="38" name="テキスト ボックス 37">
            <a:extLst>
              <a:ext uri="{FF2B5EF4-FFF2-40B4-BE49-F238E27FC236}">
                <a16:creationId xmlns:a16="http://schemas.microsoft.com/office/drawing/2014/main" id="{56761199-CD70-153F-E94B-20E5E833D7A7}"/>
              </a:ext>
            </a:extLst>
          </p:cNvPr>
          <p:cNvSpPr txBox="1"/>
          <p:nvPr/>
        </p:nvSpPr>
        <p:spPr>
          <a:xfrm>
            <a:off x="5143202" y="440702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⑤ リード有効化</a:t>
            </a:r>
            <a:endParaRPr lang="ja-JP" altLang="ja-JP"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72CCB353-50A1-FF17-E933-B1158BEE91E4}"/>
              </a:ext>
            </a:extLst>
          </p:cNvPr>
          <p:cNvSpPr txBox="1"/>
          <p:nvPr/>
        </p:nvSpPr>
        <p:spPr>
          <a:xfrm>
            <a:off x="5143202" y="5477676"/>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⑦マネタイズ</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成約</a:t>
            </a:r>
            <a:r>
              <a:rPr lang="en-US" altLang="ja-JP" sz="1050" b="1" dirty="0">
                <a:latin typeface="メイリオ" panose="020B0604030504040204" pitchFamily="50" charset="-128"/>
                <a:ea typeface="メイリオ" panose="020B0604030504040204" pitchFamily="50" charset="-128"/>
              </a:rPr>
              <a:t>/</a:t>
            </a:r>
            <a:r>
              <a:rPr lang="ja-JP" altLang="en-US" sz="1050" b="1" dirty="0">
                <a:latin typeface="メイリオ" panose="020B0604030504040204" pitchFamily="50" charset="-128"/>
                <a:ea typeface="メイリオ" panose="020B0604030504040204" pitchFamily="50" charset="-128"/>
              </a:rPr>
              <a:t>購入</a:t>
            </a:r>
            <a:r>
              <a:rPr lang="en-US" altLang="ja-JP" sz="1050" b="1" dirty="0">
                <a:latin typeface="メイリオ" panose="020B0604030504040204" pitchFamily="50" charset="-128"/>
                <a:ea typeface="メイリオ" panose="020B0604030504040204" pitchFamily="50" charset="-128"/>
              </a:rPr>
              <a:t>)</a:t>
            </a:r>
            <a:endParaRPr lang="ja-JP" altLang="ja-JP" sz="12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44A347FC-9BE7-316C-5F13-B7762E412092}"/>
              </a:ext>
            </a:extLst>
          </p:cNvPr>
          <p:cNvSpPr txBox="1"/>
          <p:nvPr/>
        </p:nvSpPr>
        <p:spPr>
          <a:xfrm>
            <a:off x="5143202" y="4942350"/>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⑥ 有効リードの再育成</a:t>
            </a:r>
            <a:endParaRPr lang="ja-JP" altLang="ja-JP" sz="12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31750602-2370-CB79-F23B-20E4B2FC9A45}"/>
              </a:ext>
            </a:extLst>
          </p:cNvPr>
          <p:cNvSpPr txBox="1"/>
          <p:nvPr/>
        </p:nvSpPr>
        <p:spPr>
          <a:xfrm>
            <a:off x="5143202" y="6013004"/>
            <a:ext cx="2352196" cy="446111"/>
          </a:xfrm>
          <a:prstGeom prst="rect">
            <a:avLst/>
          </a:prstGeom>
          <a:solidFill>
            <a:schemeClr val="tx2">
              <a:lumMod val="40000"/>
              <a:lumOff val="60000"/>
              <a:alpha val="30000"/>
            </a:schemeClr>
          </a:solidFill>
        </p:spPr>
        <p:txBody>
          <a:bodyPr wrap="square">
            <a:spAutoFit/>
          </a:bodyPr>
          <a:lstStyle/>
          <a:p>
            <a:pPr>
              <a:buNone/>
            </a:pPr>
            <a:r>
              <a:rPr lang="ja-JP" altLang="en-US" sz="1200" b="1" dirty="0">
                <a:latin typeface="メイリオ" panose="020B0604030504040204" pitchFamily="50" charset="-128"/>
                <a:ea typeface="メイリオ" panose="020B0604030504040204" pitchFamily="50" charset="-128"/>
              </a:rPr>
              <a:t>⑧</a:t>
            </a:r>
            <a:r>
              <a:rPr lang="en-US" altLang="ja-JP" sz="1200" b="1" dirty="0">
                <a:latin typeface="メイリオ" panose="020B0604030504040204" pitchFamily="50" charset="-128"/>
                <a:ea typeface="メイリオ" panose="020B0604030504040204" pitchFamily="50" charset="-128"/>
              </a:rPr>
              <a:t>LTV</a:t>
            </a:r>
            <a:r>
              <a:rPr lang="ja-JP" altLang="en-US" sz="1200" b="1" dirty="0">
                <a:latin typeface="メイリオ" panose="020B0604030504040204" pitchFamily="50" charset="-128"/>
                <a:ea typeface="メイリオ" panose="020B0604030504040204" pitchFamily="50" charset="-128"/>
              </a:rPr>
              <a:t>最大化・紹介</a:t>
            </a:r>
            <a:endParaRPr lang="ja-JP" altLang="ja-JP" sz="1200" b="1" dirty="0">
              <a:latin typeface="メイリオ" panose="020B0604030504040204" pitchFamily="50" charset="-128"/>
              <a:ea typeface="メイリオ" panose="020B0604030504040204" pitchFamily="50" charset="-128"/>
            </a:endParaRPr>
          </a:p>
        </p:txBody>
      </p:sp>
      <p:cxnSp>
        <p:nvCxnSpPr>
          <p:cNvPr id="46" name="直線矢印コネクタ 45">
            <a:extLst>
              <a:ext uri="{FF2B5EF4-FFF2-40B4-BE49-F238E27FC236}">
                <a16:creationId xmlns:a16="http://schemas.microsoft.com/office/drawing/2014/main" id="{7398214A-9BC3-94A2-1B44-ABFB6EF10A95}"/>
              </a:ext>
            </a:extLst>
          </p:cNvPr>
          <p:cNvCxnSpPr>
            <a:cxnSpLocks/>
          </p:cNvCxnSpPr>
          <p:nvPr/>
        </p:nvCxnSpPr>
        <p:spPr>
          <a:xfrm>
            <a:off x="5447046" y="3934112"/>
            <a:ext cx="0" cy="474234"/>
          </a:xfrm>
          <a:prstGeom prst="straightConnector1">
            <a:avLst/>
          </a:prstGeom>
          <a:ln w="1270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pic>
        <p:nvPicPr>
          <p:cNvPr id="50" name="図 49">
            <a:extLst>
              <a:ext uri="{FF2B5EF4-FFF2-40B4-BE49-F238E27FC236}">
                <a16:creationId xmlns:a16="http://schemas.microsoft.com/office/drawing/2014/main" id="{BC82B682-A1BD-AF78-6196-B1E02CC1F3FB}"/>
              </a:ext>
            </a:extLst>
          </p:cNvPr>
          <p:cNvPicPr>
            <a:picLocks noChangeAspect="1"/>
          </p:cNvPicPr>
          <p:nvPr/>
        </p:nvPicPr>
        <p:blipFill>
          <a:blip r:embed="rId2"/>
          <a:stretch>
            <a:fillRect/>
          </a:stretch>
        </p:blipFill>
        <p:spPr>
          <a:xfrm>
            <a:off x="2277117" y="2386532"/>
            <a:ext cx="481489" cy="448956"/>
          </a:xfrm>
          <a:prstGeom prst="rect">
            <a:avLst/>
          </a:prstGeom>
        </p:spPr>
      </p:pic>
      <p:pic>
        <p:nvPicPr>
          <p:cNvPr id="54" name="図 53">
            <a:extLst>
              <a:ext uri="{FF2B5EF4-FFF2-40B4-BE49-F238E27FC236}">
                <a16:creationId xmlns:a16="http://schemas.microsoft.com/office/drawing/2014/main" id="{13BFB52F-AE2C-2214-E223-63E053D9FE07}"/>
              </a:ext>
            </a:extLst>
          </p:cNvPr>
          <p:cNvPicPr>
            <a:picLocks noChangeAspect="1"/>
          </p:cNvPicPr>
          <p:nvPr/>
        </p:nvPicPr>
        <p:blipFill>
          <a:blip r:embed="rId2"/>
          <a:stretch>
            <a:fillRect/>
          </a:stretch>
        </p:blipFill>
        <p:spPr>
          <a:xfrm>
            <a:off x="7114089" y="3453958"/>
            <a:ext cx="481489" cy="448956"/>
          </a:xfrm>
          <a:prstGeom prst="rect">
            <a:avLst/>
          </a:prstGeom>
        </p:spPr>
      </p:pic>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pic>
        <p:nvPicPr>
          <p:cNvPr id="70" name="図 69">
            <a:extLst>
              <a:ext uri="{FF2B5EF4-FFF2-40B4-BE49-F238E27FC236}">
                <a16:creationId xmlns:a16="http://schemas.microsoft.com/office/drawing/2014/main" id="{B5C916EA-56BA-12E3-B0EE-D83A8EC90585}"/>
              </a:ext>
            </a:extLst>
          </p:cNvPr>
          <p:cNvPicPr>
            <a:picLocks noChangeAspect="1"/>
          </p:cNvPicPr>
          <p:nvPr/>
        </p:nvPicPr>
        <p:blipFill>
          <a:blip r:embed="rId3"/>
          <a:stretch>
            <a:fillRect/>
          </a:stretch>
        </p:blipFill>
        <p:spPr>
          <a:xfrm>
            <a:off x="7595578" y="3298969"/>
            <a:ext cx="2167546" cy="2688917"/>
          </a:xfrm>
          <a:prstGeom prst="rect">
            <a:avLst/>
          </a:prstGeom>
        </p:spPr>
      </p:pic>
      <p:pic>
        <p:nvPicPr>
          <p:cNvPr id="826" name="図 825">
            <a:extLst>
              <a:ext uri="{FF2B5EF4-FFF2-40B4-BE49-F238E27FC236}">
                <a16:creationId xmlns:a16="http://schemas.microsoft.com/office/drawing/2014/main" id="{2D4E7AC1-305D-07DC-9608-BFD7502EFD59}"/>
              </a:ext>
            </a:extLst>
          </p:cNvPr>
          <p:cNvPicPr>
            <a:picLocks noChangeAspect="1"/>
          </p:cNvPicPr>
          <p:nvPr/>
        </p:nvPicPr>
        <p:blipFill>
          <a:blip r:embed="rId4"/>
          <a:stretch>
            <a:fillRect/>
          </a:stretch>
        </p:blipFill>
        <p:spPr>
          <a:xfrm>
            <a:off x="2758613" y="2386532"/>
            <a:ext cx="2101635" cy="2379328"/>
          </a:xfrm>
          <a:prstGeom prst="rect">
            <a:avLst/>
          </a:prstGeom>
        </p:spPr>
      </p:pic>
    </p:spTree>
    <p:extLst>
      <p:ext uri="{BB962C8B-B14F-4D97-AF65-F5344CB8AC3E}">
        <p14:creationId xmlns:p14="http://schemas.microsoft.com/office/powerpoint/2010/main" val="2299358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配信設計｜改善モデル① カゴ落ちの回収</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957158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配信設計｜改善モデル② 初回購入の後押し</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まとめ買いに向けて、今から準備を始めるお客様が増えています」という商戦モーメントに乗せた再接触配信。悩みのピーク2〜3週前に配信することがCVR最大化のコツ。「売り込み」ではなく「タイミングの案内」として届ける。</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56826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配信設計｜改善モデル③ F2転換の自動化</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購入を迷っているユーザーに「使い始めて3ヶ月の方の今」「先輩ユーザーの1週間スケジュール」などリアルな体験談をLINEで定期配信。「買った後どうなるか」の不安を、実際のユーザー事例で解消する。</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774396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配信設計｜改善モデル④ 定期引上と休眠復活</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サイズ・関連商品を自動配信。「今のプランより月〇〇円で〇〇が追加できます」という具体的メリット提示がCVRを高める。満足度が高い購入後3ヶ月が最適タイミング。</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rgbClr val="F5F5F8"/>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。「自分のことを覚えてくれている」体験がロイヤリティを高め年間LTVを平均20%向上。</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誕生日・入会日等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7255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5" name="TextBox 4"/>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ここからは「何を、いつ、どう配信するか」の具体。</a:t>
            </a:r>
          </a:p>
          <a:p>
            <a:pPr algn="l">
              <a:lnSpc>
                <a:spcPct val="135000"/>
              </a:lnSpc>
            </a:pPr>
            <a:r>
              <a:rPr sz="1400">
                <a:solidFill>
                  <a:srgbClr val="333333"/>
                </a:solidFill>
                <a:latin typeface="メイリオ"/>
                <a:ea typeface="メイリオ"/>
                <a:cs typeface="メイリオ"/>
              </a:rPr>
              <a:t>主KPIは CPO ＋ F2転換率の2本立て。締めは LTV ÷ CPO。</a:t>
            </a:r>
          </a:p>
        </p:txBody>
      </p:sp>
      <p:sp>
        <p:nvSpPr>
          <p:cNvPr id="6" name="TextBox 5"/>
          <p:cNvSpPr txBox="1"/>
          <p:nvPr/>
        </p:nvSpPr>
        <p:spPr>
          <a:xfrm>
            <a:off x="432000" y="648000"/>
            <a:ext cx="9036000" cy="684000"/>
          </a:xfrm>
          <a:prstGeom prst="rect">
            <a:avLst/>
          </a:prstGeom>
          <a:noFill/>
        </p:spPr>
        <p:txBody>
          <a:bodyPr wrap="square" lIns="50400" rIns="50400" tIns="18000" bIns="18000" anchor="t">
            <a:spAutoFit/>
          </a:bodyPr>
          <a:lstStyle/>
          <a:p>
            <a:pPr algn="l">
              <a:lnSpc>
                <a:spcPct val="135000"/>
              </a:lnSpc>
            </a:pPr>
            <a:r>
              <a:rPr sz="1400">
                <a:solidFill>
                  <a:srgbClr val="333333"/>
                </a:solidFill>
                <a:latin typeface="メイリオ"/>
                <a:ea typeface="メイリオ"/>
                <a:cs typeface="メイリオ"/>
              </a:rPr>
              <a:t>ここからは「何を、いつ、どう配信するか」の具体。</a:t>
            </a:r>
          </a:p>
          <a:p>
            <a:pPr algn="l">
              <a:lnSpc>
                <a:spcPct val="135000"/>
              </a:lnSpc>
            </a:pPr>
            <a:r>
              <a:rPr sz="1400">
                <a:solidFill>
                  <a:srgbClr val="333333"/>
                </a:solidFill>
                <a:latin typeface="メイリオ"/>
                <a:ea typeface="メイリオ"/>
                <a:cs typeface="メイリオ"/>
              </a:rPr>
              <a:t>主KPIは CPO ＋ F2転換率の2本立て。締めは LTV ÷ CPO。</a:t>
            </a:r>
          </a:p>
        </p:txBody>
      </p:sp>
      <p:sp>
        <p:nvSpPr>
          <p:cNvPr id="7" name="Rounded Rectangle 6"/>
          <p:cNvSpPr/>
          <p:nvPr/>
        </p:nvSpPr>
        <p:spPr>
          <a:xfrm>
            <a:off x="432000" y="1548000"/>
            <a:ext cx="9043200" cy="917999"/>
          </a:xfrm>
          <a:prstGeom prst="roundRect">
            <a:avLst/>
          </a:prstGeom>
          <a:solidFill>
            <a:srgbClr val="EEF2F9"/>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57999" y="1673999"/>
            <a:ext cx="666000" cy="666000"/>
          </a:xfrm>
          <a:prstGeom prst="round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5</a:t>
            </a:r>
          </a:p>
        </p:txBody>
      </p:sp>
      <p:sp>
        <p:nvSpPr>
          <p:cNvPr id="9" name="TextBox 8"/>
          <p:cNvSpPr txBox="1"/>
          <p:nvPr/>
        </p:nvSpPr>
        <p:spPr>
          <a:xfrm>
            <a:off x="1350000" y="1692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配信設計</a:t>
            </a:r>
          </a:p>
        </p:txBody>
      </p:sp>
      <p:sp>
        <p:nvSpPr>
          <p:cNvPr id="10" name="TextBox 9"/>
          <p:cNvSpPr txBox="1"/>
          <p:nvPr/>
        </p:nvSpPr>
        <p:spPr>
          <a:xfrm>
            <a:off x="1350000" y="2034000"/>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S24-27</a:t>
            </a:r>
          </a:p>
        </p:txBody>
      </p:sp>
      <p:sp>
        <p:nvSpPr>
          <p:cNvPr id="11" name="TextBox 10"/>
          <p:cNvSpPr txBox="1"/>
          <p:nvPr/>
        </p:nvSpPr>
        <p:spPr>
          <a:xfrm>
            <a:off x="4212000" y="1745999"/>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改善モデル①〜④。購入前7日／購入後は消費サイクル連動</a:t>
            </a:r>
          </a:p>
        </p:txBody>
      </p:sp>
      <p:sp>
        <p:nvSpPr>
          <p:cNvPr id="12" name="Rounded Rectangle 11"/>
          <p:cNvSpPr/>
          <p:nvPr/>
        </p:nvSpPr>
        <p:spPr>
          <a:xfrm>
            <a:off x="432000" y="2591999"/>
            <a:ext cx="9043200" cy="917999"/>
          </a:xfrm>
          <a:prstGeom prst="roundRect">
            <a:avLst/>
          </a:prstGeom>
          <a:solidFill>
            <a:srgbClr val="FFFFFF"/>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57999" y="2717999"/>
            <a:ext cx="666000" cy="666000"/>
          </a:xfrm>
          <a:prstGeom prst="round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6</a:t>
            </a:r>
          </a:p>
        </p:txBody>
      </p:sp>
      <p:sp>
        <p:nvSpPr>
          <p:cNvPr id="14" name="TextBox 13"/>
          <p:cNvSpPr txBox="1"/>
          <p:nvPr/>
        </p:nvSpPr>
        <p:spPr>
          <a:xfrm>
            <a:off x="1350000" y="2736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歩留まり・工数</a:t>
            </a:r>
          </a:p>
        </p:txBody>
      </p:sp>
      <p:sp>
        <p:nvSpPr>
          <p:cNvPr id="15" name="TextBox 14"/>
          <p:cNvSpPr txBox="1"/>
          <p:nvPr/>
        </p:nvSpPr>
        <p:spPr>
          <a:xfrm>
            <a:off x="1350000" y="3077999"/>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S29-32</a:t>
            </a:r>
          </a:p>
        </p:txBody>
      </p:sp>
      <p:sp>
        <p:nvSpPr>
          <p:cNvPr id="16" name="TextBox 15"/>
          <p:cNvSpPr txBox="1"/>
          <p:nvPr/>
        </p:nvSpPr>
        <p:spPr>
          <a:xfrm>
            <a:off x="4212000" y="2789999"/>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具体施策4本。カゴ落ち回収とF2転換の自動化</a:t>
            </a:r>
          </a:p>
        </p:txBody>
      </p:sp>
      <p:sp>
        <p:nvSpPr>
          <p:cNvPr id="17" name="Rounded Rectangle 16"/>
          <p:cNvSpPr/>
          <p:nvPr/>
        </p:nvSpPr>
        <p:spPr>
          <a:xfrm>
            <a:off x="432000" y="3636000"/>
            <a:ext cx="9043200" cy="917999"/>
          </a:xfrm>
          <a:prstGeom prst="roundRect">
            <a:avLst/>
          </a:prstGeom>
          <a:solidFill>
            <a:srgbClr val="EEF2F9"/>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57999" y="3761999"/>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7</a:t>
            </a:r>
          </a:p>
        </p:txBody>
      </p:sp>
      <p:sp>
        <p:nvSpPr>
          <p:cNvPr id="19" name="TextBox 18"/>
          <p:cNvSpPr txBox="1"/>
          <p:nvPr/>
        </p:nvSpPr>
        <p:spPr>
          <a:xfrm>
            <a:off x="1350000" y="3780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成果と体制</a:t>
            </a:r>
          </a:p>
        </p:txBody>
      </p:sp>
      <p:sp>
        <p:nvSpPr>
          <p:cNvPr id="20" name="TextBox 19"/>
          <p:cNvSpPr txBox="1"/>
          <p:nvPr/>
        </p:nvSpPr>
        <p:spPr>
          <a:xfrm>
            <a:off x="1350000" y="4121999"/>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S33-35</a:t>
            </a:r>
          </a:p>
        </p:txBody>
      </p:sp>
      <p:sp>
        <p:nvSpPr>
          <p:cNvPr id="21" name="TextBox 20"/>
          <p:cNvSpPr txBox="1"/>
          <p:nvPr/>
        </p:nvSpPr>
        <p:spPr>
          <a:xfrm>
            <a:off x="4212000" y="3834000"/>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効果測定・費用プラン・運用スケジュール</a:t>
            </a:r>
          </a:p>
        </p:txBody>
      </p:sp>
      <p:sp>
        <p:nvSpPr>
          <p:cNvPr id="22" name="Rounded Rectangle 21"/>
          <p:cNvSpPr/>
          <p:nvPr/>
        </p:nvSpPr>
        <p:spPr>
          <a:xfrm>
            <a:off x="432000" y="4680000"/>
            <a:ext cx="9043200" cy="917999"/>
          </a:xfrm>
          <a:prstGeom prst="roundRect">
            <a:avLst/>
          </a:prstGeom>
          <a:solidFill>
            <a:srgbClr val="FFFF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7999" y="4806000"/>
            <a:ext cx="666000" cy="666000"/>
          </a:xfrm>
          <a:prstGeom prst="roundRect">
            <a:avLst/>
          </a:prstGeom>
          <a:solidFill>
            <a:srgbClr val="1F2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0400" rIns="50400" tIns="18000" bIns="18000"/>
          <a:lstStyle/>
          <a:p>
            <a:pPr algn="ctr"/>
            <a:r>
              <a:rPr sz="2600" b="1">
                <a:solidFill>
                  <a:srgbClr val="FFFFFF"/>
                </a:solidFill>
                <a:latin typeface="メイリオ"/>
                <a:ea typeface="メイリオ"/>
                <a:cs typeface="メイリオ"/>
              </a:rPr>
              <a:t>8</a:t>
            </a:r>
          </a:p>
        </p:txBody>
      </p:sp>
      <p:sp>
        <p:nvSpPr>
          <p:cNvPr id="24" name="TextBox 23"/>
          <p:cNvSpPr txBox="1"/>
          <p:nvPr/>
        </p:nvSpPr>
        <p:spPr>
          <a:xfrm>
            <a:off x="1350000" y="4824000"/>
            <a:ext cx="2700000" cy="342000"/>
          </a:xfrm>
          <a:prstGeom prst="rect">
            <a:avLst/>
          </a:prstGeom>
          <a:noFill/>
        </p:spPr>
        <p:txBody>
          <a:bodyPr wrap="square" lIns="50400" rIns="50400" tIns="18000" bIns="18000" anchor="ctr">
            <a:spAutoFit/>
          </a:bodyPr>
          <a:lstStyle/>
          <a:p>
            <a:pPr algn="l"/>
            <a:r>
              <a:rPr sz="1800" b="1">
                <a:solidFill>
                  <a:srgbClr val="002060"/>
                </a:solidFill>
                <a:latin typeface="メイリオ"/>
                <a:ea typeface="メイリオ"/>
                <a:cs typeface="メイリオ"/>
              </a:rPr>
              <a:t>締め</a:t>
            </a:r>
          </a:p>
        </p:txBody>
      </p:sp>
      <p:sp>
        <p:nvSpPr>
          <p:cNvPr id="25" name="TextBox 24"/>
          <p:cNvSpPr txBox="1"/>
          <p:nvPr/>
        </p:nvSpPr>
        <p:spPr>
          <a:xfrm>
            <a:off x="1350000" y="5166000"/>
            <a:ext cx="2700000" cy="288000"/>
          </a:xfrm>
          <a:prstGeom prst="rect">
            <a:avLst/>
          </a:prstGeom>
          <a:noFill/>
        </p:spPr>
        <p:txBody>
          <a:bodyPr wrap="square" lIns="50400" rIns="50400" tIns="18000" bIns="18000" anchor="ctr">
            <a:spAutoFit/>
          </a:bodyPr>
          <a:lstStyle/>
          <a:p>
            <a:pPr algn="l"/>
            <a:r>
              <a:rPr sz="1300">
                <a:solidFill>
                  <a:srgbClr val="888888"/>
                </a:solidFill>
                <a:latin typeface="メイリオ"/>
                <a:ea typeface="メイリオ"/>
                <a:cs typeface="メイリオ"/>
              </a:rPr>
              <a:t>S36</a:t>
            </a:r>
          </a:p>
        </p:txBody>
      </p:sp>
      <p:sp>
        <p:nvSpPr>
          <p:cNvPr id="26" name="TextBox 25"/>
          <p:cNvSpPr txBox="1"/>
          <p:nvPr/>
        </p:nvSpPr>
        <p:spPr>
          <a:xfrm>
            <a:off x="4212000" y="4878000"/>
            <a:ext cx="5011200" cy="521999"/>
          </a:xfrm>
          <a:prstGeom prst="rect">
            <a:avLst/>
          </a:prstGeom>
          <a:noFill/>
        </p:spPr>
        <p:txBody>
          <a:bodyPr wrap="square" lIns="50400" rIns="50400" tIns="18000" bIns="18000" anchor="ctr">
            <a:spAutoFit/>
          </a:bodyPr>
          <a:lstStyle/>
          <a:p>
            <a:pPr algn="l">
              <a:lnSpc>
                <a:spcPct val="135000"/>
              </a:lnSpc>
            </a:pPr>
            <a:r>
              <a:rPr sz="1400">
                <a:solidFill>
                  <a:srgbClr val="333333"/>
                </a:solidFill>
                <a:latin typeface="メイリオ"/>
                <a:ea typeface="メイリオ"/>
                <a:cs typeface="メイリオ"/>
              </a:rPr>
              <a:t>LINEミニアプリ・LINEギフトという第2の提案軸</a:t>
            </a:r>
          </a:p>
        </p:txBody>
      </p:sp>
      <p:sp>
        <p:nvSpPr>
          <p:cNvPr id="27" name="TextBox 26"/>
          <p:cNvSpPr txBox="1"/>
          <p:nvPr/>
        </p:nvSpPr>
        <p:spPr>
          <a:xfrm>
            <a:off x="432000" y="6246000"/>
            <a:ext cx="9043200" cy="324000"/>
          </a:xfrm>
          <a:prstGeom prst="rect">
            <a:avLst/>
          </a:prstGeom>
          <a:noFill/>
        </p:spPr>
        <p:txBody>
          <a:bodyPr wrap="square" lIns="50400" rIns="50400" tIns="18000" bIns="18000" anchor="t">
            <a:spAutoFit/>
          </a:bodyPr>
          <a:lstStyle/>
          <a:p>
            <a:pPr algn="l">
              <a:lnSpc>
                <a:spcPct val="120000"/>
              </a:lnSpc>
            </a:pPr>
            <a:r>
              <a:rPr sz="1100">
                <a:solidFill>
                  <a:srgbClr val="888888"/>
                </a:solidFill>
                <a:latin typeface="メイリオ"/>
                <a:ea typeface="メイリオ"/>
                <a:cs typeface="メイリオ"/>
              </a:rPr>
              <a:t>※主KPI＝CPO（取りこぼしの回収）＋F2転換率（1回きりの解消）。締めは LTV ÷ CPO</a:t>
            </a:r>
          </a:p>
        </p:txBody>
      </p:sp>
    </p:spTree>
    <p:extLst>
      <p:ext uri="{BB962C8B-B14F-4D97-AF65-F5344CB8AC3E}">
        <p14:creationId xmlns:p14="http://schemas.microsoft.com/office/powerpoint/2010/main" val="263812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具体施策①｜低ハードルCVでリードを大量獲得</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a:t>
            </a:r>
          </a:p>
        </p:txBody>
      </p:sp>
      <p:sp>
        <p:nvSpPr>
          <p:cNvPr id="245" name="Shape 8">
            <a:extLst>
              <a:ext uri="{FF2B5EF4-FFF2-40B4-BE49-F238E27FC236}">
                <a16:creationId xmlns:a16="http://schemas.microsoft.com/office/drawing/2014/main" id="{50B34EBB-32AA-4AD8-2936-6751081DDE7C}"/>
              </a:ext>
            </a:extLst>
          </p:cNvPr>
          <p:cNvSpPr/>
          <p:nvPr/>
        </p:nvSpPr>
        <p:spPr>
          <a:xfrm>
            <a:off x="603747"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21943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21773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2181269"/>
            <a:ext cx="2178492"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3373374"/>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603747"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96773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518388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518388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260527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269671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2696718"/>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04931" y="2724150"/>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269671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3025902"/>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346481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3464814"/>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3373374"/>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3373374"/>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8488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9403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94030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94030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「あなたに合う商品診断」でゲーム感覚の登録動線を設計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426948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「あなたの肌タイプ診断」など自分に関係する情報を得られる診断コンテンツをLINE登録の特典に設定。結果表示→そのまま育成配信へ移行。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616958"/>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616958"/>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70839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708398"/>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616958"/>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61695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509244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518388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518388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Text 110">
            <a:extLst>
              <a:ext uri="{FF2B5EF4-FFF2-40B4-BE49-F238E27FC236}">
                <a16:creationId xmlns:a16="http://schemas.microsoft.com/office/drawing/2014/main" id="{1BBCFD40-F618-5A41-391D-5947D86BCCA5}"/>
              </a:ext>
            </a:extLst>
          </p:cNvPr>
          <p:cNvSpPr/>
          <p:nvPr/>
        </p:nvSpPr>
        <p:spPr>
          <a:xfrm>
            <a:off x="5504931" y="521131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サンクスLINE誘導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5183886"/>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51307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9519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951982"/>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860542"/>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86054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98470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984709"/>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52282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04931" y="398470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04931" y="52282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3" name="Text 110">
            <a:extLst>
              <a:ext uri="{FF2B5EF4-FFF2-40B4-BE49-F238E27FC236}">
                <a16:creationId xmlns:a16="http://schemas.microsoft.com/office/drawing/2014/main" id="{EDD9FC5D-F103-9D3F-47C3-8F954172AE95}"/>
              </a:ext>
            </a:extLst>
          </p:cNvPr>
          <p:cNvSpPr/>
          <p:nvPr/>
        </p:nvSpPr>
        <p:spPr>
          <a:xfrm>
            <a:off x="5504931" y="522829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サンクス</a:t>
            </a: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誘導</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5" name="Text 110">
            <a:extLst>
              <a:ext uri="{FF2B5EF4-FFF2-40B4-BE49-F238E27FC236}">
                <a16:creationId xmlns:a16="http://schemas.microsoft.com/office/drawing/2014/main" id="{E8EED7F4-BAE1-D41E-67C4-68F570C48388}"/>
              </a:ext>
            </a:extLst>
          </p:cNvPr>
          <p:cNvSpPr/>
          <p:nvPr/>
        </p:nvSpPr>
        <p:spPr>
          <a:xfrm>
            <a:off x="5504931" y="399385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5226218"/>
            <a:ext cx="859536" cy="201168"/>
          </a:xfrm>
          <a:prstGeom prst="rect">
            <a:avLst/>
          </a:prstGeom>
          <a:solidFill>
            <a:schemeClr val="tx2"/>
          </a:solidFill>
          <a:ln/>
        </p:spPr>
        <p:txBody>
          <a:bodyPr wrap="square" lIns="0" tIns="0" rIns="0" bIns="0" rtlCol="0" anchor="ctr"/>
          <a:lstStyle/>
          <a:p>
            <a:pPr marL="0" indent="0" algn="ctr">
              <a:buNone/>
            </a:pPr>
            <a:r>
              <a:rPr lang="en-US" altLang="ja-JP" sz="7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9" name="Text 38">
            <a:extLst>
              <a:ext uri="{FF2B5EF4-FFF2-40B4-BE49-F238E27FC236}">
                <a16:creationId xmlns:a16="http://schemas.microsoft.com/office/drawing/2014/main" id="{0AAF9C38-B88A-AA3E-E296-3AB0BC76B93B}"/>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流入</a:t>
            </a:r>
            <a:r>
              <a:rPr lang="en-US" altLang="ja-JP" sz="700" dirty="0">
                <a:solidFill>
                  <a:srgbClr val="FDFDFD"/>
                </a:solidFill>
                <a:latin typeface="メイリオ" panose="020B0604030504040204" pitchFamily="50" charset="-128"/>
                <a:ea typeface="メイリオ" panose="020B0604030504040204" pitchFamily="50" charset="-128"/>
              </a:rPr>
              <a:t>/</a:t>
            </a:r>
            <a:r>
              <a:rPr lang="ja-JP" altLang="en-US" sz="700" dirty="0">
                <a:solidFill>
                  <a:srgbClr val="FDFDFD"/>
                </a:solidFill>
                <a:latin typeface="メイリオ" panose="020B0604030504040204" pitchFamily="50" charset="-128"/>
                <a:ea typeface="メイリオ" panose="020B0604030504040204" pitchFamily="50" charset="-128"/>
              </a:rPr>
              <a:t>集客チャネル</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ja-JP" altLang="en-US" sz="700" dirty="0">
                <a:solidFill>
                  <a:srgbClr val="FDFDFD"/>
                </a:solidFill>
                <a:latin typeface="メイリオ" panose="020B0604030504040204" pitchFamily="50" charset="-128"/>
                <a:ea typeface="メイリオ" panose="020B0604030504040204" pitchFamily="50" charset="-128"/>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具体施策②｜保有リストの再活性化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2224556"/>
            <a:ext cx="1669123"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2204952"/>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2187977"/>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2224556"/>
            <a:ext cx="1669123" cy="182880"/>
          </a:xfrm>
          <a:prstGeom prst="rect">
            <a:avLst/>
          </a:prstGeom>
          <a:noFill/>
          <a:ln/>
        </p:spPr>
        <p:txBody>
          <a:bodyPr wrap="square" lIns="0" tIns="0" rIns="0" bIns="0" rtlCol="0" anchor="ctr"/>
          <a:lstStyle/>
          <a:p>
            <a:pPr marL="0" indent="0">
              <a:buNone/>
            </a:pPr>
            <a:r>
              <a:rPr lang="ja-JP" altLang="en-US" sz="7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7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274112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2741125"/>
            <a:ext cx="859536" cy="201168"/>
          </a:xfrm>
          <a:prstGeom prst="rect">
            <a:avLst/>
          </a:prstGeom>
          <a:noFill/>
          <a:ln/>
        </p:spPr>
        <p:txBody>
          <a:bodyPr wrap="square" lIns="0" tIns="0" rIns="0" bIns="0" rtlCol="0" anchor="ctr"/>
          <a:lstStyle/>
          <a:p>
            <a:pPr algn="ctr"/>
            <a:r>
              <a:rPr lang="en-US" altLang="ja-JP" sz="7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271369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3390349"/>
            <a:ext cx="1274064" cy="329184"/>
          </a:xfrm>
          <a:prstGeom prst="rect">
            <a:avLst/>
          </a:prstGeom>
          <a:noFill/>
          <a:ln/>
        </p:spPr>
        <p:txBody>
          <a:bodyPr wrap="square" lIns="0" tIns="0" rIns="0" bIns="0" rtlCol="0" anchor="ctr"/>
          <a:lstStyle/>
          <a:p>
            <a:pPr marL="0" indent="0" algn="ctr">
              <a:lnSpc>
                <a:spcPct val="115000"/>
              </a:lnSpc>
              <a:buNone/>
            </a:pPr>
            <a:r>
              <a:rPr lang="en-US" sz="60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97632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4003759"/>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400375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976327"/>
            <a:ext cx="2907792"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65298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5238961"/>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5266393"/>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343" name="Text 57">
            <a:extLst>
              <a:ext uri="{FF2B5EF4-FFF2-40B4-BE49-F238E27FC236}">
                <a16:creationId xmlns:a16="http://schemas.microsoft.com/office/drawing/2014/main" id="{3D038977-48FB-088C-1A4C-879420FF6CE5}"/>
              </a:ext>
            </a:extLst>
          </p:cNvPr>
          <p:cNvSpPr/>
          <p:nvPr/>
        </p:nvSpPr>
        <p:spPr>
          <a:xfrm>
            <a:off x="1975347"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262225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271369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271369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2741125"/>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274112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2713693"/>
            <a:ext cx="3017520"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304287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339034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348178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348178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3390349"/>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339034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88488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97632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976327"/>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4003759"/>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97632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430551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74442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74442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65298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65298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5147521"/>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5238961"/>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5238961"/>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5266393"/>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5266393"/>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5238961"/>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568145"/>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915617"/>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6007057"/>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6007057"/>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915617"/>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915617"/>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4012903"/>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Text 110">
            <a:extLst>
              <a:ext uri="{FF2B5EF4-FFF2-40B4-BE49-F238E27FC236}">
                <a16:creationId xmlns:a16="http://schemas.microsoft.com/office/drawing/2014/main" id="{842F8CC1-6BB0-E2D8-D691-F619A1535EB4}"/>
              </a:ext>
            </a:extLst>
          </p:cNvPr>
          <p:cNvSpPr/>
          <p:nvPr/>
        </p:nvSpPr>
        <p:spPr>
          <a:xfrm>
            <a:off x="1060947" y="5264318"/>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再スクリーニング</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2739050"/>
            <a:ext cx="859536" cy="201168"/>
          </a:xfrm>
          <a:prstGeom prst="rect">
            <a:avLst/>
          </a:prstGeom>
          <a:solidFill>
            <a:schemeClr val="tx2"/>
          </a:solidFill>
          <a:ln/>
        </p:spPr>
        <p:txBody>
          <a:bodyPr wrap="square" lIns="0" tIns="0" rIns="0" bIns="0" rtlCol="0" anchor="ctr"/>
          <a:lstStyle/>
          <a:p>
            <a:pPr marL="0" indent="0" algn="ctr">
              <a:buNone/>
            </a:pPr>
            <a:r>
              <a:rPr lang="ja-JP" altLang="en-US" sz="7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具体施策③｜リピート・クロスセルの計画実行</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219562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2178652"/>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2189103"/>
            <a:ext cx="2177234"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2704549"/>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79235"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265" name="Text 20">
            <a:extLst>
              <a:ext uri="{FF2B5EF4-FFF2-40B4-BE49-F238E27FC236}">
                <a16:creationId xmlns:a16="http://schemas.microsoft.com/office/drawing/2014/main" id="{B823E9DA-260C-1603-CA04-ED130644314C}"/>
              </a:ext>
            </a:extLst>
          </p:cNvPr>
          <p:cNvSpPr/>
          <p:nvPr/>
        </p:nvSpPr>
        <p:spPr>
          <a:xfrm>
            <a:off x="1079235"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アフターフォロー</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7" name="Text 21">
            <a:extLst>
              <a:ext uri="{FF2B5EF4-FFF2-40B4-BE49-F238E27FC236}">
                <a16:creationId xmlns:a16="http://schemas.microsoft.com/office/drawing/2014/main" id="{FCE3B029-FE9D-7576-7B05-2585AB5A66B1}"/>
              </a:ext>
            </a:extLst>
          </p:cNvPr>
          <p:cNvSpPr/>
          <p:nvPr/>
        </p:nvSpPr>
        <p:spPr>
          <a:xfrm>
            <a:off x="1993635"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3381205"/>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299" name="Shape 37">
            <a:extLst>
              <a:ext uri="{FF2B5EF4-FFF2-40B4-BE49-F238E27FC236}">
                <a16:creationId xmlns:a16="http://schemas.microsoft.com/office/drawing/2014/main" id="{8370F2F6-B57B-6CE2-C1D8-99B62C8BD5CA}"/>
              </a:ext>
            </a:extLst>
          </p:cNvPr>
          <p:cNvSpPr/>
          <p:nvPr/>
        </p:nvSpPr>
        <p:spPr>
          <a:xfrm>
            <a:off x="1079235"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79235"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79235"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37" name="Text 56">
            <a:extLst>
              <a:ext uri="{FF2B5EF4-FFF2-40B4-BE49-F238E27FC236}">
                <a16:creationId xmlns:a16="http://schemas.microsoft.com/office/drawing/2014/main" id="{8DC1BB15-70BD-88F4-1430-70391985EBFC}"/>
              </a:ext>
            </a:extLst>
          </p:cNvPr>
          <p:cNvSpPr/>
          <p:nvPr/>
        </p:nvSpPr>
        <p:spPr>
          <a:xfrm>
            <a:off x="1079235"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紹介キャンペーン</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39" name="Text 57">
            <a:extLst>
              <a:ext uri="{FF2B5EF4-FFF2-40B4-BE49-F238E27FC236}">
                <a16:creationId xmlns:a16="http://schemas.microsoft.com/office/drawing/2014/main" id="{863EF515-E441-C008-46FD-E8772A47BE9A}"/>
              </a:ext>
            </a:extLst>
          </p:cNvPr>
          <p:cNvSpPr/>
          <p:nvPr/>
        </p:nvSpPr>
        <p:spPr>
          <a:xfrm>
            <a:off x="1993635"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906473"/>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26131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27045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2704549"/>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27319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2731981"/>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2704549"/>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3033733"/>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利用状況タグを活用して「よく使っている層」にまとめ買い・定期便の提案を自動配信。「今のプランより月1,000円で〇〇が使い放題に」という具体的メリット提示がCVRを高める。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338120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3381205"/>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3472645"/>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3472645"/>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338120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875743"/>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96718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967183"/>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994615"/>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994615"/>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96718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4296367"/>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643839"/>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73527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735279"/>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643839"/>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643839"/>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513837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522981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5229817"/>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5257249"/>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5257249"/>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5229817"/>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559001"/>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906473"/>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99791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997913"/>
            <a:ext cx="91440" cy="146304"/>
          </a:xfrm>
          <a:prstGeom prst="rect">
            <a:avLst/>
          </a:prstGeom>
          <a:noFill/>
          <a:ln/>
        </p:spPr>
        <p:txBody>
          <a:bodyPr wrap="square" lIns="0" tIns="0" rIns="0" bIns="0" rtlCol="0" anchor="ctr"/>
          <a:lstStyle/>
          <a:p>
            <a:pPr marL="0" indent="0" algn="ctr">
              <a:buNone/>
            </a:pPr>
            <a:r>
              <a:rPr lang="en-US" sz="4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906473"/>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906473"/>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具体施策④｜チャット対応の簡略化・自動化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0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7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220949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2192516"/>
            <a:ext cx="4023360" cy="237744"/>
          </a:xfrm>
          <a:prstGeom prst="rect">
            <a:avLst/>
          </a:prstGeom>
          <a:noFill/>
          <a:ln/>
        </p:spPr>
        <p:txBody>
          <a:bodyPr wrap="square" lIns="0" tIns="0" rIns="0" bIns="0" rtlCol="0" anchor="ctr"/>
          <a:lstStyle/>
          <a:p>
            <a:pPr marL="0" indent="0">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0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874674" y="2202968"/>
            <a:ext cx="2361009" cy="182880"/>
          </a:xfrm>
          <a:prstGeom prst="rect">
            <a:avLst/>
          </a:prstGeom>
          <a:noFill/>
          <a:ln/>
        </p:spPr>
        <p:txBody>
          <a:bodyPr wrap="square" lIns="0" tIns="0" rIns="0" bIns="0" rtlCol="0" anchor="ctr"/>
          <a:lstStyle/>
          <a:p>
            <a:pPr marL="0" indent="0">
              <a:buNone/>
            </a:pPr>
            <a:r>
              <a:rPr lang="en-US" sz="7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7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1079235" y="273931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1079235" y="2739314"/>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2711882"/>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0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6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70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3388538"/>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70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3388538"/>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70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31763"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31763" y="3974516"/>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1079235" y="4001948"/>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79235" y="4001948"/>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1993635"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0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6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651172"/>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70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651172"/>
            <a:ext cx="1274064" cy="329184"/>
          </a:xfrm>
          <a:prstGeom prst="rect">
            <a:avLst/>
          </a:prstGeom>
          <a:noFill/>
          <a:ln>
            <a:noFill/>
          </a:ln>
        </p:spPr>
        <p:txBody>
          <a:bodyPr wrap="square" lIns="0" tIns="0" rIns="0" bIns="0" rtlCol="0" anchor="ctr"/>
          <a:lstStyle/>
          <a:p>
            <a:pPr marL="0" indent="0" algn="ctr">
              <a:lnSpc>
                <a:spcPct val="115000"/>
              </a:lnSpc>
              <a:buNone/>
            </a:pPr>
            <a:r>
              <a:rPr lang="en-US" sz="8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8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70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31763"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31763"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1079235" y="526458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5264582"/>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1993635" y="5237150"/>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0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6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7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7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913806"/>
            <a:ext cx="1274064" cy="329184"/>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7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7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262044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271188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2711882"/>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273931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523219" y="2739314"/>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2711882"/>
            <a:ext cx="298094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高スコアユーザーを自動でスタッフにアラート通知</a:t>
            </a:r>
            <a:endParaRPr lang="en-US" sz="10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3041066"/>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6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3388538"/>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3388538"/>
            <a:ext cx="1274064" cy="329184"/>
          </a:xfrm>
          <a:prstGeom prst="rect">
            <a:avLst/>
          </a:prstGeom>
          <a:noFill/>
          <a:ln/>
        </p:spPr>
        <p:txBody>
          <a:bodyPr wrap="square" lIns="0" tIns="0" rIns="0" bIns="0" rtlCol="0" anchor="ctr"/>
          <a:lstStyle/>
          <a:p>
            <a:pPr marL="0" indent="0" algn="ctr">
              <a:lnSpc>
                <a:spcPct val="115000"/>
              </a:lnSpc>
              <a:buNone/>
            </a:pPr>
            <a:r>
              <a:rPr lang="en-US" sz="70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70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70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3479978"/>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3479978"/>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3388538"/>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70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スタッフにアラート</a:t>
            </a:r>
            <a:endParaRPr lang="en-US" altLang="ja-JP" sz="70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88307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75747" y="397451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75747" y="3974516"/>
            <a:ext cx="274320" cy="274320"/>
          </a:xfrm>
          <a:prstGeom prst="rect">
            <a:avLst/>
          </a:prstGeom>
          <a:noFill/>
          <a:ln>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23219" y="4001948"/>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523219" y="4001948"/>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37619" y="39745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BOT初期対応→温度感に応じて人に切り替える</a:t>
            </a:r>
            <a:endParaRPr lang="en-US" sz="10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4303700"/>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6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651172"/>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651172"/>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70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70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74261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74261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651172"/>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651172"/>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70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514571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75747" y="523715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75747" y="5237150"/>
            <a:ext cx="274320" cy="274320"/>
          </a:xfrm>
          <a:prstGeom prst="rect">
            <a:avLst/>
          </a:prstGeom>
          <a:noFill/>
          <a:ln/>
        </p:spPr>
        <p:txBody>
          <a:bodyPr wrap="square" lIns="0" tIns="0" rIns="0" bIns="0" rtlCol="0" anchor="ctr"/>
          <a:lstStyle/>
          <a:p>
            <a:pPr marL="0" indent="0" algn="ctr">
              <a:buNone/>
            </a:pPr>
            <a:r>
              <a:rPr lang="en-US" sz="9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23219" y="5264582"/>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523219" y="5264582"/>
            <a:ext cx="859536" cy="201168"/>
          </a:xfrm>
          <a:prstGeom prst="rect">
            <a:avLst/>
          </a:prstGeom>
          <a:solidFill>
            <a:schemeClr val="tx2"/>
          </a:solid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7619" y="5237150"/>
            <a:ext cx="305472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0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0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566334"/>
            <a:ext cx="4059936" cy="310896"/>
          </a:xfrm>
          <a:prstGeom prst="rect">
            <a:avLst/>
          </a:prstGeom>
          <a:noFill/>
          <a:ln/>
        </p:spPr>
        <p:txBody>
          <a:bodyPr wrap="square" lIns="0" tIns="0" rIns="0" bIns="0" rtlCol="0" anchor="ctr"/>
          <a:lstStyle/>
          <a:p>
            <a:pPr marL="0" indent="0">
              <a:lnSpc>
                <a:spcPct val="140000"/>
              </a:lnSpc>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6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913806"/>
            <a:ext cx="1274064" cy="329184"/>
          </a:xfrm>
          <a:prstGeom prst="rect">
            <a:avLst/>
          </a:prstGeom>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7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913806"/>
            <a:ext cx="1274064" cy="329184"/>
          </a:xfrm>
          <a:prstGeom prst="roundRect">
            <a:avLst>
              <a:gd name="adj" fmla="val 16667"/>
            </a:avLst>
          </a:prstGeom>
          <a:solidFill>
            <a:schemeClr val="tx1"/>
          </a:solidFill>
          <a:ln w="12700">
            <a:no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7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913806"/>
            <a:ext cx="1274064" cy="329184"/>
          </a:xfrm>
          <a:prstGeom prst="roundRect">
            <a:avLst>
              <a:gd name="adj" fmla="val 16667"/>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913806"/>
            <a:ext cx="1274064" cy="329184"/>
          </a:xfrm>
          <a:prstGeom prst="rect">
            <a:avLst/>
          </a:prstGeom>
          <a:noFill/>
          <a:ln>
            <a:noFill/>
          </a:ln>
        </p:spPr>
        <p:txBody>
          <a:bodyPr wrap="square" lIns="0" tIns="0" rIns="0" bIns="0" rtlCol="0" anchor="ctr"/>
          <a:lstStyle/>
          <a:p>
            <a:pPr marL="0" indent="0" algn="ctr">
              <a:lnSpc>
                <a:spcPct val="115000"/>
              </a:lnSpc>
              <a:buNone/>
            </a:pPr>
            <a:r>
              <a:rPr lang="en-US" sz="7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7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6026582"/>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6026582"/>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6002059"/>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6002059"/>
            <a:ext cx="91440" cy="146304"/>
          </a:xfrm>
          <a:prstGeom prst="rect">
            <a:avLst/>
          </a:prstGeom>
          <a:noFill/>
          <a:ln/>
        </p:spPr>
        <p:txBody>
          <a:bodyPr wrap="square" lIns="0" tIns="0" rIns="0" bIns="0" rtlCol="0" anchor="ctr"/>
          <a:lstStyle/>
          <a:p>
            <a:pPr marL="0" indent="0" algn="ctr">
              <a:buNone/>
            </a:pPr>
            <a:r>
              <a:rPr lang="en-US" sz="6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4070-0F2B-474C-0AD3-89D288BF860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5E6F5D8-69FF-EC49-F89A-79FBF097914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EC業界の例①｜友だち追加直後の短期施策</a:t>
            </a:r>
          </a:p>
        </p:txBody>
      </p:sp>
      <p:sp>
        <p:nvSpPr>
          <p:cNvPr id="2" name="Google Shape;752;p28">
            <a:extLst>
              <a:ext uri="{FF2B5EF4-FFF2-40B4-BE49-F238E27FC236}">
                <a16:creationId xmlns:a16="http://schemas.microsoft.com/office/drawing/2014/main" id="{8DA9D746-57D8-A7F9-7048-09DA5704460D}"/>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友だち追加直後の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直近利用・契約可能性が高い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とされるユーザーに対しては</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トリガーとなる不安の払拭、条件面の精査を</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15-30</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日で設定しタッチポイントを増やす</a:t>
            </a:r>
          </a:p>
        </p:txBody>
      </p:sp>
      <p:sp>
        <p:nvSpPr>
          <p:cNvPr id="41" name="Shape 2">
            <a:extLst>
              <a:ext uri="{FF2B5EF4-FFF2-40B4-BE49-F238E27FC236}">
                <a16:creationId xmlns:a16="http://schemas.microsoft.com/office/drawing/2014/main" id="{72992F6A-FF2A-7ECF-0D33-F6529A528B57}"/>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2" name="Text 3">
            <a:extLst>
              <a:ext uri="{FF2B5EF4-FFF2-40B4-BE49-F238E27FC236}">
                <a16:creationId xmlns:a16="http://schemas.microsoft.com/office/drawing/2014/main" id="{190E6A1A-C1DD-4C8E-3197-5AD6F8426871}"/>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目的：登録直後の本気度スクリーニング → 即アプローチ対象（⑤リード有効化）の特定</a:t>
            </a:r>
            <a:endParaRPr lang="en-US" sz="1100" dirty="0">
              <a:latin typeface="メイリオ" panose="020B0604030504040204" pitchFamily="50" charset="-128"/>
              <a:ea typeface="メイリオ" panose="020B0604030504040204" pitchFamily="50" charset="-128"/>
            </a:endParaRPr>
          </a:p>
        </p:txBody>
      </p:sp>
      <p:sp>
        <p:nvSpPr>
          <p:cNvPr id="43" name="Shape 4">
            <a:extLst>
              <a:ext uri="{FF2B5EF4-FFF2-40B4-BE49-F238E27FC236}">
                <a16:creationId xmlns:a16="http://schemas.microsoft.com/office/drawing/2014/main" id="{D015C19B-5468-998D-251F-6B1B6959CE07}"/>
              </a:ext>
            </a:extLst>
          </p:cNvPr>
          <p:cNvSpPr/>
          <p:nvPr/>
        </p:nvSpPr>
        <p:spPr>
          <a:xfrm>
            <a:off x="775063" y="26047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4" name="Shape 5">
            <a:extLst>
              <a:ext uri="{FF2B5EF4-FFF2-40B4-BE49-F238E27FC236}">
                <a16:creationId xmlns:a16="http://schemas.microsoft.com/office/drawing/2014/main" id="{414FEA14-8392-6B62-876D-80318C415543}"/>
              </a:ext>
            </a:extLst>
          </p:cNvPr>
          <p:cNvSpPr/>
          <p:nvPr/>
        </p:nvSpPr>
        <p:spPr>
          <a:xfrm>
            <a:off x="848215" y="27144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5" name="Text 6">
            <a:extLst>
              <a:ext uri="{FF2B5EF4-FFF2-40B4-BE49-F238E27FC236}">
                <a16:creationId xmlns:a16="http://schemas.microsoft.com/office/drawing/2014/main" id="{F75BBB7C-7CE8-CD05-76B4-8EAB532092DA}"/>
              </a:ext>
            </a:extLst>
          </p:cNvPr>
          <p:cNvSpPr/>
          <p:nvPr/>
        </p:nvSpPr>
        <p:spPr>
          <a:xfrm>
            <a:off x="848215" y="27144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100" dirty="0">
              <a:latin typeface="メイリオ" panose="020B0604030504040204" pitchFamily="50" charset="-128"/>
              <a:ea typeface="メイリオ" panose="020B0604030504040204" pitchFamily="50" charset="-128"/>
            </a:endParaRPr>
          </a:p>
        </p:txBody>
      </p:sp>
      <p:sp>
        <p:nvSpPr>
          <p:cNvPr id="46" name="Text 7">
            <a:extLst>
              <a:ext uri="{FF2B5EF4-FFF2-40B4-BE49-F238E27FC236}">
                <a16:creationId xmlns:a16="http://schemas.microsoft.com/office/drawing/2014/main" id="{1A4AA2AA-6FF8-3D30-B16C-44EC5F2961CD}"/>
              </a:ext>
            </a:extLst>
          </p:cNvPr>
          <p:cNvSpPr/>
          <p:nvPr/>
        </p:nvSpPr>
        <p:spPr>
          <a:xfrm>
            <a:off x="1250551" y="26504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Q1. 転職を検討し始めた理由は？</a:t>
            </a:r>
            <a:endParaRPr lang="en-US" sz="1100" dirty="0">
              <a:latin typeface="メイリオ" panose="020B0604030504040204" pitchFamily="50" charset="-128"/>
              <a:ea typeface="メイリオ" panose="020B0604030504040204" pitchFamily="50" charset="-128"/>
            </a:endParaRPr>
          </a:p>
        </p:txBody>
      </p:sp>
      <p:sp>
        <p:nvSpPr>
          <p:cNvPr id="47" name="Text 8">
            <a:extLst>
              <a:ext uri="{FF2B5EF4-FFF2-40B4-BE49-F238E27FC236}">
                <a16:creationId xmlns:a16="http://schemas.microsoft.com/office/drawing/2014/main" id="{7A1F59F1-0B49-73D0-38BD-9948F9A63985}"/>
              </a:ext>
            </a:extLst>
          </p:cNvPr>
          <p:cNvSpPr/>
          <p:nvPr/>
        </p:nvSpPr>
        <p:spPr>
          <a:xfrm>
            <a:off x="1250551" y="29156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年収アップ　B) 人間関係　C) キャリアアップ　D) 会社の将来性　E) ライフスタイル変化</a:t>
            </a:r>
            <a:endParaRPr lang="en-US" sz="850" dirty="0">
              <a:latin typeface="メイリオ" panose="020B0604030504040204" pitchFamily="50" charset="-128"/>
              <a:ea typeface="メイリオ" panose="020B0604030504040204" pitchFamily="50" charset="-128"/>
            </a:endParaRPr>
          </a:p>
        </p:txBody>
      </p:sp>
      <p:sp>
        <p:nvSpPr>
          <p:cNvPr id="48" name="Shape 9">
            <a:extLst>
              <a:ext uri="{FF2B5EF4-FFF2-40B4-BE49-F238E27FC236}">
                <a16:creationId xmlns:a16="http://schemas.microsoft.com/office/drawing/2014/main" id="{03F3B165-CA3D-3804-AA50-7C78C7C7EB79}"/>
              </a:ext>
            </a:extLst>
          </p:cNvPr>
          <p:cNvSpPr/>
          <p:nvPr/>
        </p:nvSpPr>
        <p:spPr>
          <a:xfrm>
            <a:off x="6444343" y="26778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9" name="Text 10">
            <a:extLst>
              <a:ext uri="{FF2B5EF4-FFF2-40B4-BE49-F238E27FC236}">
                <a16:creationId xmlns:a16="http://schemas.microsoft.com/office/drawing/2014/main" id="{DF68B239-8CBC-8341-BA16-8510179A4777}"/>
              </a:ext>
            </a:extLst>
          </p:cNvPr>
          <p:cNvSpPr/>
          <p:nvPr/>
        </p:nvSpPr>
        <p:spPr>
          <a:xfrm>
            <a:off x="6490063" y="26778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セグメント分けの最重要設問。回答別に配信内容を変える</a:t>
            </a:r>
            <a:endParaRPr lang="en-US" sz="850" dirty="0">
              <a:latin typeface="メイリオ" panose="020B0604030504040204" pitchFamily="50" charset="-128"/>
              <a:ea typeface="メイリオ" panose="020B0604030504040204" pitchFamily="50" charset="-128"/>
            </a:endParaRPr>
          </a:p>
        </p:txBody>
      </p:sp>
      <p:sp>
        <p:nvSpPr>
          <p:cNvPr id="50" name="Shape 11">
            <a:extLst>
              <a:ext uri="{FF2B5EF4-FFF2-40B4-BE49-F238E27FC236}">
                <a16:creationId xmlns:a16="http://schemas.microsoft.com/office/drawing/2014/main" id="{CEC57A7B-58B4-1F60-CC69-2D9C22413BEF}"/>
              </a:ext>
            </a:extLst>
          </p:cNvPr>
          <p:cNvSpPr/>
          <p:nvPr/>
        </p:nvSpPr>
        <p:spPr>
          <a:xfrm>
            <a:off x="775063" y="32905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1" name="Shape 12">
            <a:extLst>
              <a:ext uri="{FF2B5EF4-FFF2-40B4-BE49-F238E27FC236}">
                <a16:creationId xmlns:a16="http://schemas.microsoft.com/office/drawing/2014/main" id="{0FF9816E-5F43-9459-6349-51431111FD45}"/>
              </a:ext>
            </a:extLst>
          </p:cNvPr>
          <p:cNvSpPr/>
          <p:nvPr/>
        </p:nvSpPr>
        <p:spPr>
          <a:xfrm>
            <a:off x="848215" y="34002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2" name="Text 13">
            <a:extLst>
              <a:ext uri="{FF2B5EF4-FFF2-40B4-BE49-F238E27FC236}">
                <a16:creationId xmlns:a16="http://schemas.microsoft.com/office/drawing/2014/main" id="{2BF8E88C-4FC5-B1C2-A8E8-D33029A55D78}"/>
              </a:ext>
            </a:extLst>
          </p:cNvPr>
          <p:cNvSpPr/>
          <p:nvPr/>
        </p:nvSpPr>
        <p:spPr>
          <a:xfrm>
            <a:off x="848215" y="34002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100" dirty="0">
              <a:latin typeface="メイリオ" panose="020B0604030504040204" pitchFamily="50" charset="-128"/>
              <a:ea typeface="メイリオ" panose="020B0604030504040204" pitchFamily="50" charset="-128"/>
            </a:endParaRPr>
          </a:p>
        </p:txBody>
      </p:sp>
      <p:sp>
        <p:nvSpPr>
          <p:cNvPr id="53" name="Text 14">
            <a:extLst>
              <a:ext uri="{FF2B5EF4-FFF2-40B4-BE49-F238E27FC236}">
                <a16:creationId xmlns:a16="http://schemas.microsoft.com/office/drawing/2014/main" id="{4AB095EB-AFFB-C1EB-53C1-4C882C450F66}"/>
              </a:ext>
            </a:extLst>
          </p:cNvPr>
          <p:cNvSpPr/>
          <p:nvPr/>
        </p:nvSpPr>
        <p:spPr>
          <a:xfrm>
            <a:off x="1250551" y="33362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Q2. 転職希望時期はいつ頃ですか？</a:t>
            </a:r>
            <a:endParaRPr lang="en-US" sz="1100" dirty="0">
              <a:latin typeface="メイリオ" panose="020B0604030504040204" pitchFamily="50" charset="-128"/>
              <a:ea typeface="メイリオ" panose="020B0604030504040204" pitchFamily="50" charset="-128"/>
            </a:endParaRPr>
          </a:p>
        </p:txBody>
      </p:sp>
      <p:sp>
        <p:nvSpPr>
          <p:cNvPr id="54" name="Text 15">
            <a:extLst>
              <a:ext uri="{FF2B5EF4-FFF2-40B4-BE49-F238E27FC236}">
                <a16:creationId xmlns:a16="http://schemas.microsoft.com/office/drawing/2014/main" id="{C6FBF75D-9A2C-AB9C-797C-A65992057C82}"/>
              </a:ext>
            </a:extLst>
          </p:cNvPr>
          <p:cNvSpPr/>
          <p:nvPr/>
        </p:nvSpPr>
        <p:spPr>
          <a:xfrm>
            <a:off x="1250551" y="36014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1ヶ月以内　B) 3ヶ月以内　C) 半年以内　D) まだ決めていない</a:t>
            </a:r>
            <a:endParaRPr lang="en-US" sz="850" dirty="0">
              <a:latin typeface="メイリオ" panose="020B0604030504040204" pitchFamily="50" charset="-128"/>
              <a:ea typeface="メイリオ" panose="020B0604030504040204" pitchFamily="50" charset="-128"/>
            </a:endParaRPr>
          </a:p>
        </p:txBody>
      </p:sp>
      <p:sp>
        <p:nvSpPr>
          <p:cNvPr id="55" name="Shape 16">
            <a:extLst>
              <a:ext uri="{FF2B5EF4-FFF2-40B4-BE49-F238E27FC236}">
                <a16:creationId xmlns:a16="http://schemas.microsoft.com/office/drawing/2014/main" id="{8B4031C1-8F8E-5381-AAC9-77A14A56B7F6}"/>
              </a:ext>
            </a:extLst>
          </p:cNvPr>
          <p:cNvSpPr/>
          <p:nvPr/>
        </p:nvSpPr>
        <p:spPr>
          <a:xfrm>
            <a:off x="6444343" y="33636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6" name="Text 17">
            <a:extLst>
              <a:ext uri="{FF2B5EF4-FFF2-40B4-BE49-F238E27FC236}">
                <a16:creationId xmlns:a16="http://schemas.microsoft.com/office/drawing/2014/main" id="{35FE734F-4C1A-3B7B-8AA4-C2546973E56B}"/>
              </a:ext>
            </a:extLst>
          </p:cNvPr>
          <p:cNvSpPr/>
          <p:nvPr/>
        </p:nvSpPr>
        <p:spPr>
          <a:xfrm>
            <a:off x="6490063" y="33636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「1〜3ヶ月以内」をホットリードとして即面談オファー対象に</a:t>
            </a:r>
            <a:endParaRPr lang="en-US" sz="850" dirty="0">
              <a:latin typeface="メイリオ" panose="020B0604030504040204" pitchFamily="50" charset="-128"/>
              <a:ea typeface="メイリオ" panose="020B0604030504040204" pitchFamily="50" charset="-128"/>
            </a:endParaRPr>
          </a:p>
        </p:txBody>
      </p:sp>
      <p:sp>
        <p:nvSpPr>
          <p:cNvPr id="57" name="Shape 18">
            <a:extLst>
              <a:ext uri="{FF2B5EF4-FFF2-40B4-BE49-F238E27FC236}">
                <a16:creationId xmlns:a16="http://schemas.microsoft.com/office/drawing/2014/main" id="{77F0529F-1B78-5C45-07C3-2B6DD4A77258}"/>
              </a:ext>
            </a:extLst>
          </p:cNvPr>
          <p:cNvSpPr/>
          <p:nvPr/>
        </p:nvSpPr>
        <p:spPr>
          <a:xfrm>
            <a:off x="775063" y="39763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8" name="Shape 19">
            <a:extLst>
              <a:ext uri="{FF2B5EF4-FFF2-40B4-BE49-F238E27FC236}">
                <a16:creationId xmlns:a16="http://schemas.microsoft.com/office/drawing/2014/main" id="{5CB9124D-3C60-302E-AD9D-68ADA9CED3C8}"/>
              </a:ext>
            </a:extLst>
          </p:cNvPr>
          <p:cNvSpPr/>
          <p:nvPr/>
        </p:nvSpPr>
        <p:spPr>
          <a:xfrm>
            <a:off x="848215" y="40860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9" name="Text 20">
            <a:extLst>
              <a:ext uri="{FF2B5EF4-FFF2-40B4-BE49-F238E27FC236}">
                <a16:creationId xmlns:a16="http://schemas.microsoft.com/office/drawing/2014/main" id="{DD06F576-0404-24E3-3484-9A5F77A77D7A}"/>
              </a:ext>
            </a:extLst>
          </p:cNvPr>
          <p:cNvSpPr/>
          <p:nvPr/>
        </p:nvSpPr>
        <p:spPr>
          <a:xfrm>
            <a:off x="848215" y="40860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0" name="Text 21">
            <a:extLst>
              <a:ext uri="{FF2B5EF4-FFF2-40B4-BE49-F238E27FC236}">
                <a16:creationId xmlns:a16="http://schemas.microsoft.com/office/drawing/2014/main" id="{362B56FE-0308-5ACA-794F-33A473A74E16}"/>
              </a:ext>
            </a:extLst>
          </p:cNvPr>
          <p:cNvSpPr/>
          <p:nvPr/>
        </p:nvSpPr>
        <p:spPr>
          <a:xfrm>
            <a:off x="1250551" y="40220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Q3. 現在の年収（税込）を教えてください</a:t>
            </a:r>
            <a:endParaRPr lang="en-US" sz="1100" dirty="0">
              <a:latin typeface="メイリオ" panose="020B0604030504040204" pitchFamily="50" charset="-128"/>
              <a:ea typeface="メイリオ" panose="020B0604030504040204" pitchFamily="50" charset="-128"/>
            </a:endParaRPr>
          </a:p>
        </p:txBody>
      </p:sp>
      <p:sp>
        <p:nvSpPr>
          <p:cNvPr id="61" name="Text 22">
            <a:extLst>
              <a:ext uri="{FF2B5EF4-FFF2-40B4-BE49-F238E27FC236}">
                <a16:creationId xmlns:a16="http://schemas.microsoft.com/office/drawing/2014/main" id="{CECF4E63-76E9-FEA5-7805-491752940936}"/>
              </a:ext>
            </a:extLst>
          </p:cNvPr>
          <p:cNvSpPr/>
          <p:nvPr/>
        </p:nvSpPr>
        <p:spPr>
          <a:xfrm>
            <a:off x="1250551" y="42872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〜300万　B) 300〜500万　C) 500〜700万　D) 700万〜</a:t>
            </a:r>
            <a:endParaRPr lang="en-US" sz="850" dirty="0">
              <a:latin typeface="メイリオ" panose="020B0604030504040204" pitchFamily="50" charset="-128"/>
              <a:ea typeface="メイリオ" panose="020B0604030504040204" pitchFamily="50" charset="-128"/>
            </a:endParaRPr>
          </a:p>
        </p:txBody>
      </p:sp>
      <p:sp>
        <p:nvSpPr>
          <p:cNvPr id="62" name="Shape 23">
            <a:extLst>
              <a:ext uri="{FF2B5EF4-FFF2-40B4-BE49-F238E27FC236}">
                <a16:creationId xmlns:a16="http://schemas.microsoft.com/office/drawing/2014/main" id="{DBA9622A-FDA2-1DDD-FBA3-73C50D3AB695}"/>
              </a:ext>
            </a:extLst>
          </p:cNvPr>
          <p:cNvSpPr/>
          <p:nvPr/>
        </p:nvSpPr>
        <p:spPr>
          <a:xfrm>
            <a:off x="6444343" y="40494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3" name="Text 24">
            <a:extLst>
              <a:ext uri="{FF2B5EF4-FFF2-40B4-BE49-F238E27FC236}">
                <a16:creationId xmlns:a16="http://schemas.microsoft.com/office/drawing/2014/main" id="{C60B9780-970F-8551-EE91-8044786C7B7C}"/>
              </a:ext>
            </a:extLst>
          </p:cNvPr>
          <p:cNvSpPr/>
          <p:nvPr/>
        </p:nvSpPr>
        <p:spPr>
          <a:xfrm>
            <a:off x="6490063" y="40494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サービス対象層の絞り込みと、訴求する年収UP幅の設定に活用</a:t>
            </a:r>
            <a:endParaRPr lang="en-US" sz="850" dirty="0">
              <a:latin typeface="メイリオ" panose="020B0604030504040204" pitchFamily="50" charset="-128"/>
              <a:ea typeface="メイリオ" panose="020B0604030504040204" pitchFamily="50" charset="-128"/>
            </a:endParaRPr>
          </a:p>
        </p:txBody>
      </p:sp>
      <p:sp>
        <p:nvSpPr>
          <p:cNvPr id="64" name="Shape 25">
            <a:extLst>
              <a:ext uri="{FF2B5EF4-FFF2-40B4-BE49-F238E27FC236}">
                <a16:creationId xmlns:a16="http://schemas.microsoft.com/office/drawing/2014/main" id="{E6646D0D-AC17-9974-8BF6-E0C26901E16D}"/>
              </a:ext>
            </a:extLst>
          </p:cNvPr>
          <p:cNvSpPr/>
          <p:nvPr/>
        </p:nvSpPr>
        <p:spPr>
          <a:xfrm>
            <a:off x="775063" y="4662133"/>
            <a:ext cx="8412480" cy="621792"/>
          </a:xfrm>
          <a:prstGeom prst="roundRect">
            <a:avLst>
              <a:gd name="adj" fmla="val 10294"/>
            </a:avLst>
          </a:prstGeom>
          <a:solidFill>
            <a:srgbClr val="FFFF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5" name="Shape 26">
            <a:extLst>
              <a:ext uri="{FF2B5EF4-FFF2-40B4-BE49-F238E27FC236}">
                <a16:creationId xmlns:a16="http://schemas.microsoft.com/office/drawing/2014/main" id="{86330F7C-C512-505C-521A-A5D1453510E6}"/>
              </a:ext>
            </a:extLst>
          </p:cNvPr>
          <p:cNvSpPr/>
          <p:nvPr/>
        </p:nvSpPr>
        <p:spPr>
          <a:xfrm>
            <a:off x="848215" y="47718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6" name="Text 27">
            <a:extLst>
              <a:ext uri="{FF2B5EF4-FFF2-40B4-BE49-F238E27FC236}">
                <a16:creationId xmlns:a16="http://schemas.microsoft.com/office/drawing/2014/main" id="{8A40057C-798D-FCB7-8B6B-C2507589C664}"/>
              </a:ext>
            </a:extLst>
          </p:cNvPr>
          <p:cNvSpPr/>
          <p:nvPr/>
        </p:nvSpPr>
        <p:spPr>
          <a:xfrm>
            <a:off x="848215" y="47718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4</a:t>
            </a:r>
            <a:endParaRPr lang="en-US" sz="1100" dirty="0">
              <a:latin typeface="メイリオ" panose="020B0604030504040204" pitchFamily="50" charset="-128"/>
              <a:ea typeface="メイリオ" panose="020B0604030504040204" pitchFamily="50" charset="-128"/>
            </a:endParaRPr>
          </a:p>
        </p:txBody>
      </p:sp>
      <p:sp>
        <p:nvSpPr>
          <p:cNvPr id="67" name="Text 28">
            <a:extLst>
              <a:ext uri="{FF2B5EF4-FFF2-40B4-BE49-F238E27FC236}">
                <a16:creationId xmlns:a16="http://schemas.microsoft.com/office/drawing/2014/main" id="{FB185C3E-B3C3-8368-764A-0E889BE9E1DC}"/>
              </a:ext>
            </a:extLst>
          </p:cNvPr>
          <p:cNvSpPr/>
          <p:nvPr/>
        </p:nvSpPr>
        <p:spPr>
          <a:xfrm>
            <a:off x="1250551" y="47078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Q4. 今、転職活動で一番困っていることは？</a:t>
            </a:r>
            <a:endParaRPr lang="en-US" sz="1100" dirty="0">
              <a:latin typeface="メイリオ" panose="020B0604030504040204" pitchFamily="50" charset="-128"/>
              <a:ea typeface="メイリオ" panose="020B0604030504040204" pitchFamily="50" charset="-128"/>
            </a:endParaRPr>
          </a:p>
        </p:txBody>
      </p:sp>
      <p:sp>
        <p:nvSpPr>
          <p:cNvPr id="68" name="Text 29">
            <a:extLst>
              <a:ext uri="{FF2B5EF4-FFF2-40B4-BE49-F238E27FC236}">
                <a16:creationId xmlns:a16="http://schemas.microsoft.com/office/drawing/2014/main" id="{83A0111B-6C16-924D-2F24-F3322312058F}"/>
              </a:ext>
            </a:extLst>
          </p:cNvPr>
          <p:cNvSpPr/>
          <p:nvPr/>
        </p:nvSpPr>
        <p:spPr>
          <a:xfrm>
            <a:off x="1250551" y="49730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求人の探し方がわからない　B) 職務経歴書の書き方　C) 面接が不安　D) 年収交渉が怖い</a:t>
            </a:r>
            <a:endParaRPr lang="en-US" sz="850" dirty="0">
              <a:latin typeface="メイリオ" panose="020B0604030504040204" pitchFamily="50" charset="-128"/>
              <a:ea typeface="メイリオ" panose="020B0604030504040204" pitchFamily="50" charset="-128"/>
            </a:endParaRPr>
          </a:p>
        </p:txBody>
      </p:sp>
      <p:sp>
        <p:nvSpPr>
          <p:cNvPr id="69" name="Shape 30">
            <a:extLst>
              <a:ext uri="{FF2B5EF4-FFF2-40B4-BE49-F238E27FC236}">
                <a16:creationId xmlns:a16="http://schemas.microsoft.com/office/drawing/2014/main" id="{B12A9147-2862-DE3E-8AA5-154403D7E2E5}"/>
              </a:ext>
            </a:extLst>
          </p:cNvPr>
          <p:cNvSpPr/>
          <p:nvPr/>
        </p:nvSpPr>
        <p:spPr>
          <a:xfrm>
            <a:off x="6444343" y="47352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0" name="Text 31">
            <a:extLst>
              <a:ext uri="{FF2B5EF4-FFF2-40B4-BE49-F238E27FC236}">
                <a16:creationId xmlns:a16="http://schemas.microsoft.com/office/drawing/2014/main" id="{B1610132-9C94-4121-0174-5C4B56C1E9C4}"/>
              </a:ext>
            </a:extLst>
          </p:cNvPr>
          <p:cNvSpPr/>
          <p:nvPr/>
        </p:nvSpPr>
        <p:spPr>
          <a:xfrm>
            <a:off x="6490063" y="4735285"/>
            <a:ext cx="2651760" cy="457200"/>
          </a:xfrm>
          <a:prstGeom prst="rect">
            <a:avLst/>
          </a:prstGeom>
          <a:noFill/>
          <a:ln/>
        </p:spPr>
        <p:txBody>
          <a:bodyPr wrap="square" rtlCol="0" anchor="ctr"/>
          <a:lstStyle/>
          <a:p>
            <a:pPr marL="0" indent="0">
              <a:lnSpc>
                <a:spcPct val="120000"/>
              </a:lnSpc>
              <a:buNone/>
            </a:pPr>
            <a:r>
              <a:rPr lang="en-US" sz="850" dirty="0" err="1">
                <a:solidFill>
                  <a:srgbClr val="7A5200"/>
                </a:solidFill>
                <a:latin typeface="メイリオ" panose="020B0604030504040204" pitchFamily="50" charset="-128"/>
                <a:ea typeface="メイリオ" panose="020B0604030504040204" pitchFamily="50" charset="-128"/>
                <a:cs typeface="Calibri" pitchFamily="34" charset="-120"/>
              </a:rPr>
              <a:t>ナーチャリングコンテンツの優先順位を決める設問</a:t>
            </a:r>
            <a:endParaRPr lang="en-US" sz="850" dirty="0">
              <a:latin typeface="メイリオ" panose="020B0604030504040204" pitchFamily="50" charset="-128"/>
              <a:ea typeface="メイリオ" panose="020B0604030504040204" pitchFamily="50" charset="-128"/>
            </a:endParaRPr>
          </a:p>
        </p:txBody>
      </p:sp>
      <p:sp>
        <p:nvSpPr>
          <p:cNvPr id="71" name="Shape 32">
            <a:extLst>
              <a:ext uri="{FF2B5EF4-FFF2-40B4-BE49-F238E27FC236}">
                <a16:creationId xmlns:a16="http://schemas.microsoft.com/office/drawing/2014/main" id="{5E0CF565-2E70-3594-94E3-B92DBA09CE1D}"/>
              </a:ext>
            </a:extLst>
          </p:cNvPr>
          <p:cNvSpPr/>
          <p:nvPr/>
        </p:nvSpPr>
        <p:spPr>
          <a:xfrm>
            <a:off x="775063" y="5347933"/>
            <a:ext cx="8412480" cy="621792"/>
          </a:xfrm>
          <a:prstGeom prst="roundRect">
            <a:avLst>
              <a:gd name="adj" fmla="val 10294"/>
            </a:avLst>
          </a:prstGeom>
          <a:solidFill>
            <a:srgbClr val="F4F7FF"/>
          </a:solidFill>
          <a:ln w="12700">
            <a:solidFill>
              <a:srgbClr val="D1D9F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2" name="Shape 33">
            <a:extLst>
              <a:ext uri="{FF2B5EF4-FFF2-40B4-BE49-F238E27FC236}">
                <a16:creationId xmlns:a16="http://schemas.microsoft.com/office/drawing/2014/main" id="{C3888C1F-7E31-5CB5-DB8C-6376B4A23075}"/>
              </a:ext>
            </a:extLst>
          </p:cNvPr>
          <p:cNvSpPr/>
          <p:nvPr/>
        </p:nvSpPr>
        <p:spPr>
          <a:xfrm>
            <a:off x="848215" y="5457661"/>
            <a:ext cx="329184" cy="329184"/>
          </a:xfrm>
          <a:prstGeom prst="ellipse">
            <a:avLst/>
          </a:prstGeom>
          <a:solidFill>
            <a:srgbClr val="4A90D9"/>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3" name="Text 34">
            <a:extLst>
              <a:ext uri="{FF2B5EF4-FFF2-40B4-BE49-F238E27FC236}">
                <a16:creationId xmlns:a16="http://schemas.microsoft.com/office/drawing/2014/main" id="{59588FF7-10F6-8141-4359-836B851E5424}"/>
              </a:ext>
            </a:extLst>
          </p:cNvPr>
          <p:cNvSpPr/>
          <p:nvPr/>
        </p:nvSpPr>
        <p:spPr>
          <a:xfrm>
            <a:off x="848215" y="5457661"/>
            <a:ext cx="329184" cy="329184"/>
          </a:xfrm>
          <a:prstGeom prst="rect">
            <a:avLst/>
          </a:prstGeom>
          <a:noFill/>
          <a:ln/>
        </p:spPr>
        <p:txBody>
          <a:bodyPr wrap="square"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5</a:t>
            </a:r>
            <a:endParaRPr lang="en-US" sz="1100" dirty="0">
              <a:latin typeface="メイリオ" panose="020B0604030504040204" pitchFamily="50" charset="-128"/>
              <a:ea typeface="メイリオ" panose="020B0604030504040204" pitchFamily="50" charset="-128"/>
            </a:endParaRPr>
          </a:p>
        </p:txBody>
      </p:sp>
      <p:sp>
        <p:nvSpPr>
          <p:cNvPr id="74" name="Text 35">
            <a:extLst>
              <a:ext uri="{FF2B5EF4-FFF2-40B4-BE49-F238E27FC236}">
                <a16:creationId xmlns:a16="http://schemas.microsoft.com/office/drawing/2014/main" id="{C5CFC561-6A8F-BACD-E02C-A277E8A3063E}"/>
              </a:ext>
            </a:extLst>
          </p:cNvPr>
          <p:cNvSpPr/>
          <p:nvPr/>
        </p:nvSpPr>
        <p:spPr>
          <a:xfrm>
            <a:off x="1250551" y="5393653"/>
            <a:ext cx="5303520" cy="256032"/>
          </a:xfrm>
          <a:prstGeom prst="rect">
            <a:avLst/>
          </a:prstGeom>
          <a:noFill/>
          <a:ln/>
        </p:spPr>
        <p:txBody>
          <a:bodyPr wrap="square" lIns="0" tIns="0" rIns="0" bIns="0" rtlCol="0" anchor="ctr"/>
          <a:lstStyle/>
          <a:p>
            <a:pPr marL="0" indent="0">
              <a:buNone/>
            </a:pP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Q5. 転職エージェントの利用経験はありますか？</a:t>
            </a:r>
            <a:endParaRPr lang="en-US" sz="1100" dirty="0">
              <a:latin typeface="メイリオ" panose="020B0604030504040204" pitchFamily="50" charset="-128"/>
              <a:ea typeface="メイリオ" panose="020B0604030504040204" pitchFamily="50" charset="-128"/>
            </a:endParaRPr>
          </a:p>
        </p:txBody>
      </p:sp>
      <p:sp>
        <p:nvSpPr>
          <p:cNvPr id="75" name="Text 36">
            <a:extLst>
              <a:ext uri="{FF2B5EF4-FFF2-40B4-BE49-F238E27FC236}">
                <a16:creationId xmlns:a16="http://schemas.microsoft.com/office/drawing/2014/main" id="{BE1F2F6E-238F-21D4-40A5-BD1CB63C8953}"/>
              </a:ext>
            </a:extLst>
          </p:cNvPr>
          <p:cNvSpPr/>
          <p:nvPr/>
        </p:nvSpPr>
        <p:spPr>
          <a:xfrm>
            <a:off x="1250551" y="5658829"/>
            <a:ext cx="5029200" cy="237744"/>
          </a:xfrm>
          <a:prstGeom prst="rect">
            <a:avLst/>
          </a:prstGeom>
          <a:noFill/>
          <a:ln/>
        </p:spPr>
        <p:txBody>
          <a:bodyPr wrap="square" lIns="0" tIns="0" rIns="0" bIns="0" rtlCol="0" anchor="ctr"/>
          <a:lstStyle/>
          <a:p>
            <a:pPr marL="0" indent="0">
              <a:buNone/>
            </a:pPr>
            <a:r>
              <a:rPr lang="en-US" sz="850" dirty="0">
                <a:solidFill>
                  <a:srgbClr val="64748B"/>
                </a:solidFill>
                <a:latin typeface="メイリオ" panose="020B0604030504040204" pitchFamily="50" charset="-128"/>
                <a:ea typeface="メイリオ" panose="020B0604030504040204" pitchFamily="50" charset="-128"/>
                <a:cs typeface="Calibri" pitchFamily="34" charset="-120"/>
              </a:rPr>
              <a:t>A) はじめて　B) 使ったことがある（満足）　C) 使ったことがある（不満）</a:t>
            </a:r>
            <a:endParaRPr lang="en-US" sz="850" dirty="0">
              <a:latin typeface="メイリオ" panose="020B0604030504040204" pitchFamily="50" charset="-128"/>
              <a:ea typeface="メイリオ" panose="020B0604030504040204" pitchFamily="50" charset="-128"/>
            </a:endParaRPr>
          </a:p>
        </p:txBody>
      </p:sp>
      <p:sp>
        <p:nvSpPr>
          <p:cNvPr id="76" name="Shape 37">
            <a:extLst>
              <a:ext uri="{FF2B5EF4-FFF2-40B4-BE49-F238E27FC236}">
                <a16:creationId xmlns:a16="http://schemas.microsoft.com/office/drawing/2014/main" id="{E835EF93-AE65-C080-A583-076B9485CC6B}"/>
              </a:ext>
            </a:extLst>
          </p:cNvPr>
          <p:cNvSpPr/>
          <p:nvPr/>
        </p:nvSpPr>
        <p:spPr>
          <a:xfrm>
            <a:off x="6444343" y="5421085"/>
            <a:ext cx="2743200" cy="457200"/>
          </a:xfrm>
          <a:prstGeom prst="roundRect">
            <a:avLst>
              <a:gd name="adj" fmla="val 10000"/>
            </a:avLst>
          </a:prstGeom>
          <a:solidFill>
            <a:srgbClr val="FFF8E8"/>
          </a:solidFill>
          <a:ln w="12700">
            <a:solidFill>
              <a:srgbClr val="E8A838"/>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77" name="Text 38">
            <a:extLst>
              <a:ext uri="{FF2B5EF4-FFF2-40B4-BE49-F238E27FC236}">
                <a16:creationId xmlns:a16="http://schemas.microsoft.com/office/drawing/2014/main" id="{4E76941A-97E1-A80A-F7B6-9B05D68E1AA2}"/>
              </a:ext>
            </a:extLst>
          </p:cNvPr>
          <p:cNvSpPr/>
          <p:nvPr/>
        </p:nvSpPr>
        <p:spPr>
          <a:xfrm>
            <a:off x="6490063" y="5421085"/>
            <a:ext cx="2651760" cy="457200"/>
          </a:xfrm>
          <a:prstGeom prst="rect">
            <a:avLst/>
          </a:prstGeom>
          <a:noFill/>
          <a:ln/>
        </p:spPr>
        <p:txBody>
          <a:bodyPr wrap="square" rtlCol="0" anchor="ctr"/>
          <a:lstStyle/>
          <a:p>
            <a:pPr marL="0" indent="0">
              <a:lnSpc>
                <a:spcPct val="120000"/>
              </a:lnSpc>
              <a:buNone/>
            </a:pPr>
            <a:r>
              <a:rPr lang="en-US" sz="850" dirty="0">
                <a:solidFill>
                  <a:srgbClr val="7A5200"/>
                </a:solidFill>
                <a:latin typeface="メイリオ" panose="020B0604030504040204" pitchFamily="50" charset="-128"/>
                <a:ea typeface="メイリオ" panose="020B0604030504040204" pitchFamily="50" charset="-128"/>
                <a:cs typeface="Calibri" pitchFamily="34" charset="-120"/>
              </a:rPr>
              <a:t>「不満あり」層には競合差別化コンテンツを優先配信</a:t>
            </a:r>
            <a:endParaRPr lang="en-US" sz="85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080DFA3-5E6A-7CB9-A83C-9D87074C7C62}"/>
              </a:ext>
            </a:extLst>
          </p:cNvPr>
          <p:cNvSpPr/>
          <p:nvPr/>
        </p:nvSpPr>
        <p:spPr>
          <a:xfrm>
            <a:off x="167640" y="1572768"/>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DC81EE9-FE25-DEA2-3BE6-5D4BC6729956}"/>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p>
        </p:txBody>
      </p:sp>
    </p:spTree>
    <p:extLst>
      <p:ext uri="{BB962C8B-B14F-4D97-AF65-F5344CB8AC3E}">
        <p14:creationId xmlns:p14="http://schemas.microsoft.com/office/powerpoint/2010/main" val="90106357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33825-9171-A79A-31F7-FBB36FFE7BA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CD327D4-877A-97BF-5A3D-BA2BFF89C5D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EC業界の例②｜商戦カレンダー連動の企画配信</a:t>
            </a:r>
          </a:p>
        </p:txBody>
      </p:sp>
      <p:sp>
        <p:nvSpPr>
          <p:cNvPr id="2" name="Google Shape;752;p28">
            <a:extLst>
              <a:ext uri="{FF2B5EF4-FFF2-40B4-BE49-F238E27FC236}">
                <a16:creationId xmlns:a16="http://schemas.microsoft.com/office/drawing/2014/main" id="{344F9C81-17B8-CD75-7943-C74785EA9326}"/>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想定：検索ボリューム推移などの情報からスケジューリング。運用実績案件ベースで</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「ブラックフライデー」「母の日」「セール期」など購買が活発化する期間を抽出し企画作成。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a:r>
          </a:p>
        </p:txBody>
      </p:sp>
      <p:sp>
        <p:nvSpPr>
          <p:cNvPr id="3" name="Shape 2">
            <a:extLst>
              <a:ext uri="{FF2B5EF4-FFF2-40B4-BE49-F238E27FC236}">
                <a16:creationId xmlns:a16="http://schemas.microsoft.com/office/drawing/2014/main" id="{C60A8489-6BE4-3B93-2131-E11F42129098}"/>
              </a:ext>
            </a:extLst>
          </p:cNvPr>
          <p:cNvSpPr/>
          <p:nvPr/>
        </p:nvSpPr>
        <p:spPr>
          <a:xfrm>
            <a:off x="683623" y="2438404"/>
            <a:ext cx="4206240" cy="1920240"/>
          </a:xfrm>
          <a:prstGeom prst="roundRect">
            <a:avLst>
              <a:gd name="adj" fmla="val 5714"/>
            </a:avLst>
          </a:prstGeom>
          <a:solidFill>
            <a:srgbClr val="FFFFFF"/>
          </a:solidFill>
          <a:ln w="12700">
            <a:solidFill>
              <a:srgbClr val="4A90D9"/>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 name="Shape 3">
            <a:extLst>
              <a:ext uri="{FF2B5EF4-FFF2-40B4-BE49-F238E27FC236}">
                <a16:creationId xmlns:a16="http://schemas.microsoft.com/office/drawing/2014/main" id="{D946CD2D-A79C-A7B7-15A1-A1837415507A}"/>
              </a:ext>
            </a:extLst>
          </p:cNvPr>
          <p:cNvSpPr/>
          <p:nvPr/>
        </p:nvSpPr>
        <p:spPr>
          <a:xfrm>
            <a:off x="793351" y="2529844"/>
            <a:ext cx="658368" cy="292608"/>
          </a:xfrm>
          <a:prstGeom prst="roundRect">
            <a:avLst>
              <a:gd name="adj" fmla="val 18750"/>
            </a:avLst>
          </a:prstGeom>
          <a:solidFill>
            <a:srgbClr val="4A90D9"/>
          </a:solidFill>
          <a:ln w="12700">
            <a:solidFill>
              <a:srgbClr val="4A90D9"/>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 name="Text 4">
            <a:extLst>
              <a:ext uri="{FF2B5EF4-FFF2-40B4-BE49-F238E27FC236}">
                <a16:creationId xmlns:a16="http://schemas.microsoft.com/office/drawing/2014/main" id="{AB03F4F1-34EC-318B-44DB-813F9A260ADC}"/>
              </a:ext>
            </a:extLst>
          </p:cNvPr>
          <p:cNvSpPr/>
          <p:nvPr/>
        </p:nvSpPr>
        <p:spPr>
          <a:xfrm>
            <a:off x="79335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1-3月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 name="Shape 5">
            <a:extLst>
              <a:ext uri="{FF2B5EF4-FFF2-40B4-BE49-F238E27FC236}">
                <a16:creationId xmlns:a16="http://schemas.microsoft.com/office/drawing/2014/main" id="{C1B56B7E-2C3F-30E8-B262-184104348BC9}"/>
              </a:ext>
            </a:extLst>
          </p:cNvPr>
          <p:cNvSpPr/>
          <p:nvPr/>
        </p:nvSpPr>
        <p:spPr>
          <a:xfrm>
            <a:off x="150658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 name="Text 6">
            <a:extLst>
              <a:ext uri="{FF2B5EF4-FFF2-40B4-BE49-F238E27FC236}">
                <a16:creationId xmlns:a16="http://schemas.microsoft.com/office/drawing/2014/main" id="{A84711DF-BA77-8F0A-2104-C18090ED3CC4}"/>
              </a:ext>
            </a:extLst>
          </p:cNvPr>
          <p:cNvSpPr/>
          <p:nvPr/>
        </p:nvSpPr>
        <p:spPr>
          <a:xfrm>
            <a:off x="150658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転職最繁忙期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 name="Text 7">
            <a:extLst>
              <a:ext uri="{FF2B5EF4-FFF2-40B4-BE49-F238E27FC236}">
                <a16:creationId xmlns:a16="http://schemas.microsoft.com/office/drawing/2014/main" id="{F76CECB1-59BF-1E7A-094C-226743CD5D1F}"/>
              </a:ext>
            </a:extLst>
          </p:cNvPr>
          <p:cNvSpPr/>
          <p:nvPr/>
        </p:nvSpPr>
        <p:spPr>
          <a:xfrm>
            <a:off x="79335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「年度末キャリア見直しキャンペーン」</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 name="Text 8">
            <a:extLst>
              <a:ext uri="{FF2B5EF4-FFF2-40B4-BE49-F238E27FC236}">
                <a16:creationId xmlns:a16="http://schemas.microsoft.com/office/drawing/2014/main" id="{E9330544-7DE3-4156-FDB0-0068C25C7D92}"/>
              </a:ext>
            </a:extLst>
          </p:cNvPr>
          <p:cNvSpPr/>
          <p:nvPr/>
        </p:nvSpPr>
        <p:spPr>
          <a:xfrm>
            <a:off x="79335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1月〜3月は転職相談数が最大化する時期。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「3月末退職→4月入社」を目指す層が急増。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施策：無料個別面談の枠を期間限定で倍増。LINEで「残り○名」のカウントダウン配信。</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 name="Shape 9">
            <a:extLst>
              <a:ext uri="{FF2B5EF4-FFF2-40B4-BE49-F238E27FC236}">
                <a16:creationId xmlns:a16="http://schemas.microsoft.com/office/drawing/2014/main" id="{6C89C044-CC81-F526-4C28-8C8818A84AC8}"/>
              </a:ext>
            </a:extLst>
          </p:cNvPr>
          <p:cNvSpPr/>
          <p:nvPr/>
        </p:nvSpPr>
        <p:spPr>
          <a:xfrm>
            <a:off x="79335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 name="Text 10">
            <a:extLst>
              <a:ext uri="{FF2B5EF4-FFF2-40B4-BE49-F238E27FC236}">
                <a16:creationId xmlns:a16="http://schemas.microsoft.com/office/drawing/2014/main" id="{EBB9FD63-B2E1-8ED6-289B-17E75D53D0CF}"/>
              </a:ext>
            </a:extLst>
          </p:cNvPr>
          <p:cNvSpPr/>
          <p:nvPr/>
        </p:nvSpPr>
        <p:spPr>
          <a:xfrm>
            <a:off x="79335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KPI目標：面談予約率 +30% 目標</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13" name="Shape 11">
            <a:extLst>
              <a:ext uri="{FF2B5EF4-FFF2-40B4-BE49-F238E27FC236}">
                <a16:creationId xmlns:a16="http://schemas.microsoft.com/office/drawing/2014/main" id="{718FE43C-F46C-BAA4-F102-48BC91B9077E}"/>
              </a:ext>
            </a:extLst>
          </p:cNvPr>
          <p:cNvSpPr/>
          <p:nvPr/>
        </p:nvSpPr>
        <p:spPr>
          <a:xfrm>
            <a:off x="5118463" y="2438404"/>
            <a:ext cx="4206240" cy="1920240"/>
          </a:xfrm>
          <a:prstGeom prst="roundRect">
            <a:avLst>
              <a:gd name="adj" fmla="val 5714"/>
            </a:avLst>
          </a:prstGeom>
          <a:solidFill>
            <a:srgbClr val="FFFFFF"/>
          </a:solidFill>
          <a:ln w="12700">
            <a:solidFill>
              <a:schemeClr val="accent1">
                <a:lumMod val="60000"/>
                <a:lumOff val="4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 name="Shape 12">
            <a:extLst>
              <a:ext uri="{FF2B5EF4-FFF2-40B4-BE49-F238E27FC236}">
                <a16:creationId xmlns:a16="http://schemas.microsoft.com/office/drawing/2014/main" id="{BCFAF28F-3A41-62B7-ED14-2C88314DE693}"/>
              </a:ext>
            </a:extLst>
          </p:cNvPr>
          <p:cNvSpPr/>
          <p:nvPr/>
        </p:nvSpPr>
        <p:spPr>
          <a:xfrm>
            <a:off x="5228191" y="2529844"/>
            <a:ext cx="658368" cy="292608"/>
          </a:xfrm>
          <a:prstGeom prst="roundRect">
            <a:avLst>
              <a:gd name="adj" fmla="val 18750"/>
            </a:avLst>
          </a:prstGeom>
          <a:solidFill>
            <a:schemeClr val="accent1">
              <a:lumMod val="40000"/>
              <a:lumOff val="6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 name="Text 13">
            <a:extLst>
              <a:ext uri="{FF2B5EF4-FFF2-40B4-BE49-F238E27FC236}">
                <a16:creationId xmlns:a16="http://schemas.microsoft.com/office/drawing/2014/main" id="{5636307B-10AB-ADC3-1727-AB8FC5831143}"/>
              </a:ext>
            </a:extLst>
          </p:cNvPr>
          <p:cNvSpPr/>
          <p:nvPr/>
        </p:nvSpPr>
        <p:spPr>
          <a:xfrm>
            <a:off x="5228191" y="25298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4-5月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 name="Shape 14">
            <a:extLst>
              <a:ext uri="{FF2B5EF4-FFF2-40B4-BE49-F238E27FC236}">
                <a16:creationId xmlns:a16="http://schemas.microsoft.com/office/drawing/2014/main" id="{4D4B9A45-FCB5-6DB2-B02F-57FFE5D56691}"/>
              </a:ext>
            </a:extLst>
          </p:cNvPr>
          <p:cNvSpPr/>
          <p:nvPr/>
        </p:nvSpPr>
        <p:spPr>
          <a:xfrm>
            <a:off x="5941423" y="25481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 name="Text 15">
            <a:extLst>
              <a:ext uri="{FF2B5EF4-FFF2-40B4-BE49-F238E27FC236}">
                <a16:creationId xmlns:a16="http://schemas.microsoft.com/office/drawing/2014/main" id="{5AB9A477-5190-5925-BA00-7C28E41E2AE9}"/>
              </a:ext>
            </a:extLst>
          </p:cNvPr>
          <p:cNvSpPr/>
          <p:nvPr/>
        </p:nvSpPr>
        <p:spPr>
          <a:xfrm>
            <a:off x="5941423" y="25481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GW前後</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 name="Text 16">
            <a:extLst>
              <a:ext uri="{FF2B5EF4-FFF2-40B4-BE49-F238E27FC236}">
                <a16:creationId xmlns:a16="http://schemas.microsoft.com/office/drawing/2014/main" id="{F0DF4241-0F34-404F-9C8A-0C5C0B3F7B0B}"/>
              </a:ext>
            </a:extLst>
          </p:cNvPr>
          <p:cNvSpPr/>
          <p:nvPr/>
        </p:nvSpPr>
        <p:spPr>
          <a:xfrm>
            <a:off x="5228191" y="28956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「GW中に転職活動を始めよう」</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 name="Text 17">
            <a:extLst>
              <a:ext uri="{FF2B5EF4-FFF2-40B4-BE49-F238E27FC236}">
                <a16:creationId xmlns:a16="http://schemas.microsoft.com/office/drawing/2014/main" id="{2F5CBA0E-C68D-2D85-8F64-5D9ED46DE52D}"/>
              </a:ext>
            </a:extLst>
          </p:cNvPr>
          <p:cNvSpPr/>
          <p:nvPr/>
        </p:nvSpPr>
        <p:spPr>
          <a:xfrm>
            <a:off x="5228191" y="32156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連休中に将来を考えるホワイトカラーが多い</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暇×焦りが転職意欲を高める時期</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施策：GW前にLINE配信「休み中に読む転職マニュアル」PDF特典を展開。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 name="Shape 18">
            <a:extLst>
              <a:ext uri="{FF2B5EF4-FFF2-40B4-BE49-F238E27FC236}">
                <a16:creationId xmlns:a16="http://schemas.microsoft.com/office/drawing/2014/main" id="{7EF6A367-39C2-356A-9B47-3D3671D8D918}"/>
              </a:ext>
            </a:extLst>
          </p:cNvPr>
          <p:cNvSpPr/>
          <p:nvPr/>
        </p:nvSpPr>
        <p:spPr>
          <a:xfrm>
            <a:off x="5228191" y="40111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Text 19">
            <a:extLst>
              <a:ext uri="{FF2B5EF4-FFF2-40B4-BE49-F238E27FC236}">
                <a16:creationId xmlns:a16="http://schemas.microsoft.com/office/drawing/2014/main" id="{5E166AEE-8473-61AD-BC51-7204C60ECFE2}"/>
              </a:ext>
            </a:extLst>
          </p:cNvPr>
          <p:cNvSpPr/>
          <p:nvPr/>
        </p:nvSpPr>
        <p:spPr>
          <a:xfrm>
            <a:off x="5228191" y="40111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KPI目標：LINE登録数 ピーク月比 +20%</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22" name="Shape 20">
            <a:extLst>
              <a:ext uri="{FF2B5EF4-FFF2-40B4-BE49-F238E27FC236}">
                <a16:creationId xmlns:a16="http://schemas.microsoft.com/office/drawing/2014/main" id="{487B2061-6B88-0A18-0E57-12185B834CCF}"/>
              </a:ext>
            </a:extLst>
          </p:cNvPr>
          <p:cNvSpPr/>
          <p:nvPr/>
        </p:nvSpPr>
        <p:spPr>
          <a:xfrm>
            <a:off x="683623" y="4495804"/>
            <a:ext cx="4206240" cy="1920240"/>
          </a:xfrm>
          <a:prstGeom prst="roundRect">
            <a:avLst>
              <a:gd name="adj" fmla="val 5714"/>
            </a:avLst>
          </a:prstGeom>
          <a:solidFill>
            <a:srgbClr val="FFFFFF"/>
          </a:solidFill>
          <a:ln w="12700">
            <a:solidFill>
              <a:schemeClr val="accent1"/>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 name="Shape 21">
            <a:extLst>
              <a:ext uri="{FF2B5EF4-FFF2-40B4-BE49-F238E27FC236}">
                <a16:creationId xmlns:a16="http://schemas.microsoft.com/office/drawing/2014/main" id="{D80051DD-55DD-DDC4-1C20-FA43FB837AEB}"/>
              </a:ext>
            </a:extLst>
          </p:cNvPr>
          <p:cNvSpPr/>
          <p:nvPr/>
        </p:nvSpPr>
        <p:spPr>
          <a:xfrm>
            <a:off x="793351" y="4587244"/>
            <a:ext cx="658368" cy="292608"/>
          </a:xfrm>
          <a:prstGeom prst="roundRect">
            <a:avLst>
              <a:gd name="adj" fmla="val 18750"/>
            </a:avLst>
          </a:prstGeom>
          <a:solidFill>
            <a:schemeClr val="accent1"/>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 name="Text 22">
            <a:extLst>
              <a:ext uri="{FF2B5EF4-FFF2-40B4-BE49-F238E27FC236}">
                <a16:creationId xmlns:a16="http://schemas.microsoft.com/office/drawing/2014/main" id="{166D040C-5E3C-D384-1752-F340D729E508}"/>
              </a:ext>
            </a:extLst>
          </p:cNvPr>
          <p:cNvSpPr/>
          <p:nvPr/>
        </p:nvSpPr>
        <p:spPr>
          <a:xfrm>
            <a:off x="79335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9-10月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 name="Shape 23">
            <a:extLst>
              <a:ext uri="{FF2B5EF4-FFF2-40B4-BE49-F238E27FC236}">
                <a16:creationId xmlns:a16="http://schemas.microsoft.com/office/drawing/2014/main" id="{E1D75AA6-DC2D-C974-1F8F-EA3764B5E2B1}"/>
              </a:ext>
            </a:extLst>
          </p:cNvPr>
          <p:cNvSpPr/>
          <p:nvPr/>
        </p:nvSpPr>
        <p:spPr>
          <a:xfrm>
            <a:off x="150658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 name="Text 24">
            <a:extLst>
              <a:ext uri="{FF2B5EF4-FFF2-40B4-BE49-F238E27FC236}">
                <a16:creationId xmlns:a16="http://schemas.microsoft.com/office/drawing/2014/main" id="{2C81E4D3-7404-C45A-3360-2888B2C16CEC}"/>
              </a:ext>
            </a:extLst>
          </p:cNvPr>
          <p:cNvSpPr/>
          <p:nvPr/>
        </p:nvSpPr>
        <p:spPr>
          <a:xfrm>
            <a:off x="150658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秋の転職期</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 name="Text 25">
            <a:extLst>
              <a:ext uri="{FF2B5EF4-FFF2-40B4-BE49-F238E27FC236}">
                <a16:creationId xmlns:a16="http://schemas.microsoft.com/office/drawing/2014/main" id="{D74753E2-5389-A4C0-99DF-F1EBD9F21486}"/>
              </a:ext>
            </a:extLst>
          </p:cNvPr>
          <p:cNvSpPr/>
          <p:nvPr/>
        </p:nvSpPr>
        <p:spPr>
          <a:xfrm>
            <a:off x="79335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「下半期スタートダッシュ転職フェア」</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 name="Text 26">
            <a:extLst>
              <a:ext uri="{FF2B5EF4-FFF2-40B4-BE49-F238E27FC236}">
                <a16:creationId xmlns:a16="http://schemas.microsoft.com/office/drawing/2014/main" id="{15421AF9-EA34-4D6D-A17B-353040384108}"/>
              </a:ext>
            </a:extLst>
          </p:cNvPr>
          <p:cNvSpPr/>
          <p:nvPr/>
        </p:nvSpPr>
        <p:spPr>
          <a:xfrm>
            <a:off x="79335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9月は企業の採用活動が再活性化する時期。</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求人数が増えるため転職成功率も上がる</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施策：「秋限定・非公開求人100件公開」をLINEで先行案内。希少性で友だち追加を促進。</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 name="Shape 27">
            <a:extLst>
              <a:ext uri="{FF2B5EF4-FFF2-40B4-BE49-F238E27FC236}">
                <a16:creationId xmlns:a16="http://schemas.microsoft.com/office/drawing/2014/main" id="{5BE67E13-AD4F-4228-9F1A-8B4E0CCBEBBE}"/>
              </a:ext>
            </a:extLst>
          </p:cNvPr>
          <p:cNvSpPr/>
          <p:nvPr/>
        </p:nvSpPr>
        <p:spPr>
          <a:xfrm>
            <a:off x="79335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30" name="Text 28">
            <a:extLst>
              <a:ext uri="{FF2B5EF4-FFF2-40B4-BE49-F238E27FC236}">
                <a16:creationId xmlns:a16="http://schemas.microsoft.com/office/drawing/2014/main" id="{9E653D90-A148-4540-DAAB-BDE1AE7D11F9}"/>
              </a:ext>
            </a:extLst>
          </p:cNvPr>
          <p:cNvSpPr/>
          <p:nvPr/>
        </p:nvSpPr>
        <p:spPr>
          <a:xfrm>
            <a:off x="79335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KPI目標：非公開求人経由成約率 計測開始</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31" name="Shape 29">
            <a:extLst>
              <a:ext uri="{FF2B5EF4-FFF2-40B4-BE49-F238E27FC236}">
                <a16:creationId xmlns:a16="http://schemas.microsoft.com/office/drawing/2014/main" id="{9A903725-E0FA-B7ED-BE7F-3E870C011999}"/>
              </a:ext>
            </a:extLst>
          </p:cNvPr>
          <p:cNvSpPr/>
          <p:nvPr/>
        </p:nvSpPr>
        <p:spPr>
          <a:xfrm>
            <a:off x="5118463" y="4495804"/>
            <a:ext cx="4206240" cy="1920240"/>
          </a:xfrm>
          <a:prstGeom prst="roundRect">
            <a:avLst>
              <a:gd name="adj" fmla="val 5714"/>
            </a:avLst>
          </a:prstGeom>
          <a:solidFill>
            <a:srgbClr val="FFFFFF"/>
          </a:solidFill>
          <a:ln w="12700">
            <a:solidFill>
              <a:schemeClr val="tx2">
                <a:lumMod val="50000"/>
              </a:schemeClr>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 name="Shape 30">
            <a:extLst>
              <a:ext uri="{FF2B5EF4-FFF2-40B4-BE49-F238E27FC236}">
                <a16:creationId xmlns:a16="http://schemas.microsoft.com/office/drawing/2014/main" id="{E560804C-2AD2-34CF-80F2-47723D89B9EE}"/>
              </a:ext>
            </a:extLst>
          </p:cNvPr>
          <p:cNvSpPr/>
          <p:nvPr/>
        </p:nvSpPr>
        <p:spPr>
          <a:xfrm>
            <a:off x="5228191" y="4587244"/>
            <a:ext cx="658368" cy="292608"/>
          </a:xfrm>
          <a:prstGeom prst="roundRect">
            <a:avLst>
              <a:gd name="adj" fmla="val 18750"/>
            </a:avLst>
          </a:prstGeom>
          <a:solidFill>
            <a:schemeClr val="tx2">
              <a:lumMod val="5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 name="Text 31">
            <a:extLst>
              <a:ext uri="{FF2B5EF4-FFF2-40B4-BE49-F238E27FC236}">
                <a16:creationId xmlns:a16="http://schemas.microsoft.com/office/drawing/2014/main" id="{0D3AA494-1CCC-455B-FD0B-69A03482B0B2}"/>
              </a:ext>
            </a:extLst>
          </p:cNvPr>
          <p:cNvSpPr/>
          <p:nvPr/>
        </p:nvSpPr>
        <p:spPr>
          <a:xfrm>
            <a:off x="5228191" y="4587244"/>
            <a:ext cx="658368" cy="292608"/>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12月</a:t>
            </a:r>
            <a:endParaRPr kumimoji="0" lang="en-US" sz="10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 name="Shape 32">
            <a:extLst>
              <a:ext uri="{FF2B5EF4-FFF2-40B4-BE49-F238E27FC236}">
                <a16:creationId xmlns:a16="http://schemas.microsoft.com/office/drawing/2014/main" id="{7CE7A172-10BE-1E65-8E12-21F725E375E4}"/>
              </a:ext>
            </a:extLst>
          </p:cNvPr>
          <p:cNvSpPr/>
          <p:nvPr/>
        </p:nvSpPr>
        <p:spPr>
          <a:xfrm>
            <a:off x="5941423" y="4605532"/>
            <a:ext cx="1005840" cy="256032"/>
          </a:xfrm>
          <a:prstGeom prst="roundRect">
            <a:avLst>
              <a:gd name="adj" fmla="val 14286"/>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 name="Text 33">
            <a:extLst>
              <a:ext uri="{FF2B5EF4-FFF2-40B4-BE49-F238E27FC236}">
                <a16:creationId xmlns:a16="http://schemas.microsoft.com/office/drawing/2014/main" id="{6FF1A96D-D52E-0E30-532A-ECE831BE9605}"/>
              </a:ext>
            </a:extLst>
          </p:cNvPr>
          <p:cNvSpPr/>
          <p:nvPr/>
        </p:nvSpPr>
        <p:spPr>
          <a:xfrm>
            <a:off x="5941423" y="4605532"/>
            <a:ext cx="1005840" cy="256032"/>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年末</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 name="Text 34">
            <a:extLst>
              <a:ext uri="{FF2B5EF4-FFF2-40B4-BE49-F238E27FC236}">
                <a16:creationId xmlns:a16="http://schemas.microsoft.com/office/drawing/2014/main" id="{6B191EBD-ED99-BB14-8C62-5B0BA0590745}"/>
              </a:ext>
            </a:extLst>
          </p:cNvPr>
          <p:cNvSpPr/>
          <p:nvPr/>
        </p:nvSpPr>
        <p:spPr>
          <a:xfrm>
            <a:off x="5228191" y="4953004"/>
            <a:ext cx="3931920" cy="292608"/>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「来年こそ転職を決める人へ」」</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 name="Text 35">
            <a:extLst>
              <a:ext uri="{FF2B5EF4-FFF2-40B4-BE49-F238E27FC236}">
                <a16:creationId xmlns:a16="http://schemas.microsoft.com/office/drawing/2014/main" id="{13B90534-5D2F-7E51-02AE-C33CF568ED2E}"/>
              </a:ext>
            </a:extLst>
          </p:cNvPr>
          <p:cNvSpPr/>
          <p:nvPr/>
        </p:nvSpPr>
        <p:spPr>
          <a:xfrm>
            <a:off x="5228191" y="5273044"/>
            <a:ext cx="3931920" cy="749808"/>
          </a:xfrm>
          <a:prstGeom prst="rect">
            <a:avLst/>
          </a:prstGeom>
          <a:noFill/>
          <a:ln/>
        </p:spPr>
        <p:txBody>
          <a:bodyPr wrap="square" lIns="0" tIns="0" rIns="0" bIns="0" rtlCol="0" anchor="ctr"/>
          <a:lstStyle/>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年末は「来年こそ」という決意が高まるタイミング</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err="1">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競合が少なく広告効率が良い穴場期間</a:t>
            </a: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a:p>
            <a:pPr marL="0" marR="0" lvl="0" indent="0" defTabSz="914400" eaLnBrk="1" fontAlgn="auto" latinLnBrk="0" hangingPunct="1">
              <a:lnSpc>
                <a:spcPct val="130000"/>
              </a:lnSpc>
              <a:spcBef>
                <a:spcPts val="0"/>
              </a:spcBef>
              <a:spcAft>
                <a:spcPts val="0"/>
              </a:spcAft>
              <a:buClrTx/>
              <a:buSzTx/>
              <a:buFontTx/>
              <a:buNone/>
              <a:tabLst/>
              <a:defRPr/>
            </a:pPr>
            <a:r>
              <a:rPr kumimoji="0" lang="en-US" sz="90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施策：LINE配信「2026年転職市場予測レポート」先行配布。年明けの面談予約を先に獲得。</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 name="Shape 36">
            <a:extLst>
              <a:ext uri="{FF2B5EF4-FFF2-40B4-BE49-F238E27FC236}">
                <a16:creationId xmlns:a16="http://schemas.microsoft.com/office/drawing/2014/main" id="{985D5473-A6B2-6E6C-69A6-536638C669C1}"/>
              </a:ext>
            </a:extLst>
          </p:cNvPr>
          <p:cNvSpPr/>
          <p:nvPr/>
        </p:nvSpPr>
        <p:spPr>
          <a:xfrm>
            <a:off x="5228191" y="6068572"/>
            <a:ext cx="3931920" cy="228600"/>
          </a:xfrm>
          <a:prstGeom prst="roundRect">
            <a:avLst>
              <a:gd name="adj" fmla="val 16000"/>
            </a:avLst>
          </a:prstGeom>
          <a:solidFill>
            <a:srgbClr val="F4F7FF"/>
          </a:solidFill>
          <a:ln w="12700">
            <a:solidFill>
              <a:srgbClr val="D1D9F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 name="Text 37">
            <a:extLst>
              <a:ext uri="{FF2B5EF4-FFF2-40B4-BE49-F238E27FC236}">
                <a16:creationId xmlns:a16="http://schemas.microsoft.com/office/drawing/2014/main" id="{665AB6CB-040B-F5AE-5EDC-FD4A6C6C841A}"/>
              </a:ext>
            </a:extLst>
          </p:cNvPr>
          <p:cNvSpPr/>
          <p:nvPr/>
        </p:nvSpPr>
        <p:spPr>
          <a:xfrm>
            <a:off x="5228191" y="6068572"/>
            <a:ext cx="3931920" cy="228600"/>
          </a:xfrm>
          <a:prstGeom prst="rect">
            <a:avLst/>
          </a:prstGeom>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cs typeface="Calibri" pitchFamily="34" charset="-120"/>
              </a:rPr>
              <a:t>KPI目標：1月面談予約の先行獲得率</a:t>
            </a:r>
            <a:endParaRPr kumimoji="0" lang="en-US" sz="850" b="0" i="0" u="none" strike="noStrike" kern="0" cap="none" spc="0" normalizeH="0" baseline="0" noProof="0" dirty="0">
              <a:ln>
                <a:noFill/>
              </a:ln>
              <a:solidFill>
                <a:schemeClr val="tx1">
                  <a:lumMod val="50000"/>
                  <a:lumOff val="50000"/>
                </a:schemeClr>
              </a:solidFill>
              <a:effectLst/>
              <a:uLnTx/>
              <a:uFillTx/>
              <a:latin typeface="メイリオ" panose="020B0604030504040204" pitchFamily="50" charset="-128"/>
              <a:ea typeface="メイリオ" panose="020B0604030504040204" pitchFamily="50" charset="-128"/>
            </a:endParaRPr>
          </a:p>
        </p:txBody>
      </p:sp>
      <p:sp>
        <p:nvSpPr>
          <p:cNvPr id="42" name="Shape 2">
            <a:extLst>
              <a:ext uri="{FF2B5EF4-FFF2-40B4-BE49-F238E27FC236}">
                <a16:creationId xmlns:a16="http://schemas.microsoft.com/office/drawing/2014/main" id="{22BE1ADA-BF01-A520-0D77-972E7821FCE2}"/>
              </a:ext>
            </a:extLst>
          </p:cNvPr>
          <p:cNvSpPr/>
          <p:nvPr/>
        </p:nvSpPr>
        <p:spPr>
          <a:xfrm>
            <a:off x="683623" y="1900213"/>
            <a:ext cx="864616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43" name="Text 3">
            <a:extLst>
              <a:ext uri="{FF2B5EF4-FFF2-40B4-BE49-F238E27FC236}">
                <a16:creationId xmlns:a16="http://schemas.microsoft.com/office/drawing/2014/main" id="{F90B8BB4-8425-50C4-639B-16BEF90627DF}"/>
              </a:ext>
            </a:extLst>
          </p:cNvPr>
          <p:cNvSpPr/>
          <p:nvPr/>
        </p:nvSpPr>
        <p:spPr>
          <a:xfrm>
            <a:off x="866503" y="1900213"/>
            <a:ext cx="8458200" cy="457200"/>
          </a:xfrm>
          <a:prstGeom prst="rect">
            <a:avLst/>
          </a:prstGeom>
          <a:noFill/>
          <a:ln/>
        </p:spPr>
        <p:txBody>
          <a:bodyPr wrap="square" rtlCol="0" anchor="ctr"/>
          <a:lstStyle/>
          <a:p>
            <a:pPr marL="0" indent="0">
              <a:buNone/>
            </a:pP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よくある</a:t>
            </a: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・季節・年齢などのデータから、各ユーザー層に反応率の高い投稿クリエイティブを、企画～設計～運用。</a:t>
            </a:r>
            <a:endParaRPr lang="en-US" sz="1100" dirty="0">
              <a:latin typeface="メイリオ" panose="020B0604030504040204" pitchFamily="50" charset="-128"/>
              <a:ea typeface="メイリオ" panose="020B0604030504040204" pitchFamily="50" charset="-128"/>
            </a:endParaRPr>
          </a:p>
        </p:txBody>
      </p:sp>
      <p:sp>
        <p:nvSpPr>
          <p:cNvPr id="47" name="正方形/長方形 46">
            <a:extLst>
              <a:ext uri="{FF2B5EF4-FFF2-40B4-BE49-F238E27FC236}">
                <a16:creationId xmlns:a16="http://schemas.microsoft.com/office/drawing/2014/main" id="{8517C2D8-2B96-60F6-B4C8-41F2D3663705}"/>
              </a:ext>
            </a:extLst>
          </p:cNvPr>
          <p:cNvSpPr/>
          <p:nvPr/>
        </p:nvSpPr>
        <p:spPr>
          <a:xfrm>
            <a:off x="139337" y="1733006"/>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正方形/長方形 43">
            <a:extLst>
              <a:ext uri="{FF2B5EF4-FFF2-40B4-BE49-F238E27FC236}">
                <a16:creationId xmlns:a16="http://schemas.microsoft.com/office/drawing/2014/main" id="{F12EE9E2-9122-74C3-0A3B-F81EEC972BBE}"/>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p>
        </p:txBody>
      </p:sp>
    </p:spTree>
    <p:extLst>
      <p:ext uri="{BB962C8B-B14F-4D97-AF65-F5344CB8AC3E}">
        <p14:creationId xmlns:p14="http://schemas.microsoft.com/office/powerpoint/2010/main" val="21853059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AE1A8-B06F-74B4-1E2A-7416EDA4E827}"/>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B77D6B5-FA2F-ED51-FB47-E8DC14B8ADE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EC業界の例③｜すぐ買わない層への長期育成</a:t>
            </a:r>
          </a:p>
        </p:txBody>
      </p:sp>
      <p:sp>
        <p:nvSpPr>
          <p:cNvPr id="2" name="Google Shape;752;p28">
            <a:extLst>
              <a:ext uri="{FF2B5EF4-FFF2-40B4-BE49-F238E27FC236}">
                <a16:creationId xmlns:a16="http://schemas.microsoft.com/office/drawing/2014/main" id="{A8DDF192-E20B-6A12-DAA4-2904850388D2}"/>
              </a:ext>
            </a:extLst>
          </p:cNvPr>
          <p:cNvSpPr txBox="1"/>
          <p:nvPr/>
        </p:nvSpPr>
        <p:spPr>
          <a:xfrm>
            <a:off x="309397" y="655107"/>
            <a:ext cx="9330992" cy="584735"/>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LINE</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友だち追加からすぐ</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しないユーザーに対しては、最適な</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MSG</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配信を実現するため、</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　　　心理ハードルの低い</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性格診断</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 </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“経験談アンケート</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等を通じて追客施策の強弱を決定。</a:t>
            </a:r>
            <a:endPar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80" name="Text 3">
            <a:extLst>
              <a:ext uri="{FF2B5EF4-FFF2-40B4-BE49-F238E27FC236}">
                <a16:creationId xmlns:a16="http://schemas.microsoft.com/office/drawing/2014/main" id="{2F1CF158-D3B8-740E-7BB9-7BA2711D5A86}"/>
              </a:ext>
            </a:extLst>
          </p:cNvPr>
          <p:cNvSpPr/>
          <p:nvPr/>
        </p:nvSpPr>
        <p:spPr>
          <a:xfrm>
            <a:off x="430467" y="2806337"/>
            <a:ext cx="3997841"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診断設問（4問・各5択）</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1" name="Shape 4">
            <a:extLst>
              <a:ext uri="{FF2B5EF4-FFF2-40B4-BE49-F238E27FC236}">
                <a16:creationId xmlns:a16="http://schemas.microsoft.com/office/drawing/2014/main" id="{D0D52073-224A-0961-D46B-A0D0A35577C1}"/>
              </a:ext>
            </a:extLst>
          </p:cNvPr>
          <p:cNvSpPr/>
          <p:nvPr/>
        </p:nvSpPr>
        <p:spPr>
          <a:xfrm>
            <a:off x="404949" y="314466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5">
            <a:extLst>
              <a:ext uri="{FF2B5EF4-FFF2-40B4-BE49-F238E27FC236}">
                <a16:creationId xmlns:a16="http://schemas.microsoft.com/office/drawing/2014/main" id="{45D645B7-F48E-7853-EBC0-8E0C5EF81708}"/>
              </a:ext>
            </a:extLst>
          </p:cNvPr>
          <p:cNvSpPr/>
          <p:nvPr/>
        </p:nvSpPr>
        <p:spPr>
          <a:xfrm>
            <a:off x="559121" y="314466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Q1  「仕事のことを考えると、日曜の夜に憂鬱になりますか？」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3" name="Shape 6">
            <a:extLst>
              <a:ext uri="{FF2B5EF4-FFF2-40B4-BE49-F238E27FC236}">
                <a16:creationId xmlns:a16="http://schemas.microsoft.com/office/drawing/2014/main" id="{6791C392-1A7B-7AE0-A33F-16F51A18C75D}"/>
              </a:ext>
            </a:extLst>
          </p:cNvPr>
          <p:cNvSpPr/>
          <p:nvPr/>
        </p:nvSpPr>
        <p:spPr>
          <a:xfrm>
            <a:off x="404949" y="351042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4" name="Text 7">
            <a:extLst>
              <a:ext uri="{FF2B5EF4-FFF2-40B4-BE49-F238E27FC236}">
                <a16:creationId xmlns:a16="http://schemas.microsoft.com/office/drawing/2014/main" id="{E67E7D97-92DF-6373-F0A3-CF953F46FBAE}"/>
              </a:ext>
            </a:extLst>
          </p:cNvPr>
          <p:cNvSpPr/>
          <p:nvPr/>
        </p:nvSpPr>
        <p:spPr>
          <a:xfrm>
            <a:off x="559121" y="351042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Q2  「給与明細を見て『こんなものか』と思ったことがありますか？」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5" name="Shape 8">
            <a:extLst>
              <a:ext uri="{FF2B5EF4-FFF2-40B4-BE49-F238E27FC236}">
                <a16:creationId xmlns:a16="http://schemas.microsoft.com/office/drawing/2014/main" id="{1EEAB261-7048-6C4C-10D7-6CA60C396F31}"/>
              </a:ext>
            </a:extLst>
          </p:cNvPr>
          <p:cNvSpPr/>
          <p:nvPr/>
        </p:nvSpPr>
        <p:spPr>
          <a:xfrm>
            <a:off x="404949" y="387618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6" name="Text 9">
            <a:extLst>
              <a:ext uri="{FF2B5EF4-FFF2-40B4-BE49-F238E27FC236}">
                <a16:creationId xmlns:a16="http://schemas.microsoft.com/office/drawing/2014/main" id="{D0B754F8-CEA6-0F61-4B75-EC0D7AB0BBDC}"/>
              </a:ext>
            </a:extLst>
          </p:cNvPr>
          <p:cNvSpPr/>
          <p:nvPr/>
        </p:nvSpPr>
        <p:spPr>
          <a:xfrm>
            <a:off x="559121" y="387618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Q3  「5年後、今の会社にいる自分の姿が想像できますか？」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7" name="Shape 10">
            <a:extLst>
              <a:ext uri="{FF2B5EF4-FFF2-40B4-BE49-F238E27FC236}">
                <a16:creationId xmlns:a16="http://schemas.microsoft.com/office/drawing/2014/main" id="{FF427501-423E-6CDF-014B-ED232F961BFB}"/>
              </a:ext>
            </a:extLst>
          </p:cNvPr>
          <p:cNvSpPr/>
          <p:nvPr/>
        </p:nvSpPr>
        <p:spPr>
          <a:xfrm>
            <a:off x="404949" y="4241945"/>
            <a:ext cx="4297679" cy="301752"/>
          </a:xfrm>
          <a:prstGeom prst="roundRect">
            <a:avLst>
              <a:gd name="adj" fmla="val 15152"/>
            </a:avLst>
          </a:prstGeom>
          <a:solidFill>
            <a:srgbClr val="F4F7FF"/>
          </a:solidFill>
          <a:ln w="12700">
            <a:solidFill>
              <a:srgbClr val="E8EDF8"/>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Text 11">
            <a:extLst>
              <a:ext uri="{FF2B5EF4-FFF2-40B4-BE49-F238E27FC236}">
                <a16:creationId xmlns:a16="http://schemas.microsoft.com/office/drawing/2014/main" id="{DB910A08-DF58-32FA-2432-5C0AF3C83C53}"/>
              </a:ext>
            </a:extLst>
          </p:cNvPr>
          <p:cNvSpPr/>
          <p:nvPr/>
        </p:nvSpPr>
        <p:spPr>
          <a:xfrm>
            <a:off x="559121" y="4241945"/>
            <a:ext cx="4097787" cy="301752"/>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9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Q4  「上司・同僚と話す際に本音を言えていると感じますか？」</a:t>
            </a:r>
            <a:endParaRPr kumimoji="0" lang="en-US" sz="9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9" name="Text 12">
            <a:extLst>
              <a:ext uri="{FF2B5EF4-FFF2-40B4-BE49-F238E27FC236}">
                <a16:creationId xmlns:a16="http://schemas.microsoft.com/office/drawing/2014/main" id="{49C9DDEC-B91F-B9F3-D8EE-6DA3BF2758CE}"/>
              </a:ext>
            </a:extLst>
          </p:cNvPr>
          <p:cNvSpPr/>
          <p:nvPr/>
        </p:nvSpPr>
        <p:spPr>
          <a:xfrm>
            <a:off x="5177853" y="2810806"/>
            <a:ext cx="4297680" cy="274320"/>
          </a:xfrm>
          <a:prstGeom prst="rect">
            <a:avLst/>
          </a:prstGeom>
          <a:noFill/>
          <a:ln/>
        </p:spPr>
        <p:txBody>
          <a:bodyPr wrap="square"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診断結果 4パターン＋追客方針</a:t>
            </a:r>
            <a:endParaRPr kumimoji="0" lang="en-US" sz="12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0" name="Shape 13">
            <a:extLst>
              <a:ext uri="{FF2B5EF4-FFF2-40B4-BE49-F238E27FC236}">
                <a16:creationId xmlns:a16="http://schemas.microsoft.com/office/drawing/2014/main" id="{7D9279AB-DA4C-865E-1BFC-B99D3C6C3C3F}"/>
              </a:ext>
            </a:extLst>
          </p:cNvPr>
          <p:cNvSpPr/>
          <p:nvPr/>
        </p:nvSpPr>
        <p:spPr>
          <a:xfrm>
            <a:off x="5177853" y="31491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1" name="Shape 14">
            <a:extLst>
              <a:ext uri="{FF2B5EF4-FFF2-40B4-BE49-F238E27FC236}">
                <a16:creationId xmlns:a16="http://schemas.microsoft.com/office/drawing/2014/main" id="{FE25EE99-D7D8-85CF-09FC-6465111BFB2C}"/>
              </a:ext>
            </a:extLst>
          </p:cNvPr>
          <p:cNvSpPr/>
          <p:nvPr/>
        </p:nvSpPr>
        <p:spPr>
          <a:xfrm>
            <a:off x="5251005" y="3222286"/>
            <a:ext cx="1005840" cy="256032"/>
          </a:xfrm>
          <a:prstGeom prst="roundRect">
            <a:avLst>
              <a:gd name="adj" fmla="val 14286"/>
            </a:avLst>
          </a:prstGeom>
          <a:solidFill>
            <a:schemeClr val="tx2">
              <a:lumMod val="75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2" name="Text 15">
            <a:extLst>
              <a:ext uri="{FF2B5EF4-FFF2-40B4-BE49-F238E27FC236}">
                <a16:creationId xmlns:a16="http://schemas.microsoft.com/office/drawing/2014/main" id="{F2BB4149-C773-D448-ED22-0664FCDF9177}"/>
              </a:ext>
            </a:extLst>
          </p:cNvPr>
          <p:cNvSpPr/>
          <p:nvPr/>
        </p:nvSpPr>
        <p:spPr>
          <a:xfrm>
            <a:off x="5251005" y="32222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即転職型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3" name="Shape 16">
            <a:extLst>
              <a:ext uri="{FF2B5EF4-FFF2-40B4-BE49-F238E27FC236}">
                <a16:creationId xmlns:a16="http://schemas.microsoft.com/office/drawing/2014/main" id="{95E60EE8-0A0B-1609-55AE-E84B1C214243}"/>
              </a:ext>
            </a:extLst>
          </p:cNvPr>
          <p:cNvSpPr/>
          <p:nvPr/>
        </p:nvSpPr>
        <p:spPr>
          <a:xfrm>
            <a:off x="6320853" y="32405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4" name="Text 17">
            <a:extLst>
              <a:ext uri="{FF2B5EF4-FFF2-40B4-BE49-F238E27FC236}">
                <a16:creationId xmlns:a16="http://schemas.microsoft.com/office/drawing/2014/main" id="{72D5F163-FCBF-2136-41BC-77594BF1877E}"/>
              </a:ext>
            </a:extLst>
          </p:cNvPr>
          <p:cNvSpPr/>
          <p:nvPr/>
        </p:nvSpPr>
        <p:spPr>
          <a:xfrm>
            <a:off x="6320853" y="32405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5" name="Text 18">
            <a:extLst>
              <a:ext uri="{FF2B5EF4-FFF2-40B4-BE49-F238E27FC236}">
                <a16:creationId xmlns:a16="http://schemas.microsoft.com/office/drawing/2014/main" id="{10AA3820-1E64-09EE-B24B-B91B9B0E3954}"/>
              </a:ext>
            </a:extLst>
          </p:cNvPr>
          <p:cNvSpPr/>
          <p:nvPr/>
        </p:nvSpPr>
        <p:spPr>
          <a:xfrm>
            <a:off x="7207821" y="32405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05A5A"/>
                </a:solidFill>
                <a:effectLst/>
                <a:uLnTx/>
                <a:uFillTx/>
                <a:latin typeface="メイリオ" panose="020B0604030504040204" pitchFamily="50" charset="-128"/>
                <a:ea typeface="メイリオ" panose="020B0604030504040204" pitchFamily="50" charset="-128"/>
                <a:cs typeface="Calibri" pitchFamily="34" charset="-120"/>
              </a:rPr>
              <a:t>→ ホットリスト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6" name="Text 19">
            <a:extLst>
              <a:ext uri="{FF2B5EF4-FFF2-40B4-BE49-F238E27FC236}">
                <a16:creationId xmlns:a16="http://schemas.microsoft.com/office/drawing/2014/main" id="{3DDA72DF-D996-0751-2316-45B75A6606C6}"/>
              </a:ext>
            </a:extLst>
          </p:cNvPr>
          <p:cNvSpPr/>
          <p:nvPr/>
        </p:nvSpPr>
        <p:spPr>
          <a:xfrm>
            <a:off x="5251005" y="34966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面談オファーを即座に配信。限定枠・期限を明示したクロージングメッセージ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7" name="Shape 20">
            <a:extLst>
              <a:ext uri="{FF2B5EF4-FFF2-40B4-BE49-F238E27FC236}">
                <a16:creationId xmlns:a16="http://schemas.microsoft.com/office/drawing/2014/main" id="{011CB3D1-C7A5-7956-3BAA-69C2CB905B6A}"/>
              </a:ext>
            </a:extLst>
          </p:cNvPr>
          <p:cNvSpPr/>
          <p:nvPr/>
        </p:nvSpPr>
        <p:spPr>
          <a:xfrm>
            <a:off x="5177853" y="38349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8" name="Shape 21">
            <a:extLst>
              <a:ext uri="{FF2B5EF4-FFF2-40B4-BE49-F238E27FC236}">
                <a16:creationId xmlns:a16="http://schemas.microsoft.com/office/drawing/2014/main" id="{4C69AF05-15A8-3F8C-8F51-AD3439C14622}"/>
              </a:ext>
            </a:extLst>
          </p:cNvPr>
          <p:cNvSpPr/>
          <p:nvPr/>
        </p:nvSpPr>
        <p:spPr>
          <a:xfrm>
            <a:off x="5251005" y="3908086"/>
            <a:ext cx="1005840" cy="256032"/>
          </a:xfrm>
          <a:prstGeom prst="roundRect">
            <a:avLst>
              <a:gd name="adj" fmla="val 14286"/>
            </a:avLst>
          </a:prstGeom>
          <a:solidFill>
            <a:schemeClr val="tx2"/>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9" name="Text 22">
            <a:extLst>
              <a:ext uri="{FF2B5EF4-FFF2-40B4-BE49-F238E27FC236}">
                <a16:creationId xmlns:a16="http://schemas.microsoft.com/office/drawing/2014/main" id="{FF31A922-59CE-9653-E310-5F8646A1A6DD}"/>
              </a:ext>
            </a:extLst>
          </p:cNvPr>
          <p:cNvSpPr/>
          <p:nvPr/>
        </p:nvSpPr>
        <p:spPr>
          <a:xfrm>
            <a:off x="5251005" y="39080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慎重検討型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0" name="Shape 23">
            <a:extLst>
              <a:ext uri="{FF2B5EF4-FFF2-40B4-BE49-F238E27FC236}">
                <a16:creationId xmlns:a16="http://schemas.microsoft.com/office/drawing/2014/main" id="{BF532CBE-24FC-8551-A3EA-4F3D1688FA51}"/>
              </a:ext>
            </a:extLst>
          </p:cNvPr>
          <p:cNvSpPr/>
          <p:nvPr/>
        </p:nvSpPr>
        <p:spPr>
          <a:xfrm>
            <a:off x="6320853" y="39263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1" name="Text 24">
            <a:extLst>
              <a:ext uri="{FF2B5EF4-FFF2-40B4-BE49-F238E27FC236}">
                <a16:creationId xmlns:a16="http://schemas.microsoft.com/office/drawing/2014/main" id="{6B81A3BF-2D14-0A6E-58E2-41F6C95FFF9D}"/>
              </a:ext>
            </a:extLst>
          </p:cNvPr>
          <p:cNvSpPr/>
          <p:nvPr/>
        </p:nvSpPr>
        <p:spPr>
          <a:xfrm>
            <a:off x="6320853" y="39263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中高スコア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2" name="Text 25">
            <a:extLst>
              <a:ext uri="{FF2B5EF4-FFF2-40B4-BE49-F238E27FC236}">
                <a16:creationId xmlns:a16="http://schemas.microsoft.com/office/drawing/2014/main" id="{A7F23C91-1AC9-92C8-0444-0C2A7B7900FB}"/>
              </a:ext>
            </a:extLst>
          </p:cNvPr>
          <p:cNvSpPr/>
          <p:nvPr/>
        </p:nvSpPr>
        <p:spPr>
          <a:xfrm>
            <a:off x="7207821" y="39263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E8A838"/>
                </a:solidFill>
                <a:effectLst/>
                <a:uLnTx/>
                <a:uFillTx/>
                <a:latin typeface="メイリオ" panose="020B0604030504040204" pitchFamily="50" charset="-128"/>
                <a:ea typeface="メイリオ" panose="020B0604030504040204" pitchFamily="50" charset="-128"/>
                <a:cs typeface="Calibri" pitchFamily="34" charset="-120"/>
              </a:rPr>
              <a:t>→ ウォームリスト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3" name="Text 26">
            <a:extLst>
              <a:ext uri="{FF2B5EF4-FFF2-40B4-BE49-F238E27FC236}">
                <a16:creationId xmlns:a16="http://schemas.microsoft.com/office/drawing/2014/main" id="{4901DF11-6A92-B335-2D97-90FF2A2F3B7E}"/>
              </a:ext>
            </a:extLst>
          </p:cNvPr>
          <p:cNvSpPr/>
          <p:nvPr/>
        </p:nvSpPr>
        <p:spPr>
          <a:xfrm>
            <a:off x="5251005" y="41824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転職成功事例・年収比較データを週1配信。3〜4週間かけて温める</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Shape 27">
            <a:extLst>
              <a:ext uri="{FF2B5EF4-FFF2-40B4-BE49-F238E27FC236}">
                <a16:creationId xmlns:a16="http://schemas.microsoft.com/office/drawing/2014/main" id="{20D444BB-26DB-74C1-2095-C4CECE5DD870}"/>
              </a:ext>
            </a:extLst>
          </p:cNvPr>
          <p:cNvSpPr/>
          <p:nvPr/>
        </p:nvSpPr>
        <p:spPr>
          <a:xfrm>
            <a:off x="5177853" y="45207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5" name="Shape 28">
            <a:extLst>
              <a:ext uri="{FF2B5EF4-FFF2-40B4-BE49-F238E27FC236}">
                <a16:creationId xmlns:a16="http://schemas.microsoft.com/office/drawing/2014/main" id="{B7739C89-3CB4-FFD4-5878-8E37F4F17031}"/>
              </a:ext>
            </a:extLst>
          </p:cNvPr>
          <p:cNvSpPr/>
          <p:nvPr/>
        </p:nvSpPr>
        <p:spPr>
          <a:xfrm>
            <a:off x="5251005" y="4593886"/>
            <a:ext cx="1005840" cy="256032"/>
          </a:xfrm>
          <a:prstGeom prst="roundRect">
            <a:avLst>
              <a:gd name="adj" fmla="val 14286"/>
            </a:avLst>
          </a:prstGeom>
          <a:solidFill>
            <a:schemeClr val="tx2">
              <a:lumMod val="60000"/>
              <a:lumOff val="4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6" name="Text 29">
            <a:extLst>
              <a:ext uri="{FF2B5EF4-FFF2-40B4-BE49-F238E27FC236}">
                <a16:creationId xmlns:a16="http://schemas.microsoft.com/office/drawing/2014/main" id="{86C5CCD4-DADF-8B0D-5331-4D81B5C903BC}"/>
              </a:ext>
            </a:extLst>
          </p:cNvPr>
          <p:cNvSpPr/>
          <p:nvPr/>
        </p:nvSpPr>
        <p:spPr>
          <a:xfrm>
            <a:off x="5251005" y="45938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情報収集型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7" name="Shape 30">
            <a:extLst>
              <a:ext uri="{FF2B5EF4-FFF2-40B4-BE49-F238E27FC236}">
                <a16:creationId xmlns:a16="http://schemas.microsoft.com/office/drawing/2014/main" id="{4F2323BE-47BE-D53C-98B3-4B403E562891}"/>
              </a:ext>
            </a:extLst>
          </p:cNvPr>
          <p:cNvSpPr/>
          <p:nvPr/>
        </p:nvSpPr>
        <p:spPr>
          <a:xfrm>
            <a:off x="6320853" y="46121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8" name="Text 31">
            <a:extLst>
              <a:ext uri="{FF2B5EF4-FFF2-40B4-BE49-F238E27FC236}">
                <a16:creationId xmlns:a16="http://schemas.microsoft.com/office/drawing/2014/main" id="{5812A64F-2CCF-7FF6-0B3F-E39A36A21562}"/>
              </a:ext>
            </a:extLst>
          </p:cNvPr>
          <p:cNvSpPr/>
          <p:nvPr/>
        </p:nvSpPr>
        <p:spPr>
          <a:xfrm>
            <a:off x="6320853" y="46121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中スコア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9" name="Text 32">
            <a:extLst>
              <a:ext uri="{FF2B5EF4-FFF2-40B4-BE49-F238E27FC236}">
                <a16:creationId xmlns:a16="http://schemas.microsoft.com/office/drawing/2014/main" id="{E0F8F83C-84BB-D4BE-225A-E9D41ECDEA76}"/>
              </a:ext>
            </a:extLst>
          </p:cNvPr>
          <p:cNvSpPr/>
          <p:nvPr/>
        </p:nvSpPr>
        <p:spPr>
          <a:xfrm>
            <a:off x="7207821" y="46121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0D9488"/>
                </a:solidFill>
                <a:effectLst/>
                <a:uLnTx/>
                <a:uFillTx/>
                <a:latin typeface="メイリオ" panose="020B0604030504040204" pitchFamily="50" charset="-128"/>
                <a:ea typeface="メイリオ" panose="020B0604030504040204" pitchFamily="50" charset="-128"/>
                <a:cs typeface="Calibri" pitchFamily="34" charset="-120"/>
              </a:rPr>
              <a:t>→ ミドルリスト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Text 33">
            <a:extLst>
              <a:ext uri="{FF2B5EF4-FFF2-40B4-BE49-F238E27FC236}">
                <a16:creationId xmlns:a16="http://schemas.microsoft.com/office/drawing/2014/main" id="{88DC7D4E-3340-9B35-991E-96ED00531893}"/>
              </a:ext>
            </a:extLst>
          </p:cNvPr>
          <p:cNvSpPr/>
          <p:nvPr/>
        </p:nvSpPr>
        <p:spPr>
          <a:xfrm>
            <a:off x="5251005" y="48682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業界動向・スキルアップ情報を提供。半年スパンで関係構築</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1" name="Shape 34">
            <a:extLst>
              <a:ext uri="{FF2B5EF4-FFF2-40B4-BE49-F238E27FC236}">
                <a16:creationId xmlns:a16="http://schemas.microsoft.com/office/drawing/2014/main" id="{966CBC37-CF13-58B0-5CD8-1E77836F7F29}"/>
              </a:ext>
            </a:extLst>
          </p:cNvPr>
          <p:cNvSpPr/>
          <p:nvPr/>
        </p:nvSpPr>
        <p:spPr>
          <a:xfrm>
            <a:off x="5177853" y="5206534"/>
            <a:ext cx="4297680" cy="621792"/>
          </a:xfrm>
          <a:prstGeom prst="roundRect">
            <a:avLst>
              <a:gd name="adj" fmla="val 11765"/>
            </a:avLst>
          </a:prstGeom>
          <a:solidFill>
            <a:srgbClr val="FFFFFF"/>
          </a:solidFill>
          <a:ln w="12700">
            <a:solidFill>
              <a:schemeClr val="tx2"/>
            </a:solidFill>
            <a:prstDash val="solid"/>
          </a:ln>
          <a:effectLst>
            <a:outerShdw blurRad="101600" dist="25400" dir="2700000" algn="bl" rotWithShape="0">
              <a:srgbClr val="000000">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35">
            <a:extLst>
              <a:ext uri="{FF2B5EF4-FFF2-40B4-BE49-F238E27FC236}">
                <a16:creationId xmlns:a16="http://schemas.microsoft.com/office/drawing/2014/main" id="{100CDE3F-E390-202C-287F-515D436D1ADB}"/>
              </a:ext>
            </a:extLst>
          </p:cNvPr>
          <p:cNvSpPr/>
          <p:nvPr/>
        </p:nvSpPr>
        <p:spPr>
          <a:xfrm>
            <a:off x="5251005" y="5279686"/>
            <a:ext cx="1005840" cy="256032"/>
          </a:xfrm>
          <a:prstGeom prst="roundRect">
            <a:avLst>
              <a:gd name="adj" fmla="val 14286"/>
            </a:avLst>
          </a:prstGeom>
          <a:solidFill>
            <a:schemeClr val="tx2">
              <a:lumMod val="20000"/>
              <a:lumOff val="80000"/>
            </a:schemeClr>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3" name="Text 36">
            <a:extLst>
              <a:ext uri="{FF2B5EF4-FFF2-40B4-BE49-F238E27FC236}">
                <a16:creationId xmlns:a16="http://schemas.microsoft.com/office/drawing/2014/main" id="{0D886FBA-D1FA-1F1D-4774-F731872AEE33}"/>
              </a:ext>
            </a:extLst>
          </p:cNvPr>
          <p:cNvSpPr/>
          <p:nvPr/>
        </p:nvSpPr>
        <p:spPr>
          <a:xfrm>
            <a:off x="5251005" y="5279686"/>
            <a:ext cx="1005840" cy="256032"/>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9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現状維持型</a:t>
            </a:r>
            <a:endParaRPr kumimoji="0" lang="en-US" sz="9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4" name="Shape 37">
            <a:extLst>
              <a:ext uri="{FF2B5EF4-FFF2-40B4-BE49-F238E27FC236}">
                <a16:creationId xmlns:a16="http://schemas.microsoft.com/office/drawing/2014/main" id="{0A8BE876-C3E9-5C00-CA0A-659FF0188ECF}"/>
              </a:ext>
            </a:extLst>
          </p:cNvPr>
          <p:cNvSpPr/>
          <p:nvPr/>
        </p:nvSpPr>
        <p:spPr>
          <a:xfrm>
            <a:off x="6320853" y="5297974"/>
            <a:ext cx="822960" cy="219456"/>
          </a:xfrm>
          <a:prstGeom prst="roundRect">
            <a:avLst>
              <a:gd name="adj" fmla="val 16667"/>
            </a:avLst>
          </a:prstGeom>
          <a:solidFill>
            <a:srgbClr val="F4F7FF"/>
          </a:solidFill>
          <a:ln w="12700">
            <a:no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5" name="Text 38">
            <a:extLst>
              <a:ext uri="{FF2B5EF4-FFF2-40B4-BE49-F238E27FC236}">
                <a16:creationId xmlns:a16="http://schemas.microsoft.com/office/drawing/2014/main" id="{BB5CADDA-DE23-AF11-67EE-438A0E4F573B}"/>
              </a:ext>
            </a:extLst>
          </p:cNvPr>
          <p:cNvSpPr/>
          <p:nvPr/>
        </p:nvSpPr>
        <p:spPr>
          <a:xfrm>
            <a:off x="6320853" y="5297974"/>
            <a:ext cx="822960" cy="219456"/>
          </a:xfrm>
          <a:prstGeom prst="rect">
            <a:avLst/>
          </a:prstGeom>
          <a:noFill/>
          <a:ln>
            <a:noFill/>
          </a:ln>
        </p:spPr>
        <p:txBody>
          <a:bodyPr wrap="square"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1E2761"/>
                </a:solidFill>
                <a:effectLst/>
                <a:uLnTx/>
                <a:uFillTx/>
                <a:latin typeface="メイリオ" panose="020B0604030504040204" pitchFamily="50" charset="-128"/>
                <a:ea typeface="メイリオ" panose="020B0604030504040204" pitchFamily="50" charset="-128"/>
                <a:cs typeface="Calibri" pitchFamily="34" charset="-120"/>
              </a:rPr>
              <a:t>低スコア</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39">
            <a:extLst>
              <a:ext uri="{FF2B5EF4-FFF2-40B4-BE49-F238E27FC236}">
                <a16:creationId xmlns:a16="http://schemas.microsoft.com/office/drawing/2014/main" id="{CDEDD963-E8C1-C16E-2022-546114A75A76}"/>
              </a:ext>
            </a:extLst>
          </p:cNvPr>
          <p:cNvSpPr/>
          <p:nvPr/>
        </p:nvSpPr>
        <p:spPr>
          <a:xfrm>
            <a:off x="7207821" y="5297974"/>
            <a:ext cx="1280160" cy="219456"/>
          </a:xfrm>
          <a:prstGeom prst="rect">
            <a:avLst/>
          </a:prstGeom>
          <a:noFill/>
          <a:ln>
            <a:noFill/>
          </a:ln>
        </p:spPr>
        <p:txBody>
          <a:bodyPr wrap="square" rtlCol="0" anchor="ctr"/>
          <a:lstStyle/>
          <a:p>
            <a:pPr marL="0" marR="0" lvl="0" indent="0" algn="r"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 コールドリスト</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7" name="Text 40">
            <a:extLst>
              <a:ext uri="{FF2B5EF4-FFF2-40B4-BE49-F238E27FC236}">
                <a16:creationId xmlns:a16="http://schemas.microsoft.com/office/drawing/2014/main" id="{00198631-8657-65B3-0A0A-7C5220C5C5A7}"/>
              </a:ext>
            </a:extLst>
          </p:cNvPr>
          <p:cNvSpPr/>
          <p:nvPr/>
        </p:nvSpPr>
        <p:spPr>
          <a:xfrm>
            <a:off x="5251005" y="5554006"/>
            <a:ext cx="4114800" cy="246888"/>
          </a:xfrm>
          <a:prstGeom prst="rect">
            <a:avLst/>
          </a:prstGeom>
          <a:noFill/>
          <a:ln>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64748B"/>
                </a:solidFill>
                <a:effectLst/>
                <a:uLnTx/>
                <a:uFillTx/>
                <a:latin typeface="メイリオ" panose="020B0604030504040204" pitchFamily="50" charset="-128"/>
                <a:ea typeface="メイリオ" panose="020B0604030504040204" pitchFamily="50" charset="-128"/>
                <a:cs typeface="Calibri" pitchFamily="34" charset="-120"/>
              </a:rPr>
              <a:t>無理にアプローチせず月1配信。「環境変化」で再燃を待つ長期戦略</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8" name="Shape 2">
            <a:extLst>
              <a:ext uri="{FF2B5EF4-FFF2-40B4-BE49-F238E27FC236}">
                <a16:creationId xmlns:a16="http://schemas.microsoft.com/office/drawing/2014/main" id="{EED969DB-6090-3801-B39E-93C24360A11A}"/>
              </a:ext>
            </a:extLst>
          </p:cNvPr>
          <p:cNvSpPr/>
          <p:nvPr/>
        </p:nvSpPr>
        <p:spPr>
          <a:xfrm>
            <a:off x="775063" y="2010373"/>
            <a:ext cx="8412480" cy="457200"/>
          </a:xfrm>
          <a:prstGeom prst="roundRect">
            <a:avLst>
              <a:gd name="adj" fmla="val 16000"/>
            </a:avLst>
          </a:prstGeom>
          <a:solidFill>
            <a:srgbClr val="F4F7FF"/>
          </a:solidFill>
          <a:ln w="12700">
            <a:solidFill>
              <a:srgbClr val="4A90D9"/>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19" name="Text 3">
            <a:extLst>
              <a:ext uri="{FF2B5EF4-FFF2-40B4-BE49-F238E27FC236}">
                <a16:creationId xmlns:a16="http://schemas.microsoft.com/office/drawing/2014/main" id="{4BD93F70-A1A4-6B20-298D-BE3F4D258BE9}"/>
              </a:ext>
            </a:extLst>
          </p:cNvPr>
          <p:cNvSpPr/>
          <p:nvPr/>
        </p:nvSpPr>
        <p:spPr>
          <a:xfrm>
            <a:off x="957943" y="2010373"/>
            <a:ext cx="8229600" cy="457200"/>
          </a:xfrm>
          <a:prstGeom prst="rect">
            <a:avLst/>
          </a:prstGeom>
          <a:noFill/>
          <a:ln/>
        </p:spPr>
        <p:txBody>
          <a:bodyPr wrap="square" rtlCol="0" anchor="ctr"/>
          <a:lstStyle/>
          <a:p>
            <a:pPr marL="0" indent="0">
              <a:buNone/>
            </a:pPr>
            <a:r>
              <a:rPr lang="en-US" sz="1100" b="1" dirty="0" err="1">
                <a:solidFill>
                  <a:srgbClr val="1E2761"/>
                </a:solidFill>
                <a:latin typeface="メイリオ" panose="020B0604030504040204" pitchFamily="50" charset="-128"/>
                <a:ea typeface="メイリオ" panose="020B0604030504040204" pitchFamily="50" charset="-128"/>
                <a:cs typeface="Calibri" pitchFamily="34" charset="-120"/>
              </a:rPr>
              <a:t>目的</a:t>
            </a:r>
            <a:r>
              <a:rPr lang="en-US" sz="1100" b="1" dirty="0">
                <a:solidFill>
                  <a:srgbClr val="1E2761"/>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E2761"/>
                </a:solidFill>
                <a:latin typeface="メイリオ" panose="020B0604030504040204" pitchFamily="50" charset="-128"/>
                <a:ea typeface="メイリオ" panose="020B0604030504040204" pitchFamily="50" charset="-128"/>
                <a:cs typeface="Calibri" pitchFamily="34" charset="-120"/>
              </a:rPr>
              <a:t>登録から時間がかかったユーザーに対して、あなたの診断（ハードル：低）→現状可視化→セグメント追客を実施</a:t>
            </a:r>
            <a:endParaRPr lang="en-US" sz="1100"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BDC8374B-5F7F-A61F-169C-C54DCD7D51C0}"/>
              </a:ext>
            </a:extLst>
          </p:cNvPr>
          <p:cNvSpPr/>
          <p:nvPr/>
        </p:nvSpPr>
        <p:spPr>
          <a:xfrm>
            <a:off x="195943" y="1649952"/>
            <a:ext cx="9570720" cy="4772299"/>
          </a:xfrm>
          <a:prstGeom prst="rect">
            <a:avLst/>
          </a:prstGeom>
          <a:solidFill>
            <a:schemeClr val="bg1">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EEE7D10-E257-A9D8-F6D6-AF0A9A41DDC4}"/>
              </a:ext>
            </a:extLst>
          </p:cNvPr>
          <p:cNvSpPr txBox="1"/>
          <p:nvPr/>
        </p:nvSpPr>
        <p:spPr>
          <a:xfrm>
            <a:off x="3872439" y="1317985"/>
            <a:ext cx="5767950" cy="230832"/>
          </a:xfrm>
          <a:prstGeom prst="rect">
            <a:avLst/>
          </a:prstGeom>
          <a:noFill/>
        </p:spPr>
        <p:txBody>
          <a:bodyPr wrap="square">
            <a:spAutoFit/>
          </a:bodyPr>
          <a:lstStyle/>
          <a:p>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サービス説明に繋げられるけど、サービスの直接的な宣伝は忌避される</a:t>
            </a:r>
            <a:r>
              <a:rPr lang="en-US" altLang="ja-JP"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 </a:t>
            </a:r>
            <a:r>
              <a:rPr lang="ja-JP" altLang="en-US" sz="900" dirty="0">
                <a:solidFill>
                  <a:schemeClr val="bg1">
                    <a:lumMod val="50000"/>
                  </a:schemeClr>
                </a:solidFill>
                <a:latin typeface="メイリオ" panose="020B0604030504040204" pitchFamily="50" charset="-128"/>
                <a:ea typeface="メイリオ" panose="020B0604030504040204" pitchFamily="50" charset="-128"/>
                <a:cs typeface="Meiryo"/>
                <a:sym typeface="Meiryo"/>
              </a:rPr>
              <a:t>ユーザー層のセグメント化に活用</a:t>
            </a:r>
            <a:endParaRPr lang="ja-JP" altLang="en-US" sz="900" dirty="0">
              <a:solidFill>
                <a:schemeClr val="bg1">
                  <a:lumMod val="50000"/>
                </a:schemeClr>
              </a:solidFill>
            </a:endParaRPr>
          </a:p>
        </p:txBody>
      </p:sp>
      <p:sp>
        <p:nvSpPr>
          <p:cNvPr id="5" name="矢印: 右 4">
            <a:extLst>
              <a:ext uri="{FF2B5EF4-FFF2-40B4-BE49-F238E27FC236}">
                <a16:creationId xmlns:a16="http://schemas.microsoft.com/office/drawing/2014/main" id="{31E96465-A2D8-BAD2-908E-13EA6B2BA2F0}"/>
              </a:ext>
            </a:extLst>
          </p:cNvPr>
          <p:cNvSpPr/>
          <p:nvPr/>
        </p:nvSpPr>
        <p:spPr>
          <a:xfrm>
            <a:off x="4769313" y="3151795"/>
            <a:ext cx="375557" cy="530249"/>
          </a:xfrm>
          <a:prstGeom prst="rightArrow">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22173E9D-47C1-7D4E-1D0D-EC3756179319}"/>
              </a:ext>
            </a:extLst>
          </p:cNvPr>
          <p:cNvSpPr/>
          <p:nvPr/>
        </p:nvSpPr>
        <p:spPr>
          <a:xfrm>
            <a:off x="4940121" y="59287"/>
            <a:ext cx="2597727" cy="4156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EC（総合EC・D2C）業界の例</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r>
              <a:rPr kumimoji="1" lang="en-US" altLang="ja-JP" sz="1200" dirty="0">
                <a:solidFill>
                  <a:schemeClr val="bg1"/>
                </a:solidFill>
                <a:latin typeface="メイリオ" panose="020B0604030504040204" pitchFamily="50" charset="-128"/>
                <a:ea typeface="メイリオ" panose="020B0604030504040204" pitchFamily="50" charset="-128"/>
              </a:rPr>
              <a:t/>
            </a:r>
            <a:r>
              <a:rPr kumimoji="1" lang="ja-JP" altLang="en-US" sz="1200" dirty="0">
                <a:solidFill>
                  <a:schemeClr val="bg1"/>
                </a:solidFill>
                <a:latin typeface="メイリオ" panose="020B0604030504040204" pitchFamily="50" charset="-128"/>
                <a:ea typeface="メイリオ" panose="020B0604030504040204" pitchFamily="50" charset="-128"/>
              </a:rPr>
              <a:t/>
            </a:r>
          </a:p>
        </p:txBody>
      </p:sp>
    </p:spTree>
    <p:extLst>
      <p:ext uri="{BB962C8B-B14F-4D97-AF65-F5344CB8AC3E}">
        <p14:creationId xmlns:p14="http://schemas.microsoft.com/office/powerpoint/2010/main" val="1932664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141472</TotalTime>
  <Words>5264</Words>
  <Application>Microsoft Office PowerPoint</Application>
  <PresentationFormat>A4 210 x 297 mm</PresentationFormat>
  <Paragraphs>1342</Paragraphs>
  <Slides>36</Slides>
  <Notes>14</Notes>
  <HiddenSlides>0</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36</vt:i4>
      </vt:variant>
    </vt:vector>
  </HeadingPairs>
  <TitlesOfParts>
    <vt:vector size="43" baseType="lpstr">
      <vt:lpstr>メイリオ</vt:lpstr>
      <vt:lpstr>メイリオ</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佐村 徳人</cp:lastModifiedBy>
  <cp:revision>1919</cp:revision>
  <cp:lastPrinted>2022-11-01T11:38:14Z</cp:lastPrinted>
  <dcterms:created xsi:type="dcterms:W3CDTF">2015-09-04T09:21:15Z</dcterms:created>
  <dcterms:modified xsi:type="dcterms:W3CDTF">2026-07-21T09:21:02Z</dcterms:modified>
</cp:coreProperties>
</file>