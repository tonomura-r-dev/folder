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7"/>
  </p:notesMasterIdLst>
  <p:handoutMasterIdLst>
    <p:handoutMasterId r:id="rId48"/>
  </p:handoutMasterIdLst>
  <p:sldIdLst>
    <p:sldId id="2363" r:id="rId3"/>
    <p:sldId id="3151" r:id="rId4"/>
    <p:sldId id="2935" r:id="rId5"/>
    <p:sldId id="2908" r:id="rId6"/>
    <p:sldId id="2950" r:id="rId7"/>
    <p:sldId id="2937" r:id="rId8"/>
    <p:sldId id="2966" r:id="rId9"/>
    <p:sldId id="2939" r:id="rId10"/>
    <p:sldId id="2997" r:id="rId11"/>
    <p:sldId id="2956" r:id="rId12"/>
    <p:sldId id="2988" r:id="rId13"/>
    <p:sldId id="2972" r:id="rId14"/>
    <p:sldId id="3139" r:id="rId15"/>
    <p:sldId id="3147" r:id="rId16"/>
    <p:sldId id="267" r:id="rId17"/>
    <p:sldId id="3148" r:id="rId18"/>
    <p:sldId id="3138" r:id="rId19"/>
    <p:sldId id="3140" r:id="rId20"/>
    <p:sldId id="3141" r:id="rId21"/>
    <p:sldId id="3142" r:id="rId22"/>
    <p:sldId id="2736" r:id="rId23"/>
    <p:sldId id="2983" r:id="rId24"/>
    <p:sldId id="2996" r:id="rId25"/>
    <p:sldId id="3143" r:id="rId26"/>
    <p:sldId id="3144" r:id="rId27"/>
    <p:sldId id="3149" r:id="rId28"/>
    <p:sldId id="3145" r:id="rId29"/>
    <p:sldId id="3150" r:id="rId30"/>
    <p:sldId id="2984" r:id="rId31"/>
    <p:sldId id="2985" r:id="rId32"/>
    <p:sldId id="2962" r:id="rId33"/>
    <p:sldId id="2942" r:id="rId34"/>
    <p:sldId id="2941" r:id="rId35"/>
    <p:sldId id="2943" r:id="rId36"/>
    <p:sldId id="2944" r:id="rId37"/>
    <p:sldId id="3146" r:id="rId38"/>
    <p:sldId id="2990" r:id="rId39"/>
    <p:sldId id="2991" r:id="rId40"/>
    <p:sldId id="2967" r:id="rId41"/>
    <p:sldId id="2946" r:id="rId42"/>
    <p:sldId id="2947" r:id="rId43"/>
    <p:sldId id="2948" r:id="rId44"/>
    <p:sldId id="2958" r:id="rId45"/>
    <p:sldId id="1169" r:id="rId4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71" autoAdjust="0"/>
    <p:restoredTop sz="94424" autoAdjust="0"/>
  </p:normalViewPr>
  <p:slideViewPr>
    <p:cSldViewPr snapToGrid="0">
      <p:cViewPr>
        <p:scale>
          <a:sx n="100" d="100"/>
          <a:sy n="100" d="100"/>
        </p:scale>
        <p:origin x="-20" y="-79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notesMaster" Target="notesMasters/notesMaster1.xml"/><Relationship Id="rId48" Type="http://schemas.openxmlformats.org/officeDocument/2006/relationships/handoutMaster" Target="handoutMasters/handout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44</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25.jpeg"/><Relationship Id="rId5" Type="http://schemas.openxmlformats.org/officeDocument/2006/relationships/image" Target="../media/image26.jpeg"/><Relationship Id="rId6" Type="http://schemas.openxmlformats.org/officeDocument/2006/relationships/image" Target="../media/image27.jpeg"/><Relationship Id="rId7" Type="http://schemas.openxmlformats.org/officeDocument/2006/relationships/image" Target="../media/image28.jpeg"/><Relationship Id="rId8" Type="http://schemas.openxmlformats.org/officeDocument/2006/relationships/image" Target="../media/image2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mj-ea"/>
                <a:ea typeface="+mj-ea"/>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t>1. LINE</a:t>
            </a:r>
            <a:r>
              <a:rPr lang="ja-JP" altLang="en-US" sz="2400" dirty="0"/>
              <a:t>公式アカウントを検討する背景         </a:t>
            </a:r>
            <a:endParaRPr lang="en-US" altLang="ja-JP" sz="2400" dirty="0"/>
          </a:p>
          <a:p>
            <a:r>
              <a:rPr lang="en-US" altLang="ja-JP" sz="2400" dirty="0"/>
              <a:t>2. </a:t>
            </a:r>
            <a:r>
              <a:rPr lang="ja-JP" altLang="en-US" sz="2400" dirty="0"/>
              <a:t>配信の考え方 ── 市場・需要・競合の実態      </a:t>
            </a:r>
            <a:br>
              <a:rPr lang="en-US" altLang="ja-JP" sz="2400" dirty="0"/>
            </a:br>
            <a:r>
              <a:rPr lang="en-US" altLang="ja-JP" sz="2400" dirty="0"/>
              <a:t>3. </a:t>
            </a:r>
            <a:r>
              <a:rPr lang="ja-JP" altLang="en-US" sz="2400" dirty="0"/>
              <a:t>施策の詳細（配信の効率化）── 設計と改善モデル  </a:t>
            </a:r>
          </a:p>
          <a:p>
            <a:r>
              <a:rPr lang="en-US" altLang="ja-JP" sz="2400" dirty="0"/>
              <a:t>4. </a:t>
            </a:r>
            <a:r>
              <a:rPr lang="ja-JP" altLang="en-US" sz="2400" dirty="0"/>
              <a:t>具体プラン提示                     </a:t>
            </a:r>
          </a:p>
          <a:p>
            <a:r>
              <a:rPr lang="en-US" altLang="ja-JP" sz="2400" dirty="0"/>
              <a:t>5. </a:t>
            </a:r>
            <a:r>
              <a:rPr lang="ja-JP" altLang="en-US" sz="2400" dirty="0"/>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実例：FIT PLACE24は入会手続きをLINE起点に設計（公式FAQ）／カーブスは会員数の約6.7倍の友だち数（2026/8/17実測）</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6"/>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32171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09480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検索広告のCPCは構造的に上昇が続くと想定。ジム・フィットネス業界も同水準と想定。</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→早期タッチポイントの設定とリード有効化、施策全体におけるCVR改善の２点は非常に施策重要度が高い状態。</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26923"/>
            <a:ext cx="5512524" cy="646331"/>
          </a:xfrm>
          <a:prstGeom prst="rect">
            <a:avLst/>
          </a:prstGeom>
          <a:noFill/>
        </p:spPr>
        <p:txBody>
          <a:bodyPr wrap="square">
            <a:spAutoFit/>
          </a:bodyPr>
          <a:lstStyle/>
          <a:p>
            <a:r>
              <a:rPr lang="ja-JP" altLang="en-US" sz="12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200" b="1" i="0" dirty="0">
                <a:solidFill>
                  <a:srgbClr val="525860"/>
                </a:solidFill>
                <a:effectLst/>
                <a:latin typeface="メイリオ" panose="020B0604030504040204" pitchFamily="50" charset="-128"/>
                <a:ea typeface="メイリオ" panose="020B0604030504040204" pitchFamily="50" charset="-128"/>
              </a:rPr>
              <a:t>CPC</a:t>
            </a:r>
            <a:r>
              <a:rPr lang="ja-JP" altLang="en-US" sz="12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400" b="1" dirty="0">
                <a:latin typeface="メイリオ" panose="020B0604030504040204" pitchFamily="50" charset="-128"/>
                <a:ea typeface="メイリオ" panose="020B0604030504040204" pitchFamily="50" charset="-128"/>
              </a:rPr>
            </a:br>
            <a:endParaRPr lang="ja-JP" altLang="en-US" sz="24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参入企業の増加</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LTV</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前提の過剰入札</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pic>
        <p:nvPicPr>
          <p:cNvPr id="94" name="Picture 93" descr="gym_cpc_yen_compact.png"/>
          <p:cNvPicPr>
            <a:picLocks noChangeAspect="1"/>
          </p:cNvPicPr>
          <p:nvPr/>
        </p:nvPicPr>
        <p:blipFill>
          <a:blip r:embed="rId4"/>
          <a:stretch>
            <a:fillRect/>
          </a:stretch>
        </p:blipFill>
        <p:spPr>
          <a:xfrm>
            <a:off x="4855027" y="3621957"/>
            <a:ext cx="2159726" cy="2543145"/>
          </a:xfrm>
          <a:prstGeom prst="rect">
            <a:avLst/>
          </a:prstGeom>
        </p:spPr>
      </p:pic>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75000"/>
                    <a:lumOff val="25000"/>
                  </a:schemeClr>
                </a:solidFill>
                <a:latin typeface="メイリオ"/>
                <a:ea typeface="メイリオ" panose="020B0604030504040204" pitchFamily="50" charset="-128"/>
              </a:rPr>
              <a:t>【2025</a:t>
            </a:r>
            <a:r>
              <a:rPr kumimoji="1" lang="ja-JP" altLang="en-US" sz="1050" dirty="0">
                <a:solidFill>
                  <a:schemeClr val="tx1">
                    <a:lumMod val="75000"/>
                    <a:lumOff val="25000"/>
                  </a:schemeClr>
                </a:solidFill>
                <a:latin typeface="メイリオ"/>
                <a:ea typeface="メイリオ" panose="020B0604030504040204" pitchFamily="50" charset="-128"/>
              </a:rPr>
              <a:t>年検索エンジン流入</a:t>
            </a:r>
            <a:r>
              <a:rPr kumimoji="1" lang="en-US" altLang="ja-JP" sz="1050" dirty="0">
                <a:solidFill>
                  <a:schemeClr val="tx1">
                    <a:lumMod val="75000"/>
                    <a:lumOff val="25000"/>
                  </a:schemeClr>
                </a:solidFill>
                <a:latin typeface="メイリオ"/>
                <a:ea typeface="メイリオ" panose="020B0604030504040204" pitchFamily="50" charset="-128"/>
              </a:rPr>
              <a:t>】</a:t>
            </a:r>
          </a:p>
          <a:p>
            <a:pPr algn="ctr"/>
            <a:r>
              <a:rPr lang="ja-JP" altLang="en-US" sz="1050" dirty="0">
                <a:solidFill>
                  <a:schemeClr val="tx1">
                    <a:lumMod val="75000"/>
                    <a:lumOff val="25000"/>
                  </a:schemeClr>
                </a:solidFill>
                <a:latin typeface="メイリオ"/>
                <a:ea typeface="メイリオ" panose="020B0604030504040204" pitchFamily="50" charset="-128"/>
              </a:rPr>
              <a:t>前年比＋</a:t>
            </a:r>
            <a:r>
              <a:rPr lang="en-US" altLang="ja-JP" sz="1050" dirty="0">
                <a:solidFill>
                  <a:schemeClr val="tx1">
                    <a:lumMod val="75000"/>
                    <a:lumOff val="25000"/>
                  </a:schemeClr>
                </a:solidFill>
                <a:latin typeface="メイリオ"/>
                <a:ea typeface="メイリオ" panose="020B0604030504040204" pitchFamily="50" charset="-128"/>
              </a:rPr>
              <a:t>0.4</a:t>
            </a:r>
            <a:r>
              <a:rPr lang="ja-JP" altLang="en-US" sz="1050" dirty="0">
                <a:solidFill>
                  <a:schemeClr val="tx1">
                    <a:lumMod val="75000"/>
                    <a:lumOff val="25000"/>
                  </a:schemeClr>
                </a:solidFill>
                <a:latin typeface="メイリオ"/>
                <a:ea typeface="メイリオ" panose="020B0604030504040204" pitchFamily="50" charset="-128"/>
              </a:rPr>
              <a:t>％</a:t>
            </a:r>
            <a:endParaRPr lang="en-US" altLang="ja-JP" sz="1050" dirty="0">
              <a:solidFill>
                <a:schemeClr val="tx1">
                  <a:lumMod val="75000"/>
                  <a:lumOff val="25000"/>
                </a:schemeClr>
              </a:solidFill>
              <a:latin typeface="メイリオ"/>
              <a:ea typeface="メイリオ" panose="020B0604030504040204" pitchFamily="50" charset="-128"/>
            </a:endParaRPr>
          </a:p>
          <a:p>
            <a:pPr algn="ctr"/>
            <a:endParaRPr lang="en-US" altLang="ja-JP" sz="1050" dirty="0">
              <a:solidFill>
                <a:schemeClr val="tx1">
                  <a:lumMod val="75000"/>
                  <a:lumOff val="25000"/>
                </a:schemeClr>
              </a:solidFill>
              <a:latin typeface="メイリオ"/>
              <a:ea typeface="メイリオ" panose="020B0604030504040204" pitchFamily="50" charset="-128"/>
            </a:endParaRPr>
          </a:p>
          <a:p>
            <a:pPr algn="ctr"/>
            <a:r>
              <a:rPr kumimoji="1" lang="en-US" altLang="ja-JP" sz="1050" dirty="0">
                <a:solidFill>
                  <a:schemeClr val="tx1">
                    <a:lumMod val="75000"/>
                    <a:lumOff val="25000"/>
                  </a:schemeClr>
                </a:solidFill>
                <a:latin typeface="メイリオ"/>
                <a:ea typeface="メイリオ" panose="020B0604030504040204" pitchFamily="50" charset="-128"/>
              </a:rPr>
              <a:t>【2023</a:t>
            </a:r>
            <a:r>
              <a:rPr kumimoji="1" lang="ja-JP" altLang="en-US" sz="1050" dirty="0">
                <a:solidFill>
                  <a:schemeClr val="tx1">
                    <a:lumMod val="75000"/>
                    <a:lumOff val="25000"/>
                  </a:schemeClr>
                </a:solidFill>
                <a:latin typeface="メイリオ"/>
                <a:ea typeface="メイリオ" panose="020B0604030504040204" pitchFamily="50" charset="-128"/>
              </a:rPr>
              <a:t>年以降</a:t>
            </a:r>
            <a:r>
              <a:rPr kumimoji="1" lang="en-US" altLang="ja-JP" sz="1050" dirty="0">
                <a:solidFill>
                  <a:schemeClr val="tx1">
                    <a:lumMod val="75000"/>
                    <a:lumOff val="25000"/>
                  </a:schemeClr>
                </a:solidFill>
                <a:latin typeface="メイリオ"/>
                <a:ea typeface="メイリオ" panose="020B0604030504040204" pitchFamily="50" charset="-128"/>
              </a:rPr>
              <a:t>】</a:t>
            </a:r>
          </a:p>
          <a:p>
            <a:pPr algn="ctr"/>
            <a:r>
              <a:rPr lang="ja-JP" altLang="en-US" sz="1050" dirty="0">
                <a:solidFill>
                  <a:schemeClr val="tx1">
                    <a:lumMod val="75000"/>
                    <a:lumOff val="25000"/>
                  </a:schemeClr>
                </a:solidFill>
                <a:latin typeface="メイリオ"/>
                <a:ea typeface="メイリオ" panose="020B0604030504040204" pitchFamily="50" charset="-128"/>
              </a:rPr>
              <a:t>約</a:t>
            </a:r>
            <a:r>
              <a:rPr lang="en-US" altLang="ja-JP" sz="1050" dirty="0">
                <a:solidFill>
                  <a:schemeClr val="tx1">
                    <a:lumMod val="75000"/>
                    <a:lumOff val="25000"/>
                  </a:schemeClr>
                </a:solidFill>
                <a:latin typeface="メイリオ"/>
                <a:ea typeface="メイリオ" panose="020B0604030504040204" pitchFamily="50" charset="-128"/>
              </a:rPr>
              <a:t>-</a:t>
            </a:r>
            <a:r>
              <a:rPr lang="ja-JP" altLang="en-US" sz="1050" dirty="0">
                <a:solidFill>
                  <a:schemeClr val="tx1">
                    <a:lumMod val="75000"/>
                    <a:lumOff val="25000"/>
                  </a:schemeClr>
                </a:solidFill>
                <a:latin typeface="メイリオ"/>
                <a:ea typeface="メイリオ" panose="020B0604030504040204" pitchFamily="50" charset="-128"/>
              </a:rPr>
              <a:t>１％程度の微減～横ばい</a:t>
            </a:r>
            <a:endParaRPr lang="en-US" altLang="ja-JP" sz="1050" dirty="0">
              <a:solidFill>
                <a:schemeClr val="tx1">
                  <a:lumMod val="75000"/>
                  <a:lumOff val="25000"/>
                </a:schemeClr>
              </a:solidFill>
              <a:latin typeface="メイリオ"/>
              <a:ea typeface="メイリオ" panose="020B0604030504040204" pitchFamily="50" charset="-128"/>
            </a:endParaRPr>
          </a:p>
          <a:p>
            <a:pPr algn="ctr"/>
            <a:endParaRPr lang="en-US" altLang="ja-JP" sz="1050" dirty="0">
              <a:solidFill>
                <a:schemeClr val="tx1">
                  <a:lumMod val="75000"/>
                  <a:lumOff val="25000"/>
                </a:schemeClr>
              </a:solidFill>
              <a:latin typeface="メイリオ"/>
              <a:ea typeface="メイリオ" panose="020B0604030504040204" pitchFamily="50" charset="-128"/>
            </a:endParaRPr>
          </a:p>
          <a:p>
            <a:pPr algn="ctr"/>
            <a:r>
              <a:rPr lang="en-US" altLang="ja-JP" sz="1050" dirty="0">
                <a:solidFill>
                  <a:schemeClr val="tx1">
                    <a:lumMod val="75000"/>
                    <a:lumOff val="25000"/>
                  </a:schemeClr>
                </a:solidFill>
                <a:latin typeface="メイリオ"/>
                <a:ea typeface="メイリオ" panose="020B0604030504040204" pitchFamily="50" charset="-128"/>
              </a:rPr>
              <a:t>【</a:t>
            </a:r>
            <a:r>
              <a:rPr lang="ja-JP" altLang="en-US" sz="1050" dirty="0">
                <a:solidFill>
                  <a:schemeClr val="tx1">
                    <a:lumMod val="75000"/>
                    <a:lumOff val="25000"/>
                  </a:schemeClr>
                </a:solidFill>
                <a:latin typeface="メイリオ"/>
                <a:ea typeface="メイリオ" panose="020B0604030504040204" pitchFamily="50" charset="-128"/>
              </a:rPr>
              <a:t>重複ユーザー数</a:t>
            </a:r>
            <a:r>
              <a:rPr lang="en-US" altLang="ja-JP" sz="1050" dirty="0">
                <a:solidFill>
                  <a:schemeClr val="tx1">
                    <a:lumMod val="75000"/>
                    <a:lumOff val="25000"/>
                  </a:schemeClr>
                </a:solidFill>
                <a:latin typeface="メイリオ"/>
                <a:ea typeface="メイリオ" panose="020B0604030504040204" pitchFamily="50" charset="-128"/>
              </a:rPr>
              <a:t>】</a:t>
            </a:r>
          </a:p>
          <a:p>
            <a:pPr algn="ctr"/>
            <a:r>
              <a:rPr lang="ja-JP" altLang="en-US" sz="1050" dirty="0">
                <a:solidFill>
                  <a:schemeClr val="tx1">
                    <a:lumMod val="75000"/>
                    <a:lumOff val="25000"/>
                  </a:schemeClr>
                </a:solidFill>
                <a:latin typeface="メイリオ"/>
                <a:ea typeface="メイリオ" panose="020B0604030504040204" pitchFamily="50" charset="-128"/>
              </a:rPr>
              <a:t>前年比</a:t>
            </a:r>
            <a:r>
              <a:rPr lang="en-US" altLang="ja-JP" sz="1050" dirty="0">
                <a:solidFill>
                  <a:schemeClr val="tx1">
                    <a:lumMod val="75000"/>
                    <a:lumOff val="25000"/>
                  </a:schemeClr>
                </a:solidFill>
                <a:latin typeface="メイリオ"/>
                <a:ea typeface="メイリオ" panose="020B0604030504040204" pitchFamily="50" charset="-128"/>
              </a:rPr>
              <a:t>-0.3%</a:t>
            </a:r>
            <a:r>
              <a:rPr lang="ja-JP" altLang="en-US" sz="1050" dirty="0">
                <a:solidFill>
                  <a:schemeClr val="tx1">
                    <a:lumMod val="75000"/>
                    <a:lumOff val="25000"/>
                  </a:schemeClr>
                </a:solidFill>
                <a:latin typeface="メイリオ"/>
                <a:ea typeface="メイリオ" panose="020B0604030504040204" pitchFamily="50" charset="-128"/>
              </a:rPr>
              <a:t>（実質停滞）</a:t>
            </a:r>
            <a:endParaRPr lang="en-US" altLang="ja-JP" sz="1050" dirty="0">
              <a:solidFill>
                <a:schemeClr val="tx1">
                  <a:lumMod val="75000"/>
                  <a:lumOff val="25000"/>
                </a:schemeClr>
              </a:solidFill>
              <a:latin typeface="メイリオ"/>
              <a:ea typeface="メイリオ" panose="020B0604030504040204" pitchFamily="50" charset="-128"/>
            </a:endParaRPr>
          </a:p>
          <a:p>
            <a:pPr algn="ctr"/>
            <a:endParaRPr lang="en-US" altLang="ja-JP" sz="1050" dirty="0">
              <a:solidFill>
                <a:schemeClr val="tx1">
                  <a:lumMod val="75000"/>
                  <a:lumOff val="25000"/>
                </a:schemeClr>
              </a:solidFill>
              <a:latin typeface="メイリオ"/>
              <a:ea typeface="メイリオ" panose="020B0604030504040204" pitchFamily="50" charset="-128"/>
            </a:endParaRPr>
          </a:p>
          <a:p>
            <a:pPr algn="ctr"/>
            <a:r>
              <a:rPr lang="ja-JP" altLang="en-US" sz="1050" dirty="0">
                <a:solidFill>
                  <a:schemeClr val="tx1">
                    <a:lumMod val="75000"/>
                    <a:lumOff val="25000"/>
                  </a:schemeClr>
                </a:solidFill>
                <a:latin typeface="メイリオ"/>
                <a:ea typeface="メイリオ" panose="020B0604030504040204" pitchFamily="50" charset="-128"/>
              </a:rPr>
              <a:t>⇊</a:t>
            </a:r>
            <a:endParaRPr lang="en-US" altLang="ja-JP" sz="1050" dirty="0">
              <a:solidFill>
                <a:schemeClr val="tx1">
                  <a:lumMod val="75000"/>
                  <a:lumOff val="25000"/>
                </a:schemeClr>
              </a:solidFill>
              <a:latin typeface="メイリオ"/>
              <a:ea typeface="メイリオ" panose="020B0604030504040204" pitchFamily="50" charset="-128"/>
            </a:endParaRPr>
          </a:p>
          <a:p>
            <a:pPr algn="ctr"/>
            <a:r>
              <a:rPr lang="ja-JP" altLang="en-US" sz="1050" b="1" dirty="0">
                <a:solidFill>
                  <a:schemeClr val="tx1">
                    <a:lumMod val="75000"/>
                    <a:lumOff val="25000"/>
                  </a:schemeClr>
                </a:solidFill>
                <a:latin typeface="メイリオ"/>
                <a:ea typeface="メイリオ" panose="020B0604030504040204" pitchFamily="50" charset="-128"/>
              </a:rPr>
              <a:t>検索需要は拡大していない</a:t>
            </a:r>
            <a:endParaRPr lang="en-US" altLang="ja-JP" sz="1050" b="1" dirty="0">
              <a:solidFill>
                <a:schemeClr val="tx1">
                  <a:lumMod val="75000"/>
                  <a:lumOff val="25000"/>
                </a:schemeClr>
              </a:solidFill>
              <a:latin typeface="メイリオ"/>
              <a:ea typeface="メイリオ" panose="020B0604030504040204" pitchFamily="50" charset="-128"/>
            </a:endParaRPr>
          </a:p>
        </p:txBody>
      </p:sp>
      <p:cxnSp>
        <p:nvCxnSpPr>
          <p:cNvPr id="26" name="直線矢印コネクタ 25">
            <a:extLst>
              <a:ext uri="{FF2B5EF4-FFF2-40B4-BE49-F238E27FC236}">
                <a16:creationId xmlns:a16="http://schemas.microsoft.com/office/drawing/2014/main" id="{F2ED569F-B88F-268D-C92E-3B1A33C6FC2C}"/>
              </a:ext>
            </a:extLst>
          </p:cNvPr>
          <p:cNvCxnSpPr/>
          <p:nvPr/>
        </p:nvCxnSpPr>
        <p:spPr>
          <a:xfrm flipV="1">
            <a:off x="5503817" y="4033090"/>
            <a:ext cx="1001486" cy="858262"/>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8" name="四角形: 角を丸くする 27">
            <a:extLst>
              <a:ext uri="{FF2B5EF4-FFF2-40B4-BE49-F238E27FC236}">
                <a16:creationId xmlns:a16="http://schemas.microsoft.com/office/drawing/2014/main" id="{5E9B660E-A4CD-9923-72EA-226C228A8CCD}"/>
              </a:ext>
            </a:extLst>
          </p:cNvPr>
          <p:cNvSpPr/>
          <p:nvPr/>
        </p:nvSpPr>
        <p:spPr>
          <a:xfrm>
            <a:off x="5381802" y="4316104"/>
            <a:ext cx="709750" cy="236864"/>
          </a:xfrm>
          <a:prstGeom prst="roundRect">
            <a:avLst/>
          </a:prstGeom>
          <a:solidFill>
            <a:schemeClr val="bg1"/>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rgbClr val="FF0000"/>
                </a:solidFill>
                <a:latin typeface="メイリオ" panose="020B0604030504040204" pitchFamily="50" charset="-128"/>
                <a:ea typeface="メイリオ" panose="020B0604030504040204" pitchFamily="50" charset="-128"/>
              </a:rPr>
              <a:t>1.23</a:t>
            </a:r>
            <a:r>
              <a:rPr kumimoji="1" lang="ja-JP" altLang="en-US" sz="1050" dirty="0">
                <a:solidFill>
                  <a:srgbClr val="FF0000"/>
                </a:solidFill>
                <a:latin typeface="メイリオ" panose="020B0604030504040204" pitchFamily="50" charset="-128"/>
                <a:ea typeface="メイリオ" panose="020B0604030504040204" pitchFamily="50" charset="-128"/>
              </a:rPr>
              <a:t>倍</a:t>
            </a:r>
          </a:p>
        </p:txBody>
      </p:sp>
      <p:sp>
        <p:nvSpPr>
          <p:cNvPr id="93" name="TextBox 92"/>
          <p:cNvSpPr txBox="1"/>
          <p:nvPr/>
        </p:nvSpPr>
        <p:spPr>
          <a:xfrm>
            <a:off x="350000" y="6271200"/>
            <a:ext cx="9200000" cy="288000"/>
          </a:xfrm>
          <a:prstGeom prst="rect">
            <a:avLst/>
          </a:prstGeom>
          <a:noFill/>
        </p:spPr>
        <p:txBody>
          <a:bodyPr wrap="square">
            <a:spAutoFit/>
          </a:bodyPr>
          <a:lstStyle/>
          <a:p>
            <a:r>
              <a:rPr sz="1000">
                <a:solidFill>
                  <a:srgbClr val="555555"/>
                </a:solidFill>
                <a:latin typeface="メイリオ"/>
                <a:ea typeface="メイリオ"/>
              </a:rPr>
              <a:t>※ CPC推移・上昇率・検索流入の各数値は社内想定値です。掲載可能な実績・統計が確定次第、差し替えます。</a:t>
            </a:r>
          </a:p>
        </p:txBody>
      </p:sp>
    </p:spTree>
    <p:extLst>
      <p:ext uri="{BB962C8B-B14F-4D97-AF65-F5344CB8AC3E}">
        <p14:creationId xmlns:p14="http://schemas.microsoft.com/office/powerpoint/2010/main" val="1187594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dirty="0">
                <a:solidFill>
                  <a:srgbClr val="646C82"/>
                </a:solidFill>
                <a:latin typeface="メイリオ"/>
                <a:ea typeface="メイリオ"/>
              </a:rPr>
              <a:t>「ダイエット」需要は毎年1月に立ち、10〜12月に沈む。ジム指名検索は通年安定。</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dirty="0">
                <a:solidFill>
                  <a:srgbClr val="1F2A5C"/>
                </a:solidFill>
                <a:latin typeface="メイリオ"/>
                <a:ea typeface="メイリオ"/>
              </a:rPr>
              <a:t>① 毎年1月に山が立つ</a:t>
            </a:r>
            <a:endParaRPr lang="en-US" sz="1700" b="1" dirty="0">
              <a:solidFill>
                <a:srgbClr val="1F2A5C"/>
              </a:solidFill>
              <a:latin typeface="メイリオ"/>
              <a:ea typeface="メイリオ"/>
            </a:endParaRPr>
          </a:p>
          <a:p>
            <a:pPr algn="ctr"/>
            <a:r>
              <a:rPr sz="1700" b="1" dirty="0">
                <a:solidFill>
                  <a:srgbClr val="1F2A5C"/>
                </a:solidFill>
                <a:latin typeface="メイリオ"/>
                <a:ea typeface="メイリオ"/>
              </a:rPr>
              <a:t>（新年の決意）</a:t>
            </a:r>
          </a:p>
          <a:p>
            <a:pPr>
              <a:spcBef>
                <a:spcPts val="800"/>
              </a:spcBef>
            </a:pPr>
            <a:r>
              <a:rPr sz="1300" dirty="0" err="1">
                <a:solidFill>
                  <a:srgbClr val="1C2233"/>
                </a:solidFill>
                <a:latin typeface="メイリオ"/>
                <a:ea typeface="メイリオ"/>
              </a:rPr>
              <a:t>ダイエット検索が急騰し、検討の入口が開く。体験予約が最も動く月</a:t>
            </a:r>
            <a:r>
              <a:rPr sz="1300" dirty="0">
                <a:solidFill>
                  <a:srgbClr val="1C2233"/>
                </a:solidFill>
                <a:latin typeface="メイリオ"/>
                <a:ea typeface="メイリオ"/>
              </a:rPr>
              <a:t>。</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dirty="0">
                <a:solidFill>
                  <a:srgbClr val="1F2A5C"/>
                </a:solidFill>
                <a:latin typeface="メイリオ"/>
                <a:ea typeface="メイリオ"/>
              </a:rPr>
              <a:t>② 10〜12月は谷＝</a:t>
            </a:r>
            <a:endParaRPr lang="en-US" sz="1700" b="1" dirty="0">
              <a:solidFill>
                <a:srgbClr val="1F2A5C"/>
              </a:solidFill>
              <a:latin typeface="メイリオ"/>
              <a:ea typeface="メイリオ"/>
            </a:endParaRPr>
          </a:p>
          <a:p>
            <a:pPr algn="ctr"/>
            <a:r>
              <a:rPr sz="1700" b="1" dirty="0" err="1">
                <a:solidFill>
                  <a:srgbClr val="1F2A5C"/>
                </a:solidFill>
                <a:latin typeface="メイリオ"/>
                <a:ea typeface="メイリオ"/>
              </a:rPr>
              <a:t>仕込み期</a:t>
            </a:r>
            <a:endParaRPr sz="1700" b="1" dirty="0">
              <a:solidFill>
                <a:srgbClr val="1F2A5C"/>
              </a:solidFill>
              <a:latin typeface="メイリオ"/>
              <a:ea typeface="メイリオ"/>
            </a:endParaRPr>
          </a:p>
          <a:p>
            <a:pPr>
              <a:spcBef>
                <a:spcPts val="800"/>
              </a:spcBef>
            </a:pPr>
            <a:r>
              <a:rPr sz="1300" dirty="0" err="1">
                <a:solidFill>
                  <a:srgbClr val="1C2233"/>
                </a:solidFill>
                <a:latin typeface="メイリオ"/>
                <a:ea typeface="メイリオ"/>
              </a:rPr>
              <a:t>検索が年間最低まで沈む</a:t>
            </a:r>
            <a:r>
              <a:rPr sz="1300" dirty="0">
                <a:solidFill>
                  <a:srgbClr val="1C2233"/>
                </a:solidFill>
                <a:latin typeface="メイリオ"/>
                <a:ea typeface="メイリオ"/>
              </a:rPr>
              <a:t>。</a:t>
            </a:r>
            <a:r>
              <a:rPr lang="ja-JP" altLang="en-US" sz="1300" dirty="0">
                <a:solidFill>
                  <a:srgbClr val="1C2233"/>
                </a:solidFill>
                <a:latin typeface="メイリオ"/>
                <a:ea typeface="メイリオ"/>
              </a:rPr>
              <a:t>　　</a:t>
            </a:r>
            <a:r>
              <a:rPr sz="1300" dirty="0" err="1">
                <a:solidFill>
                  <a:srgbClr val="1C2233"/>
                </a:solidFill>
                <a:latin typeface="メイリオ"/>
                <a:ea typeface="メイリオ"/>
              </a:rPr>
              <a:t>診断・料金シミュレーターで友だちを溜める時期</a:t>
            </a:r>
            <a:r>
              <a:rPr sz="1300" dirty="0">
                <a:solidFill>
                  <a:srgbClr val="1C2233"/>
                </a:solidFill>
                <a:latin typeface="メイリオ"/>
                <a:ea typeface="メイリオ"/>
              </a:rPr>
              <a:t>。</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dirty="0">
                <a:solidFill>
                  <a:srgbClr val="1F2A5C"/>
                </a:solidFill>
                <a:latin typeface="メイリオ"/>
                <a:ea typeface="メイリオ"/>
              </a:rPr>
              <a:t>③ 検索自体は5年で</a:t>
            </a:r>
            <a:endParaRPr lang="en-US" sz="1700" b="1" dirty="0">
              <a:solidFill>
                <a:srgbClr val="1F2A5C"/>
              </a:solidFill>
              <a:latin typeface="メイリオ"/>
              <a:ea typeface="メイリオ"/>
            </a:endParaRPr>
          </a:p>
          <a:p>
            <a:pPr algn="ctr"/>
            <a:r>
              <a:rPr sz="1700" b="1" dirty="0" err="1">
                <a:solidFill>
                  <a:srgbClr val="1F2A5C"/>
                </a:solidFill>
                <a:latin typeface="メイリオ"/>
                <a:ea typeface="メイリオ"/>
              </a:rPr>
              <a:t>半減傾向</a:t>
            </a:r>
            <a:endParaRPr sz="1700" b="1" dirty="0">
              <a:solidFill>
                <a:srgbClr val="1F2A5C"/>
              </a:solidFill>
              <a:latin typeface="メイリオ"/>
              <a:ea typeface="メイリオ"/>
            </a:endParaRPr>
          </a:p>
          <a:p>
            <a:pPr>
              <a:spcBef>
                <a:spcPts val="800"/>
              </a:spcBef>
            </a:pPr>
            <a:r>
              <a:rPr sz="1300" dirty="0">
                <a:solidFill>
                  <a:srgbClr val="1C2233"/>
                </a:solidFill>
                <a:latin typeface="メイリオ"/>
                <a:ea typeface="メイリオ"/>
              </a:rPr>
              <a:t>ダイエット検索は約100→55。情報収集はSNS・AIへ分散し、検索広告の母数は細る。</a:t>
            </a:r>
          </a:p>
        </p:txBody>
      </p:sp>
      <p:sp>
        <p:nvSpPr>
          <p:cNvPr id="7" name="Rectangle 6"/>
          <p:cNvSpPr/>
          <p:nvPr/>
        </p:nvSpPr>
        <p:spPr>
          <a:xfrm>
            <a:off x="384048" y="559800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5606854"/>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5698584"/>
            <a:ext cx="8814816" cy="215444"/>
          </a:xfrm>
          <a:prstGeom prst="rect">
            <a:avLst/>
          </a:prstGeom>
          <a:noFill/>
        </p:spPr>
        <p:txBody>
          <a:bodyPr wrap="square" lIns="0" tIns="0" rIns="0" bIns="0">
            <a:spAutoFit/>
          </a:bodyPr>
          <a:lstStyle/>
          <a:p>
            <a:r>
              <a:rPr sz="1400" b="0" dirty="0">
                <a:solidFill>
                  <a:srgbClr val="1C2233"/>
                </a:solidFill>
                <a:latin typeface="メイリオ"/>
                <a:ea typeface="メイリオ"/>
              </a:rPr>
              <a:t>1月に取り切るのではなく、</a:t>
            </a:r>
            <a:r>
              <a:rPr sz="1400" b="1" dirty="0">
                <a:solidFill>
                  <a:srgbClr val="1C2233"/>
                </a:solidFill>
                <a:latin typeface="メイリオ"/>
                <a:ea typeface="メイリオ"/>
              </a:rPr>
              <a:t>10〜12月に「1月に届く相手」</a:t>
            </a:r>
            <a:r>
              <a:rPr sz="1400" b="0" dirty="0">
                <a:solidFill>
                  <a:srgbClr val="1C2233"/>
                </a:solidFill>
                <a:latin typeface="メイリオ"/>
                <a:ea typeface="メイリオ"/>
              </a:rPr>
              <a:t>を作る。それが年間設計の起点。</a:t>
            </a: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出典：Googleトレンド（日本・ウェブ検索・過去5年間・2026/8/17取得）。ゾーン：橙＝1月／灰＝10〜12月。数値は各グラフ内の相対値（最大＝100）。細分KWは検索量が小さく判読不可のため2KWで代表。</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dirty="0" err="1">
                <a:solidFill>
                  <a:srgbClr val="646C82"/>
                </a:solidFill>
                <a:latin typeface="メイリオ"/>
                <a:ea typeface="メイリオ"/>
              </a:rPr>
              <a:t>運動需要は減っていない。</a:t>
            </a:r>
            <a:r>
              <a:rPr sz="1200" b="0" dirty="0" err="1">
                <a:solidFill>
                  <a:srgbClr val="646C82"/>
                </a:solidFill>
                <a:latin typeface="メイリオ"/>
                <a:ea typeface="メイリオ"/>
              </a:rPr>
              <a:t>減ったのは「ダイエット情報の検索」で、ジム検索と収斂した</a:t>
            </a:r>
            <a:r>
              <a:rPr sz="1200" b="0" dirty="0">
                <a:solidFill>
                  <a:srgbClr val="646C82"/>
                </a:solidFill>
                <a:latin typeface="メイリオ"/>
                <a:ea typeface="メイリオ"/>
              </a:rPr>
              <a:t>。</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ジム × ダイエット × 筋トレ</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dirty="0">
                <a:solidFill>
                  <a:srgbClr val="1C2233"/>
                </a:solidFill>
                <a:latin typeface="メイリオ"/>
                <a:ea typeface="メイリオ"/>
              </a:rPr>
              <a:t>・筋トレ（黄）は5年間横ばい＝運動需要そのものは安定。減ったのは「ダイエット情報の検索」→ </a:t>
            </a:r>
            <a:r>
              <a:rPr sz="1200" b="0" dirty="0" err="1">
                <a:solidFill>
                  <a:srgbClr val="1C2233"/>
                </a:solidFill>
                <a:latin typeface="メイリオ"/>
                <a:ea typeface="メイリオ"/>
              </a:rPr>
              <a:t>SNS・AIへの分散</a:t>
            </a:r>
            <a:endParaRPr sz="1200" b="0" dirty="0">
              <a:solidFill>
                <a:srgbClr val="1C2233"/>
              </a:solidFill>
              <a:latin typeface="メイリオ"/>
              <a:ea typeface="メイリオ"/>
            </a:endParaRPr>
          </a:p>
          <a:p>
            <a:r>
              <a:rPr sz="1200" b="0" dirty="0">
                <a:solidFill>
                  <a:srgbClr val="1C2233"/>
                </a:solidFill>
                <a:latin typeface="メイリオ"/>
                <a:ea typeface="メイリオ"/>
              </a:rPr>
              <a:t>・パーソナルジムは2025年後半に急騰後も高止まり＝高単価業態への関心は拡大（急騰要因は関連KWで確認予定）</a:t>
            </a:r>
          </a:p>
          <a:p>
            <a:r>
              <a:rPr sz="1200" b="0" dirty="0">
                <a:solidFill>
                  <a:srgbClr val="1C2233"/>
                </a:solidFill>
                <a:latin typeface="メイリオ"/>
                <a:ea typeface="メイリオ"/>
              </a:rPr>
              <a:t>・24時間ジム系の一般KWは低位安定＝実需は「地名×ジム」等の指名・細分検索に分散</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出典：Googleトレンド（日本・ウェブ検索・過去5年間・2026/8/17取得）。数値は各グラフ内の相対値（最大＝100）で、グラフ間・上図S13との数値比較は不可。社内検討用の参考データ。</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90675"/>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0" y="609600"/>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0" y="971550"/>
            <a:ext cx="9906000" cy="40371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200" dirty="0">
                <a:solidFill>
                  <a:srgbClr val="3F3F3F"/>
                </a:solidFill>
                <a:latin typeface="メイリオ"/>
                <a:ea typeface="メイリオ"/>
                <a:cs typeface="Meiryo"/>
                <a:sym typeface="Meiryo"/>
              </a:rPr>
              <a:t>「パーソナルジム」検索の前後15日には、</a:t>
            </a:r>
            <a:r>
              <a:rPr lang="ja-JP" sz="1200" b="1" dirty="0">
                <a:solidFill>
                  <a:srgbClr val="3F3F3F"/>
                </a:solidFill>
                <a:latin typeface="メイリオ"/>
                <a:ea typeface="メイリオ"/>
                <a:cs typeface="Meiryo"/>
                <a:sym typeface="Meiryo"/>
              </a:rPr>
              <a:t>医療脱毛・脂肪吸引・エステ・ホットヨガ</a:t>
            </a:r>
            <a:r>
              <a:rPr lang="ja-JP" sz="1200" dirty="0">
                <a:solidFill>
                  <a:srgbClr val="3F3F3F"/>
                </a:solidFill>
                <a:latin typeface="メイリオ"/>
                <a:ea typeface="メイリオ"/>
                <a:cs typeface="Meiryo"/>
                <a:sym typeface="Meiryo"/>
              </a:rPr>
              <a:t>等の“別手段”と、</a:t>
            </a:r>
            <a:endParaRPr sz="1200" dirty="0">
              <a:solidFill>
                <a:srgbClr val="3F3F3F"/>
              </a:solidFill>
              <a:latin typeface="メイリオ"/>
              <a:ea typeface="メイリオ"/>
              <a:cs typeface="Meiryo"/>
              <a:sym typeface="Meiryo"/>
            </a:endParaRPr>
          </a:p>
          <a:p>
            <a:pPr marL="0" marR="0" lvl="0" indent="0" algn="ctr" rtl="0">
              <a:spcBef>
                <a:spcPts val="0"/>
              </a:spcBef>
              <a:spcAft>
                <a:spcPts val="0"/>
              </a:spcAft>
              <a:buNone/>
            </a:pPr>
            <a:r>
              <a:rPr lang="ja-JP" sz="1200" b="1" dirty="0">
                <a:solidFill>
                  <a:srgbClr val="3F3F3F"/>
                </a:solidFill>
                <a:latin typeface="メイリオ"/>
                <a:ea typeface="メイリオ"/>
                <a:cs typeface="Meiryo"/>
                <a:sym typeface="Meiryo"/>
              </a:rPr>
              <a:t>筋トレ・プロテイン</a:t>
            </a:r>
            <a:r>
              <a:rPr lang="ja-JP" sz="1200" dirty="0">
                <a:solidFill>
                  <a:srgbClr val="3F3F3F"/>
                </a:solidFill>
                <a:latin typeface="メイリオ"/>
                <a:ea typeface="メイリオ"/>
                <a:cs typeface="Meiryo"/>
                <a:sym typeface="Meiryo"/>
              </a:rPr>
              <a:t>等の“自力実行”が並ぶ。ジムの競合は、他のジムだけではない。</a:t>
            </a:r>
            <a:endParaRPr sz="1200" dirty="0">
              <a:solidFill>
                <a:srgbClr val="3F3F3F"/>
              </a:solidFill>
              <a:latin typeface="メイリオ"/>
              <a:ea typeface="メイリオ"/>
              <a:cs typeface="Meiryo"/>
              <a:sym typeface="Meiryo"/>
            </a:endParaRPr>
          </a:p>
        </p:txBody>
      </p:sp>
      <p:cxnSp>
        <p:nvCxnSpPr>
          <p:cNvPr id="474" name="Google Shape;474;p12"/>
          <p:cNvCxnSpPr/>
          <p:nvPr/>
        </p:nvCxnSpPr>
        <p:spPr>
          <a:xfrm>
            <a:off x="0" y="1390675"/>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495270"/>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548640" y="1874518"/>
            <a:ext cx="8796528" cy="348821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2" name="Rectangle 491"/>
          <p:cNvSpPr/>
          <p:nvPr/>
        </p:nvSpPr>
        <p:spPr>
          <a:xfrm>
            <a:off x="385572" y="560832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Rectangle 492"/>
          <p:cNvSpPr/>
          <p:nvPr/>
        </p:nvSpPr>
        <p:spPr>
          <a:xfrm>
            <a:off x="431292" y="560832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10896"/>
          </a:xfrm>
          <a:prstGeom prst="rect">
            <a:avLst/>
          </a:prstGeom>
          <a:noFill/>
        </p:spPr>
        <p:txBody>
          <a:bodyPr wrap="square">
            <a:spAutoFit/>
          </a:bodyPr>
          <a:lstStyle/>
          <a:p>
            <a:r>
              <a:rPr sz="1300">
                <a:solidFill>
                  <a:srgbClr val="1C2233"/>
                </a:solidFill>
                <a:latin typeface="メイリオ"/>
                <a:ea typeface="メイリオ"/>
              </a:rPr>
              <a:t>前は「手段の迷い」、後は「効果が出るまでの不安」。LINEはこの両方に先回りできる接点になる。</a:t>
            </a:r>
          </a:p>
        </p:txBody>
      </p:sp>
      <p:pic>
        <p:nvPicPr>
          <p:cNvPr id="495" name="Picture 494" descr="Journey_パーソナルジム_直近1年間(20240722-20250727).png"/>
          <p:cNvPicPr>
            <a:picLocks noChangeAspect="1"/>
          </p:cNvPicPr>
          <p:nvPr/>
        </p:nvPicPr>
        <p:blipFill>
          <a:blip r:embed="rId3"/>
          <a:stretch>
            <a:fillRect/>
          </a:stretch>
        </p:blipFill>
        <p:spPr>
          <a:xfrm>
            <a:off x="584640" y="1910519"/>
            <a:ext cx="4936266" cy="3375584"/>
          </a:xfrm>
          <a:prstGeom prst="rect">
            <a:avLst/>
          </a:prstGeom>
        </p:spPr>
      </p:pic>
      <p:sp>
        <p:nvSpPr>
          <p:cNvPr id="496" name="TextBox 495"/>
          <p:cNvSpPr txBox="1"/>
          <p:nvPr/>
        </p:nvSpPr>
        <p:spPr>
          <a:xfrm>
            <a:off x="5634447" y="1928519"/>
            <a:ext cx="3638720" cy="2154436"/>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検索前＝手段の迷い</a:t>
            </a:r>
            <a:endParaRPr sz="1400" b="0" dirty="0">
              <a:solidFill>
                <a:srgbClr val="1C2233"/>
              </a:solidFill>
              <a:latin typeface="メイリオ"/>
              <a:ea typeface="メイリオ"/>
            </a:endParaRPr>
          </a:p>
          <a:p>
            <a:r>
              <a:rPr sz="1400" b="0" dirty="0" err="1">
                <a:solidFill>
                  <a:srgbClr val="1C2233"/>
                </a:solidFill>
                <a:latin typeface="メイリオ"/>
                <a:ea typeface="メイリオ"/>
              </a:rPr>
              <a:t>医療脱毛・脂肪吸引・エステ・ホットヨガと並列比較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起点直後＝ブランド×口コミ比較</a:t>
            </a:r>
            <a:endParaRPr sz="1400" b="0" dirty="0">
              <a:solidFill>
                <a:srgbClr val="1C2233"/>
              </a:solidFill>
              <a:latin typeface="メイリオ"/>
              <a:ea typeface="メイリオ"/>
            </a:endParaRPr>
          </a:p>
          <a:p>
            <a:r>
              <a:rPr sz="1400" b="0" dirty="0">
                <a:solidFill>
                  <a:srgbClr val="1C2233"/>
                </a:solidFill>
                <a:latin typeface="メイリオ"/>
                <a:ea typeface="メイリオ"/>
              </a:rPr>
              <a:t>エニタイム・かたぎり塾・fitplace24・相場</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検索後＝実行と継続の不安</a:t>
            </a:r>
            <a:endParaRPr sz="1400" b="0" dirty="0">
              <a:solidFill>
                <a:srgbClr val="1C2233"/>
              </a:solidFill>
              <a:latin typeface="メイリオ"/>
              <a:ea typeface="メイリオ"/>
            </a:endParaRPr>
          </a:p>
          <a:p>
            <a:r>
              <a:rPr sz="1400" b="0" dirty="0" err="1">
                <a:solidFill>
                  <a:srgbClr val="1C2233"/>
                </a:solidFill>
                <a:latin typeface="メイリオ"/>
                <a:ea typeface="メイリオ"/>
              </a:rPr>
              <a:t>筋トレ</a:t>
            </a:r>
            <a:r>
              <a:rPr sz="1400" b="0" dirty="0">
                <a:solidFill>
                  <a:srgbClr val="1C2233"/>
                </a:solidFill>
                <a:latin typeface="メイリオ"/>
                <a:ea typeface="メイリオ"/>
              </a:rPr>
              <a:t> </a:t>
            </a:r>
            <a:r>
              <a:rPr sz="1400" b="0" dirty="0" err="1">
                <a:solidFill>
                  <a:srgbClr val="1C2233"/>
                </a:solidFill>
                <a:latin typeface="メイリオ"/>
                <a:ea typeface="メイリオ"/>
              </a:rPr>
              <a:t>効果が出るまで・プロテ</a:t>
            </a:r>
            <a:r>
              <a:rPr lang="ja-JP" altLang="en-US" sz="1400" b="0" dirty="0">
                <a:solidFill>
                  <a:srgbClr val="1C2233"/>
                </a:solidFill>
                <a:latin typeface="メイリオ"/>
                <a:ea typeface="メイリオ"/>
              </a:rPr>
              <a:t>イ</a:t>
            </a:r>
            <a:r>
              <a:rPr sz="1400" b="0" dirty="0">
                <a:solidFill>
                  <a:srgbClr val="1C2233"/>
                </a:solidFill>
                <a:latin typeface="メイリオ"/>
                <a:ea typeface="メイリオ"/>
              </a:rPr>
              <a:t>ン</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医療ダイエット</a:t>
            </a:r>
            <a:endParaRPr sz="1400" b="0" dirty="0">
              <a:solidFill>
                <a:srgbClr val="1C2233"/>
              </a:solidFill>
              <a:latin typeface="メイリオ"/>
              <a:ea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430887"/>
          </a:xfrm>
          <a:prstGeom prst="rect">
            <a:avLst/>
          </a:prstGeom>
          <a:noFill/>
        </p:spPr>
        <p:txBody>
          <a:bodyPr wrap="square" lIns="18000" tIns="0" rIns="18000" bIns="0">
            <a:spAutoFit/>
          </a:bodyPr>
          <a:lstStyle/>
          <a:p>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152000"/>
            <a:ext cx="5400000" cy="3454834"/>
          </a:xfrm>
          <a:prstGeom prst="rect">
            <a:avLst/>
          </a:prstGeom>
        </p:spPr>
      </p:pic>
      <p:sp>
        <p:nvSpPr>
          <p:cNvPr id="5" name="TextBox 4"/>
          <p:cNvSpPr txBox="1"/>
          <p:nvPr/>
        </p:nvSpPr>
        <p:spPr>
          <a:xfrm>
            <a:off x="5921829" y="1224000"/>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001838"/>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BF4E0E"/>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8" name="Rectangle 7"/>
          <p:cNvSpPr/>
          <p:nvPr/>
        </p:nvSpPr>
        <p:spPr>
          <a:xfrm>
            <a:off x="384048" y="5648379"/>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648379"/>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競合分析｜ジム・フィットネス業界のLINE公式アカウント実態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ea typeface="メイリオ"/>
              </a:rPr>
              <a:t>カーブス</a:t>
            </a:r>
            <a:r>
              <a:rPr lang="en-US" altLang="ja-JP" sz="1200" dirty="0">
                <a:solidFill>
                  <a:srgbClr val="1C2233"/>
                </a:solidFill>
                <a:ea typeface="メイリオ"/>
              </a:rPr>
              <a:t>×1.6/</a:t>
            </a:r>
            <a:r>
              <a:rPr lang="ja-JP" altLang="en-US" sz="1200" dirty="0">
                <a:solidFill>
                  <a:srgbClr val="1C2233"/>
                </a:solidFill>
                <a:ea typeface="メイリオ"/>
              </a:rPr>
              <a:t>年・ティップネス</a:t>
            </a:r>
            <a:r>
              <a:rPr lang="en-US" altLang="ja-JP" sz="1200" dirty="0">
                <a:solidFill>
                  <a:srgbClr val="1C2233"/>
                </a:solidFill>
                <a:ea typeface="メイリオ"/>
              </a:rPr>
              <a:t>×1.5/</a:t>
            </a:r>
            <a:r>
              <a:rPr lang="ja-JP" altLang="en-US" sz="1200" dirty="0">
                <a:solidFill>
                  <a:srgbClr val="1C2233"/>
                </a:solidFill>
                <a:ea typeface="メイリオ"/>
              </a:rPr>
              <a:t>年・フィットイージー</a:t>
            </a:r>
            <a:r>
              <a:rPr lang="en-US" altLang="ja-JP" sz="1200" dirty="0">
                <a:solidFill>
                  <a:srgbClr val="1C2233"/>
                </a:solidFill>
                <a:ea typeface="メイリオ"/>
              </a:rPr>
              <a:t>×1.3/</a:t>
            </a:r>
            <a:r>
              <a:rPr lang="ja-JP" altLang="en-US" sz="1200" dirty="0">
                <a:solidFill>
                  <a:srgbClr val="1C2233"/>
                </a:solidFill>
                <a:ea typeface="メイリオ"/>
              </a:rPr>
              <a:t>年</a:t>
            </a:r>
          </a:p>
          <a:p>
            <a:pPr>
              <a:spcBef>
                <a:spcPts val="200"/>
              </a:spcBef>
            </a:pPr>
            <a:r>
              <a:rPr lang="en-US" altLang="ja-JP" sz="1200" dirty="0">
                <a:solidFill>
                  <a:srgbClr val="1C2233"/>
                </a:solidFill>
                <a:ea typeface="メイリオ"/>
              </a:rPr>
              <a:t>※</a:t>
            </a:r>
            <a:r>
              <a:rPr lang="ja-JP" altLang="en-US" sz="1200" dirty="0">
                <a:solidFill>
                  <a:srgbClr val="1C2233"/>
                </a:solidFill>
                <a:ea typeface="メイリオ"/>
              </a:rPr>
              <a:t>配信実態は</a:t>
            </a:r>
            <a:r>
              <a:rPr lang="en-US" altLang="ja-JP" sz="1200" dirty="0">
                <a:solidFill>
                  <a:srgbClr val="1C2233"/>
                </a:solidFill>
                <a:ea typeface="メイリオ"/>
              </a:rPr>
              <a:t>8/31</a:t>
            </a:r>
            <a:r>
              <a:rPr lang="ja-JP" altLang="en-US" sz="1200" dirty="0">
                <a:solidFill>
                  <a:srgbClr val="1C2233"/>
                </a:solidFill>
                <a:ea typeface="メイリオ"/>
              </a:rPr>
              <a:t>の実機調査で別途確認</a:t>
            </a:r>
            <a:endParaRPr sz="1200" b="0" dirty="0">
              <a:solidFill>
                <a:srgbClr val="1C2233"/>
              </a:solidFill>
              <a:latin typeface="メイリオ"/>
              <a:ea typeface="メイリオ"/>
            </a:endParaRPr>
          </a:p>
        </p:txBody>
      </p:sp>
      <p:sp>
        <p:nvSpPr>
          <p:cNvPr id="8" name="Rectangle 7"/>
          <p:cNvSpPr/>
          <p:nvPr/>
        </p:nvSpPr>
        <p:spPr>
          <a:xfrm>
            <a:off x="384048" y="5500096"/>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500096"/>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中堅規模で「集める力」と「育てる力」を両立する会社はまだない。だから今から取れる</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競合分析｜LINE運用は4つの型に分類できる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集めるのが得意な会社と、育てるのが得意な会社に、はっきり分かれている。</a:t>
            </a:r>
          </a:p>
        </p:txBody>
      </p:sp>
      <p:graphicFrame>
        <p:nvGraphicFramePr>
          <p:cNvPr id="4" name="Table 3"/>
          <p:cNvGraphicFramePr>
            <a:graphicFrameLocks noGrp="1"/>
          </p:cNvGraphicFramePr>
          <p:nvPr>
            <p:extLst>
              <p:ext uri="{D42A27DB-BD31-4B8C-83A1-F6EECF244321}">
                <p14:modId xmlns:p14="http://schemas.microsoft.com/office/powerpoint/2010/main" val="3124320206"/>
              </p:ext>
            </p:extLst>
          </p:nvPr>
        </p:nvGraphicFramePr>
        <p:xfrm>
          <a:off x="384048" y="1234439"/>
          <a:ext cx="9134856" cy="3563982"/>
        </p:xfrm>
        <a:graphic>
          <a:graphicData uri="http://schemas.openxmlformats.org/drawingml/2006/table">
            <a:tbl>
              <a:tblPr firstRow="1" bandRow="1">
                <a:tableStyleId>{5C22544A-7EE6-4342-B048-85BDC9FD1C3A}</a:tableStyleId>
              </a:tblPr>
              <a:tblGrid>
                <a:gridCol w="1514421">
                  <a:extLst>
                    <a:ext uri="{9D8B030D-6E8A-4147-A177-3AD203B41FA5}">
                      <a16:colId xmlns:a16="http://schemas.microsoft.com/office/drawing/2014/main" val="20000"/>
                    </a:ext>
                  </a:extLst>
                </a:gridCol>
                <a:gridCol w="1802674">
                  <a:extLst>
                    <a:ext uri="{9D8B030D-6E8A-4147-A177-3AD203B41FA5}">
                      <a16:colId xmlns:a16="http://schemas.microsoft.com/office/drawing/2014/main" val="20001"/>
                    </a:ext>
                  </a:extLst>
                </a:gridCol>
                <a:gridCol w="3540905">
                  <a:extLst>
                    <a:ext uri="{9D8B030D-6E8A-4147-A177-3AD203B41FA5}">
                      <a16:colId xmlns:a16="http://schemas.microsoft.com/office/drawing/2014/main" val="20002"/>
                    </a:ext>
                  </a:extLst>
                </a:gridCol>
                <a:gridCol w="2276856">
                  <a:extLst>
                    <a:ext uri="{9D8B030D-6E8A-4147-A177-3AD203B41FA5}">
                      <a16:colId xmlns:a16="http://schemas.microsoft.com/office/drawing/2014/main" val="20003"/>
                    </a:ext>
                  </a:extLst>
                </a:gridCol>
              </a:tblGrid>
              <a:tr h="688864">
                <a:tc>
                  <a:txBody>
                    <a:bodyPr/>
                    <a:lstStyle/>
                    <a:p>
                      <a:pPr algn="ctr"/>
                      <a:r>
                        <a:rPr sz="1200" b="1">
                          <a:solidFill>
                            <a:srgbClr val="FFFFFF"/>
                          </a:solidFill>
                          <a:latin typeface="メイリオ"/>
                          <a:ea typeface="メイリオ"/>
                        </a:rPr>
                        <a:t>型</a:t>
                      </a:r>
                    </a:p>
                  </a:txBody>
                  <a:tcPr>
                    <a:solidFill>
                      <a:srgbClr val="1F2A5C"/>
                    </a:solidFill>
                  </a:tcPr>
                </a:tc>
                <a:tc>
                  <a:txBody>
                    <a:bodyPr/>
                    <a:lstStyle/>
                    <a:p>
                      <a:pPr algn="ctr"/>
                      <a:r>
                        <a:rPr sz="1200" b="1">
                          <a:solidFill>
                            <a:srgbClr val="FFFFFF"/>
                          </a:solidFill>
                          <a:latin typeface="メイリオ"/>
                          <a:ea typeface="メイリオ"/>
                        </a:rPr>
                        <a:t>代表アカウント</a:t>
                      </a:r>
                    </a:p>
                  </a:txBody>
                  <a:tcPr>
                    <a:solidFill>
                      <a:srgbClr val="1F2A5C"/>
                    </a:solidFill>
                  </a:tcPr>
                </a:tc>
                <a:tc>
                  <a:txBody>
                    <a:bodyPr/>
                    <a:lstStyle/>
                    <a:p>
                      <a:pPr algn="ctr"/>
                      <a:r>
                        <a:rPr sz="1200" b="1">
                          <a:solidFill>
                            <a:srgbClr val="FFFFFF"/>
                          </a:solidFill>
                          <a:latin typeface="メイリオ"/>
                          <a:ea typeface="メイリオ"/>
                        </a:rPr>
                        <a:t>運用の中身</a:t>
                      </a:r>
                    </a:p>
                  </a:txBody>
                  <a:tcPr>
                    <a:solidFill>
                      <a:srgbClr val="1F2A5C"/>
                    </a:solidFill>
                  </a:tcPr>
                </a:tc>
                <a:tc>
                  <a:txBody>
                    <a:bodyPr/>
                    <a:lstStyle/>
                    <a:p>
                      <a:pPr algn="ctr"/>
                      <a:r>
                        <a:rPr sz="1200" b="1">
                          <a:solidFill>
                            <a:srgbClr val="FFFFFF"/>
                          </a:solidFill>
                          <a:latin typeface="メイリオ"/>
                          <a:ea typeface="メイリオ"/>
                        </a:rPr>
                        <a:t>成果の出方</a:t>
                      </a:r>
                    </a:p>
                  </a:txBody>
                  <a:tcPr>
                    <a:solidFill>
                      <a:srgbClr val="1F2A5C"/>
                    </a:solidFill>
                  </a:tcPr>
                </a:tc>
                <a:extLst>
                  <a:ext uri="{0D108BD9-81ED-4DB2-BD59-A6C34878D82A}">
                    <a16:rowId xmlns:a16="http://schemas.microsoft.com/office/drawing/2014/main" val="10000"/>
                  </a:ext>
                </a:extLst>
              </a:tr>
              <a:tr h="688864">
                <a:tc>
                  <a:txBody>
                    <a:bodyPr/>
                    <a:lstStyle/>
                    <a:p>
                      <a:pPr algn="l"/>
                      <a:r>
                        <a:rPr sz="1100" b="0">
                          <a:solidFill>
                            <a:srgbClr val="1C2233"/>
                          </a:solidFill>
                          <a:latin typeface="メイリオ"/>
                          <a:ea typeface="メイリオ"/>
                        </a:rPr>
                        <a:t>① 入口特化型</a:t>
                      </a:r>
                    </a:p>
                  </a:txBody>
                  <a:tcPr>
                    <a:solidFill>
                      <a:srgbClr val="FFFFFF"/>
                    </a:solidFill>
                  </a:tcPr>
                </a:tc>
                <a:tc>
                  <a:txBody>
                    <a:bodyPr/>
                    <a:lstStyle/>
                    <a:p>
                      <a:pPr algn="ctr"/>
                      <a:r>
                        <a:rPr sz="1100" b="0">
                          <a:solidFill>
                            <a:srgbClr val="1C2233"/>
                          </a:solidFill>
                          <a:latin typeface="メイリオ"/>
                          <a:ea typeface="メイリオ"/>
                        </a:rPr>
                        <a:t>フィットイージー</a:t>
                      </a:r>
                    </a:p>
                  </a:txBody>
                  <a:tcPr>
                    <a:solidFill>
                      <a:srgbClr val="FFFFFF"/>
                    </a:solidFill>
                  </a:tcPr>
                </a:tc>
                <a:tc>
                  <a:txBody>
                    <a:bodyPr/>
                    <a:lstStyle/>
                    <a:p>
                      <a:pPr algn="ctr"/>
                      <a:r>
                        <a:rPr sz="1100" b="0" dirty="0" err="1">
                          <a:solidFill>
                            <a:srgbClr val="1C2233"/>
                          </a:solidFill>
                          <a:latin typeface="メイリオ"/>
                          <a:ea typeface="メイリオ"/>
                        </a:rPr>
                        <a:t>リッチメニューに無料体験・店舗見学・店舗検索等を集約した入口特化の設計</a:t>
                      </a:r>
                      <a:r>
                        <a:rPr lang="ja-JP" altLang="en-US" sz="1100" b="0" dirty="0">
                          <a:solidFill>
                            <a:srgbClr val="1C2233"/>
                          </a:solidFill>
                          <a:latin typeface="メイリオ"/>
                          <a:ea typeface="メイリオ"/>
                        </a:rPr>
                        <a:t>（実機調査で確認予定）</a:t>
                      </a:r>
                    </a:p>
                  </a:txBody>
                  <a:tcPr>
                    <a:solidFill>
                      <a:srgbClr val="FFFFFF"/>
                    </a:solidFill>
                  </a:tcPr>
                </a:tc>
                <a:tc>
                  <a:txBody>
                    <a:bodyPr/>
                    <a:lstStyle/>
                    <a:p>
                      <a:pPr algn="ctr"/>
                      <a:r>
                        <a:rPr sz="1100" b="0">
                          <a:solidFill>
                            <a:srgbClr val="1C2233"/>
                          </a:solidFill>
                          <a:latin typeface="メイリオ"/>
                          <a:ea typeface="メイリオ"/>
                        </a:rPr>
                        <a:t>80万人規模。公式保存版比×1.6（2024/10→2026/8）で入口設計型の代表格</a:t>
                      </a:r>
                    </a:p>
                  </a:txBody>
                  <a:tcPr>
                    <a:solidFill>
                      <a:srgbClr val="FFFFFF"/>
                    </a:solidFill>
                  </a:tcPr>
                </a:tc>
                <a:extLst>
                  <a:ext uri="{0D108BD9-81ED-4DB2-BD59-A6C34878D82A}">
                    <a16:rowId xmlns:a16="http://schemas.microsoft.com/office/drawing/2014/main" val="10001"/>
                  </a:ext>
                </a:extLst>
              </a:tr>
              <a:tr h="688864">
                <a:tc>
                  <a:txBody>
                    <a:bodyPr/>
                    <a:lstStyle/>
                    <a:p>
                      <a:pPr algn="l"/>
                      <a:r>
                        <a:rPr sz="1100" b="0">
                          <a:solidFill>
                            <a:srgbClr val="1C2233"/>
                          </a:solidFill>
                          <a:latin typeface="メイリオ"/>
                          <a:ea typeface="メイリオ"/>
                        </a:rPr>
                        <a:t>② CRM・会員証型</a:t>
                      </a:r>
                    </a:p>
                  </a:txBody>
                  <a:tcPr>
                    <a:solidFill>
                      <a:srgbClr val="EFF1F7"/>
                    </a:solidFill>
                  </a:tcPr>
                </a:tc>
                <a:tc>
                  <a:txBody>
                    <a:bodyPr/>
                    <a:lstStyle/>
                    <a:p>
                      <a:pPr algn="ctr"/>
                      <a:r>
                        <a:rPr sz="1100" b="0">
                          <a:solidFill>
                            <a:srgbClr val="1C2233"/>
                          </a:solidFill>
                          <a:latin typeface="メイリオ"/>
                          <a:ea typeface="メイリオ"/>
                        </a:rPr>
                        <a:t>ティップネス</a:t>
                      </a:r>
                    </a:p>
                  </a:txBody>
                  <a:tcPr>
                    <a:solidFill>
                      <a:srgbClr val="EFF1F7"/>
                    </a:solidFill>
                  </a:tcPr>
                </a:tc>
                <a:tc>
                  <a:txBody>
                    <a:bodyPr/>
                    <a:lstStyle/>
                    <a:p>
                      <a:pPr algn="ctr"/>
                      <a:r>
                        <a:rPr sz="1100" b="0" dirty="0" err="1">
                          <a:solidFill>
                            <a:srgbClr val="1C2233"/>
                          </a:solidFill>
                          <a:latin typeface="メイリオ"/>
                          <a:ea typeface="メイリオ"/>
                        </a:rPr>
                        <a:t>会員コード表示・クーポン・最新情報。友だち追加時に利用規約の許諾を取る設計（実機調査で確認予定</a:t>
                      </a:r>
                      <a:r>
                        <a:rPr sz="1100" b="0" dirty="0">
                          <a:solidFill>
                            <a:srgbClr val="1C2233"/>
                          </a:solidFill>
                          <a:latin typeface="メイリオ"/>
                          <a:ea typeface="メイリオ"/>
                        </a:rPr>
                        <a:t>）</a:t>
                      </a:r>
                    </a:p>
                  </a:txBody>
                  <a:tcPr>
                    <a:solidFill>
                      <a:srgbClr val="EFF1F7"/>
                    </a:solidFill>
                  </a:tcPr>
                </a:tc>
                <a:tc>
                  <a:txBody>
                    <a:bodyPr/>
                    <a:lstStyle/>
                    <a:p>
                      <a:pPr algn="ctr"/>
                      <a:r>
                        <a:rPr sz="1100" b="0" dirty="0">
                          <a:solidFill>
                            <a:srgbClr val="1C2233"/>
                          </a:solidFill>
                          <a:latin typeface="メイリオ"/>
                          <a:ea typeface="メイリオ"/>
                        </a:rPr>
                        <a:t>26万人。公式保存版比×4.9</a:t>
                      </a:r>
                      <a:r>
                        <a:rPr lang="ja-JP" altLang="en-US" sz="1100" b="0" dirty="0">
                          <a:solidFill>
                            <a:srgbClr val="1C2233"/>
                          </a:solidFill>
                          <a:latin typeface="メイリオ"/>
                          <a:ea typeface="メイリオ"/>
                        </a:rPr>
                        <a:t>　　</a:t>
                      </a:r>
                      <a:r>
                        <a:rPr lang="en-US" altLang="ja-JP" sz="1100" b="0" dirty="0">
                          <a:solidFill>
                            <a:srgbClr val="1C2233"/>
                          </a:solidFill>
                          <a:latin typeface="メイリオ"/>
                          <a:ea typeface="メイリオ"/>
                        </a:rPr>
                        <a:t>(</a:t>
                      </a:r>
                      <a:r>
                        <a:rPr sz="1100" b="0" dirty="0">
                          <a:solidFill>
                            <a:srgbClr val="1C2233"/>
                          </a:solidFill>
                          <a:latin typeface="メイリオ"/>
                          <a:ea typeface="メイリオ"/>
                        </a:rPr>
                        <a:t>2022/6→2026/8</a:t>
                      </a:r>
                      <a:r>
                        <a:rPr lang="en-US" sz="1100" b="0" dirty="0">
                          <a:solidFill>
                            <a:srgbClr val="1C2233"/>
                          </a:solidFill>
                          <a:latin typeface="メイリオ"/>
                          <a:ea typeface="メイリオ"/>
                        </a:rPr>
                        <a:t>)</a:t>
                      </a:r>
                      <a:r>
                        <a:rPr sz="1100" b="0" dirty="0">
                          <a:solidFill>
                            <a:srgbClr val="1C2233"/>
                          </a:solidFill>
                          <a:latin typeface="メイリオ"/>
                          <a:ea typeface="メイリオ"/>
                        </a:rPr>
                        <a:t>。</a:t>
                      </a:r>
                      <a:r>
                        <a:rPr sz="1100" b="0" dirty="0" err="1">
                          <a:solidFill>
                            <a:srgbClr val="1C2233"/>
                          </a:solidFill>
                          <a:latin typeface="メイリオ"/>
                          <a:ea typeface="メイリオ"/>
                        </a:rPr>
                        <a:t>会員利便で継続に効かせ着実に積み上げ</a:t>
                      </a:r>
                      <a:endParaRPr sz="1100" b="0" dirty="0">
                        <a:solidFill>
                          <a:srgbClr val="1C2233"/>
                        </a:solidFill>
                        <a:latin typeface="メイリオ"/>
                        <a:ea typeface="メイリオ"/>
                      </a:endParaRPr>
                    </a:p>
                  </a:txBody>
                  <a:tcPr>
                    <a:solidFill>
                      <a:srgbClr val="EFF1F7"/>
                    </a:solidFill>
                  </a:tcPr>
                </a:tc>
                <a:extLst>
                  <a:ext uri="{0D108BD9-81ED-4DB2-BD59-A6C34878D82A}">
                    <a16:rowId xmlns:a16="http://schemas.microsoft.com/office/drawing/2014/main" val="10002"/>
                  </a:ext>
                </a:extLst>
              </a:tr>
              <a:tr h="808526">
                <a:tc>
                  <a:txBody>
                    <a:bodyPr/>
                    <a:lstStyle/>
                    <a:p>
                      <a:pPr algn="l"/>
                      <a:r>
                        <a:rPr sz="1100" b="0">
                          <a:solidFill>
                            <a:srgbClr val="1C2233"/>
                          </a:solidFill>
                          <a:latin typeface="メイリオ"/>
                          <a:ea typeface="メイリオ"/>
                        </a:rPr>
                        <a:t>③ ナーチャリング型</a:t>
                      </a:r>
                    </a:p>
                  </a:txBody>
                  <a:tcPr>
                    <a:solidFill>
                      <a:srgbClr val="FFFFFF"/>
                    </a:solidFill>
                  </a:tcPr>
                </a:tc>
                <a:tc>
                  <a:txBody>
                    <a:bodyPr/>
                    <a:lstStyle/>
                    <a:p>
                      <a:pPr algn="ctr"/>
                      <a:r>
                        <a:rPr sz="1100" b="0">
                          <a:solidFill>
                            <a:srgbClr val="1C2233"/>
                          </a:solidFill>
                          <a:latin typeface="メイリオ"/>
                          <a:ea typeface="メイリオ"/>
                        </a:rPr>
                        <a:t>ライザップ
カーブス</a:t>
                      </a:r>
                    </a:p>
                  </a:txBody>
                  <a:tcPr>
                    <a:solidFill>
                      <a:srgbClr val="FFFFFF"/>
                    </a:solidFill>
                  </a:tcPr>
                </a:tc>
                <a:tc>
                  <a:txBody>
                    <a:bodyPr/>
                    <a:lstStyle/>
                    <a:p>
                      <a:pPr algn="ctr"/>
                      <a:r>
                        <a:rPr sz="1100" b="0" dirty="0" err="1">
                          <a:solidFill>
                            <a:srgbClr val="1C2233"/>
                          </a:solidFill>
                          <a:latin typeface="メイリオ"/>
                          <a:ea typeface="メイリオ"/>
                        </a:rPr>
                        <a:t>ステップ配信・運動診断・無料カウンセリング誘導</a:t>
                      </a:r>
                      <a:r>
                        <a:rPr lang="ja-JP" altLang="en-US" sz="1100" b="0" dirty="0">
                          <a:solidFill>
                            <a:srgbClr val="1C2233"/>
                          </a:solidFill>
                          <a:latin typeface="メイリオ"/>
                          <a:ea typeface="メイリオ"/>
                        </a:rPr>
                        <a:t>　　</a:t>
                      </a:r>
                      <a:r>
                        <a:rPr sz="1100" b="0" dirty="0">
                          <a:solidFill>
                            <a:srgbClr val="1C2233"/>
                          </a:solidFill>
                          <a:latin typeface="メイリオ"/>
                          <a:ea typeface="メイリオ"/>
                        </a:rPr>
                        <a:t>（</a:t>
                      </a:r>
                      <a:r>
                        <a:rPr sz="1100" b="0" dirty="0" err="1">
                          <a:solidFill>
                            <a:srgbClr val="1C2233"/>
                          </a:solidFill>
                          <a:latin typeface="メイリオ"/>
                          <a:ea typeface="メイリオ"/>
                        </a:rPr>
                        <a:t>配信実態は実機調査で確認予定</a:t>
                      </a:r>
                      <a:r>
                        <a:rPr sz="1100" b="0" dirty="0">
                          <a:solidFill>
                            <a:srgbClr val="1C2233"/>
                          </a:solidFill>
                          <a:latin typeface="メイリオ"/>
                          <a:ea typeface="メイリオ"/>
                        </a:rPr>
                        <a:t>）</a:t>
                      </a:r>
                    </a:p>
                  </a:txBody>
                  <a:tcPr>
                    <a:solidFill>
                      <a:srgbClr val="FFFFFF"/>
                    </a:solidFill>
                  </a:tcPr>
                </a:tc>
                <a:tc>
                  <a:txBody>
                    <a:bodyPr/>
                    <a:lstStyle/>
                    <a:p>
                      <a:pPr algn="ctr"/>
                      <a:r>
                        <a:rPr sz="1100" b="0" dirty="0">
                          <a:solidFill>
                            <a:srgbClr val="1C2233"/>
                          </a:solidFill>
                          <a:latin typeface="メイリオ"/>
                          <a:ea typeface="メイリオ"/>
                        </a:rPr>
                        <a:t>カーブス592万人＝保存版比×2.6（2024/8→）・</a:t>
                      </a:r>
                      <a:r>
                        <a:rPr sz="1100" b="0" dirty="0" err="1">
                          <a:solidFill>
                            <a:srgbClr val="1C2233"/>
                          </a:solidFill>
                          <a:latin typeface="メイリオ"/>
                          <a:ea typeface="メイリオ"/>
                        </a:rPr>
                        <a:t>ライザップ非公開。育成×入口の両輪とみられる</a:t>
                      </a:r>
                      <a:endParaRPr sz="1100" b="0" dirty="0">
                        <a:solidFill>
                          <a:srgbClr val="1C2233"/>
                        </a:solidFill>
                        <a:latin typeface="メイリオ"/>
                        <a:ea typeface="メイリオ"/>
                      </a:endParaRPr>
                    </a:p>
                  </a:txBody>
                  <a:tcPr>
                    <a:solidFill>
                      <a:srgbClr val="FFFFFF"/>
                    </a:solidFill>
                  </a:tcPr>
                </a:tc>
                <a:extLst>
                  <a:ext uri="{0D108BD9-81ED-4DB2-BD59-A6C34878D82A}">
                    <a16:rowId xmlns:a16="http://schemas.microsoft.com/office/drawing/2014/main" val="10003"/>
                  </a:ext>
                </a:extLst>
              </a:tr>
              <a:tr h="688864">
                <a:tc>
                  <a:txBody>
                    <a:bodyPr/>
                    <a:lstStyle/>
                    <a:p>
                      <a:pPr algn="l"/>
                      <a:r>
                        <a:rPr sz="1100" b="0">
                          <a:solidFill>
                            <a:srgbClr val="1C2233"/>
                          </a:solidFill>
                          <a:latin typeface="メイリオ"/>
                          <a:ea typeface="メイリオ"/>
                        </a:rPr>
                        <a:t>④ カタログ型</a:t>
                      </a:r>
                    </a:p>
                  </a:txBody>
                  <a:tcPr>
                    <a:solidFill>
                      <a:srgbClr val="EFF1F7"/>
                    </a:solidFill>
                  </a:tcPr>
                </a:tc>
                <a:tc>
                  <a:txBody>
                    <a:bodyPr/>
                    <a:lstStyle/>
                    <a:p>
                      <a:pPr algn="ctr"/>
                      <a:r>
                        <a:rPr sz="1100" b="0">
                          <a:solidFill>
                            <a:srgbClr val="1C2233"/>
                          </a:solidFill>
                          <a:latin typeface="メイリオ"/>
                          <a:ea typeface="メイリオ"/>
                        </a:rPr>
                        <a:t>エニタイムフィットネス</a:t>
                      </a:r>
                    </a:p>
                  </a:txBody>
                  <a:tcPr>
                    <a:solidFill>
                      <a:srgbClr val="EFF1F7"/>
                    </a:solidFill>
                  </a:tcPr>
                </a:tc>
                <a:tc>
                  <a:txBody>
                    <a:bodyPr/>
                    <a:lstStyle/>
                    <a:p>
                      <a:pPr algn="ctr"/>
                      <a:r>
                        <a:rPr sz="1100" b="0" dirty="0" err="1">
                          <a:solidFill>
                            <a:srgbClr val="1C2233"/>
                          </a:solidFill>
                          <a:latin typeface="メイリオ"/>
                          <a:ea typeface="メイリオ"/>
                        </a:rPr>
                        <a:t>公式サイト・WEBマガジン・店舗検索が中心のカタログ構成（実機調査で確認予定</a:t>
                      </a:r>
                      <a:r>
                        <a:rPr sz="1100" b="0" dirty="0">
                          <a:solidFill>
                            <a:srgbClr val="1C2233"/>
                          </a:solidFill>
                          <a:latin typeface="メイリオ"/>
                          <a:ea typeface="メイリオ"/>
                        </a:rPr>
                        <a:t>）</a:t>
                      </a:r>
                    </a:p>
                  </a:txBody>
                  <a:tcPr>
                    <a:solidFill>
                      <a:srgbClr val="EFF1F7"/>
                    </a:solidFill>
                  </a:tcPr>
                </a:tc>
                <a:tc>
                  <a:txBody>
                    <a:bodyPr/>
                    <a:lstStyle/>
                    <a:p>
                      <a:pPr algn="ctr"/>
                      <a:r>
                        <a:rPr sz="1100" b="0" dirty="0">
                          <a:solidFill>
                            <a:srgbClr val="1C2233"/>
                          </a:solidFill>
                          <a:latin typeface="メイリオ"/>
                          <a:ea typeface="メイリオ"/>
                        </a:rPr>
                        <a:t>145万人。規模はあるが友だちになる理由（特典・診断）が薄い</a:t>
                      </a:r>
                    </a:p>
                  </a:txBody>
                  <a:tcPr>
                    <a:solidFill>
                      <a:srgbClr val="EFF1F7"/>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84048" y="562356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 y="562356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目指すのは</a:t>
            </a:r>
            <a:r>
              <a:rPr sz="1400" b="0" dirty="0">
                <a:solidFill>
                  <a:srgbClr val="1C2233"/>
                </a:solidFill>
                <a:latin typeface="メイリオ"/>
                <a:ea typeface="メイリオ"/>
              </a:rPr>
              <a:t> ①</a:t>
            </a:r>
            <a:r>
              <a:rPr sz="1400" b="0" dirty="0" err="1">
                <a:solidFill>
                  <a:srgbClr val="1C2233"/>
                </a:solidFill>
                <a:latin typeface="メイリオ"/>
                <a:ea typeface="メイリオ"/>
              </a:rPr>
              <a:t>入口</a:t>
            </a:r>
            <a:r>
              <a:rPr sz="1400" b="0" dirty="0">
                <a:solidFill>
                  <a:srgbClr val="1C2233"/>
                </a:solidFill>
                <a:latin typeface="メイリオ"/>
                <a:ea typeface="メイリオ"/>
              </a:rPr>
              <a:t> × ③</a:t>
            </a:r>
            <a:r>
              <a:rPr sz="1400" b="0" dirty="0" err="1">
                <a:solidFill>
                  <a:srgbClr val="1C2233"/>
                </a:solidFill>
                <a:latin typeface="メイリオ"/>
                <a:ea typeface="メイリオ"/>
              </a:rPr>
              <a:t>育成</a:t>
            </a:r>
            <a:r>
              <a:rPr sz="1400" b="0" dirty="0">
                <a:solidFill>
                  <a:srgbClr val="1C2233"/>
                </a:solidFill>
                <a:latin typeface="メイリオ"/>
                <a:ea typeface="メイリオ"/>
              </a:rPr>
              <a:t> × ②</a:t>
            </a:r>
            <a:r>
              <a:rPr sz="1400" b="0" dirty="0" err="1">
                <a:solidFill>
                  <a:srgbClr val="1C2233"/>
                </a:solidFill>
                <a:latin typeface="メイリオ"/>
                <a:ea typeface="メイリオ"/>
              </a:rPr>
              <a:t>継続</a:t>
            </a:r>
            <a:r>
              <a:rPr sz="1400" b="0" dirty="0">
                <a:solidFill>
                  <a:srgbClr val="1C2233"/>
                </a:solidFill>
                <a:latin typeface="メイリオ"/>
                <a:ea typeface="メイリオ"/>
              </a:rPr>
              <a:t> の三点セット。どれか1つだけでは必ず頭打ちになる。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型分類は各社公式アカウントの公開画面に基づく整理。配信実態・増加率は実機調査（8/31）と公式ページ保存版で確定します。出典：page.line.me（2026/8/17実測）。</a:t>
            </a:r>
          </a:p>
        </p:txBody>
      </p:sp>
    </p:spTree>
    <p:extLst>
      <p:ext uri="{BB962C8B-B14F-4D97-AF65-F5344CB8AC3E}">
        <p14:creationId xmlns:p14="http://schemas.microsoft.com/office/powerpoint/2010/main" val="435431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競合分析｜各社のリッチメニュー・あいさつメッセージ</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実機の画面を並べると、型の違いが一目で伝わる。</a:t>
            </a:r>
          </a:p>
        </p:txBody>
      </p:sp>
      <p:sp>
        <p:nvSpPr>
          <p:cNvPr id="4" name="Rounded Rectangle 3"/>
          <p:cNvSpPr/>
          <p:nvPr/>
        </p:nvSpPr>
        <p:spPr>
          <a:xfrm>
            <a:off x="3840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フィットイージー</a:t>
            </a:r>
          </a:p>
        </p:txBody>
      </p:sp>
      <p:sp>
        <p:nvSpPr>
          <p:cNvPr id="5" name="Rectangle 4"/>
          <p:cNvSpPr/>
          <p:nvPr/>
        </p:nvSpPr>
        <p:spPr>
          <a:xfrm>
            <a:off x="384048" y="1609344"/>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6" name="Rounded Rectangle 5"/>
          <p:cNvSpPr/>
          <p:nvPr/>
        </p:nvSpPr>
        <p:spPr>
          <a:xfrm>
            <a:off x="3840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dirty="0">
                <a:solidFill>
                  <a:srgbClr val="1C2233"/>
                </a:solidFill>
                <a:latin typeface="メイリオ"/>
                <a:ea typeface="メイリオ"/>
              </a:rPr>
              <a:t>入口8区画・配信なし</a:t>
            </a:r>
          </a:p>
        </p:txBody>
      </p:sp>
      <p:sp>
        <p:nvSpPr>
          <p:cNvPr id="7" name="Rounded Rectangle 6"/>
          <p:cNvSpPr/>
          <p:nvPr/>
        </p:nvSpPr>
        <p:spPr>
          <a:xfrm>
            <a:off x="22128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ティップネス</a:t>
            </a:r>
          </a:p>
        </p:txBody>
      </p:sp>
      <p:sp>
        <p:nvSpPr>
          <p:cNvPr id="8" name="Rectangle 7"/>
          <p:cNvSpPr/>
          <p:nvPr/>
        </p:nvSpPr>
        <p:spPr>
          <a:xfrm>
            <a:off x="22128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9" name="Rounded Rectangle 8"/>
          <p:cNvSpPr/>
          <p:nvPr/>
        </p:nvSpPr>
        <p:spPr>
          <a:xfrm>
            <a:off x="22128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会員証＋利用規約の許諾</a:t>
            </a:r>
          </a:p>
        </p:txBody>
      </p:sp>
      <p:sp>
        <p:nvSpPr>
          <p:cNvPr id="10" name="Rounded Rectangle 9"/>
          <p:cNvSpPr/>
          <p:nvPr/>
        </p:nvSpPr>
        <p:spPr>
          <a:xfrm>
            <a:off x="40416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ライザップ</a:t>
            </a:r>
          </a:p>
        </p:txBody>
      </p:sp>
      <p:sp>
        <p:nvSpPr>
          <p:cNvPr id="11" name="Rectangle 10"/>
          <p:cNvSpPr/>
          <p:nvPr/>
        </p:nvSpPr>
        <p:spPr>
          <a:xfrm>
            <a:off x="40416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dirty="0" err="1">
                <a:solidFill>
                  <a:srgbClr val="646C82"/>
                </a:solidFill>
                <a:latin typeface="メイリオ"/>
                <a:ea typeface="メイリオ"/>
              </a:rPr>
              <a:t>公式ページ非公開</a:t>
            </a:r>
            <a:endParaRPr sz="1000" b="0" dirty="0">
              <a:solidFill>
                <a:srgbClr val="646C82"/>
              </a:solidFill>
              <a:latin typeface="メイリオ"/>
              <a:ea typeface="メイリオ"/>
            </a:endParaRPr>
          </a:p>
          <a:p>
            <a:pPr algn="ctr">
              <a:spcBef>
                <a:spcPts val="200"/>
              </a:spcBef>
            </a:pPr>
            <a:endParaRPr sz="1000" b="0" dirty="0">
              <a:solidFill>
                <a:srgbClr val="646C82"/>
              </a:solidFill>
              <a:latin typeface="メイリオ"/>
              <a:ea typeface="メイリオ"/>
            </a:endParaRPr>
          </a:p>
          <a:p>
            <a:pPr algn="ctr">
              <a:spcBef>
                <a:spcPts val="200"/>
              </a:spcBef>
            </a:pPr>
            <a:r>
              <a:rPr sz="1000" b="0" dirty="0" err="1">
                <a:solidFill>
                  <a:srgbClr val="646C82"/>
                </a:solidFill>
                <a:latin typeface="メイリオ"/>
                <a:ea typeface="メイリオ"/>
              </a:rPr>
              <a:t>実機トーク・リッチメニューは</a:t>
            </a:r>
            <a:endParaRPr sz="1000" b="0" dirty="0">
              <a:solidFill>
                <a:srgbClr val="646C82"/>
              </a:solidFill>
              <a:latin typeface="メイリオ"/>
              <a:ea typeface="メイリオ"/>
            </a:endParaRPr>
          </a:p>
          <a:p>
            <a:pPr algn="ctr">
              <a:spcBef>
                <a:spcPts val="200"/>
              </a:spcBef>
            </a:pPr>
            <a:r>
              <a:rPr sz="1000" b="0" dirty="0">
                <a:solidFill>
                  <a:srgbClr val="646C82"/>
                </a:solidFill>
                <a:latin typeface="メイリオ"/>
                <a:ea typeface="メイリオ"/>
              </a:rPr>
              <a:t>8/31の実機調査で取得</a:t>
            </a:r>
          </a:p>
        </p:txBody>
      </p:sp>
      <p:sp>
        <p:nvSpPr>
          <p:cNvPr id="12" name="Rounded Rectangle 11"/>
          <p:cNvSpPr/>
          <p:nvPr/>
        </p:nvSpPr>
        <p:spPr>
          <a:xfrm>
            <a:off x="40416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月14通・毎回別クリエイティブ</a:t>
            </a:r>
          </a:p>
        </p:txBody>
      </p:sp>
      <p:sp>
        <p:nvSpPr>
          <p:cNvPr id="13" name="Rounded Rectangle 12"/>
          <p:cNvSpPr/>
          <p:nvPr/>
        </p:nvSpPr>
        <p:spPr>
          <a:xfrm>
            <a:off x="58704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カーブス</a:t>
            </a:r>
          </a:p>
        </p:txBody>
      </p:sp>
      <p:sp>
        <p:nvSpPr>
          <p:cNvPr id="14" name="Rectangle 13"/>
          <p:cNvSpPr/>
          <p:nvPr/>
        </p:nvSpPr>
        <p:spPr>
          <a:xfrm>
            <a:off x="58704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15" name="Rounded Rectangle 14"/>
          <p:cNvSpPr/>
          <p:nvPr/>
        </p:nvSpPr>
        <p:spPr>
          <a:xfrm>
            <a:off x="58704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6通ステップ＋運動診断</a:t>
            </a:r>
          </a:p>
        </p:txBody>
      </p:sp>
      <p:sp>
        <p:nvSpPr>
          <p:cNvPr id="16" name="Rounded Rectangle 15"/>
          <p:cNvSpPr/>
          <p:nvPr/>
        </p:nvSpPr>
        <p:spPr>
          <a:xfrm>
            <a:off x="76992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エニタイムフィットネス</a:t>
            </a:r>
          </a:p>
        </p:txBody>
      </p:sp>
      <p:sp>
        <p:nvSpPr>
          <p:cNvPr id="17" name="Rectangle 16"/>
          <p:cNvSpPr/>
          <p:nvPr/>
        </p:nvSpPr>
        <p:spPr>
          <a:xfrm>
            <a:off x="76992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18" name="Rounded Rectangle 17"/>
          <p:cNvSpPr/>
          <p:nvPr/>
        </p:nvSpPr>
        <p:spPr>
          <a:xfrm>
            <a:off x="76992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50" b="0">
                <a:solidFill>
                  <a:srgbClr val="1C2233"/>
                </a:solidFill>
                <a:latin typeface="メイリオ"/>
                <a:ea typeface="メイリオ"/>
              </a:rPr>
              <a:t>カタログ型・配信なし</a:t>
            </a:r>
          </a:p>
        </p:txBody>
      </p:sp>
      <p:sp>
        <p:nvSpPr>
          <p:cNvPr id="19" name="Rectangle 18"/>
          <p:cNvSpPr/>
          <p:nvPr/>
        </p:nvSpPr>
        <p:spPr>
          <a:xfrm>
            <a:off x="384048" y="562356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29768" y="562356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5694659"/>
            <a:ext cx="8814816" cy="310896"/>
          </a:xfrm>
          <a:prstGeom prst="rect">
            <a:avLst/>
          </a:prstGeom>
          <a:noFill/>
        </p:spPr>
        <p:txBody>
          <a:bodyPr wrap="square" lIns="0" tIns="0" rIns="0" bIns="0">
            <a:spAutoFit/>
          </a:bodyPr>
          <a:lstStyle/>
          <a:p>
            <a:r>
              <a:rPr sz="1300" b="0" dirty="0">
                <a:solidFill>
                  <a:srgbClr val="1C2233"/>
                </a:solidFill>
                <a:latin typeface="メイリオ"/>
                <a:ea typeface="メイリオ"/>
              </a:rPr>
              <a:t>プロフィール画面（友だち数）は4社実測済み（2026/8/17-18）。</a:t>
            </a:r>
            <a:r>
              <a:rPr sz="1300" b="0" dirty="0" err="1">
                <a:solidFill>
                  <a:srgbClr val="1C2233"/>
                </a:solidFill>
                <a:latin typeface="メイリオ"/>
                <a:ea typeface="メイリオ"/>
              </a:rPr>
              <a:t>ライザップは公式ページ非公開。実機トーク・リッチメニューは調査用アカウントで取得し、社内確認のうえ最終版に反映します</a:t>
            </a:r>
            <a:r>
              <a:rPr sz="1300" b="0" dirty="0">
                <a:solidFill>
                  <a:srgbClr val="1C2233"/>
                </a:solidFill>
                <a:latin typeface="メイリオ"/>
                <a:ea typeface="メイリオ"/>
              </a:rPr>
              <a:t>。</a:t>
            </a:r>
          </a:p>
        </p:txBody>
      </p:sp>
      <p:sp>
        <p:nvSpPr>
          <p:cNvPr id="22" name="TextBox 21"/>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撮影対象：リッチメニュー全体／友だち追加直後のあいさつメッセージ／2週間分の配信トーク画面。</a:t>
            </a:r>
          </a:p>
        </p:txBody>
      </p:sp>
      <p:pic>
        <p:nvPicPr>
          <p:cNvPr id="23" name="Picture 22" descr="pageline_fiteasy_crop.png"/>
          <p:cNvPicPr>
            <a:picLocks noChangeAspect="1"/>
          </p:cNvPicPr>
          <p:nvPr/>
        </p:nvPicPr>
        <p:blipFill>
          <a:blip r:embed="rId2"/>
          <a:stretch>
            <a:fillRect/>
          </a:stretch>
        </p:blipFill>
        <p:spPr>
          <a:xfrm>
            <a:off x="384048" y="1636776"/>
            <a:ext cx="1692000" cy="1833000"/>
          </a:xfrm>
          <a:prstGeom prst="rect">
            <a:avLst/>
          </a:prstGeom>
        </p:spPr>
      </p:pic>
      <p:sp>
        <p:nvSpPr>
          <p:cNvPr id="24" name="TextBox 23"/>
          <p:cNvSpPr txBox="1"/>
          <p:nvPr/>
        </p:nvSpPr>
        <p:spPr>
          <a:xfrm>
            <a:off x="384048" y="3497208"/>
            <a:ext cx="1692000" cy="307777"/>
          </a:xfrm>
          <a:prstGeom prst="rect">
            <a:avLst/>
          </a:prstGeom>
          <a:noFill/>
        </p:spPr>
        <p:txBody>
          <a:bodyPr wrap="square" lIns="18000" tIns="0" rIns="18000" bIns="0">
            <a:spAutoFit/>
          </a:bodyPr>
          <a:lstStyle/>
          <a:p>
            <a:r>
              <a:rPr sz="1000" dirty="0" err="1">
                <a:solidFill>
                  <a:srgbClr val="404040"/>
                </a:solidFill>
                <a:latin typeface="メイリオ"/>
                <a:ea typeface="メイリオ"/>
              </a:rPr>
              <a:t>実測</a:t>
            </a:r>
            <a:r>
              <a:rPr sz="1000" dirty="0">
                <a:solidFill>
                  <a:srgbClr val="404040"/>
                </a:solidFill>
                <a:latin typeface="メイリオ"/>
                <a:ea typeface="メイリオ"/>
              </a:rPr>
              <a:t> 2026/8/17</a:t>
            </a:r>
          </a:p>
          <a:p>
            <a:r>
              <a:rPr sz="1000" dirty="0" err="1">
                <a:solidFill>
                  <a:srgbClr val="404040"/>
                </a:solidFill>
                <a:latin typeface="メイリオ"/>
                <a:ea typeface="メイリオ"/>
              </a:rPr>
              <a:t>友だち</a:t>
            </a:r>
            <a:r>
              <a:rPr sz="1000" dirty="0">
                <a:solidFill>
                  <a:srgbClr val="404040"/>
                </a:solidFill>
                <a:latin typeface="メイリオ"/>
                <a:ea typeface="メイリオ"/>
              </a:rPr>
              <a:t> 802,620人</a:t>
            </a:r>
          </a:p>
        </p:txBody>
      </p:sp>
      <p:pic>
        <p:nvPicPr>
          <p:cNvPr id="25" name="Picture 24" descr="pageline_tipness_crop.png"/>
          <p:cNvPicPr>
            <a:picLocks noChangeAspect="1"/>
          </p:cNvPicPr>
          <p:nvPr/>
        </p:nvPicPr>
        <p:blipFill>
          <a:blip r:embed="rId3"/>
          <a:stretch>
            <a:fillRect/>
          </a:stretch>
        </p:blipFill>
        <p:spPr>
          <a:xfrm>
            <a:off x="2212848" y="1636776"/>
            <a:ext cx="1692000" cy="1833000"/>
          </a:xfrm>
          <a:prstGeom prst="rect">
            <a:avLst/>
          </a:prstGeom>
        </p:spPr>
      </p:pic>
      <p:sp>
        <p:nvSpPr>
          <p:cNvPr id="26" name="TextBox 25"/>
          <p:cNvSpPr txBox="1"/>
          <p:nvPr/>
        </p:nvSpPr>
        <p:spPr>
          <a:xfrm>
            <a:off x="2212668" y="3513502"/>
            <a:ext cx="1692000" cy="307777"/>
          </a:xfrm>
          <a:prstGeom prst="rect">
            <a:avLst/>
          </a:prstGeom>
          <a:noFill/>
        </p:spPr>
        <p:txBody>
          <a:bodyPr wrap="square" lIns="18000" tIns="0" rIns="18000" bIns="0">
            <a:spAutoFit/>
          </a:bodyPr>
          <a:lstStyle/>
          <a:p>
            <a:r>
              <a:rPr sz="1000" dirty="0" err="1">
                <a:solidFill>
                  <a:srgbClr val="404040"/>
                </a:solidFill>
                <a:latin typeface="メイリオ"/>
                <a:ea typeface="メイリオ"/>
              </a:rPr>
              <a:t>実測</a:t>
            </a:r>
            <a:r>
              <a:rPr sz="1000" dirty="0">
                <a:solidFill>
                  <a:srgbClr val="404040"/>
                </a:solidFill>
                <a:latin typeface="メイリオ"/>
                <a:ea typeface="メイリオ"/>
              </a:rPr>
              <a:t> 2026/8/17</a:t>
            </a:r>
          </a:p>
          <a:p>
            <a:r>
              <a:rPr sz="1000" dirty="0" err="1">
                <a:solidFill>
                  <a:srgbClr val="404040"/>
                </a:solidFill>
                <a:latin typeface="メイリオ"/>
                <a:ea typeface="メイリオ"/>
              </a:rPr>
              <a:t>友だち</a:t>
            </a:r>
            <a:r>
              <a:rPr sz="1000" dirty="0">
                <a:solidFill>
                  <a:srgbClr val="404040"/>
                </a:solidFill>
                <a:latin typeface="メイリオ"/>
                <a:ea typeface="メイリオ"/>
              </a:rPr>
              <a:t> 262,502人</a:t>
            </a:r>
          </a:p>
        </p:txBody>
      </p:sp>
      <p:sp>
        <p:nvSpPr>
          <p:cNvPr id="28" name="TextBox 27"/>
          <p:cNvSpPr txBox="1"/>
          <p:nvPr/>
        </p:nvSpPr>
        <p:spPr>
          <a:xfrm>
            <a:off x="5870268" y="3496378"/>
            <a:ext cx="1692000" cy="396000"/>
          </a:xfrm>
          <a:prstGeom prst="rect">
            <a:avLst/>
          </a:prstGeom>
          <a:noFill/>
        </p:spPr>
        <p:txBody>
          <a:bodyPr wrap="square" lIns="18000" tIns="0" rIns="18000" bIns="0">
            <a:spAutoFit/>
          </a:bodyPr>
          <a:lstStyle/>
          <a:p>
            <a:r>
              <a:rPr sz="1000">
                <a:solidFill>
                  <a:srgbClr val="404040"/>
                </a:solidFill>
                <a:latin typeface="メイリオ"/>
              </a:rPr>
              <a:t>実測 2026/8/18</a:t>
            </a:r>
          </a:p>
          <a:p>
            <a:r>
              <a:rPr sz="1000">
                <a:solidFill>
                  <a:srgbClr val="404040"/>
                </a:solidFill>
                <a:latin typeface="メイリオ"/>
              </a:rPr>
              <a:t>友だち 5,921,571人</a:t>
            </a:r>
          </a:p>
        </p:txBody>
      </p:sp>
      <p:pic>
        <p:nvPicPr>
          <p:cNvPr id="29" name="Picture 28" descr="pageline_anytime_frame.png"/>
          <p:cNvPicPr>
            <a:picLocks noChangeAspect="1"/>
          </p:cNvPicPr>
          <p:nvPr/>
        </p:nvPicPr>
        <p:blipFill>
          <a:blip r:embed="rId4"/>
          <a:stretch>
            <a:fillRect/>
          </a:stretch>
        </p:blipFill>
        <p:spPr>
          <a:xfrm>
            <a:off x="7699248" y="1636776"/>
            <a:ext cx="1692000" cy="1833000"/>
          </a:xfrm>
          <a:prstGeom prst="rect">
            <a:avLst/>
          </a:prstGeom>
        </p:spPr>
      </p:pic>
      <p:sp>
        <p:nvSpPr>
          <p:cNvPr id="30" name="TextBox 29"/>
          <p:cNvSpPr txBox="1"/>
          <p:nvPr/>
        </p:nvSpPr>
        <p:spPr>
          <a:xfrm>
            <a:off x="7699068" y="3504257"/>
            <a:ext cx="1692000" cy="396000"/>
          </a:xfrm>
          <a:prstGeom prst="rect">
            <a:avLst/>
          </a:prstGeom>
          <a:noFill/>
        </p:spPr>
        <p:txBody>
          <a:bodyPr wrap="square" lIns="18000" tIns="0" rIns="18000" bIns="0">
            <a:spAutoFit/>
          </a:bodyPr>
          <a:lstStyle/>
          <a:p>
            <a:r>
              <a:rPr sz="1000" dirty="0" err="1">
                <a:solidFill>
                  <a:srgbClr val="404040"/>
                </a:solidFill>
                <a:latin typeface="メイリオ"/>
              </a:rPr>
              <a:t>実測</a:t>
            </a:r>
            <a:r>
              <a:rPr sz="1000" dirty="0">
                <a:solidFill>
                  <a:srgbClr val="404040"/>
                </a:solidFill>
                <a:latin typeface="メイリオ"/>
              </a:rPr>
              <a:t> 2026/8/18</a:t>
            </a:r>
          </a:p>
          <a:p>
            <a:r>
              <a:rPr sz="1000" dirty="0" err="1">
                <a:solidFill>
                  <a:srgbClr val="404040"/>
                </a:solidFill>
                <a:latin typeface="メイリオ"/>
              </a:rPr>
              <a:t>友だち</a:t>
            </a:r>
            <a:r>
              <a:rPr sz="1000" dirty="0">
                <a:solidFill>
                  <a:srgbClr val="404040"/>
                </a:solidFill>
                <a:latin typeface="メイリオ"/>
              </a:rPr>
              <a:t> 1,453,414人</a:t>
            </a:r>
          </a:p>
        </p:txBody>
      </p:sp>
      <p:pic>
        <p:nvPicPr>
          <p:cNvPr id="31" name="Picture 30" descr="pageline_curves_frame.png"/>
          <p:cNvPicPr>
            <a:picLocks noChangeAspect="1"/>
          </p:cNvPicPr>
          <p:nvPr/>
        </p:nvPicPr>
        <p:blipFill>
          <a:blip r:embed="rId5"/>
          <a:stretch>
            <a:fillRect/>
          </a:stretch>
        </p:blipFill>
        <p:spPr>
          <a:xfrm>
            <a:off x="5870448" y="1636776"/>
            <a:ext cx="1692000" cy="1833000"/>
          </a:xfrm>
          <a:prstGeom prst="rect">
            <a:avLst/>
          </a:prstGeom>
        </p:spPr>
      </p:pic>
    </p:spTree>
    <p:extLst>
      <p:ext uri="{BB962C8B-B14F-4D97-AF65-F5344CB8AC3E}">
        <p14:creationId xmlns:p14="http://schemas.microsoft.com/office/powerpoint/2010/main" val="153212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友だち追加から15日でアクティブ率が急落する。ジムの検討期間は数日〜2週間。</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この</a:t>
            </a:r>
            <a:r>
              <a:rPr sz="1400" dirty="0">
                <a:solidFill>
                  <a:srgbClr val="646C82"/>
                </a:solidFill>
                <a:latin typeface="メイリオ"/>
                <a:ea typeface="メイリオ"/>
              </a:rPr>
              <a:t>2つが重なるのが</a:t>
            </a:r>
            <a:r>
              <a:rPr sz="1400" b="1" dirty="0">
                <a:solidFill>
                  <a:srgbClr val="646C82"/>
                </a:solidFill>
                <a:latin typeface="メイリオ"/>
                <a:ea typeface="メイリオ"/>
              </a:rPr>
              <a:t>最初の14日。</a:t>
            </a: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368372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460466">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460466">
                <a:tc>
                  <a:txBody>
                    <a:bodyPr/>
                    <a:lstStyle/>
                    <a:p>
                      <a:pPr algn="l"/>
                      <a:r>
                        <a:rPr sz="1050" b="0">
                          <a:solidFill>
                            <a:srgbClr val="1C2233"/>
                          </a:solidFill>
                          <a:latin typeface="メイリオ"/>
                          <a:ea typeface="メイリオ"/>
                        </a:rPr>
                        <a:t>Day0</a:t>
                      </a:r>
                    </a:p>
                  </a:txBody>
                  <a:tcPr>
                    <a:solidFill>
                      <a:srgbClr val="FFFFFF"/>
                    </a:solidFill>
                  </a:tcPr>
                </a:tc>
                <a:tc>
                  <a:txBody>
                    <a:bodyPr/>
                    <a:lstStyle/>
                    <a:p>
                      <a:pPr algn="ctr"/>
                      <a:r>
                        <a:rPr sz="1050" b="0">
                          <a:solidFill>
                            <a:srgbClr val="1C2233"/>
                          </a:solidFill>
                          <a:latin typeface="メイリオ"/>
                          <a:ea typeface="メイリオ"/>
                        </a:rPr>
                        <a:t>属性取得</a:t>
                      </a:r>
                    </a:p>
                  </a:txBody>
                  <a:tcPr>
                    <a:solidFill>
                      <a:srgbClr val="FFFFFF"/>
                    </a:solidFill>
                  </a:tcPr>
                </a:tc>
                <a:tc>
                  <a:txBody>
                    <a:bodyPr/>
                    <a:lstStyle/>
                    <a:p>
                      <a:pPr algn="ctr"/>
                      <a:r>
                        <a:rPr sz="1050" b="0">
                          <a:solidFill>
                            <a:srgbClr val="1C2233"/>
                          </a:solidFill>
                          <a:latin typeface="メイリオ"/>
                          <a:ea typeface="メイリオ"/>
                        </a:rPr>
                        <a:t>あいさつ＋30秒 体づくりタイプ診断</a:t>
                      </a:r>
                    </a:p>
                  </a:txBody>
                  <a:tcPr>
                    <a:solidFill>
                      <a:srgbClr val="FFFFFF"/>
                    </a:solidFill>
                  </a:tcPr>
                </a:tc>
                <a:tc>
                  <a:txBody>
                    <a:bodyPr/>
                    <a:lstStyle/>
                    <a:p>
                      <a:pPr algn="ctr"/>
                      <a:r>
                        <a:rPr sz="1050" b="0">
                          <a:solidFill>
                            <a:srgbClr val="1C2233"/>
                          </a:solidFill>
                          <a:latin typeface="メイリオ"/>
                          <a:ea typeface="メイリオ"/>
                        </a:rPr>
                        <a:t>診断回答</a:t>
                      </a:r>
                    </a:p>
                  </a:txBody>
                  <a:tcPr>
                    <a:solidFill>
                      <a:srgbClr val="FFFFFF"/>
                    </a:solidFill>
                  </a:tcPr>
                </a:tc>
                <a:tc>
                  <a:txBody>
                    <a:bodyPr/>
                    <a:lstStyle/>
                    <a:p>
                      <a:pPr algn="ctr"/>
                      <a:r>
                        <a:rPr sz="1050" b="0">
                          <a:solidFill>
                            <a:srgbClr val="1C2233"/>
                          </a:solidFill>
                          <a:latin typeface="メイリオ"/>
                          <a:ea typeface="メイリオ"/>
                        </a:rPr>
                        <a:t>【30秒診断】あなたに合う通い方</a:t>
                      </a:r>
                    </a:p>
                  </a:txBody>
                  <a:tcPr>
                    <a:solidFill>
                      <a:srgbClr val="FFFFFF"/>
                    </a:solidFill>
                  </a:tcPr>
                </a:tc>
                <a:extLst>
                  <a:ext uri="{0D108BD9-81ED-4DB2-BD59-A6C34878D82A}">
                    <a16:rowId xmlns:a16="http://schemas.microsoft.com/office/drawing/2014/main" val="10001"/>
                  </a:ext>
                </a:extLst>
              </a:tr>
              <a:tr h="460466">
                <a:tc>
                  <a:txBody>
                    <a:bodyPr/>
                    <a:lstStyle/>
                    <a:p>
                      <a:pPr algn="l"/>
                      <a:r>
                        <a:rPr sz="1050" b="0">
                          <a:solidFill>
                            <a:srgbClr val="1C2233"/>
                          </a:solidFill>
                          <a:latin typeface="メイリオ"/>
                          <a:ea typeface="メイリオ"/>
                        </a:rPr>
                        <a:t>Day2</a:t>
                      </a:r>
                    </a:p>
                  </a:txBody>
                  <a:tcPr>
                    <a:solidFill>
                      <a:srgbClr val="EFF1F7"/>
                    </a:solidFill>
                  </a:tcPr>
                </a:tc>
                <a:tc>
                  <a:txBody>
                    <a:bodyPr/>
                    <a:lstStyle/>
                    <a:p>
                      <a:pPr algn="ctr"/>
                      <a:r>
                        <a:rPr sz="1050" b="0">
                          <a:solidFill>
                            <a:srgbClr val="1C2233"/>
                          </a:solidFill>
                          <a:latin typeface="メイリオ"/>
                          <a:ea typeface="メイリオ"/>
                        </a:rPr>
                        <a:t>初心者の不安</a:t>
                      </a:r>
                    </a:p>
                  </a:txBody>
                  <a:tcPr>
                    <a:solidFill>
                      <a:srgbClr val="EFF1F7"/>
                    </a:solidFill>
                  </a:tcPr>
                </a:tc>
                <a:tc>
                  <a:txBody>
                    <a:bodyPr/>
                    <a:lstStyle/>
                    <a:p>
                      <a:pPr algn="ctr"/>
                      <a:r>
                        <a:rPr sz="1050" b="0">
                          <a:solidFill>
                            <a:srgbClr val="1C2233"/>
                          </a:solidFill>
                          <a:latin typeface="メイリオ"/>
                          <a:ea typeface="メイリオ"/>
                        </a:rPr>
                        <a:t>タイプ別「最初の1ヶ月はこれだけ」＋マシンの使い方動画</a:t>
                      </a:r>
                    </a:p>
                  </a:txBody>
                  <a:tcPr>
                    <a:solidFill>
                      <a:srgbClr val="EFF1F7"/>
                    </a:solidFill>
                  </a:tcPr>
                </a:tc>
                <a:tc>
                  <a:txBody>
                    <a:bodyPr/>
                    <a:lstStyle/>
                    <a:p>
                      <a:pPr algn="ctr"/>
                      <a:r>
                        <a:rPr sz="1050" b="0">
                          <a:solidFill>
                            <a:srgbClr val="1C2233"/>
                          </a:solidFill>
                          <a:latin typeface="メイリオ"/>
                          <a:ea typeface="メイリオ"/>
                        </a:rPr>
                        <a:t>動画視聴</a:t>
                      </a:r>
                    </a:p>
                  </a:txBody>
                  <a:tcPr>
                    <a:solidFill>
                      <a:srgbClr val="EFF1F7"/>
                    </a:solidFill>
                  </a:tcPr>
                </a:tc>
                <a:tc>
                  <a:txBody>
                    <a:bodyPr/>
                    <a:lstStyle/>
                    <a:p>
                      <a:pPr algn="ctr"/>
                      <a:r>
                        <a:rPr sz="10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460466">
                <a:tc>
                  <a:txBody>
                    <a:bodyPr/>
                    <a:lstStyle/>
                    <a:p>
                      <a:pPr algn="l"/>
                      <a:r>
                        <a:rPr sz="1050" b="0">
                          <a:solidFill>
                            <a:srgbClr val="1C2233"/>
                          </a:solidFill>
                          <a:latin typeface="メイリオ"/>
                          <a:ea typeface="メイリオ"/>
                        </a:rPr>
                        <a:t>Day4</a:t>
                      </a:r>
                    </a:p>
                  </a:txBody>
                  <a:tcPr>
                    <a:solidFill>
                      <a:srgbClr val="FFFFFF"/>
                    </a:solidFill>
                  </a:tcPr>
                </a:tc>
                <a:tc>
                  <a:txBody>
                    <a:bodyPr/>
                    <a:lstStyle/>
                    <a:p>
                      <a:pPr algn="ctr"/>
                      <a:r>
                        <a:rPr sz="1050" b="0">
                          <a:solidFill>
                            <a:srgbClr val="1C2233"/>
                          </a:solidFill>
                          <a:latin typeface="メイリオ"/>
                          <a:ea typeface="メイリオ"/>
                        </a:rPr>
                        <a:t>費用の納得</a:t>
                      </a:r>
                    </a:p>
                  </a:txBody>
                  <a:tcPr>
                    <a:solidFill>
                      <a:srgbClr val="FFFFFF"/>
                    </a:solidFill>
                  </a:tcPr>
                </a:tc>
                <a:tc>
                  <a:txBody>
                    <a:bodyPr/>
                    <a:lstStyle/>
                    <a:p>
                      <a:pPr algn="ctr"/>
                      <a:r>
                        <a:rPr sz="1050" b="0">
                          <a:solidFill>
                            <a:srgbClr val="1C2233"/>
                          </a:solidFill>
                          <a:latin typeface="メイリオ"/>
                          <a:ea typeface="メイリオ"/>
                        </a:rPr>
                        <a:t>1分料金シミュレーター（週2回なら1回いくら？）</a:t>
                      </a:r>
                    </a:p>
                  </a:txBody>
                  <a:tcPr>
                    <a:solidFill>
                      <a:srgbClr val="FFFFFF"/>
                    </a:solidFill>
                  </a:tcPr>
                </a:tc>
                <a:tc>
                  <a:txBody>
                    <a:bodyPr/>
                    <a:lstStyle/>
                    <a:p>
                      <a:pPr algn="ctr"/>
                      <a:r>
                        <a:rPr sz="1050" b="0">
                          <a:solidFill>
                            <a:srgbClr val="1C2233"/>
                          </a:solidFill>
                          <a:latin typeface="メイリオ"/>
                          <a:ea typeface="メイリオ"/>
                        </a:rPr>
                        <a:t>料金診断</a:t>
                      </a:r>
                    </a:p>
                  </a:txBody>
                  <a:tcPr>
                    <a:solidFill>
                      <a:srgbClr val="FFFFFF"/>
                    </a:solidFill>
                  </a:tcPr>
                </a:tc>
                <a:tc>
                  <a:txBody>
                    <a:bodyPr/>
                    <a:lstStyle/>
                    <a:p>
                      <a:pPr algn="ctr"/>
                      <a:r>
                        <a:rPr sz="1050" b="0">
                          <a:solidFill>
                            <a:srgbClr val="1C2233"/>
                          </a:solidFill>
                          <a:latin typeface="メイリオ"/>
                          <a:ea typeface="メイリオ"/>
                        </a:rPr>
                        <a:t>【1回いくら？】週2回なら…</a:t>
                      </a:r>
                    </a:p>
                  </a:txBody>
                  <a:tcPr>
                    <a:solidFill>
                      <a:srgbClr val="FFFFFF"/>
                    </a:solidFill>
                  </a:tcPr>
                </a:tc>
                <a:extLst>
                  <a:ext uri="{0D108BD9-81ED-4DB2-BD59-A6C34878D82A}">
                    <a16:rowId xmlns:a16="http://schemas.microsoft.com/office/drawing/2014/main" val="10003"/>
                  </a:ext>
                </a:extLst>
              </a:tr>
              <a:tr h="460466">
                <a:tc>
                  <a:txBody>
                    <a:bodyPr/>
                    <a:lstStyle/>
                    <a:p>
                      <a:pPr algn="l"/>
                      <a:r>
                        <a:rPr sz="1050" b="0">
                          <a:solidFill>
                            <a:srgbClr val="1C2233"/>
                          </a:solidFill>
                          <a:latin typeface="メイリオ"/>
                          <a:ea typeface="メイリオ"/>
                        </a:rPr>
                        <a:t>Day6</a:t>
                      </a:r>
                    </a:p>
                  </a:txBody>
                  <a:tcPr>
                    <a:solidFill>
                      <a:srgbClr val="EFF1F7"/>
                    </a:solidFill>
                  </a:tcPr>
                </a:tc>
                <a:tc>
                  <a:txBody>
                    <a:bodyPr/>
                    <a:lstStyle/>
                    <a:p>
                      <a:pPr algn="ctr"/>
                      <a:r>
                        <a:rPr sz="1050" b="0">
                          <a:solidFill>
                            <a:srgbClr val="1C2233"/>
                          </a:solidFill>
                          <a:latin typeface="メイリオ"/>
                          <a:ea typeface="メイリオ"/>
                        </a:rPr>
                        <a:t>1回目のオファー</a:t>
                      </a:r>
                    </a:p>
                  </a:txBody>
                  <a:tcPr>
                    <a:solidFill>
                      <a:srgbClr val="EFF1F7"/>
                    </a:solidFill>
                  </a:tcPr>
                </a:tc>
                <a:tc>
                  <a:txBody>
                    <a:bodyPr/>
                    <a:lstStyle/>
                    <a:p>
                      <a:pPr algn="ctr"/>
                      <a:r>
                        <a:rPr sz="1050" b="0">
                          <a:solidFill>
                            <a:srgbClr val="1C2233"/>
                          </a:solidFill>
                          <a:latin typeface="メイリオ"/>
                          <a:ea typeface="メイリオ"/>
                        </a:rPr>
                        <a:t>無料体験のご案内＋「見学だけでもOK・入会を迫りません」</a:t>
                      </a:r>
                    </a:p>
                  </a:txBody>
                  <a:tcPr>
                    <a:solidFill>
                      <a:srgbClr val="EFF1F7"/>
                    </a:solidFill>
                  </a:tcPr>
                </a:tc>
                <a:tc>
                  <a:txBody>
                    <a:bodyPr/>
                    <a:lstStyle/>
                    <a:p>
                      <a:pPr algn="ctr"/>
                      <a:r>
                        <a:rPr sz="1050" b="1">
                          <a:solidFill>
                            <a:srgbClr val="FFFFFF"/>
                          </a:solidFill>
                          <a:latin typeface="メイリオ"/>
                          <a:ea typeface="メイリオ"/>
                        </a:rPr>
                        <a:t>体験予約 CV①</a:t>
                      </a:r>
                    </a:p>
                  </a:txBody>
                  <a:tcPr>
                    <a:solidFill>
                      <a:srgbClr val="BF4E0E"/>
                    </a:solidFill>
                  </a:tcPr>
                </a:tc>
                <a:tc>
                  <a:txBody>
                    <a:bodyPr/>
                    <a:lstStyle/>
                    <a:p>
                      <a:pPr algn="ctr"/>
                      <a:r>
                        <a:rPr sz="10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4"/>
                  </a:ext>
                </a:extLst>
              </a:tr>
              <a:tr h="460466">
                <a:tc>
                  <a:txBody>
                    <a:bodyPr/>
                    <a:lstStyle/>
                    <a:p>
                      <a:pPr algn="l"/>
                      <a:r>
                        <a:rPr sz="1050" b="0">
                          <a:solidFill>
                            <a:srgbClr val="1C2233"/>
                          </a:solidFill>
                          <a:latin typeface="メイリオ"/>
                          <a:ea typeface="メイリオ"/>
                        </a:rPr>
                        <a:t>Day8</a:t>
                      </a:r>
                    </a:p>
                  </a:txBody>
                  <a:tcPr>
                    <a:solidFill>
                      <a:srgbClr val="FFFFFF"/>
                    </a:solidFill>
                  </a:tcPr>
                </a:tc>
                <a:tc>
                  <a:txBody>
                    <a:bodyPr/>
                    <a:lstStyle/>
                    <a:p>
                      <a:pPr algn="ctr"/>
                      <a:r>
                        <a:rPr sz="1050" b="0">
                          <a:solidFill>
                            <a:srgbClr val="1C2233"/>
                          </a:solidFill>
                          <a:latin typeface="メイリオ"/>
                          <a:ea typeface="メイリオ"/>
                        </a:rPr>
                        <a:t>社会的証明</a:t>
                      </a:r>
                    </a:p>
                  </a:txBody>
                  <a:tcPr>
                    <a:solidFill>
                      <a:srgbClr val="FFFFFF"/>
                    </a:solidFill>
                  </a:tcPr>
                </a:tc>
                <a:tc>
                  <a:txBody>
                    <a:bodyPr/>
                    <a:lstStyle/>
                    <a:p>
                      <a:pPr algn="ctr"/>
                      <a:r>
                        <a:rPr sz="1050" b="0">
                          <a:solidFill>
                            <a:srgbClr val="1C2233"/>
                          </a:solidFill>
                          <a:latin typeface="メイリオ"/>
                          <a:ea typeface="メイリオ"/>
                        </a:rPr>
                        <a:t>同年代・同目的の会員の声／続いている人の共通点</a:t>
                      </a:r>
                    </a:p>
                  </a:txBody>
                  <a:tcPr>
                    <a:solidFill>
                      <a:srgbClr val="FFFFFF"/>
                    </a:solidFill>
                  </a:tcPr>
                </a:tc>
                <a:tc>
                  <a:txBody>
                    <a:bodyPr/>
                    <a:lstStyle/>
                    <a:p>
                      <a:pPr algn="ctr"/>
                      <a:r>
                        <a:rPr sz="1050" b="0">
                          <a:solidFill>
                            <a:srgbClr val="1C2233"/>
                          </a:solidFill>
                          <a:latin typeface="メイリオ"/>
                          <a:ea typeface="メイリオ"/>
                        </a:rPr>
                        <a:t>事例閲覧</a:t>
                      </a:r>
                    </a:p>
                  </a:txBody>
                  <a:tcPr>
                    <a:solidFill>
                      <a:srgbClr val="FFFFFF"/>
                    </a:solidFill>
                  </a:tcPr>
                </a:tc>
                <a:tc>
                  <a:txBody>
                    <a:bodyPr/>
                    <a:lstStyle/>
                    <a:p>
                      <a:pPr algn="ctr"/>
                      <a:r>
                        <a:rPr sz="1050" b="0">
                          <a:solidFill>
                            <a:srgbClr val="1C2233"/>
                          </a:solidFill>
                          <a:latin typeface="メイリオ"/>
                          <a:ea typeface="メイリオ"/>
                        </a:rPr>
                        <a:t>【40代・初心者】3ヶ月後の変化</a:t>
                      </a:r>
                    </a:p>
                  </a:txBody>
                  <a:tcPr>
                    <a:solidFill>
                      <a:srgbClr val="FFFFFF"/>
                    </a:solidFill>
                  </a:tcPr>
                </a:tc>
                <a:extLst>
                  <a:ext uri="{0D108BD9-81ED-4DB2-BD59-A6C34878D82A}">
                    <a16:rowId xmlns:a16="http://schemas.microsoft.com/office/drawing/2014/main" val="10005"/>
                  </a:ext>
                </a:extLst>
              </a:tr>
              <a:tr h="460466">
                <a:tc>
                  <a:txBody>
                    <a:bodyPr/>
                    <a:lstStyle/>
                    <a:p>
                      <a:pPr algn="l"/>
                      <a:r>
                        <a:rPr sz="1050" b="0">
                          <a:solidFill>
                            <a:srgbClr val="1C2233"/>
                          </a:solidFill>
                          <a:latin typeface="メイリオ"/>
                          <a:ea typeface="メイリオ"/>
                        </a:rPr>
                        <a:t>Day11</a:t>
                      </a:r>
                    </a:p>
                  </a:txBody>
                  <a:tcPr>
                    <a:solidFill>
                      <a:srgbClr val="EFF1F7"/>
                    </a:solidFill>
                  </a:tcPr>
                </a:tc>
                <a:tc>
                  <a:txBody>
                    <a:bodyPr/>
                    <a:lstStyle/>
                    <a:p>
                      <a:pPr algn="ctr"/>
                      <a:r>
                        <a:rPr sz="1050" b="0">
                          <a:solidFill>
                            <a:srgbClr val="1C2233"/>
                          </a:solidFill>
                          <a:latin typeface="メイリオ"/>
                          <a:ea typeface="メイリオ"/>
                        </a:rPr>
                        <a:t>疑問の除去</a:t>
                      </a:r>
                    </a:p>
                  </a:txBody>
                  <a:tcPr>
                    <a:solidFill>
                      <a:srgbClr val="EFF1F7"/>
                    </a:solidFill>
                  </a:tcPr>
                </a:tc>
                <a:tc>
                  <a:txBody>
                    <a:bodyPr/>
                    <a:lstStyle/>
                    <a:p>
                      <a:pPr algn="ctr"/>
                      <a:r>
                        <a:rPr sz="1050" b="0">
                          <a:solidFill>
                            <a:srgbClr val="1C2233"/>
                          </a:solidFill>
                          <a:latin typeface="メイリオ"/>
                          <a:ea typeface="メイリオ"/>
                        </a:rPr>
                        <a:t>不安Q&amp;A（勧誘／解約／シャワー／混雑時間／持ち物）＋チャット相談</a:t>
                      </a:r>
                    </a:p>
                  </a:txBody>
                  <a:tcPr>
                    <a:solidFill>
                      <a:srgbClr val="EFF1F7"/>
                    </a:solidFill>
                  </a:tcPr>
                </a:tc>
                <a:tc>
                  <a:txBody>
                    <a:bodyPr/>
                    <a:lstStyle/>
                    <a:p>
                      <a:pPr algn="ctr"/>
                      <a:r>
                        <a:rPr sz="1050" b="0">
                          <a:solidFill>
                            <a:srgbClr val="1C2233"/>
                          </a:solidFill>
                          <a:latin typeface="メイリオ"/>
                          <a:ea typeface="メイリオ"/>
                        </a:rPr>
                        <a:t>チャット相談</a:t>
                      </a:r>
                    </a:p>
                  </a:txBody>
                  <a:tcPr>
                    <a:solidFill>
                      <a:srgbClr val="EFF1F7"/>
                    </a:solidFill>
                  </a:tcPr>
                </a:tc>
                <a:tc>
                  <a:txBody>
                    <a:bodyPr/>
                    <a:lstStyle/>
                    <a:p>
                      <a:pPr algn="ctr"/>
                      <a:r>
                        <a:rPr sz="1050" b="0">
                          <a:solidFill>
                            <a:srgbClr val="1C2233"/>
                          </a:solidFill>
                          <a:latin typeface="メイリオ"/>
                          <a:ea typeface="メイリオ"/>
                        </a:rPr>
                        <a:t>【解約もOK】よくあるご質問</a:t>
                      </a:r>
                    </a:p>
                  </a:txBody>
                  <a:tcPr>
                    <a:solidFill>
                      <a:srgbClr val="EFF1F7"/>
                    </a:solidFill>
                  </a:tcPr>
                </a:tc>
                <a:extLst>
                  <a:ext uri="{0D108BD9-81ED-4DB2-BD59-A6C34878D82A}">
                    <a16:rowId xmlns:a16="http://schemas.microsoft.com/office/drawing/2014/main" val="10006"/>
                  </a:ext>
                </a:extLst>
              </a:tr>
              <a:tr h="460466">
                <a:tc>
                  <a:txBody>
                    <a:bodyPr/>
                    <a:lstStyle/>
                    <a:p>
                      <a:pPr algn="l"/>
                      <a:r>
                        <a:rPr sz="1050" b="0">
                          <a:solidFill>
                            <a:srgbClr val="1C2233"/>
                          </a:solidFill>
                          <a:latin typeface="メイリオ"/>
                          <a:ea typeface="メイリオ"/>
                        </a:rPr>
                        <a:t>Day14</a:t>
                      </a:r>
                    </a:p>
                  </a:txBody>
                  <a:tcPr>
                    <a:solidFill>
                      <a:srgbClr val="FFFFFF"/>
                    </a:solidFill>
                  </a:tcPr>
                </a:tc>
                <a:tc>
                  <a:txBody>
                    <a:bodyPr/>
                    <a:lstStyle/>
                    <a:p>
                      <a:pPr algn="ctr"/>
                      <a:r>
                        <a:rPr sz="1050" b="0">
                          <a:solidFill>
                            <a:srgbClr val="1C2233"/>
                          </a:solidFill>
                          <a:latin typeface="メイリオ"/>
                          <a:ea typeface="メイリオ"/>
                        </a:rPr>
                        <a:t>最終オファー</a:t>
                      </a:r>
                    </a:p>
                  </a:txBody>
                  <a:tcPr>
                    <a:solidFill>
                      <a:srgbClr val="FFFFFF"/>
                    </a:solidFill>
                  </a:tcPr>
                </a:tc>
                <a:tc>
                  <a:txBody>
                    <a:bodyPr/>
                    <a:lstStyle/>
                    <a:p>
                      <a:pPr algn="ctr"/>
                      <a:r>
                        <a:rPr sz="1050" b="0" dirty="0">
                          <a:solidFill>
                            <a:srgbClr val="1C2233"/>
                          </a:solidFill>
                          <a:latin typeface="メイリオ"/>
                          <a:ea typeface="メイリオ"/>
                        </a:rPr>
                        <a:t>入会金無料・事務手数料0円＋体験枠の残数</a:t>
                      </a:r>
                    </a:p>
                  </a:txBody>
                  <a:tcPr>
                    <a:solidFill>
                      <a:srgbClr val="FFFFFF"/>
                    </a:solidFill>
                  </a:tcPr>
                </a:tc>
                <a:tc>
                  <a:txBody>
                    <a:bodyPr/>
                    <a:lstStyle/>
                    <a:p>
                      <a:pPr algn="ctr"/>
                      <a:r>
                        <a:rPr sz="1050" b="1">
                          <a:solidFill>
                            <a:srgbClr val="FFFFFF"/>
                          </a:solidFill>
                          <a:latin typeface="メイリオ"/>
                          <a:ea typeface="メイリオ"/>
                        </a:rPr>
                        <a:t>体験予約（再）</a:t>
                      </a:r>
                    </a:p>
                  </a:txBody>
                  <a:tcPr>
                    <a:solidFill>
                      <a:srgbClr val="1F2A5C"/>
                    </a:solidFill>
                  </a:tcPr>
                </a:tc>
                <a:tc>
                  <a:txBody>
                    <a:bodyPr/>
                    <a:lstStyle/>
                    <a:p>
                      <a:pPr algn="ctr"/>
                      <a:r>
                        <a:rPr sz="1050" b="0" dirty="0">
                          <a:solidFill>
                            <a:srgbClr val="1C2233"/>
                          </a:solidFill>
                          <a:latin typeface="メイリオ"/>
                          <a:ea typeface="メイリオ"/>
                        </a:rPr>
                        <a:t>【残3枠】今月の体験ご予約</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84048" y="5216435"/>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CV地点は1つ、オファーは2回</a:t>
            </a:r>
          </a:p>
          <a:p>
            <a:pPr algn="l">
              <a:spcBef>
                <a:spcPts val="200"/>
              </a:spcBef>
            </a:pPr>
            <a:r>
              <a:rPr sz="1100" b="0" dirty="0" err="1">
                <a:solidFill>
                  <a:srgbClr val="1C2233"/>
                </a:solidFill>
                <a:latin typeface="メイリオ"/>
                <a:ea typeface="メイリオ"/>
              </a:rPr>
              <a:t>CVは体験予約【CV</a:t>
            </a:r>
            <a:r>
              <a:rPr sz="1100" b="0" dirty="0">
                <a:solidFill>
                  <a:srgbClr val="1C2233"/>
                </a:solidFill>
                <a:latin typeface="メイリオ"/>
                <a:ea typeface="メイリオ"/>
              </a:rPr>
              <a:t>①】</a:t>
            </a:r>
            <a:r>
              <a:rPr sz="1100" b="0" dirty="0" err="1">
                <a:solidFill>
                  <a:srgbClr val="1C2233"/>
                </a:solidFill>
                <a:latin typeface="メイリオ"/>
                <a:ea typeface="メイリオ"/>
              </a:rPr>
              <a:t>のみ</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r>
              <a:rPr sz="1100" b="0" dirty="0">
                <a:solidFill>
                  <a:srgbClr val="1C2233"/>
                </a:solidFill>
                <a:latin typeface="メイリオ"/>
                <a:ea typeface="メイリオ"/>
              </a:rPr>
              <a:t>Day6とDay14の2回訴求し、1回で終わらせない。</a:t>
            </a:r>
          </a:p>
        </p:txBody>
      </p:sp>
      <p:sp>
        <p:nvSpPr>
          <p:cNvPr id="6" name="Rounded Rectangle 5"/>
          <p:cNvSpPr/>
          <p:nvPr/>
        </p:nvSpPr>
        <p:spPr>
          <a:xfrm>
            <a:off x="3383279" y="5216435"/>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Day6に「迫りません」と書く</a:t>
            </a:r>
          </a:p>
          <a:p>
            <a:pPr algn="l">
              <a:spcBef>
                <a:spcPts val="200"/>
              </a:spcBef>
            </a:pPr>
            <a:r>
              <a:rPr sz="1100" b="0" dirty="0" err="1">
                <a:solidFill>
                  <a:srgbClr val="1C2233"/>
                </a:solidFill>
                <a:latin typeface="メイリオ"/>
                <a:ea typeface="メイリオ"/>
              </a:rPr>
              <a:t>押し売り拒絶への直接回答</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p>
          <a:p>
            <a:pPr algn="l">
              <a:spcBef>
                <a:spcPts val="200"/>
              </a:spcBef>
            </a:pPr>
            <a:r>
              <a:rPr sz="1100" b="0" dirty="0" err="1">
                <a:solidFill>
                  <a:srgbClr val="1C2233"/>
                </a:solidFill>
                <a:latin typeface="メイリオ"/>
                <a:ea typeface="メイリオ"/>
              </a:rPr>
              <a:t>この業界の最重要コピ</a:t>
            </a:r>
            <a:r>
              <a:rPr sz="1100" b="0" dirty="0">
                <a:solidFill>
                  <a:srgbClr val="1C2233"/>
                </a:solidFill>
                <a:latin typeface="メイリオ"/>
                <a:ea typeface="メイリオ"/>
              </a:rPr>
              <a:t>ー。</a:t>
            </a:r>
          </a:p>
        </p:txBody>
      </p:sp>
      <p:sp>
        <p:nvSpPr>
          <p:cNvPr id="7" name="Rounded Rectangle 6"/>
          <p:cNvSpPr/>
          <p:nvPr/>
        </p:nvSpPr>
        <p:spPr>
          <a:xfrm>
            <a:off x="6382512" y="5216435"/>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Day11で自ら「解約」に触れる</a:t>
            </a:r>
          </a:p>
          <a:p>
            <a:pPr algn="l">
              <a:spcBef>
                <a:spcPts val="200"/>
              </a:spcBef>
            </a:pPr>
            <a:r>
              <a:rPr sz="1100" b="0" dirty="0" err="1">
                <a:solidFill>
                  <a:srgbClr val="1C2233"/>
                </a:solidFill>
                <a:latin typeface="メイリオ"/>
                <a:ea typeface="メイリオ"/>
              </a:rPr>
              <a:t>隠すより先に出したほうが信頼される</a:t>
            </a:r>
            <a:r>
              <a:rPr sz="1100" b="0" dirty="0">
                <a:solidFill>
                  <a:srgbClr val="1C2233"/>
                </a:solidFill>
                <a:latin typeface="メイリオ"/>
                <a:ea typeface="メイリオ"/>
              </a:rPr>
              <a:t>。</a:t>
            </a:r>
          </a:p>
        </p:txBody>
      </p:sp>
      <p:sp>
        <p:nvSpPr>
          <p:cNvPr id="8" name="TextBox 7"/>
          <p:cNvSpPr txBox="1"/>
          <p:nvPr/>
        </p:nvSpPr>
        <p:spPr>
          <a:xfrm>
            <a:off x="384048" y="6267995"/>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Day15以降は「開始時期」セグメントの定常配信へ合流。予約者はステップから除外し、予約確定通知→前日リマインドへ分岐。</a:t>
            </a:r>
          </a:p>
        </p:txBody>
      </p:sp>
    </p:spTree>
    <p:extLst>
      <p:ext uri="{BB962C8B-B14F-4D97-AF65-F5344CB8AC3E}">
        <p14:creationId xmlns:p14="http://schemas.microsoft.com/office/powerpoint/2010/main" val="1098718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6" name="Rounded Rectangle 5"/>
          <p:cNvSpPr/>
          <p:nvPr/>
        </p:nvSpPr>
        <p:spPr>
          <a:xfrm>
            <a:off x="385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無料体験を予約</a:t>
            </a:r>
          </a:p>
          <a:p>
            <a:pPr algn="ctr">
              <a:spcBef>
                <a:spcPts val="200"/>
              </a:spcBef>
            </a:pPr>
            <a:r>
              <a:rPr sz="1000" b="0">
                <a:solidFill>
                  <a:srgbClr val="1C2233"/>
                </a:solidFill>
                <a:latin typeface="メイリオ"/>
                <a:ea typeface="メイリオ"/>
              </a:rPr>
              <a:t>最重要CTA</a:t>
            </a:r>
          </a:p>
        </p:txBody>
      </p:sp>
      <p:sp>
        <p:nvSpPr>
          <p:cNvPr id="7" name="Rounded Rectangle 6"/>
          <p:cNvSpPr/>
          <p:nvPr/>
        </p:nvSpPr>
        <p:spPr>
          <a:xfrm>
            <a:off x="1328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店舗を探す</a:t>
            </a:r>
          </a:p>
          <a:p>
            <a:pPr algn="ctr">
              <a:spcBef>
                <a:spcPts val="200"/>
              </a:spcBef>
            </a:pPr>
            <a:r>
              <a:rPr sz="1000" b="0">
                <a:solidFill>
                  <a:srgbClr val="1C2233"/>
                </a:solidFill>
                <a:latin typeface="メイリオ"/>
                <a:ea typeface="メイリオ"/>
              </a:rPr>
              <a:t>立地が決め手</a:t>
            </a:r>
          </a:p>
        </p:txBody>
      </p:sp>
      <p:sp>
        <p:nvSpPr>
          <p:cNvPr id="8" name="Rounded Rectangle 7"/>
          <p:cNvSpPr/>
          <p:nvPr/>
        </p:nvSpPr>
        <p:spPr>
          <a:xfrm>
            <a:off x="22716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設備・マシン</a:t>
            </a:r>
          </a:p>
          <a:p>
            <a:pPr algn="ctr">
              <a:spcBef>
                <a:spcPts val="200"/>
              </a:spcBef>
            </a:pPr>
            <a:r>
              <a:rPr sz="1000" b="0">
                <a:solidFill>
                  <a:srgbClr val="1C2233"/>
                </a:solidFill>
                <a:latin typeface="メイリオ"/>
                <a:ea typeface="メイリオ"/>
              </a:rPr>
              <a:t>使えるか不安</a:t>
            </a:r>
          </a:p>
        </p:txBody>
      </p:sp>
      <p:sp>
        <p:nvSpPr>
          <p:cNvPr id="9" name="Rounded Rectangle 8"/>
          <p:cNvSpPr/>
          <p:nvPr/>
        </p:nvSpPr>
        <p:spPr>
          <a:xfrm>
            <a:off x="385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料金プラン</a:t>
            </a:r>
          </a:p>
          <a:p>
            <a:pPr algn="ctr">
              <a:spcBef>
                <a:spcPts val="200"/>
              </a:spcBef>
            </a:pPr>
            <a:r>
              <a:rPr sz="1000" b="0">
                <a:solidFill>
                  <a:srgbClr val="1C2233"/>
                </a:solidFill>
                <a:latin typeface="メイリオ"/>
                <a:ea typeface="メイリオ"/>
              </a:rPr>
              <a:t>隠さない</a:t>
            </a:r>
          </a:p>
        </p:txBody>
      </p:sp>
      <p:sp>
        <p:nvSpPr>
          <p:cNvPr id="10" name="Rounded Rectangle 9"/>
          <p:cNvSpPr/>
          <p:nvPr/>
        </p:nvSpPr>
        <p:spPr>
          <a:xfrm>
            <a:off x="1328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24時間の使い方</a:t>
            </a:r>
          </a:p>
          <a:p>
            <a:pPr algn="ctr">
              <a:spcBef>
                <a:spcPts val="200"/>
              </a:spcBef>
            </a:pPr>
            <a:r>
              <a:rPr sz="1000" b="0">
                <a:solidFill>
                  <a:srgbClr val="1C2233"/>
                </a:solidFill>
                <a:latin typeface="メイリオ"/>
                <a:ea typeface="メイリオ"/>
              </a:rPr>
              <a:t>無人帯の不安</a:t>
            </a:r>
          </a:p>
        </p:txBody>
      </p:sp>
      <p:sp>
        <p:nvSpPr>
          <p:cNvPr id="11" name="Rounded Rectangle 10"/>
          <p:cNvSpPr/>
          <p:nvPr/>
        </p:nvSpPr>
        <p:spPr>
          <a:xfrm>
            <a:off x="22716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アクセス・駐車場</a:t>
            </a:r>
          </a:p>
          <a:p>
            <a:pPr algn="ctr">
              <a:spcBef>
                <a:spcPts val="200"/>
              </a:spcBef>
            </a:pPr>
            <a:r>
              <a:rPr sz="1000" b="0">
                <a:solidFill>
                  <a:srgbClr val="1C2233"/>
                </a:solidFill>
                <a:latin typeface="メイリオ"/>
                <a:ea typeface="メイリオ"/>
              </a:rPr>
              <a:t>直前の実務</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14" name="Rounded Rectangle 13"/>
          <p:cNvSpPr/>
          <p:nvPr/>
        </p:nvSpPr>
        <p:spPr>
          <a:xfrm>
            <a:off x="3384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30秒 体づくり診断</a:t>
            </a:r>
          </a:p>
          <a:p>
            <a:pPr algn="ctr">
              <a:spcBef>
                <a:spcPts val="200"/>
              </a:spcBef>
            </a:pPr>
            <a:r>
              <a:rPr sz="1000" b="0">
                <a:solidFill>
                  <a:srgbClr val="1C2233"/>
                </a:solidFill>
                <a:latin typeface="メイリオ"/>
                <a:ea typeface="メイリオ"/>
              </a:rPr>
              <a:t>属性取得の本体</a:t>
            </a:r>
          </a:p>
        </p:txBody>
      </p:sp>
      <p:sp>
        <p:nvSpPr>
          <p:cNvPr id="15" name="Rounded Rectangle 14"/>
          <p:cNvSpPr/>
          <p:nvPr/>
        </p:nvSpPr>
        <p:spPr>
          <a:xfrm>
            <a:off x="4327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1分 料金診断</a:t>
            </a:r>
          </a:p>
          <a:p>
            <a:pPr algn="ctr">
              <a:spcBef>
                <a:spcPts val="200"/>
              </a:spcBef>
            </a:pPr>
            <a:r>
              <a:rPr sz="1000" b="0">
                <a:solidFill>
                  <a:srgbClr val="1C2233"/>
                </a:solidFill>
                <a:latin typeface="メイリオ"/>
                <a:ea typeface="メイリオ"/>
              </a:rPr>
              <a:t>1回あたりで見せる</a:t>
            </a:r>
          </a:p>
        </p:txBody>
      </p:sp>
      <p:sp>
        <p:nvSpPr>
          <p:cNvPr id="16" name="Rounded Rectangle 15"/>
          <p:cNvSpPr/>
          <p:nvPr/>
        </p:nvSpPr>
        <p:spPr>
          <a:xfrm>
            <a:off x="5270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初心者メニュー</a:t>
            </a:r>
          </a:p>
          <a:p>
            <a:pPr algn="ctr">
              <a:spcBef>
                <a:spcPts val="200"/>
              </a:spcBef>
            </a:pPr>
            <a:r>
              <a:rPr sz="1000" b="0">
                <a:solidFill>
                  <a:srgbClr val="1C2233"/>
                </a:solidFill>
                <a:latin typeface="メイリオ"/>
                <a:ea typeface="メイリオ"/>
              </a:rPr>
              <a:t>最多の不安</a:t>
            </a:r>
          </a:p>
        </p:txBody>
      </p:sp>
      <p:sp>
        <p:nvSpPr>
          <p:cNvPr id="17" name="Rounded Rectangle 16"/>
          <p:cNvSpPr/>
          <p:nvPr/>
        </p:nvSpPr>
        <p:spPr>
          <a:xfrm>
            <a:off x="3384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続けられるか診断</a:t>
            </a:r>
          </a:p>
          <a:p>
            <a:pPr algn="ctr">
              <a:spcBef>
                <a:spcPts val="200"/>
              </a:spcBef>
            </a:pPr>
            <a:r>
              <a:rPr sz="1000" b="0">
                <a:solidFill>
                  <a:srgbClr val="1C2233"/>
                </a:solidFill>
                <a:latin typeface="メイリオ"/>
                <a:ea typeface="メイリオ"/>
              </a:rPr>
              <a:t>「続かない」に直撃</a:t>
            </a:r>
          </a:p>
        </p:txBody>
      </p:sp>
      <p:sp>
        <p:nvSpPr>
          <p:cNvPr id="18" name="Rounded Rectangle 17"/>
          <p:cNvSpPr/>
          <p:nvPr/>
        </p:nvSpPr>
        <p:spPr>
          <a:xfrm>
            <a:off x="4327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よくある質問</a:t>
            </a:r>
          </a:p>
          <a:p>
            <a:pPr algn="ctr">
              <a:spcBef>
                <a:spcPts val="200"/>
              </a:spcBef>
            </a:pPr>
            <a:r>
              <a:rPr sz="1000" b="0">
                <a:solidFill>
                  <a:srgbClr val="1C2233"/>
                </a:solidFill>
                <a:latin typeface="メイリオ"/>
                <a:ea typeface="メイリオ"/>
              </a:rPr>
              <a:t>勧誘・解約</a:t>
            </a:r>
          </a:p>
        </p:txBody>
      </p:sp>
      <p:sp>
        <p:nvSpPr>
          <p:cNvPr id="19" name="Rounded Rectangle 18"/>
          <p:cNvSpPr/>
          <p:nvPr/>
        </p:nvSpPr>
        <p:spPr>
          <a:xfrm>
            <a:off x="5270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チャットで相談</a:t>
            </a:r>
          </a:p>
          <a:p>
            <a:pPr algn="ctr">
              <a:spcBef>
                <a:spcPts val="200"/>
              </a:spcBef>
            </a:pPr>
            <a:r>
              <a:rPr sz="1000" b="0">
                <a:solidFill>
                  <a:srgbClr val="1C2233"/>
                </a:solidFill>
                <a:latin typeface="メイリオ"/>
                <a:ea typeface="メイリオ"/>
              </a:rPr>
              <a:t>有人への逃げ道</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2" name="Rounded Rectangle 21"/>
          <p:cNvSpPr/>
          <p:nvPr/>
        </p:nvSpPr>
        <p:spPr>
          <a:xfrm>
            <a:off x="63828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会員コード</a:t>
            </a:r>
          </a:p>
          <a:p>
            <a:pPr algn="ctr">
              <a:spcBef>
                <a:spcPts val="200"/>
              </a:spcBef>
            </a:pPr>
            <a:r>
              <a:rPr sz="1000" b="0">
                <a:solidFill>
                  <a:srgbClr val="1C2233"/>
                </a:solidFill>
                <a:latin typeface="メイリオ"/>
                <a:ea typeface="メイリオ"/>
              </a:rPr>
              <a:t>毎日開く理由</a:t>
            </a:r>
          </a:p>
        </p:txBody>
      </p:sp>
      <p:sp>
        <p:nvSpPr>
          <p:cNvPr id="23" name="Rounded Rectangle 22"/>
          <p:cNvSpPr/>
          <p:nvPr/>
        </p:nvSpPr>
        <p:spPr>
          <a:xfrm>
            <a:off x="7326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レッスン予約</a:t>
            </a:r>
          </a:p>
          <a:p>
            <a:pPr algn="ctr">
              <a:spcBef>
                <a:spcPts val="200"/>
              </a:spcBef>
            </a:pPr>
            <a:r>
              <a:rPr sz="1000" b="0">
                <a:solidFill>
                  <a:srgbClr val="1C2233"/>
                </a:solidFill>
                <a:latin typeface="メイリオ"/>
                <a:ea typeface="メイリオ"/>
              </a:rPr>
              <a:t>来館の動機</a:t>
            </a:r>
          </a:p>
        </p:txBody>
      </p:sp>
      <p:sp>
        <p:nvSpPr>
          <p:cNvPr id="24" name="Rounded Rectangle 23"/>
          <p:cNvSpPr/>
          <p:nvPr/>
        </p:nvSpPr>
        <p:spPr>
          <a:xfrm>
            <a:off x="8269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トレーニング記録</a:t>
            </a:r>
          </a:p>
          <a:p>
            <a:pPr algn="ctr">
              <a:spcBef>
                <a:spcPts val="200"/>
              </a:spcBef>
            </a:pPr>
            <a:r>
              <a:rPr sz="1000" b="0">
                <a:solidFill>
                  <a:srgbClr val="1C2233"/>
                </a:solidFill>
                <a:latin typeface="メイリオ"/>
                <a:ea typeface="メイリオ"/>
              </a:rPr>
              <a:t>継続の可視化</a:t>
            </a:r>
          </a:p>
        </p:txBody>
      </p:sp>
      <p:sp>
        <p:nvSpPr>
          <p:cNvPr id="25" name="Rounded Rectangle 24"/>
          <p:cNvSpPr/>
          <p:nvPr/>
        </p:nvSpPr>
        <p:spPr>
          <a:xfrm>
            <a:off x="63828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混雑状況</a:t>
            </a:r>
          </a:p>
          <a:p>
            <a:pPr algn="ctr">
              <a:spcBef>
                <a:spcPts val="200"/>
              </a:spcBef>
            </a:pPr>
            <a:r>
              <a:rPr sz="1000" b="0">
                <a:solidFill>
                  <a:srgbClr val="1C2233"/>
                </a:solidFill>
                <a:latin typeface="メイリオ"/>
                <a:ea typeface="メイリオ"/>
              </a:rPr>
              <a:t>来館ハードル減</a:t>
            </a:r>
          </a:p>
        </p:txBody>
      </p:sp>
      <p:sp>
        <p:nvSpPr>
          <p:cNvPr id="26" name="Rounded Rectangle 25"/>
          <p:cNvSpPr/>
          <p:nvPr/>
        </p:nvSpPr>
        <p:spPr>
          <a:xfrm>
            <a:off x="7326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お友達紹介</a:t>
            </a:r>
          </a:p>
          <a:p>
            <a:pPr algn="ctr">
              <a:spcBef>
                <a:spcPts val="200"/>
              </a:spcBef>
            </a:pPr>
            <a:r>
              <a:rPr sz="1000" b="0">
                <a:solidFill>
                  <a:srgbClr val="1C2233"/>
                </a:solidFill>
                <a:latin typeface="メイリオ"/>
                <a:ea typeface="メイリオ"/>
              </a:rPr>
              <a:t>CV③・ゼロコスト</a:t>
            </a:r>
          </a:p>
        </p:txBody>
      </p:sp>
      <p:sp>
        <p:nvSpPr>
          <p:cNvPr id="27" name="Rounded Rectangle 26"/>
          <p:cNvSpPr/>
          <p:nvPr/>
        </p:nvSpPr>
        <p:spPr>
          <a:xfrm>
            <a:off x="8269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休会・退会</a:t>
            </a:r>
          </a:p>
          <a:p>
            <a:pPr algn="ctr">
              <a:spcBef>
                <a:spcPts val="200"/>
              </a:spcBef>
            </a:pPr>
            <a:r>
              <a:rPr sz="1000" b="0">
                <a:solidFill>
                  <a:srgbClr val="1C2233"/>
                </a:solidFill>
                <a:latin typeface="メイリオ"/>
                <a:ea typeface="メイリオ"/>
              </a:rPr>
              <a:t>隠さない＝信頼</a:t>
            </a:r>
          </a:p>
        </p:txBody>
      </p:sp>
      <p:sp>
        <p:nvSpPr>
          <p:cNvPr id="28" name="Rectangle 27"/>
          <p:cNvSpPr/>
          <p:nvPr/>
        </p:nvSpPr>
        <p:spPr>
          <a:xfrm>
            <a:off x="384048" y="5413247"/>
            <a:ext cx="54864" cy="566929"/>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5413247"/>
            <a:ext cx="9089136" cy="566929"/>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04687"/>
            <a:ext cx="8814816" cy="430887"/>
          </a:xfrm>
          <a:prstGeom prst="rect">
            <a:avLst/>
          </a:prstGeom>
          <a:noFill/>
        </p:spPr>
        <p:txBody>
          <a:bodyPr wrap="square" lIns="0" tIns="0" rIns="0" bIns="0">
            <a:spAutoFit/>
          </a:bodyPr>
          <a:lstStyle/>
          <a:p>
            <a:r>
              <a:rPr sz="1400" b="0" dirty="0">
                <a:solidFill>
                  <a:srgbClr val="1C2233"/>
                </a:solidFill>
                <a:latin typeface="メイリオ"/>
                <a:ea typeface="メイリオ"/>
              </a:rPr>
              <a:t>実装はLINEリッチメニュー大サイズ（2500×1686px）／3列×2行（1マス833×843px）。</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入会タグで</a:t>
            </a:r>
            <a:r>
              <a:rPr sz="1400" b="0" dirty="0">
                <a:solidFill>
                  <a:srgbClr val="1C2233"/>
                </a:solidFill>
                <a:latin typeface="メイリオ"/>
                <a:ea typeface="メイリオ"/>
              </a:rPr>
              <a:t>①→③</a:t>
            </a:r>
            <a:r>
              <a:rPr sz="1400" b="0" dirty="0" err="1">
                <a:solidFill>
                  <a:srgbClr val="1C2233"/>
                </a:solidFill>
                <a:latin typeface="メイリオ"/>
                <a:ea typeface="メイリオ"/>
              </a:rPr>
              <a:t>に自動切替</a:t>
            </a:r>
            <a:r>
              <a:rPr sz="1400" b="0" dirty="0">
                <a:solidFill>
                  <a:srgbClr val="1C2233"/>
                </a:solidFill>
                <a:latin typeface="メイリオ"/>
                <a:ea typeface="メイリオ"/>
              </a:rPr>
              <a:t>。</a:t>
            </a: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62" y="1234440"/>
            <a:ext cx="8849262" cy="398678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8" name="Rectangle 27"/>
          <p:cNvSpPr/>
          <p:nvPr/>
        </p:nvSpPr>
        <p:spPr>
          <a:xfrm>
            <a:off x="384048" y="5525392"/>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5525392"/>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a:solidFill>
                  <a:srgbClr val="1C2233"/>
                </a:solidFill>
                <a:latin typeface="メイリオ"/>
                <a:ea typeface="メイリオ"/>
              </a:rPr>
              <a:t>大サイズ2500×1686px／3列×2行（1マス833×843px）。入会タグで①→③に自動切替。</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3"/>
          <a:stretch>
            <a:fillRect/>
          </a:stretch>
        </p:blipFill>
        <p:spPr>
          <a:xfrm>
            <a:off x="3383279" y="2521928"/>
            <a:ext cx="2788920"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1通目で予約は求めない。求めるのは診断への回答だけ。</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313660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0" dirty="0">
                <a:solidFill>
                  <a:srgbClr val="1C2233"/>
                </a:solidFill>
                <a:latin typeface="メイリオ"/>
                <a:ea typeface="メイリオ"/>
              </a:rPr>
              <a:t>【</a:t>
            </a:r>
            <a:r>
              <a:rPr sz="1200" b="0" dirty="0" err="1">
                <a:solidFill>
                  <a:srgbClr val="1C2233"/>
                </a:solidFill>
                <a:latin typeface="メイリオ"/>
                <a:ea typeface="メイリオ"/>
              </a:rPr>
              <a:t>〇〇フィットネス</a:t>
            </a:r>
            <a:r>
              <a:rPr sz="1200" b="0" dirty="0">
                <a:solidFill>
                  <a:srgbClr val="1C2233"/>
                </a:solidFill>
                <a:latin typeface="メイリオ"/>
                <a:ea typeface="メイリオ"/>
              </a:rPr>
              <a:t> △△店】</a:t>
            </a:r>
          </a:p>
          <a:p>
            <a:pPr algn="l">
              <a:spcBef>
                <a:spcPts val="0"/>
              </a:spcBef>
            </a:pPr>
            <a:r>
              <a:rPr sz="1200" b="0" dirty="0" err="1">
                <a:solidFill>
                  <a:srgbClr val="1C2233"/>
                </a:solidFill>
                <a:latin typeface="メイリオ"/>
                <a:ea typeface="メイリオ"/>
              </a:rPr>
              <a:t>友だち追加ありがとうございます</a:t>
            </a:r>
            <a:r>
              <a:rPr sz="1200" b="0" dirty="0">
                <a:solidFill>
                  <a:srgbClr val="1C2233"/>
                </a:solidFill>
                <a:latin typeface="メイリオ"/>
                <a:ea typeface="メイリオ"/>
              </a:rPr>
              <a:t>💪</a:t>
            </a:r>
          </a:p>
          <a:p>
            <a:pPr algn="l">
              <a:spcBef>
                <a:spcPts val="0"/>
              </a:spcBef>
            </a:pPr>
            <a:endParaRPr sz="1200" b="0" dirty="0">
              <a:solidFill>
                <a:srgbClr val="1C2233"/>
              </a:solidFill>
              <a:latin typeface="メイリオ"/>
              <a:ea typeface="メイリオ"/>
            </a:endParaRPr>
          </a:p>
          <a:p>
            <a:pPr algn="l">
              <a:spcBef>
                <a:spcPts val="0"/>
              </a:spcBef>
            </a:pPr>
            <a:r>
              <a:rPr sz="1200" b="0" dirty="0" err="1">
                <a:solidFill>
                  <a:srgbClr val="1C2233"/>
                </a:solidFill>
                <a:latin typeface="メイリオ"/>
                <a:ea typeface="メイリオ"/>
              </a:rPr>
              <a:t>はじめまして、店長の</a:t>
            </a:r>
            <a:r>
              <a:rPr sz="1200" b="0" dirty="0">
                <a:solidFill>
                  <a:srgbClr val="1C2233"/>
                </a:solidFill>
                <a:latin typeface="メイリオ"/>
                <a:ea typeface="メイリオ"/>
              </a:rPr>
              <a:t>○○</a:t>
            </a:r>
            <a:r>
              <a:rPr sz="1200" b="0" dirty="0" err="1">
                <a:solidFill>
                  <a:srgbClr val="1C2233"/>
                </a:solidFill>
                <a:latin typeface="メイリオ"/>
                <a:ea typeface="メイリオ"/>
              </a:rPr>
              <a:t>です</a:t>
            </a:r>
            <a:r>
              <a:rPr sz="1200" b="0" dirty="0">
                <a:solidFill>
                  <a:srgbClr val="1C2233"/>
                </a:solidFill>
                <a:latin typeface="メイリオ"/>
                <a:ea typeface="メイリオ"/>
              </a:rPr>
              <a:t>。</a:t>
            </a:r>
          </a:p>
          <a:p>
            <a:pPr algn="l">
              <a:spcBef>
                <a:spcPts val="0"/>
              </a:spcBef>
            </a:pPr>
            <a:r>
              <a:rPr sz="1200" b="0" dirty="0">
                <a:solidFill>
                  <a:srgbClr val="1C2233"/>
                </a:solidFill>
                <a:latin typeface="メイリオ"/>
                <a:ea typeface="メイリオ"/>
              </a:rPr>
              <a:t>「</a:t>
            </a:r>
            <a:r>
              <a:rPr sz="1200" b="0" dirty="0" err="1">
                <a:solidFill>
                  <a:srgbClr val="1C2233"/>
                </a:solidFill>
                <a:latin typeface="メイリオ"/>
                <a:ea typeface="メイリオ"/>
              </a:rPr>
              <a:t>続けられるか不安」という方が一番多いので</a:t>
            </a:r>
            <a:r>
              <a:rPr sz="1200" b="0" dirty="0">
                <a:solidFill>
                  <a:srgbClr val="1C2233"/>
                </a:solidFill>
                <a:latin typeface="メイリオ"/>
                <a:ea typeface="メイリオ"/>
              </a:rPr>
              <a:t>、</a:t>
            </a:r>
          </a:p>
          <a:p>
            <a:pPr algn="l">
              <a:spcBef>
                <a:spcPts val="0"/>
              </a:spcBef>
            </a:pPr>
            <a:r>
              <a:rPr sz="1200" b="0" dirty="0" err="1">
                <a:solidFill>
                  <a:srgbClr val="1C2233"/>
                </a:solidFill>
                <a:latin typeface="メイリオ"/>
                <a:ea typeface="メイリオ"/>
              </a:rPr>
              <a:t>まずはタイプを知るところから始めませんか</a:t>
            </a:r>
            <a:r>
              <a:rPr sz="1200" b="0" dirty="0">
                <a:solidFill>
                  <a:srgbClr val="1C2233"/>
                </a:solidFill>
                <a:latin typeface="メイリオ"/>
                <a:ea typeface="メイリオ"/>
              </a:rPr>
              <a:t>？</a:t>
            </a:r>
          </a:p>
          <a:p>
            <a:pPr algn="l">
              <a:spcBef>
                <a:spcPts val="0"/>
              </a:spcBef>
            </a:pPr>
            <a:endParaRPr sz="1200" b="0" dirty="0">
              <a:solidFill>
                <a:srgbClr val="1C2233"/>
              </a:solidFill>
              <a:latin typeface="メイリオ"/>
              <a:ea typeface="メイリオ"/>
            </a:endParaRPr>
          </a:p>
          <a:p>
            <a:pPr algn="l">
              <a:spcBef>
                <a:spcPts val="0"/>
              </a:spcBef>
            </a:pPr>
            <a:r>
              <a:rPr sz="1200" b="0" dirty="0">
                <a:solidFill>
                  <a:srgbClr val="1C2233"/>
                </a:solidFill>
                <a:latin typeface="メイリオ"/>
                <a:ea typeface="メイリオ"/>
              </a:rPr>
              <a:t>▶ 30秒でわかる「体づくりタイプ診断」</a:t>
            </a:r>
          </a:p>
          <a:p>
            <a:pPr algn="l">
              <a:spcBef>
                <a:spcPts val="0"/>
              </a:spcBef>
            </a:pPr>
            <a:r>
              <a:rPr sz="1200" b="0" dirty="0">
                <a:solidFill>
                  <a:srgbClr val="1C2233"/>
                </a:solidFill>
                <a:latin typeface="メイリオ"/>
                <a:ea typeface="メイリオ"/>
              </a:rPr>
              <a:t>4つの質問に答えるだけで、あなたに合う通い方と</a:t>
            </a:r>
          </a:p>
          <a:p>
            <a:pPr algn="l">
              <a:spcBef>
                <a:spcPts val="0"/>
              </a:spcBef>
            </a:pPr>
            <a:r>
              <a:rPr sz="1200" b="0" dirty="0" err="1">
                <a:solidFill>
                  <a:srgbClr val="1C2233"/>
                </a:solidFill>
                <a:latin typeface="メイリオ"/>
                <a:ea typeface="メイリオ"/>
              </a:rPr>
              <a:t>月々の目安をお送りします</a:t>
            </a:r>
            <a:r>
              <a:rPr sz="1200" b="0" dirty="0">
                <a:solidFill>
                  <a:srgbClr val="1C2233"/>
                </a:solidFill>
                <a:latin typeface="メイリオ"/>
                <a:ea typeface="メイリオ"/>
              </a:rPr>
              <a:t>。</a:t>
            </a:r>
          </a:p>
          <a:p>
            <a:pPr algn="l">
              <a:spcBef>
                <a:spcPts val="0"/>
              </a:spcBef>
            </a:pPr>
            <a:endParaRPr sz="1200" b="0" dirty="0">
              <a:solidFill>
                <a:srgbClr val="1C2233"/>
              </a:solidFill>
              <a:latin typeface="メイリオ"/>
              <a:ea typeface="メイリオ"/>
            </a:endParaRPr>
          </a:p>
          <a:p>
            <a:pPr algn="l">
              <a:spcBef>
                <a:spcPts val="0"/>
              </a:spcBef>
            </a:pPr>
            <a:r>
              <a:rPr sz="1200" b="0" dirty="0">
                <a:solidFill>
                  <a:srgbClr val="1C2233"/>
                </a:solidFill>
                <a:latin typeface="メイリオ"/>
                <a:ea typeface="メイリオ"/>
              </a:rPr>
              <a:t>※ </a:t>
            </a:r>
            <a:r>
              <a:rPr sz="1200" b="0" dirty="0" err="1">
                <a:solidFill>
                  <a:srgbClr val="1C2233"/>
                </a:solidFill>
                <a:latin typeface="メイリオ"/>
                <a:ea typeface="メイリオ"/>
              </a:rPr>
              <a:t>こちらから営業のお電話をすることはありません</a:t>
            </a:r>
            <a:r>
              <a:rPr sz="1200" b="0" dirty="0">
                <a:solidFill>
                  <a:srgbClr val="1C2233"/>
                </a:solidFill>
                <a:latin typeface="メイリオ"/>
                <a:ea typeface="メイリオ"/>
              </a:rPr>
              <a:t>。</a:t>
            </a:r>
          </a:p>
          <a:p>
            <a:pPr algn="l">
              <a:spcBef>
                <a:spcPts val="0"/>
              </a:spcBef>
            </a:pPr>
            <a:r>
              <a:rPr sz="1200" b="0" dirty="0" err="1">
                <a:solidFill>
                  <a:srgbClr val="1C2233"/>
                </a:solidFill>
                <a:latin typeface="メイリオ"/>
                <a:ea typeface="メイリオ"/>
              </a:rPr>
              <a:t>ご質問はこのままトークで送ってください</a:t>
            </a:r>
            <a:r>
              <a:rPr lang="en-US" sz="1200" dirty="0">
                <a:solidFill>
                  <a:srgbClr val="1C2233"/>
                </a:solidFill>
                <a:latin typeface="メイリオ"/>
                <a:ea typeface="メイリオ"/>
              </a:rPr>
              <a:t>(</a:t>
            </a:r>
            <a:r>
              <a:rPr sz="1200" b="0" dirty="0">
                <a:solidFill>
                  <a:srgbClr val="1C2233"/>
                </a:solidFill>
                <a:latin typeface="メイリオ"/>
                <a:ea typeface="メイリオ"/>
              </a:rPr>
              <a:t>10:00–20:00</a:t>
            </a:r>
            <a:r>
              <a:rPr lang="en-US" sz="1200" dirty="0">
                <a:solidFill>
                  <a:srgbClr val="1C2233"/>
                </a:solidFill>
                <a:latin typeface="メイリオ"/>
                <a:ea typeface="メイリオ"/>
              </a:rPr>
              <a:t>)</a:t>
            </a:r>
            <a:endParaRPr sz="1100" b="0" dirty="0">
              <a:solidFill>
                <a:srgbClr val="1C2233"/>
              </a:solidFill>
              <a:latin typeface="メイリオ"/>
              <a:ea typeface="メイリオ"/>
            </a:endParaRPr>
          </a:p>
        </p:txBody>
      </p:sp>
      <p:sp>
        <p:nvSpPr>
          <p:cNvPr id="6" name="Rounded Rectangle 5"/>
          <p:cNvSpPr/>
          <p:nvPr/>
        </p:nvSpPr>
        <p:spPr>
          <a:xfrm>
            <a:off x="384048" y="479613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479613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4問すべて選択式</a:t>
            </a:r>
          </a:p>
          <a:p>
            <a:pPr algn="ctr">
              <a:spcBef>
                <a:spcPts val="0"/>
              </a:spcBef>
            </a:pPr>
            <a:r>
              <a:rPr sz="1000" b="0">
                <a:solidFill>
                  <a:srgbClr val="646C82"/>
                </a:solidFill>
                <a:latin typeface="メイリオ"/>
                <a:ea typeface="メイリオ"/>
              </a:rPr>
              <a:t>自由入力はゼロ</a:t>
            </a:r>
          </a:p>
        </p:txBody>
      </p:sp>
      <p:sp>
        <p:nvSpPr>
          <p:cNvPr id="8" name="Rounded Rectangle 7"/>
          <p:cNvSpPr/>
          <p:nvPr/>
        </p:nvSpPr>
        <p:spPr>
          <a:xfrm>
            <a:off x="3310128" y="479613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FDEFE2"/>
          </a:solidFill>
          <a:ln w="9525">
            <a:solidFill>
              <a:srgbClr val="BF4E0E"/>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1" name="TextBox 20"/>
          <p:cNvSpPr txBox="1"/>
          <p:nvPr/>
        </p:nvSpPr>
        <p:spPr>
          <a:xfrm>
            <a:off x="6710903" y="6239880"/>
            <a:ext cx="2808000" cy="216000"/>
          </a:xfrm>
          <a:prstGeom prst="rect">
            <a:avLst/>
          </a:prstGeom>
          <a:noFill/>
        </p:spPr>
        <p:txBody>
          <a:bodyPr wrap="square" lIns="28800" tIns="10800" rIns="28800" bIns="10800">
            <a:spAutoFit/>
          </a:bodyPr>
          <a:lstStyle/>
          <a:p>
            <a:r>
              <a:rPr sz="1200" b="1" dirty="0">
                <a:solidFill>
                  <a:srgbClr val="BF4E0E"/>
                </a:solidFill>
                <a:latin typeface="メイリオ"/>
              </a:rPr>
              <a:t>▶ </a:t>
            </a:r>
            <a:r>
              <a:rPr sz="1200" b="1" dirty="0" err="1">
                <a:solidFill>
                  <a:srgbClr val="BF4E0E"/>
                </a:solidFill>
                <a:latin typeface="メイリオ"/>
              </a:rPr>
              <a:t>実物の画面イメージは次ページ</a:t>
            </a:r>
            <a:endParaRPr sz="1200" b="1" dirty="0">
              <a:solidFill>
                <a:srgbClr val="BF4E0E"/>
              </a:solidFill>
              <a:latin typeface="メイリオ"/>
            </a:endParaRPr>
          </a:p>
        </p:txBody>
      </p:sp>
    </p:spTree>
    <p:extLst>
      <p:ext uri="{BB962C8B-B14F-4D97-AF65-F5344CB8AC3E}">
        <p14:creationId xmlns:p14="http://schemas.microsoft.com/office/powerpoint/2010/main" val="188939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トーク画面イメージ｜友だち追加の直後に届く1通目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1通目で予約は求めない。求めるのは診断への回答だけ。</a:t>
            </a:r>
          </a:p>
        </p:txBody>
      </p:sp>
      <p:sp>
        <p:nvSpPr>
          <p:cNvPr id="19" name="TextBox 18"/>
          <p:cNvSpPr txBox="1"/>
          <p:nvPr/>
        </p:nvSpPr>
        <p:spPr>
          <a:xfrm>
            <a:off x="3407434" y="4900000"/>
            <a:ext cx="6092566"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画面はイメージです。文面・配色・診断の設問は貴社トーンに合わせて調整します。</a:t>
            </a:r>
          </a:p>
        </p:txBody>
      </p:sp>
      <p:pic>
        <p:nvPicPr>
          <p:cNvPr id="21" name="Picture 20" descr="12_トーク画面モック_トリム.png"/>
          <p:cNvPicPr>
            <a:picLocks noChangeAspect="1"/>
          </p:cNvPicPr>
          <p:nvPr/>
        </p:nvPicPr>
        <p:blipFill>
          <a:blip r:embed="rId2"/>
          <a:stretch>
            <a:fillRect/>
          </a:stretch>
        </p:blipFill>
        <p:spPr>
          <a:xfrm>
            <a:off x="700000" y="1400000"/>
            <a:ext cx="1936170" cy="3500000"/>
          </a:xfrm>
          <a:prstGeom prst="rect">
            <a:avLst/>
          </a:prstGeom>
        </p:spPr>
      </p:pic>
      <p:sp>
        <p:nvSpPr>
          <p:cNvPr id="22" name="TextBox 21"/>
          <p:cNvSpPr txBox="1"/>
          <p:nvPr/>
        </p:nvSpPr>
        <p:spPr>
          <a:xfrm>
            <a:off x="3407434" y="1500000"/>
            <a:ext cx="6092566"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3407434" y="2650000"/>
            <a:ext cx="6092566"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予約ではなく診断を求める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検討初期の人に予約を求めると落ちます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求めるのは4問の回答だけ。</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3407434" y="3800000"/>
            <a:ext cx="6092566"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rPr>
              <a:t>LINEヤフー公式機能</a:t>
            </a:r>
            <a:r>
              <a:rPr sz="1100" b="0" dirty="0">
                <a:solidFill>
                  <a:srgbClr val="1C2233"/>
                </a:solidFill>
                <a:latin typeface="メイリオ"/>
              </a:rPr>
              <a:t>。</a:t>
            </a:r>
            <a:endParaRPr lang="en-US" sz="1100" b="0" dirty="0">
              <a:solidFill>
                <a:srgbClr val="1C2233"/>
              </a:solidFill>
              <a:latin typeface="メイリオ"/>
            </a:endParaRPr>
          </a:p>
          <a:p>
            <a:pPr algn="ctr"/>
            <a:r>
              <a:rPr sz="1100" b="0" dirty="0" err="1">
                <a:solidFill>
                  <a:srgbClr val="1C2233"/>
                </a:solidFill>
                <a:latin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rPr>
              <a:t>友だち化・再来店へ</a:t>
            </a:r>
            <a:r>
              <a:rPr sz="1100" b="0" dirty="0">
                <a:solidFill>
                  <a:srgbClr val="1C2233"/>
                </a:solidFill>
                <a:latin typeface="メイリオ"/>
              </a:rPr>
              <a:t>。</a:t>
            </a:r>
            <a:endParaRPr lang="en-US" sz="1100" b="0" dirty="0">
              <a:solidFill>
                <a:srgbClr val="1C2233"/>
              </a:solidFill>
              <a:latin typeface="メイリオ"/>
            </a:endParaRPr>
          </a:p>
          <a:p>
            <a:pPr algn="ctr"/>
            <a:r>
              <a:rPr sz="1100" b="0" dirty="0" err="1">
                <a:solidFill>
                  <a:srgbClr val="1C2233"/>
                </a:solidFill>
                <a:latin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rPr>
              <a:t>※ 通知メッセージは別途費用（初期20万円・月額60万円〜／</a:t>
            </a:r>
            <a:r>
              <a:rPr sz="1000" b="0" dirty="0" err="1">
                <a:solidFill>
                  <a:srgbClr val="646C82"/>
                </a:solidFill>
                <a:latin typeface="メイリオ"/>
              </a:rPr>
              <a:t>社内料金表</a:t>
            </a:r>
            <a:r>
              <a:rPr sz="1000" b="0" dirty="0">
                <a:solidFill>
                  <a:srgbClr val="646C82"/>
                </a:solidFill>
                <a:latin typeface="メイリオ"/>
              </a:rPr>
              <a:t>）。</a:t>
            </a:r>
            <a:r>
              <a:rPr sz="1000" b="0" dirty="0" err="1">
                <a:solidFill>
                  <a:srgbClr val="646C82"/>
                </a:solidFill>
                <a:latin typeface="メイリオ"/>
              </a:rPr>
              <a:t>配信できる内容には要件・審査があります</a:t>
            </a:r>
            <a:r>
              <a:rPr sz="1000" b="0" dirty="0">
                <a:solidFill>
                  <a:srgbClr val="646C82"/>
                </a:solidFill>
                <a:latin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Web予約の完了率が低い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Web予約は既に回っている</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無断キャンセルが課題</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通知メッセを使いたい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BF4E0E"/>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③ 在籍が2ヶ月伸びるだけで+182万円</a:t>
            </a:r>
          </a:p>
          <a:p>
            <a:pPr algn="l">
              <a:spcBef>
                <a:spcPts val="200"/>
              </a:spcBef>
            </a:pPr>
            <a:r>
              <a:rPr sz="1100" b="0" dirty="0">
                <a:solidFill>
                  <a:srgbClr val="1C2233"/>
                </a:solidFill>
                <a:latin typeface="メイリオ"/>
                <a:ea typeface="メイリオ"/>
              </a:rPr>
              <a:t>新規を12人増やすより簡単で、広告費もかからない。</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★前提（すべて社内想定）：友だち化率3%／体験予約転換率8%／平均在籍12→14ヶ月／来店率60→75%。月会費・在籍月数は業界一般値。</a:t>
            </a:r>
          </a:p>
        </p:txBody>
      </p:sp>
    </p:spTree>
    <p:extLst>
      <p:ext uri="{BB962C8B-B14F-4D97-AF65-F5344CB8AC3E}">
        <p14:creationId xmlns:p14="http://schemas.microsoft.com/office/powerpoint/2010/main" val="4112226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panose="020B0604030504040204" pitchFamily="50" charset="-128"/>
              </a:rPr>
              <a:t>流入</a:t>
            </a:r>
            <a:r>
              <a:rPr lang="en-US" altLang="ja-JP" sz="900" b="1" dirty="0">
                <a:solidFill>
                  <a:srgbClr val="FDFDFD"/>
                </a:solidFill>
                <a:latin typeface="メイリオ" panose="020B0604030504040204" pitchFamily="50" charset="-128"/>
              </a:rPr>
              <a:t>/</a:t>
            </a:r>
            <a:r>
              <a:rPr lang="ja-JP" altLang="en-US" sz="900" b="1" dirty="0">
                <a:solidFill>
                  <a:srgbClr val="FDFDFD"/>
                </a:solidFill>
                <a:latin typeface="メイリオ" panose="020B0604030504040204" pitchFamily="50" charset="-128"/>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panose="020B0604030504040204" pitchFamily="50" charset="-128"/>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142478</TotalTime>
  <Words>7177</Words>
  <Application>Microsoft Office PowerPoint</Application>
  <PresentationFormat>A4 210 x 297 mm</PresentationFormat>
  <Paragraphs>1625</Paragraphs>
  <Slides>44</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44</vt:i4>
      </vt:variant>
    </vt:vector>
  </HeadingPairs>
  <TitlesOfParts>
    <vt:vector size="49"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1952</cp:revision>
  <cp:lastPrinted>2022-11-01T11:38:14Z</cp:lastPrinted>
  <dcterms:created xsi:type="dcterms:W3CDTF">2015-09-04T09:21:15Z</dcterms:created>
  <dcterms:modified xsi:type="dcterms:W3CDTF">2026-09-03T01:08:23Z</dcterms:modified>
</cp:coreProperties>
</file>