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8.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75"/>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2639" r:id="rId34"/>
    <p:sldId id="3016" r:id="rId35"/>
    <p:sldId id="2968" r:id="rId36"/>
    <p:sldId id="2969" r:id="rId37"/>
    <p:sldId id="2957" r:id="rId38"/>
    <p:sldId id="3019" r:id="rId72"/>
    <p:sldId id="2951" r:id="rId41"/>
    <p:sldId id="3023" r:id="rId76"/>
    <p:sldId id="3024" r:id="rId77"/>
    <p:sldId id="2841" r:id="rId42"/>
    <p:sldId id="2734" r:id="rId43"/>
    <p:sldId id="2595" r:id="rId44"/>
    <p:sldId id="2566" r:id="rId45"/>
    <p:sldId id="2915" r:id="rId46"/>
    <p:sldId id="2619" r:id="rId47"/>
    <p:sldId id="2761" r:id="rId48"/>
    <p:sldId id="3021" r:id="rId74"/>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41" Type="http://schemas.openxmlformats.org/officeDocument/2006/relationships/slide" Target="slides/slide40.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39.xml"/><Relationship Id="rId74" Type="http://schemas.openxmlformats.org/officeDocument/2006/relationships/slide" Target="slides/slide49.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8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8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svg"/><Relationship Id="rId8"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0.svg"/><Relationship Id="rId4" Type="http://schemas.openxmlformats.org/officeDocument/2006/relationships/image" Target="../media/image61.svg"/><Relationship Id="rId5" Type="http://schemas.openxmlformats.org/officeDocument/2006/relationships/image" Target="../media/image62.svg"/><Relationship Id="rId6" Type="http://schemas.openxmlformats.org/officeDocument/2006/relationships/image" Target="../media/image63.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emf"/><Relationship Id="rId4" Type="http://schemas.openxmlformats.org/officeDocument/2006/relationships/image" Target="../media/image79.jpeg"/><Relationship Id="rId5" Type="http://schemas.openxmlformats.org/officeDocument/2006/relationships/image" Target="../media/image80.jpeg"/><Relationship Id="rId6" Type="http://schemas.openxmlformats.org/officeDocument/2006/relationships/image" Target="../media/image81.jpeg"/><Relationship Id="rId7" Type="http://schemas.openxmlformats.org/officeDocument/2006/relationships/image" Target="../media/image82.jpeg"/><Relationship Id="rId8" Type="http://schemas.openxmlformats.org/officeDocument/2006/relationships/image" Target="../media/image83.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L="91440" marR="73152" marT="45720" marB="45720"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L="91440" marR="73152" marT="45720" marB="45720"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L="91440" marR="73152" marT="45720" marB="45720"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L="91440" marR="73152" marT="45720" marB="45720"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L="91440" marR="73152" marT="45720" marB="45720"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L="91440" marR="73152" marT="45720" marB="45720"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L="91440" marR="73152" marT="45720" marB="45720"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L="91440" marR="73152" marT="45720" marB="45720"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L="91440" marR="73152" marT="45720" marB="45720"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endPar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5"/>
          <a:stretch>
            <a:fillRect/>
          </a:stretch>
        </p:blipFill>
        <p:spPr>
          <a:xfrm>
            <a:off x="507335" y="2271234"/>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「保険営業」の検索は1年中ほぼ同じ水準。イベントの無い月も、平常期の配信でつながりを保つ。</a:t>
            </a:r>
            <a:endParaRPr lang="ja-JP" altLang="ja-JP" sz="1100" dirty="0">
              <a:effectLst/>
              <a:latin typeface="メイリオ" panose="02020603050405020304" pitchFamily="18" charset="0"/>
              <a:ea typeface="メイリオ" panose="02020400000000000000" pitchFamily="18" charset="-128"/>
              <a:cs typeface="メイリオ"/>
            </a:endParaRPr>
          </a:p>
        </p:txBody>
      </p:sp>
      <p:pic>
        <p:nvPicPr>
          <p:cNvPr id="46" name="Picture 45" descr="sunao_trend_hoken_eigyo_5y.png"/>
          <p:cNvPicPr>
            <a:picLocks noChangeAspect="1"/>
          </p:cNvPicPr>
          <p:nvPr/>
        </p:nvPicPr>
        <p:blipFill>
          <a:blip r:embed="rId4"/>
          <a:stretch>
            <a:fillRect/>
          </a:stretch>
        </p:blipFill>
        <p:spPr>
          <a:xfrm>
            <a:off x="894637" y="1688676"/>
            <a:ext cx="8116724" cy="3461599"/>
          </a:xfrm>
          <a:prstGeom prst="rect">
            <a:avLst/>
          </a:prstGeom>
        </p:spPr>
      </p:pic>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5"/>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b="1" dirty="0" sz="160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Tree>
    <p:extLst>
      <p:ext uri="{BB962C8B-B14F-4D97-AF65-F5344CB8AC3E}">
        <p14:creationId xmlns:p14="http://schemas.microsoft.com/office/powerpoint/2010/main" val="32036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1F2A5C"/>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2F2F2"/>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cs typeface="メイリオ"/>
              </a:rPr>
              <a:t>非友だち　：　友だち追加</a:t>
            </a:r>
            <a:r>
              <a:rPr lang="en-US" altLang="ja-JP" sz="1400" b="1" dirty="0">
                <a:latin typeface="メイリオ" panose="020B0604030504040204" pitchFamily="50" charset="-128"/>
                <a:ea typeface="メイリオ" panose="020B0604030504040204" pitchFamily="50" charset="-128"/>
                <a:cs typeface="メイリオ"/>
              </a:rPr>
              <a:t>CTA</a:t>
            </a:r>
          </a:p>
          <a:p>
            <a:pPr algn="ctr"/>
            <a:r>
              <a:rPr lang="ja-JP" altLang="en-US" sz="1400" b="1" dirty="0">
                <a:latin typeface="メイリオ" panose="020B0604030504040204" pitchFamily="50" charset="-128"/>
                <a:ea typeface="メイリオ" panose="020B0604030504040204" pitchFamily="50" charset="-128"/>
                <a:cs typeface="メイリオ"/>
              </a:rPr>
              <a:t>友だち　：　入力項目</a:t>
            </a:r>
            <a:endParaRPr lang="en-US" altLang="ja-JP" sz="1400" b="1" dirty="0">
              <a:latin typeface="メイリオ" panose="020B0604030504040204" pitchFamily="50" charset="-128"/>
              <a:ea typeface="メイリオ" panose="020B0604030504040204" pitchFamily="50" charset="-128"/>
              <a:cs typeface="メイリオ"/>
            </a:endParaRPr>
          </a:p>
          <a:p>
            <a:pPr algn="ctr"/>
            <a:r>
              <a:rPr lang="ja-JP" altLang="en-US" sz="1400" b="1" dirty="0">
                <a:latin typeface="メイリオ" panose="020B0604030504040204" pitchFamily="50" charset="-128"/>
                <a:ea typeface="メイリオ" panose="020B0604030504040204" pitchFamily="50" charset="-128"/>
                <a:cs typeface="メイリオ"/>
              </a:rPr>
              <a:t>↓</a:t>
            </a:r>
            <a:endParaRPr lang="en-US" altLang="ja-JP" sz="1400" b="1" dirty="0">
              <a:latin typeface="メイリオ" panose="020B0604030504040204" pitchFamily="50" charset="-128"/>
              <a:ea typeface="メイリオ" panose="020B0604030504040204" pitchFamily="50" charset="-128"/>
              <a:cs typeface="メイリオ"/>
            </a:endParaRPr>
          </a:p>
          <a:p>
            <a:pPr algn="ctr"/>
            <a:r>
              <a:rPr kumimoji="1" lang="ja-JP" altLang="en-US" sz="1400" b="1" dirty="0">
                <a:solidFill>
                  <a:srgbClr val="1F2A5C"/>
                </a:solidFill>
                <a:latin typeface="メイリオ" panose="020B0604030504040204" pitchFamily="50" charset="-128"/>
                <a:ea typeface="メイリオ" panose="020B0604030504040204" pitchFamily="50" charset="-128"/>
                <a:cs typeface="メイリオ"/>
              </a:rPr>
              <a:t>配信セグメントとして活用</a:t>
            </a:r>
            <a:endParaRPr kumimoji="1" lang="en-US" altLang="ja-JP"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サロン申込み</a:t>
            </a:r>
          </a:p>
        </p:txBody>
      </p:sp>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予約内容の登録</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前日・当日のお知らせが開始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申込み内容の登録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入会後のご案内が開始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pic>
        <p:nvPicPr>
          <p:cNvPr id="1050" name="Picture 1049" descr="sunao_lp_form.png"/>
          <p:cNvPicPr>
            <a:picLocks noChangeAspect="1"/>
          </p:cNvPicPr>
          <p:nvPr/>
        </p:nvPicPr>
        <p:blipFill>
          <a:blip r:embed="rId7"/>
          <a:stretch>
            <a:fillRect/>
          </a:stretch>
        </p:blipFill>
        <p:spPr>
          <a:xfrm>
            <a:off x="1140522" y="2610452"/>
            <a:ext cx="1075377" cy="2425925"/>
          </a:xfrm>
          <a:prstGeom prst="rect">
            <a:avLst/>
          </a:prstGeom>
        </p:spPr>
      </p:pic>
      <p:sp>
        <p:nvSpPr>
          <p:cNvPr id="1051" name="差し込み サロンの申込みページ"/>
          <p:cNvSpPr/>
          <p:nvPr/>
        </p:nvSpPr>
        <p:spPr>
          <a:xfrm>
            <a:off x="2891617" y="2590927"/>
            <a:ext cx="2399777" cy="254456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サロンの申込みページ</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47600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cs typeface="メイリオ"/>
              </a:rPr>
              <a:t>セミナー前日の</a:t>
            </a:r>
            <a:endParaRPr lang="en-US" sz="1200" b="0" u="none" strike="noStrike">
              <a:solidFill>
                <a:srgbClr val="FFFFFF"/>
              </a:solidFill>
              <a:effectLst/>
              <a:uFillTx/>
              <a:latin typeface="メイリオ"/>
              <a:ea typeface="メイリオ"/>
              <a:cs typeface="メイリオ"/>
            </a:endParaRPr>
          </a:p>
          <a:p>
            <a:pPr algn="ctr" defTabSz="914400">
              <a:lnSpc>
                <a:spcPct val="90000"/>
              </a:lnSpc>
            </a:pPr>
            <a:r>
              <a:rPr lang="ja-JP" sz="1200" b="0" u="none" strike="noStrike">
                <a:solidFill>
                  <a:schemeClr val="lt1"/>
                </a:solidFill>
                <a:effectLst/>
                <a:uFillTx/>
                <a:latin typeface="メイリオ"/>
                <a:ea typeface="メイリオ"/>
                <a:cs typeface="メイリオ"/>
              </a:rPr>
              <a:t>お知らせ</a:t>
            </a:r>
            <a:endParaRPr lang="en-US" sz="1200" b="0" u="none" strike="noStrike">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月次レポート・</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定例会</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月1回</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個別チャット</a:t>
            </a:r>
            <a:endParaRPr lang="en-US" sz="1300" b="0" u="none" strike="noStrike">
              <a:solidFill>
                <a:srgbClr val="FFFFFF"/>
              </a:solidFill>
              <a:effectLst/>
              <a:uFillTx/>
              <a:latin typeface="メイリオ"/>
              <a:ea typeface="メイリオ"/>
              <a:cs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