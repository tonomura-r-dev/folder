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65"/>
  </p:notesMasterIdLst>
  <p:handoutMasterIdLst>
    <p:handoutMasterId r:id="rId66"/>
  </p:handoutMasterIdLst>
  <p:sldIdLst>
    <p:sldId id="2363" r:id="rId3"/>
    <p:sldId id="2971" r:id="rId71"/>
    <p:sldId id="2972" r:id="rId72"/>
    <p:sldId id="2973" r:id="rId73"/>
    <p:sldId id="2974" r:id="rId74"/>
    <p:sldId id="2975" r:id="rId75"/>
    <p:sldId id="2976" r:id="rId76"/>
    <p:sldId id="2977" r:id="rId77"/>
    <p:sldId id="2978" r:id="rId78"/>
    <p:sldId id="2979" r:id="rId79"/>
    <p:sldId id="2980" r:id="rId80"/>
    <p:sldId id="2981" r:id="rId81"/>
    <p:sldId id="2982" r:id="rId82"/>
    <p:sldId id="612" r:id="rId6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4" Type="http://schemas.openxmlformats.org/officeDocument/2006/relationships/slide" Target="slides/slide62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29202D6-C1F5-472A-A72F-285F233F82C2}" type="slidenum">
              <a:rPr lang="ja-JP" altLang="en-US" smtClean="0"/>
              <a:pPr>
                <a:defRPr/>
              </a:pPr>
              <a:t>62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718722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emf"/><Relationship Id="rId4" Type="http://schemas.openxmlformats.org/officeDocument/2006/relationships/image" Target="../media/image92.jpeg"/><Relationship Id="rId5" Type="http://schemas.openxmlformats.org/officeDocument/2006/relationships/image" Target="../media/image93.jpeg"/><Relationship Id="rId6" Type="http://schemas.openxmlformats.org/officeDocument/2006/relationships/image" Target="../media/image94.jpeg"/><Relationship Id="rId7" Type="http://schemas.openxmlformats.org/officeDocument/2006/relationships/image" Target="../media/image95.jpeg"/><Relationship Id="rId8" Type="http://schemas.openxmlformats.org/officeDocument/2006/relationships/image" Target="../media/image96.jpe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335024" y="2011680"/>
            <a:ext cx="7232904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広告で集めた方をLINEでナーチャリングをし、</a:t>
            </a:r>
          </a:p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セミナー参加・入会へ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株式会社すなおコンサルティング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5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</a:pP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latin typeface="メイリオ"/>
              <a:ea typeface="メイリオ"/>
              <a:cs typeface="メイリオ"/>
            </a:endParaRPr>
          </a:p>
          <a:p>
            <a:pPr lvl="1">
              <a:spcBef>
                <a:spcPct val="20000"/>
              </a:spcBef>
            </a:pP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6" y="5888351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1" y="5597769"/>
            <a:ext cx="184731" cy="237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ja-JP" altLang="en-US" sz="941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5"/>
            <a:ext cx="5565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ja-JP" altLang="en-US" sz="2000" b="1" dirty="0">
                <a:latin typeface="メイリオ" charset="0"/>
                <a:ea typeface="メイリオ" charset="0"/>
                <a:cs typeface="メイリオ" charset="0"/>
              </a:rPr>
              <a:t>貴社の明るい未来に必ず貢献いたします。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3E0B742-FF70-F384-96EE-87A574CE82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0" y="1988426"/>
            <a:ext cx="4274042" cy="284936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BB7E89C-70F0-E399-7C21-45FBF93562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076" y="1988426"/>
            <a:ext cx="2326924" cy="1551282"/>
          </a:xfrm>
          <a:prstGeom prst="rect">
            <a:avLst/>
          </a:prstGeom>
        </p:spPr>
      </p:pic>
      <p:pic>
        <p:nvPicPr>
          <p:cNvPr id="6" name="図 5" descr="スーツを着た男性と文字&#10;&#10;低い精度で自動的に生成された説明">
            <a:extLst>
              <a:ext uri="{FF2B5EF4-FFF2-40B4-BE49-F238E27FC236}">
                <a16:creationId xmlns:a16="http://schemas.microsoft.com/office/drawing/2014/main" id="{DCA0A1E3-BE99-513C-E589-1E8C035070E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2" r="10622" b="20845"/>
          <a:stretch/>
        </p:blipFill>
        <p:spPr>
          <a:xfrm>
            <a:off x="7413236" y="3287967"/>
            <a:ext cx="2111765" cy="1551282"/>
          </a:xfrm>
          <a:prstGeom prst="rect">
            <a:avLst/>
          </a:prstGeom>
        </p:spPr>
      </p:pic>
      <p:pic>
        <p:nvPicPr>
          <p:cNvPr id="17" name="図 16" descr="白い壁の前に立っている子供たち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F5A2749-D4AC-2F37-FC68-2734BC439C6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97" y="1988426"/>
            <a:ext cx="2615823" cy="147183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0C14A8F-514C-87B6-098E-D307672976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655" y="3286280"/>
            <a:ext cx="2769580" cy="155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23847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サマリー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提案の要旨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740664"/>
            <a:ext cx="770839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広告で集めた方をLINEにため、次のイベント参加・入会（LTV）を最大化する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小見出し"/>
          <p:cNvSpPr/>
          <p:nvPr/>
        </p:nvSpPr>
        <p:spPr>
          <a:xfrm>
            <a:off x="502920" y="1508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構築する仕組み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流れ1"/>
          <p:cNvSpPr/>
          <p:nvPr/>
        </p:nvSpPr>
        <p:spPr>
          <a:xfrm>
            <a:off x="502920" y="1874519"/>
            <a:ext cx="1991106" cy="11887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広告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矢印"/>
          <p:cNvSpPr/>
          <p:nvPr/>
        </p:nvSpPr>
        <p:spPr>
          <a:xfrm>
            <a:off x="2494026" y="1874519"/>
            <a:ext cx="31089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流れ2"/>
          <p:cNvSpPr/>
          <p:nvPr/>
        </p:nvSpPr>
        <p:spPr>
          <a:xfrm>
            <a:off x="2804922" y="1874519"/>
            <a:ext cx="1991106" cy="11887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イベント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＋LINEにたまる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矢印"/>
          <p:cNvSpPr/>
          <p:nvPr/>
        </p:nvSpPr>
        <p:spPr>
          <a:xfrm>
            <a:off x="4796028" y="1874519"/>
            <a:ext cx="31089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流れ3"/>
          <p:cNvSpPr/>
          <p:nvPr/>
        </p:nvSpPr>
        <p:spPr>
          <a:xfrm>
            <a:off x="5106924" y="1874519"/>
            <a:ext cx="1991106" cy="11887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ナーチャリング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矢印"/>
          <p:cNvSpPr/>
          <p:nvPr/>
        </p:nvSpPr>
        <p:spPr>
          <a:xfrm>
            <a:off x="7098030" y="1874519"/>
            <a:ext cx="310896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流れ4"/>
          <p:cNvSpPr/>
          <p:nvPr/>
        </p:nvSpPr>
        <p:spPr>
          <a:xfrm>
            <a:off x="7408926" y="1874519"/>
            <a:ext cx="1991106" cy="1188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次のイベント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5000"/>
              </a:lnSpc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・入会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見出し 現状と課題"/>
          <p:cNvSpPr/>
          <p:nvPr/>
        </p:nvSpPr>
        <p:spPr>
          <a:xfrm>
            <a:off x="502920" y="3474720"/>
            <a:ext cx="2782824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現状と課題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補足1"/>
          <p:cNvSpPr/>
          <p:nvPr/>
        </p:nvSpPr>
        <p:spPr>
          <a:xfrm>
            <a:off x="502920" y="3886200"/>
            <a:ext cx="2782824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09728" bIns="91440" rtlCol="0" anchor="ctr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申し込まずに離れた方・入会していない方を、次のイベントまで追う場所が無い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見出し 施策"/>
          <p:cNvSpPr/>
          <p:nvPr/>
        </p:nvSpPr>
        <p:spPr>
          <a:xfrm>
            <a:off x="3560064" y="3474720"/>
            <a:ext cx="2782824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施策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補足2"/>
          <p:cNvSpPr/>
          <p:nvPr/>
        </p:nvSpPr>
        <p:spPr>
          <a:xfrm>
            <a:off x="3560064" y="3886200"/>
            <a:ext cx="2782824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09728" bIns="91440" rtlCol="0" anchor="ctr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ポップアップツールとサンクスLINE誘導で友だちにし、興味あり・予約・参加の段階ごとに配信する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見出し 目標と費用"/>
          <p:cNvSpPr/>
          <p:nvPr/>
        </p:nvSpPr>
        <p:spPr>
          <a:xfrm>
            <a:off x="6617208" y="3474720"/>
            <a:ext cx="2782824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目標と費用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補足3"/>
          <p:cNvSpPr/>
          <p:nvPr/>
        </p:nvSpPr>
        <p:spPr>
          <a:xfrm>
            <a:off x="6617208" y="3886200"/>
            <a:ext cx="2782824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09728" bIns="91440" rtlCol="0" anchor="ctr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追える人数を増やし・減らさず、入会へ。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平常期 月5〜10万円／イベント期 月30万円程度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現状と課題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現状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859536"/>
            <a:ext cx="7708392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イベントの後、離れた方・未入会の方とのつながりが切れる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流れ1"/>
          <p:cNvSpPr/>
          <p:nvPr/>
        </p:nvSpPr>
        <p:spPr>
          <a:xfrm>
            <a:off x="502920" y="1691640"/>
            <a:ext cx="1530705" cy="9144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広告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矢印"/>
          <p:cNvSpPr/>
          <p:nvPr/>
        </p:nvSpPr>
        <p:spPr>
          <a:xfrm>
            <a:off x="2033625" y="16916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流れ2"/>
          <p:cNvSpPr/>
          <p:nvPr/>
        </p:nvSpPr>
        <p:spPr>
          <a:xfrm>
            <a:off x="2344521" y="1691640"/>
            <a:ext cx="1530705" cy="9144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LP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矢印"/>
          <p:cNvSpPr/>
          <p:nvPr/>
        </p:nvSpPr>
        <p:spPr>
          <a:xfrm>
            <a:off x="3875227" y="16916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流れ3"/>
          <p:cNvSpPr/>
          <p:nvPr/>
        </p:nvSpPr>
        <p:spPr>
          <a:xfrm>
            <a:off x="4186123" y="1691640"/>
            <a:ext cx="1530705" cy="9144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予約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矢印"/>
          <p:cNvSpPr/>
          <p:nvPr/>
        </p:nvSpPr>
        <p:spPr>
          <a:xfrm>
            <a:off x="5716828" y="16916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流れ4"/>
          <p:cNvSpPr/>
          <p:nvPr/>
        </p:nvSpPr>
        <p:spPr>
          <a:xfrm>
            <a:off x="6027724" y="1691640"/>
            <a:ext cx="1530705" cy="9144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イベント参加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矢印"/>
          <p:cNvSpPr/>
          <p:nvPr/>
        </p:nvSpPr>
        <p:spPr>
          <a:xfrm>
            <a:off x="7558430" y="1691640"/>
            <a:ext cx="310896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流れ5"/>
          <p:cNvSpPr/>
          <p:nvPr/>
        </p:nvSpPr>
        <p:spPr>
          <a:xfrm>
            <a:off x="7869326" y="1691640"/>
            <a:ext cx="1530705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サロン入会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矢印下"/>
          <p:cNvSpPr/>
          <p:nvPr/>
        </p:nvSpPr>
        <p:spPr>
          <a:xfrm>
            <a:off x="2926994" y="2651760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0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切れる1"/>
          <p:cNvSpPr/>
          <p:nvPr/>
        </p:nvSpPr>
        <p:spPr>
          <a:xfrm>
            <a:off x="1463954" y="2971800"/>
            <a:ext cx="3291840" cy="13716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申し込まずに離れた方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0000"/>
              </a:lnSpc>
              <a:buNone/>
            </a:pPr>
            <a:r>
              <a:rPr lang="ja-JP" altLang="en-US" sz="14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次のイベントまで案内する手段が無い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矢印下"/>
          <p:cNvSpPr/>
          <p:nvPr/>
        </p:nvSpPr>
        <p:spPr>
          <a:xfrm>
            <a:off x="6610197" y="2651760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300" b="0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切れる3"/>
          <p:cNvSpPr/>
          <p:nvPr/>
        </p:nvSpPr>
        <p:spPr>
          <a:xfrm>
            <a:off x="5147157" y="2971800"/>
            <a:ext cx="3291840" cy="137160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 lIns="91440" tIns="54864" rIns="91440" bIns="54864" rtlCol="0" anchor="ctr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ja-JP" altLang="en-US" sz="15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参加して入会していない方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0000"/>
              </a:lnSpc>
              <a:buNone/>
            </a:pPr>
            <a:r>
              <a:rPr lang="ja-JP" altLang="en-US" sz="14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入会まで案内を続ける手段が無い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示唆"/>
          <p:cNvSpPr/>
          <p:nvPr/>
        </p:nvSpPr>
        <p:spPr>
          <a:xfrm>
            <a:off x="502920" y="4846320"/>
            <a:ext cx="8897112" cy="777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次のイベントでは、</a:t>
            </a:r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また広告で集め直している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本質課題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本質課題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859536"/>
            <a:ext cx="7708392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ためて追い続ける場所が無い。この場所を、LINE公式アカウントでつくる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見出し 01 集める"/>
          <p:cNvSpPr/>
          <p:nvPr/>
        </p:nvSpPr>
        <p:spPr>
          <a:xfrm>
            <a:off x="502920" y="1600200"/>
            <a:ext cx="2782824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01 集める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課題1"/>
          <p:cNvSpPr/>
          <p:nvPr/>
        </p:nvSpPr>
        <p:spPr>
          <a:xfrm>
            <a:off x="502920" y="2011680"/>
            <a:ext cx="2782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離れる方・予約した方を、友だちにする手段が無い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矢印下"/>
          <p:cNvSpPr/>
          <p:nvPr/>
        </p:nvSpPr>
        <p:spPr>
          <a:xfrm>
            <a:off x="1665732" y="38404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打ち手1"/>
          <p:cNvSpPr/>
          <p:nvPr/>
        </p:nvSpPr>
        <p:spPr>
          <a:xfrm>
            <a:off x="502920" y="4297680"/>
            <a:ext cx="2782824" cy="1737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ポップアップツール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サンクスLINE誘導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見出し 02 追う"/>
          <p:cNvSpPr/>
          <p:nvPr/>
        </p:nvSpPr>
        <p:spPr>
          <a:xfrm>
            <a:off x="3560064" y="1600200"/>
            <a:ext cx="2782824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02 追う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課題2"/>
          <p:cNvSpPr/>
          <p:nvPr/>
        </p:nvSpPr>
        <p:spPr>
          <a:xfrm>
            <a:off x="3560064" y="2011680"/>
            <a:ext cx="2782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次のイベントまで、情報を届ける手段が無い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矢印下"/>
          <p:cNvSpPr/>
          <p:nvPr/>
        </p:nvSpPr>
        <p:spPr>
          <a:xfrm>
            <a:off x="4722876" y="38404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打ち手2"/>
          <p:cNvSpPr/>
          <p:nvPr/>
        </p:nvSpPr>
        <p:spPr>
          <a:xfrm>
            <a:off x="3560064" y="4297680"/>
            <a:ext cx="2782824" cy="1737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平常期の配信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見出し 03 つなげる"/>
          <p:cNvSpPr/>
          <p:nvPr/>
        </p:nvSpPr>
        <p:spPr>
          <a:xfrm>
            <a:off x="6617208" y="1600200"/>
            <a:ext cx="2782824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03 つなげる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課題3"/>
          <p:cNvSpPr/>
          <p:nvPr/>
        </p:nvSpPr>
        <p:spPr>
          <a:xfrm>
            <a:off x="6617208" y="2011680"/>
            <a:ext cx="2782824" cy="1783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137160" tIns="91440" rIns="137160" bIns="91440" rtlCol="0" anchor="ctr">
            <a:noAutofit/>
          </a:bodyPr>
          <a:lstStyle/>
          <a:p>
            <a:pPr algn="ctr">
              <a:lnSpc>
                <a:spcPct val="140000"/>
              </a:lnSpc>
              <a:buNone/>
            </a:pPr>
            <a:r>
              <a:rPr lang="ja-JP" altLang="en-US" sz="15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参加した方に、入会を案内する手段が無い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矢印下"/>
          <p:cNvSpPr/>
          <p:nvPr/>
        </p:nvSpPr>
        <p:spPr>
          <a:xfrm>
            <a:off x="7780020" y="384048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6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打ち手3"/>
          <p:cNvSpPr/>
          <p:nvPr/>
        </p:nvSpPr>
        <p:spPr>
          <a:xfrm>
            <a:off x="6617208" y="4297680"/>
            <a:ext cx="2782824" cy="1737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参加後の入会の案内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なぜLINEか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242316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LINE公式アカウント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2606040" y="859536"/>
            <a:ext cx="7086599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広告は毎回ゼロから、LINEは積み上がる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graphicFrame>
        <p:nvGraphicFramePr>
          <p:cNvPr id="5" name="広告とLINE 4"/>
          <p:cNvGraphicFramePr>
            <a:graphicFrameLocks noGrp="1"/>
          </p:cNvGraphicFramePr>
          <p:nvPr/>
        </p:nvGraphicFramePr>
        <p:xfrm>
          <a:off x="502920" y="1600200"/>
          <a:ext cx="8897112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959352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広告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LINE公式アカウント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届く相手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毎回、新しく集める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一度友だちになった方に、何度でも届く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届き方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広告を見たときだけ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通知で届き、見てもらいやすい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イベントの後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つながりが切れる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友だちとして、毎月積み上がる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示唆"/>
          <p:cNvSpPr/>
          <p:nvPr/>
        </p:nvSpPr>
        <p:spPr>
          <a:xfrm>
            <a:off x="502920" y="5303520"/>
            <a:ext cx="8897112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この仕組みが回れば、今後の広告費を抑えられる可能性もある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LINEで気をつける点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205740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気をつける点と対策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2240280" y="859536"/>
            <a:ext cx="745236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気をつける点は、運用の設計で抑える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graphicFrame>
        <p:nvGraphicFramePr>
          <p:cNvPr id="5" name="気をつける点 4"/>
          <p:cNvGraphicFramePr>
            <a:graphicFrameLocks noGrp="1"/>
          </p:cNvGraphicFramePr>
          <p:nvPr/>
        </p:nvGraphicFramePr>
        <p:xfrm>
          <a:off x="502920" y="1600200"/>
          <a:ext cx="8897112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776472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気をつける点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内容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対策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ブロック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配信が多い・合わない内容だと、ブロックされる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段階に合わせて、配信の中身と回数を変える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配信費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配信の数に応じて、LINEの費用がかかる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イベントの無い時期は月2回に抑える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時間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友だちがたまるまで、時間がかかる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次のイベントから入口を置き、イベントごとに積み上げる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友だちの入口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新規友だち追加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740664"/>
            <a:ext cx="770839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ポップアップツールとサンクスLINE誘導で、離れる方と予約した方の両方を友だちにする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見出し ポップアップツール（離脱防止）"/>
          <p:cNvSpPr/>
          <p:nvPr/>
        </p:nvSpPr>
        <p:spPr>
          <a:xfrm>
            <a:off x="502920" y="1600200"/>
            <a:ext cx="4311396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ポップアップツール（離脱防止）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6" name="入口1 5"/>
          <p:cNvGraphicFramePr>
            <a:graphicFrameLocks noGrp="1"/>
          </p:cNvGraphicFramePr>
          <p:nvPr/>
        </p:nvGraphicFramePr>
        <p:xfrm>
          <a:off x="502920" y="2057400"/>
          <a:ext cx="4311396" cy="2880360"/>
        </p:xfrm>
        <a:graphic>
          <a:graphicData uri="http://schemas.openxmlformats.org/drawingml/2006/table">
            <a:tbl>
              <a:tblPr/>
              <a:tblGrid>
                <a:gridCol w="1280160"/>
                <a:gridCol w="3031236"/>
              </a:tblGrid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対象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LPで申し込まずに離れる方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タイミング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LPを離れようとしたとき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案内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次のセミナーの案内を、LINEで受け取れる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見出し サンクスLINE誘導"/>
          <p:cNvSpPr/>
          <p:nvPr/>
        </p:nvSpPr>
        <p:spPr>
          <a:xfrm>
            <a:off x="5088636" y="1600200"/>
            <a:ext cx="4311396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サンクスLINE誘導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8" name="入口2 7"/>
          <p:cNvGraphicFramePr>
            <a:graphicFrameLocks noGrp="1"/>
          </p:cNvGraphicFramePr>
          <p:nvPr/>
        </p:nvGraphicFramePr>
        <p:xfrm>
          <a:off x="5088636" y="2057400"/>
          <a:ext cx="4311396" cy="2880360"/>
        </p:xfrm>
        <a:graphic>
          <a:graphicData uri="http://schemas.openxmlformats.org/drawingml/2006/table">
            <a:tbl>
              <a:tblPr/>
              <a:tblGrid>
                <a:gridCol w="1280160"/>
                <a:gridCol w="3031236"/>
              </a:tblGrid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対象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セミナーを予約した方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タイミング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予約完了の画面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案内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当日の案内・リマインドを、LINEで届ける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示唆"/>
          <p:cNvSpPr/>
          <p:nvPr/>
        </p:nvSpPr>
        <p:spPr>
          <a:xfrm>
            <a:off x="502920" y="5257800"/>
            <a:ext cx="8897112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どちらも、次のイベントまで追える友だちになる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配信の設計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段階ごとの配信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859536"/>
            <a:ext cx="7708392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興味あり・予約・参加の段階ごとに、案内を変える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流れ1"/>
          <p:cNvSpPr/>
          <p:nvPr/>
        </p:nvSpPr>
        <p:spPr>
          <a:xfrm>
            <a:off x="502920" y="1600200"/>
            <a:ext cx="1991106" cy="594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興味あり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矢印"/>
          <p:cNvSpPr/>
          <p:nvPr/>
        </p:nvSpPr>
        <p:spPr>
          <a:xfrm>
            <a:off x="2494026" y="1600200"/>
            <a:ext cx="3108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流れ2"/>
          <p:cNvSpPr/>
          <p:nvPr/>
        </p:nvSpPr>
        <p:spPr>
          <a:xfrm>
            <a:off x="2804922" y="1600200"/>
            <a:ext cx="1991106" cy="594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予約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矢印"/>
          <p:cNvSpPr/>
          <p:nvPr/>
        </p:nvSpPr>
        <p:spPr>
          <a:xfrm>
            <a:off x="4796028" y="1600200"/>
            <a:ext cx="3108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流れ3"/>
          <p:cNvSpPr/>
          <p:nvPr/>
        </p:nvSpPr>
        <p:spPr>
          <a:xfrm>
            <a:off x="5106924" y="1600200"/>
            <a:ext cx="1991106" cy="594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参加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矢印"/>
          <p:cNvSpPr/>
          <p:nvPr/>
        </p:nvSpPr>
        <p:spPr>
          <a:xfrm>
            <a:off x="7098030" y="1600200"/>
            <a:ext cx="3108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流れ4"/>
          <p:cNvSpPr/>
          <p:nvPr/>
        </p:nvSpPr>
        <p:spPr>
          <a:xfrm>
            <a:off x="7408926" y="1600200"/>
            <a:ext cx="1991106" cy="5943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サロン入会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12" name="段階ごとの配信 11"/>
          <p:cNvGraphicFramePr>
            <a:graphicFrameLocks noGrp="1"/>
          </p:cNvGraphicFramePr>
          <p:nvPr/>
        </p:nvGraphicFramePr>
        <p:xfrm>
          <a:off x="502920" y="2423160"/>
          <a:ext cx="8897112" cy="3337560"/>
        </p:xfrm>
        <a:graphic>
          <a:graphicData uri="http://schemas.openxmlformats.org/drawingml/2006/table">
            <a:tbl>
              <a:tblPr/>
              <a:tblGrid>
                <a:gridCol w="1371600"/>
                <a:gridCol w="2514600"/>
                <a:gridCol w="3364992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段階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対象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届ける内容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ねらい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興味あり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予約していない方</a:t>
                      </a:r>
                      <a:b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（ポップアップツールから）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セミナーの見どころ動画・参加特典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予約へ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予約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予約した方</a:t>
                      </a:r>
                      <a:b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（サンクスLINE誘導から）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前日のリマインド・当日の案内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当日の参加へ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参加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イベントに参加した方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イベント直後に、サロン入会の案内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入会へ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注記"/>
          <p:cNvSpPr/>
          <p:nvPr/>
        </p:nvSpPr>
        <p:spPr>
          <a:xfrm>
            <a:off x="502920" y="5897880"/>
            <a:ext cx="8897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※配信の内容は、イベントの内容に合わせて設計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目標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指標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859536"/>
            <a:ext cx="7708392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追える人数を増やし・減らさず、次のイベント参加・入会へ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流れ1"/>
          <p:cNvSpPr/>
          <p:nvPr/>
        </p:nvSpPr>
        <p:spPr>
          <a:xfrm>
            <a:off x="502920" y="1600200"/>
            <a:ext cx="2758440" cy="594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追える人数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矢印"/>
          <p:cNvSpPr/>
          <p:nvPr/>
        </p:nvSpPr>
        <p:spPr>
          <a:xfrm>
            <a:off x="3261360" y="1600200"/>
            <a:ext cx="3108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流れ2"/>
          <p:cNvSpPr/>
          <p:nvPr/>
        </p:nvSpPr>
        <p:spPr>
          <a:xfrm>
            <a:off x="3572256" y="1600200"/>
            <a:ext cx="2758440" cy="59436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次のイベントの予約・参加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矢印"/>
          <p:cNvSpPr/>
          <p:nvPr/>
        </p:nvSpPr>
        <p:spPr>
          <a:xfrm>
            <a:off x="6330696" y="1600200"/>
            <a:ext cx="310896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流れ3"/>
          <p:cNvSpPr/>
          <p:nvPr/>
        </p:nvSpPr>
        <p:spPr>
          <a:xfrm>
            <a:off x="6641592" y="1600200"/>
            <a:ext cx="2758440" cy="5943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ja-JP" altLang="en-US" sz="15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サロン入会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10" name="指標 9"/>
          <p:cNvGraphicFramePr>
            <a:graphicFrameLocks noGrp="1"/>
          </p:cNvGraphicFramePr>
          <p:nvPr/>
        </p:nvGraphicFramePr>
        <p:xfrm>
          <a:off x="502920" y="2423160"/>
          <a:ext cx="8897112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5148072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指標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見る時期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内容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追える人数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平常期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ブロックされずに届く友だちの数。増やし、減らさない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予約・参加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イベント期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LINEからの予約と、当日の参加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サロン入会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イベントの後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参加した方のうち、入会した方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概算お見積り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見込み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859536"/>
            <a:ext cx="7708392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平常期・イベント期の友だち数と、予約・入会の見込み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5" name="差し込み 概算お見積り（SIM）の表"/>
          <p:cNvSpPr/>
          <p:nvPr/>
        </p:nvSpPr>
        <p:spPr>
          <a:xfrm>
            <a:off x="502920" y="1600200"/>
            <a:ext cx="8897112" cy="4480560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概算お見積り（SIM）の表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料金</a:t>
            </a:r>
          </a:p>
        </p:txBody>
      </p:sp>
      <p:sp>
        <p:nvSpPr>
          <p:cNvPr id="3" name="正方形/長方形 8"/>
          <p:cNvSpPr/>
          <p:nvPr/>
        </p:nvSpPr>
        <p:spPr>
          <a:xfrm>
            <a:off x="0" y="777240"/>
            <a:ext cx="1801368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DYMプラン</a:t>
            </a:r>
          </a:p>
        </p:txBody>
      </p:sp>
      <p:sp>
        <p:nvSpPr>
          <p:cNvPr id="4" name="Google Shape;752;p28"/>
          <p:cNvSpPr txBox="1"/>
          <p:nvPr/>
        </p:nvSpPr>
        <p:spPr>
          <a:xfrm>
            <a:off x="1984248" y="859536"/>
            <a:ext cx="7708392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平常期 月5〜10万円、イベント期 月30万円程度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graphicFrame>
        <p:nvGraphicFramePr>
          <p:cNvPr id="5" name="料金 4"/>
          <p:cNvGraphicFramePr>
            <a:graphicFrameLocks noGrp="1"/>
          </p:cNvGraphicFramePr>
          <p:nvPr/>
        </p:nvGraphicFramePr>
        <p:xfrm>
          <a:off x="502920" y="1600200"/>
          <a:ext cx="8897112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4416552"/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区分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月額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内容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平常期</a:t>
                      </a:r>
                      <a:b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（イベントの無い月）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5〜10万円</a:t>
                      </a:r>
                      <a:endParaRPr lang="ja-JP" altLang="en-US" sz="18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月2回の配信（ツール費を含む）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イベント期</a:t>
                      </a:r>
                      <a:b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（イベントの前後）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30万円程度</a:t>
                      </a:r>
                      <a:endParaRPr lang="ja-JP" altLang="en-US" sz="18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月4〜5回の配信（告知・リマインド・イベント直後のフォロー）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年間の目安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800" b="1" dirty="0">
                          <a:solidFill>
                            <a:srgbClr val="00206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約160〜200万円</a:t>
                      </a:r>
                      <a:endParaRPr lang="ja-JP" altLang="en-US" sz="18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イベント期4か月＋平常期8か月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91440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注記"/>
          <p:cNvSpPr/>
          <p:nvPr/>
        </p:nvSpPr>
        <p:spPr>
          <a:xfrm>
            <a:off x="502920" y="5257800"/>
            <a:ext cx="8897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※広告費は含まない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注記"/>
          <p:cNvSpPr/>
          <p:nvPr/>
        </p:nvSpPr>
        <p:spPr>
          <a:xfrm>
            <a:off x="502920" y="5513832"/>
            <a:ext cx="8897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※イベントを年4回、イベント期を各1か月として計算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注記"/>
          <p:cNvSpPr/>
          <p:nvPr/>
        </p:nvSpPr>
        <p:spPr>
          <a:xfrm>
            <a:off x="502920" y="5769864"/>
            <a:ext cx="889711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※施策内容・配信本数・連携範囲等により、費用は個別にお見積り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Google Shape;156;p7"/>
          <p:cNvSpPr txBox="1"/>
          <p:nvPr/>
        </p:nvSpPr>
        <p:spPr>
          <a:xfrm>
            <a:off x="548883" y="138118"/>
            <a:ext cx="651485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運用スケジュール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910833" y="1994083"/>
            <a:ext cx="2144546" cy="520517"/>
          </a:xfrm>
          <a:prstGeom prst="roundRect">
            <a:avLst>
              <a:gd name="adj" fmla="val 470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STEP1</a:t>
            </a:r>
            <a:endParaRPr kumimoji="1" lang="ja-JP" altLang="en-US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9" name="角丸四角形 28"/>
          <p:cNvSpPr/>
          <p:nvPr/>
        </p:nvSpPr>
        <p:spPr>
          <a:xfrm>
            <a:off x="910833" y="3537133"/>
            <a:ext cx="2144546" cy="520517"/>
          </a:xfrm>
          <a:prstGeom prst="roundRect">
            <a:avLst>
              <a:gd name="adj" fmla="val 470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STEP3</a:t>
            </a:r>
            <a:endParaRPr kumimoji="1" lang="ja-JP" altLang="en-US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1" name="角丸四角形 30"/>
          <p:cNvSpPr/>
          <p:nvPr/>
        </p:nvSpPr>
        <p:spPr>
          <a:xfrm>
            <a:off x="910833" y="2765608"/>
            <a:ext cx="2144546" cy="520517"/>
          </a:xfrm>
          <a:prstGeom prst="roundRect">
            <a:avLst>
              <a:gd name="adj" fmla="val 470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STEP2</a:t>
            </a:r>
            <a:endParaRPr kumimoji="1" lang="ja-JP" altLang="en-US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2" name="角丸四角形 31"/>
          <p:cNvSpPr/>
          <p:nvPr/>
        </p:nvSpPr>
        <p:spPr>
          <a:xfrm>
            <a:off x="910833" y="4308658"/>
            <a:ext cx="2144546" cy="520517"/>
          </a:xfrm>
          <a:prstGeom prst="roundRect">
            <a:avLst>
              <a:gd name="adj" fmla="val 470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STEP4</a:t>
            </a:r>
            <a:endParaRPr kumimoji="1" lang="ja-JP" altLang="en-US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910833" y="5080183"/>
            <a:ext cx="2144546" cy="520517"/>
          </a:xfrm>
          <a:prstGeom prst="roundRect">
            <a:avLst>
              <a:gd name="adj" fmla="val 4701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STEP5</a:t>
            </a:r>
            <a:endParaRPr kumimoji="1" lang="ja-JP" altLang="en-US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4600923" y="2266950"/>
            <a:ext cx="1638300" cy="39164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40" name="角丸四角形 39"/>
          <p:cNvSpPr/>
          <p:nvPr/>
        </p:nvSpPr>
        <p:spPr>
          <a:xfrm>
            <a:off x="3133924" y="1994083"/>
            <a:ext cx="4749705" cy="520517"/>
          </a:xfrm>
          <a:prstGeom prst="roundRect">
            <a:avLst>
              <a:gd name="adj" fmla="val 470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お申込み（書類締結）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1" name="角丸四角形 40"/>
          <p:cNvSpPr/>
          <p:nvPr/>
        </p:nvSpPr>
        <p:spPr>
          <a:xfrm>
            <a:off x="3133924" y="3537133"/>
            <a:ext cx="4749705" cy="520517"/>
          </a:xfrm>
          <a:prstGeom prst="roundRect">
            <a:avLst>
              <a:gd name="adj" fmla="val 470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連携の設定 </a:t>
            </a:r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 </a:t>
            </a:r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タグ確認</a:t>
            </a:r>
          </a:p>
        </p:txBody>
      </p:sp>
      <p:sp>
        <p:nvSpPr>
          <p:cNvPr id="42" name="角丸四角形 41"/>
          <p:cNvSpPr/>
          <p:nvPr/>
        </p:nvSpPr>
        <p:spPr>
          <a:xfrm>
            <a:off x="3133924" y="2765608"/>
            <a:ext cx="4749705" cy="520517"/>
          </a:xfrm>
          <a:prstGeom prst="roundRect">
            <a:avLst>
              <a:gd name="adj" fmla="val 470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キックオフ</a:t>
            </a:r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MTG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44" name="角丸四角形 43"/>
          <p:cNvSpPr/>
          <p:nvPr/>
        </p:nvSpPr>
        <p:spPr>
          <a:xfrm>
            <a:off x="3133924" y="4308658"/>
            <a:ext cx="4749705" cy="520517"/>
          </a:xfrm>
          <a:prstGeom prst="roundRect">
            <a:avLst>
              <a:gd name="adj" fmla="val 470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初期設計の構築</a:t>
            </a:r>
          </a:p>
        </p:txBody>
      </p:sp>
      <p:sp>
        <p:nvSpPr>
          <p:cNvPr id="45" name="角丸四角形 44"/>
          <p:cNvSpPr/>
          <p:nvPr/>
        </p:nvSpPr>
        <p:spPr>
          <a:xfrm>
            <a:off x="3133924" y="5080183"/>
            <a:ext cx="4749705" cy="520517"/>
          </a:xfrm>
          <a:prstGeom prst="roundRect">
            <a:avLst>
              <a:gd name="adj" fmla="val 470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運用開始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548883" y="1033120"/>
            <a:ext cx="89210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/LINE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上への実装については、約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か月程度を頂き進行。</a:t>
            </a:r>
            <a:endParaRPr lang="ja-JP" altLang="en-US" sz="24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4708989" y="5841409"/>
            <a:ext cx="49552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※貴社の作業・確認にかかる時間により、前後する可能性あり</a:t>
            </a:r>
          </a:p>
        </p:txBody>
      </p:sp>
      <p:cxnSp>
        <p:nvCxnSpPr>
          <p:cNvPr id="21" name="直線矢印コネクタ 20"/>
          <p:cNvCxnSpPr/>
          <p:nvPr/>
        </p:nvCxnSpPr>
        <p:spPr>
          <a:xfrm>
            <a:off x="6985106" y="2256762"/>
            <a:ext cx="0" cy="3086100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/>
          <p:cNvSpPr/>
          <p:nvPr/>
        </p:nvSpPr>
        <p:spPr>
          <a:xfrm>
            <a:off x="7042256" y="2130871"/>
            <a:ext cx="742511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約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か月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7902506" y="3514209"/>
            <a:ext cx="14157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オーディエンスリスト作成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タグ設定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GA</a:t>
            </a:r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設定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etc...</a:t>
            </a:r>
          </a:p>
        </p:txBody>
      </p:sp>
      <p:sp>
        <p:nvSpPr>
          <p:cNvPr id="24" name="正方形/長方形 23"/>
          <p:cNvSpPr/>
          <p:nvPr/>
        </p:nvSpPr>
        <p:spPr>
          <a:xfrm>
            <a:off x="7897281" y="4276528"/>
            <a:ext cx="11079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リッチメニュー作成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アンケート設計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シナリオ設計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etc...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67513FB-FEEF-76F5-5394-A1A2495F0489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弊社からご提供できる運用プラン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CF6CD71-4C48-796A-BD54-E778269A9308}"/>
              </a:ext>
            </a:extLst>
          </p:cNvPr>
          <p:cNvSpPr/>
          <p:nvPr/>
        </p:nvSpPr>
        <p:spPr>
          <a:xfrm>
            <a:off x="0" y="777240"/>
            <a:ext cx="2914650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成果報酬型プラン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6C35AEF3-D15B-5805-4919-629E6F4207CC}"/>
              </a:ext>
            </a:extLst>
          </p:cNvPr>
          <p:cNvSpPr txBox="1"/>
          <p:nvPr/>
        </p:nvSpPr>
        <p:spPr>
          <a:xfrm>
            <a:off x="2914650" y="859443"/>
            <a:ext cx="661987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施策成果件数に伴う費用発生でリスクを抑えた運用スタートを実現。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EA02B17-0DA2-A3FE-A6E5-243C1724301E}"/>
              </a:ext>
            </a:extLst>
          </p:cNvPr>
          <p:cNvSpPr/>
          <p:nvPr/>
        </p:nvSpPr>
        <p:spPr>
          <a:xfrm>
            <a:off x="548881" y="1405687"/>
            <a:ext cx="4404119" cy="2061098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sz="105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A8AA691-8D48-57D0-BF47-34182D3A6DAC}"/>
              </a:ext>
            </a:extLst>
          </p:cNvPr>
          <p:cNvSpPr/>
          <p:nvPr/>
        </p:nvSpPr>
        <p:spPr>
          <a:xfrm>
            <a:off x="748333" y="1594972"/>
            <a:ext cx="2322527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成果報酬費用</a:t>
            </a:r>
            <a:endParaRPr kumimoji="1" lang="ja-JP" altLang="en-US" sz="10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64193FC-5A1A-667F-A9D5-30C2155A72EB}"/>
              </a:ext>
            </a:extLst>
          </p:cNvPr>
          <p:cNvSpPr/>
          <p:nvPr/>
        </p:nvSpPr>
        <p:spPr>
          <a:xfrm>
            <a:off x="3230275" y="1588966"/>
            <a:ext cx="1494125" cy="502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固定費用</a:t>
            </a:r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92E0C40-273C-2C77-21FF-EC7A2A1C8F8F}"/>
              </a:ext>
            </a:extLst>
          </p:cNvPr>
          <p:cNvSpPr/>
          <p:nvPr/>
        </p:nvSpPr>
        <p:spPr>
          <a:xfrm>
            <a:off x="748333" y="2116483"/>
            <a:ext cx="2322527" cy="687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成果件数 </a:t>
            </a:r>
            <a:r>
              <a:rPr lang="en-US" altLang="ja-JP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× </a:t>
            </a:r>
            <a:r>
              <a:rPr lang="ja-JP" altLang="en-US" sz="14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成果報酬単価</a:t>
            </a:r>
            <a:endParaRPr lang="en-US" altLang="ja-JP" sz="14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AC2B063-6DAA-B7D0-0B1D-E5CC879D23FD}"/>
              </a:ext>
            </a:extLst>
          </p:cNvPr>
          <p:cNvSpPr/>
          <p:nvPr/>
        </p:nvSpPr>
        <p:spPr>
          <a:xfrm>
            <a:off x="3230275" y="2116483"/>
            <a:ext cx="1494125" cy="6876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アカウント費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＋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ツール費</a:t>
            </a:r>
            <a:endParaRPr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036B929-196A-854E-1925-1967B52BEB27}"/>
              </a:ext>
            </a:extLst>
          </p:cNvPr>
          <p:cNvSpPr txBox="1"/>
          <p:nvPr/>
        </p:nvSpPr>
        <p:spPr>
          <a:xfrm>
            <a:off x="668626" y="1585328"/>
            <a:ext cx="4960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＋</a:t>
            </a:r>
            <a:endParaRPr lang="en-US" altLang="ja-JP" sz="28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94A4AE5-885C-B98E-00A8-77C51FC7BFE1}"/>
              </a:ext>
            </a:extLst>
          </p:cNvPr>
          <p:cNvSpPr/>
          <p:nvPr/>
        </p:nvSpPr>
        <p:spPr>
          <a:xfrm>
            <a:off x="5080364" y="1405605"/>
            <a:ext cx="4328131" cy="232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☑ 複数の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流入経路からステップ配信を構築し、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数を増加。 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A2D4AF3-1CC4-4934-0B96-59B465612A8D}"/>
              </a:ext>
            </a:extLst>
          </p:cNvPr>
          <p:cNvSpPr/>
          <p:nvPr/>
        </p:nvSpPr>
        <p:spPr>
          <a:xfrm>
            <a:off x="5080363" y="1783080"/>
            <a:ext cx="4328131" cy="232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☑ 現状導入しているツール、計測環境に応じて設計が可能。 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981C36B-B3F0-8036-014B-17B1A065A490}"/>
              </a:ext>
            </a:extLst>
          </p:cNvPr>
          <p:cNvSpPr txBox="1"/>
          <p:nvPr/>
        </p:nvSpPr>
        <p:spPr>
          <a:xfrm>
            <a:off x="3230275" y="2856669"/>
            <a:ext cx="17151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導入ツールに応じて費用発生</a:t>
            </a:r>
            <a:endParaRPr lang="en-US" altLang="ja-JP" sz="8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F171EE4-EBC4-0A03-9342-8E33CDF25A68}"/>
              </a:ext>
            </a:extLst>
          </p:cNvPr>
          <p:cNvSpPr txBox="1"/>
          <p:nvPr/>
        </p:nvSpPr>
        <p:spPr>
          <a:xfrm>
            <a:off x="3230274" y="3083982"/>
            <a:ext cx="17151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上限通数を設定して運営可能</a:t>
            </a:r>
            <a:endParaRPr lang="en-US" altLang="ja-JP" sz="8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6B5A64D-6B62-2D6A-1AF5-5EFCEC948063}"/>
              </a:ext>
            </a:extLst>
          </p:cNvPr>
          <p:cNvSpPr txBox="1"/>
          <p:nvPr/>
        </p:nvSpPr>
        <p:spPr>
          <a:xfrm>
            <a:off x="748334" y="2856669"/>
            <a:ext cx="21015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成果件数は</a:t>
            </a:r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GA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、他ツールでの計測</a:t>
            </a:r>
            <a:endParaRPr lang="en-US" altLang="ja-JP" sz="8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55B5E5B-7EFA-B5FA-0284-3CD0D3947983}"/>
              </a:ext>
            </a:extLst>
          </p:cNvPr>
          <p:cNvSpPr txBox="1"/>
          <p:nvPr/>
        </p:nvSpPr>
        <p:spPr>
          <a:xfrm>
            <a:off x="748333" y="3083982"/>
            <a:ext cx="232252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成果報酬単価は広告</a:t>
            </a:r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CPA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に基づき設定</a:t>
            </a:r>
            <a:endParaRPr lang="en-US" altLang="ja-JP" sz="8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C08CE37-3C30-0822-0EDA-FEB4C5F762A4}"/>
              </a:ext>
            </a:extLst>
          </p:cNvPr>
          <p:cNvSpPr txBox="1"/>
          <p:nvPr/>
        </p:nvSpPr>
        <p:spPr>
          <a:xfrm>
            <a:off x="5084483" y="2103120"/>
            <a:ext cx="432401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lang="ja-JP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✓ </a:t>
            </a:r>
            <a:r>
              <a:rPr lang="en-US" altLang="ja-JP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API</a:t>
            </a:r>
            <a:r>
              <a:rPr lang="ja-JP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 ✓複数の成果地点とそれに伴う成果単価</a:t>
            </a:r>
            <a:endParaRPr lang="en-US" altLang="ja-JP" sz="105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に基づいて、契約における条件の調整が可能です。</a:t>
            </a:r>
            <a:endParaRPr lang="en-US" altLang="ja-JP" sz="105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D385AB6-97DE-E2AB-6E27-3BFD5D3B3C5D}"/>
              </a:ext>
            </a:extLst>
          </p:cNvPr>
          <p:cNvSpPr/>
          <p:nvPr/>
        </p:nvSpPr>
        <p:spPr>
          <a:xfrm>
            <a:off x="3996942" y="122215"/>
            <a:ext cx="2083719" cy="3207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プラン</a:t>
            </a:r>
          </a:p>
        </p:txBody>
      </p:sp>
      <p:sp>
        <p:nvSpPr>
          <p:cNvPr id="30" name="小見出し"/>
          <p:cNvSpPr/>
          <p:nvPr/>
        </p:nvSpPr>
        <p:spPr>
          <a:xfrm>
            <a:off x="548640" y="3657600"/>
            <a:ext cx="88605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すなおコンサルティング様の場合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差し込み 成果の地点・成果報酬単価"/>
          <p:cNvSpPr/>
          <p:nvPr/>
        </p:nvSpPr>
        <p:spPr>
          <a:xfrm>
            <a:off x="548640" y="4023360"/>
            <a:ext cx="8860536" cy="2194560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成果の地点・成果報酬単価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144887</TotalTime>
  <Words>9949</Words>
  <Application>Microsoft Office PowerPoint</Application>
  <PresentationFormat>A4 210 x 297 mm</PresentationFormat>
  <Paragraphs>2141</Paragraphs>
  <Slides>62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62</vt:i4>
      </vt:variant>
    </vt:vector>
  </HeadingPairs>
  <TitlesOfParts>
    <vt:vector size="69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1915</cp:revision>
  <cp:lastPrinted>2022-11-01T11:38:14Z</cp:lastPrinted>
  <dcterms:created xsi:type="dcterms:W3CDTF">2015-09-04T09:21:15Z</dcterms:created>
  <dcterms:modified xsi:type="dcterms:W3CDTF">2026-10-16T05:39:16Z</dcterms:modified>
</cp:coreProperties>
</file>